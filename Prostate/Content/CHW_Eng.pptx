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26" r:id="rId58"/>
    <p:sldId id="327" r:id="rId59"/>
    <p:sldId id="315" r:id="rId60"/>
    <p:sldId id="328" r:id="rId61"/>
    <p:sldId id="316" r:id="rId62"/>
    <p:sldId id="324" r:id="rId63"/>
    <p:sldId id="317" r:id="rId64"/>
    <p:sldId id="318" r:id="rId65"/>
    <p:sldId id="319" r:id="rId66"/>
    <p:sldId id="320" r:id="rId67"/>
    <p:sldId id="321" r:id="rId68"/>
    <p:sldId id="322" r:id="rId6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2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091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92DC5-9870-BFB9-17F0-F37FF25F2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71C23-1319-76F4-4055-440AA5403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BFD7C-D0F8-7A07-B192-44504EDA7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0BA8D-D891-8913-1619-C2E99DACF5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4259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WORKER MODULE</a:t>
            </a:r>
            <a:endParaRPr lang="en-US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Prostate Cancer</a:t>
            </a:r>
            <a:endParaRPr lang="en-US" sz="5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learning journey: know it, spot it, talk about it, refer, and support.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  |   CHW</a:t>
            </a:r>
            <a:endParaRPr lang="en-US" sz="1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WORKER MODULE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6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17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prostate cancer is in simple words.</a:t>
            </a:r>
            <a:endParaRPr lang="en-US" sz="1450" noProof="0" dirty="0"/>
          </a:p>
        </p:txBody>
      </p:sp>
      <p:sp>
        <p:nvSpPr>
          <p:cNvPr id="9" name="Shape 7"/>
          <p:cNvSpPr/>
          <p:nvPr/>
        </p:nvSpPr>
        <p:spPr>
          <a:xfrm>
            <a:off x="4353458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2600" noProof="0" dirty="0"/>
          </a:p>
        </p:txBody>
      </p:sp>
      <p:sp>
        <p:nvSpPr>
          <p:cNvPr id="11" name="Text 9"/>
          <p:cNvSpPr/>
          <p:nvPr/>
        </p:nvSpPr>
        <p:spPr>
          <a:xfrm>
            <a:off x="5222138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endParaRPr lang="en-US" sz="17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914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signs and who is more at risk.</a:t>
            </a:r>
            <a:endParaRPr lang="en-US" sz="1450" noProof="0" dirty="0"/>
          </a:p>
        </p:txBody>
      </p:sp>
      <p:sp>
        <p:nvSpPr>
          <p:cNvPr id="13" name="Shape 11"/>
          <p:cNvSpPr/>
          <p:nvPr/>
        </p:nvSpPr>
        <p:spPr>
          <a:xfrm>
            <a:off x="8158277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12"/>
          <p:cNvSpPr/>
          <p:nvPr/>
        </p:nvSpPr>
        <p:spPr>
          <a:xfrm>
            <a:off x="8359445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en-US" sz="2600" noProof="0" dirty="0"/>
          </a:p>
        </p:txBody>
      </p:sp>
      <p:sp>
        <p:nvSpPr>
          <p:cNvPr id="15" name="Text 13"/>
          <p:cNvSpPr/>
          <p:nvPr/>
        </p:nvSpPr>
        <p:spPr>
          <a:xfrm>
            <a:off x="9026957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700" noProof="0" dirty="0"/>
          </a:p>
        </p:txBody>
      </p:sp>
      <p:sp>
        <p:nvSpPr>
          <p:cNvPr id="16" name="Text 14"/>
          <p:cNvSpPr/>
          <p:nvPr/>
        </p:nvSpPr>
        <p:spPr>
          <a:xfrm>
            <a:off x="8377733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kindness and correct misconceptions.</a:t>
            </a:r>
            <a:endParaRPr lang="en-US" sz="1450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600" noProof="0" dirty="0"/>
          </a:p>
        </p:txBody>
      </p:sp>
      <p:sp>
        <p:nvSpPr>
          <p:cNvPr id="19" name="Text 17"/>
          <p:cNvSpPr/>
          <p:nvPr/>
        </p:nvSpPr>
        <p:spPr>
          <a:xfrm>
            <a:off x="1417320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</a:t>
            </a:r>
            <a:endParaRPr lang="en-US" sz="1700" noProof="0" dirty="0"/>
          </a:p>
        </p:txBody>
      </p:sp>
      <p:sp>
        <p:nvSpPr>
          <p:cNvPr id="20" name="Text 18"/>
          <p:cNvSpPr/>
          <p:nvPr/>
        </p:nvSpPr>
        <p:spPr>
          <a:xfrm>
            <a:off x="768096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people reach care and know urgent signs.</a:t>
            </a:r>
            <a:endParaRPr lang="en-US" sz="1450" noProof="0" dirty="0"/>
          </a:p>
        </p:txBody>
      </p:sp>
      <p:sp>
        <p:nvSpPr>
          <p:cNvPr id="21" name="Shape 19"/>
          <p:cNvSpPr/>
          <p:nvPr/>
        </p:nvSpPr>
        <p:spPr>
          <a:xfrm>
            <a:off x="4353458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Text 20"/>
          <p:cNvSpPr/>
          <p:nvPr/>
        </p:nvSpPr>
        <p:spPr>
          <a:xfrm>
            <a:off x="4554626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💙</a:t>
            </a:r>
            <a:endParaRPr lang="en-US" sz="2600" noProof="0" dirty="0"/>
          </a:p>
        </p:txBody>
      </p:sp>
      <p:sp>
        <p:nvSpPr>
          <p:cNvPr id="23" name="Text 21"/>
          <p:cNvSpPr/>
          <p:nvPr/>
        </p:nvSpPr>
        <p:spPr>
          <a:xfrm>
            <a:off x="5222138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7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914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follow-up, comfort, and the family.</a:t>
            </a:r>
            <a:endParaRPr lang="en-US" sz="14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WORKER MODULE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inside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74650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Pre-test</a:t>
            </a:r>
            <a:endParaRPr lang="en-US" sz="1550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227685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short questions to check your starting point.</a:t>
            </a:r>
            <a:endParaRPr lang="en-US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60020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4554626" y="174650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What is prostate cancer?</a:t>
            </a:r>
            <a:endParaRPr lang="en-US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227685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where it is, and how common it is in Rwanda.</a:t>
            </a:r>
            <a:endParaRPr lang="en-US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60020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359445" y="174650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What to look for</a:t>
            </a:r>
            <a:endParaRPr lang="en-US" sz="1550" noProof="0" dirty="0"/>
          </a:p>
        </p:txBody>
      </p:sp>
      <p:sp>
        <p:nvSpPr>
          <p:cNvPr id="13" name="Text 11"/>
          <p:cNvSpPr/>
          <p:nvPr/>
        </p:nvSpPr>
        <p:spPr>
          <a:xfrm>
            <a:off x="8359445" y="227685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 risk, the signs, and when to act.</a:t>
            </a:r>
            <a:endParaRPr lang="en-US" sz="14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749808" y="348386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What to do next</a:t>
            </a:r>
            <a:endParaRPr lang="en-US" sz="1550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401421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send people, how to talk, and how to support.</a:t>
            </a:r>
            <a:endParaRPr lang="en-US" sz="1400" noProof="0" dirty="0"/>
          </a:p>
        </p:txBody>
      </p:sp>
      <p:sp>
        <p:nvSpPr>
          <p:cNvPr id="17" name="Shape 15"/>
          <p:cNvSpPr/>
          <p:nvPr/>
        </p:nvSpPr>
        <p:spPr>
          <a:xfrm>
            <a:off x="4353458" y="333756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4554626" y="348386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4: How it is found and treated</a:t>
            </a:r>
            <a:endParaRPr lang="en-US" sz="1550" noProof="0" dirty="0"/>
          </a:p>
        </p:txBody>
      </p:sp>
      <p:sp>
        <p:nvSpPr>
          <p:cNvPr id="19" name="Text 17"/>
          <p:cNvSpPr/>
          <p:nvPr/>
        </p:nvSpPr>
        <p:spPr>
          <a:xfrm>
            <a:off x="4554626" y="401421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look at how doctors confirm and treat it.</a:t>
            </a:r>
            <a:endParaRPr lang="en-US" sz="1400" noProof="0" dirty="0"/>
          </a:p>
        </p:txBody>
      </p:sp>
      <p:sp>
        <p:nvSpPr>
          <p:cNvPr id="20" name="Shape 18"/>
          <p:cNvSpPr/>
          <p:nvPr/>
        </p:nvSpPr>
        <p:spPr>
          <a:xfrm>
            <a:off x="8158277" y="333756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Text 19"/>
          <p:cNvSpPr/>
          <p:nvPr/>
        </p:nvSpPr>
        <p:spPr>
          <a:xfrm>
            <a:off x="8359445" y="348386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5: What to expect</a:t>
            </a:r>
            <a:endParaRPr lang="en-US" sz="1550" noProof="0" dirty="0"/>
          </a:p>
        </p:txBody>
      </p:sp>
      <p:sp>
        <p:nvSpPr>
          <p:cNvPr id="22" name="Text 20"/>
          <p:cNvSpPr/>
          <p:nvPr/>
        </p:nvSpPr>
        <p:spPr>
          <a:xfrm>
            <a:off x="8359445" y="401421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 effects, danger signs, and comfort.</a:t>
            </a:r>
            <a:endParaRPr lang="en-US" sz="14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Pre-test</a:t>
            </a:r>
            <a:endParaRPr lang="en-US" sz="48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  |   CHW</a:t>
            </a:r>
            <a:endParaRPr lang="en-US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(1/10)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The prostate is found in: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only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only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men and women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Prostate cancer starts when: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in the prostate grow in the wrong way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drinks too much water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walks too much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weather is cold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(2/10)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Early prostate cancer often causes: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signs at all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pain at once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every day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hair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Urinary problems such as a weak stream: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mean cancer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have many causes and need a check-up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need a check-up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happen in old men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(3/10)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Prostate cancer is more common in: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Boys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men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women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Newborns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 A man has trouble passing urine for weeks. You should: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him to wait and see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 check-up at the health post or </a:t>
            </a:r>
            <a:r>
              <a:rPr lang="en-US" sz="160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him medicine yourself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him it is nothing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(4/10)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 A blood test for the prostate: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for certain a person has cancer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show more checks are needed, but cannot confirm cancer alone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Cures cancer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never used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 In Rwanda, prostate cancer: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exist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common cancer in men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happens outside Rwanda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happens in women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(5/10)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Q9.  A man says, “I feel well, so I do not need a check-up.” Best reply: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right, stay home.”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“Early prostate cancer often has no signs, so a check-up is always good.”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must be sick.”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nothing.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Q10.  If a man is afraid to go for a check-up, you should: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him to go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Listen, answer questions, and encourage him kindly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Laugh at his fear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him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(6/10)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Q11.  New leg weakness or loss of control of urine or stool is: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and can wait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urgent danger sign that needs care right away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 of good health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tiredness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Q12.  Prostate cancer can spread to the: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Teeth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(7/10)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Q13.  After a referral, your support includes: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the person to forget about it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Encouraging the person to attend and follow instructions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the tests yourself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Q14.  Which statement is true?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prostate cancers are the same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cancers can behave differently in different men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prostate cancer needs surgery at once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cannot be treated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(8/10)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Q15.  Cancer is confirmed by: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blood test alone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alone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 small piece of tissue (a biopsy) and looking at it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Q16.  “If it is cancer, nothing can be done.” This is: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belief; there are ways to care for and treat people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correct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thing to tell people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(9/10)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Q17.  A </a:t>
            </a:r>
            <a:r>
              <a:rPr lang="en-US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worker</a:t>
            </a: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should: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treatment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test results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awareness, support, and encourage referral and follow-up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the biopsy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Q18.  A good comfort action for a man with cancer is: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 him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Listen, help him keep appointments, and reduce shame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others his private details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him to stop treatment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(10/10)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Q19.  A man on treatment gets severe new back pain with weak legs. You should: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him to rest for a month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him get medical care urgently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more fluids only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and see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Q20.  Talking about urine or sexual problems should be done: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respect and privacy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front of everyone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jokes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3"/>
          <p:cNvSpPr/>
          <p:nvPr/>
        </p:nvSpPr>
        <p:spPr>
          <a:xfrm>
            <a:off x="10378440" y="64008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1037844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prostate cancer?</a:t>
            </a:r>
            <a:endParaRPr lang="en-US" sz="40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start: what the prostate is, what prostate cancer is, and how common it is in Rwanda.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  |   CHW</a:t>
            </a:r>
            <a:endParaRPr lang="en-US" sz="11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the prostate is and where it is.</a:t>
            </a:r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4353458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5222138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914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simple words what prostate cancer is.</a:t>
            </a:r>
            <a:endParaRPr lang="en-US" noProof="0" dirty="0"/>
          </a:p>
        </p:txBody>
      </p:sp>
      <p:sp>
        <p:nvSpPr>
          <p:cNvPr id="13" name="Shape 11"/>
          <p:cNvSpPr/>
          <p:nvPr/>
        </p:nvSpPr>
        <p:spPr>
          <a:xfrm>
            <a:off x="8158277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359445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9026957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8377733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that early cancer often has no signs.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3200" noProof="0" dirty="0"/>
          </a:p>
        </p:txBody>
      </p:sp>
      <p:sp>
        <p:nvSpPr>
          <p:cNvPr id="19" name="Text 17"/>
          <p:cNvSpPr/>
          <p:nvPr/>
        </p:nvSpPr>
        <p:spPr>
          <a:xfrm>
            <a:off x="1417320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</a:t>
            </a:r>
            <a:endParaRPr lang="en-US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768096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that it is common in men in Rwanda.</a:t>
            </a:r>
            <a:endParaRPr lang="en-US" noProof="0" dirty="0"/>
          </a:p>
        </p:txBody>
      </p:sp>
      <p:sp>
        <p:nvSpPr>
          <p:cNvPr id="21" name="Shape 19"/>
          <p:cNvSpPr/>
          <p:nvPr/>
        </p:nvSpPr>
        <p:spPr>
          <a:xfrm>
            <a:off x="4353458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2" name="Text 20"/>
          <p:cNvSpPr/>
          <p:nvPr/>
        </p:nvSpPr>
        <p:spPr>
          <a:xfrm>
            <a:off x="4554626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en-US" sz="3200" noProof="0" dirty="0"/>
          </a:p>
        </p:txBody>
      </p:sp>
      <p:sp>
        <p:nvSpPr>
          <p:cNvPr id="23" name="Text 21"/>
          <p:cNvSpPr/>
          <p:nvPr/>
        </p:nvSpPr>
        <p:spPr>
          <a:xfrm>
            <a:off x="5222138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20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914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clear, calm messages with your community.</a:t>
            </a:r>
            <a:endParaRPr lang="en-US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prostate is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4"/>
          <p:cNvSpPr/>
          <p:nvPr/>
        </p:nvSpPr>
        <p:spPr>
          <a:xfrm>
            <a:off x="768096" y="18196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organ</a:t>
            </a:r>
            <a:endParaRPr lang="en-US" sz="1700" noProof="0" dirty="0">
              <a:solidFill>
                <a:srgbClr val="FF000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68096" y="2194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prostate is a small organ found only in men.</a:t>
            </a:r>
            <a:endParaRPr lang="en-US" sz="1550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7"/>
          <p:cNvSpPr/>
          <p:nvPr/>
        </p:nvSpPr>
        <p:spPr>
          <a:xfrm>
            <a:off x="768096" y="30998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</a:t>
            </a:r>
            <a:endParaRPr lang="en-US" sz="1700" noProof="0" dirty="0"/>
          </a:p>
        </p:txBody>
      </p:sp>
      <p:sp>
        <p:nvSpPr>
          <p:cNvPr id="11" name="Text 8"/>
          <p:cNvSpPr/>
          <p:nvPr/>
        </p:nvSpPr>
        <p:spPr>
          <a:xfrm>
            <a:off x="768096" y="3474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low in the body, below the bladder, around the tube that carries urine.</a:t>
            </a:r>
            <a:endParaRPr lang="en-US" sz="1550" noProof="0" dirty="0"/>
          </a:p>
        </p:txBody>
      </p:sp>
      <p:sp>
        <p:nvSpPr>
          <p:cNvPr id="12" name="Shape 9"/>
          <p:cNvSpPr/>
          <p:nvPr/>
        </p:nvSpPr>
        <p:spPr>
          <a:xfrm>
            <a:off x="548640" y="4251960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0"/>
          <p:cNvSpPr/>
          <p:nvPr/>
        </p:nvSpPr>
        <p:spPr>
          <a:xfrm>
            <a:off x="768096" y="43799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job</a:t>
            </a:r>
            <a:endParaRPr lang="en-US" sz="1700" noProof="0" dirty="0"/>
          </a:p>
        </p:txBody>
      </p:sp>
      <p:sp>
        <p:nvSpPr>
          <p:cNvPr id="14" name="Text 11"/>
          <p:cNvSpPr/>
          <p:nvPr/>
        </p:nvSpPr>
        <p:spPr>
          <a:xfrm>
            <a:off x="768096" y="4754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make some of the fluid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cs typeface="Calibri" pitchFamily="34" charset="-120"/>
              </a:rPr>
              <a:t>that helps form semen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noProof="0" dirty="0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A2307591-61B0-2AEF-0952-3134F548CCC3}"/>
              </a:ext>
            </a:extLst>
          </p:cNvPr>
          <p:cNvGrpSpPr/>
          <p:nvPr/>
        </p:nvGrpSpPr>
        <p:grpSpPr>
          <a:xfrm>
            <a:off x="6320441" y="1572768"/>
            <a:ext cx="5244711" cy="4067221"/>
            <a:chOff x="6320441" y="1572768"/>
            <a:chExt cx="5244711" cy="4067221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766B22B1-AD7D-7289-0D1E-45BC3550C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2157"/>
            <a:stretch>
              <a:fillRect/>
            </a:stretch>
          </p:blipFill>
          <p:spPr>
            <a:xfrm>
              <a:off x="7412185" y="1572768"/>
              <a:ext cx="3397504" cy="3915767"/>
            </a:xfrm>
            <a:prstGeom prst="rect">
              <a:avLst/>
            </a:prstGeom>
          </p:spPr>
        </p:pic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859C175F-B6BF-F21D-C273-22E28B467453}"/>
                </a:ext>
              </a:extLst>
            </p:cNvPr>
            <p:cNvCxnSpPr>
              <a:cxnSpLocks/>
            </p:cNvCxnSpPr>
            <p:nvPr/>
          </p:nvCxnSpPr>
          <p:spPr>
            <a:xfrm>
              <a:off x="7046425" y="2043684"/>
              <a:ext cx="1190105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E66AAA29-73C5-91B4-91FF-6D1EDCFE788D}"/>
                </a:ext>
              </a:extLst>
            </p:cNvPr>
            <p:cNvCxnSpPr/>
            <p:nvPr/>
          </p:nvCxnSpPr>
          <p:spPr>
            <a:xfrm flipH="1" flipV="1">
              <a:off x="10066716" y="2971800"/>
              <a:ext cx="1260764" cy="5588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B3CC21DB-2329-B6E2-D070-1054F877E98B}"/>
                </a:ext>
              </a:extLst>
            </p:cNvPr>
            <p:cNvCxnSpPr/>
            <p:nvPr/>
          </p:nvCxnSpPr>
          <p:spPr>
            <a:xfrm flipV="1">
              <a:off x="7046425" y="4197927"/>
              <a:ext cx="595052" cy="1820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de flecha 27">
              <a:extLst>
                <a:ext uri="{FF2B5EF4-FFF2-40B4-BE49-F238E27FC236}">
                  <a16:creationId xmlns:a16="http://schemas.microsoft.com/office/drawing/2014/main" id="{C248DE7C-5F32-E015-7742-074715A9D8BB}"/>
                </a:ext>
              </a:extLst>
            </p:cNvPr>
            <p:cNvCxnSpPr/>
            <p:nvPr/>
          </p:nvCxnSpPr>
          <p:spPr>
            <a:xfrm flipH="1" flipV="1">
              <a:off x="8411098" y="4745736"/>
              <a:ext cx="1018309" cy="6035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de flecha 29">
              <a:extLst>
                <a:ext uri="{FF2B5EF4-FFF2-40B4-BE49-F238E27FC236}">
                  <a16:creationId xmlns:a16="http://schemas.microsoft.com/office/drawing/2014/main" id="{2EAC524D-F8F4-DDD9-89E7-FDAE675B58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10937" y="3332018"/>
              <a:ext cx="1698752" cy="12308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5A94831F-5E1B-09FE-91E6-357AD6938140}"/>
                </a:ext>
              </a:extLst>
            </p:cNvPr>
            <p:cNvSpPr txBox="1"/>
            <p:nvPr/>
          </p:nvSpPr>
          <p:spPr>
            <a:xfrm>
              <a:off x="6422312" y="1754393"/>
              <a:ext cx="7521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noProof="0">
                  <a:solidFill>
                    <a:schemeClr val="accent1">
                      <a:lumMod val="50000"/>
                    </a:schemeClr>
                  </a:solidFill>
                </a:rPr>
                <a:t>Bladder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6AEEA5CE-A6F7-D90C-D430-0059981C5339}"/>
                </a:ext>
              </a:extLst>
            </p:cNvPr>
            <p:cNvSpPr txBox="1"/>
            <p:nvPr/>
          </p:nvSpPr>
          <p:spPr>
            <a:xfrm>
              <a:off x="6320441" y="4212703"/>
              <a:ext cx="5709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</a:rPr>
                <a:t>Penis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DA3A3EB9-75A6-7410-AD25-F6E910DDE7A8}"/>
                </a:ext>
              </a:extLst>
            </p:cNvPr>
            <p:cNvSpPr txBox="1"/>
            <p:nvPr/>
          </p:nvSpPr>
          <p:spPr>
            <a:xfrm>
              <a:off x="9367418" y="5332212"/>
              <a:ext cx="7245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</a:rPr>
                <a:t>Testicle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C9A3450C-637B-92E3-0CD2-338C0DDA9757}"/>
                </a:ext>
              </a:extLst>
            </p:cNvPr>
            <p:cNvSpPr txBox="1"/>
            <p:nvPr/>
          </p:nvSpPr>
          <p:spPr>
            <a:xfrm>
              <a:off x="10774551" y="4482065"/>
              <a:ext cx="7906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</a:rPr>
                <a:t>Prostate</a:t>
              </a:r>
            </a:p>
          </p:txBody>
        </p:sp>
      </p:grpSp>
      <p:sp>
        <p:nvSpPr>
          <p:cNvPr id="36" name="CuadroTexto 35">
            <a:extLst>
              <a:ext uri="{FF2B5EF4-FFF2-40B4-BE49-F238E27FC236}">
                <a16:creationId xmlns:a16="http://schemas.microsoft.com/office/drawing/2014/main" id="{9C30B8DC-2FFC-4C31-A4BE-FF62A2B90DE5}"/>
              </a:ext>
            </a:extLst>
          </p:cNvPr>
          <p:cNvSpPr txBox="1"/>
          <p:nvPr/>
        </p:nvSpPr>
        <p:spPr>
          <a:xfrm>
            <a:off x="11370116" y="3467188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>
                <a:solidFill>
                  <a:schemeClr val="accent1">
                    <a:lumMod val="50000"/>
                  </a:schemeClr>
                </a:solidFill>
              </a:rPr>
              <a:t>Rectum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prostate cancer is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growth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starts when some cells in the prostate grow in the wrong way.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6255868" y="169164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6475324" y="183794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the same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6475324" y="247802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prostate cancers grow slowly and are not a danger. Others grow faster and may spread throughout the body, causing harm. 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768096" y="430682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silent early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768096" y="494690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 can have early prostate cancer and still feel completely well.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416052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75324" y="430682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494690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it early gives more choices for care.</a:t>
            </a:r>
            <a:endParaRPr lang="en-US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Prostate cancer in Rwanda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84778" cy="2849880"/>
          </a:xfrm>
          <a:prstGeom prst="roundRect">
            <a:avLst>
              <a:gd name="adj" fmla="val 4211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2292648"/>
            <a:ext cx="32104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4400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3231983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cancer in men in Rwanda (2024)</a:t>
            </a:r>
            <a:endParaRPr lang="en-US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737360"/>
            <a:ext cx="3484778" cy="2849880"/>
          </a:xfrm>
          <a:prstGeom prst="roundRect">
            <a:avLst>
              <a:gd name="adj" fmla="val 4211"/>
            </a:avLst>
          </a:prstGeom>
          <a:solidFill>
            <a:srgbClr val="1C6FB0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4490618" y="2292648"/>
            <a:ext cx="32104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~1,856</a:t>
            </a:r>
            <a:endParaRPr lang="en-US" sz="4400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3231983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cases in men in one year</a:t>
            </a:r>
            <a:br>
              <a:rPr lang="en-US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</a:t>
            </a:r>
            <a:endParaRPr lang="en-US" sz="2000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737360"/>
            <a:ext cx="3484778" cy="2849880"/>
          </a:xfrm>
          <a:prstGeom prst="roundRect">
            <a:avLst>
              <a:gd name="adj" fmla="val 4211"/>
            </a:avLst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95437" y="2292648"/>
            <a:ext cx="32104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~1,179</a:t>
            </a:r>
            <a:endParaRPr lang="en-US" sz="4400" noProof="0" dirty="0"/>
          </a:p>
        </p:txBody>
      </p:sp>
      <p:sp>
        <p:nvSpPr>
          <p:cNvPr id="13" name="Text 11"/>
          <p:cNvSpPr/>
          <p:nvPr/>
        </p:nvSpPr>
        <p:spPr>
          <a:xfrm>
            <a:off x="8359445" y="3231983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in men in one year (2024)</a:t>
            </a:r>
            <a:endParaRPr lang="en-US" sz="2000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495300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are estimates. Men can become sick and die from it, so awareness, check-ups, and follow-up matter. The numbers are expected to rise in the coming years.</a:t>
            </a:r>
            <a:endParaRPr lang="en-US" sz="1900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GLOBOCAN 2024 (IARC), Cancer Today, 2024 estimates. Figures are modelled estimates. Future rise is a projection.</a:t>
            </a:r>
            <a:endParaRPr lang="en-US" sz="105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9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 in your village says he feels well, so he cannot have prostate cancer. Is he right?</a:t>
            </a:r>
            <a:endParaRPr lang="en-US" sz="19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6949440" cy="749808"/>
          </a:xfrm>
          <a:prstGeom prst="roundRect">
            <a:avLst>
              <a:gd name="adj" fmla="val 7317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6547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feeling well means no cancer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3447288"/>
            <a:ext cx="6949440" cy="749808"/>
          </a:xfrm>
          <a:prstGeom prst="roundRect">
            <a:avLst>
              <a:gd name="adj" fmla="val 7317"/>
            </a:avLst>
          </a:prstGeom>
          <a:solidFill>
            <a:srgbClr val="E4F3EA"/>
          </a:solidFill>
          <a:ln w="1905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749808" y="3493008"/>
            <a:ext cx="6547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No, early prostate cancer often has no signs   ✓</a:t>
            </a:r>
            <a:endParaRPr lang="en-US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4379976"/>
            <a:ext cx="6949440" cy="749808"/>
          </a:xfrm>
          <a:prstGeom prst="roundRect">
            <a:avLst>
              <a:gd name="adj" fmla="val 7317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749808" y="4425696"/>
            <a:ext cx="6547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young men can get it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5312664"/>
            <a:ext cx="6949440" cy="749808"/>
          </a:xfrm>
          <a:prstGeom prst="roundRect">
            <a:avLst>
              <a:gd name="adj" fmla="val 7317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749808" y="5358384"/>
            <a:ext cx="6547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checked at all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7863840" y="2514600"/>
            <a:ext cx="3779215" cy="3383280"/>
          </a:xfrm>
          <a:prstGeom prst="roundRect">
            <a:avLst>
              <a:gd name="adj" fmla="val 162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8092440" y="2697480"/>
            <a:ext cx="3322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8092440" y="3154680"/>
            <a:ext cx="332201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prostate cancer is often silent. A man can feel completely well and still have it. That is why a check-up can help, even when he feels fine.</a:t>
            </a:r>
            <a:endParaRPr lang="en-US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(1/3)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The prostate is found in: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Men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men and women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prostate is a small gland found only in men.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Early prostate cancer usually: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strong pain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Often has no signs  ✓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fever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hair loss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is often silent.</a:t>
            </a:r>
            <a:endParaRPr lang="en-US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(2/3)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Prostate cancer in Rwanda is: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rare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most common cancer in men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women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leading cancer in men in Rwanda.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Prostate cancers: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the same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Can grow slowly or faster in different men  ✓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grow fast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grow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behave differently from one man to another.</a:t>
            </a:r>
            <a:endParaRPr lang="en-US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(3/3)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The prostate sits: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head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Below the bladder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arm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foot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below the bladder, around the urine tube.</a:t>
            </a:r>
            <a:endParaRPr lang="en-US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reflection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response in the text box. There is no single correct answer. These prompts are for your own practice and for discussion.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how would you tell a </a:t>
            </a:r>
            <a:r>
              <a:rPr lang="en-US" sz="180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</a:t>
            </a: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the prostate is?</a:t>
            </a:r>
            <a:endParaRPr lang="en-US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3995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 about prostate cancer in Rwanda would you most want people to know?</a:t>
            </a:r>
            <a:endParaRPr lang="en-US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" y="545896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5458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21208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answer someone who says, “I feel well, so I cannot have cancer”?</a:t>
            </a:r>
            <a:endParaRPr lang="en-US" sz="18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3"/>
          <p:cNvSpPr/>
          <p:nvPr/>
        </p:nvSpPr>
        <p:spPr>
          <a:xfrm>
            <a:off x="10378440" y="64008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1037844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look for</a:t>
            </a:r>
            <a:endParaRPr lang="en-US" sz="40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Faustin, 67. Learn who is more at risk, what to look for, and when to act.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  |   CHW</a:t>
            </a:r>
            <a:endParaRPr lang="en-US" sz="1100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</a:t>
            </a:r>
            <a:endParaRPr lang="en-U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is more likely to get prostate cancer.</a:t>
            </a:r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4353458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5222138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endParaRPr lang="en-US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914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signs that need a check-up.</a:t>
            </a:r>
            <a:endParaRPr lang="en-US" noProof="0" dirty="0"/>
          </a:p>
        </p:txBody>
      </p:sp>
      <p:sp>
        <p:nvSpPr>
          <p:cNvPr id="13" name="Shape 11"/>
          <p:cNvSpPr/>
          <p:nvPr/>
        </p:nvSpPr>
        <p:spPr>
          <a:xfrm>
            <a:off x="8158277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359445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9026957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8377733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that early cancer often has no signs.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200" noProof="0" dirty="0"/>
          </a:p>
        </p:txBody>
      </p:sp>
      <p:sp>
        <p:nvSpPr>
          <p:cNvPr id="19" name="Text 17"/>
          <p:cNvSpPr/>
          <p:nvPr/>
        </p:nvSpPr>
        <p:spPr>
          <a:xfrm>
            <a:off x="1417320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768096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encourage a check-up.</a:t>
            </a:r>
            <a:endParaRPr lang="en-US" noProof="0" dirty="0"/>
          </a:p>
        </p:txBody>
      </p:sp>
      <p:sp>
        <p:nvSpPr>
          <p:cNvPr id="21" name="Shape 19"/>
          <p:cNvSpPr/>
          <p:nvPr/>
        </p:nvSpPr>
        <p:spPr>
          <a:xfrm>
            <a:off x="4353458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2" name="Text 20"/>
          <p:cNvSpPr/>
          <p:nvPr/>
        </p:nvSpPr>
        <p:spPr>
          <a:xfrm>
            <a:off x="4554626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3200" noProof="0" dirty="0"/>
          </a:p>
        </p:txBody>
      </p:sp>
      <p:sp>
        <p:nvSpPr>
          <p:cNvPr id="23" name="Text 21"/>
          <p:cNvSpPr/>
          <p:nvPr/>
        </p:nvSpPr>
        <p:spPr>
          <a:xfrm>
            <a:off x="5222138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20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914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urgent danger signs.</a:t>
            </a:r>
            <a:endParaRPr lang="en-US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case: Faustin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more at risk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4778" cy="3611880"/>
          </a:xfrm>
          <a:prstGeom prst="roundRect">
            <a:avLst>
              <a:gd name="adj" fmla="val 1837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age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3045866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chance goes up as men get older.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691640"/>
            <a:ext cx="3484778" cy="3611880"/>
          </a:xfrm>
          <a:prstGeom prst="roundRect">
            <a:avLst>
              <a:gd name="adj" fmla="val 1837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4572914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4572914" y="2478024"/>
            <a:ext cx="3045866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father or brother with prostate cancer raises the chance.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691640"/>
            <a:ext cx="3484778" cy="3611880"/>
          </a:xfrm>
          <a:prstGeom prst="roundRect">
            <a:avLst>
              <a:gd name="adj" fmla="val 1837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8377733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background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8377733" y="2478024"/>
            <a:ext cx="3045866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of African family background have a higher chance.</a:t>
            </a:r>
            <a:endParaRPr lang="en-US" noProof="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30326F2-CEA6-4E2B-F286-10F636AF5E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95837" y="3273552"/>
            <a:ext cx="1390383" cy="173736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1CBE953-7B6C-B7C5-3E10-270067E2C1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48003" y="3453613"/>
            <a:ext cx="1945929" cy="155729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A0949BF-EEC8-EC41-F5EE-B4C4A274DD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51086" y="3409723"/>
            <a:ext cx="1645077" cy="164507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look for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386840"/>
            <a:ext cx="5387188" cy="1837944"/>
          </a:xfrm>
          <a:prstGeom prst="roundRect">
            <a:avLst>
              <a:gd name="adj" fmla="val 546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505712"/>
            <a:ext cx="4948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no signs early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1880616"/>
            <a:ext cx="494827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men feel well at first.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6255868" y="1386840"/>
            <a:ext cx="5387188" cy="1837944"/>
          </a:xfrm>
          <a:prstGeom prst="roundRect">
            <a:avLst>
              <a:gd name="adj" fmla="val 546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6475324" y="1505712"/>
            <a:ext cx="4948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changes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6475324" y="1880616"/>
            <a:ext cx="298566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stream, trouble starting urination, going often, or getting up at night. These can have other causes too.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5387188" cy="1749552"/>
          </a:xfrm>
          <a:prstGeom prst="roundRect">
            <a:avLst>
              <a:gd name="adj" fmla="val 546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768096" y="3538728"/>
            <a:ext cx="4948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in the urine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768096" y="3913632"/>
            <a:ext cx="494827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needs a check-up.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3419856"/>
            <a:ext cx="5387188" cy="1749552"/>
          </a:xfrm>
          <a:prstGeom prst="roundRect">
            <a:avLst>
              <a:gd name="adj" fmla="val 546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75324" y="3538728"/>
            <a:ext cx="4948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or back pain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3913632"/>
            <a:ext cx="252237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happen when the disease is more advanced.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5340096"/>
            <a:ext cx="11094415" cy="822960"/>
          </a:xfrm>
          <a:prstGeom prst="roundRect">
            <a:avLst>
              <a:gd name="adj" fmla="val 6667"/>
            </a:avLst>
          </a:prstGeom>
          <a:solidFill>
            <a:srgbClr val="FFF6E6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777240" y="5413248"/>
            <a:ext cx="1063721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noProof="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Important: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problems do not prove cancer. They mean a check-up is needed. Risk factors raise the chance, but they do not mean a man has cancer.</a:t>
            </a:r>
            <a:endParaRPr lang="en-US" noProof="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AE30649C-C4C4-98DF-0AC4-EB9CCFF8F3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97" b="34791"/>
          <a:stretch>
            <a:fillRect/>
          </a:stretch>
        </p:blipFill>
        <p:spPr>
          <a:xfrm>
            <a:off x="3428602" y="1647930"/>
            <a:ext cx="2196634" cy="1379404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137965A-FBB8-88B7-9A2E-A72F3B44D7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5772"/>
          <a:stretch>
            <a:fillRect/>
          </a:stretch>
        </p:blipFill>
        <p:spPr>
          <a:xfrm>
            <a:off x="3896893" y="3443568"/>
            <a:ext cx="1159411" cy="171103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2E061543-5BFB-522A-1D1A-7D7E5A6CF6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064625" y="3513448"/>
            <a:ext cx="2186160" cy="1749552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B681737-9FCD-3351-096F-9F6225A27AA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241569" y="1505712"/>
            <a:ext cx="2620910" cy="174955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44780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59410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 check-up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23418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man has these signs, kindly encourage him to go to the health </a:t>
            </a:r>
            <a:r>
              <a:rPr lang="en-US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6255868" y="144780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6475324" y="159410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wait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6475324" y="223418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tell him to wait and see. Do not give medicine yourself.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1668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768096" y="406298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Worried or older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768096" y="470306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no signs, a worried or older man can ask for advice at the health </a:t>
            </a:r>
            <a:r>
              <a:rPr lang="en-US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391668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75324" y="406298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470306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him attend and return for his results.</a:t>
            </a:r>
            <a:endParaRPr lang="en-US" noProof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it to Faustin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FF6E6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noProof="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Case:  </a:t>
            </a:r>
            <a:r>
              <a:rPr lang="en-US" sz="20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Faustin tells you about his urine problems but says he feels well and it is just old age.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best thing to do?</a:t>
            </a:r>
            <a:endParaRPr lang="en-US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5387188" cy="972312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3102864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it is just old age and do nothing</a:t>
            </a:r>
            <a:endParaRPr lang="en-US" noProof="0" dirty="0"/>
          </a:p>
        </p:txBody>
      </p:sp>
      <p:sp>
        <p:nvSpPr>
          <p:cNvPr id="10" name="Shape 8"/>
          <p:cNvSpPr/>
          <p:nvPr/>
        </p:nvSpPr>
        <p:spPr>
          <a:xfrm>
            <a:off x="6255868" y="2990088"/>
            <a:ext cx="5387188" cy="972312"/>
          </a:xfrm>
          <a:prstGeom prst="roundRect">
            <a:avLst>
              <a:gd name="adj" fmla="val 6522"/>
            </a:avLst>
          </a:prstGeom>
          <a:solidFill>
            <a:srgbClr val="E4F3EA"/>
          </a:solidFill>
          <a:ln w="1905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6438748" y="3102864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Listen, explain a check-up can help even when he feels well, and encourage him to go to the health </a:t>
            </a:r>
            <a:r>
              <a:rPr lang="en-US" b="1" noProof="0" dirty="0" err="1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✓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421843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731520" y="427329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him medicine yourself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421843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38748" y="427329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other people in the village about it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assessment kindly and keep his information private. Urine changes can have several causes and need a check-up.</a:t>
            </a:r>
            <a:endParaRPr lang="en-US" sz="1450" noProof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(1/3)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Who is more likely to get prostate cancer?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boys</a:t>
            </a:r>
            <a:endParaRPr lang="en-US" sz="155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Older men  ✓</a:t>
            </a:r>
            <a:endParaRPr lang="en-US" sz="155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women</a:t>
            </a:r>
            <a:endParaRPr lang="en-US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55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chance rises with age.</a:t>
            </a:r>
            <a:endParaRPr lang="en-US" sz="1450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Urine problems such as a weak stream:</a:t>
            </a:r>
            <a:endParaRPr lang="en-US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mean cancer</a:t>
            </a:r>
            <a:endParaRPr lang="en-US" sz="1550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Can have many causes and need a check-up  ✓</a:t>
            </a:r>
            <a:endParaRPr lang="en-US" sz="1550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need a check-up</a:t>
            </a:r>
            <a:endParaRPr lang="en-US" sz="1550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happen in young men</a:t>
            </a:r>
            <a:endParaRPr lang="en-US" sz="1550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common and need a check-up, not proof of cancer.</a:t>
            </a:r>
            <a:endParaRPr lang="en-US" sz="1450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(2/3)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Early prostate cancer: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hurts</a:t>
            </a:r>
            <a:endParaRPr lang="en-US" sz="155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Often has no signs  ✓</a:t>
            </a:r>
            <a:endParaRPr lang="en-US" sz="155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causes fever</a:t>
            </a:r>
            <a:endParaRPr lang="en-US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found</a:t>
            </a:r>
            <a:endParaRPr lang="en-US" sz="155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is often silent.</a:t>
            </a:r>
            <a:endParaRPr lang="en-US" sz="1450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A man has new leg weakness and cannot control his urine. This is:</a:t>
            </a:r>
            <a:endParaRPr lang="en-US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550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 urgent danger sign  ✓</a:t>
            </a:r>
            <a:endParaRPr lang="en-US" sz="1550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sign</a:t>
            </a:r>
            <a:endParaRPr lang="en-US" sz="1550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tiredness</a:t>
            </a:r>
            <a:endParaRPr lang="en-US" sz="1550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needs care the same day.</a:t>
            </a:r>
            <a:endParaRPr lang="en-US" sz="1450" noProof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(3/3)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If a man has urine changes, you should: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him to wait and see</a:t>
            </a:r>
            <a:endParaRPr lang="en-US" sz="155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Encourage a check-up at the health </a:t>
            </a:r>
            <a:r>
              <a:rPr lang="en-US" sz="1550" b="1" noProof="0" dirty="0" err="1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endParaRPr lang="en-US" sz="155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him medicine</a:t>
            </a:r>
            <a:endParaRPr lang="en-US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it</a:t>
            </a:r>
            <a:endParaRPr lang="en-US" sz="155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assessment kindly.</a:t>
            </a:r>
            <a:endParaRPr lang="en-US" sz="1450" noProof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reflection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response in the text box. There is no single correct answer. These prompts are for your own practice and for discussion.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say to a man who feels shy about urine problems?</a:t>
            </a:r>
            <a:endParaRPr lang="en-US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3995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danger sign will you always remember?</a:t>
            </a:r>
            <a:endParaRPr lang="en-US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" y="545896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5458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21208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encourage someone to go for a check-up?</a:t>
            </a:r>
            <a:endParaRPr lang="en-US" sz="1800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3"/>
          <p:cNvSpPr/>
          <p:nvPr/>
        </p:nvSpPr>
        <p:spPr>
          <a:xfrm>
            <a:off x="10378440" y="64008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1037844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next</a:t>
            </a:r>
            <a:endParaRPr lang="en-US" sz="40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worry into action: help people reach care, talk with kindness, and support follow-up.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  |   CHW</a:t>
            </a:r>
            <a:endParaRPr lang="en-US" sz="1100" noProof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to send a person first.</a:t>
            </a:r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4353458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5222138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914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referral journey in simple words.</a:t>
            </a:r>
            <a:endParaRPr lang="en-US" noProof="0" dirty="0"/>
          </a:p>
        </p:txBody>
      </p:sp>
      <p:sp>
        <p:nvSpPr>
          <p:cNvPr id="13" name="Shape 11"/>
          <p:cNvSpPr/>
          <p:nvPr/>
        </p:nvSpPr>
        <p:spPr>
          <a:xfrm>
            <a:off x="8158277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359445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9026957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8377733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kindness and correct wrong beliefs.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3200" noProof="0" dirty="0"/>
          </a:p>
        </p:txBody>
      </p:sp>
      <p:sp>
        <p:nvSpPr>
          <p:cNvPr id="19" name="Text 17"/>
          <p:cNvSpPr/>
          <p:nvPr/>
        </p:nvSpPr>
        <p:spPr>
          <a:xfrm>
            <a:off x="1417320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768096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person to attend and follow up.</a:t>
            </a:r>
            <a:endParaRPr lang="en-US" noProof="0" dirty="0"/>
          </a:p>
        </p:txBody>
      </p:sp>
      <p:sp>
        <p:nvSpPr>
          <p:cNvPr id="21" name="Shape 19"/>
          <p:cNvSpPr/>
          <p:nvPr/>
        </p:nvSpPr>
        <p:spPr>
          <a:xfrm>
            <a:off x="4353458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2" name="Text 20"/>
          <p:cNvSpPr/>
          <p:nvPr/>
        </p:nvSpPr>
        <p:spPr>
          <a:xfrm>
            <a:off x="4554626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3200" noProof="0" dirty="0"/>
          </a:p>
        </p:txBody>
      </p:sp>
      <p:sp>
        <p:nvSpPr>
          <p:cNvPr id="23" name="Text 21"/>
          <p:cNvSpPr/>
          <p:nvPr/>
        </p:nvSpPr>
        <p:spPr>
          <a:xfrm>
            <a:off x="5222138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20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914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referral is urgent.</a:t>
            </a:r>
            <a:endParaRPr lang="en-US" noProof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referral journey in Rwanda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362858" cy="3310128"/>
          </a:xfrm>
          <a:prstGeom prst="roundRect">
            <a:avLst>
              <a:gd name="adj" fmla="val 3478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800" noProof="0" dirty="0"/>
          </a:p>
        </p:txBody>
      </p:sp>
      <p:sp>
        <p:nvSpPr>
          <p:cNvPr id="6" name="Shape 4"/>
          <p:cNvSpPr/>
          <p:nvPr/>
        </p:nvSpPr>
        <p:spPr>
          <a:xfrm>
            <a:off x="1864309" y="2356104"/>
            <a:ext cx="731520" cy="731520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1864309" y="23561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noProof="0" dirty="0"/>
          </a:p>
        </p:txBody>
      </p:sp>
      <p:sp>
        <p:nvSpPr>
          <p:cNvPr id="8" name="Text 6"/>
          <p:cNvSpPr/>
          <p:nvPr/>
        </p:nvSpPr>
        <p:spPr>
          <a:xfrm>
            <a:off x="713232" y="3179064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post or </a:t>
            </a:r>
            <a:r>
              <a:rPr lang="en-US" sz="2400" b="1" noProof="0" dirty="0" err="1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713232" y="3663696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goes here first for a check-up.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3938930" y="290474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3600" noProof="0" dirty="0"/>
          </a:p>
        </p:txBody>
      </p:sp>
      <p:sp>
        <p:nvSpPr>
          <p:cNvPr id="11" name="Shape 9"/>
          <p:cNvSpPr/>
          <p:nvPr/>
        </p:nvSpPr>
        <p:spPr>
          <a:xfrm>
            <a:off x="4414418" y="1737360"/>
            <a:ext cx="3362858" cy="3310128"/>
          </a:xfrm>
          <a:prstGeom prst="roundRect">
            <a:avLst>
              <a:gd name="adj" fmla="val 3478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800" noProof="0" dirty="0"/>
          </a:p>
        </p:txBody>
      </p:sp>
      <p:sp>
        <p:nvSpPr>
          <p:cNvPr id="12" name="Shape 10"/>
          <p:cNvSpPr/>
          <p:nvPr/>
        </p:nvSpPr>
        <p:spPr>
          <a:xfrm>
            <a:off x="5730088" y="2356104"/>
            <a:ext cx="731520" cy="731520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800" noProof="0" dirty="0"/>
          </a:p>
        </p:txBody>
      </p:sp>
      <p:sp>
        <p:nvSpPr>
          <p:cNvPr id="13" name="Text 11"/>
          <p:cNvSpPr/>
          <p:nvPr/>
        </p:nvSpPr>
        <p:spPr>
          <a:xfrm>
            <a:off x="5730088" y="23561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noProof="0" dirty="0"/>
          </a:p>
        </p:txBody>
      </p:sp>
      <p:sp>
        <p:nvSpPr>
          <p:cNvPr id="14" name="Text 12"/>
          <p:cNvSpPr/>
          <p:nvPr/>
        </p:nvSpPr>
        <p:spPr>
          <a:xfrm>
            <a:off x="4579010" y="3179064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hospital</a:t>
            </a:r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4579010" y="3663696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needed, they are sent here for more checks.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7804709" y="290474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3600" noProof="0" dirty="0"/>
          </a:p>
        </p:txBody>
      </p:sp>
      <p:sp>
        <p:nvSpPr>
          <p:cNvPr id="17" name="Shape 15"/>
          <p:cNvSpPr/>
          <p:nvPr/>
        </p:nvSpPr>
        <p:spPr>
          <a:xfrm>
            <a:off x="8280197" y="1737360"/>
            <a:ext cx="3362858" cy="3310128"/>
          </a:xfrm>
          <a:prstGeom prst="roundRect">
            <a:avLst>
              <a:gd name="adj" fmla="val 3478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800" noProof="0" dirty="0"/>
          </a:p>
        </p:txBody>
      </p:sp>
      <p:sp>
        <p:nvSpPr>
          <p:cNvPr id="18" name="Shape 16"/>
          <p:cNvSpPr/>
          <p:nvPr/>
        </p:nvSpPr>
        <p:spPr>
          <a:xfrm>
            <a:off x="9595866" y="2356104"/>
            <a:ext cx="731520" cy="731520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800" noProof="0" dirty="0"/>
          </a:p>
        </p:txBody>
      </p:sp>
      <p:sp>
        <p:nvSpPr>
          <p:cNvPr id="19" name="Text 17"/>
          <p:cNvSpPr/>
          <p:nvPr/>
        </p:nvSpPr>
        <p:spPr>
          <a:xfrm>
            <a:off x="9595866" y="23561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noProof="0" dirty="0"/>
          </a:p>
        </p:txBody>
      </p:sp>
      <p:sp>
        <p:nvSpPr>
          <p:cNvPr id="20" name="Text 18"/>
          <p:cNvSpPr/>
          <p:nvPr/>
        </p:nvSpPr>
        <p:spPr>
          <a:xfrm>
            <a:off x="8444789" y="3179064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or cancer </a:t>
            </a:r>
            <a:r>
              <a:rPr lang="en-US" sz="2400" b="1" noProof="0" dirty="0" err="1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8444789" y="3663696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special care and treatment planning.</a:t>
            </a:r>
            <a:endParaRPr lang="en-US" sz="2000" noProof="0" dirty="0"/>
          </a:p>
        </p:txBody>
      </p:sp>
      <p:sp>
        <p:nvSpPr>
          <p:cNvPr id="22" name="Shape 20"/>
          <p:cNvSpPr/>
          <p:nvPr/>
        </p:nvSpPr>
        <p:spPr>
          <a:xfrm>
            <a:off x="548640" y="5480304"/>
            <a:ext cx="11094415" cy="640080"/>
          </a:xfrm>
          <a:prstGeom prst="roundRect">
            <a:avLst>
              <a:gd name="adj" fmla="val 8571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23" name="Text 21"/>
          <p:cNvSpPr/>
          <p:nvPr/>
        </p:nvSpPr>
        <p:spPr>
          <a:xfrm>
            <a:off x="822960" y="5480304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noProof="0" dirty="0">
                <a:solidFill>
                  <a:srgbClr val="7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Urgent:  </a:t>
            </a:r>
            <a:r>
              <a:rPr lang="en-US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danger signs, help the person get care the same day. Do not wait for the normal steps.</a:t>
            </a:r>
            <a:endParaRPr lang="en-US" noProof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 with care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87188" cy="1805940"/>
          </a:xfrm>
          <a:prstGeom prst="roundRect">
            <a:avLst>
              <a:gd name="adj" fmla="val 3544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feel well, so I do not need a check-up.”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4948276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prostate cancer often has no signs. A check-up can still help.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6255868" y="1691640"/>
            <a:ext cx="5387188" cy="1805940"/>
          </a:xfrm>
          <a:prstGeom prst="roundRect">
            <a:avLst>
              <a:gd name="adj" fmla="val 3544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6475324" y="183794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afraid they will find cancer.”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6475324" y="2478024"/>
            <a:ext cx="4948276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normal to feel afraid. Finding problems early gives more choices.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817620"/>
            <a:ext cx="5387188" cy="1805940"/>
          </a:xfrm>
          <a:prstGeom prst="roundRect">
            <a:avLst>
              <a:gd name="adj" fmla="val 3544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768096" y="396392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it is cancer, nothing can be done.”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768096" y="4604004"/>
            <a:ext cx="4948276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true. There are ways to care for and treat people.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3817620"/>
            <a:ext cx="5387188" cy="1805940"/>
          </a:xfrm>
          <a:prstGeom prst="roundRect">
            <a:avLst>
              <a:gd name="adj" fmla="val 3544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75324" y="396392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blood test means I have cancer.”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4604004"/>
            <a:ext cx="4948276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blood test can show more checks are needed, but it cannot confirm cancer alone.</a:t>
            </a:r>
            <a:endParaRPr lang="en-US" noProof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and follow-up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attendance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person reach the health </a:t>
            </a:r>
            <a:r>
              <a:rPr lang="en-US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4572914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for results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4572914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 them to go back for their results.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8377733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shame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8377733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their information private and treat them with respect.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768096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family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768096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family understand why continued care matters.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4353458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914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get more help</a:t>
            </a:r>
            <a:endParaRPr lang="en-US" sz="2000" noProof="0" dirty="0"/>
          </a:p>
        </p:txBody>
      </p:sp>
      <p:sp>
        <p:nvSpPr>
          <p:cNvPr id="19" name="Text 17"/>
          <p:cNvSpPr/>
          <p:nvPr/>
        </p:nvSpPr>
        <p:spPr>
          <a:xfrm>
            <a:off x="4572914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distress is heavy, encourage extra support.</a:t>
            </a:r>
            <a:endParaRPr lang="en-US" noProof="0" dirty="0"/>
          </a:p>
        </p:txBody>
      </p:sp>
      <p:sp>
        <p:nvSpPr>
          <p:cNvPr id="20" name="Shape 18"/>
          <p:cNvSpPr/>
          <p:nvPr/>
        </p:nvSpPr>
        <p:spPr>
          <a:xfrm>
            <a:off x="8158277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8377733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blame</a:t>
            </a:r>
            <a:endParaRPr lang="en-US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8377733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Listen, be patient, and never use fear.</a:t>
            </a:r>
            <a:endParaRPr lang="en-US" noProof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Faustin's story continues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FF6E6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noProof="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Case:  </a:t>
            </a:r>
            <a:r>
              <a:rPr lang="en-US" sz="20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you encourage a check-up, Faustin says quietly, “If it is cancer, nothing can be done, so why go?”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most helpful response?</a:t>
            </a:r>
            <a:endParaRPr lang="en-US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5387188" cy="113080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3224784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that little can be done</a:t>
            </a:r>
            <a:endParaRPr lang="en-US" noProof="0" dirty="0"/>
          </a:p>
        </p:txBody>
      </p:sp>
      <p:sp>
        <p:nvSpPr>
          <p:cNvPr id="10" name="Shape 8"/>
          <p:cNvSpPr/>
          <p:nvPr/>
        </p:nvSpPr>
        <p:spPr>
          <a:xfrm>
            <a:off x="6255868" y="2990088"/>
            <a:ext cx="5387188" cy="1130808"/>
          </a:xfrm>
          <a:prstGeom prst="roundRect">
            <a:avLst>
              <a:gd name="adj" fmla="val 6522"/>
            </a:avLst>
          </a:prstGeom>
          <a:solidFill>
            <a:srgbClr val="E4F3EA"/>
          </a:solidFill>
          <a:ln w="1905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6438748" y="3224784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Gently say this is not true, that a check-up guides care and options exist, and encourage him to go   ✓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4376928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731520" y="4431792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him not to worry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4376928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38748" y="4431792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the conversation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his fear, correct the wrong belief kindly, and support him to attend without pressure.</a:t>
            </a:r>
            <a:endParaRPr lang="en-US" sz="1450" noProof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(1/3)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The first place for a check-up is usually: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cancer </a:t>
            </a:r>
            <a:r>
              <a:rPr lang="en-US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health post or health </a:t>
            </a:r>
            <a:r>
              <a:rPr lang="en-US" b="1" noProof="0" dirty="0" err="1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shop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Nowhere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contact is at the health post or </a:t>
            </a:r>
            <a:r>
              <a:rPr lang="en-US" i="1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“If it is cancer, nothing can be done” is: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misconception ✓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correct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repeat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ways to treat and support people.</a:t>
            </a:r>
            <a:endParaRPr lang="en-US" noProof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(2/3)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Good counselling means: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Blaming the person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Listening and encouraging without fear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Withholding information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Rushing them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Listen, respect, and give time.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After a referral, a community health worker should: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Encourage attendance and return for results  ✓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tests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about it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attendance and follow-up.</a:t>
            </a:r>
            <a:endParaRPr lang="en-US" noProof="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(3/3)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Danger signs need: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wait-and-see plan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Care the same day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 next month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signs need care the same day.</a:t>
            </a:r>
            <a:endParaRPr lang="en-US" noProof="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reflection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response in the text box. There is no single correct answer. These prompts are for your own practice and for discussion.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tell someone who is afraid to seek a check-up?</a:t>
            </a:r>
            <a:endParaRPr lang="en-US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3995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could you help someone complete a referral?</a:t>
            </a:r>
            <a:endParaRPr lang="en-US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" y="545896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5458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21208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wrong belief about prostate cancer would you most like to correct?</a:t>
            </a:r>
            <a:endParaRPr lang="en-US" sz="1800" noProof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3"/>
          <p:cNvSpPr/>
          <p:nvPr/>
        </p:nvSpPr>
        <p:spPr>
          <a:xfrm>
            <a:off x="10378440" y="64008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1037844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cancer found and treated?</a:t>
            </a:r>
            <a:endParaRPr lang="en-US" sz="40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look at what happens after referral: how doctors find out, and the kinds of treatment.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  |   CHW</a:t>
            </a:r>
            <a:endParaRPr lang="en-US" sz="1100" noProof="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2380488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2545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2563368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3130296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simple words how cancer is found.</a:t>
            </a:r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3402254" y="2380488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3603422" y="2545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4270934" y="2563368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Reassure</a:t>
            </a:r>
            <a:endParaRPr lang="en-US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3621710" y="3130296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that a blood test alone cannot confirm cancer.</a:t>
            </a:r>
            <a:endParaRPr lang="en-US" noProof="0" dirty="0"/>
          </a:p>
        </p:txBody>
      </p:sp>
      <p:sp>
        <p:nvSpPr>
          <p:cNvPr id="13" name="Shape 11"/>
          <p:cNvSpPr/>
          <p:nvPr/>
        </p:nvSpPr>
        <p:spPr>
          <a:xfrm>
            <a:off x="6255868" y="2380488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6457036" y="2545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</a:t>
            </a:r>
            <a:endParaRPr lang="en-US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7124548" y="2563368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3130296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main kinds of treatment simply.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9109481" y="2380488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9310649" y="2545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3200" noProof="0" dirty="0"/>
          </a:p>
        </p:txBody>
      </p:sp>
      <p:sp>
        <p:nvSpPr>
          <p:cNvPr id="19" name="Text 17"/>
          <p:cNvSpPr/>
          <p:nvPr/>
        </p:nvSpPr>
        <p:spPr>
          <a:xfrm>
            <a:off x="9978161" y="2563368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9328937" y="3130296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common wrong beliefs.</a:t>
            </a:r>
            <a:endParaRPr lang="en-US" noProof="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doctors find out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66928" cy="566928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noProof="0" dirty="0"/>
          </a:p>
        </p:txBody>
      </p:sp>
      <p:sp>
        <p:nvSpPr>
          <p:cNvPr id="7" name="Shape 5"/>
          <p:cNvSpPr/>
          <p:nvPr/>
        </p:nvSpPr>
        <p:spPr>
          <a:xfrm>
            <a:off x="1325880" y="1627632"/>
            <a:ext cx="10317175" cy="603504"/>
          </a:xfrm>
          <a:prstGeom prst="roundRect">
            <a:avLst>
              <a:gd name="adj" fmla="val 757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1554480" y="1627632"/>
            <a:ext cx="98599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facility checks the person.</a:t>
            </a:r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566928" cy="566928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noProof="0" dirty="0"/>
          </a:p>
        </p:txBody>
      </p:sp>
      <p:sp>
        <p:nvSpPr>
          <p:cNvPr id="11" name="Shape 9"/>
          <p:cNvSpPr/>
          <p:nvPr/>
        </p:nvSpPr>
        <p:spPr>
          <a:xfrm>
            <a:off x="1325880" y="2377440"/>
            <a:ext cx="10317175" cy="603504"/>
          </a:xfrm>
          <a:prstGeom prst="roundRect">
            <a:avLst>
              <a:gd name="adj" fmla="val 757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1554480" y="2377440"/>
            <a:ext cx="98599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tests may be done</a:t>
            </a: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like a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specific antigen (PSA) in blood.</a:t>
            </a:r>
            <a:endParaRPr lang="en-US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3145536"/>
            <a:ext cx="566928" cy="566928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31455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noProof="0" dirty="0"/>
          </a:p>
        </p:txBody>
      </p:sp>
      <p:sp>
        <p:nvSpPr>
          <p:cNvPr id="15" name="Shape 13"/>
          <p:cNvSpPr/>
          <p:nvPr/>
        </p:nvSpPr>
        <p:spPr>
          <a:xfrm>
            <a:off x="1325880" y="3127248"/>
            <a:ext cx="10317175" cy="603504"/>
          </a:xfrm>
          <a:prstGeom prst="roundRect">
            <a:avLst>
              <a:gd name="adj" fmla="val 757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1554480" y="3127248"/>
            <a:ext cx="98599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Pictures of the inside of the body (imaging) may be taken.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18" name="Text 16"/>
          <p:cNvSpPr/>
          <p:nvPr/>
        </p:nvSpPr>
        <p:spPr>
          <a:xfrm>
            <a:off x="548640" y="38953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noProof="0" dirty="0"/>
          </a:p>
        </p:txBody>
      </p:sp>
      <p:sp>
        <p:nvSpPr>
          <p:cNvPr id="19" name="Shape 17"/>
          <p:cNvSpPr/>
          <p:nvPr/>
        </p:nvSpPr>
        <p:spPr>
          <a:xfrm>
            <a:off x="1325880" y="3877056"/>
            <a:ext cx="10317175" cy="603504"/>
          </a:xfrm>
          <a:prstGeom prst="roundRect">
            <a:avLst>
              <a:gd name="adj" fmla="val 757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1554480" y="3877056"/>
            <a:ext cx="98599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 of tissue (a biopsy) may be taken to confirm.</a:t>
            </a:r>
            <a:endParaRPr lang="en-US" noProof="0" dirty="0"/>
          </a:p>
        </p:txBody>
      </p:sp>
      <p:sp>
        <p:nvSpPr>
          <p:cNvPr id="21" name="Shape 19"/>
          <p:cNvSpPr/>
          <p:nvPr/>
        </p:nvSpPr>
        <p:spPr>
          <a:xfrm>
            <a:off x="548640" y="4645152"/>
            <a:ext cx="566928" cy="566928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548640" y="4645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noProof="0" dirty="0"/>
          </a:p>
        </p:txBody>
      </p:sp>
      <p:sp>
        <p:nvSpPr>
          <p:cNvPr id="23" name="Shape 21"/>
          <p:cNvSpPr/>
          <p:nvPr/>
        </p:nvSpPr>
        <p:spPr>
          <a:xfrm>
            <a:off x="1325880" y="4626864"/>
            <a:ext cx="10317175" cy="603504"/>
          </a:xfrm>
          <a:prstGeom prst="roundRect">
            <a:avLst>
              <a:gd name="adj" fmla="val 757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24" name="Text 22"/>
          <p:cNvSpPr/>
          <p:nvPr/>
        </p:nvSpPr>
        <p:spPr>
          <a:xfrm>
            <a:off x="1554480" y="4626864"/>
            <a:ext cx="98599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use the results to plan care with the person.</a:t>
            </a:r>
            <a:endParaRPr lang="en-US" noProof="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26" name="Text 24"/>
          <p:cNvSpPr/>
          <p:nvPr/>
        </p:nvSpPr>
        <p:spPr>
          <a:xfrm>
            <a:off x="777240" y="544068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Remember: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blood test or signs alone cannot confirm cancer. Only looking at the tissue can confirm it.</a:t>
            </a:r>
            <a:endParaRPr lang="en-US" noProof="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Kinds of treatment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monitoring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slow cancers are watched closely instead of treated at once.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4572914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4572914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 to remove the prostate.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8377733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treatment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8377733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rays used to treat the cancer.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768096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 medicines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768096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that lower hormones to slow the cancer.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4353458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914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cancer medicines</a:t>
            </a:r>
            <a:endParaRPr lang="en-US" sz="2000" noProof="0" dirty="0"/>
          </a:p>
        </p:txBody>
      </p:sp>
      <p:sp>
        <p:nvSpPr>
          <p:cNvPr id="19" name="Text 17"/>
          <p:cNvSpPr/>
          <p:nvPr/>
        </p:nvSpPr>
        <p:spPr>
          <a:xfrm>
            <a:off x="4572914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some cases, decided by specialists. An example is chemotherapy.</a:t>
            </a:r>
            <a:endParaRPr lang="en-US" noProof="0" dirty="0"/>
          </a:p>
        </p:txBody>
      </p:sp>
      <p:sp>
        <p:nvSpPr>
          <p:cNvPr id="20" name="Shape 18"/>
          <p:cNvSpPr/>
          <p:nvPr/>
        </p:nvSpPr>
        <p:spPr>
          <a:xfrm>
            <a:off x="8158277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8377733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with the specialist</a:t>
            </a:r>
            <a:endParaRPr lang="en-US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8377733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everyone gets the same treatment. It depends on the cancer and the person.</a:t>
            </a:r>
            <a:endParaRPr lang="en-US" noProof="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Myth or fact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BE9E9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problems always mean cancer</a:t>
            </a:r>
            <a:endParaRPr lang="en-US" noProof="0" dirty="0"/>
          </a:p>
        </p:txBody>
      </p:sp>
      <p:sp>
        <p:nvSpPr>
          <p:cNvPr id="7" name="Text 5"/>
          <p:cNvSpPr/>
          <p:nvPr/>
        </p:nvSpPr>
        <p:spPr>
          <a:xfrm>
            <a:off x="5760720" y="16459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800" noProof="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33695" cy="804672"/>
          </a:xfrm>
          <a:prstGeom prst="roundRect">
            <a:avLst>
              <a:gd name="adj" fmla="val 6818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6492240" y="1645920"/>
            <a:ext cx="496793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common and often have other causes, but they still need a check-up.</a:t>
            </a:r>
            <a:endParaRPr lang="en-US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BE9E9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signs means no cancer</a:t>
            </a:r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5760720" y="25603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800" noProof="0" dirty="0"/>
          </a:p>
        </p:txBody>
      </p:sp>
      <p:sp>
        <p:nvSpPr>
          <p:cNvPr id="13" name="Shape 11"/>
          <p:cNvSpPr/>
          <p:nvPr/>
        </p:nvSpPr>
        <p:spPr>
          <a:xfrm>
            <a:off x="6309360" y="2560320"/>
            <a:ext cx="5333695" cy="804672"/>
          </a:xfrm>
          <a:prstGeom prst="roundRect">
            <a:avLst>
              <a:gd name="adj" fmla="val 6818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496793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prostate cancer is often silent.</a:t>
            </a:r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BE9E9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biopsy makes cancer spread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5760720" y="34747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800" noProof="0" dirty="0"/>
          </a:p>
        </p:txBody>
      </p:sp>
      <p:sp>
        <p:nvSpPr>
          <p:cNvPr id="18" name="Shape 16"/>
          <p:cNvSpPr/>
          <p:nvPr/>
        </p:nvSpPr>
        <p:spPr>
          <a:xfrm>
            <a:off x="6309360" y="3474720"/>
            <a:ext cx="5333695" cy="804672"/>
          </a:xfrm>
          <a:prstGeom prst="roundRect">
            <a:avLst>
              <a:gd name="adj" fmla="val 6818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9" name="Text 17"/>
          <p:cNvSpPr/>
          <p:nvPr/>
        </p:nvSpPr>
        <p:spPr>
          <a:xfrm>
            <a:off x="6492240" y="3474720"/>
            <a:ext cx="496793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how it works.</a:t>
            </a:r>
            <a:endParaRPr lang="en-US" noProof="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BE9E9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prostate cancer is the same</a:t>
            </a:r>
            <a:endParaRPr lang="en-US" noProof="0" dirty="0"/>
          </a:p>
        </p:txBody>
      </p:sp>
      <p:sp>
        <p:nvSpPr>
          <p:cNvPr id="22" name="Text 20"/>
          <p:cNvSpPr/>
          <p:nvPr/>
        </p:nvSpPr>
        <p:spPr>
          <a:xfrm>
            <a:off x="5760720" y="43891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800" noProof="0" dirty="0"/>
          </a:p>
        </p:txBody>
      </p:sp>
      <p:sp>
        <p:nvSpPr>
          <p:cNvPr id="23" name="Shape 21"/>
          <p:cNvSpPr/>
          <p:nvPr/>
        </p:nvSpPr>
        <p:spPr>
          <a:xfrm>
            <a:off x="6309360" y="4389120"/>
            <a:ext cx="5333695" cy="804672"/>
          </a:xfrm>
          <a:prstGeom prst="roundRect">
            <a:avLst>
              <a:gd name="adj" fmla="val 6818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4" name="Text 22"/>
          <p:cNvSpPr/>
          <p:nvPr/>
        </p:nvSpPr>
        <p:spPr>
          <a:xfrm>
            <a:off x="6492240" y="4389120"/>
            <a:ext cx="496793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behave differently in different men.</a:t>
            </a:r>
            <a:endParaRPr lang="en-US" noProof="0" dirty="0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BE9E9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6" name="Text 24"/>
          <p:cNvSpPr/>
          <p:nvPr/>
        </p:nvSpPr>
        <p:spPr>
          <a:xfrm>
            <a:off x="731520" y="530352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cancer, nothing can be done</a:t>
            </a:r>
            <a:endParaRPr lang="en-US" noProof="0" dirty="0"/>
          </a:p>
        </p:txBody>
      </p:sp>
      <p:sp>
        <p:nvSpPr>
          <p:cNvPr id="27" name="Text 25"/>
          <p:cNvSpPr/>
          <p:nvPr/>
        </p:nvSpPr>
        <p:spPr>
          <a:xfrm>
            <a:off x="5760720" y="53035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800" noProof="0" dirty="0"/>
          </a:p>
        </p:txBody>
      </p:sp>
      <p:sp>
        <p:nvSpPr>
          <p:cNvPr id="28" name="Shape 26"/>
          <p:cNvSpPr/>
          <p:nvPr/>
        </p:nvSpPr>
        <p:spPr>
          <a:xfrm>
            <a:off x="6309360" y="5303520"/>
            <a:ext cx="5333695" cy="804672"/>
          </a:xfrm>
          <a:prstGeom prst="roundRect">
            <a:avLst>
              <a:gd name="adj" fmla="val 6818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9" name="Text 27"/>
          <p:cNvSpPr/>
          <p:nvPr/>
        </p:nvSpPr>
        <p:spPr>
          <a:xfrm>
            <a:off x="6492240" y="5303520"/>
            <a:ext cx="496793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ways to treat and support people.</a:t>
            </a:r>
            <a:endParaRPr lang="en-US" noProof="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(1/3)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Cancer is confirmed by: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blood test alone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small tissue sample (biopsy)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alone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looking at the tissue confirms cancer.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A blood test for the prostate: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cancer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May show more checks are needed, but cannot confirm alone  ✓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Cures cancer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never used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guides more checks; it does not confirm cancer.</a:t>
            </a:r>
            <a:endParaRPr lang="en-US" noProof="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(2/3)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Treatment for prostate cancer: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same for everyone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Depends on the cancer and the person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always surgery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never given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decide with the person.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Some slow-growing prostate cancers may be: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Watched closely instead of treated at once  ✓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checked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Cured with rest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careful monitoring, not neglect.</a:t>
            </a:r>
            <a:endParaRPr lang="en-US" noProof="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(3/3)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“A biopsy makes cancer spread.” This is: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False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true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true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misconception.</a:t>
            </a:r>
            <a:endParaRPr lang="en-US" noProof="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reflection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response in the text box. There is no single correct answer. These prompts are for your own practice and for discussion.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explain, in simple words, how doctors confirm cancer?</a:t>
            </a:r>
            <a:endParaRPr lang="en-US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3995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wrong belief about treatment would you most like to correct?</a:t>
            </a:r>
            <a:endParaRPr lang="en-US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" y="545896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5458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21208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reassure someone who is waiting for test results?</a:t>
            </a:r>
            <a:endParaRPr lang="en-US" sz="1800" noProof="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3"/>
          <p:cNvSpPr/>
          <p:nvPr/>
        </p:nvSpPr>
        <p:spPr>
          <a:xfrm>
            <a:off x="10378440" y="64008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1037844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expect from disease and treatment</a:t>
            </a:r>
            <a:endParaRPr lang="en-US" sz="40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people through treatment and beyond: know the usual effects, the danger signs, and how to bring comfort.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  |   CHW</a:t>
            </a:r>
            <a:endParaRPr lang="en-US" sz="1100" noProof="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2612136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27767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2795016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</a:t>
            </a:r>
            <a:endParaRPr lang="en-U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3361944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usual effects of disease and treatment.</a:t>
            </a:r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3402254" y="2612136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3603422" y="27767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4270934" y="2795016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3621710" y="3361944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usual effects apart from danger signs.</a:t>
            </a:r>
            <a:endParaRPr lang="en-US" noProof="0" dirty="0"/>
          </a:p>
        </p:txBody>
      </p:sp>
      <p:sp>
        <p:nvSpPr>
          <p:cNvPr id="13" name="Shape 11"/>
          <p:cNvSpPr/>
          <p:nvPr/>
        </p:nvSpPr>
        <p:spPr>
          <a:xfrm>
            <a:off x="6255868" y="2612136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6457036" y="27767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7124548" y="2795016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3361944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urgent danger signs.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9109481" y="2612136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9310649" y="27767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💙</a:t>
            </a:r>
            <a:endParaRPr lang="en-US" sz="3200" noProof="0" dirty="0"/>
          </a:p>
        </p:txBody>
      </p:sp>
      <p:sp>
        <p:nvSpPr>
          <p:cNvPr id="19" name="Text 17"/>
          <p:cNvSpPr/>
          <p:nvPr/>
        </p:nvSpPr>
        <p:spPr>
          <a:xfrm>
            <a:off x="9978161" y="2795016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</a:t>
            </a:r>
            <a:endParaRPr lang="en-US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9328937" y="3361944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practical comfort and support.</a:t>
            </a:r>
            <a:endParaRPr lang="en-US" noProof="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side effects of prostate cancer treatment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hear about these effects. Your job is to recognise them and reassure, not to treat them.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0440" y="1783080"/>
            <a:ext cx="8122615" cy="457200"/>
          </a:xfrm>
          <a:prstGeom prst="roundRect">
            <a:avLst>
              <a:gd name="adj" fmla="val 10000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703320" y="1783080"/>
            <a:ext cx="7756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effects CHWs may hear about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2834640" cy="533377"/>
          </a:xfrm>
          <a:prstGeom prst="roundRect">
            <a:avLst>
              <a:gd name="adj" fmla="val 5556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13232" y="2350008"/>
            <a:ext cx="2505456" cy="533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520440" y="2350008"/>
            <a:ext cx="8122615" cy="533377"/>
          </a:xfrm>
          <a:prstGeom prst="roundRect">
            <a:avLst>
              <a:gd name="adj" fmla="val 555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721608" y="2395728"/>
            <a:ext cx="7720279" cy="474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leakage; difficulty with erections; loss of ejaculation or fertility.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2834640" cy="740801"/>
          </a:xfrm>
          <a:prstGeom prst="roundRect">
            <a:avLst>
              <a:gd name="adj" fmla="val 4000"/>
            </a:avLst>
          </a:prstGeom>
          <a:solidFill>
            <a:srgbClr val="1C6FB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13232" y="3282696"/>
            <a:ext cx="2505456" cy="7408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Radiotherapy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520440" y="3282696"/>
            <a:ext cx="8122615" cy="740801"/>
          </a:xfrm>
          <a:prstGeom prst="roundRect">
            <a:avLst>
              <a:gd name="adj" fmla="val 4000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721608" y="3328416"/>
            <a:ext cx="7720279" cy="681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Tiredness; needing to urinate more often or urgently; bowel changes such as loose stools or urgency; erection problems can develop over time.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4535424"/>
            <a:ext cx="2834640" cy="681537"/>
          </a:xfrm>
          <a:prstGeom prst="roundRect">
            <a:avLst>
              <a:gd name="adj" fmla="val 4348"/>
            </a:avLst>
          </a:prstGeom>
          <a:solidFill>
            <a:srgbClr val="128C7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13232" y="4535424"/>
            <a:ext cx="2505456" cy="681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 therapy (ADT)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520440" y="4535424"/>
            <a:ext cx="8122615" cy="681537"/>
          </a:xfrm>
          <a:prstGeom prst="roundRect">
            <a:avLst>
              <a:gd name="adj" fmla="val 4348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721608" y="4581144"/>
            <a:ext cx="7720279" cy="622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flushes; tiredness; reduced sexual desire or erections; weight and body changes; weaker bones over time.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48640" y="5696712"/>
            <a:ext cx="2834640" cy="681537"/>
          </a:xfrm>
          <a:prstGeom prst="roundRect">
            <a:avLst>
              <a:gd name="adj" fmla="val 4348"/>
            </a:avLst>
          </a:prstGeom>
          <a:solidFill>
            <a:srgbClr val="1E7D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713232" y="5696712"/>
            <a:ext cx="2505456" cy="681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520440" y="5696712"/>
            <a:ext cx="8122615" cy="681537"/>
          </a:xfrm>
          <a:prstGeom prst="roundRect">
            <a:avLst>
              <a:gd name="adj" fmla="val 4348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721608" y="5742432"/>
            <a:ext cx="7720279" cy="622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Tiredness; nausea or vomiting; reduced appetite; hair loss; higher chance of infection; numbness or tingling may occur.</a:t>
            </a:r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 effect or possible disease problem?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454298" cy="3886200"/>
          </a:xfrm>
          <a:prstGeom prst="roundRect">
            <a:avLst>
              <a:gd name="adj" fmla="val 1853"/>
            </a:avLst>
          </a:prstGeom>
          <a:solidFill>
            <a:srgbClr val="F3F8FC"/>
          </a:solidFill>
          <a:ln w="15240">
            <a:solidFill>
              <a:srgbClr val="1C6FB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454298" cy="566928"/>
          </a:xfrm>
          <a:prstGeom prst="roundRect">
            <a:avLst>
              <a:gd name="adj" fmla="val 11290"/>
            </a:avLst>
          </a:prstGeom>
          <a:solidFill>
            <a:srgbClr val="1C6FB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323484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related to treatment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808" y="2139695"/>
            <a:ext cx="3051962" cy="2688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leakage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flushes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Tiredness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 difficulties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Bowel changes after therapy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Nausea or hair loss during chemotherapy</a:t>
            </a:r>
          </a:p>
        </p:txBody>
      </p:sp>
      <p:sp>
        <p:nvSpPr>
          <p:cNvPr id="14" name="Shape 12"/>
          <p:cNvSpPr/>
          <p:nvPr/>
        </p:nvSpPr>
        <p:spPr>
          <a:xfrm>
            <a:off x="4368698" y="1463040"/>
            <a:ext cx="3454298" cy="3886200"/>
          </a:xfrm>
          <a:prstGeom prst="roundRect">
            <a:avLst>
              <a:gd name="adj" fmla="val 1853"/>
            </a:avLst>
          </a:prstGeom>
          <a:solidFill>
            <a:srgbClr val="FFF6E6"/>
          </a:solidFill>
          <a:ln w="15240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368698" y="1463040"/>
            <a:ext cx="3454298" cy="566928"/>
          </a:xfrm>
          <a:prstGeom prst="roundRect">
            <a:avLst>
              <a:gd name="adj" fmla="val 11290"/>
            </a:avLst>
          </a:prstGeom>
          <a:solidFill>
            <a:srgbClr val="E08A1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478426" y="1463040"/>
            <a:ext cx="323484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assessment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69866" y="2139696"/>
            <a:ext cx="305196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worsening pain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clearly worsening urinary symptoms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Bowel problems that do not settle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worsening tiredness or weakness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worries the person</a:t>
            </a:r>
          </a:p>
        </p:txBody>
      </p:sp>
      <p:sp>
        <p:nvSpPr>
          <p:cNvPr id="22" name="Shape 20"/>
          <p:cNvSpPr/>
          <p:nvPr/>
        </p:nvSpPr>
        <p:spPr>
          <a:xfrm>
            <a:off x="8188757" y="1463040"/>
            <a:ext cx="3454298" cy="3886200"/>
          </a:xfrm>
          <a:prstGeom prst="roundRect">
            <a:avLst>
              <a:gd name="adj" fmla="val 1853"/>
            </a:avLst>
          </a:prstGeom>
          <a:solidFill>
            <a:srgbClr val="FBE9E9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8188757" y="1463040"/>
            <a:ext cx="3454298" cy="566928"/>
          </a:xfrm>
          <a:prstGeom prst="roundRect">
            <a:avLst>
              <a:gd name="adj" fmla="val 1129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8298485" y="1463040"/>
            <a:ext cx="323484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warning signs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389925" y="2139696"/>
            <a:ext cx="305196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leg weakness or numbness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 walking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loss of bladder or bowel control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or fast-worsening back pain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chemotherapy: fever or signs of infection</a:t>
            </a:r>
          </a:p>
          <a:p>
            <a:pPr>
              <a:lnSpc>
                <a:spcPct val="96000"/>
              </a:lnSpc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48640" y="5495544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822960" y="5495544"/>
            <a:ext cx="1054577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7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Remember: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assume a new symptom is just a treatment side effect. New, severe, or worsening symptoms should be reported to the healthcare team.</a:t>
            </a:r>
            <a:endParaRPr lang="en-US" sz="16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Urgent danger signs to act on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3200400"/>
          </a:xfrm>
          <a:prstGeom prst="roundRect">
            <a:avLst>
              <a:gd name="adj" fmla="val 2286"/>
            </a:avLst>
          </a:prstGeom>
          <a:solidFill>
            <a:srgbClr val="FBE9E9"/>
          </a:solidFill>
          <a:ln w="19050">
            <a:solidFill>
              <a:srgbClr val="D14B4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10454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Urgent danger signs</a:t>
            </a:r>
            <a:endParaRPr lang="en-US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490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800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leg weakness or numbness</a:t>
            </a:r>
            <a:endParaRPr lang="en-US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1011784" y="3587496"/>
            <a:ext cx="490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800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 walking</a:t>
            </a:r>
            <a:endParaRPr lang="en-US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1005840" y="3081528"/>
            <a:ext cx="490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800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control of urine or stool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1011784" y="4154424"/>
            <a:ext cx="490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800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or fast-worsening pain</a:t>
            </a:r>
            <a:endParaRPr lang="en-US" sz="18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5714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10545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noProof="0" dirty="0">
                <a:solidFill>
                  <a:srgbClr val="7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  What to do:  </a:t>
            </a:r>
            <a:r>
              <a:rPr lang="en-US" sz="18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person get medical care the same day. Do not wait.</a:t>
            </a:r>
            <a:endParaRPr lang="en-US" sz="1800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35F257C-F59A-14B5-1DE7-87C0A539D0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8" t="3058" r="2302" b="3365"/>
          <a:stretch>
            <a:fillRect/>
          </a:stretch>
        </p:blipFill>
        <p:spPr>
          <a:xfrm>
            <a:off x="6506560" y="1906507"/>
            <a:ext cx="3531010" cy="276285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you do?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916686"/>
          </a:xfrm>
          <a:prstGeom prst="roundRect">
            <a:avLst>
              <a:gd name="adj" fmla="val 698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51760" cy="916686"/>
          </a:xfrm>
          <a:prstGeom prst="roundRect">
            <a:avLst>
              <a:gd name="adj" fmla="val 6983"/>
            </a:avLst>
          </a:prstGeom>
          <a:solidFill>
            <a:srgbClr val="1C6FB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04672" y="1893951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04672" y="189395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1645920" cy="916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7894015" cy="825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has changed and how it is affecting the person.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864358"/>
            <a:ext cx="11094415" cy="916686"/>
          </a:xfrm>
          <a:prstGeom prst="roundRect">
            <a:avLst>
              <a:gd name="adj" fmla="val 698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548640" y="2864358"/>
            <a:ext cx="2651760" cy="916686"/>
          </a:xfrm>
          <a:prstGeom prst="roundRect">
            <a:avLst>
              <a:gd name="adj" fmla="val 6983"/>
            </a:avLst>
          </a:prstGeom>
          <a:solidFill>
            <a:srgbClr val="128C7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804672" y="3066669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04672" y="306666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8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2864358"/>
            <a:ext cx="1645920" cy="916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Reassure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474720" y="2910078"/>
            <a:ext cx="7894015" cy="825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that many treatment side effects are common and support is available.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037076"/>
            <a:ext cx="11094415" cy="916686"/>
          </a:xfrm>
          <a:prstGeom prst="roundRect">
            <a:avLst>
              <a:gd name="adj" fmla="val 698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48640" y="4037076"/>
            <a:ext cx="2651760" cy="916686"/>
          </a:xfrm>
          <a:prstGeom prst="roundRect">
            <a:avLst>
              <a:gd name="adj" fmla="val 6983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804672" y="4239387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04672" y="423938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4037076"/>
            <a:ext cx="1645920" cy="916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474720" y="4082796"/>
            <a:ext cx="7894015" cy="825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the person to tell their healthcare team about new, lasting, or troublesome symptoms.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48640" y="5209794"/>
            <a:ext cx="11094415" cy="916686"/>
          </a:xfrm>
          <a:prstGeom prst="roundRect">
            <a:avLst>
              <a:gd name="adj" fmla="val 6983"/>
            </a:avLst>
          </a:prstGeom>
          <a:solidFill>
            <a:srgbClr val="FBE9E9"/>
          </a:solidFill>
          <a:ln w="1778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548640" y="5209794"/>
            <a:ext cx="2651760" cy="916686"/>
          </a:xfrm>
          <a:prstGeom prst="roundRect">
            <a:avLst>
              <a:gd name="adj" fmla="val 698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804672" y="5412105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804672" y="5412105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63040" y="5209794"/>
            <a:ext cx="1645920" cy="916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474720" y="5255514"/>
            <a:ext cx="7894015" cy="825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warning signs need immediate medical assessment. During chemotherapy, fever or signs of infection are urgent.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Comfort and quality of life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time and listen without judging.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4572914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appointments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4572914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person attend follow-up visits.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8377733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reporting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8377733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them to tell you about new problems.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768096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shame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768096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information private and treat the person with respect.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4353458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914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family</a:t>
            </a:r>
            <a:endParaRPr lang="en-US" sz="2000" noProof="0" dirty="0"/>
          </a:p>
        </p:txBody>
      </p:sp>
      <p:sp>
        <p:nvSpPr>
          <p:cNvPr id="19" name="Text 17"/>
          <p:cNvSpPr/>
          <p:nvPr/>
        </p:nvSpPr>
        <p:spPr>
          <a:xfrm>
            <a:off x="4572914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family understand why care continues.</a:t>
            </a:r>
            <a:endParaRPr lang="en-US" noProof="0" dirty="0"/>
          </a:p>
        </p:txBody>
      </p:sp>
      <p:sp>
        <p:nvSpPr>
          <p:cNvPr id="20" name="Shape 18"/>
          <p:cNvSpPr/>
          <p:nvPr/>
        </p:nvSpPr>
        <p:spPr>
          <a:xfrm>
            <a:off x="8158277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8377733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comfort</a:t>
            </a:r>
            <a:endParaRPr lang="en-US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8377733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rest, food, and company.</a:t>
            </a:r>
            <a:endParaRPr lang="en-US" noProof="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F55DA-5D85-71A9-A4B5-0DD3877A1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F968ED-C9B9-EB58-5E52-28C5D0781BAC}"/>
              </a:ext>
            </a:extLst>
          </p:cNvPr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64D4F3-6153-DA0E-F5ED-3E60F8D1D9FB}"/>
              </a:ext>
            </a:extLst>
          </p:cNvPr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Faustin comes back</a:t>
            </a:r>
            <a:endParaRPr lang="en-US" sz="32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7707A7-E43C-5393-8A0E-E6A4B131B74D}"/>
              </a:ext>
            </a:extLst>
          </p:cNvPr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36079749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it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FF6E6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noProof="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Case:  </a:t>
            </a:r>
            <a:r>
              <a:rPr lang="en-US" sz="20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Faustin is now on treatment. He tells you he has new, severe back pain and his legs feel weak.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718816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best action?</a:t>
            </a:r>
            <a:endParaRPr lang="en-US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330403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335889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him to rest for a month</a:t>
            </a:r>
            <a:endParaRPr lang="en-US" noProof="0" dirty="0"/>
          </a:p>
        </p:txBody>
      </p:sp>
      <p:sp>
        <p:nvSpPr>
          <p:cNvPr id="10" name="Shape 8"/>
          <p:cNvSpPr/>
          <p:nvPr/>
        </p:nvSpPr>
        <p:spPr>
          <a:xfrm>
            <a:off x="6255868" y="330403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E4F3EA"/>
          </a:solidFill>
          <a:ln w="1905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6438748" y="335889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Help him get medical care urgently   ✓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440131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731520" y="445617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him more fluids only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440131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38748" y="445617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and see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severe back pain with leg weakness is an urgent danger sign. Help him reach care the same day.</a:t>
            </a:r>
            <a:endParaRPr lang="en-US" sz="1450" noProof="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(1/3)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is an urgent danger sign?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tiredness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New leg weakness with loss of urine control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flush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nausea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needs care the same day.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Hot flushes and tiredness during treatment are: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an emergency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Usual effects that can be discussed at follow-up  ✓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 to stop care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seen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usual and can be discussed at follow-up.</a:t>
            </a:r>
            <a:endParaRPr lang="en-US" noProof="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(2/3)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A new, worsening symptom should be: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Reported and checked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for months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at home only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reporting and a check-up.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Talking about sexual or urine problems should be: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Done with respect and privacy  ✓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in public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with jokes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always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A.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respectful and keep it private.</a:t>
            </a:r>
            <a:endParaRPr lang="en-US" noProof="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(3/3)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A good comfort action is: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Blaming the person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Listening and helping keep appointments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private details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them to stop care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support follow-up.</a:t>
            </a:r>
            <a:endParaRPr lang="en-US" noProof="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reflection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response in the text box. There is no single correct answer. These prompts are for your own practice and for discussion.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help someone know which symptoms to report urgently?</a:t>
            </a:r>
            <a:endParaRPr lang="en-US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3995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raise urine or sexual health with respect?</a:t>
            </a:r>
            <a:endParaRPr lang="en-US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" y="545896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5458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21208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support could help someone keep going to follow-up?</a:t>
            </a:r>
            <a:endParaRPr lang="en-US" sz="1800" noProof="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AND SOURCES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Agency for Research on Cancer. Global Cancer Observatory: Cancer Today (2024 estimates, version 1.0). Lyon: IARC/WHO. https://</a:t>
            </a:r>
            <a:r>
              <a:rPr lang="en-US" sz="125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gco.iarc.who.int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/today</a:t>
            </a:r>
            <a:endParaRPr lang="en-US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 H, Filho AM, </a:t>
            </a:r>
            <a:r>
              <a:rPr lang="en-US" sz="125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Laversanne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M, et al. Global cancer statistics 2024: GLOBOCAN estimates of incidence and mortality worldwide. CA Cancer J Clin. 2026. doi:10.3322/caac.70090</a:t>
            </a:r>
            <a:endParaRPr lang="en-US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Global Medicine. Rising prostate cancer incidence in Africa: socioeconomic impact and 25-year projection to 2050. 2026. https://</a:t>
            </a:r>
            <a:r>
              <a:rPr lang="en-US" sz="125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globalmedicine.co.uk</a:t>
            </a:r>
            <a:endParaRPr lang="en-US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Guide to Cancer Early Diagnosis. Geneva: WHO, 2017.</a:t>
            </a:r>
            <a:endParaRPr lang="en-US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6324448" y="160020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Cancer Society. Prostate cancer: detection, diagnosis and staging. https://</a:t>
            </a:r>
            <a:r>
              <a:rPr lang="en-US" sz="125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www.cancer.org</a:t>
            </a:r>
            <a:endParaRPr lang="en-US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6324448" y="265176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Centers for Disease Control and Prevention. Prostate cancer screening. https://</a:t>
            </a:r>
            <a:r>
              <a:rPr lang="en-US" sz="125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www.cdc.gov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/prostate-cancer/screening/</a:t>
            </a:r>
            <a:r>
              <a:rPr lang="en-US" sz="125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324448" y="370332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Cancer Registry Network. Rwanda National Cancer Registry. https://</a:t>
            </a:r>
            <a:r>
              <a:rPr lang="en-US" sz="125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afcrn.org</a:t>
            </a:r>
            <a:endParaRPr lang="en-US" sz="1250" noProof="0" dirty="0"/>
          </a:p>
        </p:txBody>
      </p:sp>
      <p:sp>
        <p:nvSpPr>
          <p:cNvPr id="12" name="Text 10"/>
          <p:cNvSpPr/>
          <p:nvPr/>
        </p:nvSpPr>
        <p:spPr>
          <a:xfrm>
            <a:off x="6324448" y="475488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Agency for Research on Cancer. Manual for Cancer Registry Personnel (Technical Report No. 10, 1995); Planning and Developing Population-Based Cancer Registration in Low- and Middle-Income Settings (IARC Technical Publication No. 43, 2014).</a:t>
            </a:r>
            <a:endParaRPr lang="en-US" sz="125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5678</Words>
  <Application>Microsoft Macintosh PowerPoint</Application>
  <PresentationFormat>Panorámica</PresentationFormat>
  <Paragraphs>880</Paragraphs>
  <Slides>68</Slides>
  <Notes>68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68</vt:i4>
      </vt:variant>
    </vt:vector>
  </HeadingPairs>
  <TitlesOfParts>
    <vt:vector size="7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komorebimindset_es@hotmail.com</cp:lastModifiedBy>
  <cp:revision>24</cp:revision>
  <dcterms:created xsi:type="dcterms:W3CDTF">2026-08-18T20:52:03Z</dcterms:created>
  <dcterms:modified xsi:type="dcterms:W3CDTF">2026-08-25T11:46:44Z</dcterms:modified>
</cp:coreProperties>
</file>