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1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323" r:id="rId30"/>
    <p:sldId id="284" r:id="rId31"/>
    <p:sldId id="285" r:id="rId32"/>
    <p:sldId id="286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24" r:id="rId63"/>
    <p:sldId id="317" r:id="rId64"/>
    <p:sldId id="318" r:id="rId65"/>
    <p:sldId id="319" r:id="rId66"/>
    <p:sldId id="320" r:id="rId67"/>
    <p:sldId id="321" r:id="rId68"/>
    <p:sldId id="322" r:id="rId6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6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8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f, Jayant" userId="40c6f732-83d8-4108-9173-14559973c353" providerId="ADAL" clId="{19DE7C4A-0CCC-49A5-86FA-BBFB5CCDC804}"/>
    <pc:docChg chg="mod modSld modMainMaster">
      <pc:chgData name="Saraf, Jayant" userId="40c6f732-83d8-4108-9173-14559973c353" providerId="ADAL" clId="{19DE7C4A-0CCC-49A5-86FA-BBFB5CCDC804}" dt="2026-08-20T08:07:45.514" v="3"/>
      <pc:docMkLst>
        <pc:docMk/>
      </pc:docMkLst>
      <pc:sldChg chg="addSp">
        <pc:chgData name="Saraf, Jayant" userId="40c6f732-83d8-4108-9173-14559973c353" providerId="ADAL" clId="{19DE7C4A-0CCC-49A5-86FA-BBFB5CCDC804}" dt="2026-08-20T08:07:36.269" v="2"/>
        <pc:sldMkLst>
          <pc:docMk/>
          <pc:sldMk cId="0" sldId="283"/>
        </pc:sldMkLst>
        <pc:graphicFrameChg chg="add">
          <ac:chgData name="Saraf, Jayant" userId="40c6f732-83d8-4108-9173-14559973c353" providerId="ADAL" clId="{19DE7C4A-0CCC-49A5-86FA-BBFB5CCDC804}" dt="2026-08-20T08:07:36.269" v="2"/>
          <ac:graphicFrameMkLst>
            <pc:docMk/>
            <pc:sldMk cId="0" sldId="283"/>
            <ac:graphicFrameMk id="5" creationId="{262513CE-2246-628A-EC17-8FBBD927CA86}"/>
          </ac:graphicFrameMkLst>
        </pc:graphicFrameChg>
      </pc:sldChg>
      <pc:sldChg chg="addSp">
        <pc:chgData name="Saraf, Jayant" userId="40c6f732-83d8-4108-9173-14559973c353" providerId="ADAL" clId="{19DE7C4A-0CCC-49A5-86FA-BBFB5CCDC804}" dt="2026-08-20T08:07:45.514" v="3"/>
        <pc:sldMkLst>
          <pc:docMk/>
          <pc:sldMk cId="3607974962" sldId="324"/>
        </pc:sldMkLst>
        <pc:graphicFrameChg chg="add">
          <ac:chgData name="Saraf, Jayant" userId="40c6f732-83d8-4108-9173-14559973c353" providerId="ADAL" clId="{19DE7C4A-0CCC-49A5-86FA-BBFB5CCDC804}" dt="2026-08-20T08:07:45.514" v="3"/>
          <ac:graphicFrameMkLst>
            <pc:docMk/>
            <pc:sldMk cId="3607974962" sldId="324"/>
            <ac:graphicFrameMk id="5" creationId="{01020653-E1C9-1779-9626-B53092B3F20E}"/>
          </ac:graphicFrameMkLst>
        </pc:graphicFrameChg>
      </pc:sldChg>
      <pc:sldMasterChg chg="addSp mod">
        <pc:chgData name="Saraf, Jayant" userId="40c6f732-83d8-4108-9173-14559973c353" providerId="ADAL" clId="{19DE7C4A-0CCC-49A5-86FA-BBFB5CCDC804}" dt="2026-08-20T08:07:34.196" v="0" actId="33475"/>
        <pc:sldMasterMkLst>
          <pc:docMk/>
          <pc:sldMasterMk cId="0" sldId="2147483648"/>
        </pc:sldMasterMkLst>
        <pc:spChg chg="add">
          <ac:chgData name="Saraf, Jayant" userId="40c6f732-83d8-4108-9173-14559973c353" providerId="ADAL" clId="{19DE7C4A-0CCC-49A5-86FA-BBFB5CCDC804}" dt="2026-08-20T08:07:34.196" v="0" actId="33475"/>
          <ac:spMkLst>
            <pc:docMk/>
            <pc:sldMasterMk cId="0" sldId="2147483648"/>
            <ac:spMk id="3" creationId="{CF8A9473-37A3-AD42-B5CA-097F73A45781}"/>
          </ac:spMkLst>
        </pc:sp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 in Rwanda, 2024 (estimated)</c:v>
                </c:pt>
              </c:strCache>
            </c:strRef>
          </c:tx>
          <c:spPr>
            <a:solidFill>
              <a:srgbClr val="1C6FB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D91-C849-96EE-EFB991D2ED37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D91-C849-96EE-EFB991D2ED3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1" i="0" u="none" strike="noStrike">
                    <a:solidFill>
                      <a:srgbClr val="1A2733"/>
                    </a:solidFill>
                    <a:latin typeface="Calibri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New cases</c:v>
                </c:pt>
                <c:pt idx="1">
                  <c:v>Deaths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1856</c:v>
                </c:pt>
                <c:pt idx="1">
                  <c:v>1179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D91-C849-96EE-EFB991D2ED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A27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5091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B62A1-6999-B2B6-8EB2-1B51AE384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9F14C6-EA4B-3F5B-B412-7C668A33B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9B359-E9D6-7319-6103-155B3A364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C60E7-5575-22D2-ADFB-0BBDD85ADA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04157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92DC5-9870-BFB9-17F0-F37FF25F2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71C23-1319-76F4-4055-440AA5403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1BFD7C-D0F8-7A07-B192-44504EDA7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0BA8D-D891-8913-1619-C2E99DACF5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34259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8A9473-37A3-AD42-B5CA-097F73A4578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45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8E6A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WORKER MODULE</a:t>
            </a:r>
            <a:endParaRPr lang="en-US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Prostate Cancer</a:t>
            </a:r>
            <a:endParaRPr lang="en-US" sz="5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learning journey: know it, spot it, talk about it, refer, and support.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2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WORKER MODULE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6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17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prostate cancer is in simple words.</a:t>
            </a:r>
            <a:endParaRPr lang="en-US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26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17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signs and who is more at risk.</a:t>
            </a:r>
            <a:endParaRPr lang="en-US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26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17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with kindness and correct misconceptions.</a:t>
            </a:r>
            <a:endParaRPr lang="en-US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26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</a:t>
            </a:r>
            <a:endParaRPr lang="en-US" sz="17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people reach care and know urgent signs.</a:t>
            </a:r>
            <a:endParaRPr lang="en-US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💙</a:t>
            </a:r>
            <a:endParaRPr lang="en-US" sz="26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7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follow-up, comfort, and the family.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WORKER MODULE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inside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Pre-test</a:t>
            </a:r>
            <a:endParaRPr lang="en-US" sz="155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227685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short questions to check your starting point.</a:t>
            </a:r>
            <a:endParaRPr lang="en-US" sz="1400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4554626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What is prostate cancer?</a:t>
            </a:r>
            <a:endParaRPr lang="en-US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227685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is, where it is, and how common it is in Rwanda.</a:t>
            </a:r>
            <a:endParaRPr lang="en-US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359445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What to look for</a:t>
            </a:r>
            <a:endParaRPr lang="en-US" sz="1550" noProof="0" dirty="0"/>
          </a:p>
        </p:txBody>
      </p:sp>
      <p:sp>
        <p:nvSpPr>
          <p:cNvPr id="13" name="Text 11"/>
          <p:cNvSpPr/>
          <p:nvPr/>
        </p:nvSpPr>
        <p:spPr>
          <a:xfrm>
            <a:off x="8359445" y="227685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at risk, the signs, and when to act.</a:t>
            </a:r>
            <a:endParaRPr lang="en-US" sz="14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749808" y="348386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What to do next</a:t>
            </a:r>
            <a:endParaRPr lang="en-US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401421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send people, how to talk, and how to support.</a:t>
            </a:r>
            <a:endParaRPr lang="en-US" sz="1400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333756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4554626" y="348386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How it is found and treated</a:t>
            </a:r>
            <a:endParaRPr lang="en-US" sz="1550" noProof="0" dirty="0"/>
          </a:p>
        </p:txBody>
      </p:sp>
      <p:sp>
        <p:nvSpPr>
          <p:cNvPr id="19" name="Text 17"/>
          <p:cNvSpPr/>
          <p:nvPr/>
        </p:nvSpPr>
        <p:spPr>
          <a:xfrm>
            <a:off x="4554626" y="401421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look at how doctors confirm and treat it.</a:t>
            </a:r>
            <a:endParaRPr lang="en-US" sz="1400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333756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1" name="Text 19"/>
          <p:cNvSpPr/>
          <p:nvPr/>
        </p:nvSpPr>
        <p:spPr>
          <a:xfrm>
            <a:off x="8359445" y="348386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What to expect</a:t>
            </a:r>
            <a:endParaRPr lang="en-US" sz="1550" noProof="0" dirty="0"/>
          </a:p>
        </p:txBody>
      </p:sp>
      <p:sp>
        <p:nvSpPr>
          <p:cNvPr id="22" name="Text 20"/>
          <p:cNvSpPr/>
          <p:nvPr/>
        </p:nvSpPr>
        <p:spPr>
          <a:xfrm>
            <a:off x="8359445" y="401421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effects, danger signs, and comfort.</a:t>
            </a:r>
            <a:endParaRPr lang="en-US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Pre-test</a:t>
            </a:r>
            <a:endParaRPr lang="en-US" sz="48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The prostate is found in: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only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 only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men and women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Prostate cancer starts when: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in the prostate grow in the wrong way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drinks too much water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walks too much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is cold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Early prostate cancer often causes: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signs at all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pain at once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every day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hair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Urinary problems such as a weak stream: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mean cancer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have many causes and need a check-up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need a check-up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happen in old men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Prostate cancer is more common in: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men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women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Newborns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Q6.  A man has trouble passing urine for weeks. You should: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wait and see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 check-up at the health post or </a:t>
            </a:r>
            <a:r>
              <a:rPr lang="en-US" sz="160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him medicine yourself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it is nothing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(4/10)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Q7.  A blood test for the prostate: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for certain a person has cancer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show more checks are needed, but cannot confirm cancer alone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Cures cancer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never used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Q8.  In Rwanda, prostate cancer: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exist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most common cancer in men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happens outside Rwanda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happens in women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(5/10)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Q9.  A man says, “I feel well, so I do not need a check-up.” Best reply: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right, stay home.”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“Early prostate cancer often has no signs, so a check-up is always good.”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must be sick.”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nothing.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Q10.  If a man is afraid to go for a check-up, you should: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him to go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answer questions, and encourage him kindly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Laugh at his fear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him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(6/10)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Q11.  New leg weakness or loss of control of urine or stool is: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and can wait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urgent danger sign that needs care right away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of good health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tiredness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Q12.  Prostate cancer can spread to the: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Teeth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Nails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(7/10)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Q13.  After a referral, your support includes: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 the person to forget about it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 the person to attend and follow instructions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tests yourself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Q14.  Which statement is true?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prostate cancers are the same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cancers can behave differently in different men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prostate cancer needs surgery at once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cannot be treated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(8/10)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Q15.  Cancer is confirmed by: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test alone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alone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 small piece of tissue (a biopsy) and looking at it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Guessing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Q16.  “If it is cancer, nothing can be done.” This is: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belief; there are ways to care for and treat people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correct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thing to tell people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(9/10)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Q17.  A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worker</a:t>
            </a: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should: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treatment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test results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awareness, support, and encourage referral and follow-up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the biopsy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Q18.  A good comfort action for a man with cancer is: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 him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help him keep appointments, and reduce shame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others his private details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stop treatment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CHECK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(10/10)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Q19.  A man on treatment gets severe new back pain with weak legs. You should: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rest for a month</a:t>
            </a:r>
            <a:endParaRPr lang="en-US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him get medical care urgently</a:t>
            </a:r>
            <a:endParaRPr lang="en-US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more fluids only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and see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Q20.  Talking about urine or sexual problems should be done: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respect and privacy</a:t>
            </a:r>
            <a:endParaRPr lang="en-US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 of everyone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jokes</a:t>
            </a:r>
            <a:endParaRPr lang="en-US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prostate cancer?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start: what the prostate is, what prostate cancer is, and how common it is in Rwanda.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the prostate is and where it is.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in simple words what prostate cancer is.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that early cancer often has no signs.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that it is common in men in Rwanda.</a:t>
            </a:r>
            <a:endParaRPr lang="en-US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32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clear, calm messages with your community.</a:t>
            </a:r>
            <a:endParaRPr lang="en-US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prostate is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4"/>
          <p:cNvSpPr/>
          <p:nvPr/>
        </p:nvSpPr>
        <p:spPr>
          <a:xfrm>
            <a:off x="768096" y="181965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organ</a:t>
            </a:r>
            <a:endParaRPr lang="en-US" sz="1700" noProof="0" dirty="0">
              <a:solidFill>
                <a:srgbClr val="FF0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768096" y="2194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prostate is a small organ found only in men.</a:t>
            </a:r>
            <a:endParaRPr lang="en-US" sz="1550" noProof="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7"/>
          <p:cNvSpPr/>
          <p:nvPr/>
        </p:nvSpPr>
        <p:spPr>
          <a:xfrm>
            <a:off x="768096" y="30998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</a:t>
            </a:r>
            <a:endParaRPr lang="en-US" sz="1700" noProof="0" dirty="0"/>
          </a:p>
        </p:txBody>
      </p:sp>
      <p:sp>
        <p:nvSpPr>
          <p:cNvPr id="11" name="Text 8"/>
          <p:cNvSpPr/>
          <p:nvPr/>
        </p:nvSpPr>
        <p:spPr>
          <a:xfrm>
            <a:off x="768096" y="34747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sits low in the body, below the bladder, around the tube that carries urine.</a:t>
            </a:r>
            <a:endParaRPr lang="en-US" sz="1550" noProof="0" dirty="0"/>
          </a:p>
        </p:txBody>
      </p:sp>
      <p:sp>
        <p:nvSpPr>
          <p:cNvPr id="12" name="Shape 9"/>
          <p:cNvSpPr/>
          <p:nvPr/>
        </p:nvSpPr>
        <p:spPr>
          <a:xfrm>
            <a:off x="548640" y="425196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0"/>
          <p:cNvSpPr/>
          <p:nvPr/>
        </p:nvSpPr>
        <p:spPr>
          <a:xfrm>
            <a:off x="768096" y="437997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job</a:t>
            </a:r>
            <a:endParaRPr lang="en-US" sz="1700" noProof="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helps make some of the fluid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cs typeface="Calibri" pitchFamily="34" charset="-120"/>
              </a:rPr>
              <a:t>that helps forming sperm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noProof="0" dirty="0"/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A2307591-61B0-2AEF-0952-3134F548CCC3}"/>
              </a:ext>
            </a:extLst>
          </p:cNvPr>
          <p:cNvGrpSpPr/>
          <p:nvPr/>
        </p:nvGrpSpPr>
        <p:grpSpPr>
          <a:xfrm>
            <a:off x="6320441" y="1572768"/>
            <a:ext cx="5244711" cy="4067221"/>
            <a:chOff x="6320441" y="1572768"/>
            <a:chExt cx="5244711" cy="4067221"/>
          </a:xfrm>
        </p:grpSpPr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766B22B1-AD7D-7289-0D1E-45BC3550C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42157"/>
            <a:stretch>
              <a:fillRect/>
            </a:stretch>
          </p:blipFill>
          <p:spPr>
            <a:xfrm>
              <a:off x="7412185" y="1572768"/>
              <a:ext cx="3397504" cy="3915767"/>
            </a:xfrm>
            <a:prstGeom prst="rect">
              <a:avLst/>
            </a:prstGeom>
          </p:spPr>
        </p:pic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859C175F-B6BF-F21D-C273-22E28B467453}"/>
                </a:ext>
              </a:extLst>
            </p:cNvPr>
            <p:cNvCxnSpPr>
              <a:cxnSpLocks/>
            </p:cNvCxnSpPr>
            <p:nvPr/>
          </p:nvCxnSpPr>
          <p:spPr>
            <a:xfrm>
              <a:off x="7046425" y="2043684"/>
              <a:ext cx="1190105" cy="1828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de flecha 23">
              <a:extLst>
                <a:ext uri="{FF2B5EF4-FFF2-40B4-BE49-F238E27FC236}">
                  <a16:creationId xmlns:a16="http://schemas.microsoft.com/office/drawing/2014/main" id="{E66AAA29-73C5-91B4-91FF-6D1EDCFE788D}"/>
                </a:ext>
              </a:extLst>
            </p:cNvPr>
            <p:cNvCxnSpPr/>
            <p:nvPr/>
          </p:nvCxnSpPr>
          <p:spPr>
            <a:xfrm flipH="1" flipV="1">
              <a:off x="10066716" y="2971800"/>
              <a:ext cx="1260764" cy="5588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B3CC21DB-2329-B6E2-D070-1054F877E98B}"/>
                </a:ext>
              </a:extLst>
            </p:cNvPr>
            <p:cNvCxnSpPr/>
            <p:nvPr/>
          </p:nvCxnSpPr>
          <p:spPr>
            <a:xfrm flipV="1">
              <a:off x="7046425" y="4197927"/>
              <a:ext cx="595052" cy="1820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recto de flecha 27">
              <a:extLst>
                <a:ext uri="{FF2B5EF4-FFF2-40B4-BE49-F238E27FC236}">
                  <a16:creationId xmlns:a16="http://schemas.microsoft.com/office/drawing/2014/main" id="{C248DE7C-5F32-E015-7742-074715A9D8BB}"/>
                </a:ext>
              </a:extLst>
            </p:cNvPr>
            <p:cNvCxnSpPr/>
            <p:nvPr/>
          </p:nvCxnSpPr>
          <p:spPr>
            <a:xfrm flipH="1" flipV="1">
              <a:off x="8411098" y="4745736"/>
              <a:ext cx="1018309" cy="6035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2EAC524D-F8F4-DDD9-89E7-FDAE675B589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10937" y="3332018"/>
              <a:ext cx="1698752" cy="12308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5A94831F-5E1B-09FE-91E6-357AD6938140}"/>
                </a:ext>
              </a:extLst>
            </p:cNvPr>
            <p:cNvSpPr txBox="1"/>
            <p:nvPr/>
          </p:nvSpPr>
          <p:spPr>
            <a:xfrm>
              <a:off x="6422312" y="1754393"/>
              <a:ext cx="7521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noProof="0">
                  <a:solidFill>
                    <a:schemeClr val="accent1">
                      <a:lumMod val="50000"/>
                    </a:schemeClr>
                  </a:solidFill>
                </a:rPr>
                <a:t>Bladder</a:t>
              </a: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6AEEA5CE-A6F7-D90C-D430-0059981C5339}"/>
                </a:ext>
              </a:extLst>
            </p:cNvPr>
            <p:cNvSpPr txBox="1"/>
            <p:nvPr/>
          </p:nvSpPr>
          <p:spPr>
            <a:xfrm>
              <a:off x="6320441" y="4212703"/>
              <a:ext cx="5709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</a:rPr>
                <a:t>Penis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DA3A3EB9-75A6-7410-AD25-F6E910DDE7A8}"/>
                </a:ext>
              </a:extLst>
            </p:cNvPr>
            <p:cNvSpPr txBox="1"/>
            <p:nvPr/>
          </p:nvSpPr>
          <p:spPr>
            <a:xfrm>
              <a:off x="9367418" y="5332212"/>
              <a:ext cx="7245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</a:rPr>
                <a:t>Testicle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C9A3450C-637B-92E3-0CD2-338C0DDA9757}"/>
                </a:ext>
              </a:extLst>
            </p:cNvPr>
            <p:cNvSpPr txBox="1"/>
            <p:nvPr/>
          </p:nvSpPr>
          <p:spPr>
            <a:xfrm>
              <a:off x="10774551" y="4482065"/>
              <a:ext cx="7906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noProof="0" dirty="0">
                  <a:solidFill>
                    <a:schemeClr val="accent1">
                      <a:lumMod val="50000"/>
                    </a:schemeClr>
                  </a:solidFill>
                </a:rPr>
                <a:t>Prostate</a:t>
              </a:r>
            </a:p>
          </p:txBody>
        </p:sp>
      </p:grpSp>
      <p:sp>
        <p:nvSpPr>
          <p:cNvPr id="36" name="CuadroTexto 35">
            <a:extLst>
              <a:ext uri="{FF2B5EF4-FFF2-40B4-BE49-F238E27FC236}">
                <a16:creationId xmlns:a16="http://schemas.microsoft.com/office/drawing/2014/main" id="{9C30B8DC-2FFC-4C31-A4BE-FF62A2B90DE5}"/>
              </a:ext>
            </a:extLst>
          </p:cNvPr>
          <p:cNvSpPr txBox="1"/>
          <p:nvPr/>
        </p:nvSpPr>
        <p:spPr>
          <a:xfrm>
            <a:off x="11370116" y="3467188"/>
            <a:ext cx="742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0" dirty="0">
                <a:solidFill>
                  <a:schemeClr val="accent1">
                    <a:lumMod val="50000"/>
                  </a:schemeClr>
                </a:solidFill>
              </a:rPr>
              <a:t>Rectum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prostate cancer is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growth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starts when some cells in the prostate grow in the wrong way.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69164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the same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247802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prostate cancers grow slowly. Others grow faster.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43068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silent early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494690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 can have early prostate cancer and still feel completely well.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16052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43068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94690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it early gives more choices for care.</a:t>
            </a:r>
            <a:endParaRPr lang="en-US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Prostate cancer in Rwanda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1st</a:t>
            </a:r>
            <a:endParaRPr lang="en-US" sz="440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cancer in men in Rwanda (2024)</a:t>
            </a:r>
            <a:endParaRPr lang="en-U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1C6FB0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4490618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~1,856</a:t>
            </a:r>
            <a:endParaRPr lang="en-US" sz="4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cases in men in one year</a:t>
            </a:r>
            <a:b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(2024)</a:t>
            </a:r>
            <a:endParaRPr lang="en-US" sz="2000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95437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~1,179</a:t>
            </a:r>
            <a:endParaRPr lang="en-US" sz="4400" noProof="0" dirty="0"/>
          </a:p>
        </p:txBody>
      </p:sp>
      <p:sp>
        <p:nvSpPr>
          <p:cNvPr id="13" name="Text 11"/>
          <p:cNvSpPr/>
          <p:nvPr/>
        </p:nvSpPr>
        <p:spPr>
          <a:xfrm>
            <a:off x="8359445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men in one year (2024)</a:t>
            </a:r>
            <a:endParaRPr lang="en-US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548640" y="4953000"/>
            <a:ext cx="1109441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9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numbers are estimates. Men can become sick and die from it, so awareness, check-ups, and follow-up matter. The numbers are expected to rise in the coming years.</a:t>
            </a:r>
            <a:endParaRPr lang="en-US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548640" y="610819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GLOBOCAN 2024 (IARC), Cancer Today, 2024 estimates. Figures are modelled estimates. Future rise is a projection.</a:t>
            </a:r>
            <a:endParaRPr lang="en-US" sz="105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picture of the burden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266587011"/>
              </p:ext>
            </p:extLst>
          </p:nvPr>
        </p:nvGraphicFramePr>
        <p:xfrm>
          <a:off x="548640" y="173736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737360"/>
            <a:ext cx="3977640" cy="4023360"/>
          </a:xfrm>
          <a:prstGeom prst="roundRect">
            <a:avLst>
              <a:gd name="adj" fmla="val 183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7" name="Text 4"/>
          <p:cNvSpPr/>
          <p:nvPr/>
        </p:nvSpPr>
        <p:spPr>
          <a:xfrm>
            <a:off x="7863840" y="19659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tells us</a:t>
            </a:r>
            <a:endParaRPr lang="en-US" sz="2000" noProof="0" dirty="0"/>
          </a:p>
        </p:txBody>
      </p:sp>
      <p:sp>
        <p:nvSpPr>
          <p:cNvPr id="8" name="Text 5"/>
          <p:cNvSpPr/>
          <p:nvPr/>
        </p:nvSpPr>
        <p:spPr>
          <a:xfrm>
            <a:off x="7863840" y="2468880"/>
            <a:ext cx="3520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men in Rwanda get prostate cancer each year, and many die from it.</a:t>
            </a:r>
            <a:endParaRPr lang="en-US" noProof="0" dirty="0"/>
          </a:p>
          <a:p>
            <a:pPr marL="0" indent="0">
              <a:lnSpc>
                <a:spcPct val="110000"/>
              </a:lnSpc>
              <a:buNone/>
            </a:pPr>
            <a:endParaRPr lang="en-US" noProof="0" dirty="0"/>
          </a:p>
          <a:p>
            <a:pPr marL="0" indent="0">
              <a:lnSpc>
                <a:spcPct val="11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awareness and care can help more men live longer and better.</a:t>
            </a:r>
            <a:endParaRPr lang="en-US" noProof="0" dirty="0"/>
          </a:p>
        </p:txBody>
      </p:sp>
      <p:sp>
        <p:nvSpPr>
          <p:cNvPr id="9" name="Text 6"/>
          <p:cNvSpPr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GLOBOCAN 2024 (IARC). Estimated figures.</a:t>
            </a:r>
            <a:endParaRPr lang="en-US" sz="105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536192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9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 in your village says he feels well, so he cannot have prostate cancer. Is he right?</a:t>
            </a:r>
            <a:endParaRPr lang="en-US" sz="19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2560320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feeling well means no cancer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3447288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49808" y="3493008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No, early prostate cancer often has no signs   ✓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4379976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749808" y="4425696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young men can get it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5312664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49808" y="5358384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be checked at all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7863840" y="2514600"/>
            <a:ext cx="3779215" cy="3383280"/>
          </a:xfrm>
          <a:prstGeom prst="roundRect">
            <a:avLst>
              <a:gd name="adj" fmla="val 162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8092440" y="2697480"/>
            <a:ext cx="33220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 B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092440" y="3154680"/>
            <a:ext cx="3322015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prostate cancer is often silent. A man can feel completely well and still have it. That is why a check-up can help, even when he feels fine.</a:t>
            </a:r>
            <a:endParaRPr lang="en-US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The prostate is found in: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Men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men and women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prostate is a small gland found only in men.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Early prostate cancer usually: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strong pain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Often has no signs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fever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hair loss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disease is often silent.</a:t>
            </a:r>
            <a:endParaRPr lang="en-US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Prostate cancer in Rwanda is: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rare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The most common cancer in men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 women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leading cancer in men in Rwanda.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Prostate cancers: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the same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Can grow slowly or faster in different men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grow fast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grow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behave differently from one man to another.</a:t>
            </a:r>
            <a:endParaRPr lang="en-US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The prostate sits: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head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Below the bladder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arm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foot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sits below the bladder, around the urine tube.</a:t>
            </a:r>
            <a:endParaRPr lang="en-US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own words, how would you tell a </a:t>
            </a:r>
            <a:r>
              <a:rPr lang="en-US" sz="180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</a:t>
            </a: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 prostate is?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 about prostate cancer in Rwanda would you most want people to know?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answer someone who says, “I feel well, so I cannot have cancer”?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look for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Faustin, 67. Learn who is more at risk, what to look for, and when to act.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who is more likely to get prostate cancer.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signs that need a check-up.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that early cancer often has no signs.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encourage a check-up.</a:t>
            </a:r>
            <a:endParaRPr lang="en-US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32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urgent danger signs.</a:t>
            </a:r>
            <a:endParaRPr lang="en-US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case: Faustin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62513CE-2246-628A-EC17-8FBBD927CA8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825625"/>
          <a:ext cx="10264694" cy="12148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264694">
                  <a:extLst>
                    <a:ext uri="{9D8B030D-6E8A-4147-A177-3AD203B41FA5}">
                      <a16:colId xmlns:a16="http://schemas.microsoft.com/office/drawing/2014/main" val="3147295238"/>
                    </a:ext>
                  </a:extLst>
                </a:gridCol>
              </a:tblGrid>
              <a:tr h="75430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000" b="0" dirty="0">
                          <a:effectLst/>
                        </a:rPr>
                        <a:t>VIDEO FILE: video_01_patient_story.mp4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000" b="0" dirty="0">
                          <a:effectLst/>
                        </a:rPr>
                        <a:t>PLACEHOLDER: Insert video player on this screen.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000" b="0" dirty="0">
                          <a:effectLst/>
                        </a:rPr>
                        <a:t>VIDEO TYPE: Required viewing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000" b="0" dirty="0">
                          <a:effectLst/>
                        </a:rPr>
                        <a:t>GATING: Learner must watch before continuing.</a:t>
                      </a:r>
                      <a:endParaRPr lang="en-US" sz="1000" b="0" i="0" dirty="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89258" marR="89258" marT="44629" marB="44629"/>
                </a:tc>
                <a:extLst>
                  <a:ext uri="{0D108BD9-81ED-4DB2-BD59-A6C34878D82A}">
                    <a16:rowId xmlns:a16="http://schemas.microsoft.com/office/drawing/2014/main" val="2279453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 marL="89258" marR="89258" marT="44629" marB="44629"/>
                </a:tc>
                <a:extLst>
                  <a:ext uri="{0D108BD9-81ED-4DB2-BD59-A6C34878D82A}">
                    <a16:rowId xmlns:a16="http://schemas.microsoft.com/office/drawing/2014/main" val="53411809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24502-2846-1B88-6B8D-5CEE2EE31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455FA9-BCD5-0DAC-F87E-16B9D0E45F29}"/>
              </a:ext>
            </a:extLst>
          </p:cNvPr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D91567-8C7B-8528-A772-1B033BB10553}"/>
              </a:ext>
            </a:extLst>
          </p:cNvPr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case: Faustin</a:t>
            </a:r>
            <a:endParaRPr lang="en-US" sz="32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768CC86-15D7-578D-F905-09127BF56121}"/>
              </a:ext>
            </a:extLst>
          </p:cNvPr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801C5A1-5181-E4AF-B8EF-38C2BD8C6945}"/>
              </a:ext>
            </a:extLst>
          </p:cNvPr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4DDAA41-04E8-07F4-283E-48481E6D473F}"/>
              </a:ext>
            </a:extLst>
          </p:cNvPr>
          <p:cNvSpPr/>
          <p:nvPr/>
        </p:nvSpPr>
        <p:spPr>
          <a:xfrm>
            <a:off x="777240" y="173736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Person</a:t>
            </a:r>
            <a:endParaRPr lang="en-US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758647C-FE66-43BF-7A79-ED6B50F7BD71}"/>
              </a:ext>
            </a:extLst>
          </p:cNvPr>
          <p:cNvSpPr/>
          <p:nvPr/>
        </p:nvSpPr>
        <p:spPr>
          <a:xfrm>
            <a:off x="3566160" y="1737360"/>
            <a:ext cx="78025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Faustin, 67, a farmer.</a:t>
            </a:r>
            <a:endParaRPr lang="en-US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04157F6-0ADA-796D-751D-C96B9EAADA91}"/>
              </a:ext>
            </a:extLst>
          </p:cNvPr>
          <p:cNvSpPr/>
          <p:nvPr/>
        </p:nvSpPr>
        <p:spPr>
          <a:xfrm>
            <a:off x="548640" y="2724912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240F632-A7F3-3840-650B-5CA4716B2B6B}"/>
              </a:ext>
            </a:extLst>
          </p:cNvPr>
          <p:cNvSpPr/>
          <p:nvPr/>
        </p:nvSpPr>
        <p:spPr>
          <a:xfrm>
            <a:off x="777240" y="2770632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🏡  Setting</a:t>
            </a:r>
            <a:endParaRPr lang="en-US" noProof="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B8CBF17-C8BF-6694-6328-6531E90D19D4}"/>
              </a:ext>
            </a:extLst>
          </p:cNvPr>
          <p:cNvSpPr/>
          <p:nvPr/>
        </p:nvSpPr>
        <p:spPr>
          <a:xfrm>
            <a:off x="3566160" y="2770632"/>
            <a:ext cx="78025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home village, near a health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37A225D-D835-D79E-F3B7-AEE98B311814}"/>
              </a:ext>
            </a:extLst>
          </p:cNvPr>
          <p:cNvSpPr/>
          <p:nvPr/>
        </p:nvSpPr>
        <p:spPr>
          <a:xfrm>
            <a:off x="548640" y="3758184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83D050E-9386-62D1-F7F1-22B7F1A4947A}"/>
              </a:ext>
            </a:extLst>
          </p:cNvPr>
          <p:cNvSpPr/>
          <p:nvPr/>
        </p:nvSpPr>
        <p:spPr>
          <a:xfrm>
            <a:off x="777240" y="3803904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🗨️  Situation</a:t>
            </a:r>
            <a:endParaRPr lang="en-US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F4F7583-342E-617E-2EAA-D625C0D94763}"/>
              </a:ext>
            </a:extLst>
          </p:cNvPr>
          <p:cNvSpPr/>
          <p:nvPr/>
        </p:nvSpPr>
        <p:spPr>
          <a:xfrm>
            <a:off x="3566160" y="3803904"/>
            <a:ext cx="78025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few weeks he has had trouble passing urine and gets up many times at night.</a:t>
            </a:r>
            <a:endParaRPr lang="en-US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AEA3616-8DDE-DB3E-EEC3-60032278F648}"/>
              </a:ext>
            </a:extLst>
          </p:cNvPr>
          <p:cNvSpPr/>
          <p:nvPr/>
        </p:nvSpPr>
        <p:spPr>
          <a:xfrm>
            <a:off x="548640" y="4791456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D0079B4-2A03-039E-A5AE-C610B04FA47A}"/>
              </a:ext>
            </a:extLst>
          </p:cNvPr>
          <p:cNvSpPr/>
          <p:nvPr/>
        </p:nvSpPr>
        <p:spPr>
          <a:xfrm>
            <a:off x="777240" y="4837176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  What you know</a:t>
            </a:r>
            <a:endParaRPr lang="en-US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56B3B33-146F-98C2-04D3-51B7F1AFA927}"/>
              </a:ext>
            </a:extLst>
          </p:cNvPr>
          <p:cNvSpPr/>
          <p:nvPr/>
        </p:nvSpPr>
        <p:spPr>
          <a:xfrm>
            <a:off x="3566160" y="4837176"/>
            <a:ext cx="78025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feels otherwise well. He thinks it is just old age, and he feels shy about it.</a:t>
            </a:r>
            <a:endParaRPr lang="en-US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0911A55-7A32-52BA-7A7B-098AFEC06A8C}"/>
              </a:ext>
            </a:extLst>
          </p:cNvPr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help decide what to do for Faustin later in this session.</a:t>
            </a:r>
            <a:endParaRPr lang="en-US" sz="1500" noProof="0" dirty="0"/>
          </a:p>
        </p:txBody>
      </p:sp>
    </p:spTree>
    <p:extLst>
      <p:ext uri="{BB962C8B-B14F-4D97-AF65-F5344CB8AC3E}">
        <p14:creationId xmlns:p14="http://schemas.microsoft.com/office/powerpoint/2010/main" val="823826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more at risk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3611880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age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goes up as men get older.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3611880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father or brother with prostate cancer raises the chance.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3611880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background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 of African family background have a higher chance.</a:t>
            </a:r>
            <a:endParaRPr lang="en-US" noProof="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30326F2-CEA6-4E2B-F286-10F636AF5E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595837" y="3273552"/>
            <a:ext cx="1390383" cy="1737360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91CBE953-7B6C-B7C5-3E10-270067E2C1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048003" y="3453613"/>
            <a:ext cx="1945929" cy="1557299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6A0949BF-EEC8-EC41-F5EE-B4C4A274DD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951086" y="3409723"/>
            <a:ext cx="1645077" cy="164507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look for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386840"/>
            <a:ext cx="5387188" cy="1837944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505712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no signs early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1880616"/>
            <a:ext cx="494827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men feel well at first.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386840"/>
            <a:ext cx="5387188" cy="1837944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505712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changes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1880616"/>
            <a:ext cx="29856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stream, trouble starting urination, going often, or getting up at night. These can have other causes too.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5387188" cy="1749552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3538728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in the urine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3913632"/>
            <a:ext cx="494827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needs a check-up.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419856"/>
            <a:ext cx="5387188" cy="1749552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3538728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or back pain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3913632"/>
            <a:ext cx="252237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happen when the disease is more advanced.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5340096"/>
            <a:ext cx="11094415" cy="822960"/>
          </a:xfrm>
          <a:prstGeom prst="roundRect">
            <a:avLst>
              <a:gd name="adj" fmla="val 6667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413248"/>
            <a:ext cx="1063721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Important: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problems do not prove cancer. They mean a check-up is needed. Risk factors raise the chance, but they do not mean a man has cancer.</a:t>
            </a:r>
            <a:endParaRPr lang="en-US" noProof="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AE30649C-C4C4-98DF-0AC4-EB9CCFF8F3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97" b="34791"/>
          <a:stretch>
            <a:fillRect/>
          </a:stretch>
        </p:blipFill>
        <p:spPr>
          <a:xfrm>
            <a:off x="3428602" y="1647930"/>
            <a:ext cx="2196634" cy="1379404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E77BACDE-139C-171D-59E1-DCA0FDB1597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9664" b="19276"/>
          <a:stretch>
            <a:fillRect/>
          </a:stretch>
        </p:blipFill>
        <p:spPr>
          <a:xfrm>
            <a:off x="9499148" y="2026920"/>
            <a:ext cx="1924452" cy="786384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0137965A-FBB8-88B7-9A2E-A72F3B44D70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5772"/>
          <a:stretch>
            <a:fillRect/>
          </a:stretch>
        </p:blipFill>
        <p:spPr>
          <a:xfrm>
            <a:off x="3896893" y="3443568"/>
            <a:ext cx="1159411" cy="1711036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2E061543-5BFB-522A-1D1A-7D7E5A6CF60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064625" y="3513448"/>
            <a:ext cx="2186160" cy="174955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4780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59410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 check-up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23418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man has these signs, kindly encourage him to go to the health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44780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59410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wait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223418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tell him to wait and see. Do not give medicine yourself.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1668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406298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Worried or older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470306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 no signs, a worried or older man can ask for advice at the health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91668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406298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up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70306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him attend and return for his results.</a:t>
            </a:r>
            <a:endParaRPr lang="en-US" noProof="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it to Faustin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  Case:  </a:t>
            </a: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Faustin tells you about his urine problems but says he feels well and it is just old age.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best thing to do?</a:t>
            </a:r>
            <a:endParaRPr lang="en-U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5387188" cy="972312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10286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it is just old age and do nothing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6255868" y="2990088"/>
            <a:ext cx="5387188" cy="972312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438748" y="310286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Listen, explain a check-up can help even when he feels well, and encourage him to go to the health </a:t>
            </a:r>
            <a:r>
              <a:rPr lang="en-US" b="1" noProof="0" dirty="0" err="1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42184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2732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him medicine yourself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2184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42732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other people in the village about it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assessment kindly and keep his information private. Urine changes can have several causes and need a check-up.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Who is more likely to get prostate cancer?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boys</a:t>
            </a:r>
            <a:endParaRPr lang="en-US" sz="155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Older men  ✓</a:t>
            </a:r>
            <a:endParaRPr lang="en-US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women</a:t>
            </a:r>
            <a:endParaRPr lang="en-US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</a:t>
            </a:r>
            <a:endParaRPr lang="en-US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rises with age.</a:t>
            </a:r>
            <a:endParaRPr lang="en-US" sz="1450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Urine problems such as a weak stream: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mean cancer</a:t>
            </a:r>
            <a:endParaRPr lang="en-US" sz="1550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Can have many causes and need a check-up  ✓</a:t>
            </a:r>
            <a:endParaRPr lang="en-US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need a check-up</a:t>
            </a:r>
            <a:endParaRPr lang="en-U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happen in young men</a:t>
            </a:r>
            <a:endParaRPr lang="en-US" sz="1550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common and need a check-up, not proof of cancer.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Early prostate cancer: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hurts</a:t>
            </a:r>
            <a:endParaRPr lang="en-US" sz="155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Often has no signs  ✓</a:t>
            </a:r>
            <a:endParaRPr lang="en-US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causes fever</a:t>
            </a:r>
            <a:endParaRPr lang="en-US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found</a:t>
            </a:r>
            <a:endParaRPr lang="en-US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disease is often silent.</a:t>
            </a:r>
            <a:endParaRPr lang="en-US" sz="1450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A man has new leg weakness and cannot control his urine. This is: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550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An urgent danger sign  ✓</a:t>
            </a:r>
            <a:endParaRPr lang="en-US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sign</a:t>
            </a:r>
            <a:endParaRPr lang="en-U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tiredness</a:t>
            </a:r>
            <a:endParaRPr lang="en-US" sz="1550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needs care the same day.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If a man has urine changes, you should:</a:t>
            </a:r>
            <a:endParaRPr lang="en-US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wait and see</a:t>
            </a:r>
            <a:endParaRPr lang="en-US" sz="155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Encourage a check-up at the health </a:t>
            </a:r>
            <a:r>
              <a:rPr lang="en-US" sz="1550" b="1" noProof="0" dirty="0" err="1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</a:t>
            </a:r>
            <a:endParaRPr lang="en-US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him medicine</a:t>
            </a:r>
            <a:endParaRPr lang="en-US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it</a:t>
            </a:r>
            <a:endParaRPr lang="en-US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assessment kindly.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say to a man who feels shy about urine problems?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danger sign will you always remember?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encourage someone to go for a check-up?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 next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worry into action: help people reach care, talk with kindness, and support follow-up.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to send a person first.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referral journey in simple words.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with kindness and correct wrong beliefs.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person to attend and follow up.</a:t>
            </a:r>
            <a:endParaRPr lang="en-US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32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referral is urgent.</a:t>
            </a:r>
            <a:endParaRPr lang="en-US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referral journey in Rwanda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6" name="Shape 4"/>
          <p:cNvSpPr/>
          <p:nvPr/>
        </p:nvSpPr>
        <p:spPr>
          <a:xfrm>
            <a:off x="1864309" y="2356104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1864309" y="235610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noProof="0" dirty="0"/>
          </a:p>
        </p:txBody>
      </p:sp>
      <p:sp>
        <p:nvSpPr>
          <p:cNvPr id="8" name="Text 6"/>
          <p:cNvSpPr/>
          <p:nvPr/>
        </p:nvSpPr>
        <p:spPr>
          <a:xfrm>
            <a:off x="713232" y="3179064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post or </a:t>
            </a:r>
            <a:r>
              <a:rPr lang="en-US" sz="2400" b="1" noProof="0" dirty="0" err="1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13232" y="3663696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goes here first for a check-up.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3938930" y="2904744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3600" noProof="0" dirty="0"/>
          </a:p>
        </p:txBody>
      </p:sp>
      <p:sp>
        <p:nvSpPr>
          <p:cNvPr id="11" name="Shape 9"/>
          <p:cNvSpPr/>
          <p:nvPr/>
        </p:nvSpPr>
        <p:spPr>
          <a:xfrm>
            <a:off x="4414418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5730088" y="2356104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13" name="Text 11"/>
          <p:cNvSpPr/>
          <p:nvPr/>
        </p:nvSpPr>
        <p:spPr>
          <a:xfrm>
            <a:off x="5730088" y="235610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noProof="0" dirty="0"/>
          </a:p>
        </p:txBody>
      </p:sp>
      <p:sp>
        <p:nvSpPr>
          <p:cNvPr id="14" name="Text 12"/>
          <p:cNvSpPr/>
          <p:nvPr/>
        </p:nvSpPr>
        <p:spPr>
          <a:xfrm>
            <a:off x="4579010" y="3179064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hospital</a:t>
            </a:r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4579010" y="3663696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needed, they are sent here for more checks.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804709" y="2904744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3600" noProof="0" dirty="0"/>
          </a:p>
        </p:txBody>
      </p:sp>
      <p:sp>
        <p:nvSpPr>
          <p:cNvPr id="17" name="Shape 15"/>
          <p:cNvSpPr/>
          <p:nvPr/>
        </p:nvSpPr>
        <p:spPr>
          <a:xfrm>
            <a:off x="8280197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18" name="Shape 16"/>
          <p:cNvSpPr/>
          <p:nvPr/>
        </p:nvSpPr>
        <p:spPr>
          <a:xfrm>
            <a:off x="9595866" y="2356104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9595866" y="235610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noProof="0" dirty="0"/>
          </a:p>
        </p:txBody>
      </p:sp>
      <p:sp>
        <p:nvSpPr>
          <p:cNvPr id="20" name="Text 18"/>
          <p:cNvSpPr/>
          <p:nvPr/>
        </p:nvSpPr>
        <p:spPr>
          <a:xfrm>
            <a:off x="8444789" y="3179064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or cancer </a:t>
            </a:r>
            <a:r>
              <a:rPr lang="en-US" sz="2400" b="1" noProof="0" dirty="0" err="1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444789" y="3663696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special care and treatment planning.</a:t>
            </a:r>
            <a:endParaRPr lang="en-US" sz="2000" noProof="0" dirty="0"/>
          </a:p>
        </p:txBody>
      </p:sp>
      <p:sp>
        <p:nvSpPr>
          <p:cNvPr id="22" name="Shape 20"/>
          <p:cNvSpPr/>
          <p:nvPr/>
        </p:nvSpPr>
        <p:spPr>
          <a:xfrm>
            <a:off x="548640" y="5480304"/>
            <a:ext cx="11094415" cy="640080"/>
          </a:xfrm>
          <a:prstGeom prst="roundRect">
            <a:avLst>
              <a:gd name="adj" fmla="val 8571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3" name="Text 21"/>
          <p:cNvSpPr/>
          <p:nvPr/>
        </p:nvSpPr>
        <p:spPr>
          <a:xfrm>
            <a:off x="822960" y="5480304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noProof="0" dirty="0">
                <a:solidFill>
                  <a:srgbClr val="7FD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Urgent:  </a:t>
            </a:r>
            <a:r>
              <a:rPr lang="en-US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danger signs, help the person get care the same day. Do not wait for the normal steps.</a:t>
            </a:r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with care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feel well, so I do not need a check-up.”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prostate cancer often has no signs. A check-up can still help.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69164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afraid they will find cancer.”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247802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normal to feel afraid. Finding problems early gives more choices.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81762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39639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it is cancer, nothing can be done.”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460400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true. There are ways to care for and treat people.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81762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39639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blood test means I have cancer.”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60400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test can show more checks are needed, but it cannot confirm cancer alone.</a:t>
            </a:r>
            <a:endParaRPr lang="en-US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and follow-up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attendance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person reach the health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for results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 them to go back for their results.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shame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their information private and treat them with respect.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family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family understand why continued care matters.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get more help</a:t>
            </a:r>
            <a:endParaRPr lang="en-US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4572914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distress is heavy, encourage extra support.</a:t>
            </a:r>
            <a:endParaRPr lang="en-US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blame</a:t>
            </a:r>
            <a:endParaRPr lang="en-US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be patient, and never use fear.</a:t>
            </a:r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Faustin's story continues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  Case:  </a:t>
            </a: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you encourage a check-up, Faustin says quietly, “If it is cancer, nothing can be done, so why go?”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most helpful response?</a:t>
            </a:r>
            <a:endParaRPr lang="en-U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5387188" cy="113080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22478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that little can be done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6255868" y="2990088"/>
            <a:ext cx="5387188" cy="1130808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438748" y="322478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Gently say this is not true, that a check-up guides care and options exist, and encourage him to go   ✓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4376928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431792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not to worry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376928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4431792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the conversation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 his fear, correct the wrong belief kindly, and support him to attend without pressure.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The first place for a check-up is usually: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cancer </a:t>
            </a:r>
            <a:r>
              <a:rPr lang="en-US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The health post or health </a:t>
            </a:r>
            <a:r>
              <a:rPr lang="en-US" b="1" noProof="0" dirty="0" err="1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shop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Nowhere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contact is at the health post or </a:t>
            </a:r>
            <a:r>
              <a:rPr lang="en-US" i="1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“If it is cancer, nothing can be done” is: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A misconception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correct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repeat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ways to treat and support people.</a:t>
            </a:r>
            <a:endParaRPr lang="en-US" noProof="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Good counselling means: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Blaming the person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Listening and encouraging without fear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 information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Rushing them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Listen, respect, and give time.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After a referral, a community health worker should: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Encourage attendance and return for results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tests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 about it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attendance and follow-up.</a:t>
            </a:r>
            <a:endParaRPr lang="en-US" noProof="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Danger signs need: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wait-and-see plan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Care the same day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visit next month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signs need care the same day.</a:t>
            </a:r>
            <a:endParaRPr lang="en-US" noProof="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tell someone who is afraid to seek a check-up?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could you help someone complete a referral?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wrong belief about prostate cancer would you most like to correct?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is cancer found and treated?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look at what happens after referral: how doctors find out, and the kinds of treatment.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in simple words how cancer is found.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3402254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3603422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4270934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Reassure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3621710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that a blood test alone cannot confirm cancer.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6255868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57036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7124548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main kinds of treatment simply.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9109481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9310649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9978161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9328937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common wrong beliefs.</a:t>
            </a:r>
            <a:endParaRPr lang="en-US" noProof="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doctors find out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noProof="0" dirty="0"/>
          </a:p>
        </p:txBody>
      </p:sp>
      <p:sp>
        <p:nvSpPr>
          <p:cNvPr id="7" name="Shape 5"/>
          <p:cNvSpPr/>
          <p:nvPr/>
        </p:nvSpPr>
        <p:spPr>
          <a:xfrm>
            <a:off x="1325880" y="1627632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1554480" y="1627632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facility checks the person.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23957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noProof="0" dirty="0"/>
          </a:p>
        </p:txBody>
      </p:sp>
      <p:sp>
        <p:nvSpPr>
          <p:cNvPr id="11" name="Shape 9"/>
          <p:cNvSpPr/>
          <p:nvPr/>
        </p:nvSpPr>
        <p:spPr>
          <a:xfrm>
            <a:off x="1325880" y="2377440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1554480" y="2377440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tests may be done. A blood test may be used.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548640" y="3145536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548640" y="31455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noProof="0" dirty="0"/>
          </a:p>
        </p:txBody>
      </p:sp>
      <p:sp>
        <p:nvSpPr>
          <p:cNvPr id="15" name="Shape 13"/>
          <p:cNvSpPr/>
          <p:nvPr/>
        </p:nvSpPr>
        <p:spPr>
          <a:xfrm>
            <a:off x="1325880" y="3127248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554480" y="3127248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of the inside of the body (imaging) may be taken.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18" name="Text 16"/>
          <p:cNvSpPr/>
          <p:nvPr/>
        </p:nvSpPr>
        <p:spPr>
          <a:xfrm>
            <a:off x="548640" y="389534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noProof="0" dirty="0"/>
          </a:p>
        </p:txBody>
      </p:sp>
      <p:sp>
        <p:nvSpPr>
          <p:cNvPr id="19" name="Shape 17"/>
          <p:cNvSpPr/>
          <p:nvPr/>
        </p:nvSpPr>
        <p:spPr>
          <a:xfrm>
            <a:off x="1325880" y="3877056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1554480" y="3877056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piece of tissue (a biopsy) may be taken to confirm.</a:t>
            </a:r>
            <a:endParaRPr lang="en-US" noProof="0" dirty="0"/>
          </a:p>
        </p:txBody>
      </p:sp>
      <p:sp>
        <p:nvSpPr>
          <p:cNvPr id="21" name="Shape 19"/>
          <p:cNvSpPr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548640" y="46451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noProof="0" dirty="0"/>
          </a:p>
        </p:txBody>
      </p:sp>
      <p:sp>
        <p:nvSpPr>
          <p:cNvPr id="23" name="Shape 21"/>
          <p:cNvSpPr/>
          <p:nvPr/>
        </p:nvSpPr>
        <p:spPr>
          <a:xfrm>
            <a:off x="1325880" y="4626864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1554480" y="4626864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use the results to plan care with the person.</a:t>
            </a:r>
            <a:endParaRPr lang="en-US" noProof="0" dirty="0"/>
          </a:p>
        </p:txBody>
      </p:sp>
      <p:sp>
        <p:nvSpPr>
          <p:cNvPr id="25" name="Shape 23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440680"/>
            <a:ext cx="106372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Remember: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test or signs alone cannot confirm cancer. Only looking at the tissue can confirm it.</a:t>
            </a:r>
            <a:endParaRPr lang="en-US" noProof="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Kinds of treatment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 monitoring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slow cancers are watched closely instead of treated at once.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operation to remove the prostate.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treatment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rays used to treat the cancer.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Hormone medicines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 that lower hormones to slow the cancer.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cancer medicines</a:t>
            </a:r>
            <a:endParaRPr lang="en-US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4572914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some cases, decided by specialists. An example is chemotherapy.</a:t>
            </a:r>
            <a:endParaRPr lang="en-US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with the specialist</a:t>
            </a:r>
            <a:endParaRPr lang="en-US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everyone gets the same treatment. It depends on the cancer and the person.</a:t>
            </a:r>
            <a:endParaRPr lang="en-US" noProof="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Myth or fact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problems always mean cancer</a:t>
            </a:r>
            <a:endParaRPr lang="en-US" noProof="0" dirty="0"/>
          </a:p>
        </p:txBody>
      </p:sp>
      <p:sp>
        <p:nvSpPr>
          <p:cNvPr id="7" name="Text 5"/>
          <p:cNvSpPr/>
          <p:nvPr/>
        </p:nvSpPr>
        <p:spPr>
          <a:xfrm>
            <a:off x="5760720" y="16459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92240" y="16459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common and often have other causes, but they still need a check-up.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731520" y="25603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signs means no cancer</a:t>
            </a:r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5760720" y="25603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13" name="Shape 11"/>
          <p:cNvSpPr/>
          <p:nvPr/>
        </p:nvSpPr>
        <p:spPr>
          <a:xfrm>
            <a:off x="6309360" y="25603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92240" y="25603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prostate cancer is often silent.</a:t>
            </a:r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6" name="Text 14"/>
          <p:cNvSpPr/>
          <p:nvPr/>
        </p:nvSpPr>
        <p:spPr>
          <a:xfrm>
            <a:off x="731520" y="34747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biopsy makes cancer spread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5760720" y="34747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18" name="Shape 16"/>
          <p:cNvSpPr/>
          <p:nvPr/>
        </p:nvSpPr>
        <p:spPr>
          <a:xfrm>
            <a:off x="6309360" y="34747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9" name="Text 17"/>
          <p:cNvSpPr/>
          <p:nvPr/>
        </p:nvSpPr>
        <p:spPr>
          <a:xfrm>
            <a:off x="6492240" y="34747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how it works.</a:t>
            </a:r>
            <a:endParaRPr lang="en-US" noProof="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" y="43891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prostate cancer is the same</a:t>
            </a:r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5760720" y="43891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23" name="Shape 21"/>
          <p:cNvSpPr/>
          <p:nvPr/>
        </p:nvSpPr>
        <p:spPr>
          <a:xfrm>
            <a:off x="6309360" y="43891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4" name="Text 22"/>
          <p:cNvSpPr/>
          <p:nvPr/>
        </p:nvSpPr>
        <p:spPr>
          <a:xfrm>
            <a:off x="6492240" y="43891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behave differently in different men.</a:t>
            </a:r>
            <a:endParaRPr lang="en-US" noProof="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6" name="Text 24"/>
          <p:cNvSpPr/>
          <p:nvPr/>
        </p:nvSpPr>
        <p:spPr>
          <a:xfrm>
            <a:off x="731520" y="53035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is cancer, nothing can be done</a:t>
            </a:r>
            <a:endParaRPr lang="en-US" noProof="0" dirty="0"/>
          </a:p>
        </p:txBody>
      </p:sp>
      <p:sp>
        <p:nvSpPr>
          <p:cNvPr id="27" name="Text 25"/>
          <p:cNvSpPr/>
          <p:nvPr/>
        </p:nvSpPr>
        <p:spPr>
          <a:xfrm>
            <a:off x="5760720" y="53035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en-US" sz="2800" noProof="0" dirty="0"/>
          </a:p>
        </p:txBody>
      </p:sp>
      <p:sp>
        <p:nvSpPr>
          <p:cNvPr id="28" name="Shape 26"/>
          <p:cNvSpPr/>
          <p:nvPr/>
        </p:nvSpPr>
        <p:spPr>
          <a:xfrm>
            <a:off x="6309360" y="53035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9" name="Text 27"/>
          <p:cNvSpPr/>
          <p:nvPr/>
        </p:nvSpPr>
        <p:spPr>
          <a:xfrm>
            <a:off x="6492240" y="53035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ways to treat and support people.</a:t>
            </a:r>
            <a:endParaRPr lang="en-US" noProof="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Cancer is confirmed by: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test alone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A small tissue sample (biopsy)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alone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Guessing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looking at the tissue confirms cancer.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A blood test for the prostate: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cancer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May show more checks are needed, but cannot confirm alone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Cures cancer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never used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guides more checks; it does not confirm cancer.</a:t>
            </a:r>
            <a:endParaRPr lang="en-US" noProof="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Treatment for prostate cancer: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same for everyone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Depends on the cancer and the person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always surgery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never given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decide with the person.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Some slow-growing prostate cancers may be: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Watched closely instead of treated at once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checked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Cured with rest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careful monitoring, not neglect.</a:t>
            </a:r>
            <a:endParaRPr lang="en-US" noProof="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“A biopsy makes cancer spread.” This is: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False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true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true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misconception.</a:t>
            </a:r>
            <a:endParaRPr lang="en-US" noProof="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explain, in simple words, how doctors confirm cancer?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wrong belief about treatment would you most like to correct?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reassure someone who is waiting for test results?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expect from disease and treatment</a:t>
            </a:r>
            <a:endParaRPr lang="en-US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people through treatment and beyond: know the usual effects, the danger signs, and how to bring comfort.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  |   CHW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usual effects of disease and treatment.</a:t>
            </a:r>
            <a:endParaRPr lang="en-US" noProof="0" dirty="0"/>
          </a:p>
        </p:txBody>
      </p:sp>
      <p:sp>
        <p:nvSpPr>
          <p:cNvPr id="9" name="Shape 7"/>
          <p:cNvSpPr/>
          <p:nvPr/>
        </p:nvSpPr>
        <p:spPr>
          <a:xfrm>
            <a:off x="3402254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3603422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</a:t>
            </a:r>
            <a:endParaRPr lang="en-US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4270934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3621710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usual effects apart from danger signs.</a:t>
            </a:r>
            <a:endParaRPr lang="en-US" noProof="0" dirty="0"/>
          </a:p>
        </p:txBody>
      </p:sp>
      <p:sp>
        <p:nvSpPr>
          <p:cNvPr id="13" name="Shape 11"/>
          <p:cNvSpPr/>
          <p:nvPr/>
        </p:nvSpPr>
        <p:spPr>
          <a:xfrm>
            <a:off x="6255868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57036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7124548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urgent danger signs.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9109481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9310649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💙</a:t>
            </a:r>
            <a:endParaRPr lang="en-US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9978161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</a:t>
            </a:r>
            <a:endParaRPr lang="en-US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9328937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practical comfort and support.</a:t>
            </a:r>
            <a:endParaRPr lang="en-US" noProof="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Sorting the effects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54298" cy="4297680"/>
          </a:xfrm>
          <a:prstGeom prst="roundRect">
            <a:avLst>
              <a:gd name="adj" fmla="val 2118"/>
            </a:avLst>
          </a:prstGeom>
          <a:solidFill>
            <a:srgbClr val="F3F8FC"/>
          </a:solidFill>
          <a:ln w="15240">
            <a:solidFill>
              <a:srgbClr val="1C6FB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54298" cy="658368"/>
          </a:xfrm>
          <a:prstGeom prst="roundRect">
            <a:avLst>
              <a:gd name="adj" fmla="val 11111"/>
            </a:avLst>
          </a:prstGeom>
          <a:solidFill>
            <a:srgbClr val="1C6FB0"/>
          </a:solidFill>
          <a:ln/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17997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effects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560320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Tiredness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768096" y="3218688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flushes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768096" y="3877056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urine changes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768096" y="4535424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sexual function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4368698" y="1691640"/>
            <a:ext cx="3454298" cy="4297680"/>
          </a:xfrm>
          <a:prstGeom prst="roundRect">
            <a:avLst>
              <a:gd name="adj" fmla="val 2118"/>
            </a:avLst>
          </a:prstGeom>
          <a:solidFill>
            <a:srgbClr val="FFF6E6"/>
          </a:solidFill>
          <a:ln w="1524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Shape 11"/>
          <p:cNvSpPr/>
          <p:nvPr/>
        </p:nvSpPr>
        <p:spPr>
          <a:xfrm>
            <a:off x="4368698" y="1691640"/>
            <a:ext cx="3454298" cy="658368"/>
          </a:xfrm>
          <a:prstGeom prst="roundRect">
            <a:avLst>
              <a:gd name="adj" fmla="val 11111"/>
            </a:avLst>
          </a:prstGeom>
          <a:solidFill>
            <a:srgbClr val="E08A1E"/>
          </a:solidFill>
          <a:ln/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4505858" y="1691640"/>
            <a:ext cx="317997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clinic soon</a:t>
            </a:r>
            <a:endParaRPr lang="en-US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4588154" y="2560320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Bowel changes that do not settle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4588154" y="3218688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that is getting worse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4588154" y="3877056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problems that worry the person</a:t>
            </a:r>
            <a:endParaRPr lang="en-US" noProof="0" dirty="0"/>
          </a:p>
        </p:txBody>
      </p:sp>
      <p:sp>
        <p:nvSpPr>
          <p:cNvPr id="18" name="Shape 16"/>
          <p:cNvSpPr/>
          <p:nvPr/>
        </p:nvSpPr>
        <p:spPr>
          <a:xfrm>
            <a:off x="8188757" y="1691640"/>
            <a:ext cx="3454298" cy="4297680"/>
          </a:xfrm>
          <a:prstGeom prst="roundRect">
            <a:avLst>
              <a:gd name="adj" fmla="val 2118"/>
            </a:avLst>
          </a:prstGeom>
          <a:solidFill>
            <a:srgbClr val="FBE9E9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9" name="Shape 17"/>
          <p:cNvSpPr/>
          <p:nvPr/>
        </p:nvSpPr>
        <p:spPr>
          <a:xfrm>
            <a:off x="8188757" y="1691640"/>
            <a:ext cx="3454298" cy="658368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0" name="Text 18"/>
          <p:cNvSpPr/>
          <p:nvPr/>
        </p:nvSpPr>
        <p:spPr>
          <a:xfrm>
            <a:off x="8325917" y="1691640"/>
            <a:ext cx="317997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Urgent, same day</a:t>
            </a:r>
            <a:endParaRPr lang="en-US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8408213" y="2560320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leg weakness or numbness</a:t>
            </a:r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8408213" y="3218688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 walking</a:t>
            </a:r>
            <a:endParaRPr lang="en-US" noProof="0" dirty="0"/>
          </a:p>
        </p:txBody>
      </p:sp>
      <p:sp>
        <p:nvSpPr>
          <p:cNvPr id="23" name="Text 21"/>
          <p:cNvSpPr/>
          <p:nvPr/>
        </p:nvSpPr>
        <p:spPr>
          <a:xfrm>
            <a:off x="8408213" y="3877056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control of urine or stool</a:t>
            </a:r>
            <a:endParaRPr lang="en-US" noProof="0" dirty="0"/>
          </a:p>
        </p:txBody>
      </p:sp>
      <p:sp>
        <p:nvSpPr>
          <p:cNvPr id="24" name="Text 22"/>
          <p:cNvSpPr/>
          <p:nvPr/>
        </p:nvSpPr>
        <p:spPr>
          <a:xfrm>
            <a:off x="8408213" y="4535424"/>
            <a:ext cx="301538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Severe, fast-worsening pain</a:t>
            </a:r>
            <a:endParaRPr lang="en-US" noProof="0" dirty="0"/>
          </a:p>
        </p:txBody>
      </p:sp>
      <p:sp>
        <p:nvSpPr>
          <p:cNvPr id="25" name="Text 23"/>
          <p:cNvSpPr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not sure, treat it as urgent and help the person get care.</a:t>
            </a:r>
            <a:endParaRPr lang="en-US" sz="1300" noProof="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Urgent danger signs to act 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286"/>
            </a:avLst>
          </a:prstGeom>
          <a:solidFill>
            <a:srgbClr val="FBE9E9"/>
          </a:solidFill>
          <a:ln w="19050">
            <a:solidFill>
              <a:srgbClr val="D14B4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Urgent danger signs</a:t>
            </a:r>
            <a:endParaRPr lang="en-US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leg weakness or numbness</a:t>
            </a:r>
            <a:endParaRPr lang="en-US" sz="1800" noProof="0" dirty="0"/>
          </a:p>
        </p:txBody>
      </p:sp>
      <p:sp>
        <p:nvSpPr>
          <p:cNvPr id="8" name="Text 6"/>
          <p:cNvSpPr/>
          <p:nvPr/>
        </p:nvSpPr>
        <p:spPr>
          <a:xfrm>
            <a:off x="1011784" y="3587496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 walking</a:t>
            </a:r>
            <a:endParaRPr lang="en-US" sz="1800" noProof="0" dirty="0"/>
          </a:p>
        </p:txBody>
      </p:sp>
      <p:sp>
        <p:nvSpPr>
          <p:cNvPr id="9" name="Text 7"/>
          <p:cNvSpPr/>
          <p:nvPr/>
        </p:nvSpPr>
        <p:spPr>
          <a:xfrm>
            <a:off x="1005840" y="3081528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control of urine or stool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1011784" y="4154424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8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or fast-worsening pain</a:t>
            </a:r>
            <a:endParaRPr lang="en-US" sz="18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5714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noProof="0" dirty="0">
                <a:solidFill>
                  <a:srgbClr val="7FD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  What to do:  </a:t>
            </a:r>
            <a:r>
              <a:rPr lang="en-US" sz="18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person get medical care the same day. Do not wait.</a:t>
            </a:r>
            <a:endParaRPr lang="en-US" sz="1800" noProof="0" dirty="0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735F257C-F59A-14B5-1DE7-87C0A539D0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88" t="3058" r="2302" b="3365"/>
          <a:stretch>
            <a:fillRect/>
          </a:stretch>
        </p:blipFill>
        <p:spPr>
          <a:xfrm>
            <a:off x="6506560" y="1906507"/>
            <a:ext cx="3531010" cy="2762854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Comfort and quality of life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time and listen without judging.</a:t>
            </a:r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appointments</a:t>
            </a:r>
            <a:endParaRPr lang="en-US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person attend follow-up visits.</a:t>
            </a:r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reporting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them to tell you about new problems.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shame</a:t>
            </a:r>
            <a:endParaRPr lang="en-US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information private and treat the person with respect.</a:t>
            </a:r>
            <a:endParaRPr lang="en-US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family</a:t>
            </a:r>
            <a:endParaRPr lang="en-US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4572914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the family understand why care continues.</a:t>
            </a:r>
            <a:endParaRPr lang="en-US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comfort</a:t>
            </a:r>
            <a:endParaRPr lang="en-US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rest, food, and company.</a:t>
            </a:r>
            <a:endParaRPr lang="en-US" noProof="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4F55DA-5D85-71A9-A4B5-0DD3877A1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6F968ED-C9B9-EB58-5E52-28C5D0781BAC}"/>
              </a:ext>
            </a:extLst>
          </p:cNvPr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B64D4F3-6153-DA0E-F5ED-3E60F8D1D9FB}"/>
              </a:ext>
            </a:extLst>
          </p:cNvPr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Faustin comes back</a:t>
            </a:r>
            <a:endParaRPr lang="en-US" sz="32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7707A7-E43C-5393-8A0E-E6A4B131B74D}"/>
              </a:ext>
            </a:extLst>
          </p:cNvPr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1020653-E1C9-1779-9626-B53092B3F20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825625"/>
          <a:ext cx="10264694" cy="12148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264694">
                  <a:extLst>
                    <a:ext uri="{9D8B030D-6E8A-4147-A177-3AD203B41FA5}">
                      <a16:colId xmlns:a16="http://schemas.microsoft.com/office/drawing/2014/main" val="3147295238"/>
                    </a:ext>
                  </a:extLst>
                </a:gridCol>
              </a:tblGrid>
              <a:tr h="75430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000" b="0" dirty="0">
                          <a:effectLst/>
                        </a:rPr>
                        <a:t>VIDEO FILE: video_01_patient_story.mp4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000" b="0" dirty="0">
                          <a:effectLst/>
                        </a:rPr>
                        <a:t>PLACEHOLDER: Insert video player on this screen.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000" b="0" dirty="0">
                          <a:effectLst/>
                        </a:rPr>
                        <a:t>VIDEO TYPE: Required viewing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US" sz="1000" b="0" dirty="0">
                          <a:effectLst/>
                        </a:rPr>
                        <a:t>GATING: Learner must watch before continuing.</a:t>
                      </a:r>
                      <a:endParaRPr lang="en-US" sz="1000" b="0" i="0" dirty="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89258" marR="89258" marT="44629" marB="44629"/>
                </a:tc>
                <a:extLst>
                  <a:ext uri="{0D108BD9-81ED-4DB2-BD59-A6C34878D82A}">
                    <a16:rowId xmlns:a16="http://schemas.microsoft.com/office/drawing/2014/main" val="2279453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 marL="89258" marR="89258" marT="44629" marB="44629"/>
                </a:tc>
                <a:extLst>
                  <a:ext uri="{0D108BD9-81ED-4DB2-BD59-A6C34878D82A}">
                    <a16:rowId xmlns:a16="http://schemas.microsoft.com/office/drawing/2014/main" val="534118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79749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it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🩺  Case:  </a:t>
            </a:r>
            <a:r>
              <a:rPr lang="en-US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Faustin is now on treatment. He tells you he has new, severe back pain and his legs feel weak.</a:t>
            </a:r>
            <a:endParaRPr lang="en-U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718816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best action?</a:t>
            </a:r>
            <a:endParaRPr lang="en-U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33040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3588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him to rest for a month</a:t>
            </a:r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6255868" y="33040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438748" y="33588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Help him get medical care urgently   ✓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440131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45617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him more fluids only</a:t>
            </a:r>
            <a:endParaRPr lang="en-US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40131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445617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and see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severe back pain with leg weakness is an urgent danger sign. Help him reach care the same day.</a:t>
            </a:r>
            <a:endParaRPr lang="en-US" sz="1450" noProof="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(1/3)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 Which is an urgent danger sign?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little tiredness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New leg weakness with loss of urine control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hot flush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nausea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needs care the same day.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 Hot flushes and tiredness during treatment are: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 emergency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Usual effects that can be discussed at follow-up  ✓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to stop care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seen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usual and can be discussed at follow-up.</a:t>
            </a:r>
            <a:endParaRPr lang="en-US" noProof="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(2/3)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 A new, worsening symptom should be: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Reported and checked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for months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at home only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reporting and a check-up.</a:t>
            </a:r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 Talking about sexual or urine problems should be: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Done with respect and privacy  ✓</a:t>
            </a:r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public</a:t>
            </a:r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with jokes</a:t>
            </a:r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always</a:t>
            </a:r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A.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respectful and keep it private.</a:t>
            </a:r>
            <a:endParaRPr lang="en-US" noProof="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check  (3/3)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 A good comfort action is:</a:t>
            </a:r>
            <a:endParaRPr lang="en-U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Blaming the person</a:t>
            </a:r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Listening and helping keep appointments  ✓</a:t>
            </a:r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private details</a:t>
            </a:r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en-US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 them to stop care</a:t>
            </a:r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B.  </a:t>
            </a:r>
            <a:r>
              <a:rPr lang="en-US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and support follow-up.</a:t>
            </a:r>
            <a:endParaRPr lang="en-US" noProof="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reflection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response in the text box. There is no single correct answer. These prompts are for your own practice and for discussion.</a:t>
            </a:r>
            <a:endParaRPr lang="en-US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help someone know which symptoms to report urgently?</a:t>
            </a:r>
            <a:endParaRPr lang="en-US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raise urine or sexual health with respect?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support could help someone keep going to follow-up?</a:t>
            </a:r>
            <a:endParaRPr lang="en-US" sz="1800" noProof="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AND SOURCES</a:t>
            </a:r>
            <a:endParaRPr lang="en-US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Cancer   |   CHW   |   Rwanda Biomedical Centre</a:t>
            </a:r>
            <a:endParaRPr lang="en-US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Agency for Research on Cancer. Global Cancer Observatory: Cancer Today (2024 estimates, version 1.0). Lyon: IARC/WHO.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gco.iarc.who.int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/today</a:t>
            </a:r>
            <a:endParaRPr lang="en-US" sz="125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 H, Filho AM, 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Laversanne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M, et al. Global cancer statistics 2024: GLOBOCAN estimates of incidence and mortality worldwide. CA Cancer J Clin. 2026. doi:10.3322/caac.70090</a:t>
            </a:r>
            <a:endParaRPr lang="en-US" sz="125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Global Medicine. Rising prostate cancer incidence in Africa: socioeconomic impact and 25-year projection to 2050. 2026.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globalmedicine.co.uk</a:t>
            </a:r>
            <a:endParaRPr lang="en-US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475488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Health Organization. Guide to Cancer Early Diagnosis. Geneva: WHO, 2017.</a:t>
            </a:r>
            <a:endParaRPr lang="en-US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6324448" y="160020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Cancer Society. Prostate cancer: detection, diagnosis and staging.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www.cancer.org</a:t>
            </a:r>
            <a:endParaRPr lang="en-US" sz="1250" noProof="0" dirty="0"/>
          </a:p>
        </p:txBody>
      </p:sp>
      <p:sp>
        <p:nvSpPr>
          <p:cNvPr id="10" name="Text 8"/>
          <p:cNvSpPr/>
          <p:nvPr/>
        </p:nvSpPr>
        <p:spPr>
          <a:xfrm>
            <a:off x="6324448" y="265176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Centers for Disease Control and Prevention. Prostate cancer screening.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www.cdc.gov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/prostate-cancer/screening/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</a:t>
            </a:r>
            <a:endParaRPr lang="en-US" sz="1250" noProof="0" dirty="0"/>
          </a:p>
        </p:txBody>
      </p:sp>
      <p:sp>
        <p:nvSpPr>
          <p:cNvPr id="11" name="Text 9"/>
          <p:cNvSpPr/>
          <p:nvPr/>
        </p:nvSpPr>
        <p:spPr>
          <a:xfrm>
            <a:off x="6324448" y="370332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Cancer Registry Network. Rwanda National Cancer Registry. https://</a:t>
            </a:r>
            <a:r>
              <a:rPr lang="en-US" sz="1250" noProof="0" dirty="0" err="1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afcrn.org</a:t>
            </a:r>
            <a:endParaRPr lang="en-US" sz="1250" noProof="0" dirty="0"/>
          </a:p>
        </p:txBody>
      </p:sp>
      <p:sp>
        <p:nvSpPr>
          <p:cNvPr id="12" name="Text 10"/>
          <p:cNvSpPr/>
          <p:nvPr/>
        </p:nvSpPr>
        <p:spPr>
          <a:xfrm>
            <a:off x="6324448" y="475488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</a:t>
            </a:r>
            <a:r>
              <a:rPr lang="en-US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Agency for Research on Cancer. Manual for Cancer Registry Personnel (Technical Report No. 10, 1995); Planning and Developing Population-Based Cancer Registration in Low- and Middle-Income Settings (IARC Technical Publication No. 43, 2014).</a:t>
            </a:r>
            <a:endParaRPr lang="en-US" sz="125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5629</Words>
  <Application>Microsoft Office PowerPoint</Application>
  <PresentationFormat>Widescreen</PresentationFormat>
  <Paragraphs>874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Aptos</vt:lpstr>
      <vt:lpstr>Arial</vt:lpstr>
      <vt:lpstr>Calibri</vt:lpstr>
      <vt:lpstr>Cambria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Saraf, Jayant</cp:lastModifiedBy>
  <cp:revision>20</cp:revision>
  <dcterms:created xsi:type="dcterms:W3CDTF">2026-08-18T20:52:03Z</dcterms:created>
  <dcterms:modified xsi:type="dcterms:W3CDTF">2026-08-20T08:07:48Z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c56a699-e9bd-437a-8412-901342082749_Enabled">
    <vt:lpwstr>true</vt:lpwstr>
  </property>
  <property fmtid="{D5CDD505-2E9C-101B-9397-08002B2CF9AE}" pid="3" name="MSIP_Label_2c56a699-e9bd-437a-8412-901342082749_SetDate">
    <vt:lpwstr>2026-08-20T08:07:34Z</vt:lpwstr>
  </property>
  <property fmtid="{D5CDD505-2E9C-101B-9397-08002B2CF9AE}" pid="4" name="MSIP_Label_2c56a699-e9bd-437a-8412-901342082749_Method">
    <vt:lpwstr>Privileged</vt:lpwstr>
  </property>
  <property fmtid="{D5CDD505-2E9C-101B-9397-08002B2CF9AE}" pid="5" name="MSIP_Label_2c56a699-e9bd-437a-8412-901342082749_Name">
    <vt:lpwstr>2c56a699-e9bd-437a-8412-901342082749</vt:lpwstr>
  </property>
  <property fmtid="{D5CDD505-2E9C-101B-9397-08002B2CF9AE}" pid="6" name="MSIP_Label_2c56a699-e9bd-437a-8412-901342082749_SiteId">
    <vt:lpwstr>a00de4ec-48a8-43a6-be74-e31274e2060d</vt:lpwstr>
  </property>
  <property fmtid="{D5CDD505-2E9C-101B-9397-08002B2CF9AE}" pid="7" name="MSIP_Label_2c56a699-e9bd-437a-8412-901342082749_ActionId">
    <vt:lpwstr>f339527b-79ac-4f07-bfb4-b8bd05d32eb1</vt:lpwstr>
  </property>
  <property fmtid="{D5CDD505-2E9C-101B-9397-08002B2CF9AE}" pid="8" name="MSIP_Label_2c56a699-e9bd-437a-8412-901342082749_ContentBits">
    <vt:lpwstr>1</vt:lpwstr>
  </property>
  <property fmtid="{D5CDD505-2E9C-101B-9397-08002B2CF9AE}" pid="9" name="MSIP_Label_2c56a699-e9bd-437a-8412-901342082749_Tag">
    <vt:lpwstr>10, 0, 1, 1</vt:lpwstr>
  </property>
  <property fmtid="{D5CDD505-2E9C-101B-9397-08002B2CF9AE}" pid="10" name="ClassificationContentMarkingHeaderLocations">
    <vt:lpwstr>Office Theme:3</vt:lpwstr>
  </property>
  <property fmtid="{D5CDD505-2E9C-101B-9397-08002B2CF9AE}" pid="11" name="ClassificationContentMarkingHeaderText">
    <vt:lpwstr>Confidential</vt:lpwstr>
  </property>
</Properties>
</file>