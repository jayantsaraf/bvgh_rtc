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presentation.xml" ContentType="application/vnd.openxmlformats-officedocument.presentationml.presentation.main+xml"/>
  <Override PartName="/ppt/slides/slide68.xml" ContentType="application/vnd.openxmlformats-officedocument.presentationml.slide+xml"/>
  <Override PartName="/ppt/notesSlides/notesSlide55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notesSlides/notesSlide56.xml" ContentType="application/vnd.openxmlformats-officedocument.presentationml.notesSlide+xml"/>
  <Override PartName="/ppt/notesSlides/notesSlide62.xml" ContentType="application/vnd.openxmlformats-officedocument.presentationml.notesSlide+xml"/>
  <Override PartName="/ppt/theme/theme2.xml" ContentType="application/vnd.openxmlformats-officedocument.them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6" r:id="rId40"/>
    <p:sldId id="297" r:id="rId41"/>
    <p:sldId id="298" r:id="rId42"/>
    <p:sldId id="299" r:id="rId43"/>
    <p:sldId id="300" r:id="rId44"/>
    <p:sldId id="301" r:id="rId45"/>
    <p:sldId id="302" r:id="rId46"/>
    <p:sldId id="303" r:id="rId47"/>
    <p:sldId id="304" r:id="rId48"/>
    <p:sldId id="305" r:id="rId49"/>
    <p:sldId id="306" r:id="rId50"/>
    <p:sldId id="307" r:id="rId51"/>
    <p:sldId id="308" r:id="rId52"/>
    <p:sldId id="309" r:id="rId53"/>
    <p:sldId id="310" r:id="rId54"/>
    <p:sldId id="311" r:id="rId55"/>
    <p:sldId id="312" r:id="rId56"/>
    <p:sldId id="313" r:id="rId57"/>
    <p:sldId id="326" r:id="rId58"/>
    <p:sldId id="327" r:id="rId59"/>
    <p:sldId id="315" r:id="rId60"/>
    <p:sldId id="328" r:id="rId61"/>
    <p:sldId id="316" r:id="rId62"/>
    <p:sldId id="324" r:id="rId63"/>
    <p:sldId id="317" r:id="rId64"/>
    <p:sldId id="318" r:id="rId65"/>
    <p:sldId id="319" r:id="rId66"/>
    <p:sldId id="320" r:id="rId67"/>
    <p:sldId id="321" r:id="rId68"/>
    <p:sldId id="322" r:id="rId6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003"/>
    <p:restoredTop sz="94610"/>
  </p:normalViewPr>
  <p:slideViewPr>
    <p:cSldViewPr snapToGrid="0" snapToObjects="1">
      <p:cViewPr>
        <p:scale>
          <a:sx n="98" d="100"/>
          <a:sy n="98" d="100"/>
        </p:scale>
        <p:origin x="496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customXml" Target="../customXml/item3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75" Type="http://schemas.openxmlformats.org/officeDocument/2006/relationships/customXml" Target="../customXml/item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customXml" Target="../customXml/item2.xml"/><Relationship Id="rId7" Type="http://schemas.openxmlformats.org/officeDocument/2006/relationships/slide" Target="slides/slide6.xml"/><Relationship Id="rId71" Type="http://schemas.openxmlformats.org/officeDocument/2006/relationships/presProps" Target="pres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50910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92DC5-9870-BFB9-17F0-F37FF25F2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71C23-1319-76F4-4055-440AA5403A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1BFD7C-D0F8-7A07-B192-44504EDA7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70BA8D-D891-8913-1619-C2E99DACF57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34259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737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AMASOMO Y'ABAJYANAMA B'UBUZIMA</a:t>
            </a:r>
            <a:endParaRPr lang="rw-RW" sz="14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1945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5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Kanseri ya prostate</a:t>
            </a:r>
            <a:endParaRPr lang="rw-RW" sz="5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7680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rw-RW" sz="20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Urugendo rwawe rwo kwiga: kuyimenya, </a:t>
            </a:r>
            <a:r>
              <a:rPr lang="rw-RW" sz="200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gutahura </a:t>
            </a:r>
            <a:r>
              <a:rPr lang="rw-RW" sz="20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byayo, kuyiganiraho, kohereza, no gufasha.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2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2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AMASOMO Y'ABAJYANAMA B'UBUZIMA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ushobora </a:t>
            </a: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ukora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26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</a:t>
            </a:r>
            <a:endParaRPr lang="rw-RW" sz="17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Vuga kanseri ya prostate icyo ari cyo mu magambo yoroheje.</a:t>
            </a:r>
            <a:endParaRPr lang="rw-RW" sz="1450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 ibimenyetso</a:t>
            </a:r>
            <a:endParaRPr lang="rw-RW" sz="17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ibimenyetso by'iyi ndwara n'uwaba afite ibyago byinshi kurusha </a:t>
            </a:r>
            <a:r>
              <a:rPr lang="rw-RW" sz="14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</a:t>
            </a: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ndi.</a:t>
            </a:r>
            <a:endParaRPr lang="rw-RW" sz="1450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Kuvuga</a:t>
            </a:r>
            <a:endParaRPr lang="rw-RW" sz="17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Jya uvugana ikinyabupfura kandi ukosore imyumvire itari yo.</a:t>
            </a:r>
            <a:endParaRPr lang="rw-RW" sz="1450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26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Kohereza</a:t>
            </a:r>
            <a:endParaRPr lang="rw-RW" sz="17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abantu kugera </a:t>
            </a:r>
            <a:r>
              <a:rPr lang="rw-RW" sz="14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 bitabwaho</a:t>
            </a: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kumenya ibimenyetso mpuruza.</a:t>
            </a:r>
            <a:endParaRPr lang="rw-RW" sz="1450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22" name="Text 20"/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26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</a:t>
            </a:r>
            <a:endParaRPr lang="rw-RW" sz="17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gukurikirana, guhumuriza no gukurikirana umuryango.</a:t>
            </a:r>
            <a:endParaRPr lang="rw-RW" sz="1450" noProof="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E7DC0590-5025-7D18-FEA3-B1196C33810E}"/>
              </a:ext>
            </a:extLst>
          </p:cNvPr>
          <p:cNvSpPr/>
          <p:nvPr/>
        </p:nvSpPr>
        <p:spPr>
          <a:xfrm>
            <a:off x="877824" y="1810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rw-RW" sz="2600" noProof="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29B5CF0B-F1A9-D2F5-93C3-83604DE89575}"/>
              </a:ext>
            </a:extLst>
          </p:cNvPr>
          <p:cNvSpPr/>
          <p:nvPr/>
        </p:nvSpPr>
        <p:spPr>
          <a:xfrm>
            <a:off x="4682642" y="1810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👁️</a:t>
            </a:r>
            <a:endParaRPr lang="rw-RW" sz="2600" noProof="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3357AF95-83A8-2961-1CC6-B2A4AED6BA0F}"/>
              </a:ext>
            </a:extLst>
          </p:cNvPr>
          <p:cNvSpPr/>
          <p:nvPr/>
        </p:nvSpPr>
        <p:spPr>
          <a:xfrm>
            <a:off x="8487461" y="1810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rw-RW" sz="26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A2FEAE61-523B-E01C-678A-709D12D667B4}"/>
              </a:ext>
            </a:extLst>
          </p:cNvPr>
          <p:cNvSpPr/>
          <p:nvPr/>
        </p:nvSpPr>
        <p:spPr>
          <a:xfrm>
            <a:off x="877824" y="414223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rw-RW" sz="2600" noProof="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798737C2-0F9C-84DE-7135-671C19C382D8}"/>
              </a:ext>
            </a:extLst>
          </p:cNvPr>
          <p:cNvSpPr/>
          <p:nvPr/>
        </p:nvSpPr>
        <p:spPr>
          <a:xfrm>
            <a:off x="4682642" y="414223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26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rw-RW" sz="260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AMASOMO Y'ABAJYANAMA B'UBUZIMA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i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biki bikubiyemo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Mbere y'igeragezwa</a:t>
            </a:r>
            <a:endParaRPr lang="rw-RW" sz="155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091095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Ibibazo makumyabiri bigufi byo kugenzura ubumenyi ufite mbere yo gutangira.</a:t>
            </a:r>
            <a:endParaRPr lang="rw-RW" sz="14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4554626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Icyiciro cya 1: Kanseri ya prostate ni iki?</a:t>
            </a:r>
            <a:endParaRPr lang="rw-RW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iki, aho iherereye n'uko ikunze kugaragara mu Rwanda?</a:t>
            </a:r>
            <a:endParaRPr lang="rw-RW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0020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359445" y="174650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2: Ibyo ugomba kwitabo</a:t>
            </a:r>
            <a:endParaRPr lang="rw-RW" sz="155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227685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Abafite ibyago byinshi, ibimenyetso </a:t>
            </a: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n’igihe ukwiye kugira icyo ukora</a:t>
            </a:r>
            <a:endParaRPr lang="rw-RW" sz="14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3163823"/>
            <a:ext cx="3484778" cy="1665351"/>
          </a:xfrm>
          <a:prstGeom prst="roundRect">
            <a:avLst>
              <a:gd name="adj" fmla="val 0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749808" y="3483864"/>
            <a:ext cx="3082442" cy="43777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3: Icyo gukora gikurikiraho</a:t>
            </a:r>
            <a:endParaRPr lang="rw-RW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3863340"/>
            <a:ext cx="3082442" cy="8549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endParaRPr lang="rw-RW" sz="1400" noProof="0" dirty="0">
              <a:solidFill>
                <a:srgbClr val="33475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 kohereza abantu, uko wabaganiriza, n'uko wabafasha.</a:t>
            </a:r>
            <a:endParaRPr lang="rw-RW" sz="1400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4554626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4: Uko kanseri imenyekana n'uko ivurwa</a:t>
            </a:r>
            <a:endParaRPr lang="rw-RW" sz="1550" noProof="0" dirty="0"/>
          </a:p>
        </p:txBody>
      </p:sp>
      <p:sp>
        <p:nvSpPr>
          <p:cNvPr id="19" name="Text 17"/>
          <p:cNvSpPr/>
          <p:nvPr/>
        </p:nvSpPr>
        <p:spPr>
          <a:xfrm>
            <a:off x="4554626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Kwitegereza 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uko abaganga bayemeza nuko kuyivura.</a:t>
            </a:r>
            <a:endParaRPr lang="rw-RW" sz="1400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3337560"/>
            <a:ext cx="3484778" cy="1417320"/>
          </a:xfrm>
          <a:prstGeom prst="roundRect">
            <a:avLst>
              <a:gd name="adj" fmla="val 451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21" name="Text 19"/>
          <p:cNvSpPr/>
          <p:nvPr/>
        </p:nvSpPr>
        <p:spPr>
          <a:xfrm>
            <a:off x="8359445" y="3483864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155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5: Ibyo wakwitega</a:t>
            </a:r>
            <a:endParaRPr lang="rw-RW" sz="1550" noProof="0" dirty="0"/>
          </a:p>
        </p:txBody>
      </p:sp>
      <p:sp>
        <p:nvSpPr>
          <p:cNvPr id="22" name="Text 20"/>
          <p:cNvSpPr/>
          <p:nvPr/>
        </p:nvSpPr>
        <p:spPr>
          <a:xfrm>
            <a:off x="8359445" y="4014216"/>
            <a:ext cx="3082442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Ingaruka zisanzwe, ibimenyetso </a:t>
            </a: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n'ihumure.</a:t>
            </a:r>
            <a:endParaRPr lang="rw-RW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686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48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Mbere y'igeragezwa</a:t>
            </a:r>
            <a:endParaRPr lang="rw-RW" sz="48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Prostate iboneka mu: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Abagore gusa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gusa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n'abagore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Ntan'umwe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2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Kanseri ya prostate itangira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igihe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Uturemangingo two muri prostate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twakuze mu buryo budasanzwe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Umuntu anywa amazi menshi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Umuntu ugenda cyane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Ikirere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gik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onje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3.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Hakiri kare 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ikunze gutera ibi bikurikira: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bimenyetso na gato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Ububabare bukabije 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buziye rimwe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Umuriro wa buri munsi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Gutakaza umusatsi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4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Ibibazo byo kwihagarika, nko kugira inkari zisohoka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muvuduko muto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bisobanura kanseri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Ishobora kuba ifite impamvu nyinshi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zibitera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kandi ikeneye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gusuzumwa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Ntibakeneye kwisuzumisha na rimwe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Bibaho gusa mu bagabo bakuze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Kanseri ya prostate ikunze kugaragara cyane mu: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Abahungu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bakuze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Abakobwa bakiri bato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Abana bakivuka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6. Umugabo umaze ibyumweru ufite ikibazo cyo kwihagarika. Ugomba ku:</a:t>
            </a:r>
            <a:endParaRPr lang="rw-RW" sz="1800" noProof="0" dirty="0">
              <a:solidFill>
                <a:srgbClr val="1A2733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Mubwira gutegereza no kureba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Mushishikarize kujya kwisuzumisha ku ivuriro rito (health post) cyangwa ku kigo nderabuzima.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Muhe imiti ku giti cyawe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Mubwire ko ntakibazo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(4/10)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7. Ikizamini cy'amaraso gikoreshwa mu gusuzuma prostate: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Cyemeza ko umuntu arwaye kanseri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shobora kwerekana ko hakenewe irindi suzuma, ariko ntigihobora kwemeza kanseri cyonyine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vura kanseri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Ntigikoreshwa na rimwe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8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Mu Rwanda, kanseri ya prostate: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Ntibaho.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kanseri ikunze kwibasira abagabo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Igaragara hanze y'u Rwanda gusa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Igaragara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 bagore gusa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(5/10)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9. Umugabo aravuga ati: "Ndumva meze neza, rero sinkeneye kwisuzumisha." Igisubizo cyiza: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"Uvuze ukuri, guma mu rugo."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"Kanseri ya prostate hakiri kare akenshi nta bimenyetso igira, niyo mpamvu kwisuzumisha bishobora kuba ngombwa n'iyo nta bimenyetso ufite."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"Ugomba kuba urwaye."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Ntugire icyo uvuga.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10. Niba umugabo afite ubwoba bwo kujya kwisuzumisha, ugomba 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Kumuhatiriza kugenda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Mutege amatwi, usubize ibibazo kandi umushishikarize mu buryo bwuje ineza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Guseka ubwoba bwe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Kumwirengagiza</a:t>
            </a:r>
            <a:endParaRPr lang="rw-RW" sz="160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(6/10)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11. Intege nke zidasanzwe mu kaguru cyangwa kutabasha kugenzura inkari cyangwa</a:t>
            </a:r>
          </a:p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umusarane ni: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Bisanzwe kandi bishobora gutegereza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Ikimenyetso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gikeneye kwitabwaho byihuse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Ikimenyetso cy'ubuzima bwiza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Umunaniro gusa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12. Kanseri ya prostate ishobora gukwirakwira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aha hakurikira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Amagufwa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Umusatsi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Amenyo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Inzara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(7/10)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13. Nyuma yo koherezwa, ubufasha bwawe bukubiyemo: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Kubwira umuntu kubyibagirwa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Gushishikariza umuntu kwitabira no gukurikiza amabwiriza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 ibizamini ubwawe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kintu na kimwe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14. Ni iyihe mvugo y'ukuri?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zose za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prostate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zimwe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za prostate zishobora kwitwara mu buryo butandukanye ku bagabo batandukanye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kanseri ya prostate ikeneye kubagwa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ako kanya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ntishobora kuvurwa</a:t>
            </a:r>
            <a:endParaRPr lang="rw-RW" sz="16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(8/10)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15. Kanseri yemezwa na: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Gupima amaraso gusa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byonyine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Gufata agace gato k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’a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kanyama (biopsy) kugira ngo gasuzumwe.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Gukeka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16. "Niba ari kanseri, nta kintu gishobora gukorwa." Ibi ni:</a:t>
            </a:r>
            <a:endParaRPr lang="rw-RW" sz="1800" noProof="0" dirty="0">
              <a:solidFill>
                <a:srgbClr val="1A2733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Imyizerere itari yo; hari uburyo bwo kwita no kuvura abantu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ni ukuri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Ikintu cyiza cyo kubwira abantu</a:t>
            </a:r>
            <a:endParaRPr lang="rw-RW" sz="160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(9/10)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17.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Umukozi w’ubuzima wo ku rwego rw’Umudugudu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agomba: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Fata icyemezo cy’ubuvuzi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 ibisubizo by'ibizamini</a:t>
            </a:r>
            <a:endParaRPr lang="rw-RW" sz="160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Ubukangurambaga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kubafasha, no kubashishikariza kugera aho boherejwe, no gukomeza gukurikirwana.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Gufata akanyama gato ko gupimwa(biopsy)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26332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18.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Ibikorwa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byiza byo guhumuriza umugabo urwaye kanseri ni: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Kumugaya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utega amatwi, kumufasha kubahiriza gahunda zo kwa muganga,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kugabanya ipfunwe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wira abandi amakuru ye bwite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Kumubwira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kureka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kwivuza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IGENZURA RYIBANZE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(10/10)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6479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19. Umugabo uri ku miti akagira ububabare budasanzwe bw'umugongo hamwe n’intege nke mu maguru. Ugomba:</a:t>
            </a:r>
            <a:endParaRPr lang="rw-RW" sz="1800" noProof="0" dirty="0">
              <a:solidFill>
                <a:srgbClr val="1A2733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ubwira akaruhuka ukwezi kumwe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33008" y="238658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Kumufasha kubona ubuvuzi byihutirwa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822960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Kumuha ibyo kunywa byinshi gusa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95351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</a:t>
            </a:r>
            <a:r>
              <a:rPr lang="rw-RW" sz="1600" b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egereza ukareba</a:t>
            </a:r>
            <a:endParaRPr lang="rw-RW" sz="16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4096512"/>
            <a:ext cx="10545775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20. Kuganira ku bibazo byo kwihagarika cyangwa ku buzima bw'imibonano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mpuzabitsina bigomba gukorwa mu bwubahane no mu ibanga:</a:t>
            </a:r>
            <a:endParaRPr lang="rw-RW" sz="18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bwubahane n'ubuzima bwite</a:t>
            </a:r>
            <a:endParaRPr lang="rw-RW" sz="16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8" y="4718304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Imbere ya buri wese</a:t>
            </a:r>
            <a:endParaRPr lang="rw-RW" sz="160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Hamwe no gutebya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233008" y="5285232"/>
            <a:ext cx="5135728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60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rimwe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Kanseri ya prostate ni iki?</a:t>
            </a:r>
            <a:endParaRPr lang="rw-RW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Intangiriro yoroshye: icyo prostate ari cyo, icyo kanseri ya prostate ari cyo, n'uko</a:t>
            </a:r>
          </a:p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ikunze kugaragara mu Rwanda.</a:t>
            </a:r>
            <a:endParaRPr lang="rw-RW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uzashobora </a:t>
            </a: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</a:t>
            </a:r>
            <a:endParaRPr lang="rw-RW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Vuga prostate icyo ari cyo n'aho iherereye.</a:t>
            </a:r>
            <a:endParaRPr lang="rw-RW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</a:t>
            </a:r>
            <a:endParaRPr lang="rw-RW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 mu magambo yoroheje icyo kanseri ya prostate ari cyo.</a:t>
            </a:r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Ibuka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Wibuke ko kanseri ya prostate ikiri mu ntangiriro akenshi nta bimenyetso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igaragaza.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cs typeface="Calibri" pitchFamily="34" charset="-120"/>
              </a:rPr>
              <a:t>Kumenya</a:t>
            </a:r>
            <a:endParaRPr lang="rw-RW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ko kanseri ya prostate ikunze kugaragara mu bagabo mu Rwanda.</a:t>
            </a:r>
            <a:endParaRPr lang="rw-RW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Gusangiza</a:t>
            </a:r>
            <a:endParaRPr lang="rw-RW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Sangiza abaturage ubutumwa busobanutse kandi butuje.</a:t>
            </a:r>
            <a:endParaRPr lang="rw-RW" noProof="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A0DEAF13-381B-829C-75EC-8DBBBB193441}"/>
              </a:ext>
            </a:extLst>
          </p:cNvPr>
          <p:cNvSpPr/>
          <p:nvPr/>
        </p:nvSpPr>
        <p:spPr>
          <a:xfrm>
            <a:off x="779310" y="1804531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rw-RW" sz="3200" noProof="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872F6172-31B0-A9C2-C61C-853EC673061E}"/>
              </a:ext>
            </a:extLst>
          </p:cNvPr>
          <p:cNvSpPr/>
          <p:nvPr/>
        </p:nvSpPr>
        <p:spPr>
          <a:xfrm>
            <a:off x="4584128" y="1804531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rw-RW" sz="3200" noProof="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19804F41-262E-0A69-9CA1-EB577FB3123D}"/>
              </a:ext>
            </a:extLst>
          </p:cNvPr>
          <p:cNvSpPr/>
          <p:nvPr/>
        </p:nvSpPr>
        <p:spPr>
          <a:xfrm>
            <a:off x="8388947" y="1804531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rw-RW" sz="32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58A6FF8A-0CE9-EDBF-5293-B3B4AB59F637}"/>
              </a:ext>
            </a:extLst>
          </p:cNvPr>
          <p:cNvSpPr/>
          <p:nvPr/>
        </p:nvSpPr>
        <p:spPr>
          <a:xfrm>
            <a:off x="779310" y="4136251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</a:t>
            </a:r>
            <a:endParaRPr lang="rw-RW" sz="3200" noProof="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11532C17-A7C9-12A4-078C-F0B2E5EB5793}"/>
              </a:ext>
            </a:extLst>
          </p:cNvPr>
          <p:cNvSpPr/>
          <p:nvPr/>
        </p:nvSpPr>
        <p:spPr>
          <a:xfrm>
            <a:off x="4584128" y="4136251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</a:t>
            </a:r>
            <a:endParaRPr lang="rw-RW" sz="320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Prostate icyo aricyo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6" name="Shape 3"/>
          <p:cNvSpPr/>
          <p:nvPr/>
        </p:nvSpPr>
        <p:spPr>
          <a:xfrm>
            <a:off x="548640" y="169164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Text 4"/>
          <p:cNvSpPr/>
          <p:nvPr/>
        </p:nvSpPr>
        <p:spPr>
          <a:xfrm>
            <a:off x="768096" y="181965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Urugingo ruto</a:t>
            </a:r>
            <a:endParaRPr lang="rw-RW" sz="1700" noProof="0" dirty="0">
              <a:solidFill>
                <a:srgbClr val="0B3D66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768096" y="219456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ni urugingo ruto ruboneka ku bagabo gusa.</a:t>
            </a:r>
            <a:endParaRPr lang="rw-RW" sz="1550" noProof="0" dirty="0"/>
          </a:p>
        </p:txBody>
      </p:sp>
      <p:sp>
        <p:nvSpPr>
          <p:cNvPr id="9" name="Shape 6"/>
          <p:cNvSpPr/>
          <p:nvPr/>
        </p:nvSpPr>
        <p:spPr>
          <a:xfrm>
            <a:off x="548640" y="297180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0" name="Text 7"/>
          <p:cNvSpPr/>
          <p:nvPr/>
        </p:nvSpPr>
        <p:spPr>
          <a:xfrm>
            <a:off x="768096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 iherereye</a:t>
            </a:r>
            <a:endParaRPr lang="rw-RW" sz="1700" noProof="0" dirty="0"/>
          </a:p>
        </p:txBody>
      </p:sp>
      <p:sp>
        <p:nvSpPr>
          <p:cNvPr id="11" name="Text 8"/>
          <p:cNvSpPr/>
          <p:nvPr/>
        </p:nvSpPr>
        <p:spPr>
          <a:xfrm>
            <a:off x="768096" y="347472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Iherereye mu gice cyo hasi cy'umubiri, munsi y'uruhago rw'inkari, ikikije umuyoboro w'inkari.</a:t>
            </a:r>
            <a:endParaRPr lang="rw-RW" sz="1550" noProof="0" dirty="0"/>
          </a:p>
        </p:txBody>
      </p:sp>
      <p:sp>
        <p:nvSpPr>
          <p:cNvPr id="12" name="Shape 9"/>
          <p:cNvSpPr/>
          <p:nvPr/>
        </p:nvSpPr>
        <p:spPr>
          <a:xfrm>
            <a:off x="548640" y="4251960"/>
            <a:ext cx="5486400" cy="1097280"/>
          </a:xfrm>
          <a:prstGeom prst="roundRect">
            <a:avLst>
              <a:gd name="adj" fmla="val 5833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3" name="Text 10"/>
          <p:cNvSpPr/>
          <p:nvPr/>
        </p:nvSpPr>
        <p:spPr>
          <a:xfrm>
            <a:off x="768096" y="437997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700" b="1" dirty="0">
                <a:solidFill>
                  <a:srgbClr val="0B3D66"/>
                </a:solidFill>
                <a:latin typeface="Calibri" pitchFamily="34" charset="0"/>
                <a:cs typeface="Calibri" pitchFamily="34" charset="-120"/>
              </a:rPr>
              <a:t>Umumaro wayo</a:t>
            </a:r>
            <a:endParaRPr lang="rw-RW" sz="1700" noProof="0" dirty="0"/>
          </a:p>
        </p:txBody>
      </p:sp>
      <p:sp>
        <p:nvSpPr>
          <p:cNvPr id="14" name="Text 11"/>
          <p:cNvSpPr/>
          <p:nvPr/>
        </p:nvSpPr>
        <p:spPr>
          <a:xfrm>
            <a:off x="768096" y="4754880"/>
            <a:ext cx="5029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Ifasha gukora igice cy’amatembabuzi</a:t>
            </a:r>
            <a:r>
              <a:rPr lang="rw-RW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yiv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anga n'intanga ngabo ari byo bigize amasohoro.</a:t>
            </a:r>
            <a:endParaRPr lang="rw-RW" sz="1550" noProof="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617CC80F-BE2A-DCBC-00CB-9492A48B9C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496" y="1633220"/>
            <a:ext cx="5486093" cy="37892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Kanseri ya prostate ni iki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Gukura bidasanzwe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itangira iyo uturemangingo tumwe na tumwe two muri prostate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twakuze mu buryo budasanzwe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Ntabwo zose ari kimwe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zimwe za prostate zikura buhoro kandi zishobora kutagira ingaruka zikomeye ku buzima. Izindi zikura vuba kandi zishobora gukwirakwira mu mubiri wose, zikawangiza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Akenshi nta bimenyetso igaragaza hakiri kare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Umugabo ashobora kurwara kanseri ya prostate hakiri kare kandi yumva ameze neza.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16052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3068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Impamvu ari </a:t>
            </a: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ingenzi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94690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Kuyibona hakiri kare itanga amahitamo menshi yo kwitabwaho.</a:t>
            </a:r>
            <a:endParaRPr lang="rw-RW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Kanseri ya prostate mu Rwanda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685800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4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rw-RW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ikunze kwibasira abagabo mu Rwanda (2024)</a:t>
            </a:r>
            <a:endParaRPr lang="rw-RW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4490618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 1,856</a:t>
            </a:r>
            <a:endParaRPr lang="rw-RW" sz="4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rw-RW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bashya barwaye kanseri ya prostate mu mwaka umwe (2024)</a:t>
            </a:r>
            <a:endParaRPr lang="rw-RW" sz="2000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737360"/>
            <a:ext cx="3484778" cy="2849880"/>
          </a:xfrm>
          <a:prstGeom prst="roundRect">
            <a:avLst>
              <a:gd name="adj" fmla="val 4211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95437" y="2292648"/>
            <a:ext cx="321045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4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 1,179</a:t>
            </a:r>
            <a:endParaRPr lang="rw-RW" sz="4400" noProof="0" dirty="0"/>
          </a:p>
        </p:txBody>
      </p:sp>
      <p:sp>
        <p:nvSpPr>
          <p:cNvPr id="13" name="Text 11"/>
          <p:cNvSpPr/>
          <p:nvPr/>
        </p:nvSpPr>
        <p:spPr>
          <a:xfrm>
            <a:off x="8359445" y="3231983"/>
            <a:ext cx="308244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rw-RW" sz="20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Impfu z'abagabo mu mwaka umwe (2024)</a:t>
            </a:r>
            <a:endParaRPr lang="rw-RW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4953000"/>
            <a:ext cx="11094415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9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Iyi mibare ni ikigereranyo. Abagabo bashobora kurwara no guhitanwa na Kanseri ya Prostate, bityo kumenya, gusuzumwa, no gukurikiranwa ni ngombwa. Biteganyijwe ko iyi mibare izakomeza kwiyongera mu myaka iri imbere.</a:t>
            </a:r>
            <a:endParaRPr lang="rw-RW" sz="1900" noProof="0" dirty="0"/>
          </a:p>
        </p:txBody>
      </p:sp>
      <p:sp>
        <p:nvSpPr>
          <p:cNvPr id="15" name="Text 13"/>
          <p:cNvSpPr/>
          <p:nvPr/>
        </p:nvSpPr>
        <p:spPr>
          <a:xfrm>
            <a:off x="548640" y="6108192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05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Inkomoko: GLOBOCAN 2024 (IARC), Cancer Today, ibigereranyo bya 2024. Imibare ni ibigereranyo. Iyongera ry'ejo hazaza ni iteganyagihe.</a:t>
            </a:r>
            <a:endParaRPr lang="rw-RW" sz="105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Genzura uko usobanukiwe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536192"/>
            <a:ext cx="69494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Umugabo wo mu mudugudu wawe avuga ko yumva ameze neza, bityo adashobora kurwara kanseri ya prostate. ari </a:t>
            </a:r>
            <a:r>
              <a:rPr lang="rw-RW" sz="19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</a:t>
            </a:r>
            <a:r>
              <a:rPr lang="rw-RW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kuri?</a:t>
            </a:r>
            <a:endParaRPr lang="rw-RW" sz="19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749808" y="2560320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Yego, kumva ameze neza bivuze ko nta kanseri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afite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548640" y="3447288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49808" y="3493008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Oya, kanseri ya prostate iyo ifashe hakiri kare akenshi nta bimenyetso igaragaza ✓</a:t>
            </a:r>
            <a:endParaRPr lang="rw-RW" noProof="0" dirty="0">
              <a:solidFill>
                <a:srgbClr val="1E7D46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4379976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49808" y="4425696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98000"/>
              </a:lnSpc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</a:t>
            </a:r>
            <a:r>
              <a:rPr lang="rw-RW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bakiri bato ni bo bonyine bashobora kuyirwara</a:t>
            </a:r>
            <a:endParaRPr lang="rw-RW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5312664"/>
            <a:ext cx="6949440" cy="749808"/>
          </a:xfrm>
          <a:prstGeom prst="roundRect">
            <a:avLst>
              <a:gd name="adj" fmla="val 7317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49808" y="5358384"/>
            <a:ext cx="6547104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Ntishobora na rimwe gusuzumwa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7863840" y="2514600"/>
            <a:ext cx="3779215" cy="3383280"/>
          </a:xfrm>
          <a:prstGeom prst="roundRect">
            <a:avLst>
              <a:gd name="adj" fmla="val 162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8092440" y="2697480"/>
            <a:ext cx="332201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cyiza: B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092440" y="3154680"/>
            <a:ext cx="3322015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ikunze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kutamenyekana iyo hakiri kare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Umugabo ashobora kumva ameze neza kandi agakomeza kuyirwara. Niyo mpamvu kwisuzumisha bishobora kumufasha, kabone n'iyo yaba yumva ameze neza.</a:t>
            </a:r>
            <a:endParaRPr lang="rw-RW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Prostate iboneka mu: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Abagore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779776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Abagabo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6233007" y="2325116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n'abagore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Ntan'umwe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C.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Prostate ni urugingo ruto ruboneka ku bagabo gusa.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Kanseri ya prostate hakiri kare muri rusange: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Biteza ububabare bukomeye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Akenshi nta bimenyetso igaragaza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Gutera umuriro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Gutera gutakaza umusatsi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ikiri mu ntangiriro akenshi nta bimenyetso igaragaza.</a:t>
            </a:r>
            <a:endParaRPr lang="rw-RW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Kanseri ya prostate mu Rwanda ni: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233007" y="234086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gake cyane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38201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Kanseri ikunze kugaragara cyane mu bagabo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bagore gusa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ukuri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ukuri: A.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kanseri ya mbere yibasira abagabo mu Rwanda.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Kanseri ya prostate: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Zose ni kimwe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Ishobora gukura buhoro cyangwa </a:t>
            </a: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byihuse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 bagabo batandukanye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zik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ura vuba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Ntijya ikura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Zitwara mu buryo butandukanye n'ubw'umuntu ku wundi.</a:t>
            </a:r>
            <a:endParaRPr lang="rw-RW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Prostate yicaye: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 mutwe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6233007" y="2825496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Munsi y'uruhago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kuboko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4048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kirenge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D.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Iherereye munsi y'uruhago rw'inkari, ikikije umuyoboro w'inkari.</a:t>
            </a:r>
            <a:endParaRPr lang="rw-RW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1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Gutekereza ku isomo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Andika igisubizo cyawe mu kazu k'inyandiko. Nta gisubizo cy’ukuri gihari cyonyine. Ibi bibazo ni ibyo kwitorezaho no kuganiraho.</a:t>
            </a:r>
            <a:endParaRPr lang="rw-RW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magambo yawe,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gute wasobanurira umuturanyi wawe icyo prostate ari cyo?</a:t>
            </a:r>
            <a:endParaRPr lang="rw-RW" sz="1800" noProof="0" dirty="0">
              <a:solidFill>
                <a:srgbClr val="33475B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ikihe kintu cy’ukuri kuri kanseri ya prostate mu Rwanda wifuza cyane ko abantu bamenya?</a:t>
            </a:r>
            <a:endParaRPr lang="rw-RW" sz="1800" noProof="0" dirty="0">
              <a:solidFill>
                <a:srgbClr val="33475B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wasubiza umuntu uvuze ati "ndumva meze neza,ubwo rero sinshobora kurwara kanseri"?</a:t>
            </a:r>
            <a:endParaRPr lang="rw-RW" sz="1800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ugomba kurebaho</a:t>
            </a:r>
            <a:endParaRPr lang="rw-RW" sz="4000" noProof="0" dirty="0">
              <a:solidFill>
                <a:srgbClr val="FFFFFF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Hura na Faustin, w’imyaka 67. Menya ufite ibyago byinshi, ibyo ugomba kwitondera, n'igihe cyo kugira icyo ukora</a:t>
            </a:r>
            <a:r>
              <a:rPr lang="rw-RW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800" noProof="0" dirty="0">
              <a:solidFill>
                <a:srgbClr val="CFE0EF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ushobora gukora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</a:t>
            </a:r>
            <a:endParaRPr lang="rw-RW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uwaba afite ibyago byinshi byo kurwara kanseri ya prostate.</a:t>
            </a:r>
            <a:endParaRPr lang="rw-RW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 ibimenyetso</a:t>
            </a:r>
            <a:endParaRPr lang="rw-RW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546604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ibimenyetso bisaba ko umuntu ajya kwisuzumisha.</a:t>
            </a:r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Ibuka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Wibuke ko kanseri ya prostate ikiri mu ntangiriro akenshi nta bimenyetso igaragaza.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cs typeface="Calibri" pitchFamily="34" charset="-120"/>
              </a:rPr>
              <a:t>Gukora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igihe cyo gushishikariza umuntu kujya kwisuzumisha.</a:t>
            </a:r>
            <a:endParaRPr lang="rw-RW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Kuburira</a:t>
            </a:r>
            <a:endParaRPr lang="rw-RW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ibimenyetso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 byihutirwa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noProof="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16B1E46-AA24-0111-4421-A8349DAF59BD}"/>
              </a:ext>
            </a:extLst>
          </p:cNvPr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👥</a:t>
            </a:r>
            <a:endParaRPr lang="rw-RW" sz="3200" noProof="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E759C1D9-EA04-9230-8E8F-8D6D201BD569}"/>
              </a:ext>
            </a:extLst>
          </p:cNvPr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🔎</a:t>
            </a:r>
            <a:endParaRPr lang="rw-RW" sz="3200" noProof="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1F7F0CB8-E07A-A86D-4C21-EE1169D92FEE}"/>
              </a:ext>
            </a:extLst>
          </p:cNvPr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rw-RW" sz="32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84E594EC-0980-0F30-1C50-A6C29457E65E}"/>
              </a:ext>
            </a:extLst>
          </p:cNvPr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rw-RW" sz="3200" noProof="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43645611-3736-72C2-3E97-A4D12EB3C000}"/>
              </a:ext>
            </a:extLst>
          </p:cNvPr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rw-RW" sz="3200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Urugero rwo mu baturage: Faustin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nde ufite ibyago byinshi byo kurwara iyi ndwara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4507992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cs typeface="Calibri" pitchFamily="34" charset="-120"/>
              </a:rPr>
              <a:t>Abakuze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Ibyago byo kurwara kanseri ya prostate byiyongera uko umugabo agenda asaza.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4507992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Umuryango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Kugira se cyangwa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musaza we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warwaye kanseri ya prostate byongera ibyago byo kuyirwara.</a:t>
            </a:r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4507992"/>
          </a:xfrm>
          <a:prstGeom prst="roundRect">
            <a:avLst>
              <a:gd name="adj" fmla="val 1837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Imibereho y'umuryango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267919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bakomoka muri Afurika bafite ibyago byinshi byo kurwara kanseri ya prostate.</a:t>
            </a:r>
            <a:endParaRPr lang="rw-RW" noProof="0" dirty="0"/>
          </a:p>
        </p:txBody>
      </p:sp>
      <p:pic>
        <p:nvPicPr>
          <p:cNvPr id="18" name="Imagen 17">
            <a:extLst>
              <a:ext uri="{FF2B5EF4-FFF2-40B4-BE49-F238E27FC236}">
                <a16:creationId xmlns:a16="http://schemas.microsoft.com/office/drawing/2014/main" id="{330326F2-CEA6-4E2B-F286-10F636AF5E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595837" y="3911903"/>
            <a:ext cx="1390383" cy="1737360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91CBE953-7B6C-B7C5-3E10-270067E2C1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048003" y="4091964"/>
            <a:ext cx="1945929" cy="1557299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6A0949BF-EEC8-EC41-F5EE-B4C4A274DDC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8951086" y="4048074"/>
            <a:ext cx="1645077" cy="16450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ugomba kwitondera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 lnSpcReduction="10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Akenshi nta bimenyetso biboneka hakiri kare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1880616"/>
            <a:ext cx="2441083" cy="621792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Abagabo benshi mu </a:t>
            </a: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ntangiriro 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bumva bameze neza.</a:t>
            </a:r>
            <a:endParaRPr lang="rw-RW" sz="1400" noProof="0" dirty="0">
              <a:solidFill>
                <a:srgbClr val="33475B"/>
              </a:solidFill>
            </a:endParaRPr>
          </a:p>
        </p:txBody>
      </p:sp>
      <p:sp>
        <p:nvSpPr>
          <p:cNvPr id="8" name="Shape 6"/>
          <p:cNvSpPr/>
          <p:nvPr/>
        </p:nvSpPr>
        <p:spPr>
          <a:xfrm>
            <a:off x="6255868" y="1386840"/>
            <a:ext cx="5387188" cy="1837944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05712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 lnSpcReduction="10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Impinduka z'inkari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1880616"/>
            <a:ext cx="2985668" cy="621792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Inkari zisohokana umuvuduko mucye, kunanirwa gutangira inkari, kujya kwihagarika kenshi, cyangwa kubyuka n’ijoro. Ibi nabyo bishobora guterwa n'izindi mpamvu.</a:t>
            </a:r>
            <a:endParaRPr lang="rw-RW" sz="14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 lnSpcReduction="10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Amaraso mu nkari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3913632"/>
            <a:ext cx="4948276" cy="62179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5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 bisaba kujya kwisuzumisha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400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419856"/>
            <a:ext cx="5387188" cy="1749552"/>
          </a:xfrm>
          <a:prstGeom prst="roundRect">
            <a:avLst>
              <a:gd name="adj" fmla="val 546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538728"/>
            <a:ext cx="4948276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 lnSpcReduction="10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Ububabare bw'amagufa cyangwa umugongo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913632"/>
            <a:ext cx="2522372" cy="621792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 bishobora kubaho mu gihe iyi ndwara imaze </a:t>
            </a: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kugera kure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400" noProof="0" dirty="0">
              <a:solidFill>
                <a:srgbClr val="33475B"/>
              </a:solidFill>
            </a:endParaRPr>
          </a:p>
        </p:txBody>
      </p:sp>
      <p:sp>
        <p:nvSpPr>
          <p:cNvPr id="17" name="Shape 15"/>
          <p:cNvSpPr/>
          <p:nvPr/>
        </p:nvSpPr>
        <p:spPr>
          <a:xfrm>
            <a:off x="548640" y="5340096"/>
            <a:ext cx="11094415" cy="822960"/>
          </a:xfrm>
          <a:prstGeom prst="roundRect">
            <a:avLst>
              <a:gd name="adj" fmla="val 6667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413248"/>
            <a:ext cx="10637215" cy="676656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Icy'ingenzi:  </a:t>
            </a:r>
            <a:r>
              <a:rPr lang="rw-RW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Ibibazo byo kwihagarika ntibyemeza ko umuntu arwaye kanseri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Bivuze ko hakenewe kwisuzumisha cyane. Ibyago byo kurwara iyi ndwara biriyongera ariko ntibivuze ko umugabo arwaye kanseri.</a:t>
            </a:r>
            <a:endParaRPr lang="rw-RW" noProof="0" dirty="0"/>
          </a:p>
        </p:txBody>
      </p:sp>
      <p:pic>
        <p:nvPicPr>
          <p:cNvPr id="23" name="Imagen 22">
            <a:extLst>
              <a:ext uri="{FF2B5EF4-FFF2-40B4-BE49-F238E27FC236}">
                <a16:creationId xmlns:a16="http://schemas.microsoft.com/office/drawing/2014/main" id="{AE30649C-C4C4-98DF-0AC4-EB9CCFF8F38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897" b="34791"/>
          <a:stretch>
            <a:fillRect/>
          </a:stretch>
        </p:blipFill>
        <p:spPr>
          <a:xfrm>
            <a:off x="3428602" y="1647930"/>
            <a:ext cx="2196634" cy="1379404"/>
          </a:xfrm>
          <a:prstGeom prst="rect">
            <a:avLst/>
          </a:prstGeom>
        </p:spPr>
      </p:pic>
      <p:pic>
        <p:nvPicPr>
          <p:cNvPr id="25" name="Imagen 24">
            <a:extLst>
              <a:ext uri="{FF2B5EF4-FFF2-40B4-BE49-F238E27FC236}">
                <a16:creationId xmlns:a16="http://schemas.microsoft.com/office/drawing/2014/main" id="{0137965A-FBB8-88B7-9A2E-A72F3B44D70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5772"/>
          <a:stretch>
            <a:fillRect/>
          </a:stretch>
        </p:blipFill>
        <p:spPr>
          <a:xfrm>
            <a:off x="3896893" y="3443568"/>
            <a:ext cx="1159411" cy="1711036"/>
          </a:xfrm>
          <a:prstGeom prst="rect">
            <a:avLst/>
          </a:prstGeom>
        </p:spPr>
      </p:pic>
      <p:pic>
        <p:nvPicPr>
          <p:cNvPr id="26" name="Imagen 25">
            <a:extLst>
              <a:ext uri="{FF2B5EF4-FFF2-40B4-BE49-F238E27FC236}">
                <a16:creationId xmlns:a16="http://schemas.microsoft.com/office/drawing/2014/main" id="{2E061543-5BFB-522A-1D1A-7D7E5A6CF60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460991" y="3830654"/>
            <a:ext cx="1789793" cy="1432345"/>
          </a:xfrm>
          <a:prstGeom prst="rect">
            <a:avLst/>
          </a:prstGeom>
        </p:spPr>
      </p:pic>
      <p:pic>
        <p:nvPicPr>
          <p:cNvPr id="21" name="Imagen 20">
            <a:extLst>
              <a:ext uri="{FF2B5EF4-FFF2-40B4-BE49-F238E27FC236}">
                <a16:creationId xmlns:a16="http://schemas.microsoft.com/office/drawing/2014/main" id="{BB681737-9FCD-3351-096F-9F6225A27AA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9241569" y="1505712"/>
            <a:ext cx="2620910" cy="174955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Icyo wakora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Gushishikariza umuntu kwisuzumisha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Niba umugabo afite ibi bimenyetso, mushishikarize mu bugwaneza kujya ku kigo nderabuzima.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44780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59410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Ntutegereze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6475324" y="223418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Ntumubwire ngo ategereze arebe. Ntumuhe imiti ku giti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we.</a:t>
            </a:r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Guhangayika cyangwa gusaza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768096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Niyo nta bimenyetso afite, umugabo uhangayitse cyangwa ukuze ashobora kujya ku kigo nderabuzima gusaba inama.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916680"/>
            <a:ext cx="5387188" cy="2148840"/>
          </a:xfrm>
          <a:prstGeom prst="roundRect">
            <a:avLst>
              <a:gd name="adj" fmla="val 2979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406298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Kurikirana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703064"/>
            <a:ext cx="4948276" cy="1216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Mufashe kugera ku kigo nderabuzima no kugaruka gufata ibisubizo bye.</a:t>
            </a:r>
            <a:endParaRPr lang="rw-RW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Bikoreshe kuri Faustin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w-RW" sz="2000" b="1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Urugero: </a:t>
            </a:r>
            <a:r>
              <a:rPr lang="rw-RW" sz="20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</a:t>
            </a:r>
            <a:r>
              <a:rPr lang="rw-RW" sz="20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akubwiye ku kibazo cyo </a:t>
            </a:r>
            <a:r>
              <a:rPr lang="rw-RW" sz="20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kwihagarika, ariko akavuga ko yumva ameze neza kandi ko ari ubusaza gusa.</a:t>
            </a:r>
            <a:endParaRPr lang="rw-RW" sz="2000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ikihe kintu cyiza cyo gukora?</a:t>
            </a:r>
            <a:endParaRPr lang="rw-RW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972312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rw-RW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Emeranya nawe ko ari ubusaza gusa kandi ntugire icyo ukora</a:t>
            </a:r>
            <a:endParaRPr lang="rw-RW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6255868" y="2852928"/>
            <a:ext cx="5387188" cy="1109472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310286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Mutege amatwi, umusobanurire ko kwi</a:t>
            </a: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suzu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misha bifasha niyo yaba yumva ameze neza, umushishikarize kujya ku kigo nderabuzima ✓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rw-RW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uhe imiti ku giti cyawe 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2184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2732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98000"/>
              </a:lnSpc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Bwira abandi bantu bo mu mudugudu ibibazo bye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B. 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Mushishikarize kwisuzumisha mu bugwaneza kandi umugirire ibanga ku makuru ye. Impinduka mu nkari bishobora guterwa n'impamvu nyinshi kandi zisaba gusuzumwa.</a:t>
            </a:r>
            <a:endParaRPr lang="rw-RW" sz="14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Ni nde ufite ibyago byinshi byo kurwara kanseri ya prostate?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Abahungu bakiri bato</a:t>
            </a:r>
            <a:endParaRPr lang="rw-RW" sz="1550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Abagabo bakuze ✓</a:t>
            </a:r>
            <a:endParaRPr lang="rw-RW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Abakobwa bakiri bato</a:t>
            </a:r>
            <a:endParaRPr lang="rw-RW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Abana</a:t>
            </a:r>
            <a:endParaRPr lang="rw-RW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sz="14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Ibyago byo kurwara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byiyongera uko Umugabo agenda akura.</a:t>
            </a:r>
            <a:endParaRPr lang="rw-RW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Ibibazo by'inkari nko gusohoka ku muvuduko mucye:</a:t>
            </a:r>
            <a:endParaRPr lang="rw-RW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bisobanura kanseri</a:t>
            </a:r>
            <a:endParaRPr lang="rw-RW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7" y="498246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Bishobora kuba biterwa n'impamvu nyinshi kandi bikeneye kwisuzumisha</a:t>
            </a:r>
            <a:endParaRPr lang="rw-RW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Ntibakeneye kwisuzumisha</a:t>
            </a:r>
            <a:endParaRPr lang="rw-RW" sz="1550" noProof="0" dirty="0">
              <a:solidFill>
                <a:srgbClr val="33475B"/>
              </a:solidFill>
            </a:endParaRPr>
          </a:p>
        </p:txBody>
      </p:sp>
      <p:sp>
        <p:nvSpPr>
          <p:cNvPr id="17" name="Text 15"/>
          <p:cNvSpPr/>
          <p:nvPr/>
        </p:nvSpPr>
        <p:spPr>
          <a:xfrm>
            <a:off x="6233008" y="45435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Bibaho gusa mu basore</a:t>
            </a:r>
            <a:endParaRPr lang="rw-RW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D. 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 bibazo bikunze kubaho kandi bisaba kwisuzumisha; ntibyemeza ko ari kanseri.</a:t>
            </a:r>
            <a:endParaRPr lang="rw-RW" sz="1450" noProof="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Kanseri ya prostate hakiri kare: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</a:t>
            </a:r>
            <a:r>
              <a:rPr lang="rw-RW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irababaza</a:t>
            </a:r>
            <a:endParaRPr lang="rw-RW" sz="1550" noProof="0" dirty="0">
              <a:solidFill>
                <a:srgbClr val="33475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33008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Akenshi nta bimenyetso igaragaza ✓</a:t>
            </a:r>
            <a:endParaRPr lang="rw-RW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itera umuriro</a:t>
            </a:r>
            <a:endParaRPr lang="rw-RW" sz="1550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Ntishobora kuboneka</a:t>
            </a:r>
            <a:endParaRPr lang="rw-RW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Indwara hakiri kare akenshi iba ricecetse.</a:t>
            </a:r>
            <a:endParaRPr lang="rw-RW" sz="1450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Umugabo afite intege nke mu kaguru bidasanzwe kandi ntashobora kugenzura inkari ze. Ibi ni:</a:t>
            </a:r>
            <a:endParaRPr lang="rw-RW" sz="1800" noProof="0" dirty="0"/>
          </a:p>
        </p:txBody>
      </p:sp>
      <p:sp>
        <p:nvSpPr>
          <p:cNvPr id="14" name="Text 12"/>
          <p:cNvSpPr/>
          <p:nvPr/>
        </p:nvSpPr>
        <p:spPr>
          <a:xfrm>
            <a:off x="6233007" y="468528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Bisanzwe</a:t>
            </a:r>
            <a:endParaRPr lang="rw-RW" sz="1550" noProof="0" dirty="0"/>
          </a:p>
        </p:txBody>
      </p:sp>
      <p:sp>
        <p:nvSpPr>
          <p:cNvPr id="15" name="Text 13"/>
          <p:cNvSpPr/>
          <p:nvPr/>
        </p:nvSpPr>
        <p:spPr>
          <a:xfrm>
            <a:off x="822960" y="468528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Ikimenyetso </a:t>
            </a:r>
            <a:r>
              <a:rPr lang="rw-RW" sz="1550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 </a:t>
            </a: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gisaba kwitabwaho byihuse ✓</a:t>
            </a:r>
            <a:endParaRPr lang="rw-RW" sz="1550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Ikimenyetso cyiza</a:t>
            </a:r>
            <a:endParaRPr lang="rw-RW" sz="1550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Umunaniro gusa</a:t>
            </a:r>
            <a:endParaRPr lang="rw-RW" sz="1550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A. </a:t>
            </a:r>
            <a:r>
              <a:rPr lang="rw-RW" sz="1450" i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 bisaba kwitabwaho ako kanya</a:t>
            </a:r>
            <a:r>
              <a:rPr lang="rw-RW" sz="1450" i="1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450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8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Niba umugabo afite impinduka z'inkari, ugomba :</a:t>
            </a:r>
            <a:endParaRPr lang="rw-RW" sz="18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Mubwire </a:t>
            </a:r>
            <a:r>
              <a:rPr lang="rw-RW" sz="155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tegereze turebe</a:t>
            </a:r>
            <a:endParaRPr lang="rw-RW" sz="1550" noProof="0" dirty="0">
              <a:solidFill>
                <a:srgbClr val="33475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Gushishikariza abantu kwisuzumisha ku kigo nderabuzima ✓</a:t>
            </a:r>
            <a:endParaRPr lang="rw-RW" sz="1550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Muhe imiti</a:t>
            </a:r>
            <a:endParaRPr lang="rw-RW" sz="1550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sz="15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sz="15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Kubyirengagiza</a:t>
            </a:r>
            <a:endParaRPr lang="rw-RW" sz="1550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B. </a:t>
            </a:r>
            <a:r>
              <a:rPr lang="rw-RW" sz="1450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Kumushishikariza kwisuzumisha mu kinyabupfura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4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2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Gutekereza ku isomo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Andika igisubizo cyawe mu kazu k'inyandiko. Nta gisubizo cy’ukuri kimwe cyonyine. Ibi bibazo ni ibyo kwitorezaho no kuganiraho.</a:t>
            </a:r>
            <a:endParaRPr lang="rw-RW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 wabwira umugabo ufite isoni zo kuvuga ibibazo byijyanye no kwihagarika?</a:t>
            </a:r>
            <a:endParaRPr lang="rw-RW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ikihe kimenyetso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uzahora wibuka buri gihe?</a:t>
            </a:r>
            <a:endParaRPr lang="rw-RW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washishikariza umuntu kujya kwisuzumisha?</a:t>
            </a:r>
            <a:endParaRPr lang="rw-RW" sz="180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Icyo </a:t>
            </a:r>
            <a:r>
              <a:rPr lang="rw-RW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</a:t>
            </a: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kora gikurikiraho</a:t>
            </a:r>
            <a:endParaRPr lang="rw-RW" sz="4000" noProof="0" dirty="0">
              <a:solidFill>
                <a:srgbClr val="FFFFFF"/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Hindura guhangayika mu bikorwa: gufasha abantu kugera aho bitabwaho, kuganira </a:t>
            </a:r>
            <a:r>
              <a:rPr lang="rw-RW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 </a:t>
            </a: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kinyabupfura, no gufasha gukurikiranwa.</a:t>
            </a:r>
            <a:endParaRPr lang="rw-RW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Icyo ushobora </a:t>
            </a: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Ubuyobozi</a:t>
            </a:r>
            <a:endParaRPr lang="rw-RW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aho wohereza umuntu mbere y'ibindi byose.</a:t>
            </a:r>
            <a:endParaRPr lang="rw-RW" noProof="0" dirty="0"/>
          </a:p>
        </p:txBody>
      </p:sp>
      <p:sp>
        <p:nvSpPr>
          <p:cNvPr id="9" name="Shape 7"/>
          <p:cNvSpPr/>
          <p:nvPr/>
        </p:nvSpPr>
        <p:spPr>
          <a:xfrm>
            <a:off x="4353458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5222138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</a:t>
            </a:r>
            <a:endParaRPr lang="rw-RW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4572914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 mu magambo yoroheje inzira umuntu anyuramo iyo yoherejwe kwa muganga.</a:t>
            </a:r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8158277" y="160020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9026957" y="178308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Kuvuga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8377733" y="235000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Vugana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ikinyabupfura kandi ukosore imyizerere itari yo.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1417320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</a:t>
            </a:r>
            <a:endParaRPr lang="rw-RW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768096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uwo muntu kugera aho yoherejwe no gukomeza gukurikiranwa.</a:t>
            </a:r>
            <a:endParaRPr lang="rw-RW" noProof="0" dirty="0"/>
          </a:p>
        </p:txBody>
      </p:sp>
      <p:sp>
        <p:nvSpPr>
          <p:cNvPr id="21" name="Shape 19"/>
          <p:cNvSpPr/>
          <p:nvPr/>
        </p:nvSpPr>
        <p:spPr>
          <a:xfrm>
            <a:off x="4353458" y="3931920"/>
            <a:ext cx="3484778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3" name="Text 21"/>
          <p:cNvSpPr/>
          <p:nvPr/>
        </p:nvSpPr>
        <p:spPr>
          <a:xfrm>
            <a:off x="5222138" y="4114800"/>
            <a:ext cx="247893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Kuburira</a:t>
            </a:r>
            <a:endParaRPr lang="rw-RW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4572914" y="4681728"/>
            <a:ext cx="3045866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igihe kohereza umuntu kwa muganga byihutirwa.</a:t>
            </a:r>
            <a:endParaRPr lang="rw-RW" noProof="0" dirty="0"/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4BA7A692-5D24-C9FC-B0E9-87E9A00E1E13}"/>
              </a:ext>
            </a:extLst>
          </p:cNvPr>
          <p:cNvSpPr/>
          <p:nvPr/>
        </p:nvSpPr>
        <p:spPr>
          <a:xfrm>
            <a:off x="749808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🧭</a:t>
            </a:r>
            <a:endParaRPr lang="rw-RW" sz="3200" noProof="0" dirty="0"/>
          </a:p>
        </p:txBody>
      </p:sp>
      <p:sp>
        <p:nvSpPr>
          <p:cNvPr id="28" name="Text 8">
            <a:extLst>
              <a:ext uri="{FF2B5EF4-FFF2-40B4-BE49-F238E27FC236}">
                <a16:creationId xmlns:a16="http://schemas.microsoft.com/office/drawing/2014/main" id="{A3045251-1883-ECBC-204B-B764D3F3E62D}"/>
              </a:ext>
            </a:extLst>
          </p:cNvPr>
          <p:cNvSpPr/>
          <p:nvPr/>
        </p:nvSpPr>
        <p:spPr>
          <a:xfrm>
            <a:off x="4554626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rw-RW" sz="3200" noProof="0" dirty="0"/>
          </a:p>
        </p:txBody>
      </p:sp>
      <p:sp>
        <p:nvSpPr>
          <p:cNvPr id="30" name="Text 12">
            <a:extLst>
              <a:ext uri="{FF2B5EF4-FFF2-40B4-BE49-F238E27FC236}">
                <a16:creationId xmlns:a16="http://schemas.microsoft.com/office/drawing/2014/main" id="{5DA954F0-01EB-BD9C-2649-2E8B8A3DB125}"/>
              </a:ext>
            </a:extLst>
          </p:cNvPr>
          <p:cNvSpPr/>
          <p:nvPr/>
        </p:nvSpPr>
        <p:spPr>
          <a:xfrm>
            <a:off x="8359445" y="176479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rw-RW" sz="3200" noProof="0" dirty="0"/>
          </a:p>
        </p:txBody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6C4B3D38-5021-6B6A-04FD-B2715B4957AD}"/>
              </a:ext>
            </a:extLst>
          </p:cNvPr>
          <p:cNvSpPr/>
          <p:nvPr/>
        </p:nvSpPr>
        <p:spPr>
          <a:xfrm>
            <a:off x="749808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🤝</a:t>
            </a:r>
            <a:endParaRPr lang="rw-RW" sz="3200" noProof="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A19C6FF2-3234-9411-6805-AB47E0BFAD89}"/>
              </a:ext>
            </a:extLst>
          </p:cNvPr>
          <p:cNvSpPr/>
          <p:nvPr/>
        </p:nvSpPr>
        <p:spPr>
          <a:xfrm>
            <a:off x="4554626" y="409651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rw-RW" sz="32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Ubur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 bwo kohereza umurwayi kwa muganga mu Rwanda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6" name="Shape 4"/>
          <p:cNvSpPr/>
          <p:nvPr/>
        </p:nvSpPr>
        <p:spPr>
          <a:xfrm>
            <a:off x="1864309" y="2005376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7" name="Text 5"/>
          <p:cNvSpPr/>
          <p:nvPr/>
        </p:nvSpPr>
        <p:spPr>
          <a:xfrm>
            <a:off x="1864309" y="200537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ctr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4000" noProof="0" dirty="0"/>
          </a:p>
        </p:txBody>
      </p:sp>
      <p:sp>
        <p:nvSpPr>
          <p:cNvPr id="8" name="Text 6"/>
          <p:cNvSpPr/>
          <p:nvPr/>
        </p:nvSpPr>
        <p:spPr>
          <a:xfrm>
            <a:off x="740664" y="3304742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rw-RW" sz="23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Ivuriro rito (health post) cyangwa ikigo nderabuzima </a:t>
            </a:r>
            <a:endParaRPr lang="rw-RW" sz="2300" noProof="0" dirty="0"/>
          </a:p>
        </p:txBody>
      </p:sp>
      <p:sp>
        <p:nvSpPr>
          <p:cNvPr id="9" name="Text 7"/>
          <p:cNvSpPr/>
          <p:nvPr/>
        </p:nvSpPr>
        <p:spPr>
          <a:xfrm>
            <a:off x="713232" y="416661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Aha ni ho umuntu ahera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jya kwisuzumisha.</a:t>
            </a:r>
            <a:endParaRPr lang="rw-RW" sz="1600" noProof="0" dirty="0"/>
          </a:p>
        </p:txBody>
      </p:sp>
      <p:sp>
        <p:nvSpPr>
          <p:cNvPr id="10" name="Text 8"/>
          <p:cNvSpPr/>
          <p:nvPr/>
        </p:nvSpPr>
        <p:spPr>
          <a:xfrm>
            <a:off x="3938930" y="255401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 lnSpcReduction="10000"/>
          </a:bodyPr>
          <a:lstStyle/>
          <a:p>
            <a:pPr marL="0" indent="0" algn="ctr">
              <a:buNone/>
            </a:pPr>
            <a:r>
              <a:rPr lang="rw-RW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3600" noProof="0" dirty="0"/>
          </a:p>
        </p:txBody>
      </p:sp>
      <p:sp>
        <p:nvSpPr>
          <p:cNvPr id="11" name="Shape 9"/>
          <p:cNvSpPr/>
          <p:nvPr/>
        </p:nvSpPr>
        <p:spPr>
          <a:xfrm>
            <a:off x="4414418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12" name="Shape 10"/>
          <p:cNvSpPr/>
          <p:nvPr/>
        </p:nvSpPr>
        <p:spPr>
          <a:xfrm>
            <a:off x="5730088" y="2005376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13" name="Text 11"/>
          <p:cNvSpPr/>
          <p:nvPr/>
        </p:nvSpPr>
        <p:spPr>
          <a:xfrm>
            <a:off x="5730088" y="200537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ctr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4000" noProof="0" dirty="0"/>
          </a:p>
        </p:txBody>
      </p:sp>
      <p:sp>
        <p:nvSpPr>
          <p:cNvPr id="14" name="Text 12"/>
          <p:cNvSpPr/>
          <p:nvPr/>
        </p:nvSpPr>
        <p:spPr>
          <a:xfrm>
            <a:off x="4579010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Ibitaro by'akarere</a:t>
            </a:r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4579010" y="3663696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Iyo bikenewe,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 </a:t>
            </a:r>
            <a:r>
              <a:rPr lang="rw-RW" sz="16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oherezwayo kugira ngo bakorerwe ibindi bizamini byisumbuyeho.</a:t>
            </a:r>
            <a:endParaRPr lang="rw-RW" sz="1600" noProof="0" dirty="0"/>
          </a:p>
        </p:txBody>
      </p:sp>
      <p:sp>
        <p:nvSpPr>
          <p:cNvPr id="16" name="Text 14"/>
          <p:cNvSpPr/>
          <p:nvPr/>
        </p:nvSpPr>
        <p:spPr>
          <a:xfrm>
            <a:off x="7804709" y="2554016"/>
            <a:ext cx="45720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 lnSpcReduction="10000"/>
          </a:bodyPr>
          <a:lstStyle/>
          <a:p>
            <a:pPr marL="0" indent="0" algn="ctr">
              <a:buNone/>
            </a:pPr>
            <a:r>
              <a:rPr lang="rw-RW" sz="36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3600" noProof="0" dirty="0"/>
          </a:p>
        </p:txBody>
      </p:sp>
      <p:sp>
        <p:nvSpPr>
          <p:cNvPr id="17" name="Shape 15"/>
          <p:cNvSpPr/>
          <p:nvPr/>
        </p:nvSpPr>
        <p:spPr>
          <a:xfrm>
            <a:off x="8280197" y="1737360"/>
            <a:ext cx="3362858" cy="3310128"/>
          </a:xfrm>
          <a:prstGeom prst="roundRect">
            <a:avLst>
              <a:gd name="adj" fmla="val 3478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9595866" y="2005376"/>
            <a:ext cx="731520" cy="731520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800" noProof="0" dirty="0"/>
          </a:p>
        </p:txBody>
      </p:sp>
      <p:sp>
        <p:nvSpPr>
          <p:cNvPr id="19" name="Text 17"/>
          <p:cNvSpPr/>
          <p:nvPr/>
        </p:nvSpPr>
        <p:spPr>
          <a:xfrm>
            <a:off x="9595866" y="200537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ctr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4000" noProof="0" dirty="0"/>
          </a:p>
        </p:txBody>
      </p:sp>
      <p:sp>
        <p:nvSpPr>
          <p:cNvPr id="20" name="Text 18"/>
          <p:cNvSpPr/>
          <p:nvPr/>
        </p:nvSpPr>
        <p:spPr>
          <a:xfrm>
            <a:off x="8444789" y="3179064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ctr">
            <a:noAutofit/>
          </a:bodyPr>
          <a:lstStyle/>
          <a:p>
            <a:pPr marL="0" indent="0" algn="ctr">
              <a:buNone/>
            </a:pPr>
            <a:r>
              <a:rPr lang="rw-RW" sz="23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Ikigo cyoherezwamo abarwayi cyangwa ikigo kivura kanseri</a:t>
            </a:r>
            <a:endParaRPr lang="rw-RW" sz="2300" noProof="0" dirty="0"/>
          </a:p>
        </p:txBody>
      </p:sp>
      <p:sp>
        <p:nvSpPr>
          <p:cNvPr id="21" name="Text 19"/>
          <p:cNvSpPr/>
          <p:nvPr/>
        </p:nvSpPr>
        <p:spPr>
          <a:xfrm>
            <a:off x="8444789" y="4026408"/>
            <a:ext cx="3033674" cy="50292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buvuzi bwihariye</a:t>
            </a:r>
          </a:p>
          <a:p>
            <a:pPr marL="0" indent="0" algn="ctr">
              <a:lnSpc>
                <a:spcPct val="100000"/>
              </a:lnSpc>
              <a:buNone/>
            </a:pP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gutegura uburyo bwo kuvura.</a:t>
            </a:r>
            <a:endParaRPr lang="rw-RW" sz="1600" noProof="0" dirty="0"/>
          </a:p>
        </p:txBody>
      </p:sp>
      <p:sp>
        <p:nvSpPr>
          <p:cNvPr id="22" name="Shape 20"/>
          <p:cNvSpPr/>
          <p:nvPr/>
        </p:nvSpPr>
        <p:spPr>
          <a:xfrm>
            <a:off x="548640" y="5480304"/>
            <a:ext cx="11094415" cy="640080"/>
          </a:xfrm>
          <a:prstGeom prst="roundRect">
            <a:avLst>
              <a:gd name="adj" fmla="val 8571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23" name="Text 21"/>
          <p:cNvSpPr/>
          <p:nvPr/>
        </p:nvSpPr>
        <p:spPr>
          <a:xfrm>
            <a:off x="822960" y="5480304"/>
            <a:ext cx="1054577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Ibyihutirwa:  </a:t>
            </a:r>
            <a:r>
              <a:rPr lang="rw-RW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 bimenyetso </a:t>
            </a:r>
            <a:r>
              <a:rPr lang="rw-RW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fasha umuntu kwitabwaho uwo munsi. Ntugategereze ko </a:t>
            </a:r>
            <a:r>
              <a:rPr lang="rw-RW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yakongera kumera neza</a:t>
            </a:r>
            <a:r>
              <a:rPr lang="rw-RW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noProof="0" dirty="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Kuganira witonze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“Ndumva meze neza, rero sinkeneye kujya kwisuzumisha.”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hakiri kare akenshi nta bimenyetso igaragaza. Kwisuzumisha bishobora gufasha.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6255868" y="169164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75324" y="183794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“Mfite ubwoba ko bashobora </a:t>
            </a: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unsangamo</a:t>
            </a: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kanseri.”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475324" y="247802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ibisanzwe kugira ubwoba.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Gutahura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ibibazo hakiri kare bituma witabwaho neza  .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768096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“Niba ari kanseri, nta kintu na kimwe gishobora gukorwa.”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768096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Ntabwo ari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ukuri. Hari uburyo bwo kwita ku bantu barwaye kanseri no kubavura.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817620"/>
            <a:ext cx="5387188" cy="1805940"/>
          </a:xfrm>
          <a:prstGeom prst="roundRect">
            <a:avLst>
              <a:gd name="adj" fmla="val 3544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75324" y="3963924"/>
            <a:ext cx="4948276" cy="6400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"Ikizamini cy'amaraso gisobanura ko ndwaye kanseri.”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4604004"/>
            <a:ext cx="4948276" cy="873252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Ikizamini cy'amaraso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ishobora kwerekana ko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kwisuzumisha kenshi bikenewe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ariko ntigishobora kwemeza kanseri cyonyine.</a:t>
            </a:r>
            <a:endParaRPr lang="rw-RW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Gufasha no gukurikirana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Gushishikariza kwitabira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uwo muntu kugera ku kigo nderabuzima.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Kugaruka gufata ibisubizo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kubi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butsa kugaruka gufata ibisubizo byabo.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Gabanya ipfunwe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Bika amakuru yabo mu ibanga kandi ubavure mu bwubahane.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umuryango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umuryango w'umurwayi gusobanukirwa impamvu gukomeza kwitabwaho ari ngombwa.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igihe cyo kubona ubufasha bwimbitse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Niba umuntu ahangayitse cyane, mushishikarize gushaka ubundi bufasha.</a:t>
            </a:r>
            <a:endParaRPr lang="rw-RW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Ntukagaye umuntu</a:t>
            </a:r>
            <a:endParaRPr lang="rw-RW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amatwi, ugire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kwihangana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kandi ntukoreshe iterabwoba.</a:t>
            </a:r>
            <a:endParaRPr lang="rw-RW" noProof="0" dirty="0">
              <a:solidFill>
                <a:srgbClr val="33475B"/>
              </a:solidFill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Inkuru ya Faustin irakomeje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353312"/>
            <a:ext cx="11094415" cy="996696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4478" y="1458468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w-RW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Urugero: </a:t>
            </a:r>
            <a:r>
              <a:rPr lang="rw-RW" sz="20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Nyuma yo kumushishikariza kwisuzumisha, Faustin avuga buhoro ati: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rw-RW" sz="20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"Niba ari kanseri, nta kintu na kimwe gishobora gukorwa, </a:t>
            </a:r>
            <a:r>
              <a:rPr lang="rw-RW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se kuki najya kwisuzumisha</a:t>
            </a:r>
            <a:r>
              <a:rPr lang="rw-RW" sz="20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?”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487168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ikihe gisubizo cyafasha kurusha ibindi?</a:t>
            </a:r>
            <a:endParaRPr lang="rw-RW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29900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2247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Emeranya na we ko bicye nibyo bishobora gukorwa</a:t>
            </a:r>
            <a:endParaRPr lang="rw-RW" noProof="0" dirty="0"/>
          </a:p>
        </p:txBody>
      </p:sp>
      <p:sp>
        <p:nvSpPr>
          <p:cNvPr id="10" name="Shape 8"/>
          <p:cNvSpPr/>
          <p:nvPr/>
        </p:nvSpPr>
        <p:spPr>
          <a:xfrm>
            <a:off x="6255868" y="4082288"/>
            <a:ext cx="5387188" cy="113080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6438748" y="4316984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Mubwire mu bwitonzi ko ibyo atari byo, ko kwipimisha bifasha mu kwitabwaho kandi ko hari uburyo bwo kwivuza, umushishikarize kujyayo ✓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43769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731520" y="44317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Mubwire ko adakwiye guhangayika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3018028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3072892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rw-RW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oza ikiganiro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D.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Emera ubwoba bwe, umukosore ku byo yizera bitari byo ubigiranye ineza, kandi umufashe kugera aho yisuzumishiriza nta gahato.</a:t>
            </a:r>
            <a:endParaRPr lang="rw-RW" sz="145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</a:t>
            </a:r>
            <a:r>
              <a:rPr lang="rw-RW" sz="2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Ahantu h’ibanze ho guherwaho umugabo</a:t>
            </a: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yisuzumisha akenshi ni: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233008" y="238658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Ikigo cyihariye kuvura kanseri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436876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Ivuriro rito (health post) cyangwa ikigo nderabuzima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Ivuriro ryihariye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hantu na hamwe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A. </a:t>
            </a:r>
            <a:r>
              <a:rPr lang="rw-RW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 guhera umuntu yivuza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ku ivuriro rito cyangwa ku kigo nderabuzima.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"Niba ari kanseri, nta kintu na kimwe gishobora gukorwa" ni: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Imyumvire itari yo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ni ukuri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byiza kubisubiramo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uburyo bwo kuvura no gufasha abantu.</a:t>
            </a:r>
            <a:endParaRPr lang="rw-RW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Q3. Inama nziza isobanura ko: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Kugaya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umuntu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817876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Gutega amatwi no </a:t>
            </a: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kumushishikariza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nta bwoba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6233008" y="225602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Guhisha amakuru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Kubihutisha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C.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amatwi, wubahane, kandi utange umwanya.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Q4. Nyuma yo koherezwa, umukozi w’ubuzima ku rwego rw’abaturage: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Ntugire icyo ukora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Gushishikariza kugera aho yoherejwe no kugaruka gufata ibisubizo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ibizamini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Byibagirwe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kwitabira no gukurikiranwa.</a:t>
            </a:r>
            <a:endParaRPr lang="rw-RW" noProof="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Ibimenyetso mpuruza byerekana ko umuntu akeneye ubufasha bikenewe:</a:t>
            </a:r>
            <a:endParaRPr lang="rw-RW" sz="2400" noProof="0" dirty="0">
              <a:solidFill>
                <a:srgbClr val="1A2733"/>
              </a:solidFill>
            </a:endParaRPr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endParaRPr lang="rw-RW" b="1" noProof="0" dirty="0">
              <a:solidFill>
                <a:srgbClr val="1C6FB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95000"/>
              </a:lnSpc>
              <a:buNone/>
            </a:pPr>
            <a:endParaRPr lang="rw-RW" b="1" noProof="0" dirty="0">
              <a:solidFill>
                <a:srgbClr val="1C6FB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Gahunda yo gutegereza no kureba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Kwitabwaho kuri uwo munsi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endParaRPr lang="rw-RW" b="1" noProof="0" dirty="0">
              <a:solidFill>
                <a:srgbClr val="1C6FB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Kwitabira gahunda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 kwezi gutaha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gikorwa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</a:t>
            </a:r>
            <a:r>
              <a:rPr lang="rw-RW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bikeneye kwitabwaho uwo munsi.</a:t>
            </a:r>
            <a:endParaRPr lang="rw-RW" noProof="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3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Gutekereza ku isomo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Andika igisubizo cyawe mu kazu k'inyandiko. Nta gisubizo cy’ukuri kirimo. Ibi bibazo ni ibyo kwitorezaho no kuganiraho.</a:t>
            </a:r>
            <a:endParaRPr lang="rw-RW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 wabwira umuntu ufite ubwoba bwo kujya kwisuzumisha?</a:t>
            </a:r>
            <a:endParaRPr lang="rw-RW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wafasha umuntu kugera aho yoherejwe kwa muganga no gukomeza gukurikiranwa?</a:t>
            </a:r>
            <a:endParaRPr lang="rw-RW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iyihe myizerere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itariyo </a:t>
            </a: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 kanseri ya prostate wifuza gukosora?</a:t>
            </a:r>
            <a:endParaRPr lang="rw-RW" sz="1800" noProof="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rw-RW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Kanseri ya prostate imenyekana ite kandi ivurwa ite?</a:t>
            </a:r>
            <a:endParaRPr lang="rw-RW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Kureba muri macye uko bigenda nyuma yo </a:t>
            </a: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koherezwa kwa muganga: uko abaganga</a:t>
            </a:r>
          </a:p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bamenya niba ari kanseri n'uburyo bwo kuyivura.</a:t>
            </a:r>
            <a:endParaRPr lang="rw-RW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ushobora </a:t>
            </a: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kora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rw-RW" sz="16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</a:t>
            </a:r>
            <a:endParaRPr lang="rw-RW" sz="16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 mu magambo yoroheje uko kanseri ya prostate imenyekana.</a:t>
            </a:r>
            <a:endParaRPr lang="rw-RW" sz="1400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rw-RW" sz="16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Guhumuriza</a:t>
            </a:r>
            <a:endParaRPr lang="rw-RW" sz="16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 ko ikizamini cy'amaraso cyonyine kidashobora kwemeza kanseri ya prostate.</a:t>
            </a:r>
            <a:endParaRPr lang="rw-RW" sz="1400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57036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rw-RW" sz="16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Incamake y’iby’ingenzi</a:t>
            </a:r>
            <a:endParaRPr lang="rw-RW" sz="1600" noProof="0" dirty="0">
              <a:solidFill>
                <a:srgbClr val="33475B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6475324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Vuga uburyo bw'ingenzi bworoshye mu kuvura</a:t>
            </a:r>
            <a:endParaRPr lang="rw-RW" sz="1400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380488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563368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marL="0" indent="0">
              <a:buNone/>
            </a:pPr>
            <a:r>
              <a:rPr lang="rw-RW" sz="1600" b="1" dirty="0">
                <a:solidFill>
                  <a:srgbClr val="0B3D66"/>
                </a:solidFill>
                <a:latin typeface="Calibri" pitchFamily="34" charset="0"/>
                <a:cs typeface="Calibri" pitchFamily="34" charset="-120"/>
              </a:rPr>
              <a:t>Gukosora</a:t>
            </a:r>
            <a:endParaRPr lang="rw-RW" sz="1600" noProof="0" dirty="0">
              <a:solidFill>
                <a:srgbClr val="0B3D66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9328937" y="3130296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Kosora imyizerere </a:t>
            </a:r>
            <a:r>
              <a:rPr lang="rw-RW" sz="140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itariyo ikunze kugaragara</a:t>
            </a:r>
            <a:r>
              <a:rPr lang="rw-RW" sz="14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rw-RW" sz="1400" noProof="0" dirty="0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F6DCC115-67C5-6350-3C0B-C820271F1974}"/>
              </a:ext>
            </a:extLst>
          </p:cNvPr>
          <p:cNvSpPr/>
          <p:nvPr/>
        </p:nvSpPr>
        <p:spPr>
          <a:xfrm>
            <a:off x="749808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rw-RW" sz="3200" noProof="0" dirty="0"/>
          </a:p>
        </p:txBody>
      </p:sp>
      <p:sp>
        <p:nvSpPr>
          <p:cNvPr id="24" name="Text 8">
            <a:extLst>
              <a:ext uri="{FF2B5EF4-FFF2-40B4-BE49-F238E27FC236}">
                <a16:creationId xmlns:a16="http://schemas.microsoft.com/office/drawing/2014/main" id="{30013E29-132A-8383-FC6A-89604C44932E}"/>
              </a:ext>
            </a:extLst>
          </p:cNvPr>
          <p:cNvSpPr/>
          <p:nvPr/>
        </p:nvSpPr>
        <p:spPr>
          <a:xfrm>
            <a:off x="3603422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</a:t>
            </a:r>
            <a:endParaRPr lang="rw-RW" sz="3200" noProof="0" dirty="0"/>
          </a:p>
        </p:txBody>
      </p:sp>
      <p:sp>
        <p:nvSpPr>
          <p:cNvPr id="26" name="Text 12">
            <a:extLst>
              <a:ext uri="{FF2B5EF4-FFF2-40B4-BE49-F238E27FC236}">
                <a16:creationId xmlns:a16="http://schemas.microsoft.com/office/drawing/2014/main" id="{033E383E-D721-E7D1-D72A-20CF0D7CD8DE}"/>
              </a:ext>
            </a:extLst>
          </p:cNvPr>
          <p:cNvSpPr/>
          <p:nvPr/>
        </p:nvSpPr>
        <p:spPr>
          <a:xfrm>
            <a:off x="6457036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💊</a:t>
            </a:r>
            <a:endParaRPr lang="rw-RW" sz="3200" noProof="0" dirty="0"/>
          </a:p>
        </p:txBody>
      </p:sp>
      <p:sp>
        <p:nvSpPr>
          <p:cNvPr id="28" name="Text 16">
            <a:extLst>
              <a:ext uri="{FF2B5EF4-FFF2-40B4-BE49-F238E27FC236}">
                <a16:creationId xmlns:a16="http://schemas.microsoft.com/office/drawing/2014/main" id="{A70EA4D0-FD5B-8E81-3088-4A4D10A1BCB0}"/>
              </a:ext>
            </a:extLst>
          </p:cNvPr>
          <p:cNvSpPr/>
          <p:nvPr/>
        </p:nvSpPr>
        <p:spPr>
          <a:xfrm>
            <a:off x="9310649" y="2545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</a:t>
            </a:r>
            <a:endParaRPr lang="rw-RW" sz="3200" noProof="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Uko abaganga babimenya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400" noProof="0" dirty="0"/>
          </a:p>
        </p:txBody>
      </p:sp>
      <p:sp>
        <p:nvSpPr>
          <p:cNvPr id="7" name="Shape 5"/>
          <p:cNvSpPr/>
          <p:nvPr/>
        </p:nvSpPr>
        <p:spPr>
          <a:xfrm>
            <a:off x="1325880" y="1627632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1554480" y="1627632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Ivuriro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isuzuma uwo muntu.</a:t>
            </a:r>
            <a:endParaRPr lang="rw-RW" noProof="0" dirty="0"/>
          </a:p>
        </p:txBody>
      </p:sp>
      <p:sp>
        <p:nvSpPr>
          <p:cNvPr id="9" name="Shape 7"/>
          <p:cNvSpPr/>
          <p:nvPr/>
        </p:nvSpPr>
        <p:spPr>
          <a:xfrm>
            <a:off x="548640" y="2395728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239572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400" noProof="0" dirty="0"/>
          </a:p>
        </p:txBody>
      </p:sp>
      <p:sp>
        <p:nvSpPr>
          <p:cNvPr id="11" name="Shape 9"/>
          <p:cNvSpPr/>
          <p:nvPr/>
        </p:nvSpPr>
        <p:spPr>
          <a:xfrm>
            <a:off x="1325880" y="2377440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1554480" y="2377440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Ibizamini bimwe na bimwe bishobora gukorwa nka pro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teyine ikorwa na Prostate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(PSA) mu maraso.</a:t>
            </a:r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548640" y="3145536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14" name="Text 12"/>
          <p:cNvSpPr/>
          <p:nvPr/>
        </p:nvSpPr>
        <p:spPr>
          <a:xfrm>
            <a:off x="548640" y="314553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400" noProof="0" dirty="0"/>
          </a:p>
        </p:txBody>
      </p:sp>
      <p:sp>
        <p:nvSpPr>
          <p:cNvPr id="15" name="Shape 13"/>
          <p:cNvSpPr/>
          <p:nvPr/>
        </p:nvSpPr>
        <p:spPr>
          <a:xfrm>
            <a:off x="1325880" y="3127248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1554480" y="3127248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 amafoto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y'imbere mu mubiri (imaging).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3895344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18" name="Text 16"/>
          <p:cNvSpPr/>
          <p:nvPr/>
        </p:nvSpPr>
        <p:spPr>
          <a:xfrm>
            <a:off x="548640" y="389534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rw-RW" sz="2400" noProof="0" dirty="0"/>
          </a:p>
        </p:txBody>
      </p:sp>
      <p:sp>
        <p:nvSpPr>
          <p:cNvPr id="19" name="Shape 17"/>
          <p:cNvSpPr/>
          <p:nvPr/>
        </p:nvSpPr>
        <p:spPr>
          <a:xfrm>
            <a:off x="1325880" y="3877056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1554480" y="3877056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agace gato k’inyama (biopsy) kugira ngo hemezwe niba ari kanseri.</a:t>
            </a:r>
            <a:endParaRPr lang="rw-RW" noProof="0" dirty="0"/>
          </a:p>
        </p:txBody>
      </p:sp>
      <p:sp>
        <p:nvSpPr>
          <p:cNvPr id="21" name="Shape 19"/>
          <p:cNvSpPr/>
          <p:nvPr/>
        </p:nvSpPr>
        <p:spPr>
          <a:xfrm>
            <a:off x="548640" y="4645152"/>
            <a:ext cx="566928" cy="566928"/>
          </a:xfrm>
          <a:prstGeom prst="ellipse">
            <a:avLst/>
          </a:prstGeom>
          <a:solidFill>
            <a:srgbClr val="1C6FB0"/>
          </a:solidFill>
          <a:ln/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548640" y="46451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rw-RW" sz="2400" noProof="0" dirty="0"/>
          </a:p>
        </p:txBody>
      </p:sp>
      <p:sp>
        <p:nvSpPr>
          <p:cNvPr id="23" name="Shape 21"/>
          <p:cNvSpPr/>
          <p:nvPr/>
        </p:nvSpPr>
        <p:spPr>
          <a:xfrm>
            <a:off x="1325880" y="4626864"/>
            <a:ext cx="10317175" cy="603504"/>
          </a:xfrm>
          <a:prstGeom prst="roundRect">
            <a:avLst>
              <a:gd name="adj" fmla="val 7576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24" name="Text 22"/>
          <p:cNvSpPr/>
          <p:nvPr/>
        </p:nvSpPr>
        <p:spPr>
          <a:xfrm>
            <a:off x="1554480" y="4626864"/>
            <a:ext cx="9859975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Abaganga b'inzobere bakoresha ibisubizo by'ibizamini bagategurana n'umurwayi uburyo bwo kumwitaho no kumuvura.</a:t>
            </a:r>
            <a:endParaRPr lang="rw-RW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440680"/>
            <a:ext cx="11094415" cy="685800"/>
          </a:xfrm>
          <a:prstGeom prst="roundRect">
            <a:avLst>
              <a:gd name="adj" fmla="val 8000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440680"/>
            <a:ext cx="1063721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Ibuka ko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Ikizamini cy'amaraso cyangwa ibimenyetso byonyine ntibishobora kwemeza kanseri. Gusuzuma agace k’inyama kafashwe muri biopsy ni byo byemeza kanseri.</a:t>
            </a:r>
            <a:endParaRPr lang="rw-RW" noProof="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Ubwoko bw'ubuvuzi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Kugenzura neza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zimwe na zimwe zigenda gahoro gahoro zigenzurwa neza aho kuvurwa ako kanya.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Kubaga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Kubagwa mu rwego rwo gukuraho prostate.</a:t>
            </a:r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Kuvurisha imirasire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Imirasire yihariye ikoreshwa mu kuvura kanseri.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Imiti y'imisemburo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Imiti igabanya cyangwa ibuza imisemburo ifasha kanseri gukura, kugira ngo idakomeza gukura vuba.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 miti ya kanseri</a:t>
            </a:r>
            <a:endParaRPr lang="rw-RW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514850"/>
            <a:ext cx="3045866" cy="166649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Rimwe na rimwe ikoreshwa n’inzobere. Urugero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n’imiti yica cyangwa ibuza kanseri gukura no gukwirakwira(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chemotherapy).</a:t>
            </a:r>
            <a:endParaRPr lang="rw-RW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 icyemezo n'umuganga w'inzobere</a:t>
            </a:r>
            <a:endParaRPr lang="rw-RW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Ntabwo abantu bose bafata imiti imwe. Biterwa na kanseri n'umuntu.</a:t>
            </a:r>
            <a:endParaRPr lang="rw-RW" noProof="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ikinyoma cyangwa ni ukuri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Ibibazo byo kwihagarika buri gihe bisobanura ko umuntu afite kanseri</a:t>
            </a:r>
            <a:endParaRPr lang="rw-RW" noProof="0" dirty="0"/>
          </a:p>
        </p:txBody>
      </p:sp>
      <p:sp>
        <p:nvSpPr>
          <p:cNvPr id="7" name="Text 5"/>
          <p:cNvSpPr/>
          <p:nvPr/>
        </p:nvSpPr>
        <p:spPr>
          <a:xfrm>
            <a:off x="5760720" y="16459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2800" noProof="0" dirty="0"/>
          </a:p>
        </p:txBody>
      </p:sp>
      <p:sp>
        <p:nvSpPr>
          <p:cNvPr id="8" name="Shape 6"/>
          <p:cNvSpPr/>
          <p:nvPr/>
        </p:nvSpPr>
        <p:spPr>
          <a:xfrm>
            <a:off x="6309360" y="1572768"/>
            <a:ext cx="5333695" cy="877824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6492240" y="16459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ibintu bisanzwe kandi akenshi biterwa n'izindi mpamvu zibitera, ariko biracyakeneye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suzumwa.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0" name="Shape 8"/>
          <p:cNvSpPr/>
          <p:nvPr/>
        </p:nvSpPr>
        <p:spPr>
          <a:xfrm>
            <a:off x="548640" y="25603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31520" y="25603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 bimenyetso na bimwe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isobanura ko nta kanseri</a:t>
            </a:r>
            <a:endParaRPr lang="rw-RW" noProof="0" dirty="0">
              <a:solidFill>
                <a:srgbClr val="1A2733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5760720" y="25603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2800" noProof="0" dirty="0"/>
          </a:p>
        </p:txBody>
      </p:sp>
      <p:sp>
        <p:nvSpPr>
          <p:cNvPr id="13" name="Shape 11"/>
          <p:cNvSpPr/>
          <p:nvPr/>
        </p:nvSpPr>
        <p:spPr>
          <a:xfrm>
            <a:off x="6309360" y="25603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6492240" y="25603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Iyo hakiri kare Kanseri ya prostate ikunze kutamenyekana.</a:t>
            </a:r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548640" y="34747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6" name="Text 14"/>
          <p:cNvSpPr/>
          <p:nvPr/>
        </p:nvSpPr>
        <p:spPr>
          <a:xfrm>
            <a:off x="731520" y="34747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 akanyama gato(Biopsy) ituma kanseri ikwirakwira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5760720" y="34747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2800" noProof="0" dirty="0"/>
          </a:p>
        </p:txBody>
      </p:sp>
      <p:sp>
        <p:nvSpPr>
          <p:cNvPr id="18" name="Shape 16"/>
          <p:cNvSpPr/>
          <p:nvPr/>
        </p:nvSpPr>
        <p:spPr>
          <a:xfrm>
            <a:off x="6309360" y="34747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9" name="Text 17"/>
          <p:cNvSpPr/>
          <p:nvPr/>
        </p:nvSpPr>
        <p:spPr>
          <a:xfrm>
            <a:off x="6492240" y="34747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Ntabwo ari uko ikora.</a:t>
            </a:r>
            <a:endParaRPr lang="rw-RW" noProof="0" dirty="0"/>
          </a:p>
        </p:txBody>
      </p:sp>
      <p:sp>
        <p:nvSpPr>
          <p:cNvPr id="20" name="Shape 18"/>
          <p:cNvSpPr/>
          <p:nvPr/>
        </p:nvSpPr>
        <p:spPr>
          <a:xfrm>
            <a:off x="548640" y="43891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731520" y="43891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</a:t>
            </a:r>
            <a:r>
              <a:rPr lang="rw-RW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prostate zose ni zimwe.</a:t>
            </a:r>
            <a:endParaRPr lang="rw-RW" noProof="0" dirty="0"/>
          </a:p>
        </p:txBody>
      </p:sp>
      <p:sp>
        <p:nvSpPr>
          <p:cNvPr id="22" name="Text 20"/>
          <p:cNvSpPr/>
          <p:nvPr/>
        </p:nvSpPr>
        <p:spPr>
          <a:xfrm>
            <a:off x="5760720" y="43891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2800" noProof="0" dirty="0"/>
          </a:p>
        </p:txBody>
      </p:sp>
      <p:sp>
        <p:nvSpPr>
          <p:cNvPr id="23" name="Shape 21"/>
          <p:cNvSpPr/>
          <p:nvPr/>
        </p:nvSpPr>
        <p:spPr>
          <a:xfrm>
            <a:off x="6309360" y="43891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4" name="Text 22"/>
          <p:cNvSpPr/>
          <p:nvPr/>
        </p:nvSpPr>
        <p:spPr>
          <a:xfrm>
            <a:off x="6492240" y="43891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Oya: zishobora kwitwara mu buryo</a:t>
            </a:r>
          </a:p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butandukanye ku bagabo batandukanye.</a:t>
            </a:r>
            <a:endParaRPr lang="rw-RW" noProof="0" dirty="0"/>
          </a:p>
        </p:txBody>
      </p:sp>
      <p:sp>
        <p:nvSpPr>
          <p:cNvPr id="25" name="Shape 23"/>
          <p:cNvSpPr/>
          <p:nvPr/>
        </p:nvSpPr>
        <p:spPr>
          <a:xfrm>
            <a:off x="548640" y="5303520"/>
            <a:ext cx="5120640" cy="804672"/>
          </a:xfrm>
          <a:prstGeom prst="roundRect">
            <a:avLst>
              <a:gd name="adj" fmla="val 6818"/>
            </a:avLst>
          </a:prstGeom>
          <a:solidFill>
            <a:srgbClr val="FBE9E9"/>
          </a:solidFill>
          <a:ln w="12700">
            <a:solidFill>
              <a:srgbClr val="D9A0A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6" name="Text 24"/>
          <p:cNvSpPr/>
          <p:nvPr/>
        </p:nvSpPr>
        <p:spPr>
          <a:xfrm>
            <a:off x="731520" y="5303520"/>
            <a:ext cx="48463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</a:t>
            </a:r>
            <a:r>
              <a:rPr lang="rw-RW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Niba ari kanseri, nta kintu na kimwe gishobora gukorwa.</a:t>
            </a:r>
            <a:endParaRPr lang="rw-RW" noProof="0" dirty="0"/>
          </a:p>
        </p:txBody>
      </p:sp>
      <p:sp>
        <p:nvSpPr>
          <p:cNvPr id="27" name="Text 25"/>
          <p:cNvSpPr/>
          <p:nvPr/>
        </p:nvSpPr>
        <p:spPr>
          <a:xfrm>
            <a:off x="5760720" y="5303520"/>
            <a:ext cx="45720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8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</a:t>
            </a:r>
            <a:endParaRPr lang="rw-RW" sz="2800" noProof="0" dirty="0"/>
          </a:p>
        </p:txBody>
      </p:sp>
      <p:sp>
        <p:nvSpPr>
          <p:cNvPr id="28" name="Shape 26"/>
          <p:cNvSpPr/>
          <p:nvPr/>
        </p:nvSpPr>
        <p:spPr>
          <a:xfrm>
            <a:off x="6309360" y="5303520"/>
            <a:ext cx="5333695" cy="804672"/>
          </a:xfrm>
          <a:prstGeom prst="roundRect">
            <a:avLst>
              <a:gd name="adj" fmla="val 6818"/>
            </a:avLst>
          </a:prstGeom>
          <a:solidFill>
            <a:srgbClr val="E4F3EA"/>
          </a:solidFill>
          <a:ln w="1270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9" name="Text 27"/>
          <p:cNvSpPr/>
          <p:nvPr/>
        </p:nvSpPr>
        <p:spPr>
          <a:xfrm>
            <a:off x="6492240" y="5303520"/>
            <a:ext cx="496793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uburyo bwo kuvura no gufasha abantu.</a:t>
            </a:r>
            <a:endParaRPr lang="rw-RW" noProof="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Kanseri yemezwa na: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Ikizamini cy'amaraso cyonyine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704011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Agace gato k’inyama</a:t>
            </a:r>
            <a:r>
              <a:rPr lang="rw-RW" b="1" noProof="0" dirty="0">
                <a:solidFill>
                  <a:schemeClr val="accent6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 gafatwa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muri biopsy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6233008" y="23134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byonyine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Gutekereza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C.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Gusa kureba ibice by'umubiri byemeza kanseri.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Q2. Igipimo cy'amaraso ya prostate: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Yemeza kanseri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Gishobora kwerekana ko hakenewe ibindi bizamini, ariko ntigishobora kwemeza kanseri cyonyine.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Ivura kanseri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Ntibikoreshwa na rimwe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Bituma hakorwa isuzuma ryinshi; ntibyemeza ko ari kanseri.</a:t>
            </a:r>
            <a:endParaRPr lang="rw-RW" noProof="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3. Kuvura kanseri ya prostate: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6233006" y="234086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kimwe kuri buri wese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60" y="234086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Biterwa na kanseri n'umuntu ku giti cye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ni ukubaga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Ntibitangwa na rimwe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A.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Abaganga bafata ibyemezo n'umuntu.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4. Kanseri ya prostate ikura buhoro buhoro ishobora kuba: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Kwirengagizwa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Bikurikiranwa hafi aho kuvurwa ako kanya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Ntibisuzumwa na rimwe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Gukira no kuruhuka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 ni ugukurikiranira hafi, si ukwirengagiza.</a:t>
            </a:r>
            <a:endParaRPr lang="rw-RW" noProof="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“Gufata akanyama(Biopsy</a:t>
            </a:r>
            <a:r>
              <a:rPr lang="rw-RW" sz="2400" b="1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bituma kanseri ikwirakwira." Ibi ni: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822879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Sibyo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ni ukuri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457119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Rimwe na rimwe ni ukuri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D.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Iyi n’imyumvire itari yo.</a:t>
            </a:r>
            <a:endParaRPr lang="rw-RW" noProof="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IGICE CYA 4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Gutekereza ku isomo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Andika igisubizo cyawe mu kazu k'inyandiko. Nta gisubizo cy’ukuri . Ibi bibazo ni ibyo kwitorezaho no kuganiraho.</a:t>
            </a:r>
            <a:endParaRPr lang="rw-RW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wasobanura mu magambo yoroheje uko abaganga bemeza kanseri?</a:t>
            </a:r>
            <a:endParaRPr lang="rw-RW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iyihe myizerere itari yo ku bijyanye n'ubuvuzi wifuza gukosora?</a:t>
            </a:r>
            <a:endParaRPr lang="rw-RW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wahumuriza umuntu utegereje ibisubizo by'ibizamini?</a:t>
            </a:r>
            <a:endParaRPr lang="rw-RW" sz="1800" noProof="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B3D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554480"/>
            <a:ext cx="4754880" cy="4754880"/>
          </a:xfrm>
          <a:prstGeom prst="ellipse">
            <a:avLst/>
          </a:prstGeom>
          <a:solidFill>
            <a:srgbClr val="12507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" name="Shape 1"/>
          <p:cNvSpPr/>
          <p:nvPr/>
        </p:nvSpPr>
        <p:spPr>
          <a:xfrm>
            <a:off x="10515600" y="-365760"/>
            <a:ext cx="3108960" cy="3108960"/>
          </a:xfrm>
          <a:prstGeom prst="ellipse">
            <a:avLst/>
          </a:prstGeom>
          <a:solidFill>
            <a:srgbClr val="17608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4" name="Shape 2"/>
          <p:cNvSpPr/>
          <p:nvPr/>
        </p:nvSpPr>
        <p:spPr>
          <a:xfrm>
            <a:off x="8869680" y="4206240"/>
            <a:ext cx="4206240" cy="4206240"/>
          </a:xfrm>
          <a:prstGeom prst="ellipse">
            <a:avLst/>
          </a:prstGeom>
          <a:solidFill>
            <a:srgbClr val="0E4675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5" name="Shape 3"/>
          <p:cNvSpPr/>
          <p:nvPr/>
        </p:nvSpPr>
        <p:spPr>
          <a:xfrm>
            <a:off x="10378440" y="640080"/>
            <a:ext cx="1051560" cy="1051560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10378440" y="640080"/>
            <a:ext cx="10515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34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rw-RW" sz="34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331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300" b="1" kern="0" spc="2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30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2697480"/>
            <a:ext cx="9144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4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wakwitega ku ndwara n'imiti</a:t>
            </a:r>
            <a:endParaRPr lang="rw-RW" sz="4000" noProof="0" dirty="0"/>
          </a:p>
        </p:txBody>
      </p:sp>
      <p:sp>
        <p:nvSpPr>
          <p:cNvPr id="9" name="Text 7"/>
          <p:cNvSpPr/>
          <p:nvPr/>
        </p:nvSpPr>
        <p:spPr>
          <a:xfrm>
            <a:off x="548640" y="4160520"/>
            <a:ext cx="85953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abantu mu gihe cyo kuvurwa na nyuma yaho: menya ingaruka zisanzwe, ibimenyetso </a:t>
            </a:r>
            <a:r>
              <a:rPr lang="rw-RW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1800" noProof="0" dirty="0">
                <a:solidFill>
                  <a:srgbClr val="CFE0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n'uburyo bwo guhumuriza.</a:t>
            </a:r>
            <a:endParaRPr lang="rw-RW" sz="1800" noProof="0" dirty="0"/>
          </a:p>
        </p:txBody>
      </p:sp>
      <p:sp>
        <p:nvSpPr>
          <p:cNvPr id="10" name="Text 8"/>
          <p:cNvSpPr/>
          <p:nvPr/>
        </p:nvSpPr>
        <p:spPr>
          <a:xfrm>
            <a:off x="548640" y="61264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kern="0" spc="100" noProof="0" dirty="0">
                <a:solidFill>
                  <a:srgbClr val="9FBB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Rwanda Biomedical Centre | CHW</a:t>
            </a:r>
            <a:endParaRPr lang="rw-RW" sz="1100" noProof="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Ibyo ushobora</a:t>
            </a:r>
            <a:r>
              <a:rPr lang="rw-RW" sz="3200" b="1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</a:t>
            </a: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kora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49808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7" name="Text 5"/>
          <p:cNvSpPr/>
          <p:nvPr/>
        </p:nvSpPr>
        <p:spPr>
          <a:xfrm>
            <a:off x="1417320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Kumenya</a:t>
            </a:r>
            <a:endParaRPr lang="rw-RW" sz="2000" noProof="0" dirty="0"/>
          </a:p>
        </p:txBody>
      </p:sp>
      <p:sp>
        <p:nvSpPr>
          <p:cNvPr id="8" name="Text 6"/>
          <p:cNvSpPr/>
          <p:nvPr/>
        </p:nvSpPr>
        <p:spPr>
          <a:xfrm>
            <a:off x="768096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ingaruka zikunze guterwa n'iyi ndwara n'uko zivurwa.</a:t>
            </a:r>
            <a:endParaRPr lang="rw-RW" noProof="0" dirty="0"/>
          </a:p>
        </p:txBody>
      </p:sp>
      <p:sp>
        <p:nvSpPr>
          <p:cNvPr id="9" name="Shape 7"/>
          <p:cNvSpPr/>
          <p:nvPr/>
        </p:nvSpPr>
        <p:spPr>
          <a:xfrm>
            <a:off x="3402254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0" name="Text 8"/>
          <p:cNvSpPr/>
          <p:nvPr/>
        </p:nvSpPr>
        <p:spPr>
          <a:xfrm>
            <a:off x="3603422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1" name="Text 9"/>
          <p:cNvSpPr/>
          <p:nvPr/>
        </p:nvSpPr>
        <p:spPr>
          <a:xfrm>
            <a:off x="4270934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Ubwoko</a:t>
            </a:r>
            <a:endParaRPr lang="rw-RW" sz="2000" noProof="0" dirty="0"/>
          </a:p>
        </p:txBody>
      </p:sp>
      <p:sp>
        <p:nvSpPr>
          <p:cNvPr id="12" name="Text 10"/>
          <p:cNvSpPr/>
          <p:nvPr/>
        </p:nvSpPr>
        <p:spPr>
          <a:xfrm>
            <a:off x="3621710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 lnSpcReduction="10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Vuga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ingaruka zisanzwe n'ibimenyetso mpuruza.</a:t>
            </a:r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6255868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124548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Kuburira</a:t>
            </a:r>
            <a:endParaRPr lang="rw-RW" sz="2000" noProof="0" dirty="0"/>
          </a:p>
        </p:txBody>
      </p:sp>
      <p:sp>
        <p:nvSpPr>
          <p:cNvPr id="16" name="Text 14"/>
          <p:cNvSpPr/>
          <p:nvPr/>
        </p:nvSpPr>
        <p:spPr>
          <a:xfrm>
            <a:off x="6475324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Menya ibimenyetso mpuruza bikeneye kwitabwaho byihuse.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9109481" y="2612136"/>
            <a:ext cx="2533574" cy="2011680"/>
          </a:xfrm>
          <a:prstGeom prst="roundRect">
            <a:avLst>
              <a:gd name="adj" fmla="val 3636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9310649" y="2776728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 lnSpcReduction="10000"/>
          </a:bodyPr>
          <a:lstStyle/>
          <a:p>
            <a:pPr marL="0" indent="0" algn="l">
              <a:buNone/>
            </a:pPr>
            <a:endParaRPr lang="rw-RW" sz="3200" noProof="0" dirty="0"/>
          </a:p>
        </p:txBody>
      </p:sp>
      <p:sp>
        <p:nvSpPr>
          <p:cNvPr id="19" name="Text 17"/>
          <p:cNvSpPr/>
          <p:nvPr/>
        </p:nvSpPr>
        <p:spPr>
          <a:xfrm>
            <a:off x="9978161" y="2795016"/>
            <a:ext cx="1527734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Ihumure</a:t>
            </a:r>
            <a:endParaRPr lang="rw-RW" sz="2000" noProof="0" dirty="0"/>
          </a:p>
        </p:txBody>
      </p:sp>
      <p:sp>
        <p:nvSpPr>
          <p:cNvPr id="20" name="Text 18"/>
          <p:cNvSpPr/>
          <p:nvPr/>
        </p:nvSpPr>
        <p:spPr>
          <a:xfrm>
            <a:off x="9328937" y="3361944"/>
            <a:ext cx="2094662" cy="1097280"/>
          </a:xfrm>
          <a:prstGeom prst="rect">
            <a:avLst/>
          </a:prstGeom>
          <a:noFill/>
          <a:ln/>
        </p:spPr>
        <p:txBody>
          <a:bodyPr wrap="square" rtlCol="0" anchor="t">
            <a:normAutofit fontScale="95000"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Jya utanga ihumure n'ubufasha bufatika.</a:t>
            </a:r>
            <a:endParaRPr lang="rw-RW" noProof="0" dirty="0"/>
          </a:p>
        </p:txBody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4325449D-9F8E-1E7C-307D-34AD53149E6F}"/>
              </a:ext>
            </a:extLst>
          </p:cNvPr>
          <p:cNvSpPr/>
          <p:nvPr/>
        </p:nvSpPr>
        <p:spPr>
          <a:xfrm>
            <a:off x="808343" y="280623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</a:t>
            </a:r>
            <a:endParaRPr lang="rw-RW" sz="3200" noProof="0" dirty="0"/>
          </a:p>
        </p:txBody>
      </p:sp>
      <p:sp>
        <p:nvSpPr>
          <p:cNvPr id="32" name="Text 8">
            <a:extLst>
              <a:ext uri="{FF2B5EF4-FFF2-40B4-BE49-F238E27FC236}">
                <a16:creationId xmlns:a16="http://schemas.microsoft.com/office/drawing/2014/main" id="{9C891E51-B8F9-5720-2563-A49D6744869D}"/>
              </a:ext>
            </a:extLst>
          </p:cNvPr>
          <p:cNvSpPr/>
          <p:nvPr/>
        </p:nvSpPr>
        <p:spPr>
          <a:xfrm>
            <a:off x="3661957" y="280623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🔀</a:t>
            </a:r>
            <a:endParaRPr lang="rw-RW" sz="3200" noProof="0" dirty="0"/>
          </a:p>
        </p:txBody>
      </p:sp>
      <p:sp>
        <p:nvSpPr>
          <p:cNvPr id="34" name="Text 12">
            <a:extLst>
              <a:ext uri="{FF2B5EF4-FFF2-40B4-BE49-F238E27FC236}">
                <a16:creationId xmlns:a16="http://schemas.microsoft.com/office/drawing/2014/main" id="{5525D6D8-EF46-67C6-C458-9DAE4C11E183}"/>
              </a:ext>
            </a:extLst>
          </p:cNvPr>
          <p:cNvSpPr/>
          <p:nvPr/>
        </p:nvSpPr>
        <p:spPr>
          <a:xfrm>
            <a:off x="6445467" y="2791855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</a:t>
            </a:r>
            <a:endParaRPr lang="rw-RW" sz="3200" noProof="0" dirty="0"/>
          </a:p>
        </p:txBody>
      </p:sp>
      <p:sp>
        <p:nvSpPr>
          <p:cNvPr id="36" name="Text 16">
            <a:extLst>
              <a:ext uri="{FF2B5EF4-FFF2-40B4-BE49-F238E27FC236}">
                <a16:creationId xmlns:a16="http://schemas.microsoft.com/office/drawing/2014/main" id="{4FDB6FA1-319D-4911-D40E-AC5DDB9919CC}"/>
              </a:ext>
            </a:extLst>
          </p:cNvPr>
          <p:cNvSpPr/>
          <p:nvPr/>
        </p:nvSpPr>
        <p:spPr>
          <a:xfrm>
            <a:off x="9369184" y="2806232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3200" noProof="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💙</a:t>
            </a:r>
            <a:endParaRPr lang="rw-RW" sz="3200" noProof="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531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Ingaruka zikunze guterwa n'ubuvuzi bwa kanseri ya prostate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39" y="1043883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Ushobora kumva izi ngaruka. Inshingano yawe ni ukumenya izi ngaruka no guhumuriza umurwayi, si ukuzivura.</a:t>
            </a:r>
            <a:endParaRPr lang="rw-RW" sz="1500" noProof="0" dirty="0"/>
          </a:p>
        </p:txBody>
      </p:sp>
      <p:pic>
        <p:nvPicPr>
          <p:cNvPr id="29" name="Imagen 28">
            <a:extLst>
              <a:ext uri="{FF2B5EF4-FFF2-40B4-BE49-F238E27FC236}">
                <a16:creationId xmlns:a16="http://schemas.microsoft.com/office/drawing/2014/main" id="{B210829A-C60C-E540-496F-231C37C5F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383" y="1490337"/>
            <a:ext cx="10974671" cy="4836295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87500"/>
          </a:bodyPr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Ingaruka zo kuvura cyangwa ikibazo cy'uburwayi gishobora kubaho?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30" name="Shape 28"/>
          <p:cNvSpPr/>
          <p:nvPr/>
        </p:nvSpPr>
        <p:spPr>
          <a:xfrm>
            <a:off x="548640" y="5495544"/>
            <a:ext cx="11094415" cy="749808"/>
          </a:xfrm>
          <a:prstGeom prst="roundRect">
            <a:avLst>
              <a:gd name="adj" fmla="val 7317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31" name="Text 29"/>
          <p:cNvSpPr/>
          <p:nvPr/>
        </p:nvSpPr>
        <p:spPr>
          <a:xfrm>
            <a:off x="822960" y="5495544"/>
            <a:ext cx="10545775" cy="841248"/>
          </a:xfrm>
          <a:prstGeom prst="rect">
            <a:avLst/>
          </a:prstGeom>
          <a:noFill/>
          <a:ln/>
        </p:spPr>
        <p:txBody>
          <a:bodyPr wrap="square" rtlCol="0" anchor="ctr">
            <a:normAutofit fontScale="95000"/>
          </a:bodyPr>
          <a:lstStyle/>
          <a:p>
            <a:pPr marL="0" indent="0">
              <a:lnSpc>
                <a:spcPct val="102000"/>
              </a:lnSpc>
              <a:buNone/>
            </a:pPr>
            <a:r>
              <a:rPr lang="rw-RW" sz="1350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Ibuka ko,  </a:t>
            </a:r>
            <a:r>
              <a:rPr lang="rw-RW" sz="1350" noProof="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Ntukibwire ko ikimenyetso gishya ari ingaruka isanzwe y'ubuvuzi gusa. </a:t>
            </a:r>
            <a:r>
              <a:rPr lang="rw-RW" sz="135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bishya, bikomeye cyangwa bibi bigomba kumenyeshwa itsinda ry'abaganga.</a:t>
            </a:r>
            <a:endParaRPr lang="rw-RW" sz="1350" noProof="0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1B308E2C-4C98-0751-A587-07359EB246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068" y="1298448"/>
            <a:ext cx="10974672" cy="405169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Ibimenyetso </a:t>
            </a:r>
            <a:r>
              <a:rPr lang="rw-RW" sz="320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mpuruza</a:t>
            </a:r>
            <a:r>
              <a:rPr lang="rw-RW" sz="3200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bisaba kugira icyo ukora ako kanya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3200400"/>
          </a:xfrm>
          <a:prstGeom prst="roundRect">
            <a:avLst>
              <a:gd name="adj" fmla="val 2286"/>
            </a:avLst>
          </a:prstGeom>
          <a:solidFill>
            <a:srgbClr val="FBE9E9"/>
          </a:solidFill>
          <a:ln w="19050">
            <a:solidFill>
              <a:srgbClr val="D14B4B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Text 4"/>
          <p:cNvSpPr/>
          <p:nvPr/>
        </p:nvSpPr>
        <p:spPr>
          <a:xfrm>
            <a:off x="868680" y="1920240"/>
            <a:ext cx="104543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200" b="1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Ibimenyetso </a:t>
            </a:r>
            <a:r>
              <a:rPr lang="rw-RW" sz="2200" b="1" noProof="0" dirty="0">
                <a:solidFill>
                  <a:srgbClr val="FFC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2200" b="1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byihutirwa</a:t>
            </a:r>
            <a:endParaRPr lang="rw-RW" sz="2200" noProof="0" dirty="0"/>
          </a:p>
        </p:txBody>
      </p:sp>
      <p:sp>
        <p:nvSpPr>
          <p:cNvPr id="7" name="Text 5"/>
          <p:cNvSpPr/>
          <p:nvPr/>
        </p:nvSpPr>
        <p:spPr>
          <a:xfrm>
            <a:off x="1005840" y="2514600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rw-RW" sz="18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 nke nshya mu maguru cyangwa kumva amaguru </a:t>
            </a:r>
            <a:r>
              <a:rPr lang="rw-RW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atumva ikigukozeho</a:t>
            </a:r>
            <a:endParaRPr lang="rw-RW" sz="1800" noProof="0" dirty="0">
              <a:solidFill>
                <a:srgbClr val="C0392B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1011784" y="3587496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</a:t>
            </a:r>
            <a:r>
              <a:rPr lang="rw-RW" sz="18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cyo kugenda n'amaguru</a:t>
            </a:r>
            <a:endParaRPr lang="rw-RW" sz="1800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9" name="Text 7"/>
          <p:cNvSpPr/>
          <p:nvPr/>
        </p:nvSpPr>
        <p:spPr>
          <a:xfrm>
            <a:off x="1005840" y="3081528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rw-RW" sz="18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Gutakaza ubushobozi bwo kugenzura inkari cyangwa umusarane</a:t>
            </a:r>
            <a:endParaRPr lang="rw-RW" sz="1800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1011784" y="4154424"/>
            <a:ext cx="4907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800" noProof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●  </a:t>
            </a:r>
            <a:r>
              <a:rPr lang="rw-RW" sz="1800" noProof="0" dirty="0">
                <a:solidFill>
                  <a:schemeClr val="accent1">
                    <a:lumMod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Ububabare bukabije cyangwa burushaho kwiyongera vuba</a:t>
            </a:r>
            <a:endParaRPr lang="rw-RW" sz="1800" noProof="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1" name="Shape 9"/>
          <p:cNvSpPr/>
          <p:nvPr/>
        </p:nvSpPr>
        <p:spPr>
          <a:xfrm>
            <a:off x="548640" y="5120640"/>
            <a:ext cx="11094415" cy="960120"/>
          </a:xfrm>
          <a:prstGeom prst="roundRect">
            <a:avLst>
              <a:gd name="adj" fmla="val 5714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822960" y="5212080"/>
            <a:ext cx="1054577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w-RW" sz="1800" b="1" noProof="0" dirty="0">
                <a:solidFill>
                  <a:srgbClr val="7FD4C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➡ Icyo wakora:  </a:t>
            </a:r>
            <a:r>
              <a:rPr lang="rw-RW" sz="1800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uwo muntu kubona ubuvuzi uwo munsi. Ntugategereze.</a:t>
            </a:r>
            <a:endParaRPr lang="rw-RW" sz="1800" noProof="0" dirty="0"/>
          </a:p>
        </p:txBody>
      </p:sp>
      <p:pic>
        <p:nvPicPr>
          <p:cNvPr id="14" name="Imagen 13">
            <a:extLst>
              <a:ext uri="{FF2B5EF4-FFF2-40B4-BE49-F238E27FC236}">
                <a16:creationId xmlns:a16="http://schemas.microsoft.com/office/drawing/2014/main" id="{735F257C-F59A-14B5-1DE7-87C0A539D0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88" t="3058" r="2302" b="3365"/>
          <a:stretch>
            <a:fillRect/>
          </a:stretch>
        </p:blipFill>
        <p:spPr>
          <a:xfrm>
            <a:off x="6506560" y="1906507"/>
            <a:ext cx="3531010" cy="2762854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 iki wagombye gukora?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1C6FB0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804672" y="1893951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04672" y="1893951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1C6FB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1691640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amatwi</a:t>
            </a:r>
            <a:endParaRPr lang="rw-RW" sz="1900" noProof="0" dirty="0"/>
          </a:p>
        </p:txBody>
      </p:sp>
      <p:sp>
        <p:nvSpPr>
          <p:cNvPr id="10" name="Text 8"/>
          <p:cNvSpPr/>
          <p:nvPr/>
        </p:nvSpPr>
        <p:spPr>
          <a:xfrm>
            <a:off x="3474720" y="1737360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Baza icyahindutse n'uko icyo kibazo kigira ingaruka ku muntu.</a:t>
            </a:r>
            <a:endParaRPr lang="rw-RW" sz="1700" noProof="0" dirty="0"/>
          </a:p>
        </p:txBody>
      </p:sp>
      <p:sp>
        <p:nvSpPr>
          <p:cNvPr id="11" name="Shape 9"/>
          <p:cNvSpPr/>
          <p:nvPr/>
        </p:nvSpPr>
        <p:spPr>
          <a:xfrm>
            <a:off x="548640" y="2864358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2864358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3" name="Shape 11"/>
          <p:cNvSpPr/>
          <p:nvPr/>
        </p:nvSpPr>
        <p:spPr>
          <a:xfrm>
            <a:off x="804672" y="3066669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4" name="Text 12"/>
          <p:cNvSpPr/>
          <p:nvPr/>
        </p:nvSpPr>
        <p:spPr>
          <a:xfrm>
            <a:off x="804672" y="3066669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128C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5" name="Text 13"/>
          <p:cNvSpPr/>
          <p:nvPr/>
        </p:nvSpPr>
        <p:spPr>
          <a:xfrm>
            <a:off x="1463040" y="2864358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Guhumuriza</a:t>
            </a:r>
            <a:endParaRPr lang="rw-RW" sz="1900" noProof="0" dirty="0"/>
          </a:p>
        </p:txBody>
      </p:sp>
      <p:sp>
        <p:nvSpPr>
          <p:cNvPr id="16" name="Text 14"/>
          <p:cNvSpPr/>
          <p:nvPr/>
        </p:nvSpPr>
        <p:spPr>
          <a:xfrm>
            <a:off x="3474720" y="2910078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Sobanura ko ingaruka nyinshi z'ubuvuzi zikunze kubaho kandi ko hari</a:t>
            </a:r>
          </a:p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ubufasha buboneka.</a:t>
            </a:r>
            <a:endParaRPr lang="rw-RW" sz="1700" noProof="0" dirty="0"/>
          </a:p>
        </p:txBody>
      </p:sp>
      <p:sp>
        <p:nvSpPr>
          <p:cNvPr id="17" name="Shape 15"/>
          <p:cNvSpPr/>
          <p:nvPr/>
        </p:nvSpPr>
        <p:spPr>
          <a:xfrm>
            <a:off x="548640" y="4037076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8" name="Shape 16"/>
          <p:cNvSpPr/>
          <p:nvPr/>
        </p:nvSpPr>
        <p:spPr>
          <a:xfrm>
            <a:off x="548640" y="4037076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0B3D66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9" name="Shape 17"/>
          <p:cNvSpPr/>
          <p:nvPr/>
        </p:nvSpPr>
        <p:spPr>
          <a:xfrm>
            <a:off x="804672" y="4239387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20" name="Text 18"/>
          <p:cNvSpPr/>
          <p:nvPr/>
        </p:nvSpPr>
        <p:spPr>
          <a:xfrm>
            <a:off x="804672" y="4239387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21" name="Text 19"/>
          <p:cNvSpPr/>
          <p:nvPr/>
        </p:nvSpPr>
        <p:spPr>
          <a:xfrm>
            <a:off x="1463040" y="4037076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Raporo</a:t>
            </a:r>
            <a:endParaRPr lang="rw-RW" sz="1900" noProof="0" dirty="0"/>
          </a:p>
        </p:txBody>
      </p:sp>
      <p:sp>
        <p:nvSpPr>
          <p:cNvPr id="22" name="Text 20"/>
          <p:cNvSpPr/>
          <p:nvPr/>
        </p:nvSpPr>
        <p:spPr>
          <a:xfrm>
            <a:off x="3474720" y="4082796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Shishikariza umuntu kubwira abaganga bamukurikirana ibimenyetso</a:t>
            </a:r>
          </a:p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bishya, bifata igihe cyangwa bimubangamiye.</a:t>
            </a:r>
            <a:endParaRPr lang="rw-RW" sz="1700" noProof="0" dirty="0"/>
          </a:p>
        </p:txBody>
      </p:sp>
      <p:sp>
        <p:nvSpPr>
          <p:cNvPr id="23" name="Shape 21"/>
          <p:cNvSpPr/>
          <p:nvPr/>
        </p:nvSpPr>
        <p:spPr>
          <a:xfrm>
            <a:off x="548640" y="5209794"/>
            <a:ext cx="11094415" cy="916686"/>
          </a:xfrm>
          <a:prstGeom prst="roundRect">
            <a:avLst>
              <a:gd name="adj" fmla="val 6983"/>
            </a:avLst>
          </a:prstGeom>
          <a:solidFill>
            <a:srgbClr val="FBE9E9"/>
          </a:solidFill>
          <a:ln w="1778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24" name="Shape 22"/>
          <p:cNvSpPr/>
          <p:nvPr/>
        </p:nvSpPr>
        <p:spPr>
          <a:xfrm>
            <a:off x="548640" y="5209794"/>
            <a:ext cx="2651760" cy="916686"/>
          </a:xfrm>
          <a:prstGeom prst="roundRect">
            <a:avLst>
              <a:gd name="adj" fmla="val 6983"/>
            </a:avLst>
          </a:prstGeom>
          <a:solidFill>
            <a:srgbClr val="C0392B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25" name="Shape 23"/>
          <p:cNvSpPr/>
          <p:nvPr/>
        </p:nvSpPr>
        <p:spPr>
          <a:xfrm>
            <a:off x="804672" y="5412105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26" name="Text 24"/>
          <p:cNvSpPr/>
          <p:nvPr/>
        </p:nvSpPr>
        <p:spPr>
          <a:xfrm>
            <a:off x="804672" y="5412105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rw-RW" sz="2000" noProof="0" dirty="0"/>
          </a:p>
        </p:txBody>
      </p:sp>
      <p:sp>
        <p:nvSpPr>
          <p:cNvPr id="27" name="Text 25"/>
          <p:cNvSpPr/>
          <p:nvPr/>
        </p:nvSpPr>
        <p:spPr>
          <a:xfrm>
            <a:off x="1463040" y="5209794"/>
            <a:ext cx="1645920" cy="91668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Ohereza byihutirwa</a:t>
            </a:r>
            <a:endParaRPr lang="rw-RW" sz="1900" noProof="0" dirty="0"/>
          </a:p>
        </p:txBody>
      </p:sp>
      <p:sp>
        <p:nvSpPr>
          <p:cNvPr id="28" name="Text 26"/>
          <p:cNvSpPr/>
          <p:nvPr/>
        </p:nvSpPr>
        <p:spPr>
          <a:xfrm>
            <a:off x="3474720" y="5255514"/>
            <a:ext cx="7894015" cy="82524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rw-RW" sz="1700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Ibimenyetso byihutirwa bisaba kwisuzumisha byihuse kwa muganga. Mu gihe cyo kuvurwa n’imiti(chemotherapy), umuriro cyangwa ibimenyetso by'ubwandu birihutirwa.</a:t>
            </a:r>
            <a:endParaRPr lang="rw-RW" sz="1700" noProof="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Ihumure n'imibereho myiza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amatwi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768096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Jya ufata umwanya wo gutega amatwi kandi utabanje gucira abandi urubanza.</a:t>
            </a:r>
            <a:endParaRPr lang="rw-RW" noProof="0" dirty="0"/>
          </a:p>
        </p:txBody>
      </p:sp>
      <p:sp>
        <p:nvSpPr>
          <p:cNvPr id="8" name="Shape 6"/>
          <p:cNvSpPr/>
          <p:nvPr/>
        </p:nvSpPr>
        <p:spPr>
          <a:xfrm>
            <a:off x="4353458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4572914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Kubahiriza gahunda z'ubuvuzi</a:t>
            </a:r>
            <a:endParaRPr lang="rw-RW" sz="2000" noProof="0" dirty="0"/>
          </a:p>
        </p:txBody>
      </p:sp>
      <p:sp>
        <p:nvSpPr>
          <p:cNvPr id="10" name="Text 8"/>
          <p:cNvSpPr/>
          <p:nvPr/>
        </p:nvSpPr>
        <p:spPr>
          <a:xfrm>
            <a:off x="4572914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uwo muntu kujya kuri gahunda zo gukurikiranwa kwa muganga.</a:t>
            </a:r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8158277" y="169164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2" name="Text 10"/>
          <p:cNvSpPr/>
          <p:nvPr/>
        </p:nvSpPr>
        <p:spPr>
          <a:xfrm>
            <a:off x="8377733" y="183794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Gushishikariza abantu gutanga raporo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8377733" y="247802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Shishikariza umuntu kukubwira cyangwa kubwira abaganga ibibazo bishya.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768096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Gabanya </a:t>
            </a:r>
            <a:r>
              <a:rPr lang="rw-RW" sz="2000" b="1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ipfunwe</a:t>
            </a:r>
            <a:endParaRPr lang="rw-RW" sz="2000" noProof="0" dirty="0">
              <a:solidFill>
                <a:srgbClr val="0B3D66"/>
              </a:solidFill>
            </a:endParaRPr>
          </a:p>
        </p:txBody>
      </p:sp>
      <p:sp>
        <p:nvSpPr>
          <p:cNvPr id="16" name="Text 14"/>
          <p:cNvSpPr/>
          <p:nvPr/>
        </p:nvSpPr>
        <p:spPr>
          <a:xfrm>
            <a:off x="768096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Bika amakuru y'umurwayi mu ibanga kandi umufate mu bwubahane.</a:t>
            </a:r>
            <a:endParaRPr lang="rw-RW" noProof="0" dirty="0"/>
          </a:p>
        </p:txBody>
      </p:sp>
      <p:sp>
        <p:nvSpPr>
          <p:cNvPr id="17" name="Shape 15"/>
          <p:cNvSpPr/>
          <p:nvPr/>
        </p:nvSpPr>
        <p:spPr>
          <a:xfrm>
            <a:off x="4353458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8" name="Text 16"/>
          <p:cNvSpPr/>
          <p:nvPr/>
        </p:nvSpPr>
        <p:spPr>
          <a:xfrm>
            <a:off x="4572914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Gufasha umuryango</a:t>
            </a:r>
            <a:endParaRPr lang="rw-RW" sz="2000" noProof="0" dirty="0"/>
          </a:p>
        </p:txBody>
      </p:sp>
      <p:sp>
        <p:nvSpPr>
          <p:cNvPr id="19" name="Text 17"/>
          <p:cNvSpPr/>
          <p:nvPr/>
        </p:nvSpPr>
        <p:spPr>
          <a:xfrm>
            <a:off x="4572914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Fasha umuryango wawe gusobanukirwa impamvu kwitabwaho bikomeje.</a:t>
            </a:r>
            <a:endParaRPr lang="rw-RW" noProof="0" dirty="0"/>
          </a:p>
        </p:txBody>
      </p:sp>
      <p:sp>
        <p:nvSpPr>
          <p:cNvPr id="20" name="Shape 18"/>
          <p:cNvSpPr/>
          <p:nvPr/>
        </p:nvSpPr>
        <p:spPr>
          <a:xfrm>
            <a:off x="8158277" y="4023360"/>
            <a:ext cx="3484778" cy="2011680"/>
          </a:xfrm>
          <a:prstGeom prst="roundRect">
            <a:avLst>
              <a:gd name="adj" fmla="val 3182"/>
            </a:avLst>
          </a:prstGeom>
          <a:solidFill>
            <a:srgbClr val="EAF2F9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21" name="Text 19"/>
          <p:cNvSpPr/>
          <p:nvPr/>
        </p:nvSpPr>
        <p:spPr>
          <a:xfrm>
            <a:off x="8377733" y="4169664"/>
            <a:ext cx="3045866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Ihumure rya buri munsi</a:t>
            </a:r>
            <a:endParaRPr lang="rw-RW" sz="2000" noProof="0" dirty="0"/>
          </a:p>
        </p:txBody>
      </p:sp>
      <p:sp>
        <p:nvSpPr>
          <p:cNvPr id="22" name="Text 20"/>
          <p:cNvSpPr/>
          <p:nvPr/>
        </p:nvSpPr>
        <p:spPr>
          <a:xfrm>
            <a:off x="8377733" y="4809744"/>
            <a:ext cx="304586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Mufashe kubona ikiruhuko, indyo iboneye n'abantu bamuba hafi.</a:t>
            </a:r>
            <a:endParaRPr lang="rw-RW" noProof="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4F55DA-5D85-71A9-A4B5-0DD3877A1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6F968ED-C9B9-EB58-5E52-28C5D0781BAC}"/>
              </a:ext>
            </a:extLst>
          </p:cNvPr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64D4F3-6153-DA0E-F5ED-3E60F8D1D9FB}"/>
              </a:ext>
            </a:extLst>
          </p:cNvPr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Faustin yagarutse </a:t>
            </a:r>
            <a:r>
              <a:rPr lang="rw-RW" sz="32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Placeholder</a:t>
            </a:r>
            <a:endParaRPr lang="rw-RW" sz="3200" noProof="0" dirty="0">
              <a:solidFill>
                <a:srgbClr val="0B3D66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0B7707A7-E43C-5393-8A0E-E6A4B131B74D}"/>
              </a:ext>
            </a:extLst>
          </p:cNvPr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</p:spTree>
    <p:extLst>
      <p:ext uri="{BB962C8B-B14F-4D97-AF65-F5344CB8AC3E}">
        <p14:creationId xmlns:p14="http://schemas.microsoft.com/office/powerpoint/2010/main" val="360797496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Bikoreshe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481328"/>
            <a:ext cx="11094415" cy="868680"/>
          </a:xfrm>
          <a:prstGeom prst="roundRect">
            <a:avLst>
              <a:gd name="adj" fmla="val 6316"/>
            </a:avLst>
          </a:prstGeom>
          <a:solidFill>
            <a:srgbClr val="FFF6E6"/>
          </a:solidFill>
          <a:ln w="12700">
            <a:solidFill>
              <a:srgbClr val="E6B450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554480"/>
            <a:ext cx="1063721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rw-RW" sz="2000" b="1" noProof="0" dirty="0">
                <a:solidFill>
                  <a:srgbClr val="9A6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Urugero:  </a:t>
            </a:r>
            <a:r>
              <a:rPr lang="rw-RW" sz="20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Faustin ubu ari kwitabwaho. Avuga ko afite ububabare bushya bw'umugongo kandi amaguru ye yumva afite intege nke.</a:t>
            </a:r>
            <a:endParaRPr lang="rw-RW" sz="200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2718816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2000" b="1" noProof="0" dirty="0">
                <a:solidFill>
                  <a:srgbClr val="0B3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ikihe gikorwa cyiza kurusha ibindi?</a:t>
            </a:r>
            <a:endParaRPr lang="rw-RW" sz="2000" noProof="0" dirty="0"/>
          </a:p>
        </p:txBody>
      </p:sp>
      <p:sp>
        <p:nvSpPr>
          <p:cNvPr id="8" name="Shape 6"/>
          <p:cNvSpPr/>
          <p:nvPr/>
        </p:nvSpPr>
        <p:spPr>
          <a:xfrm>
            <a:off x="548640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9" name="Text 7"/>
          <p:cNvSpPr/>
          <p:nvPr/>
        </p:nvSpPr>
        <p:spPr>
          <a:xfrm>
            <a:off x="731520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Uzamubwire ko azamara ukwezi aruhuka</a:t>
            </a:r>
            <a:endParaRPr lang="rw-RW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E4F3EA"/>
          </a:solidFill>
          <a:ln w="19050">
            <a:solidFill>
              <a:srgbClr val="1E7D4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1" name="Text 9"/>
          <p:cNvSpPr/>
          <p:nvPr/>
        </p:nvSpPr>
        <p:spPr>
          <a:xfrm>
            <a:off x="731520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98000"/>
              </a:lnSpc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Mufashe kwivuza byihutirwa ✓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6255868" y="330403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6438748" y="335889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Kumuha gusa amazi menshi yo kunywa</a:t>
            </a:r>
            <a:endParaRPr lang="rw-RW" noProof="0" dirty="0"/>
          </a:p>
        </p:txBody>
      </p:sp>
      <p:sp>
        <p:nvSpPr>
          <p:cNvPr id="14" name="Shape 12"/>
          <p:cNvSpPr/>
          <p:nvPr/>
        </p:nvSpPr>
        <p:spPr>
          <a:xfrm>
            <a:off x="6255868" y="4401312"/>
            <a:ext cx="5387188" cy="841248"/>
          </a:xfrm>
          <a:prstGeom prst="roundRect">
            <a:avLst>
              <a:gd name="adj" fmla="val 6522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5" name="Text 13"/>
          <p:cNvSpPr/>
          <p:nvPr/>
        </p:nvSpPr>
        <p:spPr>
          <a:xfrm>
            <a:off x="6438748" y="4456176"/>
            <a:ext cx="5021428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Tegereza urebe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548640" y="58064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rw-RW" sz="1450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C. 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Ububabare bushya bukabije bw'umugongo bujyanye n'intege nke z'amaguru ni ikimenyetso </a:t>
            </a:r>
            <a:r>
              <a:rPr lang="rw-RW" sz="14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mpuruza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Mufashe kugera </a:t>
            </a:r>
            <a:r>
              <a:rPr lang="rw-RW" sz="1450" i="1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</a:t>
            </a:r>
            <a:r>
              <a:rPr lang="rw-RW" sz="1450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bamwitaho kuri uwo munsi.</a:t>
            </a:r>
            <a:endParaRPr lang="rw-RW" sz="1450" noProof="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(1/3)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Q1. Ni ikihe kimenyetso mpuruza cyihutirwa?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Umunaniro muke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6233006" y="2737317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Intege nke nshya mu maguru no kutabasha </a:t>
            </a: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gufata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inkari ntizizane uko zishaka✓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Kugira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muriro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bitunguranye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235050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Isesemi yoroheje</a:t>
            </a:r>
            <a:endParaRPr lang="rw-RW" noProof="0" dirty="0"/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D.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 gitekerezo gikeneye kwitabwaho uwo munsi.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459736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2. Ubushyuhe n'umunaniro mu gihe cyo kuvura ni:</a:t>
            </a:r>
            <a:endParaRPr lang="rw-RW" sz="24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Buri gihe ni ibintu byihutirwa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6" y="4796028"/>
            <a:ext cx="5265885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Kumva ubushyuhe butunguranye n'umunaniro mu gihe cy'ubuvuzi ni ingaruka zisanzwe zishobora kuganirwaho mu gihe cyo gukurikiranwa kwa muganga. ✓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58" y="558698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Ikimenyetso cyo guhagarika kwitabwaho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6" y="5586984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Ntibigaragara na rimwe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59" y="6007608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Izi ni ingaruka zisanzwe kandi zishobora kuganirwaho kuri gahunda yo gukurikiranwa.</a:t>
            </a:r>
            <a:endParaRPr lang="rw-RW" noProof="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(2/3)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19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74650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3. Ikimenyetso gishya kandi kibi cyane kigomba kuba:</a:t>
            </a:r>
            <a:endParaRPr lang="rw-RW" sz="19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Kwirengagizwa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822959" y="2674620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Bitangwaho raporo kandi bigasuzumwa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6233007" y="225856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Amare amezi atandatu ntabufasha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6233008" y="277063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Kuvurirwa mu rugo gusa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30098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C.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Gushishikariza gutanga raporo no kugenzura.</a:t>
            </a:r>
            <a:endParaRPr lang="rw-RW" noProof="0" dirty="0"/>
          </a:p>
        </p:txBody>
      </p:sp>
      <p:sp>
        <p:nvSpPr>
          <p:cNvPr id="12" name="Shape 10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1900" noProof="0" dirty="0"/>
          </a:p>
        </p:txBody>
      </p:sp>
      <p:sp>
        <p:nvSpPr>
          <p:cNvPr id="13" name="Text 11"/>
          <p:cNvSpPr/>
          <p:nvPr/>
        </p:nvSpPr>
        <p:spPr>
          <a:xfrm>
            <a:off x="822960" y="407822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9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4. Kuvuga ku bibazo by'imibonano mpuzabitsina cyangwa inkari bigomba kuba:</a:t>
            </a:r>
            <a:endParaRPr lang="rw-RW" sz="1900" noProof="0" dirty="0"/>
          </a:p>
        </p:txBody>
      </p:sp>
      <p:sp>
        <p:nvSpPr>
          <p:cNvPr id="14" name="Text 12"/>
          <p:cNvSpPr/>
          <p:nvPr/>
        </p:nvSpPr>
        <p:spPr>
          <a:xfrm>
            <a:off x="822960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Bikorwa mu kinyabupfura no mu ibanga ✓</a:t>
            </a:r>
            <a:endParaRPr lang="rw-RW" noProof="0" dirty="0"/>
          </a:p>
        </p:txBody>
      </p:sp>
      <p:sp>
        <p:nvSpPr>
          <p:cNvPr id="15" name="Text 13"/>
          <p:cNvSpPr/>
          <p:nvPr/>
        </p:nvSpPr>
        <p:spPr>
          <a:xfrm>
            <a:off x="6233008" y="459028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Bikorwa mu ruhame</a:t>
            </a:r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822960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Bikorwa mu rwenya</a:t>
            </a:r>
            <a:endParaRPr lang="rw-RW" noProof="0" dirty="0"/>
          </a:p>
        </p:txBody>
      </p:sp>
      <p:sp>
        <p:nvSpPr>
          <p:cNvPr id="17" name="Text 15"/>
          <p:cNvSpPr/>
          <p:nvPr/>
        </p:nvSpPr>
        <p:spPr>
          <a:xfrm>
            <a:off x="6233008" y="510235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Kwirinda buri gihe</a:t>
            </a:r>
            <a:endParaRPr lang="rw-RW" noProof="0" dirty="0"/>
          </a:p>
        </p:txBody>
      </p:sp>
      <p:sp>
        <p:nvSpPr>
          <p:cNvPr id="18" name="Text 16"/>
          <p:cNvSpPr/>
          <p:nvPr/>
        </p:nvSpPr>
        <p:spPr>
          <a:xfrm>
            <a:off x="822960" y="563270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Igisubizo nyacyo: A.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Kubahwa no kugirirwa ibanga.</a:t>
            </a:r>
            <a:endParaRPr lang="rw-RW" noProof="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0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Igenzura ry'ubumenyi (3/3)</a:t>
            </a:r>
            <a:endParaRPr lang="rw-RW" sz="30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4415" cy="2148840"/>
          </a:xfrm>
          <a:prstGeom prst="roundRect">
            <a:avLst>
              <a:gd name="adj" fmla="val 2553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sz="2400" noProof="0" dirty="0"/>
          </a:p>
        </p:txBody>
      </p:sp>
      <p:sp>
        <p:nvSpPr>
          <p:cNvPr id="6" name="Text 4"/>
          <p:cNvSpPr/>
          <p:nvPr/>
        </p:nvSpPr>
        <p:spPr>
          <a:xfrm>
            <a:off x="822960" y="1837944"/>
            <a:ext cx="10545775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2400" b="1" noProof="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Ikibazo cya 5. Igikorwa cyiza cyo guhumuriza ni:</a:t>
            </a:r>
            <a:endParaRPr lang="rw-RW" sz="2400" noProof="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Gushinja umuntu</a:t>
            </a:r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6233008" y="2350008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Gutega amatwi no gufasha kubahiriza gahunda zo kwa muganga ✓</a:t>
            </a:r>
            <a:endParaRPr lang="rw-RW" noProof="0" dirty="0"/>
          </a:p>
        </p:txBody>
      </p:sp>
      <p:sp>
        <p:nvSpPr>
          <p:cNvPr id="9" name="Text 7"/>
          <p:cNvSpPr/>
          <p:nvPr/>
        </p:nvSpPr>
        <p:spPr>
          <a:xfrm>
            <a:off x="822960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Gusangiza amakuru y'ibanga</a:t>
            </a:r>
            <a:endParaRPr lang="rw-RW" noProof="0" dirty="0"/>
          </a:p>
        </p:txBody>
      </p:sp>
      <p:sp>
        <p:nvSpPr>
          <p:cNvPr id="10" name="Text 8"/>
          <p:cNvSpPr/>
          <p:nvPr/>
        </p:nvSpPr>
        <p:spPr>
          <a:xfrm>
            <a:off x="6233008" y="2862072"/>
            <a:ext cx="513572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rw-RW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</a:t>
            </a:r>
            <a:r>
              <a:rPr lang="rw-RW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Kubabwira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guhagarara kwivuza</a:t>
            </a:r>
            <a:endParaRPr lang="rw-RW" noProof="0" dirty="0">
              <a:solidFill>
                <a:srgbClr val="33475B"/>
              </a:solidFill>
            </a:endParaRPr>
          </a:p>
        </p:txBody>
      </p:sp>
      <p:sp>
        <p:nvSpPr>
          <p:cNvPr id="11" name="Text 9"/>
          <p:cNvSpPr/>
          <p:nvPr/>
        </p:nvSpPr>
        <p:spPr>
          <a:xfrm>
            <a:off x="822960" y="3392424"/>
            <a:ext cx="1054577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b="1" i="1" noProof="0" dirty="0">
                <a:solidFill>
                  <a:srgbClr val="1E7D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Ukuri: B. </a:t>
            </a:r>
            <a:r>
              <a:rPr lang="rw-RW" i="1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Tega amatwi kandi ushyigikire gukurikirana.</a:t>
            </a:r>
            <a:endParaRPr lang="rw-RW" noProof="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ISOMO RYA 5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Gutekereza ku isomo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rw-RW" sz="1500" i="1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Andika igisubizo cyawe mu kazu k'inyandiko. Nta gisubizo cy’ukuri. Ibi bibazo ni ibyo kwitorezaho no kuganiraho.</a:t>
            </a:r>
            <a:endParaRPr lang="rw-RW" sz="1500" noProof="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7" name="Shape 5"/>
          <p:cNvSpPr/>
          <p:nvPr/>
        </p:nvSpPr>
        <p:spPr>
          <a:xfrm>
            <a:off x="749808" y="253288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8" name="Text 6"/>
          <p:cNvSpPr/>
          <p:nvPr/>
        </p:nvSpPr>
        <p:spPr>
          <a:xfrm>
            <a:off x="749808" y="253288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rw-RW" sz="2000" noProof="0" dirty="0"/>
          </a:p>
        </p:txBody>
      </p:sp>
      <p:sp>
        <p:nvSpPr>
          <p:cNvPr id="9" name="Text 7"/>
          <p:cNvSpPr/>
          <p:nvPr/>
        </p:nvSpPr>
        <p:spPr>
          <a:xfrm>
            <a:off x="1463040" y="228600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wafasha umuntu kumenya ibimenyetso byihutirwa?</a:t>
            </a:r>
            <a:endParaRPr lang="rw-RW" sz="1800" noProof="0" dirty="0"/>
          </a:p>
        </p:txBody>
      </p:sp>
      <p:sp>
        <p:nvSpPr>
          <p:cNvPr id="10" name="Shape 8"/>
          <p:cNvSpPr/>
          <p:nvPr/>
        </p:nvSpPr>
        <p:spPr>
          <a:xfrm>
            <a:off x="548640" y="365760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1" name="Shape 9"/>
          <p:cNvSpPr/>
          <p:nvPr/>
        </p:nvSpPr>
        <p:spPr>
          <a:xfrm>
            <a:off x="749808" y="399592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2" name="Text 10"/>
          <p:cNvSpPr/>
          <p:nvPr/>
        </p:nvSpPr>
        <p:spPr>
          <a:xfrm>
            <a:off x="749808" y="39959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rw-RW" sz="2000" noProof="0" dirty="0"/>
          </a:p>
        </p:txBody>
      </p:sp>
      <p:sp>
        <p:nvSpPr>
          <p:cNvPr id="13" name="Text 11"/>
          <p:cNvSpPr/>
          <p:nvPr/>
        </p:nvSpPr>
        <p:spPr>
          <a:xfrm>
            <a:off x="1463040" y="374904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gute watangiza ikiganiro ku bibazo byo kwihagarika cyangwa ku buzima bw'imibonano mpuzabitsina mu bwubahane?</a:t>
            </a:r>
            <a:endParaRPr lang="rw-RW" sz="1800" noProof="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188720"/>
          </a:xfrm>
          <a:prstGeom prst="roundRect">
            <a:avLst>
              <a:gd name="adj" fmla="val 4615"/>
            </a:avLst>
          </a:prstGeom>
          <a:solidFill>
            <a:srgbClr val="F3F8FC"/>
          </a:solidFill>
          <a:ln w="12700">
            <a:solidFill>
              <a:srgbClr val="C7D8E6"/>
            </a:solidFill>
            <a:prstDash val="solid"/>
          </a:ln>
        </p:spPr>
        <p:txBody>
          <a:bodyPr/>
          <a:lstStyle/>
          <a:p>
            <a:endParaRPr lang="rw-RW" noProof="0" dirty="0"/>
          </a:p>
        </p:txBody>
      </p:sp>
      <p:sp>
        <p:nvSpPr>
          <p:cNvPr id="15" name="Shape 13"/>
          <p:cNvSpPr/>
          <p:nvPr/>
        </p:nvSpPr>
        <p:spPr>
          <a:xfrm>
            <a:off x="749808" y="5458968"/>
            <a:ext cx="512064" cy="512064"/>
          </a:xfrm>
          <a:prstGeom prst="ellipse">
            <a:avLst/>
          </a:prstGeom>
          <a:solidFill>
            <a:srgbClr val="128C7E"/>
          </a:solidFill>
          <a:ln/>
        </p:spPr>
        <p:txBody>
          <a:bodyPr/>
          <a:lstStyle/>
          <a:p>
            <a:endParaRPr lang="rw-RW" noProof="0" dirty="0"/>
          </a:p>
        </p:txBody>
      </p:sp>
      <p:sp>
        <p:nvSpPr>
          <p:cNvPr id="16" name="Text 14"/>
          <p:cNvSpPr/>
          <p:nvPr/>
        </p:nvSpPr>
        <p:spPr>
          <a:xfrm>
            <a:off x="749808" y="545896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rw-RW" sz="2000" b="1" noProof="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rw-RW" sz="2000" noProof="0" dirty="0"/>
          </a:p>
        </p:txBody>
      </p:sp>
      <p:sp>
        <p:nvSpPr>
          <p:cNvPr id="17" name="Text 15"/>
          <p:cNvSpPr/>
          <p:nvPr/>
        </p:nvSpPr>
        <p:spPr>
          <a:xfrm>
            <a:off x="1463040" y="5212080"/>
            <a:ext cx="9905695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 ubuhe bufasha bwa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habwa</a:t>
            </a: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umuntu kugirango </a:t>
            </a:r>
            <a:r>
              <a:rPr lang="rw-RW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r>
              <a:rPr lang="rw-RW" sz="180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komeza gukurikiranwa?</a:t>
            </a:r>
            <a:endParaRPr lang="rw-RW" sz="1800" noProof="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1100" b="1" kern="0" spc="200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 BYAVUYE N'INKOMOKO</a:t>
            </a:r>
            <a:endParaRPr lang="rw-RW" sz="1100" noProof="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w-RW" sz="3200" b="1" noProof="0" dirty="0">
                <a:solidFill>
                  <a:srgbClr val="0B3D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Aho byavuye</a:t>
            </a:r>
            <a:endParaRPr lang="rw-RW" sz="3200" noProof="0" dirty="0"/>
          </a:p>
        </p:txBody>
      </p:sp>
      <p:sp>
        <p:nvSpPr>
          <p:cNvPr id="4" name="Text 2"/>
          <p:cNvSpPr/>
          <p:nvPr/>
        </p:nvSpPr>
        <p:spPr>
          <a:xfrm>
            <a:off x="548640" y="6455664"/>
            <a:ext cx="1109441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rw-RW" sz="900" noProof="0" dirty="0">
                <a:solidFill>
                  <a:srgbClr val="5F73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Kanseri ya prostate | CHW | Rwanda Biomedical Centre</a:t>
            </a:r>
            <a:endParaRPr lang="rw-RW" sz="900" noProof="0" dirty="0"/>
          </a:p>
        </p:txBody>
      </p:sp>
      <p:sp>
        <p:nvSpPr>
          <p:cNvPr id="5" name="Text 3"/>
          <p:cNvSpPr/>
          <p:nvPr/>
        </p:nvSpPr>
        <p:spPr>
          <a:xfrm>
            <a:off x="548640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Global Cancer Observatory: Cancer Today (2024 estimates, version 1.0). Lyon: IARC/WHO. https://gco.iarc.who.int/today</a:t>
            </a:r>
            <a:endParaRPr lang="rw-RW" sz="1250" noProof="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Sung H, Filho AM, Laversanne M, et al. Global cancer statistics 2024: GLOBOCAN estimates of incidence and mortality worldwide. CA Cancer J Clin. 2026. doi:10.3322/caac.70090</a:t>
            </a:r>
            <a:endParaRPr lang="rw-RW" sz="1250" noProof="0" dirty="0"/>
          </a:p>
        </p:txBody>
      </p:sp>
      <p:sp>
        <p:nvSpPr>
          <p:cNvPr id="7" name="Text 5"/>
          <p:cNvSpPr/>
          <p:nvPr/>
        </p:nvSpPr>
        <p:spPr>
          <a:xfrm>
            <a:off x="548640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of Global Medicine. Rising prostate cancer incidence in Africa: socioeconomic impact and 25-year projection to 2050. 2026. https://globalmedicine.co.uk</a:t>
            </a:r>
            <a:endParaRPr lang="rw-RW" sz="1250" noProof="0" dirty="0"/>
          </a:p>
        </p:txBody>
      </p:sp>
      <p:sp>
        <p:nvSpPr>
          <p:cNvPr id="8" name="Text 6"/>
          <p:cNvSpPr/>
          <p:nvPr/>
        </p:nvSpPr>
        <p:spPr>
          <a:xfrm>
            <a:off x="548640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Ishami ry'Umuryango w'Abibumbye ryita ku Buzima (OMS). Guide to Cancer Early Diagnosis. Geneva: OMS, 2017.</a:t>
            </a:r>
            <a:endParaRPr lang="rw-RW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6324448" y="160020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Cancer Society. Prostate cancer: detection, diagnosis and staging. https://www.cancer.org</a:t>
            </a:r>
            <a:endParaRPr lang="rw-RW" sz="1250" noProof="0" dirty="0"/>
          </a:p>
        </p:txBody>
      </p:sp>
      <p:sp>
        <p:nvSpPr>
          <p:cNvPr id="10" name="Text 8"/>
          <p:cNvSpPr/>
          <p:nvPr/>
        </p:nvSpPr>
        <p:spPr>
          <a:xfrm>
            <a:off x="6324448" y="265176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Ikigo cya Leta Zunze Ubumwe za Amerika gishinzwe kurwanya no gukumira indwara. Gupima kanseri ya prostate. https://www.cdc.gov/prostate-cancer/screening/index.html</a:t>
            </a:r>
            <a:endParaRPr lang="rw-RW" sz="1250" noProof="0" dirty="0"/>
          </a:p>
        </p:txBody>
      </p:sp>
      <p:sp>
        <p:nvSpPr>
          <p:cNvPr id="11" name="Text 9"/>
          <p:cNvSpPr/>
          <p:nvPr/>
        </p:nvSpPr>
        <p:spPr>
          <a:xfrm>
            <a:off x="6324448" y="370332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African Cancer Registry Network. Rwanda National Cancer Registry. https://afcrn.org</a:t>
            </a:r>
            <a:endParaRPr lang="rw-RW" sz="1250" noProof="0" dirty="0"/>
          </a:p>
        </p:txBody>
      </p:sp>
      <p:sp>
        <p:nvSpPr>
          <p:cNvPr id="12" name="Text 10"/>
          <p:cNvSpPr/>
          <p:nvPr/>
        </p:nvSpPr>
        <p:spPr>
          <a:xfrm>
            <a:off x="6324448" y="4754880"/>
            <a:ext cx="5318608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rw-RW" sz="1250" b="1" noProof="0" dirty="0">
                <a:solidFill>
                  <a:srgbClr val="1C6F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r>
              <a:rPr lang="rw-RW" sz="1250" noProof="0" dirty="0">
                <a:solidFill>
                  <a:srgbClr val="3347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Agency for Research on Cancer. Manual for Cancer Registry Personnel (Technical Report No. 10, 1995); Planning and Developing Population-Based Cancer Registration in Low- and Middle-Income Settings (IARC Technical Publication No. 43, 2014).</a:t>
            </a:r>
            <a:endParaRPr lang="rw-RW" sz="1250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D61ECC46547A045896A1B75675AB43C" ma:contentTypeVersion="12" ma:contentTypeDescription="Create a new document." ma:contentTypeScope="" ma:versionID="b64b65294843640458730aea8e953da7">
  <xsd:schema xmlns:xsd="http://www.w3.org/2001/XMLSchema" xmlns:xs="http://www.w3.org/2001/XMLSchema" xmlns:p="http://schemas.microsoft.com/office/2006/metadata/properties" xmlns:ns1="http://schemas.microsoft.com/sharepoint/v3" xmlns:ns2="17d9841e-3b3a-4c82-8e4d-4f809d4d0b5f" xmlns:ns3="55fd9118-62da-44f2-ad5d-6ee26453d194" targetNamespace="http://schemas.microsoft.com/office/2006/metadata/properties" ma:root="true" ma:fieldsID="0ebed194f83790a6b312e91a81a0e8d9" ns1:_="" ns2:_="" ns3:_="">
    <xsd:import namespace="http://schemas.microsoft.com/sharepoint/v3"/>
    <xsd:import namespace="17d9841e-3b3a-4c82-8e4d-4f809d4d0b5f"/>
    <xsd:import namespace="55fd9118-62da-44f2-ad5d-6ee26453d19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1:_ip_UnifiedCompliancePolicyProperties" minOccurs="0"/>
                <xsd:element ref="ns1:_ip_UnifiedCompliancePolicyUIAction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1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2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d9841e-3b3a-4c82-8e4d-4f809d4d0b5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3f5e642b-91f5-4888-b018-43334a040d0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5fd9118-62da-44f2-ad5d-6ee26453d194" elementFormDefault="qualified">
    <xsd:import namespace="http://schemas.microsoft.com/office/2006/documentManagement/types"/>
    <xsd:import namespace="http://schemas.microsoft.com/office/infopath/2007/PartnerControls"/>
    <xsd:element name="TaxCatchAll" ma:index="19" nillable="true" ma:displayName="Taxonomy Catch All Column" ma:hidden="true" ma:list="{2a656308-58b0-4c85-8062-04ccee44b053}" ma:internalName="TaxCatchAll" ma:showField="CatchAllData" ma:web="55fd9118-62da-44f2-ad5d-6ee26453d19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TaxCatchAll xmlns="55fd9118-62da-44f2-ad5d-6ee26453d194" xsi:nil="true"/>
    <_ip_UnifiedCompliancePolicyProperties xmlns="http://schemas.microsoft.com/sharepoint/v3" xsi:nil="true"/>
    <lcf76f155ced4ddcb4097134ff3c332f xmlns="17d9841e-3b3a-4c82-8e4d-4f809d4d0b5f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D3BE008C-56AD-40F3-947B-E308EA32B34F}"/>
</file>

<file path=customXml/itemProps2.xml><?xml version="1.0" encoding="utf-8"?>
<ds:datastoreItem xmlns:ds="http://schemas.openxmlformats.org/officeDocument/2006/customXml" ds:itemID="{7417B563-2026-4613-8A6D-2163F7F60700}"/>
</file>

<file path=customXml/itemProps3.xml><?xml version="1.0" encoding="utf-8"?>
<ds:datastoreItem xmlns:ds="http://schemas.openxmlformats.org/officeDocument/2006/customXml" ds:itemID="{AEEBD654-5755-4296-A4D5-E15FA2303B59}"/>
</file>

<file path=docProps/app.xml><?xml version="1.0" encoding="utf-8"?>
<Properties xmlns="http://schemas.openxmlformats.org/officeDocument/2006/extended-properties" xmlns:vt="http://schemas.openxmlformats.org/officeDocument/2006/docPropsVTypes">
  <TotalTime>2462</TotalTime>
  <Words>5723</Words>
  <Application>Microsoft Macintosh PowerPoint</Application>
  <PresentationFormat>Panorámica</PresentationFormat>
  <Paragraphs>860</Paragraphs>
  <Slides>68</Slides>
  <Notes>68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68</vt:i4>
      </vt:variant>
    </vt:vector>
  </HeadingPairs>
  <TitlesOfParts>
    <vt:vector size="72" baseType="lpstr">
      <vt:lpstr>Arial</vt:lpstr>
      <vt:lpstr>Calibri</vt:lpstr>
      <vt:lpstr>Cambria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komorebimindset_es@hotmail.com</cp:lastModifiedBy>
  <cp:revision>114</cp:revision>
  <dcterms:created xsi:type="dcterms:W3CDTF">2026-08-18T20:52:03Z</dcterms:created>
  <dcterms:modified xsi:type="dcterms:W3CDTF">2026-09-22T17:22:56Z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e81acc0d-dcc4-4dc9-a2c5-be70b05a2fe6_Enabled">
    <vt:lpwstr>true</vt:lpwstr>
  </property>
  <property fmtid="{D5CDD505-2E9C-101B-9397-08002B2CF9AE}" pid="3" name="MSIP_Label_e81acc0d-dcc4-4dc9-a2c5-be70b05a2fe6_SetDate">
    <vt:lpwstr>2026-09-10T14:37:45Z</vt:lpwstr>
  </property>
  <property fmtid="{D5CDD505-2E9C-101B-9397-08002B2CF9AE}" pid="4" name="MSIP_Label_e81acc0d-dcc4-4dc9-a2c5-be70b05a2fe6_Method">
    <vt:lpwstr>Privileged</vt:lpwstr>
  </property>
  <property fmtid="{D5CDD505-2E9C-101B-9397-08002B2CF9AE}" pid="5" name="MSIP_Label_e81acc0d-dcc4-4dc9-a2c5-be70b05a2fe6_Name">
    <vt:lpwstr>e81acc0d-dcc4-4dc9-a2c5-be70b05a2fe6</vt:lpwstr>
  </property>
  <property fmtid="{D5CDD505-2E9C-101B-9397-08002B2CF9AE}" pid="6" name="MSIP_Label_e81acc0d-dcc4-4dc9-a2c5-be70b05a2fe6_SiteId">
    <vt:lpwstr>a00de4ec-48a8-43a6-be74-e31274e2060d</vt:lpwstr>
  </property>
  <property fmtid="{D5CDD505-2E9C-101B-9397-08002B2CF9AE}" pid="7" name="MSIP_Label_e81acc0d-dcc4-4dc9-a2c5-be70b05a2fe6_ActionId">
    <vt:lpwstr>ce6ce8eb-a2d6-4cd3-bd43-8ad1eb1c1426</vt:lpwstr>
  </property>
  <property fmtid="{D5CDD505-2E9C-101B-9397-08002B2CF9AE}" pid="8" name="MSIP_Label_e81acc0d-dcc4-4dc9-a2c5-be70b05a2fe6_ContentBits">
    <vt:lpwstr>0</vt:lpwstr>
  </property>
  <property fmtid="{D5CDD505-2E9C-101B-9397-08002B2CF9AE}" pid="9" name="MSIP_Label_e81acc0d-dcc4-4dc9-a2c5-be70b05a2fe6_Tag">
    <vt:lpwstr>10, 0, 1, 1</vt:lpwstr>
  </property>
  <property fmtid="{D5CDD505-2E9C-101B-9397-08002B2CF9AE}" pid="10" name="_AdHocReviewCycleID">
    <vt:i4>-1871141759</vt:i4>
  </property>
  <property fmtid="{D5CDD505-2E9C-101B-9397-08002B2CF9AE}" pid="11" name="_NewReviewCycle">
    <vt:lpwstr/>
  </property>
  <property fmtid="{D5CDD505-2E9C-101B-9397-08002B2CF9AE}" pid="12" name="_EmailSubject">
    <vt:lpwstr/>
  </property>
  <property fmtid="{D5CDD505-2E9C-101B-9397-08002B2CF9AE}" pid="13" name="_AuthorEmail">
    <vt:lpwstr>diana.alejandra.guarin.castano@msd.com</vt:lpwstr>
  </property>
  <property fmtid="{D5CDD505-2E9C-101B-9397-08002B2CF9AE}" pid="14" name="_AuthorEmailDisplayName">
    <vt:lpwstr>Guarin, Diana</vt:lpwstr>
  </property>
  <property fmtid="{D5CDD505-2E9C-101B-9397-08002B2CF9AE}" pid="15" name="ContentTypeId">
    <vt:lpwstr>0x0101007D61ECC46547A045896A1B75675AB43C</vt:lpwstr>
  </property>
</Properties>
</file>