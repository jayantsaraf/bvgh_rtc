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presentation.xml" ContentType="application/vnd.openxmlformats-officedocument.presentationml.presentation.main+xml"/>
  <Override PartName="/ppt/slides/slide84.xml" ContentType="application/vnd.openxmlformats-officedocument.presentationml.slide+xml"/>
  <Override PartName="/ppt/notesSlides/notesSlide62.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61.xml" ContentType="application/vnd.openxmlformats-officedocument.presentationml.notesSlide+xml"/>
  <Override PartName="/ppt/notesSlides/notesSlide60.xml" ContentType="application/vnd.openxmlformats-officedocument.presentationml.notesSlide+xml"/>
  <Override PartName="/ppt/notesSlides/notesSlide59.xml" ContentType="application/vnd.openxmlformats-officedocument.presentationml.notesSlide+xml"/>
  <Override PartName="/ppt/notesSlides/notesSlide58.xml" ContentType="application/vnd.openxmlformats-officedocument.presentationml.notesSlide+xml"/>
  <Override PartName="/ppt/notesSlides/notesSlide57.xml" ContentType="application/vnd.openxmlformats-officedocument.presentationml.notesSlide+xml"/>
  <Override PartName="/ppt/notesSlides/notesSlide56.xml" ContentType="application/vnd.openxmlformats-officedocument.presentationml.notesSlide+xml"/>
  <Override PartName="/ppt/notesSlides/notesSlide55.xml" ContentType="application/vnd.openxmlformats-officedocument.presentationml.notes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9.xml" ContentType="application/vnd.openxmlformats-officedocument.presentationml.notesSlide+xml"/>
  <Override PartName="/ppt/notesSlides/notesSlide48.xml" ContentType="application/vnd.openxmlformats-officedocument.presentationml.notesSlide+xml"/>
  <Override PartName="/ppt/notesSlides/notesSlide47.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Slides/notesSlide63.xml" ContentType="application/vnd.openxmlformats-officedocument.presentationml.notesSlide+xml"/>
  <Override PartName="/ppt/notesSlides/notesSlide75.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charts/chart1.xml" ContentType="application/vnd.openxmlformats-officedocument.drawingml.chart+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8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9" roundtripDataSignature="AMtx7mg+wIgQ8KGoI/4Np8iV3mpLKoIc0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2"/>
  </p:normalViewPr>
  <p:slideViewPr>
    <p:cSldViewPr snapToGrid="0">
      <p:cViewPr varScale="1">
        <p:scale>
          <a:sx n="95" d="100"/>
          <a:sy n="95" d="100"/>
        </p:scale>
        <p:origin x="89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customschemas.google.com/relationships/presentationmetadata" Target="meta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95" Type="http://schemas.openxmlformats.org/officeDocument/2006/relationships/customXml" Target="../customXml/item2.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91" Type="http://schemas.openxmlformats.org/officeDocument/2006/relationships/viewProps" Target="viewProps.xml"/><Relationship Id="rId9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9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300" b="0" i="0" u="none" strike="noStrike">
                <a:solidFill>
                  <a:srgbClr val="0F3D63"/>
                </a:solidFill>
                <a:latin typeface="Calibri"/>
              </a:defRPr>
            </a:pPr>
            <a:r>
              <a:rPr lang="rw-RW" sz="1300" b="0" i="0" u="none" strike="noStrike" noProof="0" dirty="0">
                <a:solidFill>
                  <a:srgbClr val="0F3D63"/>
                </a:solidFill>
                <a:latin typeface="Calibri"/>
              </a:rPr>
              <a:t>Kanseri eshanu zifite abarwayi bashya benshi mu Rwanda mu 2024</a:t>
            </a:r>
          </a:p>
        </c:rich>
      </c:tx>
      <c:overlay val="0"/>
    </c:title>
    <c:autoTitleDeleted val="0"/>
    <c:plotArea>
      <c:layout/>
      <c:barChart>
        <c:barDir val="bar"/>
        <c:grouping val="clustered"/>
        <c:varyColors val="0"/>
        <c:ser>
          <c:idx val="0"/>
          <c:order val="0"/>
          <c:tx>
            <c:strRef>
              <c:f>Sheet1!$B$1</c:f>
              <c:strCache>
                <c:ptCount val="1"/>
                <c:pt idx="0">
                  <c:v>Ibirwayi bishya</c:v>
                </c:pt>
              </c:strCache>
            </c:strRef>
          </c:tx>
          <c:spPr>
            <a:solidFill>
              <a:srgbClr val="2272B8"/>
            </a:solidFill>
            <a:effectLst/>
          </c:spPr>
          <c:invertIfNegative val="0"/>
          <c:dPt>
            <c:idx val="0"/>
            <c:invertIfNegative val="0"/>
            <c:bubble3D val="0"/>
            <c:extLst xmlns:c16="http://schemas.microsoft.com/office/drawing/2014/chart" xmlns:c15="http://schemas.microsoft.com/office/drawing/2012/chart">
              <c:ext xmlns:c16="http://schemas.microsoft.com/office/drawing/2014/chart" uri="{C3380CC4-5D6E-409C-BE32-E72D297353CC}">
                <c16:uniqueId val="{00000001-690F-9F42-93CB-DB433FC8306C}"/>
              </c:ext>
            </c:extLst>
          </c:dPt>
          <c:dPt>
            <c:idx val="1"/>
            <c:invertIfNegative val="0"/>
            <c:bubble3D val="0"/>
            <c:extLst xmlns:c16="http://schemas.microsoft.com/office/drawing/2014/chart" xmlns:c15="http://schemas.microsoft.com/office/drawing/2012/chart">
              <c:ext xmlns:c16="http://schemas.microsoft.com/office/drawing/2014/chart" uri="{C3380CC4-5D6E-409C-BE32-E72D297353CC}">
                <c16:uniqueId val="{00000003-690F-9F42-93CB-DB433FC8306C}"/>
              </c:ext>
            </c:extLst>
          </c:dPt>
          <c:dPt>
            <c:idx val="2"/>
            <c:invertIfNegative val="0"/>
            <c:bubble3D val="0"/>
            <c:extLst xmlns:c16="http://schemas.microsoft.com/office/drawing/2014/chart" xmlns:c15="http://schemas.microsoft.com/office/drawing/2012/chart">
              <c:ext xmlns:c16="http://schemas.microsoft.com/office/drawing/2014/chart" uri="{C3380CC4-5D6E-409C-BE32-E72D297353CC}">
                <c16:uniqueId val="{00000005-690F-9F42-93CB-DB433FC8306C}"/>
              </c:ext>
            </c:extLst>
          </c:dPt>
          <c:dPt>
            <c:idx val="3"/>
            <c:invertIfNegative val="0"/>
            <c:bubble3D val="0"/>
            <c:extLst xmlns:c16="http://schemas.microsoft.com/office/drawing/2014/chart" xmlns:c15="http://schemas.microsoft.com/office/drawing/2012/chart">
              <c:ext xmlns:c16="http://schemas.microsoft.com/office/drawing/2014/chart" uri="{C3380CC4-5D6E-409C-BE32-E72D297353CC}">
                <c16:uniqueId val="{00000007-690F-9F42-93CB-DB433FC8306C}"/>
              </c:ext>
            </c:extLst>
          </c:dPt>
          <c:dPt>
            <c:idx val="4"/>
            <c:invertIfNegative val="0"/>
            <c:bubble3D val="0"/>
            <c:spPr>
              <a:solidFill>
                <a:srgbClr val="1B8474"/>
              </a:solidFill>
              <a:effectLst/>
            </c:spPr>
            <c:extLst xmlns:c16="http://schemas.microsoft.com/office/drawing/2014/chart" xmlns:c15="http://schemas.microsoft.com/office/drawing/2012/chart">
              <c:ext xmlns:c16="http://schemas.microsoft.com/office/drawing/2014/chart" uri="{C3380CC4-5D6E-409C-BE32-E72D297353CC}">
                <c16:uniqueId val="{00000009-690F-9F42-93CB-DB433FC8306C}"/>
              </c:ext>
            </c:extLst>
          </c:dPt>
          <c:dLbls>
            <c:numFmt formatCode="#,##0" sourceLinked="0"/>
            <c:spPr>
              <a:noFill/>
              <a:ln>
                <a:noFill/>
              </a:ln>
              <a:effectLst/>
            </c:spPr>
            <c:txPr>
              <a:bodyPr/>
              <a:lstStyle/>
              <a:p>
                <a:pPr>
                  <a:defRPr sz="1200" b="0" i="0" u="none" strike="noStrike">
                    <a:solidFill>
                      <a:srgbClr val="16334F"/>
                    </a:solidFill>
                    <a:latin typeface="Calibri"/>
                  </a:defRPr>
                </a:pPr>
                <a:endParaRPr lang="en-RW"/>
              </a:p>
            </c:txPr>
            <c:showLegendKey val="0"/>
            <c:showVal val="1"/>
            <c:showCatName val="0"/>
            <c:showSerName val="0"/>
            <c:showPercent val="0"/>
            <c:showBubbleSize val="0"/>
            <c:showLeaderLines val="0"/>
            <c:extLst xmlns:c16="http://schemas.microsoft.com/office/drawing/2014/chart" xmlns:c15="http://schemas.microsoft.com/office/drawing/2012/chart">
              <c:ext xmlns:c15="http://schemas.microsoft.com/office/drawing/2012/chart" uri="{CE6537A1-D6FC-4f65-9D91-7224C49458BB}">
                <c15:showLeaderLines val="0"/>
              </c:ext>
            </c:extLst>
          </c:dLbls>
          <c:cat>
            <c:strRef>
              <c:f>Sheet1!$A$2:$A$6</c:f>
              <c:strCache>
                <c:ptCount val="5"/>
                <c:pt idx="0">
                  <c:v>Porositate</c:v>
                </c:pt>
                <c:pt idx="1">
                  <c:v>Ibere</c:v>
                </c:pt>
                <c:pt idx="2">
                  <c:v>Inkondo y’umura</c:v>
                </c:pt>
                <c:pt idx="3">
                  <c:v>Amara manini</c:v>
                </c:pt>
                <c:pt idx="4">
                  <c:v>Igifu</c:v>
                </c:pt>
              </c:strCache>
            </c:strRef>
          </c:cat>
          <c:val>
            <c:numRef>
              <c:f>Sheet1!$B$2:$B$6</c:f>
              <c:numCache>
                <c:formatCode>General</c:formatCode>
                <c:ptCount val="5"/>
                <c:pt idx="0">
                  <c:v>1856</c:v>
                </c:pt>
                <c:pt idx="1">
                  <c:v>1684</c:v>
                </c:pt>
                <c:pt idx="2">
                  <c:v>1582</c:v>
                </c:pt>
                <c:pt idx="3">
                  <c:v>925</c:v>
                </c:pt>
                <c:pt idx="4">
                  <c:v>895</c:v>
                </c:pt>
              </c:numCache>
            </c:numRef>
          </c:val>
          <c:extLst xmlns:c16="http://schemas.microsoft.com/office/drawing/2014/chart" xmlns:c15="http://schemas.microsoft.com/office/drawing/2012/chart">
            <c:ext xmlns:c16="http://schemas.microsoft.com/office/drawing/2014/chart" uri="{C3380CC4-5D6E-409C-BE32-E72D297353CC}">
              <c16:uniqueId val="{0000000A-690F-9F42-93CB-DB433FC8306C}"/>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6334F"/>
                </a:solidFill>
                <a:latin typeface="Calibri"/>
              </a:defRPr>
            </a:pPr>
            <a:endParaRPr lang="en-RW"/>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 name="Google Shape;23;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4" name="Google Shape;24;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 name="Google Shape;49;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0" name="Google Shape;50;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6" name="Google Shape;76;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0" name="Google Shape;110;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11" name="Google Shape;111;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0" name="Google Shape;120;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21" name="Google Shape;121;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0" name="Google Shape;140;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41" name="Google Shape;141;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0" name="Google Shape;160;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61" name="Google Shape;161;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0" name="Google Shape;180;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81" name="Google Shape;181;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0" name="Google Shape;200;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01" name="Google Shape;201;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0" name="Google Shape;220;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21" name="Google Shape;221;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0" name="Google Shape;240;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41" name="Google Shape;241;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0" name="Google Shape;260;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61" name="Google Shape;261;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13</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0" name="Google Shape;280;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81" name="Google Shape;281;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14</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0" name="Google Shape;300;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01" name="Google Shape;301;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15</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0" name="Google Shape;320;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21" name="Google Shape;321;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16</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1" name="Google Shape;331;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32" name="Google Shape;332;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17</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7" name="Google Shape;357;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58" name="Google Shape;358;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18</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1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9" name="Google Shape;379;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80" name="Google Shape;380;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19</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2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8" name="Google Shape;398;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99" name="Google Shape;399;p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20</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3" name="Google Shape;423;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24" name="Google Shape;424;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21</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2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6" name="Google Shape;446;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47" name="Google Shape;447;p2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22</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2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5" name="Google Shape;465;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66" name="Google Shape;466;p2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23</a:t>
            </a:fld>
            <a:endParaRPr sz="1800">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2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4" name="Google Shape;484;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85" name="Google Shape;485;p2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24</a:t>
            </a:fld>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2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5" name="Google Shape;515;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16" name="Google Shape;516;p2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25</a:t>
            </a:fld>
            <a:endParaRPr sz="1800">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2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7" name="Google Shape;537;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38" name="Google Shape;538;p2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26</a:t>
            </a:fld>
            <a:endParaRPr sz="1800">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2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9" name="Google Shape;559;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60" name="Google Shape;560;p2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27</a:t>
            </a:fld>
            <a:endParaRPr sz="1800">
              <a:solidFill>
                <a:schemeClr val="dk1"/>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2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0" name="Google Shape;580;p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81" name="Google Shape;581;p2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28</a:t>
            </a:fld>
            <a:endParaRPr sz="1800">
              <a:solidFill>
                <a:schemeClr val="dk1"/>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2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1" name="Google Shape;591;p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92" name="Google Shape;592;p2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29</a:t>
            </a:fld>
            <a:endParaRPr sz="1800">
              <a:solidFill>
                <a:schemeClr val="dk1"/>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3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7" name="Google Shape;617;p3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18" name="Google Shape;618;p3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30</a:t>
            </a:fld>
            <a:endParaRPr sz="1800">
              <a:solidFill>
                <a:schemeClr val="dk1"/>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3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8" name="Google Shape;638;p3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39" name="Google Shape;639;p3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31</a:t>
            </a:fld>
            <a:endParaRPr sz="1800">
              <a:solidFill>
                <a:schemeClr val="dk1"/>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3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1" name="Google Shape;661;p3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62" name="Google Shape;662;p3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32</a:t>
            </a:fld>
            <a:endParaRPr sz="1800">
              <a:solidFill>
                <a:schemeClr val="dk1"/>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3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3" name="Google Shape;673;p3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74" name="Google Shape;674;p3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33</a:t>
            </a:fld>
            <a:endParaRPr sz="1800">
              <a:solidFill>
                <a:schemeClr val="dk1"/>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3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2" name="Google Shape;692;p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93" name="Google Shape;693;p3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34</a:t>
            </a:fld>
            <a:endParaRPr sz="1800">
              <a:solidFill>
                <a:schemeClr val="dk1"/>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3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4" name="Google Shape;704;p3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05" name="Google Shape;705;p3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35</a:t>
            </a:fld>
            <a:endParaRPr sz="1800">
              <a:solidFill>
                <a:schemeClr val="dk1"/>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3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5" name="Google Shape;735;p3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36" name="Google Shape;736;p3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36</a:t>
            </a:fld>
            <a:endParaRPr sz="1800">
              <a:solidFill>
                <a:schemeClr val="dk1"/>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3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6" name="Google Shape;756;p3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57" name="Google Shape;757;p3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37</a:t>
            </a:fld>
            <a:endParaRPr sz="1800">
              <a:solidFill>
                <a:schemeClr val="dk1"/>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p3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7" name="Google Shape;787;p3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88" name="Google Shape;788;p3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38</a:t>
            </a:fld>
            <a:endParaRPr sz="1800">
              <a:solidFill>
                <a:schemeClr val="dk1"/>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p3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9" name="Google Shape;809;p3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10" name="Google Shape;810;p3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39</a:t>
            </a:fld>
            <a:endParaRPr sz="1800">
              <a:solidFill>
                <a:schemeClr val="dk1"/>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4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1" name="Google Shape;831;p4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32" name="Google Shape;832;p4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40</a:t>
            </a:fld>
            <a:endParaRPr sz="1800">
              <a:solidFill>
                <a:schemeClr val="dk1"/>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p4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2" name="Google Shape;852;p4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53" name="Google Shape;853;p4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41</a:t>
            </a:fld>
            <a:endParaRPr sz="1800">
              <a:solidFill>
                <a:schemeClr val="dk1"/>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p4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3" name="Google Shape;863;p4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64" name="Google Shape;864;p4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42</a:t>
            </a:fld>
            <a:endParaRPr sz="1800">
              <a:solidFill>
                <a:schemeClr val="dk1"/>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p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89" name="Google Shape;889;p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90" name="Google Shape;890;p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43</a:t>
            </a:fld>
            <a:endParaRPr sz="1800">
              <a:solidFill>
                <a:schemeClr val="dk1"/>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p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2" name="Google Shape;922;p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923" name="Google Shape;923;p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44</a:t>
            </a:fld>
            <a:endParaRPr sz="1800">
              <a:solidFill>
                <a:schemeClr val="dk1"/>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4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6" name="Google Shape;946;p4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947" name="Google Shape;947;p4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45</a:t>
            </a:fld>
            <a:endParaRPr sz="1800">
              <a:solidFill>
                <a:schemeClr val="dk1"/>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p4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2" name="Google Shape;972;p4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973" name="Google Shape;973;p4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46</a:t>
            </a:fld>
            <a:endParaRPr sz="1800">
              <a:solidFill>
                <a:schemeClr val="dk1"/>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4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9" name="Google Shape;999;p4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00" name="Google Shape;1000;p4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47</a:t>
            </a:fld>
            <a:endParaRPr sz="1800">
              <a:solidFill>
                <a:schemeClr val="dk1"/>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p4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16" name="Google Shape;1016;p4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17" name="Google Shape;1017;p4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48</a:t>
            </a:fld>
            <a:endParaRPr sz="1800">
              <a:solidFill>
                <a:schemeClr val="dk1"/>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p4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35" name="Google Shape;1035;p4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36" name="Google Shape;1036;p4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49</a:t>
            </a:fld>
            <a:endParaRPr sz="1800">
              <a:solidFill>
                <a:schemeClr val="dk1"/>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p5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7" name="Google Shape;1057;p5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58" name="Google Shape;1058;p5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50</a:t>
            </a:fld>
            <a:endParaRPr sz="1800">
              <a:solidFill>
                <a:schemeClr val="dk1"/>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p5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9" name="Google Shape;1079;p5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80" name="Google Shape;1080;p5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51</a:t>
            </a:fld>
            <a:endParaRPr sz="1800">
              <a:solidFill>
                <a:schemeClr val="dk1"/>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p5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00" name="Google Shape;1100;p5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101" name="Google Shape;1101;p5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52</a:t>
            </a:fld>
            <a:endParaRPr sz="1800">
              <a:solidFill>
                <a:schemeClr val="dk1"/>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p5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1" name="Google Shape;1111;p5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112" name="Google Shape;1112;p5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53</a:t>
            </a:fld>
            <a:endParaRPr sz="1800">
              <a:solidFill>
                <a:schemeClr val="dk1"/>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p5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34" name="Google Shape;1134;p5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dirty="0">
              <a:solidFill>
                <a:schemeClr val="dk1"/>
              </a:solidFill>
              <a:latin typeface="Arial"/>
              <a:ea typeface="Arial"/>
              <a:cs typeface="Arial"/>
              <a:sym typeface="Arial"/>
            </a:endParaRPr>
          </a:p>
        </p:txBody>
      </p:sp>
      <p:sp>
        <p:nvSpPr>
          <p:cNvPr id="1135" name="Google Shape;1135;p5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54</a:t>
            </a:fld>
            <a:endParaRPr sz="1800">
              <a:solidFill>
                <a:schemeClr val="dk1"/>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p5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0" name="Google Shape;1170;p5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171" name="Google Shape;1171;p5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55</a:t>
            </a:fld>
            <a:endParaRPr sz="1800">
              <a:solidFill>
                <a:schemeClr val="dk1"/>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p:cNvGrpSpPr/>
        <p:nvPr/>
      </p:nvGrpSpPr>
      <p:grpSpPr>
        <a:xfrm>
          <a:off x="0" y="0"/>
          <a:ext cx="0" cy="0"/>
          <a:chOff x="0" y="0"/>
          <a:chExt cx="0" cy="0"/>
        </a:xfrm>
      </p:grpSpPr>
      <p:sp>
        <p:nvSpPr>
          <p:cNvPr id="1181" name="Google Shape;1181;p5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2" name="Google Shape;1182;p5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183" name="Google Shape;1183;p5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56</a:t>
            </a:fld>
            <a:endParaRPr sz="1800">
              <a:solidFill>
                <a:schemeClr val="dk1"/>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6"/>
        <p:cNvGrpSpPr/>
        <p:nvPr/>
      </p:nvGrpSpPr>
      <p:grpSpPr>
        <a:xfrm>
          <a:off x="0" y="0"/>
          <a:ext cx="0" cy="0"/>
          <a:chOff x="0" y="0"/>
          <a:chExt cx="0" cy="0"/>
        </a:xfrm>
      </p:grpSpPr>
      <p:sp>
        <p:nvSpPr>
          <p:cNvPr id="1207" name="Google Shape;1207;p5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08" name="Google Shape;1208;p5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209" name="Google Shape;1209;p5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57</a:t>
            </a:fld>
            <a:endParaRPr sz="1800">
              <a:solidFill>
                <a:schemeClr val="dk1"/>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7"/>
        <p:cNvGrpSpPr/>
        <p:nvPr/>
      </p:nvGrpSpPr>
      <p:grpSpPr>
        <a:xfrm>
          <a:off x="0" y="0"/>
          <a:ext cx="0" cy="0"/>
          <a:chOff x="0" y="0"/>
          <a:chExt cx="0" cy="0"/>
        </a:xfrm>
      </p:grpSpPr>
      <p:sp>
        <p:nvSpPr>
          <p:cNvPr id="1238" name="Google Shape;1238;p5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39" name="Google Shape;1239;p5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240" name="Google Shape;1240;p5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58</a:t>
            </a:fld>
            <a:endParaRPr sz="1800">
              <a:solidFill>
                <a:schemeClr val="dk1"/>
              </a:solidFill>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9"/>
        <p:cNvGrpSpPr/>
        <p:nvPr/>
      </p:nvGrpSpPr>
      <p:grpSpPr>
        <a:xfrm>
          <a:off x="0" y="0"/>
          <a:ext cx="0" cy="0"/>
          <a:chOff x="0" y="0"/>
          <a:chExt cx="0" cy="0"/>
        </a:xfrm>
      </p:grpSpPr>
      <p:sp>
        <p:nvSpPr>
          <p:cNvPr id="1260" name="Google Shape;1260;p5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1" name="Google Shape;1261;p5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262" name="Google Shape;1262;p5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59</a:t>
            </a:fld>
            <a:endParaRPr sz="1800">
              <a:solidFill>
                <a:schemeClr val="dk1"/>
              </a:solidFill>
              <a:latin typeface="Arial"/>
              <a:ea typeface="Arial"/>
              <a:cs typeface="Arial"/>
              <a:sym typeface="Aria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1"/>
        <p:cNvGrpSpPr/>
        <p:nvPr/>
      </p:nvGrpSpPr>
      <p:grpSpPr>
        <a:xfrm>
          <a:off x="0" y="0"/>
          <a:ext cx="0" cy="0"/>
          <a:chOff x="0" y="0"/>
          <a:chExt cx="0" cy="0"/>
        </a:xfrm>
      </p:grpSpPr>
      <p:sp>
        <p:nvSpPr>
          <p:cNvPr id="1282" name="Google Shape;1282;p6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83" name="Google Shape;1283;p6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284" name="Google Shape;1284;p6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60</a:t>
            </a:fld>
            <a:endParaRPr sz="1800">
              <a:solidFill>
                <a:schemeClr val="dk1"/>
              </a:solidFill>
              <a:latin typeface="Arial"/>
              <a:ea typeface="Arial"/>
              <a:cs typeface="Arial"/>
              <a:sym typeface="Aria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2"/>
        <p:cNvGrpSpPr/>
        <p:nvPr/>
      </p:nvGrpSpPr>
      <p:grpSpPr>
        <a:xfrm>
          <a:off x="0" y="0"/>
          <a:ext cx="0" cy="0"/>
          <a:chOff x="0" y="0"/>
          <a:chExt cx="0" cy="0"/>
        </a:xfrm>
      </p:grpSpPr>
      <p:sp>
        <p:nvSpPr>
          <p:cNvPr id="1303" name="Google Shape;1303;p6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04" name="Google Shape;1304;p6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305" name="Google Shape;1305;p6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61</a:t>
            </a:fld>
            <a:endParaRPr sz="1800">
              <a:solidFill>
                <a:schemeClr val="dk1"/>
              </a:solidFill>
              <a:latin typeface="Arial"/>
              <a:ea typeface="Arial"/>
              <a:cs typeface="Arial"/>
              <a:sym typeface="Aria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3"/>
        <p:cNvGrpSpPr/>
        <p:nvPr/>
      </p:nvGrpSpPr>
      <p:grpSpPr>
        <a:xfrm>
          <a:off x="0" y="0"/>
          <a:ext cx="0" cy="0"/>
          <a:chOff x="0" y="0"/>
          <a:chExt cx="0" cy="0"/>
        </a:xfrm>
      </p:grpSpPr>
      <p:sp>
        <p:nvSpPr>
          <p:cNvPr id="1314" name="Google Shape;1314;p6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15" name="Google Shape;1315;p6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316" name="Google Shape;1316;p6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62</a:t>
            </a:fld>
            <a:endParaRPr sz="1800">
              <a:solidFill>
                <a:schemeClr val="dk1"/>
              </a:solidFill>
              <a:latin typeface="Arial"/>
              <a:ea typeface="Arial"/>
              <a:cs typeface="Arial"/>
              <a:sym typeface="Aria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6"/>
        <p:cNvGrpSpPr/>
        <p:nvPr/>
      </p:nvGrpSpPr>
      <p:grpSpPr>
        <a:xfrm>
          <a:off x="0" y="0"/>
          <a:ext cx="0" cy="0"/>
          <a:chOff x="0" y="0"/>
          <a:chExt cx="0" cy="0"/>
        </a:xfrm>
      </p:grpSpPr>
      <p:sp>
        <p:nvSpPr>
          <p:cNvPr id="1337" name="Google Shape;1337;p6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38" name="Google Shape;1338;p6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339" name="Google Shape;1339;p6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63</a:t>
            </a:fld>
            <a:endParaRPr sz="1800">
              <a:solidFill>
                <a:schemeClr val="dk1"/>
              </a:solidFill>
              <a:latin typeface="Arial"/>
              <a:ea typeface="Arial"/>
              <a:cs typeface="Arial"/>
              <a:sym typeface="Aria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
        <p:cNvGrpSpPr/>
        <p:nvPr/>
      </p:nvGrpSpPr>
      <p:grpSpPr>
        <a:xfrm>
          <a:off x="0" y="0"/>
          <a:ext cx="0" cy="0"/>
          <a:chOff x="0" y="0"/>
          <a:chExt cx="0" cy="0"/>
        </a:xfrm>
      </p:grpSpPr>
      <p:sp>
        <p:nvSpPr>
          <p:cNvPr id="1360" name="Google Shape;1360;p6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61" name="Google Shape;1361;p6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362" name="Google Shape;1362;p6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64</a:t>
            </a:fld>
            <a:endParaRPr sz="1800">
              <a:solidFill>
                <a:schemeClr val="dk1"/>
              </a:solidFill>
              <a:latin typeface="Arial"/>
              <a:ea typeface="Arial"/>
              <a:cs typeface="Arial"/>
              <a:sym typeface="Aria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1"/>
        <p:cNvGrpSpPr/>
        <p:nvPr/>
      </p:nvGrpSpPr>
      <p:grpSpPr>
        <a:xfrm>
          <a:off x="0" y="0"/>
          <a:ext cx="0" cy="0"/>
          <a:chOff x="0" y="0"/>
          <a:chExt cx="0" cy="0"/>
        </a:xfrm>
      </p:grpSpPr>
      <p:sp>
        <p:nvSpPr>
          <p:cNvPr id="1372" name="Google Shape;1372;p6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3" name="Google Shape;1373;p6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374" name="Google Shape;1374;p6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65</a:t>
            </a:fld>
            <a:endParaRPr sz="1800">
              <a:solidFill>
                <a:schemeClr val="dk1"/>
              </a:solidFill>
              <a:latin typeface="Arial"/>
              <a:ea typeface="Arial"/>
              <a:cs typeface="Arial"/>
              <a:sym typeface="Aria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7"/>
        <p:cNvGrpSpPr/>
        <p:nvPr/>
      </p:nvGrpSpPr>
      <p:grpSpPr>
        <a:xfrm>
          <a:off x="0" y="0"/>
          <a:ext cx="0" cy="0"/>
          <a:chOff x="0" y="0"/>
          <a:chExt cx="0" cy="0"/>
        </a:xfrm>
      </p:grpSpPr>
      <p:sp>
        <p:nvSpPr>
          <p:cNvPr id="1398" name="Google Shape;1398;p6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9" name="Google Shape;1399;p6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400" name="Google Shape;1400;p6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66</a:t>
            </a:fld>
            <a:endParaRPr sz="1800">
              <a:solidFill>
                <a:schemeClr val="dk1"/>
              </a:solidFill>
              <a:latin typeface="Arial"/>
              <a:ea typeface="Arial"/>
              <a:cs typeface="Arial"/>
              <a:sym typeface="Aria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6"/>
        <p:cNvGrpSpPr/>
        <p:nvPr/>
      </p:nvGrpSpPr>
      <p:grpSpPr>
        <a:xfrm>
          <a:off x="0" y="0"/>
          <a:ext cx="0" cy="0"/>
          <a:chOff x="0" y="0"/>
          <a:chExt cx="0" cy="0"/>
        </a:xfrm>
      </p:grpSpPr>
      <p:sp>
        <p:nvSpPr>
          <p:cNvPr id="1417" name="Google Shape;1417;p6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18" name="Google Shape;1418;p6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419" name="Google Shape;1419;p6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67</a:t>
            </a:fld>
            <a:endParaRPr sz="1800">
              <a:solidFill>
                <a:schemeClr val="dk1"/>
              </a:solidFill>
              <a:latin typeface="Arial"/>
              <a:ea typeface="Arial"/>
              <a:cs typeface="Arial"/>
              <a:sym typeface="Aria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p:cNvGrpSpPr/>
        <p:nvPr/>
      </p:nvGrpSpPr>
      <p:grpSpPr>
        <a:xfrm>
          <a:off x="0" y="0"/>
          <a:ext cx="0" cy="0"/>
          <a:chOff x="0" y="0"/>
          <a:chExt cx="0" cy="0"/>
        </a:xfrm>
      </p:grpSpPr>
      <p:sp>
        <p:nvSpPr>
          <p:cNvPr id="1439" name="Google Shape;1439;p6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40" name="Google Shape;1440;p6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441" name="Google Shape;1441;p6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68</a:t>
            </a:fld>
            <a:endParaRPr sz="1800">
              <a:solidFill>
                <a:schemeClr val="dk1"/>
              </a:solidFill>
              <a:latin typeface="Arial"/>
              <a:ea typeface="Arial"/>
              <a:cs typeface="Arial"/>
              <a:sym typeface="Aria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9"/>
        <p:cNvGrpSpPr/>
        <p:nvPr/>
      </p:nvGrpSpPr>
      <p:grpSpPr>
        <a:xfrm>
          <a:off x="0" y="0"/>
          <a:ext cx="0" cy="0"/>
          <a:chOff x="0" y="0"/>
          <a:chExt cx="0" cy="0"/>
        </a:xfrm>
      </p:grpSpPr>
      <p:sp>
        <p:nvSpPr>
          <p:cNvPr id="1470" name="Google Shape;1470;p6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71" name="Google Shape;1471;p6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472" name="Google Shape;1472;p6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69</a:t>
            </a:fld>
            <a:endParaRPr sz="1800">
              <a:solidFill>
                <a:schemeClr val="dk1"/>
              </a:solidFill>
              <a:latin typeface="Arial"/>
              <a:ea typeface="Arial"/>
              <a:cs typeface="Arial"/>
              <a:sym typeface="Aria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1"/>
        <p:cNvGrpSpPr/>
        <p:nvPr/>
      </p:nvGrpSpPr>
      <p:grpSpPr>
        <a:xfrm>
          <a:off x="0" y="0"/>
          <a:ext cx="0" cy="0"/>
          <a:chOff x="0" y="0"/>
          <a:chExt cx="0" cy="0"/>
        </a:xfrm>
      </p:grpSpPr>
      <p:sp>
        <p:nvSpPr>
          <p:cNvPr id="1492" name="Google Shape;1492;p7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93" name="Google Shape;1493;p7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494" name="Google Shape;1494;p7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70</a:t>
            </a:fld>
            <a:endParaRPr sz="1800">
              <a:solidFill>
                <a:schemeClr val="dk1"/>
              </a:solidFill>
              <a:latin typeface="Arial"/>
              <a:ea typeface="Arial"/>
              <a:cs typeface="Arial"/>
              <a:sym typeface="Aria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3"/>
        <p:cNvGrpSpPr/>
        <p:nvPr/>
      </p:nvGrpSpPr>
      <p:grpSpPr>
        <a:xfrm>
          <a:off x="0" y="0"/>
          <a:ext cx="0" cy="0"/>
          <a:chOff x="0" y="0"/>
          <a:chExt cx="0" cy="0"/>
        </a:xfrm>
      </p:grpSpPr>
      <p:sp>
        <p:nvSpPr>
          <p:cNvPr id="1514" name="Google Shape;1514;p7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15" name="Google Shape;1515;p7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516" name="Google Shape;1516;p7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71</a:t>
            </a:fld>
            <a:endParaRPr sz="1800">
              <a:solidFill>
                <a:schemeClr val="dk1"/>
              </a:solidFill>
              <a:latin typeface="Arial"/>
              <a:ea typeface="Arial"/>
              <a:cs typeface="Arial"/>
              <a:sym typeface="Aria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4"/>
        <p:cNvGrpSpPr/>
        <p:nvPr/>
      </p:nvGrpSpPr>
      <p:grpSpPr>
        <a:xfrm>
          <a:off x="0" y="0"/>
          <a:ext cx="0" cy="0"/>
          <a:chOff x="0" y="0"/>
          <a:chExt cx="0" cy="0"/>
        </a:xfrm>
      </p:grpSpPr>
      <p:sp>
        <p:nvSpPr>
          <p:cNvPr id="1535" name="Google Shape;1535;p7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36" name="Google Shape;1536;p7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537" name="Google Shape;1537;p7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72</a:t>
            </a:fld>
            <a:endParaRPr sz="1800">
              <a:solidFill>
                <a:schemeClr val="dk1"/>
              </a:solidFill>
              <a:latin typeface="Arial"/>
              <a:ea typeface="Arial"/>
              <a:cs typeface="Arial"/>
              <a:sym typeface="Aria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4"/>
        <p:cNvGrpSpPr/>
        <p:nvPr/>
      </p:nvGrpSpPr>
      <p:grpSpPr>
        <a:xfrm>
          <a:off x="0" y="0"/>
          <a:ext cx="0" cy="0"/>
          <a:chOff x="0" y="0"/>
          <a:chExt cx="0" cy="0"/>
        </a:xfrm>
      </p:grpSpPr>
      <p:sp>
        <p:nvSpPr>
          <p:cNvPr id="1545" name="Google Shape;1545;p7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46" name="Google Shape;1546;p7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547" name="Google Shape;1547;p7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73</a:t>
            </a:fld>
            <a:endParaRPr sz="1800">
              <a:solidFill>
                <a:schemeClr val="dk1"/>
              </a:solidFill>
              <a:latin typeface="Arial"/>
              <a:ea typeface="Arial"/>
              <a:cs typeface="Arial"/>
              <a:sym typeface="Aria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6"/>
        <p:cNvGrpSpPr/>
        <p:nvPr/>
      </p:nvGrpSpPr>
      <p:grpSpPr>
        <a:xfrm>
          <a:off x="0" y="0"/>
          <a:ext cx="0" cy="0"/>
          <a:chOff x="0" y="0"/>
          <a:chExt cx="0" cy="0"/>
        </a:xfrm>
      </p:grpSpPr>
      <p:sp>
        <p:nvSpPr>
          <p:cNvPr id="1567" name="Google Shape;1567;p7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8" name="Google Shape;1568;p7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569" name="Google Shape;1569;p7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74</a:t>
            </a:fld>
            <a:endParaRPr sz="1800">
              <a:solidFill>
                <a:schemeClr val="dk1"/>
              </a:solidFill>
              <a:latin typeface="Arial"/>
              <a:ea typeface="Arial"/>
              <a:cs typeface="Arial"/>
              <a:sym typeface="Aria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8"/>
        <p:cNvGrpSpPr/>
        <p:nvPr/>
      </p:nvGrpSpPr>
      <p:grpSpPr>
        <a:xfrm>
          <a:off x="0" y="0"/>
          <a:ext cx="0" cy="0"/>
          <a:chOff x="0" y="0"/>
          <a:chExt cx="0" cy="0"/>
        </a:xfrm>
      </p:grpSpPr>
      <p:sp>
        <p:nvSpPr>
          <p:cNvPr id="1589" name="Google Shape;1589;p7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90" name="Google Shape;1590;p7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591" name="Google Shape;1591;p7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75</a:t>
            </a:fld>
            <a:endParaRPr sz="1800">
              <a:solidFill>
                <a:schemeClr val="dk1"/>
              </a:solidFill>
              <a:latin typeface="Arial"/>
              <a:ea typeface="Arial"/>
              <a:cs typeface="Arial"/>
              <a:sym typeface="Aria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0"/>
        <p:cNvGrpSpPr/>
        <p:nvPr/>
      </p:nvGrpSpPr>
      <p:grpSpPr>
        <a:xfrm>
          <a:off x="0" y="0"/>
          <a:ext cx="0" cy="0"/>
          <a:chOff x="0" y="0"/>
          <a:chExt cx="0" cy="0"/>
        </a:xfrm>
      </p:grpSpPr>
      <p:sp>
        <p:nvSpPr>
          <p:cNvPr id="1611" name="Google Shape;1611;p7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12" name="Google Shape;1612;p7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613" name="Google Shape;1613;p7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76</a:t>
            </a:fld>
            <a:endParaRPr sz="1800">
              <a:solidFill>
                <a:schemeClr val="dk1"/>
              </a:solidFill>
              <a:latin typeface="Arial"/>
              <a:ea typeface="Arial"/>
              <a:cs typeface="Arial"/>
              <a:sym typeface="Aria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2"/>
        <p:cNvGrpSpPr/>
        <p:nvPr/>
      </p:nvGrpSpPr>
      <p:grpSpPr>
        <a:xfrm>
          <a:off x="0" y="0"/>
          <a:ext cx="0" cy="0"/>
          <a:chOff x="0" y="0"/>
          <a:chExt cx="0" cy="0"/>
        </a:xfrm>
      </p:grpSpPr>
      <p:sp>
        <p:nvSpPr>
          <p:cNvPr id="1633" name="Google Shape;1633;p7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34" name="Google Shape;1634;p7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635" name="Google Shape;1635;p7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77</a:t>
            </a:fld>
            <a:endParaRPr sz="1800">
              <a:solidFill>
                <a:schemeClr val="dk1"/>
              </a:solidFill>
              <a:latin typeface="Arial"/>
              <a:ea typeface="Arial"/>
              <a:cs typeface="Arial"/>
              <a:sym typeface="Aria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4"/>
        <p:cNvGrpSpPr/>
        <p:nvPr/>
      </p:nvGrpSpPr>
      <p:grpSpPr>
        <a:xfrm>
          <a:off x="0" y="0"/>
          <a:ext cx="0" cy="0"/>
          <a:chOff x="0" y="0"/>
          <a:chExt cx="0" cy="0"/>
        </a:xfrm>
      </p:grpSpPr>
      <p:sp>
        <p:nvSpPr>
          <p:cNvPr id="1655" name="Google Shape;1655;p7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56" name="Google Shape;1656;p7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657" name="Google Shape;1657;p7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78</a:t>
            </a:fld>
            <a:endParaRPr sz="1800">
              <a:solidFill>
                <a:schemeClr val="dk1"/>
              </a:solidFill>
              <a:latin typeface="Arial"/>
              <a:ea typeface="Arial"/>
              <a:cs typeface="Arial"/>
              <a:sym typeface="Aria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6"/>
        <p:cNvGrpSpPr/>
        <p:nvPr/>
      </p:nvGrpSpPr>
      <p:grpSpPr>
        <a:xfrm>
          <a:off x="0" y="0"/>
          <a:ext cx="0" cy="0"/>
          <a:chOff x="0" y="0"/>
          <a:chExt cx="0" cy="0"/>
        </a:xfrm>
      </p:grpSpPr>
      <p:sp>
        <p:nvSpPr>
          <p:cNvPr id="1677" name="Google Shape;1677;p7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78" name="Google Shape;1678;p7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679" name="Google Shape;1679;p7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79</a:t>
            </a:fld>
            <a:endParaRPr sz="1800">
              <a:solidFill>
                <a:schemeClr val="dk1"/>
              </a:solidFill>
              <a:latin typeface="Arial"/>
              <a:ea typeface="Arial"/>
              <a:cs typeface="Arial"/>
              <a:sym typeface="Aria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p:cNvGrpSpPr/>
        <p:nvPr/>
      </p:nvGrpSpPr>
      <p:grpSpPr>
        <a:xfrm>
          <a:off x="0" y="0"/>
          <a:ext cx="0" cy="0"/>
          <a:chOff x="0" y="0"/>
          <a:chExt cx="0" cy="0"/>
        </a:xfrm>
      </p:grpSpPr>
      <p:sp>
        <p:nvSpPr>
          <p:cNvPr id="1699" name="Google Shape;1699;p8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00" name="Google Shape;1700;p8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701" name="Google Shape;1701;p8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80</a:t>
            </a:fld>
            <a:endParaRPr sz="1800">
              <a:solidFill>
                <a:schemeClr val="dk1"/>
              </a:solidFill>
              <a:latin typeface="Arial"/>
              <a:ea typeface="Arial"/>
              <a:cs typeface="Arial"/>
              <a:sym typeface="Aria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p:cNvGrpSpPr/>
        <p:nvPr/>
      </p:nvGrpSpPr>
      <p:grpSpPr>
        <a:xfrm>
          <a:off x="0" y="0"/>
          <a:ext cx="0" cy="0"/>
          <a:chOff x="0" y="0"/>
          <a:chExt cx="0" cy="0"/>
        </a:xfrm>
      </p:grpSpPr>
      <p:sp>
        <p:nvSpPr>
          <p:cNvPr id="1721" name="Google Shape;1721;p8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22" name="Google Shape;1722;p8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723" name="Google Shape;1723;p8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81</a:t>
            </a:fld>
            <a:endParaRPr sz="1800">
              <a:solidFill>
                <a:schemeClr val="dk1"/>
              </a:solidFill>
              <a:latin typeface="Arial"/>
              <a:ea typeface="Arial"/>
              <a:cs typeface="Arial"/>
              <a:sym typeface="Aria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2"/>
        <p:cNvGrpSpPr/>
        <p:nvPr/>
      </p:nvGrpSpPr>
      <p:grpSpPr>
        <a:xfrm>
          <a:off x="0" y="0"/>
          <a:ext cx="0" cy="0"/>
          <a:chOff x="0" y="0"/>
          <a:chExt cx="0" cy="0"/>
        </a:xfrm>
      </p:grpSpPr>
      <p:sp>
        <p:nvSpPr>
          <p:cNvPr id="1743" name="Google Shape;1743;p8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44" name="Google Shape;1744;p8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745" name="Google Shape;1745;p8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82</a:t>
            </a:fld>
            <a:endParaRPr sz="1800">
              <a:solidFill>
                <a:schemeClr val="dk1"/>
              </a:solidFill>
              <a:latin typeface="Arial"/>
              <a:ea typeface="Arial"/>
              <a:cs typeface="Arial"/>
              <a:sym typeface="Aria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4"/>
        <p:cNvGrpSpPr/>
        <p:nvPr/>
      </p:nvGrpSpPr>
      <p:grpSpPr>
        <a:xfrm>
          <a:off x="0" y="0"/>
          <a:ext cx="0" cy="0"/>
          <a:chOff x="0" y="0"/>
          <a:chExt cx="0" cy="0"/>
        </a:xfrm>
      </p:grpSpPr>
      <p:sp>
        <p:nvSpPr>
          <p:cNvPr id="1765" name="Google Shape;1765;p8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66" name="Google Shape;1766;p8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767" name="Google Shape;1767;p8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83</a:t>
            </a:fld>
            <a:endParaRPr sz="1800">
              <a:solidFill>
                <a:schemeClr val="dk1"/>
              </a:solidFill>
              <a:latin typeface="Arial"/>
              <a:ea typeface="Arial"/>
              <a:cs typeface="Arial"/>
              <a:sym typeface="Aria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4"/>
        <p:cNvGrpSpPr/>
        <p:nvPr/>
      </p:nvGrpSpPr>
      <p:grpSpPr>
        <a:xfrm>
          <a:off x="0" y="0"/>
          <a:ext cx="0" cy="0"/>
          <a:chOff x="0" y="0"/>
          <a:chExt cx="0" cy="0"/>
        </a:xfrm>
      </p:grpSpPr>
      <p:sp>
        <p:nvSpPr>
          <p:cNvPr id="1775" name="Google Shape;1775;p8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76" name="Google Shape;1776;p8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777" name="Google Shape;1777;p8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rw-RW" sz="1800">
                <a:solidFill>
                  <a:schemeClr val="dk1"/>
                </a:solidFill>
                <a:latin typeface="Arial"/>
                <a:ea typeface="Arial"/>
                <a:cs typeface="Arial"/>
                <a:sym typeface="Arial"/>
              </a:rPr>
              <a:t>84</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
        <p:cNvGrpSpPr/>
        <p:nvPr/>
      </p:nvGrpSpPr>
      <p:grpSpPr>
        <a:xfrm>
          <a:off x="0" y="0"/>
          <a:ext cx="0" cy="0"/>
          <a:chOff x="0" y="0"/>
          <a:chExt cx="0" cy="0"/>
        </a:xfrm>
      </p:grpSpPr>
      <p:sp>
        <p:nvSpPr>
          <p:cNvPr id="12" name="Google Shape;12;p1"/>
          <p:cNvSpPr/>
          <p:nvPr/>
        </p:nvSpPr>
        <p:spPr>
          <a:xfrm>
            <a:off x="502920" y="777240"/>
            <a:ext cx="11183112" cy="5303520"/>
          </a:xfrm>
          <a:prstGeom prst="rect">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13;p1"/>
          <p:cNvSpPr/>
          <p:nvPr/>
        </p:nvSpPr>
        <p:spPr>
          <a:xfrm>
            <a:off x="8138160" y="182880"/>
            <a:ext cx="2834640" cy="2834640"/>
          </a:xfrm>
          <a:prstGeom prst="ellipse">
            <a:avLst/>
          </a:prstGeom>
          <a:solidFill>
            <a:srgbClr val="2272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 name="Google Shape;14;p1"/>
          <p:cNvSpPr/>
          <p:nvPr/>
        </p:nvSpPr>
        <p:spPr>
          <a:xfrm>
            <a:off x="9144000" y="2194560"/>
            <a:ext cx="2743200" cy="2743200"/>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15;p1"/>
          <p:cNvSpPr/>
          <p:nvPr/>
        </p:nvSpPr>
        <p:spPr>
          <a:xfrm>
            <a:off x="1234440" y="228600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200" b="1">
                <a:solidFill>
                  <a:srgbClr val="AFCBE3"/>
                </a:solidFill>
                <a:latin typeface="Calibri"/>
                <a:ea typeface="Calibri"/>
                <a:cs typeface="Calibri"/>
                <a:sym typeface="Calibri"/>
              </a:rPr>
              <a:t>IGICE CY'ABAJYANAMA B'UBUZIMA</a:t>
            </a:r>
            <a:endParaRPr sz="1200">
              <a:solidFill>
                <a:schemeClr val="dk1"/>
              </a:solidFill>
              <a:latin typeface="Calibri"/>
              <a:ea typeface="Calibri"/>
              <a:cs typeface="Calibri"/>
              <a:sym typeface="Calibri"/>
            </a:endParaRPr>
          </a:p>
        </p:txBody>
      </p:sp>
      <p:sp>
        <p:nvSpPr>
          <p:cNvPr id="16" name="Google Shape;16;p1"/>
          <p:cNvSpPr/>
          <p:nvPr/>
        </p:nvSpPr>
        <p:spPr>
          <a:xfrm>
            <a:off x="1234440" y="2606040"/>
            <a:ext cx="731520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5200"/>
              <a:buFont typeface="Cambria"/>
              <a:buNone/>
            </a:pPr>
            <a:r>
              <a:rPr lang="rw-RW" sz="5200" b="1">
                <a:solidFill>
                  <a:srgbClr val="FFFFFF"/>
                </a:solidFill>
                <a:latin typeface="Cambria"/>
                <a:ea typeface="Cambria"/>
                <a:cs typeface="Cambria"/>
                <a:sym typeface="Cambria"/>
              </a:rPr>
              <a:t>Kanseri y'igifu</a:t>
            </a:r>
            <a:endParaRPr sz="5200">
              <a:solidFill>
                <a:schemeClr val="dk1"/>
              </a:solidFill>
              <a:latin typeface="Calibri"/>
              <a:ea typeface="Calibri"/>
              <a:cs typeface="Calibri"/>
              <a:sym typeface="Calibri"/>
            </a:endParaRPr>
          </a:p>
        </p:txBody>
      </p:sp>
      <p:sp>
        <p:nvSpPr>
          <p:cNvPr id="17" name="Google Shape;17;p1"/>
          <p:cNvSpPr/>
          <p:nvPr/>
        </p:nvSpPr>
        <p:spPr>
          <a:xfrm>
            <a:off x="1234440" y="3657600"/>
            <a:ext cx="6766560" cy="457200"/>
          </a:xfrm>
          <a:prstGeom prst="rect">
            <a:avLst/>
          </a:prstGeom>
          <a:noFill/>
          <a:ln>
            <a:noFill/>
          </a:ln>
        </p:spPr>
        <p:txBody>
          <a:bodyPr spcFirstLastPara="1" wrap="square" lIns="0" tIns="0" rIns="0" bIns="0" anchor="ctr" anchorCtr="0">
            <a:normAutofit fontScale="92500" lnSpcReduction="10000"/>
          </a:bodyPr>
          <a:lstStyle/>
          <a:p>
            <a:pPr marL="0" marR="0" lvl="0" indent="0" algn="l" rtl="0">
              <a:lnSpc>
                <a:spcPct val="90000"/>
              </a:lnSpc>
              <a:spcBef>
                <a:spcPts val="0"/>
              </a:spcBef>
              <a:spcAft>
                <a:spcPts val="0"/>
              </a:spcAft>
              <a:buClr>
                <a:srgbClr val="D9E7F3"/>
              </a:buClr>
              <a:buSzPts val="1643"/>
              <a:buFont typeface="Calibri"/>
              <a:buNone/>
            </a:pPr>
            <a:r>
              <a:rPr lang="rw-RW" sz="1900">
                <a:solidFill>
                  <a:srgbClr val="D9E7F3"/>
                </a:solidFill>
                <a:latin typeface="Calibri"/>
                <a:ea typeface="Calibri"/>
                <a:cs typeface="Calibri"/>
                <a:sym typeface="Calibri"/>
              </a:rPr>
              <a:t>Urugendo rwawe rwo kwiga: kubona, gusobanura, kuyobora, gukurikirana, gushyigikira.</a:t>
            </a:r>
            <a:endParaRPr sz="1644">
              <a:solidFill>
                <a:schemeClr val="dk1"/>
              </a:solidFill>
              <a:latin typeface="Calibri"/>
              <a:ea typeface="Calibri"/>
              <a:cs typeface="Calibri"/>
              <a:sym typeface="Calibri"/>
            </a:endParaRPr>
          </a:p>
        </p:txBody>
      </p:sp>
      <p:sp>
        <p:nvSpPr>
          <p:cNvPr id="18" name="Google Shape;18;p1"/>
          <p:cNvSpPr/>
          <p:nvPr/>
        </p:nvSpPr>
        <p:spPr>
          <a:xfrm>
            <a:off x="1234440" y="4343400"/>
            <a:ext cx="1828800" cy="502920"/>
          </a:xfrm>
          <a:prstGeom prst="roundRect">
            <a:avLst>
              <a:gd name="adj" fmla="val 49091"/>
            </a:avLst>
          </a:prstGeom>
          <a:solidFill>
            <a:srgbClr val="0F3D63"/>
          </a:solidFill>
          <a:ln w="15875" cap="flat" cmpd="sng">
            <a:solidFill>
              <a:srgbClr val="6FA8D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 name="Google Shape;19;p1"/>
          <p:cNvSpPr/>
          <p:nvPr/>
        </p:nvSpPr>
        <p:spPr>
          <a:xfrm>
            <a:off x="1234440" y="4343400"/>
            <a:ext cx="182880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500"/>
              <a:buFont typeface="Calibri"/>
              <a:buNone/>
            </a:pPr>
            <a:r>
              <a:rPr lang="rw-RW" sz="1500" b="1">
                <a:solidFill>
                  <a:srgbClr val="FFFFFF"/>
                </a:solidFill>
                <a:latin typeface="Calibri"/>
                <a:ea typeface="Calibri"/>
                <a:cs typeface="Calibri"/>
                <a:sym typeface="Calibri"/>
              </a:rPr>
              <a:t>Ikinyarwanda</a:t>
            </a:r>
            <a:endParaRPr sz="1500">
              <a:solidFill>
                <a:schemeClr val="dk1"/>
              </a:solidFill>
              <a:latin typeface="Calibri"/>
              <a:ea typeface="Calibri"/>
              <a:cs typeface="Calibri"/>
              <a:sym typeface="Calibri"/>
            </a:endParaRPr>
          </a:p>
        </p:txBody>
      </p:sp>
      <p:sp>
        <p:nvSpPr>
          <p:cNvPr id="20" name="Google Shape;20;p1"/>
          <p:cNvSpPr/>
          <p:nvPr/>
        </p:nvSpPr>
        <p:spPr>
          <a:xfrm>
            <a:off x="1234440" y="525780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FBFDC"/>
              </a:buClr>
              <a:buSzPts val="1300"/>
              <a:buFont typeface="Calibri"/>
              <a:buNone/>
            </a:pPr>
            <a:r>
              <a:rPr lang="rw-RW" sz="1300">
                <a:solidFill>
                  <a:srgbClr val="9FBFDC"/>
                </a:solidFill>
                <a:latin typeface="Calibri"/>
                <a:ea typeface="Calibri"/>
                <a:cs typeface="Calibri"/>
                <a:sym typeface="Calibri"/>
              </a:rPr>
              <a:t>Rwanda Biomedical Centre | CHW</a:t>
            </a:r>
            <a:endParaRPr sz="13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
        <p:cNvGrpSpPr/>
        <p:nvPr/>
      </p:nvGrpSpPr>
      <p:grpSpPr>
        <a:xfrm>
          <a:off x="0" y="0"/>
          <a:ext cx="0" cy="0"/>
          <a:chOff x="0" y="0"/>
          <a:chExt cx="0" cy="0"/>
        </a:xfrm>
      </p:grpSpPr>
      <p:sp>
        <p:nvSpPr>
          <p:cNvPr id="26" name="Google Shape;26;p2"/>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dirty="0">
                <a:solidFill>
                  <a:srgbClr val="2272B8"/>
                </a:solidFill>
                <a:latin typeface="Calibri"/>
                <a:ea typeface="Calibri"/>
                <a:cs typeface="Calibri"/>
                <a:sym typeface="Calibri"/>
              </a:rPr>
              <a:t>AMASOMO YA CHW</a:t>
            </a:r>
            <a:endParaRPr sz="1100" dirty="0">
              <a:solidFill>
                <a:schemeClr val="dk1"/>
              </a:solidFill>
              <a:latin typeface="Calibri"/>
              <a:ea typeface="Calibri"/>
              <a:cs typeface="Calibri"/>
              <a:sym typeface="Calibri"/>
            </a:endParaRPr>
          </a:p>
        </p:txBody>
      </p:sp>
      <p:sp>
        <p:nvSpPr>
          <p:cNvPr id="27" name="Google Shape;27;p2"/>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Icyo wakora</a:t>
            </a:r>
            <a:endParaRPr sz="3400">
              <a:solidFill>
                <a:schemeClr val="dk1"/>
              </a:solidFill>
              <a:latin typeface="Calibri"/>
              <a:ea typeface="Calibri"/>
              <a:cs typeface="Calibri"/>
              <a:sym typeface="Calibri"/>
            </a:endParaRPr>
          </a:p>
        </p:txBody>
      </p:sp>
      <p:sp>
        <p:nvSpPr>
          <p:cNvPr id="28" name="Google Shape;28;p2"/>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29" name="Google Shape;29;p2"/>
          <p:cNvSpPr/>
          <p:nvPr/>
        </p:nvSpPr>
        <p:spPr>
          <a:xfrm>
            <a:off x="548640" y="1783080"/>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 name="Google Shape;30;p2"/>
          <p:cNvSpPr/>
          <p:nvPr/>
        </p:nvSpPr>
        <p:spPr>
          <a:xfrm>
            <a:off x="804672" y="1965960"/>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Sobanura</a:t>
            </a:r>
            <a:endParaRPr sz="2100">
              <a:solidFill>
                <a:schemeClr val="dk1"/>
              </a:solidFill>
              <a:latin typeface="Calibri"/>
              <a:ea typeface="Calibri"/>
              <a:cs typeface="Calibri"/>
              <a:sym typeface="Calibri"/>
            </a:endParaRPr>
          </a:p>
        </p:txBody>
      </p:sp>
      <p:sp>
        <p:nvSpPr>
          <p:cNvPr id="31" name="Google Shape;31;p2"/>
          <p:cNvSpPr/>
          <p:nvPr/>
        </p:nvSpPr>
        <p:spPr>
          <a:xfrm>
            <a:off x="804672" y="2404872"/>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674"/>
              <a:buFont typeface="Calibri"/>
              <a:buNone/>
            </a:pPr>
            <a:r>
              <a:rPr lang="rw-RW" sz="1800">
                <a:solidFill>
                  <a:srgbClr val="16334F"/>
                </a:solidFill>
                <a:latin typeface="Calibri"/>
                <a:ea typeface="Calibri"/>
                <a:cs typeface="Calibri"/>
                <a:sym typeface="Calibri"/>
              </a:rPr>
              <a:t>Sobanura mu magambo yoroheje; kanseri y'igifu icyo ari cyo n'aho itangirira.</a:t>
            </a:r>
            <a:endParaRPr sz="1674">
              <a:solidFill>
                <a:schemeClr val="dk1"/>
              </a:solidFill>
              <a:latin typeface="Calibri"/>
              <a:ea typeface="Calibri"/>
              <a:cs typeface="Calibri"/>
              <a:sym typeface="Calibri"/>
            </a:endParaRPr>
          </a:p>
        </p:txBody>
      </p:sp>
      <p:sp>
        <p:nvSpPr>
          <p:cNvPr id="32" name="Google Shape;32;p2"/>
          <p:cNvSpPr/>
          <p:nvPr/>
        </p:nvSpPr>
        <p:spPr>
          <a:xfrm>
            <a:off x="4343400" y="1783080"/>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 name="Google Shape;33;p2"/>
          <p:cNvSpPr/>
          <p:nvPr/>
        </p:nvSpPr>
        <p:spPr>
          <a:xfrm>
            <a:off x="4599432" y="1965960"/>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Kumenya</a:t>
            </a:r>
            <a:endParaRPr sz="2100">
              <a:solidFill>
                <a:schemeClr val="dk1"/>
              </a:solidFill>
              <a:latin typeface="Calibri"/>
              <a:ea typeface="Calibri"/>
              <a:cs typeface="Calibri"/>
              <a:sym typeface="Calibri"/>
            </a:endParaRPr>
          </a:p>
        </p:txBody>
      </p:sp>
      <p:sp>
        <p:nvSpPr>
          <p:cNvPr id="34" name="Google Shape;34;p2"/>
          <p:cNvSpPr/>
          <p:nvPr/>
        </p:nvSpPr>
        <p:spPr>
          <a:xfrm>
            <a:off x="4599432" y="2404872"/>
            <a:ext cx="2990088" cy="86868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95000"/>
              </a:lnSpc>
              <a:spcBef>
                <a:spcPts val="0"/>
              </a:spcBef>
              <a:spcAft>
                <a:spcPts val="0"/>
              </a:spcAft>
              <a:buClr>
                <a:srgbClr val="16334F"/>
              </a:buClr>
              <a:buSzPts val="1539"/>
              <a:buFont typeface="Calibri"/>
              <a:buNone/>
            </a:pPr>
            <a:r>
              <a:rPr lang="rw-RW" sz="1800">
                <a:solidFill>
                  <a:srgbClr val="16334F"/>
                </a:solidFill>
                <a:latin typeface="Calibri"/>
                <a:ea typeface="Calibri"/>
                <a:cs typeface="Calibri"/>
                <a:sym typeface="Calibri"/>
              </a:rPr>
              <a:t>Menya ibimenyetso bisaba kwisuzumisha kwa muganga n'ibimenyetso mpuruza bisaba ubufasha bwihutirwa.</a:t>
            </a:r>
            <a:endParaRPr sz="1539">
              <a:solidFill>
                <a:schemeClr val="dk1"/>
              </a:solidFill>
              <a:latin typeface="Calibri"/>
              <a:ea typeface="Calibri"/>
              <a:cs typeface="Calibri"/>
              <a:sym typeface="Calibri"/>
            </a:endParaRPr>
          </a:p>
        </p:txBody>
      </p:sp>
      <p:sp>
        <p:nvSpPr>
          <p:cNvPr id="35" name="Google Shape;35;p2"/>
          <p:cNvSpPr/>
          <p:nvPr/>
        </p:nvSpPr>
        <p:spPr>
          <a:xfrm>
            <a:off x="8138160" y="1783080"/>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 name="Google Shape;36;p2"/>
          <p:cNvSpPr/>
          <p:nvPr/>
        </p:nvSpPr>
        <p:spPr>
          <a:xfrm>
            <a:off x="8394192" y="1965960"/>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Kohereza</a:t>
            </a:r>
            <a:endParaRPr sz="2100">
              <a:solidFill>
                <a:schemeClr val="dk1"/>
              </a:solidFill>
              <a:latin typeface="Calibri"/>
              <a:ea typeface="Calibri"/>
              <a:cs typeface="Calibri"/>
              <a:sym typeface="Calibri"/>
            </a:endParaRPr>
          </a:p>
        </p:txBody>
      </p:sp>
      <p:sp>
        <p:nvSpPr>
          <p:cNvPr id="37" name="Google Shape;37;p2"/>
          <p:cNvSpPr/>
          <p:nvPr/>
        </p:nvSpPr>
        <p:spPr>
          <a:xfrm>
            <a:off x="8394192" y="2404872"/>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674"/>
              <a:buFont typeface="Calibri"/>
              <a:buNone/>
            </a:pPr>
            <a:r>
              <a:rPr lang="rw-RW" sz="1800">
                <a:solidFill>
                  <a:srgbClr val="16334F"/>
                </a:solidFill>
                <a:latin typeface="Calibri"/>
                <a:ea typeface="Calibri"/>
                <a:cs typeface="Calibri"/>
                <a:sym typeface="Calibri"/>
              </a:rPr>
              <a:t>Kumenya igihe gikwiye cyo kohereza umuntu kwitabwaho n’abaganga,kandi byihuse.</a:t>
            </a:r>
            <a:endParaRPr sz="1674">
              <a:solidFill>
                <a:schemeClr val="dk1"/>
              </a:solidFill>
              <a:latin typeface="Calibri"/>
              <a:ea typeface="Calibri"/>
              <a:cs typeface="Calibri"/>
              <a:sym typeface="Calibri"/>
            </a:endParaRPr>
          </a:p>
        </p:txBody>
      </p:sp>
      <p:sp>
        <p:nvSpPr>
          <p:cNvPr id="38" name="Google Shape;38;p2"/>
          <p:cNvSpPr/>
          <p:nvPr/>
        </p:nvSpPr>
        <p:spPr>
          <a:xfrm>
            <a:off x="548640" y="3767327"/>
            <a:ext cx="3502152" cy="1907331"/>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 name="Google Shape;39;p2"/>
          <p:cNvSpPr/>
          <p:nvPr/>
        </p:nvSpPr>
        <p:spPr>
          <a:xfrm>
            <a:off x="804672" y="3950208"/>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Gutanga inama</a:t>
            </a:r>
            <a:endParaRPr sz="2100">
              <a:solidFill>
                <a:schemeClr val="dk1"/>
              </a:solidFill>
              <a:latin typeface="Calibri"/>
              <a:ea typeface="Calibri"/>
              <a:cs typeface="Calibri"/>
              <a:sym typeface="Calibri"/>
            </a:endParaRPr>
          </a:p>
        </p:txBody>
      </p:sp>
      <p:sp>
        <p:nvSpPr>
          <p:cNvPr id="40" name="Google Shape;40;p2"/>
          <p:cNvSpPr/>
          <p:nvPr/>
        </p:nvSpPr>
        <p:spPr>
          <a:xfrm>
            <a:off x="804672" y="4389120"/>
            <a:ext cx="2990088" cy="868680"/>
          </a:xfrm>
          <a:prstGeom prst="rect">
            <a:avLst/>
          </a:prstGeom>
          <a:noFill/>
          <a:ln>
            <a:noFill/>
          </a:ln>
        </p:spPr>
        <p:txBody>
          <a:bodyPr spcFirstLastPara="1" wrap="square" lIns="0" tIns="0" rIns="0" bIns="0" anchor="t" anchorCtr="0">
            <a:normAutofit fontScale="92500"/>
          </a:bodyPr>
          <a:lstStyle/>
          <a:p>
            <a:pPr marL="0" marR="0" lvl="0" indent="0" algn="l" rtl="0">
              <a:lnSpc>
                <a:spcPct val="105000"/>
              </a:lnSpc>
              <a:spcBef>
                <a:spcPts val="0"/>
              </a:spcBef>
              <a:spcAft>
                <a:spcPts val="0"/>
              </a:spcAft>
              <a:buClr>
                <a:srgbClr val="16334F"/>
              </a:buClr>
              <a:buSzPts val="1674"/>
              <a:buFont typeface="Calibri"/>
              <a:buNone/>
            </a:pPr>
            <a:r>
              <a:rPr lang="rw-RW" sz="1800">
                <a:solidFill>
                  <a:srgbClr val="16334F"/>
                </a:solidFill>
                <a:latin typeface="Calibri"/>
                <a:ea typeface="Calibri"/>
                <a:cs typeface="Calibri"/>
                <a:sym typeface="Calibri"/>
              </a:rPr>
              <a:t>Subiza impungenge zikunze kubaho kandi ukosore imyizerere itariyo, mu cyubahiro.</a:t>
            </a:r>
            <a:endParaRPr sz="1674">
              <a:solidFill>
                <a:schemeClr val="dk1"/>
              </a:solidFill>
              <a:latin typeface="Calibri"/>
              <a:ea typeface="Calibri"/>
              <a:cs typeface="Calibri"/>
              <a:sym typeface="Calibri"/>
            </a:endParaRPr>
          </a:p>
        </p:txBody>
      </p:sp>
      <p:sp>
        <p:nvSpPr>
          <p:cNvPr id="41" name="Google Shape;41;p2"/>
          <p:cNvSpPr/>
          <p:nvPr/>
        </p:nvSpPr>
        <p:spPr>
          <a:xfrm>
            <a:off x="4343400" y="3767327"/>
            <a:ext cx="3502152" cy="1907331"/>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 name="Google Shape;42;p2"/>
          <p:cNvSpPr/>
          <p:nvPr/>
        </p:nvSpPr>
        <p:spPr>
          <a:xfrm>
            <a:off x="4599432" y="3950208"/>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Gukurikirana</a:t>
            </a:r>
            <a:endParaRPr sz="2100">
              <a:solidFill>
                <a:schemeClr val="dk1"/>
              </a:solidFill>
              <a:latin typeface="Calibri"/>
              <a:ea typeface="Calibri"/>
              <a:cs typeface="Calibri"/>
              <a:sym typeface="Calibri"/>
            </a:endParaRPr>
          </a:p>
        </p:txBody>
      </p:sp>
      <p:sp>
        <p:nvSpPr>
          <p:cNvPr id="43" name="Google Shape;43;p2"/>
          <p:cNvSpPr/>
          <p:nvPr/>
        </p:nvSpPr>
        <p:spPr>
          <a:xfrm>
            <a:off x="4599432" y="4389120"/>
            <a:ext cx="2990088" cy="868680"/>
          </a:xfrm>
          <a:prstGeom prst="rect">
            <a:avLst/>
          </a:prstGeom>
          <a:noFill/>
          <a:ln>
            <a:noFill/>
          </a:ln>
        </p:spPr>
        <p:txBody>
          <a:bodyPr spcFirstLastPara="1" wrap="square" lIns="0" tIns="0" rIns="0" bIns="0" anchor="t" anchorCtr="0">
            <a:normAutofit fontScale="92500"/>
          </a:bodyPr>
          <a:lstStyle/>
          <a:p>
            <a:pPr marL="0" marR="0" lvl="0" indent="0" algn="l" rtl="0">
              <a:lnSpc>
                <a:spcPct val="105000"/>
              </a:lnSpc>
              <a:spcBef>
                <a:spcPts val="0"/>
              </a:spcBef>
              <a:spcAft>
                <a:spcPts val="0"/>
              </a:spcAft>
              <a:buClr>
                <a:srgbClr val="16334F"/>
              </a:buClr>
              <a:buSzPts val="1674"/>
              <a:buFont typeface="Calibri"/>
              <a:buNone/>
            </a:pPr>
            <a:r>
              <a:rPr lang="rw-RW" sz="1800">
                <a:solidFill>
                  <a:srgbClr val="16334F"/>
                </a:solidFill>
                <a:latin typeface="Calibri"/>
                <a:ea typeface="Calibri"/>
                <a:cs typeface="Calibri"/>
                <a:sym typeface="Calibri"/>
              </a:rPr>
              <a:t>Fasha abantu kubahiriza gahunda zo kwa muganga no gukomeza ubuvuzi bwabo kugeza burangiye.</a:t>
            </a:r>
            <a:endParaRPr sz="1674">
              <a:solidFill>
                <a:schemeClr val="dk1"/>
              </a:solidFill>
              <a:latin typeface="Calibri"/>
              <a:ea typeface="Calibri"/>
              <a:cs typeface="Calibri"/>
              <a:sym typeface="Calibri"/>
            </a:endParaRPr>
          </a:p>
        </p:txBody>
      </p:sp>
      <p:sp>
        <p:nvSpPr>
          <p:cNvPr id="44" name="Google Shape;44;p2"/>
          <p:cNvSpPr/>
          <p:nvPr/>
        </p:nvSpPr>
        <p:spPr>
          <a:xfrm>
            <a:off x="8138160" y="3767327"/>
            <a:ext cx="3502152" cy="1907331"/>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 name="Google Shape;45;p2"/>
          <p:cNvSpPr/>
          <p:nvPr/>
        </p:nvSpPr>
        <p:spPr>
          <a:xfrm>
            <a:off x="8394192" y="3950208"/>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Ubufasha</a:t>
            </a:r>
            <a:endParaRPr sz="2100">
              <a:solidFill>
                <a:schemeClr val="dk1"/>
              </a:solidFill>
              <a:latin typeface="Calibri"/>
              <a:ea typeface="Calibri"/>
              <a:cs typeface="Calibri"/>
              <a:sym typeface="Calibri"/>
            </a:endParaRPr>
          </a:p>
        </p:txBody>
      </p:sp>
      <p:sp>
        <p:nvSpPr>
          <p:cNvPr id="46" name="Google Shape;46;p2"/>
          <p:cNvSpPr/>
          <p:nvPr/>
        </p:nvSpPr>
        <p:spPr>
          <a:xfrm>
            <a:off x="8394192" y="4389120"/>
            <a:ext cx="2990088" cy="868680"/>
          </a:xfrm>
          <a:prstGeom prst="rect">
            <a:avLst/>
          </a:prstGeom>
          <a:noFill/>
          <a:ln>
            <a:noFill/>
          </a:ln>
        </p:spPr>
        <p:txBody>
          <a:bodyPr spcFirstLastPara="1" wrap="square" lIns="0" tIns="0" rIns="0" bIns="0" anchor="t" anchorCtr="0">
            <a:normAutofit fontScale="92500"/>
          </a:bodyPr>
          <a:lstStyle/>
          <a:p>
            <a:pPr marL="0" marR="0" lvl="0" indent="0" algn="l" rtl="0">
              <a:lnSpc>
                <a:spcPct val="105000"/>
              </a:lnSpc>
              <a:spcBef>
                <a:spcPts val="0"/>
              </a:spcBef>
              <a:spcAft>
                <a:spcPts val="0"/>
              </a:spcAft>
              <a:buClr>
                <a:srgbClr val="16334F"/>
              </a:buClr>
              <a:buSzPts val="1674"/>
              <a:buFont typeface="Calibri"/>
              <a:buNone/>
            </a:pPr>
            <a:r>
              <a:rPr lang="rw-RW" sz="1800">
                <a:solidFill>
                  <a:srgbClr val="16334F"/>
                </a:solidFill>
                <a:latin typeface="Calibri"/>
                <a:ea typeface="Calibri"/>
                <a:cs typeface="Calibri"/>
                <a:sym typeface="Calibri"/>
              </a:rPr>
              <a:t>Fasha mu guhumuriza, mu mirire no mu buzima bwa buri munsi mu gihe cyo kuvurwa na nyuma yaho.</a:t>
            </a:r>
            <a:endParaRPr sz="1674">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1"/>
        <p:cNvGrpSpPr/>
        <p:nvPr/>
      </p:nvGrpSpPr>
      <p:grpSpPr>
        <a:xfrm>
          <a:off x="0" y="0"/>
          <a:ext cx="0" cy="0"/>
          <a:chOff x="0" y="0"/>
          <a:chExt cx="0" cy="0"/>
        </a:xfrm>
      </p:grpSpPr>
      <p:sp>
        <p:nvSpPr>
          <p:cNvPr id="52" name="Google Shape;52;p3"/>
          <p:cNvSpPr/>
          <p:nvPr/>
        </p:nvSpPr>
        <p:spPr>
          <a:xfrm>
            <a:off x="55915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dirty="0">
                <a:solidFill>
                  <a:srgbClr val="2272B8"/>
                </a:solidFill>
                <a:latin typeface="Calibri"/>
                <a:ea typeface="Calibri"/>
                <a:cs typeface="Calibri"/>
                <a:sym typeface="Calibri"/>
              </a:rPr>
              <a:t>AMASOMO YA CHW</a:t>
            </a:r>
            <a:endParaRPr sz="1100" dirty="0">
              <a:solidFill>
                <a:schemeClr val="dk1"/>
              </a:solidFill>
              <a:latin typeface="Calibri"/>
              <a:ea typeface="Calibri"/>
              <a:cs typeface="Calibri"/>
              <a:sym typeface="Calibri"/>
            </a:endParaRPr>
          </a:p>
        </p:txBody>
      </p:sp>
      <p:sp>
        <p:nvSpPr>
          <p:cNvPr id="53" name="Google Shape;53;p3"/>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Ibiri muri iyi module</a:t>
            </a:r>
            <a:endParaRPr sz="3400">
              <a:solidFill>
                <a:schemeClr val="dk1"/>
              </a:solidFill>
              <a:latin typeface="Calibri"/>
              <a:ea typeface="Calibri"/>
              <a:cs typeface="Calibri"/>
              <a:sym typeface="Calibri"/>
            </a:endParaRPr>
          </a:p>
        </p:txBody>
      </p:sp>
      <p:sp>
        <p:nvSpPr>
          <p:cNvPr id="54" name="Google Shape;54;p3"/>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55" name="Google Shape;55;p3"/>
          <p:cNvSpPr/>
          <p:nvPr/>
        </p:nvSpPr>
        <p:spPr>
          <a:xfrm>
            <a:off x="548640" y="1403875"/>
            <a:ext cx="3502152" cy="2025125"/>
          </a:xfrm>
          <a:prstGeom prst="roundRect">
            <a:avLst>
              <a:gd name="adj" fmla="val 5581"/>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 name="Google Shape;56;p3"/>
          <p:cNvSpPr/>
          <p:nvPr/>
        </p:nvSpPr>
        <p:spPr>
          <a:xfrm>
            <a:off x="804672" y="1605043"/>
            <a:ext cx="2990088" cy="566928"/>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0"/>
              </a:spcBef>
              <a:spcAft>
                <a:spcPts val="0"/>
              </a:spcAft>
              <a:buClr>
                <a:srgbClr val="0F3D63"/>
              </a:buClr>
              <a:buSzPts val="1921"/>
              <a:buFont typeface="Cambria"/>
              <a:buNone/>
            </a:pPr>
            <a:r>
              <a:rPr lang="rw-RW" sz="2000" b="1" dirty="0">
                <a:solidFill>
                  <a:srgbClr val="0F3D63"/>
                </a:solidFill>
                <a:latin typeface="Cambria"/>
                <a:ea typeface="Cambria"/>
                <a:cs typeface="Cambria"/>
                <a:sym typeface="Cambria"/>
              </a:rPr>
              <a:t>Isuzumabumenyi mbere na nyuma y’amasomo.</a:t>
            </a:r>
            <a:endParaRPr sz="2000" dirty="0">
              <a:solidFill>
                <a:schemeClr val="dk1"/>
              </a:solidFill>
              <a:latin typeface="Calibri"/>
              <a:ea typeface="Calibri"/>
              <a:cs typeface="Calibri"/>
              <a:sym typeface="Calibri"/>
            </a:endParaRPr>
          </a:p>
        </p:txBody>
      </p:sp>
      <p:sp>
        <p:nvSpPr>
          <p:cNvPr id="57" name="Google Shape;57;p3"/>
          <p:cNvSpPr/>
          <p:nvPr/>
        </p:nvSpPr>
        <p:spPr>
          <a:xfrm>
            <a:off x="804672" y="2245123"/>
            <a:ext cx="2990088" cy="13258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6334F"/>
              </a:buClr>
              <a:buSzPts val="1611"/>
              <a:buFont typeface="Calibri"/>
              <a:buNone/>
            </a:pPr>
            <a:r>
              <a:rPr lang="rw-RW" sz="1800" dirty="0">
                <a:solidFill>
                  <a:srgbClr val="16334F"/>
                </a:solidFill>
                <a:latin typeface="Calibri"/>
                <a:ea typeface="Calibri"/>
                <a:cs typeface="Calibri"/>
                <a:sym typeface="Calibri"/>
              </a:rPr>
              <a:t>Ibibazo bigufi makumyabiri mu ntangiriro na makumyabiri ku iherezo, kugira ngo werekane ibyo wize.</a:t>
            </a:r>
            <a:endParaRPr sz="1800" dirty="0">
              <a:solidFill>
                <a:schemeClr val="dk1"/>
              </a:solidFill>
              <a:latin typeface="Calibri"/>
              <a:ea typeface="Calibri"/>
              <a:cs typeface="Calibri"/>
              <a:sym typeface="Calibri"/>
            </a:endParaRPr>
          </a:p>
        </p:txBody>
      </p:sp>
      <p:sp>
        <p:nvSpPr>
          <p:cNvPr id="58" name="Google Shape;58;p3"/>
          <p:cNvSpPr/>
          <p:nvPr/>
        </p:nvSpPr>
        <p:spPr>
          <a:xfrm>
            <a:off x="4343400" y="1403875"/>
            <a:ext cx="3502152" cy="2025125"/>
          </a:xfrm>
          <a:prstGeom prst="roundRect">
            <a:avLst>
              <a:gd name="adj" fmla="val 5581"/>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 name="Google Shape;59;p3"/>
          <p:cNvSpPr/>
          <p:nvPr/>
        </p:nvSpPr>
        <p:spPr>
          <a:xfrm>
            <a:off x="4599432" y="1605043"/>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79"/>
              <a:buFont typeface="Cambria"/>
              <a:buNone/>
            </a:pPr>
            <a:r>
              <a:rPr lang="rw-RW" sz="2000" b="1">
                <a:solidFill>
                  <a:srgbClr val="0F3D63"/>
                </a:solidFill>
                <a:latin typeface="Cambria"/>
                <a:ea typeface="Cambria"/>
                <a:cs typeface="Cambria"/>
                <a:sym typeface="Cambria"/>
              </a:rPr>
              <a:t>Igice cya 1</a:t>
            </a:r>
            <a:endParaRPr sz="2000">
              <a:solidFill>
                <a:schemeClr val="dk1"/>
              </a:solidFill>
              <a:latin typeface="Calibri"/>
              <a:ea typeface="Calibri"/>
              <a:cs typeface="Calibri"/>
              <a:sym typeface="Calibri"/>
            </a:endParaRPr>
          </a:p>
        </p:txBody>
      </p:sp>
      <p:sp>
        <p:nvSpPr>
          <p:cNvPr id="60" name="Google Shape;60;p3"/>
          <p:cNvSpPr/>
          <p:nvPr/>
        </p:nvSpPr>
        <p:spPr>
          <a:xfrm>
            <a:off x="4609942" y="2074747"/>
            <a:ext cx="2990088" cy="1516691"/>
          </a:xfrm>
          <a:prstGeom prst="rect">
            <a:avLst/>
          </a:prstGeom>
          <a:noFill/>
          <a:ln>
            <a:noFill/>
          </a:ln>
        </p:spPr>
        <p:txBody>
          <a:bodyPr spcFirstLastPara="1" wrap="square" lIns="0" tIns="0" rIns="0" bIns="0" anchor="t" anchorCtr="0">
            <a:noAutofit/>
          </a:bodyPr>
          <a:lstStyle/>
          <a:p>
            <a:pPr>
              <a:buClr>
                <a:srgbClr val="16334F"/>
              </a:buClr>
              <a:buSzPts val="1611"/>
            </a:pPr>
            <a:r>
              <a:rPr lang="rw-RW" sz="1800" dirty="0">
                <a:solidFill>
                  <a:srgbClr val="16334F"/>
                </a:solidFill>
                <a:latin typeface="Calibri"/>
                <a:cs typeface="Calibri"/>
                <a:sym typeface="Calibri"/>
              </a:rPr>
              <a:t>Kanseri y'igifu ni iki? Igifu giherereye he? Iyi kanseri ikunze kugaragara ku kihe kigero mu Rwanda?</a:t>
            </a:r>
            <a:endParaRPr sz="1800" dirty="0">
              <a:solidFill>
                <a:srgbClr val="16334F"/>
              </a:solidFill>
              <a:latin typeface="Calibri"/>
              <a:cs typeface="Calibri"/>
              <a:sym typeface="Calibri"/>
            </a:endParaRPr>
          </a:p>
        </p:txBody>
      </p:sp>
      <p:sp>
        <p:nvSpPr>
          <p:cNvPr id="61" name="Google Shape;61;p3"/>
          <p:cNvSpPr/>
          <p:nvPr/>
        </p:nvSpPr>
        <p:spPr>
          <a:xfrm>
            <a:off x="8138160" y="1403875"/>
            <a:ext cx="3502152" cy="2025125"/>
          </a:xfrm>
          <a:prstGeom prst="roundRect">
            <a:avLst>
              <a:gd name="adj" fmla="val 5581"/>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 name="Google Shape;62;p3"/>
          <p:cNvSpPr/>
          <p:nvPr/>
        </p:nvSpPr>
        <p:spPr>
          <a:xfrm>
            <a:off x="8394192" y="1605043"/>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79"/>
              <a:buFont typeface="Cambria"/>
              <a:buNone/>
            </a:pPr>
            <a:r>
              <a:rPr lang="rw-RW" sz="2000" b="1">
                <a:solidFill>
                  <a:srgbClr val="0F3D63"/>
                </a:solidFill>
                <a:latin typeface="Cambria"/>
                <a:ea typeface="Cambria"/>
                <a:cs typeface="Cambria"/>
                <a:sym typeface="Cambria"/>
              </a:rPr>
              <a:t>Igice cya 2</a:t>
            </a:r>
            <a:endParaRPr sz="2000">
              <a:solidFill>
                <a:schemeClr val="dk1"/>
              </a:solidFill>
              <a:latin typeface="Calibri"/>
              <a:ea typeface="Calibri"/>
              <a:cs typeface="Calibri"/>
              <a:sym typeface="Calibri"/>
            </a:endParaRPr>
          </a:p>
        </p:txBody>
      </p:sp>
      <p:sp>
        <p:nvSpPr>
          <p:cNvPr id="63" name="Google Shape;63;p3"/>
          <p:cNvSpPr/>
          <p:nvPr/>
        </p:nvSpPr>
        <p:spPr>
          <a:xfrm>
            <a:off x="8404702" y="2074746"/>
            <a:ext cx="2990088" cy="1496257"/>
          </a:xfrm>
          <a:prstGeom prst="rect">
            <a:avLst/>
          </a:prstGeom>
          <a:noFill/>
          <a:ln>
            <a:noFill/>
          </a:ln>
        </p:spPr>
        <p:txBody>
          <a:bodyPr spcFirstLastPara="1" wrap="square" lIns="0" tIns="0" rIns="0" bIns="0" anchor="t" anchorCtr="0">
            <a:noAutofit/>
          </a:bodyPr>
          <a:lstStyle/>
          <a:p>
            <a:pPr marL="0" lvl="0" indent="0">
              <a:buClr>
                <a:srgbClr val="16334F"/>
              </a:buClr>
              <a:buSzPts val="1611"/>
              <a:buFont typeface="Arial"/>
              <a:buNone/>
            </a:pPr>
            <a:r>
              <a:rPr lang="rw-RW" sz="1800" dirty="0">
                <a:solidFill>
                  <a:srgbClr val="16334F"/>
                </a:solidFill>
                <a:latin typeface="Calibri"/>
                <a:cs typeface="Calibri"/>
                <a:sym typeface="Calibri"/>
              </a:rPr>
              <a:t>Ibyo ukwiye kwitaho: Ibyago byo kwandura, ibimenyetso, ibimenyetso mpuruza, ndetse n'icyo ugomba gukora.</a:t>
            </a:r>
            <a:endParaRPr sz="1800" dirty="0">
              <a:solidFill>
                <a:srgbClr val="16334F"/>
              </a:solidFill>
              <a:latin typeface="Calibri"/>
              <a:cs typeface="Calibri"/>
              <a:sym typeface="Calibri"/>
            </a:endParaRPr>
          </a:p>
        </p:txBody>
      </p:sp>
      <p:sp>
        <p:nvSpPr>
          <p:cNvPr id="64" name="Google Shape;64;p3"/>
          <p:cNvSpPr/>
          <p:nvPr/>
        </p:nvSpPr>
        <p:spPr>
          <a:xfrm>
            <a:off x="559150" y="3718112"/>
            <a:ext cx="3502152" cy="2454088"/>
          </a:xfrm>
          <a:prstGeom prst="roundRect">
            <a:avLst>
              <a:gd name="adj" fmla="val 5581"/>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 name="Google Shape;65;p3"/>
          <p:cNvSpPr/>
          <p:nvPr/>
        </p:nvSpPr>
        <p:spPr>
          <a:xfrm>
            <a:off x="815182" y="3919281"/>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79"/>
              <a:buFont typeface="Cambria"/>
              <a:buNone/>
            </a:pPr>
            <a:r>
              <a:rPr lang="rw-RW" sz="2000" b="1">
                <a:solidFill>
                  <a:srgbClr val="0F3D63"/>
                </a:solidFill>
                <a:latin typeface="Cambria"/>
                <a:ea typeface="Cambria"/>
                <a:cs typeface="Cambria"/>
                <a:sym typeface="Cambria"/>
              </a:rPr>
              <a:t>Igice cya 3</a:t>
            </a:r>
            <a:endParaRPr sz="2000">
              <a:solidFill>
                <a:schemeClr val="dk1"/>
              </a:solidFill>
              <a:latin typeface="Calibri"/>
              <a:ea typeface="Calibri"/>
              <a:cs typeface="Calibri"/>
              <a:sym typeface="Calibri"/>
            </a:endParaRPr>
          </a:p>
        </p:txBody>
      </p:sp>
      <p:sp>
        <p:nvSpPr>
          <p:cNvPr id="66" name="Google Shape;66;p3"/>
          <p:cNvSpPr/>
          <p:nvPr/>
        </p:nvSpPr>
        <p:spPr>
          <a:xfrm>
            <a:off x="815182" y="4344209"/>
            <a:ext cx="2990088" cy="157330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6334F"/>
              </a:buClr>
              <a:buSzPts val="1611"/>
              <a:buFont typeface="Calibri"/>
              <a:buNone/>
            </a:pPr>
            <a:r>
              <a:rPr lang="rw-RW" sz="1800" dirty="0">
                <a:solidFill>
                  <a:srgbClr val="16334F"/>
                </a:solidFill>
                <a:latin typeface="Calibri"/>
                <a:ea typeface="Calibri"/>
                <a:cs typeface="Calibri"/>
                <a:sym typeface="Calibri"/>
              </a:rPr>
              <a:t>Icyo gukora gikurikiraho: inzira yo kohereza umurwayi ahabugenewe, kuganira n'abantu no kubashyigikira mu muryango ndetse no muri kominote.</a:t>
            </a:r>
            <a:endParaRPr sz="1800" dirty="0">
              <a:solidFill>
                <a:schemeClr val="dk1"/>
              </a:solidFill>
              <a:latin typeface="Calibri"/>
              <a:ea typeface="Calibri"/>
              <a:cs typeface="Calibri"/>
              <a:sym typeface="Calibri"/>
            </a:endParaRPr>
          </a:p>
        </p:txBody>
      </p:sp>
      <p:sp>
        <p:nvSpPr>
          <p:cNvPr id="67" name="Google Shape;67;p3"/>
          <p:cNvSpPr/>
          <p:nvPr/>
        </p:nvSpPr>
        <p:spPr>
          <a:xfrm>
            <a:off x="4353910" y="3718112"/>
            <a:ext cx="3502152" cy="2454088"/>
          </a:xfrm>
          <a:prstGeom prst="roundRect">
            <a:avLst>
              <a:gd name="adj" fmla="val 5581"/>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 name="Google Shape;68;p3"/>
          <p:cNvSpPr/>
          <p:nvPr/>
        </p:nvSpPr>
        <p:spPr>
          <a:xfrm>
            <a:off x="4609942" y="3919281"/>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79"/>
              <a:buFont typeface="Cambria"/>
              <a:buNone/>
            </a:pPr>
            <a:r>
              <a:rPr lang="rw-RW" sz="2000" b="1">
                <a:solidFill>
                  <a:srgbClr val="0F3D63"/>
                </a:solidFill>
                <a:latin typeface="Cambria"/>
                <a:ea typeface="Cambria"/>
                <a:cs typeface="Cambria"/>
                <a:sym typeface="Cambria"/>
              </a:rPr>
              <a:t>Igice cya 4</a:t>
            </a:r>
            <a:endParaRPr sz="2000">
              <a:solidFill>
                <a:schemeClr val="dk1"/>
              </a:solidFill>
              <a:latin typeface="Calibri"/>
              <a:ea typeface="Calibri"/>
              <a:cs typeface="Calibri"/>
              <a:sym typeface="Calibri"/>
            </a:endParaRPr>
          </a:p>
        </p:txBody>
      </p:sp>
      <p:sp>
        <p:nvSpPr>
          <p:cNvPr id="69" name="Google Shape;69;p3"/>
          <p:cNvSpPr/>
          <p:nvPr/>
        </p:nvSpPr>
        <p:spPr>
          <a:xfrm>
            <a:off x="4609942" y="4344209"/>
            <a:ext cx="2990088" cy="1573306"/>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16334F"/>
              </a:buClr>
              <a:buSzPts val="1745"/>
              <a:buFont typeface="Calibri"/>
              <a:buNone/>
            </a:pPr>
            <a:r>
              <a:rPr lang="rw-RW" sz="1800" dirty="0">
                <a:solidFill>
                  <a:srgbClr val="16334F"/>
                </a:solidFill>
                <a:latin typeface="Calibri"/>
                <a:ea typeface="Calibri"/>
                <a:cs typeface="Calibri"/>
                <a:sym typeface="Calibri"/>
              </a:rPr>
              <a:t>Uko kanseri y'igifu yemezwa n'uko ivurwa, bisobanuwe mu buryo bworoshye.</a:t>
            </a:r>
            <a:endParaRPr sz="1800" dirty="0">
              <a:solidFill>
                <a:schemeClr val="dk1"/>
              </a:solidFill>
              <a:latin typeface="Calibri"/>
              <a:ea typeface="Calibri"/>
              <a:cs typeface="Calibri"/>
              <a:sym typeface="Calibri"/>
            </a:endParaRPr>
          </a:p>
        </p:txBody>
      </p:sp>
      <p:sp>
        <p:nvSpPr>
          <p:cNvPr id="70" name="Google Shape;70;p3"/>
          <p:cNvSpPr/>
          <p:nvPr/>
        </p:nvSpPr>
        <p:spPr>
          <a:xfrm>
            <a:off x="8148670" y="3718112"/>
            <a:ext cx="3502152" cy="2454088"/>
          </a:xfrm>
          <a:prstGeom prst="roundRect">
            <a:avLst>
              <a:gd name="adj" fmla="val 5581"/>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 name="Google Shape;71;p3"/>
          <p:cNvSpPr/>
          <p:nvPr/>
        </p:nvSpPr>
        <p:spPr>
          <a:xfrm>
            <a:off x="8404702" y="3919281"/>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79"/>
              <a:buFont typeface="Cambria"/>
              <a:buNone/>
            </a:pPr>
            <a:r>
              <a:rPr lang="rw-RW" sz="2000" b="1">
                <a:solidFill>
                  <a:srgbClr val="0F3D63"/>
                </a:solidFill>
                <a:latin typeface="Cambria"/>
                <a:ea typeface="Cambria"/>
                <a:cs typeface="Cambria"/>
                <a:sym typeface="Cambria"/>
              </a:rPr>
              <a:t>Igice cya 5</a:t>
            </a:r>
            <a:endParaRPr sz="2000">
              <a:solidFill>
                <a:schemeClr val="dk1"/>
              </a:solidFill>
              <a:latin typeface="Calibri"/>
              <a:ea typeface="Calibri"/>
              <a:cs typeface="Calibri"/>
              <a:sym typeface="Calibri"/>
            </a:endParaRPr>
          </a:p>
        </p:txBody>
      </p:sp>
      <p:sp>
        <p:nvSpPr>
          <p:cNvPr id="72" name="Google Shape;72;p3"/>
          <p:cNvSpPr/>
          <p:nvPr/>
        </p:nvSpPr>
        <p:spPr>
          <a:xfrm>
            <a:off x="8377390" y="4344209"/>
            <a:ext cx="3246000" cy="157330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6334F"/>
              </a:buClr>
              <a:buSzPts val="1745"/>
              <a:buFont typeface="Calibri"/>
              <a:buNone/>
            </a:pPr>
            <a:r>
              <a:rPr lang="rw-RW" sz="1800" dirty="0">
                <a:solidFill>
                  <a:srgbClr val="16334F"/>
                </a:solidFill>
                <a:latin typeface="Calibri"/>
                <a:ea typeface="Calibri"/>
                <a:cs typeface="Calibri"/>
                <a:sym typeface="Calibri"/>
              </a:rPr>
              <a:t>Ni iki wateganya ku ndwara n'uburyo bwo kwivuza ndetse n’uburyo bwo guhumuriza umuntu?</a:t>
            </a:r>
            <a:endParaRPr sz="1800"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7"/>
        <p:cNvGrpSpPr/>
        <p:nvPr/>
      </p:nvGrpSpPr>
      <p:grpSpPr>
        <a:xfrm>
          <a:off x="0" y="0"/>
          <a:ext cx="0" cy="0"/>
          <a:chOff x="0" y="0"/>
          <a:chExt cx="0" cy="0"/>
        </a:xfrm>
      </p:grpSpPr>
      <p:sp>
        <p:nvSpPr>
          <p:cNvPr id="78" name="Google Shape;78;p4"/>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dirty="0">
                <a:solidFill>
                  <a:srgbClr val="2272B8"/>
                </a:solidFill>
                <a:latin typeface="Calibri"/>
                <a:ea typeface="Calibri"/>
                <a:cs typeface="Calibri"/>
                <a:sym typeface="Calibri"/>
              </a:rPr>
              <a:t>AMASOMO YA CHW</a:t>
            </a:r>
            <a:endParaRPr sz="1100" dirty="0">
              <a:solidFill>
                <a:schemeClr val="dk1"/>
              </a:solidFill>
              <a:latin typeface="Calibri"/>
              <a:ea typeface="Calibri"/>
              <a:cs typeface="Calibri"/>
              <a:sym typeface="Calibri"/>
            </a:endParaRPr>
          </a:p>
        </p:txBody>
      </p:sp>
      <p:sp>
        <p:nvSpPr>
          <p:cNvPr id="79" name="Google Shape;79;p4"/>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Ibiri mu isomo</a:t>
            </a:r>
            <a:endParaRPr sz="3400">
              <a:solidFill>
                <a:schemeClr val="dk1"/>
              </a:solidFill>
              <a:latin typeface="Calibri"/>
              <a:ea typeface="Calibri"/>
              <a:cs typeface="Calibri"/>
              <a:sym typeface="Calibri"/>
            </a:endParaRPr>
          </a:p>
        </p:txBody>
      </p:sp>
      <p:sp>
        <p:nvSpPr>
          <p:cNvPr id="80" name="Google Shape;80;p4"/>
          <p:cNvSpPr/>
          <p:nvPr/>
        </p:nvSpPr>
        <p:spPr>
          <a:xfrm>
            <a:off x="548640" y="1371600"/>
            <a:ext cx="11064240" cy="411480"/>
          </a:xfrm>
          <a:prstGeom prst="rect">
            <a:avLst/>
          </a:prstGeom>
          <a:noFill/>
          <a:ln>
            <a:noFill/>
          </a:ln>
        </p:spPr>
        <p:txBody>
          <a:bodyPr spcFirstLastPara="1" wrap="square" lIns="0" tIns="0" rIns="0" bIns="0" anchor="ctr" anchorCtr="0">
            <a:normAutofit fontScale="92500" lnSpcReduction="20000"/>
          </a:bodyPr>
          <a:lstStyle/>
          <a:p>
            <a:pPr marL="0" marR="0" lvl="0" indent="0" algn="l" rtl="0">
              <a:lnSpc>
                <a:spcPct val="90000"/>
              </a:lnSpc>
              <a:spcBef>
                <a:spcPts val="0"/>
              </a:spcBef>
              <a:spcAft>
                <a:spcPts val="0"/>
              </a:spcAft>
              <a:buClr>
                <a:srgbClr val="16334F"/>
              </a:buClr>
              <a:buSzPts val="1476"/>
              <a:buFont typeface="Calibri"/>
              <a:buNone/>
            </a:pPr>
            <a:r>
              <a:rPr lang="rw-RW" sz="1800">
                <a:solidFill>
                  <a:srgbClr val="16334F"/>
                </a:solidFill>
                <a:latin typeface="Calibri"/>
                <a:ea typeface="Calibri"/>
                <a:cs typeface="Calibri"/>
                <a:sym typeface="Calibri"/>
              </a:rPr>
              <a:t>Iri somo rikurikirana umuntu uva mu muryango ajya kwivuza kugeza asubiye mu rugo. Akazi kawe kari mu ntangiriro no kuri buri ntambwe ikurikiraho.</a:t>
            </a:r>
            <a:endParaRPr sz="1476">
              <a:solidFill>
                <a:schemeClr val="dk1"/>
              </a:solidFill>
              <a:latin typeface="Calibri"/>
              <a:ea typeface="Calibri"/>
              <a:cs typeface="Calibri"/>
              <a:sym typeface="Calibri"/>
            </a:endParaRPr>
          </a:p>
        </p:txBody>
      </p:sp>
      <p:sp>
        <p:nvSpPr>
          <p:cNvPr id="81" name="Google Shape;81;p4"/>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82" name="Google Shape;82;p4"/>
          <p:cNvSpPr/>
          <p:nvPr/>
        </p:nvSpPr>
        <p:spPr>
          <a:xfrm>
            <a:off x="548640" y="2377440"/>
            <a:ext cx="2580894" cy="658368"/>
          </a:xfrm>
          <a:prstGeom prst="roundRect">
            <a:avLst>
              <a:gd name="adj" fmla="val 11111"/>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 name="Google Shape;83;p4"/>
          <p:cNvSpPr/>
          <p:nvPr/>
        </p:nvSpPr>
        <p:spPr>
          <a:xfrm>
            <a:off x="548640" y="2377440"/>
            <a:ext cx="2580894" cy="6583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700"/>
              <a:buFont typeface="Calibri"/>
              <a:buNone/>
            </a:pPr>
            <a:r>
              <a:rPr lang="rw-RW" sz="1700">
                <a:solidFill>
                  <a:srgbClr val="FFFFFF"/>
                </a:solidFill>
                <a:latin typeface="Calibri"/>
                <a:ea typeface="Calibri"/>
                <a:cs typeface="Calibri"/>
                <a:sym typeface="Calibri"/>
              </a:rPr>
              <a:t>1. Kumenya</a:t>
            </a:r>
            <a:endParaRPr sz="1700">
              <a:solidFill>
                <a:schemeClr val="dk1"/>
              </a:solidFill>
              <a:latin typeface="Calibri"/>
              <a:ea typeface="Calibri"/>
              <a:cs typeface="Calibri"/>
              <a:sym typeface="Calibri"/>
            </a:endParaRPr>
          </a:p>
        </p:txBody>
      </p:sp>
      <p:sp>
        <p:nvSpPr>
          <p:cNvPr id="84" name="Google Shape;84;p4"/>
          <p:cNvSpPr/>
          <p:nvPr/>
        </p:nvSpPr>
        <p:spPr>
          <a:xfrm>
            <a:off x="3385566" y="2377440"/>
            <a:ext cx="2580894" cy="658368"/>
          </a:xfrm>
          <a:prstGeom prst="roundRect">
            <a:avLst>
              <a:gd name="adj" fmla="val 11111"/>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 name="Google Shape;85;p4"/>
          <p:cNvSpPr/>
          <p:nvPr/>
        </p:nvSpPr>
        <p:spPr>
          <a:xfrm>
            <a:off x="3385566" y="2377440"/>
            <a:ext cx="2580894" cy="6583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700"/>
              <a:buFont typeface="Calibri"/>
              <a:buNone/>
            </a:pPr>
            <a:r>
              <a:rPr lang="rw-RW" sz="1700">
                <a:solidFill>
                  <a:srgbClr val="FFFFFF"/>
                </a:solidFill>
                <a:latin typeface="Calibri"/>
                <a:ea typeface="Calibri"/>
                <a:cs typeface="Calibri"/>
                <a:sym typeface="Calibri"/>
              </a:rPr>
              <a:t>2. Kubona ibimenyetso</a:t>
            </a:r>
            <a:endParaRPr sz="1700">
              <a:solidFill>
                <a:schemeClr val="dk1"/>
              </a:solidFill>
              <a:latin typeface="Calibri"/>
              <a:ea typeface="Calibri"/>
              <a:cs typeface="Calibri"/>
              <a:sym typeface="Calibri"/>
            </a:endParaRPr>
          </a:p>
        </p:txBody>
      </p:sp>
      <p:sp>
        <p:nvSpPr>
          <p:cNvPr id="86" name="Google Shape;86;p4"/>
          <p:cNvSpPr/>
          <p:nvPr/>
        </p:nvSpPr>
        <p:spPr>
          <a:xfrm>
            <a:off x="6222492" y="2377440"/>
            <a:ext cx="2580894" cy="658368"/>
          </a:xfrm>
          <a:prstGeom prst="roundRect">
            <a:avLst>
              <a:gd name="adj" fmla="val 11111"/>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 name="Google Shape;87;p4"/>
          <p:cNvSpPr/>
          <p:nvPr/>
        </p:nvSpPr>
        <p:spPr>
          <a:xfrm>
            <a:off x="6222492" y="2377440"/>
            <a:ext cx="2580894" cy="6583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700"/>
              <a:buFont typeface="Calibri"/>
              <a:buNone/>
            </a:pPr>
            <a:r>
              <a:rPr lang="rw-RW" sz="1700">
                <a:solidFill>
                  <a:srgbClr val="FFFFFF"/>
                </a:solidFill>
                <a:latin typeface="Calibri"/>
                <a:ea typeface="Calibri"/>
                <a:cs typeface="Calibri"/>
                <a:sym typeface="Calibri"/>
              </a:rPr>
              <a:t>3. Kuvuga kandi ugatega amatwi</a:t>
            </a:r>
            <a:endParaRPr sz="1700">
              <a:solidFill>
                <a:schemeClr val="dk1"/>
              </a:solidFill>
              <a:latin typeface="Calibri"/>
              <a:ea typeface="Calibri"/>
              <a:cs typeface="Calibri"/>
              <a:sym typeface="Calibri"/>
            </a:endParaRPr>
          </a:p>
        </p:txBody>
      </p:sp>
      <p:sp>
        <p:nvSpPr>
          <p:cNvPr id="88" name="Google Shape;88;p4"/>
          <p:cNvSpPr/>
          <p:nvPr/>
        </p:nvSpPr>
        <p:spPr>
          <a:xfrm>
            <a:off x="9059418" y="2377440"/>
            <a:ext cx="2580894" cy="658368"/>
          </a:xfrm>
          <a:prstGeom prst="roundRect">
            <a:avLst>
              <a:gd name="adj" fmla="val 11111"/>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 name="Google Shape;89;p4"/>
          <p:cNvSpPr/>
          <p:nvPr/>
        </p:nvSpPr>
        <p:spPr>
          <a:xfrm>
            <a:off x="9059418" y="2377440"/>
            <a:ext cx="2580894" cy="6583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700"/>
              <a:buFont typeface="Calibri"/>
              <a:buNone/>
            </a:pPr>
            <a:r>
              <a:rPr lang="rw-RW" sz="1700">
                <a:solidFill>
                  <a:srgbClr val="FFFFFF"/>
                </a:solidFill>
                <a:latin typeface="Calibri"/>
                <a:ea typeface="Calibri"/>
                <a:cs typeface="Calibri"/>
                <a:sym typeface="Calibri"/>
              </a:rPr>
              <a:t>4. Gushishikariza abantu kugana servisi z’ubuvuzi</a:t>
            </a:r>
            <a:endParaRPr sz="1700">
              <a:solidFill>
                <a:schemeClr val="dk1"/>
              </a:solidFill>
              <a:latin typeface="Calibri"/>
              <a:ea typeface="Calibri"/>
              <a:cs typeface="Calibri"/>
              <a:sym typeface="Calibri"/>
            </a:endParaRPr>
          </a:p>
        </p:txBody>
      </p:sp>
      <p:sp>
        <p:nvSpPr>
          <p:cNvPr id="90" name="Google Shape;90;p4"/>
          <p:cNvSpPr/>
          <p:nvPr/>
        </p:nvSpPr>
        <p:spPr>
          <a:xfrm>
            <a:off x="548640" y="3291840"/>
            <a:ext cx="2580894" cy="658368"/>
          </a:xfrm>
          <a:prstGeom prst="roundRect">
            <a:avLst>
              <a:gd name="adj" fmla="val 11111"/>
            </a:avLst>
          </a:prstGeom>
          <a:solidFill>
            <a:srgbClr val="2272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 name="Google Shape;91;p4"/>
          <p:cNvSpPr/>
          <p:nvPr/>
        </p:nvSpPr>
        <p:spPr>
          <a:xfrm>
            <a:off x="548640" y="3291840"/>
            <a:ext cx="2580894" cy="6583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700"/>
              <a:buFont typeface="Calibri"/>
              <a:buNone/>
            </a:pPr>
            <a:r>
              <a:rPr lang="rw-RW" sz="1700">
                <a:solidFill>
                  <a:srgbClr val="FFFFFF"/>
                </a:solidFill>
                <a:latin typeface="Calibri"/>
                <a:ea typeface="Calibri"/>
                <a:cs typeface="Calibri"/>
                <a:sym typeface="Calibri"/>
              </a:rPr>
              <a:t>5. Kohereza abantu ahari ubuvuzi</a:t>
            </a:r>
            <a:endParaRPr sz="1700">
              <a:solidFill>
                <a:schemeClr val="dk1"/>
              </a:solidFill>
              <a:latin typeface="Calibri"/>
              <a:ea typeface="Calibri"/>
              <a:cs typeface="Calibri"/>
              <a:sym typeface="Calibri"/>
            </a:endParaRPr>
          </a:p>
        </p:txBody>
      </p:sp>
      <p:sp>
        <p:nvSpPr>
          <p:cNvPr id="92" name="Google Shape;92;p4"/>
          <p:cNvSpPr/>
          <p:nvPr/>
        </p:nvSpPr>
        <p:spPr>
          <a:xfrm>
            <a:off x="3385566" y="3291840"/>
            <a:ext cx="2580894" cy="658368"/>
          </a:xfrm>
          <a:prstGeom prst="roundRect">
            <a:avLst>
              <a:gd name="adj" fmla="val 11111"/>
            </a:avLst>
          </a:prstGeom>
          <a:solidFill>
            <a:srgbClr val="2272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 name="Google Shape;93;p4"/>
          <p:cNvSpPr/>
          <p:nvPr/>
        </p:nvSpPr>
        <p:spPr>
          <a:xfrm>
            <a:off x="3385566" y="3291840"/>
            <a:ext cx="2580894" cy="6583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700"/>
              <a:buFont typeface="Calibri"/>
              <a:buNone/>
            </a:pPr>
            <a:r>
              <a:rPr lang="rw-RW" sz="1700">
                <a:solidFill>
                  <a:srgbClr val="FFFFFF"/>
                </a:solidFill>
                <a:latin typeface="Calibri"/>
                <a:ea typeface="Calibri"/>
                <a:cs typeface="Calibri"/>
                <a:sym typeface="Calibri"/>
              </a:rPr>
              <a:t>6. Gushyigikira ugiye kwivuza</a:t>
            </a:r>
            <a:endParaRPr sz="1700">
              <a:solidFill>
                <a:schemeClr val="dk1"/>
              </a:solidFill>
              <a:latin typeface="Calibri"/>
              <a:ea typeface="Calibri"/>
              <a:cs typeface="Calibri"/>
              <a:sym typeface="Calibri"/>
            </a:endParaRPr>
          </a:p>
        </p:txBody>
      </p:sp>
      <p:sp>
        <p:nvSpPr>
          <p:cNvPr id="94" name="Google Shape;94;p4"/>
          <p:cNvSpPr/>
          <p:nvPr/>
        </p:nvSpPr>
        <p:spPr>
          <a:xfrm>
            <a:off x="6222492" y="3291840"/>
            <a:ext cx="2580894" cy="658368"/>
          </a:xfrm>
          <a:prstGeom prst="roundRect">
            <a:avLst>
              <a:gd name="adj" fmla="val 11111"/>
            </a:avLst>
          </a:prstGeom>
          <a:solidFill>
            <a:srgbClr val="2272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 name="Google Shape;95;p4"/>
          <p:cNvSpPr/>
          <p:nvPr/>
        </p:nvSpPr>
        <p:spPr>
          <a:xfrm>
            <a:off x="6222492" y="3291840"/>
            <a:ext cx="2580894" cy="6583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700"/>
              <a:buFont typeface="Calibri"/>
              <a:buNone/>
            </a:pPr>
            <a:r>
              <a:rPr lang="rw-RW" sz="1700">
                <a:solidFill>
                  <a:srgbClr val="FFFFFF"/>
                </a:solidFill>
                <a:latin typeface="Calibri"/>
                <a:ea typeface="Calibri"/>
                <a:cs typeface="Calibri"/>
                <a:sym typeface="Calibri"/>
              </a:rPr>
              <a:t>7. Gufata ibipimo ku kigo nderabuzima</a:t>
            </a:r>
            <a:endParaRPr sz="1700">
              <a:solidFill>
                <a:schemeClr val="dk1"/>
              </a:solidFill>
              <a:latin typeface="Calibri"/>
              <a:ea typeface="Calibri"/>
              <a:cs typeface="Calibri"/>
              <a:sym typeface="Calibri"/>
            </a:endParaRPr>
          </a:p>
        </p:txBody>
      </p:sp>
      <p:sp>
        <p:nvSpPr>
          <p:cNvPr id="96" name="Google Shape;96;p4"/>
          <p:cNvSpPr/>
          <p:nvPr/>
        </p:nvSpPr>
        <p:spPr>
          <a:xfrm>
            <a:off x="9059418" y="3291840"/>
            <a:ext cx="2580894" cy="658368"/>
          </a:xfrm>
          <a:prstGeom prst="roundRect">
            <a:avLst>
              <a:gd name="adj" fmla="val 11111"/>
            </a:avLst>
          </a:prstGeom>
          <a:solidFill>
            <a:srgbClr val="2272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7" name="Google Shape;97;p4"/>
          <p:cNvSpPr/>
          <p:nvPr/>
        </p:nvSpPr>
        <p:spPr>
          <a:xfrm>
            <a:off x="9059418" y="3291840"/>
            <a:ext cx="2580894" cy="6583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700"/>
              <a:buFont typeface="Calibri"/>
              <a:buNone/>
            </a:pPr>
            <a:r>
              <a:rPr lang="rw-RW" sz="1700">
                <a:solidFill>
                  <a:srgbClr val="FFFFFF"/>
                </a:solidFill>
                <a:latin typeface="Calibri"/>
                <a:ea typeface="Calibri"/>
                <a:cs typeface="Calibri"/>
                <a:sym typeface="Calibri"/>
              </a:rPr>
              <a:t>8. Kwisuzumisha</a:t>
            </a:r>
            <a:endParaRPr sz="1700">
              <a:solidFill>
                <a:schemeClr val="dk1"/>
              </a:solidFill>
              <a:latin typeface="Calibri"/>
              <a:ea typeface="Calibri"/>
              <a:cs typeface="Calibri"/>
              <a:sym typeface="Calibri"/>
            </a:endParaRPr>
          </a:p>
        </p:txBody>
      </p:sp>
      <p:sp>
        <p:nvSpPr>
          <p:cNvPr id="98" name="Google Shape;98;p4"/>
          <p:cNvSpPr/>
          <p:nvPr/>
        </p:nvSpPr>
        <p:spPr>
          <a:xfrm>
            <a:off x="548640" y="4206240"/>
            <a:ext cx="2580894" cy="658368"/>
          </a:xfrm>
          <a:prstGeom prst="roundRect">
            <a:avLst>
              <a:gd name="adj" fmla="val 11111"/>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 name="Google Shape;99;p4"/>
          <p:cNvSpPr/>
          <p:nvPr/>
        </p:nvSpPr>
        <p:spPr>
          <a:xfrm>
            <a:off x="548640" y="4206240"/>
            <a:ext cx="2580894" cy="6583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700"/>
              <a:buFont typeface="Calibri"/>
              <a:buNone/>
            </a:pPr>
            <a:r>
              <a:rPr lang="rw-RW" sz="1700">
                <a:solidFill>
                  <a:srgbClr val="FFFFFF"/>
                </a:solidFill>
                <a:latin typeface="Calibri"/>
                <a:ea typeface="Calibri"/>
                <a:cs typeface="Calibri"/>
                <a:sym typeface="Calibri"/>
              </a:rPr>
              <a:t>9. Kuvurwa</a:t>
            </a:r>
            <a:endParaRPr sz="1700">
              <a:solidFill>
                <a:schemeClr val="dk1"/>
              </a:solidFill>
              <a:latin typeface="Calibri"/>
              <a:ea typeface="Calibri"/>
              <a:cs typeface="Calibri"/>
              <a:sym typeface="Calibri"/>
            </a:endParaRPr>
          </a:p>
        </p:txBody>
      </p:sp>
      <p:sp>
        <p:nvSpPr>
          <p:cNvPr id="100" name="Google Shape;100;p4"/>
          <p:cNvSpPr/>
          <p:nvPr/>
        </p:nvSpPr>
        <p:spPr>
          <a:xfrm>
            <a:off x="3385566" y="4206240"/>
            <a:ext cx="2580894" cy="658368"/>
          </a:xfrm>
          <a:prstGeom prst="roundRect">
            <a:avLst>
              <a:gd name="adj" fmla="val 11111"/>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1" name="Google Shape;101;p4"/>
          <p:cNvSpPr/>
          <p:nvPr/>
        </p:nvSpPr>
        <p:spPr>
          <a:xfrm>
            <a:off x="3385566" y="4206240"/>
            <a:ext cx="2580894" cy="6583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700"/>
              <a:buFont typeface="Calibri"/>
              <a:buNone/>
            </a:pPr>
            <a:r>
              <a:rPr lang="rw-RW" sz="1700">
                <a:solidFill>
                  <a:srgbClr val="FFFFFF"/>
                </a:solidFill>
                <a:latin typeface="Calibri"/>
                <a:ea typeface="Calibri"/>
                <a:cs typeface="Calibri"/>
                <a:sym typeface="Calibri"/>
              </a:rPr>
              <a:t>10. Gukurikirana</a:t>
            </a:r>
            <a:endParaRPr sz="1700">
              <a:solidFill>
                <a:schemeClr val="dk1"/>
              </a:solidFill>
              <a:latin typeface="Calibri"/>
              <a:ea typeface="Calibri"/>
              <a:cs typeface="Calibri"/>
              <a:sym typeface="Calibri"/>
            </a:endParaRPr>
          </a:p>
        </p:txBody>
      </p:sp>
      <p:sp>
        <p:nvSpPr>
          <p:cNvPr id="102" name="Google Shape;102;p4"/>
          <p:cNvSpPr/>
          <p:nvPr/>
        </p:nvSpPr>
        <p:spPr>
          <a:xfrm>
            <a:off x="6222492" y="4206240"/>
            <a:ext cx="2580894" cy="658368"/>
          </a:xfrm>
          <a:prstGeom prst="roundRect">
            <a:avLst>
              <a:gd name="adj" fmla="val 11111"/>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 name="Google Shape;103;p4"/>
          <p:cNvSpPr/>
          <p:nvPr/>
        </p:nvSpPr>
        <p:spPr>
          <a:xfrm>
            <a:off x="6222492" y="4206240"/>
            <a:ext cx="2580894" cy="6583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700"/>
              <a:buFont typeface="Calibri"/>
              <a:buNone/>
            </a:pPr>
            <a:r>
              <a:rPr lang="rw-RW" sz="1700">
                <a:solidFill>
                  <a:srgbClr val="FFFFFF"/>
                </a:solidFill>
                <a:latin typeface="Calibri"/>
                <a:ea typeface="Calibri"/>
                <a:cs typeface="Calibri"/>
                <a:sym typeface="Calibri"/>
              </a:rPr>
              <a:t>11. Guhumuriza</a:t>
            </a:r>
            <a:endParaRPr sz="1700">
              <a:solidFill>
                <a:schemeClr val="dk1"/>
              </a:solidFill>
              <a:latin typeface="Calibri"/>
              <a:ea typeface="Calibri"/>
              <a:cs typeface="Calibri"/>
              <a:sym typeface="Calibri"/>
            </a:endParaRPr>
          </a:p>
        </p:txBody>
      </p:sp>
      <p:sp>
        <p:nvSpPr>
          <p:cNvPr id="104" name="Google Shape;104;p4"/>
          <p:cNvSpPr/>
          <p:nvPr/>
        </p:nvSpPr>
        <p:spPr>
          <a:xfrm>
            <a:off x="9059418" y="4206240"/>
            <a:ext cx="2580894" cy="658368"/>
          </a:xfrm>
          <a:prstGeom prst="roundRect">
            <a:avLst>
              <a:gd name="adj" fmla="val 11111"/>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 name="Google Shape;105;p4"/>
          <p:cNvSpPr/>
          <p:nvPr/>
        </p:nvSpPr>
        <p:spPr>
          <a:xfrm>
            <a:off x="9059418" y="4206240"/>
            <a:ext cx="2580894" cy="6583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700"/>
              <a:buFont typeface="Calibri"/>
              <a:buNone/>
            </a:pPr>
            <a:r>
              <a:rPr lang="rw-RW" sz="1700">
                <a:solidFill>
                  <a:srgbClr val="FFFFFF"/>
                </a:solidFill>
                <a:latin typeface="Calibri"/>
                <a:ea typeface="Calibri"/>
                <a:cs typeface="Calibri"/>
                <a:sym typeface="Calibri"/>
              </a:rPr>
              <a:t>12. Gushyigikira umuryango</a:t>
            </a:r>
            <a:endParaRPr sz="1700">
              <a:solidFill>
                <a:schemeClr val="dk1"/>
              </a:solidFill>
              <a:latin typeface="Calibri"/>
              <a:ea typeface="Calibri"/>
              <a:cs typeface="Calibri"/>
              <a:sym typeface="Calibri"/>
            </a:endParaRPr>
          </a:p>
        </p:txBody>
      </p:sp>
      <p:sp>
        <p:nvSpPr>
          <p:cNvPr id="106" name="Google Shape;106;p4"/>
          <p:cNvSpPr/>
          <p:nvPr/>
        </p:nvSpPr>
        <p:spPr>
          <a:xfrm>
            <a:off x="548640" y="5029200"/>
            <a:ext cx="11091672" cy="658368"/>
          </a:xfrm>
          <a:prstGeom prst="roundRect">
            <a:avLst>
              <a:gd name="adj" fmla="val 13889"/>
            </a:avLst>
          </a:prstGeom>
          <a:solidFill>
            <a:srgbClr val="FDF6E3"/>
          </a:solidFill>
          <a:ln w="12700" cap="flat" cmpd="sng">
            <a:solidFill>
              <a:srgbClr val="EFD9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 name="Google Shape;107;p4"/>
          <p:cNvSpPr/>
          <p:nvPr/>
        </p:nvSpPr>
        <p:spPr>
          <a:xfrm>
            <a:off x="777240" y="5102352"/>
            <a:ext cx="10634472" cy="512064"/>
          </a:xfrm>
          <a:prstGeom prst="rect">
            <a:avLst/>
          </a:prstGeom>
          <a:noFill/>
          <a:ln>
            <a:noFill/>
          </a:ln>
        </p:spPr>
        <p:txBody>
          <a:bodyPr spcFirstLastPara="1" wrap="square" lIns="0" tIns="0" rIns="0" bIns="0" anchor="ctr" anchorCtr="0">
            <a:normAutofit lnSpcReduction="10000"/>
          </a:bodyPr>
          <a:lstStyle/>
          <a:p>
            <a:pPr marL="0" marR="0" lvl="0" indent="0" algn="l" rtl="0">
              <a:spcBef>
                <a:spcPts val="0"/>
              </a:spcBef>
              <a:spcAft>
                <a:spcPts val="0"/>
              </a:spcAft>
              <a:buClr>
                <a:srgbClr val="9C6500"/>
              </a:buClr>
              <a:buSzPts val="1598"/>
              <a:buFont typeface="Calibri"/>
              <a:buNone/>
            </a:pPr>
            <a:r>
              <a:rPr lang="rw-RW" sz="1700">
                <a:solidFill>
                  <a:srgbClr val="9C6500"/>
                </a:solidFill>
                <a:latin typeface="Calibri"/>
                <a:ea typeface="Calibri"/>
                <a:cs typeface="Calibri"/>
                <a:sym typeface="Calibri"/>
              </a:rPr>
              <a:t>Ntabwo utegerejweho gusuzuma kanseri. Ugomba kumenya ibimenyetso, kubisobanura, kohereza umurwayi ahakwiye, Kumukurikirana, no gushyigikira umuryango.</a:t>
            </a:r>
            <a:endParaRPr sz="1598">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2"/>
        <p:cNvGrpSpPr/>
        <p:nvPr/>
      </p:nvGrpSpPr>
      <p:grpSpPr>
        <a:xfrm>
          <a:off x="0" y="0"/>
          <a:ext cx="0" cy="0"/>
          <a:chOff x="0" y="0"/>
          <a:chExt cx="0" cy="0"/>
        </a:xfrm>
      </p:grpSpPr>
      <p:sp>
        <p:nvSpPr>
          <p:cNvPr id="113" name="Google Shape;113;p5"/>
          <p:cNvSpPr/>
          <p:nvPr/>
        </p:nvSpPr>
        <p:spPr>
          <a:xfrm>
            <a:off x="502920" y="777240"/>
            <a:ext cx="11183112" cy="5303520"/>
          </a:xfrm>
          <a:prstGeom prst="rect">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4" name="Google Shape;114;p5"/>
          <p:cNvSpPr/>
          <p:nvPr/>
        </p:nvSpPr>
        <p:spPr>
          <a:xfrm>
            <a:off x="-365760" y="3291840"/>
            <a:ext cx="2926080" cy="2926080"/>
          </a:xfrm>
          <a:prstGeom prst="ellipse">
            <a:avLst/>
          </a:prstGeom>
          <a:solidFill>
            <a:srgbClr val="2272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 name="Google Shape;115;p5"/>
          <p:cNvSpPr/>
          <p:nvPr/>
        </p:nvSpPr>
        <p:spPr>
          <a:xfrm>
            <a:off x="1234440" y="260604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200" b="1" dirty="0">
                <a:solidFill>
                  <a:srgbClr val="AFCBE3"/>
                </a:solidFill>
                <a:latin typeface="Calibri"/>
                <a:ea typeface="Calibri"/>
                <a:cs typeface="Calibri"/>
                <a:sym typeface="Calibri"/>
              </a:rPr>
              <a:t>ISUZUMABUMENYI RYIBANZE</a:t>
            </a:r>
            <a:endParaRPr sz="1200" dirty="0">
              <a:solidFill>
                <a:schemeClr val="dk1"/>
              </a:solidFill>
              <a:latin typeface="Calibri"/>
              <a:ea typeface="Calibri"/>
              <a:cs typeface="Calibri"/>
              <a:sym typeface="Calibri"/>
            </a:endParaRPr>
          </a:p>
        </p:txBody>
      </p:sp>
      <p:sp>
        <p:nvSpPr>
          <p:cNvPr id="116" name="Google Shape;116;p5"/>
          <p:cNvSpPr/>
          <p:nvPr/>
        </p:nvSpPr>
        <p:spPr>
          <a:xfrm>
            <a:off x="1234440" y="2926080"/>
            <a:ext cx="868680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800"/>
              <a:buFont typeface="Cambria"/>
              <a:buNone/>
            </a:pPr>
            <a:r>
              <a:rPr lang="rw-RW" sz="3800" b="1">
                <a:solidFill>
                  <a:srgbClr val="FFFFFF"/>
                </a:solidFill>
                <a:latin typeface="Cambria"/>
                <a:ea typeface="Cambria"/>
                <a:cs typeface="Cambria"/>
                <a:sym typeface="Cambria"/>
              </a:rPr>
              <a:t>Isuzumabumenyi ribanza</a:t>
            </a:r>
            <a:endParaRPr sz="3800">
              <a:solidFill>
                <a:schemeClr val="dk1"/>
              </a:solidFill>
              <a:latin typeface="Calibri"/>
              <a:ea typeface="Calibri"/>
              <a:cs typeface="Calibri"/>
              <a:sym typeface="Calibri"/>
            </a:endParaRPr>
          </a:p>
        </p:txBody>
      </p:sp>
      <p:sp>
        <p:nvSpPr>
          <p:cNvPr id="117" name="Google Shape;117;p5"/>
          <p:cNvSpPr/>
          <p:nvPr/>
        </p:nvSpPr>
        <p:spPr>
          <a:xfrm>
            <a:off x="1234440" y="3794760"/>
            <a:ext cx="868680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E7F3"/>
              </a:buClr>
              <a:buSzPts val="1800"/>
              <a:buFont typeface="Calibri"/>
              <a:buNone/>
            </a:pPr>
            <a:r>
              <a:rPr lang="rw-RW" sz="1800">
                <a:solidFill>
                  <a:srgbClr val="D9E7F3"/>
                </a:solidFill>
                <a:latin typeface="Calibri"/>
                <a:ea typeface="Calibri"/>
                <a:cs typeface="Calibri"/>
                <a:sym typeface="Calibri"/>
              </a:rPr>
              <a:t>Ibibazo makumyabiri bisuzuma ibyo usanzwe uzi. Ni ikimenyetso cy'aho utangiriye.</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2"/>
        <p:cNvGrpSpPr/>
        <p:nvPr/>
      </p:nvGrpSpPr>
      <p:grpSpPr>
        <a:xfrm>
          <a:off x="0" y="0"/>
          <a:ext cx="0" cy="0"/>
          <a:chOff x="0" y="0"/>
          <a:chExt cx="0" cy="0"/>
        </a:xfrm>
      </p:grpSpPr>
      <p:sp>
        <p:nvSpPr>
          <p:cNvPr id="123" name="Google Shape;123;p6"/>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ISUZUMABUMENYI RYIBANZE</a:t>
            </a:r>
            <a:endParaRPr lang="rw-RW" sz="1100" dirty="0">
              <a:solidFill>
                <a:schemeClr val="dk1"/>
              </a:solidFill>
              <a:latin typeface="Calibri"/>
              <a:ea typeface="Calibri"/>
              <a:cs typeface="Calibri"/>
              <a:sym typeface="Calibri"/>
            </a:endParaRPr>
          </a:p>
        </p:txBody>
      </p:sp>
      <p:sp>
        <p:nvSpPr>
          <p:cNvPr id="124" name="Google Shape;124;p6"/>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Ikibazo (1/10)</a:t>
            </a:r>
            <a:endParaRPr sz="3200">
              <a:solidFill>
                <a:schemeClr val="dk1"/>
              </a:solidFill>
              <a:latin typeface="Calibri"/>
              <a:ea typeface="Calibri"/>
              <a:cs typeface="Calibri"/>
              <a:sym typeface="Calibri"/>
            </a:endParaRPr>
          </a:p>
        </p:txBody>
      </p:sp>
      <p:sp>
        <p:nvSpPr>
          <p:cNvPr id="125" name="Google Shape;125;p6"/>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26" name="Google Shape;126;p6"/>
          <p:cNvSpPr/>
          <p:nvPr/>
        </p:nvSpPr>
        <p:spPr>
          <a:xfrm>
            <a:off x="548640" y="187452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7" name="Google Shape;127;p6"/>
          <p:cNvSpPr/>
          <p:nvPr/>
        </p:nvSpPr>
        <p:spPr>
          <a:xfrm>
            <a:off x="804672" y="20208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a:solidFill>
                  <a:srgbClr val="0F3D63"/>
                </a:solidFill>
                <a:latin typeface="Calibri"/>
                <a:ea typeface="Calibri"/>
                <a:cs typeface="Calibri"/>
                <a:sym typeface="Calibri"/>
              </a:rPr>
              <a:t>Q1. Kanseri y'igifu itangirira he?</a:t>
            </a:r>
            <a:endParaRPr sz="1900">
              <a:solidFill>
                <a:schemeClr val="dk1"/>
              </a:solidFill>
              <a:latin typeface="Calibri"/>
              <a:ea typeface="Calibri"/>
              <a:cs typeface="Calibri"/>
              <a:sym typeface="Calibri"/>
            </a:endParaRPr>
          </a:p>
        </p:txBody>
      </p:sp>
      <p:sp>
        <p:nvSpPr>
          <p:cNvPr id="128" name="Google Shape;128;p6"/>
          <p:cNvSpPr/>
          <p:nvPr/>
        </p:nvSpPr>
        <p:spPr>
          <a:xfrm>
            <a:off x="822960" y="24597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A. </a:t>
            </a:r>
            <a:r>
              <a:rPr lang="rw-RW" sz="1750">
                <a:solidFill>
                  <a:srgbClr val="16334F"/>
                </a:solidFill>
                <a:latin typeface="Calibri"/>
                <a:ea typeface="Calibri"/>
                <a:cs typeface="Calibri"/>
                <a:sym typeface="Calibri"/>
              </a:rPr>
              <a:t>Mu bihaha</a:t>
            </a:r>
            <a:endParaRPr sz="1750">
              <a:solidFill>
                <a:schemeClr val="dk1"/>
              </a:solidFill>
              <a:latin typeface="Calibri"/>
              <a:ea typeface="Calibri"/>
              <a:cs typeface="Calibri"/>
              <a:sym typeface="Calibri"/>
            </a:endParaRPr>
          </a:p>
        </p:txBody>
      </p:sp>
      <p:sp>
        <p:nvSpPr>
          <p:cNvPr id="129" name="Google Shape;129;p6"/>
          <p:cNvSpPr/>
          <p:nvPr/>
        </p:nvSpPr>
        <p:spPr>
          <a:xfrm>
            <a:off x="6172200" y="24597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B. </a:t>
            </a:r>
            <a:r>
              <a:rPr lang="rw-RW" sz="1750">
                <a:solidFill>
                  <a:srgbClr val="16334F"/>
                </a:solidFill>
                <a:latin typeface="Calibri"/>
                <a:ea typeface="Calibri"/>
                <a:cs typeface="Calibri"/>
                <a:sym typeface="Calibri"/>
              </a:rPr>
              <a:t>Mu gifu</a:t>
            </a:r>
            <a:endParaRPr sz="1750">
              <a:solidFill>
                <a:schemeClr val="dk1"/>
              </a:solidFill>
              <a:latin typeface="Calibri"/>
              <a:ea typeface="Calibri"/>
              <a:cs typeface="Calibri"/>
              <a:sym typeface="Calibri"/>
            </a:endParaRPr>
          </a:p>
        </p:txBody>
      </p:sp>
      <p:sp>
        <p:nvSpPr>
          <p:cNvPr id="130" name="Google Shape;130;p6"/>
          <p:cNvSpPr/>
          <p:nvPr/>
        </p:nvSpPr>
        <p:spPr>
          <a:xfrm>
            <a:off x="822960" y="29352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Mu magufwa</a:t>
            </a:r>
            <a:endParaRPr sz="1750">
              <a:solidFill>
                <a:schemeClr val="dk1"/>
              </a:solidFill>
              <a:latin typeface="Calibri"/>
              <a:ea typeface="Calibri"/>
              <a:cs typeface="Calibri"/>
              <a:sym typeface="Calibri"/>
            </a:endParaRPr>
          </a:p>
        </p:txBody>
      </p:sp>
      <p:sp>
        <p:nvSpPr>
          <p:cNvPr id="131" name="Google Shape;131;p6"/>
          <p:cNvSpPr/>
          <p:nvPr/>
        </p:nvSpPr>
        <p:spPr>
          <a:xfrm>
            <a:off x="6172200" y="29352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dirty="0">
                <a:solidFill>
                  <a:srgbClr val="16334F"/>
                </a:solidFill>
                <a:latin typeface="Calibri"/>
                <a:ea typeface="Calibri"/>
                <a:cs typeface="Calibri"/>
                <a:sym typeface="Calibri"/>
              </a:rPr>
              <a:t>D. Mu ruhu</a:t>
            </a:r>
            <a:endParaRPr sz="1750" dirty="0">
              <a:solidFill>
                <a:schemeClr val="dk1"/>
              </a:solidFill>
              <a:latin typeface="Calibri"/>
              <a:ea typeface="Calibri"/>
              <a:cs typeface="Calibri"/>
              <a:sym typeface="Calibri"/>
            </a:endParaRPr>
          </a:p>
        </p:txBody>
      </p:sp>
      <p:sp>
        <p:nvSpPr>
          <p:cNvPr id="132" name="Google Shape;132;p6"/>
          <p:cNvSpPr/>
          <p:nvPr/>
        </p:nvSpPr>
        <p:spPr>
          <a:xfrm>
            <a:off x="548640" y="384048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3" name="Google Shape;133;p6"/>
          <p:cNvSpPr/>
          <p:nvPr/>
        </p:nvSpPr>
        <p:spPr>
          <a:xfrm>
            <a:off x="804672" y="39867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a:solidFill>
                  <a:srgbClr val="0F3D63"/>
                </a:solidFill>
                <a:latin typeface="Calibri"/>
                <a:ea typeface="Calibri"/>
                <a:cs typeface="Calibri"/>
                <a:sym typeface="Calibri"/>
              </a:rPr>
              <a:t>Q2. Kanseri y'igifu ikunze gutera ibi bikurikira:</a:t>
            </a:r>
            <a:endParaRPr sz="1900">
              <a:solidFill>
                <a:schemeClr val="dk1"/>
              </a:solidFill>
              <a:latin typeface="Calibri"/>
              <a:ea typeface="Calibri"/>
              <a:cs typeface="Calibri"/>
              <a:sym typeface="Calibri"/>
            </a:endParaRPr>
          </a:p>
        </p:txBody>
      </p:sp>
      <p:sp>
        <p:nvSpPr>
          <p:cNvPr id="134" name="Google Shape;134;p6"/>
          <p:cNvSpPr/>
          <p:nvPr/>
        </p:nvSpPr>
        <p:spPr>
          <a:xfrm>
            <a:off x="822960" y="44256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dirty="0">
                <a:solidFill>
                  <a:srgbClr val="16334F"/>
                </a:solidFill>
                <a:latin typeface="Calibri"/>
                <a:ea typeface="Calibri"/>
                <a:cs typeface="Calibri"/>
                <a:sym typeface="Calibri"/>
              </a:rPr>
              <a:t>A. </a:t>
            </a:r>
            <a:r>
              <a:rPr lang="rw-RW" sz="1750" dirty="0">
                <a:solidFill>
                  <a:srgbClr val="16334F"/>
                </a:solidFill>
                <a:latin typeface="Calibri"/>
                <a:ea typeface="Calibri"/>
                <a:cs typeface="Calibri"/>
                <a:sym typeface="Calibri"/>
              </a:rPr>
              <a:t>Ububabare bukabije ku bantu bose</a:t>
            </a:r>
            <a:endParaRPr sz="1750" dirty="0">
              <a:solidFill>
                <a:schemeClr val="dk1"/>
              </a:solidFill>
              <a:latin typeface="Calibri"/>
              <a:ea typeface="Calibri"/>
              <a:cs typeface="Calibri"/>
              <a:sym typeface="Calibri"/>
            </a:endParaRPr>
          </a:p>
        </p:txBody>
      </p:sp>
      <p:sp>
        <p:nvSpPr>
          <p:cNvPr id="135" name="Google Shape;135;p6"/>
          <p:cNvSpPr/>
          <p:nvPr/>
        </p:nvSpPr>
        <p:spPr>
          <a:xfrm>
            <a:off x="6172200" y="44256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B. </a:t>
            </a:r>
            <a:r>
              <a:rPr lang="rw-RW" sz="1750">
                <a:solidFill>
                  <a:srgbClr val="16334F"/>
                </a:solidFill>
                <a:latin typeface="Calibri"/>
                <a:ea typeface="Calibri"/>
                <a:cs typeface="Calibri"/>
                <a:sym typeface="Calibri"/>
              </a:rPr>
              <a:t>Ibimenyetso bike cyangwa bidasobanutse</a:t>
            </a:r>
            <a:endParaRPr sz="1750">
              <a:solidFill>
                <a:schemeClr val="dk1"/>
              </a:solidFill>
              <a:latin typeface="Calibri"/>
              <a:ea typeface="Calibri"/>
              <a:cs typeface="Calibri"/>
              <a:sym typeface="Calibri"/>
            </a:endParaRPr>
          </a:p>
        </p:txBody>
      </p:sp>
      <p:sp>
        <p:nvSpPr>
          <p:cNvPr id="136" name="Google Shape;136;p6"/>
          <p:cNvSpPr/>
          <p:nvPr/>
        </p:nvSpPr>
        <p:spPr>
          <a:xfrm>
            <a:off x="822960" y="49011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Umuriro mwinshi</a:t>
            </a:r>
            <a:endParaRPr sz="1750">
              <a:solidFill>
                <a:schemeClr val="dk1"/>
              </a:solidFill>
              <a:latin typeface="Calibri"/>
              <a:ea typeface="Calibri"/>
              <a:cs typeface="Calibri"/>
              <a:sym typeface="Calibri"/>
            </a:endParaRPr>
          </a:p>
        </p:txBody>
      </p:sp>
      <p:sp>
        <p:nvSpPr>
          <p:cNvPr id="137" name="Google Shape;137;p6"/>
          <p:cNvSpPr/>
          <p:nvPr/>
        </p:nvSpPr>
        <p:spPr>
          <a:xfrm>
            <a:off x="6172200" y="49011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dirty="0">
                <a:solidFill>
                  <a:srgbClr val="16334F"/>
                </a:solidFill>
                <a:latin typeface="Calibri"/>
                <a:ea typeface="Calibri"/>
                <a:cs typeface="Calibri"/>
                <a:sym typeface="Calibri"/>
              </a:rPr>
              <a:t>D. </a:t>
            </a:r>
            <a:r>
              <a:rPr lang="rw-RW" sz="1750" dirty="0">
                <a:solidFill>
                  <a:srgbClr val="16334F"/>
                </a:solidFill>
                <a:latin typeface="Calibri"/>
                <a:ea typeface="Calibri"/>
                <a:cs typeface="Calibri"/>
                <a:sym typeface="Calibri"/>
              </a:rPr>
              <a:t>Uduheri ku ruhu</a:t>
            </a:r>
            <a:endParaRPr sz="1750" dirty="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2"/>
        <p:cNvGrpSpPr/>
        <p:nvPr/>
      </p:nvGrpSpPr>
      <p:grpSpPr>
        <a:xfrm>
          <a:off x="0" y="0"/>
          <a:ext cx="0" cy="0"/>
          <a:chOff x="0" y="0"/>
          <a:chExt cx="0" cy="0"/>
        </a:xfrm>
      </p:grpSpPr>
      <p:sp>
        <p:nvSpPr>
          <p:cNvPr id="143" name="Google Shape;143;p7"/>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ISUZUMABUMENYI RYIBANZE</a:t>
            </a:r>
            <a:endParaRPr lang="rw-RW" sz="1100" dirty="0">
              <a:solidFill>
                <a:schemeClr val="dk1"/>
              </a:solidFill>
              <a:latin typeface="Calibri"/>
              <a:ea typeface="Calibri"/>
              <a:cs typeface="Calibri"/>
              <a:sym typeface="Calibri"/>
            </a:endParaRPr>
          </a:p>
        </p:txBody>
      </p:sp>
      <p:sp>
        <p:nvSpPr>
          <p:cNvPr id="144" name="Google Shape;144;p7"/>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Ikibazo (2/10)</a:t>
            </a:r>
            <a:endParaRPr sz="3200">
              <a:solidFill>
                <a:schemeClr val="dk1"/>
              </a:solidFill>
              <a:latin typeface="Calibri"/>
              <a:ea typeface="Calibri"/>
              <a:cs typeface="Calibri"/>
              <a:sym typeface="Calibri"/>
            </a:endParaRPr>
          </a:p>
        </p:txBody>
      </p:sp>
      <p:sp>
        <p:nvSpPr>
          <p:cNvPr id="145" name="Google Shape;145;p7"/>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46" name="Google Shape;146;p7"/>
          <p:cNvSpPr/>
          <p:nvPr/>
        </p:nvSpPr>
        <p:spPr>
          <a:xfrm>
            <a:off x="548640" y="187452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7" name="Google Shape;147;p7"/>
          <p:cNvSpPr/>
          <p:nvPr/>
        </p:nvSpPr>
        <p:spPr>
          <a:xfrm>
            <a:off x="804672" y="20208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a:solidFill>
                  <a:srgbClr val="0F3D63"/>
                </a:solidFill>
                <a:latin typeface="Calibri"/>
                <a:ea typeface="Calibri"/>
                <a:cs typeface="Calibri"/>
                <a:sym typeface="Calibri"/>
              </a:rPr>
              <a:t>Q3. Umuntu amaze ukwezi kurenga afite ububabare mu gifu. Ugomba:</a:t>
            </a:r>
            <a:endParaRPr sz="1900">
              <a:solidFill>
                <a:schemeClr val="dk1"/>
              </a:solidFill>
              <a:latin typeface="Calibri"/>
              <a:ea typeface="Calibri"/>
              <a:cs typeface="Calibri"/>
              <a:sym typeface="Calibri"/>
            </a:endParaRPr>
          </a:p>
        </p:txBody>
      </p:sp>
      <p:sp>
        <p:nvSpPr>
          <p:cNvPr id="148" name="Google Shape;148;p7"/>
          <p:cNvSpPr/>
          <p:nvPr/>
        </p:nvSpPr>
        <p:spPr>
          <a:xfrm>
            <a:off x="822960" y="24597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A. </a:t>
            </a:r>
            <a:r>
              <a:rPr lang="rw-RW" sz="1750">
                <a:solidFill>
                  <a:srgbClr val="16334F"/>
                </a:solidFill>
                <a:latin typeface="Calibri"/>
                <a:ea typeface="Calibri"/>
                <a:cs typeface="Calibri"/>
                <a:sym typeface="Calibri"/>
              </a:rPr>
              <a:t>Kumubwira agakomeza gutegereza</a:t>
            </a:r>
            <a:endParaRPr sz="1628">
              <a:solidFill>
                <a:schemeClr val="dk1"/>
              </a:solidFill>
              <a:latin typeface="Calibri"/>
              <a:ea typeface="Calibri"/>
              <a:cs typeface="Calibri"/>
              <a:sym typeface="Calibri"/>
            </a:endParaRPr>
          </a:p>
        </p:txBody>
      </p:sp>
      <p:sp>
        <p:nvSpPr>
          <p:cNvPr id="149" name="Google Shape;149;p7"/>
          <p:cNvSpPr/>
          <p:nvPr/>
        </p:nvSpPr>
        <p:spPr>
          <a:xfrm>
            <a:off x="6172200" y="24597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B. </a:t>
            </a:r>
            <a:r>
              <a:rPr lang="rw-RW" sz="1750">
                <a:solidFill>
                  <a:srgbClr val="16334F"/>
                </a:solidFill>
                <a:latin typeface="Calibri"/>
                <a:ea typeface="Calibri"/>
                <a:cs typeface="Calibri"/>
                <a:sym typeface="Calibri"/>
              </a:rPr>
              <a:t>Kumushishikariza kwisuzumisha ku kigo nderabuzima</a:t>
            </a:r>
            <a:endParaRPr sz="1628">
              <a:solidFill>
                <a:schemeClr val="dk1"/>
              </a:solidFill>
              <a:latin typeface="Calibri"/>
              <a:ea typeface="Calibri"/>
              <a:cs typeface="Calibri"/>
              <a:sym typeface="Calibri"/>
            </a:endParaRPr>
          </a:p>
        </p:txBody>
      </p:sp>
      <p:sp>
        <p:nvSpPr>
          <p:cNvPr id="150" name="Google Shape;150;p7"/>
          <p:cNvSpPr/>
          <p:nvPr/>
        </p:nvSpPr>
        <p:spPr>
          <a:xfrm>
            <a:off x="822960" y="29352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dirty="0">
                <a:solidFill>
                  <a:srgbClr val="16334F"/>
                </a:solidFill>
                <a:latin typeface="Calibri"/>
                <a:ea typeface="Calibri"/>
                <a:cs typeface="Calibri"/>
                <a:sym typeface="Calibri"/>
              </a:rPr>
              <a:t>C. </a:t>
            </a:r>
            <a:r>
              <a:rPr lang="rw-RW" sz="1750" dirty="0">
                <a:solidFill>
                  <a:srgbClr val="16334F"/>
                </a:solidFill>
                <a:latin typeface="Calibri"/>
                <a:ea typeface="Calibri"/>
                <a:cs typeface="Calibri"/>
                <a:sym typeface="Calibri"/>
              </a:rPr>
              <a:t>Kumuha imiti ubwawe</a:t>
            </a:r>
            <a:endParaRPr sz="1628" dirty="0">
              <a:solidFill>
                <a:schemeClr val="dk1"/>
              </a:solidFill>
              <a:latin typeface="Calibri"/>
              <a:ea typeface="Calibri"/>
              <a:cs typeface="Calibri"/>
              <a:sym typeface="Calibri"/>
            </a:endParaRPr>
          </a:p>
        </p:txBody>
      </p:sp>
      <p:sp>
        <p:nvSpPr>
          <p:cNvPr id="151" name="Google Shape;151;p7"/>
          <p:cNvSpPr/>
          <p:nvPr/>
        </p:nvSpPr>
        <p:spPr>
          <a:xfrm>
            <a:off x="6172200" y="29352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D. </a:t>
            </a:r>
            <a:r>
              <a:rPr lang="rw-RW" sz="1750">
                <a:solidFill>
                  <a:srgbClr val="16334F"/>
                </a:solidFill>
                <a:latin typeface="Calibri"/>
                <a:ea typeface="Calibri"/>
                <a:cs typeface="Calibri"/>
                <a:sym typeface="Calibri"/>
              </a:rPr>
              <a:t>Kumubwira ko ari kanseri.</a:t>
            </a:r>
            <a:endParaRPr sz="1628">
              <a:solidFill>
                <a:schemeClr val="dk1"/>
              </a:solidFill>
              <a:latin typeface="Calibri"/>
              <a:ea typeface="Calibri"/>
              <a:cs typeface="Calibri"/>
              <a:sym typeface="Calibri"/>
            </a:endParaRPr>
          </a:p>
        </p:txBody>
      </p:sp>
      <p:sp>
        <p:nvSpPr>
          <p:cNvPr id="152" name="Google Shape;152;p7"/>
          <p:cNvSpPr/>
          <p:nvPr/>
        </p:nvSpPr>
        <p:spPr>
          <a:xfrm>
            <a:off x="548640" y="384048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3" name="Google Shape;153;p7"/>
          <p:cNvSpPr/>
          <p:nvPr/>
        </p:nvSpPr>
        <p:spPr>
          <a:xfrm>
            <a:off x="804672" y="39867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a:solidFill>
                  <a:srgbClr val="0F3D63"/>
                </a:solidFill>
                <a:latin typeface="Calibri"/>
                <a:ea typeface="Calibri"/>
                <a:cs typeface="Calibri"/>
                <a:sym typeface="Calibri"/>
              </a:rPr>
              <a:t>Q4. Umuntu ari kuruka amaraso. Uyu muntu akwiriye:</a:t>
            </a:r>
            <a:endParaRPr sz="1900">
              <a:solidFill>
                <a:schemeClr val="dk1"/>
              </a:solidFill>
              <a:latin typeface="Calibri"/>
              <a:ea typeface="Calibri"/>
              <a:cs typeface="Calibri"/>
              <a:sym typeface="Calibri"/>
            </a:endParaRPr>
          </a:p>
        </p:txBody>
      </p:sp>
      <p:sp>
        <p:nvSpPr>
          <p:cNvPr id="154" name="Google Shape;154;p7"/>
          <p:cNvSpPr/>
          <p:nvPr/>
        </p:nvSpPr>
        <p:spPr>
          <a:xfrm>
            <a:off x="822960" y="44256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A. </a:t>
            </a:r>
            <a:r>
              <a:rPr lang="rw-RW" sz="1750">
                <a:solidFill>
                  <a:srgbClr val="16334F"/>
                </a:solidFill>
                <a:latin typeface="Calibri"/>
                <a:ea typeface="Calibri"/>
                <a:cs typeface="Calibri"/>
                <a:sym typeface="Calibri"/>
              </a:rPr>
              <a:t>Kuguma mu rugo</a:t>
            </a:r>
            <a:endParaRPr sz="1628">
              <a:solidFill>
                <a:schemeClr val="dk1"/>
              </a:solidFill>
              <a:latin typeface="Calibri"/>
              <a:ea typeface="Calibri"/>
              <a:cs typeface="Calibri"/>
              <a:sym typeface="Calibri"/>
            </a:endParaRPr>
          </a:p>
        </p:txBody>
      </p:sp>
      <p:sp>
        <p:nvSpPr>
          <p:cNvPr id="155" name="Google Shape;155;p7"/>
          <p:cNvSpPr/>
          <p:nvPr/>
        </p:nvSpPr>
        <p:spPr>
          <a:xfrm>
            <a:off x="6172200" y="44256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dirty="0">
                <a:solidFill>
                  <a:srgbClr val="16334F"/>
                </a:solidFill>
                <a:latin typeface="Calibri"/>
                <a:ea typeface="Calibri"/>
                <a:cs typeface="Calibri"/>
                <a:sym typeface="Calibri"/>
              </a:rPr>
              <a:t>B. </a:t>
            </a:r>
            <a:r>
              <a:rPr lang="rw-RW" sz="1750" dirty="0">
                <a:solidFill>
                  <a:srgbClr val="16334F"/>
                </a:solidFill>
                <a:latin typeface="Calibri"/>
                <a:ea typeface="Calibri"/>
                <a:cs typeface="Calibri"/>
                <a:sym typeface="Calibri"/>
              </a:rPr>
              <a:t>Kujya kwivuza byihutirwa</a:t>
            </a:r>
            <a:endParaRPr sz="1628" dirty="0">
              <a:solidFill>
                <a:schemeClr val="dk1"/>
              </a:solidFill>
              <a:latin typeface="Calibri"/>
              <a:ea typeface="Calibri"/>
              <a:cs typeface="Calibri"/>
              <a:sym typeface="Calibri"/>
            </a:endParaRPr>
          </a:p>
        </p:txBody>
      </p:sp>
      <p:sp>
        <p:nvSpPr>
          <p:cNvPr id="156" name="Google Shape;156;p7"/>
          <p:cNvSpPr/>
          <p:nvPr/>
        </p:nvSpPr>
        <p:spPr>
          <a:xfrm>
            <a:off x="822960" y="49011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Gutegereza icyumweru kimwe</a:t>
            </a:r>
            <a:endParaRPr sz="1628">
              <a:solidFill>
                <a:schemeClr val="dk1"/>
              </a:solidFill>
              <a:latin typeface="Calibri"/>
              <a:ea typeface="Calibri"/>
              <a:cs typeface="Calibri"/>
              <a:sym typeface="Calibri"/>
            </a:endParaRPr>
          </a:p>
        </p:txBody>
      </p:sp>
      <p:sp>
        <p:nvSpPr>
          <p:cNvPr id="157" name="Google Shape;157;p7"/>
          <p:cNvSpPr/>
          <p:nvPr/>
        </p:nvSpPr>
        <p:spPr>
          <a:xfrm>
            <a:off x="6172200" y="49011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D. </a:t>
            </a:r>
            <a:r>
              <a:rPr lang="rw-RW" sz="1750">
                <a:solidFill>
                  <a:srgbClr val="16334F"/>
                </a:solidFill>
                <a:latin typeface="Calibri"/>
                <a:ea typeface="Calibri"/>
                <a:cs typeface="Calibri"/>
                <a:sym typeface="Calibri"/>
              </a:rPr>
              <a:t>Guhindura ibiryo yaryaga gusa</a:t>
            </a:r>
            <a:endParaRPr sz="1628">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2"/>
        <p:cNvGrpSpPr/>
        <p:nvPr/>
      </p:nvGrpSpPr>
      <p:grpSpPr>
        <a:xfrm>
          <a:off x="0" y="0"/>
          <a:ext cx="0" cy="0"/>
          <a:chOff x="0" y="0"/>
          <a:chExt cx="0" cy="0"/>
        </a:xfrm>
      </p:grpSpPr>
      <p:sp>
        <p:nvSpPr>
          <p:cNvPr id="163" name="Google Shape;163;p8"/>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ISUZUMABUMENYI RYIBANZE</a:t>
            </a:r>
            <a:endParaRPr lang="rw-RW" sz="1100" dirty="0">
              <a:solidFill>
                <a:schemeClr val="dk1"/>
              </a:solidFill>
              <a:latin typeface="Calibri"/>
              <a:ea typeface="Calibri"/>
              <a:cs typeface="Calibri"/>
              <a:sym typeface="Calibri"/>
            </a:endParaRPr>
          </a:p>
        </p:txBody>
      </p:sp>
      <p:sp>
        <p:nvSpPr>
          <p:cNvPr id="164" name="Google Shape;164;p8"/>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Urutonde rw'ibibazo (3/10)</a:t>
            </a:r>
            <a:endParaRPr sz="3200">
              <a:solidFill>
                <a:schemeClr val="dk1"/>
              </a:solidFill>
              <a:latin typeface="Calibri"/>
              <a:ea typeface="Calibri"/>
              <a:cs typeface="Calibri"/>
              <a:sym typeface="Calibri"/>
            </a:endParaRPr>
          </a:p>
        </p:txBody>
      </p:sp>
      <p:sp>
        <p:nvSpPr>
          <p:cNvPr id="165" name="Google Shape;165;p8"/>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66" name="Google Shape;166;p8"/>
          <p:cNvSpPr/>
          <p:nvPr/>
        </p:nvSpPr>
        <p:spPr>
          <a:xfrm>
            <a:off x="548640" y="187452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7" name="Google Shape;167;p8"/>
          <p:cNvSpPr/>
          <p:nvPr/>
        </p:nvSpPr>
        <p:spPr>
          <a:xfrm>
            <a:off x="804672" y="20208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dirty="0">
                <a:solidFill>
                  <a:srgbClr val="0F3D63"/>
                </a:solidFill>
                <a:latin typeface="Calibri"/>
                <a:ea typeface="Calibri"/>
                <a:cs typeface="Calibri"/>
                <a:sym typeface="Calibri"/>
              </a:rPr>
              <a:t>Q5. Umusarane wirabura nka kaburimbo ushobora kuba ikimenyetso cyo:</a:t>
            </a:r>
            <a:endParaRPr sz="1900" dirty="0">
              <a:solidFill>
                <a:schemeClr val="dk1"/>
              </a:solidFill>
              <a:latin typeface="Calibri"/>
              <a:ea typeface="Calibri"/>
              <a:cs typeface="Calibri"/>
              <a:sym typeface="Calibri"/>
            </a:endParaRPr>
          </a:p>
        </p:txBody>
      </p:sp>
      <p:sp>
        <p:nvSpPr>
          <p:cNvPr id="168" name="Google Shape;168;p8"/>
          <p:cNvSpPr/>
          <p:nvPr/>
        </p:nvSpPr>
        <p:spPr>
          <a:xfrm>
            <a:off x="822960" y="24597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A. </a:t>
            </a:r>
            <a:r>
              <a:rPr lang="rw-RW" sz="1750">
                <a:solidFill>
                  <a:srgbClr val="16334F"/>
                </a:solidFill>
                <a:latin typeface="Calibri"/>
                <a:ea typeface="Calibri"/>
                <a:cs typeface="Calibri"/>
                <a:sym typeface="Calibri"/>
              </a:rPr>
              <a:t>Kuva amaraso mu gifu</a:t>
            </a:r>
            <a:endParaRPr sz="1750">
              <a:solidFill>
                <a:schemeClr val="dk1"/>
              </a:solidFill>
              <a:latin typeface="Calibri"/>
              <a:ea typeface="Calibri"/>
              <a:cs typeface="Calibri"/>
              <a:sym typeface="Calibri"/>
            </a:endParaRPr>
          </a:p>
        </p:txBody>
      </p:sp>
      <p:sp>
        <p:nvSpPr>
          <p:cNvPr id="169" name="Google Shape;169;p8"/>
          <p:cNvSpPr/>
          <p:nvPr/>
        </p:nvSpPr>
        <p:spPr>
          <a:xfrm>
            <a:off x="6172200" y="24597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B. </a:t>
            </a:r>
            <a:r>
              <a:rPr lang="rw-RW" sz="1750">
                <a:solidFill>
                  <a:srgbClr val="16334F"/>
                </a:solidFill>
                <a:latin typeface="Calibri"/>
                <a:ea typeface="Calibri"/>
                <a:cs typeface="Calibri"/>
                <a:sym typeface="Calibri"/>
              </a:rPr>
              <a:t>Ubuzima bwiza cyane</a:t>
            </a:r>
            <a:endParaRPr sz="1750">
              <a:solidFill>
                <a:schemeClr val="dk1"/>
              </a:solidFill>
              <a:latin typeface="Calibri"/>
              <a:ea typeface="Calibri"/>
              <a:cs typeface="Calibri"/>
              <a:sym typeface="Calibri"/>
            </a:endParaRPr>
          </a:p>
        </p:txBody>
      </p:sp>
      <p:sp>
        <p:nvSpPr>
          <p:cNvPr id="170" name="Google Shape;170;p8"/>
          <p:cNvSpPr/>
          <p:nvPr/>
        </p:nvSpPr>
        <p:spPr>
          <a:xfrm>
            <a:off x="822960" y="29352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Kunywa amazi menshi</a:t>
            </a:r>
            <a:endParaRPr sz="1750">
              <a:solidFill>
                <a:schemeClr val="dk1"/>
              </a:solidFill>
              <a:latin typeface="Calibri"/>
              <a:ea typeface="Calibri"/>
              <a:cs typeface="Calibri"/>
              <a:sym typeface="Calibri"/>
            </a:endParaRPr>
          </a:p>
        </p:txBody>
      </p:sp>
      <p:sp>
        <p:nvSpPr>
          <p:cNvPr id="171" name="Google Shape;171;p8"/>
          <p:cNvSpPr/>
          <p:nvPr/>
        </p:nvSpPr>
        <p:spPr>
          <a:xfrm>
            <a:off x="6172200" y="29352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D. </a:t>
            </a:r>
            <a:r>
              <a:rPr lang="rw-RW" sz="1750">
                <a:solidFill>
                  <a:srgbClr val="16334F"/>
                </a:solidFill>
                <a:latin typeface="Calibri"/>
                <a:ea typeface="Calibri"/>
                <a:cs typeface="Calibri"/>
                <a:sym typeface="Calibri"/>
              </a:rPr>
              <a:t>Kurya imboga nyinshi</a:t>
            </a:r>
            <a:endParaRPr sz="1750">
              <a:solidFill>
                <a:schemeClr val="dk1"/>
              </a:solidFill>
              <a:latin typeface="Calibri"/>
              <a:ea typeface="Calibri"/>
              <a:cs typeface="Calibri"/>
              <a:sym typeface="Calibri"/>
            </a:endParaRPr>
          </a:p>
        </p:txBody>
      </p:sp>
      <p:sp>
        <p:nvSpPr>
          <p:cNvPr id="172" name="Google Shape;172;p8"/>
          <p:cNvSpPr/>
          <p:nvPr/>
        </p:nvSpPr>
        <p:spPr>
          <a:xfrm>
            <a:off x="548640" y="384048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3" name="Google Shape;173;p8"/>
          <p:cNvSpPr/>
          <p:nvPr/>
        </p:nvSpPr>
        <p:spPr>
          <a:xfrm>
            <a:off x="804672" y="39867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a:solidFill>
                  <a:srgbClr val="0F3D63"/>
                </a:solidFill>
                <a:latin typeface="Calibri"/>
                <a:ea typeface="Calibri"/>
                <a:cs typeface="Calibri"/>
                <a:sym typeface="Calibri"/>
              </a:rPr>
              <a:t>Q6. </a:t>
            </a:r>
            <a:r>
              <a:rPr lang="rw-RW" sz="1900" b="1" i="1">
                <a:solidFill>
                  <a:srgbClr val="0F3D63"/>
                </a:solidFill>
                <a:latin typeface="Calibri"/>
                <a:ea typeface="Calibri"/>
                <a:cs typeface="Calibri"/>
                <a:sym typeface="Calibri"/>
              </a:rPr>
              <a:t>Helicobacter </a:t>
            </a:r>
            <a:r>
              <a:rPr lang="rw-RW" sz="1900" b="1">
                <a:solidFill>
                  <a:srgbClr val="0F3D63"/>
                </a:solidFill>
                <a:latin typeface="Calibri"/>
                <a:ea typeface="Calibri"/>
                <a:cs typeface="Calibri"/>
                <a:sym typeface="Calibri"/>
              </a:rPr>
              <a:t>pylori, Yitwa </a:t>
            </a:r>
            <a:r>
              <a:rPr lang="rw-RW" sz="1900" b="1" i="1">
                <a:solidFill>
                  <a:srgbClr val="0F3D63"/>
                </a:solidFill>
                <a:latin typeface="Calibri"/>
                <a:ea typeface="Calibri"/>
                <a:cs typeface="Calibri"/>
                <a:sym typeface="Calibri"/>
              </a:rPr>
              <a:t>H. pylori</a:t>
            </a:r>
            <a:r>
              <a:rPr lang="rw-RW" sz="1900" b="1">
                <a:solidFill>
                  <a:srgbClr val="0F3D63"/>
                </a:solidFill>
                <a:latin typeface="Calibri"/>
                <a:ea typeface="Calibri"/>
                <a:cs typeface="Calibri"/>
                <a:sym typeface="Calibri"/>
              </a:rPr>
              <a:t>, ni:</a:t>
            </a:r>
            <a:endParaRPr sz="1900">
              <a:solidFill>
                <a:schemeClr val="dk1"/>
              </a:solidFill>
              <a:latin typeface="Calibri"/>
              <a:ea typeface="Calibri"/>
              <a:cs typeface="Calibri"/>
              <a:sym typeface="Calibri"/>
            </a:endParaRPr>
          </a:p>
        </p:txBody>
      </p:sp>
      <p:sp>
        <p:nvSpPr>
          <p:cNvPr id="174" name="Google Shape;174;p8"/>
          <p:cNvSpPr/>
          <p:nvPr/>
        </p:nvSpPr>
        <p:spPr>
          <a:xfrm>
            <a:off x="822960" y="44256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A. </a:t>
            </a:r>
            <a:r>
              <a:rPr lang="rw-RW" sz="1750">
                <a:solidFill>
                  <a:srgbClr val="16334F"/>
                </a:solidFill>
                <a:latin typeface="Calibri"/>
                <a:ea typeface="Calibri"/>
                <a:cs typeface="Calibri"/>
                <a:sym typeface="Calibri"/>
              </a:rPr>
              <a:t>Ubwoko bwa kanseri</a:t>
            </a:r>
            <a:endParaRPr sz="1750">
              <a:solidFill>
                <a:schemeClr val="dk1"/>
              </a:solidFill>
              <a:latin typeface="Calibri"/>
              <a:ea typeface="Calibri"/>
              <a:cs typeface="Calibri"/>
              <a:sym typeface="Calibri"/>
            </a:endParaRPr>
          </a:p>
        </p:txBody>
      </p:sp>
      <p:sp>
        <p:nvSpPr>
          <p:cNvPr id="175" name="Google Shape;175;p8"/>
          <p:cNvSpPr/>
          <p:nvPr/>
        </p:nvSpPr>
        <p:spPr>
          <a:xfrm>
            <a:off x="6172200" y="44256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dirty="0">
                <a:solidFill>
                  <a:srgbClr val="16334F"/>
                </a:solidFill>
                <a:latin typeface="Calibri"/>
                <a:ea typeface="Calibri"/>
                <a:cs typeface="Calibri"/>
                <a:sym typeface="Calibri"/>
              </a:rPr>
              <a:t>B. </a:t>
            </a:r>
            <a:r>
              <a:rPr lang="rw-RW" sz="1750" dirty="0">
                <a:solidFill>
                  <a:srgbClr val="16334F"/>
                </a:solidFill>
                <a:latin typeface="Calibri"/>
                <a:ea typeface="Calibri"/>
                <a:cs typeface="Calibri"/>
                <a:sym typeface="Calibri"/>
              </a:rPr>
              <a:t>Agakoko gashobora kuba mu gifu</a:t>
            </a:r>
            <a:endParaRPr sz="1750" dirty="0">
              <a:solidFill>
                <a:schemeClr val="dk1"/>
              </a:solidFill>
              <a:latin typeface="Calibri"/>
              <a:ea typeface="Calibri"/>
              <a:cs typeface="Calibri"/>
              <a:sym typeface="Calibri"/>
            </a:endParaRPr>
          </a:p>
        </p:txBody>
      </p:sp>
      <p:sp>
        <p:nvSpPr>
          <p:cNvPr id="176" name="Google Shape;176;p8"/>
          <p:cNvSpPr/>
          <p:nvPr/>
        </p:nvSpPr>
        <p:spPr>
          <a:xfrm>
            <a:off x="822960" y="49011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Umuti</a:t>
            </a:r>
            <a:endParaRPr sz="1750">
              <a:solidFill>
                <a:schemeClr val="dk1"/>
              </a:solidFill>
              <a:latin typeface="Calibri"/>
              <a:ea typeface="Calibri"/>
              <a:cs typeface="Calibri"/>
              <a:sym typeface="Calibri"/>
            </a:endParaRPr>
          </a:p>
        </p:txBody>
      </p:sp>
      <p:sp>
        <p:nvSpPr>
          <p:cNvPr id="177" name="Google Shape;177;p8"/>
          <p:cNvSpPr/>
          <p:nvPr/>
        </p:nvSpPr>
        <p:spPr>
          <a:xfrm>
            <a:off x="6172200" y="49011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D. </a:t>
            </a:r>
            <a:r>
              <a:rPr lang="rw-RW" sz="1750">
                <a:solidFill>
                  <a:srgbClr val="16334F"/>
                </a:solidFill>
                <a:latin typeface="Calibri"/>
                <a:ea typeface="Calibri"/>
                <a:cs typeface="Calibri"/>
                <a:sym typeface="Calibri"/>
              </a:rPr>
              <a:t>Ubwoko bw'ibiryo</a:t>
            </a:r>
            <a:endParaRPr sz="17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2"/>
        <p:cNvGrpSpPr/>
        <p:nvPr/>
      </p:nvGrpSpPr>
      <p:grpSpPr>
        <a:xfrm>
          <a:off x="0" y="0"/>
          <a:ext cx="0" cy="0"/>
          <a:chOff x="0" y="0"/>
          <a:chExt cx="0" cy="0"/>
        </a:xfrm>
      </p:grpSpPr>
      <p:sp>
        <p:nvSpPr>
          <p:cNvPr id="183" name="Google Shape;183;p9"/>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ISUZUMABUMENYI RYIBANZE</a:t>
            </a:r>
            <a:endParaRPr lang="rw-RW" sz="1100" dirty="0">
              <a:solidFill>
                <a:schemeClr val="dk1"/>
              </a:solidFill>
              <a:latin typeface="Calibri"/>
              <a:ea typeface="Calibri"/>
              <a:cs typeface="Calibri"/>
              <a:sym typeface="Calibri"/>
            </a:endParaRPr>
          </a:p>
        </p:txBody>
      </p:sp>
      <p:sp>
        <p:nvSpPr>
          <p:cNvPr id="184" name="Google Shape;184;p9"/>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Ikibazo (4/10)</a:t>
            </a:r>
            <a:endParaRPr sz="3200">
              <a:solidFill>
                <a:schemeClr val="dk1"/>
              </a:solidFill>
              <a:latin typeface="Calibri"/>
              <a:ea typeface="Calibri"/>
              <a:cs typeface="Calibri"/>
              <a:sym typeface="Calibri"/>
            </a:endParaRPr>
          </a:p>
        </p:txBody>
      </p:sp>
      <p:sp>
        <p:nvSpPr>
          <p:cNvPr id="185" name="Google Shape;185;p9"/>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86" name="Google Shape;186;p9"/>
          <p:cNvSpPr/>
          <p:nvPr/>
        </p:nvSpPr>
        <p:spPr>
          <a:xfrm>
            <a:off x="548640" y="187452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7" name="Google Shape;187;p9"/>
          <p:cNvSpPr/>
          <p:nvPr/>
        </p:nvSpPr>
        <p:spPr>
          <a:xfrm>
            <a:off x="804672" y="20208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a:solidFill>
                  <a:srgbClr val="0F3D63"/>
                </a:solidFill>
                <a:latin typeface="Calibri"/>
                <a:ea typeface="Calibri"/>
                <a:cs typeface="Calibri"/>
                <a:sym typeface="Calibri"/>
              </a:rPr>
              <a:t>Q7. Niba umuntu afite H </a:t>
            </a:r>
            <a:r>
              <a:rPr lang="rw-RW" sz="1900" b="1" i="1">
                <a:solidFill>
                  <a:srgbClr val="0F3D63"/>
                </a:solidFill>
                <a:latin typeface="Calibri"/>
                <a:ea typeface="Calibri"/>
                <a:cs typeface="Calibri"/>
                <a:sym typeface="Calibri"/>
              </a:rPr>
              <a:t>. pylori</a:t>
            </a:r>
            <a:r>
              <a:rPr lang="rw-RW" sz="1900" b="1">
                <a:solidFill>
                  <a:srgbClr val="0F3D63"/>
                </a:solidFill>
                <a:latin typeface="Calibri"/>
                <a:ea typeface="Calibri"/>
                <a:cs typeface="Calibri"/>
                <a:sym typeface="Calibri"/>
              </a:rPr>
              <a:t>, bisobanura:</a:t>
            </a:r>
            <a:endParaRPr sz="1900">
              <a:solidFill>
                <a:schemeClr val="dk1"/>
              </a:solidFill>
              <a:latin typeface="Calibri"/>
              <a:ea typeface="Calibri"/>
              <a:cs typeface="Calibri"/>
              <a:sym typeface="Calibri"/>
            </a:endParaRPr>
          </a:p>
        </p:txBody>
      </p:sp>
      <p:sp>
        <p:nvSpPr>
          <p:cNvPr id="188" name="Google Shape;188;p9"/>
          <p:cNvSpPr/>
          <p:nvPr/>
        </p:nvSpPr>
        <p:spPr>
          <a:xfrm>
            <a:off x="822960" y="24597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dirty="0">
                <a:solidFill>
                  <a:srgbClr val="16334F"/>
                </a:solidFill>
                <a:latin typeface="Calibri"/>
                <a:ea typeface="Calibri"/>
                <a:cs typeface="Calibri"/>
                <a:sym typeface="Calibri"/>
              </a:rPr>
              <a:t>A. </a:t>
            </a:r>
            <a:r>
              <a:rPr lang="rw-RW" sz="1750" dirty="0">
                <a:solidFill>
                  <a:srgbClr val="16334F"/>
                </a:solidFill>
                <a:latin typeface="Calibri"/>
                <a:ea typeface="Calibri"/>
                <a:cs typeface="Calibri"/>
                <a:sym typeface="Calibri"/>
              </a:rPr>
              <a:t>Ko arwaye kanseri</a:t>
            </a:r>
            <a:endParaRPr sz="1628" dirty="0">
              <a:solidFill>
                <a:schemeClr val="dk1"/>
              </a:solidFill>
              <a:latin typeface="Calibri"/>
              <a:ea typeface="Calibri"/>
              <a:cs typeface="Calibri"/>
              <a:sym typeface="Calibri"/>
            </a:endParaRPr>
          </a:p>
        </p:txBody>
      </p:sp>
      <p:sp>
        <p:nvSpPr>
          <p:cNvPr id="189" name="Google Shape;189;p9"/>
          <p:cNvSpPr/>
          <p:nvPr/>
        </p:nvSpPr>
        <p:spPr>
          <a:xfrm>
            <a:off x="6172200" y="2459736"/>
            <a:ext cx="5166360" cy="438912"/>
          </a:xfrm>
          <a:prstGeom prst="rect">
            <a:avLst/>
          </a:prstGeom>
          <a:noFill/>
          <a:ln>
            <a:noFill/>
          </a:ln>
        </p:spPr>
        <p:txBody>
          <a:bodyPr spcFirstLastPara="1" wrap="square" lIns="0" tIns="0" rIns="0" bIns="0" anchor="ctr" anchorCtr="0">
            <a:normAutofit lnSpcReduction="10000"/>
          </a:bodyPr>
          <a:lstStyle/>
          <a:p>
            <a:pPr marL="0" marR="0" lvl="0" indent="0" algn="l" rtl="0">
              <a:lnSpc>
                <a:spcPct val="90000"/>
              </a:lnSpc>
              <a:spcBef>
                <a:spcPts val="0"/>
              </a:spcBef>
              <a:spcAft>
                <a:spcPts val="0"/>
              </a:spcAft>
              <a:buClr>
                <a:srgbClr val="16334F"/>
              </a:buClr>
              <a:buSzPts val="1496"/>
              <a:buFont typeface="Calibri"/>
              <a:buNone/>
            </a:pPr>
            <a:r>
              <a:rPr lang="rw-RW" sz="1750" b="1">
                <a:solidFill>
                  <a:srgbClr val="16334F"/>
                </a:solidFill>
                <a:latin typeface="Calibri"/>
                <a:ea typeface="Calibri"/>
                <a:cs typeface="Calibri"/>
                <a:sym typeface="Calibri"/>
              </a:rPr>
              <a:t>B. </a:t>
            </a:r>
            <a:r>
              <a:rPr lang="rw-RW" sz="1750">
                <a:solidFill>
                  <a:srgbClr val="16334F"/>
                </a:solidFill>
                <a:latin typeface="Calibri"/>
                <a:ea typeface="Calibri"/>
                <a:cs typeface="Calibri"/>
                <a:sym typeface="Calibri"/>
              </a:rPr>
              <a:t>Ibyago byo kurwara kanseri biri hejuru, ariko abenshi ntibarwara kanseri.</a:t>
            </a:r>
            <a:endParaRPr sz="1496">
              <a:solidFill>
                <a:schemeClr val="dk1"/>
              </a:solidFill>
              <a:latin typeface="Calibri"/>
              <a:ea typeface="Calibri"/>
              <a:cs typeface="Calibri"/>
              <a:sym typeface="Calibri"/>
            </a:endParaRPr>
          </a:p>
        </p:txBody>
      </p:sp>
      <p:sp>
        <p:nvSpPr>
          <p:cNvPr id="190" name="Google Shape;190;p9"/>
          <p:cNvSpPr/>
          <p:nvPr/>
        </p:nvSpPr>
        <p:spPr>
          <a:xfrm>
            <a:off x="822960" y="29352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Nta kintu na kimwe gishobora gukorwa</a:t>
            </a:r>
            <a:endParaRPr sz="1628">
              <a:solidFill>
                <a:schemeClr val="dk1"/>
              </a:solidFill>
              <a:latin typeface="Calibri"/>
              <a:ea typeface="Calibri"/>
              <a:cs typeface="Calibri"/>
              <a:sym typeface="Calibri"/>
            </a:endParaRPr>
          </a:p>
        </p:txBody>
      </p:sp>
      <p:sp>
        <p:nvSpPr>
          <p:cNvPr id="191" name="Google Shape;191;p9"/>
          <p:cNvSpPr/>
          <p:nvPr/>
        </p:nvSpPr>
        <p:spPr>
          <a:xfrm>
            <a:off x="6172200" y="29352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D. </a:t>
            </a:r>
            <a:r>
              <a:rPr lang="rw-RW" sz="1750">
                <a:solidFill>
                  <a:srgbClr val="16334F"/>
                </a:solidFill>
                <a:latin typeface="Calibri"/>
                <a:ea typeface="Calibri"/>
                <a:cs typeface="Calibri"/>
                <a:sym typeface="Calibri"/>
              </a:rPr>
              <a:t>Bakeneye kubagwa</a:t>
            </a:r>
            <a:endParaRPr sz="1628">
              <a:solidFill>
                <a:schemeClr val="dk1"/>
              </a:solidFill>
              <a:latin typeface="Calibri"/>
              <a:ea typeface="Calibri"/>
              <a:cs typeface="Calibri"/>
              <a:sym typeface="Calibri"/>
            </a:endParaRPr>
          </a:p>
        </p:txBody>
      </p:sp>
      <p:sp>
        <p:nvSpPr>
          <p:cNvPr id="192" name="Google Shape;192;p9"/>
          <p:cNvSpPr/>
          <p:nvPr/>
        </p:nvSpPr>
        <p:spPr>
          <a:xfrm>
            <a:off x="548640" y="384048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3" name="Google Shape;193;p9"/>
          <p:cNvSpPr/>
          <p:nvPr/>
        </p:nvSpPr>
        <p:spPr>
          <a:xfrm>
            <a:off x="804672" y="39867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a:solidFill>
                  <a:srgbClr val="0F3D63"/>
                </a:solidFill>
                <a:latin typeface="Calibri"/>
                <a:ea typeface="Calibri"/>
                <a:cs typeface="Calibri"/>
                <a:sym typeface="Calibri"/>
              </a:rPr>
              <a:t>Q8. Ni ikihe muri ibi cyongera ibyago byo kurwara kanseri y'igifu?</a:t>
            </a:r>
            <a:endParaRPr sz="1900">
              <a:solidFill>
                <a:schemeClr val="dk1"/>
              </a:solidFill>
              <a:latin typeface="Calibri"/>
              <a:ea typeface="Calibri"/>
              <a:cs typeface="Calibri"/>
              <a:sym typeface="Calibri"/>
            </a:endParaRPr>
          </a:p>
        </p:txBody>
      </p:sp>
      <p:sp>
        <p:nvSpPr>
          <p:cNvPr id="194" name="Google Shape;194;p9"/>
          <p:cNvSpPr/>
          <p:nvPr/>
        </p:nvSpPr>
        <p:spPr>
          <a:xfrm>
            <a:off x="822960" y="44256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A. </a:t>
            </a:r>
            <a:r>
              <a:rPr lang="rw-RW" sz="1750">
                <a:solidFill>
                  <a:srgbClr val="16334F"/>
                </a:solidFill>
                <a:latin typeface="Calibri"/>
                <a:ea typeface="Calibri"/>
                <a:cs typeface="Calibri"/>
                <a:sym typeface="Calibri"/>
              </a:rPr>
              <a:t>Kunywa amazi meza</a:t>
            </a:r>
            <a:endParaRPr sz="1628">
              <a:solidFill>
                <a:schemeClr val="dk1"/>
              </a:solidFill>
              <a:latin typeface="Calibri"/>
              <a:ea typeface="Calibri"/>
              <a:cs typeface="Calibri"/>
              <a:sym typeface="Calibri"/>
            </a:endParaRPr>
          </a:p>
        </p:txBody>
      </p:sp>
      <p:sp>
        <p:nvSpPr>
          <p:cNvPr id="195" name="Google Shape;195;p9"/>
          <p:cNvSpPr/>
          <p:nvPr/>
        </p:nvSpPr>
        <p:spPr>
          <a:xfrm>
            <a:off x="6172200" y="44256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B. </a:t>
            </a:r>
            <a:r>
              <a:rPr lang="rw-RW" sz="1750">
                <a:solidFill>
                  <a:srgbClr val="16334F"/>
                </a:solidFill>
                <a:latin typeface="Calibri"/>
                <a:ea typeface="Calibri"/>
                <a:cs typeface="Calibri"/>
                <a:sym typeface="Calibri"/>
              </a:rPr>
              <a:t>Kunywa inzoga</a:t>
            </a:r>
            <a:endParaRPr sz="1628">
              <a:solidFill>
                <a:schemeClr val="dk1"/>
              </a:solidFill>
              <a:latin typeface="Calibri"/>
              <a:ea typeface="Calibri"/>
              <a:cs typeface="Calibri"/>
              <a:sym typeface="Calibri"/>
            </a:endParaRPr>
          </a:p>
        </p:txBody>
      </p:sp>
      <p:sp>
        <p:nvSpPr>
          <p:cNvPr id="196" name="Google Shape;196;p9"/>
          <p:cNvSpPr/>
          <p:nvPr/>
        </p:nvSpPr>
        <p:spPr>
          <a:xfrm>
            <a:off x="822960" y="49011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Kugenda n'amaguru buri munsi</a:t>
            </a:r>
            <a:endParaRPr sz="1628">
              <a:solidFill>
                <a:schemeClr val="dk1"/>
              </a:solidFill>
              <a:latin typeface="Calibri"/>
              <a:ea typeface="Calibri"/>
              <a:cs typeface="Calibri"/>
              <a:sym typeface="Calibri"/>
            </a:endParaRPr>
          </a:p>
        </p:txBody>
      </p:sp>
      <p:sp>
        <p:nvSpPr>
          <p:cNvPr id="197" name="Google Shape;197;p9"/>
          <p:cNvSpPr/>
          <p:nvPr/>
        </p:nvSpPr>
        <p:spPr>
          <a:xfrm>
            <a:off x="6172200" y="49011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D. </a:t>
            </a:r>
            <a:r>
              <a:rPr lang="rw-RW" sz="1750">
                <a:solidFill>
                  <a:srgbClr val="16334F"/>
                </a:solidFill>
                <a:latin typeface="Calibri"/>
                <a:ea typeface="Calibri"/>
                <a:cs typeface="Calibri"/>
                <a:sym typeface="Calibri"/>
              </a:rPr>
              <a:t>Kurya imbuto</a:t>
            </a:r>
            <a:endParaRPr sz="1628">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2"/>
        <p:cNvGrpSpPr/>
        <p:nvPr/>
      </p:nvGrpSpPr>
      <p:grpSpPr>
        <a:xfrm>
          <a:off x="0" y="0"/>
          <a:ext cx="0" cy="0"/>
          <a:chOff x="0" y="0"/>
          <a:chExt cx="0" cy="0"/>
        </a:xfrm>
      </p:grpSpPr>
      <p:sp>
        <p:nvSpPr>
          <p:cNvPr id="203" name="Google Shape;203;p10"/>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ISUZUMABUMENYI RYIBANZE</a:t>
            </a:r>
            <a:endParaRPr lang="rw-RW" sz="1100" dirty="0">
              <a:solidFill>
                <a:schemeClr val="dk1"/>
              </a:solidFill>
              <a:latin typeface="Calibri"/>
              <a:ea typeface="Calibri"/>
              <a:cs typeface="Calibri"/>
              <a:sym typeface="Calibri"/>
            </a:endParaRPr>
          </a:p>
        </p:txBody>
      </p:sp>
      <p:sp>
        <p:nvSpPr>
          <p:cNvPr id="204" name="Google Shape;204;p10"/>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Ikibazo cy'ibibazo (5/10)</a:t>
            </a:r>
            <a:endParaRPr sz="3200">
              <a:solidFill>
                <a:schemeClr val="dk1"/>
              </a:solidFill>
              <a:latin typeface="Calibri"/>
              <a:ea typeface="Calibri"/>
              <a:cs typeface="Calibri"/>
              <a:sym typeface="Calibri"/>
            </a:endParaRPr>
          </a:p>
        </p:txBody>
      </p:sp>
      <p:sp>
        <p:nvSpPr>
          <p:cNvPr id="205" name="Google Shape;205;p10"/>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206" name="Google Shape;206;p10"/>
          <p:cNvSpPr/>
          <p:nvPr/>
        </p:nvSpPr>
        <p:spPr>
          <a:xfrm>
            <a:off x="548640" y="187452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7" name="Google Shape;207;p10"/>
          <p:cNvSpPr/>
          <p:nvPr/>
        </p:nvSpPr>
        <p:spPr>
          <a:xfrm>
            <a:off x="804672" y="20208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dirty="0">
                <a:solidFill>
                  <a:srgbClr val="0F3D63"/>
                </a:solidFill>
                <a:latin typeface="Calibri"/>
                <a:ea typeface="Calibri"/>
                <a:cs typeface="Calibri"/>
                <a:sym typeface="Calibri"/>
              </a:rPr>
              <a:t>Q9. Gutakaza ibiro utagerageje ni:</a:t>
            </a:r>
            <a:endParaRPr sz="1900" dirty="0">
              <a:solidFill>
                <a:schemeClr val="dk1"/>
              </a:solidFill>
              <a:latin typeface="Calibri"/>
              <a:ea typeface="Calibri"/>
              <a:cs typeface="Calibri"/>
              <a:sym typeface="Calibri"/>
            </a:endParaRPr>
          </a:p>
        </p:txBody>
      </p:sp>
      <p:sp>
        <p:nvSpPr>
          <p:cNvPr id="208" name="Google Shape;208;p10"/>
          <p:cNvSpPr/>
          <p:nvPr/>
        </p:nvSpPr>
        <p:spPr>
          <a:xfrm>
            <a:off x="822960" y="24597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A. I</a:t>
            </a:r>
            <a:r>
              <a:rPr lang="rw-RW" sz="1750">
                <a:solidFill>
                  <a:srgbClr val="16334F"/>
                </a:solidFill>
                <a:latin typeface="Calibri"/>
                <a:ea typeface="Calibri"/>
                <a:cs typeface="Calibri"/>
                <a:sym typeface="Calibri"/>
              </a:rPr>
              <a:t>bisanzwe kenshi</a:t>
            </a:r>
            <a:endParaRPr sz="1628">
              <a:solidFill>
                <a:schemeClr val="dk1"/>
              </a:solidFill>
              <a:latin typeface="Calibri"/>
              <a:ea typeface="Calibri"/>
              <a:cs typeface="Calibri"/>
              <a:sym typeface="Calibri"/>
            </a:endParaRPr>
          </a:p>
        </p:txBody>
      </p:sp>
      <p:sp>
        <p:nvSpPr>
          <p:cNvPr id="209" name="Google Shape;209;p10"/>
          <p:cNvSpPr/>
          <p:nvPr/>
        </p:nvSpPr>
        <p:spPr>
          <a:xfrm>
            <a:off x="6172200" y="24597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B. </a:t>
            </a:r>
            <a:r>
              <a:rPr lang="rw-RW" sz="1750">
                <a:solidFill>
                  <a:srgbClr val="16334F"/>
                </a:solidFill>
                <a:latin typeface="Calibri"/>
                <a:ea typeface="Calibri"/>
                <a:cs typeface="Calibri"/>
                <a:sym typeface="Calibri"/>
              </a:rPr>
              <a:t>Ikimenyetso gikeneye gusuzumwa kwa muganga</a:t>
            </a:r>
            <a:endParaRPr sz="1628">
              <a:solidFill>
                <a:schemeClr val="dk1"/>
              </a:solidFill>
              <a:latin typeface="Calibri"/>
              <a:ea typeface="Calibri"/>
              <a:cs typeface="Calibri"/>
              <a:sym typeface="Calibri"/>
            </a:endParaRPr>
          </a:p>
        </p:txBody>
      </p:sp>
      <p:sp>
        <p:nvSpPr>
          <p:cNvPr id="210" name="Google Shape;210;p10"/>
          <p:cNvSpPr/>
          <p:nvPr/>
        </p:nvSpPr>
        <p:spPr>
          <a:xfrm>
            <a:off x="822960" y="29352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Ikimenyetso cy'ubuzima bwiza</a:t>
            </a:r>
            <a:endParaRPr sz="1628">
              <a:solidFill>
                <a:schemeClr val="dk1"/>
              </a:solidFill>
              <a:latin typeface="Calibri"/>
              <a:ea typeface="Calibri"/>
              <a:cs typeface="Calibri"/>
              <a:sym typeface="Calibri"/>
            </a:endParaRPr>
          </a:p>
        </p:txBody>
      </p:sp>
      <p:sp>
        <p:nvSpPr>
          <p:cNvPr id="211" name="Google Shape;211;p10"/>
          <p:cNvSpPr/>
          <p:nvPr/>
        </p:nvSpPr>
        <p:spPr>
          <a:xfrm>
            <a:off x="6172200" y="29352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D. </a:t>
            </a:r>
            <a:r>
              <a:rPr lang="rw-RW" sz="1750">
                <a:solidFill>
                  <a:srgbClr val="16334F"/>
                </a:solidFill>
                <a:latin typeface="Calibri"/>
                <a:ea typeface="Calibri"/>
                <a:cs typeface="Calibri"/>
                <a:sym typeface="Calibri"/>
              </a:rPr>
              <a:t>ibiterwa gusa n'akazi gakomeye</a:t>
            </a:r>
            <a:endParaRPr sz="1628">
              <a:solidFill>
                <a:schemeClr val="dk1"/>
              </a:solidFill>
              <a:latin typeface="Calibri"/>
              <a:ea typeface="Calibri"/>
              <a:cs typeface="Calibri"/>
              <a:sym typeface="Calibri"/>
            </a:endParaRPr>
          </a:p>
        </p:txBody>
      </p:sp>
      <p:sp>
        <p:nvSpPr>
          <p:cNvPr id="212" name="Google Shape;212;p10"/>
          <p:cNvSpPr/>
          <p:nvPr/>
        </p:nvSpPr>
        <p:spPr>
          <a:xfrm>
            <a:off x="548640" y="384048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3" name="Google Shape;213;p10"/>
          <p:cNvSpPr/>
          <p:nvPr/>
        </p:nvSpPr>
        <p:spPr>
          <a:xfrm>
            <a:off x="804672" y="39867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dirty="0">
                <a:solidFill>
                  <a:srgbClr val="0F3D63"/>
                </a:solidFill>
                <a:latin typeface="Calibri"/>
                <a:ea typeface="Calibri"/>
                <a:cs typeface="Calibri"/>
                <a:sym typeface="Calibri"/>
              </a:rPr>
              <a:t>Q10. Umujyanama w’ubuzima agomba :</a:t>
            </a:r>
            <a:endParaRPr sz="1900" dirty="0">
              <a:solidFill>
                <a:schemeClr val="dk1"/>
              </a:solidFill>
              <a:latin typeface="Calibri"/>
              <a:ea typeface="Calibri"/>
              <a:cs typeface="Calibri"/>
              <a:sym typeface="Calibri"/>
            </a:endParaRPr>
          </a:p>
        </p:txBody>
      </p:sp>
      <p:sp>
        <p:nvSpPr>
          <p:cNvPr id="214" name="Google Shape;214;p10"/>
          <p:cNvSpPr/>
          <p:nvPr/>
        </p:nvSpPr>
        <p:spPr>
          <a:xfrm>
            <a:off x="822960" y="44256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A. </a:t>
            </a:r>
            <a:r>
              <a:rPr lang="rw-RW" sz="1750">
                <a:solidFill>
                  <a:srgbClr val="16334F"/>
                </a:solidFill>
                <a:latin typeface="Calibri"/>
                <a:ea typeface="Calibri"/>
                <a:cs typeface="Calibri"/>
                <a:sym typeface="Calibri"/>
              </a:rPr>
              <a:t>Kubwira umuntu niba arwaye kanseri</a:t>
            </a:r>
            <a:endParaRPr sz="1628">
              <a:solidFill>
                <a:schemeClr val="dk1"/>
              </a:solidFill>
              <a:latin typeface="Calibri"/>
              <a:ea typeface="Calibri"/>
              <a:cs typeface="Calibri"/>
              <a:sym typeface="Calibri"/>
            </a:endParaRPr>
          </a:p>
        </p:txBody>
      </p:sp>
      <p:sp>
        <p:nvSpPr>
          <p:cNvPr id="215" name="Google Shape;215;p10"/>
          <p:cNvSpPr/>
          <p:nvPr/>
        </p:nvSpPr>
        <p:spPr>
          <a:xfrm>
            <a:off x="6172200" y="4425696"/>
            <a:ext cx="5166360" cy="438912"/>
          </a:xfrm>
          <a:prstGeom prst="rect">
            <a:avLst/>
          </a:prstGeom>
          <a:noFill/>
          <a:ln>
            <a:noFill/>
          </a:ln>
        </p:spPr>
        <p:txBody>
          <a:bodyPr spcFirstLastPara="1" wrap="square" lIns="0" tIns="0" rIns="0" bIns="0" anchor="ctr" anchorCtr="0">
            <a:normAutofit lnSpcReduction="10000"/>
          </a:bodyPr>
          <a:lstStyle/>
          <a:p>
            <a:pPr marL="0" marR="0" lvl="0" indent="0" algn="l" rtl="0">
              <a:lnSpc>
                <a:spcPct val="90000"/>
              </a:lnSpc>
              <a:spcBef>
                <a:spcPts val="0"/>
              </a:spcBef>
              <a:spcAft>
                <a:spcPts val="0"/>
              </a:spcAft>
              <a:buClr>
                <a:srgbClr val="16334F"/>
              </a:buClr>
              <a:buSzPts val="1496"/>
              <a:buFont typeface="Calibri"/>
              <a:buNone/>
            </a:pPr>
            <a:r>
              <a:rPr lang="rw-RW" sz="1750" b="1">
                <a:solidFill>
                  <a:srgbClr val="16334F"/>
                </a:solidFill>
                <a:latin typeface="Calibri"/>
                <a:ea typeface="Calibri"/>
                <a:cs typeface="Calibri"/>
                <a:sym typeface="Calibri"/>
              </a:rPr>
              <a:t>B. </a:t>
            </a:r>
            <a:r>
              <a:rPr lang="rw-RW" sz="1750">
                <a:solidFill>
                  <a:srgbClr val="16334F"/>
                </a:solidFill>
                <a:latin typeface="Calibri"/>
                <a:ea typeface="Calibri"/>
                <a:cs typeface="Calibri"/>
                <a:sym typeface="Calibri"/>
              </a:rPr>
              <a:t>Gushishikariza abantu bafite ibimenyetso biteye impungenge kwisuzumisha</a:t>
            </a:r>
            <a:endParaRPr sz="1496">
              <a:solidFill>
                <a:schemeClr val="dk1"/>
              </a:solidFill>
              <a:latin typeface="Calibri"/>
              <a:ea typeface="Calibri"/>
              <a:cs typeface="Calibri"/>
              <a:sym typeface="Calibri"/>
            </a:endParaRPr>
          </a:p>
        </p:txBody>
      </p:sp>
      <p:sp>
        <p:nvSpPr>
          <p:cNvPr id="216" name="Google Shape;216;p10"/>
          <p:cNvSpPr/>
          <p:nvPr/>
        </p:nvSpPr>
        <p:spPr>
          <a:xfrm>
            <a:off x="822960" y="49011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Kuvura kanseri</a:t>
            </a:r>
            <a:endParaRPr sz="1628">
              <a:solidFill>
                <a:schemeClr val="dk1"/>
              </a:solidFill>
              <a:latin typeface="Calibri"/>
              <a:ea typeface="Calibri"/>
              <a:cs typeface="Calibri"/>
              <a:sym typeface="Calibri"/>
            </a:endParaRPr>
          </a:p>
        </p:txBody>
      </p:sp>
      <p:sp>
        <p:nvSpPr>
          <p:cNvPr id="217" name="Google Shape;217;p10"/>
          <p:cNvSpPr/>
          <p:nvPr/>
        </p:nvSpPr>
        <p:spPr>
          <a:xfrm>
            <a:off x="6172200" y="49011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D. </a:t>
            </a:r>
            <a:r>
              <a:rPr lang="rw-RW" sz="1750">
                <a:solidFill>
                  <a:srgbClr val="16334F"/>
                </a:solidFill>
                <a:latin typeface="Calibri"/>
                <a:ea typeface="Calibri"/>
                <a:cs typeface="Calibri"/>
                <a:sym typeface="Calibri"/>
              </a:rPr>
              <a:t>Gusuzuma abaturage</a:t>
            </a:r>
            <a:endParaRPr sz="1628">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2"/>
        <p:cNvGrpSpPr/>
        <p:nvPr/>
      </p:nvGrpSpPr>
      <p:grpSpPr>
        <a:xfrm>
          <a:off x="0" y="0"/>
          <a:ext cx="0" cy="0"/>
          <a:chOff x="0" y="0"/>
          <a:chExt cx="0" cy="0"/>
        </a:xfrm>
      </p:grpSpPr>
      <p:sp>
        <p:nvSpPr>
          <p:cNvPr id="223" name="Google Shape;223;p11"/>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ISUZUMABUMENYI RYIBANZE</a:t>
            </a:r>
            <a:endParaRPr lang="rw-RW" sz="1100" dirty="0">
              <a:solidFill>
                <a:schemeClr val="dk1"/>
              </a:solidFill>
              <a:latin typeface="Calibri"/>
              <a:ea typeface="Calibri"/>
              <a:cs typeface="Calibri"/>
              <a:sym typeface="Calibri"/>
            </a:endParaRPr>
          </a:p>
        </p:txBody>
      </p:sp>
      <p:sp>
        <p:nvSpPr>
          <p:cNvPr id="224" name="Google Shape;224;p11"/>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Ikibazo (6/10)</a:t>
            </a:r>
            <a:endParaRPr sz="3200">
              <a:solidFill>
                <a:schemeClr val="dk1"/>
              </a:solidFill>
              <a:latin typeface="Calibri"/>
              <a:ea typeface="Calibri"/>
              <a:cs typeface="Calibri"/>
              <a:sym typeface="Calibri"/>
            </a:endParaRPr>
          </a:p>
        </p:txBody>
      </p:sp>
      <p:sp>
        <p:nvSpPr>
          <p:cNvPr id="225" name="Google Shape;225;p11"/>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226" name="Google Shape;226;p11"/>
          <p:cNvSpPr/>
          <p:nvPr/>
        </p:nvSpPr>
        <p:spPr>
          <a:xfrm>
            <a:off x="548640" y="187452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7" name="Google Shape;227;p11"/>
          <p:cNvSpPr/>
          <p:nvPr/>
        </p:nvSpPr>
        <p:spPr>
          <a:xfrm>
            <a:off x="804672" y="20208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a:solidFill>
                  <a:srgbClr val="0F3D63"/>
                </a:solidFill>
                <a:latin typeface="Calibri"/>
                <a:ea typeface="Calibri"/>
                <a:cs typeface="Calibri"/>
                <a:sym typeface="Calibri"/>
              </a:rPr>
              <a:t>Q11. Bamwe bavuga ko ikizamini gisuzuma kanseri (biopsy) gituma kanseri ikwirakwira. Igisubizo nyacyo ni:</a:t>
            </a:r>
            <a:endParaRPr sz="1900">
              <a:solidFill>
                <a:schemeClr val="dk1"/>
              </a:solidFill>
              <a:latin typeface="Calibri"/>
              <a:ea typeface="Calibri"/>
              <a:cs typeface="Calibri"/>
              <a:sym typeface="Calibri"/>
            </a:endParaRPr>
          </a:p>
        </p:txBody>
      </p:sp>
      <p:sp>
        <p:nvSpPr>
          <p:cNvPr id="228" name="Google Shape;228;p11"/>
          <p:cNvSpPr/>
          <p:nvPr/>
        </p:nvSpPr>
        <p:spPr>
          <a:xfrm>
            <a:off x="822960" y="24597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36"/>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Ni ukuri</a:t>
            </a:r>
            <a:endParaRPr sz="1800" dirty="0">
              <a:solidFill>
                <a:schemeClr val="dk1"/>
              </a:solidFill>
              <a:latin typeface="Calibri"/>
              <a:ea typeface="Calibri"/>
              <a:cs typeface="Calibri"/>
              <a:sym typeface="Calibri"/>
            </a:endParaRPr>
          </a:p>
        </p:txBody>
      </p:sp>
      <p:sp>
        <p:nvSpPr>
          <p:cNvPr id="229" name="Google Shape;229;p11"/>
          <p:cNvSpPr/>
          <p:nvPr/>
        </p:nvSpPr>
        <p:spPr>
          <a:xfrm>
            <a:off x="822960" y="3108647"/>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36"/>
              <a:buFont typeface="Calibri"/>
              <a:buNone/>
            </a:pPr>
            <a:r>
              <a:rPr lang="rw-RW" sz="1800" b="1">
                <a:solidFill>
                  <a:srgbClr val="16334F"/>
                </a:solidFill>
                <a:latin typeface="Calibri"/>
                <a:ea typeface="Calibri"/>
                <a:cs typeface="Calibri"/>
                <a:sym typeface="Calibri"/>
              </a:rPr>
              <a:t>C. </a:t>
            </a:r>
            <a:r>
              <a:rPr lang="rw-RW" sz="1800">
                <a:solidFill>
                  <a:srgbClr val="16334F"/>
                </a:solidFill>
                <a:latin typeface="Calibri"/>
                <a:ea typeface="Calibri"/>
                <a:cs typeface="Calibri"/>
                <a:sym typeface="Calibri"/>
              </a:rPr>
              <a:t>Ndifashe</a:t>
            </a:r>
            <a:endParaRPr sz="1800">
              <a:solidFill>
                <a:schemeClr val="dk1"/>
              </a:solidFill>
              <a:latin typeface="Calibri"/>
              <a:ea typeface="Calibri"/>
              <a:cs typeface="Calibri"/>
              <a:sym typeface="Calibri"/>
            </a:endParaRPr>
          </a:p>
        </p:txBody>
      </p:sp>
      <p:sp>
        <p:nvSpPr>
          <p:cNvPr id="230" name="Google Shape;230;p11"/>
          <p:cNvSpPr/>
          <p:nvPr/>
        </p:nvSpPr>
        <p:spPr>
          <a:xfrm>
            <a:off x="6172200" y="3108647"/>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36"/>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Kugira abantu inama yo kudakoresha icyo ikizamini</a:t>
            </a:r>
            <a:endParaRPr sz="1800" dirty="0">
              <a:solidFill>
                <a:schemeClr val="dk1"/>
              </a:solidFill>
              <a:latin typeface="Calibri"/>
              <a:ea typeface="Calibri"/>
              <a:cs typeface="Calibri"/>
              <a:sym typeface="Calibri"/>
            </a:endParaRPr>
          </a:p>
        </p:txBody>
      </p:sp>
      <p:sp>
        <p:nvSpPr>
          <p:cNvPr id="231" name="Google Shape;231;p11"/>
          <p:cNvSpPr/>
          <p:nvPr/>
        </p:nvSpPr>
        <p:spPr>
          <a:xfrm>
            <a:off x="548640" y="384048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2" name="Google Shape;232;p11"/>
          <p:cNvSpPr/>
          <p:nvPr/>
        </p:nvSpPr>
        <p:spPr>
          <a:xfrm>
            <a:off x="804672" y="39867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dirty="0">
                <a:solidFill>
                  <a:srgbClr val="0F3D63"/>
                </a:solidFill>
                <a:latin typeface="Calibri"/>
                <a:ea typeface="Calibri"/>
                <a:cs typeface="Calibri"/>
                <a:sym typeface="Calibri"/>
              </a:rPr>
              <a:t>Q12. Ikizamini cya Kamera (Endoscopy) ni:</a:t>
            </a:r>
            <a:endParaRPr sz="1900" dirty="0">
              <a:solidFill>
                <a:schemeClr val="dk1"/>
              </a:solidFill>
              <a:latin typeface="Calibri"/>
              <a:ea typeface="Calibri"/>
              <a:cs typeface="Calibri"/>
              <a:sym typeface="Calibri"/>
            </a:endParaRPr>
          </a:p>
        </p:txBody>
      </p:sp>
      <p:sp>
        <p:nvSpPr>
          <p:cNvPr id="233" name="Google Shape;233;p11"/>
          <p:cNvSpPr/>
          <p:nvPr/>
        </p:nvSpPr>
        <p:spPr>
          <a:xfrm>
            <a:off x="822960" y="44256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36"/>
              <a:buFont typeface="Calibri"/>
              <a:buNone/>
            </a:pPr>
            <a:r>
              <a:rPr lang="rw-RW" sz="1750" b="1">
                <a:solidFill>
                  <a:srgbClr val="16334F"/>
                </a:solidFill>
                <a:latin typeface="Calibri"/>
                <a:ea typeface="Calibri"/>
                <a:cs typeface="Calibri"/>
                <a:sym typeface="Calibri"/>
              </a:rPr>
              <a:t>A. </a:t>
            </a:r>
            <a:r>
              <a:rPr lang="rw-RW" sz="1750">
                <a:solidFill>
                  <a:srgbClr val="16334F"/>
                </a:solidFill>
                <a:latin typeface="Calibri"/>
                <a:ea typeface="Calibri"/>
                <a:cs typeface="Calibri"/>
                <a:sym typeface="Calibri"/>
              </a:rPr>
              <a:t>Igikorwa gikomeye cyane</a:t>
            </a:r>
            <a:endParaRPr sz="1636">
              <a:solidFill>
                <a:schemeClr val="dk1"/>
              </a:solidFill>
              <a:latin typeface="Calibri"/>
              <a:ea typeface="Calibri"/>
              <a:cs typeface="Calibri"/>
              <a:sym typeface="Calibri"/>
            </a:endParaRPr>
          </a:p>
        </p:txBody>
      </p:sp>
      <p:sp>
        <p:nvSpPr>
          <p:cNvPr id="234" name="Google Shape;234;p11"/>
          <p:cNvSpPr/>
          <p:nvPr/>
        </p:nvSpPr>
        <p:spPr>
          <a:xfrm>
            <a:off x="6172200" y="4425696"/>
            <a:ext cx="5166360" cy="438912"/>
          </a:xfrm>
          <a:prstGeom prst="rect">
            <a:avLst/>
          </a:prstGeom>
          <a:noFill/>
          <a:ln>
            <a:noFill/>
          </a:ln>
        </p:spPr>
        <p:txBody>
          <a:bodyPr spcFirstLastPara="1" wrap="square" lIns="0" tIns="0" rIns="0" bIns="0" anchor="ctr" anchorCtr="0">
            <a:normAutofit lnSpcReduction="10000"/>
          </a:bodyPr>
          <a:lstStyle/>
          <a:p>
            <a:pPr marL="0" marR="0" lvl="0" indent="0" algn="l" rtl="0">
              <a:lnSpc>
                <a:spcPct val="90000"/>
              </a:lnSpc>
              <a:spcBef>
                <a:spcPts val="0"/>
              </a:spcBef>
              <a:spcAft>
                <a:spcPts val="0"/>
              </a:spcAft>
              <a:buClr>
                <a:srgbClr val="16334F"/>
              </a:buClr>
              <a:buSzPts val="1505"/>
              <a:buFont typeface="Calibri"/>
              <a:buNone/>
            </a:pPr>
            <a:r>
              <a:rPr lang="rw-RW" sz="1750" b="1" dirty="0">
                <a:solidFill>
                  <a:srgbClr val="16334F"/>
                </a:solidFill>
                <a:latin typeface="Calibri"/>
                <a:ea typeface="Calibri"/>
                <a:cs typeface="Calibri"/>
                <a:sym typeface="Calibri"/>
              </a:rPr>
              <a:t>B. </a:t>
            </a:r>
            <a:r>
              <a:rPr lang="rw-RW" sz="1750" dirty="0">
                <a:solidFill>
                  <a:srgbClr val="16334F"/>
                </a:solidFill>
                <a:latin typeface="Calibri"/>
                <a:ea typeface="Calibri"/>
                <a:cs typeface="Calibri"/>
                <a:sym typeface="Calibri"/>
              </a:rPr>
              <a:t>Uburyo bwo gukoresha kamera ntoya kugira ngo barebe imbere mu gifu</a:t>
            </a:r>
            <a:endParaRPr sz="1505" dirty="0">
              <a:solidFill>
                <a:schemeClr val="dk1"/>
              </a:solidFill>
              <a:latin typeface="Calibri"/>
              <a:ea typeface="Calibri"/>
              <a:cs typeface="Calibri"/>
              <a:sym typeface="Calibri"/>
            </a:endParaRPr>
          </a:p>
        </p:txBody>
      </p:sp>
      <p:sp>
        <p:nvSpPr>
          <p:cNvPr id="235" name="Google Shape;235;p11"/>
          <p:cNvSpPr/>
          <p:nvPr/>
        </p:nvSpPr>
        <p:spPr>
          <a:xfrm>
            <a:off x="822960" y="49011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36"/>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Ibipimo by'amaraso</a:t>
            </a:r>
            <a:endParaRPr sz="1636">
              <a:solidFill>
                <a:schemeClr val="dk1"/>
              </a:solidFill>
              <a:latin typeface="Calibri"/>
              <a:ea typeface="Calibri"/>
              <a:cs typeface="Calibri"/>
              <a:sym typeface="Calibri"/>
            </a:endParaRPr>
          </a:p>
        </p:txBody>
      </p:sp>
      <p:sp>
        <p:nvSpPr>
          <p:cNvPr id="236" name="Google Shape;236;p11"/>
          <p:cNvSpPr/>
          <p:nvPr/>
        </p:nvSpPr>
        <p:spPr>
          <a:xfrm>
            <a:off x="6172200" y="49011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36"/>
              <a:buFont typeface="Calibri"/>
              <a:buNone/>
            </a:pPr>
            <a:r>
              <a:rPr lang="rw-RW" sz="1750" b="1">
                <a:solidFill>
                  <a:srgbClr val="16334F"/>
                </a:solidFill>
                <a:latin typeface="Calibri"/>
                <a:ea typeface="Calibri"/>
                <a:cs typeface="Calibri"/>
                <a:sym typeface="Calibri"/>
              </a:rPr>
              <a:t>D. </a:t>
            </a:r>
            <a:r>
              <a:rPr lang="rw-RW" sz="1750">
                <a:solidFill>
                  <a:srgbClr val="16334F"/>
                </a:solidFill>
                <a:latin typeface="Calibri"/>
                <a:ea typeface="Calibri"/>
                <a:cs typeface="Calibri"/>
                <a:sym typeface="Calibri"/>
              </a:rPr>
              <a:t>Ubwoko bw'imiti</a:t>
            </a:r>
            <a:endParaRPr sz="1636">
              <a:solidFill>
                <a:schemeClr val="dk1"/>
              </a:solidFill>
              <a:latin typeface="Calibri"/>
              <a:ea typeface="Calibri"/>
              <a:cs typeface="Calibri"/>
              <a:sym typeface="Calibri"/>
            </a:endParaRPr>
          </a:p>
        </p:txBody>
      </p:sp>
      <p:sp>
        <p:nvSpPr>
          <p:cNvPr id="237" name="Google Shape;237;p11"/>
          <p:cNvSpPr/>
          <p:nvPr/>
        </p:nvSpPr>
        <p:spPr>
          <a:xfrm>
            <a:off x="6172200" y="2322420"/>
            <a:ext cx="5166360" cy="82296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16334F"/>
              </a:buClr>
              <a:buSzPts val="1505"/>
              <a:buFont typeface="Calibri"/>
              <a:buNone/>
            </a:pPr>
            <a:r>
              <a:rPr lang="rw-RW" sz="1800" b="1" dirty="0">
                <a:solidFill>
                  <a:srgbClr val="16334F"/>
                </a:solidFill>
                <a:latin typeface="Calibri"/>
                <a:ea typeface="Calibri"/>
                <a:cs typeface="Calibri"/>
                <a:sym typeface="Calibri"/>
              </a:rPr>
              <a:t>B. </a:t>
            </a:r>
            <a:r>
              <a:rPr lang="rw-RW" sz="1800" dirty="0">
                <a:solidFill>
                  <a:srgbClr val="16334F"/>
                </a:solidFill>
                <a:latin typeface="Calibri"/>
                <a:ea typeface="Calibri"/>
                <a:cs typeface="Calibri"/>
                <a:sym typeface="Calibri"/>
              </a:rPr>
              <a:t>Oya. Biopsy ni uburyo bwo kwa muganga bwo gufata agace gato k'umubiri kugira ngo gasuzumwe muri laboratwari hifashishijwe mikorosikopi kugira ngo hamenyekane ikitagenda neza</a:t>
            </a:r>
            <a:endParaRPr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2"/>
        <p:cNvGrpSpPr/>
        <p:nvPr/>
      </p:nvGrpSpPr>
      <p:grpSpPr>
        <a:xfrm>
          <a:off x="0" y="0"/>
          <a:ext cx="0" cy="0"/>
          <a:chOff x="0" y="0"/>
          <a:chExt cx="0" cy="0"/>
        </a:xfrm>
      </p:grpSpPr>
      <p:sp>
        <p:nvSpPr>
          <p:cNvPr id="243" name="Google Shape;243;p12"/>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ISUZUMABUMENYI RYIBANZE</a:t>
            </a:r>
            <a:endParaRPr lang="rw-RW" sz="1100" dirty="0">
              <a:solidFill>
                <a:schemeClr val="dk1"/>
              </a:solidFill>
              <a:latin typeface="Calibri"/>
              <a:ea typeface="Calibri"/>
              <a:cs typeface="Calibri"/>
              <a:sym typeface="Calibri"/>
            </a:endParaRPr>
          </a:p>
        </p:txBody>
      </p:sp>
      <p:sp>
        <p:nvSpPr>
          <p:cNvPr id="244" name="Google Shape;244;p12"/>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Ikibazo (7/10)</a:t>
            </a:r>
            <a:endParaRPr sz="3200">
              <a:solidFill>
                <a:schemeClr val="dk1"/>
              </a:solidFill>
              <a:latin typeface="Calibri"/>
              <a:ea typeface="Calibri"/>
              <a:cs typeface="Calibri"/>
              <a:sym typeface="Calibri"/>
            </a:endParaRPr>
          </a:p>
        </p:txBody>
      </p:sp>
      <p:sp>
        <p:nvSpPr>
          <p:cNvPr id="245" name="Google Shape;245;p12"/>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246" name="Google Shape;246;p12"/>
          <p:cNvSpPr/>
          <p:nvPr/>
        </p:nvSpPr>
        <p:spPr>
          <a:xfrm>
            <a:off x="548640" y="187452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7" name="Google Shape;247;p12"/>
          <p:cNvSpPr/>
          <p:nvPr/>
        </p:nvSpPr>
        <p:spPr>
          <a:xfrm>
            <a:off x="804672" y="20208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a:solidFill>
                  <a:srgbClr val="0F3D63"/>
                </a:solidFill>
                <a:latin typeface="Calibri"/>
                <a:ea typeface="Calibri"/>
                <a:cs typeface="Calibri"/>
                <a:sym typeface="Calibri"/>
              </a:rPr>
              <a:t>Q13. Kanseri y’igifu yemezwa no:</a:t>
            </a:r>
            <a:endParaRPr sz="1900">
              <a:solidFill>
                <a:schemeClr val="dk1"/>
              </a:solidFill>
              <a:latin typeface="Calibri"/>
              <a:ea typeface="Calibri"/>
              <a:cs typeface="Calibri"/>
              <a:sym typeface="Calibri"/>
            </a:endParaRPr>
          </a:p>
        </p:txBody>
      </p:sp>
      <p:sp>
        <p:nvSpPr>
          <p:cNvPr id="248" name="Google Shape;248;p12"/>
          <p:cNvSpPr/>
          <p:nvPr/>
        </p:nvSpPr>
        <p:spPr>
          <a:xfrm>
            <a:off x="822960" y="24597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53"/>
              <a:buFont typeface="Calibri"/>
              <a:buNone/>
            </a:pPr>
            <a:r>
              <a:rPr lang="rw-RW" sz="1750" b="1">
                <a:solidFill>
                  <a:srgbClr val="16334F"/>
                </a:solidFill>
                <a:latin typeface="Calibri"/>
                <a:ea typeface="Calibri"/>
                <a:cs typeface="Calibri"/>
                <a:sym typeface="Calibri"/>
              </a:rPr>
              <a:t>A. </a:t>
            </a:r>
            <a:r>
              <a:rPr lang="rw-RW" sz="1750">
                <a:solidFill>
                  <a:srgbClr val="16334F"/>
                </a:solidFill>
                <a:latin typeface="Calibri"/>
                <a:ea typeface="Calibri"/>
                <a:cs typeface="Calibri"/>
                <a:sym typeface="Calibri"/>
              </a:rPr>
              <a:t>Kureba umuntu</a:t>
            </a:r>
            <a:endParaRPr sz="1654">
              <a:solidFill>
                <a:schemeClr val="dk1"/>
              </a:solidFill>
              <a:latin typeface="Calibri"/>
              <a:ea typeface="Calibri"/>
              <a:cs typeface="Calibri"/>
              <a:sym typeface="Calibri"/>
            </a:endParaRPr>
          </a:p>
        </p:txBody>
      </p:sp>
      <p:sp>
        <p:nvSpPr>
          <p:cNvPr id="249" name="Google Shape;249;p12"/>
          <p:cNvSpPr/>
          <p:nvPr/>
        </p:nvSpPr>
        <p:spPr>
          <a:xfrm>
            <a:off x="6172200" y="24597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53"/>
              <a:buFont typeface="Calibri"/>
              <a:buNone/>
            </a:pPr>
            <a:r>
              <a:rPr lang="rw-RW" sz="1750" b="1">
                <a:solidFill>
                  <a:srgbClr val="16334F"/>
                </a:solidFill>
                <a:latin typeface="Calibri"/>
                <a:ea typeface="Calibri"/>
                <a:cs typeface="Calibri"/>
                <a:sym typeface="Calibri"/>
              </a:rPr>
              <a:t>B. </a:t>
            </a:r>
            <a:r>
              <a:rPr lang="rw-RW" sz="1750">
                <a:solidFill>
                  <a:srgbClr val="16334F"/>
                </a:solidFill>
                <a:latin typeface="Calibri"/>
                <a:ea typeface="Calibri"/>
                <a:cs typeface="Calibri"/>
                <a:sym typeface="Calibri"/>
              </a:rPr>
              <a:t>Gupima agace k'igifu</a:t>
            </a:r>
            <a:endParaRPr sz="1654">
              <a:solidFill>
                <a:schemeClr val="dk1"/>
              </a:solidFill>
              <a:latin typeface="Calibri"/>
              <a:ea typeface="Calibri"/>
              <a:cs typeface="Calibri"/>
              <a:sym typeface="Calibri"/>
            </a:endParaRPr>
          </a:p>
        </p:txBody>
      </p:sp>
      <p:sp>
        <p:nvSpPr>
          <p:cNvPr id="250" name="Google Shape;250;p12"/>
          <p:cNvSpPr/>
          <p:nvPr/>
        </p:nvSpPr>
        <p:spPr>
          <a:xfrm>
            <a:off x="822960" y="29352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53"/>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Kubaza ibibazo gusa</a:t>
            </a:r>
            <a:endParaRPr sz="1654">
              <a:solidFill>
                <a:schemeClr val="dk1"/>
              </a:solidFill>
              <a:latin typeface="Calibri"/>
              <a:ea typeface="Calibri"/>
              <a:cs typeface="Calibri"/>
              <a:sym typeface="Calibri"/>
            </a:endParaRPr>
          </a:p>
        </p:txBody>
      </p:sp>
      <p:sp>
        <p:nvSpPr>
          <p:cNvPr id="251" name="Google Shape;251;p12"/>
          <p:cNvSpPr/>
          <p:nvPr/>
        </p:nvSpPr>
        <p:spPr>
          <a:xfrm>
            <a:off x="6172200" y="29352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53"/>
              <a:buFont typeface="Calibri"/>
              <a:buNone/>
            </a:pPr>
            <a:r>
              <a:rPr lang="rw-RW" sz="1750" b="1">
                <a:solidFill>
                  <a:srgbClr val="16334F"/>
                </a:solidFill>
                <a:latin typeface="Calibri"/>
                <a:ea typeface="Calibri"/>
                <a:cs typeface="Calibri"/>
                <a:sym typeface="Calibri"/>
              </a:rPr>
              <a:t>D. </a:t>
            </a:r>
            <a:r>
              <a:rPr lang="rw-RW" sz="1750">
                <a:solidFill>
                  <a:srgbClr val="16334F"/>
                </a:solidFill>
                <a:latin typeface="Calibri"/>
                <a:ea typeface="Calibri"/>
                <a:cs typeface="Calibri"/>
                <a:sym typeface="Calibri"/>
              </a:rPr>
              <a:t>Gupima ibiro by’ umuntu</a:t>
            </a:r>
            <a:endParaRPr sz="1654">
              <a:solidFill>
                <a:schemeClr val="dk1"/>
              </a:solidFill>
              <a:latin typeface="Calibri"/>
              <a:ea typeface="Calibri"/>
              <a:cs typeface="Calibri"/>
              <a:sym typeface="Calibri"/>
            </a:endParaRPr>
          </a:p>
        </p:txBody>
      </p:sp>
      <p:sp>
        <p:nvSpPr>
          <p:cNvPr id="252" name="Google Shape;252;p12"/>
          <p:cNvSpPr/>
          <p:nvPr/>
        </p:nvSpPr>
        <p:spPr>
          <a:xfrm>
            <a:off x="548640" y="384048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3" name="Google Shape;253;p12"/>
          <p:cNvSpPr/>
          <p:nvPr/>
        </p:nvSpPr>
        <p:spPr>
          <a:xfrm>
            <a:off x="804672" y="39867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dirty="0">
                <a:solidFill>
                  <a:srgbClr val="0F3D63"/>
                </a:solidFill>
                <a:latin typeface="Calibri"/>
                <a:ea typeface="Calibri"/>
                <a:cs typeface="Calibri"/>
                <a:sym typeface="Calibri"/>
              </a:rPr>
              <a:t>Q14. Niba umuntu afite ubwoba bwo kujya ku kigo nderabuzima, ugomba:</a:t>
            </a:r>
            <a:endParaRPr sz="1900" dirty="0">
              <a:solidFill>
                <a:schemeClr val="dk1"/>
              </a:solidFill>
              <a:latin typeface="Calibri"/>
              <a:ea typeface="Calibri"/>
              <a:cs typeface="Calibri"/>
              <a:sym typeface="Calibri"/>
            </a:endParaRPr>
          </a:p>
        </p:txBody>
      </p:sp>
      <p:sp>
        <p:nvSpPr>
          <p:cNvPr id="254" name="Google Shape;254;p12"/>
          <p:cNvSpPr/>
          <p:nvPr/>
        </p:nvSpPr>
        <p:spPr>
          <a:xfrm>
            <a:off x="822960" y="44256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53"/>
              <a:buFont typeface="Calibri"/>
              <a:buNone/>
            </a:pPr>
            <a:r>
              <a:rPr lang="rw-RW" sz="1750" b="1" dirty="0">
                <a:solidFill>
                  <a:srgbClr val="16334F"/>
                </a:solidFill>
                <a:latin typeface="Calibri"/>
                <a:ea typeface="Calibri"/>
                <a:cs typeface="Calibri"/>
                <a:sym typeface="Calibri"/>
              </a:rPr>
              <a:t>A. </a:t>
            </a:r>
            <a:r>
              <a:rPr lang="rw-RW" sz="1750" dirty="0">
                <a:solidFill>
                  <a:srgbClr val="16334F"/>
                </a:solidFill>
                <a:latin typeface="Calibri"/>
                <a:ea typeface="Calibri"/>
                <a:cs typeface="Calibri"/>
                <a:sym typeface="Calibri"/>
              </a:rPr>
              <a:t>kumuhatira kugenda</a:t>
            </a:r>
            <a:endParaRPr sz="1654" dirty="0">
              <a:solidFill>
                <a:schemeClr val="dk1"/>
              </a:solidFill>
              <a:latin typeface="Calibri"/>
              <a:ea typeface="Calibri"/>
              <a:cs typeface="Calibri"/>
              <a:sym typeface="Calibri"/>
            </a:endParaRPr>
          </a:p>
        </p:txBody>
      </p:sp>
      <p:sp>
        <p:nvSpPr>
          <p:cNvPr id="255" name="Google Shape;255;p12"/>
          <p:cNvSpPr/>
          <p:nvPr/>
        </p:nvSpPr>
        <p:spPr>
          <a:xfrm>
            <a:off x="6172200" y="4425696"/>
            <a:ext cx="5166360" cy="438912"/>
          </a:xfrm>
          <a:prstGeom prst="rect">
            <a:avLst/>
          </a:prstGeom>
          <a:noFill/>
          <a:ln>
            <a:noFill/>
          </a:ln>
        </p:spPr>
        <p:txBody>
          <a:bodyPr spcFirstLastPara="1" wrap="square" lIns="0" tIns="0" rIns="0" bIns="0" anchor="ctr" anchorCtr="0">
            <a:normAutofit fontScale="92500" lnSpcReduction="10000"/>
          </a:bodyPr>
          <a:lstStyle/>
          <a:p>
            <a:pPr marL="0" marR="0" lvl="0" indent="0" algn="l" rtl="0">
              <a:spcBef>
                <a:spcPts val="0"/>
              </a:spcBef>
              <a:spcAft>
                <a:spcPts val="0"/>
              </a:spcAft>
              <a:buClr>
                <a:srgbClr val="16334F"/>
              </a:buClr>
              <a:buSzPts val="1522"/>
              <a:buFont typeface="Calibri"/>
              <a:buNone/>
            </a:pPr>
            <a:r>
              <a:rPr lang="rw-RW" sz="1750" b="1">
                <a:solidFill>
                  <a:srgbClr val="16334F"/>
                </a:solidFill>
                <a:latin typeface="Calibri"/>
                <a:ea typeface="Calibri"/>
                <a:cs typeface="Calibri"/>
                <a:sym typeface="Calibri"/>
              </a:rPr>
              <a:t>B. </a:t>
            </a:r>
            <a:r>
              <a:rPr lang="rw-RW" sz="1750">
                <a:solidFill>
                  <a:srgbClr val="16334F"/>
                </a:solidFill>
                <a:latin typeface="Calibri"/>
                <a:ea typeface="Calibri"/>
                <a:cs typeface="Calibri"/>
                <a:sym typeface="Calibri"/>
              </a:rPr>
              <a:t>Tega amatwi, usubize ibihangayikishije, kandi ubatere inkunga</a:t>
            </a:r>
            <a:endParaRPr sz="1523">
              <a:solidFill>
                <a:schemeClr val="dk1"/>
              </a:solidFill>
              <a:latin typeface="Calibri"/>
              <a:ea typeface="Calibri"/>
              <a:cs typeface="Calibri"/>
              <a:sym typeface="Calibri"/>
            </a:endParaRPr>
          </a:p>
        </p:txBody>
      </p:sp>
      <p:sp>
        <p:nvSpPr>
          <p:cNvPr id="256" name="Google Shape;256;p12"/>
          <p:cNvSpPr/>
          <p:nvPr/>
        </p:nvSpPr>
        <p:spPr>
          <a:xfrm>
            <a:off x="822960" y="49011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53"/>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Ntugire icyo uvuga hanyuma ugende</a:t>
            </a:r>
            <a:endParaRPr sz="1654">
              <a:solidFill>
                <a:schemeClr val="dk1"/>
              </a:solidFill>
              <a:latin typeface="Calibri"/>
              <a:ea typeface="Calibri"/>
              <a:cs typeface="Calibri"/>
              <a:sym typeface="Calibri"/>
            </a:endParaRPr>
          </a:p>
        </p:txBody>
      </p:sp>
      <p:sp>
        <p:nvSpPr>
          <p:cNvPr id="257" name="Google Shape;257;p12"/>
          <p:cNvSpPr/>
          <p:nvPr/>
        </p:nvSpPr>
        <p:spPr>
          <a:xfrm>
            <a:off x="6172200" y="49011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53"/>
              <a:buFont typeface="Calibri"/>
              <a:buNone/>
            </a:pPr>
            <a:r>
              <a:rPr lang="rw-RW" sz="1750" b="1">
                <a:solidFill>
                  <a:srgbClr val="16334F"/>
                </a:solidFill>
                <a:latin typeface="Calibri"/>
                <a:ea typeface="Calibri"/>
                <a:cs typeface="Calibri"/>
                <a:sym typeface="Calibri"/>
              </a:rPr>
              <a:t>D. </a:t>
            </a:r>
            <a:r>
              <a:rPr lang="rw-RW" sz="1750">
                <a:solidFill>
                  <a:srgbClr val="16334F"/>
                </a:solidFill>
                <a:latin typeface="Calibri"/>
                <a:ea typeface="Calibri"/>
                <a:cs typeface="Calibri"/>
                <a:sym typeface="Calibri"/>
              </a:rPr>
              <a:t>Ubwire ko bazapfa</a:t>
            </a:r>
            <a:endParaRPr sz="1654">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2"/>
        <p:cNvGrpSpPr/>
        <p:nvPr/>
      </p:nvGrpSpPr>
      <p:grpSpPr>
        <a:xfrm>
          <a:off x="0" y="0"/>
          <a:ext cx="0" cy="0"/>
          <a:chOff x="0" y="0"/>
          <a:chExt cx="0" cy="0"/>
        </a:xfrm>
      </p:grpSpPr>
      <p:sp>
        <p:nvSpPr>
          <p:cNvPr id="263" name="Google Shape;263;p13"/>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ISUZUMABUMENYI RYIBANZE</a:t>
            </a:r>
            <a:endParaRPr lang="rw-RW" sz="1100" dirty="0">
              <a:solidFill>
                <a:schemeClr val="dk1"/>
              </a:solidFill>
              <a:latin typeface="Calibri"/>
              <a:ea typeface="Calibri"/>
              <a:cs typeface="Calibri"/>
              <a:sym typeface="Calibri"/>
            </a:endParaRPr>
          </a:p>
        </p:txBody>
      </p:sp>
      <p:sp>
        <p:nvSpPr>
          <p:cNvPr id="264" name="Google Shape;264;p13"/>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Ikibazo (8/10)</a:t>
            </a:r>
            <a:endParaRPr sz="3200">
              <a:solidFill>
                <a:schemeClr val="dk1"/>
              </a:solidFill>
              <a:latin typeface="Calibri"/>
              <a:ea typeface="Calibri"/>
              <a:cs typeface="Calibri"/>
              <a:sym typeface="Calibri"/>
            </a:endParaRPr>
          </a:p>
        </p:txBody>
      </p:sp>
      <p:sp>
        <p:nvSpPr>
          <p:cNvPr id="265" name="Google Shape;265;p13"/>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266" name="Google Shape;266;p13"/>
          <p:cNvSpPr/>
          <p:nvPr/>
        </p:nvSpPr>
        <p:spPr>
          <a:xfrm>
            <a:off x="548640" y="187452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7" name="Google Shape;267;p13"/>
          <p:cNvSpPr/>
          <p:nvPr/>
        </p:nvSpPr>
        <p:spPr>
          <a:xfrm>
            <a:off x="804672" y="20208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a:solidFill>
                  <a:srgbClr val="0F3D63"/>
                </a:solidFill>
                <a:latin typeface="Calibri"/>
                <a:ea typeface="Calibri"/>
                <a:cs typeface="Calibri"/>
                <a:sym typeface="Calibri"/>
              </a:rPr>
              <a:t>Q15. Kuvura kanseri y'igifu:</a:t>
            </a:r>
            <a:endParaRPr sz="1900">
              <a:solidFill>
                <a:schemeClr val="dk1"/>
              </a:solidFill>
              <a:latin typeface="Calibri"/>
              <a:ea typeface="Calibri"/>
              <a:cs typeface="Calibri"/>
              <a:sym typeface="Calibri"/>
            </a:endParaRPr>
          </a:p>
        </p:txBody>
      </p:sp>
      <p:sp>
        <p:nvSpPr>
          <p:cNvPr id="268" name="Google Shape;268;p13"/>
          <p:cNvSpPr/>
          <p:nvPr/>
        </p:nvSpPr>
        <p:spPr>
          <a:xfrm>
            <a:off x="822960" y="24597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A.</a:t>
            </a:r>
            <a:r>
              <a:rPr lang="rw-RW" sz="1750">
                <a:solidFill>
                  <a:srgbClr val="16334F"/>
                </a:solidFill>
                <a:latin typeface="Calibri"/>
                <a:ea typeface="Calibri"/>
                <a:cs typeface="Calibri"/>
                <a:sym typeface="Calibri"/>
              </a:rPr>
              <a:t> Bikorwa</a:t>
            </a:r>
            <a:r>
              <a:rPr lang="rw-RW" sz="1750" b="1">
                <a:solidFill>
                  <a:srgbClr val="16334F"/>
                </a:solidFill>
                <a:latin typeface="Calibri"/>
                <a:ea typeface="Calibri"/>
                <a:cs typeface="Calibri"/>
                <a:sym typeface="Calibri"/>
              </a:rPr>
              <a:t> </a:t>
            </a:r>
            <a:r>
              <a:rPr lang="rw-RW" sz="1750">
                <a:solidFill>
                  <a:srgbClr val="16334F"/>
                </a:solidFill>
                <a:latin typeface="Calibri"/>
                <a:ea typeface="Calibri"/>
                <a:cs typeface="Calibri"/>
                <a:sym typeface="Calibri"/>
              </a:rPr>
              <a:t> kimwe kuri buri wese</a:t>
            </a:r>
            <a:endParaRPr sz="1750">
              <a:solidFill>
                <a:schemeClr val="dk1"/>
              </a:solidFill>
              <a:latin typeface="Calibri"/>
              <a:ea typeface="Calibri"/>
              <a:cs typeface="Calibri"/>
              <a:sym typeface="Calibri"/>
            </a:endParaRPr>
          </a:p>
        </p:txBody>
      </p:sp>
      <p:sp>
        <p:nvSpPr>
          <p:cNvPr id="269" name="Google Shape;269;p13"/>
          <p:cNvSpPr/>
          <p:nvPr/>
        </p:nvSpPr>
        <p:spPr>
          <a:xfrm>
            <a:off x="6172200" y="24597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B. </a:t>
            </a:r>
            <a:r>
              <a:rPr lang="rw-RW" sz="1750">
                <a:solidFill>
                  <a:srgbClr val="16334F"/>
                </a:solidFill>
                <a:latin typeface="Calibri"/>
                <a:ea typeface="Calibri"/>
                <a:cs typeface="Calibri"/>
                <a:sym typeface="Calibri"/>
              </a:rPr>
              <a:t>Biterwa n'umuntu n'ikigero cy’uburwayi</a:t>
            </a:r>
            <a:endParaRPr sz="1750">
              <a:solidFill>
                <a:schemeClr val="dk1"/>
              </a:solidFill>
              <a:latin typeface="Calibri"/>
              <a:ea typeface="Calibri"/>
              <a:cs typeface="Calibri"/>
              <a:sym typeface="Calibri"/>
            </a:endParaRPr>
          </a:p>
        </p:txBody>
      </p:sp>
      <p:sp>
        <p:nvSpPr>
          <p:cNvPr id="270" name="Google Shape;270;p13"/>
          <p:cNvSpPr/>
          <p:nvPr/>
        </p:nvSpPr>
        <p:spPr>
          <a:xfrm>
            <a:off x="822960" y="29352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Ntibishoboka</a:t>
            </a:r>
            <a:endParaRPr sz="1750">
              <a:solidFill>
                <a:schemeClr val="dk1"/>
              </a:solidFill>
              <a:latin typeface="Calibri"/>
              <a:ea typeface="Calibri"/>
              <a:cs typeface="Calibri"/>
              <a:sym typeface="Calibri"/>
            </a:endParaRPr>
          </a:p>
        </p:txBody>
      </p:sp>
      <p:sp>
        <p:nvSpPr>
          <p:cNvPr id="271" name="Google Shape;271;p13"/>
          <p:cNvSpPr/>
          <p:nvPr/>
        </p:nvSpPr>
        <p:spPr>
          <a:xfrm>
            <a:off x="6172200" y="29352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D. </a:t>
            </a:r>
            <a:r>
              <a:rPr lang="rw-RW" sz="1750">
                <a:solidFill>
                  <a:srgbClr val="16334F"/>
                </a:solidFill>
                <a:latin typeface="Calibri"/>
                <a:ea typeface="Calibri"/>
                <a:cs typeface="Calibri"/>
                <a:sym typeface="Calibri"/>
              </a:rPr>
              <a:t>Bisaba kubaga buri gihe gusa</a:t>
            </a:r>
            <a:endParaRPr sz="1750">
              <a:solidFill>
                <a:schemeClr val="dk1"/>
              </a:solidFill>
              <a:latin typeface="Calibri"/>
              <a:ea typeface="Calibri"/>
              <a:cs typeface="Calibri"/>
              <a:sym typeface="Calibri"/>
            </a:endParaRPr>
          </a:p>
        </p:txBody>
      </p:sp>
      <p:sp>
        <p:nvSpPr>
          <p:cNvPr id="272" name="Google Shape;272;p13"/>
          <p:cNvSpPr/>
          <p:nvPr/>
        </p:nvSpPr>
        <p:spPr>
          <a:xfrm>
            <a:off x="548640" y="384048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3" name="Google Shape;273;p13"/>
          <p:cNvSpPr/>
          <p:nvPr/>
        </p:nvSpPr>
        <p:spPr>
          <a:xfrm>
            <a:off x="804672" y="39867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a:solidFill>
                  <a:srgbClr val="0F3D63"/>
                </a:solidFill>
                <a:latin typeface="Calibri"/>
                <a:ea typeface="Calibri"/>
                <a:cs typeface="Calibri"/>
                <a:sym typeface="Calibri"/>
              </a:rPr>
              <a:t>Q16. Kumva uhaze nyuma yo kurya bicye, burigihe, ni:</a:t>
            </a:r>
            <a:endParaRPr sz="1900">
              <a:solidFill>
                <a:schemeClr val="dk1"/>
              </a:solidFill>
              <a:latin typeface="Calibri"/>
              <a:ea typeface="Calibri"/>
              <a:cs typeface="Calibri"/>
              <a:sym typeface="Calibri"/>
            </a:endParaRPr>
          </a:p>
        </p:txBody>
      </p:sp>
      <p:sp>
        <p:nvSpPr>
          <p:cNvPr id="274" name="Google Shape;274;p13"/>
          <p:cNvSpPr/>
          <p:nvPr/>
        </p:nvSpPr>
        <p:spPr>
          <a:xfrm>
            <a:off x="822960" y="44256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A. </a:t>
            </a:r>
            <a:r>
              <a:rPr lang="rw-RW" sz="1750">
                <a:solidFill>
                  <a:srgbClr val="16334F"/>
                </a:solidFill>
                <a:latin typeface="Calibri"/>
                <a:ea typeface="Calibri"/>
                <a:cs typeface="Calibri"/>
                <a:sym typeface="Calibri"/>
              </a:rPr>
              <a:t>Ibisanzwe</a:t>
            </a:r>
            <a:endParaRPr sz="1750">
              <a:solidFill>
                <a:schemeClr val="dk1"/>
              </a:solidFill>
              <a:latin typeface="Calibri"/>
              <a:ea typeface="Calibri"/>
              <a:cs typeface="Calibri"/>
              <a:sym typeface="Calibri"/>
            </a:endParaRPr>
          </a:p>
        </p:txBody>
      </p:sp>
      <p:sp>
        <p:nvSpPr>
          <p:cNvPr id="275" name="Google Shape;275;p13"/>
          <p:cNvSpPr/>
          <p:nvPr/>
        </p:nvSpPr>
        <p:spPr>
          <a:xfrm>
            <a:off x="6172200" y="44256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B. </a:t>
            </a:r>
            <a:r>
              <a:rPr lang="rw-RW" sz="1750">
                <a:solidFill>
                  <a:srgbClr val="16334F"/>
                </a:solidFill>
                <a:latin typeface="Calibri"/>
                <a:ea typeface="Calibri"/>
                <a:cs typeface="Calibri"/>
                <a:sym typeface="Calibri"/>
              </a:rPr>
              <a:t>Ikimenyetso kigomba gusuzumwa</a:t>
            </a:r>
            <a:endParaRPr sz="1750">
              <a:solidFill>
                <a:schemeClr val="dk1"/>
              </a:solidFill>
              <a:latin typeface="Calibri"/>
              <a:ea typeface="Calibri"/>
              <a:cs typeface="Calibri"/>
              <a:sym typeface="Calibri"/>
            </a:endParaRPr>
          </a:p>
        </p:txBody>
      </p:sp>
      <p:sp>
        <p:nvSpPr>
          <p:cNvPr id="276" name="Google Shape;276;p13"/>
          <p:cNvSpPr/>
          <p:nvPr/>
        </p:nvSpPr>
        <p:spPr>
          <a:xfrm>
            <a:off x="822960" y="49011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Ikimenyetso cy'imbaraga</a:t>
            </a:r>
            <a:endParaRPr sz="1750">
              <a:solidFill>
                <a:schemeClr val="dk1"/>
              </a:solidFill>
              <a:latin typeface="Calibri"/>
              <a:ea typeface="Calibri"/>
              <a:cs typeface="Calibri"/>
              <a:sym typeface="Calibri"/>
            </a:endParaRPr>
          </a:p>
        </p:txBody>
      </p:sp>
      <p:sp>
        <p:nvSpPr>
          <p:cNvPr id="277" name="Google Shape;277;p13"/>
          <p:cNvSpPr/>
          <p:nvPr/>
        </p:nvSpPr>
        <p:spPr>
          <a:xfrm>
            <a:off x="6172200" y="49011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D. u</a:t>
            </a:r>
            <a:r>
              <a:rPr lang="rw-RW" sz="1750">
                <a:solidFill>
                  <a:srgbClr val="16334F"/>
                </a:solidFill>
                <a:latin typeface="Calibri"/>
                <a:ea typeface="Calibri"/>
                <a:cs typeface="Calibri"/>
                <a:sym typeface="Calibri"/>
              </a:rPr>
              <a:t>kubera kunywa amazi</a:t>
            </a:r>
            <a:endParaRPr sz="175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2"/>
        <p:cNvGrpSpPr/>
        <p:nvPr/>
      </p:nvGrpSpPr>
      <p:grpSpPr>
        <a:xfrm>
          <a:off x="0" y="0"/>
          <a:ext cx="0" cy="0"/>
          <a:chOff x="0" y="0"/>
          <a:chExt cx="0" cy="0"/>
        </a:xfrm>
      </p:grpSpPr>
      <p:sp>
        <p:nvSpPr>
          <p:cNvPr id="283" name="Google Shape;283;p14"/>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ISUZUMABUMENYI RYIBANZE</a:t>
            </a:r>
            <a:endParaRPr lang="rw-RW" sz="1100" dirty="0">
              <a:solidFill>
                <a:schemeClr val="dk1"/>
              </a:solidFill>
              <a:latin typeface="Calibri"/>
              <a:ea typeface="Calibri"/>
              <a:cs typeface="Calibri"/>
              <a:sym typeface="Calibri"/>
            </a:endParaRPr>
          </a:p>
        </p:txBody>
      </p:sp>
      <p:sp>
        <p:nvSpPr>
          <p:cNvPr id="284" name="Google Shape;284;p14"/>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Ikibazo (9/10)</a:t>
            </a:r>
            <a:endParaRPr sz="3200">
              <a:solidFill>
                <a:schemeClr val="dk1"/>
              </a:solidFill>
              <a:latin typeface="Calibri"/>
              <a:ea typeface="Calibri"/>
              <a:cs typeface="Calibri"/>
              <a:sym typeface="Calibri"/>
            </a:endParaRPr>
          </a:p>
        </p:txBody>
      </p:sp>
      <p:sp>
        <p:nvSpPr>
          <p:cNvPr id="285" name="Google Shape;285;p14"/>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286" name="Google Shape;286;p14"/>
          <p:cNvSpPr/>
          <p:nvPr/>
        </p:nvSpPr>
        <p:spPr>
          <a:xfrm>
            <a:off x="548640" y="187452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7" name="Google Shape;287;p14"/>
          <p:cNvSpPr/>
          <p:nvPr/>
        </p:nvSpPr>
        <p:spPr>
          <a:xfrm>
            <a:off x="804672" y="20208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a:solidFill>
                  <a:srgbClr val="0F3D63"/>
                </a:solidFill>
                <a:latin typeface="Calibri"/>
                <a:ea typeface="Calibri"/>
                <a:cs typeface="Calibri"/>
                <a:sym typeface="Calibri"/>
              </a:rPr>
              <a:t>Q17. Umuntu ufata imiti ya kanseri aba ananiwe kandi arya bike. Ugomba:</a:t>
            </a:r>
            <a:endParaRPr sz="1900">
              <a:solidFill>
                <a:schemeClr val="dk1"/>
              </a:solidFill>
              <a:latin typeface="Calibri"/>
              <a:ea typeface="Calibri"/>
              <a:cs typeface="Calibri"/>
              <a:sym typeface="Calibri"/>
            </a:endParaRPr>
          </a:p>
        </p:txBody>
      </p:sp>
      <p:sp>
        <p:nvSpPr>
          <p:cNvPr id="288" name="Google Shape;288;p14"/>
          <p:cNvSpPr/>
          <p:nvPr/>
        </p:nvSpPr>
        <p:spPr>
          <a:xfrm>
            <a:off x="822960" y="24597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97"/>
              <a:buFont typeface="Calibri"/>
              <a:buNone/>
            </a:pPr>
            <a:r>
              <a:rPr lang="rw-RW" sz="1750" b="1">
                <a:solidFill>
                  <a:srgbClr val="16334F"/>
                </a:solidFill>
                <a:latin typeface="Calibri"/>
                <a:ea typeface="Calibri"/>
                <a:cs typeface="Calibri"/>
                <a:sym typeface="Calibri"/>
              </a:rPr>
              <a:t>A. </a:t>
            </a:r>
            <a:r>
              <a:rPr lang="rw-RW" sz="1750">
                <a:solidFill>
                  <a:srgbClr val="16334F"/>
                </a:solidFill>
                <a:latin typeface="Calibri"/>
                <a:ea typeface="Calibri"/>
                <a:cs typeface="Calibri"/>
                <a:sym typeface="Calibri"/>
              </a:rPr>
              <a:t>Kubyirengagiza</a:t>
            </a:r>
            <a:endParaRPr sz="1698">
              <a:solidFill>
                <a:schemeClr val="dk1"/>
              </a:solidFill>
              <a:latin typeface="Calibri"/>
              <a:ea typeface="Calibri"/>
              <a:cs typeface="Calibri"/>
              <a:sym typeface="Calibri"/>
            </a:endParaRPr>
          </a:p>
        </p:txBody>
      </p:sp>
      <p:sp>
        <p:nvSpPr>
          <p:cNvPr id="289" name="Google Shape;289;p14"/>
          <p:cNvSpPr/>
          <p:nvPr/>
        </p:nvSpPr>
        <p:spPr>
          <a:xfrm>
            <a:off x="6172200" y="2459736"/>
            <a:ext cx="5166360" cy="438912"/>
          </a:xfrm>
          <a:prstGeom prst="rect">
            <a:avLst/>
          </a:prstGeom>
          <a:noFill/>
          <a:ln>
            <a:noFill/>
          </a:ln>
        </p:spPr>
        <p:txBody>
          <a:bodyPr spcFirstLastPara="1" wrap="square" lIns="0" tIns="0" rIns="0" bIns="0" anchor="ctr" anchorCtr="0">
            <a:normAutofit lnSpcReduction="10000"/>
          </a:bodyPr>
          <a:lstStyle/>
          <a:p>
            <a:pPr marL="0" marR="0" lvl="0" indent="0" algn="l" rtl="0">
              <a:lnSpc>
                <a:spcPct val="90000"/>
              </a:lnSpc>
              <a:spcBef>
                <a:spcPts val="0"/>
              </a:spcBef>
              <a:spcAft>
                <a:spcPts val="0"/>
              </a:spcAft>
              <a:buClr>
                <a:srgbClr val="16334F"/>
              </a:buClr>
              <a:buSzPts val="1566"/>
              <a:buFont typeface="Calibri"/>
              <a:buNone/>
            </a:pPr>
            <a:r>
              <a:rPr lang="rw-RW" sz="1750" b="1">
                <a:solidFill>
                  <a:srgbClr val="16334F"/>
                </a:solidFill>
                <a:latin typeface="Calibri"/>
                <a:ea typeface="Calibri"/>
                <a:cs typeface="Calibri"/>
                <a:sym typeface="Calibri"/>
              </a:rPr>
              <a:t>B. </a:t>
            </a:r>
            <a:r>
              <a:rPr lang="rw-RW" sz="1750">
                <a:solidFill>
                  <a:srgbClr val="16334F"/>
                </a:solidFill>
                <a:latin typeface="Calibri"/>
                <a:ea typeface="Calibri"/>
                <a:cs typeface="Calibri"/>
                <a:sym typeface="Calibri"/>
              </a:rPr>
              <a:t>Kumushishikariza kurya ibiryo bicye ariko kenshi kandi akabaza umuganga</a:t>
            </a:r>
            <a:endParaRPr sz="1566">
              <a:solidFill>
                <a:schemeClr val="dk1"/>
              </a:solidFill>
              <a:latin typeface="Calibri"/>
              <a:ea typeface="Calibri"/>
              <a:cs typeface="Calibri"/>
              <a:sym typeface="Calibri"/>
            </a:endParaRPr>
          </a:p>
        </p:txBody>
      </p:sp>
      <p:sp>
        <p:nvSpPr>
          <p:cNvPr id="290" name="Google Shape;290;p14"/>
          <p:cNvSpPr/>
          <p:nvPr/>
        </p:nvSpPr>
        <p:spPr>
          <a:xfrm>
            <a:off x="822960" y="29352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97"/>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Kumubwira agahagarika imiti</a:t>
            </a:r>
            <a:endParaRPr sz="1698">
              <a:solidFill>
                <a:schemeClr val="dk1"/>
              </a:solidFill>
              <a:latin typeface="Calibri"/>
              <a:ea typeface="Calibri"/>
              <a:cs typeface="Calibri"/>
              <a:sym typeface="Calibri"/>
            </a:endParaRPr>
          </a:p>
        </p:txBody>
      </p:sp>
      <p:sp>
        <p:nvSpPr>
          <p:cNvPr id="291" name="Google Shape;291;p14"/>
          <p:cNvSpPr/>
          <p:nvPr/>
        </p:nvSpPr>
        <p:spPr>
          <a:xfrm>
            <a:off x="6172200" y="29352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97"/>
              <a:buFont typeface="Calibri"/>
              <a:buNone/>
            </a:pPr>
            <a:r>
              <a:rPr lang="rw-RW" sz="1750" b="1" dirty="0">
                <a:solidFill>
                  <a:srgbClr val="16334F"/>
                </a:solidFill>
                <a:latin typeface="Calibri"/>
                <a:ea typeface="Calibri"/>
                <a:cs typeface="Calibri"/>
                <a:sym typeface="Calibri"/>
              </a:rPr>
              <a:t>D. </a:t>
            </a:r>
            <a:r>
              <a:rPr lang="rw-RW" sz="1750" dirty="0">
                <a:solidFill>
                  <a:srgbClr val="16334F"/>
                </a:solidFill>
                <a:latin typeface="Calibri"/>
                <a:ea typeface="Calibri"/>
                <a:cs typeface="Calibri"/>
                <a:sym typeface="Calibri"/>
              </a:rPr>
              <a:t>Kumuha imiti</a:t>
            </a:r>
            <a:endParaRPr sz="1698" dirty="0">
              <a:solidFill>
                <a:schemeClr val="dk1"/>
              </a:solidFill>
              <a:latin typeface="Calibri"/>
              <a:ea typeface="Calibri"/>
              <a:cs typeface="Calibri"/>
              <a:sym typeface="Calibri"/>
            </a:endParaRPr>
          </a:p>
        </p:txBody>
      </p:sp>
      <p:sp>
        <p:nvSpPr>
          <p:cNvPr id="292" name="Google Shape;292;p14"/>
          <p:cNvSpPr/>
          <p:nvPr/>
        </p:nvSpPr>
        <p:spPr>
          <a:xfrm>
            <a:off x="548640" y="384048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3" name="Google Shape;293;p14"/>
          <p:cNvSpPr/>
          <p:nvPr/>
        </p:nvSpPr>
        <p:spPr>
          <a:xfrm>
            <a:off x="804672" y="39867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a:solidFill>
                  <a:srgbClr val="0F3D63"/>
                </a:solidFill>
                <a:latin typeface="Calibri"/>
                <a:ea typeface="Calibri"/>
                <a:cs typeface="Calibri"/>
                <a:sym typeface="Calibri"/>
              </a:rPr>
              <a:t>Q18. Indwara ya kanseri y'igifu mu Rwanda:</a:t>
            </a:r>
            <a:endParaRPr sz="1900">
              <a:solidFill>
                <a:schemeClr val="dk1"/>
              </a:solidFill>
              <a:latin typeface="Calibri"/>
              <a:ea typeface="Calibri"/>
              <a:cs typeface="Calibri"/>
              <a:sym typeface="Calibri"/>
            </a:endParaRPr>
          </a:p>
        </p:txBody>
      </p:sp>
      <p:sp>
        <p:nvSpPr>
          <p:cNvPr id="294" name="Google Shape;294;p14"/>
          <p:cNvSpPr/>
          <p:nvPr/>
        </p:nvSpPr>
        <p:spPr>
          <a:xfrm>
            <a:off x="822960" y="44256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97"/>
              <a:buFont typeface="Calibri"/>
              <a:buNone/>
            </a:pPr>
            <a:r>
              <a:rPr lang="rw-RW" sz="1750" b="1">
                <a:solidFill>
                  <a:srgbClr val="16334F"/>
                </a:solidFill>
                <a:latin typeface="Calibri"/>
                <a:ea typeface="Calibri"/>
                <a:cs typeface="Calibri"/>
                <a:sym typeface="Calibri"/>
              </a:rPr>
              <a:t>A. </a:t>
            </a:r>
            <a:r>
              <a:rPr lang="rw-RW" sz="1750">
                <a:solidFill>
                  <a:srgbClr val="16334F"/>
                </a:solidFill>
                <a:latin typeface="Calibri"/>
                <a:ea typeface="Calibri"/>
                <a:cs typeface="Calibri"/>
                <a:sym typeface="Calibri"/>
              </a:rPr>
              <a:t>Ntayibaho</a:t>
            </a:r>
            <a:endParaRPr sz="1698">
              <a:solidFill>
                <a:schemeClr val="dk1"/>
              </a:solidFill>
              <a:latin typeface="Calibri"/>
              <a:ea typeface="Calibri"/>
              <a:cs typeface="Calibri"/>
              <a:sym typeface="Calibri"/>
            </a:endParaRPr>
          </a:p>
        </p:txBody>
      </p:sp>
      <p:sp>
        <p:nvSpPr>
          <p:cNvPr id="295" name="Google Shape;295;p14"/>
          <p:cNvSpPr/>
          <p:nvPr/>
        </p:nvSpPr>
        <p:spPr>
          <a:xfrm>
            <a:off x="6172200" y="44256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97"/>
              <a:buFont typeface="Calibri"/>
              <a:buNone/>
            </a:pPr>
            <a:r>
              <a:rPr lang="rw-RW" sz="1750" b="1">
                <a:solidFill>
                  <a:srgbClr val="16334F"/>
                </a:solidFill>
                <a:latin typeface="Calibri"/>
                <a:ea typeface="Calibri"/>
                <a:cs typeface="Calibri"/>
                <a:sym typeface="Calibri"/>
              </a:rPr>
              <a:t>B. </a:t>
            </a:r>
            <a:r>
              <a:rPr lang="rw-RW" sz="1750">
                <a:solidFill>
                  <a:srgbClr val="16334F"/>
                </a:solidFill>
                <a:latin typeface="Calibri"/>
                <a:ea typeface="Calibri"/>
                <a:cs typeface="Calibri"/>
                <a:sym typeface="Calibri"/>
              </a:rPr>
              <a:t>Ni imwe muri kanseri zikunze kugaragara cyane</a:t>
            </a:r>
            <a:endParaRPr sz="1698">
              <a:solidFill>
                <a:schemeClr val="dk1"/>
              </a:solidFill>
              <a:latin typeface="Calibri"/>
              <a:ea typeface="Calibri"/>
              <a:cs typeface="Calibri"/>
              <a:sym typeface="Calibri"/>
            </a:endParaRPr>
          </a:p>
        </p:txBody>
      </p:sp>
      <p:sp>
        <p:nvSpPr>
          <p:cNvPr id="296" name="Google Shape;296;p14"/>
          <p:cNvSpPr/>
          <p:nvPr/>
        </p:nvSpPr>
        <p:spPr>
          <a:xfrm>
            <a:off x="822960" y="49011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97"/>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Yibasira abashyitsi gusa</a:t>
            </a:r>
            <a:endParaRPr sz="1698">
              <a:solidFill>
                <a:schemeClr val="dk1"/>
              </a:solidFill>
              <a:latin typeface="Calibri"/>
              <a:ea typeface="Calibri"/>
              <a:cs typeface="Calibri"/>
              <a:sym typeface="Calibri"/>
            </a:endParaRPr>
          </a:p>
        </p:txBody>
      </p:sp>
      <p:sp>
        <p:nvSpPr>
          <p:cNvPr id="297" name="Google Shape;297;p14"/>
          <p:cNvSpPr/>
          <p:nvPr/>
        </p:nvSpPr>
        <p:spPr>
          <a:xfrm>
            <a:off x="6172200" y="49011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97"/>
              <a:buFont typeface="Calibri"/>
              <a:buNone/>
            </a:pPr>
            <a:r>
              <a:rPr lang="rw-RW" sz="1750" b="1">
                <a:solidFill>
                  <a:srgbClr val="16334F"/>
                </a:solidFill>
                <a:latin typeface="Calibri"/>
                <a:ea typeface="Calibri"/>
                <a:cs typeface="Calibri"/>
                <a:sym typeface="Calibri"/>
              </a:rPr>
              <a:t>D. </a:t>
            </a:r>
            <a:r>
              <a:rPr lang="rw-RW" sz="1750">
                <a:solidFill>
                  <a:srgbClr val="16334F"/>
                </a:solidFill>
                <a:latin typeface="Calibri"/>
                <a:ea typeface="Calibri"/>
                <a:cs typeface="Calibri"/>
                <a:sym typeface="Calibri"/>
              </a:rPr>
              <a:t>Ntabwo ari indwara ikomeye</a:t>
            </a:r>
            <a:endParaRPr sz="1698">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2"/>
        <p:cNvGrpSpPr/>
        <p:nvPr/>
      </p:nvGrpSpPr>
      <p:grpSpPr>
        <a:xfrm>
          <a:off x="0" y="0"/>
          <a:ext cx="0" cy="0"/>
          <a:chOff x="0" y="0"/>
          <a:chExt cx="0" cy="0"/>
        </a:xfrm>
      </p:grpSpPr>
      <p:sp>
        <p:nvSpPr>
          <p:cNvPr id="303" name="Google Shape;303;p15"/>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ISUZUMABUMENYI RYIBANZE</a:t>
            </a:r>
            <a:endParaRPr lang="rw-RW" sz="1100" dirty="0">
              <a:solidFill>
                <a:schemeClr val="dk1"/>
              </a:solidFill>
              <a:latin typeface="Calibri"/>
              <a:ea typeface="Calibri"/>
              <a:cs typeface="Calibri"/>
              <a:sym typeface="Calibri"/>
            </a:endParaRPr>
          </a:p>
        </p:txBody>
      </p:sp>
      <p:sp>
        <p:nvSpPr>
          <p:cNvPr id="304" name="Google Shape;304;p15"/>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Ikibazo (10/10)</a:t>
            </a:r>
            <a:endParaRPr sz="3200">
              <a:solidFill>
                <a:schemeClr val="dk1"/>
              </a:solidFill>
              <a:latin typeface="Calibri"/>
              <a:ea typeface="Calibri"/>
              <a:cs typeface="Calibri"/>
              <a:sym typeface="Calibri"/>
            </a:endParaRPr>
          </a:p>
        </p:txBody>
      </p:sp>
      <p:sp>
        <p:nvSpPr>
          <p:cNvPr id="305" name="Google Shape;305;p15"/>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306" name="Google Shape;306;p15"/>
          <p:cNvSpPr/>
          <p:nvPr/>
        </p:nvSpPr>
        <p:spPr>
          <a:xfrm>
            <a:off x="548640" y="187452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7" name="Google Shape;307;p15"/>
          <p:cNvSpPr/>
          <p:nvPr/>
        </p:nvSpPr>
        <p:spPr>
          <a:xfrm>
            <a:off x="804672" y="2020824"/>
            <a:ext cx="10607040" cy="384048"/>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0F3D63"/>
              </a:buClr>
              <a:buSzPts val="1510"/>
              <a:buFont typeface="Calibri"/>
              <a:buNone/>
            </a:pPr>
            <a:r>
              <a:rPr lang="rw-RW" sz="1900" b="1">
                <a:solidFill>
                  <a:srgbClr val="0F3D63"/>
                </a:solidFill>
                <a:latin typeface="Calibri"/>
                <a:ea typeface="Calibri"/>
                <a:cs typeface="Calibri"/>
                <a:sym typeface="Calibri"/>
              </a:rPr>
              <a:t>Q19. Nyuma y'uko umuntu yoherejwe kwa muganga, umujyanam w'ubuzima ashobora kumufasha:</a:t>
            </a:r>
            <a:endParaRPr sz="1511">
              <a:solidFill>
                <a:schemeClr val="dk1"/>
              </a:solidFill>
              <a:latin typeface="Calibri"/>
              <a:ea typeface="Calibri"/>
              <a:cs typeface="Calibri"/>
              <a:sym typeface="Calibri"/>
            </a:endParaRPr>
          </a:p>
        </p:txBody>
      </p:sp>
      <p:sp>
        <p:nvSpPr>
          <p:cNvPr id="308" name="Google Shape;308;p15"/>
          <p:cNvSpPr/>
          <p:nvPr/>
        </p:nvSpPr>
        <p:spPr>
          <a:xfrm>
            <a:off x="822960" y="24597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dirty="0">
                <a:solidFill>
                  <a:srgbClr val="16334F"/>
                </a:solidFill>
                <a:latin typeface="Calibri"/>
                <a:ea typeface="Calibri"/>
                <a:cs typeface="Calibri"/>
                <a:sym typeface="Calibri"/>
              </a:rPr>
              <a:t>A. </a:t>
            </a:r>
            <a:r>
              <a:rPr lang="rw-RW" sz="1750" dirty="0">
                <a:solidFill>
                  <a:srgbClr val="16334F"/>
                </a:solidFill>
                <a:latin typeface="Calibri"/>
                <a:ea typeface="Calibri"/>
                <a:cs typeface="Calibri"/>
                <a:sym typeface="Calibri"/>
              </a:rPr>
              <a:t>Nta kindi akora</a:t>
            </a:r>
            <a:endParaRPr sz="1628" dirty="0">
              <a:solidFill>
                <a:schemeClr val="dk1"/>
              </a:solidFill>
              <a:latin typeface="Calibri"/>
              <a:ea typeface="Calibri"/>
              <a:cs typeface="Calibri"/>
              <a:sym typeface="Calibri"/>
            </a:endParaRPr>
          </a:p>
        </p:txBody>
      </p:sp>
      <p:sp>
        <p:nvSpPr>
          <p:cNvPr id="309" name="Google Shape;309;p15"/>
          <p:cNvSpPr/>
          <p:nvPr/>
        </p:nvSpPr>
        <p:spPr>
          <a:xfrm>
            <a:off x="6172200" y="24597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B. </a:t>
            </a:r>
            <a:r>
              <a:rPr lang="rw-RW" sz="1750">
                <a:solidFill>
                  <a:srgbClr val="16334F"/>
                </a:solidFill>
                <a:latin typeface="Calibri"/>
                <a:ea typeface="Calibri"/>
                <a:cs typeface="Calibri"/>
                <a:sym typeface="Calibri"/>
              </a:rPr>
              <a:t>Kugenzura ko yagezeyo no gukomeza kumukurikirana</a:t>
            </a:r>
            <a:endParaRPr sz="1628">
              <a:solidFill>
                <a:schemeClr val="dk1"/>
              </a:solidFill>
              <a:latin typeface="Calibri"/>
              <a:ea typeface="Calibri"/>
              <a:cs typeface="Calibri"/>
              <a:sym typeface="Calibri"/>
            </a:endParaRPr>
          </a:p>
        </p:txBody>
      </p:sp>
      <p:sp>
        <p:nvSpPr>
          <p:cNvPr id="310" name="Google Shape;310;p15"/>
          <p:cNvSpPr/>
          <p:nvPr/>
        </p:nvSpPr>
        <p:spPr>
          <a:xfrm>
            <a:off x="822960" y="29352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Kumubwira ko atazagaruka</a:t>
            </a:r>
            <a:endParaRPr sz="1628">
              <a:solidFill>
                <a:schemeClr val="dk1"/>
              </a:solidFill>
              <a:latin typeface="Calibri"/>
              <a:ea typeface="Calibri"/>
              <a:cs typeface="Calibri"/>
              <a:sym typeface="Calibri"/>
            </a:endParaRPr>
          </a:p>
        </p:txBody>
      </p:sp>
      <p:sp>
        <p:nvSpPr>
          <p:cNvPr id="311" name="Google Shape;311;p15"/>
          <p:cNvSpPr/>
          <p:nvPr/>
        </p:nvSpPr>
        <p:spPr>
          <a:xfrm>
            <a:off x="6172200" y="29352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dirty="0">
                <a:solidFill>
                  <a:srgbClr val="16334F"/>
                </a:solidFill>
                <a:latin typeface="Calibri"/>
                <a:ea typeface="Calibri"/>
                <a:cs typeface="Calibri"/>
                <a:sym typeface="Calibri"/>
              </a:rPr>
              <a:t>D. </a:t>
            </a:r>
            <a:r>
              <a:rPr lang="rw-RW" sz="1750" dirty="0">
                <a:solidFill>
                  <a:srgbClr val="16334F"/>
                </a:solidFill>
                <a:latin typeface="Calibri"/>
                <a:ea typeface="Calibri"/>
                <a:cs typeface="Calibri"/>
                <a:sym typeface="Calibri"/>
              </a:rPr>
              <a:t>Kumubwira indwara arwaye</a:t>
            </a:r>
            <a:endParaRPr sz="1628" dirty="0">
              <a:solidFill>
                <a:schemeClr val="dk1"/>
              </a:solidFill>
              <a:latin typeface="Calibri"/>
              <a:ea typeface="Calibri"/>
              <a:cs typeface="Calibri"/>
              <a:sym typeface="Calibri"/>
            </a:endParaRPr>
          </a:p>
        </p:txBody>
      </p:sp>
      <p:sp>
        <p:nvSpPr>
          <p:cNvPr id="312" name="Google Shape;312;p15"/>
          <p:cNvSpPr/>
          <p:nvPr/>
        </p:nvSpPr>
        <p:spPr>
          <a:xfrm>
            <a:off x="548640" y="3840480"/>
            <a:ext cx="11091672" cy="1691640"/>
          </a:xfrm>
          <a:prstGeom prst="roundRect">
            <a:avLst>
              <a:gd name="adj" fmla="val 540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3" name="Google Shape;313;p15"/>
          <p:cNvSpPr/>
          <p:nvPr/>
        </p:nvSpPr>
        <p:spPr>
          <a:xfrm>
            <a:off x="804672" y="3986784"/>
            <a:ext cx="10607040" cy="38404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0F3D63"/>
              </a:buClr>
              <a:buSzPts val="1795"/>
              <a:buFont typeface="Calibri"/>
              <a:buNone/>
            </a:pPr>
            <a:r>
              <a:rPr lang="rw-RW" sz="1900" b="1">
                <a:solidFill>
                  <a:srgbClr val="0F3D63"/>
                </a:solidFill>
                <a:latin typeface="Calibri"/>
                <a:ea typeface="Calibri"/>
                <a:cs typeface="Calibri"/>
                <a:sym typeface="Calibri"/>
              </a:rPr>
              <a:t>Q20. Ububabare bwo mu nda ubwabwo:</a:t>
            </a:r>
            <a:endParaRPr sz="1796">
              <a:solidFill>
                <a:schemeClr val="dk1"/>
              </a:solidFill>
              <a:latin typeface="Calibri"/>
              <a:ea typeface="Calibri"/>
              <a:cs typeface="Calibri"/>
              <a:sym typeface="Calibri"/>
            </a:endParaRPr>
          </a:p>
        </p:txBody>
      </p:sp>
      <p:sp>
        <p:nvSpPr>
          <p:cNvPr id="314" name="Google Shape;314;p15"/>
          <p:cNvSpPr/>
          <p:nvPr/>
        </p:nvSpPr>
        <p:spPr>
          <a:xfrm>
            <a:off x="822960" y="44256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A. </a:t>
            </a:r>
            <a:r>
              <a:rPr lang="rw-RW" sz="1750">
                <a:solidFill>
                  <a:srgbClr val="16334F"/>
                </a:solidFill>
                <a:latin typeface="Calibri"/>
                <a:ea typeface="Calibri"/>
                <a:cs typeface="Calibri"/>
                <a:sym typeface="Calibri"/>
              </a:rPr>
              <a:t>Buri gihe busobanura kanseri.</a:t>
            </a:r>
            <a:endParaRPr sz="1628">
              <a:solidFill>
                <a:schemeClr val="dk1"/>
              </a:solidFill>
              <a:latin typeface="Calibri"/>
              <a:ea typeface="Calibri"/>
              <a:cs typeface="Calibri"/>
              <a:sym typeface="Calibri"/>
            </a:endParaRPr>
          </a:p>
        </p:txBody>
      </p:sp>
      <p:sp>
        <p:nvSpPr>
          <p:cNvPr id="315" name="Google Shape;315;p15"/>
          <p:cNvSpPr/>
          <p:nvPr/>
        </p:nvSpPr>
        <p:spPr>
          <a:xfrm>
            <a:off x="6172200" y="4425696"/>
            <a:ext cx="5166360" cy="438912"/>
          </a:xfrm>
          <a:prstGeom prst="rect">
            <a:avLst/>
          </a:prstGeom>
          <a:noFill/>
          <a:ln>
            <a:noFill/>
          </a:ln>
        </p:spPr>
        <p:txBody>
          <a:bodyPr spcFirstLastPara="1" wrap="square" lIns="0" tIns="0" rIns="0" bIns="0" anchor="ctr" anchorCtr="0">
            <a:normAutofit lnSpcReduction="10000"/>
          </a:bodyPr>
          <a:lstStyle/>
          <a:p>
            <a:pPr marL="0" marR="0" lvl="0" indent="0" algn="l" rtl="0">
              <a:lnSpc>
                <a:spcPct val="90000"/>
              </a:lnSpc>
              <a:spcBef>
                <a:spcPts val="0"/>
              </a:spcBef>
              <a:spcAft>
                <a:spcPts val="0"/>
              </a:spcAft>
              <a:buClr>
                <a:srgbClr val="16334F"/>
              </a:buClr>
              <a:buSzPts val="1496"/>
              <a:buFont typeface="Calibri"/>
              <a:buNone/>
            </a:pPr>
            <a:r>
              <a:rPr lang="rw-RW" sz="1750" b="1" dirty="0">
                <a:solidFill>
                  <a:srgbClr val="16334F"/>
                </a:solidFill>
                <a:latin typeface="Calibri"/>
                <a:ea typeface="Calibri"/>
                <a:cs typeface="Calibri"/>
                <a:sym typeface="Calibri"/>
              </a:rPr>
              <a:t>B. </a:t>
            </a:r>
            <a:r>
              <a:rPr lang="rw-RW" sz="1750" dirty="0">
                <a:solidFill>
                  <a:srgbClr val="16334F"/>
                </a:solidFill>
                <a:latin typeface="Calibri"/>
                <a:ea typeface="Calibri"/>
                <a:cs typeface="Calibri"/>
                <a:sym typeface="Calibri"/>
              </a:rPr>
              <a:t>Buterwa n’ impamvu nyinshi; niba budashira, umuntu agomba kwisuzumisha.</a:t>
            </a:r>
            <a:endParaRPr sz="1496" dirty="0">
              <a:solidFill>
                <a:schemeClr val="dk1"/>
              </a:solidFill>
              <a:latin typeface="Calibri"/>
              <a:ea typeface="Calibri"/>
              <a:cs typeface="Calibri"/>
              <a:sym typeface="Calibri"/>
            </a:endParaRPr>
          </a:p>
        </p:txBody>
      </p:sp>
      <p:sp>
        <p:nvSpPr>
          <p:cNvPr id="316" name="Google Shape;316;p15"/>
          <p:cNvSpPr/>
          <p:nvPr/>
        </p:nvSpPr>
        <p:spPr>
          <a:xfrm>
            <a:off x="822960" y="49011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Ntacyo butwaye</a:t>
            </a:r>
            <a:endParaRPr sz="1628">
              <a:solidFill>
                <a:schemeClr val="dk1"/>
              </a:solidFill>
              <a:latin typeface="Calibri"/>
              <a:ea typeface="Calibri"/>
              <a:cs typeface="Calibri"/>
              <a:sym typeface="Calibri"/>
            </a:endParaRPr>
          </a:p>
        </p:txBody>
      </p:sp>
      <p:sp>
        <p:nvSpPr>
          <p:cNvPr id="317" name="Google Shape;317;p15"/>
          <p:cNvSpPr/>
          <p:nvPr/>
        </p:nvSpPr>
        <p:spPr>
          <a:xfrm>
            <a:off x="6172200" y="49011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D. </a:t>
            </a:r>
            <a:r>
              <a:rPr lang="rw-RW" sz="1750">
                <a:solidFill>
                  <a:srgbClr val="16334F"/>
                </a:solidFill>
                <a:latin typeface="Calibri"/>
                <a:ea typeface="Calibri"/>
                <a:cs typeface="Calibri"/>
                <a:sym typeface="Calibri"/>
              </a:rPr>
              <a:t>Ubufite arapfa</a:t>
            </a:r>
            <a:endParaRPr sz="1628">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2"/>
        <p:cNvGrpSpPr/>
        <p:nvPr/>
      </p:nvGrpSpPr>
      <p:grpSpPr>
        <a:xfrm>
          <a:off x="0" y="0"/>
          <a:ext cx="0" cy="0"/>
          <a:chOff x="0" y="0"/>
          <a:chExt cx="0" cy="0"/>
        </a:xfrm>
      </p:grpSpPr>
      <p:sp>
        <p:nvSpPr>
          <p:cNvPr id="323" name="Google Shape;323;p16"/>
          <p:cNvSpPr/>
          <p:nvPr/>
        </p:nvSpPr>
        <p:spPr>
          <a:xfrm>
            <a:off x="502920" y="777240"/>
            <a:ext cx="11183112" cy="5303520"/>
          </a:xfrm>
          <a:prstGeom prst="rect">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4" name="Google Shape;324;p16"/>
          <p:cNvSpPr/>
          <p:nvPr/>
        </p:nvSpPr>
        <p:spPr>
          <a:xfrm>
            <a:off x="9509760" y="1874520"/>
            <a:ext cx="1554480" cy="1554480"/>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5" name="Google Shape;325;p16"/>
          <p:cNvSpPr/>
          <p:nvPr/>
        </p:nvSpPr>
        <p:spPr>
          <a:xfrm>
            <a:off x="9509760" y="1874520"/>
            <a:ext cx="1554480" cy="1554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4000"/>
              <a:buFont typeface="Cambria"/>
              <a:buNone/>
            </a:pPr>
            <a:r>
              <a:rPr lang="rw-RW" sz="4000" b="1">
                <a:solidFill>
                  <a:srgbClr val="FFFFFF"/>
                </a:solidFill>
                <a:latin typeface="Cambria"/>
                <a:ea typeface="Cambria"/>
                <a:cs typeface="Cambria"/>
                <a:sym typeface="Cambria"/>
              </a:rPr>
              <a:t>1</a:t>
            </a:r>
            <a:endParaRPr sz="4000">
              <a:solidFill>
                <a:schemeClr val="dk1"/>
              </a:solidFill>
              <a:latin typeface="Calibri"/>
              <a:ea typeface="Calibri"/>
              <a:cs typeface="Calibri"/>
              <a:sym typeface="Calibri"/>
            </a:endParaRPr>
          </a:p>
        </p:txBody>
      </p:sp>
      <p:sp>
        <p:nvSpPr>
          <p:cNvPr id="326" name="Google Shape;326;p16"/>
          <p:cNvSpPr/>
          <p:nvPr/>
        </p:nvSpPr>
        <p:spPr>
          <a:xfrm>
            <a:off x="1234440" y="260604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200" b="1" dirty="0">
                <a:solidFill>
                  <a:srgbClr val="AFCBE3"/>
                </a:solidFill>
                <a:latin typeface="Calibri"/>
                <a:ea typeface="Calibri"/>
                <a:cs typeface="Calibri"/>
                <a:sym typeface="Calibri"/>
              </a:rPr>
              <a:t>IGICE CYA MBERE</a:t>
            </a:r>
            <a:endParaRPr sz="1200" dirty="0">
              <a:solidFill>
                <a:schemeClr val="dk1"/>
              </a:solidFill>
              <a:latin typeface="Calibri"/>
              <a:ea typeface="Calibri"/>
              <a:cs typeface="Calibri"/>
              <a:sym typeface="Calibri"/>
            </a:endParaRPr>
          </a:p>
        </p:txBody>
      </p:sp>
      <p:sp>
        <p:nvSpPr>
          <p:cNvPr id="327" name="Google Shape;327;p16"/>
          <p:cNvSpPr/>
          <p:nvPr/>
        </p:nvSpPr>
        <p:spPr>
          <a:xfrm>
            <a:off x="1234440" y="2926080"/>
            <a:ext cx="786384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800"/>
              <a:buFont typeface="Cambria"/>
              <a:buNone/>
            </a:pPr>
            <a:r>
              <a:rPr lang="rw-RW" sz="3800" b="1">
                <a:solidFill>
                  <a:srgbClr val="FFFFFF"/>
                </a:solidFill>
                <a:latin typeface="Cambria"/>
                <a:ea typeface="Cambria"/>
                <a:cs typeface="Cambria"/>
                <a:sym typeface="Cambria"/>
              </a:rPr>
              <a:t>Kanseri y'igifu ni iki?</a:t>
            </a:r>
            <a:endParaRPr sz="3800">
              <a:solidFill>
                <a:schemeClr val="dk1"/>
              </a:solidFill>
              <a:latin typeface="Calibri"/>
              <a:ea typeface="Calibri"/>
              <a:cs typeface="Calibri"/>
              <a:sym typeface="Calibri"/>
            </a:endParaRPr>
          </a:p>
        </p:txBody>
      </p:sp>
      <p:sp>
        <p:nvSpPr>
          <p:cNvPr id="328" name="Google Shape;328;p16"/>
          <p:cNvSpPr/>
          <p:nvPr/>
        </p:nvSpPr>
        <p:spPr>
          <a:xfrm>
            <a:off x="1234440" y="3794760"/>
            <a:ext cx="78638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E7F3"/>
              </a:buClr>
              <a:buSzPts val="1800"/>
              <a:buFont typeface="Calibri"/>
              <a:buNone/>
            </a:pPr>
            <a:r>
              <a:rPr lang="rw-RW" sz="1800">
                <a:solidFill>
                  <a:srgbClr val="D9E7F3"/>
                </a:solidFill>
                <a:latin typeface="Calibri"/>
                <a:ea typeface="Calibri"/>
                <a:cs typeface="Calibri"/>
                <a:sym typeface="Calibri"/>
              </a:rPr>
              <a:t>Menya iyi kanseri icyo ari cyo, aho igifu giherereye, n'uko kanseri y'igifu ikunze kugaragara mu Rwanda.</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3"/>
        <p:cNvGrpSpPr/>
        <p:nvPr/>
      </p:nvGrpSpPr>
      <p:grpSpPr>
        <a:xfrm>
          <a:off x="0" y="0"/>
          <a:ext cx="0" cy="0"/>
          <a:chOff x="0" y="0"/>
          <a:chExt cx="0" cy="0"/>
        </a:xfrm>
      </p:grpSpPr>
      <p:sp>
        <p:nvSpPr>
          <p:cNvPr id="334" name="Google Shape;334;p17"/>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IGICE CYA MBERE</a:t>
            </a:r>
            <a:endParaRPr lang="rw-RW" sz="1100" dirty="0">
              <a:solidFill>
                <a:schemeClr val="dk1"/>
              </a:solidFill>
              <a:latin typeface="Calibri"/>
              <a:ea typeface="Calibri"/>
              <a:cs typeface="Calibri"/>
              <a:sym typeface="Calibri"/>
            </a:endParaRPr>
          </a:p>
        </p:txBody>
      </p:sp>
      <p:sp>
        <p:nvSpPr>
          <p:cNvPr id="335" name="Google Shape;335;p17"/>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Icyo wakora</a:t>
            </a:r>
            <a:endParaRPr sz="3400">
              <a:solidFill>
                <a:schemeClr val="dk1"/>
              </a:solidFill>
              <a:latin typeface="Calibri"/>
              <a:ea typeface="Calibri"/>
              <a:cs typeface="Calibri"/>
              <a:sym typeface="Calibri"/>
            </a:endParaRPr>
          </a:p>
        </p:txBody>
      </p:sp>
      <p:sp>
        <p:nvSpPr>
          <p:cNvPr id="336" name="Google Shape;336;p17"/>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337" name="Google Shape;337;p17"/>
          <p:cNvSpPr/>
          <p:nvPr/>
        </p:nvSpPr>
        <p:spPr>
          <a:xfrm>
            <a:off x="548640" y="1783080"/>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8" name="Google Shape;338;p17"/>
          <p:cNvSpPr/>
          <p:nvPr/>
        </p:nvSpPr>
        <p:spPr>
          <a:xfrm>
            <a:off x="804672" y="1965960"/>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Sobanura</a:t>
            </a:r>
            <a:endParaRPr sz="2100">
              <a:solidFill>
                <a:schemeClr val="dk1"/>
              </a:solidFill>
              <a:latin typeface="Calibri"/>
              <a:ea typeface="Calibri"/>
              <a:cs typeface="Calibri"/>
              <a:sym typeface="Calibri"/>
            </a:endParaRPr>
          </a:p>
        </p:txBody>
      </p:sp>
      <p:sp>
        <p:nvSpPr>
          <p:cNvPr id="339" name="Google Shape;339;p17"/>
          <p:cNvSpPr/>
          <p:nvPr/>
        </p:nvSpPr>
        <p:spPr>
          <a:xfrm>
            <a:off x="804672" y="2404872"/>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10"/>
              <a:buFont typeface="Calibri"/>
              <a:buNone/>
            </a:pPr>
            <a:r>
              <a:rPr lang="rw-RW" sz="1800" dirty="0">
                <a:solidFill>
                  <a:srgbClr val="16334F"/>
                </a:solidFill>
                <a:latin typeface="Calibri"/>
                <a:ea typeface="Calibri"/>
                <a:cs typeface="Calibri"/>
                <a:sym typeface="Calibri"/>
              </a:rPr>
              <a:t>Sobanura mu magambo yoroheje kanseri y'igifu icyo ari cyo.</a:t>
            </a:r>
            <a:endParaRPr sz="1710" dirty="0">
              <a:solidFill>
                <a:schemeClr val="dk1"/>
              </a:solidFill>
              <a:latin typeface="Calibri"/>
              <a:ea typeface="Calibri"/>
              <a:cs typeface="Calibri"/>
              <a:sym typeface="Calibri"/>
            </a:endParaRPr>
          </a:p>
        </p:txBody>
      </p:sp>
      <p:sp>
        <p:nvSpPr>
          <p:cNvPr id="340" name="Google Shape;340;p17"/>
          <p:cNvSpPr/>
          <p:nvPr/>
        </p:nvSpPr>
        <p:spPr>
          <a:xfrm>
            <a:off x="4343400" y="1783080"/>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1" name="Google Shape;341;p17"/>
          <p:cNvSpPr/>
          <p:nvPr/>
        </p:nvSpPr>
        <p:spPr>
          <a:xfrm>
            <a:off x="4599432" y="1965960"/>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Kwerekana</a:t>
            </a:r>
            <a:endParaRPr sz="2100">
              <a:solidFill>
                <a:schemeClr val="dk1"/>
              </a:solidFill>
              <a:latin typeface="Calibri"/>
              <a:ea typeface="Calibri"/>
              <a:cs typeface="Calibri"/>
              <a:sym typeface="Calibri"/>
            </a:endParaRPr>
          </a:p>
        </p:txBody>
      </p:sp>
      <p:sp>
        <p:nvSpPr>
          <p:cNvPr id="342" name="Google Shape;342;p17"/>
          <p:cNvSpPr/>
          <p:nvPr/>
        </p:nvSpPr>
        <p:spPr>
          <a:xfrm>
            <a:off x="4599432" y="2404872"/>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10"/>
              <a:buFont typeface="Calibri"/>
              <a:buNone/>
            </a:pPr>
            <a:r>
              <a:rPr lang="rw-RW" sz="1800" dirty="0">
                <a:solidFill>
                  <a:srgbClr val="16334F"/>
                </a:solidFill>
                <a:latin typeface="Calibri"/>
                <a:ea typeface="Calibri"/>
                <a:cs typeface="Calibri"/>
                <a:sym typeface="Calibri"/>
              </a:rPr>
              <a:t>Erekana aho igifu giherereye n'icyo gikora.</a:t>
            </a:r>
            <a:endParaRPr sz="1710" dirty="0">
              <a:solidFill>
                <a:schemeClr val="dk1"/>
              </a:solidFill>
              <a:latin typeface="Calibri"/>
              <a:ea typeface="Calibri"/>
              <a:cs typeface="Calibri"/>
              <a:sym typeface="Calibri"/>
            </a:endParaRPr>
          </a:p>
        </p:txBody>
      </p:sp>
      <p:sp>
        <p:nvSpPr>
          <p:cNvPr id="343" name="Google Shape;343;p17"/>
          <p:cNvSpPr/>
          <p:nvPr/>
        </p:nvSpPr>
        <p:spPr>
          <a:xfrm>
            <a:off x="8138160" y="1783080"/>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4" name="Google Shape;344;p17"/>
          <p:cNvSpPr/>
          <p:nvPr/>
        </p:nvSpPr>
        <p:spPr>
          <a:xfrm>
            <a:off x="8394192" y="1965960"/>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Sobanura byimbitse</a:t>
            </a:r>
            <a:endParaRPr sz="2100">
              <a:solidFill>
                <a:schemeClr val="dk1"/>
              </a:solidFill>
              <a:latin typeface="Calibri"/>
              <a:ea typeface="Calibri"/>
              <a:cs typeface="Calibri"/>
              <a:sym typeface="Calibri"/>
            </a:endParaRPr>
          </a:p>
        </p:txBody>
      </p:sp>
      <p:sp>
        <p:nvSpPr>
          <p:cNvPr id="345" name="Google Shape;345;p17"/>
          <p:cNvSpPr/>
          <p:nvPr/>
        </p:nvSpPr>
        <p:spPr>
          <a:xfrm>
            <a:off x="8394192" y="2404872"/>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10"/>
              <a:buFont typeface="Calibri"/>
              <a:buNone/>
            </a:pPr>
            <a:r>
              <a:rPr lang="rw-RW" sz="1800">
                <a:solidFill>
                  <a:srgbClr val="16334F"/>
                </a:solidFill>
                <a:latin typeface="Calibri"/>
                <a:ea typeface="Calibri"/>
                <a:cs typeface="Calibri"/>
                <a:sym typeface="Calibri"/>
              </a:rPr>
              <a:t>Sobanura byimbitse uko kanseri y'igifu itangira kandi igakura buhoro buhoro.</a:t>
            </a:r>
            <a:endParaRPr sz="1710">
              <a:solidFill>
                <a:schemeClr val="dk1"/>
              </a:solidFill>
              <a:latin typeface="Calibri"/>
              <a:ea typeface="Calibri"/>
              <a:cs typeface="Calibri"/>
              <a:sym typeface="Calibri"/>
            </a:endParaRPr>
          </a:p>
        </p:txBody>
      </p:sp>
      <p:sp>
        <p:nvSpPr>
          <p:cNvPr id="346" name="Google Shape;346;p17"/>
          <p:cNvSpPr/>
          <p:nvPr/>
        </p:nvSpPr>
        <p:spPr>
          <a:xfrm>
            <a:off x="548640" y="3767328"/>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7" name="Google Shape;347;p17"/>
          <p:cNvSpPr/>
          <p:nvPr/>
        </p:nvSpPr>
        <p:spPr>
          <a:xfrm>
            <a:off x="804672" y="3950208"/>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Ganiriza</a:t>
            </a:r>
            <a:endParaRPr sz="2100">
              <a:solidFill>
                <a:schemeClr val="dk1"/>
              </a:solidFill>
              <a:latin typeface="Calibri"/>
              <a:ea typeface="Calibri"/>
              <a:cs typeface="Calibri"/>
              <a:sym typeface="Calibri"/>
            </a:endParaRPr>
          </a:p>
        </p:txBody>
      </p:sp>
      <p:sp>
        <p:nvSpPr>
          <p:cNvPr id="348" name="Google Shape;348;p17"/>
          <p:cNvSpPr/>
          <p:nvPr/>
        </p:nvSpPr>
        <p:spPr>
          <a:xfrm>
            <a:off x="804672" y="4389120"/>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10"/>
              <a:buFont typeface="Calibri"/>
              <a:buNone/>
            </a:pPr>
            <a:r>
              <a:rPr lang="rw-RW" sz="1800">
                <a:solidFill>
                  <a:srgbClr val="16334F"/>
                </a:solidFill>
                <a:latin typeface="Calibri"/>
                <a:ea typeface="Calibri"/>
                <a:cs typeface="Calibri"/>
                <a:sym typeface="Calibri"/>
              </a:rPr>
              <a:t>Ganiriza umuryango iby’ agakoko H. pylori mu magambo yoroshye kandi yumvikana.</a:t>
            </a:r>
            <a:endParaRPr sz="1710">
              <a:solidFill>
                <a:schemeClr val="dk1"/>
              </a:solidFill>
              <a:latin typeface="Calibri"/>
              <a:ea typeface="Calibri"/>
              <a:cs typeface="Calibri"/>
              <a:sym typeface="Calibri"/>
            </a:endParaRPr>
          </a:p>
        </p:txBody>
      </p:sp>
      <p:sp>
        <p:nvSpPr>
          <p:cNvPr id="349" name="Google Shape;349;p17"/>
          <p:cNvSpPr/>
          <p:nvPr/>
        </p:nvSpPr>
        <p:spPr>
          <a:xfrm>
            <a:off x="4343400" y="3767328"/>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0" name="Google Shape;350;p17"/>
          <p:cNvSpPr/>
          <p:nvPr/>
        </p:nvSpPr>
        <p:spPr>
          <a:xfrm>
            <a:off x="4599432" y="3950208"/>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Kumenya</a:t>
            </a:r>
            <a:endParaRPr sz="2100">
              <a:solidFill>
                <a:schemeClr val="dk1"/>
              </a:solidFill>
              <a:latin typeface="Calibri"/>
              <a:ea typeface="Calibri"/>
              <a:cs typeface="Calibri"/>
              <a:sym typeface="Calibri"/>
            </a:endParaRPr>
          </a:p>
        </p:txBody>
      </p:sp>
      <p:sp>
        <p:nvSpPr>
          <p:cNvPr id="351" name="Google Shape;351;p17"/>
          <p:cNvSpPr/>
          <p:nvPr/>
        </p:nvSpPr>
        <p:spPr>
          <a:xfrm>
            <a:off x="4599432" y="4389120"/>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10"/>
              <a:buFont typeface="Calibri"/>
              <a:buNone/>
            </a:pPr>
            <a:r>
              <a:rPr lang="rw-RW" sz="1800">
                <a:solidFill>
                  <a:srgbClr val="16334F"/>
                </a:solidFill>
                <a:latin typeface="Calibri"/>
                <a:ea typeface="Calibri"/>
                <a:cs typeface="Calibri"/>
                <a:sym typeface="Calibri"/>
              </a:rPr>
              <a:t>Menya ko kanseri y'igifu iboneka mu Rwanda kandi ko ari indwara ikomeye.</a:t>
            </a:r>
            <a:endParaRPr sz="1710">
              <a:solidFill>
                <a:schemeClr val="dk1"/>
              </a:solidFill>
              <a:latin typeface="Calibri"/>
              <a:ea typeface="Calibri"/>
              <a:cs typeface="Calibri"/>
              <a:sym typeface="Calibri"/>
            </a:endParaRPr>
          </a:p>
        </p:txBody>
      </p:sp>
      <p:sp>
        <p:nvSpPr>
          <p:cNvPr id="352" name="Google Shape;352;p17"/>
          <p:cNvSpPr/>
          <p:nvPr/>
        </p:nvSpPr>
        <p:spPr>
          <a:xfrm>
            <a:off x="8138160" y="3767328"/>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3" name="Google Shape;353;p17"/>
          <p:cNvSpPr/>
          <p:nvPr/>
        </p:nvSpPr>
        <p:spPr>
          <a:xfrm>
            <a:off x="8394192" y="3950208"/>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Gushyira mu bikorwa</a:t>
            </a:r>
            <a:endParaRPr sz="2100">
              <a:solidFill>
                <a:schemeClr val="dk1"/>
              </a:solidFill>
              <a:latin typeface="Calibri"/>
              <a:ea typeface="Calibri"/>
              <a:cs typeface="Calibri"/>
              <a:sym typeface="Calibri"/>
            </a:endParaRPr>
          </a:p>
        </p:txBody>
      </p:sp>
      <p:sp>
        <p:nvSpPr>
          <p:cNvPr id="354" name="Google Shape;354;p17"/>
          <p:cNvSpPr/>
          <p:nvPr/>
        </p:nvSpPr>
        <p:spPr>
          <a:xfrm>
            <a:off x="8394192" y="4389120"/>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10"/>
              <a:buFont typeface="Calibri"/>
              <a:buNone/>
            </a:pPr>
            <a:r>
              <a:rPr lang="rw-RW" sz="1800">
                <a:solidFill>
                  <a:srgbClr val="16334F"/>
                </a:solidFill>
                <a:latin typeface="Calibri"/>
                <a:ea typeface="Calibri"/>
                <a:cs typeface="Calibri"/>
                <a:sym typeface="Calibri"/>
              </a:rPr>
              <a:t>Shyira abantu ubutumwa bw'uko kwisuzumisha hakiri kare biramira amagara.</a:t>
            </a:r>
            <a:endParaRPr sz="171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9"/>
        <p:cNvGrpSpPr/>
        <p:nvPr/>
      </p:nvGrpSpPr>
      <p:grpSpPr>
        <a:xfrm>
          <a:off x="0" y="0"/>
          <a:ext cx="0" cy="0"/>
          <a:chOff x="0" y="0"/>
          <a:chExt cx="0" cy="0"/>
        </a:xfrm>
      </p:grpSpPr>
      <p:sp>
        <p:nvSpPr>
          <p:cNvPr id="360" name="Google Shape;360;p18"/>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IGICE CYA MBERE</a:t>
            </a:r>
            <a:endParaRPr lang="rw-RW" sz="1100" dirty="0">
              <a:solidFill>
                <a:schemeClr val="dk1"/>
              </a:solidFill>
              <a:latin typeface="Calibri"/>
              <a:ea typeface="Calibri"/>
              <a:cs typeface="Calibri"/>
              <a:sym typeface="Calibri"/>
            </a:endParaRPr>
          </a:p>
        </p:txBody>
      </p:sp>
      <p:sp>
        <p:nvSpPr>
          <p:cNvPr id="361" name="Google Shape;361;p18"/>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Kanseri y'igifu ni iki?</a:t>
            </a:r>
            <a:endParaRPr sz="3400">
              <a:solidFill>
                <a:schemeClr val="dk1"/>
              </a:solidFill>
              <a:latin typeface="Calibri"/>
              <a:ea typeface="Calibri"/>
              <a:cs typeface="Calibri"/>
              <a:sym typeface="Calibri"/>
            </a:endParaRPr>
          </a:p>
        </p:txBody>
      </p:sp>
      <p:sp>
        <p:nvSpPr>
          <p:cNvPr id="362" name="Google Shape;362;p18"/>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363" name="Google Shape;363;p18"/>
          <p:cNvSpPr/>
          <p:nvPr/>
        </p:nvSpPr>
        <p:spPr>
          <a:xfrm>
            <a:off x="548640" y="1326224"/>
            <a:ext cx="3502152" cy="3949864"/>
          </a:xfrm>
          <a:prstGeom prst="roundRect">
            <a:avLst>
              <a:gd name="adj" fmla="val 48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4" name="Google Shape;364;p18"/>
          <p:cNvSpPr/>
          <p:nvPr/>
        </p:nvSpPr>
        <p:spPr>
          <a:xfrm>
            <a:off x="804672" y="1441885"/>
            <a:ext cx="2990088" cy="566928"/>
          </a:xfrm>
          <a:prstGeom prst="rect">
            <a:avLst/>
          </a:prstGeom>
          <a:noFill/>
          <a:ln>
            <a:noFill/>
          </a:ln>
        </p:spPr>
        <p:txBody>
          <a:bodyPr spcFirstLastPara="1" wrap="square" lIns="0" tIns="0" rIns="0" bIns="0" anchor="t" anchorCtr="0">
            <a:normAutofit fontScale="92500"/>
          </a:bodyPr>
          <a:lstStyle/>
          <a:p>
            <a:pPr marL="0" marR="0" lvl="0" indent="0" algn="l" rtl="0">
              <a:lnSpc>
                <a:spcPct val="90000"/>
              </a:lnSpc>
              <a:spcBef>
                <a:spcPts val="0"/>
              </a:spcBef>
              <a:spcAft>
                <a:spcPts val="0"/>
              </a:spcAft>
              <a:buClr>
                <a:srgbClr val="0F3D63"/>
              </a:buClr>
              <a:buSzPts val="1921"/>
              <a:buFont typeface="Cambria"/>
              <a:buNone/>
            </a:pPr>
            <a:r>
              <a:rPr lang="rw-RW" sz="2100" b="1" dirty="0">
                <a:solidFill>
                  <a:srgbClr val="0F3D63"/>
                </a:solidFill>
                <a:latin typeface="Cambria"/>
                <a:ea typeface="Cambria"/>
                <a:cs typeface="Cambria"/>
                <a:sym typeface="Cambria"/>
              </a:rPr>
              <a:t>Kanseri itangirira mu turemangingo tw’umubiri</a:t>
            </a:r>
            <a:endParaRPr sz="1922" dirty="0">
              <a:solidFill>
                <a:schemeClr val="dk1"/>
              </a:solidFill>
              <a:latin typeface="Calibri"/>
              <a:ea typeface="Calibri"/>
              <a:cs typeface="Calibri"/>
              <a:sym typeface="Calibri"/>
            </a:endParaRPr>
          </a:p>
        </p:txBody>
      </p:sp>
      <p:sp>
        <p:nvSpPr>
          <p:cNvPr id="365" name="Google Shape;365;p18"/>
          <p:cNvSpPr/>
          <p:nvPr/>
        </p:nvSpPr>
        <p:spPr>
          <a:xfrm>
            <a:off x="804672" y="2081966"/>
            <a:ext cx="2990088" cy="1925258"/>
          </a:xfrm>
          <a:prstGeom prst="rect">
            <a:avLst/>
          </a:prstGeom>
          <a:noFill/>
          <a:ln>
            <a:noFill/>
          </a:ln>
        </p:spPr>
        <p:txBody>
          <a:bodyPr spcFirstLastPara="1" wrap="square" lIns="0" tIns="0" rIns="0" bIns="0" anchor="t" anchorCtr="0">
            <a:normAutofit/>
          </a:bodyPr>
          <a:lstStyle/>
          <a:p>
            <a:pPr marL="0" marR="0" lvl="0" indent="0" algn="l" rtl="0">
              <a:lnSpc>
                <a:spcPct val="95000"/>
              </a:lnSpc>
              <a:spcBef>
                <a:spcPts val="0"/>
              </a:spcBef>
              <a:spcAft>
                <a:spcPts val="0"/>
              </a:spcAft>
              <a:buClr>
                <a:srgbClr val="16334F"/>
              </a:buClr>
              <a:buSzPts val="1458"/>
              <a:buFont typeface="Calibri"/>
              <a:buNone/>
            </a:pPr>
            <a:r>
              <a:rPr lang="rw-RW" sz="1800" dirty="0">
                <a:solidFill>
                  <a:srgbClr val="16334F"/>
                </a:solidFill>
                <a:latin typeface="Calibri"/>
                <a:ea typeface="Calibri"/>
                <a:cs typeface="Calibri"/>
                <a:sym typeface="Calibri"/>
              </a:rPr>
              <a:t>Umubiri ugizwe n'ibice bito bita uturemangingo tw'umubiri. Kanseri itangira igihe uturemangingo tumwe na tumwe dutangira gukura mu buryo budasanzwe kandi butari bwo, ntiduhagarare.</a:t>
            </a:r>
            <a:endParaRPr sz="1458" dirty="0">
              <a:solidFill>
                <a:schemeClr val="dk1"/>
              </a:solidFill>
              <a:latin typeface="Calibri"/>
              <a:ea typeface="Calibri"/>
              <a:cs typeface="Calibri"/>
              <a:sym typeface="Calibri"/>
            </a:endParaRPr>
          </a:p>
        </p:txBody>
      </p:sp>
      <p:sp>
        <p:nvSpPr>
          <p:cNvPr id="366" name="Google Shape;366;p18"/>
          <p:cNvSpPr/>
          <p:nvPr/>
        </p:nvSpPr>
        <p:spPr>
          <a:xfrm>
            <a:off x="4343400" y="1326224"/>
            <a:ext cx="3502152" cy="3949864"/>
          </a:xfrm>
          <a:prstGeom prst="roundRect">
            <a:avLst>
              <a:gd name="adj" fmla="val 48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7" name="Google Shape;367;p18"/>
          <p:cNvSpPr/>
          <p:nvPr/>
        </p:nvSpPr>
        <p:spPr>
          <a:xfrm>
            <a:off x="4599432" y="1441885"/>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79"/>
              <a:buFont typeface="Cambria"/>
              <a:buNone/>
            </a:pPr>
            <a:r>
              <a:rPr lang="rw-RW" sz="2100" b="1">
                <a:solidFill>
                  <a:srgbClr val="0F3D63"/>
                </a:solidFill>
                <a:latin typeface="Cambria"/>
                <a:ea typeface="Cambria"/>
                <a:cs typeface="Cambria"/>
                <a:sym typeface="Cambria"/>
              </a:rPr>
              <a:t>Itangirira mu gifu</a:t>
            </a:r>
            <a:endParaRPr sz="2079">
              <a:solidFill>
                <a:schemeClr val="dk1"/>
              </a:solidFill>
              <a:latin typeface="Calibri"/>
              <a:ea typeface="Calibri"/>
              <a:cs typeface="Calibri"/>
              <a:sym typeface="Calibri"/>
            </a:endParaRPr>
          </a:p>
        </p:txBody>
      </p:sp>
      <p:sp>
        <p:nvSpPr>
          <p:cNvPr id="368" name="Google Shape;368;p18"/>
          <p:cNvSpPr/>
          <p:nvPr/>
        </p:nvSpPr>
        <p:spPr>
          <a:xfrm>
            <a:off x="4599325" y="2008813"/>
            <a:ext cx="2990100" cy="2313175"/>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28"/>
              <a:buFont typeface="Calibri"/>
              <a:buNone/>
            </a:pPr>
            <a:r>
              <a:rPr lang="rw-RW" sz="1800" dirty="0">
                <a:solidFill>
                  <a:srgbClr val="16334F"/>
                </a:solidFill>
                <a:latin typeface="Calibri"/>
                <a:ea typeface="Calibri"/>
                <a:cs typeface="Calibri"/>
                <a:sym typeface="Calibri"/>
              </a:rPr>
              <a:t>Kanseri y'igifu ni kanseri itangirira mu gifu. Igifu ni igice cy’umubiri kimeze nk’ agafuka, gashinzwe kwakira, kubika, no gusya ibyo umuntu yariye.</a:t>
            </a:r>
            <a:endParaRPr sz="1728" dirty="0">
              <a:solidFill>
                <a:schemeClr val="dk1"/>
              </a:solidFill>
              <a:latin typeface="Calibri"/>
              <a:ea typeface="Calibri"/>
              <a:cs typeface="Calibri"/>
              <a:sym typeface="Calibri"/>
            </a:endParaRPr>
          </a:p>
        </p:txBody>
      </p:sp>
      <p:sp>
        <p:nvSpPr>
          <p:cNvPr id="369" name="Google Shape;369;p18"/>
          <p:cNvSpPr/>
          <p:nvPr/>
        </p:nvSpPr>
        <p:spPr>
          <a:xfrm>
            <a:off x="8138160" y="1326224"/>
            <a:ext cx="3502152" cy="3949864"/>
          </a:xfrm>
          <a:prstGeom prst="roundRect">
            <a:avLst>
              <a:gd name="adj" fmla="val 48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0" name="Google Shape;370;p18"/>
          <p:cNvSpPr/>
          <p:nvPr/>
        </p:nvSpPr>
        <p:spPr>
          <a:xfrm>
            <a:off x="8394192" y="1441885"/>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79"/>
              <a:buFont typeface="Cambria"/>
              <a:buNone/>
            </a:pPr>
            <a:r>
              <a:rPr lang="rw-RW" sz="2100" b="1">
                <a:solidFill>
                  <a:srgbClr val="0F3D63"/>
                </a:solidFill>
                <a:latin typeface="Cambria"/>
                <a:ea typeface="Cambria"/>
                <a:cs typeface="Cambria"/>
                <a:sym typeface="Cambria"/>
              </a:rPr>
              <a:t>Ikura buhoro buhoro</a:t>
            </a:r>
            <a:endParaRPr sz="2079">
              <a:solidFill>
                <a:schemeClr val="dk1"/>
              </a:solidFill>
              <a:latin typeface="Calibri"/>
              <a:ea typeface="Calibri"/>
              <a:cs typeface="Calibri"/>
              <a:sym typeface="Calibri"/>
            </a:endParaRPr>
          </a:p>
        </p:txBody>
      </p:sp>
      <p:sp>
        <p:nvSpPr>
          <p:cNvPr id="371" name="Google Shape;371;p18"/>
          <p:cNvSpPr/>
          <p:nvPr/>
        </p:nvSpPr>
        <p:spPr>
          <a:xfrm>
            <a:off x="8394192" y="2081966"/>
            <a:ext cx="2990088" cy="1925258"/>
          </a:xfrm>
          <a:prstGeom prst="rect">
            <a:avLst/>
          </a:prstGeom>
          <a:noFill/>
          <a:ln>
            <a:noFill/>
          </a:ln>
        </p:spPr>
        <p:txBody>
          <a:bodyPr spcFirstLastPara="1" wrap="square" lIns="0" tIns="0" rIns="0" bIns="0" anchor="t" anchorCtr="0">
            <a:normAutofit/>
          </a:bodyPr>
          <a:lstStyle/>
          <a:p>
            <a:pPr marL="0" marR="0" lvl="0" indent="0" algn="l" rtl="0">
              <a:lnSpc>
                <a:spcPct val="95000"/>
              </a:lnSpc>
              <a:spcBef>
                <a:spcPts val="0"/>
              </a:spcBef>
              <a:spcAft>
                <a:spcPts val="0"/>
              </a:spcAft>
              <a:buClr>
                <a:srgbClr val="16334F"/>
              </a:buClr>
              <a:buSzPts val="1593"/>
              <a:buFont typeface="Calibri"/>
              <a:buNone/>
            </a:pPr>
            <a:r>
              <a:rPr lang="rw-RW" sz="1800">
                <a:solidFill>
                  <a:srgbClr val="16334F"/>
                </a:solidFill>
                <a:latin typeface="Calibri"/>
                <a:ea typeface="Calibri"/>
                <a:cs typeface="Calibri"/>
                <a:sym typeface="Calibri"/>
              </a:rPr>
              <a:t>Ku bantu benshi, bifata imyaka myinshi kugira ngo bikure. Niyo mpamvu kumenya ibimenyetso hakiri kare biha umuntu amahitamo menshi yo kwitabwaho.</a:t>
            </a:r>
            <a:endParaRPr sz="1593">
              <a:solidFill>
                <a:schemeClr val="dk1"/>
              </a:solidFill>
              <a:latin typeface="Calibri"/>
              <a:ea typeface="Calibri"/>
              <a:cs typeface="Calibri"/>
              <a:sym typeface="Calibri"/>
            </a:endParaRPr>
          </a:p>
        </p:txBody>
      </p:sp>
      <p:sp>
        <p:nvSpPr>
          <p:cNvPr id="372" name="Google Shape;372;p18"/>
          <p:cNvSpPr/>
          <p:nvPr/>
        </p:nvSpPr>
        <p:spPr>
          <a:xfrm>
            <a:off x="548640" y="5486400"/>
            <a:ext cx="11091672" cy="658368"/>
          </a:xfrm>
          <a:prstGeom prst="roundRect">
            <a:avLst>
              <a:gd name="adj" fmla="val 13889"/>
            </a:avLst>
          </a:prstGeom>
          <a:solidFill>
            <a:srgbClr val="FDF6E3"/>
          </a:solidFill>
          <a:ln w="12700" cap="flat" cmpd="sng">
            <a:solidFill>
              <a:srgbClr val="EFD9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3" name="Google Shape;373;p18"/>
          <p:cNvSpPr/>
          <p:nvPr/>
        </p:nvSpPr>
        <p:spPr>
          <a:xfrm>
            <a:off x="777240" y="5559552"/>
            <a:ext cx="10634472" cy="512064"/>
          </a:xfrm>
          <a:prstGeom prst="rect">
            <a:avLst/>
          </a:prstGeom>
          <a:noFill/>
          <a:ln>
            <a:noFill/>
          </a:ln>
        </p:spPr>
        <p:txBody>
          <a:bodyPr spcFirstLastPara="1" wrap="square" lIns="0" tIns="0" rIns="0" bIns="0" anchor="ctr" anchorCtr="0">
            <a:normAutofit lnSpcReduction="10000"/>
          </a:bodyPr>
          <a:lstStyle/>
          <a:p>
            <a:pPr marL="0" marR="0" lvl="0" indent="0" algn="l" rtl="0">
              <a:spcBef>
                <a:spcPts val="0"/>
              </a:spcBef>
              <a:spcAft>
                <a:spcPts val="0"/>
              </a:spcAft>
              <a:buClr>
                <a:srgbClr val="9C6500"/>
              </a:buClr>
              <a:buSzPts val="1598"/>
              <a:buFont typeface="Calibri"/>
              <a:buNone/>
            </a:pPr>
            <a:r>
              <a:rPr lang="rw-RW" sz="1700">
                <a:solidFill>
                  <a:srgbClr val="9C6500"/>
                </a:solidFill>
                <a:latin typeface="Calibri"/>
                <a:ea typeface="Calibri"/>
                <a:cs typeface="Calibri"/>
                <a:sym typeface="Calibri"/>
              </a:rPr>
              <a:t>💡 Icyitonderwa: Kanseri y'igifu akenshi itera ibibazo bike cyane mu ntangiriro. Ni yo mpamvu ibimenyetso bidashira, bigomba kwisuzumwa.</a:t>
            </a:r>
            <a:endParaRPr sz="1598">
              <a:solidFill>
                <a:schemeClr val="dk1"/>
              </a:solidFill>
              <a:latin typeface="Calibri"/>
              <a:ea typeface="Calibri"/>
              <a:cs typeface="Calibri"/>
              <a:sym typeface="Calibri"/>
            </a:endParaRPr>
          </a:p>
        </p:txBody>
      </p:sp>
      <p:pic>
        <p:nvPicPr>
          <p:cNvPr id="374" name="Google Shape;374;p18"/>
          <p:cNvPicPr preferRelativeResize="0"/>
          <p:nvPr/>
        </p:nvPicPr>
        <p:blipFill rotWithShape="1">
          <a:blip r:embed="rId3">
            <a:alphaModFix/>
          </a:blip>
          <a:srcRect t="29647" b="23530"/>
          <a:stretch/>
        </p:blipFill>
        <p:spPr>
          <a:xfrm>
            <a:off x="777240" y="4126199"/>
            <a:ext cx="2990088" cy="933376"/>
          </a:xfrm>
          <a:prstGeom prst="rect">
            <a:avLst/>
          </a:prstGeom>
          <a:noFill/>
          <a:ln>
            <a:noFill/>
          </a:ln>
        </p:spPr>
      </p:pic>
      <p:pic>
        <p:nvPicPr>
          <p:cNvPr id="375" name="Google Shape;375;p18"/>
          <p:cNvPicPr preferRelativeResize="0"/>
          <p:nvPr/>
        </p:nvPicPr>
        <p:blipFill rotWithShape="1">
          <a:blip r:embed="rId4">
            <a:alphaModFix/>
          </a:blip>
          <a:srcRect/>
          <a:stretch/>
        </p:blipFill>
        <p:spPr>
          <a:xfrm>
            <a:off x="4924044" y="3784896"/>
            <a:ext cx="2023872" cy="1349248"/>
          </a:xfrm>
          <a:prstGeom prst="rect">
            <a:avLst/>
          </a:prstGeom>
          <a:noFill/>
          <a:ln>
            <a:noFill/>
          </a:ln>
        </p:spPr>
      </p:pic>
      <p:pic>
        <p:nvPicPr>
          <p:cNvPr id="376" name="Google Shape;376;p18"/>
          <p:cNvPicPr preferRelativeResize="0"/>
          <p:nvPr/>
        </p:nvPicPr>
        <p:blipFill rotWithShape="1">
          <a:blip r:embed="rId5">
            <a:alphaModFix/>
          </a:blip>
          <a:srcRect b="52056"/>
          <a:stretch/>
        </p:blipFill>
        <p:spPr>
          <a:xfrm>
            <a:off x="8228658" y="3908027"/>
            <a:ext cx="3321155" cy="115154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1"/>
        <p:cNvGrpSpPr/>
        <p:nvPr/>
      </p:nvGrpSpPr>
      <p:grpSpPr>
        <a:xfrm>
          <a:off x="0" y="0"/>
          <a:ext cx="0" cy="0"/>
          <a:chOff x="0" y="0"/>
          <a:chExt cx="0" cy="0"/>
        </a:xfrm>
      </p:grpSpPr>
      <p:sp>
        <p:nvSpPr>
          <p:cNvPr id="382" name="Google Shape;382;p19"/>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IGICE CYA MBERE</a:t>
            </a:r>
            <a:endParaRPr lang="rw-RW" sz="1100" dirty="0">
              <a:solidFill>
                <a:schemeClr val="dk1"/>
              </a:solidFill>
              <a:latin typeface="Calibri"/>
              <a:ea typeface="Calibri"/>
              <a:cs typeface="Calibri"/>
              <a:sym typeface="Calibri"/>
            </a:endParaRPr>
          </a:p>
        </p:txBody>
      </p:sp>
      <p:sp>
        <p:nvSpPr>
          <p:cNvPr id="383" name="Google Shape;383;p19"/>
          <p:cNvSpPr/>
          <p:nvPr/>
        </p:nvSpPr>
        <p:spPr>
          <a:xfrm>
            <a:off x="548640" y="685800"/>
            <a:ext cx="11064240" cy="558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Aho igifu giherereye</a:t>
            </a:r>
            <a:endParaRPr sz="3400">
              <a:solidFill>
                <a:schemeClr val="dk1"/>
              </a:solidFill>
              <a:latin typeface="Calibri"/>
              <a:ea typeface="Calibri"/>
              <a:cs typeface="Calibri"/>
              <a:sym typeface="Calibri"/>
            </a:endParaRPr>
          </a:p>
        </p:txBody>
      </p:sp>
      <p:sp>
        <p:nvSpPr>
          <p:cNvPr id="384" name="Google Shape;384;p19"/>
          <p:cNvSpPr/>
          <p:nvPr/>
        </p:nvSpPr>
        <p:spPr>
          <a:xfrm>
            <a:off x="548640" y="1371600"/>
            <a:ext cx="110642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i="1">
                <a:solidFill>
                  <a:srgbClr val="16334F"/>
                </a:solidFill>
                <a:latin typeface="Calibri"/>
                <a:ea typeface="Calibri"/>
                <a:cs typeface="Calibri"/>
                <a:sym typeface="Calibri"/>
              </a:rPr>
              <a:t>Hitamo buri gice kiri ku ifoto kugira ngo umenye icyo icyo gikora.</a:t>
            </a:r>
            <a:endParaRPr sz="1800">
              <a:solidFill>
                <a:schemeClr val="dk1"/>
              </a:solidFill>
              <a:latin typeface="Calibri"/>
              <a:ea typeface="Calibri"/>
              <a:cs typeface="Calibri"/>
              <a:sym typeface="Calibri"/>
            </a:endParaRPr>
          </a:p>
        </p:txBody>
      </p:sp>
      <p:sp>
        <p:nvSpPr>
          <p:cNvPr id="385" name="Google Shape;385;p19"/>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386" name="Google Shape;386;p19"/>
          <p:cNvSpPr/>
          <p:nvPr/>
        </p:nvSpPr>
        <p:spPr>
          <a:xfrm>
            <a:off x="548640" y="1874520"/>
            <a:ext cx="5486400" cy="1234440"/>
          </a:xfrm>
          <a:prstGeom prst="roundRect">
            <a:avLst>
              <a:gd name="adj" fmla="val 7407"/>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7" name="Google Shape;387;p19"/>
          <p:cNvSpPr/>
          <p:nvPr/>
        </p:nvSpPr>
        <p:spPr>
          <a:xfrm>
            <a:off x="804672" y="2002536"/>
            <a:ext cx="5029200" cy="329184"/>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0F3D63"/>
              </a:buClr>
              <a:buSzPts val="2058"/>
              <a:buFont typeface="Cambria"/>
              <a:buNone/>
            </a:pPr>
            <a:r>
              <a:rPr lang="rw-RW" sz="2100" b="1">
                <a:solidFill>
                  <a:srgbClr val="0F3D63"/>
                </a:solidFill>
                <a:latin typeface="Cambria"/>
                <a:ea typeface="Cambria"/>
                <a:cs typeface="Cambria"/>
                <a:sym typeface="Cambria"/>
              </a:rPr>
              <a:t>Umuyoboro w'ibiryo</a:t>
            </a:r>
            <a:endParaRPr sz="2058">
              <a:solidFill>
                <a:schemeClr val="dk1"/>
              </a:solidFill>
              <a:latin typeface="Calibri"/>
              <a:ea typeface="Calibri"/>
              <a:cs typeface="Calibri"/>
              <a:sym typeface="Calibri"/>
            </a:endParaRPr>
          </a:p>
        </p:txBody>
      </p:sp>
      <p:sp>
        <p:nvSpPr>
          <p:cNvPr id="388" name="Google Shape;388;p19"/>
          <p:cNvSpPr/>
          <p:nvPr/>
        </p:nvSpPr>
        <p:spPr>
          <a:xfrm>
            <a:off x="804672" y="2377440"/>
            <a:ext cx="5029200" cy="640080"/>
          </a:xfrm>
          <a:prstGeom prst="rect">
            <a:avLst/>
          </a:prstGeom>
          <a:noFill/>
          <a:ln>
            <a:noFill/>
          </a:ln>
        </p:spPr>
        <p:txBody>
          <a:bodyPr spcFirstLastPara="1" wrap="square" lIns="0" tIns="0" rIns="0" bIns="0" anchor="t" anchorCtr="0">
            <a:noAutofit/>
          </a:bodyPr>
          <a:lstStyle/>
          <a:p>
            <a:pPr marL="0" marR="0" lvl="0" indent="0" algn="l" rtl="0">
              <a:lnSpc>
                <a:spcPct val="103000"/>
              </a:lnSpc>
              <a:spcBef>
                <a:spcPts val="0"/>
              </a:spcBef>
              <a:spcAft>
                <a:spcPts val="0"/>
              </a:spcAft>
              <a:buClr>
                <a:srgbClr val="16334F"/>
              </a:buClr>
              <a:buSzPts val="1800"/>
              <a:buFont typeface="Calibri"/>
              <a:buNone/>
            </a:pPr>
            <a:r>
              <a:rPr lang="rw-RW" sz="1800">
                <a:solidFill>
                  <a:srgbClr val="16334F"/>
                </a:solidFill>
                <a:latin typeface="Calibri"/>
                <a:ea typeface="Calibri"/>
                <a:cs typeface="Calibri"/>
                <a:sym typeface="Calibri"/>
              </a:rPr>
              <a:t>Ufasha Ibiryo kuva mu kanwa bijya mu gifu.</a:t>
            </a:r>
            <a:endParaRPr sz="1800">
              <a:solidFill>
                <a:schemeClr val="dk1"/>
              </a:solidFill>
              <a:latin typeface="Calibri"/>
              <a:ea typeface="Calibri"/>
              <a:cs typeface="Calibri"/>
              <a:sym typeface="Calibri"/>
            </a:endParaRPr>
          </a:p>
        </p:txBody>
      </p:sp>
      <p:sp>
        <p:nvSpPr>
          <p:cNvPr id="389" name="Google Shape;389;p19"/>
          <p:cNvSpPr/>
          <p:nvPr/>
        </p:nvSpPr>
        <p:spPr>
          <a:xfrm>
            <a:off x="548640" y="3246120"/>
            <a:ext cx="5486400" cy="1234440"/>
          </a:xfrm>
          <a:prstGeom prst="roundRect">
            <a:avLst>
              <a:gd name="adj" fmla="val 7407"/>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0" name="Google Shape;390;p19"/>
          <p:cNvSpPr/>
          <p:nvPr/>
        </p:nvSpPr>
        <p:spPr>
          <a:xfrm>
            <a:off x="804672" y="3374136"/>
            <a:ext cx="5029200" cy="329184"/>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0F3D63"/>
              </a:buClr>
              <a:buSzPts val="2058"/>
              <a:buFont typeface="Cambria"/>
              <a:buNone/>
            </a:pPr>
            <a:r>
              <a:rPr lang="rw-RW" sz="2100" b="1">
                <a:solidFill>
                  <a:srgbClr val="0F3D63"/>
                </a:solidFill>
                <a:latin typeface="Cambria"/>
                <a:ea typeface="Cambria"/>
                <a:cs typeface="Cambria"/>
                <a:sym typeface="Cambria"/>
              </a:rPr>
              <a:t>Igifu</a:t>
            </a:r>
            <a:endParaRPr sz="2058">
              <a:solidFill>
                <a:schemeClr val="dk1"/>
              </a:solidFill>
              <a:latin typeface="Calibri"/>
              <a:ea typeface="Calibri"/>
              <a:cs typeface="Calibri"/>
              <a:sym typeface="Calibri"/>
            </a:endParaRPr>
          </a:p>
        </p:txBody>
      </p:sp>
      <p:sp>
        <p:nvSpPr>
          <p:cNvPr id="391" name="Google Shape;391;p19"/>
          <p:cNvSpPr/>
          <p:nvPr/>
        </p:nvSpPr>
        <p:spPr>
          <a:xfrm>
            <a:off x="804672" y="3749040"/>
            <a:ext cx="5029200" cy="640080"/>
          </a:xfrm>
          <a:prstGeom prst="rect">
            <a:avLst/>
          </a:prstGeom>
          <a:noFill/>
          <a:ln>
            <a:noFill/>
          </a:ln>
        </p:spPr>
        <p:txBody>
          <a:bodyPr spcFirstLastPara="1" wrap="square" lIns="0" tIns="0" rIns="0" bIns="0" anchor="t" anchorCtr="0">
            <a:noAutofit/>
          </a:bodyPr>
          <a:lstStyle/>
          <a:p>
            <a:pPr marL="0" marR="0" lvl="0" indent="0" algn="l" rtl="0">
              <a:lnSpc>
                <a:spcPct val="103000"/>
              </a:lnSpc>
              <a:spcBef>
                <a:spcPts val="0"/>
              </a:spcBef>
              <a:spcAft>
                <a:spcPts val="0"/>
              </a:spcAft>
              <a:buClr>
                <a:srgbClr val="16334F"/>
              </a:buClr>
              <a:buSzPts val="1800"/>
              <a:buFont typeface="Calibri"/>
              <a:buNone/>
            </a:pPr>
            <a:r>
              <a:rPr lang="rw-RW" sz="1800">
                <a:solidFill>
                  <a:srgbClr val="16334F"/>
                </a:solidFill>
                <a:latin typeface="Calibri"/>
                <a:ea typeface="Calibri"/>
                <a:cs typeface="Calibri"/>
                <a:sym typeface="Calibri"/>
              </a:rPr>
              <a:t>Igifu ni igice kimeze nk’agafuka giherereye mu gice cyo hejuru cy'inda. Kibika ibiryo kandi kikanabisya.</a:t>
            </a:r>
            <a:endParaRPr sz="1800">
              <a:solidFill>
                <a:schemeClr val="dk1"/>
              </a:solidFill>
              <a:latin typeface="Calibri"/>
              <a:ea typeface="Calibri"/>
              <a:cs typeface="Calibri"/>
              <a:sym typeface="Calibri"/>
            </a:endParaRPr>
          </a:p>
        </p:txBody>
      </p:sp>
      <p:sp>
        <p:nvSpPr>
          <p:cNvPr id="392" name="Google Shape;392;p19"/>
          <p:cNvSpPr/>
          <p:nvPr/>
        </p:nvSpPr>
        <p:spPr>
          <a:xfrm>
            <a:off x="548640" y="4617720"/>
            <a:ext cx="5486400" cy="1234440"/>
          </a:xfrm>
          <a:prstGeom prst="roundRect">
            <a:avLst>
              <a:gd name="adj" fmla="val 7407"/>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3" name="Google Shape;393;p19"/>
          <p:cNvSpPr/>
          <p:nvPr/>
        </p:nvSpPr>
        <p:spPr>
          <a:xfrm>
            <a:off x="804672" y="4745736"/>
            <a:ext cx="5029200" cy="329184"/>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0F3D63"/>
              </a:buClr>
              <a:buSzPts val="2058"/>
              <a:buFont typeface="Cambria"/>
              <a:buNone/>
            </a:pPr>
            <a:r>
              <a:rPr lang="rw-RW" sz="2100" b="1">
                <a:solidFill>
                  <a:srgbClr val="0F3D63"/>
                </a:solidFill>
                <a:latin typeface="Cambria"/>
                <a:ea typeface="Cambria"/>
                <a:cs typeface="Cambria"/>
                <a:sym typeface="Cambria"/>
              </a:rPr>
              <a:t>Amara</a:t>
            </a:r>
            <a:endParaRPr sz="2058">
              <a:solidFill>
                <a:schemeClr val="dk1"/>
              </a:solidFill>
              <a:latin typeface="Calibri"/>
              <a:ea typeface="Calibri"/>
              <a:cs typeface="Calibri"/>
              <a:sym typeface="Calibri"/>
            </a:endParaRPr>
          </a:p>
        </p:txBody>
      </p:sp>
      <p:sp>
        <p:nvSpPr>
          <p:cNvPr id="394" name="Google Shape;394;p19"/>
          <p:cNvSpPr/>
          <p:nvPr/>
        </p:nvSpPr>
        <p:spPr>
          <a:xfrm>
            <a:off x="804672" y="5120640"/>
            <a:ext cx="5029200" cy="640080"/>
          </a:xfrm>
          <a:prstGeom prst="rect">
            <a:avLst/>
          </a:prstGeom>
          <a:noFill/>
          <a:ln>
            <a:noFill/>
          </a:ln>
        </p:spPr>
        <p:txBody>
          <a:bodyPr spcFirstLastPara="1" wrap="square" lIns="0" tIns="0" rIns="0" bIns="0" anchor="t" anchorCtr="0">
            <a:noAutofit/>
          </a:bodyPr>
          <a:lstStyle/>
          <a:p>
            <a:pPr marL="0" marR="0" lvl="0" indent="0" algn="l" rtl="0">
              <a:lnSpc>
                <a:spcPct val="103000"/>
              </a:lnSpc>
              <a:spcBef>
                <a:spcPts val="0"/>
              </a:spcBef>
              <a:spcAft>
                <a:spcPts val="0"/>
              </a:spcAft>
              <a:buClr>
                <a:srgbClr val="16334F"/>
              </a:buClr>
              <a:buSzPts val="1800"/>
              <a:buFont typeface="Calibri"/>
              <a:buNone/>
            </a:pPr>
            <a:r>
              <a:rPr lang="rw-RW" sz="1800">
                <a:solidFill>
                  <a:srgbClr val="16334F"/>
                </a:solidFill>
                <a:latin typeface="Calibri"/>
                <a:ea typeface="Calibri"/>
                <a:cs typeface="Calibri"/>
                <a:sym typeface="Calibri"/>
              </a:rPr>
              <a:t>Ibiryo bivuye mu gifu bikomereza hano, aho umubiri ugenda ufatamo ibyo ukeneye.</a:t>
            </a:r>
            <a:endParaRPr sz="1800">
              <a:solidFill>
                <a:schemeClr val="dk1"/>
              </a:solidFill>
              <a:latin typeface="Calibri"/>
              <a:ea typeface="Calibri"/>
              <a:cs typeface="Calibri"/>
              <a:sym typeface="Calibri"/>
            </a:endParaRPr>
          </a:p>
        </p:txBody>
      </p:sp>
      <p:pic>
        <p:nvPicPr>
          <p:cNvPr id="395" name="Google Shape;395;p19"/>
          <p:cNvPicPr preferRelativeResize="0"/>
          <p:nvPr/>
        </p:nvPicPr>
        <p:blipFill rotWithShape="1">
          <a:blip r:embed="rId3">
            <a:alphaModFix/>
          </a:blip>
          <a:srcRect/>
          <a:stretch/>
        </p:blipFill>
        <p:spPr>
          <a:xfrm>
            <a:off x="6156962" y="1866648"/>
            <a:ext cx="5858628" cy="423697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0"/>
        <p:cNvGrpSpPr/>
        <p:nvPr/>
      </p:nvGrpSpPr>
      <p:grpSpPr>
        <a:xfrm>
          <a:off x="0" y="0"/>
          <a:ext cx="0" cy="0"/>
          <a:chOff x="0" y="0"/>
          <a:chExt cx="0" cy="0"/>
        </a:xfrm>
      </p:grpSpPr>
      <p:sp>
        <p:nvSpPr>
          <p:cNvPr id="401" name="Google Shape;401;p20"/>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IGICE CYA MBERE</a:t>
            </a:r>
            <a:endParaRPr lang="rw-RW" sz="1100" dirty="0">
              <a:solidFill>
                <a:schemeClr val="dk1"/>
              </a:solidFill>
              <a:latin typeface="Calibri"/>
              <a:ea typeface="Calibri"/>
              <a:cs typeface="Calibri"/>
              <a:sym typeface="Calibri"/>
            </a:endParaRPr>
          </a:p>
        </p:txBody>
      </p:sp>
      <p:sp>
        <p:nvSpPr>
          <p:cNvPr id="402" name="Google Shape;402;p20"/>
          <p:cNvSpPr/>
          <p:nvPr/>
        </p:nvSpPr>
        <p:spPr>
          <a:xfrm>
            <a:off x="548640" y="685800"/>
            <a:ext cx="11064240" cy="433526"/>
          </a:xfrm>
          <a:prstGeom prst="rect">
            <a:avLst/>
          </a:prstGeom>
          <a:noFill/>
          <a:ln>
            <a:noFill/>
          </a:ln>
        </p:spPr>
        <p:txBody>
          <a:bodyPr spcFirstLastPara="1" wrap="square" lIns="0" tIns="0" rIns="0" bIns="0" anchor="t" anchorCtr="0">
            <a:normAutofit lnSpcReduction="10000"/>
          </a:bodyPr>
          <a:lstStyle/>
          <a:p>
            <a:pPr marL="0" marR="0" lvl="0" indent="0" algn="l" rtl="0">
              <a:lnSpc>
                <a:spcPct val="90000"/>
              </a:lnSpc>
              <a:spcBef>
                <a:spcPts val="0"/>
              </a:spcBef>
              <a:spcAft>
                <a:spcPts val="0"/>
              </a:spcAft>
              <a:buClr>
                <a:srgbClr val="0F3D63"/>
              </a:buClr>
              <a:buSzPts val="2941"/>
              <a:buFont typeface="Cambria"/>
              <a:buNone/>
            </a:pPr>
            <a:r>
              <a:rPr lang="rw-RW" sz="3400" b="1">
                <a:solidFill>
                  <a:srgbClr val="0F3D63"/>
                </a:solidFill>
                <a:latin typeface="Cambria"/>
                <a:ea typeface="Cambria"/>
                <a:cs typeface="Cambria"/>
                <a:sym typeface="Cambria"/>
              </a:rPr>
              <a:t>Uko kanseri y'igifu itangira</a:t>
            </a:r>
            <a:endParaRPr sz="2941">
              <a:solidFill>
                <a:schemeClr val="dk1"/>
              </a:solidFill>
              <a:latin typeface="Calibri"/>
              <a:ea typeface="Calibri"/>
              <a:cs typeface="Calibri"/>
              <a:sym typeface="Calibri"/>
            </a:endParaRPr>
          </a:p>
        </p:txBody>
      </p:sp>
      <p:sp>
        <p:nvSpPr>
          <p:cNvPr id="403" name="Google Shape;403;p20"/>
          <p:cNvSpPr/>
          <p:nvPr/>
        </p:nvSpPr>
        <p:spPr>
          <a:xfrm>
            <a:off x="548640" y="1089176"/>
            <a:ext cx="110642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600" i="1" dirty="0">
                <a:solidFill>
                  <a:srgbClr val="16334F"/>
                </a:solidFill>
                <a:latin typeface="Calibri"/>
                <a:ea typeface="Calibri"/>
                <a:cs typeface="Calibri"/>
                <a:sym typeface="Calibri"/>
              </a:rPr>
              <a:t>Hitamo buri shusho kugira ngo ubone ibirimo. Abantu benshi ntibagera ku ntambwe ya nyuma.</a:t>
            </a:r>
            <a:endParaRPr sz="1600" dirty="0">
              <a:solidFill>
                <a:schemeClr val="dk1"/>
              </a:solidFill>
              <a:latin typeface="Calibri"/>
              <a:ea typeface="Calibri"/>
              <a:cs typeface="Calibri"/>
              <a:sym typeface="Calibri"/>
            </a:endParaRPr>
          </a:p>
        </p:txBody>
      </p:sp>
      <p:sp>
        <p:nvSpPr>
          <p:cNvPr id="404" name="Google Shape;404;p20"/>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405" name="Google Shape;405;p20"/>
          <p:cNvSpPr/>
          <p:nvPr/>
        </p:nvSpPr>
        <p:spPr>
          <a:xfrm>
            <a:off x="548640" y="1522702"/>
            <a:ext cx="3361944" cy="3963698"/>
          </a:xfrm>
          <a:prstGeom prst="roundRect">
            <a:avLst>
              <a:gd name="adj" fmla="val 40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6" name="Google Shape;406;p20"/>
          <p:cNvSpPr/>
          <p:nvPr/>
        </p:nvSpPr>
        <p:spPr>
          <a:xfrm>
            <a:off x="804672" y="1615056"/>
            <a:ext cx="2849880" cy="731520"/>
          </a:xfrm>
          <a:prstGeom prst="rect">
            <a:avLst/>
          </a:prstGeom>
          <a:noFill/>
          <a:ln>
            <a:noFill/>
          </a:ln>
        </p:spPr>
        <p:txBody>
          <a:bodyPr spcFirstLastPara="1" wrap="square" lIns="0" tIns="0" rIns="0" bIns="0" anchor="t" anchorCtr="0">
            <a:normAutofit lnSpcReduction="10000"/>
          </a:bodyPr>
          <a:lstStyle/>
          <a:p>
            <a:pPr marL="0" marR="0" lvl="0" indent="0" algn="l" rtl="0">
              <a:lnSpc>
                <a:spcPct val="90000"/>
              </a:lnSpc>
              <a:spcBef>
                <a:spcPts val="0"/>
              </a:spcBef>
              <a:spcAft>
                <a:spcPts val="0"/>
              </a:spcAft>
              <a:buClr>
                <a:srgbClr val="0F3D63"/>
              </a:buClr>
              <a:buSzPts val="1662"/>
              <a:buFont typeface="Cambria"/>
              <a:buNone/>
            </a:pPr>
            <a:r>
              <a:rPr lang="rw-RW" sz="1900" b="1" dirty="0">
                <a:solidFill>
                  <a:srgbClr val="0F3D63"/>
                </a:solidFill>
                <a:latin typeface="Cambria"/>
                <a:ea typeface="Cambria"/>
                <a:cs typeface="Cambria"/>
                <a:sym typeface="Cambria"/>
              </a:rPr>
              <a:t>Urukuta rw'imbere mu gifu rumara igihe kirekire rwarangiritse</a:t>
            </a:r>
            <a:endParaRPr sz="1663" dirty="0">
              <a:solidFill>
                <a:schemeClr val="dk1"/>
              </a:solidFill>
              <a:latin typeface="Calibri"/>
              <a:ea typeface="Calibri"/>
              <a:cs typeface="Calibri"/>
              <a:sym typeface="Calibri"/>
            </a:endParaRPr>
          </a:p>
        </p:txBody>
      </p:sp>
      <p:sp>
        <p:nvSpPr>
          <p:cNvPr id="407" name="Google Shape;407;p20"/>
          <p:cNvSpPr/>
          <p:nvPr/>
        </p:nvSpPr>
        <p:spPr>
          <a:xfrm>
            <a:off x="804672" y="2501379"/>
            <a:ext cx="2849880" cy="825370"/>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16334F"/>
              </a:buClr>
              <a:buSzPts val="1572"/>
              <a:buFont typeface="Calibri"/>
              <a:buNone/>
            </a:pPr>
            <a:r>
              <a:rPr lang="rw-RW" sz="1800" dirty="0">
                <a:solidFill>
                  <a:srgbClr val="16334F"/>
                </a:solidFill>
                <a:latin typeface="Calibri"/>
                <a:ea typeface="Calibri"/>
                <a:cs typeface="Calibri"/>
                <a:sym typeface="Calibri"/>
              </a:rPr>
              <a:t>Udukoko twa mikorobe, umwotsi w'itabi, cyangwa izindi mpamvu zituma imbere mu gifu hababara imyaka myinshi.</a:t>
            </a:r>
            <a:endParaRPr sz="1800" dirty="0">
              <a:solidFill>
                <a:schemeClr val="dk1"/>
              </a:solidFill>
              <a:latin typeface="Calibri"/>
              <a:ea typeface="Calibri"/>
              <a:cs typeface="Calibri"/>
              <a:sym typeface="Calibri"/>
            </a:endParaRPr>
          </a:p>
        </p:txBody>
      </p:sp>
      <p:sp>
        <p:nvSpPr>
          <p:cNvPr id="408" name="Google Shape;408;p20"/>
          <p:cNvSpPr/>
          <p:nvPr/>
        </p:nvSpPr>
        <p:spPr>
          <a:xfrm>
            <a:off x="3956304" y="1886148"/>
            <a:ext cx="411480" cy="4572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2272B8"/>
              </a:buClr>
              <a:buSzPts val="2483"/>
              <a:buFont typeface="Calibri"/>
              <a:buNone/>
            </a:pPr>
            <a:r>
              <a:rPr lang="rw-RW" sz="2600">
                <a:solidFill>
                  <a:srgbClr val="2272B8"/>
                </a:solidFill>
                <a:latin typeface="Calibri"/>
                <a:ea typeface="Calibri"/>
                <a:cs typeface="Calibri"/>
                <a:sym typeface="Calibri"/>
              </a:rPr>
              <a:t>→</a:t>
            </a:r>
            <a:endParaRPr sz="2483">
              <a:solidFill>
                <a:schemeClr val="dk1"/>
              </a:solidFill>
              <a:latin typeface="Calibri"/>
              <a:ea typeface="Calibri"/>
              <a:cs typeface="Calibri"/>
              <a:sym typeface="Calibri"/>
            </a:endParaRPr>
          </a:p>
        </p:txBody>
      </p:sp>
      <p:sp>
        <p:nvSpPr>
          <p:cNvPr id="409" name="Google Shape;409;p20"/>
          <p:cNvSpPr/>
          <p:nvPr/>
        </p:nvSpPr>
        <p:spPr>
          <a:xfrm>
            <a:off x="4413504" y="1522702"/>
            <a:ext cx="3361944" cy="3963698"/>
          </a:xfrm>
          <a:prstGeom prst="roundRect">
            <a:avLst>
              <a:gd name="adj" fmla="val 40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0" name="Google Shape;410;p20"/>
          <p:cNvSpPr/>
          <p:nvPr/>
        </p:nvSpPr>
        <p:spPr>
          <a:xfrm>
            <a:off x="4669536" y="1615056"/>
            <a:ext cx="2849880" cy="731520"/>
          </a:xfrm>
          <a:prstGeom prst="rect">
            <a:avLst/>
          </a:prstGeom>
          <a:noFill/>
          <a:ln>
            <a:noFill/>
          </a:ln>
        </p:spPr>
        <p:txBody>
          <a:bodyPr spcFirstLastPara="1" wrap="square" lIns="0" tIns="0" rIns="0" bIns="0" anchor="t" anchorCtr="0">
            <a:normAutofit lnSpcReduction="10000"/>
          </a:bodyPr>
          <a:lstStyle/>
          <a:p>
            <a:pPr marL="0" marR="0" lvl="0" indent="0" algn="l" rtl="0">
              <a:lnSpc>
                <a:spcPct val="90000"/>
              </a:lnSpc>
              <a:spcBef>
                <a:spcPts val="0"/>
              </a:spcBef>
              <a:spcAft>
                <a:spcPts val="0"/>
              </a:spcAft>
              <a:buClr>
                <a:srgbClr val="0F3D63"/>
              </a:buClr>
              <a:buSzPts val="1662"/>
              <a:buFont typeface="Cambria"/>
              <a:buNone/>
            </a:pPr>
            <a:r>
              <a:rPr lang="rw-RW" sz="1900" b="1">
                <a:solidFill>
                  <a:srgbClr val="0F3D63"/>
                </a:solidFill>
                <a:latin typeface="Cambria"/>
                <a:ea typeface="Cambria"/>
                <a:cs typeface="Cambria"/>
                <a:sym typeface="Cambria"/>
              </a:rPr>
              <a:t>Urukuta rw'imbere mu gifu rugenda ruhinduka buhoro buhoro</a:t>
            </a:r>
            <a:endParaRPr sz="1663">
              <a:solidFill>
                <a:schemeClr val="dk1"/>
              </a:solidFill>
              <a:latin typeface="Calibri"/>
              <a:ea typeface="Calibri"/>
              <a:cs typeface="Calibri"/>
              <a:sym typeface="Calibri"/>
            </a:endParaRPr>
          </a:p>
        </p:txBody>
      </p:sp>
      <p:sp>
        <p:nvSpPr>
          <p:cNvPr id="411" name="Google Shape;411;p20"/>
          <p:cNvSpPr/>
          <p:nvPr/>
        </p:nvSpPr>
        <p:spPr>
          <a:xfrm>
            <a:off x="4669536" y="2501379"/>
            <a:ext cx="2849880" cy="786563"/>
          </a:xfrm>
          <a:prstGeom prst="rect">
            <a:avLst/>
          </a:prstGeom>
          <a:noFill/>
          <a:ln>
            <a:noFill/>
          </a:ln>
        </p:spPr>
        <p:txBody>
          <a:bodyPr spcFirstLastPara="1" wrap="square" lIns="0" tIns="0" rIns="0" bIns="0" anchor="t" anchorCtr="0">
            <a:noAutofit/>
          </a:bodyPr>
          <a:lstStyle/>
          <a:p>
            <a:pPr marL="0" marR="0" lvl="0" indent="0" algn="l" rtl="0">
              <a:lnSpc>
                <a:spcPct val="83000"/>
              </a:lnSpc>
              <a:spcBef>
                <a:spcPts val="0"/>
              </a:spcBef>
              <a:spcAft>
                <a:spcPts val="0"/>
              </a:spcAft>
              <a:buClr>
                <a:srgbClr val="16334F"/>
              </a:buClr>
              <a:buSzPts val="1445"/>
              <a:buFont typeface="Calibri"/>
              <a:buNone/>
            </a:pPr>
            <a:r>
              <a:rPr lang="rw-RW" sz="1800" dirty="0">
                <a:solidFill>
                  <a:srgbClr val="16334F"/>
                </a:solidFill>
                <a:latin typeface="Calibri"/>
                <a:ea typeface="Calibri"/>
                <a:cs typeface="Calibri"/>
                <a:sym typeface="Calibri"/>
              </a:rPr>
              <a:t>Nyuma y'imyaka myinshi, uruhu rushobora gutangira guhinduka. Abantu benshi bahagararira hano, ntibigere ku ndwara ya kanseri.</a:t>
            </a:r>
            <a:endParaRPr sz="1800" dirty="0">
              <a:solidFill>
                <a:schemeClr val="dk1"/>
              </a:solidFill>
              <a:latin typeface="Calibri"/>
              <a:ea typeface="Calibri"/>
              <a:cs typeface="Calibri"/>
              <a:sym typeface="Calibri"/>
            </a:endParaRPr>
          </a:p>
        </p:txBody>
      </p:sp>
      <p:sp>
        <p:nvSpPr>
          <p:cNvPr id="412" name="Google Shape;412;p20"/>
          <p:cNvSpPr/>
          <p:nvPr/>
        </p:nvSpPr>
        <p:spPr>
          <a:xfrm>
            <a:off x="7821168" y="1886148"/>
            <a:ext cx="411480" cy="4572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2272B8"/>
              </a:buClr>
              <a:buSzPts val="2483"/>
              <a:buFont typeface="Calibri"/>
              <a:buNone/>
            </a:pPr>
            <a:r>
              <a:rPr lang="rw-RW" sz="2600">
                <a:solidFill>
                  <a:srgbClr val="2272B8"/>
                </a:solidFill>
                <a:latin typeface="Calibri"/>
                <a:ea typeface="Calibri"/>
                <a:cs typeface="Calibri"/>
                <a:sym typeface="Calibri"/>
              </a:rPr>
              <a:t>→</a:t>
            </a:r>
            <a:endParaRPr sz="2483">
              <a:solidFill>
                <a:schemeClr val="dk1"/>
              </a:solidFill>
              <a:latin typeface="Calibri"/>
              <a:ea typeface="Calibri"/>
              <a:cs typeface="Calibri"/>
              <a:sym typeface="Calibri"/>
            </a:endParaRPr>
          </a:p>
        </p:txBody>
      </p:sp>
      <p:sp>
        <p:nvSpPr>
          <p:cNvPr id="413" name="Google Shape;413;p20"/>
          <p:cNvSpPr/>
          <p:nvPr/>
        </p:nvSpPr>
        <p:spPr>
          <a:xfrm>
            <a:off x="8278368" y="1522702"/>
            <a:ext cx="3361944" cy="3963698"/>
          </a:xfrm>
          <a:prstGeom prst="roundRect">
            <a:avLst>
              <a:gd name="adj" fmla="val 40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4" name="Google Shape;414;p20"/>
          <p:cNvSpPr/>
          <p:nvPr/>
        </p:nvSpPr>
        <p:spPr>
          <a:xfrm>
            <a:off x="8379300" y="1615061"/>
            <a:ext cx="3032400" cy="999300"/>
          </a:xfrm>
          <a:prstGeom prst="rect">
            <a:avLst/>
          </a:prstGeom>
          <a:noFill/>
          <a:ln>
            <a:noFill/>
          </a:ln>
        </p:spPr>
        <p:txBody>
          <a:bodyPr spcFirstLastPara="1" wrap="square" lIns="0" tIns="0" rIns="0" bIns="0" anchor="t" anchorCtr="0">
            <a:normAutofit lnSpcReduction="10000"/>
          </a:bodyPr>
          <a:lstStyle/>
          <a:p>
            <a:pPr marL="0" marR="0" lvl="0" indent="0" algn="l" rtl="0">
              <a:lnSpc>
                <a:spcPct val="90000"/>
              </a:lnSpc>
              <a:spcBef>
                <a:spcPts val="0"/>
              </a:spcBef>
              <a:spcAft>
                <a:spcPts val="0"/>
              </a:spcAft>
              <a:buClr>
                <a:srgbClr val="0F3D63"/>
              </a:buClr>
              <a:buSzPts val="1662"/>
              <a:buFont typeface="Cambria"/>
              <a:buNone/>
            </a:pPr>
            <a:r>
              <a:rPr lang="rw-RW" sz="1900" b="1">
                <a:solidFill>
                  <a:srgbClr val="0F3D63"/>
                </a:solidFill>
                <a:latin typeface="Cambria"/>
                <a:ea typeface="Cambria"/>
                <a:cs typeface="Cambria"/>
                <a:sym typeface="Cambria"/>
              </a:rPr>
              <a:t>Bamwe na bamwe bashobora kugira ibyago bakagera ku rwa Kanseri y'igifu.</a:t>
            </a:r>
            <a:endParaRPr sz="1663">
              <a:solidFill>
                <a:schemeClr val="dk1"/>
              </a:solidFill>
              <a:latin typeface="Calibri"/>
              <a:ea typeface="Calibri"/>
              <a:cs typeface="Calibri"/>
              <a:sym typeface="Calibri"/>
            </a:endParaRPr>
          </a:p>
        </p:txBody>
      </p:sp>
      <p:sp>
        <p:nvSpPr>
          <p:cNvPr id="415" name="Google Shape;415;p20"/>
          <p:cNvSpPr/>
          <p:nvPr/>
        </p:nvSpPr>
        <p:spPr>
          <a:xfrm>
            <a:off x="8379300" y="2636376"/>
            <a:ext cx="3233700" cy="1215000"/>
          </a:xfrm>
          <a:prstGeom prst="rect">
            <a:avLst/>
          </a:prstGeom>
          <a:noFill/>
          <a:ln>
            <a:noFill/>
          </a:ln>
        </p:spPr>
        <p:txBody>
          <a:bodyPr spcFirstLastPara="1" wrap="square" lIns="0" tIns="0" rIns="0" bIns="0" anchor="t" anchorCtr="0">
            <a:normAutofit/>
          </a:bodyPr>
          <a:lstStyle/>
          <a:p>
            <a:pPr marL="0" marR="0" lvl="0" indent="0" algn="l" rtl="0">
              <a:lnSpc>
                <a:spcPct val="103000"/>
              </a:lnSpc>
              <a:spcBef>
                <a:spcPts val="0"/>
              </a:spcBef>
              <a:spcAft>
                <a:spcPts val="0"/>
              </a:spcAft>
              <a:buClr>
                <a:srgbClr val="16334F"/>
              </a:buClr>
              <a:buSzPts val="1700"/>
              <a:buFont typeface="Calibri"/>
              <a:buNone/>
            </a:pPr>
            <a:r>
              <a:rPr lang="rw-RW" sz="1800" dirty="0">
                <a:solidFill>
                  <a:srgbClr val="16334F"/>
                </a:solidFill>
                <a:latin typeface="Calibri"/>
                <a:ea typeface="Calibri"/>
                <a:cs typeface="Calibri"/>
                <a:sym typeface="Calibri"/>
              </a:rPr>
              <a:t>Mu bantu bamwe na bamwe, uturemangingo dutangira gukura mu buryo budasanzwe kandi butari bwo. Iyi ni kanseri y'igifu.</a:t>
            </a:r>
            <a:endParaRPr sz="1800" dirty="0">
              <a:solidFill>
                <a:schemeClr val="dk1"/>
              </a:solidFill>
              <a:latin typeface="Calibri"/>
              <a:ea typeface="Calibri"/>
              <a:cs typeface="Calibri"/>
              <a:sym typeface="Calibri"/>
            </a:endParaRPr>
          </a:p>
        </p:txBody>
      </p:sp>
      <p:sp>
        <p:nvSpPr>
          <p:cNvPr id="416" name="Google Shape;416;p20"/>
          <p:cNvSpPr/>
          <p:nvPr/>
        </p:nvSpPr>
        <p:spPr>
          <a:xfrm>
            <a:off x="548640" y="5674697"/>
            <a:ext cx="11091672" cy="658368"/>
          </a:xfrm>
          <a:prstGeom prst="roundRect">
            <a:avLst>
              <a:gd name="adj" fmla="val 13889"/>
            </a:avLst>
          </a:prstGeom>
          <a:solidFill>
            <a:srgbClr val="FDF6E3"/>
          </a:solidFill>
          <a:ln w="12700" cap="flat" cmpd="sng">
            <a:solidFill>
              <a:srgbClr val="EFD9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7" name="Google Shape;417;p20"/>
          <p:cNvSpPr/>
          <p:nvPr/>
        </p:nvSpPr>
        <p:spPr>
          <a:xfrm>
            <a:off x="777240" y="5747849"/>
            <a:ext cx="10634472"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C6500"/>
              </a:buClr>
              <a:buSzPts val="1700"/>
              <a:buFont typeface="Calibri"/>
              <a:buNone/>
            </a:pPr>
            <a:r>
              <a:rPr lang="rw-RW" sz="1700">
                <a:solidFill>
                  <a:srgbClr val="9C6500"/>
                </a:solidFill>
                <a:latin typeface="Calibri"/>
                <a:ea typeface="Calibri"/>
                <a:cs typeface="Calibri"/>
                <a:sym typeface="Calibri"/>
              </a:rPr>
              <a:t>Kugira ububabare mu nda igihe kirekire ntibivuze ko umuntu arwaye kanseri. Bivuze ko umuntu agomba kwisuzuma.</a:t>
            </a:r>
            <a:endParaRPr sz="1700">
              <a:solidFill>
                <a:schemeClr val="dk1"/>
              </a:solidFill>
              <a:latin typeface="Calibri"/>
              <a:ea typeface="Calibri"/>
              <a:cs typeface="Calibri"/>
              <a:sym typeface="Calibri"/>
            </a:endParaRPr>
          </a:p>
        </p:txBody>
      </p:sp>
      <p:pic>
        <p:nvPicPr>
          <p:cNvPr id="418" name="Google Shape;418;p20"/>
          <p:cNvPicPr preferRelativeResize="0"/>
          <p:nvPr/>
        </p:nvPicPr>
        <p:blipFill rotWithShape="1">
          <a:blip r:embed="rId3">
            <a:alphaModFix/>
          </a:blip>
          <a:srcRect/>
          <a:stretch/>
        </p:blipFill>
        <p:spPr>
          <a:xfrm>
            <a:off x="4719678" y="3671625"/>
            <a:ext cx="2722163" cy="1814775"/>
          </a:xfrm>
          <a:prstGeom prst="rect">
            <a:avLst/>
          </a:prstGeom>
          <a:noFill/>
          <a:ln>
            <a:noFill/>
          </a:ln>
        </p:spPr>
      </p:pic>
      <p:pic>
        <p:nvPicPr>
          <p:cNvPr id="419" name="Google Shape;419;p20"/>
          <p:cNvPicPr preferRelativeResize="0"/>
          <p:nvPr/>
        </p:nvPicPr>
        <p:blipFill rotWithShape="1">
          <a:blip r:embed="rId4">
            <a:alphaModFix/>
          </a:blip>
          <a:srcRect/>
          <a:stretch/>
        </p:blipFill>
        <p:spPr>
          <a:xfrm>
            <a:off x="8532603" y="3994787"/>
            <a:ext cx="2722149" cy="1476800"/>
          </a:xfrm>
          <a:prstGeom prst="rect">
            <a:avLst/>
          </a:prstGeom>
          <a:noFill/>
          <a:ln>
            <a:noFill/>
          </a:ln>
        </p:spPr>
      </p:pic>
      <p:pic>
        <p:nvPicPr>
          <p:cNvPr id="420" name="Google Shape;420;p20"/>
          <p:cNvPicPr preferRelativeResize="0"/>
          <p:nvPr/>
        </p:nvPicPr>
        <p:blipFill rotWithShape="1">
          <a:blip r:embed="rId5">
            <a:alphaModFix/>
          </a:blip>
          <a:srcRect/>
          <a:stretch/>
        </p:blipFill>
        <p:spPr>
          <a:xfrm>
            <a:off x="937248" y="3660525"/>
            <a:ext cx="2504609" cy="166973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5"/>
        <p:cNvGrpSpPr/>
        <p:nvPr/>
      </p:nvGrpSpPr>
      <p:grpSpPr>
        <a:xfrm>
          <a:off x="0" y="0"/>
          <a:ext cx="0" cy="0"/>
          <a:chOff x="0" y="0"/>
          <a:chExt cx="0" cy="0"/>
        </a:xfrm>
      </p:grpSpPr>
      <p:sp>
        <p:nvSpPr>
          <p:cNvPr id="426" name="Google Shape;426;p21"/>
          <p:cNvSpPr/>
          <p:nvPr/>
        </p:nvSpPr>
        <p:spPr>
          <a:xfrm>
            <a:off x="548640" y="734208"/>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IGICE CYA MBERE</a:t>
            </a:r>
            <a:endParaRPr lang="rw-RW" sz="1100" dirty="0">
              <a:solidFill>
                <a:schemeClr val="dk1"/>
              </a:solidFill>
              <a:latin typeface="Calibri"/>
              <a:ea typeface="Calibri"/>
              <a:cs typeface="Calibri"/>
              <a:sym typeface="Calibri"/>
            </a:endParaRPr>
          </a:p>
        </p:txBody>
      </p:sp>
      <p:sp>
        <p:nvSpPr>
          <p:cNvPr id="427" name="Google Shape;427;p21"/>
          <p:cNvSpPr/>
          <p:nvPr/>
        </p:nvSpPr>
        <p:spPr>
          <a:xfrm>
            <a:off x="548640" y="1008528"/>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Agakoko kitwa H. pylori</a:t>
            </a:r>
            <a:endParaRPr sz="3400" i="1">
              <a:solidFill>
                <a:schemeClr val="dk1"/>
              </a:solidFill>
              <a:latin typeface="Calibri"/>
              <a:ea typeface="Calibri"/>
              <a:cs typeface="Calibri"/>
              <a:sym typeface="Calibri"/>
            </a:endParaRPr>
          </a:p>
        </p:txBody>
      </p:sp>
      <p:sp>
        <p:nvSpPr>
          <p:cNvPr id="428" name="Google Shape;428;p21"/>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429" name="Google Shape;429;p21"/>
          <p:cNvSpPr/>
          <p:nvPr/>
        </p:nvSpPr>
        <p:spPr>
          <a:xfrm>
            <a:off x="548640" y="1701304"/>
            <a:ext cx="3502152" cy="3327946"/>
          </a:xfrm>
          <a:prstGeom prst="roundRect">
            <a:avLst>
              <a:gd name="adj" fmla="val 50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0" name="Google Shape;430;p21"/>
          <p:cNvSpPr/>
          <p:nvPr/>
        </p:nvSpPr>
        <p:spPr>
          <a:xfrm>
            <a:off x="804672" y="1902472"/>
            <a:ext cx="2990088"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H pylori ni iki?</a:t>
            </a:r>
            <a:endParaRPr sz="2100">
              <a:solidFill>
                <a:schemeClr val="dk1"/>
              </a:solidFill>
              <a:latin typeface="Calibri"/>
              <a:ea typeface="Calibri"/>
              <a:cs typeface="Calibri"/>
              <a:sym typeface="Calibri"/>
            </a:endParaRPr>
          </a:p>
        </p:txBody>
      </p:sp>
      <p:sp>
        <p:nvSpPr>
          <p:cNvPr id="431" name="Google Shape;431;p21"/>
          <p:cNvSpPr/>
          <p:nvPr/>
        </p:nvSpPr>
        <p:spPr>
          <a:xfrm>
            <a:off x="804672" y="2542552"/>
            <a:ext cx="2990088" cy="1143000"/>
          </a:xfrm>
          <a:prstGeom prst="rect">
            <a:avLst/>
          </a:prstGeom>
          <a:noFill/>
          <a:ln>
            <a:noFill/>
          </a:ln>
        </p:spPr>
        <p:txBody>
          <a:bodyPr spcFirstLastPara="1" wrap="square" lIns="0" tIns="0" rIns="0" bIns="0" anchor="t" anchorCtr="0">
            <a:normAutofit lnSpcReduction="10000"/>
          </a:bodyPr>
          <a:lstStyle/>
          <a:p>
            <a:pPr marL="0" marR="0" lvl="0" indent="0" algn="l" rtl="0">
              <a:lnSpc>
                <a:spcPct val="105000"/>
              </a:lnSpc>
              <a:spcBef>
                <a:spcPts val="0"/>
              </a:spcBef>
              <a:spcAft>
                <a:spcPts val="0"/>
              </a:spcAft>
              <a:buClr>
                <a:srgbClr val="16334F"/>
              </a:buClr>
              <a:buSzPts val="1683"/>
              <a:buFont typeface="Calibri"/>
              <a:buNone/>
            </a:pPr>
            <a:r>
              <a:rPr lang="rw-RW" sz="1800" i="1">
                <a:solidFill>
                  <a:srgbClr val="16334F"/>
                </a:solidFill>
                <a:latin typeface="Calibri"/>
                <a:ea typeface="Calibri"/>
                <a:cs typeface="Calibri"/>
                <a:sym typeface="Calibri"/>
              </a:rPr>
              <a:t>H. pylori </a:t>
            </a:r>
            <a:r>
              <a:rPr lang="rw-RW" sz="1800">
                <a:solidFill>
                  <a:srgbClr val="16334F"/>
                </a:solidFill>
                <a:latin typeface="Calibri"/>
                <a:ea typeface="Calibri"/>
                <a:cs typeface="Calibri"/>
                <a:sym typeface="Calibri"/>
              </a:rPr>
              <a:t>ni agakoko gashobora kuba mu gifu. Abantu benshi bakabana imyaka myinshi batabizi.</a:t>
            </a:r>
            <a:endParaRPr sz="1683">
              <a:solidFill>
                <a:schemeClr val="dk1"/>
              </a:solidFill>
              <a:latin typeface="Calibri"/>
              <a:ea typeface="Calibri"/>
              <a:cs typeface="Calibri"/>
              <a:sym typeface="Calibri"/>
            </a:endParaRPr>
          </a:p>
        </p:txBody>
      </p:sp>
      <p:sp>
        <p:nvSpPr>
          <p:cNvPr id="432" name="Google Shape;432;p21"/>
          <p:cNvSpPr/>
          <p:nvPr/>
        </p:nvSpPr>
        <p:spPr>
          <a:xfrm>
            <a:off x="4343400" y="1701304"/>
            <a:ext cx="3502152" cy="3327946"/>
          </a:xfrm>
          <a:prstGeom prst="roundRect">
            <a:avLst>
              <a:gd name="adj" fmla="val 50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3" name="Google Shape;433;p21"/>
          <p:cNvSpPr/>
          <p:nvPr/>
        </p:nvSpPr>
        <p:spPr>
          <a:xfrm>
            <a:off x="4599432" y="1902472"/>
            <a:ext cx="2990088"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Kubera iki ari ikibazo?</a:t>
            </a:r>
            <a:endParaRPr sz="2100">
              <a:solidFill>
                <a:schemeClr val="dk1"/>
              </a:solidFill>
              <a:latin typeface="Calibri"/>
              <a:ea typeface="Calibri"/>
              <a:cs typeface="Calibri"/>
              <a:sym typeface="Calibri"/>
            </a:endParaRPr>
          </a:p>
        </p:txBody>
      </p:sp>
      <p:sp>
        <p:nvSpPr>
          <p:cNvPr id="434" name="Google Shape;434;p21"/>
          <p:cNvSpPr/>
          <p:nvPr/>
        </p:nvSpPr>
        <p:spPr>
          <a:xfrm>
            <a:off x="4599432" y="2542552"/>
            <a:ext cx="2990088" cy="114300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05000"/>
              </a:lnSpc>
              <a:spcBef>
                <a:spcPts val="0"/>
              </a:spcBef>
              <a:spcAft>
                <a:spcPts val="0"/>
              </a:spcAft>
              <a:buNone/>
            </a:pPr>
            <a:r>
              <a:rPr lang="rw-RW" sz="1800">
                <a:solidFill>
                  <a:srgbClr val="16334F"/>
                </a:solidFill>
                <a:latin typeface="Calibri"/>
                <a:ea typeface="Calibri"/>
                <a:cs typeface="Calibri"/>
                <a:sym typeface="Calibri"/>
              </a:rPr>
              <a:t>Iyo umuntu amaranye H. pylori igihe kirekire, ishobora gutera uburwayi bw'igifu kandi ikongera ibyago byo kurwara kanseri y'igifu.</a:t>
            </a:r>
            <a:endParaRPr/>
          </a:p>
          <a:p>
            <a:pPr marL="0" marR="0" lvl="0" indent="0" algn="l" rtl="0">
              <a:lnSpc>
                <a:spcPct val="105000"/>
              </a:lnSpc>
              <a:spcBef>
                <a:spcPts val="0"/>
              </a:spcBef>
              <a:spcAft>
                <a:spcPts val="0"/>
              </a:spcAft>
              <a:buNone/>
            </a:pPr>
            <a:endParaRPr sz="1548">
              <a:solidFill>
                <a:srgbClr val="16334F"/>
              </a:solidFill>
              <a:latin typeface="Calibri"/>
              <a:ea typeface="Calibri"/>
              <a:cs typeface="Calibri"/>
              <a:sym typeface="Calibri"/>
            </a:endParaRPr>
          </a:p>
          <a:p>
            <a:pPr marL="0" marR="0" lvl="0" indent="0" algn="l" rtl="0">
              <a:lnSpc>
                <a:spcPct val="105000"/>
              </a:lnSpc>
              <a:spcBef>
                <a:spcPts val="0"/>
              </a:spcBef>
              <a:spcAft>
                <a:spcPts val="0"/>
              </a:spcAft>
              <a:buNone/>
            </a:pPr>
            <a:endParaRPr sz="1548">
              <a:solidFill>
                <a:schemeClr val="dk1"/>
              </a:solidFill>
              <a:latin typeface="Calibri"/>
              <a:ea typeface="Calibri"/>
              <a:cs typeface="Calibri"/>
              <a:sym typeface="Calibri"/>
            </a:endParaRPr>
          </a:p>
        </p:txBody>
      </p:sp>
      <p:sp>
        <p:nvSpPr>
          <p:cNvPr id="435" name="Google Shape;435;p21"/>
          <p:cNvSpPr/>
          <p:nvPr/>
        </p:nvSpPr>
        <p:spPr>
          <a:xfrm>
            <a:off x="8138160" y="1701304"/>
            <a:ext cx="3502152" cy="3327946"/>
          </a:xfrm>
          <a:prstGeom prst="roundRect">
            <a:avLst>
              <a:gd name="adj" fmla="val 50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6" name="Google Shape;436;p21"/>
          <p:cNvSpPr/>
          <p:nvPr/>
        </p:nvSpPr>
        <p:spPr>
          <a:xfrm>
            <a:off x="8394192" y="1902472"/>
            <a:ext cx="2990088"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Ishobora kuvurwa.</a:t>
            </a:r>
            <a:endParaRPr sz="2100">
              <a:solidFill>
                <a:schemeClr val="dk1"/>
              </a:solidFill>
              <a:latin typeface="Calibri"/>
              <a:ea typeface="Calibri"/>
              <a:cs typeface="Calibri"/>
              <a:sym typeface="Calibri"/>
            </a:endParaRPr>
          </a:p>
        </p:txBody>
      </p:sp>
      <p:sp>
        <p:nvSpPr>
          <p:cNvPr id="437" name="Google Shape;437;p21"/>
          <p:cNvSpPr/>
          <p:nvPr/>
        </p:nvSpPr>
        <p:spPr>
          <a:xfrm>
            <a:off x="8394192" y="2542552"/>
            <a:ext cx="2990088" cy="868211"/>
          </a:xfrm>
          <a:prstGeom prst="rect">
            <a:avLst/>
          </a:prstGeom>
          <a:noFill/>
          <a:ln>
            <a:noFill/>
          </a:ln>
        </p:spPr>
        <p:txBody>
          <a:bodyPr spcFirstLastPara="1" wrap="square" lIns="0" tIns="0" rIns="0" bIns="0" anchor="t" anchorCtr="0">
            <a:normAutofit lnSpcReduction="10000"/>
          </a:bodyPr>
          <a:lstStyle/>
          <a:p>
            <a:pPr marL="0" marR="0" lvl="0" indent="0" algn="l" rtl="0">
              <a:lnSpc>
                <a:spcPct val="85000"/>
              </a:lnSpc>
              <a:spcBef>
                <a:spcPts val="0"/>
              </a:spcBef>
              <a:spcAft>
                <a:spcPts val="0"/>
              </a:spcAft>
              <a:buClr>
                <a:srgbClr val="16334F"/>
              </a:buClr>
              <a:buSzPts val="1548"/>
              <a:buFont typeface="Calibri"/>
              <a:buNone/>
            </a:pPr>
            <a:r>
              <a:rPr lang="rw-RW" sz="1800">
                <a:solidFill>
                  <a:srgbClr val="16334F"/>
                </a:solidFill>
                <a:latin typeface="Calibri"/>
                <a:ea typeface="Calibri"/>
                <a:cs typeface="Calibri"/>
                <a:sym typeface="Calibri"/>
              </a:rPr>
              <a:t>Serivisi z'ubuzima zishobora gupima aka gakoko no kukavura hakoreshejwe imiti yabugenewe.</a:t>
            </a:r>
            <a:endParaRPr sz="1548">
              <a:solidFill>
                <a:schemeClr val="dk1"/>
              </a:solidFill>
              <a:latin typeface="Calibri"/>
              <a:ea typeface="Calibri"/>
              <a:cs typeface="Calibri"/>
              <a:sym typeface="Calibri"/>
            </a:endParaRPr>
          </a:p>
        </p:txBody>
      </p:sp>
      <p:sp>
        <p:nvSpPr>
          <p:cNvPr id="438" name="Google Shape;438;p21"/>
          <p:cNvSpPr/>
          <p:nvPr/>
        </p:nvSpPr>
        <p:spPr>
          <a:xfrm>
            <a:off x="548640" y="5193842"/>
            <a:ext cx="11091672" cy="658368"/>
          </a:xfrm>
          <a:prstGeom prst="roundRect">
            <a:avLst>
              <a:gd name="adj" fmla="val 13889"/>
            </a:avLst>
          </a:prstGeom>
          <a:solidFill>
            <a:srgbClr val="E9F5EE"/>
          </a:solidFill>
          <a:ln w="12700" cap="flat" cmpd="sng">
            <a:solidFill>
              <a:srgbClr val="BFE0C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9" name="Google Shape;439;p21"/>
          <p:cNvSpPr/>
          <p:nvPr/>
        </p:nvSpPr>
        <p:spPr>
          <a:xfrm>
            <a:off x="777240" y="5266994"/>
            <a:ext cx="10634472" cy="512064"/>
          </a:xfrm>
          <a:prstGeom prst="rect">
            <a:avLst/>
          </a:prstGeom>
          <a:noFill/>
          <a:ln>
            <a:noFill/>
          </a:ln>
        </p:spPr>
        <p:txBody>
          <a:bodyPr spcFirstLastPara="1" wrap="square" lIns="0" tIns="0" rIns="0" bIns="0" anchor="ctr" anchorCtr="0">
            <a:normAutofit lnSpcReduction="10000"/>
          </a:bodyPr>
          <a:lstStyle/>
          <a:p>
            <a:pPr marL="0" marR="0" lvl="0" indent="0" algn="l" rtl="0">
              <a:spcBef>
                <a:spcPts val="0"/>
              </a:spcBef>
              <a:spcAft>
                <a:spcPts val="0"/>
              </a:spcAft>
              <a:buClr>
                <a:srgbClr val="1B7A46"/>
              </a:buClr>
              <a:buSzPts val="1598"/>
              <a:buFont typeface="Calibri"/>
              <a:buNone/>
            </a:pPr>
            <a:r>
              <a:rPr lang="rw-RW" sz="1700" b="1" dirty="0">
                <a:solidFill>
                  <a:srgbClr val="1B7A46"/>
                </a:solidFill>
                <a:latin typeface="Calibri"/>
                <a:ea typeface="Calibri"/>
                <a:cs typeface="Calibri"/>
                <a:sym typeface="Calibri"/>
              </a:rPr>
              <a:t>❌ Kwizera kwibeshya: </a:t>
            </a:r>
            <a:r>
              <a:rPr lang="rw-RW" sz="1700" b="1" i="1" dirty="0">
                <a:solidFill>
                  <a:srgbClr val="1B7A46"/>
                </a:solidFill>
                <a:latin typeface="Calibri"/>
                <a:ea typeface="Calibri"/>
                <a:cs typeface="Calibri"/>
                <a:sym typeface="Calibri"/>
              </a:rPr>
              <a:t>H. pylori </a:t>
            </a:r>
            <a:r>
              <a:rPr lang="rw-RW" sz="1700" b="1" dirty="0">
                <a:solidFill>
                  <a:srgbClr val="1B7A46"/>
                </a:solidFill>
                <a:latin typeface="Calibri"/>
                <a:ea typeface="Calibri"/>
                <a:cs typeface="Calibri"/>
                <a:sym typeface="Calibri"/>
              </a:rPr>
              <a:t>bisobanura ko umuntu arwaye kanseri. </a:t>
            </a:r>
          </a:p>
          <a:p>
            <a:pPr marL="0" marR="0" lvl="0" indent="0" algn="l" rtl="0">
              <a:spcBef>
                <a:spcPts val="0"/>
              </a:spcBef>
              <a:spcAft>
                <a:spcPts val="0"/>
              </a:spcAft>
              <a:buClr>
                <a:srgbClr val="1B7A46"/>
              </a:buClr>
              <a:buSzPts val="1598"/>
              <a:buFont typeface="Calibri"/>
              <a:buNone/>
            </a:pPr>
            <a:r>
              <a:rPr lang="rw-RW" sz="1700" b="1" dirty="0">
                <a:solidFill>
                  <a:srgbClr val="1B7A46"/>
                </a:solidFill>
                <a:latin typeface="Calibri"/>
                <a:ea typeface="Calibri"/>
                <a:cs typeface="Calibri"/>
                <a:sym typeface="Calibri"/>
              </a:rPr>
              <a:t>✅ Ukuri: abantu benshi bafite iyi mikorobe ntibigeze barwara kanseri.</a:t>
            </a:r>
            <a:endParaRPr sz="1598" dirty="0">
              <a:solidFill>
                <a:schemeClr val="dk1"/>
              </a:solidFill>
              <a:latin typeface="Calibri"/>
              <a:ea typeface="Calibri"/>
              <a:cs typeface="Calibri"/>
              <a:sym typeface="Calibri"/>
            </a:endParaRPr>
          </a:p>
        </p:txBody>
      </p:sp>
      <p:pic>
        <p:nvPicPr>
          <p:cNvPr id="442" name="Google Shape;442;p21"/>
          <p:cNvPicPr preferRelativeResize="0"/>
          <p:nvPr/>
        </p:nvPicPr>
        <p:blipFill rotWithShape="1">
          <a:blip r:embed="rId3">
            <a:alphaModFix/>
          </a:blip>
          <a:srcRect/>
          <a:stretch/>
        </p:blipFill>
        <p:spPr>
          <a:xfrm>
            <a:off x="1398061" y="3683993"/>
            <a:ext cx="1887621" cy="1258414"/>
          </a:xfrm>
          <a:prstGeom prst="rect">
            <a:avLst/>
          </a:prstGeom>
          <a:noFill/>
          <a:ln>
            <a:noFill/>
          </a:ln>
        </p:spPr>
      </p:pic>
      <p:pic>
        <p:nvPicPr>
          <p:cNvPr id="443" name="Google Shape;443;p21"/>
          <p:cNvPicPr preferRelativeResize="0"/>
          <p:nvPr/>
        </p:nvPicPr>
        <p:blipFill rotWithShape="1">
          <a:blip r:embed="rId4">
            <a:alphaModFix/>
          </a:blip>
          <a:srcRect/>
          <a:stretch/>
        </p:blipFill>
        <p:spPr>
          <a:xfrm>
            <a:off x="8565914" y="3461563"/>
            <a:ext cx="2392679" cy="159511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8"/>
        <p:cNvGrpSpPr/>
        <p:nvPr/>
      </p:nvGrpSpPr>
      <p:grpSpPr>
        <a:xfrm>
          <a:off x="0" y="0"/>
          <a:ext cx="0" cy="0"/>
          <a:chOff x="0" y="0"/>
          <a:chExt cx="0" cy="0"/>
        </a:xfrm>
      </p:grpSpPr>
      <p:sp>
        <p:nvSpPr>
          <p:cNvPr id="449" name="Google Shape;449;p22"/>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IGICE CYA MBERE</a:t>
            </a:r>
            <a:endParaRPr lang="rw-RW" sz="1100" dirty="0">
              <a:solidFill>
                <a:schemeClr val="dk1"/>
              </a:solidFill>
              <a:latin typeface="Calibri"/>
              <a:ea typeface="Calibri"/>
              <a:cs typeface="Calibri"/>
              <a:sym typeface="Calibri"/>
            </a:endParaRPr>
          </a:p>
        </p:txBody>
      </p:sp>
      <p:sp>
        <p:nvSpPr>
          <p:cNvPr id="450" name="Google Shape;450;p22"/>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Kanseri y'igifu mu Rwanda</a:t>
            </a:r>
            <a:endParaRPr sz="3400">
              <a:solidFill>
                <a:schemeClr val="dk1"/>
              </a:solidFill>
              <a:latin typeface="Calibri"/>
              <a:ea typeface="Calibri"/>
              <a:cs typeface="Calibri"/>
              <a:sym typeface="Calibri"/>
            </a:endParaRPr>
          </a:p>
        </p:txBody>
      </p:sp>
      <p:sp>
        <p:nvSpPr>
          <p:cNvPr id="451" name="Google Shape;451;p22"/>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graphicFrame>
        <p:nvGraphicFramePr>
          <p:cNvPr id="452" name="Google Shape;452;p22" descr="Igishushanyo mbonera"/>
          <p:cNvGraphicFramePr/>
          <p:nvPr/>
        </p:nvGraphicFramePr>
        <p:xfrm>
          <a:off x="548640" y="1874520"/>
          <a:ext cx="5806440" cy="3703320"/>
        </p:xfrm>
        <a:graphic>
          <a:graphicData uri="http://schemas.openxmlformats.org/drawingml/2006/chart">
            <c:chart xmlns:c="http://schemas.openxmlformats.org/drawingml/2006/chart" xmlns:r="http://schemas.openxmlformats.org/officeDocument/2006/relationships" r:id="rId3"/>
          </a:graphicData>
        </a:graphic>
      </p:graphicFrame>
      <p:sp>
        <p:nvSpPr>
          <p:cNvPr id="453" name="Google Shape;453;p22"/>
          <p:cNvSpPr/>
          <p:nvPr/>
        </p:nvSpPr>
        <p:spPr>
          <a:xfrm>
            <a:off x="6675120" y="1965960"/>
            <a:ext cx="4965192" cy="1234440"/>
          </a:xfrm>
          <a:prstGeom prst="roundRect">
            <a:avLst>
              <a:gd name="adj" fmla="val 7407"/>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4" name="Google Shape;454;p22"/>
          <p:cNvSpPr/>
          <p:nvPr/>
        </p:nvSpPr>
        <p:spPr>
          <a:xfrm>
            <a:off x="6949440" y="2093976"/>
            <a:ext cx="4416552" cy="442976"/>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FFFFFF"/>
              </a:buClr>
              <a:buSzPts val="2985"/>
              <a:buFont typeface="Cambria"/>
              <a:buNone/>
            </a:pPr>
            <a:r>
              <a:rPr lang="rw-RW" sz="3000" b="1">
                <a:solidFill>
                  <a:srgbClr val="FFFFFF"/>
                </a:solidFill>
                <a:latin typeface="Cambria"/>
                <a:ea typeface="Cambria"/>
                <a:cs typeface="Cambria"/>
                <a:sym typeface="Cambria"/>
              </a:rPr>
              <a:t>895</a:t>
            </a:r>
            <a:endParaRPr sz="2985">
              <a:solidFill>
                <a:schemeClr val="dk1"/>
              </a:solidFill>
              <a:latin typeface="Calibri"/>
              <a:ea typeface="Calibri"/>
              <a:cs typeface="Calibri"/>
              <a:sym typeface="Calibri"/>
            </a:endParaRPr>
          </a:p>
        </p:txBody>
      </p:sp>
      <p:sp>
        <p:nvSpPr>
          <p:cNvPr id="455" name="Google Shape;455;p22"/>
          <p:cNvSpPr/>
          <p:nvPr/>
        </p:nvSpPr>
        <p:spPr>
          <a:xfrm>
            <a:off x="6949440" y="2587752"/>
            <a:ext cx="4416552" cy="502920"/>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DCEAF6"/>
              </a:buClr>
              <a:buSzPts val="1568"/>
              <a:buFont typeface="Calibri"/>
              <a:buNone/>
            </a:pPr>
            <a:r>
              <a:rPr lang="rw-RW" sz="1600">
                <a:solidFill>
                  <a:srgbClr val="DCEAF6"/>
                </a:solidFill>
                <a:latin typeface="Calibri"/>
                <a:ea typeface="Calibri"/>
                <a:cs typeface="Calibri"/>
                <a:sym typeface="Calibri"/>
              </a:rPr>
              <a:t>Abantu baherutse kugaragara ko barwaye kanseri y'igifu mu Rwanda mu gihe cy'umwaka umwe (2024)</a:t>
            </a:r>
            <a:endParaRPr sz="1568">
              <a:solidFill>
                <a:schemeClr val="dk1"/>
              </a:solidFill>
              <a:latin typeface="Calibri"/>
              <a:ea typeface="Calibri"/>
              <a:cs typeface="Calibri"/>
              <a:sym typeface="Calibri"/>
            </a:endParaRPr>
          </a:p>
        </p:txBody>
      </p:sp>
      <p:sp>
        <p:nvSpPr>
          <p:cNvPr id="456" name="Google Shape;456;p22"/>
          <p:cNvSpPr/>
          <p:nvPr/>
        </p:nvSpPr>
        <p:spPr>
          <a:xfrm>
            <a:off x="6675120" y="3401568"/>
            <a:ext cx="4965192" cy="1234440"/>
          </a:xfrm>
          <a:prstGeom prst="roundRect">
            <a:avLst>
              <a:gd name="adj" fmla="val 7407"/>
            </a:avLst>
          </a:prstGeom>
          <a:solidFill>
            <a:srgbClr val="2272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7" name="Google Shape;457;p22"/>
          <p:cNvSpPr/>
          <p:nvPr/>
        </p:nvSpPr>
        <p:spPr>
          <a:xfrm>
            <a:off x="6949440" y="3529584"/>
            <a:ext cx="4416552" cy="442976"/>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FFFFFF"/>
              </a:buClr>
              <a:buSzPts val="2985"/>
              <a:buFont typeface="Cambria"/>
              <a:buNone/>
            </a:pPr>
            <a:r>
              <a:rPr lang="rw-RW" sz="3000" b="1">
                <a:solidFill>
                  <a:srgbClr val="FFFFFF"/>
                </a:solidFill>
                <a:latin typeface="Cambria"/>
                <a:ea typeface="Cambria"/>
                <a:cs typeface="Cambria"/>
                <a:sym typeface="Cambria"/>
              </a:rPr>
              <a:t>728</a:t>
            </a:r>
            <a:endParaRPr sz="2985">
              <a:solidFill>
                <a:schemeClr val="dk1"/>
              </a:solidFill>
              <a:latin typeface="Calibri"/>
              <a:ea typeface="Calibri"/>
              <a:cs typeface="Calibri"/>
              <a:sym typeface="Calibri"/>
            </a:endParaRPr>
          </a:p>
        </p:txBody>
      </p:sp>
      <p:sp>
        <p:nvSpPr>
          <p:cNvPr id="458" name="Google Shape;458;p22"/>
          <p:cNvSpPr/>
          <p:nvPr/>
        </p:nvSpPr>
        <p:spPr>
          <a:xfrm>
            <a:off x="6949440" y="4023360"/>
            <a:ext cx="4416552" cy="502920"/>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DCEAF6"/>
              </a:buClr>
              <a:buSzPts val="1568"/>
              <a:buFont typeface="Calibri"/>
              <a:buNone/>
            </a:pPr>
            <a:r>
              <a:rPr lang="rw-RW" sz="1600">
                <a:solidFill>
                  <a:srgbClr val="DCEAF6"/>
                </a:solidFill>
                <a:latin typeface="Calibri"/>
                <a:ea typeface="Calibri"/>
                <a:cs typeface="Calibri"/>
                <a:sym typeface="Calibri"/>
              </a:rPr>
              <a:t>Abantu bapfuye bazize kanseri y'igifu mu Rwanda mu mwaka umwe (2024)</a:t>
            </a:r>
            <a:endParaRPr sz="1568">
              <a:solidFill>
                <a:schemeClr val="dk1"/>
              </a:solidFill>
              <a:latin typeface="Calibri"/>
              <a:ea typeface="Calibri"/>
              <a:cs typeface="Calibri"/>
              <a:sym typeface="Calibri"/>
            </a:endParaRPr>
          </a:p>
        </p:txBody>
      </p:sp>
      <p:sp>
        <p:nvSpPr>
          <p:cNvPr id="459" name="Google Shape;459;p22"/>
          <p:cNvSpPr/>
          <p:nvPr/>
        </p:nvSpPr>
        <p:spPr>
          <a:xfrm>
            <a:off x="6675120" y="4837176"/>
            <a:ext cx="4965192" cy="1234440"/>
          </a:xfrm>
          <a:prstGeom prst="roundRect">
            <a:avLst>
              <a:gd name="adj" fmla="val 7407"/>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0" name="Google Shape;460;p22"/>
          <p:cNvSpPr/>
          <p:nvPr/>
        </p:nvSpPr>
        <p:spPr>
          <a:xfrm>
            <a:off x="6949440" y="4965192"/>
            <a:ext cx="4416552" cy="442976"/>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FFFFFF"/>
              </a:buClr>
              <a:buSzPts val="2985"/>
              <a:buFont typeface="Cambria"/>
              <a:buNone/>
            </a:pPr>
            <a:r>
              <a:rPr lang="rw-RW" sz="3000" b="1">
                <a:solidFill>
                  <a:srgbClr val="FFFFFF"/>
                </a:solidFill>
                <a:latin typeface="Cambria"/>
                <a:ea typeface="Cambria"/>
                <a:cs typeface="Cambria"/>
                <a:sym typeface="Cambria"/>
              </a:rPr>
              <a:t>Umwanya wa 5</a:t>
            </a:r>
            <a:endParaRPr sz="2985">
              <a:solidFill>
                <a:schemeClr val="dk1"/>
              </a:solidFill>
              <a:latin typeface="Calibri"/>
              <a:ea typeface="Calibri"/>
              <a:cs typeface="Calibri"/>
              <a:sym typeface="Calibri"/>
            </a:endParaRPr>
          </a:p>
        </p:txBody>
      </p:sp>
      <p:sp>
        <p:nvSpPr>
          <p:cNvPr id="461" name="Google Shape;461;p22"/>
          <p:cNvSpPr/>
          <p:nvPr/>
        </p:nvSpPr>
        <p:spPr>
          <a:xfrm>
            <a:off x="6949440" y="5458968"/>
            <a:ext cx="4416552" cy="502920"/>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DCEAF6"/>
              </a:buClr>
              <a:buSzPts val="1568"/>
              <a:buFont typeface="Calibri"/>
              <a:buNone/>
            </a:pPr>
            <a:r>
              <a:rPr lang="rw-RW" sz="1600">
                <a:solidFill>
                  <a:srgbClr val="DCEAF6"/>
                </a:solidFill>
                <a:latin typeface="Calibri"/>
                <a:ea typeface="Calibri"/>
                <a:cs typeface="Calibri"/>
                <a:sym typeface="Calibri"/>
              </a:rPr>
              <a:t>Kanseri y'igifu iza ku mwanya wa 5 mu zikunze kwibasira abantu benshi mu Rwanda</a:t>
            </a:r>
            <a:endParaRPr sz="1568">
              <a:solidFill>
                <a:schemeClr val="dk1"/>
              </a:solidFill>
              <a:latin typeface="Calibri"/>
              <a:ea typeface="Calibri"/>
              <a:cs typeface="Calibri"/>
              <a:sym typeface="Calibri"/>
            </a:endParaRPr>
          </a:p>
        </p:txBody>
      </p:sp>
      <p:sp>
        <p:nvSpPr>
          <p:cNvPr id="462" name="Google Shape;462;p22"/>
          <p:cNvSpPr/>
          <p:nvPr/>
        </p:nvSpPr>
        <p:spPr>
          <a:xfrm>
            <a:off x="548640" y="5742432"/>
            <a:ext cx="58521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50"/>
              <a:buFont typeface="Calibri"/>
              <a:buNone/>
            </a:pPr>
            <a:r>
              <a:rPr lang="rw-RW" sz="1050" i="1">
                <a:solidFill>
                  <a:srgbClr val="5A7391"/>
                </a:solidFill>
                <a:latin typeface="Calibri"/>
                <a:ea typeface="Calibri"/>
                <a:cs typeface="Calibri"/>
                <a:sym typeface="Calibri"/>
              </a:rPr>
              <a:t>Inkomoko: IARC Global Cancer Observatory, GLOBOCAN 2024, urupapuro rw'amakuru rw'u Rwanda. Iyi mibare ni igereranyo, si imibare yabazwe mu gitabo cy'abarwayi.</a:t>
            </a:r>
            <a:endParaRPr sz="105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7"/>
        <p:cNvGrpSpPr/>
        <p:nvPr/>
      </p:nvGrpSpPr>
      <p:grpSpPr>
        <a:xfrm>
          <a:off x="0" y="0"/>
          <a:ext cx="0" cy="0"/>
          <a:chOff x="0" y="0"/>
          <a:chExt cx="0" cy="0"/>
        </a:xfrm>
      </p:grpSpPr>
      <p:sp>
        <p:nvSpPr>
          <p:cNvPr id="468" name="Google Shape;468;p23"/>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IGICE CYA MBERE</a:t>
            </a:r>
            <a:endParaRPr lang="rw-RW" sz="1100" dirty="0">
              <a:solidFill>
                <a:schemeClr val="dk1"/>
              </a:solidFill>
              <a:latin typeface="Calibri"/>
              <a:ea typeface="Calibri"/>
              <a:cs typeface="Calibri"/>
              <a:sym typeface="Calibri"/>
            </a:endParaRPr>
          </a:p>
        </p:txBody>
      </p:sp>
      <p:sp>
        <p:nvSpPr>
          <p:cNvPr id="469" name="Google Shape;469;p23"/>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Impamvu ibi ari ingenzi mu gace utuyemo.</a:t>
            </a:r>
            <a:endParaRPr sz="3400">
              <a:solidFill>
                <a:schemeClr val="dk1"/>
              </a:solidFill>
              <a:latin typeface="Calibri"/>
              <a:ea typeface="Calibri"/>
              <a:cs typeface="Calibri"/>
              <a:sym typeface="Calibri"/>
            </a:endParaRPr>
          </a:p>
        </p:txBody>
      </p:sp>
      <p:sp>
        <p:nvSpPr>
          <p:cNvPr id="470" name="Google Shape;470;p23"/>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471" name="Google Shape;471;p23"/>
          <p:cNvSpPr/>
          <p:nvPr/>
        </p:nvSpPr>
        <p:spPr>
          <a:xfrm>
            <a:off x="548640" y="1874520"/>
            <a:ext cx="3502152" cy="2286000"/>
          </a:xfrm>
          <a:prstGeom prst="roundRect">
            <a:avLst>
              <a:gd name="adj" fmla="val 48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2" name="Google Shape;472;p23"/>
          <p:cNvSpPr/>
          <p:nvPr/>
        </p:nvSpPr>
        <p:spPr>
          <a:xfrm>
            <a:off x="804672" y="2075688"/>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16"/>
              <a:buFont typeface="Cambria"/>
              <a:buNone/>
            </a:pPr>
            <a:r>
              <a:rPr lang="rw-RW" sz="2100" b="1">
                <a:solidFill>
                  <a:srgbClr val="0F3D63"/>
                </a:solidFill>
                <a:latin typeface="Cambria"/>
                <a:ea typeface="Cambria"/>
                <a:cs typeface="Cambria"/>
                <a:sym typeface="Cambria"/>
              </a:rPr>
              <a:t>Bibaho.</a:t>
            </a:r>
            <a:endParaRPr sz="2016">
              <a:solidFill>
                <a:schemeClr val="dk1"/>
              </a:solidFill>
              <a:latin typeface="Calibri"/>
              <a:ea typeface="Calibri"/>
              <a:cs typeface="Calibri"/>
              <a:sym typeface="Calibri"/>
            </a:endParaRPr>
          </a:p>
        </p:txBody>
      </p:sp>
      <p:sp>
        <p:nvSpPr>
          <p:cNvPr id="473" name="Google Shape;473;p23"/>
          <p:cNvSpPr/>
          <p:nvPr/>
        </p:nvSpPr>
        <p:spPr>
          <a:xfrm>
            <a:off x="804672" y="2715768"/>
            <a:ext cx="2990088" cy="123444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28"/>
              <a:buFont typeface="Calibri"/>
              <a:buNone/>
            </a:pPr>
            <a:r>
              <a:rPr lang="rw-RW" sz="1800">
                <a:solidFill>
                  <a:srgbClr val="16334F"/>
                </a:solidFill>
                <a:latin typeface="Calibri"/>
                <a:ea typeface="Calibri"/>
                <a:cs typeface="Calibri"/>
                <a:sym typeface="Calibri"/>
              </a:rPr>
              <a:t>Kanseri y'igifu ni imwe muri kanseri zikunze kugaragara mu Rwanda. Ntabwo ari indwara y'ibindi bihugu gusa.</a:t>
            </a:r>
            <a:endParaRPr sz="1728">
              <a:solidFill>
                <a:schemeClr val="dk1"/>
              </a:solidFill>
              <a:latin typeface="Calibri"/>
              <a:ea typeface="Calibri"/>
              <a:cs typeface="Calibri"/>
              <a:sym typeface="Calibri"/>
            </a:endParaRPr>
          </a:p>
        </p:txBody>
      </p:sp>
      <p:sp>
        <p:nvSpPr>
          <p:cNvPr id="474" name="Google Shape;474;p23"/>
          <p:cNvSpPr/>
          <p:nvPr/>
        </p:nvSpPr>
        <p:spPr>
          <a:xfrm>
            <a:off x="4343400" y="1874520"/>
            <a:ext cx="3502152" cy="2286000"/>
          </a:xfrm>
          <a:prstGeom prst="roundRect">
            <a:avLst>
              <a:gd name="adj" fmla="val 48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5" name="Google Shape;475;p23"/>
          <p:cNvSpPr/>
          <p:nvPr/>
        </p:nvSpPr>
        <p:spPr>
          <a:xfrm>
            <a:off x="4599432" y="2075688"/>
            <a:ext cx="2990088" cy="447548"/>
          </a:xfrm>
          <a:prstGeom prst="rect">
            <a:avLst/>
          </a:prstGeom>
          <a:noFill/>
          <a:ln>
            <a:noFill/>
          </a:ln>
        </p:spPr>
        <p:txBody>
          <a:bodyPr spcFirstLastPara="1" wrap="square" lIns="0" tIns="0" rIns="0" bIns="0" anchor="t" anchorCtr="0">
            <a:normAutofit fontScale="92500"/>
          </a:bodyPr>
          <a:lstStyle/>
          <a:p>
            <a:pPr marL="0" marR="0" lvl="0" indent="0" algn="l" rtl="0">
              <a:lnSpc>
                <a:spcPct val="80000"/>
              </a:lnSpc>
              <a:spcBef>
                <a:spcPts val="0"/>
              </a:spcBef>
              <a:spcAft>
                <a:spcPts val="0"/>
              </a:spcAft>
              <a:buClr>
                <a:srgbClr val="0F3D63"/>
              </a:buClr>
              <a:buSzPts val="1701"/>
              <a:buFont typeface="Cambria"/>
              <a:buNone/>
            </a:pPr>
            <a:r>
              <a:rPr lang="rw-RW" sz="2100" b="1">
                <a:solidFill>
                  <a:srgbClr val="0F3D63"/>
                </a:solidFill>
                <a:latin typeface="Cambria"/>
                <a:ea typeface="Cambria"/>
                <a:cs typeface="Cambria"/>
                <a:sym typeface="Cambria"/>
              </a:rPr>
              <a:t>Ishobora guhitana abantu.</a:t>
            </a:r>
            <a:endParaRPr sz="1701">
              <a:solidFill>
                <a:schemeClr val="dk1"/>
              </a:solidFill>
              <a:latin typeface="Calibri"/>
              <a:ea typeface="Calibri"/>
              <a:cs typeface="Calibri"/>
              <a:sym typeface="Calibri"/>
            </a:endParaRPr>
          </a:p>
        </p:txBody>
      </p:sp>
      <p:sp>
        <p:nvSpPr>
          <p:cNvPr id="476" name="Google Shape;476;p23"/>
          <p:cNvSpPr/>
          <p:nvPr/>
        </p:nvSpPr>
        <p:spPr>
          <a:xfrm>
            <a:off x="4599432" y="2679192"/>
            <a:ext cx="2990088" cy="123444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None/>
            </a:pPr>
            <a:r>
              <a:rPr lang="rw-RW" sz="1800" dirty="0">
                <a:solidFill>
                  <a:srgbClr val="16334F"/>
                </a:solidFill>
                <a:latin typeface="Calibri"/>
                <a:ea typeface="Calibri"/>
                <a:cs typeface="Calibri"/>
                <a:sym typeface="Calibri"/>
              </a:rPr>
              <a:t>Abantu benshi bivuza batinze, kanseri ikagaragara igeze kure. Iyo ibonetse itinze, kuyivura birushaho kugorana.</a:t>
            </a:r>
            <a:endParaRPr dirty="0"/>
          </a:p>
          <a:p>
            <a:pPr marL="0" marR="0" lvl="0" indent="0" algn="l" rtl="0">
              <a:lnSpc>
                <a:spcPct val="105000"/>
              </a:lnSpc>
              <a:spcBef>
                <a:spcPts val="0"/>
              </a:spcBef>
              <a:spcAft>
                <a:spcPts val="0"/>
              </a:spcAft>
              <a:buNone/>
            </a:pPr>
            <a:endParaRPr sz="1728" dirty="0">
              <a:solidFill>
                <a:srgbClr val="16334F"/>
              </a:solidFill>
              <a:latin typeface="Calibri"/>
              <a:ea typeface="Calibri"/>
              <a:cs typeface="Calibri"/>
              <a:sym typeface="Calibri"/>
            </a:endParaRPr>
          </a:p>
          <a:p>
            <a:pPr marL="0" marR="0" lvl="0" indent="0" algn="l" rtl="0">
              <a:lnSpc>
                <a:spcPct val="105000"/>
              </a:lnSpc>
              <a:spcBef>
                <a:spcPts val="0"/>
              </a:spcBef>
              <a:spcAft>
                <a:spcPts val="0"/>
              </a:spcAft>
              <a:buNone/>
            </a:pPr>
            <a:endParaRPr sz="1728" dirty="0">
              <a:solidFill>
                <a:schemeClr val="dk1"/>
              </a:solidFill>
              <a:latin typeface="Calibri"/>
              <a:ea typeface="Calibri"/>
              <a:cs typeface="Calibri"/>
              <a:sym typeface="Calibri"/>
            </a:endParaRPr>
          </a:p>
        </p:txBody>
      </p:sp>
      <p:sp>
        <p:nvSpPr>
          <p:cNvPr id="477" name="Google Shape;477;p23"/>
          <p:cNvSpPr/>
          <p:nvPr/>
        </p:nvSpPr>
        <p:spPr>
          <a:xfrm>
            <a:off x="8138160" y="1874520"/>
            <a:ext cx="3502152" cy="2286000"/>
          </a:xfrm>
          <a:prstGeom prst="roundRect">
            <a:avLst>
              <a:gd name="adj" fmla="val 48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8" name="Google Shape;478;p23"/>
          <p:cNvSpPr/>
          <p:nvPr/>
        </p:nvSpPr>
        <p:spPr>
          <a:xfrm>
            <a:off x="8394192" y="2075688"/>
            <a:ext cx="2990088" cy="566928"/>
          </a:xfrm>
          <a:prstGeom prst="rect">
            <a:avLst/>
          </a:prstGeom>
          <a:noFill/>
          <a:ln>
            <a:noFill/>
          </a:ln>
        </p:spPr>
        <p:txBody>
          <a:bodyPr spcFirstLastPara="1" wrap="square" lIns="0" tIns="0" rIns="0" bIns="0" anchor="t" anchorCtr="0">
            <a:normAutofit lnSpcReduction="10000"/>
          </a:bodyPr>
          <a:lstStyle/>
          <a:p>
            <a:pPr marL="0" marR="0" lvl="0" indent="0" algn="l" rtl="0">
              <a:lnSpc>
                <a:spcPct val="90000"/>
              </a:lnSpc>
              <a:spcBef>
                <a:spcPts val="0"/>
              </a:spcBef>
              <a:spcAft>
                <a:spcPts val="0"/>
              </a:spcAft>
              <a:buClr>
                <a:srgbClr val="0F3D63"/>
              </a:buClr>
              <a:buSzPts val="1858"/>
              <a:buFont typeface="Cambria"/>
              <a:buNone/>
            </a:pPr>
            <a:r>
              <a:rPr lang="rw-RW" sz="2100" b="1">
                <a:solidFill>
                  <a:srgbClr val="0F3D63"/>
                </a:solidFill>
                <a:latin typeface="Cambria"/>
                <a:ea typeface="Cambria"/>
                <a:cs typeface="Cambria"/>
                <a:sym typeface="Cambria"/>
              </a:rPr>
              <a:t>Kwisuzumisha hakiri kare birafasha</a:t>
            </a:r>
            <a:endParaRPr sz="1859">
              <a:solidFill>
                <a:schemeClr val="dk1"/>
              </a:solidFill>
              <a:latin typeface="Calibri"/>
              <a:ea typeface="Calibri"/>
              <a:cs typeface="Calibri"/>
              <a:sym typeface="Calibri"/>
            </a:endParaRPr>
          </a:p>
        </p:txBody>
      </p:sp>
      <p:sp>
        <p:nvSpPr>
          <p:cNvPr id="479" name="Google Shape;479;p23"/>
          <p:cNvSpPr/>
          <p:nvPr/>
        </p:nvSpPr>
        <p:spPr>
          <a:xfrm>
            <a:off x="8394192" y="2715768"/>
            <a:ext cx="2990088" cy="1234440"/>
          </a:xfrm>
          <a:prstGeom prst="rect">
            <a:avLst/>
          </a:prstGeom>
          <a:noFill/>
          <a:ln>
            <a:noFill/>
          </a:ln>
        </p:spPr>
        <p:txBody>
          <a:bodyPr spcFirstLastPara="1" wrap="square" lIns="0" tIns="0" rIns="0" bIns="0" anchor="t" anchorCtr="0">
            <a:normAutofit lnSpcReduction="10000"/>
          </a:bodyPr>
          <a:lstStyle/>
          <a:p>
            <a:pPr marL="0" marR="0" lvl="0" indent="0" algn="l" rtl="0">
              <a:lnSpc>
                <a:spcPct val="95000"/>
              </a:lnSpc>
              <a:spcBef>
                <a:spcPts val="0"/>
              </a:spcBef>
              <a:spcAft>
                <a:spcPts val="0"/>
              </a:spcAft>
              <a:buClr>
                <a:srgbClr val="16334F"/>
              </a:buClr>
              <a:buSzPts val="1593"/>
              <a:buFont typeface="Calibri"/>
              <a:buNone/>
            </a:pPr>
            <a:r>
              <a:rPr lang="rw-RW" sz="1800">
                <a:solidFill>
                  <a:srgbClr val="16334F"/>
                </a:solidFill>
                <a:latin typeface="Calibri"/>
                <a:ea typeface="Calibri"/>
                <a:cs typeface="Calibri"/>
                <a:sym typeface="Calibri"/>
              </a:rPr>
              <a:t>Iyo umuntu umaranye ibimenyetso igihe kirekire, asuzumwe hakiri kare, aba agifite amahirwe n’amahitamo ku ubuvuzi.</a:t>
            </a:r>
            <a:endParaRPr sz="1593">
              <a:solidFill>
                <a:schemeClr val="dk1"/>
              </a:solidFill>
              <a:latin typeface="Calibri"/>
              <a:ea typeface="Calibri"/>
              <a:cs typeface="Calibri"/>
              <a:sym typeface="Calibri"/>
            </a:endParaRPr>
          </a:p>
        </p:txBody>
      </p:sp>
      <p:sp>
        <p:nvSpPr>
          <p:cNvPr id="480" name="Google Shape;480;p23"/>
          <p:cNvSpPr/>
          <p:nvPr/>
        </p:nvSpPr>
        <p:spPr>
          <a:xfrm>
            <a:off x="548640" y="4389120"/>
            <a:ext cx="11091672" cy="658368"/>
          </a:xfrm>
          <a:prstGeom prst="roundRect">
            <a:avLst>
              <a:gd name="adj" fmla="val 13889"/>
            </a:avLst>
          </a:prstGeom>
          <a:solidFill>
            <a:srgbClr val="FDF6E3"/>
          </a:solidFill>
          <a:ln w="12700" cap="flat" cmpd="sng">
            <a:solidFill>
              <a:srgbClr val="EFD9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1" name="Google Shape;481;p23"/>
          <p:cNvSpPr/>
          <p:nvPr/>
        </p:nvSpPr>
        <p:spPr>
          <a:xfrm>
            <a:off x="777240" y="4462272"/>
            <a:ext cx="10634472"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C6500"/>
              </a:buClr>
              <a:buSzPts val="1700"/>
              <a:buFont typeface="Calibri"/>
              <a:buNone/>
            </a:pPr>
            <a:r>
              <a:rPr lang="rw-RW" sz="1700">
                <a:solidFill>
                  <a:srgbClr val="9C6500"/>
                </a:solidFill>
                <a:latin typeface="Calibri"/>
                <a:ea typeface="Calibri"/>
                <a:cs typeface="Calibri"/>
                <a:sym typeface="Calibri"/>
              </a:rPr>
              <a:t>📌 Ibuka ko akazi kawe ka buri munsi ko kubona, gusobanura, no gutera inkunga ari byo bizana abantu hakiri kare.</a:t>
            </a:r>
            <a:endParaRPr sz="17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6"/>
        <p:cNvGrpSpPr/>
        <p:nvPr/>
      </p:nvGrpSpPr>
      <p:grpSpPr>
        <a:xfrm>
          <a:off x="0" y="0"/>
          <a:ext cx="0" cy="0"/>
          <a:chOff x="0" y="0"/>
          <a:chExt cx="0" cy="0"/>
        </a:xfrm>
      </p:grpSpPr>
      <p:sp>
        <p:nvSpPr>
          <p:cNvPr id="487" name="Google Shape;487;p24"/>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IGICE CYA MBERE</a:t>
            </a:r>
            <a:endParaRPr lang="rw-RW" sz="1100" dirty="0">
              <a:solidFill>
                <a:schemeClr val="dk1"/>
              </a:solidFill>
              <a:latin typeface="Calibri"/>
              <a:ea typeface="Calibri"/>
              <a:cs typeface="Calibri"/>
              <a:sym typeface="Calibri"/>
            </a:endParaRPr>
          </a:p>
        </p:txBody>
      </p:sp>
      <p:sp>
        <p:nvSpPr>
          <p:cNvPr id="488" name="Google Shape;488;p24"/>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Wabigenza ute?</a:t>
            </a:r>
            <a:endParaRPr sz="3400">
              <a:solidFill>
                <a:schemeClr val="dk1"/>
              </a:solidFill>
              <a:latin typeface="Calibri"/>
              <a:ea typeface="Calibri"/>
              <a:cs typeface="Calibri"/>
              <a:sym typeface="Calibri"/>
            </a:endParaRPr>
          </a:p>
        </p:txBody>
      </p:sp>
      <p:sp>
        <p:nvSpPr>
          <p:cNvPr id="489" name="Google Shape;489;p24"/>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490" name="Google Shape;490;p24"/>
          <p:cNvSpPr/>
          <p:nvPr/>
        </p:nvSpPr>
        <p:spPr>
          <a:xfrm>
            <a:off x="548640" y="1600200"/>
            <a:ext cx="6400800" cy="1234440"/>
          </a:xfrm>
          <a:prstGeom prst="roundRect">
            <a:avLst>
              <a:gd name="adj" fmla="val 7407"/>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1" name="Google Shape;491;p24"/>
          <p:cNvSpPr/>
          <p:nvPr/>
        </p:nvSpPr>
        <p:spPr>
          <a:xfrm>
            <a:off x="777240" y="1691640"/>
            <a:ext cx="5943600" cy="105156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272B8"/>
              </a:buClr>
              <a:buSzPts val="1700"/>
              <a:buFont typeface="Calibri"/>
              <a:buNone/>
            </a:pPr>
            <a:r>
              <a:rPr lang="rw-RW" sz="1700" b="1">
                <a:solidFill>
                  <a:srgbClr val="2272B8"/>
                </a:solidFill>
                <a:latin typeface="Calibri"/>
                <a:ea typeface="Calibri"/>
                <a:cs typeface="Calibri"/>
                <a:sym typeface="Calibri"/>
              </a:rPr>
              <a:t>Scenario </a:t>
            </a:r>
            <a:r>
              <a:rPr lang="rw-RW" sz="1700">
                <a:solidFill>
                  <a:srgbClr val="16334F"/>
                </a:solidFill>
                <a:latin typeface="Calibri"/>
                <a:ea typeface="Calibri"/>
                <a:cs typeface="Calibri"/>
                <a:sym typeface="Calibri"/>
              </a:rPr>
              <a:t>: Umuturanyi akubwira ko umwe mu bagize umuryango yabwiwe ko afite agakoko kitwa </a:t>
            </a:r>
            <a:r>
              <a:rPr lang="rw-RW" sz="1700" i="1">
                <a:solidFill>
                  <a:srgbClr val="16334F"/>
                </a:solidFill>
                <a:latin typeface="Calibri"/>
                <a:ea typeface="Calibri"/>
                <a:cs typeface="Calibri"/>
                <a:sym typeface="Calibri"/>
              </a:rPr>
              <a:t>H. pylori </a:t>
            </a:r>
            <a:r>
              <a:rPr lang="rw-RW" sz="1700">
                <a:solidFill>
                  <a:srgbClr val="16334F"/>
                </a:solidFill>
                <a:latin typeface="Calibri"/>
                <a:ea typeface="Calibri"/>
                <a:cs typeface="Calibri"/>
                <a:sym typeface="Calibri"/>
              </a:rPr>
              <a:t>mu nda. Umuryango ufite ubwoba kandi uvuga ko uwo muntu arwaye kanseri.</a:t>
            </a:r>
            <a:endParaRPr sz="1700">
              <a:solidFill>
                <a:schemeClr val="dk1"/>
              </a:solidFill>
              <a:latin typeface="Calibri"/>
              <a:ea typeface="Calibri"/>
              <a:cs typeface="Calibri"/>
              <a:sym typeface="Calibri"/>
            </a:endParaRPr>
          </a:p>
        </p:txBody>
      </p:sp>
      <p:sp>
        <p:nvSpPr>
          <p:cNvPr id="492" name="Google Shape;492;p24"/>
          <p:cNvSpPr/>
          <p:nvPr/>
        </p:nvSpPr>
        <p:spPr>
          <a:xfrm>
            <a:off x="548640" y="2999232"/>
            <a:ext cx="64008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Ni ikihe kintu cyiza cyo kuvuga?</a:t>
            </a:r>
            <a:endParaRPr sz="2100">
              <a:solidFill>
                <a:schemeClr val="dk1"/>
              </a:solidFill>
              <a:latin typeface="Calibri"/>
              <a:ea typeface="Calibri"/>
              <a:cs typeface="Calibri"/>
              <a:sym typeface="Calibri"/>
            </a:endParaRPr>
          </a:p>
        </p:txBody>
      </p:sp>
      <p:sp>
        <p:nvSpPr>
          <p:cNvPr id="493" name="Google Shape;493;p24"/>
          <p:cNvSpPr/>
          <p:nvPr/>
        </p:nvSpPr>
        <p:spPr>
          <a:xfrm>
            <a:off x="548640" y="3493008"/>
            <a:ext cx="6400800" cy="566928"/>
          </a:xfrm>
          <a:prstGeom prst="roundRect">
            <a:avLst>
              <a:gd name="adj" fmla="val 12903"/>
            </a:avLst>
          </a:prstGeom>
          <a:solidFill>
            <a:srgbClr val="FFFFFF"/>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4" name="Google Shape;494;p24"/>
          <p:cNvSpPr/>
          <p:nvPr/>
        </p:nvSpPr>
        <p:spPr>
          <a:xfrm>
            <a:off x="685800" y="3611880"/>
            <a:ext cx="329184" cy="329184"/>
          </a:xfrm>
          <a:prstGeom prst="ellipse">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5" name="Google Shape;495;p24"/>
          <p:cNvSpPr/>
          <p:nvPr/>
        </p:nvSpPr>
        <p:spPr>
          <a:xfrm>
            <a:off x="685800" y="3611880"/>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rw-RW" sz="1300" b="1">
                <a:solidFill>
                  <a:srgbClr val="FFFFFF"/>
                </a:solidFill>
                <a:latin typeface="Calibri"/>
                <a:ea typeface="Calibri"/>
                <a:cs typeface="Calibri"/>
                <a:sym typeface="Calibri"/>
              </a:rPr>
              <a:t>A</a:t>
            </a:r>
            <a:endParaRPr sz="1300">
              <a:solidFill>
                <a:schemeClr val="dk1"/>
              </a:solidFill>
              <a:latin typeface="Calibri"/>
              <a:ea typeface="Calibri"/>
              <a:cs typeface="Calibri"/>
              <a:sym typeface="Calibri"/>
            </a:endParaRPr>
          </a:p>
        </p:txBody>
      </p:sp>
      <p:sp>
        <p:nvSpPr>
          <p:cNvPr id="496" name="Google Shape;496;p24"/>
          <p:cNvSpPr/>
          <p:nvPr/>
        </p:nvSpPr>
        <p:spPr>
          <a:xfrm>
            <a:off x="1133856" y="3529584"/>
            <a:ext cx="5669280" cy="4937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00"/>
              <a:buFont typeface="Calibri"/>
              <a:buNone/>
            </a:pPr>
            <a:r>
              <a:rPr lang="rw-RW" sz="1700">
                <a:solidFill>
                  <a:srgbClr val="16334F"/>
                </a:solidFill>
                <a:latin typeface="Calibri"/>
                <a:ea typeface="Calibri"/>
                <a:cs typeface="Calibri"/>
                <a:sym typeface="Calibri"/>
              </a:rPr>
              <a:t>Yego, aka gakoko gasobanura ko umuntu arwaye kanseri</a:t>
            </a:r>
            <a:endParaRPr sz="1700">
              <a:solidFill>
                <a:schemeClr val="dk1"/>
              </a:solidFill>
              <a:latin typeface="Calibri"/>
              <a:ea typeface="Calibri"/>
              <a:cs typeface="Calibri"/>
              <a:sym typeface="Calibri"/>
            </a:endParaRPr>
          </a:p>
        </p:txBody>
      </p:sp>
      <p:sp>
        <p:nvSpPr>
          <p:cNvPr id="497" name="Google Shape;497;p24"/>
          <p:cNvSpPr/>
          <p:nvPr/>
        </p:nvSpPr>
        <p:spPr>
          <a:xfrm>
            <a:off x="548640" y="4151376"/>
            <a:ext cx="6400800" cy="566928"/>
          </a:xfrm>
          <a:prstGeom prst="roundRect">
            <a:avLst>
              <a:gd name="adj" fmla="val 12903"/>
            </a:avLst>
          </a:prstGeom>
          <a:solidFill>
            <a:srgbClr val="E9F5EE"/>
          </a:solidFill>
          <a:ln w="19050" cap="flat" cmpd="sng">
            <a:solidFill>
              <a:srgbClr val="1B7A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8" name="Google Shape;498;p24"/>
          <p:cNvSpPr/>
          <p:nvPr/>
        </p:nvSpPr>
        <p:spPr>
          <a:xfrm>
            <a:off x="685800" y="4270248"/>
            <a:ext cx="329184" cy="329184"/>
          </a:xfrm>
          <a:prstGeom prst="ellipse">
            <a:avLst/>
          </a:prstGeom>
          <a:solidFill>
            <a:srgbClr val="1B7A4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9" name="Google Shape;499;p24"/>
          <p:cNvSpPr/>
          <p:nvPr/>
        </p:nvSpPr>
        <p:spPr>
          <a:xfrm>
            <a:off x="685800" y="4270248"/>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rw-RW" sz="1300" b="1">
                <a:solidFill>
                  <a:srgbClr val="FFFFFF"/>
                </a:solidFill>
                <a:latin typeface="Calibri"/>
                <a:ea typeface="Calibri"/>
                <a:cs typeface="Calibri"/>
                <a:sym typeface="Calibri"/>
              </a:rPr>
              <a:t>B</a:t>
            </a:r>
            <a:endParaRPr sz="1300">
              <a:solidFill>
                <a:schemeClr val="dk1"/>
              </a:solidFill>
              <a:latin typeface="Calibri"/>
              <a:ea typeface="Calibri"/>
              <a:cs typeface="Calibri"/>
              <a:sym typeface="Calibri"/>
            </a:endParaRPr>
          </a:p>
        </p:txBody>
      </p:sp>
      <p:sp>
        <p:nvSpPr>
          <p:cNvPr id="500" name="Google Shape;500;p24"/>
          <p:cNvSpPr/>
          <p:nvPr/>
        </p:nvSpPr>
        <p:spPr>
          <a:xfrm>
            <a:off x="1133856" y="4187952"/>
            <a:ext cx="5669280" cy="493776"/>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1B7A46"/>
              </a:buClr>
              <a:buSzPts val="1657"/>
              <a:buFont typeface="Calibri"/>
              <a:buNone/>
            </a:pPr>
            <a:r>
              <a:rPr lang="rw-RW" sz="1700" b="1">
                <a:solidFill>
                  <a:srgbClr val="1B7A46"/>
                </a:solidFill>
                <a:latin typeface="Calibri"/>
                <a:ea typeface="Calibri"/>
                <a:cs typeface="Calibri"/>
                <a:sym typeface="Calibri"/>
              </a:rPr>
              <a:t>H. pylori si kanseri. Yongera ibyago byo kuyirwara, kandi irashobora kuvurwa.</a:t>
            </a:r>
            <a:endParaRPr sz="1658">
              <a:solidFill>
                <a:schemeClr val="dk1"/>
              </a:solidFill>
              <a:latin typeface="Calibri"/>
              <a:ea typeface="Calibri"/>
              <a:cs typeface="Calibri"/>
              <a:sym typeface="Calibri"/>
            </a:endParaRPr>
          </a:p>
        </p:txBody>
      </p:sp>
      <p:sp>
        <p:nvSpPr>
          <p:cNvPr id="501" name="Google Shape;501;p24"/>
          <p:cNvSpPr/>
          <p:nvPr/>
        </p:nvSpPr>
        <p:spPr>
          <a:xfrm>
            <a:off x="548640" y="4809744"/>
            <a:ext cx="6400800" cy="566928"/>
          </a:xfrm>
          <a:prstGeom prst="roundRect">
            <a:avLst>
              <a:gd name="adj" fmla="val 12903"/>
            </a:avLst>
          </a:prstGeom>
          <a:solidFill>
            <a:srgbClr val="FFFFFF"/>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2" name="Google Shape;502;p24"/>
          <p:cNvSpPr/>
          <p:nvPr/>
        </p:nvSpPr>
        <p:spPr>
          <a:xfrm>
            <a:off x="685800" y="4928616"/>
            <a:ext cx="329184" cy="329184"/>
          </a:xfrm>
          <a:prstGeom prst="ellipse">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3" name="Google Shape;503;p24"/>
          <p:cNvSpPr/>
          <p:nvPr/>
        </p:nvSpPr>
        <p:spPr>
          <a:xfrm>
            <a:off x="685800" y="4928616"/>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rw-RW" sz="1300" b="1">
                <a:solidFill>
                  <a:srgbClr val="FFFFFF"/>
                </a:solidFill>
                <a:latin typeface="Calibri"/>
                <a:ea typeface="Calibri"/>
                <a:cs typeface="Calibri"/>
                <a:sym typeface="Calibri"/>
              </a:rPr>
              <a:t>C</a:t>
            </a:r>
            <a:endParaRPr sz="1300">
              <a:solidFill>
                <a:schemeClr val="dk1"/>
              </a:solidFill>
              <a:latin typeface="Calibri"/>
              <a:ea typeface="Calibri"/>
              <a:cs typeface="Calibri"/>
              <a:sym typeface="Calibri"/>
            </a:endParaRPr>
          </a:p>
        </p:txBody>
      </p:sp>
      <p:sp>
        <p:nvSpPr>
          <p:cNvPr id="504" name="Google Shape;504;p24"/>
          <p:cNvSpPr/>
          <p:nvPr/>
        </p:nvSpPr>
        <p:spPr>
          <a:xfrm>
            <a:off x="1133856" y="4846320"/>
            <a:ext cx="5669280" cy="4937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00"/>
              <a:buFont typeface="Calibri"/>
              <a:buNone/>
            </a:pPr>
            <a:r>
              <a:rPr lang="rw-RW" sz="1700">
                <a:solidFill>
                  <a:srgbClr val="16334F"/>
                </a:solidFill>
                <a:latin typeface="Calibri"/>
                <a:ea typeface="Calibri"/>
                <a:cs typeface="Calibri"/>
                <a:sym typeface="Calibri"/>
              </a:rPr>
              <a:t>Nta muntu n'umwe ushobora gukora kuri iyi ndwara</a:t>
            </a:r>
            <a:endParaRPr sz="1700">
              <a:solidFill>
                <a:schemeClr val="dk1"/>
              </a:solidFill>
              <a:latin typeface="Calibri"/>
              <a:ea typeface="Calibri"/>
              <a:cs typeface="Calibri"/>
              <a:sym typeface="Calibri"/>
            </a:endParaRPr>
          </a:p>
        </p:txBody>
      </p:sp>
      <p:sp>
        <p:nvSpPr>
          <p:cNvPr id="505" name="Google Shape;505;p24"/>
          <p:cNvSpPr/>
          <p:nvPr/>
        </p:nvSpPr>
        <p:spPr>
          <a:xfrm>
            <a:off x="548640" y="5468112"/>
            <a:ext cx="6400800" cy="566928"/>
          </a:xfrm>
          <a:prstGeom prst="roundRect">
            <a:avLst>
              <a:gd name="adj" fmla="val 12903"/>
            </a:avLst>
          </a:prstGeom>
          <a:solidFill>
            <a:srgbClr val="FFFFFF"/>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6" name="Google Shape;506;p24"/>
          <p:cNvSpPr/>
          <p:nvPr/>
        </p:nvSpPr>
        <p:spPr>
          <a:xfrm>
            <a:off x="685800" y="5586984"/>
            <a:ext cx="329184" cy="329184"/>
          </a:xfrm>
          <a:prstGeom prst="ellipse">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7" name="Google Shape;507;p24"/>
          <p:cNvSpPr/>
          <p:nvPr/>
        </p:nvSpPr>
        <p:spPr>
          <a:xfrm>
            <a:off x="685800" y="5586984"/>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rw-RW" sz="1300" b="1">
                <a:solidFill>
                  <a:srgbClr val="FFFFFF"/>
                </a:solidFill>
                <a:latin typeface="Calibri"/>
                <a:ea typeface="Calibri"/>
                <a:cs typeface="Calibri"/>
                <a:sym typeface="Calibri"/>
              </a:rPr>
              <a:t>D</a:t>
            </a:r>
            <a:endParaRPr sz="1300">
              <a:solidFill>
                <a:schemeClr val="dk1"/>
              </a:solidFill>
              <a:latin typeface="Calibri"/>
              <a:ea typeface="Calibri"/>
              <a:cs typeface="Calibri"/>
              <a:sym typeface="Calibri"/>
            </a:endParaRPr>
          </a:p>
        </p:txBody>
      </p:sp>
      <p:sp>
        <p:nvSpPr>
          <p:cNvPr id="508" name="Google Shape;508;p24"/>
          <p:cNvSpPr/>
          <p:nvPr/>
        </p:nvSpPr>
        <p:spPr>
          <a:xfrm>
            <a:off x="1133856" y="5504688"/>
            <a:ext cx="5669280" cy="4937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00"/>
              <a:buFont typeface="Calibri"/>
              <a:buNone/>
            </a:pPr>
            <a:r>
              <a:rPr lang="rw-RW" sz="1700">
                <a:solidFill>
                  <a:srgbClr val="16334F"/>
                </a:solidFill>
                <a:latin typeface="Calibri"/>
                <a:ea typeface="Calibri"/>
                <a:cs typeface="Calibri"/>
                <a:sym typeface="Calibri"/>
              </a:rPr>
              <a:t>Ntugire icyo uvuga kandi uhindure ingingo</a:t>
            </a:r>
            <a:endParaRPr sz="1700">
              <a:solidFill>
                <a:schemeClr val="dk1"/>
              </a:solidFill>
              <a:latin typeface="Calibri"/>
              <a:ea typeface="Calibri"/>
              <a:cs typeface="Calibri"/>
              <a:sym typeface="Calibri"/>
            </a:endParaRPr>
          </a:p>
        </p:txBody>
      </p:sp>
      <p:sp>
        <p:nvSpPr>
          <p:cNvPr id="509" name="Google Shape;509;p24"/>
          <p:cNvSpPr/>
          <p:nvPr/>
        </p:nvSpPr>
        <p:spPr>
          <a:xfrm>
            <a:off x="7269480" y="1600200"/>
            <a:ext cx="4370832" cy="3429000"/>
          </a:xfrm>
          <a:prstGeom prst="roundRect">
            <a:avLst>
              <a:gd name="adj" fmla="val 2667"/>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0" name="Google Shape;510;p24"/>
          <p:cNvSpPr/>
          <p:nvPr/>
        </p:nvSpPr>
        <p:spPr>
          <a:xfrm>
            <a:off x="7516368" y="1755648"/>
            <a:ext cx="3877056"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A46"/>
              </a:buClr>
              <a:buSzPts val="2000"/>
              <a:buFont typeface="Cambria"/>
              <a:buNone/>
            </a:pPr>
            <a:r>
              <a:rPr lang="rw-RW" sz="2000" b="1">
                <a:solidFill>
                  <a:srgbClr val="1B7A46"/>
                </a:solidFill>
                <a:latin typeface="Cambria"/>
                <a:ea typeface="Cambria"/>
                <a:cs typeface="Cambria"/>
                <a:sym typeface="Cambria"/>
              </a:rPr>
              <a:t>Igisubizo cyiza: B</a:t>
            </a:r>
            <a:endParaRPr sz="2000">
              <a:solidFill>
                <a:schemeClr val="dk1"/>
              </a:solidFill>
              <a:latin typeface="Calibri"/>
              <a:ea typeface="Calibri"/>
              <a:cs typeface="Calibri"/>
              <a:sym typeface="Calibri"/>
            </a:endParaRPr>
          </a:p>
        </p:txBody>
      </p:sp>
      <p:sp>
        <p:nvSpPr>
          <p:cNvPr id="511" name="Google Shape;511;p24"/>
          <p:cNvSpPr/>
          <p:nvPr/>
        </p:nvSpPr>
        <p:spPr>
          <a:xfrm>
            <a:off x="7516368" y="2212848"/>
            <a:ext cx="3877056" cy="265176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F3D63"/>
              </a:buClr>
              <a:buSzPts val="1600"/>
              <a:buFont typeface="Calibri"/>
              <a:buNone/>
            </a:pPr>
            <a:r>
              <a:rPr lang="rw-RW" sz="1600" b="1">
                <a:solidFill>
                  <a:srgbClr val="0F3D63"/>
                </a:solidFill>
                <a:latin typeface="Calibri"/>
                <a:ea typeface="Calibri"/>
                <a:cs typeface="Calibri"/>
                <a:sym typeface="Calibri"/>
              </a:rPr>
              <a:t>Igisubizo: </a:t>
            </a:r>
            <a:r>
              <a:rPr lang="rw-RW" sz="1600" i="1">
                <a:solidFill>
                  <a:srgbClr val="16334F"/>
                </a:solidFill>
                <a:latin typeface="Calibri"/>
                <a:ea typeface="Calibri"/>
                <a:cs typeface="Calibri"/>
                <a:sym typeface="Calibri"/>
              </a:rPr>
              <a:t>H. pylori </a:t>
            </a:r>
            <a:r>
              <a:rPr lang="rw-RW" sz="1600">
                <a:solidFill>
                  <a:srgbClr val="16334F"/>
                </a:solidFill>
                <a:latin typeface="Calibri"/>
                <a:ea typeface="Calibri"/>
                <a:cs typeface="Calibri"/>
                <a:sym typeface="Calibri"/>
              </a:rPr>
              <a:t>ni mikorobe, ntabwo ari kanseri. Abantu benshi bayirwaye ntibarwara kanseri. Inzego z'ubuzima zishobora kuyipima no kuyivura. Gusobanurira ibi, utuje, bikuraho ubwoba kandi bigafasha umuryango witegura kwitabwaho.</a:t>
            </a:r>
            <a:endParaRPr sz="1600">
              <a:solidFill>
                <a:schemeClr val="dk1"/>
              </a:solidFill>
              <a:latin typeface="Calibri"/>
              <a:ea typeface="Calibri"/>
              <a:cs typeface="Calibri"/>
              <a:sym typeface="Calibri"/>
            </a:endParaRPr>
          </a:p>
        </p:txBody>
      </p:sp>
      <p:sp>
        <p:nvSpPr>
          <p:cNvPr id="512" name="Google Shape;512;p24"/>
          <p:cNvSpPr/>
          <p:nvPr/>
        </p:nvSpPr>
        <p:spPr>
          <a:xfrm>
            <a:off x="7516368" y="5175504"/>
            <a:ext cx="3877056" cy="91440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B3261E"/>
              </a:buClr>
              <a:buSzPts val="1358"/>
              <a:buFont typeface="Calibri"/>
              <a:buNone/>
            </a:pPr>
            <a:r>
              <a:rPr lang="rw-RW" sz="1400" b="1">
                <a:solidFill>
                  <a:srgbClr val="B3261E"/>
                </a:solidFill>
                <a:latin typeface="Calibri"/>
                <a:ea typeface="Calibri"/>
                <a:cs typeface="Calibri"/>
                <a:sym typeface="Calibri"/>
              </a:rPr>
              <a:t>Niba umunyeshuri ahisemo A: Kuvuga ko aka gakoko gasobanura kanseri ni ukwibeshya kandi bishobora gutera umuryango ubwoba butuma batajya kwivuza.</a:t>
            </a:r>
            <a:endParaRPr sz="1358">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17"/>
        <p:cNvGrpSpPr/>
        <p:nvPr/>
      </p:nvGrpSpPr>
      <p:grpSpPr>
        <a:xfrm>
          <a:off x="0" y="0"/>
          <a:ext cx="0" cy="0"/>
          <a:chOff x="0" y="0"/>
          <a:chExt cx="0" cy="0"/>
        </a:xfrm>
      </p:grpSpPr>
      <p:sp>
        <p:nvSpPr>
          <p:cNvPr id="518" name="Google Shape;518;p25"/>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IGICE CYA MBERE</a:t>
            </a:r>
            <a:endParaRPr lang="rw-RW" sz="1100" dirty="0">
              <a:solidFill>
                <a:schemeClr val="dk1"/>
              </a:solidFill>
              <a:latin typeface="Calibri"/>
              <a:ea typeface="Calibri"/>
              <a:cs typeface="Calibri"/>
              <a:sym typeface="Calibri"/>
            </a:endParaRPr>
          </a:p>
        </p:txBody>
      </p:sp>
      <p:sp>
        <p:nvSpPr>
          <p:cNvPr id="519" name="Google Shape;519;p25"/>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Kugenzura ubumenyi (1/2)</a:t>
            </a:r>
            <a:endParaRPr sz="3200">
              <a:solidFill>
                <a:schemeClr val="dk1"/>
              </a:solidFill>
              <a:latin typeface="Calibri"/>
              <a:ea typeface="Calibri"/>
              <a:cs typeface="Calibri"/>
              <a:sym typeface="Calibri"/>
            </a:endParaRPr>
          </a:p>
        </p:txBody>
      </p:sp>
      <p:sp>
        <p:nvSpPr>
          <p:cNvPr id="520" name="Google Shape;520;p25"/>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521" name="Google Shape;521;p25"/>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2" name="Google Shape;522;p25"/>
          <p:cNvSpPr/>
          <p:nvPr/>
        </p:nvSpPr>
        <p:spPr>
          <a:xfrm>
            <a:off x="804672" y="17922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a:solidFill>
                  <a:srgbClr val="0F3D63"/>
                </a:solidFill>
                <a:latin typeface="Calibri"/>
                <a:ea typeface="Calibri"/>
                <a:cs typeface="Calibri"/>
                <a:sym typeface="Calibri"/>
              </a:rPr>
              <a:t>Q1. Kanseri y'igifu itangirira mu kihe gice cy'umubiri?</a:t>
            </a:r>
            <a:endParaRPr sz="1900">
              <a:solidFill>
                <a:schemeClr val="dk1"/>
              </a:solidFill>
              <a:latin typeface="Calibri"/>
              <a:ea typeface="Calibri"/>
              <a:cs typeface="Calibri"/>
              <a:sym typeface="Calibri"/>
            </a:endParaRPr>
          </a:p>
        </p:txBody>
      </p:sp>
      <p:sp>
        <p:nvSpPr>
          <p:cNvPr id="523" name="Google Shape;523;p25"/>
          <p:cNvSpPr/>
          <p:nvPr/>
        </p:nvSpPr>
        <p:spPr>
          <a:xfrm>
            <a:off x="822960" y="22311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A. </a:t>
            </a:r>
            <a:r>
              <a:rPr lang="rw-RW" sz="1750">
                <a:solidFill>
                  <a:srgbClr val="16334F"/>
                </a:solidFill>
                <a:latin typeface="Calibri"/>
                <a:ea typeface="Calibri"/>
                <a:cs typeface="Calibri"/>
                <a:sym typeface="Calibri"/>
              </a:rPr>
              <a:t>Ibihaha</a:t>
            </a:r>
            <a:endParaRPr sz="1750">
              <a:solidFill>
                <a:schemeClr val="dk1"/>
              </a:solidFill>
              <a:latin typeface="Calibri"/>
              <a:ea typeface="Calibri"/>
              <a:cs typeface="Calibri"/>
              <a:sym typeface="Calibri"/>
            </a:endParaRPr>
          </a:p>
        </p:txBody>
      </p:sp>
      <p:sp>
        <p:nvSpPr>
          <p:cNvPr id="524" name="Google Shape;524;p25"/>
          <p:cNvSpPr/>
          <p:nvPr/>
        </p:nvSpPr>
        <p:spPr>
          <a:xfrm>
            <a:off x="6172200" y="22311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A46"/>
              </a:buClr>
              <a:buSzPts val="1750"/>
              <a:buFont typeface="Calibri"/>
              <a:buNone/>
            </a:pPr>
            <a:r>
              <a:rPr lang="rw-RW" sz="1750" b="1">
                <a:solidFill>
                  <a:srgbClr val="1B7A46"/>
                </a:solidFill>
                <a:latin typeface="Calibri"/>
                <a:ea typeface="Calibri"/>
                <a:cs typeface="Calibri"/>
                <a:sym typeface="Calibri"/>
              </a:rPr>
              <a:t>B. igifu ✓</a:t>
            </a:r>
            <a:endParaRPr sz="1750">
              <a:solidFill>
                <a:schemeClr val="dk1"/>
              </a:solidFill>
              <a:latin typeface="Calibri"/>
              <a:ea typeface="Calibri"/>
              <a:cs typeface="Calibri"/>
              <a:sym typeface="Calibri"/>
            </a:endParaRPr>
          </a:p>
        </p:txBody>
      </p:sp>
      <p:sp>
        <p:nvSpPr>
          <p:cNvPr id="525" name="Google Shape;525;p25"/>
          <p:cNvSpPr/>
          <p:nvPr/>
        </p:nvSpPr>
        <p:spPr>
          <a:xfrm>
            <a:off x="822960" y="27066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Umutima</a:t>
            </a:r>
            <a:endParaRPr sz="1750">
              <a:solidFill>
                <a:schemeClr val="dk1"/>
              </a:solidFill>
              <a:latin typeface="Calibri"/>
              <a:ea typeface="Calibri"/>
              <a:cs typeface="Calibri"/>
              <a:sym typeface="Calibri"/>
            </a:endParaRPr>
          </a:p>
        </p:txBody>
      </p:sp>
      <p:sp>
        <p:nvSpPr>
          <p:cNvPr id="526" name="Google Shape;526;p25"/>
          <p:cNvSpPr/>
          <p:nvPr/>
        </p:nvSpPr>
        <p:spPr>
          <a:xfrm>
            <a:off x="6172200" y="27066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D. </a:t>
            </a:r>
            <a:r>
              <a:rPr lang="rw-RW" sz="1750">
                <a:solidFill>
                  <a:srgbClr val="16334F"/>
                </a:solidFill>
                <a:latin typeface="Calibri"/>
                <a:ea typeface="Calibri"/>
                <a:cs typeface="Calibri"/>
                <a:sym typeface="Calibri"/>
              </a:rPr>
              <a:t>Impyiko</a:t>
            </a:r>
            <a:endParaRPr sz="1750">
              <a:solidFill>
                <a:schemeClr val="dk1"/>
              </a:solidFill>
              <a:latin typeface="Calibri"/>
              <a:ea typeface="Calibri"/>
              <a:cs typeface="Calibri"/>
              <a:sym typeface="Calibri"/>
            </a:endParaRPr>
          </a:p>
        </p:txBody>
      </p:sp>
      <p:sp>
        <p:nvSpPr>
          <p:cNvPr id="527" name="Google Shape;527;p25"/>
          <p:cNvSpPr/>
          <p:nvPr/>
        </p:nvSpPr>
        <p:spPr>
          <a:xfrm>
            <a:off x="822960" y="325526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600"/>
              <a:buFont typeface="Calibri"/>
              <a:buNone/>
            </a:pPr>
            <a:r>
              <a:rPr lang="rw-RW" sz="1600" b="1">
                <a:solidFill>
                  <a:srgbClr val="1B7A46"/>
                </a:solidFill>
                <a:latin typeface="Calibri"/>
                <a:ea typeface="Calibri"/>
                <a:cs typeface="Calibri"/>
                <a:sym typeface="Calibri"/>
              </a:rPr>
              <a:t>Ukuri: B.</a:t>
            </a:r>
            <a:r>
              <a:rPr lang="rw-RW" sz="1600" i="1">
                <a:solidFill>
                  <a:srgbClr val="1B7A46"/>
                </a:solidFill>
                <a:latin typeface="Calibri"/>
                <a:ea typeface="Calibri"/>
                <a:cs typeface="Calibri"/>
                <a:sym typeface="Calibri"/>
              </a:rPr>
              <a:t> Itangirira mu gifu, igice cyo munda kimeze nk’agafuka kabika ibiryo.</a:t>
            </a:r>
            <a:endParaRPr sz="1600">
              <a:solidFill>
                <a:schemeClr val="dk1"/>
              </a:solidFill>
              <a:latin typeface="Calibri"/>
              <a:ea typeface="Calibri"/>
              <a:cs typeface="Calibri"/>
              <a:sym typeface="Calibri"/>
            </a:endParaRPr>
          </a:p>
        </p:txBody>
      </p:sp>
      <p:sp>
        <p:nvSpPr>
          <p:cNvPr id="528" name="Google Shape;528;p25"/>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9" name="Google Shape;529;p25"/>
          <p:cNvSpPr/>
          <p:nvPr/>
        </p:nvSpPr>
        <p:spPr>
          <a:xfrm>
            <a:off x="804672" y="42153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a:solidFill>
                  <a:srgbClr val="0F3D63"/>
                </a:solidFill>
                <a:latin typeface="Calibri"/>
                <a:ea typeface="Calibri"/>
                <a:cs typeface="Calibri"/>
                <a:sym typeface="Calibri"/>
              </a:rPr>
              <a:t>Q2. Mu ntangiriro zayo, kanseri y'igifu akenshi itera ibi bikurikira:</a:t>
            </a:r>
            <a:endParaRPr sz="1900">
              <a:solidFill>
                <a:schemeClr val="dk1"/>
              </a:solidFill>
              <a:latin typeface="Calibri"/>
              <a:ea typeface="Calibri"/>
              <a:cs typeface="Calibri"/>
              <a:sym typeface="Calibri"/>
            </a:endParaRPr>
          </a:p>
        </p:txBody>
      </p:sp>
      <p:sp>
        <p:nvSpPr>
          <p:cNvPr id="530" name="Google Shape;530;p25"/>
          <p:cNvSpPr/>
          <p:nvPr/>
        </p:nvSpPr>
        <p:spPr>
          <a:xfrm>
            <a:off x="822960" y="46542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A. </a:t>
            </a:r>
            <a:r>
              <a:rPr lang="rw-RW" sz="1750">
                <a:solidFill>
                  <a:srgbClr val="16334F"/>
                </a:solidFill>
                <a:latin typeface="Calibri"/>
                <a:ea typeface="Calibri"/>
                <a:cs typeface="Calibri"/>
                <a:sym typeface="Calibri"/>
              </a:rPr>
              <a:t>Ububabare bukomeye kuri buri wese</a:t>
            </a:r>
            <a:endParaRPr sz="1750">
              <a:solidFill>
                <a:schemeClr val="dk1"/>
              </a:solidFill>
              <a:latin typeface="Calibri"/>
              <a:ea typeface="Calibri"/>
              <a:cs typeface="Calibri"/>
              <a:sym typeface="Calibri"/>
            </a:endParaRPr>
          </a:p>
        </p:txBody>
      </p:sp>
      <p:sp>
        <p:nvSpPr>
          <p:cNvPr id="531" name="Google Shape;531;p25"/>
          <p:cNvSpPr/>
          <p:nvPr/>
        </p:nvSpPr>
        <p:spPr>
          <a:xfrm>
            <a:off x="6172200" y="46542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A46"/>
              </a:buClr>
              <a:buSzPts val="1750"/>
              <a:buFont typeface="Calibri"/>
              <a:buNone/>
            </a:pPr>
            <a:r>
              <a:rPr lang="rw-RW" sz="1750" b="1">
                <a:solidFill>
                  <a:srgbClr val="1B7A46"/>
                </a:solidFill>
                <a:latin typeface="Calibri"/>
                <a:ea typeface="Calibri"/>
                <a:cs typeface="Calibri"/>
                <a:sym typeface="Calibri"/>
              </a:rPr>
              <a:t>B. Ibimenyetso bike cyangwa bidasobanutse ✓</a:t>
            </a:r>
            <a:endParaRPr sz="1750">
              <a:solidFill>
                <a:schemeClr val="dk1"/>
              </a:solidFill>
              <a:latin typeface="Calibri"/>
              <a:ea typeface="Calibri"/>
              <a:cs typeface="Calibri"/>
              <a:sym typeface="Calibri"/>
            </a:endParaRPr>
          </a:p>
        </p:txBody>
      </p:sp>
      <p:sp>
        <p:nvSpPr>
          <p:cNvPr id="532" name="Google Shape;532;p25"/>
          <p:cNvSpPr/>
          <p:nvPr/>
        </p:nvSpPr>
        <p:spPr>
          <a:xfrm>
            <a:off x="822960" y="51297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Umuriro mwinshi</a:t>
            </a:r>
            <a:endParaRPr sz="1750">
              <a:solidFill>
                <a:schemeClr val="dk1"/>
              </a:solidFill>
              <a:latin typeface="Calibri"/>
              <a:ea typeface="Calibri"/>
              <a:cs typeface="Calibri"/>
              <a:sym typeface="Calibri"/>
            </a:endParaRPr>
          </a:p>
        </p:txBody>
      </p:sp>
      <p:sp>
        <p:nvSpPr>
          <p:cNvPr id="533" name="Google Shape;533;p25"/>
          <p:cNvSpPr/>
          <p:nvPr/>
        </p:nvSpPr>
        <p:spPr>
          <a:xfrm>
            <a:off x="6172200" y="51297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50"/>
              <a:buFont typeface="Calibri"/>
              <a:buNone/>
            </a:pPr>
            <a:r>
              <a:rPr lang="rw-RW" sz="1750" b="1">
                <a:solidFill>
                  <a:srgbClr val="16334F"/>
                </a:solidFill>
                <a:latin typeface="Calibri"/>
                <a:ea typeface="Calibri"/>
                <a:cs typeface="Calibri"/>
                <a:sym typeface="Calibri"/>
              </a:rPr>
              <a:t>D. </a:t>
            </a:r>
            <a:r>
              <a:rPr lang="rw-RW" sz="1750">
                <a:solidFill>
                  <a:srgbClr val="16334F"/>
                </a:solidFill>
                <a:latin typeface="Calibri"/>
                <a:ea typeface="Calibri"/>
                <a:cs typeface="Calibri"/>
                <a:sym typeface="Calibri"/>
              </a:rPr>
              <a:t>Ibibazo by'uruhu</a:t>
            </a:r>
            <a:endParaRPr sz="1750">
              <a:solidFill>
                <a:schemeClr val="dk1"/>
              </a:solidFill>
              <a:latin typeface="Calibri"/>
              <a:ea typeface="Calibri"/>
              <a:cs typeface="Calibri"/>
              <a:sym typeface="Calibri"/>
            </a:endParaRPr>
          </a:p>
        </p:txBody>
      </p:sp>
      <p:sp>
        <p:nvSpPr>
          <p:cNvPr id="534" name="Google Shape;534;p25"/>
          <p:cNvSpPr/>
          <p:nvPr/>
        </p:nvSpPr>
        <p:spPr>
          <a:xfrm>
            <a:off x="822960" y="567842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600"/>
              <a:buFont typeface="Calibri"/>
              <a:buNone/>
            </a:pPr>
            <a:r>
              <a:rPr lang="rw-RW" sz="1600" b="1">
                <a:solidFill>
                  <a:srgbClr val="1B7A46"/>
                </a:solidFill>
                <a:latin typeface="Calibri"/>
                <a:ea typeface="Calibri"/>
                <a:cs typeface="Calibri"/>
                <a:sym typeface="Calibri"/>
              </a:rPr>
              <a:t>Ukuri: B. </a:t>
            </a:r>
            <a:r>
              <a:rPr lang="rw-RW" sz="1600" i="1">
                <a:solidFill>
                  <a:srgbClr val="1B7A46"/>
                </a:solidFill>
                <a:latin typeface="Calibri"/>
                <a:ea typeface="Calibri"/>
                <a:cs typeface="Calibri"/>
                <a:sym typeface="Calibri"/>
              </a:rPr>
              <a:t>Mu ntagiriro, indwara ikunze guceceka, bityo ibimenyetso bimaze igihe bigomba gusuzumwa.</a:t>
            </a:r>
            <a:endParaRPr sz="16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9"/>
        <p:cNvGrpSpPr/>
        <p:nvPr/>
      </p:nvGrpSpPr>
      <p:grpSpPr>
        <a:xfrm>
          <a:off x="0" y="0"/>
          <a:ext cx="0" cy="0"/>
          <a:chOff x="0" y="0"/>
          <a:chExt cx="0" cy="0"/>
        </a:xfrm>
      </p:grpSpPr>
      <p:sp>
        <p:nvSpPr>
          <p:cNvPr id="540" name="Google Shape;540;p26"/>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IGICE CYA MBERE</a:t>
            </a:r>
            <a:endParaRPr lang="rw-RW" sz="1100" dirty="0">
              <a:solidFill>
                <a:schemeClr val="dk1"/>
              </a:solidFill>
              <a:latin typeface="Calibri"/>
              <a:ea typeface="Calibri"/>
              <a:cs typeface="Calibri"/>
              <a:sym typeface="Calibri"/>
            </a:endParaRPr>
          </a:p>
        </p:txBody>
      </p:sp>
      <p:sp>
        <p:nvSpPr>
          <p:cNvPr id="541" name="Google Shape;541;p26"/>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Igenzura ry'ubumenyi (2/2)</a:t>
            </a:r>
            <a:endParaRPr sz="3200">
              <a:solidFill>
                <a:schemeClr val="dk1"/>
              </a:solidFill>
              <a:latin typeface="Calibri"/>
              <a:ea typeface="Calibri"/>
              <a:cs typeface="Calibri"/>
              <a:sym typeface="Calibri"/>
            </a:endParaRPr>
          </a:p>
        </p:txBody>
      </p:sp>
      <p:sp>
        <p:nvSpPr>
          <p:cNvPr id="542" name="Google Shape;542;p26"/>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543" name="Google Shape;543;p26"/>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4" name="Google Shape;544;p26"/>
          <p:cNvSpPr/>
          <p:nvPr/>
        </p:nvSpPr>
        <p:spPr>
          <a:xfrm>
            <a:off x="804672" y="17922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a:solidFill>
                  <a:srgbClr val="0F3D63"/>
                </a:solidFill>
                <a:latin typeface="Calibri"/>
                <a:ea typeface="Calibri"/>
                <a:cs typeface="Calibri"/>
                <a:sym typeface="Calibri"/>
              </a:rPr>
              <a:t>Q3. Umuntu ufite agakoko ka </a:t>
            </a:r>
            <a:r>
              <a:rPr lang="rw-RW" sz="1900" b="1" i="1">
                <a:solidFill>
                  <a:srgbClr val="0F3D63"/>
                </a:solidFill>
                <a:latin typeface="Calibri"/>
                <a:ea typeface="Calibri"/>
                <a:cs typeface="Calibri"/>
                <a:sym typeface="Calibri"/>
              </a:rPr>
              <a:t>H. pylori</a:t>
            </a:r>
            <a:r>
              <a:rPr lang="rw-RW" sz="1900" b="1">
                <a:solidFill>
                  <a:srgbClr val="0F3D63"/>
                </a:solidFill>
                <a:latin typeface="Calibri"/>
                <a:ea typeface="Calibri"/>
                <a:cs typeface="Calibri"/>
                <a:sym typeface="Calibri"/>
              </a:rPr>
              <a:t>, bivuze ko: </a:t>
            </a:r>
            <a:endParaRPr sz="1900">
              <a:solidFill>
                <a:schemeClr val="dk1"/>
              </a:solidFill>
              <a:latin typeface="Calibri"/>
              <a:ea typeface="Calibri"/>
              <a:cs typeface="Calibri"/>
              <a:sym typeface="Calibri"/>
            </a:endParaRPr>
          </a:p>
        </p:txBody>
      </p:sp>
      <p:sp>
        <p:nvSpPr>
          <p:cNvPr id="545" name="Google Shape;545;p26"/>
          <p:cNvSpPr/>
          <p:nvPr/>
        </p:nvSpPr>
        <p:spPr>
          <a:xfrm>
            <a:off x="822960" y="22311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A. </a:t>
            </a:r>
            <a:r>
              <a:rPr lang="rw-RW" sz="1750">
                <a:solidFill>
                  <a:srgbClr val="16334F"/>
                </a:solidFill>
                <a:latin typeface="Calibri"/>
                <a:ea typeface="Calibri"/>
                <a:cs typeface="Calibri"/>
                <a:sym typeface="Calibri"/>
              </a:rPr>
              <a:t>Uwo muntu arwaye kanseri</a:t>
            </a:r>
            <a:endParaRPr sz="1628">
              <a:solidFill>
                <a:schemeClr val="dk1"/>
              </a:solidFill>
              <a:latin typeface="Calibri"/>
              <a:ea typeface="Calibri"/>
              <a:cs typeface="Calibri"/>
              <a:sym typeface="Calibri"/>
            </a:endParaRPr>
          </a:p>
        </p:txBody>
      </p:sp>
      <p:sp>
        <p:nvSpPr>
          <p:cNvPr id="546" name="Google Shape;546;p26"/>
          <p:cNvSpPr/>
          <p:nvPr/>
        </p:nvSpPr>
        <p:spPr>
          <a:xfrm>
            <a:off x="6172200" y="2231136"/>
            <a:ext cx="5166360" cy="438912"/>
          </a:xfrm>
          <a:prstGeom prst="rect">
            <a:avLst/>
          </a:prstGeom>
          <a:noFill/>
          <a:ln>
            <a:noFill/>
          </a:ln>
        </p:spPr>
        <p:txBody>
          <a:bodyPr spcFirstLastPara="1" wrap="square" lIns="0" tIns="0" rIns="0" bIns="0" anchor="ctr" anchorCtr="0">
            <a:normAutofit lnSpcReduction="10000"/>
          </a:bodyPr>
          <a:lstStyle/>
          <a:p>
            <a:pPr marL="0" marR="0" lvl="0" indent="0" algn="l" rtl="0">
              <a:lnSpc>
                <a:spcPct val="90000"/>
              </a:lnSpc>
              <a:spcBef>
                <a:spcPts val="0"/>
              </a:spcBef>
              <a:spcAft>
                <a:spcPts val="0"/>
              </a:spcAft>
              <a:buClr>
                <a:srgbClr val="1B7A46"/>
              </a:buClr>
              <a:buSzPts val="1496"/>
              <a:buFont typeface="Calibri"/>
              <a:buNone/>
            </a:pPr>
            <a:r>
              <a:rPr lang="rw-RW" sz="1750" b="1">
                <a:solidFill>
                  <a:srgbClr val="1B7A46"/>
                </a:solidFill>
                <a:latin typeface="Calibri"/>
                <a:ea typeface="Calibri"/>
                <a:cs typeface="Calibri"/>
                <a:sym typeface="Calibri"/>
              </a:rPr>
              <a:t>B. Ibyago byo kurwara kanseri biri hejuru, ariko abenshi ntibarwara kanseri ✓</a:t>
            </a:r>
            <a:endParaRPr sz="1496">
              <a:solidFill>
                <a:schemeClr val="dk1"/>
              </a:solidFill>
              <a:latin typeface="Calibri"/>
              <a:ea typeface="Calibri"/>
              <a:cs typeface="Calibri"/>
              <a:sym typeface="Calibri"/>
            </a:endParaRPr>
          </a:p>
        </p:txBody>
      </p:sp>
      <p:sp>
        <p:nvSpPr>
          <p:cNvPr id="547" name="Google Shape;547;p26"/>
          <p:cNvSpPr/>
          <p:nvPr/>
        </p:nvSpPr>
        <p:spPr>
          <a:xfrm>
            <a:off x="82296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C. </a:t>
            </a:r>
            <a:r>
              <a:rPr lang="rw-RW" sz="1750">
                <a:solidFill>
                  <a:srgbClr val="16334F"/>
                </a:solidFill>
                <a:latin typeface="Calibri"/>
                <a:ea typeface="Calibri"/>
                <a:cs typeface="Calibri"/>
                <a:sym typeface="Calibri"/>
              </a:rPr>
              <a:t>Nta kintu na kimwe gishobora gukorwa</a:t>
            </a:r>
            <a:endParaRPr sz="1628">
              <a:solidFill>
                <a:schemeClr val="dk1"/>
              </a:solidFill>
              <a:latin typeface="Calibri"/>
              <a:ea typeface="Calibri"/>
              <a:cs typeface="Calibri"/>
              <a:sym typeface="Calibri"/>
            </a:endParaRPr>
          </a:p>
        </p:txBody>
      </p:sp>
      <p:sp>
        <p:nvSpPr>
          <p:cNvPr id="548" name="Google Shape;548;p26"/>
          <p:cNvSpPr/>
          <p:nvPr/>
        </p:nvSpPr>
        <p:spPr>
          <a:xfrm>
            <a:off x="617220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D. </a:t>
            </a:r>
            <a:r>
              <a:rPr lang="rw-RW" sz="1750">
                <a:solidFill>
                  <a:srgbClr val="16334F"/>
                </a:solidFill>
                <a:latin typeface="Calibri"/>
                <a:ea typeface="Calibri"/>
                <a:cs typeface="Calibri"/>
                <a:sym typeface="Calibri"/>
              </a:rPr>
              <a:t>Umuntu agomba kubagwa</a:t>
            </a:r>
            <a:endParaRPr sz="1628">
              <a:solidFill>
                <a:schemeClr val="dk1"/>
              </a:solidFill>
              <a:latin typeface="Calibri"/>
              <a:ea typeface="Calibri"/>
              <a:cs typeface="Calibri"/>
              <a:sym typeface="Calibri"/>
            </a:endParaRPr>
          </a:p>
        </p:txBody>
      </p:sp>
      <p:sp>
        <p:nvSpPr>
          <p:cNvPr id="549" name="Google Shape;549;p26"/>
          <p:cNvSpPr/>
          <p:nvPr/>
        </p:nvSpPr>
        <p:spPr>
          <a:xfrm>
            <a:off x="822960" y="325526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600"/>
              <a:buFont typeface="Calibri"/>
              <a:buNone/>
            </a:pPr>
            <a:r>
              <a:rPr lang="rw-RW" sz="1600" b="1">
                <a:solidFill>
                  <a:srgbClr val="1B7A46"/>
                </a:solidFill>
                <a:latin typeface="Calibri"/>
                <a:ea typeface="Calibri"/>
                <a:cs typeface="Calibri"/>
                <a:sym typeface="Calibri"/>
              </a:rPr>
              <a:t>Ukuri: B. </a:t>
            </a:r>
            <a:r>
              <a:rPr lang="rw-RW" sz="1600" i="1">
                <a:solidFill>
                  <a:srgbClr val="1B7A46"/>
                </a:solidFill>
                <a:latin typeface="Calibri"/>
                <a:ea typeface="Calibri"/>
                <a:cs typeface="Calibri"/>
                <a:sym typeface="Calibri"/>
              </a:rPr>
              <a:t>H pylori yongera ibyago byo kurwara iyi kanseri kandi ishobora kuvurwa. Ntabwo ari kanseri.</a:t>
            </a:r>
            <a:endParaRPr sz="1600">
              <a:solidFill>
                <a:schemeClr val="dk1"/>
              </a:solidFill>
              <a:latin typeface="Calibri"/>
              <a:ea typeface="Calibri"/>
              <a:cs typeface="Calibri"/>
              <a:sym typeface="Calibri"/>
            </a:endParaRPr>
          </a:p>
        </p:txBody>
      </p:sp>
      <p:sp>
        <p:nvSpPr>
          <p:cNvPr id="550" name="Google Shape;550;p26"/>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1" name="Google Shape;551;p26"/>
          <p:cNvSpPr/>
          <p:nvPr/>
        </p:nvSpPr>
        <p:spPr>
          <a:xfrm>
            <a:off x="804672" y="42153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1900"/>
              <a:buFont typeface="Calibri"/>
              <a:buNone/>
            </a:pPr>
            <a:r>
              <a:rPr lang="rw-RW" sz="1900" b="1">
                <a:solidFill>
                  <a:srgbClr val="0F3D63"/>
                </a:solidFill>
                <a:latin typeface="Calibri"/>
                <a:ea typeface="Calibri"/>
                <a:cs typeface="Calibri"/>
                <a:sym typeface="Calibri"/>
              </a:rPr>
              <a:t>Q4. Ni ayahe makuru y’ ukuri ku bijyanye na Kanseri y’igifu mu Rwanda?</a:t>
            </a:r>
            <a:endParaRPr sz="1900">
              <a:solidFill>
                <a:schemeClr val="dk1"/>
              </a:solidFill>
              <a:latin typeface="Calibri"/>
              <a:ea typeface="Calibri"/>
              <a:cs typeface="Calibri"/>
              <a:sym typeface="Calibri"/>
            </a:endParaRPr>
          </a:p>
        </p:txBody>
      </p:sp>
      <p:sp>
        <p:nvSpPr>
          <p:cNvPr id="552" name="Google Shape;552;p26"/>
          <p:cNvSpPr/>
          <p:nvPr/>
        </p:nvSpPr>
        <p:spPr>
          <a:xfrm>
            <a:off x="822960" y="46542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A. </a:t>
            </a:r>
            <a:r>
              <a:rPr lang="rw-RW" sz="1750">
                <a:solidFill>
                  <a:srgbClr val="16334F"/>
                </a:solidFill>
                <a:latin typeface="Calibri"/>
                <a:ea typeface="Calibri"/>
                <a:cs typeface="Calibri"/>
                <a:sym typeface="Calibri"/>
              </a:rPr>
              <a:t>Kanseri y'igifu ntabwo ibaho mu Rwanda</a:t>
            </a:r>
            <a:endParaRPr sz="1628">
              <a:solidFill>
                <a:schemeClr val="dk1"/>
              </a:solidFill>
              <a:latin typeface="Calibri"/>
              <a:ea typeface="Calibri"/>
              <a:cs typeface="Calibri"/>
              <a:sym typeface="Calibri"/>
            </a:endParaRPr>
          </a:p>
        </p:txBody>
      </p:sp>
      <p:sp>
        <p:nvSpPr>
          <p:cNvPr id="553" name="Google Shape;553;p26"/>
          <p:cNvSpPr/>
          <p:nvPr/>
        </p:nvSpPr>
        <p:spPr>
          <a:xfrm>
            <a:off x="6172200" y="4654296"/>
            <a:ext cx="5166360" cy="438912"/>
          </a:xfrm>
          <a:prstGeom prst="rect">
            <a:avLst/>
          </a:prstGeom>
          <a:noFill/>
          <a:ln>
            <a:noFill/>
          </a:ln>
        </p:spPr>
        <p:txBody>
          <a:bodyPr spcFirstLastPara="1" wrap="square" lIns="0" tIns="0" rIns="0" bIns="0" anchor="ctr" anchorCtr="0">
            <a:normAutofit fontScale="92500"/>
          </a:bodyPr>
          <a:lstStyle/>
          <a:p>
            <a:pPr marL="0" marR="0" lvl="0" indent="0" algn="l" rtl="0">
              <a:spcBef>
                <a:spcPts val="0"/>
              </a:spcBef>
              <a:spcAft>
                <a:spcPts val="0"/>
              </a:spcAft>
              <a:buNone/>
            </a:pPr>
            <a:r>
              <a:rPr lang="rw-RW" sz="1750" b="1">
                <a:solidFill>
                  <a:srgbClr val="1B7A46"/>
                </a:solidFill>
                <a:latin typeface="Calibri"/>
                <a:ea typeface="Calibri"/>
                <a:cs typeface="Calibri"/>
                <a:sym typeface="Calibri"/>
              </a:rPr>
              <a:t>B. Iyi ni imwe mu kanseri zikunze kugaragara cyane hano ✓</a:t>
            </a:r>
            <a:endParaRPr sz="1628">
              <a:solidFill>
                <a:schemeClr val="dk1"/>
              </a:solidFill>
              <a:latin typeface="Calibri"/>
              <a:ea typeface="Calibri"/>
              <a:cs typeface="Calibri"/>
              <a:sym typeface="Calibri"/>
            </a:endParaRPr>
          </a:p>
        </p:txBody>
      </p:sp>
      <p:sp>
        <p:nvSpPr>
          <p:cNvPr id="554" name="Google Shape;554;p26"/>
          <p:cNvSpPr/>
          <p:nvPr/>
        </p:nvSpPr>
        <p:spPr>
          <a:xfrm>
            <a:off x="82296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C. Iboneka ku bashyitsi gusa</a:t>
            </a:r>
            <a:endParaRPr sz="1628">
              <a:solidFill>
                <a:schemeClr val="dk1"/>
              </a:solidFill>
              <a:latin typeface="Calibri"/>
              <a:ea typeface="Calibri"/>
              <a:cs typeface="Calibri"/>
              <a:sym typeface="Calibri"/>
            </a:endParaRPr>
          </a:p>
        </p:txBody>
      </p:sp>
      <p:sp>
        <p:nvSpPr>
          <p:cNvPr id="555" name="Google Shape;555;p26"/>
          <p:cNvSpPr/>
          <p:nvPr/>
        </p:nvSpPr>
        <p:spPr>
          <a:xfrm>
            <a:off x="617220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27"/>
              <a:buFont typeface="Calibri"/>
              <a:buNone/>
            </a:pPr>
            <a:r>
              <a:rPr lang="rw-RW" sz="1750" b="1">
                <a:solidFill>
                  <a:srgbClr val="16334F"/>
                </a:solidFill>
                <a:latin typeface="Calibri"/>
                <a:ea typeface="Calibri"/>
                <a:cs typeface="Calibri"/>
                <a:sym typeface="Calibri"/>
              </a:rPr>
              <a:t>D. Ntabwo ijya iba indwara ikomeye</a:t>
            </a:r>
            <a:endParaRPr sz="1628">
              <a:solidFill>
                <a:schemeClr val="dk1"/>
              </a:solidFill>
              <a:latin typeface="Calibri"/>
              <a:ea typeface="Calibri"/>
              <a:cs typeface="Calibri"/>
              <a:sym typeface="Calibri"/>
            </a:endParaRPr>
          </a:p>
        </p:txBody>
      </p:sp>
      <p:sp>
        <p:nvSpPr>
          <p:cNvPr id="556" name="Google Shape;556;p26"/>
          <p:cNvSpPr/>
          <p:nvPr/>
        </p:nvSpPr>
        <p:spPr>
          <a:xfrm>
            <a:off x="822960" y="567842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600"/>
              <a:buFont typeface="Calibri"/>
              <a:buNone/>
            </a:pPr>
            <a:r>
              <a:rPr lang="rw-RW" sz="1600" b="1">
                <a:solidFill>
                  <a:srgbClr val="1B7A46"/>
                </a:solidFill>
                <a:latin typeface="Calibri"/>
                <a:ea typeface="Calibri"/>
                <a:cs typeface="Calibri"/>
                <a:sym typeface="Calibri"/>
              </a:rPr>
              <a:t>Ukuri: B.</a:t>
            </a:r>
            <a:r>
              <a:rPr lang="rw-RW" sz="1600" i="1">
                <a:solidFill>
                  <a:srgbClr val="1B7A46"/>
                </a:solidFill>
                <a:latin typeface="Calibri"/>
                <a:ea typeface="Calibri"/>
                <a:cs typeface="Calibri"/>
                <a:sym typeface="Calibri"/>
              </a:rPr>
              <a:t> Ni imwe mu ndwara za kanseri zikomeye mu Rwanda kandi zihitana abantu benshi.</a:t>
            </a:r>
            <a:endParaRPr sz="16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1"/>
        <p:cNvGrpSpPr/>
        <p:nvPr/>
      </p:nvGrpSpPr>
      <p:grpSpPr>
        <a:xfrm>
          <a:off x="0" y="0"/>
          <a:ext cx="0" cy="0"/>
          <a:chOff x="0" y="0"/>
          <a:chExt cx="0" cy="0"/>
        </a:xfrm>
      </p:grpSpPr>
      <p:sp>
        <p:nvSpPr>
          <p:cNvPr id="562" name="Google Shape;562;p27"/>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100" b="1" dirty="0">
                <a:solidFill>
                  <a:srgbClr val="AFCBE3"/>
                </a:solidFill>
                <a:latin typeface="Calibri"/>
                <a:ea typeface="Calibri"/>
                <a:cs typeface="Calibri"/>
                <a:sym typeface="Calibri"/>
              </a:rPr>
              <a:t>IGICE CYA MBERE</a:t>
            </a:r>
            <a:endParaRPr lang="rw-RW" sz="1100" dirty="0">
              <a:solidFill>
                <a:schemeClr val="dk1"/>
              </a:solidFill>
              <a:latin typeface="Calibri"/>
              <a:ea typeface="Calibri"/>
              <a:cs typeface="Calibri"/>
              <a:sym typeface="Calibri"/>
            </a:endParaRPr>
          </a:p>
        </p:txBody>
      </p:sp>
      <p:sp>
        <p:nvSpPr>
          <p:cNvPr id="563" name="Google Shape;563;p27"/>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Tekereza ku kazi kawe</a:t>
            </a:r>
            <a:endParaRPr sz="3400">
              <a:solidFill>
                <a:schemeClr val="dk1"/>
              </a:solidFill>
              <a:latin typeface="Calibri"/>
              <a:ea typeface="Calibri"/>
              <a:cs typeface="Calibri"/>
              <a:sym typeface="Calibri"/>
            </a:endParaRPr>
          </a:p>
        </p:txBody>
      </p:sp>
      <p:sp>
        <p:nvSpPr>
          <p:cNvPr id="564" name="Google Shape;564;p27"/>
          <p:cNvSpPr/>
          <p:nvPr/>
        </p:nvSpPr>
        <p:spPr>
          <a:xfrm>
            <a:off x="548640" y="1371600"/>
            <a:ext cx="110642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i="1">
                <a:solidFill>
                  <a:srgbClr val="16334F"/>
                </a:solidFill>
                <a:latin typeface="Calibri"/>
                <a:ea typeface="Calibri"/>
                <a:cs typeface="Calibri"/>
                <a:sym typeface="Calibri"/>
              </a:rPr>
              <a:t>Amabwiriza k’uhugurwa: Andika igisubizo cyawe mu gasanduku k'inyandiko. Ibi bisubizo ntibihabwa amanota.</a:t>
            </a:r>
            <a:endParaRPr sz="1800">
              <a:solidFill>
                <a:schemeClr val="dk1"/>
              </a:solidFill>
              <a:latin typeface="Calibri"/>
              <a:ea typeface="Calibri"/>
              <a:cs typeface="Calibri"/>
              <a:sym typeface="Calibri"/>
            </a:endParaRPr>
          </a:p>
        </p:txBody>
      </p:sp>
      <p:sp>
        <p:nvSpPr>
          <p:cNvPr id="565" name="Google Shape;565;p27"/>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566" name="Google Shape;566;p27"/>
          <p:cNvSpPr/>
          <p:nvPr/>
        </p:nvSpPr>
        <p:spPr>
          <a:xfrm>
            <a:off x="548640" y="2057400"/>
            <a:ext cx="11091672" cy="868680"/>
          </a:xfrm>
          <a:prstGeom prst="roundRect">
            <a:avLst>
              <a:gd name="adj" fmla="val 1052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7" name="Google Shape;567;p27"/>
          <p:cNvSpPr/>
          <p:nvPr/>
        </p:nvSpPr>
        <p:spPr>
          <a:xfrm>
            <a:off x="822960" y="2258568"/>
            <a:ext cx="475488" cy="475488"/>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8" name="Google Shape;568;p27"/>
          <p:cNvSpPr/>
          <p:nvPr/>
        </p:nvSpPr>
        <p:spPr>
          <a:xfrm>
            <a:off x="822960" y="2258568"/>
            <a:ext cx="475488"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mbria"/>
              <a:buNone/>
            </a:pPr>
            <a:r>
              <a:rPr lang="rw-RW" sz="1800" b="1">
                <a:solidFill>
                  <a:srgbClr val="FFFFFF"/>
                </a:solidFill>
                <a:latin typeface="Cambria"/>
                <a:ea typeface="Cambria"/>
                <a:cs typeface="Cambria"/>
                <a:sym typeface="Cambria"/>
              </a:rPr>
              <a:t>1</a:t>
            </a:r>
            <a:endParaRPr sz="1800">
              <a:solidFill>
                <a:schemeClr val="dk1"/>
              </a:solidFill>
              <a:latin typeface="Calibri"/>
              <a:ea typeface="Calibri"/>
              <a:cs typeface="Calibri"/>
              <a:sym typeface="Calibri"/>
            </a:endParaRPr>
          </a:p>
        </p:txBody>
      </p:sp>
      <p:sp>
        <p:nvSpPr>
          <p:cNvPr id="569" name="Google Shape;569;p27"/>
          <p:cNvSpPr/>
          <p:nvPr/>
        </p:nvSpPr>
        <p:spPr>
          <a:xfrm>
            <a:off x="1481328" y="2148840"/>
            <a:ext cx="9875520" cy="6858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6334F"/>
              </a:buClr>
              <a:buSzPts val="1900"/>
              <a:buFont typeface="Calibri"/>
              <a:buNone/>
            </a:pPr>
            <a:r>
              <a:rPr lang="rw-RW" sz="1900">
                <a:solidFill>
                  <a:srgbClr val="16334F"/>
                </a:solidFill>
                <a:latin typeface="Calibri"/>
                <a:ea typeface="Calibri"/>
                <a:cs typeface="Calibri"/>
                <a:sym typeface="Calibri"/>
              </a:rPr>
              <a:t>Mu magambo yawe, wasobanurira ute umuturanyi icyo kanseri y'igifu ari cyo?</a:t>
            </a:r>
            <a:endParaRPr sz="1900">
              <a:solidFill>
                <a:schemeClr val="dk1"/>
              </a:solidFill>
              <a:latin typeface="Calibri"/>
              <a:ea typeface="Calibri"/>
              <a:cs typeface="Calibri"/>
              <a:sym typeface="Calibri"/>
            </a:endParaRPr>
          </a:p>
        </p:txBody>
      </p:sp>
      <p:sp>
        <p:nvSpPr>
          <p:cNvPr id="570" name="Google Shape;570;p27"/>
          <p:cNvSpPr/>
          <p:nvPr/>
        </p:nvSpPr>
        <p:spPr>
          <a:xfrm>
            <a:off x="548640" y="3145536"/>
            <a:ext cx="11091672" cy="868680"/>
          </a:xfrm>
          <a:prstGeom prst="roundRect">
            <a:avLst>
              <a:gd name="adj" fmla="val 1052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1" name="Google Shape;571;p27"/>
          <p:cNvSpPr/>
          <p:nvPr/>
        </p:nvSpPr>
        <p:spPr>
          <a:xfrm>
            <a:off x="822960" y="3346704"/>
            <a:ext cx="475488" cy="475488"/>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2" name="Google Shape;572;p27"/>
          <p:cNvSpPr/>
          <p:nvPr/>
        </p:nvSpPr>
        <p:spPr>
          <a:xfrm>
            <a:off x="822960" y="3346704"/>
            <a:ext cx="475488"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mbria"/>
              <a:buNone/>
            </a:pPr>
            <a:r>
              <a:rPr lang="rw-RW" sz="1800" b="1">
                <a:solidFill>
                  <a:srgbClr val="FFFFFF"/>
                </a:solidFill>
                <a:latin typeface="Cambria"/>
                <a:ea typeface="Cambria"/>
                <a:cs typeface="Cambria"/>
                <a:sym typeface="Cambria"/>
              </a:rPr>
              <a:t>2</a:t>
            </a:r>
            <a:endParaRPr sz="1800">
              <a:solidFill>
                <a:schemeClr val="dk1"/>
              </a:solidFill>
              <a:latin typeface="Calibri"/>
              <a:ea typeface="Calibri"/>
              <a:cs typeface="Calibri"/>
              <a:sym typeface="Calibri"/>
            </a:endParaRPr>
          </a:p>
        </p:txBody>
      </p:sp>
      <p:sp>
        <p:nvSpPr>
          <p:cNvPr id="573" name="Google Shape;573;p27"/>
          <p:cNvSpPr/>
          <p:nvPr/>
        </p:nvSpPr>
        <p:spPr>
          <a:xfrm>
            <a:off x="1481328" y="3236976"/>
            <a:ext cx="9875520" cy="6858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6334F"/>
              </a:buClr>
              <a:buSzPts val="1900"/>
              <a:buFont typeface="Calibri"/>
              <a:buNone/>
            </a:pPr>
            <a:r>
              <a:rPr lang="rw-RW" sz="1900">
                <a:solidFill>
                  <a:srgbClr val="16334F"/>
                </a:solidFill>
                <a:latin typeface="Calibri"/>
                <a:ea typeface="Calibri"/>
                <a:cs typeface="Calibri"/>
                <a:sym typeface="Calibri"/>
              </a:rPr>
              <a:t>Ni iyihe myemerere abantu bo mu gace kawe bafite ku bibazo by'igifu? Ni gute iyo myizerere yacyereza serivizi z’ubuvuzi kwitabwaho?</a:t>
            </a:r>
            <a:endParaRPr sz="1900">
              <a:solidFill>
                <a:schemeClr val="dk1"/>
              </a:solidFill>
              <a:latin typeface="Calibri"/>
              <a:ea typeface="Calibri"/>
              <a:cs typeface="Calibri"/>
              <a:sym typeface="Calibri"/>
            </a:endParaRPr>
          </a:p>
        </p:txBody>
      </p:sp>
      <p:sp>
        <p:nvSpPr>
          <p:cNvPr id="574" name="Google Shape;574;p27"/>
          <p:cNvSpPr/>
          <p:nvPr/>
        </p:nvSpPr>
        <p:spPr>
          <a:xfrm>
            <a:off x="548640" y="4233672"/>
            <a:ext cx="11091672" cy="868680"/>
          </a:xfrm>
          <a:prstGeom prst="roundRect">
            <a:avLst>
              <a:gd name="adj" fmla="val 1052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5" name="Google Shape;575;p27"/>
          <p:cNvSpPr/>
          <p:nvPr/>
        </p:nvSpPr>
        <p:spPr>
          <a:xfrm>
            <a:off x="822960" y="4434840"/>
            <a:ext cx="475488" cy="475488"/>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6" name="Google Shape;576;p27"/>
          <p:cNvSpPr/>
          <p:nvPr/>
        </p:nvSpPr>
        <p:spPr>
          <a:xfrm>
            <a:off x="822960" y="4434840"/>
            <a:ext cx="475488"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mbria"/>
              <a:buNone/>
            </a:pPr>
            <a:r>
              <a:rPr lang="rw-RW" sz="1800" b="1">
                <a:solidFill>
                  <a:srgbClr val="FFFFFF"/>
                </a:solidFill>
                <a:latin typeface="Cambria"/>
                <a:ea typeface="Cambria"/>
                <a:cs typeface="Cambria"/>
                <a:sym typeface="Cambria"/>
              </a:rPr>
              <a:t>3</a:t>
            </a:r>
            <a:endParaRPr sz="1800">
              <a:solidFill>
                <a:schemeClr val="dk1"/>
              </a:solidFill>
              <a:latin typeface="Calibri"/>
              <a:ea typeface="Calibri"/>
              <a:cs typeface="Calibri"/>
              <a:sym typeface="Calibri"/>
            </a:endParaRPr>
          </a:p>
        </p:txBody>
      </p:sp>
      <p:sp>
        <p:nvSpPr>
          <p:cNvPr id="577" name="Google Shape;577;p27"/>
          <p:cNvSpPr/>
          <p:nvPr/>
        </p:nvSpPr>
        <p:spPr>
          <a:xfrm>
            <a:off x="1481328" y="4325112"/>
            <a:ext cx="9875520" cy="6858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6334F"/>
              </a:buClr>
              <a:buSzPts val="1900"/>
              <a:buFont typeface="Calibri"/>
              <a:buNone/>
            </a:pPr>
            <a:r>
              <a:rPr lang="rw-RW" sz="1900">
                <a:solidFill>
                  <a:srgbClr val="16334F"/>
                </a:solidFill>
                <a:latin typeface="Calibri"/>
                <a:ea typeface="Calibri"/>
                <a:cs typeface="Calibri"/>
                <a:sym typeface="Calibri"/>
              </a:rPr>
              <a:t>Ni gute wafasha abantu bumvise ijambo kanseri ku nshuro ya mbere?</a:t>
            </a:r>
            <a:endParaRPr sz="19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82"/>
        <p:cNvGrpSpPr/>
        <p:nvPr/>
      </p:nvGrpSpPr>
      <p:grpSpPr>
        <a:xfrm>
          <a:off x="0" y="0"/>
          <a:ext cx="0" cy="0"/>
          <a:chOff x="0" y="0"/>
          <a:chExt cx="0" cy="0"/>
        </a:xfrm>
      </p:grpSpPr>
      <p:sp>
        <p:nvSpPr>
          <p:cNvPr id="583" name="Google Shape;583;p28"/>
          <p:cNvSpPr/>
          <p:nvPr/>
        </p:nvSpPr>
        <p:spPr>
          <a:xfrm>
            <a:off x="502920" y="777240"/>
            <a:ext cx="11183112" cy="5303520"/>
          </a:xfrm>
          <a:prstGeom prst="rect">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4" name="Google Shape;584;p28"/>
          <p:cNvSpPr/>
          <p:nvPr/>
        </p:nvSpPr>
        <p:spPr>
          <a:xfrm>
            <a:off x="9509760" y="1874520"/>
            <a:ext cx="1554480" cy="1554480"/>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5" name="Google Shape;585;p28"/>
          <p:cNvSpPr/>
          <p:nvPr/>
        </p:nvSpPr>
        <p:spPr>
          <a:xfrm>
            <a:off x="9509760" y="1874520"/>
            <a:ext cx="1554480" cy="1554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4000"/>
              <a:buFont typeface="Cambria"/>
              <a:buNone/>
            </a:pPr>
            <a:r>
              <a:rPr lang="rw-RW" sz="4000" b="1">
                <a:solidFill>
                  <a:srgbClr val="FFFFFF"/>
                </a:solidFill>
                <a:latin typeface="Cambria"/>
                <a:ea typeface="Cambria"/>
                <a:cs typeface="Cambria"/>
                <a:sym typeface="Cambria"/>
              </a:rPr>
              <a:t>2</a:t>
            </a:r>
            <a:endParaRPr sz="4000">
              <a:solidFill>
                <a:schemeClr val="dk1"/>
              </a:solidFill>
              <a:latin typeface="Calibri"/>
              <a:ea typeface="Calibri"/>
              <a:cs typeface="Calibri"/>
              <a:sym typeface="Calibri"/>
            </a:endParaRPr>
          </a:p>
        </p:txBody>
      </p:sp>
      <p:sp>
        <p:nvSpPr>
          <p:cNvPr id="586" name="Google Shape;586;p28"/>
          <p:cNvSpPr/>
          <p:nvPr/>
        </p:nvSpPr>
        <p:spPr>
          <a:xfrm>
            <a:off x="1234440" y="260604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200" b="1">
                <a:solidFill>
                  <a:srgbClr val="AFCBE3"/>
                </a:solidFill>
                <a:latin typeface="Calibri"/>
                <a:ea typeface="Calibri"/>
                <a:cs typeface="Calibri"/>
                <a:sym typeface="Calibri"/>
              </a:rPr>
              <a:t>IGICE CYA 2</a:t>
            </a:r>
            <a:endParaRPr sz="1200">
              <a:solidFill>
                <a:schemeClr val="dk1"/>
              </a:solidFill>
              <a:latin typeface="Calibri"/>
              <a:ea typeface="Calibri"/>
              <a:cs typeface="Calibri"/>
              <a:sym typeface="Calibri"/>
            </a:endParaRPr>
          </a:p>
        </p:txBody>
      </p:sp>
      <p:sp>
        <p:nvSpPr>
          <p:cNvPr id="587" name="Google Shape;587;p28"/>
          <p:cNvSpPr/>
          <p:nvPr/>
        </p:nvSpPr>
        <p:spPr>
          <a:xfrm>
            <a:off x="1234440" y="2926080"/>
            <a:ext cx="786384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800"/>
              <a:buFont typeface="Cambria"/>
              <a:buNone/>
            </a:pPr>
            <a:r>
              <a:rPr lang="rw-RW" sz="3800" b="1">
                <a:solidFill>
                  <a:srgbClr val="FFFFFF"/>
                </a:solidFill>
                <a:latin typeface="Cambria"/>
                <a:ea typeface="Cambria"/>
                <a:cs typeface="Cambria"/>
                <a:sym typeface="Cambria"/>
              </a:rPr>
              <a:t>Ibyo kwibandaho</a:t>
            </a:r>
            <a:endParaRPr sz="3800">
              <a:solidFill>
                <a:schemeClr val="dk1"/>
              </a:solidFill>
              <a:latin typeface="Calibri"/>
              <a:ea typeface="Calibri"/>
              <a:cs typeface="Calibri"/>
              <a:sym typeface="Calibri"/>
            </a:endParaRPr>
          </a:p>
        </p:txBody>
      </p:sp>
      <p:sp>
        <p:nvSpPr>
          <p:cNvPr id="588" name="Google Shape;588;p28"/>
          <p:cNvSpPr/>
          <p:nvPr/>
        </p:nvSpPr>
        <p:spPr>
          <a:xfrm>
            <a:off x="1234440" y="3794760"/>
            <a:ext cx="78638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E7F3"/>
              </a:buClr>
              <a:buSzPts val="1800"/>
              <a:buFont typeface="Calibri"/>
              <a:buNone/>
            </a:pPr>
            <a:r>
              <a:rPr lang="rw-RW" sz="1800" dirty="0">
                <a:solidFill>
                  <a:srgbClr val="D9E7F3"/>
                </a:solidFill>
                <a:latin typeface="Calibri"/>
                <a:ea typeface="Calibri"/>
                <a:cs typeface="Calibri"/>
                <a:sym typeface="Calibri"/>
              </a:rPr>
              <a:t>Kurikira Emmanuel mu gihe wiga ibijyanye n’: abantu bafite ibyago byinshi, ni ibimenyetso by'ingenzi, ndetse n'ibimenyetso bidashobora gutegereza.</a:t>
            </a:r>
            <a:endParaRPr sz="1800" dirty="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3"/>
        <p:cNvGrpSpPr/>
        <p:nvPr/>
      </p:nvGrpSpPr>
      <p:grpSpPr>
        <a:xfrm>
          <a:off x="0" y="0"/>
          <a:ext cx="0" cy="0"/>
          <a:chOff x="0" y="0"/>
          <a:chExt cx="0" cy="0"/>
        </a:xfrm>
      </p:grpSpPr>
      <p:sp>
        <p:nvSpPr>
          <p:cNvPr id="594" name="Google Shape;594;p29"/>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2</a:t>
            </a:r>
            <a:endParaRPr sz="1100">
              <a:solidFill>
                <a:schemeClr val="dk1"/>
              </a:solidFill>
              <a:latin typeface="Calibri"/>
              <a:ea typeface="Calibri"/>
              <a:cs typeface="Calibri"/>
              <a:sym typeface="Calibri"/>
            </a:endParaRPr>
          </a:p>
        </p:txBody>
      </p:sp>
      <p:sp>
        <p:nvSpPr>
          <p:cNvPr id="595" name="Google Shape;595;p29"/>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dirty="0">
                <a:solidFill>
                  <a:srgbClr val="0F3D63"/>
                </a:solidFill>
                <a:latin typeface="Cambria"/>
                <a:ea typeface="Cambria"/>
                <a:cs typeface="Cambria"/>
                <a:sym typeface="Cambria"/>
              </a:rPr>
              <a:t>Icyo wakora</a:t>
            </a:r>
            <a:endParaRPr sz="3400" dirty="0">
              <a:solidFill>
                <a:schemeClr val="dk1"/>
              </a:solidFill>
              <a:latin typeface="Calibri"/>
              <a:ea typeface="Calibri"/>
              <a:cs typeface="Calibri"/>
              <a:sym typeface="Calibri"/>
            </a:endParaRPr>
          </a:p>
        </p:txBody>
      </p:sp>
      <p:sp>
        <p:nvSpPr>
          <p:cNvPr id="596" name="Google Shape;596;p29"/>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597" name="Google Shape;597;p29"/>
          <p:cNvSpPr/>
          <p:nvPr/>
        </p:nvSpPr>
        <p:spPr>
          <a:xfrm>
            <a:off x="548640" y="1783080"/>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8" name="Google Shape;598;p29"/>
          <p:cNvSpPr/>
          <p:nvPr/>
        </p:nvSpPr>
        <p:spPr>
          <a:xfrm>
            <a:off x="804672" y="1965960"/>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Kumenya</a:t>
            </a:r>
            <a:endParaRPr sz="2100">
              <a:solidFill>
                <a:schemeClr val="dk1"/>
              </a:solidFill>
              <a:latin typeface="Calibri"/>
              <a:ea typeface="Calibri"/>
              <a:cs typeface="Calibri"/>
              <a:sym typeface="Calibri"/>
            </a:endParaRPr>
          </a:p>
        </p:txBody>
      </p:sp>
      <p:sp>
        <p:nvSpPr>
          <p:cNvPr id="599" name="Google Shape;599;p29"/>
          <p:cNvSpPr/>
          <p:nvPr/>
        </p:nvSpPr>
        <p:spPr>
          <a:xfrm>
            <a:off x="804672" y="2404872"/>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10"/>
              <a:buFont typeface="Calibri"/>
              <a:buNone/>
            </a:pPr>
            <a:r>
              <a:rPr lang="rw-RW" sz="1800">
                <a:solidFill>
                  <a:srgbClr val="16334F"/>
                </a:solidFill>
                <a:latin typeface="Calibri"/>
                <a:ea typeface="Calibri"/>
                <a:cs typeface="Calibri"/>
                <a:sym typeface="Calibri"/>
              </a:rPr>
              <a:t>Menya ibintu byongera ibyago byo kurwara kanseri y'igifu.</a:t>
            </a:r>
            <a:endParaRPr sz="1710">
              <a:solidFill>
                <a:schemeClr val="dk1"/>
              </a:solidFill>
              <a:latin typeface="Calibri"/>
              <a:ea typeface="Calibri"/>
              <a:cs typeface="Calibri"/>
              <a:sym typeface="Calibri"/>
            </a:endParaRPr>
          </a:p>
        </p:txBody>
      </p:sp>
      <p:sp>
        <p:nvSpPr>
          <p:cNvPr id="600" name="Google Shape;600;p29"/>
          <p:cNvSpPr/>
          <p:nvPr/>
        </p:nvSpPr>
        <p:spPr>
          <a:xfrm>
            <a:off x="4343400" y="1783080"/>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1" name="Google Shape;601;p29"/>
          <p:cNvSpPr/>
          <p:nvPr/>
        </p:nvSpPr>
        <p:spPr>
          <a:xfrm>
            <a:off x="4599432" y="1965960"/>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Kumenya</a:t>
            </a:r>
            <a:endParaRPr sz="2100">
              <a:solidFill>
                <a:schemeClr val="dk1"/>
              </a:solidFill>
              <a:latin typeface="Calibri"/>
              <a:ea typeface="Calibri"/>
              <a:cs typeface="Calibri"/>
              <a:sym typeface="Calibri"/>
            </a:endParaRPr>
          </a:p>
        </p:txBody>
      </p:sp>
      <p:sp>
        <p:nvSpPr>
          <p:cNvPr id="602" name="Google Shape;602;p29"/>
          <p:cNvSpPr/>
          <p:nvPr/>
        </p:nvSpPr>
        <p:spPr>
          <a:xfrm>
            <a:off x="4599432" y="2404872"/>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10"/>
              <a:buFont typeface="Calibri"/>
              <a:buNone/>
            </a:pPr>
            <a:r>
              <a:rPr lang="rw-RW" sz="1800">
                <a:solidFill>
                  <a:srgbClr val="16334F"/>
                </a:solidFill>
                <a:latin typeface="Calibri"/>
                <a:ea typeface="Calibri"/>
                <a:cs typeface="Calibri"/>
                <a:sym typeface="Calibri"/>
              </a:rPr>
              <a:t>Menya ibimenyetso bisaba kwisuzumisha kwa muganga.</a:t>
            </a:r>
            <a:endParaRPr sz="1710">
              <a:solidFill>
                <a:schemeClr val="dk1"/>
              </a:solidFill>
              <a:latin typeface="Calibri"/>
              <a:ea typeface="Calibri"/>
              <a:cs typeface="Calibri"/>
              <a:sym typeface="Calibri"/>
            </a:endParaRPr>
          </a:p>
        </p:txBody>
      </p:sp>
      <p:sp>
        <p:nvSpPr>
          <p:cNvPr id="603" name="Google Shape;603;p29"/>
          <p:cNvSpPr/>
          <p:nvPr/>
        </p:nvSpPr>
        <p:spPr>
          <a:xfrm>
            <a:off x="8138160" y="1783080"/>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4" name="Google Shape;604;p29"/>
          <p:cNvSpPr/>
          <p:nvPr/>
        </p:nvSpPr>
        <p:spPr>
          <a:xfrm>
            <a:off x="8394192" y="1965960"/>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Fata icyemezo</a:t>
            </a:r>
            <a:endParaRPr sz="2100">
              <a:solidFill>
                <a:schemeClr val="dk1"/>
              </a:solidFill>
              <a:latin typeface="Calibri"/>
              <a:ea typeface="Calibri"/>
              <a:cs typeface="Calibri"/>
              <a:sym typeface="Calibri"/>
            </a:endParaRPr>
          </a:p>
        </p:txBody>
      </p:sp>
      <p:sp>
        <p:nvSpPr>
          <p:cNvPr id="605" name="Google Shape;605;p29"/>
          <p:cNvSpPr/>
          <p:nvPr/>
        </p:nvSpPr>
        <p:spPr>
          <a:xfrm>
            <a:off x="8394192" y="2404872"/>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10"/>
              <a:buFont typeface="Calibri"/>
              <a:buNone/>
            </a:pPr>
            <a:r>
              <a:rPr lang="rw-RW" sz="1800">
                <a:solidFill>
                  <a:srgbClr val="16334F"/>
                </a:solidFill>
                <a:latin typeface="Calibri"/>
                <a:ea typeface="Calibri"/>
                <a:cs typeface="Calibri"/>
                <a:sym typeface="Calibri"/>
              </a:rPr>
              <a:t>Fata umwanzuro ku bimenyetso mpuruza bikwiye kwitabwaho byihutirwa. </a:t>
            </a:r>
            <a:endParaRPr sz="1710">
              <a:solidFill>
                <a:schemeClr val="dk1"/>
              </a:solidFill>
              <a:latin typeface="Calibri"/>
              <a:ea typeface="Calibri"/>
              <a:cs typeface="Calibri"/>
              <a:sym typeface="Calibri"/>
            </a:endParaRPr>
          </a:p>
        </p:txBody>
      </p:sp>
      <p:sp>
        <p:nvSpPr>
          <p:cNvPr id="606" name="Google Shape;606;p29"/>
          <p:cNvSpPr/>
          <p:nvPr/>
        </p:nvSpPr>
        <p:spPr>
          <a:xfrm>
            <a:off x="548640" y="3767328"/>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7" name="Google Shape;607;p29"/>
          <p:cNvSpPr/>
          <p:nvPr/>
        </p:nvSpPr>
        <p:spPr>
          <a:xfrm>
            <a:off x="804672" y="3950208"/>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Sobanura</a:t>
            </a:r>
            <a:endParaRPr sz="2100">
              <a:solidFill>
                <a:schemeClr val="dk1"/>
              </a:solidFill>
              <a:latin typeface="Calibri"/>
              <a:ea typeface="Calibri"/>
              <a:cs typeface="Calibri"/>
              <a:sym typeface="Calibri"/>
            </a:endParaRPr>
          </a:p>
        </p:txBody>
      </p:sp>
      <p:sp>
        <p:nvSpPr>
          <p:cNvPr id="608" name="Google Shape;608;p29"/>
          <p:cNvSpPr/>
          <p:nvPr/>
        </p:nvSpPr>
        <p:spPr>
          <a:xfrm>
            <a:off x="804672" y="4389120"/>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10"/>
              <a:buFont typeface="Calibri"/>
              <a:buNone/>
            </a:pPr>
            <a:r>
              <a:rPr lang="rw-RW" sz="1800">
                <a:solidFill>
                  <a:srgbClr val="16334F"/>
                </a:solidFill>
                <a:latin typeface="Calibri"/>
                <a:ea typeface="Calibri"/>
                <a:cs typeface="Calibri"/>
                <a:sym typeface="Calibri"/>
              </a:rPr>
              <a:t>Sobanura impamvu nta kimenyetso na kimwe kigomba kwirengagizwa.</a:t>
            </a:r>
            <a:endParaRPr sz="1710">
              <a:solidFill>
                <a:schemeClr val="dk1"/>
              </a:solidFill>
              <a:latin typeface="Calibri"/>
              <a:ea typeface="Calibri"/>
              <a:cs typeface="Calibri"/>
              <a:sym typeface="Calibri"/>
            </a:endParaRPr>
          </a:p>
        </p:txBody>
      </p:sp>
      <p:sp>
        <p:nvSpPr>
          <p:cNvPr id="609" name="Google Shape;609;p29"/>
          <p:cNvSpPr/>
          <p:nvPr/>
        </p:nvSpPr>
        <p:spPr>
          <a:xfrm>
            <a:off x="4343400" y="3767328"/>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0" name="Google Shape;610;p29"/>
          <p:cNvSpPr/>
          <p:nvPr/>
        </p:nvSpPr>
        <p:spPr>
          <a:xfrm>
            <a:off x="4599432" y="3950208"/>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Gushyira mu bikorwa</a:t>
            </a:r>
            <a:endParaRPr sz="2100">
              <a:solidFill>
                <a:schemeClr val="dk1"/>
              </a:solidFill>
              <a:latin typeface="Calibri"/>
              <a:ea typeface="Calibri"/>
              <a:cs typeface="Calibri"/>
              <a:sym typeface="Calibri"/>
            </a:endParaRPr>
          </a:p>
        </p:txBody>
      </p:sp>
      <p:sp>
        <p:nvSpPr>
          <p:cNvPr id="611" name="Google Shape;611;p29"/>
          <p:cNvSpPr/>
          <p:nvPr/>
        </p:nvSpPr>
        <p:spPr>
          <a:xfrm>
            <a:off x="4599432" y="4389120"/>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10"/>
              <a:buFont typeface="Calibri"/>
              <a:buNone/>
            </a:pPr>
            <a:r>
              <a:rPr lang="rw-RW" sz="1800">
                <a:solidFill>
                  <a:srgbClr val="16334F"/>
                </a:solidFill>
                <a:latin typeface="Calibri"/>
                <a:ea typeface="Calibri"/>
                <a:cs typeface="Calibri"/>
                <a:sym typeface="Calibri"/>
              </a:rPr>
              <a:t>Jya ushyira mu bikorwa ibyo wize mu gace utuyemo.</a:t>
            </a:r>
            <a:endParaRPr sz="1710">
              <a:solidFill>
                <a:schemeClr val="dk1"/>
              </a:solidFill>
              <a:latin typeface="Calibri"/>
              <a:ea typeface="Calibri"/>
              <a:cs typeface="Calibri"/>
              <a:sym typeface="Calibri"/>
            </a:endParaRPr>
          </a:p>
        </p:txBody>
      </p:sp>
      <p:sp>
        <p:nvSpPr>
          <p:cNvPr id="612" name="Google Shape;612;p29"/>
          <p:cNvSpPr/>
          <p:nvPr/>
        </p:nvSpPr>
        <p:spPr>
          <a:xfrm>
            <a:off x="8138160" y="3767328"/>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3" name="Google Shape;613;p29"/>
          <p:cNvSpPr/>
          <p:nvPr/>
        </p:nvSpPr>
        <p:spPr>
          <a:xfrm>
            <a:off x="8394192" y="3950208"/>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Ganiriza</a:t>
            </a:r>
            <a:endParaRPr sz="2100">
              <a:solidFill>
                <a:schemeClr val="dk1"/>
              </a:solidFill>
              <a:latin typeface="Calibri"/>
              <a:ea typeface="Calibri"/>
              <a:cs typeface="Calibri"/>
              <a:sym typeface="Calibri"/>
            </a:endParaRPr>
          </a:p>
        </p:txBody>
      </p:sp>
      <p:sp>
        <p:nvSpPr>
          <p:cNvPr id="614" name="Google Shape;614;p29"/>
          <p:cNvSpPr/>
          <p:nvPr/>
        </p:nvSpPr>
        <p:spPr>
          <a:xfrm>
            <a:off x="8394192" y="4389120"/>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10"/>
              <a:buFont typeface="Calibri"/>
              <a:buNone/>
            </a:pPr>
            <a:r>
              <a:rPr lang="rw-RW" sz="1800">
                <a:solidFill>
                  <a:srgbClr val="16334F"/>
                </a:solidFill>
                <a:latin typeface="Calibri"/>
                <a:ea typeface="Calibri"/>
                <a:cs typeface="Calibri"/>
                <a:sym typeface="Calibri"/>
              </a:rPr>
              <a:t>Ganiriza abantu ku byongera ibyago bya kanseri, utabacira urubanza.</a:t>
            </a:r>
            <a:endParaRPr sz="171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9"/>
        <p:cNvGrpSpPr/>
        <p:nvPr/>
      </p:nvGrpSpPr>
      <p:grpSpPr>
        <a:xfrm>
          <a:off x="0" y="0"/>
          <a:ext cx="0" cy="0"/>
          <a:chOff x="0" y="0"/>
          <a:chExt cx="0" cy="0"/>
        </a:xfrm>
      </p:grpSpPr>
      <p:sp>
        <p:nvSpPr>
          <p:cNvPr id="620" name="Google Shape;620;p30"/>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2</a:t>
            </a:r>
            <a:endParaRPr sz="1100">
              <a:solidFill>
                <a:schemeClr val="dk1"/>
              </a:solidFill>
              <a:latin typeface="Calibri"/>
              <a:ea typeface="Calibri"/>
              <a:cs typeface="Calibri"/>
              <a:sym typeface="Calibri"/>
            </a:endParaRPr>
          </a:p>
        </p:txBody>
      </p:sp>
      <p:sp>
        <p:nvSpPr>
          <p:cNvPr id="621" name="Google Shape;621;p30"/>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dirty="0">
                <a:solidFill>
                  <a:srgbClr val="0F3D63"/>
                </a:solidFill>
                <a:latin typeface="Cambria"/>
                <a:ea typeface="Cambria"/>
                <a:cs typeface="Cambria"/>
                <a:sym typeface="Cambria"/>
              </a:rPr>
              <a:t>Menya Emmanuel</a:t>
            </a:r>
            <a:endParaRPr sz="3400" dirty="0">
              <a:solidFill>
                <a:schemeClr val="dk1"/>
              </a:solidFill>
              <a:latin typeface="Calibri"/>
              <a:ea typeface="Calibri"/>
              <a:cs typeface="Calibri"/>
              <a:sym typeface="Calibri"/>
            </a:endParaRPr>
          </a:p>
        </p:txBody>
      </p:sp>
      <p:sp>
        <p:nvSpPr>
          <p:cNvPr id="622" name="Google Shape;622;p30"/>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40"/>
        <p:cNvGrpSpPr/>
        <p:nvPr/>
      </p:nvGrpSpPr>
      <p:grpSpPr>
        <a:xfrm>
          <a:off x="0" y="0"/>
          <a:ext cx="0" cy="0"/>
          <a:chOff x="0" y="0"/>
          <a:chExt cx="0" cy="0"/>
        </a:xfrm>
      </p:grpSpPr>
      <p:sp>
        <p:nvSpPr>
          <p:cNvPr id="641" name="Google Shape;641;p31"/>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2</a:t>
            </a:r>
            <a:endParaRPr sz="1100">
              <a:solidFill>
                <a:schemeClr val="dk1"/>
              </a:solidFill>
              <a:latin typeface="Calibri"/>
              <a:ea typeface="Calibri"/>
              <a:cs typeface="Calibri"/>
              <a:sym typeface="Calibri"/>
            </a:endParaRPr>
          </a:p>
        </p:txBody>
      </p:sp>
      <p:sp>
        <p:nvSpPr>
          <p:cNvPr id="642" name="Google Shape;642;p31"/>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Ibyongera ibyago</a:t>
            </a:r>
            <a:endParaRPr sz="3400">
              <a:solidFill>
                <a:schemeClr val="dk1"/>
              </a:solidFill>
              <a:latin typeface="Calibri"/>
              <a:ea typeface="Calibri"/>
              <a:cs typeface="Calibri"/>
              <a:sym typeface="Calibri"/>
            </a:endParaRPr>
          </a:p>
        </p:txBody>
      </p:sp>
      <p:sp>
        <p:nvSpPr>
          <p:cNvPr id="643" name="Google Shape;643;p31"/>
          <p:cNvSpPr/>
          <p:nvPr/>
        </p:nvSpPr>
        <p:spPr>
          <a:xfrm>
            <a:off x="548640" y="1371600"/>
            <a:ext cx="110642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i="1">
                <a:solidFill>
                  <a:srgbClr val="16334F"/>
                </a:solidFill>
                <a:latin typeface="Calibri"/>
                <a:ea typeface="Calibri"/>
                <a:cs typeface="Calibri"/>
                <a:sym typeface="Calibri"/>
              </a:rPr>
              <a:t>Shyira buri kintu mu itsinda rikwiye. Ibintu bimwe umuntu ashobora guhindura. Abandi ntibabishobora.</a:t>
            </a:r>
            <a:endParaRPr sz="1800">
              <a:solidFill>
                <a:schemeClr val="dk1"/>
              </a:solidFill>
              <a:latin typeface="Calibri"/>
              <a:ea typeface="Calibri"/>
              <a:cs typeface="Calibri"/>
              <a:sym typeface="Calibri"/>
            </a:endParaRPr>
          </a:p>
        </p:txBody>
      </p:sp>
      <p:sp>
        <p:nvSpPr>
          <p:cNvPr id="644" name="Google Shape;644;p31"/>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645" name="Google Shape;645;p31"/>
          <p:cNvSpPr/>
          <p:nvPr/>
        </p:nvSpPr>
        <p:spPr>
          <a:xfrm>
            <a:off x="548640" y="1885374"/>
            <a:ext cx="3502152" cy="548640"/>
          </a:xfrm>
          <a:prstGeom prst="roundRect">
            <a:avLst>
              <a:gd name="adj" fmla="val 13333"/>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646" name="Google Shape;646;p31"/>
          <p:cNvSpPr/>
          <p:nvPr/>
        </p:nvSpPr>
        <p:spPr>
          <a:xfrm>
            <a:off x="548640" y="1885374"/>
            <a:ext cx="3502152"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000"/>
              <a:buFont typeface="Cambria"/>
              <a:buNone/>
            </a:pPr>
            <a:r>
              <a:rPr lang="rw-RW" sz="2000" b="1">
                <a:solidFill>
                  <a:srgbClr val="FFFFFF"/>
                </a:solidFill>
                <a:latin typeface="Cambria"/>
                <a:ea typeface="Cambria"/>
                <a:cs typeface="Cambria"/>
                <a:sym typeface="Cambria"/>
              </a:rPr>
              <a:t>Ibishobora guhindurwa</a:t>
            </a:r>
            <a:endParaRPr sz="2000">
              <a:solidFill>
                <a:schemeClr val="dk1"/>
              </a:solidFill>
              <a:latin typeface="Calibri"/>
              <a:ea typeface="Calibri"/>
              <a:cs typeface="Calibri"/>
              <a:sym typeface="Calibri"/>
            </a:endParaRPr>
          </a:p>
        </p:txBody>
      </p:sp>
      <p:sp>
        <p:nvSpPr>
          <p:cNvPr id="647" name="Google Shape;647;p31"/>
          <p:cNvSpPr/>
          <p:nvPr/>
        </p:nvSpPr>
        <p:spPr>
          <a:xfrm>
            <a:off x="548640" y="2498022"/>
            <a:ext cx="3502152" cy="2798208"/>
          </a:xfrm>
          <a:prstGeom prst="roundRect">
            <a:avLst>
              <a:gd name="adj" fmla="val 4651"/>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648" name="Google Shape;648;p31"/>
          <p:cNvSpPr/>
          <p:nvPr/>
        </p:nvSpPr>
        <p:spPr>
          <a:xfrm>
            <a:off x="804672" y="2662614"/>
            <a:ext cx="3044952" cy="1691640"/>
          </a:xfrm>
          <a:prstGeom prst="rect">
            <a:avLst/>
          </a:prstGeom>
          <a:noFill/>
          <a:ln>
            <a:noFill/>
          </a:ln>
        </p:spPr>
        <p:txBody>
          <a:bodyPr spcFirstLastPara="1" wrap="square" lIns="0" tIns="0" rIns="0" bIns="0" anchor="t" anchorCtr="0">
            <a:normAutofit lnSpcReduction="10000"/>
          </a:bodyPr>
          <a:lstStyle/>
          <a:p>
            <a:pPr marL="342900" marR="0" lvl="0" indent="-342900" algn="l" rtl="0">
              <a:lnSpc>
                <a:spcPct val="140000"/>
              </a:lnSpc>
              <a:spcBef>
                <a:spcPts val="0"/>
              </a:spcBef>
              <a:spcAft>
                <a:spcPts val="0"/>
              </a:spcAft>
              <a:buClr>
                <a:srgbClr val="16334F"/>
              </a:buClr>
              <a:buSzPts val="1745"/>
              <a:buFont typeface="Calibri"/>
              <a:buChar char="•"/>
            </a:pPr>
            <a:r>
              <a:rPr lang="rw-RW" sz="1800">
                <a:solidFill>
                  <a:srgbClr val="16334F"/>
                </a:solidFill>
                <a:latin typeface="Calibri"/>
                <a:ea typeface="Calibri"/>
                <a:cs typeface="Calibri"/>
                <a:sym typeface="Calibri"/>
              </a:rPr>
              <a:t>Kunywa itabi</a:t>
            </a:r>
            <a:endParaRPr sz="1746">
              <a:solidFill>
                <a:schemeClr val="dk1"/>
              </a:solidFill>
              <a:latin typeface="Calibri"/>
              <a:ea typeface="Calibri"/>
              <a:cs typeface="Calibri"/>
              <a:sym typeface="Calibri"/>
            </a:endParaRPr>
          </a:p>
          <a:p>
            <a:pPr marL="342900" marR="0" lvl="0" indent="-342900" algn="l" rtl="0">
              <a:lnSpc>
                <a:spcPct val="140000"/>
              </a:lnSpc>
              <a:spcBef>
                <a:spcPts val="800"/>
              </a:spcBef>
              <a:spcAft>
                <a:spcPts val="0"/>
              </a:spcAft>
              <a:buClr>
                <a:srgbClr val="16334F"/>
              </a:buClr>
              <a:buSzPts val="1745"/>
              <a:buFont typeface="Calibri"/>
              <a:buChar char="•"/>
            </a:pPr>
            <a:r>
              <a:rPr lang="rw-RW" sz="1800">
                <a:solidFill>
                  <a:srgbClr val="16334F"/>
                </a:solidFill>
                <a:latin typeface="Calibri"/>
                <a:ea typeface="Calibri"/>
                <a:cs typeface="Calibri"/>
                <a:sym typeface="Calibri"/>
              </a:rPr>
              <a:t>Kubana agakoko H. pylori imyaka myinshi katavuwe</a:t>
            </a:r>
            <a:endParaRPr sz="1746">
              <a:solidFill>
                <a:schemeClr val="dk1"/>
              </a:solidFill>
              <a:latin typeface="Calibri"/>
              <a:ea typeface="Calibri"/>
              <a:cs typeface="Calibri"/>
              <a:sym typeface="Calibri"/>
            </a:endParaRPr>
          </a:p>
          <a:p>
            <a:pPr marL="342900" marR="0" lvl="0" indent="-342900" algn="l" rtl="0">
              <a:lnSpc>
                <a:spcPct val="140000"/>
              </a:lnSpc>
              <a:spcBef>
                <a:spcPts val="800"/>
              </a:spcBef>
              <a:spcAft>
                <a:spcPts val="0"/>
              </a:spcAft>
              <a:buClr>
                <a:srgbClr val="16334F"/>
              </a:buClr>
              <a:buSzPts val="1745"/>
              <a:buFont typeface="Calibri"/>
              <a:buChar char="•"/>
            </a:pPr>
            <a:r>
              <a:rPr lang="rw-RW" sz="1800">
                <a:solidFill>
                  <a:srgbClr val="16334F"/>
                </a:solidFill>
                <a:latin typeface="Calibri"/>
                <a:ea typeface="Calibri"/>
                <a:cs typeface="Calibri"/>
                <a:sym typeface="Calibri"/>
              </a:rPr>
              <a:t>Kunywa inzoga nyinshi</a:t>
            </a:r>
            <a:endParaRPr sz="1746">
              <a:solidFill>
                <a:schemeClr val="dk1"/>
              </a:solidFill>
              <a:latin typeface="Calibri"/>
              <a:ea typeface="Calibri"/>
              <a:cs typeface="Calibri"/>
              <a:sym typeface="Calibri"/>
            </a:endParaRPr>
          </a:p>
        </p:txBody>
      </p:sp>
      <p:sp>
        <p:nvSpPr>
          <p:cNvPr id="649" name="Google Shape;649;p31"/>
          <p:cNvSpPr/>
          <p:nvPr/>
        </p:nvSpPr>
        <p:spPr>
          <a:xfrm>
            <a:off x="4343400" y="1885374"/>
            <a:ext cx="3502152" cy="548640"/>
          </a:xfrm>
          <a:prstGeom prst="roundRect">
            <a:avLst>
              <a:gd name="adj" fmla="val 13333"/>
            </a:avLst>
          </a:prstGeom>
          <a:solidFill>
            <a:srgbClr val="2272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650" name="Google Shape;650;p31"/>
          <p:cNvSpPr/>
          <p:nvPr/>
        </p:nvSpPr>
        <p:spPr>
          <a:xfrm>
            <a:off x="4343400" y="1885374"/>
            <a:ext cx="3502152"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000"/>
              <a:buFont typeface="Cambria"/>
              <a:buNone/>
            </a:pPr>
            <a:r>
              <a:rPr lang="rw-RW" sz="2000" b="1">
                <a:solidFill>
                  <a:srgbClr val="FFFFFF"/>
                </a:solidFill>
                <a:latin typeface="Cambria"/>
                <a:ea typeface="Cambria"/>
                <a:cs typeface="Cambria"/>
                <a:sym typeface="Cambria"/>
              </a:rPr>
              <a:t>Ibidashobora guhindurwa</a:t>
            </a:r>
            <a:endParaRPr sz="2000">
              <a:solidFill>
                <a:schemeClr val="dk1"/>
              </a:solidFill>
              <a:latin typeface="Calibri"/>
              <a:ea typeface="Calibri"/>
              <a:cs typeface="Calibri"/>
              <a:sym typeface="Calibri"/>
            </a:endParaRPr>
          </a:p>
        </p:txBody>
      </p:sp>
      <p:sp>
        <p:nvSpPr>
          <p:cNvPr id="651" name="Google Shape;651;p31"/>
          <p:cNvSpPr/>
          <p:nvPr/>
        </p:nvSpPr>
        <p:spPr>
          <a:xfrm>
            <a:off x="4343400" y="2498021"/>
            <a:ext cx="3502152" cy="2798207"/>
          </a:xfrm>
          <a:prstGeom prst="roundRect">
            <a:avLst>
              <a:gd name="adj" fmla="val 4651"/>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652" name="Google Shape;652;p31"/>
          <p:cNvSpPr/>
          <p:nvPr/>
        </p:nvSpPr>
        <p:spPr>
          <a:xfrm>
            <a:off x="4599432" y="2662614"/>
            <a:ext cx="3044952" cy="1691640"/>
          </a:xfrm>
          <a:prstGeom prst="rect">
            <a:avLst/>
          </a:prstGeom>
          <a:noFill/>
          <a:ln>
            <a:noFill/>
          </a:ln>
        </p:spPr>
        <p:txBody>
          <a:bodyPr spcFirstLastPara="1" wrap="square" lIns="0" tIns="0" rIns="0" bIns="0" anchor="t" anchorCtr="0">
            <a:normAutofit lnSpcReduction="10000"/>
          </a:bodyPr>
          <a:lstStyle/>
          <a:p>
            <a:pPr marL="342900" marR="0" lvl="0" indent="-342900" algn="l" rtl="0">
              <a:lnSpc>
                <a:spcPct val="150000"/>
              </a:lnSpc>
              <a:spcBef>
                <a:spcPts val="0"/>
              </a:spcBef>
              <a:spcAft>
                <a:spcPts val="0"/>
              </a:spcAft>
              <a:buClr>
                <a:srgbClr val="16334F"/>
              </a:buClr>
              <a:buSzPts val="1745"/>
              <a:buFont typeface="Calibri"/>
              <a:buChar char="•"/>
            </a:pPr>
            <a:r>
              <a:rPr lang="rw-RW" sz="1800">
                <a:solidFill>
                  <a:srgbClr val="16334F"/>
                </a:solidFill>
                <a:latin typeface="Calibri"/>
                <a:ea typeface="Calibri"/>
                <a:cs typeface="Calibri"/>
                <a:sym typeface="Calibri"/>
              </a:rPr>
              <a:t>Gusaza</a:t>
            </a:r>
            <a:endParaRPr sz="1746">
              <a:solidFill>
                <a:schemeClr val="dk1"/>
              </a:solidFill>
              <a:latin typeface="Calibri"/>
              <a:ea typeface="Calibri"/>
              <a:cs typeface="Calibri"/>
              <a:sym typeface="Calibri"/>
            </a:endParaRPr>
          </a:p>
          <a:p>
            <a:pPr marL="342900" marR="0" lvl="0" indent="-342900" algn="l" rtl="0">
              <a:lnSpc>
                <a:spcPct val="150000"/>
              </a:lnSpc>
              <a:spcBef>
                <a:spcPts val="800"/>
              </a:spcBef>
              <a:spcAft>
                <a:spcPts val="0"/>
              </a:spcAft>
              <a:buClr>
                <a:srgbClr val="16334F"/>
              </a:buClr>
              <a:buSzPts val="1745"/>
              <a:buFont typeface="Calibri"/>
              <a:buChar char="•"/>
            </a:pPr>
            <a:r>
              <a:rPr lang="rw-RW" sz="1800">
                <a:solidFill>
                  <a:srgbClr val="16334F"/>
                </a:solidFill>
                <a:latin typeface="Calibri"/>
                <a:ea typeface="Calibri"/>
                <a:cs typeface="Calibri"/>
                <a:sym typeface="Calibri"/>
              </a:rPr>
              <a:t>Kugira abo mufitanye isano ya hafi y’amaraso barwaye kanseri y'igifu</a:t>
            </a:r>
            <a:endParaRPr sz="1746">
              <a:solidFill>
                <a:schemeClr val="dk1"/>
              </a:solidFill>
              <a:latin typeface="Calibri"/>
              <a:ea typeface="Calibri"/>
              <a:cs typeface="Calibri"/>
              <a:sym typeface="Calibri"/>
            </a:endParaRPr>
          </a:p>
        </p:txBody>
      </p:sp>
      <p:sp>
        <p:nvSpPr>
          <p:cNvPr id="653" name="Google Shape;653;p31"/>
          <p:cNvSpPr/>
          <p:nvPr/>
        </p:nvSpPr>
        <p:spPr>
          <a:xfrm>
            <a:off x="8138160" y="1885374"/>
            <a:ext cx="3502152" cy="548640"/>
          </a:xfrm>
          <a:prstGeom prst="roundRect">
            <a:avLst>
              <a:gd name="adj" fmla="val 13333"/>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654" name="Google Shape;654;p31"/>
          <p:cNvSpPr/>
          <p:nvPr/>
        </p:nvSpPr>
        <p:spPr>
          <a:xfrm>
            <a:off x="8138160" y="1885374"/>
            <a:ext cx="3502152"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000"/>
              <a:buFont typeface="Cambria"/>
              <a:buNone/>
            </a:pPr>
            <a:r>
              <a:rPr lang="rw-RW" sz="2000" b="1">
                <a:solidFill>
                  <a:srgbClr val="FFFFFF"/>
                </a:solidFill>
                <a:latin typeface="Cambria"/>
                <a:ea typeface="Cambria"/>
                <a:cs typeface="Cambria"/>
                <a:sym typeface="Cambria"/>
              </a:rPr>
              <a:t>Ibitongera ibyago</a:t>
            </a:r>
            <a:endParaRPr sz="2000">
              <a:solidFill>
                <a:schemeClr val="dk1"/>
              </a:solidFill>
              <a:latin typeface="Calibri"/>
              <a:ea typeface="Calibri"/>
              <a:cs typeface="Calibri"/>
              <a:sym typeface="Calibri"/>
            </a:endParaRPr>
          </a:p>
        </p:txBody>
      </p:sp>
      <p:sp>
        <p:nvSpPr>
          <p:cNvPr id="655" name="Google Shape;655;p31"/>
          <p:cNvSpPr/>
          <p:nvPr/>
        </p:nvSpPr>
        <p:spPr>
          <a:xfrm>
            <a:off x="8138160" y="2498022"/>
            <a:ext cx="3502152" cy="2798206"/>
          </a:xfrm>
          <a:prstGeom prst="roundRect">
            <a:avLst>
              <a:gd name="adj" fmla="val 4651"/>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656" name="Google Shape;656;p31"/>
          <p:cNvSpPr/>
          <p:nvPr/>
        </p:nvSpPr>
        <p:spPr>
          <a:xfrm>
            <a:off x="8394192" y="2662614"/>
            <a:ext cx="3044952" cy="1691640"/>
          </a:xfrm>
          <a:prstGeom prst="rect">
            <a:avLst/>
          </a:prstGeom>
          <a:noFill/>
          <a:ln>
            <a:noFill/>
          </a:ln>
        </p:spPr>
        <p:txBody>
          <a:bodyPr spcFirstLastPara="1" wrap="square" lIns="0" tIns="0" rIns="0" bIns="0" anchor="t" anchorCtr="0">
            <a:normAutofit/>
          </a:bodyPr>
          <a:lstStyle/>
          <a:p>
            <a:pPr marL="342900" marR="0" lvl="0" indent="-342900" algn="l" rtl="0">
              <a:lnSpc>
                <a:spcPct val="130000"/>
              </a:lnSpc>
              <a:spcBef>
                <a:spcPts val="0"/>
              </a:spcBef>
              <a:spcAft>
                <a:spcPts val="0"/>
              </a:spcAft>
              <a:buClr>
                <a:srgbClr val="16334F"/>
              </a:buClr>
              <a:buSzPts val="1476"/>
              <a:buFont typeface="Calibri"/>
              <a:buChar char="•"/>
            </a:pPr>
            <a:r>
              <a:rPr lang="rw-RW" sz="1800">
                <a:solidFill>
                  <a:srgbClr val="16334F"/>
                </a:solidFill>
                <a:latin typeface="Calibri"/>
                <a:ea typeface="Calibri"/>
                <a:cs typeface="Calibri"/>
                <a:sym typeface="Calibri"/>
              </a:rPr>
              <a:t>Kurya amafunguro asanzwe </a:t>
            </a:r>
            <a:endParaRPr sz="1476">
              <a:solidFill>
                <a:schemeClr val="dk1"/>
              </a:solidFill>
              <a:latin typeface="Calibri"/>
              <a:ea typeface="Calibri"/>
              <a:cs typeface="Calibri"/>
              <a:sym typeface="Calibri"/>
            </a:endParaRPr>
          </a:p>
          <a:p>
            <a:pPr marL="342900" marR="0" lvl="0" indent="-342900" algn="l" rtl="0">
              <a:lnSpc>
                <a:spcPct val="130000"/>
              </a:lnSpc>
              <a:spcBef>
                <a:spcPts val="800"/>
              </a:spcBef>
              <a:spcAft>
                <a:spcPts val="0"/>
              </a:spcAft>
              <a:buClr>
                <a:srgbClr val="16334F"/>
              </a:buClr>
              <a:buSzPts val="1476"/>
              <a:buFont typeface="Calibri"/>
              <a:buChar char="•"/>
            </a:pPr>
            <a:r>
              <a:rPr lang="rw-RW" sz="1800">
                <a:solidFill>
                  <a:srgbClr val="16334F"/>
                </a:solidFill>
                <a:latin typeface="Calibri"/>
                <a:ea typeface="Calibri"/>
                <a:cs typeface="Calibri"/>
                <a:sym typeface="Calibri"/>
              </a:rPr>
              <a:t>Gukora cyane mu buhinzi</a:t>
            </a:r>
            <a:endParaRPr sz="1476">
              <a:solidFill>
                <a:schemeClr val="dk1"/>
              </a:solidFill>
              <a:latin typeface="Calibri"/>
              <a:ea typeface="Calibri"/>
              <a:cs typeface="Calibri"/>
              <a:sym typeface="Calibri"/>
            </a:endParaRPr>
          </a:p>
          <a:p>
            <a:pPr marL="342900" marR="0" lvl="0" indent="-342900" algn="l" rtl="0">
              <a:lnSpc>
                <a:spcPct val="130000"/>
              </a:lnSpc>
              <a:spcBef>
                <a:spcPts val="800"/>
              </a:spcBef>
              <a:spcAft>
                <a:spcPts val="0"/>
              </a:spcAft>
              <a:buClr>
                <a:srgbClr val="16334F"/>
              </a:buClr>
              <a:buSzPts val="1476"/>
              <a:buFont typeface="Calibri"/>
              <a:buChar char="•"/>
            </a:pPr>
            <a:r>
              <a:rPr lang="rw-RW" sz="1800">
                <a:solidFill>
                  <a:srgbClr val="16334F"/>
                </a:solidFill>
                <a:latin typeface="Calibri"/>
                <a:ea typeface="Calibri"/>
                <a:cs typeface="Calibri"/>
                <a:sym typeface="Calibri"/>
              </a:rPr>
              <a:t>Gusurwa n'umujyanama w'ubuzima</a:t>
            </a:r>
            <a:endParaRPr sz="1476">
              <a:solidFill>
                <a:schemeClr val="dk1"/>
              </a:solidFill>
              <a:latin typeface="Calibri"/>
              <a:ea typeface="Calibri"/>
              <a:cs typeface="Calibri"/>
              <a:sym typeface="Calibri"/>
            </a:endParaRPr>
          </a:p>
        </p:txBody>
      </p:sp>
      <p:sp>
        <p:nvSpPr>
          <p:cNvPr id="657" name="Google Shape;657;p31"/>
          <p:cNvSpPr/>
          <p:nvPr/>
        </p:nvSpPr>
        <p:spPr>
          <a:xfrm>
            <a:off x="548640" y="5496471"/>
            <a:ext cx="11091672" cy="658368"/>
          </a:xfrm>
          <a:prstGeom prst="roundRect">
            <a:avLst>
              <a:gd name="adj" fmla="val 13889"/>
            </a:avLst>
          </a:prstGeom>
          <a:solidFill>
            <a:srgbClr val="FDF6E3"/>
          </a:solidFill>
          <a:ln w="12700" cap="flat" cmpd="sng">
            <a:solidFill>
              <a:srgbClr val="EFD9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658" name="Google Shape;658;p31"/>
          <p:cNvSpPr/>
          <p:nvPr/>
        </p:nvSpPr>
        <p:spPr>
          <a:xfrm>
            <a:off x="777240" y="5569623"/>
            <a:ext cx="10634472" cy="512064"/>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9C6500"/>
              </a:buClr>
              <a:buSzPts val="1737"/>
              <a:buFont typeface="Calibri"/>
              <a:buNone/>
            </a:pPr>
            <a:r>
              <a:rPr lang="rw-RW" sz="1800">
                <a:solidFill>
                  <a:srgbClr val="9C6500"/>
                </a:solidFill>
                <a:latin typeface="Calibri"/>
                <a:ea typeface="Calibri"/>
                <a:cs typeface="Calibri"/>
                <a:sym typeface="Calibri"/>
              </a:rPr>
              <a:t>Ntuzigere ubwira umuntu ko ibyo kurya cyangwa uburyo bwe bwo kubaho byamuteye kanseri. Nta funguro rimwe ryonyine ritera cyangwa ririnda kanseri y'igifu.</a:t>
            </a:r>
            <a:endParaRPr sz="1737">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63"/>
        <p:cNvGrpSpPr/>
        <p:nvPr/>
      </p:nvGrpSpPr>
      <p:grpSpPr>
        <a:xfrm>
          <a:off x="0" y="0"/>
          <a:ext cx="0" cy="0"/>
          <a:chOff x="0" y="0"/>
          <a:chExt cx="0" cy="0"/>
        </a:xfrm>
      </p:grpSpPr>
      <p:sp>
        <p:nvSpPr>
          <p:cNvPr id="664" name="Google Shape;664;p32"/>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2</a:t>
            </a:r>
            <a:endParaRPr sz="1100">
              <a:solidFill>
                <a:schemeClr val="dk1"/>
              </a:solidFill>
              <a:latin typeface="Calibri"/>
              <a:ea typeface="Calibri"/>
              <a:cs typeface="Calibri"/>
              <a:sym typeface="Calibri"/>
            </a:endParaRPr>
          </a:p>
        </p:txBody>
      </p:sp>
      <p:sp>
        <p:nvSpPr>
          <p:cNvPr id="665" name="Google Shape;665;p32"/>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Ibimenyetso byo gukurikirana</a:t>
            </a:r>
            <a:endParaRPr sz="3400">
              <a:solidFill>
                <a:schemeClr val="dk1"/>
              </a:solidFill>
              <a:latin typeface="Calibri"/>
              <a:ea typeface="Calibri"/>
              <a:cs typeface="Calibri"/>
              <a:sym typeface="Calibri"/>
            </a:endParaRPr>
          </a:p>
        </p:txBody>
      </p:sp>
      <p:sp>
        <p:nvSpPr>
          <p:cNvPr id="666" name="Google Shape;666;p32"/>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667" name="Google Shape;667;p32"/>
          <p:cNvSpPr/>
          <p:nvPr/>
        </p:nvSpPr>
        <p:spPr>
          <a:xfrm>
            <a:off x="548640" y="1874520"/>
            <a:ext cx="5486400" cy="3886200"/>
          </a:xfrm>
          <a:prstGeom prst="roundRect">
            <a:avLst>
              <a:gd name="adj" fmla="val 2824"/>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8" name="Google Shape;668;p32"/>
          <p:cNvSpPr/>
          <p:nvPr/>
        </p:nvSpPr>
        <p:spPr>
          <a:xfrm>
            <a:off x="804672" y="2057400"/>
            <a:ext cx="5029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Ibimenyetso bigomba gusuzumwa</a:t>
            </a:r>
            <a:endParaRPr sz="2100">
              <a:solidFill>
                <a:schemeClr val="dk1"/>
              </a:solidFill>
              <a:latin typeface="Calibri"/>
              <a:ea typeface="Calibri"/>
              <a:cs typeface="Calibri"/>
              <a:sym typeface="Calibri"/>
            </a:endParaRPr>
          </a:p>
        </p:txBody>
      </p:sp>
      <p:sp>
        <p:nvSpPr>
          <p:cNvPr id="669" name="Google Shape;669;p32"/>
          <p:cNvSpPr/>
          <p:nvPr/>
        </p:nvSpPr>
        <p:spPr>
          <a:xfrm>
            <a:off x="868680" y="2514600"/>
            <a:ext cx="4937760" cy="301752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rgbClr val="16334F"/>
              </a:buClr>
              <a:buSzPts val="1700"/>
              <a:buFont typeface="Calibri"/>
              <a:buChar char="•"/>
            </a:pPr>
            <a:r>
              <a:rPr lang="rw-RW" sz="1700">
                <a:solidFill>
                  <a:srgbClr val="16334F"/>
                </a:solidFill>
                <a:latin typeface="Calibri"/>
                <a:ea typeface="Calibri"/>
                <a:cs typeface="Calibri"/>
                <a:sym typeface="Calibri"/>
              </a:rPr>
              <a:t>Ububabare cyangwa kutamererwa neza mu gice cyo hejuru cy'inda bidashira</a:t>
            </a:r>
            <a:endParaRPr sz="1700">
              <a:solidFill>
                <a:schemeClr val="dk1"/>
              </a:solidFill>
              <a:latin typeface="Calibri"/>
              <a:ea typeface="Calibri"/>
              <a:cs typeface="Calibri"/>
              <a:sym typeface="Calibri"/>
            </a:endParaRPr>
          </a:p>
          <a:p>
            <a:pPr marL="342900" marR="0" lvl="0" indent="-342900" algn="l" rtl="0">
              <a:spcBef>
                <a:spcPts val="700"/>
              </a:spcBef>
              <a:spcAft>
                <a:spcPts val="0"/>
              </a:spcAft>
              <a:buClr>
                <a:srgbClr val="16334F"/>
              </a:buClr>
              <a:buSzPts val="1700"/>
              <a:buFont typeface="Calibri"/>
              <a:buChar char="•"/>
            </a:pPr>
            <a:r>
              <a:rPr lang="rw-RW" sz="1700">
                <a:solidFill>
                  <a:srgbClr val="16334F"/>
                </a:solidFill>
                <a:latin typeface="Calibri"/>
                <a:ea typeface="Calibri"/>
                <a:cs typeface="Calibri"/>
                <a:sym typeface="Calibri"/>
              </a:rPr>
              <a:t>Kumva uhaze nyuma yo kurya ibiryo bike gusa</a:t>
            </a:r>
            <a:endParaRPr sz="1700">
              <a:solidFill>
                <a:schemeClr val="dk1"/>
              </a:solidFill>
              <a:latin typeface="Calibri"/>
              <a:ea typeface="Calibri"/>
              <a:cs typeface="Calibri"/>
              <a:sym typeface="Calibri"/>
            </a:endParaRPr>
          </a:p>
          <a:p>
            <a:pPr marL="342900" marR="0" lvl="0" indent="-342900" algn="l" rtl="0">
              <a:spcBef>
                <a:spcPts val="700"/>
              </a:spcBef>
              <a:spcAft>
                <a:spcPts val="0"/>
              </a:spcAft>
              <a:buClr>
                <a:srgbClr val="16334F"/>
              </a:buClr>
              <a:buSzPts val="1700"/>
              <a:buFont typeface="Calibri"/>
              <a:buChar char="•"/>
            </a:pPr>
            <a:r>
              <a:rPr lang="rw-RW" sz="1700">
                <a:solidFill>
                  <a:srgbClr val="16334F"/>
                </a:solidFill>
                <a:latin typeface="Calibri"/>
                <a:ea typeface="Calibri"/>
                <a:cs typeface="Calibri"/>
                <a:sym typeface="Calibri"/>
              </a:rPr>
              <a:t>Gutakaza ubushake bwo kurya</a:t>
            </a:r>
            <a:endParaRPr sz="1700">
              <a:solidFill>
                <a:schemeClr val="dk1"/>
              </a:solidFill>
              <a:latin typeface="Calibri"/>
              <a:ea typeface="Calibri"/>
              <a:cs typeface="Calibri"/>
              <a:sym typeface="Calibri"/>
            </a:endParaRPr>
          </a:p>
          <a:p>
            <a:pPr marL="342900" marR="0" lvl="0" indent="-342900" algn="l" rtl="0">
              <a:spcBef>
                <a:spcPts val="700"/>
              </a:spcBef>
              <a:spcAft>
                <a:spcPts val="0"/>
              </a:spcAft>
              <a:buClr>
                <a:srgbClr val="16334F"/>
              </a:buClr>
              <a:buSzPts val="1700"/>
              <a:buFont typeface="Calibri"/>
              <a:buChar char="•"/>
            </a:pPr>
            <a:r>
              <a:rPr lang="rw-RW" sz="1700">
                <a:solidFill>
                  <a:srgbClr val="16334F"/>
                </a:solidFill>
                <a:latin typeface="Calibri"/>
                <a:ea typeface="Calibri"/>
                <a:cs typeface="Calibri"/>
                <a:sym typeface="Calibri"/>
              </a:rPr>
              <a:t>Gutakaza ibiro utiriwe ugerageza</a:t>
            </a:r>
            <a:endParaRPr sz="1700">
              <a:solidFill>
                <a:schemeClr val="dk1"/>
              </a:solidFill>
              <a:latin typeface="Calibri"/>
              <a:ea typeface="Calibri"/>
              <a:cs typeface="Calibri"/>
              <a:sym typeface="Calibri"/>
            </a:endParaRPr>
          </a:p>
          <a:p>
            <a:pPr marL="342900" marR="0" lvl="0" indent="-342900" algn="l" rtl="0">
              <a:spcBef>
                <a:spcPts val="700"/>
              </a:spcBef>
              <a:spcAft>
                <a:spcPts val="0"/>
              </a:spcAft>
              <a:buClr>
                <a:srgbClr val="16334F"/>
              </a:buClr>
              <a:buSzPts val="1700"/>
              <a:buFont typeface="Calibri"/>
              <a:buChar char="•"/>
            </a:pPr>
            <a:r>
              <a:rPr lang="rw-RW" sz="1700">
                <a:solidFill>
                  <a:srgbClr val="16334F"/>
                </a:solidFill>
                <a:latin typeface="Calibri"/>
                <a:ea typeface="Calibri"/>
                <a:cs typeface="Calibri"/>
                <a:sym typeface="Calibri"/>
              </a:rPr>
              <a:t>Kuruka kenshi</a:t>
            </a:r>
            <a:endParaRPr sz="1700">
              <a:solidFill>
                <a:schemeClr val="dk1"/>
              </a:solidFill>
              <a:latin typeface="Calibri"/>
              <a:ea typeface="Calibri"/>
              <a:cs typeface="Calibri"/>
              <a:sym typeface="Calibri"/>
            </a:endParaRPr>
          </a:p>
          <a:p>
            <a:pPr marL="342900" marR="0" lvl="0" indent="-342900" algn="l" rtl="0">
              <a:spcBef>
                <a:spcPts val="700"/>
              </a:spcBef>
              <a:spcAft>
                <a:spcPts val="0"/>
              </a:spcAft>
              <a:buClr>
                <a:srgbClr val="16334F"/>
              </a:buClr>
              <a:buSzPts val="1700"/>
              <a:buFont typeface="Calibri"/>
              <a:buChar char="•"/>
            </a:pPr>
            <a:r>
              <a:rPr lang="rw-RW" sz="1700">
                <a:solidFill>
                  <a:srgbClr val="16334F"/>
                </a:solidFill>
                <a:latin typeface="Calibri"/>
                <a:ea typeface="Calibri"/>
                <a:cs typeface="Calibri"/>
                <a:sym typeface="Calibri"/>
              </a:rPr>
              <a:t>Kumva unaniwe kandi bihoraho</a:t>
            </a:r>
            <a:endParaRPr sz="1700">
              <a:solidFill>
                <a:schemeClr val="dk1"/>
              </a:solidFill>
              <a:latin typeface="Calibri"/>
              <a:ea typeface="Calibri"/>
              <a:cs typeface="Calibri"/>
              <a:sym typeface="Calibri"/>
            </a:endParaRPr>
          </a:p>
          <a:p>
            <a:pPr marL="342900" marR="0" lvl="0" indent="-342900" algn="l" rtl="0">
              <a:spcBef>
                <a:spcPts val="700"/>
              </a:spcBef>
              <a:spcAft>
                <a:spcPts val="0"/>
              </a:spcAft>
              <a:buClr>
                <a:srgbClr val="16334F"/>
              </a:buClr>
              <a:buSzPts val="1700"/>
              <a:buFont typeface="Calibri"/>
              <a:buChar char="•"/>
            </a:pPr>
            <a:r>
              <a:rPr lang="rw-RW" sz="1700">
                <a:solidFill>
                  <a:srgbClr val="16334F"/>
                </a:solidFill>
                <a:latin typeface="Calibri"/>
                <a:ea typeface="Calibri"/>
                <a:cs typeface="Calibri"/>
                <a:sym typeface="Calibri"/>
              </a:rPr>
              <a:t>Gukorwa no kumira ibiryo</a:t>
            </a:r>
            <a:endParaRPr sz="1700">
              <a:solidFill>
                <a:schemeClr val="dk1"/>
              </a:solidFill>
              <a:latin typeface="Calibri"/>
              <a:ea typeface="Calibri"/>
              <a:cs typeface="Calibri"/>
              <a:sym typeface="Calibri"/>
            </a:endParaRPr>
          </a:p>
        </p:txBody>
      </p:sp>
      <p:pic>
        <p:nvPicPr>
          <p:cNvPr id="670" name="Google Shape;670;p32"/>
          <p:cNvPicPr preferRelativeResize="0"/>
          <p:nvPr/>
        </p:nvPicPr>
        <p:blipFill rotWithShape="1">
          <a:blip r:embed="rId3">
            <a:alphaModFix/>
          </a:blip>
          <a:srcRect/>
          <a:stretch/>
        </p:blipFill>
        <p:spPr>
          <a:xfrm>
            <a:off x="6153912" y="1826142"/>
            <a:ext cx="5486400" cy="403787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p:cNvGrpSpPr/>
        <p:nvPr/>
      </p:nvGrpSpPr>
      <p:grpSpPr>
        <a:xfrm>
          <a:off x="0" y="0"/>
          <a:ext cx="0" cy="0"/>
          <a:chOff x="0" y="0"/>
          <a:chExt cx="0" cy="0"/>
        </a:xfrm>
      </p:grpSpPr>
      <p:sp>
        <p:nvSpPr>
          <p:cNvPr id="676" name="Google Shape;676;p33"/>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2</a:t>
            </a:r>
            <a:endParaRPr sz="1100">
              <a:solidFill>
                <a:schemeClr val="dk1"/>
              </a:solidFill>
              <a:latin typeface="Calibri"/>
              <a:ea typeface="Calibri"/>
              <a:cs typeface="Calibri"/>
              <a:sym typeface="Calibri"/>
            </a:endParaRPr>
          </a:p>
        </p:txBody>
      </p:sp>
      <p:sp>
        <p:nvSpPr>
          <p:cNvPr id="677" name="Google Shape;677;p33"/>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Ibi bimenyetso bishobora guterwa n'impamvu nyinshi</a:t>
            </a:r>
            <a:endParaRPr sz="3400">
              <a:solidFill>
                <a:schemeClr val="dk1"/>
              </a:solidFill>
              <a:latin typeface="Calibri"/>
              <a:ea typeface="Calibri"/>
              <a:cs typeface="Calibri"/>
              <a:sym typeface="Calibri"/>
            </a:endParaRPr>
          </a:p>
        </p:txBody>
      </p:sp>
      <p:sp>
        <p:nvSpPr>
          <p:cNvPr id="678" name="Google Shape;678;p33"/>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679" name="Google Shape;679;p33"/>
          <p:cNvSpPr/>
          <p:nvPr/>
        </p:nvSpPr>
        <p:spPr>
          <a:xfrm>
            <a:off x="548640" y="1735038"/>
            <a:ext cx="3502152" cy="2991948"/>
          </a:xfrm>
          <a:prstGeom prst="roundRect">
            <a:avLst>
              <a:gd name="adj" fmla="val 48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0" name="Google Shape;680;p33"/>
          <p:cNvSpPr/>
          <p:nvPr/>
        </p:nvSpPr>
        <p:spPr>
          <a:xfrm>
            <a:off x="804672" y="1936206"/>
            <a:ext cx="2990088" cy="566928"/>
          </a:xfrm>
          <a:prstGeom prst="rect">
            <a:avLst/>
          </a:prstGeom>
          <a:noFill/>
          <a:ln>
            <a:noFill/>
          </a:ln>
        </p:spPr>
        <p:txBody>
          <a:bodyPr spcFirstLastPara="1" wrap="square" lIns="0" tIns="0" rIns="0" bIns="0" anchor="t" anchorCtr="0">
            <a:normAutofit lnSpcReduction="10000"/>
          </a:bodyPr>
          <a:lstStyle/>
          <a:p>
            <a:pPr marL="0" marR="0" lvl="0" indent="0" algn="l" rtl="0">
              <a:lnSpc>
                <a:spcPct val="90000"/>
              </a:lnSpc>
              <a:spcBef>
                <a:spcPts val="0"/>
              </a:spcBef>
              <a:spcAft>
                <a:spcPts val="0"/>
              </a:spcAft>
              <a:buClr>
                <a:srgbClr val="0F3D63"/>
              </a:buClr>
              <a:buSzPts val="1921"/>
              <a:buFont typeface="Cambria"/>
              <a:buNone/>
            </a:pPr>
            <a:r>
              <a:rPr lang="rw-RW" sz="2100" b="1">
                <a:solidFill>
                  <a:srgbClr val="0F3D63"/>
                </a:solidFill>
                <a:latin typeface="Cambria"/>
                <a:ea typeface="Cambria"/>
                <a:cs typeface="Cambria"/>
                <a:sym typeface="Cambria"/>
              </a:rPr>
              <a:t>Ububabare bwinshi ntabwo ari kanseri</a:t>
            </a:r>
            <a:endParaRPr sz="1922">
              <a:solidFill>
                <a:schemeClr val="dk1"/>
              </a:solidFill>
              <a:latin typeface="Calibri"/>
              <a:ea typeface="Calibri"/>
              <a:cs typeface="Calibri"/>
              <a:sym typeface="Calibri"/>
            </a:endParaRPr>
          </a:p>
        </p:txBody>
      </p:sp>
      <p:sp>
        <p:nvSpPr>
          <p:cNvPr id="681" name="Google Shape;681;p33"/>
          <p:cNvSpPr/>
          <p:nvPr/>
        </p:nvSpPr>
        <p:spPr>
          <a:xfrm>
            <a:off x="804672" y="2576286"/>
            <a:ext cx="2990088" cy="123444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95000"/>
              </a:lnSpc>
              <a:spcBef>
                <a:spcPts val="0"/>
              </a:spcBef>
              <a:spcAft>
                <a:spcPts val="0"/>
              </a:spcAft>
              <a:buClr>
                <a:srgbClr val="16334F"/>
              </a:buClr>
              <a:buSzPts val="1593"/>
              <a:buFont typeface="Calibri"/>
              <a:buNone/>
            </a:pPr>
            <a:r>
              <a:rPr lang="rw-RW" sz="1800">
                <a:solidFill>
                  <a:srgbClr val="16334F"/>
                </a:solidFill>
                <a:latin typeface="Calibri"/>
                <a:ea typeface="Calibri"/>
                <a:cs typeface="Calibri"/>
                <a:sym typeface="Calibri"/>
              </a:rPr>
              <a:t>Ibibazo byinshi bisanzwe bishobora gutera ububabare, kubyimba inda cyangwa imisuzi, no kubura ubushake bwo kurya. Ibi ntibivuze ko umuntu ko arwaye kanseri.</a:t>
            </a:r>
            <a:endParaRPr sz="1593">
              <a:solidFill>
                <a:schemeClr val="dk1"/>
              </a:solidFill>
              <a:latin typeface="Calibri"/>
              <a:ea typeface="Calibri"/>
              <a:cs typeface="Calibri"/>
              <a:sym typeface="Calibri"/>
            </a:endParaRPr>
          </a:p>
        </p:txBody>
      </p:sp>
      <p:sp>
        <p:nvSpPr>
          <p:cNvPr id="682" name="Google Shape;682;p33"/>
          <p:cNvSpPr/>
          <p:nvPr/>
        </p:nvSpPr>
        <p:spPr>
          <a:xfrm>
            <a:off x="4343400" y="1735038"/>
            <a:ext cx="3502152" cy="2991948"/>
          </a:xfrm>
          <a:prstGeom prst="roundRect">
            <a:avLst>
              <a:gd name="adj" fmla="val 48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3" name="Google Shape;683;p33"/>
          <p:cNvSpPr/>
          <p:nvPr/>
        </p:nvSpPr>
        <p:spPr>
          <a:xfrm>
            <a:off x="4599432" y="1936206"/>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79"/>
              <a:buFont typeface="Cambria"/>
              <a:buNone/>
            </a:pPr>
            <a:r>
              <a:rPr lang="rw-RW" sz="2100" b="1">
                <a:solidFill>
                  <a:srgbClr val="0F3D63"/>
                </a:solidFill>
                <a:latin typeface="Cambria"/>
                <a:ea typeface="Cambria"/>
                <a:cs typeface="Cambria"/>
                <a:sym typeface="Cambria"/>
              </a:rPr>
              <a:t>Igihe gitanga amakuru</a:t>
            </a:r>
            <a:endParaRPr sz="2079">
              <a:solidFill>
                <a:schemeClr val="dk1"/>
              </a:solidFill>
              <a:latin typeface="Calibri"/>
              <a:ea typeface="Calibri"/>
              <a:cs typeface="Calibri"/>
              <a:sym typeface="Calibri"/>
            </a:endParaRPr>
          </a:p>
        </p:txBody>
      </p:sp>
      <p:sp>
        <p:nvSpPr>
          <p:cNvPr id="684" name="Google Shape;684;p33"/>
          <p:cNvSpPr/>
          <p:nvPr/>
        </p:nvSpPr>
        <p:spPr>
          <a:xfrm>
            <a:off x="4599432" y="2576286"/>
            <a:ext cx="2990088" cy="123444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28"/>
              <a:buFont typeface="Calibri"/>
              <a:buNone/>
            </a:pPr>
            <a:r>
              <a:rPr lang="rw-RW" sz="1800">
                <a:solidFill>
                  <a:srgbClr val="16334F"/>
                </a:solidFill>
                <a:latin typeface="Calibri"/>
                <a:ea typeface="Calibri"/>
                <a:cs typeface="Calibri"/>
                <a:sym typeface="Calibri"/>
              </a:rPr>
              <a:t>Ikimenyetso kimara ibyumweru, kigakomeza kugaruka cyangwa kikagenda kirushaho kuba kibi, kigomba gusuzumwa.</a:t>
            </a:r>
            <a:endParaRPr sz="1728">
              <a:solidFill>
                <a:schemeClr val="dk1"/>
              </a:solidFill>
              <a:latin typeface="Calibri"/>
              <a:ea typeface="Calibri"/>
              <a:cs typeface="Calibri"/>
              <a:sym typeface="Calibri"/>
            </a:endParaRPr>
          </a:p>
        </p:txBody>
      </p:sp>
      <p:sp>
        <p:nvSpPr>
          <p:cNvPr id="685" name="Google Shape;685;p33"/>
          <p:cNvSpPr/>
          <p:nvPr/>
        </p:nvSpPr>
        <p:spPr>
          <a:xfrm>
            <a:off x="8138160" y="1735038"/>
            <a:ext cx="3502152" cy="2991948"/>
          </a:xfrm>
          <a:prstGeom prst="roundRect">
            <a:avLst>
              <a:gd name="adj" fmla="val 48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6" name="Google Shape;686;p33"/>
          <p:cNvSpPr/>
          <p:nvPr/>
        </p:nvSpPr>
        <p:spPr>
          <a:xfrm>
            <a:off x="8394192" y="1936206"/>
            <a:ext cx="2990088" cy="566928"/>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0"/>
              </a:spcBef>
              <a:spcAft>
                <a:spcPts val="0"/>
              </a:spcAft>
              <a:buClr>
                <a:srgbClr val="0F3D63"/>
              </a:buClr>
              <a:buSzPts val="1921"/>
              <a:buFont typeface="Cambria"/>
              <a:buNone/>
            </a:pPr>
            <a:r>
              <a:rPr lang="rw-RW" sz="2100" b="1">
                <a:solidFill>
                  <a:srgbClr val="0F3D63"/>
                </a:solidFill>
                <a:latin typeface="Cambria"/>
                <a:ea typeface="Cambria"/>
                <a:cs typeface="Cambria"/>
                <a:sym typeface="Cambria"/>
              </a:rPr>
              <a:t>Itondere imvugo yawe</a:t>
            </a:r>
            <a:endParaRPr sz="1922">
              <a:solidFill>
                <a:schemeClr val="dk1"/>
              </a:solidFill>
              <a:latin typeface="Calibri"/>
              <a:ea typeface="Calibri"/>
              <a:cs typeface="Calibri"/>
              <a:sym typeface="Calibri"/>
            </a:endParaRPr>
          </a:p>
        </p:txBody>
      </p:sp>
      <p:sp>
        <p:nvSpPr>
          <p:cNvPr id="687" name="Google Shape;687;p33"/>
          <p:cNvSpPr/>
          <p:nvPr/>
        </p:nvSpPr>
        <p:spPr>
          <a:xfrm>
            <a:off x="8394192" y="2576286"/>
            <a:ext cx="2990088" cy="1234440"/>
          </a:xfrm>
          <a:prstGeom prst="rect">
            <a:avLst/>
          </a:prstGeom>
          <a:noFill/>
          <a:ln>
            <a:noFill/>
          </a:ln>
        </p:spPr>
        <p:txBody>
          <a:bodyPr spcFirstLastPara="1" wrap="square" lIns="0" tIns="0" rIns="0" bIns="0" anchor="t" anchorCtr="0">
            <a:normAutofit lnSpcReduction="10000"/>
          </a:bodyPr>
          <a:lstStyle/>
          <a:p>
            <a:pPr marL="0" marR="0" lvl="0" indent="0" algn="l" rtl="0">
              <a:lnSpc>
                <a:spcPct val="95000"/>
              </a:lnSpc>
              <a:spcBef>
                <a:spcPts val="0"/>
              </a:spcBef>
              <a:spcAft>
                <a:spcPts val="0"/>
              </a:spcAft>
              <a:buClr>
                <a:srgbClr val="16334F"/>
              </a:buClr>
              <a:buSzPts val="1728"/>
              <a:buFont typeface="Calibri"/>
              <a:buNone/>
            </a:pPr>
            <a:r>
              <a:rPr lang="rw-RW" sz="1800">
                <a:solidFill>
                  <a:srgbClr val="16334F"/>
                </a:solidFill>
                <a:latin typeface="Calibri"/>
                <a:ea typeface="Calibri"/>
                <a:cs typeface="Calibri"/>
                <a:sym typeface="Calibri"/>
              </a:rPr>
              <a:t>Vuga ko icyo kimenyetso gikeneye gusuzumwa, atari uko ari kanseri. Ivuriro ni ryo ryonyine rishobora kumenya ikibitera.</a:t>
            </a:r>
            <a:endParaRPr sz="1728">
              <a:solidFill>
                <a:schemeClr val="dk1"/>
              </a:solidFill>
              <a:latin typeface="Calibri"/>
              <a:ea typeface="Calibri"/>
              <a:cs typeface="Calibri"/>
              <a:sym typeface="Calibri"/>
            </a:endParaRPr>
          </a:p>
        </p:txBody>
      </p:sp>
      <p:sp>
        <p:nvSpPr>
          <p:cNvPr id="688" name="Google Shape;688;p33"/>
          <p:cNvSpPr/>
          <p:nvPr/>
        </p:nvSpPr>
        <p:spPr>
          <a:xfrm>
            <a:off x="548640" y="5117540"/>
            <a:ext cx="11091672" cy="658368"/>
          </a:xfrm>
          <a:prstGeom prst="roundRect">
            <a:avLst>
              <a:gd name="adj" fmla="val 13889"/>
            </a:avLst>
          </a:prstGeom>
          <a:solidFill>
            <a:srgbClr val="FDF6E3"/>
          </a:solidFill>
          <a:ln w="12700" cap="flat" cmpd="sng">
            <a:solidFill>
              <a:srgbClr val="EFD9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9" name="Google Shape;689;p33"/>
          <p:cNvSpPr/>
          <p:nvPr/>
        </p:nvSpPr>
        <p:spPr>
          <a:xfrm>
            <a:off x="777240" y="5190692"/>
            <a:ext cx="10634472"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C6500"/>
              </a:buClr>
              <a:buSzPts val="1700"/>
              <a:buFont typeface="Calibri"/>
              <a:buNone/>
            </a:pPr>
            <a:r>
              <a:rPr lang="rw-RW" sz="1700">
                <a:solidFill>
                  <a:srgbClr val="9C6500"/>
                </a:solidFill>
                <a:latin typeface="Calibri"/>
                <a:ea typeface="Calibri"/>
                <a:cs typeface="Calibri"/>
                <a:sym typeface="Calibri"/>
              </a:rPr>
              <a:t>💡 Ubutumwa bw’ingenzi: "Bishobora kuba ari ikibazo cyoroheje, ariko kubera ko kimaze igihe, kigomba kwisuzumishwa."</a:t>
            </a:r>
            <a:endParaRPr sz="17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94"/>
        <p:cNvGrpSpPr/>
        <p:nvPr/>
      </p:nvGrpSpPr>
      <p:grpSpPr>
        <a:xfrm>
          <a:off x="0" y="0"/>
          <a:ext cx="0" cy="0"/>
          <a:chOff x="0" y="0"/>
          <a:chExt cx="0" cy="0"/>
        </a:xfrm>
      </p:grpSpPr>
      <p:sp>
        <p:nvSpPr>
          <p:cNvPr id="695" name="Google Shape;695;p34"/>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2</a:t>
            </a:r>
            <a:endParaRPr sz="1100">
              <a:solidFill>
                <a:schemeClr val="dk1"/>
              </a:solidFill>
              <a:latin typeface="Calibri"/>
              <a:ea typeface="Calibri"/>
              <a:cs typeface="Calibri"/>
              <a:sym typeface="Calibri"/>
            </a:endParaRPr>
          </a:p>
        </p:txBody>
      </p:sp>
      <p:sp>
        <p:nvSpPr>
          <p:cNvPr id="696" name="Google Shape;696;p34"/>
          <p:cNvSpPr/>
          <p:nvPr/>
        </p:nvSpPr>
        <p:spPr>
          <a:xfrm>
            <a:off x="548640" y="685800"/>
            <a:ext cx="11064240" cy="418026"/>
          </a:xfrm>
          <a:prstGeom prst="rect">
            <a:avLst/>
          </a:prstGeom>
          <a:noFill/>
          <a:ln>
            <a:noFill/>
          </a:ln>
        </p:spPr>
        <p:txBody>
          <a:bodyPr spcFirstLastPara="1" wrap="square" lIns="0" tIns="0" rIns="0" bIns="0" anchor="t" anchorCtr="0">
            <a:normAutofit fontScale="92500"/>
          </a:bodyPr>
          <a:lstStyle/>
          <a:p>
            <a:pPr marL="0" marR="0" lvl="0" indent="0" algn="l" rtl="0">
              <a:lnSpc>
                <a:spcPct val="80000"/>
              </a:lnSpc>
              <a:spcBef>
                <a:spcPts val="0"/>
              </a:spcBef>
              <a:spcAft>
                <a:spcPts val="0"/>
              </a:spcAft>
              <a:buClr>
                <a:srgbClr val="0F3D63"/>
              </a:buClr>
              <a:buSzPts val="3094"/>
              <a:buFont typeface="Cambria"/>
              <a:buNone/>
            </a:pPr>
            <a:r>
              <a:rPr lang="rw-RW" sz="3400" b="1">
                <a:solidFill>
                  <a:srgbClr val="0F3D63"/>
                </a:solidFill>
                <a:latin typeface="Cambria"/>
                <a:ea typeface="Cambria"/>
                <a:cs typeface="Cambria"/>
                <a:sym typeface="Cambria"/>
              </a:rPr>
              <a:t>Ibimenyetso mpuruza: ohereza umuntu kwivuza ako kanya</a:t>
            </a:r>
            <a:endParaRPr sz="3094">
              <a:solidFill>
                <a:schemeClr val="dk1"/>
              </a:solidFill>
              <a:latin typeface="Calibri"/>
              <a:ea typeface="Calibri"/>
              <a:cs typeface="Calibri"/>
              <a:sym typeface="Calibri"/>
            </a:endParaRPr>
          </a:p>
        </p:txBody>
      </p:sp>
      <p:sp>
        <p:nvSpPr>
          <p:cNvPr id="697" name="Google Shape;697;p34"/>
          <p:cNvSpPr/>
          <p:nvPr/>
        </p:nvSpPr>
        <p:spPr>
          <a:xfrm>
            <a:off x="548640" y="1450460"/>
            <a:ext cx="110642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646"/>
              <a:buFont typeface="Calibri"/>
              <a:buNone/>
            </a:pPr>
            <a:r>
              <a:rPr lang="rw-RW" sz="1600" dirty="0">
                <a:solidFill>
                  <a:srgbClr val="16334F"/>
                </a:solidFill>
                <a:latin typeface="Calibri"/>
                <a:ea typeface="Calibri"/>
                <a:cs typeface="Calibri"/>
                <a:sym typeface="Calibri"/>
              </a:rPr>
              <a:t>Niba ubonye kimwe muri ibi bimenyetso, fasha uwo muntu kwivuza uwo munsi. Ntugategereze ngo urebe niba ari bworoherwe.</a:t>
            </a:r>
            <a:endParaRPr sz="1600" dirty="0">
              <a:solidFill>
                <a:schemeClr val="dk1"/>
              </a:solidFill>
              <a:latin typeface="Calibri"/>
              <a:ea typeface="Calibri"/>
              <a:cs typeface="Calibri"/>
              <a:sym typeface="Calibri"/>
            </a:endParaRPr>
          </a:p>
        </p:txBody>
      </p:sp>
      <p:sp>
        <p:nvSpPr>
          <p:cNvPr id="698" name="Google Shape;698;p34"/>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699" name="Google Shape;699;p34"/>
          <p:cNvSpPr/>
          <p:nvPr/>
        </p:nvSpPr>
        <p:spPr>
          <a:xfrm>
            <a:off x="548640" y="5659206"/>
            <a:ext cx="11091672" cy="658368"/>
          </a:xfrm>
          <a:prstGeom prst="roundRect">
            <a:avLst>
              <a:gd name="adj" fmla="val 13889"/>
            </a:avLst>
          </a:prstGeom>
          <a:solidFill>
            <a:srgbClr val="FCECEC"/>
          </a:solidFill>
          <a:ln w="12700" cap="flat" cmpd="sng">
            <a:solidFill>
              <a:srgbClr val="F0C4C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0" name="Google Shape;700;p34"/>
          <p:cNvSpPr/>
          <p:nvPr/>
        </p:nvSpPr>
        <p:spPr>
          <a:xfrm>
            <a:off x="777240" y="5732358"/>
            <a:ext cx="10634472" cy="512064"/>
          </a:xfrm>
          <a:prstGeom prst="rect">
            <a:avLst/>
          </a:prstGeom>
          <a:noFill/>
          <a:ln>
            <a:noFill/>
          </a:ln>
        </p:spPr>
        <p:txBody>
          <a:bodyPr spcFirstLastPara="1" wrap="square" lIns="0" tIns="0" rIns="0" bIns="0" anchor="ctr" anchorCtr="0">
            <a:normAutofit lnSpcReduction="10000"/>
          </a:bodyPr>
          <a:lstStyle/>
          <a:p>
            <a:pPr marL="0" marR="0" lvl="0" indent="0" algn="l" rtl="0">
              <a:spcBef>
                <a:spcPts val="0"/>
              </a:spcBef>
              <a:spcAft>
                <a:spcPts val="0"/>
              </a:spcAft>
              <a:buClr>
                <a:srgbClr val="B3261E"/>
              </a:buClr>
              <a:buSzPts val="1598"/>
              <a:buFont typeface="Calibri"/>
              <a:buNone/>
            </a:pPr>
            <a:r>
              <a:rPr lang="rw-RW" sz="1700" b="1">
                <a:solidFill>
                  <a:srgbClr val="B3261E"/>
                </a:solidFill>
                <a:latin typeface="Calibri"/>
                <a:ea typeface="Calibri"/>
                <a:cs typeface="Calibri"/>
                <a:sym typeface="Calibri"/>
              </a:rPr>
              <a:t>Icyo gukora: Herekeza uwo muntu cyangwa umufashe kugera ku kigo nderabuzima uwo munsi. Bwira umuganga ibyo wabonye.</a:t>
            </a:r>
            <a:endParaRPr sz="1598">
              <a:solidFill>
                <a:schemeClr val="dk1"/>
              </a:solidFill>
              <a:latin typeface="Calibri"/>
              <a:ea typeface="Calibri"/>
              <a:cs typeface="Calibri"/>
              <a:sym typeface="Calibri"/>
            </a:endParaRPr>
          </a:p>
        </p:txBody>
      </p:sp>
      <p:pic>
        <p:nvPicPr>
          <p:cNvPr id="701" name="Google Shape;701;p34" descr="the first picture, instead of Kuvoma, it is Kuruka amaraso.&#10;On the second picture it is Kuruka kenshi no kuba umubiri utabasha kuzigama amazi. &#10;On the third picture, it is &quot;Kumira bigoranye&quot;&#10;&#10;On the forth picture, it is: &quot;Kwituma umusarani wirabura nka kaburimbo&quot;&#10;&#10;On the fifth image, it is &quot;Gucika intege cyane hafi no kwikubita hasi&quot;&#10;&#10;On the sixth image, it is &quot;Gutakaza ibiro byinshi, utagerageje.&quot;"/>
          <p:cNvPicPr preferRelativeResize="0"/>
          <p:nvPr/>
        </p:nvPicPr>
        <p:blipFill>
          <a:blip r:embed="rId3">
            <a:alphaModFix/>
          </a:blip>
          <a:stretch>
            <a:fillRect/>
          </a:stretch>
        </p:blipFill>
        <p:spPr>
          <a:xfrm>
            <a:off x="427612" y="1905904"/>
            <a:ext cx="11212700" cy="36801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06"/>
        <p:cNvGrpSpPr/>
        <p:nvPr/>
      </p:nvGrpSpPr>
      <p:grpSpPr>
        <a:xfrm>
          <a:off x="0" y="0"/>
          <a:ext cx="0" cy="0"/>
          <a:chOff x="0" y="0"/>
          <a:chExt cx="0" cy="0"/>
        </a:xfrm>
      </p:grpSpPr>
      <p:sp>
        <p:nvSpPr>
          <p:cNvPr id="707" name="Google Shape;707;p35"/>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2</a:t>
            </a:r>
            <a:endParaRPr sz="1100">
              <a:solidFill>
                <a:schemeClr val="dk1"/>
              </a:solidFill>
              <a:latin typeface="Calibri"/>
              <a:ea typeface="Calibri"/>
              <a:cs typeface="Calibri"/>
              <a:sym typeface="Calibri"/>
            </a:endParaRPr>
          </a:p>
        </p:txBody>
      </p:sp>
      <p:sp>
        <p:nvSpPr>
          <p:cNvPr id="708" name="Google Shape;708;p35"/>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Ni nde udashobora gutegereza?</a:t>
            </a:r>
            <a:endParaRPr sz="3400">
              <a:solidFill>
                <a:schemeClr val="dk1"/>
              </a:solidFill>
              <a:latin typeface="Calibri"/>
              <a:ea typeface="Calibri"/>
              <a:cs typeface="Calibri"/>
              <a:sym typeface="Calibri"/>
            </a:endParaRPr>
          </a:p>
        </p:txBody>
      </p:sp>
      <p:sp>
        <p:nvSpPr>
          <p:cNvPr id="709" name="Google Shape;709;p35"/>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710" name="Google Shape;710;p35"/>
          <p:cNvSpPr/>
          <p:nvPr/>
        </p:nvSpPr>
        <p:spPr>
          <a:xfrm>
            <a:off x="548640" y="1600200"/>
            <a:ext cx="6400800" cy="1417320"/>
          </a:xfrm>
          <a:prstGeom prst="roundRect">
            <a:avLst>
              <a:gd name="adj" fmla="val 6452"/>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1" name="Google Shape;711;p35"/>
          <p:cNvSpPr/>
          <p:nvPr/>
        </p:nvSpPr>
        <p:spPr>
          <a:xfrm>
            <a:off x="685800" y="1691650"/>
            <a:ext cx="6035100" cy="11874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272B8"/>
              </a:buClr>
              <a:buSzPts val="1700"/>
              <a:buFont typeface="Calibri"/>
              <a:buNone/>
            </a:pPr>
            <a:r>
              <a:rPr lang="rw-RW" sz="1700" b="1">
                <a:solidFill>
                  <a:srgbClr val="2272B8"/>
                </a:solidFill>
                <a:latin typeface="Calibri"/>
                <a:ea typeface="Calibri"/>
                <a:cs typeface="Calibri"/>
                <a:sym typeface="Calibri"/>
              </a:rPr>
              <a:t>Ikibazo </a:t>
            </a:r>
            <a:r>
              <a:rPr lang="rw-RW" sz="1700">
                <a:solidFill>
                  <a:srgbClr val="16334F"/>
                </a:solidFill>
                <a:latin typeface="Calibri"/>
                <a:ea typeface="Calibri"/>
                <a:cs typeface="Calibri"/>
                <a:sym typeface="Calibri"/>
              </a:rPr>
              <a:t>Wasuye imiryango ibiri mu gitondo kimwe. Nyirahabimana Alphonsine amaze iminsi itatu afite ikibazo cyo gutura imibi no gusura. Bizimana Damien yitumye umusarani wirabura nka kaburimbo inshuro ebyiri ejo hashize, kandi yacitse intege cyane. </a:t>
            </a:r>
            <a:endParaRPr sz="1700">
              <a:solidFill>
                <a:schemeClr val="dk1"/>
              </a:solidFill>
              <a:latin typeface="Calibri"/>
              <a:ea typeface="Calibri"/>
              <a:cs typeface="Calibri"/>
              <a:sym typeface="Calibri"/>
            </a:endParaRPr>
          </a:p>
        </p:txBody>
      </p:sp>
      <p:sp>
        <p:nvSpPr>
          <p:cNvPr id="712" name="Google Shape;712;p35"/>
          <p:cNvSpPr/>
          <p:nvPr/>
        </p:nvSpPr>
        <p:spPr>
          <a:xfrm>
            <a:off x="548640" y="3182112"/>
            <a:ext cx="64008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Ni iki wagombye gukora?</a:t>
            </a:r>
            <a:endParaRPr sz="2100">
              <a:solidFill>
                <a:schemeClr val="dk1"/>
              </a:solidFill>
              <a:latin typeface="Calibri"/>
              <a:ea typeface="Calibri"/>
              <a:cs typeface="Calibri"/>
              <a:sym typeface="Calibri"/>
            </a:endParaRPr>
          </a:p>
        </p:txBody>
      </p:sp>
      <p:sp>
        <p:nvSpPr>
          <p:cNvPr id="713" name="Google Shape;713;p35"/>
          <p:cNvSpPr/>
          <p:nvPr/>
        </p:nvSpPr>
        <p:spPr>
          <a:xfrm>
            <a:off x="548640" y="3675888"/>
            <a:ext cx="6400800" cy="566928"/>
          </a:xfrm>
          <a:prstGeom prst="roundRect">
            <a:avLst>
              <a:gd name="adj" fmla="val 12903"/>
            </a:avLst>
          </a:prstGeom>
          <a:solidFill>
            <a:srgbClr val="FFFFFF"/>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4" name="Google Shape;714;p35"/>
          <p:cNvSpPr/>
          <p:nvPr/>
        </p:nvSpPr>
        <p:spPr>
          <a:xfrm>
            <a:off x="685800" y="3794760"/>
            <a:ext cx="329184" cy="329184"/>
          </a:xfrm>
          <a:prstGeom prst="ellipse">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5" name="Google Shape;715;p35"/>
          <p:cNvSpPr/>
          <p:nvPr/>
        </p:nvSpPr>
        <p:spPr>
          <a:xfrm>
            <a:off x="685800" y="3794760"/>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rw-RW" sz="1300" b="1">
                <a:solidFill>
                  <a:srgbClr val="FFFFFF"/>
                </a:solidFill>
                <a:latin typeface="Calibri"/>
                <a:ea typeface="Calibri"/>
                <a:cs typeface="Calibri"/>
                <a:sym typeface="Calibri"/>
              </a:rPr>
              <a:t>A</a:t>
            </a:r>
            <a:endParaRPr sz="1300">
              <a:solidFill>
                <a:schemeClr val="dk1"/>
              </a:solidFill>
              <a:latin typeface="Calibri"/>
              <a:ea typeface="Calibri"/>
              <a:cs typeface="Calibri"/>
              <a:sym typeface="Calibri"/>
            </a:endParaRPr>
          </a:p>
        </p:txBody>
      </p:sp>
      <p:sp>
        <p:nvSpPr>
          <p:cNvPr id="716" name="Google Shape;716;p35"/>
          <p:cNvSpPr/>
          <p:nvPr/>
        </p:nvSpPr>
        <p:spPr>
          <a:xfrm>
            <a:off x="1133856" y="3712464"/>
            <a:ext cx="5669280" cy="4937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00"/>
              <a:buFont typeface="Calibri"/>
              <a:buNone/>
            </a:pPr>
            <a:r>
              <a:rPr lang="rw-RW" sz="1700">
                <a:solidFill>
                  <a:srgbClr val="16334F"/>
                </a:solidFill>
                <a:latin typeface="Calibri"/>
                <a:ea typeface="Calibri"/>
                <a:cs typeface="Calibri"/>
                <a:sym typeface="Calibri"/>
              </a:rPr>
              <a:t>Bagire inama bombi yo gutegereza ukwezi kumwe</a:t>
            </a:r>
            <a:endParaRPr sz="1700">
              <a:solidFill>
                <a:schemeClr val="dk1"/>
              </a:solidFill>
              <a:latin typeface="Calibri"/>
              <a:ea typeface="Calibri"/>
              <a:cs typeface="Calibri"/>
              <a:sym typeface="Calibri"/>
            </a:endParaRPr>
          </a:p>
        </p:txBody>
      </p:sp>
      <p:sp>
        <p:nvSpPr>
          <p:cNvPr id="717" name="Google Shape;717;p35"/>
          <p:cNvSpPr/>
          <p:nvPr/>
        </p:nvSpPr>
        <p:spPr>
          <a:xfrm>
            <a:off x="548640" y="4334256"/>
            <a:ext cx="6400800" cy="566928"/>
          </a:xfrm>
          <a:prstGeom prst="roundRect">
            <a:avLst>
              <a:gd name="adj" fmla="val 12903"/>
            </a:avLst>
          </a:prstGeom>
          <a:solidFill>
            <a:srgbClr val="E9F5EE"/>
          </a:solidFill>
          <a:ln w="19050" cap="flat" cmpd="sng">
            <a:solidFill>
              <a:srgbClr val="1B7A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8" name="Google Shape;718;p35"/>
          <p:cNvSpPr/>
          <p:nvPr/>
        </p:nvSpPr>
        <p:spPr>
          <a:xfrm>
            <a:off x="685800" y="4453128"/>
            <a:ext cx="329184" cy="329184"/>
          </a:xfrm>
          <a:prstGeom prst="ellipse">
            <a:avLst/>
          </a:prstGeom>
          <a:solidFill>
            <a:srgbClr val="1B7A4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9" name="Google Shape;719;p35"/>
          <p:cNvSpPr/>
          <p:nvPr/>
        </p:nvSpPr>
        <p:spPr>
          <a:xfrm>
            <a:off x="685800" y="4453128"/>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rw-RW" sz="1300" b="1">
                <a:solidFill>
                  <a:srgbClr val="FFFFFF"/>
                </a:solidFill>
                <a:latin typeface="Calibri"/>
                <a:ea typeface="Calibri"/>
                <a:cs typeface="Calibri"/>
                <a:sym typeface="Calibri"/>
              </a:rPr>
              <a:t>B</a:t>
            </a:r>
            <a:endParaRPr sz="1300">
              <a:solidFill>
                <a:schemeClr val="dk1"/>
              </a:solidFill>
              <a:latin typeface="Calibri"/>
              <a:ea typeface="Calibri"/>
              <a:cs typeface="Calibri"/>
              <a:sym typeface="Calibri"/>
            </a:endParaRPr>
          </a:p>
        </p:txBody>
      </p:sp>
      <p:sp>
        <p:nvSpPr>
          <p:cNvPr id="720" name="Google Shape;720;p35"/>
          <p:cNvSpPr/>
          <p:nvPr/>
        </p:nvSpPr>
        <p:spPr>
          <a:xfrm>
            <a:off x="1133856" y="4370832"/>
            <a:ext cx="5669280" cy="493776"/>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1B7A46"/>
              </a:buClr>
              <a:buSzPts val="1657"/>
              <a:buFont typeface="Calibri"/>
              <a:buNone/>
            </a:pPr>
            <a:r>
              <a:rPr lang="rw-RW" sz="1700" b="1">
                <a:solidFill>
                  <a:srgbClr val="1B7A46"/>
                </a:solidFill>
                <a:latin typeface="Calibri"/>
                <a:ea typeface="Calibri"/>
                <a:cs typeface="Calibri"/>
                <a:sym typeface="Calibri"/>
              </a:rPr>
              <a:t>Shaka uburyo Damien yakwivuza uyu munsi, kandi ugire inama Alphonsine ko bikomeje uko yagaruka kwisuzumisha</a:t>
            </a:r>
            <a:endParaRPr sz="1658">
              <a:solidFill>
                <a:schemeClr val="dk1"/>
              </a:solidFill>
              <a:latin typeface="Calibri"/>
              <a:ea typeface="Calibri"/>
              <a:cs typeface="Calibri"/>
              <a:sym typeface="Calibri"/>
            </a:endParaRPr>
          </a:p>
        </p:txBody>
      </p:sp>
      <p:sp>
        <p:nvSpPr>
          <p:cNvPr id="721" name="Google Shape;721;p35"/>
          <p:cNvSpPr/>
          <p:nvPr/>
        </p:nvSpPr>
        <p:spPr>
          <a:xfrm>
            <a:off x="548640" y="4992624"/>
            <a:ext cx="6400800" cy="566928"/>
          </a:xfrm>
          <a:prstGeom prst="roundRect">
            <a:avLst>
              <a:gd name="adj" fmla="val 12903"/>
            </a:avLst>
          </a:prstGeom>
          <a:solidFill>
            <a:srgbClr val="FFFFFF"/>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2" name="Google Shape;722;p35"/>
          <p:cNvSpPr/>
          <p:nvPr/>
        </p:nvSpPr>
        <p:spPr>
          <a:xfrm>
            <a:off x="685800" y="5111496"/>
            <a:ext cx="329184" cy="329184"/>
          </a:xfrm>
          <a:prstGeom prst="ellipse">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3" name="Google Shape;723;p35"/>
          <p:cNvSpPr/>
          <p:nvPr/>
        </p:nvSpPr>
        <p:spPr>
          <a:xfrm>
            <a:off x="685800" y="5111496"/>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rw-RW" sz="1300" b="1">
                <a:solidFill>
                  <a:srgbClr val="FFFFFF"/>
                </a:solidFill>
                <a:latin typeface="Calibri"/>
                <a:ea typeface="Calibri"/>
                <a:cs typeface="Calibri"/>
                <a:sym typeface="Calibri"/>
              </a:rPr>
              <a:t>C</a:t>
            </a:r>
            <a:endParaRPr sz="1300">
              <a:solidFill>
                <a:schemeClr val="dk1"/>
              </a:solidFill>
              <a:latin typeface="Calibri"/>
              <a:ea typeface="Calibri"/>
              <a:cs typeface="Calibri"/>
              <a:sym typeface="Calibri"/>
            </a:endParaRPr>
          </a:p>
        </p:txBody>
      </p:sp>
      <p:sp>
        <p:nvSpPr>
          <p:cNvPr id="724" name="Google Shape;724;p35"/>
          <p:cNvSpPr/>
          <p:nvPr/>
        </p:nvSpPr>
        <p:spPr>
          <a:xfrm>
            <a:off x="1133856" y="5029200"/>
            <a:ext cx="5669280" cy="4937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00"/>
              <a:buFont typeface="Calibri"/>
              <a:buNone/>
            </a:pPr>
            <a:r>
              <a:rPr lang="rw-RW" sz="1700">
                <a:solidFill>
                  <a:srgbClr val="16334F"/>
                </a:solidFill>
                <a:latin typeface="Calibri"/>
                <a:ea typeface="Calibri"/>
                <a:cs typeface="Calibri"/>
                <a:sym typeface="Calibri"/>
              </a:rPr>
              <a:t>Ohereza Alphonsine gusa kwivuza</a:t>
            </a:r>
            <a:endParaRPr sz="1700">
              <a:solidFill>
                <a:schemeClr val="dk1"/>
              </a:solidFill>
              <a:latin typeface="Calibri"/>
              <a:ea typeface="Calibri"/>
              <a:cs typeface="Calibri"/>
              <a:sym typeface="Calibri"/>
            </a:endParaRPr>
          </a:p>
        </p:txBody>
      </p:sp>
      <p:sp>
        <p:nvSpPr>
          <p:cNvPr id="725" name="Google Shape;725;p35"/>
          <p:cNvSpPr/>
          <p:nvPr/>
        </p:nvSpPr>
        <p:spPr>
          <a:xfrm>
            <a:off x="548640" y="5650992"/>
            <a:ext cx="6400800" cy="566928"/>
          </a:xfrm>
          <a:prstGeom prst="roundRect">
            <a:avLst>
              <a:gd name="adj" fmla="val 12903"/>
            </a:avLst>
          </a:prstGeom>
          <a:solidFill>
            <a:srgbClr val="FFFFFF"/>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6" name="Google Shape;726;p35"/>
          <p:cNvSpPr/>
          <p:nvPr/>
        </p:nvSpPr>
        <p:spPr>
          <a:xfrm>
            <a:off x="685800" y="5769864"/>
            <a:ext cx="329184" cy="329184"/>
          </a:xfrm>
          <a:prstGeom prst="ellipse">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7" name="Google Shape;727;p35"/>
          <p:cNvSpPr/>
          <p:nvPr/>
        </p:nvSpPr>
        <p:spPr>
          <a:xfrm>
            <a:off x="685800" y="5769864"/>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rw-RW" sz="1300" b="1">
                <a:solidFill>
                  <a:srgbClr val="FFFFFF"/>
                </a:solidFill>
                <a:latin typeface="Calibri"/>
                <a:ea typeface="Calibri"/>
                <a:cs typeface="Calibri"/>
                <a:sym typeface="Calibri"/>
              </a:rPr>
              <a:t>D</a:t>
            </a:r>
            <a:endParaRPr sz="1300">
              <a:solidFill>
                <a:schemeClr val="dk1"/>
              </a:solidFill>
              <a:latin typeface="Calibri"/>
              <a:ea typeface="Calibri"/>
              <a:cs typeface="Calibri"/>
              <a:sym typeface="Calibri"/>
            </a:endParaRPr>
          </a:p>
        </p:txBody>
      </p:sp>
      <p:sp>
        <p:nvSpPr>
          <p:cNvPr id="728" name="Google Shape;728;p35"/>
          <p:cNvSpPr/>
          <p:nvPr/>
        </p:nvSpPr>
        <p:spPr>
          <a:xfrm>
            <a:off x="1133856" y="5687568"/>
            <a:ext cx="5669280" cy="4937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700"/>
              <a:buFont typeface="Calibri"/>
              <a:buNone/>
            </a:pPr>
            <a:r>
              <a:rPr lang="rw-RW" sz="1700">
                <a:solidFill>
                  <a:srgbClr val="16334F"/>
                </a:solidFill>
                <a:latin typeface="Calibri"/>
                <a:ea typeface="Calibri"/>
                <a:cs typeface="Calibri"/>
                <a:sym typeface="Calibri"/>
              </a:rPr>
              <a:t>Babwire bombi ko barwaye kanseri</a:t>
            </a:r>
            <a:endParaRPr sz="1700">
              <a:solidFill>
                <a:schemeClr val="dk1"/>
              </a:solidFill>
              <a:latin typeface="Calibri"/>
              <a:ea typeface="Calibri"/>
              <a:cs typeface="Calibri"/>
              <a:sym typeface="Calibri"/>
            </a:endParaRPr>
          </a:p>
        </p:txBody>
      </p:sp>
      <p:sp>
        <p:nvSpPr>
          <p:cNvPr id="729" name="Google Shape;729;p35"/>
          <p:cNvSpPr/>
          <p:nvPr/>
        </p:nvSpPr>
        <p:spPr>
          <a:xfrm>
            <a:off x="7269480" y="1600200"/>
            <a:ext cx="4370832" cy="3566160"/>
          </a:xfrm>
          <a:prstGeom prst="roundRect">
            <a:avLst>
              <a:gd name="adj" fmla="val 2564"/>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0" name="Google Shape;730;p35"/>
          <p:cNvSpPr/>
          <p:nvPr/>
        </p:nvSpPr>
        <p:spPr>
          <a:xfrm>
            <a:off x="7516368" y="1755648"/>
            <a:ext cx="3877056"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A46"/>
              </a:buClr>
              <a:buSzPts val="2000"/>
              <a:buFont typeface="Cambria"/>
              <a:buNone/>
            </a:pPr>
            <a:r>
              <a:rPr lang="rw-RW" sz="2000" b="1">
                <a:solidFill>
                  <a:srgbClr val="1B7A46"/>
                </a:solidFill>
                <a:latin typeface="Cambria"/>
                <a:ea typeface="Cambria"/>
                <a:cs typeface="Cambria"/>
                <a:sym typeface="Cambria"/>
              </a:rPr>
              <a:t>Igisubizo cyiza: B</a:t>
            </a:r>
            <a:endParaRPr sz="2000">
              <a:solidFill>
                <a:schemeClr val="dk1"/>
              </a:solidFill>
              <a:latin typeface="Calibri"/>
              <a:ea typeface="Calibri"/>
              <a:cs typeface="Calibri"/>
              <a:sym typeface="Calibri"/>
            </a:endParaRPr>
          </a:p>
        </p:txBody>
      </p:sp>
      <p:sp>
        <p:nvSpPr>
          <p:cNvPr id="731" name="Google Shape;731;p35"/>
          <p:cNvSpPr/>
          <p:nvPr/>
        </p:nvSpPr>
        <p:spPr>
          <a:xfrm>
            <a:off x="7516368" y="2212848"/>
            <a:ext cx="3877056" cy="27889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F3D63"/>
              </a:buClr>
              <a:buSzPts val="1600"/>
              <a:buFont typeface="Calibri"/>
              <a:buNone/>
            </a:pPr>
            <a:r>
              <a:rPr lang="rw-RW" sz="1600" b="1">
                <a:solidFill>
                  <a:srgbClr val="0F3D63"/>
                </a:solidFill>
                <a:latin typeface="Calibri"/>
                <a:ea typeface="Calibri"/>
                <a:cs typeface="Calibri"/>
                <a:sym typeface="Calibri"/>
              </a:rPr>
              <a:t>Igisubizo: Umusarane wirabura umeze nka kaburimbo hamwe n'intege nke bishobora kugaragaza kuvira imbere kandi ntibishobora gutegereza. Damien akeneye kuvuzwa uwo munsi. Imibi n’imisuzi bya Alphonsine bimara igihe gito kandi ntikeneye ubuvuzi bwihutirwa, ariko igomba gusuzumwa niba imara igihe kirekire cyangwa irushaho gukomera</a:t>
            </a:r>
            <a:endParaRPr sz="1600">
              <a:solidFill>
                <a:schemeClr val="dk1"/>
              </a:solidFill>
              <a:latin typeface="Calibri"/>
              <a:ea typeface="Calibri"/>
              <a:cs typeface="Calibri"/>
              <a:sym typeface="Calibri"/>
            </a:endParaRPr>
          </a:p>
        </p:txBody>
      </p:sp>
      <p:sp>
        <p:nvSpPr>
          <p:cNvPr id="732" name="Google Shape;732;p35"/>
          <p:cNvSpPr/>
          <p:nvPr/>
        </p:nvSpPr>
        <p:spPr>
          <a:xfrm>
            <a:off x="7516368" y="5312664"/>
            <a:ext cx="3877056" cy="91440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B3261E"/>
              </a:buClr>
              <a:buSzPts val="1358"/>
              <a:buFont typeface="Calibri"/>
              <a:buNone/>
            </a:pPr>
            <a:r>
              <a:rPr lang="rw-RW" sz="1400" b="1">
                <a:solidFill>
                  <a:srgbClr val="B3261E"/>
                </a:solidFill>
                <a:latin typeface="Calibri"/>
                <a:ea typeface="Calibri"/>
                <a:cs typeface="Calibri"/>
                <a:sym typeface="Calibri"/>
              </a:rPr>
              <a:t>Niba umunyeshuri ahisemo A: Gutegereza ukwezi kumwe afite umusarani wirabura n'intege nke ni akaga. Kuva amaraso imbere mu mubiri bishobora guhita bishyira ubuzima mu kaga.</a:t>
            </a:r>
            <a:endParaRPr sz="1358">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37"/>
        <p:cNvGrpSpPr/>
        <p:nvPr/>
      </p:nvGrpSpPr>
      <p:grpSpPr>
        <a:xfrm>
          <a:off x="0" y="0"/>
          <a:ext cx="0" cy="0"/>
          <a:chOff x="0" y="0"/>
          <a:chExt cx="0" cy="0"/>
        </a:xfrm>
      </p:grpSpPr>
      <p:sp>
        <p:nvSpPr>
          <p:cNvPr id="738" name="Google Shape;738;p36"/>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2</a:t>
            </a:r>
            <a:endParaRPr sz="1100">
              <a:solidFill>
                <a:schemeClr val="dk1"/>
              </a:solidFill>
              <a:latin typeface="Calibri"/>
              <a:ea typeface="Calibri"/>
              <a:cs typeface="Calibri"/>
              <a:sym typeface="Calibri"/>
            </a:endParaRPr>
          </a:p>
        </p:txBody>
      </p:sp>
      <p:sp>
        <p:nvSpPr>
          <p:cNvPr id="739" name="Google Shape;739;p36"/>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Icyo ugomba gukora</a:t>
            </a:r>
            <a:endParaRPr sz="3400">
              <a:solidFill>
                <a:schemeClr val="dk1"/>
              </a:solidFill>
              <a:latin typeface="Calibri"/>
              <a:ea typeface="Calibri"/>
              <a:cs typeface="Calibri"/>
              <a:sym typeface="Calibri"/>
            </a:endParaRPr>
          </a:p>
        </p:txBody>
      </p:sp>
      <p:sp>
        <p:nvSpPr>
          <p:cNvPr id="740" name="Google Shape;740;p36"/>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741" name="Google Shape;741;p36"/>
          <p:cNvSpPr/>
          <p:nvPr/>
        </p:nvSpPr>
        <p:spPr>
          <a:xfrm>
            <a:off x="548640" y="1657548"/>
            <a:ext cx="3502152" cy="3038438"/>
          </a:xfrm>
          <a:prstGeom prst="roundRect">
            <a:avLst>
              <a:gd name="adj" fmla="val 461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742" name="Google Shape;742;p36"/>
          <p:cNvSpPr/>
          <p:nvPr/>
        </p:nvSpPr>
        <p:spPr>
          <a:xfrm>
            <a:off x="804672" y="1858716"/>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292"/>
              <a:buFont typeface="Cambria"/>
              <a:buNone/>
            </a:pPr>
            <a:r>
              <a:rPr lang="rw-RW" sz="2400" b="1">
                <a:solidFill>
                  <a:srgbClr val="0F3D63"/>
                </a:solidFill>
                <a:latin typeface="Cambria"/>
                <a:ea typeface="Cambria"/>
                <a:cs typeface="Cambria"/>
                <a:sym typeface="Cambria"/>
              </a:rPr>
              <a:t>✅ Kora ibi</a:t>
            </a:r>
            <a:endParaRPr sz="2292">
              <a:solidFill>
                <a:schemeClr val="dk1"/>
              </a:solidFill>
              <a:latin typeface="Calibri"/>
              <a:ea typeface="Calibri"/>
              <a:cs typeface="Calibri"/>
              <a:sym typeface="Calibri"/>
            </a:endParaRPr>
          </a:p>
        </p:txBody>
      </p:sp>
      <p:sp>
        <p:nvSpPr>
          <p:cNvPr id="743" name="Google Shape;743;p36"/>
          <p:cNvSpPr/>
          <p:nvPr/>
        </p:nvSpPr>
        <p:spPr>
          <a:xfrm>
            <a:off x="804672" y="2498796"/>
            <a:ext cx="2990088" cy="132588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85000"/>
              </a:lnSpc>
              <a:spcBef>
                <a:spcPts val="0"/>
              </a:spcBef>
              <a:spcAft>
                <a:spcPts val="0"/>
              </a:spcAft>
              <a:buClr>
                <a:srgbClr val="16334F"/>
              </a:buClr>
              <a:buSzPts val="1560"/>
              <a:buFont typeface="Calibri"/>
              <a:buNone/>
            </a:pPr>
            <a:r>
              <a:rPr lang="rw-RW" sz="2000" dirty="0">
                <a:solidFill>
                  <a:srgbClr val="16334F"/>
                </a:solidFill>
                <a:latin typeface="Calibri"/>
                <a:ea typeface="Calibri"/>
                <a:cs typeface="Calibri"/>
                <a:sym typeface="Calibri"/>
              </a:rPr>
              <a:t>Baza igihe iki kimenyetso kimaze. Shishikariza ufite ibimenyetso kujya kwivuza. Musobanurire ko ibyinshi bibitera bivurwa. Fasha uwo muntu gutegura gahunda yo kwivuza.</a:t>
            </a:r>
            <a:endParaRPr sz="1560" dirty="0">
              <a:solidFill>
                <a:schemeClr val="dk1"/>
              </a:solidFill>
              <a:latin typeface="Calibri"/>
              <a:ea typeface="Calibri"/>
              <a:cs typeface="Calibri"/>
              <a:sym typeface="Calibri"/>
            </a:endParaRPr>
          </a:p>
        </p:txBody>
      </p:sp>
      <p:sp>
        <p:nvSpPr>
          <p:cNvPr id="744" name="Google Shape;744;p36"/>
          <p:cNvSpPr/>
          <p:nvPr/>
        </p:nvSpPr>
        <p:spPr>
          <a:xfrm>
            <a:off x="4343400" y="1657548"/>
            <a:ext cx="3502152" cy="3038438"/>
          </a:xfrm>
          <a:prstGeom prst="roundRect">
            <a:avLst>
              <a:gd name="adj" fmla="val 461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745" name="Google Shape;745;p36"/>
          <p:cNvSpPr/>
          <p:nvPr/>
        </p:nvSpPr>
        <p:spPr>
          <a:xfrm>
            <a:off x="4599432" y="1858716"/>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292"/>
              <a:buFont typeface="Cambria"/>
              <a:buNone/>
            </a:pPr>
            <a:r>
              <a:rPr lang="rw-RW" sz="2400" b="1" dirty="0">
                <a:solidFill>
                  <a:srgbClr val="0F3D63"/>
                </a:solidFill>
                <a:latin typeface="Cambria"/>
                <a:ea typeface="Cambria"/>
                <a:cs typeface="Cambria"/>
                <a:sym typeface="Cambria"/>
              </a:rPr>
              <a:t>✅ Ukore n’ibi</a:t>
            </a:r>
            <a:endParaRPr sz="2292" dirty="0">
              <a:solidFill>
                <a:schemeClr val="dk1"/>
              </a:solidFill>
              <a:latin typeface="Calibri"/>
              <a:ea typeface="Calibri"/>
              <a:cs typeface="Calibri"/>
              <a:sym typeface="Calibri"/>
            </a:endParaRPr>
          </a:p>
        </p:txBody>
      </p:sp>
      <p:sp>
        <p:nvSpPr>
          <p:cNvPr id="746" name="Google Shape;746;p36"/>
          <p:cNvSpPr/>
          <p:nvPr/>
        </p:nvSpPr>
        <p:spPr>
          <a:xfrm>
            <a:off x="4599432" y="2498796"/>
            <a:ext cx="2990088" cy="1325880"/>
          </a:xfrm>
          <a:prstGeom prst="rect">
            <a:avLst/>
          </a:prstGeom>
          <a:noFill/>
          <a:ln>
            <a:noFill/>
          </a:ln>
        </p:spPr>
        <p:txBody>
          <a:bodyPr spcFirstLastPara="1" wrap="square" lIns="0" tIns="0" rIns="0" bIns="0" anchor="t" anchorCtr="0">
            <a:normAutofit fontScale="85000" lnSpcReduction="20000"/>
          </a:bodyPr>
          <a:lstStyle/>
          <a:p>
            <a:pPr marL="0" marR="0" lvl="0" indent="0" algn="l" rtl="0">
              <a:lnSpc>
                <a:spcPct val="105000"/>
              </a:lnSpc>
              <a:spcBef>
                <a:spcPts val="0"/>
              </a:spcBef>
              <a:spcAft>
                <a:spcPts val="0"/>
              </a:spcAft>
              <a:buClr>
                <a:srgbClr val="16334F"/>
              </a:buClr>
              <a:buSzPts val="1710"/>
              <a:buFont typeface="Calibri"/>
              <a:buNone/>
            </a:pPr>
            <a:r>
              <a:rPr lang="rw-RW" sz="2000" dirty="0">
                <a:solidFill>
                  <a:srgbClr val="16334F"/>
                </a:solidFill>
                <a:latin typeface="Calibri"/>
                <a:ea typeface="Calibri"/>
                <a:cs typeface="Calibri"/>
                <a:sym typeface="Calibri"/>
              </a:rPr>
              <a:t>Menya ibimenyetso mpuruza kandi ukore ibishoboka byose ngo yivuze uwo munsi. Kurikirana nyuma urebe niba yageze kwa muganga, ndetse umenye n'ibyo yabwiwe.</a:t>
            </a:r>
            <a:endParaRPr sz="1710" dirty="0">
              <a:solidFill>
                <a:schemeClr val="dk1"/>
              </a:solidFill>
              <a:latin typeface="Calibri"/>
              <a:ea typeface="Calibri"/>
              <a:cs typeface="Calibri"/>
              <a:sym typeface="Calibri"/>
            </a:endParaRPr>
          </a:p>
        </p:txBody>
      </p:sp>
      <p:sp>
        <p:nvSpPr>
          <p:cNvPr id="747" name="Google Shape;747;p36"/>
          <p:cNvSpPr/>
          <p:nvPr/>
        </p:nvSpPr>
        <p:spPr>
          <a:xfrm>
            <a:off x="8138160" y="1657548"/>
            <a:ext cx="3502152" cy="3038438"/>
          </a:xfrm>
          <a:prstGeom prst="roundRect">
            <a:avLst>
              <a:gd name="adj" fmla="val 461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748" name="Google Shape;748;p36"/>
          <p:cNvSpPr/>
          <p:nvPr/>
        </p:nvSpPr>
        <p:spPr>
          <a:xfrm>
            <a:off x="8394192" y="1858716"/>
            <a:ext cx="2990088" cy="566928"/>
          </a:xfrm>
          <a:prstGeom prst="rect">
            <a:avLst/>
          </a:prstGeom>
          <a:noFill/>
          <a:ln>
            <a:noFill/>
          </a:ln>
        </p:spPr>
        <p:txBody>
          <a:bodyPr spcFirstLastPara="1" wrap="square" lIns="0" tIns="0" rIns="0" bIns="0" anchor="t" anchorCtr="0">
            <a:normAutofit lnSpcReduction="10000"/>
          </a:bodyPr>
          <a:lstStyle/>
          <a:p>
            <a:pPr marL="0" marR="0" lvl="0" indent="0" algn="l" rtl="0">
              <a:lnSpc>
                <a:spcPct val="80000"/>
              </a:lnSpc>
              <a:spcBef>
                <a:spcPts val="0"/>
              </a:spcBef>
              <a:spcAft>
                <a:spcPts val="0"/>
              </a:spcAft>
              <a:buClr>
                <a:srgbClr val="0F3D63"/>
              </a:buClr>
              <a:buSzPts val="2112"/>
              <a:buFont typeface="Cambria"/>
              <a:buNone/>
            </a:pPr>
            <a:r>
              <a:rPr lang="rw-RW" sz="2400" b="1" dirty="0">
                <a:solidFill>
                  <a:srgbClr val="0F3D63"/>
                </a:solidFill>
                <a:latin typeface="Cambria"/>
                <a:ea typeface="Cambria"/>
                <a:cs typeface="Cambria"/>
                <a:sym typeface="Cambria"/>
              </a:rPr>
              <a:t>❌ Ibi ntabwo ari inshingano zawe</a:t>
            </a:r>
            <a:endParaRPr sz="2112" dirty="0">
              <a:solidFill>
                <a:schemeClr val="dk1"/>
              </a:solidFill>
              <a:latin typeface="Calibri"/>
              <a:ea typeface="Calibri"/>
              <a:cs typeface="Calibri"/>
              <a:sym typeface="Calibri"/>
            </a:endParaRPr>
          </a:p>
        </p:txBody>
      </p:sp>
      <p:sp>
        <p:nvSpPr>
          <p:cNvPr id="749" name="Google Shape;749;p36"/>
          <p:cNvSpPr/>
          <p:nvPr/>
        </p:nvSpPr>
        <p:spPr>
          <a:xfrm>
            <a:off x="8394192" y="2498796"/>
            <a:ext cx="2990088" cy="132588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05000"/>
              </a:lnSpc>
              <a:spcBef>
                <a:spcPts val="0"/>
              </a:spcBef>
              <a:spcAft>
                <a:spcPts val="0"/>
              </a:spcAft>
              <a:buClr>
                <a:srgbClr val="16334F"/>
              </a:buClr>
              <a:buSzPts val="1710"/>
              <a:buFont typeface="Calibri"/>
              <a:buNone/>
            </a:pPr>
            <a:r>
              <a:rPr lang="rw-RW" sz="2000" dirty="0">
                <a:solidFill>
                  <a:srgbClr val="16334F"/>
                </a:solidFill>
                <a:latin typeface="Calibri"/>
                <a:ea typeface="Calibri"/>
                <a:cs typeface="Calibri"/>
                <a:sym typeface="Calibri"/>
              </a:rPr>
              <a:t>Irinde kuvuga izina ry'indwara, ntugatange imiti kuri ibi bimenyetso, kandi ntugire ibindi bizamini ufata ibizamini ubwawe.</a:t>
            </a:r>
            <a:endParaRPr sz="1710" dirty="0">
              <a:solidFill>
                <a:schemeClr val="dk1"/>
              </a:solidFill>
              <a:latin typeface="Calibri"/>
              <a:ea typeface="Calibri"/>
              <a:cs typeface="Calibri"/>
              <a:sym typeface="Calibri"/>
            </a:endParaRPr>
          </a:p>
        </p:txBody>
      </p:sp>
      <p:sp>
        <p:nvSpPr>
          <p:cNvPr id="752" name="Google Shape;752;p36"/>
          <p:cNvSpPr/>
          <p:nvPr/>
        </p:nvSpPr>
        <p:spPr>
          <a:xfrm>
            <a:off x="548640" y="4964886"/>
            <a:ext cx="11091672" cy="658368"/>
          </a:xfrm>
          <a:prstGeom prst="roundRect">
            <a:avLst>
              <a:gd name="adj" fmla="val 13889"/>
            </a:avLst>
          </a:prstGeom>
          <a:solidFill>
            <a:srgbClr val="FDF6E3"/>
          </a:solidFill>
          <a:ln w="12700" cap="flat" cmpd="sng">
            <a:solidFill>
              <a:srgbClr val="EFD9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753" name="Google Shape;753;p36"/>
          <p:cNvSpPr/>
          <p:nvPr/>
        </p:nvSpPr>
        <p:spPr>
          <a:xfrm>
            <a:off x="777240" y="5038038"/>
            <a:ext cx="10634472"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C6500"/>
              </a:buClr>
              <a:buSzPts val="1800"/>
              <a:buFont typeface="Calibri"/>
              <a:buNone/>
            </a:pPr>
            <a:r>
              <a:rPr lang="rw-RW" sz="1800" dirty="0">
                <a:solidFill>
                  <a:srgbClr val="9C6500"/>
                </a:solidFill>
                <a:latin typeface="Calibri"/>
                <a:ea typeface="Calibri"/>
                <a:cs typeface="Calibri"/>
                <a:sym typeface="Calibri"/>
              </a:rPr>
              <a:t>Sobanurira umuntu n’ umuryango we, kugira ngo buri wese amenye ibizakurikiraho n'igihe bizakorerwa.</a:t>
            </a:r>
            <a:endParaRPr sz="1800" dirty="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58"/>
        <p:cNvGrpSpPr/>
        <p:nvPr/>
      </p:nvGrpSpPr>
      <p:grpSpPr>
        <a:xfrm>
          <a:off x="0" y="0"/>
          <a:ext cx="0" cy="0"/>
          <a:chOff x="0" y="0"/>
          <a:chExt cx="0" cy="0"/>
        </a:xfrm>
      </p:grpSpPr>
      <p:sp>
        <p:nvSpPr>
          <p:cNvPr id="759" name="Google Shape;759;p37"/>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2</a:t>
            </a:r>
            <a:endParaRPr sz="1100">
              <a:solidFill>
                <a:schemeClr val="dk1"/>
              </a:solidFill>
              <a:latin typeface="Calibri"/>
              <a:ea typeface="Calibri"/>
              <a:cs typeface="Calibri"/>
              <a:sym typeface="Calibri"/>
            </a:endParaRPr>
          </a:p>
        </p:txBody>
      </p:sp>
      <p:sp>
        <p:nvSpPr>
          <p:cNvPr id="760" name="Google Shape;760;p37"/>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Bikoreshe kuri Emmanuel</a:t>
            </a:r>
            <a:endParaRPr sz="3400">
              <a:solidFill>
                <a:schemeClr val="dk1"/>
              </a:solidFill>
              <a:latin typeface="Calibri"/>
              <a:ea typeface="Calibri"/>
              <a:cs typeface="Calibri"/>
              <a:sym typeface="Calibri"/>
            </a:endParaRPr>
          </a:p>
        </p:txBody>
      </p:sp>
      <p:sp>
        <p:nvSpPr>
          <p:cNvPr id="761" name="Google Shape;761;p37"/>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762" name="Google Shape;762;p37"/>
          <p:cNvSpPr/>
          <p:nvPr/>
        </p:nvSpPr>
        <p:spPr>
          <a:xfrm>
            <a:off x="548640" y="1371601"/>
            <a:ext cx="6400800" cy="1234440"/>
          </a:xfrm>
          <a:prstGeom prst="roundRect">
            <a:avLst>
              <a:gd name="adj" fmla="val 7407"/>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3" name="Google Shape;763;p37"/>
          <p:cNvSpPr/>
          <p:nvPr/>
        </p:nvSpPr>
        <p:spPr>
          <a:xfrm>
            <a:off x="777240" y="1463041"/>
            <a:ext cx="5943600" cy="105156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272B8"/>
              </a:buClr>
              <a:buSzPts val="1700"/>
              <a:buFont typeface="Calibri"/>
              <a:buNone/>
            </a:pPr>
            <a:r>
              <a:rPr lang="rw-RW" sz="1700" b="1" dirty="0">
                <a:solidFill>
                  <a:srgbClr val="2272B8"/>
                </a:solidFill>
                <a:latin typeface="Calibri"/>
                <a:ea typeface="Calibri"/>
                <a:cs typeface="Calibri"/>
                <a:sym typeface="Calibri"/>
              </a:rPr>
              <a:t>Agakino: </a:t>
            </a:r>
            <a:r>
              <a:rPr lang="rw-RW" sz="1700" dirty="0">
                <a:solidFill>
                  <a:srgbClr val="16334F"/>
                </a:solidFill>
                <a:latin typeface="Calibri"/>
                <a:ea typeface="Calibri"/>
                <a:cs typeface="Calibri"/>
                <a:sym typeface="Calibri"/>
              </a:rPr>
              <a:t>Emmanuel amaze amezi ane afite ububabare bwo hejuru mu nda, arya bike cyane, kandi yatakaje ibiro atagerageje. Avuga ko ari ikibazo cy'igifu amaranye igihe gusa.</a:t>
            </a:r>
            <a:endParaRPr sz="1700" dirty="0">
              <a:solidFill>
                <a:schemeClr val="dk1"/>
              </a:solidFill>
              <a:latin typeface="Calibri"/>
              <a:ea typeface="Calibri"/>
              <a:cs typeface="Calibri"/>
              <a:sym typeface="Calibri"/>
            </a:endParaRPr>
          </a:p>
        </p:txBody>
      </p:sp>
      <p:sp>
        <p:nvSpPr>
          <p:cNvPr id="764" name="Google Shape;764;p37"/>
          <p:cNvSpPr/>
          <p:nvPr/>
        </p:nvSpPr>
        <p:spPr>
          <a:xfrm>
            <a:off x="548640" y="2730292"/>
            <a:ext cx="64008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100"/>
              <a:buFont typeface="Cambria"/>
              <a:buNone/>
            </a:pPr>
            <a:r>
              <a:rPr lang="rw-RW" sz="2100" b="1" dirty="0">
                <a:solidFill>
                  <a:srgbClr val="0F3D63"/>
                </a:solidFill>
                <a:latin typeface="Cambria"/>
                <a:ea typeface="Cambria"/>
                <a:cs typeface="Cambria"/>
                <a:sym typeface="Cambria"/>
              </a:rPr>
              <a:t>Ni iyihe ntambwe nziza ikurikira?</a:t>
            </a:r>
            <a:endParaRPr sz="2100" dirty="0">
              <a:solidFill>
                <a:schemeClr val="dk1"/>
              </a:solidFill>
              <a:latin typeface="Calibri"/>
              <a:ea typeface="Calibri"/>
              <a:cs typeface="Calibri"/>
              <a:sym typeface="Calibri"/>
            </a:endParaRPr>
          </a:p>
        </p:txBody>
      </p:sp>
      <p:sp>
        <p:nvSpPr>
          <p:cNvPr id="765" name="Google Shape;765;p37"/>
          <p:cNvSpPr/>
          <p:nvPr/>
        </p:nvSpPr>
        <p:spPr>
          <a:xfrm>
            <a:off x="548640" y="3224068"/>
            <a:ext cx="6400800" cy="566928"/>
          </a:xfrm>
          <a:prstGeom prst="roundRect">
            <a:avLst>
              <a:gd name="adj" fmla="val 12903"/>
            </a:avLst>
          </a:prstGeom>
          <a:solidFill>
            <a:srgbClr val="FFFFFF"/>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6" name="Google Shape;766;p37"/>
          <p:cNvSpPr/>
          <p:nvPr/>
        </p:nvSpPr>
        <p:spPr>
          <a:xfrm>
            <a:off x="685800" y="3342940"/>
            <a:ext cx="329184" cy="329184"/>
          </a:xfrm>
          <a:prstGeom prst="ellipse">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7" name="Google Shape;767;p37"/>
          <p:cNvSpPr/>
          <p:nvPr/>
        </p:nvSpPr>
        <p:spPr>
          <a:xfrm>
            <a:off x="685800" y="3342940"/>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rw-RW" sz="1300" b="1">
                <a:solidFill>
                  <a:srgbClr val="FFFFFF"/>
                </a:solidFill>
                <a:latin typeface="Calibri"/>
                <a:ea typeface="Calibri"/>
                <a:cs typeface="Calibri"/>
                <a:sym typeface="Calibri"/>
              </a:rPr>
              <a:t>A</a:t>
            </a:r>
            <a:endParaRPr sz="1300">
              <a:solidFill>
                <a:schemeClr val="dk1"/>
              </a:solidFill>
              <a:latin typeface="Calibri"/>
              <a:ea typeface="Calibri"/>
              <a:cs typeface="Calibri"/>
              <a:sym typeface="Calibri"/>
            </a:endParaRPr>
          </a:p>
        </p:txBody>
      </p:sp>
      <p:sp>
        <p:nvSpPr>
          <p:cNvPr id="768" name="Google Shape;768;p37"/>
          <p:cNvSpPr/>
          <p:nvPr/>
        </p:nvSpPr>
        <p:spPr>
          <a:xfrm>
            <a:off x="1133856" y="3260644"/>
            <a:ext cx="5669280" cy="493776"/>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57"/>
              <a:buFont typeface="Calibri"/>
              <a:buNone/>
            </a:pPr>
            <a:r>
              <a:rPr lang="rw-RW" sz="1700">
                <a:solidFill>
                  <a:srgbClr val="16334F"/>
                </a:solidFill>
                <a:latin typeface="Calibri"/>
                <a:ea typeface="Calibri"/>
                <a:cs typeface="Calibri"/>
                <a:sym typeface="Calibri"/>
              </a:rPr>
              <a:t>Emeranya na we ko ari ikibazo cya kera maze ubireke</a:t>
            </a:r>
            <a:endParaRPr sz="1658">
              <a:solidFill>
                <a:schemeClr val="dk1"/>
              </a:solidFill>
              <a:latin typeface="Calibri"/>
              <a:ea typeface="Calibri"/>
              <a:cs typeface="Calibri"/>
              <a:sym typeface="Calibri"/>
            </a:endParaRPr>
          </a:p>
        </p:txBody>
      </p:sp>
      <p:sp>
        <p:nvSpPr>
          <p:cNvPr id="769" name="Google Shape;769;p37"/>
          <p:cNvSpPr/>
          <p:nvPr/>
        </p:nvSpPr>
        <p:spPr>
          <a:xfrm>
            <a:off x="548640" y="3909868"/>
            <a:ext cx="6400800" cy="808436"/>
          </a:xfrm>
          <a:prstGeom prst="roundRect">
            <a:avLst>
              <a:gd name="adj" fmla="val 12903"/>
            </a:avLst>
          </a:prstGeom>
          <a:solidFill>
            <a:srgbClr val="E9F5EE"/>
          </a:solidFill>
          <a:ln w="19050" cap="flat" cmpd="sng">
            <a:solidFill>
              <a:srgbClr val="1B7A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0" name="Google Shape;770;p37"/>
          <p:cNvSpPr/>
          <p:nvPr/>
        </p:nvSpPr>
        <p:spPr>
          <a:xfrm>
            <a:off x="685800" y="4108884"/>
            <a:ext cx="329184" cy="329184"/>
          </a:xfrm>
          <a:prstGeom prst="ellipse">
            <a:avLst/>
          </a:prstGeom>
          <a:solidFill>
            <a:srgbClr val="1B7A4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1" name="Google Shape;771;p37"/>
          <p:cNvSpPr/>
          <p:nvPr/>
        </p:nvSpPr>
        <p:spPr>
          <a:xfrm>
            <a:off x="685800" y="4108884"/>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rw-RW" sz="1300" b="1">
                <a:solidFill>
                  <a:srgbClr val="FFFFFF"/>
                </a:solidFill>
                <a:latin typeface="Calibri"/>
                <a:ea typeface="Calibri"/>
                <a:cs typeface="Calibri"/>
                <a:sym typeface="Calibri"/>
              </a:rPr>
              <a:t>B</a:t>
            </a:r>
            <a:endParaRPr sz="1300">
              <a:solidFill>
                <a:schemeClr val="dk1"/>
              </a:solidFill>
              <a:latin typeface="Calibri"/>
              <a:ea typeface="Calibri"/>
              <a:cs typeface="Calibri"/>
              <a:sym typeface="Calibri"/>
            </a:endParaRPr>
          </a:p>
        </p:txBody>
      </p:sp>
      <p:sp>
        <p:nvSpPr>
          <p:cNvPr id="772" name="Google Shape;772;p37"/>
          <p:cNvSpPr/>
          <p:nvPr/>
        </p:nvSpPr>
        <p:spPr>
          <a:xfrm>
            <a:off x="1133856" y="3986247"/>
            <a:ext cx="5669280" cy="691716"/>
          </a:xfrm>
          <a:prstGeom prst="rect">
            <a:avLst/>
          </a:prstGeom>
          <a:noFill/>
          <a:ln>
            <a:noFill/>
          </a:ln>
        </p:spPr>
        <p:txBody>
          <a:bodyPr spcFirstLastPara="1" wrap="square" lIns="0" tIns="0" rIns="0" bIns="0" anchor="ctr" anchorCtr="0">
            <a:normAutofit lnSpcReduction="10000"/>
          </a:bodyPr>
          <a:lstStyle/>
          <a:p>
            <a:pPr marL="0" marR="0" lvl="0" indent="0" algn="l" rtl="0">
              <a:lnSpc>
                <a:spcPct val="90000"/>
              </a:lnSpc>
              <a:spcBef>
                <a:spcPts val="0"/>
              </a:spcBef>
              <a:spcAft>
                <a:spcPts val="0"/>
              </a:spcAft>
              <a:buClr>
                <a:srgbClr val="1B7A46"/>
              </a:buClr>
              <a:buSzPts val="1334"/>
              <a:buFont typeface="Calibri"/>
              <a:buNone/>
            </a:pPr>
            <a:r>
              <a:rPr lang="rw-RW" sz="1700" b="1" dirty="0">
                <a:solidFill>
                  <a:srgbClr val="1B7A46"/>
                </a:solidFill>
                <a:latin typeface="Calibri"/>
                <a:ea typeface="Calibri"/>
                <a:cs typeface="Calibri"/>
                <a:sym typeface="Calibri"/>
              </a:rPr>
              <a:t>Musobanurire ko ibimenyetso bimaze igihe kingana gutyo bijyana no gutakaza ibiro bigomba gusuzumwa, kandi umufashe kugera kwa muganga.</a:t>
            </a:r>
            <a:endParaRPr sz="1335" dirty="0">
              <a:solidFill>
                <a:schemeClr val="dk1"/>
              </a:solidFill>
              <a:latin typeface="Calibri"/>
              <a:ea typeface="Calibri"/>
              <a:cs typeface="Calibri"/>
              <a:sym typeface="Calibri"/>
            </a:endParaRPr>
          </a:p>
        </p:txBody>
      </p:sp>
      <p:sp>
        <p:nvSpPr>
          <p:cNvPr id="773" name="Google Shape;773;p37"/>
          <p:cNvSpPr/>
          <p:nvPr/>
        </p:nvSpPr>
        <p:spPr>
          <a:xfrm>
            <a:off x="548640" y="4809744"/>
            <a:ext cx="6400800" cy="566928"/>
          </a:xfrm>
          <a:prstGeom prst="roundRect">
            <a:avLst>
              <a:gd name="adj" fmla="val 12903"/>
            </a:avLst>
          </a:prstGeom>
          <a:solidFill>
            <a:srgbClr val="FFFFFF"/>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4" name="Google Shape;774;p37"/>
          <p:cNvSpPr/>
          <p:nvPr/>
        </p:nvSpPr>
        <p:spPr>
          <a:xfrm>
            <a:off x="685800" y="4928616"/>
            <a:ext cx="329184" cy="329184"/>
          </a:xfrm>
          <a:prstGeom prst="ellipse">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5" name="Google Shape;775;p37"/>
          <p:cNvSpPr/>
          <p:nvPr/>
        </p:nvSpPr>
        <p:spPr>
          <a:xfrm>
            <a:off x="685800" y="4928616"/>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rw-RW" sz="1300" b="1">
                <a:solidFill>
                  <a:srgbClr val="FFFFFF"/>
                </a:solidFill>
                <a:latin typeface="Calibri"/>
                <a:ea typeface="Calibri"/>
                <a:cs typeface="Calibri"/>
                <a:sym typeface="Calibri"/>
              </a:rPr>
              <a:t>C</a:t>
            </a:r>
            <a:endParaRPr sz="1300">
              <a:solidFill>
                <a:schemeClr val="dk1"/>
              </a:solidFill>
              <a:latin typeface="Calibri"/>
              <a:ea typeface="Calibri"/>
              <a:cs typeface="Calibri"/>
              <a:sym typeface="Calibri"/>
            </a:endParaRPr>
          </a:p>
        </p:txBody>
      </p:sp>
      <p:sp>
        <p:nvSpPr>
          <p:cNvPr id="776" name="Google Shape;776;p37"/>
          <p:cNvSpPr/>
          <p:nvPr/>
        </p:nvSpPr>
        <p:spPr>
          <a:xfrm>
            <a:off x="1133856" y="4846320"/>
            <a:ext cx="5669280" cy="493776"/>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57"/>
              <a:buFont typeface="Calibri"/>
              <a:buNone/>
            </a:pPr>
            <a:r>
              <a:rPr lang="rw-RW" sz="1700">
                <a:solidFill>
                  <a:srgbClr val="16334F"/>
                </a:solidFill>
                <a:latin typeface="Calibri"/>
                <a:ea typeface="Calibri"/>
                <a:cs typeface="Calibri"/>
                <a:sym typeface="Calibri"/>
              </a:rPr>
              <a:t>Mubwire ko arwaye kanseri y'igifu</a:t>
            </a:r>
            <a:endParaRPr sz="1658">
              <a:solidFill>
                <a:schemeClr val="dk1"/>
              </a:solidFill>
              <a:latin typeface="Calibri"/>
              <a:ea typeface="Calibri"/>
              <a:cs typeface="Calibri"/>
              <a:sym typeface="Calibri"/>
            </a:endParaRPr>
          </a:p>
        </p:txBody>
      </p:sp>
      <p:sp>
        <p:nvSpPr>
          <p:cNvPr id="777" name="Google Shape;777;p37"/>
          <p:cNvSpPr/>
          <p:nvPr/>
        </p:nvSpPr>
        <p:spPr>
          <a:xfrm>
            <a:off x="548640" y="5468112"/>
            <a:ext cx="6400800" cy="566928"/>
          </a:xfrm>
          <a:prstGeom prst="roundRect">
            <a:avLst>
              <a:gd name="adj" fmla="val 12903"/>
            </a:avLst>
          </a:prstGeom>
          <a:solidFill>
            <a:srgbClr val="FFFFFF"/>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8" name="Google Shape;778;p37"/>
          <p:cNvSpPr/>
          <p:nvPr/>
        </p:nvSpPr>
        <p:spPr>
          <a:xfrm>
            <a:off x="685800" y="5586984"/>
            <a:ext cx="329184" cy="329184"/>
          </a:xfrm>
          <a:prstGeom prst="ellipse">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9" name="Google Shape;779;p37"/>
          <p:cNvSpPr/>
          <p:nvPr/>
        </p:nvSpPr>
        <p:spPr>
          <a:xfrm>
            <a:off x="685800" y="5586984"/>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rw-RW" sz="1300" b="1">
                <a:solidFill>
                  <a:srgbClr val="FFFFFF"/>
                </a:solidFill>
                <a:latin typeface="Calibri"/>
                <a:ea typeface="Calibri"/>
                <a:cs typeface="Calibri"/>
                <a:sym typeface="Calibri"/>
              </a:rPr>
              <a:t>D</a:t>
            </a:r>
            <a:endParaRPr sz="1300">
              <a:solidFill>
                <a:schemeClr val="dk1"/>
              </a:solidFill>
              <a:latin typeface="Calibri"/>
              <a:ea typeface="Calibri"/>
              <a:cs typeface="Calibri"/>
              <a:sym typeface="Calibri"/>
            </a:endParaRPr>
          </a:p>
        </p:txBody>
      </p:sp>
      <p:sp>
        <p:nvSpPr>
          <p:cNvPr id="780" name="Google Shape;780;p37"/>
          <p:cNvSpPr/>
          <p:nvPr/>
        </p:nvSpPr>
        <p:spPr>
          <a:xfrm>
            <a:off x="1133856" y="5504688"/>
            <a:ext cx="5669280" cy="493776"/>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16334F"/>
              </a:buClr>
              <a:buSzPts val="1657"/>
              <a:buFont typeface="Calibri"/>
              <a:buNone/>
            </a:pPr>
            <a:r>
              <a:rPr lang="rw-RW" sz="1700" dirty="0">
                <a:solidFill>
                  <a:srgbClr val="16334F"/>
                </a:solidFill>
                <a:latin typeface="Calibri"/>
                <a:ea typeface="Calibri"/>
                <a:cs typeface="Calibri"/>
                <a:sym typeface="Calibri"/>
              </a:rPr>
              <a:t>Mugire inama yo guhindura ibyo kurya no gutegereza andi mezi atatu</a:t>
            </a:r>
            <a:endParaRPr sz="1658" dirty="0">
              <a:solidFill>
                <a:schemeClr val="dk1"/>
              </a:solidFill>
              <a:latin typeface="Calibri"/>
              <a:ea typeface="Calibri"/>
              <a:cs typeface="Calibri"/>
              <a:sym typeface="Calibri"/>
            </a:endParaRPr>
          </a:p>
        </p:txBody>
      </p:sp>
      <p:sp>
        <p:nvSpPr>
          <p:cNvPr id="781" name="Google Shape;781;p37"/>
          <p:cNvSpPr/>
          <p:nvPr/>
        </p:nvSpPr>
        <p:spPr>
          <a:xfrm>
            <a:off x="7269480" y="1600200"/>
            <a:ext cx="4370832" cy="3429000"/>
          </a:xfrm>
          <a:prstGeom prst="roundRect">
            <a:avLst>
              <a:gd name="adj" fmla="val 2667"/>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2" name="Google Shape;782;p37"/>
          <p:cNvSpPr/>
          <p:nvPr/>
        </p:nvSpPr>
        <p:spPr>
          <a:xfrm>
            <a:off x="7516368" y="1755648"/>
            <a:ext cx="3877056"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A46"/>
              </a:buClr>
              <a:buSzPts val="2000"/>
              <a:buFont typeface="Cambria"/>
              <a:buNone/>
            </a:pPr>
            <a:r>
              <a:rPr lang="rw-RW" sz="2000" b="1">
                <a:solidFill>
                  <a:srgbClr val="1B7A46"/>
                </a:solidFill>
                <a:latin typeface="Cambria"/>
                <a:ea typeface="Cambria"/>
                <a:cs typeface="Cambria"/>
                <a:sym typeface="Cambria"/>
              </a:rPr>
              <a:t>Igisubizo cyiza: B</a:t>
            </a:r>
            <a:endParaRPr sz="2000">
              <a:solidFill>
                <a:schemeClr val="dk1"/>
              </a:solidFill>
              <a:latin typeface="Calibri"/>
              <a:ea typeface="Calibri"/>
              <a:cs typeface="Calibri"/>
              <a:sym typeface="Calibri"/>
            </a:endParaRPr>
          </a:p>
        </p:txBody>
      </p:sp>
      <p:sp>
        <p:nvSpPr>
          <p:cNvPr id="783" name="Google Shape;783;p37"/>
          <p:cNvSpPr/>
          <p:nvPr/>
        </p:nvSpPr>
        <p:spPr>
          <a:xfrm>
            <a:off x="7516368" y="2212848"/>
            <a:ext cx="3877056" cy="265176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F3D63"/>
              </a:buClr>
              <a:buSzPts val="1600"/>
              <a:buFont typeface="Calibri"/>
              <a:buNone/>
            </a:pPr>
            <a:r>
              <a:rPr lang="rw-RW" sz="1600" b="1">
                <a:solidFill>
                  <a:srgbClr val="0F3D63"/>
                </a:solidFill>
                <a:latin typeface="Calibri"/>
                <a:ea typeface="Calibri"/>
                <a:cs typeface="Calibri"/>
                <a:sym typeface="Calibri"/>
              </a:rPr>
              <a:t>Igisubizo: </a:t>
            </a:r>
            <a:r>
              <a:rPr lang="rw-RW" sz="1600">
                <a:solidFill>
                  <a:srgbClr val="16334F"/>
                </a:solidFill>
                <a:latin typeface="Calibri"/>
                <a:ea typeface="Calibri"/>
                <a:cs typeface="Calibri"/>
                <a:sym typeface="Calibri"/>
              </a:rPr>
              <a:t>Ibimenyetso by'amezi ane yo gutakaza ibiro ni byo bikeneye kwisuzumisha kwa muganga. Ntuvuge izina ry'indwara. Usobanura impamvu kugenzura ari ingenzi kandi utuma uruzinduko rworoha.</a:t>
            </a:r>
            <a:endParaRPr sz="1600">
              <a:solidFill>
                <a:schemeClr val="dk1"/>
              </a:solidFill>
              <a:latin typeface="Calibri"/>
              <a:ea typeface="Calibri"/>
              <a:cs typeface="Calibri"/>
              <a:sym typeface="Calibri"/>
            </a:endParaRPr>
          </a:p>
        </p:txBody>
      </p:sp>
      <p:sp>
        <p:nvSpPr>
          <p:cNvPr id="784" name="Google Shape;784;p37"/>
          <p:cNvSpPr/>
          <p:nvPr/>
        </p:nvSpPr>
        <p:spPr>
          <a:xfrm>
            <a:off x="7516368" y="5175504"/>
            <a:ext cx="3877056" cy="91440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B3261E"/>
              </a:buClr>
              <a:buSzPts val="1358"/>
              <a:buFont typeface="Calibri"/>
              <a:buNone/>
            </a:pPr>
            <a:r>
              <a:rPr lang="rw-RW" sz="1400" b="1" dirty="0">
                <a:solidFill>
                  <a:srgbClr val="B3261E"/>
                </a:solidFill>
                <a:latin typeface="Calibri"/>
                <a:ea typeface="Calibri"/>
                <a:cs typeface="Calibri"/>
                <a:sym typeface="Calibri"/>
              </a:rPr>
              <a:t>Niba umunyeshuri ahisemo C: </a:t>
            </a:r>
            <a:r>
              <a:rPr lang="rw-RW" sz="1400" dirty="0">
                <a:solidFill>
                  <a:srgbClr val="B3261E"/>
                </a:solidFill>
                <a:latin typeface="Calibri"/>
                <a:ea typeface="Calibri"/>
                <a:cs typeface="Calibri"/>
                <a:sym typeface="Calibri"/>
              </a:rPr>
              <a:t>Kwita izina kanseri ntabwo ari inshingano ya CHW kandi bishobora gutera ubwoba umuryango bagacika intege zo kumwitaho burundu.</a:t>
            </a:r>
            <a:endParaRPr sz="1358" dirty="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89"/>
        <p:cNvGrpSpPr/>
        <p:nvPr/>
      </p:nvGrpSpPr>
      <p:grpSpPr>
        <a:xfrm>
          <a:off x="0" y="0"/>
          <a:ext cx="0" cy="0"/>
          <a:chOff x="0" y="0"/>
          <a:chExt cx="0" cy="0"/>
        </a:xfrm>
      </p:grpSpPr>
      <p:sp>
        <p:nvSpPr>
          <p:cNvPr id="790" name="Google Shape;790;p38"/>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2</a:t>
            </a:r>
            <a:endParaRPr sz="1100">
              <a:solidFill>
                <a:schemeClr val="dk1"/>
              </a:solidFill>
              <a:latin typeface="Calibri"/>
              <a:ea typeface="Calibri"/>
              <a:cs typeface="Calibri"/>
              <a:sym typeface="Calibri"/>
            </a:endParaRPr>
          </a:p>
        </p:txBody>
      </p:sp>
      <p:sp>
        <p:nvSpPr>
          <p:cNvPr id="791" name="Google Shape;791;p38"/>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dirty="0">
                <a:solidFill>
                  <a:srgbClr val="0F3D63"/>
                </a:solidFill>
                <a:latin typeface="Cambria"/>
                <a:ea typeface="Cambria"/>
                <a:cs typeface="Cambria"/>
                <a:sym typeface="Cambria"/>
              </a:rPr>
              <a:t>Isuzumabumenyi (1/2)</a:t>
            </a:r>
            <a:endParaRPr sz="3200" dirty="0">
              <a:solidFill>
                <a:schemeClr val="dk1"/>
              </a:solidFill>
              <a:latin typeface="Calibri"/>
              <a:ea typeface="Calibri"/>
              <a:cs typeface="Calibri"/>
              <a:sym typeface="Calibri"/>
            </a:endParaRPr>
          </a:p>
        </p:txBody>
      </p:sp>
      <p:sp>
        <p:nvSpPr>
          <p:cNvPr id="792" name="Google Shape;792;p38"/>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793" name="Google Shape;793;p38"/>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794" name="Google Shape;794;p38"/>
          <p:cNvSpPr/>
          <p:nvPr/>
        </p:nvSpPr>
        <p:spPr>
          <a:xfrm>
            <a:off x="804672" y="17922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400"/>
              <a:buFont typeface="Calibri"/>
              <a:buNone/>
            </a:pPr>
            <a:r>
              <a:rPr lang="rw-RW" sz="2400" b="1">
                <a:solidFill>
                  <a:srgbClr val="0F3D63"/>
                </a:solidFill>
                <a:latin typeface="Calibri"/>
                <a:ea typeface="Calibri"/>
                <a:cs typeface="Calibri"/>
                <a:sym typeface="Calibri"/>
              </a:rPr>
              <a:t>Q1. Ni ikihe kimenyetso gikeneye kwitabwaho uwo munsi?</a:t>
            </a:r>
            <a:endParaRPr sz="2400">
              <a:solidFill>
                <a:schemeClr val="dk1"/>
              </a:solidFill>
              <a:latin typeface="Calibri"/>
              <a:ea typeface="Calibri"/>
              <a:cs typeface="Calibri"/>
              <a:sym typeface="Calibri"/>
            </a:endParaRPr>
          </a:p>
        </p:txBody>
      </p:sp>
      <p:sp>
        <p:nvSpPr>
          <p:cNvPr id="795" name="Google Shape;795;p38"/>
          <p:cNvSpPr/>
          <p:nvPr/>
        </p:nvSpPr>
        <p:spPr>
          <a:xfrm>
            <a:off x="822960" y="22311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2000"/>
              <a:buFont typeface="Calibri"/>
              <a:buNone/>
            </a:pPr>
            <a:r>
              <a:rPr lang="rw-RW" sz="2000" b="1" dirty="0">
                <a:solidFill>
                  <a:srgbClr val="16334F"/>
                </a:solidFill>
                <a:latin typeface="Calibri"/>
                <a:ea typeface="Calibri"/>
                <a:cs typeface="Calibri"/>
                <a:sym typeface="Calibri"/>
              </a:rPr>
              <a:t>A. </a:t>
            </a:r>
            <a:r>
              <a:rPr lang="rw-RW" sz="2000" dirty="0">
                <a:solidFill>
                  <a:srgbClr val="16334F"/>
                </a:solidFill>
                <a:latin typeface="Calibri"/>
                <a:ea typeface="Calibri"/>
                <a:cs typeface="Calibri"/>
                <a:sym typeface="Calibri"/>
              </a:rPr>
              <a:t>Kugugara nyuma y'ifunguro rinini</a:t>
            </a:r>
            <a:endParaRPr sz="2000" dirty="0">
              <a:solidFill>
                <a:schemeClr val="dk1"/>
              </a:solidFill>
              <a:latin typeface="Calibri"/>
              <a:ea typeface="Calibri"/>
              <a:cs typeface="Calibri"/>
              <a:sym typeface="Calibri"/>
            </a:endParaRPr>
          </a:p>
        </p:txBody>
      </p:sp>
      <p:sp>
        <p:nvSpPr>
          <p:cNvPr id="796" name="Google Shape;796;p38"/>
          <p:cNvSpPr/>
          <p:nvPr/>
        </p:nvSpPr>
        <p:spPr>
          <a:xfrm>
            <a:off x="6172200" y="22311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A46"/>
              </a:buClr>
              <a:buSzPts val="2000"/>
              <a:buFont typeface="Calibri"/>
              <a:buNone/>
            </a:pPr>
            <a:r>
              <a:rPr lang="rw-RW" sz="2000" b="1">
                <a:solidFill>
                  <a:srgbClr val="1B7A46"/>
                </a:solidFill>
                <a:latin typeface="Calibri"/>
                <a:ea typeface="Calibri"/>
                <a:cs typeface="Calibri"/>
                <a:sym typeface="Calibri"/>
              </a:rPr>
              <a:t>B. Kuruka amaraso ✓</a:t>
            </a:r>
            <a:endParaRPr sz="2000">
              <a:solidFill>
                <a:schemeClr val="dk1"/>
              </a:solidFill>
              <a:latin typeface="Calibri"/>
              <a:ea typeface="Calibri"/>
              <a:cs typeface="Calibri"/>
              <a:sym typeface="Calibri"/>
            </a:endParaRPr>
          </a:p>
        </p:txBody>
      </p:sp>
      <p:sp>
        <p:nvSpPr>
          <p:cNvPr id="797" name="Google Shape;797;p38"/>
          <p:cNvSpPr/>
          <p:nvPr/>
        </p:nvSpPr>
        <p:spPr>
          <a:xfrm>
            <a:off x="822960" y="27066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2000"/>
              <a:buFont typeface="Calibri"/>
              <a:buNone/>
            </a:pPr>
            <a:r>
              <a:rPr lang="rw-RW" sz="1800" b="1" dirty="0">
                <a:solidFill>
                  <a:srgbClr val="16334F"/>
                </a:solidFill>
                <a:latin typeface="Calibri"/>
                <a:ea typeface="Calibri"/>
                <a:cs typeface="Calibri"/>
                <a:sym typeface="Calibri"/>
              </a:rPr>
              <a:t>C. </a:t>
            </a:r>
            <a:r>
              <a:rPr lang="rw-RW" sz="1800" dirty="0">
                <a:solidFill>
                  <a:srgbClr val="16334F"/>
                </a:solidFill>
                <a:latin typeface="Calibri"/>
                <a:ea typeface="Calibri"/>
                <a:cs typeface="Calibri"/>
                <a:sym typeface="Calibri"/>
              </a:rPr>
              <a:t>Kumva ushonje</a:t>
            </a:r>
            <a:endParaRPr sz="1800" dirty="0">
              <a:solidFill>
                <a:schemeClr val="dk1"/>
              </a:solidFill>
              <a:latin typeface="Calibri"/>
              <a:ea typeface="Calibri"/>
              <a:cs typeface="Calibri"/>
              <a:sym typeface="Calibri"/>
            </a:endParaRPr>
          </a:p>
        </p:txBody>
      </p:sp>
      <p:sp>
        <p:nvSpPr>
          <p:cNvPr id="798" name="Google Shape;798;p38"/>
          <p:cNvSpPr/>
          <p:nvPr/>
        </p:nvSpPr>
        <p:spPr>
          <a:xfrm>
            <a:off x="6172200" y="27066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2000"/>
              <a:buFont typeface="Calibri"/>
              <a:buNone/>
            </a:pPr>
            <a:r>
              <a:rPr lang="rw-RW" sz="1800" b="1">
                <a:solidFill>
                  <a:srgbClr val="16334F"/>
                </a:solidFill>
                <a:latin typeface="Calibri"/>
                <a:ea typeface="Calibri"/>
                <a:cs typeface="Calibri"/>
                <a:sym typeface="Calibri"/>
              </a:rPr>
              <a:t>D. </a:t>
            </a:r>
            <a:r>
              <a:rPr lang="rw-RW" sz="1800">
                <a:solidFill>
                  <a:srgbClr val="16334F"/>
                </a:solidFill>
                <a:latin typeface="Calibri"/>
                <a:ea typeface="Calibri"/>
                <a:cs typeface="Calibri"/>
                <a:sym typeface="Calibri"/>
              </a:rPr>
              <a:t>Intebe imwe idasanzwe</a:t>
            </a:r>
            <a:endParaRPr sz="1800">
              <a:solidFill>
                <a:schemeClr val="dk1"/>
              </a:solidFill>
              <a:latin typeface="Calibri"/>
              <a:ea typeface="Calibri"/>
              <a:cs typeface="Calibri"/>
              <a:sym typeface="Calibri"/>
            </a:endParaRPr>
          </a:p>
        </p:txBody>
      </p:sp>
      <p:sp>
        <p:nvSpPr>
          <p:cNvPr id="799" name="Google Shape;799;p38"/>
          <p:cNvSpPr/>
          <p:nvPr/>
        </p:nvSpPr>
        <p:spPr>
          <a:xfrm>
            <a:off x="822960" y="325526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2000"/>
              <a:buFont typeface="Calibri"/>
              <a:buNone/>
            </a:pPr>
            <a:r>
              <a:rPr lang="rw-RW" sz="1800" b="1" dirty="0">
                <a:solidFill>
                  <a:srgbClr val="1B7A46"/>
                </a:solidFill>
                <a:latin typeface="Calibri"/>
                <a:ea typeface="Calibri"/>
                <a:cs typeface="Calibri"/>
                <a:sym typeface="Calibri"/>
              </a:rPr>
              <a:t>Igisubizo nyacyo: B. </a:t>
            </a:r>
            <a:r>
              <a:rPr lang="rw-RW" sz="1800" i="1" dirty="0">
                <a:solidFill>
                  <a:srgbClr val="1B7A46"/>
                </a:solidFill>
                <a:latin typeface="Calibri"/>
                <a:ea typeface="Calibri"/>
                <a:cs typeface="Calibri"/>
                <a:sym typeface="Calibri"/>
              </a:rPr>
              <a:t>Kuruka amaraso ni ikimenyetso mpuruza kandi ntigishobora gutegereza.</a:t>
            </a:r>
            <a:endParaRPr sz="1800" dirty="0">
              <a:solidFill>
                <a:schemeClr val="dk1"/>
              </a:solidFill>
              <a:latin typeface="Calibri"/>
              <a:ea typeface="Calibri"/>
              <a:cs typeface="Calibri"/>
              <a:sym typeface="Calibri"/>
            </a:endParaRPr>
          </a:p>
        </p:txBody>
      </p:sp>
      <p:sp>
        <p:nvSpPr>
          <p:cNvPr id="800" name="Google Shape;800;p38"/>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801" name="Google Shape;801;p38"/>
          <p:cNvSpPr/>
          <p:nvPr/>
        </p:nvSpPr>
        <p:spPr>
          <a:xfrm>
            <a:off x="804672" y="42153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400"/>
              <a:buFont typeface="Calibri"/>
              <a:buNone/>
            </a:pPr>
            <a:r>
              <a:rPr lang="rw-RW" sz="2400" b="1">
                <a:solidFill>
                  <a:srgbClr val="0F3D63"/>
                </a:solidFill>
                <a:latin typeface="Calibri"/>
                <a:ea typeface="Calibri"/>
                <a:cs typeface="Calibri"/>
                <a:sym typeface="Calibri"/>
              </a:rPr>
              <a:t>Q2. Ni ikihe muri ibi byongera ibyago byo kurwara kanseri y'igifu?</a:t>
            </a:r>
            <a:endParaRPr sz="2400">
              <a:solidFill>
                <a:schemeClr val="dk1"/>
              </a:solidFill>
              <a:latin typeface="Calibri"/>
              <a:ea typeface="Calibri"/>
              <a:cs typeface="Calibri"/>
              <a:sym typeface="Calibri"/>
            </a:endParaRPr>
          </a:p>
        </p:txBody>
      </p:sp>
      <p:sp>
        <p:nvSpPr>
          <p:cNvPr id="802" name="Google Shape;802;p38"/>
          <p:cNvSpPr/>
          <p:nvPr/>
        </p:nvSpPr>
        <p:spPr>
          <a:xfrm>
            <a:off x="822960" y="46542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2000"/>
              <a:buFont typeface="Calibri"/>
              <a:buNone/>
            </a:pPr>
            <a:r>
              <a:rPr lang="rw-RW" sz="1800" b="1">
                <a:solidFill>
                  <a:srgbClr val="16334F"/>
                </a:solidFill>
                <a:latin typeface="Calibri"/>
                <a:ea typeface="Calibri"/>
                <a:cs typeface="Calibri"/>
                <a:sym typeface="Calibri"/>
              </a:rPr>
              <a:t>A. </a:t>
            </a:r>
            <a:r>
              <a:rPr lang="rw-RW" sz="1800">
                <a:solidFill>
                  <a:srgbClr val="16334F"/>
                </a:solidFill>
                <a:latin typeface="Calibri"/>
                <a:ea typeface="Calibri"/>
                <a:cs typeface="Calibri"/>
                <a:sym typeface="Calibri"/>
              </a:rPr>
              <a:t>Kugenda n'amaguru ku isoko</a:t>
            </a:r>
            <a:endParaRPr sz="1800">
              <a:solidFill>
                <a:schemeClr val="dk1"/>
              </a:solidFill>
              <a:latin typeface="Calibri"/>
              <a:ea typeface="Calibri"/>
              <a:cs typeface="Calibri"/>
              <a:sym typeface="Calibri"/>
            </a:endParaRPr>
          </a:p>
        </p:txBody>
      </p:sp>
      <p:sp>
        <p:nvSpPr>
          <p:cNvPr id="803" name="Google Shape;803;p38"/>
          <p:cNvSpPr/>
          <p:nvPr/>
        </p:nvSpPr>
        <p:spPr>
          <a:xfrm>
            <a:off x="6172200" y="46542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A46"/>
              </a:buClr>
              <a:buSzPts val="2000"/>
              <a:buFont typeface="Calibri"/>
              <a:buNone/>
            </a:pPr>
            <a:r>
              <a:rPr lang="rw-RW" sz="1800" b="1">
                <a:solidFill>
                  <a:srgbClr val="1B7A46"/>
                </a:solidFill>
                <a:latin typeface="Calibri"/>
                <a:ea typeface="Calibri"/>
                <a:cs typeface="Calibri"/>
                <a:sym typeface="Calibri"/>
              </a:rPr>
              <a:t>B. Kunywa itabi ✓</a:t>
            </a:r>
            <a:endParaRPr sz="1800">
              <a:solidFill>
                <a:schemeClr val="dk1"/>
              </a:solidFill>
              <a:latin typeface="Calibri"/>
              <a:ea typeface="Calibri"/>
              <a:cs typeface="Calibri"/>
              <a:sym typeface="Calibri"/>
            </a:endParaRPr>
          </a:p>
        </p:txBody>
      </p:sp>
      <p:sp>
        <p:nvSpPr>
          <p:cNvPr id="804" name="Google Shape;804;p38"/>
          <p:cNvSpPr/>
          <p:nvPr/>
        </p:nvSpPr>
        <p:spPr>
          <a:xfrm>
            <a:off x="822960" y="51297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2000"/>
              <a:buFont typeface="Calibri"/>
              <a:buNone/>
            </a:pPr>
            <a:r>
              <a:rPr lang="rw-RW" sz="1800" b="1">
                <a:solidFill>
                  <a:srgbClr val="16334F"/>
                </a:solidFill>
                <a:latin typeface="Calibri"/>
                <a:ea typeface="Calibri"/>
                <a:cs typeface="Calibri"/>
                <a:sym typeface="Calibri"/>
              </a:rPr>
              <a:t>C. </a:t>
            </a:r>
            <a:r>
              <a:rPr lang="rw-RW" sz="1800">
                <a:solidFill>
                  <a:srgbClr val="16334F"/>
                </a:solidFill>
                <a:latin typeface="Calibri"/>
                <a:ea typeface="Calibri"/>
                <a:cs typeface="Calibri"/>
                <a:sym typeface="Calibri"/>
              </a:rPr>
              <a:t>Kunywa amazi meza</a:t>
            </a:r>
            <a:endParaRPr sz="1800">
              <a:solidFill>
                <a:schemeClr val="dk1"/>
              </a:solidFill>
              <a:latin typeface="Calibri"/>
              <a:ea typeface="Calibri"/>
              <a:cs typeface="Calibri"/>
              <a:sym typeface="Calibri"/>
            </a:endParaRPr>
          </a:p>
        </p:txBody>
      </p:sp>
      <p:sp>
        <p:nvSpPr>
          <p:cNvPr id="805" name="Google Shape;805;p38"/>
          <p:cNvSpPr/>
          <p:nvPr/>
        </p:nvSpPr>
        <p:spPr>
          <a:xfrm>
            <a:off x="6172200" y="51297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2000"/>
              <a:buFont typeface="Calibri"/>
              <a:buNone/>
            </a:pPr>
            <a:r>
              <a:rPr lang="rw-RW" sz="1800" b="1">
                <a:solidFill>
                  <a:srgbClr val="16334F"/>
                </a:solidFill>
                <a:latin typeface="Calibri"/>
                <a:ea typeface="Calibri"/>
                <a:cs typeface="Calibri"/>
                <a:sym typeface="Calibri"/>
              </a:rPr>
              <a:t>D. </a:t>
            </a:r>
            <a:r>
              <a:rPr lang="rw-RW" sz="1800">
                <a:solidFill>
                  <a:srgbClr val="16334F"/>
                </a:solidFill>
                <a:latin typeface="Calibri"/>
                <a:ea typeface="Calibri"/>
                <a:cs typeface="Calibri"/>
                <a:sym typeface="Calibri"/>
              </a:rPr>
              <a:t>Gusinzira neza</a:t>
            </a:r>
            <a:endParaRPr sz="1800">
              <a:solidFill>
                <a:schemeClr val="dk1"/>
              </a:solidFill>
              <a:latin typeface="Calibri"/>
              <a:ea typeface="Calibri"/>
              <a:cs typeface="Calibri"/>
              <a:sym typeface="Calibri"/>
            </a:endParaRPr>
          </a:p>
        </p:txBody>
      </p:sp>
      <p:sp>
        <p:nvSpPr>
          <p:cNvPr id="806" name="Google Shape;806;p38"/>
          <p:cNvSpPr/>
          <p:nvPr/>
        </p:nvSpPr>
        <p:spPr>
          <a:xfrm>
            <a:off x="822960" y="567842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2000"/>
              <a:buFont typeface="Calibri"/>
              <a:buNone/>
            </a:pPr>
            <a:r>
              <a:rPr lang="rw-RW" sz="1800" b="1">
                <a:solidFill>
                  <a:srgbClr val="1B7A46"/>
                </a:solidFill>
                <a:latin typeface="Calibri"/>
                <a:ea typeface="Calibri"/>
                <a:cs typeface="Calibri"/>
                <a:sym typeface="Calibri"/>
              </a:rPr>
              <a:t>Ukuri: B. </a:t>
            </a:r>
            <a:r>
              <a:rPr lang="rw-RW" sz="1800" i="1">
                <a:solidFill>
                  <a:srgbClr val="1B7A46"/>
                </a:solidFill>
                <a:latin typeface="Calibri"/>
                <a:ea typeface="Calibri"/>
                <a:cs typeface="Calibri"/>
                <a:sym typeface="Calibri"/>
              </a:rPr>
              <a:t>Kunywa itabi ni kimwe mu bintu bizwi kandi bishobora guhinduka.</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11"/>
        <p:cNvGrpSpPr/>
        <p:nvPr/>
      </p:nvGrpSpPr>
      <p:grpSpPr>
        <a:xfrm>
          <a:off x="0" y="0"/>
          <a:ext cx="0" cy="0"/>
          <a:chOff x="0" y="0"/>
          <a:chExt cx="0" cy="0"/>
        </a:xfrm>
      </p:grpSpPr>
      <p:sp>
        <p:nvSpPr>
          <p:cNvPr id="812" name="Google Shape;812;p39"/>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2</a:t>
            </a:r>
            <a:endParaRPr sz="1100">
              <a:solidFill>
                <a:schemeClr val="dk1"/>
              </a:solidFill>
              <a:latin typeface="Calibri"/>
              <a:ea typeface="Calibri"/>
              <a:cs typeface="Calibri"/>
              <a:sym typeface="Calibri"/>
            </a:endParaRPr>
          </a:p>
        </p:txBody>
      </p:sp>
      <p:sp>
        <p:nvSpPr>
          <p:cNvPr id="813" name="Google Shape;813;p39"/>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dirty="0">
                <a:solidFill>
                  <a:srgbClr val="0F3D63"/>
                </a:solidFill>
                <a:latin typeface="Cambria"/>
                <a:ea typeface="Cambria"/>
                <a:cs typeface="Cambria"/>
                <a:sym typeface="Cambria"/>
              </a:rPr>
              <a:t>Isuzumabumenyi (2/2)</a:t>
            </a:r>
            <a:endParaRPr sz="3200" dirty="0">
              <a:solidFill>
                <a:schemeClr val="dk1"/>
              </a:solidFill>
              <a:latin typeface="Calibri"/>
              <a:ea typeface="Calibri"/>
              <a:cs typeface="Calibri"/>
              <a:sym typeface="Calibri"/>
            </a:endParaRPr>
          </a:p>
        </p:txBody>
      </p:sp>
      <p:sp>
        <p:nvSpPr>
          <p:cNvPr id="814" name="Google Shape;814;p39"/>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815" name="Google Shape;815;p39"/>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816" name="Google Shape;816;p39"/>
          <p:cNvSpPr/>
          <p:nvPr/>
        </p:nvSpPr>
        <p:spPr>
          <a:xfrm>
            <a:off x="804672" y="17922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Q3. Umuntu amaze amezi abiri afite ububabare bwo hejuru mu nda. Ugomba:</a:t>
            </a:r>
            <a:endParaRPr sz="2000" dirty="0">
              <a:solidFill>
                <a:schemeClr val="dk1"/>
              </a:solidFill>
              <a:latin typeface="Calibri"/>
              <a:ea typeface="Calibri"/>
              <a:cs typeface="Calibri"/>
              <a:sym typeface="Calibri"/>
            </a:endParaRPr>
          </a:p>
        </p:txBody>
      </p:sp>
      <p:sp>
        <p:nvSpPr>
          <p:cNvPr id="817" name="Google Shape;817;p39"/>
          <p:cNvSpPr/>
          <p:nvPr/>
        </p:nvSpPr>
        <p:spPr>
          <a:xfrm>
            <a:off x="822960" y="22311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19"/>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Kumubwira ko ari kanseri</a:t>
            </a:r>
            <a:endParaRPr sz="1719" dirty="0">
              <a:solidFill>
                <a:schemeClr val="dk1"/>
              </a:solidFill>
              <a:latin typeface="Calibri"/>
              <a:ea typeface="Calibri"/>
              <a:cs typeface="Calibri"/>
              <a:sym typeface="Calibri"/>
            </a:endParaRPr>
          </a:p>
        </p:txBody>
      </p:sp>
      <p:sp>
        <p:nvSpPr>
          <p:cNvPr id="818" name="Google Shape;818;p39"/>
          <p:cNvSpPr/>
          <p:nvPr/>
        </p:nvSpPr>
        <p:spPr>
          <a:xfrm>
            <a:off x="6172200" y="2231136"/>
            <a:ext cx="5166360" cy="438912"/>
          </a:xfrm>
          <a:prstGeom prst="rect">
            <a:avLst/>
          </a:prstGeom>
          <a:noFill/>
          <a:ln>
            <a:noFill/>
          </a:ln>
        </p:spPr>
        <p:txBody>
          <a:bodyPr spcFirstLastPara="1" wrap="square" lIns="0" tIns="0" rIns="0" bIns="0" anchor="ctr" anchorCtr="0">
            <a:normAutofit lnSpcReduction="10000"/>
          </a:bodyPr>
          <a:lstStyle/>
          <a:p>
            <a:pPr marL="0" marR="0" lvl="0" indent="0" algn="l" rtl="0">
              <a:lnSpc>
                <a:spcPct val="90000"/>
              </a:lnSpc>
              <a:spcBef>
                <a:spcPts val="0"/>
              </a:spcBef>
              <a:spcAft>
                <a:spcPts val="0"/>
              </a:spcAft>
              <a:buClr>
                <a:srgbClr val="1B7A46"/>
              </a:buClr>
              <a:buSzPts val="1584"/>
              <a:buFont typeface="Calibri"/>
              <a:buNone/>
            </a:pPr>
            <a:r>
              <a:rPr lang="rw-RW" sz="1800" b="1" dirty="0">
                <a:solidFill>
                  <a:srgbClr val="1B7A46"/>
                </a:solidFill>
                <a:latin typeface="Calibri"/>
                <a:ea typeface="Calibri"/>
                <a:cs typeface="Calibri"/>
                <a:sym typeface="Calibri"/>
              </a:rPr>
              <a:t>B. Kumushishikariza gusuzumwa kandi umufashe gutegura urugendo ✓</a:t>
            </a:r>
            <a:endParaRPr sz="1584" dirty="0">
              <a:solidFill>
                <a:schemeClr val="dk1"/>
              </a:solidFill>
              <a:latin typeface="Calibri"/>
              <a:ea typeface="Calibri"/>
              <a:cs typeface="Calibri"/>
              <a:sym typeface="Calibri"/>
            </a:endParaRPr>
          </a:p>
        </p:txBody>
      </p:sp>
      <p:sp>
        <p:nvSpPr>
          <p:cNvPr id="819" name="Google Shape;819;p39"/>
          <p:cNvSpPr/>
          <p:nvPr/>
        </p:nvSpPr>
        <p:spPr>
          <a:xfrm>
            <a:off x="822960" y="2706624"/>
            <a:ext cx="5166360" cy="438912"/>
          </a:xfrm>
          <a:prstGeom prst="rect">
            <a:avLst/>
          </a:prstGeom>
          <a:noFill/>
          <a:ln>
            <a:noFill/>
          </a:ln>
        </p:spPr>
        <p:txBody>
          <a:bodyPr spcFirstLastPara="1" wrap="square" lIns="0" tIns="0" rIns="0" bIns="0" anchor="ctr" anchorCtr="0">
            <a:normAutofit fontScale="92500"/>
          </a:bodyPr>
          <a:lstStyle/>
          <a:p>
            <a:pPr marL="0" marR="0" lvl="0" indent="0" algn="l" rtl="0">
              <a:spcBef>
                <a:spcPts val="0"/>
              </a:spcBef>
              <a:spcAft>
                <a:spcPts val="0"/>
              </a:spcAft>
              <a:buClr>
                <a:srgbClr val="16334F"/>
              </a:buClr>
              <a:buSzPts val="1719"/>
              <a:buFont typeface="Calibri"/>
              <a:buNone/>
            </a:pPr>
            <a:r>
              <a:rPr lang="rw-RW" sz="1800" b="1" dirty="0">
                <a:solidFill>
                  <a:srgbClr val="16334F"/>
                </a:solidFill>
                <a:latin typeface="Calibri"/>
                <a:ea typeface="Calibri"/>
                <a:cs typeface="Calibri"/>
                <a:sym typeface="Calibri"/>
              </a:rPr>
              <a:t>C. </a:t>
            </a:r>
            <a:r>
              <a:rPr lang="rw-RW" sz="1800" dirty="0">
                <a:solidFill>
                  <a:srgbClr val="16334F"/>
                </a:solidFill>
                <a:latin typeface="Calibri"/>
                <a:ea typeface="Calibri"/>
                <a:cs typeface="Calibri"/>
                <a:sym typeface="Calibri"/>
              </a:rPr>
              <a:t>Kumuha umuti ugabanya ububabare kandi ugategereza</a:t>
            </a:r>
            <a:endParaRPr sz="1719" dirty="0">
              <a:solidFill>
                <a:schemeClr val="dk1"/>
              </a:solidFill>
              <a:latin typeface="Calibri"/>
              <a:ea typeface="Calibri"/>
              <a:cs typeface="Calibri"/>
              <a:sym typeface="Calibri"/>
            </a:endParaRPr>
          </a:p>
        </p:txBody>
      </p:sp>
      <p:sp>
        <p:nvSpPr>
          <p:cNvPr id="820" name="Google Shape;820;p39"/>
          <p:cNvSpPr/>
          <p:nvPr/>
        </p:nvSpPr>
        <p:spPr>
          <a:xfrm>
            <a:off x="617220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19"/>
              <a:buFont typeface="Calibri"/>
              <a:buNone/>
            </a:pPr>
            <a:r>
              <a:rPr lang="rw-RW" sz="1800" b="1">
                <a:solidFill>
                  <a:srgbClr val="16334F"/>
                </a:solidFill>
                <a:latin typeface="Calibri"/>
                <a:ea typeface="Calibri"/>
                <a:cs typeface="Calibri"/>
                <a:sym typeface="Calibri"/>
              </a:rPr>
              <a:t>D. </a:t>
            </a:r>
            <a:r>
              <a:rPr lang="rw-RW" sz="1800">
                <a:solidFill>
                  <a:srgbClr val="16334F"/>
                </a:solidFill>
                <a:latin typeface="Calibri"/>
                <a:ea typeface="Calibri"/>
                <a:cs typeface="Calibri"/>
                <a:sym typeface="Calibri"/>
              </a:rPr>
              <a:t>Nta kintu na kimwe wakora</a:t>
            </a:r>
            <a:endParaRPr sz="1719">
              <a:solidFill>
                <a:schemeClr val="dk1"/>
              </a:solidFill>
              <a:latin typeface="Calibri"/>
              <a:ea typeface="Calibri"/>
              <a:cs typeface="Calibri"/>
              <a:sym typeface="Calibri"/>
            </a:endParaRPr>
          </a:p>
        </p:txBody>
      </p:sp>
      <p:sp>
        <p:nvSpPr>
          <p:cNvPr id="821" name="Google Shape;821;p39"/>
          <p:cNvSpPr/>
          <p:nvPr/>
        </p:nvSpPr>
        <p:spPr>
          <a:xfrm>
            <a:off x="822960" y="3255264"/>
            <a:ext cx="10515600" cy="457200"/>
          </a:xfrm>
          <a:prstGeom prst="rect">
            <a:avLst/>
          </a:prstGeom>
          <a:noFill/>
          <a:ln>
            <a:noFill/>
          </a:ln>
        </p:spPr>
        <p:txBody>
          <a:bodyPr spcFirstLastPara="1" wrap="square" lIns="0" tIns="0" rIns="0" bIns="0" anchor="t" anchorCtr="0">
            <a:normAutofit fontScale="92500"/>
          </a:bodyPr>
          <a:lstStyle/>
          <a:p>
            <a:pPr marL="0" marR="0" lvl="0" indent="0" algn="l" rtl="0">
              <a:spcBef>
                <a:spcPts val="0"/>
              </a:spcBef>
              <a:spcAft>
                <a:spcPts val="0"/>
              </a:spcAft>
              <a:buClr>
                <a:srgbClr val="1B7A46"/>
              </a:buClr>
              <a:buSzPts val="1646"/>
              <a:buFont typeface="Calibri"/>
              <a:buNone/>
            </a:pPr>
            <a:r>
              <a:rPr lang="rw-RW" sz="1800" b="1" dirty="0">
                <a:solidFill>
                  <a:srgbClr val="1B7A46"/>
                </a:solidFill>
                <a:latin typeface="Calibri"/>
                <a:ea typeface="Calibri"/>
                <a:cs typeface="Calibri"/>
                <a:sym typeface="Calibri"/>
              </a:rPr>
              <a:t>Igisubizo nyacyo: B. </a:t>
            </a:r>
            <a:r>
              <a:rPr lang="rw-RW" sz="1800" i="1" dirty="0">
                <a:solidFill>
                  <a:srgbClr val="1B7A46"/>
                </a:solidFill>
                <a:latin typeface="Calibri"/>
                <a:ea typeface="Calibri"/>
                <a:cs typeface="Calibri"/>
                <a:sym typeface="Calibri"/>
              </a:rPr>
              <a:t>Ibimenyetso birambye bigomba gusuzumwa. Kwita izina indwara ntabwo ari inshingano zawe.</a:t>
            </a:r>
            <a:endParaRPr sz="1647" dirty="0">
              <a:solidFill>
                <a:schemeClr val="dk1"/>
              </a:solidFill>
              <a:latin typeface="Calibri"/>
              <a:ea typeface="Calibri"/>
              <a:cs typeface="Calibri"/>
              <a:sym typeface="Calibri"/>
            </a:endParaRPr>
          </a:p>
        </p:txBody>
      </p:sp>
      <p:sp>
        <p:nvSpPr>
          <p:cNvPr id="822" name="Google Shape;822;p39"/>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823" name="Google Shape;823;p39"/>
          <p:cNvSpPr/>
          <p:nvPr/>
        </p:nvSpPr>
        <p:spPr>
          <a:xfrm>
            <a:off x="804672" y="42153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Q4. Kumva uhaze nyuma yo kurya ibiryo bicye, bihoraho, bisobanura ko:</a:t>
            </a:r>
            <a:endParaRPr sz="2000" dirty="0">
              <a:solidFill>
                <a:schemeClr val="dk1"/>
              </a:solidFill>
              <a:latin typeface="Calibri"/>
              <a:ea typeface="Calibri"/>
              <a:cs typeface="Calibri"/>
              <a:sym typeface="Calibri"/>
            </a:endParaRPr>
          </a:p>
        </p:txBody>
      </p:sp>
      <p:sp>
        <p:nvSpPr>
          <p:cNvPr id="824" name="Google Shape;824;p39"/>
          <p:cNvSpPr/>
          <p:nvPr/>
        </p:nvSpPr>
        <p:spPr>
          <a:xfrm>
            <a:off x="822960" y="46542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19"/>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Umuntu arya neza</a:t>
            </a:r>
            <a:endParaRPr sz="1719" dirty="0">
              <a:solidFill>
                <a:schemeClr val="dk1"/>
              </a:solidFill>
              <a:latin typeface="Calibri"/>
              <a:ea typeface="Calibri"/>
              <a:cs typeface="Calibri"/>
              <a:sym typeface="Calibri"/>
            </a:endParaRPr>
          </a:p>
        </p:txBody>
      </p:sp>
      <p:sp>
        <p:nvSpPr>
          <p:cNvPr id="825" name="Google Shape;825;p39"/>
          <p:cNvSpPr/>
          <p:nvPr/>
        </p:nvSpPr>
        <p:spPr>
          <a:xfrm>
            <a:off x="6172200" y="46542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B7A46"/>
              </a:buClr>
              <a:buSzPts val="1719"/>
              <a:buFont typeface="Calibri"/>
              <a:buNone/>
            </a:pPr>
            <a:r>
              <a:rPr lang="rw-RW" sz="1800" b="1">
                <a:solidFill>
                  <a:srgbClr val="1B7A46"/>
                </a:solidFill>
                <a:latin typeface="Calibri"/>
                <a:ea typeface="Calibri"/>
                <a:cs typeface="Calibri"/>
                <a:sym typeface="Calibri"/>
              </a:rPr>
              <a:t>B. Umuntu agomba gusuzumwa ✓</a:t>
            </a:r>
            <a:endParaRPr sz="1719">
              <a:solidFill>
                <a:schemeClr val="dk1"/>
              </a:solidFill>
              <a:latin typeface="Calibri"/>
              <a:ea typeface="Calibri"/>
              <a:cs typeface="Calibri"/>
              <a:sym typeface="Calibri"/>
            </a:endParaRPr>
          </a:p>
        </p:txBody>
      </p:sp>
      <p:sp>
        <p:nvSpPr>
          <p:cNvPr id="826" name="Google Shape;826;p39"/>
          <p:cNvSpPr/>
          <p:nvPr/>
        </p:nvSpPr>
        <p:spPr>
          <a:xfrm>
            <a:off x="82296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19"/>
              <a:buFont typeface="Calibri"/>
              <a:buNone/>
            </a:pPr>
            <a:r>
              <a:rPr lang="rw-RW" sz="1800" b="1">
                <a:solidFill>
                  <a:srgbClr val="16334F"/>
                </a:solidFill>
                <a:latin typeface="Calibri"/>
                <a:ea typeface="Calibri"/>
                <a:cs typeface="Calibri"/>
                <a:sym typeface="Calibri"/>
              </a:rPr>
              <a:t>C. </a:t>
            </a:r>
            <a:r>
              <a:rPr lang="rw-RW" sz="1800">
                <a:solidFill>
                  <a:srgbClr val="16334F"/>
                </a:solidFill>
                <a:latin typeface="Calibri"/>
                <a:ea typeface="Calibri"/>
                <a:cs typeface="Calibri"/>
                <a:sym typeface="Calibri"/>
              </a:rPr>
              <a:t> Nta na kimwe</a:t>
            </a:r>
            <a:endParaRPr sz="1719">
              <a:solidFill>
                <a:schemeClr val="dk1"/>
              </a:solidFill>
              <a:latin typeface="Calibri"/>
              <a:ea typeface="Calibri"/>
              <a:cs typeface="Calibri"/>
              <a:sym typeface="Calibri"/>
            </a:endParaRPr>
          </a:p>
        </p:txBody>
      </p:sp>
      <p:sp>
        <p:nvSpPr>
          <p:cNvPr id="827" name="Google Shape;827;p39"/>
          <p:cNvSpPr/>
          <p:nvPr/>
        </p:nvSpPr>
        <p:spPr>
          <a:xfrm>
            <a:off x="617220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19"/>
              <a:buFont typeface="Calibri"/>
              <a:buNone/>
            </a:pPr>
            <a:r>
              <a:rPr lang="rw-RW" sz="1800" b="1">
                <a:solidFill>
                  <a:srgbClr val="16334F"/>
                </a:solidFill>
                <a:latin typeface="Calibri"/>
                <a:ea typeface="Calibri"/>
                <a:cs typeface="Calibri"/>
                <a:sym typeface="Calibri"/>
              </a:rPr>
              <a:t>D. </a:t>
            </a:r>
            <a:r>
              <a:rPr lang="rw-RW" sz="1800">
                <a:solidFill>
                  <a:srgbClr val="16334F"/>
                </a:solidFill>
                <a:latin typeface="Calibri"/>
                <a:ea typeface="Calibri"/>
                <a:cs typeface="Calibri"/>
                <a:sym typeface="Calibri"/>
              </a:rPr>
              <a:t>Umuntu arwaye kanseri</a:t>
            </a:r>
            <a:endParaRPr sz="1719">
              <a:solidFill>
                <a:schemeClr val="dk1"/>
              </a:solidFill>
              <a:latin typeface="Calibri"/>
              <a:ea typeface="Calibri"/>
              <a:cs typeface="Calibri"/>
              <a:sym typeface="Calibri"/>
            </a:endParaRPr>
          </a:p>
        </p:txBody>
      </p:sp>
      <p:sp>
        <p:nvSpPr>
          <p:cNvPr id="828" name="Google Shape;828;p39"/>
          <p:cNvSpPr/>
          <p:nvPr/>
        </p:nvSpPr>
        <p:spPr>
          <a:xfrm>
            <a:off x="822960" y="5678424"/>
            <a:ext cx="10515600" cy="457200"/>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1B7A46"/>
              </a:buClr>
              <a:buSzPts val="1782"/>
              <a:buFont typeface="Calibri"/>
              <a:buNone/>
            </a:pPr>
            <a:r>
              <a:rPr lang="rw-RW" sz="1800" b="1" dirty="0">
                <a:solidFill>
                  <a:srgbClr val="1B7A46"/>
                </a:solidFill>
                <a:latin typeface="Calibri"/>
                <a:ea typeface="Calibri"/>
                <a:cs typeface="Calibri"/>
                <a:sym typeface="Calibri"/>
              </a:rPr>
              <a:t>Ni ukuri: B. </a:t>
            </a:r>
            <a:r>
              <a:rPr lang="rw-RW" sz="1800" i="1" dirty="0">
                <a:solidFill>
                  <a:srgbClr val="1B7A46"/>
                </a:solidFill>
                <a:latin typeface="Calibri"/>
                <a:ea typeface="Calibri"/>
                <a:cs typeface="Calibri"/>
                <a:sym typeface="Calibri"/>
              </a:rPr>
              <a:t>Ni ikimenyetso kigomba gusuzumwa, nubwo gishobora guterwa n’impamvu nyinshi.</a:t>
            </a:r>
            <a:endParaRPr sz="1782" dirty="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3"/>
        <p:cNvGrpSpPr/>
        <p:nvPr/>
      </p:nvGrpSpPr>
      <p:grpSpPr>
        <a:xfrm>
          <a:off x="0" y="0"/>
          <a:ext cx="0" cy="0"/>
          <a:chOff x="0" y="0"/>
          <a:chExt cx="0" cy="0"/>
        </a:xfrm>
      </p:grpSpPr>
      <p:sp>
        <p:nvSpPr>
          <p:cNvPr id="834" name="Google Shape;834;p40"/>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2</a:t>
            </a:r>
            <a:endParaRPr sz="1100">
              <a:solidFill>
                <a:schemeClr val="dk1"/>
              </a:solidFill>
              <a:latin typeface="Calibri"/>
              <a:ea typeface="Calibri"/>
              <a:cs typeface="Calibri"/>
              <a:sym typeface="Calibri"/>
            </a:endParaRPr>
          </a:p>
        </p:txBody>
      </p:sp>
      <p:sp>
        <p:nvSpPr>
          <p:cNvPr id="835" name="Google Shape;835;p40"/>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dirty="0">
                <a:solidFill>
                  <a:srgbClr val="0F3D63"/>
                </a:solidFill>
                <a:latin typeface="Cambria"/>
                <a:ea typeface="Cambria"/>
                <a:cs typeface="Cambria"/>
                <a:sym typeface="Cambria"/>
              </a:rPr>
              <a:t>Tekereza ku kazi kawe</a:t>
            </a:r>
            <a:endParaRPr sz="3400" dirty="0">
              <a:solidFill>
                <a:schemeClr val="dk1"/>
              </a:solidFill>
              <a:latin typeface="Calibri"/>
              <a:ea typeface="Calibri"/>
              <a:cs typeface="Calibri"/>
              <a:sym typeface="Calibri"/>
            </a:endParaRPr>
          </a:p>
        </p:txBody>
      </p:sp>
      <p:sp>
        <p:nvSpPr>
          <p:cNvPr id="836" name="Google Shape;836;p40"/>
          <p:cNvSpPr/>
          <p:nvPr/>
        </p:nvSpPr>
        <p:spPr>
          <a:xfrm>
            <a:off x="548640" y="1371600"/>
            <a:ext cx="110642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i="1" dirty="0">
                <a:solidFill>
                  <a:srgbClr val="16334F"/>
                </a:solidFill>
                <a:latin typeface="Calibri"/>
                <a:ea typeface="Calibri"/>
                <a:cs typeface="Calibri"/>
                <a:sym typeface="Calibri"/>
              </a:rPr>
              <a:t>Amabwiriza k’uhugurwa: Andika igisubizo cyawe mu gasanduku k'inyandiko. Ibi bisubizo ntibihabwa amanota.</a:t>
            </a:r>
            <a:endParaRPr sz="1800" dirty="0">
              <a:solidFill>
                <a:schemeClr val="dk1"/>
              </a:solidFill>
              <a:latin typeface="Calibri"/>
              <a:ea typeface="Calibri"/>
              <a:cs typeface="Calibri"/>
              <a:sym typeface="Calibri"/>
            </a:endParaRPr>
          </a:p>
        </p:txBody>
      </p:sp>
      <p:sp>
        <p:nvSpPr>
          <p:cNvPr id="837" name="Google Shape;837;p40"/>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838" name="Google Shape;838;p40"/>
          <p:cNvSpPr/>
          <p:nvPr/>
        </p:nvSpPr>
        <p:spPr>
          <a:xfrm>
            <a:off x="548640" y="2057400"/>
            <a:ext cx="11091672" cy="868680"/>
          </a:xfrm>
          <a:prstGeom prst="roundRect">
            <a:avLst>
              <a:gd name="adj" fmla="val 1052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9" name="Google Shape;839;p40"/>
          <p:cNvSpPr/>
          <p:nvPr/>
        </p:nvSpPr>
        <p:spPr>
          <a:xfrm>
            <a:off x="822960" y="2258568"/>
            <a:ext cx="475488" cy="475488"/>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0" name="Google Shape;840;p40"/>
          <p:cNvSpPr/>
          <p:nvPr/>
        </p:nvSpPr>
        <p:spPr>
          <a:xfrm>
            <a:off x="822960" y="2258568"/>
            <a:ext cx="475488"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mbria"/>
              <a:buNone/>
            </a:pPr>
            <a:r>
              <a:rPr lang="rw-RW" sz="1800" b="1">
                <a:solidFill>
                  <a:srgbClr val="FFFFFF"/>
                </a:solidFill>
                <a:latin typeface="Cambria"/>
                <a:ea typeface="Cambria"/>
                <a:cs typeface="Cambria"/>
                <a:sym typeface="Cambria"/>
              </a:rPr>
              <a:t>1</a:t>
            </a:r>
            <a:endParaRPr sz="1800">
              <a:solidFill>
                <a:schemeClr val="dk1"/>
              </a:solidFill>
              <a:latin typeface="Calibri"/>
              <a:ea typeface="Calibri"/>
              <a:cs typeface="Calibri"/>
              <a:sym typeface="Calibri"/>
            </a:endParaRPr>
          </a:p>
        </p:txBody>
      </p:sp>
      <p:sp>
        <p:nvSpPr>
          <p:cNvPr id="841" name="Google Shape;841;p40"/>
          <p:cNvSpPr/>
          <p:nvPr/>
        </p:nvSpPr>
        <p:spPr>
          <a:xfrm>
            <a:off x="1481328" y="2148840"/>
            <a:ext cx="9875520" cy="6858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6334F"/>
              </a:buClr>
              <a:buSzPts val="1900"/>
              <a:buFont typeface="Calibri"/>
              <a:buNone/>
            </a:pPr>
            <a:r>
              <a:rPr lang="rw-RW" sz="1900">
                <a:solidFill>
                  <a:srgbClr val="16334F"/>
                </a:solidFill>
                <a:latin typeface="Calibri"/>
                <a:ea typeface="Calibri"/>
                <a:cs typeface="Calibri"/>
                <a:sym typeface="Calibri"/>
              </a:rPr>
              <a:t>Ni ikihe kimenyetso cyatuma ushishikariza umuntu wo mu gace kawe gushaka ubuvuzi ako kanya?</a:t>
            </a:r>
            <a:endParaRPr sz="1900">
              <a:solidFill>
                <a:schemeClr val="dk1"/>
              </a:solidFill>
              <a:latin typeface="Calibri"/>
              <a:ea typeface="Calibri"/>
              <a:cs typeface="Calibri"/>
              <a:sym typeface="Calibri"/>
            </a:endParaRPr>
          </a:p>
        </p:txBody>
      </p:sp>
      <p:sp>
        <p:nvSpPr>
          <p:cNvPr id="842" name="Google Shape;842;p40"/>
          <p:cNvSpPr/>
          <p:nvPr/>
        </p:nvSpPr>
        <p:spPr>
          <a:xfrm>
            <a:off x="548640" y="3145536"/>
            <a:ext cx="11091672" cy="868680"/>
          </a:xfrm>
          <a:prstGeom prst="roundRect">
            <a:avLst>
              <a:gd name="adj" fmla="val 1052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3" name="Google Shape;843;p40"/>
          <p:cNvSpPr/>
          <p:nvPr/>
        </p:nvSpPr>
        <p:spPr>
          <a:xfrm>
            <a:off x="822960" y="3346704"/>
            <a:ext cx="475488" cy="475488"/>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4" name="Google Shape;844;p40"/>
          <p:cNvSpPr/>
          <p:nvPr/>
        </p:nvSpPr>
        <p:spPr>
          <a:xfrm>
            <a:off x="822960" y="3346704"/>
            <a:ext cx="475488"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mbria"/>
              <a:buNone/>
            </a:pPr>
            <a:r>
              <a:rPr lang="rw-RW" sz="1800" b="1">
                <a:solidFill>
                  <a:srgbClr val="FFFFFF"/>
                </a:solidFill>
                <a:latin typeface="Cambria"/>
                <a:ea typeface="Cambria"/>
                <a:cs typeface="Cambria"/>
                <a:sym typeface="Cambria"/>
              </a:rPr>
              <a:t>2</a:t>
            </a:r>
            <a:endParaRPr sz="1800">
              <a:solidFill>
                <a:schemeClr val="dk1"/>
              </a:solidFill>
              <a:latin typeface="Calibri"/>
              <a:ea typeface="Calibri"/>
              <a:cs typeface="Calibri"/>
              <a:sym typeface="Calibri"/>
            </a:endParaRPr>
          </a:p>
        </p:txBody>
      </p:sp>
      <p:sp>
        <p:nvSpPr>
          <p:cNvPr id="845" name="Google Shape;845;p40"/>
          <p:cNvSpPr/>
          <p:nvPr/>
        </p:nvSpPr>
        <p:spPr>
          <a:xfrm>
            <a:off x="1481328" y="3236976"/>
            <a:ext cx="9875520" cy="6858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6334F"/>
              </a:buClr>
              <a:buSzPts val="1900"/>
              <a:buFont typeface="Calibri"/>
              <a:buNone/>
            </a:pPr>
            <a:r>
              <a:rPr lang="rw-RW" sz="1900">
                <a:solidFill>
                  <a:srgbClr val="16334F"/>
                </a:solidFill>
                <a:latin typeface="Calibri"/>
                <a:ea typeface="Calibri"/>
                <a:cs typeface="Calibri"/>
                <a:sym typeface="Calibri"/>
              </a:rPr>
              <a:t>Ni iki wabwira umuntu umaze igihe kirekire afite ibibazo by'igifu ariko akaba adashaka kwisuzumisha ?</a:t>
            </a:r>
            <a:endParaRPr sz="1900">
              <a:solidFill>
                <a:schemeClr val="dk1"/>
              </a:solidFill>
              <a:latin typeface="Calibri"/>
              <a:ea typeface="Calibri"/>
              <a:cs typeface="Calibri"/>
              <a:sym typeface="Calibri"/>
            </a:endParaRPr>
          </a:p>
        </p:txBody>
      </p:sp>
      <p:sp>
        <p:nvSpPr>
          <p:cNvPr id="846" name="Google Shape;846;p40"/>
          <p:cNvSpPr/>
          <p:nvPr/>
        </p:nvSpPr>
        <p:spPr>
          <a:xfrm>
            <a:off x="548640" y="4233672"/>
            <a:ext cx="11091672" cy="868680"/>
          </a:xfrm>
          <a:prstGeom prst="roundRect">
            <a:avLst>
              <a:gd name="adj" fmla="val 1052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7" name="Google Shape;847;p40"/>
          <p:cNvSpPr/>
          <p:nvPr/>
        </p:nvSpPr>
        <p:spPr>
          <a:xfrm>
            <a:off x="822960" y="4434840"/>
            <a:ext cx="475488" cy="475488"/>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8" name="Google Shape;848;p40"/>
          <p:cNvSpPr/>
          <p:nvPr/>
        </p:nvSpPr>
        <p:spPr>
          <a:xfrm>
            <a:off x="822960" y="4434840"/>
            <a:ext cx="475488"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mbria"/>
              <a:buNone/>
            </a:pPr>
            <a:r>
              <a:rPr lang="rw-RW" sz="1800" b="1">
                <a:solidFill>
                  <a:srgbClr val="FFFFFF"/>
                </a:solidFill>
                <a:latin typeface="Cambria"/>
                <a:ea typeface="Cambria"/>
                <a:cs typeface="Cambria"/>
                <a:sym typeface="Cambria"/>
              </a:rPr>
              <a:t>3</a:t>
            </a:r>
            <a:endParaRPr sz="1800">
              <a:solidFill>
                <a:schemeClr val="dk1"/>
              </a:solidFill>
              <a:latin typeface="Calibri"/>
              <a:ea typeface="Calibri"/>
              <a:cs typeface="Calibri"/>
              <a:sym typeface="Calibri"/>
            </a:endParaRPr>
          </a:p>
        </p:txBody>
      </p:sp>
      <p:sp>
        <p:nvSpPr>
          <p:cNvPr id="849" name="Google Shape;849;p40"/>
          <p:cNvSpPr/>
          <p:nvPr/>
        </p:nvSpPr>
        <p:spPr>
          <a:xfrm>
            <a:off x="1481328" y="4325112"/>
            <a:ext cx="9875520" cy="6858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6334F"/>
              </a:buClr>
              <a:buSzPts val="1900"/>
              <a:buFont typeface="Calibri"/>
              <a:buNone/>
            </a:pPr>
            <a:r>
              <a:rPr lang="rw-RW" sz="1900" dirty="0">
                <a:solidFill>
                  <a:srgbClr val="16334F"/>
                </a:solidFill>
                <a:latin typeface="Calibri"/>
                <a:ea typeface="Calibri"/>
                <a:cs typeface="Calibri"/>
                <a:sym typeface="Calibri"/>
              </a:rPr>
              <a:t>Ni izihe mbogamizi abantu bo mu gace kawe bahura nazo ku kugera ku kigo nderabuzima? Wabafasha iki? </a:t>
            </a:r>
            <a:endParaRPr sz="1900" dirty="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54"/>
        <p:cNvGrpSpPr/>
        <p:nvPr/>
      </p:nvGrpSpPr>
      <p:grpSpPr>
        <a:xfrm>
          <a:off x="0" y="0"/>
          <a:ext cx="0" cy="0"/>
          <a:chOff x="0" y="0"/>
          <a:chExt cx="0" cy="0"/>
        </a:xfrm>
      </p:grpSpPr>
      <p:sp>
        <p:nvSpPr>
          <p:cNvPr id="855" name="Google Shape;855;p41"/>
          <p:cNvSpPr/>
          <p:nvPr/>
        </p:nvSpPr>
        <p:spPr>
          <a:xfrm>
            <a:off x="502920" y="777240"/>
            <a:ext cx="11183112" cy="5303520"/>
          </a:xfrm>
          <a:prstGeom prst="rect">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6" name="Google Shape;856;p41"/>
          <p:cNvSpPr/>
          <p:nvPr/>
        </p:nvSpPr>
        <p:spPr>
          <a:xfrm>
            <a:off x="9509760" y="1874520"/>
            <a:ext cx="1554480" cy="1554480"/>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7" name="Google Shape;857;p41"/>
          <p:cNvSpPr/>
          <p:nvPr/>
        </p:nvSpPr>
        <p:spPr>
          <a:xfrm>
            <a:off x="9509760" y="1874520"/>
            <a:ext cx="1554480" cy="1554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4000"/>
              <a:buFont typeface="Cambria"/>
              <a:buNone/>
            </a:pPr>
            <a:r>
              <a:rPr lang="rw-RW" sz="4000" b="1">
                <a:solidFill>
                  <a:srgbClr val="FFFFFF"/>
                </a:solidFill>
                <a:latin typeface="Cambria"/>
                <a:ea typeface="Cambria"/>
                <a:cs typeface="Cambria"/>
                <a:sym typeface="Cambria"/>
              </a:rPr>
              <a:t>3</a:t>
            </a:r>
            <a:endParaRPr sz="4000">
              <a:solidFill>
                <a:schemeClr val="dk1"/>
              </a:solidFill>
              <a:latin typeface="Calibri"/>
              <a:ea typeface="Calibri"/>
              <a:cs typeface="Calibri"/>
              <a:sym typeface="Calibri"/>
            </a:endParaRPr>
          </a:p>
        </p:txBody>
      </p:sp>
      <p:sp>
        <p:nvSpPr>
          <p:cNvPr id="858" name="Google Shape;858;p41"/>
          <p:cNvSpPr/>
          <p:nvPr/>
        </p:nvSpPr>
        <p:spPr>
          <a:xfrm>
            <a:off x="1234440" y="260604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200" b="1">
                <a:solidFill>
                  <a:srgbClr val="AFCBE3"/>
                </a:solidFill>
                <a:latin typeface="Calibri"/>
                <a:ea typeface="Calibri"/>
                <a:cs typeface="Calibri"/>
                <a:sym typeface="Calibri"/>
              </a:rPr>
              <a:t>IGICE CYA 3</a:t>
            </a:r>
            <a:endParaRPr sz="1200">
              <a:solidFill>
                <a:schemeClr val="dk1"/>
              </a:solidFill>
              <a:latin typeface="Calibri"/>
              <a:ea typeface="Calibri"/>
              <a:cs typeface="Calibri"/>
              <a:sym typeface="Calibri"/>
            </a:endParaRPr>
          </a:p>
        </p:txBody>
      </p:sp>
      <p:sp>
        <p:nvSpPr>
          <p:cNvPr id="859" name="Google Shape;859;p41"/>
          <p:cNvSpPr/>
          <p:nvPr/>
        </p:nvSpPr>
        <p:spPr>
          <a:xfrm>
            <a:off x="1234440" y="2926080"/>
            <a:ext cx="786384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800"/>
              <a:buFont typeface="Cambria"/>
              <a:buNone/>
            </a:pPr>
            <a:r>
              <a:rPr lang="rw-RW" sz="3800" b="1" dirty="0">
                <a:solidFill>
                  <a:srgbClr val="FFFFFF"/>
                </a:solidFill>
                <a:latin typeface="Cambria"/>
                <a:ea typeface="Cambria"/>
                <a:cs typeface="Cambria"/>
                <a:sym typeface="Cambria"/>
              </a:rPr>
              <a:t>Icyo wakurikizaho</a:t>
            </a:r>
            <a:endParaRPr sz="3800" dirty="0">
              <a:solidFill>
                <a:schemeClr val="dk1"/>
              </a:solidFill>
              <a:latin typeface="Calibri"/>
              <a:ea typeface="Calibri"/>
              <a:cs typeface="Calibri"/>
              <a:sym typeface="Calibri"/>
            </a:endParaRPr>
          </a:p>
        </p:txBody>
      </p:sp>
      <p:sp>
        <p:nvSpPr>
          <p:cNvPr id="860" name="Google Shape;860;p41"/>
          <p:cNvSpPr/>
          <p:nvPr/>
        </p:nvSpPr>
        <p:spPr>
          <a:xfrm>
            <a:off x="1234440" y="3794760"/>
            <a:ext cx="78638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E7F3"/>
              </a:buClr>
              <a:buSzPts val="1800"/>
              <a:buFont typeface="Calibri"/>
              <a:buNone/>
            </a:pPr>
            <a:r>
              <a:rPr lang="rw-RW" sz="1800" dirty="0">
                <a:solidFill>
                  <a:srgbClr val="D9E7F3"/>
                </a:solidFill>
                <a:latin typeface="Calibri"/>
                <a:ea typeface="Calibri"/>
                <a:cs typeface="Calibri"/>
                <a:sym typeface="Calibri"/>
              </a:rPr>
              <a:t>Jya uhindura ibyo wize mu bikorwa: kohereza umuntu kwivuza ku gihe gikwiriye, kumuganiriza mu buryo bumufasha, hanyuma ukurikirane uwo muntu.</a:t>
            </a:r>
            <a:endParaRPr sz="1800" dirty="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65"/>
        <p:cNvGrpSpPr/>
        <p:nvPr/>
      </p:nvGrpSpPr>
      <p:grpSpPr>
        <a:xfrm>
          <a:off x="0" y="0"/>
          <a:ext cx="0" cy="0"/>
          <a:chOff x="0" y="0"/>
          <a:chExt cx="0" cy="0"/>
        </a:xfrm>
      </p:grpSpPr>
      <p:sp>
        <p:nvSpPr>
          <p:cNvPr id="866" name="Google Shape;866;p42"/>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3</a:t>
            </a:r>
            <a:endParaRPr sz="1100">
              <a:solidFill>
                <a:schemeClr val="dk1"/>
              </a:solidFill>
              <a:latin typeface="Calibri"/>
              <a:ea typeface="Calibri"/>
              <a:cs typeface="Calibri"/>
              <a:sym typeface="Calibri"/>
            </a:endParaRPr>
          </a:p>
        </p:txBody>
      </p:sp>
      <p:sp>
        <p:nvSpPr>
          <p:cNvPr id="867" name="Google Shape;867;p42"/>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Icyo wakora</a:t>
            </a:r>
            <a:endParaRPr sz="3400">
              <a:solidFill>
                <a:schemeClr val="dk1"/>
              </a:solidFill>
              <a:latin typeface="Calibri"/>
              <a:ea typeface="Calibri"/>
              <a:cs typeface="Calibri"/>
              <a:sym typeface="Calibri"/>
            </a:endParaRPr>
          </a:p>
        </p:txBody>
      </p:sp>
      <p:sp>
        <p:nvSpPr>
          <p:cNvPr id="868" name="Google Shape;868;p42"/>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869" name="Google Shape;869;p42"/>
          <p:cNvSpPr/>
          <p:nvPr/>
        </p:nvSpPr>
        <p:spPr>
          <a:xfrm>
            <a:off x="548640" y="1783080"/>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0" name="Google Shape;870;p42"/>
          <p:cNvSpPr/>
          <p:nvPr/>
        </p:nvSpPr>
        <p:spPr>
          <a:xfrm>
            <a:off x="804672" y="1965960"/>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Sobanura</a:t>
            </a:r>
            <a:endParaRPr sz="2100">
              <a:solidFill>
                <a:schemeClr val="dk1"/>
              </a:solidFill>
              <a:latin typeface="Calibri"/>
              <a:ea typeface="Calibri"/>
              <a:cs typeface="Calibri"/>
              <a:sym typeface="Calibri"/>
            </a:endParaRPr>
          </a:p>
        </p:txBody>
      </p:sp>
      <p:sp>
        <p:nvSpPr>
          <p:cNvPr id="871" name="Google Shape;871;p42"/>
          <p:cNvSpPr/>
          <p:nvPr/>
        </p:nvSpPr>
        <p:spPr>
          <a:xfrm>
            <a:off x="804672" y="2404872"/>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692"/>
              <a:buFont typeface="Calibri"/>
              <a:buNone/>
            </a:pPr>
            <a:r>
              <a:rPr lang="rw-RW" sz="1800" dirty="0">
                <a:solidFill>
                  <a:srgbClr val="16334F"/>
                </a:solidFill>
                <a:latin typeface="Calibri"/>
                <a:ea typeface="Calibri"/>
                <a:cs typeface="Calibri"/>
                <a:sym typeface="Calibri"/>
              </a:rPr>
              <a:t>Sobanura aho umuntu abanza kujya n'uko bigenda nyuma yaho.</a:t>
            </a:r>
            <a:endParaRPr sz="1692" dirty="0">
              <a:solidFill>
                <a:schemeClr val="dk1"/>
              </a:solidFill>
              <a:latin typeface="Calibri"/>
              <a:ea typeface="Calibri"/>
              <a:cs typeface="Calibri"/>
              <a:sym typeface="Calibri"/>
            </a:endParaRPr>
          </a:p>
        </p:txBody>
      </p:sp>
      <p:sp>
        <p:nvSpPr>
          <p:cNvPr id="872" name="Google Shape;872;p42"/>
          <p:cNvSpPr/>
          <p:nvPr/>
        </p:nvSpPr>
        <p:spPr>
          <a:xfrm>
            <a:off x="4343400" y="1783080"/>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3" name="Google Shape;873;p42"/>
          <p:cNvSpPr/>
          <p:nvPr/>
        </p:nvSpPr>
        <p:spPr>
          <a:xfrm>
            <a:off x="4599432" y="1965960"/>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Fata icyemezo</a:t>
            </a:r>
            <a:endParaRPr sz="2100">
              <a:solidFill>
                <a:schemeClr val="dk1"/>
              </a:solidFill>
              <a:latin typeface="Calibri"/>
              <a:ea typeface="Calibri"/>
              <a:cs typeface="Calibri"/>
              <a:sym typeface="Calibri"/>
            </a:endParaRPr>
          </a:p>
        </p:txBody>
      </p:sp>
      <p:sp>
        <p:nvSpPr>
          <p:cNvPr id="874" name="Google Shape;874;p42"/>
          <p:cNvSpPr/>
          <p:nvPr/>
        </p:nvSpPr>
        <p:spPr>
          <a:xfrm>
            <a:off x="4599432" y="2404872"/>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692"/>
              <a:buFont typeface="Calibri"/>
              <a:buNone/>
            </a:pPr>
            <a:r>
              <a:rPr lang="rw-RW" sz="1800" dirty="0">
                <a:solidFill>
                  <a:srgbClr val="16334F"/>
                </a:solidFill>
                <a:latin typeface="Calibri"/>
                <a:ea typeface="Calibri"/>
                <a:cs typeface="Calibri"/>
                <a:sym typeface="Calibri"/>
              </a:rPr>
              <a:t>Fata icyemezo ku muntu ukeneye kwitabwaho vuba</a:t>
            </a:r>
          </a:p>
          <a:p>
            <a:pPr marL="0" marR="0" lvl="0" indent="0" algn="l" rtl="0">
              <a:lnSpc>
                <a:spcPct val="105000"/>
              </a:lnSpc>
              <a:spcBef>
                <a:spcPts val="0"/>
              </a:spcBef>
              <a:spcAft>
                <a:spcPts val="0"/>
              </a:spcAft>
              <a:buClr>
                <a:srgbClr val="16334F"/>
              </a:buClr>
              <a:buSzPts val="1692"/>
              <a:buFont typeface="Calibri"/>
              <a:buNone/>
            </a:pPr>
            <a:endParaRPr sz="1692" dirty="0">
              <a:solidFill>
                <a:schemeClr val="dk1"/>
              </a:solidFill>
              <a:latin typeface="Calibri"/>
              <a:ea typeface="Calibri"/>
              <a:cs typeface="Calibri"/>
              <a:sym typeface="Calibri"/>
            </a:endParaRPr>
          </a:p>
        </p:txBody>
      </p:sp>
      <p:sp>
        <p:nvSpPr>
          <p:cNvPr id="875" name="Google Shape;875;p42"/>
          <p:cNvSpPr/>
          <p:nvPr/>
        </p:nvSpPr>
        <p:spPr>
          <a:xfrm>
            <a:off x="8138160" y="1783080"/>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6" name="Google Shape;876;p42"/>
          <p:cNvSpPr/>
          <p:nvPr/>
        </p:nvSpPr>
        <p:spPr>
          <a:xfrm>
            <a:off x="8394192" y="1965960"/>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dirty="0">
                <a:solidFill>
                  <a:srgbClr val="0F3D63"/>
                </a:solidFill>
                <a:latin typeface="Cambria"/>
                <a:ea typeface="Cambria"/>
                <a:cs typeface="Calibri"/>
                <a:sym typeface="Cambria"/>
              </a:rPr>
              <a:t>Humuriza</a:t>
            </a:r>
            <a:endParaRPr sz="2100" dirty="0">
              <a:solidFill>
                <a:schemeClr val="dk1"/>
              </a:solidFill>
              <a:latin typeface="Calibri"/>
              <a:ea typeface="Calibri"/>
              <a:cs typeface="Calibri"/>
              <a:sym typeface="Calibri"/>
            </a:endParaRPr>
          </a:p>
        </p:txBody>
      </p:sp>
      <p:sp>
        <p:nvSpPr>
          <p:cNvPr id="877" name="Google Shape;877;p42"/>
          <p:cNvSpPr/>
          <p:nvPr/>
        </p:nvSpPr>
        <p:spPr>
          <a:xfrm>
            <a:off x="8394192" y="2404872"/>
            <a:ext cx="2990088" cy="86868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85000"/>
              </a:lnSpc>
              <a:spcBef>
                <a:spcPts val="0"/>
              </a:spcBef>
              <a:spcAft>
                <a:spcPts val="0"/>
              </a:spcAft>
              <a:buClr>
                <a:srgbClr val="16334F"/>
              </a:buClr>
              <a:buSzPts val="1557"/>
              <a:buFont typeface="Calibri"/>
              <a:buNone/>
            </a:pPr>
            <a:r>
              <a:rPr lang="rw-RW" sz="1800" dirty="0">
                <a:solidFill>
                  <a:srgbClr val="16334F"/>
                </a:solidFill>
                <a:latin typeface="Calibri"/>
                <a:ea typeface="Calibri"/>
                <a:cs typeface="Calibri"/>
                <a:sym typeface="Calibri"/>
              </a:rPr>
              <a:t>Jya usubiza ibibazo bihangayikishije abantu benshi, ntugire ubwoba cyangwa ngo ushinje umuntu uwo ari we wese.</a:t>
            </a:r>
            <a:endParaRPr sz="1557" dirty="0">
              <a:solidFill>
                <a:schemeClr val="dk1"/>
              </a:solidFill>
              <a:latin typeface="Calibri"/>
              <a:ea typeface="Calibri"/>
              <a:cs typeface="Calibri"/>
              <a:sym typeface="Calibri"/>
            </a:endParaRPr>
          </a:p>
        </p:txBody>
      </p:sp>
      <p:sp>
        <p:nvSpPr>
          <p:cNvPr id="878" name="Google Shape;878;p42"/>
          <p:cNvSpPr/>
          <p:nvPr/>
        </p:nvSpPr>
        <p:spPr>
          <a:xfrm>
            <a:off x="548640" y="3767327"/>
            <a:ext cx="3502152" cy="1813201"/>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9" name="Google Shape;879;p42"/>
          <p:cNvSpPr/>
          <p:nvPr/>
        </p:nvSpPr>
        <p:spPr>
          <a:xfrm>
            <a:off x="804672" y="3950208"/>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dirty="0">
                <a:solidFill>
                  <a:srgbClr val="0F3D63"/>
                </a:solidFill>
                <a:latin typeface="Cambria"/>
                <a:ea typeface="Cambria"/>
                <a:cs typeface="Calibri"/>
                <a:sym typeface="Cambria"/>
              </a:rPr>
              <a:t>Kosora</a:t>
            </a:r>
            <a:endParaRPr sz="2100" dirty="0">
              <a:solidFill>
                <a:schemeClr val="dk1"/>
              </a:solidFill>
              <a:latin typeface="Calibri"/>
              <a:ea typeface="Calibri"/>
              <a:cs typeface="Calibri"/>
              <a:sym typeface="Calibri"/>
            </a:endParaRPr>
          </a:p>
        </p:txBody>
      </p:sp>
      <p:sp>
        <p:nvSpPr>
          <p:cNvPr id="880" name="Google Shape;880;p42"/>
          <p:cNvSpPr/>
          <p:nvPr/>
        </p:nvSpPr>
        <p:spPr>
          <a:xfrm>
            <a:off x="804672" y="4389120"/>
            <a:ext cx="2990088" cy="868680"/>
          </a:xfrm>
          <a:prstGeom prst="rect">
            <a:avLst/>
          </a:prstGeom>
          <a:noFill/>
          <a:ln>
            <a:noFill/>
          </a:ln>
        </p:spPr>
        <p:txBody>
          <a:bodyPr spcFirstLastPara="1" wrap="square" lIns="0" tIns="0" rIns="0" bIns="0" anchor="t" anchorCtr="0">
            <a:normAutofit fontScale="92500"/>
          </a:bodyPr>
          <a:lstStyle/>
          <a:p>
            <a:pPr marL="0" marR="0" lvl="0" indent="0" algn="l" rtl="0">
              <a:lnSpc>
                <a:spcPct val="105000"/>
              </a:lnSpc>
              <a:spcBef>
                <a:spcPts val="0"/>
              </a:spcBef>
              <a:spcAft>
                <a:spcPts val="0"/>
              </a:spcAft>
              <a:buClr>
                <a:srgbClr val="16334F"/>
              </a:buClr>
              <a:buSzPts val="1692"/>
              <a:buFont typeface="Calibri"/>
              <a:buNone/>
            </a:pPr>
            <a:r>
              <a:rPr lang="rw-RW" sz="1800" dirty="0">
                <a:solidFill>
                  <a:srgbClr val="16334F"/>
                </a:solidFill>
                <a:latin typeface="Calibri"/>
                <a:ea typeface="Calibri"/>
                <a:cs typeface="Calibri"/>
                <a:sym typeface="Calibri"/>
              </a:rPr>
              <a:t>Kosora imyizerere itari yo n’amakuru y’ibihuha ku bijyanye n'ibipimo n’ubuvuzi bwa kanseri.</a:t>
            </a:r>
            <a:endParaRPr sz="1692" dirty="0">
              <a:solidFill>
                <a:schemeClr val="dk1"/>
              </a:solidFill>
              <a:latin typeface="Calibri"/>
              <a:ea typeface="Calibri"/>
              <a:cs typeface="Calibri"/>
              <a:sym typeface="Calibri"/>
            </a:endParaRPr>
          </a:p>
        </p:txBody>
      </p:sp>
      <p:sp>
        <p:nvSpPr>
          <p:cNvPr id="881" name="Google Shape;881;p42"/>
          <p:cNvSpPr/>
          <p:nvPr/>
        </p:nvSpPr>
        <p:spPr>
          <a:xfrm>
            <a:off x="4343400" y="3767327"/>
            <a:ext cx="3502152" cy="1813201"/>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2" name="Google Shape;882;p42"/>
          <p:cNvSpPr/>
          <p:nvPr/>
        </p:nvSpPr>
        <p:spPr>
          <a:xfrm>
            <a:off x="4599432" y="3950208"/>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dirty="0">
                <a:solidFill>
                  <a:srgbClr val="0F3D63"/>
                </a:solidFill>
                <a:latin typeface="Cambria"/>
                <a:ea typeface="Cambria"/>
                <a:cs typeface="Cambria"/>
                <a:sym typeface="Cambria"/>
              </a:rPr>
              <a:t>Shyigikira</a:t>
            </a:r>
            <a:endParaRPr sz="2100" dirty="0">
              <a:solidFill>
                <a:schemeClr val="dk1"/>
              </a:solidFill>
              <a:latin typeface="Calibri"/>
              <a:ea typeface="Calibri"/>
              <a:cs typeface="Calibri"/>
              <a:sym typeface="Calibri"/>
            </a:endParaRPr>
          </a:p>
        </p:txBody>
      </p:sp>
      <p:sp>
        <p:nvSpPr>
          <p:cNvPr id="883" name="Google Shape;883;p42"/>
          <p:cNvSpPr/>
          <p:nvPr/>
        </p:nvSpPr>
        <p:spPr>
          <a:xfrm>
            <a:off x="4599432" y="4389120"/>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692"/>
              <a:buFont typeface="Calibri"/>
              <a:buNone/>
            </a:pPr>
            <a:r>
              <a:rPr lang="rw-RW" sz="1800">
                <a:solidFill>
                  <a:srgbClr val="16334F"/>
                </a:solidFill>
                <a:latin typeface="Calibri"/>
                <a:ea typeface="Calibri"/>
                <a:cs typeface="Calibri"/>
                <a:sym typeface="Calibri"/>
              </a:rPr>
              <a:t>Fasha umuntu n'umuryango we kugera aho yoherejwe no gukomeza ubuvuzi.</a:t>
            </a:r>
            <a:endParaRPr sz="1692">
              <a:solidFill>
                <a:schemeClr val="dk1"/>
              </a:solidFill>
              <a:latin typeface="Calibri"/>
              <a:ea typeface="Calibri"/>
              <a:cs typeface="Calibri"/>
              <a:sym typeface="Calibri"/>
            </a:endParaRPr>
          </a:p>
        </p:txBody>
      </p:sp>
      <p:sp>
        <p:nvSpPr>
          <p:cNvPr id="884" name="Google Shape;884;p42"/>
          <p:cNvSpPr/>
          <p:nvPr/>
        </p:nvSpPr>
        <p:spPr>
          <a:xfrm>
            <a:off x="8138160" y="3767327"/>
            <a:ext cx="3502152" cy="1813201"/>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5" name="Google Shape;885;p42"/>
          <p:cNvSpPr/>
          <p:nvPr/>
        </p:nvSpPr>
        <p:spPr>
          <a:xfrm>
            <a:off x="8394192" y="3950208"/>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dirty="0">
                <a:solidFill>
                  <a:srgbClr val="0F3D63"/>
                </a:solidFill>
                <a:latin typeface="Cambria"/>
                <a:ea typeface="Cambria"/>
                <a:cs typeface="Cambria"/>
                <a:sym typeface="Cambria"/>
              </a:rPr>
              <a:t>Kurikirana</a:t>
            </a:r>
            <a:endParaRPr sz="2100" dirty="0">
              <a:solidFill>
                <a:schemeClr val="dk1"/>
              </a:solidFill>
              <a:latin typeface="Calibri"/>
              <a:ea typeface="Calibri"/>
              <a:cs typeface="Calibri"/>
              <a:sym typeface="Calibri"/>
            </a:endParaRPr>
          </a:p>
        </p:txBody>
      </p:sp>
      <p:sp>
        <p:nvSpPr>
          <p:cNvPr id="886" name="Google Shape;886;p42"/>
          <p:cNvSpPr/>
          <p:nvPr/>
        </p:nvSpPr>
        <p:spPr>
          <a:xfrm>
            <a:off x="8394192" y="4389120"/>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692"/>
              <a:buFont typeface="Calibri"/>
              <a:buNone/>
            </a:pPr>
            <a:r>
              <a:rPr lang="rw-RW" sz="1800" dirty="0">
                <a:solidFill>
                  <a:srgbClr val="16334F"/>
                </a:solidFill>
                <a:latin typeface="Calibri"/>
                <a:ea typeface="Calibri"/>
                <a:cs typeface="Calibri"/>
                <a:sym typeface="Calibri"/>
              </a:rPr>
              <a:t>Kurikirana ko umuntu yageze kwa muganga, unamufashe kubahiriza gahunda z’ubuvuzi.</a:t>
            </a:r>
            <a:endParaRPr sz="1692" dirty="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91"/>
        <p:cNvGrpSpPr/>
        <p:nvPr/>
      </p:nvGrpSpPr>
      <p:grpSpPr>
        <a:xfrm>
          <a:off x="0" y="0"/>
          <a:ext cx="0" cy="0"/>
          <a:chOff x="0" y="0"/>
          <a:chExt cx="0" cy="0"/>
        </a:xfrm>
      </p:grpSpPr>
      <p:sp>
        <p:nvSpPr>
          <p:cNvPr id="892" name="Google Shape;892;p43"/>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3</a:t>
            </a:r>
            <a:endParaRPr sz="1100">
              <a:solidFill>
                <a:schemeClr val="dk1"/>
              </a:solidFill>
              <a:latin typeface="Calibri"/>
              <a:ea typeface="Calibri"/>
              <a:cs typeface="Calibri"/>
              <a:sym typeface="Calibri"/>
            </a:endParaRPr>
          </a:p>
        </p:txBody>
      </p:sp>
      <p:sp>
        <p:nvSpPr>
          <p:cNvPr id="893" name="Google Shape;893;p43"/>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dirty="0">
                <a:solidFill>
                  <a:srgbClr val="0F3D63"/>
                </a:solidFill>
                <a:latin typeface="Cambria"/>
                <a:ea typeface="Cambria"/>
                <a:cs typeface="Cambria"/>
                <a:sym typeface="Cambria"/>
              </a:rPr>
              <a:t>Urugendo rwo kwivuza mu Rwanda</a:t>
            </a:r>
            <a:endParaRPr sz="3400" dirty="0">
              <a:solidFill>
                <a:schemeClr val="dk1"/>
              </a:solidFill>
              <a:latin typeface="Calibri"/>
              <a:ea typeface="Calibri"/>
              <a:cs typeface="Calibri"/>
              <a:sym typeface="Calibri"/>
            </a:endParaRPr>
          </a:p>
        </p:txBody>
      </p:sp>
      <p:sp>
        <p:nvSpPr>
          <p:cNvPr id="894" name="Google Shape;894;p43"/>
          <p:cNvSpPr/>
          <p:nvPr/>
        </p:nvSpPr>
        <p:spPr>
          <a:xfrm>
            <a:off x="548640" y="1251113"/>
            <a:ext cx="110642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i="1" dirty="0">
                <a:solidFill>
                  <a:srgbClr val="16334F"/>
                </a:solidFill>
                <a:latin typeface="Calibri"/>
                <a:ea typeface="Calibri"/>
                <a:cs typeface="Calibri"/>
                <a:sym typeface="Calibri"/>
              </a:rPr>
              <a:t>Reka turebe uko urugendo rwagenze.</a:t>
            </a:r>
            <a:endParaRPr sz="1800" dirty="0">
              <a:solidFill>
                <a:schemeClr val="dk1"/>
              </a:solidFill>
              <a:latin typeface="Calibri"/>
              <a:ea typeface="Calibri"/>
              <a:cs typeface="Calibri"/>
              <a:sym typeface="Calibri"/>
            </a:endParaRPr>
          </a:p>
        </p:txBody>
      </p:sp>
      <p:sp>
        <p:nvSpPr>
          <p:cNvPr id="895" name="Google Shape;895;p43"/>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896" name="Google Shape;896;p43"/>
          <p:cNvSpPr/>
          <p:nvPr/>
        </p:nvSpPr>
        <p:spPr>
          <a:xfrm>
            <a:off x="548640" y="1870216"/>
            <a:ext cx="2567178" cy="3433304"/>
          </a:xfrm>
          <a:prstGeom prst="roundRect">
            <a:avLst>
              <a:gd name="adj" fmla="val 4274"/>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897" name="Google Shape;897;p43"/>
          <p:cNvSpPr/>
          <p:nvPr/>
        </p:nvSpPr>
        <p:spPr>
          <a:xfrm>
            <a:off x="777240" y="1957355"/>
            <a:ext cx="502920" cy="502920"/>
          </a:xfrm>
          <a:prstGeom prst="ellipse">
            <a:avLst/>
          </a:prstGeom>
          <a:solidFill>
            <a:srgbClr val="2272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898" name="Google Shape;898;p43"/>
          <p:cNvSpPr/>
          <p:nvPr/>
        </p:nvSpPr>
        <p:spPr>
          <a:xfrm>
            <a:off x="777240" y="1957355"/>
            <a:ext cx="50292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000"/>
              <a:buFont typeface="Cambria"/>
              <a:buNone/>
            </a:pPr>
            <a:r>
              <a:rPr lang="rw-RW" sz="2000" b="1">
                <a:solidFill>
                  <a:srgbClr val="FFFFFF"/>
                </a:solidFill>
                <a:latin typeface="Cambria"/>
                <a:ea typeface="Cambria"/>
                <a:cs typeface="Cambria"/>
                <a:sym typeface="Cambria"/>
              </a:rPr>
              <a:t>1</a:t>
            </a:r>
            <a:endParaRPr sz="2000">
              <a:solidFill>
                <a:schemeClr val="dk1"/>
              </a:solidFill>
              <a:latin typeface="Calibri"/>
              <a:ea typeface="Calibri"/>
              <a:cs typeface="Calibri"/>
              <a:sym typeface="Calibri"/>
            </a:endParaRPr>
          </a:p>
        </p:txBody>
      </p:sp>
      <p:sp>
        <p:nvSpPr>
          <p:cNvPr id="899" name="Google Shape;899;p43"/>
          <p:cNvSpPr/>
          <p:nvPr/>
        </p:nvSpPr>
        <p:spPr>
          <a:xfrm>
            <a:off x="777240" y="2560859"/>
            <a:ext cx="2109978" cy="685800"/>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1870"/>
              <a:buFont typeface="Cambria"/>
              <a:buNone/>
            </a:pPr>
            <a:r>
              <a:rPr lang="rw-RW" sz="2000" b="1" dirty="0">
                <a:solidFill>
                  <a:srgbClr val="0F3D63"/>
                </a:solidFill>
                <a:latin typeface="Cambria"/>
                <a:ea typeface="Cambria"/>
                <a:cs typeface="Cambria"/>
                <a:sym typeface="Cambria"/>
              </a:rPr>
              <a:t>Mu muryango/ Aho dutuye</a:t>
            </a:r>
            <a:endParaRPr sz="1870" dirty="0">
              <a:solidFill>
                <a:schemeClr val="dk1"/>
              </a:solidFill>
              <a:latin typeface="Calibri"/>
              <a:ea typeface="Calibri"/>
              <a:cs typeface="Calibri"/>
              <a:sym typeface="Calibri"/>
            </a:endParaRPr>
          </a:p>
        </p:txBody>
      </p:sp>
      <p:sp>
        <p:nvSpPr>
          <p:cNvPr id="900" name="Google Shape;900;p43"/>
          <p:cNvSpPr/>
          <p:nvPr/>
        </p:nvSpPr>
        <p:spPr>
          <a:xfrm>
            <a:off x="777240" y="3261987"/>
            <a:ext cx="2109978" cy="1713424"/>
          </a:xfrm>
          <a:prstGeom prst="rect">
            <a:avLst/>
          </a:prstGeom>
          <a:noFill/>
          <a:ln>
            <a:noFill/>
          </a:ln>
        </p:spPr>
        <p:txBody>
          <a:bodyPr spcFirstLastPara="1" wrap="square" lIns="0" tIns="0" rIns="0" bIns="0" anchor="t" anchorCtr="0">
            <a:normAutofit/>
          </a:bodyPr>
          <a:lstStyle/>
          <a:p>
            <a:pPr marL="0" marR="0" lvl="0" indent="0" algn="l" rtl="0">
              <a:lnSpc>
                <a:spcPct val="103000"/>
              </a:lnSpc>
              <a:spcBef>
                <a:spcPts val="0"/>
              </a:spcBef>
              <a:spcAft>
                <a:spcPts val="0"/>
              </a:spcAft>
              <a:buClr>
                <a:srgbClr val="16334F"/>
              </a:buClr>
              <a:buSzPts val="1548"/>
              <a:buFont typeface="Calibri"/>
              <a:buNone/>
            </a:pPr>
            <a:r>
              <a:rPr lang="rw-RW" sz="1800" dirty="0">
                <a:solidFill>
                  <a:srgbClr val="16334F"/>
                </a:solidFill>
                <a:latin typeface="Calibri"/>
                <a:ea typeface="Calibri"/>
                <a:cs typeface="Calibri"/>
                <a:sym typeface="Calibri"/>
              </a:rPr>
              <a:t>Reba ibimenyetso, umutege amatwi, umusobanurire, kandi umushishikarize kwisuzumisha.</a:t>
            </a:r>
            <a:endParaRPr sz="1548" dirty="0">
              <a:solidFill>
                <a:schemeClr val="dk1"/>
              </a:solidFill>
              <a:latin typeface="Calibri"/>
              <a:ea typeface="Calibri"/>
              <a:cs typeface="Calibri"/>
              <a:sym typeface="Calibri"/>
            </a:endParaRPr>
          </a:p>
        </p:txBody>
      </p:sp>
      <p:sp>
        <p:nvSpPr>
          <p:cNvPr id="901" name="Google Shape;901;p43"/>
          <p:cNvSpPr/>
          <p:nvPr/>
        </p:nvSpPr>
        <p:spPr>
          <a:xfrm>
            <a:off x="3390138" y="1870216"/>
            <a:ext cx="2567178" cy="3433304"/>
          </a:xfrm>
          <a:prstGeom prst="roundRect">
            <a:avLst>
              <a:gd name="adj" fmla="val 4274"/>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902" name="Google Shape;902;p43"/>
          <p:cNvSpPr/>
          <p:nvPr/>
        </p:nvSpPr>
        <p:spPr>
          <a:xfrm>
            <a:off x="3618738" y="1957355"/>
            <a:ext cx="502920" cy="502920"/>
          </a:xfrm>
          <a:prstGeom prst="ellipse">
            <a:avLst/>
          </a:prstGeom>
          <a:solidFill>
            <a:srgbClr val="2272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903" name="Google Shape;903;p43"/>
          <p:cNvSpPr/>
          <p:nvPr/>
        </p:nvSpPr>
        <p:spPr>
          <a:xfrm>
            <a:off x="3618738" y="1957355"/>
            <a:ext cx="50292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000"/>
              <a:buFont typeface="Cambria"/>
              <a:buNone/>
            </a:pPr>
            <a:r>
              <a:rPr lang="rw-RW" sz="2000" b="1">
                <a:solidFill>
                  <a:srgbClr val="FFFFFF"/>
                </a:solidFill>
                <a:latin typeface="Cambria"/>
                <a:ea typeface="Cambria"/>
                <a:cs typeface="Cambria"/>
                <a:sym typeface="Cambria"/>
              </a:rPr>
              <a:t>2</a:t>
            </a:r>
            <a:endParaRPr sz="2000">
              <a:solidFill>
                <a:schemeClr val="dk1"/>
              </a:solidFill>
              <a:latin typeface="Calibri"/>
              <a:ea typeface="Calibri"/>
              <a:cs typeface="Calibri"/>
              <a:sym typeface="Calibri"/>
            </a:endParaRPr>
          </a:p>
        </p:txBody>
      </p:sp>
      <p:sp>
        <p:nvSpPr>
          <p:cNvPr id="904" name="Google Shape;904;p43"/>
          <p:cNvSpPr/>
          <p:nvPr/>
        </p:nvSpPr>
        <p:spPr>
          <a:xfrm>
            <a:off x="3618738" y="2560858"/>
            <a:ext cx="2109978" cy="945595"/>
          </a:xfrm>
          <a:prstGeom prst="rect">
            <a:avLst/>
          </a:prstGeom>
          <a:noFill/>
          <a:ln>
            <a:noFill/>
          </a:ln>
        </p:spPr>
        <p:txBody>
          <a:bodyPr spcFirstLastPara="1" wrap="square" lIns="0" tIns="0" rIns="0" bIns="0" anchor="t" anchorCtr="0">
            <a:normAutofit lnSpcReduction="10000"/>
          </a:bodyPr>
          <a:lstStyle/>
          <a:p>
            <a:pPr marL="0" marR="0" lvl="0" indent="0" algn="l" rtl="0">
              <a:lnSpc>
                <a:spcPct val="80000"/>
              </a:lnSpc>
              <a:spcBef>
                <a:spcPts val="0"/>
              </a:spcBef>
              <a:spcAft>
                <a:spcPts val="0"/>
              </a:spcAft>
              <a:buClr>
                <a:srgbClr val="0F3D63"/>
              </a:buClr>
              <a:buSzPts val="1720"/>
              <a:buFont typeface="Cambria"/>
              <a:buNone/>
            </a:pPr>
            <a:r>
              <a:rPr lang="rw-RW" sz="2000" b="1" dirty="0">
                <a:solidFill>
                  <a:srgbClr val="0F3D63"/>
                </a:solidFill>
                <a:latin typeface="Cambria"/>
                <a:ea typeface="Cambria"/>
                <a:cs typeface="Cambria"/>
                <a:sym typeface="Cambria"/>
              </a:rPr>
              <a:t>Ivuriro rito (health post) cyangwa ikigo nderabuzima</a:t>
            </a:r>
            <a:endParaRPr sz="1720" dirty="0">
              <a:solidFill>
                <a:schemeClr val="dk1"/>
              </a:solidFill>
              <a:latin typeface="Calibri"/>
              <a:ea typeface="Calibri"/>
              <a:cs typeface="Calibri"/>
              <a:sym typeface="Calibri"/>
            </a:endParaRPr>
          </a:p>
        </p:txBody>
      </p:sp>
      <p:sp>
        <p:nvSpPr>
          <p:cNvPr id="905" name="Google Shape;905;p43"/>
          <p:cNvSpPr/>
          <p:nvPr/>
        </p:nvSpPr>
        <p:spPr>
          <a:xfrm>
            <a:off x="3608451" y="3506452"/>
            <a:ext cx="2109978" cy="1797067"/>
          </a:xfrm>
          <a:prstGeom prst="rect">
            <a:avLst/>
          </a:prstGeom>
          <a:noFill/>
          <a:ln>
            <a:noFill/>
          </a:ln>
        </p:spPr>
        <p:txBody>
          <a:bodyPr spcFirstLastPara="1" wrap="square" lIns="0" tIns="0" rIns="0" bIns="0" anchor="t" anchorCtr="0">
            <a:normAutofit/>
          </a:bodyPr>
          <a:lstStyle/>
          <a:p>
            <a:pPr marL="0" marR="0" lvl="0" indent="0" algn="l" rtl="0">
              <a:lnSpc>
                <a:spcPct val="83000"/>
              </a:lnSpc>
              <a:spcBef>
                <a:spcPts val="0"/>
              </a:spcBef>
              <a:spcAft>
                <a:spcPts val="0"/>
              </a:spcAft>
              <a:buClr>
                <a:srgbClr val="16334F"/>
              </a:buClr>
              <a:buSzPts val="1413"/>
              <a:buFont typeface="Calibri"/>
              <a:buNone/>
            </a:pPr>
            <a:r>
              <a:rPr lang="rw-RW" sz="1800" dirty="0">
                <a:solidFill>
                  <a:srgbClr val="16334F"/>
                </a:solidFill>
                <a:latin typeface="Calibri"/>
                <a:ea typeface="Calibri"/>
                <a:cs typeface="Calibri"/>
                <a:sym typeface="Calibri"/>
              </a:rPr>
              <a:t>Umuganga abaza ibibazo/ amakuru, agasuzuma ndetse akanafata ibizamini uwo muntu, hanyuma agafata umwanzuro w’icyo gukora.</a:t>
            </a:r>
            <a:endParaRPr sz="1413" dirty="0">
              <a:solidFill>
                <a:schemeClr val="dk1"/>
              </a:solidFill>
              <a:latin typeface="Calibri"/>
              <a:ea typeface="Calibri"/>
              <a:cs typeface="Calibri"/>
              <a:sym typeface="Calibri"/>
            </a:endParaRPr>
          </a:p>
        </p:txBody>
      </p:sp>
      <p:sp>
        <p:nvSpPr>
          <p:cNvPr id="906" name="Google Shape;906;p43"/>
          <p:cNvSpPr/>
          <p:nvPr/>
        </p:nvSpPr>
        <p:spPr>
          <a:xfrm>
            <a:off x="6231636" y="1870216"/>
            <a:ext cx="2567178" cy="3433304"/>
          </a:xfrm>
          <a:prstGeom prst="roundRect">
            <a:avLst>
              <a:gd name="adj" fmla="val 4274"/>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907" name="Google Shape;907;p43"/>
          <p:cNvSpPr/>
          <p:nvPr/>
        </p:nvSpPr>
        <p:spPr>
          <a:xfrm>
            <a:off x="6460236" y="1957355"/>
            <a:ext cx="502920" cy="502920"/>
          </a:xfrm>
          <a:prstGeom prst="ellipse">
            <a:avLst/>
          </a:prstGeom>
          <a:solidFill>
            <a:srgbClr val="2272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908" name="Google Shape;908;p43"/>
          <p:cNvSpPr/>
          <p:nvPr/>
        </p:nvSpPr>
        <p:spPr>
          <a:xfrm>
            <a:off x="6460236" y="1957355"/>
            <a:ext cx="50292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000"/>
              <a:buFont typeface="Cambria"/>
              <a:buNone/>
            </a:pPr>
            <a:r>
              <a:rPr lang="rw-RW" sz="2000" b="1">
                <a:solidFill>
                  <a:srgbClr val="FFFFFF"/>
                </a:solidFill>
                <a:latin typeface="Cambria"/>
                <a:ea typeface="Cambria"/>
                <a:cs typeface="Cambria"/>
                <a:sym typeface="Cambria"/>
              </a:rPr>
              <a:t>3</a:t>
            </a:r>
            <a:endParaRPr sz="2000">
              <a:solidFill>
                <a:schemeClr val="dk1"/>
              </a:solidFill>
              <a:latin typeface="Calibri"/>
              <a:ea typeface="Calibri"/>
              <a:cs typeface="Calibri"/>
              <a:sym typeface="Calibri"/>
            </a:endParaRPr>
          </a:p>
        </p:txBody>
      </p:sp>
      <p:sp>
        <p:nvSpPr>
          <p:cNvPr id="909" name="Google Shape;909;p43"/>
          <p:cNvSpPr/>
          <p:nvPr/>
        </p:nvSpPr>
        <p:spPr>
          <a:xfrm>
            <a:off x="6460236" y="2560859"/>
            <a:ext cx="2109978" cy="685800"/>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1870"/>
              <a:buFont typeface="Cambria"/>
              <a:buNone/>
            </a:pPr>
            <a:r>
              <a:rPr lang="rw-RW" sz="2000" b="1" dirty="0">
                <a:solidFill>
                  <a:srgbClr val="0F3D63"/>
                </a:solidFill>
                <a:latin typeface="Cambria"/>
                <a:ea typeface="Cambria"/>
                <a:cs typeface="Cambria"/>
                <a:sym typeface="Cambria"/>
              </a:rPr>
              <a:t>Ibitaro by'akarere</a:t>
            </a:r>
            <a:endParaRPr sz="1870" dirty="0">
              <a:solidFill>
                <a:schemeClr val="dk1"/>
              </a:solidFill>
              <a:latin typeface="Calibri"/>
              <a:ea typeface="Calibri"/>
              <a:cs typeface="Calibri"/>
              <a:sym typeface="Calibri"/>
            </a:endParaRPr>
          </a:p>
        </p:txBody>
      </p:sp>
      <p:sp>
        <p:nvSpPr>
          <p:cNvPr id="910" name="Google Shape;910;p43"/>
          <p:cNvSpPr/>
          <p:nvPr/>
        </p:nvSpPr>
        <p:spPr>
          <a:xfrm>
            <a:off x="6460236" y="3217613"/>
            <a:ext cx="2109978" cy="1975058"/>
          </a:xfrm>
          <a:prstGeom prst="rect">
            <a:avLst/>
          </a:prstGeom>
          <a:noFill/>
          <a:ln>
            <a:noFill/>
          </a:ln>
        </p:spPr>
        <p:txBody>
          <a:bodyPr spcFirstLastPara="1" wrap="square" lIns="0" tIns="0" rIns="0" bIns="0" anchor="t" anchorCtr="0">
            <a:normAutofit lnSpcReduction="10000"/>
          </a:bodyPr>
          <a:lstStyle/>
          <a:p>
            <a:pPr marL="0" marR="0" lvl="0" indent="0" algn="l" rtl="0">
              <a:lnSpc>
                <a:spcPct val="93000"/>
              </a:lnSpc>
              <a:spcBef>
                <a:spcPts val="0"/>
              </a:spcBef>
              <a:spcAft>
                <a:spcPts val="0"/>
              </a:spcAft>
              <a:buClr>
                <a:srgbClr val="16334F"/>
              </a:buClr>
              <a:buSzPts val="1413"/>
              <a:buFont typeface="Calibri"/>
              <a:buNone/>
            </a:pPr>
            <a:r>
              <a:rPr lang="rw-RW" sz="1800" dirty="0">
                <a:solidFill>
                  <a:srgbClr val="16334F"/>
                </a:solidFill>
                <a:latin typeface="Calibri"/>
                <a:ea typeface="Calibri"/>
                <a:cs typeface="Calibri"/>
                <a:sym typeface="Calibri"/>
              </a:rPr>
              <a:t>Isuzuma n’ibizamini byimbitse bikorerwa hano. Umuntu ashobora koherezwa ku rindi vuriro gutanga ibizami by’umwihariko, igihe bibaye ngombwa.</a:t>
            </a:r>
            <a:endParaRPr sz="1413" dirty="0">
              <a:solidFill>
                <a:schemeClr val="dk1"/>
              </a:solidFill>
              <a:latin typeface="Calibri"/>
              <a:ea typeface="Calibri"/>
              <a:cs typeface="Calibri"/>
              <a:sym typeface="Calibri"/>
            </a:endParaRPr>
          </a:p>
        </p:txBody>
      </p:sp>
      <p:sp>
        <p:nvSpPr>
          <p:cNvPr id="911" name="Google Shape;911;p43"/>
          <p:cNvSpPr/>
          <p:nvPr/>
        </p:nvSpPr>
        <p:spPr>
          <a:xfrm>
            <a:off x="9073134" y="1870216"/>
            <a:ext cx="2567178" cy="3433304"/>
          </a:xfrm>
          <a:prstGeom prst="roundRect">
            <a:avLst>
              <a:gd name="adj" fmla="val 4274"/>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912" name="Google Shape;912;p43"/>
          <p:cNvSpPr/>
          <p:nvPr/>
        </p:nvSpPr>
        <p:spPr>
          <a:xfrm>
            <a:off x="9301734" y="1957355"/>
            <a:ext cx="502920" cy="502920"/>
          </a:xfrm>
          <a:prstGeom prst="ellipse">
            <a:avLst/>
          </a:prstGeom>
          <a:solidFill>
            <a:srgbClr val="2272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913" name="Google Shape;913;p43"/>
          <p:cNvSpPr/>
          <p:nvPr/>
        </p:nvSpPr>
        <p:spPr>
          <a:xfrm>
            <a:off x="9301734" y="1957355"/>
            <a:ext cx="50292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000"/>
              <a:buFont typeface="Cambria"/>
              <a:buNone/>
            </a:pPr>
            <a:r>
              <a:rPr lang="rw-RW" sz="2000" b="1">
                <a:solidFill>
                  <a:srgbClr val="FFFFFF"/>
                </a:solidFill>
                <a:latin typeface="Cambria"/>
                <a:ea typeface="Cambria"/>
                <a:cs typeface="Cambria"/>
                <a:sym typeface="Cambria"/>
              </a:rPr>
              <a:t>4</a:t>
            </a:r>
            <a:endParaRPr sz="2000">
              <a:solidFill>
                <a:schemeClr val="dk1"/>
              </a:solidFill>
              <a:latin typeface="Calibri"/>
              <a:ea typeface="Calibri"/>
              <a:cs typeface="Calibri"/>
              <a:sym typeface="Calibri"/>
            </a:endParaRPr>
          </a:p>
        </p:txBody>
      </p:sp>
      <p:sp>
        <p:nvSpPr>
          <p:cNvPr id="914" name="Google Shape;914;p43"/>
          <p:cNvSpPr/>
          <p:nvPr/>
        </p:nvSpPr>
        <p:spPr>
          <a:xfrm>
            <a:off x="9301734" y="2560859"/>
            <a:ext cx="2109978" cy="6858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rgbClr val="0F3D63"/>
              </a:buClr>
              <a:buSzPts val="1570"/>
              <a:buFont typeface="Cambria"/>
              <a:buNone/>
            </a:pPr>
            <a:r>
              <a:rPr lang="rw-RW" sz="2000" b="1" dirty="0">
                <a:solidFill>
                  <a:srgbClr val="0F3D63"/>
                </a:solidFill>
                <a:latin typeface="Cambria"/>
                <a:ea typeface="Cambria"/>
                <a:cs typeface="Cambria"/>
                <a:sym typeface="Cambria"/>
              </a:rPr>
              <a:t>Ibitaro by'inzobere</a:t>
            </a:r>
            <a:endParaRPr sz="1570" dirty="0">
              <a:solidFill>
                <a:schemeClr val="dk1"/>
              </a:solidFill>
              <a:latin typeface="Calibri"/>
              <a:ea typeface="Calibri"/>
              <a:cs typeface="Calibri"/>
              <a:sym typeface="Calibri"/>
            </a:endParaRPr>
          </a:p>
        </p:txBody>
      </p:sp>
      <p:sp>
        <p:nvSpPr>
          <p:cNvPr id="915" name="Google Shape;915;p43"/>
          <p:cNvSpPr/>
          <p:nvPr/>
        </p:nvSpPr>
        <p:spPr>
          <a:xfrm>
            <a:off x="9301734" y="3150918"/>
            <a:ext cx="2109978" cy="2015468"/>
          </a:xfrm>
          <a:prstGeom prst="rect">
            <a:avLst/>
          </a:prstGeom>
          <a:noFill/>
          <a:ln>
            <a:noFill/>
          </a:ln>
        </p:spPr>
        <p:txBody>
          <a:bodyPr spcFirstLastPara="1" wrap="square" lIns="0" tIns="0" rIns="0" bIns="0" anchor="t" anchorCtr="0">
            <a:normAutofit/>
          </a:bodyPr>
          <a:lstStyle/>
          <a:p>
            <a:pPr marL="0" marR="0" lvl="0" indent="0" algn="l" rtl="0">
              <a:lnSpc>
                <a:spcPct val="103000"/>
              </a:lnSpc>
              <a:spcBef>
                <a:spcPts val="0"/>
              </a:spcBef>
              <a:spcAft>
                <a:spcPts val="0"/>
              </a:spcAft>
              <a:buClr>
                <a:srgbClr val="16334F"/>
              </a:buClr>
              <a:buSzPts val="1548"/>
              <a:buFont typeface="Calibri"/>
              <a:buNone/>
            </a:pPr>
            <a:r>
              <a:rPr lang="rw-RW" sz="1800" dirty="0">
                <a:solidFill>
                  <a:srgbClr val="16334F"/>
                </a:solidFill>
                <a:latin typeface="Calibri"/>
                <a:ea typeface="Calibri"/>
                <a:cs typeface="Calibri"/>
                <a:sym typeface="Calibri"/>
              </a:rPr>
              <a:t>Ibipimo bya kamera, ibipimo by'uturemangingo n'ubuvuzi bwihariye bwa kanseri butangirwa hano.</a:t>
            </a:r>
            <a:endParaRPr sz="1548" dirty="0">
              <a:solidFill>
                <a:schemeClr val="dk1"/>
              </a:solidFill>
              <a:latin typeface="Calibri"/>
              <a:ea typeface="Calibri"/>
              <a:cs typeface="Calibri"/>
              <a:sym typeface="Calibri"/>
            </a:endParaRPr>
          </a:p>
        </p:txBody>
      </p:sp>
      <p:sp>
        <p:nvSpPr>
          <p:cNvPr id="918" name="Google Shape;918;p43"/>
          <p:cNvSpPr/>
          <p:nvPr/>
        </p:nvSpPr>
        <p:spPr>
          <a:xfrm>
            <a:off x="548640" y="5712263"/>
            <a:ext cx="11091672" cy="548640"/>
          </a:xfrm>
          <a:prstGeom prst="roundRect">
            <a:avLst>
              <a:gd name="adj" fmla="val 16667"/>
            </a:avLst>
          </a:prstGeom>
          <a:solidFill>
            <a:srgbClr val="FDF6E3"/>
          </a:solidFill>
          <a:ln w="12700" cap="flat" cmpd="sng">
            <a:solidFill>
              <a:srgbClr val="EFD9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9" name="Google Shape;919;p43"/>
          <p:cNvSpPr/>
          <p:nvPr/>
        </p:nvSpPr>
        <p:spPr>
          <a:xfrm>
            <a:off x="777240" y="5785415"/>
            <a:ext cx="10634472" cy="402336"/>
          </a:xfrm>
          <a:prstGeom prst="rect">
            <a:avLst/>
          </a:prstGeom>
          <a:noFill/>
          <a:ln>
            <a:noFill/>
          </a:ln>
        </p:spPr>
        <p:txBody>
          <a:bodyPr spcFirstLastPara="1" wrap="square" lIns="0" tIns="0" rIns="0" bIns="0" anchor="ctr" anchorCtr="0">
            <a:normAutofit lnSpcReduction="10000"/>
          </a:bodyPr>
          <a:lstStyle/>
          <a:p>
            <a:pPr marL="0" marR="0" lvl="0" indent="0" algn="l" rtl="0">
              <a:lnSpc>
                <a:spcPct val="80000"/>
              </a:lnSpc>
              <a:spcBef>
                <a:spcPts val="0"/>
              </a:spcBef>
              <a:spcAft>
                <a:spcPts val="0"/>
              </a:spcAft>
              <a:buClr>
                <a:srgbClr val="9C6500"/>
              </a:buClr>
              <a:buSzPts val="1584"/>
              <a:buFont typeface="Calibri"/>
              <a:buNone/>
            </a:pPr>
            <a:r>
              <a:rPr lang="rw-RW" sz="1800" dirty="0">
                <a:solidFill>
                  <a:srgbClr val="9C6500"/>
                </a:solidFill>
                <a:latin typeface="Calibri"/>
                <a:ea typeface="Calibri"/>
                <a:cs typeface="Calibri"/>
                <a:sym typeface="Calibri"/>
              </a:rPr>
              <a:t>Nta vuriro ritanga izo serivisi zose cyarimwe. Umuntu ashobora gukenera kujya ku mavuriro atandukanye. Ni ingenzi gutanga aya makuru mu ukuri ndetse ukanategura umuryango. </a:t>
            </a:r>
            <a:endParaRPr sz="1584" dirty="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24"/>
        <p:cNvGrpSpPr/>
        <p:nvPr/>
      </p:nvGrpSpPr>
      <p:grpSpPr>
        <a:xfrm>
          <a:off x="0" y="0"/>
          <a:ext cx="0" cy="0"/>
          <a:chOff x="0" y="0"/>
          <a:chExt cx="0" cy="0"/>
        </a:xfrm>
      </p:grpSpPr>
      <p:sp>
        <p:nvSpPr>
          <p:cNvPr id="925" name="Google Shape;925;p44"/>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3</a:t>
            </a:r>
            <a:endParaRPr sz="1100">
              <a:solidFill>
                <a:schemeClr val="dk1"/>
              </a:solidFill>
              <a:latin typeface="Calibri"/>
              <a:ea typeface="Calibri"/>
              <a:cs typeface="Calibri"/>
              <a:sym typeface="Calibri"/>
            </a:endParaRPr>
          </a:p>
        </p:txBody>
      </p:sp>
      <p:sp>
        <p:nvSpPr>
          <p:cNvPr id="926" name="Google Shape;926;p44"/>
          <p:cNvSpPr/>
          <p:nvPr/>
        </p:nvSpPr>
        <p:spPr>
          <a:xfrm>
            <a:off x="548640" y="685800"/>
            <a:ext cx="11064240" cy="62647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dirty="0">
                <a:solidFill>
                  <a:srgbClr val="0F3D63"/>
                </a:solidFill>
                <a:latin typeface="Cambria"/>
                <a:ea typeface="Cambria"/>
                <a:cs typeface="Cambria"/>
                <a:sym typeface="Cambria"/>
              </a:rPr>
              <a:t>Uyu muntu akeneye kwitabwaho byihuse gute?</a:t>
            </a:r>
            <a:endParaRPr sz="3400" dirty="0">
              <a:solidFill>
                <a:schemeClr val="dk1"/>
              </a:solidFill>
              <a:latin typeface="Calibri"/>
              <a:ea typeface="Calibri"/>
              <a:cs typeface="Calibri"/>
              <a:sym typeface="Calibri"/>
            </a:endParaRPr>
          </a:p>
        </p:txBody>
      </p:sp>
      <p:sp>
        <p:nvSpPr>
          <p:cNvPr id="927" name="Google Shape;927;p44"/>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928" name="Google Shape;928;p44"/>
          <p:cNvSpPr/>
          <p:nvPr/>
        </p:nvSpPr>
        <p:spPr>
          <a:xfrm>
            <a:off x="548640" y="1363078"/>
            <a:ext cx="3502152" cy="3930675"/>
          </a:xfrm>
          <a:prstGeom prst="roundRect">
            <a:avLst>
              <a:gd name="adj" fmla="val 461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29" name="Google Shape;929;p44"/>
          <p:cNvSpPr/>
          <p:nvPr/>
        </p:nvSpPr>
        <p:spPr>
          <a:xfrm>
            <a:off x="804672" y="1497012"/>
            <a:ext cx="2990088" cy="387806"/>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37"/>
              <a:buFont typeface="Cambria"/>
              <a:buNone/>
            </a:pPr>
            <a:r>
              <a:rPr lang="rw-RW" sz="2100" b="1" dirty="0">
                <a:solidFill>
                  <a:srgbClr val="0F3D63"/>
                </a:solidFill>
                <a:latin typeface="Cambria"/>
                <a:ea typeface="Cambria"/>
                <a:cs typeface="Cambria"/>
                <a:sym typeface="Cambria"/>
              </a:rPr>
              <a:t>Uyu munsi</a:t>
            </a:r>
            <a:endParaRPr sz="2037" dirty="0">
              <a:solidFill>
                <a:schemeClr val="dk1"/>
              </a:solidFill>
              <a:latin typeface="Calibri"/>
              <a:ea typeface="Calibri"/>
              <a:cs typeface="Calibri"/>
              <a:sym typeface="Calibri"/>
            </a:endParaRPr>
          </a:p>
        </p:txBody>
      </p:sp>
      <p:sp>
        <p:nvSpPr>
          <p:cNvPr id="930" name="Google Shape;930;p44"/>
          <p:cNvSpPr/>
          <p:nvPr/>
        </p:nvSpPr>
        <p:spPr>
          <a:xfrm>
            <a:off x="804672" y="2002853"/>
            <a:ext cx="2990088" cy="132588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85000"/>
              </a:lnSpc>
              <a:spcBef>
                <a:spcPts val="0"/>
              </a:spcBef>
              <a:spcAft>
                <a:spcPts val="0"/>
              </a:spcAft>
              <a:buClr>
                <a:srgbClr val="16334F"/>
              </a:buClr>
              <a:buSzPts val="1637"/>
              <a:buFont typeface="Calibri"/>
              <a:buNone/>
            </a:pPr>
            <a:r>
              <a:rPr lang="rw-RW" sz="1800" dirty="0">
                <a:solidFill>
                  <a:srgbClr val="16334F"/>
                </a:solidFill>
                <a:latin typeface="Calibri"/>
                <a:ea typeface="Calibri"/>
                <a:cs typeface="Calibri"/>
                <a:sym typeface="Calibri"/>
              </a:rPr>
              <a:t>Kuruka amaraso, umusarane wirabura nka kaburimbo, kutabasha kugumana amazi mu nda, gucika intege cyane hafi no kugwa. </a:t>
            </a:r>
            <a:br>
              <a:rPr lang="rw-RW" sz="1638" dirty="0">
                <a:solidFill>
                  <a:srgbClr val="16334F"/>
                </a:solidFill>
                <a:latin typeface="Calibri"/>
                <a:ea typeface="Calibri"/>
                <a:cs typeface="Calibri"/>
                <a:sym typeface="Calibri"/>
              </a:rPr>
            </a:br>
            <a:r>
              <a:rPr lang="rw-RW" sz="1800" dirty="0">
                <a:solidFill>
                  <a:srgbClr val="16334F"/>
                </a:solidFill>
                <a:latin typeface="Calibri"/>
                <a:ea typeface="Calibri"/>
                <a:cs typeface="Calibri"/>
                <a:sym typeface="Calibri"/>
              </a:rPr>
              <a:t>Fasha uyu muntu kuvuzwa uwo munsi.</a:t>
            </a:r>
            <a:endParaRPr sz="1638" dirty="0">
              <a:solidFill>
                <a:schemeClr val="dk1"/>
              </a:solidFill>
              <a:latin typeface="Calibri"/>
              <a:ea typeface="Calibri"/>
              <a:cs typeface="Calibri"/>
              <a:sym typeface="Calibri"/>
            </a:endParaRPr>
          </a:p>
        </p:txBody>
      </p:sp>
      <p:sp>
        <p:nvSpPr>
          <p:cNvPr id="931" name="Google Shape;931;p44"/>
          <p:cNvSpPr/>
          <p:nvPr/>
        </p:nvSpPr>
        <p:spPr>
          <a:xfrm>
            <a:off x="4343400" y="1363078"/>
            <a:ext cx="3502152" cy="3930675"/>
          </a:xfrm>
          <a:prstGeom prst="roundRect">
            <a:avLst>
              <a:gd name="adj" fmla="val 461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2" name="Google Shape;932;p44"/>
          <p:cNvSpPr/>
          <p:nvPr/>
        </p:nvSpPr>
        <p:spPr>
          <a:xfrm>
            <a:off x="4599432" y="1497012"/>
            <a:ext cx="2990088" cy="38780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037"/>
              <a:buFont typeface="Cambria"/>
              <a:buNone/>
            </a:pPr>
            <a:r>
              <a:rPr lang="rw-RW" sz="2100" b="1" dirty="0">
                <a:solidFill>
                  <a:srgbClr val="0F3D63"/>
                </a:solidFill>
                <a:latin typeface="Cambria"/>
                <a:ea typeface="Cambria"/>
                <a:cs typeface="Cambria"/>
                <a:sym typeface="Cambria"/>
              </a:rPr>
              <a:t>Bidatinze, mu minsi mike</a:t>
            </a:r>
            <a:endParaRPr sz="2100" dirty="0">
              <a:solidFill>
                <a:schemeClr val="dk1"/>
              </a:solidFill>
              <a:latin typeface="Calibri"/>
              <a:ea typeface="Calibri"/>
              <a:cs typeface="Calibri"/>
              <a:sym typeface="Calibri"/>
            </a:endParaRPr>
          </a:p>
        </p:txBody>
      </p:sp>
      <p:sp>
        <p:nvSpPr>
          <p:cNvPr id="933" name="Google Shape;933;p44"/>
          <p:cNvSpPr/>
          <p:nvPr/>
        </p:nvSpPr>
        <p:spPr>
          <a:xfrm>
            <a:off x="4599432" y="2191111"/>
            <a:ext cx="2990088" cy="219263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637"/>
              <a:buFont typeface="Calibri"/>
              <a:buNone/>
            </a:pPr>
            <a:r>
              <a:rPr lang="rw-RW" sz="1800" dirty="0">
                <a:solidFill>
                  <a:srgbClr val="16334F"/>
                </a:solidFill>
                <a:latin typeface="Calibri"/>
                <a:ea typeface="Calibri"/>
                <a:cs typeface="Calibri"/>
                <a:sym typeface="Calibri"/>
              </a:rPr>
              <a:t>Ububabare bwo mu nda bumaze ibyumweru bibiri, kurya bicye cyane, gutakaza ibiro atanagerageje, kumira bigoranye. </a:t>
            </a:r>
            <a:br>
              <a:rPr lang="rw-RW" sz="1638" dirty="0">
                <a:solidFill>
                  <a:srgbClr val="16334F"/>
                </a:solidFill>
                <a:latin typeface="Calibri"/>
                <a:ea typeface="Calibri"/>
                <a:cs typeface="Calibri"/>
                <a:sym typeface="Calibri"/>
              </a:rPr>
            </a:br>
            <a:r>
              <a:rPr lang="rw-RW" sz="1800" dirty="0">
                <a:solidFill>
                  <a:srgbClr val="16334F"/>
                </a:solidFill>
                <a:latin typeface="Calibri"/>
                <a:ea typeface="Calibri"/>
                <a:cs typeface="Calibri"/>
                <a:sym typeface="Calibri"/>
              </a:rPr>
              <a:t>Ntukemere ko ibi bikomeza gutinda.</a:t>
            </a:r>
            <a:endParaRPr sz="1638" dirty="0">
              <a:solidFill>
                <a:schemeClr val="dk1"/>
              </a:solidFill>
              <a:latin typeface="Calibri"/>
              <a:ea typeface="Calibri"/>
              <a:cs typeface="Calibri"/>
              <a:sym typeface="Calibri"/>
            </a:endParaRPr>
          </a:p>
        </p:txBody>
      </p:sp>
      <p:sp>
        <p:nvSpPr>
          <p:cNvPr id="934" name="Google Shape;934;p44"/>
          <p:cNvSpPr/>
          <p:nvPr/>
        </p:nvSpPr>
        <p:spPr>
          <a:xfrm>
            <a:off x="8138160" y="1363078"/>
            <a:ext cx="3502152" cy="3930675"/>
          </a:xfrm>
          <a:prstGeom prst="roundRect">
            <a:avLst>
              <a:gd name="adj" fmla="val 461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5" name="Google Shape;935;p44"/>
          <p:cNvSpPr/>
          <p:nvPr/>
        </p:nvSpPr>
        <p:spPr>
          <a:xfrm>
            <a:off x="8394192" y="1497012"/>
            <a:ext cx="2990088" cy="387806"/>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37"/>
              <a:buFont typeface="Cambria"/>
              <a:buNone/>
            </a:pPr>
            <a:r>
              <a:rPr lang="rw-RW" sz="2100" b="1" dirty="0">
                <a:solidFill>
                  <a:srgbClr val="0F3D63"/>
                </a:solidFill>
                <a:latin typeface="Cambria"/>
                <a:ea typeface="Cambria"/>
                <a:cs typeface="Cambria"/>
                <a:sym typeface="Cambria"/>
              </a:rPr>
              <a:t>Komeza gukurikirana</a:t>
            </a:r>
            <a:endParaRPr sz="2037" dirty="0">
              <a:solidFill>
                <a:schemeClr val="dk1"/>
              </a:solidFill>
              <a:latin typeface="Calibri"/>
              <a:ea typeface="Calibri"/>
              <a:cs typeface="Calibri"/>
              <a:sym typeface="Calibri"/>
            </a:endParaRPr>
          </a:p>
        </p:txBody>
      </p:sp>
      <p:sp>
        <p:nvSpPr>
          <p:cNvPr id="936" name="Google Shape;936;p44"/>
          <p:cNvSpPr/>
          <p:nvPr/>
        </p:nvSpPr>
        <p:spPr>
          <a:xfrm>
            <a:off x="8394192" y="2002853"/>
            <a:ext cx="2990088" cy="1325880"/>
          </a:xfrm>
          <a:prstGeom prst="rect">
            <a:avLst/>
          </a:prstGeom>
          <a:noFill/>
          <a:ln>
            <a:noFill/>
          </a:ln>
        </p:spPr>
        <p:txBody>
          <a:bodyPr spcFirstLastPara="1" wrap="square" lIns="0" tIns="0" rIns="0" bIns="0" anchor="t" anchorCtr="0">
            <a:normAutofit/>
          </a:bodyPr>
          <a:lstStyle/>
          <a:p>
            <a:pPr marL="0" marR="0" lvl="0" indent="0" algn="l" rtl="0">
              <a:lnSpc>
                <a:spcPct val="95000"/>
              </a:lnSpc>
              <a:spcBef>
                <a:spcPts val="0"/>
              </a:spcBef>
              <a:spcAft>
                <a:spcPts val="0"/>
              </a:spcAft>
              <a:buClr>
                <a:srgbClr val="16334F"/>
              </a:buClr>
              <a:buSzPts val="1773"/>
              <a:buFont typeface="Calibri"/>
              <a:buNone/>
            </a:pPr>
            <a:r>
              <a:rPr lang="rw-RW" sz="1800" dirty="0">
                <a:solidFill>
                  <a:srgbClr val="16334F"/>
                </a:solidFill>
                <a:latin typeface="Calibri"/>
                <a:ea typeface="Calibri"/>
                <a:cs typeface="Calibri"/>
                <a:sym typeface="Calibri"/>
              </a:rPr>
              <a:t>Ikibazo cy'igihe gito kitari ikimenyetso mpuruza. </a:t>
            </a:r>
            <a:br>
              <a:rPr lang="rw-RW" sz="1773" dirty="0">
                <a:solidFill>
                  <a:srgbClr val="16334F"/>
                </a:solidFill>
                <a:latin typeface="Calibri"/>
                <a:ea typeface="Calibri"/>
                <a:cs typeface="Calibri"/>
                <a:sym typeface="Calibri"/>
              </a:rPr>
            </a:br>
            <a:r>
              <a:rPr lang="rw-RW" sz="1800" dirty="0">
                <a:solidFill>
                  <a:srgbClr val="16334F"/>
                </a:solidFill>
                <a:latin typeface="Calibri"/>
                <a:ea typeface="Calibri"/>
                <a:cs typeface="Calibri"/>
                <a:sym typeface="Calibri"/>
              </a:rPr>
              <a:t>Bwira uwo muntu icyo agomba kwitaho, hanyuma ujye ugaruke kumureba.</a:t>
            </a:r>
            <a:endParaRPr sz="1773" dirty="0">
              <a:solidFill>
                <a:schemeClr val="dk1"/>
              </a:solidFill>
              <a:latin typeface="Calibri"/>
              <a:ea typeface="Calibri"/>
              <a:cs typeface="Calibri"/>
              <a:sym typeface="Calibri"/>
            </a:endParaRPr>
          </a:p>
        </p:txBody>
      </p:sp>
      <p:sp>
        <p:nvSpPr>
          <p:cNvPr id="937" name="Google Shape;937;p44"/>
          <p:cNvSpPr/>
          <p:nvPr/>
        </p:nvSpPr>
        <p:spPr>
          <a:xfrm>
            <a:off x="548640" y="5501940"/>
            <a:ext cx="11091672" cy="658368"/>
          </a:xfrm>
          <a:prstGeom prst="roundRect">
            <a:avLst>
              <a:gd name="adj" fmla="val 13889"/>
            </a:avLst>
          </a:prstGeom>
          <a:solidFill>
            <a:srgbClr val="FDF6E3"/>
          </a:solidFill>
          <a:ln w="12700" cap="flat" cmpd="sng">
            <a:solidFill>
              <a:srgbClr val="EFD9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8" name="Google Shape;938;p44"/>
          <p:cNvSpPr/>
          <p:nvPr/>
        </p:nvSpPr>
        <p:spPr>
          <a:xfrm>
            <a:off x="777240" y="5575092"/>
            <a:ext cx="10634472"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C6500"/>
              </a:buClr>
              <a:buSzPts val="1700"/>
              <a:buFont typeface="Calibri"/>
              <a:buNone/>
            </a:pPr>
            <a:r>
              <a:rPr lang="rw-RW" sz="1700" dirty="0">
                <a:solidFill>
                  <a:srgbClr val="9C6500"/>
                </a:solidFill>
                <a:latin typeface="Calibri"/>
                <a:ea typeface="Calibri"/>
                <a:cs typeface="Calibri"/>
                <a:sym typeface="Calibri"/>
              </a:rPr>
              <a:t>Ntuzigere uvuga gusa ngo “ uzivuze nibikomera". Sobanura neza igishobora kubaho, aho umuntu agomba kujya, n'igihe yajyayo.</a:t>
            </a:r>
            <a:endParaRPr sz="1700" dirty="0">
              <a:solidFill>
                <a:schemeClr val="dk1"/>
              </a:solidFill>
              <a:latin typeface="Calibri"/>
              <a:ea typeface="Calibri"/>
              <a:cs typeface="Calibri"/>
              <a:sym typeface="Calibri"/>
            </a:endParaRPr>
          </a:p>
        </p:txBody>
      </p:sp>
      <p:pic>
        <p:nvPicPr>
          <p:cNvPr id="941" name="Google Shape;941;p44"/>
          <p:cNvPicPr preferRelativeResize="0"/>
          <p:nvPr/>
        </p:nvPicPr>
        <p:blipFill rotWithShape="1">
          <a:blip r:embed="rId3">
            <a:alphaModFix/>
          </a:blip>
          <a:srcRect/>
          <a:stretch/>
        </p:blipFill>
        <p:spPr>
          <a:xfrm>
            <a:off x="1974107" y="3907901"/>
            <a:ext cx="651218" cy="1158336"/>
          </a:xfrm>
          <a:prstGeom prst="rect">
            <a:avLst/>
          </a:prstGeom>
          <a:noFill/>
          <a:ln>
            <a:noFill/>
          </a:ln>
        </p:spPr>
      </p:pic>
      <p:pic>
        <p:nvPicPr>
          <p:cNvPr id="942" name="Google Shape;942;p44"/>
          <p:cNvPicPr preferRelativeResize="0"/>
          <p:nvPr/>
        </p:nvPicPr>
        <p:blipFill rotWithShape="1">
          <a:blip r:embed="rId4">
            <a:alphaModFix/>
          </a:blip>
          <a:srcRect/>
          <a:stretch/>
        </p:blipFill>
        <p:spPr>
          <a:xfrm>
            <a:off x="5709441" y="3969943"/>
            <a:ext cx="742637" cy="1158336"/>
          </a:xfrm>
          <a:prstGeom prst="rect">
            <a:avLst/>
          </a:prstGeom>
          <a:noFill/>
          <a:ln>
            <a:noFill/>
          </a:ln>
        </p:spPr>
      </p:pic>
      <p:pic>
        <p:nvPicPr>
          <p:cNvPr id="943" name="Google Shape;943;p44"/>
          <p:cNvPicPr preferRelativeResize="0"/>
          <p:nvPr/>
        </p:nvPicPr>
        <p:blipFill rotWithShape="1">
          <a:blip r:embed="rId5">
            <a:alphaModFix/>
          </a:blip>
          <a:srcRect/>
          <a:stretch/>
        </p:blipFill>
        <p:spPr>
          <a:xfrm>
            <a:off x="9503124" y="3907901"/>
            <a:ext cx="772224" cy="115833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48"/>
        <p:cNvGrpSpPr/>
        <p:nvPr/>
      </p:nvGrpSpPr>
      <p:grpSpPr>
        <a:xfrm>
          <a:off x="0" y="0"/>
          <a:ext cx="0" cy="0"/>
          <a:chOff x="0" y="0"/>
          <a:chExt cx="0" cy="0"/>
        </a:xfrm>
      </p:grpSpPr>
      <p:sp>
        <p:nvSpPr>
          <p:cNvPr id="949" name="Google Shape;949;p45"/>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3</a:t>
            </a:r>
            <a:endParaRPr sz="1100">
              <a:solidFill>
                <a:schemeClr val="dk1"/>
              </a:solidFill>
              <a:latin typeface="Calibri"/>
              <a:ea typeface="Calibri"/>
              <a:cs typeface="Calibri"/>
              <a:sym typeface="Calibri"/>
            </a:endParaRPr>
          </a:p>
        </p:txBody>
      </p:sp>
      <p:sp>
        <p:nvSpPr>
          <p:cNvPr id="950" name="Google Shape;950;p45"/>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dirty="0">
                <a:solidFill>
                  <a:srgbClr val="0F3D63"/>
                </a:solidFill>
                <a:latin typeface="Cambria"/>
                <a:ea typeface="Cambria"/>
                <a:cs typeface="Cambria"/>
                <a:sym typeface="Cambria"/>
              </a:rPr>
              <a:t>Uburyo bwo kuganira</a:t>
            </a:r>
            <a:endParaRPr sz="3400" dirty="0">
              <a:solidFill>
                <a:schemeClr val="dk1"/>
              </a:solidFill>
              <a:latin typeface="Calibri"/>
              <a:ea typeface="Calibri"/>
              <a:cs typeface="Calibri"/>
              <a:sym typeface="Calibri"/>
            </a:endParaRPr>
          </a:p>
        </p:txBody>
      </p:sp>
      <p:sp>
        <p:nvSpPr>
          <p:cNvPr id="951" name="Google Shape;951;p45"/>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952" name="Google Shape;952;p45"/>
          <p:cNvSpPr/>
          <p:nvPr/>
        </p:nvSpPr>
        <p:spPr>
          <a:xfrm>
            <a:off x="548640" y="1299945"/>
            <a:ext cx="3502152" cy="2248489"/>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3" name="Google Shape;953;p45"/>
          <p:cNvSpPr/>
          <p:nvPr/>
        </p:nvSpPr>
        <p:spPr>
          <a:xfrm>
            <a:off x="804672" y="1501114"/>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79"/>
              <a:buFont typeface="Cambria"/>
              <a:buNone/>
            </a:pPr>
            <a:r>
              <a:rPr lang="rw-RW" sz="2100" b="1" dirty="0">
                <a:solidFill>
                  <a:srgbClr val="0F3D63"/>
                </a:solidFill>
                <a:latin typeface="Cambria"/>
                <a:ea typeface="Cambria"/>
                <a:cs typeface="Cambria"/>
                <a:sym typeface="Cambria"/>
              </a:rPr>
              <a:t>💬 Banza utege amatwi</a:t>
            </a:r>
            <a:endParaRPr sz="2079" dirty="0">
              <a:solidFill>
                <a:schemeClr val="dk1"/>
              </a:solidFill>
              <a:latin typeface="Calibri"/>
              <a:ea typeface="Calibri"/>
              <a:cs typeface="Calibri"/>
              <a:sym typeface="Calibri"/>
            </a:endParaRPr>
          </a:p>
        </p:txBody>
      </p:sp>
      <p:sp>
        <p:nvSpPr>
          <p:cNvPr id="954" name="Google Shape;954;p45"/>
          <p:cNvSpPr/>
          <p:nvPr/>
        </p:nvSpPr>
        <p:spPr>
          <a:xfrm>
            <a:off x="804672" y="1895907"/>
            <a:ext cx="2990088" cy="1394894"/>
          </a:xfrm>
          <a:prstGeom prst="rect">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16334F"/>
              </a:buClr>
              <a:buSzPts val="1557"/>
              <a:buFont typeface="Calibri"/>
              <a:buNone/>
            </a:pPr>
            <a:r>
              <a:rPr lang="rw-RW" sz="1800" dirty="0">
                <a:solidFill>
                  <a:srgbClr val="16334F"/>
                </a:solidFill>
                <a:latin typeface="Calibri"/>
                <a:ea typeface="Calibri"/>
                <a:cs typeface="Calibri"/>
                <a:sym typeface="Calibri"/>
              </a:rPr>
              <a:t>Reka umuntu abanze avuge, arangize. Baza igihe ibimenyetso bimaze n’ikimuhangayikishije kurusha ibindi. Muganirize, utamwihutisha</a:t>
            </a:r>
            <a:endParaRPr sz="1800" dirty="0">
              <a:solidFill>
                <a:schemeClr val="dk1"/>
              </a:solidFill>
              <a:latin typeface="Calibri"/>
              <a:ea typeface="Calibri"/>
              <a:cs typeface="Calibri"/>
              <a:sym typeface="Calibri"/>
            </a:endParaRPr>
          </a:p>
        </p:txBody>
      </p:sp>
      <p:sp>
        <p:nvSpPr>
          <p:cNvPr id="955" name="Google Shape;955;p45"/>
          <p:cNvSpPr/>
          <p:nvPr/>
        </p:nvSpPr>
        <p:spPr>
          <a:xfrm>
            <a:off x="4343400" y="1299945"/>
            <a:ext cx="3502152" cy="2370051"/>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6" name="Google Shape;956;p45"/>
          <p:cNvSpPr/>
          <p:nvPr/>
        </p:nvSpPr>
        <p:spPr>
          <a:xfrm>
            <a:off x="4599432" y="1501114"/>
            <a:ext cx="2990088" cy="566928"/>
          </a:xfrm>
          <a:prstGeom prst="rect">
            <a:avLst/>
          </a:prstGeom>
          <a:noFill/>
          <a:ln>
            <a:noFill/>
          </a:ln>
        </p:spPr>
        <p:txBody>
          <a:bodyPr spcFirstLastPara="1" wrap="square" lIns="0" tIns="0" rIns="0" bIns="0" anchor="t" anchorCtr="0">
            <a:normAutofit lnSpcReduction="10000"/>
          </a:bodyPr>
          <a:lstStyle/>
          <a:p>
            <a:pPr marL="0" marR="0" lvl="0" indent="0" algn="l" rtl="0">
              <a:lnSpc>
                <a:spcPct val="90000"/>
              </a:lnSpc>
              <a:spcBef>
                <a:spcPts val="0"/>
              </a:spcBef>
              <a:spcAft>
                <a:spcPts val="0"/>
              </a:spcAft>
              <a:buClr>
                <a:srgbClr val="0F3D63"/>
              </a:buClr>
              <a:buSzPts val="1921"/>
              <a:buFont typeface="Cambria"/>
              <a:buNone/>
            </a:pPr>
            <a:r>
              <a:rPr lang="rw-RW" sz="2100" b="1" dirty="0">
                <a:solidFill>
                  <a:srgbClr val="0F3D63"/>
                </a:solidFill>
                <a:latin typeface="Cambria"/>
                <a:ea typeface="Cambria"/>
                <a:cs typeface="Cambria"/>
                <a:sym typeface="Cambria"/>
              </a:rPr>
              <a:t>💬 Sobanura mu magambo yoroshye.</a:t>
            </a:r>
            <a:endParaRPr sz="1922" dirty="0">
              <a:solidFill>
                <a:schemeClr val="dk1"/>
              </a:solidFill>
              <a:latin typeface="Calibri"/>
              <a:ea typeface="Calibri"/>
              <a:cs typeface="Calibri"/>
              <a:sym typeface="Calibri"/>
            </a:endParaRPr>
          </a:p>
        </p:txBody>
      </p:sp>
      <p:sp>
        <p:nvSpPr>
          <p:cNvPr id="957" name="Google Shape;957;p45"/>
          <p:cNvSpPr/>
          <p:nvPr/>
        </p:nvSpPr>
        <p:spPr>
          <a:xfrm>
            <a:off x="4585716" y="2068042"/>
            <a:ext cx="2990088" cy="1394894"/>
          </a:xfrm>
          <a:prstGeom prst="rect">
            <a:avLst/>
          </a:prstGeom>
          <a:noFill/>
          <a:ln>
            <a:noFill/>
          </a:ln>
        </p:spPr>
        <p:txBody>
          <a:bodyPr spcFirstLastPara="1" wrap="square" lIns="0" tIns="0" rIns="0" bIns="0" anchor="t" anchorCtr="0">
            <a:noAutofit/>
          </a:bodyPr>
          <a:lstStyle/>
          <a:p>
            <a:pPr marL="0" marR="0" lvl="0" indent="0" algn="l" rtl="0">
              <a:lnSpc>
                <a:spcPct val="95000"/>
              </a:lnSpc>
              <a:spcBef>
                <a:spcPts val="0"/>
              </a:spcBef>
              <a:spcAft>
                <a:spcPts val="0"/>
              </a:spcAft>
              <a:buClr>
                <a:srgbClr val="16334F"/>
              </a:buClr>
              <a:buSzPts val="1422"/>
              <a:buFont typeface="Calibri"/>
              <a:buNone/>
            </a:pPr>
            <a:r>
              <a:rPr lang="rw-RW" sz="1800" dirty="0">
                <a:solidFill>
                  <a:srgbClr val="16334F"/>
                </a:solidFill>
                <a:latin typeface="Calibri"/>
                <a:ea typeface="Calibri"/>
                <a:cs typeface="Calibri"/>
                <a:sym typeface="Calibri"/>
              </a:rPr>
              <a:t>Sobanura ko ibimenyetso bishobora guterwa n’impamvu zitandukanye, ko kwisuzumisha bifasha kumenya ikibitera, kandi inyinshi zishobora kuvurwa.</a:t>
            </a:r>
            <a:endParaRPr sz="1800" dirty="0">
              <a:solidFill>
                <a:schemeClr val="dk1"/>
              </a:solidFill>
              <a:latin typeface="Calibri"/>
              <a:ea typeface="Calibri"/>
              <a:cs typeface="Calibri"/>
              <a:sym typeface="Calibri"/>
            </a:endParaRPr>
          </a:p>
        </p:txBody>
      </p:sp>
      <p:sp>
        <p:nvSpPr>
          <p:cNvPr id="958" name="Google Shape;958;p45"/>
          <p:cNvSpPr/>
          <p:nvPr/>
        </p:nvSpPr>
        <p:spPr>
          <a:xfrm>
            <a:off x="8138160" y="1299945"/>
            <a:ext cx="3502152" cy="2248489"/>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9" name="Google Shape;959;p45"/>
          <p:cNvSpPr/>
          <p:nvPr/>
        </p:nvSpPr>
        <p:spPr>
          <a:xfrm>
            <a:off x="8394192" y="1501114"/>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79"/>
              <a:buFont typeface="Cambria"/>
              <a:buNone/>
            </a:pPr>
            <a:r>
              <a:rPr lang="rw-RW" sz="2100" b="1">
                <a:solidFill>
                  <a:srgbClr val="0F3D63"/>
                </a:solidFill>
                <a:latin typeface="Cambria"/>
                <a:ea typeface="Cambria"/>
                <a:cs typeface="Cambria"/>
                <a:sym typeface="Cambria"/>
              </a:rPr>
              <a:t>💬 Ntuzigere ushinja</a:t>
            </a:r>
            <a:endParaRPr sz="2079">
              <a:solidFill>
                <a:schemeClr val="dk1"/>
              </a:solidFill>
              <a:latin typeface="Calibri"/>
              <a:ea typeface="Calibri"/>
              <a:cs typeface="Calibri"/>
              <a:sym typeface="Calibri"/>
            </a:endParaRPr>
          </a:p>
        </p:txBody>
      </p:sp>
      <p:sp>
        <p:nvSpPr>
          <p:cNvPr id="960" name="Google Shape;960;p45"/>
          <p:cNvSpPr/>
          <p:nvPr/>
        </p:nvSpPr>
        <p:spPr>
          <a:xfrm>
            <a:off x="8394192" y="2141194"/>
            <a:ext cx="2990088" cy="1394894"/>
          </a:xfrm>
          <a:prstGeom prst="rect">
            <a:avLst/>
          </a:prstGeom>
          <a:noFill/>
          <a:ln>
            <a:noFill/>
          </a:ln>
        </p:spPr>
        <p:txBody>
          <a:bodyPr spcFirstLastPara="1" wrap="square" lIns="0" tIns="0" rIns="0" bIns="0" anchor="t" anchorCtr="0">
            <a:normAutofit/>
          </a:bodyPr>
          <a:lstStyle/>
          <a:p>
            <a:pPr marL="0" marR="0" lvl="0" indent="0" algn="l" rtl="0">
              <a:lnSpc>
                <a:spcPct val="95000"/>
              </a:lnSpc>
              <a:spcBef>
                <a:spcPts val="0"/>
              </a:spcBef>
              <a:spcAft>
                <a:spcPts val="0"/>
              </a:spcAft>
              <a:buClr>
                <a:srgbClr val="16334F"/>
              </a:buClr>
              <a:buSzPts val="1557"/>
              <a:buFont typeface="Calibri"/>
              <a:buNone/>
            </a:pPr>
            <a:r>
              <a:rPr lang="rw-RW" sz="1800" dirty="0">
                <a:solidFill>
                  <a:srgbClr val="16334F"/>
                </a:solidFill>
                <a:latin typeface="Calibri"/>
                <a:ea typeface="Calibri"/>
                <a:cs typeface="Calibri"/>
                <a:sym typeface="Calibri"/>
              </a:rPr>
              <a:t>Ntuvuge ko uwo muntu yategereje igihe kirekire cyangwa ko yabyiteye. Gushinja abantu bituma baguhisha ibibazo byabo.</a:t>
            </a:r>
            <a:endParaRPr sz="1557" dirty="0">
              <a:solidFill>
                <a:schemeClr val="dk1"/>
              </a:solidFill>
              <a:latin typeface="Calibri"/>
              <a:ea typeface="Calibri"/>
              <a:cs typeface="Calibri"/>
              <a:sym typeface="Calibri"/>
            </a:endParaRPr>
          </a:p>
        </p:txBody>
      </p:sp>
      <p:sp>
        <p:nvSpPr>
          <p:cNvPr id="961" name="Google Shape;961;p45"/>
          <p:cNvSpPr/>
          <p:nvPr/>
        </p:nvSpPr>
        <p:spPr>
          <a:xfrm>
            <a:off x="548640" y="3852876"/>
            <a:ext cx="3502152" cy="2319324"/>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2" name="Google Shape;962;p45"/>
          <p:cNvSpPr/>
          <p:nvPr/>
        </p:nvSpPr>
        <p:spPr>
          <a:xfrm>
            <a:off x="804672" y="4054044"/>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79"/>
              <a:buFont typeface="Cambria"/>
              <a:buNone/>
            </a:pPr>
            <a:r>
              <a:rPr lang="rw-RW" sz="2100" b="1">
                <a:solidFill>
                  <a:srgbClr val="0F3D63"/>
                </a:solidFill>
                <a:latin typeface="Cambria"/>
                <a:ea typeface="Cambria"/>
                <a:cs typeface="Cambria"/>
                <a:sym typeface="Cambria"/>
              </a:rPr>
              <a:t>💬 Vugisha ukuri</a:t>
            </a:r>
            <a:endParaRPr sz="2079">
              <a:solidFill>
                <a:schemeClr val="dk1"/>
              </a:solidFill>
              <a:latin typeface="Calibri"/>
              <a:ea typeface="Calibri"/>
              <a:cs typeface="Calibri"/>
              <a:sym typeface="Calibri"/>
            </a:endParaRPr>
          </a:p>
        </p:txBody>
      </p:sp>
      <p:sp>
        <p:nvSpPr>
          <p:cNvPr id="963" name="Google Shape;963;p45"/>
          <p:cNvSpPr/>
          <p:nvPr/>
        </p:nvSpPr>
        <p:spPr>
          <a:xfrm>
            <a:off x="804672" y="4505865"/>
            <a:ext cx="2990088" cy="1591581"/>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557"/>
              <a:buFont typeface="Calibri"/>
              <a:buNone/>
            </a:pPr>
            <a:r>
              <a:rPr lang="rw-RW" sz="1800" dirty="0">
                <a:solidFill>
                  <a:srgbClr val="16334F"/>
                </a:solidFill>
                <a:latin typeface="Calibri"/>
                <a:ea typeface="Calibri"/>
                <a:cs typeface="Calibri"/>
                <a:sym typeface="Calibri"/>
              </a:rPr>
              <a:t>Ntugasezeranye ko nta kintu na kimwe kirimo. Vuga ko utabizi, niyo mpamvu kwisuzumisha ari ngombwa.</a:t>
            </a:r>
            <a:endParaRPr sz="1557" dirty="0">
              <a:solidFill>
                <a:schemeClr val="dk1"/>
              </a:solidFill>
              <a:latin typeface="Calibri"/>
              <a:ea typeface="Calibri"/>
              <a:cs typeface="Calibri"/>
              <a:sym typeface="Calibri"/>
            </a:endParaRPr>
          </a:p>
        </p:txBody>
      </p:sp>
      <p:sp>
        <p:nvSpPr>
          <p:cNvPr id="964" name="Google Shape;964;p45"/>
          <p:cNvSpPr/>
          <p:nvPr/>
        </p:nvSpPr>
        <p:spPr>
          <a:xfrm>
            <a:off x="4343400" y="3852876"/>
            <a:ext cx="3502152" cy="2319324"/>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5" name="Google Shape;965;p45"/>
          <p:cNvSpPr/>
          <p:nvPr/>
        </p:nvSpPr>
        <p:spPr>
          <a:xfrm>
            <a:off x="4599432" y="4054044"/>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79"/>
              <a:buFont typeface="Cambria"/>
              <a:buNone/>
            </a:pPr>
            <a:r>
              <a:rPr lang="rw-RW" sz="2100" b="1" dirty="0">
                <a:solidFill>
                  <a:srgbClr val="0F3D63"/>
                </a:solidFill>
                <a:latin typeface="Cambria"/>
                <a:ea typeface="Cambria"/>
                <a:cs typeface="Cambria"/>
                <a:sym typeface="Cambria"/>
              </a:rPr>
              <a:t>💬 Bereke ibishoboka</a:t>
            </a:r>
            <a:endParaRPr sz="2079" dirty="0">
              <a:solidFill>
                <a:schemeClr val="dk1"/>
              </a:solidFill>
              <a:latin typeface="Calibri"/>
              <a:ea typeface="Calibri"/>
              <a:cs typeface="Calibri"/>
              <a:sym typeface="Calibri"/>
            </a:endParaRPr>
          </a:p>
        </p:txBody>
      </p:sp>
      <p:sp>
        <p:nvSpPr>
          <p:cNvPr id="966" name="Google Shape;966;p45"/>
          <p:cNvSpPr/>
          <p:nvPr/>
        </p:nvSpPr>
        <p:spPr>
          <a:xfrm>
            <a:off x="4599432" y="4505865"/>
            <a:ext cx="2990088" cy="1591581"/>
          </a:xfrm>
          <a:prstGeom prst="rect">
            <a:avLst/>
          </a:prstGeom>
          <a:noFill/>
          <a:ln>
            <a:noFill/>
          </a:ln>
        </p:spPr>
        <p:txBody>
          <a:bodyPr spcFirstLastPara="1" wrap="square" lIns="0" tIns="0" rIns="0" bIns="0" anchor="t" anchorCtr="0">
            <a:normAutofit/>
          </a:bodyPr>
          <a:lstStyle/>
          <a:p>
            <a:pPr marL="0" marR="0" lvl="0" indent="0" algn="l" rtl="0">
              <a:lnSpc>
                <a:spcPct val="95000"/>
              </a:lnSpc>
              <a:spcBef>
                <a:spcPts val="0"/>
              </a:spcBef>
              <a:spcAft>
                <a:spcPts val="0"/>
              </a:spcAft>
              <a:buClr>
                <a:srgbClr val="16334F"/>
              </a:buClr>
              <a:buSzPts val="1557"/>
              <a:buFont typeface="Calibri"/>
              <a:buNone/>
            </a:pPr>
            <a:r>
              <a:rPr lang="rw-RW" sz="1800" dirty="0">
                <a:solidFill>
                  <a:srgbClr val="16334F"/>
                </a:solidFill>
                <a:latin typeface="Calibri"/>
                <a:ea typeface="Calibri"/>
                <a:cs typeface="Calibri"/>
                <a:sym typeface="Calibri"/>
              </a:rPr>
              <a:t>Vuga ku bijyanye n’ingendo n’amafaranga, akazi k'ubuhinzi no kwita ku bana. Fasha umuryango gukemura inzitizi nyayo.</a:t>
            </a:r>
            <a:endParaRPr sz="1557" dirty="0">
              <a:solidFill>
                <a:schemeClr val="dk1"/>
              </a:solidFill>
              <a:latin typeface="Calibri"/>
              <a:ea typeface="Calibri"/>
              <a:cs typeface="Calibri"/>
              <a:sym typeface="Calibri"/>
            </a:endParaRPr>
          </a:p>
        </p:txBody>
      </p:sp>
      <p:sp>
        <p:nvSpPr>
          <p:cNvPr id="967" name="Google Shape;967;p45"/>
          <p:cNvSpPr/>
          <p:nvPr/>
        </p:nvSpPr>
        <p:spPr>
          <a:xfrm>
            <a:off x="8138160" y="3852876"/>
            <a:ext cx="3502152" cy="2319324"/>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8" name="Google Shape;968;p45"/>
          <p:cNvSpPr/>
          <p:nvPr/>
        </p:nvSpPr>
        <p:spPr>
          <a:xfrm>
            <a:off x="8394192" y="4054044"/>
            <a:ext cx="3218688" cy="566928"/>
          </a:xfrm>
          <a:prstGeom prst="rect">
            <a:avLst/>
          </a:prstGeom>
          <a:noFill/>
          <a:ln>
            <a:noFill/>
          </a:ln>
        </p:spPr>
        <p:txBody>
          <a:bodyPr spcFirstLastPara="1" wrap="square" lIns="0" tIns="0" rIns="0" bIns="0" anchor="t" anchorCtr="0">
            <a:normAutofit lnSpcReduction="10000"/>
          </a:bodyPr>
          <a:lstStyle/>
          <a:p>
            <a:pPr marL="0" marR="0" lvl="0" indent="0" algn="l" rtl="0">
              <a:lnSpc>
                <a:spcPct val="90000"/>
              </a:lnSpc>
              <a:spcBef>
                <a:spcPts val="0"/>
              </a:spcBef>
              <a:spcAft>
                <a:spcPts val="0"/>
              </a:spcAft>
              <a:buClr>
                <a:srgbClr val="0F3D63"/>
              </a:buClr>
              <a:buSzPts val="1921"/>
              <a:buFont typeface="Cambria"/>
              <a:buNone/>
            </a:pPr>
            <a:r>
              <a:rPr lang="rw-RW" sz="2100" b="1" dirty="0">
                <a:solidFill>
                  <a:srgbClr val="0F3D63"/>
                </a:solidFill>
                <a:latin typeface="Cambria"/>
                <a:ea typeface="Cambria"/>
                <a:cs typeface="Cambria"/>
                <a:sym typeface="Cambria"/>
              </a:rPr>
              <a:t>💬 Mwemeranye ku intambwe ikurikira</a:t>
            </a:r>
            <a:endParaRPr sz="1922" dirty="0">
              <a:solidFill>
                <a:schemeClr val="dk1"/>
              </a:solidFill>
              <a:latin typeface="Calibri"/>
              <a:ea typeface="Calibri"/>
              <a:cs typeface="Calibri"/>
              <a:sym typeface="Calibri"/>
            </a:endParaRPr>
          </a:p>
        </p:txBody>
      </p:sp>
      <p:sp>
        <p:nvSpPr>
          <p:cNvPr id="969" name="Google Shape;969;p45"/>
          <p:cNvSpPr/>
          <p:nvPr/>
        </p:nvSpPr>
        <p:spPr>
          <a:xfrm>
            <a:off x="8394192" y="4694124"/>
            <a:ext cx="2990088" cy="9601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95000"/>
              </a:lnSpc>
              <a:spcBef>
                <a:spcPts val="0"/>
              </a:spcBef>
              <a:spcAft>
                <a:spcPts val="0"/>
              </a:spcAft>
              <a:buClr>
                <a:srgbClr val="16334F"/>
              </a:buClr>
              <a:buSzPts val="1557"/>
              <a:buFont typeface="Calibri"/>
              <a:buNone/>
            </a:pPr>
            <a:r>
              <a:rPr lang="rw-RW" sz="1800" dirty="0">
                <a:solidFill>
                  <a:srgbClr val="16334F"/>
                </a:solidFill>
                <a:latin typeface="Calibri"/>
                <a:ea typeface="Calibri"/>
                <a:cs typeface="Calibri"/>
                <a:sym typeface="Calibri"/>
              </a:rPr>
              <a:t>Mbere y'uko ugenda, jya wemeranya n'uzajya kwivuza, aho uzajya, n'igihe azagirayo. Vuga ko uzagaruka kubaza uko byagenze.</a:t>
            </a:r>
            <a:endParaRPr sz="1557" dirty="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74"/>
        <p:cNvGrpSpPr/>
        <p:nvPr/>
      </p:nvGrpSpPr>
      <p:grpSpPr>
        <a:xfrm>
          <a:off x="0" y="0"/>
          <a:ext cx="0" cy="0"/>
          <a:chOff x="0" y="0"/>
          <a:chExt cx="0" cy="0"/>
        </a:xfrm>
      </p:grpSpPr>
      <p:sp>
        <p:nvSpPr>
          <p:cNvPr id="975" name="Google Shape;975;p46"/>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3</a:t>
            </a:r>
            <a:endParaRPr sz="1100">
              <a:solidFill>
                <a:schemeClr val="dk1"/>
              </a:solidFill>
              <a:latin typeface="Calibri"/>
              <a:ea typeface="Calibri"/>
              <a:cs typeface="Calibri"/>
              <a:sym typeface="Calibri"/>
            </a:endParaRPr>
          </a:p>
        </p:txBody>
      </p:sp>
      <p:sp>
        <p:nvSpPr>
          <p:cNvPr id="976" name="Google Shape;976;p46"/>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Ibisubizo by'impungenge zikunze kuboneka</a:t>
            </a:r>
            <a:endParaRPr sz="3400">
              <a:solidFill>
                <a:schemeClr val="dk1"/>
              </a:solidFill>
              <a:latin typeface="Calibri"/>
              <a:ea typeface="Calibri"/>
              <a:cs typeface="Calibri"/>
              <a:sym typeface="Calibri"/>
            </a:endParaRPr>
          </a:p>
        </p:txBody>
      </p:sp>
      <p:sp>
        <p:nvSpPr>
          <p:cNvPr id="977" name="Google Shape;977;p46"/>
          <p:cNvSpPr/>
          <p:nvPr/>
        </p:nvSpPr>
        <p:spPr>
          <a:xfrm>
            <a:off x="548640" y="1143001"/>
            <a:ext cx="110642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i="1">
                <a:solidFill>
                  <a:srgbClr val="16334F"/>
                </a:solidFill>
                <a:latin typeface="Calibri"/>
                <a:ea typeface="Calibri"/>
                <a:cs typeface="Calibri"/>
                <a:sym typeface="Calibri"/>
              </a:rPr>
              <a:t>Hitamo buri jambo wumva hanyuma usome igisubizo ushobora gukoresha.</a:t>
            </a:r>
            <a:endParaRPr sz="1800">
              <a:solidFill>
                <a:schemeClr val="dk1"/>
              </a:solidFill>
              <a:latin typeface="Calibri"/>
              <a:ea typeface="Calibri"/>
              <a:cs typeface="Calibri"/>
              <a:sym typeface="Calibri"/>
            </a:endParaRPr>
          </a:p>
        </p:txBody>
      </p:sp>
      <p:sp>
        <p:nvSpPr>
          <p:cNvPr id="978" name="Google Shape;978;p46"/>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979" name="Google Shape;979;p46"/>
          <p:cNvSpPr/>
          <p:nvPr/>
        </p:nvSpPr>
        <p:spPr>
          <a:xfrm>
            <a:off x="548640" y="1683572"/>
            <a:ext cx="5408676" cy="1403871"/>
          </a:xfrm>
          <a:prstGeom prst="roundRect">
            <a:avLst>
              <a:gd name="adj" fmla="val 7407"/>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0" name="Google Shape;980;p46"/>
          <p:cNvSpPr/>
          <p:nvPr/>
        </p:nvSpPr>
        <p:spPr>
          <a:xfrm>
            <a:off x="777240" y="1775013"/>
            <a:ext cx="4951476" cy="365760"/>
          </a:xfrm>
          <a:prstGeom prst="rect">
            <a:avLst/>
          </a:prstGeom>
          <a:noFill/>
          <a:ln>
            <a:noFill/>
          </a:ln>
        </p:spPr>
        <p:txBody>
          <a:bodyPr spcFirstLastPara="1" wrap="square" lIns="0" tIns="0" rIns="0" bIns="0" anchor="ctr" anchorCtr="0">
            <a:normAutofit fontScale="92500" lnSpcReduction="20000"/>
          </a:bodyPr>
          <a:lstStyle/>
          <a:p>
            <a:pPr marL="0" marR="0" lvl="0" indent="0" algn="l" rtl="0">
              <a:lnSpc>
                <a:spcPct val="90000"/>
              </a:lnSpc>
              <a:spcBef>
                <a:spcPts val="0"/>
              </a:spcBef>
              <a:spcAft>
                <a:spcPts val="0"/>
              </a:spcAft>
              <a:buClr>
                <a:srgbClr val="0F3D63"/>
              </a:buClr>
              <a:buSzPts val="1334"/>
              <a:buFont typeface="Calibri"/>
              <a:buNone/>
            </a:pPr>
            <a:r>
              <a:rPr lang="rw-RW" sz="1700" b="1" dirty="0">
                <a:solidFill>
                  <a:srgbClr val="0F3D63"/>
                </a:solidFill>
                <a:latin typeface="Calibri"/>
                <a:ea typeface="Calibri"/>
                <a:cs typeface="Calibri"/>
                <a:sym typeface="Calibri"/>
              </a:rPr>
              <a:t>Ati "Ni ububabare bw'igifu gusa, ntabwo nkeneye kwivuza."</a:t>
            </a:r>
            <a:endParaRPr sz="1335" dirty="0">
              <a:solidFill>
                <a:schemeClr val="dk1"/>
              </a:solidFill>
              <a:latin typeface="Calibri"/>
              <a:ea typeface="Calibri"/>
              <a:cs typeface="Calibri"/>
              <a:sym typeface="Calibri"/>
            </a:endParaRPr>
          </a:p>
        </p:txBody>
      </p:sp>
      <p:sp>
        <p:nvSpPr>
          <p:cNvPr id="981" name="Google Shape;981;p46"/>
          <p:cNvSpPr/>
          <p:nvPr/>
        </p:nvSpPr>
        <p:spPr>
          <a:xfrm>
            <a:off x="777240" y="2159061"/>
            <a:ext cx="4951476" cy="694944"/>
          </a:xfrm>
          <a:prstGeom prst="rect">
            <a:avLst/>
          </a:prstGeom>
          <a:noFill/>
          <a:ln>
            <a:noFill/>
          </a:ln>
        </p:spPr>
        <p:txBody>
          <a:bodyPr spcFirstLastPara="1" wrap="square" lIns="0" tIns="0" rIns="0" bIns="0" anchor="t" anchorCtr="0">
            <a:noAutofit/>
          </a:bodyPr>
          <a:lstStyle/>
          <a:p>
            <a:pPr marL="0" marR="0" lvl="0" indent="0" algn="l" rtl="0">
              <a:lnSpc>
                <a:spcPct val="93000"/>
              </a:lnSpc>
              <a:spcBef>
                <a:spcPts val="0"/>
              </a:spcBef>
              <a:spcAft>
                <a:spcPts val="0"/>
              </a:spcAft>
              <a:buClr>
                <a:srgbClr val="1B7A46"/>
              </a:buClr>
              <a:buSzPts val="1512"/>
              <a:buFont typeface="Calibri"/>
              <a:buNone/>
            </a:pPr>
            <a:r>
              <a:rPr lang="rw-RW" sz="1600" b="1" dirty="0">
                <a:solidFill>
                  <a:srgbClr val="1B7A46"/>
                </a:solidFill>
                <a:latin typeface="Calibri"/>
                <a:ea typeface="Calibri"/>
                <a:cs typeface="Calibri"/>
                <a:sym typeface="Calibri"/>
              </a:rPr>
              <a:t>Igisubizo: </a:t>
            </a:r>
            <a:r>
              <a:rPr lang="rw-RW" sz="1600" dirty="0">
                <a:solidFill>
                  <a:srgbClr val="16334F"/>
                </a:solidFill>
                <a:latin typeface="Calibri"/>
                <a:ea typeface="Calibri"/>
                <a:cs typeface="Calibri"/>
                <a:sym typeface="Calibri"/>
              </a:rPr>
              <a:t>Ububabare bwinshi bwo mu gifu ntabwo buba bukomeye. Ariko ububabare bumaze igihe kirekire bugomba kwitabwaho ako kanya, kugira ngo tumenye icyo ari cyo.</a:t>
            </a:r>
            <a:endParaRPr sz="1600" dirty="0">
              <a:solidFill>
                <a:schemeClr val="dk1"/>
              </a:solidFill>
              <a:latin typeface="Calibri"/>
              <a:ea typeface="Calibri"/>
              <a:cs typeface="Calibri"/>
              <a:sym typeface="Calibri"/>
            </a:endParaRPr>
          </a:p>
        </p:txBody>
      </p:sp>
      <p:sp>
        <p:nvSpPr>
          <p:cNvPr id="982" name="Google Shape;982;p46"/>
          <p:cNvSpPr/>
          <p:nvPr/>
        </p:nvSpPr>
        <p:spPr>
          <a:xfrm>
            <a:off x="6231636" y="1683572"/>
            <a:ext cx="5408676" cy="1403871"/>
          </a:xfrm>
          <a:prstGeom prst="roundRect">
            <a:avLst>
              <a:gd name="adj" fmla="val 7407"/>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3" name="Google Shape;983;p46"/>
          <p:cNvSpPr/>
          <p:nvPr/>
        </p:nvSpPr>
        <p:spPr>
          <a:xfrm>
            <a:off x="6460236" y="1775013"/>
            <a:ext cx="4951476" cy="365760"/>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0F3D63"/>
              </a:buClr>
              <a:buSzPts val="1589"/>
              <a:buFont typeface="Calibri"/>
              <a:buNone/>
            </a:pPr>
            <a:r>
              <a:rPr lang="rw-RW" sz="1700" b="1">
                <a:solidFill>
                  <a:srgbClr val="0F3D63"/>
                </a:solidFill>
                <a:latin typeface="Calibri"/>
                <a:ea typeface="Calibri"/>
                <a:cs typeface="Calibri"/>
                <a:sym typeface="Calibri"/>
              </a:rPr>
              <a:t>Mfite ubwoba ko bashobora gusanga ndwaye kanseri."</a:t>
            </a:r>
            <a:endParaRPr sz="1590">
              <a:solidFill>
                <a:schemeClr val="dk1"/>
              </a:solidFill>
              <a:latin typeface="Calibri"/>
              <a:ea typeface="Calibri"/>
              <a:cs typeface="Calibri"/>
              <a:sym typeface="Calibri"/>
            </a:endParaRPr>
          </a:p>
        </p:txBody>
      </p:sp>
      <p:sp>
        <p:nvSpPr>
          <p:cNvPr id="984" name="Google Shape;984;p46"/>
          <p:cNvSpPr/>
          <p:nvPr/>
        </p:nvSpPr>
        <p:spPr>
          <a:xfrm>
            <a:off x="6460236" y="2159061"/>
            <a:ext cx="4951476" cy="694944"/>
          </a:xfrm>
          <a:prstGeom prst="rect">
            <a:avLst/>
          </a:prstGeom>
          <a:noFill/>
          <a:ln>
            <a:noFill/>
          </a:ln>
        </p:spPr>
        <p:txBody>
          <a:bodyPr spcFirstLastPara="1" wrap="square" lIns="0" tIns="0" rIns="0" bIns="0" anchor="t" anchorCtr="0">
            <a:normAutofit/>
          </a:bodyPr>
          <a:lstStyle/>
          <a:p>
            <a:pPr marL="0" marR="0" lvl="0" indent="0" algn="l" rtl="0">
              <a:lnSpc>
                <a:spcPct val="93000"/>
              </a:lnSpc>
              <a:spcBef>
                <a:spcPts val="0"/>
              </a:spcBef>
              <a:spcAft>
                <a:spcPts val="0"/>
              </a:spcAft>
              <a:buClr>
                <a:srgbClr val="1B7A46"/>
              </a:buClr>
              <a:buSzPts val="1512"/>
              <a:buFont typeface="Calibri"/>
              <a:buNone/>
            </a:pPr>
            <a:r>
              <a:rPr lang="rw-RW" sz="1600" b="1" dirty="0">
                <a:solidFill>
                  <a:srgbClr val="1B7A46"/>
                </a:solidFill>
                <a:latin typeface="Calibri"/>
                <a:ea typeface="Calibri"/>
                <a:cs typeface="Calibri"/>
                <a:sym typeface="Calibri"/>
              </a:rPr>
              <a:t>Igisubizo: </a:t>
            </a:r>
            <a:r>
              <a:rPr lang="rw-RW" sz="1600" dirty="0">
                <a:solidFill>
                  <a:srgbClr val="16334F"/>
                </a:solidFill>
                <a:latin typeface="Calibri"/>
                <a:ea typeface="Calibri"/>
                <a:cs typeface="Calibri"/>
                <a:sym typeface="Calibri"/>
              </a:rPr>
              <a:t>Ubwoba ni ibisanzwe. Kubimenya hakiri kare ni byo biha umuntu amahitamo n’amahirwe menshi. Kutabimenya ntibigukiza.</a:t>
            </a:r>
            <a:endParaRPr sz="1512" dirty="0">
              <a:solidFill>
                <a:schemeClr val="dk1"/>
              </a:solidFill>
              <a:latin typeface="Calibri"/>
              <a:ea typeface="Calibri"/>
              <a:cs typeface="Calibri"/>
              <a:sym typeface="Calibri"/>
            </a:endParaRPr>
          </a:p>
        </p:txBody>
      </p:sp>
      <p:sp>
        <p:nvSpPr>
          <p:cNvPr id="985" name="Google Shape;985;p46"/>
          <p:cNvSpPr/>
          <p:nvPr/>
        </p:nvSpPr>
        <p:spPr>
          <a:xfrm>
            <a:off x="548640" y="3270325"/>
            <a:ext cx="5408676" cy="1234440"/>
          </a:xfrm>
          <a:prstGeom prst="roundRect">
            <a:avLst>
              <a:gd name="adj" fmla="val 7407"/>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6" name="Google Shape;986;p46"/>
          <p:cNvSpPr/>
          <p:nvPr/>
        </p:nvSpPr>
        <p:spPr>
          <a:xfrm>
            <a:off x="777240" y="3361765"/>
            <a:ext cx="4951476" cy="365760"/>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0F3D63"/>
              </a:buClr>
              <a:buSzPts val="1589"/>
              <a:buFont typeface="Calibri"/>
              <a:buNone/>
            </a:pPr>
            <a:r>
              <a:rPr lang="rw-RW" sz="1700" b="1" dirty="0">
                <a:solidFill>
                  <a:srgbClr val="0F3D63"/>
                </a:solidFill>
                <a:latin typeface="Calibri"/>
                <a:ea typeface="Calibri"/>
                <a:cs typeface="Calibri"/>
                <a:sym typeface="Calibri"/>
              </a:rPr>
              <a:t>Ati "Kwipimisha bizatuma ubu burwayi bukwirakwira."</a:t>
            </a:r>
            <a:endParaRPr sz="1590" dirty="0">
              <a:solidFill>
                <a:schemeClr val="dk1"/>
              </a:solidFill>
              <a:latin typeface="Calibri"/>
              <a:ea typeface="Calibri"/>
              <a:cs typeface="Calibri"/>
              <a:sym typeface="Calibri"/>
            </a:endParaRPr>
          </a:p>
        </p:txBody>
      </p:sp>
      <p:sp>
        <p:nvSpPr>
          <p:cNvPr id="987" name="Google Shape;987;p46"/>
          <p:cNvSpPr/>
          <p:nvPr/>
        </p:nvSpPr>
        <p:spPr>
          <a:xfrm>
            <a:off x="777240" y="3745813"/>
            <a:ext cx="4951476" cy="694944"/>
          </a:xfrm>
          <a:prstGeom prst="rect">
            <a:avLst/>
          </a:prstGeom>
          <a:noFill/>
          <a:ln>
            <a:noFill/>
          </a:ln>
        </p:spPr>
        <p:txBody>
          <a:bodyPr spcFirstLastPara="1" wrap="square" lIns="0" tIns="0" rIns="0" bIns="0" anchor="t" anchorCtr="0">
            <a:normAutofit/>
          </a:bodyPr>
          <a:lstStyle/>
          <a:p>
            <a:pPr marL="0" marR="0" lvl="0" indent="0" algn="l" rtl="0">
              <a:lnSpc>
                <a:spcPct val="93000"/>
              </a:lnSpc>
              <a:spcBef>
                <a:spcPts val="0"/>
              </a:spcBef>
              <a:spcAft>
                <a:spcPts val="0"/>
              </a:spcAft>
              <a:buClr>
                <a:srgbClr val="1B7A46"/>
              </a:buClr>
              <a:buSzPts val="1512"/>
              <a:buFont typeface="Calibri"/>
              <a:buNone/>
            </a:pPr>
            <a:r>
              <a:rPr lang="rw-RW" sz="1600" b="1" dirty="0">
                <a:solidFill>
                  <a:srgbClr val="1B7A46"/>
                </a:solidFill>
                <a:latin typeface="Calibri"/>
                <a:ea typeface="Calibri"/>
                <a:cs typeface="Calibri"/>
                <a:sym typeface="Calibri"/>
              </a:rPr>
              <a:t>Igisubizo: </a:t>
            </a:r>
            <a:r>
              <a:rPr lang="rw-RW" sz="1600" dirty="0">
                <a:solidFill>
                  <a:srgbClr val="16334F"/>
                </a:solidFill>
                <a:latin typeface="Calibri"/>
                <a:ea typeface="Calibri"/>
                <a:cs typeface="Calibri"/>
                <a:sym typeface="Calibri"/>
              </a:rPr>
              <a:t>Ibyo ntabwo ari ukuri. Gufata igipimo gito ntabwo bikwirakwiza indwara. Ni uburyo abaganga bakoresha bamenya ikibitera.</a:t>
            </a:r>
            <a:endParaRPr sz="1512" dirty="0">
              <a:solidFill>
                <a:schemeClr val="dk1"/>
              </a:solidFill>
              <a:latin typeface="Calibri"/>
              <a:ea typeface="Calibri"/>
              <a:cs typeface="Calibri"/>
              <a:sym typeface="Calibri"/>
            </a:endParaRPr>
          </a:p>
        </p:txBody>
      </p:sp>
      <p:sp>
        <p:nvSpPr>
          <p:cNvPr id="988" name="Google Shape;988;p46"/>
          <p:cNvSpPr/>
          <p:nvPr/>
        </p:nvSpPr>
        <p:spPr>
          <a:xfrm>
            <a:off x="6231636" y="3270325"/>
            <a:ext cx="5408676" cy="1234440"/>
          </a:xfrm>
          <a:prstGeom prst="roundRect">
            <a:avLst>
              <a:gd name="adj" fmla="val 7407"/>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9" name="Google Shape;989;p46"/>
          <p:cNvSpPr/>
          <p:nvPr/>
        </p:nvSpPr>
        <p:spPr>
          <a:xfrm>
            <a:off x="6460236" y="3361765"/>
            <a:ext cx="4951476" cy="365760"/>
          </a:xfrm>
          <a:prstGeom prst="rect">
            <a:avLst/>
          </a:prstGeom>
          <a:noFill/>
          <a:ln>
            <a:noFill/>
          </a:ln>
        </p:spPr>
        <p:txBody>
          <a:bodyPr spcFirstLastPara="1" wrap="square" lIns="0" tIns="0" rIns="0" bIns="0" anchor="ctr" anchorCtr="0">
            <a:normAutofit fontScale="92500"/>
          </a:bodyPr>
          <a:lstStyle/>
          <a:p>
            <a:pPr marL="0" marR="0" lvl="0" indent="0" algn="l" rtl="0">
              <a:spcBef>
                <a:spcPts val="0"/>
              </a:spcBef>
              <a:spcAft>
                <a:spcPts val="0"/>
              </a:spcAft>
              <a:buClr>
                <a:srgbClr val="0F3D63"/>
              </a:buClr>
              <a:buSzPts val="1589"/>
              <a:buFont typeface="Calibri"/>
              <a:buNone/>
            </a:pPr>
            <a:r>
              <a:rPr lang="rw-RW" sz="1700" b="1">
                <a:solidFill>
                  <a:srgbClr val="0F3D63"/>
                </a:solidFill>
                <a:latin typeface="Calibri"/>
                <a:ea typeface="Calibri"/>
                <a:cs typeface="Calibri"/>
                <a:sym typeface="Calibri"/>
              </a:rPr>
              <a:t>Niba ari kanseri, nta kintu na kimwe gishobora gukorwa."</a:t>
            </a:r>
            <a:endParaRPr sz="1590">
              <a:solidFill>
                <a:schemeClr val="dk1"/>
              </a:solidFill>
              <a:latin typeface="Calibri"/>
              <a:ea typeface="Calibri"/>
              <a:cs typeface="Calibri"/>
              <a:sym typeface="Calibri"/>
            </a:endParaRPr>
          </a:p>
        </p:txBody>
      </p:sp>
      <p:sp>
        <p:nvSpPr>
          <p:cNvPr id="990" name="Google Shape;990;p46"/>
          <p:cNvSpPr/>
          <p:nvPr/>
        </p:nvSpPr>
        <p:spPr>
          <a:xfrm>
            <a:off x="6460236" y="3745813"/>
            <a:ext cx="4951476" cy="694944"/>
          </a:xfrm>
          <a:prstGeom prst="rect">
            <a:avLst/>
          </a:prstGeom>
          <a:noFill/>
          <a:ln>
            <a:noFill/>
          </a:ln>
        </p:spPr>
        <p:txBody>
          <a:bodyPr spcFirstLastPara="1" wrap="square" lIns="0" tIns="0" rIns="0" bIns="0" anchor="t" anchorCtr="0">
            <a:normAutofit/>
          </a:bodyPr>
          <a:lstStyle/>
          <a:p>
            <a:pPr marL="0" marR="0" lvl="0" indent="0" algn="l" rtl="0">
              <a:lnSpc>
                <a:spcPct val="103000"/>
              </a:lnSpc>
              <a:spcBef>
                <a:spcPts val="0"/>
              </a:spcBef>
              <a:spcAft>
                <a:spcPts val="0"/>
              </a:spcAft>
              <a:buClr>
                <a:srgbClr val="1B7A46"/>
              </a:buClr>
              <a:buSzPts val="1512"/>
              <a:buFont typeface="Calibri"/>
              <a:buNone/>
            </a:pPr>
            <a:r>
              <a:rPr lang="rw-RW" sz="1600" b="1" dirty="0">
                <a:solidFill>
                  <a:srgbClr val="1B7A46"/>
                </a:solidFill>
                <a:latin typeface="Calibri"/>
                <a:ea typeface="Calibri"/>
                <a:cs typeface="Calibri"/>
                <a:sym typeface="Calibri"/>
              </a:rPr>
              <a:t>Igisubizo: </a:t>
            </a:r>
            <a:r>
              <a:rPr lang="rw-RW" sz="1600" dirty="0">
                <a:solidFill>
                  <a:srgbClr val="16334F"/>
                </a:solidFill>
                <a:latin typeface="Calibri"/>
                <a:ea typeface="Calibri"/>
                <a:cs typeface="Calibri"/>
                <a:sym typeface="Calibri"/>
              </a:rPr>
              <a:t>Ibyo ntabwo ari byo. Hari imiti, kandi hari ubuvuzi bugabanya ububabare kandi bufasha umuntu kubaho neza.</a:t>
            </a:r>
            <a:endParaRPr sz="1512" dirty="0">
              <a:solidFill>
                <a:schemeClr val="dk1"/>
              </a:solidFill>
              <a:latin typeface="Calibri"/>
              <a:ea typeface="Calibri"/>
              <a:cs typeface="Calibri"/>
              <a:sym typeface="Calibri"/>
            </a:endParaRPr>
          </a:p>
        </p:txBody>
      </p:sp>
      <p:sp>
        <p:nvSpPr>
          <p:cNvPr id="991" name="Google Shape;991;p46"/>
          <p:cNvSpPr/>
          <p:nvPr/>
        </p:nvSpPr>
        <p:spPr>
          <a:xfrm>
            <a:off x="548640" y="4789842"/>
            <a:ext cx="5408676" cy="1234440"/>
          </a:xfrm>
          <a:prstGeom prst="roundRect">
            <a:avLst>
              <a:gd name="adj" fmla="val 7407"/>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2" name="Google Shape;992;p46"/>
          <p:cNvSpPr/>
          <p:nvPr/>
        </p:nvSpPr>
        <p:spPr>
          <a:xfrm>
            <a:off x="777240" y="4881282"/>
            <a:ext cx="4951476" cy="365760"/>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0F3D63"/>
              </a:buClr>
              <a:buSzPts val="1589"/>
              <a:buFont typeface="Calibri"/>
              <a:buNone/>
            </a:pPr>
            <a:r>
              <a:rPr lang="rw-RW" sz="1700" b="1">
                <a:solidFill>
                  <a:srgbClr val="0F3D63"/>
                </a:solidFill>
                <a:latin typeface="Calibri"/>
                <a:ea typeface="Calibri"/>
                <a:cs typeface="Calibri"/>
                <a:sym typeface="Calibri"/>
              </a:rPr>
              <a:t>Ati "Natakaje ibiro, ariko nzategereza ndebe."</a:t>
            </a:r>
            <a:endParaRPr sz="1590">
              <a:solidFill>
                <a:schemeClr val="dk1"/>
              </a:solidFill>
              <a:latin typeface="Calibri"/>
              <a:ea typeface="Calibri"/>
              <a:cs typeface="Calibri"/>
              <a:sym typeface="Calibri"/>
            </a:endParaRPr>
          </a:p>
        </p:txBody>
      </p:sp>
      <p:sp>
        <p:nvSpPr>
          <p:cNvPr id="993" name="Google Shape;993;p46"/>
          <p:cNvSpPr/>
          <p:nvPr/>
        </p:nvSpPr>
        <p:spPr>
          <a:xfrm>
            <a:off x="777240" y="5265330"/>
            <a:ext cx="4951476" cy="694944"/>
          </a:xfrm>
          <a:prstGeom prst="rect">
            <a:avLst/>
          </a:prstGeom>
          <a:noFill/>
          <a:ln>
            <a:noFill/>
          </a:ln>
        </p:spPr>
        <p:txBody>
          <a:bodyPr spcFirstLastPara="1" wrap="square" lIns="0" tIns="0" rIns="0" bIns="0" anchor="t" anchorCtr="0">
            <a:normAutofit/>
          </a:bodyPr>
          <a:lstStyle/>
          <a:p>
            <a:pPr marL="0" marR="0" lvl="0" indent="0" algn="l" rtl="0">
              <a:lnSpc>
                <a:spcPct val="93000"/>
              </a:lnSpc>
              <a:spcBef>
                <a:spcPts val="0"/>
              </a:spcBef>
              <a:spcAft>
                <a:spcPts val="0"/>
              </a:spcAft>
              <a:buClr>
                <a:srgbClr val="1B7A46"/>
              </a:buClr>
              <a:buSzPts val="1512"/>
              <a:buFont typeface="Calibri"/>
              <a:buNone/>
            </a:pPr>
            <a:r>
              <a:rPr lang="rw-RW" sz="1600" b="1" dirty="0">
                <a:solidFill>
                  <a:srgbClr val="1B7A46"/>
                </a:solidFill>
                <a:latin typeface="Calibri"/>
                <a:ea typeface="Calibri"/>
                <a:cs typeface="Calibri"/>
                <a:sym typeface="Calibri"/>
              </a:rPr>
              <a:t>Igisubizo: </a:t>
            </a:r>
            <a:r>
              <a:rPr lang="rw-RW" sz="1600" dirty="0">
                <a:solidFill>
                  <a:srgbClr val="16334F"/>
                </a:solidFill>
                <a:latin typeface="Calibri"/>
                <a:ea typeface="Calibri"/>
                <a:cs typeface="Calibri"/>
                <a:sym typeface="Calibri"/>
              </a:rPr>
              <a:t>Gutakaza ibiro utabanje kugerageza ni kimwe mu bimenyetso tutagomba dutegereje. Reka dutegure uko wajya kwivuza.</a:t>
            </a:r>
            <a:endParaRPr sz="1512" dirty="0">
              <a:solidFill>
                <a:schemeClr val="dk1"/>
              </a:solidFill>
              <a:latin typeface="Calibri"/>
              <a:ea typeface="Calibri"/>
              <a:cs typeface="Calibri"/>
              <a:sym typeface="Calibri"/>
            </a:endParaRPr>
          </a:p>
        </p:txBody>
      </p:sp>
      <p:sp>
        <p:nvSpPr>
          <p:cNvPr id="994" name="Google Shape;994;p46"/>
          <p:cNvSpPr/>
          <p:nvPr/>
        </p:nvSpPr>
        <p:spPr>
          <a:xfrm>
            <a:off x="6231636" y="4789842"/>
            <a:ext cx="5408676" cy="1234440"/>
          </a:xfrm>
          <a:prstGeom prst="roundRect">
            <a:avLst>
              <a:gd name="adj" fmla="val 7407"/>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5" name="Google Shape;995;p46"/>
          <p:cNvSpPr/>
          <p:nvPr/>
        </p:nvSpPr>
        <p:spPr>
          <a:xfrm>
            <a:off x="6460236" y="4881282"/>
            <a:ext cx="4951476" cy="365760"/>
          </a:xfrm>
          <a:prstGeom prst="rect">
            <a:avLst/>
          </a:prstGeom>
          <a:noFill/>
          <a:ln>
            <a:noFill/>
          </a:ln>
        </p:spPr>
        <p:txBody>
          <a:bodyPr spcFirstLastPara="1" wrap="square" lIns="0" tIns="0" rIns="0" bIns="0" anchor="ctr" anchorCtr="0">
            <a:normAutofit fontScale="92500" lnSpcReduction="20000"/>
          </a:bodyPr>
          <a:lstStyle/>
          <a:p>
            <a:pPr marL="0" marR="0" lvl="0" indent="0" algn="l" rtl="0">
              <a:lnSpc>
                <a:spcPct val="90000"/>
              </a:lnSpc>
              <a:spcBef>
                <a:spcPts val="0"/>
              </a:spcBef>
              <a:spcAft>
                <a:spcPts val="0"/>
              </a:spcAft>
              <a:buClr>
                <a:srgbClr val="0F3D63"/>
              </a:buClr>
              <a:buSzPts val="1334"/>
              <a:buFont typeface="Calibri"/>
              <a:buNone/>
            </a:pPr>
            <a:r>
              <a:rPr lang="rw-RW" sz="1700" b="1" dirty="0">
                <a:solidFill>
                  <a:srgbClr val="0F3D63"/>
                </a:solidFill>
                <a:latin typeface="Calibri"/>
                <a:ea typeface="Calibri"/>
                <a:cs typeface="Calibri"/>
                <a:sym typeface="Calibri"/>
              </a:rPr>
              <a:t>"Kuvura kanseri buri gihe bituma abantu barushaho kumera nabi."</a:t>
            </a:r>
            <a:endParaRPr sz="1335" dirty="0">
              <a:solidFill>
                <a:schemeClr val="dk1"/>
              </a:solidFill>
              <a:latin typeface="Calibri"/>
              <a:ea typeface="Calibri"/>
              <a:cs typeface="Calibri"/>
              <a:sym typeface="Calibri"/>
            </a:endParaRPr>
          </a:p>
        </p:txBody>
      </p:sp>
      <p:sp>
        <p:nvSpPr>
          <p:cNvPr id="996" name="Google Shape;996;p46"/>
          <p:cNvSpPr/>
          <p:nvPr/>
        </p:nvSpPr>
        <p:spPr>
          <a:xfrm>
            <a:off x="6460236" y="5265330"/>
            <a:ext cx="4951476" cy="694944"/>
          </a:xfrm>
          <a:prstGeom prst="rect">
            <a:avLst/>
          </a:prstGeom>
          <a:noFill/>
          <a:ln>
            <a:noFill/>
          </a:ln>
        </p:spPr>
        <p:txBody>
          <a:bodyPr spcFirstLastPara="1" wrap="square" lIns="0" tIns="0" rIns="0" bIns="0" anchor="t" anchorCtr="0">
            <a:normAutofit/>
          </a:bodyPr>
          <a:lstStyle/>
          <a:p>
            <a:pPr marL="0" marR="0" lvl="0" indent="0" algn="l" rtl="0">
              <a:lnSpc>
                <a:spcPct val="93000"/>
              </a:lnSpc>
              <a:spcBef>
                <a:spcPts val="0"/>
              </a:spcBef>
              <a:spcAft>
                <a:spcPts val="0"/>
              </a:spcAft>
              <a:buClr>
                <a:srgbClr val="1B7A46"/>
              </a:buClr>
              <a:buSzPts val="1512"/>
              <a:buFont typeface="Calibri"/>
              <a:buNone/>
            </a:pPr>
            <a:r>
              <a:rPr lang="rw-RW" sz="1600" b="1" dirty="0">
                <a:solidFill>
                  <a:srgbClr val="1B7A46"/>
                </a:solidFill>
                <a:latin typeface="Calibri"/>
                <a:ea typeface="Calibri"/>
                <a:cs typeface="Calibri"/>
                <a:sym typeface="Calibri"/>
              </a:rPr>
              <a:t>Igisubizo: Ubuvuzi bushobora kugorana, ariko butoranywa hashingiwe ku muntu, kandi abaganga bafasha guhangana n'ingaruka z'ubuvuzi.</a:t>
            </a:r>
            <a:endParaRPr sz="1512" dirty="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01"/>
        <p:cNvGrpSpPr/>
        <p:nvPr/>
      </p:nvGrpSpPr>
      <p:grpSpPr>
        <a:xfrm>
          <a:off x="0" y="0"/>
          <a:ext cx="0" cy="0"/>
          <a:chOff x="0" y="0"/>
          <a:chExt cx="0" cy="0"/>
        </a:xfrm>
      </p:grpSpPr>
      <p:sp>
        <p:nvSpPr>
          <p:cNvPr id="1002" name="Google Shape;1002;p47"/>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3</a:t>
            </a:r>
            <a:endParaRPr sz="1100">
              <a:solidFill>
                <a:schemeClr val="dk1"/>
              </a:solidFill>
              <a:latin typeface="Calibri"/>
              <a:ea typeface="Calibri"/>
              <a:cs typeface="Calibri"/>
              <a:sym typeface="Calibri"/>
            </a:endParaRPr>
          </a:p>
        </p:txBody>
      </p:sp>
      <p:sp>
        <p:nvSpPr>
          <p:cNvPr id="1003" name="Google Shape;1003;p47"/>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Inkuru ya Emmanuel iracyakomeje.</a:t>
            </a:r>
            <a:endParaRPr sz="3400">
              <a:solidFill>
                <a:schemeClr val="dk1"/>
              </a:solidFill>
              <a:latin typeface="Calibri"/>
              <a:ea typeface="Calibri"/>
              <a:cs typeface="Calibri"/>
              <a:sym typeface="Calibri"/>
            </a:endParaRPr>
          </a:p>
        </p:txBody>
      </p:sp>
      <p:sp>
        <p:nvSpPr>
          <p:cNvPr id="1004" name="Google Shape;1004;p47"/>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18"/>
        <p:cNvGrpSpPr/>
        <p:nvPr/>
      </p:nvGrpSpPr>
      <p:grpSpPr>
        <a:xfrm>
          <a:off x="0" y="0"/>
          <a:ext cx="0" cy="0"/>
          <a:chOff x="0" y="0"/>
          <a:chExt cx="0" cy="0"/>
        </a:xfrm>
      </p:grpSpPr>
      <p:sp>
        <p:nvSpPr>
          <p:cNvPr id="1019" name="Google Shape;1019;p48"/>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3</a:t>
            </a:r>
            <a:endParaRPr sz="1100">
              <a:solidFill>
                <a:schemeClr val="dk1"/>
              </a:solidFill>
              <a:latin typeface="Calibri"/>
              <a:ea typeface="Calibri"/>
              <a:cs typeface="Calibri"/>
              <a:sym typeface="Calibri"/>
            </a:endParaRPr>
          </a:p>
        </p:txBody>
      </p:sp>
      <p:sp>
        <p:nvSpPr>
          <p:cNvPr id="1020" name="Google Shape;1020;p48"/>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Gushyigikira umuryango</a:t>
            </a:r>
            <a:endParaRPr sz="3400">
              <a:solidFill>
                <a:schemeClr val="dk1"/>
              </a:solidFill>
              <a:latin typeface="Calibri"/>
              <a:ea typeface="Calibri"/>
              <a:cs typeface="Calibri"/>
              <a:sym typeface="Calibri"/>
            </a:endParaRPr>
          </a:p>
        </p:txBody>
      </p:sp>
      <p:sp>
        <p:nvSpPr>
          <p:cNvPr id="1021" name="Google Shape;1021;p48"/>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022" name="Google Shape;1022;p48"/>
          <p:cNvSpPr/>
          <p:nvPr/>
        </p:nvSpPr>
        <p:spPr>
          <a:xfrm>
            <a:off x="548640" y="1578686"/>
            <a:ext cx="3502152" cy="3004814"/>
          </a:xfrm>
          <a:prstGeom prst="roundRect">
            <a:avLst>
              <a:gd name="adj" fmla="val 48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3" name="Google Shape;1023;p48"/>
          <p:cNvSpPr/>
          <p:nvPr/>
        </p:nvSpPr>
        <p:spPr>
          <a:xfrm>
            <a:off x="804672" y="1779854"/>
            <a:ext cx="2990088" cy="307597"/>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0"/>
              </a:spcBef>
              <a:spcAft>
                <a:spcPts val="0"/>
              </a:spcAft>
              <a:buClr>
                <a:srgbClr val="0F3D63"/>
              </a:buClr>
              <a:buSzPts val="2068"/>
              <a:buFont typeface="Cambria"/>
              <a:buNone/>
            </a:pPr>
            <a:r>
              <a:rPr lang="rw-RW" sz="2100" b="1" dirty="0">
                <a:solidFill>
                  <a:srgbClr val="0F3D63"/>
                </a:solidFill>
                <a:latin typeface="Cambria"/>
                <a:ea typeface="Cambria"/>
                <a:cs typeface="Cambria"/>
                <a:sym typeface="Cambria"/>
              </a:rPr>
              <a:t>Mbere yo kujya kwivuza</a:t>
            </a:r>
            <a:endParaRPr sz="2069" dirty="0">
              <a:solidFill>
                <a:schemeClr val="dk1"/>
              </a:solidFill>
              <a:latin typeface="Calibri"/>
              <a:ea typeface="Calibri"/>
              <a:cs typeface="Calibri"/>
              <a:sym typeface="Calibri"/>
            </a:endParaRPr>
          </a:p>
        </p:txBody>
      </p:sp>
      <p:sp>
        <p:nvSpPr>
          <p:cNvPr id="1024" name="Google Shape;1024;p48"/>
          <p:cNvSpPr/>
          <p:nvPr/>
        </p:nvSpPr>
        <p:spPr>
          <a:xfrm>
            <a:off x="804672" y="2138250"/>
            <a:ext cx="3108960" cy="2193381"/>
          </a:xfrm>
          <a:prstGeom prst="rect">
            <a:avLst/>
          </a:prstGeom>
          <a:noFill/>
          <a:ln>
            <a:noFill/>
          </a:ln>
        </p:spPr>
        <p:txBody>
          <a:bodyPr spcFirstLastPara="1" wrap="square" lIns="0" tIns="0" rIns="0" bIns="0" anchor="t" anchorCtr="0">
            <a:normAutofit/>
          </a:bodyPr>
          <a:lstStyle/>
          <a:p>
            <a:pPr marL="0" marR="0" lvl="0" indent="0" algn="l" rtl="0">
              <a:lnSpc>
                <a:spcPct val="85000"/>
              </a:lnSpc>
              <a:spcBef>
                <a:spcPts val="0"/>
              </a:spcBef>
              <a:spcAft>
                <a:spcPts val="0"/>
              </a:spcAft>
              <a:buNone/>
            </a:pPr>
            <a:r>
              <a:rPr lang="rw-RW" sz="1800" dirty="0">
                <a:solidFill>
                  <a:srgbClr val="1F3864"/>
                </a:solidFill>
                <a:latin typeface="Calibri"/>
                <a:ea typeface="Calibri"/>
                <a:cs typeface="Calibri"/>
                <a:sym typeface="Calibri"/>
              </a:rPr>
              <a:t>Mujye mwumvikana ku munsi. Menya abazamufasha kugerayo n’abazasigara ku urugo.</a:t>
            </a:r>
            <a:endParaRPr dirty="0"/>
          </a:p>
          <a:p>
            <a:pPr marL="0" marR="0" lvl="0" indent="0" algn="l" rtl="0">
              <a:lnSpc>
                <a:spcPct val="85000"/>
              </a:lnSpc>
              <a:spcBef>
                <a:spcPts val="0"/>
              </a:spcBef>
              <a:spcAft>
                <a:spcPts val="0"/>
              </a:spcAft>
              <a:buNone/>
            </a:pPr>
            <a:r>
              <a:rPr lang="rw-RW" sz="1800" dirty="0">
                <a:solidFill>
                  <a:srgbClr val="1F3864"/>
                </a:solidFill>
                <a:latin typeface="Calibri"/>
                <a:ea typeface="Calibri"/>
                <a:cs typeface="Calibri"/>
                <a:sym typeface="Calibri"/>
              </a:rPr>
              <a:t>Andika ibimenyetso uwo muntu agomba kubwira muganga n'ibibazo bashobora kubaza.</a:t>
            </a:r>
            <a:endParaRPr sz="1494" dirty="0">
              <a:solidFill>
                <a:srgbClr val="1F3864"/>
              </a:solidFill>
              <a:latin typeface="Calibri"/>
              <a:ea typeface="Calibri"/>
              <a:cs typeface="Calibri"/>
              <a:sym typeface="Calibri"/>
            </a:endParaRPr>
          </a:p>
        </p:txBody>
      </p:sp>
      <p:sp>
        <p:nvSpPr>
          <p:cNvPr id="1025" name="Google Shape;1025;p48"/>
          <p:cNvSpPr/>
          <p:nvPr/>
        </p:nvSpPr>
        <p:spPr>
          <a:xfrm>
            <a:off x="4343400" y="1578686"/>
            <a:ext cx="3502152" cy="3004814"/>
          </a:xfrm>
          <a:prstGeom prst="roundRect">
            <a:avLst>
              <a:gd name="adj" fmla="val 48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6" name="Google Shape;1026;p48"/>
          <p:cNvSpPr/>
          <p:nvPr/>
        </p:nvSpPr>
        <p:spPr>
          <a:xfrm>
            <a:off x="4599432" y="1779854"/>
            <a:ext cx="2990088" cy="400047"/>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68"/>
              <a:buFont typeface="Cambria"/>
              <a:buNone/>
            </a:pPr>
            <a:r>
              <a:rPr lang="rw-RW" sz="2100" b="1" dirty="0">
                <a:solidFill>
                  <a:srgbClr val="0F3D63"/>
                </a:solidFill>
                <a:latin typeface="Cambria"/>
                <a:ea typeface="Cambria"/>
                <a:cs typeface="Cambria"/>
                <a:sym typeface="Cambria"/>
              </a:rPr>
              <a:t>Nyuma yo kwivuza</a:t>
            </a:r>
            <a:endParaRPr sz="2069" dirty="0">
              <a:solidFill>
                <a:schemeClr val="dk1"/>
              </a:solidFill>
              <a:latin typeface="Calibri"/>
              <a:ea typeface="Calibri"/>
              <a:cs typeface="Calibri"/>
              <a:sym typeface="Calibri"/>
            </a:endParaRPr>
          </a:p>
        </p:txBody>
      </p:sp>
      <p:sp>
        <p:nvSpPr>
          <p:cNvPr id="1027" name="Google Shape;1027;p48"/>
          <p:cNvSpPr/>
          <p:nvPr/>
        </p:nvSpPr>
        <p:spPr>
          <a:xfrm>
            <a:off x="4585716" y="2230700"/>
            <a:ext cx="2990088" cy="2193381"/>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16334F"/>
              </a:buClr>
              <a:buSzPts val="1800"/>
              <a:buFont typeface="Calibri"/>
              <a:buNone/>
            </a:pPr>
            <a:r>
              <a:rPr lang="rw-RW" sz="1800" dirty="0">
                <a:solidFill>
                  <a:srgbClr val="16334F"/>
                </a:solidFill>
                <a:latin typeface="Calibri"/>
                <a:ea typeface="Calibri"/>
                <a:cs typeface="Calibri"/>
                <a:sym typeface="Calibri"/>
              </a:rPr>
              <a:t>Baza ibyo babwiwe n’igihe yahawe cyo gusubirayo. Bafashe gusobanukirwa amabwiriza batumvise neza.</a:t>
            </a:r>
            <a:endParaRPr sz="1800" dirty="0">
              <a:solidFill>
                <a:schemeClr val="dk1"/>
              </a:solidFill>
              <a:latin typeface="Calibri"/>
              <a:ea typeface="Calibri"/>
              <a:cs typeface="Calibri"/>
              <a:sym typeface="Calibri"/>
            </a:endParaRPr>
          </a:p>
        </p:txBody>
      </p:sp>
      <p:sp>
        <p:nvSpPr>
          <p:cNvPr id="1028" name="Google Shape;1028;p48"/>
          <p:cNvSpPr/>
          <p:nvPr/>
        </p:nvSpPr>
        <p:spPr>
          <a:xfrm>
            <a:off x="8138160" y="1578686"/>
            <a:ext cx="3502152" cy="3004814"/>
          </a:xfrm>
          <a:prstGeom prst="roundRect">
            <a:avLst>
              <a:gd name="adj" fmla="val 4800"/>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9" name="Google Shape;1029;p48"/>
          <p:cNvSpPr/>
          <p:nvPr/>
        </p:nvSpPr>
        <p:spPr>
          <a:xfrm>
            <a:off x="8394192" y="1779854"/>
            <a:ext cx="2990088" cy="400047"/>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68"/>
              <a:buFont typeface="Cambria"/>
              <a:buNone/>
            </a:pPr>
            <a:r>
              <a:rPr lang="rw-RW" sz="2100" b="1" dirty="0">
                <a:solidFill>
                  <a:srgbClr val="0F3D63"/>
                </a:solidFill>
                <a:latin typeface="Cambria"/>
                <a:ea typeface="Cambria"/>
                <a:cs typeface="Cambria"/>
                <a:sym typeface="Cambria"/>
              </a:rPr>
              <a:t>Nyuma y’aho</a:t>
            </a:r>
            <a:endParaRPr sz="2069" dirty="0">
              <a:solidFill>
                <a:schemeClr val="dk1"/>
              </a:solidFill>
              <a:latin typeface="Calibri"/>
              <a:ea typeface="Calibri"/>
              <a:cs typeface="Calibri"/>
              <a:sym typeface="Calibri"/>
            </a:endParaRPr>
          </a:p>
        </p:txBody>
      </p:sp>
      <p:sp>
        <p:nvSpPr>
          <p:cNvPr id="1030" name="Google Shape;1030;p48"/>
          <p:cNvSpPr/>
          <p:nvPr/>
        </p:nvSpPr>
        <p:spPr>
          <a:xfrm>
            <a:off x="8394192" y="2230700"/>
            <a:ext cx="2990088" cy="2193381"/>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16334F"/>
              </a:buClr>
              <a:buSzPts val="1800"/>
              <a:buFont typeface="Calibri"/>
              <a:buNone/>
            </a:pPr>
            <a:r>
              <a:rPr lang="rw-RW" sz="1800" dirty="0">
                <a:solidFill>
                  <a:srgbClr val="16334F"/>
                </a:solidFill>
                <a:latin typeface="Calibri"/>
                <a:ea typeface="Calibri"/>
                <a:cs typeface="Calibri"/>
                <a:sym typeface="Calibri"/>
              </a:rPr>
              <a:t>Komeza gusura. Gabanya isoni n’ikimwaro byamujyaho muri sosiyete. Shishikariza umuryango kubahiriza gahunda zose.</a:t>
            </a:r>
            <a:endParaRPr sz="1800" dirty="0">
              <a:solidFill>
                <a:schemeClr val="dk1"/>
              </a:solidFill>
              <a:latin typeface="Calibri"/>
              <a:ea typeface="Calibri"/>
              <a:cs typeface="Calibri"/>
              <a:sym typeface="Calibri"/>
            </a:endParaRPr>
          </a:p>
        </p:txBody>
      </p:sp>
      <p:sp>
        <p:nvSpPr>
          <p:cNvPr id="1031" name="Google Shape;1031;p48"/>
          <p:cNvSpPr/>
          <p:nvPr/>
        </p:nvSpPr>
        <p:spPr>
          <a:xfrm>
            <a:off x="548640" y="5288023"/>
            <a:ext cx="11091672" cy="658368"/>
          </a:xfrm>
          <a:prstGeom prst="roundRect">
            <a:avLst>
              <a:gd name="adj" fmla="val 13889"/>
            </a:avLst>
          </a:prstGeom>
          <a:solidFill>
            <a:srgbClr val="FDF6E3"/>
          </a:solidFill>
          <a:ln w="12700" cap="flat" cmpd="sng">
            <a:solidFill>
              <a:srgbClr val="EFD9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032" name="Google Shape;1032;p48"/>
          <p:cNvSpPr/>
          <p:nvPr/>
        </p:nvSpPr>
        <p:spPr>
          <a:xfrm>
            <a:off x="777240" y="5361175"/>
            <a:ext cx="10634472" cy="512064"/>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9C6500"/>
              </a:buClr>
              <a:buSzPts val="1737"/>
              <a:buFont typeface="Calibri"/>
              <a:buNone/>
            </a:pPr>
            <a:r>
              <a:rPr lang="rw-RW" sz="1800" dirty="0">
                <a:solidFill>
                  <a:srgbClr val="9C6500"/>
                </a:solidFill>
                <a:latin typeface="Calibri"/>
                <a:ea typeface="Calibri"/>
                <a:cs typeface="Calibri"/>
                <a:sym typeface="Calibri"/>
              </a:rPr>
              <a:t>Abantu benshi bananirwa gukomeza ubuvuzi hagati yaho boherejwe n’igihe bazasubirayo. Kubasura kwawe bibongerera imbaraga zo kwivuza uko bikwiye. </a:t>
            </a:r>
            <a:endParaRPr sz="1737" dirty="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37"/>
        <p:cNvGrpSpPr/>
        <p:nvPr/>
      </p:nvGrpSpPr>
      <p:grpSpPr>
        <a:xfrm>
          <a:off x="0" y="0"/>
          <a:ext cx="0" cy="0"/>
          <a:chOff x="0" y="0"/>
          <a:chExt cx="0" cy="0"/>
        </a:xfrm>
      </p:grpSpPr>
      <p:sp>
        <p:nvSpPr>
          <p:cNvPr id="1038" name="Google Shape;1038;p49"/>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3</a:t>
            </a:r>
            <a:endParaRPr sz="1100">
              <a:solidFill>
                <a:schemeClr val="dk1"/>
              </a:solidFill>
              <a:latin typeface="Calibri"/>
              <a:ea typeface="Calibri"/>
              <a:cs typeface="Calibri"/>
              <a:sym typeface="Calibri"/>
            </a:endParaRPr>
          </a:p>
        </p:txBody>
      </p:sp>
      <p:sp>
        <p:nvSpPr>
          <p:cNvPr id="1039" name="Google Shape;1039;p49"/>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dirty="0">
                <a:solidFill>
                  <a:srgbClr val="0F3D63"/>
                </a:solidFill>
                <a:latin typeface="Cambria"/>
                <a:ea typeface="Cambria"/>
                <a:cs typeface="Cambria"/>
                <a:sym typeface="Cambria"/>
              </a:rPr>
              <a:t>Isuzumabumenyi (1/2)</a:t>
            </a:r>
            <a:endParaRPr sz="3200" dirty="0">
              <a:solidFill>
                <a:schemeClr val="dk1"/>
              </a:solidFill>
              <a:latin typeface="Calibri"/>
              <a:ea typeface="Calibri"/>
              <a:cs typeface="Calibri"/>
              <a:sym typeface="Calibri"/>
            </a:endParaRPr>
          </a:p>
        </p:txBody>
      </p:sp>
      <p:sp>
        <p:nvSpPr>
          <p:cNvPr id="1040" name="Google Shape;1040;p49"/>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041" name="Google Shape;1041;p49"/>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042" name="Google Shape;1042;p49"/>
          <p:cNvSpPr/>
          <p:nvPr/>
        </p:nvSpPr>
        <p:spPr>
          <a:xfrm>
            <a:off x="804672" y="17922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Q1. Ubusanzwe umuntu uvuye muri sosiyete ajya he mbere?</a:t>
            </a:r>
            <a:endParaRPr sz="2000" dirty="0">
              <a:solidFill>
                <a:schemeClr val="dk1"/>
              </a:solidFill>
              <a:latin typeface="Calibri"/>
              <a:ea typeface="Calibri"/>
              <a:cs typeface="Calibri"/>
              <a:sym typeface="Calibri"/>
            </a:endParaRPr>
          </a:p>
        </p:txBody>
      </p:sp>
      <p:sp>
        <p:nvSpPr>
          <p:cNvPr id="1043" name="Google Shape;1043;p49"/>
          <p:cNvSpPr/>
          <p:nvPr/>
        </p:nvSpPr>
        <p:spPr>
          <a:xfrm>
            <a:off x="822960" y="22311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dirty="0">
                <a:solidFill>
                  <a:srgbClr val="16334F"/>
                </a:solidFill>
                <a:latin typeface="Calibri"/>
                <a:ea typeface="Calibri"/>
                <a:cs typeface="Calibri"/>
                <a:sym typeface="Calibri"/>
              </a:rPr>
              <a:t>A. K</a:t>
            </a:r>
            <a:r>
              <a:rPr lang="rw-RW" sz="1800" dirty="0">
                <a:solidFill>
                  <a:srgbClr val="16334F"/>
                </a:solidFill>
                <a:latin typeface="Calibri"/>
                <a:ea typeface="Calibri"/>
                <a:cs typeface="Calibri"/>
                <a:sym typeface="Calibri"/>
              </a:rPr>
              <a:t>u bitaro byoherezwamo abarwayi</a:t>
            </a:r>
            <a:endParaRPr sz="1728" dirty="0">
              <a:solidFill>
                <a:schemeClr val="dk1"/>
              </a:solidFill>
              <a:latin typeface="Calibri"/>
              <a:ea typeface="Calibri"/>
              <a:cs typeface="Calibri"/>
              <a:sym typeface="Calibri"/>
            </a:endParaRPr>
          </a:p>
        </p:txBody>
      </p:sp>
      <p:sp>
        <p:nvSpPr>
          <p:cNvPr id="1044" name="Google Shape;1044;p49"/>
          <p:cNvSpPr/>
          <p:nvPr/>
        </p:nvSpPr>
        <p:spPr>
          <a:xfrm>
            <a:off x="6172200" y="2231136"/>
            <a:ext cx="5166360" cy="438912"/>
          </a:xfrm>
          <a:prstGeom prst="rect">
            <a:avLst/>
          </a:prstGeom>
          <a:noFill/>
          <a:ln>
            <a:noFill/>
          </a:ln>
        </p:spPr>
        <p:txBody>
          <a:bodyPr spcFirstLastPara="1" wrap="square" lIns="0" tIns="0" rIns="0" bIns="0" anchor="ctr" anchorCtr="0">
            <a:normAutofit fontScale="92500"/>
          </a:bodyPr>
          <a:lstStyle/>
          <a:p>
            <a:pPr marL="0" marR="0" lvl="0" indent="0" algn="l" rtl="0">
              <a:spcBef>
                <a:spcPts val="0"/>
              </a:spcBef>
              <a:spcAft>
                <a:spcPts val="0"/>
              </a:spcAft>
              <a:buClr>
                <a:srgbClr val="1B7A46"/>
              </a:buClr>
              <a:buSzPts val="1728"/>
              <a:buFont typeface="Calibri"/>
              <a:buNone/>
            </a:pPr>
            <a:r>
              <a:rPr lang="rw-RW" sz="1800" b="1">
                <a:solidFill>
                  <a:srgbClr val="1B7A46"/>
                </a:solidFill>
                <a:latin typeface="Calibri"/>
                <a:ea typeface="Calibri"/>
                <a:cs typeface="Calibri"/>
                <a:sym typeface="Calibri"/>
              </a:rPr>
              <a:t>B. Ivuriro rito (health post) cyangwa ikigo nderabuzima ✓</a:t>
            </a:r>
            <a:endParaRPr sz="1728">
              <a:solidFill>
                <a:schemeClr val="dk1"/>
              </a:solidFill>
              <a:latin typeface="Calibri"/>
              <a:ea typeface="Calibri"/>
              <a:cs typeface="Calibri"/>
              <a:sym typeface="Calibri"/>
            </a:endParaRPr>
          </a:p>
        </p:txBody>
      </p:sp>
      <p:sp>
        <p:nvSpPr>
          <p:cNvPr id="1045" name="Google Shape;1045;p49"/>
          <p:cNvSpPr/>
          <p:nvPr/>
        </p:nvSpPr>
        <p:spPr>
          <a:xfrm>
            <a:off x="82296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a:solidFill>
                  <a:srgbClr val="16334F"/>
                </a:solidFill>
                <a:latin typeface="Calibri"/>
                <a:ea typeface="Calibri"/>
                <a:cs typeface="Calibri"/>
                <a:sym typeface="Calibri"/>
              </a:rPr>
              <a:t>C. </a:t>
            </a:r>
            <a:r>
              <a:rPr lang="rw-RW" sz="1800">
                <a:solidFill>
                  <a:srgbClr val="16334F"/>
                </a:solidFill>
                <a:latin typeface="Calibri"/>
                <a:ea typeface="Calibri"/>
                <a:cs typeface="Calibri"/>
                <a:sym typeface="Calibri"/>
              </a:rPr>
              <a:t>Iduka</a:t>
            </a:r>
            <a:endParaRPr sz="1728">
              <a:solidFill>
                <a:schemeClr val="dk1"/>
              </a:solidFill>
              <a:latin typeface="Calibri"/>
              <a:ea typeface="Calibri"/>
              <a:cs typeface="Calibri"/>
              <a:sym typeface="Calibri"/>
            </a:endParaRPr>
          </a:p>
        </p:txBody>
      </p:sp>
      <p:sp>
        <p:nvSpPr>
          <p:cNvPr id="1046" name="Google Shape;1046;p49"/>
          <p:cNvSpPr/>
          <p:nvPr/>
        </p:nvSpPr>
        <p:spPr>
          <a:xfrm>
            <a:off x="617220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a:solidFill>
                  <a:srgbClr val="16334F"/>
                </a:solidFill>
                <a:latin typeface="Calibri"/>
                <a:ea typeface="Calibri"/>
                <a:cs typeface="Calibri"/>
                <a:sym typeface="Calibri"/>
              </a:rPr>
              <a:t>D. </a:t>
            </a:r>
            <a:r>
              <a:rPr lang="rw-RW" sz="1800">
                <a:solidFill>
                  <a:srgbClr val="16334F"/>
                </a:solidFill>
                <a:latin typeface="Calibri"/>
                <a:ea typeface="Calibri"/>
                <a:cs typeface="Calibri"/>
                <a:sym typeface="Calibri"/>
              </a:rPr>
              <a:t>Nta hantu na hamwe.</a:t>
            </a:r>
            <a:endParaRPr sz="1728">
              <a:solidFill>
                <a:schemeClr val="dk1"/>
              </a:solidFill>
              <a:latin typeface="Calibri"/>
              <a:ea typeface="Calibri"/>
              <a:cs typeface="Calibri"/>
              <a:sym typeface="Calibri"/>
            </a:endParaRPr>
          </a:p>
        </p:txBody>
      </p:sp>
      <p:sp>
        <p:nvSpPr>
          <p:cNvPr id="1047" name="Google Shape;1047;p49"/>
          <p:cNvSpPr/>
          <p:nvPr/>
        </p:nvSpPr>
        <p:spPr>
          <a:xfrm>
            <a:off x="822960" y="3255264"/>
            <a:ext cx="10515600" cy="457200"/>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1B7A46"/>
              </a:buClr>
              <a:buSzPts val="1791"/>
              <a:buFont typeface="Calibri"/>
              <a:buNone/>
            </a:pPr>
            <a:r>
              <a:rPr lang="rw-RW" sz="1800" b="1" dirty="0">
                <a:solidFill>
                  <a:srgbClr val="1B7A46"/>
                </a:solidFill>
                <a:latin typeface="Calibri"/>
                <a:ea typeface="Calibri"/>
                <a:cs typeface="Calibri"/>
                <a:sym typeface="Calibri"/>
              </a:rPr>
              <a:t>Ukuri: B. </a:t>
            </a:r>
            <a:r>
              <a:rPr lang="rw-RW" sz="1800" i="1" dirty="0">
                <a:solidFill>
                  <a:srgbClr val="1B7A46"/>
                </a:solidFill>
                <a:latin typeface="Calibri"/>
                <a:ea typeface="Calibri"/>
                <a:cs typeface="Calibri"/>
                <a:sym typeface="Calibri"/>
              </a:rPr>
              <a:t>Ivuriro rito cyangwa ikigo nderabuzima ni ahantu hasanzwe umuntu atangirira yivuza.</a:t>
            </a:r>
            <a:endParaRPr sz="1791" dirty="0">
              <a:solidFill>
                <a:schemeClr val="dk1"/>
              </a:solidFill>
              <a:latin typeface="Calibri"/>
              <a:ea typeface="Calibri"/>
              <a:cs typeface="Calibri"/>
              <a:sym typeface="Calibri"/>
            </a:endParaRPr>
          </a:p>
        </p:txBody>
      </p:sp>
      <p:sp>
        <p:nvSpPr>
          <p:cNvPr id="1048" name="Google Shape;1048;p49"/>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049" name="Google Shape;1049;p49"/>
          <p:cNvSpPr/>
          <p:nvPr/>
        </p:nvSpPr>
        <p:spPr>
          <a:xfrm>
            <a:off x="804672" y="42153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Q2. Umuntu avuga ko kwipimisha bizatuma indwara ikwirakwira. Ugomba:</a:t>
            </a:r>
            <a:endParaRPr sz="2000" dirty="0">
              <a:solidFill>
                <a:schemeClr val="dk1"/>
              </a:solidFill>
              <a:latin typeface="Calibri"/>
              <a:ea typeface="Calibri"/>
              <a:cs typeface="Calibri"/>
              <a:sym typeface="Calibri"/>
            </a:endParaRPr>
          </a:p>
        </p:txBody>
      </p:sp>
      <p:sp>
        <p:nvSpPr>
          <p:cNvPr id="1050" name="Google Shape;1050;p49"/>
          <p:cNvSpPr/>
          <p:nvPr/>
        </p:nvSpPr>
        <p:spPr>
          <a:xfrm>
            <a:off x="822960" y="46542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Kwemeranya na we</a:t>
            </a:r>
            <a:endParaRPr sz="1728" dirty="0">
              <a:solidFill>
                <a:schemeClr val="dk1"/>
              </a:solidFill>
              <a:latin typeface="Calibri"/>
              <a:ea typeface="Calibri"/>
              <a:cs typeface="Calibri"/>
              <a:sym typeface="Calibri"/>
            </a:endParaRPr>
          </a:p>
        </p:txBody>
      </p:sp>
      <p:sp>
        <p:nvSpPr>
          <p:cNvPr id="1051" name="Google Shape;1051;p49"/>
          <p:cNvSpPr/>
          <p:nvPr/>
        </p:nvSpPr>
        <p:spPr>
          <a:xfrm>
            <a:off x="6172200" y="46542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B7A46"/>
              </a:buClr>
              <a:buSzPts val="1728"/>
              <a:buFont typeface="Calibri"/>
              <a:buNone/>
            </a:pPr>
            <a:r>
              <a:rPr lang="rw-RW" sz="1800" b="1" dirty="0">
                <a:solidFill>
                  <a:srgbClr val="1B7A46"/>
                </a:solidFill>
                <a:latin typeface="Calibri"/>
                <a:ea typeface="Calibri"/>
                <a:cs typeface="Calibri"/>
                <a:sym typeface="Calibri"/>
              </a:rPr>
              <a:t>B. Gusobanura mu bwubahane ko ibyo atari ukuri ✓</a:t>
            </a:r>
            <a:endParaRPr sz="1728" dirty="0">
              <a:solidFill>
                <a:schemeClr val="dk1"/>
              </a:solidFill>
              <a:latin typeface="Calibri"/>
              <a:ea typeface="Calibri"/>
              <a:cs typeface="Calibri"/>
              <a:sym typeface="Calibri"/>
            </a:endParaRPr>
          </a:p>
        </p:txBody>
      </p:sp>
      <p:sp>
        <p:nvSpPr>
          <p:cNvPr id="1052" name="Google Shape;1052;p49"/>
          <p:cNvSpPr/>
          <p:nvPr/>
        </p:nvSpPr>
        <p:spPr>
          <a:xfrm>
            <a:off x="82296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a:solidFill>
                  <a:srgbClr val="16334F"/>
                </a:solidFill>
                <a:latin typeface="Calibri"/>
                <a:ea typeface="Calibri"/>
                <a:cs typeface="Calibri"/>
                <a:sym typeface="Calibri"/>
              </a:rPr>
              <a:t>C. </a:t>
            </a:r>
            <a:r>
              <a:rPr lang="rw-RW" sz="1800">
                <a:solidFill>
                  <a:srgbClr val="16334F"/>
                </a:solidFill>
                <a:latin typeface="Calibri"/>
                <a:ea typeface="Calibri"/>
                <a:cs typeface="Calibri"/>
                <a:sym typeface="Calibri"/>
              </a:rPr>
              <a:t>Ntugire icyo uvuga</a:t>
            </a:r>
            <a:endParaRPr sz="1728">
              <a:solidFill>
                <a:schemeClr val="dk1"/>
              </a:solidFill>
              <a:latin typeface="Calibri"/>
              <a:ea typeface="Calibri"/>
              <a:cs typeface="Calibri"/>
              <a:sym typeface="Calibri"/>
            </a:endParaRPr>
          </a:p>
        </p:txBody>
      </p:sp>
      <p:sp>
        <p:nvSpPr>
          <p:cNvPr id="1053" name="Google Shape;1053;p49"/>
          <p:cNvSpPr/>
          <p:nvPr/>
        </p:nvSpPr>
        <p:spPr>
          <a:xfrm>
            <a:off x="617220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dirty="0">
                <a:solidFill>
                  <a:srgbClr val="16334F"/>
                </a:solidFill>
                <a:latin typeface="Calibri"/>
                <a:ea typeface="Calibri"/>
                <a:cs typeface="Calibri"/>
                <a:sym typeface="Calibri"/>
              </a:rPr>
              <a:t>D. Kumu</a:t>
            </a:r>
            <a:r>
              <a:rPr lang="rw-RW" sz="1800" dirty="0">
                <a:solidFill>
                  <a:srgbClr val="16334F"/>
                </a:solidFill>
                <a:latin typeface="Calibri"/>
                <a:ea typeface="Calibri"/>
                <a:cs typeface="Calibri"/>
                <a:sym typeface="Calibri"/>
              </a:rPr>
              <a:t>gira inama yo gusiba ikizamini</a:t>
            </a:r>
            <a:endParaRPr sz="1728" dirty="0">
              <a:solidFill>
                <a:schemeClr val="dk1"/>
              </a:solidFill>
              <a:latin typeface="Calibri"/>
              <a:ea typeface="Calibri"/>
              <a:cs typeface="Calibri"/>
              <a:sym typeface="Calibri"/>
            </a:endParaRPr>
          </a:p>
        </p:txBody>
      </p:sp>
      <p:sp>
        <p:nvSpPr>
          <p:cNvPr id="1054" name="Google Shape;1054;p49"/>
          <p:cNvSpPr/>
          <p:nvPr/>
        </p:nvSpPr>
        <p:spPr>
          <a:xfrm>
            <a:off x="822960" y="5678424"/>
            <a:ext cx="10515600" cy="4572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rgbClr val="1B7A46"/>
              </a:buClr>
              <a:buSzPts val="1656"/>
              <a:buFont typeface="Calibri"/>
              <a:buNone/>
            </a:pPr>
            <a:r>
              <a:rPr lang="rw-RW" sz="1800" b="1" dirty="0">
                <a:solidFill>
                  <a:srgbClr val="1B7A46"/>
                </a:solidFill>
                <a:latin typeface="Calibri"/>
                <a:ea typeface="Calibri"/>
                <a:cs typeface="Calibri"/>
                <a:sym typeface="Calibri"/>
              </a:rPr>
              <a:t>Ukuri: B. Kosora imyumvire itariyo mu bwubahane. Gufata agace gato k'umubiri ngo gasuzumwe ntibituma indwara ikwirakwira.</a:t>
            </a:r>
            <a:endParaRPr sz="1656" dirty="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59"/>
        <p:cNvGrpSpPr/>
        <p:nvPr/>
      </p:nvGrpSpPr>
      <p:grpSpPr>
        <a:xfrm>
          <a:off x="0" y="0"/>
          <a:ext cx="0" cy="0"/>
          <a:chOff x="0" y="0"/>
          <a:chExt cx="0" cy="0"/>
        </a:xfrm>
      </p:grpSpPr>
      <p:sp>
        <p:nvSpPr>
          <p:cNvPr id="1060" name="Google Shape;1060;p50"/>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3</a:t>
            </a:r>
            <a:endParaRPr sz="1100">
              <a:solidFill>
                <a:schemeClr val="dk1"/>
              </a:solidFill>
              <a:latin typeface="Calibri"/>
              <a:ea typeface="Calibri"/>
              <a:cs typeface="Calibri"/>
              <a:sym typeface="Calibri"/>
            </a:endParaRPr>
          </a:p>
        </p:txBody>
      </p:sp>
      <p:sp>
        <p:nvSpPr>
          <p:cNvPr id="1061" name="Google Shape;1061;p50"/>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dirty="0">
                <a:solidFill>
                  <a:srgbClr val="0F3D63"/>
                </a:solidFill>
                <a:latin typeface="Cambria"/>
                <a:ea typeface="Cambria"/>
                <a:cs typeface="Cambria"/>
                <a:sym typeface="Cambria"/>
              </a:rPr>
              <a:t>Isuzumabumenyi (2/2)</a:t>
            </a:r>
            <a:endParaRPr sz="3200" dirty="0">
              <a:solidFill>
                <a:schemeClr val="dk1"/>
              </a:solidFill>
              <a:latin typeface="Calibri"/>
              <a:ea typeface="Calibri"/>
              <a:cs typeface="Calibri"/>
              <a:sym typeface="Calibri"/>
            </a:endParaRPr>
          </a:p>
        </p:txBody>
      </p:sp>
      <p:sp>
        <p:nvSpPr>
          <p:cNvPr id="1062" name="Google Shape;1062;p50"/>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063" name="Google Shape;1063;p50"/>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064" name="Google Shape;1064;p50"/>
          <p:cNvSpPr/>
          <p:nvPr/>
        </p:nvSpPr>
        <p:spPr>
          <a:xfrm>
            <a:off x="804672" y="17922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Q3. Umuntu yatinye kujya kwisuzumisha. Igisubizo cyiza ni:</a:t>
            </a:r>
            <a:endParaRPr sz="2000" dirty="0">
              <a:solidFill>
                <a:schemeClr val="dk1"/>
              </a:solidFill>
              <a:latin typeface="Calibri"/>
              <a:ea typeface="Calibri"/>
              <a:cs typeface="Calibri"/>
              <a:sym typeface="Calibri"/>
            </a:endParaRPr>
          </a:p>
        </p:txBody>
      </p:sp>
      <p:sp>
        <p:nvSpPr>
          <p:cNvPr id="1065" name="Google Shape;1065;p50"/>
          <p:cNvSpPr/>
          <p:nvPr/>
        </p:nvSpPr>
        <p:spPr>
          <a:xfrm>
            <a:off x="822960" y="22311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92"/>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 Kumujyana ku ngufu</a:t>
            </a:r>
            <a:endParaRPr sz="1692" dirty="0">
              <a:solidFill>
                <a:schemeClr val="dk1"/>
              </a:solidFill>
              <a:latin typeface="Calibri"/>
              <a:ea typeface="Calibri"/>
              <a:cs typeface="Calibri"/>
              <a:sym typeface="Calibri"/>
            </a:endParaRPr>
          </a:p>
        </p:txBody>
      </p:sp>
      <p:sp>
        <p:nvSpPr>
          <p:cNvPr id="1066" name="Google Shape;1066;p50"/>
          <p:cNvSpPr/>
          <p:nvPr/>
        </p:nvSpPr>
        <p:spPr>
          <a:xfrm>
            <a:off x="6172200" y="2231136"/>
            <a:ext cx="5347138" cy="438912"/>
          </a:xfrm>
          <a:prstGeom prst="rect">
            <a:avLst/>
          </a:prstGeom>
          <a:noFill/>
          <a:ln>
            <a:noFill/>
          </a:ln>
        </p:spPr>
        <p:txBody>
          <a:bodyPr spcFirstLastPara="1" wrap="square" lIns="0" tIns="0" rIns="0" bIns="0" anchor="ctr" anchorCtr="0">
            <a:normAutofit fontScale="92500" lnSpcReduction="20000"/>
          </a:bodyPr>
          <a:lstStyle/>
          <a:p>
            <a:pPr marL="0" marR="0" lvl="0" indent="0" algn="l" rtl="0">
              <a:spcBef>
                <a:spcPts val="0"/>
              </a:spcBef>
              <a:spcAft>
                <a:spcPts val="0"/>
              </a:spcAft>
              <a:buClr>
                <a:srgbClr val="1B7A46"/>
              </a:buClr>
              <a:buSzPts val="1557"/>
              <a:buFont typeface="Calibri"/>
              <a:buNone/>
            </a:pPr>
            <a:r>
              <a:rPr lang="rw-RW" sz="1800" b="1" dirty="0">
                <a:solidFill>
                  <a:srgbClr val="1B7A46"/>
                </a:solidFill>
                <a:latin typeface="Calibri"/>
                <a:ea typeface="Calibri"/>
                <a:cs typeface="Calibri"/>
                <a:sym typeface="Calibri"/>
              </a:rPr>
              <a:t>B. Tega amatwi, umumare ubwoba, kandi mutegurire hamwe ✓</a:t>
            </a:r>
            <a:endParaRPr sz="1557" dirty="0">
              <a:solidFill>
                <a:schemeClr val="dk1"/>
              </a:solidFill>
              <a:latin typeface="Calibri"/>
              <a:ea typeface="Calibri"/>
              <a:cs typeface="Calibri"/>
              <a:sym typeface="Calibri"/>
            </a:endParaRPr>
          </a:p>
        </p:txBody>
      </p:sp>
      <p:sp>
        <p:nvSpPr>
          <p:cNvPr id="1067" name="Google Shape;1067;p50"/>
          <p:cNvSpPr/>
          <p:nvPr/>
        </p:nvSpPr>
        <p:spPr>
          <a:xfrm>
            <a:off x="82296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92"/>
              <a:buFont typeface="Calibri"/>
              <a:buNone/>
            </a:pPr>
            <a:r>
              <a:rPr lang="rw-RW" sz="1800" b="1" dirty="0">
                <a:solidFill>
                  <a:srgbClr val="16334F"/>
                </a:solidFill>
                <a:latin typeface="Calibri"/>
                <a:ea typeface="Calibri"/>
                <a:cs typeface="Calibri"/>
                <a:sym typeface="Calibri"/>
              </a:rPr>
              <a:t>C. Mu</a:t>
            </a:r>
            <a:r>
              <a:rPr lang="rw-RW" sz="1800" dirty="0">
                <a:solidFill>
                  <a:srgbClr val="16334F"/>
                </a:solidFill>
                <a:latin typeface="Calibri"/>
                <a:ea typeface="Calibri"/>
                <a:cs typeface="Calibri"/>
                <a:sym typeface="Calibri"/>
              </a:rPr>
              <a:t>bwire ko azapfa</a:t>
            </a:r>
            <a:endParaRPr sz="1692" dirty="0">
              <a:solidFill>
                <a:schemeClr val="dk1"/>
              </a:solidFill>
              <a:latin typeface="Calibri"/>
              <a:ea typeface="Calibri"/>
              <a:cs typeface="Calibri"/>
              <a:sym typeface="Calibri"/>
            </a:endParaRPr>
          </a:p>
        </p:txBody>
      </p:sp>
      <p:sp>
        <p:nvSpPr>
          <p:cNvPr id="1068" name="Google Shape;1068;p50"/>
          <p:cNvSpPr/>
          <p:nvPr/>
        </p:nvSpPr>
        <p:spPr>
          <a:xfrm>
            <a:off x="617220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92"/>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Hagarika kubasura</a:t>
            </a:r>
            <a:endParaRPr sz="1692" dirty="0">
              <a:solidFill>
                <a:schemeClr val="dk1"/>
              </a:solidFill>
              <a:latin typeface="Calibri"/>
              <a:ea typeface="Calibri"/>
              <a:cs typeface="Calibri"/>
              <a:sym typeface="Calibri"/>
            </a:endParaRPr>
          </a:p>
        </p:txBody>
      </p:sp>
      <p:sp>
        <p:nvSpPr>
          <p:cNvPr id="1069" name="Google Shape;1069;p50"/>
          <p:cNvSpPr/>
          <p:nvPr/>
        </p:nvSpPr>
        <p:spPr>
          <a:xfrm>
            <a:off x="822960" y="325526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Ukuri: B. Gutega amatwi no gutegurana hamwe ni byo bifasha umuntu kwemera ubuvuzi.</a:t>
            </a:r>
            <a:endParaRPr sz="1800" dirty="0">
              <a:solidFill>
                <a:schemeClr val="dk1"/>
              </a:solidFill>
              <a:latin typeface="Calibri"/>
              <a:ea typeface="Calibri"/>
              <a:cs typeface="Calibri"/>
              <a:sym typeface="Calibri"/>
            </a:endParaRPr>
          </a:p>
        </p:txBody>
      </p:sp>
      <p:sp>
        <p:nvSpPr>
          <p:cNvPr id="1070" name="Google Shape;1070;p50"/>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1" name="Google Shape;1071;p50"/>
          <p:cNvSpPr/>
          <p:nvPr/>
        </p:nvSpPr>
        <p:spPr>
          <a:xfrm>
            <a:off x="804672" y="42153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Q4. Gukurikirana neza ku CHW umuntu yamaze kohereza bisobanura:</a:t>
            </a:r>
            <a:endParaRPr sz="2000" dirty="0">
              <a:solidFill>
                <a:schemeClr val="dk1"/>
              </a:solidFill>
              <a:latin typeface="Calibri"/>
              <a:ea typeface="Calibri"/>
              <a:cs typeface="Calibri"/>
              <a:sym typeface="Calibri"/>
            </a:endParaRPr>
          </a:p>
        </p:txBody>
      </p:sp>
      <p:sp>
        <p:nvSpPr>
          <p:cNvPr id="1072" name="Google Shape;1072;p50"/>
          <p:cNvSpPr/>
          <p:nvPr/>
        </p:nvSpPr>
        <p:spPr>
          <a:xfrm>
            <a:off x="822960" y="46542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92"/>
              <a:buFont typeface="Calibri"/>
              <a:buNone/>
            </a:pPr>
            <a:r>
              <a:rPr lang="rw-RW" sz="1800" b="1" dirty="0">
                <a:solidFill>
                  <a:srgbClr val="16334F"/>
                </a:solidFill>
                <a:latin typeface="Calibri"/>
                <a:ea typeface="Calibri"/>
                <a:cs typeface="Calibri"/>
                <a:sym typeface="Calibri"/>
              </a:rPr>
              <a:t>A. Kut</a:t>
            </a:r>
            <a:r>
              <a:rPr lang="rw-RW" sz="1800" dirty="0">
                <a:solidFill>
                  <a:srgbClr val="16334F"/>
                </a:solidFill>
                <a:latin typeface="Calibri"/>
                <a:ea typeface="Calibri"/>
                <a:cs typeface="Calibri"/>
                <a:sym typeface="Calibri"/>
              </a:rPr>
              <a:t>ongera kubivugaho ukundi</a:t>
            </a:r>
            <a:endParaRPr sz="1692" dirty="0">
              <a:solidFill>
                <a:schemeClr val="dk1"/>
              </a:solidFill>
              <a:latin typeface="Calibri"/>
              <a:ea typeface="Calibri"/>
              <a:cs typeface="Calibri"/>
              <a:sym typeface="Calibri"/>
            </a:endParaRPr>
          </a:p>
        </p:txBody>
      </p:sp>
      <p:sp>
        <p:nvSpPr>
          <p:cNvPr id="1073" name="Google Shape;1073;p50"/>
          <p:cNvSpPr/>
          <p:nvPr/>
        </p:nvSpPr>
        <p:spPr>
          <a:xfrm>
            <a:off x="6172200" y="46542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B7A46"/>
              </a:buClr>
              <a:buSzPts val="1692"/>
              <a:buFont typeface="Calibri"/>
              <a:buNone/>
            </a:pPr>
            <a:r>
              <a:rPr lang="rw-RW" sz="1800" b="1" dirty="0">
                <a:solidFill>
                  <a:srgbClr val="1B7A46"/>
                </a:solidFill>
                <a:latin typeface="Calibri"/>
                <a:ea typeface="Calibri"/>
                <a:cs typeface="Calibri"/>
                <a:sym typeface="Calibri"/>
              </a:rPr>
              <a:t>B. Kubaza niba yagiye n'icyo yabwiwe ✓</a:t>
            </a:r>
            <a:endParaRPr sz="1692" dirty="0">
              <a:solidFill>
                <a:schemeClr val="dk1"/>
              </a:solidFill>
              <a:latin typeface="Calibri"/>
              <a:ea typeface="Calibri"/>
              <a:cs typeface="Calibri"/>
              <a:sym typeface="Calibri"/>
            </a:endParaRPr>
          </a:p>
        </p:txBody>
      </p:sp>
      <p:sp>
        <p:nvSpPr>
          <p:cNvPr id="1074" name="Google Shape;1074;p50"/>
          <p:cNvSpPr/>
          <p:nvPr/>
        </p:nvSpPr>
        <p:spPr>
          <a:xfrm>
            <a:off x="82296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92"/>
              <a:buFont typeface="Calibri"/>
              <a:buNone/>
            </a:pPr>
            <a:r>
              <a:rPr lang="rw-RW" sz="1800" b="1" dirty="0">
                <a:solidFill>
                  <a:srgbClr val="16334F"/>
                </a:solidFill>
                <a:latin typeface="Calibri"/>
                <a:ea typeface="Calibri"/>
                <a:cs typeface="Calibri"/>
                <a:sym typeface="Calibri"/>
              </a:rPr>
              <a:t>C. </a:t>
            </a:r>
            <a:r>
              <a:rPr lang="rw-RW" sz="1800" dirty="0">
                <a:solidFill>
                  <a:srgbClr val="16334F"/>
                </a:solidFill>
                <a:latin typeface="Calibri"/>
                <a:ea typeface="Calibri"/>
                <a:cs typeface="Calibri"/>
                <a:sym typeface="Calibri"/>
              </a:rPr>
              <a:t>Kumuha imiti</a:t>
            </a:r>
            <a:endParaRPr sz="1692" dirty="0">
              <a:solidFill>
                <a:schemeClr val="dk1"/>
              </a:solidFill>
              <a:latin typeface="Calibri"/>
              <a:ea typeface="Calibri"/>
              <a:cs typeface="Calibri"/>
              <a:sym typeface="Calibri"/>
            </a:endParaRPr>
          </a:p>
        </p:txBody>
      </p:sp>
      <p:sp>
        <p:nvSpPr>
          <p:cNvPr id="1075" name="Google Shape;1075;p50"/>
          <p:cNvSpPr/>
          <p:nvPr/>
        </p:nvSpPr>
        <p:spPr>
          <a:xfrm>
            <a:off x="617220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92"/>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Kubwira abaturanyi be uko byagenze</a:t>
            </a:r>
            <a:endParaRPr sz="1692" dirty="0">
              <a:solidFill>
                <a:schemeClr val="dk1"/>
              </a:solidFill>
              <a:latin typeface="Calibri"/>
              <a:ea typeface="Calibri"/>
              <a:cs typeface="Calibri"/>
              <a:sym typeface="Calibri"/>
            </a:endParaRPr>
          </a:p>
        </p:txBody>
      </p:sp>
      <p:sp>
        <p:nvSpPr>
          <p:cNvPr id="1076" name="Google Shape;1076;p50"/>
          <p:cNvSpPr/>
          <p:nvPr/>
        </p:nvSpPr>
        <p:spPr>
          <a:xfrm>
            <a:off x="822960" y="567842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Ukuri: B. </a:t>
            </a:r>
            <a:r>
              <a:rPr lang="rw-RW" sz="1800" i="1" dirty="0">
                <a:solidFill>
                  <a:srgbClr val="1B7A46"/>
                </a:solidFill>
                <a:latin typeface="Calibri"/>
                <a:ea typeface="Calibri"/>
                <a:cs typeface="Calibri"/>
                <a:sym typeface="Calibri"/>
              </a:rPr>
              <a:t>Gukurikirana birinda abantu kucikiriza ubuvuzi, bikanubahiriza ubuzima bwe bwite.</a:t>
            </a:r>
            <a:endParaRPr sz="1800" dirty="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81"/>
        <p:cNvGrpSpPr/>
        <p:nvPr/>
      </p:nvGrpSpPr>
      <p:grpSpPr>
        <a:xfrm>
          <a:off x="0" y="0"/>
          <a:ext cx="0" cy="0"/>
          <a:chOff x="0" y="0"/>
          <a:chExt cx="0" cy="0"/>
        </a:xfrm>
      </p:grpSpPr>
      <p:sp>
        <p:nvSpPr>
          <p:cNvPr id="1082" name="Google Shape;1082;p51"/>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3</a:t>
            </a:r>
            <a:endParaRPr sz="1100">
              <a:solidFill>
                <a:schemeClr val="dk1"/>
              </a:solidFill>
              <a:latin typeface="Calibri"/>
              <a:ea typeface="Calibri"/>
              <a:cs typeface="Calibri"/>
              <a:sym typeface="Calibri"/>
            </a:endParaRPr>
          </a:p>
        </p:txBody>
      </p:sp>
      <p:sp>
        <p:nvSpPr>
          <p:cNvPr id="1083" name="Google Shape;1083;p51"/>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dirty="0">
                <a:solidFill>
                  <a:srgbClr val="0F3D63"/>
                </a:solidFill>
                <a:latin typeface="Cambria"/>
                <a:ea typeface="Cambria"/>
                <a:cs typeface="Cambria"/>
                <a:sym typeface="Cambria"/>
              </a:rPr>
              <a:t>Tekereza ku kazi kawe</a:t>
            </a:r>
            <a:endParaRPr sz="3400" dirty="0">
              <a:solidFill>
                <a:schemeClr val="dk1"/>
              </a:solidFill>
              <a:latin typeface="Calibri"/>
              <a:ea typeface="Calibri"/>
              <a:cs typeface="Calibri"/>
              <a:sym typeface="Calibri"/>
            </a:endParaRPr>
          </a:p>
        </p:txBody>
      </p:sp>
      <p:sp>
        <p:nvSpPr>
          <p:cNvPr id="1084" name="Google Shape;1084;p51"/>
          <p:cNvSpPr/>
          <p:nvPr/>
        </p:nvSpPr>
        <p:spPr>
          <a:xfrm>
            <a:off x="548640" y="1371600"/>
            <a:ext cx="110642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i="1" dirty="0">
                <a:solidFill>
                  <a:srgbClr val="16334F"/>
                </a:solidFill>
                <a:latin typeface="Calibri"/>
                <a:ea typeface="Calibri"/>
                <a:cs typeface="Calibri"/>
                <a:sym typeface="Calibri"/>
              </a:rPr>
              <a:t>Amabwiriza k’uhugurwa: Andika igisubizo cyawe mu gasanduku k'inyandiko. Ibi bisubizo ntibihabwa amanota.</a:t>
            </a:r>
            <a:endParaRPr sz="1800" dirty="0">
              <a:solidFill>
                <a:schemeClr val="dk1"/>
              </a:solidFill>
              <a:latin typeface="Calibri"/>
              <a:ea typeface="Calibri"/>
              <a:cs typeface="Calibri"/>
              <a:sym typeface="Calibri"/>
            </a:endParaRPr>
          </a:p>
        </p:txBody>
      </p:sp>
      <p:sp>
        <p:nvSpPr>
          <p:cNvPr id="1085" name="Google Shape;1085;p51"/>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086" name="Google Shape;1086;p51"/>
          <p:cNvSpPr/>
          <p:nvPr/>
        </p:nvSpPr>
        <p:spPr>
          <a:xfrm>
            <a:off x="548640" y="2057400"/>
            <a:ext cx="11091672" cy="868680"/>
          </a:xfrm>
          <a:prstGeom prst="roundRect">
            <a:avLst>
              <a:gd name="adj" fmla="val 1052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87" name="Google Shape;1087;p51"/>
          <p:cNvSpPr/>
          <p:nvPr/>
        </p:nvSpPr>
        <p:spPr>
          <a:xfrm>
            <a:off x="822960" y="2258568"/>
            <a:ext cx="475488" cy="475488"/>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88" name="Google Shape;1088;p51"/>
          <p:cNvSpPr/>
          <p:nvPr/>
        </p:nvSpPr>
        <p:spPr>
          <a:xfrm>
            <a:off x="822960" y="2258568"/>
            <a:ext cx="475488"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mbria"/>
              <a:buNone/>
            </a:pPr>
            <a:r>
              <a:rPr lang="rw-RW" sz="1800" b="1">
                <a:solidFill>
                  <a:srgbClr val="FFFFFF"/>
                </a:solidFill>
                <a:latin typeface="Cambria"/>
                <a:ea typeface="Cambria"/>
                <a:cs typeface="Cambria"/>
                <a:sym typeface="Cambria"/>
              </a:rPr>
              <a:t>1</a:t>
            </a:r>
            <a:endParaRPr sz="1800">
              <a:solidFill>
                <a:schemeClr val="dk1"/>
              </a:solidFill>
              <a:latin typeface="Calibri"/>
              <a:ea typeface="Calibri"/>
              <a:cs typeface="Calibri"/>
              <a:sym typeface="Calibri"/>
            </a:endParaRPr>
          </a:p>
        </p:txBody>
      </p:sp>
      <p:sp>
        <p:nvSpPr>
          <p:cNvPr id="1089" name="Google Shape;1089;p51"/>
          <p:cNvSpPr/>
          <p:nvPr/>
        </p:nvSpPr>
        <p:spPr>
          <a:xfrm>
            <a:off x="1481328" y="2148840"/>
            <a:ext cx="9875520" cy="6858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6334F"/>
              </a:buClr>
              <a:buSzPts val="1900"/>
              <a:buFont typeface="Calibri"/>
              <a:buNone/>
            </a:pPr>
            <a:r>
              <a:rPr lang="rw-RW" sz="1900" dirty="0">
                <a:solidFill>
                  <a:srgbClr val="16334F"/>
                </a:solidFill>
                <a:latin typeface="Calibri"/>
                <a:ea typeface="Calibri"/>
                <a:cs typeface="Calibri"/>
                <a:sym typeface="Calibri"/>
              </a:rPr>
              <a:t>Ni gute wafasha umuntu wo mu gace kawe kugera aho yoherejwe kwivuriza?</a:t>
            </a:r>
            <a:endParaRPr sz="1900" dirty="0">
              <a:solidFill>
                <a:schemeClr val="dk1"/>
              </a:solidFill>
              <a:latin typeface="Calibri"/>
              <a:ea typeface="Calibri"/>
              <a:cs typeface="Calibri"/>
              <a:sym typeface="Calibri"/>
            </a:endParaRPr>
          </a:p>
        </p:txBody>
      </p:sp>
      <p:sp>
        <p:nvSpPr>
          <p:cNvPr id="1090" name="Google Shape;1090;p51"/>
          <p:cNvSpPr/>
          <p:nvPr/>
        </p:nvSpPr>
        <p:spPr>
          <a:xfrm>
            <a:off x="548640" y="3145536"/>
            <a:ext cx="11091672" cy="868680"/>
          </a:xfrm>
          <a:prstGeom prst="roundRect">
            <a:avLst>
              <a:gd name="adj" fmla="val 1052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91" name="Google Shape;1091;p51"/>
          <p:cNvSpPr/>
          <p:nvPr/>
        </p:nvSpPr>
        <p:spPr>
          <a:xfrm>
            <a:off x="822960" y="3346704"/>
            <a:ext cx="475488" cy="475488"/>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92" name="Google Shape;1092;p51"/>
          <p:cNvSpPr/>
          <p:nvPr/>
        </p:nvSpPr>
        <p:spPr>
          <a:xfrm>
            <a:off x="822960" y="3346704"/>
            <a:ext cx="475488"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mbria"/>
              <a:buNone/>
            </a:pPr>
            <a:r>
              <a:rPr lang="rw-RW" sz="1800" b="1">
                <a:solidFill>
                  <a:srgbClr val="FFFFFF"/>
                </a:solidFill>
                <a:latin typeface="Cambria"/>
                <a:ea typeface="Cambria"/>
                <a:cs typeface="Cambria"/>
                <a:sym typeface="Cambria"/>
              </a:rPr>
              <a:t>2</a:t>
            </a:r>
            <a:endParaRPr sz="1800">
              <a:solidFill>
                <a:schemeClr val="dk1"/>
              </a:solidFill>
              <a:latin typeface="Calibri"/>
              <a:ea typeface="Calibri"/>
              <a:cs typeface="Calibri"/>
              <a:sym typeface="Calibri"/>
            </a:endParaRPr>
          </a:p>
        </p:txBody>
      </p:sp>
      <p:sp>
        <p:nvSpPr>
          <p:cNvPr id="1093" name="Google Shape;1093;p51"/>
          <p:cNvSpPr/>
          <p:nvPr/>
        </p:nvSpPr>
        <p:spPr>
          <a:xfrm>
            <a:off x="1481328" y="3236976"/>
            <a:ext cx="9875520" cy="6858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6334F"/>
              </a:buClr>
              <a:buSzPts val="1900"/>
              <a:buFont typeface="Calibri"/>
              <a:buNone/>
            </a:pPr>
            <a:r>
              <a:rPr lang="rw-RW" sz="1900" dirty="0">
                <a:solidFill>
                  <a:srgbClr val="16334F"/>
                </a:solidFill>
                <a:latin typeface="Calibri"/>
                <a:ea typeface="Calibri"/>
                <a:cs typeface="Calibri"/>
                <a:sym typeface="Calibri"/>
              </a:rPr>
              <a:t>Ni iki wabwira umuntu uvuga ko niba arwaye kanseri nta kintu na kimwe cyakorwa, amazi yarenze inkombe?</a:t>
            </a:r>
            <a:endParaRPr sz="1900" dirty="0">
              <a:solidFill>
                <a:schemeClr val="dk1"/>
              </a:solidFill>
              <a:latin typeface="Calibri"/>
              <a:ea typeface="Calibri"/>
              <a:cs typeface="Calibri"/>
              <a:sym typeface="Calibri"/>
            </a:endParaRPr>
          </a:p>
        </p:txBody>
      </p:sp>
      <p:sp>
        <p:nvSpPr>
          <p:cNvPr id="1094" name="Google Shape;1094;p51"/>
          <p:cNvSpPr/>
          <p:nvPr/>
        </p:nvSpPr>
        <p:spPr>
          <a:xfrm>
            <a:off x="548640" y="4233672"/>
            <a:ext cx="11091672" cy="868680"/>
          </a:xfrm>
          <a:prstGeom prst="roundRect">
            <a:avLst>
              <a:gd name="adj" fmla="val 1052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95" name="Google Shape;1095;p51"/>
          <p:cNvSpPr/>
          <p:nvPr/>
        </p:nvSpPr>
        <p:spPr>
          <a:xfrm>
            <a:off x="822960" y="4434840"/>
            <a:ext cx="475488" cy="475488"/>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96" name="Google Shape;1096;p51"/>
          <p:cNvSpPr/>
          <p:nvPr/>
        </p:nvSpPr>
        <p:spPr>
          <a:xfrm>
            <a:off x="822960" y="4434840"/>
            <a:ext cx="475488"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mbria"/>
              <a:buNone/>
            </a:pPr>
            <a:r>
              <a:rPr lang="rw-RW" sz="1800" b="1">
                <a:solidFill>
                  <a:srgbClr val="FFFFFF"/>
                </a:solidFill>
                <a:latin typeface="Cambria"/>
                <a:ea typeface="Cambria"/>
                <a:cs typeface="Cambria"/>
                <a:sym typeface="Cambria"/>
              </a:rPr>
              <a:t>3</a:t>
            </a:r>
            <a:endParaRPr sz="1800">
              <a:solidFill>
                <a:schemeClr val="dk1"/>
              </a:solidFill>
              <a:latin typeface="Calibri"/>
              <a:ea typeface="Calibri"/>
              <a:cs typeface="Calibri"/>
              <a:sym typeface="Calibri"/>
            </a:endParaRPr>
          </a:p>
        </p:txBody>
      </p:sp>
      <p:sp>
        <p:nvSpPr>
          <p:cNvPr id="1097" name="Google Shape;1097;p51"/>
          <p:cNvSpPr/>
          <p:nvPr/>
        </p:nvSpPr>
        <p:spPr>
          <a:xfrm>
            <a:off x="1481328" y="4325112"/>
            <a:ext cx="9875520" cy="6858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6334F"/>
              </a:buClr>
              <a:buSzPts val="1900"/>
              <a:buFont typeface="Calibri"/>
              <a:buNone/>
            </a:pPr>
            <a:r>
              <a:rPr lang="rw-RW" sz="1900" dirty="0">
                <a:solidFill>
                  <a:srgbClr val="16334F"/>
                </a:solidFill>
                <a:latin typeface="Calibri"/>
                <a:ea typeface="Calibri"/>
                <a:cs typeface="Calibri"/>
                <a:sym typeface="Calibri"/>
              </a:rPr>
              <a:t>Ni izihe nzitizi abantu bo mu gace kawe bahura nazo? Wabafasha iki? </a:t>
            </a:r>
            <a:endParaRPr lang="rw-RW" sz="1900" dirty="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02"/>
        <p:cNvGrpSpPr/>
        <p:nvPr/>
      </p:nvGrpSpPr>
      <p:grpSpPr>
        <a:xfrm>
          <a:off x="0" y="0"/>
          <a:ext cx="0" cy="0"/>
          <a:chOff x="0" y="0"/>
          <a:chExt cx="0" cy="0"/>
        </a:xfrm>
      </p:grpSpPr>
      <p:sp>
        <p:nvSpPr>
          <p:cNvPr id="1103" name="Google Shape;1103;p52"/>
          <p:cNvSpPr/>
          <p:nvPr/>
        </p:nvSpPr>
        <p:spPr>
          <a:xfrm>
            <a:off x="502920" y="777240"/>
            <a:ext cx="11183112" cy="5303520"/>
          </a:xfrm>
          <a:prstGeom prst="rect">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4" name="Google Shape;1104;p52"/>
          <p:cNvSpPr/>
          <p:nvPr/>
        </p:nvSpPr>
        <p:spPr>
          <a:xfrm>
            <a:off x="9509760" y="1874520"/>
            <a:ext cx="1554480" cy="1554480"/>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5" name="Google Shape;1105;p52"/>
          <p:cNvSpPr/>
          <p:nvPr/>
        </p:nvSpPr>
        <p:spPr>
          <a:xfrm>
            <a:off x="9509760" y="1874520"/>
            <a:ext cx="1554480" cy="1554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4000"/>
              <a:buFont typeface="Cambria"/>
              <a:buNone/>
            </a:pPr>
            <a:r>
              <a:rPr lang="rw-RW" sz="4000" b="1">
                <a:solidFill>
                  <a:srgbClr val="FFFFFF"/>
                </a:solidFill>
                <a:latin typeface="Cambria"/>
                <a:ea typeface="Cambria"/>
                <a:cs typeface="Cambria"/>
                <a:sym typeface="Cambria"/>
              </a:rPr>
              <a:t>4</a:t>
            </a:r>
            <a:endParaRPr sz="4000">
              <a:solidFill>
                <a:schemeClr val="dk1"/>
              </a:solidFill>
              <a:latin typeface="Calibri"/>
              <a:ea typeface="Calibri"/>
              <a:cs typeface="Calibri"/>
              <a:sym typeface="Calibri"/>
            </a:endParaRPr>
          </a:p>
        </p:txBody>
      </p:sp>
      <p:sp>
        <p:nvSpPr>
          <p:cNvPr id="1106" name="Google Shape;1106;p52"/>
          <p:cNvSpPr/>
          <p:nvPr/>
        </p:nvSpPr>
        <p:spPr>
          <a:xfrm>
            <a:off x="1234440" y="260604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200" b="1">
                <a:solidFill>
                  <a:srgbClr val="AFCBE3"/>
                </a:solidFill>
                <a:latin typeface="Calibri"/>
                <a:ea typeface="Calibri"/>
                <a:cs typeface="Calibri"/>
                <a:sym typeface="Calibri"/>
              </a:rPr>
              <a:t>IGICE CYA 4</a:t>
            </a:r>
            <a:endParaRPr sz="1200">
              <a:solidFill>
                <a:schemeClr val="dk1"/>
              </a:solidFill>
              <a:latin typeface="Calibri"/>
              <a:ea typeface="Calibri"/>
              <a:cs typeface="Calibri"/>
              <a:sym typeface="Calibri"/>
            </a:endParaRPr>
          </a:p>
        </p:txBody>
      </p:sp>
      <p:sp>
        <p:nvSpPr>
          <p:cNvPr id="1107" name="Google Shape;1107;p52"/>
          <p:cNvSpPr/>
          <p:nvPr/>
        </p:nvSpPr>
        <p:spPr>
          <a:xfrm>
            <a:off x="1234440" y="2926080"/>
            <a:ext cx="7863840" cy="731520"/>
          </a:xfrm>
          <a:prstGeom prst="rect">
            <a:avLst/>
          </a:prstGeom>
          <a:noFill/>
          <a:ln>
            <a:noFill/>
          </a:ln>
        </p:spPr>
        <p:txBody>
          <a:bodyPr spcFirstLastPara="1" wrap="square" lIns="0" tIns="0" rIns="0" bIns="0" anchor="ctr" anchorCtr="0">
            <a:normAutofit fontScale="92500" lnSpcReduction="20000"/>
          </a:bodyPr>
          <a:lstStyle/>
          <a:p>
            <a:pPr marL="0" marR="0" lvl="0" indent="0" algn="l" rtl="0">
              <a:lnSpc>
                <a:spcPct val="80000"/>
              </a:lnSpc>
              <a:spcBef>
                <a:spcPts val="0"/>
              </a:spcBef>
              <a:spcAft>
                <a:spcPts val="0"/>
              </a:spcAft>
              <a:buClr>
                <a:srgbClr val="FFFFFF"/>
              </a:buClr>
              <a:buSzPts val="2717"/>
              <a:buFont typeface="Cambria"/>
              <a:buNone/>
            </a:pPr>
            <a:r>
              <a:rPr lang="rw-RW" sz="3800" b="1">
                <a:solidFill>
                  <a:srgbClr val="FFFFFF"/>
                </a:solidFill>
                <a:latin typeface="Cambria"/>
                <a:ea typeface="Cambria"/>
                <a:cs typeface="Cambria"/>
                <a:sym typeface="Cambria"/>
              </a:rPr>
              <a:t>Kanseri y'igifu yemezwa ite kandi ivurwa ite?</a:t>
            </a:r>
            <a:endParaRPr sz="2717">
              <a:solidFill>
                <a:schemeClr val="dk1"/>
              </a:solidFill>
              <a:latin typeface="Calibri"/>
              <a:ea typeface="Calibri"/>
              <a:cs typeface="Calibri"/>
              <a:sym typeface="Calibri"/>
            </a:endParaRPr>
          </a:p>
        </p:txBody>
      </p:sp>
      <p:sp>
        <p:nvSpPr>
          <p:cNvPr id="1108" name="Google Shape;1108;p52"/>
          <p:cNvSpPr/>
          <p:nvPr/>
        </p:nvSpPr>
        <p:spPr>
          <a:xfrm>
            <a:off x="1234440" y="3794760"/>
            <a:ext cx="78638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E7F3"/>
              </a:buClr>
              <a:buSzPts val="1800"/>
              <a:buFont typeface="Calibri"/>
              <a:buNone/>
            </a:pPr>
            <a:r>
              <a:rPr lang="rw-RW" sz="1800" dirty="0">
                <a:solidFill>
                  <a:srgbClr val="D9E7F3"/>
                </a:solidFill>
                <a:latin typeface="Calibri"/>
                <a:ea typeface="Calibri"/>
                <a:cs typeface="Calibri"/>
                <a:sym typeface="Calibri"/>
              </a:rPr>
              <a:t>Sobanukirwa neza mu buryo bworoshye ibikurikiraho nyuma y'uko umuntu yoherejwe kwa muganga, kugira ngo ubashe kubisobanurira umuryango.</a:t>
            </a:r>
            <a:endParaRPr sz="1800" dirty="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13"/>
        <p:cNvGrpSpPr/>
        <p:nvPr/>
      </p:nvGrpSpPr>
      <p:grpSpPr>
        <a:xfrm>
          <a:off x="0" y="0"/>
          <a:ext cx="0" cy="0"/>
          <a:chOff x="0" y="0"/>
          <a:chExt cx="0" cy="0"/>
        </a:xfrm>
      </p:grpSpPr>
      <p:sp>
        <p:nvSpPr>
          <p:cNvPr id="1114" name="Google Shape;1114;p53"/>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4</a:t>
            </a:r>
            <a:endParaRPr sz="1100">
              <a:solidFill>
                <a:schemeClr val="dk1"/>
              </a:solidFill>
              <a:latin typeface="Calibri"/>
              <a:ea typeface="Calibri"/>
              <a:cs typeface="Calibri"/>
              <a:sym typeface="Calibri"/>
            </a:endParaRPr>
          </a:p>
        </p:txBody>
      </p:sp>
      <p:sp>
        <p:nvSpPr>
          <p:cNvPr id="1115" name="Google Shape;1115;p53"/>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Icyo wakora</a:t>
            </a:r>
            <a:endParaRPr sz="3400">
              <a:solidFill>
                <a:schemeClr val="dk1"/>
              </a:solidFill>
              <a:latin typeface="Calibri"/>
              <a:ea typeface="Calibri"/>
              <a:cs typeface="Calibri"/>
              <a:sym typeface="Calibri"/>
            </a:endParaRPr>
          </a:p>
        </p:txBody>
      </p:sp>
      <p:sp>
        <p:nvSpPr>
          <p:cNvPr id="1116" name="Google Shape;1116;p53"/>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117" name="Google Shape;1117;p53"/>
          <p:cNvSpPr/>
          <p:nvPr/>
        </p:nvSpPr>
        <p:spPr>
          <a:xfrm>
            <a:off x="548640" y="1783080"/>
            <a:ext cx="3502152" cy="2022438"/>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18" name="Google Shape;1118;p53"/>
          <p:cNvSpPr/>
          <p:nvPr/>
        </p:nvSpPr>
        <p:spPr>
          <a:xfrm>
            <a:off x="804672" y="1965960"/>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Sobanura</a:t>
            </a:r>
            <a:endParaRPr sz="2100">
              <a:solidFill>
                <a:schemeClr val="dk1"/>
              </a:solidFill>
              <a:latin typeface="Calibri"/>
              <a:ea typeface="Calibri"/>
              <a:cs typeface="Calibri"/>
              <a:sym typeface="Calibri"/>
            </a:endParaRPr>
          </a:p>
        </p:txBody>
      </p:sp>
      <p:sp>
        <p:nvSpPr>
          <p:cNvPr id="1119" name="Google Shape;1119;p53"/>
          <p:cNvSpPr/>
          <p:nvPr/>
        </p:nvSpPr>
        <p:spPr>
          <a:xfrm>
            <a:off x="804672" y="2404872"/>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10"/>
              <a:buFont typeface="Calibri"/>
              <a:buNone/>
            </a:pPr>
            <a:r>
              <a:rPr lang="rw-RW" sz="1800" dirty="0">
                <a:solidFill>
                  <a:srgbClr val="16334F"/>
                </a:solidFill>
                <a:latin typeface="Calibri"/>
                <a:ea typeface="Calibri"/>
                <a:cs typeface="Calibri"/>
                <a:sym typeface="Calibri"/>
              </a:rPr>
              <a:t>Sobanura inzira umuntu anyuramo ku ivuriro.</a:t>
            </a:r>
            <a:endParaRPr sz="1710" dirty="0">
              <a:solidFill>
                <a:schemeClr val="dk1"/>
              </a:solidFill>
              <a:latin typeface="Calibri"/>
              <a:ea typeface="Calibri"/>
              <a:cs typeface="Calibri"/>
              <a:sym typeface="Calibri"/>
            </a:endParaRPr>
          </a:p>
        </p:txBody>
      </p:sp>
      <p:sp>
        <p:nvSpPr>
          <p:cNvPr id="1120" name="Google Shape;1120;p53"/>
          <p:cNvSpPr/>
          <p:nvPr/>
        </p:nvSpPr>
        <p:spPr>
          <a:xfrm>
            <a:off x="4343400" y="1783080"/>
            <a:ext cx="3502152" cy="2022438"/>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1" name="Google Shape;1121;p53"/>
          <p:cNvSpPr/>
          <p:nvPr/>
        </p:nvSpPr>
        <p:spPr>
          <a:xfrm>
            <a:off x="4599432" y="1965960"/>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Sobanura</a:t>
            </a:r>
            <a:endParaRPr sz="2100">
              <a:solidFill>
                <a:schemeClr val="dk1"/>
              </a:solidFill>
              <a:latin typeface="Calibri"/>
              <a:ea typeface="Calibri"/>
              <a:cs typeface="Calibri"/>
              <a:sym typeface="Calibri"/>
            </a:endParaRPr>
          </a:p>
        </p:txBody>
      </p:sp>
      <p:sp>
        <p:nvSpPr>
          <p:cNvPr id="1122" name="Google Shape;1122;p53"/>
          <p:cNvSpPr/>
          <p:nvPr/>
        </p:nvSpPr>
        <p:spPr>
          <a:xfrm>
            <a:off x="4599432" y="2404872"/>
            <a:ext cx="2990088" cy="868680"/>
          </a:xfrm>
          <a:prstGeom prst="rect">
            <a:avLst/>
          </a:prstGeom>
          <a:noFill/>
          <a:ln>
            <a:noFill/>
          </a:ln>
        </p:spPr>
        <p:txBody>
          <a:bodyPr spcFirstLastPara="1" wrap="square" lIns="0" tIns="0" rIns="0" bIns="0" anchor="t" anchorCtr="0">
            <a:normAutofit fontScale="85000" lnSpcReduction="10000"/>
          </a:bodyPr>
          <a:lstStyle/>
          <a:p>
            <a:pPr marL="0" marR="0" lvl="0" indent="0" algn="l" rtl="0">
              <a:lnSpc>
                <a:spcPct val="105000"/>
              </a:lnSpc>
              <a:spcBef>
                <a:spcPts val="0"/>
              </a:spcBef>
              <a:spcAft>
                <a:spcPts val="0"/>
              </a:spcAft>
              <a:buClr>
                <a:srgbClr val="16334F"/>
              </a:buClr>
              <a:buSzPts val="1710"/>
              <a:buFont typeface="Calibri"/>
              <a:buNone/>
            </a:pPr>
            <a:r>
              <a:rPr lang="rw-RW" sz="1800" dirty="0">
                <a:solidFill>
                  <a:srgbClr val="16334F"/>
                </a:solidFill>
                <a:latin typeface="Calibri"/>
                <a:ea typeface="Calibri"/>
                <a:cs typeface="Calibri"/>
                <a:sym typeface="Calibri"/>
              </a:rPr>
              <a:t>Sobanura neza ikizamini cya Kamera (endoscopy) n’ikizamini cy’agace k’umubiri ( biopsy) mu magambo yoroshye.</a:t>
            </a:r>
            <a:endParaRPr sz="1710" dirty="0">
              <a:solidFill>
                <a:schemeClr val="dk1"/>
              </a:solidFill>
              <a:latin typeface="Calibri"/>
              <a:ea typeface="Calibri"/>
              <a:cs typeface="Calibri"/>
              <a:sym typeface="Calibri"/>
            </a:endParaRPr>
          </a:p>
        </p:txBody>
      </p:sp>
      <p:sp>
        <p:nvSpPr>
          <p:cNvPr id="1123" name="Google Shape;1123;p53"/>
          <p:cNvSpPr/>
          <p:nvPr/>
        </p:nvSpPr>
        <p:spPr>
          <a:xfrm>
            <a:off x="8138160" y="1783080"/>
            <a:ext cx="3502152" cy="2022438"/>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4" name="Google Shape;1124;p53"/>
          <p:cNvSpPr/>
          <p:nvPr/>
        </p:nvSpPr>
        <p:spPr>
          <a:xfrm>
            <a:off x="8394192" y="1965960"/>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dirty="0">
                <a:solidFill>
                  <a:srgbClr val="0F3D63"/>
                </a:solidFill>
                <a:latin typeface="Cambria"/>
                <a:ea typeface="Cambria"/>
                <a:cs typeface="Cambria"/>
                <a:sym typeface="Cambria"/>
              </a:rPr>
              <a:t>Menya</a:t>
            </a:r>
            <a:endParaRPr sz="2100" dirty="0">
              <a:solidFill>
                <a:schemeClr val="dk1"/>
              </a:solidFill>
              <a:latin typeface="Calibri"/>
              <a:ea typeface="Calibri"/>
              <a:cs typeface="Calibri"/>
              <a:sym typeface="Calibri"/>
            </a:endParaRPr>
          </a:p>
        </p:txBody>
      </p:sp>
      <p:sp>
        <p:nvSpPr>
          <p:cNvPr id="1125" name="Google Shape;1125;p53"/>
          <p:cNvSpPr/>
          <p:nvPr/>
        </p:nvSpPr>
        <p:spPr>
          <a:xfrm>
            <a:off x="8394192" y="2404872"/>
            <a:ext cx="2990088" cy="868680"/>
          </a:xfrm>
          <a:prstGeom prst="rect">
            <a:avLst/>
          </a:prstGeom>
          <a:noFill/>
          <a:ln>
            <a:noFill/>
          </a:ln>
        </p:spPr>
        <p:txBody>
          <a:bodyPr spcFirstLastPara="1" wrap="square" lIns="0" tIns="0" rIns="0" bIns="0" anchor="t" anchorCtr="0">
            <a:normAutofit fontScale="92500"/>
          </a:bodyPr>
          <a:lstStyle/>
          <a:p>
            <a:pPr marL="0" marR="0" lvl="0" indent="0" algn="l" rtl="0">
              <a:lnSpc>
                <a:spcPct val="105000"/>
              </a:lnSpc>
              <a:spcBef>
                <a:spcPts val="0"/>
              </a:spcBef>
              <a:spcAft>
                <a:spcPts val="0"/>
              </a:spcAft>
              <a:buClr>
                <a:srgbClr val="16334F"/>
              </a:buClr>
              <a:buSzPts val="1710"/>
              <a:buFont typeface="Calibri"/>
              <a:buNone/>
            </a:pPr>
            <a:r>
              <a:rPr lang="rw-RW" sz="1800" dirty="0">
                <a:solidFill>
                  <a:srgbClr val="16334F"/>
                </a:solidFill>
                <a:latin typeface="Calibri"/>
                <a:ea typeface="Calibri"/>
                <a:cs typeface="Calibri"/>
                <a:sym typeface="Calibri"/>
              </a:rPr>
              <a:t>Menya ko ikizamini cyasuzumwe na laboratwari ku gace k'umubiri ari cyo cyemeza kanseri.</a:t>
            </a:r>
            <a:endParaRPr sz="1710" dirty="0">
              <a:solidFill>
                <a:schemeClr val="dk1"/>
              </a:solidFill>
              <a:latin typeface="Calibri"/>
              <a:ea typeface="Calibri"/>
              <a:cs typeface="Calibri"/>
              <a:sym typeface="Calibri"/>
            </a:endParaRPr>
          </a:p>
        </p:txBody>
      </p:sp>
      <p:sp>
        <p:nvSpPr>
          <p:cNvPr id="1126" name="Google Shape;1126;p53"/>
          <p:cNvSpPr/>
          <p:nvPr/>
        </p:nvSpPr>
        <p:spPr>
          <a:xfrm>
            <a:off x="548640" y="4036268"/>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7" name="Google Shape;1127;p53"/>
          <p:cNvSpPr/>
          <p:nvPr/>
        </p:nvSpPr>
        <p:spPr>
          <a:xfrm>
            <a:off x="804672" y="4219148"/>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dirty="0">
                <a:solidFill>
                  <a:srgbClr val="0F3D63"/>
                </a:solidFill>
                <a:latin typeface="Cambria"/>
                <a:ea typeface="Cambria"/>
                <a:cs typeface="Calibri"/>
                <a:sym typeface="Cambria"/>
              </a:rPr>
              <a:t>Vuga</a:t>
            </a:r>
            <a:endParaRPr sz="2100" dirty="0">
              <a:solidFill>
                <a:schemeClr val="dk1"/>
              </a:solidFill>
              <a:latin typeface="Calibri"/>
              <a:ea typeface="Calibri"/>
              <a:cs typeface="Calibri"/>
              <a:sym typeface="Calibri"/>
            </a:endParaRPr>
          </a:p>
        </p:txBody>
      </p:sp>
      <p:sp>
        <p:nvSpPr>
          <p:cNvPr id="1128" name="Google Shape;1128;p53"/>
          <p:cNvSpPr/>
          <p:nvPr/>
        </p:nvSpPr>
        <p:spPr>
          <a:xfrm>
            <a:off x="804672" y="4658060"/>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10"/>
              <a:buFont typeface="Calibri"/>
              <a:buNone/>
            </a:pPr>
            <a:r>
              <a:rPr lang="rw-RW" sz="1800" dirty="0">
                <a:solidFill>
                  <a:srgbClr val="16334F"/>
                </a:solidFill>
                <a:latin typeface="Calibri"/>
                <a:ea typeface="Calibri"/>
                <a:cs typeface="Calibri"/>
                <a:sym typeface="Calibri"/>
              </a:rPr>
              <a:t>Vuga ubwoko bw'ingenzi bw'ubuvuzi buhari.</a:t>
            </a:r>
            <a:endParaRPr sz="1710" dirty="0">
              <a:solidFill>
                <a:schemeClr val="dk1"/>
              </a:solidFill>
              <a:latin typeface="Calibri"/>
              <a:ea typeface="Calibri"/>
              <a:cs typeface="Calibri"/>
              <a:sym typeface="Calibri"/>
            </a:endParaRPr>
          </a:p>
        </p:txBody>
      </p:sp>
      <p:sp>
        <p:nvSpPr>
          <p:cNvPr id="1129" name="Google Shape;1129;p53"/>
          <p:cNvSpPr/>
          <p:nvPr/>
        </p:nvSpPr>
        <p:spPr>
          <a:xfrm>
            <a:off x="4343400" y="4036268"/>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0" name="Google Shape;1130;p53"/>
          <p:cNvSpPr/>
          <p:nvPr/>
        </p:nvSpPr>
        <p:spPr>
          <a:xfrm>
            <a:off x="4599432" y="4219148"/>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dirty="0">
                <a:solidFill>
                  <a:srgbClr val="0F3D63"/>
                </a:solidFill>
                <a:latin typeface="Cambria"/>
                <a:ea typeface="Cambria"/>
                <a:cs typeface="Calibri"/>
                <a:sym typeface="Cambria"/>
              </a:rPr>
              <a:t>Ganiriza</a:t>
            </a:r>
            <a:endParaRPr sz="2100" dirty="0">
              <a:solidFill>
                <a:schemeClr val="dk1"/>
              </a:solidFill>
              <a:latin typeface="Calibri"/>
              <a:ea typeface="Calibri"/>
              <a:cs typeface="Calibri"/>
              <a:sym typeface="Calibri"/>
            </a:endParaRPr>
          </a:p>
        </p:txBody>
      </p:sp>
      <p:sp>
        <p:nvSpPr>
          <p:cNvPr id="1131" name="Google Shape;1131;p53"/>
          <p:cNvSpPr/>
          <p:nvPr/>
        </p:nvSpPr>
        <p:spPr>
          <a:xfrm>
            <a:off x="4599432" y="4658060"/>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10"/>
              <a:buFont typeface="Calibri"/>
              <a:buNone/>
            </a:pPr>
            <a:r>
              <a:rPr lang="rw-RW" sz="1800" dirty="0">
                <a:solidFill>
                  <a:srgbClr val="16334F"/>
                </a:solidFill>
                <a:latin typeface="Calibri"/>
                <a:ea typeface="Calibri"/>
                <a:cs typeface="Calibri"/>
                <a:sym typeface="Calibri"/>
              </a:rPr>
              <a:t>Ganiriza umuryango, unawugira inama mu igihe bategereje ibisubizo.</a:t>
            </a:r>
            <a:endParaRPr sz="1710" dirty="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36"/>
        <p:cNvGrpSpPr/>
        <p:nvPr/>
      </p:nvGrpSpPr>
      <p:grpSpPr>
        <a:xfrm>
          <a:off x="0" y="0"/>
          <a:ext cx="0" cy="0"/>
          <a:chOff x="0" y="0"/>
          <a:chExt cx="0" cy="0"/>
        </a:xfrm>
      </p:grpSpPr>
      <p:sp>
        <p:nvSpPr>
          <p:cNvPr id="1137" name="Google Shape;1137;p54"/>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4</a:t>
            </a:r>
            <a:endParaRPr sz="1100">
              <a:solidFill>
                <a:schemeClr val="dk1"/>
              </a:solidFill>
              <a:latin typeface="Calibri"/>
              <a:ea typeface="Calibri"/>
              <a:cs typeface="Calibri"/>
              <a:sym typeface="Calibri"/>
            </a:endParaRPr>
          </a:p>
        </p:txBody>
      </p:sp>
      <p:sp>
        <p:nvSpPr>
          <p:cNvPr id="1138" name="Google Shape;1138;p54"/>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dirty="0">
                <a:solidFill>
                  <a:srgbClr val="0F3D63"/>
                </a:solidFill>
                <a:latin typeface="Cambria"/>
                <a:ea typeface="Cambria"/>
                <a:cs typeface="Cambria"/>
                <a:sym typeface="Cambria"/>
              </a:rPr>
              <a:t>Uko icyateye iyi ndwara cyamenyekana</a:t>
            </a:r>
            <a:endParaRPr sz="3400" dirty="0">
              <a:solidFill>
                <a:schemeClr val="dk1"/>
              </a:solidFill>
              <a:latin typeface="Calibri"/>
              <a:ea typeface="Calibri"/>
              <a:cs typeface="Calibri"/>
              <a:sym typeface="Calibri"/>
            </a:endParaRPr>
          </a:p>
        </p:txBody>
      </p:sp>
      <p:sp>
        <p:nvSpPr>
          <p:cNvPr id="1139" name="Google Shape;1139;p54"/>
          <p:cNvSpPr/>
          <p:nvPr/>
        </p:nvSpPr>
        <p:spPr>
          <a:xfrm>
            <a:off x="548640" y="1371600"/>
            <a:ext cx="110642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dirty="0">
                <a:solidFill>
                  <a:srgbClr val="16334F"/>
                </a:solidFill>
                <a:latin typeface="Calibri"/>
                <a:ea typeface="Calibri"/>
                <a:cs typeface="Calibri"/>
                <a:sym typeface="Calibri"/>
              </a:rPr>
              <a:t>Ibivugwamo bibera ku ivuriro. Nubwo udashobora kubikora, ariko ushobora kubisobanura.</a:t>
            </a:r>
            <a:endParaRPr sz="1800" dirty="0">
              <a:solidFill>
                <a:schemeClr val="dk1"/>
              </a:solidFill>
              <a:latin typeface="Calibri"/>
              <a:ea typeface="Calibri"/>
              <a:cs typeface="Calibri"/>
              <a:sym typeface="Calibri"/>
            </a:endParaRPr>
          </a:p>
        </p:txBody>
      </p:sp>
      <p:sp>
        <p:nvSpPr>
          <p:cNvPr id="1140" name="Google Shape;1140;p54"/>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141" name="Google Shape;1141;p54"/>
          <p:cNvSpPr/>
          <p:nvPr/>
        </p:nvSpPr>
        <p:spPr>
          <a:xfrm>
            <a:off x="548640" y="1883818"/>
            <a:ext cx="2035454" cy="3602582"/>
          </a:xfrm>
          <a:prstGeom prst="roundRect">
            <a:avLst>
              <a:gd name="adj" fmla="val 5391"/>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142" name="Google Shape;1142;p54"/>
          <p:cNvSpPr/>
          <p:nvPr/>
        </p:nvSpPr>
        <p:spPr>
          <a:xfrm>
            <a:off x="749808" y="2039267"/>
            <a:ext cx="457200" cy="457200"/>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143" name="Google Shape;1143;p54"/>
          <p:cNvSpPr/>
          <p:nvPr/>
        </p:nvSpPr>
        <p:spPr>
          <a:xfrm>
            <a:off x="749808" y="2039267"/>
            <a:ext cx="4572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000"/>
              <a:buFont typeface="Cambria"/>
              <a:buNone/>
            </a:pPr>
            <a:r>
              <a:rPr lang="rw-RW" sz="2000" b="1">
                <a:solidFill>
                  <a:srgbClr val="FFFFFF"/>
                </a:solidFill>
                <a:latin typeface="Cambria"/>
                <a:ea typeface="Cambria"/>
                <a:cs typeface="Cambria"/>
                <a:sym typeface="Cambria"/>
              </a:rPr>
              <a:t>1</a:t>
            </a:r>
            <a:endParaRPr sz="2000">
              <a:solidFill>
                <a:schemeClr val="dk1"/>
              </a:solidFill>
              <a:latin typeface="Calibri"/>
              <a:ea typeface="Calibri"/>
              <a:cs typeface="Calibri"/>
              <a:sym typeface="Calibri"/>
            </a:endParaRPr>
          </a:p>
        </p:txBody>
      </p:sp>
      <p:sp>
        <p:nvSpPr>
          <p:cNvPr id="1144" name="Google Shape;1144;p54"/>
          <p:cNvSpPr/>
          <p:nvPr/>
        </p:nvSpPr>
        <p:spPr>
          <a:xfrm>
            <a:off x="749808" y="2606195"/>
            <a:ext cx="1633118" cy="685800"/>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00"/>
              <a:buFont typeface="Cambria"/>
              <a:buNone/>
            </a:pPr>
            <a:r>
              <a:rPr lang="rw-RW" sz="2000" b="1">
                <a:solidFill>
                  <a:srgbClr val="0F3D63"/>
                </a:solidFill>
                <a:latin typeface="Cambria"/>
                <a:ea typeface="Cambria"/>
                <a:cs typeface="Cambria"/>
                <a:sym typeface="Cambria"/>
              </a:rPr>
              <a:t>Ibibazo n'isuzuma</a:t>
            </a:r>
            <a:endParaRPr sz="2000">
              <a:solidFill>
                <a:schemeClr val="dk1"/>
              </a:solidFill>
              <a:latin typeface="Calibri"/>
              <a:ea typeface="Calibri"/>
              <a:cs typeface="Calibri"/>
              <a:sym typeface="Calibri"/>
            </a:endParaRPr>
          </a:p>
        </p:txBody>
      </p:sp>
      <p:sp>
        <p:nvSpPr>
          <p:cNvPr id="1145" name="Google Shape;1145;p54"/>
          <p:cNvSpPr/>
          <p:nvPr/>
        </p:nvSpPr>
        <p:spPr>
          <a:xfrm>
            <a:off x="749808" y="3291995"/>
            <a:ext cx="1633118" cy="1530768"/>
          </a:xfrm>
          <a:prstGeom prst="rect">
            <a:avLst/>
          </a:prstGeom>
          <a:noFill/>
          <a:ln>
            <a:noFill/>
          </a:ln>
        </p:spPr>
        <p:txBody>
          <a:bodyPr spcFirstLastPara="1" wrap="square" lIns="0" tIns="0" rIns="0" bIns="0" anchor="t" anchorCtr="0">
            <a:normAutofit/>
          </a:bodyPr>
          <a:lstStyle/>
          <a:p>
            <a:pPr marL="0" marR="0" lvl="0" indent="0" algn="l" rtl="0">
              <a:lnSpc>
                <a:spcPct val="103000"/>
              </a:lnSpc>
              <a:spcBef>
                <a:spcPts val="0"/>
              </a:spcBef>
              <a:spcAft>
                <a:spcPts val="0"/>
              </a:spcAft>
              <a:buClr>
                <a:srgbClr val="16334F"/>
              </a:buClr>
              <a:buSzPts val="1477"/>
              <a:buFont typeface="Calibri"/>
              <a:buNone/>
            </a:pPr>
            <a:r>
              <a:rPr lang="rw-RW" sz="1500" dirty="0">
                <a:solidFill>
                  <a:srgbClr val="16334F"/>
                </a:solidFill>
                <a:latin typeface="Calibri"/>
                <a:ea typeface="Calibri"/>
                <a:cs typeface="Calibri"/>
                <a:sym typeface="Calibri"/>
              </a:rPr>
              <a:t>Umuganga abaza ibimenyetso umuntu afite kandi akamusuzuma.</a:t>
            </a:r>
            <a:endParaRPr sz="1478" dirty="0">
              <a:solidFill>
                <a:schemeClr val="dk1"/>
              </a:solidFill>
              <a:latin typeface="Calibri"/>
              <a:ea typeface="Calibri"/>
              <a:cs typeface="Calibri"/>
              <a:sym typeface="Calibri"/>
            </a:endParaRPr>
          </a:p>
        </p:txBody>
      </p:sp>
      <p:sp>
        <p:nvSpPr>
          <p:cNvPr id="1146" name="Google Shape;1146;p54"/>
          <p:cNvSpPr/>
          <p:nvPr/>
        </p:nvSpPr>
        <p:spPr>
          <a:xfrm>
            <a:off x="2812694" y="1883818"/>
            <a:ext cx="2035454" cy="3602582"/>
          </a:xfrm>
          <a:prstGeom prst="roundRect">
            <a:avLst>
              <a:gd name="adj" fmla="val 5391"/>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147" name="Google Shape;1147;p54"/>
          <p:cNvSpPr/>
          <p:nvPr/>
        </p:nvSpPr>
        <p:spPr>
          <a:xfrm>
            <a:off x="3013862" y="2039267"/>
            <a:ext cx="457200" cy="457200"/>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148" name="Google Shape;1148;p54"/>
          <p:cNvSpPr/>
          <p:nvPr/>
        </p:nvSpPr>
        <p:spPr>
          <a:xfrm>
            <a:off x="3013862" y="2039267"/>
            <a:ext cx="4572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000"/>
              <a:buFont typeface="Cambria"/>
              <a:buNone/>
            </a:pPr>
            <a:r>
              <a:rPr lang="rw-RW" sz="2000" b="1">
                <a:solidFill>
                  <a:srgbClr val="FFFFFF"/>
                </a:solidFill>
                <a:latin typeface="Cambria"/>
                <a:ea typeface="Cambria"/>
                <a:cs typeface="Cambria"/>
                <a:sym typeface="Cambria"/>
              </a:rPr>
              <a:t>2</a:t>
            </a:r>
            <a:endParaRPr sz="2000">
              <a:solidFill>
                <a:schemeClr val="dk1"/>
              </a:solidFill>
              <a:latin typeface="Calibri"/>
              <a:ea typeface="Calibri"/>
              <a:cs typeface="Calibri"/>
              <a:sym typeface="Calibri"/>
            </a:endParaRPr>
          </a:p>
        </p:txBody>
      </p:sp>
      <p:sp>
        <p:nvSpPr>
          <p:cNvPr id="1149" name="Google Shape;1149;p54"/>
          <p:cNvSpPr/>
          <p:nvPr/>
        </p:nvSpPr>
        <p:spPr>
          <a:xfrm>
            <a:off x="3013862" y="2606195"/>
            <a:ext cx="1633118" cy="615937"/>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00"/>
              <a:buFont typeface="Cambria"/>
              <a:buNone/>
            </a:pPr>
            <a:r>
              <a:rPr lang="rw-RW" sz="2000" b="1">
                <a:solidFill>
                  <a:srgbClr val="0F3D63"/>
                </a:solidFill>
                <a:latin typeface="Cambria"/>
                <a:ea typeface="Cambria"/>
                <a:cs typeface="Cambria"/>
                <a:sym typeface="Cambria"/>
              </a:rPr>
              <a:t>Ibipimo by'amaraso</a:t>
            </a:r>
            <a:endParaRPr sz="2000">
              <a:solidFill>
                <a:schemeClr val="dk1"/>
              </a:solidFill>
              <a:latin typeface="Calibri"/>
              <a:ea typeface="Calibri"/>
              <a:cs typeface="Calibri"/>
              <a:sym typeface="Calibri"/>
            </a:endParaRPr>
          </a:p>
        </p:txBody>
      </p:sp>
      <p:sp>
        <p:nvSpPr>
          <p:cNvPr id="1150" name="Google Shape;1150;p54"/>
          <p:cNvSpPr/>
          <p:nvPr/>
        </p:nvSpPr>
        <p:spPr>
          <a:xfrm>
            <a:off x="3013862" y="3405740"/>
            <a:ext cx="1633118" cy="1530768"/>
          </a:xfrm>
          <a:prstGeom prst="rect">
            <a:avLst/>
          </a:prstGeom>
          <a:noFill/>
          <a:ln>
            <a:noFill/>
          </a:ln>
        </p:spPr>
        <p:txBody>
          <a:bodyPr spcFirstLastPara="1" wrap="square" lIns="0" tIns="0" rIns="0" bIns="0" anchor="t" anchorCtr="0">
            <a:normAutofit/>
          </a:bodyPr>
          <a:lstStyle/>
          <a:p>
            <a:pPr marL="0" marR="0" lvl="0" indent="0" algn="l" rtl="0">
              <a:lnSpc>
                <a:spcPct val="103000"/>
              </a:lnSpc>
              <a:spcBef>
                <a:spcPts val="0"/>
              </a:spcBef>
              <a:spcAft>
                <a:spcPts val="0"/>
              </a:spcAft>
              <a:buClr>
                <a:srgbClr val="16334F"/>
              </a:buClr>
              <a:buSzPts val="1477"/>
              <a:buFont typeface="Calibri"/>
              <a:buNone/>
            </a:pPr>
            <a:r>
              <a:rPr lang="rw-RW" sz="1500" dirty="0">
                <a:solidFill>
                  <a:srgbClr val="16334F"/>
                </a:solidFill>
                <a:latin typeface="Calibri"/>
                <a:ea typeface="Calibri"/>
                <a:cs typeface="Calibri"/>
                <a:sym typeface="Calibri"/>
              </a:rPr>
              <a:t>Hashobora gufatwa amaraso, urugero nko kugira ngo barebe niba umuntu afite amaraso make (anemia).</a:t>
            </a:r>
            <a:endParaRPr sz="1478" dirty="0">
              <a:solidFill>
                <a:schemeClr val="dk1"/>
              </a:solidFill>
              <a:latin typeface="Calibri"/>
              <a:ea typeface="Calibri"/>
              <a:cs typeface="Calibri"/>
              <a:sym typeface="Calibri"/>
            </a:endParaRPr>
          </a:p>
        </p:txBody>
      </p:sp>
      <p:sp>
        <p:nvSpPr>
          <p:cNvPr id="1151" name="Google Shape;1151;p54"/>
          <p:cNvSpPr/>
          <p:nvPr/>
        </p:nvSpPr>
        <p:spPr>
          <a:xfrm>
            <a:off x="5076749" y="1883818"/>
            <a:ext cx="2035454" cy="3602582"/>
          </a:xfrm>
          <a:prstGeom prst="roundRect">
            <a:avLst>
              <a:gd name="adj" fmla="val 5391"/>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152" name="Google Shape;1152;p54"/>
          <p:cNvSpPr/>
          <p:nvPr/>
        </p:nvSpPr>
        <p:spPr>
          <a:xfrm>
            <a:off x="5277917" y="2039267"/>
            <a:ext cx="457200" cy="457200"/>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153" name="Google Shape;1153;p54"/>
          <p:cNvSpPr/>
          <p:nvPr/>
        </p:nvSpPr>
        <p:spPr>
          <a:xfrm>
            <a:off x="5277917" y="2039267"/>
            <a:ext cx="4572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000"/>
              <a:buFont typeface="Cambria"/>
              <a:buNone/>
            </a:pPr>
            <a:r>
              <a:rPr lang="rw-RW" sz="2000" b="1">
                <a:solidFill>
                  <a:srgbClr val="FFFFFF"/>
                </a:solidFill>
                <a:latin typeface="Cambria"/>
                <a:ea typeface="Cambria"/>
                <a:cs typeface="Cambria"/>
                <a:sym typeface="Cambria"/>
              </a:rPr>
              <a:t>3</a:t>
            </a:r>
            <a:endParaRPr sz="2000">
              <a:solidFill>
                <a:schemeClr val="dk1"/>
              </a:solidFill>
              <a:latin typeface="Calibri"/>
              <a:ea typeface="Calibri"/>
              <a:cs typeface="Calibri"/>
              <a:sym typeface="Calibri"/>
            </a:endParaRPr>
          </a:p>
        </p:txBody>
      </p:sp>
      <p:sp>
        <p:nvSpPr>
          <p:cNvPr id="1154" name="Google Shape;1154;p54"/>
          <p:cNvSpPr/>
          <p:nvPr/>
        </p:nvSpPr>
        <p:spPr>
          <a:xfrm>
            <a:off x="5277917" y="2569619"/>
            <a:ext cx="1633118" cy="652513"/>
          </a:xfrm>
          <a:prstGeom prst="rect">
            <a:avLst/>
          </a:prstGeom>
          <a:noFill/>
          <a:ln>
            <a:noFill/>
          </a:ln>
        </p:spPr>
        <p:txBody>
          <a:bodyPr spcFirstLastPara="1" wrap="square" lIns="0" tIns="0" rIns="0" bIns="0" anchor="t" anchorCtr="0">
            <a:normAutofit lnSpcReduction="10000"/>
          </a:bodyPr>
          <a:lstStyle/>
          <a:p>
            <a:pPr marL="0" marR="0" lvl="0" indent="0" algn="l" rtl="0">
              <a:lnSpc>
                <a:spcPct val="80000"/>
              </a:lnSpc>
              <a:spcBef>
                <a:spcPts val="0"/>
              </a:spcBef>
              <a:spcAft>
                <a:spcPts val="0"/>
              </a:spcAft>
              <a:buClr>
                <a:srgbClr val="0F3D63"/>
              </a:buClr>
              <a:buSzPts val="1700"/>
              <a:buFont typeface="Cambria"/>
              <a:buNone/>
            </a:pPr>
            <a:r>
              <a:rPr lang="rw-RW" sz="2000" b="1" dirty="0">
                <a:solidFill>
                  <a:srgbClr val="0F3D63"/>
                </a:solidFill>
                <a:latin typeface="Cambria"/>
                <a:ea typeface="Cambria"/>
                <a:cs typeface="Cambria"/>
                <a:sym typeface="Cambria"/>
              </a:rPr>
              <a:t>Ikizamini cya kamera (endoscopy)</a:t>
            </a:r>
            <a:endParaRPr sz="1700" dirty="0">
              <a:solidFill>
                <a:schemeClr val="dk1"/>
              </a:solidFill>
              <a:latin typeface="Calibri"/>
              <a:ea typeface="Calibri"/>
              <a:cs typeface="Calibri"/>
              <a:sym typeface="Calibri"/>
            </a:endParaRPr>
          </a:p>
        </p:txBody>
      </p:sp>
      <p:sp>
        <p:nvSpPr>
          <p:cNvPr id="1155" name="Google Shape;1155;p54"/>
          <p:cNvSpPr/>
          <p:nvPr/>
        </p:nvSpPr>
        <p:spPr>
          <a:xfrm>
            <a:off x="5277917" y="3429000"/>
            <a:ext cx="1633118" cy="1530768"/>
          </a:xfrm>
          <a:prstGeom prst="rect">
            <a:avLst/>
          </a:prstGeom>
          <a:noFill/>
          <a:ln>
            <a:noFill/>
          </a:ln>
        </p:spPr>
        <p:txBody>
          <a:bodyPr spcFirstLastPara="1" wrap="square" lIns="0" tIns="0" rIns="0" bIns="0" anchor="t" anchorCtr="0">
            <a:normAutofit/>
          </a:bodyPr>
          <a:lstStyle/>
          <a:p>
            <a:pPr marL="0" marR="0" lvl="0" indent="0" algn="l" rtl="0">
              <a:lnSpc>
                <a:spcPct val="103000"/>
              </a:lnSpc>
              <a:spcBef>
                <a:spcPts val="0"/>
              </a:spcBef>
              <a:spcAft>
                <a:spcPts val="0"/>
              </a:spcAft>
              <a:buClr>
                <a:srgbClr val="16334F"/>
              </a:buClr>
              <a:buSzPts val="1477"/>
              <a:buFont typeface="Calibri"/>
              <a:buNone/>
            </a:pPr>
            <a:r>
              <a:rPr lang="rw-RW" sz="1500" dirty="0">
                <a:solidFill>
                  <a:srgbClr val="16334F"/>
                </a:solidFill>
                <a:latin typeface="Calibri"/>
                <a:ea typeface="Calibri"/>
                <a:cs typeface="Calibri"/>
                <a:sym typeface="Calibri"/>
              </a:rPr>
              <a:t>Camera ntoya, yitwa endosikopi (endoscopy), inyuzwa mu kanwa kugira ngo irebe imbere mu gifu.</a:t>
            </a:r>
            <a:endParaRPr sz="1478" dirty="0">
              <a:solidFill>
                <a:schemeClr val="dk1"/>
              </a:solidFill>
              <a:latin typeface="Calibri"/>
              <a:ea typeface="Calibri"/>
              <a:cs typeface="Calibri"/>
              <a:sym typeface="Calibri"/>
            </a:endParaRPr>
          </a:p>
        </p:txBody>
      </p:sp>
      <p:sp>
        <p:nvSpPr>
          <p:cNvPr id="1156" name="Google Shape;1156;p54"/>
          <p:cNvSpPr/>
          <p:nvPr/>
        </p:nvSpPr>
        <p:spPr>
          <a:xfrm>
            <a:off x="7340803" y="1883818"/>
            <a:ext cx="2035454" cy="3602582"/>
          </a:xfrm>
          <a:prstGeom prst="roundRect">
            <a:avLst>
              <a:gd name="adj" fmla="val 5391"/>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157" name="Google Shape;1157;p54"/>
          <p:cNvSpPr/>
          <p:nvPr/>
        </p:nvSpPr>
        <p:spPr>
          <a:xfrm>
            <a:off x="7541971" y="2039267"/>
            <a:ext cx="457200" cy="457200"/>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158" name="Google Shape;1158;p54"/>
          <p:cNvSpPr/>
          <p:nvPr/>
        </p:nvSpPr>
        <p:spPr>
          <a:xfrm>
            <a:off x="7541971" y="2039267"/>
            <a:ext cx="4572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000"/>
              <a:buFont typeface="Cambria"/>
              <a:buNone/>
            </a:pPr>
            <a:r>
              <a:rPr lang="rw-RW" sz="2000" b="1">
                <a:solidFill>
                  <a:srgbClr val="FFFFFF"/>
                </a:solidFill>
                <a:latin typeface="Cambria"/>
                <a:ea typeface="Cambria"/>
                <a:cs typeface="Cambria"/>
                <a:sym typeface="Cambria"/>
              </a:rPr>
              <a:t>4</a:t>
            </a:r>
            <a:endParaRPr sz="2000">
              <a:solidFill>
                <a:schemeClr val="dk1"/>
              </a:solidFill>
              <a:latin typeface="Calibri"/>
              <a:ea typeface="Calibri"/>
              <a:cs typeface="Calibri"/>
              <a:sym typeface="Calibri"/>
            </a:endParaRPr>
          </a:p>
        </p:txBody>
      </p:sp>
      <p:sp>
        <p:nvSpPr>
          <p:cNvPr id="1159" name="Google Shape;1159;p54"/>
          <p:cNvSpPr/>
          <p:nvPr/>
        </p:nvSpPr>
        <p:spPr>
          <a:xfrm>
            <a:off x="7541971" y="2606195"/>
            <a:ext cx="1633118" cy="615937"/>
          </a:xfrm>
          <a:prstGeom prst="rect">
            <a:avLst/>
          </a:prstGeom>
          <a:noFill/>
          <a:ln>
            <a:noFill/>
          </a:ln>
        </p:spPr>
        <p:txBody>
          <a:bodyPr spcFirstLastPara="1" wrap="square" lIns="0" tIns="0" rIns="0" bIns="0" anchor="t" anchorCtr="0">
            <a:normAutofit fontScale="77500" lnSpcReduction="20000"/>
          </a:bodyPr>
          <a:lstStyle/>
          <a:p>
            <a:pPr marL="0" marR="0" lvl="0" indent="0" algn="l" rtl="0">
              <a:spcBef>
                <a:spcPts val="0"/>
              </a:spcBef>
              <a:spcAft>
                <a:spcPts val="0"/>
              </a:spcAft>
              <a:buClr>
                <a:srgbClr val="0F3D63"/>
              </a:buClr>
              <a:buSzPts val="2000"/>
              <a:buFont typeface="Cambria"/>
              <a:buNone/>
            </a:pPr>
            <a:r>
              <a:rPr lang="rw-RW" sz="2000" b="1" dirty="0">
                <a:solidFill>
                  <a:srgbClr val="0F3D63"/>
                </a:solidFill>
                <a:latin typeface="Cambria"/>
                <a:ea typeface="Cambria"/>
                <a:cs typeface="Cambria"/>
                <a:sym typeface="Cambria"/>
              </a:rPr>
              <a:t>Ikizamini cy’a gace gato k'umubiri</a:t>
            </a:r>
            <a:endParaRPr sz="2000" dirty="0">
              <a:solidFill>
                <a:schemeClr val="dk1"/>
              </a:solidFill>
              <a:latin typeface="Calibri"/>
              <a:ea typeface="Calibri"/>
              <a:cs typeface="Calibri"/>
              <a:sym typeface="Calibri"/>
            </a:endParaRPr>
          </a:p>
        </p:txBody>
      </p:sp>
      <p:sp>
        <p:nvSpPr>
          <p:cNvPr id="1160" name="Google Shape;1160;p54"/>
          <p:cNvSpPr/>
          <p:nvPr/>
        </p:nvSpPr>
        <p:spPr>
          <a:xfrm>
            <a:off x="7541971" y="3588882"/>
            <a:ext cx="1633118" cy="1530768"/>
          </a:xfrm>
          <a:prstGeom prst="rect">
            <a:avLst/>
          </a:prstGeom>
          <a:noFill/>
          <a:ln>
            <a:noFill/>
          </a:ln>
        </p:spPr>
        <p:txBody>
          <a:bodyPr spcFirstLastPara="1" wrap="square" lIns="0" tIns="0" rIns="0" bIns="0" anchor="t" anchorCtr="0">
            <a:normAutofit lnSpcReduction="10000"/>
          </a:bodyPr>
          <a:lstStyle/>
          <a:p>
            <a:pPr marL="0" marR="0" lvl="0" indent="0" algn="l" rtl="0">
              <a:lnSpc>
                <a:spcPct val="103000"/>
              </a:lnSpc>
              <a:spcBef>
                <a:spcPts val="0"/>
              </a:spcBef>
              <a:spcAft>
                <a:spcPts val="0"/>
              </a:spcAft>
              <a:buClr>
                <a:srgbClr val="16334F"/>
              </a:buClr>
              <a:buSzPts val="1477"/>
              <a:buFont typeface="Calibri"/>
              <a:buNone/>
            </a:pPr>
            <a:r>
              <a:rPr lang="rw-RW" sz="1500" dirty="0">
                <a:solidFill>
                  <a:srgbClr val="16334F"/>
                </a:solidFill>
                <a:latin typeface="Calibri"/>
                <a:ea typeface="Calibri"/>
                <a:cs typeface="Calibri"/>
                <a:sym typeface="Calibri"/>
              </a:rPr>
              <a:t>Niba hari ikintu gisa n'ikitagenda neza, agace gato gafatwa ku gifu kakajya gusuzumwa muri laboratwari. Ibi nibyo bita biopsy.</a:t>
            </a:r>
            <a:endParaRPr sz="1478" dirty="0">
              <a:solidFill>
                <a:schemeClr val="dk1"/>
              </a:solidFill>
              <a:latin typeface="Calibri"/>
              <a:ea typeface="Calibri"/>
              <a:cs typeface="Calibri"/>
              <a:sym typeface="Calibri"/>
            </a:endParaRPr>
          </a:p>
        </p:txBody>
      </p:sp>
      <p:sp>
        <p:nvSpPr>
          <p:cNvPr id="1161" name="Google Shape;1161;p54"/>
          <p:cNvSpPr/>
          <p:nvPr/>
        </p:nvSpPr>
        <p:spPr>
          <a:xfrm>
            <a:off x="9604858" y="1883818"/>
            <a:ext cx="2035454" cy="3602582"/>
          </a:xfrm>
          <a:prstGeom prst="roundRect">
            <a:avLst>
              <a:gd name="adj" fmla="val 5391"/>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162" name="Google Shape;1162;p54"/>
          <p:cNvSpPr/>
          <p:nvPr/>
        </p:nvSpPr>
        <p:spPr>
          <a:xfrm>
            <a:off x="9806026" y="2039267"/>
            <a:ext cx="457200" cy="457200"/>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163" name="Google Shape;1163;p54"/>
          <p:cNvSpPr/>
          <p:nvPr/>
        </p:nvSpPr>
        <p:spPr>
          <a:xfrm>
            <a:off x="9806026" y="2039267"/>
            <a:ext cx="4572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000"/>
              <a:buFont typeface="Cambria"/>
              <a:buNone/>
            </a:pPr>
            <a:r>
              <a:rPr lang="rw-RW" sz="2000" b="1">
                <a:solidFill>
                  <a:srgbClr val="FFFFFF"/>
                </a:solidFill>
                <a:latin typeface="Cambria"/>
                <a:ea typeface="Cambria"/>
                <a:cs typeface="Cambria"/>
                <a:sym typeface="Cambria"/>
              </a:rPr>
              <a:t>5</a:t>
            </a:r>
            <a:endParaRPr sz="2000">
              <a:solidFill>
                <a:schemeClr val="dk1"/>
              </a:solidFill>
              <a:latin typeface="Calibri"/>
              <a:ea typeface="Calibri"/>
              <a:cs typeface="Calibri"/>
              <a:sym typeface="Calibri"/>
            </a:endParaRPr>
          </a:p>
        </p:txBody>
      </p:sp>
      <p:sp>
        <p:nvSpPr>
          <p:cNvPr id="1164" name="Google Shape;1164;p54"/>
          <p:cNvSpPr/>
          <p:nvPr/>
        </p:nvSpPr>
        <p:spPr>
          <a:xfrm>
            <a:off x="9806026" y="2606195"/>
            <a:ext cx="1633118" cy="615937"/>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00"/>
              <a:buFont typeface="Cambria"/>
              <a:buNone/>
            </a:pPr>
            <a:r>
              <a:rPr lang="rw-RW" sz="2000" b="1" dirty="0">
                <a:solidFill>
                  <a:srgbClr val="0F3D63"/>
                </a:solidFill>
                <a:latin typeface="Cambria"/>
                <a:ea typeface="Cambria"/>
                <a:cs typeface="Cambria"/>
                <a:sym typeface="Cambria"/>
              </a:rPr>
              <a:t>Ibipimo bya laboratwari</a:t>
            </a:r>
            <a:endParaRPr sz="2000" dirty="0">
              <a:solidFill>
                <a:schemeClr val="dk1"/>
              </a:solidFill>
              <a:latin typeface="Calibri"/>
              <a:ea typeface="Calibri"/>
              <a:cs typeface="Calibri"/>
              <a:sym typeface="Calibri"/>
            </a:endParaRPr>
          </a:p>
        </p:txBody>
      </p:sp>
      <p:sp>
        <p:nvSpPr>
          <p:cNvPr id="1165" name="Google Shape;1165;p54"/>
          <p:cNvSpPr/>
          <p:nvPr/>
        </p:nvSpPr>
        <p:spPr>
          <a:xfrm>
            <a:off x="9806026" y="3272932"/>
            <a:ext cx="1633118" cy="1530768"/>
          </a:xfrm>
          <a:prstGeom prst="rect">
            <a:avLst/>
          </a:prstGeom>
          <a:noFill/>
          <a:ln>
            <a:noFill/>
          </a:ln>
        </p:spPr>
        <p:txBody>
          <a:bodyPr spcFirstLastPara="1" wrap="square" lIns="0" tIns="0" rIns="0" bIns="0" anchor="t" anchorCtr="0">
            <a:noAutofit/>
          </a:bodyPr>
          <a:lstStyle/>
          <a:p>
            <a:pPr marL="0" marR="0" lvl="0" indent="0" algn="l" rtl="0">
              <a:lnSpc>
                <a:spcPct val="103000"/>
              </a:lnSpc>
              <a:spcBef>
                <a:spcPts val="0"/>
              </a:spcBef>
              <a:spcAft>
                <a:spcPts val="0"/>
              </a:spcAft>
              <a:buClr>
                <a:srgbClr val="16334F"/>
              </a:buClr>
              <a:buSzPts val="1500"/>
              <a:buFont typeface="Calibri"/>
              <a:buNone/>
            </a:pPr>
            <a:r>
              <a:rPr lang="rw-RW" sz="1500" dirty="0">
                <a:solidFill>
                  <a:srgbClr val="16334F"/>
                </a:solidFill>
                <a:latin typeface="Calibri"/>
                <a:ea typeface="Calibri"/>
                <a:cs typeface="Calibri"/>
                <a:sym typeface="Calibri"/>
              </a:rPr>
              <a:t>Abahanga mu bya laboratwari/anatomopathology basuzuma agace kafashwe kugira ngo bemeze niba hari kanseri irimo. Ubu ni bwo buryo bwonyine bwizewe.</a:t>
            </a:r>
            <a:endParaRPr sz="1500" dirty="0">
              <a:solidFill>
                <a:schemeClr val="dk1"/>
              </a:solidFill>
              <a:latin typeface="Calibri"/>
              <a:ea typeface="Calibri"/>
              <a:cs typeface="Calibri"/>
              <a:sym typeface="Calibri"/>
            </a:endParaRPr>
          </a:p>
        </p:txBody>
      </p:sp>
      <p:sp>
        <p:nvSpPr>
          <p:cNvPr id="1166" name="Google Shape;1166;p54"/>
          <p:cNvSpPr/>
          <p:nvPr/>
        </p:nvSpPr>
        <p:spPr>
          <a:xfrm>
            <a:off x="548640" y="5640014"/>
            <a:ext cx="11091672" cy="658368"/>
          </a:xfrm>
          <a:prstGeom prst="roundRect">
            <a:avLst>
              <a:gd name="adj" fmla="val 13889"/>
            </a:avLst>
          </a:prstGeom>
          <a:solidFill>
            <a:srgbClr val="FDF6E3"/>
          </a:solidFill>
          <a:ln w="12700" cap="flat" cmpd="sng">
            <a:solidFill>
              <a:srgbClr val="EFD9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167" name="Google Shape;1167;p54"/>
          <p:cNvSpPr/>
          <p:nvPr/>
        </p:nvSpPr>
        <p:spPr>
          <a:xfrm>
            <a:off x="777240" y="5713166"/>
            <a:ext cx="10634472" cy="512064"/>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9C6500"/>
              </a:buClr>
              <a:buSzPts val="1737"/>
              <a:buFont typeface="Calibri"/>
              <a:buNone/>
            </a:pPr>
            <a:r>
              <a:rPr lang="rw-RW" sz="1800" dirty="0">
                <a:solidFill>
                  <a:srgbClr val="9C6500"/>
                </a:solidFill>
                <a:latin typeface="Calibri"/>
                <a:ea typeface="Calibri"/>
                <a:cs typeface="Calibri"/>
                <a:sym typeface="Calibri"/>
              </a:rPr>
              <a:t>Ntabwo buri vuriro ryatanga izi servisi zose. Abantu bamwe bashobora gukenera kujya ku bitaro byisumbuyeho gupimwa na kamera no gutanga ibizamini bya laboratwari.</a:t>
            </a:r>
            <a:endParaRPr sz="1737" dirty="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72"/>
        <p:cNvGrpSpPr/>
        <p:nvPr/>
      </p:nvGrpSpPr>
      <p:grpSpPr>
        <a:xfrm>
          <a:off x="0" y="0"/>
          <a:ext cx="0" cy="0"/>
          <a:chOff x="0" y="0"/>
          <a:chExt cx="0" cy="0"/>
        </a:xfrm>
      </p:grpSpPr>
      <p:sp>
        <p:nvSpPr>
          <p:cNvPr id="1173" name="Google Shape;1173;p55"/>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4</a:t>
            </a:r>
            <a:endParaRPr sz="1100">
              <a:solidFill>
                <a:schemeClr val="dk1"/>
              </a:solidFill>
              <a:latin typeface="Calibri"/>
              <a:ea typeface="Calibri"/>
              <a:cs typeface="Calibri"/>
              <a:sym typeface="Calibri"/>
            </a:endParaRPr>
          </a:p>
        </p:txBody>
      </p:sp>
      <p:sp>
        <p:nvSpPr>
          <p:cNvPr id="1174" name="Google Shape;1174;p55"/>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Gusobanurira umuryango ibizamini</a:t>
            </a:r>
            <a:endParaRPr sz="3400">
              <a:solidFill>
                <a:schemeClr val="dk1"/>
              </a:solidFill>
              <a:latin typeface="Calibri"/>
              <a:ea typeface="Calibri"/>
              <a:cs typeface="Calibri"/>
              <a:sym typeface="Calibri"/>
            </a:endParaRPr>
          </a:p>
        </p:txBody>
      </p:sp>
      <p:sp>
        <p:nvSpPr>
          <p:cNvPr id="1175" name="Google Shape;1175;p55"/>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176" name="Google Shape;1176;p55"/>
          <p:cNvSpPr/>
          <p:nvPr/>
        </p:nvSpPr>
        <p:spPr>
          <a:xfrm>
            <a:off x="548640" y="1874520"/>
            <a:ext cx="5486400" cy="3886200"/>
          </a:xfrm>
          <a:prstGeom prst="roundRect">
            <a:avLst>
              <a:gd name="adj" fmla="val 2824"/>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77" name="Google Shape;1177;p55"/>
          <p:cNvSpPr/>
          <p:nvPr/>
        </p:nvSpPr>
        <p:spPr>
          <a:xfrm>
            <a:off x="804672" y="2057400"/>
            <a:ext cx="5029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Amagambo ushobora gukoresha</a:t>
            </a:r>
            <a:endParaRPr sz="2100">
              <a:solidFill>
                <a:schemeClr val="dk1"/>
              </a:solidFill>
              <a:latin typeface="Calibri"/>
              <a:ea typeface="Calibri"/>
              <a:cs typeface="Calibri"/>
              <a:sym typeface="Calibri"/>
            </a:endParaRPr>
          </a:p>
        </p:txBody>
      </p:sp>
      <p:sp>
        <p:nvSpPr>
          <p:cNvPr id="1178" name="Google Shape;1178;p55"/>
          <p:cNvSpPr/>
          <p:nvPr/>
        </p:nvSpPr>
        <p:spPr>
          <a:xfrm>
            <a:off x="868680" y="2514600"/>
            <a:ext cx="4937760" cy="301752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rgbClr val="16334F"/>
              </a:buClr>
              <a:buSzPts val="1700"/>
              <a:buFont typeface="Calibri"/>
              <a:buChar char="•"/>
            </a:pPr>
            <a:r>
              <a:rPr lang="rw-RW" sz="1700" dirty="0">
                <a:solidFill>
                  <a:srgbClr val="16334F"/>
                </a:solidFill>
                <a:latin typeface="Calibri"/>
                <a:ea typeface="Calibri"/>
                <a:cs typeface="Calibri"/>
                <a:sym typeface="Calibri"/>
              </a:rPr>
              <a:t>"Ikizamini cya kamera (Endoscopy) gifasha abaganga kubona imbere mu gifu cyawe. Uzahabwa imiti kugira ngo biborohere."</a:t>
            </a:r>
            <a:endParaRPr sz="1700" dirty="0">
              <a:solidFill>
                <a:schemeClr val="dk1"/>
              </a:solidFill>
              <a:latin typeface="Calibri"/>
              <a:ea typeface="Calibri"/>
              <a:cs typeface="Calibri"/>
              <a:sym typeface="Calibri"/>
            </a:endParaRPr>
          </a:p>
          <a:p>
            <a:pPr marL="342900" marR="0" lvl="0" indent="-342900" algn="l" rtl="0">
              <a:spcBef>
                <a:spcPts val="1000"/>
              </a:spcBef>
              <a:spcAft>
                <a:spcPts val="0"/>
              </a:spcAft>
              <a:buClr>
                <a:srgbClr val="16334F"/>
              </a:buClr>
              <a:buSzPts val="1700"/>
              <a:buFont typeface="Calibri"/>
              <a:buChar char="•"/>
            </a:pPr>
            <a:r>
              <a:rPr lang="rw-RW" sz="1700" dirty="0">
                <a:solidFill>
                  <a:srgbClr val="16334F"/>
                </a:solidFill>
                <a:latin typeface="Calibri"/>
                <a:ea typeface="Calibri"/>
                <a:cs typeface="Calibri"/>
                <a:sym typeface="Calibri"/>
              </a:rPr>
              <a:t>"Bashobora gufata agace gato cyane imbere mu gifu. Ni gato kurusha agaheke k'umuceri."</a:t>
            </a:r>
            <a:endParaRPr sz="1700" dirty="0">
              <a:solidFill>
                <a:schemeClr val="dk1"/>
              </a:solidFill>
              <a:latin typeface="Calibri"/>
              <a:ea typeface="Calibri"/>
              <a:cs typeface="Calibri"/>
              <a:sym typeface="Calibri"/>
            </a:endParaRPr>
          </a:p>
          <a:p>
            <a:pPr marL="342900" marR="0" lvl="0" indent="-342900" algn="l" rtl="0">
              <a:spcBef>
                <a:spcPts val="1000"/>
              </a:spcBef>
              <a:spcAft>
                <a:spcPts val="0"/>
              </a:spcAft>
              <a:buClr>
                <a:srgbClr val="16334F"/>
              </a:buClr>
              <a:buSzPts val="1700"/>
              <a:buFont typeface="Calibri"/>
              <a:buChar char="•"/>
            </a:pPr>
            <a:r>
              <a:rPr lang="rw-RW" sz="1700" dirty="0">
                <a:solidFill>
                  <a:srgbClr val="16334F"/>
                </a:solidFill>
                <a:latin typeface="Calibri"/>
                <a:ea typeface="Calibri"/>
                <a:cs typeface="Calibri"/>
                <a:sym typeface="Calibri"/>
              </a:rPr>
              <a:t>“Ako gace gato kafashwe kajyanwa muri laboratwari. Ni bwo buryo bwonyine bwo kumenya neza niba ari kanseri."</a:t>
            </a:r>
            <a:endParaRPr sz="1700" dirty="0">
              <a:solidFill>
                <a:schemeClr val="dk1"/>
              </a:solidFill>
              <a:latin typeface="Calibri"/>
              <a:ea typeface="Calibri"/>
              <a:cs typeface="Calibri"/>
              <a:sym typeface="Calibri"/>
            </a:endParaRPr>
          </a:p>
          <a:p>
            <a:pPr marL="342900" marR="0" lvl="0" indent="-342900" algn="l" rtl="0">
              <a:spcBef>
                <a:spcPts val="1000"/>
              </a:spcBef>
              <a:spcAft>
                <a:spcPts val="0"/>
              </a:spcAft>
              <a:buClr>
                <a:srgbClr val="16334F"/>
              </a:buClr>
              <a:buSzPts val="1700"/>
              <a:buFont typeface="Calibri"/>
              <a:buChar char="•"/>
            </a:pPr>
            <a:r>
              <a:rPr lang="rw-RW" sz="1700" dirty="0">
                <a:solidFill>
                  <a:srgbClr val="16334F"/>
                </a:solidFill>
                <a:latin typeface="Calibri"/>
                <a:ea typeface="Calibri"/>
                <a:cs typeface="Calibri"/>
                <a:sym typeface="Calibri"/>
              </a:rPr>
              <a:t>"Gutegereza ibisubizo bishobora kubagora. Nzakomeza kujya ngusura mu gihe utegereje."</a:t>
            </a:r>
            <a:endParaRPr sz="1700" dirty="0">
              <a:solidFill>
                <a:schemeClr val="dk1"/>
              </a:solidFill>
              <a:latin typeface="Calibri"/>
              <a:ea typeface="Calibri"/>
              <a:cs typeface="Calibri"/>
              <a:sym typeface="Calibri"/>
            </a:endParaRPr>
          </a:p>
        </p:txBody>
      </p:sp>
      <p:pic>
        <p:nvPicPr>
          <p:cNvPr id="1179" name="Google Shape;1179;p55"/>
          <p:cNvPicPr preferRelativeResize="0"/>
          <p:nvPr/>
        </p:nvPicPr>
        <p:blipFill rotWithShape="1">
          <a:blip r:embed="rId3">
            <a:alphaModFix/>
          </a:blip>
          <a:srcRect/>
          <a:stretch/>
        </p:blipFill>
        <p:spPr>
          <a:xfrm>
            <a:off x="6618555" y="1874520"/>
            <a:ext cx="4856018" cy="38862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84"/>
        <p:cNvGrpSpPr/>
        <p:nvPr/>
      </p:nvGrpSpPr>
      <p:grpSpPr>
        <a:xfrm>
          <a:off x="0" y="0"/>
          <a:ext cx="0" cy="0"/>
          <a:chOff x="0" y="0"/>
          <a:chExt cx="0" cy="0"/>
        </a:xfrm>
      </p:grpSpPr>
      <p:sp>
        <p:nvSpPr>
          <p:cNvPr id="1185" name="Google Shape;1185;p56"/>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4</a:t>
            </a:r>
            <a:endParaRPr sz="1100">
              <a:solidFill>
                <a:schemeClr val="dk1"/>
              </a:solidFill>
              <a:latin typeface="Calibri"/>
              <a:ea typeface="Calibri"/>
              <a:cs typeface="Calibri"/>
              <a:sym typeface="Calibri"/>
            </a:endParaRPr>
          </a:p>
        </p:txBody>
      </p:sp>
      <p:sp>
        <p:nvSpPr>
          <p:cNvPr id="1186" name="Google Shape;1186;p56"/>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Ubwoko bw'ubuvuzi</a:t>
            </a:r>
            <a:endParaRPr sz="3400">
              <a:solidFill>
                <a:schemeClr val="dk1"/>
              </a:solidFill>
              <a:latin typeface="Calibri"/>
              <a:ea typeface="Calibri"/>
              <a:cs typeface="Calibri"/>
              <a:sym typeface="Calibri"/>
            </a:endParaRPr>
          </a:p>
        </p:txBody>
      </p:sp>
      <p:sp>
        <p:nvSpPr>
          <p:cNvPr id="1187" name="Google Shape;1187;p56"/>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188" name="Google Shape;1188;p56"/>
          <p:cNvSpPr/>
          <p:nvPr/>
        </p:nvSpPr>
        <p:spPr>
          <a:xfrm>
            <a:off x="548640" y="1394074"/>
            <a:ext cx="3502152" cy="2279489"/>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89" name="Google Shape;1189;p56"/>
          <p:cNvSpPr/>
          <p:nvPr/>
        </p:nvSpPr>
        <p:spPr>
          <a:xfrm>
            <a:off x="804672" y="1595243"/>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79"/>
              <a:buFont typeface="Cambria"/>
              <a:buNone/>
            </a:pPr>
            <a:r>
              <a:rPr lang="rw-RW" sz="2100" b="1" dirty="0">
                <a:solidFill>
                  <a:srgbClr val="0F3D63"/>
                </a:solidFill>
                <a:latin typeface="Cambria"/>
                <a:ea typeface="Cambria"/>
                <a:cs typeface="Cambria"/>
                <a:sym typeface="Cambria"/>
              </a:rPr>
              <a:t>Kubaga</a:t>
            </a:r>
            <a:endParaRPr sz="2079" dirty="0">
              <a:solidFill>
                <a:schemeClr val="dk1"/>
              </a:solidFill>
              <a:latin typeface="Calibri"/>
              <a:ea typeface="Calibri"/>
              <a:cs typeface="Calibri"/>
              <a:sym typeface="Calibri"/>
            </a:endParaRPr>
          </a:p>
        </p:txBody>
      </p:sp>
      <p:sp>
        <p:nvSpPr>
          <p:cNvPr id="1190" name="Google Shape;1190;p56"/>
          <p:cNvSpPr/>
          <p:nvPr/>
        </p:nvSpPr>
        <p:spPr>
          <a:xfrm>
            <a:off x="804672" y="2235323"/>
            <a:ext cx="2990088" cy="960120"/>
          </a:xfrm>
          <a:prstGeom prst="rect">
            <a:avLst/>
          </a:prstGeom>
          <a:noFill/>
          <a:ln>
            <a:noFill/>
          </a:ln>
        </p:spPr>
        <p:txBody>
          <a:bodyPr spcFirstLastPara="1" wrap="square" lIns="0" tIns="0" rIns="0" bIns="0" anchor="t" anchorCtr="0">
            <a:normAutofit fontScale="85000" lnSpcReduction="10000"/>
          </a:bodyPr>
          <a:lstStyle/>
          <a:p>
            <a:pPr marL="0" marR="0" lvl="0" indent="0" algn="l" rtl="0">
              <a:lnSpc>
                <a:spcPct val="95000"/>
              </a:lnSpc>
              <a:spcBef>
                <a:spcPts val="0"/>
              </a:spcBef>
              <a:spcAft>
                <a:spcPts val="0"/>
              </a:spcAft>
              <a:buClr>
                <a:srgbClr val="16334F"/>
              </a:buClr>
              <a:buSzPts val="1620"/>
              <a:buFont typeface="Calibri"/>
              <a:buNone/>
            </a:pPr>
            <a:r>
              <a:rPr lang="rw-RW" sz="1800" dirty="0">
                <a:solidFill>
                  <a:srgbClr val="16334F"/>
                </a:solidFill>
                <a:latin typeface="Calibri"/>
                <a:ea typeface="Calibri"/>
                <a:cs typeface="Calibri"/>
                <a:sym typeface="Calibri"/>
              </a:rPr>
              <a:t>Abaganga bashobora gukuraho igice cy'igifu aho kanseri iherereye. Nyuma y'ibyo, umuntu arya ibiryo bicye bicye ariko kenshi.</a:t>
            </a:r>
            <a:endParaRPr sz="1620" dirty="0">
              <a:solidFill>
                <a:schemeClr val="dk1"/>
              </a:solidFill>
              <a:latin typeface="Calibri"/>
              <a:ea typeface="Calibri"/>
              <a:cs typeface="Calibri"/>
              <a:sym typeface="Calibri"/>
            </a:endParaRPr>
          </a:p>
        </p:txBody>
      </p:sp>
      <p:sp>
        <p:nvSpPr>
          <p:cNvPr id="1191" name="Google Shape;1191;p56"/>
          <p:cNvSpPr/>
          <p:nvPr/>
        </p:nvSpPr>
        <p:spPr>
          <a:xfrm>
            <a:off x="4343400" y="1394074"/>
            <a:ext cx="3502152" cy="2279489"/>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92" name="Google Shape;1192;p56"/>
          <p:cNvSpPr/>
          <p:nvPr/>
        </p:nvSpPr>
        <p:spPr>
          <a:xfrm>
            <a:off x="4599432" y="1595243"/>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79"/>
              <a:buFont typeface="Cambria"/>
              <a:buNone/>
            </a:pPr>
            <a:r>
              <a:rPr lang="rw-RW" sz="2100" b="1" dirty="0">
                <a:solidFill>
                  <a:srgbClr val="0F3D63"/>
                </a:solidFill>
                <a:latin typeface="Cambria"/>
                <a:ea typeface="Cambria"/>
                <a:cs typeface="Cambria"/>
                <a:sym typeface="Cambria"/>
              </a:rPr>
              <a:t>Imiti ya Kanseri</a:t>
            </a:r>
            <a:endParaRPr sz="2079" dirty="0">
              <a:solidFill>
                <a:schemeClr val="dk1"/>
              </a:solidFill>
              <a:latin typeface="Calibri"/>
              <a:ea typeface="Calibri"/>
              <a:cs typeface="Calibri"/>
              <a:sym typeface="Calibri"/>
            </a:endParaRPr>
          </a:p>
        </p:txBody>
      </p:sp>
      <p:sp>
        <p:nvSpPr>
          <p:cNvPr id="1193" name="Google Shape;1193;p56"/>
          <p:cNvSpPr/>
          <p:nvPr/>
        </p:nvSpPr>
        <p:spPr>
          <a:xfrm>
            <a:off x="4599432" y="2235323"/>
            <a:ext cx="2990088" cy="96012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05000"/>
              </a:lnSpc>
              <a:spcBef>
                <a:spcPts val="0"/>
              </a:spcBef>
              <a:spcAft>
                <a:spcPts val="0"/>
              </a:spcAft>
              <a:buClr>
                <a:srgbClr val="16334F"/>
              </a:buClr>
              <a:buSzPts val="1620"/>
              <a:buFont typeface="Calibri"/>
              <a:buNone/>
            </a:pPr>
            <a:r>
              <a:rPr lang="rw-RW" sz="1800" dirty="0">
                <a:solidFill>
                  <a:srgbClr val="16334F"/>
                </a:solidFill>
                <a:latin typeface="Calibri"/>
                <a:ea typeface="Calibri"/>
                <a:cs typeface="Calibri"/>
                <a:sym typeface="Calibri"/>
              </a:rPr>
              <a:t>Imiti inyura mu mubiri wose kandi ikora ku turemangingo twa kanseri. Itangwa mu gihe runaka kigenwa na muganga.</a:t>
            </a:r>
            <a:endParaRPr sz="1620" dirty="0">
              <a:solidFill>
                <a:schemeClr val="dk1"/>
              </a:solidFill>
              <a:latin typeface="Calibri"/>
              <a:ea typeface="Calibri"/>
              <a:cs typeface="Calibri"/>
              <a:sym typeface="Calibri"/>
            </a:endParaRPr>
          </a:p>
        </p:txBody>
      </p:sp>
      <p:sp>
        <p:nvSpPr>
          <p:cNvPr id="1194" name="Google Shape;1194;p56"/>
          <p:cNvSpPr/>
          <p:nvPr/>
        </p:nvSpPr>
        <p:spPr>
          <a:xfrm>
            <a:off x="8138160" y="1394074"/>
            <a:ext cx="3502152" cy="2279489"/>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95" name="Google Shape;1195;p56"/>
          <p:cNvSpPr/>
          <p:nvPr/>
        </p:nvSpPr>
        <p:spPr>
          <a:xfrm>
            <a:off x="8394192" y="1595243"/>
            <a:ext cx="2990088" cy="566928"/>
          </a:xfrm>
          <a:prstGeom prst="rect">
            <a:avLst/>
          </a:prstGeom>
          <a:noFill/>
          <a:ln>
            <a:noFill/>
          </a:ln>
        </p:spPr>
        <p:txBody>
          <a:bodyPr spcFirstLastPara="1" wrap="square" lIns="0" tIns="0" rIns="0" bIns="0" anchor="t" anchorCtr="0">
            <a:normAutofit lnSpcReduction="10000"/>
          </a:bodyPr>
          <a:lstStyle/>
          <a:p>
            <a:pPr marL="0" marR="0" lvl="0" indent="0" algn="l" rtl="0">
              <a:lnSpc>
                <a:spcPct val="90000"/>
              </a:lnSpc>
              <a:spcBef>
                <a:spcPts val="0"/>
              </a:spcBef>
              <a:spcAft>
                <a:spcPts val="0"/>
              </a:spcAft>
              <a:buClr>
                <a:srgbClr val="0F3D63"/>
              </a:buClr>
              <a:buSzPts val="1921"/>
              <a:buFont typeface="Cambria"/>
              <a:buNone/>
            </a:pPr>
            <a:r>
              <a:rPr lang="rw-RW" sz="2100" b="1" dirty="0">
                <a:solidFill>
                  <a:srgbClr val="0F3D63"/>
                </a:solidFill>
                <a:latin typeface="Cambria"/>
                <a:ea typeface="Cambria"/>
                <a:cs typeface="Cambria"/>
                <a:sym typeface="Cambria"/>
              </a:rPr>
              <a:t>Kuvura hakoreshejwe imirasire</a:t>
            </a:r>
            <a:endParaRPr sz="1922" dirty="0">
              <a:solidFill>
                <a:schemeClr val="dk1"/>
              </a:solidFill>
              <a:latin typeface="Calibri"/>
              <a:ea typeface="Calibri"/>
              <a:cs typeface="Calibri"/>
              <a:sym typeface="Calibri"/>
            </a:endParaRPr>
          </a:p>
        </p:txBody>
      </p:sp>
      <p:sp>
        <p:nvSpPr>
          <p:cNvPr id="1196" name="Google Shape;1196;p56"/>
          <p:cNvSpPr/>
          <p:nvPr/>
        </p:nvSpPr>
        <p:spPr>
          <a:xfrm>
            <a:off x="8394192" y="2235323"/>
            <a:ext cx="2990088" cy="96012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05000"/>
              </a:lnSpc>
              <a:spcBef>
                <a:spcPts val="0"/>
              </a:spcBef>
              <a:spcAft>
                <a:spcPts val="0"/>
              </a:spcAft>
              <a:buClr>
                <a:srgbClr val="16334F"/>
              </a:buClr>
              <a:buSzPts val="1620"/>
              <a:buFont typeface="Calibri"/>
              <a:buNone/>
            </a:pPr>
            <a:r>
              <a:rPr lang="rw-RW" sz="1800" dirty="0">
                <a:solidFill>
                  <a:srgbClr val="16334F"/>
                </a:solidFill>
                <a:latin typeface="Calibri"/>
                <a:ea typeface="Calibri"/>
                <a:cs typeface="Calibri"/>
                <a:sym typeface="Calibri"/>
              </a:rPr>
              <a:t>Imirasire ikomeye yerekeza ku gice runaka cy'umubiri kirwaye. Ikoreshwa ku bantu bamwe, ntabwo ari kuri bose.</a:t>
            </a:r>
            <a:endParaRPr sz="1620" dirty="0">
              <a:solidFill>
                <a:schemeClr val="dk1"/>
              </a:solidFill>
              <a:latin typeface="Calibri"/>
              <a:ea typeface="Calibri"/>
              <a:cs typeface="Calibri"/>
              <a:sym typeface="Calibri"/>
            </a:endParaRPr>
          </a:p>
        </p:txBody>
      </p:sp>
      <p:sp>
        <p:nvSpPr>
          <p:cNvPr id="1197" name="Google Shape;1197;p56"/>
          <p:cNvSpPr/>
          <p:nvPr/>
        </p:nvSpPr>
        <p:spPr>
          <a:xfrm>
            <a:off x="548640" y="3883876"/>
            <a:ext cx="3502152" cy="2288324"/>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98" name="Google Shape;1198;p56"/>
          <p:cNvSpPr/>
          <p:nvPr/>
        </p:nvSpPr>
        <p:spPr>
          <a:xfrm>
            <a:off x="804672" y="4085044"/>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79"/>
              <a:buFont typeface="Cambria"/>
              <a:buNone/>
            </a:pPr>
            <a:r>
              <a:rPr lang="rw-RW" sz="2100" b="1" dirty="0">
                <a:solidFill>
                  <a:srgbClr val="0F3D63"/>
                </a:solidFill>
                <a:latin typeface="Cambria"/>
                <a:ea typeface="Cambria"/>
                <a:cs typeface="Cambria"/>
                <a:sym typeface="Cambria"/>
              </a:rPr>
              <a:t>Ubuvuzi bw'ihumure</a:t>
            </a:r>
            <a:endParaRPr sz="2079" dirty="0">
              <a:solidFill>
                <a:schemeClr val="dk1"/>
              </a:solidFill>
              <a:latin typeface="Calibri"/>
              <a:ea typeface="Calibri"/>
              <a:cs typeface="Calibri"/>
              <a:sym typeface="Calibri"/>
            </a:endParaRPr>
          </a:p>
        </p:txBody>
      </p:sp>
      <p:sp>
        <p:nvSpPr>
          <p:cNvPr id="1199" name="Google Shape;1199;p56"/>
          <p:cNvSpPr/>
          <p:nvPr/>
        </p:nvSpPr>
        <p:spPr>
          <a:xfrm>
            <a:off x="804672" y="4725124"/>
            <a:ext cx="2990088" cy="960120"/>
          </a:xfrm>
          <a:prstGeom prst="rect">
            <a:avLst/>
          </a:prstGeom>
          <a:noFill/>
          <a:ln>
            <a:noFill/>
          </a:ln>
        </p:spPr>
        <p:txBody>
          <a:bodyPr spcFirstLastPara="1" wrap="square" lIns="0" tIns="0" rIns="0" bIns="0" anchor="t" anchorCtr="0">
            <a:normAutofit lnSpcReduction="10000"/>
          </a:bodyPr>
          <a:lstStyle/>
          <a:p>
            <a:pPr marL="0" marR="0" lvl="0" indent="0" algn="l" rtl="0">
              <a:lnSpc>
                <a:spcPct val="95000"/>
              </a:lnSpc>
              <a:spcBef>
                <a:spcPts val="0"/>
              </a:spcBef>
              <a:spcAft>
                <a:spcPts val="0"/>
              </a:spcAft>
              <a:buClr>
                <a:srgbClr val="16334F"/>
              </a:buClr>
              <a:buSzPts val="1620"/>
              <a:buFont typeface="Calibri"/>
              <a:buNone/>
            </a:pPr>
            <a:r>
              <a:rPr lang="rw-RW" sz="1800" dirty="0">
                <a:solidFill>
                  <a:srgbClr val="16334F"/>
                </a:solidFill>
                <a:latin typeface="Calibri"/>
                <a:ea typeface="Calibri"/>
                <a:cs typeface="Calibri"/>
                <a:sym typeface="Calibri"/>
              </a:rPr>
              <a:t>Ubuvuzi bugamije kugabanya ububabare, uburwayi, n'ibindi bibazo. Ubu buvuzi bushobora gufatikanywa n'ubundi.</a:t>
            </a:r>
            <a:endParaRPr sz="1620" dirty="0">
              <a:solidFill>
                <a:schemeClr val="dk1"/>
              </a:solidFill>
              <a:latin typeface="Calibri"/>
              <a:ea typeface="Calibri"/>
              <a:cs typeface="Calibri"/>
              <a:sym typeface="Calibri"/>
            </a:endParaRPr>
          </a:p>
        </p:txBody>
      </p:sp>
      <p:sp>
        <p:nvSpPr>
          <p:cNvPr id="1200" name="Google Shape;1200;p56"/>
          <p:cNvSpPr/>
          <p:nvPr/>
        </p:nvSpPr>
        <p:spPr>
          <a:xfrm>
            <a:off x="4343400" y="3883876"/>
            <a:ext cx="3502152" cy="2288324"/>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01" name="Google Shape;1201;p56"/>
          <p:cNvSpPr/>
          <p:nvPr/>
        </p:nvSpPr>
        <p:spPr>
          <a:xfrm>
            <a:off x="4599432" y="4085044"/>
            <a:ext cx="2990088" cy="566928"/>
          </a:xfrm>
          <a:prstGeom prst="rect">
            <a:avLst/>
          </a:prstGeom>
          <a:noFill/>
          <a:ln>
            <a:noFill/>
          </a:ln>
        </p:spPr>
        <p:txBody>
          <a:bodyPr spcFirstLastPara="1" wrap="square" lIns="0" tIns="0" rIns="0" bIns="0" anchor="t" anchorCtr="0">
            <a:normAutofit lnSpcReduction="10000"/>
          </a:bodyPr>
          <a:lstStyle/>
          <a:p>
            <a:pPr marL="0" marR="0" lvl="0" indent="0" algn="l" rtl="0">
              <a:lnSpc>
                <a:spcPct val="90000"/>
              </a:lnSpc>
              <a:spcBef>
                <a:spcPts val="0"/>
              </a:spcBef>
              <a:spcAft>
                <a:spcPts val="0"/>
              </a:spcAft>
              <a:buClr>
                <a:srgbClr val="0F3D63"/>
              </a:buClr>
              <a:buSzPts val="1921"/>
              <a:buFont typeface="Cambria"/>
              <a:buNone/>
            </a:pPr>
            <a:r>
              <a:rPr lang="rw-RW" sz="2100" b="1">
                <a:solidFill>
                  <a:srgbClr val="0F3D63"/>
                </a:solidFill>
                <a:latin typeface="Cambria"/>
                <a:ea typeface="Cambria"/>
                <a:cs typeface="Cambria"/>
                <a:sym typeface="Cambria"/>
              </a:rPr>
              <a:t>Ntabwo abantu bose bameze kimwe</a:t>
            </a:r>
            <a:endParaRPr sz="1922">
              <a:solidFill>
                <a:schemeClr val="dk1"/>
              </a:solidFill>
              <a:latin typeface="Calibri"/>
              <a:ea typeface="Calibri"/>
              <a:cs typeface="Calibri"/>
              <a:sym typeface="Calibri"/>
            </a:endParaRPr>
          </a:p>
        </p:txBody>
      </p:sp>
      <p:sp>
        <p:nvSpPr>
          <p:cNvPr id="1202" name="Google Shape;1202;p56"/>
          <p:cNvSpPr/>
          <p:nvPr/>
        </p:nvSpPr>
        <p:spPr>
          <a:xfrm>
            <a:off x="4599432" y="4725124"/>
            <a:ext cx="2990088" cy="96012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05000"/>
              </a:lnSpc>
              <a:spcBef>
                <a:spcPts val="0"/>
              </a:spcBef>
              <a:spcAft>
                <a:spcPts val="0"/>
              </a:spcAft>
              <a:buClr>
                <a:srgbClr val="16334F"/>
              </a:buClr>
              <a:buSzPts val="1620"/>
              <a:buFont typeface="Calibri"/>
              <a:buNone/>
            </a:pPr>
            <a:r>
              <a:rPr lang="rw-RW" sz="1800" dirty="0">
                <a:solidFill>
                  <a:srgbClr val="16334F"/>
                </a:solidFill>
                <a:latin typeface="Calibri"/>
                <a:ea typeface="Calibri"/>
                <a:cs typeface="Calibri"/>
                <a:sym typeface="Calibri"/>
              </a:rPr>
              <a:t>Umuntu ahabwa imiti nyuma yo kubona ibisubizo by’ibizamini. Hari abantu bahabwa ubwoko burenze bumwe.</a:t>
            </a:r>
            <a:endParaRPr sz="1620" dirty="0">
              <a:solidFill>
                <a:schemeClr val="dk1"/>
              </a:solidFill>
              <a:latin typeface="Calibri"/>
              <a:ea typeface="Calibri"/>
              <a:cs typeface="Calibri"/>
              <a:sym typeface="Calibri"/>
            </a:endParaRPr>
          </a:p>
        </p:txBody>
      </p:sp>
      <p:sp>
        <p:nvSpPr>
          <p:cNvPr id="1203" name="Google Shape;1203;p56"/>
          <p:cNvSpPr/>
          <p:nvPr/>
        </p:nvSpPr>
        <p:spPr>
          <a:xfrm>
            <a:off x="8138160" y="3883876"/>
            <a:ext cx="3502152" cy="2288324"/>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04" name="Google Shape;1204;p56"/>
          <p:cNvSpPr/>
          <p:nvPr/>
        </p:nvSpPr>
        <p:spPr>
          <a:xfrm>
            <a:off x="8394192" y="4085044"/>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79"/>
              <a:buFont typeface="Cambria"/>
              <a:buNone/>
            </a:pPr>
            <a:r>
              <a:rPr lang="rw-RW" sz="2100" b="1">
                <a:solidFill>
                  <a:srgbClr val="0F3D63"/>
                </a:solidFill>
                <a:latin typeface="Cambria"/>
                <a:ea typeface="Cambria"/>
                <a:cs typeface="Cambria"/>
                <a:sym typeface="Cambria"/>
              </a:rPr>
              <a:t>Uruhare rwawe</a:t>
            </a:r>
            <a:endParaRPr sz="2079">
              <a:solidFill>
                <a:schemeClr val="dk1"/>
              </a:solidFill>
              <a:latin typeface="Calibri"/>
              <a:ea typeface="Calibri"/>
              <a:cs typeface="Calibri"/>
              <a:sym typeface="Calibri"/>
            </a:endParaRPr>
          </a:p>
        </p:txBody>
      </p:sp>
      <p:sp>
        <p:nvSpPr>
          <p:cNvPr id="1205" name="Google Shape;1205;p56"/>
          <p:cNvSpPr/>
          <p:nvPr/>
        </p:nvSpPr>
        <p:spPr>
          <a:xfrm>
            <a:off x="8394192" y="4725124"/>
            <a:ext cx="2990088" cy="96012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85000"/>
              </a:lnSpc>
              <a:spcBef>
                <a:spcPts val="0"/>
              </a:spcBef>
              <a:spcAft>
                <a:spcPts val="0"/>
              </a:spcAft>
              <a:buClr>
                <a:srgbClr val="16334F"/>
              </a:buClr>
              <a:buSzPts val="1350"/>
              <a:buFont typeface="Calibri"/>
              <a:buNone/>
            </a:pPr>
            <a:r>
              <a:rPr lang="rw-RW" sz="1800" dirty="0">
                <a:solidFill>
                  <a:srgbClr val="16334F"/>
                </a:solidFill>
                <a:latin typeface="Calibri"/>
                <a:ea typeface="Calibri"/>
                <a:cs typeface="Calibri"/>
                <a:sym typeface="Calibri"/>
              </a:rPr>
              <a:t>Sobanura ko hari gahunda iriho, shishikariza umuntu kubahiriza gahunda zo kwa muganga, no kumenyesha abaganga igihe havuka ikibazo gishya.</a:t>
            </a:r>
            <a:endParaRPr sz="1350" dirty="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10"/>
        <p:cNvGrpSpPr/>
        <p:nvPr/>
      </p:nvGrpSpPr>
      <p:grpSpPr>
        <a:xfrm>
          <a:off x="0" y="0"/>
          <a:ext cx="0" cy="0"/>
          <a:chOff x="0" y="0"/>
          <a:chExt cx="0" cy="0"/>
        </a:xfrm>
      </p:grpSpPr>
      <p:sp>
        <p:nvSpPr>
          <p:cNvPr id="1211" name="Google Shape;1211;p57"/>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4</a:t>
            </a:r>
            <a:endParaRPr sz="1100">
              <a:solidFill>
                <a:schemeClr val="dk1"/>
              </a:solidFill>
              <a:latin typeface="Calibri"/>
              <a:ea typeface="Calibri"/>
              <a:cs typeface="Calibri"/>
              <a:sym typeface="Calibri"/>
            </a:endParaRPr>
          </a:p>
        </p:txBody>
      </p:sp>
      <p:sp>
        <p:nvSpPr>
          <p:cNvPr id="1212" name="Google Shape;1212;p57"/>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dirty="0">
                <a:solidFill>
                  <a:srgbClr val="0F3D63"/>
                </a:solidFill>
                <a:latin typeface="Cambria"/>
                <a:ea typeface="Cambria"/>
                <a:cs typeface="Calibri"/>
                <a:sym typeface="Cambria"/>
              </a:rPr>
              <a:t>Umukoro ngiro</a:t>
            </a:r>
            <a:endParaRPr sz="3400" dirty="0">
              <a:solidFill>
                <a:schemeClr val="dk1"/>
              </a:solidFill>
              <a:latin typeface="Calibri"/>
              <a:ea typeface="Calibri"/>
              <a:cs typeface="Calibri"/>
              <a:sym typeface="Calibri"/>
            </a:endParaRPr>
          </a:p>
        </p:txBody>
      </p:sp>
      <p:sp>
        <p:nvSpPr>
          <p:cNvPr id="1213" name="Google Shape;1213;p57"/>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214" name="Google Shape;1214;p57"/>
          <p:cNvSpPr/>
          <p:nvPr/>
        </p:nvSpPr>
        <p:spPr>
          <a:xfrm>
            <a:off x="548640" y="1304366"/>
            <a:ext cx="6400800" cy="1417320"/>
          </a:xfrm>
          <a:prstGeom prst="roundRect">
            <a:avLst>
              <a:gd name="adj" fmla="val 6452"/>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215" name="Google Shape;1215;p57"/>
          <p:cNvSpPr/>
          <p:nvPr/>
        </p:nvSpPr>
        <p:spPr>
          <a:xfrm>
            <a:off x="777240" y="1395806"/>
            <a:ext cx="5943600" cy="123444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272B8"/>
              </a:buClr>
              <a:buSzPts val="1800"/>
              <a:buFont typeface="Calibri"/>
              <a:buNone/>
            </a:pPr>
            <a:r>
              <a:rPr lang="rw-RW" sz="1800" b="1" dirty="0">
                <a:solidFill>
                  <a:srgbClr val="2272B8"/>
                </a:solidFill>
                <a:latin typeface="Calibri"/>
                <a:ea typeface="Calibri"/>
                <a:cs typeface="Calibri"/>
                <a:sym typeface="Calibri"/>
              </a:rPr>
              <a:t>Agakino </a:t>
            </a:r>
            <a:r>
              <a:rPr lang="rw-RW" sz="1800" dirty="0">
                <a:solidFill>
                  <a:srgbClr val="16334F"/>
                </a:solidFill>
                <a:latin typeface="Calibri"/>
                <a:ea typeface="Calibri"/>
                <a:cs typeface="Calibri"/>
                <a:sym typeface="Calibri"/>
              </a:rPr>
              <a:t>: Umuryango umwe ukubwira ko ibipimo bya kamera byerekanye ikintu kidasanzwe mu nda ya nyina, kandi ubu bamaze kwishyiramo ko arwaye kanseri. Barimo kwitegura ibibi bishobora kuba.</a:t>
            </a:r>
            <a:endParaRPr sz="1800" dirty="0">
              <a:solidFill>
                <a:schemeClr val="dk1"/>
              </a:solidFill>
              <a:latin typeface="Calibri"/>
              <a:ea typeface="Calibri"/>
              <a:cs typeface="Calibri"/>
              <a:sym typeface="Calibri"/>
            </a:endParaRPr>
          </a:p>
        </p:txBody>
      </p:sp>
      <p:sp>
        <p:nvSpPr>
          <p:cNvPr id="1216" name="Google Shape;1216;p57"/>
          <p:cNvSpPr/>
          <p:nvPr/>
        </p:nvSpPr>
        <p:spPr>
          <a:xfrm>
            <a:off x="548640" y="2792149"/>
            <a:ext cx="6400800" cy="630936"/>
          </a:xfrm>
          <a:prstGeom prst="rect">
            <a:avLst/>
          </a:prstGeom>
          <a:noFill/>
          <a:ln>
            <a:noFill/>
          </a:ln>
        </p:spPr>
        <p:txBody>
          <a:bodyPr spcFirstLastPara="1" wrap="square" lIns="0" tIns="0" rIns="0" bIns="0" anchor="ctr" anchorCtr="0">
            <a:normAutofit/>
          </a:bodyPr>
          <a:lstStyle/>
          <a:p>
            <a:pPr marL="0" marR="0" lvl="0" indent="0" algn="l" rtl="0">
              <a:lnSpc>
                <a:spcPct val="80000"/>
              </a:lnSpc>
              <a:spcBef>
                <a:spcPts val="0"/>
              </a:spcBef>
              <a:spcAft>
                <a:spcPts val="0"/>
              </a:spcAft>
              <a:buClr>
                <a:srgbClr val="0F3D63"/>
              </a:buClr>
              <a:buSzPts val="1692"/>
              <a:buFont typeface="Cambria"/>
              <a:buNone/>
            </a:pPr>
            <a:r>
              <a:rPr lang="rw-RW" sz="2400" b="1" dirty="0">
                <a:solidFill>
                  <a:srgbClr val="0F3D63"/>
                </a:solidFill>
                <a:latin typeface="Cambria"/>
                <a:ea typeface="Cambria"/>
                <a:cs typeface="Cambria"/>
                <a:sym typeface="Cambria"/>
              </a:rPr>
              <a:t>Ni ikihe kintu cyumvikana kandi cy'ingirakamaro kurusha ibindi wavuga?</a:t>
            </a:r>
            <a:endParaRPr sz="1692" dirty="0">
              <a:solidFill>
                <a:schemeClr val="dk1"/>
              </a:solidFill>
              <a:latin typeface="Calibri"/>
              <a:ea typeface="Calibri"/>
              <a:cs typeface="Calibri"/>
              <a:sym typeface="Calibri"/>
            </a:endParaRPr>
          </a:p>
        </p:txBody>
      </p:sp>
      <p:sp>
        <p:nvSpPr>
          <p:cNvPr id="1217" name="Google Shape;1217;p57"/>
          <p:cNvSpPr/>
          <p:nvPr/>
        </p:nvSpPr>
        <p:spPr>
          <a:xfrm>
            <a:off x="548640" y="3501077"/>
            <a:ext cx="6400800" cy="566928"/>
          </a:xfrm>
          <a:prstGeom prst="roundRect">
            <a:avLst>
              <a:gd name="adj" fmla="val 12903"/>
            </a:avLst>
          </a:prstGeom>
          <a:solidFill>
            <a:srgbClr val="FFFFFF"/>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218" name="Google Shape;1218;p57"/>
          <p:cNvSpPr/>
          <p:nvPr/>
        </p:nvSpPr>
        <p:spPr>
          <a:xfrm>
            <a:off x="685800" y="3619949"/>
            <a:ext cx="329184" cy="329184"/>
          </a:xfrm>
          <a:prstGeom prst="ellipse">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219" name="Google Shape;1219;p57"/>
          <p:cNvSpPr/>
          <p:nvPr/>
        </p:nvSpPr>
        <p:spPr>
          <a:xfrm>
            <a:off x="685800" y="3619949"/>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rw-RW" sz="1400" b="1">
                <a:solidFill>
                  <a:srgbClr val="FFFFFF"/>
                </a:solidFill>
                <a:latin typeface="Calibri"/>
                <a:ea typeface="Calibri"/>
                <a:cs typeface="Calibri"/>
                <a:sym typeface="Calibri"/>
              </a:rPr>
              <a:t>A</a:t>
            </a:r>
            <a:endParaRPr sz="1400">
              <a:solidFill>
                <a:schemeClr val="dk1"/>
              </a:solidFill>
              <a:latin typeface="Calibri"/>
              <a:ea typeface="Calibri"/>
              <a:cs typeface="Calibri"/>
              <a:sym typeface="Calibri"/>
            </a:endParaRPr>
          </a:p>
        </p:txBody>
      </p:sp>
      <p:sp>
        <p:nvSpPr>
          <p:cNvPr id="1220" name="Google Shape;1220;p57"/>
          <p:cNvSpPr/>
          <p:nvPr/>
        </p:nvSpPr>
        <p:spPr>
          <a:xfrm>
            <a:off x="1133856" y="3537653"/>
            <a:ext cx="5669280" cy="4937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a:solidFill>
                  <a:srgbClr val="16334F"/>
                </a:solidFill>
                <a:latin typeface="Calibri"/>
                <a:ea typeface="Calibri"/>
                <a:cs typeface="Calibri"/>
                <a:sym typeface="Calibri"/>
              </a:rPr>
              <a:t>Yego, ibizamini bya kamera byerekana ko ari kanseri</a:t>
            </a:r>
            <a:endParaRPr sz="1800">
              <a:solidFill>
                <a:schemeClr val="dk1"/>
              </a:solidFill>
              <a:latin typeface="Calibri"/>
              <a:ea typeface="Calibri"/>
              <a:cs typeface="Calibri"/>
              <a:sym typeface="Calibri"/>
            </a:endParaRPr>
          </a:p>
        </p:txBody>
      </p:sp>
      <p:sp>
        <p:nvSpPr>
          <p:cNvPr id="1221" name="Google Shape;1221;p57"/>
          <p:cNvSpPr/>
          <p:nvPr/>
        </p:nvSpPr>
        <p:spPr>
          <a:xfrm>
            <a:off x="548640" y="4159445"/>
            <a:ext cx="6400800" cy="741739"/>
          </a:xfrm>
          <a:prstGeom prst="roundRect">
            <a:avLst>
              <a:gd name="adj" fmla="val 12903"/>
            </a:avLst>
          </a:prstGeom>
          <a:solidFill>
            <a:srgbClr val="E9F5EE"/>
          </a:solidFill>
          <a:ln w="19050" cap="flat" cmpd="sng">
            <a:solidFill>
              <a:srgbClr val="1B7A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222" name="Google Shape;1222;p57"/>
          <p:cNvSpPr/>
          <p:nvPr/>
        </p:nvSpPr>
        <p:spPr>
          <a:xfrm>
            <a:off x="685800" y="4332105"/>
            <a:ext cx="329184" cy="329184"/>
          </a:xfrm>
          <a:prstGeom prst="ellipse">
            <a:avLst/>
          </a:prstGeom>
          <a:solidFill>
            <a:srgbClr val="1B7A4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223" name="Google Shape;1223;p57"/>
          <p:cNvSpPr/>
          <p:nvPr/>
        </p:nvSpPr>
        <p:spPr>
          <a:xfrm>
            <a:off x="685800" y="4332105"/>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rw-RW" sz="1400" b="1">
                <a:solidFill>
                  <a:srgbClr val="FFFFFF"/>
                </a:solidFill>
                <a:latin typeface="Calibri"/>
                <a:ea typeface="Calibri"/>
                <a:cs typeface="Calibri"/>
                <a:sym typeface="Calibri"/>
              </a:rPr>
              <a:t>B</a:t>
            </a:r>
            <a:endParaRPr sz="1400">
              <a:solidFill>
                <a:schemeClr val="dk1"/>
              </a:solidFill>
              <a:latin typeface="Calibri"/>
              <a:ea typeface="Calibri"/>
              <a:cs typeface="Calibri"/>
              <a:sym typeface="Calibri"/>
            </a:endParaRPr>
          </a:p>
        </p:txBody>
      </p:sp>
      <p:sp>
        <p:nvSpPr>
          <p:cNvPr id="1224" name="Google Shape;1224;p57"/>
          <p:cNvSpPr/>
          <p:nvPr/>
        </p:nvSpPr>
        <p:spPr>
          <a:xfrm>
            <a:off x="1133856" y="4169126"/>
            <a:ext cx="5669280" cy="741739"/>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1B7A46"/>
              </a:buClr>
              <a:buSzPts val="1665"/>
              <a:buFont typeface="Calibri"/>
              <a:buNone/>
            </a:pPr>
            <a:r>
              <a:rPr lang="rw-RW" sz="1800" b="1" dirty="0">
                <a:solidFill>
                  <a:srgbClr val="1B7A46"/>
                </a:solidFill>
                <a:latin typeface="Calibri"/>
                <a:ea typeface="Calibri"/>
                <a:cs typeface="Calibri"/>
                <a:sym typeface="Calibri"/>
              </a:rPr>
              <a:t>Isuzuma rya kamera ryerekanye ikintu cyo kwitabwaho. Ibisubizo bya laboratwari ni byo bizatwereka uburwayi bwa nyabwo.</a:t>
            </a:r>
            <a:endParaRPr sz="1665" dirty="0">
              <a:solidFill>
                <a:schemeClr val="dk1"/>
              </a:solidFill>
              <a:latin typeface="Calibri"/>
              <a:ea typeface="Calibri"/>
              <a:cs typeface="Calibri"/>
              <a:sym typeface="Calibri"/>
            </a:endParaRPr>
          </a:p>
        </p:txBody>
      </p:sp>
      <p:sp>
        <p:nvSpPr>
          <p:cNvPr id="1225" name="Google Shape;1225;p57"/>
          <p:cNvSpPr/>
          <p:nvPr/>
        </p:nvSpPr>
        <p:spPr>
          <a:xfrm>
            <a:off x="548640" y="4992624"/>
            <a:ext cx="6400800" cy="566928"/>
          </a:xfrm>
          <a:prstGeom prst="roundRect">
            <a:avLst>
              <a:gd name="adj" fmla="val 12903"/>
            </a:avLst>
          </a:prstGeom>
          <a:solidFill>
            <a:srgbClr val="FFFFFF"/>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226" name="Google Shape;1226;p57"/>
          <p:cNvSpPr/>
          <p:nvPr/>
        </p:nvSpPr>
        <p:spPr>
          <a:xfrm>
            <a:off x="685800" y="5111496"/>
            <a:ext cx="329184" cy="329184"/>
          </a:xfrm>
          <a:prstGeom prst="ellipse">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227" name="Google Shape;1227;p57"/>
          <p:cNvSpPr/>
          <p:nvPr/>
        </p:nvSpPr>
        <p:spPr>
          <a:xfrm>
            <a:off x="685800" y="5111496"/>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rw-RW" sz="1400" b="1">
                <a:solidFill>
                  <a:srgbClr val="FFFFFF"/>
                </a:solidFill>
                <a:latin typeface="Calibri"/>
                <a:ea typeface="Calibri"/>
                <a:cs typeface="Calibri"/>
                <a:sym typeface="Calibri"/>
              </a:rPr>
              <a:t>C</a:t>
            </a:r>
            <a:endParaRPr sz="1400">
              <a:solidFill>
                <a:schemeClr val="dk1"/>
              </a:solidFill>
              <a:latin typeface="Calibri"/>
              <a:ea typeface="Calibri"/>
              <a:cs typeface="Calibri"/>
              <a:sym typeface="Calibri"/>
            </a:endParaRPr>
          </a:p>
        </p:txBody>
      </p:sp>
      <p:sp>
        <p:nvSpPr>
          <p:cNvPr id="1228" name="Google Shape;1228;p57"/>
          <p:cNvSpPr/>
          <p:nvPr/>
        </p:nvSpPr>
        <p:spPr>
          <a:xfrm>
            <a:off x="1133856" y="5029200"/>
            <a:ext cx="5669280" cy="4937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a:solidFill>
                  <a:srgbClr val="16334F"/>
                </a:solidFill>
                <a:latin typeface="Calibri"/>
                <a:ea typeface="Calibri"/>
                <a:cs typeface="Calibri"/>
                <a:sym typeface="Calibri"/>
              </a:rPr>
              <a:t>Nta mpamvu yo gutegereza ibisubizo</a:t>
            </a:r>
            <a:endParaRPr sz="1800">
              <a:solidFill>
                <a:schemeClr val="dk1"/>
              </a:solidFill>
              <a:latin typeface="Calibri"/>
              <a:ea typeface="Calibri"/>
              <a:cs typeface="Calibri"/>
              <a:sym typeface="Calibri"/>
            </a:endParaRPr>
          </a:p>
        </p:txBody>
      </p:sp>
      <p:sp>
        <p:nvSpPr>
          <p:cNvPr id="1229" name="Google Shape;1229;p57"/>
          <p:cNvSpPr/>
          <p:nvPr/>
        </p:nvSpPr>
        <p:spPr>
          <a:xfrm>
            <a:off x="548640" y="5650992"/>
            <a:ext cx="6400800" cy="566928"/>
          </a:xfrm>
          <a:prstGeom prst="roundRect">
            <a:avLst>
              <a:gd name="adj" fmla="val 12903"/>
            </a:avLst>
          </a:prstGeom>
          <a:solidFill>
            <a:srgbClr val="FFFFFF"/>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0" name="Google Shape;1230;p57"/>
          <p:cNvSpPr/>
          <p:nvPr/>
        </p:nvSpPr>
        <p:spPr>
          <a:xfrm>
            <a:off x="685800" y="5769864"/>
            <a:ext cx="329184" cy="329184"/>
          </a:xfrm>
          <a:prstGeom prst="ellipse">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231" name="Google Shape;1231;p57"/>
          <p:cNvSpPr/>
          <p:nvPr/>
        </p:nvSpPr>
        <p:spPr>
          <a:xfrm>
            <a:off x="685800" y="5769864"/>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rw-RW" sz="1400" b="1">
                <a:solidFill>
                  <a:srgbClr val="FFFFFF"/>
                </a:solidFill>
                <a:latin typeface="Calibri"/>
                <a:ea typeface="Calibri"/>
                <a:cs typeface="Calibri"/>
                <a:sym typeface="Calibri"/>
              </a:rPr>
              <a:t>D</a:t>
            </a:r>
            <a:endParaRPr sz="1400">
              <a:solidFill>
                <a:schemeClr val="dk1"/>
              </a:solidFill>
              <a:latin typeface="Calibri"/>
              <a:ea typeface="Calibri"/>
              <a:cs typeface="Calibri"/>
              <a:sym typeface="Calibri"/>
            </a:endParaRPr>
          </a:p>
        </p:txBody>
      </p:sp>
      <p:sp>
        <p:nvSpPr>
          <p:cNvPr id="1232" name="Google Shape;1232;p57"/>
          <p:cNvSpPr/>
          <p:nvPr/>
        </p:nvSpPr>
        <p:spPr>
          <a:xfrm>
            <a:off x="1133856" y="5687568"/>
            <a:ext cx="5669280" cy="4937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dirty="0">
                <a:solidFill>
                  <a:srgbClr val="16334F"/>
                </a:solidFill>
                <a:latin typeface="Calibri"/>
                <a:ea typeface="Calibri"/>
                <a:cs typeface="Calibri"/>
                <a:sym typeface="Calibri"/>
              </a:rPr>
              <a:t>Babwire bareke kujya mu bitaro</a:t>
            </a:r>
            <a:endParaRPr sz="1800" dirty="0">
              <a:solidFill>
                <a:schemeClr val="dk1"/>
              </a:solidFill>
              <a:latin typeface="Calibri"/>
              <a:ea typeface="Calibri"/>
              <a:cs typeface="Calibri"/>
              <a:sym typeface="Calibri"/>
            </a:endParaRPr>
          </a:p>
        </p:txBody>
      </p:sp>
      <p:sp>
        <p:nvSpPr>
          <p:cNvPr id="1233" name="Google Shape;1233;p57"/>
          <p:cNvSpPr/>
          <p:nvPr/>
        </p:nvSpPr>
        <p:spPr>
          <a:xfrm>
            <a:off x="7269480" y="1600200"/>
            <a:ext cx="4370832" cy="3566160"/>
          </a:xfrm>
          <a:prstGeom prst="roundRect">
            <a:avLst>
              <a:gd name="adj" fmla="val 2564"/>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234" name="Google Shape;1234;p57"/>
          <p:cNvSpPr/>
          <p:nvPr/>
        </p:nvSpPr>
        <p:spPr>
          <a:xfrm>
            <a:off x="7516368" y="1755648"/>
            <a:ext cx="3877056" cy="365760"/>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B7A46"/>
              </a:buClr>
              <a:buSzPts val="2280"/>
              <a:buFont typeface="Cambria"/>
              <a:buNone/>
            </a:pPr>
            <a:r>
              <a:rPr lang="rw-RW" sz="2400" b="1">
                <a:solidFill>
                  <a:srgbClr val="1B7A46"/>
                </a:solidFill>
                <a:latin typeface="Cambria"/>
                <a:ea typeface="Cambria"/>
                <a:cs typeface="Cambria"/>
                <a:sym typeface="Cambria"/>
              </a:rPr>
              <a:t>Igisubizo cyiza: B</a:t>
            </a:r>
            <a:endParaRPr sz="2280">
              <a:solidFill>
                <a:schemeClr val="dk1"/>
              </a:solidFill>
              <a:latin typeface="Calibri"/>
              <a:ea typeface="Calibri"/>
              <a:cs typeface="Calibri"/>
              <a:sym typeface="Calibri"/>
            </a:endParaRPr>
          </a:p>
        </p:txBody>
      </p:sp>
      <p:sp>
        <p:nvSpPr>
          <p:cNvPr id="1235" name="Google Shape;1235;p57"/>
          <p:cNvSpPr/>
          <p:nvPr/>
        </p:nvSpPr>
        <p:spPr>
          <a:xfrm>
            <a:off x="7516368" y="2212848"/>
            <a:ext cx="3877056" cy="27889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F3D63"/>
              </a:buClr>
              <a:buSzPts val="1800"/>
              <a:buFont typeface="Calibri"/>
              <a:buNone/>
            </a:pPr>
            <a:r>
              <a:rPr lang="rw-RW" sz="1800" b="1" dirty="0">
                <a:solidFill>
                  <a:srgbClr val="0F3D63"/>
                </a:solidFill>
                <a:latin typeface="Calibri"/>
                <a:ea typeface="Calibri"/>
                <a:cs typeface="Calibri"/>
                <a:sym typeface="Calibri"/>
              </a:rPr>
              <a:t>Igisubizo: </a:t>
            </a:r>
            <a:r>
              <a:rPr lang="rw-RW" sz="1800" dirty="0">
                <a:solidFill>
                  <a:srgbClr val="16334F"/>
                </a:solidFill>
                <a:latin typeface="Calibri"/>
                <a:ea typeface="Calibri"/>
                <a:cs typeface="Calibri"/>
                <a:sym typeface="Calibri"/>
              </a:rPr>
              <a:t>Ibirebwa binyuze muri kamera biteye impungenge, ariko ibipimo bya laboratwari ku gace gato k'uturemangingo ni byo byonyine bishobora kumenya niba kanseri ihari n'ubwoko bwayo. Kuvuga ibi bigabanya ubwoba mu gihe umuryango ukomeza kwitabwaho.</a:t>
            </a:r>
            <a:endParaRPr sz="1800" dirty="0">
              <a:solidFill>
                <a:schemeClr val="dk1"/>
              </a:solidFill>
              <a:latin typeface="Calibri"/>
              <a:ea typeface="Calibri"/>
              <a:cs typeface="Calibri"/>
              <a:sym typeface="Calibri"/>
            </a:endParaRPr>
          </a:p>
        </p:txBody>
      </p:sp>
      <p:sp>
        <p:nvSpPr>
          <p:cNvPr id="1236" name="Google Shape;1236;p57"/>
          <p:cNvSpPr/>
          <p:nvPr/>
        </p:nvSpPr>
        <p:spPr>
          <a:xfrm>
            <a:off x="7516368" y="5312664"/>
            <a:ext cx="3877056" cy="91440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B3261E"/>
              </a:buClr>
              <a:buSzPts val="1358"/>
              <a:buFont typeface="Calibri"/>
              <a:buNone/>
            </a:pPr>
            <a:r>
              <a:rPr lang="rw-RW" sz="1400" b="1">
                <a:solidFill>
                  <a:srgbClr val="B3261E"/>
                </a:solidFill>
                <a:latin typeface="Calibri"/>
                <a:ea typeface="Calibri"/>
                <a:cs typeface="Calibri"/>
                <a:sym typeface="Calibri"/>
              </a:rPr>
              <a:t>Niba umunyeshuri ahisemo A: </a:t>
            </a:r>
            <a:r>
              <a:rPr lang="rw-RW" sz="1400">
                <a:solidFill>
                  <a:srgbClr val="B3261E"/>
                </a:solidFill>
                <a:latin typeface="Calibri"/>
                <a:ea typeface="Calibri"/>
                <a:cs typeface="Calibri"/>
                <a:sym typeface="Calibri"/>
              </a:rPr>
              <a:t>Kwemeza isuzuma ritari ryakozwe biri hanze y'inshingano za CHW kandi bishobora gutuma umuryango ucika intege mbere y'uko umenya ukuri.</a:t>
            </a:r>
            <a:endParaRPr sz="1358">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41"/>
        <p:cNvGrpSpPr/>
        <p:nvPr/>
      </p:nvGrpSpPr>
      <p:grpSpPr>
        <a:xfrm>
          <a:off x="0" y="0"/>
          <a:ext cx="0" cy="0"/>
          <a:chOff x="0" y="0"/>
          <a:chExt cx="0" cy="0"/>
        </a:xfrm>
      </p:grpSpPr>
      <p:sp>
        <p:nvSpPr>
          <p:cNvPr id="1242" name="Google Shape;1242;p58"/>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4</a:t>
            </a:r>
            <a:endParaRPr sz="1100">
              <a:solidFill>
                <a:schemeClr val="dk1"/>
              </a:solidFill>
              <a:latin typeface="Calibri"/>
              <a:ea typeface="Calibri"/>
              <a:cs typeface="Calibri"/>
              <a:sym typeface="Calibri"/>
            </a:endParaRPr>
          </a:p>
        </p:txBody>
      </p:sp>
      <p:sp>
        <p:nvSpPr>
          <p:cNvPr id="1243" name="Google Shape;1243;p58"/>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dirty="0">
                <a:solidFill>
                  <a:srgbClr val="0F3D63"/>
                </a:solidFill>
                <a:latin typeface="Cambria"/>
                <a:ea typeface="Cambria"/>
                <a:cs typeface="Cambria"/>
                <a:sym typeface="Cambria"/>
              </a:rPr>
              <a:t>Isuzumabumenyi (1/2)</a:t>
            </a:r>
            <a:endParaRPr sz="3200" dirty="0">
              <a:solidFill>
                <a:schemeClr val="dk1"/>
              </a:solidFill>
              <a:latin typeface="Calibri"/>
              <a:ea typeface="Calibri"/>
              <a:cs typeface="Calibri"/>
              <a:sym typeface="Calibri"/>
            </a:endParaRPr>
          </a:p>
        </p:txBody>
      </p:sp>
      <p:sp>
        <p:nvSpPr>
          <p:cNvPr id="1244" name="Google Shape;1244;p58"/>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245" name="Google Shape;1245;p58"/>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246" name="Google Shape;1246;p58"/>
          <p:cNvSpPr/>
          <p:nvPr/>
        </p:nvSpPr>
        <p:spPr>
          <a:xfrm>
            <a:off x="804672" y="17922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a:solidFill>
                  <a:srgbClr val="0F3D63"/>
                </a:solidFill>
                <a:latin typeface="Calibri"/>
                <a:ea typeface="Calibri"/>
                <a:cs typeface="Calibri"/>
                <a:sym typeface="Calibri"/>
              </a:rPr>
              <a:t>Q1. Ni iki kigaragaza ko umuntu arwaye kanseri?</a:t>
            </a:r>
            <a:endParaRPr sz="2000">
              <a:solidFill>
                <a:schemeClr val="dk1"/>
              </a:solidFill>
              <a:latin typeface="Calibri"/>
              <a:ea typeface="Calibri"/>
              <a:cs typeface="Calibri"/>
              <a:sym typeface="Calibri"/>
            </a:endParaRPr>
          </a:p>
        </p:txBody>
      </p:sp>
      <p:sp>
        <p:nvSpPr>
          <p:cNvPr id="1247" name="Google Shape;1247;p58"/>
          <p:cNvSpPr/>
          <p:nvPr/>
        </p:nvSpPr>
        <p:spPr>
          <a:xfrm>
            <a:off x="822960" y="22311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Ifoto y'igeragezwa rya kamera</a:t>
            </a:r>
            <a:endParaRPr sz="1800" dirty="0">
              <a:solidFill>
                <a:schemeClr val="dk1"/>
              </a:solidFill>
              <a:latin typeface="Calibri"/>
              <a:ea typeface="Calibri"/>
              <a:cs typeface="Calibri"/>
              <a:sym typeface="Calibri"/>
            </a:endParaRPr>
          </a:p>
        </p:txBody>
      </p:sp>
      <p:sp>
        <p:nvSpPr>
          <p:cNvPr id="1248" name="Google Shape;1248;p58"/>
          <p:cNvSpPr/>
          <p:nvPr/>
        </p:nvSpPr>
        <p:spPr>
          <a:xfrm>
            <a:off x="6172200" y="22311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A46"/>
              </a:buClr>
              <a:buSzPts val="1800"/>
              <a:buFont typeface="Calibri"/>
              <a:buNone/>
            </a:pPr>
            <a:r>
              <a:rPr lang="rw-RW" sz="1800" b="1">
                <a:solidFill>
                  <a:srgbClr val="1B7A46"/>
                </a:solidFill>
                <a:latin typeface="Calibri"/>
                <a:ea typeface="Calibri"/>
                <a:cs typeface="Calibri"/>
                <a:sym typeface="Calibri"/>
              </a:rPr>
              <a:t>B. Ikipimo cya laboratwari ku gice cy'umubiri ✓</a:t>
            </a:r>
            <a:endParaRPr sz="1800">
              <a:solidFill>
                <a:schemeClr val="dk1"/>
              </a:solidFill>
              <a:latin typeface="Calibri"/>
              <a:ea typeface="Calibri"/>
              <a:cs typeface="Calibri"/>
              <a:sym typeface="Calibri"/>
            </a:endParaRPr>
          </a:p>
        </p:txBody>
      </p:sp>
      <p:sp>
        <p:nvSpPr>
          <p:cNvPr id="1249" name="Google Shape;1249;p58"/>
          <p:cNvSpPr/>
          <p:nvPr/>
        </p:nvSpPr>
        <p:spPr>
          <a:xfrm>
            <a:off x="822960" y="27066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a:solidFill>
                  <a:srgbClr val="16334F"/>
                </a:solidFill>
                <a:latin typeface="Calibri"/>
                <a:ea typeface="Calibri"/>
                <a:cs typeface="Calibri"/>
                <a:sym typeface="Calibri"/>
              </a:rPr>
              <a:t>C. </a:t>
            </a:r>
            <a:r>
              <a:rPr lang="rw-RW" sz="1800">
                <a:solidFill>
                  <a:srgbClr val="16334F"/>
                </a:solidFill>
                <a:latin typeface="Calibri"/>
                <a:ea typeface="Calibri"/>
                <a:cs typeface="Calibri"/>
                <a:sym typeface="Calibri"/>
              </a:rPr>
              <a:t>Uko umuntu asa</a:t>
            </a:r>
            <a:endParaRPr sz="1800">
              <a:solidFill>
                <a:schemeClr val="dk1"/>
              </a:solidFill>
              <a:latin typeface="Calibri"/>
              <a:ea typeface="Calibri"/>
              <a:cs typeface="Calibri"/>
              <a:sym typeface="Calibri"/>
            </a:endParaRPr>
          </a:p>
        </p:txBody>
      </p:sp>
      <p:sp>
        <p:nvSpPr>
          <p:cNvPr id="1250" name="Google Shape;1250;p58"/>
          <p:cNvSpPr/>
          <p:nvPr/>
        </p:nvSpPr>
        <p:spPr>
          <a:xfrm>
            <a:off x="6172200" y="27066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a:solidFill>
                  <a:srgbClr val="16334F"/>
                </a:solidFill>
                <a:latin typeface="Calibri"/>
                <a:ea typeface="Calibri"/>
                <a:cs typeface="Calibri"/>
                <a:sym typeface="Calibri"/>
              </a:rPr>
              <a:t>D. </a:t>
            </a:r>
            <a:r>
              <a:rPr lang="rw-RW" sz="1800">
                <a:solidFill>
                  <a:srgbClr val="16334F"/>
                </a:solidFill>
                <a:latin typeface="Calibri"/>
                <a:ea typeface="Calibri"/>
                <a:cs typeface="Calibri"/>
                <a:sym typeface="Calibri"/>
              </a:rPr>
              <a:t>Uburemere bw'umuntu</a:t>
            </a:r>
            <a:endParaRPr sz="1800">
              <a:solidFill>
                <a:schemeClr val="dk1"/>
              </a:solidFill>
              <a:latin typeface="Calibri"/>
              <a:ea typeface="Calibri"/>
              <a:cs typeface="Calibri"/>
              <a:sym typeface="Calibri"/>
            </a:endParaRPr>
          </a:p>
        </p:txBody>
      </p:sp>
      <p:sp>
        <p:nvSpPr>
          <p:cNvPr id="1251" name="Google Shape;1251;p58"/>
          <p:cNvSpPr/>
          <p:nvPr/>
        </p:nvSpPr>
        <p:spPr>
          <a:xfrm>
            <a:off x="822960" y="325526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a:solidFill>
                  <a:srgbClr val="1B7A46"/>
                </a:solidFill>
                <a:latin typeface="Calibri"/>
                <a:ea typeface="Calibri"/>
                <a:cs typeface="Calibri"/>
                <a:sym typeface="Calibri"/>
              </a:rPr>
              <a:t>Igisubizo nyacyo: B. Gusa ibipimo bya laboratwari ku bice by'umubiri byemeza ko isuzuma ry'indwara.</a:t>
            </a:r>
            <a:endParaRPr sz="1800">
              <a:solidFill>
                <a:schemeClr val="dk1"/>
              </a:solidFill>
              <a:latin typeface="Calibri"/>
              <a:ea typeface="Calibri"/>
              <a:cs typeface="Calibri"/>
              <a:sym typeface="Calibri"/>
            </a:endParaRPr>
          </a:p>
        </p:txBody>
      </p:sp>
      <p:sp>
        <p:nvSpPr>
          <p:cNvPr id="1252" name="Google Shape;1252;p58"/>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253" name="Google Shape;1253;p58"/>
          <p:cNvSpPr/>
          <p:nvPr/>
        </p:nvSpPr>
        <p:spPr>
          <a:xfrm>
            <a:off x="804672" y="42153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Q2. Endoscopy (Ikizamini cya Kamera) ni:</a:t>
            </a:r>
            <a:endParaRPr sz="2000" dirty="0">
              <a:solidFill>
                <a:schemeClr val="dk1"/>
              </a:solidFill>
              <a:latin typeface="Calibri"/>
              <a:ea typeface="Calibri"/>
              <a:cs typeface="Calibri"/>
              <a:sym typeface="Calibri"/>
            </a:endParaRPr>
          </a:p>
        </p:txBody>
      </p:sp>
      <p:sp>
        <p:nvSpPr>
          <p:cNvPr id="1254" name="Google Shape;1254;p58"/>
          <p:cNvSpPr/>
          <p:nvPr/>
        </p:nvSpPr>
        <p:spPr>
          <a:xfrm>
            <a:off x="822960" y="46542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a:solidFill>
                  <a:srgbClr val="16334F"/>
                </a:solidFill>
                <a:latin typeface="Calibri"/>
                <a:ea typeface="Calibri"/>
                <a:cs typeface="Calibri"/>
                <a:sym typeface="Calibri"/>
              </a:rPr>
              <a:t>A. </a:t>
            </a:r>
            <a:r>
              <a:rPr lang="rw-RW" sz="1800">
                <a:solidFill>
                  <a:srgbClr val="16334F"/>
                </a:solidFill>
                <a:latin typeface="Calibri"/>
                <a:ea typeface="Calibri"/>
                <a:cs typeface="Calibri"/>
                <a:sym typeface="Calibri"/>
              </a:rPr>
              <a:t>Kubagwa gukuramo igifu</a:t>
            </a:r>
            <a:endParaRPr sz="1800">
              <a:solidFill>
                <a:schemeClr val="dk1"/>
              </a:solidFill>
              <a:latin typeface="Calibri"/>
              <a:ea typeface="Calibri"/>
              <a:cs typeface="Calibri"/>
              <a:sym typeface="Calibri"/>
            </a:endParaRPr>
          </a:p>
        </p:txBody>
      </p:sp>
      <p:sp>
        <p:nvSpPr>
          <p:cNvPr id="1255" name="Google Shape;1255;p58"/>
          <p:cNvSpPr/>
          <p:nvPr/>
        </p:nvSpPr>
        <p:spPr>
          <a:xfrm>
            <a:off x="6172200" y="46542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A46"/>
              </a:buClr>
              <a:buSzPts val="1800"/>
              <a:buFont typeface="Calibri"/>
              <a:buNone/>
            </a:pPr>
            <a:r>
              <a:rPr lang="rw-RW" sz="1800" b="1">
                <a:solidFill>
                  <a:srgbClr val="1B7A46"/>
                </a:solidFill>
                <a:latin typeface="Calibri"/>
                <a:ea typeface="Calibri"/>
                <a:cs typeface="Calibri"/>
                <a:sym typeface="Calibri"/>
              </a:rPr>
              <a:t>B. Kamera ntoya yo kureba imbere mu gifu ✓</a:t>
            </a:r>
            <a:endParaRPr sz="1800">
              <a:solidFill>
                <a:schemeClr val="dk1"/>
              </a:solidFill>
              <a:latin typeface="Calibri"/>
              <a:ea typeface="Calibri"/>
              <a:cs typeface="Calibri"/>
              <a:sym typeface="Calibri"/>
            </a:endParaRPr>
          </a:p>
        </p:txBody>
      </p:sp>
      <p:sp>
        <p:nvSpPr>
          <p:cNvPr id="1256" name="Google Shape;1256;p58"/>
          <p:cNvSpPr/>
          <p:nvPr/>
        </p:nvSpPr>
        <p:spPr>
          <a:xfrm>
            <a:off x="822960" y="51297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a:solidFill>
                  <a:srgbClr val="16334F"/>
                </a:solidFill>
                <a:latin typeface="Calibri"/>
                <a:ea typeface="Calibri"/>
                <a:cs typeface="Calibri"/>
                <a:sym typeface="Calibri"/>
              </a:rPr>
              <a:t>C. </a:t>
            </a:r>
            <a:r>
              <a:rPr lang="rw-RW" sz="1800">
                <a:solidFill>
                  <a:srgbClr val="16334F"/>
                </a:solidFill>
                <a:latin typeface="Calibri"/>
                <a:ea typeface="Calibri"/>
                <a:cs typeface="Calibri"/>
                <a:sym typeface="Calibri"/>
              </a:rPr>
              <a:t>Umuti wa kanseri</a:t>
            </a:r>
            <a:endParaRPr sz="1800">
              <a:solidFill>
                <a:schemeClr val="dk1"/>
              </a:solidFill>
              <a:latin typeface="Calibri"/>
              <a:ea typeface="Calibri"/>
              <a:cs typeface="Calibri"/>
              <a:sym typeface="Calibri"/>
            </a:endParaRPr>
          </a:p>
        </p:txBody>
      </p:sp>
      <p:sp>
        <p:nvSpPr>
          <p:cNvPr id="1257" name="Google Shape;1257;p58"/>
          <p:cNvSpPr/>
          <p:nvPr/>
        </p:nvSpPr>
        <p:spPr>
          <a:xfrm>
            <a:off x="6172200" y="51297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a:solidFill>
                  <a:srgbClr val="16334F"/>
                </a:solidFill>
                <a:latin typeface="Calibri"/>
                <a:ea typeface="Calibri"/>
                <a:cs typeface="Calibri"/>
                <a:sym typeface="Calibri"/>
              </a:rPr>
              <a:t>D. </a:t>
            </a:r>
            <a:r>
              <a:rPr lang="rw-RW" sz="1800">
                <a:solidFill>
                  <a:srgbClr val="16334F"/>
                </a:solidFill>
                <a:latin typeface="Calibri"/>
                <a:ea typeface="Calibri"/>
                <a:cs typeface="Calibri"/>
                <a:sym typeface="Calibri"/>
              </a:rPr>
              <a:t>Ubwoko bwa X-ray y'ukuguru</a:t>
            </a:r>
            <a:endParaRPr sz="1800">
              <a:solidFill>
                <a:schemeClr val="dk1"/>
              </a:solidFill>
              <a:latin typeface="Calibri"/>
              <a:ea typeface="Calibri"/>
              <a:cs typeface="Calibri"/>
              <a:sym typeface="Calibri"/>
            </a:endParaRPr>
          </a:p>
        </p:txBody>
      </p:sp>
      <p:sp>
        <p:nvSpPr>
          <p:cNvPr id="1258" name="Google Shape;1258;p58"/>
          <p:cNvSpPr/>
          <p:nvPr/>
        </p:nvSpPr>
        <p:spPr>
          <a:xfrm>
            <a:off x="822960" y="567842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a:solidFill>
                  <a:srgbClr val="1B7A46"/>
                </a:solidFill>
                <a:latin typeface="Calibri"/>
                <a:ea typeface="Calibri"/>
                <a:cs typeface="Calibri"/>
                <a:sym typeface="Calibri"/>
              </a:rPr>
              <a:t>Ni ukuri: B.</a:t>
            </a:r>
            <a:r>
              <a:rPr lang="rw-RW" sz="1800" i="1">
                <a:solidFill>
                  <a:srgbClr val="1B7A46"/>
                </a:solidFill>
                <a:latin typeface="Calibri"/>
                <a:ea typeface="Calibri"/>
                <a:cs typeface="Calibri"/>
                <a:sym typeface="Calibri"/>
              </a:rPr>
              <a:t> Ni kamera ntoya inyura mu kanwa.</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63"/>
        <p:cNvGrpSpPr/>
        <p:nvPr/>
      </p:nvGrpSpPr>
      <p:grpSpPr>
        <a:xfrm>
          <a:off x="0" y="0"/>
          <a:ext cx="0" cy="0"/>
          <a:chOff x="0" y="0"/>
          <a:chExt cx="0" cy="0"/>
        </a:xfrm>
      </p:grpSpPr>
      <p:sp>
        <p:nvSpPr>
          <p:cNvPr id="1264" name="Google Shape;1264;p59"/>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4</a:t>
            </a:r>
            <a:endParaRPr sz="1100">
              <a:solidFill>
                <a:schemeClr val="dk1"/>
              </a:solidFill>
              <a:latin typeface="Calibri"/>
              <a:ea typeface="Calibri"/>
              <a:cs typeface="Calibri"/>
              <a:sym typeface="Calibri"/>
            </a:endParaRPr>
          </a:p>
        </p:txBody>
      </p:sp>
      <p:sp>
        <p:nvSpPr>
          <p:cNvPr id="1265" name="Google Shape;1265;p59"/>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Isuzumabumenyi (2/2)</a:t>
            </a:r>
            <a:endParaRPr sz="3200">
              <a:solidFill>
                <a:schemeClr val="dk1"/>
              </a:solidFill>
              <a:latin typeface="Calibri"/>
              <a:ea typeface="Calibri"/>
              <a:cs typeface="Calibri"/>
              <a:sym typeface="Calibri"/>
            </a:endParaRPr>
          </a:p>
        </p:txBody>
      </p:sp>
      <p:sp>
        <p:nvSpPr>
          <p:cNvPr id="1266" name="Google Shape;1266;p59"/>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267" name="Google Shape;1267;p59"/>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268" name="Google Shape;1268;p59"/>
          <p:cNvSpPr/>
          <p:nvPr/>
        </p:nvSpPr>
        <p:spPr>
          <a:xfrm>
            <a:off x="804672" y="17922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Q3. Ubuvuzi bwa kanseri y'igifu:</a:t>
            </a:r>
            <a:endParaRPr sz="2000" dirty="0">
              <a:solidFill>
                <a:schemeClr val="dk1"/>
              </a:solidFill>
              <a:latin typeface="Calibri"/>
              <a:ea typeface="Calibri"/>
              <a:cs typeface="Calibri"/>
              <a:sym typeface="Calibri"/>
            </a:endParaRPr>
          </a:p>
        </p:txBody>
      </p:sp>
      <p:sp>
        <p:nvSpPr>
          <p:cNvPr id="1269" name="Google Shape;1269;p59"/>
          <p:cNvSpPr/>
          <p:nvPr/>
        </p:nvSpPr>
        <p:spPr>
          <a:xfrm>
            <a:off x="822960" y="22311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a:solidFill>
                  <a:srgbClr val="16334F"/>
                </a:solidFill>
                <a:latin typeface="Calibri"/>
                <a:ea typeface="Calibri"/>
                <a:cs typeface="Calibri"/>
                <a:sym typeface="Calibri"/>
              </a:rPr>
              <a:t>A. </a:t>
            </a:r>
            <a:r>
              <a:rPr lang="rw-RW" sz="1800">
                <a:solidFill>
                  <a:srgbClr val="16334F"/>
                </a:solidFill>
                <a:latin typeface="Calibri"/>
                <a:ea typeface="Calibri"/>
                <a:cs typeface="Calibri"/>
                <a:sym typeface="Calibri"/>
              </a:rPr>
              <a:t>Ni kimwe kuri buri muntu</a:t>
            </a:r>
            <a:endParaRPr sz="1728">
              <a:solidFill>
                <a:schemeClr val="dk1"/>
              </a:solidFill>
              <a:latin typeface="Calibri"/>
              <a:ea typeface="Calibri"/>
              <a:cs typeface="Calibri"/>
              <a:sym typeface="Calibri"/>
            </a:endParaRPr>
          </a:p>
        </p:txBody>
      </p:sp>
      <p:sp>
        <p:nvSpPr>
          <p:cNvPr id="1270" name="Google Shape;1270;p59"/>
          <p:cNvSpPr/>
          <p:nvPr/>
        </p:nvSpPr>
        <p:spPr>
          <a:xfrm>
            <a:off x="6172200" y="22311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B7A46"/>
              </a:buClr>
              <a:buSzPts val="1728"/>
              <a:buFont typeface="Calibri"/>
              <a:buNone/>
            </a:pPr>
            <a:r>
              <a:rPr lang="rw-RW" sz="1800" b="1" dirty="0">
                <a:solidFill>
                  <a:srgbClr val="1B7A46"/>
                </a:solidFill>
                <a:latin typeface="Calibri"/>
                <a:ea typeface="Calibri"/>
                <a:cs typeface="Calibri"/>
                <a:sym typeface="Calibri"/>
              </a:rPr>
              <a:t>B. Butoranywa kuri buri muntu nyuma y'ibizamini ✓</a:t>
            </a:r>
            <a:endParaRPr sz="1728" dirty="0">
              <a:solidFill>
                <a:schemeClr val="dk1"/>
              </a:solidFill>
              <a:latin typeface="Calibri"/>
              <a:ea typeface="Calibri"/>
              <a:cs typeface="Calibri"/>
              <a:sym typeface="Calibri"/>
            </a:endParaRPr>
          </a:p>
        </p:txBody>
      </p:sp>
      <p:sp>
        <p:nvSpPr>
          <p:cNvPr id="1271" name="Google Shape;1271;p59"/>
          <p:cNvSpPr/>
          <p:nvPr/>
        </p:nvSpPr>
        <p:spPr>
          <a:xfrm>
            <a:off x="82296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dirty="0">
                <a:solidFill>
                  <a:srgbClr val="16334F"/>
                </a:solidFill>
                <a:latin typeface="Calibri"/>
                <a:ea typeface="Calibri"/>
                <a:cs typeface="Calibri"/>
                <a:sym typeface="Calibri"/>
              </a:rPr>
              <a:t>C. Ni u</a:t>
            </a:r>
            <a:r>
              <a:rPr lang="rw-RW" sz="1800" dirty="0">
                <a:solidFill>
                  <a:srgbClr val="16334F"/>
                </a:solidFill>
                <a:latin typeface="Calibri"/>
                <a:ea typeface="Calibri"/>
                <a:cs typeface="Calibri"/>
                <a:sym typeface="Calibri"/>
              </a:rPr>
              <a:t>kubagwa gusa buri gihe </a:t>
            </a:r>
            <a:endParaRPr sz="1728" dirty="0">
              <a:solidFill>
                <a:schemeClr val="dk1"/>
              </a:solidFill>
              <a:latin typeface="Calibri"/>
              <a:ea typeface="Calibri"/>
              <a:cs typeface="Calibri"/>
              <a:sym typeface="Calibri"/>
            </a:endParaRPr>
          </a:p>
        </p:txBody>
      </p:sp>
      <p:sp>
        <p:nvSpPr>
          <p:cNvPr id="1272" name="Google Shape;1272;p59"/>
          <p:cNvSpPr/>
          <p:nvPr/>
        </p:nvSpPr>
        <p:spPr>
          <a:xfrm>
            <a:off x="617220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Ntabwo buhari</a:t>
            </a:r>
            <a:endParaRPr sz="1728" dirty="0">
              <a:solidFill>
                <a:schemeClr val="dk1"/>
              </a:solidFill>
              <a:latin typeface="Calibri"/>
              <a:ea typeface="Calibri"/>
              <a:cs typeface="Calibri"/>
              <a:sym typeface="Calibri"/>
            </a:endParaRPr>
          </a:p>
        </p:txBody>
      </p:sp>
      <p:sp>
        <p:nvSpPr>
          <p:cNvPr id="1273" name="Google Shape;1273;p59"/>
          <p:cNvSpPr/>
          <p:nvPr/>
        </p:nvSpPr>
        <p:spPr>
          <a:xfrm>
            <a:off x="822960" y="325526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a:solidFill>
                  <a:srgbClr val="1B7A46"/>
                </a:solidFill>
                <a:latin typeface="Calibri"/>
                <a:ea typeface="Calibri"/>
                <a:cs typeface="Calibri"/>
                <a:sym typeface="Calibri"/>
              </a:rPr>
              <a:t>Ukuri: B.</a:t>
            </a:r>
            <a:r>
              <a:rPr lang="rw-RW" sz="1800" i="1">
                <a:solidFill>
                  <a:srgbClr val="1B7A46"/>
                </a:solidFill>
                <a:latin typeface="Calibri"/>
                <a:ea typeface="Calibri"/>
                <a:cs typeface="Calibri"/>
                <a:sym typeface="Calibri"/>
              </a:rPr>
              <a:t> Gahunda iterwa n'umuntu n'indwara.</a:t>
            </a:r>
            <a:endParaRPr sz="1800">
              <a:solidFill>
                <a:schemeClr val="dk1"/>
              </a:solidFill>
              <a:latin typeface="Calibri"/>
              <a:ea typeface="Calibri"/>
              <a:cs typeface="Calibri"/>
              <a:sym typeface="Calibri"/>
            </a:endParaRPr>
          </a:p>
        </p:txBody>
      </p:sp>
      <p:sp>
        <p:nvSpPr>
          <p:cNvPr id="1274" name="Google Shape;1274;p59"/>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275" name="Google Shape;1275;p59"/>
          <p:cNvSpPr/>
          <p:nvPr/>
        </p:nvSpPr>
        <p:spPr>
          <a:xfrm>
            <a:off x="804672" y="42153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Q4. Umuryango utegereje ibisubizo bya laboratwari. Ugomba:</a:t>
            </a:r>
            <a:endParaRPr sz="2000" dirty="0">
              <a:solidFill>
                <a:schemeClr val="dk1"/>
              </a:solidFill>
              <a:latin typeface="Calibri"/>
              <a:ea typeface="Calibri"/>
              <a:cs typeface="Calibri"/>
              <a:sym typeface="Calibri"/>
            </a:endParaRPr>
          </a:p>
        </p:txBody>
      </p:sp>
      <p:sp>
        <p:nvSpPr>
          <p:cNvPr id="1276" name="Google Shape;1276;p59"/>
          <p:cNvSpPr/>
          <p:nvPr/>
        </p:nvSpPr>
        <p:spPr>
          <a:xfrm>
            <a:off x="822960" y="46542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Gucyeka igisubizo</a:t>
            </a:r>
            <a:endParaRPr sz="1728" dirty="0">
              <a:solidFill>
                <a:schemeClr val="dk1"/>
              </a:solidFill>
              <a:latin typeface="Calibri"/>
              <a:ea typeface="Calibri"/>
              <a:cs typeface="Calibri"/>
              <a:sym typeface="Calibri"/>
            </a:endParaRPr>
          </a:p>
        </p:txBody>
      </p:sp>
      <p:sp>
        <p:nvSpPr>
          <p:cNvPr id="1277" name="Google Shape;1277;p59"/>
          <p:cNvSpPr/>
          <p:nvPr/>
        </p:nvSpPr>
        <p:spPr>
          <a:xfrm>
            <a:off x="6172200" y="4654296"/>
            <a:ext cx="5166360" cy="438912"/>
          </a:xfrm>
          <a:prstGeom prst="rect">
            <a:avLst/>
          </a:prstGeom>
          <a:noFill/>
          <a:ln>
            <a:noFill/>
          </a:ln>
        </p:spPr>
        <p:txBody>
          <a:bodyPr spcFirstLastPara="1" wrap="square" lIns="0" tIns="0" rIns="0" bIns="0" anchor="ctr" anchorCtr="0">
            <a:normAutofit fontScale="92500" lnSpcReduction="20000"/>
          </a:bodyPr>
          <a:lstStyle/>
          <a:p>
            <a:pPr marL="0" marR="0" lvl="0" indent="0" algn="l" rtl="0">
              <a:spcBef>
                <a:spcPts val="0"/>
              </a:spcBef>
              <a:spcAft>
                <a:spcPts val="0"/>
              </a:spcAft>
              <a:buClr>
                <a:srgbClr val="1B7A46"/>
              </a:buClr>
              <a:buSzPts val="1728"/>
              <a:buFont typeface="Calibri"/>
              <a:buNone/>
            </a:pPr>
            <a:r>
              <a:rPr lang="rw-RW" sz="1800" b="1" dirty="0">
                <a:solidFill>
                  <a:srgbClr val="1B7A46"/>
                </a:solidFill>
                <a:latin typeface="Calibri"/>
                <a:ea typeface="Calibri"/>
                <a:cs typeface="Calibri"/>
                <a:sym typeface="Calibri"/>
              </a:rPr>
              <a:t>B. Kubabwira ko nubwo utegereza bigoye, uzakomeza kubasura ✓</a:t>
            </a:r>
            <a:endParaRPr sz="1728" dirty="0">
              <a:solidFill>
                <a:schemeClr val="dk1"/>
              </a:solidFill>
              <a:latin typeface="Calibri"/>
              <a:ea typeface="Calibri"/>
              <a:cs typeface="Calibri"/>
              <a:sym typeface="Calibri"/>
            </a:endParaRPr>
          </a:p>
        </p:txBody>
      </p:sp>
      <p:sp>
        <p:nvSpPr>
          <p:cNvPr id="1278" name="Google Shape;1278;p59"/>
          <p:cNvSpPr/>
          <p:nvPr/>
        </p:nvSpPr>
        <p:spPr>
          <a:xfrm>
            <a:off x="82296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dirty="0">
                <a:solidFill>
                  <a:srgbClr val="16334F"/>
                </a:solidFill>
                <a:latin typeface="Calibri"/>
                <a:ea typeface="Calibri"/>
                <a:cs typeface="Calibri"/>
                <a:sym typeface="Calibri"/>
              </a:rPr>
              <a:t>C. </a:t>
            </a:r>
            <a:r>
              <a:rPr lang="rw-RW" sz="1800" dirty="0">
                <a:solidFill>
                  <a:srgbClr val="16334F"/>
                </a:solidFill>
                <a:latin typeface="Calibri"/>
                <a:ea typeface="Calibri"/>
                <a:cs typeface="Calibri"/>
                <a:sym typeface="Calibri"/>
              </a:rPr>
              <a:t>Kubabwira bakarekeraho gutegereza</a:t>
            </a:r>
            <a:endParaRPr sz="1728" dirty="0">
              <a:solidFill>
                <a:schemeClr val="dk1"/>
              </a:solidFill>
              <a:latin typeface="Calibri"/>
              <a:ea typeface="Calibri"/>
              <a:cs typeface="Calibri"/>
              <a:sym typeface="Calibri"/>
            </a:endParaRPr>
          </a:p>
        </p:txBody>
      </p:sp>
      <p:sp>
        <p:nvSpPr>
          <p:cNvPr id="1279" name="Google Shape;1279;p59"/>
          <p:cNvSpPr/>
          <p:nvPr/>
        </p:nvSpPr>
        <p:spPr>
          <a:xfrm>
            <a:off x="617220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Kubibwira abaturanyi</a:t>
            </a:r>
            <a:endParaRPr sz="1728" dirty="0">
              <a:solidFill>
                <a:schemeClr val="dk1"/>
              </a:solidFill>
              <a:latin typeface="Calibri"/>
              <a:ea typeface="Calibri"/>
              <a:cs typeface="Calibri"/>
              <a:sym typeface="Calibri"/>
            </a:endParaRPr>
          </a:p>
        </p:txBody>
      </p:sp>
      <p:sp>
        <p:nvSpPr>
          <p:cNvPr id="1280" name="Google Shape;1280;p59"/>
          <p:cNvSpPr/>
          <p:nvPr/>
        </p:nvSpPr>
        <p:spPr>
          <a:xfrm>
            <a:off x="822960" y="567842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Ukuri: B. </a:t>
            </a:r>
            <a:r>
              <a:rPr lang="rw-RW" sz="1800" i="1" dirty="0">
                <a:solidFill>
                  <a:srgbClr val="1B7A46"/>
                </a:solidFill>
                <a:latin typeface="Calibri"/>
                <a:ea typeface="Calibri"/>
                <a:cs typeface="Calibri"/>
                <a:sym typeface="Calibri"/>
              </a:rPr>
              <a:t>Gushyigikirwa mu gihe cyo gutegereza bituma umuryango ukomera kandi kurinda ibanga.</a:t>
            </a:r>
            <a:endParaRPr sz="1800" dirty="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85"/>
        <p:cNvGrpSpPr/>
        <p:nvPr/>
      </p:nvGrpSpPr>
      <p:grpSpPr>
        <a:xfrm>
          <a:off x="0" y="0"/>
          <a:ext cx="0" cy="0"/>
          <a:chOff x="0" y="0"/>
          <a:chExt cx="0" cy="0"/>
        </a:xfrm>
      </p:grpSpPr>
      <p:sp>
        <p:nvSpPr>
          <p:cNvPr id="1286" name="Google Shape;1286;p60"/>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4</a:t>
            </a:r>
            <a:endParaRPr sz="1100">
              <a:solidFill>
                <a:schemeClr val="dk1"/>
              </a:solidFill>
              <a:latin typeface="Calibri"/>
              <a:ea typeface="Calibri"/>
              <a:cs typeface="Calibri"/>
              <a:sym typeface="Calibri"/>
            </a:endParaRPr>
          </a:p>
        </p:txBody>
      </p:sp>
      <p:sp>
        <p:nvSpPr>
          <p:cNvPr id="1287" name="Google Shape;1287;p60"/>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dirty="0">
                <a:solidFill>
                  <a:srgbClr val="0F3D63"/>
                </a:solidFill>
                <a:latin typeface="Cambria"/>
                <a:ea typeface="Cambria"/>
                <a:cs typeface="Cambria"/>
                <a:sym typeface="Cambria"/>
              </a:rPr>
              <a:t>Tekereza ku kazi kawe</a:t>
            </a:r>
            <a:endParaRPr sz="3400" dirty="0">
              <a:solidFill>
                <a:schemeClr val="dk1"/>
              </a:solidFill>
              <a:latin typeface="Calibri"/>
              <a:ea typeface="Calibri"/>
              <a:cs typeface="Calibri"/>
              <a:sym typeface="Calibri"/>
            </a:endParaRPr>
          </a:p>
        </p:txBody>
      </p:sp>
      <p:sp>
        <p:nvSpPr>
          <p:cNvPr id="1288" name="Google Shape;1288;p60"/>
          <p:cNvSpPr/>
          <p:nvPr/>
        </p:nvSpPr>
        <p:spPr>
          <a:xfrm>
            <a:off x="548640" y="1371600"/>
            <a:ext cx="110642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i="1" dirty="0">
                <a:solidFill>
                  <a:srgbClr val="16334F"/>
                </a:solidFill>
                <a:latin typeface="Calibri"/>
                <a:ea typeface="Calibri"/>
                <a:cs typeface="Calibri"/>
                <a:sym typeface="Calibri"/>
              </a:rPr>
              <a:t>Amabwiriza k’uhugurwa: Injiza igisubizo cyawe mu kazu k'inyandiko. Ibi bisubizo ntibihabwa amanota.</a:t>
            </a:r>
            <a:endParaRPr sz="1800" dirty="0">
              <a:solidFill>
                <a:schemeClr val="dk1"/>
              </a:solidFill>
              <a:latin typeface="Calibri"/>
              <a:ea typeface="Calibri"/>
              <a:cs typeface="Calibri"/>
              <a:sym typeface="Calibri"/>
            </a:endParaRPr>
          </a:p>
        </p:txBody>
      </p:sp>
      <p:sp>
        <p:nvSpPr>
          <p:cNvPr id="1289" name="Google Shape;1289;p60"/>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290" name="Google Shape;1290;p60"/>
          <p:cNvSpPr/>
          <p:nvPr/>
        </p:nvSpPr>
        <p:spPr>
          <a:xfrm>
            <a:off x="548640" y="2057400"/>
            <a:ext cx="11091672" cy="868680"/>
          </a:xfrm>
          <a:prstGeom prst="roundRect">
            <a:avLst>
              <a:gd name="adj" fmla="val 1052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91" name="Google Shape;1291;p60"/>
          <p:cNvSpPr/>
          <p:nvPr/>
        </p:nvSpPr>
        <p:spPr>
          <a:xfrm>
            <a:off x="822960" y="2258568"/>
            <a:ext cx="475488" cy="475488"/>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92" name="Google Shape;1292;p60"/>
          <p:cNvSpPr/>
          <p:nvPr/>
        </p:nvSpPr>
        <p:spPr>
          <a:xfrm>
            <a:off x="822960" y="2258568"/>
            <a:ext cx="475488"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mbria"/>
              <a:buNone/>
            </a:pPr>
            <a:r>
              <a:rPr lang="rw-RW" sz="1800" b="1">
                <a:solidFill>
                  <a:srgbClr val="FFFFFF"/>
                </a:solidFill>
                <a:latin typeface="Cambria"/>
                <a:ea typeface="Cambria"/>
                <a:cs typeface="Cambria"/>
                <a:sym typeface="Cambria"/>
              </a:rPr>
              <a:t>1</a:t>
            </a:r>
            <a:endParaRPr sz="1800">
              <a:solidFill>
                <a:schemeClr val="dk1"/>
              </a:solidFill>
              <a:latin typeface="Calibri"/>
              <a:ea typeface="Calibri"/>
              <a:cs typeface="Calibri"/>
              <a:sym typeface="Calibri"/>
            </a:endParaRPr>
          </a:p>
        </p:txBody>
      </p:sp>
      <p:sp>
        <p:nvSpPr>
          <p:cNvPr id="1293" name="Google Shape;1293;p60"/>
          <p:cNvSpPr/>
          <p:nvPr/>
        </p:nvSpPr>
        <p:spPr>
          <a:xfrm>
            <a:off x="1481328" y="2148840"/>
            <a:ext cx="9875520" cy="6858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6334F"/>
              </a:buClr>
              <a:buSzPts val="1900"/>
              <a:buFont typeface="Calibri"/>
              <a:buNone/>
            </a:pPr>
            <a:r>
              <a:rPr lang="rw-RW" sz="1900" dirty="0">
                <a:solidFill>
                  <a:srgbClr val="16334F"/>
                </a:solidFill>
                <a:latin typeface="Calibri"/>
                <a:ea typeface="Calibri"/>
                <a:cs typeface="Calibri"/>
                <a:sym typeface="Calibri"/>
              </a:rPr>
              <a:t>Ni gute wasobanurira umuntu utarigeze ajya mu bitaro ikizamini cya kamera (endoscopy)?</a:t>
            </a:r>
            <a:endParaRPr sz="1900" dirty="0">
              <a:solidFill>
                <a:schemeClr val="dk1"/>
              </a:solidFill>
              <a:latin typeface="Calibri"/>
              <a:ea typeface="Calibri"/>
              <a:cs typeface="Calibri"/>
              <a:sym typeface="Calibri"/>
            </a:endParaRPr>
          </a:p>
        </p:txBody>
      </p:sp>
      <p:sp>
        <p:nvSpPr>
          <p:cNvPr id="1294" name="Google Shape;1294;p60"/>
          <p:cNvSpPr/>
          <p:nvPr/>
        </p:nvSpPr>
        <p:spPr>
          <a:xfrm>
            <a:off x="548640" y="3145536"/>
            <a:ext cx="11091672" cy="868680"/>
          </a:xfrm>
          <a:prstGeom prst="roundRect">
            <a:avLst>
              <a:gd name="adj" fmla="val 1052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95" name="Google Shape;1295;p60"/>
          <p:cNvSpPr/>
          <p:nvPr/>
        </p:nvSpPr>
        <p:spPr>
          <a:xfrm>
            <a:off x="822960" y="3346704"/>
            <a:ext cx="475488" cy="475488"/>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96" name="Google Shape;1296;p60"/>
          <p:cNvSpPr/>
          <p:nvPr/>
        </p:nvSpPr>
        <p:spPr>
          <a:xfrm>
            <a:off x="822960" y="3346704"/>
            <a:ext cx="475488"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mbria"/>
              <a:buNone/>
            </a:pPr>
            <a:r>
              <a:rPr lang="rw-RW" sz="1800" b="1">
                <a:solidFill>
                  <a:srgbClr val="FFFFFF"/>
                </a:solidFill>
                <a:latin typeface="Cambria"/>
                <a:ea typeface="Cambria"/>
                <a:cs typeface="Cambria"/>
                <a:sym typeface="Cambria"/>
              </a:rPr>
              <a:t>2</a:t>
            </a:r>
            <a:endParaRPr sz="1800">
              <a:solidFill>
                <a:schemeClr val="dk1"/>
              </a:solidFill>
              <a:latin typeface="Calibri"/>
              <a:ea typeface="Calibri"/>
              <a:cs typeface="Calibri"/>
              <a:sym typeface="Calibri"/>
            </a:endParaRPr>
          </a:p>
        </p:txBody>
      </p:sp>
      <p:sp>
        <p:nvSpPr>
          <p:cNvPr id="1297" name="Google Shape;1297;p60"/>
          <p:cNvSpPr/>
          <p:nvPr/>
        </p:nvSpPr>
        <p:spPr>
          <a:xfrm>
            <a:off x="1481328" y="3236976"/>
            <a:ext cx="9875520" cy="6858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6334F"/>
              </a:buClr>
              <a:buSzPts val="1900"/>
              <a:buFont typeface="Calibri"/>
              <a:buNone/>
            </a:pPr>
            <a:r>
              <a:rPr lang="rw-RW" sz="1900">
                <a:solidFill>
                  <a:srgbClr val="16334F"/>
                </a:solidFill>
                <a:latin typeface="Calibri"/>
                <a:ea typeface="Calibri"/>
                <a:cs typeface="Calibri"/>
                <a:sym typeface="Calibri"/>
              </a:rPr>
              <a:t>Ni iki wabwira umuntu wakubwiye ko agace gato k'umubiri koherejwe muri laboratwari?</a:t>
            </a:r>
            <a:endParaRPr sz="1900">
              <a:solidFill>
                <a:schemeClr val="dk1"/>
              </a:solidFill>
              <a:latin typeface="Calibri"/>
              <a:ea typeface="Calibri"/>
              <a:cs typeface="Calibri"/>
              <a:sym typeface="Calibri"/>
            </a:endParaRPr>
          </a:p>
        </p:txBody>
      </p:sp>
      <p:sp>
        <p:nvSpPr>
          <p:cNvPr id="1298" name="Google Shape;1298;p60"/>
          <p:cNvSpPr/>
          <p:nvPr/>
        </p:nvSpPr>
        <p:spPr>
          <a:xfrm>
            <a:off x="548640" y="4233672"/>
            <a:ext cx="11091672" cy="868680"/>
          </a:xfrm>
          <a:prstGeom prst="roundRect">
            <a:avLst>
              <a:gd name="adj" fmla="val 1052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99" name="Google Shape;1299;p60"/>
          <p:cNvSpPr/>
          <p:nvPr/>
        </p:nvSpPr>
        <p:spPr>
          <a:xfrm>
            <a:off x="822960" y="4434840"/>
            <a:ext cx="475488" cy="475488"/>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0" name="Google Shape;1300;p60"/>
          <p:cNvSpPr/>
          <p:nvPr/>
        </p:nvSpPr>
        <p:spPr>
          <a:xfrm>
            <a:off x="822960" y="4434840"/>
            <a:ext cx="475488"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mbria"/>
              <a:buNone/>
            </a:pPr>
            <a:r>
              <a:rPr lang="rw-RW" sz="1800" b="1">
                <a:solidFill>
                  <a:srgbClr val="FFFFFF"/>
                </a:solidFill>
                <a:latin typeface="Cambria"/>
                <a:ea typeface="Cambria"/>
                <a:cs typeface="Cambria"/>
                <a:sym typeface="Cambria"/>
              </a:rPr>
              <a:t>3</a:t>
            </a:r>
            <a:endParaRPr sz="1800">
              <a:solidFill>
                <a:schemeClr val="dk1"/>
              </a:solidFill>
              <a:latin typeface="Calibri"/>
              <a:ea typeface="Calibri"/>
              <a:cs typeface="Calibri"/>
              <a:sym typeface="Calibri"/>
            </a:endParaRPr>
          </a:p>
        </p:txBody>
      </p:sp>
      <p:sp>
        <p:nvSpPr>
          <p:cNvPr id="1301" name="Google Shape;1301;p60"/>
          <p:cNvSpPr/>
          <p:nvPr/>
        </p:nvSpPr>
        <p:spPr>
          <a:xfrm>
            <a:off x="1481328" y="4325112"/>
            <a:ext cx="9875520" cy="6858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6334F"/>
              </a:buClr>
              <a:buSzPts val="1900"/>
              <a:buFont typeface="Calibri"/>
              <a:buNone/>
            </a:pPr>
            <a:r>
              <a:rPr lang="rw-RW" sz="1900" dirty="0">
                <a:solidFill>
                  <a:srgbClr val="16334F"/>
                </a:solidFill>
                <a:latin typeface="Calibri"/>
                <a:ea typeface="Calibri"/>
                <a:cs typeface="Calibri"/>
                <a:sym typeface="Calibri"/>
              </a:rPr>
              <a:t>Ni iyihe myizerere itari yo ku bipimo bya kanseri wumva kenshi aho utuye?</a:t>
            </a:r>
            <a:endParaRPr sz="1900" dirty="0">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06"/>
        <p:cNvGrpSpPr/>
        <p:nvPr/>
      </p:nvGrpSpPr>
      <p:grpSpPr>
        <a:xfrm>
          <a:off x="0" y="0"/>
          <a:ext cx="0" cy="0"/>
          <a:chOff x="0" y="0"/>
          <a:chExt cx="0" cy="0"/>
        </a:xfrm>
      </p:grpSpPr>
      <p:sp>
        <p:nvSpPr>
          <p:cNvPr id="1307" name="Google Shape;1307;p61"/>
          <p:cNvSpPr/>
          <p:nvPr/>
        </p:nvSpPr>
        <p:spPr>
          <a:xfrm>
            <a:off x="502920" y="777240"/>
            <a:ext cx="11183112" cy="5303520"/>
          </a:xfrm>
          <a:prstGeom prst="rect">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8" name="Google Shape;1308;p61"/>
          <p:cNvSpPr/>
          <p:nvPr/>
        </p:nvSpPr>
        <p:spPr>
          <a:xfrm>
            <a:off x="9509760" y="1874520"/>
            <a:ext cx="1554480" cy="1554480"/>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9" name="Google Shape;1309;p61"/>
          <p:cNvSpPr/>
          <p:nvPr/>
        </p:nvSpPr>
        <p:spPr>
          <a:xfrm>
            <a:off x="9509760" y="1874520"/>
            <a:ext cx="1554480" cy="1554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4000"/>
              <a:buFont typeface="Cambria"/>
              <a:buNone/>
            </a:pPr>
            <a:r>
              <a:rPr lang="rw-RW" sz="4000" b="1">
                <a:solidFill>
                  <a:srgbClr val="FFFFFF"/>
                </a:solidFill>
                <a:latin typeface="Cambria"/>
                <a:ea typeface="Cambria"/>
                <a:cs typeface="Cambria"/>
                <a:sym typeface="Cambria"/>
              </a:rPr>
              <a:t>5</a:t>
            </a:r>
            <a:endParaRPr sz="4000">
              <a:solidFill>
                <a:schemeClr val="dk1"/>
              </a:solidFill>
              <a:latin typeface="Calibri"/>
              <a:ea typeface="Calibri"/>
              <a:cs typeface="Calibri"/>
              <a:sym typeface="Calibri"/>
            </a:endParaRPr>
          </a:p>
        </p:txBody>
      </p:sp>
      <p:sp>
        <p:nvSpPr>
          <p:cNvPr id="1310" name="Google Shape;1310;p61"/>
          <p:cNvSpPr/>
          <p:nvPr/>
        </p:nvSpPr>
        <p:spPr>
          <a:xfrm>
            <a:off x="1234440" y="260604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200" b="1">
                <a:solidFill>
                  <a:srgbClr val="AFCBE3"/>
                </a:solidFill>
                <a:latin typeface="Calibri"/>
                <a:ea typeface="Calibri"/>
                <a:cs typeface="Calibri"/>
                <a:sym typeface="Calibri"/>
              </a:rPr>
              <a:t>IGICE CYA 5</a:t>
            </a:r>
            <a:endParaRPr sz="1200">
              <a:solidFill>
                <a:schemeClr val="dk1"/>
              </a:solidFill>
              <a:latin typeface="Calibri"/>
              <a:ea typeface="Calibri"/>
              <a:cs typeface="Calibri"/>
              <a:sym typeface="Calibri"/>
            </a:endParaRPr>
          </a:p>
        </p:txBody>
      </p:sp>
      <p:sp>
        <p:nvSpPr>
          <p:cNvPr id="1311" name="Google Shape;1311;p61"/>
          <p:cNvSpPr/>
          <p:nvPr/>
        </p:nvSpPr>
        <p:spPr>
          <a:xfrm>
            <a:off x="1234440" y="2926080"/>
            <a:ext cx="786384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800"/>
              <a:buFont typeface="Cambria"/>
              <a:buNone/>
            </a:pPr>
            <a:r>
              <a:rPr lang="rw-RW" sz="3800" b="1">
                <a:solidFill>
                  <a:srgbClr val="FFFFFF"/>
                </a:solidFill>
                <a:latin typeface="Cambria"/>
                <a:ea typeface="Cambria"/>
                <a:cs typeface="Cambria"/>
                <a:sym typeface="Cambria"/>
              </a:rPr>
              <a:t>Ibyo wakwitega ku ndwara n'imiti</a:t>
            </a:r>
            <a:endParaRPr sz="3800">
              <a:solidFill>
                <a:schemeClr val="dk1"/>
              </a:solidFill>
              <a:latin typeface="Calibri"/>
              <a:ea typeface="Calibri"/>
              <a:cs typeface="Calibri"/>
              <a:sym typeface="Calibri"/>
            </a:endParaRPr>
          </a:p>
        </p:txBody>
      </p:sp>
      <p:sp>
        <p:nvSpPr>
          <p:cNvPr id="1312" name="Google Shape;1312;p61"/>
          <p:cNvSpPr/>
          <p:nvPr/>
        </p:nvSpPr>
        <p:spPr>
          <a:xfrm>
            <a:off x="1234440" y="3794760"/>
            <a:ext cx="78638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E7F3"/>
              </a:buClr>
              <a:buSzPts val="1800"/>
              <a:buFont typeface="Calibri"/>
              <a:buNone/>
            </a:pPr>
            <a:r>
              <a:rPr lang="rw-RW" sz="1800" dirty="0">
                <a:solidFill>
                  <a:srgbClr val="D9E7F3"/>
                </a:solidFill>
                <a:latin typeface="Calibri"/>
                <a:ea typeface="Calibri"/>
                <a:cs typeface="Calibri"/>
                <a:sym typeface="Calibri"/>
              </a:rPr>
              <a:t>Menya ibibazo byitezwe, ibikeneye kumenyeshwa umuganga, n’ibigomba kwitabwaho vuba, n'uburyo bwo gutanga ihumure nyakuri.</a:t>
            </a:r>
            <a:endParaRPr sz="1800" dirty="0">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17"/>
        <p:cNvGrpSpPr/>
        <p:nvPr/>
      </p:nvGrpSpPr>
      <p:grpSpPr>
        <a:xfrm>
          <a:off x="0" y="0"/>
          <a:ext cx="0" cy="0"/>
          <a:chOff x="0" y="0"/>
          <a:chExt cx="0" cy="0"/>
        </a:xfrm>
      </p:grpSpPr>
      <p:sp>
        <p:nvSpPr>
          <p:cNvPr id="1318" name="Google Shape;1318;p62"/>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5</a:t>
            </a:r>
            <a:endParaRPr sz="1100">
              <a:solidFill>
                <a:schemeClr val="dk1"/>
              </a:solidFill>
              <a:latin typeface="Calibri"/>
              <a:ea typeface="Calibri"/>
              <a:cs typeface="Calibri"/>
              <a:sym typeface="Calibri"/>
            </a:endParaRPr>
          </a:p>
        </p:txBody>
      </p:sp>
      <p:sp>
        <p:nvSpPr>
          <p:cNvPr id="1319" name="Google Shape;1319;p62"/>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Icyo wakora</a:t>
            </a:r>
            <a:endParaRPr sz="3400">
              <a:solidFill>
                <a:schemeClr val="dk1"/>
              </a:solidFill>
              <a:latin typeface="Calibri"/>
              <a:ea typeface="Calibri"/>
              <a:cs typeface="Calibri"/>
              <a:sym typeface="Calibri"/>
            </a:endParaRPr>
          </a:p>
        </p:txBody>
      </p:sp>
      <p:sp>
        <p:nvSpPr>
          <p:cNvPr id="1320" name="Google Shape;1320;p62"/>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321" name="Google Shape;1321;p62"/>
          <p:cNvSpPr/>
          <p:nvPr/>
        </p:nvSpPr>
        <p:spPr>
          <a:xfrm>
            <a:off x="548640" y="1406564"/>
            <a:ext cx="3502152" cy="2318274"/>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2" name="Google Shape;1322;p62"/>
          <p:cNvSpPr/>
          <p:nvPr/>
        </p:nvSpPr>
        <p:spPr>
          <a:xfrm>
            <a:off x="804672" y="1589444"/>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Kumenya</a:t>
            </a:r>
            <a:endParaRPr sz="2100">
              <a:solidFill>
                <a:schemeClr val="dk1"/>
              </a:solidFill>
              <a:latin typeface="Calibri"/>
              <a:ea typeface="Calibri"/>
              <a:cs typeface="Calibri"/>
              <a:sym typeface="Calibri"/>
            </a:endParaRPr>
          </a:p>
        </p:txBody>
      </p:sp>
      <p:sp>
        <p:nvSpPr>
          <p:cNvPr id="1323" name="Google Shape;1323;p62"/>
          <p:cNvSpPr/>
          <p:nvPr/>
        </p:nvSpPr>
        <p:spPr>
          <a:xfrm>
            <a:off x="804672" y="2028356"/>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37"/>
              <a:buFont typeface="Calibri"/>
              <a:buNone/>
            </a:pPr>
            <a:r>
              <a:rPr lang="rw-RW" sz="1800">
                <a:solidFill>
                  <a:srgbClr val="16334F"/>
                </a:solidFill>
                <a:latin typeface="Calibri"/>
                <a:ea typeface="Calibri"/>
                <a:cs typeface="Calibri"/>
                <a:sym typeface="Calibri"/>
              </a:rPr>
              <a:t>Menya ibibazo bikunze kugaragara mu gihe na nyuma yo kuvurwa kanseri y'igifu.</a:t>
            </a:r>
            <a:endParaRPr sz="1737">
              <a:solidFill>
                <a:schemeClr val="dk1"/>
              </a:solidFill>
              <a:latin typeface="Calibri"/>
              <a:ea typeface="Calibri"/>
              <a:cs typeface="Calibri"/>
              <a:sym typeface="Calibri"/>
            </a:endParaRPr>
          </a:p>
        </p:txBody>
      </p:sp>
      <p:sp>
        <p:nvSpPr>
          <p:cNvPr id="1324" name="Google Shape;1324;p62"/>
          <p:cNvSpPr/>
          <p:nvPr/>
        </p:nvSpPr>
        <p:spPr>
          <a:xfrm>
            <a:off x="4343400" y="1406564"/>
            <a:ext cx="3502152" cy="2318274"/>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5" name="Google Shape;1325;p62"/>
          <p:cNvSpPr/>
          <p:nvPr/>
        </p:nvSpPr>
        <p:spPr>
          <a:xfrm>
            <a:off x="4599432" y="1589444"/>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dirty="0">
                <a:solidFill>
                  <a:srgbClr val="0F3D63"/>
                </a:solidFill>
                <a:latin typeface="Cambria"/>
                <a:ea typeface="Cambria"/>
                <a:cs typeface="Calibri"/>
                <a:sym typeface="Cambria"/>
              </a:rPr>
              <a:t>Gutandukanya</a:t>
            </a:r>
            <a:endParaRPr sz="2100" dirty="0">
              <a:solidFill>
                <a:schemeClr val="dk1"/>
              </a:solidFill>
              <a:latin typeface="Calibri"/>
              <a:ea typeface="Calibri"/>
              <a:cs typeface="Calibri"/>
              <a:sym typeface="Calibri"/>
            </a:endParaRPr>
          </a:p>
        </p:txBody>
      </p:sp>
      <p:sp>
        <p:nvSpPr>
          <p:cNvPr id="1326" name="Google Shape;1326;p62"/>
          <p:cNvSpPr/>
          <p:nvPr/>
        </p:nvSpPr>
        <p:spPr>
          <a:xfrm>
            <a:off x="4599432" y="2028356"/>
            <a:ext cx="2990088" cy="1548562"/>
          </a:xfrm>
          <a:prstGeom prst="rect">
            <a:avLst/>
          </a:prstGeom>
          <a:noFill/>
          <a:ln>
            <a:noFill/>
          </a:ln>
        </p:spPr>
        <p:txBody>
          <a:bodyPr spcFirstLastPara="1" wrap="square" lIns="0" tIns="0" rIns="0" bIns="0" anchor="t" anchorCtr="0">
            <a:normAutofit lnSpcReduction="10000"/>
          </a:bodyPr>
          <a:lstStyle/>
          <a:p>
            <a:pPr marL="0" marR="0" lvl="0" indent="0" algn="l" rtl="0">
              <a:lnSpc>
                <a:spcPct val="95000"/>
              </a:lnSpc>
              <a:spcBef>
                <a:spcPts val="0"/>
              </a:spcBef>
              <a:spcAft>
                <a:spcPts val="0"/>
              </a:spcAft>
              <a:buClr>
                <a:srgbClr val="16334F"/>
              </a:buClr>
              <a:buSzPts val="1467"/>
              <a:buFont typeface="Calibri"/>
              <a:buNone/>
            </a:pPr>
            <a:r>
              <a:rPr lang="rw-RW" sz="1800" dirty="0">
                <a:solidFill>
                  <a:srgbClr val="16334F"/>
                </a:solidFill>
                <a:latin typeface="Calibri"/>
                <a:ea typeface="Calibri"/>
                <a:cs typeface="Calibri"/>
                <a:sym typeface="Calibri"/>
              </a:rPr>
              <a:t>Shyira ibibazo mu byiciro: ibyo watangaza ku urundi ruzinduko rwo kwa muganga, ibigomba kubwirwa muganga vuba, cyangwa gushaka ibisaba ubuvuzi uwo munsi.</a:t>
            </a:r>
            <a:endParaRPr sz="1467" dirty="0">
              <a:solidFill>
                <a:schemeClr val="dk1"/>
              </a:solidFill>
              <a:latin typeface="Calibri"/>
              <a:ea typeface="Calibri"/>
              <a:cs typeface="Calibri"/>
              <a:sym typeface="Calibri"/>
            </a:endParaRPr>
          </a:p>
        </p:txBody>
      </p:sp>
      <p:sp>
        <p:nvSpPr>
          <p:cNvPr id="1327" name="Google Shape;1327;p62"/>
          <p:cNvSpPr/>
          <p:nvPr/>
        </p:nvSpPr>
        <p:spPr>
          <a:xfrm>
            <a:off x="8138160" y="1406564"/>
            <a:ext cx="3502152" cy="2318274"/>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8" name="Google Shape;1328;p62"/>
          <p:cNvSpPr/>
          <p:nvPr/>
        </p:nvSpPr>
        <p:spPr>
          <a:xfrm>
            <a:off x="8394192" y="1589444"/>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Gushyigikira</a:t>
            </a:r>
            <a:endParaRPr sz="2100">
              <a:solidFill>
                <a:schemeClr val="dk1"/>
              </a:solidFill>
              <a:latin typeface="Calibri"/>
              <a:ea typeface="Calibri"/>
              <a:cs typeface="Calibri"/>
              <a:sym typeface="Calibri"/>
            </a:endParaRPr>
          </a:p>
        </p:txBody>
      </p:sp>
      <p:sp>
        <p:nvSpPr>
          <p:cNvPr id="1329" name="Google Shape;1329;p62"/>
          <p:cNvSpPr/>
          <p:nvPr/>
        </p:nvSpPr>
        <p:spPr>
          <a:xfrm>
            <a:off x="8394192" y="2028356"/>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37"/>
              <a:buFont typeface="Calibri"/>
              <a:buNone/>
            </a:pPr>
            <a:r>
              <a:rPr lang="rw-RW" sz="1800" dirty="0">
                <a:solidFill>
                  <a:srgbClr val="16334F"/>
                </a:solidFill>
                <a:latin typeface="Calibri"/>
                <a:ea typeface="Calibri"/>
                <a:cs typeface="Calibri"/>
                <a:sym typeface="Calibri"/>
              </a:rPr>
              <a:t>Kumufasha kurya no kuruhuka neza buri munsi.</a:t>
            </a:r>
            <a:endParaRPr sz="1737" dirty="0">
              <a:solidFill>
                <a:schemeClr val="dk1"/>
              </a:solidFill>
              <a:latin typeface="Calibri"/>
              <a:ea typeface="Calibri"/>
              <a:cs typeface="Calibri"/>
              <a:sym typeface="Calibri"/>
            </a:endParaRPr>
          </a:p>
        </p:txBody>
      </p:sp>
      <p:sp>
        <p:nvSpPr>
          <p:cNvPr id="1330" name="Google Shape;1330;p62"/>
          <p:cNvSpPr/>
          <p:nvPr/>
        </p:nvSpPr>
        <p:spPr>
          <a:xfrm>
            <a:off x="548640" y="3928692"/>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31" name="Google Shape;1331;p62"/>
          <p:cNvSpPr/>
          <p:nvPr/>
        </p:nvSpPr>
        <p:spPr>
          <a:xfrm>
            <a:off x="804672" y="4111572"/>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dirty="0">
                <a:solidFill>
                  <a:srgbClr val="0F3D63"/>
                </a:solidFill>
                <a:latin typeface="Cambria"/>
                <a:ea typeface="Cambria"/>
                <a:cs typeface="Calibri"/>
                <a:sym typeface="Cambria"/>
              </a:rPr>
              <a:t>Kumuganiriza</a:t>
            </a:r>
            <a:endParaRPr sz="2100" dirty="0">
              <a:solidFill>
                <a:schemeClr val="dk1"/>
              </a:solidFill>
              <a:latin typeface="Calibri"/>
              <a:ea typeface="Calibri"/>
              <a:cs typeface="Calibri"/>
              <a:sym typeface="Calibri"/>
            </a:endParaRPr>
          </a:p>
        </p:txBody>
      </p:sp>
      <p:sp>
        <p:nvSpPr>
          <p:cNvPr id="1332" name="Google Shape;1332;p62"/>
          <p:cNvSpPr/>
          <p:nvPr/>
        </p:nvSpPr>
        <p:spPr>
          <a:xfrm>
            <a:off x="804672" y="4550484"/>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37"/>
              <a:buFont typeface="Calibri"/>
              <a:buNone/>
            </a:pPr>
            <a:r>
              <a:rPr lang="rw-RW" sz="1800" dirty="0">
                <a:solidFill>
                  <a:srgbClr val="16334F"/>
                </a:solidFill>
                <a:latin typeface="Calibri"/>
                <a:ea typeface="Calibri"/>
                <a:cs typeface="Calibri"/>
                <a:sym typeface="Calibri"/>
              </a:rPr>
              <a:t>Muganirize ku gaciro k’ubuzima bwe kandi ko kurwara kanseri bidakwiye kumutera ipfunwe.</a:t>
            </a:r>
            <a:endParaRPr sz="1737" dirty="0">
              <a:solidFill>
                <a:schemeClr val="dk1"/>
              </a:solidFill>
              <a:latin typeface="Calibri"/>
              <a:ea typeface="Calibri"/>
              <a:cs typeface="Calibri"/>
              <a:sym typeface="Calibri"/>
            </a:endParaRPr>
          </a:p>
        </p:txBody>
      </p:sp>
      <p:sp>
        <p:nvSpPr>
          <p:cNvPr id="1333" name="Google Shape;1333;p62"/>
          <p:cNvSpPr/>
          <p:nvPr/>
        </p:nvSpPr>
        <p:spPr>
          <a:xfrm>
            <a:off x="4343400" y="3928692"/>
            <a:ext cx="3502152" cy="1691640"/>
          </a:xfrm>
          <a:prstGeom prst="roundRect">
            <a:avLst>
              <a:gd name="adj" fmla="val 648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34" name="Google Shape;1334;p62"/>
          <p:cNvSpPr/>
          <p:nvPr/>
        </p:nvSpPr>
        <p:spPr>
          <a:xfrm>
            <a:off x="4599432" y="4111572"/>
            <a:ext cx="2990088"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dirty="0">
                <a:solidFill>
                  <a:srgbClr val="0F3D63"/>
                </a:solidFill>
                <a:latin typeface="Cambria"/>
                <a:ea typeface="Cambria"/>
                <a:cs typeface="Cambria"/>
                <a:sym typeface="Cambria"/>
              </a:rPr>
              <a:t>Kohereza</a:t>
            </a:r>
            <a:endParaRPr sz="2100" dirty="0">
              <a:solidFill>
                <a:schemeClr val="dk1"/>
              </a:solidFill>
              <a:latin typeface="Calibri"/>
              <a:ea typeface="Calibri"/>
              <a:cs typeface="Calibri"/>
              <a:sym typeface="Calibri"/>
            </a:endParaRPr>
          </a:p>
        </p:txBody>
      </p:sp>
      <p:sp>
        <p:nvSpPr>
          <p:cNvPr id="1335" name="Google Shape;1335;p62"/>
          <p:cNvSpPr/>
          <p:nvPr/>
        </p:nvSpPr>
        <p:spPr>
          <a:xfrm>
            <a:off x="4599432" y="4550484"/>
            <a:ext cx="2990088" cy="86868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737"/>
              <a:buFont typeface="Calibri"/>
              <a:buNone/>
            </a:pPr>
            <a:r>
              <a:rPr lang="rw-RW" sz="1800" dirty="0">
                <a:solidFill>
                  <a:srgbClr val="16334F"/>
                </a:solidFill>
                <a:latin typeface="Calibri"/>
                <a:ea typeface="Calibri"/>
                <a:cs typeface="Calibri"/>
                <a:sym typeface="Calibri"/>
              </a:rPr>
              <a:t>Ohereza umuntu kwitabwaho byihutirwa mu gihe agaragaje ibimenyetso mpuruza.</a:t>
            </a:r>
            <a:endParaRPr sz="1737" dirty="0">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40"/>
        <p:cNvGrpSpPr/>
        <p:nvPr/>
      </p:nvGrpSpPr>
      <p:grpSpPr>
        <a:xfrm>
          <a:off x="0" y="0"/>
          <a:ext cx="0" cy="0"/>
          <a:chOff x="0" y="0"/>
          <a:chExt cx="0" cy="0"/>
        </a:xfrm>
      </p:grpSpPr>
      <p:sp>
        <p:nvSpPr>
          <p:cNvPr id="1341" name="Google Shape;1341;p63"/>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5</a:t>
            </a:r>
            <a:endParaRPr sz="1100">
              <a:solidFill>
                <a:schemeClr val="dk1"/>
              </a:solidFill>
              <a:latin typeface="Calibri"/>
              <a:ea typeface="Calibri"/>
              <a:cs typeface="Calibri"/>
              <a:sym typeface="Calibri"/>
            </a:endParaRPr>
          </a:p>
        </p:txBody>
      </p:sp>
      <p:sp>
        <p:nvSpPr>
          <p:cNvPr id="1342" name="Google Shape;1342;p63"/>
          <p:cNvSpPr/>
          <p:nvPr/>
        </p:nvSpPr>
        <p:spPr>
          <a:xfrm>
            <a:off x="548640" y="685800"/>
            <a:ext cx="11064240" cy="387031"/>
          </a:xfrm>
          <a:prstGeom prst="rect">
            <a:avLst/>
          </a:prstGeom>
          <a:noFill/>
          <a:ln>
            <a:noFill/>
          </a:ln>
        </p:spPr>
        <p:txBody>
          <a:bodyPr spcFirstLastPara="1" wrap="square" lIns="0" tIns="0" rIns="0" bIns="0" anchor="t" anchorCtr="0">
            <a:normAutofit lnSpcReduction="10000"/>
          </a:bodyPr>
          <a:lstStyle/>
          <a:p>
            <a:pPr marL="0" marR="0" lvl="0" indent="0" algn="l" rtl="0">
              <a:lnSpc>
                <a:spcPct val="80000"/>
              </a:lnSpc>
              <a:spcBef>
                <a:spcPts val="0"/>
              </a:spcBef>
              <a:spcAft>
                <a:spcPts val="0"/>
              </a:spcAft>
              <a:buClr>
                <a:srgbClr val="0F3D63"/>
              </a:buClr>
              <a:buSzPts val="2924"/>
              <a:buFont typeface="Cambria"/>
              <a:buNone/>
            </a:pPr>
            <a:r>
              <a:rPr lang="rw-RW" sz="3400" b="1">
                <a:solidFill>
                  <a:srgbClr val="0F3D63"/>
                </a:solidFill>
                <a:latin typeface="Cambria"/>
                <a:ea typeface="Cambria"/>
                <a:cs typeface="Cambria"/>
                <a:sym typeface="Cambria"/>
              </a:rPr>
              <a:t>Shyira ikibazo mu cyiciro gikwiye</a:t>
            </a:r>
            <a:endParaRPr sz="2924">
              <a:solidFill>
                <a:schemeClr val="dk1"/>
              </a:solidFill>
              <a:latin typeface="Calibri"/>
              <a:ea typeface="Calibri"/>
              <a:cs typeface="Calibri"/>
              <a:sym typeface="Calibri"/>
            </a:endParaRPr>
          </a:p>
        </p:txBody>
      </p:sp>
      <p:sp>
        <p:nvSpPr>
          <p:cNvPr id="1343" name="Google Shape;1343;p63"/>
          <p:cNvSpPr/>
          <p:nvPr/>
        </p:nvSpPr>
        <p:spPr>
          <a:xfrm>
            <a:off x="548640" y="1123631"/>
            <a:ext cx="110642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i="1">
                <a:solidFill>
                  <a:srgbClr val="16334F"/>
                </a:solidFill>
                <a:latin typeface="Calibri"/>
                <a:ea typeface="Calibri"/>
                <a:cs typeface="Calibri"/>
                <a:sym typeface="Calibri"/>
              </a:rPr>
              <a:t>Shyira buri kibazo mu itsinda rikwiye. Nguko uko uhitamo icyo ugomba gukora.</a:t>
            </a:r>
            <a:endParaRPr sz="1800">
              <a:solidFill>
                <a:schemeClr val="dk1"/>
              </a:solidFill>
              <a:latin typeface="Calibri"/>
              <a:ea typeface="Calibri"/>
              <a:cs typeface="Calibri"/>
              <a:sym typeface="Calibri"/>
            </a:endParaRPr>
          </a:p>
        </p:txBody>
      </p:sp>
      <p:sp>
        <p:nvSpPr>
          <p:cNvPr id="1344" name="Google Shape;1344;p63"/>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345" name="Google Shape;1345;p63"/>
          <p:cNvSpPr/>
          <p:nvPr/>
        </p:nvSpPr>
        <p:spPr>
          <a:xfrm>
            <a:off x="548640" y="1590906"/>
            <a:ext cx="3502152" cy="548640"/>
          </a:xfrm>
          <a:prstGeom prst="roundRect">
            <a:avLst>
              <a:gd name="adj" fmla="val 13333"/>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346" name="Google Shape;1346;p63"/>
          <p:cNvSpPr/>
          <p:nvPr/>
        </p:nvSpPr>
        <p:spPr>
          <a:xfrm>
            <a:off x="640080" y="1590906"/>
            <a:ext cx="3319272" cy="548640"/>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90000"/>
              </a:lnSpc>
              <a:spcBef>
                <a:spcPts val="0"/>
              </a:spcBef>
              <a:spcAft>
                <a:spcPts val="0"/>
              </a:spcAft>
              <a:buClr>
                <a:srgbClr val="FFFFFF"/>
              </a:buClr>
              <a:buSzPts val="1557"/>
              <a:buFont typeface="Cambria"/>
              <a:buNone/>
            </a:pPr>
            <a:r>
              <a:rPr lang="rw-RW" sz="1800" b="1" dirty="0">
                <a:solidFill>
                  <a:srgbClr val="FFFFFF"/>
                </a:solidFill>
                <a:latin typeface="Cambria"/>
                <a:ea typeface="Cambria"/>
                <a:cs typeface="Cambria"/>
                <a:sym typeface="Cambria"/>
              </a:rPr>
              <a:t>Ibyo waganiriza muganga ku ruzinduko rukurikiyeho</a:t>
            </a:r>
            <a:endParaRPr sz="1557" dirty="0">
              <a:solidFill>
                <a:schemeClr val="dk1"/>
              </a:solidFill>
              <a:latin typeface="Calibri"/>
              <a:ea typeface="Calibri"/>
              <a:cs typeface="Calibri"/>
              <a:sym typeface="Calibri"/>
            </a:endParaRPr>
          </a:p>
        </p:txBody>
      </p:sp>
      <p:sp>
        <p:nvSpPr>
          <p:cNvPr id="1347" name="Google Shape;1347;p63"/>
          <p:cNvSpPr/>
          <p:nvPr/>
        </p:nvSpPr>
        <p:spPr>
          <a:xfrm>
            <a:off x="548640" y="2203553"/>
            <a:ext cx="3502152" cy="3323187"/>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348" name="Google Shape;1348;p63"/>
          <p:cNvSpPr/>
          <p:nvPr/>
        </p:nvSpPr>
        <p:spPr>
          <a:xfrm>
            <a:off x="804672" y="2368146"/>
            <a:ext cx="3044952" cy="1874520"/>
          </a:xfrm>
          <a:prstGeom prst="rect">
            <a:avLst/>
          </a:prstGeom>
          <a:noFill/>
          <a:ln>
            <a:noFill/>
          </a:ln>
        </p:spPr>
        <p:txBody>
          <a:bodyPr spcFirstLastPara="1" wrap="square" lIns="0" tIns="0" rIns="0" bIns="0" anchor="t" anchorCtr="0">
            <a:normAutofit fontScale="77500" lnSpcReduction="20000"/>
          </a:bodyPr>
          <a:lstStyle/>
          <a:p>
            <a:pPr marL="342900" marR="0" lvl="0" indent="-342900" algn="l" rtl="0">
              <a:lnSpc>
                <a:spcPct val="140000"/>
              </a:lnSpc>
              <a:spcBef>
                <a:spcPts val="0"/>
              </a:spcBef>
              <a:spcAft>
                <a:spcPts val="0"/>
              </a:spcAft>
              <a:buClr>
                <a:srgbClr val="16334F"/>
              </a:buClr>
              <a:buSzPts val="1431"/>
              <a:buFont typeface="Calibri"/>
              <a:buChar char="•"/>
            </a:pPr>
            <a:r>
              <a:rPr lang="rw-RW" sz="1800" dirty="0">
                <a:solidFill>
                  <a:srgbClr val="16334F"/>
                </a:solidFill>
                <a:latin typeface="Calibri"/>
                <a:ea typeface="Calibri"/>
                <a:cs typeface="Calibri"/>
                <a:sym typeface="Calibri"/>
              </a:rPr>
              <a:t>Umunaniro ukabije</a:t>
            </a:r>
            <a:endParaRPr sz="1431" dirty="0">
              <a:solidFill>
                <a:schemeClr val="dk1"/>
              </a:solidFill>
              <a:latin typeface="Calibri"/>
              <a:ea typeface="Calibri"/>
              <a:cs typeface="Calibri"/>
              <a:sym typeface="Calibri"/>
            </a:endParaRPr>
          </a:p>
          <a:p>
            <a:pPr marL="342900" marR="0" lvl="0" indent="-342900" algn="l" rtl="0">
              <a:lnSpc>
                <a:spcPct val="140000"/>
              </a:lnSpc>
              <a:spcBef>
                <a:spcPts val="800"/>
              </a:spcBef>
              <a:spcAft>
                <a:spcPts val="0"/>
              </a:spcAft>
              <a:buClr>
                <a:srgbClr val="16334F"/>
              </a:buClr>
              <a:buSzPts val="1431"/>
              <a:buFont typeface="Calibri"/>
              <a:buChar char="•"/>
            </a:pPr>
            <a:r>
              <a:rPr lang="rw-RW" sz="1800" dirty="0">
                <a:solidFill>
                  <a:srgbClr val="16334F"/>
                </a:solidFill>
                <a:latin typeface="Calibri"/>
                <a:ea typeface="Calibri"/>
                <a:cs typeface="Calibri"/>
                <a:sym typeface="Calibri"/>
              </a:rPr>
              <a:t>Indwara yoroheje mu gifu</a:t>
            </a:r>
            <a:endParaRPr sz="1431" dirty="0">
              <a:solidFill>
                <a:schemeClr val="dk1"/>
              </a:solidFill>
              <a:latin typeface="Calibri"/>
              <a:ea typeface="Calibri"/>
              <a:cs typeface="Calibri"/>
              <a:sym typeface="Calibri"/>
            </a:endParaRPr>
          </a:p>
          <a:p>
            <a:pPr marL="342900" marR="0" lvl="0" indent="-342900" algn="l" rtl="0">
              <a:lnSpc>
                <a:spcPct val="140000"/>
              </a:lnSpc>
              <a:spcBef>
                <a:spcPts val="800"/>
              </a:spcBef>
              <a:spcAft>
                <a:spcPts val="0"/>
              </a:spcAft>
              <a:buClr>
                <a:srgbClr val="16334F"/>
              </a:buClr>
              <a:buSzPts val="1431"/>
              <a:buFont typeface="Calibri"/>
              <a:buChar char="•"/>
            </a:pPr>
            <a:r>
              <a:rPr lang="rw-RW" sz="1800" dirty="0">
                <a:solidFill>
                  <a:srgbClr val="16334F"/>
                </a:solidFill>
                <a:latin typeface="Calibri"/>
                <a:ea typeface="Calibri"/>
                <a:cs typeface="Calibri"/>
                <a:sym typeface="Calibri"/>
              </a:rPr>
              <a:t>Kurya bike ugereranyije n'ibisanzwe</a:t>
            </a:r>
            <a:endParaRPr sz="1431" dirty="0">
              <a:solidFill>
                <a:schemeClr val="dk1"/>
              </a:solidFill>
              <a:latin typeface="Calibri"/>
              <a:ea typeface="Calibri"/>
              <a:cs typeface="Calibri"/>
              <a:sym typeface="Calibri"/>
            </a:endParaRPr>
          </a:p>
          <a:p>
            <a:pPr marL="342900" marR="0" lvl="0" indent="-342900" algn="l" rtl="0">
              <a:lnSpc>
                <a:spcPct val="140000"/>
              </a:lnSpc>
              <a:spcBef>
                <a:spcPts val="800"/>
              </a:spcBef>
              <a:spcAft>
                <a:spcPts val="0"/>
              </a:spcAft>
              <a:buClr>
                <a:srgbClr val="16334F"/>
              </a:buClr>
              <a:buSzPts val="1431"/>
              <a:buFont typeface="Calibri"/>
              <a:buChar char="•"/>
            </a:pPr>
            <a:r>
              <a:rPr lang="rw-RW" sz="1800" dirty="0">
                <a:solidFill>
                  <a:srgbClr val="16334F"/>
                </a:solidFill>
                <a:latin typeface="Calibri"/>
                <a:ea typeface="Calibri"/>
                <a:cs typeface="Calibri"/>
                <a:sym typeface="Calibri"/>
              </a:rPr>
              <a:t>Kwituma umusarane woroshye (guhitwa) rimwe cyangwa kabiri</a:t>
            </a:r>
            <a:endParaRPr sz="1431" dirty="0">
              <a:solidFill>
                <a:schemeClr val="dk1"/>
              </a:solidFill>
              <a:latin typeface="Calibri"/>
              <a:ea typeface="Calibri"/>
              <a:cs typeface="Calibri"/>
              <a:sym typeface="Calibri"/>
            </a:endParaRPr>
          </a:p>
        </p:txBody>
      </p:sp>
      <p:sp>
        <p:nvSpPr>
          <p:cNvPr id="1349" name="Google Shape;1349;p63"/>
          <p:cNvSpPr/>
          <p:nvPr/>
        </p:nvSpPr>
        <p:spPr>
          <a:xfrm>
            <a:off x="4343400" y="1590906"/>
            <a:ext cx="3502152" cy="548640"/>
          </a:xfrm>
          <a:prstGeom prst="roundRect">
            <a:avLst>
              <a:gd name="adj" fmla="val 13333"/>
            </a:avLst>
          </a:prstGeom>
          <a:solidFill>
            <a:srgbClr val="2272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350" name="Google Shape;1350;p63"/>
          <p:cNvSpPr/>
          <p:nvPr/>
        </p:nvSpPr>
        <p:spPr>
          <a:xfrm>
            <a:off x="4434840" y="1590906"/>
            <a:ext cx="3319272" cy="54864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FFFFFF"/>
              </a:buClr>
              <a:buSzPts val="1557"/>
              <a:buFont typeface="Cambria"/>
              <a:buNone/>
            </a:pPr>
            <a:r>
              <a:rPr lang="rw-RW" sz="1800" b="1" dirty="0">
                <a:solidFill>
                  <a:srgbClr val="FFFFFF"/>
                </a:solidFill>
                <a:latin typeface="Cambria"/>
                <a:ea typeface="Cambria"/>
                <a:cs typeface="Cambria"/>
                <a:sym typeface="Cambria"/>
              </a:rPr>
              <a:t>Ibigomba kwitabwaho vuba</a:t>
            </a:r>
            <a:endParaRPr sz="1557" dirty="0">
              <a:solidFill>
                <a:schemeClr val="dk1"/>
              </a:solidFill>
              <a:latin typeface="Calibri"/>
              <a:ea typeface="Calibri"/>
              <a:cs typeface="Calibri"/>
              <a:sym typeface="Calibri"/>
            </a:endParaRPr>
          </a:p>
        </p:txBody>
      </p:sp>
      <p:sp>
        <p:nvSpPr>
          <p:cNvPr id="1351" name="Google Shape;1351;p63"/>
          <p:cNvSpPr/>
          <p:nvPr/>
        </p:nvSpPr>
        <p:spPr>
          <a:xfrm>
            <a:off x="4343400" y="2203553"/>
            <a:ext cx="3502152" cy="3323187"/>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352" name="Google Shape;1352;p63"/>
          <p:cNvSpPr/>
          <p:nvPr/>
        </p:nvSpPr>
        <p:spPr>
          <a:xfrm>
            <a:off x="4599432" y="2368146"/>
            <a:ext cx="3044952" cy="1874520"/>
          </a:xfrm>
          <a:prstGeom prst="rect">
            <a:avLst/>
          </a:prstGeom>
          <a:noFill/>
          <a:ln>
            <a:noFill/>
          </a:ln>
        </p:spPr>
        <p:txBody>
          <a:bodyPr spcFirstLastPara="1" wrap="square" lIns="0" tIns="0" rIns="0" bIns="0" anchor="t" anchorCtr="0">
            <a:normAutofit fontScale="85000" lnSpcReduction="20000"/>
          </a:bodyPr>
          <a:lstStyle/>
          <a:p>
            <a:pPr marL="342900" marR="0" lvl="0" indent="-342900" algn="l" rtl="0">
              <a:lnSpc>
                <a:spcPct val="130000"/>
              </a:lnSpc>
              <a:spcBef>
                <a:spcPts val="0"/>
              </a:spcBef>
              <a:spcAft>
                <a:spcPts val="0"/>
              </a:spcAft>
              <a:buClr>
                <a:srgbClr val="16334F"/>
              </a:buClr>
              <a:buSzPts val="1566"/>
              <a:buFont typeface="Calibri"/>
              <a:buChar char="•"/>
            </a:pPr>
            <a:r>
              <a:rPr lang="rw-RW" sz="1800" dirty="0">
                <a:solidFill>
                  <a:srgbClr val="16334F"/>
                </a:solidFill>
                <a:latin typeface="Calibri"/>
                <a:ea typeface="Calibri"/>
                <a:cs typeface="Calibri"/>
                <a:sym typeface="Calibri"/>
              </a:rPr>
              <a:t>Kuruka iminsi myinshi</a:t>
            </a:r>
            <a:endParaRPr sz="1566" dirty="0">
              <a:solidFill>
                <a:schemeClr val="dk1"/>
              </a:solidFill>
              <a:latin typeface="Calibri"/>
              <a:ea typeface="Calibri"/>
              <a:cs typeface="Calibri"/>
              <a:sym typeface="Calibri"/>
            </a:endParaRPr>
          </a:p>
          <a:p>
            <a:pPr marL="342900" marR="0" lvl="0" indent="-342900" algn="l" rtl="0">
              <a:lnSpc>
                <a:spcPct val="130000"/>
              </a:lnSpc>
              <a:spcBef>
                <a:spcPts val="800"/>
              </a:spcBef>
              <a:spcAft>
                <a:spcPts val="0"/>
              </a:spcAft>
              <a:buClr>
                <a:srgbClr val="16334F"/>
              </a:buClr>
              <a:buSzPts val="1566"/>
              <a:buFont typeface="Calibri"/>
              <a:buChar char="•"/>
            </a:pPr>
            <a:r>
              <a:rPr lang="rw-RW" sz="1800" dirty="0">
                <a:solidFill>
                  <a:srgbClr val="16334F"/>
                </a:solidFill>
                <a:latin typeface="Calibri"/>
                <a:ea typeface="Calibri"/>
                <a:cs typeface="Calibri"/>
                <a:sym typeface="Calibri"/>
              </a:rPr>
              <a:t>Gukomeza gutakaza ibiro</a:t>
            </a:r>
            <a:endParaRPr sz="1566" dirty="0">
              <a:solidFill>
                <a:schemeClr val="dk1"/>
              </a:solidFill>
              <a:latin typeface="Calibri"/>
              <a:ea typeface="Calibri"/>
              <a:cs typeface="Calibri"/>
              <a:sym typeface="Calibri"/>
            </a:endParaRPr>
          </a:p>
          <a:p>
            <a:pPr marL="342900" marR="0" lvl="0" indent="-342900" algn="l" rtl="0">
              <a:lnSpc>
                <a:spcPct val="130000"/>
              </a:lnSpc>
              <a:spcBef>
                <a:spcPts val="800"/>
              </a:spcBef>
              <a:spcAft>
                <a:spcPts val="0"/>
              </a:spcAft>
              <a:buClr>
                <a:srgbClr val="16334F"/>
              </a:buClr>
              <a:buSzPts val="1566"/>
              <a:buFont typeface="Calibri"/>
              <a:buChar char="•"/>
            </a:pPr>
            <a:r>
              <a:rPr lang="rw-RW" sz="1800" dirty="0">
                <a:solidFill>
                  <a:srgbClr val="16334F"/>
                </a:solidFill>
                <a:latin typeface="Calibri"/>
                <a:ea typeface="Calibri"/>
                <a:cs typeface="Calibri"/>
                <a:sym typeface="Calibri"/>
              </a:rPr>
              <a:t>Kumara iminsi myinshi urya bike cyane</a:t>
            </a:r>
            <a:endParaRPr sz="1566" dirty="0">
              <a:solidFill>
                <a:schemeClr val="dk1"/>
              </a:solidFill>
              <a:latin typeface="Calibri"/>
              <a:ea typeface="Calibri"/>
              <a:cs typeface="Calibri"/>
              <a:sym typeface="Calibri"/>
            </a:endParaRPr>
          </a:p>
          <a:p>
            <a:pPr marL="342900" marR="0" lvl="0" indent="-342900" algn="l" rtl="0">
              <a:lnSpc>
                <a:spcPct val="130000"/>
              </a:lnSpc>
              <a:spcBef>
                <a:spcPts val="800"/>
              </a:spcBef>
              <a:spcAft>
                <a:spcPts val="0"/>
              </a:spcAft>
              <a:buClr>
                <a:srgbClr val="16334F"/>
              </a:buClr>
              <a:buSzPts val="1566"/>
              <a:buFont typeface="Calibri"/>
              <a:buChar char="•"/>
            </a:pPr>
            <a:r>
              <a:rPr lang="rw-RW" sz="1800" dirty="0">
                <a:solidFill>
                  <a:srgbClr val="16334F"/>
                </a:solidFill>
                <a:latin typeface="Calibri"/>
                <a:ea typeface="Calibri"/>
                <a:cs typeface="Calibri"/>
                <a:sym typeface="Calibri"/>
              </a:rPr>
              <a:t>Ububabare bugenda burushaho kwiyongera</a:t>
            </a:r>
            <a:endParaRPr sz="1566" dirty="0">
              <a:solidFill>
                <a:schemeClr val="dk1"/>
              </a:solidFill>
              <a:latin typeface="Calibri"/>
              <a:ea typeface="Calibri"/>
              <a:cs typeface="Calibri"/>
              <a:sym typeface="Calibri"/>
            </a:endParaRPr>
          </a:p>
        </p:txBody>
      </p:sp>
      <p:sp>
        <p:nvSpPr>
          <p:cNvPr id="1353" name="Google Shape;1353;p63"/>
          <p:cNvSpPr/>
          <p:nvPr/>
        </p:nvSpPr>
        <p:spPr>
          <a:xfrm>
            <a:off x="8138160" y="1590906"/>
            <a:ext cx="3502152" cy="548640"/>
          </a:xfrm>
          <a:prstGeom prst="roundRect">
            <a:avLst>
              <a:gd name="adj" fmla="val 13333"/>
            </a:avLst>
          </a:prstGeom>
          <a:solidFill>
            <a:srgbClr val="B3261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354" name="Google Shape;1354;p63"/>
          <p:cNvSpPr/>
          <p:nvPr/>
        </p:nvSpPr>
        <p:spPr>
          <a:xfrm>
            <a:off x="8229600" y="1590906"/>
            <a:ext cx="3319272" cy="548640"/>
          </a:xfrm>
          <a:prstGeom prst="rect">
            <a:avLst/>
          </a:prstGeom>
          <a:noFill/>
          <a:ln>
            <a:noFill/>
          </a:ln>
        </p:spPr>
        <p:txBody>
          <a:bodyPr spcFirstLastPara="1" wrap="square" lIns="91425" tIns="45700" rIns="91425" bIns="45700" anchor="ctr" anchorCtr="0">
            <a:normAutofit/>
          </a:bodyPr>
          <a:lstStyle/>
          <a:p>
            <a:pPr marL="0" marR="0" lvl="0" indent="0" algn="ctr" rtl="0">
              <a:spcBef>
                <a:spcPts val="0"/>
              </a:spcBef>
              <a:spcAft>
                <a:spcPts val="0"/>
              </a:spcAft>
              <a:buClr>
                <a:srgbClr val="FFFFFF"/>
              </a:buClr>
              <a:buSzPts val="1692"/>
              <a:buFont typeface="Cambria"/>
              <a:buNone/>
            </a:pPr>
            <a:r>
              <a:rPr lang="rw-RW" sz="1800" b="1" dirty="0">
                <a:solidFill>
                  <a:srgbClr val="FFFFFF"/>
                </a:solidFill>
                <a:latin typeface="Cambria"/>
                <a:ea typeface="Cambria"/>
                <a:cs typeface="Cambria"/>
                <a:sym typeface="Cambria"/>
              </a:rPr>
              <a:t>Ibyo kwitabwaho uwo munsi</a:t>
            </a:r>
            <a:endParaRPr sz="1692" dirty="0">
              <a:solidFill>
                <a:schemeClr val="dk1"/>
              </a:solidFill>
              <a:latin typeface="Calibri"/>
              <a:ea typeface="Calibri"/>
              <a:cs typeface="Calibri"/>
              <a:sym typeface="Calibri"/>
            </a:endParaRPr>
          </a:p>
        </p:txBody>
      </p:sp>
      <p:sp>
        <p:nvSpPr>
          <p:cNvPr id="1355" name="Google Shape;1355;p63"/>
          <p:cNvSpPr/>
          <p:nvPr/>
        </p:nvSpPr>
        <p:spPr>
          <a:xfrm>
            <a:off x="8138160" y="2203553"/>
            <a:ext cx="3502152" cy="3323187"/>
          </a:xfrm>
          <a:prstGeom prst="roundRect">
            <a:avLst>
              <a:gd name="adj" fmla="val 4255"/>
            </a:avLst>
          </a:prstGeom>
          <a:solidFill>
            <a:srgbClr val="FCECEC"/>
          </a:solidFill>
          <a:ln w="12700" cap="flat" cmpd="sng">
            <a:solidFill>
              <a:srgbClr val="F0C4C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356" name="Google Shape;1356;p63"/>
          <p:cNvSpPr/>
          <p:nvPr/>
        </p:nvSpPr>
        <p:spPr>
          <a:xfrm>
            <a:off x="8394192" y="2368146"/>
            <a:ext cx="3044952" cy="1874520"/>
          </a:xfrm>
          <a:prstGeom prst="rect">
            <a:avLst/>
          </a:prstGeom>
          <a:noFill/>
          <a:ln>
            <a:noFill/>
          </a:ln>
        </p:spPr>
        <p:txBody>
          <a:bodyPr spcFirstLastPara="1" wrap="square" lIns="0" tIns="0" rIns="0" bIns="0" anchor="t" anchorCtr="0">
            <a:normAutofit fontScale="70000" lnSpcReduction="20000"/>
          </a:bodyPr>
          <a:lstStyle/>
          <a:p>
            <a:pPr marL="342900" marR="0" lvl="0" indent="-342900" algn="l" rtl="0">
              <a:lnSpc>
                <a:spcPct val="130000"/>
              </a:lnSpc>
              <a:spcBef>
                <a:spcPts val="0"/>
              </a:spcBef>
              <a:spcAft>
                <a:spcPts val="0"/>
              </a:spcAft>
              <a:buClr>
                <a:srgbClr val="B3261E"/>
              </a:buClr>
              <a:buSzPts val="1161"/>
              <a:buFont typeface="Calibri"/>
              <a:buChar char="•"/>
            </a:pPr>
            <a:r>
              <a:rPr lang="rw-RW" sz="1800" b="1" dirty="0">
                <a:solidFill>
                  <a:srgbClr val="B3261E"/>
                </a:solidFill>
                <a:latin typeface="Calibri"/>
                <a:ea typeface="Calibri"/>
                <a:cs typeface="Calibri"/>
                <a:sym typeface="Calibri"/>
              </a:rPr>
              <a:t>Kuruka amaraso</a:t>
            </a:r>
            <a:endParaRPr sz="1161" dirty="0">
              <a:solidFill>
                <a:schemeClr val="dk1"/>
              </a:solidFill>
              <a:latin typeface="Calibri"/>
              <a:ea typeface="Calibri"/>
              <a:cs typeface="Calibri"/>
              <a:sym typeface="Calibri"/>
            </a:endParaRPr>
          </a:p>
          <a:p>
            <a:pPr marL="342900" marR="0" lvl="0" indent="-342900" algn="l" rtl="0">
              <a:lnSpc>
                <a:spcPct val="130000"/>
              </a:lnSpc>
              <a:spcBef>
                <a:spcPts val="800"/>
              </a:spcBef>
              <a:spcAft>
                <a:spcPts val="0"/>
              </a:spcAft>
              <a:buClr>
                <a:srgbClr val="B3261E"/>
              </a:buClr>
              <a:buSzPts val="1161"/>
              <a:buFont typeface="Calibri"/>
              <a:buChar char="•"/>
            </a:pPr>
            <a:r>
              <a:rPr lang="rw-RW" sz="1800" b="1" dirty="0">
                <a:solidFill>
                  <a:srgbClr val="B3261E"/>
                </a:solidFill>
                <a:latin typeface="Calibri"/>
                <a:ea typeface="Calibri"/>
                <a:cs typeface="Calibri"/>
                <a:sym typeface="Calibri"/>
              </a:rPr>
              <a:t>Umusarane wirabura nka kaburimbo</a:t>
            </a:r>
            <a:endParaRPr sz="1161" dirty="0">
              <a:solidFill>
                <a:schemeClr val="dk1"/>
              </a:solidFill>
              <a:latin typeface="Calibri"/>
              <a:ea typeface="Calibri"/>
              <a:cs typeface="Calibri"/>
              <a:sym typeface="Calibri"/>
            </a:endParaRPr>
          </a:p>
          <a:p>
            <a:pPr marL="342900" marR="0" lvl="0" indent="-342900" algn="l" rtl="0">
              <a:lnSpc>
                <a:spcPct val="130000"/>
              </a:lnSpc>
              <a:spcBef>
                <a:spcPts val="800"/>
              </a:spcBef>
              <a:spcAft>
                <a:spcPts val="0"/>
              </a:spcAft>
              <a:buClr>
                <a:srgbClr val="B3261E"/>
              </a:buClr>
              <a:buSzPts val="1161"/>
              <a:buFont typeface="Calibri"/>
              <a:buChar char="•"/>
            </a:pPr>
            <a:r>
              <a:rPr lang="rw-RW" sz="1800" b="1" dirty="0">
                <a:solidFill>
                  <a:srgbClr val="B3261E"/>
                </a:solidFill>
                <a:latin typeface="Calibri"/>
                <a:ea typeface="Calibri"/>
                <a:cs typeface="Calibri"/>
                <a:sym typeface="Calibri"/>
              </a:rPr>
              <a:t>Kutabasha ugumana amazi cyangwa ibinyobwa mu nda</a:t>
            </a:r>
            <a:endParaRPr sz="1161" dirty="0">
              <a:solidFill>
                <a:schemeClr val="dk1"/>
              </a:solidFill>
              <a:latin typeface="Calibri"/>
              <a:ea typeface="Calibri"/>
              <a:cs typeface="Calibri"/>
              <a:sym typeface="Calibri"/>
            </a:endParaRPr>
          </a:p>
          <a:p>
            <a:pPr marL="342900" marR="0" lvl="0" indent="-342900" algn="l" rtl="0">
              <a:lnSpc>
                <a:spcPct val="130000"/>
              </a:lnSpc>
              <a:spcBef>
                <a:spcPts val="800"/>
              </a:spcBef>
              <a:spcAft>
                <a:spcPts val="0"/>
              </a:spcAft>
              <a:buClr>
                <a:srgbClr val="B3261E"/>
              </a:buClr>
              <a:buSzPts val="1161"/>
              <a:buFont typeface="Calibri"/>
              <a:buChar char="•"/>
            </a:pPr>
            <a:r>
              <a:rPr lang="rw-RW" sz="1800" b="1" dirty="0">
                <a:solidFill>
                  <a:srgbClr val="B3261E"/>
                </a:solidFill>
                <a:latin typeface="Calibri"/>
                <a:ea typeface="Calibri"/>
                <a:cs typeface="Calibri"/>
                <a:sym typeface="Calibri"/>
              </a:rPr>
              <a:t>Intege nke cyane, urujijo, cyangwa kugwa</a:t>
            </a:r>
            <a:endParaRPr sz="1161" dirty="0">
              <a:solidFill>
                <a:schemeClr val="dk1"/>
              </a:solidFill>
              <a:latin typeface="Calibri"/>
              <a:ea typeface="Calibri"/>
              <a:cs typeface="Calibri"/>
              <a:sym typeface="Calibri"/>
            </a:endParaRPr>
          </a:p>
        </p:txBody>
      </p:sp>
      <p:sp>
        <p:nvSpPr>
          <p:cNvPr id="1357" name="Google Shape;1357;p63"/>
          <p:cNvSpPr/>
          <p:nvPr/>
        </p:nvSpPr>
        <p:spPr>
          <a:xfrm>
            <a:off x="548640" y="5699186"/>
            <a:ext cx="11091672" cy="658368"/>
          </a:xfrm>
          <a:prstGeom prst="roundRect">
            <a:avLst>
              <a:gd name="adj" fmla="val 13889"/>
            </a:avLst>
          </a:prstGeom>
          <a:solidFill>
            <a:srgbClr val="FDF6E3"/>
          </a:solidFill>
          <a:ln w="12700" cap="flat" cmpd="sng">
            <a:solidFill>
              <a:srgbClr val="EFD9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358" name="Google Shape;1358;p63"/>
          <p:cNvSpPr/>
          <p:nvPr/>
        </p:nvSpPr>
        <p:spPr>
          <a:xfrm>
            <a:off x="777240" y="5772338"/>
            <a:ext cx="10634472" cy="512064"/>
          </a:xfrm>
          <a:prstGeom prst="rect">
            <a:avLst/>
          </a:prstGeom>
          <a:noFill/>
          <a:ln>
            <a:noFill/>
          </a:ln>
        </p:spPr>
        <p:txBody>
          <a:bodyPr spcFirstLastPara="1" wrap="square" lIns="0" tIns="0" rIns="0" bIns="0" anchor="ctr" anchorCtr="0">
            <a:normAutofit lnSpcReduction="10000"/>
          </a:bodyPr>
          <a:lstStyle/>
          <a:p>
            <a:pPr marL="0" marR="0" lvl="0" indent="0" algn="l" rtl="0">
              <a:spcBef>
                <a:spcPts val="0"/>
              </a:spcBef>
              <a:spcAft>
                <a:spcPts val="0"/>
              </a:spcAft>
              <a:buClr>
                <a:srgbClr val="9C6500"/>
              </a:buClr>
              <a:buSzPts val="1710"/>
              <a:buFont typeface="Calibri"/>
              <a:buNone/>
            </a:pPr>
            <a:r>
              <a:rPr lang="rw-RW" sz="1800" dirty="0">
                <a:solidFill>
                  <a:srgbClr val="9C6500"/>
                </a:solidFill>
                <a:latin typeface="Calibri"/>
                <a:ea typeface="Calibri"/>
                <a:cs typeface="Calibri"/>
                <a:sym typeface="Calibri"/>
              </a:rPr>
              <a:t>Ntabwo utegerejweho gukemura ibi bibazo ubwawe. Ugomba kubibona kandi ukabishyikiriza aha bugenewe, mu gihe cyagenwe.</a:t>
            </a:r>
            <a:endParaRPr sz="1710" dirty="0">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3"/>
        <p:cNvGrpSpPr/>
        <p:nvPr/>
      </p:nvGrpSpPr>
      <p:grpSpPr>
        <a:xfrm>
          <a:off x="0" y="0"/>
          <a:ext cx="0" cy="0"/>
          <a:chOff x="0" y="0"/>
          <a:chExt cx="0" cy="0"/>
        </a:xfrm>
      </p:grpSpPr>
      <p:sp>
        <p:nvSpPr>
          <p:cNvPr id="1364" name="Google Shape;1364;p64"/>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5</a:t>
            </a:r>
            <a:endParaRPr sz="1100">
              <a:solidFill>
                <a:schemeClr val="dk1"/>
              </a:solidFill>
              <a:latin typeface="Calibri"/>
              <a:ea typeface="Calibri"/>
              <a:cs typeface="Calibri"/>
              <a:sym typeface="Calibri"/>
            </a:endParaRPr>
          </a:p>
        </p:txBody>
      </p:sp>
      <p:sp>
        <p:nvSpPr>
          <p:cNvPr id="1365" name="Google Shape;1365;p64"/>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Ibimenyetso bidashobora gutegereza</a:t>
            </a:r>
            <a:endParaRPr sz="3400">
              <a:solidFill>
                <a:schemeClr val="dk1"/>
              </a:solidFill>
              <a:latin typeface="Calibri"/>
              <a:ea typeface="Calibri"/>
              <a:cs typeface="Calibri"/>
              <a:sym typeface="Calibri"/>
            </a:endParaRPr>
          </a:p>
        </p:txBody>
      </p:sp>
      <p:sp>
        <p:nvSpPr>
          <p:cNvPr id="1366" name="Google Shape;1366;p64"/>
          <p:cNvSpPr/>
          <p:nvPr/>
        </p:nvSpPr>
        <p:spPr>
          <a:xfrm>
            <a:off x="548640" y="1371600"/>
            <a:ext cx="11064240" cy="411480"/>
          </a:xfrm>
          <a:prstGeom prst="rect">
            <a:avLst/>
          </a:prstGeom>
          <a:noFill/>
          <a:ln>
            <a:noFill/>
          </a:ln>
        </p:spPr>
        <p:txBody>
          <a:bodyPr spcFirstLastPara="1" wrap="square" lIns="0" tIns="0" rIns="0" bIns="0" anchor="ctr" anchorCtr="0">
            <a:normAutofit lnSpcReduction="10000"/>
          </a:bodyPr>
          <a:lstStyle/>
          <a:p>
            <a:pPr marL="0" marR="0" lvl="0" indent="0" algn="l" rtl="0">
              <a:lnSpc>
                <a:spcPct val="80000"/>
              </a:lnSpc>
              <a:spcBef>
                <a:spcPts val="0"/>
              </a:spcBef>
              <a:spcAft>
                <a:spcPts val="0"/>
              </a:spcAft>
              <a:buNone/>
            </a:pPr>
            <a:r>
              <a:rPr lang="rw-RW" sz="1800" dirty="0">
                <a:solidFill>
                  <a:srgbClr val="16334F"/>
                </a:solidFill>
                <a:latin typeface="Calibri"/>
                <a:ea typeface="Calibri"/>
                <a:cs typeface="Calibri"/>
                <a:sym typeface="Calibri"/>
              </a:rPr>
              <a:t>Niba ubonye kimwe muri ibi bimenyetso, jya ufata icyemezo cyo kwivuza kuri uwo munsi maze ubwire umuganga ibyo wabonye.</a:t>
            </a:r>
            <a:endParaRPr sz="1593" dirty="0">
              <a:solidFill>
                <a:schemeClr val="dk1"/>
              </a:solidFill>
              <a:latin typeface="Calibri"/>
              <a:ea typeface="Calibri"/>
              <a:cs typeface="Calibri"/>
              <a:sym typeface="Calibri"/>
            </a:endParaRPr>
          </a:p>
        </p:txBody>
      </p:sp>
      <p:sp>
        <p:nvSpPr>
          <p:cNvPr id="1367" name="Google Shape;1367;p64"/>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368" name="Google Shape;1368;p64"/>
          <p:cNvSpPr/>
          <p:nvPr/>
        </p:nvSpPr>
        <p:spPr>
          <a:xfrm>
            <a:off x="548640" y="5715000"/>
            <a:ext cx="11091672" cy="502920"/>
          </a:xfrm>
          <a:prstGeom prst="roundRect">
            <a:avLst>
              <a:gd name="adj" fmla="val 18182"/>
            </a:avLst>
          </a:prstGeom>
          <a:solidFill>
            <a:srgbClr val="FCECEC"/>
          </a:solidFill>
          <a:ln w="12700" cap="flat" cmpd="sng">
            <a:solidFill>
              <a:srgbClr val="F0C4C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69" name="Google Shape;1369;p64"/>
          <p:cNvSpPr/>
          <p:nvPr/>
        </p:nvSpPr>
        <p:spPr>
          <a:xfrm>
            <a:off x="777240" y="5788152"/>
            <a:ext cx="10634472" cy="356616"/>
          </a:xfrm>
          <a:prstGeom prst="rect">
            <a:avLst/>
          </a:prstGeom>
          <a:noFill/>
          <a:ln>
            <a:noFill/>
          </a:ln>
        </p:spPr>
        <p:txBody>
          <a:bodyPr spcFirstLastPara="1" wrap="square" lIns="0" tIns="0" rIns="0" bIns="0" anchor="ctr" anchorCtr="0">
            <a:normAutofit fontScale="92500" lnSpcReduction="20000"/>
          </a:bodyPr>
          <a:lstStyle/>
          <a:p>
            <a:pPr marL="0" marR="0" lvl="0" indent="0" algn="l" rtl="0">
              <a:lnSpc>
                <a:spcPct val="90000"/>
              </a:lnSpc>
              <a:spcBef>
                <a:spcPts val="0"/>
              </a:spcBef>
              <a:spcAft>
                <a:spcPts val="0"/>
              </a:spcAft>
              <a:buClr>
                <a:srgbClr val="B3261E"/>
              </a:buClr>
              <a:buSzPts val="1334"/>
              <a:buFont typeface="Calibri"/>
              <a:buNone/>
            </a:pPr>
            <a:r>
              <a:rPr lang="rw-RW" sz="1700" b="1" dirty="0">
                <a:solidFill>
                  <a:srgbClr val="B3261E"/>
                </a:solidFill>
                <a:latin typeface="Calibri"/>
                <a:ea typeface="Calibri"/>
                <a:cs typeface="Calibri"/>
                <a:sym typeface="Calibri"/>
              </a:rPr>
              <a:t>Icyitonderwa: Tegura urugendo hanyuma ujyane n'umuntu wizeye cyangwa wo mu muryango ku ivuriro uwo munsi. Ntugategereze kugeza ejo.</a:t>
            </a:r>
            <a:endParaRPr sz="1335" dirty="0">
              <a:solidFill>
                <a:schemeClr val="dk1"/>
              </a:solidFill>
              <a:latin typeface="Calibri"/>
              <a:ea typeface="Calibri"/>
              <a:cs typeface="Calibri"/>
              <a:sym typeface="Calibri"/>
            </a:endParaRPr>
          </a:p>
        </p:txBody>
      </p:sp>
      <p:pic>
        <p:nvPicPr>
          <p:cNvPr id="2" name="Imagen 1">
            <a:extLst>
              <a:ext uri="{FF2B5EF4-FFF2-40B4-BE49-F238E27FC236}">
                <a16:creationId xmlns:a16="http://schemas.microsoft.com/office/drawing/2014/main" id="{9470480A-8710-DD55-D46C-5A2DA50C4E41}"/>
              </a:ext>
            </a:extLst>
          </p:cNvPr>
          <p:cNvPicPr>
            <a:picLocks noChangeAspect="1"/>
          </p:cNvPicPr>
          <p:nvPr/>
        </p:nvPicPr>
        <p:blipFill>
          <a:blip r:embed="rId3"/>
          <a:stretch>
            <a:fillRect/>
          </a:stretch>
        </p:blipFill>
        <p:spPr>
          <a:xfrm>
            <a:off x="678270" y="1858646"/>
            <a:ext cx="10693101" cy="3787774"/>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75"/>
        <p:cNvGrpSpPr/>
        <p:nvPr/>
      </p:nvGrpSpPr>
      <p:grpSpPr>
        <a:xfrm>
          <a:off x="0" y="0"/>
          <a:ext cx="0" cy="0"/>
          <a:chOff x="0" y="0"/>
          <a:chExt cx="0" cy="0"/>
        </a:xfrm>
      </p:grpSpPr>
      <p:sp>
        <p:nvSpPr>
          <p:cNvPr id="1376" name="Google Shape;1376;p65"/>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5</a:t>
            </a:r>
            <a:endParaRPr sz="1100">
              <a:solidFill>
                <a:schemeClr val="dk1"/>
              </a:solidFill>
              <a:latin typeface="Calibri"/>
              <a:ea typeface="Calibri"/>
              <a:cs typeface="Calibri"/>
              <a:sym typeface="Calibri"/>
            </a:endParaRPr>
          </a:p>
        </p:txBody>
      </p:sp>
      <p:sp>
        <p:nvSpPr>
          <p:cNvPr id="1377" name="Google Shape;1377;p65"/>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Ihumure n'ubuzima bwa buri munsi</a:t>
            </a:r>
            <a:endParaRPr sz="3400">
              <a:solidFill>
                <a:schemeClr val="dk1"/>
              </a:solidFill>
              <a:latin typeface="Calibri"/>
              <a:ea typeface="Calibri"/>
              <a:cs typeface="Calibri"/>
              <a:sym typeface="Calibri"/>
            </a:endParaRPr>
          </a:p>
        </p:txBody>
      </p:sp>
      <p:sp>
        <p:nvSpPr>
          <p:cNvPr id="1378" name="Google Shape;1378;p65"/>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379" name="Google Shape;1379;p65"/>
          <p:cNvSpPr/>
          <p:nvPr/>
        </p:nvSpPr>
        <p:spPr>
          <a:xfrm>
            <a:off x="548640" y="1425069"/>
            <a:ext cx="3502152" cy="2310487"/>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80" name="Google Shape;1380;p65"/>
          <p:cNvSpPr/>
          <p:nvPr/>
        </p:nvSpPr>
        <p:spPr>
          <a:xfrm>
            <a:off x="804672" y="1626238"/>
            <a:ext cx="2990088"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dirty="0">
                <a:solidFill>
                  <a:srgbClr val="0F3D63"/>
                </a:solidFill>
                <a:latin typeface="Cambria"/>
                <a:ea typeface="Cambria"/>
                <a:cs typeface="Cambria"/>
                <a:sym typeface="Cambria"/>
              </a:rPr>
              <a:t>Kurya</a:t>
            </a:r>
            <a:endParaRPr sz="2100" dirty="0">
              <a:solidFill>
                <a:schemeClr val="dk1"/>
              </a:solidFill>
              <a:latin typeface="Calibri"/>
              <a:ea typeface="Calibri"/>
              <a:cs typeface="Calibri"/>
              <a:sym typeface="Calibri"/>
            </a:endParaRPr>
          </a:p>
        </p:txBody>
      </p:sp>
      <p:sp>
        <p:nvSpPr>
          <p:cNvPr id="1381" name="Google Shape;1381;p65"/>
          <p:cNvSpPr/>
          <p:nvPr/>
        </p:nvSpPr>
        <p:spPr>
          <a:xfrm>
            <a:off x="804672" y="2064612"/>
            <a:ext cx="2990088" cy="1670944"/>
          </a:xfrm>
          <a:prstGeom prst="rect">
            <a:avLst/>
          </a:prstGeom>
          <a:noFill/>
          <a:ln>
            <a:noFill/>
          </a:ln>
        </p:spPr>
        <p:txBody>
          <a:bodyPr spcFirstLastPara="1" wrap="square" lIns="0" tIns="0" rIns="0" bIns="0" anchor="t" anchorCtr="0">
            <a:normAutofit/>
          </a:bodyPr>
          <a:lstStyle/>
          <a:p>
            <a:pPr marL="0" marR="0" lvl="0" indent="0" algn="l" rtl="0">
              <a:lnSpc>
                <a:spcPct val="95000"/>
              </a:lnSpc>
              <a:spcBef>
                <a:spcPts val="0"/>
              </a:spcBef>
              <a:spcAft>
                <a:spcPts val="0"/>
              </a:spcAft>
              <a:buClr>
                <a:srgbClr val="16334F"/>
              </a:buClr>
              <a:buSzPts val="1584"/>
              <a:buFont typeface="Calibri"/>
              <a:buNone/>
            </a:pPr>
            <a:r>
              <a:rPr lang="rw-RW" sz="1800" dirty="0">
                <a:solidFill>
                  <a:srgbClr val="16334F"/>
                </a:solidFill>
                <a:latin typeface="Calibri"/>
                <a:ea typeface="Calibri"/>
                <a:cs typeface="Calibri"/>
                <a:sym typeface="Calibri"/>
              </a:rPr>
              <a:t>Nyuma yo kubagwa igifu, igifu kiba cyakira ibiryo bicye cyane. Shishikariza umuntu kurya bicye, kenshi, no kwicara mu gihe arya.</a:t>
            </a:r>
            <a:endParaRPr sz="1584" dirty="0">
              <a:solidFill>
                <a:schemeClr val="dk1"/>
              </a:solidFill>
              <a:latin typeface="Calibri"/>
              <a:ea typeface="Calibri"/>
              <a:cs typeface="Calibri"/>
              <a:sym typeface="Calibri"/>
            </a:endParaRPr>
          </a:p>
        </p:txBody>
      </p:sp>
      <p:sp>
        <p:nvSpPr>
          <p:cNvPr id="1382" name="Google Shape;1382;p65"/>
          <p:cNvSpPr/>
          <p:nvPr/>
        </p:nvSpPr>
        <p:spPr>
          <a:xfrm>
            <a:off x="4343400" y="1425069"/>
            <a:ext cx="3502152" cy="2310487"/>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83" name="Google Shape;1383;p65"/>
          <p:cNvSpPr/>
          <p:nvPr/>
        </p:nvSpPr>
        <p:spPr>
          <a:xfrm>
            <a:off x="4599432" y="1626238"/>
            <a:ext cx="2990088"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dirty="0">
                <a:solidFill>
                  <a:srgbClr val="0F3D63"/>
                </a:solidFill>
                <a:latin typeface="Cambria"/>
                <a:ea typeface="Cambria"/>
                <a:cs typeface="Cambria"/>
                <a:sym typeface="Cambria"/>
              </a:rPr>
              <a:t>Kunywa</a:t>
            </a:r>
            <a:endParaRPr sz="2100" dirty="0">
              <a:solidFill>
                <a:schemeClr val="dk1"/>
              </a:solidFill>
              <a:latin typeface="Calibri"/>
              <a:ea typeface="Calibri"/>
              <a:cs typeface="Calibri"/>
              <a:sym typeface="Calibri"/>
            </a:endParaRPr>
          </a:p>
        </p:txBody>
      </p:sp>
      <p:sp>
        <p:nvSpPr>
          <p:cNvPr id="1384" name="Google Shape;1384;p65"/>
          <p:cNvSpPr/>
          <p:nvPr/>
        </p:nvSpPr>
        <p:spPr>
          <a:xfrm>
            <a:off x="4599432" y="2064612"/>
            <a:ext cx="2990088" cy="1670944"/>
          </a:xfrm>
          <a:prstGeom prst="rect">
            <a:avLst/>
          </a:prstGeom>
          <a:noFill/>
          <a:ln>
            <a:noFill/>
          </a:ln>
        </p:spPr>
        <p:txBody>
          <a:bodyPr spcFirstLastPara="1" wrap="square" lIns="0" tIns="0" rIns="0" bIns="0" anchor="t" anchorCtr="0">
            <a:normAutofit/>
          </a:bodyPr>
          <a:lstStyle/>
          <a:p>
            <a:pPr marL="0" marR="0" lvl="0" indent="0" algn="l" rtl="0">
              <a:lnSpc>
                <a:spcPct val="95000"/>
              </a:lnSpc>
              <a:spcBef>
                <a:spcPts val="0"/>
              </a:spcBef>
              <a:spcAft>
                <a:spcPts val="0"/>
              </a:spcAft>
              <a:buClr>
                <a:srgbClr val="16334F"/>
              </a:buClr>
              <a:buSzPts val="1449"/>
              <a:buFont typeface="Calibri"/>
              <a:buNone/>
            </a:pPr>
            <a:r>
              <a:rPr lang="rw-RW" sz="1800" dirty="0">
                <a:solidFill>
                  <a:srgbClr val="16334F"/>
                </a:solidFill>
                <a:latin typeface="Calibri"/>
                <a:ea typeface="Calibri"/>
                <a:cs typeface="Calibri"/>
                <a:sym typeface="Calibri"/>
              </a:rPr>
              <a:t>Shishikariza umuntu gufata icyo kunywa buri munsi. Niba umuntu adashobora kugumana amazi mu nda na gato, akeneye kwitabwaho uwo munsi.</a:t>
            </a:r>
            <a:endParaRPr sz="1449" dirty="0">
              <a:solidFill>
                <a:schemeClr val="dk1"/>
              </a:solidFill>
              <a:latin typeface="Calibri"/>
              <a:ea typeface="Calibri"/>
              <a:cs typeface="Calibri"/>
              <a:sym typeface="Calibri"/>
            </a:endParaRPr>
          </a:p>
        </p:txBody>
      </p:sp>
      <p:sp>
        <p:nvSpPr>
          <p:cNvPr id="1385" name="Google Shape;1385;p65"/>
          <p:cNvSpPr/>
          <p:nvPr/>
        </p:nvSpPr>
        <p:spPr>
          <a:xfrm>
            <a:off x="8138160" y="1425069"/>
            <a:ext cx="3502152" cy="2310487"/>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86" name="Google Shape;1386;p65"/>
          <p:cNvSpPr/>
          <p:nvPr/>
        </p:nvSpPr>
        <p:spPr>
          <a:xfrm>
            <a:off x="8394192" y="1626238"/>
            <a:ext cx="2990088"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a:solidFill>
                  <a:srgbClr val="0F3D63"/>
                </a:solidFill>
                <a:latin typeface="Cambria"/>
                <a:ea typeface="Cambria"/>
                <a:cs typeface="Cambria"/>
                <a:sym typeface="Cambria"/>
              </a:rPr>
              <a:t>Kuruhuka no kugenda</a:t>
            </a:r>
            <a:endParaRPr sz="2100">
              <a:solidFill>
                <a:schemeClr val="dk1"/>
              </a:solidFill>
              <a:latin typeface="Calibri"/>
              <a:ea typeface="Calibri"/>
              <a:cs typeface="Calibri"/>
              <a:sym typeface="Calibri"/>
            </a:endParaRPr>
          </a:p>
        </p:txBody>
      </p:sp>
      <p:sp>
        <p:nvSpPr>
          <p:cNvPr id="1387" name="Google Shape;1387;p65"/>
          <p:cNvSpPr/>
          <p:nvPr/>
        </p:nvSpPr>
        <p:spPr>
          <a:xfrm>
            <a:off x="8394192" y="2064612"/>
            <a:ext cx="2990088" cy="1670944"/>
          </a:xfrm>
          <a:prstGeom prst="rect">
            <a:avLst/>
          </a:prstGeom>
          <a:noFill/>
          <a:ln>
            <a:noFill/>
          </a:ln>
        </p:spPr>
        <p:txBody>
          <a:bodyPr spcFirstLastPara="1" wrap="square" lIns="0" tIns="0" rIns="0" bIns="0" anchor="t" anchorCtr="0">
            <a:normAutofit/>
          </a:bodyPr>
          <a:lstStyle/>
          <a:p>
            <a:pPr marL="0" marR="0" lvl="0" indent="0" algn="l" rtl="0">
              <a:lnSpc>
                <a:spcPct val="95000"/>
              </a:lnSpc>
              <a:spcBef>
                <a:spcPts val="0"/>
              </a:spcBef>
              <a:spcAft>
                <a:spcPts val="0"/>
              </a:spcAft>
              <a:buClr>
                <a:srgbClr val="16334F"/>
              </a:buClr>
              <a:buSzPts val="1584"/>
              <a:buFont typeface="Calibri"/>
              <a:buNone/>
            </a:pPr>
            <a:r>
              <a:rPr lang="rw-RW" sz="1800" dirty="0">
                <a:solidFill>
                  <a:srgbClr val="16334F"/>
                </a:solidFill>
                <a:latin typeface="Calibri"/>
                <a:ea typeface="Calibri"/>
                <a:cs typeface="Calibri"/>
                <a:sym typeface="Calibri"/>
              </a:rPr>
              <a:t>Umunaniro ni ibisanzwe. Shishikariza umuntu kugendagenda n’amaguru niba abishoboye, no kuruhuka igihe ananiwe. </a:t>
            </a:r>
            <a:endParaRPr sz="1584" dirty="0">
              <a:solidFill>
                <a:schemeClr val="dk1"/>
              </a:solidFill>
              <a:latin typeface="Calibri"/>
              <a:ea typeface="Calibri"/>
              <a:cs typeface="Calibri"/>
              <a:sym typeface="Calibri"/>
            </a:endParaRPr>
          </a:p>
        </p:txBody>
      </p:sp>
      <p:sp>
        <p:nvSpPr>
          <p:cNvPr id="1388" name="Google Shape;1388;p65"/>
          <p:cNvSpPr/>
          <p:nvPr/>
        </p:nvSpPr>
        <p:spPr>
          <a:xfrm>
            <a:off x="548640" y="3945869"/>
            <a:ext cx="3502152" cy="2310486"/>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89" name="Google Shape;1389;p65"/>
          <p:cNvSpPr/>
          <p:nvPr/>
        </p:nvSpPr>
        <p:spPr>
          <a:xfrm>
            <a:off x="804672" y="4147037"/>
            <a:ext cx="2990088"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dirty="0">
                <a:solidFill>
                  <a:srgbClr val="0F3D63"/>
                </a:solidFill>
                <a:latin typeface="Cambria"/>
                <a:ea typeface="Cambria"/>
                <a:cs typeface="Cambria"/>
                <a:sym typeface="Cambria"/>
              </a:rPr>
              <a:t>Ububabare</a:t>
            </a:r>
            <a:endParaRPr sz="2100" dirty="0">
              <a:solidFill>
                <a:schemeClr val="dk1"/>
              </a:solidFill>
              <a:latin typeface="Calibri"/>
              <a:ea typeface="Calibri"/>
              <a:cs typeface="Calibri"/>
              <a:sym typeface="Calibri"/>
            </a:endParaRPr>
          </a:p>
        </p:txBody>
      </p:sp>
      <p:sp>
        <p:nvSpPr>
          <p:cNvPr id="1390" name="Google Shape;1390;p65"/>
          <p:cNvSpPr/>
          <p:nvPr/>
        </p:nvSpPr>
        <p:spPr>
          <a:xfrm>
            <a:off x="804672" y="4585411"/>
            <a:ext cx="2990088" cy="1670944"/>
          </a:xfrm>
          <a:prstGeom prst="rect">
            <a:avLst/>
          </a:prstGeom>
          <a:noFill/>
          <a:ln>
            <a:noFill/>
          </a:ln>
        </p:spPr>
        <p:txBody>
          <a:bodyPr spcFirstLastPara="1" wrap="square" lIns="0" tIns="0" rIns="0" bIns="0" anchor="t" anchorCtr="0">
            <a:normAutofit/>
          </a:bodyPr>
          <a:lstStyle/>
          <a:p>
            <a:pPr marL="0" marR="0" lvl="0" indent="0" algn="l" rtl="0">
              <a:lnSpc>
                <a:spcPct val="85000"/>
              </a:lnSpc>
              <a:spcBef>
                <a:spcPts val="0"/>
              </a:spcBef>
              <a:spcAft>
                <a:spcPts val="0"/>
              </a:spcAft>
              <a:buClr>
                <a:srgbClr val="16334F"/>
              </a:buClr>
              <a:buSzPts val="1449"/>
              <a:buFont typeface="Calibri"/>
              <a:buNone/>
            </a:pPr>
            <a:r>
              <a:rPr lang="rw-RW" sz="1800" dirty="0">
                <a:solidFill>
                  <a:srgbClr val="16334F"/>
                </a:solidFill>
                <a:latin typeface="Calibri"/>
                <a:ea typeface="Calibri"/>
                <a:cs typeface="Calibri"/>
                <a:sym typeface="Calibri"/>
              </a:rPr>
              <a:t>Ububabare ntabwo ari ikintu cyo kwakira. Tanga amakuru kugira ngo umuganga akwiteho. Ubuvuzi buzira ububabare ni ubuvuzi bwiza.</a:t>
            </a:r>
            <a:endParaRPr sz="1449" dirty="0">
              <a:solidFill>
                <a:schemeClr val="dk1"/>
              </a:solidFill>
              <a:latin typeface="Calibri"/>
              <a:ea typeface="Calibri"/>
              <a:cs typeface="Calibri"/>
              <a:sym typeface="Calibri"/>
            </a:endParaRPr>
          </a:p>
        </p:txBody>
      </p:sp>
      <p:sp>
        <p:nvSpPr>
          <p:cNvPr id="1391" name="Google Shape;1391;p65"/>
          <p:cNvSpPr/>
          <p:nvPr/>
        </p:nvSpPr>
        <p:spPr>
          <a:xfrm>
            <a:off x="4343400" y="3945869"/>
            <a:ext cx="3502152" cy="2310486"/>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92" name="Google Shape;1392;p65"/>
          <p:cNvSpPr/>
          <p:nvPr/>
        </p:nvSpPr>
        <p:spPr>
          <a:xfrm>
            <a:off x="4599432" y="4147037"/>
            <a:ext cx="2990088"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dirty="0">
                <a:solidFill>
                  <a:srgbClr val="0F3D63"/>
                </a:solidFill>
                <a:latin typeface="Cambria"/>
                <a:ea typeface="Cambria"/>
                <a:cs typeface="Cambria"/>
                <a:sym typeface="Cambria"/>
              </a:rPr>
              <a:t>Ibyiyumviro</a:t>
            </a:r>
            <a:endParaRPr sz="2100" dirty="0">
              <a:solidFill>
                <a:schemeClr val="dk1"/>
              </a:solidFill>
              <a:latin typeface="Calibri"/>
              <a:ea typeface="Calibri"/>
              <a:cs typeface="Calibri"/>
              <a:sym typeface="Calibri"/>
            </a:endParaRPr>
          </a:p>
        </p:txBody>
      </p:sp>
      <p:sp>
        <p:nvSpPr>
          <p:cNvPr id="1393" name="Google Shape;1393;p65"/>
          <p:cNvSpPr/>
          <p:nvPr/>
        </p:nvSpPr>
        <p:spPr>
          <a:xfrm>
            <a:off x="4599432" y="4585411"/>
            <a:ext cx="2990088" cy="1670944"/>
          </a:xfrm>
          <a:prstGeom prst="rect">
            <a:avLst/>
          </a:prstGeom>
          <a:noFill/>
          <a:ln>
            <a:noFill/>
          </a:ln>
        </p:spPr>
        <p:txBody>
          <a:bodyPr spcFirstLastPara="1" wrap="square" lIns="0" tIns="0" rIns="0" bIns="0" anchor="t" anchorCtr="0">
            <a:normAutofit/>
          </a:bodyPr>
          <a:lstStyle/>
          <a:p>
            <a:pPr marL="0" marR="0" lvl="0" indent="0" algn="l" rtl="0">
              <a:lnSpc>
                <a:spcPct val="85000"/>
              </a:lnSpc>
              <a:spcBef>
                <a:spcPts val="0"/>
              </a:spcBef>
              <a:spcAft>
                <a:spcPts val="0"/>
              </a:spcAft>
              <a:buClr>
                <a:srgbClr val="16334F"/>
              </a:buClr>
              <a:buSzPts val="1449"/>
              <a:buFont typeface="Calibri"/>
              <a:buNone/>
            </a:pPr>
            <a:r>
              <a:rPr lang="rw-RW" sz="1800" dirty="0">
                <a:solidFill>
                  <a:srgbClr val="16334F"/>
                </a:solidFill>
                <a:latin typeface="Calibri"/>
                <a:ea typeface="Calibri"/>
                <a:cs typeface="Calibri"/>
                <a:sym typeface="Calibri"/>
              </a:rPr>
              <a:t>Ubwoba, agahinda, no guhangayika ni ibintu bisanzwe. Tega amatwi utuje. Bwira umuganga niba umuntu yaheranywe n’agahinda. </a:t>
            </a:r>
            <a:endParaRPr sz="1449" dirty="0">
              <a:solidFill>
                <a:schemeClr val="dk1"/>
              </a:solidFill>
              <a:latin typeface="Calibri"/>
              <a:ea typeface="Calibri"/>
              <a:cs typeface="Calibri"/>
              <a:sym typeface="Calibri"/>
            </a:endParaRPr>
          </a:p>
        </p:txBody>
      </p:sp>
      <p:sp>
        <p:nvSpPr>
          <p:cNvPr id="1394" name="Google Shape;1394;p65"/>
          <p:cNvSpPr/>
          <p:nvPr/>
        </p:nvSpPr>
        <p:spPr>
          <a:xfrm>
            <a:off x="8138160" y="3945869"/>
            <a:ext cx="3502152" cy="2310486"/>
          </a:xfrm>
          <a:prstGeom prst="roundRect">
            <a:avLst>
              <a:gd name="adj" fmla="val 54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95" name="Google Shape;1395;p65"/>
          <p:cNvSpPr/>
          <p:nvPr/>
        </p:nvSpPr>
        <p:spPr>
          <a:xfrm>
            <a:off x="8394192" y="4147037"/>
            <a:ext cx="2990088"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100"/>
              <a:buFont typeface="Cambria"/>
              <a:buNone/>
            </a:pPr>
            <a:r>
              <a:rPr lang="rw-RW" sz="2100" b="1" dirty="0">
                <a:solidFill>
                  <a:srgbClr val="0F3D63"/>
                </a:solidFill>
                <a:latin typeface="Cambria"/>
                <a:ea typeface="Cambria"/>
                <a:cs typeface="Cambria"/>
                <a:sym typeface="Cambria"/>
              </a:rPr>
              <a:t>Umuryango na sosiyete</a:t>
            </a:r>
            <a:endParaRPr sz="2100" dirty="0">
              <a:solidFill>
                <a:schemeClr val="dk1"/>
              </a:solidFill>
              <a:latin typeface="Calibri"/>
              <a:ea typeface="Calibri"/>
              <a:cs typeface="Calibri"/>
              <a:sym typeface="Calibri"/>
            </a:endParaRPr>
          </a:p>
        </p:txBody>
      </p:sp>
      <p:sp>
        <p:nvSpPr>
          <p:cNvPr id="1396" name="Google Shape;1396;p65"/>
          <p:cNvSpPr/>
          <p:nvPr/>
        </p:nvSpPr>
        <p:spPr>
          <a:xfrm>
            <a:off x="8394192" y="4585411"/>
            <a:ext cx="2990088" cy="1670944"/>
          </a:xfrm>
          <a:prstGeom prst="rect">
            <a:avLst/>
          </a:prstGeom>
          <a:noFill/>
          <a:ln>
            <a:noFill/>
          </a:ln>
        </p:spPr>
        <p:txBody>
          <a:bodyPr spcFirstLastPara="1" wrap="square" lIns="0" tIns="0" rIns="0" bIns="0" anchor="t" anchorCtr="0">
            <a:normAutofit/>
          </a:bodyPr>
          <a:lstStyle/>
          <a:p>
            <a:pPr marL="0" marR="0" lvl="0" indent="0" algn="l" rtl="0">
              <a:lnSpc>
                <a:spcPct val="95000"/>
              </a:lnSpc>
              <a:spcBef>
                <a:spcPts val="0"/>
              </a:spcBef>
              <a:spcAft>
                <a:spcPts val="0"/>
              </a:spcAft>
              <a:buClr>
                <a:srgbClr val="16334F"/>
              </a:buClr>
              <a:buSzPts val="1449"/>
              <a:buFont typeface="Calibri"/>
              <a:buNone/>
            </a:pPr>
            <a:r>
              <a:rPr lang="rw-RW" sz="1800" dirty="0">
                <a:solidFill>
                  <a:srgbClr val="16334F"/>
                </a:solidFill>
                <a:latin typeface="Calibri"/>
                <a:ea typeface="Calibri"/>
                <a:cs typeface="Calibri"/>
                <a:sym typeface="Calibri"/>
              </a:rPr>
              <a:t>Gabanya ibihuha no gushinja umuntu. Fasha umuryango kubona impamvu gahunda yo kwa muganga ikomeza nubwo umuntu yaba yumva amerewe neza.</a:t>
            </a:r>
            <a:endParaRPr sz="1449" dirty="0">
              <a:solidFill>
                <a:schemeClr val="dk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01"/>
        <p:cNvGrpSpPr/>
        <p:nvPr/>
      </p:nvGrpSpPr>
      <p:grpSpPr>
        <a:xfrm>
          <a:off x="0" y="0"/>
          <a:ext cx="0" cy="0"/>
          <a:chOff x="0" y="0"/>
          <a:chExt cx="0" cy="0"/>
        </a:xfrm>
      </p:grpSpPr>
      <p:sp>
        <p:nvSpPr>
          <p:cNvPr id="1402" name="Google Shape;1402;p66"/>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5</a:t>
            </a:r>
            <a:endParaRPr sz="1100">
              <a:solidFill>
                <a:schemeClr val="dk1"/>
              </a:solidFill>
              <a:latin typeface="Calibri"/>
              <a:ea typeface="Calibri"/>
              <a:cs typeface="Calibri"/>
              <a:sym typeface="Calibri"/>
            </a:endParaRPr>
          </a:p>
        </p:txBody>
      </p:sp>
      <p:sp>
        <p:nvSpPr>
          <p:cNvPr id="1403" name="Google Shape;1403;p66"/>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dirty="0">
                <a:solidFill>
                  <a:srgbClr val="0F3D63"/>
                </a:solidFill>
                <a:latin typeface="Cambria"/>
                <a:ea typeface="Cambria"/>
                <a:cs typeface="Cambria"/>
                <a:sym typeface="Cambria"/>
              </a:rPr>
              <a:t>Kubaho neza mu gihe cyo kwivuza</a:t>
            </a:r>
            <a:endParaRPr sz="3400" dirty="0">
              <a:solidFill>
                <a:schemeClr val="dk1"/>
              </a:solidFill>
              <a:latin typeface="Calibri"/>
              <a:ea typeface="Calibri"/>
              <a:cs typeface="Calibri"/>
              <a:sym typeface="Calibri"/>
            </a:endParaRPr>
          </a:p>
        </p:txBody>
      </p:sp>
      <p:sp>
        <p:nvSpPr>
          <p:cNvPr id="1404" name="Google Shape;1404;p66"/>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405" name="Google Shape;1405;p66"/>
          <p:cNvSpPr/>
          <p:nvPr/>
        </p:nvSpPr>
        <p:spPr>
          <a:xfrm>
            <a:off x="548640" y="1874520"/>
            <a:ext cx="3502152" cy="3007446"/>
          </a:xfrm>
          <a:prstGeom prst="roundRect">
            <a:avLst>
              <a:gd name="adj" fmla="val 461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06" name="Google Shape;1406;p66"/>
          <p:cNvSpPr/>
          <p:nvPr/>
        </p:nvSpPr>
        <p:spPr>
          <a:xfrm>
            <a:off x="804672" y="2075688"/>
            <a:ext cx="2990088" cy="56692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F3D63"/>
              </a:buClr>
              <a:buSzPts val="1921"/>
              <a:buFont typeface="Cambria"/>
              <a:buNone/>
            </a:pPr>
            <a:r>
              <a:rPr lang="rw-RW" sz="2000" b="1" dirty="0">
                <a:solidFill>
                  <a:srgbClr val="0F3D63"/>
                </a:solidFill>
                <a:latin typeface="Cambria"/>
                <a:ea typeface="Cambria"/>
                <a:cs typeface="Cambria"/>
                <a:sym typeface="Cambria"/>
              </a:rPr>
              <a:t>Kwitabwaho no guhumurizwa ni ukwitabwaho by'ukuri</a:t>
            </a:r>
            <a:endParaRPr sz="2000" dirty="0">
              <a:solidFill>
                <a:schemeClr val="dk1"/>
              </a:solidFill>
              <a:latin typeface="Calibri"/>
              <a:ea typeface="Calibri"/>
              <a:cs typeface="Calibri"/>
              <a:sym typeface="Calibri"/>
            </a:endParaRPr>
          </a:p>
        </p:txBody>
      </p:sp>
      <p:sp>
        <p:nvSpPr>
          <p:cNvPr id="1407" name="Google Shape;1407;p66"/>
          <p:cNvSpPr/>
          <p:nvPr/>
        </p:nvSpPr>
        <p:spPr>
          <a:xfrm>
            <a:off x="804672" y="2971261"/>
            <a:ext cx="2990088" cy="1976030"/>
          </a:xfrm>
          <a:prstGeom prst="rect">
            <a:avLst/>
          </a:prstGeom>
          <a:noFill/>
          <a:ln>
            <a:noFill/>
          </a:ln>
        </p:spPr>
        <p:txBody>
          <a:bodyPr spcFirstLastPara="1" wrap="square" lIns="0" tIns="0" rIns="0" bIns="0" anchor="t" anchorCtr="0">
            <a:normAutofit/>
          </a:bodyPr>
          <a:lstStyle/>
          <a:p>
            <a:pPr marL="0" marR="0" lvl="0" indent="0" algn="l" rtl="0">
              <a:lnSpc>
                <a:spcPct val="105000"/>
              </a:lnSpc>
              <a:spcBef>
                <a:spcPts val="0"/>
              </a:spcBef>
              <a:spcAft>
                <a:spcPts val="0"/>
              </a:spcAft>
              <a:buClr>
                <a:srgbClr val="16334F"/>
              </a:buClr>
              <a:buSzPts val="1566"/>
              <a:buFont typeface="Calibri"/>
              <a:buNone/>
            </a:pPr>
            <a:r>
              <a:rPr lang="rw-RW" sz="1800" dirty="0">
                <a:solidFill>
                  <a:srgbClr val="16334F"/>
                </a:solidFill>
                <a:latin typeface="Calibri"/>
                <a:ea typeface="Calibri"/>
                <a:cs typeface="Calibri"/>
                <a:sym typeface="Calibri"/>
              </a:rPr>
              <a:t>Ubuvuzi bugabanya ububabare n'ibindi bibazo ntibisobanura ko umuntu yaretse kwivuza. Bushobora gutangwa icyarimwe n'ubuvuzi bwa kanseri, igihe icyo ari cyo cyose.</a:t>
            </a:r>
            <a:endParaRPr sz="1566" dirty="0">
              <a:solidFill>
                <a:schemeClr val="dk1"/>
              </a:solidFill>
              <a:latin typeface="Calibri"/>
              <a:ea typeface="Calibri"/>
              <a:cs typeface="Calibri"/>
              <a:sym typeface="Calibri"/>
            </a:endParaRPr>
          </a:p>
        </p:txBody>
      </p:sp>
      <p:sp>
        <p:nvSpPr>
          <p:cNvPr id="1408" name="Google Shape;1408;p66"/>
          <p:cNvSpPr/>
          <p:nvPr/>
        </p:nvSpPr>
        <p:spPr>
          <a:xfrm>
            <a:off x="4343400" y="1874520"/>
            <a:ext cx="3502152" cy="3007446"/>
          </a:xfrm>
          <a:prstGeom prst="roundRect">
            <a:avLst>
              <a:gd name="adj" fmla="val 461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09" name="Google Shape;1409;p66"/>
          <p:cNvSpPr/>
          <p:nvPr/>
        </p:nvSpPr>
        <p:spPr>
          <a:xfrm>
            <a:off x="4599432" y="2075688"/>
            <a:ext cx="2990088"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2079"/>
              <a:buFont typeface="Cambria"/>
              <a:buNone/>
            </a:pPr>
            <a:r>
              <a:rPr lang="rw-RW" sz="2000" b="1" dirty="0">
                <a:solidFill>
                  <a:srgbClr val="0F3D63"/>
                </a:solidFill>
                <a:latin typeface="Cambria"/>
                <a:ea typeface="Cambria"/>
                <a:cs typeface="Cambria"/>
                <a:sym typeface="Cambria"/>
              </a:rPr>
              <a:t>Agaciro k’umuntu ni ingenzi</a:t>
            </a:r>
            <a:endParaRPr sz="2000" dirty="0">
              <a:solidFill>
                <a:schemeClr val="dk1"/>
              </a:solidFill>
              <a:latin typeface="Calibri"/>
              <a:ea typeface="Calibri"/>
              <a:cs typeface="Calibri"/>
              <a:sym typeface="Calibri"/>
            </a:endParaRPr>
          </a:p>
        </p:txBody>
      </p:sp>
      <p:sp>
        <p:nvSpPr>
          <p:cNvPr id="1410" name="Google Shape;1410;p66"/>
          <p:cNvSpPr/>
          <p:nvPr/>
        </p:nvSpPr>
        <p:spPr>
          <a:xfrm>
            <a:off x="4599432" y="2715768"/>
            <a:ext cx="2990088" cy="1976030"/>
          </a:xfrm>
          <a:prstGeom prst="rect">
            <a:avLst/>
          </a:prstGeom>
          <a:noFill/>
          <a:ln>
            <a:noFill/>
          </a:ln>
        </p:spPr>
        <p:txBody>
          <a:bodyPr spcFirstLastPara="1" wrap="square" lIns="0" tIns="0" rIns="0" bIns="0" anchor="t" anchorCtr="0">
            <a:normAutofit/>
          </a:bodyPr>
          <a:lstStyle/>
          <a:p>
            <a:pPr marL="0" marR="0" lvl="0" indent="0" algn="l" rtl="0">
              <a:lnSpc>
                <a:spcPct val="95000"/>
              </a:lnSpc>
              <a:spcBef>
                <a:spcPts val="0"/>
              </a:spcBef>
              <a:spcAft>
                <a:spcPts val="0"/>
              </a:spcAft>
              <a:buClr>
                <a:srgbClr val="16334F"/>
              </a:buClr>
              <a:buSzPts val="1701"/>
              <a:buFont typeface="Calibri"/>
              <a:buNone/>
            </a:pPr>
            <a:r>
              <a:rPr lang="rw-RW" sz="1800" dirty="0">
                <a:solidFill>
                  <a:srgbClr val="16334F"/>
                </a:solidFill>
                <a:latin typeface="Calibri"/>
                <a:ea typeface="Calibri"/>
                <a:cs typeface="Calibri"/>
                <a:sym typeface="Calibri"/>
              </a:rPr>
              <a:t>Baza uwo muntu icyo ashaka. Reka umuntu ahitemo uwo ashaka ko amenyeshwa amakuru ye. Bika amakuru ye mu ibanga.</a:t>
            </a:r>
            <a:endParaRPr sz="1701" dirty="0">
              <a:solidFill>
                <a:schemeClr val="dk1"/>
              </a:solidFill>
              <a:latin typeface="Calibri"/>
              <a:ea typeface="Calibri"/>
              <a:cs typeface="Calibri"/>
              <a:sym typeface="Calibri"/>
            </a:endParaRPr>
          </a:p>
        </p:txBody>
      </p:sp>
      <p:sp>
        <p:nvSpPr>
          <p:cNvPr id="1411" name="Google Shape;1411;p66"/>
          <p:cNvSpPr/>
          <p:nvPr/>
        </p:nvSpPr>
        <p:spPr>
          <a:xfrm>
            <a:off x="8138160" y="1874520"/>
            <a:ext cx="3502152" cy="3007446"/>
          </a:xfrm>
          <a:prstGeom prst="roundRect">
            <a:avLst>
              <a:gd name="adj" fmla="val 461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12" name="Google Shape;1412;p66"/>
          <p:cNvSpPr/>
          <p:nvPr/>
        </p:nvSpPr>
        <p:spPr>
          <a:xfrm>
            <a:off x="8394192" y="2075688"/>
            <a:ext cx="2990088" cy="566928"/>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2079"/>
              <a:buFont typeface="Cambria"/>
              <a:buNone/>
            </a:pPr>
            <a:r>
              <a:rPr lang="rw-RW" sz="2000" b="1" dirty="0">
                <a:solidFill>
                  <a:srgbClr val="0F3D63"/>
                </a:solidFill>
                <a:latin typeface="Cambria"/>
                <a:ea typeface="Cambria"/>
                <a:cs typeface="Cambria"/>
                <a:sym typeface="Cambria"/>
              </a:rPr>
              <a:t>Komeza gahunda</a:t>
            </a:r>
            <a:endParaRPr sz="2000" dirty="0">
              <a:solidFill>
                <a:schemeClr val="dk1"/>
              </a:solidFill>
              <a:latin typeface="Calibri"/>
              <a:ea typeface="Calibri"/>
              <a:cs typeface="Calibri"/>
              <a:sym typeface="Calibri"/>
            </a:endParaRPr>
          </a:p>
        </p:txBody>
      </p:sp>
      <p:sp>
        <p:nvSpPr>
          <p:cNvPr id="1413" name="Google Shape;1413;p66"/>
          <p:cNvSpPr/>
          <p:nvPr/>
        </p:nvSpPr>
        <p:spPr>
          <a:xfrm>
            <a:off x="8394192" y="2551956"/>
            <a:ext cx="2990088" cy="2166198"/>
          </a:xfrm>
          <a:prstGeom prst="rect">
            <a:avLst/>
          </a:prstGeom>
          <a:noFill/>
          <a:ln>
            <a:noFill/>
          </a:ln>
        </p:spPr>
        <p:txBody>
          <a:bodyPr spcFirstLastPara="1" wrap="square" lIns="0" tIns="0" rIns="0" bIns="0" anchor="t" anchorCtr="0">
            <a:normAutofit/>
          </a:bodyPr>
          <a:lstStyle/>
          <a:p>
            <a:pPr marL="0" marR="0" lvl="0" indent="0" algn="l" rtl="0">
              <a:lnSpc>
                <a:spcPct val="95000"/>
              </a:lnSpc>
              <a:spcBef>
                <a:spcPts val="0"/>
              </a:spcBef>
              <a:spcAft>
                <a:spcPts val="0"/>
              </a:spcAft>
              <a:buClr>
                <a:srgbClr val="16334F"/>
              </a:buClr>
              <a:buSzPts val="1701"/>
              <a:buFont typeface="Calibri"/>
              <a:buNone/>
            </a:pPr>
            <a:r>
              <a:rPr lang="rw-RW" sz="1800" dirty="0">
                <a:solidFill>
                  <a:srgbClr val="16334F"/>
                </a:solidFill>
                <a:latin typeface="Calibri"/>
                <a:ea typeface="Calibri"/>
                <a:cs typeface="Calibri"/>
                <a:sym typeface="Calibri"/>
              </a:rPr>
              <a:t>Shishikariza umuntu kubahiriza gahunda yo kwa muganga, kabone niyo yaba yumva yorohewe. Guhagarara ubuvuzi hakiri kare bishobora gukuraho inyungu z'ubuvuzi.</a:t>
            </a:r>
            <a:endParaRPr sz="1701" dirty="0">
              <a:solidFill>
                <a:schemeClr val="dk1"/>
              </a:solidFill>
              <a:latin typeface="Calibri"/>
              <a:ea typeface="Calibri"/>
              <a:cs typeface="Calibri"/>
              <a:sym typeface="Calibri"/>
            </a:endParaRPr>
          </a:p>
        </p:txBody>
      </p:sp>
      <p:sp>
        <p:nvSpPr>
          <p:cNvPr id="1414" name="Google Shape;1414;p66"/>
          <p:cNvSpPr/>
          <p:nvPr/>
        </p:nvSpPr>
        <p:spPr>
          <a:xfrm>
            <a:off x="548640" y="5194255"/>
            <a:ext cx="11091672" cy="658368"/>
          </a:xfrm>
          <a:prstGeom prst="roundRect">
            <a:avLst>
              <a:gd name="adj" fmla="val 13889"/>
            </a:avLst>
          </a:prstGeom>
          <a:solidFill>
            <a:srgbClr val="FDF6E3"/>
          </a:solidFill>
          <a:ln w="12700" cap="flat" cmpd="sng">
            <a:solidFill>
              <a:srgbClr val="EFD9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415" name="Google Shape;1415;p66"/>
          <p:cNvSpPr/>
          <p:nvPr/>
        </p:nvSpPr>
        <p:spPr>
          <a:xfrm>
            <a:off x="777240" y="5267407"/>
            <a:ext cx="10634472" cy="512064"/>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9C6500"/>
              </a:buClr>
              <a:buSzPts val="1737"/>
              <a:buFont typeface="Calibri"/>
              <a:buNone/>
            </a:pPr>
            <a:r>
              <a:rPr lang="rw-RW" sz="1800" dirty="0">
                <a:solidFill>
                  <a:srgbClr val="9C6500"/>
                </a:solidFill>
                <a:latin typeface="Calibri"/>
                <a:ea typeface="Calibri"/>
                <a:cs typeface="Calibri"/>
                <a:sym typeface="Calibri"/>
              </a:rPr>
              <a:t>📌 Bwira imiryango ibi: Ubuvuzi bugabanya ububabare n'ibindi bimenyetso bushobora gutangwa hamwe n'ubuvuzi bwa kanseri, ntibugenewe gusa iminsi ya nyuma y'ubuzima.</a:t>
            </a:r>
            <a:endParaRPr sz="1737" dirty="0">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20"/>
        <p:cNvGrpSpPr/>
        <p:nvPr/>
      </p:nvGrpSpPr>
      <p:grpSpPr>
        <a:xfrm>
          <a:off x="0" y="0"/>
          <a:ext cx="0" cy="0"/>
          <a:chOff x="0" y="0"/>
          <a:chExt cx="0" cy="0"/>
        </a:xfrm>
      </p:grpSpPr>
      <p:sp>
        <p:nvSpPr>
          <p:cNvPr id="1421" name="Google Shape;1421;p67"/>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5</a:t>
            </a:r>
            <a:endParaRPr sz="1100">
              <a:solidFill>
                <a:schemeClr val="dk1"/>
              </a:solidFill>
              <a:latin typeface="Calibri"/>
              <a:ea typeface="Calibri"/>
              <a:cs typeface="Calibri"/>
              <a:sym typeface="Calibri"/>
            </a:endParaRPr>
          </a:p>
        </p:txBody>
      </p:sp>
      <p:sp>
        <p:nvSpPr>
          <p:cNvPr id="1422" name="Google Shape;1422;p67"/>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dirty="0">
                <a:solidFill>
                  <a:srgbClr val="0F3D63"/>
                </a:solidFill>
                <a:latin typeface="Cambria"/>
                <a:ea typeface="Cambria"/>
                <a:cs typeface="Cambria"/>
                <a:sym typeface="Cambria"/>
              </a:rPr>
              <a:t>Ibyabaye kuri Emmanuel</a:t>
            </a:r>
            <a:endParaRPr sz="3400" dirty="0">
              <a:solidFill>
                <a:schemeClr val="dk1"/>
              </a:solidFill>
              <a:latin typeface="Calibri"/>
              <a:ea typeface="Calibri"/>
              <a:cs typeface="Calibri"/>
              <a:sym typeface="Calibri"/>
            </a:endParaRPr>
          </a:p>
        </p:txBody>
      </p:sp>
      <p:sp>
        <p:nvSpPr>
          <p:cNvPr id="1423" name="Google Shape;1423;p67"/>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42"/>
        <p:cNvGrpSpPr/>
        <p:nvPr/>
      </p:nvGrpSpPr>
      <p:grpSpPr>
        <a:xfrm>
          <a:off x="0" y="0"/>
          <a:ext cx="0" cy="0"/>
          <a:chOff x="0" y="0"/>
          <a:chExt cx="0" cy="0"/>
        </a:xfrm>
      </p:grpSpPr>
      <p:sp>
        <p:nvSpPr>
          <p:cNvPr id="1443" name="Google Shape;1443;p68"/>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5</a:t>
            </a:r>
            <a:endParaRPr sz="1100">
              <a:solidFill>
                <a:schemeClr val="dk1"/>
              </a:solidFill>
              <a:latin typeface="Calibri"/>
              <a:ea typeface="Calibri"/>
              <a:cs typeface="Calibri"/>
              <a:sym typeface="Calibri"/>
            </a:endParaRPr>
          </a:p>
        </p:txBody>
      </p:sp>
      <p:sp>
        <p:nvSpPr>
          <p:cNvPr id="1444" name="Google Shape;1444;p68"/>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dirty="0">
                <a:solidFill>
                  <a:srgbClr val="0F3D63"/>
                </a:solidFill>
                <a:latin typeface="Cambria"/>
                <a:ea typeface="Cambria"/>
                <a:cs typeface="Calibri"/>
                <a:sym typeface="Cambria"/>
              </a:rPr>
              <a:t>Umukoro ngiro</a:t>
            </a:r>
            <a:endParaRPr sz="3400" dirty="0">
              <a:solidFill>
                <a:schemeClr val="dk1"/>
              </a:solidFill>
              <a:latin typeface="Calibri"/>
              <a:ea typeface="Calibri"/>
              <a:cs typeface="Calibri"/>
              <a:sym typeface="Calibri"/>
            </a:endParaRPr>
          </a:p>
        </p:txBody>
      </p:sp>
      <p:sp>
        <p:nvSpPr>
          <p:cNvPr id="1445" name="Google Shape;1445;p68"/>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446" name="Google Shape;1446;p68"/>
          <p:cNvSpPr/>
          <p:nvPr/>
        </p:nvSpPr>
        <p:spPr>
          <a:xfrm>
            <a:off x="548640" y="1600200"/>
            <a:ext cx="6400800" cy="1234440"/>
          </a:xfrm>
          <a:prstGeom prst="roundRect">
            <a:avLst>
              <a:gd name="adj" fmla="val 7407"/>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447" name="Google Shape;1447;p68"/>
          <p:cNvSpPr/>
          <p:nvPr/>
        </p:nvSpPr>
        <p:spPr>
          <a:xfrm>
            <a:off x="777240" y="1691640"/>
            <a:ext cx="5943600" cy="105156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272B8"/>
              </a:buClr>
              <a:buSzPts val="1800"/>
              <a:buFont typeface="Calibri"/>
              <a:buNone/>
            </a:pPr>
            <a:r>
              <a:rPr lang="rw-RW" sz="1800" b="1" dirty="0">
                <a:solidFill>
                  <a:srgbClr val="2272B8"/>
                </a:solidFill>
                <a:latin typeface="Calibri"/>
                <a:ea typeface="Calibri"/>
                <a:cs typeface="Calibri"/>
                <a:sym typeface="Calibri"/>
              </a:rPr>
              <a:t>Agakino: Umugore </a:t>
            </a:r>
            <a:r>
              <a:rPr lang="rw-RW" sz="1800" dirty="0">
                <a:solidFill>
                  <a:srgbClr val="16334F"/>
                </a:solidFill>
                <a:latin typeface="Calibri"/>
                <a:ea typeface="Calibri"/>
                <a:cs typeface="Calibri"/>
                <a:sym typeface="Calibri"/>
              </a:rPr>
              <a:t>ufata imiti ya kanseri akubwiye ko yarutse amaraso muri iki gitondo, yumva afite intege nke, kandi agira isereri iyo ahagurutse.</a:t>
            </a:r>
            <a:endParaRPr sz="1800" dirty="0">
              <a:solidFill>
                <a:schemeClr val="dk1"/>
              </a:solidFill>
              <a:latin typeface="Calibri"/>
              <a:ea typeface="Calibri"/>
              <a:cs typeface="Calibri"/>
              <a:sym typeface="Calibri"/>
            </a:endParaRPr>
          </a:p>
        </p:txBody>
      </p:sp>
      <p:sp>
        <p:nvSpPr>
          <p:cNvPr id="1448" name="Google Shape;1448;p68"/>
          <p:cNvSpPr/>
          <p:nvPr/>
        </p:nvSpPr>
        <p:spPr>
          <a:xfrm>
            <a:off x="548640" y="2999232"/>
            <a:ext cx="64008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400"/>
              <a:buFont typeface="Cambria"/>
              <a:buNone/>
            </a:pPr>
            <a:r>
              <a:rPr lang="rw-RW" sz="2400" b="1" dirty="0">
                <a:solidFill>
                  <a:srgbClr val="0F3D63"/>
                </a:solidFill>
                <a:latin typeface="Cambria"/>
                <a:ea typeface="Cambria"/>
                <a:cs typeface="Cambria"/>
                <a:sym typeface="Cambria"/>
              </a:rPr>
              <a:t>Ni ikihe kintu cyo kwibandaho?</a:t>
            </a:r>
            <a:endParaRPr sz="2400" dirty="0">
              <a:solidFill>
                <a:schemeClr val="dk1"/>
              </a:solidFill>
              <a:latin typeface="Calibri"/>
              <a:ea typeface="Calibri"/>
              <a:cs typeface="Calibri"/>
              <a:sym typeface="Calibri"/>
            </a:endParaRPr>
          </a:p>
        </p:txBody>
      </p:sp>
      <p:sp>
        <p:nvSpPr>
          <p:cNvPr id="1449" name="Google Shape;1449;p68"/>
          <p:cNvSpPr/>
          <p:nvPr/>
        </p:nvSpPr>
        <p:spPr>
          <a:xfrm>
            <a:off x="548640" y="3493008"/>
            <a:ext cx="6400800" cy="566928"/>
          </a:xfrm>
          <a:prstGeom prst="roundRect">
            <a:avLst>
              <a:gd name="adj" fmla="val 12903"/>
            </a:avLst>
          </a:prstGeom>
          <a:solidFill>
            <a:srgbClr val="FFFFFF"/>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450" name="Google Shape;1450;p68"/>
          <p:cNvSpPr/>
          <p:nvPr/>
        </p:nvSpPr>
        <p:spPr>
          <a:xfrm>
            <a:off x="685800" y="3611880"/>
            <a:ext cx="329184" cy="329184"/>
          </a:xfrm>
          <a:prstGeom prst="ellipse">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451" name="Google Shape;1451;p68"/>
          <p:cNvSpPr/>
          <p:nvPr/>
        </p:nvSpPr>
        <p:spPr>
          <a:xfrm>
            <a:off x="685800" y="3611880"/>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rw-RW" sz="1400" b="1">
                <a:solidFill>
                  <a:srgbClr val="FFFFFF"/>
                </a:solidFill>
                <a:latin typeface="Calibri"/>
                <a:ea typeface="Calibri"/>
                <a:cs typeface="Calibri"/>
                <a:sym typeface="Calibri"/>
              </a:rPr>
              <a:t>A</a:t>
            </a:r>
            <a:endParaRPr sz="1400">
              <a:solidFill>
                <a:schemeClr val="dk1"/>
              </a:solidFill>
              <a:latin typeface="Calibri"/>
              <a:ea typeface="Calibri"/>
              <a:cs typeface="Calibri"/>
              <a:sym typeface="Calibri"/>
            </a:endParaRPr>
          </a:p>
        </p:txBody>
      </p:sp>
      <p:sp>
        <p:nvSpPr>
          <p:cNvPr id="1452" name="Google Shape;1452;p68"/>
          <p:cNvSpPr/>
          <p:nvPr/>
        </p:nvSpPr>
        <p:spPr>
          <a:xfrm>
            <a:off x="1133856" y="3529584"/>
            <a:ext cx="5669280" cy="493776"/>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16334F"/>
              </a:buClr>
              <a:buSzPts val="1683"/>
              <a:buFont typeface="Calibri"/>
              <a:buNone/>
            </a:pPr>
            <a:r>
              <a:rPr lang="rw-RW" sz="1800" dirty="0">
                <a:solidFill>
                  <a:srgbClr val="16334F"/>
                </a:solidFill>
                <a:latin typeface="Calibri"/>
                <a:ea typeface="Calibri"/>
                <a:cs typeface="Calibri"/>
                <a:sym typeface="Calibri"/>
              </a:rPr>
              <a:t>Mubwire kuruhuka, hanyuma yumva uko azaba ameze icyumweru gitaha.</a:t>
            </a:r>
            <a:endParaRPr sz="1683" dirty="0">
              <a:solidFill>
                <a:schemeClr val="dk1"/>
              </a:solidFill>
              <a:latin typeface="Calibri"/>
              <a:ea typeface="Calibri"/>
              <a:cs typeface="Calibri"/>
              <a:sym typeface="Calibri"/>
            </a:endParaRPr>
          </a:p>
        </p:txBody>
      </p:sp>
      <p:sp>
        <p:nvSpPr>
          <p:cNvPr id="1453" name="Google Shape;1453;p68"/>
          <p:cNvSpPr/>
          <p:nvPr/>
        </p:nvSpPr>
        <p:spPr>
          <a:xfrm>
            <a:off x="548640" y="4151376"/>
            <a:ext cx="6400800" cy="566928"/>
          </a:xfrm>
          <a:prstGeom prst="roundRect">
            <a:avLst>
              <a:gd name="adj" fmla="val 12903"/>
            </a:avLst>
          </a:prstGeom>
          <a:solidFill>
            <a:srgbClr val="E9F5EE"/>
          </a:solidFill>
          <a:ln w="19050" cap="flat" cmpd="sng">
            <a:solidFill>
              <a:srgbClr val="1B7A4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454" name="Google Shape;1454;p68"/>
          <p:cNvSpPr/>
          <p:nvPr/>
        </p:nvSpPr>
        <p:spPr>
          <a:xfrm>
            <a:off x="685800" y="4270248"/>
            <a:ext cx="329184" cy="329184"/>
          </a:xfrm>
          <a:prstGeom prst="ellipse">
            <a:avLst/>
          </a:prstGeom>
          <a:solidFill>
            <a:srgbClr val="1B7A4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455" name="Google Shape;1455;p68"/>
          <p:cNvSpPr/>
          <p:nvPr/>
        </p:nvSpPr>
        <p:spPr>
          <a:xfrm>
            <a:off x="685800" y="4270248"/>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rw-RW" sz="1400" b="1">
                <a:solidFill>
                  <a:srgbClr val="FFFFFF"/>
                </a:solidFill>
                <a:latin typeface="Calibri"/>
                <a:ea typeface="Calibri"/>
                <a:cs typeface="Calibri"/>
                <a:sym typeface="Calibri"/>
              </a:rPr>
              <a:t>B</a:t>
            </a:r>
            <a:endParaRPr sz="1400">
              <a:solidFill>
                <a:schemeClr val="dk1"/>
              </a:solidFill>
              <a:latin typeface="Calibri"/>
              <a:ea typeface="Calibri"/>
              <a:cs typeface="Calibri"/>
              <a:sym typeface="Calibri"/>
            </a:endParaRPr>
          </a:p>
        </p:txBody>
      </p:sp>
      <p:sp>
        <p:nvSpPr>
          <p:cNvPr id="1456" name="Google Shape;1456;p68"/>
          <p:cNvSpPr/>
          <p:nvPr/>
        </p:nvSpPr>
        <p:spPr>
          <a:xfrm>
            <a:off x="1133856" y="4187952"/>
            <a:ext cx="5669280" cy="493776"/>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1B7A46"/>
              </a:buClr>
              <a:buSzPts val="1665"/>
              <a:buFont typeface="Calibri"/>
              <a:buNone/>
            </a:pPr>
            <a:r>
              <a:rPr lang="rw-RW" sz="1800" b="1" dirty="0">
                <a:solidFill>
                  <a:srgbClr val="1B7A46"/>
                </a:solidFill>
                <a:latin typeface="Calibri"/>
                <a:ea typeface="Calibri"/>
                <a:cs typeface="Calibri"/>
                <a:sym typeface="Calibri"/>
              </a:rPr>
              <a:t>Mufashe guhabwa ubuvuzi uwo munsi kandi ubwire umuganga ibyo wabonye.</a:t>
            </a:r>
            <a:endParaRPr sz="1665" dirty="0">
              <a:solidFill>
                <a:schemeClr val="dk1"/>
              </a:solidFill>
              <a:latin typeface="Calibri"/>
              <a:ea typeface="Calibri"/>
              <a:cs typeface="Calibri"/>
              <a:sym typeface="Calibri"/>
            </a:endParaRPr>
          </a:p>
        </p:txBody>
      </p:sp>
      <p:sp>
        <p:nvSpPr>
          <p:cNvPr id="1457" name="Google Shape;1457;p68"/>
          <p:cNvSpPr/>
          <p:nvPr/>
        </p:nvSpPr>
        <p:spPr>
          <a:xfrm>
            <a:off x="548640" y="4809744"/>
            <a:ext cx="6400800" cy="566928"/>
          </a:xfrm>
          <a:prstGeom prst="roundRect">
            <a:avLst>
              <a:gd name="adj" fmla="val 12903"/>
            </a:avLst>
          </a:prstGeom>
          <a:solidFill>
            <a:srgbClr val="FFFFFF"/>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458" name="Google Shape;1458;p68"/>
          <p:cNvSpPr/>
          <p:nvPr/>
        </p:nvSpPr>
        <p:spPr>
          <a:xfrm>
            <a:off x="685800" y="4928616"/>
            <a:ext cx="329184" cy="329184"/>
          </a:xfrm>
          <a:prstGeom prst="ellipse">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459" name="Google Shape;1459;p68"/>
          <p:cNvSpPr/>
          <p:nvPr/>
        </p:nvSpPr>
        <p:spPr>
          <a:xfrm>
            <a:off x="685800" y="4928616"/>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rw-RW" sz="1400" b="1">
                <a:solidFill>
                  <a:srgbClr val="FFFFFF"/>
                </a:solidFill>
                <a:latin typeface="Calibri"/>
                <a:ea typeface="Calibri"/>
                <a:cs typeface="Calibri"/>
                <a:sym typeface="Calibri"/>
              </a:rPr>
              <a:t>C</a:t>
            </a:r>
            <a:endParaRPr sz="1400">
              <a:solidFill>
                <a:schemeClr val="dk1"/>
              </a:solidFill>
              <a:latin typeface="Calibri"/>
              <a:ea typeface="Calibri"/>
              <a:cs typeface="Calibri"/>
              <a:sym typeface="Calibri"/>
            </a:endParaRPr>
          </a:p>
        </p:txBody>
      </p:sp>
      <p:sp>
        <p:nvSpPr>
          <p:cNvPr id="1460" name="Google Shape;1460;p68"/>
          <p:cNvSpPr/>
          <p:nvPr/>
        </p:nvSpPr>
        <p:spPr>
          <a:xfrm>
            <a:off x="1133856" y="4846320"/>
            <a:ext cx="5669280" cy="493776"/>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83"/>
              <a:buFont typeface="Calibri"/>
              <a:buNone/>
            </a:pPr>
            <a:r>
              <a:rPr lang="rw-RW" sz="1800">
                <a:solidFill>
                  <a:srgbClr val="16334F"/>
                </a:solidFill>
                <a:latin typeface="Calibri"/>
                <a:ea typeface="Calibri"/>
                <a:cs typeface="Calibri"/>
                <a:sym typeface="Calibri"/>
              </a:rPr>
              <a:t>Mugire inama yo kunywa amazi menshi gusa</a:t>
            </a:r>
            <a:endParaRPr sz="1683">
              <a:solidFill>
                <a:schemeClr val="dk1"/>
              </a:solidFill>
              <a:latin typeface="Calibri"/>
              <a:ea typeface="Calibri"/>
              <a:cs typeface="Calibri"/>
              <a:sym typeface="Calibri"/>
            </a:endParaRPr>
          </a:p>
        </p:txBody>
      </p:sp>
      <p:sp>
        <p:nvSpPr>
          <p:cNvPr id="1461" name="Google Shape;1461;p68"/>
          <p:cNvSpPr/>
          <p:nvPr/>
        </p:nvSpPr>
        <p:spPr>
          <a:xfrm>
            <a:off x="548640" y="5468112"/>
            <a:ext cx="6400800" cy="566928"/>
          </a:xfrm>
          <a:prstGeom prst="roundRect">
            <a:avLst>
              <a:gd name="adj" fmla="val 12903"/>
            </a:avLst>
          </a:prstGeom>
          <a:solidFill>
            <a:srgbClr val="FFFFFF"/>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462" name="Google Shape;1462;p68"/>
          <p:cNvSpPr/>
          <p:nvPr/>
        </p:nvSpPr>
        <p:spPr>
          <a:xfrm>
            <a:off x="685800" y="5586984"/>
            <a:ext cx="329184" cy="329184"/>
          </a:xfrm>
          <a:prstGeom prst="ellipse">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463" name="Google Shape;1463;p68"/>
          <p:cNvSpPr/>
          <p:nvPr/>
        </p:nvSpPr>
        <p:spPr>
          <a:xfrm>
            <a:off x="685800" y="5586984"/>
            <a:ext cx="329184"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rw-RW" sz="1400" b="1">
                <a:solidFill>
                  <a:srgbClr val="FFFFFF"/>
                </a:solidFill>
                <a:latin typeface="Calibri"/>
                <a:ea typeface="Calibri"/>
                <a:cs typeface="Calibri"/>
                <a:sym typeface="Calibri"/>
              </a:rPr>
              <a:t>D</a:t>
            </a:r>
            <a:endParaRPr sz="1400">
              <a:solidFill>
                <a:schemeClr val="dk1"/>
              </a:solidFill>
              <a:latin typeface="Calibri"/>
              <a:ea typeface="Calibri"/>
              <a:cs typeface="Calibri"/>
              <a:sym typeface="Calibri"/>
            </a:endParaRPr>
          </a:p>
        </p:txBody>
      </p:sp>
      <p:sp>
        <p:nvSpPr>
          <p:cNvPr id="1464" name="Google Shape;1464;p68"/>
          <p:cNvSpPr/>
          <p:nvPr/>
        </p:nvSpPr>
        <p:spPr>
          <a:xfrm>
            <a:off x="1133856" y="5504688"/>
            <a:ext cx="5669280" cy="493776"/>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83"/>
              <a:buFont typeface="Calibri"/>
              <a:buNone/>
            </a:pPr>
            <a:r>
              <a:rPr lang="rw-RW" sz="1800" dirty="0">
                <a:solidFill>
                  <a:srgbClr val="16334F"/>
                </a:solidFill>
                <a:latin typeface="Calibri"/>
                <a:ea typeface="Calibri"/>
                <a:cs typeface="Calibri"/>
                <a:sym typeface="Calibri"/>
              </a:rPr>
              <a:t>Mubwire ko ari ibisanzwe mu gihe umuntu afata imiti</a:t>
            </a:r>
            <a:endParaRPr sz="1683" dirty="0">
              <a:solidFill>
                <a:schemeClr val="dk1"/>
              </a:solidFill>
              <a:latin typeface="Calibri"/>
              <a:ea typeface="Calibri"/>
              <a:cs typeface="Calibri"/>
              <a:sym typeface="Calibri"/>
            </a:endParaRPr>
          </a:p>
        </p:txBody>
      </p:sp>
      <p:sp>
        <p:nvSpPr>
          <p:cNvPr id="1465" name="Google Shape;1465;p68"/>
          <p:cNvSpPr/>
          <p:nvPr/>
        </p:nvSpPr>
        <p:spPr>
          <a:xfrm>
            <a:off x="7269480" y="1600200"/>
            <a:ext cx="4370832" cy="3429000"/>
          </a:xfrm>
          <a:prstGeom prst="roundRect">
            <a:avLst>
              <a:gd name="adj" fmla="val 2667"/>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466" name="Google Shape;1466;p68"/>
          <p:cNvSpPr/>
          <p:nvPr/>
        </p:nvSpPr>
        <p:spPr>
          <a:xfrm>
            <a:off x="7516368" y="1755648"/>
            <a:ext cx="3877056" cy="365760"/>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B7A46"/>
              </a:buClr>
              <a:buSzPts val="2280"/>
              <a:buFont typeface="Cambria"/>
              <a:buNone/>
            </a:pPr>
            <a:r>
              <a:rPr lang="rw-RW" sz="2400" b="1">
                <a:solidFill>
                  <a:srgbClr val="1B7A46"/>
                </a:solidFill>
                <a:latin typeface="Cambria"/>
                <a:ea typeface="Cambria"/>
                <a:cs typeface="Cambria"/>
                <a:sym typeface="Cambria"/>
              </a:rPr>
              <a:t>Igisubizo cyiza: B</a:t>
            </a:r>
            <a:endParaRPr sz="2280">
              <a:solidFill>
                <a:schemeClr val="dk1"/>
              </a:solidFill>
              <a:latin typeface="Calibri"/>
              <a:ea typeface="Calibri"/>
              <a:cs typeface="Calibri"/>
              <a:sym typeface="Calibri"/>
            </a:endParaRPr>
          </a:p>
        </p:txBody>
      </p:sp>
      <p:sp>
        <p:nvSpPr>
          <p:cNvPr id="1467" name="Google Shape;1467;p68"/>
          <p:cNvSpPr/>
          <p:nvPr/>
        </p:nvSpPr>
        <p:spPr>
          <a:xfrm>
            <a:off x="7516368" y="2212848"/>
            <a:ext cx="3877056" cy="265176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F3D63"/>
              </a:buClr>
              <a:buSzPts val="1800"/>
              <a:buFont typeface="Calibri"/>
              <a:buNone/>
            </a:pPr>
            <a:r>
              <a:rPr lang="rw-RW" sz="1800" b="1" dirty="0">
                <a:solidFill>
                  <a:srgbClr val="0F3D63"/>
                </a:solidFill>
                <a:latin typeface="Calibri"/>
                <a:ea typeface="Calibri"/>
                <a:cs typeface="Calibri"/>
                <a:sym typeface="Calibri"/>
              </a:rPr>
              <a:t>Kuruka amaraso hamwe n'intege nke no kugira isereri mu gihe uhagaze byerekana gutakaza amaraso menshi. Iki ni ikibazo cyihutirwa. Tegura uko agera ku ivuriro, ujyane na we aho bishoboka, kandi usobanurire muganga neza ibyo wabonye.</a:t>
            </a:r>
            <a:endParaRPr sz="1800" dirty="0">
              <a:solidFill>
                <a:schemeClr val="dk1"/>
              </a:solidFill>
              <a:latin typeface="Calibri"/>
              <a:ea typeface="Calibri"/>
              <a:cs typeface="Calibri"/>
              <a:sym typeface="Calibri"/>
            </a:endParaRPr>
          </a:p>
        </p:txBody>
      </p:sp>
      <p:sp>
        <p:nvSpPr>
          <p:cNvPr id="1468" name="Google Shape;1468;p68"/>
          <p:cNvSpPr/>
          <p:nvPr/>
        </p:nvSpPr>
        <p:spPr>
          <a:xfrm>
            <a:off x="7516368" y="5175504"/>
            <a:ext cx="3877056" cy="9144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05000"/>
              </a:lnSpc>
              <a:spcBef>
                <a:spcPts val="0"/>
              </a:spcBef>
              <a:spcAft>
                <a:spcPts val="0"/>
              </a:spcAft>
              <a:buClr>
                <a:srgbClr val="B3261E"/>
              </a:buClr>
              <a:buSzPts val="1472"/>
              <a:buFont typeface="Calibri"/>
              <a:buNone/>
            </a:pPr>
            <a:r>
              <a:rPr lang="rw-RW" sz="1600" b="1">
                <a:solidFill>
                  <a:srgbClr val="B3261E"/>
                </a:solidFill>
                <a:latin typeface="Calibri"/>
                <a:ea typeface="Calibri"/>
                <a:cs typeface="Calibri"/>
                <a:sym typeface="Calibri"/>
              </a:rPr>
              <a:t>Niba umunyeshuri ahisemo D: </a:t>
            </a:r>
            <a:r>
              <a:rPr lang="rw-RW" sz="1600">
                <a:solidFill>
                  <a:srgbClr val="B3261E"/>
                </a:solidFill>
                <a:latin typeface="Calibri"/>
                <a:ea typeface="Calibri"/>
                <a:cs typeface="Calibri"/>
                <a:sym typeface="Calibri"/>
              </a:rPr>
              <a:t>Kwita ibi bisanzwe si byiza. Kuva amaraso ntabwo ari igice cyitezwe cy'ubuvuzi kandi kigomba gusuzumwa uwo munsi.</a:t>
            </a:r>
            <a:endParaRPr sz="1472">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73"/>
        <p:cNvGrpSpPr/>
        <p:nvPr/>
      </p:nvGrpSpPr>
      <p:grpSpPr>
        <a:xfrm>
          <a:off x="0" y="0"/>
          <a:ext cx="0" cy="0"/>
          <a:chOff x="0" y="0"/>
          <a:chExt cx="0" cy="0"/>
        </a:xfrm>
      </p:grpSpPr>
      <p:sp>
        <p:nvSpPr>
          <p:cNvPr id="1474" name="Google Shape;1474;p69"/>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5</a:t>
            </a:r>
            <a:endParaRPr sz="1100">
              <a:solidFill>
                <a:schemeClr val="dk1"/>
              </a:solidFill>
              <a:latin typeface="Calibri"/>
              <a:ea typeface="Calibri"/>
              <a:cs typeface="Calibri"/>
              <a:sym typeface="Calibri"/>
            </a:endParaRPr>
          </a:p>
        </p:txBody>
      </p:sp>
      <p:sp>
        <p:nvSpPr>
          <p:cNvPr id="1475" name="Google Shape;1475;p69"/>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dirty="0">
                <a:solidFill>
                  <a:srgbClr val="0F3D63"/>
                </a:solidFill>
                <a:latin typeface="Cambria"/>
                <a:ea typeface="Cambria"/>
                <a:cs typeface="Cambria"/>
                <a:sym typeface="Cambria"/>
              </a:rPr>
              <a:t>Isuzumabumenyi (1/2)</a:t>
            </a:r>
            <a:endParaRPr sz="3200" dirty="0">
              <a:solidFill>
                <a:schemeClr val="dk1"/>
              </a:solidFill>
              <a:latin typeface="Calibri"/>
              <a:ea typeface="Calibri"/>
              <a:cs typeface="Calibri"/>
              <a:sym typeface="Calibri"/>
            </a:endParaRPr>
          </a:p>
        </p:txBody>
      </p:sp>
      <p:sp>
        <p:nvSpPr>
          <p:cNvPr id="1476" name="Google Shape;1476;p69"/>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477" name="Google Shape;1477;p69"/>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478" name="Google Shape;1478;p69"/>
          <p:cNvSpPr/>
          <p:nvPr/>
        </p:nvSpPr>
        <p:spPr>
          <a:xfrm>
            <a:off x="804672" y="17922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Q1. Ni ikihe kibazo gikeneye kwitabwaho kuri uwo munsi?</a:t>
            </a:r>
            <a:endParaRPr sz="2000" dirty="0">
              <a:solidFill>
                <a:schemeClr val="dk1"/>
              </a:solidFill>
              <a:latin typeface="Calibri"/>
              <a:ea typeface="Calibri"/>
              <a:cs typeface="Calibri"/>
              <a:sym typeface="Calibri"/>
            </a:endParaRPr>
          </a:p>
        </p:txBody>
      </p:sp>
      <p:sp>
        <p:nvSpPr>
          <p:cNvPr id="1479" name="Google Shape;1479;p69"/>
          <p:cNvSpPr/>
          <p:nvPr/>
        </p:nvSpPr>
        <p:spPr>
          <a:xfrm>
            <a:off x="822960" y="22311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a:solidFill>
                  <a:srgbClr val="16334F"/>
                </a:solidFill>
                <a:latin typeface="Calibri"/>
                <a:ea typeface="Calibri"/>
                <a:cs typeface="Calibri"/>
                <a:sym typeface="Calibri"/>
              </a:rPr>
              <a:t>A. </a:t>
            </a:r>
            <a:r>
              <a:rPr lang="rw-RW" sz="1800">
                <a:solidFill>
                  <a:srgbClr val="16334F"/>
                </a:solidFill>
                <a:latin typeface="Calibri"/>
                <a:ea typeface="Calibri"/>
                <a:cs typeface="Calibri"/>
                <a:sym typeface="Calibri"/>
              </a:rPr>
              <a:t>Kumva unaniwe gato</a:t>
            </a:r>
            <a:endParaRPr sz="1800">
              <a:solidFill>
                <a:schemeClr val="dk1"/>
              </a:solidFill>
              <a:latin typeface="Calibri"/>
              <a:ea typeface="Calibri"/>
              <a:cs typeface="Calibri"/>
              <a:sym typeface="Calibri"/>
            </a:endParaRPr>
          </a:p>
        </p:txBody>
      </p:sp>
      <p:sp>
        <p:nvSpPr>
          <p:cNvPr id="1480" name="Google Shape;1480;p69"/>
          <p:cNvSpPr/>
          <p:nvPr/>
        </p:nvSpPr>
        <p:spPr>
          <a:xfrm>
            <a:off x="6172200" y="22311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rw-RW" sz="1800" b="1">
                <a:solidFill>
                  <a:srgbClr val="1B7A46"/>
                </a:solidFill>
                <a:latin typeface="Calibri"/>
                <a:ea typeface="Calibri"/>
                <a:cs typeface="Calibri"/>
                <a:sym typeface="Calibri"/>
              </a:rPr>
              <a:t>B. Kuruka amaraso no kugira intege nke ✓</a:t>
            </a:r>
            <a:endParaRPr sz="1800">
              <a:solidFill>
                <a:schemeClr val="dk1"/>
              </a:solidFill>
              <a:latin typeface="Calibri"/>
              <a:ea typeface="Calibri"/>
              <a:cs typeface="Calibri"/>
              <a:sym typeface="Calibri"/>
            </a:endParaRPr>
          </a:p>
        </p:txBody>
      </p:sp>
      <p:sp>
        <p:nvSpPr>
          <p:cNvPr id="1481" name="Google Shape;1481;p69"/>
          <p:cNvSpPr/>
          <p:nvPr/>
        </p:nvSpPr>
        <p:spPr>
          <a:xfrm>
            <a:off x="822960" y="27066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dirty="0">
                <a:solidFill>
                  <a:srgbClr val="16334F"/>
                </a:solidFill>
                <a:latin typeface="Calibri"/>
                <a:ea typeface="Calibri"/>
                <a:cs typeface="Calibri"/>
                <a:sym typeface="Calibri"/>
              </a:rPr>
              <a:t>C. </a:t>
            </a:r>
            <a:r>
              <a:rPr lang="rw-RW" sz="1800" dirty="0">
                <a:solidFill>
                  <a:srgbClr val="16334F"/>
                </a:solidFill>
                <a:latin typeface="Calibri"/>
                <a:ea typeface="Calibri"/>
                <a:cs typeface="Calibri"/>
                <a:sym typeface="Calibri"/>
              </a:rPr>
              <a:t>Kurya bicye</a:t>
            </a:r>
            <a:endParaRPr sz="1800" dirty="0">
              <a:solidFill>
                <a:schemeClr val="dk1"/>
              </a:solidFill>
              <a:latin typeface="Calibri"/>
              <a:ea typeface="Calibri"/>
              <a:cs typeface="Calibri"/>
              <a:sym typeface="Calibri"/>
            </a:endParaRPr>
          </a:p>
        </p:txBody>
      </p:sp>
      <p:sp>
        <p:nvSpPr>
          <p:cNvPr id="1482" name="Google Shape;1482;p69"/>
          <p:cNvSpPr/>
          <p:nvPr/>
        </p:nvSpPr>
        <p:spPr>
          <a:xfrm>
            <a:off x="6172200" y="27066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Guhitwa rimwe</a:t>
            </a:r>
            <a:endParaRPr sz="1800" dirty="0">
              <a:solidFill>
                <a:schemeClr val="dk1"/>
              </a:solidFill>
              <a:latin typeface="Calibri"/>
              <a:ea typeface="Calibri"/>
              <a:cs typeface="Calibri"/>
              <a:sym typeface="Calibri"/>
            </a:endParaRPr>
          </a:p>
        </p:txBody>
      </p:sp>
      <p:sp>
        <p:nvSpPr>
          <p:cNvPr id="1483" name="Google Shape;1483;p69"/>
          <p:cNvSpPr/>
          <p:nvPr/>
        </p:nvSpPr>
        <p:spPr>
          <a:xfrm>
            <a:off x="822960" y="325526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Ukuri: B. </a:t>
            </a:r>
            <a:r>
              <a:rPr lang="rw-RW" sz="1800" i="1" dirty="0">
                <a:solidFill>
                  <a:srgbClr val="1B7A46"/>
                </a:solidFill>
                <a:latin typeface="Calibri"/>
                <a:ea typeface="Calibri"/>
                <a:cs typeface="Calibri"/>
                <a:sym typeface="Calibri"/>
              </a:rPr>
              <a:t>Kuva amaraso hamwe n'intege nke ni ikibazo cyihutirwa.</a:t>
            </a:r>
            <a:endParaRPr sz="1800" dirty="0">
              <a:solidFill>
                <a:schemeClr val="dk1"/>
              </a:solidFill>
              <a:latin typeface="Calibri"/>
              <a:ea typeface="Calibri"/>
              <a:cs typeface="Calibri"/>
              <a:sym typeface="Calibri"/>
            </a:endParaRPr>
          </a:p>
        </p:txBody>
      </p:sp>
      <p:sp>
        <p:nvSpPr>
          <p:cNvPr id="1484" name="Google Shape;1484;p69"/>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485" name="Google Shape;1485;p69"/>
          <p:cNvSpPr/>
          <p:nvPr/>
        </p:nvSpPr>
        <p:spPr>
          <a:xfrm>
            <a:off x="804672" y="42153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a:solidFill>
                  <a:srgbClr val="0F3D63"/>
                </a:solidFill>
                <a:latin typeface="Calibri"/>
                <a:ea typeface="Calibri"/>
                <a:cs typeface="Calibri"/>
                <a:sym typeface="Calibri"/>
              </a:rPr>
              <a:t>Q2. Nyuma yo kubagwa igifu, uburyo bwiza bwo kurya ni:</a:t>
            </a:r>
            <a:endParaRPr sz="2000">
              <a:solidFill>
                <a:schemeClr val="dk1"/>
              </a:solidFill>
              <a:latin typeface="Calibri"/>
              <a:ea typeface="Calibri"/>
              <a:cs typeface="Calibri"/>
              <a:sym typeface="Calibri"/>
            </a:endParaRPr>
          </a:p>
        </p:txBody>
      </p:sp>
      <p:sp>
        <p:nvSpPr>
          <p:cNvPr id="1486" name="Google Shape;1486;p69"/>
          <p:cNvSpPr/>
          <p:nvPr/>
        </p:nvSpPr>
        <p:spPr>
          <a:xfrm>
            <a:off x="822960" y="46542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a:solidFill>
                  <a:srgbClr val="16334F"/>
                </a:solidFill>
                <a:latin typeface="Calibri"/>
                <a:ea typeface="Calibri"/>
                <a:cs typeface="Calibri"/>
                <a:sym typeface="Calibri"/>
              </a:rPr>
              <a:t>A. </a:t>
            </a:r>
            <a:r>
              <a:rPr lang="rw-RW" sz="1800">
                <a:solidFill>
                  <a:srgbClr val="16334F"/>
                </a:solidFill>
                <a:latin typeface="Calibri"/>
                <a:ea typeface="Calibri"/>
                <a:cs typeface="Calibri"/>
                <a:sym typeface="Calibri"/>
              </a:rPr>
              <a:t>Amafunguro abiri akomeye cyane</a:t>
            </a:r>
            <a:endParaRPr sz="1800">
              <a:solidFill>
                <a:schemeClr val="dk1"/>
              </a:solidFill>
              <a:latin typeface="Calibri"/>
              <a:ea typeface="Calibri"/>
              <a:cs typeface="Calibri"/>
              <a:sym typeface="Calibri"/>
            </a:endParaRPr>
          </a:p>
        </p:txBody>
      </p:sp>
      <p:sp>
        <p:nvSpPr>
          <p:cNvPr id="1487" name="Google Shape;1487;p69"/>
          <p:cNvSpPr/>
          <p:nvPr/>
        </p:nvSpPr>
        <p:spPr>
          <a:xfrm>
            <a:off x="6172200" y="46542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B. Kurya ibiryo bicye, kenshi ✓</a:t>
            </a:r>
            <a:endParaRPr sz="1800" dirty="0">
              <a:solidFill>
                <a:schemeClr val="dk1"/>
              </a:solidFill>
              <a:latin typeface="Calibri"/>
              <a:ea typeface="Calibri"/>
              <a:cs typeface="Calibri"/>
              <a:sym typeface="Calibri"/>
            </a:endParaRPr>
          </a:p>
        </p:txBody>
      </p:sp>
      <p:sp>
        <p:nvSpPr>
          <p:cNvPr id="1488" name="Google Shape;1488;p69"/>
          <p:cNvSpPr/>
          <p:nvPr/>
        </p:nvSpPr>
        <p:spPr>
          <a:xfrm>
            <a:off x="822960" y="51297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a:solidFill>
                  <a:srgbClr val="16334F"/>
                </a:solidFill>
                <a:latin typeface="Calibri"/>
                <a:ea typeface="Calibri"/>
                <a:cs typeface="Calibri"/>
                <a:sym typeface="Calibri"/>
              </a:rPr>
              <a:t>C. </a:t>
            </a:r>
            <a:r>
              <a:rPr lang="rw-RW" sz="1800">
                <a:solidFill>
                  <a:srgbClr val="16334F"/>
                </a:solidFill>
                <a:latin typeface="Calibri"/>
                <a:ea typeface="Calibri"/>
                <a:cs typeface="Calibri"/>
                <a:sym typeface="Calibri"/>
              </a:rPr>
              <a:t>Nta mpinduka na gato</a:t>
            </a:r>
            <a:endParaRPr sz="1800">
              <a:solidFill>
                <a:schemeClr val="dk1"/>
              </a:solidFill>
              <a:latin typeface="Calibri"/>
              <a:ea typeface="Calibri"/>
              <a:cs typeface="Calibri"/>
              <a:sym typeface="Calibri"/>
            </a:endParaRPr>
          </a:p>
        </p:txBody>
      </p:sp>
      <p:sp>
        <p:nvSpPr>
          <p:cNvPr id="1489" name="Google Shape;1489;p69"/>
          <p:cNvSpPr/>
          <p:nvPr/>
        </p:nvSpPr>
        <p:spPr>
          <a:xfrm>
            <a:off x="6172200" y="51297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Kunywa amazi yonyine</a:t>
            </a:r>
            <a:endParaRPr sz="1800" dirty="0">
              <a:solidFill>
                <a:schemeClr val="dk1"/>
              </a:solidFill>
              <a:latin typeface="Calibri"/>
              <a:ea typeface="Calibri"/>
              <a:cs typeface="Calibri"/>
              <a:sym typeface="Calibri"/>
            </a:endParaRPr>
          </a:p>
        </p:txBody>
      </p:sp>
      <p:sp>
        <p:nvSpPr>
          <p:cNvPr id="1490" name="Google Shape;1490;p69"/>
          <p:cNvSpPr/>
          <p:nvPr/>
        </p:nvSpPr>
        <p:spPr>
          <a:xfrm>
            <a:off x="822960" y="567842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Ukuri: B.</a:t>
            </a:r>
            <a:r>
              <a:rPr lang="rw-RW" sz="1800" i="1" dirty="0">
                <a:solidFill>
                  <a:srgbClr val="1B7A46"/>
                </a:solidFill>
                <a:latin typeface="Calibri"/>
                <a:ea typeface="Calibri"/>
                <a:cs typeface="Calibri"/>
                <a:sym typeface="Calibri"/>
              </a:rPr>
              <a:t> Igifu gifata bicye, bityo ibiryo bicye, kenshi bikunze gufasha.</a:t>
            </a:r>
            <a:endParaRPr sz="1800" dirty="0">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95"/>
        <p:cNvGrpSpPr/>
        <p:nvPr/>
      </p:nvGrpSpPr>
      <p:grpSpPr>
        <a:xfrm>
          <a:off x="0" y="0"/>
          <a:ext cx="0" cy="0"/>
          <a:chOff x="0" y="0"/>
          <a:chExt cx="0" cy="0"/>
        </a:xfrm>
      </p:grpSpPr>
      <p:sp>
        <p:nvSpPr>
          <p:cNvPr id="1496" name="Google Shape;1496;p70"/>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5</a:t>
            </a:r>
            <a:endParaRPr sz="1100">
              <a:solidFill>
                <a:schemeClr val="dk1"/>
              </a:solidFill>
              <a:latin typeface="Calibri"/>
              <a:ea typeface="Calibri"/>
              <a:cs typeface="Calibri"/>
              <a:sym typeface="Calibri"/>
            </a:endParaRPr>
          </a:p>
        </p:txBody>
      </p:sp>
      <p:sp>
        <p:nvSpPr>
          <p:cNvPr id="1497" name="Google Shape;1497;p70"/>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dirty="0">
                <a:solidFill>
                  <a:srgbClr val="0F3D63"/>
                </a:solidFill>
                <a:latin typeface="Cambria"/>
                <a:ea typeface="Cambria"/>
                <a:cs typeface="Cambria"/>
                <a:sym typeface="Cambria"/>
              </a:rPr>
              <a:t>Isuzumabumenyi (2/2)</a:t>
            </a:r>
            <a:endParaRPr sz="3200" dirty="0">
              <a:solidFill>
                <a:schemeClr val="dk1"/>
              </a:solidFill>
              <a:latin typeface="Calibri"/>
              <a:ea typeface="Calibri"/>
              <a:cs typeface="Calibri"/>
              <a:sym typeface="Calibri"/>
            </a:endParaRPr>
          </a:p>
        </p:txBody>
      </p:sp>
      <p:sp>
        <p:nvSpPr>
          <p:cNvPr id="1498" name="Google Shape;1498;p70"/>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499" name="Google Shape;1499;p70"/>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500" name="Google Shape;1500;p70"/>
          <p:cNvSpPr/>
          <p:nvPr/>
        </p:nvSpPr>
        <p:spPr>
          <a:xfrm>
            <a:off x="804672" y="1792224"/>
            <a:ext cx="10607040" cy="38404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0F3D63"/>
              </a:buClr>
              <a:buSzPts val="1970"/>
              <a:buFont typeface="Calibri"/>
              <a:buNone/>
            </a:pPr>
            <a:r>
              <a:rPr lang="rw-RW" sz="2000" b="1" dirty="0">
                <a:solidFill>
                  <a:srgbClr val="0F3D63"/>
                </a:solidFill>
                <a:latin typeface="Calibri"/>
                <a:ea typeface="Calibri"/>
                <a:cs typeface="Calibri"/>
                <a:sym typeface="Calibri"/>
              </a:rPr>
              <a:t>Q3. Ubuvuzi bwita ku bubabare n'uburwayi:</a:t>
            </a:r>
            <a:endParaRPr sz="1970" dirty="0">
              <a:solidFill>
                <a:schemeClr val="dk1"/>
              </a:solidFill>
              <a:latin typeface="Calibri"/>
              <a:ea typeface="Calibri"/>
              <a:cs typeface="Calibri"/>
              <a:sym typeface="Calibri"/>
            </a:endParaRPr>
          </a:p>
        </p:txBody>
      </p:sp>
      <p:sp>
        <p:nvSpPr>
          <p:cNvPr id="1501" name="Google Shape;1501;p70"/>
          <p:cNvSpPr/>
          <p:nvPr/>
        </p:nvSpPr>
        <p:spPr>
          <a:xfrm>
            <a:off x="822960" y="22311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64"/>
              <a:buFont typeface="Calibri"/>
              <a:buNone/>
            </a:pPr>
            <a:r>
              <a:rPr lang="rw-RW" sz="1800" b="1" dirty="0">
                <a:solidFill>
                  <a:srgbClr val="16334F"/>
                </a:solidFill>
                <a:latin typeface="Calibri"/>
                <a:ea typeface="Calibri"/>
                <a:cs typeface="Calibri"/>
                <a:sym typeface="Calibri"/>
              </a:rPr>
              <a:t>A. Bukoreshwa gusa m</a:t>
            </a:r>
            <a:r>
              <a:rPr lang="rw-RW" sz="1800" dirty="0">
                <a:solidFill>
                  <a:srgbClr val="16334F"/>
                </a:solidFill>
                <a:latin typeface="Calibri"/>
                <a:ea typeface="Calibri"/>
                <a:cs typeface="Calibri"/>
                <a:sym typeface="Calibri"/>
              </a:rPr>
              <a:t>u minsi ya nyuma y'ubuzima</a:t>
            </a:r>
            <a:endParaRPr sz="1764" dirty="0">
              <a:solidFill>
                <a:schemeClr val="dk1"/>
              </a:solidFill>
              <a:latin typeface="Calibri"/>
              <a:ea typeface="Calibri"/>
              <a:cs typeface="Calibri"/>
              <a:sym typeface="Calibri"/>
            </a:endParaRPr>
          </a:p>
        </p:txBody>
      </p:sp>
      <p:sp>
        <p:nvSpPr>
          <p:cNvPr id="1502" name="Google Shape;1502;p70"/>
          <p:cNvSpPr/>
          <p:nvPr/>
        </p:nvSpPr>
        <p:spPr>
          <a:xfrm>
            <a:off x="6172200" y="2231136"/>
            <a:ext cx="5166360" cy="438912"/>
          </a:xfrm>
          <a:prstGeom prst="rect">
            <a:avLst/>
          </a:prstGeom>
          <a:noFill/>
          <a:ln>
            <a:noFill/>
          </a:ln>
        </p:spPr>
        <p:txBody>
          <a:bodyPr spcFirstLastPara="1" wrap="square" lIns="0" tIns="0" rIns="0" bIns="0" anchor="ctr" anchorCtr="0">
            <a:normAutofit lnSpcReduction="10000"/>
          </a:bodyPr>
          <a:lstStyle/>
          <a:p>
            <a:pPr marL="0" marR="0" lvl="0" indent="0" algn="l" rtl="0">
              <a:lnSpc>
                <a:spcPct val="90000"/>
              </a:lnSpc>
              <a:spcBef>
                <a:spcPts val="0"/>
              </a:spcBef>
              <a:spcAft>
                <a:spcPts val="0"/>
              </a:spcAft>
              <a:buClr>
                <a:srgbClr val="1B7A46"/>
              </a:buClr>
              <a:buSzPts val="1629"/>
              <a:buFont typeface="Calibri"/>
              <a:buNone/>
            </a:pPr>
            <a:r>
              <a:rPr lang="rw-RW" sz="1800" b="1">
                <a:solidFill>
                  <a:srgbClr val="1B7A46"/>
                </a:solidFill>
                <a:latin typeface="Calibri"/>
                <a:ea typeface="Calibri"/>
                <a:cs typeface="Calibri"/>
                <a:sym typeface="Calibri"/>
              </a:rPr>
              <a:t>B. Butangwa mu gihe cy'ubuvuzi, ku rwego urwo ari rwo rwose ✓</a:t>
            </a:r>
            <a:endParaRPr sz="1629">
              <a:solidFill>
                <a:schemeClr val="dk1"/>
              </a:solidFill>
              <a:latin typeface="Calibri"/>
              <a:ea typeface="Calibri"/>
              <a:cs typeface="Calibri"/>
              <a:sym typeface="Calibri"/>
            </a:endParaRPr>
          </a:p>
        </p:txBody>
      </p:sp>
      <p:sp>
        <p:nvSpPr>
          <p:cNvPr id="1503" name="Google Shape;1503;p70"/>
          <p:cNvSpPr/>
          <p:nvPr/>
        </p:nvSpPr>
        <p:spPr>
          <a:xfrm>
            <a:off x="82296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64"/>
              <a:buFont typeface="Calibri"/>
              <a:buNone/>
            </a:pPr>
            <a:r>
              <a:rPr lang="rw-RW" sz="1800" b="1" dirty="0">
                <a:solidFill>
                  <a:srgbClr val="16334F"/>
                </a:solidFill>
                <a:latin typeface="Calibri"/>
                <a:ea typeface="Calibri"/>
                <a:cs typeface="Calibri"/>
                <a:sym typeface="Calibri"/>
              </a:rPr>
              <a:t>C. Ni nko guhagaruka</a:t>
            </a:r>
            <a:r>
              <a:rPr lang="rw-RW" sz="1800" dirty="0">
                <a:solidFill>
                  <a:srgbClr val="16334F"/>
                </a:solidFill>
                <a:latin typeface="Calibri"/>
                <a:ea typeface="Calibri"/>
                <a:cs typeface="Calibri"/>
                <a:sym typeface="Calibri"/>
              </a:rPr>
              <a:t> ubuvuzi</a:t>
            </a:r>
            <a:endParaRPr sz="1764" dirty="0">
              <a:solidFill>
                <a:schemeClr val="dk1"/>
              </a:solidFill>
              <a:latin typeface="Calibri"/>
              <a:ea typeface="Calibri"/>
              <a:cs typeface="Calibri"/>
              <a:sym typeface="Calibri"/>
            </a:endParaRPr>
          </a:p>
        </p:txBody>
      </p:sp>
      <p:sp>
        <p:nvSpPr>
          <p:cNvPr id="1504" name="Google Shape;1504;p70"/>
          <p:cNvSpPr/>
          <p:nvPr/>
        </p:nvSpPr>
        <p:spPr>
          <a:xfrm>
            <a:off x="617220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64"/>
              <a:buFont typeface="Calibri"/>
              <a:buNone/>
            </a:pPr>
            <a:r>
              <a:rPr lang="rw-RW" sz="1800" b="1">
                <a:solidFill>
                  <a:srgbClr val="16334F"/>
                </a:solidFill>
                <a:latin typeface="Calibri"/>
                <a:ea typeface="Calibri"/>
                <a:cs typeface="Calibri"/>
                <a:sym typeface="Calibri"/>
              </a:rPr>
              <a:t>D. </a:t>
            </a:r>
            <a:r>
              <a:rPr lang="rw-RW" sz="1800">
                <a:solidFill>
                  <a:srgbClr val="16334F"/>
                </a:solidFill>
                <a:latin typeface="Calibri"/>
                <a:ea typeface="Calibri"/>
                <a:cs typeface="Calibri"/>
                <a:sym typeface="Calibri"/>
              </a:rPr>
              <a:t>Ntabwo ari igice cyo kwita kuri kanseri</a:t>
            </a:r>
            <a:endParaRPr sz="1764">
              <a:solidFill>
                <a:schemeClr val="dk1"/>
              </a:solidFill>
              <a:latin typeface="Calibri"/>
              <a:ea typeface="Calibri"/>
              <a:cs typeface="Calibri"/>
              <a:sym typeface="Calibri"/>
            </a:endParaRPr>
          </a:p>
        </p:txBody>
      </p:sp>
      <p:sp>
        <p:nvSpPr>
          <p:cNvPr id="1505" name="Google Shape;1505;p70"/>
          <p:cNvSpPr/>
          <p:nvPr/>
        </p:nvSpPr>
        <p:spPr>
          <a:xfrm>
            <a:off x="822960" y="325526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a:solidFill>
                  <a:srgbClr val="1B7A46"/>
                </a:solidFill>
                <a:latin typeface="Calibri"/>
                <a:ea typeface="Calibri"/>
                <a:cs typeface="Calibri"/>
                <a:sym typeface="Calibri"/>
              </a:rPr>
              <a:t>Ukuri: B. </a:t>
            </a:r>
            <a:r>
              <a:rPr lang="rw-RW" sz="1800" i="1">
                <a:solidFill>
                  <a:srgbClr val="1B7A46"/>
                </a:solidFill>
                <a:latin typeface="Calibri"/>
                <a:ea typeface="Calibri"/>
                <a:cs typeface="Calibri"/>
                <a:sym typeface="Calibri"/>
              </a:rPr>
              <a:t>Ubuvuzi bw'ihumure bushobora gutangwa igihe icyo ari cyo cyose, hamwe n'ubuvuzi.</a:t>
            </a:r>
            <a:endParaRPr sz="1800">
              <a:solidFill>
                <a:schemeClr val="dk1"/>
              </a:solidFill>
              <a:latin typeface="Calibri"/>
              <a:ea typeface="Calibri"/>
              <a:cs typeface="Calibri"/>
              <a:sym typeface="Calibri"/>
            </a:endParaRPr>
          </a:p>
        </p:txBody>
      </p:sp>
      <p:sp>
        <p:nvSpPr>
          <p:cNvPr id="1506" name="Google Shape;1506;p70"/>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507" name="Google Shape;1507;p70"/>
          <p:cNvSpPr/>
          <p:nvPr/>
        </p:nvSpPr>
        <p:spPr>
          <a:xfrm>
            <a:off x="804672" y="4215384"/>
            <a:ext cx="10607040" cy="384048"/>
          </a:xfrm>
          <a:prstGeom prst="rect">
            <a:avLst/>
          </a:prstGeom>
          <a:noFill/>
          <a:ln>
            <a:noFill/>
          </a:ln>
        </p:spPr>
        <p:txBody>
          <a:bodyPr spcFirstLastPara="1" wrap="square" lIns="0" tIns="0" rIns="0" bIns="0" anchor="ctr" anchorCtr="0">
            <a:normAutofit fontScale="92500"/>
          </a:bodyPr>
          <a:lstStyle/>
          <a:p>
            <a:pPr marL="0" marR="0" lvl="0" indent="0" algn="l" rtl="0">
              <a:spcBef>
                <a:spcPts val="0"/>
              </a:spcBef>
              <a:spcAft>
                <a:spcPts val="0"/>
              </a:spcAft>
              <a:buClr>
                <a:srgbClr val="0F3D63"/>
              </a:buClr>
              <a:buSzPts val="1820"/>
              <a:buFont typeface="Calibri"/>
              <a:buNone/>
            </a:pPr>
            <a:r>
              <a:rPr lang="rw-RW" sz="2000" b="1" dirty="0">
                <a:solidFill>
                  <a:srgbClr val="0F3D63"/>
                </a:solidFill>
                <a:latin typeface="Calibri"/>
                <a:ea typeface="Calibri"/>
                <a:cs typeface="Calibri"/>
                <a:sym typeface="Calibri"/>
              </a:rPr>
              <a:t>Q4. Umuntu avuga ko ububabare bwe bukabije ariko ari ubusanzwe ku murwayi wa kanseri. Ugomba:</a:t>
            </a:r>
            <a:endParaRPr sz="1820" dirty="0">
              <a:solidFill>
                <a:schemeClr val="dk1"/>
              </a:solidFill>
              <a:latin typeface="Calibri"/>
              <a:ea typeface="Calibri"/>
              <a:cs typeface="Calibri"/>
              <a:sym typeface="Calibri"/>
            </a:endParaRPr>
          </a:p>
        </p:txBody>
      </p:sp>
      <p:sp>
        <p:nvSpPr>
          <p:cNvPr id="1508" name="Google Shape;1508;p70"/>
          <p:cNvSpPr/>
          <p:nvPr/>
        </p:nvSpPr>
        <p:spPr>
          <a:xfrm>
            <a:off x="822960" y="46542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64"/>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Kwemeranya nawe hanyuma ugakomeza</a:t>
            </a:r>
            <a:endParaRPr sz="1764" dirty="0">
              <a:solidFill>
                <a:schemeClr val="dk1"/>
              </a:solidFill>
              <a:latin typeface="Calibri"/>
              <a:ea typeface="Calibri"/>
              <a:cs typeface="Calibri"/>
              <a:sym typeface="Calibri"/>
            </a:endParaRPr>
          </a:p>
        </p:txBody>
      </p:sp>
      <p:sp>
        <p:nvSpPr>
          <p:cNvPr id="1509" name="Google Shape;1509;p70"/>
          <p:cNvSpPr/>
          <p:nvPr/>
        </p:nvSpPr>
        <p:spPr>
          <a:xfrm>
            <a:off x="6172200" y="4654296"/>
            <a:ext cx="5166360" cy="438912"/>
          </a:xfrm>
          <a:prstGeom prst="rect">
            <a:avLst/>
          </a:prstGeom>
          <a:noFill/>
          <a:ln>
            <a:noFill/>
          </a:ln>
        </p:spPr>
        <p:txBody>
          <a:bodyPr spcFirstLastPara="1" wrap="square" lIns="0" tIns="0" rIns="0" bIns="0" anchor="ctr" anchorCtr="0">
            <a:normAutofit lnSpcReduction="10000"/>
          </a:bodyPr>
          <a:lstStyle/>
          <a:p>
            <a:pPr marL="0" marR="0" lvl="0" indent="0" algn="l" rtl="0">
              <a:lnSpc>
                <a:spcPct val="90000"/>
              </a:lnSpc>
              <a:spcBef>
                <a:spcPts val="0"/>
              </a:spcBef>
              <a:spcAft>
                <a:spcPts val="0"/>
              </a:spcAft>
              <a:buNone/>
            </a:pPr>
            <a:r>
              <a:rPr lang="rw-RW" sz="1800" b="1" dirty="0">
                <a:solidFill>
                  <a:srgbClr val="1B7A46"/>
                </a:solidFill>
                <a:latin typeface="Calibri"/>
                <a:ea typeface="Calibri"/>
                <a:cs typeface="Calibri"/>
                <a:sym typeface="Calibri"/>
              </a:rPr>
              <a:t>B. Kubwira umuganga kugira ngo ububabare buvuwe ✓</a:t>
            </a:r>
            <a:endParaRPr sz="1629" dirty="0">
              <a:solidFill>
                <a:schemeClr val="dk1"/>
              </a:solidFill>
              <a:latin typeface="Calibri"/>
              <a:ea typeface="Calibri"/>
              <a:cs typeface="Calibri"/>
              <a:sym typeface="Calibri"/>
            </a:endParaRPr>
          </a:p>
        </p:txBody>
      </p:sp>
      <p:sp>
        <p:nvSpPr>
          <p:cNvPr id="1510" name="Google Shape;1510;p70"/>
          <p:cNvSpPr/>
          <p:nvPr/>
        </p:nvSpPr>
        <p:spPr>
          <a:xfrm>
            <a:off x="82296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64"/>
              <a:buFont typeface="Calibri"/>
              <a:buNone/>
            </a:pPr>
            <a:r>
              <a:rPr lang="rw-RW" sz="1800" b="1" dirty="0">
                <a:solidFill>
                  <a:srgbClr val="16334F"/>
                </a:solidFill>
                <a:latin typeface="Calibri"/>
                <a:ea typeface="Calibri"/>
                <a:cs typeface="Calibri"/>
                <a:sym typeface="Calibri"/>
              </a:rPr>
              <a:t>C. </a:t>
            </a:r>
            <a:r>
              <a:rPr lang="rw-RW" sz="1800" dirty="0">
                <a:solidFill>
                  <a:srgbClr val="16334F"/>
                </a:solidFill>
                <a:latin typeface="Calibri"/>
                <a:ea typeface="Calibri"/>
                <a:cs typeface="Calibri"/>
                <a:sym typeface="Calibri"/>
              </a:rPr>
              <a:t>Gutanga umuti ugabanya ububabare ubwawe</a:t>
            </a:r>
            <a:endParaRPr sz="1764" dirty="0">
              <a:solidFill>
                <a:schemeClr val="dk1"/>
              </a:solidFill>
              <a:latin typeface="Calibri"/>
              <a:ea typeface="Calibri"/>
              <a:cs typeface="Calibri"/>
              <a:sym typeface="Calibri"/>
            </a:endParaRPr>
          </a:p>
        </p:txBody>
      </p:sp>
      <p:sp>
        <p:nvSpPr>
          <p:cNvPr id="1511" name="Google Shape;1511;p70"/>
          <p:cNvSpPr/>
          <p:nvPr/>
        </p:nvSpPr>
        <p:spPr>
          <a:xfrm>
            <a:off x="617220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64"/>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Kubabwira gukomera.</a:t>
            </a:r>
            <a:endParaRPr sz="1764" dirty="0">
              <a:solidFill>
                <a:schemeClr val="dk1"/>
              </a:solidFill>
              <a:latin typeface="Calibri"/>
              <a:ea typeface="Calibri"/>
              <a:cs typeface="Calibri"/>
              <a:sym typeface="Calibri"/>
            </a:endParaRPr>
          </a:p>
        </p:txBody>
      </p:sp>
      <p:sp>
        <p:nvSpPr>
          <p:cNvPr id="1512" name="Google Shape;1512;p70"/>
          <p:cNvSpPr/>
          <p:nvPr/>
        </p:nvSpPr>
        <p:spPr>
          <a:xfrm>
            <a:off x="822960" y="567842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Ukuri: B. </a:t>
            </a:r>
            <a:r>
              <a:rPr lang="rw-RW" sz="1800" i="1" dirty="0">
                <a:solidFill>
                  <a:srgbClr val="1B7A46"/>
                </a:solidFill>
                <a:latin typeface="Calibri"/>
                <a:ea typeface="Calibri"/>
                <a:cs typeface="Calibri"/>
                <a:sym typeface="Calibri"/>
              </a:rPr>
              <a:t>Ububabare bugomba kumenyekana no kuvurwa, ntibufatwe nk'ibisanzwe.</a:t>
            </a:r>
            <a:endParaRPr sz="1800" dirty="0">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17"/>
        <p:cNvGrpSpPr/>
        <p:nvPr/>
      </p:nvGrpSpPr>
      <p:grpSpPr>
        <a:xfrm>
          <a:off x="0" y="0"/>
          <a:ext cx="0" cy="0"/>
          <a:chOff x="0" y="0"/>
          <a:chExt cx="0" cy="0"/>
        </a:xfrm>
      </p:grpSpPr>
      <p:sp>
        <p:nvSpPr>
          <p:cNvPr id="1518" name="Google Shape;1518;p71"/>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IGICE CYA 5</a:t>
            </a:r>
            <a:endParaRPr sz="1100">
              <a:solidFill>
                <a:schemeClr val="dk1"/>
              </a:solidFill>
              <a:latin typeface="Calibri"/>
              <a:ea typeface="Calibri"/>
              <a:cs typeface="Calibri"/>
              <a:sym typeface="Calibri"/>
            </a:endParaRPr>
          </a:p>
        </p:txBody>
      </p:sp>
      <p:sp>
        <p:nvSpPr>
          <p:cNvPr id="1519" name="Google Shape;1519;p71"/>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a:solidFill>
                  <a:srgbClr val="0F3D63"/>
                </a:solidFill>
                <a:latin typeface="Cambria"/>
                <a:ea typeface="Cambria"/>
                <a:cs typeface="Cambria"/>
                <a:sym typeface="Cambria"/>
              </a:rPr>
              <a:t>Tekereza ku kazi kawe</a:t>
            </a:r>
            <a:endParaRPr sz="3400">
              <a:solidFill>
                <a:schemeClr val="dk1"/>
              </a:solidFill>
              <a:latin typeface="Calibri"/>
              <a:ea typeface="Calibri"/>
              <a:cs typeface="Calibri"/>
              <a:sym typeface="Calibri"/>
            </a:endParaRPr>
          </a:p>
        </p:txBody>
      </p:sp>
      <p:sp>
        <p:nvSpPr>
          <p:cNvPr id="1520" name="Google Shape;1520;p71"/>
          <p:cNvSpPr/>
          <p:nvPr/>
        </p:nvSpPr>
        <p:spPr>
          <a:xfrm>
            <a:off x="548640" y="1371600"/>
            <a:ext cx="110642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i="1" dirty="0">
                <a:solidFill>
                  <a:srgbClr val="16334F"/>
                </a:solidFill>
                <a:latin typeface="Calibri"/>
                <a:ea typeface="Calibri"/>
                <a:cs typeface="Calibri"/>
                <a:sym typeface="Calibri"/>
              </a:rPr>
              <a:t>Amabwiriza k’uhugurwa: Andika igisubizo cyawe mu kazu k'inyandiko. Ibi bisubizo ntibihabwa amanota.</a:t>
            </a:r>
            <a:endParaRPr sz="1800" dirty="0">
              <a:solidFill>
                <a:schemeClr val="dk1"/>
              </a:solidFill>
              <a:latin typeface="Calibri"/>
              <a:ea typeface="Calibri"/>
              <a:cs typeface="Calibri"/>
              <a:sym typeface="Calibri"/>
            </a:endParaRPr>
          </a:p>
        </p:txBody>
      </p:sp>
      <p:sp>
        <p:nvSpPr>
          <p:cNvPr id="1521" name="Google Shape;1521;p71"/>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522" name="Google Shape;1522;p71"/>
          <p:cNvSpPr/>
          <p:nvPr/>
        </p:nvSpPr>
        <p:spPr>
          <a:xfrm>
            <a:off x="548640" y="2057400"/>
            <a:ext cx="11091672" cy="868680"/>
          </a:xfrm>
          <a:prstGeom prst="roundRect">
            <a:avLst>
              <a:gd name="adj" fmla="val 1052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23" name="Google Shape;1523;p71"/>
          <p:cNvSpPr/>
          <p:nvPr/>
        </p:nvSpPr>
        <p:spPr>
          <a:xfrm>
            <a:off x="822960" y="2258568"/>
            <a:ext cx="475488" cy="475488"/>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24" name="Google Shape;1524;p71"/>
          <p:cNvSpPr/>
          <p:nvPr/>
        </p:nvSpPr>
        <p:spPr>
          <a:xfrm>
            <a:off x="822960" y="2258568"/>
            <a:ext cx="475488"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mbria"/>
              <a:buNone/>
            </a:pPr>
            <a:r>
              <a:rPr lang="rw-RW" sz="1800" b="1">
                <a:solidFill>
                  <a:srgbClr val="FFFFFF"/>
                </a:solidFill>
                <a:latin typeface="Cambria"/>
                <a:ea typeface="Cambria"/>
                <a:cs typeface="Cambria"/>
                <a:sym typeface="Cambria"/>
              </a:rPr>
              <a:t>1</a:t>
            </a:r>
            <a:endParaRPr sz="1800">
              <a:solidFill>
                <a:schemeClr val="dk1"/>
              </a:solidFill>
              <a:latin typeface="Calibri"/>
              <a:ea typeface="Calibri"/>
              <a:cs typeface="Calibri"/>
              <a:sym typeface="Calibri"/>
            </a:endParaRPr>
          </a:p>
        </p:txBody>
      </p:sp>
      <p:sp>
        <p:nvSpPr>
          <p:cNvPr id="1525" name="Google Shape;1525;p71"/>
          <p:cNvSpPr/>
          <p:nvPr/>
        </p:nvSpPr>
        <p:spPr>
          <a:xfrm>
            <a:off x="1481328" y="2148840"/>
            <a:ext cx="9875520" cy="6858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6334F"/>
              </a:buClr>
              <a:buSzPts val="1900"/>
              <a:buFont typeface="Calibri"/>
              <a:buNone/>
            </a:pPr>
            <a:r>
              <a:rPr lang="rw-RW" sz="1900" dirty="0">
                <a:solidFill>
                  <a:srgbClr val="16334F"/>
                </a:solidFill>
                <a:latin typeface="Calibri"/>
                <a:ea typeface="Calibri"/>
                <a:cs typeface="Calibri"/>
                <a:sym typeface="Calibri"/>
              </a:rPr>
              <a:t>Ni gute wafasha umuryango kumenya ibibazo byo kumenyekanisha ako kanya n’ibishobora gutegereza? </a:t>
            </a:r>
            <a:endParaRPr sz="1900" dirty="0">
              <a:solidFill>
                <a:schemeClr val="dk1"/>
              </a:solidFill>
              <a:latin typeface="Calibri"/>
              <a:ea typeface="Calibri"/>
              <a:cs typeface="Calibri"/>
              <a:sym typeface="Calibri"/>
            </a:endParaRPr>
          </a:p>
        </p:txBody>
      </p:sp>
      <p:sp>
        <p:nvSpPr>
          <p:cNvPr id="1526" name="Google Shape;1526;p71"/>
          <p:cNvSpPr/>
          <p:nvPr/>
        </p:nvSpPr>
        <p:spPr>
          <a:xfrm>
            <a:off x="548640" y="3145536"/>
            <a:ext cx="11091672" cy="868680"/>
          </a:xfrm>
          <a:prstGeom prst="roundRect">
            <a:avLst>
              <a:gd name="adj" fmla="val 1052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27" name="Google Shape;1527;p71"/>
          <p:cNvSpPr/>
          <p:nvPr/>
        </p:nvSpPr>
        <p:spPr>
          <a:xfrm>
            <a:off x="822960" y="3346704"/>
            <a:ext cx="475488" cy="475488"/>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28" name="Google Shape;1528;p71"/>
          <p:cNvSpPr/>
          <p:nvPr/>
        </p:nvSpPr>
        <p:spPr>
          <a:xfrm>
            <a:off x="822960" y="3346704"/>
            <a:ext cx="475488"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mbria"/>
              <a:buNone/>
            </a:pPr>
            <a:r>
              <a:rPr lang="rw-RW" sz="1800" b="1">
                <a:solidFill>
                  <a:srgbClr val="FFFFFF"/>
                </a:solidFill>
                <a:latin typeface="Cambria"/>
                <a:ea typeface="Cambria"/>
                <a:cs typeface="Cambria"/>
                <a:sym typeface="Cambria"/>
              </a:rPr>
              <a:t>2</a:t>
            </a:r>
            <a:endParaRPr sz="1800">
              <a:solidFill>
                <a:schemeClr val="dk1"/>
              </a:solidFill>
              <a:latin typeface="Calibri"/>
              <a:ea typeface="Calibri"/>
              <a:cs typeface="Calibri"/>
              <a:sym typeface="Calibri"/>
            </a:endParaRPr>
          </a:p>
        </p:txBody>
      </p:sp>
      <p:sp>
        <p:nvSpPr>
          <p:cNvPr id="1529" name="Google Shape;1529;p71"/>
          <p:cNvSpPr/>
          <p:nvPr/>
        </p:nvSpPr>
        <p:spPr>
          <a:xfrm>
            <a:off x="1481328" y="3236976"/>
            <a:ext cx="9875520" cy="6858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6334F"/>
              </a:buClr>
              <a:buSzPts val="1900"/>
              <a:buFont typeface="Calibri"/>
              <a:buNone/>
            </a:pPr>
            <a:r>
              <a:rPr lang="rw-RW" sz="1900">
                <a:solidFill>
                  <a:srgbClr val="16334F"/>
                </a:solidFill>
                <a:latin typeface="Calibri"/>
                <a:ea typeface="Calibri"/>
                <a:cs typeface="Calibri"/>
                <a:sym typeface="Calibri"/>
              </a:rPr>
              <a:t>Ni gute wafasha umuntu ufite ikibazo cyo kurya nyuma yo kwivuza?</a:t>
            </a:r>
            <a:endParaRPr sz="1900">
              <a:solidFill>
                <a:schemeClr val="dk1"/>
              </a:solidFill>
              <a:latin typeface="Calibri"/>
              <a:ea typeface="Calibri"/>
              <a:cs typeface="Calibri"/>
              <a:sym typeface="Calibri"/>
            </a:endParaRPr>
          </a:p>
        </p:txBody>
      </p:sp>
      <p:sp>
        <p:nvSpPr>
          <p:cNvPr id="1530" name="Google Shape;1530;p71"/>
          <p:cNvSpPr/>
          <p:nvPr/>
        </p:nvSpPr>
        <p:spPr>
          <a:xfrm>
            <a:off x="548640" y="4233672"/>
            <a:ext cx="11091672" cy="868680"/>
          </a:xfrm>
          <a:prstGeom prst="roundRect">
            <a:avLst>
              <a:gd name="adj" fmla="val 10526"/>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31" name="Google Shape;1531;p71"/>
          <p:cNvSpPr/>
          <p:nvPr/>
        </p:nvSpPr>
        <p:spPr>
          <a:xfrm>
            <a:off x="822960" y="4434840"/>
            <a:ext cx="475488" cy="475488"/>
          </a:xfrm>
          <a:prstGeom prst="ellipse">
            <a:avLst/>
          </a:prstGeom>
          <a:solidFill>
            <a:srgbClr val="1B847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32" name="Google Shape;1532;p71"/>
          <p:cNvSpPr/>
          <p:nvPr/>
        </p:nvSpPr>
        <p:spPr>
          <a:xfrm>
            <a:off x="822960" y="4434840"/>
            <a:ext cx="475488" cy="4754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mbria"/>
              <a:buNone/>
            </a:pPr>
            <a:r>
              <a:rPr lang="rw-RW" sz="1800" b="1">
                <a:solidFill>
                  <a:srgbClr val="FFFFFF"/>
                </a:solidFill>
                <a:latin typeface="Cambria"/>
                <a:ea typeface="Cambria"/>
                <a:cs typeface="Cambria"/>
                <a:sym typeface="Cambria"/>
              </a:rPr>
              <a:t>3</a:t>
            </a:r>
            <a:endParaRPr sz="1800">
              <a:solidFill>
                <a:schemeClr val="dk1"/>
              </a:solidFill>
              <a:latin typeface="Calibri"/>
              <a:ea typeface="Calibri"/>
              <a:cs typeface="Calibri"/>
              <a:sym typeface="Calibri"/>
            </a:endParaRPr>
          </a:p>
        </p:txBody>
      </p:sp>
      <p:sp>
        <p:nvSpPr>
          <p:cNvPr id="1533" name="Google Shape;1533;p71"/>
          <p:cNvSpPr/>
          <p:nvPr/>
        </p:nvSpPr>
        <p:spPr>
          <a:xfrm>
            <a:off x="1481328" y="4325112"/>
            <a:ext cx="9875520" cy="6858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6334F"/>
              </a:buClr>
              <a:buSzPts val="1900"/>
              <a:buFont typeface="Calibri"/>
              <a:buNone/>
            </a:pPr>
            <a:r>
              <a:rPr lang="rw-RW" sz="1900" dirty="0">
                <a:solidFill>
                  <a:srgbClr val="16334F"/>
                </a:solidFill>
                <a:latin typeface="Calibri"/>
                <a:ea typeface="Calibri"/>
                <a:cs typeface="Calibri"/>
                <a:sym typeface="Calibri"/>
              </a:rPr>
              <a:t>Ni iki wakora kugira ngo ugabanye ikimwaro no kusebywa ku barwayi ba kanseri aho utuye?</a:t>
            </a:r>
            <a:endParaRPr sz="1900" dirty="0">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38"/>
        <p:cNvGrpSpPr/>
        <p:nvPr/>
      </p:nvGrpSpPr>
      <p:grpSpPr>
        <a:xfrm>
          <a:off x="0" y="0"/>
          <a:ext cx="0" cy="0"/>
          <a:chOff x="0" y="0"/>
          <a:chExt cx="0" cy="0"/>
        </a:xfrm>
      </p:grpSpPr>
      <p:sp>
        <p:nvSpPr>
          <p:cNvPr id="1539" name="Google Shape;1539;p72"/>
          <p:cNvSpPr/>
          <p:nvPr/>
        </p:nvSpPr>
        <p:spPr>
          <a:xfrm>
            <a:off x="502920" y="777240"/>
            <a:ext cx="11183112" cy="5303520"/>
          </a:xfrm>
          <a:prstGeom prst="rect">
            <a:avLst/>
          </a:prstGeom>
          <a:solidFill>
            <a:srgbClr val="0F3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40" name="Google Shape;1540;p72"/>
          <p:cNvSpPr/>
          <p:nvPr/>
        </p:nvSpPr>
        <p:spPr>
          <a:xfrm>
            <a:off x="-365760" y="3291840"/>
            <a:ext cx="2926080" cy="2926080"/>
          </a:xfrm>
          <a:prstGeom prst="ellipse">
            <a:avLst/>
          </a:prstGeom>
          <a:solidFill>
            <a:srgbClr val="2272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41" name="Google Shape;1541;p72"/>
          <p:cNvSpPr/>
          <p:nvPr/>
        </p:nvSpPr>
        <p:spPr>
          <a:xfrm>
            <a:off x="1234440" y="260604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FCBE3"/>
              </a:buClr>
              <a:buSzPts val="1200"/>
              <a:buFont typeface="Calibri"/>
              <a:buNone/>
            </a:pPr>
            <a:r>
              <a:rPr lang="rw-RW" sz="1200" b="1" dirty="0">
                <a:solidFill>
                  <a:srgbClr val="AFCBE3"/>
                </a:solidFill>
                <a:latin typeface="Calibri"/>
                <a:ea typeface="Calibri"/>
                <a:cs typeface="Calibri"/>
                <a:sym typeface="Calibri"/>
              </a:rPr>
              <a:t>ISUZUMABUMENYI RISOZA</a:t>
            </a:r>
            <a:endParaRPr sz="1200" dirty="0">
              <a:solidFill>
                <a:schemeClr val="dk1"/>
              </a:solidFill>
              <a:latin typeface="Calibri"/>
              <a:ea typeface="Calibri"/>
              <a:cs typeface="Calibri"/>
              <a:sym typeface="Calibri"/>
            </a:endParaRPr>
          </a:p>
        </p:txBody>
      </p:sp>
      <p:sp>
        <p:nvSpPr>
          <p:cNvPr id="1542" name="Google Shape;1542;p72"/>
          <p:cNvSpPr/>
          <p:nvPr/>
        </p:nvSpPr>
        <p:spPr>
          <a:xfrm>
            <a:off x="1234440" y="2926080"/>
            <a:ext cx="868680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800"/>
              <a:buFont typeface="Cambria"/>
              <a:buNone/>
            </a:pPr>
            <a:r>
              <a:rPr lang="rw-RW" sz="3800" b="1" dirty="0">
                <a:solidFill>
                  <a:srgbClr val="FFFFFF"/>
                </a:solidFill>
                <a:latin typeface="Cambria"/>
                <a:ea typeface="Cambria"/>
                <a:cs typeface="Calibri"/>
                <a:sym typeface="Cambria"/>
              </a:rPr>
              <a:t>Isuzumabumenyi risoza.</a:t>
            </a:r>
            <a:endParaRPr sz="3800" dirty="0">
              <a:solidFill>
                <a:schemeClr val="dk1"/>
              </a:solidFill>
              <a:latin typeface="Calibri"/>
              <a:ea typeface="Calibri"/>
              <a:cs typeface="Calibri"/>
              <a:sym typeface="Calibri"/>
            </a:endParaRPr>
          </a:p>
        </p:txBody>
      </p:sp>
      <p:sp>
        <p:nvSpPr>
          <p:cNvPr id="1543" name="Google Shape;1543;p72"/>
          <p:cNvSpPr/>
          <p:nvPr/>
        </p:nvSpPr>
        <p:spPr>
          <a:xfrm>
            <a:off x="1234440" y="3794760"/>
            <a:ext cx="868680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E7F3"/>
              </a:buClr>
              <a:buSzPts val="1800"/>
              <a:buFont typeface="Calibri"/>
              <a:buNone/>
            </a:pPr>
            <a:r>
              <a:rPr lang="rw-RW" sz="1800" dirty="0">
                <a:solidFill>
                  <a:srgbClr val="D9E7F3"/>
                </a:solidFill>
                <a:latin typeface="Calibri"/>
                <a:ea typeface="Calibri"/>
                <a:cs typeface="Calibri"/>
                <a:sym typeface="Calibri"/>
              </a:rPr>
              <a:t>Ibibazo makumyabiri byibanda k’ubyo wize byose. Tekereza ku byo wabona, wavuga, n'ibyo wakora mu gace </a:t>
            </a:r>
            <a:r>
              <a:rPr lang="rw-RW" sz="1800">
                <a:solidFill>
                  <a:srgbClr val="D9E7F3"/>
                </a:solidFill>
                <a:latin typeface="Calibri"/>
                <a:ea typeface="Calibri"/>
                <a:cs typeface="Calibri"/>
                <a:sym typeface="Calibri"/>
              </a:rPr>
              <a:t>utuyemo.</a:t>
            </a:r>
            <a:endParaRPr sz="1800" dirty="0">
              <a:solidFill>
                <a:schemeClr val="dk1"/>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48"/>
        <p:cNvGrpSpPr/>
        <p:nvPr/>
      </p:nvGrpSpPr>
      <p:grpSpPr>
        <a:xfrm>
          <a:off x="0" y="0"/>
          <a:ext cx="0" cy="0"/>
          <a:chOff x="0" y="0"/>
          <a:chExt cx="0" cy="0"/>
        </a:xfrm>
      </p:grpSpPr>
      <p:sp>
        <p:nvSpPr>
          <p:cNvPr id="1549" name="Google Shape;1549;p73"/>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ISUZUMABUMENYI RISOZA</a:t>
            </a:r>
            <a:endParaRPr sz="1100">
              <a:solidFill>
                <a:schemeClr val="dk1"/>
              </a:solidFill>
              <a:latin typeface="Calibri"/>
              <a:ea typeface="Calibri"/>
              <a:cs typeface="Calibri"/>
              <a:sym typeface="Calibri"/>
            </a:endParaRPr>
          </a:p>
        </p:txBody>
      </p:sp>
      <p:sp>
        <p:nvSpPr>
          <p:cNvPr id="1550" name="Google Shape;1550;p73"/>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Ikibazo (1/10)</a:t>
            </a:r>
            <a:endParaRPr sz="3200">
              <a:solidFill>
                <a:schemeClr val="dk1"/>
              </a:solidFill>
              <a:latin typeface="Calibri"/>
              <a:ea typeface="Calibri"/>
              <a:cs typeface="Calibri"/>
              <a:sym typeface="Calibri"/>
            </a:endParaRPr>
          </a:p>
        </p:txBody>
      </p:sp>
      <p:sp>
        <p:nvSpPr>
          <p:cNvPr id="1551" name="Google Shape;1551;p73"/>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552" name="Google Shape;1552;p73"/>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553" name="Google Shape;1553;p73"/>
          <p:cNvSpPr/>
          <p:nvPr/>
        </p:nvSpPr>
        <p:spPr>
          <a:xfrm>
            <a:off x="804672" y="1792224"/>
            <a:ext cx="10607040" cy="38404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0F3D63"/>
              </a:buClr>
              <a:buSzPts val="1870"/>
              <a:buFont typeface="Calibri"/>
              <a:buNone/>
            </a:pPr>
            <a:r>
              <a:rPr lang="rw-RW" sz="2000" b="1">
                <a:solidFill>
                  <a:srgbClr val="0F3D63"/>
                </a:solidFill>
                <a:latin typeface="Calibri"/>
                <a:ea typeface="Calibri"/>
                <a:cs typeface="Calibri"/>
                <a:sym typeface="Calibri"/>
              </a:rPr>
              <a:t>Q1. Kanseri y'igifu ni kanseri itangirira mu:</a:t>
            </a:r>
            <a:endParaRPr sz="1870">
              <a:solidFill>
                <a:schemeClr val="dk1"/>
              </a:solidFill>
              <a:latin typeface="Calibri"/>
              <a:ea typeface="Calibri"/>
              <a:cs typeface="Calibri"/>
              <a:sym typeface="Calibri"/>
            </a:endParaRPr>
          </a:p>
        </p:txBody>
      </p:sp>
      <p:sp>
        <p:nvSpPr>
          <p:cNvPr id="1554" name="Google Shape;1554;p73"/>
          <p:cNvSpPr/>
          <p:nvPr/>
        </p:nvSpPr>
        <p:spPr>
          <a:xfrm>
            <a:off x="822960" y="22311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74"/>
              <a:buFont typeface="Calibri"/>
              <a:buNone/>
            </a:pPr>
            <a:r>
              <a:rPr lang="rw-RW" sz="1800" b="1">
                <a:solidFill>
                  <a:srgbClr val="16334F"/>
                </a:solidFill>
                <a:latin typeface="Calibri"/>
                <a:ea typeface="Calibri"/>
                <a:cs typeface="Calibri"/>
                <a:sym typeface="Calibri"/>
              </a:rPr>
              <a:t>A. </a:t>
            </a:r>
            <a:r>
              <a:rPr lang="rw-RW" sz="1800">
                <a:solidFill>
                  <a:srgbClr val="16334F"/>
                </a:solidFill>
                <a:latin typeface="Calibri"/>
                <a:ea typeface="Calibri"/>
                <a:cs typeface="Calibri"/>
                <a:sym typeface="Calibri"/>
              </a:rPr>
              <a:t>Ibihaha</a:t>
            </a:r>
            <a:endParaRPr sz="1674">
              <a:solidFill>
                <a:schemeClr val="dk1"/>
              </a:solidFill>
              <a:latin typeface="Calibri"/>
              <a:ea typeface="Calibri"/>
              <a:cs typeface="Calibri"/>
              <a:sym typeface="Calibri"/>
            </a:endParaRPr>
          </a:p>
        </p:txBody>
      </p:sp>
      <p:sp>
        <p:nvSpPr>
          <p:cNvPr id="1555" name="Google Shape;1555;p73"/>
          <p:cNvSpPr/>
          <p:nvPr/>
        </p:nvSpPr>
        <p:spPr>
          <a:xfrm>
            <a:off x="6172200" y="22311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B7A46"/>
              </a:buClr>
              <a:buSzPts val="1674"/>
              <a:buFont typeface="Calibri"/>
              <a:buNone/>
            </a:pPr>
            <a:r>
              <a:rPr lang="rw-RW" sz="1800" b="1">
                <a:solidFill>
                  <a:srgbClr val="1B7A46"/>
                </a:solidFill>
                <a:latin typeface="Calibri"/>
                <a:ea typeface="Calibri"/>
                <a:cs typeface="Calibri"/>
                <a:sym typeface="Calibri"/>
              </a:rPr>
              <a:t>B. igifu ✓</a:t>
            </a:r>
            <a:endParaRPr sz="1674">
              <a:solidFill>
                <a:schemeClr val="dk1"/>
              </a:solidFill>
              <a:latin typeface="Calibri"/>
              <a:ea typeface="Calibri"/>
              <a:cs typeface="Calibri"/>
              <a:sym typeface="Calibri"/>
            </a:endParaRPr>
          </a:p>
        </p:txBody>
      </p:sp>
      <p:sp>
        <p:nvSpPr>
          <p:cNvPr id="1556" name="Google Shape;1556;p73"/>
          <p:cNvSpPr/>
          <p:nvPr/>
        </p:nvSpPr>
        <p:spPr>
          <a:xfrm>
            <a:off x="82296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74"/>
              <a:buFont typeface="Calibri"/>
              <a:buNone/>
            </a:pPr>
            <a:r>
              <a:rPr lang="rw-RW" sz="1800" b="1">
                <a:solidFill>
                  <a:srgbClr val="16334F"/>
                </a:solidFill>
                <a:latin typeface="Calibri"/>
                <a:ea typeface="Calibri"/>
                <a:cs typeface="Calibri"/>
                <a:sym typeface="Calibri"/>
              </a:rPr>
              <a:t>C. </a:t>
            </a:r>
            <a:r>
              <a:rPr lang="rw-RW" sz="1800">
                <a:solidFill>
                  <a:srgbClr val="16334F"/>
                </a:solidFill>
                <a:latin typeface="Calibri"/>
                <a:ea typeface="Calibri"/>
                <a:cs typeface="Calibri"/>
                <a:sym typeface="Calibri"/>
              </a:rPr>
              <a:t>Umwijima</a:t>
            </a:r>
            <a:endParaRPr sz="1674">
              <a:solidFill>
                <a:schemeClr val="dk1"/>
              </a:solidFill>
              <a:latin typeface="Calibri"/>
              <a:ea typeface="Calibri"/>
              <a:cs typeface="Calibri"/>
              <a:sym typeface="Calibri"/>
            </a:endParaRPr>
          </a:p>
        </p:txBody>
      </p:sp>
      <p:sp>
        <p:nvSpPr>
          <p:cNvPr id="1557" name="Google Shape;1557;p73"/>
          <p:cNvSpPr/>
          <p:nvPr/>
        </p:nvSpPr>
        <p:spPr>
          <a:xfrm>
            <a:off x="617220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74"/>
              <a:buFont typeface="Calibri"/>
              <a:buNone/>
            </a:pPr>
            <a:r>
              <a:rPr lang="rw-RW" sz="1800" b="1">
                <a:solidFill>
                  <a:srgbClr val="16334F"/>
                </a:solidFill>
                <a:latin typeface="Calibri"/>
                <a:ea typeface="Calibri"/>
                <a:cs typeface="Calibri"/>
                <a:sym typeface="Calibri"/>
              </a:rPr>
              <a:t>D. </a:t>
            </a:r>
            <a:r>
              <a:rPr lang="rw-RW" sz="1800">
                <a:solidFill>
                  <a:srgbClr val="16334F"/>
                </a:solidFill>
                <a:latin typeface="Calibri"/>
                <a:ea typeface="Calibri"/>
                <a:cs typeface="Calibri"/>
                <a:sym typeface="Calibri"/>
              </a:rPr>
              <a:t>Uruhu</a:t>
            </a:r>
            <a:endParaRPr sz="1674">
              <a:solidFill>
                <a:schemeClr val="dk1"/>
              </a:solidFill>
              <a:latin typeface="Calibri"/>
              <a:ea typeface="Calibri"/>
              <a:cs typeface="Calibri"/>
              <a:sym typeface="Calibri"/>
            </a:endParaRPr>
          </a:p>
        </p:txBody>
      </p:sp>
      <p:sp>
        <p:nvSpPr>
          <p:cNvPr id="1558" name="Google Shape;1558;p73"/>
          <p:cNvSpPr/>
          <p:nvPr/>
        </p:nvSpPr>
        <p:spPr>
          <a:xfrm>
            <a:off x="822960" y="3255264"/>
            <a:ext cx="10515600" cy="457200"/>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1B7A46"/>
              </a:buClr>
              <a:buSzPts val="1728"/>
              <a:buFont typeface="Calibri"/>
              <a:buNone/>
            </a:pPr>
            <a:r>
              <a:rPr lang="rw-RW" sz="1800" b="1" dirty="0">
                <a:solidFill>
                  <a:srgbClr val="1B7A46"/>
                </a:solidFill>
                <a:latin typeface="Calibri"/>
                <a:ea typeface="Calibri"/>
                <a:cs typeface="Calibri"/>
                <a:sym typeface="Calibri"/>
              </a:rPr>
              <a:t>Ukuri: B. </a:t>
            </a:r>
            <a:r>
              <a:rPr lang="rw-RW" sz="1800" i="1" dirty="0">
                <a:solidFill>
                  <a:srgbClr val="1B7A46"/>
                </a:solidFill>
                <a:latin typeface="Calibri"/>
                <a:ea typeface="Calibri"/>
                <a:cs typeface="Calibri"/>
                <a:sym typeface="Calibri"/>
              </a:rPr>
              <a:t>Itangirira mu gifu, aho ibiryo bibikwa, bikanaaserwa.</a:t>
            </a:r>
            <a:endParaRPr sz="1728" dirty="0">
              <a:solidFill>
                <a:schemeClr val="dk1"/>
              </a:solidFill>
              <a:latin typeface="Calibri"/>
              <a:ea typeface="Calibri"/>
              <a:cs typeface="Calibri"/>
              <a:sym typeface="Calibri"/>
            </a:endParaRPr>
          </a:p>
        </p:txBody>
      </p:sp>
      <p:sp>
        <p:nvSpPr>
          <p:cNvPr id="1559" name="Google Shape;1559;p73"/>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560" name="Google Shape;1560;p73"/>
          <p:cNvSpPr/>
          <p:nvPr/>
        </p:nvSpPr>
        <p:spPr>
          <a:xfrm>
            <a:off x="804672" y="4215384"/>
            <a:ext cx="10607040" cy="38404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0F3D63"/>
              </a:buClr>
              <a:buSzPts val="1720"/>
              <a:buFont typeface="Calibri"/>
              <a:buNone/>
            </a:pPr>
            <a:r>
              <a:rPr lang="rw-RW" sz="2000" b="1" dirty="0">
                <a:solidFill>
                  <a:srgbClr val="0F3D63"/>
                </a:solidFill>
                <a:latin typeface="Calibri"/>
                <a:ea typeface="Calibri"/>
                <a:cs typeface="Calibri"/>
                <a:sym typeface="Calibri"/>
              </a:rPr>
              <a:t>Q2. Umugabo amaze amezi atatu afite ububabare bwo hejuru mu nda kandi yatakaje ibiro. Ugomba:</a:t>
            </a:r>
            <a:endParaRPr sz="1720" dirty="0">
              <a:solidFill>
                <a:schemeClr val="dk1"/>
              </a:solidFill>
              <a:latin typeface="Calibri"/>
              <a:ea typeface="Calibri"/>
              <a:cs typeface="Calibri"/>
              <a:sym typeface="Calibri"/>
            </a:endParaRPr>
          </a:p>
        </p:txBody>
      </p:sp>
      <p:sp>
        <p:nvSpPr>
          <p:cNvPr id="1561" name="Google Shape;1561;p73"/>
          <p:cNvSpPr/>
          <p:nvPr/>
        </p:nvSpPr>
        <p:spPr>
          <a:xfrm>
            <a:off x="822960" y="46542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74"/>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Kumubwira agategereza</a:t>
            </a:r>
            <a:endParaRPr sz="1674" dirty="0">
              <a:solidFill>
                <a:schemeClr val="dk1"/>
              </a:solidFill>
              <a:latin typeface="Calibri"/>
              <a:ea typeface="Calibri"/>
              <a:cs typeface="Calibri"/>
              <a:sym typeface="Calibri"/>
            </a:endParaRPr>
          </a:p>
        </p:txBody>
      </p:sp>
      <p:sp>
        <p:nvSpPr>
          <p:cNvPr id="1562" name="Google Shape;1562;p73"/>
          <p:cNvSpPr/>
          <p:nvPr/>
        </p:nvSpPr>
        <p:spPr>
          <a:xfrm>
            <a:off x="6172200" y="4654296"/>
            <a:ext cx="5166360" cy="438912"/>
          </a:xfrm>
          <a:prstGeom prst="rect">
            <a:avLst/>
          </a:prstGeom>
          <a:noFill/>
          <a:ln>
            <a:noFill/>
          </a:ln>
        </p:spPr>
        <p:txBody>
          <a:bodyPr spcFirstLastPara="1" wrap="square" lIns="0" tIns="0" rIns="0" bIns="0" anchor="ctr" anchorCtr="0">
            <a:normAutofit lnSpcReduction="10000"/>
          </a:bodyPr>
          <a:lstStyle/>
          <a:p>
            <a:pPr marL="0" marR="0" lvl="0" indent="0" algn="l" rtl="0">
              <a:lnSpc>
                <a:spcPct val="90000"/>
              </a:lnSpc>
              <a:spcBef>
                <a:spcPts val="0"/>
              </a:spcBef>
              <a:spcAft>
                <a:spcPts val="0"/>
              </a:spcAft>
              <a:buClr>
                <a:srgbClr val="1B7A46"/>
              </a:buClr>
              <a:buSzPts val="1539"/>
              <a:buFont typeface="Calibri"/>
              <a:buNone/>
            </a:pPr>
            <a:r>
              <a:rPr lang="rw-RW" sz="1800" b="1" dirty="0">
                <a:solidFill>
                  <a:srgbClr val="1B7A46"/>
                </a:solidFill>
                <a:latin typeface="Calibri"/>
                <a:ea typeface="Calibri"/>
                <a:cs typeface="Calibri"/>
                <a:sym typeface="Calibri"/>
              </a:rPr>
              <a:t>B. Kumushishikariza kwisuzumisha kandi ukamufasha gutegura urugendo ✓</a:t>
            </a:r>
            <a:endParaRPr sz="1539" dirty="0">
              <a:solidFill>
                <a:schemeClr val="dk1"/>
              </a:solidFill>
              <a:latin typeface="Calibri"/>
              <a:ea typeface="Calibri"/>
              <a:cs typeface="Calibri"/>
              <a:sym typeface="Calibri"/>
            </a:endParaRPr>
          </a:p>
        </p:txBody>
      </p:sp>
      <p:sp>
        <p:nvSpPr>
          <p:cNvPr id="1563" name="Google Shape;1563;p73"/>
          <p:cNvSpPr/>
          <p:nvPr/>
        </p:nvSpPr>
        <p:spPr>
          <a:xfrm>
            <a:off x="82296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74"/>
              <a:buFont typeface="Calibri"/>
              <a:buNone/>
            </a:pPr>
            <a:r>
              <a:rPr lang="rw-RW" sz="1800" b="1" dirty="0">
                <a:solidFill>
                  <a:srgbClr val="16334F"/>
                </a:solidFill>
                <a:latin typeface="Calibri"/>
                <a:ea typeface="Calibri"/>
                <a:cs typeface="Calibri"/>
                <a:sym typeface="Calibri"/>
              </a:rPr>
              <a:t>C. </a:t>
            </a:r>
            <a:r>
              <a:rPr lang="rw-RW" sz="1800" dirty="0">
                <a:solidFill>
                  <a:srgbClr val="16334F"/>
                </a:solidFill>
                <a:latin typeface="Calibri"/>
                <a:ea typeface="Calibri"/>
                <a:cs typeface="Calibri"/>
                <a:sym typeface="Calibri"/>
              </a:rPr>
              <a:t>Kumubwira ko ari kanseri.</a:t>
            </a:r>
            <a:endParaRPr sz="1674" dirty="0">
              <a:solidFill>
                <a:schemeClr val="dk1"/>
              </a:solidFill>
              <a:latin typeface="Calibri"/>
              <a:ea typeface="Calibri"/>
              <a:cs typeface="Calibri"/>
              <a:sym typeface="Calibri"/>
            </a:endParaRPr>
          </a:p>
        </p:txBody>
      </p:sp>
      <p:sp>
        <p:nvSpPr>
          <p:cNvPr id="1564" name="Google Shape;1564;p73"/>
          <p:cNvSpPr/>
          <p:nvPr/>
        </p:nvSpPr>
        <p:spPr>
          <a:xfrm>
            <a:off x="617220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674"/>
              <a:buFont typeface="Calibri"/>
              <a:buNone/>
            </a:pPr>
            <a:r>
              <a:rPr lang="rw-RW" sz="1800" b="1">
                <a:solidFill>
                  <a:srgbClr val="16334F"/>
                </a:solidFill>
                <a:latin typeface="Calibri"/>
                <a:ea typeface="Calibri"/>
                <a:cs typeface="Calibri"/>
                <a:sym typeface="Calibri"/>
              </a:rPr>
              <a:t>D. </a:t>
            </a:r>
            <a:r>
              <a:rPr lang="rw-RW" sz="1800">
                <a:solidFill>
                  <a:srgbClr val="16334F"/>
                </a:solidFill>
                <a:latin typeface="Calibri"/>
                <a:ea typeface="Calibri"/>
                <a:cs typeface="Calibri"/>
                <a:sym typeface="Calibri"/>
              </a:rPr>
              <a:t>Muhe imiti</a:t>
            </a:r>
            <a:endParaRPr sz="1674">
              <a:solidFill>
                <a:schemeClr val="dk1"/>
              </a:solidFill>
              <a:latin typeface="Calibri"/>
              <a:ea typeface="Calibri"/>
              <a:cs typeface="Calibri"/>
              <a:sym typeface="Calibri"/>
            </a:endParaRPr>
          </a:p>
        </p:txBody>
      </p:sp>
      <p:sp>
        <p:nvSpPr>
          <p:cNvPr id="1565" name="Google Shape;1565;p73"/>
          <p:cNvSpPr/>
          <p:nvPr/>
        </p:nvSpPr>
        <p:spPr>
          <a:xfrm>
            <a:off x="822960" y="5678424"/>
            <a:ext cx="10515600" cy="457200"/>
          </a:xfrm>
          <a:prstGeom prst="rect">
            <a:avLst/>
          </a:prstGeom>
          <a:noFill/>
          <a:ln>
            <a:noFill/>
          </a:ln>
        </p:spPr>
        <p:txBody>
          <a:bodyPr spcFirstLastPara="1" wrap="square" lIns="0" tIns="0" rIns="0" bIns="0" anchor="t" anchorCtr="0">
            <a:normAutofit fontScale="92500"/>
          </a:bodyPr>
          <a:lstStyle/>
          <a:p>
            <a:pPr marL="0" marR="0" lvl="0" indent="0" algn="l" rtl="0">
              <a:spcBef>
                <a:spcPts val="0"/>
              </a:spcBef>
              <a:spcAft>
                <a:spcPts val="0"/>
              </a:spcAft>
              <a:buClr>
                <a:srgbClr val="1B7A46"/>
              </a:buClr>
              <a:buSzPts val="1728"/>
              <a:buFont typeface="Calibri"/>
              <a:buNone/>
            </a:pPr>
            <a:r>
              <a:rPr lang="rw-RW" sz="1800" b="1" dirty="0">
                <a:solidFill>
                  <a:srgbClr val="1B7A46"/>
                </a:solidFill>
                <a:latin typeface="Calibri"/>
                <a:ea typeface="Calibri"/>
                <a:cs typeface="Calibri"/>
                <a:sym typeface="Calibri"/>
              </a:rPr>
              <a:t>Ukuri: B. </a:t>
            </a:r>
            <a:r>
              <a:rPr lang="rw-RW" sz="1800" i="1" dirty="0">
                <a:solidFill>
                  <a:srgbClr val="1B7A46"/>
                </a:solidFill>
                <a:latin typeface="Calibri"/>
                <a:ea typeface="Calibri"/>
                <a:cs typeface="Calibri"/>
                <a:sym typeface="Calibri"/>
              </a:rPr>
              <a:t>Gutakaza ibiro igihe kirekire, utagerageje bisaba kwisuzumisha kwa muganga, nta kuvuga izina ry'indwara.</a:t>
            </a:r>
            <a:endParaRPr sz="1728" dirty="0">
              <a:solidFill>
                <a:schemeClr val="dk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70"/>
        <p:cNvGrpSpPr/>
        <p:nvPr/>
      </p:nvGrpSpPr>
      <p:grpSpPr>
        <a:xfrm>
          <a:off x="0" y="0"/>
          <a:ext cx="0" cy="0"/>
          <a:chOff x="0" y="0"/>
          <a:chExt cx="0" cy="0"/>
        </a:xfrm>
      </p:grpSpPr>
      <p:sp>
        <p:nvSpPr>
          <p:cNvPr id="1571" name="Google Shape;1571;p74"/>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ISUZUMABUMENYI RISOZA</a:t>
            </a:r>
            <a:endParaRPr sz="1100">
              <a:solidFill>
                <a:schemeClr val="dk1"/>
              </a:solidFill>
              <a:latin typeface="Calibri"/>
              <a:ea typeface="Calibri"/>
              <a:cs typeface="Calibri"/>
              <a:sym typeface="Calibri"/>
            </a:endParaRPr>
          </a:p>
        </p:txBody>
      </p:sp>
      <p:sp>
        <p:nvSpPr>
          <p:cNvPr id="1572" name="Google Shape;1572;p74"/>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Ikibazo (2/10)</a:t>
            </a:r>
            <a:endParaRPr sz="3200">
              <a:solidFill>
                <a:schemeClr val="dk1"/>
              </a:solidFill>
              <a:latin typeface="Calibri"/>
              <a:ea typeface="Calibri"/>
              <a:cs typeface="Calibri"/>
              <a:sym typeface="Calibri"/>
            </a:endParaRPr>
          </a:p>
        </p:txBody>
      </p:sp>
      <p:sp>
        <p:nvSpPr>
          <p:cNvPr id="1573" name="Google Shape;1573;p74"/>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574" name="Google Shape;1574;p74"/>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575" name="Google Shape;1575;p74"/>
          <p:cNvSpPr/>
          <p:nvPr/>
        </p:nvSpPr>
        <p:spPr>
          <a:xfrm>
            <a:off x="804672" y="17922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Q3. Umusarani wirabura nka Kaburimbo usobanura ko umuntu akwiriye:</a:t>
            </a:r>
            <a:endParaRPr sz="2000" dirty="0">
              <a:solidFill>
                <a:schemeClr val="dk1"/>
              </a:solidFill>
              <a:latin typeface="Calibri"/>
              <a:ea typeface="Calibri"/>
              <a:cs typeface="Calibri"/>
              <a:sym typeface="Calibri"/>
            </a:endParaRPr>
          </a:p>
        </p:txBody>
      </p:sp>
      <p:sp>
        <p:nvSpPr>
          <p:cNvPr id="1576" name="Google Shape;1576;p74"/>
          <p:cNvSpPr/>
          <p:nvPr/>
        </p:nvSpPr>
        <p:spPr>
          <a:xfrm>
            <a:off x="822960" y="22311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Gutegereza ukwezi kumwe</a:t>
            </a:r>
            <a:endParaRPr sz="1800" dirty="0">
              <a:solidFill>
                <a:schemeClr val="dk1"/>
              </a:solidFill>
              <a:latin typeface="Calibri"/>
              <a:ea typeface="Calibri"/>
              <a:cs typeface="Calibri"/>
              <a:sym typeface="Calibri"/>
            </a:endParaRPr>
          </a:p>
        </p:txBody>
      </p:sp>
      <p:sp>
        <p:nvSpPr>
          <p:cNvPr id="1577" name="Google Shape;1577;p74"/>
          <p:cNvSpPr/>
          <p:nvPr/>
        </p:nvSpPr>
        <p:spPr>
          <a:xfrm>
            <a:off x="6172200" y="22311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rw-RW" sz="1800" b="1" dirty="0">
                <a:solidFill>
                  <a:srgbClr val="1B7A46"/>
                </a:solidFill>
                <a:latin typeface="Calibri"/>
                <a:ea typeface="Calibri"/>
                <a:cs typeface="Calibri"/>
                <a:sym typeface="Calibri"/>
              </a:rPr>
              <a:t>B. Kwivuza uwo munsi ✓</a:t>
            </a:r>
            <a:endParaRPr sz="1800" dirty="0">
              <a:solidFill>
                <a:schemeClr val="dk1"/>
              </a:solidFill>
              <a:latin typeface="Calibri"/>
              <a:ea typeface="Calibri"/>
              <a:cs typeface="Calibri"/>
              <a:sym typeface="Calibri"/>
            </a:endParaRPr>
          </a:p>
        </p:txBody>
      </p:sp>
      <p:sp>
        <p:nvSpPr>
          <p:cNvPr id="1578" name="Google Shape;1578;p74"/>
          <p:cNvSpPr/>
          <p:nvPr/>
        </p:nvSpPr>
        <p:spPr>
          <a:xfrm>
            <a:off x="822960" y="27066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dirty="0">
                <a:solidFill>
                  <a:srgbClr val="16334F"/>
                </a:solidFill>
                <a:latin typeface="Calibri"/>
                <a:ea typeface="Calibri"/>
                <a:cs typeface="Calibri"/>
                <a:sym typeface="Calibri"/>
              </a:rPr>
              <a:t>C. </a:t>
            </a:r>
            <a:r>
              <a:rPr lang="rw-RW" sz="1800" dirty="0">
                <a:solidFill>
                  <a:srgbClr val="16334F"/>
                </a:solidFill>
                <a:latin typeface="Calibri"/>
                <a:ea typeface="Calibri"/>
                <a:cs typeface="Calibri"/>
                <a:sym typeface="Calibri"/>
              </a:rPr>
              <a:t>Guhindura ibiryo yaryaga gusa</a:t>
            </a:r>
            <a:endParaRPr sz="1800" dirty="0">
              <a:solidFill>
                <a:schemeClr val="dk1"/>
              </a:solidFill>
              <a:latin typeface="Calibri"/>
              <a:ea typeface="Calibri"/>
              <a:cs typeface="Calibri"/>
              <a:sym typeface="Calibri"/>
            </a:endParaRPr>
          </a:p>
        </p:txBody>
      </p:sp>
      <p:sp>
        <p:nvSpPr>
          <p:cNvPr id="1579" name="Google Shape;1579;p74"/>
          <p:cNvSpPr/>
          <p:nvPr/>
        </p:nvSpPr>
        <p:spPr>
          <a:xfrm>
            <a:off x="6172200" y="27066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Nta kintu na kimwe yakora</a:t>
            </a:r>
            <a:endParaRPr sz="1800" dirty="0">
              <a:solidFill>
                <a:schemeClr val="dk1"/>
              </a:solidFill>
              <a:latin typeface="Calibri"/>
              <a:ea typeface="Calibri"/>
              <a:cs typeface="Calibri"/>
              <a:sym typeface="Calibri"/>
            </a:endParaRPr>
          </a:p>
        </p:txBody>
      </p:sp>
      <p:sp>
        <p:nvSpPr>
          <p:cNvPr id="1580" name="Google Shape;1580;p74"/>
          <p:cNvSpPr/>
          <p:nvPr/>
        </p:nvSpPr>
        <p:spPr>
          <a:xfrm>
            <a:off x="822960" y="325526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Ukuri: B. </a:t>
            </a:r>
            <a:r>
              <a:rPr lang="rw-RW" sz="1800" i="1" dirty="0">
                <a:solidFill>
                  <a:srgbClr val="1B7A46"/>
                </a:solidFill>
                <a:latin typeface="Calibri"/>
                <a:ea typeface="Calibri"/>
                <a:cs typeface="Calibri"/>
                <a:sym typeface="Calibri"/>
              </a:rPr>
              <a:t>Ibi bishobora gusobanura kuva amaraso imbere kandi ni ikimenyetso cyihutirwa.</a:t>
            </a:r>
            <a:endParaRPr sz="1800" dirty="0">
              <a:solidFill>
                <a:schemeClr val="dk1"/>
              </a:solidFill>
              <a:latin typeface="Calibri"/>
              <a:ea typeface="Calibri"/>
              <a:cs typeface="Calibri"/>
              <a:sym typeface="Calibri"/>
            </a:endParaRPr>
          </a:p>
        </p:txBody>
      </p:sp>
      <p:sp>
        <p:nvSpPr>
          <p:cNvPr id="1581" name="Google Shape;1581;p74"/>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582" name="Google Shape;1582;p74"/>
          <p:cNvSpPr/>
          <p:nvPr/>
        </p:nvSpPr>
        <p:spPr>
          <a:xfrm>
            <a:off x="804672" y="42153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Q4. Mu itangira ryayo, kanseri y'igifu akenshi ikunze gutera:</a:t>
            </a:r>
            <a:endParaRPr sz="2000" dirty="0">
              <a:solidFill>
                <a:schemeClr val="dk1"/>
              </a:solidFill>
              <a:latin typeface="Calibri"/>
              <a:ea typeface="Calibri"/>
              <a:cs typeface="Calibri"/>
              <a:sym typeface="Calibri"/>
            </a:endParaRPr>
          </a:p>
        </p:txBody>
      </p:sp>
      <p:sp>
        <p:nvSpPr>
          <p:cNvPr id="1583" name="Google Shape;1583;p74"/>
          <p:cNvSpPr/>
          <p:nvPr/>
        </p:nvSpPr>
        <p:spPr>
          <a:xfrm>
            <a:off x="822960" y="46542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a:solidFill>
                  <a:srgbClr val="16334F"/>
                </a:solidFill>
                <a:latin typeface="Calibri"/>
                <a:ea typeface="Calibri"/>
                <a:cs typeface="Calibri"/>
                <a:sym typeface="Calibri"/>
              </a:rPr>
              <a:t>A. </a:t>
            </a:r>
            <a:r>
              <a:rPr lang="rw-RW" sz="1800">
                <a:solidFill>
                  <a:srgbClr val="16334F"/>
                </a:solidFill>
                <a:latin typeface="Calibri"/>
                <a:ea typeface="Calibri"/>
                <a:cs typeface="Calibri"/>
                <a:sym typeface="Calibri"/>
              </a:rPr>
              <a:t>Ububabare bukabije kuri buri wese</a:t>
            </a:r>
            <a:endParaRPr sz="1800">
              <a:solidFill>
                <a:schemeClr val="dk1"/>
              </a:solidFill>
              <a:latin typeface="Calibri"/>
              <a:ea typeface="Calibri"/>
              <a:cs typeface="Calibri"/>
              <a:sym typeface="Calibri"/>
            </a:endParaRPr>
          </a:p>
        </p:txBody>
      </p:sp>
      <p:sp>
        <p:nvSpPr>
          <p:cNvPr id="1584" name="Google Shape;1584;p74"/>
          <p:cNvSpPr/>
          <p:nvPr/>
        </p:nvSpPr>
        <p:spPr>
          <a:xfrm>
            <a:off x="6172200" y="46542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A46"/>
              </a:buClr>
              <a:buSzPts val="1800"/>
              <a:buFont typeface="Calibri"/>
              <a:buNone/>
            </a:pPr>
            <a:r>
              <a:rPr lang="rw-RW" sz="1800" b="1">
                <a:solidFill>
                  <a:srgbClr val="1B7A46"/>
                </a:solidFill>
                <a:latin typeface="Calibri"/>
                <a:ea typeface="Calibri"/>
                <a:cs typeface="Calibri"/>
                <a:sym typeface="Calibri"/>
              </a:rPr>
              <a:t>B. Ibimenyetso bike cyangwa bidasobanutse ✓</a:t>
            </a:r>
            <a:endParaRPr sz="1800">
              <a:solidFill>
                <a:schemeClr val="dk1"/>
              </a:solidFill>
              <a:latin typeface="Calibri"/>
              <a:ea typeface="Calibri"/>
              <a:cs typeface="Calibri"/>
              <a:sym typeface="Calibri"/>
            </a:endParaRPr>
          </a:p>
        </p:txBody>
      </p:sp>
      <p:sp>
        <p:nvSpPr>
          <p:cNvPr id="1585" name="Google Shape;1585;p74"/>
          <p:cNvSpPr/>
          <p:nvPr/>
        </p:nvSpPr>
        <p:spPr>
          <a:xfrm>
            <a:off x="822960" y="51297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a:solidFill>
                  <a:srgbClr val="16334F"/>
                </a:solidFill>
                <a:latin typeface="Calibri"/>
                <a:ea typeface="Calibri"/>
                <a:cs typeface="Calibri"/>
                <a:sym typeface="Calibri"/>
              </a:rPr>
              <a:t>C. </a:t>
            </a:r>
            <a:r>
              <a:rPr lang="rw-RW" sz="1800">
                <a:solidFill>
                  <a:srgbClr val="16334F"/>
                </a:solidFill>
                <a:latin typeface="Calibri"/>
                <a:ea typeface="Calibri"/>
                <a:cs typeface="Calibri"/>
                <a:sym typeface="Calibri"/>
              </a:rPr>
              <a:t>Umuriro mwinshi</a:t>
            </a:r>
            <a:endParaRPr sz="1800">
              <a:solidFill>
                <a:schemeClr val="dk1"/>
              </a:solidFill>
              <a:latin typeface="Calibri"/>
              <a:ea typeface="Calibri"/>
              <a:cs typeface="Calibri"/>
              <a:sym typeface="Calibri"/>
            </a:endParaRPr>
          </a:p>
        </p:txBody>
      </p:sp>
      <p:sp>
        <p:nvSpPr>
          <p:cNvPr id="1586" name="Google Shape;1586;p74"/>
          <p:cNvSpPr/>
          <p:nvPr/>
        </p:nvSpPr>
        <p:spPr>
          <a:xfrm>
            <a:off x="6172200" y="51297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a:solidFill>
                  <a:srgbClr val="16334F"/>
                </a:solidFill>
                <a:latin typeface="Calibri"/>
                <a:ea typeface="Calibri"/>
                <a:cs typeface="Calibri"/>
                <a:sym typeface="Calibri"/>
              </a:rPr>
              <a:t>D. </a:t>
            </a:r>
            <a:r>
              <a:rPr lang="rw-RW" sz="1800">
                <a:solidFill>
                  <a:srgbClr val="16334F"/>
                </a:solidFill>
                <a:latin typeface="Calibri"/>
                <a:ea typeface="Calibri"/>
                <a:cs typeface="Calibri"/>
                <a:sym typeface="Calibri"/>
              </a:rPr>
              <a:t>Uruhu</a:t>
            </a:r>
            <a:endParaRPr sz="1800">
              <a:solidFill>
                <a:schemeClr val="dk1"/>
              </a:solidFill>
              <a:latin typeface="Calibri"/>
              <a:ea typeface="Calibri"/>
              <a:cs typeface="Calibri"/>
              <a:sym typeface="Calibri"/>
            </a:endParaRPr>
          </a:p>
        </p:txBody>
      </p:sp>
      <p:sp>
        <p:nvSpPr>
          <p:cNvPr id="1587" name="Google Shape;1587;p74"/>
          <p:cNvSpPr/>
          <p:nvPr/>
        </p:nvSpPr>
        <p:spPr>
          <a:xfrm>
            <a:off x="822960" y="567842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a:solidFill>
                  <a:srgbClr val="1B7A46"/>
                </a:solidFill>
                <a:latin typeface="Calibri"/>
                <a:ea typeface="Calibri"/>
                <a:cs typeface="Calibri"/>
                <a:sym typeface="Calibri"/>
              </a:rPr>
              <a:t>Ukuri: B. </a:t>
            </a:r>
            <a:r>
              <a:rPr lang="rw-RW" sz="1800" i="1">
                <a:solidFill>
                  <a:srgbClr val="1B7A46"/>
                </a:solidFill>
                <a:latin typeface="Calibri"/>
                <a:ea typeface="Calibri"/>
                <a:cs typeface="Calibri"/>
                <a:sym typeface="Calibri"/>
              </a:rPr>
              <a:t>Indwara ya mbere ikunze guceceka, niyo mpamvu ibimenyetso birambye ari ngombwa.</a:t>
            </a:r>
            <a:endParaRPr sz="1800">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92"/>
        <p:cNvGrpSpPr/>
        <p:nvPr/>
      </p:nvGrpSpPr>
      <p:grpSpPr>
        <a:xfrm>
          <a:off x="0" y="0"/>
          <a:ext cx="0" cy="0"/>
          <a:chOff x="0" y="0"/>
          <a:chExt cx="0" cy="0"/>
        </a:xfrm>
      </p:grpSpPr>
      <p:sp>
        <p:nvSpPr>
          <p:cNvPr id="1593" name="Google Shape;1593;p75"/>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ISUZUMABUMENYI RISOZA</a:t>
            </a:r>
            <a:endParaRPr sz="1100">
              <a:solidFill>
                <a:schemeClr val="dk1"/>
              </a:solidFill>
              <a:latin typeface="Calibri"/>
              <a:ea typeface="Calibri"/>
              <a:cs typeface="Calibri"/>
              <a:sym typeface="Calibri"/>
            </a:endParaRPr>
          </a:p>
        </p:txBody>
      </p:sp>
      <p:sp>
        <p:nvSpPr>
          <p:cNvPr id="1594" name="Google Shape;1594;p75"/>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dirty="0">
                <a:solidFill>
                  <a:srgbClr val="0F3D63"/>
                </a:solidFill>
                <a:latin typeface="Cambria"/>
                <a:ea typeface="Cambria"/>
                <a:cs typeface="Cambria"/>
                <a:sym typeface="Cambria"/>
              </a:rPr>
              <a:t>Ikibazo (3/10)</a:t>
            </a:r>
            <a:endParaRPr sz="3200" dirty="0">
              <a:solidFill>
                <a:schemeClr val="dk1"/>
              </a:solidFill>
              <a:latin typeface="Calibri"/>
              <a:ea typeface="Calibri"/>
              <a:cs typeface="Calibri"/>
              <a:sym typeface="Calibri"/>
            </a:endParaRPr>
          </a:p>
        </p:txBody>
      </p:sp>
      <p:sp>
        <p:nvSpPr>
          <p:cNvPr id="1595" name="Google Shape;1595;p75"/>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596" name="Google Shape;1596;p75"/>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597" name="Google Shape;1597;p75"/>
          <p:cNvSpPr/>
          <p:nvPr/>
        </p:nvSpPr>
        <p:spPr>
          <a:xfrm>
            <a:off x="804672" y="1792224"/>
            <a:ext cx="10607040" cy="38404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0F3D63"/>
              </a:buClr>
              <a:buSzPts val="1960"/>
              <a:buFont typeface="Calibri"/>
              <a:buNone/>
            </a:pPr>
            <a:r>
              <a:rPr lang="rw-RW" sz="2000" b="1" dirty="0">
                <a:solidFill>
                  <a:srgbClr val="0F3D63"/>
                </a:solidFill>
                <a:latin typeface="Calibri"/>
                <a:ea typeface="Calibri"/>
                <a:cs typeface="Calibri"/>
                <a:sym typeface="Calibri"/>
              </a:rPr>
              <a:t>Q5. </a:t>
            </a:r>
            <a:r>
              <a:rPr lang="rw-RW" sz="2000" b="1" i="1" dirty="0">
                <a:solidFill>
                  <a:srgbClr val="0F3D63"/>
                </a:solidFill>
                <a:latin typeface="Calibri"/>
                <a:ea typeface="Calibri"/>
                <a:cs typeface="Calibri"/>
                <a:sym typeface="Calibri"/>
              </a:rPr>
              <a:t>H. pylori ni</a:t>
            </a:r>
            <a:r>
              <a:rPr lang="rw-RW" sz="2000" b="1" dirty="0">
                <a:solidFill>
                  <a:srgbClr val="0F3D63"/>
                </a:solidFill>
                <a:latin typeface="Calibri"/>
                <a:ea typeface="Calibri"/>
                <a:cs typeface="Calibri"/>
                <a:sym typeface="Calibri"/>
              </a:rPr>
              <a:t>:</a:t>
            </a:r>
            <a:endParaRPr sz="1960" dirty="0">
              <a:solidFill>
                <a:schemeClr val="dk1"/>
              </a:solidFill>
              <a:latin typeface="Calibri"/>
              <a:ea typeface="Calibri"/>
              <a:cs typeface="Calibri"/>
              <a:sym typeface="Calibri"/>
            </a:endParaRPr>
          </a:p>
        </p:txBody>
      </p:sp>
      <p:sp>
        <p:nvSpPr>
          <p:cNvPr id="1598" name="Google Shape;1598;p75"/>
          <p:cNvSpPr/>
          <p:nvPr/>
        </p:nvSpPr>
        <p:spPr>
          <a:xfrm>
            <a:off x="822960" y="22311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54"/>
              <a:buFont typeface="Calibri"/>
              <a:buNone/>
            </a:pPr>
            <a:r>
              <a:rPr lang="rw-RW" sz="1800" b="1">
                <a:solidFill>
                  <a:srgbClr val="16334F"/>
                </a:solidFill>
                <a:latin typeface="Calibri"/>
                <a:ea typeface="Calibri"/>
                <a:cs typeface="Calibri"/>
                <a:sym typeface="Calibri"/>
              </a:rPr>
              <a:t>A. </a:t>
            </a:r>
            <a:r>
              <a:rPr lang="rw-RW" sz="1800">
                <a:solidFill>
                  <a:srgbClr val="16334F"/>
                </a:solidFill>
                <a:latin typeface="Calibri"/>
                <a:ea typeface="Calibri"/>
                <a:cs typeface="Calibri"/>
                <a:sym typeface="Calibri"/>
              </a:rPr>
              <a:t>Kanseri</a:t>
            </a:r>
            <a:endParaRPr sz="1755">
              <a:solidFill>
                <a:schemeClr val="dk1"/>
              </a:solidFill>
              <a:latin typeface="Calibri"/>
              <a:ea typeface="Calibri"/>
              <a:cs typeface="Calibri"/>
              <a:sym typeface="Calibri"/>
            </a:endParaRPr>
          </a:p>
        </p:txBody>
      </p:sp>
      <p:sp>
        <p:nvSpPr>
          <p:cNvPr id="1599" name="Google Shape;1599;p75"/>
          <p:cNvSpPr/>
          <p:nvPr/>
        </p:nvSpPr>
        <p:spPr>
          <a:xfrm>
            <a:off x="6172200" y="2231136"/>
            <a:ext cx="5166360" cy="438912"/>
          </a:xfrm>
          <a:prstGeom prst="rect">
            <a:avLst/>
          </a:prstGeom>
          <a:noFill/>
          <a:ln>
            <a:noFill/>
          </a:ln>
        </p:spPr>
        <p:txBody>
          <a:bodyPr spcFirstLastPara="1" wrap="square" lIns="0" tIns="0" rIns="0" bIns="0" anchor="ctr" anchorCtr="0">
            <a:normAutofit fontScale="92500" lnSpcReduction="20000"/>
          </a:bodyPr>
          <a:lstStyle/>
          <a:p>
            <a:pPr marL="0" marR="0" lvl="0" indent="0" algn="l" rtl="0">
              <a:spcBef>
                <a:spcPts val="0"/>
              </a:spcBef>
              <a:spcAft>
                <a:spcPts val="0"/>
              </a:spcAft>
              <a:buClr>
                <a:srgbClr val="1B7A46"/>
              </a:buClr>
              <a:buSzPts val="1754"/>
              <a:buFont typeface="Calibri"/>
              <a:buNone/>
            </a:pPr>
            <a:r>
              <a:rPr lang="rw-RW" sz="1800" b="1" dirty="0">
                <a:solidFill>
                  <a:srgbClr val="1B7A46"/>
                </a:solidFill>
                <a:latin typeface="Calibri"/>
                <a:ea typeface="Calibri"/>
                <a:cs typeface="Calibri"/>
                <a:sym typeface="Calibri"/>
              </a:rPr>
              <a:t>B. Agakoko ko mu gifu kongera ibyago byo kurwara kanseri iyo kamaze igihe kirenga umwaka katavuwe ✓</a:t>
            </a:r>
            <a:endParaRPr sz="1755" dirty="0">
              <a:solidFill>
                <a:schemeClr val="dk1"/>
              </a:solidFill>
              <a:latin typeface="Calibri"/>
              <a:ea typeface="Calibri"/>
              <a:cs typeface="Calibri"/>
              <a:sym typeface="Calibri"/>
            </a:endParaRPr>
          </a:p>
        </p:txBody>
      </p:sp>
      <p:sp>
        <p:nvSpPr>
          <p:cNvPr id="1600" name="Google Shape;1600;p75"/>
          <p:cNvSpPr/>
          <p:nvPr/>
        </p:nvSpPr>
        <p:spPr>
          <a:xfrm>
            <a:off x="82296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54"/>
              <a:buFont typeface="Calibri"/>
              <a:buNone/>
            </a:pPr>
            <a:r>
              <a:rPr lang="rw-RW" sz="1800" b="1">
                <a:solidFill>
                  <a:srgbClr val="16334F"/>
                </a:solidFill>
                <a:latin typeface="Calibri"/>
                <a:ea typeface="Calibri"/>
                <a:cs typeface="Calibri"/>
                <a:sym typeface="Calibri"/>
              </a:rPr>
              <a:t>C. </a:t>
            </a:r>
            <a:r>
              <a:rPr lang="rw-RW" sz="1800">
                <a:solidFill>
                  <a:srgbClr val="16334F"/>
                </a:solidFill>
                <a:latin typeface="Calibri"/>
                <a:ea typeface="Calibri"/>
                <a:cs typeface="Calibri"/>
                <a:sym typeface="Calibri"/>
              </a:rPr>
              <a:t>Umuti</a:t>
            </a:r>
            <a:endParaRPr sz="1755">
              <a:solidFill>
                <a:schemeClr val="dk1"/>
              </a:solidFill>
              <a:latin typeface="Calibri"/>
              <a:ea typeface="Calibri"/>
              <a:cs typeface="Calibri"/>
              <a:sym typeface="Calibri"/>
            </a:endParaRPr>
          </a:p>
        </p:txBody>
      </p:sp>
      <p:sp>
        <p:nvSpPr>
          <p:cNvPr id="1601" name="Google Shape;1601;p75"/>
          <p:cNvSpPr/>
          <p:nvPr/>
        </p:nvSpPr>
        <p:spPr>
          <a:xfrm>
            <a:off x="617220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54"/>
              <a:buFont typeface="Calibri"/>
              <a:buNone/>
            </a:pPr>
            <a:r>
              <a:rPr lang="rw-RW" sz="1800" b="1">
                <a:solidFill>
                  <a:srgbClr val="16334F"/>
                </a:solidFill>
                <a:latin typeface="Calibri"/>
                <a:ea typeface="Calibri"/>
                <a:cs typeface="Calibri"/>
                <a:sym typeface="Calibri"/>
              </a:rPr>
              <a:t>D. </a:t>
            </a:r>
            <a:r>
              <a:rPr lang="rw-RW" sz="1800">
                <a:solidFill>
                  <a:srgbClr val="16334F"/>
                </a:solidFill>
                <a:latin typeface="Calibri"/>
                <a:ea typeface="Calibri"/>
                <a:cs typeface="Calibri"/>
                <a:sym typeface="Calibri"/>
              </a:rPr>
              <a:t>Ibiryo</a:t>
            </a:r>
            <a:endParaRPr sz="1755">
              <a:solidFill>
                <a:schemeClr val="dk1"/>
              </a:solidFill>
              <a:latin typeface="Calibri"/>
              <a:ea typeface="Calibri"/>
              <a:cs typeface="Calibri"/>
              <a:sym typeface="Calibri"/>
            </a:endParaRPr>
          </a:p>
        </p:txBody>
      </p:sp>
      <p:sp>
        <p:nvSpPr>
          <p:cNvPr id="1602" name="Google Shape;1602;p75"/>
          <p:cNvSpPr/>
          <p:nvPr/>
        </p:nvSpPr>
        <p:spPr>
          <a:xfrm>
            <a:off x="822960" y="325526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a:solidFill>
                  <a:srgbClr val="1B7A46"/>
                </a:solidFill>
                <a:latin typeface="Calibri"/>
                <a:ea typeface="Calibri"/>
                <a:cs typeface="Calibri"/>
                <a:sym typeface="Calibri"/>
              </a:rPr>
              <a:t>Ukuri: B. Ni agakoko gashobora kuvurwa. Ntabwo ari kanseri.</a:t>
            </a:r>
            <a:endParaRPr sz="1800">
              <a:solidFill>
                <a:schemeClr val="dk1"/>
              </a:solidFill>
              <a:latin typeface="Calibri"/>
              <a:ea typeface="Calibri"/>
              <a:cs typeface="Calibri"/>
              <a:sym typeface="Calibri"/>
            </a:endParaRPr>
          </a:p>
        </p:txBody>
      </p:sp>
      <p:sp>
        <p:nvSpPr>
          <p:cNvPr id="1603" name="Google Shape;1603;p75"/>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604" name="Google Shape;1604;p75"/>
          <p:cNvSpPr/>
          <p:nvPr/>
        </p:nvSpPr>
        <p:spPr>
          <a:xfrm>
            <a:off x="804672" y="4215384"/>
            <a:ext cx="10607040" cy="384048"/>
          </a:xfrm>
          <a:prstGeom prst="rect">
            <a:avLst/>
          </a:prstGeom>
          <a:noFill/>
          <a:ln>
            <a:noFill/>
          </a:ln>
        </p:spPr>
        <p:txBody>
          <a:bodyPr spcFirstLastPara="1" wrap="square" lIns="0" tIns="0" rIns="0" bIns="0" anchor="ctr" anchorCtr="0">
            <a:normAutofit fontScale="92500"/>
          </a:bodyPr>
          <a:lstStyle/>
          <a:p>
            <a:pPr marL="0" marR="0" lvl="0" indent="0" algn="l" rtl="0">
              <a:spcBef>
                <a:spcPts val="0"/>
              </a:spcBef>
              <a:spcAft>
                <a:spcPts val="0"/>
              </a:spcAft>
              <a:buClr>
                <a:srgbClr val="0F3D63"/>
              </a:buClr>
              <a:buSzPts val="1810"/>
              <a:buFont typeface="Calibri"/>
              <a:buNone/>
            </a:pPr>
            <a:r>
              <a:rPr lang="rw-RW" sz="2000" b="1" dirty="0">
                <a:solidFill>
                  <a:srgbClr val="0F3D63"/>
                </a:solidFill>
                <a:latin typeface="Calibri"/>
                <a:ea typeface="Calibri"/>
                <a:cs typeface="Calibri"/>
                <a:sym typeface="Calibri"/>
              </a:rPr>
              <a:t>Q6. Umugore afite ubwoba ko kumufatira ibizamini bishobora gukwirakwiza uburwayi bwe. Ugomba:</a:t>
            </a:r>
            <a:endParaRPr sz="1810" dirty="0">
              <a:solidFill>
                <a:schemeClr val="dk1"/>
              </a:solidFill>
              <a:latin typeface="Calibri"/>
              <a:ea typeface="Calibri"/>
              <a:cs typeface="Calibri"/>
              <a:sym typeface="Calibri"/>
            </a:endParaRPr>
          </a:p>
        </p:txBody>
      </p:sp>
      <p:sp>
        <p:nvSpPr>
          <p:cNvPr id="1605" name="Google Shape;1605;p75"/>
          <p:cNvSpPr/>
          <p:nvPr/>
        </p:nvSpPr>
        <p:spPr>
          <a:xfrm>
            <a:off x="822960" y="46542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54"/>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Kumwemeranya nawe</a:t>
            </a:r>
            <a:endParaRPr sz="1755" dirty="0">
              <a:solidFill>
                <a:schemeClr val="dk1"/>
              </a:solidFill>
              <a:latin typeface="Calibri"/>
              <a:ea typeface="Calibri"/>
              <a:cs typeface="Calibri"/>
              <a:sym typeface="Calibri"/>
            </a:endParaRPr>
          </a:p>
        </p:txBody>
      </p:sp>
      <p:sp>
        <p:nvSpPr>
          <p:cNvPr id="1606" name="Google Shape;1606;p75"/>
          <p:cNvSpPr/>
          <p:nvPr/>
        </p:nvSpPr>
        <p:spPr>
          <a:xfrm>
            <a:off x="6172200" y="4654296"/>
            <a:ext cx="5166360" cy="438912"/>
          </a:xfrm>
          <a:prstGeom prst="rect">
            <a:avLst/>
          </a:prstGeom>
          <a:noFill/>
          <a:ln>
            <a:noFill/>
          </a:ln>
        </p:spPr>
        <p:txBody>
          <a:bodyPr spcFirstLastPara="1" wrap="square" lIns="0" tIns="0" rIns="0" bIns="0" anchor="ctr" anchorCtr="0">
            <a:normAutofit fontScale="92500" lnSpcReduction="20000"/>
          </a:bodyPr>
          <a:lstStyle/>
          <a:p>
            <a:pPr marL="0" marR="0" lvl="0" indent="0" algn="l" rtl="0">
              <a:spcBef>
                <a:spcPts val="0"/>
              </a:spcBef>
              <a:spcAft>
                <a:spcPts val="0"/>
              </a:spcAft>
              <a:buClr>
                <a:srgbClr val="1B7A46"/>
              </a:buClr>
              <a:buSzPts val="1620"/>
              <a:buFont typeface="Calibri"/>
              <a:buNone/>
            </a:pPr>
            <a:r>
              <a:rPr lang="rw-RW" sz="1800" b="1" dirty="0">
                <a:solidFill>
                  <a:srgbClr val="1B7A46"/>
                </a:solidFill>
                <a:latin typeface="Calibri"/>
                <a:ea typeface="Calibri"/>
                <a:cs typeface="Calibri"/>
                <a:sym typeface="Calibri"/>
              </a:rPr>
              <a:t>B. Gusobanura ko gufata agace gato k’umubiri ko gusuzuma bidakwirakwiza indwara ✓</a:t>
            </a:r>
            <a:endParaRPr sz="1620" dirty="0">
              <a:solidFill>
                <a:schemeClr val="dk1"/>
              </a:solidFill>
              <a:latin typeface="Calibri"/>
              <a:ea typeface="Calibri"/>
              <a:cs typeface="Calibri"/>
              <a:sym typeface="Calibri"/>
            </a:endParaRPr>
          </a:p>
        </p:txBody>
      </p:sp>
      <p:sp>
        <p:nvSpPr>
          <p:cNvPr id="1607" name="Google Shape;1607;p75"/>
          <p:cNvSpPr/>
          <p:nvPr/>
        </p:nvSpPr>
        <p:spPr>
          <a:xfrm>
            <a:off x="82296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54"/>
              <a:buFont typeface="Calibri"/>
              <a:buNone/>
            </a:pPr>
            <a:r>
              <a:rPr lang="rw-RW" sz="1800" b="1" dirty="0">
                <a:solidFill>
                  <a:srgbClr val="16334F"/>
                </a:solidFill>
                <a:latin typeface="Calibri"/>
                <a:ea typeface="Calibri"/>
                <a:cs typeface="Calibri"/>
                <a:sym typeface="Calibri"/>
              </a:rPr>
              <a:t>C. </a:t>
            </a:r>
            <a:r>
              <a:rPr lang="rw-RW" sz="1800" dirty="0">
                <a:solidFill>
                  <a:srgbClr val="16334F"/>
                </a:solidFill>
                <a:latin typeface="Calibri"/>
                <a:ea typeface="Calibri"/>
                <a:cs typeface="Calibri"/>
                <a:sym typeface="Calibri"/>
              </a:rPr>
              <a:t>Kumubwira ko akareka icyo kizamini</a:t>
            </a:r>
            <a:endParaRPr sz="1755" dirty="0">
              <a:solidFill>
                <a:schemeClr val="dk1"/>
              </a:solidFill>
              <a:latin typeface="Calibri"/>
              <a:ea typeface="Calibri"/>
              <a:cs typeface="Calibri"/>
              <a:sym typeface="Calibri"/>
            </a:endParaRPr>
          </a:p>
        </p:txBody>
      </p:sp>
      <p:sp>
        <p:nvSpPr>
          <p:cNvPr id="1608" name="Google Shape;1608;p75"/>
          <p:cNvSpPr/>
          <p:nvPr/>
        </p:nvSpPr>
        <p:spPr>
          <a:xfrm>
            <a:off x="617220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54"/>
              <a:buFont typeface="Calibri"/>
              <a:buNone/>
            </a:pPr>
            <a:r>
              <a:rPr lang="rw-RW" sz="1800" b="1">
                <a:solidFill>
                  <a:srgbClr val="16334F"/>
                </a:solidFill>
                <a:latin typeface="Calibri"/>
                <a:ea typeface="Calibri"/>
                <a:cs typeface="Calibri"/>
                <a:sym typeface="Calibri"/>
              </a:rPr>
              <a:t>D. </a:t>
            </a:r>
            <a:r>
              <a:rPr lang="rw-RW" sz="1800">
                <a:solidFill>
                  <a:srgbClr val="16334F"/>
                </a:solidFill>
                <a:latin typeface="Calibri"/>
                <a:ea typeface="Calibri"/>
                <a:cs typeface="Calibri"/>
                <a:sym typeface="Calibri"/>
              </a:rPr>
              <a:t>Ntugire icyo uvuga</a:t>
            </a:r>
            <a:endParaRPr sz="1755">
              <a:solidFill>
                <a:schemeClr val="dk1"/>
              </a:solidFill>
              <a:latin typeface="Calibri"/>
              <a:ea typeface="Calibri"/>
              <a:cs typeface="Calibri"/>
              <a:sym typeface="Calibri"/>
            </a:endParaRPr>
          </a:p>
        </p:txBody>
      </p:sp>
      <p:sp>
        <p:nvSpPr>
          <p:cNvPr id="1609" name="Google Shape;1609;p75"/>
          <p:cNvSpPr/>
          <p:nvPr/>
        </p:nvSpPr>
        <p:spPr>
          <a:xfrm>
            <a:off x="822960" y="567842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a:solidFill>
                  <a:srgbClr val="1B7A46"/>
                </a:solidFill>
                <a:latin typeface="Calibri"/>
                <a:ea typeface="Calibri"/>
                <a:cs typeface="Calibri"/>
                <a:sym typeface="Calibri"/>
              </a:rPr>
              <a:t>Ukuri: B. </a:t>
            </a:r>
            <a:r>
              <a:rPr lang="rw-RW" sz="1800" i="1">
                <a:solidFill>
                  <a:srgbClr val="1B7A46"/>
                </a:solidFill>
                <a:latin typeface="Calibri"/>
                <a:ea typeface="Calibri"/>
                <a:cs typeface="Calibri"/>
                <a:sym typeface="Calibri"/>
              </a:rPr>
              <a:t>Kosora icyo yizera wubaha kugira ngo ashobore kwemera ikizamini.</a:t>
            </a:r>
            <a:endParaRPr sz="1800">
              <a:solidFill>
                <a:schemeClr val="dk1"/>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14"/>
        <p:cNvGrpSpPr/>
        <p:nvPr/>
      </p:nvGrpSpPr>
      <p:grpSpPr>
        <a:xfrm>
          <a:off x="0" y="0"/>
          <a:ext cx="0" cy="0"/>
          <a:chOff x="0" y="0"/>
          <a:chExt cx="0" cy="0"/>
        </a:xfrm>
      </p:grpSpPr>
      <p:sp>
        <p:nvSpPr>
          <p:cNvPr id="1615" name="Google Shape;1615;p76"/>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ISUZUMABUMENYI RISOZA</a:t>
            </a:r>
            <a:endParaRPr sz="1100">
              <a:solidFill>
                <a:schemeClr val="dk1"/>
              </a:solidFill>
              <a:latin typeface="Calibri"/>
              <a:ea typeface="Calibri"/>
              <a:cs typeface="Calibri"/>
              <a:sym typeface="Calibri"/>
            </a:endParaRPr>
          </a:p>
        </p:txBody>
      </p:sp>
      <p:sp>
        <p:nvSpPr>
          <p:cNvPr id="1616" name="Google Shape;1616;p76"/>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Ikibazo (4/10)</a:t>
            </a:r>
            <a:endParaRPr sz="3200">
              <a:solidFill>
                <a:schemeClr val="dk1"/>
              </a:solidFill>
              <a:latin typeface="Calibri"/>
              <a:ea typeface="Calibri"/>
              <a:cs typeface="Calibri"/>
              <a:sym typeface="Calibri"/>
            </a:endParaRPr>
          </a:p>
        </p:txBody>
      </p:sp>
      <p:sp>
        <p:nvSpPr>
          <p:cNvPr id="1617" name="Google Shape;1617;p76"/>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618" name="Google Shape;1618;p76"/>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619" name="Google Shape;1619;p76"/>
          <p:cNvSpPr/>
          <p:nvPr/>
        </p:nvSpPr>
        <p:spPr>
          <a:xfrm>
            <a:off x="804672" y="17922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Q7. Ni ikihe muri ibi bintu cyongera ibyago ariko gishobora guhinduka?</a:t>
            </a:r>
            <a:endParaRPr sz="2000" dirty="0">
              <a:solidFill>
                <a:schemeClr val="dk1"/>
              </a:solidFill>
              <a:latin typeface="Calibri"/>
              <a:ea typeface="Calibri"/>
              <a:cs typeface="Calibri"/>
              <a:sym typeface="Calibri"/>
            </a:endParaRPr>
          </a:p>
        </p:txBody>
      </p:sp>
      <p:sp>
        <p:nvSpPr>
          <p:cNvPr id="1620" name="Google Shape;1620;p76"/>
          <p:cNvSpPr/>
          <p:nvPr/>
        </p:nvSpPr>
        <p:spPr>
          <a:xfrm>
            <a:off x="822960" y="22311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19"/>
              <a:buFont typeface="Calibri"/>
              <a:buNone/>
            </a:pPr>
            <a:r>
              <a:rPr lang="rw-RW" sz="1800" b="1">
                <a:solidFill>
                  <a:srgbClr val="16334F"/>
                </a:solidFill>
                <a:latin typeface="Calibri"/>
                <a:ea typeface="Calibri"/>
                <a:cs typeface="Calibri"/>
                <a:sym typeface="Calibri"/>
              </a:rPr>
              <a:t>A. </a:t>
            </a:r>
            <a:r>
              <a:rPr lang="rw-RW" sz="1800">
                <a:solidFill>
                  <a:srgbClr val="16334F"/>
                </a:solidFill>
                <a:latin typeface="Calibri"/>
                <a:ea typeface="Calibri"/>
                <a:cs typeface="Calibri"/>
                <a:sym typeface="Calibri"/>
              </a:rPr>
              <a:t>Gusaza</a:t>
            </a:r>
            <a:endParaRPr sz="1719">
              <a:solidFill>
                <a:schemeClr val="dk1"/>
              </a:solidFill>
              <a:latin typeface="Calibri"/>
              <a:ea typeface="Calibri"/>
              <a:cs typeface="Calibri"/>
              <a:sym typeface="Calibri"/>
            </a:endParaRPr>
          </a:p>
        </p:txBody>
      </p:sp>
      <p:sp>
        <p:nvSpPr>
          <p:cNvPr id="1621" name="Google Shape;1621;p76"/>
          <p:cNvSpPr/>
          <p:nvPr/>
        </p:nvSpPr>
        <p:spPr>
          <a:xfrm>
            <a:off x="6172200" y="22311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B7A46"/>
              </a:buClr>
              <a:buSzPts val="1719"/>
              <a:buFont typeface="Calibri"/>
              <a:buNone/>
            </a:pPr>
            <a:r>
              <a:rPr lang="rw-RW" sz="1800" b="1">
                <a:solidFill>
                  <a:srgbClr val="1B7A46"/>
                </a:solidFill>
                <a:latin typeface="Calibri"/>
                <a:ea typeface="Calibri"/>
                <a:cs typeface="Calibri"/>
                <a:sym typeface="Calibri"/>
              </a:rPr>
              <a:t>B. Kunywa inzoga ✓</a:t>
            </a:r>
            <a:endParaRPr sz="1719">
              <a:solidFill>
                <a:schemeClr val="dk1"/>
              </a:solidFill>
              <a:latin typeface="Calibri"/>
              <a:ea typeface="Calibri"/>
              <a:cs typeface="Calibri"/>
              <a:sym typeface="Calibri"/>
            </a:endParaRPr>
          </a:p>
        </p:txBody>
      </p:sp>
      <p:sp>
        <p:nvSpPr>
          <p:cNvPr id="1622" name="Google Shape;1622;p76"/>
          <p:cNvSpPr/>
          <p:nvPr/>
        </p:nvSpPr>
        <p:spPr>
          <a:xfrm>
            <a:off x="82296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19"/>
              <a:buFont typeface="Calibri"/>
              <a:buNone/>
            </a:pPr>
            <a:r>
              <a:rPr lang="rw-RW" sz="1800" b="1">
                <a:solidFill>
                  <a:srgbClr val="16334F"/>
                </a:solidFill>
                <a:latin typeface="Calibri"/>
                <a:ea typeface="Calibri"/>
                <a:cs typeface="Calibri"/>
                <a:sym typeface="Calibri"/>
              </a:rPr>
              <a:t>C. </a:t>
            </a:r>
            <a:r>
              <a:rPr lang="rw-RW" sz="1800">
                <a:solidFill>
                  <a:srgbClr val="16334F"/>
                </a:solidFill>
                <a:latin typeface="Calibri"/>
                <a:ea typeface="Calibri"/>
                <a:cs typeface="Calibri"/>
                <a:sym typeface="Calibri"/>
              </a:rPr>
              <a:t>Amateka y'umuryango</a:t>
            </a:r>
            <a:endParaRPr sz="1719">
              <a:solidFill>
                <a:schemeClr val="dk1"/>
              </a:solidFill>
              <a:latin typeface="Calibri"/>
              <a:ea typeface="Calibri"/>
              <a:cs typeface="Calibri"/>
              <a:sym typeface="Calibri"/>
            </a:endParaRPr>
          </a:p>
        </p:txBody>
      </p:sp>
      <p:sp>
        <p:nvSpPr>
          <p:cNvPr id="1623" name="Google Shape;1623;p76"/>
          <p:cNvSpPr/>
          <p:nvPr/>
        </p:nvSpPr>
        <p:spPr>
          <a:xfrm>
            <a:off x="617220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19"/>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Kuba uri umugabo</a:t>
            </a:r>
            <a:endParaRPr sz="1719" dirty="0">
              <a:solidFill>
                <a:schemeClr val="dk1"/>
              </a:solidFill>
              <a:latin typeface="Calibri"/>
              <a:ea typeface="Calibri"/>
              <a:cs typeface="Calibri"/>
              <a:sym typeface="Calibri"/>
            </a:endParaRPr>
          </a:p>
        </p:txBody>
      </p:sp>
      <p:sp>
        <p:nvSpPr>
          <p:cNvPr id="1624" name="Google Shape;1624;p76"/>
          <p:cNvSpPr/>
          <p:nvPr/>
        </p:nvSpPr>
        <p:spPr>
          <a:xfrm>
            <a:off x="822960" y="325526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Ukuri: B. </a:t>
            </a:r>
            <a:r>
              <a:rPr lang="rw-RW" sz="1800" i="1" dirty="0">
                <a:solidFill>
                  <a:srgbClr val="1B7A46"/>
                </a:solidFill>
                <a:latin typeface="Calibri"/>
                <a:ea typeface="Calibri"/>
                <a:cs typeface="Calibri"/>
                <a:sym typeface="Calibri"/>
              </a:rPr>
              <a:t>Kunywa inzoga bishobora guhinduka. Imyaka n'amateka y'umuryango ntibyahinduka.</a:t>
            </a:r>
            <a:endParaRPr sz="1800" dirty="0">
              <a:solidFill>
                <a:schemeClr val="dk1"/>
              </a:solidFill>
              <a:latin typeface="Calibri"/>
              <a:ea typeface="Calibri"/>
              <a:cs typeface="Calibri"/>
              <a:sym typeface="Calibri"/>
            </a:endParaRPr>
          </a:p>
        </p:txBody>
      </p:sp>
      <p:sp>
        <p:nvSpPr>
          <p:cNvPr id="1625" name="Google Shape;1625;p76"/>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626" name="Google Shape;1626;p76"/>
          <p:cNvSpPr/>
          <p:nvPr/>
        </p:nvSpPr>
        <p:spPr>
          <a:xfrm>
            <a:off x="804672" y="42153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Q8. Ikintu kimwe gusa gishobora kwemeza ko uburwayi ari kanseri ni:</a:t>
            </a:r>
            <a:endParaRPr sz="2000" dirty="0">
              <a:solidFill>
                <a:schemeClr val="dk1"/>
              </a:solidFill>
              <a:latin typeface="Calibri"/>
              <a:ea typeface="Calibri"/>
              <a:cs typeface="Calibri"/>
              <a:sym typeface="Calibri"/>
            </a:endParaRPr>
          </a:p>
        </p:txBody>
      </p:sp>
      <p:sp>
        <p:nvSpPr>
          <p:cNvPr id="1627" name="Google Shape;1627;p76"/>
          <p:cNvSpPr/>
          <p:nvPr/>
        </p:nvSpPr>
        <p:spPr>
          <a:xfrm>
            <a:off x="822960" y="46542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19"/>
              <a:buFont typeface="Calibri"/>
              <a:buNone/>
            </a:pPr>
            <a:r>
              <a:rPr lang="rw-RW" sz="1800" b="1">
                <a:solidFill>
                  <a:srgbClr val="16334F"/>
                </a:solidFill>
                <a:latin typeface="Calibri"/>
                <a:ea typeface="Calibri"/>
                <a:cs typeface="Calibri"/>
                <a:sym typeface="Calibri"/>
              </a:rPr>
              <a:t>A. Uko umuntu asa</a:t>
            </a:r>
            <a:endParaRPr sz="1719">
              <a:solidFill>
                <a:schemeClr val="dk1"/>
              </a:solidFill>
              <a:latin typeface="Calibri"/>
              <a:ea typeface="Calibri"/>
              <a:cs typeface="Calibri"/>
              <a:sym typeface="Calibri"/>
            </a:endParaRPr>
          </a:p>
        </p:txBody>
      </p:sp>
      <p:sp>
        <p:nvSpPr>
          <p:cNvPr id="1628" name="Google Shape;1628;p76"/>
          <p:cNvSpPr/>
          <p:nvPr/>
        </p:nvSpPr>
        <p:spPr>
          <a:xfrm>
            <a:off x="6172200" y="4654296"/>
            <a:ext cx="5166360" cy="438912"/>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1B7A46"/>
              </a:buClr>
              <a:buSzPts val="1584"/>
              <a:buFont typeface="Calibri"/>
              <a:buNone/>
            </a:pPr>
            <a:r>
              <a:rPr lang="rw-RW" sz="1800" b="1" dirty="0">
                <a:solidFill>
                  <a:srgbClr val="1B7A46"/>
                </a:solidFill>
                <a:latin typeface="Calibri"/>
                <a:ea typeface="Calibri"/>
                <a:cs typeface="Calibri"/>
                <a:sym typeface="Calibri"/>
              </a:rPr>
              <a:t>B. Ikizamini cya laboratwari ku gace gato k’umubiri ✓</a:t>
            </a:r>
            <a:endParaRPr sz="1584" dirty="0">
              <a:solidFill>
                <a:schemeClr val="dk1"/>
              </a:solidFill>
              <a:latin typeface="Calibri"/>
              <a:ea typeface="Calibri"/>
              <a:cs typeface="Calibri"/>
              <a:sym typeface="Calibri"/>
            </a:endParaRPr>
          </a:p>
        </p:txBody>
      </p:sp>
      <p:sp>
        <p:nvSpPr>
          <p:cNvPr id="1629" name="Google Shape;1629;p76"/>
          <p:cNvSpPr/>
          <p:nvPr/>
        </p:nvSpPr>
        <p:spPr>
          <a:xfrm>
            <a:off x="82296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19"/>
              <a:buFont typeface="Calibri"/>
              <a:buNone/>
            </a:pPr>
            <a:r>
              <a:rPr lang="rw-RW" sz="1800" b="1">
                <a:solidFill>
                  <a:srgbClr val="16334F"/>
                </a:solidFill>
                <a:latin typeface="Calibri"/>
                <a:ea typeface="Calibri"/>
                <a:cs typeface="Calibri"/>
                <a:sym typeface="Calibri"/>
              </a:rPr>
              <a:t>C. </a:t>
            </a:r>
            <a:r>
              <a:rPr lang="rw-RW" sz="1800">
                <a:solidFill>
                  <a:srgbClr val="16334F"/>
                </a:solidFill>
                <a:latin typeface="Calibri"/>
                <a:ea typeface="Calibri"/>
                <a:cs typeface="Calibri"/>
                <a:sym typeface="Calibri"/>
              </a:rPr>
              <a:t>Ikibazo n'igisubizo</a:t>
            </a:r>
            <a:endParaRPr sz="1719">
              <a:solidFill>
                <a:schemeClr val="dk1"/>
              </a:solidFill>
              <a:latin typeface="Calibri"/>
              <a:ea typeface="Calibri"/>
              <a:cs typeface="Calibri"/>
              <a:sym typeface="Calibri"/>
            </a:endParaRPr>
          </a:p>
        </p:txBody>
      </p:sp>
      <p:sp>
        <p:nvSpPr>
          <p:cNvPr id="1630" name="Google Shape;1630;p76"/>
          <p:cNvSpPr/>
          <p:nvPr/>
        </p:nvSpPr>
        <p:spPr>
          <a:xfrm>
            <a:off x="617220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19"/>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Gupima ibiro by’umuntu</a:t>
            </a:r>
            <a:endParaRPr sz="1719" dirty="0">
              <a:solidFill>
                <a:schemeClr val="dk1"/>
              </a:solidFill>
              <a:latin typeface="Calibri"/>
              <a:ea typeface="Calibri"/>
              <a:cs typeface="Calibri"/>
              <a:sym typeface="Calibri"/>
            </a:endParaRPr>
          </a:p>
        </p:txBody>
      </p:sp>
      <p:sp>
        <p:nvSpPr>
          <p:cNvPr id="1631" name="Google Shape;1631;p76"/>
          <p:cNvSpPr/>
          <p:nvPr/>
        </p:nvSpPr>
        <p:spPr>
          <a:xfrm>
            <a:off x="822960" y="567842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Ukuri: B. </a:t>
            </a:r>
            <a:r>
              <a:rPr lang="rw-RW" sz="1800" i="1" dirty="0">
                <a:solidFill>
                  <a:srgbClr val="1B7A46"/>
                </a:solidFill>
                <a:latin typeface="Calibri"/>
                <a:ea typeface="Calibri"/>
                <a:cs typeface="Calibri"/>
                <a:sym typeface="Calibri"/>
              </a:rPr>
              <a:t>Ikizamini cya laboratwari ku gace gato kafashwe aharwaye ni cyo cyemeza ko ari kanseri.</a:t>
            </a:r>
            <a:endParaRPr sz="1800" dirty="0">
              <a:solidFill>
                <a:schemeClr val="dk1"/>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36"/>
        <p:cNvGrpSpPr/>
        <p:nvPr/>
      </p:nvGrpSpPr>
      <p:grpSpPr>
        <a:xfrm>
          <a:off x="0" y="0"/>
          <a:ext cx="0" cy="0"/>
          <a:chOff x="0" y="0"/>
          <a:chExt cx="0" cy="0"/>
        </a:xfrm>
      </p:grpSpPr>
      <p:sp>
        <p:nvSpPr>
          <p:cNvPr id="1637" name="Google Shape;1637;p77"/>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ISUZUMABUMENYI RISOZA</a:t>
            </a:r>
            <a:endParaRPr sz="1100">
              <a:solidFill>
                <a:schemeClr val="dk1"/>
              </a:solidFill>
              <a:latin typeface="Calibri"/>
              <a:ea typeface="Calibri"/>
              <a:cs typeface="Calibri"/>
              <a:sym typeface="Calibri"/>
            </a:endParaRPr>
          </a:p>
        </p:txBody>
      </p:sp>
      <p:sp>
        <p:nvSpPr>
          <p:cNvPr id="1638" name="Google Shape;1638;p77"/>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dirty="0">
                <a:solidFill>
                  <a:srgbClr val="0F3D63"/>
                </a:solidFill>
                <a:latin typeface="Cambria"/>
                <a:ea typeface="Cambria"/>
                <a:cs typeface="Cambria"/>
                <a:sym typeface="Cambria"/>
              </a:rPr>
              <a:t>Ikibazo (5/10)</a:t>
            </a:r>
            <a:endParaRPr sz="3200" dirty="0">
              <a:solidFill>
                <a:schemeClr val="dk1"/>
              </a:solidFill>
              <a:latin typeface="Calibri"/>
              <a:ea typeface="Calibri"/>
              <a:cs typeface="Calibri"/>
              <a:sym typeface="Calibri"/>
            </a:endParaRPr>
          </a:p>
        </p:txBody>
      </p:sp>
      <p:sp>
        <p:nvSpPr>
          <p:cNvPr id="1639" name="Google Shape;1639;p77"/>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640" name="Google Shape;1640;p77"/>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641" name="Google Shape;1641;p77"/>
          <p:cNvSpPr/>
          <p:nvPr/>
        </p:nvSpPr>
        <p:spPr>
          <a:xfrm>
            <a:off x="804672" y="17922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Q9. Ikizamini cya Kamera (Endoscopy) ni:</a:t>
            </a:r>
            <a:endParaRPr sz="2000" dirty="0">
              <a:solidFill>
                <a:schemeClr val="dk1"/>
              </a:solidFill>
              <a:latin typeface="Calibri"/>
              <a:ea typeface="Calibri"/>
              <a:cs typeface="Calibri"/>
              <a:sym typeface="Calibri"/>
            </a:endParaRPr>
          </a:p>
        </p:txBody>
      </p:sp>
      <p:sp>
        <p:nvSpPr>
          <p:cNvPr id="1642" name="Google Shape;1642;p77"/>
          <p:cNvSpPr/>
          <p:nvPr/>
        </p:nvSpPr>
        <p:spPr>
          <a:xfrm>
            <a:off x="822960" y="22311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a:solidFill>
                  <a:srgbClr val="16334F"/>
                </a:solidFill>
                <a:latin typeface="Calibri"/>
                <a:ea typeface="Calibri"/>
                <a:cs typeface="Calibri"/>
                <a:sym typeface="Calibri"/>
              </a:rPr>
              <a:t>A. </a:t>
            </a:r>
            <a:r>
              <a:rPr lang="rw-RW" sz="1800">
                <a:solidFill>
                  <a:srgbClr val="16334F"/>
                </a:solidFill>
                <a:latin typeface="Calibri"/>
                <a:ea typeface="Calibri"/>
                <a:cs typeface="Calibri"/>
                <a:sym typeface="Calibri"/>
              </a:rPr>
              <a:t> Igikorwa cyo kubaga</a:t>
            </a:r>
            <a:endParaRPr sz="1800">
              <a:solidFill>
                <a:schemeClr val="dk1"/>
              </a:solidFill>
              <a:latin typeface="Calibri"/>
              <a:ea typeface="Calibri"/>
              <a:cs typeface="Calibri"/>
              <a:sym typeface="Calibri"/>
            </a:endParaRPr>
          </a:p>
        </p:txBody>
      </p:sp>
      <p:sp>
        <p:nvSpPr>
          <p:cNvPr id="1643" name="Google Shape;1643;p77"/>
          <p:cNvSpPr/>
          <p:nvPr/>
        </p:nvSpPr>
        <p:spPr>
          <a:xfrm>
            <a:off x="6172200" y="22311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A46"/>
              </a:buClr>
              <a:buSzPts val="1800"/>
              <a:buFont typeface="Calibri"/>
              <a:buNone/>
            </a:pPr>
            <a:r>
              <a:rPr lang="rw-RW" sz="1800" b="1">
                <a:solidFill>
                  <a:srgbClr val="1B7A46"/>
                </a:solidFill>
                <a:latin typeface="Calibri"/>
                <a:ea typeface="Calibri"/>
                <a:cs typeface="Calibri"/>
                <a:sym typeface="Calibri"/>
              </a:rPr>
              <a:t>B. Kamera ntoya ikoreshwa kureba imbere mu gifu ✓</a:t>
            </a:r>
            <a:endParaRPr sz="1800">
              <a:solidFill>
                <a:schemeClr val="dk1"/>
              </a:solidFill>
              <a:latin typeface="Calibri"/>
              <a:ea typeface="Calibri"/>
              <a:cs typeface="Calibri"/>
              <a:sym typeface="Calibri"/>
            </a:endParaRPr>
          </a:p>
        </p:txBody>
      </p:sp>
      <p:sp>
        <p:nvSpPr>
          <p:cNvPr id="1644" name="Google Shape;1644;p77"/>
          <p:cNvSpPr/>
          <p:nvPr/>
        </p:nvSpPr>
        <p:spPr>
          <a:xfrm>
            <a:off x="822960" y="27066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a:solidFill>
                  <a:srgbClr val="16334F"/>
                </a:solidFill>
                <a:latin typeface="Calibri"/>
                <a:ea typeface="Calibri"/>
                <a:cs typeface="Calibri"/>
                <a:sym typeface="Calibri"/>
              </a:rPr>
              <a:t>C. </a:t>
            </a:r>
            <a:r>
              <a:rPr lang="rw-RW" sz="1800">
                <a:solidFill>
                  <a:srgbClr val="16334F"/>
                </a:solidFill>
                <a:latin typeface="Calibri"/>
                <a:ea typeface="Calibri"/>
                <a:cs typeface="Calibri"/>
                <a:sym typeface="Calibri"/>
              </a:rPr>
              <a:t>Umuti wa kanseri</a:t>
            </a:r>
            <a:endParaRPr sz="1800">
              <a:solidFill>
                <a:schemeClr val="dk1"/>
              </a:solidFill>
              <a:latin typeface="Calibri"/>
              <a:ea typeface="Calibri"/>
              <a:cs typeface="Calibri"/>
              <a:sym typeface="Calibri"/>
            </a:endParaRPr>
          </a:p>
        </p:txBody>
      </p:sp>
      <p:sp>
        <p:nvSpPr>
          <p:cNvPr id="1645" name="Google Shape;1645;p77"/>
          <p:cNvSpPr/>
          <p:nvPr/>
        </p:nvSpPr>
        <p:spPr>
          <a:xfrm>
            <a:off x="6172200" y="27066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a:solidFill>
                  <a:srgbClr val="16334F"/>
                </a:solidFill>
                <a:latin typeface="Calibri"/>
                <a:ea typeface="Calibri"/>
                <a:cs typeface="Calibri"/>
                <a:sym typeface="Calibri"/>
              </a:rPr>
              <a:t>D. </a:t>
            </a:r>
            <a:r>
              <a:rPr lang="rw-RW" sz="1800">
                <a:solidFill>
                  <a:srgbClr val="16334F"/>
                </a:solidFill>
                <a:latin typeface="Calibri"/>
                <a:ea typeface="Calibri"/>
                <a:cs typeface="Calibri"/>
                <a:sym typeface="Calibri"/>
              </a:rPr>
              <a:t>Isuzuma ry'amaraso</a:t>
            </a:r>
            <a:endParaRPr sz="1800">
              <a:solidFill>
                <a:schemeClr val="dk1"/>
              </a:solidFill>
              <a:latin typeface="Calibri"/>
              <a:ea typeface="Calibri"/>
              <a:cs typeface="Calibri"/>
              <a:sym typeface="Calibri"/>
            </a:endParaRPr>
          </a:p>
        </p:txBody>
      </p:sp>
      <p:sp>
        <p:nvSpPr>
          <p:cNvPr id="1646" name="Google Shape;1646;p77"/>
          <p:cNvSpPr/>
          <p:nvPr/>
        </p:nvSpPr>
        <p:spPr>
          <a:xfrm>
            <a:off x="822960" y="325526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Ukuri: B. </a:t>
            </a:r>
            <a:r>
              <a:rPr lang="rw-RW" sz="1800" i="1" dirty="0">
                <a:solidFill>
                  <a:srgbClr val="1B7A46"/>
                </a:solidFill>
                <a:latin typeface="Calibri"/>
                <a:ea typeface="Calibri"/>
                <a:cs typeface="Calibri"/>
                <a:sym typeface="Calibri"/>
              </a:rPr>
              <a:t>Kamera ntoya inyuzwa mu kanwa kugira ngo irebe imbere mu gifu.</a:t>
            </a:r>
            <a:endParaRPr sz="1800" dirty="0">
              <a:solidFill>
                <a:schemeClr val="dk1"/>
              </a:solidFill>
              <a:latin typeface="Calibri"/>
              <a:ea typeface="Calibri"/>
              <a:cs typeface="Calibri"/>
              <a:sym typeface="Calibri"/>
            </a:endParaRPr>
          </a:p>
        </p:txBody>
      </p:sp>
      <p:sp>
        <p:nvSpPr>
          <p:cNvPr id="1647" name="Google Shape;1647;p77"/>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648" name="Google Shape;1648;p77"/>
          <p:cNvSpPr/>
          <p:nvPr/>
        </p:nvSpPr>
        <p:spPr>
          <a:xfrm>
            <a:off x="804672" y="42153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Q10. Kumva uhaze nyuma yo kurya bicye, bihoraho, bigomba:</a:t>
            </a:r>
            <a:endParaRPr sz="2000" dirty="0">
              <a:solidFill>
                <a:schemeClr val="dk1"/>
              </a:solidFill>
              <a:latin typeface="Calibri"/>
              <a:ea typeface="Calibri"/>
              <a:cs typeface="Calibri"/>
              <a:sym typeface="Calibri"/>
            </a:endParaRPr>
          </a:p>
        </p:txBody>
      </p:sp>
      <p:sp>
        <p:nvSpPr>
          <p:cNvPr id="1649" name="Google Shape;1649;p77"/>
          <p:cNvSpPr/>
          <p:nvPr/>
        </p:nvSpPr>
        <p:spPr>
          <a:xfrm>
            <a:off x="822960" y="46542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Kwirengagizwa</a:t>
            </a:r>
            <a:endParaRPr sz="1800" dirty="0">
              <a:solidFill>
                <a:schemeClr val="dk1"/>
              </a:solidFill>
              <a:latin typeface="Calibri"/>
              <a:ea typeface="Calibri"/>
              <a:cs typeface="Calibri"/>
              <a:sym typeface="Calibri"/>
            </a:endParaRPr>
          </a:p>
        </p:txBody>
      </p:sp>
      <p:sp>
        <p:nvSpPr>
          <p:cNvPr id="1650" name="Google Shape;1650;p77"/>
          <p:cNvSpPr/>
          <p:nvPr/>
        </p:nvSpPr>
        <p:spPr>
          <a:xfrm>
            <a:off x="6172200" y="46542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B. Kwisuzumisha ku ivuriro ✓</a:t>
            </a:r>
            <a:endParaRPr sz="1800" dirty="0">
              <a:solidFill>
                <a:schemeClr val="dk1"/>
              </a:solidFill>
              <a:latin typeface="Calibri"/>
              <a:ea typeface="Calibri"/>
              <a:cs typeface="Calibri"/>
              <a:sym typeface="Calibri"/>
            </a:endParaRPr>
          </a:p>
        </p:txBody>
      </p:sp>
      <p:sp>
        <p:nvSpPr>
          <p:cNvPr id="1651" name="Google Shape;1651;p77"/>
          <p:cNvSpPr/>
          <p:nvPr/>
        </p:nvSpPr>
        <p:spPr>
          <a:xfrm>
            <a:off x="822960" y="51297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dirty="0">
                <a:solidFill>
                  <a:srgbClr val="16334F"/>
                </a:solidFill>
                <a:latin typeface="Calibri"/>
                <a:ea typeface="Calibri"/>
                <a:cs typeface="Calibri"/>
                <a:sym typeface="Calibri"/>
              </a:rPr>
              <a:t>C. </a:t>
            </a:r>
            <a:r>
              <a:rPr lang="rw-RW" sz="1800" dirty="0">
                <a:solidFill>
                  <a:srgbClr val="16334F"/>
                </a:solidFill>
                <a:latin typeface="Calibri"/>
                <a:ea typeface="Calibri"/>
                <a:cs typeface="Calibri"/>
                <a:sym typeface="Calibri"/>
              </a:rPr>
              <a:t>Kuvurirwa mu rugo</a:t>
            </a:r>
            <a:endParaRPr sz="1800" dirty="0">
              <a:solidFill>
                <a:schemeClr val="dk1"/>
              </a:solidFill>
              <a:latin typeface="Calibri"/>
              <a:ea typeface="Calibri"/>
              <a:cs typeface="Calibri"/>
              <a:sym typeface="Calibri"/>
            </a:endParaRPr>
          </a:p>
        </p:txBody>
      </p:sp>
      <p:sp>
        <p:nvSpPr>
          <p:cNvPr id="1652" name="Google Shape;1652;p77"/>
          <p:cNvSpPr/>
          <p:nvPr/>
        </p:nvSpPr>
        <p:spPr>
          <a:xfrm>
            <a:off x="6172200" y="51297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Kwitwa kanseri</a:t>
            </a:r>
            <a:endParaRPr sz="1800" dirty="0">
              <a:solidFill>
                <a:schemeClr val="dk1"/>
              </a:solidFill>
              <a:latin typeface="Calibri"/>
              <a:ea typeface="Calibri"/>
              <a:cs typeface="Calibri"/>
              <a:sym typeface="Calibri"/>
            </a:endParaRPr>
          </a:p>
        </p:txBody>
      </p:sp>
      <p:sp>
        <p:nvSpPr>
          <p:cNvPr id="1653" name="Google Shape;1653;p77"/>
          <p:cNvSpPr/>
          <p:nvPr/>
        </p:nvSpPr>
        <p:spPr>
          <a:xfrm>
            <a:off x="822960" y="567842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Ni ukuri: B. </a:t>
            </a:r>
            <a:r>
              <a:rPr lang="rw-RW" sz="1800" i="1" dirty="0">
                <a:solidFill>
                  <a:srgbClr val="1B7A46"/>
                </a:solidFill>
                <a:latin typeface="Calibri"/>
                <a:ea typeface="Calibri"/>
                <a:cs typeface="Calibri"/>
                <a:sym typeface="Calibri"/>
              </a:rPr>
              <a:t>Ni ikimenyetso gikeneye gusuzumwa, kuko gishobora guterwa n’ impamvu nyinshi.</a:t>
            </a:r>
            <a:endParaRPr sz="1800" dirty="0">
              <a:solidFill>
                <a:schemeClr val="dk1"/>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58"/>
        <p:cNvGrpSpPr/>
        <p:nvPr/>
      </p:nvGrpSpPr>
      <p:grpSpPr>
        <a:xfrm>
          <a:off x="0" y="0"/>
          <a:ext cx="0" cy="0"/>
          <a:chOff x="0" y="0"/>
          <a:chExt cx="0" cy="0"/>
        </a:xfrm>
      </p:grpSpPr>
      <p:sp>
        <p:nvSpPr>
          <p:cNvPr id="1659" name="Google Shape;1659;p78"/>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ISUZUMABUMENYI RISOZA</a:t>
            </a:r>
            <a:endParaRPr sz="1100">
              <a:solidFill>
                <a:schemeClr val="dk1"/>
              </a:solidFill>
              <a:latin typeface="Calibri"/>
              <a:ea typeface="Calibri"/>
              <a:cs typeface="Calibri"/>
              <a:sym typeface="Calibri"/>
            </a:endParaRPr>
          </a:p>
        </p:txBody>
      </p:sp>
      <p:sp>
        <p:nvSpPr>
          <p:cNvPr id="1660" name="Google Shape;1660;p78"/>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Ikibazo (6/10)</a:t>
            </a:r>
            <a:endParaRPr sz="3200">
              <a:solidFill>
                <a:schemeClr val="dk1"/>
              </a:solidFill>
              <a:latin typeface="Calibri"/>
              <a:ea typeface="Calibri"/>
              <a:cs typeface="Calibri"/>
              <a:sym typeface="Calibri"/>
            </a:endParaRPr>
          </a:p>
        </p:txBody>
      </p:sp>
      <p:sp>
        <p:nvSpPr>
          <p:cNvPr id="1661" name="Google Shape;1661;p78"/>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662" name="Google Shape;1662;p78"/>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663" name="Google Shape;1663;p78"/>
          <p:cNvSpPr/>
          <p:nvPr/>
        </p:nvSpPr>
        <p:spPr>
          <a:xfrm>
            <a:off x="804672" y="17922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Q11. Uruhare rw’umujyanama w’ubuzima mu ubuvuzi bwa kanseri y'igifu ni:</a:t>
            </a:r>
            <a:endParaRPr sz="2000" dirty="0">
              <a:solidFill>
                <a:schemeClr val="dk1"/>
              </a:solidFill>
              <a:latin typeface="Calibri"/>
              <a:ea typeface="Calibri"/>
              <a:cs typeface="Calibri"/>
              <a:sym typeface="Calibri"/>
            </a:endParaRPr>
          </a:p>
        </p:txBody>
      </p:sp>
      <p:sp>
        <p:nvSpPr>
          <p:cNvPr id="1664" name="Google Shape;1664;p78"/>
          <p:cNvSpPr/>
          <p:nvPr/>
        </p:nvSpPr>
        <p:spPr>
          <a:xfrm>
            <a:off x="822960" y="22311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a:solidFill>
                  <a:srgbClr val="16334F"/>
                </a:solidFill>
                <a:latin typeface="Calibri"/>
                <a:ea typeface="Calibri"/>
                <a:cs typeface="Calibri"/>
                <a:sym typeface="Calibri"/>
              </a:rPr>
              <a:t>A. </a:t>
            </a:r>
            <a:r>
              <a:rPr lang="rw-RW" sz="1800">
                <a:solidFill>
                  <a:srgbClr val="16334F"/>
                </a:solidFill>
                <a:latin typeface="Calibri"/>
                <a:ea typeface="Calibri"/>
                <a:cs typeface="Calibri"/>
                <a:sym typeface="Calibri"/>
              </a:rPr>
              <a:t>Gusuzuma indwara</a:t>
            </a:r>
            <a:endParaRPr sz="1728">
              <a:solidFill>
                <a:schemeClr val="dk1"/>
              </a:solidFill>
              <a:latin typeface="Calibri"/>
              <a:ea typeface="Calibri"/>
              <a:cs typeface="Calibri"/>
              <a:sym typeface="Calibri"/>
            </a:endParaRPr>
          </a:p>
        </p:txBody>
      </p:sp>
      <p:sp>
        <p:nvSpPr>
          <p:cNvPr id="1665" name="Google Shape;1665;p78"/>
          <p:cNvSpPr/>
          <p:nvPr/>
        </p:nvSpPr>
        <p:spPr>
          <a:xfrm>
            <a:off x="6172200" y="2231136"/>
            <a:ext cx="5166360" cy="438912"/>
          </a:xfrm>
          <a:prstGeom prst="rect">
            <a:avLst/>
          </a:prstGeom>
          <a:noFill/>
          <a:ln>
            <a:noFill/>
          </a:ln>
        </p:spPr>
        <p:txBody>
          <a:bodyPr spcFirstLastPara="1" wrap="square" lIns="0" tIns="0" rIns="0" bIns="0" anchor="ctr" anchorCtr="0">
            <a:normAutofit lnSpcReduction="10000"/>
          </a:bodyPr>
          <a:lstStyle/>
          <a:p>
            <a:pPr marL="0" marR="0" lvl="0" indent="0" algn="l" rtl="0">
              <a:lnSpc>
                <a:spcPct val="90000"/>
              </a:lnSpc>
              <a:spcBef>
                <a:spcPts val="0"/>
              </a:spcBef>
              <a:spcAft>
                <a:spcPts val="0"/>
              </a:spcAft>
              <a:buClr>
                <a:srgbClr val="1B7A46"/>
              </a:buClr>
              <a:buSzPts val="1458"/>
              <a:buFont typeface="Calibri"/>
              <a:buNone/>
            </a:pPr>
            <a:r>
              <a:rPr lang="rw-RW" sz="1800" b="1" dirty="0">
                <a:solidFill>
                  <a:srgbClr val="1B7A46"/>
                </a:solidFill>
                <a:latin typeface="Calibri"/>
                <a:ea typeface="Calibri"/>
                <a:cs typeface="Calibri"/>
                <a:sym typeface="Calibri"/>
              </a:rPr>
              <a:t>B. Kumenya, gusobanura, kohereza, gukurikirana, no gushyigikira abantu b’aho atuye ✓</a:t>
            </a:r>
            <a:endParaRPr sz="1458" dirty="0">
              <a:solidFill>
                <a:schemeClr val="dk1"/>
              </a:solidFill>
              <a:latin typeface="Calibri"/>
              <a:ea typeface="Calibri"/>
              <a:cs typeface="Calibri"/>
              <a:sym typeface="Calibri"/>
            </a:endParaRPr>
          </a:p>
        </p:txBody>
      </p:sp>
      <p:sp>
        <p:nvSpPr>
          <p:cNvPr id="1666" name="Google Shape;1666;p78"/>
          <p:cNvSpPr/>
          <p:nvPr/>
        </p:nvSpPr>
        <p:spPr>
          <a:xfrm>
            <a:off x="82296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a:solidFill>
                  <a:srgbClr val="16334F"/>
                </a:solidFill>
                <a:latin typeface="Calibri"/>
                <a:ea typeface="Calibri"/>
                <a:cs typeface="Calibri"/>
                <a:sym typeface="Calibri"/>
              </a:rPr>
              <a:t>C. </a:t>
            </a:r>
            <a:r>
              <a:rPr lang="rw-RW" sz="1800">
                <a:solidFill>
                  <a:srgbClr val="16334F"/>
                </a:solidFill>
                <a:latin typeface="Calibri"/>
                <a:ea typeface="Calibri"/>
                <a:cs typeface="Calibri"/>
                <a:sym typeface="Calibri"/>
              </a:rPr>
              <a:t>Kwandikira imiti ya kanseri</a:t>
            </a:r>
            <a:endParaRPr sz="1728">
              <a:solidFill>
                <a:schemeClr val="dk1"/>
              </a:solidFill>
              <a:latin typeface="Calibri"/>
              <a:ea typeface="Calibri"/>
              <a:cs typeface="Calibri"/>
              <a:sym typeface="Calibri"/>
            </a:endParaRPr>
          </a:p>
        </p:txBody>
      </p:sp>
      <p:sp>
        <p:nvSpPr>
          <p:cNvPr id="1667" name="Google Shape;1667;p78"/>
          <p:cNvSpPr/>
          <p:nvPr/>
        </p:nvSpPr>
        <p:spPr>
          <a:xfrm>
            <a:off x="617220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Gusoma ibisubizo by'ibizamini</a:t>
            </a:r>
            <a:endParaRPr sz="1728" dirty="0">
              <a:solidFill>
                <a:schemeClr val="dk1"/>
              </a:solidFill>
              <a:latin typeface="Calibri"/>
              <a:ea typeface="Calibri"/>
              <a:cs typeface="Calibri"/>
              <a:sym typeface="Calibri"/>
            </a:endParaRPr>
          </a:p>
        </p:txBody>
      </p:sp>
      <p:sp>
        <p:nvSpPr>
          <p:cNvPr id="1668" name="Google Shape;1668;p78"/>
          <p:cNvSpPr/>
          <p:nvPr/>
        </p:nvSpPr>
        <p:spPr>
          <a:xfrm>
            <a:off x="822960" y="325526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Igisubizo cy'ukuri: B. </a:t>
            </a:r>
            <a:r>
              <a:rPr lang="rw-RW" sz="1800" i="1" dirty="0">
                <a:solidFill>
                  <a:srgbClr val="1B7A46"/>
                </a:solidFill>
                <a:latin typeface="Calibri"/>
                <a:ea typeface="Calibri"/>
                <a:cs typeface="Calibri"/>
                <a:sym typeface="Calibri"/>
              </a:rPr>
              <a:t>Ibi bikorwa bitanu bisobanura uruhare rw’umujyanama w'ubuzima (CHW).</a:t>
            </a:r>
            <a:endParaRPr sz="1800" dirty="0">
              <a:solidFill>
                <a:schemeClr val="dk1"/>
              </a:solidFill>
              <a:latin typeface="Calibri"/>
              <a:ea typeface="Calibri"/>
              <a:cs typeface="Calibri"/>
              <a:sym typeface="Calibri"/>
            </a:endParaRPr>
          </a:p>
        </p:txBody>
      </p:sp>
      <p:sp>
        <p:nvSpPr>
          <p:cNvPr id="1669" name="Google Shape;1669;p78"/>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670" name="Google Shape;1670;p78"/>
          <p:cNvSpPr/>
          <p:nvPr/>
        </p:nvSpPr>
        <p:spPr>
          <a:xfrm>
            <a:off x="804672" y="42153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Q12. Umuntu ari kuruka kandi umubiri we ntushobora kubika amazi. Ibi ni:</a:t>
            </a:r>
            <a:endParaRPr sz="2000" dirty="0">
              <a:solidFill>
                <a:schemeClr val="dk1"/>
              </a:solidFill>
              <a:latin typeface="Calibri"/>
              <a:ea typeface="Calibri"/>
              <a:cs typeface="Calibri"/>
              <a:sym typeface="Calibri"/>
            </a:endParaRPr>
          </a:p>
        </p:txBody>
      </p:sp>
      <p:sp>
        <p:nvSpPr>
          <p:cNvPr id="1671" name="Google Shape;1671;p78"/>
          <p:cNvSpPr/>
          <p:nvPr/>
        </p:nvSpPr>
        <p:spPr>
          <a:xfrm>
            <a:off x="822960" y="46542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Ibiteganyijwe kandi bishobora gutegereza</a:t>
            </a:r>
            <a:endParaRPr sz="1728" dirty="0">
              <a:solidFill>
                <a:schemeClr val="dk1"/>
              </a:solidFill>
              <a:latin typeface="Calibri"/>
              <a:ea typeface="Calibri"/>
              <a:cs typeface="Calibri"/>
              <a:sym typeface="Calibri"/>
            </a:endParaRPr>
          </a:p>
        </p:txBody>
      </p:sp>
      <p:sp>
        <p:nvSpPr>
          <p:cNvPr id="1672" name="Google Shape;1672;p78"/>
          <p:cNvSpPr/>
          <p:nvPr/>
        </p:nvSpPr>
        <p:spPr>
          <a:xfrm>
            <a:off x="6172200" y="46542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B7A46"/>
              </a:buClr>
              <a:buSzPts val="1728"/>
              <a:buFont typeface="Calibri"/>
              <a:buNone/>
            </a:pPr>
            <a:r>
              <a:rPr lang="rw-RW" sz="1800" b="1" dirty="0">
                <a:solidFill>
                  <a:srgbClr val="1B7A46"/>
                </a:solidFill>
                <a:latin typeface="Calibri"/>
                <a:ea typeface="Calibri"/>
                <a:cs typeface="Calibri"/>
                <a:sym typeface="Calibri"/>
              </a:rPr>
              <a:t>B. Impamvu yo kuvuzwa uwo munsi ✓</a:t>
            </a:r>
            <a:endParaRPr sz="1728" dirty="0">
              <a:solidFill>
                <a:schemeClr val="dk1"/>
              </a:solidFill>
              <a:latin typeface="Calibri"/>
              <a:ea typeface="Calibri"/>
              <a:cs typeface="Calibri"/>
              <a:sym typeface="Calibri"/>
            </a:endParaRPr>
          </a:p>
        </p:txBody>
      </p:sp>
      <p:sp>
        <p:nvSpPr>
          <p:cNvPr id="1673" name="Google Shape;1673;p78"/>
          <p:cNvSpPr/>
          <p:nvPr/>
        </p:nvSpPr>
        <p:spPr>
          <a:xfrm>
            <a:off x="82296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dirty="0">
                <a:solidFill>
                  <a:srgbClr val="16334F"/>
                </a:solidFill>
                <a:latin typeface="Calibri"/>
                <a:ea typeface="Calibri"/>
                <a:cs typeface="Calibri"/>
                <a:sym typeface="Calibri"/>
              </a:rPr>
              <a:t>C. </a:t>
            </a:r>
            <a:r>
              <a:rPr lang="rw-RW" sz="1800" dirty="0">
                <a:solidFill>
                  <a:srgbClr val="16334F"/>
                </a:solidFill>
                <a:latin typeface="Calibri"/>
                <a:ea typeface="Calibri"/>
                <a:cs typeface="Calibri"/>
                <a:sym typeface="Calibri"/>
              </a:rPr>
              <a:t>Ikimenyetso cy’uko agenda amera neza</a:t>
            </a:r>
            <a:endParaRPr sz="1728" dirty="0">
              <a:solidFill>
                <a:schemeClr val="dk1"/>
              </a:solidFill>
              <a:latin typeface="Calibri"/>
              <a:ea typeface="Calibri"/>
              <a:cs typeface="Calibri"/>
              <a:sym typeface="Calibri"/>
            </a:endParaRPr>
          </a:p>
        </p:txBody>
      </p:sp>
      <p:sp>
        <p:nvSpPr>
          <p:cNvPr id="1674" name="Google Shape;1674;p78"/>
          <p:cNvSpPr/>
          <p:nvPr/>
        </p:nvSpPr>
        <p:spPr>
          <a:xfrm>
            <a:off x="617220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28"/>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Ikibazo cy’ibiryo yariye gusa</a:t>
            </a:r>
            <a:endParaRPr sz="1728" dirty="0">
              <a:solidFill>
                <a:schemeClr val="dk1"/>
              </a:solidFill>
              <a:latin typeface="Calibri"/>
              <a:ea typeface="Calibri"/>
              <a:cs typeface="Calibri"/>
              <a:sym typeface="Calibri"/>
            </a:endParaRPr>
          </a:p>
        </p:txBody>
      </p:sp>
      <p:sp>
        <p:nvSpPr>
          <p:cNvPr id="1675" name="Google Shape;1675;p78"/>
          <p:cNvSpPr/>
          <p:nvPr/>
        </p:nvSpPr>
        <p:spPr>
          <a:xfrm>
            <a:off x="822960" y="567842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Igisubizo cy'ukuri: B. </a:t>
            </a:r>
            <a:r>
              <a:rPr lang="rw-RW" sz="1800" i="1" dirty="0">
                <a:solidFill>
                  <a:srgbClr val="1B7A46"/>
                </a:solidFill>
                <a:latin typeface="Calibri"/>
                <a:ea typeface="Calibri"/>
                <a:cs typeface="Calibri"/>
                <a:sym typeface="Calibri"/>
              </a:rPr>
              <a:t>Kutabasha kugumana amazi mu mubiri bigomba kwitabwaho kuri uwo munsi.</a:t>
            </a:r>
            <a:endParaRPr sz="1800" dirty="0">
              <a:solidFill>
                <a:schemeClr val="dk1"/>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80"/>
        <p:cNvGrpSpPr/>
        <p:nvPr/>
      </p:nvGrpSpPr>
      <p:grpSpPr>
        <a:xfrm>
          <a:off x="0" y="0"/>
          <a:ext cx="0" cy="0"/>
          <a:chOff x="0" y="0"/>
          <a:chExt cx="0" cy="0"/>
        </a:xfrm>
      </p:grpSpPr>
      <p:sp>
        <p:nvSpPr>
          <p:cNvPr id="1681" name="Google Shape;1681;p79"/>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ISUZUMABUMENYI RISOZA</a:t>
            </a:r>
            <a:endParaRPr sz="1100">
              <a:solidFill>
                <a:schemeClr val="dk1"/>
              </a:solidFill>
              <a:latin typeface="Calibri"/>
              <a:ea typeface="Calibri"/>
              <a:cs typeface="Calibri"/>
              <a:sym typeface="Calibri"/>
            </a:endParaRPr>
          </a:p>
        </p:txBody>
      </p:sp>
      <p:sp>
        <p:nvSpPr>
          <p:cNvPr id="1682" name="Google Shape;1682;p79"/>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Ikibazo (7/10)</a:t>
            </a:r>
            <a:endParaRPr sz="3200">
              <a:solidFill>
                <a:schemeClr val="dk1"/>
              </a:solidFill>
              <a:latin typeface="Calibri"/>
              <a:ea typeface="Calibri"/>
              <a:cs typeface="Calibri"/>
              <a:sym typeface="Calibri"/>
            </a:endParaRPr>
          </a:p>
        </p:txBody>
      </p:sp>
      <p:sp>
        <p:nvSpPr>
          <p:cNvPr id="1683" name="Google Shape;1683;p79"/>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684" name="Google Shape;1684;p79"/>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685" name="Google Shape;1685;p79"/>
          <p:cNvSpPr/>
          <p:nvPr/>
        </p:nvSpPr>
        <p:spPr>
          <a:xfrm>
            <a:off x="804672" y="17922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Q13. Nyuma yo kubagwa igifu, uburyo bwiza bwo kurya ni:</a:t>
            </a:r>
            <a:endParaRPr sz="2000" dirty="0">
              <a:solidFill>
                <a:schemeClr val="dk1"/>
              </a:solidFill>
              <a:latin typeface="Calibri"/>
              <a:ea typeface="Calibri"/>
              <a:cs typeface="Calibri"/>
              <a:sym typeface="Calibri"/>
            </a:endParaRPr>
          </a:p>
        </p:txBody>
      </p:sp>
      <p:sp>
        <p:nvSpPr>
          <p:cNvPr id="1686" name="Google Shape;1686;p79"/>
          <p:cNvSpPr/>
          <p:nvPr/>
        </p:nvSpPr>
        <p:spPr>
          <a:xfrm>
            <a:off x="822960" y="22311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Amafunguro abiri manini cyane</a:t>
            </a:r>
            <a:endParaRPr sz="1800" dirty="0">
              <a:solidFill>
                <a:schemeClr val="dk1"/>
              </a:solidFill>
              <a:latin typeface="Calibri"/>
              <a:ea typeface="Calibri"/>
              <a:cs typeface="Calibri"/>
              <a:sym typeface="Calibri"/>
            </a:endParaRPr>
          </a:p>
        </p:txBody>
      </p:sp>
      <p:sp>
        <p:nvSpPr>
          <p:cNvPr id="1687" name="Google Shape;1687;p79"/>
          <p:cNvSpPr/>
          <p:nvPr/>
        </p:nvSpPr>
        <p:spPr>
          <a:xfrm>
            <a:off x="6172200" y="223113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B. Kurya ibiryo bicye, kenshi ✓</a:t>
            </a:r>
            <a:endParaRPr sz="1800" dirty="0">
              <a:solidFill>
                <a:schemeClr val="dk1"/>
              </a:solidFill>
              <a:latin typeface="Calibri"/>
              <a:ea typeface="Calibri"/>
              <a:cs typeface="Calibri"/>
              <a:sym typeface="Calibri"/>
            </a:endParaRPr>
          </a:p>
        </p:txBody>
      </p:sp>
      <p:sp>
        <p:nvSpPr>
          <p:cNvPr id="1688" name="Google Shape;1688;p79"/>
          <p:cNvSpPr/>
          <p:nvPr/>
        </p:nvSpPr>
        <p:spPr>
          <a:xfrm>
            <a:off x="822960" y="27066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dirty="0">
                <a:solidFill>
                  <a:srgbClr val="16334F"/>
                </a:solidFill>
                <a:latin typeface="Calibri"/>
                <a:ea typeface="Calibri"/>
                <a:cs typeface="Calibri"/>
                <a:sym typeface="Calibri"/>
              </a:rPr>
              <a:t>C</a:t>
            </a:r>
            <a:r>
              <a:rPr lang="rw-RW" sz="1800" dirty="0">
                <a:solidFill>
                  <a:srgbClr val="16334F"/>
                </a:solidFill>
                <a:latin typeface="Calibri"/>
                <a:ea typeface="Calibri"/>
                <a:cs typeface="Calibri"/>
                <a:sym typeface="Calibri"/>
              </a:rPr>
              <a:t>. Kutarya mu minsi ya mbere</a:t>
            </a:r>
            <a:endParaRPr sz="1800" dirty="0">
              <a:solidFill>
                <a:schemeClr val="dk1"/>
              </a:solidFill>
              <a:latin typeface="Calibri"/>
              <a:ea typeface="Calibri"/>
              <a:cs typeface="Calibri"/>
              <a:sym typeface="Calibri"/>
            </a:endParaRPr>
          </a:p>
        </p:txBody>
      </p:sp>
      <p:sp>
        <p:nvSpPr>
          <p:cNvPr id="1689" name="Google Shape;1689;p79"/>
          <p:cNvSpPr/>
          <p:nvPr/>
        </p:nvSpPr>
        <p:spPr>
          <a:xfrm>
            <a:off x="6172200" y="270662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Kunywa amazi gusa mu mezi macye nyuma yaho</a:t>
            </a:r>
            <a:endParaRPr sz="1800" dirty="0">
              <a:solidFill>
                <a:schemeClr val="dk1"/>
              </a:solidFill>
              <a:latin typeface="Calibri"/>
              <a:ea typeface="Calibri"/>
              <a:cs typeface="Calibri"/>
              <a:sym typeface="Calibri"/>
            </a:endParaRPr>
          </a:p>
        </p:txBody>
      </p:sp>
      <p:sp>
        <p:nvSpPr>
          <p:cNvPr id="1690" name="Google Shape;1690;p79"/>
          <p:cNvSpPr/>
          <p:nvPr/>
        </p:nvSpPr>
        <p:spPr>
          <a:xfrm>
            <a:off x="822960" y="325526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Ukuri: B.</a:t>
            </a:r>
            <a:r>
              <a:rPr lang="rw-RW" sz="1800" i="1" dirty="0">
                <a:solidFill>
                  <a:srgbClr val="1B7A46"/>
                </a:solidFill>
                <a:latin typeface="Calibri"/>
                <a:ea typeface="Calibri"/>
                <a:cs typeface="Calibri"/>
                <a:sym typeface="Calibri"/>
              </a:rPr>
              <a:t> Igifu kibasha kwakira bicye, bityo ibiryo bicye, kenshi bikunze gufasha.</a:t>
            </a:r>
            <a:endParaRPr sz="1800" dirty="0">
              <a:solidFill>
                <a:schemeClr val="dk1"/>
              </a:solidFill>
              <a:latin typeface="Calibri"/>
              <a:ea typeface="Calibri"/>
              <a:cs typeface="Calibri"/>
              <a:sym typeface="Calibri"/>
            </a:endParaRPr>
          </a:p>
        </p:txBody>
      </p:sp>
      <p:sp>
        <p:nvSpPr>
          <p:cNvPr id="1691" name="Google Shape;1691;p79"/>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692" name="Google Shape;1692;p79"/>
          <p:cNvSpPr/>
          <p:nvPr/>
        </p:nvSpPr>
        <p:spPr>
          <a:xfrm>
            <a:off x="804672" y="42153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Q14. Ubuvuzi bwa kanseri y'igifu:</a:t>
            </a:r>
            <a:endParaRPr sz="2000" dirty="0">
              <a:solidFill>
                <a:schemeClr val="dk1"/>
              </a:solidFill>
              <a:latin typeface="Calibri"/>
              <a:ea typeface="Calibri"/>
              <a:cs typeface="Calibri"/>
              <a:sym typeface="Calibri"/>
            </a:endParaRPr>
          </a:p>
        </p:txBody>
      </p:sp>
      <p:sp>
        <p:nvSpPr>
          <p:cNvPr id="1693" name="Google Shape;1693;p79"/>
          <p:cNvSpPr/>
          <p:nvPr/>
        </p:nvSpPr>
        <p:spPr>
          <a:xfrm>
            <a:off x="822960" y="46542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Ni bumwe ku bantu bose</a:t>
            </a:r>
            <a:endParaRPr sz="1800" dirty="0">
              <a:solidFill>
                <a:schemeClr val="dk1"/>
              </a:solidFill>
              <a:latin typeface="Calibri"/>
              <a:ea typeface="Calibri"/>
              <a:cs typeface="Calibri"/>
              <a:sym typeface="Calibri"/>
            </a:endParaRPr>
          </a:p>
        </p:txBody>
      </p:sp>
      <p:sp>
        <p:nvSpPr>
          <p:cNvPr id="1694" name="Google Shape;1694;p79"/>
          <p:cNvSpPr/>
          <p:nvPr/>
        </p:nvSpPr>
        <p:spPr>
          <a:xfrm>
            <a:off x="6172200" y="4654296"/>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B. Butoranywa kuri buri muntu nyuma yo kumukorera ibizamini ✓</a:t>
            </a:r>
            <a:endParaRPr sz="1800" dirty="0">
              <a:solidFill>
                <a:schemeClr val="dk1"/>
              </a:solidFill>
              <a:latin typeface="Calibri"/>
              <a:ea typeface="Calibri"/>
              <a:cs typeface="Calibri"/>
              <a:sym typeface="Calibri"/>
            </a:endParaRPr>
          </a:p>
        </p:txBody>
      </p:sp>
      <p:sp>
        <p:nvSpPr>
          <p:cNvPr id="1695" name="Google Shape;1695;p79"/>
          <p:cNvSpPr/>
          <p:nvPr/>
        </p:nvSpPr>
        <p:spPr>
          <a:xfrm>
            <a:off x="822960" y="51297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dirty="0">
                <a:solidFill>
                  <a:srgbClr val="16334F"/>
                </a:solidFill>
                <a:latin typeface="Calibri"/>
                <a:ea typeface="Calibri"/>
                <a:cs typeface="Calibri"/>
                <a:sym typeface="Calibri"/>
              </a:rPr>
              <a:t>C. </a:t>
            </a:r>
            <a:r>
              <a:rPr lang="rw-RW" sz="1800" dirty="0">
                <a:solidFill>
                  <a:srgbClr val="16334F"/>
                </a:solidFill>
                <a:latin typeface="Calibri"/>
                <a:ea typeface="Calibri"/>
                <a:cs typeface="Calibri"/>
                <a:sym typeface="Calibri"/>
              </a:rPr>
              <a:t>Ntabwo bushoboka</a:t>
            </a:r>
            <a:endParaRPr sz="1800" dirty="0">
              <a:solidFill>
                <a:schemeClr val="dk1"/>
              </a:solidFill>
              <a:latin typeface="Calibri"/>
              <a:ea typeface="Calibri"/>
              <a:cs typeface="Calibri"/>
              <a:sym typeface="Calibri"/>
            </a:endParaRPr>
          </a:p>
        </p:txBody>
      </p:sp>
      <p:sp>
        <p:nvSpPr>
          <p:cNvPr id="1696" name="Google Shape;1696;p79"/>
          <p:cNvSpPr/>
          <p:nvPr/>
        </p:nvSpPr>
        <p:spPr>
          <a:xfrm>
            <a:off x="6172200" y="5129784"/>
            <a:ext cx="516636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34F"/>
              </a:buClr>
              <a:buSzPts val="1800"/>
              <a:buFont typeface="Calibri"/>
              <a:buNone/>
            </a:pPr>
            <a:r>
              <a:rPr lang="rw-RW" sz="1800" b="1" dirty="0">
                <a:solidFill>
                  <a:srgbClr val="16334F"/>
                </a:solidFill>
                <a:latin typeface="Calibri"/>
                <a:ea typeface="Calibri"/>
                <a:cs typeface="Calibri"/>
                <a:sym typeface="Calibri"/>
              </a:rPr>
              <a:t>D. Buri gihe hakoreshwa imirasire</a:t>
            </a:r>
            <a:endParaRPr sz="1800" dirty="0">
              <a:solidFill>
                <a:schemeClr val="dk1"/>
              </a:solidFill>
              <a:latin typeface="Calibri"/>
              <a:ea typeface="Calibri"/>
              <a:cs typeface="Calibri"/>
              <a:sym typeface="Calibri"/>
            </a:endParaRPr>
          </a:p>
        </p:txBody>
      </p:sp>
      <p:sp>
        <p:nvSpPr>
          <p:cNvPr id="1697" name="Google Shape;1697;p79"/>
          <p:cNvSpPr/>
          <p:nvPr/>
        </p:nvSpPr>
        <p:spPr>
          <a:xfrm>
            <a:off x="822960" y="567842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Ukuri: B.</a:t>
            </a:r>
            <a:r>
              <a:rPr lang="rw-RW" sz="1800" i="1" dirty="0">
                <a:solidFill>
                  <a:srgbClr val="1B7A46"/>
                </a:solidFill>
                <a:latin typeface="Calibri"/>
                <a:ea typeface="Calibri"/>
                <a:cs typeface="Calibri"/>
                <a:sym typeface="Calibri"/>
              </a:rPr>
              <a:t> Ubuvuzi bugendera ku miterere y’umuntu n’uburwayi.</a:t>
            </a:r>
            <a:endParaRPr sz="1800" dirty="0">
              <a:solidFill>
                <a:schemeClr val="dk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02"/>
        <p:cNvGrpSpPr/>
        <p:nvPr/>
      </p:nvGrpSpPr>
      <p:grpSpPr>
        <a:xfrm>
          <a:off x="0" y="0"/>
          <a:ext cx="0" cy="0"/>
          <a:chOff x="0" y="0"/>
          <a:chExt cx="0" cy="0"/>
        </a:xfrm>
      </p:grpSpPr>
      <p:sp>
        <p:nvSpPr>
          <p:cNvPr id="1703" name="Google Shape;1703;p80"/>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ISUZUMABUMENYI RISOZA</a:t>
            </a:r>
            <a:endParaRPr sz="1100">
              <a:solidFill>
                <a:schemeClr val="dk1"/>
              </a:solidFill>
              <a:latin typeface="Calibri"/>
              <a:ea typeface="Calibri"/>
              <a:cs typeface="Calibri"/>
              <a:sym typeface="Calibri"/>
            </a:endParaRPr>
          </a:p>
        </p:txBody>
      </p:sp>
      <p:sp>
        <p:nvSpPr>
          <p:cNvPr id="1704" name="Google Shape;1704;p80"/>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Ikibazo (8/10)</a:t>
            </a:r>
            <a:endParaRPr sz="3200">
              <a:solidFill>
                <a:schemeClr val="dk1"/>
              </a:solidFill>
              <a:latin typeface="Calibri"/>
              <a:ea typeface="Calibri"/>
              <a:cs typeface="Calibri"/>
              <a:sym typeface="Calibri"/>
            </a:endParaRPr>
          </a:p>
        </p:txBody>
      </p:sp>
      <p:sp>
        <p:nvSpPr>
          <p:cNvPr id="1705" name="Google Shape;1705;p80"/>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706" name="Google Shape;1706;p80"/>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707" name="Google Shape;1707;p80"/>
          <p:cNvSpPr/>
          <p:nvPr/>
        </p:nvSpPr>
        <p:spPr>
          <a:xfrm>
            <a:off x="804672" y="1792224"/>
            <a:ext cx="10607040" cy="38404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0F3D63"/>
              </a:buClr>
              <a:buSzPts val="1860"/>
              <a:buFont typeface="Calibri"/>
              <a:buNone/>
            </a:pPr>
            <a:r>
              <a:rPr lang="rw-RW" sz="2000" b="1" dirty="0">
                <a:solidFill>
                  <a:srgbClr val="0F3D63"/>
                </a:solidFill>
                <a:latin typeface="Calibri"/>
                <a:ea typeface="Calibri"/>
                <a:cs typeface="Calibri"/>
                <a:sym typeface="Calibri"/>
              </a:rPr>
              <a:t>Q15. Ubuvuzi bwita ku bubabare n'uburwayi:</a:t>
            </a:r>
            <a:endParaRPr sz="1860" dirty="0">
              <a:solidFill>
                <a:schemeClr val="dk1"/>
              </a:solidFill>
              <a:latin typeface="Calibri"/>
              <a:ea typeface="Calibri"/>
              <a:cs typeface="Calibri"/>
              <a:sym typeface="Calibri"/>
            </a:endParaRPr>
          </a:p>
        </p:txBody>
      </p:sp>
      <p:sp>
        <p:nvSpPr>
          <p:cNvPr id="1708" name="Google Shape;1708;p80"/>
          <p:cNvSpPr/>
          <p:nvPr/>
        </p:nvSpPr>
        <p:spPr>
          <a:xfrm>
            <a:off x="822960" y="22311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Bukoreshwa mu minsi ya nyuma y'ubuzima</a:t>
            </a:r>
            <a:endParaRPr sz="1773" dirty="0">
              <a:solidFill>
                <a:schemeClr val="dk1"/>
              </a:solidFill>
              <a:latin typeface="Calibri"/>
              <a:ea typeface="Calibri"/>
              <a:cs typeface="Calibri"/>
              <a:sym typeface="Calibri"/>
            </a:endParaRPr>
          </a:p>
        </p:txBody>
      </p:sp>
      <p:sp>
        <p:nvSpPr>
          <p:cNvPr id="1709" name="Google Shape;1709;p80"/>
          <p:cNvSpPr/>
          <p:nvPr/>
        </p:nvSpPr>
        <p:spPr>
          <a:xfrm>
            <a:off x="6172200" y="2231136"/>
            <a:ext cx="5166360" cy="438912"/>
          </a:xfrm>
          <a:prstGeom prst="rect">
            <a:avLst/>
          </a:prstGeom>
          <a:noFill/>
          <a:ln>
            <a:noFill/>
          </a:ln>
        </p:spPr>
        <p:txBody>
          <a:bodyPr spcFirstLastPara="1" wrap="square" lIns="0" tIns="0" rIns="0" bIns="0" anchor="ctr" anchorCtr="0">
            <a:normAutofit lnSpcReduction="10000"/>
          </a:bodyPr>
          <a:lstStyle/>
          <a:p>
            <a:pPr marL="0" marR="0" lvl="0" indent="0" algn="l" rtl="0">
              <a:lnSpc>
                <a:spcPct val="90000"/>
              </a:lnSpc>
              <a:spcBef>
                <a:spcPts val="0"/>
              </a:spcBef>
              <a:spcAft>
                <a:spcPts val="0"/>
              </a:spcAft>
              <a:buClr>
                <a:srgbClr val="1B7A46"/>
              </a:buClr>
              <a:buSzPts val="1637"/>
              <a:buFont typeface="Calibri"/>
              <a:buNone/>
            </a:pPr>
            <a:r>
              <a:rPr lang="rw-RW" sz="1800" b="1" dirty="0">
                <a:solidFill>
                  <a:srgbClr val="1B7A46"/>
                </a:solidFill>
                <a:latin typeface="Calibri"/>
                <a:ea typeface="Calibri"/>
                <a:cs typeface="Calibri"/>
                <a:sym typeface="Calibri"/>
              </a:rPr>
              <a:t>B. Butangwa mu gihe icyo ari cyo cyose, hamwe n’ ubundi buvuzi bwa kanseri✓</a:t>
            </a:r>
            <a:endParaRPr sz="1638" dirty="0">
              <a:solidFill>
                <a:schemeClr val="dk1"/>
              </a:solidFill>
              <a:latin typeface="Calibri"/>
              <a:ea typeface="Calibri"/>
              <a:cs typeface="Calibri"/>
              <a:sym typeface="Calibri"/>
            </a:endParaRPr>
          </a:p>
        </p:txBody>
      </p:sp>
      <p:sp>
        <p:nvSpPr>
          <p:cNvPr id="1710" name="Google Shape;1710;p80"/>
          <p:cNvSpPr/>
          <p:nvPr/>
        </p:nvSpPr>
        <p:spPr>
          <a:xfrm>
            <a:off x="82296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a:solidFill>
                  <a:srgbClr val="16334F"/>
                </a:solidFill>
                <a:latin typeface="Calibri"/>
                <a:ea typeface="Calibri"/>
                <a:cs typeface="Calibri"/>
                <a:sym typeface="Calibri"/>
              </a:rPr>
              <a:t>C. Ni kimwe no guhagarika ubuvuzi</a:t>
            </a:r>
            <a:endParaRPr sz="1773">
              <a:solidFill>
                <a:schemeClr val="dk1"/>
              </a:solidFill>
              <a:latin typeface="Calibri"/>
              <a:ea typeface="Calibri"/>
              <a:cs typeface="Calibri"/>
              <a:sym typeface="Calibri"/>
            </a:endParaRPr>
          </a:p>
        </p:txBody>
      </p:sp>
      <p:sp>
        <p:nvSpPr>
          <p:cNvPr id="1711" name="Google Shape;1711;p80"/>
          <p:cNvSpPr/>
          <p:nvPr/>
        </p:nvSpPr>
        <p:spPr>
          <a:xfrm>
            <a:off x="617220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dirty="0">
                <a:solidFill>
                  <a:srgbClr val="16334F"/>
                </a:solidFill>
                <a:latin typeface="Calibri"/>
                <a:ea typeface="Calibri"/>
                <a:cs typeface="Calibri"/>
                <a:sym typeface="Calibri"/>
              </a:rPr>
              <a:t>D. Ntabwo ari ubuvuzi bwa nyabwo</a:t>
            </a:r>
            <a:endParaRPr sz="1773" dirty="0">
              <a:solidFill>
                <a:schemeClr val="dk1"/>
              </a:solidFill>
              <a:latin typeface="Calibri"/>
              <a:ea typeface="Calibri"/>
              <a:cs typeface="Calibri"/>
              <a:sym typeface="Calibri"/>
            </a:endParaRPr>
          </a:p>
        </p:txBody>
      </p:sp>
      <p:sp>
        <p:nvSpPr>
          <p:cNvPr id="1712" name="Google Shape;1712;p80"/>
          <p:cNvSpPr/>
          <p:nvPr/>
        </p:nvSpPr>
        <p:spPr>
          <a:xfrm>
            <a:off x="822960" y="325526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Ukuri: B.</a:t>
            </a:r>
            <a:r>
              <a:rPr lang="rw-RW" sz="1800" i="1" dirty="0">
                <a:solidFill>
                  <a:srgbClr val="1B7A46"/>
                </a:solidFill>
                <a:latin typeface="Calibri"/>
                <a:ea typeface="Calibri"/>
                <a:cs typeface="Calibri"/>
                <a:sym typeface="Calibri"/>
              </a:rPr>
              <a:t> Kwita ku ububabare bw’umuntu bijyana no kuvurwa mu gihe icyo ari cyo cyose.</a:t>
            </a:r>
            <a:endParaRPr sz="1800" dirty="0">
              <a:solidFill>
                <a:schemeClr val="dk1"/>
              </a:solidFill>
              <a:latin typeface="Calibri"/>
              <a:ea typeface="Calibri"/>
              <a:cs typeface="Calibri"/>
              <a:sym typeface="Calibri"/>
            </a:endParaRPr>
          </a:p>
        </p:txBody>
      </p:sp>
      <p:sp>
        <p:nvSpPr>
          <p:cNvPr id="1713" name="Google Shape;1713;p80"/>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714" name="Google Shape;1714;p80"/>
          <p:cNvSpPr/>
          <p:nvPr/>
        </p:nvSpPr>
        <p:spPr>
          <a:xfrm>
            <a:off x="804672" y="4215384"/>
            <a:ext cx="10607040" cy="384048"/>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0F3D63"/>
              </a:buClr>
              <a:buSzPts val="1710"/>
              <a:buFont typeface="Calibri"/>
              <a:buNone/>
            </a:pPr>
            <a:r>
              <a:rPr lang="rw-RW" sz="2000" b="1" dirty="0">
                <a:solidFill>
                  <a:srgbClr val="0F3D63"/>
                </a:solidFill>
                <a:latin typeface="Calibri"/>
                <a:ea typeface="Calibri"/>
                <a:cs typeface="Calibri"/>
                <a:sym typeface="Calibri"/>
              </a:rPr>
              <a:t>Q16. Hari abavuga ko niba ari kanseri nta kintu na kimwe gishobora gukorwa. Igisubizo cyiza ni:</a:t>
            </a:r>
            <a:endParaRPr sz="1710" dirty="0">
              <a:solidFill>
                <a:schemeClr val="dk1"/>
              </a:solidFill>
              <a:latin typeface="Calibri"/>
              <a:ea typeface="Calibri"/>
              <a:cs typeface="Calibri"/>
              <a:sym typeface="Calibri"/>
            </a:endParaRPr>
          </a:p>
        </p:txBody>
      </p:sp>
      <p:sp>
        <p:nvSpPr>
          <p:cNvPr id="1715" name="Google Shape;1715;p80"/>
          <p:cNvSpPr/>
          <p:nvPr/>
        </p:nvSpPr>
        <p:spPr>
          <a:xfrm>
            <a:off x="822960" y="46542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a:solidFill>
                  <a:srgbClr val="16334F"/>
                </a:solidFill>
                <a:latin typeface="Calibri"/>
                <a:ea typeface="Calibri"/>
                <a:cs typeface="Calibri"/>
                <a:sym typeface="Calibri"/>
              </a:rPr>
              <a:t>A. </a:t>
            </a:r>
            <a:r>
              <a:rPr lang="rw-RW" sz="1800">
                <a:solidFill>
                  <a:srgbClr val="16334F"/>
                </a:solidFill>
                <a:latin typeface="Calibri"/>
                <a:ea typeface="Calibri"/>
                <a:cs typeface="Calibri"/>
                <a:sym typeface="Calibri"/>
              </a:rPr>
              <a:t>Kwemeranya na bo</a:t>
            </a:r>
            <a:endParaRPr sz="1773">
              <a:solidFill>
                <a:schemeClr val="dk1"/>
              </a:solidFill>
              <a:latin typeface="Calibri"/>
              <a:ea typeface="Calibri"/>
              <a:cs typeface="Calibri"/>
              <a:sym typeface="Calibri"/>
            </a:endParaRPr>
          </a:p>
        </p:txBody>
      </p:sp>
      <p:sp>
        <p:nvSpPr>
          <p:cNvPr id="1716" name="Google Shape;1716;p80"/>
          <p:cNvSpPr/>
          <p:nvPr/>
        </p:nvSpPr>
        <p:spPr>
          <a:xfrm>
            <a:off x="6172200" y="4654296"/>
            <a:ext cx="5166360" cy="438912"/>
          </a:xfrm>
          <a:prstGeom prst="rect">
            <a:avLst/>
          </a:prstGeom>
          <a:noFill/>
          <a:ln>
            <a:noFill/>
          </a:ln>
        </p:spPr>
        <p:txBody>
          <a:bodyPr spcFirstLastPara="1" wrap="square" lIns="0" tIns="0" rIns="0" bIns="0" anchor="ctr" anchorCtr="0">
            <a:normAutofit lnSpcReduction="10000"/>
          </a:bodyPr>
          <a:lstStyle/>
          <a:p>
            <a:pPr marL="0" marR="0" lvl="0" indent="0" algn="l" rtl="0">
              <a:lnSpc>
                <a:spcPct val="90000"/>
              </a:lnSpc>
              <a:spcBef>
                <a:spcPts val="0"/>
              </a:spcBef>
              <a:spcAft>
                <a:spcPts val="0"/>
              </a:spcAft>
              <a:buClr>
                <a:srgbClr val="1B7A46"/>
              </a:buClr>
              <a:buSzPts val="1637"/>
              <a:buFont typeface="Calibri"/>
              <a:buNone/>
            </a:pPr>
            <a:r>
              <a:rPr lang="rw-RW" sz="1800" b="1" dirty="0">
                <a:solidFill>
                  <a:srgbClr val="1B7A46"/>
                </a:solidFill>
                <a:latin typeface="Calibri"/>
                <a:ea typeface="Calibri"/>
                <a:cs typeface="Calibri"/>
                <a:sym typeface="Calibri"/>
              </a:rPr>
              <a:t>B. Gusobanura ko ubuvuzi buriho kandi ko kwitabwaho bishobora gufasha ✓</a:t>
            </a:r>
            <a:endParaRPr sz="1638" dirty="0">
              <a:solidFill>
                <a:schemeClr val="dk1"/>
              </a:solidFill>
              <a:latin typeface="Calibri"/>
              <a:ea typeface="Calibri"/>
              <a:cs typeface="Calibri"/>
              <a:sym typeface="Calibri"/>
            </a:endParaRPr>
          </a:p>
        </p:txBody>
      </p:sp>
      <p:sp>
        <p:nvSpPr>
          <p:cNvPr id="1717" name="Google Shape;1717;p80"/>
          <p:cNvSpPr/>
          <p:nvPr/>
        </p:nvSpPr>
        <p:spPr>
          <a:xfrm>
            <a:off x="82296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dirty="0">
                <a:solidFill>
                  <a:srgbClr val="16334F"/>
                </a:solidFill>
                <a:latin typeface="Calibri"/>
                <a:ea typeface="Calibri"/>
                <a:cs typeface="Calibri"/>
                <a:sym typeface="Calibri"/>
              </a:rPr>
              <a:t>C. </a:t>
            </a:r>
            <a:r>
              <a:rPr lang="rw-RW" sz="1800" dirty="0">
                <a:solidFill>
                  <a:srgbClr val="16334F"/>
                </a:solidFill>
                <a:latin typeface="Calibri"/>
                <a:ea typeface="Calibri"/>
                <a:cs typeface="Calibri"/>
                <a:sym typeface="Calibri"/>
              </a:rPr>
              <a:t>Kubabwira ko bakigumira mu rugo</a:t>
            </a:r>
            <a:endParaRPr sz="1773" dirty="0">
              <a:solidFill>
                <a:schemeClr val="dk1"/>
              </a:solidFill>
              <a:latin typeface="Calibri"/>
              <a:ea typeface="Calibri"/>
              <a:cs typeface="Calibri"/>
              <a:sym typeface="Calibri"/>
            </a:endParaRPr>
          </a:p>
        </p:txBody>
      </p:sp>
      <p:sp>
        <p:nvSpPr>
          <p:cNvPr id="1718" name="Google Shape;1718;p80"/>
          <p:cNvSpPr/>
          <p:nvPr/>
        </p:nvSpPr>
        <p:spPr>
          <a:xfrm>
            <a:off x="617220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a:solidFill>
                  <a:srgbClr val="16334F"/>
                </a:solidFill>
                <a:latin typeface="Calibri"/>
                <a:ea typeface="Calibri"/>
                <a:cs typeface="Calibri"/>
                <a:sym typeface="Calibri"/>
              </a:rPr>
              <a:t>D. </a:t>
            </a:r>
            <a:r>
              <a:rPr lang="rw-RW" sz="1800">
                <a:solidFill>
                  <a:srgbClr val="16334F"/>
                </a:solidFill>
                <a:latin typeface="Calibri"/>
                <a:ea typeface="Calibri"/>
                <a:cs typeface="Calibri"/>
                <a:sym typeface="Calibri"/>
              </a:rPr>
              <a:t>Ntugire icyo uvuga</a:t>
            </a:r>
            <a:endParaRPr sz="1773">
              <a:solidFill>
                <a:schemeClr val="dk1"/>
              </a:solidFill>
              <a:latin typeface="Calibri"/>
              <a:ea typeface="Calibri"/>
              <a:cs typeface="Calibri"/>
              <a:sym typeface="Calibri"/>
            </a:endParaRPr>
          </a:p>
        </p:txBody>
      </p:sp>
      <p:sp>
        <p:nvSpPr>
          <p:cNvPr id="1719" name="Google Shape;1719;p80"/>
          <p:cNvSpPr/>
          <p:nvPr/>
        </p:nvSpPr>
        <p:spPr>
          <a:xfrm>
            <a:off x="822960" y="567842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Ukuri: B. </a:t>
            </a:r>
            <a:r>
              <a:rPr lang="rw-RW" sz="1800" i="1" dirty="0">
                <a:solidFill>
                  <a:srgbClr val="1B7A46"/>
                </a:solidFill>
                <a:latin typeface="Calibri"/>
                <a:ea typeface="Calibri"/>
                <a:cs typeface="Calibri"/>
                <a:sym typeface="Calibri"/>
              </a:rPr>
              <a:t>Iki gitekerezo kibuza abantu kwitabwaho mu buryo bwari kubafasha.</a:t>
            </a:r>
            <a:endParaRPr sz="1800" dirty="0">
              <a:solidFill>
                <a:schemeClr val="dk1"/>
              </a:solidFill>
              <a:latin typeface="Calibri"/>
              <a:ea typeface="Calibri"/>
              <a:cs typeface="Calibri"/>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24"/>
        <p:cNvGrpSpPr/>
        <p:nvPr/>
      </p:nvGrpSpPr>
      <p:grpSpPr>
        <a:xfrm>
          <a:off x="0" y="0"/>
          <a:ext cx="0" cy="0"/>
          <a:chOff x="0" y="0"/>
          <a:chExt cx="0" cy="0"/>
        </a:xfrm>
      </p:grpSpPr>
      <p:sp>
        <p:nvSpPr>
          <p:cNvPr id="1725" name="Google Shape;1725;p81"/>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ISUZUMABUMENYI RISOZA</a:t>
            </a:r>
            <a:endParaRPr sz="1100">
              <a:solidFill>
                <a:schemeClr val="dk1"/>
              </a:solidFill>
              <a:latin typeface="Calibri"/>
              <a:ea typeface="Calibri"/>
              <a:cs typeface="Calibri"/>
              <a:sym typeface="Calibri"/>
            </a:endParaRPr>
          </a:p>
        </p:txBody>
      </p:sp>
      <p:sp>
        <p:nvSpPr>
          <p:cNvPr id="1726" name="Google Shape;1726;p81"/>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Ikibazo (9/10)</a:t>
            </a:r>
            <a:endParaRPr sz="3200">
              <a:solidFill>
                <a:schemeClr val="dk1"/>
              </a:solidFill>
              <a:latin typeface="Calibri"/>
              <a:ea typeface="Calibri"/>
              <a:cs typeface="Calibri"/>
              <a:sym typeface="Calibri"/>
            </a:endParaRPr>
          </a:p>
        </p:txBody>
      </p:sp>
      <p:sp>
        <p:nvSpPr>
          <p:cNvPr id="1727" name="Google Shape;1727;p81"/>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728" name="Google Shape;1728;p81"/>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729" name="Google Shape;1729;p81"/>
          <p:cNvSpPr/>
          <p:nvPr/>
        </p:nvSpPr>
        <p:spPr>
          <a:xfrm>
            <a:off x="804672" y="17922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Q17. Indwara ya kanseri y'igifu mu Rwanda:</a:t>
            </a:r>
            <a:endParaRPr sz="2000" dirty="0">
              <a:solidFill>
                <a:schemeClr val="dk1"/>
              </a:solidFill>
              <a:latin typeface="Calibri"/>
              <a:ea typeface="Calibri"/>
              <a:cs typeface="Calibri"/>
              <a:sym typeface="Calibri"/>
            </a:endParaRPr>
          </a:p>
        </p:txBody>
      </p:sp>
      <p:sp>
        <p:nvSpPr>
          <p:cNvPr id="1730" name="Google Shape;1730;p81"/>
          <p:cNvSpPr/>
          <p:nvPr/>
        </p:nvSpPr>
        <p:spPr>
          <a:xfrm>
            <a:off x="822960" y="22311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Ntayihagaragara</a:t>
            </a:r>
            <a:endParaRPr sz="1773" dirty="0">
              <a:solidFill>
                <a:schemeClr val="dk1"/>
              </a:solidFill>
              <a:latin typeface="Calibri"/>
              <a:ea typeface="Calibri"/>
              <a:cs typeface="Calibri"/>
              <a:sym typeface="Calibri"/>
            </a:endParaRPr>
          </a:p>
        </p:txBody>
      </p:sp>
      <p:sp>
        <p:nvSpPr>
          <p:cNvPr id="1731" name="Google Shape;1731;p81"/>
          <p:cNvSpPr/>
          <p:nvPr/>
        </p:nvSpPr>
        <p:spPr>
          <a:xfrm>
            <a:off x="6172200" y="2231136"/>
            <a:ext cx="5166360" cy="438912"/>
          </a:xfrm>
          <a:prstGeom prst="rect">
            <a:avLst/>
          </a:prstGeom>
          <a:noFill/>
          <a:ln>
            <a:noFill/>
          </a:ln>
        </p:spPr>
        <p:txBody>
          <a:bodyPr spcFirstLastPara="1" wrap="square" lIns="0" tIns="0" rIns="0" bIns="0" anchor="ctr" anchorCtr="0">
            <a:normAutofit lnSpcReduction="10000"/>
          </a:bodyPr>
          <a:lstStyle/>
          <a:p>
            <a:pPr marL="0" marR="0" lvl="0" indent="0" algn="l" rtl="0">
              <a:lnSpc>
                <a:spcPct val="90000"/>
              </a:lnSpc>
              <a:spcBef>
                <a:spcPts val="0"/>
              </a:spcBef>
              <a:spcAft>
                <a:spcPts val="0"/>
              </a:spcAft>
              <a:buClr>
                <a:srgbClr val="1B7A46"/>
              </a:buClr>
              <a:buSzPts val="1637"/>
              <a:buFont typeface="Calibri"/>
              <a:buNone/>
            </a:pPr>
            <a:r>
              <a:rPr lang="rw-RW" sz="1800" b="1" dirty="0">
                <a:solidFill>
                  <a:srgbClr val="1B7A46"/>
                </a:solidFill>
                <a:latin typeface="Calibri"/>
                <a:ea typeface="Calibri"/>
                <a:cs typeface="Calibri"/>
                <a:sym typeface="Calibri"/>
              </a:rPr>
              <a:t>B. Ni imwe muri kanseri zikunze kugaragara kandi ni imwe mu zitera impfu.</a:t>
            </a:r>
            <a:endParaRPr sz="1638" dirty="0">
              <a:solidFill>
                <a:schemeClr val="dk1"/>
              </a:solidFill>
              <a:latin typeface="Calibri"/>
              <a:ea typeface="Calibri"/>
              <a:cs typeface="Calibri"/>
              <a:sym typeface="Calibri"/>
            </a:endParaRPr>
          </a:p>
        </p:txBody>
      </p:sp>
      <p:sp>
        <p:nvSpPr>
          <p:cNvPr id="1732" name="Google Shape;1732;p81"/>
          <p:cNvSpPr/>
          <p:nvPr/>
        </p:nvSpPr>
        <p:spPr>
          <a:xfrm>
            <a:off x="82296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a:solidFill>
                  <a:srgbClr val="16334F"/>
                </a:solidFill>
                <a:latin typeface="Calibri"/>
                <a:ea typeface="Calibri"/>
                <a:cs typeface="Calibri"/>
                <a:sym typeface="Calibri"/>
              </a:rPr>
              <a:t>C. </a:t>
            </a:r>
            <a:r>
              <a:rPr lang="rw-RW" sz="1800">
                <a:solidFill>
                  <a:srgbClr val="16334F"/>
                </a:solidFill>
                <a:latin typeface="Calibri"/>
                <a:ea typeface="Calibri"/>
                <a:cs typeface="Calibri"/>
                <a:sym typeface="Calibri"/>
              </a:rPr>
              <a:t> Iboneka gusa mu bashyitsi</a:t>
            </a:r>
            <a:endParaRPr sz="1773">
              <a:solidFill>
                <a:schemeClr val="dk1"/>
              </a:solidFill>
              <a:latin typeface="Calibri"/>
              <a:ea typeface="Calibri"/>
              <a:cs typeface="Calibri"/>
              <a:sym typeface="Calibri"/>
            </a:endParaRPr>
          </a:p>
        </p:txBody>
      </p:sp>
      <p:sp>
        <p:nvSpPr>
          <p:cNvPr id="1733" name="Google Shape;1733;p81"/>
          <p:cNvSpPr/>
          <p:nvPr/>
        </p:nvSpPr>
        <p:spPr>
          <a:xfrm>
            <a:off x="617220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Ntabwo ari indwara ikomeye</a:t>
            </a:r>
            <a:endParaRPr sz="1773" dirty="0">
              <a:solidFill>
                <a:schemeClr val="dk1"/>
              </a:solidFill>
              <a:latin typeface="Calibri"/>
              <a:ea typeface="Calibri"/>
              <a:cs typeface="Calibri"/>
              <a:sym typeface="Calibri"/>
            </a:endParaRPr>
          </a:p>
        </p:txBody>
      </p:sp>
      <p:sp>
        <p:nvSpPr>
          <p:cNvPr id="1734" name="Google Shape;1734;p81"/>
          <p:cNvSpPr/>
          <p:nvPr/>
        </p:nvSpPr>
        <p:spPr>
          <a:xfrm>
            <a:off x="822960" y="325526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a:solidFill>
                  <a:srgbClr val="1B7A46"/>
                </a:solidFill>
                <a:latin typeface="Calibri"/>
                <a:ea typeface="Calibri"/>
                <a:cs typeface="Calibri"/>
                <a:sym typeface="Calibri"/>
              </a:rPr>
              <a:t>Igisubizo nyacyo: B. </a:t>
            </a:r>
            <a:r>
              <a:rPr lang="rw-RW" sz="1800" i="1">
                <a:solidFill>
                  <a:srgbClr val="1B7A46"/>
                </a:solidFill>
                <a:latin typeface="Calibri"/>
                <a:ea typeface="Calibri"/>
                <a:cs typeface="Calibri"/>
                <a:sym typeface="Calibri"/>
              </a:rPr>
              <a:t>GLOBOCAN 2024 ishyira kanseri y'igifu mu za kanseri zikunze kugaragara cyane mu Rwanda.</a:t>
            </a:r>
            <a:endParaRPr sz="1800">
              <a:solidFill>
                <a:schemeClr val="dk1"/>
              </a:solidFill>
              <a:latin typeface="Calibri"/>
              <a:ea typeface="Calibri"/>
              <a:cs typeface="Calibri"/>
              <a:sym typeface="Calibri"/>
            </a:endParaRPr>
          </a:p>
        </p:txBody>
      </p:sp>
      <p:sp>
        <p:nvSpPr>
          <p:cNvPr id="1735" name="Google Shape;1735;p81"/>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736" name="Google Shape;1736;p81"/>
          <p:cNvSpPr/>
          <p:nvPr/>
        </p:nvSpPr>
        <p:spPr>
          <a:xfrm>
            <a:off x="804672" y="42153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Q18. Umuntu yoherejwe kwivuza mu byumweru bibiri bishize, ariko ntiyigeze ajyayo. Ugomba:</a:t>
            </a:r>
            <a:endParaRPr sz="2000" dirty="0">
              <a:solidFill>
                <a:schemeClr val="dk1"/>
              </a:solidFill>
              <a:latin typeface="Calibri"/>
              <a:ea typeface="Calibri"/>
              <a:cs typeface="Calibri"/>
              <a:sym typeface="Calibri"/>
            </a:endParaRPr>
          </a:p>
        </p:txBody>
      </p:sp>
      <p:sp>
        <p:nvSpPr>
          <p:cNvPr id="1737" name="Google Shape;1737;p81"/>
          <p:cNvSpPr/>
          <p:nvPr/>
        </p:nvSpPr>
        <p:spPr>
          <a:xfrm>
            <a:off x="822960" y="46542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 Kubyirengagiza</a:t>
            </a:r>
            <a:endParaRPr sz="1773" dirty="0">
              <a:solidFill>
                <a:schemeClr val="dk1"/>
              </a:solidFill>
              <a:latin typeface="Calibri"/>
              <a:ea typeface="Calibri"/>
              <a:cs typeface="Calibri"/>
              <a:sym typeface="Calibri"/>
            </a:endParaRPr>
          </a:p>
        </p:txBody>
      </p:sp>
      <p:sp>
        <p:nvSpPr>
          <p:cNvPr id="1738" name="Google Shape;1738;p81"/>
          <p:cNvSpPr/>
          <p:nvPr/>
        </p:nvSpPr>
        <p:spPr>
          <a:xfrm>
            <a:off x="6172200" y="4654296"/>
            <a:ext cx="5166360" cy="438912"/>
          </a:xfrm>
          <a:prstGeom prst="rect">
            <a:avLst/>
          </a:prstGeom>
          <a:noFill/>
          <a:ln>
            <a:noFill/>
          </a:ln>
        </p:spPr>
        <p:txBody>
          <a:bodyPr spcFirstLastPara="1" wrap="square" lIns="0" tIns="0" rIns="0" bIns="0" anchor="ctr" anchorCtr="0">
            <a:normAutofit fontScale="92500" lnSpcReduction="20000"/>
          </a:bodyPr>
          <a:lstStyle/>
          <a:p>
            <a:pPr marL="0" marR="0" lvl="0" indent="0" algn="l" rtl="0">
              <a:spcBef>
                <a:spcPts val="0"/>
              </a:spcBef>
              <a:spcAft>
                <a:spcPts val="0"/>
              </a:spcAft>
              <a:buClr>
                <a:srgbClr val="1B7A46"/>
              </a:buClr>
              <a:buSzPts val="1637"/>
              <a:buFont typeface="Calibri"/>
              <a:buNone/>
            </a:pPr>
            <a:r>
              <a:rPr lang="rw-RW" sz="1800" b="1" dirty="0">
                <a:solidFill>
                  <a:srgbClr val="1B7A46"/>
                </a:solidFill>
                <a:latin typeface="Calibri"/>
                <a:ea typeface="Calibri"/>
                <a:cs typeface="Calibri"/>
                <a:sym typeface="Calibri"/>
              </a:rPr>
              <a:t>B. Kumusura, ukamubaza icyatumye atajyayo, ukamufasha no kugishakira igisubizo✓</a:t>
            </a:r>
            <a:endParaRPr sz="1638" dirty="0">
              <a:solidFill>
                <a:schemeClr val="dk1"/>
              </a:solidFill>
              <a:latin typeface="Calibri"/>
              <a:ea typeface="Calibri"/>
              <a:cs typeface="Calibri"/>
              <a:sym typeface="Calibri"/>
            </a:endParaRPr>
          </a:p>
        </p:txBody>
      </p:sp>
      <p:sp>
        <p:nvSpPr>
          <p:cNvPr id="1739" name="Google Shape;1739;p81"/>
          <p:cNvSpPr/>
          <p:nvPr/>
        </p:nvSpPr>
        <p:spPr>
          <a:xfrm>
            <a:off x="82296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dirty="0">
                <a:solidFill>
                  <a:srgbClr val="16334F"/>
                </a:solidFill>
                <a:latin typeface="Calibri"/>
                <a:ea typeface="Calibri"/>
                <a:cs typeface="Calibri"/>
                <a:sym typeface="Calibri"/>
              </a:rPr>
              <a:t>C. </a:t>
            </a:r>
            <a:r>
              <a:rPr lang="rw-RW" sz="1800" dirty="0">
                <a:solidFill>
                  <a:srgbClr val="16334F"/>
                </a:solidFill>
                <a:latin typeface="Calibri"/>
                <a:ea typeface="Calibri"/>
                <a:cs typeface="Calibri"/>
                <a:sym typeface="Calibri"/>
              </a:rPr>
              <a:t>Kubimenyesha abaganga</a:t>
            </a:r>
            <a:endParaRPr sz="1773" dirty="0">
              <a:solidFill>
                <a:schemeClr val="dk1"/>
              </a:solidFill>
              <a:latin typeface="Calibri"/>
              <a:ea typeface="Calibri"/>
              <a:cs typeface="Calibri"/>
              <a:sym typeface="Calibri"/>
            </a:endParaRPr>
          </a:p>
        </p:txBody>
      </p:sp>
      <p:sp>
        <p:nvSpPr>
          <p:cNvPr id="1740" name="Google Shape;1740;p81"/>
          <p:cNvSpPr/>
          <p:nvPr/>
        </p:nvSpPr>
        <p:spPr>
          <a:xfrm>
            <a:off x="617220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Kubibwira abaturanyi</a:t>
            </a:r>
            <a:endParaRPr sz="1773" dirty="0">
              <a:solidFill>
                <a:schemeClr val="dk1"/>
              </a:solidFill>
              <a:latin typeface="Calibri"/>
              <a:ea typeface="Calibri"/>
              <a:cs typeface="Calibri"/>
              <a:sym typeface="Calibri"/>
            </a:endParaRPr>
          </a:p>
        </p:txBody>
      </p:sp>
      <p:sp>
        <p:nvSpPr>
          <p:cNvPr id="1741" name="Google Shape;1741;p81"/>
          <p:cNvSpPr/>
          <p:nvPr/>
        </p:nvSpPr>
        <p:spPr>
          <a:xfrm>
            <a:off x="822960" y="567842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Igisubizo nyacyo: B. </a:t>
            </a:r>
            <a:r>
              <a:rPr lang="rw-RW" sz="1800" i="1" dirty="0">
                <a:solidFill>
                  <a:srgbClr val="1B7A46"/>
                </a:solidFill>
                <a:latin typeface="Calibri"/>
                <a:ea typeface="Calibri"/>
                <a:cs typeface="Calibri"/>
                <a:sym typeface="Calibri"/>
              </a:rPr>
              <a:t>Kubona no gukemura inzitizi nyayo ni byo bituma umuntu agera aho yoherejwe neza.</a:t>
            </a:r>
            <a:endParaRPr sz="1800" dirty="0">
              <a:solidFill>
                <a:schemeClr val="dk1"/>
              </a:solidFill>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46"/>
        <p:cNvGrpSpPr/>
        <p:nvPr/>
      </p:nvGrpSpPr>
      <p:grpSpPr>
        <a:xfrm>
          <a:off x="0" y="0"/>
          <a:ext cx="0" cy="0"/>
          <a:chOff x="0" y="0"/>
          <a:chExt cx="0" cy="0"/>
        </a:xfrm>
      </p:grpSpPr>
      <p:sp>
        <p:nvSpPr>
          <p:cNvPr id="1747" name="Google Shape;1747;p82"/>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ISUZUMABUMENYI RISOZA</a:t>
            </a:r>
            <a:endParaRPr sz="1100">
              <a:solidFill>
                <a:schemeClr val="dk1"/>
              </a:solidFill>
              <a:latin typeface="Calibri"/>
              <a:ea typeface="Calibri"/>
              <a:cs typeface="Calibri"/>
              <a:sym typeface="Calibri"/>
            </a:endParaRPr>
          </a:p>
        </p:txBody>
      </p:sp>
      <p:sp>
        <p:nvSpPr>
          <p:cNvPr id="1748" name="Google Shape;1748;p82"/>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200"/>
              <a:buFont typeface="Cambria"/>
              <a:buNone/>
            </a:pPr>
            <a:r>
              <a:rPr lang="rw-RW" sz="3200" b="1">
                <a:solidFill>
                  <a:srgbClr val="0F3D63"/>
                </a:solidFill>
                <a:latin typeface="Cambria"/>
                <a:ea typeface="Cambria"/>
                <a:cs typeface="Cambria"/>
                <a:sym typeface="Cambria"/>
              </a:rPr>
              <a:t>Ikibazo (10/10)</a:t>
            </a:r>
            <a:endParaRPr sz="3200">
              <a:solidFill>
                <a:schemeClr val="dk1"/>
              </a:solidFill>
              <a:latin typeface="Calibri"/>
              <a:ea typeface="Calibri"/>
              <a:cs typeface="Calibri"/>
              <a:sym typeface="Calibri"/>
            </a:endParaRPr>
          </a:p>
        </p:txBody>
      </p:sp>
      <p:sp>
        <p:nvSpPr>
          <p:cNvPr id="1749" name="Google Shape;1749;p82"/>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750" name="Google Shape;1750;p82"/>
          <p:cNvSpPr/>
          <p:nvPr/>
        </p:nvSpPr>
        <p:spPr>
          <a:xfrm>
            <a:off x="548640" y="164592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751" name="Google Shape;1751;p82"/>
          <p:cNvSpPr/>
          <p:nvPr/>
        </p:nvSpPr>
        <p:spPr>
          <a:xfrm>
            <a:off x="804672" y="179222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Q19. Umuntu uri ku miti ya kanseri avuga ko ububabare burushaho kuba bwinshi. Ugomba:</a:t>
            </a:r>
            <a:endParaRPr sz="2000" dirty="0">
              <a:solidFill>
                <a:schemeClr val="dk1"/>
              </a:solidFill>
              <a:latin typeface="Calibri"/>
              <a:ea typeface="Calibri"/>
              <a:cs typeface="Calibri"/>
              <a:sym typeface="Calibri"/>
            </a:endParaRPr>
          </a:p>
        </p:txBody>
      </p:sp>
      <p:sp>
        <p:nvSpPr>
          <p:cNvPr id="1752" name="Google Shape;1752;p82"/>
          <p:cNvSpPr/>
          <p:nvPr/>
        </p:nvSpPr>
        <p:spPr>
          <a:xfrm>
            <a:off x="822960" y="223113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Kumubwira ko ububabare ari ibisanzwe</a:t>
            </a:r>
            <a:endParaRPr sz="1773" dirty="0">
              <a:solidFill>
                <a:schemeClr val="dk1"/>
              </a:solidFill>
              <a:latin typeface="Calibri"/>
              <a:ea typeface="Calibri"/>
              <a:cs typeface="Calibri"/>
              <a:sym typeface="Calibri"/>
            </a:endParaRPr>
          </a:p>
        </p:txBody>
      </p:sp>
      <p:sp>
        <p:nvSpPr>
          <p:cNvPr id="1753" name="Google Shape;1753;p82"/>
          <p:cNvSpPr/>
          <p:nvPr/>
        </p:nvSpPr>
        <p:spPr>
          <a:xfrm>
            <a:off x="6172200" y="2231136"/>
            <a:ext cx="5166360" cy="438912"/>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None/>
            </a:pPr>
            <a:r>
              <a:rPr lang="rw-RW" sz="1800" b="1" dirty="0">
                <a:solidFill>
                  <a:srgbClr val="1B7A46"/>
                </a:solidFill>
                <a:latin typeface="Calibri"/>
                <a:ea typeface="Calibri"/>
                <a:cs typeface="Calibri"/>
                <a:sym typeface="Calibri"/>
              </a:rPr>
              <a:t>B. Kubwira umuganga kugira ngo ashobore kwivuza ✓</a:t>
            </a:r>
            <a:endParaRPr sz="1638" dirty="0">
              <a:solidFill>
                <a:schemeClr val="dk1"/>
              </a:solidFill>
              <a:latin typeface="Calibri"/>
              <a:ea typeface="Calibri"/>
              <a:cs typeface="Calibri"/>
              <a:sym typeface="Calibri"/>
            </a:endParaRPr>
          </a:p>
        </p:txBody>
      </p:sp>
      <p:sp>
        <p:nvSpPr>
          <p:cNvPr id="1754" name="Google Shape;1754;p82"/>
          <p:cNvSpPr/>
          <p:nvPr/>
        </p:nvSpPr>
        <p:spPr>
          <a:xfrm>
            <a:off x="82296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dirty="0">
                <a:solidFill>
                  <a:srgbClr val="16334F"/>
                </a:solidFill>
                <a:latin typeface="Calibri"/>
                <a:ea typeface="Calibri"/>
                <a:cs typeface="Calibri"/>
                <a:sym typeface="Calibri"/>
              </a:rPr>
              <a:t>C. </a:t>
            </a:r>
            <a:r>
              <a:rPr lang="rw-RW" sz="1800" dirty="0">
                <a:solidFill>
                  <a:srgbClr val="16334F"/>
                </a:solidFill>
                <a:latin typeface="Calibri"/>
                <a:ea typeface="Calibri"/>
                <a:cs typeface="Calibri"/>
                <a:sym typeface="Calibri"/>
              </a:rPr>
              <a:t>Gutanga umuti ugabanya ububabare ubwawe</a:t>
            </a:r>
            <a:endParaRPr sz="1773" dirty="0">
              <a:solidFill>
                <a:schemeClr val="dk1"/>
              </a:solidFill>
              <a:latin typeface="Calibri"/>
              <a:ea typeface="Calibri"/>
              <a:cs typeface="Calibri"/>
              <a:sym typeface="Calibri"/>
            </a:endParaRPr>
          </a:p>
        </p:txBody>
      </p:sp>
      <p:sp>
        <p:nvSpPr>
          <p:cNvPr id="1755" name="Google Shape;1755;p82"/>
          <p:cNvSpPr/>
          <p:nvPr/>
        </p:nvSpPr>
        <p:spPr>
          <a:xfrm>
            <a:off x="6172200" y="270662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Kumwihanganisha</a:t>
            </a:r>
            <a:endParaRPr sz="1773" dirty="0">
              <a:solidFill>
                <a:schemeClr val="dk1"/>
              </a:solidFill>
              <a:latin typeface="Calibri"/>
              <a:ea typeface="Calibri"/>
              <a:cs typeface="Calibri"/>
              <a:sym typeface="Calibri"/>
            </a:endParaRPr>
          </a:p>
        </p:txBody>
      </p:sp>
      <p:sp>
        <p:nvSpPr>
          <p:cNvPr id="1756" name="Google Shape;1756;p82"/>
          <p:cNvSpPr/>
          <p:nvPr/>
        </p:nvSpPr>
        <p:spPr>
          <a:xfrm>
            <a:off x="822960" y="325526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Ukuri: B. </a:t>
            </a:r>
            <a:r>
              <a:rPr lang="rw-RW" sz="1800" i="1" dirty="0">
                <a:solidFill>
                  <a:srgbClr val="1B7A46"/>
                </a:solidFill>
                <a:latin typeface="Calibri"/>
                <a:ea typeface="Calibri"/>
                <a:cs typeface="Calibri"/>
                <a:sym typeface="Calibri"/>
              </a:rPr>
              <a:t>Ububabare bugomba kumenyekana buri gihe kandi bukavurwa.</a:t>
            </a:r>
            <a:endParaRPr sz="1800" dirty="0">
              <a:solidFill>
                <a:schemeClr val="dk1"/>
              </a:solidFill>
              <a:latin typeface="Calibri"/>
              <a:ea typeface="Calibri"/>
              <a:cs typeface="Calibri"/>
              <a:sym typeface="Calibri"/>
            </a:endParaRPr>
          </a:p>
        </p:txBody>
      </p:sp>
      <p:sp>
        <p:nvSpPr>
          <p:cNvPr id="1757" name="Google Shape;1757;p82"/>
          <p:cNvSpPr/>
          <p:nvPr/>
        </p:nvSpPr>
        <p:spPr>
          <a:xfrm>
            <a:off x="548640" y="4069080"/>
            <a:ext cx="11091672" cy="2148840"/>
          </a:xfrm>
          <a:prstGeom prst="roundRect">
            <a:avLst>
              <a:gd name="adj" fmla="val 4255"/>
            </a:avLst>
          </a:prstGeom>
          <a:solidFill>
            <a:srgbClr val="E9F1FB"/>
          </a:solidFill>
          <a:ln w="12700" cap="flat" cmpd="sng">
            <a:solidFill>
              <a:srgbClr val="CFE0F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1758" name="Google Shape;1758;p82"/>
          <p:cNvSpPr/>
          <p:nvPr/>
        </p:nvSpPr>
        <p:spPr>
          <a:xfrm>
            <a:off x="804672" y="4215384"/>
            <a:ext cx="106070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D63"/>
              </a:buClr>
              <a:buSzPts val="2000"/>
              <a:buFont typeface="Calibri"/>
              <a:buNone/>
            </a:pPr>
            <a:r>
              <a:rPr lang="rw-RW" sz="2000" b="1" dirty="0">
                <a:solidFill>
                  <a:srgbClr val="0F3D63"/>
                </a:solidFill>
                <a:latin typeface="Calibri"/>
                <a:ea typeface="Calibri"/>
                <a:cs typeface="Calibri"/>
                <a:sym typeface="Calibri"/>
              </a:rPr>
              <a:t>Q20. Ni iyihe nteruro ikwiye umujyanama w'ubuzima yakoresha igihe aganira n’umuryango uhangayitse?</a:t>
            </a:r>
            <a:endParaRPr sz="2000" dirty="0">
              <a:solidFill>
                <a:schemeClr val="dk1"/>
              </a:solidFill>
              <a:latin typeface="Calibri"/>
              <a:ea typeface="Calibri"/>
              <a:cs typeface="Calibri"/>
              <a:sym typeface="Calibri"/>
            </a:endParaRPr>
          </a:p>
        </p:txBody>
      </p:sp>
      <p:sp>
        <p:nvSpPr>
          <p:cNvPr id="1759" name="Google Shape;1759;p82"/>
          <p:cNvSpPr/>
          <p:nvPr/>
        </p:nvSpPr>
        <p:spPr>
          <a:xfrm>
            <a:off x="822960" y="4654296"/>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dirty="0">
                <a:solidFill>
                  <a:srgbClr val="16334F"/>
                </a:solidFill>
                <a:latin typeface="Calibri"/>
                <a:ea typeface="Calibri"/>
                <a:cs typeface="Calibri"/>
                <a:sym typeface="Calibri"/>
              </a:rPr>
              <a:t>A. </a:t>
            </a:r>
            <a:r>
              <a:rPr lang="rw-RW" sz="1800" dirty="0">
                <a:solidFill>
                  <a:srgbClr val="16334F"/>
                </a:solidFill>
                <a:latin typeface="Calibri"/>
                <a:ea typeface="Calibri"/>
                <a:cs typeface="Calibri"/>
                <a:sym typeface="Calibri"/>
              </a:rPr>
              <a:t> "Nta gushidikanya ko ari kanseri."</a:t>
            </a:r>
            <a:endParaRPr sz="1773" dirty="0">
              <a:solidFill>
                <a:schemeClr val="dk1"/>
              </a:solidFill>
              <a:latin typeface="Calibri"/>
              <a:ea typeface="Calibri"/>
              <a:cs typeface="Calibri"/>
              <a:sym typeface="Calibri"/>
            </a:endParaRPr>
          </a:p>
        </p:txBody>
      </p:sp>
      <p:sp>
        <p:nvSpPr>
          <p:cNvPr id="1760" name="Google Shape;1760;p82"/>
          <p:cNvSpPr/>
          <p:nvPr/>
        </p:nvSpPr>
        <p:spPr>
          <a:xfrm>
            <a:off x="6172200" y="4654296"/>
            <a:ext cx="5166360" cy="438912"/>
          </a:xfrm>
          <a:prstGeom prst="rect">
            <a:avLst/>
          </a:prstGeom>
          <a:noFill/>
          <a:ln>
            <a:noFill/>
          </a:ln>
        </p:spPr>
        <p:txBody>
          <a:bodyPr spcFirstLastPara="1" wrap="square" lIns="0" tIns="0" rIns="0" bIns="0" anchor="ctr" anchorCtr="0">
            <a:normAutofit fontScale="92500" lnSpcReduction="10000"/>
          </a:bodyPr>
          <a:lstStyle/>
          <a:p>
            <a:pPr marL="0" marR="0" lvl="0" indent="0" algn="l" rtl="0">
              <a:lnSpc>
                <a:spcPct val="90000"/>
              </a:lnSpc>
              <a:spcBef>
                <a:spcPts val="0"/>
              </a:spcBef>
              <a:spcAft>
                <a:spcPts val="0"/>
              </a:spcAft>
              <a:buClr>
                <a:srgbClr val="1B7A46"/>
              </a:buClr>
              <a:buSzPts val="1637"/>
              <a:buFont typeface="Calibri"/>
              <a:buNone/>
            </a:pPr>
            <a:r>
              <a:rPr lang="rw-RW" sz="1800" b="1" dirty="0">
                <a:solidFill>
                  <a:srgbClr val="1B7A46"/>
                </a:solidFill>
                <a:latin typeface="Calibri"/>
                <a:ea typeface="Calibri"/>
                <a:cs typeface="Calibri"/>
                <a:sym typeface="Calibri"/>
              </a:rPr>
              <a:t>B. “Ibi bishobora guterwa ni ibintu byinshi. Kwisuzumisha ni uburyo bwiza bwo kumenya icyo ari cyo." ✓</a:t>
            </a:r>
            <a:endParaRPr sz="1638" dirty="0">
              <a:solidFill>
                <a:schemeClr val="dk1"/>
              </a:solidFill>
              <a:latin typeface="Calibri"/>
              <a:ea typeface="Calibri"/>
              <a:cs typeface="Calibri"/>
              <a:sym typeface="Calibri"/>
            </a:endParaRPr>
          </a:p>
        </p:txBody>
      </p:sp>
      <p:sp>
        <p:nvSpPr>
          <p:cNvPr id="1761" name="Google Shape;1761;p82"/>
          <p:cNvSpPr/>
          <p:nvPr/>
        </p:nvSpPr>
        <p:spPr>
          <a:xfrm>
            <a:off x="82296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dirty="0">
                <a:solidFill>
                  <a:srgbClr val="16334F"/>
                </a:solidFill>
                <a:latin typeface="Calibri"/>
                <a:ea typeface="Calibri"/>
                <a:cs typeface="Calibri"/>
                <a:sym typeface="Calibri"/>
              </a:rPr>
              <a:t>C. </a:t>
            </a:r>
            <a:r>
              <a:rPr lang="rw-RW" sz="1800" dirty="0">
                <a:solidFill>
                  <a:srgbClr val="16334F"/>
                </a:solidFill>
                <a:latin typeface="Calibri"/>
                <a:ea typeface="Calibri"/>
                <a:cs typeface="Calibri"/>
                <a:sym typeface="Calibri"/>
              </a:rPr>
              <a:t>"Ntugire impungenge, ibi ntakibazo kirimwo."</a:t>
            </a:r>
            <a:endParaRPr sz="1773" dirty="0">
              <a:solidFill>
                <a:schemeClr val="dk1"/>
              </a:solidFill>
              <a:latin typeface="Calibri"/>
              <a:ea typeface="Calibri"/>
              <a:cs typeface="Calibri"/>
              <a:sym typeface="Calibri"/>
            </a:endParaRPr>
          </a:p>
        </p:txBody>
      </p:sp>
      <p:sp>
        <p:nvSpPr>
          <p:cNvPr id="1762" name="Google Shape;1762;p82"/>
          <p:cNvSpPr/>
          <p:nvPr/>
        </p:nvSpPr>
        <p:spPr>
          <a:xfrm>
            <a:off x="6172200" y="5129784"/>
            <a:ext cx="5166360" cy="438912"/>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rgbClr val="16334F"/>
              </a:buClr>
              <a:buSzPts val="1773"/>
              <a:buFont typeface="Calibri"/>
              <a:buNone/>
            </a:pPr>
            <a:r>
              <a:rPr lang="rw-RW" sz="1800" b="1" dirty="0">
                <a:solidFill>
                  <a:srgbClr val="16334F"/>
                </a:solidFill>
                <a:latin typeface="Calibri"/>
                <a:ea typeface="Calibri"/>
                <a:cs typeface="Calibri"/>
                <a:sym typeface="Calibri"/>
              </a:rPr>
              <a:t>D. </a:t>
            </a:r>
            <a:r>
              <a:rPr lang="rw-RW" sz="1800" dirty="0">
                <a:solidFill>
                  <a:srgbClr val="16334F"/>
                </a:solidFill>
                <a:latin typeface="Calibri"/>
                <a:ea typeface="Calibri"/>
                <a:cs typeface="Calibri"/>
                <a:sym typeface="Calibri"/>
              </a:rPr>
              <a:t>"Nta mpamvu yo kwivuza."</a:t>
            </a:r>
            <a:endParaRPr sz="1773" dirty="0">
              <a:solidFill>
                <a:schemeClr val="dk1"/>
              </a:solidFill>
              <a:latin typeface="Calibri"/>
              <a:ea typeface="Calibri"/>
              <a:cs typeface="Calibri"/>
              <a:sym typeface="Calibri"/>
            </a:endParaRPr>
          </a:p>
        </p:txBody>
      </p:sp>
      <p:sp>
        <p:nvSpPr>
          <p:cNvPr id="1763" name="Google Shape;1763;p82"/>
          <p:cNvSpPr/>
          <p:nvPr/>
        </p:nvSpPr>
        <p:spPr>
          <a:xfrm>
            <a:off x="822960" y="5678424"/>
            <a:ext cx="10515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7A46"/>
              </a:buClr>
              <a:buSzPts val="1800"/>
              <a:buFont typeface="Calibri"/>
              <a:buNone/>
            </a:pPr>
            <a:r>
              <a:rPr lang="rw-RW" sz="1800" b="1" dirty="0">
                <a:solidFill>
                  <a:srgbClr val="1B7A46"/>
                </a:solidFill>
                <a:latin typeface="Calibri"/>
                <a:ea typeface="Calibri"/>
                <a:cs typeface="Calibri"/>
                <a:sym typeface="Calibri"/>
              </a:rPr>
              <a:t>Ukuri: B.</a:t>
            </a:r>
            <a:r>
              <a:rPr lang="rw-RW" sz="1800" i="1" dirty="0">
                <a:solidFill>
                  <a:srgbClr val="1B7A46"/>
                </a:solidFill>
                <a:latin typeface="Calibri"/>
                <a:ea typeface="Calibri"/>
                <a:cs typeface="Calibri"/>
                <a:sym typeface="Calibri"/>
              </a:rPr>
              <a:t> Ni igisubizo cyuje ukuri, kidatera ubwoba, kandi kigatuma umuryango ukomeza gushaka ubuvuzi.</a:t>
            </a:r>
            <a:endParaRPr sz="1800" dirty="0">
              <a:solidFill>
                <a:schemeClr val="dk1"/>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68"/>
        <p:cNvGrpSpPr/>
        <p:nvPr/>
      </p:nvGrpSpPr>
      <p:grpSpPr>
        <a:xfrm>
          <a:off x="0" y="0"/>
          <a:ext cx="0" cy="0"/>
          <a:chOff x="0" y="0"/>
          <a:chExt cx="0" cy="0"/>
        </a:xfrm>
      </p:grpSpPr>
      <p:sp>
        <p:nvSpPr>
          <p:cNvPr id="1769" name="Google Shape;1769;p83"/>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AHO AMAKURU YAKUWE N'INKOMOKO</a:t>
            </a:r>
            <a:endParaRPr sz="1100">
              <a:solidFill>
                <a:schemeClr val="dk1"/>
              </a:solidFill>
              <a:latin typeface="Calibri"/>
              <a:ea typeface="Calibri"/>
              <a:cs typeface="Calibri"/>
              <a:sym typeface="Calibri"/>
            </a:endParaRPr>
          </a:p>
        </p:txBody>
      </p:sp>
      <p:sp>
        <p:nvSpPr>
          <p:cNvPr id="1770" name="Google Shape;1770;p83"/>
          <p:cNvSpPr/>
          <p:nvPr/>
        </p:nvSpPr>
        <p:spPr>
          <a:xfrm>
            <a:off x="548640" y="685800"/>
            <a:ext cx="11064240" cy="538134"/>
          </a:xfrm>
          <a:prstGeom prst="rect">
            <a:avLst/>
          </a:prstGeom>
          <a:noFill/>
          <a:ln>
            <a:noFill/>
          </a:ln>
        </p:spPr>
        <p:txBody>
          <a:bodyPr spcFirstLastPara="1" wrap="square" lIns="0" tIns="0" rIns="0" bIns="0" anchor="t" anchorCtr="0">
            <a:normAutofit/>
          </a:bodyPr>
          <a:lstStyle/>
          <a:p>
            <a:pPr marL="0" marR="0" lvl="0" indent="0" algn="l" rtl="0">
              <a:spcBef>
                <a:spcPts val="0"/>
              </a:spcBef>
              <a:spcAft>
                <a:spcPts val="0"/>
              </a:spcAft>
              <a:buClr>
                <a:srgbClr val="0F3D63"/>
              </a:buClr>
              <a:buSzPts val="3366"/>
              <a:buFont typeface="Cambria"/>
              <a:buNone/>
            </a:pPr>
            <a:r>
              <a:rPr lang="rw-RW" sz="3400" b="1">
                <a:solidFill>
                  <a:srgbClr val="0F3D63"/>
                </a:solidFill>
                <a:latin typeface="Cambria"/>
                <a:ea typeface="Cambria"/>
                <a:cs typeface="Cambria"/>
                <a:sym typeface="Cambria"/>
              </a:rPr>
              <a:t>Aho amakuru yakuwe</a:t>
            </a:r>
            <a:endParaRPr sz="3366">
              <a:solidFill>
                <a:schemeClr val="dk1"/>
              </a:solidFill>
              <a:latin typeface="Calibri"/>
              <a:ea typeface="Calibri"/>
              <a:cs typeface="Calibri"/>
              <a:sym typeface="Calibri"/>
            </a:endParaRPr>
          </a:p>
        </p:txBody>
      </p:sp>
      <p:sp>
        <p:nvSpPr>
          <p:cNvPr id="1771" name="Google Shape;1771;p83"/>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772" name="Google Shape;1772;p83"/>
          <p:cNvSpPr/>
          <p:nvPr/>
        </p:nvSpPr>
        <p:spPr>
          <a:xfrm>
            <a:off x="548640" y="1274734"/>
            <a:ext cx="5394960" cy="4480560"/>
          </a:xfrm>
          <a:prstGeom prst="rect">
            <a:avLst/>
          </a:prstGeom>
          <a:noFill/>
          <a:ln>
            <a:noFill/>
          </a:ln>
        </p:spPr>
        <p:txBody>
          <a:bodyPr spcFirstLastPara="1" wrap="square" lIns="0" tIns="0" rIns="0" bIns="0" anchor="t" anchorCtr="0">
            <a:noAutofit/>
          </a:bodyPr>
          <a:lstStyle/>
          <a:p>
            <a:pPr marL="0" marR="0" lvl="0" indent="0" algn="l" rtl="0">
              <a:lnSpc>
                <a:spcPct val="106000"/>
              </a:lnSpc>
              <a:spcBef>
                <a:spcPts val="0"/>
              </a:spcBef>
              <a:spcAft>
                <a:spcPts val="0"/>
              </a:spcAft>
              <a:buClr>
                <a:srgbClr val="0F3D63"/>
              </a:buClr>
              <a:buSzPts val="1400"/>
              <a:buFont typeface="Calibri"/>
              <a:buNone/>
            </a:pPr>
            <a:r>
              <a:rPr lang="rw-RW" sz="1400" b="1">
                <a:solidFill>
                  <a:srgbClr val="0F3D63"/>
                </a:solidFill>
                <a:latin typeface="Calibri"/>
                <a:ea typeface="Calibri"/>
                <a:cs typeface="Calibri"/>
                <a:sym typeface="Calibri"/>
              </a:rPr>
              <a:t>1. </a:t>
            </a:r>
            <a:r>
              <a:rPr lang="rw-RW" sz="1400">
                <a:solidFill>
                  <a:srgbClr val="16334F"/>
                </a:solidFill>
                <a:latin typeface="Calibri"/>
                <a:ea typeface="Calibri"/>
                <a:cs typeface="Calibri"/>
                <a:sym typeface="Calibri"/>
              </a:rPr>
              <a:t>International Agency for Research on Cancer. Global Cancer Observatory: Cancer Today (GLOBOCAN 2024 estimates, version 1.0). Lyon: IARC/WHO. Rwanda and stomach cancer fact sheets. https://gco.iarc.who.int/today</a:t>
            </a:r>
            <a:br>
              <a:rPr lang="rw-RW" sz="1400">
                <a:solidFill>
                  <a:srgbClr val="16334F"/>
                </a:solidFill>
                <a:latin typeface="Calibri"/>
                <a:ea typeface="Calibri"/>
                <a:cs typeface="Calibri"/>
                <a:sym typeface="Calibri"/>
              </a:rPr>
            </a:br>
            <a:endParaRPr sz="1400">
              <a:solidFill>
                <a:schemeClr val="dk1"/>
              </a:solidFill>
              <a:latin typeface="Calibri"/>
              <a:ea typeface="Calibri"/>
              <a:cs typeface="Calibri"/>
              <a:sym typeface="Calibri"/>
            </a:endParaRPr>
          </a:p>
          <a:p>
            <a:pPr marL="0" marR="0" lvl="0" indent="0" algn="l" rtl="0">
              <a:lnSpc>
                <a:spcPct val="106000"/>
              </a:lnSpc>
              <a:spcBef>
                <a:spcPts val="600"/>
              </a:spcBef>
              <a:spcAft>
                <a:spcPts val="0"/>
              </a:spcAft>
              <a:buClr>
                <a:srgbClr val="0F3D63"/>
              </a:buClr>
              <a:buSzPts val="1400"/>
              <a:buFont typeface="Calibri"/>
              <a:buNone/>
            </a:pPr>
            <a:r>
              <a:rPr lang="rw-RW" sz="1400" b="1">
                <a:solidFill>
                  <a:srgbClr val="0F3D63"/>
                </a:solidFill>
                <a:latin typeface="Calibri"/>
                <a:ea typeface="Calibri"/>
                <a:cs typeface="Calibri"/>
                <a:sym typeface="Calibri"/>
              </a:rPr>
              <a:t>2. </a:t>
            </a:r>
            <a:r>
              <a:rPr lang="rw-RW" sz="1400">
                <a:solidFill>
                  <a:srgbClr val="16334F"/>
                </a:solidFill>
                <a:latin typeface="Calibri"/>
                <a:ea typeface="Calibri"/>
                <a:cs typeface="Calibri"/>
                <a:sym typeface="Calibri"/>
              </a:rPr>
              <a:t>Sung H, Filho AM, Laversanne M, et al. Global cancer statistics 2024: GLOBOCAN estimates of incidence and mortality worldwide for 36 cancers in 185 countries. CA Cancer J Clin. 2026. doi:10.3322/caac.70090</a:t>
            </a:r>
            <a:br>
              <a:rPr lang="rw-RW" sz="1400">
                <a:solidFill>
                  <a:srgbClr val="16334F"/>
                </a:solidFill>
                <a:latin typeface="Calibri"/>
                <a:ea typeface="Calibri"/>
                <a:cs typeface="Calibri"/>
                <a:sym typeface="Calibri"/>
              </a:rPr>
            </a:br>
            <a:endParaRPr sz="1400">
              <a:solidFill>
                <a:schemeClr val="dk1"/>
              </a:solidFill>
              <a:latin typeface="Calibri"/>
              <a:ea typeface="Calibri"/>
              <a:cs typeface="Calibri"/>
              <a:sym typeface="Calibri"/>
            </a:endParaRPr>
          </a:p>
          <a:p>
            <a:pPr marL="0" marR="0" lvl="0" indent="0" algn="l" rtl="0">
              <a:lnSpc>
                <a:spcPct val="106000"/>
              </a:lnSpc>
              <a:spcBef>
                <a:spcPts val="600"/>
              </a:spcBef>
              <a:spcAft>
                <a:spcPts val="0"/>
              </a:spcAft>
              <a:buClr>
                <a:srgbClr val="0F3D63"/>
              </a:buClr>
              <a:buSzPts val="1400"/>
              <a:buFont typeface="Calibri"/>
              <a:buNone/>
            </a:pPr>
            <a:r>
              <a:rPr lang="rw-RW" sz="1400" b="1">
                <a:solidFill>
                  <a:srgbClr val="0F3D63"/>
                </a:solidFill>
                <a:latin typeface="Calibri"/>
                <a:ea typeface="Calibri"/>
                <a:cs typeface="Calibri"/>
                <a:sym typeface="Calibri"/>
              </a:rPr>
              <a:t>3. </a:t>
            </a:r>
            <a:r>
              <a:rPr lang="rw-RW" sz="1400">
                <a:solidFill>
                  <a:srgbClr val="16334F"/>
                </a:solidFill>
                <a:latin typeface="Calibri"/>
                <a:ea typeface="Calibri"/>
                <a:cs typeface="Calibri"/>
                <a:sym typeface="Calibri"/>
              </a:rPr>
              <a:t>International Agency for Research on Cancer. Cancer Tomorrow: projections of future incidence and mortality to 2050. https://gco.iarc.who.int/tomorrow</a:t>
            </a:r>
            <a:br>
              <a:rPr lang="rw-RW" sz="1400">
                <a:solidFill>
                  <a:srgbClr val="16334F"/>
                </a:solidFill>
                <a:latin typeface="Calibri"/>
                <a:ea typeface="Calibri"/>
                <a:cs typeface="Calibri"/>
                <a:sym typeface="Calibri"/>
              </a:rPr>
            </a:br>
            <a:endParaRPr sz="1400">
              <a:solidFill>
                <a:schemeClr val="dk1"/>
              </a:solidFill>
              <a:latin typeface="Calibri"/>
              <a:ea typeface="Calibri"/>
              <a:cs typeface="Calibri"/>
              <a:sym typeface="Calibri"/>
            </a:endParaRPr>
          </a:p>
          <a:p>
            <a:pPr marL="0" marR="0" lvl="0" indent="0" algn="l" rtl="0">
              <a:lnSpc>
                <a:spcPct val="106000"/>
              </a:lnSpc>
              <a:spcBef>
                <a:spcPts val="600"/>
              </a:spcBef>
              <a:spcAft>
                <a:spcPts val="0"/>
              </a:spcAft>
              <a:buClr>
                <a:srgbClr val="0F3D63"/>
              </a:buClr>
              <a:buSzPts val="1400"/>
              <a:buFont typeface="Calibri"/>
              <a:buNone/>
            </a:pPr>
            <a:r>
              <a:rPr lang="rw-RW" sz="1400" b="1">
                <a:solidFill>
                  <a:srgbClr val="0F3D63"/>
                </a:solidFill>
                <a:latin typeface="Calibri"/>
                <a:ea typeface="Calibri"/>
                <a:cs typeface="Calibri"/>
                <a:sym typeface="Calibri"/>
              </a:rPr>
              <a:t>4. </a:t>
            </a:r>
            <a:r>
              <a:rPr lang="rw-RW" sz="1400">
                <a:solidFill>
                  <a:srgbClr val="16334F"/>
                </a:solidFill>
                <a:latin typeface="Calibri"/>
                <a:ea typeface="Calibri"/>
                <a:cs typeface="Calibri"/>
                <a:sym typeface="Calibri"/>
              </a:rPr>
              <a:t>World Health Organization. Guide to Cancer Early Diagnosis. Geneva: WHO, 2017.</a:t>
            </a:r>
            <a:br>
              <a:rPr lang="rw-RW" sz="1400">
                <a:solidFill>
                  <a:srgbClr val="16334F"/>
                </a:solidFill>
                <a:latin typeface="Calibri"/>
                <a:ea typeface="Calibri"/>
                <a:cs typeface="Calibri"/>
                <a:sym typeface="Calibri"/>
              </a:rPr>
            </a:br>
            <a:endParaRPr sz="1400">
              <a:solidFill>
                <a:schemeClr val="dk1"/>
              </a:solidFill>
              <a:latin typeface="Calibri"/>
              <a:ea typeface="Calibri"/>
              <a:cs typeface="Calibri"/>
              <a:sym typeface="Calibri"/>
            </a:endParaRPr>
          </a:p>
          <a:p>
            <a:pPr marL="0" marR="0" lvl="0" indent="0" algn="l" rtl="0">
              <a:lnSpc>
                <a:spcPct val="106000"/>
              </a:lnSpc>
              <a:spcBef>
                <a:spcPts val="600"/>
              </a:spcBef>
              <a:spcAft>
                <a:spcPts val="0"/>
              </a:spcAft>
              <a:buClr>
                <a:srgbClr val="0F3D63"/>
              </a:buClr>
              <a:buSzPts val="1400"/>
              <a:buFont typeface="Calibri"/>
              <a:buNone/>
            </a:pPr>
            <a:r>
              <a:rPr lang="rw-RW" sz="1400" b="1">
                <a:solidFill>
                  <a:srgbClr val="0F3D63"/>
                </a:solidFill>
                <a:latin typeface="Calibri"/>
                <a:ea typeface="Calibri"/>
                <a:cs typeface="Calibri"/>
                <a:sym typeface="Calibri"/>
              </a:rPr>
              <a:t>5. </a:t>
            </a:r>
            <a:r>
              <a:rPr lang="rw-RW" sz="1400">
                <a:solidFill>
                  <a:srgbClr val="16334F"/>
                </a:solidFill>
                <a:latin typeface="Calibri"/>
                <a:ea typeface="Calibri"/>
                <a:cs typeface="Calibri"/>
                <a:sym typeface="Calibri"/>
              </a:rPr>
              <a:t>World Health Organization. Cancer control: knowledge into action. WHO guide for effective programmes. Early detection module. Geneva: WHO.</a:t>
            </a:r>
            <a:br>
              <a:rPr lang="rw-RW" sz="1400">
                <a:solidFill>
                  <a:srgbClr val="16334F"/>
                </a:solidFill>
                <a:latin typeface="Calibri"/>
                <a:ea typeface="Calibri"/>
                <a:cs typeface="Calibri"/>
                <a:sym typeface="Calibri"/>
              </a:rPr>
            </a:br>
            <a:endParaRPr sz="1400">
              <a:solidFill>
                <a:schemeClr val="dk1"/>
              </a:solidFill>
              <a:latin typeface="Calibri"/>
              <a:ea typeface="Calibri"/>
              <a:cs typeface="Calibri"/>
              <a:sym typeface="Calibri"/>
            </a:endParaRPr>
          </a:p>
        </p:txBody>
      </p:sp>
      <p:sp>
        <p:nvSpPr>
          <p:cNvPr id="1773" name="Google Shape;1773;p83"/>
          <p:cNvSpPr/>
          <p:nvPr/>
        </p:nvSpPr>
        <p:spPr>
          <a:xfrm>
            <a:off x="6309360" y="1274734"/>
            <a:ext cx="5394960" cy="4480560"/>
          </a:xfrm>
          <a:prstGeom prst="rect">
            <a:avLst/>
          </a:prstGeom>
          <a:noFill/>
          <a:ln>
            <a:noFill/>
          </a:ln>
        </p:spPr>
        <p:txBody>
          <a:bodyPr spcFirstLastPara="1" wrap="square" lIns="0" tIns="0" rIns="0" bIns="0" anchor="t" anchorCtr="0">
            <a:noAutofit/>
          </a:bodyPr>
          <a:lstStyle/>
          <a:p>
            <a:pPr marL="0" marR="0" lvl="0" indent="0" algn="l" rtl="0">
              <a:lnSpc>
                <a:spcPct val="106000"/>
              </a:lnSpc>
              <a:spcBef>
                <a:spcPts val="0"/>
              </a:spcBef>
              <a:spcAft>
                <a:spcPts val="0"/>
              </a:spcAft>
              <a:buClr>
                <a:srgbClr val="0F3D63"/>
              </a:buClr>
              <a:buSzPts val="1400"/>
              <a:buFont typeface="Calibri"/>
              <a:buNone/>
            </a:pPr>
            <a:r>
              <a:rPr lang="rw-RW" sz="1400" b="1">
                <a:solidFill>
                  <a:srgbClr val="0F3D63"/>
                </a:solidFill>
                <a:latin typeface="Calibri"/>
                <a:ea typeface="Calibri"/>
                <a:cs typeface="Calibri"/>
                <a:sym typeface="Calibri"/>
              </a:rPr>
              <a:t>6. </a:t>
            </a:r>
            <a:r>
              <a:rPr lang="rw-RW" sz="1400">
                <a:solidFill>
                  <a:srgbClr val="16334F"/>
                </a:solidFill>
                <a:latin typeface="Calibri"/>
                <a:ea typeface="Calibri"/>
                <a:cs typeface="Calibri"/>
                <a:sym typeface="Calibri"/>
              </a:rPr>
              <a:t>IARC Working Group. Helicobacter pylori Eradication as a Strategy for Preventing Gastric Cancer (IARC Working Group Reports Vol. 8). Lyon: IARC.</a:t>
            </a:r>
            <a:br>
              <a:rPr lang="rw-RW" sz="1400">
                <a:solidFill>
                  <a:srgbClr val="16334F"/>
                </a:solidFill>
                <a:latin typeface="Calibri"/>
                <a:ea typeface="Calibri"/>
                <a:cs typeface="Calibri"/>
                <a:sym typeface="Calibri"/>
              </a:rPr>
            </a:br>
            <a:endParaRPr sz="1400">
              <a:solidFill>
                <a:schemeClr val="dk1"/>
              </a:solidFill>
              <a:latin typeface="Calibri"/>
              <a:ea typeface="Calibri"/>
              <a:cs typeface="Calibri"/>
              <a:sym typeface="Calibri"/>
            </a:endParaRPr>
          </a:p>
          <a:p>
            <a:pPr marL="0" marR="0" lvl="0" indent="0" algn="l" rtl="0">
              <a:lnSpc>
                <a:spcPct val="106000"/>
              </a:lnSpc>
              <a:spcBef>
                <a:spcPts val="600"/>
              </a:spcBef>
              <a:spcAft>
                <a:spcPts val="0"/>
              </a:spcAft>
              <a:buClr>
                <a:srgbClr val="0F3D63"/>
              </a:buClr>
              <a:buSzPts val="1400"/>
              <a:buFont typeface="Calibri"/>
              <a:buNone/>
            </a:pPr>
            <a:r>
              <a:rPr lang="rw-RW" sz="1400" b="1">
                <a:solidFill>
                  <a:srgbClr val="0F3D63"/>
                </a:solidFill>
                <a:latin typeface="Calibri"/>
                <a:ea typeface="Calibri"/>
                <a:cs typeface="Calibri"/>
                <a:sym typeface="Calibri"/>
              </a:rPr>
              <a:t>7. </a:t>
            </a:r>
            <a:r>
              <a:rPr lang="rw-RW" sz="1400">
                <a:solidFill>
                  <a:srgbClr val="16334F"/>
                </a:solidFill>
                <a:latin typeface="Calibri"/>
                <a:ea typeface="Calibri"/>
                <a:cs typeface="Calibri"/>
                <a:sym typeface="Calibri"/>
              </a:rPr>
              <a:t>Ford AC, Yuan Y, Moayyedi P. Helicobacter pylori eradication for the prevention of gastric neoplasia. Cochrane Database of Systematic Reviews. https://www.cochranelibrary.com</a:t>
            </a:r>
            <a:br>
              <a:rPr lang="rw-RW" sz="1400">
                <a:solidFill>
                  <a:srgbClr val="16334F"/>
                </a:solidFill>
                <a:latin typeface="Calibri"/>
                <a:ea typeface="Calibri"/>
                <a:cs typeface="Calibri"/>
                <a:sym typeface="Calibri"/>
              </a:rPr>
            </a:br>
            <a:endParaRPr sz="1400">
              <a:solidFill>
                <a:schemeClr val="dk1"/>
              </a:solidFill>
              <a:latin typeface="Calibri"/>
              <a:ea typeface="Calibri"/>
              <a:cs typeface="Calibri"/>
              <a:sym typeface="Calibri"/>
            </a:endParaRPr>
          </a:p>
          <a:p>
            <a:pPr marL="0" marR="0" lvl="0" indent="0" algn="l" rtl="0">
              <a:lnSpc>
                <a:spcPct val="106000"/>
              </a:lnSpc>
              <a:spcBef>
                <a:spcPts val="600"/>
              </a:spcBef>
              <a:spcAft>
                <a:spcPts val="0"/>
              </a:spcAft>
              <a:buClr>
                <a:srgbClr val="0F3D63"/>
              </a:buClr>
              <a:buSzPts val="1400"/>
              <a:buFont typeface="Calibri"/>
              <a:buNone/>
            </a:pPr>
            <a:r>
              <a:rPr lang="rw-RW" sz="1400" b="1">
                <a:solidFill>
                  <a:srgbClr val="0F3D63"/>
                </a:solidFill>
                <a:latin typeface="Calibri"/>
                <a:ea typeface="Calibri"/>
                <a:cs typeface="Calibri"/>
                <a:sym typeface="Calibri"/>
              </a:rPr>
              <a:t>8. </a:t>
            </a:r>
            <a:r>
              <a:rPr lang="rw-RW" sz="1400">
                <a:solidFill>
                  <a:srgbClr val="16334F"/>
                </a:solidFill>
                <a:latin typeface="Calibri"/>
                <a:ea typeface="Calibri"/>
                <a:cs typeface="Calibri"/>
                <a:sym typeface="Calibri"/>
              </a:rPr>
              <a:t>Lordick F, Carneiro F, Cascinu S, et al. Gastric cancer: ESMO Clinical Practice Guideline for diagnosis, treatment and follow-up. Ann Oncol. 2022. doi:10.1016/j.annonc.2022.07.004</a:t>
            </a:r>
            <a:br>
              <a:rPr lang="rw-RW" sz="1400">
                <a:solidFill>
                  <a:srgbClr val="16334F"/>
                </a:solidFill>
                <a:latin typeface="Calibri"/>
                <a:ea typeface="Calibri"/>
                <a:cs typeface="Calibri"/>
                <a:sym typeface="Calibri"/>
              </a:rPr>
            </a:br>
            <a:endParaRPr sz="1400">
              <a:solidFill>
                <a:schemeClr val="dk1"/>
              </a:solidFill>
              <a:latin typeface="Calibri"/>
              <a:ea typeface="Calibri"/>
              <a:cs typeface="Calibri"/>
              <a:sym typeface="Calibri"/>
            </a:endParaRPr>
          </a:p>
          <a:p>
            <a:pPr marL="0" marR="0" lvl="0" indent="0" algn="l" rtl="0">
              <a:lnSpc>
                <a:spcPct val="106000"/>
              </a:lnSpc>
              <a:spcBef>
                <a:spcPts val="600"/>
              </a:spcBef>
              <a:spcAft>
                <a:spcPts val="0"/>
              </a:spcAft>
              <a:buClr>
                <a:srgbClr val="0F3D63"/>
              </a:buClr>
              <a:buSzPts val="1400"/>
              <a:buFont typeface="Calibri"/>
              <a:buNone/>
            </a:pPr>
            <a:r>
              <a:rPr lang="rw-RW" sz="1400" b="1">
                <a:solidFill>
                  <a:srgbClr val="0F3D63"/>
                </a:solidFill>
                <a:latin typeface="Calibri"/>
                <a:ea typeface="Calibri"/>
                <a:cs typeface="Calibri"/>
                <a:sym typeface="Calibri"/>
              </a:rPr>
              <a:t>9. </a:t>
            </a:r>
            <a:r>
              <a:rPr lang="rw-RW" sz="1400">
                <a:solidFill>
                  <a:srgbClr val="16334F"/>
                </a:solidFill>
                <a:latin typeface="Calibri"/>
                <a:ea typeface="Calibri"/>
                <a:cs typeface="Calibri"/>
                <a:sym typeface="Calibri"/>
              </a:rPr>
              <a:t>World Health Organization. Palliative care fact sheet and integrated palliative care guidance. Geneva: WHO.</a:t>
            </a:r>
            <a:br>
              <a:rPr lang="rw-RW" sz="1400">
                <a:solidFill>
                  <a:srgbClr val="16334F"/>
                </a:solidFill>
                <a:latin typeface="Calibri"/>
                <a:ea typeface="Calibri"/>
                <a:cs typeface="Calibri"/>
                <a:sym typeface="Calibri"/>
              </a:rPr>
            </a:br>
            <a:endParaRPr sz="1400">
              <a:solidFill>
                <a:schemeClr val="dk1"/>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78"/>
        <p:cNvGrpSpPr/>
        <p:nvPr/>
      </p:nvGrpSpPr>
      <p:grpSpPr>
        <a:xfrm>
          <a:off x="0" y="0"/>
          <a:ext cx="0" cy="0"/>
          <a:chOff x="0" y="0"/>
          <a:chExt cx="0" cy="0"/>
        </a:xfrm>
      </p:grpSpPr>
      <p:sp>
        <p:nvSpPr>
          <p:cNvPr id="1779" name="Google Shape;1779;p84"/>
          <p:cNvSpPr/>
          <p:nvPr/>
        </p:nvSpPr>
        <p:spPr>
          <a:xfrm>
            <a:off x="548640" y="41148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72B8"/>
              </a:buClr>
              <a:buSzPts val="1100"/>
              <a:buFont typeface="Calibri"/>
              <a:buNone/>
            </a:pPr>
            <a:r>
              <a:rPr lang="rw-RW" sz="1100" b="1">
                <a:solidFill>
                  <a:srgbClr val="2272B8"/>
                </a:solidFill>
                <a:latin typeface="Calibri"/>
                <a:ea typeface="Calibri"/>
                <a:cs typeface="Calibri"/>
                <a:sym typeface="Calibri"/>
              </a:rPr>
              <a:t>AHO AMAKURU YAKUWE N'INKOMOKO</a:t>
            </a:r>
            <a:endParaRPr sz="1100">
              <a:solidFill>
                <a:schemeClr val="dk1"/>
              </a:solidFill>
              <a:latin typeface="Calibri"/>
              <a:ea typeface="Calibri"/>
              <a:cs typeface="Calibri"/>
              <a:sym typeface="Calibri"/>
            </a:endParaRPr>
          </a:p>
        </p:txBody>
      </p:sp>
      <p:sp>
        <p:nvSpPr>
          <p:cNvPr id="1780" name="Google Shape;1780;p84"/>
          <p:cNvSpPr/>
          <p:nvPr/>
        </p:nvSpPr>
        <p:spPr>
          <a:xfrm>
            <a:off x="548640" y="685800"/>
            <a:ext cx="1106424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3D63"/>
              </a:buClr>
              <a:buSzPts val="3400"/>
              <a:buFont typeface="Cambria"/>
              <a:buNone/>
            </a:pPr>
            <a:r>
              <a:rPr lang="rw-RW" sz="3400" b="1" dirty="0">
                <a:solidFill>
                  <a:srgbClr val="0F3D63"/>
                </a:solidFill>
                <a:latin typeface="Cambria"/>
                <a:ea typeface="Cambria"/>
                <a:cs typeface="Cambria"/>
                <a:sym typeface="Cambria"/>
              </a:rPr>
              <a:t>Aho amakuru yakuwe (gukomeza)</a:t>
            </a:r>
            <a:endParaRPr sz="3400" dirty="0">
              <a:solidFill>
                <a:schemeClr val="dk1"/>
              </a:solidFill>
              <a:latin typeface="Calibri"/>
              <a:ea typeface="Calibri"/>
              <a:cs typeface="Calibri"/>
              <a:sym typeface="Calibri"/>
            </a:endParaRPr>
          </a:p>
        </p:txBody>
      </p:sp>
      <p:sp>
        <p:nvSpPr>
          <p:cNvPr id="1781" name="Google Shape;1781;p84"/>
          <p:cNvSpPr/>
          <p:nvPr/>
        </p:nvSpPr>
        <p:spPr>
          <a:xfrm>
            <a:off x="548640" y="635508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7391"/>
              </a:buClr>
              <a:buSzPts val="1000"/>
              <a:buFont typeface="Calibri"/>
              <a:buNone/>
            </a:pPr>
            <a:r>
              <a:rPr lang="rw-RW" sz="1000">
                <a:solidFill>
                  <a:srgbClr val="5A7391"/>
                </a:solidFill>
                <a:latin typeface="Calibri"/>
                <a:ea typeface="Calibri"/>
                <a:cs typeface="Calibri"/>
                <a:sym typeface="Calibri"/>
              </a:rPr>
              <a:t>Kanseri y'igifu | CHW | Rwanda Biomedical Centre</a:t>
            </a:r>
            <a:endParaRPr sz="1000">
              <a:solidFill>
                <a:schemeClr val="dk1"/>
              </a:solidFill>
              <a:latin typeface="Calibri"/>
              <a:ea typeface="Calibri"/>
              <a:cs typeface="Calibri"/>
              <a:sym typeface="Calibri"/>
            </a:endParaRPr>
          </a:p>
        </p:txBody>
      </p:sp>
      <p:sp>
        <p:nvSpPr>
          <p:cNvPr id="1782" name="Google Shape;1782;p84"/>
          <p:cNvSpPr/>
          <p:nvPr/>
        </p:nvSpPr>
        <p:spPr>
          <a:xfrm>
            <a:off x="548640" y="1600200"/>
            <a:ext cx="5394960" cy="4480560"/>
          </a:xfrm>
          <a:prstGeom prst="rect">
            <a:avLst/>
          </a:prstGeom>
          <a:noFill/>
          <a:ln>
            <a:noFill/>
          </a:ln>
        </p:spPr>
        <p:txBody>
          <a:bodyPr spcFirstLastPara="1" wrap="square" lIns="0" tIns="0" rIns="0" bIns="0" anchor="t" anchorCtr="0">
            <a:noAutofit/>
          </a:bodyPr>
          <a:lstStyle/>
          <a:p>
            <a:pPr marL="0" marR="0" lvl="0" indent="0" algn="l" rtl="0">
              <a:lnSpc>
                <a:spcPct val="106000"/>
              </a:lnSpc>
              <a:spcBef>
                <a:spcPts val="0"/>
              </a:spcBef>
              <a:spcAft>
                <a:spcPts val="0"/>
              </a:spcAft>
              <a:buClr>
                <a:srgbClr val="0F3D63"/>
              </a:buClr>
              <a:buSzPts val="1400"/>
              <a:buFont typeface="Calibri"/>
              <a:buNone/>
            </a:pPr>
            <a:r>
              <a:rPr lang="rw-RW" sz="1400" b="1">
                <a:solidFill>
                  <a:srgbClr val="0F3D63"/>
                </a:solidFill>
                <a:latin typeface="Calibri"/>
                <a:ea typeface="Calibri"/>
                <a:cs typeface="Calibri"/>
                <a:sym typeface="Calibri"/>
              </a:rPr>
              <a:t>10. </a:t>
            </a:r>
            <a:r>
              <a:rPr lang="rw-RW" sz="1400">
                <a:solidFill>
                  <a:srgbClr val="16334F"/>
                </a:solidFill>
                <a:latin typeface="Calibri"/>
                <a:ea typeface="Calibri"/>
                <a:cs typeface="Calibri"/>
                <a:sym typeface="Calibri"/>
              </a:rPr>
              <a:t>American Cancer Society. Stomach cancer: causes, risk factors, signs and symptoms, detection, diagnosis and treatment. https://www.cancer.org/cancer/types/stomach-cancer.html</a:t>
            </a:r>
            <a:br>
              <a:rPr lang="rw-RW" sz="1400">
                <a:solidFill>
                  <a:srgbClr val="16334F"/>
                </a:solidFill>
                <a:latin typeface="Calibri"/>
                <a:ea typeface="Calibri"/>
                <a:cs typeface="Calibri"/>
                <a:sym typeface="Calibri"/>
              </a:rPr>
            </a:br>
            <a:endParaRPr sz="1400">
              <a:solidFill>
                <a:schemeClr val="dk1"/>
              </a:solidFill>
              <a:latin typeface="Calibri"/>
              <a:ea typeface="Calibri"/>
              <a:cs typeface="Calibri"/>
              <a:sym typeface="Calibri"/>
            </a:endParaRPr>
          </a:p>
          <a:p>
            <a:pPr marL="0" marR="0" lvl="0" indent="0" algn="l" rtl="0">
              <a:lnSpc>
                <a:spcPct val="106000"/>
              </a:lnSpc>
              <a:spcBef>
                <a:spcPts val="600"/>
              </a:spcBef>
              <a:spcAft>
                <a:spcPts val="0"/>
              </a:spcAft>
              <a:buClr>
                <a:srgbClr val="0F3D63"/>
              </a:buClr>
              <a:buSzPts val="1400"/>
              <a:buFont typeface="Calibri"/>
              <a:buNone/>
            </a:pPr>
            <a:r>
              <a:rPr lang="rw-RW" sz="1400" b="1">
                <a:solidFill>
                  <a:srgbClr val="0F3D63"/>
                </a:solidFill>
                <a:latin typeface="Calibri"/>
                <a:ea typeface="Calibri"/>
                <a:cs typeface="Calibri"/>
                <a:sym typeface="Calibri"/>
              </a:rPr>
              <a:t>11. </a:t>
            </a:r>
            <a:r>
              <a:rPr lang="rw-RW" sz="1400">
                <a:solidFill>
                  <a:srgbClr val="16334F"/>
                </a:solidFill>
                <a:latin typeface="Calibri"/>
                <a:ea typeface="Calibri"/>
                <a:cs typeface="Calibri"/>
                <a:sym typeface="Calibri"/>
              </a:rPr>
              <a:t>National Cancer Institute. Stomach (gastric) cancer: patient information. https://www.cancer.gov/types/stomach</a:t>
            </a:r>
            <a:br>
              <a:rPr lang="rw-RW" sz="1400">
                <a:solidFill>
                  <a:srgbClr val="16334F"/>
                </a:solidFill>
                <a:latin typeface="Calibri"/>
                <a:ea typeface="Calibri"/>
                <a:cs typeface="Calibri"/>
                <a:sym typeface="Calibri"/>
              </a:rPr>
            </a:br>
            <a:endParaRPr sz="1400">
              <a:solidFill>
                <a:schemeClr val="dk1"/>
              </a:solidFill>
              <a:latin typeface="Calibri"/>
              <a:ea typeface="Calibri"/>
              <a:cs typeface="Calibri"/>
              <a:sym typeface="Calibri"/>
            </a:endParaRPr>
          </a:p>
          <a:p>
            <a:pPr marL="0" marR="0" lvl="0" indent="0" algn="l" rtl="0">
              <a:lnSpc>
                <a:spcPct val="106000"/>
              </a:lnSpc>
              <a:spcBef>
                <a:spcPts val="600"/>
              </a:spcBef>
              <a:spcAft>
                <a:spcPts val="0"/>
              </a:spcAft>
              <a:buClr>
                <a:srgbClr val="0F3D63"/>
              </a:buClr>
              <a:buSzPts val="1400"/>
              <a:buFont typeface="Calibri"/>
              <a:buNone/>
            </a:pPr>
            <a:r>
              <a:rPr lang="rw-RW" sz="1400" b="1">
                <a:solidFill>
                  <a:srgbClr val="0F3D63"/>
                </a:solidFill>
                <a:latin typeface="Calibri"/>
                <a:ea typeface="Calibri"/>
                <a:cs typeface="Calibri"/>
                <a:sym typeface="Calibri"/>
              </a:rPr>
              <a:t>12. </a:t>
            </a:r>
            <a:r>
              <a:rPr lang="rw-RW" sz="1400">
                <a:solidFill>
                  <a:srgbClr val="16334F"/>
                </a:solidFill>
                <a:latin typeface="Calibri"/>
                <a:ea typeface="Calibri"/>
                <a:cs typeface="Calibri"/>
                <a:sym typeface="Calibri"/>
              </a:rPr>
              <a:t>ESMO. Stomach Cancer: A Guide for Patients. https://www.esmo.org</a:t>
            </a:r>
            <a:br>
              <a:rPr lang="rw-RW" sz="1400">
                <a:solidFill>
                  <a:srgbClr val="16334F"/>
                </a:solidFill>
                <a:latin typeface="Calibri"/>
                <a:ea typeface="Calibri"/>
                <a:cs typeface="Calibri"/>
                <a:sym typeface="Calibri"/>
              </a:rPr>
            </a:br>
            <a:endParaRPr sz="1400">
              <a:solidFill>
                <a:schemeClr val="dk1"/>
              </a:solidFill>
              <a:latin typeface="Calibri"/>
              <a:ea typeface="Calibri"/>
              <a:cs typeface="Calibri"/>
              <a:sym typeface="Calibri"/>
            </a:endParaRPr>
          </a:p>
          <a:p>
            <a:pPr marL="0" marR="0" lvl="0" indent="0" algn="l" rtl="0">
              <a:lnSpc>
                <a:spcPct val="106000"/>
              </a:lnSpc>
              <a:spcBef>
                <a:spcPts val="600"/>
              </a:spcBef>
              <a:spcAft>
                <a:spcPts val="0"/>
              </a:spcAft>
              <a:buClr>
                <a:srgbClr val="0F3D63"/>
              </a:buClr>
              <a:buSzPts val="1400"/>
              <a:buFont typeface="Calibri"/>
              <a:buNone/>
            </a:pPr>
            <a:r>
              <a:rPr lang="rw-RW" sz="1400" b="1">
                <a:solidFill>
                  <a:srgbClr val="0F3D63"/>
                </a:solidFill>
                <a:latin typeface="Calibri"/>
                <a:ea typeface="Calibri"/>
                <a:cs typeface="Calibri"/>
                <a:sym typeface="Calibri"/>
              </a:rPr>
              <a:t>13. </a:t>
            </a:r>
            <a:r>
              <a:rPr lang="rw-RW" sz="1400">
                <a:solidFill>
                  <a:srgbClr val="16334F"/>
                </a:solidFill>
                <a:latin typeface="Calibri"/>
                <a:ea typeface="Calibri"/>
                <a:cs typeface="Calibri"/>
                <a:sym typeface="Calibri"/>
              </a:rPr>
              <a:t>National Comprehensive Cancer Network. NCCN Guidelines for Patients: Stomach Cancer. https://www.nccn.org/patientguidelines</a:t>
            </a:r>
            <a:br>
              <a:rPr lang="rw-RW" sz="1400">
                <a:solidFill>
                  <a:srgbClr val="16334F"/>
                </a:solidFill>
                <a:latin typeface="Calibri"/>
                <a:ea typeface="Calibri"/>
                <a:cs typeface="Calibri"/>
                <a:sym typeface="Calibri"/>
              </a:rPr>
            </a:br>
            <a:endParaRPr sz="1400">
              <a:solidFill>
                <a:schemeClr val="dk1"/>
              </a:solidFill>
              <a:latin typeface="Calibri"/>
              <a:ea typeface="Calibri"/>
              <a:cs typeface="Calibri"/>
              <a:sym typeface="Calibri"/>
            </a:endParaRPr>
          </a:p>
        </p:txBody>
      </p:sp>
      <p:sp>
        <p:nvSpPr>
          <p:cNvPr id="1783" name="Google Shape;1783;p84"/>
          <p:cNvSpPr/>
          <p:nvPr/>
        </p:nvSpPr>
        <p:spPr>
          <a:xfrm>
            <a:off x="6309360" y="1600200"/>
            <a:ext cx="5394960" cy="4480560"/>
          </a:xfrm>
          <a:prstGeom prst="rect">
            <a:avLst/>
          </a:prstGeom>
          <a:noFill/>
          <a:ln>
            <a:noFill/>
          </a:ln>
        </p:spPr>
        <p:txBody>
          <a:bodyPr spcFirstLastPara="1" wrap="square" lIns="0" tIns="0" rIns="0" bIns="0" anchor="t" anchorCtr="0">
            <a:noAutofit/>
          </a:bodyPr>
          <a:lstStyle/>
          <a:p>
            <a:pPr marL="0" marR="0" lvl="0" indent="0" algn="l" rtl="0">
              <a:lnSpc>
                <a:spcPct val="106000"/>
              </a:lnSpc>
              <a:spcBef>
                <a:spcPts val="0"/>
              </a:spcBef>
              <a:spcAft>
                <a:spcPts val="0"/>
              </a:spcAft>
              <a:buClr>
                <a:srgbClr val="0F3D63"/>
              </a:buClr>
              <a:buSzPts val="1400"/>
              <a:buFont typeface="Calibri"/>
              <a:buNone/>
            </a:pPr>
            <a:r>
              <a:rPr lang="rw-RW" sz="1400" b="1">
                <a:solidFill>
                  <a:srgbClr val="0F3D63"/>
                </a:solidFill>
                <a:latin typeface="Calibri"/>
                <a:ea typeface="Calibri"/>
                <a:cs typeface="Calibri"/>
                <a:sym typeface="Calibri"/>
              </a:rPr>
              <a:t>14. </a:t>
            </a:r>
            <a:r>
              <a:rPr lang="rw-RW" sz="1400">
                <a:solidFill>
                  <a:srgbClr val="16334F"/>
                </a:solidFill>
                <a:latin typeface="Calibri"/>
                <a:ea typeface="Calibri"/>
                <a:cs typeface="Calibri"/>
                <a:sym typeface="Calibri"/>
              </a:rPr>
              <a:t>Gastric cancer in sub-Saharan Africa: a systematic review, 2022. https://doi.org (open access).</a:t>
            </a:r>
            <a:br>
              <a:rPr lang="rw-RW" sz="1400">
                <a:solidFill>
                  <a:srgbClr val="16334F"/>
                </a:solidFill>
                <a:latin typeface="Calibri"/>
                <a:ea typeface="Calibri"/>
                <a:cs typeface="Calibri"/>
                <a:sym typeface="Calibri"/>
              </a:rPr>
            </a:br>
            <a:endParaRPr sz="1400">
              <a:solidFill>
                <a:schemeClr val="dk1"/>
              </a:solidFill>
              <a:latin typeface="Calibri"/>
              <a:ea typeface="Calibri"/>
              <a:cs typeface="Calibri"/>
              <a:sym typeface="Calibri"/>
            </a:endParaRPr>
          </a:p>
          <a:p>
            <a:pPr marL="0" marR="0" lvl="0" indent="0" algn="l" rtl="0">
              <a:lnSpc>
                <a:spcPct val="106000"/>
              </a:lnSpc>
              <a:spcBef>
                <a:spcPts val="600"/>
              </a:spcBef>
              <a:spcAft>
                <a:spcPts val="0"/>
              </a:spcAft>
              <a:buClr>
                <a:srgbClr val="0F3D63"/>
              </a:buClr>
              <a:buSzPts val="1400"/>
              <a:buFont typeface="Calibri"/>
              <a:buNone/>
            </a:pPr>
            <a:r>
              <a:rPr lang="rw-RW" sz="1400" b="1">
                <a:solidFill>
                  <a:srgbClr val="0F3D63"/>
                </a:solidFill>
                <a:latin typeface="Calibri"/>
                <a:ea typeface="Calibri"/>
                <a:cs typeface="Calibri"/>
                <a:sym typeface="Calibri"/>
              </a:rPr>
              <a:t>15. </a:t>
            </a:r>
            <a:r>
              <a:rPr lang="rw-RW" sz="1400">
                <a:solidFill>
                  <a:srgbClr val="16334F"/>
                </a:solidFill>
                <a:latin typeface="Calibri"/>
                <a:ea typeface="Calibri"/>
                <a:cs typeface="Calibri"/>
                <a:sym typeface="Calibri"/>
              </a:rPr>
              <a:t>African Cancer Registry Network. Rwanda National Cancer Registry. https://afcrn.org</a:t>
            </a:r>
            <a:br>
              <a:rPr lang="rw-RW" sz="1400">
                <a:solidFill>
                  <a:srgbClr val="16334F"/>
                </a:solidFill>
                <a:latin typeface="Calibri"/>
                <a:ea typeface="Calibri"/>
                <a:cs typeface="Calibri"/>
                <a:sym typeface="Calibri"/>
              </a:rPr>
            </a:br>
            <a:endParaRPr sz="1400">
              <a:solidFill>
                <a:schemeClr val="dk1"/>
              </a:solidFill>
              <a:latin typeface="Calibri"/>
              <a:ea typeface="Calibri"/>
              <a:cs typeface="Calibri"/>
              <a:sym typeface="Calibri"/>
            </a:endParaRPr>
          </a:p>
          <a:p>
            <a:pPr marL="0" marR="0" lvl="0" indent="0" algn="l" rtl="0">
              <a:lnSpc>
                <a:spcPct val="106000"/>
              </a:lnSpc>
              <a:spcBef>
                <a:spcPts val="600"/>
              </a:spcBef>
              <a:spcAft>
                <a:spcPts val="0"/>
              </a:spcAft>
              <a:buClr>
                <a:srgbClr val="0F3D63"/>
              </a:buClr>
              <a:buSzPts val="1400"/>
              <a:buFont typeface="Calibri"/>
              <a:buNone/>
            </a:pPr>
            <a:r>
              <a:rPr lang="rw-RW" sz="1400" b="1">
                <a:solidFill>
                  <a:srgbClr val="0F3D63"/>
                </a:solidFill>
                <a:latin typeface="Calibri"/>
                <a:ea typeface="Calibri"/>
                <a:cs typeface="Calibri"/>
                <a:sym typeface="Calibri"/>
              </a:rPr>
              <a:t>16. </a:t>
            </a:r>
            <a:r>
              <a:rPr lang="rw-RW" sz="1400">
                <a:solidFill>
                  <a:srgbClr val="16334F"/>
                </a:solidFill>
                <a:latin typeface="Calibri"/>
                <a:ea typeface="Calibri"/>
                <a:cs typeface="Calibri"/>
                <a:sym typeface="Calibri"/>
              </a:rPr>
              <a:t>Rwanda Ministry of Health and Rwanda Biomedical Centre. National cancer control and community health worker programme documents. Bibliographic details to be confirmed with RBC.</a:t>
            </a:r>
            <a:br>
              <a:rPr lang="rw-RW" sz="1400">
                <a:solidFill>
                  <a:srgbClr val="16334F"/>
                </a:solidFill>
                <a:latin typeface="Calibri"/>
                <a:ea typeface="Calibri"/>
                <a:cs typeface="Calibri"/>
                <a:sym typeface="Calibri"/>
              </a:rPr>
            </a:br>
            <a:endParaRPr sz="1400">
              <a:solidFill>
                <a:schemeClr val="dk1"/>
              </a:solidFill>
              <a:latin typeface="Calibri"/>
              <a:ea typeface="Calibri"/>
              <a:cs typeface="Calibri"/>
              <a:sym typeface="Calibri"/>
            </a:endParaRPr>
          </a:p>
          <a:p>
            <a:pPr marL="0" marR="0" lvl="0" indent="0" algn="l" rtl="0">
              <a:lnSpc>
                <a:spcPct val="106000"/>
              </a:lnSpc>
              <a:spcBef>
                <a:spcPts val="600"/>
              </a:spcBef>
              <a:spcAft>
                <a:spcPts val="0"/>
              </a:spcAft>
              <a:buClr>
                <a:srgbClr val="0F3D63"/>
              </a:buClr>
              <a:buSzPts val="1400"/>
              <a:buFont typeface="Calibri"/>
              <a:buNone/>
            </a:pPr>
            <a:r>
              <a:rPr lang="rw-RW" sz="1400" b="1">
                <a:solidFill>
                  <a:srgbClr val="0F3D63"/>
                </a:solidFill>
                <a:latin typeface="Calibri"/>
                <a:ea typeface="Calibri"/>
                <a:cs typeface="Calibri"/>
                <a:sym typeface="Calibri"/>
              </a:rPr>
              <a:t>17. </a:t>
            </a:r>
            <a:r>
              <a:rPr lang="rw-RW" sz="1400">
                <a:solidFill>
                  <a:srgbClr val="16334F"/>
                </a:solidFill>
                <a:latin typeface="Calibri"/>
                <a:ea typeface="Calibri"/>
                <a:cs typeface="Calibri"/>
                <a:sym typeface="Calibri"/>
              </a:rPr>
              <a:t>Rwanda-specific gastric cancer referral pathway, Helicobacter pylori testing availability, and Kinyarwanda terminology sources. Bibliographic details to be confirmed with RBC.</a:t>
            </a:r>
            <a:br>
              <a:rPr lang="rw-RW" sz="1400">
                <a:solidFill>
                  <a:srgbClr val="16334F"/>
                </a:solidFill>
                <a:latin typeface="Calibri"/>
                <a:ea typeface="Calibri"/>
                <a:cs typeface="Calibri"/>
                <a:sym typeface="Calibri"/>
              </a:rPr>
            </a:br>
            <a:endParaRPr sz="14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61ECC46547A045896A1B75675AB43C" ma:contentTypeVersion="12" ma:contentTypeDescription="Create a new document." ma:contentTypeScope="" ma:versionID="b64b65294843640458730aea8e953da7">
  <xsd:schema xmlns:xsd="http://www.w3.org/2001/XMLSchema" xmlns:xs="http://www.w3.org/2001/XMLSchema" xmlns:p="http://schemas.microsoft.com/office/2006/metadata/properties" xmlns:ns1="http://schemas.microsoft.com/sharepoint/v3" xmlns:ns2="17d9841e-3b3a-4c82-8e4d-4f809d4d0b5f" xmlns:ns3="55fd9118-62da-44f2-ad5d-6ee26453d194" targetNamespace="http://schemas.microsoft.com/office/2006/metadata/properties" ma:root="true" ma:fieldsID="0ebed194f83790a6b312e91a81a0e8d9" ns1:_="" ns2:_="" ns3:_="">
    <xsd:import namespace="http://schemas.microsoft.com/sharepoint/v3"/>
    <xsd:import namespace="17d9841e-3b3a-4c82-8e4d-4f809d4d0b5f"/>
    <xsd:import namespace="55fd9118-62da-44f2-ad5d-6ee26453d19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d9841e-3b3a-4c82-8e4d-4f809d4d0b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3f5e642b-91f5-4888-b018-43334a040d09"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fd9118-62da-44f2-ad5d-6ee26453d194"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2a656308-58b0-4c85-8062-04ccee44b053}" ma:internalName="TaxCatchAll" ma:showField="CatchAllData" ma:web="55fd9118-62da-44f2-ad5d-6ee26453d1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55fd9118-62da-44f2-ad5d-6ee26453d194" xsi:nil="true"/>
    <_ip_UnifiedCompliancePolicyProperties xmlns="http://schemas.microsoft.com/sharepoint/v3" xsi:nil="true"/>
    <lcf76f155ced4ddcb4097134ff3c332f xmlns="17d9841e-3b3a-4c82-8e4d-4f809d4d0b5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A9392CA-6CB9-45C6-BB9F-F44388617D11}"/>
</file>

<file path=customXml/itemProps2.xml><?xml version="1.0" encoding="utf-8"?>
<ds:datastoreItem xmlns:ds="http://schemas.openxmlformats.org/officeDocument/2006/customXml" ds:itemID="{C93E7E29-AA8B-4DE5-A5B1-1B2C66BF9121}"/>
</file>

<file path=customXml/itemProps3.xml><?xml version="1.0" encoding="utf-8"?>
<ds:datastoreItem xmlns:ds="http://schemas.openxmlformats.org/officeDocument/2006/customXml" ds:itemID="{AFD5C6DD-8CC8-42AC-A969-CF483728126B}"/>
</file>

<file path=docProps/app.xml><?xml version="1.0" encoding="utf-8"?>
<Properties xmlns="http://schemas.openxmlformats.org/officeDocument/2006/extended-properties" xmlns:vt="http://schemas.openxmlformats.org/officeDocument/2006/docPropsVTypes">
  <TotalTime>1054</TotalTime>
  <Words>8776</Words>
  <Application>Microsoft Macintosh PowerPoint</Application>
  <PresentationFormat>Panorámica</PresentationFormat>
  <Paragraphs>1104</Paragraphs>
  <Slides>84</Slides>
  <Notes>84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84</vt:i4>
      </vt:variant>
    </vt:vector>
  </HeadingPairs>
  <TitlesOfParts>
    <vt:vector size="88"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Rwanda Biomedical Centre</dc:creator>
  <cp:lastModifiedBy>komorebimindset_es@hotmail.com</cp:lastModifiedBy>
  <cp:revision>42</cp:revision>
  <dcterms:created xsi:type="dcterms:W3CDTF">2026-08-21T16:21:50Z</dcterms:created>
  <dcterms:modified xsi:type="dcterms:W3CDTF">2026-09-22T14:44:52Z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81acc0d-dcc4-4dc9-a2c5-be70b05a2fe6_Enabled">
    <vt:lpwstr>true</vt:lpwstr>
  </property>
  <property fmtid="{D5CDD505-2E9C-101B-9397-08002B2CF9AE}" pid="3" name="MSIP_Label_e81acc0d-dcc4-4dc9-a2c5-be70b05a2fe6_SetDate">
    <vt:lpwstr>2026-09-14T16:16:09Z</vt:lpwstr>
  </property>
  <property fmtid="{D5CDD505-2E9C-101B-9397-08002B2CF9AE}" pid="4" name="MSIP_Label_e81acc0d-dcc4-4dc9-a2c5-be70b05a2fe6_Method">
    <vt:lpwstr>Privileged</vt:lpwstr>
  </property>
  <property fmtid="{D5CDD505-2E9C-101B-9397-08002B2CF9AE}" pid="5" name="MSIP_Label_e81acc0d-dcc4-4dc9-a2c5-be70b05a2fe6_Name">
    <vt:lpwstr>e81acc0d-dcc4-4dc9-a2c5-be70b05a2fe6</vt:lpwstr>
  </property>
  <property fmtid="{D5CDD505-2E9C-101B-9397-08002B2CF9AE}" pid="6" name="MSIP_Label_e81acc0d-dcc4-4dc9-a2c5-be70b05a2fe6_SiteId">
    <vt:lpwstr>a00de4ec-48a8-43a6-be74-e31274e2060d</vt:lpwstr>
  </property>
  <property fmtid="{D5CDD505-2E9C-101B-9397-08002B2CF9AE}" pid="7" name="MSIP_Label_e81acc0d-dcc4-4dc9-a2c5-be70b05a2fe6_ActionId">
    <vt:lpwstr>c246df8e-8cf0-46df-af9f-4842f8a2b2ae</vt:lpwstr>
  </property>
  <property fmtid="{D5CDD505-2E9C-101B-9397-08002B2CF9AE}" pid="8" name="MSIP_Label_e81acc0d-dcc4-4dc9-a2c5-be70b05a2fe6_ContentBits">
    <vt:lpwstr>0</vt:lpwstr>
  </property>
  <property fmtid="{D5CDD505-2E9C-101B-9397-08002B2CF9AE}" pid="9" name="MSIP_Label_e81acc0d-dcc4-4dc9-a2c5-be70b05a2fe6_Tag">
    <vt:lpwstr>10, 0, 1, 1</vt:lpwstr>
  </property>
  <property fmtid="{D5CDD505-2E9C-101B-9397-08002B2CF9AE}" pid="10" name="ContentTypeId">
    <vt:lpwstr>0x0101007D61ECC46547A045896A1B75675AB43C</vt:lpwstr>
  </property>
</Properties>
</file>