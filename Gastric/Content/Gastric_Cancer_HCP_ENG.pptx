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presentation.xml" ContentType="application/vnd.openxmlformats-officedocument.presentationml.presentation.main+xml"/>
  <Override PartName="/ppt/slides/slide106.xml" ContentType="application/vnd.openxmlformats-officedocument.presentationml.slide+xml"/>
  <Override PartName="/ppt/notesSlides/notesSlide64.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65.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63.xml" ContentType="application/vnd.openxmlformats-officedocument.presentationml.notesSlide+xml"/>
  <Override PartName="/ppt/notesSlides/notesSlide62.xml" ContentType="application/vnd.openxmlformats-officedocument.presentationml.notesSlide+xml"/>
  <Override PartName="/ppt/notesSlides/notesSlide61.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6.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81.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charts/chart2.xml" ContentType="application/vnd.openxmlformats-officedocument.drawingml.chart+xml"/>
  <Override PartName="/ppt/charts/chart1.xml" ContentType="application/vnd.openxmlformats-officedocument.drawingml.chart+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359" r:id="rId28"/>
    <p:sldId id="360"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58" r:id="rId55"/>
    <p:sldId id="307" r:id="rId56"/>
    <p:sldId id="308" r:id="rId57"/>
    <p:sldId id="309" r:id="rId58"/>
    <p:sldId id="310" r:id="rId59"/>
    <p:sldId id="311" r:id="rId60"/>
    <p:sldId id="312" r:id="rId61"/>
    <p:sldId id="313" r:id="rId62"/>
    <p:sldId id="314" r:id="rId63"/>
    <p:sldId id="315" r:id="rId64"/>
    <p:sldId id="316" r:id="rId65"/>
    <p:sldId id="361"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5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62" r:id="rId10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2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779"/>
    <p:restoredTop sz="94610"/>
  </p:normalViewPr>
  <p:slideViewPr>
    <p:cSldViewPr snapToGrid="0" snapToObjects="1">
      <p:cViewPr>
        <p:scale>
          <a:sx n="72" d="100"/>
          <a:sy n="72" d="100"/>
        </p:scale>
        <p:origin x="1120"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customXml" Target="../customXml/item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115" Type="http://schemas.openxmlformats.org/officeDocument/2006/relationships/customXml" Target="../customXml/item3.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12406B"/>
                </a:solidFill>
                <a:latin typeface="Calibri"/>
              </a:defRPr>
            </a:pPr>
            <a:r>
              <a:rPr lang="en-US" sz="1300" b="0" i="0" u="none" strike="noStrike" dirty="0">
                <a:solidFill>
                  <a:srgbClr val="12406B"/>
                </a:solidFill>
                <a:latin typeface="Calibri"/>
              </a:rPr>
              <a:t>New stomach cancer cases by world region, 2024</a:t>
            </a:r>
          </a:p>
        </c:rich>
      </c:tx>
      <c:overlay val="0"/>
    </c:title>
    <c:autoTitleDeleted val="0"/>
    <c:plotArea>
      <c:layout/>
      <c:barChart>
        <c:barDir val="bar"/>
        <c:grouping val="clustered"/>
        <c:varyColors val="0"/>
        <c:ser>
          <c:idx val="0"/>
          <c:order val="0"/>
          <c:tx>
            <c:strRef>
              <c:f>Sheet1!$B$1</c:f>
              <c:strCache>
                <c:ptCount val="1"/>
                <c:pt idx="0">
                  <c:v>New cases</c:v>
                </c:pt>
              </c:strCache>
            </c:strRef>
          </c:tx>
          <c:spPr>
            <a:solidFill>
              <a:srgbClr val="1C6FB1"/>
            </a:solidFill>
            <a:effectLst/>
          </c:spPr>
          <c:invertIfNegative val="0"/>
          <c:dLbls>
            <c:numFmt formatCode="#,##0" sourceLinked="0"/>
            <c:spPr>
              <a:noFill/>
              <a:ln>
                <a:noFill/>
              </a:ln>
              <a:effectLst/>
            </c:spPr>
            <c:txPr>
              <a:bodyPr/>
              <a:lstStyle/>
              <a:p>
                <a:pPr>
                  <a:defRPr sz="900" b="0" i="0" u="none" strike="noStrike">
                    <a:solidFill>
                      <a:srgbClr val="1F3B5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Oceania</c:v>
                </c:pt>
                <c:pt idx="1">
                  <c:v>Northern America</c:v>
                </c:pt>
                <c:pt idx="2">
                  <c:v>Africa</c:v>
                </c:pt>
                <c:pt idx="3">
                  <c:v>Latin America &amp; Caribbean</c:v>
                </c:pt>
                <c:pt idx="4">
                  <c:v>Europe</c:v>
                </c:pt>
                <c:pt idx="5">
                  <c:v>Asia</c:v>
                </c:pt>
              </c:strCache>
            </c:strRef>
          </c:cat>
          <c:val>
            <c:numRef>
              <c:f>Sheet1!$B$2:$B$7</c:f>
              <c:numCache>
                <c:formatCode>General</c:formatCode>
                <c:ptCount val="6"/>
                <c:pt idx="0">
                  <c:v>3709</c:v>
                </c:pt>
                <c:pt idx="1">
                  <c:v>31948</c:v>
                </c:pt>
                <c:pt idx="2">
                  <c:v>33234</c:v>
                </c:pt>
                <c:pt idx="3">
                  <c:v>79706</c:v>
                </c:pt>
                <c:pt idx="4">
                  <c:v>137501</c:v>
                </c:pt>
                <c:pt idx="5">
                  <c:v>694188</c:v>
                </c:pt>
              </c:numCache>
            </c:numRef>
          </c:val>
          <c:extLst>
            <c:ext xmlns:c16="http://schemas.microsoft.com/office/drawing/2014/chart" uri="{C3380CC4-5D6E-409C-BE32-E72D297353CC}">
              <c16:uniqueId val="{00000000-83AE-0245-A99A-32F081A5BC6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F3B50"/>
                </a:solidFill>
                <a:latin typeface="Calibri"/>
              </a:defRPr>
            </a:pPr>
            <a:endParaRPr lang="en-US"/>
          </a:p>
        </c:txPr>
        <c:crossAx val="2094734552"/>
        <c:crosses val="autoZero"/>
        <c:auto val="1"/>
        <c:lblAlgn val="ctr"/>
        <c:lblOffset val="100"/>
        <c:noMultiLvlLbl val="1"/>
      </c:catAx>
      <c:valAx>
        <c:axId val="2094734552"/>
        <c:scaling>
          <c:orientation val="minMax"/>
          <c:max val="800000"/>
          <c:min val="0"/>
        </c:scaling>
        <c:delete val="0"/>
        <c:axPos val="b"/>
        <c:majorGridlines>
          <c:spPr>
            <a:ln w="12700" cap="flat">
              <a:solidFill>
                <a:srgbClr val="E4E4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B7085"/>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250" b="0" i="0" u="none" strike="noStrike">
                <a:solidFill>
                  <a:srgbClr val="12406B"/>
                </a:solidFill>
                <a:latin typeface="Calibri"/>
              </a:defRPr>
            </a:pPr>
            <a:r>
              <a:rPr lang="en-US" sz="1250" b="0" i="0" u="none" strike="noStrike" dirty="0">
                <a:solidFill>
                  <a:srgbClr val="12406B"/>
                </a:solidFill>
                <a:latin typeface="Calibri"/>
              </a:rPr>
              <a:t>Leading cancers in Rwanda by new cases, both sexes, 2024</a:t>
            </a:r>
          </a:p>
        </c:rich>
      </c:tx>
      <c:overlay val="0"/>
    </c:title>
    <c:autoTitleDeleted val="0"/>
    <c:plotArea>
      <c:layout/>
      <c:barChart>
        <c:barDir val="bar"/>
        <c:grouping val="clustered"/>
        <c:varyColors val="0"/>
        <c:ser>
          <c:idx val="0"/>
          <c:order val="0"/>
          <c:tx>
            <c:strRef>
              <c:f>Sheet1!$B$1</c:f>
              <c:strCache>
                <c:ptCount val="1"/>
                <c:pt idx="0">
                  <c:v>Cases</c:v>
                </c:pt>
              </c:strCache>
            </c:strRef>
          </c:tx>
          <c:spPr>
            <a:solidFill>
              <a:srgbClr val="1C6FB1"/>
            </a:solidFill>
            <a:effectLst/>
          </c:spPr>
          <c:invertIfNegative val="0"/>
          <c:dLbls>
            <c:numFmt formatCode="#,##0" sourceLinked="0"/>
            <c:spPr>
              <a:noFill/>
              <a:ln>
                <a:noFill/>
              </a:ln>
              <a:effectLst/>
            </c:spPr>
            <c:txPr>
              <a:bodyPr/>
              <a:lstStyle/>
              <a:p>
                <a:pPr>
                  <a:defRPr sz="1000" b="0" i="0" u="none" strike="noStrike">
                    <a:solidFill>
                      <a:srgbClr val="1F3B50"/>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Stomach</c:v>
                </c:pt>
                <c:pt idx="1">
                  <c:v>Colorectum</c:v>
                </c:pt>
                <c:pt idx="2">
                  <c:v>Cervix uteri</c:v>
                </c:pt>
                <c:pt idx="3">
                  <c:v>Breast</c:v>
                </c:pt>
                <c:pt idx="4">
                  <c:v>Prostate</c:v>
                </c:pt>
              </c:strCache>
            </c:strRef>
          </c:cat>
          <c:val>
            <c:numRef>
              <c:f>Sheet1!$B$2:$B$6</c:f>
              <c:numCache>
                <c:formatCode>General</c:formatCode>
                <c:ptCount val="5"/>
                <c:pt idx="0">
                  <c:v>895</c:v>
                </c:pt>
                <c:pt idx="1">
                  <c:v>925</c:v>
                </c:pt>
                <c:pt idx="2">
                  <c:v>1582</c:v>
                </c:pt>
                <c:pt idx="3">
                  <c:v>1684</c:v>
                </c:pt>
                <c:pt idx="4">
                  <c:v>1856</c:v>
                </c:pt>
              </c:numCache>
            </c:numRef>
          </c:val>
          <c:extLst>
            <c:ext xmlns:c16="http://schemas.microsoft.com/office/drawing/2014/chart" uri="{C3380CC4-5D6E-409C-BE32-E72D297353CC}">
              <c16:uniqueId val="{00000000-AC70-F544-8063-74151B3A82C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3B50"/>
                </a:solidFill>
                <a:latin typeface="Calibri"/>
              </a:defRPr>
            </a:pPr>
            <a:endParaRPr lang="en-US"/>
          </a:p>
        </c:txPr>
        <c:crossAx val="2094734552"/>
        <c:crosses val="autoZero"/>
        <c:auto val="1"/>
        <c:lblAlgn val="ctr"/>
        <c:lblOffset val="100"/>
        <c:noMultiLvlLbl val="1"/>
      </c:catAx>
      <c:valAx>
        <c:axId val="2094734552"/>
        <c:scaling>
          <c:orientation val="minMax"/>
          <c:max val="2000"/>
          <c:min val="0"/>
        </c:scaling>
        <c:delete val="0"/>
        <c:axPos val="b"/>
        <c:majorGridlines>
          <c:spPr>
            <a:ln w="12700" cap="flat">
              <a:solidFill>
                <a:srgbClr val="E4E4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B7085"/>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03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452D2-3C38-7F7B-420E-AA904C2AD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5A37E-04B3-8EDC-9671-6064F5BE35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C1314-7B12-E996-11C2-234EA958C7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090EF8-3DB4-F10C-9DF0-BF87D85CA6B1}"/>
              </a:ext>
            </a:extLst>
          </p:cNvPr>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275048590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2.jpg"/><Relationship Id="rId4" Type="http://schemas.openxmlformats.org/officeDocument/2006/relationships/image" Target="../media/image11.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23.jpg"/><Relationship Id="rId4" Type="http://schemas.openxmlformats.org/officeDocument/2006/relationships/image" Target="../media/image22.jpg"/></Relationships>
</file>

<file path=ppt/slides/_rels/slide4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6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6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6.png"/></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7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D66"/>
        </a:solidFill>
        <a:effectLst/>
      </p:bgPr>
    </p:bg>
    <p:spTree>
      <p:nvGrpSpPr>
        <p:cNvPr id="1" name=""/>
        <p:cNvGrpSpPr/>
        <p:nvPr/>
      </p:nvGrpSpPr>
      <p:grpSpPr>
        <a:xfrm>
          <a:off x="0" y="0"/>
          <a:ext cx="0" cy="0"/>
          <a:chOff x="0" y="0"/>
          <a:chExt cx="0" cy="0"/>
        </a:xfrm>
      </p:grpSpPr>
      <p:sp>
        <p:nvSpPr>
          <p:cNvPr id="2" name="Shape 0"/>
          <p:cNvSpPr/>
          <p:nvPr/>
        </p:nvSpPr>
        <p:spPr>
          <a:xfrm>
            <a:off x="8778240" y="182880"/>
            <a:ext cx="3108960" cy="3108960"/>
          </a:xfrm>
          <a:prstGeom prst="ellipse">
            <a:avLst/>
          </a:prstGeom>
          <a:solidFill>
            <a:srgbClr val="12518A"/>
          </a:solidFill>
          <a:ln/>
        </p:spPr>
        <p:txBody>
          <a:bodyPr/>
          <a:lstStyle/>
          <a:p>
            <a:endParaRPr lang="en-US" dirty="0"/>
          </a:p>
        </p:txBody>
      </p:sp>
      <p:sp>
        <p:nvSpPr>
          <p:cNvPr id="3" name="Shape 1"/>
          <p:cNvSpPr/>
          <p:nvPr/>
        </p:nvSpPr>
        <p:spPr>
          <a:xfrm>
            <a:off x="9875520" y="2011680"/>
            <a:ext cx="2926080" cy="2926080"/>
          </a:xfrm>
          <a:prstGeom prst="ellipse">
            <a:avLst/>
          </a:prstGeom>
          <a:solidFill>
            <a:srgbClr val="14746E"/>
          </a:solidFill>
          <a:ln/>
        </p:spPr>
        <p:txBody>
          <a:bodyPr/>
          <a:lstStyle/>
          <a:p>
            <a:endParaRPr lang="en-US" dirty="0"/>
          </a:p>
        </p:txBody>
      </p:sp>
      <p:sp>
        <p:nvSpPr>
          <p:cNvPr id="4" name="Text 2"/>
          <p:cNvSpPr/>
          <p:nvPr/>
        </p:nvSpPr>
        <p:spPr>
          <a:xfrm>
            <a:off x="822960" y="2148840"/>
            <a:ext cx="7315200" cy="365760"/>
          </a:xfrm>
          <a:prstGeom prst="rect">
            <a:avLst/>
          </a:prstGeom>
          <a:noFill/>
          <a:ln/>
        </p:spPr>
        <p:txBody>
          <a:bodyPr wrap="square" lIns="0" tIns="0" rIns="0" bIns="0" rtlCol="0" anchor="ctr"/>
          <a:lstStyle/>
          <a:p>
            <a:pPr marL="0" indent="0">
              <a:buNone/>
            </a:pPr>
            <a:r>
              <a:rPr lang="en-US" sz="1400" b="1" kern="0" spc="300" dirty="0">
                <a:solidFill>
                  <a:srgbClr val="8FC7E8"/>
                </a:solidFill>
                <a:latin typeface="Calibri" pitchFamily="34" charset="0"/>
                <a:ea typeface="Calibri" pitchFamily="34" charset="-122"/>
                <a:cs typeface="Calibri" pitchFamily="34" charset="-120"/>
              </a:rPr>
              <a:t>FRONTLINE HCP MODULE</a:t>
            </a:r>
            <a:endParaRPr lang="en-US" sz="1400" dirty="0"/>
          </a:p>
        </p:txBody>
      </p:sp>
      <p:sp>
        <p:nvSpPr>
          <p:cNvPr id="5" name="Text 3"/>
          <p:cNvSpPr/>
          <p:nvPr/>
        </p:nvSpPr>
        <p:spPr>
          <a:xfrm>
            <a:off x="777240" y="2514600"/>
            <a:ext cx="8229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Gastric Cancer</a:t>
            </a:r>
            <a:endParaRPr lang="en-US" sz="4600" dirty="0"/>
          </a:p>
        </p:txBody>
      </p:sp>
      <p:sp>
        <p:nvSpPr>
          <p:cNvPr id="6" name="Text 4"/>
          <p:cNvSpPr/>
          <p:nvPr/>
        </p:nvSpPr>
        <p:spPr>
          <a:xfrm>
            <a:off x="822960" y="3794760"/>
            <a:ext cx="6858000" cy="548640"/>
          </a:xfrm>
          <a:prstGeom prst="rect">
            <a:avLst/>
          </a:prstGeom>
          <a:noFill/>
          <a:ln/>
        </p:spPr>
        <p:txBody>
          <a:bodyPr wrap="square" lIns="0" tIns="0" rIns="0" bIns="0" rtlCol="0" anchor="ctr"/>
          <a:lstStyle/>
          <a:p>
            <a:pPr marL="0" indent="0">
              <a:lnSpc>
                <a:spcPct val="110000"/>
              </a:lnSpc>
              <a:buNone/>
            </a:pPr>
            <a:r>
              <a:rPr lang="en-US" sz="1800" dirty="0">
                <a:solidFill>
                  <a:srgbClr val="D6E6F5"/>
                </a:solidFill>
                <a:latin typeface="Calibri" pitchFamily="34" charset="0"/>
                <a:ea typeface="Calibri" pitchFamily="34" charset="-122"/>
                <a:cs typeface="Calibri" pitchFamily="34" charset="-120"/>
              </a:rPr>
              <a:t>Your interactive learning journey: prevent, recognise, refer, understand, support.</a:t>
            </a:r>
            <a:endParaRPr lang="en-US" sz="1600" dirty="0"/>
          </a:p>
        </p:txBody>
      </p:sp>
      <p:sp>
        <p:nvSpPr>
          <p:cNvPr id="7" name="Shape 5"/>
          <p:cNvSpPr/>
          <p:nvPr/>
        </p:nvSpPr>
        <p:spPr>
          <a:xfrm>
            <a:off x="822960" y="4617720"/>
            <a:ext cx="1280160" cy="457200"/>
          </a:xfrm>
          <a:prstGeom prst="roundRect">
            <a:avLst>
              <a:gd name="adj" fmla="val 50000"/>
            </a:avLst>
          </a:prstGeom>
          <a:solidFill>
            <a:srgbClr val="14547F"/>
          </a:solidFill>
          <a:ln w="12700">
            <a:solidFill>
              <a:srgbClr val="5C8FBE"/>
            </a:solidFill>
            <a:prstDash val="solid"/>
          </a:ln>
        </p:spPr>
        <p:txBody>
          <a:bodyPr/>
          <a:lstStyle/>
          <a:p>
            <a:endParaRPr lang="en-US" dirty="0"/>
          </a:p>
        </p:txBody>
      </p:sp>
      <p:sp>
        <p:nvSpPr>
          <p:cNvPr id="8" name="Text 6"/>
          <p:cNvSpPr/>
          <p:nvPr/>
        </p:nvSpPr>
        <p:spPr>
          <a:xfrm>
            <a:off x="822960" y="4617720"/>
            <a:ext cx="12801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English</a:t>
            </a:r>
            <a:endParaRPr lang="en-US" sz="1300" dirty="0"/>
          </a:p>
        </p:txBody>
      </p:sp>
      <p:sp>
        <p:nvSpPr>
          <p:cNvPr id="9" name="Text 7"/>
          <p:cNvSpPr/>
          <p:nvPr/>
        </p:nvSpPr>
        <p:spPr>
          <a:xfrm>
            <a:off x="822960" y="5806440"/>
            <a:ext cx="7315200" cy="320040"/>
          </a:xfrm>
          <a:prstGeom prst="rect">
            <a:avLst/>
          </a:prstGeom>
          <a:noFill/>
          <a:ln/>
        </p:spPr>
        <p:txBody>
          <a:bodyPr wrap="square" lIns="0" tIns="0" rIns="0" bIns="0" rtlCol="0" anchor="ctr"/>
          <a:lstStyle/>
          <a:p>
            <a:pPr marL="0" indent="0">
              <a:buNone/>
            </a:pPr>
            <a:r>
              <a:rPr lang="en-US" sz="1200" dirty="0">
                <a:solidFill>
                  <a:srgbClr val="9FC3E0"/>
                </a:solidFill>
                <a:latin typeface="Calibri" pitchFamily="34" charset="0"/>
                <a:ea typeface="Calibri" pitchFamily="34" charset="-122"/>
                <a:cs typeface="Calibri" pitchFamily="34" charset="-120"/>
              </a:rPr>
              <a:t>Rwanda Biomedical Centre  |  Frontline HCP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FRONTLINE HCP MODULE</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Learning objectives</a:t>
            </a:r>
            <a:endParaRPr lang="en-US" sz="3000" dirty="0"/>
          </a:p>
        </p:txBody>
      </p:sp>
      <p:sp>
        <p:nvSpPr>
          <p:cNvPr id="4" name="Shape 2"/>
          <p:cNvSpPr/>
          <p:nvPr/>
        </p:nvSpPr>
        <p:spPr>
          <a:xfrm>
            <a:off x="685800" y="2011680"/>
            <a:ext cx="3423818" cy="1809556"/>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Prevent</a:t>
            </a:r>
            <a:endParaRPr lang="en-US" sz="2000" dirty="0"/>
          </a:p>
        </p:txBody>
      </p:sp>
      <p:sp>
        <p:nvSpPr>
          <p:cNvPr id="6" name="Text 4"/>
          <p:cNvSpPr/>
          <p:nvPr/>
        </p:nvSpPr>
        <p:spPr>
          <a:xfrm>
            <a:off x="886968"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Understand </a:t>
            </a:r>
            <a:r>
              <a:rPr lang="en-US" i="1" dirty="0">
                <a:solidFill>
                  <a:srgbClr val="1F3B50"/>
                </a:solidFill>
                <a:latin typeface="Calibri" pitchFamily="34" charset="0"/>
                <a:ea typeface="Calibri" pitchFamily="34" charset="-122"/>
                <a:cs typeface="Calibri" pitchFamily="34" charset="-120"/>
              </a:rPr>
              <a:t>H. pylori </a:t>
            </a:r>
            <a:r>
              <a:rPr lang="en-US" dirty="0">
                <a:solidFill>
                  <a:srgbClr val="1F3B50"/>
                </a:solidFill>
                <a:latin typeface="Calibri" pitchFamily="34" charset="0"/>
                <a:ea typeface="Calibri" pitchFamily="34" charset="-122"/>
                <a:cs typeface="Calibri" pitchFamily="34" charset="-120"/>
              </a:rPr>
              <a:t>and modifiable risks that lower future gastric-cancer risk.</a:t>
            </a:r>
            <a:endParaRPr lang="en-US" dirty="0"/>
          </a:p>
        </p:txBody>
      </p:sp>
      <p:sp>
        <p:nvSpPr>
          <p:cNvPr id="7" name="Shape 5"/>
          <p:cNvSpPr/>
          <p:nvPr/>
        </p:nvSpPr>
        <p:spPr>
          <a:xfrm>
            <a:off x="4383938" y="2011680"/>
            <a:ext cx="3423818" cy="1809556"/>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Recognise</a:t>
            </a:r>
            <a:endParaRPr lang="en-US" sz="2000" dirty="0"/>
          </a:p>
        </p:txBody>
      </p:sp>
      <p:sp>
        <p:nvSpPr>
          <p:cNvPr id="9" name="Text 7"/>
          <p:cNvSpPr/>
          <p:nvPr/>
        </p:nvSpPr>
        <p:spPr>
          <a:xfrm>
            <a:off x="4585106"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Recognise risk, premalignant conditions, and concerning symptoms.</a:t>
            </a:r>
            <a:endParaRPr lang="en-US" dirty="0"/>
          </a:p>
        </p:txBody>
      </p:sp>
      <p:sp>
        <p:nvSpPr>
          <p:cNvPr id="10" name="Shape 8"/>
          <p:cNvSpPr/>
          <p:nvPr/>
        </p:nvSpPr>
        <p:spPr>
          <a:xfrm>
            <a:off x="8082077" y="2011680"/>
            <a:ext cx="3423818" cy="1809556"/>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Refer</a:t>
            </a:r>
            <a:endParaRPr lang="en-US" sz="2000" dirty="0"/>
          </a:p>
        </p:txBody>
      </p:sp>
      <p:sp>
        <p:nvSpPr>
          <p:cNvPr id="12" name="Text 10"/>
          <p:cNvSpPr/>
          <p:nvPr/>
        </p:nvSpPr>
        <p:spPr>
          <a:xfrm>
            <a:off x="8283245"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Refer correctly and know the urgent warning signs.</a:t>
            </a:r>
            <a:endParaRPr lang="en-US" dirty="0"/>
          </a:p>
        </p:txBody>
      </p:sp>
      <p:sp>
        <p:nvSpPr>
          <p:cNvPr id="13" name="Shape 11"/>
          <p:cNvSpPr/>
          <p:nvPr/>
        </p:nvSpPr>
        <p:spPr>
          <a:xfrm>
            <a:off x="685800" y="4059458"/>
            <a:ext cx="3423818" cy="1809556"/>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4205762"/>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Understand diagnosis</a:t>
            </a:r>
            <a:endParaRPr lang="en-US" sz="2000" dirty="0"/>
          </a:p>
        </p:txBody>
      </p:sp>
      <p:sp>
        <p:nvSpPr>
          <p:cNvPr id="15" name="Text 13"/>
          <p:cNvSpPr/>
          <p:nvPr/>
        </p:nvSpPr>
        <p:spPr>
          <a:xfrm>
            <a:off x="886968" y="4608098"/>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Understand how gastric cancer is confirmed, staged, and graded.</a:t>
            </a:r>
            <a:endParaRPr lang="en-US" dirty="0"/>
          </a:p>
        </p:txBody>
      </p:sp>
      <p:sp>
        <p:nvSpPr>
          <p:cNvPr id="16" name="Shape 14"/>
          <p:cNvSpPr/>
          <p:nvPr/>
        </p:nvSpPr>
        <p:spPr>
          <a:xfrm>
            <a:off x="4383938" y="4059458"/>
            <a:ext cx="3423818" cy="1809556"/>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4205762"/>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Understand treatment</a:t>
            </a:r>
            <a:endParaRPr lang="en-US" sz="2000" dirty="0"/>
          </a:p>
        </p:txBody>
      </p:sp>
      <p:sp>
        <p:nvSpPr>
          <p:cNvPr id="18" name="Text 16"/>
          <p:cNvSpPr/>
          <p:nvPr/>
        </p:nvSpPr>
        <p:spPr>
          <a:xfrm>
            <a:off x="4585106" y="4608098"/>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Understand treatment options and their common effects.</a:t>
            </a:r>
            <a:endParaRPr lang="en-US" dirty="0"/>
          </a:p>
        </p:txBody>
      </p:sp>
      <p:sp>
        <p:nvSpPr>
          <p:cNvPr id="19" name="Shape 17"/>
          <p:cNvSpPr/>
          <p:nvPr/>
        </p:nvSpPr>
        <p:spPr>
          <a:xfrm>
            <a:off x="8082077" y="4059458"/>
            <a:ext cx="3423818" cy="1809556"/>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20" name="Text 18"/>
          <p:cNvSpPr/>
          <p:nvPr/>
        </p:nvSpPr>
        <p:spPr>
          <a:xfrm>
            <a:off x="8283245" y="4205762"/>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Support</a:t>
            </a:r>
            <a:endParaRPr lang="en-US" sz="2000" dirty="0"/>
          </a:p>
        </p:txBody>
      </p:sp>
      <p:sp>
        <p:nvSpPr>
          <p:cNvPr id="21" name="Text 19"/>
          <p:cNvSpPr/>
          <p:nvPr/>
        </p:nvSpPr>
        <p:spPr>
          <a:xfrm>
            <a:off x="8283245" y="4608098"/>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Support follow-up, nutrition, quality of life, and palliative care.</a:t>
            </a:r>
            <a:endParaRPr lang="en-US" dirty="0"/>
          </a:p>
        </p:txBody>
      </p:sp>
      <p:sp>
        <p:nvSpPr>
          <p:cNvPr id="22" name="Text 2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FRONTLINE HCP MODULE</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What is inside</a:t>
            </a:r>
            <a:endParaRPr lang="en-US" sz="3000" dirty="0"/>
          </a:p>
        </p:txBody>
      </p:sp>
      <p:sp>
        <p:nvSpPr>
          <p:cNvPr id="4" name="Shape 2"/>
          <p:cNvSpPr/>
          <p:nvPr/>
        </p:nvSpPr>
        <p:spPr>
          <a:xfrm>
            <a:off x="685800" y="1965960"/>
            <a:ext cx="3423818" cy="1691640"/>
          </a:xfrm>
          <a:prstGeom prst="roundRect">
            <a:avLst>
              <a:gd name="adj" fmla="val 5161"/>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Pre-test and Post-test</a:t>
            </a:r>
            <a:endParaRPr lang="en-US" sz="2000" dirty="0"/>
          </a:p>
        </p:txBody>
      </p:sp>
      <p:sp>
        <p:nvSpPr>
          <p:cNvPr id="6" name="Text 4"/>
          <p:cNvSpPr/>
          <p:nvPr/>
        </p:nvSpPr>
        <p:spPr>
          <a:xfrm>
            <a:off x="886968" y="2514600"/>
            <a:ext cx="3021482" cy="86868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Twenty short questions to check your starting and finish points.</a:t>
            </a:r>
            <a:endParaRPr lang="en-US" dirty="0"/>
          </a:p>
        </p:txBody>
      </p:sp>
      <p:sp>
        <p:nvSpPr>
          <p:cNvPr id="7" name="Shape 5"/>
          <p:cNvSpPr/>
          <p:nvPr/>
        </p:nvSpPr>
        <p:spPr>
          <a:xfrm>
            <a:off x="4383938" y="1965960"/>
            <a:ext cx="3423818" cy="1691640"/>
          </a:xfrm>
          <a:prstGeom prst="roundRect">
            <a:avLst>
              <a:gd name="adj" fmla="val 5161"/>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Session 1: Understanding</a:t>
            </a:r>
            <a:endParaRPr lang="en-US" sz="2000" dirty="0"/>
          </a:p>
        </p:txBody>
      </p:sp>
      <p:sp>
        <p:nvSpPr>
          <p:cNvPr id="9" name="Text 7"/>
          <p:cNvSpPr/>
          <p:nvPr/>
        </p:nvSpPr>
        <p:spPr>
          <a:xfrm>
            <a:off x="4585106" y="2514600"/>
            <a:ext cx="3021482" cy="86868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What gastric cancer is, how common it is, and what stage and grade mean.</a:t>
            </a:r>
            <a:endParaRPr lang="en-US" dirty="0"/>
          </a:p>
        </p:txBody>
      </p:sp>
      <p:sp>
        <p:nvSpPr>
          <p:cNvPr id="10" name="Shape 8"/>
          <p:cNvSpPr/>
          <p:nvPr/>
        </p:nvSpPr>
        <p:spPr>
          <a:xfrm>
            <a:off x="8082077" y="1965960"/>
            <a:ext cx="3423818" cy="1691640"/>
          </a:xfrm>
          <a:prstGeom prst="roundRect">
            <a:avLst>
              <a:gd name="adj" fmla="val 5161"/>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Session 2: Screening</a:t>
            </a:r>
            <a:endParaRPr lang="en-US" sz="2000" dirty="0"/>
          </a:p>
        </p:txBody>
      </p:sp>
      <p:sp>
        <p:nvSpPr>
          <p:cNvPr id="12" name="Text 10"/>
          <p:cNvSpPr/>
          <p:nvPr/>
        </p:nvSpPr>
        <p:spPr>
          <a:xfrm>
            <a:off x="8283245" y="2514600"/>
            <a:ext cx="3021482" cy="86868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Prevention, risk, symptoms, and the balance of screening and early detection.</a:t>
            </a:r>
            <a:endParaRPr lang="en-US" dirty="0"/>
          </a:p>
        </p:txBody>
      </p:sp>
      <p:sp>
        <p:nvSpPr>
          <p:cNvPr id="13" name="Shape 11"/>
          <p:cNvSpPr/>
          <p:nvPr/>
        </p:nvSpPr>
        <p:spPr>
          <a:xfrm>
            <a:off x="685800" y="3891979"/>
            <a:ext cx="3423818" cy="1691640"/>
          </a:xfrm>
          <a:prstGeom prst="roundRect">
            <a:avLst>
              <a:gd name="adj" fmla="val 5161"/>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4038283"/>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Session 3: Referral &amp; counselling</a:t>
            </a:r>
            <a:endParaRPr lang="en-US" sz="2000" dirty="0"/>
          </a:p>
        </p:txBody>
      </p:sp>
      <p:sp>
        <p:nvSpPr>
          <p:cNvPr id="15" name="Text 13"/>
          <p:cNvSpPr/>
          <p:nvPr/>
        </p:nvSpPr>
        <p:spPr>
          <a:xfrm>
            <a:off x="886968" y="4669227"/>
            <a:ext cx="3021482" cy="86868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How urgently to refer, red flags, and how to counsel with care.</a:t>
            </a:r>
            <a:endParaRPr lang="en-US" dirty="0"/>
          </a:p>
        </p:txBody>
      </p:sp>
      <p:sp>
        <p:nvSpPr>
          <p:cNvPr id="16" name="Shape 14"/>
          <p:cNvSpPr/>
          <p:nvPr/>
        </p:nvSpPr>
        <p:spPr>
          <a:xfrm>
            <a:off x="4383938" y="3891979"/>
            <a:ext cx="3423818" cy="1691640"/>
          </a:xfrm>
          <a:prstGeom prst="roundRect">
            <a:avLst>
              <a:gd name="adj" fmla="val 5161"/>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4038283"/>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Session 4: Diagnosis &amp; treatment</a:t>
            </a:r>
            <a:endParaRPr lang="en-US" sz="2000" dirty="0"/>
          </a:p>
        </p:txBody>
      </p:sp>
      <p:sp>
        <p:nvSpPr>
          <p:cNvPr id="18" name="Text 16"/>
          <p:cNvSpPr/>
          <p:nvPr/>
        </p:nvSpPr>
        <p:spPr>
          <a:xfrm>
            <a:off x="4585106" y="4669227"/>
            <a:ext cx="3021482" cy="86868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How a diagnosis is confirmed and an overview of treatment.</a:t>
            </a:r>
            <a:endParaRPr lang="en-US" dirty="0"/>
          </a:p>
        </p:txBody>
      </p:sp>
      <p:sp>
        <p:nvSpPr>
          <p:cNvPr id="19" name="Shape 17"/>
          <p:cNvSpPr/>
          <p:nvPr/>
        </p:nvSpPr>
        <p:spPr>
          <a:xfrm>
            <a:off x="8082077" y="3891979"/>
            <a:ext cx="3423818" cy="1691640"/>
          </a:xfrm>
          <a:prstGeom prst="roundRect">
            <a:avLst>
              <a:gd name="adj" fmla="val 5161"/>
            </a:avLst>
          </a:prstGeom>
          <a:solidFill>
            <a:srgbClr val="EBF3FC"/>
          </a:solidFill>
          <a:ln w="12700">
            <a:solidFill>
              <a:srgbClr val="D3E4F5"/>
            </a:solidFill>
            <a:prstDash val="solid"/>
          </a:ln>
        </p:spPr>
        <p:txBody>
          <a:bodyPr/>
          <a:lstStyle/>
          <a:p>
            <a:endParaRPr lang="en-US" sz="2800" dirty="0"/>
          </a:p>
        </p:txBody>
      </p:sp>
      <p:sp>
        <p:nvSpPr>
          <p:cNvPr id="20" name="Text 18"/>
          <p:cNvSpPr/>
          <p:nvPr/>
        </p:nvSpPr>
        <p:spPr>
          <a:xfrm>
            <a:off x="8283245" y="4038283"/>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Session 5: Supportive care</a:t>
            </a:r>
            <a:endParaRPr lang="en-US" sz="2000" dirty="0"/>
          </a:p>
        </p:txBody>
      </p:sp>
      <p:sp>
        <p:nvSpPr>
          <p:cNvPr id="21" name="Text 19"/>
          <p:cNvSpPr/>
          <p:nvPr/>
        </p:nvSpPr>
        <p:spPr>
          <a:xfrm>
            <a:off x="8283245" y="4669227"/>
            <a:ext cx="3021482" cy="86868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Effects to recognise, emergencies to escalate, nutrition and quality of life.</a:t>
            </a:r>
            <a:endParaRPr lang="en-US" dirty="0"/>
          </a:p>
        </p:txBody>
      </p:sp>
      <p:sp>
        <p:nvSpPr>
          <p:cNvPr id="22" name="Text 2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FRONTLINE HCP MODULE</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Module syllabus</a:t>
            </a:r>
            <a:endParaRPr lang="en-US" sz="3000" dirty="0"/>
          </a:p>
        </p:txBody>
      </p:sp>
      <p:sp>
        <p:nvSpPr>
          <p:cNvPr id="4" name="Text 2"/>
          <p:cNvSpPr/>
          <p:nvPr/>
        </p:nvSpPr>
        <p:spPr>
          <a:xfrm>
            <a:off x="685800" y="2059808"/>
            <a:ext cx="10820095" cy="822960"/>
          </a:xfrm>
          <a:prstGeom prst="rect">
            <a:avLst/>
          </a:prstGeom>
          <a:noFill/>
          <a:ln/>
        </p:spPr>
        <p:txBody>
          <a:bodyPr wrap="square" lIns="0" tIns="0" rIns="0" bIns="0" rtlCol="0" anchor="ctr"/>
          <a:lstStyle/>
          <a:p>
            <a:pPr marL="0" indent="0">
              <a:lnSpc>
                <a:spcPct val="115000"/>
              </a:lnSpc>
              <a:buNone/>
            </a:pPr>
            <a:r>
              <a:rPr lang="en-US" dirty="0">
                <a:solidFill>
                  <a:srgbClr val="1F3B50"/>
                </a:solidFill>
                <a:latin typeface="Calibri" pitchFamily="34" charset="0"/>
                <a:ea typeface="Calibri" pitchFamily="34" charset="-122"/>
                <a:cs typeface="Calibri" pitchFamily="34" charset="-120"/>
              </a:rPr>
              <a:t>This module follows the gastric-cancer patient journey, keeping prevention, risk recognition, early detection, and timely referral at the centre. Diagnosis, staging, treatment, and supportive care are included so you can understand what happens after concerning findings or a confirmed diagnosis.</a:t>
            </a:r>
            <a:endParaRPr lang="en-US" dirty="0"/>
          </a:p>
        </p:txBody>
      </p:sp>
      <p:sp>
        <p:nvSpPr>
          <p:cNvPr id="5" name="Shape 3"/>
          <p:cNvSpPr/>
          <p:nvPr/>
        </p:nvSpPr>
        <p:spPr>
          <a:xfrm>
            <a:off x="685800" y="3258156"/>
            <a:ext cx="2499284" cy="566928"/>
          </a:xfrm>
          <a:prstGeom prst="roundRect">
            <a:avLst>
              <a:gd name="adj" fmla="val 8065"/>
            </a:avLst>
          </a:prstGeom>
          <a:solidFill>
            <a:srgbClr val="0C3D66"/>
          </a:solidFill>
          <a:ln/>
        </p:spPr>
        <p:txBody>
          <a:bodyPr/>
          <a:lstStyle/>
          <a:p>
            <a:endParaRPr lang="en-US" sz="2800" dirty="0"/>
          </a:p>
        </p:txBody>
      </p:sp>
      <p:sp>
        <p:nvSpPr>
          <p:cNvPr id="6" name="Text 4"/>
          <p:cNvSpPr/>
          <p:nvPr/>
        </p:nvSpPr>
        <p:spPr>
          <a:xfrm>
            <a:off x="777240" y="3258156"/>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1. Awareness &amp; prevention</a:t>
            </a:r>
            <a:endParaRPr lang="en-US" dirty="0"/>
          </a:p>
        </p:txBody>
      </p:sp>
      <p:sp>
        <p:nvSpPr>
          <p:cNvPr id="7" name="Shape 5"/>
          <p:cNvSpPr/>
          <p:nvPr/>
        </p:nvSpPr>
        <p:spPr>
          <a:xfrm>
            <a:off x="3459404" y="3258156"/>
            <a:ext cx="2499284" cy="566928"/>
          </a:xfrm>
          <a:prstGeom prst="roundRect">
            <a:avLst>
              <a:gd name="adj" fmla="val 8065"/>
            </a:avLst>
          </a:prstGeom>
          <a:solidFill>
            <a:srgbClr val="0C3D66"/>
          </a:solidFill>
          <a:ln/>
        </p:spPr>
        <p:txBody>
          <a:bodyPr/>
          <a:lstStyle/>
          <a:p>
            <a:endParaRPr lang="en-US" sz="2800" dirty="0"/>
          </a:p>
        </p:txBody>
      </p:sp>
      <p:sp>
        <p:nvSpPr>
          <p:cNvPr id="8" name="Text 6"/>
          <p:cNvSpPr/>
          <p:nvPr/>
        </p:nvSpPr>
        <p:spPr>
          <a:xfrm>
            <a:off x="3550844" y="3258156"/>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2. Risk recognition</a:t>
            </a:r>
            <a:endParaRPr lang="en-US" dirty="0"/>
          </a:p>
        </p:txBody>
      </p:sp>
      <p:sp>
        <p:nvSpPr>
          <p:cNvPr id="9" name="Shape 7"/>
          <p:cNvSpPr/>
          <p:nvPr/>
        </p:nvSpPr>
        <p:spPr>
          <a:xfrm>
            <a:off x="6233008" y="3258156"/>
            <a:ext cx="2499284" cy="566928"/>
          </a:xfrm>
          <a:prstGeom prst="roundRect">
            <a:avLst>
              <a:gd name="adj" fmla="val 8065"/>
            </a:avLst>
          </a:prstGeom>
          <a:solidFill>
            <a:srgbClr val="0C3D66"/>
          </a:solidFill>
          <a:ln/>
        </p:spPr>
        <p:txBody>
          <a:bodyPr/>
          <a:lstStyle/>
          <a:p>
            <a:endParaRPr lang="en-US" sz="2800" dirty="0"/>
          </a:p>
        </p:txBody>
      </p:sp>
      <p:sp>
        <p:nvSpPr>
          <p:cNvPr id="10" name="Text 8"/>
          <p:cNvSpPr/>
          <p:nvPr/>
        </p:nvSpPr>
        <p:spPr>
          <a:xfrm>
            <a:off x="6324448" y="3258156"/>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3. Premalignant conditions</a:t>
            </a:r>
            <a:endParaRPr lang="en-US" dirty="0"/>
          </a:p>
        </p:txBody>
      </p:sp>
      <p:sp>
        <p:nvSpPr>
          <p:cNvPr id="11" name="Shape 9"/>
          <p:cNvSpPr/>
          <p:nvPr/>
        </p:nvSpPr>
        <p:spPr>
          <a:xfrm>
            <a:off x="9006611" y="3258156"/>
            <a:ext cx="2499284" cy="566928"/>
          </a:xfrm>
          <a:prstGeom prst="roundRect">
            <a:avLst>
              <a:gd name="adj" fmla="val 8065"/>
            </a:avLst>
          </a:prstGeom>
          <a:solidFill>
            <a:srgbClr val="0C3D66"/>
          </a:solidFill>
          <a:ln/>
        </p:spPr>
        <p:txBody>
          <a:bodyPr/>
          <a:lstStyle/>
          <a:p>
            <a:endParaRPr lang="en-US" sz="2800" dirty="0"/>
          </a:p>
        </p:txBody>
      </p:sp>
      <p:sp>
        <p:nvSpPr>
          <p:cNvPr id="12" name="Text 10"/>
          <p:cNvSpPr/>
          <p:nvPr/>
        </p:nvSpPr>
        <p:spPr>
          <a:xfrm>
            <a:off x="9098051" y="3258156"/>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4. Early detection</a:t>
            </a:r>
            <a:endParaRPr lang="en-US" dirty="0"/>
          </a:p>
        </p:txBody>
      </p:sp>
      <p:sp>
        <p:nvSpPr>
          <p:cNvPr id="13" name="Shape 11"/>
          <p:cNvSpPr/>
          <p:nvPr/>
        </p:nvSpPr>
        <p:spPr>
          <a:xfrm>
            <a:off x="685800" y="4026252"/>
            <a:ext cx="2499284" cy="566928"/>
          </a:xfrm>
          <a:prstGeom prst="roundRect">
            <a:avLst>
              <a:gd name="adj" fmla="val 8065"/>
            </a:avLst>
          </a:prstGeom>
          <a:solidFill>
            <a:srgbClr val="1C6FB1"/>
          </a:solidFill>
          <a:ln/>
        </p:spPr>
        <p:txBody>
          <a:bodyPr/>
          <a:lstStyle/>
          <a:p>
            <a:endParaRPr lang="en-US" sz="2800" dirty="0"/>
          </a:p>
        </p:txBody>
      </p:sp>
      <p:sp>
        <p:nvSpPr>
          <p:cNvPr id="14" name="Text 12"/>
          <p:cNvSpPr/>
          <p:nvPr/>
        </p:nvSpPr>
        <p:spPr>
          <a:xfrm>
            <a:off x="777240" y="4026252"/>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5. Symptom recognition</a:t>
            </a:r>
            <a:endParaRPr lang="en-US" dirty="0"/>
          </a:p>
        </p:txBody>
      </p:sp>
      <p:sp>
        <p:nvSpPr>
          <p:cNvPr id="15" name="Shape 13"/>
          <p:cNvSpPr/>
          <p:nvPr/>
        </p:nvSpPr>
        <p:spPr>
          <a:xfrm>
            <a:off x="3459404" y="4026252"/>
            <a:ext cx="2499284" cy="566928"/>
          </a:xfrm>
          <a:prstGeom prst="roundRect">
            <a:avLst>
              <a:gd name="adj" fmla="val 8065"/>
            </a:avLst>
          </a:prstGeom>
          <a:solidFill>
            <a:srgbClr val="1C6FB1"/>
          </a:solidFill>
          <a:ln/>
        </p:spPr>
        <p:txBody>
          <a:bodyPr/>
          <a:lstStyle/>
          <a:p>
            <a:endParaRPr lang="en-US" sz="2800" dirty="0"/>
          </a:p>
        </p:txBody>
      </p:sp>
      <p:sp>
        <p:nvSpPr>
          <p:cNvPr id="16" name="Text 14"/>
          <p:cNvSpPr/>
          <p:nvPr/>
        </p:nvSpPr>
        <p:spPr>
          <a:xfrm>
            <a:off x="3550844" y="4026252"/>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6. Assessment</a:t>
            </a:r>
            <a:endParaRPr lang="en-US" dirty="0"/>
          </a:p>
        </p:txBody>
      </p:sp>
      <p:sp>
        <p:nvSpPr>
          <p:cNvPr id="17" name="Shape 15"/>
          <p:cNvSpPr/>
          <p:nvPr/>
        </p:nvSpPr>
        <p:spPr>
          <a:xfrm>
            <a:off x="6233008" y="4026252"/>
            <a:ext cx="2499284" cy="566928"/>
          </a:xfrm>
          <a:prstGeom prst="roundRect">
            <a:avLst>
              <a:gd name="adj" fmla="val 8065"/>
            </a:avLst>
          </a:prstGeom>
          <a:solidFill>
            <a:srgbClr val="1C6FB1"/>
          </a:solidFill>
          <a:ln/>
        </p:spPr>
        <p:txBody>
          <a:bodyPr/>
          <a:lstStyle/>
          <a:p>
            <a:endParaRPr lang="en-US" sz="2800" dirty="0"/>
          </a:p>
        </p:txBody>
      </p:sp>
      <p:sp>
        <p:nvSpPr>
          <p:cNvPr id="18" name="Text 16"/>
          <p:cNvSpPr/>
          <p:nvPr/>
        </p:nvSpPr>
        <p:spPr>
          <a:xfrm>
            <a:off x="6324448" y="4026252"/>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7. Referral</a:t>
            </a:r>
            <a:endParaRPr lang="en-US" dirty="0"/>
          </a:p>
        </p:txBody>
      </p:sp>
      <p:sp>
        <p:nvSpPr>
          <p:cNvPr id="19" name="Shape 17"/>
          <p:cNvSpPr/>
          <p:nvPr/>
        </p:nvSpPr>
        <p:spPr>
          <a:xfrm>
            <a:off x="9006611" y="4026252"/>
            <a:ext cx="2499284" cy="566928"/>
          </a:xfrm>
          <a:prstGeom prst="roundRect">
            <a:avLst>
              <a:gd name="adj" fmla="val 8065"/>
            </a:avLst>
          </a:prstGeom>
          <a:solidFill>
            <a:srgbClr val="1C6FB1"/>
          </a:solidFill>
          <a:ln/>
        </p:spPr>
        <p:txBody>
          <a:bodyPr/>
          <a:lstStyle/>
          <a:p>
            <a:endParaRPr lang="en-US" sz="2800" dirty="0"/>
          </a:p>
        </p:txBody>
      </p:sp>
      <p:sp>
        <p:nvSpPr>
          <p:cNvPr id="20" name="Text 18"/>
          <p:cNvSpPr/>
          <p:nvPr/>
        </p:nvSpPr>
        <p:spPr>
          <a:xfrm>
            <a:off x="9098051" y="4026252"/>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8. Diagnostic confirmation</a:t>
            </a:r>
            <a:endParaRPr lang="en-US" dirty="0"/>
          </a:p>
        </p:txBody>
      </p:sp>
      <p:sp>
        <p:nvSpPr>
          <p:cNvPr id="21" name="Shape 19"/>
          <p:cNvSpPr/>
          <p:nvPr/>
        </p:nvSpPr>
        <p:spPr>
          <a:xfrm>
            <a:off x="685800" y="4794348"/>
            <a:ext cx="2499284" cy="566928"/>
          </a:xfrm>
          <a:prstGeom prst="roundRect">
            <a:avLst>
              <a:gd name="adj" fmla="val 8065"/>
            </a:avLst>
          </a:prstGeom>
          <a:solidFill>
            <a:srgbClr val="12857F"/>
          </a:solidFill>
          <a:ln/>
        </p:spPr>
        <p:txBody>
          <a:bodyPr/>
          <a:lstStyle/>
          <a:p>
            <a:endParaRPr lang="en-US" sz="2800" dirty="0"/>
          </a:p>
        </p:txBody>
      </p:sp>
      <p:sp>
        <p:nvSpPr>
          <p:cNvPr id="22" name="Text 20"/>
          <p:cNvSpPr/>
          <p:nvPr/>
        </p:nvSpPr>
        <p:spPr>
          <a:xfrm>
            <a:off x="777240" y="4794348"/>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9. Staging</a:t>
            </a:r>
            <a:endParaRPr lang="en-US" dirty="0"/>
          </a:p>
        </p:txBody>
      </p:sp>
      <p:sp>
        <p:nvSpPr>
          <p:cNvPr id="23" name="Shape 21"/>
          <p:cNvSpPr/>
          <p:nvPr/>
        </p:nvSpPr>
        <p:spPr>
          <a:xfrm>
            <a:off x="3459404" y="4794348"/>
            <a:ext cx="2499284" cy="566928"/>
          </a:xfrm>
          <a:prstGeom prst="roundRect">
            <a:avLst>
              <a:gd name="adj" fmla="val 8065"/>
            </a:avLst>
          </a:prstGeom>
          <a:solidFill>
            <a:srgbClr val="12857F"/>
          </a:solidFill>
          <a:ln/>
        </p:spPr>
        <p:txBody>
          <a:bodyPr/>
          <a:lstStyle/>
          <a:p>
            <a:endParaRPr lang="en-US" sz="2800" dirty="0"/>
          </a:p>
        </p:txBody>
      </p:sp>
      <p:sp>
        <p:nvSpPr>
          <p:cNvPr id="24" name="Text 22"/>
          <p:cNvSpPr/>
          <p:nvPr/>
        </p:nvSpPr>
        <p:spPr>
          <a:xfrm>
            <a:off x="3550844" y="4794348"/>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10. Treatment orientation</a:t>
            </a:r>
            <a:endParaRPr lang="en-US" dirty="0"/>
          </a:p>
        </p:txBody>
      </p:sp>
      <p:sp>
        <p:nvSpPr>
          <p:cNvPr id="25" name="Shape 23"/>
          <p:cNvSpPr/>
          <p:nvPr/>
        </p:nvSpPr>
        <p:spPr>
          <a:xfrm>
            <a:off x="6233008" y="4794348"/>
            <a:ext cx="2499284" cy="566928"/>
          </a:xfrm>
          <a:prstGeom prst="roundRect">
            <a:avLst>
              <a:gd name="adj" fmla="val 8065"/>
            </a:avLst>
          </a:prstGeom>
          <a:solidFill>
            <a:srgbClr val="12857F"/>
          </a:solidFill>
          <a:ln/>
        </p:spPr>
        <p:txBody>
          <a:bodyPr/>
          <a:lstStyle/>
          <a:p>
            <a:endParaRPr lang="en-US" sz="2800" dirty="0"/>
          </a:p>
        </p:txBody>
      </p:sp>
      <p:sp>
        <p:nvSpPr>
          <p:cNvPr id="26" name="Text 24"/>
          <p:cNvSpPr/>
          <p:nvPr/>
        </p:nvSpPr>
        <p:spPr>
          <a:xfrm>
            <a:off x="6324448" y="4794348"/>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11. Follow-up</a:t>
            </a:r>
            <a:endParaRPr lang="en-US" dirty="0"/>
          </a:p>
        </p:txBody>
      </p:sp>
      <p:sp>
        <p:nvSpPr>
          <p:cNvPr id="27" name="Shape 25"/>
          <p:cNvSpPr/>
          <p:nvPr/>
        </p:nvSpPr>
        <p:spPr>
          <a:xfrm>
            <a:off x="9006611" y="4794348"/>
            <a:ext cx="2499284" cy="566928"/>
          </a:xfrm>
          <a:prstGeom prst="roundRect">
            <a:avLst>
              <a:gd name="adj" fmla="val 8065"/>
            </a:avLst>
          </a:prstGeom>
          <a:solidFill>
            <a:srgbClr val="12857F"/>
          </a:solidFill>
          <a:ln/>
        </p:spPr>
        <p:txBody>
          <a:bodyPr/>
          <a:lstStyle/>
          <a:p>
            <a:endParaRPr lang="en-US" sz="2800" dirty="0"/>
          </a:p>
        </p:txBody>
      </p:sp>
      <p:sp>
        <p:nvSpPr>
          <p:cNvPr id="28" name="Text 26"/>
          <p:cNvSpPr/>
          <p:nvPr/>
        </p:nvSpPr>
        <p:spPr>
          <a:xfrm>
            <a:off x="9098051" y="4794348"/>
            <a:ext cx="2316404" cy="566928"/>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12. Supportive care</a:t>
            </a:r>
            <a:endParaRPr lang="en-US" dirty="0"/>
          </a:p>
        </p:txBody>
      </p:sp>
      <p:sp>
        <p:nvSpPr>
          <p:cNvPr id="29" name="Text 27"/>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3D66"/>
        </a:solidFill>
        <a:effectLst/>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2518A"/>
          </a:solidFill>
          <a:ln/>
        </p:spPr>
        <p:txBody>
          <a:bodyPr/>
          <a:lstStyle/>
          <a:p>
            <a:endParaRPr lang="en-US" dirty="0"/>
          </a:p>
        </p:txBody>
      </p:sp>
      <p:sp>
        <p:nvSpPr>
          <p:cNvPr id="3" name="Text 1"/>
          <p:cNvSpPr/>
          <p:nvPr/>
        </p:nvSpPr>
        <p:spPr>
          <a:xfrm>
            <a:off x="822960" y="2788920"/>
            <a:ext cx="7315200" cy="320040"/>
          </a:xfrm>
          <a:prstGeom prst="rect">
            <a:avLst/>
          </a:prstGeom>
          <a:noFill/>
          <a:ln/>
        </p:spPr>
        <p:txBody>
          <a:bodyPr wrap="square" lIns="0" tIns="0" rIns="0" bIns="0" rtlCol="0" anchor="ctr"/>
          <a:lstStyle/>
          <a:p>
            <a:pPr marL="0" indent="0">
              <a:buNone/>
            </a:pPr>
            <a:r>
              <a:rPr lang="en-US" sz="1300" b="1" kern="0" spc="200" dirty="0">
                <a:solidFill>
                  <a:srgbClr val="8FC7E8"/>
                </a:solidFill>
                <a:latin typeface="Calibri" pitchFamily="34" charset="0"/>
                <a:ea typeface="Calibri" pitchFamily="34" charset="-122"/>
                <a:cs typeface="Calibri" pitchFamily="34" charset="-120"/>
              </a:rPr>
              <a:t>BASELINE CHECK</a:t>
            </a:r>
            <a:endParaRPr lang="en-US" sz="1300" dirty="0"/>
          </a:p>
        </p:txBody>
      </p:sp>
      <p:sp>
        <p:nvSpPr>
          <p:cNvPr id="4" name="Text 2"/>
          <p:cNvSpPr/>
          <p:nvPr/>
        </p:nvSpPr>
        <p:spPr>
          <a:xfrm>
            <a:off x="822960" y="3154680"/>
            <a:ext cx="84124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Pre-test</a:t>
            </a:r>
            <a:endParaRPr lang="en-US" sz="3600" dirty="0"/>
          </a:p>
        </p:txBody>
      </p:sp>
      <p:sp>
        <p:nvSpPr>
          <p:cNvPr id="5" name="Text 3"/>
          <p:cNvSpPr/>
          <p:nvPr/>
        </p:nvSpPr>
        <p:spPr>
          <a:xfrm>
            <a:off x="822960" y="4114800"/>
            <a:ext cx="7863840" cy="822960"/>
          </a:xfrm>
          <a:prstGeom prst="rect">
            <a:avLst/>
          </a:prstGeom>
          <a:noFill/>
          <a:ln/>
        </p:spPr>
        <p:txBody>
          <a:bodyPr wrap="square" lIns="0" tIns="0" rIns="0" bIns="0" rtlCol="0" anchor="ctr"/>
          <a:lstStyle/>
          <a:p>
            <a:pPr marL="0" indent="0">
              <a:lnSpc>
                <a:spcPct val="110000"/>
              </a:lnSpc>
              <a:buNone/>
            </a:pPr>
            <a:r>
              <a:rPr lang="en-US" sz="1800" dirty="0">
                <a:solidFill>
                  <a:srgbClr val="D6E6F5"/>
                </a:solidFill>
                <a:latin typeface="Calibri" pitchFamily="34" charset="0"/>
                <a:ea typeface="Calibri" pitchFamily="34" charset="-122"/>
                <a:cs typeface="Calibri" pitchFamily="34" charset="-120"/>
              </a:rPr>
              <a:t>Twenty questions to check your starting point. This is not graded for you; it simply shows where you begin.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(1/10)</a:t>
            </a:r>
            <a:endParaRPr lang="en-US" sz="3000" dirty="0"/>
          </a:p>
        </p:txBody>
      </p:sp>
      <p:sp>
        <p:nvSpPr>
          <p:cNvPr id="4" name="Shape 2"/>
          <p:cNvSpPr/>
          <p:nvPr/>
        </p:nvSpPr>
        <p:spPr>
          <a:xfrm>
            <a:off x="685800" y="2074248"/>
            <a:ext cx="10820095" cy="1783080"/>
          </a:xfrm>
          <a:prstGeom prst="roundRect">
            <a:avLst>
              <a:gd name="adj" fmla="val 3077"/>
            </a:avLst>
          </a:prstGeom>
          <a:solidFill>
            <a:srgbClr val="EBF3FC"/>
          </a:solidFill>
          <a:ln w="12700">
            <a:solidFill>
              <a:srgbClr val="D3E4F5"/>
            </a:solidFill>
            <a:prstDash val="solid"/>
          </a:ln>
        </p:spPr>
        <p:txBody>
          <a:bodyPr/>
          <a:lstStyle/>
          <a:p>
            <a:endParaRPr lang="en-US" dirty="0"/>
          </a:p>
        </p:txBody>
      </p:sp>
      <p:sp>
        <p:nvSpPr>
          <p:cNvPr id="5" name="Text 3"/>
          <p:cNvSpPr/>
          <p:nvPr/>
        </p:nvSpPr>
        <p:spPr>
          <a:xfrm>
            <a:off x="914400" y="2220552"/>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 Most gastric cancers are:</a:t>
            </a:r>
            <a:endParaRPr lang="en-US" sz="2000" dirty="0"/>
          </a:p>
        </p:txBody>
      </p:sp>
      <p:sp>
        <p:nvSpPr>
          <p:cNvPr id="6" name="Text 4"/>
          <p:cNvSpPr/>
          <p:nvPr/>
        </p:nvSpPr>
        <p:spPr>
          <a:xfrm>
            <a:off x="914400" y="264117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Lymphomas</a:t>
            </a:r>
            <a:endParaRPr lang="en-US" dirty="0"/>
          </a:p>
        </p:txBody>
      </p:sp>
      <p:sp>
        <p:nvSpPr>
          <p:cNvPr id="7" name="Text 5"/>
          <p:cNvSpPr/>
          <p:nvPr/>
        </p:nvSpPr>
        <p:spPr>
          <a:xfrm>
            <a:off x="6095848" y="264117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Adenocarcinomas</a:t>
            </a:r>
            <a:endParaRPr lang="en-US" dirty="0"/>
          </a:p>
        </p:txBody>
      </p:sp>
      <p:sp>
        <p:nvSpPr>
          <p:cNvPr id="8" name="Text 6"/>
          <p:cNvSpPr/>
          <p:nvPr/>
        </p:nvSpPr>
        <p:spPr>
          <a:xfrm>
            <a:off x="914400" y="297036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Sarcomas</a:t>
            </a:r>
            <a:endParaRPr lang="en-US" dirty="0"/>
          </a:p>
        </p:txBody>
      </p:sp>
      <p:sp>
        <p:nvSpPr>
          <p:cNvPr id="9" name="Text 7"/>
          <p:cNvSpPr/>
          <p:nvPr/>
        </p:nvSpPr>
        <p:spPr>
          <a:xfrm>
            <a:off x="6095848" y="297036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Melanomas</a:t>
            </a:r>
            <a:endParaRPr lang="en-US" dirty="0"/>
          </a:p>
        </p:txBody>
      </p:sp>
      <p:sp>
        <p:nvSpPr>
          <p:cNvPr id="10" name="Shape 8"/>
          <p:cNvSpPr/>
          <p:nvPr/>
        </p:nvSpPr>
        <p:spPr>
          <a:xfrm>
            <a:off x="685800" y="4085928"/>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32232"/>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Q2. Which infection is an important, preventable cause of gastric cancer?</a:t>
            </a:r>
            <a:endParaRPr lang="en-US" sz="2000" dirty="0"/>
          </a:p>
        </p:txBody>
      </p:sp>
      <p:sp>
        <p:nvSpPr>
          <p:cNvPr id="12" name="Text 10"/>
          <p:cNvSpPr/>
          <p:nvPr/>
        </p:nvSpPr>
        <p:spPr>
          <a:xfrm>
            <a:off x="914400" y="465285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i="1" dirty="0">
                <a:solidFill>
                  <a:srgbClr val="1F3B50"/>
                </a:solidFill>
                <a:latin typeface="Calibri" pitchFamily="34" charset="0"/>
                <a:ea typeface="Calibri" pitchFamily="34" charset="-122"/>
                <a:cs typeface="Calibri" pitchFamily="34" charset="-120"/>
              </a:rPr>
              <a:t>Helicobacter pylori</a:t>
            </a:r>
            <a:endParaRPr lang="en-US" i="1" dirty="0"/>
          </a:p>
        </p:txBody>
      </p:sp>
      <p:sp>
        <p:nvSpPr>
          <p:cNvPr id="13" name="Text 11"/>
          <p:cNvSpPr/>
          <p:nvPr/>
        </p:nvSpPr>
        <p:spPr>
          <a:xfrm>
            <a:off x="6095848" y="465285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Hepatitis A</a:t>
            </a:r>
            <a:endParaRPr lang="en-US" dirty="0"/>
          </a:p>
        </p:txBody>
      </p:sp>
      <p:sp>
        <p:nvSpPr>
          <p:cNvPr id="14" name="Text 12"/>
          <p:cNvSpPr/>
          <p:nvPr/>
        </p:nvSpPr>
        <p:spPr>
          <a:xfrm>
            <a:off x="914400" y="498204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Malaria</a:t>
            </a:r>
            <a:endParaRPr lang="en-US" dirty="0"/>
          </a:p>
        </p:txBody>
      </p:sp>
      <p:sp>
        <p:nvSpPr>
          <p:cNvPr id="15" name="Text 13"/>
          <p:cNvSpPr/>
          <p:nvPr/>
        </p:nvSpPr>
        <p:spPr>
          <a:xfrm>
            <a:off x="6095848" y="498204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Tuberculosis</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(2/10)</a:t>
            </a:r>
            <a:endParaRPr lang="en-US" sz="3000" dirty="0"/>
          </a:p>
        </p:txBody>
      </p:sp>
      <p:sp>
        <p:nvSpPr>
          <p:cNvPr id="4" name="Shape 2"/>
          <p:cNvSpPr/>
          <p:nvPr/>
        </p:nvSpPr>
        <p:spPr>
          <a:xfrm>
            <a:off x="685800" y="2050184"/>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96488"/>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Q3. Early gastric cancer usually causes:</a:t>
            </a:r>
            <a:endParaRPr lang="en-US" sz="2000" dirty="0"/>
          </a:p>
        </p:txBody>
      </p:sp>
      <p:sp>
        <p:nvSpPr>
          <p:cNvPr id="6" name="Text 4"/>
          <p:cNvSpPr/>
          <p:nvPr/>
        </p:nvSpPr>
        <p:spPr>
          <a:xfrm>
            <a:off x="914400" y="261711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Severe pain</a:t>
            </a:r>
            <a:endParaRPr lang="en-US" dirty="0"/>
          </a:p>
        </p:txBody>
      </p:sp>
      <p:sp>
        <p:nvSpPr>
          <p:cNvPr id="7" name="Text 5"/>
          <p:cNvSpPr/>
          <p:nvPr/>
        </p:nvSpPr>
        <p:spPr>
          <a:xfrm>
            <a:off x="6095848" y="261711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Few or non-specific symptoms</a:t>
            </a:r>
            <a:endParaRPr lang="en-US" dirty="0"/>
          </a:p>
        </p:txBody>
      </p:sp>
      <p:sp>
        <p:nvSpPr>
          <p:cNvPr id="8" name="Text 6"/>
          <p:cNvSpPr/>
          <p:nvPr/>
        </p:nvSpPr>
        <p:spPr>
          <a:xfrm>
            <a:off x="914400" y="294629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Immediate weight loss</a:t>
            </a:r>
            <a:endParaRPr lang="en-US" dirty="0"/>
          </a:p>
        </p:txBody>
      </p:sp>
      <p:sp>
        <p:nvSpPr>
          <p:cNvPr id="9" name="Text 7"/>
          <p:cNvSpPr/>
          <p:nvPr/>
        </p:nvSpPr>
        <p:spPr>
          <a:xfrm>
            <a:off x="6095848" y="294629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High fever</a:t>
            </a:r>
            <a:endParaRPr lang="en-US" dirty="0"/>
          </a:p>
        </p:txBody>
      </p:sp>
      <p:sp>
        <p:nvSpPr>
          <p:cNvPr id="10" name="Shape 8"/>
          <p:cNvSpPr/>
          <p:nvPr/>
        </p:nvSpPr>
        <p:spPr>
          <a:xfrm>
            <a:off x="685800" y="4061864"/>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08168"/>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Q4. Persistent dyspepsia with weight loss should be:</a:t>
            </a:r>
            <a:endParaRPr lang="en-US" sz="2000" dirty="0"/>
          </a:p>
        </p:txBody>
      </p:sp>
      <p:sp>
        <p:nvSpPr>
          <p:cNvPr id="12" name="Text 10"/>
          <p:cNvSpPr/>
          <p:nvPr/>
        </p:nvSpPr>
        <p:spPr>
          <a:xfrm>
            <a:off x="914400" y="462879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Ignored</a:t>
            </a:r>
            <a:endParaRPr lang="en-US" dirty="0"/>
          </a:p>
        </p:txBody>
      </p:sp>
      <p:sp>
        <p:nvSpPr>
          <p:cNvPr id="13" name="Text 11"/>
          <p:cNvSpPr/>
          <p:nvPr/>
        </p:nvSpPr>
        <p:spPr>
          <a:xfrm>
            <a:off x="6095848" y="462879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Assessed and considered for referral</a:t>
            </a:r>
            <a:endParaRPr lang="en-US" dirty="0"/>
          </a:p>
        </p:txBody>
      </p:sp>
      <p:sp>
        <p:nvSpPr>
          <p:cNvPr id="14" name="Text 12"/>
          <p:cNvSpPr/>
          <p:nvPr/>
        </p:nvSpPr>
        <p:spPr>
          <a:xfrm>
            <a:off x="914400" y="495797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Treated only with antacids</a:t>
            </a:r>
            <a:endParaRPr lang="en-US" dirty="0"/>
          </a:p>
        </p:txBody>
      </p:sp>
      <p:sp>
        <p:nvSpPr>
          <p:cNvPr id="15" name="Text 13"/>
          <p:cNvSpPr/>
          <p:nvPr/>
        </p:nvSpPr>
        <p:spPr>
          <a:xfrm>
            <a:off x="6095848" y="495797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Assumed benign</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(3/10)</a:t>
            </a:r>
            <a:endParaRPr lang="en-US" sz="3000" dirty="0"/>
          </a:p>
        </p:txBody>
      </p:sp>
      <p:sp>
        <p:nvSpPr>
          <p:cNvPr id="4" name="Shape 2"/>
          <p:cNvSpPr/>
          <p:nvPr/>
        </p:nvSpPr>
        <p:spPr>
          <a:xfrm>
            <a:off x="685800" y="2062216"/>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208520"/>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Q5. Gastric intestinal metaplasia is:</a:t>
            </a:r>
            <a:endParaRPr lang="en-US" sz="2000" dirty="0"/>
          </a:p>
        </p:txBody>
      </p:sp>
      <p:sp>
        <p:nvSpPr>
          <p:cNvPr id="6" name="Text 4"/>
          <p:cNvSpPr/>
          <p:nvPr/>
        </p:nvSpPr>
        <p:spPr>
          <a:xfrm>
            <a:off x="914400" y="262914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Confirmed cancer</a:t>
            </a:r>
            <a:endParaRPr lang="en-US" dirty="0"/>
          </a:p>
        </p:txBody>
      </p:sp>
      <p:sp>
        <p:nvSpPr>
          <p:cNvPr id="7" name="Text 5"/>
          <p:cNvSpPr/>
          <p:nvPr/>
        </p:nvSpPr>
        <p:spPr>
          <a:xfrm>
            <a:off x="6095848" y="262914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A premalignant condition</a:t>
            </a:r>
            <a:endParaRPr lang="en-US" dirty="0"/>
          </a:p>
        </p:txBody>
      </p:sp>
      <p:sp>
        <p:nvSpPr>
          <p:cNvPr id="8" name="Text 6"/>
          <p:cNvSpPr/>
          <p:nvPr/>
        </p:nvSpPr>
        <p:spPr>
          <a:xfrm>
            <a:off x="914400" y="295832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 normal finding</a:t>
            </a:r>
            <a:endParaRPr lang="en-US" dirty="0"/>
          </a:p>
        </p:txBody>
      </p:sp>
      <p:sp>
        <p:nvSpPr>
          <p:cNvPr id="9" name="Text 7"/>
          <p:cNvSpPr/>
          <p:nvPr/>
        </p:nvSpPr>
        <p:spPr>
          <a:xfrm>
            <a:off x="6095848" y="295832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An infection</a:t>
            </a:r>
            <a:endParaRPr lang="en-US" dirty="0"/>
          </a:p>
        </p:txBody>
      </p:sp>
      <p:sp>
        <p:nvSpPr>
          <p:cNvPr id="10" name="Shape 8"/>
          <p:cNvSpPr/>
          <p:nvPr/>
        </p:nvSpPr>
        <p:spPr>
          <a:xfrm>
            <a:off x="685800" y="4073896"/>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20200"/>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Q6. Which is an alarm (red-flag) feature?</a:t>
            </a:r>
            <a:endParaRPr lang="en-US" sz="2000" dirty="0"/>
          </a:p>
        </p:txBody>
      </p:sp>
      <p:sp>
        <p:nvSpPr>
          <p:cNvPr id="12" name="Text 10"/>
          <p:cNvSpPr/>
          <p:nvPr/>
        </p:nvSpPr>
        <p:spPr>
          <a:xfrm>
            <a:off x="914400" y="464082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Occasional bloating</a:t>
            </a:r>
            <a:endParaRPr lang="en-US" dirty="0"/>
          </a:p>
        </p:txBody>
      </p:sp>
      <p:sp>
        <p:nvSpPr>
          <p:cNvPr id="13" name="Text 11"/>
          <p:cNvSpPr/>
          <p:nvPr/>
        </p:nvSpPr>
        <p:spPr>
          <a:xfrm>
            <a:off x="6095848" y="464082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Melena or hematemesis</a:t>
            </a:r>
            <a:endParaRPr lang="en-US" dirty="0"/>
          </a:p>
        </p:txBody>
      </p:sp>
      <p:sp>
        <p:nvSpPr>
          <p:cNvPr id="14" name="Text 12"/>
          <p:cNvSpPr/>
          <p:nvPr/>
        </p:nvSpPr>
        <p:spPr>
          <a:xfrm>
            <a:off x="914400" y="4970008"/>
            <a:ext cx="5044288" cy="310896"/>
          </a:xfrm>
          <a:prstGeom prst="rect">
            <a:avLst/>
          </a:prstGeom>
          <a:noFill/>
          <a:ln/>
        </p:spPr>
        <p:txBody>
          <a:bodyPr wrap="square" lIns="0" tIns="0" rIns="0" bIns="0" rtlCol="0" anchor="ctr"/>
          <a:lstStyle/>
          <a:p>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Mild burping</a:t>
            </a:r>
            <a:endParaRPr lang="en-US" dirty="0"/>
          </a:p>
        </p:txBody>
      </p:sp>
      <p:sp>
        <p:nvSpPr>
          <p:cNvPr id="15" name="Text 13"/>
          <p:cNvSpPr/>
          <p:nvPr/>
        </p:nvSpPr>
        <p:spPr>
          <a:xfrm>
            <a:off x="6095848" y="497000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Transient nausea</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(4/10)</a:t>
            </a:r>
            <a:endParaRPr lang="en-US" sz="3000" dirty="0"/>
          </a:p>
        </p:txBody>
      </p:sp>
      <p:sp>
        <p:nvSpPr>
          <p:cNvPr id="4" name="Shape 2"/>
          <p:cNvSpPr/>
          <p:nvPr/>
        </p:nvSpPr>
        <p:spPr>
          <a:xfrm>
            <a:off x="685800" y="2050184"/>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96488"/>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Q7. Gastric cancer is confirmed by:</a:t>
            </a:r>
            <a:endParaRPr lang="en-US" sz="2000" dirty="0"/>
          </a:p>
        </p:txBody>
      </p:sp>
      <p:sp>
        <p:nvSpPr>
          <p:cNvPr id="6" name="Text 4"/>
          <p:cNvSpPr/>
          <p:nvPr/>
        </p:nvSpPr>
        <p:spPr>
          <a:xfrm>
            <a:off x="914400" y="261711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Symptoms alone</a:t>
            </a:r>
            <a:endParaRPr lang="en-US" dirty="0"/>
          </a:p>
        </p:txBody>
      </p:sp>
      <p:sp>
        <p:nvSpPr>
          <p:cNvPr id="7" name="Text 5"/>
          <p:cNvSpPr/>
          <p:nvPr/>
        </p:nvSpPr>
        <p:spPr>
          <a:xfrm>
            <a:off x="6095848" y="261711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A blood test</a:t>
            </a:r>
            <a:endParaRPr lang="en-US" dirty="0"/>
          </a:p>
        </p:txBody>
      </p:sp>
      <p:sp>
        <p:nvSpPr>
          <p:cNvPr id="8" name="Text 6"/>
          <p:cNvSpPr/>
          <p:nvPr/>
        </p:nvSpPr>
        <p:spPr>
          <a:xfrm>
            <a:off x="914400" y="294629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Endoscopic biopsy and histopathology</a:t>
            </a:r>
            <a:endParaRPr lang="en-US" dirty="0"/>
          </a:p>
        </p:txBody>
      </p:sp>
      <p:sp>
        <p:nvSpPr>
          <p:cNvPr id="9" name="Text 7"/>
          <p:cNvSpPr/>
          <p:nvPr/>
        </p:nvSpPr>
        <p:spPr>
          <a:xfrm>
            <a:off x="6095848" y="294629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Physical examination</a:t>
            </a:r>
            <a:endParaRPr lang="en-US" dirty="0"/>
          </a:p>
        </p:txBody>
      </p:sp>
      <p:sp>
        <p:nvSpPr>
          <p:cNvPr id="10" name="Shape 8"/>
          <p:cNvSpPr/>
          <p:nvPr/>
        </p:nvSpPr>
        <p:spPr>
          <a:xfrm>
            <a:off x="685800" y="4061864"/>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08168"/>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Q8. Stage describes:</a:t>
            </a:r>
            <a:endParaRPr lang="en-US" sz="2000" dirty="0"/>
          </a:p>
        </p:txBody>
      </p:sp>
      <p:sp>
        <p:nvSpPr>
          <p:cNvPr id="12" name="Text 10"/>
          <p:cNvSpPr/>
          <p:nvPr/>
        </p:nvSpPr>
        <p:spPr>
          <a:xfrm>
            <a:off x="914400" y="462879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How abnormal cells look</a:t>
            </a:r>
            <a:endParaRPr lang="en-US" dirty="0"/>
          </a:p>
        </p:txBody>
      </p:sp>
      <p:sp>
        <p:nvSpPr>
          <p:cNvPr id="13" name="Text 11"/>
          <p:cNvSpPr/>
          <p:nvPr/>
        </p:nvSpPr>
        <p:spPr>
          <a:xfrm>
            <a:off x="6095848" y="462879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Where the cancer is and how far it has spread</a:t>
            </a:r>
            <a:endParaRPr lang="en-US" dirty="0"/>
          </a:p>
        </p:txBody>
      </p:sp>
      <p:sp>
        <p:nvSpPr>
          <p:cNvPr id="14" name="Text 12"/>
          <p:cNvSpPr/>
          <p:nvPr/>
        </p:nvSpPr>
        <p:spPr>
          <a:xfrm>
            <a:off x="914400" y="495797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The patient's age</a:t>
            </a:r>
            <a:endParaRPr lang="en-US" dirty="0"/>
          </a:p>
        </p:txBody>
      </p:sp>
      <p:sp>
        <p:nvSpPr>
          <p:cNvPr id="15" name="Text 13"/>
          <p:cNvSpPr/>
          <p:nvPr/>
        </p:nvSpPr>
        <p:spPr>
          <a:xfrm>
            <a:off x="6095848" y="4957976"/>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The chosen treatment</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(5/10)</a:t>
            </a:r>
            <a:endParaRPr lang="en-US" sz="3000" dirty="0"/>
          </a:p>
        </p:txBody>
      </p:sp>
      <p:sp>
        <p:nvSpPr>
          <p:cNvPr id="4" name="Shape 2"/>
          <p:cNvSpPr/>
          <p:nvPr/>
        </p:nvSpPr>
        <p:spPr>
          <a:xfrm>
            <a:off x="685800" y="2038152"/>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84456"/>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Q9. In the TNM system, N refers to:</a:t>
            </a:r>
            <a:endParaRPr lang="en-US" sz="2000" dirty="0"/>
          </a:p>
        </p:txBody>
      </p:sp>
      <p:sp>
        <p:nvSpPr>
          <p:cNvPr id="6" name="Text 4"/>
          <p:cNvSpPr/>
          <p:nvPr/>
        </p:nvSpPr>
        <p:spPr>
          <a:xfrm>
            <a:off x="914400" y="26050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Depth of tumor</a:t>
            </a:r>
            <a:endParaRPr lang="en-US" dirty="0"/>
          </a:p>
        </p:txBody>
      </p:sp>
      <p:sp>
        <p:nvSpPr>
          <p:cNvPr id="7" name="Text 5"/>
          <p:cNvSpPr/>
          <p:nvPr/>
        </p:nvSpPr>
        <p:spPr>
          <a:xfrm>
            <a:off x="6095848" y="26050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Regional lymph nodes</a:t>
            </a:r>
            <a:endParaRPr lang="en-US" dirty="0"/>
          </a:p>
        </p:txBody>
      </p:sp>
      <p:sp>
        <p:nvSpPr>
          <p:cNvPr id="8" name="Text 6"/>
          <p:cNvSpPr/>
          <p:nvPr/>
        </p:nvSpPr>
        <p:spPr>
          <a:xfrm>
            <a:off x="914400" y="29342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Distant spread</a:t>
            </a:r>
            <a:endParaRPr lang="en-US" dirty="0"/>
          </a:p>
        </p:txBody>
      </p:sp>
      <p:sp>
        <p:nvSpPr>
          <p:cNvPr id="9" name="Text 7"/>
          <p:cNvSpPr/>
          <p:nvPr/>
        </p:nvSpPr>
        <p:spPr>
          <a:xfrm>
            <a:off x="6095848" y="29342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Tumor grade</a:t>
            </a:r>
            <a:endParaRPr lang="en-US" dirty="0"/>
          </a:p>
        </p:txBody>
      </p:sp>
      <p:sp>
        <p:nvSpPr>
          <p:cNvPr id="10" name="Shape 8"/>
          <p:cNvSpPr/>
          <p:nvPr/>
        </p:nvSpPr>
        <p:spPr>
          <a:xfrm>
            <a:off x="685800" y="4049832"/>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196136"/>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Q10. Screening means testing:</a:t>
            </a:r>
            <a:endParaRPr lang="en-US" sz="2000" dirty="0"/>
          </a:p>
        </p:txBody>
      </p:sp>
      <p:sp>
        <p:nvSpPr>
          <p:cNvPr id="12" name="Text 10"/>
          <p:cNvSpPr/>
          <p:nvPr/>
        </p:nvSpPr>
        <p:spPr>
          <a:xfrm>
            <a:off x="914400" y="461676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People with symptoms</a:t>
            </a:r>
            <a:endParaRPr lang="en-US" dirty="0"/>
          </a:p>
        </p:txBody>
      </p:sp>
      <p:sp>
        <p:nvSpPr>
          <p:cNvPr id="13" name="Text 11"/>
          <p:cNvSpPr/>
          <p:nvPr/>
        </p:nvSpPr>
        <p:spPr>
          <a:xfrm>
            <a:off x="6095848" y="461676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Asymptomatic people to detect disease early</a:t>
            </a:r>
            <a:endParaRPr lang="en-US" dirty="0"/>
          </a:p>
        </p:txBody>
      </p:sp>
      <p:sp>
        <p:nvSpPr>
          <p:cNvPr id="14" name="Text 12"/>
          <p:cNvSpPr/>
          <p:nvPr/>
        </p:nvSpPr>
        <p:spPr>
          <a:xfrm>
            <a:off x="914400" y="494594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Only people with cancer</a:t>
            </a:r>
            <a:endParaRPr lang="en-US" dirty="0"/>
          </a:p>
        </p:txBody>
      </p:sp>
      <p:sp>
        <p:nvSpPr>
          <p:cNvPr id="15" name="Text 13"/>
          <p:cNvSpPr/>
          <p:nvPr/>
        </p:nvSpPr>
        <p:spPr>
          <a:xfrm>
            <a:off x="6095848" y="494594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Everyone once</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(6/10)</a:t>
            </a:r>
            <a:endParaRPr lang="en-US" sz="3000" dirty="0"/>
          </a:p>
        </p:txBody>
      </p:sp>
      <p:sp>
        <p:nvSpPr>
          <p:cNvPr id="4" name="Shape 2"/>
          <p:cNvSpPr/>
          <p:nvPr/>
        </p:nvSpPr>
        <p:spPr>
          <a:xfrm>
            <a:off x="685800" y="208628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23258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Q11. </a:t>
            </a:r>
            <a:r>
              <a:rPr lang="en-US" sz="2000" b="1" i="1" dirty="0">
                <a:solidFill>
                  <a:srgbClr val="12406B"/>
                </a:solidFill>
                <a:latin typeface="Calibri" pitchFamily="34" charset="0"/>
                <a:ea typeface="Calibri" pitchFamily="34" charset="-122"/>
                <a:cs typeface="Calibri" pitchFamily="34" charset="-120"/>
              </a:rPr>
              <a:t>H. pylori</a:t>
            </a:r>
            <a:r>
              <a:rPr lang="en-US" sz="2000" b="1" dirty="0">
                <a:solidFill>
                  <a:srgbClr val="12406B"/>
                </a:solidFill>
                <a:latin typeface="Calibri" pitchFamily="34" charset="0"/>
                <a:ea typeface="Calibri" pitchFamily="34" charset="-122"/>
                <a:cs typeface="Calibri" pitchFamily="34" charset="-120"/>
              </a:rPr>
              <a:t> infection means the person:</a:t>
            </a:r>
            <a:endParaRPr lang="en-US" sz="2000" dirty="0"/>
          </a:p>
        </p:txBody>
      </p:sp>
      <p:sp>
        <p:nvSpPr>
          <p:cNvPr id="6" name="Text 4"/>
          <p:cNvSpPr/>
          <p:nvPr/>
        </p:nvSpPr>
        <p:spPr>
          <a:xfrm>
            <a:off x="914400" y="275074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Definitely has gastric cancer</a:t>
            </a:r>
            <a:endParaRPr lang="en-US" dirty="0"/>
          </a:p>
        </p:txBody>
      </p:sp>
      <p:sp>
        <p:nvSpPr>
          <p:cNvPr id="7" name="Text 5"/>
          <p:cNvSpPr/>
          <p:nvPr/>
        </p:nvSpPr>
        <p:spPr>
          <a:xfrm>
            <a:off x="6095848" y="275074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Has an increased risk and needs to be treated. It is not considered itself cancer.</a:t>
            </a:r>
            <a:endParaRPr lang="en-US" dirty="0"/>
          </a:p>
        </p:txBody>
      </p:sp>
      <p:sp>
        <p:nvSpPr>
          <p:cNvPr id="8" name="Text 6"/>
          <p:cNvSpPr/>
          <p:nvPr/>
        </p:nvSpPr>
        <p:spPr>
          <a:xfrm>
            <a:off x="914400" y="326280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Needs surgery</a:t>
            </a:r>
            <a:endParaRPr lang="en-US" dirty="0"/>
          </a:p>
        </p:txBody>
      </p:sp>
      <p:sp>
        <p:nvSpPr>
          <p:cNvPr id="9" name="Text 7"/>
          <p:cNvSpPr/>
          <p:nvPr/>
        </p:nvSpPr>
        <p:spPr>
          <a:xfrm>
            <a:off x="6095848" y="326280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Has no risk</a:t>
            </a:r>
            <a:endParaRPr lang="en-US" dirty="0"/>
          </a:p>
        </p:txBody>
      </p:sp>
      <p:sp>
        <p:nvSpPr>
          <p:cNvPr id="10" name="Shape 8"/>
          <p:cNvSpPr/>
          <p:nvPr/>
        </p:nvSpPr>
        <p:spPr>
          <a:xfrm>
            <a:off x="685800" y="4097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44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Q12. Upper Gastro-Intestinal endoscopy allows:</a:t>
            </a:r>
            <a:endParaRPr lang="en-US" sz="2000" dirty="0"/>
          </a:p>
        </p:txBody>
      </p:sp>
      <p:sp>
        <p:nvSpPr>
          <p:cNvPr id="12" name="Text 10"/>
          <p:cNvSpPr/>
          <p:nvPr/>
        </p:nvSpPr>
        <p:spPr>
          <a:xfrm>
            <a:off x="914400" y="484776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Direct visualisation and biopsy of the stomach</a:t>
            </a:r>
            <a:endParaRPr lang="en-US" dirty="0"/>
          </a:p>
        </p:txBody>
      </p:sp>
      <p:sp>
        <p:nvSpPr>
          <p:cNvPr id="13" name="Text 11"/>
          <p:cNvSpPr/>
          <p:nvPr/>
        </p:nvSpPr>
        <p:spPr>
          <a:xfrm>
            <a:off x="6095848" y="484776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Only blood sampling</a:t>
            </a:r>
            <a:endParaRPr lang="en-US" dirty="0"/>
          </a:p>
        </p:txBody>
      </p:sp>
      <p:sp>
        <p:nvSpPr>
          <p:cNvPr id="14" name="Text 12"/>
          <p:cNvSpPr/>
          <p:nvPr/>
        </p:nvSpPr>
        <p:spPr>
          <a:xfrm>
            <a:off x="914400" y="517695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Bone assessment</a:t>
            </a:r>
            <a:endParaRPr lang="en-US" dirty="0"/>
          </a:p>
        </p:txBody>
      </p:sp>
      <p:sp>
        <p:nvSpPr>
          <p:cNvPr id="15" name="Text 13"/>
          <p:cNvSpPr/>
          <p:nvPr/>
        </p:nvSpPr>
        <p:spPr>
          <a:xfrm>
            <a:off x="6095848" y="517695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No tissue sampling</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(7/10)</a:t>
            </a:r>
            <a:endParaRPr lang="en-US" sz="3000" dirty="0"/>
          </a:p>
        </p:txBody>
      </p:sp>
      <p:sp>
        <p:nvSpPr>
          <p:cNvPr id="4" name="Shape 2"/>
          <p:cNvSpPr/>
          <p:nvPr/>
        </p:nvSpPr>
        <p:spPr>
          <a:xfrm>
            <a:off x="685800" y="2086279"/>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232583"/>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Q13. Surveillance applies to people who:</a:t>
            </a:r>
            <a:endParaRPr lang="en-US" sz="2000" dirty="0"/>
          </a:p>
        </p:txBody>
      </p:sp>
      <p:sp>
        <p:nvSpPr>
          <p:cNvPr id="6" name="Text 4"/>
          <p:cNvSpPr/>
          <p:nvPr/>
        </p:nvSpPr>
        <p:spPr>
          <a:xfrm>
            <a:off x="914400" y="2653207"/>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Have no risk</a:t>
            </a:r>
            <a:endParaRPr lang="en-US" dirty="0"/>
          </a:p>
        </p:txBody>
      </p:sp>
      <p:sp>
        <p:nvSpPr>
          <p:cNvPr id="7" name="Text 5"/>
          <p:cNvSpPr/>
          <p:nvPr/>
        </p:nvSpPr>
        <p:spPr>
          <a:xfrm>
            <a:off x="6095848" y="2653207"/>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Already have premalignant conditions</a:t>
            </a:r>
            <a:endParaRPr lang="en-US" dirty="0"/>
          </a:p>
        </p:txBody>
      </p:sp>
      <p:sp>
        <p:nvSpPr>
          <p:cNvPr id="8" name="Text 6"/>
          <p:cNvSpPr/>
          <p:nvPr/>
        </p:nvSpPr>
        <p:spPr>
          <a:xfrm>
            <a:off x="914400" y="298239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Are fully healthy</a:t>
            </a:r>
            <a:endParaRPr lang="en-US" dirty="0"/>
          </a:p>
        </p:txBody>
      </p:sp>
      <p:sp>
        <p:nvSpPr>
          <p:cNvPr id="9" name="Text 7"/>
          <p:cNvSpPr/>
          <p:nvPr/>
        </p:nvSpPr>
        <p:spPr>
          <a:xfrm>
            <a:off x="6095848" y="298239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Refuse care</a:t>
            </a:r>
            <a:endParaRPr lang="en-US" dirty="0"/>
          </a:p>
        </p:txBody>
      </p:sp>
      <p:sp>
        <p:nvSpPr>
          <p:cNvPr id="10" name="Shape 8"/>
          <p:cNvSpPr/>
          <p:nvPr/>
        </p:nvSpPr>
        <p:spPr>
          <a:xfrm>
            <a:off x="685800" y="4097959"/>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44263"/>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Q14. Chemotherapy is:</a:t>
            </a:r>
            <a:endParaRPr lang="en-US" sz="2000" dirty="0"/>
          </a:p>
        </p:txBody>
      </p:sp>
      <p:sp>
        <p:nvSpPr>
          <p:cNvPr id="12" name="Text 10"/>
          <p:cNvSpPr/>
          <p:nvPr/>
        </p:nvSpPr>
        <p:spPr>
          <a:xfrm>
            <a:off x="914400" y="4664887"/>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 local treatment</a:t>
            </a:r>
            <a:endParaRPr lang="en-US" dirty="0"/>
          </a:p>
        </p:txBody>
      </p:sp>
      <p:sp>
        <p:nvSpPr>
          <p:cNvPr id="13" name="Text 11"/>
          <p:cNvSpPr/>
          <p:nvPr/>
        </p:nvSpPr>
        <p:spPr>
          <a:xfrm>
            <a:off x="6095848" y="4664887"/>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A systemic treatment</a:t>
            </a:r>
            <a:endParaRPr lang="en-US" dirty="0"/>
          </a:p>
        </p:txBody>
      </p:sp>
      <p:sp>
        <p:nvSpPr>
          <p:cNvPr id="14" name="Text 12"/>
          <p:cNvSpPr/>
          <p:nvPr/>
        </p:nvSpPr>
        <p:spPr>
          <a:xfrm>
            <a:off x="914400" y="499407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 type of surgery</a:t>
            </a:r>
            <a:endParaRPr lang="en-US" dirty="0"/>
          </a:p>
        </p:txBody>
      </p:sp>
      <p:sp>
        <p:nvSpPr>
          <p:cNvPr id="15" name="Text 13"/>
          <p:cNvSpPr/>
          <p:nvPr/>
        </p:nvSpPr>
        <p:spPr>
          <a:xfrm>
            <a:off x="6095848" y="499407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A form of imaging</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(8/10)</a:t>
            </a:r>
            <a:endParaRPr lang="en-US" sz="3000" dirty="0"/>
          </a:p>
        </p:txBody>
      </p:sp>
      <p:sp>
        <p:nvSpPr>
          <p:cNvPr id="4" name="Shape 2"/>
          <p:cNvSpPr/>
          <p:nvPr/>
        </p:nvSpPr>
        <p:spPr>
          <a:xfrm>
            <a:off x="685800" y="2062216"/>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208520"/>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Q15. Surgery for gastric cancer may involve:</a:t>
            </a:r>
            <a:endParaRPr lang="en-US" sz="2000" dirty="0"/>
          </a:p>
        </p:txBody>
      </p:sp>
      <p:sp>
        <p:nvSpPr>
          <p:cNvPr id="6" name="Text 4"/>
          <p:cNvSpPr/>
          <p:nvPr/>
        </p:nvSpPr>
        <p:spPr>
          <a:xfrm>
            <a:off x="914400" y="2848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Removing part or all of the stomach and lymph nodes resection if indicated</a:t>
            </a:r>
            <a:endParaRPr lang="en-US" dirty="0"/>
          </a:p>
        </p:txBody>
      </p:sp>
      <p:sp>
        <p:nvSpPr>
          <p:cNvPr id="7" name="Text 5"/>
          <p:cNvSpPr/>
          <p:nvPr/>
        </p:nvSpPr>
        <p:spPr>
          <a:xfrm>
            <a:off x="6095848" y="2848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Only removing lymph nodes</a:t>
            </a:r>
            <a:endParaRPr lang="en-US" dirty="0"/>
          </a:p>
        </p:txBody>
      </p:sp>
      <p:sp>
        <p:nvSpPr>
          <p:cNvPr id="8" name="Text 6"/>
          <p:cNvSpPr/>
          <p:nvPr/>
        </p:nvSpPr>
        <p:spPr>
          <a:xfrm>
            <a:off x="914400" y="339724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No tissue removal</a:t>
            </a:r>
            <a:endParaRPr lang="en-US" dirty="0"/>
          </a:p>
        </p:txBody>
      </p:sp>
      <p:sp>
        <p:nvSpPr>
          <p:cNvPr id="9" name="Text 7"/>
          <p:cNvSpPr/>
          <p:nvPr/>
        </p:nvSpPr>
        <p:spPr>
          <a:xfrm>
            <a:off x="6095848" y="339724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Radiotherapy planning</a:t>
            </a:r>
            <a:endParaRPr lang="en-US" dirty="0"/>
          </a:p>
        </p:txBody>
      </p:sp>
      <p:sp>
        <p:nvSpPr>
          <p:cNvPr id="10" name="Shape 8"/>
          <p:cNvSpPr/>
          <p:nvPr/>
        </p:nvSpPr>
        <p:spPr>
          <a:xfrm>
            <a:off x="685800" y="4073896"/>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20200"/>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Q16. Radiotherapy works by:</a:t>
            </a:r>
            <a:endParaRPr lang="en-US" sz="2000" dirty="0"/>
          </a:p>
        </p:txBody>
      </p:sp>
      <p:sp>
        <p:nvSpPr>
          <p:cNvPr id="12" name="Text 10"/>
          <p:cNvSpPr/>
          <p:nvPr/>
        </p:nvSpPr>
        <p:spPr>
          <a:xfrm>
            <a:off x="914400" y="464082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Adding hormones</a:t>
            </a:r>
            <a:endParaRPr lang="en-US" dirty="0"/>
          </a:p>
        </p:txBody>
      </p:sp>
      <p:sp>
        <p:nvSpPr>
          <p:cNvPr id="13" name="Text 11"/>
          <p:cNvSpPr/>
          <p:nvPr/>
        </p:nvSpPr>
        <p:spPr>
          <a:xfrm>
            <a:off x="6095848" y="464082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Damaging cancer-cell DNA with radiation</a:t>
            </a:r>
            <a:endParaRPr lang="en-US" dirty="0"/>
          </a:p>
        </p:txBody>
      </p:sp>
      <p:sp>
        <p:nvSpPr>
          <p:cNvPr id="14" name="Text 12"/>
          <p:cNvSpPr/>
          <p:nvPr/>
        </p:nvSpPr>
        <p:spPr>
          <a:xfrm>
            <a:off x="914400" y="497000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Being a type of surgery</a:t>
            </a:r>
            <a:endParaRPr lang="en-US" dirty="0"/>
          </a:p>
        </p:txBody>
      </p:sp>
      <p:sp>
        <p:nvSpPr>
          <p:cNvPr id="15" name="Text 13"/>
          <p:cNvSpPr/>
          <p:nvPr/>
        </p:nvSpPr>
        <p:spPr>
          <a:xfrm>
            <a:off x="6095848" y="497000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Doing nothing</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(9/10)</a:t>
            </a:r>
            <a:endParaRPr lang="en-US" sz="3000" dirty="0"/>
          </a:p>
        </p:txBody>
      </p:sp>
      <p:sp>
        <p:nvSpPr>
          <p:cNvPr id="4" name="Shape 2"/>
          <p:cNvSpPr/>
          <p:nvPr/>
        </p:nvSpPr>
        <p:spPr>
          <a:xfrm>
            <a:off x="685800" y="2098312"/>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244616"/>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Q17. A biopsy of a gastric lesion:</a:t>
            </a:r>
            <a:endParaRPr lang="en-US" sz="2000" dirty="0"/>
          </a:p>
        </p:txBody>
      </p:sp>
      <p:sp>
        <p:nvSpPr>
          <p:cNvPr id="6" name="Text 4"/>
          <p:cNvSpPr/>
          <p:nvPr/>
        </p:nvSpPr>
        <p:spPr>
          <a:xfrm>
            <a:off x="914400" y="266524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Causes cancer to spread</a:t>
            </a:r>
            <a:endParaRPr lang="en-US" dirty="0"/>
          </a:p>
        </p:txBody>
      </p:sp>
      <p:sp>
        <p:nvSpPr>
          <p:cNvPr id="7" name="Text 5"/>
          <p:cNvSpPr/>
          <p:nvPr/>
        </p:nvSpPr>
        <p:spPr>
          <a:xfrm>
            <a:off x="6095848" y="266524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Is needed to confirm diagnosis</a:t>
            </a:r>
            <a:endParaRPr lang="en-US" dirty="0"/>
          </a:p>
        </p:txBody>
      </p:sp>
      <p:sp>
        <p:nvSpPr>
          <p:cNvPr id="8" name="Text 6"/>
          <p:cNvSpPr/>
          <p:nvPr/>
        </p:nvSpPr>
        <p:spPr>
          <a:xfrm>
            <a:off x="914400" y="299442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Replaces endoscopy</a:t>
            </a:r>
            <a:endParaRPr lang="en-US" dirty="0"/>
          </a:p>
        </p:txBody>
      </p:sp>
      <p:sp>
        <p:nvSpPr>
          <p:cNvPr id="9" name="Text 7"/>
          <p:cNvSpPr/>
          <p:nvPr/>
        </p:nvSpPr>
        <p:spPr>
          <a:xfrm>
            <a:off x="6095848" y="299442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Confirms stage alone</a:t>
            </a:r>
            <a:endParaRPr lang="en-US" dirty="0"/>
          </a:p>
        </p:txBody>
      </p:sp>
      <p:sp>
        <p:nvSpPr>
          <p:cNvPr id="10" name="Shape 8"/>
          <p:cNvSpPr/>
          <p:nvPr/>
        </p:nvSpPr>
        <p:spPr>
          <a:xfrm>
            <a:off x="685800" y="4109992"/>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56296"/>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Q18. After gastrectomy, patients often need:</a:t>
            </a:r>
            <a:endParaRPr lang="en-US" sz="2000" dirty="0"/>
          </a:p>
        </p:txBody>
      </p:sp>
      <p:sp>
        <p:nvSpPr>
          <p:cNvPr id="12" name="Text 10"/>
          <p:cNvSpPr/>
          <p:nvPr/>
        </p:nvSpPr>
        <p:spPr>
          <a:xfrm>
            <a:off x="914400" y="467692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Larger less frequent meals</a:t>
            </a:r>
            <a:endParaRPr lang="en-US" dirty="0"/>
          </a:p>
        </p:txBody>
      </p:sp>
      <p:sp>
        <p:nvSpPr>
          <p:cNvPr id="13" name="Text 11"/>
          <p:cNvSpPr/>
          <p:nvPr/>
        </p:nvSpPr>
        <p:spPr>
          <a:xfrm>
            <a:off x="6095848" y="467692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Smaller more frequent meals</a:t>
            </a:r>
            <a:endParaRPr lang="en-US" dirty="0"/>
          </a:p>
        </p:txBody>
      </p:sp>
      <p:sp>
        <p:nvSpPr>
          <p:cNvPr id="14" name="Text 12"/>
          <p:cNvSpPr/>
          <p:nvPr/>
        </p:nvSpPr>
        <p:spPr>
          <a:xfrm>
            <a:off x="914400" y="500610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No dietary change</a:t>
            </a:r>
            <a:endParaRPr lang="en-US" dirty="0"/>
          </a:p>
        </p:txBody>
      </p:sp>
      <p:sp>
        <p:nvSpPr>
          <p:cNvPr id="15" name="Text 13"/>
          <p:cNvSpPr/>
          <p:nvPr/>
        </p:nvSpPr>
        <p:spPr>
          <a:xfrm>
            <a:off x="6095848" y="500610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Only intravenous fluids</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(10/10)</a:t>
            </a:r>
            <a:endParaRPr lang="en-US" sz="3000" dirty="0"/>
          </a:p>
        </p:txBody>
      </p:sp>
      <p:sp>
        <p:nvSpPr>
          <p:cNvPr id="4" name="Shape 2"/>
          <p:cNvSpPr/>
          <p:nvPr/>
        </p:nvSpPr>
        <p:spPr>
          <a:xfrm>
            <a:off x="685800" y="2134407"/>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280711"/>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Q19. Palliative care is:</a:t>
            </a:r>
            <a:endParaRPr lang="en-US" sz="2000" dirty="0"/>
          </a:p>
        </p:txBody>
      </p:sp>
      <p:sp>
        <p:nvSpPr>
          <p:cNvPr id="6" name="Text 4"/>
          <p:cNvSpPr/>
          <p:nvPr/>
        </p:nvSpPr>
        <p:spPr>
          <a:xfrm>
            <a:off x="914400" y="270133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Only for the last days of life</a:t>
            </a:r>
            <a:endParaRPr lang="en-US" dirty="0"/>
          </a:p>
        </p:txBody>
      </p:sp>
      <p:sp>
        <p:nvSpPr>
          <p:cNvPr id="7" name="Text 5"/>
          <p:cNvSpPr/>
          <p:nvPr/>
        </p:nvSpPr>
        <p:spPr>
          <a:xfrm>
            <a:off x="6095848" y="270133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Symptom relief and quality of life, alongside treatment when appropriate</a:t>
            </a:r>
            <a:endParaRPr lang="en-US" dirty="0"/>
          </a:p>
        </p:txBody>
      </p:sp>
      <p:sp>
        <p:nvSpPr>
          <p:cNvPr id="8" name="Text 6"/>
          <p:cNvSpPr/>
          <p:nvPr/>
        </p:nvSpPr>
        <p:spPr>
          <a:xfrm>
            <a:off x="914400" y="3030519"/>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The same as stopping care</a:t>
            </a:r>
            <a:endParaRPr lang="en-US" dirty="0"/>
          </a:p>
        </p:txBody>
      </p:sp>
      <p:sp>
        <p:nvSpPr>
          <p:cNvPr id="9" name="Text 7"/>
          <p:cNvSpPr/>
          <p:nvPr/>
        </p:nvSpPr>
        <p:spPr>
          <a:xfrm>
            <a:off x="6095848" y="3030519"/>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Only pain medicine</a:t>
            </a:r>
            <a:endParaRPr lang="en-US" dirty="0"/>
          </a:p>
        </p:txBody>
      </p:sp>
      <p:sp>
        <p:nvSpPr>
          <p:cNvPr id="10" name="Shape 8"/>
          <p:cNvSpPr/>
          <p:nvPr/>
        </p:nvSpPr>
        <p:spPr>
          <a:xfrm>
            <a:off x="685800" y="4146087"/>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914400" y="4292391"/>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Q20. In Rwanda, gastric cancer is:</a:t>
            </a:r>
            <a:endParaRPr lang="en-US" sz="2000" dirty="0"/>
          </a:p>
        </p:txBody>
      </p:sp>
      <p:sp>
        <p:nvSpPr>
          <p:cNvPr id="12" name="Text 10"/>
          <p:cNvSpPr/>
          <p:nvPr/>
        </p:nvSpPr>
        <p:spPr>
          <a:xfrm>
            <a:off x="914400" y="471301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Not recorded</a:t>
            </a:r>
            <a:endParaRPr lang="en-US" dirty="0"/>
          </a:p>
        </p:txBody>
      </p:sp>
      <p:sp>
        <p:nvSpPr>
          <p:cNvPr id="13" name="Text 11"/>
          <p:cNvSpPr/>
          <p:nvPr/>
        </p:nvSpPr>
        <p:spPr>
          <a:xfrm>
            <a:off x="6095848" y="471301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Among the more common cancers and a notable cause of cancer death</a:t>
            </a:r>
            <a:endParaRPr lang="en-US" dirty="0"/>
          </a:p>
        </p:txBody>
      </p:sp>
      <p:sp>
        <p:nvSpPr>
          <p:cNvPr id="14" name="Text 12"/>
          <p:cNvSpPr/>
          <p:nvPr/>
        </p:nvSpPr>
        <p:spPr>
          <a:xfrm>
            <a:off x="914400" y="5042199"/>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Only found abroad</a:t>
            </a:r>
            <a:endParaRPr lang="en-US" dirty="0"/>
          </a:p>
        </p:txBody>
      </p:sp>
      <p:sp>
        <p:nvSpPr>
          <p:cNvPr id="15" name="Text 13"/>
          <p:cNvSpPr/>
          <p:nvPr/>
        </p:nvSpPr>
        <p:spPr>
          <a:xfrm>
            <a:off x="6095848" y="5042199"/>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Extremely rare</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7"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3D66"/>
        </a:solidFill>
        <a:effectLst/>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2518A"/>
          </a:solidFill>
          <a:ln/>
        </p:spPr>
        <p:txBody>
          <a:bodyPr/>
          <a:lstStyle/>
          <a:p>
            <a:endParaRPr lang="en-US" dirty="0"/>
          </a:p>
        </p:txBody>
      </p:sp>
      <p:sp>
        <p:nvSpPr>
          <p:cNvPr id="3" name="Shape 1"/>
          <p:cNvSpPr/>
          <p:nvPr/>
        </p:nvSpPr>
        <p:spPr>
          <a:xfrm>
            <a:off x="9784080" y="1737360"/>
            <a:ext cx="1371600" cy="1371600"/>
          </a:xfrm>
          <a:prstGeom prst="ellipse">
            <a:avLst/>
          </a:prstGeom>
          <a:solidFill>
            <a:srgbClr val="12857F"/>
          </a:solidFill>
          <a:ln/>
        </p:spPr>
        <p:txBody>
          <a:bodyPr/>
          <a:lstStyle/>
          <a:p>
            <a:endParaRPr lang="en-US" dirty="0"/>
          </a:p>
        </p:txBody>
      </p:sp>
      <p:sp>
        <p:nvSpPr>
          <p:cNvPr id="4" name="Text 2"/>
          <p:cNvSpPr/>
          <p:nvPr/>
        </p:nvSpPr>
        <p:spPr>
          <a:xfrm>
            <a:off x="9784080" y="1737360"/>
            <a:ext cx="1371600" cy="13716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5" name="Text 3"/>
          <p:cNvSpPr/>
          <p:nvPr/>
        </p:nvSpPr>
        <p:spPr>
          <a:xfrm>
            <a:off x="822960" y="2788920"/>
            <a:ext cx="7315200" cy="320040"/>
          </a:xfrm>
          <a:prstGeom prst="rect">
            <a:avLst/>
          </a:prstGeom>
          <a:noFill/>
          <a:ln/>
        </p:spPr>
        <p:txBody>
          <a:bodyPr wrap="square" lIns="0" tIns="0" rIns="0" bIns="0" rtlCol="0" anchor="ctr"/>
          <a:lstStyle/>
          <a:p>
            <a:pPr marL="0" indent="0">
              <a:buNone/>
            </a:pPr>
            <a:r>
              <a:rPr lang="en-US" sz="1300" b="1" kern="0" spc="200" dirty="0">
                <a:solidFill>
                  <a:srgbClr val="8FC7E8"/>
                </a:solidFill>
                <a:latin typeface="Calibri" pitchFamily="34" charset="0"/>
                <a:ea typeface="Calibri" pitchFamily="34" charset="-122"/>
                <a:cs typeface="Calibri" pitchFamily="34" charset="-120"/>
              </a:rPr>
              <a:t>SESSION 1</a:t>
            </a:r>
            <a:endParaRPr lang="en-US" sz="1300" dirty="0"/>
          </a:p>
        </p:txBody>
      </p:sp>
      <p:sp>
        <p:nvSpPr>
          <p:cNvPr id="6" name="Text 4"/>
          <p:cNvSpPr/>
          <p:nvPr/>
        </p:nvSpPr>
        <p:spPr>
          <a:xfrm>
            <a:off x="822960" y="3154680"/>
            <a:ext cx="84124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Understanding gastric cancer</a:t>
            </a:r>
            <a:endParaRPr lang="en-US" sz="3600" dirty="0"/>
          </a:p>
        </p:txBody>
      </p:sp>
      <p:sp>
        <p:nvSpPr>
          <p:cNvPr id="7" name="Text 5"/>
          <p:cNvSpPr/>
          <p:nvPr/>
        </p:nvSpPr>
        <p:spPr>
          <a:xfrm>
            <a:off x="822960" y="4114800"/>
            <a:ext cx="7863840" cy="822960"/>
          </a:xfrm>
          <a:prstGeom prst="rect">
            <a:avLst/>
          </a:prstGeom>
          <a:noFill/>
          <a:ln/>
        </p:spPr>
        <p:txBody>
          <a:bodyPr wrap="square" lIns="0" tIns="0" rIns="0" bIns="0" rtlCol="0" anchor="ctr"/>
          <a:lstStyle/>
          <a:p>
            <a:pPr marL="0" indent="0">
              <a:lnSpc>
                <a:spcPct val="110000"/>
              </a:lnSpc>
              <a:buNone/>
            </a:pPr>
            <a:r>
              <a:rPr lang="en-US" sz="1800" dirty="0">
                <a:solidFill>
                  <a:srgbClr val="D6E6F5"/>
                </a:solidFill>
                <a:latin typeface="Calibri" pitchFamily="34" charset="0"/>
                <a:ea typeface="Calibri" pitchFamily="34" charset="-122"/>
                <a:cs typeface="Calibri" pitchFamily="34" charset="-120"/>
              </a:rPr>
              <a:t>Build the foundation: what gastric cancer is, how common it is, and what stage and grade mean.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Learning objectives</a:t>
            </a:r>
            <a:endParaRPr lang="en-US" sz="3000" dirty="0"/>
          </a:p>
        </p:txBody>
      </p:sp>
      <p:sp>
        <p:nvSpPr>
          <p:cNvPr id="4" name="Shape 2"/>
          <p:cNvSpPr/>
          <p:nvPr/>
        </p:nvSpPr>
        <p:spPr>
          <a:xfrm>
            <a:off x="685800"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Describe</a:t>
            </a:r>
            <a:endParaRPr lang="en-US" sz="2000" dirty="0"/>
          </a:p>
        </p:txBody>
      </p:sp>
      <p:sp>
        <p:nvSpPr>
          <p:cNvPr id="6" name="Text 4"/>
          <p:cNvSpPr/>
          <p:nvPr/>
        </p:nvSpPr>
        <p:spPr>
          <a:xfrm>
            <a:off x="886968"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Describe what gastric cancer is and how it develops.</a:t>
            </a:r>
            <a:endParaRPr lang="en-US" dirty="0"/>
          </a:p>
        </p:txBody>
      </p:sp>
      <p:sp>
        <p:nvSpPr>
          <p:cNvPr id="7" name="Shape 5"/>
          <p:cNvSpPr/>
          <p:nvPr/>
        </p:nvSpPr>
        <p:spPr>
          <a:xfrm>
            <a:off x="4383938"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Interpret</a:t>
            </a:r>
            <a:endParaRPr lang="en-US" sz="2000" dirty="0"/>
          </a:p>
        </p:txBody>
      </p:sp>
      <p:sp>
        <p:nvSpPr>
          <p:cNvPr id="9" name="Text 7"/>
          <p:cNvSpPr/>
          <p:nvPr/>
        </p:nvSpPr>
        <p:spPr>
          <a:xfrm>
            <a:off x="4585106"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Interpret the global, regional, and Rwanda burden, with projections.</a:t>
            </a:r>
            <a:endParaRPr lang="en-US" dirty="0"/>
          </a:p>
        </p:txBody>
      </p:sp>
      <p:sp>
        <p:nvSpPr>
          <p:cNvPr id="10" name="Shape 8"/>
          <p:cNvSpPr/>
          <p:nvPr/>
        </p:nvSpPr>
        <p:spPr>
          <a:xfrm>
            <a:off x="8082077"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Explain anatomy</a:t>
            </a:r>
            <a:endParaRPr lang="en-US" sz="2000" dirty="0"/>
          </a:p>
        </p:txBody>
      </p:sp>
      <p:sp>
        <p:nvSpPr>
          <p:cNvPr id="12" name="Text 10"/>
          <p:cNvSpPr/>
          <p:nvPr/>
        </p:nvSpPr>
        <p:spPr>
          <a:xfrm>
            <a:off x="8283245"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stomach anatomy relevant to symptoms and investigations.</a:t>
            </a:r>
            <a:endParaRPr lang="en-US" dirty="0"/>
          </a:p>
        </p:txBody>
      </p:sp>
      <p:sp>
        <p:nvSpPr>
          <p:cNvPr id="13" name="Shape 11"/>
          <p:cNvSpPr/>
          <p:nvPr/>
        </p:nvSpPr>
        <p:spPr>
          <a:xfrm>
            <a:off x="685800"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Outline</a:t>
            </a:r>
            <a:endParaRPr lang="en-US" sz="2000" dirty="0"/>
          </a:p>
        </p:txBody>
      </p:sp>
      <p:sp>
        <p:nvSpPr>
          <p:cNvPr id="15" name="Text 13"/>
          <p:cNvSpPr/>
          <p:nvPr/>
        </p:nvSpPr>
        <p:spPr>
          <a:xfrm>
            <a:off x="886968"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Outline how gastric cancer develops through premalignant change.</a:t>
            </a:r>
            <a:endParaRPr lang="en-US" dirty="0"/>
          </a:p>
        </p:txBody>
      </p:sp>
      <p:sp>
        <p:nvSpPr>
          <p:cNvPr id="16" name="Shape 14"/>
          <p:cNvSpPr/>
          <p:nvPr/>
        </p:nvSpPr>
        <p:spPr>
          <a:xfrm>
            <a:off x="4383938"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Distinguish</a:t>
            </a:r>
            <a:endParaRPr lang="en-US" sz="2000" dirty="0"/>
          </a:p>
        </p:txBody>
      </p:sp>
      <p:sp>
        <p:nvSpPr>
          <p:cNvPr id="18" name="Text 16"/>
          <p:cNvSpPr/>
          <p:nvPr/>
        </p:nvSpPr>
        <p:spPr>
          <a:xfrm>
            <a:off x="4585106"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TNM and distinguish stage from grade.</a:t>
            </a:r>
            <a:endParaRPr lang="en-US" dirty="0"/>
          </a:p>
        </p:txBody>
      </p:sp>
      <p:sp>
        <p:nvSpPr>
          <p:cNvPr id="19" name="Shape 17"/>
          <p:cNvSpPr/>
          <p:nvPr/>
        </p:nvSpPr>
        <p:spPr>
          <a:xfrm>
            <a:off x="8082077"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20" name="Text 18"/>
          <p:cNvSpPr/>
          <p:nvPr/>
        </p:nvSpPr>
        <p:spPr>
          <a:xfrm>
            <a:off x="8283245"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Recognise conditions</a:t>
            </a:r>
            <a:endParaRPr lang="en-US" sz="2000" dirty="0"/>
          </a:p>
        </p:txBody>
      </p:sp>
      <p:sp>
        <p:nvSpPr>
          <p:cNvPr id="21" name="Text 19"/>
          <p:cNvSpPr/>
          <p:nvPr/>
        </p:nvSpPr>
        <p:spPr>
          <a:xfrm>
            <a:off x="8283245"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Recognise conditions that increase gastric-cancer risk.</a:t>
            </a:r>
            <a:endParaRPr lang="en-US" dirty="0"/>
          </a:p>
        </p:txBody>
      </p:sp>
      <p:sp>
        <p:nvSpPr>
          <p:cNvPr id="22" name="Text 2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What gastric cancer is</a:t>
            </a:r>
            <a:endParaRPr lang="en-US" sz="3000" dirty="0"/>
          </a:p>
        </p:txBody>
      </p:sp>
      <p:sp>
        <p:nvSpPr>
          <p:cNvPr id="4" name="Shape 2"/>
          <p:cNvSpPr/>
          <p:nvPr/>
        </p:nvSpPr>
        <p:spPr>
          <a:xfrm>
            <a:off x="685800" y="2011680"/>
            <a:ext cx="3423818" cy="3886200"/>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Where it starts</a:t>
            </a:r>
            <a:endParaRPr lang="en-US" sz="2000" dirty="0"/>
          </a:p>
        </p:txBody>
      </p:sp>
      <p:sp>
        <p:nvSpPr>
          <p:cNvPr id="6" name="Text 4"/>
          <p:cNvSpPr/>
          <p:nvPr/>
        </p:nvSpPr>
        <p:spPr>
          <a:xfrm>
            <a:off x="886968" y="2560320"/>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Is also named stomach cancer where it develops. Most are adenocarcinomas, arising from the </a:t>
            </a:r>
            <a:r>
              <a:rPr lang="en-US" dirty="0" err="1">
                <a:solidFill>
                  <a:srgbClr val="1F3B50"/>
                </a:solidFill>
                <a:latin typeface="Calibri" pitchFamily="34" charset="0"/>
                <a:ea typeface="Calibri" pitchFamily="34" charset="-122"/>
                <a:cs typeface="Calibri" pitchFamily="34" charset="-120"/>
              </a:rPr>
              <a:t>gastric's</a:t>
            </a:r>
            <a:r>
              <a:rPr lang="en-US" dirty="0">
                <a:solidFill>
                  <a:srgbClr val="1F3B50"/>
                </a:solidFill>
                <a:latin typeface="Calibri" pitchFamily="34" charset="0"/>
                <a:ea typeface="Calibri" pitchFamily="34" charset="-122"/>
                <a:cs typeface="Calibri" pitchFamily="34" charset="-120"/>
              </a:rPr>
              <a:t> glandular mucosa.</a:t>
            </a:r>
            <a:endParaRPr lang="en-US" dirty="0"/>
          </a:p>
        </p:txBody>
      </p:sp>
      <p:sp>
        <p:nvSpPr>
          <p:cNvPr id="7" name="Shape 5"/>
          <p:cNvSpPr/>
          <p:nvPr/>
        </p:nvSpPr>
        <p:spPr>
          <a:xfrm>
            <a:off x="4383938" y="2011680"/>
            <a:ext cx="3423818" cy="3886200"/>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How it develops</a:t>
            </a:r>
            <a:endParaRPr lang="en-US" sz="2000" dirty="0"/>
          </a:p>
        </p:txBody>
      </p:sp>
      <p:sp>
        <p:nvSpPr>
          <p:cNvPr id="9" name="Text 7"/>
          <p:cNvSpPr/>
          <p:nvPr/>
        </p:nvSpPr>
        <p:spPr>
          <a:xfrm>
            <a:off x="4585106" y="2560320"/>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In many patients it follows a long sequence of chronic mucosal injury and premalignant change before cancer appears.</a:t>
            </a:r>
            <a:endParaRPr lang="en-US" dirty="0"/>
          </a:p>
        </p:txBody>
      </p:sp>
      <p:sp>
        <p:nvSpPr>
          <p:cNvPr id="10" name="Shape 8"/>
          <p:cNvSpPr/>
          <p:nvPr/>
        </p:nvSpPr>
        <p:spPr>
          <a:xfrm>
            <a:off x="8082077" y="2011680"/>
            <a:ext cx="3423818" cy="3886200"/>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Why early action matters</a:t>
            </a:r>
            <a:endParaRPr lang="en-US" sz="2000" dirty="0"/>
          </a:p>
        </p:txBody>
      </p:sp>
      <p:sp>
        <p:nvSpPr>
          <p:cNvPr id="12" name="Text 10"/>
          <p:cNvSpPr/>
          <p:nvPr/>
        </p:nvSpPr>
        <p:spPr>
          <a:xfrm>
            <a:off x="8283245" y="2560320"/>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Early disease often causes few or non-specific symptoms. Prevention, risk recognition, and timely referral widen the options for care.</a:t>
            </a:r>
            <a:endParaRPr lang="en-US" dirty="0"/>
          </a:p>
        </p:txBody>
      </p:sp>
      <p:sp>
        <p:nvSpPr>
          <p:cNvPr id="13" name="Text 11"/>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4" name="Imagen 13">
            <a:extLst>
              <a:ext uri="{FF2B5EF4-FFF2-40B4-BE49-F238E27FC236}">
                <a16:creationId xmlns:a16="http://schemas.microsoft.com/office/drawing/2014/main" id="{8982F99E-7FAB-BCF1-C09A-907375328871}"/>
              </a:ext>
            </a:extLst>
          </p:cNvPr>
          <p:cNvPicPr>
            <a:picLocks noChangeAspect="1"/>
          </p:cNvPicPr>
          <p:nvPr/>
        </p:nvPicPr>
        <p:blipFill>
          <a:blip r:embed="rId3"/>
          <a:srcRect/>
          <a:stretch>
            <a:fillRect/>
          </a:stretch>
        </p:blipFill>
        <p:spPr>
          <a:xfrm>
            <a:off x="1318340" y="4014216"/>
            <a:ext cx="2102370" cy="1682496"/>
          </a:xfrm>
          <a:prstGeom prst="rect">
            <a:avLst/>
          </a:prstGeom>
        </p:spPr>
      </p:pic>
      <p:pic>
        <p:nvPicPr>
          <p:cNvPr id="15" name="Imagen 14">
            <a:extLst>
              <a:ext uri="{FF2B5EF4-FFF2-40B4-BE49-F238E27FC236}">
                <a16:creationId xmlns:a16="http://schemas.microsoft.com/office/drawing/2014/main" id="{DD007A14-E44E-2AC9-0755-F7284FA0A934}"/>
              </a:ext>
            </a:extLst>
          </p:cNvPr>
          <p:cNvPicPr>
            <a:picLocks noChangeAspect="1"/>
          </p:cNvPicPr>
          <p:nvPr/>
        </p:nvPicPr>
        <p:blipFill>
          <a:blip r:embed="rId4"/>
          <a:srcRect t="11098" b="11098"/>
          <a:stretch>
            <a:fillRect/>
          </a:stretch>
        </p:blipFill>
        <p:spPr>
          <a:xfrm>
            <a:off x="4850070" y="4069080"/>
            <a:ext cx="2491554" cy="1453895"/>
          </a:xfrm>
          <a:prstGeom prst="rect">
            <a:avLst/>
          </a:prstGeom>
        </p:spPr>
      </p:pic>
      <p:pic>
        <p:nvPicPr>
          <p:cNvPr id="16" name="Imagen 15">
            <a:extLst>
              <a:ext uri="{FF2B5EF4-FFF2-40B4-BE49-F238E27FC236}">
                <a16:creationId xmlns:a16="http://schemas.microsoft.com/office/drawing/2014/main" id="{EB047B41-6773-A115-B7D8-0BF26E102F82}"/>
              </a:ext>
            </a:extLst>
          </p:cNvPr>
          <p:cNvPicPr>
            <a:picLocks noChangeAspect="1"/>
          </p:cNvPicPr>
          <p:nvPr/>
        </p:nvPicPr>
        <p:blipFill>
          <a:blip r:embed="rId5"/>
          <a:srcRect r="25832" b="46471"/>
          <a:stretch>
            <a:fillRect/>
          </a:stretch>
        </p:blipFill>
        <p:spPr>
          <a:xfrm>
            <a:off x="8482693" y="4165091"/>
            <a:ext cx="2822130" cy="13578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How common it is worldwide</a:t>
            </a:r>
            <a:endParaRPr lang="en-US" sz="3000" dirty="0"/>
          </a:p>
        </p:txBody>
      </p:sp>
      <p:graphicFrame>
        <p:nvGraphicFramePr>
          <p:cNvPr id="4" name="Chart 0"/>
          <p:cNvGraphicFramePr/>
          <p:nvPr>
            <p:extLst>
              <p:ext uri="{D42A27DB-BD31-4B8C-83A1-F6EECF244321}">
                <p14:modId xmlns:p14="http://schemas.microsoft.com/office/powerpoint/2010/main" val="639716079"/>
              </p:ext>
            </p:extLst>
          </p:nvPr>
        </p:nvGraphicFramePr>
        <p:xfrm>
          <a:off x="685800" y="1965960"/>
          <a:ext cx="64008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60920" y="1965960"/>
            <a:ext cx="4160520" cy="1097280"/>
          </a:xfrm>
          <a:prstGeom prst="roundRect">
            <a:avLst>
              <a:gd name="adj" fmla="val 5000"/>
            </a:avLst>
          </a:prstGeom>
          <a:solidFill>
            <a:srgbClr val="0C3D66"/>
          </a:solidFill>
          <a:ln/>
        </p:spPr>
        <p:txBody>
          <a:bodyPr/>
          <a:lstStyle/>
          <a:p>
            <a:endParaRPr lang="en-US" dirty="0"/>
          </a:p>
        </p:txBody>
      </p:sp>
      <p:sp>
        <p:nvSpPr>
          <p:cNvPr id="6" name="Text 3"/>
          <p:cNvSpPr/>
          <p:nvPr/>
        </p:nvSpPr>
        <p:spPr>
          <a:xfrm>
            <a:off x="7562088" y="2112264"/>
            <a:ext cx="3758184" cy="54864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980,286</a:t>
            </a:r>
            <a:endParaRPr lang="en-US" sz="2400" dirty="0"/>
          </a:p>
        </p:txBody>
      </p:sp>
      <p:sp>
        <p:nvSpPr>
          <p:cNvPr id="7" name="Text 4"/>
          <p:cNvSpPr/>
          <p:nvPr/>
        </p:nvSpPr>
        <p:spPr>
          <a:xfrm>
            <a:off x="7562088" y="2697480"/>
            <a:ext cx="3758184" cy="27432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New cases worldwide, 2024</a:t>
            </a:r>
            <a:endParaRPr lang="en-US" dirty="0"/>
          </a:p>
        </p:txBody>
      </p:sp>
      <p:sp>
        <p:nvSpPr>
          <p:cNvPr id="8" name="Shape 5"/>
          <p:cNvSpPr/>
          <p:nvPr/>
        </p:nvSpPr>
        <p:spPr>
          <a:xfrm>
            <a:off x="7360920" y="3319272"/>
            <a:ext cx="4160520" cy="1097280"/>
          </a:xfrm>
          <a:prstGeom prst="roundRect">
            <a:avLst>
              <a:gd name="adj" fmla="val 5000"/>
            </a:avLst>
          </a:prstGeom>
          <a:solidFill>
            <a:srgbClr val="1C6FB1"/>
          </a:solidFill>
          <a:ln/>
        </p:spPr>
        <p:txBody>
          <a:bodyPr/>
          <a:lstStyle/>
          <a:p>
            <a:endParaRPr lang="en-US" dirty="0"/>
          </a:p>
        </p:txBody>
      </p:sp>
      <p:sp>
        <p:nvSpPr>
          <p:cNvPr id="9" name="Text 6"/>
          <p:cNvSpPr/>
          <p:nvPr/>
        </p:nvSpPr>
        <p:spPr>
          <a:xfrm>
            <a:off x="7562088" y="3465576"/>
            <a:ext cx="3758184" cy="54864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641,554</a:t>
            </a:r>
            <a:endParaRPr lang="en-US" sz="2400" dirty="0"/>
          </a:p>
        </p:txBody>
      </p:sp>
      <p:sp>
        <p:nvSpPr>
          <p:cNvPr id="10" name="Text 7"/>
          <p:cNvSpPr/>
          <p:nvPr/>
        </p:nvSpPr>
        <p:spPr>
          <a:xfrm>
            <a:off x="7562088" y="4050792"/>
            <a:ext cx="3758184" cy="27432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Deaths worldwide, 2024</a:t>
            </a:r>
            <a:endParaRPr lang="en-US" dirty="0"/>
          </a:p>
        </p:txBody>
      </p:sp>
      <p:sp>
        <p:nvSpPr>
          <p:cNvPr id="11" name="Shape 8"/>
          <p:cNvSpPr/>
          <p:nvPr/>
        </p:nvSpPr>
        <p:spPr>
          <a:xfrm>
            <a:off x="7360920" y="4672584"/>
            <a:ext cx="4160520" cy="1097280"/>
          </a:xfrm>
          <a:prstGeom prst="roundRect">
            <a:avLst>
              <a:gd name="adj" fmla="val 5000"/>
            </a:avLst>
          </a:prstGeom>
          <a:solidFill>
            <a:srgbClr val="12857F"/>
          </a:solidFill>
          <a:ln/>
        </p:spPr>
        <p:txBody>
          <a:bodyPr/>
          <a:lstStyle/>
          <a:p>
            <a:endParaRPr lang="en-US" dirty="0"/>
          </a:p>
        </p:txBody>
      </p:sp>
      <p:sp>
        <p:nvSpPr>
          <p:cNvPr id="12" name="Text 9"/>
          <p:cNvSpPr/>
          <p:nvPr/>
        </p:nvSpPr>
        <p:spPr>
          <a:xfrm>
            <a:off x="7562088" y="4818888"/>
            <a:ext cx="3758184" cy="54864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5th</a:t>
            </a:r>
            <a:endParaRPr lang="en-US" sz="2400" dirty="0"/>
          </a:p>
        </p:txBody>
      </p:sp>
      <p:sp>
        <p:nvSpPr>
          <p:cNvPr id="13" name="Text 10"/>
          <p:cNvSpPr/>
          <p:nvPr/>
        </p:nvSpPr>
        <p:spPr>
          <a:xfrm>
            <a:off x="7562088" y="5404104"/>
            <a:ext cx="3758184" cy="27432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Most common cancer worldwide</a:t>
            </a:r>
            <a:endParaRPr lang="en-US" dirty="0"/>
          </a:p>
        </p:txBody>
      </p:sp>
      <p:sp>
        <p:nvSpPr>
          <p:cNvPr id="14" name="Text 11"/>
          <p:cNvSpPr/>
          <p:nvPr/>
        </p:nvSpPr>
        <p:spPr>
          <a:xfrm>
            <a:off x="685800" y="5806440"/>
            <a:ext cx="6858000" cy="274320"/>
          </a:xfrm>
          <a:prstGeom prst="rect">
            <a:avLst/>
          </a:prstGeom>
          <a:noFill/>
          <a:ln/>
        </p:spPr>
        <p:txBody>
          <a:bodyPr wrap="square" lIns="0" tIns="0" rIns="0" bIns="0" rtlCol="0" anchor="ctr"/>
          <a:lstStyle/>
          <a:p>
            <a:pPr marL="0" indent="0">
              <a:buNone/>
            </a:pPr>
            <a:r>
              <a:rPr lang="en-US" sz="1050" i="1" dirty="0">
                <a:solidFill>
                  <a:srgbClr val="5B7085"/>
                </a:solidFill>
                <a:latin typeface="Calibri" pitchFamily="34" charset="0"/>
                <a:ea typeface="Calibri" pitchFamily="34" charset="-122"/>
                <a:cs typeface="Calibri" pitchFamily="34" charset="-120"/>
              </a:rPr>
              <a:t>Source: GLOBOCAN 2024 (IARC), Global Cancer Observatory, 2024 estimates version 1.0. Values are estimates.</a:t>
            </a:r>
            <a:endParaRPr lang="en-US" sz="1050" dirty="0"/>
          </a:p>
        </p:txBody>
      </p:sp>
      <p:sp>
        <p:nvSpPr>
          <p:cNvPr id="15" name="Text 12"/>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The burden in Africa</a:t>
            </a:r>
            <a:endParaRPr lang="en-US" sz="3000" dirty="0"/>
          </a:p>
        </p:txBody>
      </p:sp>
      <p:sp>
        <p:nvSpPr>
          <p:cNvPr id="4" name="Shape 2"/>
          <p:cNvSpPr/>
          <p:nvPr/>
        </p:nvSpPr>
        <p:spPr>
          <a:xfrm>
            <a:off x="685800" y="2255160"/>
            <a:ext cx="3423818" cy="2234973"/>
          </a:xfrm>
          <a:prstGeom prst="roundRect">
            <a:avLst>
              <a:gd name="adj" fmla="val 3429"/>
            </a:avLst>
          </a:prstGeom>
          <a:solidFill>
            <a:srgbClr val="0C3D66"/>
          </a:solidFill>
          <a:ln/>
        </p:spPr>
        <p:txBody>
          <a:bodyPr/>
          <a:lstStyle/>
          <a:p>
            <a:endParaRPr lang="en-US" sz="2800" dirty="0"/>
          </a:p>
        </p:txBody>
      </p:sp>
      <p:sp>
        <p:nvSpPr>
          <p:cNvPr id="5" name="Text 3"/>
          <p:cNvSpPr/>
          <p:nvPr/>
        </p:nvSpPr>
        <p:spPr>
          <a:xfrm>
            <a:off x="886968" y="2401465"/>
            <a:ext cx="3021482" cy="54864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33,234</a:t>
            </a:r>
            <a:endParaRPr lang="en-US" sz="3600" dirty="0"/>
          </a:p>
        </p:txBody>
      </p:sp>
      <p:sp>
        <p:nvSpPr>
          <p:cNvPr id="6" name="Text 4"/>
          <p:cNvSpPr/>
          <p:nvPr/>
        </p:nvSpPr>
        <p:spPr>
          <a:xfrm>
            <a:off x="886968" y="3146173"/>
            <a:ext cx="3021482" cy="77724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New gastric cancer cases in Africa, 2024 (3.4% of the global total)</a:t>
            </a:r>
            <a:endParaRPr lang="en-US" dirty="0"/>
          </a:p>
        </p:txBody>
      </p:sp>
      <p:sp>
        <p:nvSpPr>
          <p:cNvPr id="7" name="Shape 5"/>
          <p:cNvSpPr/>
          <p:nvPr/>
        </p:nvSpPr>
        <p:spPr>
          <a:xfrm>
            <a:off x="4383938" y="2255160"/>
            <a:ext cx="3423818" cy="2234973"/>
          </a:xfrm>
          <a:prstGeom prst="roundRect">
            <a:avLst>
              <a:gd name="adj" fmla="val 3429"/>
            </a:avLst>
          </a:prstGeom>
          <a:solidFill>
            <a:srgbClr val="1C6FB1"/>
          </a:solidFill>
          <a:ln/>
        </p:spPr>
        <p:txBody>
          <a:bodyPr/>
          <a:lstStyle/>
          <a:p>
            <a:endParaRPr lang="en-US" sz="2800" dirty="0"/>
          </a:p>
        </p:txBody>
      </p:sp>
      <p:sp>
        <p:nvSpPr>
          <p:cNvPr id="8" name="Text 6"/>
          <p:cNvSpPr/>
          <p:nvPr/>
        </p:nvSpPr>
        <p:spPr>
          <a:xfrm>
            <a:off x="4585106" y="2401465"/>
            <a:ext cx="3021482" cy="54864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26,218</a:t>
            </a:r>
            <a:endParaRPr lang="en-US" sz="3600" dirty="0"/>
          </a:p>
        </p:txBody>
      </p:sp>
      <p:sp>
        <p:nvSpPr>
          <p:cNvPr id="9" name="Text 7"/>
          <p:cNvSpPr/>
          <p:nvPr/>
        </p:nvSpPr>
        <p:spPr>
          <a:xfrm>
            <a:off x="4585106" y="3146173"/>
            <a:ext cx="3021482" cy="77724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Gastric cancer deaths in Africa, 2024 (4.1% of the global total)</a:t>
            </a:r>
            <a:endParaRPr lang="en-US" dirty="0"/>
          </a:p>
        </p:txBody>
      </p:sp>
      <p:sp>
        <p:nvSpPr>
          <p:cNvPr id="10" name="Shape 8"/>
          <p:cNvSpPr/>
          <p:nvPr/>
        </p:nvSpPr>
        <p:spPr>
          <a:xfrm>
            <a:off x="8082077" y="2255160"/>
            <a:ext cx="3423818" cy="2234973"/>
          </a:xfrm>
          <a:prstGeom prst="roundRect">
            <a:avLst>
              <a:gd name="adj" fmla="val 3429"/>
            </a:avLst>
          </a:prstGeom>
          <a:solidFill>
            <a:srgbClr val="12857F"/>
          </a:solidFill>
          <a:ln/>
        </p:spPr>
        <p:txBody>
          <a:bodyPr/>
          <a:lstStyle/>
          <a:p>
            <a:endParaRPr lang="en-US" dirty="0"/>
          </a:p>
        </p:txBody>
      </p:sp>
      <p:sp>
        <p:nvSpPr>
          <p:cNvPr id="11" name="Text 9"/>
          <p:cNvSpPr/>
          <p:nvPr/>
        </p:nvSpPr>
        <p:spPr>
          <a:xfrm>
            <a:off x="8283245" y="2401465"/>
            <a:ext cx="3021482" cy="54864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Eastern Africa</a:t>
            </a:r>
            <a:endParaRPr lang="en-US" sz="3200" dirty="0"/>
          </a:p>
        </p:txBody>
      </p:sp>
      <p:sp>
        <p:nvSpPr>
          <p:cNvPr id="12" name="Text 10"/>
          <p:cNvSpPr/>
          <p:nvPr/>
        </p:nvSpPr>
        <p:spPr>
          <a:xfrm>
            <a:off x="8283245" y="3146173"/>
            <a:ext cx="3021482" cy="77724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The African sub-region with the highest gastric cancer incidence rates</a:t>
            </a:r>
            <a:endParaRPr lang="en-US" dirty="0"/>
          </a:p>
        </p:txBody>
      </p:sp>
      <p:sp>
        <p:nvSpPr>
          <p:cNvPr id="13" name="Text 11"/>
          <p:cNvSpPr/>
          <p:nvPr/>
        </p:nvSpPr>
        <p:spPr>
          <a:xfrm>
            <a:off x="685800" y="4670891"/>
            <a:ext cx="10820095" cy="914400"/>
          </a:xfrm>
          <a:prstGeom prst="rect">
            <a:avLst/>
          </a:prstGeom>
          <a:noFill/>
          <a:ln/>
        </p:spPr>
        <p:txBody>
          <a:bodyPr wrap="square" lIns="0" tIns="0" rIns="0" bIns="0" rtlCol="0" anchor="ctr"/>
          <a:lstStyle/>
          <a:p>
            <a:pPr marL="0" indent="0">
              <a:lnSpc>
                <a:spcPct val="115000"/>
              </a:lnSpc>
              <a:buNone/>
            </a:pPr>
            <a:r>
              <a:rPr lang="en-US" dirty="0">
                <a:solidFill>
                  <a:srgbClr val="1F3B50"/>
                </a:solidFill>
                <a:latin typeface="Calibri" pitchFamily="34" charset="0"/>
                <a:ea typeface="Calibri" pitchFamily="34" charset="-122"/>
                <a:cs typeface="Calibri" pitchFamily="34" charset="-120"/>
              </a:rPr>
              <a:t>Incidence is high in Eastern Africa relative to other African sub-regions, which makes it the closest compatible comparison for Rwanda. Counts are lower than in Asia or Europe, but mortality is proportionally high because many cases present late.</a:t>
            </a:r>
            <a:endParaRPr lang="en-US" dirty="0"/>
          </a:p>
        </p:txBody>
      </p:sp>
      <p:sp>
        <p:nvSpPr>
          <p:cNvPr id="14" name="Text 12"/>
          <p:cNvSpPr/>
          <p:nvPr/>
        </p:nvSpPr>
        <p:spPr>
          <a:xfrm>
            <a:off x="685800" y="5806440"/>
            <a:ext cx="10820095" cy="274320"/>
          </a:xfrm>
          <a:prstGeom prst="rect">
            <a:avLst/>
          </a:prstGeom>
          <a:noFill/>
          <a:ln/>
        </p:spPr>
        <p:txBody>
          <a:bodyPr wrap="square" lIns="0" tIns="0" rIns="0" bIns="0" rtlCol="0" anchor="ctr"/>
          <a:lstStyle/>
          <a:p>
            <a:pPr marL="0" indent="0">
              <a:buNone/>
            </a:pPr>
            <a:r>
              <a:rPr lang="en-US" sz="1050" i="1" dirty="0">
                <a:solidFill>
                  <a:srgbClr val="5B7085"/>
                </a:solidFill>
                <a:latin typeface="Calibri" pitchFamily="34" charset="0"/>
                <a:ea typeface="Calibri" pitchFamily="34" charset="-122"/>
                <a:cs typeface="Calibri" pitchFamily="34" charset="-120"/>
              </a:rPr>
              <a:t>Source: GLOBOCAN 2024 (IARC), Global Cancer Observatory, 2024 estimates version 1.0. Values are estimates.</a:t>
            </a:r>
            <a:endParaRPr lang="en-US" sz="1050"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Gastric cancer in Rwanda</a:t>
            </a:r>
            <a:endParaRPr lang="en-US" sz="3000" dirty="0"/>
          </a:p>
        </p:txBody>
      </p:sp>
      <p:graphicFrame>
        <p:nvGraphicFramePr>
          <p:cNvPr id="4" name="Chart 0"/>
          <p:cNvGraphicFramePr/>
          <p:nvPr>
            <p:extLst>
              <p:ext uri="{D42A27DB-BD31-4B8C-83A1-F6EECF244321}">
                <p14:modId xmlns:p14="http://schemas.microsoft.com/office/powerpoint/2010/main" val="1692825156"/>
              </p:ext>
            </p:extLst>
          </p:nvPr>
        </p:nvGraphicFramePr>
        <p:xfrm>
          <a:off x="685800" y="2011680"/>
          <a:ext cx="61264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86600" y="1724596"/>
            <a:ext cx="4434840" cy="1308871"/>
          </a:xfrm>
          <a:prstGeom prst="roundRect">
            <a:avLst>
              <a:gd name="adj" fmla="val 5000"/>
            </a:avLst>
          </a:prstGeom>
          <a:solidFill>
            <a:srgbClr val="0C3D66"/>
          </a:solidFill>
          <a:ln/>
        </p:spPr>
        <p:txBody>
          <a:bodyPr/>
          <a:lstStyle/>
          <a:p>
            <a:endParaRPr lang="en-US" dirty="0"/>
          </a:p>
        </p:txBody>
      </p:sp>
      <p:sp>
        <p:nvSpPr>
          <p:cNvPr id="6" name="Text 3"/>
          <p:cNvSpPr/>
          <p:nvPr/>
        </p:nvSpPr>
        <p:spPr>
          <a:xfrm>
            <a:off x="7287768" y="1807103"/>
            <a:ext cx="4032504" cy="54864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895</a:t>
            </a:r>
            <a:endParaRPr lang="en-US" sz="2600" dirty="0"/>
          </a:p>
        </p:txBody>
      </p:sp>
      <p:sp>
        <p:nvSpPr>
          <p:cNvPr id="7" name="Text 4"/>
          <p:cNvSpPr/>
          <p:nvPr/>
        </p:nvSpPr>
        <p:spPr>
          <a:xfrm>
            <a:off x="7287768" y="2392319"/>
            <a:ext cx="4032504" cy="27432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Estimated new gastric cancer cases in Rwanda, 2024</a:t>
            </a:r>
            <a:endParaRPr lang="en-US" dirty="0"/>
          </a:p>
        </p:txBody>
      </p:sp>
      <p:sp>
        <p:nvSpPr>
          <p:cNvPr id="8" name="Shape 5"/>
          <p:cNvSpPr/>
          <p:nvPr/>
        </p:nvSpPr>
        <p:spPr>
          <a:xfrm>
            <a:off x="7086600" y="3124907"/>
            <a:ext cx="4434840" cy="1308871"/>
          </a:xfrm>
          <a:prstGeom prst="roundRect">
            <a:avLst>
              <a:gd name="adj" fmla="val 5000"/>
            </a:avLst>
          </a:prstGeom>
          <a:solidFill>
            <a:srgbClr val="1C6FB1"/>
          </a:solidFill>
          <a:ln/>
        </p:spPr>
        <p:txBody>
          <a:bodyPr/>
          <a:lstStyle/>
          <a:p>
            <a:endParaRPr lang="en-US" dirty="0"/>
          </a:p>
        </p:txBody>
      </p:sp>
      <p:sp>
        <p:nvSpPr>
          <p:cNvPr id="9" name="Text 6"/>
          <p:cNvSpPr/>
          <p:nvPr/>
        </p:nvSpPr>
        <p:spPr>
          <a:xfrm>
            <a:off x="7287768" y="3207414"/>
            <a:ext cx="4032504" cy="54864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728</a:t>
            </a:r>
            <a:endParaRPr lang="en-US" sz="2600" dirty="0"/>
          </a:p>
        </p:txBody>
      </p:sp>
      <p:sp>
        <p:nvSpPr>
          <p:cNvPr id="10" name="Text 7"/>
          <p:cNvSpPr/>
          <p:nvPr/>
        </p:nvSpPr>
        <p:spPr>
          <a:xfrm>
            <a:off x="7287768" y="3792630"/>
            <a:ext cx="4032504" cy="27432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Estimated gastric cancer deaths in Rwanda, 2024</a:t>
            </a:r>
            <a:endParaRPr lang="en-US" dirty="0"/>
          </a:p>
        </p:txBody>
      </p:sp>
      <p:sp>
        <p:nvSpPr>
          <p:cNvPr id="11" name="Shape 8"/>
          <p:cNvSpPr/>
          <p:nvPr/>
        </p:nvSpPr>
        <p:spPr>
          <a:xfrm>
            <a:off x="7086600" y="4514586"/>
            <a:ext cx="4434840" cy="1291854"/>
          </a:xfrm>
          <a:prstGeom prst="roundRect">
            <a:avLst>
              <a:gd name="adj" fmla="val 5000"/>
            </a:avLst>
          </a:prstGeom>
          <a:solidFill>
            <a:srgbClr val="12857F"/>
          </a:solidFill>
          <a:ln/>
        </p:spPr>
        <p:txBody>
          <a:bodyPr/>
          <a:lstStyle/>
          <a:p>
            <a:endParaRPr lang="en-US" dirty="0"/>
          </a:p>
        </p:txBody>
      </p:sp>
      <p:sp>
        <p:nvSpPr>
          <p:cNvPr id="12" name="Text 9"/>
          <p:cNvSpPr/>
          <p:nvPr/>
        </p:nvSpPr>
        <p:spPr>
          <a:xfrm>
            <a:off x="7287768" y="4597092"/>
            <a:ext cx="4032504" cy="54864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5th</a:t>
            </a:r>
            <a:endParaRPr lang="en-US" sz="2600" dirty="0"/>
          </a:p>
        </p:txBody>
      </p:sp>
      <p:sp>
        <p:nvSpPr>
          <p:cNvPr id="13" name="Text 10"/>
          <p:cNvSpPr/>
          <p:nvPr/>
        </p:nvSpPr>
        <p:spPr>
          <a:xfrm>
            <a:off x="7287768" y="5182308"/>
            <a:ext cx="4032504" cy="27432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Most common cancer overall; 4th leading cause of cancer death</a:t>
            </a:r>
            <a:endParaRPr lang="en-US" dirty="0"/>
          </a:p>
        </p:txBody>
      </p:sp>
      <p:sp>
        <p:nvSpPr>
          <p:cNvPr id="14" name="Text 11"/>
          <p:cNvSpPr/>
          <p:nvPr/>
        </p:nvSpPr>
        <p:spPr>
          <a:xfrm>
            <a:off x="685800" y="5806440"/>
            <a:ext cx="10820095" cy="274320"/>
          </a:xfrm>
          <a:prstGeom prst="rect">
            <a:avLst/>
          </a:prstGeom>
          <a:noFill/>
          <a:ln/>
        </p:spPr>
        <p:txBody>
          <a:bodyPr wrap="square" lIns="0" tIns="0" rIns="0" bIns="0" rtlCol="0" anchor="ctr"/>
          <a:lstStyle/>
          <a:p>
            <a:pPr marL="0" indent="0">
              <a:buNone/>
            </a:pPr>
            <a:r>
              <a:rPr lang="en-US" sz="1050" i="1" dirty="0">
                <a:solidFill>
                  <a:srgbClr val="5B7085"/>
                </a:solidFill>
                <a:latin typeface="Calibri" pitchFamily="34" charset="0"/>
                <a:ea typeface="Calibri" pitchFamily="34" charset="-122"/>
                <a:cs typeface="Calibri" pitchFamily="34" charset="-120"/>
              </a:rPr>
              <a:t>Source: GLOBOCAN 2024 (IARC), Rwanda fact sheet, 2024 estimates version 1.0. Values are estimates, not registry-confirmed counts.</a:t>
            </a:r>
            <a:endParaRPr lang="en-US" sz="1050" dirty="0"/>
          </a:p>
        </p:txBody>
      </p:sp>
      <p:sp>
        <p:nvSpPr>
          <p:cNvPr id="15" name="Text 12"/>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The burden is projected to rise</a:t>
            </a:r>
            <a:endParaRPr lang="en-US" sz="3000" dirty="0"/>
          </a:p>
        </p:txBody>
      </p:sp>
      <p:sp>
        <p:nvSpPr>
          <p:cNvPr id="4" name="Shape 2"/>
          <p:cNvSpPr/>
          <p:nvPr/>
        </p:nvSpPr>
        <p:spPr>
          <a:xfrm>
            <a:off x="685800" y="2103120"/>
            <a:ext cx="3423818" cy="2331720"/>
          </a:xfrm>
          <a:prstGeom prst="roundRect">
            <a:avLst>
              <a:gd name="adj" fmla="val 3333"/>
            </a:avLst>
          </a:prstGeom>
          <a:solidFill>
            <a:srgbClr val="0C3D66"/>
          </a:solidFill>
          <a:ln/>
        </p:spPr>
        <p:txBody>
          <a:bodyPr/>
          <a:lstStyle/>
          <a:p>
            <a:endParaRPr lang="en-US" sz="2800" dirty="0"/>
          </a:p>
        </p:txBody>
      </p:sp>
      <p:sp>
        <p:nvSpPr>
          <p:cNvPr id="5" name="Text 3"/>
          <p:cNvSpPr/>
          <p:nvPr/>
        </p:nvSpPr>
        <p:spPr>
          <a:xfrm>
            <a:off x="886968" y="2377016"/>
            <a:ext cx="3021482" cy="54864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 Rising</a:t>
            </a:r>
            <a:endParaRPr lang="en-US" sz="2400" dirty="0"/>
          </a:p>
        </p:txBody>
      </p:sp>
      <p:sp>
        <p:nvSpPr>
          <p:cNvPr id="6" name="Text 4"/>
          <p:cNvSpPr/>
          <p:nvPr/>
        </p:nvSpPr>
        <p:spPr>
          <a:xfrm>
            <a:off x="886968" y="2962232"/>
            <a:ext cx="3021482" cy="82296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Cancer cases in low- and medium-development countries are projected to rise steeply to 2050</a:t>
            </a:r>
            <a:endParaRPr lang="en-US" dirty="0"/>
          </a:p>
        </p:txBody>
      </p:sp>
      <p:sp>
        <p:nvSpPr>
          <p:cNvPr id="7" name="Shape 5"/>
          <p:cNvSpPr/>
          <p:nvPr/>
        </p:nvSpPr>
        <p:spPr>
          <a:xfrm>
            <a:off x="4383938" y="2103120"/>
            <a:ext cx="3423818" cy="2331720"/>
          </a:xfrm>
          <a:prstGeom prst="roundRect">
            <a:avLst>
              <a:gd name="adj" fmla="val 3333"/>
            </a:avLst>
          </a:prstGeom>
          <a:solidFill>
            <a:srgbClr val="1C6FB1"/>
          </a:solidFill>
          <a:ln/>
        </p:spPr>
        <p:txBody>
          <a:bodyPr/>
          <a:lstStyle/>
          <a:p>
            <a:endParaRPr lang="en-US" sz="2800" dirty="0"/>
          </a:p>
        </p:txBody>
      </p:sp>
      <p:sp>
        <p:nvSpPr>
          <p:cNvPr id="8" name="Text 6"/>
          <p:cNvSpPr/>
          <p:nvPr/>
        </p:nvSpPr>
        <p:spPr>
          <a:xfrm>
            <a:off x="4585106" y="2377016"/>
            <a:ext cx="3021482" cy="54864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Ageing + growth</a:t>
            </a:r>
            <a:endParaRPr lang="en-US" sz="2400" dirty="0"/>
          </a:p>
        </p:txBody>
      </p:sp>
      <p:sp>
        <p:nvSpPr>
          <p:cNvPr id="9" name="Text 7"/>
          <p:cNvSpPr/>
          <p:nvPr/>
        </p:nvSpPr>
        <p:spPr>
          <a:xfrm>
            <a:off x="4585106" y="2962232"/>
            <a:ext cx="3021482" cy="82296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Population ageing and growth drive most of the projected increase</a:t>
            </a:r>
            <a:endParaRPr lang="en-US" dirty="0"/>
          </a:p>
        </p:txBody>
      </p:sp>
      <p:sp>
        <p:nvSpPr>
          <p:cNvPr id="10" name="Shape 8"/>
          <p:cNvSpPr/>
          <p:nvPr/>
        </p:nvSpPr>
        <p:spPr>
          <a:xfrm>
            <a:off x="8082077" y="2103120"/>
            <a:ext cx="3423818" cy="2331720"/>
          </a:xfrm>
          <a:prstGeom prst="roundRect">
            <a:avLst>
              <a:gd name="adj" fmla="val 3333"/>
            </a:avLst>
          </a:prstGeom>
          <a:solidFill>
            <a:srgbClr val="12857F"/>
          </a:solidFill>
          <a:ln/>
        </p:spPr>
        <p:txBody>
          <a:bodyPr/>
          <a:lstStyle/>
          <a:p>
            <a:endParaRPr lang="en-US" sz="2800" dirty="0"/>
          </a:p>
        </p:txBody>
      </p:sp>
      <p:sp>
        <p:nvSpPr>
          <p:cNvPr id="11" name="Text 9"/>
          <p:cNvSpPr/>
          <p:nvPr/>
        </p:nvSpPr>
        <p:spPr>
          <a:xfrm>
            <a:off x="8283245" y="2377016"/>
            <a:ext cx="3021482" cy="54864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Preventable share</a:t>
            </a:r>
            <a:endParaRPr lang="en-US" sz="2400" dirty="0"/>
          </a:p>
        </p:txBody>
      </p:sp>
      <p:sp>
        <p:nvSpPr>
          <p:cNvPr id="12" name="Text 10"/>
          <p:cNvSpPr/>
          <p:nvPr/>
        </p:nvSpPr>
        <p:spPr>
          <a:xfrm>
            <a:off x="8283245" y="2962232"/>
            <a:ext cx="3021482" cy="822960"/>
          </a:xfrm>
          <a:prstGeom prst="rect">
            <a:avLst/>
          </a:prstGeom>
          <a:noFill/>
          <a:ln/>
        </p:spPr>
        <p:txBody>
          <a:bodyPr wrap="square" lIns="0" tIns="0" rIns="0" bIns="0" rtlCol="0" anchor="t"/>
          <a:lstStyle/>
          <a:p>
            <a:pPr marL="0" indent="0">
              <a:lnSpc>
                <a:spcPct val="100000"/>
              </a:lnSpc>
              <a:buNone/>
            </a:pPr>
            <a:r>
              <a:rPr lang="en-US" dirty="0">
                <a:solidFill>
                  <a:srgbClr val="FFFFFF"/>
                </a:solidFill>
                <a:latin typeface="Calibri" pitchFamily="34" charset="0"/>
                <a:ea typeface="Calibri" pitchFamily="34" charset="-122"/>
                <a:cs typeface="Calibri" pitchFamily="34" charset="-120"/>
              </a:rPr>
              <a:t>A large proportion of future gastric cancers are attributable to </a:t>
            </a:r>
            <a:r>
              <a:rPr lang="en-US" i="1" dirty="0">
                <a:solidFill>
                  <a:srgbClr val="FFFFFF"/>
                </a:solidFill>
                <a:latin typeface="Calibri" pitchFamily="34" charset="0"/>
                <a:ea typeface="Calibri" pitchFamily="34" charset="-122"/>
                <a:cs typeface="Calibri" pitchFamily="34" charset="-120"/>
              </a:rPr>
              <a:t>H. pylori</a:t>
            </a:r>
            <a:r>
              <a:rPr lang="en-US" dirty="0">
                <a:solidFill>
                  <a:srgbClr val="FFFFFF"/>
                </a:solidFill>
                <a:latin typeface="Calibri" pitchFamily="34" charset="0"/>
                <a:ea typeface="Calibri" pitchFamily="34" charset="-122"/>
                <a:cs typeface="Calibri" pitchFamily="34" charset="-120"/>
              </a:rPr>
              <a:t> and are preventable</a:t>
            </a:r>
            <a:endParaRPr lang="en-US" dirty="0"/>
          </a:p>
        </p:txBody>
      </p:sp>
      <p:sp>
        <p:nvSpPr>
          <p:cNvPr id="13" name="Text 11"/>
          <p:cNvSpPr/>
          <p:nvPr/>
        </p:nvSpPr>
        <p:spPr>
          <a:xfrm>
            <a:off x="685800" y="4937760"/>
            <a:ext cx="10820095" cy="914400"/>
          </a:xfrm>
          <a:prstGeom prst="rect">
            <a:avLst/>
          </a:prstGeom>
          <a:noFill/>
          <a:ln/>
        </p:spPr>
        <p:txBody>
          <a:bodyPr wrap="square" lIns="0" tIns="0" rIns="0" bIns="0" rtlCol="0" anchor="ctr"/>
          <a:lstStyle/>
          <a:p>
            <a:pPr marL="0" indent="0">
              <a:lnSpc>
                <a:spcPct val="115000"/>
              </a:lnSpc>
              <a:buNone/>
            </a:pPr>
            <a:r>
              <a:rPr lang="en-US" dirty="0">
                <a:solidFill>
                  <a:srgbClr val="1F3B50"/>
                </a:solidFill>
                <a:latin typeface="Calibri" pitchFamily="34" charset="0"/>
                <a:ea typeface="Calibri" pitchFamily="34" charset="-122"/>
                <a:cs typeface="Calibri" pitchFamily="34" charset="-120"/>
              </a:rPr>
              <a:t>If current demographic patterns continue, the number of gastric cancers in Rwanda is expected to increase over the coming decades. These are projections, not guaranteed outcomes. Prevention through </a:t>
            </a:r>
            <a:r>
              <a:rPr lang="en-US" i="1" dirty="0">
                <a:solidFill>
                  <a:srgbClr val="1F3B50"/>
                </a:solidFill>
                <a:latin typeface="Calibri" pitchFamily="34" charset="0"/>
                <a:ea typeface="Calibri" pitchFamily="34" charset="-122"/>
                <a:cs typeface="Calibri" pitchFamily="34" charset="-120"/>
              </a:rPr>
              <a:t>H. pylori</a:t>
            </a:r>
            <a:r>
              <a:rPr lang="en-US" dirty="0">
                <a:solidFill>
                  <a:srgbClr val="1F3B50"/>
                </a:solidFill>
                <a:latin typeface="Calibri" pitchFamily="34" charset="0"/>
                <a:ea typeface="Calibri" pitchFamily="34" charset="-122"/>
                <a:cs typeface="Calibri" pitchFamily="34" charset="-120"/>
              </a:rPr>
              <a:t> control and earlier detection can change the trajectory.</a:t>
            </a:r>
            <a:endParaRPr lang="en-US"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174043"/>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Stomach anatomy</a:t>
            </a:r>
            <a:endParaRPr lang="en-US" sz="3000" dirty="0"/>
          </a:p>
        </p:txBody>
      </p:sp>
      <p:sp>
        <p:nvSpPr>
          <p:cNvPr id="4" name="Shape 2"/>
          <p:cNvSpPr/>
          <p:nvPr/>
        </p:nvSpPr>
        <p:spPr>
          <a:xfrm>
            <a:off x="685800" y="1719072"/>
            <a:ext cx="3423818" cy="1481328"/>
          </a:xfrm>
          <a:prstGeom prst="roundRect">
            <a:avLst>
              <a:gd name="adj" fmla="val 5161"/>
            </a:avLst>
          </a:prstGeom>
          <a:solidFill>
            <a:srgbClr val="EBF3FC"/>
          </a:solidFill>
          <a:ln w="12700">
            <a:solidFill>
              <a:srgbClr val="D3E4F5"/>
            </a:solidFill>
            <a:prstDash val="solid"/>
          </a:ln>
        </p:spPr>
        <p:txBody>
          <a:bodyPr/>
          <a:lstStyle/>
          <a:p>
            <a:endParaRPr lang="en-US" sz="2000" dirty="0"/>
          </a:p>
        </p:txBody>
      </p:sp>
      <p:sp>
        <p:nvSpPr>
          <p:cNvPr id="5" name="Text 3"/>
          <p:cNvSpPr/>
          <p:nvPr/>
        </p:nvSpPr>
        <p:spPr>
          <a:xfrm>
            <a:off x="886968" y="1892160"/>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Position</a:t>
            </a:r>
            <a:endParaRPr lang="en-US" sz="1600" dirty="0"/>
          </a:p>
        </p:txBody>
      </p:sp>
      <p:sp>
        <p:nvSpPr>
          <p:cNvPr id="6" name="Text 4"/>
          <p:cNvSpPr/>
          <p:nvPr/>
        </p:nvSpPr>
        <p:spPr>
          <a:xfrm>
            <a:off x="886968" y="2295144"/>
            <a:ext cx="3021482" cy="777240"/>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Between the oesophagus above and the duodenum below, in the upper abdomen.</a:t>
            </a:r>
            <a:endParaRPr lang="en-US" sz="1400" dirty="0"/>
          </a:p>
        </p:txBody>
      </p:sp>
      <p:sp>
        <p:nvSpPr>
          <p:cNvPr id="7" name="Shape 5"/>
          <p:cNvSpPr/>
          <p:nvPr/>
        </p:nvSpPr>
        <p:spPr>
          <a:xfrm>
            <a:off x="685800" y="3255264"/>
            <a:ext cx="3423818" cy="1481328"/>
          </a:xfrm>
          <a:prstGeom prst="roundRect">
            <a:avLst>
              <a:gd name="adj" fmla="val 5161"/>
            </a:avLst>
          </a:prstGeom>
          <a:solidFill>
            <a:srgbClr val="EBF3FC"/>
          </a:solidFill>
          <a:ln w="12700">
            <a:solidFill>
              <a:srgbClr val="D3E4F5"/>
            </a:solidFill>
            <a:prstDash val="solid"/>
          </a:ln>
        </p:spPr>
        <p:txBody>
          <a:bodyPr/>
          <a:lstStyle/>
          <a:p>
            <a:endParaRPr lang="en-US" sz="2000" dirty="0"/>
          </a:p>
        </p:txBody>
      </p:sp>
      <p:sp>
        <p:nvSpPr>
          <p:cNvPr id="8" name="Text 6"/>
          <p:cNvSpPr/>
          <p:nvPr/>
        </p:nvSpPr>
        <p:spPr>
          <a:xfrm>
            <a:off x="886968" y="3428352"/>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Regions</a:t>
            </a:r>
            <a:endParaRPr lang="en-US" sz="1600" dirty="0"/>
          </a:p>
        </p:txBody>
      </p:sp>
      <p:sp>
        <p:nvSpPr>
          <p:cNvPr id="9" name="Text 7"/>
          <p:cNvSpPr/>
          <p:nvPr/>
        </p:nvSpPr>
        <p:spPr>
          <a:xfrm>
            <a:off x="886968" y="3831336"/>
            <a:ext cx="3021482" cy="777240"/>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Cardia, fundus, body, antrum, and pylorus. Tumor location can influence symptoms.</a:t>
            </a:r>
            <a:endParaRPr lang="en-US" sz="1400" dirty="0"/>
          </a:p>
        </p:txBody>
      </p:sp>
      <p:sp>
        <p:nvSpPr>
          <p:cNvPr id="10" name="Shape 8"/>
          <p:cNvSpPr/>
          <p:nvPr/>
        </p:nvSpPr>
        <p:spPr>
          <a:xfrm>
            <a:off x="685800" y="4791456"/>
            <a:ext cx="3423818" cy="1481328"/>
          </a:xfrm>
          <a:prstGeom prst="roundRect">
            <a:avLst>
              <a:gd name="adj" fmla="val 5161"/>
            </a:avLst>
          </a:prstGeom>
          <a:solidFill>
            <a:srgbClr val="EBF3FC"/>
          </a:solidFill>
          <a:ln w="12700">
            <a:solidFill>
              <a:srgbClr val="D3E4F5"/>
            </a:solidFill>
            <a:prstDash val="solid"/>
          </a:ln>
        </p:spPr>
        <p:txBody>
          <a:bodyPr/>
          <a:lstStyle/>
          <a:p>
            <a:endParaRPr lang="en-US" dirty="0"/>
          </a:p>
        </p:txBody>
      </p:sp>
      <p:sp>
        <p:nvSpPr>
          <p:cNvPr id="11" name="Text 9"/>
          <p:cNvSpPr/>
          <p:nvPr/>
        </p:nvSpPr>
        <p:spPr>
          <a:xfrm>
            <a:off x="886968" y="496454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Wall and lining</a:t>
            </a:r>
            <a:endParaRPr lang="en-US" sz="1600" dirty="0"/>
          </a:p>
        </p:txBody>
      </p:sp>
      <p:sp>
        <p:nvSpPr>
          <p:cNvPr id="12" name="Text 10"/>
          <p:cNvSpPr/>
          <p:nvPr/>
        </p:nvSpPr>
        <p:spPr>
          <a:xfrm>
            <a:off x="886968" y="5367528"/>
            <a:ext cx="3021482" cy="777240"/>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Most cancers begin in the inner mucosa and can grow through the deeper layers.</a:t>
            </a:r>
            <a:endParaRPr lang="en-US" sz="1400"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26" name="Imagen 25">
            <a:extLst>
              <a:ext uri="{FF2B5EF4-FFF2-40B4-BE49-F238E27FC236}">
                <a16:creationId xmlns:a16="http://schemas.microsoft.com/office/drawing/2014/main" id="{7E77CA80-A9E6-E70D-BE37-3832C44CD05F}"/>
              </a:ext>
            </a:extLst>
          </p:cNvPr>
          <p:cNvPicPr>
            <a:picLocks noChangeAspect="1"/>
          </p:cNvPicPr>
          <p:nvPr/>
        </p:nvPicPr>
        <p:blipFill>
          <a:blip r:embed="rId3"/>
          <a:stretch>
            <a:fillRect/>
          </a:stretch>
        </p:blipFill>
        <p:spPr>
          <a:xfrm>
            <a:off x="4109618" y="1815837"/>
            <a:ext cx="7902166" cy="432893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How gastric cancer develops</a:t>
            </a:r>
            <a:endParaRPr lang="en-US" sz="3000" dirty="0"/>
          </a:p>
        </p:txBody>
      </p:sp>
      <p:sp>
        <p:nvSpPr>
          <p:cNvPr id="4" name="Text 2"/>
          <p:cNvSpPr/>
          <p:nvPr/>
        </p:nvSpPr>
        <p:spPr>
          <a:xfrm>
            <a:off x="685800" y="1874519"/>
            <a:ext cx="10820095" cy="384048"/>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Select each stage to reveal what is happening.</a:t>
            </a:r>
            <a:endParaRPr lang="en-US" sz="1250" dirty="0"/>
          </a:p>
        </p:txBody>
      </p:sp>
      <p:sp>
        <p:nvSpPr>
          <p:cNvPr id="5" name="Shape 3"/>
          <p:cNvSpPr/>
          <p:nvPr/>
        </p:nvSpPr>
        <p:spPr>
          <a:xfrm>
            <a:off x="685800" y="2468880"/>
            <a:ext cx="1981139" cy="3044952"/>
          </a:xfrm>
          <a:prstGeom prst="roundRect">
            <a:avLst>
              <a:gd name="adj" fmla="val 2769"/>
            </a:avLst>
          </a:prstGeom>
          <a:solidFill>
            <a:srgbClr val="EBF3FC"/>
          </a:solidFill>
          <a:ln w="15875">
            <a:solidFill>
              <a:srgbClr val="D3E4F5"/>
            </a:solidFill>
            <a:prstDash val="solid"/>
          </a:ln>
        </p:spPr>
        <p:txBody>
          <a:bodyPr/>
          <a:lstStyle/>
          <a:p>
            <a:endParaRPr lang="en-US" dirty="0"/>
          </a:p>
        </p:txBody>
      </p:sp>
      <p:sp>
        <p:nvSpPr>
          <p:cNvPr id="6" name="Text 4"/>
          <p:cNvSpPr/>
          <p:nvPr/>
        </p:nvSpPr>
        <p:spPr>
          <a:xfrm>
            <a:off x="822960" y="2578608"/>
            <a:ext cx="457200" cy="365760"/>
          </a:xfrm>
          <a:prstGeom prst="rect">
            <a:avLst/>
          </a:prstGeom>
          <a:noFill/>
          <a:ln/>
        </p:spPr>
        <p:txBody>
          <a:bodyPr wrap="square" lIns="0" tIns="0" rIns="0" bIns="0" rtlCol="0" anchor="ctr"/>
          <a:lstStyle/>
          <a:p>
            <a:pPr marL="0" indent="0">
              <a:buNone/>
            </a:pPr>
            <a:r>
              <a:rPr lang="en-US" sz="1600" b="1" dirty="0">
                <a:solidFill>
                  <a:srgbClr val="12406B"/>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822960" y="2889504"/>
            <a:ext cx="1706819" cy="603504"/>
          </a:xfrm>
          <a:prstGeom prst="rect">
            <a:avLst/>
          </a:prstGeom>
          <a:noFill/>
          <a:ln/>
        </p:spPr>
        <p:txBody>
          <a:bodyPr wrap="square" lIns="0" tIns="0" rIns="0" bIns="0" rtlCol="0" anchor="t"/>
          <a:lstStyle/>
          <a:p>
            <a:pPr marL="0" indent="0">
              <a:buNone/>
            </a:pPr>
            <a:r>
              <a:rPr lang="en-US" sz="1800" b="1" dirty="0">
                <a:solidFill>
                  <a:srgbClr val="12406B"/>
                </a:solidFill>
                <a:latin typeface="Cambria" pitchFamily="34" charset="0"/>
                <a:ea typeface="Cambria" pitchFamily="34" charset="-122"/>
                <a:cs typeface="Cambria" pitchFamily="34" charset="-120"/>
              </a:rPr>
              <a:t>Chronic active gastritis</a:t>
            </a:r>
            <a:endParaRPr lang="en-US" sz="1600" dirty="0"/>
          </a:p>
        </p:txBody>
      </p:sp>
      <p:sp>
        <p:nvSpPr>
          <p:cNvPr id="8" name="Text 6"/>
          <p:cNvSpPr/>
          <p:nvPr/>
        </p:nvSpPr>
        <p:spPr>
          <a:xfrm>
            <a:off x="822960" y="3520440"/>
            <a:ext cx="1706819" cy="960120"/>
          </a:xfrm>
          <a:prstGeom prst="rect">
            <a:avLst/>
          </a:prstGeom>
          <a:noFill/>
          <a:ln/>
        </p:spPr>
        <p:txBody>
          <a:bodyPr wrap="square" lIns="0" tIns="0" rIns="0" bIns="0" rtlCol="0" anchor="t"/>
          <a:lstStyle/>
          <a:p>
            <a:pPr marL="0" indent="0">
              <a:lnSpc>
                <a:spcPct val="102000"/>
              </a:lnSpc>
              <a:buNone/>
            </a:pPr>
            <a:r>
              <a:rPr lang="en-US" sz="1800" dirty="0">
                <a:solidFill>
                  <a:srgbClr val="1F3B50"/>
                </a:solidFill>
                <a:latin typeface="Calibri" pitchFamily="34" charset="0"/>
                <a:ea typeface="Calibri" pitchFamily="34" charset="-122"/>
                <a:cs typeface="Calibri" pitchFamily="34" charset="-120"/>
              </a:rPr>
              <a:t>Long-standing inflammation of the lining.</a:t>
            </a:r>
            <a:endParaRPr lang="en-US" sz="1400" i="1" dirty="0"/>
          </a:p>
        </p:txBody>
      </p:sp>
      <p:sp>
        <p:nvSpPr>
          <p:cNvPr id="9" name="Text 7"/>
          <p:cNvSpPr/>
          <p:nvPr/>
        </p:nvSpPr>
        <p:spPr>
          <a:xfrm>
            <a:off x="2621219" y="3383280"/>
            <a:ext cx="320040" cy="365760"/>
          </a:xfrm>
          <a:prstGeom prst="rect">
            <a:avLst/>
          </a:prstGeom>
          <a:noFill/>
          <a:ln/>
        </p:spPr>
        <p:txBody>
          <a:bodyPr wrap="square" lIns="0" tIns="0" rIns="0" bIns="0" rtlCol="0" anchor="ctr"/>
          <a:lstStyle/>
          <a:p>
            <a:pPr marL="0" indent="0" algn="ctr">
              <a:buNone/>
            </a:pPr>
            <a:r>
              <a:rPr lang="en-US" sz="1600" b="1" dirty="0">
                <a:solidFill>
                  <a:srgbClr val="5B7085"/>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895539" y="2468880"/>
            <a:ext cx="1981139" cy="3044952"/>
          </a:xfrm>
          <a:prstGeom prst="roundRect">
            <a:avLst>
              <a:gd name="adj" fmla="val 2769"/>
            </a:avLst>
          </a:prstGeom>
          <a:solidFill>
            <a:srgbClr val="DCEBF8"/>
          </a:solidFill>
          <a:ln w="15875">
            <a:solidFill>
              <a:srgbClr val="D3E4F5"/>
            </a:solidFill>
            <a:prstDash val="solid"/>
          </a:ln>
        </p:spPr>
        <p:txBody>
          <a:bodyPr/>
          <a:lstStyle/>
          <a:p>
            <a:endParaRPr lang="en-US" dirty="0"/>
          </a:p>
        </p:txBody>
      </p:sp>
      <p:sp>
        <p:nvSpPr>
          <p:cNvPr id="11" name="Text 9"/>
          <p:cNvSpPr/>
          <p:nvPr/>
        </p:nvSpPr>
        <p:spPr>
          <a:xfrm>
            <a:off x="3032699" y="2578608"/>
            <a:ext cx="457200" cy="365760"/>
          </a:xfrm>
          <a:prstGeom prst="rect">
            <a:avLst/>
          </a:prstGeom>
          <a:noFill/>
          <a:ln/>
        </p:spPr>
        <p:txBody>
          <a:bodyPr wrap="square" lIns="0" tIns="0" rIns="0" bIns="0" rtlCol="0" anchor="ctr"/>
          <a:lstStyle/>
          <a:p>
            <a:pPr marL="0" indent="0">
              <a:buNone/>
            </a:pPr>
            <a:r>
              <a:rPr lang="en-US" sz="1600" b="1" dirty="0">
                <a:solidFill>
                  <a:srgbClr val="12406B"/>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3032699" y="2889504"/>
            <a:ext cx="1706819" cy="603504"/>
          </a:xfrm>
          <a:prstGeom prst="rect">
            <a:avLst/>
          </a:prstGeom>
          <a:noFill/>
          <a:ln/>
        </p:spPr>
        <p:txBody>
          <a:bodyPr wrap="square" lIns="0" tIns="0" rIns="0" bIns="0" rtlCol="0" anchor="t"/>
          <a:lstStyle/>
          <a:p>
            <a:pPr marL="0" indent="0">
              <a:buNone/>
            </a:pPr>
            <a:r>
              <a:rPr lang="en-US" sz="1800" b="1" dirty="0">
                <a:solidFill>
                  <a:srgbClr val="12406B"/>
                </a:solidFill>
                <a:latin typeface="Cambria" pitchFamily="34" charset="0"/>
                <a:ea typeface="Cambria" pitchFamily="34" charset="-122"/>
                <a:cs typeface="Cambria" pitchFamily="34" charset="-120"/>
              </a:rPr>
              <a:t>Atrophic gastritis</a:t>
            </a:r>
            <a:endParaRPr lang="en-US" sz="1600" dirty="0"/>
          </a:p>
        </p:txBody>
      </p:sp>
      <p:sp>
        <p:nvSpPr>
          <p:cNvPr id="13" name="Text 11"/>
          <p:cNvSpPr/>
          <p:nvPr/>
        </p:nvSpPr>
        <p:spPr>
          <a:xfrm>
            <a:off x="3032699" y="3520440"/>
            <a:ext cx="1706819" cy="960120"/>
          </a:xfrm>
          <a:prstGeom prst="rect">
            <a:avLst/>
          </a:prstGeom>
          <a:noFill/>
          <a:ln/>
        </p:spPr>
        <p:txBody>
          <a:bodyPr wrap="square" lIns="0" tIns="0" rIns="0" bIns="0" rtlCol="0" anchor="t"/>
          <a:lstStyle/>
          <a:p>
            <a:pPr marL="0" indent="0">
              <a:lnSpc>
                <a:spcPct val="102000"/>
              </a:lnSpc>
              <a:buNone/>
            </a:pPr>
            <a:r>
              <a:rPr lang="en-US" sz="1800" dirty="0">
                <a:solidFill>
                  <a:srgbClr val="1F3B50"/>
                </a:solidFill>
                <a:latin typeface="Calibri" pitchFamily="34" charset="0"/>
                <a:ea typeface="Calibri" pitchFamily="34" charset="-122"/>
                <a:cs typeface="Calibri" pitchFamily="34" charset="-120"/>
              </a:rPr>
              <a:t>Loss of normal gastric glands.</a:t>
            </a:r>
            <a:endParaRPr lang="en-US" sz="1400" dirty="0"/>
          </a:p>
        </p:txBody>
      </p:sp>
      <p:sp>
        <p:nvSpPr>
          <p:cNvPr id="14" name="Text 12"/>
          <p:cNvSpPr/>
          <p:nvPr/>
        </p:nvSpPr>
        <p:spPr>
          <a:xfrm>
            <a:off x="4830958" y="3383280"/>
            <a:ext cx="320040" cy="365760"/>
          </a:xfrm>
          <a:prstGeom prst="rect">
            <a:avLst/>
          </a:prstGeom>
          <a:noFill/>
          <a:ln/>
        </p:spPr>
        <p:txBody>
          <a:bodyPr wrap="square" lIns="0" tIns="0" rIns="0" bIns="0" rtlCol="0" anchor="ctr"/>
          <a:lstStyle/>
          <a:p>
            <a:pPr marL="0" indent="0" algn="ctr">
              <a:buNone/>
            </a:pPr>
            <a:r>
              <a:rPr lang="en-US" sz="1600" b="1" dirty="0">
                <a:solidFill>
                  <a:srgbClr val="5B7085"/>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105278" y="2468880"/>
            <a:ext cx="1981139" cy="3044952"/>
          </a:xfrm>
          <a:prstGeom prst="roundRect">
            <a:avLst>
              <a:gd name="adj" fmla="val 2769"/>
            </a:avLst>
          </a:prstGeom>
          <a:solidFill>
            <a:srgbClr val="CFE3F6"/>
          </a:solidFill>
          <a:ln w="15875">
            <a:solidFill>
              <a:srgbClr val="1C6FB1"/>
            </a:solidFill>
            <a:prstDash val="solid"/>
          </a:ln>
        </p:spPr>
        <p:txBody>
          <a:bodyPr/>
          <a:lstStyle/>
          <a:p>
            <a:endParaRPr lang="en-US" dirty="0"/>
          </a:p>
        </p:txBody>
      </p:sp>
      <p:sp>
        <p:nvSpPr>
          <p:cNvPr id="16" name="Text 14"/>
          <p:cNvSpPr/>
          <p:nvPr/>
        </p:nvSpPr>
        <p:spPr>
          <a:xfrm>
            <a:off x="5242438" y="2578608"/>
            <a:ext cx="457200" cy="365760"/>
          </a:xfrm>
          <a:prstGeom prst="rect">
            <a:avLst/>
          </a:prstGeom>
          <a:noFill/>
          <a:ln/>
        </p:spPr>
        <p:txBody>
          <a:bodyPr wrap="square" lIns="0" tIns="0" rIns="0" bIns="0" rtlCol="0" anchor="ctr"/>
          <a:lstStyle/>
          <a:p>
            <a:pPr marL="0" indent="0">
              <a:buNone/>
            </a:pPr>
            <a:r>
              <a:rPr lang="en-US" sz="1600" b="1" dirty="0">
                <a:solidFill>
                  <a:srgbClr val="12406B"/>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5242438" y="2889504"/>
            <a:ext cx="1706819" cy="603504"/>
          </a:xfrm>
          <a:prstGeom prst="rect">
            <a:avLst/>
          </a:prstGeom>
          <a:noFill/>
          <a:ln/>
        </p:spPr>
        <p:txBody>
          <a:bodyPr wrap="square" lIns="0" tIns="0" rIns="0" bIns="0" rtlCol="0" anchor="t"/>
          <a:lstStyle/>
          <a:p>
            <a:pPr marL="0" indent="0">
              <a:buNone/>
            </a:pPr>
            <a:r>
              <a:rPr lang="en-US" sz="1800" b="1" dirty="0">
                <a:solidFill>
                  <a:srgbClr val="12406B"/>
                </a:solidFill>
                <a:latin typeface="Cambria" pitchFamily="34" charset="0"/>
                <a:ea typeface="Cambria" pitchFamily="34" charset="-122"/>
                <a:cs typeface="Cambria" pitchFamily="34" charset="-120"/>
              </a:rPr>
              <a:t>Intestinal metaplasia</a:t>
            </a:r>
            <a:endParaRPr lang="en-US" sz="1600" dirty="0"/>
          </a:p>
        </p:txBody>
      </p:sp>
      <p:sp>
        <p:nvSpPr>
          <p:cNvPr id="18" name="Text 16"/>
          <p:cNvSpPr/>
          <p:nvPr/>
        </p:nvSpPr>
        <p:spPr>
          <a:xfrm>
            <a:off x="5242438" y="3520440"/>
            <a:ext cx="1706819" cy="960120"/>
          </a:xfrm>
          <a:prstGeom prst="rect">
            <a:avLst/>
          </a:prstGeom>
          <a:noFill/>
          <a:ln/>
        </p:spPr>
        <p:txBody>
          <a:bodyPr wrap="square" lIns="0" tIns="0" rIns="0" bIns="0" rtlCol="0" anchor="t"/>
          <a:lstStyle/>
          <a:p>
            <a:pPr marL="0" indent="0">
              <a:lnSpc>
                <a:spcPct val="102000"/>
              </a:lnSpc>
              <a:buNone/>
            </a:pPr>
            <a:r>
              <a:rPr lang="en-US" sz="1800" dirty="0">
                <a:solidFill>
                  <a:srgbClr val="1F3B50"/>
                </a:solidFill>
                <a:latin typeface="Calibri" pitchFamily="34" charset="0"/>
                <a:ea typeface="Calibri" pitchFamily="34" charset="-122"/>
                <a:cs typeface="Calibri" pitchFamily="34" charset="-120"/>
              </a:rPr>
              <a:t>The lining changes to an intestinal type.</a:t>
            </a:r>
            <a:endParaRPr lang="en-US" sz="1400" dirty="0"/>
          </a:p>
        </p:txBody>
      </p:sp>
      <p:sp>
        <p:nvSpPr>
          <p:cNvPr id="19" name="Text 17"/>
          <p:cNvSpPr/>
          <p:nvPr/>
        </p:nvSpPr>
        <p:spPr>
          <a:xfrm>
            <a:off x="7040697" y="3383280"/>
            <a:ext cx="320040" cy="365760"/>
          </a:xfrm>
          <a:prstGeom prst="rect">
            <a:avLst/>
          </a:prstGeom>
          <a:noFill/>
          <a:ln/>
        </p:spPr>
        <p:txBody>
          <a:bodyPr wrap="square" lIns="0" tIns="0" rIns="0" bIns="0" rtlCol="0" anchor="ctr"/>
          <a:lstStyle/>
          <a:p>
            <a:pPr marL="0" indent="0" algn="ctr">
              <a:buNone/>
            </a:pPr>
            <a:r>
              <a:rPr lang="en-US" sz="1600" b="1" dirty="0">
                <a:solidFill>
                  <a:srgbClr val="5B7085"/>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315017" y="2468880"/>
            <a:ext cx="1981139" cy="3044952"/>
          </a:xfrm>
          <a:prstGeom prst="roundRect">
            <a:avLst>
              <a:gd name="adj" fmla="val 2769"/>
            </a:avLst>
          </a:prstGeom>
          <a:solidFill>
            <a:srgbClr val="E9DDEF"/>
          </a:solidFill>
          <a:ln w="15875">
            <a:solidFill>
              <a:srgbClr val="B79AC7"/>
            </a:solidFill>
            <a:prstDash val="solid"/>
          </a:ln>
        </p:spPr>
        <p:txBody>
          <a:bodyPr/>
          <a:lstStyle/>
          <a:p>
            <a:endParaRPr lang="en-US" dirty="0"/>
          </a:p>
        </p:txBody>
      </p:sp>
      <p:sp>
        <p:nvSpPr>
          <p:cNvPr id="21" name="Text 19"/>
          <p:cNvSpPr/>
          <p:nvPr/>
        </p:nvSpPr>
        <p:spPr>
          <a:xfrm>
            <a:off x="7452177" y="2578608"/>
            <a:ext cx="457200" cy="365760"/>
          </a:xfrm>
          <a:prstGeom prst="rect">
            <a:avLst/>
          </a:prstGeom>
          <a:noFill/>
          <a:ln/>
        </p:spPr>
        <p:txBody>
          <a:bodyPr wrap="square" lIns="0" tIns="0" rIns="0" bIns="0" rtlCol="0" anchor="ctr"/>
          <a:lstStyle/>
          <a:p>
            <a:pPr marL="0" indent="0">
              <a:buNone/>
            </a:pPr>
            <a:r>
              <a:rPr lang="en-US" sz="1600" b="1" dirty="0">
                <a:solidFill>
                  <a:srgbClr val="12406B"/>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452177" y="2889504"/>
            <a:ext cx="1706819" cy="603504"/>
          </a:xfrm>
          <a:prstGeom prst="rect">
            <a:avLst/>
          </a:prstGeom>
          <a:noFill/>
          <a:ln/>
        </p:spPr>
        <p:txBody>
          <a:bodyPr wrap="square" lIns="0" tIns="0" rIns="0" bIns="0" rtlCol="0" anchor="t"/>
          <a:lstStyle/>
          <a:p>
            <a:pPr marL="0" indent="0">
              <a:buNone/>
            </a:pPr>
            <a:r>
              <a:rPr lang="en-US" sz="1800" b="1" dirty="0">
                <a:solidFill>
                  <a:srgbClr val="12406B"/>
                </a:solidFill>
                <a:latin typeface="Cambria" pitchFamily="34" charset="0"/>
                <a:ea typeface="Cambria" pitchFamily="34" charset="-122"/>
                <a:cs typeface="Cambria" pitchFamily="34" charset="-120"/>
              </a:rPr>
              <a:t>Dysplasia</a:t>
            </a:r>
            <a:endParaRPr lang="en-US" sz="1600" dirty="0"/>
          </a:p>
        </p:txBody>
      </p:sp>
      <p:sp>
        <p:nvSpPr>
          <p:cNvPr id="23" name="Text 21"/>
          <p:cNvSpPr/>
          <p:nvPr/>
        </p:nvSpPr>
        <p:spPr>
          <a:xfrm>
            <a:off x="7452177" y="3520440"/>
            <a:ext cx="1706819" cy="960120"/>
          </a:xfrm>
          <a:prstGeom prst="rect">
            <a:avLst/>
          </a:prstGeom>
          <a:noFill/>
          <a:ln/>
        </p:spPr>
        <p:txBody>
          <a:bodyPr wrap="square" lIns="0" tIns="0" rIns="0" bIns="0" rtlCol="0" anchor="t"/>
          <a:lstStyle/>
          <a:p>
            <a:pPr marL="0" indent="0">
              <a:lnSpc>
                <a:spcPct val="102000"/>
              </a:lnSpc>
              <a:buNone/>
            </a:pPr>
            <a:r>
              <a:rPr lang="en-US" sz="1800" dirty="0">
                <a:solidFill>
                  <a:srgbClr val="1F3B50"/>
                </a:solidFill>
                <a:latin typeface="Calibri" pitchFamily="34" charset="0"/>
                <a:ea typeface="Calibri" pitchFamily="34" charset="-122"/>
                <a:cs typeface="Calibri" pitchFamily="34" charset="-120"/>
              </a:rPr>
              <a:t>Clearly abnormal cells.</a:t>
            </a:r>
            <a:endParaRPr lang="en-US" sz="1400" dirty="0"/>
          </a:p>
        </p:txBody>
      </p:sp>
      <p:sp>
        <p:nvSpPr>
          <p:cNvPr id="24" name="Text 22"/>
          <p:cNvSpPr/>
          <p:nvPr/>
        </p:nvSpPr>
        <p:spPr>
          <a:xfrm>
            <a:off x="9250436" y="3383280"/>
            <a:ext cx="320040" cy="365760"/>
          </a:xfrm>
          <a:prstGeom prst="rect">
            <a:avLst/>
          </a:prstGeom>
          <a:noFill/>
          <a:ln/>
        </p:spPr>
        <p:txBody>
          <a:bodyPr wrap="square" lIns="0" tIns="0" rIns="0" bIns="0" rtlCol="0" anchor="ctr"/>
          <a:lstStyle/>
          <a:p>
            <a:pPr marL="0" indent="0" algn="ctr">
              <a:buNone/>
            </a:pPr>
            <a:r>
              <a:rPr lang="en-US" sz="1600" b="1" dirty="0">
                <a:solidFill>
                  <a:srgbClr val="5B7085"/>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9524756" y="2468880"/>
            <a:ext cx="1981139" cy="3044952"/>
          </a:xfrm>
          <a:prstGeom prst="roundRect">
            <a:avLst>
              <a:gd name="adj" fmla="val 2769"/>
            </a:avLst>
          </a:prstGeom>
          <a:solidFill>
            <a:srgbClr val="F7E0DC"/>
          </a:solidFill>
          <a:ln w="15875">
            <a:solidFill>
              <a:srgbClr val="E5B4AD"/>
            </a:solidFill>
            <a:prstDash val="solid"/>
          </a:ln>
        </p:spPr>
        <p:txBody>
          <a:bodyPr/>
          <a:lstStyle/>
          <a:p>
            <a:endParaRPr lang="en-US" dirty="0"/>
          </a:p>
        </p:txBody>
      </p:sp>
      <p:sp>
        <p:nvSpPr>
          <p:cNvPr id="26" name="Text 24"/>
          <p:cNvSpPr/>
          <p:nvPr/>
        </p:nvSpPr>
        <p:spPr>
          <a:xfrm>
            <a:off x="9661916" y="2578608"/>
            <a:ext cx="457200" cy="365760"/>
          </a:xfrm>
          <a:prstGeom prst="rect">
            <a:avLst/>
          </a:prstGeom>
          <a:noFill/>
          <a:ln/>
        </p:spPr>
        <p:txBody>
          <a:bodyPr wrap="square" lIns="0" tIns="0" rIns="0" bIns="0" rtlCol="0" anchor="ctr"/>
          <a:lstStyle/>
          <a:p>
            <a:pPr marL="0" indent="0">
              <a:buNone/>
            </a:pPr>
            <a:r>
              <a:rPr lang="en-US" sz="1600" b="1" dirty="0">
                <a:solidFill>
                  <a:srgbClr val="12406B"/>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9661916" y="2889504"/>
            <a:ext cx="1706819" cy="603504"/>
          </a:xfrm>
          <a:prstGeom prst="rect">
            <a:avLst/>
          </a:prstGeom>
          <a:noFill/>
          <a:ln/>
        </p:spPr>
        <p:txBody>
          <a:bodyPr wrap="square" lIns="0" tIns="0" rIns="0" bIns="0" rtlCol="0" anchor="t"/>
          <a:lstStyle/>
          <a:p>
            <a:pPr marL="0" indent="0">
              <a:buNone/>
            </a:pPr>
            <a:r>
              <a:rPr lang="en-US" sz="1800" b="1" dirty="0">
                <a:solidFill>
                  <a:srgbClr val="12406B"/>
                </a:solidFill>
                <a:latin typeface="Cambria" pitchFamily="34" charset="0"/>
                <a:ea typeface="Cambria" pitchFamily="34" charset="-122"/>
                <a:cs typeface="Cambria" pitchFamily="34" charset="-120"/>
              </a:rPr>
              <a:t>Gastric adenocarcinoma</a:t>
            </a:r>
            <a:endParaRPr lang="en-US" sz="1600" dirty="0"/>
          </a:p>
        </p:txBody>
      </p:sp>
      <p:sp>
        <p:nvSpPr>
          <p:cNvPr id="28" name="Text 26"/>
          <p:cNvSpPr/>
          <p:nvPr/>
        </p:nvSpPr>
        <p:spPr>
          <a:xfrm>
            <a:off x="9661916" y="3520440"/>
            <a:ext cx="1706819" cy="960120"/>
          </a:xfrm>
          <a:prstGeom prst="rect">
            <a:avLst/>
          </a:prstGeom>
          <a:noFill/>
          <a:ln/>
        </p:spPr>
        <p:txBody>
          <a:bodyPr wrap="square" lIns="0" tIns="0" rIns="0" bIns="0" rtlCol="0" anchor="t"/>
          <a:lstStyle/>
          <a:p>
            <a:pPr marL="0" indent="0">
              <a:lnSpc>
                <a:spcPct val="102000"/>
              </a:lnSpc>
              <a:buNone/>
            </a:pPr>
            <a:r>
              <a:rPr lang="en-US" sz="1800" dirty="0">
                <a:solidFill>
                  <a:srgbClr val="1F3B50"/>
                </a:solidFill>
                <a:latin typeface="Calibri" pitchFamily="34" charset="0"/>
                <a:ea typeface="Calibri" pitchFamily="34" charset="-122"/>
                <a:cs typeface="Calibri" pitchFamily="34" charset="-120"/>
              </a:rPr>
              <a:t>Invasive cancer.</a:t>
            </a:r>
            <a:endParaRPr lang="en-US" sz="1400" dirty="0"/>
          </a:p>
        </p:txBody>
      </p:sp>
      <p:sp>
        <p:nvSpPr>
          <p:cNvPr id="29" name="Text 27"/>
          <p:cNvSpPr/>
          <p:nvPr/>
        </p:nvSpPr>
        <p:spPr>
          <a:xfrm>
            <a:off x="685800" y="5623560"/>
            <a:ext cx="10820095" cy="640080"/>
          </a:xfrm>
          <a:prstGeom prst="rect">
            <a:avLst/>
          </a:prstGeom>
          <a:noFill/>
          <a:ln/>
        </p:spPr>
        <p:txBody>
          <a:bodyPr wrap="square" lIns="0" tIns="0" rIns="0" bIns="0" rtlCol="0" anchor="ctr"/>
          <a:lstStyle/>
          <a:p>
            <a:pPr marL="0" indent="0">
              <a:buNone/>
            </a:pPr>
            <a:r>
              <a:rPr lang="en-US" sz="1800" i="1" dirty="0">
                <a:solidFill>
                  <a:srgbClr val="1F3B50"/>
                </a:solidFill>
                <a:latin typeface="Calibri" pitchFamily="34" charset="0"/>
                <a:ea typeface="Calibri" pitchFamily="34" charset="-122"/>
                <a:cs typeface="Calibri" pitchFamily="34" charset="-120"/>
              </a:rPr>
              <a:t>Not everyone follows this sequence and not every premalignant change becomes cancer. H. pylori is an important modifiable cause of chronic active gastritis, and gastric cancer has more than one biological pathway.</a:t>
            </a:r>
            <a:endParaRPr lang="en-US" sz="1300" dirty="0"/>
          </a:p>
        </p:txBody>
      </p:sp>
      <p:sp>
        <p:nvSpPr>
          <p:cNvPr id="30" name="Text 28"/>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31" name="Imagen 30">
            <a:extLst>
              <a:ext uri="{FF2B5EF4-FFF2-40B4-BE49-F238E27FC236}">
                <a16:creationId xmlns:a16="http://schemas.microsoft.com/office/drawing/2014/main" id="{8E070170-5904-665B-161F-0CD3A81E391D}"/>
              </a:ext>
            </a:extLst>
          </p:cNvPr>
          <p:cNvPicPr>
            <a:picLocks noChangeAspect="1"/>
          </p:cNvPicPr>
          <p:nvPr/>
        </p:nvPicPr>
        <p:blipFill>
          <a:blip r:embed="rId3"/>
          <a:srcRect/>
          <a:stretch>
            <a:fillRect/>
          </a:stretch>
        </p:blipFill>
        <p:spPr>
          <a:xfrm>
            <a:off x="970838" y="4572000"/>
            <a:ext cx="1328854" cy="885903"/>
          </a:xfrm>
          <a:prstGeom prst="rect">
            <a:avLst/>
          </a:prstGeom>
        </p:spPr>
      </p:pic>
      <p:pic>
        <p:nvPicPr>
          <p:cNvPr id="32" name="Imagen 31">
            <a:extLst>
              <a:ext uri="{FF2B5EF4-FFF2-40B4-BE49-F238E27FC236}">
                <a16:creationId xmlns:a16="http://schemas.microsoft.com/office/drawing/2014/main" id="{C7F78C51-CFEF-5CDA-E493-939929007523}"/>
              </a:ext>
            </a:extLst>
          </p:cNvPr>
          <p:cNvPicPr>
            <a:picLocks noChangeAspect="1"/>
          </p:cNvPicPr>
          <p:nvPr/>
        </p:nvPicPr>
        <p:blipFill>
          <a:blip r:embed="rId4"/>
          <a:srcRect/>
          <a:stretch>
            <a:fillRect/>
          </a:stretch>
        </p:blipFill>
        <p:spPr>
          <a:xfrm>
            <a:off x="3199844" y="4572000"/>
            <a:ext cx="1328855" cy="885903"/>
          </a:xfrm>
          <a:prstGeom prst="rect">
            <a:avLst/>
          </a:prstGeom>
        </p:spPr>
      </p:pic>
      <p:pic>
        <p:nvPicPr>
          <p:cNvPr id="33" name="Imagen 32">
            <a:extLst>
              <a:ext uri="{FF2B5EF4-FFF2-40B4-BE49-F238E27FC236}">
                <a16:creationId xmlns:a16="http://schemas.microsoft.com/office/drawing/2014/main" id="{06C7B2D5-5572-B92F-7008-8ED57A535BA4}"/>
              </a:ext>
            </a:extLst>
          </p:cNvPr>
          <p:cNvPicPr>
            <a:picLocks noChangeAspect="1"/>
          </p:cNvPicPr>
          <p:nvPr/>
        </p:nvPicPr>
        <p:blipFill>
          <a:blip r:embed="rId5"/>
          <a:srcRect/>
          <a:stretch>
            <a:fillRect/>
          </a:stretch>
        </p:blipFill>
        <p:spPr>
          <a:xfrm>
            <a:off x="5413175" y="4571999"/>
            <a:ext cx="1328855" cy="885903"/>
          </a:xfrm>
          <a:prstGeom prst="rect">
            <a:avLst/>
          </a:prstGeom>
        </p:spPr>
      </p:pic>
      <p:pic>
        <p:nvPicPr>
          <p:cNvPr id="34" name="Imagen 33">
            <a:extLst>
              <a:ext uri="{FF2B5EF4-FFF2-40B4-BE49-F238E27FC236}">
                <a16:creationId xmlns:a16="http://schemas.microsoft.com/office/drawing/2014/main" id="{339A568D-81E3-024B-6CDD-38BA7AF741F8}"/>
              </a:ext>
            </a:extLst>
          </p:cNvPr>
          <p:cNvPicPr>
            <a:picLocks noChangeAspect="1"/>
          </p:cNvPicPr>
          <p:nvPr/>
        </p:nvPicPr>
        <p:blipFill>
          <a:blip r:embed="rId6"/>
          <a:stretch>
            <a:fillRect/>
          </a:stretch>
        </p:blipFill>
        <p:spPr>
          <a:xfrm>
            <a:off x="7600775" y="4571999"/>
            <a:ext cx="1302895" cy="868597"/>
          </a:xfrm>
          <a:prstGeom prst="rect">
            <a:avLst/>
          </a:prstGeom>
        </p:spPr>
      </p:pic>
      <p:pic>
        <p:nvPicPr>
          <p:cNvPr id="35" name="Imagen 34">
            <a:extLst>
              <a:ext uri="{FF2B5EF4-FFF2-40B4-BE49-F238E27FC236}">
                <a16:creationId xmlns:a16="http://schemas.microsoft.com/office/drawing/2014/main" id="{A8994705-B283-45F6-082C-BFFF4F1217C6}"/>
              </a:ext>
            </a:extLst>
          </p:cNvPr>
          <p:cNvPicPr>
            <a:picLocks noChangeAspect="1"/>
          </p:cNvPicPr>
          <p:nvPr/>
        </p:nvPicPr>
        <p:blipFill>
          <a:blip r:embed="rId7"/>
          <a:srcRect/>
          <a:stretch>
            <a:fillRect/>
          </a:stretch>
        </p:blipFill>
        <p:spPr>
          <a:xfrm>
            <a:off x="9865222" y="4384617"/>
            <a:ext cx="1280099" cy="96007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Conditions linked to higher risk</a:t>
            </a:r>
            <a:endParaRPr lang="en-US" sz="3000" dirty="0"/>
          </a:p>
        </p:txBody>
      </p:sp>
      <p:sp>
        <p:nvSpPr>
          <p:cNvPr id="4" name="Shape 2"/>
          <p:cNvSpPr/>
          <p:nvPr/>
        </p:nvSpPr>
        <p:spPr>
          <a:xfrm>
            <a:off x="685800" y="2011680"/>
            <a:ext cx="3423818" cy="3050974"/>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Premalignant conditions</a:t>
            </a:r>
            <a:endParaRPr lang="en-US" sz="2000" dirty="0"/>
          </a:p>
        </p:txBody>
      </p:sp>
      <p:sp>
        <p:nvSpPr>
          <p:cNvPr id="6" name="Text 4"/>
          <p:cNvSpPr/>
          <p:nvPr/>
        </p:nvSpPr>
        <p:spPr>
          <a:xfrm>
            <a:off x="886968" y="2560320"/>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Atrophic gastritis, intestinal metaplasia, and dysplasia. Increased risk, not confirmed cancer.</a:t>
            </a:r>
            <a:endParaRPr lang="en-US" dirty="0"/>
          </a:p>
        </p:txBody>
      </p:sp>
      <p:sp>
        <p:nvSpPr>
          <p:cNvPr id="7" name="Shape 5"/>
          <p:cNvSpPr/>
          <p:nvPr/>
        </p:nvSpPr>
        <p:spPr>
          <a:xfrm>
            <a:off x="4383938" y="2011680"/>
            <a:ext cx="3423818" cy="3050974"/>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i="1" dirty="0">
                <a:solidFill>
                  <a:srgbClr val="12406B"/>
                </a:solidFill>
                <a:latin typeface="Cambria" pitchFamily="34" charset="0"/>
                <a:ea typeface="Cambria" pitchFamily="34" charset="-122"/>
                <a:cs typeface="Cambria" pitchFamily="34" charset="-120"/>
              </a:rPr>
              <a:t>H. pylori</a:t>
            </a:r>
            <a:r>
              <a:rPr lang="en-US" sz="2000" b="1" dirty="0">
                <a:solidFill>
                  <a:srgbClr val="12406B"/>
                </a:solidFill>
                <a:latin typeface="Cambria" pitchFamily="34" charset="0"/>
                <a:ea typeface="Cambria" pitchFamily="34" charset="-122"/>
                <a:cs typeface="Cambria" pitchFamily="34" charset="-120"/>
              </a:rPr>
              <a:t>-related</a:t>
            </a:r>
            <a:endParaRPr lang="en-US" sz="2000" dirty="0"/>
          </a:p>
        </p:txBody>
      </p:sp>
      <p:sp>
        <p:nvSpPr>
          <p:cNvPr id="9" name="Text 7"/>
          <p:cNvSpPr/>
          <p:nvPr/>
        </p:nvSpPr>
        <p:spPr>
          <a:xfrm>
            <a:off x="4585106" y="2560320"/>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Chronic </a:t>
            </a:r>
            <a:r>
              <a:rPr lang="en-US" i="1" dirty="0">
                <a:solidFill>
                  <a:srgbClr val="1F3B50"/>
                </a:solidFill>
                <a:latin typeface="Calibri" pitchFamily="34" charset="0"/>
                <a:ea typeface="Calibri" pitchFamily="34" charset="-122"/>
                <a:cs typeface="Calibri" pitchFamily="34" charset="-120"/>
              </a:rPr>
              <a:t>H. pylori</a:t>
            </a:r>
            <a:r>
              <a:rPr lang="en-US" dirty="0">
                <a:solidFill>
                  <a:srgbClr val="1F3B50"/>
                </a:solidFill>
                <a:latin typeface="Calibri" pitchFamily="34" charset="0"/>
                <a:ea typeface="Calibri" pitchFamily="34" charset="-122"/>
                <a:cs typeface="Calibri" pitchFamily="34" charset="-120"/>
              </a:rPr>
              <a:t> gastritis. An important, </a:t>
            </a:r>
            <a:r>
              <a:rPr lang="en-US" b="1" dirty="0">
                <a:solidFill>
                  <a:srgbClr val="1F3B50"/>
                </a:solidFill>
                <a:latin typeface="Calibri" pitchFamily="34" charset="0"/>
                <a:ea typeface="Calibri" pitchFamily="34" charset="-122"/>
                <a:cs typeface="Calibri" pitchFamily="34" charset="-120"/>
              </a:rPr>
              <a:t>treatable</a:t>
            </a:r>
            <a:r>
              <a:rPr lang="en-US" dirty="0">
                <a:solidFill>
                  <a:srgbClr val="1F3B50"/>
                </a:solidFill>
                <a:latin typeface="Calibri" pitchFamily="34" charset="0"/>
                <a:ea typeface="Calibri" pitchFamily="34" charset="-122"/>
                <a:cs typeface="Calibri" pitchFamily="34" charset="-120"/>
              </a:rPr>
              <a:t> driver of long-term risk.</a:t>
            </a:r>
            <a:endParaRPr lang="en-US" dirty="0"/>
          </a:p>
        </p:txBody>
      </p:sp>
      <p:sp>
        <p:nvSpPr>
          <p:cNvPr id="10" name="Shape 8"/>
          <p:cNvSpPr/>
          <p:nvPr/>
        </p:nvSpPr>
        <p:spPr>
          <a:xfrm>
            <a:off x="8082077" y="2011680"/>
            <a:ext cx="3423818" cy="3050974"/>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Other risk conditions</a:t>
            </a:r>
            <a:endParaRPr lang="en-US" sz="2000" dirty="0"/>
          </a:p>
        </p:txBody>
      </p:sp>
      <p:sp>
        <p:nvSpPr>
          <p:cNvPr id="12" name="Text 10"/>
          <p:cNvSpPr/>
          <p:nvPr/>
        </p:nvSpPr>
        <p:spPr>
          <a:xfrm>
            <a:off x="8283245" y="2560320"/>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Certain gastric polyps, previous gastric surgery, and some hereditary syndromes raise risk.</a:t>
            </a:r>
            <a:endParaRPr lang="en-US" dirty="0"/>
          </a:p>
        </p:txBody>
      </p:sp>
      <p:sp>
        <p:nvSpPr>
          <p:cNvPr id="13" name="Shape 11"/>
          <p:cNvSpPr/>
          <p:nvPr/>
        </p:nvSpPr>
        <p:spPr>
          <a:xfrm>
            <a:off x="685800" y="5257800"/>
            <a:ext cx="10820095" cy="640080"/>
          </a:xfrm>
          <a:prstGeom prst="roundRect">
            <a:avLst>
              <a:gd name="adj" fmla="val 8571"/>
            </a:avLst>
          </a:prstGeom>
          <a:solidFill>
            <a:srgbClr val="FCEFDD"/>
          </a:solidFill>
          <a:ln w="12700">
            <a:solidFill>
              <a:srgbClr val="EBC48A"/>
            </a:solidFill>
            <a:prstDash val="solid"/>
          </a:ln>
        </p:spPr>
        <p:txBody>
          <a:bodyPr/>
          <a:lstStyle/>
          <a:p>
            <a:endParaRPr lang="en-US" dirty="0"/>
          </a:p>
        </p:txBody>
      </p:sp>
      <p:sp>
        <p:nvSpPr>
          <p:cNvPr id="14" name="Text 12"/>
          <p:cNvSpPr/>
          <p:nvPr/>
        </p:nvSpPr>
        <p:spPr>
          <a:xfrm>
            <a:off x="868680" y="5257800"/>
            <a:ext cx="10454335" cy="64008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A premalignant condition does not mean the patient already has cancer. Distinguish risk factor, premalignant condition, and confirmed cancer.</a:t>
            </a:r>
            <a:endParaRPr lang="en-US" sz="1250"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7" name="Imagen 16">
            <a:extLst>
              <a:ext uri="{FF2B5EF4-FFF2-40B4-BE49-F238E27FC236}">
                <a16:creationId xmlns:a16="http://schemas.microsoft.com/office/drawing/2014/main" id="{7AB0CF25-8D2B-1590-0FCD-43E83AE54CFE}"/>
              </a:ext>
            </a:extLst>
          </p:cNvPr>
          <p:cNvPicPr>
            <a:picLocks noChangeAspect="1"/>
          </p:cNvPicPr>
          <p:nvPr/>
        </p:nvPicPr>
        <p:blipFill>
          <a:blip r:embed="rId3"/>
          <a:srcRect b="14706"/>
          <a:stretch>
            <a:fillRect/>
          </a:stretch>
        </p:blipFill>
        <p:spPr>
          <a:xfrm>
            <a:off x="1320413" y="3724687"/>
            <a:ext cx="2154592" cy="1225160"/>
          </a:xfrm>
          <a:prstGeom prst="rect">
            <a:avLst/>
          </a:prstGeom>
        </p:spPr>
      </p:pic>
      <p:pic>
        <p:nvPicPr>
          <p:cNvPr id="18" name="Imagen 17">
            <a:extLst>
              <a:ext uri="{FF2B5EF4-FFF2-40B4-BE49-F238E27FC236}">
                <a16:creationId xmlns:a16="http://schemas.microsoft.com/office/drawing/2014/main" id="{37EDAB96-6BFC-7EE4-8DB6-1AABC12D74F0}"/>
              </a:ext>
            </a:extLst>
          </p:cNvPr>
          <p:cNvPicPr>
            <a:picLocks noChangeAspect="1"/>
          </p:cNvPicPr>
          <p:nvPr/>
        </p:nvPicPr>
        <p:blipFill>
          <a:blip r:embed="rId4"/>
          <a:stretch>
            <a:fillRect/>
          </a:stretch>
        </p:blipFill>
        <p:spPr>
          <a:xfrm>
            <a:off x="5156582" y="3724687"/>
            <a:ext cx="1698650" cy="1132433"/>
          </a:xfrm>
          <a:prstGeom prst="rect">
            <a:avLst/>
          </a:prstGeom>
        </p:spPr>
      </p:pic>
      <p:pic>
        <p:nvPicPr>
          <p:cNvPr id="19" name="Imagen 18">
            <a:extLst>
              <a:ext uri="{FF2B5EF4-FFF2-40B4-BE49-F238E27FC236}">
                <a16:creationId xmlns:a16="http://schemas.microsoft.com/office/drawing/2014/main" id="{C48E6B2E-B2E9-3750-E221-6BB43A22E544}"/>
              </a:ext>
            </a:extLst>
          </p:cNvPr>
          <p:cNvPicPr>
            <a:picLocks noChangeAspect="1"/>
          </p:cNvPicPr>
          <p:nvPr/>
        </p:nvPicPr>
        <p:blipFill>
          <a:blip r:embed="rId5"/>
          <a:stretch>
            <a:fillRect/>
          </a:stretch>
        </p:blipFill>
        <p:spPr>
          <a:xfrm>
            <a:off x="8640448" y="3670368"/>
            <a:ext cx="2246129" cy="122516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i="1" dirty="0">
                <a:solidFill>
                  <a:srgbClr val="12406B"/>
                </a:solidFill>
                <a:latin typeface="Cambria" pitchFamily="34" charset="0"/>
                <a:ea typeface="Cambria" pitchFamily="34" charset="-122"/>
                <a:cs typeface="Cambria" pitchFamily="34" charset="-120"/>
              </a:rPr>
              <a:t>Helicobacter pylori</a:t>
            </a:r>
            <a:endParaRPr lang="en-US" sz="3000" i="1" dirty="0"/>
          </a:p>
        </p:txBody>
      </p:sp>
      <p:sp>
        <p:nvSpPr>
          <p:cNvPr id="4" name="Shape 2"/>
          <p:cNvSpPr/>
          <p:nvPr/>
        </p:nvSpPr>
        <p:spPr>
          <a:xfrm>
            <a:off x="685800" y="2248525"/>
            <a:ext cx="3423818" cy="2548328"/>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622676"/>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What it is</a:t>
            </a:r>
            <a:endParaRPr lang="en-US" sz="2000" dirty="0"/>
          </a:p>
        </p:txBody>
      </p:sp>
      <p:sp>
        <p:nvSpPr>
          <p:cNvPr id="6" name="Text 4"/>
          <p:cNvSpPr/>
          <p:nvPr/>
        </p:nvSpPr>
        <p:spPr>
          <a:xfrm>
            <a:off x="886968" y="3025012"/>
            <a:ext cx="3021482" cy="11430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 bacterium that can chronically infect the gastric lining and cause long-standing inflammation.</a:t>
            </a:r>
            <a:endParaRPr lang="en-US" dirty="0"/>
          </a:p>
        </p:txBody>
      </p:sp>
      <p:sp>
        <p:nvSpPr>
          <p:cNvPr id="7" name="Shape 5"/>
          <p:cNvSpPr/>
          <p:nvPr/>
        </p:nvSpPr>
        <p:spPr>
          <a:xfrm>
            <a:off x="4383938" y="2248525"/>
            <a:ext cx="3423818" cy="2548328"/>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622676"/>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Why it matters</a:t>
            </a:r>
            <a:endParaRPr lang="en-US" sz="2000" dirty="0"/>
          </a:p>
        </p:txBody>
      </p:sp>
      <p:sp>
        <p:nvSpPr>
          <p:cNvPr id="9" name="Text 7"/>
          <p:cNvSpPr/>
          <p:nvPr/>
        </p:nvSpPr>
        <p:spPr>
          <a:xfrm>
            <a:off x="4585106" y="3025012"/>
            <a:ext cx="3021482" cy="11430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Chronic infection increases gastric-cancer risk. Eradication reduces future risk in appropriate people.</a:t>
            </a:r>
            <a:endParaRPr lang="en-US" dirty="0"/>
          </a:p>
        </p:txBody>
      </p:sp>
      <p:sp>
        <p:nvSpPr>
          <p:cNvPr id="10" name="Shape 8"/>
          <p:cNvSpPr/>
          <p:nvPr/>
        </p:nvSpPr>
        <p:spPr>
          <a:xfrm>
            <a:off x="8082077" y="2248525"/>
            <a:ext cx="3423818" cy="2548328"/>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622676"/>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Prevention, not diagnosis</a:t>
            </a:r>
            <a:endParaRPr lang="en-US" sz="2000" dirty="0"/>
          </a:p>
        </p:txBody>
      </p:sp>
      <p:sp>
        <p:nvSpPr>
          <p:cNvPr id="12" name="Text 10"/>
          <p:cNvSpPr/>
          <p:nvPr/>
        </p:nvSpPr>
        <p:spPr>
          <a:xfrm>
            <a:off x="8283245" y="3025012"/>
            <a:ext cx="3021482" cy="11430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Testing and treating </a:t>
            </a:r>
            <a:r>
              <a:rPr lang="en-US" i="1" dirty="0">
                <a:solidFill>
                  <a:srgbClr val="1F3B50"/>
                </a:solidFill>
                <a:latin typeface="Calibri" pitchFamily="34" charset="0"/>
                <a:ea typeface="Calibri" pitchFamily="34" charset="-122"/>
                <a:cs typeface="Calibri" pitchFamily="34" charset="-120"/>
              </a:rPr>
              <a:t>H. pylori</a:t>
            </a:r>
            <a:r>
              <a:rPr lang="en-US" dirty="0">
                <a:solidFill>
                  <a:srgbClr val="1F3B50"/>
                </a:solidFill>
                <a:latin typeface="Calibri" pitchFamily="34" charset="0"/>
                <a:ea typeface="Calibri" pitchFamily="34" charset="-122"/>
                <a:cs typeface="Calibri" pitchFamily="34" charset="-120"/>
              </a:rPr>
              <a:t> is primary prevention. It is not the same as screening for gastric cancer.</a:t>
            </a:r>
            <a:endParaRPr lang="en-US"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3" name="Shape 11"/>
          <p:cNvSpPr/>
          <p:nvPr/>
        </p:nvSpPr>
        <p:spPr>
          <a:xfrm>
            <a:off x="685800" y="5074920"/>
            <a:ext cx="10817352" cy="731520"/>
          </a:xfrm>
          <a:prstGeom prst="roundRect">
            <a:avLst>
              <a:gd name="adj" fmla="val 8571"/>
            </a:avLst>
          </a:prstGeom>
          <a:solidFill>
            <a:srgbClr val="FCEFDD"/>
          </a:solidFill>
          <a:ln w="12700">
            <a:solidFill>
              <a:srgbClr val="EBC48A"/>
            </a:solidFill>
            <a:prstDash val="solid"/>
          </a:ln>
        </p:spPr>
        <p:txBody>
          <a:bodyPr/>
          <a:lstStyle/>
          <a:p>
            <a:endParaRPr lang="en-US" dirty="0"/>
          </a:p>
        </p:txBody>
      </p:sp>
      <p:sp>
        <p:nvSpPr>
          <p:cNvPr id="14" name="Text 12"/>
          <p:cNvSpPr/>
          <p:nvPr/>
        </p:nvSpPr>
        <p:spPr>
          <a:xfrm>
            <a:off x="868680" y="5074920"/>
            <a:ext cx="10451592" cy="73152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Most people with H. pylori never develop gastric cancer. Infection raises risk; it is not a diagnosis of cancer. Testing and treatment are covered next.</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C6B93B68-0DC0-7364-AAAF-DA889345C3C5}"/>
              </a:ext>
            </a:extLst>
          </p:cNvPr>
          <p:cNvPicPr>
            <a:picLocks noChangeAspect="1"/>
          </p:cNvPicPr>
          <p:nvPr/>
        </p:nvPicPr>
        <p:blipFill>
          <a:blip r:embed="rId2"/>
          <a:stretch>
            <a:fillRect/>
          </a:stretch>
        </p:blipFill>
        <p:spPr>
          <a:xfrm>
            <a:off x="8626822" y="3671297"/>
            <a:ext cx="1933506" cy="1933506"/>
          </a:xfrm>
          <a:prstGeom prst="rect">
            <a:avLst/>
          </a:prstGeom>
        </p:spPr>
      </p:pic>
      <p:pic>
        <p:nvPicPr>
          <p:cNvPr id="16" name="Imagen 15">
            <a:extLst>
              <a:ext uri="{FF2B5EF4-FFF2-40B4-BE49-F238E27FC236}">
                <a16:creationId xmlns:a16="http://schemas.microsoft.com/office/drawing/2014/main" id="{A735CB28-CA51-CF98-8925-40BBB344A651}"/>
              </a:ext>
            </a:extLst>
          </p:cNvPr>
          <p:cNvPicPr>
            <a:picLocks noChangeAspect="1"/>
          </p:cNvPicPr>
          <p:nvPr/>
        </p:nvPicPr>
        <p:blipFill>
          <a:blip r:embed="rId3"/>
          <a:stretch>
            <a:fillRect/>
          </a:stretch>
        </p:blipFill>
        <p:spPr>
          <a:xfrm>
            <a:off x="834748" y="3596077"/>
            <a:ext cx="3125921" cy="2083947"/>
          </a:xfrm>
          <a:prstGeom prst="rect">
            <a:avLst/>
          </a:prstGeom>
        </p:spPr>
      </p:pic>
      <p:sp>
        <p:nvSpPr>
          <p:cNvPr id="2" name="Text 0"/>
          <p:cNvSpPr/>
          <p:nvPr/>
        </p:nvSpPr>
        <p:spPr>
          <a:xfrm>
            <a:off x="685800" y="637393"/>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913867"/>
            <a:ext cx="10820095" cy="548640"/>
          </a:xfrm>
          <a:prstGeom prst="rect">
            <a:avLst/>
          </a:prstGeom>
          <a:noFill/>
          <a:ln/>
        </p:spPr>
        <p:txBody>
          <a:bodyPr wrap="square" lIns="0" tIns="0" rIns="0" bIns="0" rtlCol="0" anchor="ctr"/>
          <a:lstStyle/>
          <a:p>
            <a:pPr marL="0" indent="0">
              <a:buNone/>
            </a:pPr>
            <a:r>
              <a:rPr lang="en-US" sz="3000" b="1" i="0" dirty="0">
                <a:solidFill>
                  <a:srgbClr val="12406B"/>
                </a:solidFill>
                <a:latin typeface="Cambria" pitchFamily="34" charset="0"/>
                <a:ea typeface="Cambria" pitchFamily="34" charset="-122"/>
                <a:cs typeface="Cambria" pitchFamily="34" charset="-120"/>
              </a:rPr>
              <a:t>Testing for </a:t>
            </a:r>
            <a:endParaRPr lang="en-US" sz="3000" i="1" dirty="0"/>
          </a:p>
        </p:txBody>
      </p:sp>
      <p:sp>
        <p:nvSpPr>
          <p:cNvPr id="4" name="Shape 2"/>
          <p:cNvSpPr/>
          <p:nvPr/>
        </p:nvSpPr>
        <p:spPr>
          <a:xfrm>
            <a:off x="685800" y="1495494"/>
            <a:ext cx="3423818" cy="2239527"/>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1869645"/>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Preferred test</a:t>
            </a:r>
            <a:endParaRPr lang="en-US" sz="2000" dirty="0"/>
          </a:p>
        </p:txBody>
      </p:sp>
      <p:sp>
        <p:nvSpPr>
          <p:cNvPr id="6" name="Text 4"/>
          <p:cNvSpPr/>
          <p:nvPr/>
        </p:nvSpPr>
        <p:spPr>
          <a:xfrm>
            <a:off x="886968" y="2271981"/>
            <a:ext cx="3021482" cy="14630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 locally validated monoclonal stool antigen test. It is simple, low cost, and can be done at health centre level.</a:t>
            </a:r>
            <a:endParaRPr lang="en-US" dirty="0"/>
          </a:p>
        </p:txBody>
      </p:sp>
      <p:sp>
        <p:nvSpPr>
          <p:cNvPr id="7" name="Shape 5"/>
          <p:cNvSpPr/>
          <p:nvPr/>
        </p:nvSpPr>
        <p:spPr>
          <a:xfrm>
            <a:off x="4383938" y="1495494"/>
            <a:ext cx="3423818" cy="2239527"/>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1869645"/>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Prepare before testing</a:t>
            </a:r>
            <a:endParaRPr lang="en-US" sz="2000" dirty="0"/>
          </a:p>
        </p:txBody>
      </p:sp>
      <p:sp>
        <p:nvSpPr>
          <p:cNvPr id="9" name="Text 7"/>
          <p:cNvSpPr/>
          <p:nvPr/>
        </p:nvSpPr>
        <p:spPr>
          <a:xfrm>
            <a:off x="4585106" y="2271981"/>
            <a:ext cx="3021482" cy="14630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Stop antibiotics 4 weeks before the test and proton pump inhibitors 2 weeks before it. The same conditions apply to the urea breath test.</a:t>
            </a:r>
            <a:endParaRPr lang="en-US" dirty="0"/>
          </a:p>
        </p:txBody>
      </p:sp>
      <p:sp>
        <p:nvSpPr>
          <p:cNvPr id="10" name="Shape 8"/>
          <p:cNvSpPr/>
          <p:nvPr/>
        </p:nvSpPr>
        <p:spPr>
          <a:xfrm>
            <a:off x="8082077" y="1495494"/>
            <a:ext cx="3423818" cy="2239527"/>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1869645"/>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What not to rely on</a:t>
            </a:r>
            <a:endParaRPr lang="en-US" sz="2000" dirty="0"/>
          </a:p>
        </p:txBody>
      </p:sp>
      <p:sp>
        <p:nvSpPr>
          <p:cNvPr id="12" name="Text 10"/>
          <p:cNvSpPr/>
          <p:nvPr/>
        </p:nvSpPr>
        <p:spPr>
          <a:xfrm>
            <a:off x="8283245" y="2271981"/>
            <a:ext cx="3021482" cy="14630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Blood or serum antibody testing is discouraged. The urea breath test is accurate and easy but is not widely available.</a:t>
            </a:r>
            <a:endParaRPr lang="en-US"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3" name="Callout Box"/>
          <p:cNvSpPr/>
          <p:nvPr/>
        </p:nvSpPr>
        <p:spPr>
          <a:xfrm>
            <a:off x="685800" y="5541079"/>
            <a:ext cx="10817352" cy="731520"/>
          </a:xfrm>
          <a:prstGeom prst="roundRect">
            <a:avLst>
              <a:gd name="adj" fmla="val 8571"/>
            </a:avLst>
          </a:prstGeom>
          <a:solidFill>
            <a:srgbClr val="FCEFDD"/>
          </a:solidFill>
          <a:ln w="12700">
            <a:solidFill>
              <a:srgbClr val="EBC48A"/>
            </a:solidFill>
            <a:prstDash val="solid"/>
          </a:ln>
        </p:spPr>
        <p:txBody>
          <a:bodyPr/>
          <a:lstStyle/>
          <a:p>
            <a:endParaRPr lang="en-US" dirty="0"/>
          </a:p>
        </p:txBody>
      </p:sp>
      <p:sp>
        <p:nvSpPr>
          <p:cNvPr id="14" name="Callout Text"/>
          <p:cNvSpPr/>
          <p:nvPr/>
        </p:nvSpPr>
        <p:spPr>
          <a:xfrm>
            <a:off x="868680" y="5541079"/>
            <a:ext cx="10451592" cy="73152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Testing without the correct preparation gives false negative results. Ask about recent antibiotics and acid-suppressing medicines before you request the test.</a:t>
            </a:r>
            <a:endParaRPr lang="en-US" sz="1600" dirty="0"/>
          </a:p>
        </p:txBody>
      </p:sp>
      <p:pic>
        <p:nvPicPr>
          <p:cNvPr id="17" name="Imagen 16">
            <a:extLst>
              <a:ext uri="{FF2B5EF4-FFF2-40B4-BE49-F238E27FC236}">
                <a16:creationId xmlns:a16="http://schemas.microsoft.com/office/drawing/2014/main" id="{80A2038C-ECE9-FEE5-871B-3857F2E34CA3}"/>
              </a:ext>
            </a:extLst>
          </p:cNvPr>
          <p:cNvPicPr>
            <a:picLocks noChangeAspect="1"/>
          </p:cNvPicPr>
          <p:nvPr/>
        </p:nvPicPr>
        <p:blipFill>
          <a:blip r:embed="rId4"/>
          <a:stretch>
            <a:fillRect/>
          </a:stretch>
        </p:blipFill>
        <p:spPr>
          <a:xfrm>
            <a:off x="4008527" y="4049645"/>
            <a:ext cx="4226859" cy="140895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6658CB6D-62F5-FDBC-8A34-C22368215A61}"/>
              </a:ext>
            </a:extLst>
          </p:cNvPr>
          <p:cNvPicPr>
            <a:picLocks noChangeAspect="1"/>
          </p:cNvPicPr>
          <p:nvPr/>
        </p:nvPicPr>
        <p:blipFill>
          <a:blip r:embed="rId2"/>
          <a:stretch>
            <a:fillRect/>
          </a:stretch>
        </p:blipFill>
        <p:spPr>
          <a:xfrm>
            <a:off x="7763124" y="4005084"/>
            <a:ext cx="4137212" cy="1379071"/>
          </a:xfrm>
          <a:prstGeom prst="rect">
            <a:avLst/>
          </a:prstGeom>
        </p:spPr>
      </p:pic>
      <p:pic>
        <p:nvPicPr>
          <p:cNvPr id="16" name="Imagen 15">
            <a:extLst>
              <a:ext uri="{FF2B5EF4-FFF2-40B4-BE49-F238E27FC236}">
                <a16:creationId xmlns:a16="http://schemas.microsoft.com/office/drawing/2014/main" id="{FDA41AC1-43EB-F0EA-9BE7-5F072C132C0C}"/>
              </a:ext>
            </a:extLst>
          </p:cNvPr>
          <p:cNvPicPr>
            <a:picLocks noChangeAspect="1"/>
          </p:cNvPicPr>
          <p:nvPr/>
        </p:nvPicPr>
        <p:blipFill>
          <a:blip r:embed="rId3"/>
          <a:stretch>
            <a:fillRect/>
          </a:stretch>
        </p:blipFill>
        <p:spPr>
          <a:xfrm>
            <a:off x="698587" y="3608290"/>
            <a:ext cx="3411030" cy="2274020"/>
          </a:xfrm>
          <a:prstGeom prst="rect">
            <a:avLst/>
          </a:prstGeom>
        </p:spPr>
      </p:pic>
      <p:sp>
        <p:nvSpPr>
          <p:cNvPr id="2" name="Text 0"/>
          <p:cNvSpPr/>
          <p:nvPr/>
        </p:nvSpPr>
        <p:spPr>
          <a:xfrm>
            <a:off x="685800" y="458098"/>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842146"/>
            <a:ext cx="10820095" cy="548640"/>
          </a:xfrm>
          <a:prstGeom prst="rect">
            <a:avLst/>
          </a:prstGeom>
          <a:noFill/>
          <a:ln/>
        </p:spPr>
        <p:txBody>
          <a:bodyPr wrap="square" lIns="0" tIns="0" rIns="0" bIns="0" rtlCol="0" anchor="ctr"/>
          <a:lstStyle/>
          <a:p>
            <a:pPr marL="0" indent="0">
              <a:buNone/>
            </a:pPr>
            <a:r>
              <a:rPr lang="en-US" sz="3000" b="1" i="0" dirty="0">
                <a:solidFill>
                  <a:srgbClr val="12406B"/>
                </a:solidFill>
                <a:latin typeface="Cambria" pitchFamily="34" charset="0"/>
                <a:ea typeface="Cambria" pitchFamily="34" charset="-122"/>
                <a:cs typeface="Cambria" pitchFamily="34" charset="-120"/>
              </a:rPr>
              <a:t>Treating </a:t>
            </a:r>
            <a:endParaRPr lang="en-US" sz="3000" i="1" dirty="0"/>
          </a:p>
        </p:txBody>
      </p:sp>
      <p:sp>
        <p:nvSpPr>
          <p:cNvPr id="4" name="Shape 2"/>
          <p:cNvSpPr/>
          <p:nvPr/>
        </p:nvSpPr>
        <p:spPr>
          <a:xfrm>
            <a:off x="685800" y="1423771"/>
            <a:ext cx="3423818" cy="2548328"/>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1797922"/>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First-line treatment</a:t>
            </a:r>
            <a:endParaRPr lang="en-US" sz="2000" dirty="0"/>
          </a:p>
        </p:txBody>
      </p:sp>
      <p:sp>
        <p:nvSpPr>
          <p:cNvPr id="6" name="Text 4"/>
          <p:cNvSpPr/>
          <p:nvPr/>
        </p:nvSpPr>
        <p:spPr>
          <a:xfrm>
            <a:off x="886968" y="2200258"/>
            <a:ext cx="3021482" cy="14630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 proton pump inhibitor with two antibiotics, taken for 14 days.</a:t>
            </a:r>
            <a:endParaRPr lang="en-US" dirty="0"/>
          </a:p>
        </p:txBody>
      </p:sp>
      <p:sp>
        <p:nvSpPr>
          <p:cNvPr id="7" name="Shape 5"/>
          <p:cNvSpPr/>
          <p:nvPr/>
        </p:nvSpPr>
        <p:spPr>
          <a:xfrm>
            <a:off x="4383938" y="1423771"/>
            <a:ext cx="3423818" cy="2548328"/>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1797922"/>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Adherence matters</a:t>
            </a:r>
            <a:endParaRPr lang="en-US" sz="2000" dirty="0"/>
          </a:p>
        </p:txBody>
      </p:sp>
      <p:sp>
        <p:nvSpPr>
          <p:cNvPr id="9" name="Text 7"/>
          <p:cNvSpPr/>
          <p:nvPr/>
        </p:nvSpPr>
        <p:spPr>
          <a:xfrm>
            <a:off x="4585106" y="2200258"/>
            <a:ext cx="3021482" cy="14630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that the full 14 days must be completed. Stopping early is a common reason eradication fails and resistance develops.</a:t>
            </a:r>
            <a:endParaRPr lang="en-US" dirty="0"/>
          </a:p>
        </p:txBody>
      </p:sp>
      <p:sp>
        <p:nvSpPr>
          <p:cNvPr id="10" name="Shape 8"/>
          <p:cNvSpPr/>
          <p:nvPr/>
        </p:nvSpPr>
        <p:spPr>
          <a:xfrm>
            <a:off x="8082077" y="1423771"/>
            <a:ext cx="3423818" cy="2548328"/>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1797922"/>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If treatment fails</a:t>
            </a:r>
            <a:endParaRPr lang="en-US" sz="2000" dirty="0"/>
          </a:p>
        </p:txBody>
      </p:sp>
      <p:sp>
        <p:nvSpPr>
          <p:cNvPr id="12" name="Text 10"/>
          <p:cNvSpPr/>
          <p:nvPr/>
        </p:nvSpPr>
        <p:spPr>
          <a:xfrm>
            <a:off x="8283245" y="2200258"/>
            <a:ext cx="3021482" cy="14630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Do not repeat the same regimen. Change the antibiotics. If a second course fails, bismuth-containing quadruple therapy is the next step.</a:t>
            </a:r>
            <a:endParaRPr lang="en-US"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3" name="Callout Box"/>
          <p:cNvSpPr/>
          <p:nvPr/>
        </p:nvSpPr>
        <p:spPr>
          <a:xfrm>
            <a:off x="685800" y="5541078"/>
            <a:ext cx="10817352" cy="731520"/>
          </a:xfrm>
          <a:prstGeom prst="roundRect">
            <a:avLst>
              <a:gd name="adj" fmla="val 8571"/>
            </a:avLst>
          </a:prstGeom>
          <a:solidFill>
            <a:srgbClr val="FCEFDD"/>
          </a:solidFill>
          <a:ln w="12700">
            <a:solidFill>
              <a:srgbClr val="EBC48A"/>
            </a:solidFill>
            <a:prstDash val="solid"/>
          </a:ln>
        </p:spPr>
        <p:txBody>
          <a:bodyPr/>
          <a:lstStyle/>
          <a:p>
            <a:endParaRPr lang="en-US" dirty="0"/>
          </a:p>
        </p:txBody>
      </p:sp>
      <p:sp>
        <p:nvSpPr>
          <p:cNvPr id="14" name="Callout Text"/>
          <p:cNvSpPr/>
          <p:nvPr/>
        </p:nvSpPr>
        <p:spPr>
          <a:xfrm>
            <a:off x="868680" y="5541078"/>
            <a:ext cx="10451592" cy="73152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Confirm eradication after treatment with a stool antigen or urea breath test, using the same preparation rules: no antibiotics for 4 weeks and no proton pump inhibitors for 2 weeks.</a:t>
            </a:r>
            <a:endParaRPr lang="en-US" sz="1600" dirty="0"/>
          </a:p>
        </p:txBody>
      </p:sp>
      <p:pic>
        <p:nvPicPr>
          <p:cNvPr id="17" name="Imagen 16">
            <a:extLst>
              <a:ext uri="{FF2B5EF4-FFF2-40B4-BE49-F238E27FC236}">
                <a16:creationId xmlns:a16="http://schemas.microsoft.com/office/drawing/2014/main" id="{E65CBAB5-3EB2-E34C-D433-79812A57133A}"/>
              </a:ext>
            </a:extLst>
          </p:cNvPr>
          <p:cNvPicPr>
            <a:picLocks noChangeAspect="1"/>
          </p:cNvPicPr>
          <p:nvPr/>
        </p:nvPicPr>
        <p:blipFill>
          <a:blip r:embed="rId4"/>
          <a:stretch>
            <a:fillRect/>
          </a:stretch>
        </p:blipFill>
        <p:spPr>
          <a:xfrm>
            <a:off x="4177920" y="4222133"/>
            <a:ext cx="3833112" cy="127770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17927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Staging: the TNM system</a:t>
            </a:r>
            <a:endParaRPr lang="en-US" sz="3000" dirty="0"/>
          </a:p>
        </p:txBody>
      </p:sp>
      <p:sp>
        <p:nvSpPr>
          <p:cNvPr id="4" name="Text 2"/>
          <p:cNvSpPr/>
          <p:nvPr/>
        </p:nvSpPr>
        <p:spPr>
          <a:xfrm>
            <a:off x="685800" y="1678150"/>
            <a:ext cx="10820095" cy="365760"/>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Select T, N, or M to reveal what each describes. You are not expected to stage patients yourself.</a:t>
            </a:r>
            <a:endParaRPr lang="en-US" sz="1250" dirty="0"/>
          </a:p>
        </p:txBody>
      </p:sp>
      <p:sp>
        <p:nvSpPr>
          <p:cNvPr id="5" name="Shape 3"/>
          <p:cNvSpPr/>
          <p:nvPr/>
        </p:nvSpPr>
        <p:spPr>
          <a:xfrm>
            <a:off x="685800" y="2136850"/>
            <a:ext cx="3423818" cy="1389888"/>
          </a:xfrm>
          <a:prstGeom prst="roundRect">
            <a:avLst>
              <a:gd name="adj" fmla="val 4706"/>
            </a:avLst>
          </a:prstGeom>
          <a:solidFill>
            <a:srgbClr val="EBF3FC"/>
          </a:solidFill>
          <a:ln w="12700">
            <a:solidFill>
              <a:srgbClr val="D3E4F5"/>
            </a:solidFill>
            <a:prstDash val="solid"/>
          </a:ln>
        </p:spPr>
        <p:txBody>
          <a:bodyPr/>
          <a:lstStyle/>
          <a:p>
            <a:endParaRPr lang="en-US" sz="2400" dirty="0"/>
          </a:p>
        </p:txBody>
      </p:sp>
      <p:sp>
        <p:nvSpPr>
          <p:cNvPr id="6" name="Text 4"/>
          <p:cNvSpPr/>
          <p:nvPr/>
        </p:nvSpPr>
        <p:spPr>
          <a:xfrm>
            <a:off x="886968" y="2238184"/>
            <a:ext cx="3021482" cy="457200"/>
          </a:xfrm>
          <a:prstGeom prst="rect">
            <a:avLst/>
          </a:prstGeom>
          <a:noFill/>
          <a:ln/>
        </p:spPr>
        <p:txBody>
          <a:bodyPr wrap="square" lIns="0" tIns="0" rIns="0" bIns="0" rtlCol="0" anchor="t"/>
          <a:lstStyle/>
          <a:p>
            <a:pPr marL="0" indent="0">
              <a:buNone/>
            </a:pPr>
            <a:r>
              <a:rPr lang="en-US" b="1" dirty="0">
                <a:solidFill>
                  <a:srgbClr val="12406B"/>
                </a:solidFill>
                <a:latin typeface="Cambria" pitchFamily="34" charset="0"/>
                <a:ea typeface="Cambria" pitchFamily="34" charset="-122"/>
                <a:cs typeface="Cambria" pitchFamily="34" charset="-120"/>
              </a:rPr>
              <a:t>T: primary tumor</a:t>
            </a:r>
            <a:endParaRPr lang="en-US" dirty="0"/>
          </a:p>
        </p:txBody>
      </p:sp>
      <p:sp>
        <p:nvSpPr>
          <p:cNvPr id="7" name="Text 5"/>
          <p:cNvSpPr/>
          <p:nvPr/>
        </p:nvSpPr>
        <p:spPr>
          <a:xfrm>
            <a:off x="886968" y="2560320"/>
            <a:ext cx="3021482" cy="868680"/>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How deeply the tumor has grown through the gastric wall and nearby structures.</a:t>
            </a:r>
            <a:endParaRPr lang="en-US" sz="1600" dirty="0"/>
          </a:p>
        </p:txBody>
      </p:sp>
      <p:sp>
        <p:nvSpPr>
          <p:cNvPr id="8" name="Shape 6"/>
          <p:cNvSpPr/>
          <p:nvPr/>
        </p:nvSpPr>
        <p:spPr>
          <a:xfrm>
            <a:off x="685800" y="3584602"/>
            <a:ext cx="3423818" cy="1116462"/>
          </a:xfrm>
          <a:prstGeom prst="roundRect">
            <a:avLst>
              <a:gd name="adj" fmla="val 4706"/>
            </a:avLst>
          </a:prstGeom>
          <a:solidFill>
            <a:srgbClr val="EBF3FC"/>
          </a:solidFill>
          <a:ln w="12700">
            <a:solidFill>
              <a:srgbClr val="D3E4F5"/>
            </a:solidFill>
            <a:prstDash val="solid"/>
          </a:ln>
        </p:spPr>
        <p:txBody>
          <a:bodyPr/>
          <a:lstStyle/>
          <a:p>
            <a:endParaRPr lang="en-US" sz="2400" dirty="0"/>
          </a:p>
        </p:txBody>
      </p:sp>
      <p:sp>
        <p:nvSpPr>
          <p:cNvPr id="9" name="Text 7"/>
          <p:cNvSpPr/>
          <p:nvPr/>
        </p:nvSpPr>
        <p:spPr>
          <a:xfrm>
            <a:off x="886968" y="3730906"/>
            <a:ext cx="3021482" cy="457200"/>
          </a:xfrm>
          <a:prstGeom prst="rect">
            <a:avLst/>
          </a:prstGeom>
          <a:noFill/>
          <a:ln/>
        </p:spPr>
        <p:txBody>
          <a:bodyPr wrap="square" lIns="0" tIns="0" rIns="0" bIns="0" rtlCol="0" anchor="t"/>
          <a:lstStyle/>
          <a:p>
            <a:pPr marL="0" indent="0">
              <a:buNone/>
            </a:pPr>
            <a:r>
              <a:rPr lang="en-US" b="1" dirty="0">
                <a:solidFill>
                  <a:srgbClr val="12406B"/>
                </a:solidFill>
                <a:latin typeface="Cambria" pitchFamily="34" charset="0"/>
                <a:ea typeface="Cambria" pitchFamily="34" charset="-122"/>
                <a:cs typeface="Cambria" pitchFamily="34" charset="-120"/>
              </a:rPr>
              <a:t>N: regional lymph nodes</a:t>
            </a:r>
            <a:endParaRPr lang="en-US" dirty="0"/>
          </a:p>
        </p:txBody>
      </p:sp>
      <p:sp>
        <p:nvSpPr>
          <p:cNvPr id="10" name="Text 8"/>
          <p:cNvSpPr/>
          <p:nvPr/>
        </p:nvSpPr>
        <p:spPr>
          <a:xfrm>
            <a:off x="886968" y="4058292"/>
            <a:ext cx="3021482" cy="640080"/>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Whether lymph nodes near the stomach are involved.</a:t>
            </a:r>
            <a:endParaRPr lang="en-US" sz="1600" dirty="0"/>
          </a:p>
        </p:txBody>
      </p:sp>
      <p:sp>
        <p:nvSpPr>
          <p:cNvPr id="11" name="Shape 9"/>
          <p:cNvSpPr/>
          <p:nvPr/>
        </p:nvSpPr>
        <p:spPr>
          <a:xfrm>
            <a:off x="685800" y="4882448"/>
            <a:ext cx="3423818" cy="1290652"/>
          </a:xfrm>
          <a:prstGeom prst="roundRect">
            <a:avLst>
              <a:gd name="adj" fmla="val 4706"/>
            </a:avLst>
          </a:prstGeom>
          <a:solidFill>
            <a:srgbClr val="EBF3FC"/>
          </a:solidFill>
          <a:ln w="12700">
            <a:solidFill>
              <a:srgbClr val="D3E4F5"/>
            </a:solidFill>
            <a:prstDash val="solid"/>
          </a:ln>
        </p:spPr>
        <p:txBody>
          <a:bodyPr/>
          <a:lstStyle/>
          <a:p>
            <a:endParaRPr lang="en-US" sz="2400" dirty="0"/>
          </a:p>
        </p:txBody>
      </p:sp>
      <p:sp>
        <p:nvSpPr>
          <p:cNvPr id="12" name="Text 10"/>
          <p:cNvSpPr/>
          <p:nvPr/>
        </p:nvSpPr>
        <p:spPr>
          <a:xfrm>
            <a:off x="886968" y="5028752"/>
            <a:ext cx="3021482" cy="457200"/>
          </a:xfrm>
          <a:prstGeom prst="rect">
            <a:avLst/>
          </a:prstGeom>
          <a:noFill/>
          <a:ln/>
        </p:spPr>
        <p:txBody>
          <a:bodyPr wrap="square" lIns="0" tIns="0" rIns="0" bIns="0" rtlCol="0" anchor="t"/>
          <a:lstStyle/>
          <a:p>
            <a:pPr marL="0" indent="0">
              <a:buNone/>
            </a:pPr>
            <a:r>
              <a:rPr lang="en-US" b="1" dirty="0">
                <a:solidFill>
                  <a:srgbClr val="12406B"/>
                </a:solidFill>
                <a:latin typeface="Cambria" pitchFamily="34" charset="0"/>
                <a:ea typeface="Cambria" pitchFamily="34" charset="-122"/>
                <a:cs typeface="Cambria" pitchFamily="34" charset="-120"/>
              </a:rPr>
              <a:t>M: distant metastasis</a:t>
            </a:r>
            <a:endParaRPr lang="en-US" dirty="0"/>
          </a:p>
        </p:txBody>
      </p:sp>
      <p:sp>
        <p:nvSpPr>
          <p:cNvPr id="13" name="Text 11"/>
          <p:cNvSpPr/>
          <p:nvPr/>
        </p:nvSpPr>
        <p:spPr>
          <a:xfrm>
            <a:off x="886968" y="5386118"/>
            <a:ext cx="3021482" cy="731520"/>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Whether distant spread is present, e.g. peritoneum or liver.</a:t>
            </a:r>
            <a:endParaRPr lang="en-US" sz="1600" dirty="0"/>
          </a:p>
        </p:txBody>
      </p:sp>
      <p:sp>
        <p:nvSpPr>
          <p:cNvPr id="16" name="Text 1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22" name="Imagen 21">
            <a:extLst>
              <a:ext uri="{FF2B5EF4-FFF2-40B4-BE49-F238E27FC236}">
                <a16:creationId xmlns:a16="http://schemas.microsoft.com/office/drawing/2014/main" id="{62312779-AEF7-D74C-4DB7-B0E2839015A8}"/>
              </a:ext>
            </a:extLst>
          </p:cNvPr>
          <p:cNvPicPr>
            <a:picLocks noChangeAspect="1"/>
          </p:cNvPicPr>
          <p:nvPr/>
        </p:nvPicPr>
        <p:blipFill>
          <a:blip r:embed="rId3"/>
          <a:srcRect t="4762" b="7230"/>
          <a:stretch>
            <a:fillRect/>
          </a:stretch>
        </p:blipFill>
        <p:spPr>
          <a:xfrm>
            <a:off x="5421608" y="3375409"/>
            <a:ext cx="4143972" cy="2918598"/>
          </a:xfrm>
          <a:prstGeom prst="rect">
            <a:avLst/>
          </a:prstGeom>
        </p:spPr>
      </p:pic>
      <p:sp>
        <p:nvSpPr>
          <p:cNvPr id="23" name="Shape 2">
            <a:extLst>
              <a:ext uri="{FF2B5EF4-FFF2-40B4-BE49-F238E27FC236}">
                <a16:creationId xmlns:a16="http://schemas.microsoft.com/office/drawing/2014/main" id="{4EFF7253-3D6F-79AC-C93F-0C4DC122C8E7}"/>
              </a:ext>
            </a:extLst>
          </p:cNvPr>
          <p:cNvSpPr/>
          <p:nvPr/>
        </p:nvSpPr>
        <p:spPr>
          <a:xfrm>
            <a:off x="4653091" y="2206125"/>
            <a:ext cx="6049034" cy="1039030"/>
          </a:xfrm>
          <a:prstGeom prst="roundRect">
            <a:avLst>
              <a:gd name="adj" fmla="val 4000"/>
            </a:avLst>
          </a:prstGeom>
          <a:solidFill>
            <a:srgbClr val="EBF3FC"/>
          </a:solidFill>
          <a:ln w="12700">
            <a:solidFill>
              <a:srgbClr val="D3E4F5"/>
            </a:solidFill>
            <a:prstDash val="solid"/>
          </a:ln>
        </p:spPr>
        <p:txBody>
          <a:bodyPr/>
          <a:lstStyle/>
          <a:p>
            <a:endParaRPr lang="en-US" sz="2400" dirty="0"/>
          </a:p>
        </p:txBody>
      </p:sp>
      <p:sp>
        <p:nvSpPr>
          <p:cNvPr id="24" name="Text 3">
            <a:extLst>
              <a:ext uri="{FF2B5EF4-FFF2-40B4-BE49-F238E27FC236}">
                <a16:creationId xmlns:a16="http://schemas.microsoft.com/office/drawing/2014/main" id="{038D2F4B-72CF-2A3F-0C90-658274AB3A17}"/>
              </a:ext>
            </a:extLst>
          </p:cNvPr>
          <p:cNvSpPr/>
          <p:nvPr/>
        </p:nvSpPr>
        <p:spPr>
          <a:xfrm>
            <a:off x="4854259" y="2271149"/>
            <a:ext cx="6049034" cy="167511"/>
          </a:xfrm>
          <a:prstGeom prst="rect">
            <a:avLst/>
          </a:prstGeom>
          <a:noFill/>
          <a:ln/>
        </p:spPr>
        <p:txBody>
          <a:bodyPr wrap="square" lIns="0" tIns="0" rIns="0" bIns="0" rtlCol="0" anchor="t"/>
          <a:lstStyle/>
          <a:p>
            <a:pPr marL="0" indent="0">
              <a:buNone/>
            </a:pPr>
            <a:r>
              <a:rPr lang="en-US" b="1" dirty="0">
                <a:solidFill>
                  <a:srgbClr val="12406B"/>
                </a:solidFill>
                <a:latin typeface="Cambria" pitchFamily="34" charset="0"/>
                <a:ea typeface="Cambria" pitchFamily="34" charset="-122"/>
                <a:cs typeface="Cambria" pitchFamily="34" charset="-120"/>
              </a:rPr>
              <a:t>Stage = how far it has spread</a:t>
            </a:r>
            <a:endParaRPr lang="en-US" dirty="0"/>
          </a:p>
        </p:txBody>
      </p:sp>
      <p:sp>
        <p:nvSpPr>
          <p:cNvPr id="25" name="Text 4">
            <a:extLst>
              <a:ext uri="{FF2B5EF4-FFF2-40B4-BE49-F238E27FC236}">
                <a16:creationId xmlns:a16="http://schemas.microsoft.com/office/drawing/2014/main" id="{22B55093-FA9E-DEDF-1C32-02D56A7C15DB}"/>
              </a:ext>
            </a:extLst>
          </p:cNvPr>
          <p:cNvSpPr/>
          <p:nvPr/>
        </p:nvSpPr>
        <p:spPr>
          <a:xfrm>
            <a:off x="4854259" y="2673485"/>
            <a:ext cx="6049034" cy="469032"/>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Stage combines T, N, and M. It communicates extent of disease, helps predict prognosis, and guides treatment planning.</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150147"/>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Stage and grade are different</a:t>
            </a:r>
            <a:endParaRPr lang="en-US" sz="3000" dirty="0"/>
          </a:p>
        </p:txBody>
      </p:sp>
      <p:sp>
        <p:nvSpPr>
          <p:cNvPr id="7" name="Shape 5"/>
          <p:cNvSpPr/>
          <p:nvPr/>
        </p:nvSpPr>
        <p:spPr>
          <a:xfrm>
            <a:off x="685800" y="1715670"/>
            <a:ext cx="11147612" cy="1153040"/>
          </a:xfrm>
          <a:prstGeom prst="roundRect">
            <a:avLst>
              <a:gd name="adj" fmla="val 4000"/>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886968" y="1861974"/>
            <a:ext cx="10297018"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Grade = how abnormal the cells look</a:t>
            </a:r>
            <a:endParaRPr lang="en-US" sz="2000" dirty="0"/>
          </a:p>
        </p:txBody>
      </p:sp>
      <p:sp>
        <p:nvSpPr>
          <p:cNvPr id="9" name="Text 7"/>
          <p:cNvSpPr/>
          <p:nvPr/>
        </p:nvSpPr>
        <p:spPr>
          <a:xfrm>
            <a:off x="886968" y="2210522"/>
            <a:ext cx="10297018" cy="12801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 pathologist assesses how differentiated the cancer cells appear under the microscope. Higher grade generally means more aggressive tissue. You do not grade it yourself.</a:t>
            </a:r>
            <a:endParaRPr lang="en-US" dirty="0"/>
          </a:p>
        </p:txBody>
      </p:sp>
      <p:sp>
        <p:nvSpPr>
          <p:cNvPr id="12" name="Text 1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4" name="Imagen 13">
            <a:extLst>
              <a:ext uri="{FF2B5EF4-FFF2-40B4-BE49-F238E27FC236}">
                <a16:creationId xmlns:a16="http://schemas.microsoft.com/office/drawing/2014/main" id="{AA7B199A-5350-7F07-22E1-F4272F9388C2}"/>
              </a:ext>
            </a:extLst>
          </p:cNvPr>
          <p:cNvPicPr>
            <a:picLocks noChangeAspect="1"/>
          </p:cNvPicPr>
          <p:nvPr/>
        </p:nvPicPr>
        <p:blipFill>
          <a:blip r:embed="rId3"/>
          <a:srcRect t="8813" b="14717"/>
          <a:stretch>
            <a:fillRect/>
          </a:stretch>
        </p:blipFill>
        <p:spPr>
          <a:xfrm>
            <a:off x="3062556" y="3007984"/>
            <a:ext cx="5945841" cy="303121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Check your understanding</a:t>
            </a:r>
            <a:endParaRPr lang="en-US" sz="3000" dirty="0"/>
          </a:p>
        </p:txBody>
      </p:sp>
      <p:sp>
        <p:nvSpPr>
          <p:cNvPr id="4" name="Text 2"/>
          <p:cNvSpPr/>
          <p:nvPr/>
        </p:nvSpPr>
        <p:spPr>
          <a:xfrm>
            <a:off x="685800" y="1965960"/>
            <a:ext cx="6675120" cy="457200"/>
          </a:xfrm>
          <a:prstGeom prst="rect">
            <a:avLst/>
          </a:prstGeom>
          <a:noFill/>
          <a:ln/>
        </p:spPr>
        <p:txBody>
          <a:bodyPr wrap="square" lIns="0" tIns="0" rIns="0" bIns="0" rtlCol="0" anchor="ctr"/>
          <a:lstStyle/>
          <a:p>
            <a:pPr marL="0" indent="0">
              <a:buNone/>
            </a:pPr>
            <a:r>
              <a:rPr lang="en-US" sz="1800" b="1" dirty="0">
                <a:solidFill>
                  <a:srgbClr val="12406B"/>
                </a:solidFill>
                <a:latin typeface="Cambria" pitchFamily="34" charset="0"/>
                <a:ea typeface="Cambria" pitchFamily="34" charset="-122"/>
                <a:cs typeface="Cambria" pitchFamily="34" charset="-120"/>
              </a:rPr>
              <a:t>Which sequence best reflects how intestinal-type gastric cancer typically develops?</a:t>
            </a:r>
            <a:endParaRPr lang="en-US" sz="1600" dirty="0"/>
          </a:p>
        </p:txBody>
      </p:sp>
      <p:sp>
        <p:nvSpPr>
          <p:cNvPr id="5" name="Shape 3"/>
          <p:cNvSpPr/>
          <p:nvPr/>
        </p:nvSpPr>
        <p:spPr>
          <a:xfrm>
            <a:off x="685800" y="2606040"/>
            <a:ext cx="6675120" cy="566928"/>
          </a:xfrm>
          <a:prstGeom prst="roundRect">
            <a:avLst>
              <a:gd name="adj" fmla="val 8065"/>
            </a:avLst>
          </a:prstGeom>
          <a:solidFill>
            <a:srgbClr val="FFFFFF"/>
          </a:solidFill>
          <a:ln w="12700">
            <a:solidFill>
              <a:srgbClr val="D3E4F5"/>
            </a:solidFill>
            <a:prstDash val="solid"/>
          </a:ln>
        </p:spPr>
        <p:txBody>
          <a:bodyPr/>
          <a:lstStyle/>
          <a:p>
            <a:endParaRPr lang="en-US" sz="2400" dirty="0"/>
          </a:p>
        </p:txBody>
      </p:sp>
      <p:sp>
        <p:nvSpPr>
          <p:cNvPr id="6" name="Shape 4"/>
          <p:cNvSpPr/>
          <p:nvPr/>
        </p:nvSpPr>
        <p:spPr>
          <a:xfrm>
            <a:off x="795528" y="2734056"/>
            <a:ext cx="310896" cy="310896"/>
          </a:xfrm>
          <a:prstGeom prst="ellipse">
            <a:avLst/>
          </a:prstGeom>
          <a:solidFill>
            <a:srgbClr val="0C3D66"/>
          </a:solidFill>
          <a:ln/>
        </p:spPr>
        <p:txBody>
          <a:bodyPr/>
          <a:lstStyle/>
          <a:p>
            <a:endParaRPr lang="en-US" sz="2400" dirty="0"/>
          </a:p>
        </p:txBody>
      </p:sp>
      <p:sp>
        <p:nvSpPr>
          <p:cNvPr id="7" name="Text 5"/>
          <p:cNvSpPr/>
          <p:nvPr/>
        </p:nvSpPr>
        <p:spPr>
          <a:xfrm>
            <a:off x="795528" y="2734056"/>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8" name="Text 6"/>
          <p:cNvSpPr/>
          <p:nvPr/>
        </p:nvSpPr>
        <p:spPr>
          <a:xfrm>
            <a:off x="1234440" y="2606040"/>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Dysplasia, then chronic active gastritis, then normal mucosa</a:t>
            </a:r>
            <a:endParaRPr lang="en-US" sz="1600" dirty="0"/>
          </a:p>
        </p:txBody>
      </p:sp>
      <p:sp>
        <p:nvSpPr>
          <p:cNvPr id="9" name="Shape 7"/>
          <p:cNvSpPr/>
          <p:nvPr/>
        </p:nvSpPr>
        <p:spPr>
          <a:xfrm>
            <a:off x="685800" y="3319272"/>
            <a:ext cx="6675120" cy="566928"/>
          </a:xfrm>
          <a:prstGeom prst="roundRect">
            <a:avLst>
              <a:gd name="adj" fmla="val 8065"/>
            </a:avLst>
          </a:prstGeom>
          <a:solidFill>
            <a:srgbClr val="E6F4EB"/>
          </a:solidFill>
          <a:ln w="19050">
            <a:solidFill>
              <a:srgbClr val="9BCFA6"/>
            </a:solidFill>
            <a:prstDash val="solid"/>
          </a:ln>
        </p:spPr>
        <p:txBody>
          <a:bodyPr/>
          <a:lstStyle/>
          <a:p>
            <a:endParaRPr lang="en-US" sz="2400" dirty="0"/>
          </a:p>
        </p:txBody>
      </p:sp>
      <p:sp>
        <p:nvSpPr>
          <p:cNvPr id="10" name="Shape 8"/>
          <p:cNvSpPr/>
          <p:nvPr/>
        </p:nvSpPr>
        <p:spPr>
          <a:xfrm>
            <a:off x="795528" y="3447288"/>
            <a:ext cx="310896" cy="310896"/>
          </a:xfrm>
          <a:prstGeom prst="ellipse">
            <a:avLst/>
          </a:prstGeom>
          <a:solidFill>
            <a:srgbClr val="1E7A46"/>
          </a:solidFill>
          <a:ln/>
        </p:spPr>
        <p:txBody>
          <a:bodyPr/>
          <a:lstStyle/>
          <a:p>
            <a:endParaRPr lang="en-US" sz="2400" dirty="0"/>
          </a:p>
        </p:txBody>
      </p:sp>
      <p:sp>
        <p:nvSpPr>
          <p:cNvPr id="11" name="Text 9"/>
          <p:cNvSpPr/>
          <p:nvPr/>
        </p:nvSpPr>
        <p:spPr>
          <a:xfrm>
            <a:off x="795528" y="344728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1234440" y="3319272"/>
            <a:ext cx="5852160" cy="566928"/>
          </a:xfrm>
          <a:prstGeom prst="rect">
            <a:avLst/>
          </a:prstGeom>
          <a:noFill/>
          <a:ln/>
        </p:spPr>
        <p:txBody>
          <a:bodyPr wrap="square" lIns="0" tIns="0" rIns="0" bIns="0" rtlCol="0" anchor="ctr"/>
          <a:lstStyle/>
          <a:p>
            <a:pPr marL="0" indent="0">
              <a:buNone/>
            </a:pPr>
            <a:r>
              <a:rPr lang="en-US" sz="1800" b="1" dirty="0">
                <a:solidFill>
                  <a:srgbClr val="1E7A46"/>
                </a:solidFill>
                <a:latin typeface="Calibri" pitchFamily="34" charset="0"/>
                <a:ea typeface="Calibri" pitchFamily="34" charset="-122"/>
                <a:cs typeface="Calibri" pitchFamily="34" charset="-120"/>
              </a:rPr>
              <a:t>Chronic active gastritis, atrophic gastritis, intestinal metaplasia, dysplasia, then cancer</a:t>
            </a:r>
            <a:endParaRPr lang="en-US" sz="1600" dirty="0"/>
          </a:p>
        </p:txBody>
      </p:sp>
      <p:sp>
        <p:nvSpPr>
          <p:cNvPr id="13" name="Text 11"/>
          <p:cNvSpPr/>
          <p:nvPr/>
        </p:nvSpPr>
        <p:spPr>
          <a:xfrm>
            <a:off x="6995160" y="3319272"/>
            <a:ext cx="274320" cy="566928"/>
          </a:xfrm>
          <a:prstGeom prst="rect">
            <a:avLst/>
          </a:prstGeom>
          <a:noFill/>
          <a:ln/>
        </p:spPr>
        <p:txBody>
          <a:bodyPr wrap="square" lIns="0" tIns="0" rIns="0" bIns="0" rtlCol="0" anchor="ctr"/>
          <a:lstStyle/>
          <a:p>
            <a:pPr marL="0" indent="0" algn="ctr">
              <a:buNone/>
            </a:pPr>
            <a:r>
              <a:rPr lang="en-US" b="1" dirty="0">
                <a:solidFill>
                  <a:srgbClr val="1E7A46"/>
                </a:solidFill>
                <a:latin typeface="Calibri" pitchFamily="34" charset="0"/>
                <a:ea typeface="Calibri" pitchFamily="34" charset="-122"/>
                <a:cs typeface="Calibri" pitchFamily="34" charset="-120"/>
              </a:rPr>
              <a:t>✓</a:t>
            </a:r>
            <a:endParaRPr lang="en-US" dirty="0"/>
          </a:p>
        </p:txBody>
      </p:sp>
      <p:sp>
        <p:nvSpPr>
          <p:cNvPr id="14" name="Shape 12"/>
          <p:cNvSpPr/>
          <p:nvPr/>
        </p:nvSpPr>
        <p:spPr>
          <a:xfrm>
            <a:off x="685800" y="4032504"/>
            <a:ext cx="6675120" cy="566928"/>
          </a:xfrm>
          <a:prstGeom prst="roundRect">
            <a:avLst>
              <a:gd name="adj" fmla="val 8065"/>
            </a:avLst>
          </a:prstGeom>
          <a:solidFill>
            <a:srgbClr val="FFFFFF"/>
          </a:solidFill>
          <a:ln w="12700">
            <a:solidFill>
              <a:srgbClr val="D3E4F5"/>
            </a:solidFill>
            <a:prstDash val="solid"/>
          </a:ln>
        </p:spPr>
        <p:txBody>
          <a:bodyPr/>
          <a:lstStyle/>
          <a:p>
            <a:endParaRPr lang="en-US" sz="2400" dirty="0"/>
          </a:p>
        </p:txBody>
      </p:sp>
      <p:sp>
        <p:nvSpPr>
          <p:cNvPr id="15" name="Shape 13"/>
          <p:cNvSpPr/>
          <p:nvPr/>
        </p:nvSpPr>
        <p:spPr>
          <a:xfrm>
            <a:off x="795528" y="4160520"/>
            <a:ext cx="310896" cy="310896"/>
          </a:xfrm>
          <a:prstGeom prst="ellipse">
            <a:avLst/>
          </a:prstGeom>
          <a:solidFill>
            <a:srgbClr val="0C3D66"/>
          </a:solidFill>
          <a:ln/>
        </p:spPr>
        <p:txBody>
          <a:bodyPr/>
          <a:lstStyle/>
          <a:p>
            <a:endParaRPr lang="en-US" sz="2400" dirty="0"/>
          </a:p>
        </p:txBody>
      </p:sp>
      <p:sp>
        <p:nvSpPr>
          <p:cNvPr id="16" name="Text 14"/>
          <p:cNvSpPr/>
          <p:nvPr/>
        </p:nvSpPr>
        <p:spPr>
          <a:xfrm>
            <a:off x="795528" y="416052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234440" y="4032504"/>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Cancer first, with no earlier premalignant phase in any patient</a:t>
            </a:r>
            <a:endParaRPr lang="en-US" sz="1600" dirty="0"/>
          </a:p>
        </p:txBody>
      </p:sp>
      <p:sp>
        <p:nvSpPr>
          <p:cNvPr id="18" name="Shape 16"/>
          <p:cNvSpPr/>
          <p:nvPr/>
        </p:nvSpPr>
        <p:spPr>
          <a:xfrm>
            <a:off x="685800" y="4745736"/>
            <a:ext cx="6675120" cy="566928"/>
          </a:xfrm>
          <a:prstGeom prst="roundRect">
            <a:avLst>
              <a:gd name="adj" fmla="val 8065"/>
            </a:avLst>
          </a:prstGeom>
          <a:solidFill>
            <a:srgbClr val="FFFFFF"/>
          </a:solidFill>
          <a:ln w="12700">
            <a:solidFill>
              <a:srgbClr val="D3E4F5"/>
            </a:solidFill>
            <a:prstDash val="solid"/>
          </a:ln>
        </p:spPr>
        <p:txBody>
          <a:bodyPr/>
          <a:lstStyle/>
          <a:p>
            <a:endParaRPr lang="en-US" sz="2400" dirty="0"/>
          </a:p>
        </p:txBody>
      </p:sp>
      <p:sp>
        <p:nvSpPr>
          <p:cNvPr id="19" name="Shape 17"/>
          <p:cNvSpPr/>
          <p:nvPr/>
        </p:nvSpPr>
        <p:spPr>
          <a:xfrm>
            <a:off x="795528" y="4873752"/>
            <a:ext cx="310896" cy="310896"/>
          </a:xfrm>
          <a:prstGeom prst="ellipse">
            <a:avLst/>
          </a:prstGeom>
          <a:solidFill>
            <a:srgbClr val="0C3D66"/>
          </a:solidFill>
          <a:ln/>
        </p:spPr>
        <p:txBody>
          <a:bodyPr/>
          <a:lstStyle/>
          <a:p>
            <a:endParaRPr lang="en-US" sz="2400" dirty="0"/>
          </a:p>
        </p:txBody>
      </p:sp>
      <p:sp>
        <p:nvSpPr>
          <p:cNvPr id="20" name="Text 18"/>
          <p:cNvSpPr/>
          <p:nvPr/>
        </p:nvSpPr>
        <p:spPr>
          <a:xfrm>
            <a:off x="795528" y="4873752"/>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1234440" y="4745736"/>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Metastasis first, then a localised tumor</a:t>
            </a:r>
            <a:endParaRPr lang="en-US" sz="1600" dirty="0"/>
          </a:p>
        </p:txBody>
      </p:sp>
      <p:sp>
        <p:nvSpPr>
          <p:cNvPr id="22" name="Shape 20"/>
          <p:cNvSpPr/>
          <p:nvPr/>
        </p:nvSpPr>
        <p:spPr>
          <a:xfrm>
            <a:off x="7680960" y="1965960"/>
            <a:ext cx="3824935" cy="3977640"/>
          </a:xfrm>
          <a:prstGeom prst="roundRect">
            <a:avLst>
              <a:gd name="adj" fmla="val 1434"/>
            </a:avLst>
          </a:prstGeom>
          <a:solidFill>
            <a:srgbClr val="EBF3FC"/>
          </a:solidFill>
          <a:ln w="12700">
            <a:solidFill>
              <a:srgbClr val="D3E4F5"/>
            </a:solidFill>
            <a:prstDash val="solid"/>
          </a:ln>
        </p:spPr>
        <p:txBody>
          <a:bodyPr/>
          <a:lstStyle/>
          <a:p>
            <a:endParaRPr lang="en-US" dirty="0"/>
          </a:p>
        </p:txBody>
      </p:sp>
      <p:sp>
        <p:nvSpPr>
          <p:cNvPr id="23" name="Text 21"/>
          <p:cNvSpPr/>
          <p:nvPr/>
        </p:nvSpPr>
        <p:spPr>
          <a:xfrm>
            <a:off x="7882128" y="2148840"/>
            <a:ext cx="3422599" cy="365760"/>
          </a:xfrm>
          <a:prstGeom prst="rect">
            <a:avLst/>
          </a:prstGeom>
          <a:noFill/>
          <a:ln/>
        </p:spPr>
        <p:txBody>
          <a:bodyPr wrap="square" lIns="0" tIns="0" rIns="0" bIns="0" rtlCol="0" anchor="ctr"/>
          <a:lstStyle/>
          <a:p>
            <a:pPr marL="0" indent="0">
              <a:buNone/>
            </a:pPr>
            <a:r>
              <a:rPr lang="en-US" b="1" dirty="0">
                <a:solidFill>
                  <a:srgbClr val="1E7A46"/>
                </a:solidFill>
                <a:latin typeface="Cambria" pitchFamily="34" charset="0"/>
                <a:ea typeface="Cambria" pitchFamily="34" charset="-122"/>
                <a:cs typeface="Cambria" pitchFamily="34" charset="-120"/>
              </a:rPr>
              <a:t>Correct answer: B</a:t>
            </a:r>
            <a:endParaRPr lang="en-US" dirty="0"/>
          </a:p>
        </p:txBody>
      </p:sp>
      <p:sp>
        <p:nvSpPr>
          <p:cNvPr id="24" name="Text 22"/>
          <p:cNvSpPr/>
          <p:nvPr/>
        </p:nvSpPr>
        <p:spPr>
          <a:xfrm>
            <a:off x="7882128" y="2560320"/>
            <a:ext cx="3422599" cy="3200400"/>
          </a:xfrm>
          <a:prstGeom prst="rect">
            <a:avLst/>
          </a:prstGeom>
          <a:noFill/>
          <a:ln/>
        </p:spPr>
        <p:txBody>
          <a:bodyPr wrap="square" lIns="0" tIns="0" rIns="0" bIns="0" rtlCol="0" anchor="t"/>
          <a:lstStyle/>
          <a:p>
            <a:pPr marL="0" indent="0">
              <a:lnSpc>
                <a:spcPct val="110000"/>
              </a:lnSpc>
              <a:buNone/>
            </a:pPr>
            <a:r>
              <a:rPr lang="en-US" sz="1800" b="1" dirty="0">
                <a:solidFill>
                  <a:srgbClr val="12406B"/>
                </a:solidFill>
                <a:latin typeface="Calibri" pitchFamily="34" charset="0"/>
                <a:ea typeface="Calibri" pitchFamily="34" charset="-122"/>
                <a:cs typeface="Calibri" pitchFamily="34" charset="-120"/>
              </a:rPr>
              <a:t>Why  </a:t>
            </a:r>
            <a:r>
              <a:rPr lang="en-US" sz="1800" dirty="0">
                <a:solidFill>
                  <a:srgbClr val="1F3B50"/>
                </a:solidFill>
                <a:latin typeface="Calibri" pitchFamily="34" charset="0"/>
                <a:ea typeface="Calibri" pitchFamily="34" charset="-122"/>
                <a:cs typeface="Calibri" pitchFamily="34" charset="-120"/>
              </a:rPr>
              <a:t>The intestinal-type pathway usually progresses through chronic and atrophic gastritis, intestinal metaplasia, and dysplasia before invasive cancer. Not every person follows this sequence, and early disease is often silent.</a:t>
            </a:r>
            <a:endParaRPr lang="en-US" sz="1600" dirty="0"/>
          </a:p>
        </p:txBody>
      </p:sp>
      <p:sp>
        <p:nvSpPr>
          <p:cNvPr id="25" name="Text 2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(1/3)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 Most gastric cancers arise from which tissue?</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A. Glandular mucosa (adenocarcinoma)  ✓</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Smooth muscle</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Nerve sheath</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Fat</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A.  </a:t>
            </a:r>
            <a:r>
              <a:rPr lang="en-US" i="1" dirty="0">
                <a:solidFill>
                  <a:srgbClr val="5B7085"/>
                </a:solidFill>
                <a:latin typeface="Calibri" pitchFamily="34" charset="0"/>
                <a:ea typeface="Calibri" pitchFamily="34" charset="-122"/>
                <a:cs typeface="Calibri" pitchFamily="34" charset="-120"/>
              </a:rPr>
              <a:t>They are adenocarcinomas of glandular origin.</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Q2. Which best describes the stomach's position?</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Above the kidneys</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Between the oesophagus and duodenum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Behind the spleen</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Within the pelvis</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This position explains upper-GI symptoms and the endoscopic route.</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(2/3)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Q3. Intestinal metaplasia is best described as:</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Confirmed invasive cancer</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A premalignant, increased-risk change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 normal variant</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An acute infection</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increases risk but is not cancer.</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Q4. Stage and grade differ because:</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They are the same</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Stage is extent; grade is cell appearance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Grade is the extent</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Stage is the biopsy result</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Stage is where and how far; grade is how abnormal the cells look.</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(3/3)</a:t>
            </a:r>
            <a:endParaRPr lang="en-US" sz="3000" dirty="0"/>
          </a:p>
        </p:txBody>
      </p:sp>
      <p:sp>
        <p:nvSpPr>
          <p:cNvPr id="4" name="Shape 2"/>
          <p:cNvSpPr/>
          <p:nvPr/>
        </p:nvSpPr>
        <p:spPr>
          <a:xfrm>
            <a:off x="685800" y="1977111"/>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23415"/>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Q5. Chronic </a:t>
            </a:r>
            <a:r>
              <a:rPr lang="en-US" sz="2000" b="1" i="1" dirty="0">
                <a:solidFill>
                  <a:srgbClr val="12406B"/>
                </a:solidFill>
                <a:latin typeface="Calibri" pitchFamily="34" charset="0"/>
                <a:ea typeface="Calibri" pitchFamily="34" charset="-122"/>
                <a:cs typeface="Calibri" pitchFamily="34" charset="-120"/>
              </a:rPr>
              <a:t>H. pylori</a:t>
            </a:r>
            <a:r>
              <a:rPr lang="en-US" sz="2000" b="1" dirty="0">
                <a:solidFill>
                  <a:srgbClr val="12406B"/>
                </a:solidFill>
                <a:latin typeface="Calibri" pitchFamily="34" charset="0"/>
                <a:ea typeface="Calibri" pitchFamily="34" charset="-122"/>
                <a:cs typeface="Calibri" pitchFamily="34" charset="-120"/>
              </a:rPr>
              <a:t> infection:</a:t>
            </a:r>
            <a:endParaRPr lang="en-US" sz="2000" dirty="0"/>
          </a:p>
        </p:txBody>
      </p:sp>
      <p:sp>
        <p:nvSpPr>
          <p:cNvPr id="6" name="Text 4"/>
          <p:cNvSpPr/>
          <p:nvPr/>
        </p:nvSpPr>
        <p:spPr>
          <a:xfrm>
            <a:off x="914400" y="252575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Means the person has cancer</a:t>
            </a:r>
            <a:endParaRPr lang="en-US" dirty="0"/>
          </a:p>
        </p:txBody>
      </p:sp>
      <p:sp>
        <p:nvSpPr>
          <p:cNvPr id="7" name="Text 5"/>
          <p:cNvSpPr/>
          <p:nvPr/>
        </p:nvSpPr>
        <p:spPr>
          <a:xfrm>
            <a:off x="6095848" y="2525751"/>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Increases gastric-cancer risk over time  ✓</a:t>
            </a:r>
            <a:endParaRPr lang="en-US" dirty="0"/>
          </a:p>
        </p:txBody>
      </p:sp>
      <p:sp>
        <p:nvSpPr>
          <p:cNvPr id="8" name="Text 6"/>
          <p:cNvSpPr/>
          <p:nvPr/>
        </p:nvSpPr>
        <p:spPr>
          <a:xfrm>
            <a:off x="914400" y="285493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Has no effect on risk</a:t>
            </a:r>
            <a:endParaRPr lang="en-US" dirty="0"/>
          </a:p>
        </p:txBody>
      </p:sp>
      <p:sp>
        <p:nvSpPr>
          <p:cNvPr id="9" name="Text 7"/>
          <p:cNvSpPr/>
          <p:nvPr/>
        </p:nvSpPr>
        <p:spPr>
          <a:xfrm>
            <a:off x="6095848" y="285493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Is untreatable</a:t>
            </a:r>
            <a:endParaRPr lang="en-US" dirty="0"/>
          </a:p>
        </p:txBody>
      </p:sp>
      <p:sp>
        <p:nvSpPr>
          <p:cNvPr id="10" name="Text 8"/>
          <p:cNvSpPr/>
          <p:nvPr/>
        </p:nvSpPr>
        <p:spPr>
          <a:xfrm>
            <a:off x="914400" y="3302991"/>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is an important, treatable risk factor; most infected people never develop cancer.</a:t>
            </a:r>
            <a:endParaRPr lang="en-US" dirty="0"/>
          </a:p>
        </p:txBody>
      </p:sp>
      <p:sp>
        <p:nvSpPr>
          <p:cNvPr id="11" name="Shape 9"/>
          <p:cNvSpPr/>
          <p:nvPr/>
        </p:nvSpPr>
        <p:spPr>
          <a:xfrm>
            <a:off x="685800" y="3988791"/>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35095"/>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Q6. In TNM, the M category describes:</a:t>
            </a:r>
            <a:endParaRPr lang="en-US" sz="2000" dirty="0"/>
          </a:p>
        </p:txBody>
      </p:sp>
      <p:sp>
        <p:nvSpPr>
          <p:cNvPr id="13" name="Text 11"/>
          <p:cNvSpPr/>
          <p:nvPr/>
        </p:nvSpPr>
        <p:spPr>
          <a:xfrm>
            <a:off x="914400" y="453743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Tumor depth</a:t>
            </a:r>
            <a:endParaRPr lang="en-US" dirty="0"/>
          </a:p>
        </p:txBody>
      </p:sp>
      <p:sp>
        <p:nvSpPr>
          <p:cNvPr id="14" name="Text 12"/>
          <p:cNvSpPr/>
          <p:nvPr/>
        </p:nvSpPr>
        <p:spPr>
          <a:xfrm>
            <a:off x="6095848" y="453743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Lymph nodes</a:t>
            </a:r>
            <a:endParaRPr lang="en-US" dirty="0"/>
          </a:p>
        </p:txBody>
      </p:sp>
      <p:sp>
        <p:nvSpPr>
          <p:cNvPr id="15" name="Text 13"/>
          <p:cNvSpPr/>
          <p:nvPr/>
        </p:nvSpPr>
        <p:spPr>
          <a:xfrm>
            <a:off x="914400" y="4866615"/>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 Distant metastasis  ✓</a:t>
            </a:r>
            <a:endParaRPr lang="en-US" dirty="0"/>
          </a:p>
        </p:txBody>
      </p:sp>
      <p:sp>
        <p:nvSpPr>
          <p:cNvPr id="16" name="Text 14"/>
          <p:cNvSpPr/>
          <p:nvPr/>
        </p:nvSpPr>
        <p:spPr>
          <a:xfrm>
            <a:off x="6095848" y="486661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Grade</a:t>
            </a:r>
            <a:endParaRPr lang="en-US" dirty="0"/>
          </a:p>
        </p:txBody>
      </p:sp>
      <p:sp>
        <p:nvSpPr>
          <p:cNvPr id="17" name="Text 15"/>
          <p:cNvSpPr/>
          <p:nvPr/>
        </p:nvSpPr>
        <p:spPr>
          <a:xfrm>
            <a:off x="914400" y="5314671"/>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C.  </a:t>
            </a:r>
            <a:r>
              <a:rPr lang="en-US" i="1" dirty="0">
                <a:solidFill>
                  <a:srgbClr val="5B7085"/>
                </a:solidFill>
                <a:latin typeface="Calibri" pitchFamily="34" charset="0"/>
                <a:ea typeface="Calibri" pitchFamily="34" charset="-122"/>
                <a:cs typeface="Calibri" pitchFamily="34" charset="-120"/>
              </a:rPr>
              <a:t>M describes distant spread.</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1</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Session reflection</a:t>
            </a:r>
            <a:endParaRPr lang="en-US" sz="3000" dirty="0"/>
          </a:p>
        </p:txBody>
      </p:sp>
      <p:sp>
        <p:nvSpPr>
          <p:cNvPr id="4" name="Text 2"/>
          <p:cNvSpPr/>
          <p:nvPr/>
        </p:nvSpPr>
        <p:spPr>
          <a:xfrm>
            <a:off x="685800" y="1874519"/>
            <a:ext cx="10820095" cy="384048"/>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Enter your response in the text box. There is no single correct answer.</a:t>
            </a:r>
            <a:endParaRPr lang="en-US" sz="1300" dirty="0"/>
          </a:p>
        </p:txBody>
      </p:sp>
      <p:sp>
        <p:nvSpPr>
          <p:cNvPr id="5" name="Shape 3"/>
          <p:cNvSpPr/>
          <p:nvPr/>
        </p:nvSpPr>
        <p:spPr>
          <a:xfrm>
            <a:off x="685800" y="2377440"/>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800" dirty="0"/>
          </a:p>
        </p:txBody>
      </p:sp>
      <p:sp>
        <p:nvSpPr>
          <p:cNvPr id="6" name="Shape 4"/>
          <p:cNvSpPr/>
          <p:nvPr/>
        </p:nvSpPr>
        <p:spPr>
          <a:xfrm>
            <a:off x="914400" y="2555748"/>
            <a:ext cx="512064" cy="512064"/>
          </a:xfrm>
          <a:prstGeom prst="ellipse">
            <a:avLst/>
          </a:prstGeom>
          <a:solidFill>
            <a:srgbClr val="12857F"/>
          </a:solidFill>
          <a:ln/>
        </p:spPr>
        <p:txBody>
          <a:bodyPr/>
          <a:lstStyle/>
          <a:p>
            <a:endParaRPr lang="en-US" sz="2800" dirty="0"/>
          </a:p>
        </p:txBody>
      </p:sp>
      <p:sp>
        <p:nvSpPr>
          <p:cNvPr id="7" name="Text 5"/>
          <p:cNvSpPr/>
          <p:nvPr/>
        </p:nvSpPr>
        <p:spPr>
          <a:xfrm>
            <a:off x="914400" y="2555748"/>
            <a:ext cx="512064" cy="512064"/>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8" name="Text 6"/>
          <p:cNvSpPr/>
          <p:nvPr/>
        </p:nvSpPr>
        <p:spPr>
          <a:xfrm>
            <a:off x="1645920" y="2377440"/>
            <a:ext cx="9631375" cy="868680"/>
          </a:xfrm>
          <a:prstGeom prst="rect">
            <a:avLst/>
          </a:prstGeom>
          <a:noFill/>
          <a:ln/>
        </p:spPr>
        <p:txBody>
          <a:bodyPr wrap="square" lIns="0" tIns="0" rIns="0" bIns="0" rtlCol="0" anchor="ctr"/>
          <a:lstStyle/>
          <a:p>
            <a:pPr marL="0" indent="0">
              <a:lnSpc>
                <a:spcPct val="105000"/>
              </a:lnSpc>
              <a:buNone/>
            </a:pPr>
            <a:r>
              <a:rPr lang="en-US" sz="2000" dirty="0">
                <a:solidFill>
                  <a:srgbClr val="1F3B50"/>
                </a:solidFill>
                <a:latin typeface="Calibri" pitchFamily="34" charset="0"/>
                <a:ea typeface="Calibri" pitchFamily="34" charset="-122"/>
                <a:cs typeface="Calibri" pitchFamily="34" charset="-120"/>
              </a:rPr>
              <a:t>In your own words, how would you explain to a patient that a premalignant condition is not the same as cancer?</a:t>
            </a:r>
            <a:endParaRPr lang="en-US" sz="2000" dirty="0"/>
          </a:p>
        </p:txBody>
      </p:sp>
      <p:sp>
        <p:nvSpPr>
          <p:cNvPr id="9" name="Shape 7"/>
          <p:cNvSpPr/>
          <p:nvPr/>
        </p:nvSpPr>
        <p:spPr>
          <a:xfrm>
            <a:off x="685800" y="3447288"/>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800" dirty="0"/>
          </a:p>
        </p:txBody>
      </p:sp>
      <p:sp>
        <p:nvSpPr>
          <p:cNvPr id="10" name="Shape 8"/>
          <p:cNvSpPr/>
          <p:nvPr/>
        </p:nvSpPr>
        <p:spPr>
          <a:xfrm>
            <a:off x="914400" y="3625596"/>
            <a:ext cx="512064" cy="512064"/>
          </a:xfrm>
          <a:prstGeom prst="ellipse">
            <a:avLst/>
          </a:prstGeom>
          <a:solidFill>
            <a:srgbClr val="12857F"/>
          </a:solidFill>
          <a:ln/>
        </p:spPr>
        <p:txBody>
          <a:bodyPr/>
          <a:lstStyle/>
          <a:p>
            <a:endParaRPr lang="en-US" sz="2800" dirty="0"/>
          </a:p>
        </p:txBody>
      </p:sp>
      <p:sp>
        <p:nvSpPr>
          <p:cNvPr id="11" name="Text 9"/>
          <p:cNvSpPr/>
          <p:nvPr/>
        </p:nvSpPr>
        <p:spPr>
          <a:xfrm>
            <a:off x="914400" y="3625596"/>
            <a:ext cx="512064" cy="512064"/>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2" name="Text 10"/>
          <p:cNvSpPr/>
          <p:nvPr/>
        </p:nvSpPr>
        <p:spPr>
          <a:xfrm>
            <a:off x="1645920" y="3447288"/>
            <a:ext cx="9631375" cy="868680"/>
          </a:xfrm>
          <a:prstGeom prst="rect">
            <a:avLst/>
          </a:prstGeom>
          <a:noFill/>
          <a:ln/>
        </p:spPr>
        <p:txBody>
          <a:bodyPr wrap="square" lIns="0" tIns="0" rIns="0" bIns="0" rtlCol="0" anchor="ctr"/>
          <a:lstStyle/>
          <a:p>
            <a:pPr marL="0" indent="0">
              <a:lnSpc>
                <a:spcPct val="105000"/>
              </a:lnSpc>
              <a:buNone/>
            </a:pPr>
            <a:r>
              <a:rPr lang="en-US" sz="2000" dirty="0">
                <a:solidFill>
                  <a:srgbClr val="1F3B50"/>
                </a:solidFill>
                <a:latin typeface="Calibri" pitchFamily="34" charset="0"/>
                <a:ea typeface="Calibri" pitchFamily="34" charset="-122"/>
                <a:cs typeface="Calibri" pitchFamily="34" charset="-120"/>
              </a:rPr>
              <a:t>Which single point about the gastric-cancer burden in Rwanda would you most want a colleague to understand, and why?</a:t>
            </a:r>
            <a:endParaRPr lang="en-US" sz="2000" dirty="0"/>
          </a:p>
        </p:txBody>
      </p:sp>
      <p:sp>
        <p:nvSpPr>
          <p:cNvPr id="13" name="Shape 11"/>
          <p:cNvSpPr/>
          <p:nvPr/>
        </p:nvSpPr>
        <p:spPr>
          <a:xfrm>
            <a:off x="685800" y="4517136"/>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800" dirty="0"/>
          </a:p>
        </p:txBody>
      </p:sp>
      <p:sp>
        <p:nvSpPr>
          <p:cNvPr id="14" name="Shape 12"/>
          <p:cNvSpPr/>
          <p:nvPr/>
        </p:nvSpPr>
        <p:spPr>
          <a:xfrm>
            <a:off x="914400" y="4695444"/>
            <a:ext cx="512064" cy="512064"/>
          </a:xfrm>
          <a:prstGeom prst="ellipse">
            <a:avLst/>
          </a:prstGeom>
          <a:solidFill>
            <a:srgbClr val="12857F"/>
          </a:solidFill>
          <a:ln/>
        </p:spPr>
        <p:txBody>
          <a:bodyPr/>
          <a:lstStyle/>
          <a:p>
            <a:endParaRPr lang="en-US" sz="2800" dirty="0"/>
          </a:p>
        </p:txBody>
      </p:sp>
      <p:sp>
        <p:nvSpPr>
          <p:cNvPr id="15" name="Text 13"/>
          <p:cNvSpPr/>
          <p:nvPr/>
        </p:nvSpPr>
        <p:spPr>
          <a:xfrm>
            <a:off x="914400" y="4695444"/>
            <a:ext cx="512064" cy="512064"/>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6" name="Text 14"/>
          <p:cNvSpPr/>
          <p:nvPr/>
        </p:nvSpPr>
        <p:spPr>
          <a:xfrm>
            <a:off x="1645920" y="4517136"/>
            <a:ext cx="9631375" cy="868680"/>
          </a:xfrm>
          <a:prstGeom prst="rect">
            <a:avLst/>
          </a:prstGeom>
          <a:noFill/>
          <a:ln/>
        </p:spPr>
        <p:txBody>
          <a:bodyPr wrap="square" lIns="0" tIns="0" rIns="0" bIns="0" rtlCol="0" anchor="ctr"/>
          <a:lstStyle/>
          <a:p>
            <a:pPr marL="0" indent="0">
              <a:lnSpc>
                <a:spcPct val="105000"/>
              </a:lnSpc>
              <a:buNone/>
            </a:pPr>
            <a:r>
              <a:rPr lang="en-US" sz="2000" dirty="0">
                <a:solidFill>
                  <a:srgbClr val="1F3B50"/>
                </a:solidFill>
                <a:latin typeface="Calibri" pitchFamily="34" charset="0"/>
                <a:ea typeface="Calibri" pitchFamily="34" charset="-122"/>
                <a:cs typeface="Calibri" pitchFamily="34" charset="-120"/>
              </a:rPr>
              <a:t>How does the difference between stage and grade change what you would tell a worried patient?</a:t>
            </a:r>
            <a:endParaRPr lang="en-US" sz="2000" dirty="0"/>
          </a:p>
        </p:txBody>
      </p:sp>
      <p:sp>
        <p:nvSpPr>
          <p:cNvPr id="17" name="Text 1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0C3D66"/>
        </a:solidFill>
        <a:effectLst/>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2518A"/>
          </a:solidFill>
          <a:ln/>
        </p:spPr>
        <p:txBody>
          <a:bodyPr/>
          <a:lstStyle/>
          <a:p>
            <a:endParaRPr lang="en-US" dirty="0"/>
          </a:p>
        </p:txBody>
      </p:sp>
      <p:sp>
        <p:nvSpPr>
          <p:cNvPr id="3" name="Shape 1"/>
          <p:cNvSpPr/>
          <p:nvPr/>
        </p:nvSpPr>
        <p:spPr>
          <a:xfrm>
            <a:off x="9784080" y="1737360"/>
            <a:ext cx="1371600" cy="1371600"/>
          </a:xfrm>
          <a:prstGeom prst="ellipse">
            <a:avLst/>
          </a:prstGeom>
          <a:solidFill>
            <a:srgbClr val="12857F"/>
          </a:solidFill>
          <a:ln/>
        </p:spPr>
        <p:txBody>
          <a:bodyPr/>
          <a:lstStyle/>
          <a:p>
            <a:endParaRPr lang="en-US" dirty="0"/>
          </a:p>
        </p:txBody>
      </p:sp>
      <p:sp>
        <p:nvSpPr>
          <p:cNvPr id="4" name="Text 2"/>
          <p:cNvSpPr/>
          <p:nvPr/>
        </p:nvSpPr>
        <p:spPr>
          <a:xfrm>
            <a:off x="9784080" y="1737360"/>
            <a:ext cx="1371600" cy="13716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5" name="Text 3"/>
          <p:cNvSpPr/>
          <p:nvPr/>
        </p:nvSpPr>
        <p:spPr>
          <a:xfrm>
            <a:off x="822960" y="2788920"/>
            <a:ext cx="7315200" cy="320040"/>
          </a:xfrm>
          <a:prstGeom prst="rect">
            <a:avLst/>
          </a:prstGeom>
          <a:noFill/>
          <a:ln/>
        </p:spPr>
        <p:txBody>
          <a:bodyPr wrap="square" lIns="0" tIns="0" rIns="0" bIns="0" rtlCol="0" anchor="ctr"/>
          <a:lstStyle/>
          <a:p>
            <a:pPr marL="0" indent="0">
              <a:buNone/>
            </a:pPr>
            <a:r>
              <a:rPr lang="en-US" sz="1300" b="1" kern="0" spc="200" dirty="0">
                <a:solidFill>
                  <a:srgbClr val="8FC7E8"/>
                </a:solidFill>
                <a:latin typeface="Calibri" pitchFamily="34" charset="0"/>
                <a:ea typeface="Calibri" pitchFamily="34" charset="-122"/>
                <a:cs typeface="Calibri" pitchFamily="34" charset="-120"/>
              </a:rPr>
              <a:t>SESSION 2</a:t>
            </a:r>
            <a:endParaRPr lang="en-US" sz="1300" dirty="0"/>
          </a:p>
        </p:txBody>
      </p:sp>
      <p:sp>
        <p:nvSpPr>
          <p:cNvPr id="6" name="Text 4"/>
          <p:cNvSpPr/>
          <p:nvPr/>
        </p:nvSpPr>
        <p:spPr>
          <a:xfrm>
            <a:off x="822960" y="3154680"/>
            <a:ext cx="84124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Screening and early detection</a:t>
            </a:r>
            <a:endParaRPr lang="en-US" sz="3600" dirty="0"/>
          </a:p>
        </p:txBody>
      </p:sp>
      <p:sp>
        <p:nvSpPr>
          <p:cNvPr id="7" name="Text 5"/>
          <p:cNvSpPr/>
          <p:nvPr/>
        </p:nvSpPr>
        <p:spPr>
          <a:xfrm>
            <a:off x="822960" y="4114800"/>
            <a:ext cx="7863840" cy="822960"/>
          </a:xfrm>
          <a:prstGeom prst="rect">
            <a:avLst/>
          </a:prstGeom>
          <a:noFill/>
          <a:ln/>
        </p:spPr>
        <p:txBody>
          <a:bodyPr wrap="square" lIns="0" tIns="0" rIns="0" bIns="0" rtlCol="0" anchor="ctr"/>
          <a:lstStyle/>
          <a:p>
            <a:pPr marL="0" indent="0">
              <a:lnSpc>
                <a:spcPct val="110000"/>
              </a:lnSpc>
              <a:buNone/>
            </a:pPr>
            <a:r>
              <a:rPr lang="en-US" sz="1800" dirty="0">
                <a:solidFill>
                  <a:srgbClr val="D6E6F5"/>
                </a:solidFill>
                <a:latin typeface="Calibri" pitchFamily="34" charset="0"/>
                <a:ea typeface="Calibri" pitchFamily="34" charset="-122"/>
                <a:cs typeface="Calibri" pitchFamily="34" charset="-120"/>
              </a:rPr>
              <a:t>Follow Uwase as you work through prevention, risk, symptoms, and how screening differs from assessing a person with symptoms.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Learning objectives</a:t>
            </a:r>
            <a:endParaRPr lang="en-US" sz="3000" dirty="0"/>
          </a:p>
        </p:txBody>
      </p:sp>
      <p:sp>
        <p:nvSpPr>
          <p:cNvPr id="4" name="Shape 2"/>
          <p:cNvSpPr/>
          <p:nvPr/>
        </p:nvSpPr>
        <p:spPr>
          <a:xfrm>
            <a:off x="685800" y="2011679"/>
            <a:ext cx="3423818" cy="1757433"/>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Distinguish</a:t>
            </a:r>
            <a:endParaRPr lang="en-US" sz="2000" dirty="0"/>
          </a:p>
        </p:txBody>
      </p:sp>
      <p:sp>
        <p:nvSpPr>
          <p:cNvPr id="6" name="Text 4"/>
          <p:cNvSpPr/>
          <p:nvPr/>
        </p:nvSpPr>
        <p:spPr>
          <a:xfrm>
            <a:off x="886968"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Distinguish prevention, screening, surveillance, and diagnostic assessment.</a:t>
            </a:r>
            <a:endParaRPr lang="en-US" dirty="0"/>
          </a:p>
        </p:txBody>
      </p:sp>
      <p:sp>
        <p:nvSpPr>
          <p:cNvPr id="7" name="Shape 5"/>
          <p:cNvSpPr/>
          <p:nvPr/>
        </p:nvSpPr>
        <p:spPr>
          <a:xfrm>
            <a:off x="4383938" y="2011679"/>
            <a:ext cx="3423818" cy="1757433"/>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Identify</a:t>
            </a:r>
            <a:endParaRPr lang="en-US" sz="2000" dirty="0"/>
          </a:p>
        </p:txBody>
      </p:sp>
      <p:sp>
        <p:nvSpPr>
          <p:cNvPr id="9" name="Text 7"/>
          <p:cNvSpPr/>
          <p:nvPr/>
        </p:nvSpPr>
        <p:spPr>
          <a:xfrm>
            <a:off x="4585106"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Identify established risk factors and concerning symptoms.</a:t>
            </a:r>
            <a:endParaRPr lang="en-US" dirty="0"/>
          </a:p>
        </p:txBody>
      </p:sp>
      <p:sp>
        <p:nvSpPr>
          <p:cNvPr id="10" name="Shape 8"/>
          <p:cNvSpPr/>
          <p:nvPr/>
        </p:nvSpPr>
        <p:spPr>
          <a:xfrm>
            <a:off x="8082077" y="2011679"/>
            <a:ext cx="3423818" cy="1757433"/>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Recognise red flags</a:t>
            </a:r>
            <a:endParaRPr lang="en-US" sz="2000" dirty="0"/>
          </a:p>
        </p:txBody>
      </p:sp>
      <p:sp>
        <p:nvSpPr>
          <p:cNvPr id="12" name="Text 10"/>
          <p:cNvSpPr/>
          <p:nvPr/>
        </p:nvSpPr>
        <p:spPr>
          <a:xfrm>
            <a:off x="8283245"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Recognise alarm features needing prompt or urgent assessment.</a:t>
            </a:r>
            <a:endParaRPr lang="en-US" dirty="0"/>
          </a:p>
        </p:txBody>
      </p:sp>
      <p:sp>
        <p:nvSpPr>
          <p:cNvPr id="13" name="Shape 11"/>
          <p:cNvSpPr/>
          <p:nvPr/>
        </p:nvSpPr>
        <p:spPr>
          <a:xfrm>
            <a:off x="685800" y="4140446"/>
            <a:ext cx="3423818" cy="1757433"/>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4286751"/>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Explain</a:t>
            </a:r>
            <a:endParaRPr lang="en-US" sz="2000" dirty="0"/>
          </a:p>
        </p:txBody>
      </p:sp>
      <p:sp>
        <p:nvSpPr>
          <p:cNvPr id="15" name="Text 13"/>
          <p:cNvSpPr/>
          <p:nvPr/>
        </p:nvSpPr>
        <p:spPr>
          <a:xfrm>
            <a:off x="886968" y="4689087"/>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how gastric-cancer screening approaches differ between settings.</a:t>
            </a:r>
            <a:endParaRPr lang="en-US" dirty="0"/>
          </a:p>
        </p:txBody>
      </p:sp>
      <p:sp>
        <p:nvSpPr>
          <p:cNvPr id="16" name="Shape 14"/>
          <p:cNvSpPr/>
          <p:nvPr/>
        </p:nvSpPr>
        <p:spPr>
          <a:xfrm>
            <a:off x="4383938" y="4140446"/>
            <a:ext cx="3423818" cy="1757433"/>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4286751"/>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Apply</a:t>
            </a:r>
            <a:endParaRPr lang="en-US" sz="2000" dirty="0"/>
          </a:p>
        </p:txBody>
      </p:sp>
      <p:sp>
        <p:nvSpPr>
          <p:cNvPr id="18" name="Text 16"/>
          <p:cNvSpPr/>
          <p:nvPr/>
        </p:nvSpPr>
        <p:spPr>
          <a:xfrm>
            <a:off x="4585106" y="4689087"/>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Apply Rwanda-appropriate judgement to a symptomatic patient.</a:t>
            </a:r>
            <a:endParaRPr lang="en-US" dirty="0"/>
          </a:p>
        </p:txBody>
      </p:sp>
      <p:sp>
        <p:nvSpPr>
          <p:cNvPr id="19" name="Text 17"/>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Meet Uwase</a:t>
            </a:r>
            <a:endParaRPr lang="en-US" sz="3000" dirty="0"/>
          </a:p>
        </p:txBody>
      </p:sp>
      <p:sp>
        <p:nvSpPr>
          <p:cNvPr id="4" name="Shape 2"/>
          <p:cNvSpPr/>
          <p:nvPr/>
        </p:nvSpPr>
        <p:spPr>
          <a:xfrm>
            <a:off x="685800" y="1874520"/>
            <a:ext cx="10820095" cy="3931920"/>
          </a:xfrm>
          <a:prstGeom prst="roundRect">
            <a:avLst>
              <a:gd name="adj" fmla="val 1395"/>
            </a:avLst>
          </a:prstGeom>
          <a:solidFill>
            <a:srgbClr val="FFF8E7"/>
          </a:solidFill>
          <a:ln w="15875">
            <a:solidFill>
              <a:srgbClr val="EBC48A"/>
            </a:solidFill>
            <a:prstDash val="solid"/>
          </a:ln>
        </p:spPr>
        <p:txBody>
          <a:bodyPr/>
          <a:lstStyle/>
          <a:p>
            <a:endParaRPr lang="en-US" dirty="0"/>
          </a:p>
        </p:txBody>
      </p:sp>
      <p:sp>
        <p:nvSpPr>
          <p:cNvPr id="5" name="Text 3"/>
          <p:cNvSpPr/>
          <p:nvPr/>
        </p:nvSpPr>
        <p:spPr>
          <a:xfrm>
            <a:off x="960120" y="2039112"/>
            <a:ext cx="10271455" cy="36576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  Clinical Case: Uwase Mukamana</a:t>
            </a:r>
            <a:endParaRPr lang="en-US" sz="1700" dirty="0"/>
          </a:p>
        </p:txBody>
      </p:sp>
      <p:sp>
        <p:nvSpPr>
          <p:cNvPr id="6" name="Text 4"/>
          <p:cNvSpPr/>
          <p:nvPr/>
        </p:nvSpPr>
        <p:spPr>
          <a:xfrm>
            <a:off x="960120" y="2560320"/>
            <a:ext cx="4998568" cy="914400"/>
          </a:xfrm>
          <a:prstGeom prst="rect">
            <a:avLst/>
          </a:prstGeom>
          <a:noFill/>
          <a:ln/>
        </p:spPr>
        <p:txBody>
          <a:bodyPr wrap="square" lIns="0" tIns="0" rIns="0" bIns="0" rtlCol="0" anchor="t"/>
          <a:lstStyle/>
          <a:p>
            <a:pPr marL="0" indent="0">
              <a:lnSpc>
                <a:spcPct val="100000"/>
              </a:lnSpc>
              <a:buNone/>
            </a:pPr>
            <a:r>
              <a:rPr lang="en-US" sz="1800" b="1" dirty="0">
                <a:solidFill>
                  <a:srgbClr val="1C6FB1"/>
                </a:solidFill>
                <a:latin typeface="Calibri" pitchFamily="34" charset="0"/>
                <a:ea typeface="Calibri" pitchFamily="34" charset="-122"/>
                <a:cs typeface="Calibri" pitchFamily="34" charset="-120"/>
              </a:rPr>
              <a:t>Patient
</a:t>
            </a:r>
            <a:r>
              <a:rPr lang="en-US" sz="1800" dirty="0">
                <a:solidFill>
                  <a:srgbClr val="1F3B50"/>
                </a:solidFill>
                <a:latin typeface="Calibri" pitchFamily="34" charset="0"/>
                <a:ea typeface="Calibri" pitchFamily="34" charset="-122"/>
                <a:cs typeface="Calibri" pitchFamily="34" charset="-120"/>
              </a:rPr>
              <a:t>58-year-old woman, works as a market trader in a district town.</a:t>
            </a:r>
            <a:endParaRPr lang="en-US" sz="1250" dirty="0"/>
          </a:p>
        </p:txBody>
      </p:sp>
      <p:sp>
        <p:nvSpPr>
          <p:cNvPr id="7" name="Text 5"/>
          <p:cNvSpPr/>
          <p:nvPr/>
        </p:nvSpPr>
        <p:spPr>
          <a:xfrm>
            <a:off x="6233008" y="2560320"/>
            <a:ext cx="4998568" cy="914400"/>
          </a:xfrm>
          <a:prstGeom prst="rect">
            <a:avLst/>
          </a:prstGeom>
          <a:noFill/>
          <a:ln/>
        </p:spPr>
        <p:txBody>
          <a:bodyPr wrap="square" lIns="0" tIns="0" rIns="0" bIns="0" rtlCol="0" anchor="t"/>
          <a:lstStyle/>
          <a:p>
            <a:pPr marL="0" indent="0">
              <a:lnSpc>
                <a:spcPct val="100000"/>
              </a:lnSpc>
              <a:buNone/>
            </a:pPr>
            <a:r>
              <a:rPr lang="en-US" sz="1800" b="1" dirty="0">
                <a:solidFill>
                  <a:srgbClr val="1C6FB1"/>
                </a:solidFill>
                <a:latin typeface="Calibri" pitchFamily="34" charset="0"/>
                <a:ea typeface="Calibri" pitchFamily="34" charset="-122"/>
                <a:cs typeface="Calibri" pitchFamily="34" charset="-120"/>
              </a:rPr>
              <a:t>Setting
</a:t>
            </a:r>
            <a:r>
              <a:rPr lang="en-US" sz="1800" dirty="0">
                <a:solidFill>
                  <a:srgbClr val="1F3B50"/>
                </a:solidFill>
                <a:latin typeface="Calibri" pitchFamily="34" charset="0"/>
                <a:ea typeface="Calibri" pitchFamily="34" charset="-122"/>
                <a:cs typeface="Calibri" pitchFamily="34" charset="-120"/>
              </a:rPr>
              <a:t>Health centre outpatient clinic in Rwanda.</a:t>
            </a:r>
            <a:endParaRPr lang="en-US" sz="1250" dirty="0"/>
          </a:p>
        </p:txBody>
      </p:sp>
      <p:sp>
        <p:nvSpPr>
          <p:cNvPr id="8" name="Text 6"/>
          <p:cNvSpPr/>
          <p:nvPr/>
        </p:nvSpPr>
        <p:spPr>
          <a:xfrm>
            <a:off x="960120" y="3611880"/>
            <a:ext cx="4998568" cy="914400"/>
          </a:xfrm>
          <a:prstGeom prst="rect">
            <a:avLst/>
          </a:prstGeom>
          <a:noFill/>
          <a:ln/>
        </p:spPr>
        <p:txBody>
          <a:bodyPr wrap="square" lIns="0" tIns="0" rIns="0" bIns="0" rtlCol="0" anchor="t"/>
          <a:lstStyle/>
          <a:p>
            <a:pPr marL="0" indent="0">
              <a:lnSpc>
                <a:spcPct val="100000"/>
              </a:lnSpc>
              <a:buNone/>
            </a:pPr>
            <a:r>
              <a:rPr lang="en-US" sz="1800" b="1" dirty="0">
                <a:solidFill>
                  <a:srgbClr val="1C6FB1"/>
                </a:solidFill>
                <a:latin typeface="Calibri" pitchFamily="34" charset="0"/>
                <a:ea typeface="Calibri" pitchFamily="34" charset="-122"/>
                <a:cs typeface="Calibri" pitchFamily="34" charset="-120"/>
              </a:rPr>
              <a:t>Presenting situation
</a:t>
            </a:r>
            <a:r>
              <a:rPr lang="en-US" sz="1800" dirty="0">
                <a:solidFill>
                  <a:srgbClr val="1F3B50"/>
                </a:solidFill>
                <a:latin typeface="Calibri" pitchFamily="34" charset="0"/>
                <a:ea typeface="Calibri" pitchFamily="34" charset="-122"/>
                <a:cs typeface="Calibri" pitchFamily="34" charset="-120"/>
              </a:rPr>
              <a:t>Three months of upper abdominal discomfort and feeling full quickly when she eats.</a:t>
            </a:r>
            <a:endParaRPr lang="en-US" sz="1250" dirty="0"/>
          </a:p>
        </p:txBody>
      </p:sp>
      <p:sp>
        <p:nvSpPr>
          <p:cNvPr id="9" name="Text 7"/>
          <p:cNvSpPr/>
          <p:nvPr/>
        </p:nvSpPr>
        <p:spPr>
          <a:xfrm>
            <a:off x="6233008" y="3611880"/>
            <a:ext cx="4998568" cy="1188720"/>
          </a:xfrm>
          <a:prstGeom prst="rect">
            <a:avLst/>
          </a:prstGeom>
          <a:noFill/>
          <a:ln/>
        </p:spPr>
        <p:txBody>
          <a:bodyPr wrap="square" lIns="0" tIns="0" rIns="0" bIns="0" rtlCol="0" anchor="t"/>
          <a:lstStyle/>
          <a:p>
            <a:pPr marL="0" indent="0">
              <a:lnSpc>
                <a:spcPct val="100000"/>
              </a:lnSpc>
              <a:buNone/>
            </a:pPr>
            <a:r>
              <a:rPr lang="en-US" sz="1800" b="1" dirty="0">
                <a:solidFill>
                  <a:srgbClr val="1C6FB1"/>
                </a:solidFill>
                <a:latin typeface="Calibri" pitchFamily="34" charset="0"/>
                <a:ea typeface="Calibri" pitchFamily="34" charset="-122"/>
                <a:cs typeface="Calibri" pitchFamily="34" charset="-120"/>
              </a:rPr>
              <a:t>What you know so far
</a:t>
            </a:r>
            <a:r>
              <a:rPr lang="en-US" sz="1800" dirty="0">
                <a:solidFill>
                  <a:srgbClr val="1F3B50"/>
                </a:solidFill>
                <a:latin typeface="Calibri" pitchFamily="34" charset="0"/>
                <a:ea typeface="Calibri" pitchFamily="34" charset="-122"/>
                <a:cs typeface="Calibri" pitchFamily="34" charset="-120"/>
              </a:rPr>
              <a:t>She has lost some weight without trying. She was treated for </a:t>
            </a:r>
            <a:r>
              <a:rPr lang="en-US" sz="1800" i="1" dirty="0">
                <a:solidFill>
                  <a:srgbClr val="1F3B50"/>
                </a:solidFill>
                <a:latin typeface="Calibri" pitchFamily="34" charset="0"/>
                <a:ea typeface="Calibri" pitchFamily="34" charset="-122"/>
                <a:cs typeface="Calibri" pitchFamily="34" charset="-120"/>
              </a:rPr>
              <a:t>H. pylori</a:t>
            </a:r>
            <a:r>
              <a:rPr lang="en-US" sz="1800" dirty="0">
                <a:solidFill>
                  <a:srgbClr val="1F3B50"/>
                </a:solidFill>
                <a:latin typeface="Calibri" pitchFamily="34" charset="0"/>
                <a:ea typeface="Calibri" pitchFamily="34" charset="-122"/>
                <a:cs typeface="Calibri" pitchFamily="34" charset="-120"/>
              </a:rPr>
              <a:t> several years ago but did not complete follow-up. No vomiting of blood so far.</a:t>
            </a:r>
            <a:endParaRPr lang="en-US" sz="1250" dirty="0"/>
          </a:p>
        </p:txBody>
      </p:sp>
      <p:sp>
        <p:nvSpPr>
          <p:cNvPr id="10" name="Shape 8"/>
          <p:cNvSpPr/>
          <p:nvPr/>
        </p:nvSpPr>
        <p:spPr>
          <a:xfrm>
            <a:off x="960120" y="4846320"/>
            <a:ext cx="10271455" cy="685800"/>
          </a:xfrm>
          <a:prstGeom prst="roundRect">
            <a:avLst>
              <a:gd name="adj" fmla="val 6667"/>
            </a:avLst>
          </a:prstGeom>
          <a:solidFill>
            <a:srgbClr val="FFFFFF"/>
          </a:solidFill>
          <a:ln w="12700">
            <a:solidFill>
              <a:srgbClr val="EBC48A"/>
            </a:solidFill>
            <a:prstDash val="solid"/>
          </a:ln>
        </p:spPr>
        <p:txBody>
          <a:bodyPr/>
          <a:lstStyle/>
          <a:p>
            <a:endParaRPr lang="en-US" dirty="0"/>
          </a:p>
        </p:txBody>
      </p:sp>
      <p:sp>
        <p:nvSpPr>
          <p:cNvPr id="11" name="Text 9"/>
          <p:cNvSpPr/>
          <p:nvPr/>
        </p:nvSpPr>
        <p:spPr>
          <a:xfrm>
            <a:off x="1143000" y="4846320"/>
            <a:ext cx="9905695" cy="685800"/>
          </a:xfrm>
          <a:prstGeom prst="rect">
            <a:avLst/>
          </a:prstGeom>
          <a:noFill/>
          <a:ln/>
        </p:spPr>
        <p:txBody>
          <a:bodyPr wrap="square" lIns="0" tIns="0" rIns="0" bIns="0" rtlCol="0" anchor="ctr"/>
          <a:lstStyle/>
          <a:p>
            <a:pPr marL="0" indent="0">
              <a:buNone/>
            </a:pPr>
            <a:r>
              <a:rPr lang="en-US" sz="1800" b="1" dirty="0">
                <a:solidFill>
                  <a:srgbClr val="C77A17"/>
                </a:solidFill>
                <a:latin typeface="Calibri" pitchFamily="34" charset="0"/>
                <a:ea typeface="Calibri" pitchFamily="34" charset="-122"/>
                <a:cs typeface="Calibri" pitchFamily="34" charset="-120"/>
              </a:rPr>
              <a:t>Learner task   </a:t>
            </a:r>
            <a:r>
              <a:rPr lang="en-US" sz="1800" dirty="0">
                <a:solidFill>
                  <a:srgbClr val="1F3B50"/>
                </a:solidFill>
                <a:latin typeface="Calibri" pitchFamily="34" charset="0"/>
                <a:ea typeface="Calibri" pitchFamily="34" charset="-122"/>
                <a:cs typeface="Calibri" pitchFamily="34" charset="-120"/>
              </a:rPr>
              <a:t>As you move through this session, decide what her symptoms mean and what should happen next. Her final diagnosis is not revealed yet.</a:t>
            </a:r>
            <a:endParaRPr lang="en-US" sz="1300" dirty="0"/>
          </a:p>
        </p:txBody>
      </p:sp>
      <p:sp>
        <p:nvSpPr>
          <p:cNvPr id="12" name="Text 1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Four things that are not the same</a:t>
            </a:r>
            <a:endParaRPr lang="en-US" sz="3000" dirty="0"/>
          </a:p>
        </p:txBody>
      </p:sp>
      <p:sp>
        <p:nvSpPr>
          <p:cNvPr id="4" name="Shape 2"/>
          <p:cNvSpPr/>
          <p:nvPr/>
        </p:nvSpPr>
        <p:spPr>
          <a:xfrm>
            <a:off x="685800" y="2020598"/>
            <a:ext cx="5272888" cy="1504747"/>
          </a:xfrm>
          <a:prstGeom prst="roundRect">
            <a:avLst>
              <a:gd name="adj" fmla="val 551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66903"/>
            <a:ext cx="487055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Primary prevention</a:t>
            </a:r>
            <a:endParaRPr lang="en-US" sz="2000" dirty="0"/>
          </a:p>
        </p:txBody>
      </p:sp>
      <p:sp>
        <p:nvSpPr>
          <p:cNvPr id="6" name="Text 4"/>
          <p:cNvSpPr/>
          <p:nvPr/>
        </p:nvSpPr>
        <p:spPr>
          <a:xfrm>
            <a:off x="886968" y="2569239"/>
            <a:ext cx="4870552" cy="7772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Reducing future risk before cancer develops, e.g. detecting and treating </a:t>
            </a:r>
            <a:r>
              <a:rPr lang="en-US" i="1" dirty="0">
                <a:solidFill>
                  <a:srgbClr val="1F3B50"/>
                </a:solidFill>
                <a:latin typeface="Calibri" pitchFamily="34" charset="0"/>
                <a:ea typeface="Calibri" pitchFamily="34" charset="-122"/>
                <a:cs typeface="Calibri" pitchFamily="34" charset="-120"/>
              </a:rPr>
              <a:t>H. pylori </a:t>
            </a:r>
            <a:r>
              <a:rPr lang="en-US" dirty="0">
                <a:solidFill>
                  <a:srgbClr val="1F3B50"/>
                </a:solidFill>
                <a:latin typeface="Calibri" pitchFamily="34" charset="0"/>
                <a:ea typeface="Calibri" pitchFamily="34" charset="-122"/>
                <a:cs typeface="Calibri" pitchFamily="34" charset="-120"/>
              </a:rPr>
              <a:t>where appropriate.</a:t>
            </a:r>
            <a:endParaRPr lang="en-US" dirty="0"/>
          </a:p>
        </p:txBody>
      </p:sp>
      <p:sp>
        <p:nvSpPr>
          <p:cNvPr id="7" name="Shape 5"/>
          <p:cNvSpPr/>
          <p:nvPr/>
        </p:nvSpPr>
        <p:spPr>
          <a:xfrm>
            <a:off x="6233008" y="2020598"/>
            <a:ext cx="5272888" cy="1504747"/>
          </a:xfrm>
          <a:prstGeom prst="roundRect">
            <a:avLst>
              <a:gd name="adj" fmla="val 5517"/>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6434176" y="2166903"/>
            <a:ext cx="487055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Screening</a:t>
            </a:r>
            <a:endParaRPr lang="en-US" sz="2000" dirty="0"/>
          </a:p>
        </p:txBody>
      </p:sp>
      <p:sp>
        <p:nvSpPr>
          <p:cNvPr id="9" name="Text 7"/>
          <p:cNvSpPr/>
          <p:nvPr/>
        </p:nvSpPr>
        <p:spPr>
          <a:xfrm>
            <a:off x="6434176" y="2569239"/>
            <a:ext cx="4870552" cy="7772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Testing people without symptoms to detect gastric cancer or significant precursors in a defined population.</a:t>
            </a:r>
            <a:endParaRPr lang="en-US" dirty="0"/>
          </a:p>
        </p:txBody>
      </p:sp>
      <p:sp>
        <p:nvSpPr>
          <p:cNvPr id="10" name="Shape 8"/>
          <p:cNvSpPr/>
          <p:nvPr/>
        </p:nvSpPr>
        <p:spPr>
          <a:xfrm>
            <a:off x="685800" y="3736323"/>
            <a:ext cx="5272888" cy="1504747"/>
          </a:xfrm>
          <a:prstGeom prst="roundRect">
            <a:avLst>
              <a:gd name="adj" fmla="val 5517"/>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86968" y="3882628"/>
            <a:ext cx="487055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Surveillance</a:t>
            </a:r>
            <a:endParaRPr lang="en-US" sz="2000" dirty="0"/>
          </a:p>
        </p:txBody>
      </p:sp>
      <p:sp>
        <p:nvSpPr>
          <p:cNvPr id="12" name="Text 10"/>
          <p:cNvSpPr/>
          <p:nvPr/>
        </p:nvSpPr>
        <p:spPr>
          <a:xfrm>
            <a:off x="886968" y="4284964"/>
            <a:ext cx="4870552" cy="7772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Planned follow-up of people already known to have conditions that increase future risk.</a:t>
            </a:r>
            <a:endParaRPr lang="en-US" dirty="0"/>
          </a:p>
        </p:txBody>
      </p:sp>
      <p:sp>
        <p:nvSpPr>
          <p:cNvPr id="13" name="Shape 11"/>
          <p:cNvSpPr/>
          <p:nvPr/>
        </p:nvSpPr>
        <p:spPr>
          <a:xfrm>
            <a:off x="6233008" y="3736323"/>
            <a:ext cx="5272888" cy="1504747"/>
          </a:xfrm>
          <a:prstGeom prst="roundRect">
            <a:avLst>
              <a:gd name="adj" fmla="val 5517"/>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6434176" y="3882628"/>
            <a:ext cx="487055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Diagnostic assessment</a:t>
            </a:r>
            <a:endParaRPr lang="en-US" sz="2000" dirty="0"/>
          </a:p>
        </p:txBody>
      </p:sp>
      <p:sp>
        <p:nvSpPr>
          <p:cNvPr id="15" name="Text 13"/>
          <p:cNvSpPr/>
          <p:nvPr/>
        </p:nvSpPr>
        <p:spPr>
          <a:xfrm>
            <a:off x="6434176" y="4284964"/>
            <a:ext cx="4870552" cy="7772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Investigating a person who has symptoms or concerning findings. This is not screening.</a:t>
            </a:r>
            <a:endParaRPr lang="en-US" dirty="0"/>
          </a:p>
        </p:txBody>
      </p:sp>
      <p:sp>
        <p:nvSpPr>
          <p:cNvPr id="16" name="Shape 14"/>
          <p:cNvSpPr/>
          <p:nvPr/>
        </p:nvSpPr>
        <p:spPr>
          <a:xfrm>
            <a:off x="685800" y="5413914"/>
            <a:ext cx="10820095" cy="640080"/>
          </a:xfrm>
          <a:prstGeom prst="roundRect">
            <a:avLst>
              <a:gd name="adj" fmla="val 8571"/>
            </a:avLst>
          </a:prstGeom>
          <a:solidFill>
            <a:srgbClr val="FCEFDD"/>
          </a:solidFill>
          <a:ln w="12700">
            <a:solidFill>
              <a:srgbClr val="EBC48A"/>
            </a:solidFill>
            <a:prstDash val="solid"/>
          </a:ln>
        </p:spPr>
        <p:txBody>
          <a:bodyPr/>
          <a:lstStyle/>
          <a:p>
            <a:endParaRPr lang="en-US" sz="2400" dirty="0"/>
          </a:p>
        </p:txBody>
      </p:sp>
      <p:sp>
        <p:nvSpPr>
          <p:cNvPr id="17" name="Text 15"/>
          <p:cNvSpPr/>
          <p:nvPr/>
        </p:nvSpPr>
        <p:spPr>
          <a:xfrm>
            <a:off x="868680" y="5413914"/>
            <a:ext cx="10454335" cy="64008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Do not call the investigation of a symptomatic patient screening. Keep these four ideas distinct throughout.</a:t>
            </a:r>
            <a:endParaRPr lang="en-US" sz="1600"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85800" y="575112"/>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798740"/>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Risk factors</a:t>
            </a:r>
            <a:endParaRPr lang="en-US" sz="3000" dirty="0"/>
          </a:p>
        </p:txBody>
      </p:sp>
      <p:sp>
        <p:nvSpPr>
          <p:cNvPr id="4" name="Shape 2"/>
          <p:cNvSpPr/>
          <p:nvPr/>
        </p:nvSpPr>
        <p:spPr>
          <a:xfrm>
            <a:off x="685800" y="1319129"/>
            <a:ext cx="3423818" cy="548640"/>
          </a:xfrm>
          <a:prstGeom prst="roundRect">
            <a:avLst>
              <a:gd name="adj" fmla="val 10000"/>
            </a:avLst>
          </a:prstGeom>
          <a:solidFill>
            <a:srgbClr val="12857F"/>
          </a:solidFill>
          <a:ln/>
        </p:spPr>
        <p:txBody>
          <a:bodyPr/>
          <a:lstStyle/>
          <a:p>
            <a:endParaRPr lang="en-US" sz="2800" dirty="0"/>
          </a:p>
        </p:txBody>
      </p:sp>
      <p:sp>
        <p:nvSpPr>
          <p:cNvPr id="5" name="Text 3"/>
          <p:cNvSpPr/>
          <p:nvPr/>
        </p:nvSpPr>
        <p:spPr>
          <a:xfrm>
            <a:off x="685800" y="1319129"/>
            <a:ext cx="342381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Modifiable</a:t>
            </a:r>
            <a:endParaRPr lang="en-US" sz="2000" dirty="0"/>
          </a:p>
        </p:txBody>
      </p:sp>
      <p:sp>
        <p:nvSpPr>
          <p:cNvPr id="6" name="Shape 4"/>
          <p:cNvSpPr/>
          <p:nvPr/>
        </p:nvSpPr>
        <p:spPr>
          <a:xfrm>
            <a:off x="685800" y="1993970"/>
            <a:ext cx="3423818" cy="3450113"/>
          </a:xfrm>
          <a:prstGeom prst="roundRect">
            <a:avLst>
              <a:gd name="adj" fmla="val 2521"/>
            </a:avLst>
          </a:prstGeom>
          <a:solidFill>
            <a:srgbClr val="EBF3FC"/>
          </a:solidFill>
          <a:ln w="12700">
            <a:solidFill>
              <a:srgbClr val="D3E4F5"/>
            </a:solidFill>
            <a:prstDash val="solid"/>
          </a:ln>
        </p:spPr>
        <p:txBody>
          <a:bodyPr/>
          <a:lstStyle/>
          <a:p>
            <a:endParaRPr lang="en-US" sz="2800" dirty="0"/>
          </a:p>
        </p:txBody>
      </p:sp>
      <p:sp>
        <p:nvSpPr>
          <p:cNvPr id="7" name="Text 5"/>
          <p:cNvSpPr/>
          <p:nvPr/>
        </p:nvSpPr>
        <p:spPr>
          <a:xfrm>
            <a:off x="914400" y="2518453"/>
            <a:ext cx="2966618" cy="2622967"/>
          </a:xfrm>
          <a:prstGeom prst="rect">
            <a:avLst/>
          </a:prstGeom>
          <a:noFill/>
          <a:ln/>
        </p:spPr>
        <p:txBody>
          <a:bodyPr wrap="square" lIns="0" tIns="0" rIns="0" bIns="0" rtlCol="0" anchor="ctr"/>
          <a:lstStyle/>
          <a:p>
            <a:pPr marL="285750" indent="-285750">
              <a:spcAft>
                <a:spcPts val="300"/>
              </a:spcAft>
              <a:buFont typeface="Arial" panose="020B0604020202020204" pitchFamily="34" charset="0"/>
              <a:buChar char="•"/>
            </a:pPr>
            <a:r>
              <a:rPr lang="en-US" i="1" dirty="0">
                <a:solidFill>
                  <a:schemeClr val="accent1">
                    <a:lumMod val="50000"/>
                  </a:schemeClr>
                </a:solidFill>
              </a:rPr>
              <a:t>H. pylori </a:t>
            </a:r>
            <a:r>
              <a:rPr lang="en-US" dirty="0">
                <a:solidFill>
                  <a:schemeClr val="accent1">
                    <a:lumMod val="50000"/>
                  </a:schemeClr>
                </a:solidFill>
              </a:rPr>
              <a:t>infection</a:t>
            </a:r>
          </a:p>
          <a:p>
            <a:pPr marL="285750" indent="-285750">
              <a:spcAft>
                <a:spcPts val="300"/>
              </a:spcAft>
              <a:buFont typeface="Arial" panose="020B0604020202020204" pitchFamily="34" charset="0"/>
              <a:buChar char="•"/>
            </a:pPr>
            <a:r>
              <a:rPr lang="en-US" dirty="0">
                <a:solidFill>
                  <a:schemeClr val="accent1">
                    <a:lumMod val="50000"/>
                  </a:schemeClr>
                </a:solidFill>
              </a:rPr>
              <a:t>Tobacco use</a:t>
            </a:r>
          </a:p>
          <a:p>
            <a:pPr marL="285750" indent="-285750">
              <a:spcAft>
                <a:spcPts val="300"/>
              </a:spcAft>
              <a:buFont typeface="Arial" panose="020B0604020202020204" pitchFamily="34" charset="0"/>
              <a:buChar char="•"/>
            </a:pPr>
            <a:r>
              <a:rPr lang="en-US" dirty="0">
                <a:solidFill>
                  <a:schemeClr val="accent1">
                    <a:lumMod val="50000"/>
                  </a:schemeClr>
                </a:solidFill>
              </a:rPr>
              <a:t>Diet high in salted, smoked, charred/grilled, or highly processed foods and meats</a:t>
            </a:r>
          </a:p>
          <a:p>
            <a:pPr marL="285750" indent="-285750">
              <a:spcAft>
                <a:spcPts val="300"/>
              </a:spcAft>
              <a:buFont typeface="Arial" panose="020B0604020202020204" pitchFamily="34" charset="0"/>
              <a:buChar char="•"/>
            </a:pPr>
            <a:r>
              <a:rPr lang="en-US" dirty="0">
                <a:solidFill>
                  <a:schemeClr val="accent1">
                    <a:lumMod val="50000"/>
                  </a:schemeClr>
                </a:solidFill>
              </a:rPr>
              <a:t>Low fruit and vegetable intake</a:t>
            </a:r>
          </a:p>
          <a:p>
            <a:pPr marL="285750" indent="-285750">
              <a:spcAft>
                <a:spcPts val="300"/>
              </a:spcAft>
              <a:buFont typeface="Arial" panose="020B0604020202020204" pitchFamily="34" charset="0"/>
              <a:buChar char="•"/>
            </a:pPr>
            <a:r>
              <a:rPr lang="en-US" dirty="0">
                <a:solidFill>
                  <a:schemeClr val="accent1">
                    <a:lumMod val="50000"/>
                  </a:schemeClr>
                </a:solidFill>
              </a:rPr>
              <a:t>Alcohol consumption</a:t>
            </a:r>
          </a:p>
          <a:p>
            <a:pPr marL="285750" indent="-285750">
              <a:spcAft>
                <a:spcPts val="300"/>
              </a:spcAft>
              <a:buFont typeface="Arial" panose="020B0604020202020204" pitchFamily="34" charset="0"/>
              <a:buChar char="•"/>
            </a:pPr>
            <a:r>
              <a:rPr lang="en-US" dirty="0">
                <a:solidFill>
                  <a:schemeClr val="accent1">
                    <a:lumMod val="50000"/>
                  </a:schemeClr>
                </a:solidFill>
              </a:rPr>
              <a:t>Overweight/obesity</a:t>
            </a:r>
          </a:p>
          <a:p>
            <a:pPr marL="0" indent="0">
              <a:spcAft>
                <a:spcPts val="300"/>
              </a:spcAft>
              <a:buNone/>
            </a:pPr>
            <a:endParaRPr lang="en-US" dirty="0">
              <a:solidFill>
                <a:schemeClr val="accent1">
                  <a:lumMod val="50000"/>
                </a:schemeClr>
              </a:solidFill>
            </a:endParaRPr>
          </a:p>
        </p:txBody>
      </p:sp>
      <p:sp>
        <p:nvSpPr>
          <p:cNvPr id="10" name="Shape 8"/>
          <p:cNvSpPr/>
          <p:nvPr/>
        </p:nvSpPr>
        <p:spPr>
          <a:xfrm>
            <a:off x="4383938" y="1319129"/>
            <a:ext cx="3423818" cy="548640"/>
          </a:xfrm>
          <a:prstGeom prst="roundRect">
            <a:avLst>
              <a:gd name="adj" fmla="val 10000"/>
            </a:avLst>
          </a:prstGeom>
          <a:solidFill>
            <a:srgbClr val="1C6FB1"/>
          </a:solidFill>
          <a:ln/>
        </p:spPr>
        <p:txBody>
          <a:bodyPr/>
          <a:lstStyle/>
          <a:p>
            <a:endParaRPr lang="en-US" sz="2800" dirty="0"/>
          </a:p>
        </p:txBody>
      </p:sp>
      <p:sp>
        <p:nvSpPr>
          <p:cNvPr id="11" name="Text 9"/>
          <p:cNvSpPr/>
          <p:nvPr/>
        </p:nvSpPr>
        <p:spPr>
          <a:xfrm>
            <a:off x="4383938" y="1319129"/>
            <a:ext cx="342381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Non-modifiable</a:t>
            </a:r>
            <a:endParaRPr lang="en-US" sz="2000" dirty="0"/>
          </a:p>
        </p:txBody>
      </p:sp>
      <p:sp>
        <p:nvSpPr>
          <p:cNvPr id="12" name="Shape 10"/>
          <p:cNvSpPr/>
          <p:nvPr/>
        </p:nvSpPr>
        <p:spPr>
          <a:xfrm>
            <a:off x="4383938" y="1993970"/>
            <a:ext cx="3423818" cy="3450113"/>
          </a:xfrm>
          <a:prstGeom prst="roundRect">
            <a:avLst>
              <a:gd name="adj" fmla="val 2521"/>
            </a:avLst>
          </a:prstGeom>
          <a:solidFill>
            <a:srgbClr val="EBF3FC"/>
          </a:solidFill>
          <a:ln w="12700">
            <a:solidFill>
              <a:srgbClr val="D3E4F5"/>
            </a:solidFill>
            <a:prstDash val="solid"/>
          </a:ln>
        </p:spPr>
        <p:txBody>
          <a:bodyPr/>
          <a:lstStyle/>
          <a:p>
            <a:endParaRPr lang="en-US" sz="2800" dirty="0"/>
          </a:p>
        </p:txBody>
      </p:sp>
      <p:sp>
        <p:nvSpPr>
          <p:cNvPr id="13" name="Text 11"/>
          <p:cNvSpPr/>
          <p:nvPr/>
        </p:nvSpPr>
        <p:spPr>
          <a:xfrm>
            <a:off x="4612538" y="2420714"/>
            <a:ext cx="2966618" cy="2768832"/>
          </a:xfrm>
          <a:prstGeom prst="rect">
            <a:avLst/>
          </a:prstGeom>
          <a:noFill/>
          <a:ln/>
        </p:spPr>
        <p:txBody>
          <a:bodyPr wrap="square" lIns="0" tIns="0" rIns="0" bIns="0" rtlCol="0" anchor="ctr"/>
          <a:lstStyle/>
          <a:p>
            <a:pPr marL="285750" indent="-285750">
              <a:spcAft>
                <a:spcPts val="300"/>
              </a:spcAft>
              <a:buFont typeface="Arial" panose="020B0604020202020204" pitchFamily="34" charset="0"/>
              <a:buChar char="•"/>
            </a:pPr>
            <a:r>
              <a:rPr lang="en-US" dirty="0">
                <a:solidFill>
                  <a:schemeClr val="accent1">
                    <a:lumMod val="50000"/>
                  </a:schemeClr>
                </a:solidFill>
              </a:rPr>
              <a:t>Increasing age</a:t>
            </a:r>
          </a:p>
          <a:p>
            <a:pPr marL="285750" indent="-285750">
              <a:spcAft>
                <a:spcPts val="300"/>
              </a:spcAft>
              <a:buFont typeface="Arial" panose="020B0604020202020204" pitchFamily="34" charset="0"/>
              <a:buChar char="•"/>
            </a:pPr>
            <a:r>
              <a:rPr lang="en-US" dirty="0">
                <a:solidFill>
                  <a:schemeClr val="accent1">
                    <a:lumMod val="50000"/>
                  </a:schemeClr>
                </a:solidFill>
              </a:rPr>
              <a:t>Family history of gastric cancer</a:t>
            </a:r>
          </a:p>
          <a:p>
            <a:pPr marL="285750" indent="-285750">
              <a:spcAft>
                <a:spcPts val="300"/>
              </a:spcAft>
              <a:buFont typeface="Arial" panose="020B0604020202020204" pitchFamily="34" charset="0"/>
              <a:buChar char="•"/>
            </a:pPr>
            <a:r>
              <a:rPr lang="en-US" dirty="0">
                <a:solidFill>
                  <a:schemeClr val="accent1">
                    <a:lumMod val="50000"/>
                  </a:schemeClr>
                </a:solidFill>
              </a:rPr>
              <a:t>Previous stomach surgery</a:t>
            </a:r>
          </a:p>
          <a:p>
            <a:pPr marL="285750" indent="-285750">
              <a:spcAft>
                <a:spcPts val="300"/>
              </a:spcAft>
              <a:buFont typeface="Arial" panose="020B0604020202020204" pitchFamily="34" charset="0"/>
              <a:buChar char="•"/>
            </a:pPr>
            <a:r>
              <a:rPr lang="en-US" dirty="0">
                <a:solidFill>
                  <a:schemeClr val="accent1">
                    <a:lumMod val="50000"/>
                  </a:schemeClr>
                </a:solidFill>
              </a:rPr>
              <a:t>Epstein–Barr virus (EBV) infection</a:t>
            </a:r>
          </a:p>
          <a:p>
            <a:pPr marL="285750" indent="-285750">
              <a:spcAft>
                <a:spcPts val="300"/>
              </a:spcAft>
              <a:buFont typeface="Arial" panose="020B0604020202020204" pitchFamily="34" charset="0"/>
              <a:buChar char="•"/>
            </a:pPr>
            <a:r>
              <a:rPr lang="en-US" dirty="0">
                <a:solidFill>
                  <a:schemeClr val="accent1">
                    <a:lumMod val="50000"/>
                  </a:schemeClr>
                </a:solidFill>
              </a:rPr>
              <a:t>Type A blood</a:t>
            </a:r>
          </a:p>
          <a:p>
            <a:pPr marL="285750" indent="-285750">
              <a:spcAft>
                <a:spcPts val="300"/>
              </a:spcAft>
              <a:buFont typeface="Arial" panose="020B0604020202020204" pitchFamily="34" charset="0"/>
              <a:buChar char="•"/>
            </a:pPr>
            <a:r>
              <a:rPr lang="en-US" dirty="0">
                <a:solidFill>
                  <a:schemeClr val="accent1">
                    <a:lumMod val="50000"/>
                  </a:schemeClr>
                </a:solidFill>
              </a:rPr>
              <a:t>Gastroesophageal reflux disease (GERD)</a:t>
            </a:r>
          </a:p>
          <a:p>
            <a:pPr marL="0" indent="0">
              <a:buNone/>
            </a:pPr>
            <a:endParaRPr lang="en-US" dirty="0">
              <a:solidFill>
                <a:schemeClr val="accent1">
                  <a:lumMod val="50000"/>
                </a:schemeClr>
              </a:solidFill>
            </a:endParaRPr>
          </a:p>
        </p:txBody>
      </p:sp>
      <p:sp>
        <p:nvSpPr>
          <p:cNvPr id="16" name="Shape 14"/>
          <p:cNvSpPr/>
          <p:nvPr/>
        </p:nvSpPr>
        <p:spPr>
          <a:xfrm>
            <a:off x="8082077" y="1319129"/>
            <a:ext cx="3423818" cy="548640"/>
          </a:xfrm>
          <a:prstGeom prst="roundRect">
            <a:avLst>
              <a:gd name="adj" fmla="val 10000"/>
            </a:avLst>
          </a:prstGeom>
          <a:solidFill>
            <a:srgbClr val="0C3D66"/>
          </a:solidFill>
          <a:ln/>
        </p:spPr>
        <p:txBody>
          <a:bodyPr/>
          <a:lstStyle/>
          <a:p>
            <a:endParaRPr lang="en-US" sz="2800" dirty="0"/>
          </a:p>
        </p:txBody>
      </p:sp>
      <p:sp>
        <p:nvSpPr>
          <p:cNvPr id="17" name="Text 15"/>
          <p:cNvSpPr/>
          <p:nvPr/>
        </p:nvSpPr>
        <p:spPr>
          <a:xfrm>
            <a:off x="8082077" y="1319129"/>
            <a:ext cx="342381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Premalignant conditions</a:t>
            </a:r>
            <a:endParaRPr lang="en-US" sz="2000" dirty="0"/>
          </a:p>
        </p:txBody>
      </p:sp>
      <p:sp>
        <p:nvSpPr>
          <p:cNvPr id="18" name="Shape 16"/>
          <p:cNvSpPr/>
          <p:nvPr/>
        </p:nvSpPr>
        <p:spPr>
          <a:xfrm>
            <a:off x="8082077" y="1993970"/>
            <a:ext cx="3423818" cy="3450113"/>
          </a:xfrm>
          <a:prstGeom prst="roundRect">
            <a:avLst>
              <a:gd name="adj" fmla="val 2521"/>
            </a:avLst>
          </a:prstGeom>
          <a:solidFill>
            <a:srgbClr val="EBF3FC"/>
          </a:solidFill>
          <a:ln w="12700">
            <a:solidFill>
              <a:srgbClr val="D3E4F5"/>
            </a:solidFill>
            <a:prstDash val="solid"/>
          </a:ln>
        </p:spPr>
        <p:txBody>
          <a:bodyPr/>
          <a:lstStyle/>
          <a:p>
            <a:endParaRPr lang="en-US" sz="2800" dirty="0"/>
          </a:p>
        </p:txBody>
      </p:sp>
      <p:sp>
        <p:nvSpPr>
          <p:cNvPr id="19" name="Text 17"/>
          <p:cNvSpPr/>
          <p:nvPr/>
        </p:nvSpPr>
        <p:spPr>
          <a:xfrm>
            <a:off x="8310677" y="2709931"/>
            <a:ext cx="2966618" cy="457200"/>
          </a:xfrm>
          <a:prstGeom prst="rect">
            <a:avLst/>
          </a:prstGeom>
          <a:noFill/>
          <a:ln/>
        </p:spPr>
        <p:txBody>
          <a:bodyPr wrap="square" lIns="0" tIns="0" rIns="0" bIns="0" rtlCol="0" anchor="ctr"/>
          <a:lstStyle/>
          <a:p>
            <a:pPr marL="285750" indent="-285750">
              <a:spcAft>
                <a:spcPts val="300"/>
              </a:spcAft>
              <a:buFont typeface="Arial" panose="020B0604020202020204" pitchFamily="34" charset="0"/>
              <a:buChar char="•"/>
            </a:pPr>
            <a:r>
              <a:rPr lang="en-US" dirty="0">
                <a:solidFill>
                  <a:schemeClr val="accent1">
                    <a:lumMod val="50000"/>
                  </a:schemeClr>
                </a:solidFill>
              </a:rPr>
              <a:t>Atrophic gastritis</a:t>
            </a:r>
          </a:p>
          <a:p>
            <a:pPr marL="285750" indent="-285750">
              <a:spcAft>
                <a:spcPts val="300"/>
              </a:spcAft>
              <a:buFont typeface="Arial" panose="020B0604020202020204" pitchFamily="34" charset="0"/>
              <a:buChar char="•"/>
            </a:pPr>
            <a:r>
              <a:rPr lang="en-US" dirty="0">
                <a:solidFill>
                  <a:schemeClr val="accent1">
                    <a:lumMod val="50000"/>
                  </a:schemeClr>
                </a:solidFill>
              </a:rPr>
              <a:t>Intestinal metaplasia</a:t>
            </a:r>
          </a:p>
          <a:p>
            <a:pPr marL="285750" indent="-285750">
              <a:spcAft>
                <a:spcPts val="300"/>
              </a:spcAft>
              <a:buFont typeface="Arial" panose="020B0604020202020204" pitchFamily="34" charset="0"/>
              <a:buChar char="•"/>
            </a:pPr>
            <a:r>
              <a:rPr lang="en-US" dirty="0">
                <a:solidFill>
                  <a:schemeClr val="accent1">
                    <a:lumMod val="50000"/>
                  </a:schemeClr>
                </a:solidFill>
              </a:rPr>
              <a:t>Dysplasia</a:t>
            </a:r>
          </a:p>
          <a:p>
            <a:pPr marL="0" indent="0">
              <a:buNone/>
            </a:pPr>
            <a:endParaRPr lang="en-US" dirty="0"/>
          </a:p>
        </p:txBody>
      </p:sp>
      <p:sp>
        <p:nvSpPr>
          <p:cNvPr id="22" name="Shape 20"/>
          <p:cNvSpPr/>
          <p:nvPr/>
        </p:nvSpPr>
        <p:spPr>
          <a:xfrm>
            <a:off x="701842" y="5794940"/>
            <a:ext cx="10820095" cy="594360"/>
          </a:xfrm>
          <a:prstGeom prst="roundRect">
            <a:avLst>
              <a:gd name="adj" fmla="val 9231"/>
            </a:avLst>
          </a:prstGeom>
          <a:solidFill>
            <a:srgbClr val="FCEFDD"/>
          </a:solidFill>
          <a:ln w="12700">
            <a:solidFill>
              <a:srgbClr val="EBC48A"/>
            </a:solidFill>
            <a:prstDash val="solid"/>
          </a:ln>
        </p:spPr>
        <p:txBody>
          <a:bodyPr/>
          <a:lstStyle/>
          <a:p>
            <a:endParaRPr lang="en-US" sz="2800" dirty="0"/>
          </a:p>
        </p:txBody>
      </p:sp>
      <p:sp>
        <p:nvSpPr>
          <p:cNvPr id="23" name="Text 21"/>
          <p:cNvSpPr/>
          <p:nvPr/>
        </p:nvSpPr>
        <p:spPr>
          <a:xfrm>
            <a:off x="884722" y="5794940"/>
            <a:ext cx="10454335" cy="59436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Do not oversimplify risk to one food. Discuss overall dietary exposures with evidence, without blame or cultural stereotyping. No single food causes or prevents gastric cancer. </a:t>
            </a:r>
            <a:r>
              <a:rPr lang="en-US" sz="1800" b="1" dirty="0">
                <a:solidFill>
                  <a:srgbClr val="C77A17"/>
                </a:solidFill>
                <a:latin typeface="Calibri" pitchFamily="34" charset="0"/>
                <a:ea typeface="Calibri" pitchFamily="34" charset="-122"/>
                <a:cs typeface="Calibri" pitchFamily="34" charset="-120"/>
              </a:rPr>
              <a:t>Most of the risk factors are modifiable.</a:t>
            </a:r>
            <a:endParaRPr lang="en-US" sz="1600" b="1" dirty="0"/>
          </a:p>
        </p:txBody>
      </p:sp>
      <p:sp>
        <p:nvSpPr>
          <p:cNvPr id="24" name="Text 22"/>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25" name="CuadroTexto 24">
            <a:extLst>
              <a:ext uri="{FF2B5EF4-FFF2-40B4-BE49-F238E27FC236}">
                <a16:creationId xmlns:a16="http://schemas.microsoft.com/office/drawing/2014/main" id="{2010C892-74D1-C6DE-A21E-144E26729177}"/>
              </a:ext>
            </a:extLst>
          </p:cNvPr>
          <p:cNvSpPr txBox="1"/>
          <p:nvPr/>
        </p:nvSpPr>
        <p:spPr>
          <a:xfrm>
            <a:off x="670063" y="5444083"/>
            <a:ext cx="9399048" cy="584775"/>
          </a:xfrm>
          <a:prstGeom prst="rect">
            <a:avLst/>
          </a:prstGeom>
          <a:noFill/>
        </p:spPr>
        <p:txBody>
          <a:bodyPr wrap="none" rtlCol="0">
            <a:spAutoFit/>
          </a:bodyPr>
          <a:lstStyle/>
          <a:p>
            <a:r>
              <a:rPr lang="en-US" sz="1800" b="1" i="1" dirty="0">
                <a:solidFill>
                  <a:schemeClr val="bg2">
                    <a:lumMod val="50000"/>
                  </a:schemeClr>
                </a:solidFill>
              </a:rPr>
              <a:t>Note: </a:t>
            </a:r>
            <a:r>
              <a:rPr lang="en-US" sz="1800" i="1" dirty="0">
                <a:solidFill>
                  <a:schemeClr val="bg2">
                    <a:lumMod val="50000"/>
                  </a:schemeClr>
                </a:solidFill>
              </a:rPr>
              <a:t>Globally, approximately 76% of gastric cancer cases are estimated to be attributable to H. pylori infection</a:t>
            </a:r>
          </a:p>
          <a:p>
            <a:endParaRPr lang="en-US" sz="1600" i="1" dirty="0">
              <a:solidFill>
                <a:schemeClr val="bg2">
                  <a:lumMod val="50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23265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Signs and symptoms</a:t>
            </a:r>
            <a:endParaRPr lang="en-US" sz="3000" dirty="0"/>
          </a:p>
        </p:txBody>
      </p:sp>
      <p:sp>
        <p:nvSpPr>
          <p:cNvPr id="4" name="Shape 2"/>
          <p:cNvSpPr/>
          <p:nvPr/>
        </p:nvSpPr>
        <p:spPr>
          <a:xfrm>
            <a:off x="685800" y="1965960"/>
            <a:ext cx="3423818" cy="3698862"/>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246076"/>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Often subtle early</a:t>
            </a:r>
            <a:endParaRPr lang="en-US" sz="2000" dirty="0"/>
          </a:p>
        </p:txBody>
      </p:sp>
      <p:sp>
        <p:nvSpPr>
          <p:cNvPr id="6" name="Text 4"/>
          <p:cNvSpPr/>
          <p:nvPr/>
        </p:nvSpPr>
        <p:spPr>
          <a:xfrm>
            <a:off x="886968" y="2852928"/>
            <a:ext cx="3021482" cy="777240"/>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Early gastric cancer may cause no symptoms or only non-specific ones.</a:t>
            </a:r>
            <a:endParaRPr lang="en-US" sz="1600" dirty="0"/>
          </a:p>
        </p:txBody>
      </p:sp>
      <p:sp>
        <p:nvSpPr>
          <p:cNvPr id="7" name="Shape 5"/>
          <p:cNvSpPr/>
          <p:nvPr/>
        </p:nvSpPr>
        <p:spPr>
          <a:xfrm>
            <a:off x="4383938" y="1965960"/>
            <a:ext cx="3423818" cy="3698862"/>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12264"/>
            <a:ext cx="3021482" cy="658368"/>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Persistent upper-GI symptoms</a:t>
            </a:r>
            <a:endParaRPr lang="en-US" sz="2000" dirty="0"/>
          </a:p>
        </p:txBody>
      </p:sp>
      <p:sp>
        <p:nvSpPr>
          <p:cNvPr id="9" name="Text 7"/>
          <p:cNvSpPr/>
          <p:nvPr/>
        </p:nvSpPr>
        <p:spPr>
          <a:xfrm>
            <a:off x="4585106" y="2788920"/>
            <a:ext cx="3021482" cy="1691640"/>
          </a:xfrm>
          <a:prstGeom prst="rect">
            <a:avLst/>
          </a:prstGeom>
          <a:noFill/>
          <a:ln/>
        </p:spPr>
        <p:txBody>
          <a:bodyPr wrap="square" lIns="0" tIns="0" rIns="0" bIns="0" rtlCol="0" anchor="t"/>
          <a:lstStyle/>
          <a:p>
            <a:pPr>
              <a:lnSpc>
                <a:spcPct val="100000"/>
              </a:lnSpc>
            </a:pPr>
            <a:r>
              <a:rPr lang="en-US" sz="1800" dirty="0">
                <a:solidFill>
                  <a:srgbClr val="1F3B50"/>
                </a:solidFill>
                <a:latin typeface="Calibri" pitchFamily="34" charset="0"/>
                <a:ea typeface="Calibri" pitchFamily="34" charset="-122"/>
                <a:cs typeface="Calibri" pitchFamily="34" charset="-120"/>
              </a:rPr>
              <a:t>- Persistent epigastric discomfort</a:t>
            </a:r>
            <a:br>
              <a:rPr lang="en-US" sz="1600" dirty="0">
                <a:solidFill>
                  <a:srgbClr val="1F3B50"/>
                </a:solidFill>
                <a:latin typeface="Calibri" pitchFamily="34" charset="0"/>
                <a:ea typeface="Calibri" pitchFamily="34" charset="-122"/>
                <a:cs typeface="Calibri" pitchFamily="34" charset="-120"/>
              </a:rPr>
            </a:br>
            <a:r>
              <a:rPr lang="en-US" sz="1800" dirty="0">
                <a:solidFill>
                  <a:srgbClr val="1F3B50"/>
                </a:solidFill>
                <a:latin typeface="Calibri" pitchFamily="34" charset="0"/>
                <a:ea typeface="Calibri" pitchFamily="34" charset="-122"/>
                <a:cs typeface="Calibri" pitchFamily="34" charset="-120"/>
              </a:rPr>
              <a:t>- Dyspepsia</a:t>
            </a:r>
            <a:br>
              <a:rPr lang="en-US" sz="1600" dirty="0">
                <a:solidFill>
                  <a:srgbClr val="1F3B50"/>
                </a:solidFill>
                <a:latin typeface="Calibri" pitchFamily="34" charset="0"/>
                <a:ea typeface="Calibri" pitchFamily="34" charset="-122"/>
                <a:cs typeface="Calibri" pitchFamily="34" charset="-120"/>
              </a:rPr>
            </a:br>
            <a:r>
              <a:rPr lang="en-US" sz="1800" dirty="0">
                <a:solidFill>
                  <a:srgbClr val="1F3B50"/>
                </a:solidFill>
                <a:latin typeface="Calibri" pitchFamily="34" charset="0"/>
                <a:ea typeface="Calibri" pitchFamily="34" charset="-122"/>
                <a:cs typeface="Calibri" pitchFamily="34" charset="-120"/>
              </a:rPr>
              <a:t>- Early satiety</a:t>
            </a:r>
            <a:br>
              <a:rPr lang="en-US" sz="1600" dirty="0">
                <a:solidFill>
                  <a:srgbClr val="1F3B50"/>
                </a:solidFill>
                <a:latin typeface="Calibri" pitchFamily="34" charset="0"/>
                <a:ea typeface="Calibri" pitchFamily="34" charset="-122"/>
                <a:cs typeface="Calibri" pitchFamily="34" charset="-120"/>
              </a:rPr>
            </a:br>
            <a:r>
              <a:rPr lang="en-US" sz="1800" dirty="0">
                <a:solidFill>
                  <a:srgbClr val="1F3B50"/>
                </a:solidFill>
                <a:latin typeface="Calibri" pitchFamily="34" charset="0"/>
                <a:ea typeface="Calibri" pitchFamily="34" charset="-122"/>
                <a:cs typeface="Calibri" pitchFamily="34" charset="-120"/>
              </a:rPr>
              <a:t>- Reduced appetite</a:t>
            </a:r>
            <a:br>
              <a:rPr lang="en-US" sz="1600" dirty="0">
                <a:solidFill>
                  <a:srgbClr val="1F3B50"/>
                </a:solidFill>
                <a:latin typeface="Calibri" pitchFamily="34" charset="0"/>
                <a:ea typeface="Calibri" pitchFamily="34" charset="-122"/>
                <a:cs typeface="Calibri" pitchFamily="34" charset="-120"/>
              </a:rPr>
            </a:br>
            <a:r>
              <a:rPr lang="en-US" sz="1800" dirty="0">
                <a:solidFill>
                  <a:srgbClr val="1F3B50"/>
                </a:solidFill>
                <a:latin typeface="Calibri" pitchFamily="34" charset="0"/>
                <a:ea typeface="Calibri" pitchFamily="34" charset="-122"/>
                <a:cs typeface="Calibri" pitchFamily="34" charset="-120"/>
              </a:rPr>
              <a:t>- Persistent nausea</a:t>
            </a:r>
            <a:endParaRPr lang="en-US" sz="1600" dirty="0"/>
          </a:p>
        </p:txBody>
      </p:sp>
      <p:sp>
        <p:nvSpPr>
          <p:cNvPr id="10" name="Shape 8"/>
          <p:cNvSpPr/>
          <p:nvPr/>
        </p:nvSpPr>
        <p:spPr>
          <a:xfrm>
            <a:off x="8082077" y="1965960"/>
            <a:ext cx="3423818" cy="3698862"/>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246076"/>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More advanced features</a:t>
            </a:r>
            <a:endParaRPr lang="en-US" sz="2000" dirty="0"/>
          </a:p>
        </p:txBody>
      </p:sp>
      <p:sp>
        <p:nvSpPr>
          <p:cNvPr id="12" name="Text 10"/>
          <p:cNvSpPr/>
          <p:nvPr/>
        </p:nvSpPr>
        <p:spPr>
          <a:xfrm>
            <a:off x="8283245" y="2788920"/>
            <a:ext cx="3021482" cy="1691640"/>
          </a:xfrm>
          <a:prstGeom prst="rect">
            <a:avLst/>
          </a:prstGeom>
          <a:noFill/>
          <a:ln/>
        </p:spPr>
        <p:txBody>
          <a:bodyPr wrap="square" lIns="0" tIns="0" rIns="0" bIns="0" rtlCol="0" anchor="t"/>
          <a:lstStyle/>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 Unintentional weight loss</a:t>
            </a:r>
            <a:br>
              <a:rPr lang="en-US" sz="1600" dirty="0">
                <a:solidFill>
                  <a:srgbClr val="1F3B50"/>
                </a:solidFill>
                <a:latin typeface="Calibri" pitchFamily="34" charset="0"/>
                <a:ea typeface="Calibri" pitchFamily="34" charset="-122"/>
                <a:cs typeface="Calibri" pitchFamily="34" charset="-120"/>
              </a:rPr>
            </a:br>
            <a:r>
              <a:rPr lang="en-US" sz="1800" dirty="0">
                <a:solidFill>
                  <a:srgbClr val="1F3B50"/>
                </a:solidFill>
                <a:latin typeface="Calibri" pitchFamily="34" charset="0"/>
                <a:ea typeface="Calibri" pitchFamily="34" charset="-122"/>
                <a:cs typeface="Calibri" pitchFamily="34" charset="-120"/>
              </a:rPr>
              <a:t>- Persistent vomiting</a:t>
            </a:r>
            <a:br>
              <a:rPr lang="en-US" sz="1600" dirty="0">
                <a:solidFill>
                  <a:srgbClr val="1F3B50"/>
                </a:solidFill>
                <a:latin typeface="Calibri" pitchFamily="34" charset="0"/>
                <a:ea typeface="Calibri" pitchFamily="34" charset="-122"/>
                <a:cs typeface="Calibri" pitchFamily="34" charset="-120"/>
              </a:rPr>
            </a:br>
            <a:r>
              <a:rPr lang="en-US" sz="1800" dirty="0">
                <a:solidFill>
                  <a:srgbClr val="1F3B50"/>
                </a:solidFill>
                <a:latin typeface="Calibri" pitchFamily="34" charset="0"/>
                <a:ea typeface="Calibri" pitchFamily="34" charset="-122"/>
                <a:cs typeface="Calibri" pitchFamily="34" charset="-120"/>
              </a:rPr>
              <a:t>- Difficulty swallowing</a:t>
            </a:r>
          </a:p>
          <a:p>
            <a:pPr marL="0" indent="0">
              <a:lnSpc>
                <a:spcPct val="100000"/>
              </a:lnSpc>
              <a:buNone/>
            </a:pPr>
            <a:r>
              <a:rPr lang="en-US" sz="1800" dirty="0">
                <a:solidFill>
                  <a:srgbClr val="1F3B50"/>
                </a:solidFill>
                <a:latin typeface="Calibri" pitchFamily="34" charset="0"/>
                <a:ea typeface="Calibri" pitchFamily="34" charset="-122"/>
                <a:cs typeface="Calibri" pitchFamily="34" charset="-120"/>
              </a:rPr>
              <a:t>- An abdominal mass</a:t>
            </a:r>
            <a:endParaRPr lang="en-US" sz="1600" dirty="0"/>
          </a:p>
        </p:txBody>
      </p:sp>
      <p:sp>
        <p:nvSpPr>
          <p:cNvPr id="13" name="Shape 11"/>
          <p:cNvSpPr/>
          <p:nvPr/>
        </p:nvSpPr>
        <p:spPr>
          <a:xfrm>
            <a:off x="685800" y="5787483"/>
            <a:ext cx="10820095" cy="366870"/>
          </a:xfrm>
          <a:prstGeom prst="roundRect">
            <a:avLst>
              <a:gd name="adj" fmla="val 8571"/>
            </a:avLst>
          </a:prstGeom>
          <a:solidFill>
            <a:srgbClr val="FCEFDD"/>
          </a:solidFill>
          <a:ln w="12700">
            <a:solidFill>
              <a:srgbClr val="EBC48A"/>
            </a:solidFill>
            <a:prstDash val="solid"/>
          </a:ln>
        </p:spPr>
        <p:txBody>
          <a:bodyPr/>
          <a:lstStyle/>
          <a:p>
            <a:endParaRPr lang="en-US" dirty="0"/>
          </a:p>
        </p:txBody>
      </p:sp>
      <p:sp>
        <p:nvSpPr>
          <p:cNvPr id="14" name="Text 12"/>
          <p:cNvSpPr/>
          <p:nvPr/>
        </p:nvSpPr>
        <p:spPr>
          <a:xfrm>
            <a:off x="868680" y="5636934"/>
            <a:ext cx="10454335" cy="64008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No single symptom is diagnostic of cancer. Persistent or concerning symptoms need assessment.</a:t>
            </a:r>
            <a:endParaRPr lang="en-US" sz="1600"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6" name="Imagen 15">
            <a:extLst>
              <a:ext uri="{FF2B5EF4-FFF2-40B4-BE49-F238E27FC236}">
                <a16:creationId xmlns:a16="http://schemas.microsoft.com/office/drawing/2014/main" id="{A922460E-59CE-A31A-1F9C-FDC3347CE60E}"/>
              </a:ext>
            </a:extLst>
          </p:cNvPr>
          <p:cNvPicPr>
            <a:picLocks noChangeAspect="1"/>
          </p:cNvPicPr>
          <p:nvPr/>
        </p:nvPicPr>
        <p:blipFill>
          <a:blip r:embed="rId3"/>
          <a:stretch>
            <a:fillRect/>
          </a:stretch>
        </p:blipFill>
        <p:spPr>
          <a:xfrm>
            <a:off x="1365505" y="4128614"/>
            <a:ext cx="1743456" cy="1307593"/>
          </a:xfrm>
          <a:prstGeom prst="rect">
            <a:avLst/>
          </a:prstGeom>
        </p:spPr>
      </p:pic>
      <p:pic>
        <p:nvPicPr>
          <p:cNvPr id="17" name="Imagen 16">
            <a:extLst>
              <a:ext uri="{FF2B5EF4-FFF2-40B4-BE49-F238E27FC236}">
                <a16:creationId xmlns:a16="http://schemas.microsoft.com/office/drawing/2014/main" id="{1F61A556-0F88-E0D4-2D9F-51232112B5DA}"/>
              </a:ext>
            </a:extLst>
          </p:cNvPr>
          <p:cNvPicPr>
            <a:picLocks noChangeAspect="1"/>
          </p:cNvPicPr>
          <p:nvPr/>
        </p:nvPicPr>
        <p:blipFill>
          <a:blip r:embed="rId4"/>
          <a:srcRect t="11521" b="5990"/>
          <a:stretch>
            <a:fillRect/>
          </a:stretch>
        </p:blipFill>
        <p:spPr>
          <a:xfrm>
            <a:off x="5133814" y="4526280"/>
            <a:ext cx="1912181" cy="1051560"/>
          </a:xfrm>
          <a:prstGeom prst="rect">
            <a:avLst/>
          </a:prstGeom>
        </p:spPr>
      </p:pic>
      <p:pic>
        <p:nvPicPr>
          <p:cNvPr id="18" name="Imagen 17">
            <a:extLst>
              <a:ext uri="{FF2B5EF4-FFF2-40B4-BE49-F238E27FC236}">
                <a16:creationId xmlns:a16="http://schemas.microsoft.com/office/drawing/2014/main" id="{CF585264-A09F-6A0B-06A7-62986894F7C2}"/>
              </a:ext>
            </a:extLst>
          </p:cNvPr>
          <p:cNvPicPr>
            <a:picLocks noChangeAspect="1"/>
          </p:cNvPicPr>
          <p:nvPr/>
        </p:nvPicPr>
        <p:blipFill>
          <a:blip r:embed="rId5"/>
          <a:stretch>
            <a:fillRect/>
          </a:stretch>
        </p:blipFill>
        <p:spPr>
          <a:xfrm>
            <a:off x="8649072" y="4164765"/>
            <a:ext cx="2024262" cy="134950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176903"/>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Alarm and red-flag features</a:t>
            </a:r>
            <a:endParaRPr lang="en-US" sz="3000" dirty="0"/>
          </a:p>
        </p:txBody>
      </p:sp>
      <p:sp>
        <p:nvSpPr>
          <p:cNvPr id="4" name="Text 2"/>
          <p:cNvSpPr/>
          <p:nvPr/>
        </p:nvSpPr>
        <p:spPr>
          <a:xfrm>
            <a:off x="685800" y="1749627"/>
            <a:ext cx="10820095" cy="365760"/>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These features need prompt or urgent assessment. Make the urgency explicit when you refer.</a:t>
            </a:r>
            <a:endParaRPr lang="en-US" sz="1300" dirty="0"/>
          </a:p>
        </p:txBody>
      </p:sp>
      <p:sp>
        <p:nvSpPr>
          <p:cNvPr id="29" name="Text 27"/>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30" name="Imagen 29">
            <a:extLst>
              <a:ext uri="{FF2B5EF4-FFF2-40B4-BE49-F238E27FC236}">
                <a16:creationId xmlns:a16="http://schemas.microsoft.com/office/drawing/2014/main" id="{DB412FAA-9430-9167-ECD3-16BF6910FFAF}"/>
              </a:ext>
            </a:extLst>
          </p:cNvPr>
          <p:cNvPicPr>
            <a:picLocks noChangeAspect="1"/>
          </p:cNvPicPr>
          <p:nvPr/>
        </p:nvPicPr>
        <p:blipFill>
          <a:blip r:embed="rId3"/>
          <a:stretch>
            <a:fillRect/>
          </a:stretch>
        </p:blipFill>
        <p:spPr>
          <a:xfrm>
            <a:off x="2483237" y="2133896"/>
            <a:ext cx="6116211" cy="407747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r>
              <a:rPr lang="en-US" sz="3000" b="1" dirty="0">
                <a:solidFill>
                  <a:srgbClr val="12406B"/>
                </a:solidFill>
                <a:latin typeface="Cambria" pitchFamily="34" charset="0"/>
                <a:ea typeface="Cambria" pitchFamily="34" charset="-122"/>
                <a:cs typeface="Cambria" pitchFamily="34" charset="-120"/>
              </a:rPr>
              <a:t>Prevention and screening approaches vary</a:t>
            </a:r>
            <a:endParaRPr lang="en-US" sz="3000" dirty="0"/>
          </a:p>
        </p:txBody>
      </p:sp>
      <p:sp>
        <p:nvSpPr>
          <p:cNvPr id="4" name="Shape 2"/>
          <p:cNvSpPr/>
          <p:nvPr/>
        </p:nvSpPr>
        <p:spPr>
          <a:xfrm>
            <a:off x="4391520" y="2011679"/>
            <a:ext cx="3423818" cy="2783531"/>
          </a:xfrm>
          <a:prstGeom prst="roundRect">
            <a:avLst>
              <a:gd name="adj" fmla="val 4103"/>
            </a:avLst>
          </a:prstGeom>
          <a:solidFill>
            <a:srgbClr val="EBF3FC"/>
          </a:solidFill>
          <a:ln w="12700">
            <a:solidFill>
              <a:srgbClr val="D3E4F5"/>
            </a:solidFill>
            <a:prstDash val="solid"/>
          </a:ln>
        </p:spPr>
        <p:txBody>
          <a:bodyPr/>
          <a:lstStyle/>
          <a:p>
            <a:endParaRPr lang="en-US" sz="2400" dirty="0"/>
          </a:p>
        </p:txBody>
      </p:sp>
      <p:sp>
        <p:nvSpPr>
          <p:cNvPr id="5" name="Text 3"/>
          <p:cNvSpPr/>
          <p:nvPr/>
        </p:nvSpPr>
        <p:spPr>
          <a:xfrm>
            <a:off x="4592688" y="2157984"/>
            <a:ext cx="3021482" cy="509646"/>
          </a:xfrm>
          <a:prstGeom prst="rect">
            <a:avLst/>
          </a:prstGeom>
          <a:noFill/>
          <a:ln/>
        </p:spPr>
        <p:txBody>
          <a:bodyPr wrap="square" lIns="0" tIns="0" rIns="0" bIns="0" rtlCol="0" anchor="t"/>
          <a:lstStyle/>
          <a:p>
            <a:pPr marL="0" indent="0">
              <a:buNone/>
            </a:pPr>
            <a:r>
              <a:rPr lang="en-US" b="1" dirty="0">
                <a:solidFill>
                  <a:srgbClr val="12406B"/>
                </a:solidFill>
                <a:latin typeface="Cambria" pitchFamily="34" charset="0"/>
                <a:ea typeface="Cambria" pitchFamily="34" charset="-122"/>
                <a:cs typeface="Cambria" pitchFamily="34" charset="-120"/>
              </a:rPr>
              <a:t>Population endoscopic screening</a:t>
            </a:r>
            <a:endParaRPr lang="en-US" dirty="0"/>
          </a:p>
        </p:txBody>
      </p:sp>
      <p:sp>
        <p:nvSpPr>
          <p:cNvPr id="6" name="Text 4"/>
          <p:cNvSpPr/>
          <p:nvPr/>
        </p:nvSpPr>
        <p:spPr>
          <a:xfrm>
            <a:off x="4592688" y="2738736"/>
            <a:ext cx="3021482" cy="1376044"/>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Used in some high-incidence settings with strong endoscopy capacity. Not universal.</a:t>
            </a:r>
            <a:endParaRPr lang="en-US" dirty="0"/>
          </a:p>
        </p:txBody>
      </p:sp>
      <p:sp>
        <p:nvSpPr>
          <p:cNvPr id="7" name="Shape 5"/>
          <p:cNvSpPr/>
          <p:nvPr/>
        </p:nvSpPr>
        <p:spPr>
          <a:xfrm>
            <a:off x="8089658" y="2011679"/>
            <a:ext cx="3423818" cy="2783531"/>
          </a:xfrm>
          <a:prstGeom prst="roundRect">
            <a:avLst>
              <a:gd name="adj" fmla="val 4103"/>
            </a:avLst>
          </a:prstGeom>
          <a:solidFill>
            <a:srgbClr val="EBF3FC"/>
          </a:solidFill>
          <a:ln w="12700">
            <a:solidFill>
              <a:srgbClr val="D3E4F5"/>
            </a:solidFill>
            <a:prstDash val="solid"/>
          </a:ln>
        </p:spPr>
        <p:txBody>
          <a:bodyPr/>
          <a:lstStyle/>
          <a:p>
            <a:endParaRPr lang="en-US" sz="2400" dirty="0"/>
          </a:p>
        </p:txBody>
      </p:sp>
      <p:sp>
        <p:nvSpPr>
          <p:cNvPr id="8" name="Text 6"/>
          <p:cNvSpPr/>
          <p:nvPr/>
        </p:nvSpPr>
        <p:spPr>
          <a:xfrm>
            <a:off x="8290826" y="2157984"/>
            <a:ext cx="3021482" cy="509646"/>
          </a:xfrm>
          <a:prstGeom prst="rect">
            <a:avLst/>
          </a:prstGeom>
          <a:noFill/>
          <a:ln/>
        </p:spPr>
        <p:txBody>
          <a:bodyPr wrap="square" lIns="0" tIns="0" rIns="0" bIns="0" rtlCol="0" anchor="t"/>
          <a:lstStyle/>
          <a:p>
            <a:pPr marL="0" indent="0">
              <a:buNone/>
            </a:pPr>
            <a:r>
              <a:rPr lang="en-US" b="1" dirty="0">
                <a:solidFill>
                  <a:srgbClr val="12406B"/>
                </a:solidFill>
                <a:latin typeface="Cambria" pitchFamily="34" charset="0"/>
                <a:ea typeface="Cambria" pitchFamily="34" charset="-122"/>
                <a:cs typeface="Cambria" pitchFamily="34" charset="-120"/>
              </a:rPr>
              <a:t>Risk-based surveillance</a:t>
            </a:r>
            <a:endParaRPr lang="en-US" dirty="0"/>
          </a:p>
        </p:txBody>
      </p:sp>
      <p:sp>
        <p:nvSpPr>
          <p:cNvPr id="9" name="Text 7"/>
          <p:cNvSpPr/>
          <p:nvPr/>
        </p:nvSpPr>
        <p:spPr>
          <a:xfrm>
            <a:off x="8290826" y="2738736"/>
            <a:ext cx="3021482" cy="1376044"/>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Follow-up targeted at people with premalignant conditions or high-risk profiles.</a:t>
            </a:r>
            <a:endParaRPr lang="en-US" dirty="0"/>
          </a:p>
        </p:txBody>
      </p:sp>
      <p:sp>
        <p:nvSpPr>
          <p:cNvPr id="10" name="Shape 8"/>
          <p:cNvSpPr/>
          <p:nvPr/>
        </p:nvSpPr>
        <p:spPr>
          <a:xfrm>
            <a:off x="702366" y="2011679"/>
            <a:ext cx="3423818" cy="2783531"/>
          </a:xfrm>
          <a:prstGeom prst="roundRect">
            <a:avLst>
              <a:gd name="adj" fmla="val 4103"/>
            </a:avLst>
          </a:prstGeom>
          <a:solidFill>
            <a:srgbClr val="EBF3FC"/>
          </a:solidFill>
          <a:ln w="12700">
            <a:solidFill>
              <a:srgbClr val="D3E4F5"/>
            </a:solidFill>
            <a:prstDash val="solid"/>
          </a:ln>
        </p:spPr>
        <p:txBody>
          <a:bodyPr/>
          <a:lstStyle/>
          <a:p>
            <a:endParaRPr lang="en-US" sz="2400" dirty="0"/>
          </a:p>
        </p:txBody>
      </p:sp>
      <p:sp>
        <p:nvSpPr>
          <p:cNvPr id="11" name="Text 9"/>
          <p:cNvSpPr/>
          <p:nvPr/>
        </p:nvSpPr>
        <p:spPr>
          <a:xfrm>
            <a:off x="903534" y="2157984"/>
            <a:ext cx="3021482" cy="509646"/>
          </a:xfrm>
          <a:prstGeom prst="rect">
            <a:avLst/>
          </a:prstGeom>
          <a:noFill/>
          <a:ln/>
        </p:spPr>
        <p:txBody>
          <a:bodyPr wrap="square" lIns="0" tIns="0" rIns="0" bIns="0" rtlCol="0" anchor="t"/>
          <a:lstStyle/>
          <a:p>
            <a:pPr marL="0" indent="0">
              <a:buNone/>
            </a:pPr>
            <a:r>
              <a:rPr lang="en-US" b="1" i="1" dirty="0">
                <a:solidFill>
                  <a:srgbClr val="12406B"/>
                </a:solidFill>
                <a:latin typeface="Cambria" pitchFamily="34" charset="0"/>
                <a:ea typeface="Cambria" pitchFamily="34" charset="-122"/>
                <a:cs typeface="Cambria" pitchFamily="34" charset="-120"/>
              </a:rPr>
              <a:t>H. pylori</a:t>
            </a:r>
            <a:r>
              <a:rPr lang="en-US" b="1" dirty="0">
                <a:solidFill>
                  <a:srgbClr val="12406B"/>
                </a:solidFill>
                <a:latin typeface="Cambria" pitchFamily="34" charset="0"/>
                <a:ea typeface="Cambria" pitchFamily="34" charset="-122"/>
                <a:cs typeface="Cambria" pitchFamily="34" charset="-120"/>
              </a:rPr>
              <a:t> screen-and-treat</a:t>
            </a:r>
            <a:endParaRPr lang="en-US" dirty="0"/>
          </a:p>
        </p:txBody>
      </p:sp>
      <p:sp>
        <p:nvSpPr>
          <p:cNvPr id="12" name="Text 10"/>
          <p:cNvSpPr/>
          <p:nvPr/>
        </p:nvSpPr>
        <p:spPr>
          <a:xfrm>
            <a:off x="903534" y="2738736"/>
            <a:ext cx="3021482" cy="201168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 primary-prevention strategy to lower future risk, distinct from screening for cancer itself. Stool antigen testing is simple, low cost, and can be done at health centre level.</a:t>
            </a:r>
            <a:endParaRPr lang="en-US" dirty="0"/>
          </a:p>
        </p:txBody>
      </p:sp>
      <p:sp>
        <p:nvSpPr>
          <p:cNvPr id="13" name="Shape 11"/>
          <p:cNvSpPr/>
          <p:nvPr/>
        </p:nvSpPr>
        <p:spPr>
          <a:xfrm>
            <a:off x="685800" y="4960435"/>
            <a:ext cx="10820095" cy="640080"/>
          </a:xfrm>
          <a:prstGeom prst="roundRect">
            <a:avLst>
              <a:gd name="adj" fmla="val 8571"/>
            </a:avLst>
          </a:prstGeom>
          <a:solidFill>
            <a:srgbClr val="FCEFDD"/>
          </a:solidFill>
          <a:ln w="12700">
            <a:solidFill>
              <a:srgbClr val="EBC48A"/>
            </a:solidFill>
            <a:prstDash val="solid"/>
          </a:ln>
        </p:spPr>
        <p:txBody>
          <a:bodyPr/>
          <a:lstStyle/>
          <a:p>
            <a:endParaRPr lang="en-US" dirty="0"/>
          </a:p>
        </p:txBody>
      </p:sp>
      <p:sp>
        <p:nvSpPr>
          <p:cNvPr id="14" name="Text 12"/>
          <p:cNvSpPr/>
          <p:nvPr/>
        </p:nvSpPr>
        <p:spPr>
          <a:xfrm>
            <a:off x="868680" y="4960435"/>
            <a:ext cx="10454335" cy="64008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There is no single global gastric-cancer screening programme. Approaches depend on incidence, endoscopy capacity, cost-effectiveness, and national policy.</a:t>
            </a:r>
            <a:endParaRPr lang="en-US" sz="1600"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The recommendation in Rwanda</a:t>
            </a:r>
            <a:endParaRPr lang="en-US" sz="3000" dirty="0"/>
          </a:p>
        </p:txBody>
      </p:sp>
      <p:sp>
        <p:nvSpPr>
          <p:cNvPr id="11" name="Text 9"/>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2" name="Shape 2">
            <a:extLst>
              <a:ext uri="{FF2B5EF4-FFF2-40B4-BE49-F238E27FC236}">
                <a16:creationId xmlns:a16="http://schemas.microsoft.com/office/drawing/2014/main" id="{99053904-0F0A-42DB-50BB-C77708ADF8E8}"/>
              </a:ext>
            </a:extLst>
          </p:cNvPr>
          <p:cNvSpPr/>
          <p:nvPr/>
        </p:nvSpPr>
        <p:spPr>
          <a:xfrm>
            <a:off x="4407565" y="2011679"/>
            <a:ext cx="3423818" cy="3413385"/>
          </a:xfrm>
          <a:prstGeom prst="roundRect">
            <a:avLst>
              <a:gd name="adj" fmla="val 4103"/>
            </a:avLst>
          </a:prstGeom>
          <a:solidFill>
            <a:srgbClr val="EBF3FC"/>
          </a:solidFill>
          <a:ln w="12700">
            <a:solidFill>
              <a:srgbClr val="D3E4F5"/>
            </a:solidFill>
            <a:prstDash val="solid"/>
          </a:ln>
        </p:spPr>
        <p:txBody>
          <a:bodyPr/>
          <a:lstStyle/>
          <a:p>
            <a:endParaRPr lang="en-US" sz="2400" dirty="0"/>
          </a:p>
        </p:txBody>
      </p:sp>
      <p:sp>
        <p:nvSpPr>
          <p:cNvPr id="13" name="Text 3">
            <a:extLst>
              <a:ext uri="{FF2B5EF4-FFF2-40B4-BE49-F238E27FC236}">
                <a16:creationId xmlns:a16="http://schemas.microsoft.com/office/drawing/2014/main" id="{CFCA4837-FF6F-C682-8236-B4ABDAEDF41E}"/>
              </a:ext>
            </a:extLst>
          </p:cNvPr>
          <p:cNvSpPr/>
          <p:nvPr/>
        </p:nvSpPr>
        <p:spPr>
          <a:xfrm>
            <a:off x="4608733" y="2157984"/>
            <a:ext cx="3021482" cy="509646"/>
          </a:xfrm>
          <a:prstGeom prst="rect">
            <a:avLst/>
          </a:prstGeom>
          <a:noFill/>
          <a:ln/>
        </p:spPr>
        <p:txBody>
          <a:bodyPr wrap="square" lIns="0" tIns="0" rIns="0" bIns="0" rtlCol="0" anchor="t"/>
          <a:lstStyle/>
          <a:p>
            <a:r>
              <a:rPr lang="en-US" b="1" dirty="0" err="1">
                <a:solidFill>
                  <a:srgbClr val="12406B"/>
                </a:solidFill>
                <a:latin typeface="Cambria" pitchFamily="34" charset="0"/>
                <a:ea typeface="Cambria" pitchFamily="34" charset="-122"/>
                <a:cs typeface="Cambria" pitchFamily="34" charset="-120"/>
              </a:rPr>
              <a:t>H. pylori prevention</a:t>
            </a:r>
            <a:endParaRPr lang="en-US" dirty="0"/>
          </a:p>
        </p:txBody>
      </p:sp>
      <p:sp>
        <p:nvSpPr>
          <p:cNvPr id="14" name="Text 4">
            <a:extLst>
              <a:ext uri="{FF2B5EF4-FFF2-40B4-BE49-F238E27FC236}">
                <a16:creationId xmlns:a16="http://schemas.microsoft.com/office/drawing/2014/main" id="{E05BFEF5-BA54-53DB-11D1-A54201EA1D03}"/>
              </a:ext>
            </a:extLst>
          </p:cNvPr>
          <p:cNvSpPr/>
          <p:nvPr/>
        </p:nvSpPr>
        <p:spPr>
          <a:xfrm>
            <a:off x="4608733" y="2738736"/>
            <a:ext cx="3021482" cy="1376044"/>
          </a:xfrm>
          <a:prstGeom prst="rect">
            <a:avLst/>
          </a:prstGeom>
          <a:noFill/>
          <a:ln/>
        </p:spPr>
        <p:txBody>
          <a:bodyPr wrap="square" lIns="0" tIns="0" rIns="0" bIns="0" rtlCol="0" anchor="t"/>
          <a:lstStyle/>
          <a:p>
            <a:r>
              <a:rPr lang="en-US" sz="1800" dirty="0">
                <a:solidFill>
                  <a:srgbClr val="1F3B50"/>
                </a:solidFill>
                <a:latin typeface="Calibri" pitchFamily="34" charset="0"/>
                <a:ea typeface="Calibri" pitchFamily="34" charset="-122"/>
                <a:cs typeface="Calibri" pitchFamily="34" charset="-120"/>
              </a:rPr>
              <a:t>Risk-based and symptomatic H. pylori test-and-treat as primary prevention, rather than a population-wide screen-and-treat programme.</a:t>
            </a:r>
            <a:endParaRPr lang="en-US" sz="1600" dirty="0"/>
          </a:p>
        </p:txBody>
      </p:sp>
      <p:sp>
        <p:nvSpPr>
          <p:cNvPr id="15" name="Shape 5">
            <a:extLst>
              <a:ext uri="{FF2B5EF4-FFF2-40B4-BE49-F238E27FC236}">
                <a16:creationId xmlns:a16="http://schemas.microsoft.com/office/drawing/2014/main" id="{75C5A948-0DE2-F78C-1CE6-04D8BD7E1655}"/>
              </a:ext>
            </a:extLst>
          </p:cNvPr>
          <p:cNvSpPr/>
          <p:nvPr/>
        </p:nvSpPr>
        <p:spPr>
          <a:xfrm>
            <a:off x="709427" y="2011679"/>
            <a:ext cx="3423818" cy="3413385"/>
          </a:xfrm>
          <a:prstGeom prst="roundRect">
            <a:avLst>
              <a:gd name="adj" fmla="val 4103"/>
            </a:avLst>
          </a:prstGeom>
          <a:solidFill>
            <a:srgbClr val="EBF3FC"/>
          </a:solidFill>
          <a:ln w="12700">
            <a:solidFill>
              <a:srgbClr val="D3E4F5"/>
            </a:solidFill>
            <a:prstDash val="solid"/>
          </a:ln>
        </p:spPr>
        <p:txBody>
          <a:bodyPr/>
          <a:lstStyle/>
          <a:p>
            <a:endParaRPr lang="en-US" sz="2400" dirty="0"/>
          </a:p>
        </p:txBody>
      </p:sp>
      <p:sp>
        <p:nvSpPr>
          <p:cNvPr id="16" name="Text 6">
            <a:extLst>
              <a:ext uri="{FF2B5EF4-FFF2-40B4-BE49-F238E27FC236}">
                <a16:creationId xmlns:a16="http://schemas.microsoft.com/office/drawing/2014/main" id="{957A5659-9BA7-BE97-A3DA-BCB6F7D329C5}"/>
              </a:ext>
            </a:extLst>
          </p:cNvPr>
          <p:cNvSpPr/>
          <p:nvPr/>
        </p:nvSpPr>
        <p:spPr>
          <a:xfrm>
            <a:off x="910595" y="2157984"/>
            <a:ext cx="3021482" cy="509646"/>
          </a:xfrm>
          <a:prstGeom prst="rect">
            <a:avLst/>
          </a:prstGeom>
          <a:noFill/>
          <a:ln/>
        </p:spPr>
        <p:txBody>
          <a:bodyPr wrap="square" lIns="0" tIns="0" rIns="0" bIns="0" rtlCol="0" anchor="t"/>
          <a:lstStyle/>
          <a:p>
            <a:r>
              <a:rPr lang="en-US" b="1" i="0" dirty="0">
                <a:solidFill>
                  <a:srgbClr val="12406B"/>
                </a:solidFill>
                <a:latin typeface="Cambria" pitchFamily="34" charset="0"/>
                <a:ea typeface="Cambria" pitchFamily="34" charset="-122"/>
                <a:cs typeface="Cambria" pitchFamily="34" charset="-120"/>
              </a:rPr>
              <a:t>Risk-based approach</a:t>
            </a:r>
            <a:endParaRPr lang="en-US" dirty="0"/>
          </a:p>
        </p:txBody>
      </p:sp>
      <p:sp>
        <p:nvSpPr>
          <p:cNvPr id="17" name="Text 7">
            <a:extLst>
              <a:ext uri="{FF2B5EF4-FFF2-40B4-BE49-F238E27FC236}">
                <a16:creationId xmlns:a16="http://schemas.microsoft.com/office/drawing/2014/main" id="{0DEB3050-1239-4087-3DF0-97777C1E6885}"/>
              </a:ext>
            </a:extLst>
          </p:cNvPr>
          <p:cNvSpPr/>
          <p:nvPr/>
        </p:nvSpPr>
        <p:spPr>
          <a:xfrm>
            <a:off x="910595" y="2738736"/>
            <a:ext cx="3021482" cy="1376044"/>
          </a:xfrm>
          <a:prstGeom prst="rect">
            <a:avLst/>
          </a:prstGeom>
          <a:noFill/>
          <a:ln/>
        </p:spPr>
        <p:txBody>
          <a:bodyPr wrap="square" lIns="0" tIns="0" rIns="0" bIns="0" rtlCol="0" anchor="t"/>
          <a:lstStyle/>
          <a:p>
            <a:r>
              <a:rPr lang="en-US" sz="1800" dirty="0">
                <a:solidFill>
                  <a:srgbClr val="1F3B50"/>
                </a:solidFill>
                <a:latin typeface="Calibri" pitchFamily="34" charset="0"/>
                <a:ea typeface="Calibri" pitchFamily="34" charset="-122"/>
                <a:cs typeface="Calibri" pitchFamily="34" charset="-120"/>
              </a:rPr>
              <a:t>Assess risk and investigate people with persistent or alarm symptoms promptly. Population endoscopic screening is not cost-effective at Rwanda's incidence level.</a:t>
            </a:r>
            <a:endParaRPr lang="en-US" sz="1600" dirty="0"/>
          </a:p>
        </p:txBody>
      </p:sp>
      <p:sp>
        <p:nvSpPr>
          <p:cNvPr id="18" name="Shape 8">
            <a:extLst>
              <a:ext uri="{FF2B5EF4-FFF2-40B4-BE49-F238E27FC236}">
                <a16:creationId xmlns:a16="http://schemas.microsoft.com/office/drawing/2014/main" id="{ADE3301E-8BE8-AA74-3254-1FADD48EB55B}"/>
              </a:ext>
            </a:extLst>
          </p:cNvPr>
          <p:cNvSpPr/>
          <p:nvPr/>
        </p:nvSpPr>
        <p:spPr>
          <a:xfrm>
            <a:off x="8082077" y="2011679"/>
            <a:ext cx="3423818" cy="3413385"/>
          </a:xfrm>
          <a:prstGeom prst="roundRect">
            <a:avLst>
              <a:gd name="adj" fmla="val 4103"/>
            </a:avLst>
          </a:prstGeom>
          <a:solidFill>
            <a:srgbClr val="EBF3FC"/>
          </a:solidFill>
          <a:ln w="12700">
            <a:solidFill>
              <a:srgbClr val="D3E4F5"/>
            </a:solidFill>
            <a:prstDash val="solid"/>
          </a:ln>
        </p:spPr>
        <p:txBody>
          <a:bodyPr/>
          <a:lstStyle/>
          <a:p>
            <a:endParaRPr lang="en-US" sz="2400" dirty="0"/>
          </a:p>
        </p:txBody>
      </p:sp>
      <p:sp>
        <p:nvSpPr>
          <p:cNvPr id="19" name="Text 9">
            <a:extLst>
              <a:ext uri="{FF2B5EF4-FFF2-40B4-BE49-F238E27FC236}">
                <a16:creationId xmlns:a16="http://schemas.microsoft.com/office/drawing/2014/main" id="{48B0CDE9-E460-F301-598B-1CD6BD405BE9}"/>
              </a:ext>
            </a:extLst>
          </p:cNvPr>
          <p:cNvSpPr/>
          <p:nvPr/>
        </p:nvSpPr>
        <p:spPr>
          <a:xfrm>
            <a:off x="8283245" y="2157984"/>
            <a:ext cx="3021482" cy="509646"/>
          </a:xfrm>
          <a:prstGeom prst="rect">
            <a:avLst/>
          </a:prstGeom>
          <a:noFill/>
          <a:ln/>
        </p:spPr>
        <p:txBody>
          <a:bodyPr wrap="square" lIns="0" tIns="0" rIns="0" bIns="0" rtlCol="0" anchor="t"/>
          <a:lstStyle/>
          <a:p>
            <a:r>
              <a:rPr lang="en-US" b="1" dirty="0">
                <a:solidFill>
                  <a:srgbClr val="12406B"/>
                </a:solidFill>
                <a:latin typeface="Cambria" pitchFamily="34" charset="0"/>
                <a:ea typeface="Cambria" pitchFamily="34" charset="-122"/>
                <a:cs typeface="Cambria" pitchFamily="34" charset="-120"/>
              </a:rPr>
              <a:t>Surveillance of premalignant conditions</a:t>
            </a:r>
            <a:endParaRPr lang="en-US" dirty="0"/>
          </a:p>
        </p:txBody>
      </p:sp>
      <p:sp>
        <p:nvSpPr>
          <p:cNvPr id="20" name="Text 10">
            <a:extLst>
              <a:ext uri="{FF2B5EF4-FFF2-40B4-BE49-F238E27FC236}">
                <a16:creationId xmlns:a16="http://schemas.microsoft.com/office/drawing/2014/main" id="{7319ADAD-F6AA-6782-5CA1-2E9A795945C2}"/>
              </a:ext>
            </a:extLst>
          </p:cNvPr>
          <p:cNvSpPr/>
          <p:nvPr/>
        </p:nvSpPr>
        <p:spPr>
          <a:xfrm>
            <a:off x="8283245" y="2738736"/>
            <a:ext cx="3021482" cy="1376044"/>
          </a:xfrm>
          <a:prstGeom prst="rect">
            <a:avLst/>
          </a:prstGeom>
          <a:noFill/>
          <a:ln/>
        </p:spPr>
        <p:txBody>
          <a:bodyPr wrap="square" lIns="0" tIns="0" rIns="0" bIns="0" rtlCol="0" anchor="t"/>
          <a:lstStyle/>
          <a:p>
            <a:r>
              <a:rPr lang="en-US" sz="1800" dirty="0">
                <a:solidFill>
                  <a:srgbClr val="1F3B50"/>
                </a:solidFill>
                <a:latin typeface="Calibri" pitchFamily="34" charset="0"/>
                <a:ea typeface="Calibri" pitchFamily="34" charset="-122"/>
                <a:cs typeface="Calibri" pitchFamily="34" charset="-120"/>
              </a:rPr>
              <a:t>Confirmed atrophic gastritis, intestinal metaplasia, or dysplasia is followed through specialist referral, guided by endoscopy and pathology availability.</a:t>
            </a:r>
            <a:endParaRPr lang="en-US" sz="1600" dirty="0"/>
          </a:p>
        </p:txBody>
      </p:sp>
      <p:sp>
        <p:nvSpPr>
          <p:cNvPr id="4" name="Shape 11"/>
          <p:cNvSpPr/>
          <p:nvPr/>
        </p:nvSpPr>
        <p:spPr>
          <a:xfrm>
            <a:off x="685800" y="5541264"/>
            <a:ext cx="10817352" cy="640080"/>
          </a:xfrm>
          <a:prstGeom prst="roundRect">
            <a:avLst>
              <a:gd name="adj" fmla="val 8571"/>
            </a:avLst>
          </a:prstGeom>
          <a:solidFill>
            <a:srgbClr val="FCEFDD"/>
          </a:solidFill>
          <a:ln w="12700">
            <a:solidFill>
              <a:srgbClr val="EBC48A"/>
            </a:solidFill>
            <a:prstDash val="solid"/>
          </a:ln>
        </p:spPr>
        <p:txBody>
          <a:bodyPr/>
          <a:lstStyle/>
          <a:p>
            <a:endParaRPr lang="en-US" dirty="0"/>
          </a:p>
        </p:txBody>
      </p:sp>
      <p:sp>
        <p:nvSpPr>
          <p:cNvPr id="5" name="Text 12"/>
          <p:cNvSpPr/>
          <p:nvPr/>
        </p:nvSpPr>
        <p:spPr>
          <a:xfrm>
            <a:off x="868680" y="5541264"/>
            <a:ext cx="10451592" cy="640080"/>
          </a:xfrm>
          <a:prstGeom prst="rect">
            <a:avLst/>
          </a:prstGeom>
          <a:noFill/>
          <a:ln/>
        </p:spPr>
        <p:txBody>
          <a:bodyPr wrap="square" lIns="0" tIns="0" rIns="0" bIns="0" rtlCol="0" anchor="ctr"/>
          <a:lstStyle/>
          <a:p>
            <a:pPr marL="0" indent="0">
              <a:buNone/>
            </a:pPr>
            <a:r>
              <a:rPr lang="en-US" sz="1800" dirty="0">
                <a:solidFill>
                  <a:srgbClr val="C77A17"/>
                </a:solidFill>
                <a:latin typeface="Calibri" pitchFamily="34" charset="0"/>
                <a:ea typeface="Calibri" pitchFamily="34" charset="-122"/>
                <a:cs typeface="Calibri" pitchFamily="34" charset="-120"/>
              </a:rPr>
              <a:t>A risk-based approach concentrates limited endoscopy capacity on the people most likely to benefit.</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Apply it to Uwase</a:t>
            </a:r>
            <a:endParaRPr lang="en-US" sz="3000" dirty="0"/>
          </a:p>
        </p:txBody>
      </p:sp>
      <p:sp>
        <p:nvSpPr>
          <p:cNvPr id="4" name="Shape 2"/>
          <p:cNvSpPr/>
          <p:nvPr/>
        </p:nvSpPr>
        <p:spPr>
          <a:xfrm>
            <a:off x="685800" y="1965960"/>
            <a:ext cx="6675120" cy="914400"/>
          </a:xfrm>
          <a:prstGeom prst="roundRect">
            <a:avLst>
              <a:gd name="adj" fmla="val 7059"/>
            </a:avLst>
          </a:prstGeom>
          <a:solidFill>
            <a:srgbClr val="EBF3FC"/>
          </a:solidFill>
          <a:ln w="12700">
            <a:solidFill>
              <a:srgbClr val="1C6FB1"/>
            </a:solidFill>
            <a:prstDash val="solid"/>
          </a:ln>
        </p:spPr>
        <p:txBody>
          <a:bodyPr/>
          <a:lstStyle/>
          <a:p>
            <a:endParaRPr lang="en-US" sz="2400" dirty="0"/>
          </a:p>
        </p:txBody>
      </p:sp>
      <p:sp>
        <p:nvSpPr>
          <p:cNvPr id="5" name="Text 3"/>
          <p:cNvSpPr/>
          <p:nvPr/>
        </p:nvSpPr>
        <p:spPr>
          <a:xfrm>
            <a:off x="868680" y="1965960"/>
            <a:ext cx="6309360" cy="914400"/>
          </a:xfrm>
          <a:prstGeom prst="rect">
            <a:avLst/>
          </a:prstGeom>
          <a:noFill/>
          <a:ln/>
        </p:spPr>
        <p:txBody>
          <a:bodyPr wrap="square" lIns="0" tIns="0" rIns="0" bIns="0" rtlCol="0" anchor="ctr"/>
          <a:lstStyle/>
          <a:p>
            <a:pPr marL="0" indent="0">
              <a:buNone/>
            </a:pPr>
            <a:r>
              <a:rPr lang="en-US" sz="1800" b="1" dirty="0">
                <a:solidFill>
                  <a:srgbClr val="1C6FB1"/>
                </a:solidFill>
                <a:latin typeface="Calibri" pitchFamily="34" charset="0"/>
                <a:ea typeface="Calibri" pitchFamily="34" charset="-122"/>
                <a:cs typeface="Calibri" pitchFamily="34" charset="-120"/>
              </a:rPr>
              <a:t>Scenario  </a:t>
            </a:r>
            <a:r>
              <a:rPr lang="en-US" sz="1800" dirty="0">
                <a:solidFill>
                  <a:srgbClr val="1F3B50"/>
                </a:solidFill>
                <a:latin typeface="Calibri" pitchFamily="34" charset="0"/>
                <a:ea typeface="Calibri" pitchFamily="34" charset="-122"/>
                <a:cs typeface="Calibri" pitchFamily="34" charset="-120"/>
              </a:rPr>
              <a:t>Uwase has three months of upper-abdominal discomfort, early satiety, and unintentional weight loss. She asks whether this is just an ulcer.</a:t>
            </a:r>
            <a:endParaRPr lang="en-US" sz="1600" dirty="0"/>
          </a:p>
        </p:txBody>
      </p:sp>
      <p:sp>
        <p:nvSpPr>
          <p:cNvPr id="6" name="Text 4"/>
          <p:cNvSpPr/>
          <p:nvPr/>
        </p:nvSpPr>
        <p:spPr>
          <a:xfrm>
            <a:off x="685800" y="2926080"/>
            <a:ext cx="6675120" cy="45720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What is the most appropriate response?</a:t>
            </a:r>
            <a:endParaRPr lang="en-US" sz="2000" dirty="0"/>
          </a:p>
        </p:txBody>
      </p:sp>
      <p:sp>
        <p:nvSpPr>
          <p:cNvPr id="7" name="Shape 5"/>
          <p:cNvSpPr/>
          <p:nvPr/>
        </p:nvSpPr>
        <p:spPr>
          <a:xfrm>
            <a:off x="685800" y="3383280"/>
            <a:ext cx="6675120" cy="566928"/>
          </a:xfrm>
          <a:prstGeom prst="roundRect">
            <a:avLst>
              <a:gd name="adj" fmla="val 8065"/>
            </a:avLst>
          </a:prstGeom>
          <a:solidFill>
            <a:srgbClr val="FFFFFF"/>
          </a:solidFill>
          <a:ln w="12700">
            <a:solidFill>
              <a:srgbClr val="D3E4F5"/>
            </a:solidFill>
            <a:prstDash val="solid"/>
          </a:ln>
        </p:spPr>
        <p:txBody>
          <a:bodyPr/>
          <a:lstStyle/>
          <a:p>
            <a:endParaRPr lang="en-US" sz="2400" dirty="0"/>
          </a:p>
        </p:txBody>
      </p:sp>
      <p:sp>
        <p:nvSpPr>
          <p:cNvPr id="8" name="Shape 6"/>
          <p:cNvSpPr/>
          <p:nvPr/>
        </p:nvSpPr>
        <p:spPr>
          <a:xfrm>
            <a:off x="795528" y="3511296"/>
            <a:ext cx="310896" cy="310896"/>
          </a:xfrm>
          <a:prstGeom prst="ellipse">
            <a:avLst/>
          </a:prstGeom>
          <a:solidFill>
            <a:srgbClr val="0C3D66"/>
          </a:solidFill>
          <a:ln/>
        </p:spPr>
        <p:txBody>
          <a:bodyPr/>
          <a:lstStyle/>
          <a:p>
            <a:endParaRPr lang="en-US" sz="2400" dirty="0"/>
          </a:p>
        </p:txBody>
      </p:sp>
      <p:sp>
        <p:nvSpPr>
          <p:cNvPr id="9" name="Text 7"/>
          <p:cNvSpPr/>
          <p:nvPr/>
        </p:nvSpPr>
        <p:spPr>
          <a:xfrm>
            <a:off x="795528" y="3511296"/>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1234440" y="3383280"/>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Reassure her it is only an ulcer and treat with antacids</a:t>
            </a:r>
            <a:endParaRPr lang="en-US" sz="1600" dirty="0"/>
          </a:p>
        </p:txBody>
      </p:sp>
      <p:sp>
        <p:nvSpPr>
          <p:cNvPr id="11" name="Shape 9"/>
          <p:cNvSpPr/>
          <p:nvPr/>
        </p:nvSpPr>
        <p:spPr>
          <a:xfrm>
            <a:off x="685800" y="4096512"/>
            <a:ext cx="6675120" cy="566928"/>
          </a:xfrm>
          <a:prstGeom prst="roundRect">
            <a:avLst>
              <a:gd name="adj" fmla="val 8065"/>
            </a:avLst>
          </a:prstGeom>
          <a:solidFill>
            <a:srgbClr val="E6F4EB"/>
          </a:solidFill>
          <a:ln w="19050">
            <a:solidFill>
              <a:srgbClr val="9BCFA6"/>
            </a:solidFill>
            <a:prstDash val="solid"/>
          </a:ln>
        </p:spPr>
        <p:txBody>
          <a:bodyPr/>
          <a:lstStyle/>
          <a:p>
            <a:endParaRPr lang="en-US" sz="2400" dirty="0"/>
          </a:p>
        </p:txBody>
      </p:sp>
      <p:sp>
        <p:nvSpPr>
          <p:cNvPr id="12" name="Shape 10"/>
          <p:cNvSpPr/>
          <p:nvPr/>
        </p:nvSpPr>
        <p:spPr>
          <a:xfrm>
            <a:off x="795528" y="4224528"/>
            <a:ext cx="310896" cy="310896"/>
          </a:xfrm>
          <a:prstGeom prst="ellipse">
            <a:avLst/>
          </a:prstGeom>
          <a:solidFill>
            <a:srgbClr val="1E7A46"/>
          </a:solidFill>
          <a:ln/>
        </p:spPr>
        <p:txBody>
          <a:bodyPr/>
          <a:lstStyle/>
          <a:p>
            <a:endParaRPr lang="en-US" sz="2400" dirty="0"/>
          </a:p>
        </p:txBody>
      </p:sp>
      <p:sp>
        <p:nvSpPr>
          <p:cNvPr id="13" name="Text 11"/>
          <p:cNvSpPr/>
          <p:nvPr/>
        </p:nvSpPr>
        <p:spPr>
          <a:xfrm>
            <a:off x="795528" y="422452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1234440" y="4096512"/>
            <a:ext cx="5852160" cy="566928"/>
          </a:xfrm>
          <a:prstGeom prst="rect">
            <a:avLst/>
          </a:prstGeom>
          <a:noFill/>
          <a:ln/>
        </p:spPr>
        <p:txBody>
          <a:bodyPr wrap="square" lIns="0" tIns="0" rIns="0" bIns="0" rtlCol="0" anchor="ctr"/>
          <a:lstStyle/>
          <a:p>
            <a:pPr marL="0" indent="0">
              <a:buNone/>
            </a:pPr>
            <a:r>
              <a:rPr lang="en-US" sz="1800" b="1" dirty="0">
                <a:solidFill>
                  <a:srgbClr val="1E7A46"/>
                </a:solidFill>
                <a:latin typeface="Calibri" pitchFamily="34" charset="0"/>
                <a:ea typeface="Calibri" pitchFamily="34" charset="-122"/>
                <a:cs typeface="Calibri" pitchFamily="34" charset="-120"/>
              </a:rPr>
              <a:t>Explain that persistent symptoms with weight loss need assessment, and arrange referral</a:t>
            </a:r>
            <a:endParaRPr lang="en-US" sz="1600" dirty="0"/>
          </a:p>
        </p:txBody>
      </p:sp>
      <p:sp>
        <p:nvSpPr>
          <p:cNvPr id="15" name="Text 13"/>
          <p:cNvSpPr/>
          <p:nvPr/>
        </p:nvSpPr>
        <p:spPr>
          <a:xfrm>
            <a:off x="6995160" y="4096512"/>
            <a:ext cx="274320" cy="566928"/>
          </a:xfrm>
          <a:prstGeom prst="rect">
            <a:avLst/>
          </a:prstGeom>
          <a:noFill/>
          <a:ln/>
        </p:spPr>
        <p:txBody>
          <a:bodyPr wrap="square" lIns="0" tIns="0" rIns="0" bIns="0" rtlCol="0" anchor="ctr"/>
          <a:lstStyle/>
          <a:p>
            <a:pPr marL="0" indent="0" algn="ctr">
              <a:buNone/>
            </a:pPr>
            <a:r>
              <a:rPr lang="en-US" b="1" dirty="0">
                <a:solidFill>
                  <a:srgbClr val="1E7A46"/>
                </a:solidFill>
                <a:latin typeface="Calibri" pitchFamily="34" charset="0"/>
                <a:ea typeface="Calibri" pitchFamily="34" charset="-122"/>
                <a:cs typeface="Calibri" pitchFamily="34" charset="-120"/>
              </a:rPr>
              <a:t>✓</a:t>
            </a:r>
            <a:endParaRPr lang="en-US" dirty="0"/>
          </a:p>
        </p:txBody>
      </p:sp>
      <p:sp>
        <p:nvSpPr>
          <p:cNvPr id="16" name="Shape 14"/>
          <p:cNvSpPr/>
          <p:nvPr/>
        </p:nvSpPr>
        <p:spPr>
          <a:xfrm>
            <a:off x="685800" y="4809744"/>
            <a:ext cx="6675120" cy="566928"/>
          </a:xfrm>
          <a:prstGeom prst="roundRect">
            <a:avLst>
              <a:gd name="adj" fmla="val 8065"/>
            </a:avLst>
          </a:prstGeom>
          <a:solidFill>
            <a:srgbClr val="FFFFFF"/>
          </a:solidFill>
          <a:ln w="12700">
            <a:solidFill>
              <a:srgbClr val="D3E4F5"/>
            </a:solidFill>
            <a:prstDash val="solid"/>
          </a:ln>
        </p:spPr>
        <p:txBody>
          <a:bodyPr/>
          <a:lstStyle/>
          <a:p>
            <a:endParaRPr lang="en-US" sz="2400" dirty="0"/>
          </a:p>
        </p:txBody>
      </p:sp>
      <p:sp>
        <p:nvSpPr>
          <p:cNvPr id="17" name="Shape 15"/>
          <p:cNvSpPr/>
          <p:nvPr/>
        </p:nvSpPr>
        <p:spPr>
          <a:xfrm>
            <a:off x="795528" y="4937760"/>
            <a:ext cx="310896" cy="310896"/>
          </a:xfrm>
          <a:prstGeom prst="ellipse">
            <a:avLst/>
          </a:prstGeom>
          <a:solidFill>
            <a:srgbClr val="0C3D66"/>
          </a:solidFill>
          <a:ln/>
        </p:spPr>
        <p:txBody>
          <a:bodyPr/>
          <a:lstStyle/>
          <a:p>
            <a:endParaRPr lang="en-US" sz="2400" dirty="0"/>
          </a:p>
        </p:txBody>
      </p:sp>
      <p:sp>
        <p:nvSpPr>
          <p:cNvPr id="18" name="Text 16"/>
          <p:cNvSpPr/>
          <p:nvPr/>
        </p:nvSpPr>
        <p:spPr>
          <a:xfrm>
            <a:off x="795528" y="493776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9" name="Text 17"/>
          <p:cNvSpPr/>
          <p:nvPr/>
        </p:nvSpPr>
        <p:spPr>
          <a:xfrm>
            <a:off x="1234440" y="4809744"/>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Tell her to return only if she vomits blood</a:t>
            </a:r>
            <a:endParaRPr lang="en-US" sz="1600" dirty="0"/>
          </a:p>
        </p:txBody>
      </p:sp>
      <p:sp>
        <p:nvSpPr>
          <p:cNvPr id="20" name="Shape 18"/>
          <p:cNvSpPr/>
          <p:nvPr/>
        </p:nvSpPr>
        <p:spPr>
          <a:xfrm>
            <a:off x="685800" y="5522976"/>
            <a:ext cx="6675120" cy="566928"/>
          </a:xfrm>
          <a:prstGeom prst="roundRect">
            <a:avLst>
              <a:gd name="adj" fmla="val 8065"/>
            </a:avLst>
          </a:prstGeom>
          <a:solidFill>
            <a:srgbClr val="FFFFFF"/>
          </a:solidFill>
          <a:ln w="12700">
            <a:solidFill>
              <a:srgbClr val="D3E4F5"/>
            </a:solidFill>
            <a:prstDash val="solid"/>
          </a:ln>
        </p:spPr>
        <p:txBody>
          <a:bodyPr/>
          <a:lstStyle/>
          <a:p>
            <a:endParaRPr lang="en-US" dirty="0"/>
          </a:p>
        </p:txBody>
      </p:sp>
      <p:sp>
        <p:nvSpPr>
          <p:cNvPr id="21" name="Shape 19"/>
          <p:cNvSpPr/>
          <p:nvPr/>
        </p:nvSpPr>
        <p:spPr>
          <a:xfrm>
            <a:off x="795528" y="5650992"/>
            <a:ext cx="310896" cy="310896"/>
          </a:xfrm>
          <a:prstGeom prst="ellipse">
            <a:avLst/>
          </a:prstGeom>
          <a:solidFill>
            <a:srgbClr val="0C3D66"/>
          </a:solidFill>
          <a:ln/>
        </p:spPr>
        <p:txBody>
          <a:bodyPr/>
          <a:lstStyle/>
          <a:p>
            <a:endParaRPr lang="en-US" sz="2400" dirty="0"/>
          </a:p>
        </p:txBody>
      </p:sp>
      <p:sp>
        <p:nvSpPr>
          <p:cNvPr id="22" name="Text 20"/>
          <p:cNvSpPr/>
          <p:nvPr/>
        </p:nvSpPr>
        <p:spPr>
          <a:xfrm>
            <a:off x="795528" y="5650992"/>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3" name="Text 21"/>
          <p:cNvSpPr/>
          <p:nvPr/>
        </p:nvSpPr>
        <p:spPr>
          <a:xfrm>
            <a:off x="1234440" y="5522976"/>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Start cancer treatment now</a:t>
            </a:r>
            <a:endParaRPr lang="en-US" sz="1600" dirty="0"/>
          </a:p>
        </p:txBody>
      </p:sp>
      <p:sp>
        <p:nvSpPr>
          <p:cNvPr id="24" name="Shape 22"/>
          <p:cNvSpPr/>
          <p:nvPr/>
        </p:nvSpPr>
        <p:spPr>
          <a:xfrm>
            <a:off x="7680960" y="1965960"/>
            <a:ext cx="3824935" cy="3977640"/>
          </a:xfrm>
          <a:prstGeom prst="roundRect">
            <a:avLst>
              <a:gd name="adj" fmla="val 1434"/>
            </a:avLst>
          </a:prstGeom>
          <a:solidFill>
            <a:srgbClr val="EBF3FC"/>
          </a:solidFill>
          <a:ln w="12700">
            <a:solidFill>
              <a:srgbClr val="D3E4F5"/>
            </a:solidFill>
            <a:prstDash val="solid"/>
          </a:ln>
        </p:spPr>
        <p:txBody>
          <a:bodyPr/>
          <a:lstStyle/>
          <a:p>
            <a:endParaRPr lang="en-US" sz="2400" dirty="0"/>
          </a:p>
        </p:txBody>
      </p:sp>
      <p:sp>
        <p:nvSpPr>
          <p:cNvPr id="25" name="Text 23"/>
          <p:cNvSpPr/>
          <p:nvPr/>
        </p:nvSpPr>
        <p:spPr>
          <a:xfrm>
            <a:off x="7882128" y="2148840"/>
            <a:ext cx="3422599" cy="365760"/>
          </a:xfrm>
          <a:prstGeom prst="rect">
            <a:avLst/>
          </a:prstGeom>
          <a:noFill/>
          <a:ln/>
        </p:spPr>
        <p:txBody>
          <a:bodyPr wrap="square" lIns="0" tIns="0" rIns="0" bIns="0" rtlCol="0" anchor="ctr"/>
          <a:lstStyle/>
          <a:p>
            <a:pPr marL="0" indent="0">
              <a:buNone/>
            </a:pPr>
            <a:r>
              <a:rPr lang="en-US" b="1" dirty="0">
                <a:solidFill>
                  <a:srgbClr val="1E7A46"/>
                </a:solidFill>
                <a:latin typeface="Cambria" pitchFamily="34" charset="0"/>
                <a:ea typeface="Cambria" pitchFamily="34" charset="-122"/>
                <a:cs typeface="Cambria" pitchFamily="34" charset="-120"/>
              </a:rPr>
              <a:t>Correct answer: B</a:t>
            </a:r>
            <a:endParaRPr lang="en-US" dirty="0"/>
          </a:p>
        </p:txBody>
      </p:sp>
      <p:sp>
        <p:nvSpPr>
          <p:cNvPr id="26" name="Text 24"/>
          <p:cNvSpPr/>
          <p:nvPr/>
        </p:nvSpPr>
        <p:spPr>
          <a:xfrm>
            <a:off x="7882128" y="2560320"/>
            <a:ext cx="3422599" cy="3200400"/>
          </a:xfrm>
          <a:prstGeom prst="rect">
            <a:avLst/>
          </a:prstGeom>
          <a:noFill/>
          <a:ln/>
        </p:spPr>
        <p:txBody>
          <a:bodyPr wrap="square" lIns="0" tIns="0" rIns="0" bIns="0" rtlCol="0" anchor="t"/>
          <a:lstStyle/>
          <a:p>
            <a:pPr marL="0" indent="0">
              <a:lnSpc>
                <a:spcPct val="110000"/>
              </a:lnSpc>
              <a:buNone/>
            </a:pPr>
            <a:r>
              <a:rPr lang="en-US" sz="1800" b="1" dirty="0">
                <a:solidFill>
                  <a:srgbClr val="12406B"/>
                </a:solidFill>
                <a:latin typeface="Calibri" pitchFamily="34" charset="0"/>
                <a:ea typeface="Calibri" pitchFamily="34" charset="-122"/>
                <a:cs typeface="Calibri" pitchFamily="34" charset="-120"/>
              </a:rPr>
              <a:t>Why  </a:t>
            </a:r>
            <a:r>
              <a:rPr lang="en-US" sz="1800" dirty="0">
                <a:solidFill>
                  <a:srgbClr val="1F3B50"/>
                </a:solidFill>
                <a:latin typeface="Calibri" pitchFamily="34" charset="0"/>
                <a:ea typeface="Calibri" pitchFamily="34" charset="-122"/>
                <a:cs typeface="Calibri" pitchFamily="34" charset="-120"/>
              </a:rPr>
              <a:t>Persistent upper-GI symptoms with unintentional weight loss are alarm features. Symptoms cannot confirm or exclude cancer, so she needs assessment and referral for endoscopy rather than empirical reassurance.</a:t>
            </a:r>
            <a:endParaRPr lang="en-US" sz="1600" dirty="0"/>
          </a:p>
        </p:txBody>
      </p:sp>
      <p:sp>
        <p:nvSpPr>
          <p:cNvPr id="27" name="Text 2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(1/3)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 Screening applies to:</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People with symptoms</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Asymptomatic people in a defined population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Only people already diagnosed</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No one</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Screening is early detection in people without symptoms.</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Q2. Testing and treating </a:t>
            </a:r>
            <a:r>
              <a:rPr lang="en-US" sz="2000" b="1" i="1" dirty="0">
                <a:solidFill>
                  <a:srgbClr val="12406B"/>
                </a:solidFill>
                <a:latin typeface="Calibri" pitchFamily="34" charset="0"/>
                <a:ea typeface="Calibri" pitchFamily="34" charset="-122"/>
                <a:cs typeface="Calibri" pitchFamily="34" charset="-120"/>
              </a:rPr>
              <a:t>H. pylori </a:t>
            </a:r>
            <a:r>
              <a:rPr lang="en-US" sz="2000" b="1" dirty="0">
                <a:solidFill>
                  <a:srgbClr val="12406B"/>
                </a:solidFill>
                <a:latin typeface="Calibri" pitchFamily="34" charset="0"/>
                <a:ea typeface="Calibri" pitchFamily="34" charset="-122"/>
                <a:cs typeface="Calibri" pitchFamily="34" charset="-120"/>
              </a:rPr>
              <a:t>is best described as:</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Gastric-cancer screening</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Primary prevention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Surveillance</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Palliative care</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lowers future risk; it is prevention, not cancer screening.</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(2/3)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Q3. Which is an established risk factor?</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A. Family history of gastric cancer  ✓</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High water intake</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Left-handedness</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Living at altitude</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A.  </a:t>
            </a:r>
            <a:r>
              <a:rPr lang="en-US" i="1" dirty="0">
                <a:solidFill>
                  <a:srgbClr val="5B7085"/>
                </a:solidFill>
                <a:latin typeface="Calibri" pitchFamily="34" charset="0"/>
                <a:ea typeface="Calibri" pitchFamily="34" charset="-122"/>
                <a:cs typeface="Calibri" pitchFamily="34" charset="-120"/>
              </a:rPr>
              <a:t>Age, family history, H. pylori, and tobacco are established.</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Q4. A red flag needing prompt action is:</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Occasional burping</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Melena or hematemesis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Mild transient nausea</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One episode of heartburn</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Gastrointestinal bleeding needs prompt or urgent assessment.</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(3/3)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Q5. Investigating a patient who already has symptoms is:</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Screening</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Surveillance</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 Diagnostic assessment  ✓</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Prevention</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C.  </a:t>
            </a:r>
            <a:r>
              <a:rPr lang="en-US" i="1" dirty="0">
                <a:solidFill>
                  <a:srgbClr val="5B7085"/>
                </a:solidFill>
                <a:latin typeface="Calibri" pitchFamily="34" charset="0"/>
                <a:ea typeface="Calibri" pitchFamily="34" charset="-122"/>
                <a:cs typeface="Calibri" pitchFamily="34" charset="-120"/>
              </a:rPr>
              <a:t>Symptomatic investigation is diagnostic assessment, not screening.</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Q6. Persistent dyspepsia with weight loss should be:</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Assumed benign</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Assessed and considered for referral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Ignored for a year</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Treated only with diet</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Alarm features warrant assessment and referral.</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2</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Session reflection</a:t>
            </a:r>
            <a:endParaRPr lang="en-US" sz="3000" dirty="0"/>
          </a:p>
        </p:txBody>
      </p:sp>
      <p:sp>
        <p:nvSpPr>
          <p:cNvPr id="4" name="Text 2"/>
          <p:cNvSpPr/>
          <p:nvPr/>
        </p:nvSpPr>
        <p:spPr>
          <a:xfrm>
            <a:off x="685800" y="1874519"/>
            <a:ext cx="10820095" cy="384048"/>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Enter your response in the text box. There is no single correct answer.</a:t>
            </a:r>
            <a:endParaRPr lang="en-US" sz="1300" dirty="0"/>
          </a:p>
        </p:txBody>
      </p:sp>
      <p:sp>
        <p:nvSpPr>
          <p:cNvPr id="5" name="Shape 3"/>
          <p:cNvSpPr/>
          <p:nvPr/>
        </p:nvSpPr>
        <p:spPr>
          <a:xfrm>
            <a:off x="685800" y="2377440"/>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6" name="Shape 4"/>
          <p:cNvSpPr/>
          <p:nvPr/>
        </p:nvSpPr>
        <p:spPr>
          <a:xfrm>
            <a:off x="914400" y="2555748"/>
            <a:ext cx="512064" cy="512064"/>
          </a:xfrm>
          <a:prstGeom prst="ellipse">
            <a:avLst/>
          </a:prstGeom>
          <a:solidFill>
            <a:srgbClr val="12857F"/>
          </a:solidFill>
          <a:ln/>
        </p:spPr>
        <p:txBody>
          <a:bodyPr/>
          <a:lstStyle/>
          <a:p>
            <a:endParaRPr lang="en-US" sz="2400" dirty="0"/>
          </a:p>
        </p:txBody>
      </p:sp>
      <p:sp>
        <p:nvSpPr>
          <p:cNvPr id="7" name="Text 5"/>
          <p:cNvSpPr/>
          <p:nvPr/>
        </p:nvSpPr>
        <p:spPr>
          <a:xfrm>
            <a:off x="914400" y="2555748"/>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645920" y="2377440"/>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Which gastric-cancer risk factor would you most consistently assess in your practice, and how?</a:t>
            </a:r>
            <a:endParaRPr lang="en-US" dirty="0"/>
          </a:p>
        </p:txBody>
      </p:sp>
      <p:sp>
        <p:nvSpPr>
          <p:cNvPr id="9" name="Shape 7"/>
          <p:cNvSpPr/>
          <p:nvPr/>
        </p:nvSpPr>
        <p:spPr>
          <a:xfrm>
            <a:off x="685800" y="3447288"/>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10" name="Shape 8"/>
          <p:cNvSpPr/>
          <p:nvPr/>
        </p:nvSpPr>
        <p:spPr>
          <a:xfrm>
            <a:off x="914400" y="3625596"/>
            <a:ext cx="512064" cy="512064"/>
          </a:xfrm>
          <a:prstGeom prst="ellipse">
            <a:avLst/>
          </a:prstGeom>
          <a:solidFill>
            <a:srgbClr val="12857F"/>
          </a:solidFill>
          <a:ln/>
        </p:spPr>
        <p:txBody>
          <a:bodyPr/>
          <a:lstStyle/>
          <a:p>
            <a:endParaRPr lang="en-US" sz="2400" dirty="0"/>
          </a:p>
        </p:txBody>
      </p:sp>
      <p:sp>
        <p:nvSpPr>
          <p:cNvPr id="11" name="Text 9"/>
          <p:cNvSpPr/>
          <p:nvPr/>
        </p:nvSpPr>
        <p:spPr>
          <a:xfrm>
            <a:off x="914400" y="3625596"/>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645920" y="3447288"/>
            <a:ext cx="9631375" cy="868680"/>
          </a:xfrm>
          <a:prstGeom prst="rect">
            <a:avLst/>
          </a:prstGeom>
          <a:noFill/>
          <a:ln/>
        </p:spPr>
        <p:txBody>
          <a:bodyPr wrap="square" lIns="0" tIns="0" rIns="0" bIns="0" rtlCol="0" anchor="ctr"/>
          <a:lstStyle/>
          <a:p>
            <a:pPr marL="0" indent="0">
              <a:lnSpc>
                <a:spcPct val="105000"/>
              </a:lnSpc>
              <a:buNone/>
            </a:pPr>
            <a:r>
              <a:rPr lang="en-US" dirty="0">
                <a:solidFill>
                  <a:schemeClr val="accent1">
                    <a:lumMod val="50000"/>
                  </a:schemeClr>
                </a:solidFill>
              </a:rPr>
              <a:t>Which persistent or red-flag signs and symptoms would increase your concern about gastric cancer and prompt further assessment or referral? Why?</a:t>
            </a:r>
          </a:p>
        </p:txBody>
      </p:sp>
      <p:sp>
        <p:nvSpPr>
          <p:cNvPr id="13" name="Shape 11"/>
          <p:cNvSpPr/>
          <p:nvPr/>
        </p:nvSpPr>
        <p:spPr>
          <a:xfrm>
            <a:off x="685800" y="4517136"/>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14" name="Shape 12"/>
          <p:cNvSpPr/>
          <p:nvPr/>
        </p:nvSpPr>
        <p:spPr>
          <a:xfrm>
            <a:off x="914400" y="4695444"/>
            <a:ext cx="512064" cy="512064"/>
          </a:xfrm>
          <a:prstGeom prst="ellipse">
            <a:avLst/>
          </a:prstGeom>
          <a:solidFill>
            <a:srgbClr val="12857F"/>
          </a:solidFill>
          <a:ln/>
        </p:spPr>
        <p:txBody>
          <a:bodyPr/>
          <a:lstStyle/>
          <a:p>
            <a:endParaRPr lang="en-US" sz="2400" dirty="0"/>
          </a:p>
        </p:txBody>
      </p:sp>
      <p:sp>
        <p:nvSpPr>
          <p:cNvPr id="15" name="Text 13"/>
          <p:cNvSpPr/>
          <p:nvPr/>
        </p:nvSpPr>
        <p:spPr>
          <a:xfrm>
            <a:off x="914400" y="4695444"/>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6" name="Text 14"/>
          <p:cNvSpPr/>
          <p:nvPr/>
        </p:nvSpPr>
        <p:spPr>
          <a:xfrm>
            <a:off x="1645920" y="4517136"/>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What barrier might delay a patient like Uwase from being assessed, and how could you help?</a:t>
            </a:r>
            <a:endParaRPr lang="en-US" dirty="0"/>
          </a:p>
        </p:txBody>
      </p:sp>
      <p:sp>
        <p:nvSpPr>
          <p:cNvPr id="17" name="Text 1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0C3D66"/>
        </a:solidFill>
        <a:effectLst/>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2518A"/>
          </a:solidFill>
          <a:ln/>
        </p:spPr>
        <p:txBody>
          <a:bodyPr/>
          <a:lstStyle/>
          <a:p>
            <a:endParaRPr lang="en-US" dirty="0"/>
          </a:p>
        </p:txBody>
      </p:sp>
      <p:sp>
        <p:nvSpPr>
          <p:cNvPr id="3" name="Shape 1"/>
          <p:cNvSpPr/>
          <p:nvPr/>
        </p:nvSpPr>
        <p:spPr>
          <a:xfrm>
            <a:off x="9784080" y="1737360"/>
            <a:ext cx="1371600" cy="1371600"/>
          </a:xfrm>
          <a:prstGeom prst="ellipse">
            <a:avLst/>
          </a:prstGeom>
          <a:solidFill>
            <a:srgbClr val="12857F"/>
          </a:solidFill>
          <a:ln/>
        </p:spPr>
        <p:txBody>
          <a:bodyPr/>
          <a:lstStyle/>
          <a:p>
            <a:endParaRPr lang="en-US" dirty="0"/>
          </a:p>
        </p:txBody>
      </p:sp>
      <p:sp>
        <p:nvSpPr>
          <p:cNvPr id="4" name="Text 2"/>
          <p:cNvSpPr/>
          <p:nvPr/>
        </p:nvSpPr>
        <p:spPr>
          <a:xfrm>
            <a:off x="9784080" y="1737360"/>
            <a:ext cx="1371600" cy="13716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5" name="Text 3"/>
          <p:cNvSpPr/>
          <p:nvPr/>
        </p:nvSpPr>
        <p:spPr>
          <a:xfrm>
            <a:off x="822960" y="2788920"/>
            <a:ext cx="7315200" cy="320040"/>
          </a:xfrm>
          <a:prstGeom prst="rect">
            <a:avLst/>
          </a:prstGeom>
          <a:noFill/>
          <a:ln/>
        </p:spPr>
        <p:txBody>
          <a:bodyPr wrap="square" lIns="0" tIns="0" rIns="0" bIns="0" rtlCol="0" anchor="ctr"/>
          <a:lstStyle/>
          <a:p>
            <a:pPr marL="0" indent="0">
              <a:buNone/>
            </a:pPr>
            <a:r>
              <a:rPr lang="en-US" sz="1300" b="1" kern="0" spc="200" dirty="0">
                <a:solidFill>
                  <a:srgbClr val="8FC7E8"/>
                </a:solidFill>
                <a:latin typeface="Calibri" pitchFamily="34" charset="0"/>
                <a:ea typeface="Calibri" pitchFamily="34" charset="-122"/>
                <a:cs typeface="Calibri" pitchFamily="34" charset="-120"/>
              </a:rPr>
              <a:t>SESSION 3</a:t>
            </a:r>
            <a:endParaRPr lang="en-US" sz="1300" dirty="0"/>
          </a:p>
        </p:txBody>
      </p:sp>
      <p:sp>
        <p:nvSpPr>
          <p:cNvPr id="6" name="Text 4"/>
          <p:cNvSpPr/>
          <p:nvPr/>
        </p:nvSpPr>
        <p:spPr>
          <a:xfrm>
            <a:off x="822960" y="3154680"/>
            <a:ext cx="84124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Referral and counselling</a:t>
            </a:r>
            <a:endParaRPr lang="en-US" sz="3600" dirty="0"/>
          </a:p>
        </p:txBody>
      </p:sp>
      <p:sp>
        <p:nvSpPr>
          <p:cNvPr id="7" name="Text 5"/>
          <p:cNvSpPr/>
          <p:nvPr/>
        </p:nvSpPr>
        <p:spPr>
          <a:xfrm>
            <a:off x="822960" y="4114800"/>
            <a:ext cx="7863840" cy="822960"/>
          </a:xfrm>
          <a:prstGeom prst="rect">
            <a:avLst/>
          </a:prstGeom>
          <a:noFill/>
          <a:ln/>
        </p:spPr>
        <p:txBody>
          <a:bodyPr wrap="square" lIns="0" tIns="0" rIns="0" bIns="0" rtlCol="0" anchor="ctr"/>
          <a:lstStyle/>
          <a:p>
            <a:pPr marL="0" indent="0">
              <a:lnSpc>
                <a:spcPct val="110000"/>
              </a:lnSpc>
              <a:buNone/>
            </a:pPr>
            <a:r>
              <a:rPr lang="en-US" sz="1800" dirty="0">
                <a:solidFill>
                  <a:srgbClr val="D6E6F5"/>
                </a:solidFill>
                <a:latin typeface="Calibri" pitchFamily="34" charset="0"/>
                <a:ea typeface="Calibri" pitchFamily="34" charset="-122"/>
                <a:cs typeface="Calibri" pitchFamily="34" charset="-120"/>
              </a:rPr>
              <a:t>Turn assessment into the right next step: refer with the correct urgency, recognise emergencies, and counsel with care.</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Learning objectives</a:t>
            </a:r>
            <a:endParaRPr lang="en-US" sz="3000" dirty="0"/>
          </a:p>
        </p:txBody>
      </p:sp>
      <p:sp>
        <p:nvSpPr>
          <p:cNvPr id="4" name="Shape 2"/>
          <p:cNvSpPr/>
          <p:nvPr/>
        </p:nvSpPr>
        <p:spPr>
          <a:xfrm>
            <a:off x="685800"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Refer</a:t>
            </a:r>
            <a:endParaRPr lang="en-US" sz="2000" dirty="0"/>
          </a:p>
        </p:txBody>
      </p:sp>
      <p:sp>
        <p:nvSpPr>
          <p:cNvPr id="6" name="Text 4"/>
          <p:cNvSpPr/>
          <p:nvPr/>
        </p:nvSpPr>
        <p:spPr>
          <a:xfrm>
            <a:off x="886968"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Refer according to urgency for concerning gastric findings.</a:t>
            </a:r>
            <a:endParaRPr lang="en-US" dirty="0"/>
          </a:p>
        </p:txBody>
      </p:sp>
      <p:sp>
        <p:nvSpPr>
          <p:cNvPr id="7" name="Shape 5"/>
          <p:cNvSpPr/>
          <p:nvPr/>
        </p:nvSpPr>
        <p:spPr>
          <a:xfrm>
            <a:off x="4383938"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Recognise</a:t>
            </a:r>
            <a:endParaRPr lang="en-US" sz="2000" dirty="0"/>
          </a:p>
        </p:txBody>
      </p:sp>
      <p:sp>
        <p:nvSpPr>
          <p:cNvPr id="9" name="Text 7"/>
          <p:cNvSpPr/>
          <p:nvPr/>
        </p:nvSpPr>
        <p:spPr>
          <a:xfrm>
            <a:off x="4585106"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Recognise urgent complications such as significant GI bleeding.</a:t>
            </a:r>
            <a:endParaRPr lang="en-US" dirty="0"/>
          </a:p>
        </p:txBody>
      </p:sp>
      <p:sp>
        <p:nvSpPr>
          <p:cNvPr id="10" name="Shape 8"/>
          <p:cNvSpPr/>
          <p:nvPr/>
        </p:nvSpPr>
        <p:spPr>
          <a:xfrm>
            <a:off x="8082077"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Counsel</a:t>
            </a:r>
            <a:endParaRPr lang="en-US" sz="2000" dirty="0"/>
          </a:p>
        </p:txBody>
      </p:sp>
      <p:sp>
        <p:nvSpPr>
          <p:cNvPr id="12" name="Text 10"/>
          <p:cNvSpPr/>
          <p:nvPr/>
        </p:nvSpPr>
        <p:spPr>
          <a:xfrm>
            <a:off x="8283245"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Counsel clearly about endoscopy, biopsy, and the next step.</a:t>
            </a:r>
            <a:endParaRPr lang="en-US" dirty="0"/>
          </a:p>
        </p:txBody>
      </p:sp>
      <p:sp>
        <p:nvSpPr>
          <p:cNvPr id="13" name="Shape 11"/>
          <p:cNvSpPr/>
          <p:nvPr/>
        </p:nvSpPr>
        <p:spPr>
          <a:xfrm>
            <a:off x="685800"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Support</a:t>
            </a:r>
            <a:endParaRPr lang="en-US" sz="2000" dirty="0"/>
          </a:p>
        </p:txBody>
      </p:sp>
      <p:sp>
        <p:nvSpPr>
          <p:cNvPr id="15" name="Text 13"/>
          <p:cNvSpPr/>
          <p:nvPr/>
        </p:nvSpPr>
        <p:spPr>
          <a:xfrm>
            <a:off x="886968"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Give basic psychological support without false reassurance.</a:t>
            </a:r>
            <a:endParaRPr lang="en-US" dirty="0"/>
          </a:p>
        </p:txBody>
      </p:sp>
      <p:sp>
        <p:nvSpPr>
          <p:cNvPr id="16" name="Shape 14"/>
          <p:cNvSpPr/>
          <p:nvPr/>
        </p:nvSpPr>
        <p:spPr>
          <a:xfrm>
            <a:off x="4383938"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Follow up</a:t>
            </a:r>
            <a:endParaRPr lang="en-US" sz="2000" dirty="0"/>
          </a:p>
        </p:txBody>
      </p:sp>
      <p:sp>
        <p:nvSpPr>
          <p:cNvPr id="18" name="Text 16"/>
          <p:cNvSpPr/>
          <p:nvPr/>
        </p:nvSpPr>
        <p:spPr>
          <a:xfrm>
            <a:off x="4585106"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Encourage attendance and support completion of referral.</a:t>
            </a:r>
            <a:endParaRPr lang="en-US" dirty="0"/>
          </a:p>
        </p:txBody>
      </p:sp>
      <p:sp>
        <p:nvSpPr>
          <p:cNvPr id="19" name="Text 17"/>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10" name="Shape 8"/>
          <p:cNvSpPr/>
          <p:nvPr/>
        </p:nvSpPr>
        <p:spPr>
          <a:xfrm>
            <a:off x="8234004" y="3107051"/>
            <a:ext cx="3423818" cy="1728042"/>
          </a:xfrm>
          <a:prstGeom prst="roundRect">
            <a:avLst>
              <a:gd name="adj" fmla="val 4706"/>
            </a:avLst>
          </a:prstGeom>
          <a:solidFill>
            <a:srgbClr val="FCE2E2"/>
          </a:solidFill>
          <a:ln w="12700">
            <a:solidFill>
              <a:srgbClr val="D3E4F5"/>
            </a:solidFill>
            <a:prstDash val="solid"/>
          </a:ln>
        </p:spPr>
        <p:txBody>
          <a:bodyPr/>
          <a:lstStyle/>
          <a:p>
            <a:endParaRPr lang="en-US" sz="2800" dirty="0"/>
          </a:p>
        </p:txBody>
      </p:sp>
      <p:sp>
        <p:nvSpPr>
          <p:cNvPr id="2" name="Text 0"/>
          <p:cNvSpPr/>
          <p:nvPr/>
        </p:nvSpPr>
        <p:spPr>
          <a:xfrm>
            <a:off x="685800" y="350521"/>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734569"/>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The referral pathway in Rwanda</a:t>
            </a:r>
            <a:endParaRPr lang="en-US" sz="3000" dirty="0"/>
          </a:p>
        </p:txBody>
      </p:sp>
      <p:sp>
        <p:nvSpPr>
          <p:cNvPr id="7" name="Shape 5"/>
          <p:cNvSpPr/>
          <p:nvPr/>
        </p:nvSpPr>
        <p:spPr>
          <a:xfrm>
            <a:off x="5367086" y="1739910"/>
            <a:ext cx="3423818" cy="1487325"/>
          </a:xfrm>
          <a:prstGeom prst="roundRect">
            <a:avLst>
              <a:gd name="adj" fmla="val 4706"/>
            </a:avLst>
          </a:prstGeom>
          <a:solidFill>
            <a:schemeClr val="accent4">
              <a:lumMod val="20000"/>
              <a:lumOff val="80000"/>
            </a:schemeClr>
          </a:solidFill>
          <a:ln w="12700">
            <a:solidFill>
              <a:srgbClr val="D3E4F5"/>
            </a:solidFill>
            <a:prstDash val="solid"/>
          </a:ln>
        </p:spPr>
        <p:txBody>
          <a:bodyPr/>
          <a:lstStyle/>
          <a:p>
            <a:endParaRPr lang="en-US" sz="2800" dirty="0"/>
          </a:p>
        </p:txBody>
      </p:sp>
      <p:sp>
        <p:nvSpPr>
          <p:cNvPr id="4" name="Shape 2"/>
          <p:cNvSpPr/>
          <p:nvPr/>
        </p:nvSpPr>
        <p:spPr>
          <a:xfrm>
            <a:off x="2044919" y="3080932"/>
            <a:ext cx="3423818" cy="1728042"/>
          </a:xfrm>
          <a:prstGeom prst="roundRect">
            <a:avLst>
              <a:gd name="adj" fmla="val 4706"/>
            </a:avLst>
          </a:prstGeom>
          <a:solidFill>
            <a:schemeClr val="accent6">
              <a:lumMod val="20000"/>
              <a:lumOff val="80000"/>
            </a:schemeClr>
          </a:solidFill>
          <a:ln w="12700">
            <a:solidFill>
              <a:srgbClr val="D3E4F5"/>
            </a:solidFill>
            <a:prstDash val="solid"/>
          </a:ln>
        </p:spPr>
        <p:txBody>
          <a:bodyPr/>
          <a:lstStyle/>
          <a:p>
            <a:endParaRPr lang="en-US" sz="2800" dirty="0"/>
          </a:p>
        </p:txBody>
      </p:sp>
      <p:sp>
        <p:nvSpPr>
          <p:cNvPr id="5" name="Text 3"/>
          <p:cNvSpPr/>
          <p:nvPr/>
        </p:nvSpPr>
        <p:spPr>
          <a:xfrm>
            <a:off x="2246087" y="3227235"/>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Health post / health centre</a:t>
            </a:r>
            <a:endParaRPr lang="en-US" sz="2000" dirty="0"/>
          </a:p>
        </p:txBody>
      </p:sp>
      <p:sp>
        <p:nvSpPr>
          <p:cNvPr id="6" name="Text 4"/>
          <p:cNvSpPr/>
          <p:nvPr/>
        </p:nvSpPr>
        <p:spPr>
          <a:xfrm>
            <a:off x="2246087" y="3897198"/>
            <a:ext cx="3021482" cy="10058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First or second contact: assess, record, start the referral, and give clear information.</a:t>
            </a:r>
            <a:endParaRPr lang="en-US" dirty="0"/>
          </a:p>
        </p:txBody>
      </p:sp>
      <p:sp>
        <p:nvSpPr>
          <p:cNvPr id="8" name="Text 6"/>
          <p:cNvSpPr/>
          <p:nvPr/>
        </p:nvSpPr>
        <p:spPr>
          <a:xfrm>
            <a:off x="5568254" y="1877541"/>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District hospital</a:t>
            </a:r>
            <a:endParaRPr lang="en-US" sz="2000" dirty="0"/>
          </a:p>
        </p:txBody>
      </p:sp>
      <p:sp>
        <p:nvSpPr>
          <p:cNvPr id="9" name="Text 7"/>
          <p:cNvSpPr/>
          <p:nvPr/>
        </p:nvSpPr>
        <p:spPr>
          <a:xfrm>
            <a:off x="5568254" y="2302182"/>
            <a:ext cx="3021482" cy="10058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Further assessment and onward referral where endoscopy or specialist input is needed.</a:t>
            </a:r>
            <a:endParaRPr lang="en-US" dirty="0"/>
          </a:p>
        </p:txBody>
      </p:sp>
      <p:sp>
        <p:nvSpPr>
          <p:cNvPr id="11" name="Text 9"/>
          <p:cNvSpPr/>
          <p:nvPr/>
        </p:nvSpPr>
        <p:spPr>
          <a:xfrm>
            <a:off x="8435172" y="3253355"/>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Referral / specialist centre</a:t>
            </a:r>
            <a:endParaRPr lang="en-US" sz="2000" dirty="0"/>
          </a:p>
        </p:txBody>
      </p:sp>
      <p:sp>
        <p:nvSpPr>
          <p:cNvPr id="12" name="Text 10"/>
          <p:cNvSpPr/>
          <p:nvPr/>
        </p:nvSpPr>
        <p:spPr>
          <a:xfrm>
            <a:off x="8435172" y="3923318"/>
            <a:ext cx="3021482" cy="10058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Endoscopy, biopsy, pathology, staging, and treatment planning.</a:t>
            </a:r>
            <a:endParaRPr lang="en-US" dirty="0"/>
          </a:p>
        </p:txBody>
      </p:sp>
      <p:sp>
        <p:nvSpPr>
          <p:cNvPr id="15" name="Text 13"/>
          <p:cNvSpPr/>
          <p:nvPr/>
        </p:nvSpPr>
        <p:spPr>
          <a:xfrm>
            <a:off x="658367" y="6233159"/>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6" name="Shape 2">
            <a:extLst>
              <a:ext uri="{FF2B5EF4-FFF2-40B4-BE49-F238E27FC236}">
                <a16:creationId xmlns:a16="http://schemas.microsoft.com/office/drawing/2014/main" id="{8D45AF8B-380F-C14A-6E4E-DE8A039F905A}"/>
              </a:ext>
            </a:extLst>
          </p:cNvPr>
          <p:cNvSpPr/>
          <p:nvPr/>
        </p:nvSpPr>
        <p:spPr>
          <a:xfrm>
            <a:off x="658367" y="1392938"/>
            <a:ext cx="3423818" cy="1752756"/>
          </a:xfrm>
          <a:prstGeom prst="roundRect">
            <a:avLst>
              <a:gd name="adj" fmla="val 4706"/>
            </a:avLst>
          </a:prstGeom>
          <a:solidFill>
            <a:srgbClr val="EBF3FC"/>
          </a:solidFill>
          <a:ln w="12700">
            <a:solidFill>
              <a:srgbClr val="D3E4F5"/>
            </a:solidFill>
            <a:prstDash val="solid"/>
          </a:ln>
        </p:spPr>
        <p:txBody>
          <a:bodyPr/>
          <a:lstStyle/>
          <a:p>
            <a:endParaRPr lang="en-US" sz="2800" dirty="0"/>
          </a:p>
        </p:txBody>
      </p:sp>
      <p:sp>
        <p:nvSpPr>
          <p:cNvPr id="17" name="Text 3">
            <a:extLst>
              <a:ext uri="{FF2B5EF4-FFF2-40B4-BE49-F238E27FC236}">
                <a16:creationId xmlns:a16="http://schemas.microsoft.com/office/drawing/2014/main" id="{8D00D81E-5498-411B-52DE-B7C23357FD8F}"/>
              </a:ext>
            </a:extLst>
          </p:cNvPr>
          <p:cNvSpPr/>
          <p:nvPr/>
        </p:nvSpPr>
        <p:spPr>
          <a:xfrm>
            <a:off x="859535" y="1405129"/>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Community health worker</a:t>
            </a:r>
            <a:endParaRPr lang="en-US" sz="2000" dirty="0"/>
          </a:p>
        </p:txBody>
      </p:sp>
      <p:sp>
        <p:nvSpPr>
          <p:cNvPr id="18" name="Text 4">
            <a:extLst>
              <a:ext uri="{FF2B5EF4-FFF2-40B4-BE49-F238E27FC236}">
                <a16:creationId xmlns:a16="http://schemas.microsoft.com/office/drawing/2014/main" id="{1C153CE7-A803-BE4F-E568-E29757A3B70F}"/>
              </a:ext>
            </a:extLst>
          </p:cNvPr>
          <p:cNvSpPr/>
          <p:nvPr/>
        </p:nvSpPr>
        <p:spPr>
          <a:xfrm>
            <a:off x="859535" y="2014132"/>
            <a:ext cx="3021482" cy="10058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First contact: Recognise concerning upper GI symptoms, encourage early care seeking, and refer promptly. </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How urgently to refer</a:t>
            </a:r>
            <a:endParaRPr lang="en-US" sz="3000" dirty="0"/>
          </a:p>
        </p:txBody>
      </p:sp>
      <p:sp>
        <p:nvSpPr>
          <p:cNvPr id="4" name="Shape 2"/>
          <p:cNvSpPr/>
          <p:nvPr/>
        </p:nvSpPr>
        <p:spPr>
          <a:xfrm>
            <a:off x="685800" y="2011679"/>
            <a:ext cx="3423818" cy="2550273"/>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Routine referral</a:t>
            </a:r>
            <a:endParaRPr lang="en-US" sz="2000" dirty="0"/>
          </a:p>
        </p:txBody>
      </p:sp>
      <p:sp>
        <p:nvSpPr>
          <p:cNvPr id="6" name="Text 4"/>
          <p:cNvSpPr/>
          <p:nvPr/>
        </p:nvSpPr>
        <p:spPr>
          <a:xfrm>
            <a:off x="886968" y="2560320"/>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For findings needing specialist assessment without time pressure.</a:t>
            </a:r>
            <a:endParaRPr lang="en-US" dirty="0"/>
          </a:p>
        </p:txBody>
      </p:sp>
      <p:sp>
        <p:nvSpPr>
          <p:cNvPr id="7" name="Shape 5"/>
          <p:cNvSpPr/>
          <p:nvPr/>
        </p:nvSpPr>
        <p:spPr>
          <a:xfrm>
            <a:off x="4383938" y="2011679"/>
            <a:ext cx="3423818" cy="2550273"/>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Prompt referral</a:t>
            </a:r>
            <a:endParaRPr lang="en-US" sz="2000" dirty="0"/>
          </a:p>
        </p:txBody>
      </p:sp>
      <p:sp>
        <p:nvSpPr>
          <p:cNvPr id="9" name="Text 7"/>
          <p:cNvSpPr/>
          <p:nvPr/>
        </p:nvSpPr>
        <p:spPr>
          <a:xfrm>
            <a:off x="4585106" y="2560320"/>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For persistent concerning symptoms or premalignant findings that should be assessed soon.</a:t>
            </a:r>
            <a:endParaRPr lang="en-US" dirty="0"/>
          </a:p>
        </p:txBody>
      </p:sp>
      <p:sp>
        <p:nvSpPr>
          <p:cNvPr id="10" name="Shape 8"/>
          <p:cNvSpPr/>
          <p:nvPr/>
        </p:nvSpPr>
        <p:spPr>
          <a:xfrm>
            <a:off x="8082077" y="2011679"/>
            <a:ext cx="3423818" cy="2550273"/>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Urgent / emergency</a:t>
            </a:r>
            <a:endParaRPr lang="en-US" sz="2000" dirty="0"/>
          </a:p>
        </p:txBody>
      </p:sp>
      <p:sp>
        <p:nvSpPr>
          <p:cNvPr id="12" name="Text 10"/>
          <p:cNvSpPr/>
          <p:nvPr/>
        </p:nvSpPr>
        <p:spPr>
          <a:xfrm>
            <a:off x="8283245" y="2560320"/>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For significant GI bleeding or rapid deterioration. Do not wait; arrange immediate assessment.</a:t>
            </a:r>
            <a:endParaRPr lang="en-US" dirty="0"/>
          </a:p>
        </p:txBody>
      </p:sp>
      <p:sp>
        <p:nvSpPr>
          <p:cNvPr id="13" name="Shape 11"/>
          <p:cNvSpPr/>
          <p:nvPr/>
        </p:nvSpPr>
        <p:spPr>
          <a:xfrm>
            <a:off x="685800" y="4652283"/>
            <a:ext cx="10820095" cy="1051560"/>
          </a:xfrm>
          <a:prstGeom prst="roundRect">
            <a:avLst>
              <a:gd name="adj" fmla="val 5217"/>
            </a:avLst>
          </a:prstGeom>
          <a:solidFill>
            <a:srgbClr val="FBE9E7"/>
          </a:solidFill>
          <a:ln w="15875">
            <a:solidFill>
              <a:srgbClr val="E5B4AD"/>
            </a:solidFill>
            <a:prstDash val="solid"/>
          </a:ln>
        </p:spPr>
        <p:txBody>
          <a:bodyPr/>
          <a:lstStyle/>
          <a:p>
            <a:endParaRPr lang="en-US" dirty="0"/>
          </a:p>
        </p:txBody>
      </p:sp>
      <p:sp>
        <p:nvSpPr>
          <p:cNvPr id="14" name="Text 12"/>
          <p:cNvSpPr/>
          <p:nvPr/>
        </p:nvSpPr>
        <p:spPr>
          <a:xfrm>
            <a:off x="914400" y="4710266"/>
            <a:ext cx="4572000" cy="365760"/>
          </a:xfrm>
          <a:prstGeom prst="rect">
            <a:avLst/>
          </a:prstGeom>
          <a:noFill/>
          <a:ln/>
        </p:spPr>
        <p:txBody>
          <a:bodyPr wrap="square" lIns="0" tIns="0" rIns="0" bIns="0" rtlCol="0" anchor="ctr"/>
          <a:lstStyle/>
          <a:p>
            <a:pPr marL="0" indent="0">
              <a:buNone/>
            </a:pPr>
            <a:r>
              <a:rPr lang="en-US" b="1" dirty="0">
                <a:solidFill>
                  <a:srgbClr val="B23A2E"/>
                </a:solidFill>
                <a:latin typeface="Cambria" pitchFamily="34" charset="0"/>
                <a:ea typeface="Cambria" pitchFamily="34" charset="-122"/>
                <a:cs typeface="Cambria" pitchFamily="34" charset="-120"/>
              </a:rPr>
              <a:t>⚠️  Treat as an emergency</a:t>
            </a:r>
            <a:endParaRPr lang="en-US" dirty="0"/>
          </a:p>
        </p:txBody>
      </p:sp>
      <p:sp>
        <p:nvSpPr>
          <p:cNvPr id="15" name="Text 13"/>
          <p:cNvSpPr/>
          <p:nvPr/>
        </p:nvSpPr>
        <p:spPr>
          <a:xfrm>
            <a:off x="914400" y="5087178"/>
            <a:ext cx="10362895" cy="502920"/>
          </a:xfrm>
          <a:prstGeom prst="rect">
            <a:avLst/>
          </a:prstGeom>
          <a:noFill/>
          <a:ln/>
        </p:spPr>
        <p:txBody>
          <a:bodyPr wrap="square" lIns="0" tIns="0" rIns="0" bIns="0" rtlCol="0" anchor="ctr"/>
          <a:lstStyle/>
          <a:p>
            <a:pPr marL="0" indent="0">
              <a:buNone/>
            </a:pPr>
            <a:r>
              <a:rPr lang="en-US" dirty="0">
                <a:solidFill>
                  <a:srgbClr val="B23A2E"/>
                </a:solidFill>
                <a:latin typeface="Calibri" pitchFamily="34" charset="0"/>
                <a:ea typeface="Calibri" pitchFamily="34" charset="-122"/>
                <a:cs typeface="Calibri" pitchFamily="34" charset="-120"/>
              </a:rPr>
              <a:t>Ongoing hematemesis or melena  •  signs of significant blood loss or shock  •  complete inability to keep down fluids with rapid deterioration</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9">
            <a:extLst>
              <a:ext uri="{FF2B5EF4-FFF2-40B4-BE49-F238E27FC236}">
                <a16:creationId xmlns:a16="http://schemas.microsoft.com/office/drawing/2014/main" id="{96945A4A-9165-FFBA-A2ED-D1E08F29F3F8}"/>
              </a:ext>
            </a:extLst>
          </p:cNvPr>
          <p:cNvSpPr/>
          <p:nvPr/>
        </p:nvSpPr>
        <p:spPr>
          <a:xfrm>
            <a:off x="548639" y="1225296"/>
            <a:ext cx="7223762" cy="4416552"/>
          </a:xfrm>
          <a:prstGeom prst="roundRect">
            <a:avLst>
              <a:gd name="adj" fmla="val 4167"/>
            </a:avLst>
          </a:prstGeom>
          <a:solidFill>
            <a:srgbClr val="F3F7FC"/>
          </a:solidFill>
          <a:ln w="15875">
            <a:solidFill>
              <a:srgbClr val="C9DCF2"/>
            </a:solidFill>
            <a:prstDash val="solid"/>
          </a:ln>
        </p:spPr>
        <p:txBody>
          <a:bodyPr/>
          <a:lstStyle/>
          <a:p>
            <a:endParaRPr lang="en-US" noProof="0" dirty="0"/>
          </a:p>
        </p:txBody>
      </p:sp>
      <p:sp>
        <p:nvSpPr>
          <p:cNvPr id="2" name="Text 0"/>
          <p:cNvSpPr/>
          <p:nvPr/>
        </p:nvSpPr>
        <p:spPr>
          <a:xfrm>
            <a:off x="548640" y="310896"/>
            <a:ext cx="11094415" cy="256032"/>
          </a:xfrm>
          <a:prstGeom prst="rect">
            <a:avLst/>
          </a:prstGeom>
          <a:noFill/>
          <a:ln/>
        </p:spPr>
        <p:txBody>
          <a:bodyPr wrap="square" rtlCol="0" anchor="ctr"/>
          <a:lstStyle/>
          <a:p>
            <a:pPr marL="0" indent="0">
              <a:buNone/>
            </a:pPr>
            <a:r>
              <a:rPr lang="en-US" sz="1200" b="1" kern="0" spc="200" noProof="0" dirty="0">
                <a:solidFill>
                  <a:srgbClr val="1F4E96"/>
                </a:solidFill>
                <a:latin typeface="Calibri" pitchFamily="34" charset="0"/>
                <a:ea typeface="Calibri" pitchFamily="34" charset="-122"/>
                <a:cs typeface="Calibri" pitchFamily="34" charset="-120"/>
              </a:rPr>
              <a:t>SESSION 3</a:t>
            </a:r>
            <a:endParaRPr lang="en-US"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en-US" sz="3400" b="1" noProof="0" dirty="0">
                <a:solidFill>
                  <a:srgbClr val="0E2E5C"/>
                </a:solidFill>
                <a:latin typeface="Cambria" pitchFamily="34" charset="0"/>
                <a:ea typeface="Cambria" pitchFamily="34" charset="-122"/>
                <a:cs typeface="Cambria" pitchFamily="34" charset="-120"/>
              </a:rPr>
              <a:t>What to record at first contact</a:t>
            </a:r>
            <a:endParaRPr lang="en-US"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en-US" sz="1100" noProof="0" dirty="0">
                <a:solidFill>
                  <a:srgbClr val="5B7195"/>
                </a:solidFill>
                <a:latin typeface="Calibri" pitchFamily="34" charset="0"/>
                <a:ea typeface="Calibri" pitchFamily="34" charset="-122"/>
                <a:cs typeface="Calibri" pitchFamily="34" charset="-120"/>
              </a:rPr>
              <a:t>Gastric Cancer  |  Frontline HCP  |  Rwanda Biomedical Centre</a:t>
            </a:r>
            <a:endParaRPr lang="en-US" sz="1000" noProof="0" dirty="0"/>
          </a:p>
        </p:txBody>
      </p:sp>
      <p:sp>
        <p:nvSpPr>
          <p:cNvPr id="7" name="Text 5"/>
          <p:cNvSpPr/>
          <p:nvPr/>
        </p:nvSpPr>
        <p:spPr>
          <a:xfrm>
            <a:off x="745806" y="1457435"/>
            <a:ext cx="6855143" cy="4000391"/>
          </a:xfrm>
          <a:prstGeom prst="rect">
            <a:avLst/>
          </a:prstGeom>
          <a:noFill/>
          <a:ln/>
        </p:spPr>
        <p:txBody>
          <a:bodyPr wrap="square" lIns="0" tIns="0" rIns="0" bIns="0" rtlCol="0" anchor="t"/>
          <a:lstStyle/>
          <a:p>
            <a:pPr marL="0" indent="0">
              <a:lnSpc>
                <a:spcPct val="105000"/>
              </a:lnSpc>
              <a:spcAft>
                <a:spcPts val="600"/>
              </a:spcAft>
              <a:buNone/>
            </a:pPr>
            <a:r>
              <a:rPr lang="en-US" sz="1800" b="1" noProof="0" dirty="0">
                <a:solidFill>
                  <a:srgbClr val="17325E"/>
                </a:solidFill>
                <a:latin typeface="Calibri" pitchFamily="34" charset="0"/>
                <a:ea typeface="Calibri" pitchFamily="34" charset="-122"/>
                <a:cs typeface="Calibri" pitchFamily="34" charset="-120"/>
              </a:rPr>
              <a:t>Who: </a:t>
            </a:r>
            <a:r>
              <a:rPr lang="en-US" sz="1800" noProof="0" dirty="0">
                <a:solidFill>
                  <a:srgbClr val="17325E"/>
                </a:solidFill>
                <a:latin typeface="Calibri" pitchFamily="34" charset="0"/>
                <a:ea typeface="Calibri" pitchFamily="34" charset="-122"/>
                <a:cs typeface="Calibri" pitchFamily="34" charset="-120"/>
              </a:rPr>
              <a:t>Full name, age, sex, and residence by village and district, so records can be linked and duplicates avoided.</a:t>
            </a:r>
          </a:p>
          <a:p>
            <a:pPr marL="0" indent="0">
              <a:lnSpc>
                <a:spcPct val="105000"/>
              </a:lnSpc>
              <a:spcAft>
                <a:spcPts val="600"/>
              </a:spcAft>
              <a:buNone/>
            </a:pPr>
            <a:r>
              <a:rPr lang="en-US" sz="1800" b="1" noProof="0" dirty="0">
                <a:solidFill>
                  <a:srgbClr val="17325E"/>
                </a:solidFill>
                <a:latin typeface="Calibri" pitchFamily="34" charset="0"/>
                <a:ea typeface="Calibri" pitchFamily="34" charset="-122"/>
                <a:cs typeface="Calibri" pitchFamily="34" charset="-120"/>
              </a:rPr>
              <a:t>When: </a:t>
            </a:r>
            <a:r>
              <a:rPr lang="en-US" sz="1800" noProof="0" dirty="0">
                <a:solidFill>
                  <a:srgbClr val="17325E"/>
                </a:solidFill>
                <a:latin typeface="Calibri" pitchFamily="34" charset="0"/>
                <a:ea typeface="Calibri" pitchFamily="34" charset="-122"/>
                <a:cs typeface="Calibri" pitchFamily="34" charset="-120"/>
              </a:rPr>
              <a:t>Date the symptoms began, as the person reports it, and the date of this consultation. This pair measures diagnostic delay.</a:t>
            </a:r>
          </a:p>
          <a:p>
            <a:pPr marL="0" indent="0">
              <a:lnSpc>
                <a:spcPct val="105000"/>
              </a:lnSpc>
              <a:spcAft>
                <a:spcPts val="600"/>
              </a:spcAft>
              <a:buNone/>
            </a:pPr>
            <a:r>
              <a:rPr lang="en-US" sz="1800" b="1" noProof="0" dirty="0">
                <a:solidFill>
                  <a:srgbClr val="17325E"/>
                </a:solidFill>
                <a:latin typeface="Calibri" pitchFamily="34" charset="0"/>
                <a:ea typeface="Calibri" pitchFamily="34" charset="-122"/>
                <a:cs typeface="Calibri" pitchFamily="34" charset="-120"/>
              </a:rPr>
              <a:t>What: </a:t>
            </a:r>
            <a:r>
              <a:rPr lang="en-US" sz="1800" noProof="0" dirty="0">
                <a:solidFill>
                  <a:srgbClr val="17325E"/>
                </a:solidFill>
                <a:latin typeface="Calibri" pitchFamily="34" charset="0"/>
                <a:ea typeface="Calibri" pitchFamily="34" charset="-122"/>
                <a:cs typeface="Calibri" pitchFamily="34" charset="-120"/>
              </a:rPr>
              <a:t>The specific symptom that triggered the referral.</a:t>
            </a:r>
          </a:p>
          <a:p>
            <a:pPr marL="0" indent="0">
              <a:lnSpc>
                <a:spcPct val="105000"/>
              </a:lnSpc>
              <a:spcAft>
                <a:spcPts val="600"/>
              </a:spcAft>
              <a:buNone/>
            </a:pPr>
            <a:r>
              <a:rPr lang="en-US" sz="1800" b="1" noProof="0" dirty="0">
                <a:solidFill>
                  <a:srgbClr val="17325E"/>
                </a:solidFill>
                <a:latin typeface="Calibri" pitchFamily="34" charset="0"/>
                <a:ea typeface="Calibri" pitchFamily="34" charset="-122"/>
                <a:cs typeface="Calibri" pitchFamily="34" charset="-120"/>
              </a:rPr>
              <a:t>Findings: </a:t>
            </a:r>
            <a:r>
              <a:rPr lang="en-US" sz="1800" noProof="0" dirty="0">
                <a:solidFill>
                  <a:srgbClr val="17325E"/>
                </a:solidFill>
                <a:latin typeface="Calibri" pitchFamily="34" charset="0"/>
                <a:ea typeface="Calibri" pitchFamily="34" charset="-122"/>
                <a:cs typeface="Calibri" pitchFamily="34" charset="-120"/>
              </a:rPr>
              <a:t>What you actually found on examination, including a normal examination. Record it even when no test was available.</a:t>
            </a:r>
          </a:p>
          <a:p>
            <a:pPr>
              <a:lnSpc>
                <a:spcPct val="105000"/>
              </a:lnSpc>
              <a:spcAft>
                <a:spcPts val="600"/>
              </a:spcAft>
            </a:pPr>
            <a:r>
              <a:rPr lang="en-US" sz="1800" b="1" noProof="0" dirty="0">
                <a:solidFill>
                  <a:srgbClr val="17325E"/>
                </a:solidFill>
                <a:latin typeface="Calibri" pitchFamily="34" charset="0"/>
                <a:ea typeface="Calibri" pitchFamily="34" charset="-122"/>
                <a:cs typeface="Calibri" pitchFamily="34" charset="-120"/>
              </a:rPr>
              <a:t>Tests: </a:t>
            </a:r>
            <a:r>
              <a:rPr lang="en-US" sz="1800" noProof="0" dirty="0">
                <a:solidFill>
                  <a:srgbClr val="17325E"/>
                </a:solidFill>
                <a:latin typeface="Calibri" pitchFamily="34" charset="0"/>
                <a:ea typeface="Calibri" pitchFamily="34" charset="-122"/>
                <a:cs typeface="Calibri" pitchFamily="34" charset="-120"/>
              </a:rPr>
              <a:t>Whether a </a:t>
            </a:r>
            <a:r>
              <a:rPr lang="en-US" dirty="0">
                <a:solidFill>
                  <a:srgbClr val="17325E"/>
                </a:solidFill>
                <a:latin typeface="Calibri" pitchFamily="34" charset="0"/>
                <a:ea typeface="Calibri" pitchFamily="34" charset="-122"/>
                <a:cs typeface="Calibri" pitchFamily="34" charset="-120"/>
              </a:rPr>
              <a:t>screening </a:t>
            </a:r>
            <a:r>
              <a:rPr lang="en-US" sz="1800" noProof="0" dirty="0">
                <a:solidFill>
                  <a:srgbClr val="17325E"/>
                </a:solidFill>
                <a:latin typeface="Calibri" pitchFamily="34" charset="0"/>
                <a:ea typeface="Calibri" pitchFamily="34" charset="-122"/>
                <a:cs typeface="Calibri" pitchFamily="34" charset="-120"/>
              </a:rPr>
              <a:t>or other test was done, and the result once it is available. Submit the record even if nothing was done yet.</a:t>
            </a:r>
          </a:p>
          <a:p>
            <a:pPr marL="0" indent="0">
              <a:lnSpc>
                <a:spcPct val="105000"/>
              </a:lnSpc>
              <a:spcAft>
                <a:spcPts val="600"/>
              </a:spcAft>
              <a:buNone/>
            </a:pPr>
            <a:r>
              <a:rPr lang="en-US" sz="1800" b="1" noProof="0" dirty="0">
                <a:solidFill>
                  <a:srgbClr val="17325E"/>
                </a:solidFill>
                <a:latin typeface="Calibri" pitchFamily="34" charset="0"/>
                <a:ea typeface="Calibri" pitchFamily="34" charset="-122"/>
                <a:cs typeface="Calibri" pitchFamily="34" charset="-120"/>
              </a:rPr>
              <a:t>Where to: </a:t>
            </a:r>
            <a:r>
              <a:rPr lang="en-US" sz="1800" noProof="0" dirty="0">
                <a:solidFill>
                  <a:srgbClr val="17325E"/>
                </a:solidFill>
                <a:latin typeface="Calibri" pitchFamily="34" charset="0"/>
                <a:ea typeface="Calibri" pitchFamily="34" charset="-122"/>
                <a:cs typeface="Calibri" pitchFamily="34" charset="-120"/>
              </a:rPr>
              <a:t>The referral destination and date, and whether the person is known to have arrived. This is how loss to follow-up is measured.</a:t>
            </a:r>
          </a:p>
        </p:txBody>
      </p:sp>
      <p:sp>
        <p:nvSpPr>
          <p:cNvPr id="23" name="Text 21"/>
          <p:cNvSpPr/>
          <p:nvPr/>
        </p:nvSpPr>
        <p:spPr>
          <a:xfrm>
            <a:off x="548640" y="5806440"/>
            <a:ext cx="11094415" cy="411480"/>
          </a:xfrm>
          <a:prstGeom prst="rect">
            <a:avLst/>
          </a:prstGeom>
          <a:noFill/>
          <a:ln/>
        </p:spPr>
        <p:txBody>
          <a:bodyPr wrap="square" rtlCol="0" anchor="ctr"/>
          <a:lstStyle/>
          <a:p>
            <a:pPr marL="0" indent="0">
              <a:buNone/>
            </a:pPr>
            <a:r>
              <a:rPr lang="en-US" sz="1800" b="1" i="1" noProof="0" dirty="0">
                <a:solidFill>
                  <a:schemeClr val="bg2">
                    <a:lumMod val="50000"/>
                  </a:schemeClr>
                </a:solidFill>
                <a:latin typeface="Calibri" pitchFamily="34" charset="0"/>
                <a:ea typeface="Calibri" pitchFamily="34" charset="-122"/>
                <a:cs typeface="Calibri" pitchFamily="34" charset="-120"/>
              </a:rPr>
              <a:t>Note: </a:t>
            </a:r>
            <a:r>
              <a:rPr lang="en-US" sz="1800" i="1" noProof="0" dirty="0">
                <a:solidFill>
                  <a:schemeClr val="bg2">
                    <a:lumMod val="50000"/>
                  </a:schemeClr>
                </a:solidFill>
                <a:latin typeface="Calibri" pitchFamily="34" charset="0"/>
                <a:ea typeface="Calibri" pitchFamily="34" charset="-122"/>
                <a:cs typeface="Calibri" pitchFamily="34" charset="-120"/>
              </a:rPr>
              <a:t>In the absence of routine testing, your clinical judgement is the data. A record completed at first suspicion and updated later is far more useful than a blank form waiting for a confirmatory test.</a:t>
            </a:r>
            <a:endParaRPr lang="en-US" sz="1500" noProof="0" dirty="0">
              <a:solidFill>
                <a:schemeClr val="bg2">
                  <a:lumMod val="50000"/>
                </a:schemeClr>
              </a:solidFill>
            </a:endParaRPr>
          </a:p>
        </p:txBody>
      </p:sp>
      <p:pic>
        <p:nvPicPr>
          <p:cNvPr id="5" name="Imagen 4">
            <a:extLst>
              <a:ext uri="{FF2B5EF4-FFF2-40B4-BE49-F238E27FC236}">
                <a16:creationId xmlns:a16="http://schemas.microsoft.com/office/drawing/2014/main" id="{7FFD9896-EFAD-83F9-5D9A-ABB101E6C4D7}"/>
              </a:ext>
            </a:extLst>
          </p:cNvPr>
          <p:cNvPicPr>
            <a:picLocks noChangeAspect="1"/>
          </p:cNvPicPr>
          <p:nvPr/>
        </p:nvPicPr>
        <p:blipFill>
          <a:blip r:embed="rId3"/>
          <a:stretch>
            <a:fillRect/>
          </a:stretch>
        </p:blipFill>
        <p:spPr>
          <a:xfrm>
            <a:off x="8117485" y="1225296"/>
            <a:ext cx="3016679" cy="452501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Counselling before referral</a:t>
            </a:r>
            <a:endParaRPr lang="en-US" sz="3000" dirty="0"/>
          </a:p>
        </p:txBody>
      </p:sp>
      <p:sp>
        <p:nvSpPr>
          <p:cNvPr id="4" name="Shape 2"/>
          <p:cNvSpPr/>
          <p:nvPr/>
        </p:nvSpPr>
        <p:spPr>
          <a:xfrm>
            <a:off x="685800" y="2011679"/>
            <a:ext cx="3423818" cy="3714467"/>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Why endoscopy and biopsy</a:t>
            </a:r>
            <a:endParaRPr lang="en-US" sz="2000" dirty="0"/>
          </a:p>
        </p:txBody>
      </p:sp>
      <p:sp>
        <p:nvSpPr>
          <p:cNvPr id="6" name="Text 4"/>
          <p:cNvSpPr/>
          <p:nvPr/>
        </p:nvSpPr>
        <p:spPr>
          <a:xfrm>
            <a:off x="886968" y="2772192"/>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that symptoms alone cannot diagnose gastric cancer, and that biopsy provides confirmation.</a:t>
            </a:r>
            <a:endParaRPr lang="en-US" dirty="0"/>
          </a:p>
        </p:txBody>
      </p:sp>
      <p:sp>
        <p:nvSpPr>
          <p:cNvPr id="7" name="Shape 5"/>
          <p:cNvSpPr/>
          <p:nvPr/>
        </p:nvSpPr>
        <p:spPr>
          <a:xfrm>
            <a:off x="4383938" y="2011679"/>
            <a:ext cx="3423818" cy="3714467"/>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403309"/>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Address fear and myths</a:t>
            </a:r>
            <a:endParaRPr lang="en-US" sz="2000" dirty="0"/>
          </a:p>
        </p:txBody>
      </p:sp>
      <p:sp>
        <p:nvSpPr>
          <p:cNvPr id="9" name="Text 7"/>
          <p:cNvSpPr/>
          <p:nvPr/>
        </p:nvSpPr>
        <p:spPr>
          <a:xfrm>
            <a:off x="4585106" y="2772192"/>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Acknowledge fear of cancer and of the procedure. Correct the myth that biopsy spreads cancer.</a:t>
            </a:r>
            <a:endParaRPr lang="en-US" dirty="0"/>
          </a:p>
        </p:txBody>
      </p:sp>
      <p:sp>
        <p:nvSpPr>
          <p:cNvPr id="10" name="Shape 8"/>
          <p:cNvSpPr/>
          <p:nvPr/>
        </p:nvSpPr>
        <p:spPr>
          <a:xfrm>
            <a:off x="8082077" y="2011679"/>
            <a:ext cx="3423818" cy="3714467"/>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392157"/>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Prepare and follow up</a:t>
            </a:r>
            <a:endParaRPr lang="en-US" sz="2000" dirty="0"/>
          </a:p>
        </p:txBody>
      </p:sp>
      <p:sp>
        <p:nvSpPr>
          <p:cNvPr id="12" name="Text 10"/>
          <p:cNvSpPr/>
          <p:nvPr/>
        </p:nvSpPr>
        <p:spPr>
          <a:xfrm>
            <a:off x="8283245" y="2772192"/>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what happens next, encourage attendance, and arrange to review results.</a:t>
            </a:r>
            <a:endParaRPr lang="en-US" dirty="0"/>
          </a:p>
        </p:txBody>
      </p:sp>
      <p:sp>
        <p:nvSpPr>
          <p:cNvPr id="13" name="Shape 11"/>
          <p:cNvSpPr/>
          <p:nvPr/>
        </p:nvSpPr>
        <p:spPr>
          <a:xfrm>
            <a:off x="685800" y="5915275"/>
            <a:ext cx="10820095" cy="384048"/>
          </a:xfrm>
          <a:prstGeom prst="roundRect">
            <a:avLst>
              <a:gd name="adj" fmla="val 8571"/>
            </a:avLst>
          </a:prstGeom>
          <a:solidFill>
            <a:srgbClr val="FCEFDD"/>
          </a:solidFill>
          <a:ln w="12700">
            <a:solidFill>
              <a:srgbClr val="EBC48A"/>
            </a:solidFill>
            <a:prstDash val="solid"/>
          </a:ln>
        </p:spPr>
        <p:txBody>
          <a:bodyPr/>
          <a:lstStyle/>
          <a:p>
            <a:endParaRPr lang="en-US" sz="2800" dirty="0"/>
          </a:p>
        </p:txBody>
      </p:sp>
      <p:sp>
        <p:nvSpPr>
          <p:cNvPr id="14" name="Text 12"/>
          <p:cNvSpPr/>
          <p:nvPr/>
        </p:nvSpPr>
        <p:spPr>
          <a:xfrm>
            <a:off x="868680" y="5781904"/>
            <a:ext cx="10454335" cy="640080"/>
          </a:xfrm>
          <a:prstGeom prst="rect">
            <a:avLst/>
          </a:prstGeom>
          <a:noFill/>
          <a:ln/>
        </p:spPr>
        <p:txBody>
          <a:bodyPr wrap="square" lIns="0" tIns="0" rIns="0" bIns="0" rtlCol="0" anchor="ctr"/>
          <a:lstStyle/>
          <a:p>
            <a:pPr marL="0" indent="0">
              <a:buNone/>
            </a:pPr>
            <a:r>
              <a:rPr lang="en-US" dirty="0">
                <a:solidFill>
                  <a:srgbClr val="C77A17"/>
                </a:solidFill>
                <a:latin typeface="Calibri" pitchFamily="34" charset="0"/>
                <a:ea typeface="Calibri" pitchFamily="34" charset="-122"/>
                <a:cs typeface="Calibri" pitchFamily="34" charset="-120"/>
              </a:rPr>
              <a:t>Use respectful, informed communication. A biopsy does not cause gastric cancer to spread.</a:t>
            </a:r>
            <a:endParaRPr lang="en-US"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Basic psychological support</a:t>
            </a:r>
            <a:endParaRPr lang="en-US" sz="3000" dirty="0"/>
          </a:p>
        </p:txBody>
      </p:sp>
      <p:sp>
        <p:nvSpPr>
          <p:cNvPr id="4" name="Shape 2"/>
          <p:cNvSpPr/>
          <p:nvPr/>
        </p:nvSpPr>
        <p:spPr>
          <a:xfrm>
            <a:off x="685800" y="2011679"/>
            <a:ext cx="3423818" cy="4233003"/>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Listen and allow questions</a:t>
            </a:r>
            <a:endParaRPr lang="en-US" sz="2000" dirty="0"/>
          </a:p>
        </p:txBody>
      </p:sp>
      <p:sp>
        <p:nvSpPr>
          <p:cNvPr id="6" name="Text 4"/>
          <p:cNvSpPr/>
          <p:nvPr/>
        </p:nvSpPr>
        <p:spPr>
          <a:xfrm>
            <a:off x="886968" y="2861402"/>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Listen without dismissing concerns. Give time and answer plainly.</a:t>
            </a:r>
            <a:endParaRPr lang="en-US" dirty="0"/>
          </a:p>
        </p:txBody>
      </p:sp>
      <p:sp>
        <p:nvSpPr>
          <p:cNvPr id="7" name="Shape 5"/>
          <p:cNvSpPr/>
          <p:nvPr/>
        </p:nvSpPr>
        <p:spPr>
          <a:xfrm>
            <a:off x="4383938" y="2011679"/>
            <a:ext cx="3423818" cy="4233003"/>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381007"/>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Be honest</a:t>
            </a:r>
            <a:endParaRPr lang="en-US" sz="2000" dirty="0"/>
          </a:p>
        </p:txBody>
      </p:sp>
      <p:sp>
        <p:nvSpPr>
          <p:cNvPr id="9" name="Text 7"/>
          <p:cNvSpPr/>
          <p:nvPr/>
        </p:nvSpPr>
        <p:spPr>
          <a:xfrm>
            <a:off x="4585106" y="2861402"/>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Acknowledge uncertainty. Avoid false reassurance and avoid frightening language.</a:t>
            </a:r>
            <a:endParaRPr lang="en-US" dirty="0"/>
          </a:p>
        </p:txBody>
      </p:sp>
      <p:sp>
        <p:nvSpPr>
          <p:cNvPr id="10" name="Shape 8"/>
          <p:cNvSpPr/>
          <p:nvPr/>
        </p:nvSpPr>
        <p:spPr>
          <a:xfrm>
            <a:off x="8082077" y="2011679"/>
            <a:ext cx="3423818" cy="4233003"/>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381007"/>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Support the next step</a:t>
            </a:r>
            <a:endParaRPr lang="en-US" sz="2000" dirty="0"/>
          </a:p>
        </p:txBody>
      </p:sp>
      <p:sp>
        <p:nvSpPr>
          <p:cNvPr id="12" name="Text 10"/>
          <p:cNvSpPr/>
          <p:nvPr/>
        </p:nvSpPr>
        <p:spPr>
          <a:xfrm>
            <a:off x="8283245" y="2861402"/>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the next step, support autonomy, and encourage family support the patient wants.</a:t>
            </a:r>
            <a:endParaRPr lang="en-US" dirty="0"/>
          </a:p>
        </p:txBody>
      </p:sp>
      <p:sp>
        <p:nvSpPr>
          <p:cNvPr id="13" name="Text 11"/>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799" y="1234440"/>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Uwase's story continues</a:t>
            </a:r>
            <a:endParaRPr lang="en-US" sz="3000" dirty="0"/>
          </a:p>
        </p:txBody>
      </p:sp>
      <p:sp>
        <p:nvSpPr>
          <p:cNvPr id="11" name="Text 9"/>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Apply it</a:t>
            </a:r>
            <a:endParaRPr lang="en-US" sz="3000" dirty="0"/>
          </a:p>
        </p:txBody>
      </p:sp>
      <p:sp>
        <p:nvSpPr>
          <p:cNvPr id="4" name="Shape 2"/>
          <p:cNvSpPr/>
          <p:nvPr/>
        </p:nvSpPr>
        <p:spPr>
          <a:xfrm>
            <a:off x="685800" y="1965960"/>
            <a:ext cx="6675120" cy="914400"/>
          </a:xfrm>
          <a:prstGeom prst="roundRect">
            <a:avLst>
              <a:gd name="adj" fmla="val 7059"/>
            </a:avLst>
          </a:prstGeom>
          <a:solidFill>
            <a:srgbClr val="EBF3FC"/>
          </a:solidFill>
          <a:ln w="12700">
            <a:solidFill>
              <a:srgbClr val="1C6FB1"/>
            </a:solidFill>
            <a:prstDash val="solid"/>
          </a:ln>
        </p:spPr>
        <p:txBody>
          <a:bodyPr/>
          <a:lstStyle/>
          <a:p>
            <a:endParaRPr lang="en-US" sz="2400" dirty="0"/>
          </a:p>
        </p:txBody>
      </p:sp>
      <p:sp>
        <p:nvSpPr>
          <p:cNvPr id="5" name="Text 3"/>
          <p:cNvSpPr/>
          <p:nvPr/>
        </p:nvSpPr>
        <p:spPr>
          <a:xfrm>
            <a:off x="868680" y="1965960"/>
            <a:ext cx="6309360" cy="914400"/>
          </a:xfrm>
          <a:prstGeom prst="rect">
            <a:avLst/>
          </a:prstGeom>
          <a:noFill/>
          <a:ln/>
        </p:spPr>
        <p:txBody>
          <a:bodyPr wrap="square" lIns="0" tIns="0" rIns="0" bIns="0" rtlCol="0" anchor="ctr"/>
          <a:lstStyle/>
          <a:p>
            <a:pPr marL="0" indent="0">
              <a:buNone/>
            </a:pPr>
            <a:r>
              <a:rPr lang="en-US" sz="1800" b="1" dirty="0">
                <a:solidFill>
                  <a:srgbClr val="1C6FB1"/>
                </a:solidFill>
                <a:latin typeface="Calibri" pitchFamily="34" charset="0"/>
                <a:ea typeface="Calibri" pitchFamily="34" charset="-122"/>
                <a:cs typeface="Calibri" pitchFamily="34" charset="-120"/>
              </a:rPr>
              <a:t>Scenario  </a:t>
            </a:r>
            <a:r>
              <a:rPr lang="en-US" sz="1800" dirty="0">
                <a:solidFill>
                  <a:srgbClr val="1F3B50"/>
                </a:solidFill>
                <a:latin typeface="Calibri" pitchFamily="34" charset="0"/>
                <a:ea typeface="Calibri" pitchFamily="34" charset="-122"/>
                <a:cs typeface="Calibri" pitchFamily="34" charset="-120"/>
              </a:rPr>
              <a:t>After you explain that her symptoms need assessment, Uwase says that if it turns out to be cancer nothing can be done, so why go.</a:t>
            </a:r>
            <a:endParaRPr lang="en-US" sz="1600" dirty="0"/>
          </a:p>
        </p:txBody>
      </p:sp>
      <p:sp>
        <p:nvSpPr>
          <p:cNvPr id="6" name="Text 4"/>
          <p:cNvSpPr/>
          <p:nvPr/>
        </p:nvSpPr>
        <p:spPr>
          <a:xfrm>
            <a:off x="685800" y="2926080"/>
            <a:ext cx="6675120" cy="45720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What is the most helpful response?</a:t>
            </a:r>
            <a:endParaRPr lang="en-US" sz="2000" dirty="0"/>
          </a:p>
        </p:txBody>
      </p:sp>
      <p:sp>
        <p:nvSpPr>
          <p:cNvPr id="7" name="Shape 5"/>
          <p:cNvSpPr/>
          <p:nvPr/>
        </p:nvSpPr>
        <p:spPr>
          <a:xfrm>
            <a:off x="685800" y="3383280"/>
            <a:ext cx="6675120" cy="566928"/>
          </a:xfrm>
          <a:prstGeom prst="roundRect">
            <a:avLst>
              <a:gd name="adj" fmla="val 8065"/>
            </a:avLst>
          </a:prstGeom>
          <a:solidFill>
            <a:srgbClr val="FFFFFF"/>
          </a:solidFill>
          <a:ln w="12700">
            <a:solidFill>
              <a:srgbClr val="D3E4F5"/>
            </a:solidFill>
            <a:prstDash val="solid"/>
          </a:ln>
        </p:spPr>
        <p:txBody>
          <a:bodyPr/>
          <a:lstStyle/>
          <a:p>
            <a:endParaRPr lang="en-US" sz="2400" dirty="0"/>
          </a:p>
        </p:txBody>
      </p:sp>
      <p:sp>
        <p:nvSpPr>
          <p:cNvPr id="8" name="Shape 6"/>
          <p:cNvSpPr/>
          <p:nvPr/>
        </p:nvSpPr>
        <p:spPr>
          <a:xfrm>
            <a:off x="795528" y="3511296"/>
            <a:ext cx="310896" cy="310896"/>
          </a:xfrm>
          <a:prstGeom prst="ellipse">
            <a:avLst/>
          </a:prstGeom>
          <a:solidFill>
            <a:srgbClr val="0C3D66"/>
          </a:solidFill>
          <a:ln/>
        </p:spPr>
        <p:txBody>
          <a:bodyPr/>
          <a:lstStyle/>
          <a:p>
            <a:endParaRPr lang="en-US" sz="2400" dirty="0"/>
          </a:p>
        </p:txBody>
      </p:sp>
      <p:sp>
        <p:nvSpPr>
          <p:cNvPr id="9" name="Text 7"/>
          <p:cNvSpPr/>
          <p:nvPr/>
        </p:nvSpPr>
        <p:spPr>
          <a:xfrm>
            <a:off x="795528" y="3511296"/>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8"/>
          <p:cNvSpPr/>
          <p:nvPr/>
        </p:nvSpPr>
        <p:spPr>
          <a:xfrm>
            <a:off x="1234440" y="3383280"/>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Agree that little can be done</a:t>
            </a:r>
            <a:endParaRPr lang="en-US" sz="1600" dirty="0"/>
          </a:p>
        </p:txBody>
      </p:sp>
      <p:sp>
        <p:nvSpPr>
          <p:cNvPr id="11" name="Shape 9"/>
          <p:cNvSpPr/>
          <p:nvPr/>
        </p:nvSpPr>
        <p:spPr>
          <a:xfrm>
            <a:off x="685800" y="4096512"/>
            <a:ext cx="6675120" cy="566928"/>
          </a:xfrm>
          <a:prstGeom prst="roundRect">
            <a:avLst>
              <a:gd name="adj" fmla="val 8065"/>
            </a:avLst>
          </a:prstGeom>
          <a:solidFill>
            <a:srgbClr val="E6F4EB"/>
          </a:solidFill>
          <a:ln w="19050">
            <a:solidFill>
              <a:srgbClr val="9BCFA6"/>
            </a:solidFill>
            <a:prstDash val="solid"/>
          </a:ln>
        </p:spPr>
        <p:txBody>
          <a:bodyPr/>
          <a:lstStyle/>
          <a:p>
            <a:endParaRPr lang="en-US" sz="2400" dirty="0"/>
          </a:p>
        </p:txBody>
      </p:sp>
      <p:sp>
        <p:nvSpPr>
          <p:cNvPr id="12" name="Shape 10"/>
          <p:cNvSpPr/>
          <p:nvPr/>
        </p:nvSpPr>
        <p:spPr>
          <a:xfrm>
            <a:off x="795528" y="4224528"/>
            <a:ext cx="310896" cy="310896"/>
          </a:xfrm>
          <a:prstGeom prst="ellipse">
            <a:avLst/>
          </a:prstGeom>
          <a:solidFill>
            <a:srgbClr val="1E7A46"/>
          </a:solidFill>
          <a:ln/>
        </p:spPr>
        <p:txBody>
          <a:bodyPr/>
          <a:lstStyle/>
          <a:p>
            <a:endParaRPr lang="en-US" sz="2400" dirty="0"/>
          </a:p>
        </p:txBody>
      </p:sp>
      <p:sp>
        <p:nvSpPr>
          <p:cNvPr id="13" name="Text 11"/>
          <p:cNvSpPr/>
          <p:nvPr/>
        </p:nvSpPr>
        <p:spPr>
          <a:xfrm>
            <a:off x="795528" y="422452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1234440" y="4096512"/>
            <a:ext cx="5852160" cy="566928"/>
          </a:xfrm>
          <a:prstGeom prst="rect">
            <a:avLst/>
          </a:prstGeom>
          <a:noFill/>
          <a:ln/>
        </p:spPr>
        <p:txBody>
          <a:bodyPr wrap="square" lIns="0" tIns="0" rIns="0" bIns="0" rtlCol="0" anchor="ctr"/>
          <a:lstStyle/>
          <a:p>
            <a:pPr marL="0" indent="0">
              <a:buNone/>
            </a:pPr>
            <a:r>
              <a:rPr lang="en-US" sz="1800" b="1" dirty="0">
                <a:solidFill>
                  <a:srgbClr val="1E7A46"/>
                </a:solidFill>
                <a:latin typeface="Calibri" pitchFamily="34" charset="0"/>
                <a:ea typeface="Calibri" pitchFamily="34" charset="-122"/>
                <a:cs typeface="Calibri" pitchFamily="34" charset="-120"/>
              </a:rPr>
              <a:t>Acknowledge her fear, explain that assessment guides care and options exist, and encourage her to attend</a:t>
            </a:r>
            <a:endParaRPr lang="en-US" sz="1600" dirty="0"/>
          </a:p>
        </p:txBody>
      </p:sp>
      <p:sp>
        <p:nvSpPr>
          <p:cNvPr id="15" name="Text 13"/>
          <p:cNvSpPr/>
          <p:nvPr/>
        </p:nvSpPr>
        <p:spPr>
          <a:xfrm>
            <a:off x="6995160" y="4096512"/>
            <a:ext cx="274320" cy="566928"/>
          </a:xfrm>
          <a:prstGeom prst="rect">
            <a:avLst/>
          </a:prstGeom>
          <a:noFill/>
          <a:ln/>
        </p:spPr>
        <p:txBody>
          <a:bodyPr wrap="square" lIns="0" tIns="0" rIns="0" bIns="0" rtlCol="0" anchor="ctr"/>
          <a:lstStyle/>
          <a:p>
            <a:pPr marL="0" indent="0" algn="ctr">
              <a:buNone/>
            </a:pPr>
            <a:r>
              <a:rPr lang="en-US" b="1" dirty="0">
                <a:solidFill>
                  <a:srgbClr val="1E7A46"/>
                </a:solidFill>
                <a:latin typeface="Calibri" pitchFamily="34" charset="0"/>
                <a:ea typeface="Calibri" pitchFamily="34" charset="-122"/>
                <a:cs typeface="Calibri" pitchFamily="34" charset="-120"/>
              </a:rPr>
              <a:t>✓</a:t>
            </a:r>
            <a:endParaRPr lang="en-US" dirty="0"/>
          </a:p>
        </p:txBody>
      </p:sp>
      <p:sp>
        <p:nvSpPr>
          <p:cNvPr id="16" name="Shape 14"/>
          <p:cNvSpPr/>
          <p:nvPr/>
        </p:nvSpPr>
        <p:spPr>
          <a:xfrm>
            <a:off x="685800" y="4809744"/>
            <a:ext cx="6675120" cy="566928"/>
          </a:xfrm>
          <a:prstGeom prst="roundRect">
            <a:avLst>
              <a:gd name="adj" fmla="val 8065"/>
            </a:avLst>
          </a:prstGeom>
          <a:solidFill>
            <a:srgbClr val="FFFFFF"/>
          </a:solidFill>
          <a:ln w="12700">
            <a:solidFill>
              <a:srgbClr val="D3E4F5"/>
            </a:solidFill>
            <a:prstDash val="solid"/>
          </a:ln>
        </p:spPr>
        <p:txBody>
          <a:bodyPr/>
          <a:lstStyle/>
          <a:p>
            <a:endParaRPr lang="en-US" sz="2400" dirty="0"/>
          </a:p>
        </p:txBody>
      </p:sp>
      <p:sp>
        <p:nvSpPr>
          <p:cNvPr id="17" name="Shape 15"/>
          <p:cNvSpPr/>
          <p:nvPr/>
        </p:nvSpPr>
        <p:spPr>
          <a:xfrm>
            <a:off x="795528" y="4937760"/>
            <a:ext cx="310896" cy="310896"/>
          </a:xfrm>
          <a:prstGeom prst="ellipse">
            <a:avLst/>
          </a:prstGeom>
          <a:solidFill>
            <a:srgbClr val="0C3D66"/>
          </a:solidFill>
          <a:ln/>
        </p:spPr>
        <p:txBody>
          <a:bodyPr/>
          <a:lstStyle/>
          <a:p>
            <a:endParaRPr lang="en-US" sz="2400" dirty="0"/>
          </a:p>
        </p:txBody>
      </p:sp>
      <p:sp>
        <p:nvSpPr>
          <p:cNvPr id="18" name="Text 16"/>
          <p:cNvSpPr/>
          <p:nvPr/>
        </p:nvSpPr>
        <p:spPr>
          <a:xfrm>
            <a:off x="795528" y="493776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9" name="Text 17"/>
          <p:cNvSpPr/>
          <p:nvPr/>
        </p:nvSpPr>
        <p:spPr>
          <a:xfrm>
            <a:off x="1234440" y="4809744"/>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Tell her not to worry about it</a:t>
            </a:r>
            <a:endParaRPr lang="en-US" sz="1600" dirty="0"/>
          </a:p>
        </p:txBody>
      </p:sp>
      <p:sp>
        <p:nvSpPr>
          <p:cNvPr id="20" name="Shape 18"/>
          <p:cNvSpPr/>
          <p:nvPr/>
        </p:nvSpPr>
        <p:spPr>
          <a:xfrm>
            <a:off x="685800" y="5522976"/>
            <a:ext cx="6675120" cy="566928"/>
          </a:xfrm>
          <a:prstGeom prst="roundRect">
            <a:avLst>
              <a:gd name="adj" fmla="val 8065"/>
            </a:avLst>
          </a:prstGeom>
          <a:solidFill>
            <a:srgbClr val="FFFFFF"/>
          </a:solidFill>
          <a:ln w="12700">
            <a:solidFill>
              <a:srgbClr val="D3E4F5"/>
            </a:solidFill>
            <a:prstDash val="solid"/>
          </a:ln>
        </p:spPr>
        <p:txBody>
          <a:bodyPr/>
          <a:lstStyle/>
          <a:p>
            <a:endParaRPr lang="en-US" sz="2400" dirty="0"/>
          </a:p>
        </p:txBody>
      </p:sp>
      <p:sp>
        <p:nvSpPr>
          <p:cNvPr id="21" name="Shape 19"/>
          <p:cNvSpPr/>
          <p:nvPr/>
        </p:nvSpPr>
        <p:spPr>
          <a:xfrm>
            <a:off x="795528" y="5650992"/>
            <a:ext cx="310896" cy="310896"/>
          </a:xfrm>
          <a:prstGeom prst="ellipse">
            <a:avLst/>
          </a:prstGeom>
          <a:solidFill>
            <a:srgbClr val="0C3D66"/>
          </a:solidFill>
          <a:ln/>
        </p:spPr>
        <p:txBody>
          <a:bodyPr/>
          <a:lstStyle/>
          <a:p>
            <a:endParaRPr lang="en-US" sz="2400" dirty="0"/>
          </a:p>
        </p:txBody>
      </p:sp>
      <p:sp>
        <p:nvSpPr>
          <p:cNvPr id="22" name="Text 20"/>
          <p:cNvSpPr/>
          <p:nvPr/>
        </p:nvSpPr>
        <p:spPr>
          <a:xfrm>
            <a:off x="795528" y="5650992"/>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3" name="Text 21"/>
          <p:cNvSpPr/>
          <p:nvPr/>
        </p:nvSpPr>
        <p:spPr>
          <a:xfrm>
            <a:off x="1234440" y="5522976"/>
            <a:ext cx="5852160" cy="566928"/>
          </a:xfrm>
          <a:prstGeom prst="rect">
            <a:avLst/>
          </a:prstGeom>
          <a:noFill/>
          <a:ln/>
        </p:spPr>
        <p:txBody>
          <a:bodyPr wrap="square" lIns="0" tIns="0" rIns="0" bIns="0" rtlCol="0" anchor="ctr"/>
          <a:lstStyle/>
          <a:p>
            <a:pPr marL="0" indent="0">
              <a:buNone/>
            </a:pPr>
            <a:r>
              <a:rPr lang="en-US" sz="1800" dirty="0">
                <a:solidFill>
                  <a:srgbClr val="1F3B50"/>
                </a:solidFill>
                <a:latin typeface="Calibri" pitchFamily="34" charset="0"/>
                <a:ea typeface="Calibri" pitchFamily="34" charset="-122"/>
                <a:cs typeface="Calibri" pitchFamily="34" charset="-120"/>
              </a:rPr>
              <a:t>End the conversation</a:t>
            </a:r>
            <a:endParaRPr lang="en-US" sz="1600" dirty="0"/>
          </a:p>
        </p:txBody>
      </p:sp>
      <p:sp>
        <p:nvSpPr>
          <p:cNvPr id="24" name="Shape 22"/>
          <p:cNvSpPr/>
          <p:nvPr/>
        </p:nvSpPr>
        <p:spPr>
          <a:xfrm>
            <a:off x="7680960" y="1965960"/>
            <a:ext cx="3824935" cy="3977640"/>
          </a:xfrm>
          <a:prstGeom prst="roundRect">
            <a:avLst>
              <a:gd name="adj" fmla="val 1434"/>
            </a:avLst>
          </a:prstGeom>
          <a:solidFill>
            <a:srgbClr val="EBF3FC"/>
          </a:solidFill>
          <a:ln w="12700">
            <a:solidFill>
              <a:srgbClr val="D3E4F5"/>
            </a:solidFill>
            <a:prstDash val="solid"/>
          </a:ln>
        </p:spPr>
        <p:txBody>
          <a:bodyPr/>
          <a:lstStyle/>
          <a:p>
            <a:endParaRPr lang="en-US" sz="2400" dirty="0"/>
          </a:p>
        </p:txBody>
      </p:sp>
      <p:sp>
        <p:nvSpPr>
          <p:cNvPr id="25" name="Text 23"/>
          <p:cNvSpPr/>
          <p:nvPr/>
        </p:nvSpPr>
        <p:spPr>
          <a:xfrm>
            <a:off x="7882128" y="2148840"/>
            <a:ext cx="3422599" cy="365760"/>
          </a:xfrm>
          <a:prstGeom prst="rect">
            <a:avLst/>
          </a:prstGeom>
          <a:noFill/>
          <a:ln/>
        </p:spPr>
        <p:txBody>
          <a:bodyPr wrap="square" lIns="0" tIns="0" rIns="0" bIns="0" rtlCol="0" anchor="ctr"/>
          <a:lstStyle/>
          <a:p>
            <a:pPr marL="0" indent="0">
              <a:buNone/>
            </a:pPr>
            <a:r>
              <a:rPr lang="en-US" b="1" dirty="0">
                <a:solidFill>
                  <a:srgbClr val="1E7A46"/>
                </a:solidFill>
                <a:latin typeface="Cambria" pitchFamily="34" charset="0"/>
                <a:ea typeface="Cambria" pitchFamily="34" charset="-122"/>
                <a:cs typeface="Cambria" pitchFamily="34" charset="-120"/>
              </a:rPr>
              <a:t>Correct answer: B</a:t>
            </a:r>
            <a:endParaRPr lang="en-US" dirty="0"/>
          </a:p>
        </p:txBody>
      </p:sp>
      <p:sp>
        <p:nvSpPr>
          <p:cNvPr id="26" name="Text 24"/>
          <p:cNvSpPr/>
          <p:nvPr/>
        </p:nvSpPr>
        <p:spPr>
          <a:xfrm>
            <a:off x="7882128" y="2560320"/>
            <a:ext cx="3422599" cy="3200400"/>
          </a:xfrm>
          <a:prstGeom prst="rect">
            <a:avLst/>
          </a:prstGeom>
          <a:noFill/>
          <a:ln/>
        </p:spPr>
        <p:txBody>
          <a:bodyPr wrap="square" lIns="0" tIns="0" rIns="0" bIns="0" rtlCol="0" anchor="t"/>
          <a:lstStyle/>
          <a:p>
            <a:pPr marL="0" indent="0">
              <a:lnSpc>
                <a:spcPct val="110000"/>
              </a:lnSpc>
              <a:buNone/>
            </a:pPr>
            <a:r>
              <a:rPr lang="en-US" sz="1800" b="1" dirty="0">
                <a:solidFill>
                  <a:srgbClr val="12406B"/>
                </a:solidFill>
                <a:latin typeface="Calibri" pitchFamily="34" charset="0"/>
                <a:ea typeface="Calibri" pitchFamily="34" charset="-122"/>
                <a:cs typeface="Calibri" pitchFamily="34" charset="-120"/>
              </a:rPr>
              <a:t>Why  </a:t>
            </a:r>
            <a:r>
              <a:rPr lang="en-US" sz="1800" dirty="0">
                <a:solidFill>
                  <a:srgbClr val="1F3B50"/>
                </a:solidFill>
                <a:latin typeface="Calibri" pitchFamily="34" charset="0"/>
                <a:ea typeface="Calibri" pitchFamily="34" charset="-122"/>
                <a:cs typeface="Calibri" pitchFamily="34" charset="-120"/>
              </a:rPr>
              <a:t>Acknowledge the emotion, correct the misconception gently, and support attendance without pressure. Earlier assessment widens the options for care.</a:t>
            </a:r>
            <a:endParaRPr lang="en-US" sz="1600" dirty="0"/>
          </a:p>
        </p:txBody>
      </p:sp>
      <p:sp>
        <p:nvSpPr>
          <p:cNvPr id="27" name="Text 2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(1/3)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 An abnormal endoscopy result before diagnosis should be explained as:</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Confirmed cancer</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A signal that biopsy and further assessment are needed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 reason to stop care</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A normal result</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guides further assessment; tissue confirms the diagnosis.</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Q2. Which needs urgent action?</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Occasional heartburn</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Ongoing hematemesis with signs of blood loss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Mild bloating</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A single loose stool</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Significant GI bleeding is an emergency.</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(2/3)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Q3. Good counselling before referral:</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Promises a diagnosis</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Explains the next step and allows questions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Withholds information</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Pressures the patient</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Explain respectfully and allow questions.</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Q4. The first point of contact in the pathway is usually:</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The referral centre</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The health post or health centre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 private pharmacy</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No facility</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First contact assesses, records, and starts the referral.</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(3/3)</a:t>
            </a:r>
            <a:endParaRPr lang="en-US" sz="3000" dirty="0"/>
          </a:p>
        </p:txBody>
      </p:sp>
      <p:sp>
        <p:nvSpPr>
          <p:cNvPr id="4" name="Shape 2"/>
          <p:cNvSpPr/>
          <p:nvPr/>
        </p:nvSpPr>
        <p:spPr>
          <a:xfrm>
            <a:off x="685800" y="1977111"/>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23415"/>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Q5. Basic psychological support includes:</a:t>
            </a:r>
            <a:endParaRPr lang="en-US" sz="2000" dirty="0"/>
          </a:p>
        </p:txBody>
      </p:sp>
      <p:sp>
        <p:nvSpPr>
          <p:cNvPr id="6" name="Text 4"/>
          <p:cNvSpPr/>
          <p:nvPr/>
        </p:nvSpPr>
        <p:spPr>
          <a:xfrm>
            <a:off x="914400" y="252575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Premature reassurance</a:t>
            </a:r>
            <a:endParaRPr lang="en-US" dirty="0"/>
          </a:p>
        </p:txBody>
      </p:sp>
      <p:sp>
        <p:nvSpPr>
          <p:cNvPr id="7" name="Text 5"/>
          <p:cNvSpPr/>
          <p:nvPr/>
        </p:nvSpPr>
        <p:spPr>
          <a:xfrm>
            <a:off x="6095848" y="2525751"/>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Listening and allowing questions  ✓</a:t>
            </a:r>
            <a:endParaRPr lang="en-US" dirty="0"/>
          </a:p>
        </p:txBody>
      </p:sp>
      <p:sp>
        <p:nvSpPr>
          <p:cNvPr id="8" name="Text 6"/>
          <p:cNvSpPr/>
          <p:nvPr/>
        </p:nvSpPr>
        <p:spPr>
          <a:xfrm>
            <a:off x="914400" y="285493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Ignoring fear</a:t>
            </a:r>
            <a:endParaRPr lang="en-US" dirty="0"/>
          </a:p>
        </p:txBody>
      </p:sp>
      <p:sp>
        <p:nvSpPr>
          <p:cNvPr id="9" name="Text 7"/>
          <p:cNvSpPr/>
          <p:nvPr/>
        </p:nvSpPr>
        <p:spPr>
          <a:xfrm>
            <a:off x="6095848" y="2854935"/>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Rushing the patient</a:t>
            </a:r>
            <a:endParaRPr lang="en-US" dirty="0"/>
          </a:p>
        </p:txBody>
      </p:sp>
      <p:sp>
        <p:nvSpPr>
          <p:cNvPr id="10" name="Text 8"/>
          <p:cNvSpPr/>
          <p:nvPr/>
        </p:nvSpPr>
        <p:spPr>
          <a:xfrm>
            <a:off x="914400" y="3302991"/>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Listen, allow questions, and avoid false reassurance.</a:t>
            </a:r>
            <a:endParaRPr lang="en-US" dirty="0"/>
          </a:p>
        </p:txBody>
      </p:sp>
      <p:sp>
        <p:nvSpPr>
          <p:cNvPr id="11" name="Shape 9"/>
          <p:cNvSpPr/>
          <p:nvPr/>
        </p:nvSpPr>
        <p:spPr>
          <a:xfrm>
            <a:off x="685800" y="3988791"/>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35095"/>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Q6. The myth that biopsy spreads gastric cancer should be:</a:t>
            </a:r>
            <a:endParaRPr lang="en-US" sz="2000" dirty="0"/>
          </a:p>
        </p:txBody>
      </p:sp>
      <p:sp>
        <p:nvSpPr>
          <p:cNvPr id="13" name="Text 11"/>
          <p:cNvSpPr/>
          <p:nvPr/>
        </p:nvSpPr>
        <p:spPr>
          <a:xfrm>
            <a:off x="914400" y="4537431"/>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Reinforced</a:t>
            </a:r>
            <a:endParaRPr lang="en-US" dirty="0"/>
          </a:p>
        </p:txBody>
      </p:sp>
      <p:sp>
        <p:nvSpPr>
          <p:cNvPr id="14" name="Text 12"/>
          <p:cNvSpPr/>
          <p:nvPr/>
        </p:nvSpPr>
        <p:spPr>
          <a:xfrm>
            <a:off x="6095848" y="4586199"/>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Corrected explaining clearly the information ✓</a:t>
            </a:r>
            <a:endParaRPr lang="en-US" dirty="0"/>
          </a:p>
        </p:txBody>
      </p:sp>
      <p:sp>
        <p:nvSpPr>
          <p:cNvPr id="15" name="Text 13"/>
          <p:cNvSpPr/>
          <p:nvPr/>
        </p:nvSpPr>
        <p:spPr>
          <a:xfrm>
            <a:off x="914400" y="5012919"/>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Left unaddressed</a:t>
            </a:r>
            <a:endParaRPr lang="en-US" dirty="0"/>
          </a:p>
        </p:txBody>
      </p:sp>
      <p:sp>
        <p:nvSpPr>
          <p:cNvPr id="16" name="Text 14"/>
          <p:cNvSpPr/>
          <p:nvPr/>
        </p:nvSpPr>
        <p:spPr>
          <a:xfrm>
            <a:off x="6095848" y="5012919"/>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Used to discourage biopsy</a:t>
            </a:r>
            <a:endParaRPr lang="en-US" dirty="0"/>
          </a:p>
        </p:txBody>
      </p:sp>
      <p:sp>
        <p:nvSpPr>
          <p:cNvPr id="17" name="Text 15"/>
          <p:cNvSpPr/>
          <p:nvPr/>
        </p:nvSpPr>
        <p:spPr>
          <a:xfrm>
            <a:off x="914400" y="5314671"/>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Biopsy does not cause gastric cancer to spread.</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3</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Session reflection</a:t>
            </a:r>
            <a:endParaRPr lang="en-US" sz="3000" dirty="0"/>
          </a:p>
        </p:txBody>
      </p:sp>
      <p:sp>
        <p:nvSpPr>
          <p:cNvPr id="4" name="Text 2"/>
          <p:cNvSpPr/>
          <p:nvPr/>
        </p:nvSpPr>
        <p:spPr>
          <a:xfrm>
            <a:off x="685800" y="1874519"/>
            <a:ext cx="10820095" cy="384048"/>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Enter your response in the text box. There is no single correct answer.</a:t>
            </a:r>
            <a:endParaRPr lang="en-US" sz="1300" dirty="0"/>
          </a:p>
        </p:txBody>
      </p:sp>
      <p:sp>
        <p:nvSpPr>
          <p:cNvPr id="5" name="Shape 3"/>
          <p:cNvSpPr/>
          <p:nvPr/>
        </p:nvSpPr>
        <p:spPr>
          <a:xfrm>
            <a:off x="685800" y="2377440"/>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6" name="Shape 4"/>
          <p:cNvSpPr/>
          <p:nvPr/>
        </p:nvSpPr>
        <p:spPr>
          <a:xfrm>
            <a:off x="914400" y="2555748"/>
            <a:ext cx="512064" cy="512064"/>
          </a:xfrm>
          <a:prstGeom prst="ellipse">
            <a:avLst/>
          </a:prstGeom>
          <a:solidFill>
            <a:srgbClr val="12857F"/>
          </a:solidFill>
          <a:ln/>
        </p:spPr>
        <p:txBody>
          <a:bodyPr/>
          <a:lstStyle/>
          <a:p>
            <a:endParaRPr lang="en-US" sz="2400" dirty="0"/>
          </a:p>
        </p:txBody>
      </p:sp>
      <p:sp>
        <p:nvSpPr>
          <p:cNvPr id="7" name="Text 5"/>
          <p:cNvSpPr/>
          <p:nvPr/>
        </p:nvSpPr>
        <p:spPr>
          <a:xfrm>
            <a:off x="914400" y="2555748"/>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645920" y="2377440"/>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How would you explain the reason for endoscopy to a patient who is worried about the procedure?</a:t>
            </a:r>
            <a:endParaRPr lang="en-US" dirty="0"/>
          </a:p>
        </p:txBody>
      </p:sp>
      <p:sp>
        <p:nvSpPr>
          <p:cNvPr id="9" name="Shape 7"/>
          <p:cNvSpPr/>
          <p:nvPr/>
        </p:nvSpPr>
        <p:spPr>
          <a:xfrm>
            <a:off x="685800" y="3447288"/>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10" name="Shape 8"/>
          <p:cNvSpPr/>
          <p:nvPr/>
        </p:nvSpPr>
        <p:spPr>
          <a:xfrm>
            <a:off x="914400" y="3625596"/>
            <a:ext cx="512064" cy="512064"/>
          </a:xfrm>
          <a:prstGeom prst="ellipse">
            <a:avLst/>
          </a:prstGeom>
          <a:solidFill>
            <a:srgbClr val="12857F"/>
          </a:solidFill>
          <a:ln/>
        </p:spPr>
        <p:txBody>
          <a:bodyPr/>
          <a:lstStyle/>
          <a:p>
            <a:endParaRPr lang="en-US" sz="2400" dirty="0"/>
          </a:p>
        </p:txBody>
      </p:sp>
      <p:sp>
        <p:nvSpPr>
          <p:cNvPr id="11" name="Text 9"/>
          <p:cNvSpPr/>
          <p:nvPr/>
        </p:nvSpPr>
        <p:spPr>
          <a:xfrm>
            <a:off x="914400" y="3625596"/>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645920" y="3447288"/>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What might stop someone completing a gastric-cancer referral in your setting, and how could you help?</a:t>
            </a:r>
            <a:endParaRPr lang="en-US" dirty="0"/>
          </a:p>
        </p:txBody>
      </p:sp>
      <p:sp>
        <p:nvSpPr>
          <p:cNvPr id="13" name="Shape 11"/>
          <p:cNvSpPr/>
          <p:nvPr/>
        </p:nvSpPr>
        <p:spPr>
          <a:xfrm>
            <a:off x="685800" y="4517136"/>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14" name="Shape 12"/>
          <p:cNvSpPr/>
          <p:nvPr/>
        </p:nvSpPr>
        <p:spPr>
          <a:xfrm>
            <a:off x="914400" y="4695444"/>
            <a:ext cx="512064" cy="512064"/>
          </a:xfrm>
          <a:prstGeom prst="ellipse">
            <a:avLst/>
          </a:prstGeom>
          <a:solidFill>
            <a:srgbClr val="12857F"/>
          </a:solidFill>
          <a:ln/>
        </p:spPr>
        <p:txBody>
          <a:bodyPr/>
          <a:lstStyle/>
          <a:p>
            <a:endParaRPr lang="en-US" sz="3200" dirty="0"/>
          </a:p>
        </p:txBody>
      </p:sp>
      <p:sp>
        <p:nvSpPr>
          <p:cNvPr id="15" name="Text 13"/>
          <p:cNvSpPr/>
          <p:nvPr/>
        </p:nvSpPr>
        <p:spPr>
          <a:xfrm>
            <a:off x="914400" y="4695444"/>
            <a:ext cx="512064" cy="512064"/>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3</a:t>
            </a:r>
            <a:endParaRPr lang="en-US" sz="3200" dirty="0"/>
          </a:p>
        </p:txBody>
      </p:sp>
      <p:sp>
        <p:nvSpPr>
          <p:cNvPr id="16" name="Text 14"/>
          <p:cNvSpPr/>
          <p:nvPr/>
        </p:nvSpPr>
        <p:spPr>
          <a:xfrm>
            <a:off x="1645920" y="4517136"/>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How would you recognise and act on significant upper-GI bleeding?</a:t>
            </a:r>
            <a:endParaRPr lang="en-US" dirty="0"/>
          </a:p>
        </p:txBody>
      </p:sp>
      <p:sp>
        <p:nvSpPr>
          <p:cNvPr id="17" name="Text 1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0">
    <p:bg>
      <p:bgPr>
        <a:solidFill>
          <a:srgbClr val="0C3D66"/>
        </a:solidFill>
        <a:effectLst/>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2518A"/>
          </a:solidFill>
          <a:ln/>
        </p:spPr>
        <p:txBody>
          <a:bodyPr/>
          <a:lstStyle/>
          <a:p>
            <a:endParaRPr lang="en-US" dirty="0"/>
          </a:p>
        </p:txBody>
      </p:sp>
      <p:sp>
        <p:nvSpPr>
          <p:cNvPr id="3" name="Shape 1"/>
          <p:cNvSpPr/>
          <p:nvPr/>
        </p:nvSpPr>
        <p:spPr>
          <a:xfrm>
            <a:off x="9784080" y="1737360"/>
            <a:ext cx="1371600" cy="1371600"/>
          </a:xfrm>
          <a:prstGeom prst="ellipse">
            <a:avLst/>
          </a:prstGeom>
          <a:solidFill>
            <a:srgbClr val="12857F"/>
          </a:solidFill>
          <a:ln/>
        </p:spPr>
        <p:txBody>
          <a:bodyPr/>
          <a:lstStyle/>
          <a:p>
            <a:endParaRPr lang="en-US" dirty="0"/>
          </a:p>
        </p:txBody>
      </p:sp>
      <p:sp>
        <p:nvSpPr>
          <p:cNvPr id="4" name="Text 2"/>
          <p:cNvSpPr/>
          <p:nvPr/>
        </p:nvSpPr>
        <p:spPr>
          <a:xfrm>
            <a:off x="9784080" y="1737360"/>
            <a:ext cx="1371600" cy="13716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4</a:t>
            </a:r>
            <a:endParaRPr lang="en-US" sz="3400" dirty="0"/>
          </a:p>
        </p:txBody>
      </p:sp>
      <p:sp>
        <p:nvSpPr>
          <p:cNvPr id="5" name="Text 3"/>
          <p:cNvSpPr/>
          <p:nvPr/>
        </p:nvSpPr>
        <p:spPr>
          <a:xfrm>
            <a:off x="822960" y="2788920"/>
            <a:ext cx="7315200" cy="320040"/>
          </a:xfrm>
          <a:prstGeom prst="rect">
            <a:avLst/>
          </a:prstGeom>
          <a:noFill/>
          <a:ln/>
        </p:spPr>
        <p:txBody>
          <a:bodyPr wrap="square" lIns="0" tIns="0" rIns="0" bIns="0" rtlCol="0" anchor="ctr"/>
          <a:lstStyle/>
          <a:p>
            <a:pPr marL="0" indent="0">
              <a:buNone/>
            </a:pPr>
            <a:r>
              <a:rPr lang="en-US" sz="1300" b="1" kern="0" spc="200" dirty="0">
                <a:solidFill>
                  <a:srgbClr val="8FC7E8"/>
                </a:solidFill>
                <a:latin typeface="Calibri" pitchFamily="34" charset="0"/>
                <a:ea typeface="Calibri" pitchFamily="34" charset="-122"/>
                <a:cs typeface="Calibri" pitchFamily="34" charset="-120"/>
              </a:rPr>
              <a:t>SESSION 4</a:t>
            </a:r>
            <a:endParaRPr lang="en-US" sz="1300" dirty="0"/>
          </a:p>
        </p:txBody>
      </p:sp>
      <p:sp>
        <p:nvSpPr>
          <p:cNvPr id="6" name="Text 4"/>
          <p:cNvSpPr/>
          <p:nvPr/>
        </p:nvSpPr>
        <p:spPr>
          <a:xfrm>
            <a:off x="822960" y="3154680"/>
            <a:ext cx="84124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Diagnosis and treatment</a:t>
            </a:r>
            <a:endParaRPr lang="en-US" sz="3600" dirty="0"/>
          </a:p>
        </p:txBody>
      </p:sp>
      <p:sp>
        <p:nvSpPr>
          <p:cNvPr id="7" name="Text 5"/>
          <p:cNvSpPr/>
          <p:nvPr/>
        </p:nvSpPr>
        <p:spPr>
          <a:xfrm>
            <a:off x="822960" y="4114800"/>
            <a:ext cx="7863840" cy="822960"/>
          </a:xfrm>
          <a:prstGeom prst="rect">
            <a:avLst/>
          </a:prstGeom>
          <a:noFill/>
          <a:ln/>
        </p:spPr>
        <p:txBody>
          <a:bodyPr wrap="square" lIns="0" tIns="0" rIns="0" bIns="0" rtlCol="0" anchor="ctr"/>
          <a:lstStyle/>
          <a:p>
            <a:pPr marL="0" indent="0">
              <a:lnSpc>
                <a:spcPct val="110000"/>
              </a:lnSpc>
              <a:buNone/>
            </a:pPr>
            <a:r>
              <a:rPr lang="en-US" sz="1800" dirty="0">
                <a:solidFill>
                  <a:srgbClr val="D6E6F5"/>
                </a:solidFill>
                <a:latin typeface="Calibri" pitchFamily="34" charset="0"/>
                <a:ea typeface="Calibri" pitchFamily="34" charset="-122"/>
                <a:cs typeface="Calibri" pitchFamily="34" charset="-120"/>
              </a:rPr>
              <a:t>Understand what happens after referral: how a diagnosis is confirmed, and an overview of treatment and its effects.</a:t>
            </a:r>
            <a:endParaRPr lang="en-US" sz="1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Learning objectives</a:t>
            </a:r>
            <a:endParaRPr lang="en-US" sz="3000" dirty="0"/>
          </a:p>
        </p:txBody>
      </p:sp>
      <p:sp>
        <p:nvSpPr>
          <p:cNvPr id="4" name="Shape 2"/>
          <p:cNvSpPr/>
          <p:nvPr/>
        </p:nvSpPr>
        <p:spPr>
          <a:xfrm>
            <a:off x="685800"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Outline</a:t>
            </a:r>
            <a:endParaRPr lang="en-US" sz="2000" dirty="0"/>
          </a:p>
        </p:txBody>
      </p:sp>
      <p:sp>
        <p:nvSpPr>
          <p:cNvPr id="6" name="Text 4"/>
          <p:cNvSpPr/>
          <p:nvPr/>
        </p:nvSpPr>
        <p:spPr>
          <a:xfrm>
            <a:off x="886968"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Outline the diagnostic pathway to confirmation and staging.</a:t>
            </a:r>
            <a:endParaRPr lang="en-US" dirty="0"/>
          </a:p>
        </p:txBody>
      </p:sp>
      <p:sp>
        <p:nvSpPr>
          <p:cNvPr id="7" name="Shape 5"/>
          <p:cNvSpPr/>
          <p:nvPr/>
        </p:nvSpPr>
        <p:spPr>
          <a:xfrm>
            <a:off x="4383938"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Explain</a:t>
            </a:r>
            <a:endParaRPr lang="en-US" sz="2000" dirty="0"/>
          </a:p>
        </p:txBody>
      </p:sp>
      <p:sp>
        <p:nvSpPr>
          <p:cNvPr id="9" name="Text 7"/>
          <p:cNvSpPr/>
          <p:nvPr/>
        </p:nvSpPr>
        <p:spPr>
          <a:xfrm>
            <a:off x="4585106"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the role and limits of examination and laboratory tests.</a:t>
            </a:r>
            <a:endParaRPr lang="en-US" dirty="0"/>
          </a:p>
        </p:txBody>
      </p:sp>
      <p:sp>
        <p:nvSpPr>
          <p:cNvPr id="10" name="Shape 8"/>
          <p:cNvSpPr/>
          <p:nvPr/>
        </p:nvSpPr>
        <p:spPr>
          <a:xfrm>
            <a:off x="8082077"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Describe</a:t>
            </a:r>
            <a:endParaRPr lang="en-US" sz="2000" dirty="0"/>
          </a:p>
        </p:txBody>
      </p:sp>
      <p:sp>
        <p:nvSpPr>
          <p:cNvPr id="12" name="Text 10"/>
          <p:cNvSpPr/>
          <p:nvPr/>
        </p:nvSpPr>
        <p:spPr>
          <a:xfrm>
            <a:off x="8283245"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Describe endoscopy, biopsy, and histopathology for counselling.</a:t>
            </a:r>
            <a:endParaRPr lang="en-US" dirty="0"/>
          </a:p>
        </p:txBody>
      </p:sp>
      <p:sp>
        <p:nvSpPr>
          <p:cNvPr id="13" name="Shape 11"/>
          <p:cNvSpPr/>
          <p:nvPr/>
        </p:nvSpPr>
        <p:spPr>
          <a:xfrm>
            <a:off x="685800"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Summarise</a:t>
            </a:r>
            <a:endParaRPr lang="en-US" sz="2000" dirty="0"/>
          </a:p>
        </p:txBody>
      </p:sp>
      <p:sp>
        <p:nvSpPr>
          <p:cNvPr id="15" name="Text 13"/>
          <p:cNvSpPr/>
          <p:nvPr/>
        </p:nvSpPr>
        <p:spPr>
          <a:xfrm>
            <a:off x="886968"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Summarise treatment categories and what each one does.</a:t>
            </a:r>
            <a:endParaRPr lang="en-US" dirty="0"/>
          </a:p>
        </p:txBody>
      </p:sp>
      <p:sp>
        <p:nvSpPr>
          <p:cNvPr id="16" name="Shape 14"/>
          <p:cNvSpPr/>
          <p:nvPr/>
        </p:nvSpPr>
        <p:spPr>
          <a:xfrm>
            <a:off x="4383938"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Correct</a:t>
            </a:r>
            <a:endParaRPr lang="en-US" sz="2000" dirty="0"/>
          </a:p>
        </p:txBody>
      </p:sp>
      <p:sp>
        <p:nvSpPr>
          <p:cNvPr id="18" name="Text 16"/>
          <p:cNvSpPr/>
          <p:nvPr/>
        </p:nvSpPr>
        <p:spPr>
          <a:xfrm>
            <a:off x="4585106"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Correct common misconceptions about diagnosis and treatment.</a:t>
            </a:r>
            <a:endParaRPr lang="en-US" dirty="0"/>
          </a:p>
        </p:txBody>
      </p:sp>
      <p:sp>
        <p:nvSpPr>
          <p:cNvPr id="19" name="Text 17"/>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458098"/>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823858"/>
            <a:ext cx="10820095" cy="457200"/>
          </a:xfrm>
          <a:prstGeom prst="rect">
            <a:avLst/>
          </a:prstGeom>
          <a:noFill/>
          <a:ln/>
        </p:spPr>
        <p:txBody>
          <a:bodyPr wrap="square" lIns="0" tIns="0" rIns="0" bIns="0" rtlCol="0" anchor="ctr"/>
          <a:lstStyle/>
          <a:p>
            <a:r>
              <a:rPr lang="en-US" sz="2800" b="1" dirty="0">
                <a:solidFill>
                  <a:srgbClr val="12406B"/>
                </a:solidFill>
                <a:latin typeface="Cambria" pitchFamily="34" charset="0"/>
                <a:ea typeface="Cambria" pitchFamily="34" charset="-122"/>
                <a:cs typeface="Cambria" pitchFamily="34" charset="-120"/>
              </a:rPr>
              <a:t>Start with a focused history</a:t>
            </a:r>
            <a:endParaRPr lang="en-US" sz="2800" dirty="0"/>
          </a:p>
        </p:txBody>
      </p:sp>
      <p:sp>
        <p:nvSpPr>
          <p:cNvPr id="4" name="Shape 2"/>
          <p:cNvSpPr/>
          <p:nvPr/>
        </p:nvSpPr>
        <p:spPr>
          <a:xfrm>
            <a:off x="685800" y="1418220"/>
            <a:ext cx="4173071" cy="4785356"/>
          </a:xfrm>
          <a:prstGeom prst="roundRect">
            <a:avLst>
              <a:gd name="adj" fmla="val 192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1582812"/>
            <a:ext cx="4792828" cy="36576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What to ask</a:t>
            </a:r>
            <a:endParaRPr lang="en-US" sz="2000" dirty="0"/>
          </a:p>
        </p:txBody>
      </p:sp>
      <p:sp>
        <p:nvSpPr>
          <p:cNvPr id="6" name="Text 4"/>
          <p:cNvSpPr/>
          <p:nvPr/>
        </p:nvSpPr>
        <p:spPr>
          <a:xfrm>
            <a:off x="914400" y="2012580"/>
            <a:ext cx="3765176" cy="3017520"/>
          </a:xfrm>
          <a:prstGeom prst="rect">
            <a:avLst/>
          </a:prstGeom>
          <a:noFill/>
          <a:ln/>
        </p:spPr>
        <p:txBody>
          <a:bodyPr wrap="square" lIns="0" tIns="0" rIns="0" bIns="0" rtlCol="0" anchor="t"/>
          <a:lstStyle/>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Symptom, how long it has lasted, and whether it is getting worse</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Appetite, early satiety, and any unintentional weight change</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Vomiting, blood in the vomit, or black stools</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Difficulty swallowing</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Previous H. pylori treatment, gastric surgery, or family history of gastric cancer</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Tobacco and alcohol use, and current medicines</a:t>
            </a:r>
            <a:endParaRPr lang="en-US" dirty="0"/>
          </a:p>
        </p:txBody>
      </p:sp>
      <p:sp>
        <p:nvSpPr>
          <p:cNvPr id="7" name="Shape 5"/>
          <p:cNvSpPr/>
          <p:nvPr/>
        </p:nvSpPr>
        <p:spPr>
          <a:xfrm>
            <a:off x="5215965" y="1418220"/>
            <a:ext cx="3520144" cy="4785356"/>
          </a:xfrm>
          <a:prstGeom prst="roundRect">
            <a:avLst>
              <a:gd name="adj" fmla="val 192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5444564" y="1582812"/>
            <a:ext cx="3520144" cy="429768"/>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  Alarm features to ask about directly</a:t>
            </a:r>
            <a:endParaRPr lang="en-US" sz="2000" dirty="0"/>
          </a:p>
        </p:txBody>
      </p:sp>
      <p:sp>
        <p:nvSpPr>
          <p:cNvPr id="9" name="Text 7"/>
          <p:cNvSpPr/>
          <p:nvPr/>
        </p:nvSpPr>
        <p:spPr>
          <a:xfrm>
            <a:off x="5444564" y="2209804"/>
            <a:ext cx="3107767" cy="3017520"/>
          </a:xfrm>
          <a:prstGeom prst="rect">
            <a:avLst/>
          </a:prstGeom>
          <a:noFill/>
          <a:ln/>
        </p:spPr>
        <p:txBody>
          <a:bodyPr wrap="square" lIns="0" tIns="0" rIns="0" bIns="0" rtlCol="0" anchor="t"/>
          <a:lstStyle/>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Hematemesis or melena</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Progressive difficulty swallowing</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Persistent vomiting</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Unintentional weight loss</a:t>
            </a: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  Severe weakness, or lightheadedness on standing</a:t>
            </a:r>
            <a:endParaRPr lang="en-US" dirty="0"/>
          </a:p>
          <a:p>
            <a:pPr marL="0" indent="0">
              <a:lnSpc>
                <a:spcPct val="115000"/>
              </a:lnSpc>
              <a:buNone/>
            </a:pPr>
            <a:endParaRPr lang="en-US" dirty="0"/>
          </a:p>
          <a:p>
            <a:pPr marL="0" indent="0">
              <a:lnSpc>
                <a:spcPct val="115000"/>
              </a:lnSpc>
              <a:buNone/>
            </a:pPr>
            <a:r>
              <a:rPr lang="en-US" b="0" dirty="0">
                <a:solidFill>
                  <a:srgbClr val="12406B"/>
                </a:solidFill>
                <a:latin typeface="Calibri" pitchFamily="34" charset="0"/>
                <a:ea typeface="Calibri" pitchFamily="34" charset="-122"/>
                <a:cs typeface="Calibri" pitchFamily="34" charset="-120"/>
              </a:rPr>
              <a:t>Any of these needs prompt or urgent assessment. History comes before examination and directs everything that follows.</a:t>
            </a:r>
            <a:endParaRPr lang="en-US" dirty="0"/>
          </a:p>
        </p:txBody>
      </p:sp>
      <p:sp>
        <p:nvSpPr>
          <p:cNvPr id="10" name="Text 8"/>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3" name="Imagen 12">
            <a:extLst>
              <a:ext uri="{FF2B5EF4-FFF2-40B4-BE49-F238E27FC236}">
                <a16:creationId xmlns:a16="http://schemas.microsoft.com/office/drawing/2014/main" id="{FA68D764-979E-6FAC-001E-3DA7F213AC1E}"/>
              </a:ext>
            </a:extLst>
          </p:cNvPr>
          <p:cNvPicPr>
            <a:picLocks noChangeAspect="1"/>
          </p:cNvPicPr>
          <p:nvPr/>
        </p:nvPicPr>
        <p:blipFill>
          <a:blip r:embed="rId2"/>
          <a:stretch>
            <a:fillRect/>
          </a:stretch>
        </p:blipFill>
        <p:spPr>
          <a:xfrm>
            <a:off x="9093203" y="1384694"/>
            <a:ext cx="2298060" cy="1913377"/>
          </a:xfrm>
          <a:prstGeom prst="rect">
            <a:avLst/>
          </a:prstGeom>
        </p:spPr>
      </p:pic>
      <p:pic>
        <p:nvPicPr>
          <p:cNvPr id="15" name="Imagen 14">
            <a:extLst>
              <a:ext uri="{FF2B5EF4-FFF2-40B4-BE49-F238E27FC236}">
                <a16:creationId xmlns:a16="http://schemas.microsoft.com/office/drawing/2014/main" id="{C3F0FC49-0287-0276-A35C-005C81E73C9F}"/>
              </a:ext>
            </a:extLst>
          </p:cNvPr>
          <p:cNvPicPr>
            <a:picLocks noChangeAspect="1"/>
          </p:cNvPicPr>
          <p:nvPr/>
        </p:nvPicPr>
        <p:blipFill>
          <a:blip r:embed="rId3"/>
          <a:srcRect r="15456"/>
          <a:stretch>
            <a:fillRect/>
          </a:stretch>
        </p:blipFill>
        <p:spPr>
          <a:xfrm>
            <a:off x="8964708" y="3559930"/>
            <a:ext cx="2898848" cy="228585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25880"/>
            <a:ext cx="10820095" cy="457200"/>
          </a:xfrm>
          <a:prstGeom prst="rect">
            <a:avLst/>
          </a:prstGeom>
          <a:noFill/>
          <a:ln/>
        </p:spPr>
        <p:txBody>
          <a:bodyPr wrap="square" lIns="0" tIns="0" rIns="0" bIns="0" rtlCol="0" anchor="ctr"/>
          <a:lstStyle/>
          <a:p>
            <a:r>
              <a:rPr lang="en-US" sz="2800" b="1" dirty="0">
                <a:solidFill>
                  <a:srgbClr val="12406B"/>
                </a:solidFill>
                <a:latin typeface="Cambria" pitchFamily="34" charset="0"/>
                <a:ea typeface="Cambria" pitchFamily="34" charset="-122"/>
                <a:cs typeface="Cambria" pitchFamily="34" charset="-120"/>
              </a:rPr>
              <a:t>The diagnostic pathway</a:t>
            </a:r>
            <a:endParaRPr lang="en-US" sz="2800" dirty="0"/>
          </a:p>
        </p:txBody>
      </p:sp>
      <p:sp>
        <p:nvSpPr>
          <p:cNvPr id="4" name="Shape 2"/>
          <p:cNvSpPr/>
          <p:nvPr/>
        </p:nvSpPr>
        <p:spPr>
          <a:xfrm>
            <a:off x="685800" y="1920240"/>
            <a:ext cx="5250028" cy="4335594"/>
          </a:xfrm>
          <a:prstGeom prst="roundRect">
            <a:avLst>
              <a:gd name="adj" fmla="val 192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084832"/>
            <a:ext cx="4792828" cy="36576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Physical examination</a:t>
            </a:r>
            <a:endParaRPr lang="en-US" sz="2000" dirty="0"/>
          </a:p>
        </p:txBody>
      </p:sp>
      <p:sp>
        <p:nvSpPr>
          <p:cNvPr id="6" name="Text 4"/>
          <p:cNvSpPr/>
          <p:nvPr/>
        </p:nvSpPr>
        <p:spPr>
          <a:xfrm>
            <a:off x="914400" y="2514600"/>
            <a:ext cx="4792828" cy="3017520"/>
          </a:xfrm>
          <a:prstGeom prst="rect">
            <a:avLst/>
          </a:prstGeom>
          <a:noFill/>
          <a:ln/>
        </p:spPr>
        <p:txBody>
          <a:bodyPr wrap="square" lIns="0" tIns="0" rIns="0" bIns="0" rtlCol="0" anchor="t"/>
          <a:lstStyle/>
          <a:p>
            <a:pPr marL="0" indent="0">
              <a:lnSpc>
                <a:spcPct val="115000"/>
              </a:lnSpc>
              <a:buNone/>
            </a:pPr>
            <a:r>
              <a:rPr lang="en-US" b="1" dirty="0">
                <a:solidFill>
                  <a:srgbClr val="12406B"/>
                </a:solidFill>
                <a:latin typeface="Calibri" pitchFamily="34" charset="0"/>
                <a:ea typeface="Calibri" pitchFamily="34" charset="-122"/>
                <a:cs typeface="Calibri" pitchFamily="34" charset="-120"/>
              </a:rPr>
              <a:t>General condition: </a:t>
            </a:r>
            <a:r>
              <a:rPr lang="en-US" dirty="0">
                <a:solidFill>
                  <a:srgbClr val="1F3B50"/>
                </a:solidFill>
                <a:latin typeface="Calibri" pitchFamily="34" charset="0"/>
                <a:ea typeface="Calibri" pitchFamily="34" charset="-122"/>
                <a:cs typeface="Calibri" pitchFamily="34" charset="-120"/>
              </a:rPr>
              <a:t>pallor, weight loss, hydration
</a:t>
            </a:r>
            <a:r>
              <a:rPr lang="en-US" b="1" dirty="0">
                <a:solidFill>
                  <a:srgbClr val="12406B"/>
                </a:solidFill>
                <a:latin typeface="Calibri" pitchFamily="34" charset="0"/>
                <a:ea typeface="Calibri" pitchFamily="34" charset="-122"/>
                <a:cs typeface="Calibri" pitchFamily="34" charset="-120"/>
              </a:rPr>
              <a:t>Abdomen: </a:t>
            </a:r>
            <a:r>
              <a:rPr lang="en-US" dirty="0">
                <a:solidFill>
                  <a:srgbClr val="1F3B50"/>
                </a:solidFill>
                <a:latin typeface="Calibri" pitchFamily="34" charset="0"/>
                <a:ea typeface="Calibri" pitchFamily="34" charset="-122"/>
                <a:cs typeface="Calibri" pitchFamily="34" charset="-120"/>
              </a:rPr>
              <a:t>tenderness, mass, or distension
</a:t>
            </a:r>
            <a:r>
              <a:rPr lang="en-US" b="1" dirty="0">
                <a:solidFill>
                  <a:srgbClr val="12406B"/>
                </a:solidFill>
                <a:latin typeface="Calibri" pitchFamily="34" charset="0"/>
                <a:ea typeface="Calibri" pitchFamily="34" charset="-122"/>
                <a:cs typeface="Calibri" pitchFamily="34" charset="-120"/>
              </a:rPr>
              <a:t>Nodes: </a:t>
            </a:r>
            <a:r>
              <a:rPr lang="en-US" dirty="0">
                <a:solidFill>
                  <a:srgbClr val="1F3B50"/>
                </a:solidFill>
                <a:latin typeface="Calibri" pitchFamily="34" charset="0"/>
                <a:ea typeface="Calibri" pitchFamily="34" charset="-122"/>
                <a:cs typeface="Calibri" pitchFamily="34" charset="-120"/>
              </a:rPr>
              <a:t>lymphadenopathy in advanced disease
Examination contributes to assessment but cannot rule gastric cancer in or out by itself.
</a:t>
            </a:r>
            <a:endParaRPr lang="en-US" dirty="0"/>
          </a:p>
        </p:txBody>
      </p:sp>
      <p:sp>
        <p:nvSpPr>
          <p:cNvPr id="7" name="Shape 5"/>
          <p:cNvSpPr/>
          <p:nvPr/>
        </p:nvSpPr>
        <p:spPr>
          <a:xfrm>
            <a:off x="6255868" y="1920240"/>
            <a:ext cx="5250028" cy="4335594"/>
          </a:xfrm>
          <a:prstGeom prst="roundRect">
            <a:avLst>
              <a:gd name="adj" fmla="val 192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6484468" y="2084832"/>
            <a:ext cx="4792828" cy="36576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Laboratory tests</a:t>
            </a:r>
            <a:endParaRPr lang="en-US" sz="2000" dirty="0"/>
          </a:p>
        </p:txBody>
      </p:sp>
      <p:sp>
        <p:nvSpPr>
          <p:cNvPr id="9" name="Text 7"/>
          <p:cNvSpPr/>
          <p:nvPr/>
        </p:nvSpPr>
        <p:spPr>
          <a:xfrm>
            <a:off x="6484468" y="2514600"/>
            <a:ext cx="4792828" cy="3017520"/>
          </a:xfrm>
          <a:prstGeom prst="rect">
            <a:avLst/>
          </a:prstGeom>
          <a:noFill/>
          <a:ln/>
        </p:spPr>
        <p:txBody>
          <a:bodyPr wrap="square" lIns="0" tIns="0" rIns="0" bIns="0" rtlCol="0" anchor="t"/>
          <a:lstStyle/>
          <a:p>
            <a:pPr marL="0" indent="0">
              <a:lnSpc>
                <a:spcPct val="115000"/>
              </a:lnSpc>
              <a:buNone/>
            </a:pPr>
            <a:r>
              <a:rPr lang="en-US" b="1" dirty="0">
                <a:solidFill>
                  <a:srgbClr val="12406B"/>
                </a:solidFill>
                <a:latin typeface="Calibri" pitchFamily="34" charset="0"/>
                <a:ea typeface="Calibri" pitchFamily="34" charset="-122"/>
                <a:cs typeface="Calibri" pitchFamily="34" charset="-120"/>
              </a:rPr>
              <a:t>Complete blood count: </a:t>
            </a:r>
            <a:r>
              <a:rPr lang="en-US" dirty="0">
                <a:solidFill>
                  <a:srgbClr val="1F3B50"/>
                </a:solidFill>
                <a:latin typeface="Calibri" pitchFamily="34" charset="0"/>
                <a:ea typeface="Calibri" pitchFamily="34" charset="-122"/>
                <a:cs typeface="Calibri" pitchFamily="34" charset="-120"/>
              </a:rPr>
              <a:t>assess for anaemia
</a:t>
            </a:r>
            <a:r>
              <a:rPr lang="en-US" b="1" dirty="0">
                <a:solidFill>
                  <a:srgbClr val="12406B"/>
                </a:solidFill>
                <a:latin typeface="Calibri" pitchFamily="34" charset="0"/>
                <a:ea typeface="Calibri" pitchFamily="34" charset="-122"/>
                <a:cs typeface="Calibri" pitchFamily="34" charset="-120"/>
              </a:rPr>
              <a:t>Iron studies: </a:t>
            </a:r>
            <a:r>
              <a:rPr lang="en-US" dirty="0">
                <a:solidFill>
                  <a:srgbClr val="1F3B50"/>
                </a:solidFill>
                <a:latin typeface="Calibri" pitchFamily="34" charset="0"/>
                <a:ea typeface="Calibri" pitchFamily="34" charset="-122"/>
                <a:cs typeface="Calibri" pitchFamily="34" charset="-120"/>
              </a:rPr>
              <a:t>where anaemia needs evaluation
</a:t>
            </a:r>
            <a:r>
              <a:rPr lang="en-US" b="1" dirty="0">
                <a:solidFill>
                  <a:srgbClr val="12406B"/>
                </a:solidFill>
                <a:latin typeface="Calibri" pitchFamily="34" charset="0"/>
                <a:ea typeface="Calibri" pitchFamily="34" charset="-122"/>
                <a:cs typeface="Calibri" pitchFamily="34" charset="-120"/>
              </a:rPr>
              <a:t>Renal and liver function: </a:t>
            </a:r>
            <a:r>
              <a:rPr lang="en-US" dirty="0">
                <a:solidFill>
                  <a:srgbClr val="1F3B50"/>
                </a:solidFill>
                <a:latin typeface="Calibri" pitchFamily="34" charset="0"/>
                <a:ea typeface="Calibri" pitchFamily="34" charset="-122"/>
                <a:cs typeface="Calibri" pitchFamily="34" charset="-120"/>
              </a:rPr>
              <a:t>for overall evaluation and treatment planning
A blood test does not confirm gastric cancer. Results guide the wider assessment.
</a:t>
            </a:r>
            <a:endParaRPr lang="en-US" dirty="0"/>
          </a:p>
        </p:txBody>
      </p:sp>
      <p:sp>
        <p:nvSpPr>
          <p:cNvPr id="10" name="Text 8"/>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3" name="Imagen 12">
            <a:extLst>
              <a:ext uri="{FF2B5EF4-FFF2-40B4-BE49-F238E27FC236}">
                <a16:creationId xmlns:a16="http://schemas.microsoft.com/office/drawing/2014/main" id="{64FB3766-EE1F-014D-5B6B-06DB69538858}"/>
              </a:ext>
            </a:extLst>
          </p:cNvPr>
          <p:cNvPicPr>
            <a:picLocks noChangeAspect="1"/>
          </p:cNvPicPr>
          <p:nvPr/>
        </p:nvPicPr>
        <p:blipFill>
          <a:blip r:embed="rId3"/>
          <a:srcRect/>
          <a:stretch>
            <a:fillRect/>
          </a:stretch>
        </p:blipFill>
        <p:spPr>
          <a:xfrm>
            <a:off x="4515517" y="4883260"/>
            <a:ext cx="1248861" cy="1248861"/>
          </a:xfrm>
          <a:prstGeom prst="rect">
            <a:avLst/>
          </a:prstGeom>
        </p:spPr>
      </p:pic>
      <p:pic>
        <p:nvPicPr>
          <p:cNvPr id="14" name="Imagen 13">
            <a:extLst>
              <a:ext uri="{FF2B5EF4-FFF2-40B4-BE49-F238E27FC236}">
                <a16:creationId xmlns:a16="http://schemas.microsoft.com/office/drawing/2014/main" id="{18B50B54-9718-D8A9-5A8C-50BEADD38597}"/>
              </a:ext>
            </a:extLst>
          </p:cNvPr>
          <p:cNvPicPr>
            <a:picLocks noChangeAspect="1"/>
          </p:cNvPicPr>
          <p:nvPr/>
        </p:nvPicPr>
        <p:blipFill>
          <a:blip r:embed="rId4"/>
          <a:srcRect/>
          <a:stretch>
            <a:fillRect/>
          </a:stretch>
        </p:blipFill>
        <p:spPr>
          <a:xfrm>
            <a:off x="9932405" y="4787230"/>
            <a:ext cx="1344891" cy="1344891"/>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25880"/>
            <a:ext cx="10820095" cy="457200"/>
          </a:xfrm>
          <a:prstGeom prst="rect">
            <a:avLst/>
          </a:prstGeom>
          <a:noFill/>
          <a:ln/>
        </p:spPr>
        <p:txBody>
          <a:bodyPr wrap="square" lIns="0" tIns="0" rIns="0" bIns="0" rtlCol="0" anchor="ctr"/>
          <a:lstStyle/>
          <a:p>
            <a:r>
              <a:rPr lang="en-US" sz="2800" b="1" dirty="0">
                <a:solidFill>
                  <a:srgbClr val="12406B"/>
                </a:solidFill>
                <a:latin typeface="Cambria" pitchFamily="34" charset="0"/>
                <a:ea typeface="Cambria" pitchFamily="34" charset="-122"/>
                <a:cs typeface="Cambria" pitchFamily="34" charset="-120"/>
              </a:rPr>
              <a:t>The diagnostic pathway</a:t>
            </a:r>
            <a:endParaRPr lang="en-US" sz="2800" dirty="0"/>
          </a:p>
        </p:txBody>
      </p:sp>
      <p:sp>
        <p:nvSpPr>
          <p:cNvPr id="4" name="Shape 2"/>
          <p:cNvSpPr/>
          <p:nvPr/>
        </p:nvSpPr>
        <p:spPr>
          <a:xfrm>
            <a:off x="685800" y="1920240"/>
            <a:ext cx="5250028" cy="4313292"/>
          </a:xfrm>
          <a:prstGeom prst="roundRect">
            <a:avLst>
              <a:gd name="adj" fmla="val 192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084832"/>
            <a:ext cx="4792828" cy="36576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Upper Gastro-Intestinal endoscopy</a:t>
            </a:r>
            <a:endParaRPr lang="en-US" sz="2000" dirty="0"/>
          </a:p>
        </p:txBody>
      </p:sp>
      <p:sp>
        <p:nvSpPr>
          <p:cNvPr id="6" name="Text 4"/>
          <p:cNvSpPr/>
          <p:nvPr/>
        </p:nvSpPr>
        <p:spPr>
          <a:xfrm>
            <a:off x="914400" y="2514600"/>
            <a:ext cx="4792828" cy="3017520"/>
          </a:xfrm>
          <a:prstGeom prst="rect">
            <a:avLst/>
          </a:prstGeom>
          <a:noFill/>
          <a:ln/>
        </p:spPr>
        <p:txBody>
          <a:bodyPr wrap="square" lIns="0" tIns="0" rIns="0" bIns="0" rtlCol="0" anchor="t"/>
          <a:lstStyle/>
          <a:p>
            <a:pPr marL="0" indent="0">
              <a:lnSpc>
                <a:spcPct val="115000"/>
              </a:lnSpc>
              <a:buNone/>
            </a:pPr>
            <a:r>
              <a:rPr lang="en-US" dirty="0">
                <a:solidFill>
                  <a:srgbClr val="1F3B50"/>
                </a:solidFill>
                <a:latin typeface="Calibri" pitchFamily="34" charset="0"/>
                <a:ea typeface="Calibri" pitchFamily="34" charset="-122"/>
                <a:cs typeface="Calibri" pitchFamily="34" charset="-120"/>
              </a:rPr>
              <a:t>Directly visualises the oesophagus, stomach, and proximal duodenum.
Identifies suspicious gastric lesions.
Allows biopsy of abnormal areas.
Explain what to expect. Endoscopy is not available at every facility.
</a:t>
            </a:r>
            <a:endParaRPr lang="en-US" dirty="0"/>
          </a:p>
        </p:txBody>
      </p:sp>
      <p:sp>
        <p:nvSpPr>
          <p:cNvPr id="7" name="Shape 5"/>
          <p:cNvSpPr/>
          <p:nvPr/>
        </p:nvSpPr>
        <p:spPr>
          <a:xfrm>
            <a:off x="6255868" y="1920240"/>
            <a:ext cx="5250028" cy="4313292"/>
          </a:xfrm>
          <a:prstGeom prst="roundRect">
            <a:avLst>
              <a:gd name="adj" fmla="val 192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6484468" y="2084832"/>
            <a:ext cx="4792828" cy="36576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Biopsy and histopathology</a:t>
            </a:r>
            <a:endParaRPr lang="en-US" sz="2000" dirty="0"/>
          </a:p>
        </p:txBody>
      </p:sp>
      <p:sp>
        <p:nvSpPr>
          <p:cNvPr id="9" name="Text 7"/>
          <p:cNvSpPr/>
          <p:nvPr/>
        </p:nvSpPr>
        <p:spPr>
          <a:xfrm>
            <a:off x="6484468" y="2514600"/>
            <a:ext cx="4792828" cy="3017520"/>
          </a:xfrm>
          <a:prstGeom prst="rect">
            <a:avLst/>
          </a:prstGeom>
          <a:noFill/>
          <a:ln/>
        </p:spPr>
        <p:txBody>
          <a:bodyPr wrap="square" lIns="0" tIns="0" rIns="0" bIns="0" rtlCol="0" anchor="t"/>
          <a:lstStyle/>
          <a:p>
            <a:pPr marL="0" indent="0">
              <a:lnSpc>
                <a:spcPct val="115000"/>
              </a:lnSpc>
              <a:buNone/>
            </a:pPr>
            <a:r>
              <a:rPr lang="en-US" dirty="0">
                <a:solidFill>
                  <a:srgbClr val="1F3B50"/>
                </a:solidFill>
                <a:latin typeface="Calibri" pitchFamily="34" charset="0"/>
                <a:ea typeface="Calibri" pitchFamily="34" charset="-122"/>
                <a:cs typeface="Calibri" pitchFamily="34" charset="-120"/>
              </a:rPr>
              <a:t>Tissue samples are taken from suspicious areas during endoscopy.
Pathology examines the tissue to confirm whether cancer is present. It identifies the tumor type and contributes to grade and treatment planning.
Biopsy provides the diagnosis. It does not cause cancer to spread.
</a:t>
            </a:r>
            <a:endParaRPr lang="en-US" dirty="0"/>
          </a:p>
        </p:txBody>
      </p:sp>
      <p:sp>
        <p:nvSpPr>
          <p:cNvPr id="10" name="Text 8"/>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4" name="Imagen 13">
            <a:extLst>
              <a:ext uri="{FF2B5EF4-FFF2-40B4-BE49-F238E27FC236}">
                <a16:creationId xmlns:a16="http://schemas.microsoft.com/office/drawing/2014/main" id="{9131A71A-CDCF-2605-D343-6FCA2184F5B8}"/>
              </a:ext>
            </a:extLst>
          </p:cNvPr>
          <p:cNvPicPr>
            <a:picLocks noChangeAspect="1"/>
          </p:cNvPicPr>
          <p:nvPr/>
        </p:nvPicPr>
        <p:blipFill>
          <a:blip r:embed="rId3"/>
          <a:srcRect/>
          <a:stretch>
            <a:fillRect/>
          </a:stretch>
        </p:blipFill>
        <p:spPr>
          <a:xfrm>
            <a:off x="4521945" y="4874966"/>
            <a:ext cx="1185283" cy="1185283"/>
          </a:xfrm>
          <a:prstGeom prst="rect">
            <a:avLst/>
          </a:prstGeom>
        </p:spPr>
      </p:pic>
      <p:pic>
        <p:nvPicPr>
          <p:cNvPr id="15" name="Imagen 14">
            <a:extLst>
              <a:ext uri="{FF2B5EF4-FFF2-40B4-BE49-F238E27FC236}">
                <a16:creationId xmlns:a16="http://schemas.microsoft.com/office/drawing/2014/main" id="{5359D7C1-93CD-678A-9CBF-BDE84AAE9B30}"/>
              </a:ext>
            </a:extLst>
          </p:cNvPr>
          <p:cNvPicPr>
            <a:picLocks noChangeAspect="1"/>
          </p:cNvPicPr>
          <p:nvPr/>
        </p:nvPicPr>
        <p:blipFill>
          <a:blip r:embed="rId4"/>
          <a:srcRect/>
          <a:stretch>
            <a:fillRect/>
          </a:stretch>
        </p:blipFill>
        <p:spPr>
          <a:xfrm>
            <a:off x="9062541" y="5038572"/>
            <a:ext cx="1021677" cy="1021677"/>
          </a:xfrm>
          <a:prstGeom prst="rect">
            <a:avLst/>
          </a:prstGeom>
        </p:spPr>
      </p:pic>
      <p:pic>
        <p:nvPicPr>
          <p:cNvPr id="16" name="Imagen 15">
            <a:extLst>
              <a:ext uri="{FF2B5EF4-FFF2-40B4-BE49-F238E27FC236}">
                <a16:creationId xmlns:a16="http://schemas.microsoft.com/office/drawing/2014/main" id="{FD5512DA-C786-F67E-8077-57181664574F}"/>
              </a:ext>
            </a:extLst>
          </p:cNvPr>
          <p:cNvPicPr>
            <a:picLocks noChangeAspect="1"/>
          </p:cNvPicPr>
          <p:nvPr/>
        </p:nvPicPr>
        <p:blipFill>
          <a:blip r:embed="rId5"/>
          <a:srcRect/>
          <a:stretch>
            <a:fillRect/>
          </a:stretch>
        </p:blipFill>
        <p:spPr>
          <a:xfrm>
            <a:off x="10198518" y="4984804"/>
            <a:ext cx="1075445" cy="107544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sz="3000" b="1">
                <a:solidFill>
                  <a:srgbClr val="12406B"/>
                </a:solidFill>
                <a:latin typeface="Cambria"/>
              </a:rPr>
              <a:t>Imaging, staging, and treatment planning</a:t>
            </a:r>
            <a:endParaRPr lang="en-US" sz="3000" dirty="0"/>
          </a:p>
        </p:txBody>
      </p:sp>
      <p:sp>
        <p:nvSpPr>
          <p:cNvPr id="4" name="Shape 2"/>
          <p:cNvSpPr/>
          <p:nvPr/>
        </p:nvSpPr>
        <p:spPr>
          <a:xfrm>
            <a:off x="685800" y="2011680"/>
            <a:ext cx="5272888" cy="3108960"/>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212848"/>
            <a:ext cx="4870552" cy="457200"/>
          </a:xfrm>
          <a:prstGeom prst="rect">
            <a:avLst/>
          </a:prstGeom>
          <a:noFill/>
          <a:ln/>
        </p:spPr>
        <p:txBody>
          <a:bodyPr wrap="square" lIns="0" tIns="0" rIns="0" bIns="0" rtlCol="0" anchor="t"/>
          <a:lstStyle/>
          <a:p>
            <a:r>
              <a:rPr lang="en-US" sz="2000" b="1" dirty="0">
                <a:solidFill>
                  <a:srgbClr val="12406B"/>
                </a:solidFill>
                <a:latin typeface="Cambria" pitchFamily="34" charset="0"/>
                <a:ea typeface="Cambria" pitchFamily="34" charset="-122"/>
                <a:cs typeface="Cambria" pitchFamily="34" charset="-120"/>
              </a:rPr>
              <a:t>Imaging and staging</a:t>
            </a:r>
            <a:endParaRPr lang="en-US" sz="2000" dirty="0"/>
          </a:p>
        </p:txBody>
      </p:sp>
      <p:sp>
        <p:nvSpPr>
          <p:cNvPr id="6" name="Text 4"/>
          <p:cNvSpPr/>
          <p:nvPr/>
        </p:nvSpPr>
        <p:spPr>
          <a:xfrm>
            <a:off x="886968" y="2615184"/>
            <a:ext cx="4870552" cy="11430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Imaging helps assess local extent, regional lymph nodes, and distant metastases, and supports treatment planning.</a:t>
            </a:r>
            <a:endParaRPr lang="en-US" dirty="0"/>
          </a:p>
        </p:txBody>
      </p:sp>
      <p:sp>
        <p:nvSpPr>
          <p:cNvPr id="7" name="Shape 5"/>
          <p:cNvSpPr/>
          <p:nvPr/>
        </p:nvSpPr>
        <p:spPr>
          <a:xfrm>
            <a:off x="6233008" y="2011680"/>
            <a:ext cx="5272888" cy="3108960"/>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6434176" y="2212848"/>
            <a:ext cx="487055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Treatment planning</a:t>
            </a:r>
            <a:endParaRPr lang="en-US" sz="2000" dirty="0"/>
          </a:p>
        </p:txBody>
      </p:sp>
      <p:sp>
        <p:nvSpPr>
          <p:cNvPr id="9" name="Text 7"/>
          <p:cNvSpPr/>
          <p:nvPr/>
        </p:nvSpPr>
        <p:spPr>
          <a:xfrm>
            <a:off x="6434176" y="2615184"/>
            <a:ext cx="4870552" cy="1143000"/>
          </a:xfrm>
          <a:prstGeom prst="rect">
            <a:avLst/>
          </a:prstGeom>
          <a:noFill/>
          <a:ln/>
        </p:spPr>
        <p:txBody>
          <a:bodyPr wrap="square" lIns="0" tIns="0" rIns="0" bIns="0" rtlCol="0" anchor="t"/>
          <a:lstStyle/>
          <a:p>
            <a:pPr marL="0" indent="0">
              <a:lnSpc>
                <a:spcPct val="100000"/>
              </a:lnSpc>
              <a:buNone/>
            </a:pPr>
            <a:r>
              <a:rPr lang="en-US" b="1" dirty="0">
                <a:solidFill>
                  <a:srgbClr val="1F3B50"/>
                </a:solidFill>
                <a:latin typeface="Calibri" pitchFamily="34" charset="0"/>
                <a:ea typeface="Calibri" pitchFamily="34" charset="-122"/>
                <a:cs typeface="Calibri" pitchFamily="34" charset="-120"/>
              </a:rPr>
              <a:t>Set by: </a:t>
            </a:r>
            <a:r>
              <a:rPr lang="en-US" dirty="0">
                <a:solidFill>
                  <a:srgbClr val="1F3B50"/>
                </a:solidFill>
                <a:latin typeface="Calibri" pitchFamily="34" charset="0"/>
                <a:ea typeface="Calibri" pitchFamily="34" charset="-122"/>
                <a:cs typeface="Calibri" pitchFamily="34" charset="-120"/>
              </a:rPr>
              <a:t>specialist team, after biopsy and staging.</a:t>
            </a:r>
          </a:p>
          <a:p>
            <a:pPr marL="0" indent="0">
              <a:lnSpc>
                <a:spcPct val="100000"/>
              </a:lnSpc>
              <a:buNone/>
            </a:pPr>
            <a:r>
              <a:rPr lang="en-US" b="1" dirty="0">
                <a:solidFill>
                  <a:srgbClr val="1F3B50"/>
                </a:solidFill>
                <a:latin typeface="Calibri" pitchFamily="34" charset="0"/>
                <a:ea typeface="Calibri" pitchFamily="34" charset="-122"/>
                <a:cs typeface="Calibri" pitchFamily="34" charset="-120"/>
              </a:rPr>
              <a:t>Guided by: </a:t>
            </a:r>
            <a:r>
              <a:rPr lang="en-US" dirty="0">
                <a:solidFill>
                  <a:srgbClr val="1F3B50"/>
                </a:solidFill>
                <a:latin typeface="Calibri" pitchFamily="34" charset="0"/>
                <a:ea typeface="Calibri" pitchFamily="34" charset="-122"/>
                <a:cs typeface="Calibri" pitchFamily="34" charset="-120"/>
              </a:rPr>
              <a:t>stage, grade, biomarkers, patient fitness.</a:t>
            </a:r>
          </a:p>
          <a:p>
            <a:pPr marL="0" indent="0">
              <a:lnSpc>
                <a:spcPct val="100000"/>
              </a:lnSpc>
              <a:buNone/>
            </a:pPr>
            <a:r>
              <a:rPr lang="en-US" b="1" dirty="0" err="1">
                <a:solidFill>
                  <a:srgbClr val="1F3B50"/>
                </a:solidFill>
                <a:latin typeface="Calibri" pitchFamily="34" charset="0"/>
                <a:ea typeface="Calibri" pitchFamily="34" charset="-122"/>
                <a:cs typeface="Calibri" pitchFamily="34" charset="-120"/>
              </a:rPr>
              <a:t>Resectable</a:t>
            </a:r>
            <a:r>
              <a:rPr lang="en-US" b="1" dirty="0">
                <a:solidFill>
                  <a:srgbClr val="1F3B50"/>
                </a:solidFill>
                <a:latin typeface="Calibri" pitchFamily="34" charset="0"/>
                <a:ea typeface="Calibri" pitchFamily="34" charset="-122"/>
                <a:cs typeface="Calibri" pitchFamily="34" charset="-120"/>
              </a:rPr>
              <a:t>: </a:t>
            </a:r>
            <a:r>
              <a:rPr lang="en-US" dirty="0">
                <a:solidFill>
                  <a:srgbClr val="1F3B50"/>
                </a:solidFill>
                <a:latin typeface="Calibri" pitchFamily="34" charset="0"/>
                <a:ea typeface="Calibri" pitchFamily="34" charset="-122"/>
                <a:cs typeface="Calibri" pitchFamily="34" charset="-120"/>
              </a:rPr>
              <a:t>gastrectomy + lymphadenectomy, often peri-operative chemotherapy.</a:t>
            </a:r>
          </a:p>
          <a:p>
            <a:pPr marL="0" indent="0">
              <a:lnSpc>
                <a:spcPct val="100000"/>
              </a:lnSpc>
              <a:buNone/>
            </a:pPr>
            <a:r>
              <a:rPr lang="en-US" b="1" dirty="0">
                <a:solidFill>
                  <a:srgbClr val="1F3B50"/>
                </a:solidFill>
                <a:latin typeface="Calibri" pitchFamily="34" charset="0"/>
                <a:ea typeface="Calibri" pitchFamily="34" charset="-122"/>
                <a:cs typeface="Calibri" pitchFamily="34" charset="-120"/>
              </a:rPr>
              <a:t>Advanced: </a:t>
            </a:r>
            <a:r>
              <a:rPr lang="en-US" dirty="0">
                <a:solidFill>
                  <a:srgbClr val="1F3B50"/>
                </a:solidFill>
                <a:latin typeface="Calibri" pitchFamily="34" charset="0"/>
                <a:ea typeface="Calibri" pitchFamily="34" charset="-122"/>
                <a:cs typeface="Calibri" pitchFamily="34" charset="-120"/>
              </a:rPr>
              <a:t>systemic therapy + palliative care.</a:t>
            </a:r>
          </a:p>
          <a:p>
            <a:pPr marL="0" indent="0">
              <a:lnSpc>
                <a:spcPct val="100000"/>
              </a:lnSpc>
              <a:buNone/>
            </a:pPr>
            <a:r>
              <a:rPr lang="en-US" b="1" dirty="0">
                <a:solidFill>
                  <a:srgbClr val="1F3B50"/>
                </a:solidFill>
                <a:latin typeface="Calibri" pitchFamily="34" charset="0"/>
                <a:ea typeface="Calibri" pitchFamily="34" charset="-122"/>
                <a:cs typeface="Calibri" pitchFamily="34" charset="-120"/>
              </a:rPr>
              <a:t>Frontline HCP: </a:t>
            </a:r>
            <a:r>
              <a:rPr lang="en-US" dirty="0">
                <a:solidFill>
                  <a:srgbClr val="1F3B50"/>
                </a:solidFill>
                <a:latin typeface="Calibri" pitchFamily="34" charset="0"/>
                <a:ea typeface="Calibri" pitchFamily="34" charset="-122"/>
                <a:cs typeface="Calibri" pitchFamily="34" charset="-120"/>
              </a:rPr>
              <a:t>explain and support, not select.</a:t>
            </a:r>
          </a:p>
        </p:txBody>
      </p:sp>
      <p:sp>
        <p:nvSpPr>
          <p:cNvPr id="12" name="Text 1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5" name="Imagen 14">
            <a:extLst>
              <a:ext uri="{FF2B5EF4-FFF2-40B4-BE49-F238E27FC236}">
                <a16:creationId xmlns:a16="http://schemas.microsoft.com/office/drawing/2014/main" id="{3A13A61F-7CBF-DEA1-17C6-8464F2B08454}"/>
              </a:ext>
            </a:extLst>
          </p:cNvPr>
          <p:cNvPicPr>
            <a:picLocks noChangeAspect="1"/>
          </p:cNvPicPr>
          <p:nvPr/>
        </p:nvPicPr>
        <p:blipFill>
          <a:blip r:embed="rId3"/>
          <a:srcRect/>
          <a:stretch>
            <a:fillRect/>
          </a:stretch>
        </p:blipFill>
        <p:spPr>
          <a:xfrm>
            <a:off x="4392706" y="3664386"/>
            <a:ext cx="1364814" cy="1364814"/>
          </a:xfrm>
          <a:prstGeom prst="rect">
            <a:avLst/>
          </a:prstGeom>
        </p:spPr>
      </p:pic>
      <p:pic>
        <p:nvPicPr>
          <p:cNvPr id="16" name="Imagen 15">
            <a:extLst>
              <a:ext uri="{FF2B5EF4-FFF2-40B4-BE49-F238E27FC236}">
                <a16:creationId xmlns:a16="http://schemas.microsoft.com/office/drawing/2014/main" id="{A5DEB7B3-DB44-BD4B-0890-B667339F4FD0}"/>
              </a:ext>
            </a:extLst>
          </p:cNvPr>
          <p:cNvPicPr>
            <a:picLocks noChangeAspect="1"/>
          </p:cNvPicPr>
          <p:nvPr/>
        </p:nvPicPr>
        <p:blipFill>
          <a:blip r:embed="rId4"/>
          <a:srcRect/>
          <a:stretch>
            <a:fillRect/>
          </a:stretch>
        </p:blipFill>
        <p:spPr>
          <a:xfrm>
            <a:off x="9914964" y="3689280"/>
            <a:ext cx="1339919" cy="1339919"/>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25880"/>
            <a:ext cx="10820095" cy="457200"/>
          </a:xfrm>
          <a:prstGeom prst="rect">
            <a:avLst/>
          </a:prstGeom>
          <a:noFill/>
          <a:ln/>
        </p:spPr>
        <p:txBody>
          <a:bodyPr wrap="square" lIns="0" tIns="0" rIns="0" bIns="0" rtlCol="0" anchor="ctr"/>
          <a:lstStyle/>
          <a:p>
            <a:pPr marL="0" indent="0">
              <a:buNone/>
            </a:pPr>
            <a:r>
              <a:rPr lang="en-US" sz="2700" b="1" dirty="0">
                <a:solidFill>
                  <a:srgbClr val="12406B"/>
                </a:solidFill>
                <a:latin typeface="Cambria" pitchFamily="34" charset="0"/>
                <a:ea typeface="Cambria" pitchFamily="34" charset="-122"/>
                <a:cs typeface="Cambria" pitchFamily="34" charset="-120"/>
              </a:rPr>
              <a:t>Treatment overview</a:t>
            </a:r>
            <a:endParaRPr lang="en-US" sz="2700" dirty="0"/>
          </a:p>
        </p:txBody>
      </p:sp>
      <p:sp>
        <p:nvSpPr>
          <p:cNvPr id="4" name="Shape 2"/>
          <p:cNvSpPr/>
          <p:nvPr/>
        </p:nvSpPr>
        <p:spPr>
          <a:xfrm>
            <a:off x="685800" y="1920239"/>
            <a:ext cx="5250028" cy="4211619"/>
          </a:xfrm>
          <a:prstGeom prst="roundRect">
            <a:avLst>
              <a:gd name="adj" fmla="val 1928"/>
            </a:avLst>
          </a:prstGeom>
          <a:solidFill>
            <a:srgbClr val="EBF3FC"/>
          </a:solidFill>
          <a:ln w="12700">
            <a:solidFill>
              <a:srgbClr val="D3E4F5"/>
            </a:solidFill>
            <a:prstDash val="solid"/>
          </a:ln>
        </p:spPr>
        <p:txBody>
          <a:bodyPr/>
          <a:lstStyle/>
          <a:p>
            <a:endParaRPr lang="en-US" sz="2400" dirty="0"/>
          </a:p>
        </p:txBody>
      </p:sp>
      <p:sp>
        <p:nvSpPr>
          <p:cNvPr id="5" name="Text 3"/>
          <p:cNvSpPr/>
          <p:nvPr/>
        </p:nvSpPr>
        <p:spPr>
          <a:xfrm>
            <a:off x="914400" y="2084832"/>
            <a:ext cx="4792828" cy="365760"/>
          </a:xfrm>
          <a:prstGeom prst="rect">
            <a:avLst/>
          </a:prstGeom>
          <a:noFill/>
          <a:ln/>
        </p:spPr>
        <p:txBody>
          <a:bodyPr wrap="square" lIns="0" tIns="0" rIns="0" bIns="0" rtlCol="0" anchor="ctr"/>
          <a:lstStyle/>
          <a:p>
            <a:pPr marL="0" indent="0">
              <a:buNone/>
            </a:pPr>
            <a:r>
              <a:rPr lang="en-US" b="1" dirty="0">
                <a:solidFill>
                  <a:srgbClr val="12406B"/>
                </a:solidFill>
                <a:latin typeface="Cambria" pitchFamily="34" charset="0"/>
                <a:ea typeface="Cambria" pitchFamily="34" charset="-122"/>
                <a:cs typeface="Cambria" pitchFamily="34" charset="-120"/>
              </a:rPr>
              <a:t>Surgery</a:t>
            </a:r>
            <a:endParaRPr lang="en-US" dirty="0"/>
          </a:p>
        </p:txBody>
      </p:sp>
      <p:sp>
        <p:nvSpPr>
          <p:cNvPr id="6" name="Text 4"/>
          <p:cNvSpPr/>
          <p:nvPr/>
        </p:nvSpPr>
        <p:spPr>
          <a:xfrm>
            <a:off x="914400" y="2514600"/>
            <a:ext cx="3360572" cy="3017520"/>
          </a:xfrm>
          <a:prstGeom prst="rect">
            <a:avLst/>
          </a:prstGeom>
          <a:noFill/>
          <a:ln/>
        </p:spPr>
        <p:txBody>
          <a:bodyPr wrap="square" lIns="0" tIns="0" rIns="0" bIns="0" rtlCol="0" anchor="t"/>
          <a:lstStyle/>
          <a:p>
            <a:pPr marL="0" indent="0">
              <a:lnSpc>
                <a:spcPct val="115000"/>
              </a:lnSpc>
              <a:buNone/>
            </a:pPr>
            <a:r>
              <a:rPr lang="en-US" dirty="0">
                <a:solidFill>
                  <a:srgbClr val="1F3B50"/>
                </a:solidFill>
                <a:latin typeface="Calibri" pitchFamily="34" charset="0"/>
                <a:ea typeface="Calibri" pitchFamily="34" charset="-122"/>
                <a:cs typeface="Calibri" pitchFamily="34" charset="-120"/>
              </a:rPr>
              <a:t>Removes part or all of the stomach depending on tumor location and extent, with appropriate regional lymph nodes.
A local or locoregional treatment; suitability depends on stage and patient factors.
</a:t>
            </a:r>
            <a:r>
              <a:rPr lang="en-US" b="1" dirty="0">
                <a:solidFill>
                  <a:srgbClr val="12406B"/>
                </a:solidFill>
                <a:latin typeface="Calibri" pitchFamily="34" charset="0"/>
                <a:ea typeface="Calibri" pitchFamily="34" charset="-122"/>
                <a:cs typeface="Calibri" pitchFamily="34" charset="-120"/>
              </a:rPr>
              <a:t>Implications: </a:t>
            </a:r>
            <a:r>
              <a:rPr lang="en-US" dirty="0">
                <a:solidFill>
                  <a:srgbClr val="1F3B50"/>
                </a:solidFill>
                <a:latin typeface="Calibri" pitchFamily="34" charset="0"/>
                <a:ea typeface="Calibri" pitchFamily="34" charset="-122"/>
                <a:cs typeface="Calibri" pitchFamily="34" charset="-120"/>
              </a:rPr>
              <a:t>reduced stomach capacity, changed eating patterns, nutritional consequences, and recovery needs.
</a:t>
            </a:r>
            <a:endParaRPr lang="en-US" dirty="0"/>
          </a:p>
        </p:txBody>
      </p:sp>
      <p:sp>
        <p:nvSpPr>
          <p:cNvPr id="7" name="Shape 5"/>
          <p:cNvSpPr/>
          <p:nvPr/>
        </p:nvSpPr>
        <p:spPr>
          <a:xfrm>
            <a:off x="6255868" y="1920239"/>
            <a:ext cx="5250028" cy="4211619"/>
          </a:xfrm>
          <a:prstGeom prst="roundRect">
            <a:avLst>
              <a:gd name="adj" fmla="val 1928"/>
            </a:avLst>
          </a:prstGeom>
          <a:solidFill>
            <a:srgbClr val="EBF3FC"/>
          </a:solidFill>
          <a:ln w="12700">
            <a:solidFill>
              <a:srgbClr val="D3E4F5"/>
            </a:solidFill>
            <a:prstDash val="solid"/>
          </a:ln>
        </p:spPr>
        <p:txBody>
          <a:bodyPr/>
          <a:lstStyle/>
          <a:p>
            <a:endParaRPr lang="en-US" sz="2400" dirty="0"/>
          </a:p>
        </p:txBody>
      </p:sp>
      <p:sp>
        <p:nvSpPr>
          <p:cNvPr id="8" name="Text 6"/>
          <p:cNvSpPr/>
          <p:nvPr/>
        </p:nvSpPr>
        <p:spPr>
          <a:xfrm>
            <a:off x="6484468" y="2084832"/>
            <a:ext cx="4792828" cy="365760"/>
          </a:xfrm>
          <a:prstGeom prst="rect">
            <a:avLst/>
          </a:prstGeom>
          <a:noFill/>
          <a:ln/>
        </p:spPr>
        <p:txBody>
          <a:bodyPr wrap="square" lIns="0" tIns="0" rIns="0" bIns="0" rtlCol="0" anchor="ctr"/>
          <a:lstStyle/>
          <a:p>
            <a:pPr marL="0" indent="0">
              <a:buNone/>
            </a:pPr>
            <a:r>
              <a:rPr lang="en-US" b="1" dirty="0">
                <a:solidFill>
                  <a:srgbClr val="12406B"/>
                </a:solidFill>
                <a:latin typeface="Cambria" pitchFamily="34" charset="0"/>
                <a:ea typeface="Cambria" pitchFamily="34" charset="-122"/>
                <a:cs typeface="Cambria" pitchFamily="34" charset="-120"/>
              </a:rPr>
              <a:t>Radiotherapy</a:t>
            </a:r>
            <a:endParaRPr lang="en-US" dirty="0"/>
          </a:p>
        </p:txBody>
      </p:sp>
      <p:sp>
        <p:nvSpPr>
          <p:cNvPr id="9" name="Text 7"/>
          <p:cNvSpPr/>
          <p:nvPr/>
        </p:nvSpPr>
        <p:spPr>
          <a:xfrm>
            <a:off x="6484468" y="2514600"/>
            <a:ext cx="3040532" cy="3017520"/>
          </a:xfrm>
          <a:prstGeom prst="rect">
            <a:avLst/>
          </a:prstGeom>
          <a:noFill/>
          <a:ln/>
        </p:spPr>
        <p:txBody>
          <a:bodyPr wrap="square" lIns="0" tIns="0" rIns="0" bIns="0" rtlCol="0" anchor="t"/>
          <a:lstStyle/>
          <a:p>
            <a:pPr marL="0" indent="0">
              <a:lnSpc>
                <a:spcPct val="115000"/>
              </a:lnSpc>
              <a:buNone/>
            </a:pPr>
            <a:r>
              <a:rPr lang="en-US" dirty="0">
                <a:solidFill>
                  <a:srgbClr val="1F3B50"/>
                </a:solidFill>
                <a:latin typeface="Calibri" pitchFamily="34" charset="0"/>
                <a:ea typeface="Calibri" pitchFamily="34" charset="-122"/>
                <a:cs typeface="Calibri" pitchFamily="34" charset="-120"/>
              </a:rPr>
              <a:t>Uses ionizing radiation to damage DNA in cancer cells so they cannot keep dividing.
A local or locoregional treatment.
Its role depends on the clinical situation and overall strategy; it is not used identically for every patient.
</a:t>
            </a:r>
            <a:endParaRPr lang="en-US" dirty="0"/>
          </a:p>
        </p:txBody>
      </p:sp>
      <p:sp>
        <p:nvSpPr>
          <p:cNvPr id="10" name="Text 8"/>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1" name="Text 9"/>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5" name="Imagen 14">
            <a:extLst>
              <a:ext uri="{FF2B5EF4-FFF2-40B4-BE49-F238E27FC236}">
                <a16:creationId xmlns:a16="http://schemas.microsoft.com/office/drawing/2014/main" id="{1E04BA61-B513-7A3F-B6B7-084CF5451658}"/>
              </a:ext>
            </a:extLst>
          </p:cNvPr>
          <p:cNvPicPr>
            <a:picLocks noChangeAspect="1"/>
          </p:cNvPicPr>
          <p:nvPr/>
        </p:nvPicPr>
        <p:blipFill>
          <a:blip r:embed="rId3"/>
          <a:srcRect/>
          <a:stretch>
            <a:fillRect/>
          </a:stretch>
        </p:blipFill>
        <p:spPr>
          <a:xfrm>
            <a:off x="9753600" y="2084832"/>
            <a:ext cx="1701142" cy="1701142"/>
          </a:xfrm>
          <a:prstGeom prst="rect">
            <a:avLst/>
          </a:prstGeom>
        </p:spPr>
      </p:pic>
      <p:pic>
        <p:nvPicPr>
          <p:cNvPr id="13" name="Imagen 12">
            <a:extLst>
              <a:ext uri="{FF2B5EF4-FFF2-40B4-BE49-F238E27FC236}">
                <a16:creationId xmlns:a16="http://schemas.microsoft.com/office/drawing/2014/main" id="{8D0C0D85-D60A-292E-8638-D2C6EABD253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68" b="89952" l="9968" r="90112">
                        <a14:foregroundMark x1="32695" y1="12600" x2="18501" y2="23126"/>
                        <a14:foregroundMark x1="18501" y1="23126" x2="12201" y2="36842"/>
                        <a14:foregroundMark x1="12201" y1="36842" x2="10526" y2="57177"/>
                        <a14:foregroundMark x1="10526" y1="57177" x2="11802" y2="64593"/>
                        <a14:foregroundMark x1="34618" y1="85887" x2="36922" y2="88038"/>
                        <a14:foregroundMark x1="11802" y1="64593" x2="15600" y2="68138"/>
                        <a14:foregroundMark x1="36922" y1="88038" x2="44099" y2="90590"/>
                        <a14:foregroundMark x1="44099" y1="90590" x2="60447" y2="89394"/>
                        <a14:foregroundMark x1="60447" y1="89394" x2="74960" y2="83732"/>
                        <a14:foregroundMark x1="85662" y1="64351" x2="86762" y2="62360"/>
                        <a14:foregroundMark x1="74960" y1="83732" x2="82665" y2="69779"/>
                        <a14:foregroundMark x1="88271" y1="54851" x2="90112" y2="45694"/>
                        <a14:foregroundMark x1="86762" y1="62360" x2="87152" y2="60421"/>
                        <a14:foregroundMark x1="90112" y1="45694" x2="86124" y2="28788"/>
                        <a14:foregroundMark x1="86124" y1="28788" x2="81045" y2="24928"/>
                        <a14:foregroundMark x1="41211" y1="10606" x2="32217" y2="13317"/>
                        <a14:foregroundMark x1="42505" y1="10216" x2="41211" y2="10606"/>
                        <a14:backgroundMark x1="36284" y1="14514" x2="32616" y2="21372"/>
                        <a14:backgroundMark x1="32616" y1="21372" x2="17145" y2="36204"/>
                        <a14:backgroundMark x1="17145" y1="36204" x2="17065" y2="46172"/>
                        <a14:backgroundMark x1="17065" y1="46172" x2="21691" y2="51754"/>
                        <a14:backgroundMark x1="21691" y1="51754" x2="29027" y2="50797"/>
                        <a14:backgroundMark x1="29027" y1="50797" x2="36124" y2="51994"/>
                        <a14:backgroundMark x1="36124" y1="51994" x2="40271" y2="45614"/>
                        <a14:backgroundMark x1="40271" y1="45614" x2="41308" y2="18501"/>
                        <a14:backgroundMark x1="41308" y1="18501" x2="35805" y2="15789"/>
                        <a14:backgroundMark x1="77512" y1="46411" x2="71531" y2="50718"/>
                        <a14:backgroundMark x1="71531" y1="50718" x2="68660" y2="57416"/>
                        <a14:backgroundMark x1="68660" y1="57416" x2="68262" y2="66427"/>
                        <a14:backgroundMark x1="68262" y1="66427" x2="75598" y2="68102"/>
                        <a14:backgroundMark x1="75598" y1="68102" x2="83493" y2="53429"/>
                        <a14:backgroundMark x1="83493" y1="53429" x2="77113" y2="27671"/>
                        <a14:backgroundMark x1="77113" y1="27671" x2="72089" y2="20096"/>
                        <a14:backgroundMark x1="72089" y1="20096" x2="48884" y2="15550"/>
                        <a14:backgroundMark x1="48884" y1="15550" x2="67544" y2="25040"/>
                        <a14:backgroundMark x1="67544" y1="25040" x2="70255" y2="32616"/>
                        <a14:backgroundMark x1="70255" y1="32616" x2="69856" y2="41308"/>
                        <a14:backgroundMark x1="69856" y1="41308" x2="72329" y2="48884"/>
                        <a14:backgroundMark x1="85646" y1="49362" x2="85247" y2="56380"/>
                        <a14:backgroundMark x1="85247" y1="56380" x2="78549" y2="71292"/>
                        <a14:backgroundMark x1="78549" y1="71292" x2="82935" y2="64434"/>
                        <a14:backgroundMark x1="82935" y1="64434" x2="82935" y2="64434"/>
                        <a14:backgroundMark x1="85646" y1="50797" x2="82935" y2="65470"/>
                        <a14:backgroundMark x1="82935" y1="65470" x2="80223" y2="69378"/>
                        <a14:backgroundMark x1="86443" y1="49601" x2="87081" y2="56778"/>
                        <a14:backgroundMark x1="87081" y1="56778" x2="82217" y2="69617"/>
                        <a14:backgroundMark x1="40989" y1="11802" x2="65710" y2="15152"/>
                        <a14:backgroundMark x1="65710" y1="15152" x2="71930" y2="18820"/>
                        <a14:backgroundMark x1="71930" y1="18820" x2="73365" y2="20494"/>
                        <a14:backgroundMark x1="57257" y1="11563" x2="42743" y2="10606"/>
                        <a14:backgroundMark x1="42743" y1="10606" x2="42743" y2="10606"/>
                        <a14:backgroundMark x1="73844" y1="19219" x2="81021" y2="26874"/>
                        <a14:backgroundMark x1="16268" y1="67624" x2="31180" y2="83014"/>
                        <a14:backgroundMark x1="31180" y1="83014" x2="35088" y2="85407"/>
                      </a14:backgroundRemoval>
                    </a14:imgEffect>
                  </a14:imgLayer>
                </a14:imgProps>
              </a:ext>
            </a:extLst>
          </a:blip>
          <a:stretch>
            <a:fillRect/>
          </a:stretch>
        </p:blipFill>
        <p:spPr>
          <a:xfrm>
            <a:off x="4088382" y="1914862"/>
            <a:ext cx="1938886" cy="1938886"/>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25880"/>
            <a:ext cx="10820095" cy="457200"/>
          </a:xfrm>
          <a:prstGeom prst="rect">
            <a:avLst/>
          </a:prstGeom>
          <a:noFill/>
          <a:ln/>
        </p:spPr>
        <p:txBody>
          <a:bodyPr wrap="square" lIns="0" tIns="0" rIns="0" bIns="0" rtlCol="0" anchor="ctr"/>
          <a:lstStyle/>
          <a:p>
            <a:pPr marL="0" indent="0">
              <a:buNone/>
            </a:pPr>
            <a:r>
              <a:rPr lang="en-US" sz="2700" b="1" dirty="0">
                <a:solidFill>
                  <a:srgbClr val="12406B"/>
                </a:solidFill>
                <a:latin typeface="Cambria" pitchFamily="34" charset="0"/>
                <a:ea typeface="Cambria" pitchFamily="34" charset="-122"/>
                <a:cs typeface="Cambria" pitchFamily="34" charset="-120"/>
              </a:rPr>
              <a:t>Systemic treatment</a:t>
            </a:r>
            <a:endParaRPr lang="en-US" sz="2700" dirty="0"/>
          </a:p>
        </p:txBody>
      </p:sp>
      <p:sp>
        <p:nvSpPr>
          <p:cNvPr id="4" name="Shape 2"/>
          <p:cNvSpPr/>
          <p:nvPr/>
        </p:nvSpPr>
        <p:spPr>
          <a:xfrm>
            <a:off x="685800" y="1920240"/>
            <a:ext cx="5250028" cy="3794760"/>
          </a:xfrm>
          <a:prstGeom prst="roundRect">
            <a:avLst>
              <a:gd name="adj" fmla="val 192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084832"/>
            <a:ext cx="4792828" cy="36576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Chemotherapy</a:t>
            </a:r>
            <a:endParaRPr lang="en-US" sz="2000" dirty="0"/>
          </a:p>
        </p:txBody>
      </p:sp>
      <p:sp>
        <p:nvSpPr>
          <p:cNvPr id="6" name="Text 4"/>
          <p:cNvSpPr/>
          <p:nvPr/>
        </p:nvSpPr>
        <p:spPr>
          <a:xfrm>
            <a:off x="914400" y="2514600"/>
            <a:ext cx="3245224" cy="3017520"/>
          </a:xfrm>
          <a:prstGeom prst="rect">
            <a:avLst/>
          </a:prstGeom>
          <a:noFill/>
          <a:ln/>
        </p:spPr>
        <p:txBody>
          <a:bodyPr wrap="square" lIns="0" tIns="0" rIns="0" bIns="0" rtlCol="0" anchor="t"/>
          <a:lstStyle/>
          <a:p>
            <a:pPr marL="0" indent="0">
              <a:lnSpc>
                <a:spcPct val="115000"/>
              </a:lnSpc>
              <a:buNone/>
            </a:pPr>
            <a:r>
              <a:rPr lang="en-US" dirty="0">
                <a:solidFill>
                  <a:srgbClr val="1F3B50"/>
                </a:solidFill>
                <a:latin typeface="Calibri" pitchFamily="34" charset="0"/>
                <a:ea typeface="Calibri" pitchFamily="34" charset="-122"/>
                <a:cs typeface="Calibri" pitchFamily="34" charset="-120"/>
              </a:rPr>
              <a:t>Systemic treatment using cytotoxic medicines that interfere with cancer-cell growth and division.
Can also affect normal rapidly dividing cells, causing side effects.
May be used before, after, or around surgery, or for advanced disease, depending on the strategy.
</a:t>
            </a:r>
            <a:endParaRPr lang="en-US" dirty="0"/>
          </a:p>
        </p:txBody>
      </p:sp>
      <p:sp>
        <p:nvSpPr>
          <p:cNvPr id="7" name="Shape 5"/>
          <p:cNvSpPr/>
          <p:nvPr/>
        </p:nvSpPr>
        <p:spPr>
          <a:xfrm>
            <a:off x="6255868" y="1920240"/>
            <a:ext cx="5250028" cy="3794760"/>
          </a:xfrm>
          <a:prstGeom prst="roundRect">
            <a:avLst>
              <a:gd name="adj" fmla="val 192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6484468" y="2084832"/>
            <a:ext cx="3412567" cy="365760"/>
          </a:xfrm>
          <a:prstGeom prst="rect">
            <a:avLst/>
          </a:prstGeom>
          <a:noFill/>
          <a:ln/>
        </p:spPr>
        <p:txBody>
          <a:bodyPr wrap="square" lIns="0" tIns="0" rIns="0" bIns="0" rtlCol="0" anchor="ctr"/>
          <a:lstStyle/>
          <a:p>
            <a:pPr marL="0" indent="0">
              <a:buNone/>
            </a:pPr>
            <a:r>
              <a:rPr lang="en-US" sz="2000" b="1" dirty="0">
                <a:solidFill>
                  <a:srgbClr val="12406B"/>
                </a:solidFill>
                <a:latin typeface="Cambria" pitchFamily="34" charset="0"/>
                <a:ea typeface="Cambria" pitchFamily="34" charset="-122"/>
                <a:cs typeface="Cambria" pitchFamily="34" charset="-120"/>
              </a:rPr>
              <a:t>Targeted therapy and immunotherapy</a:t>
            </a:r>
            <a:endParaRPr lang="en-US" sz="2000" dirty="0"/>
          </a:p>
        </p:txBody>
      </p:sp>
      <p:sp>
        <p:nvSpPr>
          <p:cNvPr id="9" name="Text 7"/>
          <p:cNvSpPr/>
          <p:nvPr/>
        </p:nvSpPr>
        <p:spPr>
          <a:xfrm>
            <a:off x="6484468" y="2675961"/>
            <a:ext cx="3125697" cy="3017520"/>
          </a:xfrm>
          <a:prstGeom prst="rect">
            <a:avLst/>
          </a:prstGeom>
          <a:noFill/>
          <a:ln/>
        </p:spPr>
        <p:txBody>
          <a:bodyPr wrap="square" lIns="0" tIns="0" rIns="0" bIns="0" rtlCol="0" anchor="t"/>
          <a:lstStyle/>
          <a:p>
            <a:pPr marL="0" indent="0">
              <a:lnSpc>
                <a:spcPct val="115000"/>
              </a:lnSpc>
              <a:buNone/>
            </a:pPr>
            <a:r>
              <a:rPr lang="en-US" b="1" dirty="0">
                <a:solidFill>
                  <a:srgbClr val="12406B"/>
                </a:solidFill>
                <a:latin typeface="Calibri" pitchFamily="34" charset="0"/>
                <a:ea typeface="Calibri" pitchFamily="34" charset="-122"/>
                <a:cs typeface="Calibri" pitchFamily="34" charset="-120"/>
              </a:rPr>
              <a:t>Targeted therapy: </a:t>
            </a:r>
            <a:r>
              <a:rPr lang="en-US" dirty="0">
                <a:solidFill>
                  <a:srgbClr val="1F3B50"/>
                </a:solidFill>
                <a:latin typeface="Calibri" pitchFamily="34" charset="0"/>
                <a:ea typeface="Calibri" pitchFamily="34" charset="-122"/>
                <a:cs typeface="Calibri" pitchFamily="34" charset="-120"/>
              </a:rPr>
              <a:t>acts on specific molecular features when a relevant biomarker is present.
</a:t>
            </a:r>
            <a:r>
              <a:rPr lang="en-US" b="1" dirty="0">
                <a:solidFill>
                  <a:srgbClr val="12406B"/>
                </a:solidFill>
                <a:latin typeface="Calibri" pitchFamily="34" charset="0"/>
                <a:ea typeface="Calibri" pitchFamily="34" charset="-122"/>
                <a:cs typeface="Calibri" pitchFamily="34" charset="-120"/>
              </a:rPr>
              <a:t>Immunotherapy: </a:t>
            </a:r>
            <a:r>
              <a:rPr lang="en-US" dirty="0">
                <a:solidFill>
                  <a:srgbClr val="1F3B50"/>
                </a:solidFill>
                <a:latin typeface="Calibri" pitchFamily="34" charset="0"/>
                <a:ea typeface="Calibri" pitchFamily="34" charset="-122"/>
                <a:cs typeface="Calibri" pitchFamily="34" charset="-120"/>
              </a:rPr>
              <a:t>modifies immune responses so the immune system can recognise cancer; used in selected cases.
Both depend on biomarker testing and specialist assessment.
</a:t>
            </a:r>
            <a:endParaRPr lang="en-US" dirty="0"/>
          </a:p>
        </p:txBody>
      </p:sp>
      <p:sp>
        <p:nvSpPr>
          <p:cNvPr id="10" name="Text 8"/>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1" name="Text 9"/>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4" name="Imagen 13">
            <a:extLst>
              <a:ext uri="{FF2B5EF4-FFF2-40B4-BE49-F238E27FC236}">
                <a16:creationId xmlns:a16="http://schemas.microsoft.com/office/drawing/2014/main" id="{738F1F97-D162-B76D-A1EA-96C97525CF00}"/>
              </a:ext>
            </a:extLst>
          </p:cNvPr>
          <p:cNvPicPr>
            <a:picLocks noChangeAspect="1"/>
          </p:cNvPicPr>
          <p:nvPr/>
        </p:nvPicPr>
        <p:blipFill>
          <a:blip r:embed="rId3"/>
          <a:srcRect/>
          <a:stretch>
            <a:fillRect/>
          </a:stretch>
        </p:blipFill>
        <p:spPr>
          <a:xfrm>
            <a:off x="4290209" y="2005406"/>
            <a:ext cx="1515034" cy="1515034"/>
          </a:xfrm>
          <a:prstGeom prst="rect">
            <a:avLst/>
          </a:prstGeom>
        </p:spPr>
      </p:pic>
      <p:pic>
        <p:nvPicPr>
          <p:cNvPr id="15" name="Imagen 14">
            <a:extLst>
              <a:ext uri="{FF2B5EF4-FFF2-40B4-BE49-F238E27FC236}">
                <a16:creationId xmlns:a16="http://schemas.microsoft.com/office/drawing/2014/main" id="{9701CCC1-11AE-A723-B279-F0F0939A1F51}"/>
              </a:ext>
            </a:extLst>
          </p:cNvPr>
          <p:cNvPicPr>
            <a:picLocks noChangeAspect="1"/>
          </p:cNvPicPr>
          <p:nvPr/>
        </p:nvPicPr>
        <p:blipFill>
          <a:blip r:embed="rId4"/>
          <a:srcRect/>
          <a:stretch>
            <a:fillRect/>
          </a:stretch>
        </p:blipFill>
        <p:spPr>
          <a:xfrm>
            <a:off x="9838765" y="2084832"/>
            <a:ext cx="1532965" cy="153296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Observation and surveillance</a:t>
            </a:r>
            <a:endParaRPr lang="en-US" sz="3000" dirty="0"/>
          </a:p>
        </p:txBody>
      </p:sp>
      <p:sp>
        <p:nvSpPr>
          <p:cNvPr id="4" name="Shape 2"/>
          <p:cNvSpPr/>
          <p:nvPr/>
        </p:nvSpPr>
        <p:spPr>
          <a:xfrm>
            <a:off x="685800" y="2011679"/>
            <a:ext cx="5272888" cy="3111163"/>
          </a:xfrm>
          <a:prstGeom prst="roundRect">
            <a:avLst>
              <a:gd name="adj" fmla="val 4103"/>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487055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Surveillance of premalignant conditions</a:t>
            </a:r>
            <a:endParaRPr lang="en-US" sz="2000" dirty="0"/>
          </a:p>
        </p:txBody>
      </p:sp>
      <p:sp>
        <p:nvSpPr>
          <p:cNvPr id="6" name="Text 4"/>
          <p:cNvSpPr/>
          <p:nvPr/>
        </p:nvSpPr>
        <p:spPr>
          <a:xfrm>
            <a:off x="886968" y="2560320"/>
            <a:ext cx="4870552" cy="12344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Certain premalignant gastric conditions may be followed with planned surveillance according to risk and specialist guidance.</a:t>
            </a:r>
            <a:endParaRPr lang="en-US" dirty="0"/>
          </a:p>
        </p:txBody>
      </p:sp>
      <p:sp>
        <p:nvSpPr>
          <p:cNvPr id="7" name="Shape 5"/>
          <p:cNvSpPr/>
          <p:nvPr/>
        </p:nvSpPr>
        <p:spPr>
          <a:xfrm>
            <a:off x="6233008" y="2011679"/>
            <a:ext cx="5272888" cy="3111163"/>
          </a:xfrm>
          <a:prstGeom prst="roundRect">
            <a:avLst>
              <a:gd name="adj" fmla="val 4103"/>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6434176" y="2157984"/>
            <a:ext cx="487055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Not the same as leaving cancer untreated</a:t>
            </a:r>
            <a:endParaRPr lang="en-US" sz="2000" dirty="0"/>
          </a:p>
        </p:txBody>
      </p:sp>
      <p:sp>
        <p:nvSpPr>
          <p:cNvPr id="9" name="Text 7"/>
          <p:cNvSpPr/>
          <p:nvPr/>
        </p:nvSpPr>
        <p:spPr>
          <a:xfrm>
            <a:off x="6434176" y="2560320"/>
            <a:ext cx="4870552" cy="123444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Confirmed invasive gastric cancer is not routinely monitored without treatment. Observation has a defined, limited role.</a:t>
            </a:r>
            <a:endParaRPr lang="en-US" dirty="0"/>
          </a:p>
        </p:txBody>
      </p:sp>
      <p:sp>
        <p:nvSpPr>
          <p:cNvPr id="12" name="Text 1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5" name="Imagen 14">
            <a:extLst>
              <a:ext uri="{FF2B5EF4-FFF2-40B4-BE49-F238E27FC236}">
                <a16:creationId xmlns:a16="http://schemas.microsoft.com/office/drawing/2014/main" id="{D5B1E175-ACEF-3952-5703-57247F8B3FCE}"/>
              </a:ext>
            </a:extLst>
          </p:cNvPr>
          <p:cNvPicPr>
            <a:picLocks noChangeAspect="1"/>
          </p:cNvPicPr>
          <p:nvPr/>
        </p:nvPicPr>
        <p:blipFill>
          <a:blip r:embed="rId3"/>
          <a:srcRect/>
          <a:stretch>
            <a:fillRect/>
          </a:stretch>
        </p:blipFill>
        <p:spPr>
          <a:xfrm>
            <a:off x="4209031" y="3464150"/>
            <a:ext cx="1548489" cy="1548489"/>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What each treatment does</a:t>
            </a:r>
            <a:endParaRPr lang="en-US" sz="3000" dirty="0"/>
          </a:p>
        </p:txBody>
      </p:sp>
      <p:sp>
        <p:nvSpPr>
          <p:cNvPr id="4" name="Shape 2"/>
          <p:cNvSpPr/>
          <p:nvPr/>
        </p:nvSpPr>
        <p:spPr>
          <a:xfrm>
            <a:off x="685800" y="1965959"/>
            <a:ext cx="3423818" cy="1826705"/>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Surgery</a:t>
            </a:r>
            <a:endParaRPr lang="en-US" sz="2000" dirty="0"/>
          </a:p>
        </p:txBody>
      </p:sp>
      <p:sp>
        <p:nvSpPr>
          <p:cNvPr id="6" name="Text 4"/>
          <p:cNvSpPr/>
          <p:nvPr/>
        </p:nvSpPr>
        <p:spPr>
          <a:xfrm>
            <a:off x="886968" y="2514600"/>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Removes local cancer, with regional lymph nodes.</a:t>
            </a:r>
            <a:endParaRPr lang="en-US" dirty="0"/>
          </a:p>
        </p:txBody>
      </p:sp>
      <p:sp>
        <p:nvSpPr>
          <p:cNvPr id="7" name="Shape 5"/>
          <p:cNvSpPr/>
          <p:nvPr/>
        </p:nvSpPr>
        <p:spPr>
          <a:xfrm>
            <a:off x="4383938" y="1965959"/>
            <a:ext cx="3423818" cy="1826705"/>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Radiotherapy</a:t>
            </a:r>
            <a:endParaRPr lang="en-US" sz="2000" dirty="0"/>
          </a:p>
        </p:txBody>
      </p:sp>
      <p:sp>
        <p:nvSpPr>
          <p:cNvPr id="9" name="Text 7"/>
          <p:cNvSpPr/>
          <p:nvPr/>
        </p:nvSpPr>
        <p:spPr>
          <a:xfrm>
            <a:off x="4585106" y="2514600"/>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Damages cancer-cell DNA locally or locoregionally.</a:t>
            </a:r>
            <a:endParaRPr lang="en-US" dirty="0"/>
          </a:p>
        </p:txBody>
      </p:sp>
      <p:sp>
        <p:nvSpPr>
          <p:cNvPr id="10" name="Shape 8"/>
          <p:cNvSpPr/>
          <p:nvPr/>
        </p:nvSpPr>
        <p:spPr>
          <a:xfrm>
            <a:off x="8082077" y="1965959"/>
            <a:ext cx="3423818" cy="1826705"/>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Chemotherapy</a:t>
            </a:r>
            <a:endParaRPr lang="en-US" sz="2000" dirty="0"/>
          </a:p>
        </p:txBody>
      </p:sp>
      <p:sp>
        <p:nvSpPr>
          <p:cNvPr id="12" name="Text 10"/>
          <p:cNvSpPr/>
          <p:nvPr/>
        </p:nvSpPr>
        <p:spPr>
          <a:xfrm>
            <a:off x="8283245" y="2514600"/>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Interferes with cancer-cell growth and division, systemically.</a:t>
            </a:r>
            <a:endParaRPr lang="en-US" dirty="0"/>
          </a:p>
        </p:txBody>
      </p:sp>
      <p:sp>
        <p:nvSpPr>
          <p:cNvPr id="13" name="Shape 11"/>
          <p:cNvSpPr/>
          <p:nvPr/>
        </p:nvSpPr>
        <p:spPr>
          <a:xfrm>
            <a:off x="685800" y="3990200"/>
            <a:ext cx="3423818" cy="1826705"/>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4136505"/>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Targeted therapy</a:t>
            </a:r>
            <a:endParaRPr lang="en-US" sz="2000" dirty="0"/>
          </a:p>
        </p:txBody>
      </p:sp>
      <p:sp>
        <p:nvSpPr>
          <p:cNvPr id="15" name="Text 13"/>
          <p:cNvSpPr/>
          <p:nvPr/>
        </p:nvSpPr>
        <p:spPr>
          <a:xfrm>
            <a:off x="886968" y="4538841"/>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Acts on a molecular target when one is present.</a:t>
            </a:r>
            <a:endParaRPr lang="en-US" dirty="0"/>
          </a:p>
        </p:txBody>
      </p:sp>
      <p:sp>
        <p:nvSpPr>
          <p:cNvPr id="16" name="Shape 14"/>
          <p:cNvSpPr/>
          <p:nvPr/>
        </p:nvSpPr>
        <p:spPr>
          <a:xfrm>
            <a:off x="4383938" y="3990200"/>
            <a:ext cx="3423818" cy="1826705"/>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4136505"/>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Immunotherapy</a:t>
            </a:r>
            <a:endParaRPr lang="en-US" sz="2000" dirty="0"/>
          </a:p>
        </p:txBody>
      </p:sp>
      <p:sp>
        <p:nvSpPr>
          <p:cNvPr id="18" name="Text 16"/>
          <p:cNvSpPr/>
          <p:nvPr/>
        </p:nvSpPr>
        <p:spPr>
          <a:xfrm>
            <a:off x="4585106" y="4538841"/>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Modifies immune responses against the cancer.</a:t>
            </a:r>
            <a:endParaRPr lang="en-US" dirty="0"/>
          </a:p>
        </p:txBody>
      </p:sp>
      <p:sp>
        <p:nvSpPr>
          <p:cNvPr id="19" name="Shape 17"/>
          <p:cNvSpPr/>
          <p:nvPr/>
        </p:nvSpPr>
        <p:spPr>
          <a:xfrm>
            <a:off x="8082077" y="3990200"/>
            <a:ext cx="3423818" cy="1826705"/>
          </a:xfrm>
          <a:prstGeom prst="roundRect">
            <a:avLst>
              <a:gd name="adj" fmla="val 5333"/>
            </a:avLst>
          </a:prstGeom>
          <a:solidFill>
            <a:srgbClr val="EBF3FC"/>
          </a:solidFill>
          <a:ln w="12700">
            <a:solidFill>
              <a:srgbClr val="D3E4F5"/>
            </a:solidFill>
            <a:prstDash val="solid"/>
          </a:ln>
        </p:spPr>
        <p:txBody>
          <a:bodyPr/>
          <a:lstStyle/>
          <a:p>
            <a:endParaRPr lang="en-US" sz="2800" dirty="0"/>
          </a:p>
        </p:txBody>
      </p:sp>
      <p:sp>
        <p:nvSpPr>
          <p:cNvPr id="20" name="Text 18"/>
          <p:cNvSpPr/>
          <p:nvPr/>
        </p:nvSpPr>
        <p:spPr>
          <a:xfrm>
            <a:off x="8283245" y="4136505"/>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Availability</a:t>
            </a:r>
            <a:endParaRPr lang="en-US" sz="2000" dirty="0"/>
          </a:p>
        </p:txBody>
      </p:sp>
      <p:sp>
        <p:nvSpPr>
          <p:cNvPr id="21" name="Text 19"/>
          <p:cNvSpPr/>
          <p:nvPr/>
        </p:nvSpPr>
        <p:spPr>
          <a:xfrm>
            <a:off x="8283245" y="4538841"/>
            <a:ext cx="3021482" cy="8229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Access to biomarker testing and newer therapies must be confirmed for Rwanda.</a:t>
            </a:r>
            <a:endParaRPr lang="en-US" dirty="0"/>
          </a:p>
        </p:txBody>
      </p:sp>
      <p:sp>
        <p:nvSpPr>
          <p:cNvPr id="22" name="Text 2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Common misconceptions</a:t>
            </a:r>
            <a:endParaRPr lang="en-US" sz="3000" dirty="0"/>
          </a:p>
        </p:txBody>
      </p:sp>
      <p:sp>
        <p:nvSpPr>
          <p:cNvPr id="4" name="Shape 2"/>
          <p:cNvSpPr/>
          <p:nvPr/>
        </p:nvSpPr>
        <p:spPr>
          <a:xfrm>
            <a:off x="685800" y="1965959"/>
            <a:ext cx="3423818" cy="1683381"/>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 Dyspepsia means cancer</a:t>
            </a:r>
            <a:endParaRPr lang="en-US" sz="2000" dirty="0"/>
          </a:p>
        </p:txBody>
      </p:sp>
      <p:sp>
        <p:nvSpPr>
          <p:cNvPr id="6" name="Text 4"/>
          <p:cNvSpPr/>
          <p:nvPr/>
        </p:nvSpPr>
        <p:spPr>
          <a:xfrm>
            <a:off x="886968" y="2734940"/>
            <a:ext cx="3021482" cy="9144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False. Indigestion has many causes; persistent or alarm features need assessment.</a:t>
            </a:r>
            <a:endParaRPr lang="en-US" dirty="0"/>
          </a:p>
        </p:txBody>
      </p:sp>
      <p:sp>
        <p:nvSpPr>
          <p:cNvPr id="7" name="Shape 5"/>
          <p:cNvSpPr/>
          <p:nvPr/>
        </p:nvSpPr>
        <p:spPr>
          <a:xfrm>
            <a:off x="4383938" y="1965959"/>
            <a:ext cx="3423818" cy="1683381"/>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 </a:t>
            </a:r>
            <a:r>
              <a:rPr lang="en-US" sz="2000" b="1" i="1" dirty="0">
                <a:solidFill>
                  <a:srgbClr val="12406B"/>
                </a:solidFill>
                <a:latin typeface="Cambria" pitchFamily="34" charset="0"/>
                <a:ea typeface="Cambria" pitchFamily="34" charset="-122"/>
                <a:cs typeface="Cambria" pitchFamily="34" charset="-120"/>
              </a:rPr>
              <a:t>H. pylori </a:t>
            </a:r>
            <a:r>
              <a:rPr lang="en-US" sz="2000" b="1" dirty="0">
                <a:solidFill>
                  <a:srgbClr val="12406B"/>
                </a:solidFill>
                <a:latin typeface="Cambria" pitchFamily="34" charset="0"/>
                <a:ea typeface="Cambria" pitchFamily="34" charset="-122"/>
                <a:cs typeface="Cambria" pitchFamily="34" charset="-120"/>
              </a:rPr>
              <a:t>means cancer</a:t>
            </a:r>
            <a:endParaRPr lang="en-US" sz="2000" dirty="0"/>
          </a:p>
        </p:txBody>
      </p:sp>
      <p:sp>
        <p:nvSpPr>
          <p:cNvPr id="9" name="Text 7"/>
          <p:cNvSpPr/>
          <p:nvPr/>
        </p:nvSpPr>
        <p:spPr>
          <a:xfrm>
            <a:off x="4585106" y="2514600"/>
            <a:ext cx="3021482" cy="9144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False. It raises risk, but most infected people never develop cancer.</a:t>
            </a:r>
            <a:endParaRPr lang="en-US" dirty="0"/>
          </a:p>
        </p:txBody>
      </p:sp>
      <p:sp>
        <p:nvSpPr>
          <p:cNvPr id="10" name="Shape 8"/>
          <p:cNvSpPr/>
          <p:nvPr/>
        </p:nvSpPr>
        <p:spPr>
          <a:xfrm>
            <a:off x="8082077" y="1965959"/>
            <a:ext cx="3423818" cy="1683381"/>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 No symptoms means no cancer</a:t>
            </a:r>
            <a:endParaRPr lang="en-US" sz="2000" dirty="0"/>
          </a:p>
        </p:txBody>
      </p:sp>
      <p:sp>
        <p:nvSpPr>
          <p:cNvPr id="12" name="Text 10"/>
          <p:cNvSpPr/>
          <p:nvPr/>
        </p:nvSpPr>
        <p:spPr>
          <a:xfrm>
            <a:off x="8283245" y="2734940"/>
            <a:ext cx="3021482" cy="9144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False. Early gastric cancer is often silent.</a:t>
            </a:r>
            <a:endParaRPr lang="en-US" dirty="0"/>
          </a:p>
        </p:txBody>
      </p:sp>
      <p:sp>
        <p:nvSpPr>
          <p:cNvPr id="13" name="Shape 11"/>
          <p:cNvSpPr/>
          <p:nvPr/>
        </p:nvSpPr>
        <p:spPr>
          <a:xfrm>
            <a:off x="685800" y="4054712"/>
            <a:ext cx="3423818" cy="2080028"/>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4201017"/>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 A premalignant lesion is cancer</a:t>
            </a:r>
            <a:endParaRPr lang="en-US" sz="2000" dirty="0"/>
          </a:p>
        </p:txBody>
      </p:sp>
      <p:sp>
        <p:nvSpPr>
          <p:cNvPr id="15" name="Text 13"/>
          <p:cNvSpPr/>
          <p:nvPr/>
        </p:nvSpPr>
        <p:spPr>
          <a:xfrm>
            <a:off x="886968" y="4845727"/>
            <a:ext cx="3021482" cy="9144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False. It is an increased-risk change, not confirmed cancer.</a:t>
            </a:r>
            <a:endParaRPr lang="en-US" dirty="0"/>
          </a:p>
        </p:txBody>
      </p:sp>
      <p:sp>
        <p:nvSpPr>
          <p:cNvPr id="16" name="Shape 14"/>
          <p:cNvSpPr/>
          <p:nvPr/>
        </p:nvSpPr>
        <p:spPr>
          <a:xfrm>
            <a:off x="4383938" y="4054712"/>
            <a:ext cx="3423818" cy="2080028"/>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4201017"/>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 Biopsy spreads cancer</a:t>
            </a:r>
            <a:endParaRPr lang="en-US" sz="2000" dirty="0"/>
          </a:p>
        </p:txBody>
      </p:sp>
      <p:sp>
        <p:nvSpPr>
          <p:cNvPr id="18" name="Text 16"/>
          <p:cNvSpPr/>
          <p:nvPr/>
        </p:nvSpPr>
        <p:spPr>
          <a:xfrm>
            <a:off x="4585106" y="4603353"/>
            <a:ext cx="3021482" cy="914400"/>
          </a:xfrm>
          <a:prstGeom prst="rect">
            <a:avLst/>
          </a:prstGeom>
          <a:noFill/>
          <a:ln/>
        </p:spPr>
        <p:txBody>
          <a:bodyPr wrap="square" lIns="0" tIns="0" rIns="0" bIns="0" rtlCol="0" anchor="t"/>
          <a:lstStyle/>
          <a:p>
            <a:r>
              <a:rPr lang="en-US" dirty="0">
                <a:solidFill>
                  <a:srgbClr val="1F3B50"/>
                </a:solidFill>
                <a:latin typeface="Calibri" pitchFamily="34" charset="0"/>
                <a:ea typeface="Calibri" pitchFamily="34" charset="-122"/>
                <a:cs typeface="Calibri" pitchFamily="34" charset="-120"/>
              </a:rPr>
              <a:t>False. Biopsy is essential for cancer diagnosis. Cancer spread has nothing to do with taking</a:t>
            </a:r>
          </a:p>
          <a:p>
            <a:r>
              <a:rPr lang="en-US" dirty="0">
                <a:solidFill>
                  <a:srgbClr val="1F3B50"/>
                </a:solidFill>
                <a:latin typeface="Calibri" pitchFamily="34" charset="0"/>
                <a:ea typeface="Calibri" pitchFamily="34" charset="-122"/>
                <a:cs typeface="Calibri" pitchFamily="34" charset="-120"/>
              </a:rPr>
              <a:t>small tissue samples.</a:t>
            </a:r>
            <a:endParaRPr lang="en-US" dirty="0"/>
          </a:p>
        </p:txBody>
      </p:sp>
      <p:sp>
        <p:nvSpPr>
          <p:cNvPr id="19" name="Shape 17"/>
          <p:cNvSpPr/>
          <p:nvPr/>
        </p:nvSpPr>
        <p:spPr>
          <a:xfrm>
            <a:off x="8082077" y="4054712"/>
            <a:ext cx="3423818" cy="2080028"/>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20" name="Text 18"/>
          <p:cNvSpPr/>
          <p:nvPr/>
        </p:nvSpPr>
        <p:spPr>
          <a:xfrm>
            <a:off x="8283245" y="4201017"/>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 Diagnosis means one fixed treatment</a:t>
            </a:r>
            <a:endParaRPr lang="en-US" sz="2000" dirty="0"/>
          </a:p>
        </p:txBody>
      </p:sp>
      <p:sp>
        <p:nvSpPr>
          <p:cNvPr id="21" name="Text 19"/>
          <p:cNvSpPr/>
          <p:nvPr/>
        </p:nvSpPr>
        <p:spPr>
          <a:xfrm>
            <a:off x="8283245" y="4790642"/>
            <a:ext cx="3021482" cy="9144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False. Treatment depends on stage and the person.</a:t>
            </a:r>
            <a:endParaRPr lang="en-US" dirty="0"/>
          </a:p>
        </p:txBody>
      </p:sp>
      <p:sp>
        <p:nvSpPr>
          <p:cNvPr id="22" name="Text 20"/>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Match the clue to the next step</a:t>
            </a:r>
            <a:endParaRPr lang="en-US" sz="3000" dirty="0"/>
          </a:p>
        </p:txBody>
      </p:sp>
      <p:sp>
        <p:nvSpPr>
          <p:cNvPr id="4" name="Text 2"/>
          <p:cNvSpPr/>
          <p:nvPr/>
        </p:nvSpPr>
        <p:spPr>
          <a:xfrm>
            <a:off x="685800" y="1783080"/>
            <a:ext cx="10820095" cy="365760"/>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In the module this is an interactive matching activity. The correct pairing is shown here.</a:t>
            </a:r>
            <a:endParaRPr lang="en-US" sz="1250" dirty="0"/>
          </a:p>
        </p:txBody>
      </p:sp>
      <p:sp>
        <p:nvSpPr>
          <p:cNvPr id="5" name="Shape 3"/>
          <p:cNvSpPr/>
          <p:nvPr/>
        </p:nvSpPr>
        <p:spPr>
          <a:xfrm>
            <a:off x="685800" y="2377440"/>
            <a:ext cx="4846320" cy="566928"/>
          </a:xfrm>
          <a:prstGeom prst="roundRect">
            <a:avLst>
              <a:gd name="adj" fmla="val 8065"/>
            </a:avLst>
          </a:prstGeom>
          <a:solidFill>
            <a:srgbClr val="EBF3FC"/>
          </a:solidFill>
          <a:ln w="12700">
            <a:solidFill>
              <a:srgbClr val="D3E4F5"/>
            </a:solidFill>
            <a:prstDash val="solid"/>
          </a:ln>
        </p:spPr>
        <p:txBody>
          <a:bodyPr/>
          <a:lstStyle/>
          <a:p>
            <a:endParaRPr lang="en-US" sz="2800" dirty="0"/>
          </a:p>
        </p:txBody>
      </p:sp>
      <p:sp>
        <p:nvSpPr>
          <p:cNvPr id="6" name="Text 4"/>
          <p:cNvSpPr/>
          <p:nvPr/>
        </p:nvSpPr>
        <p:spPr>
          <a:xfrm>
            <a:off x="868680" y="2377440"/>
            <a:ext cx="44805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Persistent dyspepsia with weight loss</a:t>
            </a:r>
            <a:endParaRPr lang="en-US" dirty="0"/>
          </a:p>
        </p:txBody>
      </p:sp>
      <p:sp>
        <p:nvSpPr>
          <p:cNvPr id="7" name="Text 5"/>
          <p:cNvSpPr/>
          <p:nvPr/>
        </p:nvSpPr>
        <p:spPr>
          <a:xfrm>
            <a:off x="5532120" y="2377440"/>
            <a:ext cx="548640" cy="566928"/>
          </a:xfrm>
          <a:prstGeom prst="rect">
            <a:avLst/>
          </a:prstGeom>
          <a:noFill/>
          <a:ln/>
        </p:spPr>
        <p:txBody>
          <a:bodyPr wrap="square" lIns="0" tIns="0" rIns="0" bIns="0" rtlCol="0" anchor="ctr"/>
          <a:lstStyle/>
          <a:p>
            <a:pPr marL="0" indent="0" algn="ctr">
              <a:buNone/>
            </a:pPr>
            <a:r>
              <a:rPr lang="en-US" sz="2000" b="1" dirty="0">
                <a:solidFill>
                  <a:srgbClr val="1C6FB1"/>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6080760" y="2377440"/>
            <a:ext cx="4846320" cy="566928"/>
          </a:xfrm>
          <a:prstGeom prst="roundRect">
            <a:avLst>
              <a:gd name="adj" fmla="val 8065"/>
            </a:avLst>
          </a:prstGeom>
          <a:solidFill>
            <a:srgbClr val="E6F4EB"/>
          </a:solidFill>
          <a:ln w="12700">
            <a:solidFill>
              <a:srgbClr val="9BCFA6"/>
            </a:solidFill>
            <a:prstDash val="solid"/>
          </a:ln>
        </p:spPr>
        <p:txBody>
          <a:bodyPr/>
          <a:lstStyle/>
          <a:p>
            <a:endParaRPr lang="en-US" sz="2800" dirty="0"/>
          </a:p>
        </p:txBody>
      </p:sp>
      <p:sp>
        <p:nvSpPr>
          <p:cNvPr id="9" name="Text 7"/>
          <p:cNvSpPr/>
          <p:nvPr/>
        </p:nvSpPr>
        <p:spPr>
          <a:xfrm>
            <a:off x="6263640" y="2377440"/>
            <a:ext cx="4480560" cy="56692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Prompt referral for endoscopic assessment</a:t>
            </a:r>
            <a:endParaRPr lang="en-US" dirty="0"/>
          </a:p>
        </p:txBody>
      </p:sp>
      <p:sp>
        <p:nvSpPr>
          <p:cNvPr id="10" name="Shape 8"/>
          <p:cNvSpPr/>
          <p:nvPr/>
        </p:nvSpPr>
        <p:spPr>
          <a:xfrm>
            <a:off x="685800" y="3072384"/>
            <a:ext cx="4846320" cy="566928"/>
          </a:xfrm>
          <a:prstGeom prst="roundRect">
            <a:avLst>
              <a:gd name="adj" fmla="val 8065"/>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68680" y="3072384"/>
            <a:ext cx="44805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Ongoing hematemesis with blood loss</a:t>
            </a:r>
            <a:endParaRPr lang="en-US" dirty="0"/>
          </a:p>
        </p:txBody>
      </p:sp>
      <p:sp>
        <p:nvSpPr>
          <p:cNvPr id="12" name="Text 10"/>
          <p:cNvSpPr/>
          <p:nvPr/>
        </p:nvSpPr>
        <p:spPr>
          <a:xfrm>
            <a:off x="5532120" y="3072384"/>
            <a:ext cx="548640" cy="566928"/>
          </a:xfrm>
          <a:prstGeom prst="rect">
            <a:avLst/>
          </a:prstGeom>
          <a:noFill/>
          <a:ln/>
        </p:spPr>
        <p:txBody>
          <a:bodyPr wrap="square" lIns="0" tIns="0" rIns="0" bIns="0" rtlCol="0" anchor="ctr"/>
          <a:lstStyle/>
          <a:p>
            <a:pPr marL="0" indent="0" algn="ctr">
              <a:buNone/>
            </a:pPr>
            <a:r>
              <a:rPr lang="en-US" sz="2000" b="1" dirty="0">
                <a:solidFill>
                  <a:srgbClr val="1C6FB1"/>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6080760" y="3072384"/>
            <a:ext cx="4846320" cy="566928"/>
          </a:xfrm>
          <a:prstGeom prst="roundRect">
            <a:avLst>
              <a:gd name="adj" fmla="val 8065"/>
            </a:avLst>
          </a:prstGeom>
          <a:solidFill>
            <a:srgbClr val="E6F4EB"/>
          </a:solidFill>
          <a:ln w="12700">
            <a:solidFill>
              <a:srgbClr val="9BCFA6"/>
            </a:solidFill>
            <a:prstDash val="solid"/>
          </a:ln>
        </p:spPr>
        <p:txBody>
          <a:bodyPr/>
          <a:lstStyle/>
          <a:p>
            <a:endParaRPr lang="en-US" sz="2800" dirty="0"/>
          </a:p>
        </p:txBody>
      </p:sp>
      <p:sp>
        <p:nvSpPr>
          <p:cNvPr id="14" name="Text 12"/>
          <p:cNvSpPr/>
          <p:nvPr/>
        </p:nvSpPr>
        <p:spPr>
          <a:xfrm>
            <a:off x="6263640" y="3072384"/>
            <a:ext cx="4480560" cy="56692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Urgent / emergency referral</a:t>
            </a:r>
            <a:endParaRPr lang="en-US" dirty="0"/>
          </a:p>
        </p:txBody>
      </p:sp>
      <p:sp>
        <p:nvSpPr>
          <p:cNvPr id="15" name="Shape 13"/>
          <p:cNvSpPr/>
          <p:nvPr/>
        </p:nvSpPr>
        <p:spPr>
          <a:xfrm>
            <a:off x="685800" y="3767328"/>
            <a:ext cx="4846320" cy="566928"/>
          </a:xfrm>
          <a:prstGeom prst="roundRect">
            <a:avLst>
              <a:gd name="adj" fmla="val 8065"/>
            </a:avLst>
          </a:prstGeom>
          <a:solidFill>
            <a:srgbClr val="EBF3FC"/>
          </a:solidFill>
          <a:ln w="12700">
            <a:solidFill>
              <a:srgbClr val="D3E4F5"/>
            </a:solidFill>
            <a:prstDash val="solid"/>
          </a:ln>
        </p:spPr>
        <p:txBody>
          <a:bodyPr/>
          <a:lstStyle/>
          <a:p>
            <a:endParaRPr lang="en-US" sz="2800" dirty="0"/>
          </a:p>
        </p:txBody>
      </p:sp>
      <p:sp>
        <p:nvSpPr>
          <p:cNvPr id="16" name="Text 14"/>
          <p:cNvSpPr/>
          <p:nvPr/>
        </p:nvSpPr>
        <p:spPr>
          <a:xfrm>
            <a:off x="868680" y="3767328"/>
            <a:ext cx="44805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Known intestinal metaplasia</a:t>
            </a:r>
            <a:endParaRPr lang="en-US" dirty="0"/>
          </a:p>
        </p:txBody>
      </p:sp>
      <p:sp>
        <p:nvSpPr>
          <p:cNvPr id="17" name="Text 15"/>
          <p:cNvSpPr/>
          <p:nvPr/>
        </p:nvSpPr>
        <p:spPr>
          <a:xfrm>
            <a:off x="5532120" y="3767328"/>
            <a:ext cx="548640" cy="566928"/>
          </a:xfrm>
          <a:prstGeom prst="rect">
            <a:avLst/>
          </a:prstGeom>
          <a:noFill/>
          <a:ln/>
        </p:spPr>
        <p:txBody>
          <a:bodyPr wrap="square" lIns="0" tIns="0" rIns="0" bIns="0" rtlCol="0" anchor="ctr"/>
          <a:lstStyle/>
          <a:p>
            <a:pPr marL="0" indent="0" algn="ctr">
              <a:buNone/>
            </a:pPr>
            <a:r>
              <a:rPr lang="en-US" sz="2000" b="1" dirty="0">
                <a:solidFill>
                  <a:srgbClr val="1C6FB1"/>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6080760" y="3767328"/>
            <a:ext cx="4846320" cy="566928"/>
          </a:xfrm>
          <a:prstGeom prst="roundRect">
            <a:avLst>
              <a:gd name="adj" fmla="val 8065"/>
            </a:avLst>
          </a:prstGeom>
          <a:solidFill>
            <a:srgbClr val="E6F4EB"/>
          </a:solidFill>
          <a:ln w="12700">
            <a:solidFill>
              <a:srgbClr val="9BCFA6"/>
            </a:solidFill>
            <a:prstDash val="solid"/>
          </a:ln>
        </p:spPr>
        <p:txBody>
          <a:bodyPr/>
          <a:lstStyle/>
          <a:p>
            <a:endParaRPr lang="en-US" sz="2800" dirty="0"/>
          </a:p>
        </p:txBody>
      </p:sp>
      <p:sp>
        <p:nvSpPr>
          <p:cNvPr id="19" name="Text 17"/>
          <p:cNvSpPr/>
          <p:nvPr/>
        </p:nvSpPr>
        <p:spPr>
          <a:xfrm>
            <a:off x="6263640" y="3767328"/>
            <a:ext cx="4480560" cy="56692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Surveillance per specialist guidance</a:t>
            </a:r>
            <a:endParaRPr lang="en-US" dirty="0"/>
          </a:p>
        </p:txBody>
      </p:sp>
      <p:sp>
        <p:nvSpPr>
          <p:cNvPr id="20" name="Shape 18"/>
          <p:cNvSpPr/>
          <p:nvPr/>
        </p:nvSpPr>
        <p:spPr>
          <a:xfrm>
            <a:off x="685800" y="4462272"/>
            <a:ext cx="4846320" cy="566928"/>
          </a:xfrm>
          <a:prstGeom prst="roundRect">
            <a:avLst>
              <a:gd name="adj" fmla="val 8065"/>
            </a:avLst>
          </a:prstGeom>
          <a:solidFill>
            <a:srgbClr val="EBF3FC"/>
          </a:solidFill>
          <a:ln w="12700">
            <a:solidFill>
              <a:srgbClr val="D3E4F5"/>
            </a:solidFill>
            <a:prstDash val="solid"/>
          </a:ln>
        </p:spPr>
        <p:txBody>
          <a:bodyPr/>
          <a:lstStyle/>
          <a:p>
            <a:endParaRPr lang="en-US" sz="2800" dirty="0"/>
          </a:p>
        </p:txBody>
      </p:sp>
      <p:sp>
        <p:nvSpPr>
          <p:cNvPr id="21" name="Text 19"/>
          <p:cNvSpPr/>
          <p:nvPr/>
        </p:nvSpPr>
        <p:spPr>
          <a:xfrm>
            <a:off x="868680" y="4462272"/>
            <a:ext cx="44805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Confirmed cancer, planning care</a:t>
            </a:r>
            <a:endParaRPr lang="en-US" dirty="0"/>
          </a:p>
        </p:txBody>
      </p:sp>
      <p:sp>
        <p:nvSpPr>
          <p:cNvPr id="22" name="Text 20"/>
          <p:cNvSpPr/>
          <p:nvPr/>
        </p:nvSpPr>
        <p:spPr>
          <a:xfrm>
            <a:off x="5532120" y="4462272"/>
            <a:ext cx="548640" cy="566928"/>
          </a:xfrm>
          <a:prstGeom prst="rect">
            <a:avLst/>
          </a:prstGeom>
          <a:noFill/>
          <a:ln/>
        </p:spPr>
        <p:txBody>
          <a:bodyPr wrap="square" lIns="0" tIns="0" rIns="0" bIns="0" rtlCol="0" anchor="ctr"/>
          <a:lstStyle/>
          <a:p>
            <a:pPr marL="0" indent="0" algn="ctr">
              <a:buNone/>
            </a:pPr>
            <a:r>
              <a:rPr lang="en-US" sz="2000" b="1" dirty="0">
                <a:solidFill>
                  <a:srgbClr val="1C6FB1"/>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6080760" y="4462272"/>
            <a:ext cx="4846320" cy="566928"/>
          </a:xfrm>
          <a:prstGeom prst="roundRect">
            <a:avLst>
              <a:gd name="adj" fmla="val 8065"/>
            </a:avLst>
          </a:prstGeom>
          <a:solidFill>
            <a:srgbClr val="E6F4EB"/>
          </a:solidFill>
          <a:ln w="12700">
            <a:solidFill>
              <a:srgbClr val="9BCFA6"/>
            </a:solidFill>
            <a:prstDash val="solid"/>
          </a:ln>
        </p:spPr>
        <p:txBody>
          <a:bodyPr/>
          <a:lstStyle/>
          <a:p>
            <a:endParaRPr lang="en-US" sz="2800" dirty="0"/>
          </a:p>
        </p:txBody>
      </p:sp>
      <p:sp>
        <p:nvSpPr>
          <p:cNvPr id="24" name="Text 22"/>
          <p:cNvSpPr/>
          <p:nvPr/>
        </p:nvSpPr>
        <p:spPr>
          <a:xfrm>
            <a:off x="6263640" y="4462272"/>
            <a:ext cx="4480560" cy="56692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Imaging and biopsy results used for staging</a:t>
            </a:r>
            <a:endParaRPr lang="en-US" dirty="0"/>
          </a:p>
        </p:txBody>
      </p:sp>
      <p:sp>
        <p:nvSpPr>
          <p:cNvPr id="25" name="Shape 23"/>
          <p:cNvSpPr/>
          <p:nvPr/>
        </p:nvSpPr>
        <p:spPr>
          <a:xfrm>
            <a:off x="685800" y="5157216"/>
            <a:ext cx="4846320" cy="566928"/>
          </a:xfrm>
          <a:prstGeom prst="roundRect">
            <a:avLst>
              <a:gd name="adj" fmla="val 8065"/>
            </a:avLst>
          </a:prstGeom>
          <a:solidFill>
            <a:srgbClr val="EBF3FC"/>
          </a:solidFill>
          <a:ln w="12700">
            <a:solidFill>
              <a:srgbClr val="D3E4F5"/>
            </a:solidFill>
            <a:prstDash val="solid"/>
          </a:ln>
        </p:spPr>
        <p:txBody>
          <a:bodyPr/>
          <a:lstStyle/>
          <a:p>
            <a:endParaRPr lang="en-US" sz="2800" dirty="0"/>
          </a:p>
        </p:txBody>
      </p:sp>
      <p:sp>
        <p:nvSpPr>
          <p:cNvPr id="26" name="Text 24"/>
          <p:cNvSpPr/>
          <p:nvPr/>
        </p:nvSpPr>
        <p:spPr>
          <a:xfrm>
            <a:off x="868680" y="5157216"/>
            <a:ext cx="44805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Anxious patient with an abnormal result</a:t>
            </a:r>
            <a:endParaRPr lang="en-US" dirty="0"/>
          </a:p>
        </p:txBody>
      </p:sp>
      <p:sp>
        <p:nvSpPr>
          <p:cNvPr id="27" name="Text 25"/>
          <p:cNvSpPr/>
          <p:nvPr/>
        </p:nvSpPr>
        <p:spPr>
          <a:xfrm>
            <a:off x="5532120" y="5157216"/>
            <a:ext cx="548640" cy="566928"/>
          </a:xfrm>
          <a:prstGeom prst="rect">
            <a:avLst/>
          </a:prstGeom>
          <a:noFill/>
          <a:ln/>
        </p:spPr>
        <p:txBody>
          <a:bodyPr wrap="square" lIns="0" tIns="0" rIns="0" bIns="0" rtlCol="0" anchor="ctr"/>
          <a:lstStyle/>
          <a:p>
            <a:pPr marL="0" indent="0" algn="ctr">
              <a:buNone/>
            </a:pPr>
            <a:r>
              <a:rPr lang="en-US" sz="2000" b="1" dirty="0">
                <a:solidFill>
                  <a:srgbClr val="1C6FB1"/>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6080760" y="5157216"/>
            <a:ext cx="4846320" cy="566928"/>
          </a:xfrm>
          <a:prstGeom prst="roundRect">
            <a:avLst>
              <a:gd name="adj" fmla="val 8065"/>
            </a:avLst>
          </a:prstGeom>
          <a:solidFill>
            <a:srgbClr val="E6F4EB"/>
          </a:solidFill>
          <a:ln w="12700">
            <a:solidFill>
              <a:srgbClr val="9BCFA6"/>
            </a:solidFill>
            <a:prstDash val="solid"/>
          </a:ln>
        </p:spPr>
        <p:txBody>
          <a:bodyPr/>
          <a:lstStyle/>
          <a:p>
            <a:endParaRPr lang="en-US" sz="2800" dirty="0"/>
          </a:p>
        </p:txBody>
      </p:sp>
      <p:sp>
        <p:nvSpPr>
          <p:cNvPr id="29" name="Text 27"/>
          <p:cNvSpPr/>
          <p:nvPr/>
        </p:nvSpPr>
        <p:spPr>
          <a:xfrm>
            <a:off x="6263640" y="5157216"/>
            <a:ext cx="4480560" cy="56692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Counselling and a clear explanation of the next step</a:t>
            </a:r>
            <a:endParaRPr lang="en-US" dirty="0"/>
          </a:p>
        </p:txBody>
      </p:sp>
      <p:sp>
        <p:nvSpPr>
          <p:cNvPr id="30" name="Text 28"/>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Apply it</a:t>
            </a:r>
            <a:endParaRPr lang="en-US" sz="3000" dirty="0"/>
          </a:p>
        </p:txBody>
      </p:sp>
      <p:sp>
        <p:nvSpPr>
          <p:cNvPr id="4" name="Shape 2"/>
          <p:cNvSpPr/>
          <p:nvPr/>
        </p:nvSpPr>
        <p:spPr>
          <a:xfrm>
            <a:off x="685800" y="1965960"/>
            <a:ext cx="6675120" cy="960120"/>
          </a:xfrm>
          <a:prstGeom prst="roundRect">
            <a:avLst>
              <a:gd name="adj" fmla="val 7059"/>
            </a:avLst>
          </a:prstGeom>
          <a:solidFill>
            <a:srgbClr val="EBF3FC"/>
          </a:solidFill>
          <a:ln w="12700">
            <a:solidFill>
              <a:srgbClr val="1C6FB1"/>
            </a:solidFill>
            <a:prstDash val="solid"/>
          </a:ln>
        </p:spPr>
        <p:txBody>
          <a:bodyPr/>
          <a:lstStyle/>
          <a:p>
            <a:endParaRPr lang="en-US" sz="2800" dirty="0"/>
          </a:p>
        </p:txBody>
      </p:sp>
      <p:sp>
        <p:nvSpPr>
          <p:cNvPr id="5" name="Text 3"/>
          <p:cNvSpPr/>
          <p:nvPr/>
        </p:nvSpPr>
        <p:spPr>
          <a:xfrm>
            <a:off x="868680" y="2054096"/>
            <a:ext cx="6309360" cy="777240"/>
          </a:xfrm>
          <a:prstGeom prst="rect">
            <a:avLst/>
          </a:prstGeom>
          <a:noFill/>
          <a:ln/>
        </p:spPr>
        <p:txBody>
          <a:bodyPr wrap="square" lIns="0" tIns="0" rIns="0" bIns="0" rtlCol="0" anchor="ctr"/>
          <a:lstStyle/>
          <a:p>
            <a:pPr marL="0" indent="0">
              <a:buNone/>
            </a:pPr>
            <a:r>
              <a:rPr lang="en-US" b="1" dirty="0">
                <a:solidFill>
                  <a:srgbClr val="1C6FB1"/>
                </a:solidFill>
                <a:latin typeface="Calibri" pitchFamily="34" charset="0"/>
                <a:ea typeface="Calibri" pitchFamily="34" charset="-122"/>
                <a:cs typeface="Calibri" pitchFamily="34" charset="-120"/>
              </a:rPr>
              <a:t>Scenario  </a:t>
            </a:r>
            <a:r>
              <a:rPr lang="en-US" dirty="0">
                <a:solidFill>
                  <a:srgbClr val="1F3B50"/>
                </a:solidFill>
                <a:latin typeface="Calibri" pitchFamily="34" charset="0"/>
                <a:ea typeface="Calibri" pitchFamily="34" charset="-122"/>
                <a:cs typeface="Calibri" pitchFamily="34" charset="-120"/>
              </a:rPr>
              <a:t>A patient has persistent symptoms, an abnormal-looking gastric lesion on endoscopy, and anaemia. A relative asks whether the diagnosis is now certain.</a:t>
            </a:r>
            <a:endParaRPr lang="en-US" dirty="0"/>
          </a:p>
        </p:txBody>
      </p:sp>
      <p:sp>
        <p:nvSpPr>
          <p:cNvPr id="6" name="Text 4"/>
          <p:cNvSpPr/>
          <p:nvPr/>
        </p:nvSpPr>
        <p:spPr>
          <a:xfrm>
            <a:off x="685800" y="2926080"/>
            <a:ext cx="6675120" cy="457200"/>
          </a:xfrm>
          <a:prstGeom prst="rect">
            <a:avLst/>
          </a:prstGeom>
          <a:noFill/>
          <a:ln/>
        </p:spPr>
        <p:txBody>
          <a:bodyPr wrap="square" lIns="0" tIns="0" rIns="0" bIns="0" rtlCol="0" anchor="ctr"/>
          <a:lstStyle/>
          <a:p>
            <a:pPr marL="0" indent="0">
              <a:buNone/>
            </a:pPr>
            <a:r>
              <a:rPr lang="en-US" sz="2400" b="1" dirty="0">
                <a:solidFill>
                  <a:srgbClr val="12406B"/>
                </a:solidFill>
                <a:latin typeface="Cambria" pitchFamily="34" charset="0"/>
                <a:ea typeface="Cambria" pitchFamily="34" charset="-122"/>
                <a:cs typeface="Cambria" pitchFamily="34" charset="-120"/>
              </a:rPr>
              <a:t>What is accurate?</a:t>
            </a:r>
            <a:endParaRPr lang="en-US" sz="2400" dirty="0"/>
          </a:p>
        </p:txBody>
      </p:sp>
      <p:sp>
        <p:nvSpPr>
          <p:cNvPr id="7" name="Shape 5"/>
          <p:cNvSpPr/>
          <p:nvPr/>
        </p:nvSpPr>
        <p:spPr>
          <a:xfrm>
            <a:off x="685800" y="3383280"/>
            <a:ext cx="6675120" cy="566928"/>
          </a:xfrm>
          <a:prstGeom prst="roundRect">
            <a:avLst>
              <a:gd name="adj" fmla="val 8065"/>
            </a:avLst>
          </a:prstGeom>
          <a:solidFill>
            <a:srgbClr val="FFFFFF"/>
          </a:solidFill>
          <a:ln w="12700">
            <a:solidFill>
              <a:srgbClr val="D3E4F5"/>
            </a:solidFill>
            <a:prstDash val="solid"/>
          </a:ln>
        </p:spPr>
        <p:txBody>
          <a:bodyPr/>
          <a:lstStyle/>
          <a:p>
            <a:endParaRPr lang="en-US" sz="2800" dirty="0"/>
          </a:p>
        </p:txBody>
      </p:sp>
      <p:sp>
        <p:nvSpPr>
          <p:cNvPr id="8" name="Shape 6"/>
          <p:cNvSpPr/>
          <p:nvPr/>
        </p:nvSpPr>
        <p:spPr>
          <a:xfrm>
            <a:off x="795528" y="3511296"/>
            <a:ext cx="310896" cy="310896"/>
          </a:xfrm>
          <a:prstGeom prst="ellipse">
            <a:avLst/>
          </a:prstGeom>
          <a:solidFill>
            <a:srgbClr val="0C3D66"/>
          </a:solidFill>
          <a:ln/>
        </p:spPr>
        <p:txBody>
          <a:bodyPr/>
          <a:lstStyle/>
          <a:p>
            <a:endParaRPr lang="en-US" sz="2800" dirty="0"/>
          </a:p>
        </p:txBody>
      </p:sp>
      <p:sp>
        <p:nvSpPr>
          <p:cNvPr id="9" name="Text 7"/>
          <p:cNvSpPr/>
          <p:nvPr/>
        </p:nvSpPr>
        <p:spPr>
          <a:xfrm>
            <a:off x="795528" y="3511296"/>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0" name="Text 8"/>
          <p:cNvSpPr/>
          <p:nvPr/>
        </p:nvSpPr>
        <p:spPr>
          <a:xfrm>
            <a:off x="1234440" y="3383280"/>
            <a:ext cx="58521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The diagnosis is confirmed by the endoscopy appearance</a:t>
            </a:r>
            <a:endParaRPr lang="en-US" dirty="0"/>
          </a:p>
        </p:txBody>
      </p:sp>
      <p:sp>
        <p:nvSpPr>
          <p:cNvPr id="11" name="Shape 9"/>
          <p:cNvSpPr/>
          <p:nvPr/>
        </p:nvSpPr>
        <p:spPr>
          <a:xfrm>
            <a:off x="685800" y="4096512"/>
            <a:ext cx="6675120" cy="566928"/>
          </a:xfrm>
          <a:prstGeom prst="roundRect">
            <a:avLst>
              <a:gd name="adj" fmla="val 8065"/>
            </a:avLst>
          </a:prstGeom>
          <a:solidFill>
            <a:srgbClr val="E6F4EB"/>
          </a:solidFill>
          <a:ln w="19050">
            <a:solidFill>
              <a:srgbClr val="9BCFA6"/>
            </a:solidFill>
            <a:prstDash val="solid"/>
          </a:ln>
        </p:spPr>
        <p:txBody>
          <a:bodyPr/>
          <a:lstStyle/>
          <a:p>
            <a:endParaRPr lang="en-US" sz="2800" dirty="0"/>
          </a:p>
        </p:txBody>
      </p:sp>
      <p:sp>
        <p:nvSpPr>
          <p:cNvPr id="12" name="Shape 10"/>
          <p:cNvSpPr/>
          <p:nvPr/>
        </p:nvSpPr>
        <p:spPr>
          <a:xfrm>
            <a:off x="795528" y="4224528"/>
            <a:ext cx="310896" cy="310896"/>
          </a:xfrm>
          <a:prstGeom prst="ellipse">
            <a:avLst/>
          </a:prstGeom>
          <a:solidFill>
            <a:srgbClr val="1E7A46"/>
          </a:solidFill>
          <a:ln/>
        </p:spPr>
        <p:txBody>
          <a:bodyPr/>
          <a:lstStyle/>
          <a:p>
            <a:endParaRPr lang="en-US" sz="2800" dirty="0"/>
          </a:p>
        </p:txBody>
      </p:sp>
      <p:sp>
        <p:nvSpPr>
          <p:cNvPr id="13" name="Text 11"/>
          <p:cNvSpPr/>
          <p:nvPr/>
        </p:nvSpPr>
        <p:spPr>
          <a:xfrm>
            <a:off x="795528" y="4224528"/>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4" name="Text 12"/>
          <p:cNvSpPr/>
          <p:nvPr/>
        </p:nvSpPr>
        <p:spPr>
          <a:xfrm>
            <a:off x="1234440" y="4096512"/>
            <a:ext cx="5852160" cy="56692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Cancer is not confirmed until biopsy and histopathology</a:t>
            </a:r>
            <a:endParaRPr lang="en-US" dirty="0"/>
          </a:p>
        </p:txBody>
      </p:sp>
      <p:sp>
        <p:nvSpPr>
          <p:cNvPr id="15" name="Text 13"/>
          <p:cNvSpPr/>
          <p:nvPr/>
        </p:nvSpPr>
        <p:spPr>
          <a:xfrm>
            <a:off x="6995160" y="4096512"/>
            <a:ext cx="274320" cy="566928"/>
          </a:xfrm>
          <a:prstGeom prst="rect">
            <a:avLst/>
          </a:prstGeom>
          <a:noFill/>
          <a:ln/>
        </p:spPr>
        <p:txBody>
          <a:bodyPr wrap="square" lIns="0" tIns="0" rIns="0" bIns="0" rtlCol="0" anchor="ctr"/>
          <a:lstStyle/>
          <a:p>
            <a:pPr marL="0" indent="0" algn="ctr">
              <a:buNone/>
            </a:pPr>
            <a:r>
              <a:rPr lang="en-US" sz="2000" b="1" dirty="0">
                <a:solidFill>
                  <a:srgbClr val="1E7A4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85800" y="4809744"/>
            <a:ext cx="6675120" cy="566928"/>
          </a:xfrm>
          <a:prstGeom prst="roundRect">
            <a:avLst>
              <a:gd name="adj" fmla="val 8065"/>
            </a:avLst>
          </a:prstGeom>
          <a:solidFill>
            <a:srgbClr val="FFFFFF"/>
          </a:solidFill>
          <a:ln w="12700">
            <a:solidFill>
              <a:srgbClr val="D3E4F5"/>
            </a:solidFill>
            <a:prstDash val="solid"/>
          </a:ln>
        </p:spPr>
        <p:txBody>
          <a:bodyPr/>
          <a:lstStyle/>
          <a:p>
            <a:endParaRPr lang="en-US" sz="2800" dirty="0"/>
          </a:p>
        </p:txBody>
      </p:sp>
      <p:sp>
        <p:nvSpPr>
          <p:cNvPr id="17" name="Shape 15"/>
          <p:cNvSpPr/>
          <p:nvPr/>
        </p:nvSpPr>
        <p:spPr>
          <a:xfrm>
            <a:off x="795528" y="4937760"/>
            <a:ext cx="310896" cy="310896"/>
          </a:xfrm>
          <a:prstGeom prst="ellipse">
            <a:avLst/>
          </a:prstGeom>
          <a:solidFill>
            <a:srgbClr val="0C3D66"/>
          </a:solidFill>
          <a:ln/>
        </p:spPr>
        <p:txBody>
          <a:bodyPr/>
          <a:lstStyle/>
          <a:p>
            <a:endParaRPr lang="en-US" sz="2800" dirty="0"/>
          </a:p>
        </p:txBody>
      </p:sp>
      <p:sp>
        <p:nvSpPr>
          <p:cNvPr id="18" name="Text 16"/>
          <p:cNvSpPr/>
          <p:nvPr/>
        </p:nvSpPr>
        <p:spPr>
          <a:xfrm>
            <a:off x="795528" y="4937760"/>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234440" y="4809744"/>
            <a:ext cx="58521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Anaemia confirms it</a:t>
            </a:r>
            <a:endParaRPr lang="en-US" dirty="0"/>
          </a:p>
        </p:txBody>
      </p:sp>
      <p:sp>
        <p:nvSpPr>
          <p:cNvPr id="20" name="Shape 18"/>
          <p:cNvSpPr/>
          <p:nvPr/>
        </p:nvSpPr>
        <p:spPr>
          <a:xfrm>
            <a:off x="685800" y="5522976"/>
            <a:ext cx="6675120" cy="566928"/>
          </a:xfrm>
          <a:prstGeom prst="roundRect">
            <a:avLst>
              <a:gd name="adj" fmla="val 8065"/>
            </a:avLst>
          </a:prstGeom>
          <a:solidFill>
            <a:srgbClr val="FFFFFF"/>
          </a:solidFill>
          <a:ln w="12700">
            <a:solidFill>
              <a:srgbClr val="D3E4F5"/>
            </a:solidFill>
            <a:prstDash val="solid"/>
          </a:ln>
        </p:spPr>
        <p:txBody>
          <a:bodyPr/>
          <a:lstStyle/>
          <a:p>
            <a:endParaRPr lang="en-US" sz="2800" dirty="0"/>
          </a:p>
        </p:txBody>
      </p:sp>
      <p:sp>
        <p:nvSpPr>
          <p:cNvPr id="21" name="Shape 19"/>
          <p:cNvSpPr/>
          <p:nvPr/>
        </p:nvSpPr>
        <p:spPr>
          <a:xfrm>
            <a:off x="795528" y="5650992"/>
            <a:ext cx="310896" cy="310896"/>
          </a:xfrm>
          <a:prstGeom prst="ellipse">
            <a:avLst/>
          </a:prstGeom>
          <a:solidFill>
            <a:srgbClr val="0C3D66"/>
          </a:solidFill>
          <a:ln/>
        </p:spPr>
        <p:txBody>
          <a:bodyPr/>
          <a:lstStyle/>
          <a:p>
            <a:endParaRPr lang="en-US" sz="2800" dirty="0"/>
          </a:p>
        </p:txBody>
      </p:sp>
      <p:sp>
        <p:nvSpPr>
          <p:cNvPr id="22" name="Text 20"/>
          <p:cNvSpPr/>
          <p:nvPr/>
        </p:nvSpPr>
        <p:spPr>
          <a:xfrm>
            <a:off x="795528" y="5650992"/>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23" name="Text 21"/>
          <p:cNvSpPr/>
          <p:nvPr/>
        </p:nvSpPr>
        <p:spPr>
          <a:xfrm>
            <a:off x="1234440" y="5522976"/>
            <a:ext cx="58521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Symptoms confirm it</a:t>
            </a:r>
            <a:endParaRPr lang="en-US" dirty="0"/>
          </a:p>
        </p:txBody>
      </p:sp>
      <p:sp>
        <p:nvSpPr>
          <p:cNvPr id="24" name="Shape 22"/>
          <p:cNvSpPr/>
          <p:nvPr/>
        </p:nvSpPr>
        <p:spPr>
          <a:xfrm>
            <a:off x="7680960" y="1965960"/>
            <a:ext cx="3824935" cy="3977640"/>
          </a:xfrm>
          <a:prstGeom prst="roundRect">
            <a:avLst>
              <a:gd name="adj" fmla="val 1434"/>
            </a:avLst>
          </a:prstGeom>
          <a:solidFill>
            <a:srgbClr val="EBF3FC"/>
          </a:solidFill>
          <a:ln w="12700">
            <a:solidFill>
              <a:srgbClr val="D3E4F5"/>
            </a:solidFill>
            <a:prstDash val="solid"/>
          </a:ln>
        </p:spPr>
        <p:txBody>
          <a:bodyPr/>
          <a:lstStyle/>
          <a:p>
            <a:endParaRPr lang="en-US" sz="2800" dirty="0"/>
          </a:p>
        </p:txBody>
      </p:sp>
      <p:sp>
        <p:nvSpPr>
          <p:cNvPr id="25" name="Text 23"/>
          <p:cNvSpPr/>
          <p:nvPr/>
        </p:nvSpPr>
        <p:spPr>
          <a:xfrm>
            <a:off x="7882128" y="2148840"/>
            <a:ext cx="3422599" cy="365760"/>
          </a:xfrm>
          <a:prstGeom prst="rect">
            <a:avLst/>
          </a:prstGeom>
          <a:noFill/>
          <a:ln/>
        </p:spPr>
        <p:txBody>
          <a:bodyPr wrap="square" lIns="0" tIns="0" rIns="0" bIns="0" rtlCol="0" anchor="ctr"/>
          <a:lstStyle/>
          <a:p>
            <a:pPr marL="0" indent="0">
              <a:buNone/>
            </a:pPr>
            <a:r>
              <a:rPr lang="en-US" sz="2000" b="1" dirty="0">
                <a:solidFill>
                  <a:srgbClr val="1E7A46"/>
                </a:solidFill>
                <a:latin typeface="Cambria" pitchFamily="34" charset="0"/>
                <a:ea typeface="Cambria" pitchFamily="34" charset="-122"/>
                <a:cs typeface="Cambria" pitchFamily="34" charset="-120"/>
              </a:rPr>
              <a:t>Correct answer: B</a:t>
            </a:r>
            <a:endParaRPr lang="en-US" sz="2000" dirty="0"/>
          </a:p>
        </p:txBody>
      </p:sp>
      <p:sp>
        <p:nvSpPr>
          <p:cNvPr id="26" name="Text 24"/>
          <p:cNvSpPr/>
          <p:nvPr/>
        </p:nvSpPr>
        <p:spPr>
          <a:xfrm>
            <a:off x="7882128" y="2560320"/>
            <a:ext cx="3422599" cy="3200400"/>
          </a:xfrm>
          <a:prstGeom prst="rect">
            <a:avLst/>
          </a:prstGeom>
          <a:noFill/>
          <a:ln/>
        </p:spPr>
        <p:txBody>
          <a:bodyPr wrap="square" lIns="0" tIns="0" rIns="0" bIns="0" rtlCol="0" anchor="t"/>
          <a:lstStyle/>
          <a:p>
            <a:pPr marL="0" indent="0">
              <a:lnSpc>
                <a:spcPct val="110000"/>
              </a:lnSpc>
              <a:buNone/>
            </a:pPr>
            <a:r>
              <a:rPr lang="en-US" b="1" dirty="0">
                <a:solidFill>
                  <a:srgbClr val="12406B"/>
                </a:solidFill>
                <a:latin typeface="Calibri" pitchFamily="34" charset="0"/>
                <a:ea typeface="Calibri" pitchFamily="34" charset="-122"/>
                <a:cs typeface="Calibri" pitchFamily="34" charset="-120"/>
              </a:rPr>
              <a:t>Why  </a:t>
            </a:r>
            <a:r>
              <a:rPr lang="en-US" dirty="0">
                <a:solidFill>
                  <a:srgbClr val="1F3B50"/>
                </a:solidFill>
                <a:latin typeface="Calibri" pitchFamily="34" charset="0"/>
                <a:ea typeface="Calibri" pitchFamily="34" charset="-122"/>
                <a:cs typeface="Calibri" pitchFamily="34" charset="-120"/>
              </a:rPr>
              <a:t>Symptoms, endoscopic appearance, and blood results raise suspicion, but tissue examined by pathology confirms the diagnosis and its type.</a:t>
            </a:r>
            <a:endParaRPr lang="en-US" dirty="0"/>
          </a:p>
        </p:txBody>
      </p:sp>
      <p:sp>
        <p:nvSpPr>
          <p:cNvPr id="27" name="Text 2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(1/3)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 Gastric cancer is confirmed by:</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 blood test</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Symptoms alone</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 Endoscopic biopsy and histopathology  ✓</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Examination alone</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C.  </a:t>
            </a:r>
            <a:r>
              <a:rPr lang="en-US" i="1" dirty="0">
                <a:solidFill>
                  <a:srgbClr val="5B7085"/>
                </a:solidFill>
                <a:latin typeface="Calibri" pitchFamily="34" charset="0"/>
                <a:ea typeface="Calibri" pitchFamily="34" charset="-122"/>
                <a:cs typeface="Calibri" pitchFamily="34" charset="-120"/>
              </a:rPr>
              <a:t>Tissue confirms the diagnosis.</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Q2. A normal examination:</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Excludes cancer</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Does not exclude cancer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Confirms cancer</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Replaces biopsy</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cannot rule gastric cancer in or out on its own.</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(2/3)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Q3. Radiotherapy works by:</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Adding hormones</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Damaging cancer-cell DNA with radiation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Being a type of surgery</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Doing nothing</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damages DNA so cells cannot keep dividing.</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Q4. Chemotherapy is:</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 local treatment</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A systemic treatment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 type of imaging</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A type of surgery</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acts throughout the body.</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(3/3)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Q5. Surveillance of a premalignant gastric condition means:</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Ignoring it</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Planned follow-up per specialist guidance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Immediate gastrectomy</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Palliative care only</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is planned follow-up, not neglect, and differs from treating confirmed cancer.</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Q6. Gastric-cancer surgery may involve:</a:t>
            </a:r>
            <a:endParaRPr lang="en-US" sz="2000" dirty="0"/>
          </a:p>
        </p:txBody>
      </p:sp>
      <p:sp>
        <p:nvSpPr>
          <p:cNvPr id="13" name="Text 11"/>
          <p:cNvSpPr/>
          <p:nvPr/>
        </p:nvSpPr>
        <p:spPr>
          <a:xfrm>
            <a:off x="914400" y="4594012"/>
            <a:ext cx="5044288" cy="310896"/>
          </a:xfrm>
          <a:prstGeom prst="rect">
            <a:avLst/>
          </a:prstGeom>
          <a:noFill/>
          <a:ln/>
        </p:spPr>
        <p:txBody>
          <a:bodyPr wrap="square" lIns="0" tIns="0" rIns="0" bIns="0" rtlCol="0" anchor="ctr"/>
          <a:lstStyle/>
          <a:p>
            <a:r>
              <a:rPr lang="en-US" b="1" dirty="0">
                <a:solidFill>
                  <a:srgbClr val="1E7A46"/>
                </a:solidFill>
                <a:latin typeface="Calibri" pitchFamily="34" charset="0"/>
                <a:ea typeface="Calibri" pitchFamily="34" charset="-122"/>
                <a:cs typeface="Calibri" pitchFamily="34" charset="-120"/>
              </a:rPr>
              <a:t>A. Removing part or all of the stomach and lymph nodes resection if indicated ✓</a:t>
            </a:r>
            <a:endParaRPr lang="en-US" dirty="0"/>
          </a:p>
        </p:txBody>
      </p:sp>
      <p:sp>
        <p:nvSpPr>
          <p:cNvPr id="14" name="Text 12"/>
          <p:cNvSpPr/>
          <p:nvPr/>
        </p:nvSpPr>
        <p:spPr>
          <a:xfrm>
            <a:off x="6095848" y="459401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B. </a:t>
            </a:r>
            <a:r>
              <a:rPr lang="en-US" dirty="0">
                <a:solidFill>
                  <a:srgbClr val="1F3B50"/>
                </a:solidFill>
                <a:latin typeface="Calibri" pitchFamily="34" charset="0"/>
                <a:ea typeface="Calibri" pitchFamily="34" charset="-122"/>
                <a:cs typeface="Calibri" pitchFamily="34" charset="-120"/>
              </a:rPr>
              <a:t>Only imaging</a:t>
            </a:r>
            <a:endParaRPr lang="en-US" dirty="0"/>
          </a:p>
        </p:txBody>
      </p:sp>
      <p:sp>
        <p:nvSpPr>
          <p:cNvPr id="15" name="Text 13"/>
          <p:cNvSpPr/>
          <p:nvPr/>
        </p:nvSpPr>
        <p:spPr>
          <a:xfrm>
            <a:off x="914400" y="5041729"/>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No tissue removal</a:t>
            </a:r>
            <a:endParaRPr lang="en-US" dirty="0"/>
          </a:p>
        </p:txBody>
      </p:sp>
      <p:sp>
        <p:nvSpPr>
          <p:cNvPr id="16" name="Text 14"/>
          <p:cNvSpPr/>
          <p:nvPr/>
        </p:nvSpPr>
        <p:spPr>
          <a:xfrm>
            <a:off x="6095848" y="5041729"/>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Radiotherapy planning</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A.  </a:t>
            </a:r>
            <a:r>
              <a:rPr lang="en-US" i="1" dirty="0">
                <a:solidFill>
                  <a:srgbClr val="5B7085"/>
                </a:solidFill>
                <a:latin typeface="Calibri" pitchFamily="34" charset="0"/>
                <a:ea typeface="Calibri" pitchFamily="34" charset="-122"/>
                <a:cs typeface="Calibri" pitchFamily="34" charset="-120"/>
              </a:rPr>
              <a:t>Gastrectomy removes part or all of the stomach with regional nodes.</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4</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Session reflection</a:t>
            </a:r>
            <a:endParaRPr lang="en-US" sz="3000" dirty="0"/>
          </a:p>
        </p:txBody>
      </p:sp>
      <p:sp>
        <p:nvSpPr>
          <p:cNvPr id="4" name="Text 2"/>
          <p:cNvSpPr/>
          <p:nvPr/>
        </p:nvSpPr>
        <p:spPr>
          <a:xfrm>
            <a:off x="685800" y="1874519"/>
            <a:ext cx="10820095" cy="384048"/>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Enter your response in the text box. There is no single correct answer.</a:t>
            </a:r>
            <a:endParaRPr lang="en-US" sz="1300" dirty="0"/>
          </a:p>
        </p:txBody>
      </p:sp>
      <p:sp>
        <p:nvSpPr>
          <p:cNvPr id="5" name="Shape 3"/>
          <p:cNvSpPr/>
          <p:nvPr/>
        </p:nvSpPr>
        <p:spPr>
          <a:xfrm>
            <a:off x="685800" y="2377440"/>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6" name="Shape 4"/>
          <p:cNvSpPr/>
          <p:nvPr/>
        </p:nvSpPr>
        <p:spPr>
          <a:xfrm>
            <a:off x="914400" y="2555748"/>
            <a:ext cx="512064" cy="512064"/>
          </a:xfrm>
          <a:prstGeom prst="ellipse">
            <a:avLst/>
          </a:prstGeom>
          <a:solidFill>
            <a:srgbClr val="12857F"/>
          </a:solidFill>
          <a:ln/>
        </p:spPr>
        <p:txBody>
          <a:bodyPr/>
          <a:lstStyle/>
          <a:p>
            <a:endParaRPr lang="en-US" sz="2400" dirty="0"/>
          </a:p>
        </p:txBody>
      </p:sp>
      <p:sp>
        <p:nvSpPr>
          <p:cNvPr id="7" name="Text 5"/>
          <p:cNvSpPr/>
          <p:nvPr/>
        </p:nvSpPr>
        <p:spPr>
          <a:xfrm>
            <a:off x="914400" y="2555748"/>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645920" y="2377440"/>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How would you explain endoscopy and biopsy to a patient in plain terms?</a:t>
            </a:r>
            <a:endParaRPr lang="en-US" dirty="0"/>
          </a:p>
        </p:txBody>
      </p:sp>
      <p:sp>
        <p:nvSpPr>
          <p:cNvPr id="9" name="Shape 7"/>
          <p:cNvSpPr/>
          <p:nvPr/>
        </p:nvSpPr>
        <p:spPr>
          <a:xfrm>
            <a:off x="685800" y="3447288"/>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10" name="Shape 8"/>
          <p:cNvSpPr/>
          <p:nvPr/>
        </p:nvSpPr>
        <p:spPr>
          <a:xfrm>
            <a:off x="914400" y="3625596"/>
            <a:ext cx="512064" cy="512064"/>
          </a:xfrm>
          <a:prstGeom prst="ellipse">
            <a:avLst/>
          </a:prstGeom>
          <a:solidFill>
            <a:srgbClr val="12857F"/>
          </a:solidFill>
          <a:ln/>
        </p:spPr>
        <p:txBody>
          <a:bodyPr/>
          <a:lstStyle/>
          <a:p>
            <a:endParaRPr lang="en-US" sz="2400" dirty="0"/>
          </a:p>
        </p:txBody>
      </p:sp>
      <p:sp>
        <p:nvSpPr>
          <p:cNvPr id="11" name="Text 9"/>
          <p:cNvSpPr/>
          <p:nvPr/>
        </p:nvSpPr>
        <p:spPr>
          <a:xfrm>
            <a:off x="914400" y="3625596"/>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645920" y="3447288"/>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How would you describe the difference between a local and a systemic treatment?</a:t>
            </a:r>
            <a:endParaRPr lang="en-US" dirty="0"/>
          </a:p>
        </p:txBody>
      </p:sp>
      <p:sp>
        <p:nvSpPr>
          <p:cNvPr id="13" name="Shape 11"/>
          <p:cNvSpPr/>
          <p:nvPr/>
        </p:nvSpPr>
        <p:spPr>
          <a:xfrm>
            <a:off x="685800" y="4517136"/>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14" name="Shape 12"/>
          <p:cNvSpPr/>
          <p:nvPr/>
        </p:nvSpPr>
        <p:spPr>
          <a:xfrm>
            <a:off x="914400" y="4695444"/>
            <a:ext cx="512064" cy="512064"/>
          </a:xfrm>
          <a:prstGeom prst="ellipse">
            <a:avLst/>
          </a:prstGeom>
          <a:solidFill>
            <a:srgbClr val="12857F"/>
          </a:solidFill>
          <a:ln/>
        </p:spPr>
        <p:txBody>
          <a:bodyPr/>
          <a:lstStyle/>
          <a:p>
            <a:endParaRPr lang="en-US" sz="2400" dirty="0"/>
          </a:p>
        </p:txBody>
      </p:sp>
      <p:sp>
        <p:nvSpPr>
          <p:cNvPr id="15" name="Text 13"/>
          <p:cNvSpPr/>
          <p:nvPr/>
        </p:nvSpPr>
        <p:spPr>
          <a:xfrm>
            <a:off x="914400" y="4695444"/>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6" name="Text 14"/>
          <p:cNvSpPr/>
          <p:nvPr/>
        </p:nvSpPr>
        <p:spPr>
          <a:xfrm>
            <a:off x="1645920" y="4517136"/>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Which misconception about gastric cancer would you most want to correct in your setting?</a:t>
            </a:r>
            <a:endParaRPr lang="en-US" dirty="0"/>
          </a:p>
        </p:txBody>
      </p:sp>
      <p:sp>
        <p:nvSpPr>
          <p:cNvPr id="17" name="Text 1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7">
    <p:bg>
      <p:bgPr>
        <a:solidFill>
          <a:srgbClr val="0C3D66"/>
        </a:solidFill>
        <a:effectLst/>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2518A"/>
          </a:solidFill>
          <a:ln/>
        </p:spPr>
        <p:txBody>
          <a:bodyPr/>
          <a:lstStyle/>
          <a:p>
            <a:endParaRPr lang="en-US" dirty="0"/>
          </a:p>
        </p:txBody>
      </p:sp>
      <p:sp>
        <p:nvSpPr>
          <p:cNvPr id="3" name="Shape 1"/>
          <p:cNvSpPr/>
          <p:nvPr/>
        </p:nvSpPr>
        <p:spPr>
          <a:xfrm>
            <a:off x="9784080" y="1737360"/>
            <a:ext cx="1371600" cy="1371600"/>
          </a:xfrm>
          <a:prstGeom prst="ellipse">
            <a:avLst/>
          </a:prstGeom>
          <a:solidFill>
            <a:srgbClr val="12857F"/>
          </a:solidFill>
          <a:ln/>
        </p:spPr>
        <p:txBody>
          <a:bodyPr/>
          <a:lstStyle/>
          <a:p>
            <a:endParaRPr lang="en-US" dirty="0"/>
          </a:p>
        </p:txBody>
      </p:sp>
      <p:sp>
        <p:nvSpPr>
          <p:cNvPr id="4" name="Text 2"/>
          <p:cNvSpPr/>
          <p:nvPr/>
        </p:nvSpPr>
        <p:spPr>
          <a:xfrm>
            <a:off x="9784080" y="1737360"/>
            <a:ext cx="1371600" cy="13716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5</a:t>
            </a:r>
            <a:endParaRPr lang="en-US" sz="3400" dirty="0"/>
          </a:p>
        </p:txBody>
      </p:sp>
      <p:sp>
        <p:nvSpPr>
          <p:cNvPr id="5" name="Text 3"/>
          <p:cNvSpPr/>
          <p:nvPr/>
        </p:nvSpPr>
        <p:spPr>
          <a:xfrm>
            <a:off x="822960" y="2788920"/>
            <a:ext cx="7315200" cy="320040"/>
          </a:xfrm>
          <a:prstGeom prst="rect">
            <a:avLst/>
          </a:prstGeom>
          <a:noFill/>
          <a:ln/>
        </p:spPr>
        <p:txBody>
          <a:bodyPr wrap="square" lIns="0" tIns="0" rIns="0" bIns="0" rtlCol="0" anchor="ctr"/>
          <a:lstStyle/>
          <a:p>
            <a:pPr marL="0" indent="0">
              <a:buNone/>
            </a:pPr>
            <a:r>
              <a:rPr lang="en-US" sz="1300" b="1" kern="0" spc="200" dirty="0">
                <a:solidFill>
                  <a:srgbClr val="8FC7E8"/>
                </a:solidFill>
                <a:latin typeface="Calibri" pitchFamily="34" charset="0"/>
                <a:ea typeface="Calibri" pitchFamily="34" charset="-122"/>
                <a:cs typeface="Calibri" pitchFamily="34" charset="-120"/>
              </a:rPr>
              <a:t>SESSION 5</a:t>
            </a:r>
            <a:endParaRPr lang="en-US" sz="1300" dirty="0"/>
          </a:p>
        </p:txBody>
      </p:sp>
      <p:sp>
        <p:nvSpPr>
          <p:cNvPr id="6" name="Text 4"/>
          <p:cNvSpPr/>
          <p:nvPr/>
        </p:nvSpPr>
        <p:spPr>
          <a:xfrm>
            <a:off x="822960" y="3154680"/>
            <a:ext cx="84124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Supportive treatment</a:t>
            </a:r>
            <a:endParaRPr lang="en-US" sz="3600" dirty="0"/>
          </a:p>
        </p:txBody>
      </p:sp>
      <p:sp>
        <p:nvSpPr>
          <p:cNvPr id="7" name="Text 5"/>
          <p:cNvSpPr/>
          <p:nvPr/>
        </p:nvSpPr>
        <p:spPr>
          <a:xfrm>
            <a:off x="822960" y="4114800"/>
            <a:ext cx="7863840" cy="822960"/>
          </a:xfrm>
          <a:prstGeom prst="rect">
            <a:avLst/>
          </a:prstGeom>
          <a:noFill/>
          <a:ln/>
        </p:spPr>
        <p:txBody>
          <a:bodyPr wrap="square" lIns="0" tIns="0" rIns="0" bIns="0" rtlCol="0" anchor="ctr"/>
          <a:lstStyle/>
          <a:p>
            <a:pPr marL="0" indent="0">
              <a:lnSpc>
                <a:spcPct val="110000"/>
              </a:lnSpc>
              <a:buNone/>
            </a:pPr>
            <a:r>
              <a:rPr lang="en-US" sz="1800" dirty="0">
                <a:solidFill>
                  <a:srgbClr val="D6E6F5"/>
                </a:solidFill>
                <a:latin typeface="Calibri" pitchFamily="34" charset="0"/>
                <a:ea typeface="Calibri" pitchFamily="34" charset="-122"/>
                <a:cs typeface="Calibri" pitchFamily="34" charset="-120"/>
              </a:rPr>
              <a:t>Support people through treatment and beyond: recognise effects, know the emergencies, protect nutrition and quality of life.</a:t>
            </a:r>
            <a:endParaRPr lang="en-US" sz="1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Learning objectives</a:t>
            </a:r>
            <a:endParaRPr lang="en-US" sz="3000" dirty="0"/>
          </a:p>
        </p:txBody>
      </p:sp>
      <p:sp>
        <p:nvSpPr>
          <p:cNvPr id="4" name="Shape 2"/>
          <p:cNvSpPr/>
          <p:nvPr/>
        </p:nvSpPr>
        <p:spPr>
          <a:xfrm>
            <a:off x="685800"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Recognise</a:t>
            </a:r>
            <a:endParaRPr lang="en-US" sz="2000" dirty="0"/>
          </a:p>
        </p:txBody>
      </p:sp>
      <p:sp>
        <p:nvSpPr>
          <p:cNvPr id="6" name="Text 4"/>
          <p:cNvSpPr/>
          <p:nvPr/>
        </p:nvSpPr>
        <p:spPr>
          <a:xfrm>
            <a:off x="886968"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Recognise and sort common treatment and disease effects.</a:t>
            </a:r>
            <a:endParaRPr lang="en-US" dirty="0"/>
          </a:p>
        </p:txBody>
      </p:sp>
      <p:sp>
        <p:nvSpPr>
          <p:cNvPr id="7" name="Shape 5"/>
          <p:cNvSpPr/>
          <p:nvPr/>
        </p:nvSpPr>
        <p:spPr>
          <a:xfrm>
            <a:off x="4383938"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Escalate</a:t>
            </a:r>
            <a:endParaRPr lang="en-US" sz="2000" dirty="0"/>
          </a:p>
        </p:txBody>
      </p:sp>
      <p:sp>
        <p:nvSpPr>
          <p:cNvPr id="9" name="Text 7"/>
          <p:cNvSpPr/>
          <p:nvPr/>
        </p:nvSpPr>
        <p:spPr>
          <a:xfrm>
            <a:off x="4585106"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Escalate urgent warning signs and serious complications.</a:t>
            </a:r>
            <a:endParaRPr lang="en-US" dirty="0"/>
          </a:p>
        </p:txBody>
      </p:sp>
      <p:sp>
        <p:nvSpPr>
          <p:cNvPr id="10" name="Shape 8"/>
          <p:cNvSpPr/>
          <p:nvPr/>
        </p:nvSpPr>
        <p:spPr>
          <a:xfrm>
            <a:off x="8082077" y="201168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Support nutrition</a:t>
            </a:r>
            <a:endParaRPr lang="en-US" sz="2000" dirty="0"/>
          </a:p>
        </p:txBody>
      </p:sp>
      <p:sp>
        <p:nvSpPr>
          <p:cNvPr id="12" name="Text 10"/>
          <p:cNvSpPr/>
          <p:nvPr/>
        </p:nvSpPr>
        <p:spPr>
          <a:xfrm>
            <a:off x="8283245" y="256032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Support nutrition after gastric-cancer treatment.</a:t>
            </a:r>
            <a:endParaRPr lang="en-US" dirty="0"/>
          </a:p>
        </p:txBody>
      </p:sp>
      <p:sp>
        <p:nvSpPr>
          <p:cNvPr id="13" name="Shape 11"/>
          <p:cNvSpPr/>
          <p:nvPr/>
        </p:nvSpPr>
        <p:spPr>
          <a:xfrm>
            <a:off x="685800"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4" name="Text 12"/>
          <p:cNvSpPr/>
          <p:nvPr/>
        </p:nvSpPr>
        <p:spPr>
          <a:xfrm>
            <a:off x="886968"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Support quality of life</a:t>
            </a:r>
            <a:endParaRPr lang="en-US" sz="2000" dirty="0"/>
          </a:p>
        </p:txBody>
      </p:sp>
      <p:sp>
        <p:nvSpPr>
          <p:cNvPr id="15" name="Text 13"/>
          <p:cNvSpPr/>
          <p:nvPr/>
        </p:nvSpPr>
        <p:spPr>
          <a:xfrm>
            <a:off x="886968"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Support comfort, quality of life, and follow-up.</a:t>
            </a:r>
            <a:endParaRPr lang="en-US" dirty="0"/>
          </a:p>
        </p:txBody>
      </p:sp>
      <p:sp>
        <p:nvSpPr>
          <p:cNvPr id="16" name="Shape 14"/>
          <p:cNvSpPr/>
          <p:nvPr/>
        </p:nvSpPr>
        <p:spPr>
          <a:xfrm>
            <a:off x="4383938" y="3794760"/>
            <a:ext cx="3423818" cy="1508760"/>
          </a:xfrm>
          <a:prstGeom prst="roundRect">
            <a:avLst>
              <a:gd name="adj" fmla="val 4848"/>
            </a:avLst>
          </a:prstGeom>
          <a:solidFill>
            <a:srgbClr val="EBF3FC"/>
          </a:solidFill>
          <a:ln w="12700">
            <a:solidFill>
              <a:srgbClr val="D3E4F5"/>
            </a:solidFill>
            <a:prstDash val="solid"/>
          </a:ln>
        </p:spPr>
        <p:txBody>
          <a:bodyPr/>
          <a:lstStyle/>
          <a:p>
            <a:endParaRPr lang="en-US" sz="2800" dirty="0"/>
          </a:p>
        </p:txBody>
      </p:sp>
      <p:sp>
        <p:nvSpPr>
          <p:cNvPr id="17" name="Text 15"/>
          <p:cNvSpPr/>
          <p:nvPr/>
        </p:nvSpPr>
        <p:spPr>
          <a:xfrm>
            <a:off x="4585106" y="39410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Explain palliative care</a:t>
            </a:r>
            <a:endParaRPr lang="en-US" sz="2000" dirty="0"/>
          </a:p>
        </p:txBody>
      </p:sp>
      <p:sp>
        <p:nvSpPr>
          <p:cNvPr id="18" name="Text 16"/>
          <p:cNvSpPr/>
          <p:nvPr/>
        </p:nvSpPr>
        <p:spPr>
          <a:xfrm>
            <a:off x="4585106" y="4343400"/>
            <a:ext cx="3021482" cy="96012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Explain palliative care accurately, not only as end of life.</a:t>
            </a:r>
            <a:endParaRPr lang="en-US" dirty="0"/>
          </a:p>
        </p:txBody>
      </p:sp>
      <p:sp>
        <p:nvSpPr>
          <p:cNvPr id="19" name="Text 17"/>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685800" y="638389"/>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022437"/>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Adverse effects and care</a:t>
            </a:r>
            <a:endParaRPr lang="en-US" sz="3000" dirty="0"/>
          </a:p>
        </p:txBody>
      </p:sp>
      <p:sp>
        <p:nvSpPr>
          <p:cNvPr id="4" name="Text 2"/>
          <p:cNvSpPr/>
          <p:nvPr/>
        </p:nvSpPr>
        <p:spPr>
          <a:xfrm>
            <a:off x="685800" y="1461349"/>
            <a:ext cx="10820095" cy="365760"/>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Sort effects into what is expected and manageable, what needs assessment, and what is an urgent warning sign.</a:t>
            </a:r>
            <a:endParaRPr lang="en-US" sz="1300" dirty="0"/>
          </a:p>
        </p:txBody>
      </p:sp>
      <p:sp>
        <p:nvSpPr>
          <p:cNvPr id="5" name="Shape 3"/>
          <p:cNvSpPr/>
          <p:nvPr/>
        </p:nvSpPr>
        <p:spPr>
          <a:xfrm>
            <a:off x="685800" y="1876221"/>
            <a:ext cx="3423818" cy="502920"/>
          </a:xfrm>
          <a:prstGeom prst="roundRect">
            <a:avLst>
              <a:gd name="adj" fmla="val 10909"/>
            </a:avLst>
          </a:prstGeom>
          <a:solidFill>
            <a:srgbClr val="12857F"/>
          </a:solidFill>
          <a:ln/>
        </p:spPr>
        <p:txBody>
          <a:bodyPr/>
          <a:lstStyle/>
          <a:p>
            <a:endParaRPr lang="en-US" sz="2800" dirty="0"/>
          </a:p>
        </p:txBody>
      </p:sp>
      <p:sp>
        <p:nvSpPr>
          <p:cNvPr id="6" name="Text 4"/>
          <p:cNvSpPr/>
          <p:nvPr/>
        </p:nvSpPr>
        <p:spPr>
          <a:xfrm>
            <a:off x="685800" y="1876221"/>
            <a:ext cx="3423818"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Expected or manageable</a:t>
            </a:r>
            <a:endParaRPr lang="en-US" sz="2000" dirty="0"/>
          </a:p>
        </p:txBody>
      </p:sp>
      <p:sp>
        <p:nvSpPr>
          <p:cNvPr id="7" name="Shape 5"/>
          <p:cNvSpPr/>
          <p:nvPr/>
        </p:nvSpPr>
        <p:spPr>
          <a:xfrm>
            <a:off x="685800" y="2470581"/>
            <a:ext cx="3423818" cy="3506888"/>
          </a:xfrm>
          <a:prstGeom prst="roundRect">
            <a:avLst>
              <a:gd name="adj" fmla="val 2667"/>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914400" y="2653461"/>
            <a:ext cx="2966618" cy="411480"/>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  Mild nausea</a:t>
            </a:r>
            <a:endParaRPr lang="en-US" dirty="0"/>
          </a:p>
        </p:txBody>
      </p:sp>
      <p:sp>
        <p:nvSpPr>
          <p:cNvPr id="9" name="Text 7"/>
          <p:cNvSpPr/>
          <p:nvPr/>
        </p:nvSpPr>
        <p:spPr>
          <a:xfrm>
            <a:off x="914400" y="3110661"/>
            <a:ext cx="2966618" cy="411480"/>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  Reduced appetite</a:t>
            </a:r>
            <a:endParaRPr lang="en-US" dirty="0"/>
          </a:p>
        </p:txBody>
      </p:sp>
      <p:sp>
        <p:nvSpPr>
          <p:cNvPr id="10" name="Text 8"/>
          <p:cNvSpPr/>
          <p:nvPr/>
        </p:nvSpPr>
        <p:spPr>
          <a:xfrm>
            <a:off x="914400" y="3567861"/>
            <a:ext cx="2966618" cy="411480"/>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  Fatigue</a:t>
            </a:r>
            <a:endParaRPr lang="en-US" dirty="0"/>
          </a:p>
        </p:txBody>
      </p:sp>
      <p:sp>
        <p:nvSpPr>
          <p:cNvPr id="11" name="Text 9"/>
          <p:cNvSpPr/>
          <p:nvPr/>
        </p:nvSpPr>
        <p:spPr>
          <a:xfrm>
            <a:off x="914400" y="4025061"/>
            <a:ext cx="2966618" cy="411480"/>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  Mild bowel changes</a:t>
            </a:r>
            <a:endParaRPr lang="en-US" dirty="0"/>
          </a:p>
        </p:txBody>
      </p:sp>
      <p:sp>
        <p:nvSpPr>
          <p:cNvPr id="12" name="Shape 10"/>
          <p:cNvSpPr/>
          <p:nvPr/>
        </p:nvSpPr>
        <p:spPr>
          <a:xfrm>
            <a:off x="4383938" y="1876221"/>
            <a:ext cx="3423818" cy="502920"/>
          </a:xfrm>
          <a:prstGeom prst="roundRect">
            <a:avLst>
              <a:gd name="adj" fmla="val 10909"/>
            </a:avLst>
          </a:prstGeom>
          <a:solidFill>
            <a:srgbClr val="1C6FB1"/>
          </a:solidFill>
          <a:ln/>
        </p:spPr>
        <p:txBody>
          <a:bodyPr/>
          <a:lstStyle/>
          <a:p>
            <a:endParaRPr lang="en-US" sz="2800" dirty="0"/>
          </a:p>
        </p:txBody>
      </p:sp>
      <p:sp>
        <p:nvSpPr>
          <p:cNvPr id="13" name="Text 11"/>
          <p:cNvSpPr/>
          <p:nvPr/>
        </p:nvSpPr>
        <p:spPr>
          <a:xfrm>
            <a:off x="4383938" y="1876221"/>
            <a:ext cx="3423818"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Needs assessment</a:t>
            </a:r>
            <a:endParaRPr lang="en-US" sz="2000" dirty="0"/>
          </a:p>
        </p:txBody>
      </p:sp>
      <p:sp>
        <p:nvSpPr>
          <p:cNvPr id="14" name="Shape 12"/>
          <p:cNvSpPr/>
          <p:nvPr/>
        </p:nvSpPr>
        <p:spPr>
          <a:xfrm>
            <a:off x="4383938" y="2470581"/>
            <a:ext cx="3423818" cy="3506888"/>
          </a:xfrm>
          <a:prstGeom prst="roundRect">
            <a:avLst>
              <a:gd name="adj" fmla="val 2667"/>
            </a:avLst>
          </a:prstGeom>
          <a:solidFill>
            <a:srgbClr val="EBF3FC"/>
          </a:solidFill>
          <a:ln w="12700">
            <a:solidFill>
              <a:srgbClr val="D3E4F5"/>
            </a:solidFill>
            <a:prstDash val="solid"/>
          </a:ln>
        </p:spPr>
        <p:txBody>
          <a:bodyPr/>
          <a:lstStyle/>
          <a:p>
            <a:endParaRPr lang="en-US" sz="2800" dirty="0"/>
          </a:p>
        </p:txBody>
      </p:sp>
      <p:sp>
        <p:nvSpPr>
          <p:cNvPr id="15" name="Text 13"/>
          <p:cNvSpPr/>
          <p:nvPr/>
        </p:nvSpPr>
        <p:spPr>
          <a:xfrm>
            <a:off x="4612538" y="2653461"/>
            <a:ext cx="2966618" cy="411480"/>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  Persistent vomiting</a:t>
            </a:r>
            <a:endParaRPr lang="en-US" dirty="0"/>
          </a:p>
        </p:txBody>
      </p:sp>
      <p:sp>
        <p:nvSpPr>
          <p:cNvPr id="16" name="Text 14"/>
          <p:cNvSpPr/>
          <p:nvPr/>
        </p:nvSpPr>
        <p:spPr>
          <a:xfrm>
            <a:off x="4612538" y="3110661"/>
            <a:ext cx="2966618" cy="411480"/>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  Ongoing weight loss</a:t>
            </a:r>
            <a:endParaRPr lang="en-US" dirty="0"/>
          </a:p>
        </p:txBody>
      </p:sp>
      <p:sp>
        <p:nvSpPr>
          <p:cNvPr id="17" name="Text 15"/>
          <p:cNvSpPr/>
          <p:nvPr/>
        </p:nvSpPr>
        <p:spPr>
          <a:xfrm>
            <a:off x="4612538" y="3567861"/>
            <a:ext cx="2966618" cy="411480"/>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  Worsening anaemia</a:t>
            </a:r>
            <a:endParaRPr lang="en-US" dirty="0"/>
          </a:p>
        </p:txBody>
      </p:sp>
      <p:sp>
        <p:nvSpPr>
          <p:cNvPr id="18" name="Text 16"/>
          <p:cNvSpPr/>
          <p:nvPr/>
        </p:nvSpPr>
        <p:spPr>
          <a:xfrm>
            <a:off x="4612538" y="4025061"/>
            <a:ext cx="2966618" cy="411480"/>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  Poor oral intake</a:t>
            </a:r>
            <a:endParaRPr lang="en-US" dirty="0"/>
          </a:p>
        </p:txBody>
      </p:sp>
      <p:sp>
        <p:nvSpPr>
          <p:cNvPr id="19" name="Shape 17"/>
          <p:cNvSpPr/>
          <p:nvPr/>
        </p:nvSpPr>
        <p:spPr>
          <a:xfrm>
            <a:off x="8082077" y="1876221"/>
            <a:ext cx="3423818" cy="502920"/>
          </a:xfrm>
          <a:prstGeom prst="roundRect">
            <a:avLst>
              <a:gd name="adj" fmla="val 10909"/>
            </a:avLst>
          </a:prstGeom>
          <a:solidFill>
            <a:srgbClr val="B23A2E"/>
          </a:solidFill>
          <a:ln/>
        </p:spPr>
        <p:txBody>
          <a:bodyPr/>
          <a:lstStyle/>
          <a:p>
            <a:endParaRPr lang="en-US" sz="2800" dirty="0"/>
          </a:p>
        </p:txBody>
      </p:sp>
      <p:sp>
        <p:nvSpPr>
          <p:cNvPr id="20" name="Text 18"/>
          <p:cNvSpPr/>
          <p:nvPr/>
        </p:nvSpPr>
        <p:spPr>
          <a:xfrm>
            <a:off x="8082077" y="1876221"/>
            <a:ext cx="3423818"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Urgent warning sign</a:t>
            </a:r>
            <a:endParaRPr lang="en-US" sz="2000" dirty="0"/>
          </a:p>
        </p:txBody>
      </p:sp>
      <p:sp>
        <p:nvSpPr>
          <p:cNvPr id="21" name="Shape 19"/>
          <p:cNvSpPr/>
          <p:nvPr/>
        </p:nvSpPr>
        <p:spPr>
          <a:xfrm>
            <a:off x="8082077" y="2470581"/>
            <a:ext cx="3423818" cy="3506888"/>
          </a:xfrm>
          <a:prstGeom prst="roundRect">
            <a:avLst>
              <a:gd name="adj" fmla="val 2667"/>
            </a:avLst>
          </a:prstGeom>
          <a:solidFill>
            <a:srgbClr val="FBE9E7"/>
          </a:solidFill>
          <a:ln w="12700">
            <a:solidFill>
              <a:srgbClr val="E5B4AD"/>
            </a:solidFill>
            <a:prstDash val="solid"/>
          </a:ln>
        </p:spPr>
        <p:txBody>
          <a:bodyPr/>
          <a:lstStyle/>
          <a:p>
            <a:endParaRPr lang="en-US" sz="2800" dirty="0"/>
          </a:p>
        </p:txBody>
      </p:sp>
      <p:sp>
        <p:nvSpPr>
          <p:cNvPr id="22" name="Text 20"/>
          <p:cNvSpPr/>
          <p:nvPr/>
        </p:nvSpPr>
        <p:spPr>
          <a:xfrm>
            <a:off x="8310677" y="2653461"/>
            <a:ext cx="2966618" cy="411480"/>
          </a:xfrm>
          <a:prstGeom prst="rect">
            <a:avLst/>
          </a:prstGeom>
          <a:noFill/>
          <a:ln/>
        </p:spPr>
        <p:txBody>
          <a:bodyPr wrap="square" lIns="0" tIns="0" rIns="0" bIns="0" rtlCol="0" anchor="ctr"/>
          <a:lstStyle/>
          <a:p>
            <a:pPr marL="0" indent="0">
              <a:buNone/>
            </a:pPr>
            <a:r>
              <a:rPr lang="en-US" b="1" dirty="0">
                <a:solidFill>
                  <a:srgbClr val="B23A2E"/>
                </a:solidFill>
                <a:latin typeface="Calibri" pitchFamily="34" charset="0"/>
                <a:ea typeface="Calibri" pitchFamily="34" charset="-122"/>
                <a:cs typeface="Calibri" pitchFamily="34" charset="-120"/>
              </a:rPr>
              <a:t>•  Significant GI bleeding</a:t>
            </a:r>
            <a:endParaRPr lang="en-US" dirty="0"/>
          </a:p>
        </p:txBody>
      </p:sp>
      <p:sp>
        <p:nvSpPr>
          <p:cNvPr id="23" name="Text 21"/>
          <p:cNvSpPr/>
          <p:nvPr/>
        </p:nvSpPr>
        <p:spPr>
          <a:xfrm>
            <a:off x="8310677" y="3110661"/>
            <a:ext cx="2966618" cy="411480"/>
          </a:xfrm>
          <a:prstGeom prst="rect">
            <a:avLst/>
          </a:prstGeom>
          <a:noFill/>
          <a:ln/>
        </p:spPr>
        <p:txBody>
          <a:bodyPr wrap="square" lIns="0" tIns="0" rIns="0" bIns="0" rtlCol="0" anchor="ctr"/>
          <a:lstStyle/>
          <a:p>
            <a:pPr marL="0" indent="0">
              <a:buNone/>
            </a:pPr>
            <a:r>
              <a:rPr lang="en-US" b="1" dirty="0">
                <a:solidFill>
                  <a:srgbClr val="B23A2E"/>
                </a:solidFill>
                <a:latin typeface="Calibri" pitchFamily="34" charset="0"/>
                <a:ea typeface="Calibri" pitchFamily="34" charset="-122"/>
                <a:cs typeface="Calibri" pitchFamily="34" charset="-120"/>
              </a:rPr>
              <a:t>•  Severe dehydration</a:t>
            </a:r>
            <a:endParaRPr lang="en-US" dirty="0"/>
          </a:p>
        </p:txBody>
      </p:sp>
      <p:sp>
        <p:nvSpPr>
          <p:cNvPr id="24" name="Text 22"/>
          <p:cNvSpPr/>
          <p:nvPr/>
        </p:nvSpPr>
        <p:spPr>
          <a:xfrm>
            <a:off x="8310677" y="3645421"/>
            <a:ext cx="2966618" cy="411480"/>
          </a:xfrm>
          <a:prstGeom prst="rect">
            <a:avLst/>
          </a:prstGeom>
          <a:noFill/>
          <a:ln/>
        </p:spPr>
        <p:txBody>
          <a:bodyPr wrap="square" lIns="0" tIns="0" rIns="0" bIns="0" rtlCol="0" anchor="ctr"/>
          <a:lstStyle/>
          <a:p>
            <a:pPr marL="0" indent="0">
              <a:buNone/>
            </a:pPr>
            <a:r>
              <a:rPr lang="en-US" b="1" dirty="0">
                <a:solidFill>
                  <a:srgbClr val="B23A2E"/>
                </a:solidFill>
                <a:latin typeface="Calibri" pitchFamily="34" charset="0"/>
                <a:ea typeface="Calibri" pitchFamily="34" charset="-122"/>
                <a:cs typeface="Calibri" pitchFamily="34" charset="-120"/>
              </a:rPr>
              <a:t>•  Rapid deterioration (marked worsening in overall condition)</a:t>
            </a:r>
            <a:endParaRPr lang="en-US" dirty="0"/>
          </a:p>
        </p:txBody>
      </p:sp>
      <p:sp>
        <p:nvSpPr>
          <p:cNvPr id="25" name="Text 23"/>
          <p:cNvSpPr/>
          <p:nvPr/>
        </p:nvSpPr>
        <p:spPr>
          <a:xfrm>
            <a:off x="8310677" y="4848021"/>
            <a:ext cx="2966618" cy="411480"/>
          </a:xfrm>
          <a:prstGeom prst="rect">
            <a:avLst/>
          </a:prstGeom>
          <a:noFill/>
          <a:ln/>
        </p:spPr>
        <p:txBody>
          <a:bodyPr wrap="square" lIns="0" tIns="0" rIns="0" bIns="0" rtlCol="0" anchor="ctr"/>
          <a:lstStyle/>
          <a:p>
            <a:pPr marL="0" indent="0">
              <a:buNone/>
            </a:pPr>
            <a:r>
              <a:rPr lang="en-US" b="1" dirty="0">
                <a:solidFill>
                  <a:srgbClr val="B23A2E"/>
                </a:solidFill>
                <a:latin typeface="Calibri" pitchFamily="34" charset="0"/>
                <a:ea typeface="Calibri" pitchFamily="34" charset="-122"/>
                <a:cs typeface="Calibri" pitchFamily="34" charset="-120"/>
              </a:rPr>
              <a:t>•  Signs of obstruction (persistent vomiting, inability to tolerate oral intake, increased abdominal distension, or progressive difficulty swallowing</a:t>
            </a:r>
            <a:endParaRPr lang="en-US" dirty="0"/>
          </a:p>
        </p:txBody>
      </p:sp>
      <p:sp>
        <p:nvSpPr>
          <p:cNvPr id="26" name="Text 24"/>
          <p:cNvSpPr/>
          <p:nvPr/>
        </p:nvSpPr>
        <p:spPr>
          <a:xfrm>
            <a:off x="685800" y="64224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Nutrition after treatment</a:t>
            </a:r>
            <a:endParaRPr lang="en-US" sz="3000" dirty="0"/>
          </a:p>
        </p:txBody>
      </p:sp>
      <p:sp>
        <p:nvSpPr>
          <p:cNvPr id="4" name="Shape 2"/>
          <p:cNvSpPr/>
          <p:nvPr/>
        </p:nvSpPr>
        <p:spPr>
          <a:xfrm>
            <a:off x="685800" y="2011680"/>
            <a:ext cx="3961660" cy="3502152"/>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71521"/>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Smaller, frequent, nutrient-dense meals</a:t>
            </a:r>
            <a:endParaRPr lang="en-US" sz="2000" dirty="0"/>
          </a:p>
        </p:txBody>
      </p:sp>
      <p:sp>
        <p:nvSpPr>
          <p:cNvPr id="6" name="Text 4"/>
          <p:cNvSpPr/>
          <p:nvPr/>
        </p:nvSpPr>
        <p:spPr>
          <a:xfrm>
            <a:off x="886968" y="2925815"/>
            <a:ext cx="3620864"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After gastrectomy, reduced stomach capacity means smaller, more frequent meals help maintain intake.</a:t>
            </a:r>
          </a:p>
          <a:p>
            <a:pPr marL="0" indent="0">
              <a:lnSpc>
                <a:spcPct val="100000"/>
              </a:lnSpc>
              <a:buNone/>
            </a:pPr>
            <a:r>
              <a:rPr lang="en-US" dirty="0">
                <a:solidFill>
                  <a:srgbClr val="1F3B50"/>
                </a:solidFill>
                <a:latin typeface="Calibri" pitchFamily="34" charset="0"/>
                <a:ea typeface="Calibri" pitchFamily="34" charset="-122"/>
                <a:cs typeface="Calibri" pitchFamily="34" charset="-120"/>
              </a:rPr>
              <a:t>Recommend soft, well-cooked foods that are easier to eat and digest, and prioritize protein- and calorie-rich foods such as eggs, yogurt, soft-cooked vegetables, nut butters, and healthy oils.</a:t>
            </a:r>
          </a:p>
        </p:txBody>
      </p:sp>
      <p:sp>
        <p:nvSpPr>
          <p:cNvPr id="7" name="Shape 5"/>
          <p:cNvSpPr/>
          <p:nvPr/>
        </p:nvSpPr>
        <p:spPr>
          <a:xfrm>
            <a:off x="4828674" y="2011680"/>
            <a:ext cx="3187627" cy="3502152"/>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954072" y="2345273"/>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Monitor weight and intake</a:t>
            </a:r>
            <a:endParaRPr lang="en-US" sz="2000" dirty="0"/>
          </a:p>
        </p:txBody>
      </p:sp>
      <p:sp>
        <p:nvSpPr>
          <p:cNvPr id="9" name="Text 7"/>
          <p:cNvSpPr/>
          <p:nvPr/>
        </p:nvSpPr>
        <p:spPr>
          <a:xfrm>
            <a:off x="4954072" y="2989983"/>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Watch for ongoing weight loss, early satiety, and inadequate oral intake, and act on them.</a:t>
            </a:r>
            <a:endParaRPr lang="en-US" dirty="0"/>
          </a:p>
        </p:txBody>
      </p:sp>
      <p:sp>
        <p:nvSpPr>
          <p:cNvPr id="10" name="Shape 8"/>
          <p:cNvSpPr/>
          <p:nvPr/>
        </p:nvSpPr>
        <p:spPr>
          <a:xfrm>
            <a:off x="8197515" y="2011680"/>
            <a:ext cx="3308379" cy="3502152"/>
          </a:xfrm>
          <a:prstGeom prst="roundRect">
            <a:avLst>
              <a:gd name="adj" fmla="val 4571"/>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331371" y="2235690"/>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Deficiency risk</a:t>
            </a:r>
            <a:endParaRPr lang="en-US" sz="2000" dirty="0"/>
          </a:p>
        </p:txBody>
      </p:sp>
      <p:sp>
        <p:nvSpPr>
          <p:cNvPr id="12" name="Text 10"/>
          <p:cNvSpPr/>
          <p:nvPr/>
        </p:nvSpPr>
        <p:spPr>
          <a:xfrm>
            <a:off x="8331371" y="2604975"/>
            <a:ext cx="3021482" cy="105156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There is a risk of nutritional deficiencies. Refer for dietetic or specialist support where available.</a:t>
            </a:r>
            <a:endParaRPr lang="en-US" dirty="0"/>
          </a:p>
        </p:txBody>
      </p:sp>
      <p:sp>
        <p:nvSpPr>
          <p:cNvPr id="13" name="Shape 11"/>
          <p:cNvSpPr/>
          <p:nvPr/>
        </p:nvSpPr>
        <p:spPr>
          <a:xfrm>
            <a:off x="685800" y="5739060"/>
            <a:ext cx="10820095" cy="640080"/>
          </a:xfrm>
          <a:prstGeom prst="roundRect">
            <a:avLst>
              <a:gd name="adj" fmla="val 8571"/>
            </a:avLst>
          </a:prstGeom>
          <a:solidFill>
            <a:srgbClr val="FCEFDD"/>
          </a:solidFill>
          <a:ln w="12700">
            <a:solidFill>
              <a:srgbClr val="EBC48A"/>
            </a:solidFill>
            <a:prstDash val="solid"/>
          </a:ln>
        </p:spPr>
        <p:txBody>
          <a:bodyPr/>
          <a:lstStyle/>
          <a:p>
            <a:endParaRPr lang="en-US" sz="2800" dirty="0"/>
          </a:p>
        </p:txBody>
      </p:sp>
      <p:sp>
        <p:nvSpPr>
          <p:cNvPr id="14" name="Text 12"/>
          <p:cNvSpPr/>
          <p:nvPr/>
        </p:nvSpPr>
        <p:spPr>
          <a:xfrm>
            <a:off x="868680" y="5739060"/>
            <a:ext cx="10454335" cy="640080"/>
          </a:xfrm>
          <a:prstGeom prst="rect">
            <a:avLst/>
          </a:prstGeom>
          <a:noFill/>
          <a:ln/>
        </p:spPr>
        <p:txBody>
          <a:bodyPr wrap="square" lIns="0" tIns="0" rIns="0" bIns="0" rtlCol="0" anchor="ctr"/>
          <a:lstStyle/>
          <a:p>
            <a:pPr marL="0" indent="0">
              <a:buNone/>
            </a:pPr>
            <a:r>
              <a:rPr lang="en-US" dirty="0">
                <a:solidFill>
                  <a:srgbClr val="C77A17"/>
                </a:solidFill>
                <a:latin typeface="Calibri" pitchFamily="34" charset="0"/>
                <a:ea typeface="Calibri" pitchFamily="34" charset="-122"/>
                <a:cs typeface="Calibri" pitchFamily="34" charset="-120"/>
              </a:rPr>
              <a:t>Do not treat weight loss as harmless or inevitable. Escalate when oral intake is inadequate.</a:t>
            </a:r>
            <a:endParaRPr lang="en-US"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Palliative care</a:t>
            </a:r>
            <a:endParaRPr lang="en-US" sz="3000" dirty="0"/>
          </a:p>
        </p:txBody>
      </p:sp>
      <p:sp>
        <p:nvSpPr>
          <p:cNvPr id="4" name="Shape 2"/>
          <p:cNvSpPr/>
          <p:nvPr/>
        </p:nvSpPr>
        <p:spPr>
          <a:xfrm>
            <a:off x="685800" y="2011679"/>
            <a:ext cx="3423818" cy="3078113"/>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What it is</a:t>
            </a:r>
            <a:endParaRPr lang="en-US" sz="2000" dirty="0"/>
          </a:p>
        </p:txBody>
      </p:sp>
      <p:sp>
        <p:nvSpPr>
          <p:cNvPr id="6" name="Text 4"/>
          <p:cNvSpPr/>
          <p:nvPr/>
        </p:nvSpPr>
        <p:spPr>
          <a:xfrm>
            <a:off x="886968" y="2560320"/>
            <a:ext cx="3021482" cy="11430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Relief of symptoms and support for quality of life, alongside treatment when appropriate.</a:t>
            </a:r>
            <a:endParaRPr lang="en-US" dirty="0"/>
          </a:p>
        </p:txBody>
      </p:sp>
      <p:sp>
        <p:nvSpPr>
          <p:cNvPr id="7" name="Shape 5"/>
          <p:cNvSpPr/>
          <p:nvPr/>
        </p:nvSpPr>
        <p:spPr>
          <a:xfrm>
            <a:off x="4383938" y="2011679"/>
            <a:ext cx="3423818" cy="3078113"/>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Not only end of life</a:t>
            </a:r>
            <a:endParaRPr lang="en-US" sz="2000" dirty="0"/>
          </a:p>
        </p:txBody>
      </p:sp>
      <p:sp>
        <p:nvSpPr>
          <p:cNvPr id="9" name="Text 7"/>
          <p:cNvSpPr/>
          <p:nvPr/>
        </p:nvSpPr>
        <p:spPr>
          <a:xfrm>
            <a:off x="4585106" y="2560320"/>
            <a:ext cx="3021482" cy="11430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It is not limited to the last days of life and can start early in the illness.</a:t>
            </a:r>
            <a:endParaRPr lang="en-US" dirty="0"/>
          </a:p>
        </p:txBody>
      </p:sp>
      <p:sp>
        <p:nvSpPr>
          <p:cNvPr id="10" name="Shape 8"/>
          <p:cNvSpPr/>
          <p:nvPr/>
        </p:nvSpPr>
        <p:spPr>
          <a:xfrm>
            <a:off x="8082077" y="2011679"/>
            <a:ext cx="3423818" cy="3078113"/>
          </a:xfrm>
          <a:prstGeom prst="roundRect">
            <a:avLst>
              <a:gd name="adj" fmla="val 4324"/>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5798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In advanced disease</a:t>
            </a:r>
            <a:endParaRPr lang="en-US" sz="2000" dirty="0"/>
          </a:p>
        </p:txBody>
      </p:sp>
      <p:sp>
        <p:nvSpPr>
          <p:cNvPr id="12" name="Text 10"/>
          <p:cNvSpPr/>
          <p:nvPr/>
        </p:nvSpPr>
        <p:spPr>
          <a:xfrm>
            <a:off x="8283245" y="2560320"/>
            <a:ext cx="3021482" cy="11430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Helps with pain, nausea, nutrition-related symptoms, bleeding, obstruction, fatigue, and distress.</a:t>
            </a:r>
            <a:endParaRPr lang="en-US" dirty="0"/>
          </a:p>
        </p:txBody>
      </p:sp>
      <p:sp>
        <p:nvSpPr>
          <p:cNvPr id="13" name="Shape 11"/>
          <p:cNvSpPr/>
          <p:nvPr/>
        </p:nvSpPr>
        <p:spPr>
          <a:xfrm>
            <a:off x="685800" y="5257800"/>
            <a:ext cx="10820095" cy="640080"/>
          </a:xfrm>
          <a:prstGeom prst="roundRect">
            <a:avLst>
              <a:gd name="adj" fmla="val 8571"/>
            </a:avLst>
          </a:prstGeom>
          <a:solidFill>
            <a:srgbClr val="FCEFDD"/>
          </a:solidFill>
          <a:ln w="12700">
            <a:solidFill>
              <a:srgbClr val="EBC48A"/>
            </a:solidFill>
            <a:prstDash val="solid"/>
          </a:ln>
        </p:spPr>
        <p:txBody>
          <a:bodyPr/>
          <a:lstStyle/>
          <a:p>
            <a:endParaRPr lang="en-US" dirty="0"/>
          </a:p>
        </p:txBody>
      </p:sp>
      <p:sp>
        <p:nvSpPr>
          <p:cNvPr id="14" name="Text 12"/>
          <p:cNvSpPr/>
          <p:nvPr/>
        </p:nvSpPr>
        <p:spPr>
          <a:xfrm>
            <a:off x="868680" y="5257800"/>
            <a:ext cx="10454335" cy="640080"/>
          </a:xfrm>
          <a:prstGeom prst="rect">
            <a:avLst/>
          </a:prstGeom>
          <a:noFill/>
          <a:ln/>
        </p:spPr>
        <p:txBody>
          <a:bodyPr wrap="square" lIns="0" tIns="0" rIns="0" bIns="0" rtlCol="0" anchor="ctr"/>
          <a:lstStyle/>
          <a:p>
            <a:pPr marL="0" indent="0">
              <a:buNone/>
            </a:pPr>
            <a:r>
              <a:rPr lang="en-US" dirty="0">
                <a:solidFill>
                  <a:srgbClr val="C77A17"/>
                </a:solidFill>
                <a:latin typeface="Calibri" pitchFamily="34" charset="0"/>
                <a:ea typeface="Calibri" pitchFamily="34" charset="-122"/>
                <a:cs typeface="Calibri" pitchFamily="34" charset="-120"/>
              </a:rPr>
              <a:t>Identify serious complications, such as significant bleeding or obstruction, that need urgent escalation.</a:t>
            </a:r>
            <a:endParaRPr lang="en-US" dirty="0"/>
          </a:p>
        </p:txBody>
      </p:sp>
      <p:sp>
        <p:nvSpPr>
          <p:cNvPr id="15" name="Text 13"/>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Quality of life</a:t>
            </a:r>
            <a:endParaRPr lang="en-US" sz="3000" dirty="0"/>
          </a:p>
        </p:txBody>
      </p:sp>
      <p:sp>
        <p:nvSpPr>
          <p:cNvPr id="4" name="Shape 2"/>
          <p:cNvSpPr/>
          <p:nvPr/>
        </p:nvSpPr>
        <p:spPr>
          <a:xfrm>
            <a:off x="685800" y="1976977"/>
            <a:ext cx="3423818" cy="3931920"/>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886968"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Eating and weight</a:t>
            </a:r>
            <a:endParaRPr lang="en-US" sz="2000" dirty="0"/>
          </a:p>
        </p:txBody>
      </p:sp>
      <p:sp>
        <p:nvSpPr>
          <p:cNvPr id="6" name="Text 4"/>
          <p:cNvSpPr/>
          <p:nvPr/>
        </p:nvSpPr>
        <p:spPr>
          <a:xfrm>
            <a:off x="886968" y="2514600"/>
            <a:ext cx="3021482" cy="9144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Nutrition, appetite, and weight strongly affect daily life after treatment.</a:t>
            </a:r>
            <a:endParaRPr lang="en-US" dirty="0"/>
          </a:p>
        </p:txBody>
      </p:sp>
      <p:sp>
        <p:nvSpPr>
          <p:cNvPr id="7" name="Shape 5"/>
          <p:cNvSpPr/>
          <p:nvPr/>
        </p:nvSpPr>
        <p:spPr>
          <a:xfrm>
            <a:off x="4383938" y="1976977"/>
            <a:ext cx="3423818" cy="3931920"/>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8" name="Text 6"/>
          <p:cNvSpPr/>
          <p:nvPr/>
        </p:nvSpPr>
        <p:spPr>
          <a:xfrm>
            <a:off x="4585106"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Physical and emotional</a:t>
            </a:r>
            <a:endParaRPr lang="en-US" sz="2000" dirty="0"/>
          </a:p>
        </p:txBody>
      </p:sp>
      <p:sp>
        <p:nvSpPr>
          <p:cNvPr id="9" name="Text 7"/>
          <p:cNvSpPr/>
          <p:nvPr/>
        </p:nvSpPr>
        <p:spPr>
          <a:xfrm>
            <a:off x="4585106" y="2514600"/>
            <a:ext cx="3021482" cy="9144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Fatigue, pain, physical function, and emotional wellbeing all matter.</a:t>
            </a:r>
            <a:endParaRPr lang="en-US" dirty="0"/>
          </a:p>
        </p:txBody>
      </p:sp>
      <p:sp>
        <p:nvSpPr>
          <p:cNvPr id="10" name="Shape 8"/>
          <p:cNvSpPr/>
          <p:nvPr/>
        </p:nvSpPr>
        <p:spPr>
          <a:xfrm>
            <a:off x="8082077" y="1976977"/>
            <a:ext cx="3423818" cy="3931920"/>
          </a:xfrm>
          <a:prstGeom prst="roundRect">
            <a:avLst>
              <a:gd name="adj" fmla="val 5000"/>
            </a:avLst>
          </a:prstGeom>
          <a:solidFill>
            <a:srgbClr val="EBF3FC"/>
          </a:solidFill>
          <a:ln w="12700">
            <a:solidFill>
              <a:srgbClr val="D3E4F5"/>
            </a:solidFill>
            <a:prstDash val="solid"/>
          </a:ln>
        </p:spPr>
        <p:txBody>
          <a:bodyPr/>
          <a:lstStyle/>
          <a:p>
            <a:endParaRPr lang="en-US" sz="2800" dirty="0"/>
          </a:p>
        </p:txBody>
      </p:sp>
      <p:sp>
        <p:nvSpPr>
          <p:cNvPr id="11" name="Text 9"/>
          <p:cNvSpPr/>
          <p:nvPr/>
        </p:nvSpPr>
        <p:spPr>
          <a:xfrm>
            <a:off x="8283245" y="2112264"/>
            <a:ext cx="3021482" cy="457200"/>
          </a:xfrm>
          <a:prstGeom prst="rect">
            <a:avLst/>
          </a:prstGeom>
          <a:noFill/>
          <a:ln/>
        </p:spPr>
        <p:txBody>
          <a:bodyPr wrap="square" lIns="0" tIns="0" rIns="0" bIns="0" rtlCol="0" anchor="t"/>
          <a:lstStyle/>
          <a:p>
            <a:pPr marL="0" indent="0">
              <a:buNone/>
            </a:pPr>
            <a:r>
              <a:rPr lang="en-US" sz="2000" b="1" dirty="0">
                <a:solidFill>
                  <a:srgbClr val="12406B"/>
                </a:solidFill>
                <a:latin typeface="Cambria" pitchFamily="34" charset="0"/>
                <a:ea typeface="Cambria" pitchFamily="34" charset="-122"/>
                <a:cs typeface="Cambria" pitchFamily="34" charset="-120"/>
              </a:rPr>
              <a:t>Practical and social</a:t>
            </a:r>
            <a:endParaRPr lang="en-US" sz="2000" dirty="0"/>
          </a:p>
        </p:txBody>
      </p:sp>
      <p:sp>
        <p:nvSpPr>
          <p:cNvPr id="12" name="Text 10"/>
          <p:cNvSpPr/>
          <p:nvPr/>
        </p:nvSpPr>
        <p:spPr>
          <a:xfrm>
            <a:off x="8283245" y="2514600"/>
            <a:ext cx="3021482" cy="914400"/>
          </a:xfrm>
          <a:prstGeom prst="rect">
            <a:avLst/>
          </a:prstGeom>
          <a:noFill/>
          <a:ln/>
        </p:spPr>
        <p:txBody>
          <a:bodyPr wrap="square" lIns="0" tIns="0" rIns="0" bIns="0" rtlCol="0" anchor="t"/>
          <a:lstStyle/>
          <a:p>
            <a:pPr marL="0" indent="0">
              <a:lnSpc>
                <a:spcPct val="100000"/>
              </a:lnSpc>
              <a:buNone/>
            </a:pPr>
            <a:r>
              <a:rPr lang="en-US" dirty="0">
                <a:solidFill>
                  <a:srgbClr val="1F3B50"/>
                </a:solidFill>
                <a:latin typeface="Calibri" pitchFamily="34" charset="0"/>
                <a:ea typeface="Calibri" pitchFamily="34" charset="-122"/>
                <a:cs typeface="Calibri" pitchFamily="34" charset="-120"/>
              </a:rPr>
              <a:t>Relationships, work, finances, follow-up, and treatment adherence.</a:t>
            </a:r>
            <a:endParaRPr lang="en-US" dirty="0"/>
          </a:p>
        </p:txBody>
      </p:sp>
      <p:sp>
        <p:nvSpPr>
          <p:cNvPr id="13" name="Text 11"/>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1B7C2-1B3F-714A-2F64-5DA900BC44C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8596A8C-A972-8DD2-9704-7CDFCD63B951}"/>
              </a:ext>
            </a:extLst>
          </p:cNvPr>
          <p:cNvSpPr/>
          <p:nvPr/>
        </p:nvSpPr>
        <p:spPr>
          <a:xfrm>
            <a:off x="685800" y="441505"/>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13" name="Text 11">
            <a:extLst>
              <a:ext uri="{FF2B5EF4-FFF2-40B4-BE49-F238E27FC236}">
                <a16:creationId xmlns:a16="http://schemas.microsoft.com/office/drawing/2014/main" id="{65778301-AF61-2B14-9B21-35B205109FAD}"/>
              </a:ext>
            </a:extLst>
          </p:cNvPr>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15" name="Imagen 14">
            <a:extLst>
              <a:ext uri="{FF2B5EF4-FFF2-40B4-BE49-F238E27FC236}">
                <a16:creationId xmlns:a16="http://schemas.microsoft.com/office/drawing/2014/main" id="{AFB9EE37-548B-FCF4-C1D6-5176A4F5809F}"/>
              </a:ext>
            </a:extLst>
          </p:cNvPr>
          <p:cNvPicPr>
            <a:picLocks noChangeAspect="1"/>
          </p:cNvPicPr>
          <p:nvPr/>
        </p:nvPicPr>
        <p:blipFill>
          <a:blip r:embed="rId3"/>
          <a:stretch>
            <a:fillRect/>
          </a:stretch>
        </p:blipFill>
        <p:spPr>
          <a:xfrm>
            <a:off x="1545335" y="715825"/>
            <a:ext cx="8551005" cy="5700670"/>
          </a:xfrm>
          <a:prstGeom prst="rect">
            <a:avLst/>
          </a:prstGeom>
        </p:spPr>
      </p:pic>
    </p:spTree>
    <p:extLst>
      <p:ext uri="{BB962C8B-B14F-4D97-AF65-F5344CB8AC3E}">
        <p14:creationId xmlns:p14="http://schemas.microsoft.com/office/powerpoint/2010/main" val="42947879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Urgent warning signs</a:t>
            </a:r>
            <a:endParaRPr lang="en-US" sz="3000" dirty="0"/>
          </a:p>
        </p:txBody>
      </p:sp>
      <p:sp>
        <p:nvSpPr>
          <p:cNvPr id="4" name="Text 2"/>
          <p:cNvSpPr/>
          <p:nvPr/>
        </p:nvSpPr>
        <p:spPr>
          <a:xfrm>
            <a:off x="685800" y="1783080"/>
            <a:ext cx="10820095" cy="365760"/>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These need urgent assessment. Recognise them and escalate without delay.</a:t>
            </a:r>
            <a:endParaRPr lang="en-US" sz="1300" dirty="0"/>
          </a:p>
        </p:txBody>
      </p:sp>
      <p:sp>
        <p:nvSpPr>
          <p:cNvPr id="23" name="Text 21"/>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pic>
        <p:nvPicPr>
          <p:cNvPr id="24" name="Imagen 23">
            <a:extLst>
              <a:ext uri="{FF2B5EF4-FFF2-40B4-BE49-F238E27FC236}">
                <a16:creationId xmlns:a16="http://schemas.microsoft.com/office/drawing/2014/main" id="{B9EB27F0-3F82-2612-AE51-59013E9747EA}"/>
              </a:ext>
            </a:extLst>
          </p:cNvPr>
          <p:cNvPicPr>
            <a:picLocks noChangeAspect="1"/>
          </p:cNvPicPr>
          <p:nvPr/>
        </p:nvPicPr>
        <p:blipFill>
          <a:blip r:embed="rId3"/>
          <a:stretch>
            <a:fillRect/>
          </a:stretch>
        </p:blipFill>
        <p:spPr>
          <a:xfrm>
            <a:off x="3114850" y="2264629"/>
            <a:ext cx="5961993" cy="3974662"/>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Apply it</a:t>
            </a:r>
            <a:endParaRPr lang="en-US" sz="3000" dirty="0"/>
          </a:p>
        </p:txBody>
      </p:sp>
      <p:sp>
        <p:nvSpPr>
          <p:cNvPr id="4" name="Shape 2"/>
          <p:cNvSpPr/>
          <p:nvPr/>
        </p:nvSpPr>
        <p:spPr>
          <a:xfrm>
            <a:off x="685800" y="1965960"/>
            <a:ext cx="6675120" cy="777240"/>
          </a:xfrm>
          <a:prstGeom prst="roundRect">
            <a:avLst>
              <a:gd name="adj" fmla="val 7059"/>
            </a:avLst>
          </a:prstGeom>
          <a:solidFill>
            <a:srgbClr val="EBF3FC"/>
          </a:solidFill>
          <a:ln w="12700">
            <a:solidFill>
              <a:srgbClr val="1C6FB1"/>
            </a:solidFill>
            <a:prstDash val="solid"/>
          </a:ln>
        </p:spPr>
        <p:txBody>
          <a:bodyPr/>
          <a:lstStyle/>
          <a:p>
            <a:endParaRPr lang="en-US" sz="2800" dirty="0"/>
          </a:p>
        </p:txBody>
      </p:sp>
      <p:sp>
        <p:nvSpPr>
          <p:cNvPr id="5" name="Text 3"/>
          <p:cNvSpPr/>
          <p:nvPr/>
        </p:nvSpPr>
        <p:spPr>
          <a:xfrm>
            <a:off x="868680" y="1965960"/>
            <a:ext cx="6309360" cy="777240"/>
          </a:xfrm>
          <a:prstGeom prst="rect">
            <a:avLst/>
          </a:prstGeom>
          <a:noFill/>
          <a:ln/>
        </p:spPr>
        <p:txBody>
          <a:bodyPr wrap="square" lIns="0" tIns="0" rIns="0" bIns="0" rtlCol="0" anchor="ctr"/>
          <a:lstStyle/>
          <a:p>
            <a:pPr marL="0" indent="0">
              <a:buNone/>
            </a:pPr>
            <a:r>
              <a:rPr lang="en-US" b="1" dirty="0">
                <a:solidFill>
                  <a:srgbClr val="1C6FB1"/>
                </a:solidFill>
                <a:latin typeface="Calibri" pitchFamily="34" charset="0"/>
                <a:ea typeface="Calibri" pitchFamily="34" charset="-122"/>
                <a:cs typeface="Calibri" pitchFamily="34" charset="-120"/>
              </a:rPr>
              <a:t>Scenario  </a:t>
            </a:r>
            <a:r>
              <a:rPr lang="en-US" dirty="0">
                <a:solidFill>
                  <a:srgbClr val="1F3B50"/>
                </a:solidFill>
                <a:latin typeface="Calibri" pitchFamily="34" charset="0"/>
                <a:ea typeface="Calibri" pitchFamily="34" charset="-122"/>
                <a:cs typeface="Calibri" pitchFamily="34" charset="-120"/>
              </a:rPr>
              <a:t>A patient on treatment reports vomiting blood, feeling very weak, and lightheadedness when standing.</a:t>
            </a:r>
            <a:endParaRPr lang="en-US" dirty="0"/>
          </a:p>
        </p:txBody>
      </p:sp>
      <p:sp>
        <p:nvSpPr>
          <p:cNvPr id="6" name="Text 4"/>
          <p:cNvSpPr/>
          <p:nvPr/>
        </p:nvSpPr>
        <p:spPr>
          <a:xfrm>
            <a:off x="685800" y="2926080"/>
            <a:ext cx="6675120" cy="457200"/>
          </a:xfrm>
          <a:prstGeom prst="rect">
            <a:avLst/>
          </a:prstGeom>
          <a:noFill/>
          <a:ln/>
        </p:spPr>
        <p:txBody>
          <a:bodyPr wrap="square" lIns="0" tIns="0" rIns="0" bIns="0" rtlCol="0" anchor="ctr"/>
          <a:lstStyle/>
          <a:p>
            <a:pPr marL="0" indent="0">
              <a:buNone/>
            </a:pPr>
            <a:r>
              <a:rPr lang="en-US" sz="2400" b="1" dirty="0">
                <a:solidFill>
                  <a:srgbClr val="12406B"/>
                </a:solidFill>
                <a:latin typeface="Cambria" pitchFamily="34" charset="0"/>
                <a:ea typeface="Cambria" pitchFamily="34" charset="-122"/>
                <a:cs typeface="Cambria" pitchFamily="34" charset="-120"/>
              </a:rPr>
              <a:t>What is the priority?</a:t>
            </a:r>
            <a:endParaRPr lang="en-US" sz="2400" dirty="0"/>
          </a:p>
        </p:txBody>
      </p:sp>
      <p:sp>
        <p:nvSpPr>
          <p:cNvPr id="7" name="Shape 5"/>
          <p:cNvSpPr/>
          <p:nvPr/>
        </p:nvSpPr>
        <p:spPr>
          <a:xfrm>
            <a:off x="685800" y="3383280"/>
            <a:ext cx="6675120" cy="566928"/>
          </a:xfrm>
          <a:prstGeom prst="roundRect">
            <a:avLst>
              <a:gd name="adj" fmla="val 8065"/>
            </a:avLst>
          </a:prstGeom>
          <a:solidFill>
            <a:srgbClr val="FFFFFF"/>
          </a:solidFill>
          <a:ln w="12700">
            <a:solidFill>
              <a:srgbClr val="D3E4F5"/>
            </a:solidFill>
            <a:prstDash val="solid"/>
          </a:ln>
        </p:spPr>
        <p:txBody>
          <a:bodyPr/>
          <a:lstStyle/>
          <a:p>
            <a:endParaRPr lang="en-US" sz="2800" dirty="0"/>
          </a:p>
        </p:txBody>
      </p:sp>
      <p:sp>
        <p:nvSpPr>
          <p:cNvPr id="8" name="Shape 6"/>
          <p:cNvSpPr/>
          <p:nvPr/>
        </p:nvSpPr>
        <p:spPr>
          <a:xfrm>
            <a:off x="795528" y="3511296"/>
            <a:ext cx="310896" cy="310896"/>
          </a:xfrm>
          <a:prstGeom prst="ellipse">
            <a:avLst/>
          </a:prstGeom>
          <a:solidFill>
            <a:srgbClr val="0C3D66"/>
          </a:solidFill>
          <a:ln/>
        </p:spPr>
        <p:txBody>
          <a:bodyPr/>
          <a:lstStyle/>
          <a:p>
            <a:endParaRPr lang="en-US" sz="2800" dirty="0"/>
          </a:p>
        </p:txBody>
      </p:sp>
      <p:sp>
        <p:nvSpPr>
          <p:cNvPr id="9" name="Text 7"/>
          <p:cNvSpPr/>
          <p:nvPr/>
        </p:nvSpPr>
        <p:spPr>
          <a:xfrm>
            <a:off x="795528" y="3511296"/>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10" name="Text 8"/>
          <p:cNvSpPr/>
          <p:nvPr/>
        </p:nvSpPr>
        <p:spPr>
          <a:xfrm>
            <a:off x="1234440" y="3383280"/>
            <a:ext cx="58521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Reassure and review next month</a:t>
            </a:r>
            <a:endParaRPr lang="en-US" dirty="0"/>
          </a:p>
        </p:txBody>
      </p:sp>
      <p:sp>
        <p:nvSpPr>
          <p:cNvPr id="11" name="Shape 9"/>
          <p:cNvSpPr/>
          <p:nvPr/>
        </p:nvSpPr>
        <p:spPr>
          <a:xfrm>
            <a:off x="685800" y="4096512"/>
            <a:ext cx="6675120" cy="566928"/>
          </a:xfrm>
          <a:prstGeom prst="roundRect">
            <a:avLst>
              <a:gd name="adj" fmla="val 8065"/>
            </a:avLst>
          </a:prstGeom>
          <a:solidFill>
            <a:srgbClr val="E6F4EB"/>
          </a:solidFill>
          <a:ln w="19050">
            <a:solidFill>
              <a:srgbClr val="9BCFA6"/>
            </a:solidFill>
            <a:prstDash val="solid"/>
          </a:ln>
        </p:spPr>
        <p:txBody>
          <a:bodyPr/>
          <a:lstStyle/>
          <a:p>
            <a:endParaRPr lang="en-US" sz="2800" dirty="0"/>
          </a:p>
        </p:txBody>
      </p:sp>
      <p:sp>
        <p:nvSpPr>
          <p:cNvPr id="12" name="Shape 10"/>
          <p:cNvSpPr/>
          <p:nvPr/>
        </p:nvSpPr>
        <p:spPr>
          <a:xfrm>
            <a:off x="795528" y="4224528"/>
            <a:ext cx="310896" cy="310896"/>
          </a:xfrm>
          <a:prstGeom prst="ellipse">
            <a:avLst/>
          </a:prstGeom>
          <a:solidFill>
            <a:srgbClr val="1E7A46"/>
          </a:solidFill>
          <a:ln/>
        </p:spPr>
        <p:txBody>
          <a:bodyPr/>
          <a:lstStyle/>
          <a:p>
            <a:endParaRPr lang="en-US" sz="2800" dirty="0"/>
          </a:p>
        </p:txBody>
      </p:sp>
      <p:sp>
        <p:nvSpPr>
          <p:cNvPr id="13" name="Text 11"/>
          <p:cNvSpPr/>
          <p:nvPr/>
        </p:nvSpPr>
        <p:spPr>
          <a:xfrm>
            <a:off x="795528" y="4224528"/>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4" name="Text 12"/>
          <p:cNvSpPr/>
          <p:nvPr/>
        </p:nvSpPr>
        <p:spPr>
          <a:xfrm>
            <a:off x="1234440" y="4096512"/>
            <a:ext cx="5852160" cy="566928"/>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Arrange urgent assessment for significant gastrointestinal bleeding</a:t>
            </a:r>
            <a:endParaRPr lang="en-US" dirty="0"/>
          </a:p>
        </p:txBody>
      </p:sp>
      <p:sp>
        <p:nvSpPr>
          <p:cNvPr id="15" name="Text 13"/>
          <p:cNvSpPr/>
          <p:nvPr/>
        </p:nvSpPr>
        <p:spPr>
          <a:xfrm>
            <a:off x="6995160" y="4096512"/>
            <a:ext cx="274320" cy="566928"/>
          </a:xfrm>
          <a:prstGeom prst="rect">
            <a:avLst/>
          </a:prstGeom>
          <a:noFill/>
          <a:ln/>
        </p:spPr>
        <p:txBody>
          <a:bodyPr wrap="square" lIns="0" tIns="0" rIns="0" bIns="0" rtlCol="0" anchor="ctr"/>
          <a:lstStyle/>
          <a:p>
            <a:pPr marL="0" indent="0" algn="ctr">
              <a:buNone/>
            </a:pPr>
            <a:r>
              <a:rPr lang="en-US" sz="2000" b="1" dirty="0">
                <a:solidFill>
                  <a:srgbClr val="1E7A4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85800" y="4809744"/>
            <a:ext cx="6675120" cy="566928"/>
          </a:xfrm>
          <a:prstGeom prst="roundRect">
            <a:avLst>
              <a:gd name="adj" fmla="val 8065"/>
            </a:avLst>
          </a:prstGeom>
          <a:solidFill>
            <a:srgbClr val="FFFFFF"/>
          </a:solidFill>
          <a:ln w="12700">
            <a:solidFill>
              <a:srgbClr val="D3E4F5"/>
            </a:solidFill>
            <a:prstDash val="solid"/>
          </a:ln>
        </p:spPr>
        <p:txBody>
          <a:bodyPr/>
          <a:lstStyle/>
          <a:p>
            <a:endParaRPr lang="en-US" sz="2800" dirty="0"/>
          </a:p>
        </p:txBody>
      </p:sp>
      <p:sp>
        <p:nvSpPr>
          <p:cNvPr id="17" name="Shape 15"/>
          <p:cNvSpPr/>
          <p:nvPr/>
        </p:nvSpPr>
        <p:spPr>
          <a:xfrm>
            <a:off x="795528" y="4937760"/>
            <a:ext cx="310896" cy="310896"/>
          </a:xfrm>
          <a:prstGeom prst="ellipse">
            <a:avLst/>
          </a:prstGeom>
          <a:solidFill>
            <a:srgbClr val="0C3D66"/>
          </a:solidFill>
          <a:ln/>
        </p:spPr>
        <p:txBody>
          <a:bodyPr/>
          <a:lstStyle/>
          <a:p>
            <a:endParaRPr lang="en-US" sz="2800" dirty="0"/>
          </a:p>
        </p:txBody>
      </p:sp>
      <p:sp>
        <p:nvSpPr>
          <p:cNvPr id="18" name="Text 16"/>
          <p:cNvSpPr/>
          <p:nvPr/>
        </p:nvSpPr>
        <p:spPr>
          <a:xfrm>
            <a:off x="795528" y="4937760"/>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9" name="Text 17"/>
          <p:cNvSpPr/>
          <p:nvPr/>
        </p:nvSpPr>
        <p:spPr>
          <a:xfrm>
            <a:off x="1234440" y="4809744"/>
            <a:ext cx="58521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Advise rest and fluids only</a:t>
            </a:r>
            <a:endParaRPr lang="en-US" dirty="0"/>
          </a:p>
        </p:txBody>
      </p:sp>
      <p:sp>
        <p:nvSpPr>
          <p:cNvPr id="20" name="Shape 18"/>
          <p:cNvSpPr/>
          <p:nvPr/>
        </p:nvSpPr>
        <p:spPr>
          <a:xfrm>
            <a:off x="685800" y="5522976"/>
            <a:ext cx="6675120" cy="566928"/>
          </a:xfrm>
          <a:prstGeom prst="roundRect">
            <a:avLst>
              <a:gd name="adj" fmla="val 8065"/>
            </a:avLst>
          </a:prstGeom>
          <a:solidFill>
            <a:srgbClr val="FFFFFF"/>
          </a:solidFill>
          <a:ln w="12700">
            <a:solidFill>
              <a:srgbClr val="D3E4F5"/>
            </a:solidFill>
            <a:prstDash val="solid"/>
          </a:ln>
        </p:spPr>
        <p:txBody>
          <a:bodyPr/>
          <a:lstStyle/>
          <a:p>
            <a:endParaRPr lang="en-US" dirty="0"/>
          </a:p>
        </p:txBody>
      </p:sp>
      <p:sp>
        <p:nvSpPr>
          <p:cNvPr id="21" name="Shape 19"/>
          <p:cNvSpPr/>
          <p:nvPr/>
        </p:nvSpPr>
        <p:spPr>
          <a:xfrm>
            <a:off x="795528" y="5650992"/>
            <a:ext cx="310896" cy="310896"/>
          </a:xfrm>
          <a:prstGeom prst="ellipse">
            <a:avLst/>
          </a:prstGeom>
          <a:solidFill>
            <a:srgbClr val="0C3D66"/>
          </a:solidFill>
          <a:ln/>
        </p:spPr>
        <p:txBody>
          <a:bodyPr/>
          <a:lstStyle/>
          <a:p>
            <a:endParaRPr lang="en-US" sz="2800" dirty="0"/>
          </a:p>
        </p:txBody>
      </p:sp>
      <p:sp>
        <p:nvSpPr>
          <p:cNvPr id="22" name="Text 20"/>
          <p:cNvSpPr/>
          <p:nvPr/>
        </p:nvSpPr>
        <p:spPr>
          <a:xfrm>
            <a:off x="795528" y="5650992"/>
            <a:ext cx="310896" cy="31089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23" name="Text 21"/>
          <p:cNvSpPr/>
          <p:nvPr/>
        </p:nvSpPr>
        <p:spPr>
          <a:xfrm>
            <a:off x="1234440" y="5522976"/>
            <a:ext cx="5852160" cy="566928"/>
          </a:xfrm>
          <a:prstGeom prst="rect">
            <a:avLst/>
          </a:prstGeom>
          <a:noFill/>
          <a:ln/>
        </p:spPr>
        <p:txBody>
          <a:bodyPr wrap="square" lIns="0" tIns="0" rIns="0" bIns="0" rtlCol="0" anchor="ctr"/>
          <a:lstStyle/>
          <a:p>
            <a:pPr marL="0" indent="0">
              <a:buNone/>
            </a:pPr>
            <a:r>
              <a:rPr lang="en-US" dirty="0">
                <a:solidFill>
                  <a:srgbClr val="1F3B50"/>
                </a:solidFill>
                <a:latin typeface="Calibri" pitchFamily="34" charset="0"/>
                <a:ea typeface="Calibri" pitchFamily="34" charset="-122"/>
                <a:cs typeface="Calibri" pitchFamily="34" charset="-120"/>
              </a:rPr>
              <a:t>Wait to see if it settles</a:t>
            </a:r>
            <a:endParaRPr lang="en-US" dirty="0"/>
          </a:p>
        </p:txBody>
      </p:sp>
      <p:sp>
        <p:nvSpPr>
          <p:cNvPr id="24" name="Shape 22"/>
          <p:cNvSpPr/>
          <p:nvPr/>
        </p:nvSpPr>
        <p:spPr>
          <a:xfrm>
            <a:off x="7680960" y="1965960"/>
            <a:ext cx="3824935" cy="3977640"/>
          </a:xfrm>
          <a:prstGeom prst="roundRect">
            <a:avLst>
              <a:gd name="adj" fmla="val 1434"/>
            </a:avLst>
          </a:prstGeom>
          <a:solidFill>
            <a:srgbClr val="EBF3FC"/>
          </a:solidFill>
          <a:ln w="12700">
            <a:solidFill>
              <a:srgbClr val="D3E4F5"/>
            </a:solidFill>
            <a:prstDash val="solid"/>
          </a:ln>
        </p:spPr>
        <p:txBody>
          <a:bodyPr/>
          <a:lstStyle/>
          <a:p>
            <a:endParaRPr lang="en-US" sz="2800" dirty="0"/>
          </a:p>
        </p:txBody>
      </p:sp>
      <p:sp>
        <p:nvSpPr>
          <p:cNvPr id="25" name="Text 23"/>
          <p:cNvSpPr/>
          <p:nvPr/>
        </p:nvSpPr>
        <p:spPr>
          <a:xfrm>
            <a:off x="7882128" y="2148840"/>
            <a:ext cx="3422599" cy="365760"/>
          </a:xfrm>
          <a:prstGeom prst="rect">
            <a:avLst/>
          </a:prstGeom>
          <a:noFill/>
          <a:ln/>
        </p:spPr>
        <p:txBody>
          <a:bodyPr wrap="square" lIns="0" tIns="0" rIns="0" bIns="0" rtlCol="0" anchor="ctr"/>
          <a:lstStyle/>
          <a:p>
            <a:pPr marL="0" indent="0">
              <a:buNone/>
            </a:pPr>
            <a:r>
              <a:rPr lang="en-US" sz="2000" b="1" dirty="0">
                <a:solidFill>
                  <a:srgbClr val="1E7A46"/>
                </a:solidFill>
                <a:latin typeface="Cambria" pitchFamily="34" charset="0"/>
                <a:ea typeface="Cambria" pitchFamily="34" charset="-122"/>
                <a:cs typeface="Cambria" pitchFamily="34" charset="-120"/>
              </a:rPr>
              <a:t>Correct answer: B</a:t>
            </a:r>
            <a:endParaRPr lang="en-US" sz="2000" dirty="0"/>
          </a:p>
        </p:txBody>
      </p:sp>
      <p:sp>
        <p:nvSpPr>
          <p:cNvPr id="26" name="Text 24"/>
          <p:cNvSpPr/>
          <p:nvPr/>
        </p:nvSpPr>
        <p:spPr>
          <a:xfrm>
            <a:off x="7882128" y="2560320"/>
            <a:ext cx="3422599" cy="3200400"/>
          </a:xfrm>
          <a:prstGeom prst="rect">
            <a:avLst/>
          </a:prstGeom>
          <a:noFill/>
          <a:ln/>
        </p:spPr>
        <p:txBody>
          <a:bodyPr wrap="square" lIns="0" tIns="0" rIns="0" bIns="0" rtlCol="0" anchor="t"/>
          <a:lstStyle/>
          <a:p>
            <a:pPr marL="0" indent="0">
              <a:lnSpc>
                <a:spcPct val="110000"/>
              </a:lnSpc>
              <a:buNone/>
            </a:pPr>
            <a:r>
              <a:rPr lang="en-US" b="1" dirty="0">
                <a:solidFill>
                  <a:srgbClr val="12406B"/>
                </a:solidFill>
                <a:latin typeface="Calibri" pitchFamily="34" charset="0"/>
                <a:ea typeface="Calibri" pitchFamily="34" charset="-122"/>
                <a:cs typeface="Calibri" pitchFamily="34" charset="-120"/>
              </a:rPr>
              <a:t>Why  </a:t>
            </a:r>
            <a:r>
              <a:rPr lang="en-US" dirty="0">
                <a:solidFill>
                  <a:srgbClr val="1F3B50"/>
                </a:solidFill>
                <a:latin typeface="Calibri" pitchFamily="34" charset="0"/>
                <a:ea typeface="Calibri" pitchFamily="34" charset="-122"/>
                <a:cs typeface="Calibri" pitchFamily="34" charset="-120"/>
              </a:rPr>
              <a:t>Hematemesis with weakness and postural symptoms suggests significant bleeding and possible blood loss. Arrange urgent assessment and escalate without delay.</a:t>
            </a:r>
            <a:endParaRPr lang="en-US" dirty="0"/>
          </a:p>
        </p:txBody>
      </p:sp>
      <p:sp>
        <p:nvSpPr>
          <p:cNvPr id="27" name="Text 2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(1/3)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 Palliative care is:</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Only for the last days of life</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Symptom relief and quality of life, alongside treatment when appropriate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The same as stopping care</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Only pain medicine</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focuses on symptoms and quality of life at any stage.</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Q2. An urgent warning sign is:</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Mild fatigue</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Vomiting blood with weakness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An occasional loose stool</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Mild nausea</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This suggests significant GI bleeding.</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(2/3)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Q3. After gastrectomy, a helpful eating pattern is:</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Large, infrequent meals</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Smaller, more frequent meals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No change needed</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Fluids only, long term</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Reduced stomach capacity favours smaller, frequent meals.</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Q4. Ongoing unintentional weight loss should be:</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Accepted as normal</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Assessed and supported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Ignored</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Managed by fasting</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Weight loss is not harmless; assess and support nutrition.</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Knowledge check  (3/3)</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Q5. A new, worsening symptom during treatment should be:</a:t>
            </a:r>
            <a:endParaRPr lang="en-US" sz="2000" dirty="0"/>
          </a:p>
        </p:txBody>
      </p:sp>
      <p:sp>
        <p:nvSpPr>
          <p:cNvPr id="6" name="Text 4"/>
          <p:cNvSpPr/>
          <p:nvPr/>
        </p:nvSpPr>
        <p:spPr>
          <a:xfrm>
            <a:off x="914400" y="251460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Ignored</a:t>
            </a:r>
            <a:endParaRPr lang="en-US" dirty="0"/>
          </a:p>
        </p:txBody>
      </p:sp>
      <p:sp>
        <p:nvSpPr>
          <p:cNvPr id="7" name="Text 5"/>
          <p:cNvSpPr/>
          <p:nvPr/>
        </p:nvSpPr>
        <p:spPr>
          <a:xfrm>
            <a:off x="6095848" y="251460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Reported and assessed  ✓</a:t>
            </a:r>
            <a:endParaRPr lang="en-US" dirty="0"/>
          </a:p>
        </p:txBody>
      </p:sp>
      <p:sp>
        <p:nvSpPr>
          <p:cNvPr id="8" name="Text 6"/>
          <p:cNvSpPr/>
          <p:nvPr/>
        </p:nvSpPr>
        <p:spPr>
          <a:xfrm>
            <a:off x="914400"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Delayed for months</a:t>
            </a:r>
            <a:endParaRPr lang="en-US" dirty="0"/>
          </a:p>
        </p:txBody>
      </p:sp>
      <p:sp>
        <p:nvSpPr>
          <p:cNvPr id="9" name="Text 7"/>
          <p:cNvSpPr/>
          <p:nvPr/>
        </p:nvSpPr>
        <p:spPr>
          <a:xfrm>
            <a:off x="6095848" y="284378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Self-treated only</a:t>
            </a:r>
            <a:endParaRPr lang="en-US" dirty="0"/>
          </a:p>
        </p:txBody>
      </p:sp>
      <p:sp>
        <p:nvSpPr>
          <p:cNvPr id="10" name="Text 8"/>
          <p:cNvSpPr/>
          <p:nvPr/>
        </p:nvSpPr>
        <p:spPr>
          <a:xfrm>
            <a:off x="914400" y="329184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Encourage reporting and assessment.</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Q6. Nutrition and eating concerns after treatment should be:</a:t>
            </a:r>
            <a:endParaRPr lang="en-US" sz="2000" dirty="0"/>
          </a:p>
        </p:txBody>
      </p:sp>
      <p:sp>
        <p:nvSpPr>
          <p:cNvPr id="13" name="Text 11"/>
          <p:cNvSpPr/>
          <p:nvPr/>
        </p:nvSpPr>
        <p:spPr>
          <a:xfrm>
            <a:off x="914400" y="4526280"/>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Avoided as unimportant</a:t>
            </a:r>
            <a:endParaRPr lang="en-US" dirty="0"/>
          </a:p>
        </p:txBody>
      </p:sp>
      <p:sp>
        <p:nvSpPr>
          <p:cNvPr id="14" name="Text 12"/>
          <p:cNvSpPr/>
          <p:nvPr/>
        </p:nvSpPr>
        <p:spPr>
          <a:xfrm>
            <a:off x="6095848" y="4526280"/>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Discussed and supported, with referral where available  ✓</a:t>
            </a:r>
            <a:endParaRPr lang="en-US" dirty="0"/>
          </a:p>
        </p:txBody>
      </p:sp>
      <p:sp>
        <p:nvSpPr>
          <p:cNvPr id="15" name="Text 13"/>
          <p:cNvSpPr/>
          <p:nvPr/>
        </p:nvSpPr>
        <p:spPr>
          <a:xfrm>
            <a:off x="914400"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Left entirely to the patient</a:t>
            </a:r>
            <a:endParaRPr lang="en-US" dirty="0"/>
          </a:p>
        </p:txBody>
      </p:sp>
      <p:sp>
        <p:nvSpPr>
          <p:cNvPr id="16" name="Text 14"/>
          <p:cNvSpPr/>
          <p:nvPr/>
        </p:nvSpPr>
        <p:spPr>
          <a:xfrm>
            <a:off x="6095848" y="4855464"/>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Managed only with medicines</a:t>
            </a:r>
            <a:endParaRPr lang="en-US" dirty="0"/>
          </a:p>
        </p:txBody>
      </p:sp>
      <p:sp>
        <p:nvSpPr>
          <p:cNvPr id="17" name="Text 15"/>
          <p:cNvSpPr/>
          <p:nvPr/>
        </p:nvSpPr>
        <p:spPr>
          <a:xfrm>
            <a:off x="914400" y="5303520"/>
            <a:ext cx="10362895" cy="365760"/>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Nutrition strongly affects recovery and quality of life.</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SESSION 5</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Session reflection</a:t>
            </a:r>
            <a:endParaRPr lang="en-US" sz="3000" dirty="0"/>
          </a:p>
        </p:txBody>
      </p:sp>
      <p:sp>
        <p:nvSpPr>
          <p:cNvPr id="4" name="Text 2"/>
          <p:cNvSpPr/>
          <p:nvPr/>
        </p:nvSpPr>
        <p:spPr>
          <a:xfrm>
            <a:off x="685800" y="1874519"/>
            <a:ext cx="10820095" cy="384048"/>
          </a:xfrm>
          <a:prstGeom prst="rect">
            <a:avLst/>
          </a:prstGeom>
          <a:noFill/>
          <a:ln/>
        </p:spPr>
        <p:txBody>
          <a:bodyPr wrap="square" lIns="0" tIns="0" rIns="0" bIns="0" rtlCol="0" anchor="ctr"/>
          <a:lstStyle/>
          <a:p>
            <a:pPr marL="0" indent="0">
              <a:buNone/>
            </a:pPr>
            <a:r>
              <a:rPr lang="en-US" sz="1800" i="1" dirty="0">
                <a:solidFill>
                  <a:srgbClr val="5B7085"/>
                </a:solidFill>
                <a:latin typeface="Calibri" pitchFamily="34" charset="0"/>
                <a:ea typeface="Calibri" pitchFamily="34" charset="-122"/>
                <a:cs typeface="Calibri" pitchFamily="34" charset="-120"/>
              </a:rPr>
              <a:t>Enter your response in the text box. There is no single correct answer.</a:t>
            </a:r>
            <a:endParaRPr lang="en-US" sz="1300" dirty="0"/>
          </a:p>
        </p:txBody>
      </p:sp>
      <p:sp>
        <p:nvSpPr>
          <p:cNvPr id="5" name="Shape 3"/>
          <p:cNvSpPr/>
          <p:nvPr/>
        </p:nvSpPr>
        <p:spPr>
          <a:xfrm>
            <a:off x="685800" y="2377440"/>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6" name="Shape 4"/>
          <p:cNvSpPr/>
          <p:nvPr/>
        </p:nvSpPr>
        <p:spPr>
          <a:xfrm>
            <a:off x="914400" y="2555748"/>
            <a:ext cx="512064" cy="512064"/>
          </a:xfrm>
          <a:prstGeom prst="ellipse">
            <a:avLst/>
          </a:prstGeom>
          <a:solidFill>
            <a:srgbClr val="12857F"/>
          </a:solidFill>
          <a:ln/>
        </p:spPr>
        <p:txBody>
          <a:bodyPr/>
          <a:lstStyle/>
          <a:p>
            <a:endParaRPr lang="en-US" sz="2400" dirty="0"/>
          </a:p>
        </p:txBody>
      </p:sp>
      <p:sp>
        <p:nvSpPr>
          <p:cNvPr id="7" name="Text 5"/>
          <p:cNvSpPr/>
          <p:nvPr/>
        </p:nvSpPr>
        <p:spPr>
          <a:xfrm>
            <a:off x="914400" y="2555748"/>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645920" y="2377440"/>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How would you help a patient sort which symptoms to report urgently?</a:t>
            </a:r>
            <a:endParaRPr lang="en-US" dirty="0"/>
          </a:p>
        </p:txBody>
      </p:sp>
      <p:sp>
        <p:nvSpPr>
          <p:cNvPr id="9" name="Shape 7"/>
          <p:cNvSpPr/>
          <p:nvPr/>
        </p:nvSpPr>
        <p:spPr>
          <a:xfrm>
            <a:off x="685800" y="3447288"/>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10" name="Shape 8"/>
          <p:cNvSpPr/>
          <p:nvPr/>
        </p:nvSpPr>
        <p:spPr>
          <a:xfrm>
            <a:off x="914400" y="3625596"/>
            <a:ext cx="512064" cy="512064"/>
          </a:xfrm>
          <a:prstGeom prst="ellipse">
            <a:avLst/>
          </a:prstGeom>
          <a:solidFill>
            <a:srgbClr val="12857F"/>
          </a:solidFill>
          <a:ln/>
        </p:spPr>
        <p:txBody>
          <a:bodyPr/>
          <a:lstStyle/>
          <a:p>
            <a:endParaRPr lang="en-US" sz="2400" dirty="0"/>
          </a:p>
        </p:txBody>
      </p:sp>
      <p:sp>
        <p:nvSpPr>
          <p:cNvPr id="11" name="Text 9"/>
          <p:cNvSpPr/>
          <p:nvPr/>
        </p:nvSpPr>
        <p:spPr>
          <a:xfrm>
            <a:off x="914400" y="3625596"/>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645920" y="3447288"/>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How would you support nutrition for someone struggling to eat after gastrectomy?</a:t>
            </a:r>
            <a:endParaRPr lang="en-US" dirty="0"/>
          </a:p>
        </p:txBody>
      </p:sp>
      <p:sp>
        <p:nvSpPr>
          <p:cNvPr id="13" name="Shape 11"/>
          <p:cNvSpPr/>
          <p:nvPr/>
        </p:nvSpPr>
        <p:spPr>
          <a:xfrm>
            <a:off x="685800" y="4517136"/>
            <a:ext cx="10820095" cy="868680"/>
          </a:xfrm>
          <a:prstGeom prst="roundRect">
            <a:avLst>
              <a:gd name="adj" fmla="val 6316"/>
            </a:avLst>
          </a:prstGeom>
          <a:solidFill>
            <a:srgbClr val="EBF3FC"/>
          </a:solidFill>
          <a:ln w="12700">
            <a:solidFill>
              <a:srgbClr val="D3E4F5"/>
            </a:solidFill>
            <a:prstDash val="solid"/>
          </a:ln>
        </p:spPr>
        <p:txBody>
          <a:bodyPr/>
          <a:lstStyle/>
          <a:p>
            <a:endParaRPr lang="en-US" sz="2400" dirty="0"/>
          </a:p>
        </p:txBody>
      </p:sp>
      <p:sp>
        <p:nvSpPr>
          <p:cNvPr id="14" name="Shape 12"/>
          <p:cNvSpPr/>
          <p:nvPr/>
        </p:nvSpPr>
        <p:spPr>
          <a:xfrm>
            <a:off x="914400" y="4695444"/>
            <a:ext cx="512064" cy="512064"/>
          </a:xfrm>
          <a:prstGeom prst="ellipse">
            <a:avLst/>
          </a:prstGeom>
          <a:solidFill>
            <a:srgbClr val="12857F"/>
          </a:solidFill>
          <a:ln/>
        </p:spPr>
        <p:txBody>
          <a:bodyPr/>
          <a:lstStyle/>
          <a:p>
            <a:endParaRPr lang="en-US" sz="2400" dirty="0"/>
          </a:p>
        </p:txBody>
      </p:sp>
      <p:sp>
        <p:nvSpPr>
          <p:cNvPr id="15" name="Text 13"/>
          <p:cNvSpPr/>
          <p:nvPr/>
        </p:nvSpPr>
        <p:spPr>
          <a:xfrm>
            <a:off x="914400" y="4695444"/>
            <a:ext cx="512064" cy="512064"/>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6" name="Text 14"/>
          <p:cNvSpPr/>
          <p:nvPr/>
        </p:nvSpPr>
        <p:spPr>
          <a:xfrm>
            <a:off x="1645920" y="4517136"/>
            <a:ext cx="9631375" cy="868680"/>
          </a:xfrm>
          <a:prstGeom prst="rect">
            <a:avLst/>
          </a:prstGeom>
          <a:noFill/>
          <a:ln/>
        </p:spPr>
        <p:txBody>
          <a:bodyPr wrap="square" lIns="0" tIns="0" rIns="0" bIns="0" rtlCol="0" anchor="ctr"/>
          <a:lstStyle/>
          <a:p>
            <a:pPr marL="0" indent="0">
              <a:lnSpc>
                <a:spcPct val="105000"/>
              </a:lnSpc>
              <a:buNone/>
            </a:pPr>
            <a:r>
              <a:rPr lang="en-US" dirty="0">
                <a:solidFill>
                  <a:srgbClr val="1F3B50"/>
                </a:solidFill>
                <a:latin typeface="Calibri" pitchFamily="34" charset="0"/>
                <a:ea typeface="Calibri" pitchFamily="34" charset="-122"/>
                <a:cs typeface="Calibri" pitchFamily="34" charset="-120"/>
              </a:rPr>
              <a:t>What practical support could help someone continue their follow-up?</a:t>
            </a:r>
            <a:endParaRPr lang="en-US" dirty="0"/>
          </a:p>
        </p:txBody>
      </p:sp>
      <p:sp>
        <p:nvSpPr>
          <p:cNvPr id="17" name="Text 15"/>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89">
    <p:bg>
      <p:bgPr>
        <a:solidFill>
          <a:srgbClr val="0C3D66"/>
        </a:solidFill>
        <a:effectLst/>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2518A"/>
          </a:solidFill>
          <a:ln/>
        </p:spPr>
        <p:txBody>
          <a:bodyPr/>
          <a:lstStyle/>
          <a:p>
            <a:endParaRPr lang="en-US" dirty="0"/>
          </a:p>
        </p:txBody>
      </p:sp>
      <p:sp>
        <p:nvSpPr>
          <p:cNvPr id="3" name="Text 1"/>
          <p:cNvSpPr/>
          <p:nvPr/>
        </p:nvSpPr>
        <p:spPr>
          <a:xfrm>
            <a:off x="822960" y="2788920"/>
            <a:ext cx="7315200" cy="320040"/>
          </a:xfrm>
          <a:prstGeom prst="rect">
            <a:avLst/>
          </a:prstGeom>
          <a:noFill/>
          <a:ln/>
        </p:spPr>
        <p:txBody>
          <a:bodyPr wrap="square" lIns="0" tIns="0" rIns="0" bIns="0" rtlCol="0" anchor="ctr"/>
          <a:lstStyle/>
          <a:p>
            <a:pPr marL="0" indent="0">
              <a:buNone/>
            </a:pPr>
            <a:r>
              <a:rPr lang="en-US" sz="1300" b="1" kern="0" spc="200" dirty="0">
                <a:solidFill>
                  <a:srgbClr val="8FC7E8"/>
                </a:solidFill>
                <a:latin typeface="Calibri" pitchFamily="34" charset="0"/>
                <a:ea typeface="Calibri" pitchFamily="34" charset="-122"/>
                <a:cs typeface="Calibri" pitchFamily="34" charset="-120"/>
              </a:rPr>
              <a:t>BASELINE CHECK</a:t>
            </a:r>
            <a:endParaRPr lang="en-US" sz="1300" dirty="0"/>
          </a:p>
        </p:txBody>
      </p:sp>
      <p:sp>
        <p:nvSpPr>
          <p:cNvPr id="4" name="Text 2"/>
          <p:cNvSpPr/>
          <p:nvPr/>
        </p:nvSpPr>
        <p:spPr>
          <a:xfrm>
            <a:off x="822960" y="3154680"/>
            <a:ext cx="84124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Post-test</a:t>
            </a:r>
            <a:endParaRPr lang="en-US" sz="3600" dirty="0"/>
          </a:p>
        </p:txBody>
      </p:sp>
      <p:sp>
        <p:nvSpPr>
          <p:cNvPr id="5" name="Text 3"/>
          <p:cNvSpPr/>
          <p:nvPr/>
        </p:nvSpPr>
        <p:spPr>
          <a:xfrm>
            <a:off x="822960" y="4114800"/>
            <a:ext cx="7863840" cy="822960"/>
          </a:xfrm>
          <a:prstGeom prst="rect">
            <a:avLst/>
          </a:prstGeom>
          <a:noFill/>
          <a:ln/>
        </p:spPr>
        <p:txBody>
          <a:bodyPr wrap="square" lIns="0" tIns="0" rIns="0" bIns="0" rtlCol="0" anchor="ctr"/>
          <a:lstStyle/>
          <a:p>
            <a:pPr marL="0" indent="0">
              <a:lnSpc>
                <a:spcPct val="110000"/>
              </a:lnSpc>
              <a:buNone/>
            </a:pPr>
            <a:r>
              <a:rPr lang="en-US" sz="1800" dirty="0">
                <a:solidFill>
                  <a:srgbClr val="D6E6F5"/>
                </a:solidFill>
                <a:latin typeface="Calibri" pitchFamily="34" charset="0"/>
                <a:ea typeface="Calibri" pitchFamily="34" charset="-122"/>
                <a:cs typeface="Calibri" pitchFamily="34" charset="-120"/>
              </a:rPr>
              <a:t>Twenty questions covering the whole module. Focus on applying what you can now recognise, decide, and do.</a:t>
            </a:r>
            <a:endParaRPr lang="en-US" sz="15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(1/10)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 Most gastric cancers are:</a:t>
            </a:r>
            <a:endParaRPr lang="en-US" sz="24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Sarcomas</a:t>
            </a:r>
            <a:endParaRPr lang="en-US" sz="2000"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Adenocarcinomas  ✓</a:t>
            </a:r>
            <a:endParaRPr lang="en-US" sz="2000" dirty="0"/>
          </a:p>
        </p:txBody>
      </p:sp>
      <p:sp>
        <p:nvSpPr>
          <p:cNvPr id="8" name="Text 6"/>
          <p:cNvSpPr/>
          <p:nvPr/>
        </p:nvSpPr>
        <p:spPr>
          <a:xfrm>
            <a:off x="914400"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Lymphomas</a:t>
            </a:r>
            <a:endParaRPr lang="en-US" sz="2000" dirty="0"/>
          </a:p>
        </p:txBody>
      </p:sp>
      <p:sp>
        <p:nvSpPr>
          <p:cNvPr id="9" name="Text 7"/>
          <p:cNvSpPr/>
          <p:nvPr/>
        </p:nvSpPr>
        <p:spPr>
          <a:xfrm>
            <a:off x="6095848"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Melanomas</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They arise from the glandular mucosa as adenocarcinomas.</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Q2. An important, preventable cause of gastric cancer is:</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A. </a:t>
            </a:r>
            <a:r>
              <a:rPr lang="en-US" sz="2000" b="1" i="1" dirty="0">
                <a:solidFill>
                  <a:srgbClr val="1E7A46"/>
                </a:solidFill>
                <a:latin typeface="Calibri" pitchFamily="34" charset="0"/>
                <a:ea typeface="Calibri" pitchFamily="34" charset="-122"/>
                <a:cs typeface="Calibri" pitchFamily="34" charset="-120"/>
              </a:rPr>
              <a:t>Helicobacter pylori  </a:t>
            </a:r>
            <a:r>
              <a:rPr lang="en-US" sz="2000" b="1" dirty="0">
                <a:solidFill>
                  <a:srgbClr val="1E7A46"/>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B. </a:t>
            </a:r>
            <a:r>
              <a:rPr lang="en-US" sz="2000" dirty="0">
                <a:solidFill>
                  <a:srgbClr val="1F3B50"/>
                </a:solidFill>
                <a:latin typeface="Calibri" pitchFamily="34" charset="0"/>
                <a:ea typeface="Calibri" pitchFamily="34" charset="-122"/>
                <a:cs typeface="Calibri" pitchFamily="34" charset="-120"/>
              </a:rPr>
              <a:t>Hepatitis A</a:t>
            </a:r>
            <a:endParaRPr lang="en-US" sz="2000"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Malaria</a:t>
            </a:r>
            <a:endParaRPr lang="en-US" sz="2000"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Influenza</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A.  </a:t>
            </a:r>
            <a:r>
              <a:rPr lang="en-US" i="1" dirty="0">
                <a:solidFill>
                  <a:srgbClr val="5B7085"/>
                </a:solidFill>
                <a:latin typeface="Calibri" pitchFamily="34" charset="0"/>
                <a:ea typeface="Calibri" pitchFamily="34" charset="-122"/>
                <a:cs typeface="Calibri" pitchFamily="34" charset="-120"/>
              </a:rPr>
              <a:t>Chronic H. pylori infection is a leading modifiable risk factor.</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(2/10)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Q3. Early gastric cancer usually causes:</a:t>
            </a:r>
            <a:endParaRPr lang="en-US" sz="24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Severe pain</a:t>
            </a:r>
            <a:endParaRPr lang="en-US" sz="2000"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Few or non-specific symptoms  ✓</a:t>
            </a:r>
            <a:endParaRPr lang="en-US" sz="2000" dirty="0"/>
          </a:p>
        </p:txBody>
      </p:sp>
      <p:sp>
        <p:nvSpPr>
          <p:cNvPr id="8" name="Text 6"/>
          <p:cNvSpPr/>
          <p:nvPr/>
        </p:nvSpPr>
        <p:spPr>
          <a:xfrm>
            <a:off x="914400"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Immediate weight loss</a:t>
            </a:r>
            <a:endParaRPr lang="en-US" sz="2000" dirty="0"/>
          </a:p>
        </p:txBody>
      </p:sp>
      <p:sp>
        <p:nvSpPr>
          <p:cNvPr id="9" name="Text 7"/>
          <p:cNvSpPr/>
          <p:nvPr/>
        </p:nvSpPr>
        <p:spPr>
          <a:xfrm>
            <a:off x="6095848"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High fever</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Early disease is frequently silent.</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Q4. Persistent dyspepsia with weight loss should prompt:</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Reassurance only</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Assessment and referral  ✓</a:t>
            </a:r>
            <a:endParaRPr lang="en-US" sz="2000"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Antacids alone</a:t>
            </a:r>
            <a:endParaRPr lang="en-US" sz="2000"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No action</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Alarm features need assessment and referral.</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(3/10)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Q5. Intestinal metaplasia is:</a:t>
            </a:r>
            <a:endParaRPr lang="en-US" sz="24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Confirmed cancer</a:t>
            </a:r>
            <a:endParaRPr lang="en-US" sz="2000"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A premalignant condition  ✓</a:t>
            </a:r>
            <a:endParaRPr lang="en-US" sz="2000" dirty="0"/>
          </a:p>
        </p:txBody>
      </p:sp>
      <p:sp>
        <p:nvSpPr>
          <p:cNvPr id="8" name="Text 6"/>
          <p:cNvSpPr/>
          <p:nvPr/>
        </p:nvSpPr>
        <p:spPr>
          <a:xfrm>
            <a:off x="914400"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A normal finding</a:t>
            </a:r>
            <a:endParaRPr lang="en-US" sz="2000" dirty="0"/>
          </a:p>
        </p:txBody>
      </p:sp>
      <p:sp>
        <p:nvSpPr>
          <p:cNvPr id="9" name="Text 7"/>
          <p:cNvSpPr/>
          <p:nvPr/>
        </p:nvSpPr>
        <p:spPr>
          <a:xfrm>
            <a:off x="6095848"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An infection</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increases risk but is not cancer.</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Q6. A red-flag feature is:</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Occasional bloating</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Melena or hematemesis  ✓</a:t>
            </a:r>
            <a:endParaRPr lang="en-US" sz="2000"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Mild belching</a:t>
            </a:r>
            <a:endParaRPr lang="en-US" sz="2000"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Brief nausea</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GI bleeding needs prompt or urgent assessment.</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(4/10)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Q7. Gastric cancer is confirmed by:</a:t>
            </a:r>
            <a:endParaRPr lang="en-US" sz="24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Symptoms alone</a:t>
            </a:r>
            <a:endParaRPr lang="en-US" sz="2000"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B. </a:t>
            </a:r>
            <a:r>
              <a:rPr lang="en-US" sz="2000" dirty="0">
                <a:solidFill>
                  <a:srgbClr val="1F3B50"/>
                </a:solidFill>
                <a:latin typeface="Calibri" pitchFamily="34" charset="0"/>
                <a:ea typeface="Calibri" pitchFamily="34" charset="-122"/>
                <a:cs typeface="Calibri" pitchFamily="34" charset="-120"/>
              </a:rPr>
              <a:t>A blood test</a:t>
            </a:r>
            <a:endParaRPr lang="en-US" sz="2000" dirty="0"/>
          </a:p>
        </p:txBody>
      </p:sp>
      <p:sp>
        <p:nvSpPr>
          <p:cNvPr id="8" name="Text 6"/>
          <p:cNvSpPr/>
          <p:nvPr/>
        </p:nvSpPr>
        <p:spPr>
          <a:xfrm>
            <a:off x="914400" y="2862072"/>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C. Biopsy and histopathology  ✓</a:t>
            </a:r>
            <a:endParaRPr lang="en-US" sz="2000" dirty="0"/>
          </a:p>
        </p:txBody>
      </p:sp>
      <p:sp>
        <p:nvSpPr>
          <p:cNvPr id="9" name="Text 7"/>
          <p:cNvSpPr/>
          <p:nvPr/>
        </p:nvSpPr>
        <p:spPr>
          <a:xfrm>
            <a:off x="6095848"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Examination alone</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C.  </a:t>
            </a:r>
            <a:r>
              <a:rPr lang="en-US" i="1" dirty="0">
                <a:solidFill>
                  <a:srgbClr val="5B7085"/>
                </a:solidFill>
                <a:latin typeface="Calibri" pitchFamily="34" charset="0"/>
                <a:ea typeface="Calibri" pitchFamily="34" charset="-122"/>
                <a:cs typeface="Calibri" pitchFamily="34" charset="-120"/>
              </a:rPr>
              <a:t>Tissue confirms the diagnosis.</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Q8. Stage describes:</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How abnormal cells look</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Where the cancer is and how far it has spread  ✓</a:t>
            </a:r>
            <a:endParaRPr lang="en-US" sz="2000"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The patient's age</a:t>
            </a:r>
            <a:endParaRPr lang="en-US" sz="2000"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The treatment chosen</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Stage is extent; grade is cell appearance.</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(5/10)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Q9. In TNM, N describes:</a:t>
            </a:r>
            <a:endParaRPr lang="en-US" sz="24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Tumor depth</a:t>
            </a:r>
            <a:endParaRPr lang="en-US" sz="2000"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Regional lymph nodes  ✓</a:t>
            </a:r>
            <a:endParaRPr lang="en-US" sz="2000" dirty="0"/>
          </a:p>
        </p:txBody>
      </p:sp>
      <p:sp>
        <p:nvSpPr>
          <p:cNvPr id="8" name="Text 6"/>
          <p:cNvSpPr/>
          <p:nvPr/>
        </p:nvSpPr>
        <p:spPr>
          <a:xfrm>
            <a:off x="914400"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Distant spread</a:t>
            </a:r>
            <a:endParaRPr lang="en-US" sz="2000" dirty="0"/>
          </a:p>
        </p:txBody>
      </p:sp>
      <p:sp>
        <p:nvSpPr>
          <p:cNvPr id="9" name="Text 7"/>
          <p:cNvSpPr/>
          <p:nvPr/>
        </p:nvSpPr>
        <p:spPr>
          <a:xfrm>
            <a:off x="6095848"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Grade</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N is regional lymph-node involvement.</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Q10. Screening means testing:</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People with symptoms</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Asymptomatic people to detect disease early  ✓</a:t>
            </a:r>
            <a:endParaRPr lang="en-US" sz="2000"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Only people with cancer</a:t>
            </a:r>
            <a:endParaRPr lang="en-US" sz="2000"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Everyone once</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Screening targets people without symptoms.</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(6/10)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Q11. </a:t>
            </a:r>
            <a:r>
              <a:rPr lang="en-US" sz="2400" b="1" i="1" dirty="0">
                <a:solidFill>
                  <a:srgbClr val="12406B"/>
                </a:solidFill>
                <a:latin typeface="Calibri" pitchFamily="34" charset="0"/>
                <a:ea typeface="Calibri" pitchFamily="34" charset="-122"/>
                <a:cs typeface="Calibri" pitchFamily="34" charset="-120"/>
              </a:rPr>
              <a:t>H. pylori</a:t>
            </a:r>
            <a:r>
              <a:rPr lang="en-US" sz="2400" b="1" dirty="0">
                <a:solidFill>
                  <a:srgbClr val="12406B"/>
                </a:solidFill>
                <a:latin typeface="Calibri" pitchFamily="34" charset="0"/>
                <a:ea typeface="Calibri" pitchFamily="34" charset="-122"/>
                <a:cs typeface="Calibri" pitchFamily="34" charset="-120"/>
              </a:rPr>
              <a:t> infection means the person:</a:t>
            </a:r>
            <a:endParaRPr lang="en-US" sz="2400" dirty="0"/>
          </a:p>
        </p:txBody>
      </p:sp>
      <p:sp>
        <p:nvSpPr>
          <p:cNvPr id="6" name="Text 4"/>
          <p:cNvSpPr/>
          <p:nvPr/>
        </p:nvSpPr>
        <p:spPr>
          <a:xfrm>
            <a:off x="914400" y="2619756"/>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Definitely has cancer</a:t>
            </a:r>
            <a:endParaRPr lang="en-US" sz="2000" dirty="0"/>
          </a:p>
        </p:txBody>
      </p:sp>
      <p:sp>
        <p:nvSpPr>
          <p:cNvPr id="7" name="Text 5"/>
          <p:cNvSpPr/>
          <p:nvPr/>
        </p:nvSpPr>
        <p:spPr>
          <a:xfrm>
            <a:off x="6095847" y="2606040"/>
            <a:ext cx="5410047" cy="310896"/>
          </a:xfrm>
          <a:prstGeom prst="rect">
            <a:avLst/>
          </a:prstGeom>
          <a:noFill/>
          <a:ln/>
        </p:spPr>
        <p:txBody>
          <a:bodyPr wrap="square" lIns="0" tIns="0" rIns="0" bIns="0" rtlCol="0" anchor="ctr"/>
          <a:lstStyle/>
          <a:p>
            <a:r>
              <a:rPr lang="en-US" sz="2000" b="1" dirty="0">
                <a:solidFill>
                  <a:srgbClr val="1E7A46"/>
                </a:solidFill>
                <a:latin typeface="Calibri" pitchFamily="34" charset="0"/>
                <a:ea typeface="Calibri" pitchFamily="34" charset="-122"/>
                <a:cs typeface="Calibri" pitchFamily="34" charset="-120"/>
              </a:rPr>
              <a:t>B. Has an increased risk and needs to be treated. It is not considered itself cancer. ✓</a:t>
            </a:r>
            <a:endParaRPr lang="en-US" sz="2000" dirty="0"/>
          </a:p>
        </p:txBody>
      </p:sp>
      <p:sp>
        <p:nvSpPr>
          <p:cNvPr id="8" name="Text 6"/>
          <p:cNvSpPr/>
          <p:nvPr/>
        </p:nvSpPr>
        <p:spPr>
          <a:xfrm>
            <a:off x="914400" y="30449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Needs surgery</a:t>
            </a:r>
            <a:endParaRPr lang="en-US" sz="2000" dirty="0"/>
          </a:p>
        </p:txBody>
      </p:sp>
      <p:sp>
        <p:nvSpPr>
          <p:cNvPr id="9" name="Text 7"/>
          <p:cNvSpPr/>
          <p:nvPr/>
        </p:nvSpPr>
        <p:spPr>
          <a:xfrm>
            <a:off x="6095848" y="30449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Has no risk</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Most infected people do not develop gastric cancer.</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Q12. Upper Gastro-Intestinal endoscopy allows:</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A. Direct visualisation and biopsy  ✓</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B. </a:t>
            </a:r>
            <a:r>
              <a:rPr lang="en-US" sz="2000" dirty="0">
                <a:solidFill>
                  <a:srgbClr val="1F3B50"/>
                </a:solidFill>
                <a:latin typeface="Calibri" pitchFamily="34" charset="0"/>
                <a:ea typeface="Calibri" pitchFamily="34" charset="-122"/>
                <a:cs typeface="Calibri" pitchFamily="34" charset="-120"/>
              </a:rPr>
              <a:t>Only blood sampling</a:t>
            </a:r>
            <a:endParaRPr lang="en-US" sz="2000"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Bone assessment</a:t>
            </a:r>
            <a:endParaRPr lang="en-US" sz="2000"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No tissue sampling</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A.  </a:t>
            </a:r>
            <a:r>
              <a:rPr lang="en-US" i="1" dirty="0">
                <a:solidFill>
                  <a:srgbClr val="5B7085"/>
                </a:solidFill>
                <a:latin typeface="Calibri" pitchFamily="34" charset="0"/>
                <a:ea typeface="Calibri" pitchFamily="34" charset="-122"/>
                <a:cs typeface="Calibri" pitchFamily="34" charset="-120"/>
              </a:rPr>
              <a:t>It visualises the upper GI tract and enables biopsy.</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(7/10)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Q13. Surveillance applies to people who:</a:t>
            </a:r>
            <a:endParaRPr lang="en-US" sz="20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Have no risk</a:t>
            </a:r>
            <a:endParaRPr lang="en-US"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Have known premalignant conditions  ✓</a:t>
            </a:r>
            <a:endParaRPr lang="en-US" dirty="0"/>
          </a:p>
        </p:txBody>
      </p:sp>
      <p:sp>
        <p:nvSpPr>
          <p:cNvPr id="8" name="Text 6"/>
          <p:cNvSpPr/>
          <p:nvPr/>
        </p:nvSpPr>
        <p:spPr>
          <a:xfrm>
            <a:off x="914400" y="286207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Are fully healthy</a:t>
            </a:r>
            <a:endParaRPr lang="en-US" dirty="0"/>
          </a:p>
        </p:txBody>
      </p:sp>
      <p:sp>
        <p:nvSpPr>
          <p:cNvPr id="9" name="Text 7"/>
          <p:cNvSpPr/>
          <p:nvPr/>
        </p:nvSpPr>
        <p:spPr>
          <a:xfrm>
            <a:off x="6095848" y="286207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Refuse care</a:t>
            </a:r>
            <a:endParaRPr lang="en-US"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sz="1800" b="1" dirty="0">
                <a:solidFill>
                  <a:srgbClr val="1E7A46"/>
                </a:solidFill>
                <a:latin typeface="Calibri" pitchFamily="34" charset="0"/>
                <a:ea typeface="Calibri" pitchFamily="34" charset="-122"/>
                <a:cs typeface="Calibri" pitchFamily="34" charset="-120"/>
              </a:rPr>
              <a:t>Correct: B.  </a:t>
            </a:r>
            <a:r>
              <a:rPr lang="en-US" sz="1800" i="1" dirty="0">
                <a:solidFill>
                  <a:srgbClr val="5B7085"/>
                </a:solidFill>
                <a:latin typeface="Calibri" pitchFamily="34" charset="0"/>
                <a:ea typeface="Calibri" pitchFamily="34" charset="-122"/>
                <a:cs typeface="Calibri" pitchFamily="34" charset="-120"/>
              </a:rPr>
              <a:t>Surveillance is planned follow-up of increased-risk conditions.</a:t>
            </a:r>
            <a:endParaRPr lang="en-US" sz="1600"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28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000" b="1" dirty="0">
                <a:solidFill>
                  <a:srgbClr val="12406B"/>
                </a:solidFill>
                <a:latin typeface="Calibri" pitchFamily="34" charset="0"/>
                <a:ea typeface="Calibri" pitchFamily="34" charset="-122"/>
                <a:cs typeface="Calibri" pitchFamily="34" charset="-120"/>
              </a:rPr>
              <a:t>Q14. Chemotherapy is:</a:t>
            </a:r>
            <a:endParaRPr lang="en-US" sz="20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A. </a:t>
            </a:r>
            <a:r>
              <a:rPr lang="en-US" dirty="0">
                <a:solidFill>
                  <a:srgbClr val="1F3B50"/>
                </a:solidFill>
                <a:latin typeface="Calibri" pitchFamily="34" charset="0"/>
                <a:ea typeface="Calibri" pitchFamily="34" charset="-122"/>
                <a:cs typeface="Calibri" pitchFamily="34" charset="-120"/>
              </a:rPr>
              <a:t>A local treatment</a:t>
            </a:r>
            <a:endParaRPr lang="en-US"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B. A systemic treatment  ✓</a:t>
            </a:r>
            <a:endParaRPr lang="en-US"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C. </a:t>
            </a:r>
            <a:r>
              <a:rPr lang="en-US" dirty="0">
                <a:solidFill>
                  <a:srgbClr val="1F3B50"/>
                </a:solidFill>
                <a:latin typeface="Calibri" pitchFamily="34" charset="0"/>
                <a:ea typeface="Calibri" pitchFamily="34" charset="-122"/>
                <a:cs typeface="Calibri" pitchFamily="34" charset="-120"/>
              </a:rPr>
              <a:t>A type of surgery</a:t>
            </a:r>
            <a:endParaRPr lang="en-US"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b="1" dirty="0">
                <a:solidFill>
                  <a:srgbClr val="1F3B50"/>
                </a:solidFill>
                <a:latin typeface="Calibri" pitchFamily="34" charset="0"/>
                <a:ea typeface="Calibri" pitchFamily="34" charset="-122"/>
                <a:cs typeface="Calibri" pitchFamily="34" charset="-120"/>
              </a:rPr>
              <a:t>D. </a:t>
            </a:r>
            <a:r>
              <a:rPr lang="en-US" dirty="0">
                <a:solidFill>
                  <a:srgbClr val="1F3B50"/>
                </a:solidFill>
                <a:latin typeface="Calibri" pitchFamily="34" charset="0"/>
                <a:ea typeface="Calibri" pitchFamily="34" charset="-122"/>
                <a:cs typeface="Calibri" pitchFamily="34" charset="-120"/>
              </a:rPr>
              <a:t>A form of imaging</a:t>
            </a:r>
            <a:endParaRPr lang="en-US"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sz="1800" b="1" dirty="0">
                <a:solidFill>
                  <a:srgbClr val="1E7A46"/>
                </a:solidFill>
                <a:latin typeface="Calibri" pitchFamily="34" charset="0"/>
                <a:ea typeface="Calibri" pitchFamily="34" charset="-122"/>
                <a:cs typeface="Calibri" pitchFamily="34" charset="-120"/>
              </a:rPr>
              <a:t>Correct: B.  </a:t>
            </a:r>
            <a:r>
              <a:rPr lang="en-US" sz="1800" i="1" dirty="0">
                <a:solidFill>
                  <a:srgbClr val="5B7085"/>
                </a:solidFill>
                <a:latin typeface="Calibri" pitchFamily="34" charset="0"/>
                <a:ea typeface="Calibri" pitchFamily="34" charset="-122"/>
                <a:cs typeface="Calibri" pitchFamily="34" charset="-120"/>
              </a:rPr>
              <a:t>It acts throughout the body.</a:t>
            </a:r>
            <a:endParaRPr lang="en-US" sz="1600"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(8/10)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1978152"/>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Q15. Gastric-cancer surgery may involve:</a:t>
            </a:r>
            <a:endParaRPr lang="en-US" sz="24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r>
              <a:rPr lang="en-US" sz="2000" b="1" dirty="0">
                <a:solidFill>
                  <a:srgbClr val="1E7A46"/>
                </a:solidFill>
                <a:latin typeface="Calibri" pitchFamily="34" charset="0"/>
                <a:ea typeface="Calibri" pitchFamily="34" charset="-122"/>
                <a:cs typeface="Calibri" pitchFamily="34" charset="-120"/>
              </a:rPr>
              <a:t>A. Removing part or all of the stomach and lymph nodes resection if indicated ✓</a:t>
            </a:r>
            <a:endParaRPr lang="en-US" sz="2000"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B. </a:t>
            </a:r>
            <a:r>
              <a:rPr lang="en-US" sz="2000" dirty="0">
                <a:solidFill>
                  <a:srgbClr val="1F3B50"/>
                </a:solidFill>
                <a:latin typeface="Calibri" pitchFamily="34" charset="0"/>
                <a:ea typeface="Calibri" pitchFamily="34" charset="-122"/>
                <a:cs typeface="Calibri" pitchFamily="34" charset="-120"/>
              </a:rPr>
              <a:t>Only removing lymph nodes</a:t>
            </a:r>
            <a:endParaRPr lang="en-US" sz="2000" dirty="0"/>
          </a:p>
        </p:txBody>
      </p:sp>
      <p:sp>
        <p:nvSpPr>
          <p:cNvPr id="8" name="Text 6"/>
          <p:cNvSpPr/>
          <p:nvPr/>
        </p:nvSpPr>
        <p:spPr>
          <a:xfrm>
            <a:off x="914400" y="3020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No tissue removal</a:t>
            </a:r>
            <a:endParaRPr lang="en-US" sz="2000" dirty="0"/>
          </a:p>
        </p:txBody>
      </p:sp>
      <p:sp>
        <p:nvSpPr>
          <p:cNvPr id="9" name="Text 7"/>
          <p:cNvSpPr/>
          <p:nvPr/>
        </p:nvSpPr>
        <p:spPr>
          <a:xfrm>
            <a:off x="6095848" y="3020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Radiotherapy planning</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A.  </a:t>
            </a:r>
            <a:r>
              <a:rPr lang="en-US" i="1" dirty="0">
                <a:solidFill>
                  <a:srgbClr val="5B7085"/>
                </a:solidFill>
                <a:latin typeface="Calibri" pitchFamily="34" charset="0"/>
                <a:ea typeface="Calibri" pitchFamily="34" charset="-122"/>
                <a:cs typeface="Calibri" pitchFamily="34" charset="-120"/>
              </a:rPr>
              <a:t>Gastrectomy removes part or all of the stomach with regional nodes.</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Q16. Radiotherapy works by:</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Adding hormones</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Damaging cancer-cell DNA with radiation  ✓</a:t>
            </a:r>
            <a:endParaRPr lang="en-US" sz="2000"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Being a type of surgery</a:t>
            </a:r>
            <a:endParaRPr lang="en-US" sz="2000"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Doing nothing</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damages DNA so cells cannot keep dividing.</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(9/10)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Q17. A biopsy of a gastric lesion:</a:t>
            </a:r>
            <a:endParaRPr lang="en-US" sz="24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Causes cancer to spread</a:t>
            </a:r>
            <a:endParaRPr lang="en-US" sz="2000"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Is needed to confirm diagnosis  ✓</a:t>
            </a:r>
            <a:endParaRPr lang="en-US" sz="2000" dirty="0"/>
          </a:p>
        </p:txBody>
      </p:sp>
      <p:sp>
        <p:nvSpPr>
          <p:cNvPr id="8" name="Text 6"/>
          <p:cNvSpPr/>
          <p:nvPr/>
        </p:nvSpPr>
        <p:spPr>
          <a:xfrm>
            <a:off x="914400"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Replaces endoscopy</a:t>
            </a:r>
            <a:endParaRPr lang="en-US" sz="2000" dirty="0"/>
          </a:p>
        </p:txBody>
      </p:sp>
      <p:sp>
        <p:nvSpPr>
          <p:cNvPr id="9" name="Text 7"/>
          <p:cNvSpPr/>
          <p:nvPr/>
        </p:nvSpPr>
        <p:spPr>
          <a:xfrm>
            <a:off x="6095848" y="286207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Confirms stage alone</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Biopsy confirms diagnosis and does not spread cancer.</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Q18. After gastrectomy, patients often need:</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Larger, less frequent meals</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Smaller, more frequent meals  ✓</a:t>
            </a:r>
            <a:endParaRPr lang="en-US" sz="2000" dirty="0"/>
          </a:p>
        </p:txBody>
      </p:sp>
      <p:sp>
        <p:nvSpPr>
          <p:cNvPr id="15" name="Text 13"/>
          <p:cNvSpPr/>
          <p:nvPr/>
        </p:nvSpPr>
        <p:spPr>
          <a:xfrm>
            <a:off x="914400"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No dietary change</a:t>
            </a:r>
            <a:endParaRPr lang="en-US" sz="2000" dirty="0"/>
          </a:p>
        </p:txBody>
      </p:sp>
      <p:sp>
        <p:nvSpPr>
          <p:cNvPr id="16" name="Text 14"/>
          <p:cNvSpPr/>
          <p:nvPr/>
        </p:nvSpPr>
        <p:spPr>
          <a:xfrm>
            <a:off x="6095848" y="4873752"/>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IV fluids only</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Reduced capacity favours smaller, frequent meals.</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685800" y="96012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BASELINE CHECK</a:t>
            </a:r>
            <a:endParaRPr lang="en-US" sz="1200" dirty="0"/>
          </a:p>
        </p:txBody>
      </p:sp>
      <p:sp>
        <p:nvSpPr>
          <p:cNvPr id="3" name="Text 1"/>
          <p:cNvSpPr/>
          <p:nvPr/>
        </p:nvSpPr>
        <p:spPr>
          <a:xfrm>
            <a:off x="685800" y="1344168"/>
            <a:ext cx="10820095" cy="548640"/>
          </a:xfrm>
          <a:prstGeom prst="rect">
            <a:avLst/>
          </a:prstGeom>
          <a:noFill/>
          <a:ln/>
        </p:spPr>
        <p:txBody>
          <a:bodyPr wrap="square" lIns="0" tIns="0" rIns="0" bIns="0" rtlCol="0" anchor="ctr"/>
          <a:lstStyle/>
          <a:p>
            <a:pPr marL="0" indent="0">
              <a:buNone/>
            </a:pPr>
            <a:r>
              <a:rPr lang="en-US" sz="3000" b="1" dirty="0">
                <a:solidFill>
                  <a:srgbClr val="12406B"/>
                </a:solidFill>
                <a:latin typeface="Cambria" pitchFamily="34" charset="0"/>
                <a:ea typeface="Cambria" pitchFamily="34" charset="-122"/>
                <a:cs typeface="Cambria" pitchFamily="34" charset="-120"/>
              </a:rPr>
              <a:t>Question set  (10/10)</a:t>
            </a:r>
            <a:endParaRPr lang="en-US" sz="3000" dirty="0"/>
          </a:p>
        </p:txBody>
      </p:sp>
      <p:sp>
        <p:nvSpPr>
          <p:cNvPr id="4" name="Shape 2"/>
          <p:cNvSpPr/>
          <p:nvPr/>
        </p:nvSpPr>
        <p:spPr>
          <a:xfrm>
            <a:off x="685800" y="196596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5" name="Text 3"/>
          <p:cNvSpPr/>
          <p:nvPr/>
        </p:nvSpPr>
        <p:spPr>
          <a:xfrm>
            <a:off x="914400" y="211226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Q19. Palliative care is:</a:t>
            </a:r>
            <a:endParaRPr lang="en-US" sz="2400" dirty="0"/>
          </a:p>
        </p:txBody>
      </p:sp>
      <p:sp>
        <p:nvSpPr>
          <p:cNvPr id="6" name="Text 4"/>
          <p:cNvSpPr/>
          <p:nvPr/>
        </p:nvSpPr>
        <p:spPr>
          <a:xfrm>
            <a:off x="914400" y="253288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Only for the last days of life</a:t>
            </a:r>
            <a:endParaRPr lang="en-US" sz="2000" dirty="0"/>
          </a:p>
        </p:txBody>
      </p:sp>
      <p:sp>
        <p:nvSpPr>
          <p:cNvPr id="7" name="Text 5"/>
          <p:cNvSpPr/>
          <p:nvPr/>
        </p:nvSpPr>
        <p:spPr>
          <a:xfrm>
            <a:off x="6095848" y="253288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Symptom relief and quality of life, alongside treatment when appropriate  ✓</a:t>
            </a:r>
            <a:endParaRPr lang="en-US" sz="2000" dirty="0"/>
          </a:p>
        </p:txBody>
      </p:sp>
      <p:sp>
        <p:nvSpPr>
          <p:cNvPr id="8" name="Text 6"/>
          <p:cNvSpPr/>
          <p:nvPr/>
        </p:nvSpPr>
        <p:spPr>
          <a:xfrm>
            <a:off x="914400" y="2996184"/>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The same as stopping care</a:t>
            </a:r>
            <a:endParaRPr lang="en-US" sz="2000" dirty="0"/>
          </a:p>
        </p:txBody>
      </p:sp>
      <p:sp>
        <p:nvSpPr>
          <p:cNvPr id="9" name="Text 7"/>
          <p:cNvSpPr/>
          <p:nvPr/>
        </p:nvSpPr>
        <p:spPr>
          <a:xfrm>
            <a:off x="6095848" y="2996184"/>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Only pain medicine</a:t>
            </a:r>
            <a:endParaRPr lang="en-US" sz="2000" dirty="0"/>
          </a:p>
        </p:txBody>
      </p:sp>
      <p:sp>
        <p:nvSpPr>
          <p:cNvPr id="10" name="Text 8"/>
          <p:cNvSpPr/>
          <p:nvPr/>
        </p:nvSpPr>
        <p:spPr>
          <a:xfrm>
            <a:off x="914400" y="332841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It supports symptoms and quality of life at any stage.</a:t>
            </a:r>
            <a:endParaRPr lang="en-US" dirty="0"/>
          </a:p>
        </p:txBody>
      </p:sp>
      <p:sp>
        <p:nvSpPr>
          <p:cNvPr id="11" name="Shape 9"/>
          <p:cNvSpPr/>
          <p:nvPr/>
        </p:nvSpPr>
        <p:spPr>
          <a:xfrm>
            <a:off x="685800" y="3977640"/>
            <a:ext cx="10820095" cy="1783080"/>
          </a:xfrm>
          <a:prstGeom prst="roundRect">
            <a:avLst>
              <a:gd name="adj" fmla="val 3077"/>
            </a:avLst>
          </a:prstGeom>
          <a:solidFill>
            <a:srgbClr val="EBF3FC"/>
          </a:solidFill>
          <a:ln w="12700">
            <a:solidFill>
              <a:srgbClr val="D3E4F5"/>
            </a:solidFill>
            <a:prstDash val="solid"/>
          </a:ln>
        </p:spPr>
        <p:txBody>
          <a:bodyPr/>
          <a:lstStyle/>
          <a:p>
            <a:endParaRPr lang="en-US" sz="3200" dirty="0"/>
          </a:p>
        </p:txBody>
      </p:sp>
      <p:sp>
        <p:nvSpPr>
          <p:cNvPr id="12" name="Text 10"/>
          <p:cNvSpPr/>
          <p:nvPr/>
        </p:nvSpPr>
        <p:spPr>
          <a:xfrm>
            <a:off x="914400" y="4123944"/>
            <a:ext cx="10362895" cy="365760"/>
          </a:xfrm>
          <a:prstGeom prst="rect">
            <a:avLst/>
          </a:prstGeom>
          <a:noFill/>
          <a:ln/>
        </p:spPr>
        <p:txBody>
          <a:bodyPr wrap="square" lIns="0" tIns="0" rIns="0" bIns="0" rtlCol="0" anchor="ctr"/>
          <a:lstStyle/>
          <a:p>
            <a:pPr marL="0" indent="0">
              <a:buNone/>
            </a:pPr>
            <a:r>
              <a:rPr lang="en-US" sz="2400" b="1" dirty="0">
                <a:solidFill>
                  <a:srgbClr val="12406B"/>
                </a:solidFill>
                <a:latin typeface="Calibri" pitchFamily="34" charset="0"/>
                <a:ea typeface="Calibri" pitchFamily="34" charset="-122"/>
                <a:cs typeface="Calibri" pitchFamily="34" charset="-120"/>
              </a:rPr>
              <a:t>Q20. In Rwanda, gastric cancer is:</a:t>
            </a:r>
            <a:endParaRPr lang="en-US" sz="2400" dirty="0"/>
          </a:p>
        </p:txBody>
      </p:sp>
      <p:sp>
        <p:nvSpPr>
          <p:cNvPr id="13" name="Text 11"/>
          <p:cNvSpPr/>
          <p:nvPr/>
        </p:nvSpPr>
        <p:spPr>
          <a:xfrm>
            <a:off x="914400" y="4544568"/>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A. </a:t>
            </a:r>
            <a:r>
              <a:rPr lang="en-US" sz="2000" dirty="0">
                <a:solidFill>
                  <a:srgbClr val="1F3B50"/>
                </a:solidFill>
                <a:latin typeface="Calibri" pitchFamily="34" charset="0"/>
                <a:ea typeface="Calibri" pitchFamily="34" charset="-122"/>
                <a:cs typeface="Calibri" pitchFamily="34" charset="-120"/>
              </a:rPr>
              <a:t>Not recorded</a:t>
            </a:r>
            <a:endParaRPr lang="en-US" sz="2000" dirty="0"/>
          </a:p>
        </p:txBody>
      </p:sp>
      <p:sp>
        <p:nvSpPr>
          <p:cNvPr id="14" name="Text 12"/>
          <p:cNvSpPr/>
          <p:nvPr/>
        </p:nvSpPr>
        <p:spPr>
          <a:xfrm>
            <a:off x="6095848" y="4544568"/>
            <a:ext cx="5044288" cy="310896"/>
          </a:xfrm>
          <a:prstGeom prst="rect">
            <a:avLst/>
          </a:prstGeom>
          <a:noFill/>
          <a:ln/>
        </p:spPr>
        <p:txBody>
          <a:bodyPr wrap="square" lIns="0" tIns="0" rIns="0" bIns="0" rtlCol="0" anchor="ctr"/>
          <a:lstStyle/>
          <a:p>
            <a:pPr marL="0" indent="0">
              <a:buNone/>
            </a:pPr>
            <a:r>
              <a:rPr lang="en-US" sz="2000" b="1" dirty="0">
                <a:solidFill>
                  <a:srgbClr val="1E7A46"/>
                </a:solidFill>
                <a:latin typeface="Calibri" pitchFamily="34" charset="0"/>
                <a:ea typeface="Calibri" pitchFamily="34" charset="-122"/>
                <a:cs typeface="Calibri" pitchFamily="34" charset="-120"/>
              </a:rPr>
              <a:t>B. Among the more common cancers and a notable cause of cancer death  ✓</a:t>
            </a:r>
            <a:endParaRPr lang="en-US" sz="2000" dirty="0"/>
          </a:p>
        </p:txBody>
      </p:sp>
      <p:sp>
        <p:nvSpPr>
          <p:cNvPr id="15" name="Text 13"/>
          <p:cNvSpPr/>
          <p:nvPr/>
        </p:nvSpPr>
        <p:spPr>
          <a:xfrm>
            <a:off x="914400" y="4983480"/>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C. </a:t>
            </a:r>
            <a:r>
              <a:rPr lang="en-US" sz="2000" dirty="0">
                <a:solidFill>
                  <a:srgbClr val="1F3B50"/>
                </a:solidFill>
                <a:latin typeface="Calibri" pitchFamily="34" charset="0"/>
                <a:ea typeface="Calibri" pitchFamily="34" charset="-122"/>
                <a:cs typeface="Calibri" pitchFamily="34" charset="-120"/>
              </a:rPr>
              <a:t>Only found abroad</a:t>
            </a:r>
            <a:endParaRPr lang="en-US" sz="2000" dirty="0"/>
          </a:p>
        </p:txBody>
      </p:sp>
      <p:sp>
        <p:nvSpPr>
          <p:cNvPr id="16" name="Text 14"/>
          <p:cNvSpPr/>
          <p:nvPr/>
        </p:nvSpPr>
        <p:spPr>
          <a:xfrm>
            <a:off x="6095848" y="4983480"/>
            <a:ext cx="5044288" cy="310896"/>
          </a:xfrm>
          <a:prstGeom prst="rect">
            <a:avLst/>
          </a:prstGeom>
          <a:noFill/>
          <a:ln/>
        </p:spPr>
        <p:txBody>
          <a:bodyPr wrap="square" lIns="0" tIns="0" rIns="0" bIns="0" rtlCol="0" anchor="ctr"/>
          <a:lstStyle/>
          <a:p>
            <a:pPr marL="0" indent="0">
              <a:buNone/>
            </a:pPr>
            <a:r>
              <a:rPr lang="en-US" sz="2000" b="1" dirty="0">
                <a:solidFill>
                  <a:srgbClr val="1F3B50"/>
                </a:solidFill>
                <a:latin typeface="Calibri" pitchFamily="34" charset="0"/>
                <a:ea typeface="Calibri" pitchFamily="34" charset="-122"/>
                <a:cs typeface="Calibri" pitchFamily="34" charset="-120"/>
              </a:rPr>
              <a:t>D. </a:t>
            </a:r>
            <a:r>
              <a:rPr lang="en-US" sz="2000" dirty="0">
                <a:solidFill>
                  <a:srgbClr val="1F3B50"/>
                </a:solidFill>
                <a:latin typeface="Calibri" pitchFamily="34" charset="0"/>
                <a:ea typeface="Calibri" pitchFamily="34" charset="-122"/>
                <a:cs typeface="Calibri" pitchFamily="34" charset="-120"/>
              </a:rPr>
              <a:t>Extremely rare</a:t>
            </a:r>
            <a:endParaRPr lang="en-US" sz="2000" dirty="0"/>
          </a:p>
        </p:txBody>
      </p:sp>
      <p:sp>
        <p:nvSpPr>
          <p:cNvPr id="17" name="Text 15"/>
          <p:cNvSpPr/>
          <p:nvPr/>
        </p:nvSpPr>
        <p:spPr>
          <a:xfrm>
            <a:off x="914400" y="5340096"/>
            <a:ext cx="10362895" cy="329184"/>
          </a:xfrm>
          <a:prstGeom prst="rect">
            <a:avLst/>
          </a:prstGeom>
          <a:noFill/>
          <a:ln/>
        </p:spPr>
        <p:txBody>
          <a:bodyPr wrap="square" lIns="0" tIns="0" rIns="0" bIns="0" rtlCol="0" anchor="ctr"/>
          <a:lstStyle/>
          <a:p>
            <a:pPr marL="0" indent="0">
              <a:buNone/>
            </a:pPr>
            <a:r>
              <a:rPr lang="en-US" b="1" dirty="0">
                <a:solidFill>
                  <a:srgbClr val="1E7A46"/>
                </a:solidFill>
                <a:latin typeface="Calibri" pitchFamily="34" charset="0"/>
                <a:ea typeface="Calibri" pitchFamily="34" charset="-122"/>
                <a:cs typeface="Calibri" pitchFamily="34" charset="-120"/>
              </a:rPr>
              <a:t>Correct: B.  </a:t>
            </a:r>
            <a:r>
              <a:rPr lang="en-US" i="1" dirty="0">
                <a:solidFill>
                  <a:srgbClr val="5B7085"/>
                </a:solidFill>
                <a:latin typeface="Calibri" pitchFamily="34" charset="0"/>
                <a:ea typeface="Calibri" pitchFamily="34" charset="-122"/>
                <a:cs typeface="Calibri" pitchFamily="34" charset="-120"/>
              </a:rPr>
              <a:t>GLOBOCAN 2024 lists gastric cancer among the leading cancers in Rwanda.</a:t>
            </a:r>
            <a:endParaRPr lang="en-US" dirty="0"/>
          </a:p>
        </p:txBody>
      </p:sp>
      <p:sp>
        <p:nvSpPr>
          <p:cNvPr id="18" name="Text 16"/>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
        <p:nvSpPr>
          <p:cNvPr id="19" name="Text Instruction"/>
          <p:cNvSpPr/>
          <p:nvPr/>
        </p:nvSpPr>
        <p:spPr>
          <a:xfrm>
            <a:off x="685800" y="1481328"/>
            <a:ext cx="10817352" cy="365760"/>
          </a:xfrm>
          <a:prstGeom prst="rect">
            <a:avLst/>
          </a:prstGeom>
          <a:noFill/>
          <a:ln/>
        </p:spPr>
        <p:txBody>
          <a:bodyPr wrap="square" lIns="0" tIns="0" rIns="0" bIns="0" rtlCol="0" anchor="ctr"/>
          <a:lstStyle/>
          <a:p>
            <a:pPr marL="0" indent="0" algn="r">
              <a:buNone/>
            </a:pPr>
            <a:r>
              <a:rPr lang="en-US" sz="1800" b="0" i="1" dirty="0">
                <a:solidFill>
                  <a:srgbClr val="5B7085"/>
                </a:solidFill>
                <a:latin typeface="Calibri" pitchFamily="34" charset="0"/>
                <a:ea typeface="Cambria" pitchFamily="34" charset="-122"/>
                <a:cs typeface="Cambria" pitchFamily="34" charset="-120"/>
              </a:rPr>
              <a:t>Choose the best answer.</a:t>
            </a:r>
            <a:endParaRPr lang="en-US" sz="3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685800" y="77724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ATTRIBUTION AND SOURCES</a:t>
            </a:r>
            <a:endParaRPr lang="en-US" sz="1200" dirty="0"/>
          </a:p>
        </p:txBody>
      </p:sp>
      <p:sp>
        <p:nvSpPr>
          <p:cNvPr id="3" name="Text 1"/>
          <p:cNvSpPr/>
          <p:nvPr/>
        </p:nvSpPr>
        <p:spPr>
          <a:xfrm>
            <a:off x="685800" y="1097280"/>
            <a:ext cx="10820095" cy="548640"/>
          </a:xfrm>
          <a:prstGeom prst="rect">
            <a:avLst/>
          </a:prstGeom>
          <a:noFill/>
          <a:ln/>
        </p:spPr>
        <p:txBody>
          <a:bodyPr wrap="square" lIns="0" tIns="0" rIns="0" bIns="0" rtlCol="0" anchor="ctr"/>
          <a:lstStyle/>
          <a:p>
            <a:pPr marL="0" indent="0">
              <a:buNone/>
            </a:pPr>
            <a:r>
              <a:rPr lang="en-US" sz="2800" b="1" dirty="0">
                <a:solidFill>
                  <a:srgbClr val="12406B"/>
                </a:solidFill>
                <a:latin typeface="Cambria" pitchFamily="34" charset="0"/>
                <a:ea typeface="Cambria" pitchFamily="34" charset="-122"/>
                <a:cs typeface="Cambria" pitchFamily="34" charset="-120"/>
              </a:rPr>
              <a:t>References</a:t>
            </a:r>
            <a:endParaRPr lang="en-US" sz="2800" dirty="0"/>
          </a:p>
        </p:txBody>
      </p:sp>
      <p:sp>
        <p:nvSpPr>
          <p:cNvPr id="4" name="Text 2"/>
          <p:cNvSpPr/>
          <p:nvPr/>
        </p:nvSpPr>
        <p:spPr>
          <a:xfrm>
            <a:off x="685800" y="1874520"/>
            <a:ext cx="5181448" cy="3840480"/>
          </a:xfrm>
          <a:prstGeom prst="rect">
            <a:avLst/>
          </a:prstGeom>
          <a:noFill/>
          <a:ln/>
        </p:spPr>
        <p:txBody>
          <a:bodyPr wrap="square" lIns="0" tIns="0" rIns="0" bIns="0" rtlCol="0" anchor="t"/>
          <a:lstStyle/>
          <a:p>
            <a:pPr marL="0" indent="0">
              <a:lnSpc>
                <a:spcPct val="105000"/>
              </a:lnSpc>
              <a:buNone/>
            </a:pPr>
            <a:r>
              <a:rPr lang="en-US" sz="1400" b="1" dirty="0">
                <a:solidFill>
                  <a:srgbClr val="12406B"/>
                </a:solidFill>
                <a:latin typeface="Calibri" pitchFamily="34" charset="0"/>
                <a:ea typeface="Calibri" pitchFamily="34" charset="-122"/>
                <a:cs typeface="Calibri" pitchFamily="34" charset="-120"/>
              </a:rPr>
              <a:t>1. </a:t>
            </a:r>
            <a:r>
              <a:rPr lang="en-US" sz="1400" dirty="0">
                <a:solidFill>
                  <a:srgbClr val="1F3B50"/>
                </a:solidFill>
                <a:latin typeface="Calibri" pitchFamily="34" charset="0"/>
                <a:ea typeface="Calibri" pitchFamily="34" charset="-122"/>
                <a:cs typeface="Calibri" pitchFamily="34" charset="-120"/>
              </a:rPr>
              <a:t>International Agency for Research on Cancer. Global Cancer Observatory: Cancer Today (GLOBOCAN 2024 estimates, version 1.0). Lyon: IARC/WHO. Rwanda and stomach fact sheets. https://gco.iarc.who.int/today
</a:t>
            </a:r>
            <a:r>
              <a:rPr lang="en-US" sz="1400" b="1" dirty="0">
                <a:solidFill>
                  <a:srgbClr val="12406B"/>
                </a:solidFill>
                <a:latin typeface="Calibri" pitchFamily="34" charset="0"/>
                <a:ea typeface="Calibri" pitchFamily="34" charset="-122"/>
                <a:cs typeface="Calibri" pitchFamily="34" charset="-120"/>
              </a:rPr>
              <a:t>2. </a:t>
            </a:r>
            <a:r>
              <a:rPr lang="en-US" sz="1400" dirty="0">
                <a:solidFill>
                  <a:srgbClr val="1F3B50"/>
                </a:solidFill>
                <a:latin typeface="Calibri" pitchFamily="34" charset="0"/>
                <a:ea typeface="Calibri" pitchFamily="34" charset="-122"/>
                <a:cs typeface="Calibri" pitchFamily="34" charset="-120"/>
              </a:rPr>
              <a:t>Sung H, Filho AM, Laversanne M, et al. Global cancer statistics 2024: GLOBOCAN estimates of incidence and mortality worldwide for 34 cancers in 186 countries. CA Cancer J Clin. 2026. doi:10.3322/caac.70090
</a:t>
            </a:r>
            <a:r>
              <a:rPr lang="en-US" sz="1400" b="1" dirty="0">
                <a:solidFill>
                  <a:srgbClr val="12406B"/>
                </a:solidFill>
                <a:latin typeface="Calibri" pitchFamily="34" charset="0"/>
                <a:ea typeface="Calibri" pitchFamily="34" charset="-122"/>
                <a:cs typeface="Calibri" pitchFamily="34" charset="-120"/>
              </a:rPr>
              <a:t>3. </a:t>
            </a:r>
            <a:r>
              <a:rPr lang="en-US" sz="1400" dirty="0">
                <a:solidFill>
                  <a:srgbClr val="1F3B50"/>
                </a:solidFill>
                <a:latin typeface="Calibri" pitchFamily="34" charset="0"/>
                <a:ea typeface="Calibri" pitchFamily="34" charset="-122"/>
                <a:cs typeface="Calibri" pitchFamily="34" charset="-120"/>
              </a:rPr>
              <a:t>International Agency for Research on Cancer. Cancer Tomorrow: projections of future incidence and mortality to 2050. https://gco.iarc.who.int/tomorrow
</a:t>
            </a:r>
            <a:r>
              <a:rPr lang="en-US" sz="1400" b="1" dirty="0">
                <a:solidFill>
                  <a:srgbClr val="12406B"/>
                </a:solidFill>
                <a:latin typeface="Calibri" pitchFamily="34" charset="0"/>
                <a:ea typeface="Calibri" pitchFamily="34" charset="-122"/>
                <a:cs typeface="Calibri" pitchFamily="34" charset="-120"/>
              </a:rPr>
              <a:t>4. </a:t>
            </a:r>
            <a:r>
              <a:rPr lang="en-US" sz="1400" dirty="0">
                <a:solidFill>
                  <a:srgbClr val="1F3B50"/>
                </a:solidFill>
                <a:latin typeface="Calibri" pitchFamily="34" charset="0"/>
                <a:ea typeface="Calibri" pitchFamily="34" charset="-122"/>
                <a:cs typeface="Calibri" pitchFamily="34" charset="-120"/>
              </a:rPr>
              <a:t>World Health Organization. Guide to Cancer Early Diagnosis. Geneva: WHO, 2017.
</a:t>
            </a:r>
            <a:endParaRPr lang="en-US" sz="1400" dirty="0"/>
          </a:p>
        </p:txBody>
      </p:sp>
      <p:sp>
        <p:nvSpPr>
          <p:cNvPr id="5" name="Text 3"/>
          <p:cNvSpPr/>
          <p:nvPr/>
        </p:nvSpPr>
        <p:spPr>
          <a:xfrm>
            <a:off x="6324448" y="1874520"/>
            <a:ext cx="5181448" cy="3840480"/>
          </a:xfrm>
          <a:prstGeom prst="rect">
            <a:avLst/>
          </a:prstGeom>
          <a:noFill/>
          <a:ln/>
        </p:spPr>
        <p:txBody>
          <a:bodyPr wrap="square" lIns="0" tIns="0" rIns="0" bIns="0" rtlCol="0" anchor="t"/>
          <a:lstStyle/>
          <a:p>
            <a:pPr marL="0" indent="0">
              <a:lnSpc>
                <a:spcPct val="105000"/>
              </a:lnSpc>
              <a:buNone/>
            </a:pPr>
            <a:r>
              <a:rPr lang="en-US" sz="1400" b="1" dirty="0">
                <a:solidFill>
                  <a:srgbClr val="12406B"/>
                </a:solidFill>
                <a:latin typeface="Calibri" pitchFamily="34" charset="0"/>
                <a:ea typeface="Calibri" pitchFamily="34" charset="-122"/>
                <a:cs typeface="Calibri" pitchFamily="34" charset="-120"/>
              </a:rPr>
              <a:t>5. </a:t>
            </a:r>
            <a:r>
              <a:rPr lang="en-US" sz="1400" dirty="0">
                <a:solidFill>
                  <a:srgbClr val="1F3B50"/>
                </a:solidFill>
                <a:latin typeface="Calibri" pitchFamily="34" charset="0"/>
                <a:ea typeface="Calibri" pitchFamily="34" charset="-122"/>
                <a:cs typeface="Calibri" pitchFamily="34" charset="-120"/>
              </a:rPr>
              <a:t>IARC Working Group. Helicobacter pylori Eradication as a Strategy for Preventing Gastric Cancer (IARC Working Group Reports Vol. 8). Lyon: IARC.
</a:t>
            </a:r>
            <a:r>
              <a:rPr lang="en-US" sz="1400" b="1" dirty="0">
                <a:solidFill>
                  <a:srgbClr val="12406B"/>
                </a:solidFill>
                <a:latin typeface="Calibri" pitchFamily="34" charset="0"/>
                <a:ea typeface="Calibri" pitchFamily="34" charset="-122"/>
                <a:cs typeface="Calibri" pitchFamily="34" charset="-120"/>
              </a:rPr>
              <a:t>6. </a:t>
            </a:r>
            <a:r>
              <a:rPr lang="en-US" sz="1400" dirty="0">
                <a:solidFill>
                  <a:srgbClr val="1F3B50"/>
                </a:solidFill>
                <a:latin typeface="Calibri" pitchFamily="34" charset="0"/>
                <a:ea typeface="Calibri" pitchFamily="34" charset="-122"/>
                <a:cs typeface="Calibri" pitchFamily="34" charset="-120"/>
              </a:rPr>
              <a:t>Ford AC, Yuan Y, Moayyedi P. Helicobacter pylori eradication for the prevention of gastric neoplasia. Cochrane Database of Systematic Reviews. https://www.cochranelibrary.com
</a:t>
            </a:r>
            <a:r>
              <a:rPr lang="en-US" sz="1400" b="1" dirty="0">
                <a:solidFill>
                  <a:srgbClr val="12406B"/>
                </a:solidFill>
                <a:latin typeface="Calibri" pitchFamily="34" charset="0"/>
                <a:ea typeface="Calibri" pitchFamily="34" charset="-122"/>
                <a:cs typeface="Calibri" pitchFamily="34" charset="-120"/>
              </a:rPr>
              <a:t>7. </a:t>
            </a:r>
            <a:r>
              <a:rPr lang="en-US" sz="1400" dirty="0">
                <a:solidFill>
                  <a:srgbClr val="1F3B50"/>
                </a:solidFill>
                <a:latin typeface="Calibri" pitchFamily="34" charset="0"/>
                <a:ea typeface="Calibri" pitchFamily="34" charset="-122"/>
                <a:cs typeface="Calibri" pitchFamily="34" charset="-120"/>
              </a:rPr>
              <a:t>Best LMJ, Takwoingi Y, Siddique S, et al. Non-invasive diagnostic tests for Helicobacter pylori infection. Cochrane Database of Systematic Reviews. https://www.cochranelibrary.com
</a:t>
            </a:r>
            <a:r>
              <a:rPr lang="en-US" sz="1400" b="1" dirty="0">
                <a:solidFill>
                  <a:srgbClr val="12406B"/>
                </a:solidFill>
                <a:latin typeface="Calibri" pitchFamily="34" charset="0"/>
                <a:ea typeface="Calibri" pitchFamily="34" charset="-122"/>
                <a:cs typeface="Calibri" pitchFamily="34" charset="-120"/>
              </a:rPr>
              <a:t>8. </a:t>
            </a:r>
            <a:r>
              <a:rPr lang="en-US" sz="1400" dirty="0">
                <a:solidFill>
                  <a:srgbClr val="1F3B50"/>
                </a:solidFill>
                <a:latin typeface="Calibri" pitchFamily="34" charset="0"/>
                <a:ea typeface="Calibri" pitchFamily="34" charset="-122"/>
                <a:cs typeface="Calibri" pitchFamily="34" charset="-120"/>
              </a:rPr>
              <a:t>Lordick F, Carneiro F, Cascinu S, et al. Gastric cancer: ESMO Clinical Practice Guideline for diagnosis, treatment and follow-up. Ann Oncol. 2022. doi:10.1016/j.annonc.2022.07.004
</a:t>
            </a:r>
            <a:endParaRPr lang="en-US" sz="1400" dirty="0"/>
          </a:p>
        </p:txBody>
      </p:sp>
      <p:sp>
        <p:nvSpPr>
          <p:cNvPr id="6" name="Text 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685800" y="77724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ATTRIBUTION AND SOURCES</a:t>
            </a:r>
            <a:endParaRPr lang="en-US" sz="1200" dirty="0"/>
          </a:p>
        </p:txBody>
      </p:sp>
      <p:sp>
        <p:nvSpPr>
          <p:cNvPr id="3" name="Text 1"/>
          <p:cNvSpPr/>
          <p:nvPr/>
        </p:nvSpPr>
        <p:spPr>
          <a:xfrm>
            <a:off x="685800" y="1097280"/>
            <a:ext cx="10820095" cy="548640"/>
          </a:xfrm>
          <a:prstGeom prst="rect">
            <a:avLst/>
          </a:prstGeom>
          <a:noFill/>
          <a:ln/>
        </p:spPr>
        <p:txBody>
          <a:bodyPr wrap="square" lIns="0" tIns="0" rIns="0" bIns="0" rtlCol="0" anchor="ctr"/>
          <a:lstStyle/>
          <a:p>
            <a:pPr marL="0" indent="0">
              <a:buNone/>
            </a:pPr>
            <a:r>
              <a:rPr lang="en-US" sz="2800" b="1" dirty="0">
                <a:solidFill>
                  <a:srgbClr val="12406B"/>
                </a:solidFill>
                <a:latin typeface="Cambria" pitchFamily="34" charset="0"/>
                <a:ea typeface="Cambria" pitchFamily="34" charset="-122"/>
                <a:cs typeface="Cambria" pitchFamily="34" charset="-120"/>
              </a:rPr>
              <a:t>References (continued)</a:t>
            </a:r>
            <a:endParaRPr lang="en-US" sz="2800" dirty="0"/>
          </a:p>
        </p:txBody>
      </p:sp>
      <p:sp>
        <p:nvSpPr>
          <p:cNvPr id="4" name="Text 2"/>
          <p:cNvSpPr/>
          <p:nvPr/>
        </p:nvSpPr>
        <p:spPr>
          <a:xfrm>
            <a:off x="685800" y="1874520"/>
            <a:ext cx="5181448" cy="3840480"/>
          </a:xfrm>
          <a:prstGeom prst="rect">
            <a:avLst/>
          </a:prstGeom>
          <a:noFill/>
          <a:ln/>
        </p:spPr>
        <p:txBody>
          <a:bodyPr wrap="square" lIns="0" tIns="0" rIns="0" bIns="0" rtlCol="0" anchor="t"/>
          <a:lstStyle/>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9. National Comprehensive Cancer Network. NCCN Guidelines for Patients: Stomach Cancer. https://www.nccn.org/patientguidelines</a:t>
            </a:r>
            <a:endParaRPr lang="en-US" sz="1400" dirty="0"/>
          </a:p>
          <a:p>
            <a:pPr marL="0" indent="0">
              <a:lnSpc>
                <a:spcPct val="105000"/>
              </a:lnSpc>
              <a:buNone/>
            </a:pPr>
            <a:endParaRPr lang="en-US" sz="1400" dirty="0"/>
          </a:p>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10. American Cancer Society. Stomach cancer: causes, risk factors, detection, diagnosis, staging and treatment. https://www.cancer.org/cancer/types/stomach-cancer.html</a:t>
            </a:r>
            <a:endParaRPr lang="en-US" sz="1400" dirty="0"/>
          </a:p>
          <a:p>
            <a:pPr marL="0" indent="0">
              <a:lnSpc>
                <a:spcPct val="105000"/>
              </a:lnSpc>
              <a:buNone/>
            </a:pPr>
            <a:endParaRPr lang="en-US" sz="1400" dirty="0"/>
          </a:p>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11. National Cancer Institute. Stomach (gastric) cancer. https://www.cancer.gov/types/stomach</a:t>
            </a:r>
            <a:endParaRPr lang="en-US" sz="1400" dirty="0"/>
          </a:p>
          <a:p>
            <a:pPr marL="0" indent="0">
              <a:lnSpc>
                <a:spcPct val="105000"/>
              </a:lnSpc>
              <a:buNone/>
            </a:pPr>
            <a:endParaRPr lang="en-US" sz="1400" dirty="0"/>
          </a:p>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12. Amin MB, Edge SB, Greene FL, et al. AJCC Cancer Staging Manual, 8th edition. American College of Surgeons.</a:t>
            </a:r>
            <a:endParaRPr lang="en-US" sz="1400" dirty="0"/>
          </a:p>
          <a:p>
            <a:pPr marL="0" indent="0">
              <a:lnSpc>
                <a:spcPct val="105000"/>
              </a:lnSpc>
              <a:buNone/>
            </a:pPr>
            <a:endParaRPr lang="en-US" sz="1400" dirty="0"/>
          </a:p>
        </p:txBody>
      </p:sp>
      <p:sp>
        <p:nvSpPr>
          <p:cNvPr id="5" name="Text 3"/>
          <p:cNvSpPr/>
          <p:nvPr/>
        </p:nvSpPr>
        <p:spPr>
          <a:xfrm>
            <a:off x="6324448" y="1874520"/>
            <a:ext cx="5181448" cy="3840480"/>
          </a:xfrm>
          <a:prstGeom prst="rect">
            <a:avLst/>
          </a:prstGeom>
          <a:noFill/>
          <a:ln/>
        </p:spPr>
        <p:txBody>
          <a:bodyPr wrap="square" lIns="0" tIns="0" rIns="0" bIns="0" rtlCol="0" anchor="t"/>
          <a:lstStyle/>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13. Union for International Cancer Control. TNM Classification of Malignant Tumors. https://www.uicc.org/what-we-do/sharing-knowledge/tnm</a:t>
            </a:r>
          </a:p>
          <a:p>
            <a:pPr marL="0" indent="0">
              <a:lnSpc>
                <a:spcPct val="105000"/>
              </a:lnSpc>
              <a:buNone/>
            </a:pPr>
            <a:endParaRPr lang="en-US" sz="1400" b="0" dirty="0">
              <a:solidFill>
                <a:srgbClr val="12406B"/>
              </a:solidFill>
              <a:latin typeface="Calibri" pitchFamily="34" charset="0"/>
              <a:ea typeface="Calibri" pitchFamily="34" charset="-122"/>
              <a:cs typeface="Calibri" pitchFamily="34" charset="-120"/>
            </a:endParaRPr>
          </a:p>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14. ESMO. Stomach Cancer: A Guide for Patients. https://www.esmo.org</a:t>
            </a:r>
          </a:p>
          <a:p>
            <a:pPr marL="0" indent="0">
              <a:lnSpc>
                <a:spcPct val="105000"/>
              </a:lnSpc>
              <a:buNone/>
            </a:pPr>
            <a:endParaRPr lang="en-US" sz="1400" b="0" dirty="0">
              <a:solidFill>
                <a:srgbClr val="12406B"/>
              </a:solidFill>
              <a:latin typeface="Calibri" pitchFamily="34" charset="0"/>
              <a:ea typeface="Calibri" pitchFamily="34" charset="-122"/>
              <a:cs typeface="Calibri" pitchFamily="34" charset="-120"/>
            </a:endParaRPr>
          </a:p>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15. Gastric cancer in sub-Saharan Africa: a systematic review, 2022. https://doi.org (open access).</a:t>
            </a:r>
          </a:p>
          <a:p>
            <a:pPr marL="0" indent="0">
              <a:lnSpc>
                <a:spcPct val="105000"/>
              </a:lnSpc>
              <a:buNone/>
            </a:pPr>
            <a:endParaRPr lang="en-US" sz="1400" b="0" dirty="0">
              <a:solidFill>
                <a:srgbClr val="12406B"/>
              </a:solidFill>
              <a:latin typeface="Calibri" pitchFamily="34" charset="0"/>
              <a:ea typeface="Calibri" pitchFamily="34" charset="-122"/>
              <a:cs typeface="Calibri" pitchFamily="34" charset="-120"/>
            </a:endParaRPr>
          </a:p>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16. African Cancer Registry Network. Rwanda National Cancer Registry. https://afcrn.org</a:t>
            </a:r>
          </a:p>
          <a:p>
            <a:pPr marL="0" indent="0">
              <a:lnSpc>
                <a:spcPct val="105000"/>
              </a:lnSpc>
              <a:buNone/>
            </a:pPr>
            <a:endParaRPr lang="en-US" sz="1400" b="0" dirty="0">
              <a:solidFill>
                <a:srgbClr val="12406B"/>
              </a:solidFill>
              <a:latin typeface="Calibri" pitchFamily="34" charset="0"/>
              <a:ea typeface="Calibri" pitchFamily="34" charset="-122"/>
              <a:cs typeface="Calibri" pitchFamily="34" charset="-120"/>
            </a:endParaRPr>
          </a:p>
        </p:txBody>
      </p:sp>
      <p:sp>
        <p:nvSpPr>
          <p:cNvPr id="6" name="Text 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777240"/>
            <a:ext cx="10820095" cy="274320"/>
          </a:xfrm>
          <a:prstGeom prst="rect">
            <a:avLst/>
          </a:prstGeom>
          <a:noFill/>
          <a:ln/>
        </p:spPr>
        <p:txBody>
          <a:bodyPr wrap="square" lIns="0" tIns="0" rIns="0" bIns="0" rtlCol="0" anchor="ctr"/>
          <a:lstStyle/>
          <a:p>
            <a:pPr marL="0" indent="0">
              <a:buNone/>
            </a:pPr>
            <a:r>
              <a:rPr lang="en-US" sz="1200" b="1" kern="0" spc="200" dirty="0">
                <a:solidFill>
                  <a:srgbClr val="1C6FB1"/>
                </a:solidFill>
                <a:latin typeface="Calibri" pitchFamily="34" charset="0"/>
                <a:ea typeface="Calibri" pitchFamily="34" charset="-122"/>
                <a:cs typeface="Calibri" pitchFamily="34" charset="-120"/>
              </a:rPr>
              <a:t>ATTRIBUTION AND SOURCES</a:t>
            </a:r>
            <a:endParaRPr lang="en-US" sz="1200" dirty="0"/>
          </a:p>
        </p:txBody>
      </p:sp>
      <p:sp>
        <p:nvSpPr>
          <p:cNvPr id="3" name="Text 1"/>
          <p:cNvSpPr/>
          <p:nvPr/>
        </p:nvSpPr>
        <p:spPr>
          <a:xfrm>
            <a:off x="685800" y="1097280"/>
            <a:ext cx="10820095" cy="548640"/>
          </a:xfrm>
          <a:prstGeom prst="rect">
            <a:avLst/>
          </a:prstGeom>
          <a:noFill/>
          <a:ln/>
        </p:spPr>
        <p:txBody>
          <a:bodyPr wrap="square" lIns="0" tIns="0" rIns="0" bIns="0" rtlCol="0" anchor="ctr"/>
          <a:lstStyle/>
          <a:p>
            <a:pPr marL="0" indent="0">
              <a:buNone/>
            </a:pPr>
            <a:r>
              <a:rPr lang="en-US" sz="2800" b="1" dirty="0">
                <a:solidFill>
                  <a:srgbClr val="12406B"/>
                </a:solidFill>
                <a:latin typeface="Cambria" pitchFamily="34" charset="0"/>
                <a:ea typeface="Cambria" pitchFamily="34" charset="-122"/>
                <a:cs typeface="Cambria" pitchFamily="34" charset="-120"/>
              </a:rPr>
              <a:t>References (continued)</a:t>
            </a:r>
            <a:endParaRPr lang="en-US" sz="2800" dirty="0"/>
          </a:p>
        </p:txBody>
      </p:sp>
      <p:sp>
        <p:nvSpPr>
          <p:cNvPr id="4" name="Text 2"/>
          <p:cNvSpPr/>
          <p:nvPr/>
        </p:nvSpPr>
        <p:spPr>
          <a:xfrm>
            <a:off x="685800" y="1874520"/>
            <a:ext cx="5181448" cy="3840480"/>
          </a:xfrm>
          <a:prstGeom prst="rect">
            <a:avLst/>
          </a:prstGeom>
          <a:noFill/>
          <a:ln/>
        </p:spPr>
        <p:txBody>
          <a:bodyPr wrap="square" lIns="0" tIns="0" rIns="0" bIns="0" rtlCol="0" anchor="t"/>
          <a:lstStyle/>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17. World Gastroenterology Organisation. Helicobacter pylori: WGO Global Guideline. Milwaukee: WGO; 2021. https://www.worldgastroenterology.org/guidelines</a:t>
            </a:r>
            <a:endParaRPr lang="en-US" sz="1400" dirty="0"/>
          </a:p>
          <a:p>
            <a:pPr marL="0" indent="0">
              <a:lnSpc>
                <a:spcPct val="105000"/>
              </a:lnSpc>
              <a:buNone/>
            </a:pPr>
            <a:endParaRPr lang="en-US" sz="1400" dirty="0"/>
          </a:p>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18. Malfertheiner P, Megraud F, Rokkas T, et al. Management of Helicobacter pylori infection: the Maastricht VI/Florence consensus report. Gut. 2022;71:1724-1762.</a:t>
            </a:r>
            <a:endParaRPr lang="en-US" sz="1400" dirty="0"/>
          </a:p>
          <a:p>
            <a:pPr marL="0" indent="0">
              <a:lnSpc>
                <a:spcPct val="105000"/>
              </a:lnSpc>
              <a:buNone/>
            </a:pPr>
            <a:endParaRPr lang="en-US" sz="1400" dirty="0"/>
          </a:p>
        </p:txBody>
      </p:sp>
      <p:sp>
        <p:nvSpPr>
          <p:cNvPr id="5" name="Text 3"/>
          <p:cNvSpPr/>
          <p:nvPr/>
        </p:nvSpPr>
        <p:spPr>
          <a:xfrm>
            <a:off x="6324448" y="1874520"/>
            <a:ext cx="5181448" cy="3840480"/>
          </a:xfrm>
          <a:prstGeom prst="rect">
            <a:avLst/>
          </a:prstGeom>
          <a:noFill/>
          <a:ln/>
        </p:spPr>
        <p:txBody>
          <a:bodyPr wrap="square" lIns="0" tIns="0" rIns="0" bIns="0" rtlCol="0" anchor="t"/>
          <a:lstStyle/>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19. Park JY, Georges D, Alberts CJ, et al. Global lifetime estimates of expected and preventable gastric cancers across 185 countries. Nature Medicine. https://www.nature.com/articles/s41591-025-03793-6</a:t>
            </a:r>
          </a:p>
          <a:p>
            <a:pPr marL="0" indent="0">
              <a:lnSpc>
                <a:spcPct val="105000"/>
              </a:lnSpc>
              <a:buNone/>
            </a:pPr>
            <a:endParaRPr lang="en-US" sz="1400" b="0" dirty="0">
              <a:solidFill>
                <a:srgbClr val="12406B"/>
              </a:solidFill>
              <a:latin typeface="Calibri" pitchFamily="34" charset="0"/>
              <a:ea typeface="Calibri" pitchFamily="34" charset="-122"/>
              <a:cs typeface="Calibri" pitchFamily="34" charset="-120"/>
            </a:endParaRPr>
          </a:p>
          <a:p>
            <a:pPr marL="0" indent="0">
              <a:lnSpc>
                <a:spcPct val="105000"/>
              </a:lnSpc>
              <a:buNone/>
            </a:pPr>
            <a:r>
              <a:rPr lang="en-US" sz="1400" b="0" dirty="0">
                <a:solidFill>
                  <a:srgbClr val="12406B"/>
                </a:solidFill>
                <a:latin typeface="Calibri" pitchFamily="34" charset="0"/>
                <a:ea typeface="Calibri" pitchFamily="34" charset="-122"/>
                <a:cs typeface="Calibri" pitchFamily="34" charset="-120"/>
              </a:rPr>
              <a:t>20. Memorial Sloan Kettering Cancer Center. Eating after your gastrectomy. https://www.mskcc.org/cancer-care/patient-education/eating-after-your-gastrectomy</a:t>
            </a:r>
          </a:p>
          <a:p>
            <a:pPr marL="0" indent="0">
              <a:lnSpc>
                <a:spcPct val="105000"/>
              </a:lnSpc>
              <a:buNone/>
            </a:pPr>
            <a:endParaRPr lang="en-US" sz="1400" b="0" dirty="0">
              <a:solidFill>
                <a:srgbClr val="12406B"/>
              </a:solidFill>
              <a:latin typeface="Calibri" pitchFamily="34" charset="0"/>
              <a:ea typeface="Calibri" pitchFamily="34" charset="-122"/>
              <a:cs typeface="Calibri" pitchFamily="34" charset="-120"/>
            </a:endParaRPr>
          </a:p>
        </p:txBody>
      </p:sp>
      <p:sp>
        <p:nvSpPr>
          <p:cNvPr id="6" name="Text 4"/>
          <p:cNvSpPr/>
          <p:nvPr/>
        </p:nvSpPr>
        <p:spPr>
          <a:xfrm>
            <a:off x="685800" y="6355080"/>
            <a:ext cx="10820095" cy="274320"/>
          </a:xfrm>
          <a:prstGeom prst="rect">
            <a:avLst/>
          </a:prstGeom>
          <a:noFill/>
          <a:ln/>
        </p:spPr>
        <p:txBody>
          <a:bodyPr wrap="square" lIns="0" tIns="0" rIns="0" bIns="0" rtlCol="0" anchor="ctr"/>
          <a:lstStyle/>
          <a:p>
            <a:pPr marL="0" indent="0" algn="l">
              <a:buNone/>
            </a:pPr>
            <a:r>
              <a:rPr lang="en-US" sz="1100" dirty="0">
                <a:solidFill>
                  <a:srgbClr val="5B7085"/>
                </a:solidFill>
                <a:latin typeface="Calibri" pitchFamily="34" charset="0"/>
                <a:ea typeface="Calibri" pitchFamily="34" charset="-122"/>
                <a:cs typeface="Calibri" pitchFamily="34" charset="-120"/>
              </a:rPr>
              <a:t>Gastric Cancer  |  Frontline HCP  |  Rwanda Biomedical Centre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3BB3AA2-9D83-4E02-A077-8A2114EE7246}"/>
</file>

<file path=customXml/itemProps2.xml><?xml version="1.0" encoding="utf-8"?>
<ds:datastoreItem xmlns:ds="http://schemas.openxmlformats.org/officeDocument/2006/customXml" ds:itemID="{050CF4EF-AA79-4E0D-82DA-D2D495254922}"/>
</file>

<file path=customXml/itemProps3.xml><?xml version="1.0" encoding="utf-8"?>
<ds:datastoreItem xmlns:ds="http://schemas.openxmlformats.org/officeDocument/2006/customXml" ds:itemID="{84666B01-5480-4A7C-8FB7-1AA59C7DBBCC}"/>
</file>

<file path=docProps/app.xml><?xml version="1.0" encoding="utf-8"?>
<Properties xmlns="http://schemas.openxmlformats.org/officeDocument/2006/extended-properties" xmlns:vt="http://schemas.openxmlformats.org/officeDocument/2006/docPropsVTypes">
  <TotalTime>2897</TotalTime>
  <Words>10078</Words>
  <Application>Microsoft Macintosh PowerPoint</Application>
  <PresentationFormat>Panorámica</PresentationFormat>
  <Paragraphs>1392</Paragraphs>
  <Slides>106</Slides>
  <Notes>102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106</vt:i4>
      </vt:variant>
    </vt:vector>
  </HeadingPairs>
  <TitlesOfParts>
    <vt:vector size="110"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komorebimindset_es@hotmail.com</cp:lastModifiedBy>
  <cp:revision>68</cp:revision>
  <dcterms:created xsi:type="dcterms:W3CDTF">2026-08-20T11:14:35Z</dcterms:created>
  <dcterms:modified xsi:type="dcterms:W3CDTF">2026-09-22T12:11:17Z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0x0101007D61ECC46547A045896A1B75675AB43C</vt:lpwstr>
  </property>
</Properties>
</file>