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presentation.xml" ContentType="application/vnd.openxmlformats-officedocument.presentationml.presentation.main+xml"/>
  <Override PartName="/ppt/slides/slide114.xml" ContentType="application/vnd.openxmlformats-officedocument.presentationml.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69.xml" ContentType="application/vnd.openxmlformats-officedocument.presentationml.notesSlide+xml"/>
  <Override PartName="/ppt/notesSlides/notesSlide68.xml" ContentType="application/vnd.openxmlformats-officedocument.presentationml.notesSlide+xml"/>
  <Override PartName="/ppt/notesSlides/notesSlide67.xml" ContentType="application/vnd.openxmlformats-officedocument.presentationml.notesSlide+xml"/>
  <Override PartName="/ppt/notesSlides/notesSlide66.xml" ContentType="application/vnd.openxmlformats-officedocument.presentationml.notesSlide+xml"/>
  <Override PartName="/ppt/notesSlides/notesSlide65.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2.xml" ContentType="application/vnd.openxmlformats-officedocument.presentationml.notesSlide+xml"/>
  <Override PartName="/ppt/notesSlides/notesSlide61.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6.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9.xml" ContentType="application/vnd.openxmlformats-officedocument.presentationml.notesSlide+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86.xml" ContentType="application/vnd.openxmlformats-officedocument.presentationml.notesSlide+xml"/>
  <Override PartName="/ppt/charts/chart1.xml" ContentType="application/vnd.openxmlformats-officedocument.drawingml.char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charts/chart2.xml" ContentType="application/vnd.openxmlformats-officedocument.drawingml.chart+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365" r:id="rId25"/>
    <p:sldId id="366" r:id="rId26"/>
    <p:sldId id="367" r:id="rId27"/>
    <p:sldId id="368" r:id="rId28"/>
    <p:sldId id="369" r:id="rId29"/>
    <p:sldId id="279" r:id="rId30"/>
    <p:sldId id="280" r:id="rId31"/>
    <p:sldId id="281" r:id="rId32"/>
    <p:sldId id="370"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371" r:id="rId47"/>
    <p:sldId id="297"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72" r:id="rId73"/>
    <p:sldId id="323" r:id="rId74"/>
    <p:sldId id="324" r:id="rId75"/>
    <p:sldId id="325" r:id="rId76"/>
    <p:sldId id="326" r:id="rId77"/>
    <p:sldId id="327" r:id="rId78"/>
    <p:sldId id="328" r:id="rId79"/>
    <p:sldId id="373"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DE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41"/>
    <p:restoredTop sz="94610"/>
  </p:normalViewPr>
  <p:slideViewPr>
    <p:cSldViewPr snapToGrid="0" snapToObjects="1">
      <p:cViewPr varScale="1">
        <p:scale>
          <a:sx n="100" d="100"/>
          <a:sy n="100" d="100"/>
        </p:scale>
        <p:origin x="200" y="1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customXml" Target="../customXml/item3.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customXml" Target="../customXml/item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customXml" Target="../customXml/item2.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17325E"/>
                </a:solidFill>
                <a:latin typeface="Calibri"/>
              </a:defRPr>
            </a:pPr>
            <a:r>
              <a:rPr lang="fr" sz="1300" b="0" i="0" u="none" strike="noStrike" noProof="0">
                <a:solidFill>
                  <a:srgbClr val="17325E"/>
                </a:solidFill>
                <a:latin typeface="Calibri"/>
              </a:rPr>
              <a:t>Incidence du cancer colorectal, taux standardisé par âge pour 100 000, 2024</a:t>
            </a:r>
          </a:p>
        </c:rich>
      </c:tx>
      <c:overlay val="0"/>
    </c:title>
    <c:autoTitleDeleted val="0"/>
    <c:plotArea>
      <c:layout/>
      <c:barChart>
        <c:barDir val="bar"/>
        <c:grouping val="clustered"/>
        <c:varyColors val="0"/>
        <c:ser>
          <c:idx val="0"/>
          <c:order val="0"/>
          <c:tx>
            <c:strRef>
              <c:f>Sheet1!$B$1</c:f>
              <c:strCache>
                <c:ptCount val="1"/>
                <c:pt idx="0">
                  <c:v>Taux d'incidence standardisé par âge pour 100 000 habitants (Monde)</c:v>
                </c:pt>
              </c:strCache>
            </c:strRef>
          </c:tx>
          <c:spPr>
            <a:solidFill>
              <a:srgbClr val="1F4E96"/>
            </a:solidFill>
            <a:effectLst/>
          </c:spPr>
          <c:invertIfNegative val="0"/>
          <c:dPt>
            <c:idx val="0"/>
            <c:invertIfNegative val="0"/>
            <c:bubble3D val="0"/>
            <c:extLst xmlns:c15="http://schemas.microsoft.com/office/drawing/2012/chart" xmlns:c16="http://schemas.microsoft.com/office/drawing/2014/chart">
              <c:ext xmlns:c16="http://schemas.microsoft.com/office/drawing/2014/chart" uri="{C3380CC4-5D6E-409C-BE32-E72D297353CC}">
                <c16:uniqueId val="{00000001-A60F-FA4D-ACD0-76930E203C36}"/>
              </c:ext>
            </c:extLst>
          </c:dPt>
          <c:dPt>
            <c:idx val="1"/>
            <c:invertIfNegative val="0"/>
            <c:bubble3D val="0"/>
            <c:spPr>
              <a:solidFill>
                <a:srgbClr val="9A5B00"/>
              </a:solidFill>
              <a:effectLst/>
            </c:spPr>
            <c:extLst xmlns:c15="http://schemas.microsoft.com/office/drawing/2012/chart" xmlns:c16="http://schemas.microsoft.com/office/drawing/2014/chart">
              <c:ext xmlns:c16="http://schemas.microsoft.com/office/drawing/2014/chart" uri="{C3380CC4-5D6E-409C-BE32-E72D297353CC}">
                <c16:uniqueId val="{00000003-A60F-FA4D-ACD0-76930E203C36}"/>
              </c:ext>
            </c:extLst>
          </c:dPt>
          <c:dPt>
            <c:idx val="2"/>
            <c:invertIfNegative val="0"/>
            <c:bubble3D val="0"/>
            <c:spPr>
              <a:solidFill>
                <a:srgbClr val="5B7195"/>
              </a:solidFill>
              <a:effectLst/>
            </c:spPr>
            <c:extLst xmlns:c15="http://schemas.microsoft.com/office/drawing/2012/chart" xmlns:c16="http://schemas.microsoft.com/office/drawing/2014/chart">
              <c:ext xmlns:c16="http://schemas.microsoft.com/office/drawing/2014/chart" uri="{C3380CC4-5D6E-409C-BE32-E72D297353CC}">
                <c16:uniqueId val="{00000005-A60F-FA4D-ACD0-76930E203C36}"/>
              </c:ext>
            </c:extLst>
          </c:dPt>
          <c:dLbls>
            <c:numFmt formatCode="0.0" sourceLinked="0"/>
            <c:spPr>
              <a:noFill/>
              <a:ln>
                <a:noFill/>
              </a:ln>
              <a:effectLst/>
            </c:spPr>
            <c:txPr>
              <a:bodyPr/>
              <a:lstStyle/>
              <a:p>
                <a:pPr>
                  <a:defRPr sz="1400" b="0" i="0" u="none" strike="noStrike">
                    <a:solidFill>
                      <a:srgbClr val="17325E"/>
                    </a:solidFill>
                    <a:latin typeface="Calibri"/>
                  </a:defRPr>
                </a:pPr>
                <a:endParaRPr lang="en-US"/>
              </a:p>
            </c:txPr>
            <c:showLegendKey val="0"/>
            <c:showVal val="1"/>
            <c:showCatName val="0"/>
            <c:showSerName val="0"/>
            <c:showPercent val="0"/>
            <c:showBubbleSize val="0"/>
            <c:showLeaderLines val="0"/>
            <c:extLst xmlns:c15="http://schemas.microsoft.com/office/drawing/2012/chart" xmlns:c16="http://schemas.microsoft.com/office/drawing/2014/chart">
              <c:ext xmlns:c15="http://schemas.microsoft.com/office/drawing/2012/chart" uri="{CE6537A1-D6FC-4f65-9D91-7224C49458BB}">
                <c15:showLeaderLines val="0"/>
              </c:ext>
            </c:extLst>
          </c:dLbls>
          <c:cat>
            <c:strRef>
              <c:f>Sheet1!$A$2:$A$4</c:f>
              <c:strCache>
                <c:ptCount val="3"/>
                <c:pt idx="0">
                  <c:v>Monde</c:v>
                </c:pt>
                <c:pt idx="1">
                  <c:v>Rwanda</c:v>
                </c:pt>
                <c:pt idx="2">
                  <c:v>Afrique</c:v>
                </c:pt>
              </c:strCache>
            </c:strRef>
          </c:cat>
          <c:val>
            <c:numRef>
              <c:f>Sheet1!$B$2:$B$4</c:f>
              <c:numCache>
                <c:formatCode>General</c:formatCode>
                <c:ptCount val="3"/>
                <c:pt idx="0">
                  <c:v>18.600000000000001</c:v>
                </c:pt>
                <c:pt idx="1">
                  <c:v>10.6</c:v>
                </c:pt>
                <c:pt idx="2">
                  <c:v>8.1999999999999993</c:v>
                </c:pt>
              </c:numCache>
            </c:numRef>
          </c:val>
          <c:extLst xmlns:c15="http://schemas.microsoft.com/office/drawing/2012/chart" xmlns:c16="http://schemas.microsoft.com/office/drawing/2014/chart">
            <c:ext xmlns:c16="http://schemas.microsoft.com/office/drawing/2014/chart" uri="{C3380CC4-5D6E-409C-BE32-E72D297353CC}">
              <c16:uniqueId val="{00000006-A60F-FA4D-ACD0-76930E203C36}"/>
            </c:ext>
          </c:extLst>
        </c:ser>
        <c:dLbls>
          <c:showLegendKey val="0"/>
          <c:showVal val="1"/>
          <c:showCatName val="0"/>
          <c:showSerName val="0"/>
          <c:showPercent val="0"/>
          <c:showBubbleSize val="0"/>
        </c:dLbls>
        <c:gapWidth val="150"/>
        <c:axId val="174357504"/>
        <c:axId val="174365312"/>
      </c:barChart>
      <c:catAx>
        <c:axId val="17435750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7325E"/>
                </a:solidFill>
                <a:latin typeface="Calibri"/>
              </a:defRPr>
            </a:pPr>
            <a:endParaRPr lang="en-US"/>
          </a:p>
        </c:txPr>
        <c:crossAx val="174365312"/>
        <c:crosses val="autoZero"/>
        <c:auto val="1"/>
        <c:lblAlgn val="ctr"/>
        <c:lblOffset val="100"/>
        <c:noMultiLvlLbl val="1"/>
      </c:catAx>
      <c:valAx>
        <c:axId val="174365312"/>
        <c:scaling>
          <c:orientation val="minMax"/>
          <c:max val="22"/>
          <c:min val="0"/>
        </c:scaling>
        <c:delete val="0"/>
        <c:axPos val="b"/>
        <c:majorGridlines>
          <c:spPr>
            <a:ln w="12700" cap="flat">
              <a:solidFill>
                <a:srgbClr val="E3ECF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7195"/>
                </a:solidFill>
                <a:latin typeface="Arial"/>
              </a:defRPr>
            </a:pPr>
            <a:endParaRPr lang="en-US"/>
          </a:p>
        </c:txPr>
        <c:crossAx val="17435750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17325E"/>
                </a:solidFill>
                <a:latin typeface="Calibri"/>
              </a:defRPr>
            </a:pPr>
            <a:r>
              <a:rPr lang="fr" sz="1300" b="0" i="0" u="none" strike="noStrike" noProof="0">
                <a:solidFill>
                  <a:srgbClr val="17325E"/>
                </a:solidFill>
                <a:latin typeface="Calibri"/>
              </a:rPr>
              <a:t>Les cinq cancers les plus fréquents au Rwanda, nouveaux cas estimés, des deux sexes, 2024</a:t>
            </a:r>
          </a:p>
        </c:rich>
      </c:tx>
      <c:overlay val="0"/>
    </c:title>
    <c:autoTitleDeleted val="0"/>
    <c:plotArea>
      <c:layout/>
      <c:barChart>
        <c:barDir val="bar"/>
        <c:grouping val="clustered"/>
        <c:varyColors val="0"/>
        <c:ser>
          <c:idx val="0"/>
          <c:order val="0"/>
          <c:tx>
            <c:strRef>
              <c:f>Sheet1!$B$1</c:f>
              <c:strCache>
                <c:ptCount val="1"/>
                <c:pt idx="0">
                  <c:v>Nouveaux cas estimés, Rwanda, 2024</c:v>
                </c:pt>
              </c:strCache>
            </c:strRef>
          </c:tx>
          <c:spPr>
            <a:solidFill>
              <a:srgbClr val="5B7195"/>
            </a:solidFill>
            <a:effectLst/>
          </c:spPr>
          <c:invertIfNegative val="0"/>
          <c:dPt>
            <c:idx val="0"/>
            <c:invertIfNegative val="0"/>
            <c:bubble3D val="0"/>
            <c:extLst xmlns:c15="http://schemas.microsoft.com/office/drawing/2012/chart" xmlns:c16="http://schemas.microsoft.com/office/drawing/2014/chart">
              <c:ext xmlns:c16="http://schemas.microsoft.com/office/drawing/2014/chart" uri="{C3380CC4-5D6E-409C-BE32-E72D297353CC}">
                <c16:uniqueId val="{00000001-1DDC-5444-94B9-81231E2000F7}"/>
              </c:ext>
            </c:extLst>
          </c:dPt>
          <c:dPt>
            <c:idx val="1"/>
            <c:invertIfNegative val="0"/>
            <c:bubble3D val="0"/>
            <c:spPr>
              <a:solidFill>
                <a:srgbClr val="9A5B00"/>
              </a:solidFill>
              <a:effectLst/>
            </c:spPr>
            <c:extLst xmlns:c15="http://schemas.microsoft.com/office/drawing/2012/chart" xmlns:c16="http://schemas.microsoft.com/office/drawing/2014/chart">
              <c:ext xmlns:c16="http://schemas.microsoft.com/office/drawing/2014/chart" uri="{C3380CC4-5D6E-409C-BE32-E72D297353CC}">
                <c16:uniqueId val="{00000003-1DDC-5444-94B9-81231E2000F7}"/>
              </c:ext>
            </c:extLst>
          </c:dPt>
          <c:dPt>
            <c:idx val="2"/>
            <c:invertIfNegative val="0"/>
            <c:bubble3D val="0"/>
            <c:extLst xmlns:c15="http://schemas.microsoft.com/office/drawing/2012/chart" xmlns:c16="http://schemas.microsoft.com/office/drawing/2014/chart">
              <c:ext xmlns:c16="http://schemas.microsoft.com/office/drawing/2014/chart" uri="{C3380CC4-5D6E-409C-BE32-E72D297353CC}">
                <c16:uniqueId val="{00000005-1DDC-5444-94B9-81231E2000F7}"/>
              </c:ext>
            </c:extLst>
          </c:dPt>
          <c:dPt>
            <c:idx val="3"/>
            <c:invertIfNegative val="0"/>
            <c:bubble3D val="0"/>
            <c:extLst xmlns:c15="http://schemas.microsoft.com/office/drawing/2012/chart" xmlns:c16="http://schemas.microsoft.com/office/drawing/2014/chart">
              <c:ext xmlns:c16="http://schemas.microsoft.com/office/drawing/2014/chart" uri="{C3380CC4-5D6E-409C-BE32-E72D297353CC}">
                <c16:uniqueId val="{00000007-1DDC-5444-94B9-81231E2000F7}"/>
              </c:ext>
            </c:extLst>
          </c:dPt>
          <c:dPt>
            <c:idx val="4"/>
            <c:invertIfNegative val="0"/>
            <c:bubble3D val="0"/>
            <c:extLst xmlns:c15="http://schemas.microsoft.com/office/drawing/2012/chart" xmlns:c16="http://schemas.microsoft.com/office/drawing/2014/chart">
              <c:ext xmlns:c16="http://schemas.microsoft.com/office/drawing/2014/chart" uri="{C3380CC4-5D6E-409C-BE32-E72D297353CC}">
                <c16:uniqueId val="{00000009-1DDC-5444-94B9-81231E2000F7}"/>
              </c:ext>
            </c:extLst>
          </c:dPt>
          <c:dLbls>
            <c:numFmt formatCode="#,##0" sourceLinked="0"/>
            <c:spPr>
              <a:noFill/>
              <a:ln>
                <a:noFill/>
              </a:ln>
              <a:effectLst/>
            </c:spPr>
            <c:txPr>
              <a:bodyPr/>
              <a:lstStyle/>
              <a:p>
                <a:pPr>
                  <a:defRPr sz="1400" b="0" i="0" u="none" strike="noStrike">
                    <a:solidFill>
                      <a:srgbClr val="17325E"/>
                    </a:solidFill>
                    <a:latin typeface="Calibri"/>
                  </a:defRPr>
                </a:pPr>
                <a:endParaRPr lang="en-US"/>
              </a:p>
            </c:txPr>
            <c:showLegendKey val="0"/>
            <c:showVal val="1"/>
            <c:showCatName val="0"/>
            <c:showSerName val="0"/>
            <c:showPercent val="0"/>
            <c:showBubbleSize val="0"/>
            <c:showLeaderLines val="0"/>
            <c:extLst xmlns:c15="http://schemas.microsoft.com/office/drawing/2012/chart" xmlns:c16="http://schemas.microsoft.com/office/drawing/2014/chart">
              <c:ext xmlns:c15="http://schemas.microsoft.com/office/drawing/2012/chart" uri="{CE6537A1-D6FC-4f65-9D91-7224C49458BB}">
                <c15:showLeaderLines val="0"/>
              </c:ext>
            </c:extLst>
          </c:dLbls>
          <c:cat>
            <c:strRef>
              <c:f>Sheet1!$A$2:$A$6</c:f>
              <c:strCache>
                <c:ptCount val="5"/>
                <c:pt idx="0">
                  <c:v>Estomac</c:v>
                </c:pt>
                <c:pt idx="1">
                  <c:v>Colorectum</c:v>
                </c:pt>
                <c:pt idx="2">
                  <c:v>Col de l'utérus</c:v>
                </c:pt>
                <c:pt idx="3">
                  <c:v>Sein</c:v>
                </c:pt>
                <c:pt idx="4">
                  <c:v>Prostate</c:v>
                </c:pt>
              </c:strCache>
            </c:strRef>
          </c:cat>
          <c:val>
            <c:numRef>
              <c:f>Sheet1!$B$2:$B$6</c:f>
              <c:numCache>
                <c:formatCode>General</c:formatCode>
                <c:ptCount val="5"/>
                <c:pt idx="0">
                  <c:v>895</c:v>
                </c:pt>
                <c:pt idx="1">
                  <c:v>925</c:v>
                </c:pt>
                <c:pt idx="2">
                  <c:v>1582</c:v>
                </c:pt>
                <c:pt idx="3">
                  <c:v>1684</c:v>
                </c:pt>
                <c:pt idx="4">
                  <c:v>1856</c:v>
                </c:pt>
              </c:numCache>
            </c:numRef>
          </c:val>
          <c:extLst xmlns:c15="http://schemas.microsoft.com/office/drawing/2012/chart" xmlns:c16="http://schemas.microsoft.com/office/drawing/2014/chart">
            <c:ext xmlns:c16="http://schemas.microsoft.com/office/drawing/2014/chart" uri="{C3380CC4-5D6E-409C-BE32-E72D297353CC}">
              <c16:uniqueId val="{0000000A-1DDC-5444-94B9-81231E2000F7}"/>
            </c:ext>
          </c:extLst>
        </c:ser>
        <c:dLbls>
          <c:showLegendKey val="0"/>
          <c:showVal val="1"/>
          <c:showCatName val="0"/>
          <c:showSerName val="0"/>
          <c:showPercent val="0"/>
          <c:showBubbleSize val="0"/>
        </c:dLbls>
        <c:gapWidth val="150"/>
        <c:axId val="177548288"/>
        <c:axId val="177555712"/>
      </c:barChart>
      <c:catAx>
        <c:axId val="177548288"/>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17325E"/>
                </a:solidFill>
                <a:latin typeface="Calibri"/>
              </a:defRPr>
            </a:pPr>
            <a:endParaRPr lang="en-US"/>
          </a:p>
        </c:txPr>
        <c:crossAx val="177555712"/>
        <c:crosses val="autoZero"/>
        <c:auto val="1"/>
        <c:lblAlgn val="ctr"/>
        <c:lblOffset val="100"/>
        <c:noMultiLvlLbl val="1"/>
      </c:catAx>
      <c:valAx>
        <c:axId val="177555712"/>
        <c:scaling>
          <c:orientation val="minMax"/>
          <c:max val="2100"/>
          <c:min val="0"/>
        </c:scaling>
        <c:delete val="0"/>
        <c:axPos val="b"/>
        <c:majorGridlines>
          <c:spPr>
            <a:ln w="12700" cap="flat">
              <a:solidFill>
                <a:srgbClr val="E3ECF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7195"/>
                </a:solidFill>
                <a:latin typeface="Arial"/>
              </a:defRPr>
            </a:pPr>
            <a:endParaRPr lang="en-US"/>
          </a:p>
        </c:txPr>
        <c:crossAx val="17754828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542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82311-9CCA-11FE-1B8A-8BE9D4FC7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6B3C0-D155-266C-3065-8F3BC0C70E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5BB9D-0EEC-DFBE-44F1-2F3D206F7B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B96CD9-064B-B8BF-7842-A3987C827FB5}"/>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029886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5EFAC-5D62-8F08-B0E2-D43757F43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D41F8-2604-5881-3521-908D71EC0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3FFBB-6ADC-EA75-03B2-4F268A318B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7E5DA4-4586-6452-A273-62D1866F5CB3}"/>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5237425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32798-8905-23A7-F5AB-E217B845E1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97C0B-B9D0-D974-3673-A0A791814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35952-4C16-8E30-7FEE-B2DC7044D6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46AB3D-96E0-95AA-103D-2D167A885C08}"/>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3412450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43496-DBCE-EC52-F9AC-094E651EC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281E7-DC1B-931A-6D43-2B73AC4D1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07BEB-06FB-373A-0BDB-40BFD4B7C4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5323A8-5A81-7B9B-88FD-D983F20EE1CC}"/>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3005172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D66B7-175D-BCEE-0D89-D6FF2FC66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9EFE8-195A-03DE-ACA1-F5BEFDACC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97BFE6-2376-3D43-A34F-DB63FDCCDA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3198F9-125B-7800-ED9A-816A6E11BF5C}"/>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41275246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63520-F4D7-8BE6-22FE-A30D2B231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C6054-6593-DC66-DC28-36541287A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C5B12-F243-B08B-DEE7-7DA4BA40C5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6A4EE3-90A6-F023-E94B-8296E1CC22E4}"/>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1005686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58835-AB13-4ABF-00D2-10EE85C41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970B6-C3D3-426F-15B1-E6E89B689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199FB-1143-C1D7-D2DF-93E49290E3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0DC8E4-B8B7-02B4-E03C-E9C6DABFD3CB}"/>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22737539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2F5B6-9FAD-5346-7888-70BA37D1E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58087-2FFE-AB20-2CBF-920559ED5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4F7B7-351A-BC90-AC9B-4E3B0A1E2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D802BB-EB62-8863-E8A1-9DDE65E68E23}"/>
              </a:ext>
            </a:extLst>
          </p:cNvPr>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264256245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DDAC5-0AC9-E35B-EB82-0B8D6B8C7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66CA8-67CA-9DA2-618E-BB142856A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B527D-868C-F48E-FD48-09D635EF50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F4C825-9BE6-1C5A-31E2-94EE833E965D}"/>
              </a:ext>
            </a:extLst>
          </p:cNvPr>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7763291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7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7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8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8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E5C"/>
        </a:solidFill>
        <a:effectLst/>
      </p:bgPr>
    </p:bg>
    <p:spTree>
      <p:nvGrpSpPr>
        <p:cNvPr id="1" name=""/>
        <p:cNvGrpSpPr/>
        <p:nvPr/>
      </p:nvGrpSpPr>
      <p:grpSpPr>
        <a:xfrm>
          <a:off x="0" y="0"/>
          <a:ext cx="0" cy="0"/>
          <a:chOff x="0" y="0"/>
          <a:chExt cx="0" cy="0"/>
        </a:xfrm>
      </p:grpSpPr>
      <p:sp>
        <p:nvSpPr>
          <p:cNvPr id="3" name="Text 1"/>
          <p:cNvSpPr/>
          <p:nvPr/>
        </p:nvSpPr>
        <p:spPr>
          <a:xfrm>
            <a:off x="548640" y="1371600"/>
            <a:ext cx="6766560" cy="292608"/>
          </a:xfrm>
          <a:prstGeom prst="rect">
            <a:avLst/>
          </a:prstGeom>
          <a:noFill/>
          <a:ln/>
        </p:spPr>
        <p:txBody>
          <a:bodyPr wrap="square" rtlCol="0" anchor="ctr"/>
          <a:lstStyle/>
          <a:p>
            <a:r>
              <a:rPr lang="fr-FR" sz="1300" b="1" kern="0" spc="300" dirty="0">
                <a:solidFill>
                  <a:schemeClr val="bg1"/>
                </a:solidFill>
                <a:latin typeface="Calibri" pitchFamily="34" charset="0"/>
                <a:ea typeface="Calibri" pitchFamily="34" charset="-122"/>
                <a:cs typeface="Calibri" pitchFamily="34" charset="-120"/>
              </a:rPr>
              <a:t>MODULE DES PROFESSIONNELS DE SANTÉ DE PREMIÈRE LIGNE</a:t>
            </a:r>
            <a:endParaRPr lang="en-US" sz="1300" noProof="0" dirty="0">
              <a:solidFill>
                <a:schemeClr val="bg1"/>
              </a:solidFill>
            </a:endParaRPr>
          </a:p>
        </p:txBody>
      </p:sp>
      <p:sp>
        <p:nvSpPr>
          <p:cNvPr id="4" name="Text 2"/>
          <p:cNvSpPr/>
          <p:nvPr/>
        </p:nvSpPr>
        <p:spPr>
          <a:xfrm>
            <a:off x="548640" y="1783080"/>
            <a:ext cx="6766560" cy="1371600"/>
          </a:xfrm>
          <a:prstGeom prst="rect">
            <a:avLst/>
          </a:prstGeom>
          <a:noFill/>
          <a:ln/>
        </p:spPr>
        <p:txBody>
          <a:bodyPr wrap="square" rtlCol="0" anchor="ctr"/>
          <a:lstStyle/>
          <a:p>
            <a:pPr marL="0" indent="0">
              <a:buNone/>
            </a:pPr>
            <a:r>
              <a:rPr lang="fr" sz="5400" b="1" noProof="0">
                <a:solidFill>
                  <a:srgbClr val="FFFFFF"/>
                </a:solidFill>
                <a:latin typeface="Cambria" pitchFamily="34" charset="0"/>
                <a:ea typeface="Cambria" pitchFamily="34" charset="-122"/>
                <a:cs typeface="Cambria" pitchFamily="34" charset="-120"/>
              </a:rPr>
              <a:t>Cancer colorectal</a:t>
            </a:r>
            <a:endParaRPr lang="en-US" sz="5400" noProof="0" dirty="0"/>
          </a:p>
        </p:txBody>
      </p:sp>
      <p:sp>
        <p:nvSpPr>
          <p:cNvPr id="5" name="Text 3"/>
          <p:cNvSpPr/>
          <p:nvPr/>
        </p:nvSpPr>
        <p:spPr>
          <a:xfrm>
            <a:off x="548640" y="3200400"/>
            <a:ext cx="6766560" cy="914400"/>
          </a:xfrm>
          <a:prstGeom prst="rect">
            <a:avLst/>
          </a:prstGeom>
          <a:noFill/>
          <a:ln/>
        </p:spPr>
        <p:txBody>
          <a:bodyPr wrap="square" rtlCol="0" anchor="ctr"/>
          <a:lstStyle/>
          <a:p>
            <a:pPr marL="0" indent="0">
              <a:buNone/>
            </a:pPr>
            <a:r>
              <a:rPr lang="fr" sz="2000" noProof="0">
                <a:solidFill>
                  <a:srgbClr val="CFE0F6"/>
                </a:solidFill>
                <a:latin typeface="Calibri" pitchFamily="34" charset="0"/>
                <a:ea typeface="Calibri" pitchFamily="34" charset="-122"/>
                <a:cs typeface="Calibri" pitchFamily="34" charset="-120"/>
              </a:rPr>
              <a:t>Votre parcours d'apprentissage interactif : reconnaître, discuter, référer, comprendre, soutenir.</a:t>
            </a:r>
            <a:endParaRPr lang="en-US" sz="2000" noProof="0" dirty="0"/>
          </a:p>
        </p:txBody>
      </p:sp>
      <p:sp>
        <p:nvSpPr>
          <p:cNvPr id="6" name="Text 4"/>
          <p:cNvSpPr/>
          <p:nvPr/>
        </p:nvSpPr>
        <p:spPr>
          <a:xfrm>
            <a:off x="548640" y="4297680"/>
            <a:ext cx="1828800" cy="411480"/>
          </a:xfrm>
          <a:prstGeom prst="rect">
            <a:avLst/>
          </a:prstGeom>
          <a:solidFill>
            <a:srgbClr val="CFE0F6"/>
          </a:solidFill>
          <a:ln/>
        </p:spPr>
        <p:txBody>
          <a:bodyPr wrap="square" rtlCol="0" anchor="ctr"/>
          <a:lstStyle/>
          <a:p>
            <a:pPr algn="ctr"/>
            <a:r>
              <a:rPr lang="es-CO" sz="1600" b="1" noProof="0" dirty="0" err="1">
                <a:solidFill>
                  <a:srgbClr val="0E2E5C"/>
                </a:solidFill>
                <a:latin typeface="Calibri" pitchFamily="34" charset="0"/>
                <a:ea typeface="Calibri" pitchFamily="34" charset="-122"/>
                <a:cs typeface="Calibri" pitchFamily="34" charset="-120"/>
              </a:rPr>
              <a:t>Français</a:t>
            </a:r>
            <a:endParaRPr lang="es-CO" sz="1600" b="1" noProof="0" dirty="0">
              <a:solidFill>
                <a:srgbClr val="0E2E5C"/>
              </a:solidFill>
              <a:latin typeface="Calibri" pitchFamily="34" charset="0"/>
              <a:ea typeface="Calibri" pitchFamily="34" charset="-122"/>
              <a:cs typeface="Calibri" pitchFamily="34" charset="-120"/>
            </a:endParaRPr>
          </a:p>
        </p:txBody>
      </p:sp>
      <p:sp>
        <p:nvSpPr>
          <p:cNvPr id="15" name="Text 13"/>
          <p:cNvSpPr/>
          <p:nvPr/>
        </p:nvSpPr>
        <p:spPr>
          <a:xfrm>
            <a:off x="548640" y="5943600"/>
            <a:ext cx="11094415" cy="274320"/>
          </a:xfrm>
          <a:prstGeom prst="rect">
            <a:avLst/>
          </a:prstGeom>
          <a:noFill/>
          <a:ln/>
        </p:spPr>
        <p:txBody>
          <a:bodyPr wrap="square" rtlCol="0" anchor="ctr"/>
          <a:lstStyle/>
          <a:p>
            <a:pPr marL="0" indent="0">
              <a:buNone/>
            </a:pPr>
            <a:r>
              <a:rPr lang="fr" sz="1200" noProof="0">
                <a:solidFill>
                  <a:srgbClr val="8FA9CE"/>
                </a:solidFill>
                <a:latin typeface="Calibri" pitchFamily="34" charset="0"/>
                <a:ea typeface="Calibri" pitchFamily="34" charset="-122"/>
                <a:cs typeface="Calibri" pitchFamily="34" charset="-120"/>
              </a:rPr>
              <a:t>Centre biomédical du Rwanda</a:t>
            </a:r>
            <a:endParaRPr lang="en-US" sz="12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r>
              <a:rPr lang="fr-FR" sz="1200" b="1" kern="0" spc="200" dirty="0">
                <a:solidFill>
                  <a:schemeClr val="accent1">
                    <a:lumMod val="50000"/>
                  </a:schemeClr>
                </a:solidFill>
                <a:latin typeface="Calibri" pitchFamily="34" charset="0"/>
                <a:ea typeface="Calibri" pitchFamily="34" charset="-122"/>
                <a:cs typeface="Calibri" pitchFamily="34" charset="-120"/>
              </a:rPr>
              <a:t>MODULE DES PROFESSIONNELS DE SANTÉ DE PREMIÈRE LIGNE</a:t>
            </a:r>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Objectifs du module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Reconnaissez</a:t>
            </a:r>
            <a:endParaRPr lang="en-US" sz="1800" noProof="0" dirty="0"/>
          </a:p>
        </p:txBody>
      </p:sp>
      <p:sp>
        <p:nvSpPr>
          <p:cNvPr id="7" name="Text 5"/>
          <p:cNvSpPr/>
          <p:nvPr/>
        </p:nvSpPr>
        <p:spPr>
          <a:xfrm>
            <a:off x="73152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Reconnaître les facteurs de risque et les symptômes préoccupants, y compris les signaux d'alerte.</a:t>
            </a:r>
            <a:endParaRPr lang="en-US" sz="1800" noProof="0" dirty="0"/>
          </a:p>
        </p:txBody>
      </p:sp>
      <p:sp>
        <p:nvSpPr>
          <p:cNvPr id="8" name="Shape 6"/>
          <p:cNvSpPr/>
          <p:nvPr/>
        </p:nvSpPr>
        <p:spPr>
          <a:xfrm>
            <a:off x="431993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Distinguer</a:t>
            </a:r>
            <a:endParaRPr lang="en-US" sz="1800" noProof="0" dirty="0"/>
          </a:p>
        </p:txBody>
      </p:sp>
      <p:sp>
        <p:nvSpPr>
          <p:cNvPr id="10" name="Text 8"/>
          <p:cNvSpPr/>
          <p:nvPr/>
        </p:nvSpPr>
        <p:spPr>
          <a:xfrm>
            <a:off x="450281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Distinguez le dépistage des personnes en bonne santé de l'évaluation d'une personne présentant des symptômes.</a:t>
            </a:r>
            <a:endParaRPr lang="en-US" sz="1800" noProof="0" dirty="0"/>
          </a:p>
        </p:txBody>
      </p:sp>
      <p:sp>
        <p:nvSpPr>
          <p:cNvPr id="11" name="Shape 9"/>
          <p:cNvSpPr/>
          <p:nvPr/>
        </p:nvSpPr>
        <p:spPr>
          <a:xfrm>
            <a:off x="8091221"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Expliquez</a:t>
            </a:r>
            <a:endParaRPr lang="en-US" sz="1800" noProof="0" dirty="0"/>
          </a:p>
        </p:txBody>
      </p:sp>
      <p:sp>
        <p:nvSpPr>
          <p:cNvPr id="13" name="Text 11"/>
          <p:cNvSpPr/>
          <p:nvPr/>
        </p:nvSpPr>
        <p:spPr>
          <a:xfrm>
            <a:off x="8274101"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Expliquez ce que signifie un résultat de test de selles, sans préciser que le cancer est présent ou absent.</a:t>
            </a:r>
            <a:endParaRPr lang="en-US" sz="1800" noProof="0" dirty="0"/>
          </a:p>
        </p:txBody>
      </p:sp>
      <p:sp>
        <p:nvSpPr>
          <p:cNvPr id="14" name="Shape 12"/>
          <p:cNvSpPr/>
          <p:nvPr/>
        </p:nvSpPr>
        <p:spPr>
          <a:xfrm>
            <a:off x="54864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3152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Orienter</a:t>
            </a:r>
            <a:endParaRPr lang="en-US" sz="1800" noProof="0" dirty="0"/>
          </a:p>
        </p:txBody>
      </p:sp>
      <p:sp>
        <p:nvSpPr>
          <p:cNvPr id="16" name="Text 14"/>
          <p:cNvSpPr/>
          <p:nvPr/>
        </p:nvSpPr>
        <p:spPr>
          <a:xfrm>
            <a:off x="73152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Référez avec l'urgence nécessaire et consignez les informations dont le registre a besoin.</a:t>
            </a:r>
            <a:endParaRPr lang="en-US" sz="1800" noProof="0" dirty="0"/>
          </a:p>
        </p:txBody>
      </p:sp>
      <p:sp>
        <p:nvSpPr>
          <p:cNvPr id="17" name="Shape 15"/>
          <p:cNvSpPr/>
          <p:nvPr/>
        </p:nvSpPr>
        <p:spPr>
          <a:xfrm>
            <a:off x="431993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450281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Interpréter</a:t>
            </a:r>
            <a:endParaRPr lang="en-US" sz="1800" noProof="0" dirty="0"/>
          </a:p>
        </p:txBody>
      </p:sp>
      <p:sp>
        <p:nvSpPr>
          <p:cNvPr id="19" name="Text 17"/>
          <p:cNvSpPr/>
          <p:nvPr/>
        </p:nvSpPr>
        <p:spPr>
          <a:xfrm>
            <a:off x="450281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Interprétez comment un diagnostic est confirmé, et ce que signifient le stade et le grade.</a:t>
            </a:r>
            <a:endParaRPr lang="en-US" sz="1800" noProof="0" dirty="0"/>
          </a:p>
        </p:txBody>
      </p:sp>
      <p:sp>
        <p:nvSpPr>
          <p:cNvPr id="20" name="Shape 18"/>
          <p:cNvSpPr/>
          <p:nvPr/>
        </p:nvSpPr>
        <p:spPr>
          <a:xfrm>
            <a:off x="8091221"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8274101"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Soutien</a:t>
            </a:r>
            <a:endParaRPr lang="en-US" sz="1800" noProof="0" dirty="0"/>
          </a:p>
        </p:txBody>
      </p:sp>
      <p:sp>
        <p:nvSpPr>
          <p:cNvPr id="22" name="Text 20"/>
          <p:cNvSpPr/>
          <p:nvPr/>
        </p:nvSpPr>
        <p:spPr>
          <a:xfrm>
            <a:off x="8274101"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Soutenir les patients face aux effets du traitement, dans les soins de stomie, les soins palliatifs et le suivi.</a:t>
            </a:r>
            <a:endParaRPr lang="en-US" sz="18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r>
              <a:rPr lang="fr-FR" sz="1200" b="1" kern="0" spc="200" dirty="0">
                <a:solidFill>
                  <a:schemeClr val="accent1">
                    <a:lumMod val="50000"/>
                  </a:schemeClr>
                </a:solidFill>
                <a:latin typeface="Calibri" pitchFamily="34" charset="0"/>
                <a:ea typeface="Calibri" pitchFamily="34" charset="-122"/>
                <a:cs typeface="Calibri" pitchFamily="34" charset="-120"/>
              </a:rPr>
              <a:t>MODULE DES PROFESSIONNELS DE SANTÉ DE PREMIÈRE LIGNE</a:t>
            </a:r>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Contenu du module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Pré-test et post-test</a:t>
            </a:r>
            <a:endParaRPr lang="en-US" sz="1800" noProof="0" dirty="0"/>
          </a:p>
        </p:txBody>
      </p:sp>
      <p:sp>
        <p:nvSpPr>
          <p:cNvPr id="7" name="Text 5"/>
          <p:cNvSpPr/>
          <p:nvPr/>
        </p:nvSpPr>
        <p:spPr>
          <a:xfrm>
            <a:off x="73152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Vingt questions courtes pour évaluer vos connaissances au début et à la fin du module.</a:t>
            </a:r>
            <a:endParaRPr lang="en-US" sz="1800" noProof="0" dirty="0"/>
          </a:p>
        </p:txBody>
      </p:sp>
      <p:sp>
        <p:nvSpPr>
          <p:cNvPr id="8" name="Shape 6"/>
          <p:cNvSpPr/>
          <p:nvPr/>
        </p:nvSpPr>
        <p:spPr>
          <a:xfrm>
            <a:off x="431993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Session 1 : Compréhension</a:t>
            </a:r>
            <a:endParaRPr lang="en-US" sz="1800" noProof="0" dirty="0"/>
          </a:p>
        </p:txBody>
      </p:sp>
      <p:sp>
        <p:nvSpPr>
          <p:cNvPr id="10" name="Text 8"/>
          <p:cNvSpPr/>
          <p:nvPr/>
        </p:nvSpPr>
        <p:spPr>
          <a:xfrm>
            <a:off x="450281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Ce qu'est le cancer colorectal, comment il se développe à partir de lésions précurseures, sa fréquence, et ce que signifient le stade et le grade.</a:t>
            </a:r>
            <a:endParaRPr lang="en-US" sz="1800" noProof="0" dirty="0"/>
          </a:p>
        </p:txBody>
      </p:sp>
      <p:sp>
        <p:nvSpPr>
          <p:cNvPr id="11" name="Shape 9"/>
          <p:cNvSpPr/>
          <p:nvPr/>
        </p:nvSpPr>
        <p:spPr>
          <a:xfrm>
            <a:off x="8091221"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Session 2 : Dépistage</a:t>
            </a:r>
            <a:endParaRPr lang="en-US" sz="1800" noProof="0" dirty="0"/>
          </a:p>
        </p:txBody>
      </p:sp>
      <p:sp>
        <p:nvSpPr>
          <p:cNvPr id="13" name="Text 11"/>
          <p:cNvSpPr/>
          <p:nvPr/>
        </p:nvSpPr>
        <p:spPr>
          <a:xfrm>
            <a:off x="8274101"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Qui est à risque, quoi rechercher, ce que font les tests, et ce que signifie un résultat anormal.</a:t>
            </a:r>
            <a:endParaRPr lang="en-US" sz="1800" noProof="0" dirty="0"/>
          </a:p>
        </p:txBody>
      </p:sp>
      <p:sp>
        <p:nvSpPr>
          <p:cNvPr id="14" name="Shape 12"/>
          <p:cNvSpPr/>
          <p:nvPr/>
        </p:nvSpPr>
        <p:spPr>
          <a:xfrm>
            <a:off x="54864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31520" y="3794760"/>
            <a:ext cx="3186074" cy="66385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Session 3 : Orientation et accompagnement</a:t>
            </a:r>
            <a:endParaRPr lang="en-US" sz="1800" noProof="0" dirty="0"/>
          </a:p>
        </p:txBody>
      </p:sp>
      <p:sp>
        <p:nvSpPr>
          <p:cNvPr id="16" name="Text 14"/>
          <p:cNvSpPr/>
          <p:nvPr/>
        </p:nvSpPr>
        <p:spPr>
          <a:xfrm>
            <a:off x="731520" y="4458614"/>
            <a:ext cx="3186074" cy="1137514"/>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Avec quel degré d'urgence orienter, quoi enregistrer et comment conseiller avec soin.</a:t>
            </a:r>
            <a:endParaRPr lang="en-US" sz="1800" noProof="0" dirty="0"/>
          </a:p>
        </p:txBody>
      </p:sp>
      <p:sp>
        <p:nvSpPr>
          <p:cNvPr id="17" name="Shape 15"/>
          <p:cNvSpPr/>
          <p:nvPr/>
        </p:nvSpPr>
        <p:spPr>
          <a:xfrm>
            <a:off x="431993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4502810" y="3794760"/>
            <a:ext cx="3186074" cy="66385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Session 4 : Diagnostic et traitement</a:t>
            </a:r>
            <a:endParaRPr lang="en-US" sz="1800" noProof="0" dirty="0"/>
          </a:p>
        </p:txBody>
      </p:sp>
      <p:sp>
        <p:nvSpPr>
          <p:cNvPr id="19" name="Text 17"/>
          <p:cNvSpPr/>
          <p:nvPr/>
        </p:nvSpPr>
        <p:spPr>
          <a:xfrm>
            <a:off x="4502810" y="4458614"/>
            <a:ext cx="3186074" cy="1137514"/>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Comment un diagnostic est confirmé, et un aperçu du traitement du cancer du côlon et du rectum.</a:t>
            </a:r>
            <a:endParaRPr lang="en-US" sz="1800" noProof="0" dirty="0"/>
          </a:p>
        </p:txBody>
      </p:sp>
      <p:sp>
        <p:nvSpPr>
          <p:cNvPr id="20" name="Shape 18"/>
          <p:cNvSpPr/>
          <p:nvPr/>
        </p:nvSpPr>
        <p:spPr>
          <a:xfrm>
            <a:off x="8091221"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8274101"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Session 5 : Soins de soutien</a:t>
            </a:r>
            <a:endParaRPr lang="en-US" sz="1800" noProof="0" dirty="0"/>
          </a:p>
        </p:txBody>
      </p:sp>
      <p:sp>
        <p:nvSpPr>
          <p:cNvPr id="22" name="Text 20"/>
          <p:cNvSpPr/>
          <p:nvPr/>
        </p:nvSpPr>
        <p:spPr>
          <a:xfrm>
            <a:off x="8274101"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Effets à reconnaître, urgences nécessitant une prise en charge rapide, accompagnement lié à la stomie et qualité de vie.</a:t>
            </a:r>
            <a:endParaRPr lang="en-US" sz="1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2E5C"/>
        </a:solidFill>
        <a:effectLst/>
      </p:bgPr>
    </p:bg>
    <p:spTree>
      <p:nvGrpSpPr>
        <p:cNvPr id="1" name=""/>
        <p:cNvGrpSpPr/>
        <p:nvPr/>
      </p:nvGrpSpPr>
      <p:grpSpPr>
        <a:xfrm>
          <a:off x="0" y="0"/>
          <a:ext cx="0" cy="0"/>
          <a:chOff x="0" y="0"/>
          <a:chExt cx="0" cy="0"/>
        </a:xfrm>
      </p:grpSpPr>
      <p:sp>
        <p:nvSpPr>
          <p:cNvPr id="2" name="Text 0"/>
          <p:cNvSpPr/>
          <p:nvPr/>
        </p:nvSpPr>
        <p:spPr>
          <a:xfrm>
            <a:off x="548640" y="2286000"/>
            <a:ext cx="11094415" cy="365760"/>
          </a:xfrm>
          <a:prstGeom prst="rect">
            <a:avLst/>
          </a:prstGeom>
          <a:noFill/>
          <a:ln/>
        </p:spPr>
        <p:txBody>
          <a:bodyPr wrap="square" rtlCol="0" anchor="ctr"/>
          <a:lstStyle/>
          <a:p>
            <a:pPr marL="0" indent="0">
              <a:buNone/>
            </a:pPr>
            <a:r>
              <a:rPr lang="fr" sz="1400" b="1" kern="0" spc="300" noProof="0">
                <a:solidFill>
                  <a:srgbClr val="9DC0EE"/>
                </a:solidFill>
                <a:latin typeface="Calibri" pitchFamily="34" charset="0"/>
                <a:ea typeface="Calibri" pitchFamily="34" charset="-122"/>
                <a:cs typeface="Calibri" pitchFamily="34" charset="-120"/>
              </a:rPr>
              <a:t>VÉRIFICATION DE BASE</a:t>
            </a:r>
            <a:endParaRPr lang="en-US" sz="1400" noProof="0" dirty="0"/>
          </a:p>
        </p:txBody>
      </p:sp>
      <p:sp>
        <p:nvSpPr>
          <p:cNvPr id="3" name="Text 1"/>
          <p:cNvSpPr/>
          <p:nvPr/>
        </p:nvSpPr>
        <p:spPr>
          <a:xfrm>
            <a:off x="548640" y="2697480"/>
            <a:ext cx="11094415" cy="822960"/>
          </a:xfrm>
          <a:prstGeom prst="rect">
            <a:avLst/>
          </a:prstGeom>
          <a:noFill/>
          <a:ln/>
        </p:spPr>
        <p:txBody>
          <a:bodyPr wrap="square" rtlCol="0" anchor="ctr"/>
          <a:lstStyle/>
          <a:p>
            <a:pPr marL="0" indent="0">
              <a:buNone/>
            </a:pPr>
            <a:r>
              <a:rPr lang="fr" sz="4400" b="1" noProof="0">
                <a:solidFill>
                  <a:srgbClr val="FFFFFF"/>
                </a:solidFill>
                <a:latin typeface="Cambria" pitchFamily="34" charset="0"/>
                <a:ea typeface="Cambria" pitchFamily="34" charset="-122"/>
                <a:cs typeface="Cambria" pitchFamily="34" charset="-120"/>
              </a:rPr>
              <a:t>Pré-test</a:t>
            </a:r>
            <a:endParaRPr lang="en-US" sz="4400" noProof="0" dirty="0"/>
          </a:p>
        </p:txBody>
      </p:sp>
      <p:sp>
        <p:nvSpPr>
          <p:cNvPr id="4" name="Text 2"/>
          <p:cNvSpPr/>
          <p:nvPr/>
        </p:nvSpPr>
        <p:spPr>
          <a:xfrm>
            <a:off x="548640" y="3611880"/>
            <a:ext cx="9601200" cy="731520"/>
          </a:xfrm>
          <a:prstGeom prst="rect">
            <a:avLst/>
          </a:prstGeom>
          <a:noFill/>
          <a:ln/>
        </p:spPr>
        <p:txBody>
          <a:bodyPr wrap="square" rtlCol="0" anchor="ctr"/>
          <a:lstStyle/>
          <a:p>
            <a:pPr marL="0" indent="0">
              <a:buNone/>
            </a:pPr>
            <a:r>
              <a:rPr lang="fr" sz="1800" noProof="0">
                <a:solidFill>
                  <a:srgbClr val="CFE0F6"/>
                </a:solidFill>
                <a:latin typeface="Calibri" pitchFamily="34" charset="0"/>
                <a:ea typeface="Calibri" pitchFamily="34" charset="-122"/>
                <a:cs typeface="Calibri" pitchFamily="34" charset="-120"/>
              </a:rPr>
              <a:t>Vingt questions pour vérifier ce que vous savez déjà. Vos réponses ne sont pas notées. Vous rencontrerez à nouveau des idées similaires lors du post-test.</a:t>
            </a:r>
            <a:endParaRPr lang="en-US" sz="1800" noProof="0" dirty="0"/>
          </a:p>
        </p:txBody>
      </p:sp>
      <p:sp>
        <p:nvSpPr>
          <p:cNvPr id="5" name="Text 3"/>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8FA9CE"/>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(1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 La plupart des cancers colorrectaux concernent quel type de tumeur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A. </a:t>
            </a:r>
            <a:r>
              <a:rPr lang="fr" sz="1700" noProof="0">
                <a:solidFill>
                  <a:srgbClr val="17325E"/>
                </a:solidFill>
                <a:latin typeface="Calibri" pitchFamily="34" charset="0"/>
                <a:ea typeface="Calibri" pitchFamily="34" charset="-122"/>
                <a:cs typeface="Calibri" pitchFamily="34" charset="-120"/>
              </a:rPr>
              <a:t>Sarcome</a:t>
            </a:r>
            <a:endParaRPr lang="en-US" sz="1700"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B. </a:t>
            </a:r>
            <a:r>
              <a:rPr lang="fr" sz="1700" noProof="0">
                <a:solidFill>
                  <a:srgbClr val="17325E"/>
                </a:solidFill>
                <a:latin typeface="Calibri" pitchFamily="34" charset="0"/>
                <a:ea typeface="Calibri" pitchFamily="34" charset="-122"/>
                <a:cs typeface="Calibri" pitchFamily="34" charset="-120"/>
              </a:rPr>
              <a:t>Lymphome</a:t>
            </a:r>
            <a:endParaRPr lang="en-US" sz="1700"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C. </a:t>
            </a:r>
            <a:r>
              <a:rPr lang="fr" sz="1700" noProof="0">
                <a:solidFill>
                  <a:srgbClr val="17325E"/>
                </a:solidFill>
                <a:latin typeface="Calibri" pitchFamily="34" charset="0"/>
                <a:ea typeface="Calibri" pitchFamily="34" charset="-122"/>
                <a:cs typeface="Calibri" pitchFamily="34" charset="-120"/>
              </a:rPr>
              <a:t>Adénocarcinome</a:t>
            </a:r>
            <a:endParaRPr lang="en-US" sz="1700"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D. </a:t>
            </a:r>
            <a:r>
              <a:rPr lang="fr" sz="1700" noProof="0">
                <a:solidFill>
                  <a:srgbClr val="17325E"/>
                </a:solidFill>
                <a:latin typeface="Calibri" pitchFamily="34" charset="0"/>
                <a:ea typeface="Calibri" pitchFamily="34" charset="-122"/>
                <a:cs typeface="Calibri" pitchFamily="34" charset="-120"/>
              </a:rPr>
              <a:t>Mélanome</a:t>
            </a:r>
            <a:endParaRPr lang="en-US" sz="1700"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Q2. Le cancer colorectal signifie le cancer des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A. </a:t>
            </a:r>
            <a:r>
              <a:rPr lang="fr" sz="1700" noProof="0">
                <a:solidFill>
                  <a:srgbClr val="17325E"/>
                </a:solidFill>
                <a:latin typeface="Calibri" pitchFamily="34" charset="0"/>
                <a:ea typeface="Calibri" pitchFamily="34" charset="-122"/>
                <a:cs typeface="Calibri" pitchFamily="34" charset="-120"/>
              </a:rPr>
              <a:t>Côlon et rectum</a:t>
            </a:r>
            <a:endParaRPr lang="en-US" sz="1700"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B. </a:t>
            </a:r>
            <a:r>
              <a:rPr lang="fr" sz="1700" noProof="0">
                <a:solidFill>
                  <a:srgbClr val="17325E"/>
                </a:solidFill>
                <a:latin typeface="Calibri" pitchFamily="34" charset="0"/>
                <a:ea typeface="Calibri" pitchFamily="34" charset="-122"/>
                <a:cs typeface="Calibri" pitchFamily="34" charset="-120"/>
              </a:rPr>
              <a:t>Estomac et œsophage</a:t>
            </a:r>
            <a:endParaRPr lang="en-US" sz="1700"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C. </a:t>
            </a:r>
            <a:r>
              <a:rPr lang="fr" sz="1700" noProof="0">
                <a:solidFill>
                  <a:srgbClr val="17325E"/>
                </a:solidFill>
                <a:latin typeface="Calibri" pitchFamily="34" charset="0"/>
                <a:ea typeface="Calibri" pitchFamily="34" charset="-122"/>
                <a:cs typeface="Calibri" pitchFamily="34" charset="-120"/>
              </a:rPr>
              <a:t>Foie et pancréas</a:t>
            </a:r>
            <a:endParaRPr lang="en-US" sz="1700"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D. </a:t>
            </a:r>
            <a:r>
              <a:rPr lang="fr" sz="1700" noProof="0">
                <a:solidFill>
                  <a:srgbClr val="17325E"/>
                </a:solidFill>
                <a:latin typeface="Calibri" pitchFamily="34" charset="0"/>
                <a:ea typeface="Calibri" pitchFamily="34" charset="-122"/>
                <a:cs typeface="Calibri" pitchFamily="34" charset="-120"/>
              </a:rPr>
              <a:t>Intestin grêle seulement</a:t>
            </a:r>
            <a:endParaRPr lang="en-US" sz="1700"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(2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Q3. De nombreux cancers colorectaux se développent à partir de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A. </a:t>
            </a:r>
            <a:r>
              <a:rPr lang="fr" sz="1700" noProof="0" err="1">
                <a:solidFill>
                  <a:srgbClr val="17325E"/>
                </a:solidFill>
                <a:latin typeface="Calibri" pitchFamily="34" charset="0"/>
                <a:ea typeface="Calibri" pitchFamily="34" charset="-122"/>
                <a:cs typeface="Calibri" pitchFamily="34" charset="-120"/>
              </a:rPr>
              <a:t>Hémorroïdes</a:t>
            </a:r>
            <a:endParaRPr lang="en-US" sz="1700"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B. </a:t>
            </a:r>
            <a:r>
              <a:rPr lang="fr" sz="1700" noProof="0" err="1">
                <a:solidFill>
                  <a:srgbClr val="17325E"/>
                </a:solidFill>
                <a:latin typeface="Calibri" pitchFamily="34" charset="0"/>
                <a:ea typeface="Calibri" pitchFamily="34" charset="-122"/>
                <a:cs typeface="Calibri" pitchFamily="34" charset="-120"/>
              </a:rPr>
              <a:t>Fissures anales</a:t>
            </a:r>
            <a:endParaRPr lang="en-US" sz="1700"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C. </a:t>
            </a:r>
            <a:r>
              <a:rPr lang="fr" sz="1700" noProof="0" err="1">
                <a:solidFill>
                  <a:srgbClr val="17325E"/>
                </a:solidFill>
                <a:latin typeface="Calibri" pitchFamily="34" charset="0"/>
                <a:ea typeface="Calibri" pitchFamily="34" charset="-122"/>
                <a:cs typeface="Calibri" pitchFamily="34" charset="-120"/>
              </a:rPr>
              <a:t>Infections intestinales</a:t>
            </a:r>
            <a:endParaRPr lang="en-US" sz="1700"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D. </a:t>
            </a:r>
            <a:r>
              <a:rPr lang="fr" sz="1700" noProof="0" err="1">
                <a:solidFill>
                  <a:srgbClr val="17325E"/>
                </a:solidFill>
                <a:latin typeface="Calibri" pitchFamily="34" charset="0"/>
                <a:ea typeface="Calibri" pitchFamily="34" charset="-122"/>
                <a:cs typeface="Calibri" pitchFamily="34" charset="-120"/>
              </a:rPr>
              <a:t>Lésions précurseurs telles que les adénomes</a:t>
            </a:r>
            <a:endParaRPr lang="en-US" sz="1700"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Q4. Le cancer colorectal précoce cause généralement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A. </a:t>
            </a:r>
            <a:r>
              <a:rPr lang="fr" sz="1700" noProof="0" err="1">
                <a:solidFill>
                  <a:srgbClr val="17325E"/>
                </a:solidFill>
                <a:latin typeface="Calibri" pitchFamily="34" charset="0"/>
                <a:ea typeface="Calibri" pitchFamily="34" charset="-122"/>
                <a:cs typeface="Calibri" pitchFamily="34" charset="-120"/>
              </a:rPr>
              <a:t>Douleur intense</a:t>
            </a:r>
            <a:endParaRPr lang="en-US" sz="1700"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B. </a:t>
            </a:r>
            <a:r>
              <a:rPr lang="fr" sz="1700" noProof="0" err="1">
                <a:solidFill>
                  <a:srgbClr val="17325E"/>
                </a:solidFill>
                <a:latin typeface="Calibri" pitchFamily="34" charset="0"/>
                <a:ea typeface="Calibri" pitchFamily="34" charset="-122"/>
                <a:cs typeface="Calibri" pitchFamily="34" charset="-120"/>
              </a:rPr>
              <a:t>Souvent aucun symptôme du tout</a:t>
            </a:r>
            <a:endParaRPr lang="en-US" sz="1700"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C. </a:t>
            </a:r>
            <a:r>
              <a:rPr lang="fr" sz="1700" noProof="0" err="1">
                <a:solidFill>
                  <a:srgbClr val="17325E"/>
                </a:solidFill>
                <a:latin typeface="Calibri" pitchFamily="34" charset="0"/>
                <a:ea typeface="Calibri" pitchFamily="34" charset="-122"/>
                <a:cs typeface="Calibri" pitchFamily="34" charset="-120"/>
              </a:rPr>
              <a:t>Obstruction immédiate</a:t>
            </a:r>
            <a:endParaRPr lang="en-US" sz="1700"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D. </a:t>
            </a:r>
            <a:r>
              <a:rPr lang="fr" sz="1700" noProof="0" err="1">
                <a:solidFill>
                  <a:srgbClr val="17325E"/>
                </a:solidFill>
                <a:latin typeface="Calibri" pitchFamily="34" charset="0"/>
                <a:ea typeface="Calibri" pitchFamily="34" charset="-122"/>
                <a:cs typeface="Calibri" pitchFamily="34" charset="-120"/>
              </a:rPr>
              <a:t>Fièvre élevée</a:t>
            </a:r>
            <a:endParaRPr lang="en-US" sz="1700"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(3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Q5. Un test immunochimique fécal (FIT) positif signifie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Du sang a été détecté et une évaluation du côlon et du rectum est nécessaire</a:t>
            </a:r>
            <a:endParaRPr lang="en-US" sz="1411"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Cancer confirmé</a:t>
            </a:r>
            <a:endParaRPr lang="en-US" sz="1411"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Aucune action n'est nécessaire</a:t>
            </a:r>
            <a:endParaRPr lang="en-US" sz="1411"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La personne a des hémorroïdes</a:t>
            </a:r>
            <a:endParaRPr lang="en-US" sz="1411"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Q6. Un test de dépistage à base de selles négatif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Exclut complètement le cancer colorectal</a:t>
            </a:r>
            <a:endParaRPr lang="en-US" sz="1411"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Cela signifie qu'aucun suivi n'est jamais nécessaire</a:t>
            </a:r>
            <a:endParaRPr lang="en-US" sz="1411"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N'exclut pas le cancer, surtout si des symptômes sont présents</a:t>
            </a:r>
            <a:endParaRPr lang="en-US" sz="1411"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Confirme les hémorroïdes</a:t>
            </a:r>
            <a:endParaRPr lang="en-US" sz="1411"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(4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Q7. Le saignement rectal chez un adulte doit être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noAutofit/>
          </a:bodyPr>
          <a:lstStyle/>
          <a:p>
            <a:pPr marL="0" indent="0">
              <a:buNone/>
            </a:pPr>
            <a:r>
              <a:rPr lang="fr" sz="1683" b="1" noProof="0">
                <a:solidFill>
                  <a:srgbClr val="1F4E96"/>
                </a:solidFill>
                <a:latin typeface="Calibri" pitchFamily="34" charset="0"/>
                <a:ea typeface="Calibri" pitchFamily="34" charset="-122"/>
                <a:cs typeface="Calibri" pitchFamily="34" charset="-120"/>
              </a:rPr>
              <a:t>A. </a:t>
            </a:r>
            <a:r>
              <a:rPr lang="fr" sz="1683" noProof="0">
                <a:solidFill>
                  <a:srgbClr val="17325E"/>
                </a:solidFill>
                <a:latin typeface="Calibri" pitchFamily="34" charset="0"/>
                <a:ea typeface="Calibri" pitchFamily="34" charset="-122"/>
                <a:cs typeface="Calibri" pitchFamily="34" charset="-120"/>
              </a:rPr>
              <a:t>Supposé être des hémorroïdes</a:t>
            </a:r>
            <a:endParaRPr lang="en-US" sz="1683"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noAutofit/>
          </a:bodyPr>
          <a:lstStyle/>
          <a:p>
            <a:pPr marL="0" indent="0">
              <a:buNone/>
            </a:pPr>
            <a:r>
              <a:rPr lang="fr" sz="1683" b="1" noProof="0">
                <a:solidFill>
                  <a:srgbClr val="1F4E96"/>
                </a:solidFill>
                <a:latin typeface="Calibri" pitchFamily="34" charset="0"/>
                <a:ea typeface="Calibri" pitchFamily="34" charset="-122"/>
                <a:cs typeface="Calibri" pitchFamily="34" charset="-120"/>
              </a:rPr>
              <a:t>B. </a:t>
            </a:r>
            <a:r>
              <a:rPr lang="fr" sz="1683" noProof="0">
                <a:solidFill>
                  <a:srgbClr val="17325E"/>
                </a:solidFill>
                <a:latin typeface="Calibri" pitchFamily="34" charset="0"/>
                <a:ea typeface="Calibri" pitchFamily="34" charset="-122"/>
                <a:cs typeface="Calibri" pitchFamily="34" charset="-120"/>
              </a:rPr>
              <a:t>Évalué correctement, car plusieurs causes sont possibles</a:t>
            </a:r>
            <a:endParaRPr lang="en-US" sz="1683"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noAutofit/>
          </a:bodyPr>
          <a:lstStyle/>
          <a:p>
            <a:pPr marL="0" indent="0">
              <a:buNone/>
            </a:pPr>
            <a:r>
              <a:rPr lang="fr" sz="1683" b="1" noProof="0">
                <a:solidFill>
                  <a:srgbClr val="1F4E96"/>
                </a:solidFill>
                <a:latin typeface="Calibri" pitchFamily="34" charset="0"/>
                <a:ea typeface="Calibri" pitchFamily="34" charset="-122"/>
                <a:cs typeface="Calibri" pitchFamily="34" charset="-120"/>
              </a:rPr>
              <a:t>C. </a:t>
            </a:r>
            <a:r>
              <a:rPr lang="fr" sz="1683" noProof="0">
                <a:solidFill>
                  <a:srgbClr val="17325E"/>
                </a:solidFill>
                <a:latin typeface="Calibri" pitchFamily="34" charset="0"/>
                <a:ea typeface="Calibri" pitchFamily="34" charset="-122"/>
                <a:cs typeface="Calibri" pitchFamily="34" charset="-120"/>
              </a:rPr>
              <a:t>Ignoré si indolore</a:t>
            </a:r>
            <a:endParaRPr lang="en-US" sz="1683"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noAutofit/>
          </a:bodyPr>
          <a:lstStyle/>
          <a:p>
            <a:pPr marL="0" indent="0">
              <a:buNone/>
            </a:pPr>
            <a:r>
              <a:rPr lang="fr" sz="1683" b="1" noProof="0">
                <a:solidFill>
                  <a:srgbClr val="1F4E96"/>
                </a:solidFill>
                <a:latin typeface="Calibri" pitchFamily="34" charset="0"/>
                <a:ea typeface="Calibri" pitchFamily="34" charset="-122"/>
                <a:cs typeface="Calibri" pitchFamily="34" charset="-120"/>
              </a:rPr>
              <a:t>D. </a:t>
            </a:r>
            <a:r>
              <a:rPr lang="fr" sz="1683" noProof="0">
                <a:solidFill>
                  <a:srgbClr val="17325E"/>
                </a:solidFill>
                <a:latin typeface="Calibri" pitchFamily="34" charset="0"/>
                <a:ea typeface="Calibri" pitchFamily="34" charset="-122"/>
                <a:cs typeface="Calibri" pitchFamily="34" charset="-120"/>
              </a:rPr>
              <a:t>Traité uniquement au fer</a:t>
            </a:r>
            <a:endParaRPr lang="en-US" sz="1683"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Q8. Le dépistage s'applique à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noAutofit/>
          </a:bodyPr>
          <a:lstStyle/>
          <a:p>
            <a:pPr marL="0" indent="0">
              <a:buNone/>
            </a:pPr>
            <a:r>
              <a:rPr lang="fr" sz="1683" b="1" noProof="0">
                <a:solidFill>
                  <a:srgbClr val="1F4E96"/>
                </a:solidFill>
                <a:latin typeface="Calibri" pitchFamily="34" charset="0"/>
                <a:ea typeface="Calibri" pitchFamily="34" charset="-122"/>
                <a:cs typeface="Calibri" pitchFamily="34" charset="-120"/>
              </a:rPr>
              <a:t>A. </a:t>
            </a:r>
            <a:r>
              <a:rPr lang="fr" sz="1683" noProof="0">
                <a:solidFill>
                  <a:srgbClr val="17325E"/>
                </a:solidFill>
                <a:latin typeface="Calibri" pitchFamily="34" charset="0"/>
                <a:ea typeface="Calibri" pitchFamily="34" charset="-122"/>
                <a:cs typeface="Calibri" pitchFamily="34" charset="-120"/>
              </a:rPr>
              <a:t>Personnes présentant des symptômes inquiétants</a:t>
            </a:r>
            <a:endParaRPr lang="en-US" sz="1683"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noAutofit/>
          </a:bodyPr>
          <a:lstStyle/>
          <a:p>
            <a:pPr marL="0" indent="0">
              <a:buNone/>
            </a:pPr>
            <a:r>
              <a:rPr lang="fr" sz="1683" b="1" noProof="0">
                <a:solidFill>
                  <a:srgbClr val="1F4E96"/>
                </a:solidFill>
                <a:latin typeface="Calibri" pitchFamily="34" charset="0"/>
                <a:ea typeface="Calibri" pitchFamily="34" charset="-122"/>
                <a:cs typeface="Calibri" pitchFamily="34" charset="-120"/>
              </a:rPr>
              <a:t>B. </a:t>
            </a:r>
            <a:r>
              <a:rPr lang="fr" sz="1683" noProof="0">
                <a:solidFill>
                  <a:srgbClr val="17325E"/>
                </a:solidFill>
                <a:latin typeface="Calibri" pitchFamily="34" charset="0"/>
                <a:ea typeface="Calibri" pitchFamily="34" charset="-122"/>
                <a:cs typeface="Calibri" pitchFamily="34" charset="-120"/>
              </a:rPr>
              <a:t>Personnes déjà diagnostiquées</a:t>
            </a:r>
            <a:endParaRPr lang="en-US" sz="1683"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noAutofit/>
          </a:bodyPr>
          <a:lstStyle/>
          <a:p>
            <a:pPr marL="0" indent="0">
              <a:buNone/>
            </a:pPr>
            <a:r>
              <a:rPr lang="fr" sz="1683" b="1" noProof="0">
                <a:solidFill>
                  <a:srgbClr val="1F4E96"/>
                </a:solidFill>
                <a:latin typeface="Calibri" pitchFamily="34" charset="0"/>
                <a:ea typeface="Calibri" pitchFamily="34" charset="-122"/>
                <a:cs typeface="Calibri" pitchFamily="34" charset="-120"/>
              </a:rPr>
              <a:t>C. </a:t>
            </a:r>
            <a:r>
              <a:rPr lang="fr" sz="1683" noProof="0">
                <a:solidFill>
                  <a:srgbClr val="17325E"/>
                </a:solidFill>
                <a:latin typeface="Calibri" pitchFamily="34" charset="0"/>
                <a:ea typeface="Calibri" pitchFamily="34" charset="-122"/>
                <a:cs typeface="Calibri" pitchFamily="34" charset="-120"/>
              </a:rPr>
              <a:t>Personne</a:t>
            </a:r>
            <a:endParaRPr lang="en-US" sz="1683"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noAutofit/>
          </a:bodyPr>
          <a:lstStyle/>
          <a:p>
            <a:pPr marL="0" indent="0">
              <a:buNone/>
            </a:pPr>
            <a:r>
              <a:rPr lang="fr" sz="1683" b="1" noProof="0">
                <a:solidFill>
                  <a:srgbClr val="1F4E96"/>
                </a:solidFill>
                <a:latin typeface="Calibri" pitchFamily="34" charset="0"/>
                <a:ea typeface="Calibri" pitchFamily="34" charset="-122"/>
                <a:cs typeface="Calibri" pitchFamily="34" charset="-120"/>
              </a:rPr>
              <a:t>D. </a:t>
            </a:r>
            <a:r>
              <a:rPr lang="fr" sz="1683" noProof="0">
                <a:solidFill>
                  <a:srgbClr val="17325E"/>
                </a:solidFill>
                <a:latin typeface="Calibri" pitchFamily="34" charset="0"/>
                <a:ea typeface="Calibri" pitchFamily="34" charset="-122"/>
                <a:cs typeface="Calibri" pitchFamily="34" charset="-120"/>
              </a:rPr>
              <a:t>Personnes sans symptômes</a:t>
            </a:r>
            <a:endParaRPr lang="en-US" sz="1683"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(5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Q9. Un polype colorectal est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Toujours le cancer</a:t>
            </a:r>
            <a:endParaRPr lang="en-US" sz="1411"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Jamais important</a:t>
            </a:r>
            <a:endParaRPr lang="en-US" sz="1411"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Pas automatiquement un cancer, même si certains types peuvent progresser</a:t>
            </a:r>
            <a:endParaRPr lang="en-US" sz="1411"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Un type d'hémorroïde</a:t>
            </a:r>
            <a:endParaRPr lang="en-US" sz="1411"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Q10. Le cancer colorectal est confirmé par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Biopsie et histopathologie</a:t>
            </a:r>
            <a:endParaRPr lang="en-US" sz="1411"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FIT seul</a:t>
            </a:r>
            <a:endParaRPr lang="en-US" sz="1411"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Symptômes seuls</a:t>
            </a:r>
            <a:endParaRPr lang="en-US" sz="1411"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Examen abdominal seul</a:t>
            </a:r>
            <a:endParaRPr lang="en-US" sz="1411"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(6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Q11. Quel est un facteur de risque établi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noAutofit/>
          </a:bodyPr>
          <a:lstStyle/>
          <a:p>
            <a:pPr marL="0" indent="0">
              <a:buNone/>
            </a:pPr>
            <a:r>
              <a:rPr lang="fr" sz="1632" b="1" noProof="0">
                <a:solidFill>
                  <a:srgbClr val="1F4E96"/>
                </a:solidFill>
                <a:latin typeface="Calibri" pitchFamily="34" charset="0"/>
                <a:ea typeface="Calibri" pitchFamily="34" charset="-122"/>
                <a:cs typeface="Calibri" pitchFamily="34" charset="-120"/>
              </a:rPr>
              <a:t>A. </a:t>
            </a:r>
            <a:r>
              <a:rPr lang="fr" sz="1632" noProof="0">
                <a:solidFill>
                  <a:srgbClr val="17325E"/>
                </a:solidFill>
                <a:latin typeface="Calibri" pitchFamily="34" charset="0"/>
                <a:ea typeface="Calibri" pitchFamily="34" charset="-122"/>
                <a:cs typeface="Calibri" pitchFamily="34" charset="-120"/>
              </a:rPr>
              <a:t>Forte consommation d'eau</a:t>
            </a:r>
            <a:endParaRPr lang="en-US" sz="1632"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noAutofit/>
          </a:bodyPr>
          <a:lstStyle/>
          <a:p>
            <a:pPr marL="0" indent="0">
              <a:buNone/>
            </a:pPr>
            <a:r>
              <a:rPr lang="fr" sz="1632" b="1" noProof="0">
                <a:solidFill>
                  <a:srgbClr val="1F4E96"/>
                </a:solidFill>
                <a:latin typeface="Calibri" pitchFamily="34" charset="0"/>
                <a:ea typeface="Calibri" pitchFamily="34" charset="-122"/>
                <a:cs typeface="Calibri" pitchFamily="34" charset="-120"/>
              </a:rPr>
              <a:t>B. </a:t>
            </a:r>
            <a:r>
              <a:rPr lang="fr" sz="1632" noProof="0">
                <a:solidFill>
                  <a:srgbClr val="17325E"/>
                </a:solidFill>
                <a:latin typeface="Calibri" pitchFamily="34" charset="0"/>
                <a:ea typeface="Calibri" pitchFamily="34" charset="-122"/>
                <a:cs typeface="Calibri" pitchFamily="34" charset="-120"/>
              </a:rPr>
              <a:t>Vivre en altitude</a:t>
            </a:r>
            <a:endParaRPr lang="en-US" sz="1632"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noAutofit/>
          </a:bodyPr>
          <a:lstStyle/>
          <a:p>
            <a:pPr marL="0" indent="0">
              <a:buNone/>
            </a:pPr>
            <a:r>
              <a:rPr lang="fr" sz="1632" b="1" noProof="0">
                <a:solidFill>
                  <a:srgbClr val="1F4E96"/>
                </a:solidFill>
                <a:latin typeface="Calibri" pitchFamily="34" charset="0"/>
                <a:ea typeface="Calibri" pitchFamily="34" charset="-122"/>
                <a:cs typeface="Calibri" pitchFamily="34" charset="-120"/>
              </a:rPr>
              <a:t>C. </a:t>
            </a:r>
            <a:r>
              <a:rPr lang="fr" sz="1632" noProof="0">
                <a:solidFill>
                  <a:srgbClr val="17325E"/>
                </a:solidFill>
                <a:latin typeface="Calibri" pitchFamily="34" charset="0"/>
                <a:ea typeface="Calibri" pitchFamily="34" charset="-122"/>
                <a:cs typeface="Calibri" pitchFamily="34" charset="-120"/>
              </a:rPr>
              <a:t>Être gaucher</a:t>
            </a:r>
            <a:endParaRPr lang="en-US" sz="1632"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noAutofit/>
          </a:bodyPr>
          <a:lstStyle/>
          <a:p>
            <a:pPr marL="0" indent="0">
              <a:buNone/>
            </a:pPr>
            <a:r>
              <a:rPr lang="fr" sz="1632" b="1" noProof="0">
                <a:solidFill>
                  <a:srgbClr val="1F4E96"/>
                </a:solidFill>
                <a:latin typeface="Calibri" pitchFamily="34" charset="0"/>
                <a:ea typeface="Calibri" pitchFamily="34" charset="-122"/>
                <a:cs typeface="Calibri" pitchFamily="34" charset="-120"/>
              </a:rPr>
              <a:t>D. </a:t>
            </a:r>
            <a:r>
              <a:rPr lang="fr" sz="1632" noProof="0">
                <a:solidFill>
                  <a:srgbClr val="17325E"/>
                </a:solidFill>
                <a:latin typeface="Calibri" pitchFamily="34" charset="0"/>
                <a:ea typeface="Calibri" pitchFamily="34" charset="-122"/>
                <a:cs typeface="Calibri" pitchFamily="34" charset="-120"/>
              </a:rPr>
              <a:t>Antécédents familiaux de cancer colorectal</a:t>
            </a:r>
            <a:endParaRPr lang="en-US" sz="1632"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Q12. La coloscopie peut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noAutofit/>
          </a:bodyPr>
          <a:lstStyle/>
          <a:p>
            <a:pPr marL="0" indent="0">
              <a:buNone/>
            </a:pPr>
            <a:r>
              <a:rPr lang="fr" sz="1632" b="1" noProof="0">
                <a:solidFill>
                  <a:srgbClr val="1F4E96"/>
                </a:solidFill>
                <a:latin typeface="Calibri" pitchFamily="34" charset="0"/>
                <a:ea typeface="Calibri" pitchFamily="34" charset="-122"/>
                <a:cs typeface="Calibri" pitchFamily="34" charset="-120"/>
              </a:rPr>
              <a:t>A. </a:t>
            </a:r>
            <a:r>
              <a:rPr lang="fr" sz="1632" noProof="0">
                <a:solidFill>
                  <a:srgbClr val="17325E"/>
                </a:solidFill>
                <a:latin typeface="Calibri" pitchFamily="34" charset="0"/>
                <a:ea typeface="Calibri" pitchFamily="34" charset="-122"/>
                <a:cs typeface="Calibri" pitchFamily="34" charset="-120"/>
              </a:rPr>
              <a:t>Regarde seulement, ne traite jamais</a:t>
            </a:r>
            <a:endParaRPr lang="en-US" sz="1632"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noAutofit/>
          </a:bodyPr>
          <a:lstStyle/>
          <a:p>
            <a:pPr marL="0" indent="0">
              <a:buNone/>
            </a:pPr>
            <a:r>
              <a:rPr lang="fr" sz="1632" b="1" noProof="0">
                <a:solidFill>
                  <a:srgbClr val="1F4E96"/>
                </a:solidFill>
                <a:latin typeface="Calibri" pitchFamily="34" charset="0"/>
                <a:ea typeface="Calibri" pitchFamily="34" charset="-122"/>
                <a:cs typeface="Calibri" pitchFamily="34" charset="-120"/>
              </a:rPr>
              <a:t>B. </a:t>
            </a:r>
            <a:r>
              <a:rPr lang="fr" sz="1632" noProof="0">
                <a:solidFill>
                  <a:srgbClr val="17325E"/>
                </a:solidFill>
                <a:latin typeface="Calibri" pitchFamily="34" charset="0"/>
                <a:ea typeface="Calibri" pitchFamily="34" charset="-122"/>
                <a:cs typeface="Calibri" pitchFamily="34" charset="-120"/>
              </a:rPr>
              <a:t>Examiner, réaliser des biopsies et retirer certains polypes</a:t>
            </a:r>
            <a:endParaRPr lang="en-US" sz="1632"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noAutofit/>
          </a:bodyPr>
          <a:lstStyle/>
          <a:p>
            <a:pPr marL="0" indent="0">
              <a:buNone/>
            </a:pPr>
            <a:r>
              <a:rPr lang="fr" sz="1632" b="1" noProof="0">
                <a:solidFill>
                  <a:srgbClr val="1F4E96"/>
                </a:solidFill>
                <a:latin typeface="Calibri" pitchFamily="34" charset="0"/>
                <a:ea typeface="Calibri" pitchFamily="34" charset="-122"/>
                <a:cs typeface="Calibri" pitchFamily="34" charset="-120"/>
              </a:rPr>
              <a:t>C. </a:t>
            </a:r>
            <a:r>
              <a:rPr lang="fr" sz="1632" noProof="0">
                <a:solidFill>
                  <a:srgbClr val="17325E"/>
                </a:solidFill>
                <a:latin typeface="Calibri" pitchFamily="34" charset="0"/>
                <a:ea typeface="Calibri" pitchFamily="34" charset="-122"/>
                <a:cs typeface="Calibri" pitchFamily="34" charset="-120"/>
              </a:rPr>
              <a:t>Remplacer l'examen histopathologique</a:t>
            </a:r>
            <a:endParaRPr lang="en-US" sz="1632"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noAutofit/>
          </a:bodyPr>
          <a:lstStyle/>
          <a:p>
            <a:pPr marL="0" indent="0">
              <a:buNone/>
            </a:pPr>
            <a:r>
              <a:rPr lang="fr" sz="1632" b="1" noProof="0">
                <a:solidFill>
                  <a:srgbClr val="1F4E96"/>
                </a:solidFill>
                <a:latin typeface="Calibri" pitchFamily="34" charset="0"/>
                <a:ea typeface="Calibri" pitchFamily="34" charset="-122"/>
                <a:cs typeface="Calibri" pitchFamily="34" charset="-120"/>
              </a:rPr>
              <a:t>D. </a:t>
            </a:r>
            <a:r>
              <a:rPr lang="fr" sz="1632" noProof="0">
                <a:solidFill>
                  <a:srgbClr val="17325E"/>
                </a:solidFill>
                <a:latin typeface="Calibri" pitchFamily="34" charset="0"/>
                <a:ea typeface="Calibri" pitchFamily="34" charset="-122"/>
                <a:cs typeface="Calibri" pitchFamily="34" charset="-120"/>
              </a:rPr>
              <a:t>Confirmer le cancer sans tissu</a:t>
            </a:r>
            <a:endParaRPr lang="en-US" sz="1632"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(7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Q13. Anémie ferriprive sans cause claire chez un adulte devrait entraîner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Envisager une exploration du côlon et du rectum</a:t>
            </a:r>
            <a:endParaRPr lang="en-US" sz="1411"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Fer seul, sans évaluation</a:t>
            </a:r>
            <a:endParaRPr lang="en-US" sz="1411"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Réassurance seulement</a:t>
            </a:r>
            <a:endParaRPr lang="en-US" sz="1411"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Tests répétés dans un an</a:t>
            </a:r>
            <a:endParaRPr lang="en-US" sz="1411"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Q14. Quel signe nécessite une évaluation urgente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Ballonnements légers après les repas</a:t>
            </a:r>
            <a:endParaRPr lang="en-US" sz="1411"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Selles molles occasionnelles</a:t>
            </a:r>
            <a:endParaRPr lang="en-US" sz="1411"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Vomissements avec distension abdominale et absence de passage de selles ou de gaz</a:t>
            </a:r>
            <a:endParaRPr lang="en-US" sz="1411"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Légère indigestion</a:t>
            </a:r>
            <a:endParaRPr lang="en-US" sz="1411"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(8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Q15. Le stade décrit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A. </a:t>
            </a:r>
            <a:r>
              <a:rPr lang="fr" sz="1700" noProof="0">
                <a:solidFill>
                  <a:srgbClr val="17325E"/>
                </a:solidFill>
                <a:latin typeface="Calibri" pitchFamily="34" charset="0"/>
                <a:ea typeface="Calibri" pitchFamily="34" charset="-122"/>
                <a:cs typeface="Calibri" pitchFamily="34" charset="-120"/>
              </a:rPr>
              <a:t>À quel point les cellules paraissent anormales</a:t>
            </a:r>
            <a:endParaRPr lang="en-US" sz="1700"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B. </a:t>
            </a:r>
            <a:r>
              <a:rPr lang="fr" sz="1700" noProof="0">
                <a:solidFill>
                  <a:srgbClr val="17325E"/>
                </a:solidFill>
                <a:latin typeface="Calibri" pitchFamily="34" charset="0"/>
                <a:ea typeface="Calibri" pitchFamily="34" charset="-122"/>
                <a:cs typeface="Calibri" pitchFamily="34" charset="-120"/>
              </a:rPr>
              <a:t>Jusqu'où le cancer s'est-il propagé</a:t>
            </a:r>
            <a:endParaRPr lang="en-US" sz="1700"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C. </a:t>
            </a:r>
            <a:r>
              <a:rPr lang="fr" sz="1700" noProof="0">
                <a:solidFill>
                  <a:srgbClr val="17325E"/>
                </a:solidFill>
                <a:latin typeface="Calibri" pitchFamily="34" charset="0"/>
                <a:ea typeface="Calibri" pitchFamily="34" charset="-122"/>
                <a:cs typeface="Calibri" pitchFamily="34" charset="-120"/>
              </a:rPr>
              <a:t>La valeur FIT</a:t>
            </a:r>
            <a:endParaRPr lang="en-US" sz="1700"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D. </a:t>
            </a:r>
            <a:r>
              <a:rPr lang="fr" sz="1700" noProof="0">
                <a:solidFill>
                  <a:srgbClr val="17325E"/>
                </a:solidFill>
                <a:latin typeface="Calibri" pitchFamily="34" charset="0"/>
                <a:ea typeface="Calibri" pitchFamily="34" charset="-122"/>
                <a:cs typeface="Calibri" pitchFamily="34" charset="-120"/>
              </a:rPr>
              <a:t>Le traitement choisi</a:t>
            </a:r>
            <a:endParaRPr lang="en-US" sz="1700"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Q16. Le cancer colorectal se propage le plus souvent à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A. </a:t>
            </a:r>
            <a:r>
              <a:rPr lang="fr" sz="1700" noProof="0">
                <a:solidFill>
                  <a:srgbClr val="17325E"/>
                </a:solidFill>
                <a:latin typeface="Calibri" pitchFamily="34" charset="0"/>
                <a:ea typeface="Calibri" pitchFamily="34" charset="-122"/>
                <a:cs typeface="Calibri" pitchFamily="34" charset="-120"/>
              </a:rPr>
              <a:t>Peau et cheveux</a:t>
            </a:r>
            <a:endParaRPr lang="en-US" sz="1700"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B. </a:t>
            </a:r>
            <a:r>
              <a:rPr lang="fr" sz="1700" noProof="0">
                <a:solidFill>
                  <a:srgbClr val="17325E"/>
                </a:solidFill>
                <a:latin typeface="Calibri" pitchFamily="34" charset="0"/>
                <a:ea typeface="Calibri" pitchFamily="34" charset="-122"/>
                <a:cs typeface="Calibri" pitchFamily="34" charset="-120"/>
              </a:rPr>
              <a:t>Thyroïde</a:t>
            </a:r>
            <a:endParaRPr lang="en-US" sz="1700"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C. </a:t>
            </a:r>
            <a:r>
              <a:rPr lang="fr" sz="1700" noProof="0">
                <a:solidFill>
                  <a:srgbClr val="17325E"/>
                </a:solidFill>
                <a:latin typeface="Calibri" pitchFamily="34" charset="0"/>
                <a:ea typeface="Calibri" pitchFamily="34" charset="-122"/>
                <a:cs typeface="Calibri" pitchFamily="34" charset="-120"/>
              </a:rPr>
              <a:t>Dents</a:t>
            </a:r>
            <a:endParaRPr lang="en-US" sz="1700"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D. </a:t>
            </a:r>
            <a:r>
              <a:rPr lang="fr" sz="1700" noProof="0">
                <a:solidFill>
                  <a:srgbClr val="17325E"/>
                </a:solidFill>
                <a:latin typeface="Calibri" pitchFamily="34" charset="0"/>
                <a:ea typeface="Calibri" pitchFamily="34" charset="-122"/>
                <a:cs typeface="Calibri" pitchFamily="34" charset="-120"/>
              </a:rPr>
              <a:t>Foie et poumons</a:t>
            </a:r>
            <a:endParaRPr lang="en-US" sz="1700"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(9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Q17. Radiothérapie dans le cancer colorectal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Est courant pour tous les cancers du côlon</a:t>
            </a:r>
            <a:endParaRPr lang="en-US" sz="1411"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Ajoute des hormones</a:t>
            </a:r>
            <a:endParaRPr lang="en-US" sz="1411"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A un rôle établi dans certains cancers du rectum</a:t>
            </a:r>
            <a:endParaRPr lang="en-US" sz="1411"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Remplace la chirurgie dans tous les cas</a:t>
            </a:r>
            <a:endParaRPr lang="en-US" sz="1411"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Q18. Une stomie après une chirurgie de l'intestin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Peut être temporaire ou permanente, et n'est pas nécessaire pour tout le monde</a:t>
            </a:r>
            <a:endParaRPr lang="en-US" sz="1411"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Est nécessaire à chaque patient</a:t>
            </a:r>
            <a:endParaRPr lang="en-US" sz="1411"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Signifie que le cancer est incurable</a:t>
            </a:r>
            <a:endParaRPr lang="en-US" sz="1411"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Empêche toute activité normale</a:t>
            </a:r>
            <a:endParaRPr lang="en-US" sz="1411"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VÉRIFICATION DE BASE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Pré-test (10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46304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Q19. Les soins palliatifs sont :</a:t>
            </a:r>
            <a:endParaRPr lang="en-US" sz="1800" noProof="0" dirty="0"/>
          </a:p>
        </p:txBody>
      </p:sp>
      <p:sp>
        <p:nvSpPr>
          <p:cNvPr id="6" name="Shape 4"/>
          <p:cNvSpPr/>
          <p:nvPr/>
        </p:nvSpPr>
        <p:spPr>
          <a:xfrm>
            <a:off x="548640"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Seulement pour les derniers jours de sa vie</a:t>
            </a:r>
            <a:endParaRPr lang="en-US" sz="1411" noProof="0" dirty="0"/>
          </a:p>
        </p:txBody>
      </p:sp>
      <p:sp>
        <p:nvSpPr>
          <p:cNvPr id="8" name="Shape 6"/>
          <p:cNvSpPr/>
          <p:nvPr/>
        </p:nvSpPr>
        <p:spPr>
          <a:xfrm>
            <a:off x="6196432" y="1865376"/>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6342736" y="1865376"/>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Soulagement des symptômes et qualité de vie, accompagnés du traitement lorsque cela est approprié</a:t>
            </a:r>
            <a:endParaRPr lang="en-US" sz="1411" noProof="0" dirty="0"/>
          </a:p>
        </p:txBody>
      </p:sp>
      <p:sp>
        <p:nvSpPr>
          <p:cNvPr id="10" name="Shape 8"/>
          <p:cNvSpPr/>
          <p:nvPr/>
        </p:nvSpPr>
        <p:spPr>
          <a:xfrm>
            <a:off x="548640"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C'est la même chose que d'arrêter les soins</a:t>
            </a:r>
            <a:endParaRPr lang="en-US" sz="1411" noProof="0" dirty="0"/>
          </a:p>
        </p:txBody>
      </p:sp>
      <p:sp>
        <p:nvSpPr>
          <p:cNvPr id="12" name="Shape 10"/>
          <p:cNvSpPr/>
          <p:nvPr/>
        </p:nvSpPr>
        <p:spPr>
          <a:xfrm>
            <a:off x="6196432" y="2487168"/>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487168"/>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Seulement des antidouleurs</a:t>
            </a:r>
            <a:endParaRPr lang="en-US" sz="1411" noProof="0" dirty="0"/>
          </a:p>
        </p:txBody>
      </p:sp>
      <p:sp>
        <p:nvSpPr>
          <p:cNvPr id="14" name="Text 12"/>
          <p:cNvSpPr/>
          <p:nvPr/>
        </p:nvSpPr>
        <p:spPr>
          <a:xfrm>
            <a:off x="548640" y="3785616"/>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Q20. Selon les estimations de 2024, le cancer colorectal au Rwanda est :</a:t>
            </a:r>
            <a:endParaRPr lang="en-US" sz="1800" noProof="0" dirty="0"/>
          </a:p>
        </p:txBody>
      </p:sp>
      <p:sp>
        <p:nvSpPr>
          <p:cNvPr id="15" name="Shape 13"/>
          <p:cNvSpPr/>
          <p:nvPr/>
        </p:nvSpPr>
        <p:spPr>
          <a:xfrm>
            <a:off x="548640"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6" name="Text 14"/>
          <p:cNvSpPr/>
          <p:nvPr/>
        </p:nvSpPr>
        <p:spPr>
          <a:xfrm>
            <a:off x="694944"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A. </a:t>
            </a:r>
            <a:r>
              <a:rPr lang="fr" sz="1411" noProof="0">
                <a:solidFill>
                  <a:srgbClr val="17325E"/>
                </a:solidFill>
                <a:latin typeface="Calibri" pitchFamily="34" charset="0"/>
                <a:ea typeface="Calibri" pitchFamily="34" charset="-122"/>
                <a:cs typeface="Calibri" pitchFamily="34" charset="-120"/>
              </a:rPr>
              <a:t>Non enregistré</a:t>
            </a:r>
            <a:endParaRPr lang="en-US" sz="1411" noProof="0" dirty="0"/>
          </a:p>
        </p:txBody>
      </p:sp>
      <p:sp>
        <p:nvSpPr>
          <p:cNvPr id="17" name="Shape 15"/>
          <p:cNvSpPr/>
          <p:nvPr/>
        </p:nvSpPr>
        <p:spPr>
          <a:xfrm>
            <a:off x="6196432" y="4187952"/>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6342736" y="4187952"/>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B. </a:t>
            </a:r>
            <a:r>
              <a:rPr lang="fr" sz="1411" noProof="0">
                <a:solidFill>
                  <a:srgbClr val="17325E"/>
                </a:solidFill>
                <a:latin typeface="Calibri" pitchFamily="34" charset="0"/>
                <a:ea typeface="Calibri" pitchFamily="34" charset="-122"/>
                <a:cs typeface="Calibri" pitchFamily="34" charset="-120"/>
              </a:rPr>
              <a:t>Trouvé uniquement à l'étranger</a:t>
            </a:r>
            <a:endParaRPr lang="en-US" sz="1411" noProof="0" dirty="0"/>
          </a:p>
        </p:txBody>
      </p:sp>
      <p:sp>
        <p:nvSpPr>
          <p:cNvPr id="19" name="Shape 17"/>
          <p:cNvSpPr/>
          <p:nvPr/>
        </p:nvSpPr>
        <p:spPr>
          <a:xfrm>
            <a:off x="548640"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0" name="Text 18"/>
          <p:cNvSpPr/>
          <p:nvPr/>
        </p:nvSpPr>
        <p:spPr>
          <a:xfrm>
            <a:off x="694944"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C. </a:t>
            </a:r>
            <a:r>
              <a:rPr lang="fr" sz="1411" noProof="0">
                <a:solidFill>
                  <a:srgbClr val="17325E"/>
                </a:solidFill>
                <a:latin typeface="Calibri" pitchFamily="34" charset="0"/>
                <a:ea typeface="Calibri" pitchFamily="34" charset="-122"/>
                <a:cs typeface="Calibri" pitchFamily="34" charset="-120"/>
              </a:rPr>
              <a:t>Le cancer le plus rare</a:t>
            </a:r>
            <a:endParaRPr lang="en-US" sz="1411" noProof="0" dirty="0"/>
          </a:p>
        </p:txBody>
      </p:sp>
      <p:sp>
        <p:nvSpPr>
          <p:cNvPr id="21" name="Shape 19"/>
          <p:cNvSpPr/>
          <p:nvPr/>
        </p:nvSpPr>
        <p:spPr>
          <a:xfrm>
            <a:off x="6196432" y="4809744"/>
            <a:ext cx="5446624" cy="530352"/>
          </a:xfrm>
          <a:prstGeom prst="roundRect">
            <a:avLst>
              <a:gd name="adj" fmla="val 13793"/>
            </a:avLst>
          </a:prstGeom>
          <a:solidFill>
            <a:srgbClr val="F3F7FC"/>
          </a:solidFill>
          <a:ln w="15875">
            <a:solidFill>
              <a:srgbClr val="C9DCF2"/>
            </a:solidFill>
            <a:prstDash val="solid"/>
          </a:ln>
        </p:spPr>
        <p:txBody>
          <a:bodyPr/>
          <a:lstStyle/>
          <a:p>
            <a:endParaRPr lang="en-US" noProof="0" dirty="0"/>
          </a:p>
        </p:txBody>
      </p:sp>
      <p:sp>
        <p:nvSpPr>
          <p:cNvPr id="22" name="Text 20"/>
          <p:cNvSpPr/>
          <p:nvPr/>
        </p:nvSpPr>
        <p:spPr>
          <a:xfrm>
            <a:off x="6342736" y="4809744"/>
            <a:ext cx="5172304" cy="530352"/>
          </a:xfrm>
          <a:prstGeom prst="rect">
            <a:avLst/>
          </a:prstGeom>
          <a:noFill/>
          <a:ln/>
        </p:spPr>
        <p:txBody>
          <a:bodyPr wrap="square" lIns="0" tIns="0" rIns="0" bIns="0" rtlCol="0" anchor="ctr">
            <a:noAutofit/>
          </a:bodyPr>
          <a:lstStyle/>
          <a:p>
            <a:pPr marL="0" indent="0">
              <a:buNone/>
            </a:pPr>
            <a:r>
              <a:rPr lang="fr" sz="1411" b="1" noProof="0">
                <a:solidFill>
                  <a:srgbClr val="1F4E96"/>
                </a:solidFill>
                <a:latin typeface="Calibri" pitchFamily="34" charset="0"/>
                <a:ea typeface="Calibri" pitchFamily="34" charset="-122"/>
                <a:cs typeface="Calibri" pitchFamily="34" charset="-120"/>
              </a:rPr>
              <a:t>D. </a:t>
            </a:r>
            <a:r>
              <a:rPr lang="fr" sz="1411" noProof="0">
                <a:solidFill>
                  <a:srgbClr val="17325E"/>
                </a:solidFill>
                <a:latin typeface="Calibri" pitchFamily="34" charset="0"/>
                <a:ea typeface="Calibri" pitchFamily="34" charset="-122"/>
                <a:cs typeface="Calibri" pitchFamily="34" charset="-120"/>
              </a:rPr>
              <a:t>Parmi les cinq cancers les plus courants</a:t>
            </a:r>
            <a:endParaRPr lang="en-US" sz="1411" noProof="0" dirty="0"/>
          </a:p>
        </p:txBody>
      </p:sp>
      <p:sp>
        <p:nvSpPr>
          <p:cNvPr id="23" name="Text 3"/>
          <p:cNvSpPr/>
          <p:nvPr/>
        </p:nvSpPr>
        <p:spPr>
          <a:xfrm>
            <a:off x="548640" y="117043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E5C"/>
        </a:solidFill>
        <a:effectLst/>
      </p:bgPr>
    </p:bg>
    <p:spTree>
      <p:nvGrpSpPr>
        <p:cNvPr id="1" name=""/>
        <p:cNvGrpSpPr/>
        <p:nvPr/>
      </p:nvGrpSpPr>
      <p:grpSpPr>
        <a:xfrm>
          <a:off x="0" y="0"/>
          <a:ext cx="0" cy="0"/>
          <a:chOff x="0" y="0"/>
          <a:chExt cx="0" cy="0"/>
        </a:xfrm>
      </p:grpSpPr>
      <p:sp>
        <p:nvSpPr>
          <p:cNvPr id="2" name="Shape 0"/>
          <p:cNvSpPr/>
          <p:nvPr/>
        </p:nvSpPr>
        <p:spPr>
          <a:xfrm>
            <a:off x="548640" y="1874520"/>
            <a:ext cx="1051560" cy="1051560"/>
          </a:xfrm>
          <a:prstGeom prst="roundRect">
            <a:avLst>
              <a:gd name="adj" fmla="val 12174"/>
            </a:avLst>
          </a:prstGeom>
          <a:solidFill>
            <a:srgbClr val="2C5A9E"/>
          </a:solidFill>
          <a:ln w="15875">
            <a:solidFill>
              <a:srgbClr val="5C8DD6"/>
            </a:solidFill>
            <a:prstDash val="solid"/>
          </a:ln>
        </p:spPr>
        <p:txBody>
          <a:bodyPr/>
          <a:lstStyle/>
          <a:p>
            <a:endParaRPr lang="en-US" noProof="0" dirty="0"/>
          </a:p>
        </p:txBody>
      </p:sp>
      <p:sp>
        <p:nvSpPr>
          <p:cNvPr id="3" name="Text 1"/>
          <p:cNvSpPr/>
          <p:nvPr/>
        </p:nvSpPr>
        <p:spPr>
          <a:xfrm>
            <a:off x="548640" y="1874520"/>
            <a:ext cx="1051560" cy="1051560"/>
          </a:xfrm>
          <a:prstGeom prst="rect">
            <a:avLst/>
          </a:prstGeom>
          <a:noFill/>
          <a:ln/>
        </p:spPr>
        <p:txBody>
          <a:bodyPr wrap="square" lIns="0" tIns="0" rIns="0" bIns="0" rtlCol="0" anchor="ctr"/>
          <a:lstStyle/>
          <a:p>
            <a:pPr marL="0" indent="0" algn="ctr">
              <a:buNone/>
            </a:pPr>
            <a:r>
              <a:rPr lang="fr" sz="4600" b="1" noProof="0">
                <a:solidFill>
                  <a:srgbClr val="FFFFFF"/>
                </a:solidFill>
                <a:latin typeface="Cambria" pitchFamily="34" charset="0"/>
                <a:ea typeface="Cambria" pitchFamily="34" charset="-122"/>
                <a:cs typeface="Cambria" pitchFamily="34" charset="-120"/>
              </a:rPr>
              <a:t>1</a:t>
            </a:r>
            <a:endParaRPr lang="en-US" sz="4600" noProof="0" dirty="0"/>
          </a:p>
        </p:txBody>
      </p:sp>
      <p:sp>
        <p:nvSpPr>
          <p:cNvPr id="4" name="Text 2"/>
          <p:cNvSpPr/>
          <p:nvPr/>
        </p:nvSpPr>
        <p:spPr>
          <a:xfrm>
            <a:off x="1920240" y="1920240"/>
            <a:ext cx="8686800" cy="365760"/>
          </a:xfrm>
          <a:prstGeom prst="rect">
            <a:avLst/>
          </a:prstGeom>
          <a:noFill/>
          <a:ln/>
        </p:spPr>
        <p:txBody>
          <a:bodyPr wrap="square" lIns="0" tIns="0" rIns="0" bIns="0" rtlCol="0" anchor="ctr"/>
          <a:lstStyle/>
          <a:p>
            <a:pPr marL="0" indent="0">
              <a:buNone/>
            </a:pPr>
            <a:r>
              <a:rPr lang="fr" sz="1500" b="1" kern="0" spc="300" noProof="0">
                <a:solidFill>
                  <a:srgbClr val="9DC0EE"/>
                </a:solidFill>
                <a:latin typeface="Calibri" pitchFamily="34" charset="0"/>
                <a:ea typeface="Calibri" pitchFamily="34" charset="-122"/>
                <a:cs typeface="Calibri" pitchFamily="34" charset="-120"/>
              </a:rPr>
              <a:t>Session 1</a:t>
            </a:r>
            <a:endParaRPr lang="en-US" sz="1500" noProof="0" dirty="0"/>
          </a:p>
        </p:txBody>
      </p:sp>
      <p:sp>
        <p:nvSpPr>
          <p:cNvPr id="5" name="Text 3"/>
          <p:cNvSpPr/>
          <p:nvPr/>
        </p:nvSpPr>
        <p:spPr>
          <a:xfrm>
            <a:off x="1920240" y="2286000"/>
            <a:ext cx="9601200" cy="777240"/>
          </a:xfrm>
          <a:prstGeom prst="rect">
            <a:avLst/>
          </a:prstGeom>
          <a:noFill/>
          <a:ln/>
        </p:spPr>
        <p:txBody>
          <a:bodyPr wrap="square" lIns="0" tIns="0" rIns="0" bIns="0" rtlCol="0" anchor="ctr"/>
          <a:lstStyle/>
          <a:p>
            <a:pPr marL="0" indent="0">
              <a:buNone/>
            </a:pPr>
            <a:r>
              <a:rPr lang="fr" sz="4200" b="1" noProof="0">
                <a:solidFill>
                  <a:srgbClr val="FFFFFF"/>
                </a:solidFill>
                <a:latin typeface="Cambria" pitchFamily="34" charset="0"/>
                <a:ea typeface="Cambria" pitchFamily="34" charset="-122"/>
                <a:cs typeface="Cambria" pitchFamily="34" charset="-120"/>
              </a:rPr>
              <a:t>Comprendre le cancer colorectal</a:t>
            </a:r>
            <a:endParaRPr lang="en-US" sz="4200" noProof="0" dirty="0"/>
          </a:p>
        </p:txBody>
      </p:sp>
      <p:sp>
        <p:nvSpPr>
          <p:cNvPr id="6" name="Text 4"/>
          <p:cNvSpPr/>
          <p:nvPr/>
        </p:nvSpPr>
        <p:spPr>
          <a:xfrm>
            <a:off x="1920240" y="3246120"/>
            <a:ext cx="9326880" cy="914400"/>
          </a:xfrm>
          <a:prstGeom prst="rect">
            <a:avLst/>
          </a:prstGeom>
          <a:noFill/>
          <a:ln/>
        </p:spPr>
        <p:txBody>
          <a:bodyPr wrap="square" lIns="0" tIns="0" rIns="0" bIns="0" rtlCol="0" anchor="ctr"/>
          <a:lstStyle/>
          <a:p>
            <a:pPr marL="0" indent="0">
              <a:buNone/>
            </a:pPr>
            <a:r>
              <a:rPr lang="fr" sz="1800" noProof="0">
                <a:solidFill>
                  <a:srgbClr val="CFE0F6"/>
                </a:solidFill>
                <a:latin typeface="Calibri" pitchFamily="34" charset="0"/>
                <a:ea typeface="Calibri" pitchFamily="34" charset="-122"/>
                <a:cs typeface="Calibri" pitchFamily="34" charset="-120"/>
              </a:rPr>
              <a:t>Construisez les bases : ce qu'est le cancer colorectal, comment il se développe à partir de lésions précurseures, sa fréquence au Rwanda, et ce que signifient le stade et le grade.</a:t>
            </a:r>
            <a:endParaRPr lang="en-US" sz="1800" noProof="0" dirty="0"/>
          </a:p>
        </p:txBody>
      </p:sp>
      <p:sp>
        <p:nvSpPr>
          <p:cNvPr id="7" name="Text 5"/>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8FA9CE"/>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Objectifs d'apprentissage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Décrire</a:t>
            </a:r>
            <a:endParaRPr lang="en-US" sz="1800" noProof="0" dirty="0"/>
          </a:p>
        </p:txBody>
      </p:sp>
      <p:sp>
        <p:nvSpPr>
          <p:cNvPr id="7" name="Text 5"/>
          <p:cNvSpPr/>
          <p:nvPr/>
        </p:nvSpPr>
        <p:spPr>
          <a:xfrm>
            <a:off x="73152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Décrivez ce qu'est le cancer colorectal et où il se développe.</a:t>
            </a:r>
            <a:endParaRPr lang="en-US" sz="1800" noProof="0" dirty="0"/>
          </a:p>
        </p:txBody>
      </p:sp>
      <p:sp>
        <p:nvSpPr>
          <p:cNvPr id="8" name="Shape 6"/>
          <p:cNvSpPr/>
          <p:nvPr/>
        </p:nvSpPr>
        <p:spPr>
          <a:xfrm>
            <a:off x="431993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Interpréter</a:t>
            </a:r>
            <a:endParaRPr lang="en-US" sz="1800" noProof="0" dirty="0"/>
          </a:p>
        </p:txBody>
      </p:sp>
      <p:sp>
        <p:nvSpPr>
          <p:cNvPr id="10" name="Text 8"/>
          <p:cNvSpPr/>
          <p:nvPr/>
        </p:nvSpPr>
        <p:spPr>
          <a:xfrm>
            <a:off x="450281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Interpréter le fardeau mondial, africain et rwandais, y compris les projections futures.</a:t>
            </a:r>
            <a:endParaRPr lang="en-US" sz="1800" noProof="0" dirty="0"/>
          </a:p>
        </p:txBody>
      </p:sp>
      <p:sp>
        <p:nvSpPr>
          <p:cNvPr id="11" name="Shape 9"/>
          <p:cNvSpPr/>
          <p:nvPr/>
        </p:nvSpPr>
        <p:spPr>
          <a:xfrm>
            <a:off x="8091221"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Expliquez l'anatomie</a:t>
            </a:r>
            <a:endParaRPr lang="en-US" sz="1800" noProof="0" dirty="0"/>
          </a:p>
        </p:txBody>
      </p:sp>
      <p:sp>
        <p:nvSpPr>
          <p:cNvPr id="13" name="Text 11"/>
          <p:cNvSpPr/>
          <p:nvPr/>
        </p:nvSpPr>
        <p:spPr>
          <a:xfrm>
            <a:off x="8274101"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Expliquez l'anatomie du côlon et du rectum en lien avec les symptômes.</a:t>
            </a:r>
            <a:endParaRPr lang="en-US" sz="1800" noProof="0" dirty="0"/>
          </a:p>
        </p:txBody>
      </p:sp>
      <p:sp>
        <p:nvSpPr>
          <p:cNvPr id="14" name="Shape 12"/>
          <p:cNvSpPr/>
          <p:nvPr/>
        </p:nvSpPr>
        <p:spPr>
          <a:xfrm>
            <a:off x="54864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3152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Décrire les grandes lignes</a:t>
            </a:r>
            <a:endParaRPr lang="en-US" sz="1800" noProof="0" dirty="0"/>
          </a:p>
        </p:txBody>
      </p:sp>
      <p:sp>
        <p:nvSpPr>
          <p:cNvPr id="16" name="Text 14"/>
          <p:cNvSpPr/>
          <p:nvPr/>
        </p:nvSpPr>
        <p:spPr>
          <a:xfrm>
            <a:off x="73152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Décrivez comment le cancer colorectal se développe, s'envahit et se propage.</a:t>
            </a:r>
            <a:endParaRPr lang="en-US" sz="1800" noProof="0" dirty="0"/>
          </a:p>
        </p:txBody>
      </p:sp>
      <p:sp>
        <p:nvSpPr>
          <p:cNvPr id="17" name="Shape 15"/>
          <p:cNvSpPr/>
          <p:nvPr/>
        </p:nvSpPr>
        <p:spPr>
          <a:xfrm>
            <a:off x="431993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450281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Identifier</a:t>
            </a:r>
            <a:endParaRPr lang="en-US" sz="1800" noProof="0" dirty="0"/>
          </a:p>
        </p:txBody>
      </p:sp>
      <p:sp>
        <p:nvSpPr>
          <p:cNvPr id="19" name="Text 17"/>
          <p:cNvSpPr/>
          <p:nvPr/>
        </p:nvSpPr>
        <p:spPr>
          <a:xfrm>
            <a:off x="450281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Identifiez les lésions précurseurs et expliquez pourquoi leur retrait peut prévenir le cancer.</a:t>
            </a:r>
            <a:endParaRPr lang="en-US" sz="1800" noProof="0" dirty="0"/>
          </a:p>
        </p:txBody>
      </p:sp>
      <p:sp>
        <p:nvSpPr>
          <p:cNvPr id="20" name="Shape 18"/>
          <p:cNvSpPr/>
          <p:nvPr/>
        </p:nvSpPr>
        <p:spPr>
          <a:xfrm>
            <a:off x="8091221"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8274101"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Distinguer</a:t>
            </a:r>
            <a:endParaRPr lang="en-US" sz="1800" noProof="0" dirty="0"/>
          </a:p>
        </p:txBody>
      </p:sp>
      <p:sp>
        <p:nvSpPr>
          <p:cNvPr id="22" name="Text 20"/>
          <p:cNvSpPr/>
          <p:nvPr/>
        </p:nvSpPr>
        <p:spPr>
          <a:xfrm>
            <a:off x="8274101"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Expliquez le TNM et distinguez le stade du grade.</a:t>
            </a:r>
            <a:endParaRPr lang="en-US" sz="18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Qu'est-ce que le cancer colorectal ?</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Côlon et rectum</a:t>
            </a:r>
            <a:endParaRPr lang="en-US" sz="1800" noProof="0" dirty="0"/>
          </a:p>
        </p:txBody>
      </p:sp>
      <p:sp>
        <p:nvSpPr>
          <p:cNvPr id="7" name="Text 5"/>
          <p:cNvSpPr/>
          <p:nvPr/>
        </p:nvSpPr>
        <p:spPr>
          <a:xfrm>
            <a:off x="731520" y="1877263"/>
            <a:ext cx="3186074" cy="1442009"/>
          </a:xfrm>
          <a:prstGeom prst="rect">
            <a:avLst/>
          </a:prstGeom>
          <a:noFill/>
          <a:ln/>
        </p:spPr>
        <p:txBody>
          <a:bodyPr wrap="square" lIns="0" tIns="0" rIns="0" bIns="0" rtlCol="0" anchor="t">
            <a:normAutofit fontScale="995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Le cancer colorectal couvre le cancer du côlon et le cancer du rectum. Les deux sont liés mais ne sont pas traités de manière identique.</a:t>
            </a:r>
            <a:endParaRPr lang="en-US" sz="1800" noProof="0" dirty="0"/>
          </a:p>
        </p:txBody>
      </p:sp>
      <p:sp>
        <p:nvSpPr>
          <p:cNvPr id="8" name="Shape 6"/>
          <p:cNvSpPr/>
          <p:nvPr/>
        </p:nvSpPr>
        <p:spPr>
          <a:xfrm>
            <a:off x="431993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Origine cellulaire</a:t>
            </a:r>
            <a:endParaRPr lang="en-US" sz="1800" noProof="0" dirty="0"/>
          </a:p>
        </p:txBody>
      </p:sp>
      <p:sp>
        <p:nvSpPr>
          <p:cNvPr id="10" name="Text 8"/>
          <p:cNvSpPr/>
          <p:nvPr/>
        </p:nvSpPr>
        <p:spPr>
          <a:xfrm>
            <a:off x="4502810" y="1877263"/>
            <a:ext cx="3186074" cy="1442009"/>
          </a:xfrm>
          <a:prstGeom prst="rect">
            <a:avLst/>
          </a:prstGeom>
          <a:noFill/>
          <a:ln/>
        </p:spPr>
        <p:txBody>
          <a:bodyPr wrap="square" lIns="0" tIns="0" rIns="0" bIns="0" rtlCol="0" anchor="t">
            <a:normAutofit fontScale="995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La plupart des cancers colorectaux sont des adénocarcinomes, issus de la muqueuse glandulaire de la paroi intestinale.</a:t>
            </a:r>
            <a:endParaRPr lang="en-US" sz="1800" noProof="0" dirty="0"/>
          </a:p>
        </p:txBody>
      </p:sp>
      <p:sp>
        <p:nvSpPr>
          <p:cNvPr id="11" name="Shape 9"/>
          <p:cNvSpPr/>
          <p:nvPr/>
        </p:nvSpPr>
        <p:spPr>
          <a:xfrm>
            <a:off x="8091221"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Se développe au fil des années</a:t>
            </a:r>
            <a:endParaRPr lang="en-US" sz="1800" noProof="0" dirty="0"/>
          </a:p>
        </p:txBody>
      </p:sp>
      <p:sp>
        <p:nvSpPr>
          <p:cNvPr id="13" name="Text 11"/>
          <p:cNvSpPr/>
          <p:nvPr/>
        </p:nvSpPr>
        <p:spPr>
          <a:xfrm>
            <a:off x="8274101" y="1877263"/>
            <a:ext cx="3186074" cy="1442009"/>
          </a:xfrm>
          <a:prstGeom prst="rect">
            <a:avLst/>
          </a:prstGeom>
          <a:noFill/>
          <a:ln/>
        </p:spPr>
        <p:txBody>
          <a:bodyPr wrap="square" lIns="0" tIns="0" rIns="0" bIns="0" rtlCol="0" anchor="t">
            <a:normAutofit fontScale="995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De nombreux cancers colorectaux se développent à partir de lésions précurseures telles que les adénomes, généralement sur une période d'années.</a:t>
            </a:r>
            <a:endParaRPr lang="en-US" sz="1800" noProof="0" dirty="0"/>
          </a:p>
        </p:txBody>
      </p:sp>
      <p:sp>
        <p:nvSpPr>
          <p:cNvPr id="14" name="Shape 12"/>
          <p:cNvSpPr/>
          <p:nvPr/>
        </p:nvSpPr>
        <p:spPr>
          <a:xfrm>
            <a:off x="54864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31520" y="3794760"/>
            <a:ext cx="3186074" cy="359359"/>
          </a:xfrm>
          <a:prstGeom prst="rect">
            <a:avLst/>
          </a:prstGeom>
          <a:noFill/>
          <a:ln/>
        </p:spPr>
        <p:txBody>
          <a:bodyPr wrap="square" lIns="0" tIns="0" rIns="0" bIns="0" rtlCol="0" anchor="t"/>
          <a:lstStyle/>
          <a:p>
            <a:r>
              <a:rPr lang="en-US" b="1" dirty="0">
                <a:solidFill>
                  <a:schemeClr val="accent1">
                    <a:lumMod val="50000"/>
                  </a:schemeClr>
                </a:solidFill>
                <a:latin typeface="Calibri" pitchFamily="34" charset="0"/>
                <a:ea typeface="Calibri" pitchFamily="34" charset="-122"/>
                <a:cs typeface="Calibri" pitchFamily="34" charset="-120"/>
              </a:rPr>
              <a:t>« Souvent asymptomatique au début ».</a:t>
            </a:r>
            <a:endParaRPr lang="en-US" sz="1800" noProof="0" dirty="0">
              <a:solidFill>
                <a:schemeClr val="accent1">
                  <a:lumMod val="50000"/>
                </a:schemeClr>
              </a:solidFill>
            </a:endParaRPr>
          </a:p>
        </p:txBody>
      </p:sp>
      <p:sp>
        <p:nvSpPr>
          <p:cNvPr id="16" name="Text 14"/>
          <p:cNvSpPr/>
          <p:nvPr/>
        </p:nvSpPr>
        <p:spPr>
          <a:xfrm>
            <a:off x="731520" y="4364736"/>
            <a:ext cx="3186074" cy="1231392"/>
          </a:xfrm>
          <a:prstGeom prst="rect">
            <a:avLst/>
          </a:prstGeom>
          <a:noFill/>
          <a:ln/>
        </p:spPr>
        <p:txBody>
          <a:bodyPr wrap="square" lIns="0" tIns="0" rIns="0" bIns="0" rtlCol="0" anchor="t">
            <a:normAutofit fontScale="99500"/>
          </a:bodyPr>
          <a:lstStyle/>
          <a:p>
            <a:pPr marL="0" indent="0">
              <a:lnSpc>
                <a:spcPct val="105000"/>
              </a:lnSpc>
              <a:buNone/>
            </a:pPr>
            <a:r>
              <a:rPr lang="fr" sz="1800" noProof="0" dirty="0">
                <a:solidFill>
                  <a:srgbClr val="17325E"/>
                </a:solidFill>
                <a:latin typeface="Calibri" pitchFamily="34" charset="0"/>
                <a:ea typeface="Calibri" pitchFamily="34" charset="-122"/>
                <a:cs typeface="Calibri" pitchFamily="34" charset="-120"/>
              </a:rPr>
              <a:t>Un cancer colorectal précoce peut ne provoquer aucun symptôme. Attendre les symptômes signifie un diagnostic plus tard.</a:t>
            </a:r>
            <a:endParaRPr lang="en-US" sz="1800" noProof="0" dirty="0"/>
          </a:p>
        </p:txBody>
      </p:sp>
      <p:sp>
        <p:nvSpPr>
          <p:cNvPr id="17" name="Shape 15"/>
          <p:cNvSpPr/>
          <p:nvPr/>
        </p:nvSpPr>
        <p:spPr>
          <a:xfrm>
            <a:off x="431993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450281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Détection et prévention</a:t>
            </a:r>
            <a:endParaRPr lang="en-US" sz="1800" noProof="0" dirty="0"/>
          </a:p>
        </p:txBody>
      </p:sp>
      <p:sp>
        <p:nvSpPr>
          <p:cNvPr id="19" name="Text 17"/>
          <p:cNvSpPr/>
          <p:nvPr/>
        </p:nvSpPr>
        <p:spPr>
          <a:xfrm>
            <a:off x="4502810" y="4154119"/>
            <a:ext cx="3186074" cy="1442009"/>
          </a:xfrm>
          <a:prstGeom prst="rect">
            <a:avLst/>
          </a:prstGeom>
          <a:noFill/>
          <a:ln/>
        </p:spPr>
        <p:txBody>
          <a:bodyPr wrap="square" lIns="0" tIns="0" rIns="0" bIns="0" rtlCol="0" anchor="t">
            <a:normAutofit fontScale="995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Trouver et retirer les lésions précurseurs appropriées peut prévenir certains cancers colorectaux, et non seulement les détecter plus tôt.</a:t>
            </a:r>
            <a:endParaRPr lang="en-US" sz="1800" noProof="0" dirty="0"/>
          </a:p>
        </p:txBody>
      </p:sp>
      <p:sp>
        <p:nvSpPr>
          <p:cNvPr id="20" name="Shape 18"/>
          <p:cNvSpPr/>
          <p:nvPr/>
        </p:nvSpPr>
        <p:spPr>
          <a:xfrm>
            <a:off x="8091221"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8274101" y="3794760"/>
            <a:ext cx="3186074" cy="66385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Un résultat anormal n'est pas un diagnostic</a:t>
            </a:r>
            <a:endParaRPr lang="en-US" sz="1800" noProof="0" dirty="0"/>
          </a:p>
        </p:txBody>
      </p:sp>
      <p:sp>
        <p:nvSpPr>
          <p:cNvPr id="22" name="Text 20"/>
          <p:cNvSpPr/>
          <p:nvPr/>
        </p:nvSpPr>
        <p:spPr>
          <a:xfrm>
            <a:off x="8274101" y="4458614"/>
            <a:ext cx="3186074" cy="1137514"/>
          </a:xfrm>
          <a:prstGeom prst="rect">
            <a:avLst/>
          </a:prstGeom>
          <a:noFill/>
          <a:ln/>
        </p:spPr>
        <p:txBody>
          <a:bodyPr wrap="square" lIns="0" tIns="0" rIns="0" bIns="0" rtlCol="0" anchor="t">
            <a:noAutofit/>
          </a:bodyPr>
          <a:lstStyle/>
          <a:p>
            <a:pPr marL="0" indent="0">
              <a:lnSpc>
                <a:spcPct val="105000"/>
              </a:lnSpc>
              <a:buNone/>
            </a:pPr>
            <a:r>
              <a:rPr lang="fr" sz="1386" noProof="0">
                <a:solidFill>
                  <a:srgbClr val="17325E"/>
                </a:solidFill>
                <a:latin typeface="Calibri" pitchFamily="34" charset="0"/>
                <a:ea typeface="Calibri" pitchFamily="34" charset="-122"/>
                <a:cs typeface="Calibri" pitchFamily="34" charset="-120"/>
              </a:rPr>
              <a:t>Un test de selles anormal ou un examen clinique anormal éveille un soupçon. L'examen histopathologique d'un prélèvement tissulaire confirme le diagnostic.</a:t>
            </a:r>
            <a:endParaRPr lang="en-US" sz="1386"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Fréquence du cancer colorectal dans le monde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463040"/>
            <a:ext cx="3527450" cy="1463040"/>
          </a:xfrm>
          <a:prstGeom prst="roundRect">
            <a:avLst>
              <a:gd name="adj" fmla="val 6250"/>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694944" y="1581912"/>
            <a:ext cx="3234842" cy="566928"/>
          </a:xfrm>
          <a:prstGeom prst="rect">
            <a:avLst/>
          </a:prstGeom>
          <a:noFill/>
          <a:ln/>
        </p:spPr>
        <p:txBody>
          <a:bodyPr wrap="square" lIns="0" tIns="0" rIns="0" bIns="0" rtlCol="0" anchor="ctr">
            <a:noAutofit/>
          </a:bodyPr>
          <a:lstStyle/>
          <a:p>
            <a:pPr marL="0" indent="0">
              <a:buNone/>
            </a:pPr>
            <a:r>
              <a:rPr lang="fr" sz="2108" b="1" noProof="0">
                <a:solidFill>
                  <a:srgbClr val="0E2E5C"/>
                </a:solidFill>
                <a:latin typeface="Cambria" pitchFamily="34" charset="0"/>
                <a:ea typeface="Cambria" pitchFamily="34" charset="-122"/>
                <a:cs typeface="Cambria" pitchFamily="34" charset="-120"/>
              </a:rPr>
              <a:t>2,041,007</a:t>
            </a:r>
            <a:endParaRPr lang="en-US" sz="2108" noProof="0" dirty="0"/>
          </a:p>
        </p:txBody>
      </p:sp>
      <p:sp>
        <p:nvSpPr>
          <p:cNvPr id="7" name="Text 5"/>
          <p:cNvSpPr/>
          <p:nvPr/>
        </p:nvSpPr>
        <p:spPr>
          <a:xfrm>
            <a:off x="694944" y="2148840"/>
            <a:ext cx="3234842" cy="658368"/>
          </a:xfrm>
          <a:prstGeom prst="rect">
            <a:avLst/>
          </a:prstGeom>
          <a:noFill/>
          <a:ln/>
        </p:spPr>
        <p:txBody>
          <a:bodyPr wrap="square" lIns="0" tIns="0" rIns="0" bIns="0" rtlCol="0" anchor="t"/>
          <a:lstStyle/>
          <a:p>
            <a:pPr marL="0" indent="0">
              <a:buNone/>
            </a:pPr>
            <a:r>
              <a:rPr lang="fr" noProof="0">
                <a:solidFill>
                  <a:srgbClr val="5B7195"/>
                </a:solidFill>
                <a:latin typeface="Calibri" pitchFamily="34" charset="0"/>
                <a:ea typeface="Calibri" pitchFamily="34" charset="-122"/>
                <a:cs typeface="Calibri" pitchFamily="34" charset="-120"/>
              </a:rPr>
              <a:t>Nouveaux cas estimés de cancer colorectal dans le monde, 2024</a:t>
            </a:r>
            <a:endParaRPr lang="en-US" noProof="0" dirty="0"/>
          </a:p>
        </p:txBody>
      </p:sp>
      <p:sp>
        <p:nvSpPr>
          <p:cNvPr id="8" name="Shape 6"/>
          <p:cNvSpPr/>
          <p:nvPr/>
        </p:nvSpPr>
        <p:spPr>
          <a:xfrm>
            <a:off x="4332122" y="1463040"/>
            <a:ext cx="3527450" cy="1463040"/>
          </a:xfrm>
          <a:prstGeom prst="roundRect">
            <a:avLst>
              <a:gd name="adj" fmla="val 6250"/>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478426" y="1581912"/>
            <a:ext cx="3234842" cy="566928"/>
          </a:xfrm>
          <a:prstGeom prst="rect">
            <a:avLst/>
          </a:prstGeom>
          <a:noFill/>
          <a:ln/>
        </p:spPr>
        <p:txBody>
          <a:bodyPr wrap="square" lIns="0" tIns="0" rIns="0" bIns="0" rtlCol="0" anchor="ctr">
            <a:noAutofit/>
          </a:bodyPr>
          <a:lstStyle/>
          <a:p>
            <a:pPr marL="0" indent="0">
              <a:buNone/>
            </a:pPr>
            <a:r>
              <a:rPr lang="fr" sz="2108" b="1" noProof="0">
                <a:solidFill>
                  <a:srgbClr val="0E2E5C"/>
                </a:solidFill>
                <a:latin typeface="Cambria" pitchFamily="34" charset="0"/>
                <a:ea typeface="Cambria" pitchFamily="34" charset="-122"/>
                <a:cs typeface="Cambria" pitchFamily="34" charset="-120"/>
              </a:rPr>
              <a:t>917,895</a:t>
            </a:r>
            <a:endParaRPr lang="en-US" sz="2108" noProof="0" dirty="0"/>
          </a:p>
        </p:txBody>
      </p:sp>
      <p:sp>
        <p:nvSpPr>
          <p:cNvPr id="10" name="Text 8"/>
          <p:cNvSpPr/>
          <p:nvPr/>
        </p:nvSpPr>
        <p:spPr>
          <a:xfrm>
            <a:off x="4478426" y="2148840"/>
            <a:ext cx="3234842" cy="658368"/>
          </a:xfrm>
          <a:prstGeom prst="rect">
            <a:avLst/>
          </a:prstGeom>
          <a:noFill/>
          <a:ln/>
        </p:spPr>
        <p:txBody>
          <a:bodyPr wrap="square" lIns="0" tIns="0" rIns="0" bIns="0" rtlCol="0" anchor="t"/>
          <a:lstStyle/>
          <a:p>
            <a:pPr marL="0" indent="0">
              <a:buNone/>
            </a:pPr>
            <a:r>
              <a:rPr lang="fr" noProof="0">
                <a:solidFill>
                  <a:srgbClr val="5B7195"/>
                </a:solidFill>
                <a:latin typeface="Calibri" pitchFamily="34" charset="0"/>
                <a:ea typeface="Calibri" pitchFamily="34" charset="-122"/>
                <a:cs typeface="Calibri" pitchFamily="34" charset="-120"/>
              </a:rPr>
              <a:t>Décès estimés pour cancer colorectal dans le monde, 2024</a:t>
            </a:r>
            <a:endParaRPr lang="en-US" noProof="0" dirty="0"/>
          </a:p>
        </p:txBody>
      </p:sp>
      <p:sp>
        <p:nvSpPr>
          <p:cNvPr id="11" name="Shape 9"/>
          <p:cNvSpPr/>
          <p:nvPr/>
        </p:nvSpPr>
        <p:spPr>
          <a:xfrm>
            <a:off x="8115605" y="1463040"/>
            <a:ext cx="3527450" cy="1463040"/>
          </a:xfrm>
          <a:prstGeom prst="roundRect">
            <a:avLst>
              <a:gd name="adj" fmla="val 6250"/>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61909" y="1581912"/>
            <a:ext cx="3234842" cy="566928"/>
          </a:xfrm>
          <a:prstGeom prst="rect">
            <a:avLst/>
          </a:prstGeom>
          <a:noFill/>
          <a:ln/>
        </p:spPr>
        <p:txBody>
          <a:bodyPr wrap="square" lIns="0" tIns="0" rIns="0" bIns="0" rtlCol="0" anchor="ctr">
            <a:noAutofit/>
          </a:bodyPr>
          <a:lstStyle/>
          <a:p>
            <a:r>
              <a:rPr lang="fr" sz="2108" b="1" noProof="0">
                <a:solidFill>
                  <a:srgbClr val="0E2E5C"/>
                </a:solidFill>
                <a:latin typeface="Cambria" pitchFamily="34" charset="0"/>
                <a:ea typeface="Cambria" pitchFamily="34" charset="-122"/>
                <a:cs typeface="Cambria" pitchFamily="34" charset="-120"/>
              </a:rPr>
              <a:t>3e cancer le plus fréquent</a:t>
            </a:r>
            <a:endParaRPr lang="en-US" b="1" noProof="0" dirty="0">
              <a:solidFill>
                <a:srgbClr val="0E2E5C"/>
              </a:solidFill>
              <a:latin typeface="Cambria" pitchFamily="34" charset="0"/>
              <a:ea typeface="Cambria" pitchFamily="34" charset="-122"/>
              <a:cs typeface="Cambria" pitchFamily="34" charset="-120"/>
            </a:endParaRPr>
          </a:p>
        </p:txBody>
      </p:sp>
      <p:sp>
        <p:nvSpPr>
          <p:cNvPr id="13" name="Text 11"/>
          <p:cNvSpPr/>
          <p:nvPr/>
        </p:nvSpPr>
        <p:spPr>
          <a:xfrm>
            <a:off x="8261909" y="2148840"/>
            <a:ext cx="3234842" cy="658368"/>
          </a:xfrm>
          <a:prstGeom prst="rect">
            <a:avLst/>
          </a:prstGeom>
          <a:noFill/>
          <a:ln/>
        </p:spPr>
        <p:txBody>
          <a:bodyPr wrap="square" lIns="0" tIns="0" rIns="0" bIns="0" rtlCol="0" anchor="t"/>
          <a:lstStyle/>
          <a:p>
            <a:pPr marL="0" indent="0">
              <a:buNone/>
            </a:pPr>
            <a:r>
              <a:rPr lang="fr" noProof="0">
                <a:solidFill>
                  <a:srgbClr val="5B7195"/>
                </a:solidFill>
                <a:latin typeface="Calibri" pitchFamily="34" charset="0"/>
                <a:ea typeface="Calibri" pitchFamily="34" charset="-122"/>
                <a:cs typeface="Calibri" pitchFamily="34" charset="-120"/>
              </a:rPr>
              <a:t>2e cause de décès par cancer, dans le monde, 2024</a:t>
            </a:r>
            <a:endParaRPr lang="en-US" noProof="0" dirty="0"/>
          </a:p>
        </p:txBody>
      </p:sp>
      <p:graphicFrame>
        <p:nvGraphicFramePr>
          <p:cNvPr id="14" name="Chart 0" descr="Chart"/>
          <p:cNvGraphicFramePr/>
          <p:nvPr>
            <p:extLst>
              <p:ext uri="{D42A27DB-BD31-4B8C-83A1-F6EECF244321}">
                <p14:modId xmlns:p14="http://schemas.microsoft.com/office/powerpoint/2010/main" val="3717478324"/>
              </p:ext>
            </p:extLst>
          </p:nvPr>
        </p:nvGraphicFramePr>
        <p:xfrm>
          <a:off x="548640" y="3154680"/>
          <a:ext cx="694944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7772400" y="3154680"/>
            <a:ext cx="3870655" cy="3227832"/>
          </a:xfrm>
          <a:prstGeom prst="roundRect">
            <a:avLst>
              <a:gd name="adj" fmla="val 3704"/>
            </a:avLst>
          </a:prstGeom>
          <a:solidFill>
            <a:srgbClr val="F3F7FC"/>
          </a:solidFill>
          <a:ln w="15875">
            <a:solidFill>
              <a:srgbClr val="C9DCF2"/>
            </a:solidFill>
            <a:prstDash val="solid"/>
          </a:ln>
        </p:spPr>
        <p:txBody>
          <a:bodyPr/>
          <a:lstStyle/>
          <a:p>
            <a:endParaRPr lang="en-US" noProof="0" dirty="0"/>
          </a:p>
        </p:txBody>
      </p:sp>
      <p:sp>
        <p:nvSpPr>
          <p:cNvPr id="16" name="Text 13"/>
          <p:cNvSpPr/>
          <p:nvPr/>
        </p:nvSpPr>
        <p:spPr>
          <a:xfrm>
            <a:off x="7955280" y="3300984"/>
            <a:ext cx="3504895" cy="359359"/>
          </a:xfrm>
          <a:prstGeom prst="rect">
            <a:avLst/>
          </a:prstGeom>
          <a:noFill/>
          <a:ln/>
        </p:spPr>
        <p:txBody>
          <a:bodyPr wrap="square" lIns="0" tIns="0" rIns="0" bIns="0" rtlCol="0" anchor="t"/>
          <a:lstStyle/>
          <a:p>
            <a:pPr marL="0" indent="0">
              <a:buNone/>
            </a:pPr>
            <a:r>
              <a:rPr lang="fr" sz="3400" b="1" noProof="0">
                <a:solidFill>
                  <a:srgbClr val="0E2E5C"/>
                </a:solidFill>
                <a:latin typeface="Calibri" pitchFamily="34" charset="0"/>
                <a:ea typeface="Calibri" pitchFamily="34" charset="-122"/>
                <a:cs typeface="Calibri" pitchFamily="34" charset="-120"/>
              </a:rPr>
              <a:t>Lecture des taux</a:t>
            </a:r>
            <a:endParaRPr lang="en-US" sz="3400" noProof="0" dirty="0"/>
          </a:p>
        </p:txBody>
      </p:sp>
      <p:sp>
        <p:nvSpPr>
          <p:cNvPr id="17" name="Text 14"/>
          <p:cNvSpPr/>
          <p:nvPr/>
        </p:nvSpPr>
        <p:spPr>
          <a:xfrm>
            <a:off x="7955280" y="3952951"/>
            <a:ext cx="3504895" cy="1853489"/>
          </a:xfrm>
          <a:prstGeom prst="rect">
            <a:avLst/>
          </a:prstGeom>
          <a:noFill/>
          <a:ln/>
        </p:spPr>
        <p:txBody>
          <a:bodyPr wrap="square" lIns="0" tIns="0" rIns="0" bIns="0" rtlCol="0" anchor="t"/>
          <a:lstStyle/>
          <a:p>
            <a:pPr marL="0" indent="0">
              <a:lnSpc>
                <a:spcPct val="105000"/>
              </a:lnSpc>
              <a:buNone/>
            </a:pPr>
            <a:r>
              <a:rPr lang="fr" noProof="0">
                <a:solidFill>
                  <a:srgbClr val="17325E"/>
                </a:solidFill>
                <a:latin typeface="Calibri" pitchFamily="34" charset="0"/>
                <a:ea typeface="Calibri" pitchFamily="34" charset="-122"/>
                <a:cs typeface="Calibri" pitchFamily="34" charset="-120"/>
              </a:rPr>
              <a:t>Les taux sont standardisés par âge, afin de comparer les populations. Le taux estimé du Rwanda est supérieur à la moyenne africaine et inférieur au niveau mondial.</a:t>
            </a:r>
            <a:endParaRPr lang="en-US"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Afrique et Rwanda</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463040"/>
            <a:ext cx="3527450" cy="1965960"/>
          </a:xfrm>
          <a:prstGeom prst="roundRect">
            <a:avLst>
              <a:gd name="adj" fmla="val 571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694944" y="1581912"/>
            <a:ext cx="3234842" cy="566928"/>
          </a:xfrm>
          <a:prstGeom prst="rect">
            <a:avLst/>
          </a:prstGeom>
          <a:noFill/>
          <a:ln/>
        </p:spPr>
        <p:txBody>
          <a:bodyPr wrap="square" lIns="0" tIns="0" rIns="0" bIns="0" rtlCol="0" anchor="ctr"/>
          <a:lstStyle/>
          <a:p>
            <a:pPr marL="0" indent="0">
              <a:buNone/>
            </a:pPr>
            <a:r>
              <a:rPr lang="fr" sz="3400" b="1" noProof="0">
                <a:solidFill>
                  <a:srgbClr val="0E2E5C"/>
                </a:solidFill>
                <a:latin typeface="Cambria" pitchFamily="34" charset="0"/>
                <a:ea typeface="Cambria" pitchFamily="34" charset="-122"/>
                <a:cs typeface="Cambria" pitchFamily="34" charset="-120"/>
              </a:rPr>
              <a:t>77,464</a:t>
            </a:r>
            <a:endParaRPr lang="en-US" sz="3400" noProof="0" dirty="0"/>
          </a:p>
        </p:txBody>
      </p:sp>
      <p:sp>
        <p:nvSpPr>
          <p:cNvPr id="7" name="Text 5"/>
          <p:cNvSpPr/>
          <p:nvPr/>
        </p:nvSpPr>
        <p:spPr>
          <a:xfrm>
            <a:off x="694944" y="2148840"/>
            <a:ext cx="3234842" cy="795528"/>
          </a:xfrm>
          <a:prstGeom prst="rect">
            <a:avLst/>
          </a:prstGeom>
          <a:noFill/>
          <a:ln/>
        </p:spPr>
        <p:txBody>
          <a:bodyPr wrap="square" lIns="0" tIns="0" rIns="0" bIns="0" rtlCol="0" anchor="t"/>
          <a:lstStyle/>
          <a:p>
            <a:pPr marL="0" indent="0">
              <a:buNone/>
            </a:pPr>
            <a:r>
              <a:rPr lang="fr" noProof="0">
                <a:solidFill>
                  <a:srgbClr val="5B7195"/>
                </a:solidFill>
                <a:latin typeface="Calibri" pitchFamily="34" charset="0"/>
                <a:ea typeface="Calibri" pitchFamily="34" charset="-122"/>
                <a:cs typeface="Calibri" pitchFamily="34" charset="-120"/>
              </a:rPr>
              <a:t>Nouveaux cas estimés en Afrique, 2024</a:t>
            </a:r>
          </a:p>
          <a:p>
            <a:pPr marL="0" indent="0">
              <a:buNone/>
            </a:pPr>
            <a:endParaRPr lang="en-US" noProof="0" dirty="0">
              <a:solidFill>
                <a:srgbClr val="5B7195"/>
              </a:solidFill>
              <a:latin typeface="Calibri" pitchFamily="34" charset="0"/>
              <a:ea typeface="Calibri" pitchFamily="34" charset="-122"/>
              <a:cs typeface="Calibri" pitchFamily="34" charset="-120"/>
            </a:endParaRPr>
          </a:p>
          <a:p>
            <a:r>
              <a:rPr lang="fr" b="1" noProof="0">
                <a:solidFill>
                  <a:srgbClr val="0E2E5C"/>
                </a:solidFill>
                <a:latin typeface="Cambria" pitchFamily="34" charset="0"/>
                <a:ea typeface="Cambria" pitchFamily="34" charset="-122"/>
                <a:cs typeface="Cambria" pitchFamily="34" charset="-120"/>
              </a:rPr>
              <a:t>4e cancer le plus fréquent</a:t>
            </a:r>
            <a:endParaRPr lang="en-US" noProof="0" dirty="0"/>
          </a:p>
        </p:txBody>
      </p:sp>
      <p:sp>
        <p:nvSpPr>
          <p:cNvPr id="8" name="Shape 6"/>
          <p:cNvSpPr/>
          <p:nvPr/>
        </p:nvSpPr>
        <p:spPr>
          <a:xfrm>
            <a:off x="4332122" y="1463040"/>
            <a:ext cx="3527450" cy="1965960"/>
          </a:xfrm>
          <a:prstGeom prst="roundRect">
            <a:avLst>
              <a:gd name="adj" fmla="val 571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478426" y="1581912"/>
            <a:ext cx="3234842" cy="566928"/>
          </a:xfrm>
          <a:prstGeom prst="rect">
            <a:avLst/>
          </a:prstGeom>
          <a:noFill/>
          <a:ln/>
        </p:spPr>
        <p:txBody>
          <a:bodyPr wrap="square" lIns="0" tIns="0" rIns="0" bIns="0" rtlCol="0" anchor="ctr"/>
          <a:lstStyle/>
          <a:p>
            <a:pPr marL="0" indent="0">
              <a:buNone/>
            </a:pPr>
            <a:r>
              <a:rPr lang="fr" sz="3400" b="1" noProof="0">
                <a:solidFill>
                  <a:srgbClr val="0E2E5C"/>
                </a:solidFill>
                <a:latin typeface="Cambria" pitchFamily="34" charset="0"/>
                <a:ea typeface="Cambria" pitchFamily="34" charset="-122"/>
                <a:cs typeface="Cambria" pitchFamily="34" charset="-120"/>
              </a:rPr>
              <a:t>40,611</a:t>
            </a:r>
            <a:endParaRPr lang="en-US" sz="3400" noProof="0" dirty="0"/>
          </a:p>
        </p:txBody>
      </p:sp>
      <p:sp>
        <p:nvSpPr>
          <p:cNvPr id="10" name="Text 8"/>
          <p:cNvSpPr/>
          <p:nvPr/>
        </p:nvSpPr>
        <p:spPr>
          <a:xfrm>
            <a:off x="4478426" y="2148840"/>
            <a:ext cx="3234842" cy="795528"/>
          </a:xfrm>
          <a:prstGeom prst="rect">
            <a:avLst/>
          </a:prstGeom>
          <a:noFill/>
          <a:ln/>
        </p:spPr>
        <p:txBody>
          <a:bodyPr wrap="square" lIns="0" tIns="0" rIns="0" bIns="0" rtlCol="0" anchor="t"/>
          <a:lstStyle/>
          <a:p>
            <a:pPr marL="0" indent="0">
              <a:buNone/>
            </a:pPr>
            <a:r>
              <a:rPr lang="fr" noProof="0">
                <a:solidFill>
                  <a:srgbClr val="5B7195"/>
                </a:solidFill>
                <a:latin typeface="Calibri" pitchFamily="34" charset="0"/>
                <a:ea typeface="Calibri" pitchFamily="34" charset="-122"/>
                <a:cs typeface="Calibri" pitchFamily="34" charset="-120"/>
              </a:rPr>
              <a:t>Décès estimés par cancer colorectal en Afrique, 2024</a:t>
            </a:r>
            <a:endParaRPr lang="en-US" noProof="0" dirty="0"/>
          </a:p>
        </p:txBody>
      </p:sp>
      <p:sp>
        <p:nvSpPr>
          <p:cNvPr id="11" name="Shape 9"/>
          <p:cNvSpPr/>
          <p:nvPr/>
        </p:nvSpPr>
        <p:spPr>
          <a:xfrm>
            <a:off x="8115605" y="1463040"/>
            <a:ext cx="3527450" cy="1965960"/>
          </a:xfrm>
          <a:prstGeom prst="roundRect">
            <a:avLst>
              <a:gd name="adj" fmla="val 571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61909" y="1581912"/>
            <a:ext cx="3234842" cy="566928"/>
          </a:xfrm>
          <a:prstGeom prst="rect">
            <a:avLst/>
          </a:prstGeom>
          <a:noFill/>
          <a:ln/>
        </p:spPr>
        <p:txBody>
          <a:bodyPr wrap="square" lIns="0" tIns="0" rIns="0" bIns="0" rtlCol="0" anchor="ctr"/>
          <a:lstStyle/>
          <a:p>
            <a:pPr marL="0" indent="0">
              <a:buNone/>
            </a:pPr>
            <a:r>
              <a:rPr lang="fr" sz="3400" b="1" noProof="0">
                <a:solidFill>
                  <a:srgbClr val="0E2E5C"/>
                </a:solidFill>
                <a:latin typeface="Cambria" pitchFamily="34" charset="0"/>
                <a:ea typeface="Cambria" pitchFamily="34" charset="-122"/>
                <a:cs typeface="Cambria" pitchFamily="34" charset="-120"/>
              </a:rPr>
              <a:t>21,357</a:t>
            </a:r>
            <a:endParaRPr lang="en-US" sz="3400" noProof="0" dirty="0"/>
          </a:p>
        </p:txBody>
      </p:sp>
      <p:sp>
        <p:nvSpPr>
          <p:cNvPr id="13" name="Text 11"/>
          <p:cNvSpPr/>
          <p:nvPr/>
        </p:nvSpPr>
        <p:spPr>
          <a:xfrm>
            <a:off x="8261909" y="2148840"/>
            <a:ext cx="3234842" cy="795528"/>
          </a:xfrm>
          <a:prstGeom prst="rect">
            <a:avLst/>
          </a:prstGeom>
          <a:noFill/>
          <a:ln/>
        </p:spPr>
        <p:txBody>
          <a:bodyPr wrap="square" lIns="0" tIns="0" rIns="0" bIns="0" rtlCol="0" anchor="t"/>
          <a:lstStyle/>
          <a:p>
            <a:pPr marL="0" indent="0">
              <a:buNone/>
            </a:pPr>
            <a:r>
              <a:rPr lang="fr" noProof="0">
                <a:solidFill>
                  <a:srgbClr val="5B7195"/>
                </a:solidFill>
                <a:latin typeface="Calibri" pitchFamily="34" charset="0"/>
                <a:ea typeface="Calibri" pitchFamily="34" charset="-122"/>
                <a:cs typeface="Calibri" pitchFamily="34" charset="-120"/>
              </a:rPr>
              <a:t>Nouveaux cas estimés en Afrique de l'Est, 2024</a:t>
            </a:r>
            <a:endParaRPr lang="en-US" noProof="0" dirty="0"/>
          </a:p>
        </p:txBody>
      </p:sp>
      <p:sp>
        <p:nvSpPr>
          <p:cNvPr id="14" name="Shape 12"/>
          <p:cNvSpPr/>
          <p:nvPr/>
        </p:nvSpPr>
        <p:spPr>
          <a:xfrm>
            <a:off x="548640" y="3563112"/>
            <a:ext cx="3527450" cy="2039112"/>
          </a:xfrm>
          <a:prstGeom prst="roundRect">
            <a:avLst>
              <a:gd name="adj" fmla="val 571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694944" y="3681984"/>
            <a:ext cx="3234842" cy="566928"/>
          </a:xfrm>
          <a:prstGeom prst="rect">
            <a:avLst/>
          </a:prstGeom>
          <a:noFill/>
          <a:ln/>
        </p:spPr>
        <p:txBody>
          <a:bodyPr wrap="square" lIns="0" tIns="0" rIns="0" bIns="0" rtlCol="0" anchor="ctr"/>
          <a:lstStyle/>
          <a:p>
            <a:pPr marL="0" indent="0">
              <a:buNone/>
            </a:pPr>
            <a:r>
              <a:rPr lang="fr" sz="3400" b="1" noProof="0">
                <a:solidFill>
                  <a:srgbClr val="0E2E5C"/>
                </a:solidFill>
                <a:latin typeface="Cambria" pitchFamily="34" charset="0"/>
                <a:ea typeface="Cambria" pitchFamily="34" charset="-122"/>
                <a:cs typeface="Cambria" pitchFamily="34" charset="-120"/>
              </a:rPr>
              <a:t>925</a:t>
            </a:r>
            <a:endParaRPr lang="en-US" sz="3400" noProof="0" dirty="0"/>
          </a:p>
        </p:txBody>
      </p:sp>
      <p:sp>
        <p:nvSpPr>
          <p:cNvPr id="16" name="Text 14"/>
          <p:cNvSpPr/>
          <p:nvPr/>
        </p:nvSpPr>
        <p:spPr>
          <a:xfrm>
            <a:off x="694944" y="4248912"/>
            <a:ext cx="3234842" cy="795528"/>
          </a:xfrm>
          <a:prstGeom prst="rect">
            <a:avLst/>
          </a:prstGeom>
          <a:noFill/>
          <a:ln/>
        </p:spPr>
        <p:txBody>
          <a:bodyPr wrap="square" lIns="0" tIns="0" rIns="0" bIns="0" rtlCol="0" anchor="t"/>
          <a:lstStyle/>
          <a:p>
            <a:pPr marL="0" indent="0">
              <a:buNone/>
            </a:pPr>
            <a:r>
              <a:rPr lang="fr" noProof="0">
                <a:solidFill>
                  <a:srgbClr val="5B7195"/>
                </a:solidFill>
                <a:latin typeface="Calibri" pitchFamily="34" charset="0"/>
                <a:ea typeface="Calibri" pitchFamily="34" charset="-122"/>
                <a:cs typeface="Calibri" pitchFamily="34" charset="-120"/>
              </a:rPr>
              <a:t>Nouveaux cas estimés de cancer colorectal au Rwanda, 2024</a:t>
            </a:r>
            <a:endParaRPr lang="en-US" noProof="0" dirty="0"/>
          </a:p>
        </p:txBody>
      </p:sp>
      <p:sp>
        <p:nvSpPr>
          <p:cNvPr id="17" name="Shape 15"/>
          <p:cNvSpPr/>
          <p:nvPr/>
        </p:nvSpPr>
        <p:spPr>
          <a:xfrm>
            <a:off x="4332122" y="3563112"/>
            <a:ext cx="3527450" cy="2039112"/>
          </a:xfrm>
          <a:prstGeom prst="roundRect">
            <a:avLst>
              <a:gd name="adj" fmla="val 5714"/>
            </a:avLst>
          </a:prstGeom>
          <a:solidFill>
            <a:srgbClr val="FFF3DF"/>
          </a:solidFill>
          <a:ln w="15875">
            <a:solidFill>
              <a:srgbClr val="E8CFA4"/>
            </a:solidFill>
            <a:prstDash val="solid"/>
          </a:ln>
        </p:spPr>
        <p:txBody>
          <a:bodyPr/>
          <a:lstStyle/>
          <a:p>
            <a:endParaRPr lang="en-US" noProof="0" dirty="0"/>
          </a:p>
        </p:txBody>
      </p:sp>
      <p:sp>
        <p:nvSpPr>
          <p:cNvPr id="18" name="Text 16"/>
          <p:cNvSpPr/>
          <p:nvPr/>
        </p:nvSpPr>
        <p:spPr>
          <a:xfrm>
            <a:off x="4478426" y="3681984"/>
            <a:ext cx="3234842" cy="566928"/>
          </a:xfrm>
          <a:prstGeom prst="rect">
            <a:avLst/>
          </a:prstGeom>
          <a:noFill/>
          <a:ln/>
        </p:spPr>
        <p:txBody>
          <a:bodyPr wrap="square" lIns="0" tIns="0" rIns="0" bIns="0" rtlCol="0" anchor="ctr"/>
          <a:lstStyle/>
          <a:p>
            <a:pPr marL="0" indent="0">
              <a:buNone/>
            </a:pPr>
            <a:r>
              <a:rPr lang="fr" sz="3400" b="1" noProof="0">
                <a:solidFill>
                  <a:srgbClr val="9A5B00"/>
                </a:solidFill>
                <a:latin typeface="Cambria" pitchFamily="34" charset="0"/>
                <a:ea typeface="Cambria" pitchFamily="34" charset="-122"/>
                <a:cs typeface="Cambria" pitchFamily="34" charset="-120"/>
              </a:rPr>
              <a:t>535</a:t>
            </a:r>
            <a:endParaRPr lang="en-US" sz="3400" noProof="0" dirty="0"/>
          </a:p>
        </p:txBody>
      </p:sp>
      <p:sp>
        <p:nvSpPr>
          <p:cNvPr id="19" name="Text 17"/>
          <p:cNvSpPr/>
          <p:nvPr/>
        </p:nvSpPr>
        <p:spPr>
          <a:xfrm>
            <a:off x="4478426" y="4248912"/>
            <a:ext cx="3234842" cy="795528"/>
          </a:xfrm>
          <a:prstGeom prst="rect">
            <a:avLst/>
          </a:prstGeom>
          <a:noFill/>
          <a:ln/>
        </p:spPr>
        <p:txBody>
          <a:bodyPr wrap="square" lIns="0" tIns="0" rIns="0" bIns="0" rtlCol="0" anchor="t"/>
          <a:lstStyle/>
          <a:p>
            <a:pPr marL="0" indent="0">
              <a:buNone/>
            </a:pPr>
            <a:r>
              <a:rPr lang="fr" noProof="0">
                <a:solidFill>
                  <a:srgbClr val="5B7195"/>
                </a:solidFill>
                <a:latin typeface="Calibri" pitchFamily="34" charset="0"/>
                <a:ea typeface="Calibri" pitchFamily="34" charset="-122"/>
                <a:cs typeface="Calibri" pitchFamily="34" charset="-120"/>
              </a:rPr>
              <a:t>Décès estimés par cancer colorectal au Rwanda, 2024</a:t>
            </a:r>
            <a:endParaRPr lang="en-US" noProof="0" dirty="0"/>
          </a:p>
        </p:txBody>
      </p:sp>
      <p:sp>
        <p:nvSpPr>
          <p:cNvPr id="20" name="Shape 18"/>
          <p:cNvSpPr/>
          <p:nvPr/>
        </p:nvSpPr>
        <p:spPr>
          <a:xfrm>
            <a:off x="8115605" y="3563112"/>
            <a:ext cx="3527450" cy="2039112"/>
          </a:xfrm>
          <a:prstGeom prst="roundRect">
            <a:avLst>
              <a:gd name="adj" fmla="val 5714"/>
            </a:avLst>
          </a:prstGeom>
          <a:solidFill>
            <a:srgbClr val="FFF3DF"/>
          </a:solidFill>
          <a:ln w="15875">
            <a:solidFill>
              <a:srgbClr val="E8CFA4"/>
            </a:solidFill>
            <a:prstDash val="solid"/>
          </a:ln>
        </p:spPr>
        <p:txBody>
          <a:bodyPr/>
          <a:lstStyle/>
          <a:p>
            <a:endParaRPr lang="en-US" noProof="0" dirty="0"/>
          </a:p>
        </p:txBody>
      </p:sp>
      <p:sp>
        <p:nvSpPr>
          <p:cNvPr id="21" name="Text 19"/>
          <p:cNvSpPr/>
          <p:nvPr/>
        </p:nvSpPr>
        <p:spPr>
          <a:xfrm>
            <a:off x="8261909" y="3681984"/>
            <a:ext cx="3234842" cy="566928"/>
          </a:xfrm>
          <a:prstGeom prst="rect">
            <a:avLst/>
          </a:prstGeom>
          <a:noFill/>
          <a:ln/>
        </p:spPr>
        <p:txBody>
          <a:bodyPr wrap="square" lIns="0" tIns="0" rIns="0" bIns="0" rtlCol="0" anchor="ctr"/>
          <a:lstStyle/>
          <a:p>
            <a:pPr marL="0" indent="0">
              <a:buNone/>
            </a:pPr>
            <a:r>
              <a:rPr lang="fr" sz="3400" b="1" noProof="0">
                <a:solidFill>
                  <a:srgbClr val="9A5B00"/>
                </a:solidFill>
                <a:latin typeface="Cambria" pitchFamily="34" charset="0"/>
                <a:ea typeface="Cambria" pitchFamily="34" charset="-122"/>
                <a:cs typeface="Cambria" pitchFamily="34" charset="-120"/>
              </a:rPr>
              <a:t>4e</a:t>
            </a:r>
            <a:endParaRPr lang="en-US" sz="3400" noProof="0" dirty="0"/>
          </a:p>
        </p:txBody>
      </p:sp>
      <p:sp>
        <p:nvSpPr>
          <p:cNvPr id="22" name="Text 20"/>
          <p:cNvSpPr/>
          <p:nvPr/>
        </p:nvSpPr>
        <p:spPr>
          <a:xfrm>
            <a:off x="8261909" y="4248912"/>
            <a:ext cx="3234842" cy="795528"/>
          </a:xfrm>
          <a:prstGeom prst="rect">
            <a:avLst/>
          </a:prstGeom>
          <a:noFill/>
          <a:ln/>
        </p:spPr>
        <p:txBody>
          <a:bodyPr wrap="square" lIns="0" tIns="0" rIns="0" bIns="0" rtlCol="0" anchor="t"/>
          <a:lstStyle/>
          <a:p>
            <a:pPr marL="0" indent="0">
              <a:buNone/>
            </a:pPr>
            <a:r>
              <a:rPr lang="fr" noProof="0">
                <a:solidFill>
                  <a:srgbClr val="5B7195"/>
                </a:solidFill>
                <a:latin typeface="Calibri" pitchFamily="34" charset="0"/>
                <a:ea typeface="Calibri" pitchFamily="34" charset="-122"/>
                <a:cs typeface="Calibri" pitchFamily="34" charset="-120"/>
              </a:rPr>
              <a:t>4e cancer le plus fréquent au Rwanda, tous sexes confondus, estimations de 2024</a:t>
            </a:r>
            <a:endParaRPr lang="en-US" noProof="0" dirty="0"/>
          </a:p>
        </p:txBody>
      </p:sp>
      <p:sp>
        <p:nvSpPr>
          <p:cNvPr id="23" name="Text 21"/>
          <p:cNvSpPr/>
          <p:nvPr/>
        </p:nvSpPr>
        <p:spPr>
          <a:xfrm>
            <a:off x="548640" y="5602224"/>
            <a:ext cx="11094415" cy="548640"/>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Ce sont des estimations modélisées par l'Observatoire mondial du cancer de l'IARC, GLOBOCAN 2024, et non un décompte complet des cas confirmés par le registre. Le cancer colorectal touche aussi bien les hommes que les femmes.</a:t>
            </a:r>
            <a:endParaRPr lang="en-US" sz="15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Là où se situe le cancer colorectal au Rwanda</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graphicFrame>
        <p:nvGraphicFramePr>
          <p:cNvPr id="5" name="Chart 0" descr="Chart"/>
          <p:cNvGraphicFramePr/>
          <p:nvPr>
            <p:extLst>
              <p:ext uri="{D42A27DB-BD31-4B8C-83A1-F6EECF244321}">
                <p14:modId xmlns:p14="http://schemas.microsoft.com/office/powerpoint/2010/main" val="1253822725"/>
              </p:ext>
            </p:extLst>
          </p:nvPr>
        </p:nvGraphicFramePr>
        <p:xfrm>
          <a:off x="548640" y="1463040"/>
          <a:ext cx="73152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138160" y="1463040"/>
            <a:ext cx="3504895" cy="1920240"/>
          </a:xfrm>
          <a:prstGeom prst="roundRect">
            <a:avLst>
              <a:gd name="adj" fmla="val 4762"/>
            </a:avLst>
          </a:prstGeom>
          <a:solidFill>
            <a:srgbClr val="F3F7FC"/>
          </a:solidFill>
          <a:ln w="15875">
            <a:solidFill>
              <a:srgbClr val="C9DCF2"/>
            </a:solidFill>
            <a:prstDash val="solid"/>
          </a:ln>
        </p:spPr>
        <p:txBody>
          <a:bodyPr/>
          <a:lstStyle/>
          <a:p>
            <a:endParaRPr lang="en-US" noProof="0" dirty="0"/>
          </a:p>
        </p:txBody>
      </p:sp>
      <p:sp>
        <p:nvSpPr>
          <p:cNvPr id="7" name="Text 4"/>
          <p:cNvSpPr/>
          <p:nvPr/>
        </p:nvSpPr>
        <p:spPr>
          <a:xfrm>
            <a:off x="8321040" y="1609344"/>
            <a:ext cx="3139135"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Ce que cela montre</a:t>
            </a:r>
            <a:endParaRPr lang="en-US" sz="1800" noProof="0" dirty="0"/>
          </a:p>
        </p:txBody>
      </p:sp>
      <p:sp>
        <p:nvSpPr>
          <p:cNvPr id="8" name="Text 5"/>
          <p:cNvSpPr/>
          <p:nvPr/>
        </p:nvSpPr>
        <p:spPr>
          <a:xfrm>
            <a:off x="8321040" y="1968703"/>
            <a:ext cx="3139135" cy="1304849"/>
          </a:xfrm>
          <a:prstGeom prst="rect">
            <a:avLst/>
          </a:prstGeom>
          <a:noFill/>
          <a:ln/>
        </p:spPr>
        <p:txBody>
          <a:bodyPr wrap="square" lIns="0" tIns="0" rIns="0" bIns="0" rtlCol="0" anchor="t">
            <a:noAutofit/>
          </a:bodyPr>
          <a:lstStyle/>
          <a:p>
            <a:pPr marL="0" indent="0">
              <a:lnSpc>
                <a:spcPct val="105000"/>
              </a:lnSpc>
              <a:buNone/>
            </a:pPr>
            <a:r>
              <a:rPr lang="fr" sz="1584" noProof="0">
                <a:solidFill>
                  <a:srgbClr val="17325E"/>
                </a:solidFill>
                <a:latin typeface="Calibri" pitchFamily="34" charset="0"/>
                <a:ea typeface="Calibri" pitchFamily="34" charset="-122"/>
                <a:cs typeface="Calibri" pitchFamily="34" charset="-120"/>
              </a:rPr>
              <a:t>Le cancer colorectal est le quatrième cancer le plus fréquent au Rwanda selon les estimations de 2024, juste derrière les trois cancers qui disposent déjà de programmes nationaux.</a:t>
            </a:r>
            <a:endParaRPr lang="en-US" sz="1584" noProof="0" dirty="0"/>
          </a:p>
        </p:txBody>
      </p:sp>
      <p:sp>
        <p:nvSpPr>
          <p:cNvPr id="9" name="Shape 6"/>
          <p:cNvSpPr/>
          <p:nvPr/>
        </p:nvSpPr>
        <p:spPr>
          <a:xfrm>
            <a:off x="8138160" y="3566160"/>
            <a:ext cx="3504895" cy="2011680"/>
          </a:xfrm>
          <a:prstGeom prst="roundRect">
            <a:avLst>
              <a:gd name="adj" fmla="val 4545"/>
            </a:avLst>
          </a:prstGeom>
          <a:solidFill>
            <a:srgbClr val="FFF3DF"/>
          </a:solidFill>
          <a:ln w="15875">
            <a:solidFill>
              <a:srgbClr val="E8CFA4"/>
            </a:solidFill>
            <a:prstDash val="solid"/>
          </a:ln>
        </p:spPr>
        <p:txBody>
          <a:bodyPr/>
          <a:lstStyle/>
          <a:p>
            <a:endParaRPr lang="en-US" noProof="0" dirty="0"/>
          </a:p>
        </p:txBody>
      </p:sp>
      <p:sp>
        <p:nvSpPr>
          <p:cNvPr id="10" name="Text 7"/>
          <p:cNvSpPr/>
          <p:nvPr/>
        </p:nvSpPr>
        <p:spPr>
          <a:xfrm>
            <a:off x="8321040" y="3712464"/>
            <a:ext cx="3139135" cy="359359"/>
          </a:xfrm>
          <a:prstGeom prst="rect">
            <a:avLst/>
          </a:prstGeom>
          <a:noFill/>
          <a:ln/>
        </p:spPr>
        <p:txBody>
          <a:bodyPr wrap="square" lIns="0" tIns="0" rIns="0" bIns="0" rtlCol="0" anchor="t"/>
          <a:lstStyle/>
          <a:p>
            <a:pPr marL="0" indent="0">
              <a:buNone/>
            </a:pPr>
            <a:r>
              <a:rPr lang="fr" sz="1800" b="1" noProof="0">
                <a:solidFill>
                  <a:srgbClr val="9A5B00"/>
                </a:solidFill>
                <a:latin typeface="Calibri" pitchFamily="34" charset="0"/>
                <a:ea typeface="Calibri" pitchFamily="34" charset="-122"/>
                <a:cs typeface="Calibri" pitchFamily="34" charset="-120"/>
              </a:rPr>
              <a:t>Pourquoi cela compte pour vous</a:t>
            </a:r>
            <a:endParaRPr lang="en-US" sz="1800" noProof="0" dirty="0"/>
          </a:p>
        </p:txBody>
      </p:sp>
      <p:sp>
        <p:nvSpPr>
          <p:cNvPr id="11" name="Text 8"/>
          <p:cNvSpPr/>
          <p:nvPr/>
        </p:nvSpPr>
        <p:spPr>
          <a:xfrm>
            <a:off x="8321040" y="4071823"/>
            <a:ext cx="3139135" cy="1396289"/>
          </a:xfrm>
          <a:prstGeom prst="rect">
            <a:avLst/>
          </a:prstGeom>
          <a:noFill/>
          <a:ln/>
        </p:spPr>
        <p:txBody>
          <a:bodyPr wrap="square" lIns="0" tIns="0" rIns="0" bIns="0" rtlCol="0" anchor="t">
            <a:normAutofit fontScale="99000"/>
          </a:bodyPr>
          <a:lstStyle/>
          <a:p>
            <a:pPr marL="0" indent="0">
              <a:lnSpc>
                <a:spcPct val="105000"/>
              </a:lnSpc>
              <a:buNone/>
            </a:pPr>
            <a:r>
              <a:rPr lang="fr" sz="1600" noProof="0">
                <a:solidFill>
                  <a:srgbClr val="17325E"/>
                </a:solidFill>
                <a:latin typeface="Calibri" pitchFamily="34" charset="0"/>
                <a:ea typeface="Calibri" pitchFamily="34" charset="-122"/>
                <a:cs typeface="Calibri" pitchFamily="34" charset="-120"/>
              </a:rPr>
              <a:t>Il n'existe pas de programme national organisé de dépistage du cancer colorectal. La reconnaissance au premier contact est donc la principale voie vers un diagnostic plus précoce.</a:t>
            </a:r>
            <a:endParaRPr lang="en-US" sz="1600" noProof="0" dirty="0"/>
          </a:p>
        </p:txBody>
      </p:sp>
      <p:sp>
        <p:nvSpPr>
          <p:cNvPr id="12" name="Text 9"/>
          <p:cNvSpPr/>
          <p:nvPr/>
        </p:nvSpPr>
        <p:spPr>
          <a:xfrm>
            <a:off x="548640" y="5715000"/>
            <a:ext cx="11094415" cy="274320"/>
          </a:xfrm>
          <a:prstGeom prst="rect">
            <a:avLst/>
          </a:prstGeom>
          <a:noFill/>
          <a:ln/>
        </p:spPr>
        <p:txBody>
          <a:bodyPr wrap="square" rtlCol="0" anchor="ctr"/>
          <a:lstStyle/>
          <a:p>
            <a:pPr marL="0" indent="0">
              <a:buNone/>
            </a:pPr>
            <a:r>
              <a:rPr lang="fr" sz="1200" i="1" noProof="0">
                <a:solidFill>
                  <a:srgbClr val="5B7195"/>
                </a:solidFill>
                <a:latin typeface="Calibri" pitchFamily="34" charset="0"/>
                <a:ea typeface="Calibri" pitchFamily="34" charset="-122"/>
                <a:cs typeface="Calibri" pitchFamily="34" charset="-120"/>
              </a:rPr>
              <a:t>Source : IARC Global Cancer Observatory, estimations GLOBOCAN 2024 pour le Rwanda, les deux sexes, tous âges.</a:t>
            </a:r>
            <a:endParaRPr lang="en-US" sz="12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Le fardeau à venir (projeté de 2022 à 2050)</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12" name="Text 9"/>
          <p:cNvSpPr/>
          <p:nvPr/>
        </p:nvSpPr>
        <p:spPr>
          <a:xfrm>
            <a:off x="548639" y="5918752"/>
            <a:ext cx="11094415" cy="470313"/>
          </a:xfrm>
          <a:prstGeom prst="rect">
            <a:avLst/>
          </a:prstGeom>
          <a:noFill/>
          <a:ln/>
        </p:spPr>
        <p:txBody>
          <a:bodyPr wrap="square" rtlCol="0" anchor="ctr">
            <a:normAutofit fontScale="91500" lnSpcReduction="10000"/>
          </a:bodyPr>
          <a:lstStyle/>
          <a:p>
            <a:pPr marL="0" indent="0">
              <a:buNone/>
            </a:pPr>
            <a:r>
              <a:rPr lang="fr" sz="1400" i="1" noProof="0">
                <a:solidFill>
                  <a:srgbClr val="5B7195"/>
                </a:solidFill>
                <a:latin typeface="Calibri" pitchFamily="34" charset="0"/>
                <a:ea typeface="Calibri" pitchFamily="34" charset="-122"/>
                <a:cs typeface="Calibri" pitchFamily="34" charset="-120"/>
              </a:rPr>
              <a:t>Les projections décrivent ce qui pourrait se produire si les tendances actuelles se poursuivent. Elles ne garantissent pas les résultats. La projection Afrique est calculée à partir des données GLOBOCAN 2022 et est intitulée séparément des estimations GLOBOCAN 2024 utilisées ailleurs dans ce module.</a:t>
            </a:r>
            <a:endParaRPr lang="en-US" sz="1400" noProof="0" dirty="0"/>
          </a:p>
        </p:txBody>
      </p:sp>
      <p:sp>
        <p:nvSpPr>
          <p:cNvPr id="17" name="Shape 2">
            <a:extLst>
              <a:ext uri="{FF2B5EF4-FFF2-40B4-BE49-F238E27FC236}">
                <a16:creationId xmlns:a16="http://schemas.microsoft.com/office/drawing/2014/main" id="{33984A6A-3ED5-3537-C2A0-CE56F260CCA6}"/>
              </a:ext>
            </a:extLst>
          </p:cNvPr>
          <p:cNvSpPr/>
          <p:nvPr/>
        </p:nvSpPr>
        <p:spPr>
          <a:xfrm>
            <a:off x="777240" y="1417491"/>
            <a:ext cx="237744" cy="118872"/>
          </a:xfrm>
          <a:prstGeom prst="rect">
            <a:avLst/>
          </a:prstGeom>
          <a:solidFill>
            <a:srgbClr val="285899"/>
          </a:solidFill>
          <a:ln w="12700">
            <a:solidFill>
              <a:srgbClr val="285899"/>
            </a:solidFill>
            <a:prstDash val="solid"/>
          </a:ln>
        </p:spPr>
        <p:txBody>
          <a:bodyPr/>
          <a:lstStyle/>
          <a:p>
            <a:endParaRPr lang="es-CO">
              <a:solidFill>
                <a:schemeClr val="accent1">
                  <a:lumMod val="50000"/>
                </a:schemeClr>
              </a:solidFill>
              <a:latin typeface="Calibri" panose="020F0502020204030204" pitchFamily="34" charset="0"/>
              <a:cs typeface="Calibri" panose="020F0502020204030204" pitchFamily="34" charset="0"/>
            </a:endParaRPr>
          </a:p>
        </p:txBody>
      </p:sp>
      <p:sp>
        <p:nvSpPr>
          <p:cNvPr id="18" name="Text 3">
            <a:extLst>
              <a:ext uri="{FF2B5EF4-FFF2-40B4-BE49-F238E27FC236}">
                <a16:creationId xmlns:a16="http://schemas.microsoft.com/office/drawing/2014/main" id="{5A092281-B417-3FDC-8FC8-828E6C60B1CF}"/>
              </a:ext>
            </a:extLst>
          </p:cNvPr>
          <p:cNvSpPr/>
          <p:nvPr/>
        </p:nvSpPr>
        <p:spPr>
          <a:xfrm>
            <a:off x="1078992" y="1431639"/>
            <a:ext cx="1344168" cy="118872"/>
          </a:xfrm>
          <a:prstGeom prst="rect">
            <a:avLst/>
          </a:prstGeom>
          <a:noFill/>
          <a:ln/>
        </p:spPr>
        <p:txBody>
          <a:bodyPr wrap="square" lIns="0" tIns="0" rIns="0" bIns="0" rtlCol="0" anchor="ctr">
            <a:no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Niveau 2022</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19" name="Shape 4">
            <a:extLst>
              <a:ext uri="{FF2B5EF4-FFF2-40B4-BE49-F238E27FC236}">
                <a16:creationId xmlns:a16="http://schemas.microsoft.com/office/drawing/2014/main" id="{AFE26D17-3563-3191-5621-31AC8B2A7796}"/>
              </a:ext>
            </a:extLst>
          </p:cNvPr>
          <p:cNvSpPr/>
          <p:nvPr/>
        </p:nvSpPr>
        <p:spPr>
          <a:xfrm>
            <a:off x="3152436" y="1400238"/>
            <a:ext cx="237744" cy="118872"/>
          </a:xfrm>
          <a:prstGeom prst="rect">
            <a:avLst/>
          </a:prstGeom>
          <a:solidFill>
            <a:srgbClr val="A96500"/>
          </a:solidFill>
          <a:ln w="12700">
            <a:solidFill>
              <a:srgbClr val="A96500"/>
            </a:solidFill>
            <a:prstDash val="solid"/>
          </a:ln>
        </p:spPr>
        <p:txBody>
          <a:bodyPr/>
          <a:lstStyle/>
          <a:p>
            <a:endParaRPr lang="es-CO">
              <a:solidFill>
                <a:schemeClr val="accent1">
                  <a:lumMod val="50000"/>
                </a:schemeClr>
              </a:solidFill>
              <a:latin typeface="Calibri" panose="020F0502020204030204" pitchFamily="34" charset="0"/>
              <a:cs typeface="Calibri" panose="020F0502020204030204" pitchFamily="34" charset="0"/>
            </a:endParaRPr>
          </a:p>
        </p:txBody>
      </p:sp>
      <p:sp>
        <p:nvSpPr>
          <p:cNvPr id="20" name="Text 5">
            <a:extLst>
              <a:ext uri="{FF2B5EF4-FFF2-40B4-BE49-F238E27FC236}">
                <a16:creationId xmlns:a16="http://schemas.microsoft.com/office/drawing/2014/main" id="{DB3E9A95-5A6F-95BC-3823-11E52A0CC623}"/>
              </a:ext>
            </a:extLst>
          </p:cNvPr>
          <p:cNvSpPr/>
          <p:nvPr/>
        </p:nvSpPr>
        <p:spPr>
          <a:xfrm>
            <a:off x="3454187" y="1285335"/>
            <a:ext cx="1713481" cy="374904"/>
          </a:xfrm>
          <a:prstGeom prst="rect">
            <a:avLst/>
          </a:prstGeom>
          <a:noFill/>
          <a:ln/>
        </p:spPr>
        <p:txBody>
          <a:bodyPr wrap="square" lIns="0" tIns="0" rIns="0" bIns="0" rtlCol="0" anchor="ctr">
            <a:no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Projection 2050</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21" name="Text 6">
            <a:extLst>
              <a:ext uri="{FF2B5EF4-FFF2-40B4-BE49-F238E27FC236}">
                <a16:creationId xmlns:a16="http://schemas.microsoft.com/office/drawing/2014/main" id="{EFF00472-DFBF-A258-F9B4-3525855CA656}"/>
              </a:ext>
            </a:extLst>
          </p:cNvPr>
          <p:cNvSpPr/>
          <p:nvPr/>
        </p:nvSpPr>
        <p:spPr>
          <a:xfrm>
            <a:off x="777240" y="1990889"/>
            <a:ext cx="1645920" cy="237744"/>
          </a:xfrm>
          <a:prstGeom prst="rect">
            <a:avLst/>
          </a:prstGeom>
          <a:noFill/>
          <a:ln/>
        </p:spPr>
        <p:txBody>
          <a:bodyPr wrap="square" lIns="0" tIns="0" rIns="0" bIns="0" rtlCol="0" anchor="ctr">
            <a:noAutofit/>
          </a:bodyPr>
          <a:lstStyle/>
          <a:p>
            <a:pPr marL="0" indent="0">
              <a:buNone/>
            </a:pPr>
            <a:r>
              <a:rPr lang="fr" sz="1530" b="1">
                <a:solidFill>
                  <a:schemeClr val="accent1">
                    <a:lumMod val="50000"/>
                  </a:schemeClr>
                </a:solidFill>
                <a:latin typeface="Calibri" panose="020F0502020204030204" pitchFamily="34" charset="0"/>
                <a:ea typeface="Aptos" pitchFamily="34" charset="-122"/>
                <a:cs typeface="Calibri" panose="020F0502020204030204" pitchFamily="34" charset="0"/>
              </a:rPr>
              <a:t>Cancer colorectal</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22" name="Text 7">
            <a:extLst>
              <a:ext uri="{FF2B5EF4-FFF2-40B4-BE49-F238E27FC236}">
                <a16:creationId xmlns:a16="http://schemas.microsoft.com/office/drawing/2014/main" id="{1EE644A6-EE83-7960-EA39-C590BEC9D032}"/>
              </a:ext>
            </a:extLst>
          </p:cNvPr>
          <p:cNvSpPr/>
          <p:nvPr/>
        </p:nvSpPr>
        <p:spPr>
          <a:xfrm>
            <a:off x="777240" y="2274353"/>
            <a:ext cx="1645920" cy="210312"/>
          </a:xfrm>
          <a:prstGeom prst="rect">
            <a:avLst/>
          </a:prstGeom>
          <a:noFill/>
          <a:ln/>
        </p:spPr>
        <p:txBody>
          <a:bodyPr wrap="square" lIns="0" tIns="0" rIns="0" bIns="0" rtlCol="0" anchor="ctr">
            <a:no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Cas en Afrique</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23" name="Shape 8">
            <a:extLst>
              <a:ext uri="{FF2B5EF4-FFF2-40B4-BE49-F238E27FC236}">
                <a16:creationId xmlns:a16="http://schemas.microsoft.com/office/drawing/2014/main" id="{0DC2F9D1-AA73-B508-B34B-2B1152EC8BE1}"/>
              </a:ext>
            </a:extLst>
          </p:cNvPr>
          <p:cNvSpPr/>
          <p:nvPr/>
        </p:nvSpPr>
        <p:spPr>
          <a:xfrm>
            <a:off x="2606040" y="1980279"/>
            <a:ext cx="868680" cy="256032"/>
          </a:xfrm>
          <a:prstGeom prst="rect">
            <a:avLst/>
          </a:prstGeom>
          <a:solidFill>
            <a:srgbClr val="285899"/>
          </a:solidFill>
          <a:ln w="12700">
            <a:solidFill>
              <a:srgbClr val="285899"/>
            </a:solidFill>
            <a:prstDash val="solid"/>
          </a:ln>
        </p:spPr>
        <p:txBody>
          <a:bodyPr/>
          <a:lstStyle/>
          <a:p>
            <a:endParaRPr lang="es-CO">
              <a:solidFill>
                <a:schemeClr val="accent1">
                  <a:lumMod val="50000"/>
                </a:schemeClr>
              </a:solidFill>
              <a:latin typeface="Calibri" panose="020F0502020204030204" pitchFamily="34" charset="0"/>
              <a:cs typeface="Calibri" panose="020F0502020204030204" pitchFamily="34" charset="0"/>
            </a:endParaRPr>
          </a:p>
        </p:txBody>
      </p:sp>
      <p:sp>
        <p:nvSpPr>
          <p:cNvPr id="24" name="Text 9">
            <a:extLst>
              <a:ext uri="{FF2B5EF4-FFF2-40B4-BE49-F238E27FC236}">
                <a16:creationId xmlns:a16="http://schemas.microsoft.com/office/drawing/2014/main" id="{2FCEB1D1-F396-7785-9178-F938F36E9AEF}"/>
              </a:ext>
            </a:extLst>
          </p:cNvPr>
          <p:cNvSpPr/>
          <p:nvPr/>
        </p:nvSpPr>
        <p:spPr>
          <a:xfrm>
            <a:off x="3639312" y="1943703"/>
            <a:ext cx="411480" cy="292608"/>
          </a:xfrm>
          <a:prstGeom prst="rect">
            <a:avLst/>
          </a:prstGeom>
          <a:noFill/>
          <a:ln/>
        </p:spPr>
        <p:txBody>
          <a:bodyPr wrap="square" lIns="0" tIns="0" rIns="0" bIns="0" rtlCol="0" anchor="ctr">
            <a:norm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1×</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25" name="Shape 10">
            <a:extLst>
              <a:ext uri="{FF2B5EF4-FFF2-40B4-BE49-F238E27FC236}">
                <a16:creationId xmlns:a16="http://schemas.microsoft.com/office/drawing/2014/main" id="{9F088621-E50E-ED9E-DF68-4E604B64CF32}"/>
              </a:ext>
            </a:extLst>
          </p:cNvPr>
          <p:cNvSpPr/>
          <p:nvPr/>
        </p:nvSpPr>
        <p:spPr>
          <a:xfrm>
            <a:off x="2606040" y="2437479"/>
            <a:ext cx="2171700" cy="365760"/>
          </a:xfrm>
          <a:prstGeom prst="rect">
            <a:avLst/>
          </a:prstGeom>
          <a:solidFill>
            <a:srgbClr val="A96500"/>
          </a:solidFill>
          <a:ln w="12700">
            <a:solidFill>
              <a:srgbClr val="A96500"/>
            </a:solidFill>
            <a:prstDash val="solid"/>
          </a:ln>
        </p:spPr>
        <p:txBody>
          <a:bodyPr/>
          <a:lstStyle/>
          <a:p>
            <a:endParaRPr lang="es-CO">
              <a:solidFill>
                <a:schemeClr val="accent1">
                  <a:lumMod val="50000"/>
                </a:schemeClr>
              </a:solidFill>
              <a:latin typeface="Calibri" panose="020F0502020204030204" pitchFamily="34" charset="0"/>
              <a:cs typeface="Calibri" panose="020F0502020204030204" pitchFamily="34" charset="0"/>
            </a:endParaRPr>
          </a:p>
        </p:txBody>
      </p:sp>
      <p:sp>
        <p:nvSpPr>
          <p:cNvPr id="26" name="Text 11">
            <a:extLst>
              <a:ext uri="{FF2B5EF4-FFF2-40B4-BE49-F238E27FC236}">
                <a16:creationId xmlns:a16="http://schemas.microsoft.com/office/drawing/2014/main" id="{E467DA21-E720-66FC-5FC5-CCB02E98A9A7}"/>
              </a:ext>
            </a:extLst>
          </p:cNvPr>
          <p:cNvSpPr/>
          <p:nvPr/>
        </p:nvSpPr>
        <p:spPr>
          <a:xfrm>
            <a:off x="4960620" y="2391759"/>
            <a:ext cx="822960" cy="310896"/>
          </a:xfrm>
          <a:prstGeom prst="rect">
            <a:avLst/>
          </a:prstGeom>
          <a:noFill/>
          <a:ln/>
        </p:spPr>
        <p:txBody>
          <a:bodyPr wrap="square" lIns="0" tIns="0" rIns="0" bIns="0" rtlCol="0" anchor="ctr">
            <a:normAutofit/>
          </a:bodyPr>
          <a:lstStyle/>
          <a:p>
            <a:pPr marL="0" indent="0">
              <a:buNone/>
            </a:pPr>
            <a:r>
              <a:rPr lang="fr" b="1">
                <a:solidFill>
                  <a:schemeClr val="accent1">
                    <a:lumMod val="50000"/>
                  </a:schemeClr>
                </a:solidFill>
                <a:latin typeface="Calibri" panose="020F0502020204030204" pitchFamily="34" charset="0"/>
                <a:ea typeface="Aptos" pitchFamily="34" charset="-122"/>
                <a:cs typeface="Calibri" panose="020F0502020204030204" pitchFamily="34" charset="0"/>
              </a:rPr>
              <a:t>≈2,5×</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27" name="Text 12">
            <a:extLst>
              <a:ext uri="{FF2B5EF4-FFF2-40B4-BE49-F238E27FC236}">
                <a16:creationId xmlns:a16="http://schemas.microsoft.com/office/drawing/2014/main" id="{8FAB64E8-F504-5045-50A4-F7E45FA65537}"/>
              </a:ext>
            </a:extLst>
          </p:cNvPr>
          <p:cNvSpPr/>
          <p:nvPr/>
        </p:nvSpPr>
        <p:spPr>
          <a:xfrm>
            <a:off x="4960619" y="2730087"/>
            <a:ext cx="1868775" cy="182880"/>
          </a:xfrm>
          <a:prstGeom prst="rect">
            <a:avLst/>
          </a:prstGeom>
          <a:noFill/>
          <a:ln/>
        </p:spPr>
        <p:txBody>
          <a:bodyPr wrap="square" lIns="0" tIns="0" rIns="0" bIns="0" rtlCol="0" anchor="ctr">
            <a:no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plus du double</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28" name="Text 13">
            <a:extLst>
              <a:ext uri="{FF2B5EF4-FFF2-40B4-BE49-F238E27FC236}">
                <a16:creationId xmlns:a16="http://schemas.microsoft.com/office/drawing/2014/main" id="{5AA4D736-320E-0FB2-DF6C-34CD8C20573E}"/>
              </a:ext>
            </a:extLst>
          </p:cNvPr>
          <p:cNvSpPr/>
          <p:nvPr/>
        </p:nvSpPr>
        <p:spPr>
          <a:xfrm>
            <a:off x="777240" y="3315905"/>
            <a:ext cx="1645920" cy="237744"/>
          </a:xfrm>
          <a:prstGeom prst="rect">
            <a:avLst/>
          </a:prstGeom>
          <a:noFill/>
          <a:ln/>
        </p:spPr>
        <p:txBody>
          <a:bodyPr wrap="square" lIns="0" tIns="0" rIns="0" bIns="0" rtlCol="0" anchor="ctr">
            <a:noAutofit/>
          </a:bodyPr>
          <a:lstStyle/>
          <a:p>
            <a:pPr marL="0" indent="0">
              <a:buNone/>
            </a:pPr>
            <a:r>
              <a:rPr lang="fr" sz="1530" b="1">
                <a:solidFill>
                  <a:schemeClr val="accent1">
                    <a:lumMod val="50000"/>
                  </a:schemeClr>
                </a:solidFill>
                <a:latin typeface="Calibri" panose="020F0502020204030204" pitchFamily="34" charset="0"/>
                <a:ea typeface="Aptos" pitchFamily="34" charset="-122"/>
                <a:cs typeface="Calibri" panose="020F0502020204030204" pitchFamily="34" charset="0"/>
              </a:rPr>
              <a:t>Cancer colorectal</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29" name="Text 14">
            <a:extLst>
              <a:ext uri="{FF2B5EF4-FFF2-40B4-BE49-F238E27FC236}">
                <a16:creationId xmlns:a16="http://schemas.microsoft.com/office/drawing/2014/main" id="{CD04808D-3EBE-0FF4-5AA9-5CD2405A8987}"/>
              </a:ext>
            </a:extLst>
          </p:cNvPr>
          <p:cNvSpPr/>
          <p:nvPr/>
        </p:nvSpPr>
        <p:spPr>
          <a:xfrm>
            <a:off x="777240" y="3599369"/>
            <a:ext cx="1645920" cy="210312"/>
          </a:xfrm>
          <a:prstGeom prst="rect">
            <a:avLst/>
          </a:prstGeom>
          <a:noFill/>
          <a:ln/>
        </p:spPr>
        <p:txBody>
          <a:bodyPr wrap="square" lIns="0" tIns="0" rIns="0" bIns="0" rtlCol="0" anchor="ctr">
            <a:no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Décès en Afrique</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30" name="Shape 15">
            <a:extLst>
              <a:ext uri="{FF2B5EF4-FFF2-40B4-BE49-F238E27FC236}">
                <a16:creationId xmlns:a16="http://schemas.microsoft.com/office/drawing/2014/main" id="{AEE4A414-A614-E3CF-E5F5-D762952B21EC}"/>
              </a:ext>
            </a:extLst>
          </p:cNvPr>
          <p:cNvSpPr/>
          <p:nvPr/>
        </p:nvSpPr>
        <p:spPr>
          <a:xfrm>
            <a:off x="2606040" y="3305295"/>
            <a:ext cx="868680" cy="256032"/>
          </a:xfrm>
          <a:prstGeom prst="rect">
            <a:avLst/>
          </a:prstGeom>
          <a:solidFill>
            <a:srgbClr val="285899"/>
          </a:solidFill>
          <a:ln w="12700">
            <a:solidFill>
              <a:srgbClr val="285899"/>
            </a:solidFill>
            <a:prstDash val="solid"/>
          </a:ln>
        </p:spPr>
        <p:txBody>
          <a:bodyPr/>
          <a:lstStyle/>
          <a:p>
            <a:endParaRPr lang="es-CO">
              <a:solidFill>
                <a:schemeClr val="accent1">
                  <a:lumMod val="50000"/>
                </a:schemeClr>
              </a:solidFill>
              <a:latin typeface="Calibri" panose="020F0502020204030204" pitchFamily="34" charset="0"/>
              <a:cs typeface="Calibri" panose="020F0502020204030204" pitchFamily="34" charset="0"/>
            </a:endParaRPr>
          </a:p>
        </p:txBody>
      </p:sp>
      <p:sp>
        <p:nvSpPr>
          <p:cNvPr id="31" name="Text 16">
            <a:extLst>
              <a:ext uri="{FF2B5EF4-FFF2-40B4-BE49-F238E27FC236}">
                <a16:creationId xmlns:a16="http://schemas.microsoft.com/office/drawing/2014/main" id="{38361734-5F2E-52CA-9532-FCFC78FBE8B8}"/>
              </a:ext>
            </a:extLst>
          </p:cNvPr>
          <p:cNvSpPr/>
          <p:nvPr/>
        </p:nvSpPr>
        <p:spPr>
          <a:xfrm>
            <a:off x="3639312" y="3268719"/>
            <a:ext cx="411480" cy="292608"/>
          </a:xfrm>
          <a:prstGeom prst="rect">
            <a:avLst/>
          </a:prstGeom>
          <a:noFill/>
          <a:ln/>
        </p:spPr>
        <p:txBody>
          <a:bodyPr wrap="square" lIns="0" tIns="0" rIns="0" bIns="0" rtlCol="0" anchor="ctr">
            <a:norm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1×</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32" name="Shape 17">
            <a:extLst>
              <a:ext uri="{FF2B5EF4-FFF2-40B4-BE49-F238E27FC236}">
                <a16:creationId xmlns:a16="http://schemas.microsoft.com/office/drawing/2014/main" id="{9F40A7AC-12DD-F832-442E-4E476B091F7E}"/>
              </a:ext>
            </a:extLst>
          </p:cNvPr>
          <p:cNvSpPr/>
          <p:nvPr/>
        </p:nvSpPr>
        <p:spPr>
          <a:xfrm>
            <a:off x="2606040" y="3762495"/>
            <a:ext cx="2171700" cy="365760"/>
          </a:xfrm>
          <a:prstGeom prst="rect">
            <a:avLst/>
          </a:prstGeom>
          <a:solidFill>
            <a:srgbClr val="A96500"/>
          </a:solidFill>
          <a:ln w="12700">
            <a:solidFill>
              <a:srgbClr val="A96500"/>
            </a:solidFill>
            <a:prstDash val="solid"/>
          </a:ln>
        </p:spPr>
        <p:txBody>
          <a:bodyPr/>
          <a:lstStyle/>
          <a:p>
            <a:endParaRPr lang="es-CO">
              <a:solidFill>
                <a:schemeClr val="accent1">
                  <a:lumMod val="50000"/>
                </a:schemeClr>
              </a:solidFill>
              <a:latin typeface="Calibri" panose="020F0502020204030204" pitchFamily="34" charset="0"/>
              <a:cs typeface="Calibri" panose="020F0502020204030204" pitchFamily="34" charset="0"/>
            </a:endParaRPr>
          </a:p>
        </p:txBody>
      </p:sp>
      <p:sp>
        <p:nvSpPr>
          <p:cNvPr id="33" name="Text 18">
            <a:extLst>
              <a:ext uri="{FF2B5EF4-FFF2-40B4-BE49-F238E27FC236}">
                <a16:creationId xmlns:a16="http://schemas.microsoft.com/office/drawing/2014/main" id="{98748D5C-554B-5305-C42B-853DD9F6EB14}"/>
              </a:ext>
            </a:extLst>
          </p:cNvPr>
          <p:cNvSpPr/>
          <p:nvPr/>
        </p:nvSpPr>
        <p:spPr>
          <a:xfrm>
            <a:off x="4960620" y="3716775"/>
            <a:ext cx="822960" cy="310896"/>
          </a:xfrm>
          <a:prstGeom prst="rect">
            <a:avLst/>
          </a:prstGeom>
          <a:noFill/>
          <a:ln/>
        </p:spPr>
        <p:txBody>
          <a:bodyPr wrap="square" lIns="0" tIns="0" rIns="0" bIns="0" rtlCol="0" anchor="ctr">
            <a:normAutofit/>
          </a:bodyPr>
          <a:lstStyle/>
          <a:p>
            <a:pPr marL="0" indent="0">
              <a:buNone/>
            </a:pPr>
            <a:r>
              <a:rPr lang="fr" b="1">
                <a:solidFill>
                  <a:schemeClr val="accent1">
                    <a:lumMod val="50000"/>
                  </a:schemeClr>
                </a:solidFill>
                <a:latin typeface="Calibri" panose="020F0502020204030204" pitchFamily="34" charset="0"/>
                <a:ea typeface="Aptos" pitchFamily="34" charset="-122"/>
                <a:cs typeface="Calibri" panose="020F0502020204030204" pitchFamily="34" charset="0"/>
              </a:rPr>
              <a:t>≈2,5×</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34" name="Text 19">
            <a:extLst>
              <a:ext uri="{FF2B5EF4-FFF2-40B4-BE49-F238E27FC236}">
                <a16:creationId xmlns:a16="http://schemas.microsoft.com/office/drawing/2014/main" id="{CD6437BC-4CD5-3C4B-4B62-15EE97B494C7}"/>
              </a:ext>
            </a:extLst>
          </p:cNvPr>
          <p:cNvSpPr/>
          <p:nvPr/>
        </p:nvSpPr>
        <p:spPr>
          <a:xfrm>
            <a:off x="4960619" y="4082535"/>
            <a:ext cx="1828815" cy="228600"/>
          </a:xfrm>
          <a:prstGeom prst="rect">
            <a:avLst/>
          </a:prstGeom>
          <a:noFill/>
          <a:ln/>
        </p:spPr>
        <p:txBody>
          <a:bodyPr wrap="square" lIns="0" tIns="0" rIns="0" bIns="0" rtlCol="0" anchor="ctr">
            <a:no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plus du double</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35" name="Text 20">
            <a:extLst>
              <a:ext uri="{FF2B5EF4-FFF2-40B4-BE49-F238E27FC236}">
                <a16:creationId xmlns:a16="http://schemas.microsoft.com/office/drawing/2014/main" id="{580E7537-EC30-428E-B03C-76285BA4AC77}"/>
              </a:ext>
            </a:extLst>
          </p:cNvPr>
          <p:cNvSpPr/>
          <p:nvPr/>
        </p:nvSpPr>
        <p:spPr>
          <a:xfrm>
            <a:off x="777240" y="4658174"/>
            <a:ext cx="1645920" cy="237744"/>
          </a:xfrm>
          <a:prstGeom prst="rect">
            <a:avLst/>
          </a:prstGeom>
          <a:noFill/>
          <a:ln/>
        </p:spPr>
        <p:txBody>
          <a:bodyPr wrap="square" lIns="0" tIns="0" rIns="0" bIns="0" rtlCol="0" anchor="ctr">
            <a:noAutofit/>
          </a:bodyPr>
          <a:lstStyle/>
          <a:p>
            <a:pPr marL="0" indent="0">
              <a:buNone/>
            </a:pPr>
            <a:r>
              <a:rPr lang="fr" sz="1530" b="1">
                <a:solidFill>
                  <a:schemeClr val="accent1">
                    <a:lumMod val="50000"/>
                  </a:schemeClr>
                </a:solidFill>
                <a:latin typeface="Calibri" panose="020F0502020204030204" pitchFamily="34" charset="0"/>
                <a:ea typeface="Aptos" pitchFamily="34" charset="-122"/>
                <a:cs typeface="Calibri" panose="020F0502020204030204" pitchFamily="34" charset="0"/>
              </a:rPr>
              <a:t>Tous les cancers</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36" name="Text 21">
            <a:extLst>
              <a:ext uri="{FF2B5EF4-FFF2-40B4-BE49-F238E27FC236}">
                <a16:creationId xmlns:a16="http://schemas.microsoft.com/office/drawing/2014/main" id="{3AE9FB9A-B031-4AC7-E047-C472FB456B48}"/>
              </a:ext>
            </a:extLst>
          </p:cNvPr>
          <p:cNvSpPr/>
          <p:nvPr/>
        </p:nvSpPr>
        <p:spPr>
          <a:xfrm>
            <a:off x="777240" y="4941638"/>
            <a:ext cx="1645920" cy="210312"/>
          </a:xfrm>
          <a:prstGeom prst="rect">
            <a:avLst/>
          </a:prstGeom>
          <a:noFill/>
          <a:ln/>
        </p:spPr>
        <p:txBody>
          <a:bodyPr wrap="square" lIns="0" tIns="0" rIns="0" bIns="0" rtlCol="0" anchor="ctr">
            <a:no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au Rwanda</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37" name="Shape 22">
            <a:extLst>
              <a:ext uri="{FF2B5EF4-FFF2-40B4-BE49-F238E27FC236}">
                <a16:creationId xmlns:a16="http://schemas.microsoft.com/office/drawing/2014/main" id="{ED610FF0-8499-4358-704F-47891077A9D9}"/>
              </a:ext>
            </a:extLst>
          </p:cNvPr>
          <p:cNvSpPr/>
          <p:nvPr/>
        </p:nvSpPr>
        <p:spPr>
          <a:xfrm>
            <a:off x="2606040" y="4647564"/>
            <a:ext cx="868680" cy="256032"/>
          </a:xfrm>
          <a:prstGeom prst="rect">
            <a:avLst/>
          </a:prstGeom>
          <a:solidFill>
            <a:srgbClr val="285899"/>
          </a:solidFill>
          <a:ln w="12700">
            <a:solidFill>
              <a:srgbClr val="285899"/>
            </a:solidFill>
            <a:prstDash val="solid"/>
          </a:ln>
        </p:spPr>
        <p:txBody>
          <a:bodyPr/>
          <a:lstStyle/>
          <a:p>
            <a:endParaRPr lang="es-CO">
              <a:solidFill>
                <a:schemeClr val="accent1">
                  <a:lumMod val="50000"/>
                </a:schemeClr>
              </a:solidFill>
              <a:latin typeface="Calibri" panose="020F0502020204030204" pitchFamily="34" charset="0"/>
              <a:cs typeface="Calibri" panose="020F0502020204030204" pitchFamily="34" charset="0"/>
            </a:endParaRPr>
          </a:p>
        </p:txBody>
      </p:sp>
      <p:sp>
        <p:nvSpPr>
          <p:cNvPr id="38" name="Text 23">
            <a:extLst>
              <a:ext uri="{FF2B5EF4-FFF2-40B4-BE49-F238E27FC236}">
                <a16:creationId xmlns:a16="http://schemas.microsoft.com/office/drawing/2014/main" id="{4022E455-DB6F-45C3-908C-1DB3C8A4FB49}"/>
              </a:ext>
            </a:extLst>
          </p:cNvPr>
          <p:cNvSpPr/>
          <p:nvPr/>
        </p:nvSpPr>
        <p:spPr>
          <a:xfrm>
            <a:off x="3639312" y="4610988"/>
            <a:ext cx="411480" cy="292608"/>
          </a:xfrm>
          <a:prstGeom prst="rect">
            <a:avLst/>
          </a:prstGeom>
          <a:noFill/>
          <a:ln/>
        </p:spPr>
        <p:txBody>
          <a:bodyPr wrap="square" lIns="0" tIns="0" rIns="0" bIns="0" rtlCol="0" anchor="ctr">
            <a:norm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1×</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39" name="Shape 24">
            <a:extLst>
              <a:ext uri="{FF2B5EF4-FFF2-40B4-BE49-F238E27FC236}">
                <a16:creationId xmlns:a16="http://schemas.microsoft.com/office/drawing/2014/main" id="{6459686B-7134-D5CC-E2BC-8E136274E4C5}"/>
              </a:ext>
            </a:extLst>
          </p:cNvPr>
          <p:cNvSpPr/>
          <p:nvPr/>
        </p:nvSpPr>
        <p:spPr>
          <a:xfrm>
            <a:off x="2606040" y="5104764"/>
            <a:ext cx="2171700" cy="365760"/>
          </a:xfrm>
          <a:prstGeom prst="rect">
            <a:avLst/>
          </a:prstGeom>
          <a:solidFill>
            <a:srgbClr val="A96500"/>
          </a:solidFill>
          <a:ln w="12700">
            <a:solidFill>
              <a:srgbClr val="A96500"/>
            </a:solidFill>
            <a:prstDash val="solid"/>
          </a:ln>
        </p:spPr>
        <p:txBody>
          <a:bodyPr/>
          <a:lstStyle/>
          <a:p>
            <a:endParaRPr lang="es-CO">
              <a:solidFill>
                <a:schemeClr val="accent1">
                  <a:lumMod val="50000"/>
                </a:schemeClr>
              </a:solidFill>
              <a:latin typeface="Calibri" panose="020F0502020204030204" pitchFamily="34" charset="0"/>
              <a:cs typeface="Calibri" panose="020F0502020204030204" pitchFamily="34" charset="0"/>
            </a:endParaRPr>
          </a:p>
        </p:txBody>
      </p:sp>
      <p:sp>
        <p:nvSpPr>
          <p:cNvPr id="40" name="Text 25">
            <a:extLst>
              <a:ext uri="{FF2B5EF4-FFF2-40B4-BE49-F238E27FC236}">
                <a16:creationId xmlns:a16="http://schemas.microsoft.com/office/drawing/2014/main" id="{326A961A-7A59-481D-F914-F8481511653A}"/>
              </a:ext>
            </a:extLst>
          </p:cNvPr>
          <p:cNvSpPr/>
          <p:nvPr/>
        </p:nvSpPr>
        <p:spPr>
          <a:xfrm>
            <a:off x="4960620" y="5059044"/>
            <a:ext cx="822960" cy="310896"/>
          </a:xfrm>
          <a:prstGeom prst="rect">
            <a:avLst/>
          </a:prstGeom>
          <a:noFill/>
          <a:ln/>
        </p:spPr>
        <p:txBody>
          <a:bodyPr wrap="square" lIns="0" tIns="0" rIns="0" bIns="0" rtlCol="0" anchor="ctr">
            <a:normAutofit/>
          </a:bodyPr>
          <a:lstStyle/>
          <a:p>
            <a:pPr marL="0" indent="0">
              <a:buNone/>
            </a:pPr>
            <a:r>
              <a:rPr lang="fr" b="1">
                <a:solidFill>
                  <a:schemeClr val="accent1">
                    <a:lumMod val="50000"/>
                  </a:schemeClr>
                </a:solidFill>
                <a:latin typeface="Calibri" panose="020F0502020204030204" pitchFamily="34" charset="0"/>
                <a:ea typeface="Aptos" pitchFamily="34" charset="-122"/>
                <a:cs typeface="Calibri" panose="020F0502020204030204" pitchFamily="34" charset="0"/>
              </a:rPr>
              <a:t>≈2,5×</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41" name="Text 26">
            <a:extLst>
              <a:ext uri="{FF2B5EF4-FFF2-40B4-BE49-F238E27FC236}">
                <a16:creationId xmlns:a16="http://schemas.microsoft.com/office/drawing/2014/main" id="{EF18F405-81C0-4D33-7C09-4B72298003BB}"/>
              </a:ext>
            </a:extLst>
          </p:cNvPr>
          <p:cNvSpPr/>
          <p:nvPr/>
        </p:nvSpPr>
        <p:spPr>
          <a:xfrm>
            <a:off x="4960619" y="5424804"/>
            <a:ext cx="1788855" cy="228600"/>
          </a:xfrm>
          <a:prstGeom prst="rect">
            <a:avLst/>
          </a:prstGeom>
          <a:noFill/>
          <a:ln/>
        </p:spPr>
        <p:txBody>
          <a:bodyPr wrap="square" lIns="0" tIns="0" rIns="0" bIns="0" rtlCol="0" anchor="ctr">
            <a:noAutofit/>
          </a:bodyPr>
          <a:lstStyle/>
          <a:p>
            <a:pPr marL="0" indent="0">
              <a:buNone/>
            </a:pPr>
            <a:r>
              <a:rPr lang="fr">
                <a:solidFill>
                  <a:schemeClr val="accent1">
                    <a:lumMod val="50000"/>
                  </a:schemeClr>
                </a:solidFill>
                <a:latin typeface="Calibri" panose="020F0502020204030204" pitchFamily="34" charset="0"/>
                <a:ea typeface="Aptos" pitchFamily="34" charset="-122"/>
                <a:cs typeface="Calibri" panose="020F0502020204030204" pitchFamily="34" charset="0"/>
              </a:rPr>
              <a:t>plus du double</a:t>
            </a:r>
            <a:endParaRPr lang="en-US" dirty="0">
              <a:solidFill>
                <a:schemeClr val="accent1">
                  <a:lumMod val="50000"/>
                </a:schemeClr>
              </a:solidFill>
              <a:latin typeface="Calibri" panose="020F0502020204030204" pitchFamily="34" charset="0"/>
              <a:cs typeface="Calibri" panose="020F0502020204030204" pitchFamily="34" charset="0"/>
            </a:endParaRPr>
          </a:p>
        </p:txBody>
      </p:sp>
      <p:sp>
        <p:nvSpPr>
          <p:cNvPr id="42" name="Shape 27">
            <a:extLst>
              <a:ext uri="{FF2B5EF4-FFF2-40B4-BE49-F238E27FC236}">
                <a16:creationId xmlns:a16="http://schemas.microsoft.com/office/drawing/2014/main" id="{8F91EC10-0165-831C-B664-943A5E5AD2B1}"/>
              </a:ext>
            </a:extLst>
          </p:cNvPr>
          <p:cNvSpPr/>
          <p:nvPr/>
        </p:nvSpPr>
        <p:spPr>
          <a:xfrm>
            <a:off x="7414263" y="1293273"/>
            <a:ext cx="0" cy="4253166"/>
          </a:xfrm>
          <a:prstGeom prst="line">
            <a:avLst/>
          </a:prstGeom>
          <a:noFill/>
          <a:ln w="13970">
            <a:solidFill>
              <a:srgbClr val="27364A">
                <a:alpha val="90000"/>
              </a:srgbClr>
            </a:solidFill>
            <a:prstDash val="solid"/>
          </a:ln>
        </p:spPr>
        <p:txBody>
          <a:bodyPr/>
          <a:lstStyle/>
          <a:p>
            <a:endParaRPr lang="es-CO"/>
          </a:p>
        </p:txBody>
      </p:sp>
      <p:sp>
        <p:nvSpPr>
          <p:cNvPr id="45" name="Text 30">
            <a:extLst>
              <a:ext uri="{FF2B5EF4-FFF2-40B4-BE49-F238E27FC236}">
                <a16:creationId xmlns:a16="http://schemas.microsoft.com/office/drawing/2014/main" id="{C7A934AA-7305-FD63-A4D0-E3A75327F010}"/>
              </a:ext>
            </a:extLst>
          </p:cNvPr>
          <p:cNvSpPr/>
          <p:nvPr/>
        </p:nvSpPr>
        <p:spPr>
          <a:xfrm>
            <a:off x="7726680" y="1774108"/>
            <a:ext cx="3611880" cy="3118535"/>
          </a:xfrm>
          <a:prstGeom prst="rect">
            <a:avLst/>
          </a:prstGeom>
          <a:noFill/>
          <a:ln/>
        </p:spPr>
        <p:txBody>
          <a:bodyPr wrap="square" lIns="0" tIns="0" rIns="0" bIns="0" rtlCol="0" anchor="ctr">
            <a:normAutofit/>
          </a:bodyPr>
          <a:lstStyle/>
          <a:p>
            <a:pPr marL="0" indent="0">
              <a:buNone/>
            </a:pPr>
            <a:r>
              <a:rPr lang="fr" sz="2400">
                <a:solidFill>
                  <a:schemeClr val="accent1">
                    <a:lumMod val="50000"/>
                  </a:schemeClr>
                </a:solidFill>
                <a:latin typeface="Calibri" panose="020F0502020204030204" pitchFamily="34" charset="0"/>
                <a:ea typeface="Aptos" pitchFamily="34" charset="-122"/>
                <a:cs typeface="Calibri" panose="020F0502020204030204" pitchFamily="34" charset="0"/>
              </a:rPr>
              <a:t>D’ici 2050, les cas et les décès devraient atteindre environ</a:t>
            </a:r>
          </a:p>
          <a:p>
            <a:pPr marL="0" indent="0">
              <a:buNone/>
            </a:pPr>
            <a:endParaRPr lang="en-US" sz="2400" dirty="0">
              <a:solidFill>
                <a:schemeClr val="accent1">
                  <a:lumMod val="50000"/>
                </a:schemeClr>
              </a:solidFill>
              <a:latin typeface="Calibri" panose="020F0502020204030204" pitchFamily="34" charset="0"/>
              <a:ea typeface="Aptos" pitchFamily="34" charset="-122"/>
              <a:cs typeface="Calibri" panose="020F0502020204030204" pitchFamily="34" charset="0"/>
            </a:endParaRPr>
          </a:p>
          <a:p>
            <a:pPr marL="0" indent="0">
              <a:buNone/>
            </a:pPr>
            <a:endParaRPr lang="en-US" sz="2400" dirty="0">
              <a:solidFill>
                <a:schemeClr val="accent1">
                  <a:lumMod val="50000"/>
                </a:schemeClr>
              </a:solidFill>
              <a:latin typeface="Calibri" panose="020F0502020204030204" pitchFamily="34" charset="0"/>
              <a:ea typeface="Aptos" pitchFamily="34" charset="-122"/>
              <a:cs typeface="Calibri" panose="020F0502020204030204" pitchFamily="34" charset="0"/>
            </a:endParaRPr>
          </a:p>
          <a:p>
            <a:pPr marL="0" indent="0">
              <a:buNone/>
            </a:pPr>
            <a:endParaRPr lang="en-US" sz="2400" dirty="0">
              <a:solidFill>
                <a:schemeClr val="accent1">
                  <a:lumMod val="50000"/>
                </a:schemeClr>
              </a:solidFill>
              <a:latin typeface="Calibri" panose="020F0502020204030204" pitchFamily="34" charset="0"/>
              <a:ea typeface="Aptos" pitchFamily="34" charset="-122"/>
              <a:cs typeface="Calibri" panose="020F0502020204030204" pitchFamily="34" charset="0"/>
            </a:endParaRPr>
          </a:p>
          <a:p>
            <a:pPr marL="0" indent="0">
              <a:buNone/>
            </a:pPr>
            <a:r>
              <a:rPr lang="fr" sz="2400" b="1">
                <a:solidFill>
                  <a:schemeClr val="accent1">
                    <a:lumMod val="50000"/>
                  </a:schemeClr>
                </a:solidFill>
                <a:latin typeface="Calibri" panose="020F0502020204030204" pitchFamily="34" charset="0"/>
                <a:ea typeface="Aptos" pitchFamily="34" charset="-122"/>
                <a:cs typeface="Calibri" panose="020F0502020204030204" pitchFamily="34" charset="0"/>
              </a:rPr>
              <a:t>fois les niveaux de 2022 en Afrique et au Rwanda.</a:t>
            </a:r>
            <a:endParaRPr lang="en-US" sz="2400" dirty="0">
              <a:solidFill>
                <a:schemeClr val="accent1">
                  <a:lumMod val="50000"/>
                </a:schemeClr>
              </a:solidFill>
              <a:latin typeface="Calibri" panose="020F0502020204030204" pitchFamily="34" charset="0"/>
              <a:cs typeface="Calibri" panose="020F0502020204030204" pitchFamily="34" charset="0"/>
            </a:endParaRPr>
          </a:p>
        </p:txBody>
      </p:sp>
      <p:sp>
        <p:nvSpPr>
          <p:cNvPr id="47" name="Text 32">
            <a:extLst>
              <a:ext uri="{FF2B5EF4-FFF2-40B4-BE49-F238E27FC236}">
                <a16:creationId xmlns:a16="http://schemas.microsoft.com/office/drawing/2014/main" id="{126E98CF-7961-C8F8-F870-1D515E62CEF8}"/>
              </a:ext>
            </a:extLst>
          </p:cNvPr>
          <p:cNvSpPr/>
          <p:nvPr/>
        </p:nvSpPr>
        <p:spPr>
          <a:xfrm>
            <a:off x="8141211" y="2986721"/>
            <a:ext cx="2377440" cy="822960"/>
          </a:xfrm>
          <a:prstGeom prst="rect">
            <a:avLst/>
          </a:prstGeom>
          <a:noFill/>
          <a:ln/>
        </p:spPr>
        <p:txBody>
          <a:bodyPr wrap="square" lIns="0" tIns="0" rIns="0" bIns="0" rtlCol="0" anchor="ctr">
            <a:normAutofit/>
          </a:bodyPr>
          <a:lstStyle/>
          <a:p>
            <a:pPr marL="0" indent="0" algn="ctr">
              <a:buNone/>
            </a:pPr>
            <a:r>
              <a:rPr lang="fr" sz="4800" b="1">
                <a:solidFill>
                  <a:schemeClr val="accent1">
                    <a:lumMod val="50000"/>
                  </a:schemeClr>
                </a:solidFill>
                <a:latin typeface="Calibri" panose="020F0502020204030204" pitchFamily="34" charset="0"/>
                <a:ea typeface="Aptos" pitchFamily="34" charset="-122"/>
                <a:cs typeface="Calibri" panose="020F0502020204030204" pitchFamily="34" charset="0"/>
              </a:rPr>
              <a:t>2,5×</a:t>
            </a:r>
            <a:endParaRPr lang="en-US" sz="4800" dirty="0">
              <a:solidFill>
                <a:schemeClr val="accent1">
                  <a:lumMod val="50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Anatomie du côlon et du rectum</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178965"/>
            <a:ext cx="3551834" cy="939395"/>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6" name="Text 4"/>
          <p:cNvSpPr/>
          <p:nvPr/>
        </p:nvSpPr>
        <p:spPr>
          <a:xfrm>
            <a:off x="731520" y="1210056"/>
            <a:ext cx="3186074" cy="359359"/>
          </a:xfrm>
          <a:prstGeom prst="rect">
            <a:avLst/>
          </a:prstGeom>
          <a:noFill/>
          <a:ln/>
        </p:spPr>
        <p:txBody>
          <a:bodyPr wrap="square" lIns="0" tIns="0" rIns="0" bIns="0" rtlCol="0" anchor="t">
            <a:noAutofit/>
          </a:bodyPr>
          <a:lstStyle/>
          <a:p>
            <a:pPr marL="0" indent="0">
              <a:buNone/>
            </a:pPr>
            <a:r>
              <a:rPr lang="fr" sz="1328" b="1" noProof="0">
                <a:solidFill>
                  <a:srgbClr val="0E2E5C"/>
                </a:solidFill>
                <a:latin typeface="Calibri" pitchFamily="34" charset="0"/>
                <a:ea typeface="Calibri" pitchFamily="34" charset="-122"/>
                <a:cs typeface="Calibri" pitchFamily="34" charset="-120"/>
              </a:rPr>
              <a:t>Un tube continu</a:t>
            </a:r>
            <a:endParaRPr lang="en-US" sz="1328" noProof="0" dirty="0"/>
          </a:p>
        </p:txBody>
      </p:sp>
      <p:sp>
        <p:nvSpPr>
          <p:cNvPr id="7" name="Text 5"/>
          <p:cNvSpPr/>
          <p:nvPr/>
        </p:nvSpPr>
        <p:spPr>
          <a:xfrm>
            <a:off x="731520" y="1520648"/>
            <a:ext cx="3186074" cy="871728"/>
          </a:xfrm>
          <a:prstGeom prst="rect">
            <a:avLst/>
          </a:prstGeom>
          <a:noFill/>
          <a:ln/>
        </p:spPr>
        <p:txBody>
          <a:bodyPr wrap="square" lIns="0" tIns="0" rIns="0" bIns="0" rtlCol="0" anchor="t">
            <a:noAutofit/>
          </a:bodyPr>
          <a:lstStyle/>
          <a:p>
            <a:pPr lvl="0"/>
            <a:r>
              <a:rPr lang="fr" sz="1184" noProof="0">
                <a:solidFill>
                  <a:srgbClr val="002060"/>
                </a:solidFill>
              </a:rPr>
              <a:t>Le côlon s'étend continuellement du cæcum au rectum et au canal anal.</a:t>
            </a:r>
          </a:p>
        </p:txBody>
      </p:sp>
      <p:sp>
        <p:nvSpPr>
          <p:cNvPr id="8" name="Shape 6"/>
          <p:cNvSpPr/>
          <p:nvPr/>
        </p:nvSpPr>
        <p:spPr>
          <a:xfrm>
            <a:off x="580948" y="2216659"/>
            <a:ext cx="3551834" cy="648766"/>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9" name="Text 7"/>
          <p:cNvSpPr/>
          <p:nvPr/>
        </p:nvSpPr>
        <p:spPr>
          <a:xfrm>
            <a:off x="763828" y="2273503"/>
            <a:ext cx="3186074" cy="359359"/>
          </a:xfrm>
          <a:prstGeom prst="rect">
            <a:avLst/>
          </a:prstGeom>
          <a:noFill/>
          <a:ln/>
        </p:spPr>
        <p:txBody>
          <a:bodyPr wrap="square" lIns="0" tIns="0" rIns="0" bIns="0" rtlCol="0" anchor="t">
            <a:noAutofit/>
          </a:bodyPr>
          <a:lstStyle/>
          <a:p>
            <a:pPr marL="0" indent="0">
              <a:buNone/>
            </a:pPr>
            <a:r>
              <a:rPr lang="fr" sz="1328" b="1" noProof="0">
                <a:solidFill>
                  <a:srgbClr val="0E2E5C"/>
                </a:solidFill>
                <a:latin typeface="Calibri" pitchFamily="34" charset="0"/>
                <a:ea typeface="Calibri" pitchFamily="34" charset="-122"/>
                <a:cs typeface="Calibri" pitchFamily="34" charset="-120"/>
              </a:rPr>
              <a:t>Côlon droit</a:t>
            </a:r>
            <a:endParaRPr lang="en-US" sz="1328" noProof="0" dirty="0"/>
          </a:p>
        </p:txBody>
      </p:sp>
      <p:sp>
        <p:nvSpPr>
          <p:cNvPr id="10" name="Text 8"/>
          <p:cNvSpPr/>
          <p:nvPr/>
        </p:nvSpPr>
        <p:spPr>
          <a:xfrm>
            <a:off x="763828" y="2541423"/>
            <a:ext cx="3186074" cy="534010"/>
          </a:xfrm>
          <a:prstGeom prst="rect">
            <a:avLst/>
          </a:prstGeom>
          <a:noFill/>
          <a:ln/>
        </p:spPr>
        <p:txBody>
          <a:bodyPr wrap="square" lIns="0" tIns="0" rIns="0" bIns="0" rtlCol="0" anchor="t">
            <a:noAutofit/>
          </a:bodyPr>
          <a:lstStyle/>
          <a:p>
            <a:pPr marL="0" indent="0">
              <a:lnSpc>
                <a:spcPct val="105000"/>
              </a:lnSpc>
              <a:buNone/>
            </a:pPr>
            <a:r>
              <a:rPr lang="fr" sz="1184" noProof="0">
                <a:solidFill>
                  <a:srgbClr val="17325E"/>
                </a:solidFill>
                <a:latin typeface="Calibri" pitchFamily="34" charset="0"/>
                <a:ea typeface="Calibri" pitchFamily="34" charset="-122"/>
                <a:cs typeface="Calibri" pitchFamily="34" charset="-120"/>
              </a:rPr>
              <a:t>Les selles sont liquides et l'intestin est large.</a:t>
            </a:r>
            <a:endParaRPr lang="en-US" sz="1184" noProof="0" dirty="0"/>
          </a:p>
        </p:txBody>
      </p:sp>
      <p:sp>
        <p:nvSpPr>
          <p:cNvPr id="11" name="Shape 9"/>
          <p:cNvSpPr/>
          <p:nvPr/>
        </p:nvSpPr>
        <p:spPr>
          <a:xfrm>
            <a:off x="580948" y="2971494"/>
            <a:ext cx="3551834" cy="811076"/>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12" name="Text 10"/>
          <p:cNvSpPr/>
          <p:nvPr/>
        </p:nvSpPr>
        <p:spPr>
          <a:xfrm>
            <a:off x="763828" y="2997251"/>
            <a:ext cx="3186074" cy="359359"/>
          </a:xfrm>
          <a:prstGeom prst="rect">
            <a:avLst/>
          </a:prstGeom>
          <a:noFill/>
          <a:ln/>
        </p:spPr>
        <p:txBody>
          <a:bodyPr wrap="square" lIns="0" tIns="0" rIns="0" bIns="0" rtlCol="0" anchor="t">
            <a:noAutofit/>
          </a:bodyPr>
          <a:lstStyle/>
          <a:p>
            <a:pPr marL="0" indent="0">
              <a:buNone/>
            </a:pPr>
            <a:r>
              <a:rPr lang="fr" sz="1328" b="1" noProof="0">
                <a:solidFill>
                  <a:srgbClr val="0E2E5C"/>
                </a:solidFill>
                <a:latin typeface="Calibri" pitchFamily="34" charset="0"/>
                <a:ea typeface="Calibri" pitchFamily="34" charset="-122"/>
                <a:cs typeface="Calibri" pitchFamily="34" charset="-120"/>
              </a:rPr>
              <a:t>Côlon et rectum gauches</a:t>
            </a:r>
            <a:endParaRPr lang="en-US" sz="1328" noProof="0" dirty="0"/>
          </a:p>
        </p:txBody>
      </p:sp>
      <p:sp>
        <p:nvSpPr>
          <p:cNvPr id="13" name="Text 11"/>
          <p:cNvSpPr/>
          <p:nvPr/>
        </p:nvSpPr>
        <p:spPr>
          <a:xfrm>
            <a:off x="763828" y="3249931"/>
            <a:ext cx="3186074" cy="532638"/>
          </a:xfrm>
          <a:prstGeom prst="rect">
            <a:avLst/>
          </a:prstGeom>
          <a:noFill/>
          <a:ln/>
        </p:spPr>
        <p:txBody>
          <a:bodyPr wrap="square" lIns="0" tIns="0" rIns="0" bIns="0" rtlCol="0" anchor="t">
            <a:noAutofit/>
          </a:bodyPr>
          <a:lstStyle/>
          <a:p>
            <a:pPr marL="0" indent="0">
              <a:lnSpc>
                <a:spcPct val="105000"/>
              </a:lnSpc>
              <a:buNone/>
            </a:pPr>
            <a:r>
              <a:rPr lang="fr" sz="1184" noProof="0">
                <a:solidFill>
                  <a:srgbClr val="17325E"/>
                </a:solidFill>
                <a:latin typeface="Calibri" pitchFamily="34" charset="0"/>
                <a:ea typeface="Calibri" pitchFamily="34" charset="-122"/>
                <a:cs typeface="Calibri" pitchFamily="34" charset="-120"/>
              </a:rPr>
              <a:t>Les selles se forment et la lumière est plus étroite.</a:t>
            </a:r>
            <a:endParaRPr lang="en-US" sz="1184" noProof="0" dirty="0"/>
          </a:p>
        </p:txBody>
      </p:sp>
      <p:sp>
        <p:nvSpPr>
          <p:cNvPr id="14" name="Shape 12"/>
          <p:cNvSpPr/>
          <p:nvPr/>
        </p:nvSpPr>
        <p:spPr>
          <a:xfrm>
            <a:off x="580948" y="4913527"/>
            <a:ext cx="3551834" cy="828753"/>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15" name="Text 13"/>
          <p:cNvSpPr/>
          <p:nvPr/>
        </p:nvSpPr>
        <p:spPr>
          <a:xfrm>
            <a:off x="763828" y="4952848"/>
            <a:ext cx="3186074" cy="359359"/>
          </a:xfrm>
          <a:prstGeom prst="rect">
            <a:avLst/>
          </a:prstGeom>
          <a:noFill/>
          <a:ln/>
        </p:spPr>
        <p:txBody>
          <a:bodyPr wrap="square" lIns="0" tIns="0" rIns="0" bIns="0" rtlCol="0" anchor="t">
            <a:noAutofit/>
          </a:bodyPr>
          <a:lstStyle/>
          <a:p>
            <a:pPr marL="0" indent="0">
              <a:buNone/>
            </a:pPr>
            <a:r>
              <a:rPr lang="fr" sz="1328" b="1" noProof="0">
                <a:solidFill>
                  <a:srgbClr val="0E2E5C"/>
                </a:solidFill>
                <a:latin typeface="Calibri" pitchFamily="34" charset="0"/>
                <a:ea typeface="Calibri" pitchFamily="34" charset="-122"/>
                <a:cs typeface="Calibri" pitchFamily="34" charset="-120"/>
              </a:rPr>
              <a:t>Paroi intestinale</a:t>
            </a:r>
            <a:endParaRPr lang="en-US" sz="1328" noProof="0" dirty="0"/>
          </a:p>
        </p:txBody>
      </p:sp>
      <p:sp>
        <p:nvSpPr>
          <p:cNvPr id="16" name="Text 14"/>
          <p:cNvSpPr/>
          <p:nvPr/>
        </p:nvSpPr>
        <p:spPr>
          <a:xfrm>
            <a:off x="763828" y="5205527"/>
            <a:ext cx="3186074" cy="536753"/>
          </a:xfrm>
          <a:prstGeom prst="rect">
            <a:avLst/>
          </a:prstGeom>
          <a:noFill/>
          <a:ln/>
        </p:spPr>
        <p:txBody>
          <a:bodyPr wrap="square" lIns="0" tIns="0" rIns="0" bIns="0" rtlCol="0" anchor="t">
            <a:noAutofit/>
          </a:bodyPr>
          <a:lstStyle/>
          <a:p>
            <a:pPr marL="0" indent="0">
              <a:lnSpc>
                <a:spcPct val="105000"/>
              </a:lnSpc>
              <a:buNone/>
            </a:pPr>
            <a:r>
              <a:rPr lang="fr" sz="1184" noProof="0">
                <a:solidFill>
                  <a:srgbClr val="17325E"/>
                </a:solidFill>
                <a:latin typeface="Calibri" pitchFamily="34" charset="0"/>
                <a:ea typeface="Calibri" pitchFamily="34" charset="-122"/>
                <a:cs typeface="Calibri" pitchFamily="34" charset="-120"/>
              </a:rPr>
              <a:t>La paroi intestinale comporte une muqueuse, une couche musculaire et une couche externe.</a:t>
            </a:r>
            <a:endParaRPr lang="en-US" sz="1184" noProof="0" dirty="0"/>
          </a:p>
        </p:txBody>
      </p:sp>
      <p:sp>
        <p:nvSpPr>
          <p:cNvPr id="17" name="Shape 15"/>
          <p:cNvSpPr/>
          <p:nvPr/>
        </p:nvSpPr>
        <p:spPr>
          <a:xfrm>
            <a:off x="580948" y="3904642"/>
            <a:ext cx="3551834" cy="880720"/>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18" name="Text 16"/>
          <p:cNvSpPr/>
          <p:nvPr/>
        </p:nvSpPr>
        <p:spPr>
          <a:xfrm>
            <a:off x="763828" y="3959047"/>
            <a:ext cx="3186074" cy="359359"/>
          </a:xfrm>
          <a:prstGeom prst="rect">
            <a:avLst/>
          </a:prstGeom>
          <a:noFill/>
          <a:ln/>
        </p:spPr>
        <p:txBody>
          <a:bodyPr wrap="square" lIns="0" tIns="0" rIns="0" bIns="0" rtlCol="0" anchor="t">
            <a:noAutofit/>
          </a:bodyPr>
          <a:lstStyle/>
          <a:p>
            <a:pPr marL="0" indent="0">
              <a:buNone/>
            </a:pPr>
            <a:r>
              <a:rPr lang="fr" sz="1328" b="1" noProof="0">
                <a:solidFill>
                  <a:srgbClr val="0E2E5C"/>
                </a:solidFill>
                <a:latin typeface="Calibri" pitchFamily="34" charset="0"/>
                <a:ea typeface="Calibri" pitchFamily="34" charset="-122"/>
                <a:cs typeface="Calibri" pitchFamily="34" charset="-120"/>
              </a:rPr>
              <a:t>Rectum et canal anal</a:t>
            </a:r>
            <a:endParaRPr lang="en-US" sz="1328" noProof="0" dirty="0"/>
          </a:p>
        </p:txBody>
      </p:sp>
      <p:sp>
        <p:nvSpPr>
          <p:cNvPr id="19" name="Text 17"/>
          <p:cNvSpPr/>
          <p:nvPr/>
        </p:nvSpPr>
        <p:spPr>
          <a:xfrm>
            <a:off x="763828" y="4242664"/>
            <a:ext cx="3186074" cy="527913"/>
          </a:xfrm>
          <a:prstGeom prst="rect">
            <a:avLst/>
          </a:prstGeom>
          <a:noFill/>
          <a:ln/>
        </p:spPr>
        <p:txBody>
          <a:bodyPr wrap="square" lIns="0" tIns="0" rIns="0" bIns="0" rtlCol="0" anchor="t">
            <a:noAutofit/>
          </a:bodyPr>
          <a:lstStyle/>
          <a:p>
            <a:pPr marL="0" indent="0">
              <a:lnSpc>
                <a:spcPct val="105000"/>
              </a:lnSpc>
              <a:buNone/>
            </a:pPr>
            <a:r>
              <a:rPr lang="fr" sz="1184" noProof="0">
                <a:solidFill>
                  <a:srgbClr val="17325E"/>
                </a:solidFill>
                <a:latin typeface="Calibri" pitchFamily="34" charset="0"/>
                <a:ea typeface="Calibri" pitchFamily="34" charset="-122"/>
                <a:cs typeface="Calibri" pitchFamily="34" charset="-120"/>
              </a:rPr>
              <a:t>Le rectum et le canal anal se situent dans le bassin, à proximité des structures urinaires et reproductrices.</a:t>
            </a:r>
            <a:endParaRPr lang="en-US" sz="1184" noProof="0" dirty="0"/>
          </a:p>
        </p:txBody>
      </p:sp>
      <p:sp>
        <p:nvSpPr>
          <p:cNvPr id="20" name="Shape 18"/>
          <p:cNvSpPr/>
          <p:nvPr/>
        </p:nvSpPr>
        <p:spPr>
          <a:xfrm>
            <a:off x="548640" y="5838824"/>
            <a:ext cx="11231880" cy="452247"/>
          </a:xfrm>
          <a:prstGeom prst="roundRect">
            <a:avLst>
              <a:gd name="adj" fmla="val 4444"/>
            </a:avLst>
          </a:prstGeom>
          <a:solidFill>
            <a:schemeClr val="accent2">
              <a:lumMod val="20000"/>
              <a:lumOff val="80000"/>
            </a:schemeClr>
          </a:solidFill>
          <a:ln w="15875">
            <a:solidFill>
              <a:srgbClr val="C9DCF2"/>
            </a:solidFill>
            <a:prstDash val="solid"/>
          </a:ln>
        </p:spPr>
        <p:txBody>
          <a:bodyPr/>
          <a:lstStyle/>
          <a:p>
            <a:endParaRPr lang="en-US" noProof="0" dirty="0"/>
          </a:p>
        </p:txBody>
      </p:sp>
      <p:sp>
        <p:nvSpPr>
          <p:cNvPr id="21" name="Text 19"/>
          <p:cNvSpPr/>
          <p:nvPr/>
        </p:nvSpPr>
        <p:spPr>
          <a:xfrm>
            <a:off x="682856" y="5961260"/>
            <a:ext cx="10411864" cy="217094"/>
          </a:xfrm>
          <a:prstGeom prst="rect">
            <a:avLst/>
          </a:prstGeom>
          <a:noFill/>
          <a:ln/>
        </p:spPr>
        <p:txBody>
          <a:bodyPr wrap="square" lIns="0" tIns="0" rIns="0" bIns="0" rtlCol="0" anchor="t">
            <a:normAutofit fontScale="77000" lnSpcReduction="20000"/>
          </a:bodyPr>
          <a:lstStyle/>
          <a:p>
            <a:r>
              <a:rPr lang="fr" sz="1600" b="1" noProof="0">
                <a:solidFill>
                  <a:srgbClr val="0E2E5C"/>
                </a:solidFill>
                <a:latin typeface="Calibri" pitchFamily="34" charset="0"/>
                <a:ea typeface="Calibri" pitchFamily="34" charset="-122"/>
                <a:cs typeface="Calibri" pitchFamily="34" charset="-120"/>
              </a:rPr>
              <a:t>Pourquoi l'emplacement importe : </a:t>
            </a:r>
            <a:r>
              <a:rPr lang="fr" sz="1600" noProof="0" err="1">
                <a:solidFill>
                  <a:srgbClr val="17325E"/>
                </a:solidFill>
                <a:latin typeface="Calibri" pitchFamily="34" charset="0"/>
                <a:ea typeface="Calibri" pitchFamily="34" charset="-122"/>
                <a:cs typeface="Calibri" pitchFamily="34" charset="-120"/>
              </a:rPr>
              <a:t>Le site de la tumeur façonne les symptômes que vous observerez, les procédures nécessaires et l'indication de la radiothérapie.</a:t>
            </a:r>
            <a:endParaRPr lang="en-US" sz="1600" noProof="0" dirty="0"/>
          </a:p>
        </p:txBody>
      </p:sp>
      <p:pic>
        <p:nvPicPr>
          <p:cNvPr id="23" name="Imagen 22">
            <a:extLst>
              <a:ext uri="{FF2B5EF4-FFF2-40B4-BE49-F238E27FC236}">
                <a16:creationId xmlns:a16="http://schemas.microsoft.com/office/drawing/2014/main" id="{AFEEC52C-0994-FD73-3E8F-FFEB00C93341}"/>
              </a:ext>
            </a:extLst>
          </p:cNvPr>
          <p:cNvPicPr>
            <a:picLocks noChangeAspect="1"/>
          </p:cNvPicPr>
          <p:nvPr/>
        </p:nvPicPr>
        <p:blipFill>
          <a:blip r:embed="rId3"/>
          <a:stretch>
            <a:fillRect/>
          </a:stretch>
        </p:blipFill>
        <p:spPr>
          <a:xfrm>
            <a:off x="4205328" y="1209750"/>
            <a:ext cx="7772400" cy="456082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Comment cela se développe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213103"/>
            <a:ext cx="10911840" cy="4797857"/>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6" name="Text 4"/>
          <p:cNvSpPr/>
          <p:nvPr/>
        </p:nvSpPr>
        <p:spPr>
          <a:xfrm>
            <a:off x="731520" y="1869947"/>
            <a:ext cx="3186074" cy="359359"/>
          </a:xfrm>
          <a:prstGeom prst="rect">
            <a:avLst/>
          </a:prstGeom>
          <a:noFill/>
          <a:ln/>
        </p:spPr>
        <p:txBody>
          <a:bodyPr wrap="square" lIns="0" tIns="0" rIns="0" bIns="0" rtlCol="0" anchor="t">
            <a:noAutofit/>
          </a:bodyPr>
          <a:lstStyle/>
          <a:p>
            <a:pPr marL="0" indent="0">
              <a:buNone/>
            </a:pPr>
            <a:r>
              <a:rPr lang="fr" sz="2912" b="1" noProof="0">
                <a:solidFill>
                  <a:srgbClr val="0E2E5C"/>
                </a:solidFill>
                <a:latin typeface="Calibri" pitchFamily="34" charset="0"/>
                <a:ea typeface="Calibri" pitchFamily="34" charset="-122"/>
                <a:cs typeface="Calibri" pitchFamily="34" charset="-120"/>
              </a:rPr>
              <a:t>Croissance anormale</a:t>
            </a:r>
            <a:endParaRPr lang="en-US" sz="2912" noProof="0" dirty="0"/>
          </a:p>
        </p:txBody>
      </p:sp>
      <p:sp>
        <p:nvSpPr>
          <p:cNvPr id="7" name="Text 5"/>
          <p:cNvSpPr/>
          <p:nvPr/>
        </p:nvSpPr>
        <p:spPr>
          <a:xfrm>
            <a:off x="731520" y="2707995"/>
            <a:ext cx="3186074" cy="1442009"/>
          </a:xfrm>
          <a:prstGeom prst="rect">
            <a:avLst/>
          </a:prstGeom>
          <a:noFill/>
          <a:ln/>
        </p:spPr>
        <p:txBody>
          <a:bodyPr wrap="square" lIns="0" tIns="0" rIns="0" bIns="0" rtlCol="0" anchor="t">
            <a:noAutofit/>
          </a:bodyPr>
          <a:lstStyle/>
          <a:p>
            <a:pPr marL="0" indent="0">
              <a:lnSpc>
                <a:spcPct val="105000"/>
              </a:lnSpc>
              <a:buNone/>
            </a:pPr>
            <a:r>
              <a:rPr lang="fr" sz="2944" noProof="0">
                <a:solidFill>
                  <a:srgbClr val="17325E"/>
                </a:solidFill>
                <a:latin typeface="Calibri" pitchFamily="34" charset="0"/>
                <a:ea typeface="Calibri" pitchFamily="34" charset="-122"/>
                <a:cs typeface="Calibri" pitchFamily="34" charset="-120"/>
              </a:rPr>
              <a:t>Les cellules de la muqueuse de l'intestin accumulent des changements et se développent sans contrôle normal.</a:t>
            </a:r>
            <a:endParaRPr lang="en-US" sz="2944" noProof="0" dirty="0"/>
          </a:p>
        </p:txBody>
      </p:sp>
      <p:pic>
        <p:nvPicPr>
          <p:cNvPr id="8" name="Imagen 7">
            <a:extLst>
              <a:ext uri="{FF2B5EF4-FFF2-40B4-BE49-F238E27FC236}">
                <a16:creationId xmlns:a16="http://schemas.microsoft.com/office/drawing/2014/main" id="{FC200FE6-C45A-B988-D8C2-C0EB2C33FA62}"/>
              </a:ext>
            </a:extLst>
          </p:cNvPr>
          <p:cNvPicPr>
            <a:picLocks noChangeAspect="1"/>
          </p:cNvPicPr>
          <p:nvPr/>
        </p:nvPicPr>
        <p:blipFill>
          <a:blip r:embed="rId3"/>
          <a:stretch>
            <a:fillRect/>
          </a:stretch>
        </p:blipFill>
        <p:spPr>
          <a:xfrm>
            <a:off x="4216400" y="1481328"/>
            <a:ext cx="7055518" cy="417271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3DD252B-23D8-B4C8-7BDA-74702047EC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8E5BABD-E382-00E6-EC94-6D181D9F54E1}"/>
              </a:ext>
            </a:extLst>
          </p:cNvPr>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a:extLst>
              <a:ext uri="{FF2B5EF4-FFF2-40B4-BE49-F238E27FC236}">
                <a16:creationId xmlns:a16="http://schemas.microsoft.com/office/drawing/2014/main" id="{6D4786BE-EE29-A58E-4EB8-0FB0477E842A}"/>
              </a:ext>
            </a:extLst>
          </p:cNvPr>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Comment cela se développe</a:t>
            </a:r>
            <a:endParaRPr lang="en-US" sz="3400" noProof="0" dirty="0"/>
          </a:p>
        </p:txBody>
      </p:sp>
      <p:sp>
        <p:nvSpPr>
          <p:cNvPr id="4" name="Text 2">
            <a:extLst>
              <a:ext uri="{FF2B5EF4-FFF2-40B4-BE49-F238E27FC236}">
                <a16:creationId xmlns:a16="http://schemas.microsoft.com/office/drawing/2014/main" id="{18FEB6EF-08AD-1A47-7D1E-C1BC21354075}"/>
              </a:ext>
            </a:extLst>
          </p:cNvPr>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8" name="Shape 6">
            <a:extLst>
              <a:ext uri="{FF2B5EF4-FFF2-40B4-BE49-F238E27FC236}">
                <a16:creationId xmlns:a16="http://schemas.microsoft.com/office/drawing/2014/main" id="{5A9B4E44-93A4-3D84-4B84-F30422230E1B}"/>
              </a:ext>
            </a:extLst>
          </p:cNvPr>
          <p:cNvSpPr/>
          <p:nvPr/>
        </p:nvSpPr>
        <p:spPr>
          <a:xfrm>
            <a:off x="548640" y="1225296"/>
            <a:ext cx="11094414" cy="5065776"/>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9" name="Text 7">
            <a:extLst>
              <a:ext uri="{FF2B5EF4-FFF2-40B4-BE49-F238E27FC236}">
                <a16:creationId xmlns:a16="http://schemas.microsoft.com/office/drawing/2014/main" id="{F3DD95FE-4D4B-D15F-D6F3-35D8E05D2023}"/>
              </a:ext>
            </a:extLst>
          </p:cNvPr>
          <p:cNvSpPr/>
          <p:nvPr/>
        </p:nvSpPr>
        <p:spPr>
          <a:xfrm>
            <a:off x="731520" y="1783080"/>
            <a:ext cx="9951936" cy="775655"/>
          </a:xfrm>
          <a:prstGeom prst="rect">
            <a:avLst/>
          </a:prstGeom>
          <a:noFill/>
          <a:ln/>
        </p:spPr>
        <p:txBody>
          <a:bodyPr wrap="square" lIns="0" tIns="0" rIns="0" bIns="0" rtlCol="0" anchor="t">
            <a:noAutofit/>
          </a:bodyPr>
          <a:lstStyle/>
          <a:p>
            <a:pPr marL="0" indent="0">
              <a:buNone/>
            </a:pPr>
            <a:r>
              <a:rPr lang="fr" sz="1760" b="1" noProof="0">
                <a:solidFill>
                  <a:srgbClr val="0E2E5C"/>
                </a:solidFill>
                <a:latin typeface="Calibri" pitchFamily="34" charset="0"/>
                <a:ea typeface="Calibri" pitchFamily="34" charset="-122"/>
                <a:cs typeface="Calibri" pitchFamily="34" charset="-120"/>
              </a:rPr>
              <a:t>Lésion précurseure</a:t>
            </a:r>
            <a:endParaRPr lang="en-US" sz="1760" noProof="0" dirty="0"/>
          </a:p>
        </p:txBody>
      </p:sp>
      <p:sp>
        <p:nvSpPr>
          <p:cNvPr id="10" name="Text 8">
            <a:extLst>
              <a:ext uri="{FF2B5EF4-FFF2-40B4-BE49-F238E27FC236}">
                <a16:creationId xmlns:a16="http://schemas.microsoft.com/office/drawing/2014/main" id="{3C3D0C0A-79F2-BD3D-FDCA-73B409A7A217}"/>
              </a:ext>
            </a:extLst>
          </p:cNvPr>
          <p:cNvSpPr/>
          <p:nvPr/>
        </p:nvSpPr>
        <p:spPr>
          <a:xfrm>
            <a:off x="731520" y="2583119"/>
            <a:ext cx="3232806" cy="3112492"/>
          </a:xfrm>
          <a:prstGeom prst="rect">
            <a:avLst/>
          </a:prstGeom>
          <a:noFill/>
          <a:ln/>
        </p:spPr>
        <p:txBody>
          <a:bodyPr wrap="square" lIns="0" tIns="0" rIns="0" bIns="0" rtlCol="0" anchor="t"/>
          <a:lstStyle/>
          <a:p>
            <a:pPr marL="0" indent="0">
              <a:lnSpc>
                <a:spcPct val="105000"/>
              </a:lnSpc>
              <a:buNone/>
            </a:pPr>
            <a:r>
              <a:rPr lang="fr" sz="3200" noProof="0">
                <a:solidFill>
                  <a:srgbClr val="17325E"/>
                </a:solidFill>
                <a:latin typeface="Calibri" pitchFamily="34" charset="0"/>
                <a:ea typeface="Calibri" pitchFamily="34" charset="-122"/>
                <a:cs typeface="Calibri" pitchFamily="34" charset="-120"/>
              </a:rPr>
              <a:t>Une excroissance telle qu'un adénome peut se former et devenir progressivement plus anormale.</a:t>
            </a:r>
            <a:endParaRPr lang="en-US" sz="3200" noProof="0" dirty="0"/>
          </a:p>
        </p:txBody>
      </p:sp>
      <p:pic>
        <p:nvPicPr>
          <p:cNvPr id="5" name="Imagen 4">
            <a:extLst>
              <a:ext uri="{FF2B5EF4-FFF2-40B4-BE49-F238E27FC236}">
                <a16:creationId xmlns:a16="http://schemas.microsoft.com/office/drawing/2014/main" id="{238D6D8B-E995-57C1-BCEB-7217B67A2BA0}"/>
              </a:ext>
            </a:extLst>
          </p:cNvPr>
          <p:cNvPicPr>
            <a:picLocks noChangeAspect="1"/>
          </p:cNvPicPr>
          <p:nvPr/>
        </p:nvPicPr>
        <p:blipFill>
          <a:blip r:embed="rId3"/>
          <a:stretch>
            <a:fillRect/>
          </a:stretch>
        </p:blipFill>
        <p:spPr>
          <a:xfrm>
            <a:off x="3870654" y="2012511"/>
            <a:ext cx="7589826" cy="3409333"/>
          </a:xfrm>
          <a:prstGeom prst="rect">
            <a:avLst/>
          </a:prstGeom>
        </p:spPr>
      </p:pic>
    </p:spTree>
    <p:extLst>
      <p:ext uri="{BB962C8B-B14F-4D97-AF65-F5344CB8AC3E}">
        <p14:creationId xmlns:p14="http://schemas.microsoft.com/office/powerpoint/2010/main" val="796936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B3E166-98DD-9FF3-FC47-429F03CDAAF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B4CEC8-931D-24DD-5335-71677D6B5997}"/>
              </a:ext>
            </a:extLst>
          </p:cNvPr>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a:extLst>
              <a:ext uri="{FF2B5EF4-FFF2-40B4-BE49-F238E27FC236}">
                <a16:creationId xmlns:a16="http://schemas.microsoft.com/office/drawing/2014/main" id="{1CECA0ED-FC01-2A0D-DA51-F6E74C2ABDC2}"/>
              </a:ext>
            </a:extLst>
          </p:cNvPr>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Comment cela se développe</a:t>
            </a:r>
            <a:endParaRPr lang="en-US" sz="3400" noProof="0" dirty="0"/>
          </a:p>
        </p:txBody>
      </p:sp>
      <p:sp>
        <p:nvSpPr>
          <p:cNvPr id="4" name="Text 2">
            <a:extLst>
              <a:ext uri="{FF2B5EF4-FFF2-40B4-BE49-F238E27FC236}">
                <a16:creationId xmlns:a16="http://schemas.microsoft.com/office/drawing/2014/main" id="{600FC33E-73D3-D326-C99B-BB2568B18B88}"/>
              </a:ext>
            </a:extLst>
          </p:cNvPr>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11" name="Shape 9">
            <a:extLst>
              <a:ext uri="{FF2B5EF4-FFF2-40B4-BE49-F238E27FC236}">
                <a16:creationId xmlns:a16="http://schemas.microsoft.com/office/drawing/2014/main" id="{CE740669-0330-34B0-E798-184BDBDAAB7B}"/>
              </a:ext>
            </a:extLst>
          </p:cNvPr>
          <p:cNvSpPr/>
          <p:nvPr/>
        </p:nvSpPr>
        <p:spPr>
          <a:xfrm>
            <a:off x="548640" y="1225296"/>
            <a:ext cx="10824210" cy="5065776"/>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12" name="Text 10">
            <a:extLst>
              <a:ext uri="{FF2B5EF4-FFF2-40B4-BE49-F238E27FC236}">
                <a16:creationId xmlns:a16="http://schemas.microsoft.com/office/drawing/2014/main" id="{BD74782E-BF2C-FABA-ED14-A63A2632745C}"/>
              </a:ext>
            </a:extLst>
          </p:cNvPr>
          <p:cNvSpPr/>
          <p:nvPr/>
        </p:nvSpPr>
        <p:spPr>
          <a:xfrm>
            <a:off x="731520" y="1954530"/>
            <a:ext cx="3430092" cy="775655"/>
          </a:xfrm>
          <a:prstGeom prst="rect">
            <a:avLst/>
          </a:prstGeom>
          <a:noFill/>
          <a:ln/>
        </p:spPr>
        <p:txBody>
          <a:bodyPr wrap="square" lIns="0" tIns="0" rIns="0" bIns="0" rtlCol="0" anchor="t"/>
          <a:lstStyle/>
          <a:p>
            <a:pPr marL="0" indent="0">
              <a:buNone/>
            </a:pPr>
            <a:r>
              <a:rPr lang="fr" sz="3200" b="1" noProof="0">
                <a:solidFill>
                  <a:srgbClr val="0E2E5C"/>
                </a:solidFill>
                <a:latin typeface="Calibri" pitchFamily="34" charset="0"/>
                <a:ea typeface="Calibri" pitchFamily="34" charset="-122"/>
                <a:cs typeface="Calibri" pitchFamily="34" charset="-120"/>
              </a:rPr>
              <a:t>Cancer invasif</a:t>
            </a:r>
            <a:endParaRPr lang="en-US" sz="3200" noProof="0" dirty="0"/>
          </a:p>
        </p:txBody>
      </p:sp>
      <p:sp>
        <p:nvSpPr>
          <p:cNvPr id="13" name="Text 11">
            <a:extLst>
              <a:ext uri="{FF2B5EF4-FFF2-40B4-BE49-F238E27FC236}">
                <a16:creationId xmlns:a16="http://schemas.microsoft.com/office/drawing/2014/main" id="{C3016706-313B-C9F3-A2AB-3299F67BB728}"/>
              </a:ext>
            </a:extLst>
          </p:cNvPr>
          <p:cNvSpPr/>
          <p:nvPr/>
        </p:nvSpPr>
        <p:spPr>
          <a:xfrm>
            <a:off x="731520" y="2790139"/>
            <a:ext cx="3430092" cy="3112492"/>
          </a:xfrm>
          <a:prstGeom prst="rect">
            <a:avLst/>
          </a:prstGeom>
          <a:noFill/>
          <a:ln/>
        </p:spPr>
        <p:txBody>
          <a:bodyPr wrap="square" lIns="0" tIns="0" rIns="0" bIns="0" rtlCol="0" anchor="t"/>
          <a:lstStyle/>
          <a:p>
            <a:pPr marL="0" indent="0">
              <a:lnSpc>
                <a:spcPct val="105000"/>
              </a:lnSpc>
              <a:buNone/>
            </a:pPr>
            <a:r>
              <a:rPr lang="fr" sz="3200" noProof="0">
                <a:solidFill>
                  <a:srgbClr val="17325E"/>
                </a:solidFill>
                <a:latin typeface="Calibri" pitchFamily="34" charset="0"/>
                <a:ea typeface="Calibri" pitchFamily="34" charset="-122"/>
                <a:cs typeface="Calibri" pitchFamily="34" charset="-120"/>
              </a:rPr>
              <a:t>Certaines lésions deviennent invasives et se développent à travers les couches de la paroi intestinale.</a:t>
            </a:r>
            <a:endParaRPr lang="en-US" sz="3200" noProof="0" dirty="0"/>
          </a:p>
        </p:txBody>
      </p:sp>
      <p:pic>
        <p:nvPicPr>
          <p:cNvPr id="5" name="Imagen 4">
            <a:extLst>
              <a:ext uri="{FF2B5EF4-FFF2-40B4-BE49-F238E27FC236}">
                <a16:creationId xmlns:a16="http://schemas.microsoft.com/office/drawing/2014/main" id="{C16047AA-7CE1-92EC-158F-209B1001F2B6}"/>
              </a:ext>
            </a:extLst>
          </p:cNvPr>
          <p:cNvPicPr>
            <a:picLocks noChangeAspect="1"/>
          </p:cNvPicPr>
          <p:nvPr/>
        </p:nvPicPr>
        <p:blipFill>
          <a:blip r:embed="rId3"/>
          <a:stretch>
            <a:fillRect/>
          </a:stretch>
        </p:blipFill>
        <p:spPr>
          <a:xfrm>
            <a:off x="4161612" y="1481328"/>
            <a:ext cx="7119580" cy="4315968"/>
          </a:xfrm>
          <a:prstGeom prst="rect">
            <a:avLst/>
          </a:prstGeom>
        </p:spPr>
      </p:pic>
    </p:spTree>
    <p:extLst>
      <p:ext uri="{BB962C8B-B14F-4D97-AF65-F5344CB8AC3E}">
        <p14:creationId xmlns:p14="http://schemas.microsoft.com/office/powerpoint/2010/main" val="2825341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B1472EC-B43A-C881-0B23-E60E28A521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E640FA-2FE4-4C6B-8EB2-F2D7FE94B43E}"/>
              </a:ext>
            </a:extLst>
          </p:cNvPr>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a:extLst>
              <a:ext uri="{FF2B5EF4-FFF2-40B4-BE49-F238E27FC236}">
                <a16:creationId xmlns:a16="http://schemas.microsoft.com/office/drawing/2014/main" id="{2FBBA40D-FC79-2447-651F-298B1825B0B3}"/>
              </a:ext>
            </a:extLst>
          </p:cNvPr>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Comment cela se développe</a:t>
            </a:r>
            <a:endParaRPr lang="en-US" sz="3400" noProof="0" dirty="0"/>
          </a:p>
        </p:txBody>
      </p:sp>
      <p:sp>
        <p:nvSpPr>
          <p:cNvPr id="4" name="Text 2">
            <a:extLst>
              <a:ext uri="{FF2B5EF4-FFF2-40B4-BE49-F238E27FC236}">
                <a16:creationId xmlns:a16="http://schemas.microsoft.com/office/drawing/2014/main" id="{53AC8269-8C65-5043-C35B-551502A28EEB}"/>
              </a:ext>
            </a:extLst>
          </p:cNvPr>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23" name="Shape 12">
            <a:extLst>
              <a:ext uri="{FF2B5EF4-FFF2-40B4-BE49-F238E27FC236}">
                <a16:creationId xmlns:a16="http://schemas.microsoft.com/office/drawing/2014/main" id="{262A7067-4F11-83BA-E6C9-D940DDAE53D7}"/>
              </a:ext>
            </a:extLst>
          </p:cNvPr>
          <p:cNvSpPr/>
          <p:nvPr/>
        </p:nvSpPr>
        <p:spPr>
          <a:xfrm>
            <a:off x="548640" y="1225296"/>
            <a:ext cx="11094414" cy="4927854"/>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24" name="Text 13">
            <a:extLst>
              <a:ext uri="{FF2B5EF4-FFF2-40B4-BE49-F238E27FC236}">
                <a16:creationId xmlns:a16="http://schemas.microsoft.com/office/drawing/2014/main" id="{A2F17129-FC6D-B0E8-61A8-2B3E9A061F93}"/>
              </a:ext>
            </a:extLst>
          </p:cNvPr>
          <p:cNvSpPr/>
          <p:nvPr/>
        </p:nvSpPr>
        <p:spPr>
          <a:xfrm>
            <a:off x="731520" y="2164080"/>
            <a:ext cx="3186074" cy="359359"/>
          </a:xfrm>
          <a:prstGeom prst="rect">
            <a:avLst/>
          </a:prstGeom>
          <a:noFill/>
          <a:ln/>
        </p:spPr>
        <p:txBody>
          <a:bodyPr wrap="square" lIns="0" tIns="0" rIns="0" bIns="0" rtlCol="0" anchor="t">
            <a:noAutofit/>
          </a:bodyPr>
          <a:lstStyle/>
          <a:p>
            <a:pPr marL="0" indent="0">
              <a:buNone/>
            </a:pPr>
            <a:r>
              <a:rPr lang="fr" sz="2496" b="1" noProof="0">
                <a:solidFill>
                  <a:srgbClr val="0E2E5C"/>
                </a:solidFill>
                <a:latin typeface="Calibri" pitchFamily="34" charset="0"/>
                <a:ea typeface="Calibri" pitchFamily="34" charset="-122"/>
                <a:cs typeface="Calibri" pitchFamily="34" charset="-120"/>
              </a:rPr>
              <a:t>Ganglions lymphatiques</a:t>
            </a:r>
            <a:endParaRPr lang="en-US" sz="2496" noProof="0" dirty="0"/>
          </a:p>
        </p:txBody>
      </p:sp>
      <p:sp>
        <p:nvSpPr>
          <p:cNvPr id="26" name="Text 14">
            <a:extLst>
              <a:ext uri="{FF2B5EF4-FFF2-40B4-BE49-F238E27FC236}">
                <a16:creationId xmlns:a16="http://schemas.microsoft.com/office/drawing/2014/main" id="{4045BDBF-BC88-8D7D-3812-91168DF4344A}"/>
              </a:ext>
            </a:extLst>
          </p:cNvPr>
          <p:cNvSpPr/>
          <p:nvPr/>
        </p:nvSpPr>
        <p:spPr>
          <a:xfrm>
            <a:off x="731520" y="2904439"/>
            <a:ext cx="3186074" cy="1442009"/>
          </a:xfrm>
          <a:prstGeom prst="rect">
            <a:avLst/>
          </a:prstGeom>
          <a:noFill/>
          <a:ln/>
        </p:spPr>
        <p:txBody>
          <a:bodyPr wrap="square" lIns="0" tIns="0" rIns="0" bIns="0" rtlCol="0" anchor="t">
            <a:noAutofit/>
          </a:bodyPr>
          <a:lstStyle/>
          <a:p>
            <a:pPr marL="0" indent="0">
              <a:lnSpc>
                <a:spcPct val="105000"/>
              </a:lnSpc>
              <a:buNone/>
            </a:pPr>
            <a:r>
              <a:rPr lang="fr" sz="2752" noProof="0">
                <a:solidFill>
                  <a:srgbClr val="17325E"/>
                </a:solidFill>
                <a:latin typeface="Calibri" pitchFamily="34" charset="0"/>
                <a:ea typeface="Calibri" pitchFamily="34" charset="-122"/>
                <a:cs typeface="Calibri" pitchFamily="34" charset="-120"/>
              </a:rPr>
              <a:t>Les cellules cancéreuses peuvent atteindre les ganglions lymphatiques régionaux près de l'intestin.</a:t>
            </a:r>
            <a:endParaRPr lang="en-US" sz="2752" noProof="0" dirty="0"/>
          </a:p>
        </p:txBody>
      </p:sp>
      <p:pic>
        <p:nvPicPr>
          <p:cNvPr id="5" name="Imagen 4">
            <a:extLst>
              <a:ext uri="{FF2B5EF4-FFF2-40B4-BE49-F238E27FC236}">
                <a16:creationId xmlns:a16="http://schemas.microsoft.com/office/drawing/2014/main" id="{9722FBED-212B-6837-DDFF-2F3C67071E2B}"/>
              </a:ext>
            </a:extLst>
          </p:cNvPr>
          <p:cNvPicPr>
            <a:picLocks noChangeAspect="1"/>
          </p:cNvPicPr>
          <p:nvPr/>
        </p:nvPicPr>
        <p:blipFill>
          <a:blip r:embed="rId3"/>
          <a:stretch>
            <a:fillRect/>
          </a:stretch>
        </p:blipFill>
        <p:spPr>
          <a:xfrm>
            <a:off x="4506874" y="1481328"/>
            <a:ext cx="6631026" cy="4420684"/>
          </a:xfrm>
          <a:prstGeom prst="rect">
            <a:avLst/>
          </a:prstGeom>
        </p:spPr>
      </p:pic>
    </p:spTree>
    <p:extLst>
      <p:ext uri="{BB962C8B-B14F-4D97-AF65-F5344CB8AC3E}">
        <p14:creationId xmlns:p14="http://schemas.microsoft.com/office/powerpoint/2010/main" val="3974460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E6295A8-BE40-FD92-0773-03CBD3855D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061366-576C-BA17-FA75-97616F2C070D}"/>
              </a:ext>
            </a:extLst>
          </p:cNvPr>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a:extLst>
              <a:ext uri="{FF2B5EF4-FFF2-40B4-BE49-F238E27FC236}">
                <a16:creationId xmlns:a16="http://schemas.microsoft.com/office/drawing/2014/main" id="{AE4BEE2F-0F39-3F0C-E73A-4411339ADC3A}"/>
              </a:ext>
            </a:extLst>
          </p:cNvPr>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Comment cela se développe</a:t>
            </a:r>
            <a:endParaRPr lang="en-US" sz="3400" noProof="0" dirty="0"/>
          </a:p>
        </p:txBody>
      </p:sp>
      <p:sp>
        <p:nvSpPr>
          <p:cNvPr id="4" name="Text 2">
            <a:extLst>
              <a:ext uri="{FF2B5EF4-FFF2-40B4-BE49-F238E27FC236}">
                <a16:creationId xmlns:a16="http://schemas.microsoft.com/office/drawing/2014/main" id="{DA7AABE7-86BB-A5E7-99BF-BACE16C0A800}"/>
              </a:ext>
            </a:extLst>
          </p:cNvPr>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17" name="Shape 15">
            <a:extLst>
              <a:ext uri="{FF2B5EF4-FFF2-40B4-BE49-F238E27FC236}">
                <a16:creationId xmlns:a16="http://schemas.microsoft.com/office/drawing/2014/main" id="{0B6379E5-1CDC-1EB1-7E82-56ACCA4D7385}"/>
              </a:ext>
            </a:extLst>
          </p:cNvPr>
          <p:cNvSpPr/>
          <p:nvPr/>
        </p:nvSpPr>
        <p:spPr>
          <a:xfrm>
            <a:off x="567690" y="1225296"/>
            <a:ext cx="10957560" cy="5065776"/>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18" name="Text 16">
            <a:extLst>
              <a:ext uri="{FF2B5EF4-FFF2-40B4-BE49-F238E27FC236}">
                <a16:creationId xmlns:a16="http://schemas.microsoft.com/office/drawing/2014/main" id="{F08B6416-2AA0-F40B-A0A3-1FF83ADE435C}"/>
              </a:ext>
            </a:extLst>
          </p:cNvPr>
          <p:cNvSpPr/>
          <p:nvPr/>
        </p:nvSpPr>
        <p:spPr>
          <a:xfrm>
            <a:off x="762000" y="1700999"/>
            <a:ext cx="3440431" cy="775655"/>
          </a:xfrm>
          <a:prstGeom prst="rect">
            <a:avLst/>
          </a:prstGeom>
          <a:noFill/>
          <a:ln/>
        </p:spPr>
        <p:txBody>
          <a:bodyPr wrap="square" lIns="0" tIns="0" rIns="0" bIns="0" rtlCol="0" anchor="t">
            <a:noAutofit/>
          </a:bodyPr>
          <a:lstStyle/>
          <a:p>
            <a:pPr marL="0" indent="0">
              <a:buNone/>
            </a:pPr>
            <a:r>
              <a:rPr lang="fr" sz="2848" b="1" noProof="0">
                <a:solidFill>
                  <a:srgbClr val="0E2E5C"/>
                </a:solidFill>
                <a:latin typeface="Calibri" pitchFamily="34" charset="0"/>
                <a:ea typeface="Calibri" pitchFamily="34" charset="-122"/>
                <a:cs typeface="Calibri" pitchFamily="34" charset="-120"/>
              </a:rPr>
              <a:t>Propagation à distance</a:t>
            </a:r>
            <a:endParaRPr lang="en-US" sz="2848" noProof="0" dirty="0"/>
          </a:p>
        </p:txBody>
      </p:sp>
      <p:sp>
        <p:nvSpPr>
          <p:cNvPr id="19" name="Text 17">
            <a:extLst>
              <a:ext uri="{FF2B5EF4-FFF2-40B4-BE49-F238E27FC236}">
                <a16:creationId xmlns:a16="http://schemas.microsoft.com/office/drawing/2014/main" id="{EC8772CE-94C4-737B-FB06-16F4F1EEA4AC}"/>
              </a:ext>
            </a:extLst>
          </p:cNvPr>
          <p:cNvSpPr/>
          <p:nvPr/>
        </p:nvSpPr>
        <p:spPr>
          <a:xfrm>
            <a:off x="685800" y="2403258"/>
            <a:ext cx="3619500" cy="3112492"/>
          </a:xfrm>
          <a:prstGeom prst="rect">
            <a:avLst/>
          </a:prstGeom>
          <a:noFill/>
          <a:ln/>
        </p:spPr>
        <p:txBody>
          <a:bodyPr wrap="square" lIns="0" tIns="0" rIns="0" bIns="0" rtlCol="0" anchor="t"/>
          <a:lstStyle/>
          <a:p>
            <a:pPr marL="0" indent="0">
              <a:lnSpc>
                <a:spcPct val="105000"/>
              </a:lnSpc>
              <a:buNone/>
            </a:pPr>
            <a:r>
              <a:rPr lang="fr" sz="3200" noProof="0">
                <a:solidFill>
                  <a:srgbClr val="17325E"/>
                </a:solidFill>
                <a:latin typeface="Calibri" pitchFamily="34" charset="0"/>
                <a:ea typeface="Calibri" pitchFamily="34" charset="-122"/>
                <a:cs typeface="Calibri" pitchFamily="34" charset="-120"/>
              </a:rPr>
              <a:t>La propagation dans le sang atteint le plus souvent le foie, puis les poumons. La propagation péritonéale se produit également.</a:t>
            </a:r>
            <a:endParaRPr lang="en-US" sz="3200" noProof="0" dirty="0"/>
          </a:p>
        </p:txBody>
      </p:sp>
      <p:pic>
        <p:nvPicPr>
          <p:cNvPr id="6" name="Imagen 5">
            <a:extLst>
              <a:ext uri="{FF2B5EF4-FFF2-40B4-BE49-F238E27FC236}">
                <a16:creationId xmlns:a16="http://schemas.microsoft.com/office/drawing/2014/main" id="{EE4E4FBC-09A3-8B45-3CC3-418D860D1C3D}"/>
              </a:ext>
            </a:extLst>
          </p:cNvPr>
          <p:cNvPicPr>
            <a:picLocks noChangeAspect="1"/>
          </p:cNvPicPr>
          <p:nvPr/>
        </p:nvPicPr>
        <p:blipFill>
          <a:blip r:embed="rId3"/>
          <a:stretch>
            <a:fillRect/>
          </a:stretch>
        </p:blipFill>
        <p:spPr>
          <a:xfrm>
            <a:off x="4324350" y="1580811"/>
            <a:ext cx="6906695" cy="4413589"/>
          </a:xfrm>
          <a:prstGeom prst="rect">
            <a:avLst/>
          </a:prstGeom>
        </p:spPr>
      </p:pic>
    </p:spTree>
    <p:extLst>
      <p:ext uri="{BB962C8B-B14F-4D97-AF65-F5344CB8AC3E}">
        <p14:creationId xmlns:p14="http://schemas.microsoft.com/office/powerpoint/2010/main" val="1969056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0F6208-4698-118A-6238-52EF5B2242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DB1D0B-1995-2820-2C30-F048102EE4B6}"/>
              </a:ext>
            </a:extLst>
          </p:cNvPr>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a:extLst>
              <a:ext uri="{FF2B5EF4-FFF2-40B4-BE49-F238E27FC236}">
                <a16:creationId xmlns:a16="http://schemas.microsoft.com/office/drawing/2014/main" id="{E58298CC-8BB3-B93D-7A80-C7078019DF18}"/>
              </a:ext>
            </a:extLst>
          </p:cNvPr>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Comment cela se développe</a:t>
            </a:r>
            <a:endParaRPr lang="en-US" sz="3400" noProof="0" dirty="0"/>
          </a:p>
        </p:txBody>
      </p:sp>
      <p:sp>
        <p:nvSpPr>
          <p:cNvPr id="4" name="Text 2">
            <a:extLst>
              <a:ext uri="{FF2B5EF4-FFF2-40B4-BE49-F238E27FC236}">
                <a16:creationId xmlns:a16="http://schemas.microsoft.com/office/drawing/2014/main" id="{568EC896-C8E6-7F66-1062-87C64D37E03D}"/>
              </a:ext>
            </a:extLst>
          </p:cNvPr>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20" name="Shape 18">
            <a:extLst>
              <a:ext uri="{FF2B5EF4-FFF2-40B4-BE49-F238E27FC236}">
                <a16:creationId xmlns:a16="http://schemas.microsoft.com/office/drawing/2014/main" id="{CAA1FF69-2E64-7030-F931-3ED07A97C2C7}"/>
              </a:ext>
            </a:extLst>
          </p:cNvPr>
          <p:cNvSpPr/>
          <p:nvPr/>
        </p:nvSpPr>
        <p:spPr>
          <a:xfrm>
            <a:off x="548640" y="1225296"/>
            <a:ext cx="11094414" cy="5065776"/>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21" name="Text 19">
            <a:extLst>
              <a:ext uri="{FF2B5EF4-FFF2-40B4-BE49-F238E27FC236}">
                <a16:creationId xmlns:a16="http://schemas.microsoft.com/office/drawing/2014/main" id="{00B78D2C-BF87-5BF9-0E79-BE0797798813}"/>
              </a:ext>
            </a:extLst>
          </p:cNvPr>
          <p:cNvSpPr/>
          <p:nvPr/>
        </p:nvSpPr>
        <p:spPr>
          <a:xfrm>
            <a:off x="731520" y="1840230"/>
            <a:ext cx="3459480" cy="775655"/>
          </a:xfrm>
          <a:prstGeom prst="rect">
            <a:avLst/>
          </a:prstGeom>
          <a:noFill/>
          <a:ln/>
        </p:spPr>
        <p:txBody>
          <a:bodyPr wrap="square" lIns="0" tIns="0" rIns="0" bIns="0" rtlCol="0" anchor="t"/>
          <a:lstStyle/>
          <a:p>
            <a:pPr marL="0" indent="0">
              <a:buNone/>
            </a:pPr>
            <a:r>
              <a:rPr lang="fr" sz="3200" b="1" noProof="0">
                <a:solidFill>
                  <a:srgbClr val="0E2E5C"/>
                </a:solidFill>
                <a:latin typeface="Calibri" pitchFamily="34" charset="0"/>
                <a:ea typeface="Calibri" pitchFamily="34" charset="-122"/>
                <a:cs typeface="Calibri" pitchFamily="34" charset="-120"/>
              </a:rPr>
              <a:t>Le temps compte</a:t>
            </a:r>
            <a:endParaRPr lang="en-US" sz="3200" noProof="0" dirty="0"/>
          </a:p>
        </p:txBody>
      </p:sp>
      <p:sp>
        <p:nvSpPr>
          <p:cNvPr id="22" name="Text 20">
            <a:extLst>
              <a:ext uri="{FF2B5EF4-FFF2-40B4-BE49-F238E27FC236}">
                <a16:creationId xmlns:a16="http://schemas.microsoft.com/office/drawing/2014/main" id="{B4AF1ED1-D103-9FD4-72F2-CB7872954373}"/>
              </a:ext>
            </a:extLst>
          </p:cNvPr>
          <p:cNvSpPr/>
          <p:nvPr/>
        </p:nvSpPr>
        <p:spPr>
          <a:xfrm>
            <a:off x="731520" y="2713939"/>
            <a:ext cx="3459480" cy="3112492"/>
          </a:xfrm>
          <a:prstGeom prst="rect">
            <a:avLst/>
          </a:prstGeom>
          <a:noFill/>
          <a:ln/>
        </p:spPr>
        <p:txBody>
          <a:bodyPr wrap="square" lIns="0" tIns="0" rIns="0" bIns="0" rtlCol="0" anchor="t">
            <a:noAutofit/>
          </a:bodyPr>
          <a:lstStyle/>
          <a:p>
            <a:pPr marL="0" indent="0">
              <a:lnSpc>
                <a:spcPct val="105000"/>
              </a:lnSpc>
              <a:buNone/>
            </a:pPr>
            <a:r>
              <a:rPr lang="fr" sz="2976" noProof="0">
                <a:solidFill>
                  <a:srgbClr val="17325E"/>
                </a:solidFill>
                <a:latin typeface="Calibri" pitchFamily="34" charset="0"/>
                <a:ea typeface="Calibri" pitchFamily="34" charset="-122"/>
                <a:cs typeface="Calibri" pitchFamily="34" charset="-120"/>
              </a:rPr>
              <a:t>Cette séquence prend généralement des années. C'est cet intervalle qui permet la détection et l'ablation des lésions précurseures.</a:t>
            </a:r>
            <a:endParaRPr lang="en-US" sz="2976" noProof="0" dirty="0"/>
          </a:p>
        </p:txBody>
      </p:sp>
      <p:pic>
        <p:nvPicPr>
          <p:cNvPr id="5" name="Imagen 4">
            <a:extLst>
              <a:ext uri="{FF2B5EF4-FFF2-40B4-BE49-F238E27FC236}">
                <a16:creationId xmlns:a16="http://schemas.microsoft.com/office/drawing/2014/main" id="{CD804775-53D7-095F-AF22-A2B4A8ABE895}"/>
              </a:ext>
            </a:extLst>
          </p:cNvPr>
          <p:cNvPicPr>
            <a:picLocks noChangeAspect="1"/>
          </p:cNvPicPr>
          <p:nvPr/>
        </p:nvPicPr>
        <p:blipFill>
          <a:blip r:embed="rId3"/>
          <a:stretch>
            <a:fillRect/>
          </a:stretch>
        </p:blipFill>
        <p:spPr>
          <a:xfrm>
            <a:off x="4385310" y="1896364"/>
            <a:ext cx="6941820" cy="3482675"/>
          </a:xfrm>
          <a:prstGeom prst="rect">
            <a:avLst/>
          </a:prstGeom>
        </p:spPr>
      </p:pic>
    </p:spTree>
    <p:extLst>
      <p:ext uri="{BB962C8B-B14F-4D97-AF65-F5344CB8AC3E}">
        <p14:creationId xmlns:p14="http://schemas.microsoft.com/office/powerpoint/2010/main" val="3153010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Lésions précancéreuses</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186071"/>
            <a:ext cx="3551834" cy="2431771"/>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6" name="Text 4"/>
          <p:cNvSpPr/>
          <p:nvPr/>
        </p:nvSpPr>
        <p:spPr>
          <a:xfrm>
            <a:off x="731520" y="1266117"/>
            <a:ext cx="3186074" cy="262032"/>
          </a:xfrm>
          <a:prstGeom prst="rect">
            <a:avLst/>
          </a:prstGeom>
          <a:noFill/>
          <a:ln/>
        </p:spPr>
        <p:txBody>
          <a:bodyPr wrap="square" lIns="0" tIns="0" rIns="0" bIns="0" rtlCol="0" anchor="t"/>
          <a:lstStyle/>
          <a:p>
            <a:pPr marL="0" indent="0">
              <a:buNone/>
            </a:pPr>
            <a:r>
              <a:rPr lang="fr" sz="1600" b="1" noProof="0">
                <a:solidFill>
                  <a:srgbClr val="0E2E5C"/>
                </a:solidFill>
                <a:latin typeface="Calibri" pitchFamily="34" charset="0"/>
                <a:ea typeface="Calibri" pitchFamily="34" charset="-122"/>
                <a:cs typeface="Calibri" pitchFamily="34" charset="-120"/>
              </a:rPr>
              <a:t>Adénome</a:t>
            </a:r>
            <a:endParaRPr lang="en-US" sz="1600" noProof="0" dirty="0"/>
          </a:p>
        </p:txBody>
      </p:sp>
      <p:sp>
        <p:nvSpPr>
          <p:cNvPr id="7" name="Text 5"/>
          <p:cNvSpPr/>
          <p:nvPr/>
        </p:nvSpPr>
        <p:spPr>
          <a:xfrm>
            <a:off x="731520" y="1625475"/>
            <a:ext cx="3186074" cy="1051463"/>
          </a:xfrm>
          <a:prstGeom prst="rect">
            <a:avLst/>
          </a:prstGeom>
          <a:noFill/>
          <a:ln/>
        </p:spPr>
        <p:txBody>
          <a:bodyPr wrap="square" lIns="0" tIns="0" rIns="0" bIns="0" rtlCol="0" anchor="t"/>
          <a:lstStyle/>
          <a:p>
            <a:pPr marL="0" indent="0">
              <a:lnSpc>
                <a:spcPct val="105000"/>
              </a:lnSpc>
              <a:buNone/>
            </a:pPr>
            <a:r>
              <a:rPr lang="fr" sz="1600" noProof="0">
                <a:solidFill>
                  <a:srgbClr val="17325E"/>
                </a:solidFill>
                <a:latin typeface="Calibri" pitchFamily="34" charset="0"/>
                <a:ea typeface="Calibri" pitchFamily="34" charset="-122"/>
                <a:cs typeface="Calibri" pitchFamily="34" charset="-120"/>
              </a:rPr>
              <a:t>Croissance bénigne de la muqueuse intestinale. Ce sont les précurseurs les plus courants du cancer colorectal, mais la plupart ne deviennent jamais cancers.</a:t>
            </a:r>
            <a:endParaRPr lang="en-US" sz="1600" noProof="0" dirty="0"/>
          </a:p>
        </p:txBody>
      </p:sp>
      <p:sp>
        <p:nvSpPr>
          <p:cNvPr id="8" name="Shape 6"/>
          <p:cNvSpPr/>
          <p:nvPr/>
        </p:nvSpPr>
        <p:spPr>
          <a:xfrm>
            <a:off x="4319930" y="1186071"/>
            <a:ext cx="3551834" cy="2431771"/>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9" name="Text 7"/>
          <p:cNvSpPr/>
          <p:nvPr/>
        </p:nvSpPr>
        <p:spPr>
          <a:xfrm>
            <a:off x="4502810" y="1266117"/>
            <a:ext cx="3186074" cy="262032"/>
          </a:xfrm>
          <a:prstGeom prst="rect">
            <a:avLst/>
          </a:prstGeom>
          <a:noFill/>
          <a:ln/>
        </p:spPr>
        <p:txBody>
          <a:bodyPr wrap="square" lIns="0" tIns="0" rIns="0" bIns="0" rtlCol="0" anchor="t"/>
          <a:lstStyle/>
          <a:p>
            <a:pPr marL="0" indent="0">
              <a:buNone/>
            </a:pPr>
            <a:r>
              <a:rPr lang="fr" sz="1600" b="1" noProof="0">
                <a:solidFill>
                  <a:srgbClr val="0E2E5C"/>
                </a:solidFill>
                <a:latin typeface="Calibri" pitchFamily="34" charset="0"/>
                <a:ea typeface="Calibri" pitchFamily="34" charset="-122"/>
                <a:cs typeface="Calibri" pitchFamily="34" charset="-120"/>
              </a:rPr>
              <a:t>Adénome avancé</a:t>
            </a:r>
            <a:endParaRPr lang="en-US" sz="1600" noProof="0" dirty="0"/>
          </a:p>
        </p:txBody>
      </p:sp>
      <p:sp>
        <p:nvSpPr>
          <p:cNvPr id="10" name="Text 8"/>
          <p:cNvSpPr/>
          <p:nvPr/>
        </p:nvSpPr>
        <p:spPr>
          <a:xfrm>
            <a:off x="4502810" y="1625475"/>
            <a:ext cx="3186074" cy="1051463"/>
          </a:xfrm>
          <a:prstGeom prst="rect">
            <a:avLst/>
          </a:prstGeom>
          <a:noFill/>
          <a:ln/>
        </p:spPr>
        <p:txBody>
          <a:bodyPr wrap="square" lIns="0" tIns="0" rIns="0" bIns="0" rtlCol="0" anchor="t"/>
          <a:lstStyle/>
          <a:p>
            <a:pPr marL="0" indent="0">
              <a:lnSpc>
                <a:spcPct val="105000"/>
              </a:lnSpc>
              <a:buNone/>
            </a:pPr>
            <a:r>
              <a:rPr lang="fr" sz="1600" noProof="0">
                <a:solidFill>
                  <a:srgbClr val="17325E"/>
                </a:solidFill>
                <a:latin typeface="Calibri" pitchFamily="34" charset="0"/>
                <a:ea typeface="Calibri" pitchFamily="34" charset="-122"/>
                <a:cs typeface="Calibri" pitchFamily="34" charset="-120"/>
              </a:rPr>
              <a:t>Un adénome plus gros, ou un adénome présentant des caractéristiques plus anormales, présente un risque plus élevé de progression.</a:t>
            </a:r>
            <a:endParaRPr lang="en-US" sz="1600" noProof="0" dirty="0"/>
          </a:p>
        </p:txBody>
      </p:sp>
      <p:sp>
        <p:nvSpPr>
          <p:cNvPr id="11" name="Shape 9"/>
          <p:cNvSpPr/>
          <p:nvPr/>
        </p:nvSpPr>
        <p:spPr>
          <a:xfrm>
            <a:off x="8091221" y="1186071"/>
            <a:ext cx="3551834" cy="2431771"/>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12" name="Text 10"/>
          <p:cNvSpPr/>
          <p:nvPr/>
        </p:nvSpPr>
        <p:spPr>
          <a:xfrm>
            <a:off x="8274101" y="1266117"/>
            <a:ext cx="3186074" cy="262032"/>
          </a:xfrm>
          <a:prstGeom prst="rect">
            <a:avLst/>
          </a:prstGeom>
          <a:noFill/>
          <a:ln/>
        </p:spPr>
        <p:txBody>
          <a:bodyPr wrap="square" lIns="0" tIns="0" rIns="0" bIns="0" rtlCol="0" anchor="t"/>
          <a:lstStyle/>
          <a:p>
            <a:pPr marL="0" indent="0">
              <a:buNone/>
            </a:pPr>
            <a:r>
              <a:rPr lang="fr" sz="1600" b="1" noProof="0">
                <a:solidFill>
                  <a:srgbClr val="0E2E5C"/>
                </a:solidFill>
                <a:latin typeface="Calibri" pitchFamily="34" charset="0"/>
                <a:ea typeface="Calibri" pitchFamily="34" charset="-122"/>
                <a:cs typeface="Calibri" pitchFamily="34" charset="-120"/>
              </a:rPr>
              <a:t>Lésion festonnée sessile</a:t>
            </a:r>
            <a:endParaRPr lang="en-US" sz="1600" noProof="0" dirty="0"/>
          </a:p>
        </p:txBody>
      </p:sp>
      <p:sp>
        <p:nvSpPr>
          <p:cNvPr id="13" name="Text 11"/>
          <p:cNvSpPr/>
          <p:nvPr/>
        </p:nvSpPr>
        <p:spPr>
          <a:xfrm>
            <a:off x="8274101" y="1625475"/>
            <a:ext cx="3186074" cy="1051463"/>
          </a:xfrm>
          <a:prstGeom prst="rect">
            <a:avLst/>
          </a:prstGeom>
          <a:noFill/>
          <a:ln/>
        </p:spPr>
        <p:txBody>
          <a:bodyPr wrap="square" lIns="0" tIns="0" rIns="0" bIns="0" rtlCol="0" anchor="t"/>
          <a:lstStyle/>
          <a:p>
            <a:pPr marL="0" indent="0">
              <a:lnSpc>
                <a:spcPct val="105000"/>
              </a:lnSpc>
              <a:buNone/>
            </a:pPr>
            <a:r>
              <a:rPr lang="fr" sz="1600" noProof="0">
                <a:solidFill>
                  <a:srgbClr val="17325E"/>
                </a:solidFill>
                <a:latin typeface="Calibri" pitchFamily="34" charset="0"/>
                <a:ea typeface="Calibri" pitchFamily="34" charset="-122"/>
                <a:cs typeface="Calibri" pitchFamily="34" charset="-120"/>
              </a:rPr>
              <a:t>Lésion plate, souvent dans le côlon droit, qui peut être plus difficile à voir lors de la coloscopie et peut aussi progresser.</a:t>
            </a:r>
            <a:endParaRPr lang="en-US" sz="1600" noProof="0" dirty="0"/>
          </a:p>
        </p:txBody>
      </p:sp>
      <p:sp>
        <p:nvSpPr>
          <p:cNvPr id="14" name="Shape 12"/>
          <p:cNvSpPr/>
          <p:nvPr/>
        </p:nvSpPr>
        <p:spPr>
          <a:xfrm>
            <a:off x="548640" y="3741220"/>
            <a:ext cx="3551834" cy="2549852"/>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15" name="Text 13"/>
          <p:cNvSpPr/>
          <p:nvPr/>
        </p:nvSpPr>
        <p:spPr>
          <a:xfrm>
            <a:off x="731520" y="3834516"/>
            <a:ext cx="3186074" cy="252753"/>
          </a:xfrm>
          <a:prstGeom prst="rect">
            <a:avLst/>
          </a:prstGeom>
          <a:noFill/>
          <a:ln/>
        </p:spPr>
        <p:txBody>
          <a:bodyPr wrap="square" lIns="0" tIns="0" rIns="0" bIns="0" rtlCol="0" anchor="t"/>
          <a:lstStyle/>
          <a:p>
            <a:pPr marL="0" indent="0">
              <a:buNone/>
            </a:pPr>
            <a:r>
              <a:rPr lang="fr" sz="1600" b="1" noProof="0">
                <a:solidFill>
                  <a:srgbClr val="0E2E5C"/>
                </a:solidFill>
                <a:latin typeface="Calibri" pitchFamily="34" charset="0"/>
                <a:ea typeface="Calibri" pitchFamily="34" charset="-122"/>
                <a:cs typeface="Calibri" pitchFamily="34" charset="-120"/>
              </a:rPr>
              <a:t>Dysplasie</a:t>
            </a:r>
            <a:endParaRPr lang="en-US" sz="1600" noProof="0" dirty="0"/>
          </a:p>
        </p:txBody>
      </p:sp>
      <p:sp>
        <p:nvSpPr>
          <p:cNvPr id="16" name="Text 14"/>
          <p:cNvSpPr/>
          <p:nvPr/>
        </p:nvSpPr>
        <p:spPr>
          <a:xfrm>
            <a:off x="731520" y="4193876"/>
            <a:ext cx="3186074" cy="1014228"/>
          </a:xfrm>
          <a:prstGeom prst="rect">
            <a:avLst/>
          </a:prstGeom>
          <a:noFill/>
          <a:ln/>
        </p:spPr>
        <p:txBody>
          <a:bodyPr wrap="square" lIns="0" tIns="0" rIns="0" bIns="0" rtlCol="0" anchor="t"/>
          <a:lstStyle/>
          <a:p>
            <a:pPr marL="0" indent="0">
              <a:lnSpc>
                <a:spcPct val="105000"/>
              </a:lnSpc>
              <a:buNone/>
            </a:pPr>
            <a:r>
              <a:rPr lang="fr" sz="1600" noProof="0">
                <a:solidFill>
                  <a:srgbClr val="17325E"/>
                </a:solidFill>
                <a:latin typeface="Calibri" pitchFamily="34" charset="0"/>
                <a:ea typeface="Calibri" pitchFamily="34" charset="-122"/>
                <a:cs typeface="Calibri" pitchFamily="34" charset="-120"/>
              </a:rPr>
              <a:t>Cellules anormales qui ne sont pas encore un cancer invasif. La dysplasie est classée en bas grade ou haut grade.</a:t>
            </a:r>
            <a:endParaRPr lang="en-US" sz="1600" noProof="0" dirty="0"/>
          </a:p>
        </p:txBody>
      </p:sp>
      <p:sp>
        <p:nvSpPr>
          <p:cNvPr id="17" name="Shape 15"/>
          <p:cNvSpPr/>
          <p:nvPr/>
        </p:nvSpPr>
        <p:spPr>
          <a:xfrm>
            <a:off x="4319930" y="3741220"/>
            <a:ext cx="3551834" cy="2549852"/>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18" name="Text 16"/>
          <p:cNvSpPr/>
          <p:nvPr/>
        </p:nvSpPr>
        <p:spPr>
          <a:xfrm>
            <a:off x="4502810" y="3821264"/>
            <a:ext cx="3186074" cy="252753"/>
          </a:xfrm>
          <a:prstGeom prst="rect">
            <a:avLst/>
          </a:prstGeom>
          <a:noFill/>
          <a:ln/>
        </p:spPr>
        <p:txBody>
          <a:bodyPr wrap="square" lIns="0" tIns="0" rIns="0" bIns="0" rtlCol="0" anchor="t"/>
          <a:lstStyle/>
          <a:p>
            <a:pPr marL="0" indent="0">
              <a:buNone/>
            </a:pPr>
            <a:r>
              <a:rPr lang="fr" sz="1600" b="1" noProof="0">
                <a:solidFill>
                  <a:srgbClr val="0E2E5C"/>
                </a:solidFill>
                <a:latin typeface="Calibri" pitchFamily="34" charset="0"/>
                <a:ea typeface="Calibri" pitchFamily="34" charset="-122"/>
                <a:cs typeface="Calibri" pitchFamily="34" charset="-120"/>
              </a:rPr>
              <a:t>Un polype n'est pas un cancer</a:t>
            </a:r>
            <a:endParaRPr lang="en-US" sz="1600" noProof="0" dirty="0"/>
          </a:p>
        </p:txBody>
      </p:sp>
      <p:sp>
        <p:nvSpPr>
          <p:cNvPr id="19" name="Text 17"/>
          <p:cNvSpPr/>
          <p:nvPr/>
        </p:nvSpPr>
        <p:spPr>
          <a:xfrm>
            <a:off x="4502810" y="4180624"/>
            <a:ext cx="3186074" cy="1014228"/>
          </a:xfrm>
          <a:prstGeom prst="rect">
            <a:avLst/>
          </a:prstGeom>
          <a:noFill/>
          <a:ln/>
        </p:spPr>
        <p:txBody>
          <a:bodyPr wrap="square" lIns="0" tIns="0" rIns="0" bIns="0" rtlCol="0" anchor="t"/>
          <a:lstStyle/>
          <a:p>
            <a:pPr marL="0" indent="0">
              <a:lnSpc>
                <a:spcPct val="105000"/>
              </a:lnSpc>
              <a:buNone/>
            </a:pPr>
            <a:r>
              <a:rPr lang="fr" sz="1600" noProof="0">
                <a:solidFill>
                  <a:srgbClr val="17325E"/>
                </a:solidFill>
                <a:latin typeface="Calibri" pitchFamily="34" charset="0"/>
                <a:ea typeface="Calibri" pitchFamily="34" charset="-122"/>
                <a:cs typeface="Calibri" pitchFamily="34" charset="-120"/>
              </a:rPr>
              <a:t>Beaucoup de polypes sont bénins. L'ablation se fait parce que certains types peuvent progresser, pas parce qu'un polype est un cancer.</a:t>
            </a:r>
            <a:endParaRPr lang="en-US" sz="1600" noProof="0" dirty="0"/>
          </a:p>
        </p:txBody>
      </p:sp>
      <p:sp>
        <p:nvSpPr>
          <p:cNvPr id="20" name="Shape 18"/>
          <p:cNvSpPr/>
          <p:nvPr/>
        </p:nvSpPr>
        <p:spPr>
          <a:xfrm>
            <a:off x="8091221" y="3741220"/>
            <a:ext cx="3551834" cy="2549852"/>
          </a:xfrm>
          <a:prstGeom prst="roundRect">
            <a:avLst>
              <a:gd name="adj" fmla="val 4444"/>
            </a:avLst>
          </a:prstGeom>
          <a:solidFill>
            <a:srgbClr val="F3F7FC"/>
          </a:solidFill>
          <a:ln w="15875">
            <a:solidFill>
              <a:srgbClr val="C9DCF2"/>
            </a:solidFill>
            <a:prstDash val="solid"/>
          </a:ln>
        </p:spPr>
        <p:txBody>
          <a:bodyPr/>
          <a:lstStyle/>
          <a:p>
            <a:endParaRPr lang="en-US" sz="1600" noProof="0" dirty="0"/>
          </a:p>
        </p:txBody>
      </p:sp>
      <p:sp>
        <p:nvSpPr>
          <p:cNvPr id="21" name="Text 19"/>
          <p:cNvSpPr/>
          <p:nvPr/>
        </p:nvSpPr>
        <p:spPr>
          <a:xfrm>
            <a:off x="8274101" y="3821264"/>
            <a:ext cx="3186074" cy="252753"/>
          </a:xfrm>
          <a:prstGeom prst="rect">
            <a:avLst/>
          </a:prstGeom>
          <a:noFill/>
          <a:ln/>
        </p:spPr>
        <p:txBody>
          <a:bodyPr wrap="square" lIns="0" tIns="0" rIns="0" bIns="0" rtlCol="0" anchor="t"/>
          <a:lstStyle/>
          <a:p>
            <a:pPr marL="0" indent="0">
              <a:buNone/>
            </a:pPr>
            <a:r>
              <a:rPr lang="fr" sz="1600" b="1" noProof="0">
                <a:solidFill>
                  <a:srgbClr val="0E2E5C"/>
                </a:solidFill>
                <a:latin typeface="Calibri" pitchFamily="34" charset="0"/>
                <a:ea typeface="Calibri" pitchFamily="34" charset="-122"/>
                <a:cs typeface="Calibri" pitchFamily="34" charset="-120"/>
              </a:rPr>
              <a:t>Prévention en pratique</a:t>
            </a:r>
            <a:endParaRPr lang="en-US" sz="1600" noProof="0" dirty="0"/>
          </a:p>
        </p:txBody>
      </p:sp>
      <p:sp>
        <p:nvSpPr>
          <p:cNvPr id="22" name="Text 20"/>
          <p:cNvSpPr/>
          <p:nvPr/>
        </p:nvSpPr>
        <p:spPr>
          <a:xfrm>
            <a:off x="8274101" y="4180624"/>
            <a:ext cx="3186074" cy="1014228"/>
          </a:xfrm>
          <a:prstGeom prst="rect">
            <a:avLst/>
          </a:prstGeom>
          <a:noFill/>
          <a:ln/>
        </p:spPr>
        <p:txBody>
          <a:bodyPr wrap="square" lIns="0" tIns="0" rIns="0" bIns="0" rtlCol="0" anchor="t"/>
          <a:lstStyle/>
          <a:p>
            <a:pPr>
              <a:lnSpc>
                <a:spcPct val="105000"/>
              </a:lnSpc>
            </a:pPr>
            <a:r>
              <a:rPr lang="fr" sz="1600">
                <a:solidFill>
                  <a:srgbClr val="17325E"/>
                </a:solidFill>
                <a:latin typeface="Calibri" pitchFamily="34" charset="0"/>
                <a:ea typeface="Calibri" pitchFamily="34" charset="-122"/>
                <a:cs typeface="Calibri" pitchFamily="34" charset="-120"/>
              </a:rPr>
              <a:t>L’ablation d’un adénome interrompt la progression précancéreuse.</a:t>
            </a:r>
          </a:p>
          <a:p>
            <a:pPr>
              <a:lnSpc>
                <a:spcPct val="105000"/>
              </a:lnSpc>
            </a:pPr>
            <a:r>
              <a:rPr lang="fr" sz="1600">
                <a:solidFill>
                  <a:srgbClr val="17325E"/>
                </a:solidFill>
                <a:latin typeface="Calibri" pitchFamily="34" charset="0"/>
                <a:ea typeface="Calibri" pitchFamily="34" charset="-122"/>
                <a:cs typeface="Calibri" pitchFamily="34" charset="-120"/>
              </a:rPr>
              <a:t>C’est la raison de la coloscopie</a:t>
            </a:r>
          </a:p>
          <a:p>
            <a:pPr>
              <a:lnSpc>
                <a:spcPct val="105000"/>
              </a:lnSpc>
            </a:pPr>
            <a:r>
              <a:rPr lang="fr" sz="1600">
                <a:solidFill>
                  <a:srgbClr val="17325E"/>
                </a:solidFill>
                <a:latin typeface="Calibri" pitchFamily="34" charset="0"/>
                <a:ea typeface="Calibri" pitchFamily="34" charset="-122"/>
                <a:cs typeface="Calibri" pitchFamily="34" charset="-120"/>
              </a:rPr>
              <a:t>Le dépistage peut détecter et aussi prévenir.</a:t>
            </a:r>
            <a:endParaRPr lang="en-US" sz="1600" noProof="0" dirty="0"/>
          </a:p>
        </p:txBody>
      </p:sp>
      <p:pic>
        <p:nvPicPr>
          <p:cNvPr id="26" name="Imagen 25">
            <a:extLst>
              <a:ext uri="{FF2B5EF4-FFF2-40B4-BE49-F238E27FC236}">
                <a16:creationId xmlns:a16="http://schemas.microsoft.com/office/drawing/2014/main" id="{7FAD9D77-2373-22F9-2D56-F32F213F91ED}"/>
              </a:ext>
            </a:extLst>
          </p:cNvPr>
          <p:cNvPicPr>
            <a:picLocks noChangeAspect="1"/>
          </p:cNvPicPr>
          <p:nvPr/>
        </p:nvPicPr>
        <p:blipFill>
          <a:blip r:embed="rId3"/>
          <a:srcRect t="14828" b="13558"/>
          <a:stretch>
            <a:fillRect/>
          </a:stretch>
        </p:blipFill>
        <p:spPr>
          <a:xfrm>
            <a:off x="1468226" y="2676938"/>
            <a:ext cx="1693872" cy="808694"/>
          </a:xfrm>
          <a:prstGeom prst="rect">
            <a:avLst/>
          </a:prstGeom>
        </p:spPr>
      </p:pic>
      <p:pic>
        <p:nvPicPr>
          <p:cNvPr id="28" name="Imagen 27">
            <a:extLst>
              <a:ext uri="{FF2B5EF4-FFF2-40B4-BE49-F238E27FC236}">
                <a16:creationId xmlns:a16="http://schemas.microsoft.com/office/drawing/2014/main" id="{9054DE63-FD72-E559-40C5-36E19820388C}"/>
              </a:ext>
            </a:extLst>
          </p:cNvPr>
          <p:cNvPicPr>
            <a:picLocks noChangeAspect="1"/>
          </p:cNvPicPr>
          <p:nvPr/>
        </p:nvPicPr>
        <p:blipFill>
          <a:blip r:embed="rId4"/>
          <a:srcRect/>
          <a:stretch>
            <a:fillRect/>
          </a:stretch>
        </p:blipFill>
        <p:spPr>
          <a:xfrm>
            <a:off x="5315378" y="2445007"/>
            <a:ext cx="1560937" cy="1040625"/>
          </a:xfrm>
          <a:prstGeom prst="rect">
            <a:avLst/>
          </a:prstGeom>
        </p:spPr>
      </p:pic>
      <p:pic>
        <p:nvPicPr>
          <p:cNvPr id="29" name="Imagen 28">
            <a:extLst>
              <a:ext uri="{FF2B5EF4-FFF2-40B4-BE49-F238E27FC236}">
                <a16:creationId xmlns:a16="http://schemas.microsoft.com/office/drawing/2014/main" id="{84523789-3551-100E-F7CC-CC03B15EF911}"/>
              </a:ext>
            </a:extLst>
          </p:cNvPr>
          <p:cNvPicPr>
            <a:picLocks noChangeAspect="1"/>
          </p:cNvPicPr>
          <p:nvPr/>
        </p:nvPicPr>
        <p:blipFill>
          <a:blip r:embed="rId5"/>
          <a:srcRect/>
          <a:stretch>
            <a:fillRect/>
          </a:stretch>
        </p:blipFill>
        <p:spPr>
          <a:xfrm>
            <a:off x="9137082" y="2401956"/>
            <a:ext cx="1521342" cy="1014228"/>
          </a:xfrm>
          <a:prstGeom prst="rect">
            <a:avLst/>
          </a:prstGeom>
        </p:spPr>
      </p:pic>
      <p:pic>
        <p:nvPicPr>
          <p:cNvPr id="30" name="Imagen 29">
            <a:extLst>
              <a:ext uri="{FF2B5EF4-FFF2-40B4-BE49-F238E27FC236}">
                <a16:creationId xmlns:a16="http://schemas.microsoft.com/office/drawing/2014/main" id="{9CD0E0AB-4F08-4A8B-1B34-1CE5CB1B142C}"/>
              </a:ext>
            </a:extLst>
          </p:cNvPr>
          <p:cNvPicPr>
            <a:picLocks noChangeAspect="1"/>
          </p:cNvPicPr>
          <p:nvPr/>
        </p:nvPicPr>
        <p:blipFill>
          <a:blip r:embed="rId6"/>
          <a:srcRect/>
          <a:stretch>
            <a:fillRect/>
          </a:stretch>
        </p:blipFill>
        <p:spPr>
          <a:xfrm>
            <a:off x="1336301" y="4843603"/>
            <a:ext cx="1794014" cy="119600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200" b="1" noProof="0">
                <a:solidFill>
                  <a:srgbClr val="0E2E5C"/>
                </a:solidFill>
                <a:latin typeface="Cambria" pitchFamily="34" charset="0"/>
                <a:ea typeface="Cambria" pitchFamily="34" charset="-122"/>
                <a:cs typeface="Cambria" pitchFamily="34" charset="-120"/>
              </a:rPr>
              <a:t>Vérifiez votre compréhension</a:t>
            </a:r>
            <a:endParaRPr lang="en-US" sz="32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371600"/>
            <a:ext cx="7772400" cy="365760"/>
          </a:xfrm>
          <a:prstGeom prst="rect">
            <a:avLst/>
          </a:prstGeom>
          <a:noFill/>
          <a:ln/>
        </p:spPr>
        <p:txBody>
          <a:bodyPr wrap="square" lIns="0" tIns="0" rIns="0" bIns="0" rtlCol="0" anchor="ctr">
            <a:normAutofit fontScale="81000" lnSpcReduction="10000"/>
          </a:bodyPr>
          <a:lstStyle/>
          <a:p>
            <a:pPr marL="0" indent="0">
              <a:buNone/>
            </a:pPr>
            <a:r>
              <a:rPr lang="fr" sz="2000" b="1" noProof="0">
                <a:solidFill>
                  <a:srgbClr val="0E2E5C"/>
                </a:solidFill>
                <a:latin typeface="Calibri" pitchFamily="34" charset="0"/>
                <a:ea typeface="Calibri" pitchFamily="34" charset="-122"/>
                <a:cs typeface="Calibri" pitchFamily="34" charset="-120"/>
              </a:rPr>
              <a:t>Quelle séquence reflète le mieux le développement de la plupart des cancers colorectaux ?</a:t>
            </a:r>
            <a:endParaRPr lang="en-US" sz="2000" noProof="0" dirty="0"/>
          </a:p>
        </p:txBody>
      </p:sp>
      <p:sp>
        <p:nvSpPr>
          <p:cNvPr id="6" name="Shape 4"/>
          <p:cNvSpPr/>
          <p:nvPr/>
        </p:nvSpPr>
        <p:spPr>
          <a:xfrm>
            <a:off x="548640" y="1828800"/>
            <a:ext cx="7772400" cy="566928"/>
          </a:xfrm>
          <a:prstGeom prst="roundRect">
            <a:avLst>
              <a:gd name="adj" fmla="val 12903"/>
            </a:avLst>
          </a:prstGeom>
          <a:solidFill>
            <a:srgbClr val="F3F7FC"/>
          </a:solidFill>
          <a:ln w="15875">
            <a:solidFill>
              <a:srgbClr val="C9DCF2"/>
            </a:solidFill>
            <a:prstDash val="solid"/>
          </a:ln>
        </p:spPr>
        <p:txBody>
          <a:bodyPr/>
          <a:lstStyle/>
          <a:p>
            <a:endParaRPr lang="en-US" sz="2000" noProof="0" dirty="0"/>
          </a:p>
        </p:txBody>
      </p:sp>
      <p:sp>
        <p:nvSpPr>
          <p:cNvPr id="7" name="Text 5"/>
          <p:cNvSpPr/>
          <p:nvPr/>
        </p:nvSpPr>
        <p:spPr>
          <a:xfrm>
            <a:off x="713232" y="1828800"/>
            <a:ext cx="7461504" cy="566928"/>
          </a:xfrm>
          <a:prstGeom prst="rect">
            <a:avLst/>
          </a:prstGeom>
          <a:noFill/>
          <a:ln/>
        </p:spPr>
        <p:txBody>
          <a:bodyPr wrap="square" lIns="0" tIns="0" rIns="0" bIns="0" rtlCol="0" anchor="ctr">
            <a:noAutofit/>
          </a:bodyPr>
          <a:lstStyle/>
          <a:p>
            <a:pPr marL="0" indent="0">
              <a:buNone/>
            </a:pPr>
            <a:r>
              <a:rPr lang="fr" sz="1530" b="1" noProof="0">
                <a:solidFill>
                  <a:srgbClr val="1F4E96"/>
                </a:solidFill>
                <a:latin typeface="Calibri" pitchFamily="34" charset="0"/>
                <a:ea typeface="Calibri" pitchFamily="34" charset="-122"/>
                <a:cs typeface="Calibri" pitchFamily="34" charset="-120"/>
              </a:rPr>
              <a:t>Une   </a:t>
            </a:r>
            <a:r>
              <a:rPr lang="fr" sz="1530" noProof="0">
                <a:solidFill>
                  <a:srgbClr val="17325E"/>
                </a:solidFill>
                <a:latin typeface="Calibri" pitchFamily="34" charset="0"/>
                <a:ea typeface="Calibri" pitchFamily="34" charset="-122"/>
                <a:cs typeface="Calibri" pitchFamily="34" charset="-120"/>
              </a:rPr>
              <a:t>diffusion lointaine d'abord, puis un polype se forme</a:t>
            </a:r>
            <a:endParaRPr lang="en-US" noProof="0" dirty="0"/>
          </a:p>
        </p:txBody>
      </p:sp>
      <p:sp>
        <p:nvSpPr>
          <p:cNvPr id="8" name="Shape 6"/>
          <p:cNvSpPr/>
          <p:nvPr/>
        </p:nvSpPr>
        <p:spPr>
          <a:xfrm>
            <a:off x="548640" y="2487168"/>
            <a:ext cx="7772400" cy="566928"/>
          </a:xfrm>
          <a:prstGeom prst="roundRect">
            <a:avLst>
              <a:gd name="adj" fmla="val 12903"/>
            </a:avLst>
          </a:prstGeom>
          <a:solidFill>
            <a:srgbClr val="EAF6F0"/>
          </a:solidFill>
          <a:ln w="15875">
            <a:solidFill>
              <a:srgbClr val="9BCBB4"/>
            </a:solidFill>
            <a:prstDash val="solid"/>
          </a:ln>
        </p:spPr>
        <p:txBody>
          <a:bodyPr/>
          <a:lstStyle/>
          <a:p>
            <a:endParaRPr lang="en-US" sz="2000" noProof="0" dirty="0"/>
          </a:p>
        </p:txBody>
      </p:sp>
      <p:sp>
        <p:nvSpPr>
          <p:cNvPr id="9" name="Text 7"/>
          <p:cNvSpPr/>
          <p:nvPr/>
        </p:nvSpPr>
        <p:spPr>
          <a:xfrm>
            <a:off x="713232" y="2487168"/>
            <a:ext cx="7461504" cy="566928"/>
          </a:xfrm>
          <a:prstGeom prst="rect">
            <a:avLst/>
          </a:prstGeom>
          <a:noFill/>
          <a:ln/>
        </p:spPr>
        <p:txBody>
          <a:bodyPr wrap="square" lIns="0" tIns="0" rIns="0" bIns="0" rtlCol="0" anchor="ctr">
            <a:noAutofit/>
          </a:bodyPr>
          <a:lstStyle/>
          <a:p>
            <a:pPr marL="0" indent="0">
              <a:buNone/>
            </a:pPr>
            <a:r>
              <a:rPr lang="fr" sz="1530" b="1" noProof="0">
                <a:solidFill>
                  <a:srgbClr val="126647"/>
                </a:solidFill>
                <a:latin typeface="Calibri" pitchFamily="34" charset="0"/>
                <a:ea typeface="Calibri" pitchFamily="34" charset="-122"/>
                <a:cs typeface="Calibri" pitchFamily="34" charset="-120"/>
              </a:rPr>
              <a:t>B Muqueuse normale, lésion précurseure, cancer invasif, puis ganglion lymphatique et propagation à distance ✓</a:t>
            </a:r>
            <a:endParaRPr lang="en-US" noProof="0" dirty="0"/>
          </a:p>
        </p:txBody>
      </p:sp>
      <p:sp>
        <p:nvSpPr>
          <p:cNvPr id="10" name="Shape 8"/>
          <p:cNvSpPr/>
          <p:nvPr/>
        </p:nvSpPr>
        <p:spPr>
          <a:xfrm>
            <a:off x="548640" y="3145536"/>
            <a:ext cx="7772400" cy="566928"/>
          </a:xfrm>
          <a:prstGeom prst="roundRect">
            <a:avLst>
              <a:gd name="adj" fmla="val 12903"/>
            </a:avLst>
          </a:prstGeom>
          <a:solidFill>
            <a:srgbClr val="F3F7FC"/>
          </a:solidFill>
          <a:ln w="15875">
            <a:solidFill>
              <a:srgbClr val="C9DCF2"/>
            </a:solidFill>
            <a:prstDash val="solid"/>
          </a:ln>
        </p:spPr>
        <p:txBody>
          <a:bodyPr/>
          <a:lstStyle/>
          <a:p>
            <a:endParaRPr lang="en-US" sz="2000" noProof="0" dirty="0"/>
          </a:p>
        </p:txBody>
      </p:sp>
      <p:sp>
        <p:nvSpPr>
          <p:cNvPr id="11" name="Text 9"/>
          <p:cNvSpPr/>
          <p:nvPr/>
        </p:nvSpPr>
        <p:spPr>
          <a:xfrm>
            <a:off x="713232" y="3145536"/>
            <a:ext cx="7461504" cy="566928"/>
          </a:xfrm>
          <a:prstGeom prst="rect">
            <a:avLst/>
          </a:prstGeom>
          <a:noFill/>
          <a:ln/>
        </p:spPr>
        <p:txBody>
          <a:bodyPr wrap="square" lIns="0" tIns="0" rIns="0" bIns="0" rtlCol="0" anchor="ctr">
            <a:noAutofit/>
          </a:bodyPr>
          <a:lstStyle/>
          <a:p>
            <a:pPr marL="0" indent="0">
              <a:buNone/>
            </a:pPr>
            <a:r>
              <a:rPr lang="fr" sz="1530" b="1" noProof="0">
                <a:solidFill>
                  <a:srgbClr val="1F4E96"/>
                </a:solidFill>
                <a:latin typeface="Calibri" pitchFamily="34" charset="0"/>
                <a:ea typeface="Calibri" pitchFamily="34" charset="-122"/>
                <a:cs typeface="Calibri" pitchFamily="34" charset="-120"/>
              </a:rPr>
              <a:t>Le cancer du C </a:t>
            </a:r>
            <a:r>
              <a:rPr lang="fr" sz="1530" noProof="0">
                <a:solidFill>
                  <a:srgbClr val="17325E"/>
                </a:solidFill>
                <a:latin typeface="Calibri" pitchFamily="34" charset="0"/>
                <a:ea typeface="Calibri" pitchFamily="34" charset="-122"/>
                <a:cs typeface="Calibri" pitchFamily="34" charset="-120"/>
              </a:rPr>
              <a:t>apparaît soudainement dans un intestin auparavant normal dans tous les cas</a:t>
            </a:r>
            <a:endParaRPr lang="en-US" noProof="0" dirty="0"/>
          </a:p>
        </p:txBody>
      </p:sp>
      <p:sp>
        <p:nvSpPr>
          <p:cNvPr id="12" name="Shape 10"/>
          <p:cNvSpPr/>
          <p:nvPr/>
        </p:nvSpPr>
        <p:spPr>
          <a:xfrm>
            <a:off x="548640" y="3803904"/>
            <a:ext cx="7772400" cy="566928"/>
          </a:xfrm>
          <a:prstGeom prst="roundRect">
            <a:avLst>
              <a:gd name="adj" fmla="val 12903"/>
            </a:avLst>
          </a:prstGeom>
          <a:solidFill>
            <a:srgbClr val="F3F7FC"/>
          </a:solidFill>
          <a:ln w="15875">
            <a:solidFill>
              <a:srgbClr val="C9DCF2"/>
            </a:solidFill>
            <a:prstDash val="solid"/>
          </a:ln>
        </p:spPr>
        <p:txBody>
          <a:bodyPr/>
          <a:lstStyle/>
          <a:p>
            <a:endParaRPr lang="en-US" sz="2000" noProof="0" dirty="0"/>
          </a:p>
        </p:txBody>
      </p:sp>
      <p:sp>
        <p:nvSpPr>
          <p:cNvPr id="13" name="Text 11"/>
          <p:cNvSpPr/>
          <p:nvPr/>
        </p:nvSpPr>
        <p:spPr>
          <a:xfrm>
            <a:off x="713232" y="3803904"/>
            <a:ext cx="7461504" cy="566928"/>
          </a:xfrm>
          <a:prstGeom prst="rect">
            <a:avLst/>
          </a:prstGeom>
          <a:noFill/>
          <a:ln/>
        </p:spPr>
        <p:txBody>
          <a:bodyPr wrap="square" lIns="0" tIns="0" rIns="0" bIns="0" rtlCol="0" anchor="ctr">
            <a:noAutofit/>
          </a:bodyPr>
          <a:lstStyle/>
          <a:p>
            <a:pPr marL="0" indent="0">
              <a:buNone/>
            </a:pPr>
            <a:r>
              <a:rPr lang="fr" sz="1530" b="1" noProof="0">
                <a:solidFill>
                  <a:srgbClr val="1F4E96"/>
                </a:solidFill>
                <a:latin typeface="Calibri" pitchFamily="34" charset="0"/>
                <a:ea typeface="Calibri" pitchFamily="34" charset="-122"/>
                <a:cs typeface="Calibri" pitchFamily="34" charset="-120"/>
              </a:rPr>
              <a:t>Les symptômes   </a:t>
            </a:r>
            <a:r>
              <a:rPr lang="fr" sz="1530" noProof="0">
                <a:solidFill>
                  <a:srgbClr val="17325E"/>
                </a:solidFill>
                <a:latin typeface="Calibri" pitchFamily="34" charset="0"/>
                <a:ea typeface="Calibri" pitchFamily="34" charset="-122"/>
                <a:cs typeface="Calibri" pitchFamily="34" charset="-120"/>
              </a:rPr>
              <a:t>D apparaissent toujours avant toute croissance anormale</a:t>
            </a:r>
            <a:endParaRPr lang="en-US" noProof="0" dirty="0"/>
          </a:p>
        </p:txBody>
      </p:sp>
      <p:sp>
        <p:nvSpPr>
          <p:cNvPr id="14" name="Shape 12"/>
          <p:cNvSpPr/>
          <p:nvPr/>
        </p:nvSpPr>
        <p:spPr>
          <a:xfrm>
            <a:off x="8595360" y="1828800"/>
            <a:ext cx="3047695" cy="3931920"/>
          </a:xfrm>
          <a:prstGeom prst="roundRect">
            <a:avLst>
              <a:gd name="adj" fmla="val 3000"/>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8759952" y="1975104"/>
            <a:ext cx="2718511" cy="365760"/>
          </a:xfrm>
          <a:prstGeom prst="rect">
            <a:avLst/>
          </a:prstGeom>
          <a:noFill/>
          <a:ln/>
        </p:spPr>
        <p:txBody>
          <a:bodyPr wrap="square" lIns="0" tIns="0" rIns="0" bIns="0" rtlCol="0" anchor="ctr"/>
          <a:lstStyle/>
          <a:p>
            <a:pPr marL="0" indent="0">
              <a:buNone/>
            </a:pPr>
            <a:r>
              <a:rPr lang="fr" sz="2000" b="1" noProof="0">
                <a:solidFill>
                  <a:srgbClr val="126647"/>
                </a:solidFill>
                <a:latin typeface="Calibri" pitchFamily="34" charset="0"/>
                <a:ea typeface="Calibri" pitchFamily="34" charset="-122"/>
                <a:cs typeface="Calibri" pitchFamily="34" charset="-120"/>
              </a:rPr>
              <a:t>Bonne réponse : B</a:t>
            </a:r>
            <a:endParaRPr lang="en-US" sz="2000" noProof="0" dirty="0"/>
          </a:p>
        </p:txBody>
      </p:sp>
      <p:sp>
        <p:nvSpPr>
          <p:cNvPr id="16" name="Text 14"/>
          <p:cNvSpPr/>
          <p:nvPr/>
        </p:nvSpPr>
        <p:spPr>
          <a:xfrm>
            <a:off x="8759952" y="2414016"/>
            <a:ext cx="2718511" cy="3218688"/>
          </a:xfrm>
          <a:prstGeom prst="rect">
            <a:avLst/>
          </a:prstGeom>
          <a:noFill/>
          <a:ln/>
        </p:spPr>
        <p:txBody>
          <a:bodyPr wrap="square" lIns="0" tIns="0" rIns="0" bIns="0" rtlCol="0" anchor="t">
            <a:noAutofit/>
          </a:bodyPr>
          <a:lstStyle/>
          <a:p>
            <a:pPr marL="0" indent="0">
              <a:buNone/>
            </a:pPr>
            <a:r>
              <a:rPr lang="fr" sz="1692" noProof="0">
                <a:solidFill>
                  <a:srgbClr val="17325E"/>
                </a:solidFill>
                <a:latin typeface="Calibri" pitchFamily="34" charset="0"/>
                <a:ea typeface="Calibri" pitchFamily="34" charset="-122"/>
                <a:cs typeface="Calibri" pitchFamily="34" charset="-120"/>
              </a:rPr>
              <a:t>La plupart des cancers colorectaux se développent au fil des années par une lésion précurseure, puis envahissent la paroi intestinale, puis peuvent atteindre les ganglions lymphatiques et les zones éloignées, le plus souvent le foie. La maladie précoce est souvent silencieuse, et tous les polypes ne suivent pas cette voie.</a:t>
            </a:r>
            <a:endParaRPr lang="en-US" noProof="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Stadification : le système TNM</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39" y="1411356"/>
            <a:ext cx="4394421" cy="1322741"/>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478148"/>
            <a:ext cx="3186074" cy="359359"/>
          </a:xfrm>
          <a:prstGeom prst="rect">
            <a:avLst/>
          </a:prstGeom>
          <a:noFill/>
          <a:ln/>
        </p:spPr>
        <p:txBody>
          <a:bodyPr wrap="square" lIns="0" tIns="0" rIns="0" bIns="0" rtlCol="0" anchor="t"/>
          <a:lstStyle/>
          <a:p>
            <a:pPr marL="0" indent="0">
              <a:buNone/>
            </a:pPr>
            <a:r>
              <a:rPr lang="fr" b="1" noProof="0">
                <a:solidFill>
                  <a:srgbClr val="0E2E5C"/>
                </a:solidFill>
                <a:latin typeface="Calibri" pitchFamily="34" charset="0"/>
                <a:ea typeface="Calibri" pitchFamily="34" charset="-122"/>
                <a:cs typeface="Calibri" pitchFamily="34" charset="-120"/>
              </a:rPr>
              <a:t>T : tumeur primaire</a:t>
            </a:r>
            <a:endParaRPr lang="en-US" noProof="0" dirty="0"/>
          </a:p>
        </p:txBody>
      </p:sp>
      <p:sp>
        <p:nvSpPr>
          <p:cNvPr id="7" name="Text 5"/>
          <p:cNvSpPr/>
          <p:nvPr/>
        </p:nvSpPr>
        <p:spPr>
          <a:xfrm>
            <a:off x="665260" y="1797751"/>
            <a:ext cx="4211540" cy="1442009"/>
          </a:xfrm>
          <a:prstGeom prst="rect">
            <a:avLst/>
          </a:prstGeom>
          <a:noFill/>
          <a:ln/>
        </p:spPr>
        <p:txBody>
          <a:bodyPr wrap="square" lIns="0" tIns="0" rIns="0" bIns="0" rtlCol="0" anchor="t"/>
          <a:lstStyle/>
          <a:p>
            <a:pPr marL="0" indent="0">
              <a:lnSpc>
                <a:spcPct val="105000"/>
              </a:lnSpc>
              <a:buNone/>
            </a:pPr>
            <a:r>
              <a:rPr lang="fr" noProof="0">
                <a:solidFill>
                  <a:srgbClr val="17325E"/>
                </a:solidFill>
                <a:latin typeface="Calibri" pitchFamily="34" charset="0"/>
                <a:ea typeface="Calibri" pitchFamily="34" charset="-122"/>
                <a:cs typeface="Calibri" pitchFamily="34" charset="-120"/>
              </a:rPr>
              <a:t>Décrit à quel point la tumeur s'est étendue à travers les couches de la paroi intestinale, et si elle s'étend dans les structures voisines.</a:t>
            </a:r>
            <a:endParaRPr lang="en-US" noProof="0" dirty="0"/>
          </a:p>
        </p:txBody>
      </p:sp>
      <p:sp>
        <p:nvSpPr>
          <p:cNvPr id="8" name="Shape 6"/>
          <p:cNvSpPr/>
          <p:nvPr/>
        </p:nvSpPr>
        <p:spPr>
          <a:xfrm>
            <a:off x="548639" y="2936589"/>
            <a:ext cx="4394420" cy="1438367"/>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731519" y="3016633"/>
            <a:ext cx="3941892" cy="263651"/>
          </a:xfrm>
          <a:prstGeom prst="rect">
            <a:avLst/>
          </a:prstGeom>
          <a:noFill/>
          <a:ln/>
        </p:spPr>
        <p:txBody>
          <a:bodyPr wrap="square" lIns="0" tIns="0" rIns="0" bIns="0" rtlCol="0" anchor="t"/>
          <a:lstStyle/>
          <a:p>
            <a:pPr marL="0" indent="0">
              <a:buNone/>
            </a:pPr>
            <a:r>
              <a:rPr lang="fr" b="1" noProof="0">
                <a:solidFill>
                  <a:srgbClr val="0E2E5C"/>
                </a:solidFill>
                <a:latin typeface="Calibri" pitchFamily="34" charset="0"/>
                <a:ea typeface="Calibri" pitchFamily="34" charset="-122"/>
                <a:cs typeface="Calibri" pitchFamily="34" charset="-120"/>
              </a:rPr>
              <a:t>N : ganglions lymphatiques régionaux</a:t>
            </a:r>
            <a:endParaRPr lang="en-US" noProof="0" dirty="0"/>
          </a:p>
        </p:txBody>
      </p:sp>
      <p:sp>
        <p:nvSpPr>
          <p:cNvPr id="10" name="Text 8"/>
          <p:cNvSpPr/>
          <p:nvPr/>
        </p:nvSpPr>
        <p:spPr>
          <a:xfrm>
            <a:off x="731519" y="3375992"/>
            <a:ext cx="3941892" cy="1057961"/>
          </a:xfrm>
          <a:prstGeom prst="rect">
            <a:avLst/>
          </a:prstGeom>
          <a:noFill/>
          <a:ln/>
        </p:spPr>
        <p:txBody>
          <a:bodyPr wrap="square" lIns="0" tIns="0" rIns="0" bIns="0" rtlCol="0" anchor="t"/>
          <a:lstStyle/>
          <a:p>
            <a:pPr marL="0" indent="0">
              <a:lnSpc>
                <a:spcPct val="105000"/>
              </a:lnSpc>
              <a:buNone/>
            </a:pPr>
            <a:r>
              <a:rPr lang="fr" noProof="0">
                <a:solidFill>
                  <a:srgbClr val="17325E"/>
                </a:solidFill>
                <a:latin typeface="Calibri" pitchFamily="34" charset="0"/>
                <a:ea typeface="Calibri" pitchFamily="34" charset="-122"/>
                <a:cs typeface="Calibri" pitchFamily="34" charset="-120"/>
              </a:rPr>
              <a:t>Décrit si le cancer a atteint les ganglions lymphatiques près de l'intestin, et combien sont impliqués.</a:t>
            </a:r>
            <a:endParaRPr lang="en-US" noProof="0" dirty="0"/>
          </a:p>
        </p:txBody>
      </p:sp>
      <p:sp>
        <p:nvSpPr>
          <p:cNvPr id="11" name="Shape 9"/>
          <p:cNvSpPr/>
          <p:nvPr/>
        </p:nvSpPr>
        <p:spPr>
          <a:xfrm>
            <a:off x="548638" y="4634964"/>
            <a:ext cx="4394419" cy="1699572"/>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731518" y="4728260"/>
            <a:ext cx="3941891" cy="359359"/>
          </a:xfrm>
          <a:prstGeom prst="rect">
            <a:avLst/>
          </a:prstGeom>
          <a:noFill/>
          <a:ln/>
        </p:spPr>
        <p:txBody>
          <a:bodyPr wrap="square" lIns="0" tIns="0" rIns="0" bIns="0" rtlCol="0" anchor="t"/>
          <a:lstStyle/>
          <a:p>
            <a:pPr marL="0" indent="0">
              <a:buNone/>
            </a:pPr>
            <a:r>
              <a:rPr lang="fr" b="1" noProof="0">
                <a:solidFill>
                  <a:srgbClr val="0E2E5C"/>
                </a:solidFill>
                <a:latin typeface="Calibri" pitchFamily="34" charset="0"/>
                <a:ea typeface="Calibri" pitchFamily="34" charset="-122"/>
                <a:cs typeface="Calibri" pitchFamily="34" charset="-120"/>
              </a:rPr>
              <a:t>M : métastases à distance</a:t>
            </a:r>
            <a:endParaRPr lang="en-US" noProof="0" dirty="0"/>
          </a:p>
        </p:txBody>
      </p:sp>
      <p:sp>
        <p:nvSpPr>
          <p:cNvPr id="13" name="Text 11"/>
          <p:cNvSpPr/>
          <p:nvPr/>
        </p:nvSpPr>
        <p:spPr>
          <a:xfrm>
            <a:off x="731518" y="5087619"/>
            <a:ext cx="3941891" cy="1442009"/>
          </a:xfrm>
          <a:prstGeom prst="rect">
            <a:avLst/>
          </a:prstGeom>
          <a:noFill/>
          <a:ln/>
        </p:spPr>
        <p:txBody>
          <a:bodyPr wrap="square" lIns="0" tIns="0" rIns="0" bIns="0" rtlCol="0" anchor="t"/>
          <a:lstStyle/>
          <a:p>
            <a:pPr marL="0" indent="0">
              <a:lnSpc>
                <a:spcPct val="105000"/>
              </a:lnSpc>
              <a:buNone/>
            </a:pPr>
            <a:r>
              <a:rPr lang="fr" noProof="0">
                <a:solidFill>
                  <a:srgbClr val="17325E"/>
                </a:solidFill>
                <a:latin typeface="Calibri" pitchFamily="34" charset="0"/>
                <a:ea typeface="Calibri" pitchFamily="34" charset="-122"/>
                <a:cs typeface="Calibri" pitchFamily="34" charset="-120"/>
              </a:rPr>
              <a:t>Décrit une propagation vers des organes éloignés. Dans le cancer colorectal, le foie est le site le plus fréquent, puis les poumons et les surfaces péritonéales.</a:t>
            </a:r>
            <a:endParaRPr lang="en-US" noProof="0" dirty="0"/>
          </a:p>
        </p:txBody>
      </p:sp>
      <p:sp>
        <p:nvSpPr>
          <p:cNvPr id="14" name="Shape 12"/>
          <p:cNvSpPr/>
          <p:nvPr/>
        </p:nvSpPr>
        <p:spPr>
          <a:xfrm>
            <a:off x="5611275" y="1411356"/>
            <a:ext cx="5915465" cy="1075771"/>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8157786" y="1557660"/>
            <a:ext cx="3186074" cy="359359"/>
          </a:xfrm>
          <a:prstGeom prst="rect">
            <a:avLst/>
          </a:prstGeom>
          <a:noFill/>
          <a:ln/>
        </p:spPr>
        <p:txBody>
          <a:bodyPr wrap="square" lIns="0" tIns="0" rIns="0" bIns="0" rtlCol="0" anchor="t"/>
          <a:lstStyle/>
          <a:p>
            <a:pPr marL="0" indent="0">
              <a:buNone/>
            </a:pPr>
            <a:endParaRPr lang="en-US" noProof="0" dirty="0"/>
          </a:p>
        </p:txBody>
      </p:sp>
      <p:sp>
        <p:nvSpPr>
          <p:cNvPr id="16" name="Text 14"/>
          <p:cNvSpPr/>
          <p:nvPr/>
        </p:nvSpPr>
        <p:spPr>
          <a:xfrm>
            <a:off x="5795479" y="1466220"/>
            <a:ext cx="5547055" cy="981151"/>
          </a:xfrm>
          <a:prstGeom prst="rect">
            <a:avLst/>
          </a:prstGeom>
          <a:noFill/>
          <a:ln/>
        </p:spPr>
        <p:txBody>
          <a:bodyPr wrap="square" lIns="0" tIns="0" rIns="0" bIns="0" rtlCol="0" anchor="t"/>
          <a:lstStyle/>
          <a:p>
            <a:pPr>
              <a:lnSpc>
                <a:spcPct val="105000"/>
              </a:lnSpc>
            </a:pPr>
            <a:r>
              <a:rPr lang="fr" b="1" noProof="0">
                <a:solidFill>
                  <a:srgbClr val="0E2E5C"/>
                </a:solidFill>
                <a:latin typeface="Calibri" pitchFamily="34" charset="0"/>
                <a:ea typeface="Calibri" pitchFamily="34" charset="-122"/>
                <a:cs typeface="Calibri" pitchFamily="34" charset="-120"/>
              </a:rPr>
              <a:t>Stade : combine T, N et M. Il indique l'étendue de la propagation de la maladie, informe le pronostic et façonne la planification du traitement.</a:t>
            </a:r>
            <a:endParaRPr lang="en-US" noProof="0" dirty="0"/>
          </a:p>
        </p:txBody>
      </p:sp>
      <p:pic>
        <p:nvPicPr>
          <p:cNvPr id="17" name="Imagen 16">
            <a:extLst>
              <a:ext uri="{FF2B5EF4-FFF2-40B4-BE49-F238E27FC236}">
                <a16:creationId xmlns:a16="http://schemas.microsoft.com/office/drawing/2014/main" id="{F85996BD-B60A-1968-2D9E-52B39618E79D}"/>
              </a:ext>
            </a:extLst>
          </p:cNvPr>
          <p:cNvPicPr>
            <a:picLocks noChangeAspect="1"/>
          </p:cNvPicPr>
          <p:nvPr/>
        </p:nvPicPr>
        <p:blipFill>
          <a:blip r:embed="rId3"/>
          <a:stretch>
            <a:fillRect/>
          </a:stretch>
        </p:blipFill>
        <p:spPr>
          <a:xfrm>
            <a:off x="5154092" y="2578567"/>
            <a:ext cx="6671841" cy="386221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791F2B-B7D0-5E46-E821-51D1FCEAD3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6629465-30C4-17EE-72CF-2F0A7889F52C}"/>
              </a:ext>
            </a:extLst>
          </p:cNvPr>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a:extLst>
              <a:ext uri="{FF2B5EF4-FFF2-40B4-BE49-F238E27FC236}">
                <a16:creationId xmlns:a16="http://schemas.microsoft.com/office/drawing/2014/main" id="{B4457460-C1DB-14D5-AD39-204FCA257AC9}"/>
              </a:ext>
            </a:extLst>
          </p:cNvPr>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Le stade et le grade sont différents</a:t>
            </a:r>
            <a:endParaRPr lang="en-US" sz="3400" noProof="0" dirty="0"/>
          </a:p>
        </p:txBody>
      </p:sp>
      <p:sp>
        <p:nvSpPr>
          <p:cNvPr id="4" name="Text 2">
            <a:extLst>
              <a:ext uri="{FF2B5EF4-FFF2-40B4-BE49-F238E27FC236}">
                <a16:creationId xmlns:a16="http://schemas.microsoft.com/office/drawing/2014/main" id="{F04393A6-F661-B587-33B9-E6BC090C7A52}"/>
              </a:ext>
            </a:extLst>
          </p:cNvPr>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17" name="Shape 15">
            <a:extLst>
              <a:ext uri="{FF2B5EF4-FFF2-40B4-BE49-F238E27FC236}">
                <a16:creationId xmlns:a16="http://schemas.microsoft.com/office/drawing/2014/main" id="{73A3DA50-D527-5DCE-1857-9E84D2D558ED}"/>
              </a:ext>
            </a:extLst>
          </p:cNvPr>
          <p:cNvSpPr/>
          <p:nvPr/>
        </p:nvSpPr>
        <p:spPr>
          <a:xfrm>
            <a:off x="548639" y="1225296"/>
            <a:ext cx="10980751" cy="1570913"/>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a:extLst>
              <a:ext uri="{FF2B5EF4-FFF2-40B4-BE49-F238E27FC236}">
                <a16:creationId xmlns:a16="http://schemas.microsoft.com/office/drawing/2014/main" id="{A41B3189-9403-C60A-637F-1A3209D8CF50}"/>
              </a:ext>
            </a:extLst>
          </p:cNvPr>
          <p:cNvSpPr/>
          <p:nvPr/>
        </p:nvSpPr>
        <p:spPr>
          <a:xfrm>
            <a:off x="731520" y="1371600"/>
            <a:ext cx="9849978" cy="359359"/>
          </a:xfrm>
          <a:prstGeom prst="rect">
            <a:avLst/>
          </a:prstGeom>
          <a:noFill/>
          <a:ln/>
        </p:spPr>
        <p:txBody>
          <a:bodyPr wrap="square" lIns="0" tIns="0" rIns="0" bIns="0" rtlCol="0" anchor="t"/>
          <a:lstStyle/>
          <a:p>
            <a:pPr marL="0" indent="0">
              <a:buNone/>
            </a:pPr>
            <a:r>
              <a:rPr lang="fr" sz="2000" b="1" noProof="0">
                <a:solidFill>
                  <a:srgbClr val="0E2E5C"/>
                </a:solidFill>
                <a:latin typeface="Calibri" pitchFamily="34" charset="0"/>
                <a:ea typeface="Calibri" pitchFamily="34" charset="-122"/>
                <a:cs typeface="Calibri" pitchFamily="34" charset="-120"/>
              </a:rPr>
              <a:t>Grade = à quel point les cellules paraissent anormales au microscope</a:t>
            </a:r>
            <a:endParaRPr lang="en-US" sz="2000" noProof="0" dirty="0"/>
          </a:p>
        </p:txBody>
      </p:sp>
      <p:sp>
        <p:nvSpPr>
          <p:cNvPr id="19" name="Text 17">
            <a:extLst>
              <a:ext uri="{FF2B5EF4-FFF2-40B4-BE49-F238E27FC236}">
                <a16:creationId xmlns:a16="http://schemas.microsoft.com/office/drawing/2014/main" id="{41511F8E-A32D-5AE2-092F-3080BDD43546}"/>
              </a:ext>
            </a:extLst>
          </p:cNvPr>
          <p:cNvSpPr/>
          <p:nvPr/>
        </p:nvSpPr>
        <p:spPr>
          <a:xfrm>
            <a:off x="731520" y="1730959"/>
            <a:ext cx="9849978" cy="1442009"/>
          </a:xfrm>
          <a:prstGeom prst="rect">
            <a:avLst/>
          </a:prstGeom>
          <a:noFill/>
          <a:ln/>
        </p:spPr>
        <p:txBody>
          <a:bodyPr wrap="square" lIns="0" tIns="0" rIns="0" bIns="0" rtlCol="0" anchor="t"/>
          <a:lstStyle/>
          <a:p>
            <a:pPr>
              <a:lnSpc>
                <a:spcPct val="105000"/>
              </a:lnSpc>
            </a:pPr>
            <a:r>
              <a:rPr lang="fr" sz="2000" noProof="0">
                <a:solidFill>
                  <a:srgbClr val="17325E"/>
                </a:solidFill>
                <a:latin typeface="Calibri" pitchFamily="34" charset="0"/>
                <a:ea typeface="Calibri" pitchFamily="34" charset="-122"/>
                <a:cs typeface="Calibri" pitchFamily="34" charset="-120"/>
              </a:rPr>
              <a:t>De bien différencié à mal différencié. Un pathologiste évalue le tissu et l'équipe spécialisée attribue le stade. On ne le note pas soi-même, on utilise le résultat pour soutenir le patient.</a:t>
            </a:r>
            <a:endParaRPr lang="en-US" sz="2000" noProof="0" dirty="0"/>
          </a:p>
          <a:p>
            <a:pPr marL="0" indent="0">
              <a:lnSpc>
                <a:spcPct val="105000"/>
              </a:lnSpc>
              <a:buNone/>
            </a:pPr>
            <a:endParaRPr lang="en-US" sz="2000" noProof="0" dirty="0"/>
          </a:p>
        </p:txBody>
      </p:sp>
      <p:pic>
        <p:nvPicPr>
          <p:cNvPr id="5" name="Imagen 4">
            <a:extLst>
              <a:ext uri="{FF2B5EF4-FFF2-40B4-BE49-F238E27FC236}">
                <a16:creationId xmlns:a16="http://schemas.microsoft.com/office/drawing/2014/main" id="{1590B048-FF65-AF09-40B2-A802CE8B219D}"/>
              </a:ext>
            </a:extLst>
          </p:cNvPr>
          <p:cNvPicPr>
            <a:picLocks noChangeAspect="1"/>
          </p:cNvPicPr>
          <p:nvPr/>
        </p:nvPicPr>
        <p:blipFill>
          <a:blip r:embed="rId3"/>
          <a:stretch>
            <a:fillRect/>
          </a:stretch>
        </p:blipFill>
        <p:spPr>
          <a:xfrm>
            <a:off x="2209647" y="2572682"/>
            <a:ext cx="7772400" cy="3656599"/>
          </a:xfrm>
          <a:prstGeom prst="rect">
            <a:avLst/>
          </a:prstGeom>
        </p:spPr>
      </p:pic>
    </p:spTree>
    <p:extLst>
      <p:ext uri="{BB962C8B-B14F-4D97-AF65-F5344CB8AC3E}">
        <p14:creationId xmlns:p14="http://schemas.microsoft.com/office/powerpoint/2010/main" val="296426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(1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 La plupart des cancers colorrectaux proviennent de quel tissu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La couche musculaire de l'intestin</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Tissu nerveux dans la paroi intestinale</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C. La muqueuse glandulaire de l'intestin</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Graisse autour de l'intestin</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a:t>
            </a:r>
            <a:r>
              <a:rPr lang="fr" sz="1500" i="1" noProof="0">
                <a:solidFill>
                  <a:srgbClr val="17325E"/>
                </a:solidFill>
                <a:latin typeface="Calibri" pitchFamily="34" charset="0"/>
                <a:ea typeface="Calibri" pitchFamily="34" charset="-122"/>
                <a:cs typeface="Calibri" pitchFamily="34" charset="-120"/>
              </a:rPr>
              <a:t>Ce sont des adénocarcinomes issus de la muqueuse glandulaire.</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Q2. Un patient demande si son polype était un cancer. La réponse précise est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A. Beaucoup de polypes sont bénins, et l'élimination réduit le risque que certains types progressent</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Chaque polype est un cancer précoce</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L'enlever a provoqué la propagation du cancer</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Un polype n'a jamais d'importance</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La plupart des polypes ne sont pas cancéreux. L'ablation interrompt la faible proportion qui progresserait.</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(2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Q3. Le stade et le grade diffèrent parce que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Ils veulent dire la même chose</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Le grade est l'étendue de la propagation</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Le stade est la taille de la tumeur uniquement</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D. Le stade est l'étendue de la propagation et le grade correspond à l'aspect anormal des cellules</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Le stade décrit où se trouve le cancer et jusqu'où il s'est propagé ; le grade décrit l'aspect microscopique des cellules.</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Q4. Le cancer colorectal se propage le plus souvent d'abord à des sites éloignés dans les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Peau</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B. Foie</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Thyroïde</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Moelle osseuse</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Le </a:t>
            </a:r>
            <a:r>
              <a:rPr lang="fr" sz="1500" i="1" noProof="0">
                <a:solidFill>
                  <a:srgbClr val="17325E"/>
                </a:solidFill>
                <a:latin typeface="Calibri" pitchFamily="34" charset="0"/>
                <a:ea typeface="Calibri" pitchFamily="34" charset="-122"/>
                <a:cs typeface="Calibri" pitchFamily="34" charset="-120"/>
              </a:rPr>
              <a:t>drainage veineux de l'intestin fait que le foie est le site le plus fréquent de propagation éloignée, suivi des poumons.</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(3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Q5. Une tumeur dans le côlon droit est plus susceptible qu'une tumeur rectale de présenter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A. Anémie ferriprive et fatigue</a:t>
            </a:r>
            <a:endParaRPr lang="en-US" sz="1500"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Saignement rectal visible</a:t>
            </a:r>
            <a:endParaRPr lang="en-US" sz="1500"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C. </a:t>
            </a:r>
            <a:r>
              <a:rPr lang="fr" sz="1500" noProof="0">
                <a:solidFill>
                  <a:srgbClr val="17325E"/>
                </a:solidFill>
                <a:latin typeface="Calibri" pitchFamily="34" charset="0"/>
                <a:ea typeface="Calibri" pitchFamily="34" charset="-122"/>
                <a:cs typeface="Calibri" pitchFamily="34" charset="-120"/>
              </a:rPr>
              <a:t>Tenesmus</a:t>
            </a:r>
            <a:endParaRPr lang="en-US" sz="1500"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Obstruction à un stade précoce</a:t>
            </a:r>
            <a:endParaRPr lang="en-US" sz="1500"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Les tumeurs du côté droit saignent souvent lentement dans les selles liquides, donc l'anémie peut être le premier signe plutôt que le sang visible.</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Q6. Dans la stadification TNM, la lettre T décrit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A. </a:t>
            </a:r>
            <a:r>
              <a:rPr lang="fr" sz="1500" noProof="0">
                <a:solidFill>
                  <a:srgbClr val="17325E"/>
                </a:solidFill>
                <a:latin typeface="Calibri" pitchFamily="34" charset="0"/>
                <a:ea typeface="Calibri" pitchFamily="34" charset="-122"/>
                <a:cs typeface="Calibri" pitchFamily="34" charset="-120"/>
              </a:rPr>
              <a:t>Nombre de ganglions lymphatiques impliqués</a:t>
            </a:r>
            <a:endParaRPr lang="en-US" sz="1500"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Présence de métastases hépatiques</a:t>
            </a:r>
            <a:endParaRPr lang="en-US" sz="1500" noProof="0" dirty="0"/>
          </a:p>
        </p:txBody>
      </p:sp>
      <p:sp>
        <p:nvSpPr>
          <p:cNvPr id="20" name="Shape 18"/>
          <p:cNvSpPr/>
          <p:nvPr/>
        </p:nvSpPr>
        <p:spPr>
          <a:xfrm>
            <a:off x="548640"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C. Profondeur de croissance à travers la paroi intestinale</a:t>
            </a:r>
            <a:endParaRPr lang="en-US" sz="1500"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À quel point les cellules paraissent anormales</a:t>
            </a:r>
            <a:endParaRPr lang="en-US" sz="1500"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T est la profondeur de l'invasion, N les ganglions lymphatiques régionaux, M la métastases à distance.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1</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Réflexion sur la session</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325880"/>
            <a:ext cx="11094415" cy="457200"/>
          </a:xfrm>
          <a:prstGeom prst="rect">
            <a:avLst/>
          </a:prstGeom>
          <a:noFill/>
          <a:ln/>
        </p:spPr>
        <p:txBody>
          <a:bodyPr wrap="square" rtlCol="0" anchor="ctr"/>
          <a:lstStyle/>
          <a:p>
            <a:pPr marL="0" indent="0">
              <a:buNone/>
            </a:pPr>
            <a:r>
              <a:rPr lang="fr" sz="1600" i="1" noProof="0">
                <a:solidFill>
                  <a:srgbClr val="5B7195"/>
                </a:solidFill>
                <a:latin typeface="Calibri" pitchFamily="34" charset="0"/>
                <a:ea typeface="Calibri" pitchFamily="34" charset="-122"/>
                <a:cs typeface="Calibri" pitchFamily="34" charset="-120"/>
              </a:rPr>
              <a:t>Saisissez votre réponse dans la boîte de texte. Il n'y a pas de réponse unique correcte. Ces prompts ne sont pas notés, et servent à votre propre pratique et à la discussion.</a:t>
            </a:r>
            <a:endParaRPr lang="en-US" sz="1600" noProof="0" dirty="0"/>
          </a:p>
        </p:txBody>
      </p:sp>
      <p:sp>
        <p:nvSpPr>
          <p:cNvPr id="6" name="Shape 4"/>
          <p:cNvSpPr/>
          <p:nvPr/>
        </p:nvSpPr>
        <p:spPr>
          <a:xfrm>
            <a:off x="548640" y="1965960"/>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31520" y="2240280"/>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1</a:t>
            </a:r>
            <a:endParaRPr lang="en-US" sz="2400" noProof="0" dirty="0"/>
          </a:p>
        </p:txBody>
      </p:sp>
      <p:sp>
        <p:nvSpPr>
          <p:cNvPr id="8" name="Text 6"/>
          <p:cNvSpPr/>
          <p:nvPr/>
        </p:nvSpPr>
        <p:spPr>
          <a:xfrm>
            <a:off x="1417320" y="2075688"/>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Selon vos propres mots, comment expliqueriez-vous à un patient que trouver un polype n'est pas la même chose que trouver un cancer ?</a:t>
            </a:r>
            <a:endParaRPr lang="en-US" sz="1800" noProof="0" dirty="0"/>
          </a:p>
        </p:txBody>
      </p:sp>
      <p:sp>
        <p:nvSpPr>
          <p:cNvPr id="9" name="Shape 7"/>
          <p:cNvSpPr/>
          <p:nvPr/>
        </p:nvSpPr>
        <p:spPr>
          <a:xfrm>
            <a:off x="548640" y="3218688"/>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0" name="Text 8"/>
          <p:cNvSpPr/>
          <p:nvPr/>
        </p:nvSpPr>
        <p:spPr>
          <a:xfrm>
            <a:off x="731520" y="3493008"/>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2</a:t>
            </a:r>
            <a:endParaRPr lang="en-US" sz="2400" noProof="0" dirty="0"/>
          </a:p>
        </p:txBody>
      </p:sp>
      <p:sp>
        <p:nvSpPr>
          <p:cNvPr id="11" name="Text 9"/>
          <p:cNvSpPr/>
          <p:nvPr/>
        </p:nvSpPr>
        <p:spPr>
          <a:xfrm>
            <a:off x="1417320" y="3328416"/>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Quel point unique concernant le fardeau du cancer colorectal au Rwanda aimeriez-vous le plus qu'un membre de la communauté comprenne, et pourquoi ?</a:t>
            </a:r>
            <a:endParaRPr lang="en-US" sz="1800" noProof="0" dirty="0"/>
          </a:p>
        </p:txBody>
      </p:sp>
      <p:sp>
        <p:nvSpPr>
          <p:cNvPr id="12" name="Shape 10"/>
          <p:cNvSpPr/>
          <p:nvPr/>
        </p:nvSpPr>
        <p:spPr>
          <a:xfrm>
            <a:off x="548640" y="4471416"/>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731520" y="4745736"/>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3</a:t>
            </a:r>
            <a:endParaRPr lang="en-US" sz="2400" noProof="0" dirty="0"/>
          </a:p>
        </p:txBody>
      </p:sp>
      <p:sp>
        <p:nvSpPr>
          <p:cNvPr id="14" name="Text 12"/>
          <p:cNvSpPr/>
          <p:nvPr/>
        </p:nvSpPr>
        <p:spPr>
          <a:xfrm>
            <a:off x="1417320" y="4581144"/>
            <a:ext cx="9997135" cy="832104"/>
          </a:xfrm>
          <a:prstGeom prst="rect">
            <a:avLst/>
          </a:prstGeom>
          <a:noFill/>
          <a:ln/>
        </p:spPr>
        <p:txBody>
          <a:bodyPr wrap="square" lIns="0" tIns="0" rIns="0" bIns="0" rtlCol="0" anchor="ctr"/>
          <a:lstStyle/>
          <a:p>
            <a:r>
              <a:rPr lang="fr" sz="1800" noProof="0" dirty="0">
                <a:solidFill>
                  <a:schemeClr val="accent1">
                    <a:lumMod val="50000"/>
                  </a:schemeClr>
                </a:solidFill>
                <a:latin typeface="Calibri" pitchFamily="34" charset="0"/>
                <a:ea typeface="Calibri" pitchFamily="34" charset="-122"/>
                <a:cs typeface="Calibri" pitchFamily="34" charset="-120"/>
              </a:rPr>
              <a:t>Comment savoir que le cancer colorectal précoce est s</a:t>
            </a:r>
            <a:r>
              <a:rPr lang="en-US" dirty="0">
                <a:solidFill>
                  <a:schemeClr val="accent1">
                    <a:lumMod val="50000"/>
                  </a:schemeClr>
                </a:solidFill>
                <a:latin typeface="Calibri" pitchFamily="34" charset="0"/>
                <a:ea typeface="Calibri" pitchFamily="34" charset="-122"/>
                <a:cs typeface="Calibri" pitchFamily="34" charset="-120"/>
              </a:rPr>
              <a:t>ouvent asymptomatique </a:t>
            </a:r>
            <a:r>
              <a:rPr lang="fr" sz="1800" noProof="0" dirty="0">
                <a:solidFill>
                  <a:schemeClr val="accent1">
                    <a:lumMod val="50000"/>
                  </a:schemeClr>
                </a:solidFill>
                <a:latin typeface="Calibri" pitchFamily="34" charset="0"/>
                <a:ea typeface="Calibri" pitchFamily="34" charset="-122"/>
                <a:cs typeface="Calibri" pitchFamily="34" charset="-120"/>
              </a:rPr>
              <a:t>change-t-il la façon dont vous réagiriez à une symptôme intestinal peu spécifique ?</a:t>
            </a:r>
            <a:endParaRPr lang="en-US" sz="1800" noProof="0" dirty="0">
              <a:solidFill>
                <a:schemeClr val="accent1">
                  <a:lumMod val="50000"/>
                </a:schemeClr>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0E2E5C"/>
        </a:solidFill>
        <a:effectLst/>
      </p:bgPr>
    </p:bg>
    <p:spTree>
      <p:nvGrpSpPr>
        <p:cNvPr id="1" name=""/>
        <p:cNvGrpSpPr/>
        <p:nvPr/>
      </p:nvGrpSpPr>
      <p:grpSpPr>
        <a:xfrm>
          <a:off x="0" y="0"/>
          <a:ext cx="0" cy="0"/>
          <a:chOff x="0" y="0"/>
          <a:chExt cx="0" cy="0"/>
        </a:xfrm>
      </p:grpSpPr>
      <p:sp>
        <p:nvSpPr>
          <p:cNvPr id="2" name="Shape 0"/>
          <p:cNvSpPr/>
          <p:nvPr/>
        </p:nvSpPr>
        <p:spPr>
          <a:xfrm>
            <a:off x="548640" y="1874520"/>
            <a:ext cx="1051560" cy="1051560"/>
          </a:xfrm>
          <a:prstGeom prst="roundRect">
            <a:avLst>
              <a:gd name="adj" fmla="val 12174"/>
            </a:avLst>
          </a:prstGeom>
          <a:solidFill>
            <a:srgbClr val="2C5A9E"/>
          </a:solidFill>
          <a:ln w="15875">
            <a:solidFill>
              <a:srgbClr val="5C8DD6"/>
            </a:solidFill>
            <a:prstDash val="solid"/>
          </a:ln>
        </p:spPr>
        <p:txBody>
          <a:bodyPr/>
          <a:lstStyle/>
          <a:p>
            <a:endParaRPr lang="en-US" noProof="0" dirty="0"/>
          </a:p>
        </p:txBody>
      </p:sp>
      <p:sp>
        <p:nvSpPr>
          <p:cNvPr id="3" name="Text 1"/>
          <p:cNvSpPr/>
          <p:nvPr/>
        </p:nvSpPr>
        <p:spPr>
          <a:xfrm>
            <a:off x="548640" y="1874520"/>
            <a:ext cx="1051560" cy="1051560"/>
          </a:xfrm>
          <a:prstGeom prst="rect">
            <a:avLst/>
          </a:prstGeom>
          <a:noFill/>
          <a:ln/>
        </p:spPr>
        <p:txBody>
          <a:bodyPr wrap="square" lIns="0" tIns="0" rIns="0" bIns="0" rtlCol="0" anchor="ctr"/>
          <a:lstStyle/>
          <a:p>
            <a:pPr marL="0" indent="0" algn="ctr">
              <a:buNone/>
            </a:pPr>
            <a:r>
              <a:rPr lang="fr" sz="4600" b="1" noProof="0">
                <a:solidFill>
                  <a:srgbClr val="FFFFFF"/>
                </a:solidFill>
                <a:latin typeface="Cambria" pitchFamily="34" charset="0"/>
                <a:ea typeface="Cambria" pitchFamily="34" charset="-122"/>
                <a:cs typeface="Cambria" pitchFamily="34" charset="-120"/>
              </a:rPr>
              <a:t>2</a:t>
            </a:r>
            <a:endParaRPr lang="en-US" sz="4600" noProof="0" dirty="0"/>
          </a:p>
        </p:txBody>
      </p:sp>
      <p:sp>
        <p:nvSpPr>
          <p:cNvPr id="4" name="Text 2"/>
          <p:cNvSpPr/>
          <p:nvPr/>
        </p:nvSpPr>
        <p:spPr>
          <a:xfrm>
            <a:off x="1920240" y="1920240"/>
            <a:ext cx="8686800" cy="365760"/>
          </a:xfrm>
          <a:prstGeom prst="rect">
            <a:avLst/>
          </a:prstGeom>
          <a:noFill/>
          <a:ln/>
        </p:spPr>
        <p:txBody>
          <a:bodyPr wrap="square" lIns="0" tIns="0" rIns="0" bIns="0" rtlCol="0" anchor="ctr"/>
          <a:lstStyle/>
          <a:p>
            <a:pPr marL="0" indent="0">
              <a:buNone/>
            </a:pPr>
            <a:r>
              <a:rPr lang="fr" sz="1500" b="1" kern="0" spc="300" noProof="0">
                <a:solidFill>
                  <a:srgbClr val="9DC0EE"/>
                </a:solidFill>
                <a:latin typeface="Calibri" pitchFamily="34" charset="0"/>
                <a:ea typeface="Calibri" pitchFamily="34" charset="-122"/>
                <a:cs typeface="Calibri" pitchFamily="34" charset="-120"/>
              </a:rPr>
              <a:t>Session 2</a:t>
            </a:r>
            <a:endParaRPr lang="en-US" sz="1500" noProof="0" dirty="0"/>
          </a:p>
        </p:txBody>
      </p:sp>
      <p:sp>
        <p:nvSpPr>
          <p:cNvPr id="5" name="Text 3"/>
          <p:cNvSpPr/>
          <p:nvPr/>
        </p:nvSpPr>
        <p:spPr>
          <a:xfrm>
            <a:off x="1920240" y="2286000"/>
            <a:ext cx="9601200" cy="777240"/>
          </a:xfrm>
          <a:prstGeom prst="rect">
            <a:avLst/>
          </a:prstGeom>
          <a:noFill/>
          <a:ln/>
        </p:spPr>
        <p:txBody>
          <a:bodyPr wrap="square" lIns="0" tIns="0" rIns="0" bIns="0" rtlCol="0" anchor="ctr"/>
          <a:lstStyle/>
          <a:p>
            <a:pPr marL="0" indent="0">
              <a:buNone/>
            </a:pPr>
            <a:r>
              <a:rPr lang="fr" sz="4200" b="1" noProof="0">
                <a:solidFill>
                  <a:srgbClr val="FFFFFF"/>
                </a:solidFill>
                <a:latin typeface="Cambria" pitchFamily="34" charset="0"/>
                <a:ea typeface="Cambria" pitchFamily="34" charset="-122"/>
                <a:cs typeface="Cambria" pitchFamily="34" charset="-120"/>
              </a:rPr>
              <a:t>Dépistage et détection précoce</a:t>
            </a:r>
            <a:endParaRPr lang="en-US" sz="4200" noProof="0" dirty="0"/>
          </a:p>
        </p:txBody>
      </p:sp>
      <p:sp>
        <p:nvSpPr>
          <p:cNvPr id="6" name="Text 4"/>
          <p:cNvSpPr/>
          <p:nvPr/>
        </p:nvSpPr>
        <p:spPr>
          <a:xfrm>
            <a:off x="1920240" y="3246120"/>
            <a:ext cx="9326880" cy="914400"/>
          </a:xfrm>
          <a:prstGeom prst="rect">
            <a:avLst/>
          </a:prstGeom>
          <a:noFill/>
          <a:ln/>
        </p:spPr>
        <p:txBody>
          <a:bodyPr wrap="square" lIns="0" tIns="0" rIns="0" bIns="0" rtlCol="0" anchor="ctr"/>
          <a:lstStyle/>
          <a:p>
            <a:pPr marL="0" indent="0">
              <a:buNone/>
            </a:pPr>
            <a:r>
              <a:rPr lang="fr" sz="1800" noProof="0">
                <a:solidFill>
                  <a:srgbClr val="CFE0F6"/>
                </a:solidFill>
                <a:latin typeface="Calibri" pitchFamily="34" charset="0"/>
                <a:ea typeface="Calibri" pitchFamily="34" charset="-122"/>
                <a:cs typeface="Calibri" pitchFamily="34" charset="-120"/>
              </a:rPr>
              <a:t>Suivez Emmanuel, 57 ans, alors que vous découvrez ce qu'est le dépistage, qui est à risque, ce que les tests peuvent ou ne peuvent pas vous révéler, et ce que signifie un résultat anormal.</a:t>
            </a:r>
            <a:endParaRPr lang="en-US" sz="1800" noProof="0" dirty="0"/>
          </a:p>
        </p:txBody>
      </p:sp>
      <p:sp>
        <p:nvSpPr>
          <p:cNvPr id="7" name="Text 5"/>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8FA9CE"/>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Objectifs d'apprentissage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Distinguer</a:t>
            </a:r>
            <a:endParaRPr lang="en-US" sz="1800" noProof="0" dirty="0"/>
          </a:p>
        </p:txBody>
      </p:sp>
      <p:sp>
        <p:nvSpPr>
          <p:cNvPr id="7" name="Text 5"/>
          <p:cNvSpPr/>
          <p:nvPr/>
        </p:nvSpPr>
        <p:spPr>
          <a:xfrm>
            <a:off x="73152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Distinguez le dépistage d'une personne en bonne santé de l'évaluation d'une personne présentant des symptômes.</a:t>
            </a:r>
            <a:endParaRPr lang="en-US" sz="1800" noProof="0" dirty="0"/>
          </a:p>
        </p:txBody>
      </p:sp>
      <p:sp>
        <p:nvSpPr>
          <p:cNvPr id="8" name="Shape 6"/>
          <p:cNvSpPr/>
          <p:nvPr/>
        </p:nvSpPr>
        <p:spPr>
          <a:xfrm>
            <a:off x="431993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Identifier</a:t>
            </a:r>
            <a:endParaRPr lang="en-US" sz="1800" noProof="0" dirty="0"/>
          </a:p>
        </p:txBody>
      </p:sp>
      <p:sp>
        <p:nvSpPr>
          <p:cNvPr id="10" name="Text 8"/>
          <p:cNvSpPr/>
          <p:nvPr/>
        </p:nvSpPr>
        <p:spPr>
          <a:xfrm>
            <a:off x="450281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Identifier les facteurs de risque établis et séparer le risque moyen du risque accru.</a:t>
            </a:r>
            <a:endParaRPr lang="en-US" sz="1800" noProof="0" dirty="0"/>
          </a:p>
        </p:txBody>
      </p:sp>
      <p:sp>
        <p:nvSpPr>
          <p:cNvPr id="11" name="Shape 9"/>
          <p:cNvSpPr/>
          <p:nvPr/>
        </p:nvSpPr>
        <p:spPr>
          <a:xfrm>
            <a:off x="8091221"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Reconnaissez</a:t>
            </a:r>
            <a:endParaRPr lang="en-US" sz="1800" noProof="0" dirty="0"/>
          </a:p>
        </p:txBody>
      </p:sp>
      <p:sp>
        <p:nvSpPr>
          <p:cNvPr id="13" name="Text 11"/>
          <p:cNvSpPr/>
          <p:nvPr/>
        </p:nvSpPr>
        <p:spPr>
          <a:xfrm>
            <a:off x="8274101"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Reconnaissez les symptômes intestinaux inquiétants et les signaux d'alerte nécessitant une intervention urgente.</a:t>
            </a:r>
            <a:endParaRPr lang="en-US" sz="1800" noProof="0" dirty="0"/>
          </a:p>
        </p:txBody>
      </p:sp>
      <p:sp>
        <p:nvSpPr>
          <p:cNvPr id="14" name="Shape 12"/>
          <p:cNvSpPr/>
          <p:nvPr/>
        </p:nvSpPr>
        <p:spPr>
          <a:xfrm>
            <a:off x="54864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3152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Comparer</a:t>
            </a:r>
            <a:endParaRPr lang="en-US" sz="1800" noProof="0" dirty="0"/>
          </a:p>
        </p:txBody>
      </p:sp>
      <p:sp>
        <p:nvSpPr>
          <p:cNvPr id="16" name="Text 14"/>
          <p:cNvSpPr/>
          <p:nvPr/>
        </p:nvSpPr>
        <p:spPr>
          <a:xfrm>
            <a:off x="73152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Comparez les tests à base de selles et la coloscopie, en incluant ce que chacun peut ou ne peut pas faire.</a:t>
            </a:r>
            <a:endParaRPr lang="en-US" sz="1800" noProof="0" dirty="0"/>
          </a:p>
        </p:txBody>
      </p:sp>
      <p:sp>
        <p:nvSpPr>
          <p:cNvPr id="17" name="Shape 15"/>
          <p:cNvSpPr/>
          <p:nvPr/>
        </p:nvSpPr>
        <p:spPr>
          <a:xfrm>
            <a:off x="431993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450281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Interpréter</a:t>
            </a:r>
            <a:endParaRPr lang="en-US" sz="1800" noProof="0" dirty="0"/>
          </a:p>
        </p:txBody>
      </p:sp>
      <p:sp>
        <p:nvSpPr>
          <p:cNvPr id="19" name="Text 17"/>
          <p:cNvSpPr/>
          <p:nvPr/>
        </p:nvSpPr>
        <p:spPr>
          <a:xfrm>
            <a:off x="450281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Interprétez un résultat de dépistage anormal et précisez la bonne étape suivante.</a:t>
            </a:r>
            <a:endParaRPr lang="en-US" sz="1800" noProof="0" dirty="0"/>
          </a:p>
        </p:txBody>
      </p:sp>
      <p:sp>
        <p:nvSpPr>
          <p:cNvPr id="20" name="Shape 18"/>
          <p:cNvSpPr/>
          <p:nvPr/>
        </p:nvSpPr>
        <p:spPr>
          <a:xfrm>
            <a:off x="8091221"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8274101"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Pesez</a:t>
            </a:r>
            <a:endParaRPr lang="en-US" sz="1800" noProof="0" dirty="0"/>
          </a:p>
        </p:txBody>
      </p:sp>
      <p:sp>
        <p:nvSpPr>
          <p:cNvPr id="22" name="Text 20"/>
          <p:cNvSpPr/>
          <p:nvPr/>
        </p:nvSpPr>
        <p:spPr>
          <a:xfrm>
            <a:off x="8274101"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Pesez les avantages et les limites du dépistage, et présentez-les de manière neutre.</a:t>
            </a:r>
            <a:endParaRPr lang="en-US" sz="1800" noProof="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200" b="1" noProof="0">
                <a:solidFill>
                  <a:srgbClr val="0E2E5C"/>
                </a:solidFill>
                <a:latin typeface="Cambria" pitchFamily="34" charset="0"/>
                <a:ea typeface="Cambria" pitchFamily="34" charset="-122"/>
                <a:cs typeface="Cambria" pitchFamily="34" charset="-120"/>
              </a:rPr>
              <a:t>Rencontrez Emmanuel : espace réservé pour une vidéo</a:t>
            </a:r>
            <a:endParaRPr lang="en-US" sz="3200" noProof="0" dirty="0">
              <a:solidFill>
                <a:srgbClr val="FF0000"/>
              </a:solidFill>
            </a:endParaRPr>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Ce qu'est le dépistage, et ce qu'il n'est pas</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6404958" cy="1371600"/>
          </a:xfrm>
          <a:prstGeom prst="roundRect">
            <a:avLst>
              <a:gd name="adj" fmla="val 4444"/>
            </a:avLst>
          </a:prstGeom>
          <a:solidFill>
            <a:srgbClr val="EAF6F0"/>
          </a:solidFill>
          <a:ln w="15875">
            <a:solidFill>
              <a:srgbClr val="9BCBB4"/>
            </a:solidFill>
            <a:prstDash val="solid"/>
          </a:ln>
        </p:spPr>
        <p:txBody>
          <a:bodyPr/>
          <a:lstStyle/>
          <a:p>
            <a:endParaRPr lang="en-US" noProof="0" dirty="0"/>
          </a:p>
        </p:txBody>
      </p:sp>
      <p:sp>
        <p:nvSpPr>
          <p:cNvPr id="6" name="Text 4"/>
          <p:cNvSpPr/>
          <p:nvPr/>
        </p:nvSpPr>
        <p:spPr>
          <a:xfrm>
            <a:off x="731520" y="1499616"/>
            <a:ext cx="3186074" cy="359359"/>
          </a:xfrm>
          <a:prstGeom prst="rect">
            <a:avLst/>
          </a:prstGeom>
          <a:noFill/>
          <a:ln/>
        </p:spPr>
        <p:txBody>
          <a:bodyPr wrap="square" lIns="0" tIns="0" rIns="0" bIns="0" rtlCol="0" anchor="t"/>
          <a:lstStyle/>
          <a:p>
            <a:pPr marL="0" indent="0">
              <a:buNone/>
            </a:pPr>
            <a:r>
              <a:rPr lang="fr" sz="1800" b="1" noProof="0">
                <a:solidFill>
                  <a:srgbClr val="126647"/>
                </a:solidFill>
                <a:latin typeface="Calibri" pitchFamily="34" charset="0"/>
                <a:ea typeface="Calibri" pitchFamily="34" charset="-122"/>
                <a:cs typeface="Calibri" pitchFamily="34" charset="-120"/>
              </a:rPr>
              <a:t>Dépistage</a:t>
            </a:r>
            <a:endParaRPr lang="en-US" sz="1800" noProof="0" dirty="0"/>
          </a:p>
        </p:txBody>
      </p:sp>
      <p:sp>
        <p:nvSpPr>
          <p:cNvPr id="7" name="Text 5"/>
          <p:cNvSpPr/>
          <p:nvPr/>
        </p:nvSpPr>
        <p:spPr>
          <a:xfrm>
            <a:off x="731520" y="1828800"/>
            <a:ext cx="6404958"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Tester les personnes sans symptômes, détecter plus tôt le cancer colorectal ou détecter des lésions précurseurs avant le développement du cancer.</a:t>
            </a:r>
            <a:endParaRPr lang="en-US" sz="1800" noProof="0" dirty="0"/>
          </a:p>
        </p:txBody>
      </p:sp>
      <p:sp>
        <p:nvSpPr>
          <p:cNvPr id="8" name="Shape 6"/>
          <p:cNvSpPr/>
          <p:nvPr/>
        </p:nvSpPr>
        <p:spPr>
          <a:xfrm>
            <a:off x="548639" y="2798064"/>
            <a:ext cx="6404959" cy="1371600"/>
          </a:xfrm>
          <a:prstGeom prst="roundRect">
            <a:avLst>
              <a:gd name="adj" fmla="val 4444"/>
            </a:avLst>
          </a:prstGeom>
          <a:solidFill>
            <a:srgbClr val="FFF3DF"/>
          </a:solidFill>
          <a:ln w="15875">
            <a:solidFill>
              <a:srgbClr val="E8CFA4"/>
            </a:solidFill>
            <a:prstDash val="solid"/>
          </a:ln>
        </p:spPr>
        <p:txBody>
          <a:bodyPr/>
          <a:lstStyle/>
          <a:p>
            <a:endParaRPr lang="en-US" noProof="0" dirty="0"/>
          </a:p>
        </p:txBody>
      </p:sp>
      <p:sp>
        <p:nvSpPr>
          <p:cNvPr id="9" name="Text 7"/>
          <p:cNvSpPr/>
          <p:nvPr/>
        </p:nvSpPr>
        <p:spPr>
          <a:xfrm>
            <a:off x="731519" y="2926080"/>
            <a:ext cx="6540332" cy="359359"/>
          </a:xfrm>
          <a:prstGeom prst="rect">
            <a:avLst/>
          </a:prstGeom>
          <a:noFill/>
          <a:ln/>
        </p:spPr>
        <p:txBody>
          <a:bodyPr wrap="square" lIns="0" tIns="0" rIns="0" bIns="0" rtlCol="0" anchor="t"/>
          <a:lstStyle/>
          <a:p>
            <a:pPr marL="0" indent="0">
              <a:buNone/>
            </a:pPr>
            <a:r>
              <a:rPr lang="fr" sz="1800" b="1" noProof="0">
                <a:solidFill>
                  <a:srgbClr val="9A5B00"/>
                </a:solidFill>
                <a:latin typeface="Calibri" pitchFamily="34" charset="0"/>
                <a:ea typeface="Calibri" pitchFamily="34" charset="-122"/>
                <a:cs typeface="Calibri" pitchFamily="34" charset="-120"/>
              </a:rPr>
              <a:t>Évaluation diagnostique</a:t>
            </a:r>
            <a:endParaRPr lang="en-US" sz="1800" noProof="0" dirty="0"/>
          </a:p>
        </p:txBody>
      </p:sp>
      <p:sp>
        <p:nvSpPr>
          <p:cNvPr id="10" name="Text 8"/>
          <p:cNvSpPr/>
          <p:nvPr/>
        </p:nvSpPr>
        <p:spPr>
          <a:xfrm>
            <a:off x="731519" y="3255264"/>
            <a:ext cx="6540332"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Évaluer une personne présentant des symptômes, un résultat de dépistage anormal ou une autre constatation préoccupante. Ce n’est pas du dépistage.</a:t>
            </a:r>
            <a:endParaRPr lang="en-US" sz="1800" noProof="0" dirty="0"/>
          </a:p>
        </p:txBody>
      </p:sp>
      <p:sp>
        <p:nvSpPr>
          <p:cNvPr id="11" name="Shape 9"/>
          <p:cNvSpPr/>
          <p:nvPr/>
        </p:nvSpPr>
        <p:spPr>
          <a:xfrm>
            <a:off x="548638" y="4224528"/>
            <a:ext cx="6404957" cy="109728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731517" y="4352544"/>
            <a:ext cx="6404957"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Surveillance</a:t>
            </a:r>
            <a:endParaRPr lang="en-US" sz="1800" noProof="0" dirty="0"/>
          </a:p>
        </p:txBody>
      </p:sp>
      <p:sp>
        <p:nvSpPr>
          <p:cNvPr id="13" name="Text 11"/>
          <p:cNvSpPr/>
          <p:nvPr/>
        </p:nvSpPr>
        <p:spPr>
          <a:xfrm>
            <a:off x="731517" y="4681728"/>
            <a:ext cx="6404957"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Un examen répété planifié de quelqu'un déjà connu comme étant à plus grand risque, par exemple après l'ablation de certains polypes.</a:t>
            </a:r>
            <a:endParaRPr lang="en-US" sz="1800" noProof="0" dirty="0"/>
          </a:p>
        </p:txBody>
      </p:sp>
      <p:sp>
        <p:nvSpPr>
          <p:cNvPr id="23" name="CuadroTexto 22">
            <a:extLst>
              <a:ext uri="{FF2B5EF4-FFF2-40B4-BE49-F238E27FC236}">
                <a16:creationId xmlns:a16="http://schemas.microsoft.com/office/drawing/2014/main" id="{DFC0BE95-0174-DB95-C84B-42195F27C2F7}"/>
              </a:ext>
            </a:extLst>
          </p:cNvPr>
          <p:cNvSpPr txBox="1"/>
          <p:nvPr/>
        </p:nvSpPr>
        <p:spPr>
          <a:xfrm>
            <a:off x="548638" y="5413248"/>
            <a:ext cx="10811024" cy="731520"/>
          </a:xfrm>
          <a:prstGeom prst="rect">
            <a:avLst/>
          </a:prstGeom>
          <a:noFill/>
        </p:spPr>
        <p:txBody>
          <a:bodyPr wrap="square" rtlCol="0">
            <a:normAutofit fontScale="89500"/>
          </a:bodyPr>
          <a:lstStyle/>
          <a:p>
            <a:r>
              <a:rPr lang="fr" sz="1600" b="1" i="1" noProof="0">
                <a:solidFill>
                  <a:schemeClr val="bg2">
                    <a:lumMod val="50000"/>
                  </a:schemeClr>
                </a:solidFill>
              </a:rPr>
              <a:t>Remarque : Le dépistage concerne les personnes sans symptômes. Les symptômes préoccupants nécessitent une évaluation diagnostique, et non un test de dépistage. Les premiers symptômes ne sont pas toujours intestinaux : perte de poids inexpliquée, asthénie ou signes d'anémie. Le dépistage détecte le cancer tôt et le prévient en identifiant les lésions précurseures pouvant être retirées.</a:t>
            </a:r>
            <a:endParaRPr lang="en-US" sz="1600" noProof="0" dirty="0">
              <a:solidFill>
                <a:schemeClr val="bg2">
                  <a:lumMod val="50000"/>
                </a:schemeClr>
              </a:solidFill>
            </a:endParaRPr>
          </a:p>
        </p:txBody>
      </p:sp>
      <p:pic>
        <p:nvPicPr>
          <p:cNvPr id="24" name="Imagen 23">
            <a:extLst>
              <a:ext uri="{FF2B5EF4-FFF2-40B4-BE49-F238E27FC236}">
                <a16:creationId xmlns:a16="http://schemas.microsoft.com/office/drawing/2014/main" id="{81C4E327-4D6B-4312-3502-18EB9080FD17}"/>
              </a:ext>
            </a:extLst>
          </p:cNvPr>
          <p:cNvPicPr>
            <a:picLocks noChangeAspect="1"/>
          </p:cNvPicPr>
          <p:nvPr/>
        </p:nvPicPr>
        <p:blipFill>
          <a:blip r:embed="rId3"/>
          <a:stretch>
            <a:fillRect/>
          </a:stretch>
        </p:blipFill>
        <p:spPr>
          <a:xfrm>
            <a:off x="7274197" y="1762147"/>
            <a:ext cx="4450644" cy="296709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Risque moyen et risque accru</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39" y="1371601"/>
            <a:ext cx="6427893" cy="1275638"/>
          </a:xfrm>
          <a:prstGeom prst="roundRect">
            <a:avLst>
              <a:gd name="adj" fmla="val 4444"/>
            </a:avLst>
          </a:prstGeom>
          <a:solidFill>
            <a:srgbClr val="EAF6F0"/>
          </a:solidFill>
          <a:ln w="15875">
            <a:solidFill>
              <a:srgbClr val="9BCBB4"/>
            </a:solidFill>
            <a:prstDash val="solid"/>
          </a:ln>
        </p:spPr>
        <p:txBody>
          <a:bodyPr/>
          <a:lstStyle/>
          <a:p>
            <a:endParaRPr lang="en-US" noProof="0" dirty="0"/>
          </a:p>
        </p:txBody>
      </p:sp>
      <p:sp>
        <p:nvSpPr>
          <p:cNvPr id="6" name="Text 4"/>
          <p:cNvSpPr/>
          <p:nvPr/>
        </p:nvSpPr>
        <p:spPr>
          <a:xfrm>
            <a:off x="731519" y="1393725"/>
            <a:ext cx="5765963" cy="359359"/>
          </a:xfrm>
          <a:prstGeom prst="rect">
            <a:avLst/>
          </a:prstGeom>
          <a:noFill/>
          <a:ln/>
        </p:spPr>
        <p:txBody>
          <a:bodyPr wrap="square" lIns="0" tIns="0" rIns="0" bIns="0" rtlCol="0" anchor="t"/>
          <a:lstStyle/>
          <a:p>
            <a:pPr marL="0" indent="0">
              <a:buNone/>
            </a:pPr>
            <a:r>
              <a:rPr lang="fr" sz="1800" b="1" noProof="0">
                <a:solidFill>
                  <a:srgbClr val="126647"/>
                </a:solidFill>
                <a:latin typeface="Calibri" pitchFamily="34" charset="0"/>
                <a:ea typeface="Calibri" pitchFamily="34" charset="-122"/>
                <a:cs typeface="Calibri" pitchFamily="34" charset="-120"/>
              </a:rPr>
              <a:t>Risque moyen</a:t>
            </a:r>
            <a:endParaRPr lang="en-US" sz="1800" noProof="0" dirty="0"/>
          </a:p>
        </p:txBody>
      </p:sp>
      <p:sp>
        <p:nvSpPr>
          <p:cNvPr id="7" name="Text 5"/>
          <p:cNvSpPr/>
          <p:nvPr/>
        </p:nvSpPr>
        <p:spPr>
          <a:xfrm>
            <a:off x="731519" y="1753084"/>
            <a:ext cx="5765963" cy="1442009"/>
          </a:xfrm>
          <a:prstGeom prst="rect">
            <a:avLst/>
          </a:prstGeom>
          <a:noFill/>
          <a:ln/>
        </p:spPr>
        <p:txBody>
          <a:bodyPr wrap="square" lIns="0" tIns="0" rIns="0" bIns="0" rtlCol="0" anchor="t">
            <a:noAutofit/>
          </a:bodyPr>
          <a:lstStyle/>
          <a:p>
            <a:pPr marL="0" indent="0">
              <a:lnSpc>
                <a:spcPct val="105000"/>
              </a:lnSpc>
              <a:buNone/>
            </a:pPr>
            <a:r>
              <a:rPr lang="fr" sz="1584" noProof="0">
                <a:solidFill>
                  <a:srgbClr val="17325E"/>
                </a:solidFill>
                <a:latin typeface="Calibri" pitchFamily="34" charset="0"/>
                <a:ea typeface="Calibri" pitchFamily="34" charset="-122"/>
                <a:cs typeface="Calibri" pitchFamily="34" charset="-120"/>
              </a:rPr>
              <a:t>Un adulte sans antécédents personnels ou familiaux de cancer colorectal ou d'adénomes, sans maladie inflammatoire de l'intestin, et sans syndrome héréditaire connu.</a:t>
            </a:r>
            <a:endParaRPr lang="en-US" sz="1584" noProof="0" dirty="0"/>
          </a:p>
        </p:txBody>
      </p:sp>
      <p:sp>
        <p:nvSpPr>
          <p:cNvPr id="8" name="Shape 6"/>
          <p:cNvSpPr/>
          <p:nvPr/>
        </p:nvSpPr>
        <p:spPr>
          <a:xfrm>
            <a:off x="548639" y="2729646"/>
            <a:ext cx="6427893" cy="1526190"/>
          </a:xfrm>
          <a:prstGeom prst="roundRect">
            <a:avLst>
              <a:gd name="adj" fmla="val 4444"/>
            </a:avLst>
          </a:prstGeom>
          <a:solidFill>
            <a:srgbClr val="FFF3DF"/>
          </a:solidFill>
          <a:ln w="15875">
            <a:solidFill>
              <a:srgbClr val="E8CFA4"/>
            </a:solidFill>
            <a:prstDash val="solid"/>
          </a:ln>
        </p:spPr>
        <p:txBody>
          <a:bodyPr/>
          <a:lstStyle/>
          <a:p>
            <a:endParaRPr lang="en-US" noProof="0" dirty="0"/>
          </a:p>
        </p:txBody>
      </p:sp>
      <p:sp>
        <p:nvSpPr>
          <p:cNvPr id="9" name="Text 7"/>
          <p:cNvSpPr/>
          <p:nvPr/>
        </p:nvSpPr>
        <p:spPr>
          <a:xfrm>
            <a:off x="731519" y="2751770"/>
            <a:ext cx="5765963" cy="359359"/>
          </a:xfrm>
          <a:prstGeom prst="rect">
            <a:avLst/>
          </a:prstGeom>
          <a:noFill/>
          <a:ln/>
        </p:spPr>
        <p:txBody>
          <a:bodyPr wrap="square" lIns="0" tIns="0" rIns="0" bIns="0" rtlCol="0" anchor="t"/>
          <a:lstStyle/>
          <a:p>
            <a:pPr marL="0" indent="0">
              <a:buNone/>
            </a:pPr>
            <a:r>
              <a:rPr lang="fr" sz="1800" b="1" noProof="0">
                <a:solidFill>
                  <a:srgbClr val="9A5B00"/>
                </a:solidFill>
                <a:latin typeface="Calibri" pitchFamily="34" charset="0"/>
                <a:ea typeface="Calibri" pitchFamily="34" charset="-122"/>
                <a:cs typeface="Calibri" pitchFamily="34" charset="-120"/>
              </a:rPr>
              <a:t>Risque accru</a:t>
            </a:r>
            <a:endParaRPr lang="en-US" sz="1800" noProof="0" dirty="0"/>
          </a:p>
        </p:txBody>
      </p:sp>
      <p:sp>
        <p:nvSpPr>
          <p:cNvPr id="10" name="Text 8"/>
          <p:cNvSpPr/>
          <p:nvPr/>
        </p:nvSpPr>
        <p:spPr>
          <a:xfrm>
            <a:off x="731519" y="3111129"/>
            <a:ext cx="5765963" cy="1442009"/>
          </a:xfrm>
          <a:prstGeom prst="rect">
            <a:avLst/>
          </a:prstGeom>
          <a:noFill/>
          <a:ln/>
        </p:spPr>
        <p:txBody>
          <a:bodyPr wrap="square" lIns="0" tIns="0" rIns="0" bIns="0" rtlCol="0" anchor="t">
            <a:noAutofit/>
          </a:bodyPr>
          <a:lstStyle/>
          <a:p>
            <a:pPr>
              <a:lnSpc>
                <a:spcPct val="105000"/>
              </a:lnSpc>
            </a:pPr>
            <a:r>
              <a:rPr lang="fr" sz="1584" noProof="0">
                <a:solidFill>
                  <a:srgbClr val="17325E"/>
                </a:solidFill>
                <a:latin typeface="Calibri" pitchFamily="34" charset="0"/>
                <a:ea typeface="Calibri" pitchFamily="34" charset="-122"/>
                <a:cs typeface="Calibri" pitchFamily="34" charset="-120"/>
              </a:rPr>
              <a:t>Antécédents familiaux forts, un cancer colorectal ou un adénome antérieur, une maladie inflammatoire intestinale de longue date, ou un syndrome héréditaire connu (par exemple le syndrome de Lynch ou la polypose adénomateuse familiale).</a:t>
            </a:r>
            <a:endParaRPr lang="en-US" sz="1584" noProof="0" dirty="0"/>
          </a:p>
        </p:txBody>
      </p:sp>
      <p:sp>
        <p:nvSpPr>
          <p:cNvPr id="11" name="Shape 9"/>
          <p:cNvSpPr/>
          <p:nvPr/>
        </p:nvSpPr>
        <p:spPr>
          <a:xfrm>
            <a:off x="548638" y="4358478"/>
            <a:ext cx="6427893" cy="1283486"/>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731518" y="4380602"/>
            <a:ext cx="5846975"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Les antécédents familiaux comptent</a:t>
            </a:r>
            <a:endParaRPr lang="en-US" sz="1800" noProof="0" dirty="0"/>
          </a:p>
        </p:txBody>
      </p:sp>
      <p:sp>
        <p:nvSpPr>
          <p:cNvPr id="13" name="Text 11"/>
          <p:cNvSpPr/>
          <p:nvPr/>
        </p:nvSpPr>
        <p:spPr>
          <a:xfrm>
            <a:off x="731518" y="4762539"/>
            <a:ext cx="5846975" cy="1442009"/>
          </a:xfrm>
          <a:prstGeom prst="rect">
            <a:avLst/>
          </a:prstGeom>
          <a:noFill/>
          <a:ln/>
        </p:spPr>
        <p:txBody>
          <a:bodyPr wrap="square" lIns="0" tIns="0" rIns="0" bIns="0" rtlCol="0" anchor="t">
            <a:noAutofit/>
          </a:bodyPr>
          <a:lstStyle/>
          <a:p>
            <a:pPr marL="0" indent="0">
              <a:lnSpc>
                <a:spcPct val="105000"/>
              </a:lnSpc>
              <a:buNone/>
            </a:pPr>
            <a:r>
              <a:rPr lang="fr" sz="1350" noProof="0">
                <a:solidFill>
                  <a:srgbClr val="17325E"/>
                </a:solidFill>
                <a:latin typeface="Calibri" pitchFamily="34" charset="0"/>
                <a:ea typeface="Calibri" pitchFamily="34" charset="-122"/>
                <a:cs typeface="Calibri" pitchFamily="34" charset="-120"/>
              </a:rPr>
              <a:t>Renseignez-vous sur le cancer colorectal chez les parents, les frères et sœurs et les enfants, et à quel âge il est survenu. Un cancer colorectal chez un parent proche, en particulier s’il est survenu avant l’âge de 50 ans, est particulièrement important.</a:t>
            </a:r>
            <a:endParaRPr lang="en-US" sz="1350" noProof="0" dirty="0"/>
          </a:p>
        </p:txBody>
      </p:sp>
      <p:sp>
        <p:nvSpPr>
          <p:cNvPr id="23" name="CuadroTexto 22">
            <a:extLst>
              <a:ext uri="{FF2B5EF4-FFF2-40B4-BE49-F238E27FC236}">
                <a16:creationId xmlns:a16="http://schemas.microsoft.com/office/drawing/2014/main" id="{263BA303-9E62-791E-D9E1-BB77AB981A09}"/>
              </a:ext>
            </a:extLst>
          </p:cNvPr>
          <p:cNvSpPr txBox="1"/>
          <p:nvPr/>
        </p:nvSpPr>
        <p:spPr>
          <a:xfrm>
            <a:off x="548640" y="5783630"/>
            <a:ext cx="11349849" cy="571450"/>
          </a:xfrm>
          <a:prstGeom prst="rect">
            <a:avLst/>
          </a:prstGeom>
          <a:noFill/>
        </p:spPr>
        <p:txBody>
          <a:bodyPr wrap="square" rtlCol="0">
            <a:normAutofit fontScale="96500"/>
          </a:bodyPr>
          <a:lstStyle/>
          <a:p>
            <a:pPr>
              <a:lnSpc>
                <a:spcPct val="105000"/>
              </a:lnSpc>
            </a:pPr>
            <a:r>
              <a:rPr lang="fr" sz="1600" b="1" i="1" noProof="0">
                <a:solidFill>
                  <a:schemeClr val="bg2">
                    <a:lumMod val="50000"/>
                  </a:schemeClr>
                </a:solidFill>
                <a:latin typeface="Calibri" pitchFamily="34" charset="0"/>
                <a:ea typeface="Calibri" pitchFamily="34" charset="-122"/>
                <a:cs typeface="Calibri" pitchFamily="34" charset="-120"/>
              </a:rPr>
              <a:t>Remarque : </a:t>
            </a:r>
            <a:r>
              <a:rPr lang="fr" sz="1600" i="1" noProof="0">
                <a:solidFill>
                  <a:schemeClr val="bg2">
                    <a:lumMod val="50000"/>
                  </a:schemeClr>
                </a:solidFill>
                <a:latin typeface="Calibri" pitchFamily="34" charset="0"/>
                <a:ea typeface="Calibri" pitchFamily="34" charset="-122"/>
                <a:cs typeface="Calibri" pitchFamily="34" charset="-120"/>
              </a:rPr>
              <a:t>On n'attend pas de vous que vous diagnostiquez un syndrome. Vous êtes censé enregistrer les antécédents familiaux et médicaux et orienter les personnes nécessitant une évaluation plus précoce ou spécialisée.</a:t>
            </a:r>
            <a:endParaRPr lang="en-US" sz="1600" i="1" noProof="0" dirty="0">
              <a:solidFill>
                <a:schemeClr val="bg2">
                  <a:lumMod val="50000"/>
                </a:schemeClr>
              </a:solidFill>
            </a:endParaRPr>
          </a:p>
        </p:txBody>
      </p:sp>
      <p:pic>
        <p:nvPicPr>
          <p:cNvPr id="24" name="Imagen 23">
            <a:extLst>
              <a:ext uri="{FF2B5EF4-FFF2-40B4-BE49-F238E27FC236}">
                <a16:creationId xmlns:a16="http://schemas.microsoft.com/office/drawing/2014/main" id="{6D429138-BAF4-64E8-42B8-DCEFC56FEB7A}"/>
              </a:ext>
            </a:extLst>
          </p:cNvPr>
          <p:cNvPicPr>
            <a:picLocks noChangeAspect="1"/>
          </p:cNvPicPr>
          <p:nvPr/>
        </p:nvPicPr>
        <p:blipFill>
          <a:blip r:embed="rId3"/>
          <a:stretch>
            <a:fillRect/>
          </a:stretch>
        </p:blipFill>
        <p:spPr>
          <a:xfrm>
            <a:off x="7078856" y="1912174"/>
            <a:ext cx="4819633" cy="321308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Facteurs de risque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6" name="Shape 4"/>
          <p:cNvSpPr/>
          <p:nvPr/>
        </p:nvSpPr>
        <p:spPr>
          <a:xfrm>
            <a:off x="548640" y="1251369"/>
            <a:ext cx="3527450" cy="4354575"/>
          </a:xfrm>
          <a:prstGeom prst="roundRect">
            <a:avLst>
              <a:gd name="adj" fmla="val 4000"/>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31520" y="1397675"/>
            <a:ext cx="3161690"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Non modifiables</a:t>
            </a:r>
            <a:endParaRPr lang="en-US" sz="1800" noProof="0" dirty="0"/>
          </a:p>
        </p:txBody>
      </p:sp>
      <p:sp>
        <p:nvSpPr>
          <p:cNvPr id="8" name="Text 6"/>
          <p:cNvSpPr/>
          <p:nvPr/>
        </p:nvSpPr>
        <p:spPr>
          <a:xfrm>
            <a:off x="731520" y="1757034"/>
            <a:ext cx="3161690" cy="1670609"/>
          </a:xfrm>
          <a:prstGeom prst="rect">
            <a:avLst/>
          </a:prstGeom>
          <a:noFill/>
          <a:ln/>
        </p:spPr>
        <p:txBody>
          <a:bodyPr wrap="square" lIns="0" tIns="0" rIns="0" bIns="0" rtlCol="0" anchor="t">
            <a:normAutofit fontScale="96500"/>
          </a:bodyPr>
          <a:lstStyle/>
          <a:p>
            <a:pPr marL="285750" indent="-285750">
              <a:lnSpc>
                <a:spcPct val="105000"/>
              </a:lnSpc>
              <a:buFont typeface="Arial" panose="020B0604020202020204" pitchFamily="34" charset="0"/>
              <a:buChar char="•"/>
            </a:pPr>
            <a:r>
              <a:rPr lang="fr" sz="1600" noProof="0">
                <a:solidFill>
                  <a:srgbClr val="17325E"/>
                </a:solidFill>
                <a:latin typeface="Calibri" pitchFamily="34" charset="0"/>
                <a:ea typeface="Calibri" pitchFamily="34" charset="-122"/>
                <a:cs typeface="Calibri" pitchFamily="34" charset="-120"/>
              </a:rPr>
              <a:t>Vieillissement</a:t>
            </a:r>
            <a:endParaRPr lang="en-US" sz="1600" noProof="0" dirty="0"/>
          </a:p>
          <a:p>
            <a:pPr marL="285750" indent="-285750">
              <a:lnSpc>
                <a:spcPct val="105000"/>
              </a:lnSpc>
              <a:buFont typeface="Arial" panose="020B0604020202020204" pitchFamily="34" charset="0"/>
              <a:buChar char="•"/>
            </a:pPr>
            <a:r>
              <a:rPr lang="fr" sz="1600" noProof="0">
                <a:solidFill>
                  <a:srgbClr val="17325E"/>
                </a:solidFill>
                <a:latin typeface="Calibri" pitchFamily="34" charset="0"/>
                <a:ea typeface="Calibri" pitchFamily="34" charset="-122"/>
                <a:cs typeface="Calibri" pitchFamily="34" charset="-120"/>
              </a:rPr>
              <a:t>Antécédents familiaux de cancer colorectal</a:t>
            </a:r>
            <a:endParaRPr lang="en-US" sz="1600" noProof="0" dirty="0"/>
          </a:p>
          <a:p>
            <a:pPr marL="285750" indent="-285750">
              <a:lnSpc>
                <a:spcPct val="105000"/>
              </a:lnSpc>
              <a:buFont typeface="Arial" panose="020B0604020202020204" pitchFamily="34" charset="0"/>
              <a:buChar char="•"/>
            </a:pPr>
            <a:r>
              <a:rPr lang="fr" sz="1600" noProof="0">
                <a:solidFill>
                  <a:srgbClr val="17325E"/>
                </a:solidFill>
                <a:latin typeface="Calibri" pitchFamily="34" charset="0"/>
                <a:ea typeface="Calibri" pitchFamily="34" charset="-122"/>
                <a:cs typeface="Calibri" pitchFamily="34" charset="-120"/>
              </a:rPr>
              <a:t>Un syndrome héréditaire tel que le syndrome de Lynch</a:t>
            </a:r>
            <a:endParaRPr lang="en-US" sz="1600" noProof="0" dirty="0"/>
          </a:p>
          <a:p>
            <a:pPr marL="285750" indent="-285750">
              <a:lnSpc>
                <a:spcPct val="105000"/>
              </a:lnSpc>
              <a:buFont typeface="Arial" panose="020B0604020202020204" pitchFamily="34" charset="0"/>
              <a:buChar char="•"/>
            </a:pPr>
            <a:r>
              <a:rPr lang="fr" sz="1600" noProof="0">
                <a:solidFill>
                  <a:srgbClr val="17325E"/>
                </a:solidFill>
                <a:latin typeface="Calibri" pitchFamily="34" charset="0"/>
                <a:ea typeface="Calibri" pitchFamily="34" charset="-122"/>
                <a:cs typeface="Calibri" pitchFamily="34" charset="-120"/>
              </a:rPr>
              <a:t>Un cancer colorectal ou adénome antérieur</a:t>
            </a:r>
            <a:endParaRPr lang="en-US" sz="1600" noProof="0" dirty="0"/>
          </a:p>
        </p:txBody>
      </p:sp>
      <p:sp>
        <p:nvSpPr>
          <p:cNvPr id="9" name="Shape 7"/>
          <p:cNvSpPr/>
          <p:nvPr/>
        </p:nvSpPr>
        <p:spPr>
          <a:xfrm>
            <a:off x="4332122" y="1251370"/>
            <a:ext cx="3527450" cy="4354574"/>
          </a:xfrm>
          <a:prstGeom prst="roundRect">
            <a:avLst>
              <a:gd name="adj" fmla="val 4000"/>
            </a:avLst>
          </a:prstGeom>
          <a:solidFill>
            <a:srgbClr val="EAF6F0"/>
          </a:solidFill>
          <a:ln w="15875">
            <a:solidFill>
              <a:srgbClr val="9BCBB4"/>
            </a:solidFill>
            <a:prstDash val="solid"/>
          </a:ln>
        </p:spPr>
        <p:txBody>
          <a:bodyPr/>
          <a:lstStyle/>
          <a:p>
            <a:endParaRPr lang="en-US" noProof="0" dirty="0"/>
          </a:p>
        </p:txBody>
      </p:sp>
      <p:sp>
        <p:nvSpPr>
          <p:cNvPr id="10" name="Text 8"/>
          <p:cNvSpPr/>
          <p:nvPr/>
        </p:nvSpPr>
        <p:spPr>
          <a:xfrm>
            <a:off x="4515002" y="1397675"/>
            <a:ext cx="3161690" cy="359359"/>
          </a:xfrm>
          <a:prstGeom prst="rect">
            <a:avLst/>
          </a:prstGeom>
          <a:noFill/>
          <a:ln/>
        </p:spPr>
        <p:txBody>
          <a:bodyPr wrap="square" lIns="0" tIns="0" rIns="0" bIns="0" rtlCol="0" anchor="t"/>
          <a:lstStyle/>
          <a:p>
            <a:pPr marL="0" indent="0">
              <a:buNone/>
            </a:pPr>
            <a:r>
              <a:rPr lang="fr" sz="1800" b="1" noProof="0">
                <a:solidFill>
                  <a:srgbClr val="126647"/>
                </a:solidFill>
                <a:latin typeface="Calibri" pitchFamily="34" charset="0"/>
                <a:ea typeface="Calibri" pitchFamily="34" charset="-122"/>
                <a:cs typeface="Calibri" pitchFamily="34" charset="-120"/>
              </a:rPr>
              <a:t>Modifiables</a:t>
            </a:r>
            <a:endParaRPr lang="en-US" sz="1800" noProof="0" dirty="0"/>
          </a:p>
        </p:txBody>
      </p:sp>
      <p:sp>
        <p:nvSpPr>
          <p:cNvPr id="11" name="Text 9"/>
          <p:cNvSpPr/>
          <p:nvPr/>
        </p:nvSpPr>
        <p:spPr>
          <a:xfrm>
            <a:off x="4515002" y="1757034"/>
            <a:ext cx="3161690" cy="1670609"/>
          </a:xfrm>
          <a:prstGeom prst="rect">
            <a:avLst/>
          </a:prstGeom>
          <a:noFill/>
          <a:ln/>
        </p:spPr>
        <p:txBody>
          <a:bodyPr wrap="square" lIns="0" tIns="0" rIns="0" bIns="0" rtlCol="0" anchor="t">
            <a:normAutofit fontScale="96500"/>
          </a:bodyPr>
          <a:lstStyle/>
          <a:p>
            <a:pPr marL="285750" indent="-285750">
              <a:lnSpc>
                <a:spcPct val="105000"/>
              </a:lnSpc>
              <a:buFont typeface="Arial" panose="020B0604020202020204" pitchFamily="34" charset="0"/>
              <a:buChar char="•"/>
            </a:pPr>
            <a:r>
              <a:rPr lang="fr" sz="1600" noProof="0">
                <a:solidFill>
                  <a:srgbClr val="17325E"/>
                </a:solidFill>
                <a:latin typeface="Calibri" pitchFamily="34" charset="0"/>
                <a:ea typeface="Calibri" pitchFamily="34" charset="-122"/>
                <a:cs typeface="Calibri" pitchFamily="34" charset="-120"/>
              </a:rPr>
              <a:t>Usage du tabac</a:t>
            </a:r>
            <a:endParaRPr lang="en-US" sz="1600" noProof="0" dirty="0"/>
          </a:p>
          <a:p>
            <a:pPr marL="285750" indent="-285750">
              <a:lnSpc>
                <a:spcPct val="105000"/>
              </a:lnSpc>
              <a:buFont typeface="Arial" panose="020B0604020202020204" pitchFamily="34" charset="0"/>
              <a:buChar char="•"/>
            </a:pPr>
            <a:r>
              <a:rPr lang="fr" sz="1600" noProof="0">
                <a:solidFill>
                  <a:srgbClr val="17325E"/>
                </a:solidFill>
                <a:latin typeface="Calibri" pitchFamily="34" charset="0"/>
                <a:ea typeface="Calibri" pitchFamily="34" charset="-122"/>
                <a:cs typeface="Calibri" pitchFamily="34" charset="-120"/>
              </a:rPr>
              <a:t>Forte consommation d'alcool</a:t>
            </a:r>
            <a:endParaRPr lang="en-US" sz="1600" noProof="0" dirty="0"/>
          </a:p>
          <a:p>
            <a:pPr marL="285750" indent="-285750">
              <a:lnSpc>
                <a:spcPct val="105000"/>
              </a:lnSpc>
              <a:buFont typeface="Arial" panose="020B0604020202020204" pitchFamily="34" charset="0"/>
              <a:buChar char="•"/>
            </a:pPr>
            <a:r>
              <a:rPr lang="fr" sz="1600" noProof="0">
                <a:solidFill>
                  <a:srgbClr val="17325E"/>
                </a:solidFill>
                <a:latin typeface="Calibri" pitchFamily="34" charset="0"/>
                <a:ea typeface="Calibri" pitchFamily="34" charset="-122"/>
                <a:cs typeface="Calibri" pitchFamily="34" charset="-120"/>
              </a:rPr>
              <a:t>Excès de poids corporel</a:t>
            </a:r>
            <a:endParaRPr lang="en-US" sz="1600" noProof="0" dirty="0"/>
          </a:p>
          <a:p>
            <a:pPr marL="285750" indent="-285750">
              <a:lnSpc>
                <a:spcPct val="105000"/>
              </a:lnSpc>
              <a:buFont typeface="Arial" panose="020B0604020202020204" pitchFamily="34" charset="0"/>
              <a:buChar char="•"/>
            </a:pPr>
            <a:r>
              <a:rPr lang="fr" sz="1600" noProof="0">
                <a:solidFill>
                  <a:srgbClr val="17325E"/>
                </a:solidFill>
                <a:latin typeface="Calibri" pitchFamily="34" charset="0"/>
                <a:ea typeface="Calibri" pitchFamily="34" charset="-122"/>
                <a:cs typeface="Calibri" pitchFamily="34" charset="-120"/>
              </a:rPr>
              <a:t>Faible activité physique</a:t>
            </a:r>
            <a:endParaRPr lang="en-US" sz="1600" noProof="0" dirty="0"/>
          </a:p>
          <a:p>
            <a:pPr marL="285750" indent="-285750">
              <a:lnSpc>
                <a:spcPct val="105000"/>
              </a:lnSpc>
              <a:buFont typeface="Arial" panose="020B0604020202020204" pitchFamily="34" charset="0"/>
              <a:buChar char="•"/>
            </a:pPr>
            <a:r>
              <a:rPr lang="fr" sz="1600" noProof="0">
                <a:solidFill>
                  <a:srgbClr val="17325E"/>
                </a:solidFill>
                <a:latin typeface="Calibri" pitchFamily="34" charset="0"/>
                <a:ea typeface="Calibri" pitchFamily="34" charset="-122"/>
                <a:cs typeface="Calibri" pitchFamily="34" charset="-120"/>
              </a:rPr>
              <a:t>Alimentation riche en viandes rouges et transformées et pauvre en fibres</a:t>
            </a:r>
            <a:endParaRPr lang="en-US" sz="1600" noProof="0" dirty="0"/>
          </a:p>
        </p:txBody>
      </p:sp>
      <p:sp>
        <p:nvSpPr>
          <p:cNvPr id="12" name="Shape 10"/>
          <p:cNvSpPr/>
          <p:nvPr/>
        </p:nvSpPr>
        <p:spPr>
          <a:xfrm>
            <a:off x="8115605" y="1251370"/>
            <a:ext cx="3527450" cy="4354574"/>
          </a:xfrm>
          <a:prstGeom prst="roundRect">
            <a:avLst>
              <a:gd name="adj" fmla="val 4000"/>
            </a:avLst>
          </a:prstGeom>
          <a:solidFill>
            <a:srgbClr val="FFF3DF"/>
          </a:solidFill>
          <a:ln w="15875">
            <a:solidFill>
              <a:srgbClr val="E8CFA4"/>
            </a:solidFill>
            <a:prstDash val="solid"/>
          </a:ln>
        </p:spPr>
        <p:txBody>
          <a:bodyPr/>
          <a:lstStyle/>
          <a:p>
            <a:endParaRPr lang="en-US" noProof="0" dirty="0"/>
          </a:p>
        </p:txBody>
      </p:sp>
      <p:sp>
        <p:nvSpPr>
          <p:cNvPr id="13" name="Text 11"/>
          <p:cNvSpPr/>
          <p:nvPr/>
        </p:nvSpPr>
        <p:spPr>
          <a:xfrm>
            <a:off x="8298485" y="1397675"/>
            <a:ext cx="3161690" cy="359359"/>
          </a:xfrm>
          <a:prstGeom prst="rect">
            <a:avLst/>
          </a:prstGeom>
          <a:noFill/>
          <a:ln/>
        </p:spPr>
        <p:txBody>
          <a:bodyPr wrap="square" lIns="0" tIns="0" rIns="0" bIns="0" rtlCol="0" anchor="t"/>
          <a:lstStyle/>
          <a:p>
            <a:pPr marL="0" indent="0">
              <a:buNone/>
            </a:pPr>
            <a:r>
              <a:rPr lang="fr" sz="1800" b="1" noProof="0">
                <a:solidFill>
                  <a:srgbClr val="9A5B00"/>
                </a:solidFill>
                <a:latin typeface="Calibri" pitchFamily="34" charset="0"/>
                <a:ea typeface="Calibri" pitchFamily="34" charset="-122"/>
                <a:cs typeface="Calibri" pitchFamily="34" charset="-120"/>
              </a:rPr>
              <a:t>Pathologies médicales</a:t>
            </a:r>
            <a:endParaRPr lang="en-US" sz="1800" noProof="0" dirty="0"/>
          </a:p>
        </p:txBody>
      </p:sp>
      <p:sp>
        <p:nvSpPr>
          <p:cNvPr id="14" name="Text 12"/>
          <p:cNvSpPr/>
          <p:nvPr/>
        </p:nvSpPr>
        <p:spPr>
          <a:xfrm>
            <a:off x="8298485" y="1757034"/>
            <a:ext cx="3161690" cy="1670609"/>
          </a:xfrm>
          <a:prstGeom prst="rect">
            <a:avLst/>
          </a:prstGeom>
          <a:noFill/>
          <a:ln/>
        </p:spPr>
        <p:txBody>
          <a:bodyPr wrap="square" lIns="0" tIns="0" rIns="0" bIns="0" rtlCol="0" anchor="t">
            <a:noAutofit/>
          </a:bodyPr>
          <a:lstStyle/>
          <a:p>
            <a:pPr marL="285750" indent="-285750">
              <a:lnSpc>
                <a:spcPct val="105000"/>
              </a:lnSpc>
              <a:buFont typeface="Arial" panose="020B0604020202020204" pitchFamily="34" charset="0"/>
              <a:buChar char="•"/>
            </a:pPr>
            <a:r>
              <a:rPr lang="fr" sz="1424" noProof="0">
                <a:solidFill>
                  <a:srgbClr val="17325E"/>
                </a:solidFill>
                <a:latin typeface="Calibri" pitchFamily="34" charset="0"/>
                <a:ea typeface="Calibri" pitchFamily="34" charset="-122"/>
                <a:cs typeface="Calibri" pitchFamily="34" charset="-120"/>
              </a:rPr>
              <a:t>Colite ulcéreuse</a:t>
            </a:r>
          </a:p>
          <a:p>
            <a:pPr marL="285750" indent="-285750">
              <a:lnSpc>
                <a:spcPct val="105000"/>
              </a:lnSpc>
              <a:buFont typeface="Arial" panose="020B0604020202020204" pitchFamily="34" charset="0"/>
              <a:buChar char="•"/>
            </a:pPr>
            <a:r>
              <a:rPr lang="fr" sz="1424" noProof="0">
                <a:solidFill>
                  <a:srgbClr val="17325E"/>
                </a:solidFill>
                <a:latin typeface="Calibri" pitchFamily="34" charset="0"/>
                <a:ea typeface="Calibri" pitchFamily="34" charset="-122"/>
                <a:cs typeface="Calibri" pitchFamily="34" charset="-120"/>
              </a:rPr>
              <a:t>Maladie de Crohn</a:t>
            </a:r>
            <a:endParaRPr lang="en-US" sz="1424" noProof="0" dirty="0"/>
          </a:p>
        </p:txBody>
      </p:sp>
      <p:sp>
        <p:nvSpPr>
          <p:cNvPr id="15" name="Shape 13"/>
          <p:cNvSpPr/>
          <p:nvPr/>
        </p:nvSpPr>
        <p:spPr>
          <a:xfrm>
            <a:off x="548640" y="5734756"/>
            <a:ext cx="11094415" cy="518944"/>
          </a:xfrm>
          <a:prstGeom prst="roundRect">
            <a:avLst>
              <a:gd name="adj" fmla="val 6452"/>
            </a:avLst>
          </a:prstGeom>
          <a:solidFill>
            <a:srgbClr val="FFFFFF"/>
          </a:solidFill>
          <a:ln w="15875">
            <a:solidFill>
              <a:srgbClr val="C9DCF2"/>
            </a:solidFill>
            <a:prstDash val="solid"/>
          </a:ln>
        </p:spPr>
        <p:txBody>
          <a:bodyPr/>
          <a:lstStyle/>
          <a:p>
            <a:endParaRPr lang="en-US" noProof="0" dirty="0"/>
          </a:p>
        </p:txBody>
      </p:sp>
      <p:sp>
        <p:nvSpPr>
          <p:cNvPr id="17" name="Text 15"/>
          <p:cNvSpPr/>
          <p:nvPr/>
        </p:nvSpPr>
        <p:spPr>
          <a:xfrm>
            <a:off x="731520" y="5791201"/>
            <a:ext cx="10728655" cy="409217"/>
          </a:xfrm>
          <a:prstGeom prst="rect">
            <a:avLst/>
          </a:prstGeom>
          <a:noFill/>
          <a:ln/>
        </p:spPr>
        <p:txBody>
          <a:bodyPr wrap="square" lIns="0" tIns="0" rIns="0" bIns="0" rtlCol="0" anchor="t">
            <a:noAutofit/>
          </a:bodyPr>
          <a:lstStyle/>
          <a:p>
            <a:pPr marL="0" indent="0">
              <a:lnSpc>
                <a:spcPct val="105000"/>
              </a:lnSpc>
              <a:buNone/>
            </a:pPr>
            <a:r>
              <a:rPr lang="fr" sz="1078" i="1" noProof="0">
                <a:solidFill>
                  <a:schemeClr val="bg2">
                    <a:lumMod val="50000"/>
                  </a:schemeClr>
                </a:solidFill>
                <a:latin typeface="Calibri" pitchFamily="34" charset="0"/>
                <a:ea typeface="Calibri" pitchFamily="34" charset="-122"/>
                <a:cs typeface="Calibri" pitchFamily="34" charset="-120"/>
              </a:rPr>
              <a:t>Les facteurs de risque vous aident à déterminer qui a besoin d'un seuil plus bas pour une évaluation et d'un historique plus complet. Ils ne diagnostiquent personne, et ils n'expliquent pas pourquoi une personne a développé un cancer. La plupart des personnes atteintes d'un cancer colorectal n'ont pas de cause identifiable, et personne ne doit être tenu responsable de leur diagnostic.</a:t>
            </a:r>
            <a:endParaRPr lang="en-US" sz="1078" i="1" noProof="0" dirty="0">
              <a:solidFill>
                <a:schemeClr val="bg2">
                  <a:lumMod val="50000"/>
                </a:schemeClr>
              </a:solidFill>
            </a:endParaRPr>
          </a:p>
        </p:txBody>
      </p:sp>
      <p:pic>
        <p:nvPicPr>
          <p:cNvPr id="18" name="Imagen 17">
            <a:extLst>
              <a:ext uri="{FF2B5EF4-FFF2-40B4-BE49-F238E27FC236}">
                <a16:creationId xmlns:a16="http://schemas.microsoft.com/office/drawing/2014/main" id="{E692E32D-45D2-E92E-D424-8C305797EB05}"/>
              </a:ext>
            </a:extLst>
          </p:cNvPr>
          <p:cNvPicPr>
            <a:picLocks noChangeAspect="1"/>
          </p:cNvPicPr>
          <p:nvPr/>
        </p:nvPicPr>
        <p:blipFill>
          <a:blip r:embed="rId3"/>
          <a:srcRect/>
          <a:stretch>
            <a:fillRect/>
          </a:stretch>
        </p:blipFill>
        <p:spPr>
          <a:xfrm>
            <a:off x="929177" y="3474789"/>
            <a:ext cx="2773578" cy="1849052"/>
          </a:xfrm>
          <a:prstGeom prst="rect">
            <a:avLst/>
          </a:prstGeom>
        </p:spPr>
      </p:pic>
      <p:pic>
        <p:nvPicPr>
          <p:cNvPr id="19" name="Imagen 18">
            <a:extLst>
              <a:ext uri="{FF2B5EF4-FFF2-40B4-BE49-F238E27FC236}">
                <a16:creationId xmlns:a16="http://schemas.microsoft.com/office/drawing/2014/main" id="{6EFB007B-7D8B-607B-F679-8DA226DCD78F}"/>
              </a:ext>
            </a:extLst>
          </p:cNvPr>
          <p:cNvPicPr>
            <a:picLocks noChangeAspect="1"/>
          </p:cNvPicPr>
          <p:nvPr/>
        </p:nvPicPr>
        <p:blipFill>
          <a:blip r:embed="rId4"/>
          <a:srcRect/>
          <a:stretch>
            <a:fillRect/>
          </a:stretch>
        </p:blipFill>
        <p:spPr>
          <a:xfrm>
            <a:off x="4789589" y="3581960"/>
            <a:ext cx="2612822" cy="1741881"/>
          </a:xfrm>
          <a:prstGeom prst="rect">
            <a:avLst/>
          </a:prstGeom>
        </p:spPr>
      </p:pic>
      <p:pic>
        <p:nvPicPr>
          <p:cNvPr id="20" name="Imagen 19">
            <a:extLst>
              <a:ext uri="{FF2B5EF4-FFF2-40B4-BE49-F238E27FC236}">
                <a16:creationId xmlns:a16="http://schemas.microsoft.com/office/drawing/2014/main" id="{00445AB2-7319-B800-B546-1AD74E9AFE31}"/>
              </a:ext>
            </a:extLst>
          </p:cNvPr>
          <p:cNvPicPr>
            <a:picLocks noChangeAspect="1"/>
          </p:cNvPicPr>
          <p:nvPr/>
        </p:nvPicPr>
        <p:blipFill>
          <a:blip r:embed="rId5"/>
          <a:srcRect/>
          <a:stretch>
            <a:fillRect/>
          </a:stretch>
        </p:blipFill>
        <p:spPr>
          <a:xfrm>
            <a:off x="8284056" y="3122758"/>
            <a:ext cx="3161691" cy="210779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Signes et symptômes</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23" name="Text 21"/>
          <p:cNvSpPr/>
          <p:nvPr/>
        </p:nvSpPr>
        <p:spPr>
          <a:xfrm>
            <a:off x="548640" y="5952213"/>
            <a:ext cx="11094415" cy="411480"/>
          </a:xfrm>
          <a:prstGeom prst="rect">
            <a:avLst/>
          </a:prstGeom>
          <a:noFill/>
          <a:ln/>
        </p:spPr>
        <p:txBody>
          <a:bodyPr wrap="square" rtlCol="0" anchor="ctr">
            <a:normAutofit fontScale="79500" lnSpcReduction="20000"/>
          </a:bodyPr>
          <a:lstStyle/>
          <a:p>
            <a:pPr marL="0" indent="0">
              <a:buNone/>
            </a:pPr>
            <a:r>
              <a:rPr lang="fr" sz="1500" i="1" noProof="0">
                <a:solidFill>
                  <a:srgbClr val="5B7195"/>
                </a:solidFill>
                <a:latin typeface="Calibri" pitchFamily="34" charset="0"/>
                <a:ea typeface="Calibri" pitchFamily="34" charset="-122"/>
                <a:cs typeface="Calibri" pitchFamily="34" charset="-120"/>
              </a:rPr>
              <a:t>Aucun symptôme unique ne confirme un cancer colorectal, et tous ont d'autres causes, plus fréquentes. Ce qui compte, c'est qu'ils soient persistants, inexpliqués ou nouveaux pour cette personne.</a:t>
            </a:r>
            <a:endParaRPr lang="en-US" sz="1500" noProof="0" dirty="0"/>
          </a:p>
        </p:txBody>
      </p:sp>
      <p:pic>
        <p:nvPicPr>
          <p:cNvPr id="5" name="Imagen 4">
            <a:extLst>
              <a:ext uri="{FF2B5EF4-FFF2-40B4-BE49-F238E27FC236}">
                <a16:creationId xmlns:a16="http://schemas.microsoft.com/office/drawing/2014/main" id="{3297D393-4DDB-320F-F603-E5958420FA20}"/>
              </a:ext>
            </a:extLst>
          </p:cNvPr>
          <p:cNvPicPr>
            <a:picLocks noChangeAspect="1"/>
          </p:cNvPicPr>
          <p:nvPr/>
        </p:nvPicPr>
        <p:blipFill>
          <a:blip r:embed="rId3"/>
          <a:stretch>
            <a:fillRect/>
          </a:stretch>
        </p:blipFill>
        <p:spPr>
          <a:xfrm>
            <a:off x="990600" y="1225296"/>
            <a:ext cx="9436100" cy="471273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Signaux d'alerte : agir sans délai</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pic>
        <p:nvPicPr>
          <p:cNvPr id="5" name="Imagen 4">
            <a:extLst>
              <a:ext uri="{FF2B5EF4-FFF2-40B4-BE49-F238E27FC236}">
                <a16:creationId xmlns:a16="http://schemas.microsoft.com/office/drawing/2014/main" id="{BD138309-5652-1AF0-4B76-4D1AA8E5480A}"/>
              </a:ext>
            </a:extLst>
          </p:cNvPr>
          <p:cNvPicPr>
            <a:picLocks noChangeAspect="1"/>
          </p:cNvPicPr>
          <p:nvPr/>
        </p:nvPicPr>
        <p:blipFill>
          <a:blip r:embed="rId3"/>
          <a:stretch>
            <a:fillRect/>
          </a:stretch>
        </p:blipFill>
        <p:spPr>
          <a:xfrm>
            <a:off x="1270000" y="1225296"/>
            <a:ext cx="9461500" cy="501096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29350"/>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Les tests de dépistage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38" y="1137420"/>
            <a:ext cx="8254025" cy="4086587"/>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31519" y="1279164"/>
            <a:ext cx="7888266" cy="4360106"/>
          </a:xfrm>
          <a:prstGeom prst="rect">
            <a:avLst/>
          </a:prstGeom>
          <a:noFill/>
          <a:ln/>
        </p:spPr>
        <p:txBody>
          <a:bodyPr wrap="square" lIns="0" tIns="0" rIns="0" bIns="0" rtlCol="0" anchor="t">
            <a:noAutofit/>
          </a:bodyPr>
          <a:lstStyle/>
          <a:p>
            <a:pPr>
              <a:lnSpc>
                <a:spcPct val="105000"/>
              </a:lnSpc>
            </a:pPr>
            <a:r>
              <a:rPr lang="fr" sz="1360" b="1" noProof="0" dirty="0">
                <a:solidFill>
                  <a:srgbClr val="0E2E5C"/>
                </a:solidFill>
                <a:latin typeface="Calibri" pitchFamily="34" charset="0"/>
                <a:ea typeface="Calibri" pitchFamily="34" charset="-122"/>
                <a:cs typeface="Calibri" pitchFamily="34" charset="-120"/>
              </a:rPr>
              <a:t>Test immunochimique fécal (FIT)</a:t>
            </a:r>
          </a:p>
          <a:p>
            <a:pPr>
              <a:lnSpc>
                <a:spcPct val="105000"/>
              </a:lnSpc>
            </a:pPr>
            <a:r>
              <a:rPr lang="fr" sz="1360" noProof="0" dirty="0">
                <a:solidFill>
                  <a:srgbClr val="0E2E5C"/>
                </a:solidFill>
                <a:latin typeface="Calibri" pitchFamily="34" charset="0"/>
                <a:ea typeface="Calibri" pitchFamily="34" charset="-122"/>
                <a:cs typeface="Calibri" pitchFamily="34" charset="-120"/>
              </a:rPr>
              <a:t>Un échantillon de selles est testé pour l'hémoglobine humaine. Non invasif, peu coûteux, peut être réalisé à domicile et répété à intervalles réguliers. Il ne diagnostique pas le cancer.</a:t>
            </a:r>
          </a:p>
          <a:p>
            <a:pPr>
              <a:lnSpc>
                <a:spcPct val="105000"/>
              </a:lnSpc>
            </a:pPr>
            <a:r>
              <a:rPr lang="fr" sz="1360" b="1" noProof="0" dirty="0">
                <a:solidFill>
                  <a:srgbClr val="0E2E5C"/>
                </a:solidFill>
                <a:latin typeface="Calibri" pitchFamily="34" charset="0"/>
                <a:ea typeface="Calibri" pitchFamily="34" charset="-122"/>
                <a:cs typeface="Calibri" pitchFamily="34" charset="-120"/>
              </a:rPr>
              <a:t>Test au gaïac de recherche de sang occulte (</a:t>
            </a:r>
            <a:r>
              <a:rPr lang="fr" sz="1360" b="1" noProof="0" dirty="0" err="1">
                <a:solidFill>
                  <a:srgbClr val="0E2E5C"/>
                </a:solidFill>
                <a:latin typeface="Calibri" pitchFamily="34" charset="0"/>
                <a:ea typeface="Calibri" pitchFamily="34" charset="-122"/>
                <a:cs typeface="Calibri" pitchFamily="34" charset="-120"/>
              </a:rPr>
              <a:t>gFOBT</a:t>
            </a:r>
            <a:r>
              <a:rPr lang="fr" sz="1360" b="1" noProof="0" dirty="0">
                <a:solidFill>
                  <a:srgbClr val="0E2E5C"/>
                </a:solidFill>
                <a:latin typeface="Calibri" pitchFamily="34" charset="0"/>
                <a:ea typeface="Calibri" pitchFamily="34" charset="-122"/>
                <a:cs typeface="Calibri" pitchFamily="34" charset="-120"/>
              </a:rPr>
              <a:t>)</a:t>
            </a:r>
          </a:p>
          <a:p>
            <a:pPr>
              <a:lnSpc>
                <a:spcPct val="105000"/>
              </a:lnSpc>
            </a:pPr>
            <a:r>
              <a:rPr lang="fr" sz="1360" noProof="0" dirty="0">
                <a:solidFill>
                  <a:srgbClr val="0E2E5C"/>
                </a:solidFill>
                <a:latin typeface="Calibri" pitchFamily="34" charset="0"/>
                <a:ea typeface="Calibri" pitchFamily="34" charset="-122"/>
                <a:cs typeface="Calibri" pitchFamily="34" charset="-120"/>
              </a:rPr>
              <a:t>Un test de selles plus ancien pour le sang. Moins spécifique que le FIT et influencé par l'alimentation, donc le FIT est préféré là où il est disponible.</a:t>
            </a:r>
          </a:p>
          <a:p>
            <a:pPr>
              <a:lnSpc>
                <a:spcPct val="105000"/>
              </a:lnSpc>
            </a:pPr>
            <a:r>
              <a:rPr lang="fr" sz="1360" b="1" noProof="0" dirty="0">
                <a:solidFill>
                  <a:srgbClr val="0E2E5C"/>
                </a:solidFill>
                <a:latin typeface="Calibri" pitchFamily="34" charset="0"/>
                <a:ea typeface="Calibri" pitchFamily="34" charset="-122"/>
                <a:cs typeface="Calibri" pitchFamily="34" charset="-120"/>
              </a:rPr>
              <a:t>Tests de dépistage de l'ADN/ARN des selles</a:t>
            </a:r>
          </a:p>
          <a:p>
            <a:pPr>
              <a:lnSpc>
                <a:spcPct val="105000"/>
              </a:lnSpc>
            </a:pPr>
            <a:r>
              <a:rPr lang="fr" sz="1360" noProof="0" dirty="0">
                <a:solidFill>
                  <a:srgbClr val="0E2E5C"/>
                </a:solidFill>
                <a:latin typeface="Calibri" pitchFamily="34" charset="0"/>
                <a:ea typeface="Calibri" pitchFamily="34" charset="-122"/>
                <a:cs typeface="Calibri" pitchFamily="34" charset="-120"/>
              </a:rPr>
              <a:t>Ces tests recherchent des anomalies d'ADN ou d'ARN provenant des cellules libérées dans les selles. Ils peuvent aider à détecter les signes de cancer colorectal et les changements précancéreux. Ils sont non invasifs et peuvent être réalisés à domicile. Bien qu'ils ne soient pas encore largement disponibles au Rwanda, ils pourraient devenir une option de dépistage de plus en plus pertinente à l'avenir.</a:t>
            </a:r>
          </a:p>
          <a:p>
            <a:pPr>
              <a:lnSpc>
                <a:spcPct val="105000"/>
              </a:lnSpc>
            </a:pPr>
            <a:endParaRPr lang="en-US" sz="1360" b="1" noProof="0" dirty="0">
              <a:solidFill>
                <a:srgbClr val="0E2E5C"/>
              </a:solidFill>
              <a:latin typeface="Calibri" pitchFamily="34" charset="0"/>
              <a:ea typeface="Calibri" pitchFamily="34" charset="-122"/>
              <a:cs typeface="Calibri" pitchFamily="34" charset="-120"/>
            </a:endParaRPr>
          </a:p>
          <a:p>
            <a:pPr>
              <a:lnSpc>
                <a:spcPct val="105000"/>
              </a:lnSpc>
            </a:pPr>
            <a:r>
              <a:rPr lang="fr" sz="1360" noProof="0" dirty="0">
                <a:solidFill>
                  <a:srgbClr val="0E2E5C"/>
                </a:solidFill>
                <a:latin typeface="Calibri" pitchFamily="34" charset="0"/>
                <a:ea typeface="Calibri" pitchFamily="34" charset="-122"/>
                <a:cs typeface="Calibri" pitchFamily="34" charset="-120"/>
              </a:rPr>
              <a:t>Ces tests détectent des traces de sang ou de matériel génétique anormal dans les selles, et non le cancer lui-même. Un résultat positif nécessite une évaluation intestinale supplémentaire, mais cela ne signifie pas que le cancer est présent. D'autres causes incluent des adénomes, des hémorroïdes et de l'inflammation, entre autres.</a:t>
            </a:r>
          </a:p>
          <a:p>
            <a:pPr>
              <a:lnSpc>
                <a:spcPct val="105000"/>
              </a:lnSpc>
            </a:pPr>
            <a:endParaRPr lang="en-US" sz="1360" noProof="0" dirty="0">
              <a:solidFill>
                <a:srgbClr val="0E2E5C"/>
              </a:solidFill>
              <a:latin typeface="Calibri" pitchFamily="34" charset="0"/>
              <a:ea typeface="Calibri" pitchFamily="34" charset="-122"/>
              <a:cs typeface="Calibri" pitchFamily="34" charset="-120"/>
            </a:endParaRPr>
          </a:p>
          <a:p>
            <a:pPr>
              <a:lnSpc>
                <a:spcPct val="105000"/>
              </a:lnSpc>
            </a:pPr>
            <a:r>
              <a:rPr lang="fr" sz="1360" noProof="0" dirty="0">
                <a:solidFill>
                  <a:srgbClr val="0E2E5C"/>
                </a:solidFill>
                <a:latin typeface="Calibri" pitchFamily="34" charset="0"/>
                <a:ea typeface="Calibri" pitchFamily="34" charset="-122"/>
                <a:cs typeface="Calibri" pitchFamily="34" charset="-120"/>
              </a:rPr>
              <a:t>Un résultat négatif n’exclut pas complètement le cancer, surtout lorsque des symptômes sont présents.</a:t>
            </a:r>
          </a:p>
          <a:p>
            <a:pPr>
              <a:lnSpc>
                <a:spcPct val="105000"/>
              </a:lnSpc>
            </a:pPr>
            <a:endParaRPr lang="en-US" sz="1360" noProof="0" dirty="0"/>
          </a:p>
          <a:p>
            <a:pPr>
              <a:lnSpc>
                <a:spcPct val="105000"/>
              </a:lnSpc>
            </a:pPr>
            <a:endParaRPr lang="en-US" sz="1360" noProof="0" dirty="0"/>
          </a:p>
        </p:txBody>
      </p:sp>
      <p:sp>
        <p:nvSpPr>
          <p:cNvPr id="9" name="Text 7"/>
          <p:cNvSpPr/>
          <p:nvPr/>
        </p:nvSpPr>
        <p:spPr>
          <a:xfrm>
            <a:off x="731519" y="2336823"/>
            <a:ext cx="10115983" cy="343077"/>
          </a:xfrm>
          <a:prstGeom prst="rect">
            <a:avLst/>
          </a:prstGeom>
          <a:noFill/>
          <a:ln/>
        </p:spPr>
        <p:txBody>
          <a:bodyPr wrap="square" lIns="0" tIns="0" rIns="0" bIns="0" rtlCol="0" anchor="t"/>
          <a:lstStyle/>
          <a:p>
            <a:pPr marL="0" indent="0">
              <a:buNone/>
            </a:pPr>
            <a:endParaRPr lang="en-US" sz="1800" noProof="0" dirty="0"/>
          </a:p>
        </p:txBody>
      </p:sp>
      <p:sp>
        <p:nvSpPr>
          <p:cNvPr id="10" name="Text 8"/>
          <p:cNvSpPr/>
          <p:nvPr/>
        </p:nvSpPr>
        <p:spPr>
          <a:xfrm>
            <a:off x="731519" y="2682625"/>
            <a:ext cx="6911059" cy="587863"/>
          </a:xfrm>
          <a:prstGeom prst="rect">
            <a:avLst/>
          </a:prstGeom>
          <a:noFill/>
          <a:ln/>
        </p:spPr>
        <p:txBody>
          <a:bodyPr wrap="square" lIns="0" tIns="0" rIns="0" bIns="0" rtlCol="0" anchor="t"/>
          <a:lstStyle/>
          <a:p>
            <a:pPr marL="0" indent="0">
              <a:lnSpc>
                <a:spcPct val="105000"/>
              </a:lnSpc>
              <a:buNone/>
            </a:pPr>
            <a:endParaRPr lang="en-US" sz="1800" noProof="0" dirty="0"/>
          </a:p>
        </p:txBody>
      </p:sp>
      <p:sp>
        <p:nvSpPr>
          <p:cNvPr id="20" name="Shape 18"/>
          <p:cNvSpPr/>
          <p:nvPr/>
        </p:nvSpPr>
        <p:spPr>
          <a:xfrm>
            <a:off x="548639" y="6062378"/>
            <a:ext cx="11277295" cy="316743"/>
          </a:xfrm>
          <a:prstGeom prst="roundRect">
            <a:avLst>
              <a:gd name="adj" fmla="val 4444"/>
            </a:avLst>
          </a:prstGeom>
          <a:solidFill>
            <a:srgbClr val="FFF3DF"/>
          </a:solidFill>
          <a:ln w="15875">
            <a:solidFill>
              <a:srgbClr val="E8CFA4"/>
            </a:solidFill>
            <a:prstDash val="solid"/>
          </a:ln>
        </p:spPr>
        <p:txBody>
          <a:bodyPr/>
          <a:lstStyle/>
          <a:p>
            <a:endParaRPr lang="en-US" sz="1600" noProof="0" dirty="0"/>
          </a:p>
        </p:txBody>
      </p:sp>
      <p:sp>
        <p:nvSpPr>
          <p:cNvPr id="21" name="Text 19"/>
          <p:cNvSpPr/>
          <p:nvPr/>
        </p:nvSpPr>
        <p:spPr>
          <a:xfrm>
            <a:off x="731520" y="5844797"/>
            <a:ext cx="10728656" cy="89555"/>
          </a:xfrm>
          <a:prstGeom prst="rect">
            <a:avLst/>
          </a:prstGeom>
          <a:noFill/>
          <a:ln/>
        </p:spPr>
        <p:txBody>
          <a:bodyPr wrap="square" lIns="0" tIns="0" rIns="0" bIns="0" rtlCol="0" anchor="t"/>
          <a:lstStyle/>
          <a:p>
            <a:pPr marL="0" indent="0">
              <a:buNone/>
            </a:pPr>
            <a:endParaRPr lang="en-US" sz="1600" noProof="0" dirty="0"/>
          </a:p>
        </p:txBody>
      </p:sp>
      <p:sp>
        <p:nvSpPr>
          <p:cNvPr id="22" name="Text 20"/>
          <p:cNvSpPr/>
          <p:nvPr/>
        </p:nvSpPr>
        <p:spPr>
          <a:xfrm>
            <a:off x="731520" y="6111392"/>
            <a:ext cx="10728656" cy="359359"/>
          </a:xfrm>
          <a:prstGeom prst="rect">
            <a:avLst/>
          </a:prstGeom>
          <a:noFill/>
          <a:ln/>
        </p:spPr>
        <p:txBody>
          <a:bodyPr wrap="square" lIns="0" tIns="0" rIns="0" bIns="0" rtlCol="0" anchor="t">
            <a:noAutofit/>
          </a:bodyPr>
          <a:lstStyle/>
          <a:p>
            <a:pPr>
              <a:lnSpc>
                <a:spcPct val="105000"/>
              </a:lnSpc>
            </a:pPr>
            <a:r>
              <a:rPr lang="fr" sz="1136" b="1">
                <a:solidFill>
                  <a:srgbClr val="9A5B00"/>
                </a:solidFill>
                <a:latin typeface="Calibri" pitchFamily="34" charset="0"/>
                <a:ea typeface="Calibri" pitchFamily="34" charset="-122"/>
                <a:cs typeface="Calibri" pitchFamily="34" charset="-120"/>
              </a:rPr>
              <a:t>La disponibilité n'est pas universelle : l'accès aux tests sur selles varie. Vérifier la disponibilité au Rwanda avant de citer ces tests.</a:t>
            </a:r>
            <a:endParaRPr lang="en-US" sz="1136" noProof="0" dirty="0"/>
          </a:p>
        </p:txBody>
      </p:sp>
      <p:pic>
        <p:nvPicPr>
          <p:cNvPr id="17" name="Imagen 16">
            <a:extLst>
              <a:ext uri="{FF2B5EF4-FFF2-40B4-BE49-F238E27FC236}">
                <a16:creationId xmlns:a16="http://schemas.microsoft.com/office/drawing/2014/main" id="{F41219C1-93AD-35AF-416C-97CEB2659FA4}"/>
              </a:ext>
            </a:extLst>
          </p:cNvPr>
          <p:cNvPicPr>
            <a:picLocks noChangeAspect="1"/>
          </p:cNvPicPr>
          <p:nvPr/>
        </p:nvPicPr>
        <p:blipFill>
          <a:blip r:embed="rId3"/>
          <a:srcRect/>
          <a:stretch>
            <a:fillRect/>
          </a:stretch>
        </p:blipFill>
        <p:spPr>
          <a:xfrm>
            <a:off x="9092903" y="1460105"/>
            <a:ext cx="2227717" cy="1782811"/>
          </a:xfrm>
          <a:prstGeom prst="rect">
            <a:avLst/>
          </a:prstGeom>
        </p:spPr>
      </p:pic>
      <p:pic>
        <p:nvPicPr>
          <p:cNvPr id="18" name="Imagen 17">
            <a:extLst>
              <a:ext uri="{FF2B5EF4-FFF2-40B4-BE49-F238E27FC236}">
                <a16:creationId xmlns:a16="http://schemas.microsoft.com/office/drawing/2014/main" id="{6E2C0DFA-D3D2-92B6-260B-C6F1E6C444C1}"/>
              </a:ext>
            </a:extLst>
          </p:cNvPr>
          <p:cNvPicPr>
            <a:picLocks noChangeAspect="1"/>
          </p:cNvPicPr>
          <p:nvPr/>
        </p:nvPicPr>
        <p:blipFill>
          <a:blip r:embed="rId4"/>
          <a:srcRect/>
          <a:stretch>
            <a:fillRect/>
          </a:stretch>
        </p:blipFill>
        <p:spPr>
          <a:xfrm>
            <a:off x="8953349" y="3933959"/>
            <a:ext cx="2506826" cy="167121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F89A25-D322-B109-9BF9-462B790CA1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DE4A5BE-ED16-4BB6-2DF0-645971C1F6A4}"/>
              </a:ext>
            </a:extLst>
          </p:cNvPr>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a:extLst>
              <a:ext uri="{FF2B5EF4-FFF2-40B4-BE49-F238E27FC236}">
                <a16:creationId xmlns:a16="http://schemas.microsoft.com/office/drawing/2014/main" id="{CBFE1883-FEB3-766B-291D-5218100E3A3D}"/>
              </a:ext>
            </a:extLst>
          </p:cNvPr>
          <p:cNvSpPr/>
          <p:nvPr/>
        </p:nvSpPr>
        <p:spPr>
          <a:xfrm>
            <a:off x="548640" y="491772"/>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Les tests d'évaluation</a:t>
            </a:r>
            <a:endParaRPr lang="en-US" sz="3400" noProof="0" dirty="0"/>
          </a:p>
        </p:txBody>
      </p:sp>
      <p:sp>
        <p:nvSpPr>
          <p:cNvPr id="4" name="Text 2">
            <a:extLst>
              <a:ext uri="{FF2B5EF4-FFF2-40B4-BE49-F238E27FC236}">
                <a16:creationId xmlns:a16="http://schemas.microsoft.com/office/drawing/2014/main" id="{57690D78-08B0-F436-3281-DD9811F382B9}"/>
              </a:ext>
            </a:extLst>
          </p:cNvPr>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11" name="Shape 9">
            <a:extLst>
              <a:ext uri="{FF2B5EF4-FFF2-40B4-BE49-F238E27FC236}">
                <a16:creationId xmlns:a16="http://schemas.microsoft.com/office/drawing/2014/main" id="{27C2CB03-F169-18BB-2778-32BD4BF32EB3}"/>
              </a:ext>
            </a:extLst>
          </p:cNvPr>
          <p:cNvSpPr/>
          <p:nvPr/>
        </p:nvSpPr>
        <p:spPr>
          <a:xfrm>
            <a:off x="731520" y="1127342"/>
            <a:ext cx="5518968" cy="4498031"/>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a:extLst>
              <a:ext uri="{FF2B5EF4-FFF2-40B4-BE49-F238E27FC236}">
                <a16:creationId xmlns:a16="http://schemas.microsoft.com/office/drawing/2014/main" id="{2CD124E2-6612-CCC2-51BE-1802C8EA214F}"/>
              </a:ext>
            </a:extLst>
          </p:cNvPr>
          <p:cNvSpPr/>
          <p:nvPr/>
        </p:nvSpPr>
        <p:spPr>
          <a:xfrm>
            <a:off x="914399" y="1358879"/>
            <a:ext cx="10115983" cy="359359"/>
          </a:xfrm>
          <a:prstGeom prst="rect">
            <a:avLst/>
          </a:prstGeom>
          <a:noFill/>
          <a:ln/>
        </p:spPr>
        <p:txBody>
          <a:bodyPr wrap="square" lIns="0" tIns="0" rIns="0" bIns="0" rtlCol="0" anchor="t"/>
          <a:lstStyle/>
          <a:p>
            <a:pPr marL="0" indent="0">
              <a:buNone/>
            </a:pPr>
            <a:endParaRPr lang="en-US" sz="1800" noProof="0" dirty="0"/>
          </a:p>
        </p:txBody>
      </p:sp>
      <p:sp>
        <p:nvSpPr>
          <p:cNvPr id="13" name="Text 11">
            <a:extLst>
              <a:ext uri="{FF2B5EF4-FFF2-40B4-BE49-F238E27FC236}">
                <a16:creationId xmlns:a16="http://schemas.microsoft.com/office/drawing/2014/main" id="{406CA457-C984-0288-91AE-95894838EF98}"/>
              </a:ext>
            </a:extLst>
          </p:cNvPr>
          <p:cNvSpPr/>
          <p:nvPr/>
        </p:nvSpPr>
        <p:spPr>
          <a:xfrm>
            <a:off x="822959" y="1232627"/>
            <a:ext cx="5427529" cy="629759"/>
          </a:xfrm>
          <a:prstGeom prst="rect">
            <a:avLst/>
          </a:prstGeom>
          <a:noFill/>
          <a:ln/>
        </p:spPr>
        <p:txBody>
          <a:bodyPr wrap="square" lIns="0" tIns="0" rIns="0" bIns="0" rtlCol="0" anchor="t">
            <a:noAutofit/>
          </a:bodyPr>
          <a:lstStyle/>
          <a:p>
            <a:pPr>
              <a:lnSpc>
                <a:spcPct val="105000"/>
              </a:lnSpc>
            </a:pPr>
            <a:r>
              <a:rPr lang="fr" sz="1602" b="1" dirty="0">
                <a:solidFill>
                  <a:srgbClr val="0E2E5C"/>
                </a:solidFill>
                <a:latin typeface="Calibri" pitchFamily="34" charset="0"/>
                <a:ea typeface="Calibri" pitchFamily="34" charset="-122"/>
                <a:cs typeface="Calibri" pitchFamily="34" charset="-120"/>
              </a:rPr>
              <a:t>Coloscopie</a:t>
            </a:r>
            <a:endParaRPr lang="en-US" dirty="0"/>
          </a:p>
          <a:p>
            <a:pPr>
              <a:lnSpc>
                <a:spcPct val="105000"/>
              </a:lnSpc>
            </a:pPr>
            <a:r>
              <a:rPr lang="fr" sz="1602" dirty="0">
                <a:solidFill>
                  <a:srgbClr val="17325E"/>
                </a:solidFill>
                <a:latin typeface="Calibri" pitchFamily="34" charset="0"/>
                <a:ea typeface="Calibri" pitchFamily="34" charset="-122"/>
                <a:cs typeface="Calibri" pitchFamily="34" charset="-120"/>
              </a:rPr>
              <a:t>L'ensemble du côlon et du rectum est examiné à l'aide d'une caméra flexible. Les lésions peuvent être biopsiées et les polypes appropriés retirés lors de la même procédure. C'est l'examen de choix en cas de suspicion de cancer colorectal.</a:t>
            </a:r>
          </a:p>
          <a:p>
            <a:pPr>
              <a:lnSpc>
                <a:spcPct val="105000"/>
              </a:lnSpc>
            </a:pPr>
            <a:r>
              <a:rPr lang="fr" sz="1602" b="1" dirty="0">
                <a:solidFill>
                  <a:srgbClr val="0E2E5C"/>
                </a:solidFill>
                <a:latin typeface="Calibri" pitchFamily="34" charset="0"/>
                <a:ea typeface="Calibri" pitchFamily="34" charset="-122"/>
                <a:cs typeface="Calibri" pitchFamily="34" charset="-120"/>
              </a:rPr>
              <a:t>Sigmoïdoscopie flexible</a:t>
            </a:r>
          </a:p>
          <a:p>
            <a:pPr>
              <a:lnSpc>
                <a:spcPct val="105000"/>
              </a:lnSpc>
            </a:pPr>
            <a:r>
              <a:rPr lang="fr" sz="1602" dirty="0">
                <a:solidFill>
                  <a:srgbClr val="17325E"/>
                </a:solidFill>
                <a:latin typeface="Calibri" pitchFamily="34" charset="0"/>
                <a:ea typeface="Calibri" pitchFamily="34" charset="-122"/>
                <a:cs typeface="Calibri" pitchFamily="34" charset="-120"/>
              </a:rPr>
              <a:t>Examine uniquement le rectum et le côlon gauche, donc les lésions du côlon droit ne sont pas observées. Elle a des indications établies en gastroentérologie, mais </a:t>
            </a:r>
            <a:r>
              <a:rPr lang="fr" sz="1602" b="1" dirty="0">
                <a:solidFill>
                  <a:srgbClr val="17325E"/>
                </a:solidFill>
                <a:latin typeface="Calibri" pitchFamily="34" charset="0"/>
                <a:ea typeface="Calibri" pitchFamily="34" charset="-122"/>
                <a:cs typeface="Calibri" pitchFamily="34" charset="-120"/>
              </a:rPr>
              <a:t>ses limites et son coût font qu'elle n'est pas recommandée pour le diagnostic du cancer colorectal</a:t>
            </a:r>
            <a:r>
              <a:rPr lang="fr" sz="1602" dirty="0">
                <a:solidFill>
                  <a:srgbClr val="17325E"/>
                </a:solidFill>
                <a:latin typeface="Calibri" pitchFamily="34" charset="0"/>
                <a:ea typeface="Calibri" pitchFamily="34" charset="-122"/>
                <a:cs typeface="Calibri" pitchFamily="34" charset="-120"/>
              </a:rPr>
              <a:t>.</a:t>
            </a:r>
          </a:p>
          <a:p>
            <a:pPr>
              <a:lnSpc>
                <a:spcPct val="105000"/>
              </a:lnSpc>
            </a:pPr>
            <a:endParaRPr lang="en-US" dirty="0">
              <a:solidFill>
                <a:srgbClr val="17325E"/>
              </a:solidFill>
              <a:latin typeface="Calibri" pitchFamily="34" charset="0"/>
              <a:cs typeface="Calibri" pitchFamily="34" charset="-120"/>
            </a:endParaRPr>
          </a:p>
          <a:p>
            <a:pPr>
              <a:lnSpc>
                <a:spcPct val="105000"/>
              </a:lnSpc>
            </a:pPr>
            <a:r>
              <a:rPr lang="fr" sz="1602" dirty="0">
                <a:solidFill>
                  <a:schemeClr val="accent1">
                    <a:lumMod val="50000"/>
                  </a:schemeClr>
                </a:solidFill>
              </a:rPr>
              <a:t>Les complications comme un saignement ou une perforation sont rares. Le patient doit comprendre le déroulement de l'examen, le temps nécessaire et les signes d'alerte à signaler ensuite.</a:t>
            </a:r>
          </a:p>
        </p:txBody>
      </p:sp>
      <p:sp>
        <p:nvSpPr>
          <p:cNvPr id="15" name="Text 13">
            <a:extLst>
              <a:ext uri="{FF2B5EF4-FFF2-40B4-BE49-F238E27FC236}">
                <a16:creationId xmlns:a16="http://schemas.microsoft.com/office/drawing/2014/main" id="{D4F481AD-1E64-A684-1F33-FD51BDCE1585}"/>
              </a:ext>
            </a:extLst>
          </p:cNvPr>
          <p:cNvSpPr/>
          <p:nvPr/>
        </p:nvSpPr>
        <p:spPr>
          <a:xfrm>
            <a:off x="914400" y="2537959"/>
            <a:ext cx="3186074" cy="139385"/>
          </a:xfrm>
          <a:prstGeom prst="rect">
            <a:avLst/>
          </a:prstGeom>
          <a:noFill/>
          <a:ln/>
        </p:spPr>
        <p:txBody>
          <a:bodyPr wrap="square" lIns="0" tIns="0" rIns="0" bIns="0" rtlCol="0" anchor="t"/>
          <a:lstStyle/>
          <a:p>
            <a:pPr marL="0" indent="0">
              <a:buNone/>
            </a:pPr>
            <a:endParaRPr lang="en-US" noProof="0" dirty="0"/>
          </a:p>
        </p:txBody>
      </p:sp>
      <p:sp>
        <p:nvSpPr>
          <p:cNvPr id="16" name="Text 14">
            <a:extLst>
              <a:ext uri="{FF2B5EF4-FFF2-40B4-BE49-F238E27FC236}">
                <a16:creationId xmlns:a16="http://schemas.microsoft.com/office/drawing/2014/main" id="{8339BE49-B52E-D2E1-C8D6-6F0A5BD1747B}"/>
              </a:ext>
            </a:extLst>
          </p:cNvPr>
          <p:cNvSpPr/>
          <p:nvPr/>
        </p:nvSpPr>
        <p:spPr>
          <a:xfrm>
            <a:off x="914400" y="2852567"/>
            <a:ext cx="6911058" cy="559316"/>
          </a:xfrm>
          <a:prstGeom prst="rect">
            <a:avLst/>
          </a:prstGeom>
          <a:noFill/>
          <a:ln/>
        </p:spPr>
        <p:txBody>
          <a:bodyPr wrap="square" lIns="0" tIns="0" rIns="0" bIns="0" rtlCol="0" anchor="t"/>
          <a:lstStyle/>
          <a:p>
            <a:pPr marL="0" indent="0">
              <a:lnSpc>
                <a:spcPct val="105000"/>
              </a:lnSpc>
              <a:buNone/>
            </a:pPr>
            <a:endParaRPr lang="en-US" sz="1800" noProof="0" dirty="0"/>
          </a:p>
        </p:txBody>
      </p:sp>
      <p:sp>
        <p:nvSpPr>
          <p:cNvPr id="20" name="Shape 18">
            <a:extLst>
              <a:ext uri="{FF2B5EF4-FFF2-40B4-BE49-F238E27FC236}">
                <a16:creationId xmlns:a16="http://schemas.microsoft.com/office/drawing/2014/main" id="{0BD2A5B7-8C10-5877-BB00-1F6414160E37}"/>
              </a:ext>
            </a:extLst>
          </p:cNvPr>
          <p:cNvSpPr/>
          <p:nvPr/>
        </p:nvSpPr>
        <p:spPr>
          <a:xfrm>
            <a:off x="731518" y="5932080"/>
            <a:ext cx="10728657" cy="359359"/>
          </a:xfrm>
          <a:prstGeom prst="roundRect">
            <a:avLst>
              <a:gd name="adj" fmla="val 4444"/>
            </a:avLst>
          </a:prstGeom>
          <a:solidFill>
            <a:srgbClr val="FFF3DF"/>
          </a:solidFill>
          <a:ln w="15875">
            <a:solidFill>
              <a:srgbClr val="E8CFA4"/>
            </a:solidFill>
            <a:prstDash val="solid"/>
          </a:ln>
        </p:spPr>
        <p:txBody>
          <a:bodyPr/>
          <a:lstStyle/>
          <a:p>
            <a:endParaRPr lang="en-US" sz="1600" noProof="0" dirty="0"/>
          </a:p>
        </p:txBody>
      </p:sp>
      <p:sp>
        <p:nvSpPr>
          <p:cNvPr id="21" name="Text 19">
            <a:extLst>
              <a:ext uri="{FF2B5EF4-FFF2-40B4-BE49-F238E27FC236}">
                <a16:creationId xmlns:a16="http://schemas.microsoft.com/office/drawing/2014/main" id="{FE63AED6-FCBD-3E85-FBA6-8F77B4640743}"/>
              </a:ext>
            </a:extLst>
          </p:cNvPr>
          <p:cNvSpPr/>
          <p:nvPr/>
        </p:nvSpPr>
        <p:spPr>
          <a:xfrm>
            <a:off x="905501" y="6016998"/>
            <a:ext cx="10206709" cy="89555"/>
          </a:xfrm>
          <a:prstGeom prst="rect">
            <a:avLst/>
          </a:prstGeom>
          <a:noFill/>
          <a:ln/>
        </p:spPr>
        <p:txBody>
          <a:bodyPr wrap="square" lIns="0" tIns="0" rIns="0" bIns="0" rtlCol="0" anchor="t">
            <a:noAutofit/>
          </a:bodyPr>
          <a:lstStyle/>
          <a:p>
            <a:r>
              <a:rPr lang="fr" sz="1232" b="1" noProof="0">
                <a:solidFill>
                  <a:srgbClr val="9A5B00"/>
                </a:solidFill>
                <a:latin typeface="Calibri" pitchFamily="34" charset="0"/>
                <a:ea typeface="Calibri" pitchFamily="34" charset="-122"/>
                <a:cs typeface="Calibri" pitchFamily="34" charset="-120"/>
              </a:rPr>
              <a:t>La disponibilité n’est pas universelle : l’accès à l’endoscopie et à l’anatomopathologie varie. Vérifier la disponibilité avant d’orienter.</a:t>
            </a:r>
            <a:endParaRPr lang="en-US" sz="1232" dirty="0"/>
          </a:p>
        </p:txBody>
      </p:sp>
      <p:sp>
        <p:nvSpPr>
          <p:cNvPr id="22" name="Text 20">
            <a:extLst>
              <a:ext uri="{FF2B5EF4-FFF2-40B4-BE49-F238E27FC236}">
                <a16:creationId xmlns:a16="http://schemas.microsoft.com/office/drawing/2014/main" id="{5815CF2E-A161-6A84-CA43-D9ADCD48400A}"/>
              </a:ext>
            </a:extLst>
          </p:cNvPr>
          <p:cNvSpPr/>
          <p:nvPr/>
        </p:nvSpPr>
        <p:spPr>
          <a:xfrm>
            <a:off x="905501" y="6111392"/>
            <a:ext cx="10554674" cy="359359"/>
          </a:xfrm>
          <a:prstGeom prst="rect">
            <a:avLst/>
          </a:prstGeom>
          <a:noFill/>
          <a:ln/>
        </p:spPr>
        <p:txBody>
          <a:bodyPr wrap="square" lIns="0" tIns="0" rIns="0" bIns="0" rtlCol="0" anchor="t"/>
          <a:lstStyle/>
          <a:p>
            <a:pPr marL="0" indent="0">
              <a:lnSpc>
                <a:spcPct val="105000"/>
              </a:lnSpc>
              <a:buNone/>
            </a:pPr>
            <a:endParaRPr lang="en-US" sz="1600" noProof="0" dirty="0"/>
          </a:p>
        </p:txBody>
      </p:sp>
      <p:pic>
        <p:nvPicPr>
          <p:cNvPr id="19" name="Imagen 18">
            <a:extLst>
              <a:ext uri="{FF2B5EF4-FFF2-40B4-BE49-F238E27FC236}">
                <a16:creationId xmlns:a16="http://schemas.microsoft.com/office/drawing/2014/main" id="{BF4A0786-E4AE-E3F7-DD9E-7635B274C614}"/>
              </a:ext>
            </a:extLst>
          </p:cNvPr>
          <p:cNvPicPr>
            <a:picLocks noChangeAspect="1"/>
          </p:cNvPicPr>
          <p:nvPr/>
        </p:nvPicPr>
        <p:blipFill>
          <a:blip r:embed="rId3"/>
          <a:srcRect t="1649" b="8433"/>
          <a:stretch>
            <a:fillRect/>
          </a:stretch>
        </p:blipFill>
        <p:spPr>
          <a:xfrm>
            <a:off x="6826685" y="1089125"/>
            <a:ext cx="4602238" cy="2758849"/>
          </a:xfrm>
          <a:prstGeom prst="rect">
            <a:avLst/>
          </a:prstGeom>
        </p:spPr>
      </p:pic>
      <p:sp>
        <p:nvSpPr>
          <p:cNvPr id="5" name="Shape 9">
            <a:extLst>
              <a:ext uri="{FF2B5EF4-FFF2-40B4-BE49-F238E27FC236}">
                <a16:creationId xmlns:a16="http://schemas.microsoft.com/office/drawing/2014/main" id="{6CA4D632-ABC8-7250-5B92-3172236FDACA}"/>
              </a:ext>
            </a:extLst>
          </p:cNvPr>
          <p:cNvSpPr/>
          <p:nvPr/>
        </p:nvSpPr>
        <p:spPr>
          <a:xfrm>
            <a:off x="6826685" y="3858768"/>
            <a:ext cx="4633490" cy="1920240"/>
          </a:xfrm>
          <a:prstGeom prst="roundRect">
            <a:avLst>
              <a:gd name="adj" fmla="val 4444"/>
            </a:avLst>
          </a:prstGeom>
          <a:solidFill>
            <a:srgbClr val="F3F7FC"/>
          </a:solidFill>
          <a:ln w="15875">
            <a:solidFill>
              <a:srgbClr val="C9DCF2"/>
            </a:solidFill>
            <a:prstDash val="solid"/>
          </a:ln>
        </p:spPr>
        <p:txBody>
          <a:bodyPr>
            <a:noAutofit/>
          </a:bodyPr>
          <a:lstStyle/>
          <a:p>
            <a:r>
              <a:rPr lang="fr" sz="1602" b="1">
                <a:solidFill>
                  <a:schemeClr val="accent1">
                    <a:lumMod val="50000"/>
                  </a:schemeClr>
                </a:solidFill>
              </a:rPr>
              <a:t>Préparation intestinale</a:t>
            </a:r>
          </a:p>
          <a:p>
            <a:pPr marL="285750" indent="-285750">
              <a:buFont typeface="Arial" panose="020B0604020202020204" pitchFamily="34" charset="0"/>
              <a:buChar char="•"/>
            </a:pPr>
            <a:r>
              <a:rPr lang="fr" sz="1424">
                <a:solidFill>
                  <a:schemeClr val="accent1">
                    <a:lumMod val="50000"/>
                  </a:schemeClr>
                </a:solidFill>
              </a:rPr>
              <a:t>Les consignes de préparation sont données par l'établissement qui réalise la coloscopie, et les protocoles diffèrent d'un établissement à l'autre.</a:t>
            </a:r>
          </a:p>
          <a:p>
            <a:pPr marL="285750" indent="-285750">
              <a:buFont typeface="Arial" panose="020B0604020202020204" pitchFamily="34" charset="0"/>
              <a:buChar char="•"/>
            </a:pPr>
            <a:r>
              <a:rPr lang="fr" sz="1424">
                <a:solidFill>
                  <a:schemeClr val="accent1">
                    <a:lumMod val="50000"/>
                  </a:schemeClr>
                </a:solidFill>
              </a:rPr>
              <a:t>Votre rôle est de vous assurer que la personne reçoit ces consignes, les comprend et peut les suivre.</a:t>
            </a:r>
          </a:p>
        </p:txBody>
      </p:sp>
    </p:spTree>
    <p:extLst>
      <p:ext uri="{BB962C8B-B14F-4D97-AF65-F5344CB8AC3E}">
        <p14:creationId xmlns:p14="http://schemas.microsoft.com/office/powerpoint/2010/main" val="41941161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Programmes de dépistage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39" y="1371599"/>
            <a:ext cx="5637366" cy="4351867"/>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96927"/>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Mondial</a:t>
            </a:r>
            <a:endParaRPr lang="en-US" sz="1800" noProof="0" dirty="0"/>
          </a:p>
        </p:txBody>
      </p:sp>
      <p:sp>
        <p:nvSpPr>
          <p:cNvPr id="7" name="Text 5"/>
          <p:cNvSpPr/>
          <p:nvPr/>
        </p:nvSpPr>
        <p:spPr>
          <a:xfrm>
            <a:off x="731519" y="2035309"/>
            <a:ext cx="5397713" cy="3721123"/>
          </a:xfrm>
          <a:prstGeom prst="rect">
            <a:avLst/>
          </a:prstGeom>
          <a:noFill/>
          <a:ln/>
        </p:spPr>
        <p:txBody>
          <a:bodyPr wrap="square" lIns="0" tIns="0" rIns="0" bIns="0" rtlCol="0" anchor="t"/>
          <a:lstStyle/>
          <a:p>
            <a:pPr marL="285750" lvl="0" indent="-285750">
              <a:buFont typeface="Arial" panose="020B0604020202020204" pitchFamily="34" charset="0"/>
              <a:buChar char="•"/>
            </a:pPr>
            <a:r>
              <a:rPr lang="fr" b="1" noProof="0">
                <a:solidFill>
                  <a:schemeClr val="accent1">
                    <a:lumMod val="50000"/>
                  </a:schemeClr>
                </a:solidFill>
              </a:rPr>
              <a:t>Définir l'éligibilité :</a:t>
            </a:r>
            <a:r>
              <a:rPr lang="fr" noProof="0">
                <a:solidFill>
                  <a:schemeClr val="accent1">
                    <a:lumMod val="50000"/>
                  </a:schemeClr>
                </a:solidFill>
              </a:rPr>
              <a:t> Fixer la tranche d'âge du dépistage et identifier les groupes à risque élevé.</a:t>
            </a:r>
          </a:p>
          <a:p>
            <a:pPr marL="285750" lvl="0" indent="-285750">
              <a:buFont typeface="Arial" panose="020B0604020202020204" pitchFamily="34" charset="0"/>
              <a:buChar char="•"/>
            </a:pPr>
            <a:r>
              <a:rPr lang="fr" b="1" noProof="0">
                <a:solidFill>
                  <a:schemeClr val="accent1">
                    <a:lumMod val="50000"/>
                  </a:schemeClr>
                </a:solidFill>
              </a:rPr>
              <a:t>Choisissez le test :</a:t>
            </a:r>
            <a:r>
              <a:rPr lang="fr" noProof="0">
                <a:solidFill>
                  <a:schemeClr val="accent1">
                    <a:lumMod val="50000"/>
                  </a:schemeClr>
                </a:solidFill>
              </a:rPr>
              <a:t> Sélectionnez un test que le système de santé peut fournir de manière fiable.</a:t>
            </a:r>
          </a:p>
          <a:p>
            <a:pPr marL="285750" lvl="0" indent="-285750">
              <a:buFont typeface="Arial" panose="020B0604020202020204" pitchFamily="34" charset="0"/>
              <a:buChar char="•"/>
            </a:pPr>
            <a:r>
              <a:rPr lang="fr" b="1" noProof="0">
                <a:solidFill>
                  <a:schemeClr val="accent1">
                    <a:lumMod val="50000"/>
                  </a:schemeClr>
                </a:solidFill>
              </a:rPr>
              <a:t>Fixez l'intervalle :</a:t>
            </a:r>
            <a:r>
              <a:rPr lang="fr" noProof="0">
                <a:solidFill>
                  <a:schemeClr val="accent1">
                    <a:lumMod val="50000"/>
                  </a:schemeClr>
                </a:solidFill>
              </a:rPr>
              <a:t> les tests de selles sont fréquents ; les tests endoscopiques sont moins fréquents.</a:t>
            </a:r>
          </a:p>
          <a:p>
            <a:pPr marL="285750" lvl="0" indent="-285750">
              <a:buFont typeface="Arial" panose="020B0604020202020204" pitchFamily="34" charset="0"/>
              <a:buChar char="•"/>
            </a:pPr>
            <a:r>
              <a:rPr lang="fr" b="1" noProof="0">
                <a:solidFill>
                  <a:schemeClr val="accent1">
                    <a:lumMod val="50000"/>
                  </a:schemeClr>
                </a:solidFill>
              </a:rPr>
              <a:t>Assurez-vous d'un suivi :</a:t>
            </a:r>
            <a:r>
              <a:rPr lang="fr" noProof="0">
                <a:solidFill>
                  <a:schemeClr val="accent1">
                    <a:lumMod val="50000"/>
                  </a:schemeClr>
                </a:solidFill>
              </a:rPr>
              <a:t> Les résultats positifs nécessitent une évaluation supplémentaire, généralement une coloscopie.</a:t>
            </a:r>
          </a:p>
          <a:p>
            <a:pPr marL="285750" lvl="0" indent="-285750">
              <a:buFont typeface="Arial" panose="020B0604020202020204" pitchFamily="34" charset="0"/>
              <a:buChar char="•"/>
            </a:pPr>
            <a:r>
              <a:rPr lang="fr" b="1" noProof="0">
                <a:solidFill>
                  <a:schemeClr val="accent1">
                    <a:lumMod val="50000"/>
                  </a:schemeClr>
                </a:solidFill>
              </a:rPr>
              <a:t>Confirmez la capacité :</a:t>
            </a:r>
            <a:r>
              <a:rPr lang="fr" noProof="0">
                <a:solidFill>
                  <a:schemeClr val="accent1">
                    <a:lumMod val="50000"/>
                  </a:schemeClr>
                </a:solidFill>
              </a:rPr>
              <a:t> Le dépistage nécessite un accès au diagnostic, au traitement et au suivi.</a:t>
            </a:r>
          </a:p>
          <a:p>
            <a:pPr marL="285750" lvl="0" indent="-285750">
              <a:buFont typeface="Arial" panose="020B0604020202020204" pitchFamily="34" charset="0"/>
              <a:buChar char="•"/>
            </a:pPr>
            <a:r>
              <a:rPr lang="fr" b="1" noProof="0">
                <a:solidFill>
                  <a:schemeClr val="accent1">
                    <a:lumMod val="50000"/>
                  </a:schemeClr>
                </a:solidFill>
              </a:rPr>
              <a:t>Principe fondamental : population appropriée + test disponible + intervalle défini + suivi garanti.</a:t>
            </a:r>
          </a:p>
        </p:txBody>
      </p:sp>
      <p:sp>
        <p:nvSpPr>
          <p:cNvPr id="25" name="Shape 3">
            <a:extLst>
              <a:ext uri="{FF2B5EF4-FFF2-40B4-BE49-F238E27FC236}">
                <a16:creationId xmlns:a16="http://schemas.microsoft.com/office/drawing/2014/main" id="{09A81255-A5BD-8C49-7405-E5C2A591CE65}"/>
              </a:ext>
            </a:extLst>
          </p:cNvPr>
          <p:cNvSpPr/>
          <p:nvPr/>
        </p:nvSpPr>
        <p:spPr>
          <a:xfrm>
            <a:off x="6368885" y="4188997"/>
            <a:ext cx="5274170" cy="1533449"/>
          </a:xfrm>
          <a:prstGeom prst="roundRect">
            <a:avLst>
              <a:gd name="adj" fmla="val 4255"/>
            </a:avLst>
          </a:prstGeom>
          <a:solidFill>
            <a:srgbClr val="FFF3DF"/>
          </a:solidFill>
          <a:ln w="15875">
            <a:solidFill>
              <a:srgbClr val="E8CFA4"/>
            </a:solidFill>
            <a:prstDash val="solid"/>
          </a:ln>
        </p:spPr>
        <p:txBody>
          <a:bodyPr/>
          <a:lstStyle/>
          <a:p>
            <a:endParaRPr lang="en-US" noProof="0" dirty="0"/>
          </a:p>
        </p:txBody>
      </p:sp>
      <p:sp>
        <p:nvSpPr>
          <p:cNvPr id="26" name="Text 4">
            <a:extLst>
              <a:ext uri="{FF2B5EF4-FFF2-40B4-BE49-F238E27FC236}">
                <a16:creationId xmlns:a16="http://schemas.microsoft.com/office/drawing/2014/main" id="{4A172797-D4AF-A554-1121-88400E803D19}"/>
              </a:ext>
            </a:extLst>
          </p:cNvPr>
          <p:cNvSpPr/>
          <p:nvPr/>
        </p:nvSpPr>
        <p:spPr>
          <a:xfrm>
            <a:off x="6684978" y="4335302"/>
            <a:ext cx="4235591" cy="359359"/>
          </a:xfrm>
          <a:prstGeom prst="rect">
            <a:avLst/>
          </a:prstGeom>
          <a:noFill/>
          <a:ln/>
        </p:spPr>
        <p:txBody>
          <a:bodyPr wrap="square" lIns="0" tIns="0" rIns="0" bIns="0" rtlCol="0" anchor="t">
            <a:noAutofit/>
          </a:bodyPr>
          <a:lstStyle/>
          <a:p>
            <a:pPr marL="0" indent="0">
              <a:buNone/>
            </a:pPr>
            <a:r>
              <a:rPr lang="fr" sz="1710" b="1" noProof="0">
                <a:solidFill>
                  <a:srgbClr val="9A5B00"/>
                </a:solidFill>
                <a:latin typeface="Calibri" pitchFamily="34" charset="0"/>
                <a:ea typeface="Calibri" pitchFamily="34" charset="-122"/>
                <a:cs typeface="Calibri" pitchFamily="34" charset="-120"/>
              </a:rPr>
              <a:t>Rwanda : Dépistage du CCR en développement</a:t>
            </a:r>
          </a:p>
        </p:txBody>
      </p:sp>
      <p:sp>
        <p:nvSpPr>
          <p:cNvPr id="27" name="Text 5">
            <a:extLst>
              <a:ext uri="{FF2B5EF4-FFF2-40B4-BE49-F238E27FC236}">
                <a16:creationId xmlns:a16="http://schemas.microsoft.com/office/drawing/2014/main" id="{C7C5B002-E1A0-8739-AD29-79AE3D3A4886}"/>
              </a:ext>
            </a:extLst>
          </p:cNvPr>
          <p:cNvSpPr/>
          <p:nvPr/>
        </p:nvSpPr>
        <p:spPr>
          <a:xfrm>
            <a:off x="6651108" y="4694661"/>
            <a:ext cx="4809371" cy="903725"/>
          </a:xfrm>
          <a:prstGeom prst="rect">
            <a:avLst/>
          </a:prstGeom>
          <a:noFill/>
          <a:ln/>
        </p:spPr>
        <p:txBody>
          <a:bodyPr wrap="square" lIns="0" tIns="0" rIns="0" bIns="0" rtlCol="0" anchor="t">
            <a:noAutofit/>
          </a:bodyPr>
          <a:lstStyle/>
          <a:p>
            <a:pPr>
              <a:lnSpc>
                <a:spcPct val="105000"/>
              </a:lnSpc>
            </a:pPr>
            <a:r>
              <a:rPr lang="fr" sz="1404">
                <a:solidFill>
                  <a:srgbClr val="17325E"/>
                </a:solidFill>
                <a:latin typeface="Calibri" pitchFamily="34" charset="0"/>
                <a:ea typeface="Calibri" pitchFamily="34" charset="-122"/>
                <a:cs typeface="Calibri" pitchFamily="34" charset="-120"/>
              </a:rPr>
              <a:t>Dans le cadre du Plan national de contrôle du cancer 2025-2029, un programme national de dépistage du cancer colorectal est actuellement en cours de développement. »</a:t>
            </a:r>
            <a:endParaRPr lang="en-US" noProof="0" dirty="0"/>
          </a:p>
          <a:p>
            <a:pPr marL="0" indent="0">
              <a:lnSpc>
                <a:spcPct val="105000"/>
              </a:lnSpc>
              <a:buNone/>
            </a:pPr>
            <a:endParaRPr lang="en-US" sz="1404" noProof="0" dirty="0"/>
          </a:p>
        </p:txBody>
      </p:sp>
      <p:pic>
        <p:nvPicPr>
          <p:cNvPr id="8" name="Imagen 7">
            <a:extLst>
              <a:ext uri="{FF2B5EF4-FFF2-40B4-BE49-F238E27FC236}">
                <a16:creationId xmlns:a16="http://schemas.microsoft.com/office/drawing/2014/main" id="{77052CCC-C956-8D8C-5600-47C861976A45}"/>
              </a:ext>
            </a:extLst>
          </p:cNvPr>
          <p:cNvPicPr>
            <a:picLocks noChangeAspect="1"/>
          </p:cNvPicPr>
          <p:nvPr/>
        </p:nvPicPr>
        <p:blipFill>
          <a:blip r:embed="rId3"/>
          <a:srcRect/>
          <a:stretch>
            <a:fillRect/>
          </a:stretch>
        </p:blipFill>
        <p:spPr>
          <a:xfrm>
            <a:off x="6888207" y="1311373"/>
            <a:ext cx="4235525" cy="282368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Avantages et limites</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2057400"/>
          </a:xfrm>
          <a:prstGeom prst="roundRect">
            <a:avLst>
              <a:gd name="adj" fmla="val 4444"/>
            </a:avLst>
          </a:prstGeom>
          <a:solidFill>
            <a:srgbClr val="EAF6F0"/>
          </a:solidFill>
          <a:ln w="15875">
            <a:solidFill>
              <a:srgbClr val="9BCBB4"/>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126647"/>
                </a:solidFill>
                <a:latin typeface="Calibri" pitchFamily="34" charset="0"/>
                <a:ea typeface="Calibri" pitchFamily="34" charset="-122"/>
                <a:cs typeface="Calibri" pitchFamily="34" charset="-120"/>
              </a:rPr>
              <a:t>Détection plus précoce</a:t>
            </a:r>
            <a:endParaRPr lang="en-US" sz="1800" noProof="0" dirty="0"/>
          </a:p>
        </p:txBody>
      </p:sp>
      <p:sp>
        <p:nvSpPr>
          <p:cNvPr id="7" name="Text 5"/>
          <p:cNvSpPr/>
          <p:nvPr/>
        </p:nvSpPr>
        <p:spPr>
          <a:xfrm>
            <a:off x="731520" y="1877263"/>
            <a:ext cx="3186074" cy="1442009"/>
          </a:xfrm>
          <a:prstGeom prst="rect">
            <a:avLst/>
          </a:prstGeom>
          <a:noFill/>
          <a:ln/>
        </p:spPr>
        <p:txBody>
          <a:bodyPr wrap="square" lIns="0" tIns="0" rIns="0" bIns="0" rtlCol="0" anchor="t">
            <a:normAutofit fontScale="96000"/>
          </a:bodyPr>
          <a:lstStyle/>
          <a:p>
            <a:pPr>
              <a:lnSpc>
                <a:spcPct val="105000"/>
              </a:lnSpc>
            </a:pPr>
            <a:r>
              <a:rPr lang="fr">
                <a:solidFill>
                  <a:srgbClr val="17325E"/>
                </a:solidFill>
                <a:latin typeface="Calibri" pitchFamily="34" charset="0"/>
                <a:ea typeface="Calibri" pitchFamily="34" charset="-122"/>
                <a:cs typeface="Calibri" pitchFamily="34" charset="-120"/>
              </a:rPr>
              <a:t>Le cancer détecté avant de provoquer des symptômes est plus fréquent</a:t>
            </a:r>
          </a:p>
          <a:p>
            <a:pPr>
              <a:lnSpc>
                <a:spcPct val="105000"/>
              </a:lnSpc>
            </a:pPr>
            <a:r>
              <a:rPr lang="fr">
                <a:solidFill>
                  <a:srgbClr val="17325E"/>
                </a:solidFill>
                <a:latin typeface="Calibri" pitchFamily="34" charset="0"/>
                <a:ea typeface="Calibri" pitchFamily="34" charset="-122"/>
                <a:cs typeface="Calibri" pitchFamily="34" charset="-120"/>
              </a:rPr>
              <a:t>à un stade plus précoce et plus traitable.</a:t>
            </a:r>
            <a:endParaRPr lang="en-US" sz="1800" noProof="0" dirty="0"/>
          </a:p>
        </p:txBody>
      </p:sp>
      <p:sp>
        <p:nvSpPr>
          <p:cNvPr id="8" name="Shape 6"/>
          <p:cNvSpPr/>
          <p:nvPr/>
        </p:nvSpPr>
        <p:spPr>
          <a:xfrm>
            <a:off x="4319930" y="1371600"/>
            <a:ext cx="3551834" cy="2057400"/>
          </a:xfrm>
          <a:prstGeom prst="roundRect">
            <a:avLst>
              <a:gd name="adj" fmla="val 4444"/>
            </a:avLst>
          </a:prstGeom>
          <a:solidFill>
            <a:srgbClr val="EAF6F0"/>
          </a:solidFill>
          <a:ln w="15875">
            <a:solidFill>
              <a:srgbClr val="9BCBB4"/>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126647"/>
                </a:solidFill>
                <a:latin typeface="Calibri" pitchFamily="34" charset="0"/>
                <a:ea typeface="Calibri" pitchFamily="34" charset="-122"/>
                <a:cs typeface="Calibri" pitchFamily="34" charset="-120"/>
              </a:rPr>
              <a:t>Prévention</a:t>
            </a:r>
            <a:endParaRPr lang="en-US" sz="1800" noProof="0" dirty="0"/>
          </a:p>
        </p:txBody>
      </p:sp>
      <p:sp>
        <p:nvSpPr>
          <p:cNvPr id="10" name="Text 8"/>
          <p:cNvSpPr/>
          <p:nvPr/>
        </p:nvSpPr>
        <p:spPr>
          <a:xfrm>
            <a:off x="4502810" y="1877263"/>
            <a:ext cx="3186074" cy="1442009"/>
          </a:xfrm>
          <a:prstGeom prst="rect">
            <a:avLst/>
          </a:prstGeom>
          <a:noFill/>
          <a:ln/>
        </p:spPr>
        <p:txBody>
          <a:bodyPr wrap="square" lIns="0" tIns="0" rIns="0" bIns="0" rtlCol="0" anchor="t">
            <a:normAutofit fontScale="960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Retirer les lésions précurseurs appropriées empêche certains cancers de se développer. Peu de programmes de dépistage peuvent y parvenir.</a:t>
            </a:r>
            <a:endParaRPr lang="en-US" sz="1800" noProof="0" dirty="0"/>
          </a:p>
        </p:txBody>
      </p:sp>
      <p:sp>
        <p:nvSpPr>
          <p:cNvPr id="11" name="Shape 9"/>
          <p:cNvSpPr/>
          <p:nvPr/>
        </p:nvSpPr>
        <p:spPr>
          <a:xfrm>
            <a:off x="8091221" y="1371600"/>
            <a:ext cx="3551834" cy="2057400"/>
          </a:xfrm>
          <a:prstGeom prst="roundRect">
            <a:avLst>
              <a:gd name="adj" fmla="val 4444"/>
            </a:avLst>
          </a:prstGeom>
          <a:solidFill>
            <a:srgbClr val="EAF6F0"/>
          </a:solidFill>
          <a:ln w="15875">
            <a:solidFill>
              <a:srgbClr val="9BCBB4"/>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126647"/>
                </a:solidFill>
                <a:latin typeface="Calibri" pitchFamily="34" charset="0"/>
                <a:ea typeface="Calibri" pitchFamily="34" charset="-122"/>
                <a:cs typeface="Calibri" pitchFamily="34" charset="-120"/>
              </a:rPr>
              <a:t>Moins de décès</a:t>
            </a:r>
            <a:endParaRPr lang="en-US" sz="1800" noProof="0" dirty="0"/>
          </a:p>
        </p:txBody>
      </p:sp>
      <p:sp>
        <p:nvSpPr>
          <p:cNvPr id="13" name="Text 11"/>
          <p:cNvSpPr/>
          <p:nvPr/>
        </p:nvSpPr>
        <p:spPr>
          <a:xfrm>
            <a:off x="8274101" y="1877263"/>
            <a:ext cx="3186074" cy="1442009"/>
          </a:xfrm>
          <a:prstGeom prst="rect">
            <a:avLst/>
          </a:prstGeom>
          <a:noFill/>
          <a:ln/>
        </p:spPr>
        <p:txBody>
          <a:bodyPr wrap="square" lIns="0" tIns="0" rIns="0" bIns="0" rtlCol="0" anchor="t">
            <a:normAutofit fontScale="960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Des programmes efficaces réduisent la mortalité par cancer colorectal dans les populations qu'ils atteignent.</a:t>
            </a:r>
            <a:endParaRPr lang="en-US" sz="1800" noProof="0" dirty="0"/>
          </a:p>
        </p:txBody>
      </p:sp>
      <p:sp>
        <p:nvSpPr>
          <p:cNvPr id="14" name="Shape 12"/>
          <p:cNvSpPr/>
          <p:nvPr/>
        </p:nvSpPr>
        <p:spPr>
          <a:xfrm>
            <a:off x="548640" y="3648456"/>
            <a:ext cx="3551834" cy="2057400"/>
          </a:xfrm>
          <a:prstGeom prst="roundRect">
            <a:avLst>
              <a:gd name="adj" fmla="val 4444"/>
            </a:avLst>
          </a:prstGeom>
          <a:solidFill>
            <a:srgbClr val="FCDEE6"/>
          </a:solidFill>
          <a:ln w="15875">
            <a:solidFill>
              <a:srgbClr val="C9DCF2"/>
            </a:solidFill>
            <a:prstDash val="solid"/>
          </a:ln>
        </p:spPr>
        <p:txBody>
          <a:bodyPr/>
          <a:lstStyle/>
          <a:p>
            <a:endParaRPr lang="en-US" noProof="0" dirty="0"/>
          </a:p>
        </p:txBody>
      </p:sp>
      <p:sp>
        <p:nvSpPr>
          <p:cNvPr id="15" name="Text 13"/>
          <p:cNvSpPr/>
          <p:nvPr/>
        </p:nvSpPr>
        <p:spPr>
          <a:xfrm>
            <a:off x="731520" y="3794760"/>
            <a:ext cx="3186074" cy="359359"/>
          </a:xfrm>
          <a:prstGeom prst="rect">
            <a:avLst/>
          </a:prstGeom>
          <a:noFill/>
          <a:ln/>
        </p:spPr>
        <p:txBody>
          <a:bodyPr wrap="square" lIns="0" tIns="0" rIns="0" bIns="0" rtlCol="0" anchor="t"/>
          <a:lstStyle/>
          <a:p>
            <a:pPr marL="0" indent="0">
              <a:buNone/>
            </a:pPr>
            <a:r>
              <a:rPr lang="fr" sz="1800" b="1" noProof="0">
                <a:solidFill>
                  <a:srgbClr val="C00000"/>
                </a:solidFill>
                <a:latin typeface="Calibri" pitchFamily="34" charset="0"/>
                <a:ea typeface="Calibri" pitchFamily="34" charset="-122"/>
                <a:cs typeface="Calibri" pitchFamily="34" charset="-120"/>
              </a:rPr>
              <a:t>Faux positifs</a:t>
            </a:r>
            <a:endParaRPr lang="en-US" sz="1800" noProof="0" dirty="0">
              <a:solidFill>
                <a:srgbClr val="C00000"/>
              </a:solidFill>
            </a:endParaRPr>
          </a:p>
        </p:txBody>
      </p:sp>
      <p:sp>
        <p:nvSpPr>
          <p:cNvPr id="16" name="Text 14"/>
          <p:cNvSpPr/>
          <p:nvPr/>
        </p:nvSpPr>
        <p:spPr>
          <a:xfrm>
            <a:off x="731520" y="4154119"/>
            <a:ext cx="3186074" cy="1442009"/>
          </a:xfrm>
          <a:prstGeom prst="rect">
            <a:avLst/>
          </a:prstGeom>
          <a:noFill/>
          <a:ln/>
        </p:spPr>
        <p:txBody>
          <a:bodyPr wrap="square" lIns="0" tIns="0" rIns="0" bIns="0" rtlCol="0" anchor="t">
            <a:normAutofit fontScale="885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Beaucoup de personnes ayant un test de selles positif n'ont pas de cancer, mais toutes ont besoin d'une évaluation supplémentaire, avec l'anxiété et le coût qui en découlent.</a:t>
            </a:r>
            <a:endParaRPr lang="en-US" sz="1800" noProof="0" dirty="0"/>
          </a:p>
        </p:txBody>
      </p:sp>
      <p:sp>
        <p:nvSpPr>
          <p:cNvPr id="17" name="Shape 15"/>
          <p:cNvSpPr/>
          <p:nvPr/>
        </p:nvSpPr>
        <p:spPr>
          <a:xfrm>
            <a:off x="4319930" y="3648456"/>
            <a:ext cx="3551834" cy="2057400"/>
          </a:xfrm>
          <a:prstGeom prst="roundRect">
            <a:avLst>
              <a:gd name="adj" fmla="val 4444"/>
            </a:avLst>
          </a:prstGeom>
          <a:solidFill>
            <a:srgbClr val="FCDEE6"/>
          </a:solidFill>
          <a:ln w="15875">
            <a:solidFill>
              <a:srgbClr val="C9DCF2"/>
            </a:solidFill>
            <a:prstDash val="solid"/>
          </a:ln>
        </p:spPr>
        <p:txBody>
          <a:bodyPr/>
          <a:lstStyle/>
          <a:p>
            <a:endParaRPr lang="en-US" noProof="0" dirty="0"/>
          </a:p>
        </p:txBody>
      </p:sp>
      <p:sp>
        <p:nvSpPr>
          <p:cNvPr id="18" name="Text 16"/>
          <p:cNvSpPr/>
          <p:nvPr/>
        </p:nvSpPr>
        <p:spPr>
          <a:xfrm>
            <a:off x="4502810" y="3794760"/>
            <a:ext cx="3186074" cy="359359"/>
          </a:xfrm>
          <a:prstGeom prst="rect">
            <a:avLst/>
          </a:prstGeom>
          <a:noFill/>
          <a:ln/>
        </p:spPr>
        <p:txBody>
          <a:bodyPr wrap="square" lIns="0" tIns="0" rIns="0" bIns="0" rtlCol="0" anchor="t"/>
          <a:lstStyle/>
          <a:p>
            <a:pPr marL="0" indent="0">
              <a:buNone/>
            </a:pPr>
            <a:r>
              <a:rPr lang="fr" sz="1800" b="1" noProof="0">
                <a:solidFill>
                  <a:srgbClr val="C00000"/>
                </a:solidFill>
                <a:latin typeface="Calibri" pitchFamily="34" charset="0"/>
                <a:ea typeface="Calibri" pitchFamily="34" charset="-122"/>
                <a:cs typeface="Calibri" pitchFamily="34" charset="-120"/>
              </a:rPr>
              <a:t>Faux négatifs</a:t>
            </a:r>
            <a:endParaRPr lang="en-US" sz="1800" noProof="0" dirty="0">
              <a:solidFill>
                <a:srgbClr val="C00000"/>
              </a:solidFill>
            </a:endParaRPr>
          </a:p>
        </p:txBody>
      </p:sp>
      <p:sp>
        <p:nvSpPr>
          <p:cNvPr id="19" name="Text 17"/>
          <p:cNvSpPr/>
          <p:nvPr/>
        </p:nvSpPr>
        <p:spPr>
          <a:xfrm>
            <a:off x="4502810" y="4154119"/>
            <a:ext cx="3186074" cy="1442009"/>
          </a:xfrm>
          <a:prstGeom prst="rect">
            <a:avLst/>
          </a:prstGeom>
          <a:noFill/>
          <a:ln/>
        </p:spPr>
        <p:txBody>
          <a:bodyPr wrap="square" lIns="0" tIns="0" rIns="0" bIns="0" rtlCol="0" anchor="t">
            <a:normAutofit fontScale="960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Un résultat normal peut être faussement rassurant. Les symptômes qui apparaissent plus tard doivent tout de même être évalués.</a:t>
            </a:r>
            <a:endParaRPr lang="en-US" sz="1800" noProof="0" dirty="0"/>
          </a:p>
        </p:txBody>
      </p:sp>
      <p:sp>
        <p:nvSpPr>
          <p:cNvPr id="20" name="Shape 18"/>
          <p:cNvSpPr/>
          <p:nvPr/>
        </p:nvSpPr>
        <p:spPr>
          <a:xfrm>
            <a:off x="8091221" y="3648456"/>
            <a:ext cx="3551834" cy="2057400"/>
          </a:xfrm>
          <a:prstGeom prst="roundRect">
            <a:avLst>
              <a:gd name="adj" fmla="val 4444"/>
            </a:avLst>
          </a:prstGeom>
          <a:solidFill>
            <a:srgbClr val="FCDEE6"/>
          </a:solidFill>
          <a:ln w="15875">
            <a:solidFill>
              <a:srgbClr val="C9DCF2"/>
            </a:solidFill>
            <a:prstDash val="solid"/>
          </a:ln>
        </p:spPr>
        <p:txBody>
          <a:bodyPr/>
          <a:lstStyle/>
          <a:p>
            <a:endParaRPr lang="en-US" noProof="0" dirty="0"/>
          </a:p>
        </p:txBody>
      </p:sp>
      <p:sp>
        <p:nvSpPr>
          <p:cNvPr id="21" name="Text 19"/>
          <p:cNvSpPr/>
          <p:nvPr/>
        </p:nvSpPr>
        <p:spPr>
          <a:xfrm>
            <a:off x="8274101" y="3794760"/>
            <a:ext cx="3186074" cy="359359"/>
          </a:xfrm>
          <a:prstGeom prst="rect">
            <a:avLst/>
          </a:prstGeom>
          <a:noFill/>
          <a:ln/>
        </p:spPr>
        <p:txBody>
          <a:bodyPr wrap="square" lIns="0" tIns="0" rIns="0" bIns="0" rtlCol="0" anchor="t"/>
          <a:lstStyle/>
          <a:p>
            <a:pPr marL="0" indent="0">
              <a:buNone/>
            </a:pPr>
            <a:r>
              <a:rPr lang="fr" sz="1800" b="1" noProof="0">
                <a:solidFill>
                  <a:srgbClr val="C00000"/>
                </a:solidFill>
                <a:latin typeface="Calibri" pitchFamily="34" charset="0"/>
                <a:ea typeface="Calibri" pitchFamily="34" charset="-122"/>
                <a:cs typeface="Calibri" pitchFamily="34" charset="-120"/>
              </a:rPr>
              <a:t>Fardeau et risque</a:t>
            </a:r>
            <a:endParaRPr lang="en-US" sz="1800" noProof="0" dirty="0">
              <a:solidFill>
                <a:srgbClr val="C00000"/>
              </a:solidFill>
            </a:endParaRPr>
          </a:p>
        </p:txBody>
      </p:sp>
      <p:sp>
        <p:nvSpPr>
          <p:cNvPr id="22" name="Text 20"/>
          <p:cNvSpPr/>
          <p:nvPr/>
        </p:nvSpPr>
        <p:spPr>
          <a:xfrm>
            <a:off x="8274101" y="4154119"/>
            <a:ext cx="3186074" cy="1442009"/>
          </a:xfrm>
          <a:prstGeom prst="rect">
            <a:avLst/>
          </a:prstGeom>
          <a:noFill/>
          <a:ln/>
        </p:spPr>
        <p:txBody>
          <a:bodyPr wrap="square" lIns="0" tIns="0" rIns="0" bIns="0" rtlCol="0" anchor="t">
            <a:normAutofit fontScale="88500" lnSpcReduction="100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La préparation intestinale, les déplacements, le temps d'absence du travail et les petits risques de la coloscopie sont bien réels. Présentez les avantages et les limites de manière neutre.</a:t>
            </a:r>
            <a:endParaRPr lang="en-US" sz="1800" noProof="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Après un résultat anormal</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225296"/>
            <a:ext cx="7884160" cy="5065776"/>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24748" y="1443232"/>
            <a:ext cx="7396480" cy="4601968"/>
          </a:xfrm>
          <a:prstGeom prst="rect">
            <a:avLst/>
          </a:prstGeom>
          <a:noFill/>
          <a:ln/>
        </p:spPr>
        <p:txBody>
          <a:bodyPr wrap="square" lIns="0" tIns="0" rIns="0" bIns="0" rtlCol="0" anchor="t">
            <a:noAutofit/>
          </a:bodyPr>
          <a:lstStyle/>
          <a:p>
            <a:r>
              <a:rPr lang="fr" sz="1620" b="1" noProof="0" dirty="0">
                <a:solidFill>
                  <a:srgbClr val="0E2E5C"/>
                </a:solidFill>
                <a:latin typeface="Calibri" pitchFamily="34" charset="0"/>
                <a:ea typeface="Calibri" pitchFamily="34" charset="-122"/>
                <a:cs typeface="Calibri" pitchFamily="34" charset="-120"/>
              </a:rPr>
              <a:t>Étape 1 </a:t>
            </a:r>
            <a:r>
              <a:rPr lang="fr" sz="1620" b="1" u="sng" noProof="0" dirty="0">
                <a:solidFill>
                  <a:srgbClr val="0E2E5C"/>
                </a:solidFill>
                <a:latin typeface="Calibri" pitchFamily="34" charset="0"/>
                <a:ea typeface="Calibri" pitchFamily="34" charset="-122"/>
                <a:cs typeface="Calibri" pitchFamily="34" charset="-120"/>
              </a:rPr>
              <a:t>: Dites ce qui ne l'est pas</a:t>
            </a:r>
            <a:r>
              <a:rPr lang="fr" sz="1620" b="1" noProof="0" dirty="0">
                <a:solidFill>
                  <a:srgbClr val="0E2E5C"/>
                </a:solidFill>
                <a:latin typeface="Calibri" pitchFamily="34" charset="0"/>
                <a:ea typeface="Calibri" pitchFamily="34" charset="-122"/>
                <a:cs typeface="Calibri" pitchFamily="34" charset="-120"/>
              </a:rPr>
              <a:t> : </a:t>
            </a:r>
            <a:r>
              <a:rPr lang="fr" sz="1620" noProof="0" dirty="0">
                <a:solidFill>
                  <a:srgbClr val="0E2E5C"/>
                </a:solidFill>
                <a:latin typeface="Calibri" pitchFamily="34" charset="0"/>
                <a:ea typeface="Calibri" pitchFamily="34" charset="-122"/>
                <a:cs typeface="Calibri" pitchFamily="34" charset="-120"/>
              </a:rPr>
              <a:t>Déclarez clairement que le résultat ne signifie pas que le cancer a été découvert et qu'un autre test est nécessaire.</a:t>
            </a:r>
          </a:p>
          <a:p>
            <a:endParaRPr lang="en-US" sz="1620" noProof="0" dirty="0">
              <a:solidFill>
                <a:srgbClr val="0E2E5C"/>
              </a:solidFill>
              <a:latin typeface="Calibri" pitchFamily="34" charset="0"/>
              <a:ea typeface="Calibri" pitchFamily="34" charset="-122"/>
              <a:cs typeface="Calibri" pitchFamily="34" charset="-120"/>
            </a:endParaRPr>
          </a:p>
          <a:p>
            <a:r>
              <a:rPr lang="fr" sz="1620" b="1" noProof="0" dirty="0">
                <a:solidFill>
                  <a:srgbClr val="0E2E5C"/>
                </a:solidFill>
                <a:latin typeface="Calibri" pitchFamily="34" charset="0"/>
                <a:ea typeface="Calibri" pitchFamily="34" charset="-122"/>
                <a:cs typeface="Calibri" pitchFamily="34" charset="-120"/>
              </a:rPr>
              <a:t>Étape 2 </a:t>
            </a:r>
            <a:r>
              <a:rPr lang="fr" sz="1620" b="1" u="sng" noProof="0" dirty="0">
                <a:solidFill>
                  <a:srgbClr val="0E2E5C"/>
                </a:solidFill>
                <a:latin typeface="Calibri" pitchFamily="34" charset="0"/>
                <a:ea typeface="Calibri" pitchFamily="34" charset="-122"/>
                <a:cs typeface="Calibri" pitchFamily="34" charset="-120"/>
              </a:rPr>
              <a:t>Expliquez le test suivant</a:t>
            </a:r>
            <a:r>
              <a:rPr lang="fr" sz="1620" b="1" noProof="0" dirty="0">
                <a:solidFill>
                  <a:srgbClr val="0E2E5C"/>
                </a:solidFill>
                <a:latin typeface="Calibri" pitchFamily="34" charset="0"/>
                <a:ea typeface="Calibri" pitchFamily="34" charset="-122"/>
                <a:cs typeface="Calibri" pitchFamily="34" charset="-120"/>
              </a:rPr>
              <a:t> : </a:t>
            </a:r>
            <a:r>
              <a:rPr lang="fr" sz="1620" noProof="0" dirty="0">
                <a:solidFill>
                  <a:srgbClr val="0E2E5C"/>
                </a:solidFill>
                <a:latin typeface="Calibri" pitchFamily="34" charset="0"/>
                <a:ea typeface="Calibri" pitchFamily="34" charset="-122"/>
                <a:cs typeface="Calibri" pitchFamily="34" charset="-120"/>
              </a:rPr>
              <a:t>Expliquez que l'intestin doit être examiné directement, en quoi consiste le test, et environ combien de temps cela prend.</a:t>
            </a:r>
          </a:p>
          <a:p>
            <a:endParaRPr lang="en-US" sz="1620" noProof="0" dirty="0">
              <a:solidFill>
                <a:srgbClr val="0E2E5C"/>
              </a:solidFill>
              <a:latin typeface="Calibri" pitchFamily="34" charset="0"/>
              <a:ea typeface="Calibri" pitchFamily="34" charset="-122"/>
              <a:cs typeface="Calibri" pitchFamily="34" charset="-120"/>
            </a:endParaRPr>
          </a:p>
          <a:p>
            <a:r>
              <a:rPr lang="fr" sz="1620" b="1" noProof="0" dirty="0">
                <a:solidFill>
                  <a:srgbClr val="0E2E5C"/>
                </a:solidFill>
                <a:latin typeface="Calibri" pitchFamily="34" charset="0"/>
                <a:ea typeface="Calibri" pitchFamily="34" charset="-122"/>
                <a:cs typeface="Calibri" pitchFamily="34" charset="-120"/>
              </a:rPr>
              <a:t>Étape 3 : Organisez l'orientation : Effectuez l'orientation et notez où et quand cela aura lieu. Ne laissez pas la personne seule pour organiser cela.</a:t>
            </a:r>
          </a:p>
          <a:p>
            <a:endParaRPr lang="en-US" sz="1620" noProof="0" dirty="0">
              <a:solidFill>
                <a:srgbClr val="0E2E5C"/>
              </a:solidFill>
              <a:latin typeface="Calibri" pitchFamily="34" charset="0"/>
              <a:ea typeface="Calibri" pitchFamily="34" charset="-122"/>
              <a:cs typeface="Calibri" pitchFamily="34" charset="-120"/>
            </a:endParaRPr>
          </a:p>
          <a:p>
            <a:r>
              <a:rPr lang="fr" sz="1620" b="1" noProof="0" dirty="0">
                <a:solidFill>
                  <a:srgbClr val="0E2E5C"/>
                </a:solidFill>
                <a:latin typeface="Calibri" pitchFamily="34" charset="0"/>
                <a:ea typeface="Calibri" pitchFamily="34" charset="-122"/>
                <a:cs typeface="Calibri" pitchFamily="34" charset="-120"/>
              </a:rPr>
              <a:t>Étape 4 </a:t>
            </a:r>
            <a:r>
              <a:rPr lang="fr" sz="1620" b="1" u="sng" noProof="0" dirty="0">
                <a:solidFill>
                  <a:srgbClr val="0E2E5C"/>
                </a:solidFill>
                <a:latin typeface="Calibri" pitchFamily="34" charset="0"/>
                <a:ea typeface="Calibri" pitchFamily="34" charset="-122"/>
                <a:cs typeface="Calibri" pitchFamily="34" charset="-120"/>
              </a:rPr>
              <a:t>Abordez les obstacles</a:t>
            </a:r>
            <a:r>
              <a:rPr lang="fr" sz="1620" b="1" noProof="0" dirty="0">
                <a:solidFill>
                  <a:srgbClr val="0E2E5C"/>
                </a:solidFill>
                <a:latin typeface="Calibri" pitchFamily="34" charset="0"/>
                <a:ea typeface="Calibri" pitchFamily="34" charset="-122"/>
                <a:cs typeface="Calibri" pitchFamily="34" charset="-120"/>
              </a:rPr>
              <a:t> : </a:t>
            </a:r>
            <a:r>
              <a:rPr lang="fr" sz="1620" noProof="0" dirty="0">
                <a:solidFill>
                  <a:srgbClr val="0E2E5C"/>
                </a:solidFill>
                <a:latin typeface="Calibri" pitchFamily="34" charset="0"/>
                <a:ea typeface="Calibri" pitchFamily="34" charset="-122"/>
                <a:cs typeface="Calibri" pitchFamily="34" charset="-120"/>
              </a:rPr>
              <a:t>Demandez à propos du transport, du coût, du temps d'absence au travail, et qui peut les accompagner, et aidez à surmonter ces obstacles.</a:t>
            </a:r>
          </a:p>
          <a:p>
            <a:endParaRPr lang="en-US" sz="1620" noProof="0" dirty="0">
              <a:solidFill>
                <a:srgbClr val="0E2E5C"/>
              </a:solidFill>
              <a:latin typeface="Calibri" pitchFamily="34" charset="0"/>
              <a:ea typeface="Calibri" pitchFamily="34" charset="-122"/>
              <a:cs typeface="Calibri" pitchFamily="34" charset="-120"/>
            </a:endParaRPr>
          </a:p>
          <a:p>
            <a:r>
              <a:rPr lang="fr" sz="1620" b="1" noProof="0" dirty="0">
                <a:solidFill>
                  <a:srgbClr val="0E2E5C"/>
                </a:solidFill>
                <a:latin typeface="Calibri" pitchFamily="34" charset="0"/>
                <a:ea typeface="Calibri" pitchFamily="34" charset="-122"/>
                <a:cs typeface="Calibri" pitchFamily="34" charset="-120"/>
              </a:rPr>
              <a:t>Étape 5 : Assurez la continuité du suivi : Convenez de la manière dont le résultat sera vérifié et faites un suivi si la personne ne se présente pas au rendez-vous.</a:t>
            </a:r>
          </a:p>
          <a:p>
            <a:endParaRPr lang="en-US" sz="1620" noProof="0" dirty="0">
              <a:solidFill>
                <a:srgbClr val="0E2E5C"/>
              </a:solidFill>
              <a:latin typeface="Calibri" pitchFamily="34" charset="0"/>
              <a:ea typeface="Calibri" pitchFamily="34" charset="-122"/>
              <a:cs typeface="Calibri" pitchFamily="34" charset="-120"/>
            </a:endParaRPr>
          </a:p>
          <a:p>
            <a:r>
              <a:rPr lang="fr" sz="1620" b="1" u="sng" noProof="0" dirty="0">
                <a:solidFill>
                  <a:srgbClr val="0E2E5C"/>
                </a:solidFill>
                <a:latin typeface="Calibri" pitchFamily="34" charset="0"/>
                <a:ea typeface="Calibri" pitchFamily="34" charset="-122"/>
                <a:cs typeface="Calibri" pitchFamily="34" charset="-120"/>
              </a:rPr>
              <a:t>Si des symptômes sont présents</a:t>
            </a:r>
          </a:p>
          <a:p>
            <a:r>
              <a:rPr lang="fr" sz="1620" noProof="0" dirty="0">
                <a:solidFill>
                  <a:srgbClr val="0E2E5C"/>
                </a:solidFill>
                <a:latin typeface="Calibri" pitchFamily="34" charset="0"/>
                <a:ea typeface="Calibri" pitchFamily="34" charset="-122"/>
                <a:cs typeface="Calibri" pitchFamily="34" charset="-120"/>
              </a:rPr>
              <a:t>Les symptômes préoccupants nécessitent une évaluation, quel que soit le résultat du dépistage. Un test normal antérieur ne supprime pas les nouveaux symptômes.</a:t>
            </a:r>
          </a:p>
          <a:p>
            <a:endParaRPr lang="en-US" sz="1620" noProof="0" dirty="0"/>
          </a:p>
        </p:txBody>
      </p:sp>
      <p:pic>
        <p:nvPicPr>
          <p:cNvPr id="25" name="Imagen 24">
            <a:extLst>
              <a:ext uri="{FF2B5EF4-FFF2-40B4-BE49-F238E27FC236}">
                <a16:creationId xmlns:a16="http://schemas.microsoft.com/office/drawing/2014/main" id="{847C7643-9E11-81C4-1C3B-BF73223FB46E}"/>
              </a:ext>
            </a:extLst>
          </p:cNvPr>
          <p:cNvPicPr>
            <a:picLocks noChangeAspect="1"/>
          </p:cNvPicPr>
          <p:nvPr/>
        </p:nvPicPr>
        <p:blipFill>
          <a:blip r:embed="rId3"/>
          <a:stretch>
            <a:fillRect/>
          </a:stretch>
        </p:blipFill>
        <p:spPr>
          <a:xfrm>
            <a:off x="8608908" y="1189879"/>
            <a:ext cx="3387325" cy="511419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200" b="1" noProof="0">
                <a:solidFill>
                  <a:srgbClr val="0E2E5C"/>
                </a:solidFill>
                <a:latin typeface="Cambria" pitchFamily="34" charset="0"/>
                <a:ea typeface="Cambria" pitchFamily="34" charset="-122"/>
                <a:cs typeface="Cambria" pitchFamily="34" charset="-120"/>
              </a:rPr>
              <a:t>Appliquez-le à Emmanuel</a:t>
            </a:r>
            <a:endParaRPr lang="en-US" sz="32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11094415" cy="868680"/>
          </a:xfrm>
          <a:prstGeom prst="roundRect">
            <a:avLst>
              <a:gd name="adj" fmla="val 10526"/>
            </a:avLst>
          </a:prstGeom>
          <a:solidFill>
            <a:srgbClr val="FFF7E3"/>
          </a:solidFill>
          <a:ln w="15875">
            <a:solidFill>
              <a:srgbClr val="E3C173"/>
            </a:solidFill>
            <a:prstDash val="solid"/>
          </a:ln>
        </p:spPr>
        <p:txBody>
          <a:bodyPr/>
          <a:lstStyle/>
          <a:p>
            <a:endParaRPr lang="en-US" noProof="0" dirty="0"/>
          </a:p>
        </p:txBody>
      </p:sp>
      <p:sp>
        <p:nvSpPr>
          <p:cNvPr id="6" name="Text 4"/>
          <p:cNvSpPr/>
          <p:nvPr/>
        </p:nvSpPr>
        <p:spPr>
          <a:xfrm>
            <a:off x="731520" y="1426464"/>
            <a:ext cx="10728655" cy="758952"/>
          </a:xfrm>
          <a:prstGeom prst="rect">
            <a:avLst/>
          </a:prstGeom>
          <a:noFill/>
          <a:ln/>
        </p:spPr>
        <p:txBody>
          <a:bodyPr wrap="square" rtlCol="0" anchor="ctr"/>
          <a:lstStyle/>
          <a:p>
            <a:pPr marL="0" indent="0">
              <a:buNone/>
            </a:pPr>
            <a:r>
              <a:rPr lang="fr" sz="1800" b="1" noProof="0">
                <a:solidFill>
                  <a:srgbClr val="9A5B00"/>
                </a:solidFill>
                <a:latin typeface="Calibri" pitchFamily="34" charset="0"/>
                <a:ea typeface="Calibri" pitchFamily="34" charset="-122"/>
                <a:cs typeface="Calibri" pitchFamily="34" charset="-120"/>
              </a:rPr>
              <a:t>Scénario   </a:t>
            </a:r>
            <a:r>
              <a:rPr lang="fr" sz="1800" noProof="0">
                <a:solidFill>
                  <a:srgbClr val="17325E"/>
                </a:solidFill>
                <a:latin typeface="Calibri" pitchFamily="34" charset="0"/>
                <a:ea typeface="Calibri" pitchFamily="34" charset="-122"/>
                <a:cs typeface="Calibri" pitchFamily="34" charset="-120"/>
              </a:rPr>
              <a:t>Emmanuel demande s'il existe un test simple à faire chez lui qui lui dirait si le saignement est grave.</a:t>
            </a:r>
            <a:endParaRPr lang="en-US" sz="1800" noProof="0" dirty="0"/>
          </a:p>
        </p:txBody>
      </p:sp>
      <p:sp>
        <p:nvSpPr>
          <p:cNvPr id="7" name="Text 5"/>
          <p:cNvSpPr/>
          <p:nvPr/>
        </p:nvSpPr>
        <p:spPr>
          <a:xfrm>
            <a:off x="548640" y="2468880"/>
            <a:ext cx="7772400" cy="365760"/>
          </a:xfrm>
          <a:prstGeom prst="rect">
            <a:avLst/>
          </a:prstGeom>
          <a:noFill/>
          <a:ln/>
        </p:spPr>
        <p:txBody>
          <a:bodyPr wrap="square" lIns="0" tIns="0" rIns="0" bIns="0" rtlCol="0" anchor="ctr"/>
          <a:lstStyle/>
          <a:p>
            <a:pPr marL="0" indent="0">
              <a:buNone/>
            </a:pPr>
            <a:r>
              <a:rPr lang="fr" sz="2000" b="1" noProof="0">
                <a:solidFill>
                  <a:srgbClr val="0E2E5C"/>
                </a:solidFill>
                <a:latin typeface="Calibri" pitchFamily="34" charset="0"/>
                <a:ea typeface="Calibri" pitchFamily="34" charset="-122"/>
                <a:cs typeface="Calibri" pitchFamily="34" charset="-120"/>
              </a:rPr>
              <a:t>Quelle est la réponse la plus appropriée ?</a:t>
            </a:r>
            <a:endParaRPr lang="en-US" sz="2000" noProof="0" dirty="0"/>
          </a:p>
        </p:txBody>
      </p:sp>
      <p:sp>
        <p:nvSpPr>
          <p:cNvPr id="8" name="Shape 6"/>
          <p:cNvSpPr/>
          <p:nvPr/>
        </p:nvSpPr>
        <p:spPr>
          <a:xfrm>
            <a:off x="548640" y="2926080"/>
            <a:ext cx="7772400" cy="566928"/>
          </a:xfrm>
          <a:prstGeom prst="roundRect">
            <a:avLst>
              <a:gd name="adj" fmla="val 1290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713232" y="2926080"/>
            <a:ext cx="7461504" cy="566928"/>
          </a:xfrm>
          <a:prstGeom prst="rect">
            <a:avLst/>
          </a:prstGeom>
          <a:noFill/>
          <a:ln/>
        </p:spPr>
        <p:txBody>
          <a:bodyPr wrap="square" lIns="0" tIns="0" rIns="0" bIns="0" rtlCol="0" anchor="ctr">
            <a:noAutofit/>
          </a:bodyPr>
          <a:lstStyle/>
          <a:p>
            <a:pPr marL="0" indent="0">
              <a:buNone/>
            </a:pPr>
            <a:r>
              <a:rPr lang="fr" sz="1530" b="1" noProof="0">
                <a:solidFill>
                  <a:srgbClr val="1F4E96"/>
                </a:solidFill>
                <a:latin typeface="Calibri" pitchFamily="34" charset="0"/>
                <a:ea typeface="Calibri" pitchFamily="34" charset="-122"/>
                <a:cs typeface="Calibri" pitchFamily="34" charset="-120"/>
              </a:rPr>
              <a:t>A   </a:t>
            </a:r>
            <a:r>
              <a:rPr lang="fr" sz="1530" noProof="0">
                <a:solidFill>
                  <a:srgbClr val="17325E"/>
                </a:solidFill>
                <a:latin typeface="Calibri" pitchFamily="34" charset="0"/>
                <a:ea typeface="Calibri" pitchFamily="34" charset="-122"/>
                <a:cs typeface="Calibri" pitchFamily="34" charset="-120"/>
              </a:rPr>
              <a:t>Proposer un test de selles et revoir le résultat dans quelques semaines</a:t>
            </a:r>
            <a:endParaRPr lang="en-US" sz="1530" noProof="0" dirty="0"/>
          </a:p>
        </p:txBody>
      </p:sp>
      <p:sp>
        <p:nvSpPr>
          <p:cNvPr id="10" name="Shape 8"/>
          <p:cNvSpPr/>
          <p:nvPr/>
        </p:nvSpPr>
        <p:spPr>
          <a:xfrm>
            <a:off x="548640" y="3584448"/>
            <a:ext cx="7772400" cy="566928"/>
          </a:xfrm>
          <a:prstGeom prst="roundRect">
            <a:avLst>
              <a:gd name="adj" fmla="val 12903"/>
            </a:avLst>
          </a:prstGeom>
          <a:solidFill>
            <a:srgbClr val="F3F7FC"/>
          </a:solidFill>
          <a:ln w="15875">
            <a:solidFill>
              <a:srgbClr val="9BCBB4"/>
            </a:solidFill>
            <a:prstDash val="solid"/>
          </a:ln>
        </p:spPr>
        <p:txBody>
          <a:bodyPr/>
          <a:lstStyle/>
          <a:p>
            <a:endParaRPr lang="en-US" noProof="0" dirty="0"/>
          </a:p>
        </p:txBody>
      </p:sp>
      <p:sp>
        <p:nvSpPr>
          <p:cNvPr id="11" name="Text 9"/>
          <p:cNvSpPr/>
          <p:nvPr/>
        </p:nvSpPr>
        <p:spPr>
          <a:xfrm>
            <a:off x="713232" y="3584448"/>
            <a:ext cx="7461504" cy="566928"/>
          </a:xfrm>
          <a:prstGeom prst="rect">
            <a:avLst/>
          </a:prstGeom>
          <a:noFill/>
          <a:ln/>
        </p:spPr>
        <p:txBody>
          <a:bodyPr wrap="square" lIns="0" tIns="0" rIns="0" bIns="0" rtlCol="0" anchor="ctr">
            <a:noAutofit/>
          </a:bodyPr>
          <a:lstStyle/>
          <a:p>
            <a:pPr marL="0" indent="0">
              <a:buNone/>
            </a:pPr>
            <a:r>
              <a:rPr lang="fr" sz="1530" b="1" noProof="0">
                <a:solidFill>
                  <a:srgbClr val="1F4E96"/>
                </a:solidFill>
                <a:latin typeface="Calibri" pitchFamily="34" charset="0"/>
                <a:ea typeface="Calibri" pitchFamily="34" charset="-122"/>
                <a:cs typeface="Calibri" pitchFamily="34" charset="-120"/>
              </a:rPr>
              <a:t>B   </a:t>
            </a:r>
            <a:r>
              <a:rPr lang="fr" sz="1530" noProof="0">
                <a:solidFill>
                  <a:srgbClr val="17325E"/>
                </a:solidFill>
                <a:latin typeface="Calibri" pitchFamily="34" charset="0"/>
                <a:ea typeface="Calibri" pitchFamily="34" charset="-122"/>
                <a:cs typeface="Calibri" pitchFamily="34" charset="-120"/>
              </a:rPr>
              <a:t>Rassurez-le en lui disant que saigner à son âge est presque toujours des hémorroïdes</a:t>
            </a:r>
            <a:endParaRPr lang="en-US" sz="1530" noProof="0" dirty="0"/>
          </a:p>
        </p:txBody>
      </p:sp>
      <p:sp>
        <p:nvSpPr>
          <p:cNvPr id="12" name="Shape 10"/>
          <p:cNvSpPr/>
          <p:nvPr/>
        </p:nvSpPr>
        <p:spPr>
          <a:xfrm>
            <a:off x="548640" y="4242816"/>
            <a:ext cx="7772400" cy="566928"/>
          </a:xfrm>
          <a:prstGeom prst="roundRect">
            <a:avLst>
              <a:gd name="adj" fmla="val 12903"/>
            </a:avLst>
          </a:prstGeom>
          <a:solidFill>
            <a:srgbClr val="EAF6F0"/>
          </a:solidFill>
          <a:ln w="15875">
            <a:solidFill>
              <a:srgbClr val="C9DCF2"/>
            </a:solidFill>
            <a:prstDash val="solid"/>
          </a:ln>
        </p:spPr>
        <p:txBody>
          <a:bodyPr/>
          <a:lstStyle/>
          <a:p>
            <a:endParaRPr lang="en-US" noProof="0" dirty="0"/>
          </a:p>
        </p:txBody>
      </p:sp>
      <p:sp>
        <p:nvSpPr>
          <p:cNvPr id="13" name="Text 11"/>
          <p:cNvSpPr/>
          <p:nvPr/>
        </p:nvSpPr>
        <p:spPr>
          <a:xfrm>
            <a:off x="713232" y="4242816"/>
            <a:ext cx="7461504" cy="566928"/>
          </a:xfrm>
          <a:prstGeom prst="rect">
            <a:avLst/>
          </a:prstGeom>
          <a:noFill/>
          <a:ln/>
        </p:spPr>
        <p:txBody>
          <a:bodyPr wrap="square" lIns="0" tIns="0" rIns="0" bIns="0" rtlCol="0" anchor="ctr">
            <a:noAutofit/>
          </a:bodyPr>
          <a:lstStyle/>
          <a:p>
            <a:pPr marL="0" indent="0">
              <a:buNone/>
            </a:pPr>
            <a:r>
              <a:rPr lang="fr" sz="1530" b="1" noProof="0">
                <a:solidFill>
                  <a:srgbClr val="126647"/>
                </a:solidFill>
                <a:latin typeface="Calibri" pitchFamily="34" charset="0"/>
                <a:ea typeface="Calibri" pitchFamily="34" charset="-122"/>
                <a:cs typeface="Calibri" pitchFamily="34" charset="-120"/>
              </a:rPr>
              <a:t>C   Expliquer que, comme il a des symptômes, il a besoin d'une évaluation directe du côlon et du rectum, et organiser son orientation   ✓</a:t>
            </a:r>
            <a:endParaRPr lang="en-US" sz="1530" noProof="0" dirty="0"/>
          </a:p>
        </p:txBody>
      </p:sp>
      <p:sp>
        <p:nvSpPr>
          <p:cNvPr id="14" name="Shape 12"/>
          <p:cNvSpPr/>
          <p:nvPr/>
        </p:nvSpPr>
        <p:spPr>
          <a:xfrm>
            <a:off x="548640" y="4901184"/>
            <a:ext cx="7772400" cy="566928"/>
          </a:xfrm>
          <a:prstGeom prst="roundRect">
            <a:avLst>
              <a:gd name="adj" fmla="val 12903"/>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13232" y="4901184"/>
            <a:ext cx="7461504" cy="566928"/>
          </a:xfrm>
          <a:prstGeom prst="rect">
            <a:avLst/>
          </a:prstGeom>
          <a:noFill/>
          <a:ln/>
        </p:spPr>
        <p:txBody>
          <a:bodyPr wrap="square" lIns="0" tIns="0" rIns="0" bIns="0" rtlCol="0" anchor="ctr">
            <a:noAutofit/>
          </a:bodyPr>
          <a:lstStyle/>
          <a:p>
            <a:pPr marL="0" indent="0">
              <a:buNone/>
            </a:pPr>
            <a:r>
              <a:rPr lang="fr" sz="1530" b="1" noProof="0">
                <a:solidFill>
                  <a:srgbClr val="1F4E96"/>
                </a:solidFill>
                <a:latin typeface="Calibri" pitchFamily="34" charset="0"/>
                <a:ea typeface="Calibri" pitchFamily="34" charset="-122"/>
                <a:cs typeface="Calibri" pitchFamily="34" charset="-120"/>
              </a:rPr>
              <a:t>D   </a:t>
            </a:r>
            <a:r>
              <a:rPr lang="fr" sz="1530" noProof="0">
                <a:solidFill>
                  <a:srgbClr val="17325E"/>
                </a:solidFill>
                <a:latin typeface="Calibri" pitchFamily="34" charset="0"/>
                <a:ea typeface="Calibri" pitchFamily="34" charset="-122"/>
                <a:cs typeface="Calibri" pitchFamily="34" charset="-120"/>
              </a:rPr>
              <a:t>Prescrire du fer et réviser dans trois mois</a:t>
            </a:r>
            <a:endParaRPr lang="en-US" sz="1530" noProof="0" dirty="0"/>
          </a:p>
        </p:txBody>
      </p:sp>
      <p:sp>
        <p:nvSpPr>
          <p:cNvPr id="16" name="Shape 14"/>
          <p:cNvSpPr/>
          <p:nvPr/>
        </p:nvSpPr>
        <p:spPr>
          <a:xfrm>
            <a:off x="8595360" y="2926080"/>
            <a:ext cx="3047695" cy="2834640"/>
          </a:xfrm>
          <a:prstGeom prst="roundRect">
            <a:avLst>
              <a:gd name="adj" fmla="val 3226"/>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8759952" y="3072384"/>
            <a:ext cx="2718511" cy="365760"/>
          </a:xfrm>
          <a:prstGeom prst="rect">
            <a:avLst/>
          </a:prstGeom>
          <a:noFill/>
          <a:ln/>
        </p:spPr>
        <p:txBody>
          <a:bodyPr wrap="square" lIns="0" tIns="0" rIns="0" bIns="0" rtlCol="0" anchor="ctr"/>
          <a:lstStyle/>
          <a:p>
            <a:pPr marL="0" indent="0">
              <a:buNone/>
            </a:pPr>
            <a:r>
              <a:rPr lang="fr" sz="1800" b="1" noProof="0">
                <a:solidFill>
                  <a:srgbClr val="126647"/>
                </a:solidFill>
                <a:latin typeface="Calibri" pitchFamily="34" charset="0"/>
                <a:ea typeface="Calibri" pitchFamily="34" charset="-122"/>
                <a:cs typeface="Calibri" pitchFamily="34" charset="-120"/>
              </a:rPr>
              <a:t>Bonne réponse : C</a:t>
            </a:r>
            <a:endParaRPr lang="en-US" sz="1800" noProof="0" dirty="0"/>
          </a:p>
        </p:txBody>
      </p:sp>
      <p:sp>
        <p:nvSpPr>
          <p:cNvPr id="18" name="Text 16"/>
          <p:cNvSpPr/>
          <p:nvPr/>
        </p:nvSpPr>
        <p:spPr>
          <a:xfrm>
            <a:off x="8759952" y="3511296"/>
            <a:ext cx="2718511" cy="2121408"/>
          </a:xfrm>
          <a:prstGeom prst="rect">
            <a:avLst/>
          </a:prstGeom>
          <a:noFill/>
          <a:ln/>
        </p:spPr>
        <p:txBody>
          <a:bodyPr wrap="square" lIns="0" tIns="0" rIns="0" bIns="0" rtlCol="0" anchor="t">
            <a:noAutofit/>
          </a:bodyPr>
          <a:lstStyle/>
          <a:p>
            <a:pPr marL="0" indent="0">
              <a:buNone/>
            </a:pPr>
            <a:r>
              <a:rPr lang="fr" sz="1335" noProof="0">
                <a:solidFill>
                  <a:srgbClr val="17325E"/>
                </a:solidFill>
                <a:latin typeface="Calibri" pitchFamily="34" charset="0"/>
                <a:ea typeface="Calibri" pitchFamily="34" charset="-122"/>
                <a:cs typeface="Calibri" pitchFamily="34" charset="-120"/>
              </a:rPr>
              <a:t>Emmanuel a trois mois de saignements, un changement d'habitude intestinale, de la fatigue et une perte de poids. C'est une maladie symptomatique, il a donc besoin d'une évaluation diagnostique, pas d'un test de dépistage. Un test de selles ajouterait un délai et pourrait faussement rassurer. Expliquez la raison de l'orientation sans dire qu'il a un cancer.</a:t>
            </a:r>
            <a:endParaRPr lang="en-US" sz="1335" noProof="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(1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 Le dépistage s'applique à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Personnes présentant des symptômes inquiétants</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Personnes déjà diagnostiquées</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Personnes en attente d'une opération</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D. Personnes sans symptômes</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Le dépistage est une détection précoce chez les personnes sans symptômes.</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Q2. Une femme de 60 ans a un test de selles positif et se sent parfaitement bien. La bonne étape suivante est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Dis-lui qu'elle a un cancer</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B. Organisez une évaluation de l'intestin et expliquez que le cancer n'est pas confirmé</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Répétez le test de selles dans deux ans</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Ne prenez aucune mesure car elle se sent bien</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Un résultat positif signifie que du sang a été détecté. Cela déclenche une évaluation intestinale, pas un diagnostic.</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(2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Q3. Un homme de 45 ans a des saignements rectaux indolores depuis deux mois et des hémorroïdes visibles. Vous devriez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380" b="1" noProof="0">
                <a:solidFill>
                  <a:srgbClr val="1F4E96"/>
                </a:solidFill>
                <a:latin typeface="Calibri" pitchFamily="34" charset="0"/>
                <a:ea typeface="Calibri" pitchFamily="34" charset="-122"/>
                <a:cs typeface="Calibri" pitchFamily="34" charset="-120"/>
              </a:rPr>
              <a:t>A. </a:t>
            </a:r>
            <a:r>
              <a:rPr lang="fr" sz="1380" noProof="0">
                <a:solidFill>
                  <a:srgbClr val="17325E"/>
                </a:solidFill>
                <a:latin typeface="Calibri" pitchFamily="34" charset="0"/>
                <a:ea typeface="Calibri" pitchFamily="34" charset="-122"/>
                <a:cs typeface="Calibri" pitchFamily="34" charset="-120"/>
              </a:rPr>
              <a:t>Attribuer le saignement aux hémorroïdes et les traiter</a:t>
            </a:r>
            <a:endParaRPr lang="en-US" sz="1380"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380" b="1" noProof="0">
                <a:solidFill>
                  <a:srgbClr val="1F4E96"/>
                </a:solidFill>
                <a:latin typeface="Calibri" pitchFamily="34" charset="0"/>
                <a:ea typeface="Calibri" pitchFamily="34" charset="-122"/>
                <a:cs typeface="Calibri" pitchFamily="34" charset="-120"/>
              </a:rPr>
              <a:t>B. </a:t>
            </a:r>
            <a:r>
              <a:rPr lang="fr" sz="1380" noProof="0">
                <a:solidFill>
                  <a:srgbClr val="17325E"/>
                </a:solidFill>
                <a:latin typeface="Calibri" pitchFamily="34" charset="0"/>
                <a:ea typeface="Calibri" pitchFamily="34" charset="-122"/>
                <a:cs typeface="Calibri" pitchFamily="34" charset="-120"/>
              </a:rPr>
              <a:t>Rassurer et réévaluer dans un an</a:t>
            </a:r>
            <a:endParaRPr lang="en-US" sz="1380" noProof="0" dirty="0"/>
          </a:p>
        </p:txBody>
      </p:sp>
      <p:sp>
        <p:nvSpPr>
          <p:cNvPr id="10" name="Shape 8"/>
          <p:cNvSpPr/>
          <p:nvPr/>
        </p:nvSpPr>
        <p:spPr>
          <a:xfrm>
            <a:off x="548640"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380" b="1" noProof="0">
                <a:solidFill>
                  <a:srgbClr val="126647"/>
                </a:solidFill>
                <a:latin typeface="Calibri" pitchFamily="34" charset="0"/>
                <a:ea typeface="Calibri" pitchFamily="34" charset="-122"/>
                <a:cs typeface="Calibri" pitchFamily="34" charset="-120"/>
              </a:rPr>
              <a:t>C. Traiter les hémorroïdes tout en organisant une évaluation intestinale</a:t>
            </a:r>
            <a:endParaRPr lang="en-US" sz="1380"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380" b="1" noProof="0">
                <a:solidFill>
                  <a:srgbClr val="1F4E96"/>
                </a:solidFill>
                <a:latin typeface="Calibri" pitchFamily="34" charset="0"/>
                <a:ea typeface="Calibri" pitchFamily="34" charset="-122"/>
                <a:cs typeface="Calibri" pitchFamily="34" charset="-120"/>
              </a:rPr>
              <a:t>D. </a:t>
            </a:r>
            <a:r>
              <a:rPr lang="fr" sz="1380" noProof="0">
                <a:solidFill>
                  <a:srgbClr val="17325E"/>
                </a:solidFill>
                <a:latin typeface="Calibri" pitchFamily="34" charset="0"/>
                <a:ea typeface="Calibri" pitchFamily="34" charset="-122"/>
                <a:cs typeface="Calibri" pitchFamily="34" charset="-120"/>
              </a:rPr>
              <a:t>Prescrire un test de selles au lieu d'une évaluation</a:t>
            </a:r>
            <a:endParaRPr lang="en-US" sz="1380"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a:t>
            </a:r>
            <a:r>
              <a:rPr lang="fr" sz="1500" i="1" noProof="0" err="1">
                <a:solidFill>
                  <a:srgbClr val="17325E"/>
                </a:solidFill>
                <a:latin typeface="Calibri" pitchFamily="34" charset="0"/>
                <a:ea typeface="Calibri" pitchFamily="34" charset="-122"/>
                <a:cs typeface="Calibri" pitchFamily="34" charset="-120"/>
              </a:rPr>
              <a:t>Les hémorroïdes sont fréquentes et peuvent coexister avec une cause plus grave. Les saignements persistants nécessitent encore une évaluation.</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Q4. Quel est un facteur de risque modifiable établi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380" b="1" noProof="0">
                <a:solidFill>
                  <a:srgbClr val="126647"/>
                </a:solidFill>
                <a:latin typeface="Calibri" pitchFamily="34" charset="0"/>
                <a:ea typeface="Calibri" pitchFamily="34" charset="-122"/>
                <a:cs typeface="Calibri" pitchFamily="34" charset="-120"/>
              </a:rPr>
              <a:t>A. Usage du tabac</a:t>
            </a:r>
            <a:endParaRPr lang="en-US" sz="1380"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380" b="1" noProof="0">
                <a:solidFill>
                  <a:srgbClr val="1F4E96"/>
                </a:solidFill>
                <a:latin typeface="Calibri" pitchFamily="34" charset="0"/>
                <a:ea typeface="Calibri" pitchFamily="34" charset="-122"/>
                <a:cs typeface="Calibri" pitchFamily="34" charset="-120"/>
              </a:rPr>
              <a:t>B. </a:t>
            </a:r>
            <a:r>
              <a:rPr lang="fr" sz="1380" noProof="0">
                <a:solidFill>
                  <a:srgbClr val="17325E"/>
                </a:solidFill>
                <a:latin typeface="Calibri" pitchFamily="34" charset="0"/>
                <a:ea typeface="Calibri" pitchFamily="34" charset="-122"/>
                <a:cs typeface="Calibri" pitchFamily="34" charset="-120"/>
              </a:rPr>
              <a:t>Vieillissement</a:t>
            </a:r>
            <a:endParaRPr lang="en-US" sz="1380"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380" b="1" noProof="0">
                <a:solidFill>
                  <a:srgbClr val="1F4E96"/>
                </a:solidFill>
                <a:latin typeface="Calibri" pitchFamily="34" charset="0"/>
                <a:ea typeface="Calibri" pitchFamily="34" charset="-122"/>
                <a:cs typeface="Calibri" pitchFamily="34" charset="-120"/>
              </a:rPr>
              <a:t>C. </a:t>
            </a:r>
            <a:r>
              <a:rPr lang="fr" sz="1380" noProof="0">
                <a:solidFill>
                  <a:srgbClr val="17325E"/>
                </a:solidFill>
                <a:latin typeface="Calibri" pitchFamily="34" charset="0"/>
                <a:ea typeface="Calibri" pitchFamily="34" charset="-122"/>
                <a:cs typeface="Calibri" pitchFamily="34" charset="-120"/>
              </a:rPr>
              <a:t>Histoire familiale</a:t>
            </a:r>
            <a:endParaRPr lang="en-US" sz="1380"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380" b="1" noProof="0">
                <a:solidFill>
                  <a:srgbClr val="1F4E96"/>
                </a:solidFill>
                <a:latin typeface="Calibri" pitchFamily="34" charset="0"/>
                <a:ea typeface="Calibri" pitchFamily="34" charset="-122"/>
                <a:cs typeface="Calibri" pitchFamily="34" charset="-120"/>
              </a:rPr>
              <a:t>D. </a:t>
            </a:r>
            <a:r>
              <a:rPr lang="fr" sz="1380" noProof="0">
                <a:solidFill>
                  <a:srgbClr val="17325E"/>
                </a:solidFill>
                <a:latin typeface="Calibri" pitchFamily="34" charset="0"/>
                <a:ea typeface="Calibri" pitchFamily="34" charset="-122"/>
                <a:cs typeface="Calibri" pitchFamily="34" charset="-120"/>
              </a:rPr>
              <a:t>Groupe sanguin</a:t>
            </a:r>
            <a:endParaRPr lang="en-US" sz="1380"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Le tabac, la consommation excessive d'alcool, l'excès de poids et l'inactivité sont modifiables. L'âge et les antécédents familiaux ne le sont pas.</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(3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Q5. Quelle présentation nécessite une orientation d'urgence, pas de routine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Deux semaines de selles plus molles</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B. Distension, vomissements et absence de passage de selles ou de gaz</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Un seul épisode de sang strié</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Crampes légères intermittentes</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a:t>
            </a:r>
            <a:r>
              <a:rPr lang="fr" sz="1500" i="1" noProof="0">
                <a:solidFill>
                  <a:srgbClr val="17325E"/>
                </a:solidFill>
                <a:latin typeface="Calibri" pitchFamily="34" charset="0"/>
                <a:ea typeface="Calibri" pitchFamily="34" charset="-122"/>
                <a:cs typeface="Calibri" pitchFamily="34" charset="-120"/>
              </a:rPr>
              <a:t>Ces caractéristiques suggèrent une obstruction de l'intestin, qui nécessite une évaluation et un transfert immédiats.</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Q6. Un patient a eu un test de selles normal l'année dernière et a maintenant trois semaines de saignement rectal. Vous devriez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Le rassurer, car le test était normal</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Répétez seulement le test des selles</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Attendre encore trois mois</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D. Évaluez-le, car de nouveaux symptômes supplantent un test de dépistage normal précédent</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Les tests de dépistage peuvent manquer la maladie et un résultat antérieur ne dit rien sur un nouveau symptôme.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2</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Réflexion sur la session</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325880"/>
            <a:ext cx="11094415" cy="457200"/>
          </a:xfrm>
          <a:prstGeom prst="rect">
            <a:avLst/>
          </a:prstGeom>
          <a:noFill/>
          <a:ln/>
        </p:spPr>
        <p:txBody>
          <a:bodyPr wrap="square" rtlCol="0" anchor="ctr"/>
          <a:lstStyle/>
          <a:p>
            <a:pPr marL="0" indent="0">
              <a:buNone/>
            </a:pPr>
            <a:r>
              <a:rPr lang="fr" sz="1600" i="1" noProof="0">
                <a:solidFill>
                  <a:srgbClr val="5B7195"/>
                </a:solidFill>
                <a:latin typeface="Calibri" pitchFamily="34" charset="0"/>
                <a:ea typeface="Calibri" pitchFamily="34" charset="-122"/>
                <a:cs typeface="Calibri" pitchFamily="34" charset="-120"/>
              </a:rPr>
              <a:t>Saisissez votre réponse dans la boîte de texte. Il n'y a pas de réponse unique correcte. Ces prompts ne sont pas notés, et servent à votre propre pratique et à la discussion.</a:t>
            </a:r>
            <a:endParaRPr lang="en-US" sz="1600" noProof="0" dirty="0"/>
          </a:p>
        </p:txBody>
      </p:sp>
      <p:sp>
        <p:nvSpPr>
          <p:cNvPr id="6" name="Shape 4"/>
          <p:cNvSpPr/>
          <p:nvPr/>
        </p:nvSpPr>
        <p:spPr>
          <a:xfrm>
            <a:off x="548640" y="1965960"/>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31520" y="2240280"/>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1</a:t>
            </a:r>
            <a:endParaRPr lang="en-US" sz="2400" noProof="0" dirty="0"/>
          </a:p>
        </p:txBody>
      </p:sp>
      <p:sp>
        <p:nvSpPr>
          <p:cNvPr id="8" name="Text 6"/>
          <p:cNvSpPr/>
          <p:nvPr/>
        </p:nvSpPr>
        <p:spPr>
          <a:xfrm>
            <a:off x="1417320" y="2075688"/>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Comment expliqueriez-vous un test de selles positif à un patient sans lui dire qu'il a un cancer, et sans rejeter le résultat ?</a:t>
            </a:r>
            <a:endParaRPr lang="en-US" sz="1800" noProof="0" dirty="0"/>
          </a:p>
        </p:txBody>
      </p:sp>
      <p:sp>
        <p:nvSpPr>
          <p:cNvPr id="9" name="Shape 7"/>
          <p:cNvSpPr/>
          <p:nvPr/>
        </p:nvSpPr>
        <p:spPr>
          <a:xfrm>
            <a:off x="548640" y="3218688"/>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0" name="Text 8"/>
          <p:cNvSpPr/>
          <p:nvPr/>
        </p:nvSpPr>
        <p:spPr>
          <a:xfrm>
            <a:off x="731520" y="3493008"/>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2</a:t>
            </a:r>
            <a:endParaRPr lang="en-US" sz="2400" noProof="0" dirty="0"/>
          </a:p>
        </p:txBody>
      </p:sp>
      <p:sp>
        <p:nvSpPr>
          <p:cNvPr id="11" name="Text 9"/>
          <p:cNvSpPr/>
          <p:nvPr/>
        </p:nvSpPr>
        <p:spPr>
          <a:xfrm>
            <a:off x="1417320" y="3328416"/>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Quel symptôme, dans votre propre contexte, est le plus souvent considéré comme inoffensif, et qu'est-ce qui changerait cela ?</a:t>
            </a:r>
            <a:endParaRPr lang="en-US" sz="1800" noProof="0" dirty="0"/>
          </a:p>
        </p:txBody>
      </p:sp>
      <p:sp>
        <p:nvSpPr>
          <p:cNvPr id="12" name="Shape 10"/>
          <p:cNvSpPr/>
          <p:nvPr/>
        </p:nvSpPr>
        <p:spPr>
          <a:xfrm>
            <a:off x="548640" y="4471416"/>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731520" y="4745736"/>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3</a:t>
            </a:r>
            <a:endParaRPr lang="en-US" sz="2400" noProof="0" dirty="0"/>
          </a:p>
        </p:txBody>
      </p:sp>
      <p:sp>
        <p:nvSpPr>
          <p:cNvPr id="14" name="Text 12"/>
          <p:cNvSpPr/>
          <p:nvPr/>
        </p:nvSpPr>
        <p:spPr>
          <a:xfrm>
            <a:off x="1417320" y="4581144"/>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Quel obstacle empêche le plus souvent quelqu'un dans votre établissement de réaliser une orientation pour coloscopie, et que pourriez-vous faire à ce sujet ?</a:t>
            </a:r>
            <a:endParaRPr lang="en-US" sz="1800" noProof="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1">
    <p:bg>
      <p:bgPr>
        <a:solidFill>
          <a:srgbClr val="0E2E5C"/>
        </a:solidFill>
        <a:effectLst/>
      </p:bgPr>
    </p:bg>
    <p:spTree>
      <p:nvGrpSpPr>
        <p:cNvPr id="1" name=""/>
        <p:cNvGrpSpPr/>
        <p:nvPr/>
      </p:nvGrpSpPr>
      <p:grpSpPr>
        <a:xfrm>
          <a:off x="0" y="0"/>
          <a:ext cx="0" cy="0"/>
          <a:chOff x="0" y="0"/>
          <a:chExt cx="0" cy="0"/>
        </a:xfrm>
      </p:grpSpPr>
      <p:sp>
        <p:nvSpPr>
          <p:cNvPr id="2" name="Shape 0"/>
          <p:cNvSpPr/>
          <p:nvPr/>
        </p:nvSpPr>
        <p:spPr>
          <a:xfrm>
            <a:off x="548640" y="1874520"/>
            <a:ext cx="1051560" cy="1051560"/>
          </a:xfrm>
          <a:prstGeom prst="roundRect">
            <a:avLst>
              <a:gd name="adj" fmla="val 12174"/>
            </a:avLst>
          </a:prstGeom>
          <a:solidFill>
            <a:srgbClr val="2C5A9E"/>
          </a:solidFill>
          <a:ln w="15875">
            <a:solidFill>
              <a:srgbClr val="5C8DD6"/>
            </a:solidFill>
            <a:prstDash val="solid"/>
          </a:ln>
        </p:spPr>
        <p:txBody>
          <a:bodyPr/>
          <a:lstStyle/>
          <a:p>
            <a:endParaRPr lang="en-US" noProof="0" dirty="0"/>
          </a:p>
        </p:txBody>
      </p:sp>
      <p:sp>
        <p:nvSpPr>
          <p:cNvPr id="3" name="Text 1"/>
          <p:cNvSpPr/>
          <p:nvPr/>
        </p:nvSpPr>
        <p:spPr>
          <a:xfrm>
            <a:off x="548640" y="1874520"/>
            <a:ext cx="1051560" cy="1051560"/>
          </a:xfrm>
          <a:prstGeom prst="rect">
            <a:avLst/>
          </a:prstGeom>
          <a:noFill/>
          <a:ln/>
        </p:spPr>
        <p:txBody>
          <a:bodyPr wrap="square" lIns="0" tIns="0" rIns="0" bIns="0" rtlCol="0" anchor="ctr"/>
          <a:lstStyle/>
          <a:p>
            <a:pPr marL="0" indent="0" algn="ctr">
              <a:buNone/>
            </a:pPr>
            <a:r>
              <a:rPr lang="fr" sz="4600" b="1" noProof="0">
                <a:solidFill>
                  <a:srgbClr val="FFFFFF"/>
                </a:solidFill>
                <a:latin typeface="Cambria" pitchFamily="34" charset="0"/>
                <a:ea typeface="Cambria" pitchFamily="34" charset="-122"/>
                <a:cs typeface="Cambria" pitchFamily="34" charset="-120"/>
              </a:rPr>
              <a:t>3</a:t>
            </a:r>
            <a:endParaRPr lang="en-US" sz="4600" noProof="0" dirty="0"/>
          </a:p>
        </p:txBody>
      </p:sp>
      <p:sp>
        <p:nvSpPr>
          <p:cNvPr id="4" name="Text 2"/>
          <p:cNvSpPr/>
          <p:nvPr/>
        </p:nvSpPr>
        <p:spPr>
          <a:xfrm>
            <a:off x="1920240" y="1920240"/>
            <a:ext cx="8686800" cy="365760"/>
          </a:xfrm>
          <a:prstGeom prst="rect">
            <a:avLst/>
          </a:prstGeom>
          <a:noFill/>
          <a:ln/>
        </p:spPr>
        <p:txBody>
          <a:bodyPr wrap="square" lIns="0" tIns="0" rIns="0" bIns="0" rtlCol="0" anchor="ctr"/>
          <a:lstStyle/>
          <a:p>
            <a:pPr marL="0" indent="0">
              <a:buNone/>
            </a:pPr>
            <a:r>
              <a:rPr lang="fr" sz="1500" b="1" kern="0" spc="300" noProof="0">
                <a:solidFill>
                  <a:srgbClr val="9DC0EE"/>
                </a:solidFill>
                <a:latin typeface="Calibri" pitchFamily="34" charset="0"/>
                <a:ea typeface="Calibri" pitchFamily="34" charset="-122"/>
                <a:cs typeface="Calibri" pitchFamily="34" charset="-120"/>
              </a:rPr>
              <a:t>Session 3</a:t>
            </a:r>
            <a:endParaRPr lang="en-US" sz="1500" noProof="0" dirty="0"/>
          </a:p>
        </p:txBody>
      </p:sp>
      <p:sp>
        <p:nvSpPr>
          <p:cNvPr id="5" name="Text 3"/>
          <p:cNvSpPr/>
          <p:nvPr/>
        </p:nvSpPr>
        <p:spPr>
          <a:xfrm>
            <a:off x="1920240" y="2286000"/>
            <a:ext cx="9601200" cy="777240"/>
          </a:xfrm>
          <a:prstGeom prst="rect">
            <a:avLst/>
          </a:prstGeom>
          <a:noFill/>
          <a:ln/>
        </p:spPr>
        <p:txBody>
          <a:bodyPr wrap="square" lIns="0" tIns="0" rIns="0" bIns="0" rtlCol="0" anchor="ctr"/>
          <a:lstStyle/>
          <a:p>
            <a:pPr marL="0" indent="0">
              <a:buNone/>
            </a:pPr>
            <a:r>
              <a:rPr lang="fr" sz="4200" b="1" noProof="0">
                <a:solidFill>
                  <a:srgbClr val="FFFFFF"/>
                </a:solidFill>
                <a:latin typeface="Cambria" pitchFamily="34" charset="0"/>
                <a:ea typeface="Cambria" pitchFamily="34" charset="-122"/>
                <a:cs typeface="Cambria" pitchFamily="34" charset="-120"/>
              </a:rPr>
              <a:t>Orientation et accompagnement</a:t>
            </a:r>
            <a:endParaRPr lang="en-US" sz="4200" noProof="0" dirty="0"/>
          </a:p>
        </p:txBody>
      </p:sp>
      <p:sp>
        <p:nvSpPr>
          <p:cNvPr id="6" name="Text 4"/>
          <p:cNvSpPr/>
          <p:nvPr/>
        </p:nvSpPr>
        <p:spPr>
          <a:xfrm>
            <a:off x="1920240" y="3246120"/>
            <a:ext cx="9326880" cy="914400"/>
          </a:xfrm>
          <a:prstGeom prst="rect">
            <a:avLst/>
          </a:prstGeom>
          <a:noFill/>
          <a:ln/>
        </p:spPr>
        <p:txBody>
          <a:bodyPr wrap="square" lIns="0" tIns="0" rIns="0" bIns="0" rtlCol="0" anchor="ctr"/>
          <a:lstStyle/>
          <a:p>
            <a:pPr marL="0" indent="0">
              <a:buNone/>
            </a:pPr>
            <a:r>
              <a:rPr lang="fr" sz="1800" noProof="0">
                <a:solidFill>
                  <a:srgbClr val="CFE0F6"/>
                </a:solidFill>
                <a:latin typeface="Calibri" pitchFamily="34" charset="0"/>
                <a:ea typeface="Calibri" pitchFamily="34" charset="-122"/>
                <a:cs typeface="Calibri" pitchFamily="34" charset="-120"/>
              </a:rPr>
              <a:t>Transformez une conclusion préoccupante en la bonne étape suivante : référez avec la bonne urgence, consignez les informations dont le registre a besoin et conseillez avec soin.</a:t>
            </a:r>
            <a:endParaRPr lang="en-US" sz="1800" noProof="0" dirty="0"/>
          </a:p>
        </p:txBody>
      </p:sp>
      <p:sp>
        <p:nvSpPr>
          <p:cNvPr id="7" name="Text 5"/>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8FA9CE"/>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Objectifs d'apprentissage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Décrire</a:t>
            </a:r>
            <a:endParaRPr lang="en-US" sz="1800" noProof="0" dirty="0"/>
          </a:p>
        </p:txBody>
      </p:sp>
      <p:sp>
        <p:nvSpPr>
          <p:cNvPr id="7" name="Text 5"/>
          <p:cNvSpPr/>
          <p:nvPr/>
        </p:nvSpPr>
        <p:spPr>
          <a:xfrm>
            <a:off x="73152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Décrivez les niveaux du système de référence rwandais et les lieux où l'évaluation colorectale a lieu.</a:t>
            </a:r>
            <a:endParaRPr lang="en-US" sz="1800" noProof="0" dirty="0"/>
          </a:p>
        </p:txBody>
      </p:sp>
      <p:sp>
        <p:nvSpPr>
          <p:cNvPr id="8" name="Shape 6"/>
          <p:cNvSpPr/>
          <p:nvPr/>
        </p:nvSpPr>
        <p:spPr>
          <a:xfrm>
            <a:off x="431993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Décidez</a:t>
            </a:r>
            <a:endParaRPr lang="en-US" sz="1800" noProof="0" dirty="0"/>
          </a:p>
        </p:txBody>
      </p:sp>
      <p:sp>
        <p:nvSpPr>
          <p:cNvPr id="10" name="Text 8"/>
          <p:cNvSpPr/>
          <p:nvPr/>
        </p:nvSpPr>
        <p:spPr>
          <a:xfrm>
            <a:off x="450281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Décidez si une présentation nécessite une orientation de routine, rapide ou d'urgence.</a:t>
            </a:r>
            <a:endParaRPr lang="en-US" sz="1800" noProof="0" dirty="0"/>
          </a:p>
        </p:txBody>
      </p:sp>
      <p:sp>
        <p:nvSpPr>
          <p:cNvPr id="11" name="Shape 9"/>
          <p:cNvSpPr/>
          <p:nvPr/>
        </p:nvSpPr>
        <p:spPr>
          <a:xfrm>
            <a:off x="8091221"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Consigner</a:t>
            </a:r>
            <a:endParaRPr lang="en-US" sz="1800" noProof="0" dirty="0"/>
          </a:p>
        </p:txBody>
      </p:sp>
      <p:sp>
        <p:nvSpPr>
          <p:cNvPr id="13" name="Text 11"/>
          <p:cNvSpPr/>
          <p:nvPr/>
        </p:nvSpPr>
        <p:spPr>
          <a:xfrm>
            <a:off x="8274101"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Consignez les informations dont le registre national du cancer a besoin au premier contact.</a:t>
            </a:r>
            <a:endParaRPr lang="en-US" sz="1800" noProof="0" dirty="0"/>
          </a:p>
        </p:txBody>
      </p:sp>
      <p:sp>
        <p:nvSpPr>
          <p:cNvPr id="14" name="Shape 12"/>
          <p:cNvSpPr/>
          <p:nvPr/>
        </p:nvSpPr>
        <p:spPr>
          <a:xfrm>
            <a:off x="54864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3152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Conseiller</a:t>
            </a:r>
            <a:endParaRPr lang="en-US" sz="1800" noProof="0" dirty="0"/>
          </a:p>
        </p:txBody>
      </p:sp>
      <p:sp>
        <p:nvSpPr>
          <p:cNvPr id="16" name="Text 14"/>
          <p:cNvSpPr/>
          <p:nvPr/>
        </p:nvSpPr>
        <p:spPr>
          <a:xfrm>
            <a:off x="73152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Conseillez clairement un résultat anormal et ce qui va se passer ensuite.</a:t>
            </a:r>
            <a:endParaRPr lang="en-US" sz="1800" noProof="0" dirty="0"/>
          </a:p>
        </p:txBody>
      </p:sp>
      <p:sp>
        <p:nvSpPr>
          <p:cNvPr id="17" name="Shape 15"/>
          <p:cNvSpPr/>
          <p:nvPr/>
        </p:nvSpPr>
        <p:spPr>
          <a:xfrm>
            <a:off x="431993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450281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Soutien</a:t>
            </a:r>
            <a:endParaRPr lang="en-US" sz="1800" noProof="0" dirty="0"/>
          </a:p>
        </p:txBody>
      </p:sp>
      <p:sp>
        <p:nvSpPr>
          <p:cNvPr id="19" name="Text 17"/>
          <p:cNvSpPr/>
          <p:nvPr/>
        </p:nvSpPr>
        <p:spPr>
          <a:xfrm>
            <a:off x="450281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Apportez un soutien psychologique de base, y compris face à la gêne liée aux symptômes intestinaux.</a:t>
            </a:r>
            <a:endParaRPr lang="en-US" sz="1800" noProof="0" dirty="0"/>
          </a:p>
        </p:txBody>
      </p:sp>
      <p:sp>
        <p:nvSpPr>
          <p:cNvPr id="20" name="Shape 18"/>
          <p:cNvSpPr/>
          <p:nvPr/>
        </p:nvSpPr>
        <p:spPr>
          <a:xfrm>
            <a:off x="8091221"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8274101"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Assurer le suivi</a:t>
            </a:r>
            <a:endParaRPr lang="en-US" sz="1800" noProof="0" dirty="0"/>
          </a:p>
        </p:txBody>
      </p:sp>
      <p:sp>
        <p:nvSpPr>
          <p:cNvPr id="22" name="Text 20"/>
          <p:cNvSpPr/>
          <p:nvPr/>
        </p:nvSpPr>
        <p:spPr>
          <a:xfrm>
            <a:off x="8274101"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Soutenez la participation aux rendez-vous et assurez le suivi lorsqu’une personne ne se présente pas.</a:t>
            </a:r>
            <a:endParaRPr lang="en-US" sz="1800" noProof="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La voie de l'orientation</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25" name="CuadroTexto 24">
            <a:extLst>
              <a:ext uri="{FF2B5EF4-FFF2-40B4-BE49-F238E27FC236}">
                <a16:creationId xmlns:a16="http://schemas.microsoft.com/office/drawing/2014/main" id="{4776D168-40C4-437C-6C09-510BAC535775}"/>
              </a:ext>
            </a:extLst>
          </p:cNvPr>
          <p:cNvSpPr txBox="1"/>
          <p:nvPr/>
        </p:nvSpPr>
        <p:spPr>
          <a:xfrm>
            <a:off x="548639" y="5751576"/>
            <a:ext cx="11094415" cy="646331"/>
          </a:xfrm>
          <a:prstGeom prst="rect">
            <a:avLst/>
          </a:prstGeom>
          <a:noFill/>
        </p:spPr>
        <p:txBody>
          <a:bodyPr wrap="square" rtlCol="0">
            <a:spAutoFit/>
          </a:bodyPr>
          <a:lstStyle/>
          <a:p>
            <a:r>
              <a:rPr lang="fr" b="1" i="1" noProof="0">
                <a:solidFill>
                  <a:schemeClr val="bg2">
                    <a:lumMod val="50000"/>
                  </a:schemeClr>
                </a:solidFill>
                <a:latin typeface="Calibri" pitchFamily="34" charset="0"/>
                <a:ea typeface="Calibri" pitchFamily="34" charset="-122"/>
                <a:cs typeface="Calibri" pitchFamily="34" charset="-120"/>
              </a:rPr>
              <a:t>Note : </a:t>
            </a:r>
            <a:r>
              <a:rPr lang="fr" i="1" noProof="0">
                <a:solidFill>
                  <a:schemeClr val="bg2">
                    <a:lumMod val="50000"/>
                  </a:schemeClr>
                </a:solidFill>
                <a:latin typeface="Calibri" pitchFamily="34" charset="0"/>
                <a:ea typeface="Calibri" pitchFamily="34" charset="-122"/>
                <a:cs typeface="Calibri" pitchFamily="34" charset="-120"/>
              </a:rPr>
              <a:t>Entre la reconnaissance d'un symptôme et l'atteinte de l'endoscopie, il y a de la distance, du coût et de l'attente. Prévoyez cela lors de votre orientation.</a:t>
            </a:r>
            <a:endParaRPr lang="en-US" i="1" noProof="0" dirty="0">
              <a:solidFill>
                <a:schemeClr val="bg2">
                  <a:lumMod val="50000"/>
                </a:schemeClr>
              </a:solidFill>
            </a:endParaRPr>
          </a:p>
        </p:txBody>
      </p:sp>
      <p:pic>
        <p:nvPicPr>
          <p:cNvPr id="5" name="Imagen 4">
            <a:extLst>
              <a:ext uri="{FF2B5EF4-FFF2-40B4-BE49-F238E27FC236}">
                <a16:creationId xmlns:a16="http://schemas.microsoft.com/office/drawing/2014/main" id="{5D75B5CC-1847-CB5E-BA6F-9B9AC3D4682B}"/>
              </a:ext>
            </a:extLst>
          </p:cNvPr>
          <p:cNvPicPr>
            <a:picLocks noChangeAspect="1"/>
          </p:cNvPicPr>
          <p:nvPr/>
        </p:nvPicPr>
        <p:blipFill>
          <a:blip r:embed="rId3"/>
          <a:stretch>
            <a:fillRect/>
          </a:stretch>
        </p:blipFill>
        <p:spPr>
          <a:xfrm>
            <a:off x="1358900" y="1127337"/>
            <a:ext cx="9055100" cy="462036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Avec quel degré d'urgence orienter</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39" y="1185337"/>
            <a:ext cx="7240693" cy="1261944"/>
          </a:xfrm>
          <a:prstGeom prst="roundRect">
            <a:avLst>
              <a:gd name="adj" fmla="val 4167"/>
            </a:avLst>
          </a:prstGeom>
          <a:solidFill>
            <a:srgbClr val="FCEDEB"/>
          </a:solidFill>
          <a:ln w="15875">
            <a:solidFill>
              <a:srgbClr val="E7B8B2"/>
            </a:solidFill>
            <a:prstDash val="solid"/>
          </a:ln>
        </p:spPr>
        <p:txBody>
          <a:bodyPr/>
          <a:lstStyle/>
          <a:p>
            <a:endParaRPr lang="en-US" noProof="0" dirty="0"/>
          </a:p>
        </p:txBody>
      </p:sp>
      <p:sp>
        <p:nvSpPr>
          <p:cNvPr id="6" name="Text 4"/>
          <p:cNvSpPr/>
          <p:nvPr/>
        </p:nvSpPr>
        <p:spPr>
          <a:xfrm>
            <a:off x="731520" y="1196175"/>
            <a:ext cx="6495062" cy="359359"/>
          </a:xfrm>
          <a:prstGeom prst="rect">
            <a:avLst/>
          </a:prstGeom>
          <a:noFill/>
          <a:ln/>
        </p:spPr>
        <p:txBody>
          <a:bodyPr wrap="square" lIns="0" tIns="0" rIns="0" bIns="0" rtlCol="0" anchor="t"/>
          <a:lstStyle/>
          <a:p>
            <a:pPr marL="0" indent="0">
              <a:buNone/>
            </a:pPr>
            <a:r>
              <a:rPr lang="fr" sz="1800" b="1" noProof="0">
                <a:solidFill>
                  <a:srgbClr val="9E2019"/>
                </a:solidFill>
                <a:latin typeface="Calibri" pitchFamily="34" charset="0"/>
                <a:ea typeface="Calibri" pitchFamily="34" charset="-122"/>
                <a:cs typeface="Calibri" pitchFamily="34" charset="-120"/>
              </a:rPr>
              <a:t>Urgence, même jour</a:t>
            </a:r>
            <a:endParaRPr lang="en-US" sz="1800" noProof="0" dirty="0"/>
          </a:p>
        </p:txBody>
      </p:sp>
      <p:sp>
        <p:nvSpPr>
          <p:cNvPr id="7" name="Text 5"/>
          <p:cNvSpPr/>
          <p:nvPr/>
        </p:nvSpPr>
        <p:spPr>
          <a:xfrm>
            <a:off x="731520" y="1555534"/>
            <a:ext cx="6495062" cy="1579169"/>
          </a:xfrm>
          <a:prstGeom prst="rect">
            <a:avLst/>
          </a:prstGeom>
          <a:noFill/>
          <a:ln/>
        </p:spPr>
        <p:txBody>
          <a:bodyPr wrap="square" lIns="0" tIns="0" rIns="0" bIns="0" rtlCol="0" anchor="t">
            <a:noAutofit/>
          </a:bodyPr>
          <a:lstStyle/>
          <a:p>
            <a:pPr marL="0" indent="0">
              <a:lnSpc>
                <a:spcPct val="105000"/>
              </a:lnSpc>
              <a:buNone/>
            </a:pPr>
            <a:r>
              <a:rPr lang="fr" sz="1620" noProof="0">
                <a:solidFill>
                  <a:srgbClr val="17325E"/>
                </a:solidFill>
                <a:latin typeface="Calibri" pitchFamily="34" charset="0"/>
                <a:ea typeface="Calibri" pitchFamily="34" charset="-122"/>
                <a:cs typeface="Calibri" pitchFamily="34" charset="-120"/>
              </a:rPr>
              <a:t>Obstruction suspectée, perforation suspectée, saignement abondant ou persistant, ou instabilité hémodynamique. Réanimez et organisez un transfert immédiat.</a:t>
            </a:r>
            <a:endParaRPr lang="en-US" sz="1620" noProof="0" dirty="0"/>
          </a:p>
        </p:txBody>
      </p:sp>
      <p:sp>
        <p:nvSpPr>
          <p:cNvPr id="8" name="Shape 6"/>
          <p:cNvSpPr/>
          <p:nvPr/>
        </p:nvSpPr>
        <p:spPr>
          <a:xfrm>
            <a:off x="548639" y="2606554"/>
            <a:ext cx="7240693" cy="1261944"/>
          </a:xfrm>
          <a:prstGeom prst="roundRect">
            <a:avLst>
              <a:gd name="adj" fmla="val 4167"/>
            </a:avLst>
          </a:prstGeom>
          <a:solidFill>
            <a:srgbClr val="FFF3DF"/>
          </a:solidFill>
          <a:ln w="15875">
            <a:solidFill>
              <a:srgbClr val="E8CFA4"/>
            </a:solidFill>
            <a:prstDash val="solid"/>
          </a:ln>
        </p:spPr>
        <p:txBody>
          <a:bodyPr/>
          <a:lstStyle/>
          <a:p>
            <a:endParaRPr lang="en-US" noProof="0" dirty="0"/>
          </a:p>
        </p:txBody>
      </p:sp>
      <p:sp>
        <p:nvSpPr>
          <p:cNvPr id="9" name="Text 7"/>
          <p:cNvSpPr/>
          <p:nvPr/>
        </p:nvSpPr>
        <p:spPr>
          <a:xfrm>
            <a:off x="731520" y="2617392"/>
            <a:ext cx="6495062" cy="359359"/>
          </a:xfrm>
          <a:prstGeom prst="rect">
            <a:avLst/>
          </a:prstGeom>
          <a:noFill/>
          <a:ln/>
        </p:spPr>
        <p:txBody>
          <a:bodyPr wrap="square" lIns="0" tIns="0" rIns="0" bIns="0" rtlCol="0" anchor="t"/>
          <a:lstStyle/>
          <a:p>
            <a:pPr marL="0" indent="0">
              <a:buNone/>
            </a:pPr>
            <a:r>
              <a:rPr lang="fr" sz="1800" b="1" noProof="0">
                <a:solidFill>
                  <a:srgbClr val="9A5B00"/>
                </a:solidFill>
                <a:latin typeface="Calibri" pitchFamily="34" charset="0"/>
                <a:ea typeface="Calibri" pitchFamily="34" charset="-122"/>
                <a:cs typeface="Calibri" pitchFamily="34" charset="-120"/>
              </a:rPr>
              <a:t>Rapide, sans attendre</a:t>
            </a:r>
            <a:endParaRPr lang="en-US" sz="1800" noProof="0" dirty="0"/>
          </a:p>
        </p:txBody>
      </p:sp>
      <p:sp>
        <p:nvSpPr>
          <p:cNvPr id="10" name="Text 8"/>
          <p:cNvSpPr/>
          <p:nvPr/>
        </p:nvSpPr>
        <p:spPr>
          <a:xfrm>
            <a:off x="731520" y="2976751"/>
            <a:ext cx="6495062" cy="1579169"/>
          </a:xfrm>
          <a:prstGeom prst="rect">
            <a:avLst/>
          </a:prstGeom>
          <a:noFill/>
          <a:ln/>
        </p:spPr>
        <p:txBody>
          <a:bodyPr wrap="square" lIns="0" tIns="0" rIns="0" bIns="0" rtlCol="0" anchor="t">
            <a:noAutofit/>
          </a:bodyPr>
          <a:lstStyle/>
          <a:p>
            <a:pPr marL="0" indent="0">
              <a:lnSpc>
                <a:spcPct val="105000"/>
              </a:lnSpc>
              <a:buNone/>
            </a:pPr>
            <a:r>
              <a:rPr lang="fr" sz="1620" noProof="0">
                <a:solidFill>
                  <a:srgbClr val="17325E"/>
                </a:solidFill>
                <a:latin typeface="Calibri" pitchFamily="34" charset="0"/>
                <a:ea typeface="Calibri" pitchFamily="34" charset="-122"/>
                <a:cs typeface="Calibri" pitchFamily="34" charset="-120"/>
              </a:rPr>
              <a:t>Saignement rectal persistant, changement persistant de l'habitude intestinale, anémie inexpliquée, test fécal anormal, masse palpable ou perte de poids inexpliquée.</a:t>
            </a:r>
            <a:endParaRPr lang="en-US" sz="1620" noProof="0" dirty="0"/>
          </a:p>
        </p:txBody>
      </p:sp>
      <p:sp>
        <p:nvSpPr>
          <p:cNvPr id="11" name="Shape 9"/>
          <p:cNvSpPr/>
          <p:nvPr/>
        </p:nvSpPr>
        <p:spPr>
          <a:xfrm>
            <a:off x="548639" y="4015610"/>
            <a:ext cx="7240692" cy="1261944"/>
          </a:xfrm>
          <a:prstGeom prst="roundRect">
            <a:avLst>
              <a:gd name="adj" fmla="val 4167"/>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731519" y="4026450"/>
            <a:ext cx="6495062"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Routine</a:t>
            </a:r>
            <a:endParaRPr lang="en-US" sz="1800" noProof="0" dirty="0"/>
          </a:p>
        </p:txBody>
      </p:sp>
      <p:sp>
        <p:nvSpPr>
          <p:cNvPr id="13" name="Text 11"/>
          <p:cNvSpPr/>
          <p:nvPr/>
        </p:nvSpPr>
        <p:spPr>
          <a:xfrm>
            <a:off x="731519" y="4385809"/>
            <a:ext cx="6495062" cy="1579169"/>
          </a:xfrm>
          <a:prstGeom prst="rect">
            <a:avLst/>
          </a:prstGeom>
          <a:noFill/>
          <a:ln/>
        </p:spPr>
        <p:txBody>
          <a:bodyPr wrap="square" lIns="0" tIns="0" rIns="0" bIns="0" rtlCol="0" anchor="t">
            <a:noAutofit/>
          </a:bodyPr>
          <a:lstStyle/>
          <a:p>
            <a:pPr marL="0" indent="0">
              <a:lnSpc>
                <a:spcPct val="105000"/>
              </a:lnSpc>
              <a:buNone/>
            </a:pPr>
            <a:r>
              <a:rPr lang="fr" sz="1620" noProof="0">
                <a:solidFill>
                  <a:srgbClr val="17325E"/>
                </a:solidFill>
                <a:latin typeface="Calibri" pitchFamily="34" charset="0"/>
                <a:ea typeface="Calibri" pitchFamily="34" charset="-122"/>
                <a:cs typeface="Calibri" pitchFamily="34" charset="-120"/>
              </a:rPr>
              <a:t>Des résultats nécessitant l'avis d'un spécialiste sans pression temporelle, par exemple des antécédents familiaux qui peuvent justifier une évaluation plus précoce chez une personne sans symptômes.</a:t>
            </a:r>
            <a:endParaRPr lang="en-US" sz="1620" noProof="0" dirty="0"/>
          </a:p>
        </p:txBody>
      </p:sp>
      <p:sp>
        <p:nvSpPr>
          <p:cNvPr id="16" name="Text 14"/>
          <p:cNvSpPr/>
          <p:nvPr/>
        </p:nvSpPr>
        <p:spPr>
          <a:xfrm>
            <a:off x="559480" y="5413248"/>
            <a:ext cx="10728655" cy="658368"/>
          </a:xfrm>
          <a:prstGeom prst="rect">
            <a:avLst/>
          </a:prstGeom>
          <a:noFill/>
          <a:ln/>
        </p:spPr>
        <p:txBody>
          <a:bodyPr wrap="square" lIns="0" tIns="0" rIns="0" bIns="0" rtlCol="0" anchor="t">
            <a:normAutofit fontScale="92000" lnSpcReduction="10000"/>
          </a:bodyPr>
          <a:lstStyle/>
          <a:p>
            <a:pPr marL="0" indent="0">
              <a:lnSpc>
                <a:spcPct val="105000"/>
              </a:lnSpc>
              <a:buNone/>
            </a:pPr>
            <a:r>
              <a:rPr lang="fr" sz="1600" b="1" i="1" noProof="0">
                <a:solidFill>
                  <a:schemeClr val="bg2">
                    <a:lumMod val="50000"/>
                  </a:schemeClr>
                </a:solidFill>
                <a:latin typeface="Calibri" pitchFamily="34" charset="0"/>
                <a:ea typeface="Calibri" pitchFamily="34" charset="-122"/>
                <a:cs typeface="Calibri" pitchFamily="34" charset="-120"/>
              </a:rPr>
              <a:t>Note : Avant que la personne ne parte, nomme l'établissement, donne l'orientation par écrit, explique ce qui va se passer là-bas, demande ce qui l'empêcherait d'y aller, et note la date. Une orientation sur laquelle la personne ne peut pas agir n'est pas une orientation.</a:t>
            </a:r>
            <a:endParaRPr lang="en-US" sz="1600" i="1" noProof="0" dirty="0">
              <a:solidFill>
                <a:schemeClr val="bg2">
                  <a:lumMod val="50000"/>
                </a:schemeClr>
              </a:solidFill>
            </a:endParaRPr>
          </a:p>
        </p:txBody>
      </p:sp>
      <p:pic>
        <p:nvPicPr>
          <p:cNvPr id="20" name="Imagen 19">
            <a:extLst>
              <a:ext uri="{FF2B5EF4-FFF2-40B4-BE49-F238E27FC236}">
                <a16:creationId xmlns:a16="http://schemas.microsoft.com/office/drawing/2014/main" id="{7DC7F783-F5DD-C38B-C3D7-34AC52EB91D1}"/>
              </a:ext>
            </a:extLst>
          </p:cNvPr>
          <p:cNvPicPr>
            <a:picLocks noChangeAspect="1"/>
          </p:cNvPicPr>
          <p:nvPr/>
        </p:nvPicPr>
        <p:blipFill>
          <a:blip r:embed="rId3"/>
          <a:stretch>
            <a:fillRect/>
          </a:stretch>
        </p:blipFill>
        <p:spPr>
          <a:xfrm>
            <a:off x="8196300" y="1131454"/>
            <a:ext cx="2747756" cy="4121635"/>
          </a:xfrm>
          <a:prstGeom prst="rect">
            <a:avLst/>
          </a:prstGeom>
        </p:spPr>
      </p:pic>
      <p:sp>
        <p:nvSpPr>
          <p:cNvPr id="14" name="Text 14"/>
          <p:cNvSpPr/>
          <p:nvPr/>
        </p:nvSpPr>
        <p:spPr>
          <a:xfrm>
            <a:off x="557784" y="6053328"/>
            <a:ext cx="10725912" cy="292608"/>
          </a:xfrm>
          <a:prstGeom prst="rect">
            <a:avLst/>
          </a:prstGeom>
          <a:noFill/>
          <a:ln/>
        </p:spPr>
        <p:txBody>
          <a:bodyPr wrap="square" lIns="0" tIns="0" rIns="0" bIns="0" rtlCol="0" anchor="t">
            <a:normAutofit fontScale="99500"/>
          </a:bodyPr>
          <a:lstStyle/>
          <a:p>
            <a:pPr marL="0" indent="0">
              <a:lnSpc>
                <a:spcPct val="105000"/>
              </a:lnSpc>
              <a:buNone/>
            </a:pPr>
            <a:r>
              <a:rPr lang="fr" sz="1400" b="1" i="1" noProof="0">
                <a:solidFill>
                  <a:schemeClr val="bg2">
                    <a:lumMod val="50000"/>
                  </a:schemeClr>
                </a:solidFill>
                <a:latin typeface="Calibri" pitchFamily="34" charset="0"/>
                <a:ea typeface="Calibri" pitchFamily="34" charset="-122"/>
                <a:cs typeface="Calibri" pitchFamily="34" charset="-120"/>
              </a:rPr>
              <a:t>Les hôpitaux de district ne réalisent pas de coloscopie : la lettre d'orientation doit demander une coloscopie et la prise en charge ultérieure.</a:t>
            </a:r>
            <a:endParaRPr lang="en-US" sz="1600" i="1" noProof="0" dirty="0">
              <a:solidFill>
                <a:schemeClr val="bg2">
                  <a:lumMod val="50000"/>
                </a:schemeClr>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4" name="Shape 9">
            <a:extLst>
              <a:ext uri="{FF2B5EF4-FFF2-40B4-BE49-F238E27FC236}">
                <a16:creationId xmlns:a16="http://schemas.microsoft.com/office/drawing/2014/main" id="{96945A4A-9165-FFBA-A2ED-D1E08F29F3F8}"/>
              </a:ext>
            </a:extLst>
          </p:cNvPr>
          <p:cNvSpPr/>
          <p:nvPr/>
        </p:nvSpPr>
        <p:spPr>
          <a:xfrm>
            <a:off x="548639" y="1225296"/>
            <a:ext cx="7223762" cy="4416552"/>
          </a:xfrm>
          <a:prstGeom prst="roundRect">
            <a:avLst>
              <a:gd name="adj" fmla="val 4167"/>
            </a:avLst>
          </a:prstGeom>
          <a:solidFill>
            <a:srgbClr val="F3F7FC"/>
          </a:solidFill>
          <a:ln w="15875">
            <a:solidFill>
              <a:srgbClr val="C9DCF2"/>
            </a:solidFill>
            <a:prstDash val="solid"/>
          </a:ln>
        </p:spPr>
        <p:txBody>
          <a:bodyPr/>
          <a:lstStyle/>
          <a:p>
            <a:endParaRPr lang="en-US" noProof="0" dirty="0"/>
          </a:p>
        </p:txBody>
      </p:sp>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Que noter au premier contact</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7" name="Text 5"/>
          <p:cNvSpPr/>
          <p:nvPr/>
        </p:nvSpPr>
        <p:spPr>
          <a:xfrm>
            <a:off x="745806" y="1457435"/>
            <a:ext cx="6855143" cy="4000391"/>
          </a:xfrm>
          <a:prstGeom prst="rect">
            <a:avLst/>
          </a:prstGeom>
          <a:noFill/>
          <a:ln/>
        </p:spPr>
        <p:txBody>
          <a:bodyPr wrap="square" lIns="0" tIns="0" rIns="0" bIns="0" rtlCol="0" anchor="t">
            <a:noAutofit/>
          </a:bodyPr>
          <a:lstStyle/>
          <a:p>
            <a:pPr marL="0" indent="0">
              <a:lnSpc>
                <a:spcPct val="105000"/>
              </a:lnSpc>
              <a:spcAft>
                <a:spcPts val="600"/>
              </a:spcAft>
              <a:buNone/>
            </a:pPr>
            <a:r>
              <a:rPr lang="fr" sz="1566" b="1" noProof="0">
                <a:solidFill>
                  <a:srgbClr val="17325E"/>
                </a:solidFill>
                <a:latin typeface="Calibri" pitchFamily="34" charset="0"/>
                <a:ea typeface="Calibri" pitchFamily="34" charset="-122"/>
                <a:cs typeface="Calibri" pitchFamily="34" charset="-120"/>
              </a:rPr>
              <a:t>Qui : Nom </a:t>
            </a:r>
            <a:r>
              <a:rPr lang="fr" sz="1566" noProof="0">
                <a:solidFill>
                  <a:srgbClr val="17325E"/>
                </a:solidFill>
                <a:latin typeface="Calibri" pitchFamily="34" charset="0"/>
                <a:ea typeface="Calibri" pitchFamily="34" charset="-122"/>
                <a:cs typeface="Calibri" pitchFamily="34" charset="-120"/>
              </a:rPr>
              <a:t>complet, âge, sexe, </a:t>
            </a:r>
            <a:r>
              <a:rPr lang="fr" sz="1566">
                <a:solidFill>
                  <a:srgbClr val="17325E"/>
                </a:solidFill>
                <a:latin typeface="Calibri" pitchFamily="34" charset="0"/>
                <a:ea typeface="Calibri" pitchFamily="34" charset="-122"/>
                <a:cs typeface="Calibri" pitchFamily="34" charset="-120"/>
              </a:rPr>
              <a:t>téléphone, </a:t>
            </a:r>
            <a:r>
              <a:rPr lang="fr" sz="1566" noProof="0">
                <a:solidFill>
                  <a:srgbClr val="17325E"/>
                </a:solidFill>
                <a:latin typeface="Calibri" pitchFamily="34" charset="0"/>
                <a:ea typeface="Calibri" pitchFamily="34" charset="-122"/>
                <a:cs typeface="Calibri" pitchFamily="34" charset="-120"/>
              </a:rPr>
              <a:t>résidence par village et district, afin de pouvoir relier les dossiers et éviter les doublons.</a:t>
            </a:r>
          </a:p>
          <a:p>
            <a:pPr marL="0" indent="0">
              <a:lnSpc>
                <a:spcPct val="105000"/>
              </a:lnSpc>
              <a:spcAft>
                <a:spcPts val="600"/>
              </a:spcAft>
              <a:buNone/>
            </a:pPr>
            <a:r>
              <a:rPr lang="fr" sz="1566" b="1" noProof="0">
                <a:solidFill>
                  <a:srgbClr val="17325E"/>
                </a:solidFill>
                <a:latin typeface="Calibri" pitchFamily="34" charset="0"/>
                <a:ea typeface="Calibri" pitchFamily="34" charset="-122"/>
                <a:cs typeface="Calibri" pitchFamily="34" charset="-120"/>
              </a:rPr>
              <a:t>Quand : </a:t>
            </a:r>
            <a:r>
              <a:rPr lang="fr" sz="1566" noProof="0">
                <a:solidFill>
                  <a:srgbClr val="17325E"/>
                </a:solidFill>
                <a:latin typeface="Calibri" pitchFamily="34" charset="0"/>
                <a:ea typeface="Calibri" pitchFamily="34" charset="-122"/>
                <a:cs typeface="Calibri" pitchFamily="34" charset="-120"/>
              </a:rPr>
              <a:t>Date d'apparition des symptômes, telle que la personne les rapporte, et date de cette consultation. Cette paire mesure le délai diagnostique.</a:t>
            </a:r>
          </a:p>
          <a:p>
            <a:pPr marL="0" indent="0">
              <a:lnSpc>
                <a:spcPct val="105000"/>
              </a:lnSpc>
              <a:spcAft>
                <a:spcPts val="600"/>
              </a:spcAft>
              <a:buNone/>
            </a:pPr>
            <a:r>
              <a:rPr lang="fr" sz="1566" b="1" noProof="0">
                <a:solidFill>
                  <a:srgbClr val="17325E"/>
                </a:solidFill>
                <a:latin typeface="Calibri" pitchFamily="34" charset="0"/>
                <a:ea typeface="Calibri" pitchFamily="34" charset="-122"/>
                <a:cs typeface="Calibri" pitchFamily="34" charset="-120"/>
              </a:rPr>
              <a:t>Quoi : </a:t>
            </a:r>
            <a:r>
              <a:rPr lang="fr" sz="1566" noProof="0">
                <a:solidFill>
                  <a:srgbClr val="17325E"/>
                </a:solidFill>
                <a:latin typeface="Calibri" pitchFamily="34" charset="0"/>
                <a:ea typeface="Calibri" pitchFamily="34" charset="-122"/>
                <a:cs typeface="Calibri" pitchFamily="34" charset="-120"/>
              </a:rPr>
              <a:t>Le symptôme spécifique qui a déclenché la référence : saignements, changement d'habitude intestinale, masse palpable ou anémie inexpliquée.</a:t>
            </a:r>
          </a:p>
          <a:p>
            <a:pPr marL="0" indent="0">
              <a:lnSpc>
                <a:spcPct val="105000"/>
              </a:lnSpc>
              <a:spcAft>
                <a:spcPts val="600"/>
              </a:spcAft>
              <a:buNone/>
            </a:pPr>
            <a:r>
              <a:rPr lang="fr" sz="1566" b="1" noProof="0">
                <a:solidFill>
                  <a:srgbClr val="17325E"/>
                </a:solidFill>
                <a:latin typeface="Calibri" pitchFamily="34" charset="0"/>
                <a:ea typeface="Calibri" pitchFamily="34" charset="-122"/>
                <a:cs typeface="Calibri" pitchFamily="34" charset="-120"/>
              </a:rPr>
              <a:t>Résultats : </a:t>
            </a:r>
            <a:r>
              <a:rPr lang="fr" sz="1566" noProof="0">
                <a:solidFill>
                  <a:srgbClr val="17325E"/>
                </a:solidFill>
                <a:latin typeface="Calibri" pitchFamily="34" charset="0"/>
                <a:ea typeface="Calibri" pitchFamily="34" charset="-122"/>
                <a:cs typeface="Calibri" pitchFamily="34" charset="-120"/>
              </a:rPr>
              <a:t>Ce que vous avez réellement trouvé lors de l'examen, y compris un examen normal. Enregistrez-le même lorsqu'aucun test n'était disponible.</a:t>
            </a:r>
          </a:p>
          <a:p>
            <a:pPr>
              <a:lnSpc>
                <a:spcPct val="105000"/>
              </a:lnSpc>
              <a:spcAft>
                <a:spcPts val="600"/>
              </a:spcAft>
            </a:pPr>
            <a:r>
              <a:rPr lang="fr" sz="1566" b="1" noProof="0">
                <a:solidFill>
                  <a:srgbClr val="17325E"/>
                </a:solidFill>
                <a:latin typeface="Calibri" pitchFamily="34" charset="0"/>
                <a:ea typeface="Calibri" pitchFamily="34" charset="-122"/>
                <a:cs typeface="Calibri" pitchFamily="34" charset="-120"/>
              </a:rPr>
              <a:t>Tests : Indiquer si un dépistage ou un autre examen a été réalisé, puis consigner le résultat lorsqu’il est disponible. Soumettez le dossier même si rien n’a encore été fait.</a:t>
            </a:r>
          </a:p>
          <a:p>
            <a:pPr marL="0" indent="0">
              <a:lnSpc>
                <a:spcPct val="105000"/>
              </a:lnSpc>
              <a:spcAft>
                <a:spcPts val="600"/>
              </a:spcAft>
              <a:buNone/>
            </a:pPr>
            <a:r>
              <a:rPr lang="fr" sz="1566" b="1" noProof="0">
                <a:solidFill>
                  <a:srgbClr val="17325E"/>
                </a:solidFill>
                <a:latin typeface="Calibri" pitchFamily="34" charset="0"/>
                <a:ea typeface="Calibri" pitchFamily="34" charset="-122"/>
                <a:cs typeface="Calibri" pitchFamily="34" charset="-120"/>
              </a:rPr>
              <a:t>Destination : établissement d’orientation et date de l’orientation, ainsi que confirmation de l’arrivée du patient. C’est ainsi que la perte de vue au suivi est mesurée.</a:t>
            </a:r>
          </a:p>
        </p:txBody>
      </p:sp>
      <p:sp>
        <p:nvSpPr>
          <p:cNvPr id="23" name="Text 21"/>
          <p:cNvSpPr/>
          <p:nvPr/>
        </p:nvSpPr>
        <p:spPr>
          <a:xfrm>
            <a:off x="548640" y="5806440"/>
            <a:ext cx="11094415" cy="411480"/>
          </a:xfrm>
          <a:prstGeom prst="rect">
            <a:avLst/>
          </a:prstGeom>
          <a:noFill/>
          <a:ln/>
        </p:spPr>
        <p:txBody>
          <a:bodyPr wrap="square" rtlCol="0" anchor="ctr">
            <a:noAutofit/>
          </a:bodyPr>
          <a:lstStyle/>
          <a:p>
            <a:pPr marL="0" indent="0">
              <a:buNone/>
            </a:pPr>
            <a:r>
              <a:rPr lang="fr" sz="1395" b="1" i="1" noProof="0">
                <a:solidFill>
                  <a:schemeClr val="bg2">
                    <a:lumMod val="50000"/>
                  </a:schemeClr>
                </a:solidFill>
                <a:latin typeface="Calibri" pitchFamily="34" charset="0"/>
                <a:ea typeface="Calibri" pitchFamily="34" charset="-122"/>
                <a:cs typeface="Calibri" pitchFamily="34" charset="-120"/>
              </a:rPr>
              <a:t>Note : </a:t>
            </a:r>
            <a:r>
              <a:rPr lang="fr" sz="1395" i="1" noProof="0">
                <a:solidFill>
                  <a:schemeClr val="bg2">
                    <a:lumMod val="50000"/>
                  </a:schemeClr>
                </a:solidFill>
                <a:latin typeface="Calibri" pitchFamily="34" charset="0"/>
                <a:ea typeface="Calibri" pitchFamily="34" charset="-122"/>
                <a:cs typeface="Calibri" pitchFamily="34" charset="-120"/>
              </a:rPr>
              <a:t>En l'absence de tests de routine, votre jugement clinique est la base des données. Un dossier complété au premier soupçon puis mis à jour plus tard est bien plus utile qu'un formulaire vierge en attente d'un test de confirmation.</a:t>
            </a:r>
            <a:endParaRPr lang="en-US" sz="1395" noProof="0" dirty="0">
              <a:solidFill>
                <a:schemeClr val="bg2">
                  <a:lumMod val="50000"/>
                </a:schemeClr>
              </a:solidFill>
            </a:endParaRPr>
          </a:p>
        </p:txBody>
      </p:sp>
      <p:pic>
        <p:nvPicPr>
          <p:cNvPr id="6" name="Imagen 5">
            <a:extLst>
              <a:ext uri="{FF2B5EF4-FFF2-40B4-BE49-F238E27FC236}">
                <a16:creationId xmlns:a16="http://schemas.microsoft.com/office/drawing/2014/main" id="{65379CCB-7B86-ACD2-2994-8E045B316062}"/>
              </a:ext>
            </a:extLst>
          </p:cNvPr>
          <p:cNvPicPr>
            <a:picLocks noChangeAspect="1"/>
          </p:cNvPicPr>
          <p:nvPr/>
        </p:nvPicPr>
        <p:blipFill>
          <a:blip r:embed="rId3"/>
          <a:stretch>
            <a:fillRect/>
          </a:stretch>
        </p:blipFill>
        <p:spPr>
          <a:xfrm>
            <a:off x="8144333" y="1219200"/>
            <a:ext cx="2944368" cy="441655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Conseil au patient</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257295"/>
            <a:ext cx="3551834" cy="2366592"/>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403600"/>
            <a:ext cx="3186074" cy="359359"/>
          </a:xfrm>
          <a:prstGeom prst="rect">
            <a:avLst/>
          </a:prstGeom>
          <a:noFill/>
          <a:ln/>
        </p:spPr>
        <p:txBody>
          <a:bodyPr wrap="square" lIns="0" tIns="0" rIns="0" bIns="0" rtlCol="0" anchor="t">
            <a:noAutofit/>
          </a:bodyPr>
          <a:lstStyle/>
          <a:p>
            <a:pPr marL="0" indent="0">
              <a:buNone/>
            </a:pPr>
            <a:r>
              <a:rPr lang="fr" sz="1404" b="1" noProof="0">
                <a:solidFill>
                  <a:srgbClr val="0E2E5C"/>
                </a:solidFill>
                <a:latin typeface="Calibri" pitchFamily="34" charset="0"/>
                <a:ea typeface="Calibri" pitchFamily="34" charset="-122"/>
                <a:cs typeface="Calibri" pitchFamily="34" charset="-120"/>
              </a:rPr>
              <a:t>Nommer l'incertitude</a:t>
            </a:r>
            <a:endParaRPr lang="en-US" sz="1404" noProof="0" dirty="0"/>
          </a:p>
        </p:txBody>
      </p:sp>
      <p:sp>
        <p:nvSpPr>
          <p:cNvPr id="7" name="Text 5"/>
          <p:cNvSpPr/>
          <p:nvPr/>
        </p:nvSpPr>
        <p:spPr>
          <a:xfrm>
            <a:off x="731520" y="176295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Dites ce qui est connu, ce qui n'est pas connu, et à quoi sert le prochain test. Ne promettez pas un résultat que vous ne pouvez pas garantir.</a:t>
            </a:r>
            <a:endParaRPr lang="en-US" sz="1800" noProof="0" dirty="0"/>
          </a:p>
        </p:txBody>
      </p:sp>
      <p:sp>
        <p:nvSpPr>
          <p:cNvPr id="8" name="Shape 6"/>
          <p:cNvSpPr/>
          <p:nvPr/>
        </p:nvSpPr>
        <p:spPr>
          <a:xfrm>
            <a:off x="4319930" y="1257295"/>
            <a:ext cx="3551834" cy="2366592"/>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403600"/>
            <a:ext cx="3186074" cy="663854"/>
          </a:xfrm>
          <a:prstGeom prst="rect">
            <a:avLst/>
          </a:prstGeom>
          <a:noFill/>
          <a:ln/>
        </p:spPr>
        <p:txBody>
          <a:bodyPr wrap="square" lIns="0" tIns="0" rIns="0" bIns="0" rtlCol="0" anchor="t">
            <a:noAutofit/>
          </a:bodyPr>
          <a:lstStyle/>
          <a:p>
            <a:pPr marL="0" indent="0">
              <a:buNone/>
            </a:pPr>
            <a:r>
              <a:rPr lang="fr" sz="1404" b="1" noProof="0">
                <a:solidFill>
                  <a:srgbClr val="0E2E5C"/>
                </a:solidFill>
                <a:latin typeface="Calibri" pitchFamily="34" charset="0"/>
                <a:ea typeface="Calibri" pitchFamily="34" charset="-122"/>
                <a:cs typeface="Calibri" pitchFamily="34" charset="-120"/>
              </a:rPr>
              <a:t>Les symptômes intestinaux sont difficiles à aborder</a:t>
            </a:r>
            <a:endParaRPr lang="en-US" sz="1404" noProof="0" dirty="0"/>
          </a:p>
        </p:txBody>
      </p:sp>
      <p:sp>
        <p:nvSpPr>
          <p:cNvPr id="10" name="Text 8"/>
          <p:cNvSpPr/>
          <p:nvPr/>
        </p:nvSpPr>
        <p:spPr>
          <a:xfrm>
            <a:off x="4502810" y="2067454"/>
            <a:ext cx="3186074" cy="1137514"/>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Beaucoup de gens retardent parce que le sujet est embarrassant. Demandez directement, calmement et en privé.</a:t>
            </a:r>
            <a:endParaRPr lang="en-US" sz="1800" noProof="0" dirty="0"/>
          </a:p>
        </p:txBody>
      </p:sp>
      <p:sp>
        <p:nvSpPr>
          <p:cNvPr id="11" name="Shape 9"/>
          <p:cNvSpPr/>
          <p:nvPr/>
        </p:nvSpPr>
        <p:spPr>
          <a:xfrm>
            <a:off x="8091221" y="1257295"/>
            <a:ext cx="3551834" cy="2366592"/>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403600"/>
            <a:ext cx="3186074" cy="359359"/>
          </a:xfrm>
          <a:prstGeom prst="rect">
            <a:avLst/>
          </a:prstGeom>
          <a:noFill/>
          <a:ln/>
        </p:spPr>
        <p:txBody>
          <a:bodyPr wrap="square" lIns="0" tIns="0" rIns="0" bIns="0" rtlCol="0" anchor="t">
            <a:noAutofit/>
          </a:bodyPr>
          <a:lstStyle/>
          <a:p>
            <a:pPr marL="0" indent="0">
              <a:buNone/>
            </a:pPr>
            <a:r>
              <a:rPr lang="fr" sz="1404" b="1" noProof="0">
                <a:solidFill>
                  <a:srgbClr val="0E2E5C"/>
                </a:solidFill>
                <a:latin typeface="Calibri" pitchFamily="34" charset="0"/>
                <a:ea typeface="Calibri" pitchFamily="34" charset="-122"/>
                <a:cs typeface="Calibri" pitchFamily="34" charset="-120"/>
              </a:rPr>
              <a:t>C'est probablement juste </a:t>
            </a:r>
            <a:r>
              <a:rPr lang="fr" sz="1404" b="1" err="1">
                <a:solidFill>
                  <a:srgbClr val="0E2E5C"/>
                </a:solidFill>
                <a:latin typeface="Calibri" pitchFamily="34" charset="0"/>
                <a:ea typeface="Calibri" pitchFamily="34" charset="-122"/>
                <a:cs typeface="Calibri" pitchFamily="34" charset="-120"/>
              </a:rPr>
              <a:t>des hémorroïdes</a:t>
            </a:r>
            <a:endParaRPr lang="en-US" sz="1404" noProof="0" dirty="0"/>
          </a:p>
        </p:txBody>
      </p:sp>
      <p:sp>
        <p:nvSpPr>
          <p:cNvPr id="13" name="Text 11"/>
          <p:cNvSpPr/>
          <p:nvPr/>
        </p:nvSpPr>
        <p:spPr>
          <a:xfrm>
            <a:off x="8274101" y="1762959"/>
            <a:ext cx="3186074" cy="1442009"/>
          </a:xfrm>
          <a:prstGeom prst="rect">
            <a:avLst/>
          </a:prstGeom>
          <a:noFill/>
          <a:ln/>
        </p:spPr>
        <p:txBody>
          <a:bodyPr wrap="square" lIns="0" tIns="0" rIns="0" bIns="0" rtlCol="0" anchor="t"/>
          <a:lstStyle/>
          <a:p>
            <a:pPr>
              <a:lnSpc>
                <a:spcPct val="105000"/>
              </a:lnSpc>
            </a:pPr>
            <a:r>
              <a:rPr lang="fr">
                <a:solidFill>
                  <a:srgbClr val="17325E"/>
                </a:solidFill>
                <a:latin typeface="Calibri" pitchFamily="34" charset="0"/>
                <a:ea typeface="Calibri" pitchFamily="34" charset="-122"/>
                <a:cs typeface="Calibri" pitchFamily="34" charset="-120"/>
              </a:rPr>
              <a:t>Les saignements rectaux sont souvent des hémorroïdes, mais l'intestin doit être examiné pour exclure un cancer colorectal.</a:t>
            </a:r>
          </a:p>
        </p:txBody>
      </p:sp>
      <p:sp>
        <p:nvSpPr>
          <p:cNvPr id="14" name="Shape 12"/>
          <p:cNvSpPr/>
          <p:nvPr/>
        </p:nvSpPr>
        <p:spPr>
          <a:xfrm>
            <a:off x="548640" y="3748471"/>
            <a:ext cx="3551834" cy="2509457"/>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31520" y="3894776"/>
            <a:ext cx="3186074" cy="359359"/>
          </a:xfrm>
          <a:prstGeom prst="rect">
            <a:avLst/>
          </a:prstGeom>
          <a:noFill/>
          <a:ln/>
        </p:spPr>
        <p:txBody>
          <a:bodyPr wrap="square" lIns="0" tIns="0" rIns="0" bIns="0" rtlCol="0" anchor="t">
            <a:noAutofit/>
          </a:bodyPr>
          <a:lstStyle/>
          <a:p>
            <a:pPr marL="0" indent="0">
              <a:buNone/>
            </a:pPr>
            <a:r>
              <a:rPr lang="fr" sz="1404" b="1" noProof="0">
                <a:solidFill>
                  <a:srgbClr val="0E2E5C"/>
                </a:solidFill>
                <a:latin typeface="Calibri" pitchFamily="34" charset="0"/>
                <a:ea typeface="Calibri" pitchFamily="34" charset="-122"/>
                <a:cs typeface="Calibri" pitchFamily="34" charset="-120"/>
              </a:rPr>
              <a:t>Préparation de la coloscopie</a:t>
            </a:r>
            <a:endParaRPr lang="en-US" sz="1404" noProof="0" dirty="0"/>
          </a:p>
        </p:txBody>
      </p:sp>
      <p:sp>
        <p:nvSpPr>
          <p:cNvPr id="16" name="Text 14"/>
          <p:cNvSpPr/>
          <p:nvPr/>
        </p:nvSpPr>
        <p:spPr>
          <a:xfrm>
            <a:off x="731520" y="4254135"/>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Une préparation est nécessaire ; l'établissement qui réalise l'examen donne les consignes. La coloscopie se fait sous sédation.</a:t>
            </a:r>
            <a:endParaRPr lang="en-US" sz="1800" noProof="0" dirty="0"/>
          </a:p>
        </p:txBody>
      </p:sp>
      <p:sp>
        <p:nvSpPr>
          <p:cNvPr id="17" name="Shape 15"/>
          <p:cNvSpPr/>
          <p:nvPr/>
        </p:nvSpPr>
        <p:spPr>
          <a:xfrm>
            <a:off x="4319930" y="3748471"/>
            <a:ext cx="3551834" cy="2509457"/>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4502810" y="3894776"/>
            <a:ext cx="3186074" cy="359359"/>
          </a:xfrm>
          <a:prstGeom prst="rect">
            <a:avLst/>
          </a:prstGeom>
          <a:noFill/>
          <a:ln/>
        </p:spPr>
        <p:txBody>
          <a:bodyPr wrap="square" lIns="0" tIns="0" rIns="0" bIns="0" rtlCol="0" anchor="t">
            <a:noAutofit/>
          </a:bodyPr>
          <a:lstStyle/>
          <a:p>
            <a:pPr marL="0" indent="0">
              <a:buNone/>
            </a:pPr>
            <a:r>
              <a:rPr lang="fr" sz="1404" b="1" noProof="0">
                <a:solidFill>
                  <a:srgbClr val="0E2E5C"/>
                </a:solidFill>
                <a:latin typeface="Calibri" pitchFamily="34" charset="0"/>
                <a:ea typeface="Calibri" pitchFamily="34" charset="-122"/>
                <a:cs typeface="Calibri" pitchFamily="34" charset="-120"/>
              </a:rPr>
              <a:t>Biopsie et ablation des polypes</a:t>
            </a:r>
            <a:endParaRPr lang="en-US" sz="1404" noProof="0" dirty="0"/>
          </a:p>
        </p:txBody>
      </p:sp>
      <p:sp>
        <p:nvSpPr>
          <p:cNvPr id="19" name="Text 17"/>
          <p:cNvSpPr/>
          <p:nvPr/>
        </p:nvSpPr>
        <p:spPr>
          <a:xfrm>
            <a:off x="4502810" y="4254135"/>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Expliquez qu'un petit morceau de tissu, ou un polype entier, peut être prélevé et examiné, et que c'est ainsi qu'on obtient une réponse.</a:t>
            </a:r>
            <a:endParaRPr lang="en-US" sz="1800" noProof="0" dirty="0"/>
          </a:p>
        </p:txBody>
      </p:sp>
      <p:sp>
        <p:nvSpPr>
          <p:cNvPr id="20" name="Shape 18"/>
          <p:cNvSpPr/>
          <p:nvPr/>
        </p:nvSpPr>
        <p:spPr>
          <a:xfrm>
            <a:off x="8091221" y="3748471"/>
            <a:ext cx="3551834" cy="2509457"/>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8274101" y="3894776"/>
            <a:ext cx="3186074" cy="359359"/>
          </a:xfrm>
          <a:prstGeom prst="rect">
            <a:avLst/>
          </a:prstGeom>
          <a:noFill/>
          <a:ln/>
        </p:spPr>
        <p:txBody>
          <a:bodyPr wrap="square" lIns="0" tIns="0" rIns="0" bIns="0" rtlCol="0" anchor="t">
            <a:noAutofit/>
          </a:bodyPr>
          <a:lstStyle/>
          <a:p>
            <a:pPr marL="0" indent="0">
              <a:buNone/>
            </a:pPr>
            <a:r>
              <a:rPr lang="fr" sz="1404" b="1" noProof="0">
                <a:solidFill>
                  <a:srgbClr val="0E2E5C"/>
                </a:solidFill>
                <a:latin typeface="Calibri" pitchFamily="34" charset="0"/>
                <a:ea typeface="Calibri" pitchFamily="34" charset="-122"/>
                <a:cs typeface="Calibri" pitchFamily="34" charset="-120"/>
              </a:rPr>
              <a:t>Peur du cancer</a:t>
            </a:r>
            <a:endParaRPr lang="en-US" sz="1404" noProof="0" dirty="0"/>
          </a:p>
        </p:txBody>
      </p:sp>
      <p:sp>
        <p:nvSpPr>
          <p:cNvPr id="22" name="Text 20"/>
          <p:cNvSpPr/>
          <p:nvPr/>
        </p:nvSpPr>
        <p:spPr>
          <a:xfrm>
            <a:off x="8274101" y="4254135"/>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Ne pas utiliser de langage effrayant, et ne pas offrir de fausses assurances. Les deux empêchent les gens de revenir.</a:t>
            </a:r>
            <a:endParaRPr lang="en-US" sz="1800" noProof="0" dirty="0"/>
          </a:p>
        </p:txBody>
      </p:sp>
      <p:pic>
        <p:nvPicPr>
          <p:cNvPr id="23" name="Imagen 22">
            <a:extLst>
              <a:ext uri="{FF2B5EF4-FFF2-40B4-BE49-F238E27FC236}">
                <a16:creationId xmlns:a16="http://schemas.microsoft.com/office/drawing/2014/main" id="{EF674386-2138-A2CA-C8AE-DADED08761FB}"/>
              </a:ext>
            </a:extLst>
          </p:cNvPr>
          <p:cNvPicPr>
            <a:picLocks noChangeAspect="1"/>
          </p:cNvPicPr>
          <p:nvPr/>
        </p:nvPicPr>
        <p:blipFill>
          <a:blip r:embed="rId3"/>
          <a:srcRect/>
          <a:stretch>
            <a:fillRect/>
          </a:stretch>
        </p:blipFill>
        <p:spPr>
          <a:xfrm>
            <a:off x="2801228" y="2820084"/>
            <a:ext cx="1116365" cy="744243"/>
          </a:xfrm>
          <a:prstGeom prst="rect">
            <a:avLst/>
          </a:prstGeom>
        </p:spPr>
      </p:pic>
      <p:pic>
        <p:nvPicPr>
          <p:cNvPr id="24" name="Imagen 23">
            <a:extLst>
              <a:ext uri="{FF2B5EF4-FFF2-40B4-BE49-F238E27FC236}">
                <a16:creationId xmlns:a16="http://schemas.microsoft.com/office/drawing/2014/main" id="{D29CB967-F060-3A84-4414-7479BD035797}"/>
              </a:ext>
            </a:extLst>
          </p:cNvPr>
          <p:cNvPicPr>
            <a:picLocks noChangeAspect="1"/>
          </p:cNvPicPr>
          <p:nvPr/>
        </p:nvPicPr>
        <p:blipFill>
          <a:blip r:embed="rId4"/>
          <a:srcRect b="10912"/>
          <a:stretch>
            <a:fillRect/>
          </a:stretch>
        </p:blipFill>
        <p:spPr>
          <a:xfrm>
            <a:off x="6577834" y="2900196"/>
            <a:ext cx="1111049" cy="659877"/>
          </a:xfrm>
          <a:prstGeom prst="rect">
            <a:avLst/>
          </a:prstGeom>
        </p:spPr>
      </p:pic>
      <p:pic>
        <p:nvPicPr>
          <p:cNvPr id="25" name="Imagen 24">
            <a:extLst>
              <a:ext uri="{FF2B5EF4-FFF2-40B4-BE49-F238E27FC236}">
                <a16:creationId xmlns:a16="http://schemas.microsoft.com/office/drawing/2014/main" id="{CBB5E309-80FE-EEE7-C2D4-3B99F858D946}"/>
              </a:ext>
            </a:extLst>
          </p:cNvPr>
          <p:cNvPicPr>
            <a:picLocks noChangeAspect="1"/>
          </p:cNvPicPr>
          <p:nvPr/>
        </p:nvPicPr>
        <p:blipFill>
          <a:blip r:embed="rId5"/>
          <a:srcRect/>
          <a:stretch>
            <a:fillRect/>
          </a:stretch>
        </p:blipFill>
        <p:spPr>
          <a:xfrm>
            <a:off x="10470359" y="2900196"/>
            <a:ext cx="989816" cy="659877"/>
          </a:xfrm>
          <a:prstGeom prst="rect">
            <a:avLst/>
          </a:prstGeom>
        </p:spPr>
      </p:pic>
      <p:pic>
        <p:nvPicPr>
          <p:cNvPr id="26" name="Imagen 25">
            <a:extLst>
              <a:ext uri="{FF2B5EF4-FFF2-40B4-BE49-F238E27FC236}">
                <a16:creationId xmlns:a16="http://schemas.microsoft.com/office/drawing/2014/main" id="{EEDC6FC8-35AE-4EC5-CE3A-66D263E24A5D}"/>
              </a:ext>
            </a:extLst>
          </p:cNvPr>
          <p:cNvPicPr>
            <a:picLocks noChangeAspect="1"/>
          </p:cNvPicPr>
          <p:nvPr/>
        </p:nvPicPr>
        <p:blipFill>
          <a:blip r:embed="rId6"/>
          <a:srcRect/>
          <a:stretch>
            <a:fillRect/>
          </a:stretch>
        </p:blipFill>
        <p:spPr>
          <a:xfrm>
            <a:off x="2801228" y="5386306"/>
            <a:ext cx="1205292" cy="803528"/>
          </a:xfrm>
          <a:prstGeom prst="rect">
            <a:avLst/>
          </a:prstGeom>
        </p:spPr>
      </p:pic>
      <p:pic>
        <p:nvPicPr>
          <p:cNvPr id="27" name="Imagen 26">
            <a:extLst>
              <a:ext uri="{FF2B5EF4-FFF2-40B4-BE49-F238E27FC236}">
                <a16:creationId xmlns:a16="http://schemas.microsoft.com/office/drawing/2014/main" id="{40DB5036-4DBA-3775-4E7D-2E3EBE371EFE}"/>
              </a:ext>
            </a:extLst>
          </p:cNvPr>
          <p:cNvPicPr>
            <a:picLocks noChangeAspect="1"/>
          </p:cNvPicPr>
          <p:nvPr/>
        </p:nvPicPr>
        <p:blipFill>
          <a:blip r:embed="rId7"/>
          <a:srcRect/>
          <a:stretch>
            <a:fillRect/>
          </a:stretch>
        </p:blipFill>
        <p:spPr>
          <a:xfrm>
            <a:off x="6340753" y="5237864"/>
            <a:ext cx="1429775" cy="953183"/>
          </a:xfrm>
          <a:prstGeom prst="rect">
            <a:avLst/>
          </a:prstGeom>
        </p:spPr>
      </p:pic>
      <p:pic>
        <p:nvPicPr>
          <p:cNvPr id="28" name="Imagen 27">
            <a:extLst>
              <a:ext uri="{FF2B5EF4-FFF2-40B4-BE49-F238E27FC236}">
                <a16:creationId xmlns:a16="http://schemas.microsoft.com/office/drawing/2014/main" id="{24D634C7-C375-ACDB-511E-238AFC24E7CB}"/>
              </a:ext>
            </a:extLst>
          </p:cNvPr>
          <p:cNvPicPr>
            <a:picLocks noChangeAspect="1"/>
          </p:cNvPicPr>
          <p:nvPr/>
        </p:nvPicPr>
        <p:blipFill>
          <a:blip r:embed="rId8"/>
          <a:srcRect/>
          <a:stretch>
            <a:fillRect/>
          </a:stretch>
        </p:blipFill>
        <p:spPr>
          <a:xfrm>
            <a:off x="10346323" y="5356672"/>
            <a:ext cx="1205292" cy="803528"/>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Soutien psychologique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pic>
        <p:nvPicPr>
          <p:cNvPr id="5" name="Imagen 4">
            <a:extLst>
              <a:ext uri="{FF2B5EF4-FFF2-40B4-BE49-F238E27FC236}">
                <a16:creationId xmlns:a16="http://schemas.microsoft.com/office/drawing/2014/main" id="{E2C34F19-2635-B2D7-7B61-DEDFE6A8F972}"/>
              </a:ext>
            </a:extLst>
          </p:cNvPr>
          <p:cNvPicPr>
            <a:picLocks noChangeAspect="1"/>
          </p:cNvPicPr>
          <p:nvPr/>
        </p:nvPicPr>
        <p:blipFill>
          <a:blip r:embed="rId3"/>
          <a:stretch>
            <a:fillRect/>
          </a:stretch>
        </p:blipFill>
        <p:spPr>
          <a:xfrm>
            <a:off x="1790700" y="1115813"/>
            <a:ext cx="8420100" cy="5314587"/>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normAutofit fontScale="93000"/>
          </a:bodyPr>
          <a:lstStyle/>
          <a:p>
            <a:r>
              <a:rPr lang="fr" sz="3200" b="1" noProof="0" dirty="0">
                <a:solidFill>
                  <a:srgbClr val="0E2E5C"/>
                </a:solidFill>
                <a:latin typeface="Cambria" pitchFamily="34" charset="0"/>
                <a:ea typeface="Cambria" pitchFamily="34" charset="-122"/>
                <a:cs typeface="Cambria" pitchFamily="34" charset="-120"/>
              </a:rPr>
              <a:t>L'histoire d'Emmanuel continue</a:t>
            </a:r>
            <a:endParaRPr lang="en-US" sz="32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200" b="1" noProof="0">
                <a:solidFill>
                  <a:srgbClr val="0E2E5C"/>
                </a:solidFill>
                <a:latin typeface="Cambria" pitchFamily="34" charset="0"/>
                <a:ea typeface="Cambria" pitchFamily="34" charset="-122"/>
                <a:cs typeface="Cambria" pitchFamily="34" charset="-120"/>
              </a:rPr>
              <a:t>Appliquez-le</a:t>
            </a:r>
            <a:endParaRPr lang="en-US" sz="32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11094415" cy="868680"/>
          </a:xfrm>
          <a:prstGeom prst="roundRect">
            <a:avLst>
              <a:gd name="adj" fmla="val 10526"/>
            </a:avLst>
          </a:prstGeom>
          <a:solidFill>
            <a:srgbClr val="FFF7E3"/>
          </a:solidFill>
          <a:ln w="15875">
            <a:solidFill>
              <a:srgbClr val="E3C173"/>
            </a:solidFill>
            <a:prstDash val="solid"/>
          </a:ln>
        </p:spPr>
        <p:txBody>
          <a:bodyPr/>
          <a:lstStyle/>
          <a:p>
            <a:endParaRPr lang="en-US" noProof="0" dirty="0"/>
          </a:p>
        </p:txBody>
      </p:sp>
      <p:sp>
        <p:nvSpPr>
          <p:cNvPr id="6" name="Text 4"/>
          <p:cNvSpPr/>
          <p:nvPr/>
        </p:nvSpPr>
        <p:spPr>
          <a:xfrm>
            <a:off x="731520" y="1426464"/>
            <a:ext cx="10728655" cy="758952"/>
          </a:xfrm>
          <a:prstGeom prst="rect">
            <a:avLst/>
          </a:prstGeom>
          <a:noFill/>
          <a:ln/>
        </p:spPr>
        <p:txBody>
          <a:bodyPr wrap="square" rtlCol="0" anchor="ctr"/>
          <a:lstStyle/>
          <a:p>
            <a:pPr marL="0" indent="0">
              <a:buNone/>
            </a:pPr>
            <a:r>
              <a:rPr lang="fr" sz="1800" b="1" noProof="0">
                <a:solidFill>
                  <a:srgbClr val="9A5B00"/>
                </a:solidFill>
                <a:latin typeface="Calibri" pitchFamily="34" charset="0"/>
                <a:ea typeface="Calibri" pitchFamily="34" charset="-122"/>
                <a:cs typeface="Calibri" pitchFamily="34" charset="-120"/>
              </a:rPr>
              <a:t>Emmanuel dans le scénario   </a:t>
            </a:r>
            <a:r>
              <a:rPr lang="fr" sz="1800" noProof="0">
                <a:solidFill>
                  <a:srgbClr val="17325E"/>
                </a:solidFill>
                <a:latin typeface="Calibri" pitchFamily="34" charset="0"/>
                <a:ea typeface="Calibri" pitchFamily="34" charset="-122"/>
                <a:cs typeface="Calibri" pitchFamily="34" charset="-120"/>
              </a:rPr>
              <a:t>dit que si c'est un cancer, rien ne pourra être fait de toute façon, donc il n'y a guère d'intérêt à faire le voyage.</a:t>
            </a:r>
            <a:endParaRPr lang="en-US" sz="1800" noProof="0" dirty="0"/>
          </a:p>
        </p:txBody>
      </p:sp>
      <p:sp>
        <p:nvSpPr>
          <p:cNvPr id="7" name="Text 5"/>
          <p:cNvSpPr/>
          <p:nvPr/>
        </p:nvSpPr>
        <p:spPr>
          <a:xfrm>
            <a:off x="548640" y="2468880"/>
            <a:ext cx="7772400" cy="365760"/>
          </a:xfrm>
          <a:prstGeom prst="rect">
            <a:avLst/>
          </a:prstGeom>
          <a:noFill/>
          <a:ln/>
        </p:spPr>
        <p:txBody>
          <a:bodyPr wrap="square" lIns="0" tIns="0" rIns="0" bIns="0" rtlCol="0" anchor="ctr"/>
          <a:lstStyle/>
          <a:p>
            <a:pPr marL="0" indent="0">
              <a:buNone/>
            </a:pPr>
            <a:r>
              <a:rPr lang="fr" sz="2000" b="1" noProof="0">
                <a:solidFill>
                  <a:srgbClr val="0E2E5C"/>
                </a:solidFill>
                <a:latin typeface="Calibri" pitchFamily="34" charset="0"/>
                <a:ea typeface="Calibri" pitchFamily="34" charset="-122"/>
                <a:cs typeface="Calibri" pitchFamily="34" charset="-120"/>
              </a:rPr>
              <a:t>Quelle est la réponse la plus utile ?</a:t>
            </a:r>
            <a:endParaRPr lang="en-US" sz="2000" noProof="0" dirty="0"/>
          </a:p>
        </p:txBody>
      </p:sp>
      <p:sp>
        <p:nvSpPr>
          <p:cNvPr id="8" name="Shape 6"/>
          <p:cNvSpPr/>
          <p:nvPr/>
        </p:nvSpPr>
        <p:spPr>
          <a:xfrm>
            <a:off x="548640" y="2926080"/>
            <a:ext cx="7772400" cy="566928"/>
          </a:xfrm>
          <a:prstGeom prst="roundRect">
            <a:avLst>
              <a:gd name="adj" fmla="val 1290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713232" y="2926080"/>
            <a:ext cx="7461504" cy="566928"/>
          </a:xfrm>
          <a:prstGeom prst="rect">
            <a:avLst/>
          </a:prstGeom>
          <a:noFill/>
          <a:ln/>
        </p:spPr>
        <p:txBody>
          <a:bodyPr wrap="square" lIns="0" tIns="0" rIns="0" bIns="0" rtlCol="0" anchor="ctr">
            <a:noAutofit/>
          </a:bodyPr>
          <a:lstStyle/>
          <a:p>
            <a:pPr marL="0" indent="0">
              <a:buNone/>
            </a:pPr>
            <a:r>
              <a:rPr lang="fr" sz="1530" b="1" noProof="0">
                <a:solidFill>
                  <a:srgbClr val="1F4E96"/>
                </a:solidFill>
                <a:latin typeface="Calibri" pitchFamily="34" charset="0"/>
                <a:ea typeface="Calibri" pitchFamily="34" charset="-122"/>
                <a:cs typeface="Calibri" pitchFamily="34" charset="-120"/>
              </a:rPr>
              <a:t>A   </a:t>
            </a:r>
            <a:r>
              <a:rPr lang="fr" sz="1530" noProof="0">
                <a:solidFill>
                  <a:srgbClr val="17325E"/>
                </a:solidFill>
                <a:latin typeface="Calibri" pitchFamily="34" charset="0"/>
                <a:ea typeface="Calibri" pitchFamily="34" charset="-122"/>
                <a:cs typeface="Calibri" pitchFamily="34" charset="-120"/>
              </a:rPr>
              <a:t>Reconnaître que peu de choses peuvent être faites, mais lui suggérer d’y aller quand même</a:t>
            </a:r>
            <a:endParaRPr lang="en-US" sz="1530" noProof="0" dirty="0"/>
          </a:p>
        </p:txBody>
      </p:sp>
      <p:sp>
        <p:nvSpPr>
          <p:cNvPr id="10" name="Shape 8"/>
          <p:cNvSpPr/>
          <p:nvPr/>
        </p:nvSpPr>
        <p:spPr>
          <a:xfrm>
            <a:off x="548640" y="3584448"/>
            <a:ext cx="7772400" cy="566928"/>
          </a:xfrm>
          <a:prstGeom prst="roundRect">
            <a:avLst>
              <a:gd name="adj" fmla="val 12903"/>
            </a:avLst>
          </a:prstGeom>
          <a:solidFill>
            <a:srgbClr val="F3F7FC"/>
          </a:solidFill>
          <a:ln w="15875">
            <a:solidFill>
              <a:srgbClr val="9BCBB4"/>
            </a:solidFill>
            <a:prstDash val="solid"/>
          </a:ln>
        </p:spPr>
        <p:txBody>
          <a:bodyPr/>
          <a:lstStyle/>
          <a:p>
            <a:endParaRPr lang="en-US" noProof="0" dirty="0"/>
          </a:p>
        </p:txBody>
      </p:sp>
      <p:sp>
        <p:nvSpPr>
          <p:cNvPr id="11" name="Text 9"/>
          <p:cNvSpPr/>
          <p:nvPr/>
        </p:nvSpPr>
        <p:spPr>
          <a:xfrm>
            <a:off x="713232" y="3584448"/>
            <a:ext cx="7461504" cy="566928"/>
          </a:xfrm>
          <a:prstGeom prst="rect">
            <a:avLst/>
          </a:prstGeom>
          <a:noFill/>
          <a:ln/>
        </p:spPr>
        <p:txBody>
          <a:bodyPr wrap="square" lIns="0" tIns="0" rIns="0" bIns="0" rtlCol="0" anchor="ctr">
            <a:noAutofit/>
          </a:bodyPr>
          <a:lstStyle/>
          <a:p>
            <a:pPr marL="0" indent="0">
              <a:buNone/>
            </a:pPr>
            <a:r>
              <a:rPr lang="fr" sz="1530" b="1" noProof="0">
                <a:solidFill>
                  <a:srgbClr val="1F4E96"/>
                </a:solidFill>
                <a:latin typeface="Calibri" pitchFamily="34" charset="0"/>
                <a:ea typeface="Calibri" pitchFamily="34" charset="-122"/>
                <a:cs typeface="Calibri" pitchFamily="34" charset="-120"/>
              </a:rPr>
              <a:t>B   </a:t>
            </a:r>
            <a:r>
              <a:rPr lang="fr" sz="1530" noProof="0">
                <a:solidFill>
                  <a:srgbClr val="17325E"/>
                </a:solidFill>
                <a:latin typeface="Calibri" pitchFamily="34" charset="0"/>
                <a:ea typeface="Calibri" pitchFamily="34" charset="-122"/>
                <a:cs typeface="Calibri" pitchFamily="34" charset="-120"/>
              </a:rPr>
              <a:t>Dis-lui de ne pas s'inquiéter, ce n'est probablement rien</a:t>
            </a:r>
            <a:endParaRPr lang="en-US" sz="1530" noProof="0" dirty="0"/>
          </a:p>
        </p:txBody>
      </p:sp>
      <p:sp>
        <p:nvSpPr>
          <p:cNvPr id="12" name="Shape 10"/>
          <p:cNvSpPr/>
          <p:nvPr/>
        </p:nvSpPr>
        <p:spPr>
          <a:xfrm>
            <a:off x="548640" y="4242816"/>
            <a:ext cx="7772400" cy="566928"/>
          </a:xfrm>
          <a:prstGeom prst="roundRect">
            <a:avLst>
              <a:gd name="adj" fmla="val 1290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713232" y="4242816"/>
            <a:ext cx="7461504" cy="566928"/>
          </a:xfrm>
          <a:prstGeom prst="rect">
            <a:avLst/>
          </a:prstGeom>
          <a:noFill/>
          <a:ln/>
        </p:spPr>
        <p:txBody>
          <a:bodyPr wrap="square" lIns="0" tIns="0" rIns="0" bIns="0" rtlCol="0" anchor="ctr">
            <a:noAutofit/>
          </a:bodyPr>
          <a:lstStyle/>
          <a:p>
            <a:pPr marL="0" indent="0">
              <a:buNone/>
            </a:pPr>
            <a:r>
              <a:rPr lang="fr" sz="1530" b="1" noProof="0">
                <a:solidFill>
                  <a:srgbClr val="1F4E96"/>
                </a:solidFill>
                <a:latin typeface="Calibri" pitchFamily="34" charset="0"/>
                <a:ea typeface="Calibri" pitchFamily="34" charset="-122"/>
                <a:cs typeface="Calibri" pitchFamily="34" charset="-120"/>
              </a:rPr>
              <a:t>C   </a:t>
            </a:r>
            <a:r>
              <a:rPr lang="fr" sz="1530" noProof="0">
                <a:solidFill>
                  <a:srgbClr val="17325E"/>
                </a:solidFill>
                <a:latin typeface="Calibri" pitchFamily="34" charset="0"/>
                <a:ea typeface="Calibri" pitchFamily="34" charset="-122"/>
                <a:cs typeface="Calibri" pitchFamily="34" charset="-120"/>
              </a:rPr>
              <a:t>Lui remettez la lettre de recommandation et mettez fin à la consultation</a:t>
            </a:r>
            <a:endParaRPr lang="en-US" sz="1530" noProof="0" dirty="0"/>
          </a:p>
        </p:txBody>
      </p:sp>
      <p:sp>
        <p:nvSpPr>
          <p:cNvPr id="14" name="Shape 12"/>
          <p:cNvSpPr/>
          <p:nvPr/>
        </p:nvSpPr>
        <p:spPr>
          <a:xfrm>
            <a:off x="548640" y="4901184"/>
            <a:ext cx="7772400" cy="566928"/>
          </a:xfrm>
          <a:prstGeom prst="roundRect">
            <a:avLst>
              <a:gd name="adj" fmla="val 12903"/>
            </a:avLst>
          </a:prstGeom>
          <a:solidFill>
            <a:srgbClr val="EAF6F0"/>
          </a:solidFill>
          <a:ln w="15875">
            <a:solidFill>
              <a:srgbClr val="C9DCF2"/>
            </a:solidFill>
            <a:prstDash val="solid"/>
          </a:ln>
        </p:spPr>
        <p:txBody>
          <a:bodyPr/>
          <a:lstStyle/>
          <a:p>
            <a:endParaRPr lang="en-US" noProof="0" dirty="0"/>
          </a:p>
        </p:txBody>
      </p:sp>
      <p:sp>
        <p:nvSpPr>
          <p:cNvPr id="15" name="Text 13"/>
          <p:cNvSpPr/>
          <p:nvPr/>
        </p:nvSpPr>
        <p:spPr>
          <a:xfrm>
            <a:off x="713232" y="4901184"/>
            <a:ext cx="7461504" cy="566928"/>
          </a:xfrm>
          <a:prstGeom prst="rect">
            <a:avLst/>
          </a:prstGeom>
          <a:noFill/>
          <a:ln/>
        </p:spPr>
        <p:txBody>
          <a:bodyPr wrap="square" lIns="0" tIns="0" rIns="0" bIns="0" rtlCol="0" anchor="ctr">
            <a:noAutofit/>
          </a:bodyPr>
          <a:lstStyle/>
          <a:p>
            <a:pPr marL="0" indent="0">
              <a:buNone/>
            </a:pPr>
            <a:r>
              <a:rPr lang="fr" sz="1530" b="1" noProof="0">
                <a:solidFill>
                  <a:srgbClr val="126647"/>
                </a:solidFill>
                <a:latin typeface="Calibri" pitchFamily="34" charset="0"/>
                <a:ea typeface="Calibri" pitchFamily="34" charset="-122"/>
                <a:cs typeface="Calibri" pitchFamily="34" charset="-120"/>
              </a:rPr>
              <a:t>D   Reconnaître sa peur, expliquer que l'évaluation guide ce qui peut être fait et que le traitement existe, et travailler avec lui sur les obstacles pratiques   ✓</a:t>
            </a:r>
            <a:endParaRPr lang="en-US" sz="1530" noProof="0" dirty="0"/>
          </a:p>
        </p:txBody>
      </p:sp>
      <p:sp>
        <p:nvSpPr>
          <p:cNvPr id="16" name="Shape 14"/>
          <p:cNvSpPr/>
          <p:nvPr/>
        </p:nvSpPr>
        <p:spPr>
          <a:xfrm>
            <a:off x="8595360" y="2926080"/>
            <a:ext cx="3047695" cy="2834640"/>
          </a:xfrm>
          <a:prstGeom prst="roundRect">
            <a:avLst>
              <a:gd name="adj" fmla="val 3226"/>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8759952" y="3072384"/>
            <a:ext cx="2718511" cy="365760"/>
          </a:xfrm>
          <a:prstGeom prst="rect">
            <a:avLst/>
          </a:prstGeom>
          <a:noFill/>
          <a:ln/>
        </p:spPr>
        <p:txBody>
          <a:bodyPr wrap="square" lIns="0" tIns="0" rIns="0" bIns="0" rtlCol="0" anchor="ctr"/>
          <a:lstStyle/>
          <a:p>
            <a:pPr marL="0" indent="0">
              <a:buNone/>
            </a:pPr>
            <a:r>
              <a:rPr lang="fr" sz="1800" b="1" noProof="0">
                <a:solidFill>
                  <a:srgbClr val="126647"/>
                </a:solidFill>
                <a:latin typeface="Calibri" pitchFamily="34" charset="0"/>
                <a:ea typeface="Calibri" pitchFamily="34" charset="-122"/>
                <a:cs typeface="Calibri" pitchFamily="34" charset="-120"/>
              </a:rPr>
              <a:t>Bonne réponse : D</a:t>
            </a:r>
            <a:endParaRPr lang="en-US" sz="1800" noProof="0" dirty="0"/>
          </a:p>
        </p:txBody>
      </p:sp>
      <p:sp>
        <p:nvSpPr>
          <p:cNvPr id="18" name="Text 16"/>
          <p:cNvSpPr/>
          <p:nvPr/>
        </p:nvSpPr>
        <p:spPr>
          <a:xfrm>
            <a:off x="8759952" y="3511296"/>
            <a:ext cx="2718511" cy="2121408"/>
          </a:xfrm>
          <a:prstGeom prst="rect">
            <a:avLst/>
          </a:prstGeom>
          <a:noFill/>
          <a:ln/>
        </p:spPr>
        <p:txBody>
          <a:bodyPr wrap="square" lIns="0" tIns="0" rIns="0" bIns="0" rtlCol="0" anchor="t">
            <a:noAutofit/>
          </a:bodyPr>
          <a:lstStyle/>
          <a:p>
            <a:pPr marL="0" indent="0">
              <a:buNone/>
            </a:pPr>
            <a:r>
              <a:rPr lang="fr" sz="1350" noProof="0">
                <a:solidFill>
                  <a:srgbClr val="17325E"/>
                </a:solidFill>
                <a:latin typeface="Calibri" pitchFamily="34" charset="0"/>
                <a:ea typeface="Calibri" pitchFamily="34" charset="-122"/>
                <a:cs typeface="Calibri" pitchFamily="34" charset="-120"/>
              </a:rPr>
              <a:t>Reconnaître d'abord l'émotion, puis corriger doucement l'idée fausse. Le cancer colorectal est traitable, et les résultats dépendent fortement du stade auquel le cancer est détecté. Ensuite, il faut s'occuper des obstacles pratiques, du transport, du coût et du temps loin du travail, car ce sont eux qui décident réellement s'il se rend effectivement au rendez-vous.</a:t>
            </a:r>
            <a:endParaRPr lang="en-US" sz="1350" noProof="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(1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 Un test anormal des selles doit être expliqué au patient comme suit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305" b="1" noProof="0">
                <a:solidFill>
                  <a:srgbClr val="126647"/>
                </a:solidFill>
                <a:latin typeface="Calibri" pitchFamily="34" charset="0"/>
                <a:ea typeface="Calibri" pitchFamily="34" charset="-122"/>
                <a:cs typeface="Calibri" pitchFamily="34" charset="-120"/>
              </a:rPr>
              <a:t>A. Un signal indiquant que l'intestin doit être examiné</a:t>
            </a:r>
            <a:endParaRPr lang="en-US" sz="130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305" b="1" noProof="0">
                <a:solidFill>
                  <a:srgbClr val="1F4E96"/>
                </a:solidFill>
                <a:latin typeface="Calibri" pitchFamily="34" charset="0"/>
                <a:ea typeface="Calibri" pitchFamily="34" charset="-122"/>
                <a:cs typeface="Calibri" pitchFamily="34" charset="-120"/>
              </a:rPr>
              <a:t>B. </a:t>
            </a:r>
            <a:r>
              <a:rPr lang="fr" sz="1305" noProof="0">
                <a:solidFill>
                  <a:srgbClr val="17325E"/>
                </a:solidFill>
                <a:latin typeface="Calibri" pitchFamily="34" charset="0"/>
                <a:ea typeface="Calibri" pitchFamily="34" charset="-122"/>
                <a:cs typeface="Calibri" pitchFamily="34" charset="-120"/>
              </a:rPr>
              <a:t>Un cancer confirmé</a:t>
            </a:r>
            <a:endParaRPr lang="en-US" sz="130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305" b="1" noProof="0">
                <a:solidFill>
                  <a:srgbClr val="1F4E96"/>
                </a:solidFill>
                <a:latin typeface="Calibri" pitchFamily="34" charset="0"/>
                <a:ea typeface="Calibri" pitchFamily="34" charset="-122"/>
                <a:cs typeface="Calibri" pitchFamily="34" charset="-120"/>
              </a:rPr>
              <a:t>C. </a:t>
            </a:r>
            <a:r>
              <a:rPr lang="fr" sz="1305" noProof="0">
                <a:solidFill>
                  <a:srgbClr val="17325E"/>
                </a:solidFill>
                <a:latin typeface="Calibri" pitchFamily="34" charset="0"/>
                <a:ea typeface="Calibri" pitchFamily="34" charset="-122"/>
                <a:cs typeface="Calibri" pitchFamily="34" charset="-120"/>
              </a:rPr>
              <a:t>Une constatation normale</a:t>
            </a:r>
            <a:endParaRPr lang="en-US" sz="130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305" b="1" noProof="0">
                <a:solidFill>
                  <a:srgbClr val="1F4E96"/>
                </a:solidFill>
                <a:latin typeface="Calibri" pitchFamily="34" charset="0"/>
                <a:ea typeface="Calibri" pitchFamily="34" charset="-122"/>
                <a:cs typeface="Calibri" pitchFamily="34" charset="-120"/>
              </a:rPr>
              <a:t>D. </a:t>
            </a:r>
            <a:r>
              <a:rPr lang="fr" sz="1305" noProof="0">
                <a:solidFill>
                  <a:srgbClr val="17325E"/>
                </a:solidFill>
                <a:latin typeface="Calibri" pitchFamily="34" charset="0"/>
                <a:ea typeface="Calibri" pitchFamily="34" charset="-122"/>
                <a:cs typeface="Calibri" pitchFamily="34" charset="-120"/>
              </a:rPr>
              <a:t>Une raison d'arrêter d'enquêter</a:t>
            </a:r>
            <a:endParaRPr lang="en-US" sz="130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Cela indique que du sang a été détecté et que l'évaluation intestinale est l'étape suivante.</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Q2. Quelle présentation nécessite une orientation d'urgence le jour même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305" b="1" noProof="0">
                <a:solidFill>
                  <a:srgbClr val="1F4E96"/>
                </a:solidFill>
                <a:latin typeface="Calibri" pitchFamily="34" charset="0"/>
                <a:ea typeface="Calibri" pitchFamily="34" charset="-122"/>
                <a:cs typeface="Calibri" pitchFamily="34" charset="-120"/>
              </a:rPr>
              <a:t>A. </a:t>
            </a:r>
            <a:r>
              <a:rPr lang="fr" sz="1305" noProof="0">
                <a:solidFill>
                  <a:srgbClr val="17325E"/>
                </a:solidFill>
                <a:latin typeface="Calibri" pitchFamily="34" charset="0"/>
                <a:ea typeface="Calibri" pitchFamily="34" charset="-122"/>
                <a:cs typeface="Calibri" pitchFamily="34" charset="-120"/>
              </a:rPr>
              <a:t>Anémie ferriprive inexpliquée</a:t>
            </a:r>
            <a:endParaRPr lang="en-US" sz="130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305" b="1" noProof="0">
                <a:solidFill>
                  <a:srgbClr val="1F4E96"/>
                </a:solidFill>
                <a:latin typeface="Calibri" pitchFamily="34" charset="0"/>
                <a:ea typeface="Calibri" pitchFamily="34" charset="-122"/>
                <a:cs typeface="Calibri" pitchFamily="34" charset="-120"/>
              </a:rPr>
              <a:t>B. </a:t>
            </a:r>
            <a:r>
              <a:rPr lang="fr" sz="1305" noProof="0">
                <a:solidFill>
                  <a:srgbClr val="17325E"/>
                </a:solidFill>
                <a:latin typeface="Calibri" pitchFamily="34" charset="0"/>
                <a:ea typeface="Calibri" pitchFamily="34" charset="-122"/>
                <a:cs typeface="Calibri" pitchFamily="34" charset="-120"/>
              </a:rPr>
              <a:t>Deux mois de selles plus molles</a:t>
            </a:r>
            <a:endParaRPr lang="en-US" sz="1305" noProof="0" dirty="0"/>
          </a:p>
        </p:txBody>
      </p:sp>
      <p:sp>
        <p:nvSpPr>
          <p:cNvPr id="20" name="Shape 18"/>
          <p:cNvSpPr/>
          <p:nvPr/>
        </p:nvSpPr>
        <p:spPr>
          <a:xfrm>
            <a:off x="548640"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305" b="1" noProof="0">
                <a:solidFill>
                  <a:srgbClr val="126647"/>
                </a:solidFill>
                <a:latin typeface="Calibri" pitchFamily="34" charset="0"/>
                <a:ea typeface="Calibri" pitchFamily="34" charset="-122"/>
                <a:cs typeface="Calibri" pitchFamily="34" charset="-120"/>
              </a:rPr>
              <a:t>C. Vomissements avec distension et absence de passage de selles ou de gaz</a:t>
            </a:r>
            <a:endParaRPr lang="en-US" sz="130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305" b="1" noProof="0">
                <a:solidFill>
                  <a:srgbClr val="1F4E96"/>
                </a:solidFill>
                <a:latin typeface="Calibri" pitchFamily="34" charset="0"/>
                <a:ea typeface="Calibri" pitchFamily="34" charset="-122"/>
                <a:cs typeface="Calibri" pitchFamily="34" charset="-120"/>
              </a:rPr>
              <a:t>D. </a:t>
            </a:r>
            <a:r>
              <a:rPr lang="fr" sz="1305" noProof="0">
                <a:solidFill>
                  <a:srgbClr val="17325E"/>
                </a:solidFill>
                <a:latin typeface="Calibri" pitchFamily="34" charset="0"/>
                <a:ea typeface="Calibri" pitchFamily="34" charset="-122"/>
                <a:cs typeface="Calibri" pitchFamily="34" charset="-120"/>
              </a:rPr>
              <a:t>Antécédents familiaux de cancer colorectal</a:t>
            </a:r>
            <a:endParaRPr lang="en-US" sz="130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a:t>
            </a:r>
            <a:r>
              <a:rPr lang="fr" sz="1500" i="1" noProof="0">
                <a:solidFill>
                  <a:srgbClr val="17325E"/>
                </a:solidFill>
                <a:latin typeface="Calibri" pitchFamily="34" charset="0"/>
                <a:ea typeface="Calibri" pitchFamily="34" charset="-122"/>
                <a:cs typeface="Calibri" pitchFamily="34" charset="-120"/>
              </a:rPr>
              <a:t>Cela suggère une obstruction intestinale. Les autres nécessitent une orientation rapide ou de routine, mais pas le jour même.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(2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Q3. L'élément le plus utile que vous puissiez enregistrer pour le registre du cancer au premier contact est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A. </a:t>
            </a:r>
            <a:r>
              <a:rPr lang="fr" sz="1275" noProof="0">
                <a:solidFill>
                  <a:srgbClr val="17325E"/>
                </a:solidFill>
                <a:latin typeface="Calibri" pitchFamily="34" charset="0"/>
                <a:ea typeface="Calibri" pitchFamily="34" charset="-122"/>
                <a:cs typeface="Calibri" pitchFamily="34" charset="-120"/>
              </a:rPr>
              <a:t>Le stade suspecté</a:t>
            </a:r>
            <a:endParaRPr lang="en-US" sz="1275" noProof="0" dirty="0"/>
          </a:p>
        </p:txBody>
      </p:sp>
      <p:sp>
        <p:nvSpPr>
          <p:cNvPr id="8" name="Shape 6"/>
          <p:cNvSpPr/>
          <p:nvPr/>
        </p:nvSpPr>
        <p:spPr>
          <a:xfrm>
            <a:off x="6196432" y="1956816"/>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75" b="1" noProof="0">
                <a:solidFill>
                  <a:srgbClr val="126647"/>
                </a:solidFill>
                <a:latin typeface="Calibri" pitchFamily="34" charset="0"/>
                <a:ea typeface="Calibri" pitchFamily="34" charset="-122"/>
                <a:cs typeface="Calibri" pitchFamily="34" charset="-120"/>
              </a:rPr>
              <a:t>B. La date d'apparition des symptômes et la date de cette consultation</a:t>
            </a:r>
            <a:endParaRPr lang="en-US" sz="127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C. </a:t>
            </a:r>
            <a:r>
              <a:rPr lang="fr" sz="1275" noProof="0">
                <a:solidFill>
                  <a:srgbClr val="17325E"/>
                </a:solidFill>
                <a:latin typeface="Calibri" pitchFamily="34" charset="0"/>
                <a:ea typeface="Calibri" pitchFamily="34" charset="-122"/>
                <a:cs typeface="Calibri" pitchFamily="34" charset="-120"/>
              </a:rPr>
              <a:t>La profession de la personne</a:t>
            </a:r>
            <a:endParaRPr lang="en-US" sz="127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D. </a:t>
            </a:r>
            <a:r>
              <a:rPr lang="fr" sz="1275" noProof="0">
                <a:solidFill>
                  <a:srgbClr val="17325E"/>
                </a:solidFill>
                <a:latin typeface="Calibri" pitchFamily="34" charset="0"/>
                <a:ea typeface="Calibri" pitchFamily="34" charset="-122"/>
                <a:cs typeface="Calibri" pitchFamily="34" charset="-120"/>
              </a:rPr>
              <a:t>Le nom du clinicien référent</a:t>
            </a:r>
            <a:endParaRPr lang="en-US" sz="127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a:t>
            </a:r>
            <a:r>
              <a:rPr lang="fr" sz="1500" i="1" noProof="0">
                <a:solidFill>
                  <a:srgbClr val="17325E"/>
                </a:solidFill>
                <a:latin typeface="Calibri" pitchFamily="34" charset="0"/>
                <a:ea typeface="Calibri" pitchFamily="34" charset="-122"/>
                <a:cs typeface="Calibri" pitchFamily="34" charset="-120"/>
              </a:rPr>
              <a:t>Ensemble, ces deux dates mesurent le délai de diagnostic, qui est l'indicateur clé lorsqu'il n'y a pas de programme de dépistage.</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Q4. Un bon conseil avant l'orientation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A. </a:t>
            </a:r>
            <a:r>
              <a:rPr lang="fr" sz="1275" noProof="0">
                <a:solidFill>
                  <a:srgbClr val="17325E"/>
                </a:solidFill>
                <a:latin typeface="Calibri" pitchFamily="34" charset="0"/>
                <a:ea typeface="Calibri" pitchFamily="34" charset="-122"/>
                <a:cs typeface="Calibri" pitchFamily="34" charset="-120"/>
              </a:rPr>
              <a:t>Promet que ce n'est pas un cancer</a:t>
            </a:r>
            <a:endParaRPr lang="en-US" sz="127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B. </a:t>
            </a:r>
            <a:r>
              <a:rPr lang="fr" sz="1275" noProof="0">
                <a:solidFill>
                  <a:srgbClr val="17325E"/>
                </a:solidFill>
                <a:latin typeface="Calibri" pitchFamily="34" charset="0"/>
                <a:ea typeface="Calibri" pitchFamily="34" charset="-122"/>
                <a:cs typeface="Calibri" pitchFamily="34" charset="-120"/>
              </a:rPr>
              <a:t>Ne précise pas la raison de l'orientation pour éviter l'inquiétude</a:t>
            </a:r>
            <a:endParaRPr lang="en-US" sz="127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C. </a:t>
            </a:r>
            <a:r>
              <a:rPr lang="fr" sz="1275" noProof="0">
                <a:solidFill>
                  <a:srgbClr val="17325E"/>
                </a:solidFill>
                <a:latin typeface="Calibri" pitchFamily="34" charset="0"/>
                <a:ea typeface="Calibri" pitchFamily="34" charset="-122"/>
                <a:cs typeface="Calibri" pitchFamily="34" charset="-120"/>
              </a:rPr>
              <a:t>Laisse à la personne le soin de prendre rendez-vous</a:t>
            </a:r>
            <a:endParaRPr lang="en-US" sz="1275" noProof="0" dirty="0"/>
          </a:p>
        </p:txBody>
      </p:sp>
      <p:sp>
        <p:nvSpPr>
          <p:cNvPr id="22" name="Shape 20"/>
          <p:cNvSpPr/>
          <p:nvPr/>
        </p:nvSpPr>
        <p:spPr>
          <a:xfrm>
            <a:off x="6196432"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75" b="1" noProof="0">
                <a:solidFill>
                  <a:srgbClr val="126647"/>
                </a:solidFill>
                <a:latin typeface="Calibri" pitchFamily="34" charset="0"/>
                <a:ea typeface="Calibri" pitchFamily="34" charset="-122"/>
                <a:cs typeface="Calibri" pitchFamily="34" charset="-120"/>
              </a:rPr>
              <a:t>D. Explique honnêtement l'étape suivante et permet de poser des questions</a:t>
            </a:r>
            <a:endParaRPr lang="en-US" sz="127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Expliquez respectueusement, acceptez les questions et organisez l'orientation plutôt que de laisser cela à la personne.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(3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Q5. Une personne orientée pour une coloscopie n'a pas assisté après six semaines. Vous devriez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Supposer que la personne a choisi de ne pas y aller</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Les retirer du registre</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C. Contactez-les, découvrez ce qui a empêché la fréquentation et réorganisez</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Attends leur retour</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La perte de vue au suivi est l'une des plus grandes lacunes dans la voie, et elle est généralement pratique plutôt qu'un refus de soins.</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Q6. Une patiente est trop gênée pour décrire ses symptômes intestinaux. La meilleure approche est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A. Demandez directement et calmement en privé, et expliquez pourquoi les détails sont importants</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Passons à un autre sujet</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Demandez à un proche de décrire les symptômes</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Noter qu'aucun symptôme n'a été signalé</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a:t>
            </a:r>
            <a:r>
              <a:rPr lang="fr" sz="1500" i="1" noProof="0">
                <a:solidFill>
                  <a:srgbClr val="17325E"/>
                </a:solidFill>
                <a:latin typeface="Calibri" pitchFamily="34" charset="0"/>
                <a:ea typeface="Calibri" pitchFamily="34" charset="-122"/>
                <a:cs typeface="Calibri" pitchFamily="34" charset="-120"/>
              </a:rPr>
              <a:t> La confidentialité, un ton factuel et une raison claire de poser la question facilitent grandement la réponse honnête.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Réflexion sur la session</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325880"/>
            <a:ext cx="11094415" cy="457200"/>
          </a:xfrm>
          <a:prstGeom prst="rect">
            <a:avLst/>
          </a:prstGeom>
          <a:noFill/>
          <a:ln/>
        </p:spPr>
        <p:txBody>
          <a:bodyPr wrap="square" rtlCol="0" anchor="ctr"/>
          <a:lstStyle/>
          <a:p>
            <a:pPr marL="0" indent="0">
              <a:buNone/>
            </a:pPr>
            <a:r>
              <a:rPr lang="fr" sz="1600" i="1" noProof="0">
                <a:solidFill>
                  <a:srgbClr val="5B7195"/>
                </a:solidFill>
                <a:latin typeface="Calibri" pitchFamily="34" charset="0"/>
                <a:ea typeface="Calibri" pitchFamily="34" charset="-122"/>
                <a:cs typeface="Calibri" pitchFamily="34" charset="-120"/>
              </a:rPr>
              <a:t>Saisissez votre réponse dans la boîte de texte. Il n'y a pas de réponse unique correcte. Ces prompts ne sont pas notés, et servent à votre propre pratique et à la discussion.</a:t>
            </a:r>
            <a:endParaRPr lang="en-US" sz="1600" noProof="0" dirty="0"/>
          </a:p>
        </p:txBody>
      </p:sp>
      <p:sp>
        <p:nvSpPr>
          <p:cNvPr id="6" name="Shape 4"/>
          <p:cNvSpPr/>
          <p:nvPr/>
        </p:nvSpPr>
        <p:spPr>
          <a:xfrm>
            <a:off x="548640" y="1965960"/>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31520" y="2240280"/>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1</a:t>
            </a:r>
            <a:endParaRPr lang="en-US" sz="2400" noProof="0" dirty="0"/>
          </a:p>
        </p:txBody>
      </p:sp>
      <p:sp>
        <p:nvSpPr>
          <p:cNvPr id="8" name="Text 6"/>
          <p:cNvSpPr/>
          <p:nvPr/>
        </p:nvSpPr>
        <p:spPr>
          <a:xfrm>
            <a:off x="1417320" y="2075688"/>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Comment expliqueriez-vous à un patient inquiet que vous le référez, sans dire ou insinuer qu'il a un cancer ?</a:t>
            </a:r>
            <a:endParaRPr lang="en-US" sz="1800" noProof="0" dirty="0"/>
          </a:p>
        </p:txBody>
      </p:sp>
      <p:sp>
        <p:nvSpPr>
          <p:cNvPr id="9" name="Shape 7"/>
          <p:cNvSpPr/>
          <p:nvPr/>
        </p:nvSpPr>
        <p:spPr>
          <a:xfrm>
            <a:off x="548640" y="3218688"/>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0" name="Text 8"/>
          <p:cNvSpPr/>
          <p:nvPr/>
        </p:nvSpPr>
        <p:spPr>
          <a:xfrm>
            <a:off x="731520" y="3493008"/>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2</a:t>
            </a:r>
            <a:endParaRPr lang="en-US" sz="2400" noProof="0" dirty="0"/>
          </a:p>
        </p:txBody>
      </p:sp>
      <p:sp>
        <p:nvSpPr>
          <p:cNvPr id="11" name="Text 9"/>
          <p:cNvSpPr/>
          <p:nvPr/>
        </p:nvSpPr>
        <p:spPr>
          <a:xfrm>
            <a:off x="1417320" y="3328416"/>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Qu'est-ce qui empêche le plus souvent quelqu'un dans votre milieu de mener à terme une orientation, et quelle est une chose que vous pourriez changer dans votre façon de référer ?</a:t>
            </a:r>
            <a:endParaRPr lang="en-US" sz="1800" noProof="0" dirty="0"/>
          </a:p>
        </p:txBody>
      </p:sp>
      <p:sp>
        <p:nvSpPr>
          <p:cNvPr id="12" name="Shape 10"/>
          <p:cNvSpPr/>
          <p:nvPr/>
        </p:nvSpPr>
        <p:spPr>
          <a:xfrm>
            <a:off x="548640" y="4471416"/>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731520" y="4745736"/>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3</a:t>
            </a:r>
            <a:endParaRPr lang="en-US" sz="2400" noProof="0" dirty="0"/>
          </a:p>
        </p:txBody>
      </p:sp>
      <p:sp>
        <p:nvSpPr>
          <p:cNvPr id="14" name="Text 12"/>
          <p:cNvSpPr/>
          <p:nvPr/>
        </p:nvSpPr>
        <p:spPr>
          <a:xfrm>
            <a:off x="1417320" y="4581144"/>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Comment aborderiez-vous les symptômes intestinaux avec quelqu'un qui est clairement embarrassé ?</a:t>
            </a:r>
            <a:endParaRPr lang="en-US" sz="1800" noProof="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4">
    <p:bg>
      <p:bgPr>
        <a:solidFill>
          <a:srgbClr val="0E2E5C"/>
        </a:solidFill>
        <a:effectLst/>
      </p:bgPr>
    </p:bg>
    <p:spTree>
      <p:nvGrpSpPr>
        <p:cNvPr id="1" name=""/>
        <p:cNvGrpSpPr/>
        <p:nvPr/>
      </p:nvGrpSpPr>
      <p:grpSpPr>
        <a:xfrm>
          <a:off x="0" y="0"/>
          <a:ext cx="0" cy="0"/>
          <a:chOff x="0" y="0"/>
          <a:chExt cx="0" cy="0"/>
        </a:xfrm>
      </p:grpSpPr>
      <p:sp>
        <p:nvSpPr>
          <p:cNvPr id="2" name="Shape 0"/>
          <p:cNvSpPr/>
          <p:nvPr/>
        </p:nvSpPr>
        <p:spPr>
          <a:xfrm>
            <a:off x="548640" y="1874520"/>
            <a:ext cx="1051560" cy="1051560"/>
          </a:xfrm>
          <a:prstGeom prst="roundRect">
            <a:avLst>
              <a:gd name="adj" fmla="val 12174"/>
            </a:avLst>
          </a:prstGeom>
          <a:solidFill>
            <a:srgbClr val="2C5A9E"/>
          </a:solidFill>
          <a:ln w="15875">
            <a:solidFill>
              <a:srgbClr val="5C8DD6"/>
            </a:solidFill>
            <a:prstDash val="solid"/>
          </a:ln>
        </p:spPr>
        <p:txBody>
          <a:bodyPr/>
          <a:lstStyle/>
          <a:p>
            <a:endParaRPr lang="en-US" noProof="0" dirty="0"/>
          </a:p>
        </p:txBody>
      </p:sp>
      <p:sp>
        <p:nvSpPr>
          <p:cNvPr id="3" name="Text 1"/>
          <p:cNvSpPr/>
          <p:nvPr/>
        </p:nvSpPr>
        <p:spPr>
          <a:xfrm>
            <a:off x="548640" y="1874520"/>
            <a:ext cx="1051560" cy="1051560"/>
          </a:xfrm>
          <a:prstGeom prst="rect">
            <a:avLst/>
          </a:prstGeom>
          <a:noFill/>
          <a:ln/>
        </p:spPr>
        <p:txBody>
          <a:bodyPr wrap="square" lIns="0" tIns="0" rIns="0" bIns="0" rtlCol="0" anchor="ctr"/>
          <a:lstStyle/>
          <a:p>
            <a:pPr marL="0" indent="0" algn="ctr">
              <a:buNone/>
            </a:pPr>
            <a:r>
              <a:rPr lang="fr" sz="4600" b="1" noProof="0">
                <a:solidFill>
                  <a:srgbClr val="FFFFFF"/>
                </a:solidFill>
                <a:latin typeface="Cambria" pitchFamily="34" charset="0"/>
                <a:ea typeface="Cambria" pitchFamily="34" charset="-122"/>
                <a:cs typeface="Cambria" pitchFamily="34" charset="-120"/>
              </a:rPr>
              <a:t>4</a:t>
            </a:r>
            <a:endParaRPr lang="en-US" sz="4600" noProof="0" dirty="0"/>
          </a:p>
        </p:txBody>
      </p:sp>
      <p:sp>
        <p:nvSpPr>
          <p:cNvPr id="4" name="Text 2"/>
          <p:cNvSpPr/>
          <p:nvPr/>
        </p:nvSpPr>
        <p:spPr>
          <a:xfrm>
            <a:off x="1920240" y="1920240"/>
            <a:ext cx="8686800" cy="365760"/>
          </a:xfrm>
          <a:prstGeom prst="rect">
            <a:avLst/>
          </a:prstGeom>
          <a:noFill/>
          <a:ln/>
        </p:spPr>
        <p:txBody>
          <a:bodyPr wrap="square" lIns="0" tIns="0" rIns="0" bIns="0" rtlCol="0" anchor="ctr"/>
          <a:lstStyle/>
          <a:p>
            <a:pPr marL="0" indent="0">
              <a:buNone/>
            </a:pPr>
            <a:r>
              <a:rPr lang="fr" sz="1500" b="1" kern="0" spc="300" noProof="0">
                <a:solidFill>
                  <a:srgbClr val="9DC0EE"/>
                </a:solidFill>
                <a:latin typeface="Calibri" pitchFamily="34" charset="0"/>
                <a:ea typeface="Calibri" pitchFamily="34" charset="-122"/>
                <a:cs typeface="Calibri" pitchFamily="34" charset="-120"/>
              </a:rPr>
              <a:t>Session 4</a:t>
            </a:r>
            <a:endParaRPr lang="en-US" sz="1500" noProof="0" dirty="0"/>
          </a:p>
        </p:txBody>
      </p:sp>
      <p:sp>
        <p:nvSpPr>
          <p:cNvPr id="5" name="Text 3"/>
          <p:cNvSpPr/>
          <p:nvPr/>
        </p:nvSpPr>
        <p:spPr>
          <a:xfrm>
            <a:off x="1920240" y="2286000"/>
            <a:ext cx="9601200" cy="777240"/>
          </a:xfrm>
          <a:prstGeom prst="rect">
            <a:avLst/>
          </a:prstGeom>
          <a:noFill/>
          <a:ln/>
        </p:spPr>
        <p:txBody>
          <a:bodyPr wrap="square" lIns="0" tIns="0" rIns="0" bIns="0" rtlCol="0" anchor="ctr"/>
          <a:lstStyle/>
          <a:p>
            <a:pPr marL="0" indent="0">
              <a:buNone/>
            </a:pPr>
            <a:r>
              <a:rPr lang="fr" sz="4200" b="1" noProof="0">
                <a:solidFill>
                  <a:srgbClr val="FFFFFF"/>
                </a:solidFill>
                <a:latin typeface="Cambria" pitchFamily="34" charset="0"/>
                <a:ea typeface="Cambria" pitchFamily="34" charset="-122"/>
                <a:cs typeface="Cambria" pitchFamily="34" charset="-120"/>
              </a:rPr>
              <a:t>Diagnostic et traitement</a:t>
            </a:r>
            <a:endParaRPr lang="en-US" sz="4200" noProof="0" dirty="0"/>
          </a:p>
        </p:txBody>
      </p:sp>
      <p:sp>
        <p:nvSpPr>
          <p:cNvPr id="6" name="Text 4"/>
          <p:cNvSpPr/>
          <p:nvPr/>
        </p:nvSpPr>
        <p:spPr>
          <a:xfrm>
            <a:off x="1920240" y="3246120"/>
            <a:ext cx="9326880" cy="914400"/>
          </a:xfrm>
          <a:prstGeom prst="rect">
            <a:avLst/>
          </a:prstGeom>
          <a:noFill/>
          <a:ln/>
        </p:spPr>
        <p:txBody>
          <a:bodyPr wrap="square" lIns="0" tIns="0" rIns="0" bIns="0" rtlCol="0" anchor="ctr"/>
          <a:lstStyle/>
          <a:p>
            <a:pPr marL="0" indent="0">
              <a:buNone/>
            </a:pPr>
            <a:r>
              <a:rPr lang="fr" sz="1800" noProof="0">
                <a:solidFill>
                  <a:srgbClr val="CFE0F6"/>
                </a:solidFill>
                <a:latin typeface="Calibri" pitchFamily="34" charset="0"/>
                <a:ea typeface="Calibri" pitchFamily="34" charset="-122"/>
                <a:cs typeface="Calibri" pitchFamily="34" charset="-120"/>
              </a:rPr>
              <a:t>Comprenez ce qui se passe après l'orientation : comment le diagnostic est confirmé, comment la maladie est stadée, et à quoi sert réellement chaque traitement.</a:t>
            </a:r>
            <a:endParaRPr lang="en-US" sz="1800" noProof="0" dirty="0"/>
          </a:p>
        </p:txBody>
      </p:sp>
      <p:sp>
        <p:nvSpPr>
          <p:cNvPr id="7" name="Text 5"/>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8FA9CE"/>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Objectifs d'apprentissage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Décrire les grandes lignes</a:t>
            </a:r>
            <a:endParaRPr lang="en-US" sz="1800" noProof="0" dirty="0"/>
          </a:p>
        </p:txBody>
      </p:sp>
      <p:sp>
        <p:nvSpPr>
          <p:cNvPr id="7" name="Text 5"/>
          <p:cNvSpPr/>
          <p:nvPr/>
        </p:nvSpPr>
        <p:spPr>
          <a:xfrm>
            <a:off x="73152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Décrivez le parcours diagnostique depuis la première évaluation jusqu'au diagnostic confirmé.</a:t>
            </a:r>
            <a:endParaRPr lang="en-US" sz="1800" noProof="0" dirty="0"/>
          </a:p>
        </p:txBody>
      </p:sp>
      <p:sp>
        <p:nvSpPr>
          <p:cNvPr id="8" name="Shape 6"/>
          <p:cNvSpPr/>
          <p:nvPr/>
        </p:nvSpPr>
        <p:spPr>
          <a:xfrm>
            <a:off x="431993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Expliquez</a:t>
            </a:r>
            <a:endParaRPr lang="en-US" sz="1800" noProof="0" dirty="0"/>
          </a:p>
        </p:txBody>
      </p:sp>
      <p:sp>
        <p:nvSpPr>
          <p:cNvPr id="10" name="Text 8"/>
          <p:cNvSpPr/>
          <p:nvPr/>
        </p:nvSpPr>
        <p:spPr>
          <a:xfrm>
            <a:off x="450281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Expliquez le rôle et les limites des examens et des tests en laboratoire.</a:t>
            </a:r>
            <a:endParaRPr lang="en-US" sz="1800" noProof="0" dirty="0"/>
          </a:p>
        </p:txBody>
      </p:sp>
      <p:sp>
        <p:nvSpPr>
          <p:cNvPr id="11" name="Shape 9"/>
          <p:cNvSpPr/>
          <p:nvPr/>
        </p:nvSpPr>
        <p:spPr>
          <a:xfrm>
            <a:off x="8091221"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Décrire</a:t>
            </a:r>
            <a:endParaRPr lang="en-US" sz="1800" noProof="0" dirty="0"/>
          </a:p>
        </p:txBody>
      </p:sp>
      <p:sp>
        <p:nvSpPr>
          <p:cNvPr id="13" name="Text 11"/>
          <p:cNvSpPr/>
          <p:nvPr/>
        </p:nvSpPr>
        <p:spPr>
          <a:xfrm>
            <a:off x="8274101"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Décrivez la coloscopie, la biopsie et l'histopathologie suffisamment bien pour préparer un patient.</a:t>
            </a:r>
            <a:endParaRPr lang="en-US" sz="1800" noProof="0" dirty="0"/>
          </a:p>
        </p:txBody>
      </p:sp>
      <p:sp>
        <p:nvSpPr>
          <p:cNvPr id="14" name="Shape 12"/>
          <p:cNvSpPr/>
          <p:nvPr/>
        </p:nvSpPr>
        <p:spPr>
          <a:xfrm>
            <a:off x="54864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31520" y="3794760"/>
            <a:ext cx="3186074" cy="359359"/>
          </a:xfrm>
          <a:prstGeom prst="rect">
            <a:avLst/>
          </a:prstGeom>
          <a:noFill/>
          <a:ln/>
        </p:spPr>
        <p:txBody>
          <a:bodyPr wrap="square" lIns="0" tIns="0" rIns="0" bIns="0" rtlCol="0" anchor="t"/>
          <a:lstStyle/>
          <a:p>
            <a:pPr marL="0" indent="0">
              <a:buNone/>
            </a:pPr>
            <a:r>
              <a:rPr lang="fr" sz="1800" b="1" noProof="0" err="1">
                <a:solidFill>
                  <a:srgbClr val="0E2E5C"/>
                </a:solidFill>
                <a:latin typeface="Calibri" pitchFamily="34" charset="0"/>
                <a:ea typeface="Calibri" pitchFamily="34" charset="-122"/>
                <a:cs typeface="Calibri" pitchFamily="34" charset="-120"/>
              </a:rPr>
              <a:t>Décrire les grandes lignes</a:t>
            </a:r>
            <a:endParaRPr lang="en-US" sz="1800" noProof="0" dirty="0"/>
          </a:p>
        </p:txBody>
      </p:sp>
      <p:sp>
        <p:nvSpPr>
          <p:cNvPr id="16" name="Text 14"/>
          <p:cNvSpPr/>
          <p:nvPr/>
        </p:nvSpPr>
        <p:spPr>
          <a:xfrm>
            <a:off x="731520" y="4154119"/>
            <a:ext cx="3186074" cy="1442009"/>
          </a:xfrm>
          <a:prstGeom prst="rect">
            <a:avLst/>
          </a:prstGeom>
          <a:noFill/>
          <a:ln/>
        </p:spPr>
        <p:txBody>
          <a:bodyPr wrap="square" lIns="0" tIns="0" rIns="0" bIns="0" rtlCol="0" anchor="t"/>
          <a:lstStyle/>
          <a:p>
            <a:pPr marL="0" indent="0">
              <a:lnSpc>
                <a:spcPct val="105000"/>
              </a:lnSpc>
              <a:buNone/>
            </a:pPr>
            <a:r>
              <a:rPr lang="fr" sz="1800" noProof="0" err="1">
                <a:solidFill>
                  <a:srgbClr val="17325E"/>
                </a:solidFill>
                <a:latin typeface="Calibri" pitchFamily="34" charset="0"/>
                <a:ea typeface="Calibri" pitchFamily="34" charset="-122"/>
                <a:cs typeface="Calibri" pitchFamily="34" charset="-120"/>
              </a:rPr>
              <a:t>Résumez chaque catégorie de traitement, son rôle et si elle agit localement ou dans tout le corps.</a:t>
            </a:r>
            <a:endParaRPr lang="en-US" sz="1800" noProof="0" dirty="0"/>
          </a:p>
        </p:txBody>
      </p:sp>
      <p:sp>
        <p:nvSpPr>
          <p:cNvPr id="17" name="Shape 15"/>
          <p:cNvSpPr/>
          <p:nvPr/>
        </p:nvSpPr>
        <p:spPr>
          <a:xfrm>
            <a:off x="431993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450281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Comparer</a:t>
            </a:r>
            <a:endParaRPr lang="en-US" sz="1800" noProof="0" dirty="0"/>
          </a:p>
        </p:txBody>
      </p:sp>
      <p:sp>
        <p:nvSpPr>
          <p:cNvPr id="19" name="Text 17"/>
          <p:cNvSpPr/>
          <p:nvPr/>
        </p:nvSpPr>
        <p:spPr>
          <a:xfrm>
            <a:off x="450281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Comparez la manière dont le cancer du côlon et le cancer du rectum sont abordés.</a:t>
            </a:r>
            <a:endParaRPr lang="en-US" sz="1800" noProof="0" dirty="0"/>
          </a:p>
        </p:txBody>
      </p:sp>
      <p:sp>
        <p:nvSpPr>
          <p:cNvPr id="20" name="Shape 18"/>
          <p:cNvSpPr/>
          <p:nvPr/>
        </p:nvSpPr>
        <p:spPr>
          <a:xfrm>
            <a:off x="8091221"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8274101"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Corriger</a:t>
            </a:r>
            <a:endParaRPr lang="en-US" sz="1800" noProof="0" dirty="0"/>
          </a:p>
        </p:txBody>
      </p:sp>
      <p:sp>
        <p:nvSpPr>
          <p:cNvPr id="22" name="Text 20"/>
          <p:cNvSpPr/>
          <p:nvPr/>
        </p:nvSpPr>
        <p:spPr>
          <a:xfrm>
            <a:off x="8274101"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Corrigez les idées fausses qui retardent le plus souvent les soins.</a:t>
            </a:r>
            <a:endParaRPr lang="en-US" sz="1800" noProof="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La voie diagnostique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36" name="Text 34"/>
          <p:cNvSpPr/>
          <p:nvPr/>
        </p:nvSpPr>
        <p:spPr>
          <a:xfrm>
            <a:off x="731520" y="4764024"/>
            <a:ext cx="10728655" cy="359359"/>
          </a:xfrm>
          <a:prstGeom prst="rect">
            <a:avLst/>
          </a:prstGeom>
          <a:noFill/>
          <a:ln/>
        </p:spPr>
        <p:txBody>
          <a:bodyPr wrap="square" lIns="0" tIns="0" rIns="0" bIns="0" rtlCol="0" anchor="t"/>
          <a:lstStyle/>
          <a:p>
            <a:pPr marL="0" indent="0">
              <a:buNone/>
            </a:pPr>
            <a:endParaRPr lang="en-US" sz="1800" noProof="0" dirty="0"/>
          </a:p>
        </p:txBody>
      </p:sp>
      <p:sp>
        <p:nvSpPr>
          <p:cNvPr id="37" name="Text 35"/>
          <p:cNvSpPr/>
          <p:nvPr/>
        </p:nvSpPr>
        <p:spPr>
          <a:xfrm>
            <a:off x="731519" y="5469547"/>
            <a:ext cx="10728655" cy="756209"/>
          </a:xfrm>
          <a:prstGeom prst="rect">
            <a:avLst/>
          </a:prstGeom>
          <a:noFill/>
          <a:ln/>
        </p:spPr>
        <p:txBody>
          <a:bodyPr wrap="square" lIns="0" tIns="0" rIns="0" bIns="0" rtlCol="0" anchor="t"/>
          <a:lstStyle/>
          <a:p>
            <a:pPr marL="0" indent="0">
              <a:lnSpc>
                <a:spcPct val="105000"/>
              </a:lnSpc>
              <a:buNone/>
            </a:pPr>
            <a:r>
              <a:rPr lang="fr" sz="1600" b="1" i="1" noProof="0">
                <a:solidFill>
                  <a:schemeClr val="bg2">
                    <a:lumMod val="50000"/>
                  </a:schemeClr>
                </a:solidFill>
                <a:latin typeface="Calibri" pitchFamily="34" charset="0"/>
                <a:ea typeface="Calibri" pitchFamily="34" charset="-122"/>
                <a:cs typeface="Calibri" pitchFamily="34" charset="-120"/>
              </a:rPr>
              <a:t>Remarque : </a:t>
            </a:r>
            <a:r>
              <a:rPr lang="fr" sz="1600" i="1" noProof="0">
                <a:solidFill>
                  <a:schemeClr val="bg2">
                    <a:lumMod val="50000"/>
                  </a:schemeClr>
                </a:solidFill>
                <a:latin typeface="Calibri" pitchFamily="34" charset="0"/>
                <a:ea typeface="Calibri" pitchFamily="34" charset="-122"/>
                <a:cs typeface="Calibri" pitchFamily="34" charset="-120"/>
              </a:rPr>
              <a:t>La séquence n'est pas fixe. Une personne qui se présente en urgence avec une obstruction peut être opérée avant que tout cela ne soit terminé. Une personne dont le polype est retiré lors de la coloscopie reçoit le diagnostic et le traitement dans la même procédure. Ce qui ne change pas, c'est que les tissus confirment le diagnostic.</a:t>
            </a:r>
            <a:endParaRPr lang="en-US" sz="1600" i="1" noProof="0" dirty="0">
              <a:solidFill>
                <a:schemeClr val="bg2">
                  <a:lumMod val="50000"/>
                </a:schemeClr>
              </a:solidFill>
            </a:endParaRPr>
          </a:p>
        </p:txBody>
      </p:sp>
      <p:pic>
        <p:nvPicPr>
          <p:cNvPr id="5" name="Imagen 4">
            <a:extLst>
              <a:ext uri="{FF2B5EF4-FFF2-40B4-BE49-F238E27FC236}">
                <a16:creationId xmlns:a16="http://schemas.microsoft.com/office/drawing/2014/main" id="{3BCF79DA-CB6E-1996-2B83-3B1F9651A528}"/>
              </a:ext>
            </a:extLst>
          </p:cNvPr>
          <p:cNvPicPr>
            <a:picLocks noChangeAspect="1"/>
          </p:cNvPicPr>
          <p:nvPr/>
        </p:nvPicPr>
        <p:blipFill>
          <a:blip r:embed="rId3"/>
          <a:stretch>
            <a:fillRect/>
          </a:stretch>
        </p:blipFill>
        <p:spPr>
          <a:xfrm>
            <a:off x="952500" y="1091467"/>
            <a:ext cx="10160000" cy="434822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Examen</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22" name="Text 20"/>
          <p:cNvSpPr/>
          <p:nvPr/>
        </p:nvSpPr>
        <p:spPr>
          <a:xfrm>
            <a:off x="736835" y="5632704"/>
            <a:ext cx="11094415" cy="658368"/>
          </a:xfrm>
          <a:prstGeom prst="rect">
            <a:avLst/>
          </a:prstGeom>
          <a:noFill/>
          <a:ln/>
        </p:spPr>
        <p:txBody>
          <a:bodyPr wrap="square" lIns="0" tIns="0" rIns="0" bIns="0" rtlCol="0" anchor="t"/>
          <a:lstStyle/>
          <a:p>
            <a:pPr marL="0" indent="0">
              <a:lnSpc>
                <a:spcPct val="105000"/>
              </a:lnSpc>
              <a:buNone/>
            </a:pPr>
            <a:r>
              <a:rPr lang="fr" sz="1600" b="1" i="1" noProof="0">
                <a:solidFill>
                  <a:schemeClr val="bg2">
                    <a:lumMod val="50000"/>
                  </a:schemeClr>
                </a:solidFill>
                <a:latin typeface="Calibri" pitchFamily="34" charset="0"/>
                <a:ea typeface="Calibri" pitchFamily="34" charset="-122"/>
                <a:cs typeface="Calibri" pitchFamily="34" charset="-120"/>
              </a:rPr>
              <a:t>Limitations : </a:t>
            </a:r>
            <a:r>
              <a:rPr lang="fr" sz="1600" i="1" noProof="0">
                <a:solidFill>
                  <a:schemeClr val="bg2">
                    <a:lumMod val="50000"/>
                  </a:schemeClr>
                </a:solidFill>
                <a:latin typeface="Calibri" pitchFamily="34" charset="0"/>
                <a:ea typeface="Calibri" pitchFamily="34" charset="-122"/>
                <a:cs typeface="Calibri" pitchFamily="34" charset="-120"/>
              </a:rPr>
              <a:t>Un examen normal n'exclut pas le cancer colorectal, et aucun test sanguin ne le confirme. Ces résultats ne font qu'augmenter ou diminuer le soupçon.</a:t>
            </a:r>
            <a:endParaRPr lang="en-US" sz="1600" i="1" noProof="0" dirty="0">
              <a:solidFill>
                <a:schemeClr val="bg2">
                  <a:lumMod val="50000"/>
                </a:schemeClr>
              </a:solidFill>
            </a:endParaRPr>
          </a:p>
        </p:txBody>
      </p:sp>
      <p:pic>
        <p:nvPicPr>
          <p:cNvPr id="6" name="Imagen 5">
            <a:extLst>
              <a:ext uri="{FF2B5EF4-FFF2-40B4-BE49-F238E27FC236}">
                <a16:creationId xmlns:a16="http://schemas.microsoft.com/office/drawing/2014/main" id="{B6506514-78B5-7ABB-A586-6FEB5D6B7E4E}"/>
              </a:ext>
            </a:extLst>
          </p:cNvPr>
          <p:cNvPicPr>
            <a:picLocks noChangeAspect="1"/>
          </p:cNvPicPr>
          <p:nvPr/>
        </p:nvPicPr>
        <p:blipFill>
          <a:blip r:embed="rId3"/>
          <a:stretch>
            <a:fillRect/>
          </a:stretch>
        </p:blipFill>
        <p:spPr>
          <a:xfrm>
            <a:off x="648817" y="1510160"/>
            <a:ext cx="10894060" cy="3837679"/>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A52E03-1C07-04E6-B397-4615CFE744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631C9E1-6A35-6480-7171-1A29222B0053}"/>
              </a:ext>
            </a:extLst>
          </p:cNvPr>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a:extLst>
              <a:ext uri="{FF2B5EF4-FFF2-40B4-BE49-F238E27FC236}">
                <a16:creationId xmlns:a16="http://schemas.microsoft.com/office/drawing/2014/main" id="{C00C25E8-FC27-A8FA-5DB4-24B8D7ECAA68}"/>
              </a:ext>
            </a:extLst>
          </p:cNvPr>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Examens biologiques</a:t>
            </a:r>
            <a:endParaRPr lang="en-US" sz="3400" noProof="0" dirty="0"/>
          </a:p>
        </p:txBody>
      </p:sp>
      <p:sp>
        <p:nvSpPr>
          <p:cNvPr id="4" name="Text 2">
            <a:extLst>
              <a:ext uri="{FF2B5EF4-FFF2-40B4-BE49-F238E27FC236}">
                <a16:creationId xmlns:a16="http://schemas.microsoft.com/office/drawing/2014/main" id="{81F88EF4-7309-B1D1-1372-49A43800865C}"/>
              </a:ext>
            </a:extLst>
          </p:cNvPr>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pic>
        <p:nvPicPr>
          <p:cNvPr id="5" name="Imagen 4">
            <a:extLst>
              <a:ext uri="{FF2B5EF4-FFF2-40B4-BE49-F238E27FC236}">
                <a16:creationId xmlns:a16="http://schemas.microsoft.com/office/drawing/2014/main" id="{7D63D9EC-82B5-DB3B-48EC-529989D63492}"/>
              </a:ext>
            </a:extLst>
          </p:cNvPr>
          <p:cNvPicPr>
            <a:picLocks noChangeAspect="1"/>
          </p:cNvPicPr>
          <p:nvPr/>
        </p:nvPicPr>
        <p:blipFill>
          <a:blip r:embed="rId3"/>
          <a:stretch>
            <a:fillRect/>
          </a:stretch>
        </p:blipFill>
        <p:spPr>
          <a:xfrm>
            <a:off x="548640" y="1481328"/>
            <a:ext cx="10928209" cy="3646094"/>
          </a:xfrm>
          <a:prstGeom prst="rect">
            <a:avLst/>
          </a:prstGeom>
        </p:spPr>
      </p:pic>
    </p:spTree>
    <p:extLst>
      <p:ext uri="{BB962C8B-B14F-4D97-AF65-F5344CB8AC3E}">
        <p14:creationId xmlns:p14="http://schemas.microsoft.com/office/powerpoint/2010/main" val="39568211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La coloscopie a trois fonctions différentes</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38" y="1857111"/>
            <a:ext cx="3527450" cy="3817243"/>
          </a:xfrm>
          <a:prstGeom prst="roundRect">
            <a:avLst>
              <a:gd name="adj" fmla="val 5000"/>
            </a:avLst>
          </a:prstGeom>
          <a:solidFill>
            <a:srgbClr val="EAF6F0"/>
          </a:solidFill>
          <a:ln w="15875">
            <a:solidFill>
              <a:srgbClr val="9BCBB4"/>
            </a:solidFill>
            <a:prstDash val="solid"/>
          </a:ln>
        </p:spPr>
        <p:txBody>
          <a:bodyPr/>
          <a:lstStyle/>
          <a:p>
            <a:endParaRPr lang="en-US" noProof="0" dirty="0"/>
          </a:p>
        </p:txBody>
      </p:sp>
      <p:sp>
        <p:nvSpPr>
          <p:cNvPr id="6" name="Text 4"/>
          <p:cNvSpPr/>
          <p:nvPr/>
        </p:nvSpPr>
        <p:spPr>
          <a:xfrm>
            <a:off x="731518" y="1947238"/>
            <a:ext cx="3161690" cy="359359"/>
          </a:xfrm>
          <a:prstGeom prst="rect">
            <a:avLst/>
          </a:prstGeom>
          <a:noFill/>
          <a:ln/>
        </p:spPr>
        <p:txBody>
          <a:bodyPr wrap="square" lIns="0" tIns="0" rIns="0" bIns="0" rtlCol="0" anchor="t"/>
          <a:lstStyle/>
          <a:p>
            <a:pPr marL="0" indent="0">
              <a:buNone/>
            </a:pPr>
            <a:r>
              <a:rPr lang="fr" sz="1800" b="1" noProof="0">
                <a:solidFill>
                  <a:srgbClr val="126647"/>
                </a:solidFill>
                <a:latin typeface="Calibri" pitchFamily="34" charset="0"/>
                <a:ea typeface="Calibri" pitchFamily="34" charset="-122"/>
                <a:cs typeface="Calibri" pitchFamily="34" charset="-120"/>
              </a:rPr>
              <a:t>Comme test de dépistage</a:t>
            </a:r>
            <a:endParaRPr lang="en-US" sz="1800" noProof="0" dirty="0"/>
          </a:p>
        </p:txBody>
      </p:sp>
      <p:sp>
        <p:nvSpPr>
          <p:cNvPr id="7" name="Text 5"/>
          <p:cNvSpPr/>
          <p:nvPr/>
        </p:nvSpPr>
        <p:spPr>
          <a:xfrm>
            <a:off x="731518" y="2306597"/>
            <a:ext cx="3161690" cy="1213409"/>
          </a:xfrm>
          <a:prstGeom prst="rect">
            <a:avLst/>
          </a:prstGeom>
          <a:noFill/>
          <a:ln/>
        </p:spPr>
        <p:txBody>
          <a:bodyPr wrap="square" lIns="0" tIns="0" rIns="0" bIns="0" rtlCol="0" anchor="t">
            <a:noAutofit/>
          </a:bodyPr>
          <a:lstStyle/>
          <a:p>
            <a:pPr marL="0" indent="0">
              <a:lnSpc>
                <a:spcPct val="105000"/>
              </a:lnSpc>
              <a:buNone/>
            </a:pPr>
            <a:r>
              <a:rPr lang="fr" sz="1584" noProof="0">
                <a:solidFill>
                  <a:srgbClr val="17325E"/>
                </a:solidFill>
                <a:latin typeface="Calibri" pitchFamily="34" charset="0"/>
                <a:ea typeface="Calibri" pitchFamily="34" charset="-122"/>
                <a:cs typeface="Calibri" pitchFamily="34" charset="-120"/>
              </a:rPr>
              <a:t>Offert à une personne sans symptômes, pour détecter un cancer tôt ou pour détecter et retirer des lésions précurseures.</a:t>
            </a:r>
            <a:endParaRPr lang="en-US" noProof="0" dirty="0"/>
          </a:p>
        </p:txBody>
      </p:sp>
      <p:sp>
        <p:nvSpPr>
          <p:cNvPr id="8" name="Shape 6"/>
          <p:cNvSpPr/>
          <p:nvPr/>
        </p:nvSpPr>
        <p:spPr>
          <a:xfrm>
            <a:off x="4332120" y="1857111"/>
            <a:ext cx="3527450" cy="3817243"/>
          </a:xfrm>
          <a:prstGeom prst="roundRect">
            <a:avLst>
              <a:gd name="adj" fmla="val 5000"/>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15000" y="1947238"/>
            <a:ext cx="3161690" cy="66385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En suivi d'un résultat de dépistage anormal</a:t>
            </a:r>
            <a:endParaRPr lang="en-US" sz="1800" noProof="0" dirty="0"/>
          </a:p>
        </p:txBody>
      </p:sp>
      <p:sp>
        <p:nvSpPr>
          <p:cNvPr id="10" name="Text 8"/>
          <p:cNvSpPr/>
          <p:nvPr/>
        </p:nvSpPr>
        <p:spPr>
          <a:xfrm>
            <a:off x="4515000" y="2611092"/>
            <a:ext cx="3161690" cy="908914"/>
          </a:xfrm>
          <a:prstGeom prst="rect">
            <a:avLst/>
          </a:prstGeom>
          <a:noFill/>
          <a:ln/>
        </p:spPr>
        <p:txBody>
          <a:bodyPr wrap="square" lIns="0" tIns="0" rIns="0" bIns="0" rtlCol="0" anchor="t">
            <a:noAutofit/>
          </a:bodyPr>
          <a:lstStyle/>
          <a:p>
            <a:pPr marL="0" indent="0">
              <a:lnSpc>
                <a:spcPct val="105000"/>
              </a:lnSpc>
              <a:buNone/>
            </a:pPr>
            <a:r>
              <a:rPr lang="fr" sz="1584" noProof="0">
                <a:solidFill>
                  <a:srgbClr val="17325E"/>
                </a:solidFill>
                <a:latin typeface="Calibri" pitchFamily="34" charset="0"/>
                <a:ea typeface="Calibri" pitchFamily="34" charset="-122"/>
                <a:cs typeface="Calibri" pitchFamily="34" charset="-120"/>
              </a:rPr>
              <a:t>Réalisé parce qu'un test de selles était positif, pour trouver la source du saignement.</a:t>
            </a:r>
            <a:endParaRPr lang="en-US" noProof="0" dirty="0"/>
          </a:p>
        </p:txBody>
      </p:sp>
      <p:sp>
        <p:nvSpPr>
          <p:cNvPr id="11" name="Shape 9"/>
          <p:cNvSpPr/>
          <p:nvPr/>
        </p:nvSpPr>
        <p:spPr>
          <a:xfrm>
            <a:off x="8115603" y="1857111"/>
            <a:ext cx="3527450" cy="3817243"/>
          </a:xfrm>
          <a:prstGeom prst="roundRect">
            <a:avLst>
              <a:gd name="adj" fmla="val 5000"/>
            </a:avLst>
          </a:prstGeom>
          <a:solidFill>
            <a:srgbClr val="FFF3DF"/>
          </a:solidFill>
          <a:ln w="15875">
            <a:solidFill>
              <a:srgbClr val="E8CFA4"/>
            </a:solidFill>
            <a:prstDash val="solid"/>
          </a:ln>
        </p:spPr>
        <p:txBody>
          <a:bodyPr/>
          <a:lstStyle/>
          <a:p>
            <a:endParaRPr lang="en-US" noProof="0" dirty="0"/>
          </a:p>
        </p:txBody>
      </p:sp>
      <p:sp>
        <p:nvSpPr>
          <p:cNvPr id="12" name="Text 10"/>
          <p:cNvSpPr/>
          <p:nvPr/>
        </p:nvSpPr>
        <p:spPr>
          <a:xfrm>
            <a:off x="8298483" y="1947238"/>
            <a:ext cx="3161690" cy="359359"/>
          </a:xfrm>
          <a:prstGeom prst="rect">
            <a:avLst/>
          </a:prstGeom>
          <a:noFill/>
          <a:ln/>
        </p:spPr>
        <p:txBody>
          <a:bodyPr wrap="square" lIns="0" tIns="0" rIns="0" bIns="0" rtlCol="0" anchor="t"/>
          <a:lstStyle/>
          <a:p>
            <a:pPr marL="0" indent="0">
              <a:buNone/>
            </a:pPr>
            <a:r>
              <a:rPr lang="fr" sz="1800" b="1" noProof="0">
                <a:solidFill>
                  <a:srgbClr val="9A5B00"/>
                </a:solidFill>
                <a:latin typeface="Calibri" pitchFamily="34" charset="0"/>
                <a:ea typeface="Calibri" pitchFamily="34" charset="-122"/>
                <a:cs typeface="Calibri" pitchFamily="34" charset="-120"/>
              </a:rPr>
              <a:t>Comme examen diagnostique</a:t>
            </a:r>
            <a:endParaRPr lang="en-US" sz="1800" noProof="0" dirty="0"/>
          </a:p>
        </p:txBody>
      </p:sp>
      <p:sp>
        <p:nvSpPr>
          <p:cNvPr id="13" name="Text 11"/>
          <p:cNvSpPr/>
          <p:nvPr/>
        </p:nvSpPr>
        <p:spPr>
          <a:xfrm>
            <a:off x="8298483" y="2306597"/>
            <a:ext cx="3161690" cy="1213409"/>
          </a:xfrm>
          <a:prstGeom prst="rect">
            <a:avLst/>
          </a:prstGeom>
          <a:noFill/>
          <a:ln/>
        </p:spPr>
        <p:txBody>
          <a:bodyPr wrap="square" lIns="0" tIns="0" rIns="0" bIns="0" rtlCol="0" anchor="t">
            <a:noAutofit/>
          </a:bodyPr>
          <a:lstStyle/>
          <a:p>
            <a:pPr marL="0" indent="0">
              <a:lnSpc>
                <a:spcPct val="105000"/>
              </a:lnSpc>
              <a:buNone/>
            </a:pPr>
            <a:r>
              <a:rPr lang="fr" sz="1584" noProof="0">
                <a:solidFill>
                  <a:srgbClr val="17325E"/>
                </a:solidFill>
                <a:latin typeface="Calibri" pitchFamily="34" charset="0"/>
                <a:ea typeface="Calibri" pitchFamily="34" charset="-122"/>
                <a:cs typeface="Calibri" pitchFamily="34" charset="-120"/>
              </a:rPr>
              <a:t>Réalisé parce que la personne présente des symptômes ou une anémie inexpliquée. C'est la situation que vous rencontrerez le plus souvent.</a:t>
            </a:r>
            <a:endParaRPr lang="en-US" noProof="0" dirty="0"/>
          </a:p>
        </p:txBody>
      </p:sp>
      <p:sp>
        <p:nvSpPr>
          <p:cNvPr id="16" name="Text 14"/>
          <p:cNvSpPr/>
          <p:nvPr/>
        </p:nvSpPr>
        <p:spPr>
          <a:xfrm>
            <a:off x="581296" y="1168402"/>
            <a:ext cx="11094415" cy="658368"/>
          </a:xfrm>
          <a:prstGeom prst="rect">
            <a:avLst/>
          </a:prstGeom>
          <a:noFill/>
          <a:ln/>
        </p:spPr>
        <p:txBody>
          <a:bodyPr wrap="square" lIns="0" tIns="0" rIns="0" bIns="0" rtlCol="0" anchor="t"/>
          <a:lstStyle/>
          <a:p>
            <a:pPr marL="0" indent="0">
              <a:lnSpc>
                <a:spcPct val="105000"/>
              </a:lnSpc>
              <a:buNone/>
            </a:pPr>
            <a:r>
              <a:rPr lang="fr" sz="1600" i="1" noProof="0" dirty="0">
                <a:solidFill>
                  <a:schemeClr val="bg2">
                    <a:lumMod val="50000"/>
                  </a:schemeClr>
                </a:solidFill>
                <a:latin typeface="Calibri" pitchFamily="34" charset="0"/>
                <a:ea typeface="Calibri" pitchFamily="34" charset="-122"/>
                <a:cs typeface="Calibri" pitchFamily="34" charset="-120"/>
              </a:rPr>
              <a:t>L'</a:t>
            </a:r>
            <a:r>
              <a:rPr lang="fr" sz="1600" i="1" noProof="0" dirty="0" err="1">
                <a:solidFill>
                  <a:schemeClr val="bg2">
                    <a:lumMod val="50000"/>
                  </a:schemeClr>
                </a:solidFill>
                <a:latin typeface="Calibri" pitchFamily="34" charset="0"/>
                <a:ea typeface="Calibri" pitchFamily="34" charset="-122"/>
                <a:cs typeface="Calibri" pitchFamily="34" charset="-120"/>
              </a:rPr>
              <a:t>endoscopiste</a:t>
            </a:r>
            <a:r>
              <a:rPr lang="fr" sz="1600" i="1" noProof="0" dirty="0">
                <a:solidFill>
                  <a:schemeClr val="bg2">
                    <a:lumMod val="50000"/>
                  </a:schemeClr>
                </a:solidFill>
                <a:latin typeface="Calibri" pitchFamily="34" charset="0"/>
                <a:ea typeface="Calibri" pitchFamily="34" charset="-122"/>
                <a:cs typeface="Calibri" pitchFamily="34" charset="-120"/>
              </a:rPr>
              <a:t> peut voir directement la muqueuse du côlon et du rectum, décrire le site et la taille d'une lésion, réaliser des biopsies, retirer complètement les polypes appropriés et marquer une lésion afin qu'un chirurgien puisse la retrouver ultérieurement.</a:t>
            </a:r>
            <a:endParaRPr lang="en-US" sz="1600" i="1" noProof="0" dirty="0">
              <a:solidFill>
                <a:schemeClr val="bg2">
                  <a:lumMod val="50000"/>
                </a:schemeClr>
              </a:solidFill>
            </a:endParaRPr>
          </a:p>
        </p:txBody>
      </p:sp>
      <p:sp>
        <p:nvSpPr>
          <p:cNvPr id="19" name="Text 17"/>
          <p:cNvSpPr/>
          <p:nvPr/>
        </p:nvSpPr>
        <p:spPr>
          <a:xfrm>
            <a:off x="548639" y="5832341"/>
            <a:ext cx="11094415" cy="602190"/>
          </a:xfrm>
          <a:prstGeom prst="rect">
            <a:avLst/>
          </a:prstGeom>
          <a:noFill/>
          <a:ln/>
        </p:spPr>
        <p:txBody>
          <a:bodyPr wrap="square" lIns="0" tIns="0" rIns="0" bIns="0" rtlCol="0" anchor="t">
            <a:normAutofit fontScale="90000"/>
          </a:bodyPr>
          <a:lstStyle/>
          <a:p>
            <a:pPr marL="0" indent="0">
              <a:lnSpc>
                <a:spcPct val="105000"/>
              </a:lnSpc>
              <a:buNone/>
            </a:pPr>
            <a:r>
              <a:rPr lang="fr" sz="1700" b="1" i="1" noProof="0">
                <a:solidFill>
                  <a:schemeClr val="bg2">
                    <a:lumMod val="50000"/>
                  </a:schemeClr>
                </a:solidFill>
                <a:latin typeface="Calibri" pitchFamily="34" charset="0"/>
                <a:ea typeface="Calibri" pitchFamily="34" charset="-122"/>
                <a:cs typeface="Calibri" pitchFamily="34" charset="-120"/>
              </a:rPr>
              <a:t>Remarque : Ces trois usages ne sont pas interchangeables. Décrire une coloscopie diagnostique comme un dépistage embrouille le patient, déforme la raison du test et peut conduire une personne présentant des symptômes à être placée dans une circuit de dépistage/routine.</a:t>
            </a:r>
            <a:endParaRPr lang="en-US" sz="1700" i="1" noProof="0" dirty="0">
              <a:solidFill>
                <a:schemeClr val="bg2">
                  <a:lumMod val="50000"/>
                </a:schemeClr>
              </a:solidFill>
            </a:endParaRPr>
          </a:p>
        </p:txBody>
      </p:sp>
      <p:pic>
        <p:nvPicPr>
          <p:cNvPr id="25" name="Imagen 24">
            <a:extLst>
              <a:ext uri="{FF2B5EF4-FFF2-40B4-BE49-F238E27FC236}">
                <a16:creationId xmlns:a16="http://schemas.microsoft.com/office/drawing/2014/main" id="{C44A2850-9790-192D-9F9F-6C2682C9A2A1}"/>
              </a:ext>
            </a:extLst>
          </p:cNvPr>
          <p:cNvPicPr>
            <a:picLocks noChangeAspect="1"/>
          </p:cNvPicPr>
          <p:nvPr/>
        </p:nvPicPr>
        <p:blipFill>
          <a:blip r:embed="rId3"/>
          <a:stretch>
            <a:fillRect/>
          </a:stretch>
        </p:blipFill>
        <p:spPr>
          <a:xfrm>
            <a:off x="1192285" y="3488970"/>
            <a:ext cx="2068286" cy="2068286"/>
          </a:xfrm>
          <a:prstGeom prst="rect">
            <a:avLst/>
          </a:prstGeom>
        </p:spPr>
      </p:pic>
      <p:pic>
        <p:nvPicPr>
          <p:cNvPr id="26" name="Imagen 25">
            <a:extLst>
              <a:ext uri="{FF2B5EF4-FFF2-40B4-BE49-F238E27FC236}">
                <a16:creationId xmlns:a16="http://schemas.microsoft.com/office/drawing/2014/main" id="{9D42157E-7336-E370-7D0B-C0CAA5C8C212}"/>
              </a:ext>
            </a:extLst>
          </p:cNvPr>
          <p:cNvPicPr>
            <a:picLocks noChangeAspect="1"/>
          </p:cNvPicPr>
          <p:nvPr/>
        </p:nvPicPr>
        <p:blipFill>
          <a:blip r:embed="rId4"/>
          <a:stretch>
            <a:fillRect/>
          </a:stretch>
        </p:blipFill>
        <p:spPr>
          <a:xfrm>
            <a:off x="5060111" y="3488970"/>
            <a:ext cx="2071467" cy="2071467"/>
          </a:xfrm>
          <a:prstGeom prst="rect">
            <a:avLst/>
          </a:prstGeom>
        </p:spPr>
      </p:pic>
      <p:pic>
        <p:nvPicPr>
          <p:cNvPr id="27" name="Imagen 26">
            <a:extLst>
              <a:ext uri="{FF2B5EF4-FFF2-40B4-BE49-F238E27FC236}">
                <a16:creationId xmlns:a16="http://schemas.microsoft.com/office/drawing/2014/main" id="{2FA6698A-E0CC-D67A-AA98-819BAB75E1FD}"/>
              </a:ext>
            </a:extLst>
          </p:cNvPr>
          <p:cNvPicPr>
            <a:picLocks noChangeAspect="1"/>
          </p:cNvPicPr>
          <p:nvPr/>
        </p:nvPicPr>
        <p:blipFill>
          <a:blip r:embed="rId5"/>
          <a:stretch>
            <a:fillRect/>
          </a:stretch>
        </p:blipFill>
        <p:spPr>
          <a:xfrm>
            <a:off x="8931729" y="3489269"/>
            <a:ext cx="2067986" cy="2067986"/>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Biopsie et histopathologie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22" name="Text 20"/>
          <p:cNvSpPr/>
          <p:nvPr/>
        </p:nvSpPr>
        <p:spPr>
          <a:xfrm>
            <a:off x="623334" y="5594695"/>
            <a:ext cx="11094415" cy="530352"/>
          </a:xfrm>
          <a:prstGeom prst="rect">
            <a:avLst/>
          </a:prstGeom>
          <a:noFill/>
          <a:ln/>
        </p:spPr>
        <p:txBody>
          <a:bodyPr wrap="square" lIns="0" tIns="0" rIns="0" bIns="0" rtlCol="0" anchor="t">
            <a:normAutofit fontScale="94000"/>
          </a:bodyPr>
          <a:lstStyle/>
          <a:p>
            <a:pPr marL="0" indent="0">
              <a:lnSpc>
                <a:spcPct val="105000"/>
              </a:lnSpc>
              <a:buNone/>
            </a:pPr>
            <a:r>
              <a:rPr lang="fr" sz="1700" b="1" i="1" noProof="0">
                <a:solidFill>
                  <a:schemeClr val="bg2">
                    <a:lumMod val="50000"/>
                  </a:schemeClr>
                </a:solidFill>
                <a:latin typeface="Calibri" pitchFamily="34" charset="0"/>
                <a:ea typeface="Calibri" pitchFamily="34" charset="-122"/>
                <a:cs typeface="Calibri" pitchFamily="34" charset="-120"/>
              </a:rPr>
              <a:t>Note : Les services d'histopathologie au Rwanda sont concentrés dans les hôpitaux tertiaires, donc les prélèvements et les comptes rendus circulent. Une fois le cancer confirmé, le dossier est présenté en réunion de concertation pluridisciplinaire.</a:t>
            </a:r>
            <a:endParaRPr lang="en-US" sz="1700" i="1" noProof="0" dirty="0">
              <a:solidFill>
                <a:schemeClr val="bg2">
                  <a:lumMod val="50000"/>
                </a:schemeClr>
              </a:solidFill>
            </a:endParaRPr>
          </a:p>
        </p:txBody>
      </p:sp>
      <p:pic>
        <p:nvPicPr>
          <p:cNvPr id="5" name="Imagen 4">
            <a:extLst>
              <a:ext uri="{FF2B5EF4-FFF2-40B4-BE49-F238E27FC236}">
                <a16:creationId xmlns:a16="http://schemas.microsoft.com/office/drawing/2014/main" id="{71A6C2AE-05D6-CB43-E293-FA1D8DAD1C39}"/>
              </a:ext>
            </a:extLst>
          </p:cNvPr>
          <p:cNvPicPr>
            <a:picLocks noChangeAspect="1"/>
          </p:cNvPicPr>
          <p:nvPr/>
        </p:nvPicPr>
        <p:blipFill>
          <a:blip r:embed="rId3"/>
          <a:stretch>
            <a:fillRect/>
          </a:stretch>
        </p:blipFill>
        <p:spPr>
          <a:xfrm>
            <a:off x="1447800" y="1225296"/>
            <a:ext cx="8928100" cy="435954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Imagerie et stadification</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39" y="2699442"/>
            <a:ext cx="3551834" cy="2513951"/>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19" y="2845746"/>
            <a:ext cx="2103120"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Étendue locale</a:t>
            </a:r>
            <a:endParaRPr lang="en-US" sz="1800" noProof="0" dirty="0"/>
          </a:p>
        </p:txBody>
      </p:sp>
      <p:sp>
        <p:nvSpPr>
          <p:cNvPr id="7" name="Text 5"/>
          <p:cNvSpPr/>
          <p:nvPr/>
        </p:nvSpPr>
        <p:spPr>
          <a:xfrm>
            <a:off x="731519" y="3172447"/>
            <a:ext cx="2207624" cy="1442009"/>
          </a:xfrm>
          <a:prstGeom prst="rect">
            <a:avLst/>
          </a:prstGeom>
          <a:noFill/>
          <a:ln/>
        </p:spPr>
        <p:txBody>
          <a:bodyPr wrap="square" lIns="0" tIns="0" rIns="0" bIns="0" rtlCol="0" anchor="t">
            <a:noAutofit/>
          </a:bodyPr>
          <a:lstStyle/>
          <a:p>
            <a:pPr marL="0" indent="0">
              <a:lnSpc>
                <a:spcPct val="105000"/>
              </a:lnSpc>
              <a:buNone/>
            </a:pPr>
            <a:r>
              <a:rPr lang="fr" sz="1548" noProof="0">
                <a:solidFill>
                  <a:srgbClr val="17325E"/>
                </a:solidFill>
                <a:latin typeface="Calibri" pitchFamily="34" charset="0"/>
                <a:ea typeface="Calibri" pitchFamily="34" charset="-122"/>
                <a:cs typeface="Calibri" pitchFamily="34" charset="-120"/>
              </a:rPr>
              <a:t>L'imagerie montre jusqu'où la tumeur a progressé à travers la paroi intestinale et si elle concerne des structures voisines. C'est ce qui est le plus important dans le cancer du rectum.</a:t>
            </a:r>
            <a:endParaRPr lang="en-US" sz="1548" noProof="0" dirty="0"/>
          </a:p>
        </p:txBody>
      </p:sp>
      <p:sp>
        <p:nvSpPr>
          <p:cNvPr id="8" name="Shape 6"/>
          <p:cNvSpPr/>
          <p:nvPr/>
        </p:nvSpPr>
        <p:spPr>
          <a:xfrm>
            <a:off x="4319929" y="2699442"/>
            <a:ext cx="3551834" cy="2513951"/>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09" y="2845746"/>
            <a:ext cx="2103120"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Ganglions lymphatiques</a:t>
            </a:r>
            <a:endParaRPr lang="en-US" sz="1800" noProof="0" dirty="0"/>
          </a:p>
        </p:txBody>
      </p:sp>
      <p:sp>
        <p:nvSpPr>
          <p:cNvPr id="10" name="Text 8"/>
          <p:cNvSpPr/>
          <p:nvPr/>
        </p:nvSpPr>
        <p:spPr>
          <a:xfrm>
            <a:off x="4502809" y="3429000"/>
            <a:ext cx="2126591"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L'imagerie évalue les ganglions lymphatiques régionaux, ce qui contribue au N du stade.</a:t>
            </a:r>
            <a:endParaRPr lang="en-US" sz="1800" noProof="0" dirty="0"/>
          </a:p>
        </p:txBody>
      </p:sp>
      <p:sp>
        <p:nvSpPr>
          <p:cNvPr id="11" name="Shape 9"/>
          <p:cNvSpPr/>
          <p:nvPr/>
        </p:nvSpPr>
        <p:spPr>
          <a:xfrm>
            <a:off x="8091220" y="2699442"/>
            <a:ext cx="3551834" cy="2513951"/>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0" y="2845746"/>
            <a:ext cx="2103120"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Propagation à distance</a:t>
            </a:r>
            <a:endParaRPr lang="en-US" sz="1800" noProof="0" dirty="0"/>
          </a:p>
        </p:txBody>
      </p:sp>
      <p:sp>
        <p:nvSpPr>
          <p:cNvPr id="13" name="Text 11"/>
          <p:cNvSpPr/>
          <p:nvPr/>
        </p:nvSpPr>
        <p:spPr>
          <a:xfrm>
            <a:off x="8274100" y="3429000"/>
            <a:ext cx="2094543" cy="1442009"/>
          </a:xfrm>
          <a:prstGeom prst="rect">
            <a:avLst/>
          </a:prstGeom>
          <a:noFill/>
          <a:ln/>
        </p:spPr>
        <p:txBody>
          <a:bodyPr wrap="square" lIns="0" tIns="0" rIns="0" bIns="0" rtlCol="0" anchor="t">
            <a:noAutofit/>
          </a:bodyPr>
          <a:lstStyle/>
          <a:p>
            <a:pPr marL="0" indent="0">
              <a:lnSpc>
                <a:spcPct val="105000"/>
              </a:lnSpc>
              <a:buNone/>
            </a:pPr>
            <a:r>
              <a:rPr lang="fr" sz="1710" noProof="0">
                <a:solidFill>
                  <a:srgbClr val="17325E"/>
                </a:solidFill>
                <a:latin typeface="Calibri" pitchFamily="34" charset="0"/>
                <a:ea typeface="Calibri" pitchFamily="34" charset="-122"/>
                <a:cs typeface="Calibri" pitchFamily="34" charset="-120"/>
              </a:rPr>
              <a:t>L'imagerie du thorax, de l'abdomen et du pelvis recherche des métastases, le plus souvent au niveau du foie, puis des poumons.</a:t>
            </a:r>
            <a:endParaRPr lang="en-US" sz="1710" noProof="0" dirty="0"/>
          </a:p>
        </p:txBody>
      </p:sp>
      <p:sp>
        <p:nvSpPr>
          <p:cNvPr id="19" name="Text 17"/>
          <p:cNvSpPr/>
          <p:nvPr/>
        </p:nvSpPr>
        <p:spPr>
          <a:xfrm>
            <a:off x="641473" y="5334220"/>
            <a:ext cx="11094415" cy="658369"/>
          </a:xfrm>
          <a:prstGeom prst="rect">
            <a:avLst/>
          </a:prstGeom>
          <a:noFill/>
          <a:ln/>
        </p:spPr>
        <p:txBody>
          <a:bodyPr wrap="square" lIns="0" tIns="0" rIns="0" bIns="0" rtlCol="0" anchor="t"/>
          <a:lstStyle/>
          <a:p>
            <a:pPr marL="0" indent="0">
              <a:lnSpc>
                <a:spcPct val="105000"/>
              </a:lnSpc>
              <a:buNone/>
            </a:pPr>
            <a:r>
              <a:rPr lang="fr" sz="1700" b="1" i="1" noProof="0">
                <a:solidFill>
                  <a:schemeClr val="bg2">
                    <a:lumMod val="50000"/>
                  </a:schemeClr>
                </a:solidFill>
                <a:latin typeface="Calibri" pitchFamily="34" charset="0"/>
                <a:ea typeface="Calibri" pitchFamily="34" charset="-122"/>
                <a:cs typeface="Calibri" pitchFamily="34" charset="-120"/>
              </a:rPr>
              <a:t>L'accès est limité : </a:t>
            </a:r>
            <a:r>
              <a:rPr lang="fr" sz="1700" i="1" noProof="0">
                <a:solidFill>
                  <a:schemeClr val="bg2">
                    <a:lumMod val="50000"/>
                  </a:schemeClr>
                </a:solidFill>
                <a:latin typeface="Calibri" pitchFamily="34" charset="0"/>
                <a:ea typeface="Calibri" pitchFamily="34" charset="-122"/>
                <a:cs typeface="Calibri" pitchFamily="34" charset="-120"/>
              </a:rPr>
              <a:t>la tomodensitométrie est disponible dans les hôpitaux de référence et l'imagerie par résonance magnétique dans un nombre encore moins important de sites. La médecine nucléaire n'est pas encore en service de routine.</a:t>
            </a:r>
            <a:endParaRPr lang="en-US" sz="1700" i="1" noProof="0" dirty="0">
              <a:solidFill>
                <a:schemeClr val="bg2">
                  <a:lumMod val="50000"/>
                </a:schemeClr>
              </a:solidFill>
            </a:endParaRPr>
          </a:p>
        </p:txBody>
      </p:sp>
      <p:sp>
        <p:nvSpPr>
          <p:cNvPr id="25" name="Shape 12">
            <a:extLst>
              <a:ext uri="{FF2B5EF4-FFF2-40B4-BE49-F238E27FC236}">
                <a16:creationId xmlns:a16="http://schemas.microsoft.com/office/drawing/2014/main" id="{6303DC0B-2FF0-4100-8D9A-CF771A2BE643}"/>
              </a:ext>
            </a:extLst>
          </p:cNvPr>
          <p:cNvSpPr/>
          <p:nvPr/>
        </p:nvSpPr>
        <p:spPr>
          <a:xfrm>
            <a:off x="548638" y="1316737"/>
            <a:ext cx="11094415" cy="1225296"/>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6" name="Text 13">
            <a:extLst>
              <a:ext uri="{FF2B5EF4-FFF2-40B4-BE49-F238E27FC236}">
                <a16:creationId xmlns:a16="http://schemas.microsoft.com/office/drawing/2014/main" id="{352F4D7A-1D2F-7C56-FCED-0E0E5C41FD1D}"/>
              </a:ext>
            </a:extLst>
          </p:cNvPr>
          <p:cNvSpPr/>
          <p:nvPr/>
        </p:nvSpPr>
        <p:spPr>
          <a:xfrm>
            <a:off x="731518" y="1348737"/>
            <a:ext cx="9951937"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Quels tests</a:t>
            </a:r>
            <a:endParaRPr lang="en-US" sz="1800" noProof="0" dirty="0"/>
          </a:p>
        </p:txBody>
      </p:sp>
      <p:sp>
        <p:nvSpPr>
          <p:cNvPr id="27" name="Text 14">
            <a:extLst>
              <a:ext uri="{FF2B5EF4-FFF2-40B4-BE49-F238E27FC236}">
                <a16:creationId xmlns:a16="http://schemas.microsoft.com/office/drawing/2014/main" id="{69456A64-DA41-72C0-0B66-116AF5CAADE8}"/>
              </a:ext>
            </a:extLst>
          </p:cNvPr>
          <p:cNvSpPr/>
          <p:nvPr/>
        </p:nvSpPr>
        <p:spPr>
          <a:xfrm>
            <a:off x="731518" y="1708096"/>
            <a:ext cx="10765233"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Pour tout cancer, réalisez une tomodensitométrie thoracique avec injection et une tomodensitométrie abdominale multiphasique. Pour le cancer du rectum, ajoutez une IRM pelvienne avec injection.</a:t>
            </a:r>
            <a:endParaRPr lang="en-US" sz="1800" noProof="0" dirty="0"/>
          </a:p>
        </p:txBody>
      </p:sp>
      <p:pic>
        <p:nvPicPr>
          <p:cNvPr id="29" name="Imagen 28">
            <a:extLst>
              <a:ext uri="{FF2B5EF4-FFF2-40B4-BE49-F238E27FC236}">
                <a16:creationId xmlns:a16="http://schemas.microsoft.com/office/drawing/2014/main" id="{07ACC50B-D2A5-45BD-6DC5-F138F596E3E4}"/>
              </a:ext>
            </a:extLst>
          </p:cNvPr>
          <p:cNvPicPr>
            <a:picLocks noChangeAspect="1"/>
          </p:cNvPicPr>
          <p:nvPr/>
        </p:nvPicPr>
        <p:blipFill>
          <a:blip r:embed="rId3"/>
          <a:srcRect/>
          <a:stretch>
            <a:fillRect/>
          </a:stretch>
        </p:blipFill>
        <p:spPr>
          <a:xfrm>
            <a:off x="2920252" y="2781871"/>
            <a:ext cx="1123430" cy="1123430"/>
          </a:xfrm>
          <a:prstGeom prst="rect">
            <a:avLst/>
          </a:prstGeom>
        </p:spPr>
      </p:pic>
      <p:pic>
        <p:nvPicPr>
          <p:cNvPr id="30" name="Imagen 29">
            <a:extLst>
              <a:ext uri="{FF2B5EF4-FFF2-40B4-BE49-F238E27FC236}">
                <a16:creationId xmlns:a16="http://schemas.microsoft.com/office/drawing/2014/main" id="{51175692-E3CE-5DC7-016C-DDAE9AA9F081}"/>
              </a:ext>
            </a:extLst>
          </p:cNvPr>
          <p:cNvPicPr>
            <a:picLocks noChangeAspect="1"/>
          </p:cNvPicPr>
          <p:nvPr/>
        </p:nvPicPr>
        <p:blipFill>
          <a:blip r:embed="rId4"/>
          <a:srcRect/>
          <a:stretch>
            <a:fillRect/>
          </a:stretch>
        </p:blipFill>
        <p:spPr>
          <a:xfrm>
            <a:off x="6677208" y="2799300"/>
            <a:ext cx="1088571" cy="1088571"/>
          </a:xfrm>
          <a:prstGeom prst="rect">
            <a:avLst/>
          </a:prstGeom>
        </p:spPr>
      </p:pic>
      <p:pic>
        <p:nvPicPr>
          <p:cNvPr id="31" name="Imagen 30">
            <a:extLst>
              <a:ext uri="{FF2B5EF4-FFF2-40B4-BE49-F238E27FC236}">
                <a16:creationId xmlns:a16="http://schemas.microsoft.com/office/drawing/2014/main" id="{4A0F899C-C010-D96E-455A-54C75DA77948}"/>
              </a:ext>
            </a:extLst>
          </p:cNvPr>
          <p:cNvPicPr>
            <a:picLocks noChangeAspect="1"/>
          </p:cNvPicPr>
          <p:nvPr/>
        </p:nvPicPr>
        <p:blipFill>
          <a:blip r:embed="rId5"/>
          <a:srcRect/>
          <a:stretch>
            <a:fillRect/>
          </a:stretch>
        </p:blipFill>
        <p:spPr>
          <a:xfrm>
            <a:off x="10403694" y="2784108"/>
            <a:ext cx="1140865" cy="114086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Associez l'indice à l'étape suivante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261872"/>
            <a:ext cx="11094415" cy="274320"/>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Dans le module, il s'agit d'une activité interactive de correspondance. Le bon appariement est montré ici.</a:t>
            </a:r>
            <a:endParaRPr lang="en-US" sz="1500" noProof="0" dirty="0"/>
          </a:p>
        </p:txBody>
      </p:sp>
      <p:sp>
        <p:nvSpPr>
          <p:cNvPr id="6" name="Shape 4"/>
          <p:cNvSpPr/>
          <p:nvPr/>
        </p:nvSpPr>
        <p:spPr>
          <a:xfrm>
            <a:off x="548640" y="1881690"/>
            <a:ext cx="5486400" cy="713232"/>
          </a:xfrm>
          <a:prstGeom prst="roundRect">
            <a:avLst>
              <a:gd name="adj" fmla="val 12821"/>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31520" y="2027994"/>
            <a:ext cx="5120640" cy="457200"/>
          </a:xfrm>
          <a:prstGeom prst="rect">
            <a:avLst/>
          </a:prstGeom>
          <a:noFill/>
          <a:ln/>
        </p:spPr>
        <p:txBody>
          <a:bodyPr wrap="square" lIns="0" tIns="0" rIns="0" bIns="0" rtlCol="0" anchor="t"/>
          <a:lstStyle/>
          <a:p>
            <a:pPr marL="0" indent="0">
              <a:lnSpc>
                <a:spcPct val="105000"/>
              </a:lnSpc>
              <a:buNone/>
            </a:pPr>
            <a:r>
              <a:rPr lang="fr" sz="1700" noProof="0">
                <a:solidFill>
                  <a:srgbClr val="17325E"/>
                </a:solidFill>
                <a:latin typeface="Calibri" pitchFamily="34" charset="0"/>
                <a:ea typeface="Calibri" pitchFamily="34" charset="-122"/>
                <a:cs typeface="Calibri" pitchFamily="34" charset="-120"/>
              </a:rPr>
              <a:t>Chirurgie ± chimiothérapie</a:t>
            </a:r>
            <a:endParaRPr lang="en-US" sz="1700" noProof="0" dirty="0"/>
          </a:p>
        </p:txBody>
      </p:sp>
      <p:sp>
        <p:nvSpPr>
          <p:cNvPr id="8" name="Text 6"/>
          <p:cNvSpPr/>
          <p:nvPr/>
        </p:nvSpPr>
        <p:spPr>
          <a:xfrm>
            <a:off x="6126480" y="1881690"/>
            <a:ext cx="411480" cy="713232"/>
          </a:xfrm>
          <a:prstGeom prst="rect">
            <a:avLst/>
          </a:prstGeom>
          <a:noFill/>
          <a:ln/>
        </p:spPr>
        <p:txBody>
          <a:bodyPr wrap="square" lIns="0" tIns="0" rIns="0" bIns="0" rtlCol="0" anchor="ctr"/>
          <a:lstStyle/>
          <a:p>
            <a:pPr marL="0" indent="0" algn="ctr">
              <a:buNone/>
            </a:pPr>
            <a:r>
              <a:rPr lang="fr" sz="1800" b="1" noProof="0">
                <a:solidFill>
                  <a:srgbClr val="1F4E96"/>
                </a:solidFill>
                <a:latin typeface="Calibri" pitchFamily="34" charset="0"/>
                <a:ea typeface="Calibri" pitchFamily="34" charset="-122"/>
                <a:cs typeface="Calibri" pitchFamily="34" charset="-120"/>
              </a:rPr>
              <a:t>➔</a:t>
            </a:r>
            <a:endParaRPr lang="en-US" sz="1800" noProof="0" dirty="0"/>
          </a:p>
        </p:txBody>
      </p:sp>
      <p:sp>
        <p:nvSpPr>
          <p:cNvPr id="9" name="Shape 7"/>
          <p:cNvSpPr/>
          <p:nvPr/>
        </p:nvSpPr>
        <p:spPr>
          <a:xfrm>
            <a:off x="6583680" y="1881690"/>
            <a:ext cx="5059375" cy="713232"/>
          </a:xfrm>
          <a:prstGeom prst="roundRect">
            <a:avLst>
              <a:gd name="adj" fmla="val 12821"/>
            </a:avLst>
          </a:prstGeom>
          <a:solidFill>
            <a:srgbClr val="EAF6F0"/>
          </a:solidFill>
          <a:ln w="15875">
            <a:solidFill>
              <a:srgbClr val="9BCBB4"/>
            </a:solidFill>
            <a:prstDash val="solid"/>
          </a:ln>
        </p:spPr>
        <p:txBody>
          <a:bodyPr/>
          <a:lstStyle/>
          <a:p>
            <a:endParaRPr lang="en-US" noProof="0" dirty="0"/>
          </a:p>
        </p:txBody>
      </p:sp>
      <p:sp>
        <p:nvSpPr>
          <p:cNvPr id="10" name="Text 8"/>
          <p:cNvSpPr/>
          <p:nvPr/>
        </p:nvSpPr>
        <p:spPr>
          <a:xfrm>
            <a:off x="6766560" y="2027994"/>
            <a:ext cx="4693615" cy="457200"/>
          </a:xfrm>
          <a:prstGeom prst="rect">
            <a:avLst/>
          </a:prstGeom>
          <a:noFill/>
          <a:ln/>
        </p:spPr>
        <p:txBody>
          <a:bodyPr wrap="square" lIns="0" tIns="0" rIns="0" bIns="0" rtlCol="0" anchor="t">
            <a:normAutofit fontScale="60500" lnSpcReduction="20000"/>
          </a:bodyPr>
          <a:lstStyle/>
          <a:p>
            <a:pPr marL="0" indent="0">
              <a:lnSpc>
                <a:spcPct val="105000"/>
              </a:lnSpc>
              <a:buNone/>
            </a:pPr>
            <a:r>
              <a:rPr lang="fr" sz="1700" noProof="0">
                <a:solidFill>
                  <a:srgbClr val="126647"/>
                </a:solidFill>
                <a:latin typeface="Calibri" pitchFamily="34" charset="0"/>
                <a:ea typeface="Calibri" pitchFamily="34" charset="-122"/>
                <a:cs typeface="Calibri" pitchFamily="34" charset="-120"/>
              </a:rPr>
              <a:t>Pour de nombreux cancers du côlon localisés. Une chimiothérapie peut ensuite être administrée après la chirurgie afin de réduire le risque de récidive.</a:t>
            </a:r>
            <a:endParaRPr lang="en-US" sz="1700" noProof="0" dirty="0"/>
          </a:p>
        </p:txBody>
      </p:sp>
      <p:sp>
        <p:nvSpPr>
          <p:cNvPr id="11" name="Shape 9"/>
          <p:cNvSpPr/>
          <p:nvPr/>
        </p:nvSpPr>
        <p:spPr>
          <a:xfrm>
            <a:off x="548640" y="3440624"/>
            <a:ext cx="5486400" cy="713232"/>
          </a:xfrm>
          <a:prstGeom prst="roundRect">
            <a:avLst>
              <a:gd name="adj" fmla="val 12821"/>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731520" y="3586928"/>
            <a:ext cx="5120640" cy="457200"/>
          </a:xfrm>
          <a:prstGeom prst="rect">
            <a:avLst/>
          </a:prstGeom>
          <a:noFill/>
          <a:ln/>
        </p:spPr>
        <p:txBody>
          <a:bodyPr wrap="square" lIns="0" tIns="0" rIns="0" bIns="0" rtlCol="0" anchor="t"/>
          <a:lstStyle/>
          <a:p>
            <a:pPr marL="0" indent="0">
              <a:lnSpc>
                <a:spcPct val="105000"/>
              </a:lnSpc>
              <a:buNone/>
            </a:pPr>
            <a:r>
              <a:rPr lang="fr" sz="1700" noProof="0">
                <a:solidFill>
                  <a:srgbClr val="17325E"/>
                </a:solidFill>
                <a:latin typeface="Calibri" pitchFamily="34" charset="0"/>
                <a:ea typeface="Calibri" pitchFamily="34" charset="-122"/>
                <a:cs typeface="Calibri" pitchFamily="34" charset="-120"/>
              </a:rPr>
              <a:t>Chimiothérapie + radiothérapie + chirurgie</a:t>
            </a:r>
            <a:endParaRPr lang="en-US" sz="1700" noProof="0" dirty="0"/>
          </a:p>
        </p:txBody>
      </p:sp>
      <p:sp>
        <p:nvSpPr>
          <p:cNvPr id="13" name="Text 11"/>
          <p:cNvSpPr/>
          <p:nvPr/>
        </p:nvSpPr>
        <p:spPr>
          <a:xfrm>
            <a:off x="6126480" y="3440624"/>
            <a:ext cx="411480" cy="713232"/>
          </a:xfrm>
          <a:prstGeom prst="rect">
            <a:avLst/>
          </a:prstGeom>
          <a:noFill/>
          <a:ln/>
        </p:spPr>
        <p:txBody>
          <a:bodyPr wrap="square" lIns="0" tIns="0" rIns="0" bIns="0" rtlCol="0" anchor="ctr"/>
          <a:lstStyle/>
          <a:p>
            <a:pPr marL="0" indent="0" algn="ctr">
              <a:buNone/>
            </a:pPr>
            <a:r>
              <a:rPr lang="fr" sz="1800" b="1" noProof="0">
                <a:solidFill>
                  <a:srgbClr val="1F4E96"/>
                </a:solidFill>
                <a:latin typeface="Calibri" pitchFamily="34" charset="0"/>
                <a:ea typeface="Calibri" pitchFamily="34" charset="-122"/>
                <a:cs typeface="Calibri" pitchFamily="34" charset="-120"/>
              </a:rPr>
              <a:t>➔</a:t>
            </a:r>
            <a:endParaRPr lang="en-US" sz="1800" noProof="0" dirty="0"/>
          </a:p>
        </p:txBody>
      </p:sp>
      <p:sp>
        <p:nvSpPr>
          <p:cNvPr id="14" name="Shape 12"/>
          <p:cNvSpPr/>
          <p:nvPr/>
        </p:nvSpPr>
        <p:spPr>
          <a:xfrm>
            <a:off x="6583680" y="3242911"/>
            <a:ext cx="5059375" cy="1020167"/>
          </a:xfrm>
          <a:prstGeom prst="roundRect">
            <a:avLst>
              <a:gd name="adj" fmla="val 12821"/>
            </a:avLst>
          </a:prstGeom>
          <a:solidFill>
            <a:srgbClr val="EAF6F0"/>
          </a:solidFill>
          <a:ln w="15875">
            <a:solidFill>
              <a:srgbClr val="9BCBB4"/>
            </a:solidFill>
            <a:prstDash val="solid"/>
          </a:ln>
        </p:spPr>
        <p:txBody>
          <a:bodyPr/>
          <a:lstStyle/>
          <a:p>
            <a:endParaRPr lang="en-US" noProof="0" dirty="0"/>
          </a:p>
        </p:txBody>
      </p:sp>
      <p:sp>
        <p:nvSpPr>
          <p:cNvPr id="15" name="Text 13"/>
          <p:cNvSpPr/>
          <p:nvPr/>
        </p:nvSpPr>
        <p:spPr>
          <a:xfrm>
            <a:off x="6766560" y="3389216"/>
            <a:ext cx="4693615" cy="457200"/>
          </a:xfrm>
          <a:prstGeom prst="rect">
            <a:avLst/>
          </a:prstGeom>
          <a:noFill/>
          <a:ln/>
        </p:spPr>
        <p:txBody>
          <a:bodyPr wrap="square" lIns="0" tIns="0" rIns="0" bIns="0" rtlCol="0" anchor="t">
            <a:normAutofit fontScale="68000" lnSpcReduction="20000"/>
          </a:bodyPr>
          <a:lstStyle/>
          <a:p>
            <a:pPr marL="0" indent="0">
              <a:lnSpc>
                <a:spcPct val="105000"/>
              </a:lnSpc>
              <a:buNone/>
            </a:pPr>
            <a:r>
              <a:rPr lang="fr" sz="1700" noProof="0">
                <a:solidFill>
                  <a:srgbClr val="126647"/>
                </a:solidFill>
                <a:latin typeface="Calibri" pitchFamily="34" charset="0"/>
                <a:ea typeface="Calibri" pitchFamily="34" charset="-122"/>
                <a:cs typeface="Calibri" pitchFamily="34" charset="-120"/>
              </a:rPr>
              <a:t>Pour de nombreux cancers rectaux localement avancés, administrés avant intervention pour réduire la tumeur et améliorer le contrôle local.</a:t>
            </a:r>
            <a:endParaRPr lang="en-US" sz="1700" noProof="0" dirty="0"/>
          </a:p>
        </p:txBody>
      </p:sp>
      <p:sp>
        <p:nvSpPr>
          <p:cNvPr id="16" name="Shape 14"/>
          <p:cNvSpPr/>
          <p:nvPr/>
        </p:nvSpPr>
        <p:spPr>
          <a:xfrm>
            <a:off x="548640" y="4913061"/>
            <a:ext cx="5486400" cy="713232"/>
          </a:xfrm>
          <a:prstGeom prst="roundRect">
            <a:avLst>
              <a:gd name="adj" fmla="val 12821"/>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731520" y="5059365"/>
            <a:ext cx="5120640" cy="457200"/>
          </a:xfrm>
          <a:prstGeom prst="rect">
            <a:avLst/>
          </a:prstGeom>
          <a:noFill/>
          <a:ln/>
        </p:spPr>
        <p:txBody>
          <a:bodyPr wrap="square" lIns="0" tIns="0" rIns="0" bIns="0" rtlCol="0" anchor="t"/>
          <a:lstStyle/>
          <a:p>
            <a:pPr marL="0" indent="0">
              <a:lnSpc>
                <a:spcPct val="105000"/>
              </a:lnSpc>
              <a:buNone/>
            </a:pPr>
            <a:r>
              <a:rPr lang="fr" sz="1700" noProof="0">
                <a:solidFill>
                  <a:srgbClr val="17325E"/>
                </a:solidFill>
                <a:latin typeface="Calibri" pitchFamily="34" charset="0"/>
                <a:ea typeface="Calibri" pitchFamily="34" charset="-122"/>
                <a:cs typeface="Calibri" pitchFamily="34" charset="-120"/>
              </a:rPr>
              <a:t>Chimiothérapie / thérapie systémique</a:t>
            </a:r>
            <a:endParaRPr lang="en-US" sz="1700" noProof="0" dirty="0"/>
          </a:p>
        </p:txBody>
      </p:sp>
      <p:sp>
        <p:nvSpPr>
          <p:cNvPr id="18" name="Text 16"/>
          <p:cNvSpPr/>
          <p:nvPr/>
        </p:nvSpPr>
        <p:spPr>
          <a:xfrm>
            <a:off x="6126480" y="4913061"/>
            <a:ext cx="411480" cy="713232"/>
          </a:xfrm>
          <a:prstGeom prst="rect">
            <a:avLst/>
          </a:prstGeom>
          <a:noFill/>
          <a:ln/>
        </p:spPr>
        <p:txBody>
          <a:bodyPr wrap="square" lIns="0" tIns="0" rIns="0" bIns="0" rtlCol="0" anchor="ctr"/>
          <a:lstStyle/>
          <a:p>
            <a:pPr marL="0" indent="0" algn="ctr">
              <a:buNone/>
            </a:pPr>
            <a:r>
              <a:rPr lang="fr" sz="1800" b="1" noProof="0">
                <a:solidFill>
                  <a:srgbClr val="1F4E96"/>
                </a:solidFill>
                <a:latin typeface="Calibri" pitchFamily="34" charset="0"/>
                <a:ea typeface="Calibri" pitchFamily="34" charset="-122"/>
                <a:cs typeface="Calibri" pitchFamily="34" charset="-120"/>
              </a:rPr>
              <a:t>➔</a:t>
            </a:r>
            <a:endParaRPr lang="en-US" sz="1800" noProof="0" dirty="0"/>
          </a:p>
        </p:txBody>
      </p:sp>
      <p:sp>
        <p:nvSpPr>
          <p:cNvPr id="19" name="Shape 17"/>
          <p:cNvSpPr/>
          <p:nvPr/>
        </p:nvSpPr>
        <p:spPr>
          <a:xfrm>
            <a:off x="6583680" y="4678277"/>
            <a:ext cx="5059375" cy="1117041"/>
          </a:xfrm>
          <a:prstGeom prst="roundRect">
            <a:avLst>
              <a:gd name="adj" fmla="val 12821"/>
            </a:avLst>
          </a:prstGeom>
          <a:solidFill>
            <a:srgbClr val="EAF6F0"/>
          </a:solidFill>
          <a:ln w="15875">
            <a:solidFill>
              <a:srgbClr val="9BCBB4"/>
            </a:solidFill>
            <a:prstDash val="solid"/>
          </a:ln>
        </p:spPr>
        <p:txBody>
          <a:bodyPr/>
          <a:lstStyle/>
          <a:p>
            <a:endParaRPr lang="en-US" noProof="0" dirty="0"/>
          </a:p>
        </p:txBody>
      </p:sp>
      <p:sp>
        <p:nvSpPr>
          <p:cNvPr id="20" name="Text 18"/>
          <p:cNvSpPr/>
          <p:nvPr/>
        </p:nvSpPr>
        <p:spPr>
          <a:xfrm>
            <a:off x="6766560" y="4824582"/>
            <a:ext cx="4693615" cy="457200"/>
          </a:xfrm>
          <a:prstGeom prst="rect">
            <a:avLst/>
          </a:prstGeom>
          <a:noFill/>
          <a:ln/>
        </p:spPr>
        <p:txBody>
          <a:bodyPr wrap="square" lIns="0" tIns="0" rIns="0" bIns="0" rtlCol="0" anchor="t">
            <a:noAutofit/>
          </a:bodyPr>
          <a:lstStyle/>
          <a:p>
            <a:pPr marL="0" indent="0">
              <a:lnSpc>
                <a:spcPct val="105000"/>
              </a:lnSpc>
              <a:buNone/>
            </a:pPr>
            <a:r>
              <a:rPr lang="fr" sz="1156" noProof="0">
                <a:solidFill>
                  <a:srgbClr val="126647"/>
                </a:solidFill>
                <a:latin typeface="Calibri" pitchFamily="34" charset="0"/>
                <a:ea typeface="Calibri" pitchFamily="34" charset="-122"/>
                <a:cs typeface="Calibri" pitchFamily="34" charset="-120"/>
              </a:rPr>
              <a:t>Pour une maladie avancée ou métastatique, peut constituer l'approche principale. Le traitement est choisi en fonction des caractéristiques tumorales, de l'étendue de la maladie et de la état général et aptitude du patient au traitement.</a:t>
            </a:r>
            <a:endParaRPr lang="en-US" sz="1156" noProof="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Traitement : ablation de la maladie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95449" y="1184746"/>
            <a:ext cx="8368937" cy="1401693"/>
          </a:xfrm>
          <a:prstGeom prst="roundRect">
            <a:avLst>
              <a:gd name="adj" fmla="val 4444"/>
            </a:avLst>
          </a:prstGeom>
          <a:solidFill>
            <a:srgbClr val="EAF6F0"/>
          </a:solidFill>
          <a:ln w="15875">
            <a:solidFill>
              <a:srgbClr val="9BCBB4"/>
            </a:solidFill>
            <a:prstDash val="solid"/>
          </a:ln>
        </p:spPr>
        <p:txBody>
          <a:bodyPr/>
          <a:lstStyle/>
          <a:p>
            <a:endParaRPr lang="en-US" noProof="0" dirty="0"/>
          </a:p>
        </p:txBody>
      </p:sp>
      <p:sp>
        <p:nvSpPr>
          <p:cNvPr id="6" name="Text 4"/>
          <p:cNvSpPr/>
          <p:nvPr/>
        </p:nvSpPr>
        <p:spPr>
          <a:xfrm>
            <a:off x="778328" y="1331050"/>
            <a:ext cx="9704185" cy="359359"/>
          </a:xfrm>
          <a:prstGeom prst="rect">
            <a:avLst/>
          </a:prstGeom>
          <a:noFill/>
          <a:ln/>
        </p:spPr>
        <p:txBody>
          <a:bodyPr wrap="square" lIns="0" tIns="0" rIns="0" bIns="0" rtlCol="0" anchor="t"/>
          <a:lstStyle/>
          <a:p>
            <a:pPr marL="0" indent="0">
              <a:buNone/>
            </a:pPr>
            <a:r>
              <a:rPr lang="fr" sz="1800" b="1" noProof="0">
                <a:solidFill>
                  <a:srgbClr val="126647"/>
                </a:solidFill>
                <a:latin typeface="Calibri" pitchFamily="34" charset="0"/>
                <a:ea typeface="Calibri" pitchFamily="34" charset="-122"/>
                <a:cs typeface="Calibri" pitchFamily="34" charset="-120"/>
              </a:rPr>
              <a:t>Ablation endoscopique</a:t>
            </a:r>
            <a:endParaRPr lang="en-US" sz="1800" noProof="0" dirty="0"/>
          </a:p>
        </p:txBody>
      </p:sp>
      <p:sp>
        <p:nvSpPr>
          <p:cNvPr id="7" name="Text 5"/>
          <p:cNvSpPr/>
          <p:nvPr/>
        </p:nvSpPr>
        <p:spPr>
          <a:xfrm>
            <a:off x="778329" y="1690410"/>
            <a:ext cx="6014358" cy="742548"/>
          </a:xfrm>
          <a:prstGeom prst="rect">
            <a:avLst/>
          </a:prstGeom>
          <a:noFill/>
          <a:ln/>
        </p:spPr>
        <p:txBody>
          <a:bodyPr wrap="square" lIns="0" tIns="0" rIns="0" bIns="0" rtlCol="0" anchor="t">
            <a:noAutofit/>
          </a:bodyPr>
          <a:lstStyle/>
          <a:p>
            <a:pPr marL="0" indent="0">
              <a:lnSpc>
                <a:spcPct val="105000"/>
              </a:lnSpc>
              <a:buNone/>
            </a:pPr>
            <a:r>
              <a:rPr lang="fr" sz="1620" noProof="0">
                <a:solidFill>
                  <a:srgbClr val="17325E"/>
                </a:solidFill>
                <a:latin typeface="Calibri" pitchFamily="34" charset="0"/>
                <a:ea typeface="Calibri" pitchFamily="34" charset="-122"/>
                <a:cs typeface="Calibri" pitchFamily="34" charset="-120"/>
              </a:rPr>
              <a:t>Les polypes précancéreux, ainsi que certaines lésions très précoces par des spécialistes expérimentés, peuvent être retirés lors de la coloscopie. Cela peut prévenir le cancer.</a:t>
            </a:r>
            <a:endParaRPr lang="en-US" sz="1620" noProof="0" dirty="0"/>
          </a:p>
        </p:txBody>
      </p:sp>
      <p:sp>
        <p:nvSpPr>
          <p:cNvPr id="8" name="Shape 6"/>
          <p:cNvSpPr/>
          <p:nvPr/>
        </p:nvSpPr>
        <p:spPr>
          <a:xfrm>
            <a:off x="548640" y="2824843"/>
            <a:ext cx="10865031" cy="3373489"/>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778329" y="2975066"/>
            <a:ext cx="10635342"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Chirurgie</a:t>
            </a:r>
            <a:endParaRPr lang="en-US" sz="1800" noProof="0" dirty="0"/>
          </a:p>
        </p:txBody>
      </p:sp>
      <p:sp>
        <p:nvSpPr>
          <p:cNvPr id="23" name="CuadroTexto 22">
            <a:extLst>
              <a:ext uri="{FF2B5EF4-FFF2-40B4-BE49-F238E27FC236}">
                <a16:creationId xmlns:a16="http://schemas.microsoft.com/office/drawing/2014/main" id="{3D439B89-29EA-D1CE-C059-3D9107E7E17D}"/>
              </a:ext>
            </a:extLst>
          </p:cNvPr>
          <p:cNvSpPr txBox="1"/>
          <p:nvPr/>
        </p:nvSpPr>
        <p:spPr>
          <a:xfrm>
            <a:off x="724010" y="3334425"/>
            <a:ext cx="4615433" cy="2308324"/>
          </a:xfrm>
          <a:prstGeom prst="rect">
            <a:avLst/>
          </a:prstGeom>
          <a:noFill/>
        </p:spPr>
        <p:txBody>
          <a:bodyPr wrap="square" rtlCol="0">
            <a:noAutofit/>
          </a:bodyPr>
          <a:lstStyle/>
          <a:p>
            <a:r>
              <a:rPr lang="fr" sz="1674" b="1" noProof="0">
                <a:solidFill>
                  <a:schemeClr val="accent1">
                    <a:lumMod val="50000"/>
                  </a:schemeClr>
                </a:solidFill>
              </a:rPr>
              <a:t>QUAND</a:t>
            </a:r>
            <a:endParaRPr lang="en-US" noProof="0" dirty="0">
              <a:solidFill>
                <a:schemeClr val="accent1">
                  <a:lumMod val="50000"/>
                </a:schemeClr>
              </a:solidFill>
            </a:endParaRPr>
          </a:p>
          <a:p>
            <a:pPr lvl="0"/>
            <a:r>
              <a:rPr lang="fr" sz="1674" noProof="0">
                <a:solidFill>
                  <a:schemeClr val="accent1">
                    <a:lumMod val="50000"/>
                  </a:schemeClr>
                </a:solidFill>
              </a:rPr>
              <a:t>Traitement principal lorsque le cancer ne s'est pas propagé à distance. Cela dépend du site, du stade et de la état général / aptitude au traitement.</a:t>
            </a:r>
          </a:p>
          <a:p>
            <a:pPr lvl="0"/>
            <a:endParaRPr lang="en-US" noProof="0" dirty="0">
              <a:solidFill>
                <a:schemeClr val="accent1">
                  <a:lumMod val="50000"/>
                </a:schemeClr>
              </a:solidFill>
            </a:endParaRPr>
          </a:p>
          <a:p>
            <a:r>
              <a:rPr lang="fr" sz="1674" b="1" noProof="0">
                <a:solidFill>
                  <a:schemeClr val="accent1">
                    <a:lumMod val="50000"/>
                  </a:schemeClr>
                </a:solidFill>
              </a:rPr>
              <a:t>QUE SE PASSE-T-IL</a:t>
            </a:r>
            <a:endParaRPr lang="en-US" noProof="0" dirty="0">
              <a:solidFill>
                <a:schemeClr val="accent1">
                  <a:lumMod val="50000"/>
                </a:schemeClr>
              </a:solidFill>
            </a:endParaRPr>
          </a:p>
          <a:p>
            <a:pPr marL="285750" lvl="0" indent="-285750">
              <a:buFont typeface="Arial" panose="020B0604020202020204" pitchFamily="34" charset="0"/>
              <a:buChar char="•"/>
            </a:pPr>
            <a:r>
              <a:rPr lang="fr" sz="1674" noProof="0">
                <a:solidFill>
                  <a:schemeClr val="accent1">
                    <a:lumMod val="50000"/>
                  </a:schemeClr>
                </a:solidFill>
              </a:rPr>
              <a:t>Retirer la tumeur et le segment intestinal concerné</a:t>
            </a:r>
          </a:p>
          <a:p>
            <a:pPr marL="285750" lvl="0" indent="-285750">
              <a:buFont typeface="Arial" panose="020B0604020202020204" pitchFamily="34" charset="0"/>
              <a:buChar char="•"/>
            </a:pPr>
            <a:r>
              <a:rPr lang="fr" sz="1674" noProof="0">
                <a:solidFill>
                  <a:schemeClr val="accent1">
                    <a:lumMod val="50000"/>
                  </a:schemeClr>
                </a:solidFill>
              </a:rPr>
              <a:t>Retirez les ganglions lymphatiques voisins</a:t>
            </a:r>
          </a:p>
          <a:p>
            <a:pPr marL="285750" lvl="0" indent="-285750">
              <a:buFont typeface="Arial" panose="020B0604020202020204" pitchFamily="34" charset="0"/>
              <a:buChar char="•"/>
            </a:pPr>
            <a:r>
              <a:rPr lang="fr" sz="1674" noProof="0">
                <a:solidFill>
                  <a:schemeClr val="accent1">
                    <a:lumMod val="50000"/>
                  </a:schemeClr>
                </a:solidFill>
              </a:rPr>
              <a:t>L'intestin est généralement réanastomosé</a:t>
            </a:r>
          </a:p>
        </p:txBody>
      </p:sp>
      <p:sp>
        <p:nvSpPr>
          <p:cNvPr id="25" name="CuadroTexto 24">
            <a:extLst>
              <a:ext uri="{FF2B5EF4-FFF2-40B4-BE49-F238E27FC236}">
                <a16:creationId xmlns:a16="http://schemas.microsoft.com/office/drawing/2014/main" id="{8530E30F-A333-4D66-56B5-DB7024721547}"/>
              </a:ext>
            </a:extLst>
          </p:cNvPr>
          <p:cNvSpPr txBox="1"/>
          <p:nvPr/>
        </p:nvSpPr>
        <p:spPr>
          <a:xfrm>
            <a:off x="5339443" y="3240311"/>
            <a:ext cx="3745559" cy="2585323"/>
          </a:xfrm>
          <a:prstGeom prst="rect">
            <a:avLst/>
          </a:prstGeom>
          <a:noFill/>
        </p:spPr>
        <p:txBody>
          <a:bodyPr wrap="square">
            <a:noAutofit/>
          </a:bodyPr>
          <a:lstStyle/>
          <a:p>
            <a:r>
              <a:rPr lang="fr" sz="1584" b="1" noProof="0">
                <a:solidFill>
                  <a:schemeClr val="accent1">
                    <a:lumMod val="50000"/>
                  </a:schemeClr>
                </a:solidFill>
              </a:rPr>
              <a:t>STOMIE</a:t>
            </a:r>
          </a:p>
          <a:p>
            <a:pPr marL="285750" lvl="0" indent="-285750">
              <a:buFont typeface="Arial" panose="020B0604020202020204" pitchFamily="34" charset="0"/>
              <a:buChar char="•"/>
            </a:pPr>
            <a:r>
              <a:rPr lang="fr" sz="1584" noProof="0">
                <a:solidFill>
                  <a:schemeClr val="accent1">
                    <a:lumMod val="50000"/>
                  </a:schemeClr>
                </a:solidFill>
              </a:rPr>
              <a:t>Utilisé si l'intestin ne peut pas être réuni en toute sécurité</a:t>
            </a:r>
          </a:p>
          <a:p>
            <a:pPr marL="285750" lvl="0" indent="-285750">
              <a:buFont typeface="Arial" panose="020B0604020202020204" pitchFamily="34" charset="0"/>
              <a:buChar char="•"/>
            </a:pPr>
            <a:r>
              <a:rPr lang="fr" sz="1584" noProof="0">
                <a:solidFill>
                  <a:schemeClr val="accent1">
                    <a:lumMod val="50000"/>
                  </a:schemeClr>
                </a:solidFill>
              </a:rPr>
              <a:t>Peut être temporaire ou permanent</a:t>
            </a:r>
          </a:p>
          <a:p>
            <a:pPr marL="285750" lvl="0" indent="-285750">
              <a:buFont typeface="Arial" panose="020B0604020202020204" pitchFamily="34" charset="0"/>
              <a:buChar char="•"/>
            </a:pPr>
            <a:r>
              <a:rPr lang="fr" sz="1584" noProof="0">
                <a:solidFill>
                  <a:schemeClr val="accent1">
                    <a:lumMod val="50000"/>
                  </a:schemeClr>
                </a:solidFill>
              </a:rPr>
              <a:t>Tout le monde n'en a pas besoin</a:t>
            </a:r>
          </a:p>
          <a:p>
            <a:pPr lvl="0"/>
            <a:endParaRPr lang="en-US" sz="1584" noProof="0" dirty="0">
              <a:solidFill>
                <a:schemeClr val="accent1">
                  <a:lumMod val="50000"/>
                </a:schemeClr>
              </a:solidFill>
            </a:endParaRPr>
          </a:p>
          <a:p>
            <a:r>
              <a:rPr lang="fr" sz="1584" b="1" noProof="0">
                <a:solidFill>
                  <a:schemeClr val="accent1">
                    <a:lumMod val="50000"/>
                  </a:schemeClr>
                </a:solidFill>
              </a:rPr>
              <a:t>CHIRURGIE D'URGENCE</a:t>
            </a:r>
          </a:p>
          <a:p>
            <a:pPr marL="285750" lvl="0" indent="-285750">
              <a:buFont typeface="Arial" panose="020B0604020202020204" pitchFamily="34" charset="0"/>
              <a:buChar char="•"/>
            </a:pPr>
            <a:r>
              <a:rPr lang="fr" sz="1584" noProof="0">
                <a:solidFill>
                  <a:schemeClr val="accent1">
                    <a:lumMod val="50000"/>
                  </a:schemeClr>
                </a:solidFill>
              </a:rPr>
              <a:t>Peut être nécessaire pour obstruction ou perforation</a:t>
            </a:r>
          </a:p>
          <a:p>
            <a:pPr marL="285750" lvl="0" indent="-285750">
              <a:buFont typeface="Arial" panose="020B0604020202020204" pitchFamily="34" charset="0"/>
              <a:buChar char="•"/>
            </a:pPr>
            <a:r>
              <a:rPr lang="fr" sz="1584" noProof="0">
                <a:solidFill>
                  <a:schemeClr val="accent1">
                    <a:lumMod val="50000"/>
                  </a:schemeClr>
                </a:solidFill>
              </a:rPr>
              <a:t>Peut se produire avant la fin de la stadification</a:t>
            </a:r>
          </a:p>
        </p:txBody>
      </p:sp>
      <p:pic>
        <p:nvPicPr>
          <p:cNvPr id="26" name="Imagen 25">
            <a:extLst>
              <a:ext uri="{FF2B5EF4-FFF2-40B4-BE49-F238E27FC236}">
                <a16:creationId xmlns:a16="http://schemas.microsoft.com/office/drawing/2014/main" id="{E327AC58-5D69-116F-AA58-5DE0F2A932A0}"/>
              </a:ext>
            </a:extLst>
          </p:cNvPr>
          <p:cNvPicPr>
            <a:picLocks noChangeAspect="1"/>
          </p:cNvPicPr>
          <p:nvPr/>
        </p:nvPicPr>
        <p:blipFill>
          <a:blip r:embed="rId3"/>
          <a:srcRect/>
          <a:stretch>
            <a:fillRect/>
          </a:stretch>
        </p:blipFill>
        <p:spPr>
          <a:xfrm>
            <a:off x="9112434" y="3572829"/>
            <a:ext cx="2231571" cy="2231571"/>
          </a:xfrm>
          <a:prstGeom prst="rect">
            <a:avLst/>
          </a:prstGeom>
        </p:spPr>
      </p:pic>
      <p:pic>
        <p:nvPicPr>
          <p:cNvPr id="30" name="Imagen 29">
            <a:extLst>
              <a:ext uri="{FF2B5EF4-FFF2-40B4-BE49-F238E27FC236}">
                <a16:creationId xmlns:a16="http://schemas.microsoft.com/office/drawing/2014/main" id="{FEC82017-4435-CD73-D042-4354DFAE1238}"/>
              </a:ext>
            </a:extLst>
          </p:cNvPr>
          <p:cNvPicPr>
            <a:picLocks noChangeAspect="1"/>
          </p:cNvPicPr>
          <p:nvPr/>
        </p:nvPicPr>
        <p:blipFill>
          <a:blip r:embed="rId4"/>
          <a:srcRect/>
          <a:stretch>
            <a:fillRect/>
          </a:stretch>
        </p:blipFill>
        <p:spPr>
          <a:xfrm>
            <a:off x="6975566" y="1238175"/>
            <a:ext cx="1305770" cy="130577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Traitement : radiothérapie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425196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noAutofit/>
          </a:bodyPr>
          <a:lstStyle/>
          <a:p>
            <a:pPr marL="0" indent="0">
              <a:buNone/>
            </a:pPr>
            <a:r>
              <a:rPr lang="fr" sz="1494" b="1" noProof="0">
                <a:solidFill>
                  <a:srgbClr val="0E2E5C"/>
                </a:solidFill>
                <a:latin typeface="Calibri" pitchFamily="34" charset="0"/>
                <a:ea typeface="Calibri" pitchFamily="34" charset="-122"/>
                <a:cs typeface="Calibri" pitchFamily="34" charset="-120"/>
              </a:rPr>
              <a:t>Radiothérapie : mécanisme</a:t>
            </a:r>
            <a:endParaRPr lang="en-US" sz="1494" noProof="0" dirty="0"/>
          </a:p>
        </p:txBody>
      </p:sp>
      <p:sp>
        <p:nvSpPr>
          <p:cNvPr id="7" name="Text 5"/>
          <p:cNvSpPr/>
          <p:nvPr/>
        </p:nvSpPr>
        <p:spPr>
          <a:xfrm>
            <a:off x="73152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Les radiations ionisantes endommagent l'ADN des cellules cancéreuses afin qu'elles ne puissent plus se diviser et survivre. Il n'agit que là où il est dirigé.</a:t>
            </a:r>
            <a:endParaRPr lang="en-US" sz="1800" noProof="0" dirty="0"/>
          </a:p>
        </p:txBody>
      </p:sp>
      <p:sp>
        <p:nvSpPr>
          <p:cNvPr id="8" name="Shape 6"/>
          <p:cNvSpPr/>
          <p:nvPr/>
        </p:nvSpPr>
        <p:spPr>
          <a:xfrm>
            <a:off x="4319930" y="1371600"/>
            <a:ext cx="3551834" cy="468147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noAutofit/>
          </a:bodyPr>
          <a:lstStyle/>
          <a:p>
            <a:pPr marL="0" indent="0">
              <a:buNone/>
            </a:pPr>
            <a:r>
              <a:rPr lang="fr" sz="1494" b="1" noProof="0">
                <a:solidFill>
                  <a:srgbClr val="0E2E5C"/>
                </a:solidFill>
                <a:latin typeface="Calibri" pitchFamily="34" charset="0"/>
                <a:ea typeface="Calibri" pitchFamily="34" charset="-122"/>
                <a:cs typeface="Calibri" pitchFamily="34" charset="-120"/>
              </a:rPr>
              <a:t>Radiothérapie : place dans le traitement</a:t>
            </a:r>
            <a:endParaRPr lang="en-US" sz="1494" noProof="0" dirty="0"/>
          </a:p>
        </p:txBody>
      </p:sp>
      <p:sp>
        <p:nvSpPr>
          <p:cNvPr id="10" name="Text 8"/>
          <p:cNvSpPr/>
          <p:nvPr/>
        </p:nvSpPr>
        <p:spPr>
          <a:xfrm>
            <a:off x="450281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Elle joue un rôle établi dans certains cancers du rectum, souvent avant une chirurgie visant à réduire la tumeur. Ce n'est pas un traitement courant pour la plupart des cancers du côlon.</a:t>
            </a:r>
            <a:endParaRPr lang="en-US" sz="1800" noProof="0" dirty="0"/>
          </a:p>
        </p:txBody>
      </p:sp>
      <p:sp>
        <p:nvSpPr>
          <p:cNvPr id="11" name="Shape 9"/>
          <p:cNvSpPr/>
          <p:nvPr/>
        </p:nvSpPr>
        <p:spPr>
          <a:xfrm>
            <a:off x="8091221" y="1371600"/>
            <a:ext cx="3551834" cy="468147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noAutofit/>
          </a:bodyPr>
          <a:lstStyle/>
          <a:p>
            <a:pPr marL="0" indent="0">
              <a:buNone/>
            </a:pPr>
            <a:r>
              <a:rPr lang="fr" sz="1494" b="1" noProof="0">
                <a:solidFill>
                  <a:srgbClr val="0E2E5C"/>
                </a:solidFill>
                <a:latin typeface="Calibri" pitchFamily="34" charset="0"/>
                <a:ea typeface="Calibri" pitchFamily="34" charset="-122"/>
                <a:cs typeface="Calibri" pitchFamily="34" charset="-120"/>
              </a:rPr>
              <a:t>Radiothérapie : effets</a:t>
            </a:r>
            <a:endParaRPr lang="en-US" sz="1494" noProof="0" dirty="0"/>
          </a:p>
        </p:txBody>
      </p:sp>
      <p:sp>
        <p:nvSpPr>
          <p:cNvPr id="13" name="Text 11"/>
          <p:cNvSpPr/>
          <p:nvPr/>
        </p:nvSpPr>
        <p:spPr>
          <a:xfrm>
            <a:off x="8274101"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La fatigue, l'irritation de l'intestin et de la vessie, ainsi que des modifications cutanées dans la zone traitée sont les effets courants.</a:t>
            </a:r>
            <a:endParaRPr lang="en-US" sz="1800" noProof="0" dirty="0"/>
          </a:p>
        </p:txBody>
      </p:sp>
      <p:pic>
        <p:nvPicPr>
          <p:cNvPr id="28" name="Imagen 27">
            <a:extLst>
              <a:ext uri="{FF2B5EF4-FFF2-40B4-BE49-F238E27FC236}">
                <a16:creationId xmlns:a16="http://schemas.microsoft.com/office/drawing/2014/main" id="{D0A56391-3B16-CE83-D090-882533EE0CF6}"/>
              </a:ext>
            </a:extLst>
          </p:cNvPr>
          <p:cNvPicPr>
            <a:picLocks noChangeAspect="1"/>
          </p:cNvPicPr>
          <p:nvPr/>
        </p:nvPicPr>
        <p:blipFill>
          <a:blip r:embed="rId3"/>
          <a:srcRect l="1162" t="11684" r="852" b="16040"/>
          <a:stretch>
            <a:fillRect/>
          </a:stretch>
        </p:blipFill>
        <p:spPr>
          <a:xfrm>
            <a:off x="731520" y="3753235"/>
            <a:ext cx="3131254" cy="1154847"/>
          </a:xfrm>
          <a:prstGeom prst="rect">
            <a:avLst/>
          </a:prstGeom>
        </p:spPr>
      </p:pic>
      <p:pic>
        <p:nvPicPr>
          <p:cNvPr id="29" name="Imagen 28">
            <a:extLst>
              <a:ext uri="{FF2B5EF4-FFF2-40B4-BE49-F238E27FC236}">
                <a16:creationId xmlns:a16="http://schemas.microsoft.com/office/drawing/2014/main" id="{9138131B-51B7-1FCB-4623-58ACAD09F580}"/>
              </a:ext>
            </a:extLst>
          </p:cNvPr>
          <p:cNvPicPr>
            <a:picLocks noChangeAspect="1"/>
          </p:cNvPicPr>
          <p:nvPr/>
        </p:nvPicPr>
        <p:blipFill>
          <a:blip r:embed="rId4"/>
          <a:srcRect l="689" t="16168" r="533" b="24515"/>
          <a:stretch>
            <a:fillRect/>
          </a:stretch>
        </p:blipFill>
        <p:spPr>
          <a:xfrm>
            <a:off x="4502810" y="4258490"/>
            <a:ext cx="3186074" cy="1163031"/>
          </a:xfrm>
          <a:prstGeom prst="rect">
            <a:avLst/>
          </a:prstGeom>
        </p:spPr>
      </p:pic>
      <p:grpSp>
        <p:nvGrpSpPr>
          <p:cNvPr id="31" name="Grupo 30">
            <a:extLst>
              <a:ext uri="{FF2B5EF4-FFF2-40B4-BE49-F238E27FC236}">
                <a16:creationId xmlns:a16="http://schemas.microsoft.com/office/drawing/2014/main" id="{FDFD70FF-F40E-AB61-B6D8-94E5B095AC5F}"/>
              </a:ext>
            </a:extLst>
          </p:cNvPr>
          <p:cNvGrpSpPr/>
          <p:nvPr/>
        </p:nvGrpSpPr>
        <p:grpSpPr>
          <a:xfrm>
            <a:off x="8367150" y="3319272"/>
            <a:ext cx="3093025" cy="2088896"/>
            <a:chOff x="8320625" y="3141784"/>
            <a:chExt cx="3093025" cy="2088896"/>
          </a:xfrm>
        </p:grpSpPr>
        <p:pic>
          <p:nvPicPr>
            <p:cNvPr id="25" name="Imagen 24">
              <a:extLst>
                <a:ext uri="{FF2B5EF4-FFF2-40B4-BE49-F238E27FC236}">
                  <a16:creationId xmlns:a16="http://schemas.microsoft.com/office/drawing/2014/main" id="{F22BA13A-C5DA-69C7-1A71-EE76C409D840}"/>
                </a:ext>
              </a:extLst>
            </p:cNvPr>
            <p:cNvPicPr>
              <a:picLocks noChangeAspect="1"/>
            </p:cNvPicPr>
            <p:nvPr/>
          </p:nvPicPr>
          <p:blipFill>
            <a:blip r:embed="rId5"/>
            <a:srcRect l="6827" t="2843" r="6173" b="5554"/>
            <a:stretch>
              <a:fillRect/>
            </a:stretch>
          </p:blipFill>
          <p:spPr>
            <a:xfrm>
              <a:off x="8320625" y="3141784"/>
              <a:ext cx="3093025" cy="2088896"/>
            </a:xfrm>
            <a:prstGeom prst="rect">
              <a:avLst/>
            </a:prstGeom>
          </p:spPr>
        </p:pic>
        <p:pic>
          <p:nvPicPr>
            <p:cNvPr id="30" name="Imagen 29">
              <a:extLst>
                <a:ext uri="{FF2B5EF4-FFF2-40B4-BE49-F238E27FC236}">
                  <a16:creationId xmlns:a16="http://schemas.microsoft.com/office/drawing/2014/main" id="{03D8C3CE-1030-FC03-467B-BBA7AE03E1E3}"/>
                </a:ext>
              </a:extLst>
            </p:cNvPr>
            <p:cNvPicPr>
              <a:picLocks noChangeAspect="1"/>
            </p:cNvPicPr>
            <p:nvPr/>
          </p:nvPicPr>
          <p:blipFill>
            <a:blip r:embed="rId4"/>
            <a:srcRect l="33873" t="16168" r="33760" b="24515"/>
            <a:stretch>
              <a:fillRect/>
            </a:stretch>
          </p:blipFill>
          <p:spPr>
            <a:xfrm>
              <a:off x="9283699" y="3538729"/>
              <a:ext cx="1123951" cy="1252102"/>
            </a:xfrm>
            <a:prstGeom prst="rect">
              <a:avLst/>
            </a:prstGeom>
          </p:spPr>
        </p:pic>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72E5D79-CCCB-AFFC-4C62-BD3EA5EE91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77EAF6E-E4CC-2BF5-6AFC-7A128BCD017F}"/>
              </a:ext>
            </a:extLst>
          </p:cNvPr>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a:extLst>
              <a:ext uri="{FF2B5EF4-FFF2-40B4-BE49-F238E27FC236}">
                <a16:creationId xmlns:a16="http://schemas.microsoft.com/office/drawing/2014/main" id="{16A1639A-E61B-474C-907A-B590FFD13B83}"/>
              </a:ext>
            </a:extLst>
          </p:cNvPr>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Traitement : chimiothérapie</a:t>
            </a:r>
            <a:endParaRPr lang="en-US" sz="3400" noProof="0" dirty="0"/>
          </a:p>
        </p:txBody>
      </p:sp>
      <p:sp>
        <p:nvSpPr>
          <p:cNvPr id="4" name="Text 2">
            <a:extLst>
              <a:ext uri="{FF2B5EF4-FFF2-40B4-BE49-F238E27FC236}">
                <a16:creationId xmlns:a16="http://schemas.microsoft.com/office/drawing/2014/main" id="{EBECBA92-8737-DDF6-F5F3-158BB6C1965A}"/>
              </a:ext>
            </a:extLst>
          </p:cNvPr>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14" name="Shape 12">
            <a:extLst>
              <a:ext uri="{FF2B5EF4-FFF2-40B4-BE49-F238E27FC236}">
                <a16:creationId xmlns:a16="http://schemas.microsoft.com/office/drawing/2014/main" id="{A1CA1A29-9E7F-74DC-0639-8D92219A528B}"/>
              </a:ext>
            </a:extLst>
          </p:cNvPr>
          <p:cNvSpPr/>
          <p:nvPr/>
        </p:nvSpPr>
        <p:spPr>
          <a:xfrm>
            <a:off x="54864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a:extLst>
              <a:ext uri="{FF2B5EF4-FFF2-40B4-BE49-F238E27FC236}">
                <a16:creationId xmlns:a16="http://schemas.microsoft.com/office/drawing/2014/main" id="{755307B7-DE81-5CC5-70EA-66A0B232DF1D}"/>
              </a:ext>
            </a:extLst>
          </p:cNvPr>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Chimiothérapie : mécanisme</a:t>
            </a:r>
            <a:endParaRPr lang="en-US" sz="1800" noProof="0" dirty="0"/>
          </a:p>
        </p:txBody>
      </p:sp>
      <p:sp>
        <p:nvSpPr>
          <p:cNvPr id="16" name="Text 14">
            <a:extLst>
              <a:ext uri="{FF2B5EF4-FFF2-40B4-BE49-F238E27FC236}">
                <a16:creationId xmlns:a16="http://schemas.microsoft.com/office/drawing/2014/main" id="{AAE28490-9B44-86D4-55B6-DE95FF0751DF}"/>
              </a:ext>
            </a:extLst>
          </p:cNvPr>
          <p:cNvSpPr/>
          <p:nvPr/>
        </p:nvSpPr>
        <p:spPr>
          <a:xfrm>
            <a:off x="731520" y="1877263"/>
            <a:ext cx="3186074" cy="1442009"/>
          </a:xfrm>
          <a:prstGeom prst="rect">
            <a:avLst/>
          </a:prstGeom>
          <a:noFill/>
          <a:ln/>
        </p:spPr>
        <p:txBody>
          <a:bodyPr wrap="square" lIns="0" tIns="0" rIns="0" bIns="0" rtlCol="0" anchor="t">
            <a:normAutofit fontScale="905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Les médicaments cytotoxiques interfèrent avec la croissance et la division cellulaire dans tout le corps. Ils affectent également les cellules normales à division rapide.</a:t>
            </a:r>
            <a:endParaRPr lang="en-US" sz="1800" noProof="0" dirty="0"/>
          </a:p>
        </p:txBody>
      </p:sp>
      <p:sp>
        <p:nvSpPr>
          <p:cNvPr id="17" name="Shape 15">
            <a:extLst>
              <a:ext uri="{FF2B5EF4-FFF2-40B4-BE49-F238E27FC236}">
                <a16:creationId xmlns:a16="http://schemas.microsoft.com/office/drawing/2014/main" id="{ED60446B-272D-E5C6-AD89-E468A547E375}"/>
              </a:ext>
            </a:extLst>
          </p:cNvPr>
          <p:cNvSpPr/>
          <p:nvPr/>
        </p:nvSpPr>
        <p:spPr>
          <a:xfrm>
            <a:off x="431993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a:extLst>
              <a:ext uri="{FF2B5EF4-FFF2-40B4-BE49-F238E27FC236}">
                <a16:creationId xmlns:a16="http://schemas.microsoft.com/office/drawing/2014/main" id="{0DFDFB25-1B24-B2F7-50C4-261CC09256F8}"/>
              </a:ext>
            </a:extLst>
          </p:cNvPr>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Chimiothérapie : où elle s'intègre</a:t>
            </a:r>
            <a:endParaRPr lang="en-US" sz="1800" noProof="0" dirty="0"/>
          </a:p>
        </p:txBody>
      </p:sp>
      <p:sp>
        <p:nvSpPr>
          <p:cNvPr id="19" name="Text 17">
            <a:extLst>
              <a:ext uri="{FF2B5EF4-FFF2-40B4-BE49-F238E27FC236}">
                <a16:creationId xmlns:a16="http://schemas.microsoft.com/office/drawing/2014/main" id="{F8D2CC22-B0FC-E645-330E-41F48B146073}"/>
              </a:ext>
            </a:extLst>
          </p:cNvPr>
          <p:cNvSpPr/>
          <p:nvPr/>
        </p:nvSpPr>
        <p:spPr>
          <a:xfrm>
            <a:off x="4502810" y="1877263"/>
            <a:ext cx="3186074" cy="1442009"/>
          </a:xfrm>
          <a:prstGeom prst="rect">
            <a:avLst/>
          </a:prstGeom>
          <a:noFill/>
          <a:ln/>
        </p:spPr>
        <p:txBody>
          <a:bodyPr wrap="square" lIns="0" tIns="0" rIns="0" bIns="0" rtlCol="0" anchor="t">
            <a:normAutofit fontScale="905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Après une chirurgie chez certains patients pour réduire la récidive, dans le cadre de certaines stratégies contre le cancer rectal et comme principal traitement pour une maladie avancée.</a:t>
            </a:r>
            <a:endParaRPr lang="en-US" sz="1800" noProof="0" dirty="0"/>
          </a:p>
        </p:txBody>
      </p:sp>
      <p:sp>
        <p:nvSpPr>
          <p:cNvPr id="20" name="Shape 18">
            <a:extLst>
              <a:ext uri="{FF2B5EF4-FFF2-40B4-BE49-F238E27FC236}">
                <a16:creationId xmlns:a16="http://schemas.microsoft.com/office/drawing/2014/main" id="{B135DA51-0931-F92B-4B44-19F4D6E04017}"/>
              </a:ext>
            </a:extLst>
          </p:cNvPr>
          <p:cNvSpPr/>
          <p:nvPr/>
        </p:nvSpPr>
        <p:spPr>
          <a:xfrm>
            <a:off x="8091221"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a:extLst>
              <a:ext uri="{FF2B5EF4-FFF2-40B4-BE49-F238E27FC236}">
                <a16:creationId xmlns:a16="http://schemas.microsoft.com/office/drawing/2014/main" id="{51D8CAA6-B5BD-7862-8C73-4DE874C7FE10}"/>
              </a:ext>
            </a:extLst>
          </p:cNvPr>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Chimiothérapie : effets</a:t>
            </a:r>
            <a:endParaRPr lang="en-US" sz="1800" noProof="0" dirty="0"/>
          </a:p>
        </p:txBody>
      </p:sp>
      <p:sp>
        <p:nvSpPr>
          <p:cNvPr id="22" name="Text 20">
            <a:extLst>
              <a:ext uri="{FF2B5EF4-FFF2-40B4-BE49-F238E27FC236}">
                <a16:creationId xmlns:a16="http://schemas.microsoft.com/office/drawing/2014/main" id="{A20ABF89-30E4-44CD-B591-E85A555FC75C}"/>
              </a:ext>
            </a:extLst>
          </p:cNvPr>
          <p:cNvSpPr/>
          <p:nvPr/>
        </p:nvSpPr>
        <p:spPr>
          <a:xfrm>
            <a:off x="8274101" y="1877263"/>
            <a:ext cx="3186074" cy="1442009"/>
          </a:xfrm>
          <a:prstGeom prst="rect">
            <a:avLst/>
          </a:prstGeom>
          <a:noFill/>
          <a:ln/>
        </p:spPr>
        <p:txBody>
          <a:bodyPr wrap="square" lIns="0" tIns="0" rIns="0" bIns="0" rtlCol="0" anchor="t">
            <a:normAutofit fontScale="90500" lnSpcReduction="10000"/>
          </a:bodyPr>
          <a:lstStyle/>
          <a:p>
            <a:pPr marL="0" indent="0">
              <a:lnSpc>
                <a:spcPct val="105000"/>
              </a:lnSpc>
              <a:buNone/>
            </a:pPr>
            <a:r>
              <a:rPr lang="fr" sz="1800" noProof="0" dirty="0">
                <a:solidFill>
                  <a:srgbClr val="17325E"/>
                </a:solidFill>
                <a:latin typeface="Calibri" pitchFamily="34" charset="0"/>
                <a:ea typeface="Calibri" pitchFamily="34" charset="-122"/>
                <a:cs typeface="Calibri" pitchFamily="34" charset="-120"/>
              </a:rPr>
              <a:t>Fatigue, nausées, diarrhée, mucite / douleurs buccales, risque d'infection due à </a:t>
            </a:r>
            <a:r>
              <a:rPr lang="fr" sz="1800" noProof="0" dirty="0">
                <a:solidFill>
                  <a:srgbClr val="FF0000"/>
                </a:solidFill>
                <a:latin typeface="Calibri" pitchFamily="34" charset="0"/>
                <a:ea typeface="Calibri" pitchFamily="34" charset="-122"/>
                <a:cs typeface="Calibri" pitchFamily="34" charset="-120"/>
              </a:rPr>
              <a:t>une</a:t>
            </a:r>
            <a:r>
              <a:rPr lang="fr" sz="1800" noProof="0" dirty="0">
                <a:solidFill>
                  <a:srgbClr val="17325E"/>
                </a:solidFill>
                <a:latin typeface="Calibri" pitchFamily="34" charset="0"/>
                <a:ea typeface="Calibri" pitchFamily="34" charset="-122"/>
                <a:cs typeface="Calibri" pitchFamily="34" charset="-120"/>
              </a:rPr>
              <a:t> diminution des cellules sanguines, et symptômes neuropathiques avec certains médicaments.</a:t>
            </a:r>
            <a:endParaRPr lang="en-US" sz="1800" noProof="0" dirty="0"/>
          </a:p>
        </p:txBody>
      </p:sp>
      <p:pic>
        <p:nvPicPr>
          <p:cNvPr id="24" name="Imagen 23">
            <a:extLst>
              <a:ext uri="{FF2B5EF4-FFF2-40B4-BE49-F238E27FC236}">
                <a16:creationId xmlns:a16="http://schemas.microsoft.com/office/drawing/2014/main" id="{974CE622-8DF3-5631-EB60-9142445A1964}"/>
              </a:ext>
            </a:extLst>
          </p:cNvPr>
          <p:cNvPicPr>
            <a:picLocks noChangeAspect="1"/>
          </p:cNvPicPr>
          <p:nvPr/>
        </p:nvPicPr>
        <p:blipFill>
          <a:blip r:embed="rId3"/>
          <a:stretch>
            <a:fillRect/>
          </a:stretch>
        </p:blipFill>
        <p:spPr>
          <a:xfrm>
            <a:off x="548640" y="3575304"/>
            <a:ext cx="3551834" cy="2367889"/>
          </a:xfrm>
          <a:prstGeom prst="rect">
            <a:avLst/>
          </a:prstGeom>
        </p:spPr>
      </p:pic>
      <p:pic>
        <p:nvPicPr>
          <p:cNvPr id="25" name="Imagen 24">
            <a:extLst>
              <a:ext uri="{FF2B5EF4-FFF2-40B4-BE49-F238E27FC236}">
                <a16:creationId xmlns:a16="http://schemas.microsoft.com/office/drawing/2014/main" id="{AA993727-17E7-F2FB-FB03-8E321EFD271B}"/>
              </a:ext>
            </a:extLst>
          </p:cNvPr>
          <p:cNvPicPr>
            <a:picLocks noChangeAspect="1"/>
          </p:cNvPicPr>
          <p:nvPr/>
        </p:nvPicPr>
        <p:blipFill>
          <a:blip r:embed="rId4"/>
          <a:stretch>
            <a:fillRect/>
          </a:stretch>
        </p:blipFill>
        <p:spPr>
          <a:xfrm>
            <a:off x="4319930" y="3575304"/>
            <a:ext cx="3551834" cy="2367889"/>
          </a:xfrm>
          <a:prstGeom prst="rect">
            <a:avLst/>
          </a:prstGeom>
        </p:spPr>
      </p:pic>
      <p:pic>
        <p:nvPicPr>
          <p:cNvPr id="26" name="Imagen 25">
            <a:extLst>
              <a:ext uri="{FF2B5EF4-FFF2-40B4-BE49-F238E27FC236}">
                <a16:creationId xmlns:a16="http://schemas.microsoft.com/office/drawing/2014/main" id="{EBC2A22B-749F-AC17-3115-6DDA36634AA6}"/>
              </a:ext>
            </a:extLst>
          </p:cNvPr>
          <p:cNvPicPr>
            <a:picLocks noChangeAspect="1"/>
          </p:cNvPicPr>
          <p:nvPr/>
        </p:nvPicPr>
        <p:blipFill>
          <a:blip r:embed="rId5"/>
          <a:stretch>
            <a:fillRect/>
          </a:stretch>
        </p:blipFill>
        <p:spPr>
          <a:xfrm>
            <a:off x="8091220" y="3575304"/>
            <a:ext cx="3551834" cy="2367889"/>
          </a:xfrm>
          <a:prstGeom prst="rect">
            <a:avLst/>
          </a:prstGeom>
        </p:spPr>
      </p:pic>
    </p:spTree>
    <p:extLst>
      <p:ext uri="{BB962C8B-B14F-4D97-AF65-F5344CB8AC3E}">
        <p14:creationId xmlns:p14="http://schemas.microsoft.com/office/powerpoint/2010/main" val="12367076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Traitement : thérapie ciblée et immunothérapie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558628"/>
            <a:ext cx="3551834" cy="3774681"/>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704933"/>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Tests par biomarqueurs</a:t>
            </a:r>
            <a:endParaRPr lang="en-US" sz="1800" noProof="0" dirty="0"/>
          </a:p>
        </p:txBody>
      </p:sp>
      <p:sp>
        <p:nvSpPr>
          <p:cNvPr id="7" name="Text 5"/>
          <p:cNvSpPr/>
          <p:nvPr/>
        </p:nvSpPr>
        <p:spPr>
          <a:xfrm>
            <a:off x="694943" y="2064292"/>
            <a:ext cx="3405529" cy="1442009"/>
          </a:xfrm>
          <a:prstGeom prst="rect">
            <a:avLst/>
          </a:prstGeom>
          <a:noFill/>
          <a:ln/>
        </p:spPr>
        <p:txBody>
          <a:bodyPr wrap="square" lIns="0" tIns="0" rIns="0" bIns="0" rtlCol="0" anchor="t">
            <a:noAutofit/>
          </a:bodyPr>
          <a:lstStyle/>
          <a:p>
            <a:pPr marL="0" indent="0">
              <a:lnSpc>
                <a:spcPct val="105000"/>
              </a:lnSpc>
              <a:buNone/>
            </a:pPr>
            <a:r>
              <a:rPr lang="fr" sz="1530" noProof="0">
                <a:solidFill>
                  <a:srgbClr val="17325E"/>
                </a:solidFill>
                <a:latin typeface="Calibri" pitchFamily="34" charset="0"/>
                <a:ea typeface="Calibri" pitchFamily="34" charset="-122"/>
                <a:cs typeface="Calibri" pitchFamily="34" charset="-120"/>
              </a:rPr>
              <a:t>Certains cancers colorectaux avancés présentent des caractéristiques biologiques tumorales qui prédisent l'efficacité de certains médicaments.</a:t>
            </a:r>
            <a:endParaRPr lang="en-US" sz="1530" noProof="0" dirty="0"/>
          </a:p>
        </p:txBody>
      </p:sp>
      <p:sp>
        <p:nvSpPr>
          <p:cNvPr id="8" name="Shape 6"/>
          <p:cNvSpPr/>
          <p:nvPr/>
        </p:nvSpPr>
        <p:spPr>
          <a:xfrm>
            <a:off x="4319930" y="1558629"/>
            <a:ext cx="3515257" cy="375427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704933"/>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Thérapie ciblée</a:t>
            </a:r>
            <a:endParaRPr lang="en-US" sz="1800" noProof="0" dirty="0"/>
          </a:p>
        </p:txBody>
      </p:sp>
      <p:sp>
        <p:nvSpPr>
          <p:cNvPr id="10" name="Text 8"/>
          <p:cNvSpPr/>
          <p:nvPr/>
        </p:nvSpPr>
        <p:spPr>
          <a:xfrm>
            <a:off x="4466233" y="2064292"/>
            <a:ext cx="3405529" cy="1442009"/>
          </a:xfrm>
          <a:prstGeom prst="rect">
            <a:avLst/>
          </a:prstGeom>
          <a:noFill/>
          <a:ln/>
        </p:spPr>
        <p:txBody>
          <a:bodyPr wrap="square" lIns="0" tIns="0" rIns="0" bIns="0" rtlCol="0" anchor="t">
            <a:normAutofit fontScale="925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Des médicaments qui agissent sur une voie biologique spécifique du cancer, plutôt que sur les cellules en division en général. Utilisée dans certains cancers avancés sélectionnés.</a:t>
            </a:r>
            <a:endParaRPr lang="en-US" sz="1800" noProof="0" dirty="0"/>
          </a:p>
        </p:txBody>
      </p:sp>
      <p:sp>
        <p:nvSpPr>
          <p:cNvPr id="11" name="Shape 9"/>
          <p:cNvSpPr/>
          <p:nvPr/>
        </p:nvSpPr>
        <p:spPr>
          <a:xfrm>
            <a:off x="8091221" y="1558629"/>
            <a:ext cx="3551834" cy="377468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704933"/>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Immunothérapie</a:t>
            </a:r>
            <a:endParaRPr lang="en-US" sz="1800" noProof="0" dirty="0"/>
          </a:p>
        </p:txBody>
      </p:sp>
      <p:sp>
        <p:nvSpPr>
          <p:cNvPr id="13" name="Text 11"/>
          <p:cNvSpPr/>
          <p:nvPr/>
        </p:nvSpPr>
        <p:spPr>
          <a:xfrm>
            <a:off x="8237524" y="2064292"/>
            <a:ext cx="3405529" cy="1442009"/>
          </a:xfrm>
          <a:prstGeom prst="rect">
            <a:avLst/>
          </a:prstGeom>
          <a:noFill/>
          <a:ln/>
        </p:spPr>
        <p:txBody>
          <a:bodyPr wrap="square" lIns="0" tIns="0" rIns="0" bIns="0" rtlCol="0" anchor="t">
            <a:normAutofit fontScale="85000" lnSpcReduction="10000"/>
          </a:bodyPr>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Des médicaments qui modifient la réponse immunitaire afin qu'elle puisse reconnaître et attaquer le cancer. Indiquée uniquement pour un petit sous-groupe présentant des caractéristiques tumorales particulières.</a:t>
            </a:r>
            <a:endParaRPr lang="en-US" sz="1800" noProof="0" dirty="0"/>
          </a:p>
        </p:txBody>
      </p:sp>
      <p:sp>
        <p:nvSpPr>
          <p:cNvPr id="26" name="CuadroTexto 25">
            <a:extLst>
              <a:ext uri="{FF2B5EF4-FFF2-40B4-BE49-F238E27FC236}">
                <a16:creationId xmlns:a16="http://schemas.microsoft.com/office/drawing/2014/main" id="{A75CB9F4-CA32-D695-82C8-06968789A9CD}"/>
              </a:ext>
            </a:extLst>
          </p:cNvPr>
          <p:cNvSpPr txBox="1"/>
          <p:nvPr/>
        </p:nvSpPr>
        <p:spPr>
          <a:xfrm>
            <a:off x="548640" y="1126576"/>
            <a:ext cx="11094413" cy="353943"/>
          </a:xfrm>
          <a:prstGeom prst="rect">
            <a:avLst/>
          </a:prstGeom>
          <a:noFill/>
        </p:spPr>
        <p:txBody>
          <a:bodyPr wrap="square">
            <a:spAutoFit/>
          </a:bodyPr>
          <a:lstStyle/>
          <a:p>
            <a:pPr lvl="0"/>
            <a:r>
              <a:rPr lang="fr" sz="1700" i="1" noProof="0">
                <a:solidFill>
                  <a:schemeClr val="bg2">
                    <a:lumMod val="50000"/>
                  </a:schemeClr>
                </a:solidFill>
                <a:effectLst/>
                <a:latin typeface="+mn-lt"/>
              </a:rPr>
              <a:t>Les nouveaux traitements ne sont pas la norme pour la plupart des cancers colorectaux, ni ne constituent une alternative à la chirurgie pour les maladies à un stade précoce.</a:t>
            </a:r>
            <a:endParaRPr lang="en-US" sz="1700" i="1" noProof="0" dirty="0">
              <a:solidFill>
                <a:schemeClr val="bg2">
                  <a:lumMod val="50000"/>
                </a:schemeClr>
              </a:solidFill>
              <a:effectLst/>
              <a:latin typeface="-apple-system"/>
            </a:endParaRPr>
          </a:p>
        </p:txBody>
      </p:sp>
      <p:sp>
        <p:nvSpPr>
          <p:cNvPr id="27" name="CuadroTexto 26">
            <a:extLst>
              <a:ext uri="{FF2B5EF4-FFF2-40B4-BE49-F238E27FC236}">
                <a16:creationId xmlns:a16="http://schemas.microsoft.com/office/drawing/2014/main" id="{3CA3C47E-082E-9DC5-993C-97D7DC995F4D}"/>
              </a:ext>
            </a:extLst>
          </p:cNvPr>
          <p:cNvSpPr txBox="1"/>
          <p:nvPr/>
        </p:nvSpPr>
        <p:spPr>
          <a:xfrm>
            <a:off x="548640" y="5372533"/>
            <a:ext cx="11094413" cy="523220"/>
          </a:xfrm>
          <a:prstGeom prst="rect">
            <a:avLst/>
          </a:prstGeom>
          <a:noFill/>
        </p:spPr>
        <p:txBody>
          <a:bodyPr wrap="square">
            <a:normAutofit fontScale="58500" lnSpcReduction="20000"/>
          </a:bodyPr>
          <a:lstStyle/>
          <a:p>
            <a:pPr lvl="0"/>
            <a:r>
              <a:rPr lang="fr" sz="1400" b="1" i="1" noProof="0">
                <a:solidFill>
                  <a:schemeClr val="bg2">
                    <a:lumMod val="50000"/>
                  </a:schemeClr>
                </a:solidFill>
                <a:effectLst/>
                <a:latin typeface="+mn-lt"/>
              </a:rPr>
              <a:t>Note : Les marqueurs tumoraux et l'immunohistochimie sont disponibles dans les hôpitaux universitaires. La thérapie ciblée n'est pas accessible actuellement au Rwanda.</a:t>
            </a:r>
            <a:br>
              <a:rPr lang="en-US" sz="1400" i="1" noProof="0" dirty="0">
                <a:solidFill>
                  <a:schemeClr val="bg2">
                    <a:lumMod val="50000"/>
                  </a:schemeClr>
                </a:solidFill>
                <a:effectLst/>
                <a:latin typeface="+mn-lt"/>
              </a:rPr>
            </a:br>
            <a:endParaRPr lang="en-US" sz="1400" i="1" noProof="0" dirty="0">
              <a:solidFill>
                <a:schemeClr val="bg2">
                  <a:lumMod val="50000"/>
                </a:schemeClr>
              </a:solidFill>
              <a:effectLst/>
              <a:latin typeface="-apple-system"/>
            </a:endParaRPr>
          </a:p>
          <a:p>
            <a:pPr lvl="0"/>
            <a:r>
              <a:rPr lang="fr" sz="1400" b="1" i="1" noProof="0">
                <a:solidFill>
                  <a:schemeClr val="bg2">
                    <a:lumMod val="50000"/>
                  </a:schemeClr>
                </a:solidFill>
                <a:effectLst/>
                <a:latin typeface="+mn-lt"/>
              </a:rPr>
              <a:t>Note : L'essentiel est que ces traitements sont très spécifiques, ne conviennent qu'à certains cancers, et ne constituent pas une solution universelle.</a:t>
            </a:r>
            <a:br>
              <a:rPr lang="en-US" sz="1400" i="1" noProof="0" dirty="0">
                <a:solidFill>
                  <a:schemeClr val="bg2">
                    <a:lumMod val="50000"/>
                  </a:schemeClr>
                </a:solidFill>
                <a:effectLst/>
                <a:latin typeface="+mn-lt"/>
              </a:rPr>
            </a:br>
            <a:endParaRPr lang="en-US" sz="1400" i="1" noProof="0" dirty="0">
              <a:solidFill>
                <a:schemeClr val="bg2">
                  <a:lumMod val="50000"/>
                </a:schemeClr>
              </a:solidFill>
              <a:effectLst/>
              <a:latin typeface="-apple-system"/>
            </a:endParaRPr>
          </a:p>
        </p:txBody>
      </p:sp>
      <p:pic>
        <p:nvPicPr>
          <p:cNvPr id="29" name="Imagen 28">
            <a:extLst>
              <a:ext uri="{FF2B5EF4-FFF2-40B4-BE49-F238E27FC236}">
                <a16:creationId xmlns:a16="http://schemas.microsoft.com/office/drawing/2014/main" id="{69FEC726-A166-3A82-DB06-EF56F26318EF}"/>
              </a:ext>
            </a:extLst>
          </p:cNvPr>
          <p:cNvPicPr>
            <a:picLocks noChangeAspect="1"/>
          </p:cNvPicPr>
          <p:nvPr/>
        </p:nvPicPr>
        <p:blipFill>
          <a:blip r:embed="rId3"/>
          <a:srcRect l="818" t="7616" r="2553" b="13462"/>
          <a:stretch>
            <a:fillRect/>
          </a:stretch>
        </p:blipFill>
        <p:spPr>
          <a:xfrm>
            <a:off x="694941" y="3348544"/>
            <a:ext cx="3118901" cy="1698249"/>
          </a:xfrm>
          <a:prstGeom prst="rect">
            <a:avLst/>
          </a:prstGeom>
        </p:spPr>
      </p:pic>
      <p:pic>
        <p:nvPicPr>
          <p:cNvPr id="33" name="Imagen 32">
            <a:extLst>
              <a:ext uri="{FF2B5EF4-FFF2-40B4-BE49-F238E27FC236}">
                <a16:creationId xmlns:a16="http://schemas.microsoft.com/office/drawing/2014/main" id="{B24BA4CD-C21F-3C8E-D63F-1969DD73BAB3}"/>
              </a:ext>
            </a:extLst>
          </p:cNvPr>
          <p:cNvPicPr>
            <a:picLocks noChangeAspect="1"/>
          </p:cNvPicPr>
          <p:nvPr/>
        </p:nvPicPr>
        <p:blipFill>
          <a:blip r:embed="rId4"/>
          <a:srcRect l="597" t="8000" r="810" b="14172"/>
          <a:stretch>
            <a:fillRect/>
          </a:stretch>
        </p:blipFill>
        <p:spPr>
          <a:xfrm>
            <a:off x="4598629" y="3542902"/>
            <a:ext cx="2957858" cy="1556591"/>
          </a:xfrm>
          <a:prstGeom prst="rect">
            <a:avLst/>
          </a:prstGeom>
        </p:spPr>
      </p:pic>
      <p:pic>
        <p:nvPicPr>
          <p:cNvPr id="34" name="Imagen 33">
            <a:extLst>
              <a:ext uri="{FF2B5EF4-FFF2-40B4-BE49-F238E27FC236}">
                <a16:creationId xmlns:a16="http://schemas.microsoft.com/office/drawing/2014/main" id="{04FEFFE1-0913-FD07-E5FC-A88BC0419A0B}"/>
              </a:ext>
            </a:extLst>
          </p:cNvPr>
          <p:cNvPicPr>
            <a:picLocks noChangeAspect="1"/>
          </p:cNvPicPr>
          <p:nvPr/>
        </p:nvPicPr>
        <p:blipFill>
          <a:blip r:embed="rId5"/>
          <a:srcRect l="3025" t="7738" r="6181" b="8454"/>
          <a:stretch>
            <a:fillRect/>
          </a:stretch>
        </p:blipFill>
        <p:spPr>
          <a:xfrm>
            <a:off x="8587766" y="3619034"/>
            <a:ext cx="2434732" cy="1498276"/>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2400" b="1" noProof="0" dirty="0">
                <a:solidFill>
                  <a:srgbClr val="0E2E5C"/>
                </a:solidFill>
                <a:latin typeface="Cambria" pitchFamily="34" charset="0"/>
                <a:ea typeface="Cambria" pitchFamily="34" charset="-122"/>
                <a:cs typeface="Cambria" pitchFamily="34" charset="-120"/>
              </a:rPr>
              <a:t>Le cancer du côlon et le cancer du rectum ne sont pas la même chose</a:t>
            </a:r>
            <a:endParaRPr lang="en-US" sz="2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5410048" cy="4919472"/>
          </a:xfrm>
          <a:prstGeom prst="roundRect">
            <a:avLst>
              <a:gd name="adj" fmla="val 2105"/>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1097280" y="1727362"/>
            <a:ext cx="2836365" cy="325725"/>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Cancer du côlon</a:t>
            </a:r>
            <a:endParaRPr lang="en-US" sz="1800" noProof="0" dirty="0"/>
          </a:p>
        </p:txBody>
      </p:sp>
      <p:sp>
        <p:nvSpPr>
          <p:cNvPr id="7" name="Text 5"/>
          <p:cNvSpPr/>
          <p:nvPr/>
        </p:nvSpPr>
        <p:spPr>
          <a:xfrm>
            <a:off x="731520" y="2399782"/>
            <a:ext cx="5044288" cy="3728009"/>
          </a:xfrm>
          <a:prstGeom prst="rect">
            <a:avLst/>
          </a:prstGeom>
          <a:noFill/>
          <a:ln/>
        </p:spPr>
        <p:txBody>
          <a:bodyPr wrap="square" lIns="0" tIns="0" rIns="0" bIns="0" rtlCol="0" anchor="t">
            <a:noAutofit/>
          </a:bodyPr>
          <a:lstStyle/>
          <a:p>
            <a:pPr marL="285750" indent="-285750">
              <a:buFont typeface="Arial" panose="020B0604020202020204" pitchFamily="34" charset="0"/>
              <a:buChar char="•"/>
            </a:pPr>
            <a:r>
              <a:rPr lang="fr" sz="1500" noProof="0" dirty="0">
                <a:solidFill>
                  <a:srgbClr val="17325E"/>
                </a:solidFill>
                <a:latin typeface="Calibri" pitchFamily="34" charset="0"/>
                <a:ea typeface="Calibri" pitchFamily="34" charset="-122"/>
                <a:cs typeface="Calibri" pitchFamily="34" charset="-120"/>
              </a:rPr>
              <a:t>La chirurgie est le principal traitement local, qui consiste à retirer le segment affecté avec ses ganglions lymphatiques.</a:t>
            </a:r>
            <a:endParaRPr lang="en-US" sz="1500" noProof="0" dirty="0"/>
          </a:p>
          <a:p>
            <a:pPr marL="285750" indent="-285750">
              <a:buFont typeface="Arial" panose="020B0604020202020204" pitchFamily="34" charset="0"/>
              <a:buChar char="•"/>
            </a:pPr>
            <a:endParaRPr lang="en-US" sz="1500" noProof="0" dirty="0"/>
          </a:p>
          <a:p>
            <a:pPr marL="285750" indent="-285750">
              <a:buFont typeface="Arial" panose="020B0604020202020204" pitchFamily="34" charset="0"/>
              <a:buChar char="•"/>
            </a:pPr>
            <a:r>
              <a:rPr lang="fr" sz="1500" noProof="0" dirty="0">
                <a:solidFill>
                  <a:srgbClr val="17325E"/>
                </a:solidFill>
                <a:latin typeface="Calibri" pitchFamily="34" charset="0"/>
                <a:ea typeface="Calibri" pitchFamily="34" charset="-122"/>
                <a:cs typeface="Calibri" pitchFamily="34" charset="-120"/>
              </a:rPr>
              <a:t>La chimiothérapie peut être ajoutée après l'intervention chirurgicale pour certains patients afin de réduire le risque de récidive.</a:t>
            </a:r>
            <a:endParaRPr lang="en-US" sz="1500" noProof="0" dirty="0"/>
          </a:p>
          <a:p>
            <a:pPr marL="285750" indent="-285750">
              <a:buFont typeface="Arial" panose="020B0604020202020204" pitchFamily="34" charset="0"/>
              <a:buChar char="•"/>
            </a:pPr>
            <a:endParaRPr lang="en-US" sz="1500" noProof="0" dirty="0"/>
          </a:p>
          <a:p>
            <a:pPr marL="285750" indent="-285750">
              <a:buFont typeface="Arial" panose="020B0604020202020204" pitchFamily="34" charset="0"/>
              <a:buChar char="•"/>
            </a:pPr>
            <a:r>
              <a:rPr lang="fr" sz="1500" noProof="0" dirty="0">
                <a:solidFill>
                  <a:srgbClr val="17325E"/>
                </a:solidFill>
                <a:latin typeface="Calibri" pitchFamily="34" charset="0"/>
                <a:ea typeface="Calibri" pitchFamily="34" charset="-122"/>
                <a:cs typeface="Calibri" pitchFamily="34" charset="-120"/>
              </a:rPr>
              <a:t>La radiothérapie ne fait pas partie du traitement de routine.</a:t>
            </a:r>
            <a:endParaRPr lang="en-US" sz="1500" noProof="0" dirty="0"/>
          </a:p>
          <a:p>
            <a:pPr marL="285750" indent="-285750">
              <a:buFont typeface="Arial" panose="020B0604020202020204" pitchFamily="34" charset="0"/>
              <a:buChar char="•"/>
            </a:pPr>
            <a:endParaRPr lang="en-US" sz="1500" noProof="0" dirty="0"/>
          </a:p>
          <a:p>
            <a:pPr marL="285750" indent="-285750">
              <a:buFont typeface="Arial" panose="020B0604020202020204" pitchFamily="34" charset="0"/>
              <a:buChar char="•"/>
            </a:pPr>
            <a:r>
              <a:rPr lang="fr" sz="1500" noProof="0" dirty="0">
                <a:solidFill>
                  <a:srgbClr val="17325E"/>
                </a:solidFill>
                <a:latin typeface="Calibri" pitchFamily="34" charset="0"/>
                <a:ea typeface="Calibri" pitchFamily="34" charset="-122"/>
                <a:cs typeface="Calibri" pitchFamily="34" charset="-120"/>
              </a:rPr>
              <a:t>Une stomie permanente est rare.</a:t>
            </a:r>
            <a:endParaRPr lang="en-US" sz="1500" noProof="0" dirty="0"/>
          </a:p>
          <a:p>
            <a:pPr marL="285750" indent="-285750">
              <a:buFont typeface="Arial" panose="020B0604020202020204" pitchFamily="34" charset="0"/>
              <a:buChar char="•"/>
            </a:pPr>
            <a:endParaRPr lang="en-US" sz="1500" noProof="0" dirty="0"/>
          </a:p>
          <a:p>
            <a:pPr marL="285750" indent="-285750">
              <a:buFont typeface="Arial" panose="020B0604020202020204" pitchFamily="34" charset="0"/>
              <a:buChar char="•"/>
            </a:pPr>
            <a:r>
              <a:rPr lang="fr" sz="1500" noProof="0" dirty="0">
                <a:solidFill>
                  <a:srgbClr val="17325E"/>
                </a:solidFill>
                <a:latin typeface="Calibri" pitchFamily="34" charset="0"/>
                <a:ea typeface="Calibri" pitchFamily="34" charset="-122"/>
                <a:cs typeface="Calibri" pitchFamily="34" charset="-120"/>
              </a:rPr>
              <a:t>Les symptômes dépendent du côté : les tumeurs du côté droit se manifestent souvent par anémie, celles du côté gauche par un changement d'habitude intestinale ou une obstruction.</a:t>
            </a:r>
            <a:endParaRPr lang="en-US" sz="1500" noProof="0" dirty="0"/>
          </a:p>
        </p:txBody>
      </p:sp>
      <p:sp>
        <p:nvSpPr>
          <p:cNvPr id="8" name="Shape 6"/>
          <p:cNvSpPr/>
          <p:nvPr/>
        </p:nvSpPr>
        <p:spPr>
          <a:xfrm>
            <a:off x="6233008" y="1371600"/>
            <a:ext cx="5410048" cy="4919472"/>
          </a:xfrm>
          <a:prstGeom prst="roundRect">
            <a:avLst>
              <a:gd name="adj" fmla="val 2105"/>
            </a:avLst>
          </a:prstGeom>
          <a:solidFill>
            <a:srgbClr val="FFF3DF"/>
          </a:solidFill>
          <a:ln w="15875">
            <a:solidFill>
              <a:srgbClr val="E8CFA4"/>
            </a:solidFill>
            <a:prstDash val="solid"/>
          </a:ln>
        </p:spPr>
        <p:txBody>
          <a:bodyPr/>
          <a:lstStyle/>
          <a:p>
            <a:endParaRPr lang="en-US" noProof="0" dirty="0"/>
          </a:p>
        </p:txBody>
      </p:sp>
      <p:sp>
        <p:nvSpPr>
          <p:cNvPr id="9" name="Text 7"/>
          <p:cNvSpPr/>
          <p:nvPr/>
        </p:nvSpPr>
        <p:spPr>
          <a:xfrm>
            <a:off x="7019737" y="1707685"/>
            <a:ext cx="2158769" cy="345402"/>
          </a:xfrm>
          <a:prstGeom prst="rect">
            <a:avLst/>
          </a:prstGeom>
          <a:noFill/>
          <a:ln/>
        </p:spPr>
        <p:txBody>
          <a:bodyPr wrap="square" lIns="0" tIns="0" rIns="0" bIns="0" rtlCol="0" anchor="t"/>
          <a:lstStyle/>
          <a:p>
            <a:pPr marL="0" indent="0">
              <a:buNone/>
            </a:pPr>
            <a:r>
              <a:rPr lang="fr" sz="1800" b="1" noProof="0">
                <a:solidFill>
                  <a:srgbClr val="9A5B00"/>
                </a:solidFill>
                <a:latin typeface="Calibri" pitchFamily="34" charset="0"/>
                <a:ea typeface="Calibri" pitchFamily="34" charset="-122"/>
                <a:cs typeface="Calibri" pitchFamily="34" charset="-120"/>
              </a:rPr>
              <a:t>Cancer rectal</a:t>
            </a:r>
            <a:endParaRPr lang="en-US" sz="1800" noProof="0" dirty="0"/>
          </a:p>
        </p:txBody>
      </p:sp>
      <p:sp>
        <p:nvSpPr>
          <p:cNvPr id="10" name="Text 8"/>
          <p:cNvSpPr/>
          <p:nvPr/>
        </p:nvSpPr>
        <p:spPr>
          <a:xfrm>
            <a:off x="6415888" y="2399782"/>
            <a:ext cx="5044288" cy="3728009"/>
          </a:xfrm>
          <a:prstGeom prst="rect">
            <a:avLst/>
          </a:prstGeom>
          <a:noFill/>
          <a:ln/>
        </p:spPr>
        <p:txBody>
          <a:bodyPr wrap="square" lIns="0" tIns="0" rIns="0" bIns="0" rtlCol="0" anchor="t">
            <a:noAutofit/>
          </a:bodyPr>
          <a:lstStyle/>
          <a:p>
            <a:pPr marL="285750" indent="-285750">
              <a:buFont typeface="Arial" panose="020B0604020202020204" pitchFamily="34" charset="0"/>
              <a:buChar char="•"/>
            </a:pPr>
            <a:r>
              <a:rPr lang="fr" sz="1500" noProof="0">
                <a:solidFill>
                  <a:srgbClr val="17325E"/>
                </a:solidFill>
                <a:latin typeface="Calibri" pitchFamily="34" charset="0"/>
                <a:ea typeface="Calibri" pitchFamily="34" charset="-122"/>
                <a:cs typeface="Calibri" pitchFamily="34" charset="-120"/>
              </a:rPr>
              <a:t>La chirurgie est plus complexe, car le rectum se trouve profondément dans le bassin, à proximité d'autres structures.</a:t>
            </a:r>
            <a:endParaRPr lang="en-US" sz="1500" noProof="0" dirty="0"/>
          </a:p>
          <a:p>
            <a:pPr marL="285750" indent="-285750">
              <a:buFont typeface="Arial" panose="020B0604020202020204" pitchFamily="34" charset="0"/>
              <a:buChar char="•"/>
            </a:pPr>
            <a:endParaRPr lang="en-US" sz="1500" noProof="0" dirty="0"/>
          </a:p>
          <a:p>
            <a:pPr marL="285750" indent="-285750">
              <a:buFont typeface="Arial" panose="020B0604020202020204" pitchFamily="34" charset="0"/>
              <a:buChar char="•"/>
            </a:pPr>
            <a:r>
              <a:rPr lang="fr" sz="1500" noProof="0">
                <a:solidFill>
                  <a:srgbClr val="17325E"/>
                </a:solidFill>
                <a:latin typeface="Calibri" pitchFamily="34" charset="0"/>
                <a:ea typeface="Calibri" pitchFamily="34" charset="-122"/>
                <a:cs typeface="Calibri" pitchFamily="34" charset="-120"/>
              </a:rPr>
              <a:t>La radiothérapie, souvent accompagnée de chimiothérapie, joue un rôle établi avant la chirurgie dans certains cas.</a:t>
            </a:r>
            <a:endParaRPr lang="en-US" sz="1500" noProof="0" dirty="0"/>
          </a:p>
          <a:p>
            <a:pPr marL="285750" indent="-285750">
              <a:buFont typeface="Arial" panose="020B0604020202020204" pitchFamily="34" charset="0"/>
              <a:buChar char="•"/>
            </a:pPr>
            <a:endParaRPr lang="en-US" sz="1500" noProof="0" dirty="0"/>
          </a:p>
          <a:p>
            <a:pPr marL="285750" indent="-285750">
              <a:buFont typeface="Arial" panose="020B0604020202020204" pitchFamily="34" charset="0"/>
              <a:buChar char="•"/>
            </a:pPr>
            <a:r>
              <a:rPr lang="fr" sz="1500" noProof="0">
                <a:solidFill>
                  <a:srgbClr val="17325E"/>
                </a:solidFill>
                <a:latin typeface="Calibri" pitchFamily="34" charset="0"/>
                <a:ea typeface="Calibri" pitchFamily="34" charset="-122"/>
                <a:cs typeface="Calibri" pitchFamily="34" charset="-120"/>
              </a:rPr>
              <a:t>L'imagerie par résonance magnétique du bassin est importante pour la planification.</a:t>
            </a:r>
            <a:endParaRPr lang="en-US" sz="1500" noProof="0" dirty="0"/>
          </a:p>
          <a:p>
            <a:pPr marL="285750" indent="-285750">
              <a:buFont typeface="Arial" panose="020B0604020202020204" pitchFamily="34" charset="0"/>
              <a:buChar char="•"/>
            </a:pPr>
            <a:endParaRPr lang="en-US" sz="1500" noProof="0" dirty="0"/>
          </a:p>
          <a:p>
            <a:pPr marL="285750" indent="-285750">
              <a:buFont typeface="Arial" panose="020B0604020202020204" pitchFamily="34" charset="0"/>
              <a:buChar char="•"/>
            </a:pPr>
            <a:r>
              <a:rPr lang="fr" sz="1500" noProof="0">
                <a:solidFill>
                  <a:srgbClr val="17325E"/>
                </a:solidFill>
                <a:latin typeface="Calibri" pitchFamily="34" charset="0"/>
                <a:ea typeface="Calibri" pitchFamily="34" charset="-122"/>
                <a:cs typeface="Calibri" pitchFamily="34" charset="-120"/>
              </a:rPr>
              <a:t>Une stomie temporaire ou permanente est plus probable que dans un cancer du côlon.</a:t>
            </a:r>
            <a:endParaRPr lang="en-US" sz="1500" noProof="0" dirty="0"/>
          </a:p>
          <a:p>
            <a:pPr marL="285750" indent="-285750">
              <a:buFont typeface="Arial" panose="020B0604020202020204" pitchFamily="34" charset="0"/>
              <a:buChar char="•"/>
            </a:pPr>
            <a:endParaRPr lang="en-US" sz="1500" noProof="0" dirty="0"/>
          </a:p>
          <a:p>
            <a:pPr marL="285750" indent="-285750">
              <a:buFont typeface="Arial" panose="020B0604020202020204" pitchFamily="34" charset="0"/>
              <a:buChar char="•"/>
            </a:pPr>
            <a:r>
              <a:rPr lang="fr" sz="1500" noProof="0">
                <a:solidFill>
                  <a:srgbClr val="17325E"/>
                </a:solidFill>
                <a:latin typeface="Calibri" pitchFamily="34" charset="0"/>
                <a:ea typeface="Calibri" pitchFamily="34" charset="-122"/>
                <a:cs typeface="Calibri" pitchFamily="34" charset="-120"/>
              </a:rPr>
              <a:t>Les fonctions intestinales, urinaires et sexuelles peuvent être affectées par la suite.</a:t>
            </a:r>
            <a:endParaRPr lang="en-US" sz="1500" noProof="0" dirty="0"/>
          </a:p>
        </p:txBody>
      </p:sp>
      <p:pic>
        <p:nvPicPr>
          <p:cNvPr id="11" name="Imagen 10">
            <a:extLst>
              <a:ext uri="{FF2B5EF4-FFF2-40B4-BE49-F238E27FC236}">
                <a16:creationId xmlns:a16="http://schemas.microsoft.com/office/drawing/2014/main" id="{93874DDC-E327-3FD7-C7EF-A844002E23F0}"/>
              </a:ext>
            </a:extLst>
          </p:cNvPr>
          <p:cNvPicPr>
            <a:picLocks noChangeAspect="1"/>
          </p:cNvPicPr>
          <p:nvPr/>
        </p:nvPicPr>
        <p:blipFill>
          <a:blip r:embed="rId3"/>
          <a:srcRect l="16768" r="18331"/>
          <a:stretch>
            <a:fillRect/>
          </a:stretch>
        </p:blipFill>
        <p:spPr>
          <a:xfrm>
            <a:off x="2824409" y="1478223"/>
            <a:ext cx="858509" cy="881878"/>
          </a:xfrm>
          <a:prstGeom prst="rect">
            <a:avLst/>
          </a:prstGeom>
        </p:spPr>
      </p:pic>
      <p:pic>
        <p:nvPicPr>
          <p:cNvPr id="12" name="Imagen 11">
            <a:extLst>
              <a:ext uri="{FF2B5EF4-FFF2-40B4-BE49-F238E27FC236}">
                <a16:creationId xmlns:a16="http://schemas.microsoft.com/office/drawing/2014/main" id="{3462071E-97A5-3EFF-00F3-98FE6E30713E}"/>
              </a:ext>
            </a:extLst>
          </p:cNvPr>
          <p:cNvPicPr>
            <a:picLocks noChangeAspect="1"/>
          </p:cNvPicPr>
          <p:nvPr/>
        </p:nvPicPr>
        <p:blipFill>
          <a:blip r:embed="rId4"/>
          <a:srcRect/>
          <a:stretch>
            <a:fillRect/>
          </a:stretch>
        </p:blipFill>
        <p:spPr>
          <a:xfrm>
            <a:off x="8494490" y="1478223"/>
            <a:ext cx="887083" cy="88708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200" b="1" noProof="0">
                <a:solidFill>
                  <a:srgbClr val="0E2E5C"/>
                </a:solidFill>
                <a:latin typeface="Cambria" pitchFamily="34" charset="0"/>
                <a:ea typeface="Cambria" pitchFamily="34" charset="-122"/>
                <a:cs typeface="Cambria" pitchFamily="34" charset="-120"/>
              </a:rPr>
              <a:t>L'histoire d'Emmanuel se conclut</a:t>
            </a:r>
            <a:endParaRPr lang="en-US" sz="32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73945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Idées reçues courantes</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492371"/>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solidFill>
                <a:schemeClr val="accent1">
                  <a:lumMod val="50000"/>
                </a:schemeClr>
              </a:solidFill>
            </a:endParaRPr>
          </a:p>
        </p:txBody>
      </p:sp>
      <p:sp>
        <p:nvSpPr>
          <p:cNvPr id="6" name="Text 4"/>
          <p:cNvSpPr/>
          <p:nvPr/>
        </p:nvSpPr>
        <p:spPr>
          <a:xfrm>
            <a:off x="731520" y="1638674"/>
            <a:ext cx="3186074" cy="1544335"/>
          </a:xfrm>
          <a:prstGeom prst="rect">
            <a:avLst/>
          </a:prstGeom>
          <a:noFill/>
          <a:ln/>
        </p:spPr>
        <p:txBody>
          <a:bodyPr wrap="square" lIns="0" tIns="0" rIns="0" bIns="0" rtlCol="0" anchor="t">
            <a:noAutofit/>
          </a:bodyPr>
          <a:lstStyle/>
          <a:p>
            <a:pPr marL="0" indent="0">
              <a:buNone/>
            </a:pPr>
            <a:r>
              <a:rPr lang="fr" b="1" noProof="0">
                <a:solidFill>
                  <a:schemeClr val="accent1">
                    <a:lumMod val="50000"/>
                  </a:schemeClr>
                </a:solidFill>
                <a:latin typeface="Calibri" pitchFamily="34" charset="0"/>
                <a:ea typeface="Calibri" pitchFamily="34" charset="-122"/>
                <a:cs typeface="Calibri" pitchFamily="34" charset="-120"/>
              </a:rPr>
              <a:t>Le sang dans les selles est toujours dû aux hémorroïdes</a:t>
            </a:r>
            <a:endParaRPr lang="en-US" noProof="0" dirty="0">
              <a:solidFill>
                <a:schemeClr val="accent1">
                  <a:lumMod val="50000"/>
                </a:schemeClr>
              </a:solidFill>
            </a:endParaRPr>
          </a:p>
        </p:txBody>
      </p:sp>
      <p:sp>
        <p:nvSpPr>
          <p:cNvPr id="7" name="Text 5"/>
          <p:cNvSpPr/>
          <p:nvPr/>
        </p:nvSpPr>
        <p:spPr>
          <a:xfrm>
            <a:off x="731520" y="2275994"/>
            <a:ext cx="3186074" cy="1137514"/>
          </a:xfrm>
          <a:prstGeom prst="rect">
            <a:avLst/>
          </a:prstGeom>
          <a:noFill/>
          <a:ln/>
        </p:spPr>
        <p:txBody>
          <a:bodyPr wrap="square" lIns="0" tIns="0" rIns="0" bIns="0" rtlCol="0" anchor="t">
            <a:normAutofit fontScale="86500" lnSpcReduction="20000"/>
          </a:bodyPr>
          <a:lstStyle/>
          <a:p>
            <a:pPr marL="0" indent="0">
              <a:lnSpc>
                <a:spcPct val="105000"/>
              </a:lnSpc>
              <a:buNone/>
            </a:pPr>
            <a:r>
              <a:rPr lang="fr" sz="1800" b="1" noProof="0" dirty="0">
                <a:solidFill>
                  <a:schemeClr val="accent1">
                    <a:lumMod val="50000"/>
                  </a:schemeClr>
                </a:solidFill>
                <a:latin typeface="Calibri" pitchFamily="34" charset="0"/>
                <a:ea typeface="Calibri" pitchFamily="34" charset="-122"/>
                <a:cs typeface="Calibri" pitchFamily="34" charset="-120"/>
              </a:rPr>
              <a:t>Faux. </a:t>
            </a:r>
            <a:r>
              <a:rPr lang="fr" sz="1800" noProof="0" dirty="0">
                <a:solidFill>
                  <a:schemeClr val="accent1">
                    <a:lumMod val="50000"/>
                  </a:schemeClr>
                </a:solidFill>
                <a:latin typeface="Calibri" pitchFamily="34" charset="0"/>
                <a:ea typeface="Calibri" pitchFamily="34" charset="-122"/>
                <a:cs typeface="Calibri" pitchFamily="34" charset="-120"/>
              </a:rPr>
              <a:t>Les hémorroïdes sont fréquentes et peuvent coexister avec le cancer. Les saignements persistants nécessitent une évaluation, quoi qu'il en soit.</a:t>
            </a:r>
            <a:endParaRPr lang="en-US" sz="1800" noProof="0" dirty="0">
              <a:solidFill>
                <a:schemeClr val="accent1">
                  <a:lumMod val="50000"/>
                </a:schemeClr>
              </a:solidFill>
            </a:endParaRPr>
          </a:p>
        </p:txBody>
      </p:sp>
      <p:sp>
        <p:nvSpPr>
          <p:cNvPr id="8" name="Shape 6"/>
          <p:cNvSpPr/>
          <p:nvPr/>
        </p:nvSpPr>
        <p:spPr>
          <a:xfrm>
            <a:off x="4319930" y="1492371"/>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solidFill>
                <a:schemeClr val="accent1">
                  <a:lumMod val="50000"/>
                </a:schemeClr>
              </a:solidFill>
            </a:endParaRPr>
          </a:p>
        </p:txBody>
      </p:sp>
      <p:sp>
        <p:nvSpPr>
          <p:cNvPr id="9" name="Text 7"/>
          <p:cNvSpPr/>
          <p:nvPr/>
        </p:nvSpPr>
        <p:spPr>
          <a:xfrm>
            <a:off x="4502810" y="1638675"/>
            <a:ext cx="3186074" cy="835983"/>
          </a:xfrm>
          <a:prstGeom prst="rect">
            <a:avLst/>
          </a:prstGeom>
          <a:noFill/>
          <a:ln/>
        </p:spPr>
        <p:txBody>
          <a:bodyPr wrap="square" lIns="0" tIns="0" rIns="0" bIns="0" rtlCol="0" anchor="t">
            <a:noAutofit/>
          </a:bodyPr>
          <a:lstStyle/>
          <a:p>
            <a:pPr marL="0" indent="0">
              <a:buNone/>
            </a:pPr>
            <a:r>
              <a:rPr lang="fr" b="1" noProof="0">
                <a:solidFill>
                  <a:schemeClr val="accent1">
                    <a:lumMod val="50000"/>
                  </a:schemeClr>
                </a:solidFill>
                <a:latin typeface="Calibri" pitchFamily="34" charset="0"/>
                <a:ea typeface="Calibri" pitchFamily="34" charset="-122"/>
                <a:cs typeface="Calibri" pitchFamily="34" charset="-120"/>
              </a:rPr>
              <a:t>Pas de symptômes, pas de cancer</a:t>
            </a:r>
            <a:endParaRPr lang="en-US" noProof="0" dirty="0">
              <a:solidFill>
                <a:schemeClr val="accent1">
                  <a:lumMod val="50000"/>
                </a:schemeClr>
              </a:solidFill>
            </a:endParaRPr>
          </a:p>
        </p:txBody>
      </p:sp>
      <p:sp>
        <p:nvSpPr>
          <p:cNvPr id="10" name="Text 8"/>
          <p:cNvSpPr/>
          <p:nvPr/>
        </p:nvSpPr>
        <p:spPr>
          <a:xfrm>
            <a:off x="4502810" y="1998034"/>
            <a:ext cx="3186074" cy="1442009"/>
          </a:xfrm>
          <a:prstGeom prst="rect">
            <a:avLst/>
          </a:prstGeom>
          <a:noFill/>
          <a:ln/>
        </p:spPr>
        <p:txBody>
          <a:bodyPr wrap="square" lIns="0" tIns="0" rIns="0" bIns="0" rtlCol="0" anchor="t">
            <a:normAutofit fontScale="94000"/>
          </a:bodyPr>
          <a:lstStyle/>
          <a:p>
            <a:pPr>
              <a:lnSpc>
                <a:spcPct val="105000"/>
              </a:lnSpc>
            </a:pPr>
            <a:r>
              <a:rPr lang="fr" sz="1800" b="1" noProof="0" dirty="0">
                <a:solidFill>
                  <a:schemeClr val="accent1">
                    <a:lumMod val="50000"/>
                  </a:schemeClr>
                </a:solidFill>
                <a:latin typeface="Calibri" pitchFamily="34" charset="0"/>
                <a:ea typeface="Calibri" pitchFamily="34" charset="-122"/>
                <a:cs typeface="Calibri" pitchFamily="34" charset="-120"/>
              </a:rPr>
              <a:t>Faux. </a:t>
            </a:r>
            <a:r>
              <a:rPr lang="fr" sz="1800" noProof="0" dirty="0">
                <a:solidFill>
                  <a:schemeClr val="accent1">
                    <a:lumMod val="50000"/>
                  </a:schemeClr>
                </a:solidFill>
                <a:latin typeface="Calibri" pitchFamily="34" charset="0"/>
                <a:ea typeface="Calibri" pitchFamily="34" charset="-122"/>
                <a:cs typeface="Calibri" pitchFamily="34" charset="-120"/>
              </a:rPr>
              <a:t>Le cancer colorectal précoce est </a:t>
            </a:r>
            <a:r>
              <a:rPr lang="en-US" dirty="0" err="1">
                <a:solidFill>
                  <a:schemeClr val="accent1">
                    <a:lumMod val="50000"/>
                  </a:schemeClr>
                </a:solidFill>
                <a:latin typeface="Calibri" pitchFamily="34" charset="0"/>
                <a:ea typeface="Calibri" pitchFamily="34" charset="-122"/>
                <a:cs typeface="Calibri" pitchFamily="34" charset="-120"/>
              </a:rPr>
              <a:t>souvent</a:t>
            </a:r>
            <a:r>
              <a:rPr lang="en-US" dirty="0">
                <a:solidFill>
                  <a:schemeClr val="accent1">
                    <a:lumMod val="50000"/>
                  </a:schemeClr>
                </a:solidFill>
                <a:latin typeface="Calibri" pitchFamily="34" charset="0"/>
                <a:ea typeface="Calibri" pitchFamily="34" charset="-122"/>
                <a:cs typeface="Calibri" pitchFamily="34" charset="-120"/>
              </a:rPr>
              <a:t> </a:t>
            </a:r>
            <a:r>
              <a:rPr lang="en-US" dirty="0" err="1">
                <a:solidFill>
                  <a:schemeClr val="accent1">
                    <a:lumMod val="50000"/>
                  </a:schemeClr>
                </a:solidFill>
                <a:latin typeface="Calibri" pitchFamily="34" charset="0"/>
                <a:ea typeface="Calibri" pitchFamily="34" charset="-122"/>
                <a:cs typeface="Calibri" pitchFamily="34" charset="-120"/>
              </a:rPr>
              <a:t>completement</a:t>
            </a:r>
            <a:r>
              <a:rPr lang="en-US" dirty="0">
                <a:solidFill>
                  <a:schemeClr val="accent1">
                    <a:lumMod val="50000"/>
                  </a:schemeClr>
                </a:solidFill>
                <a:latin typeface="Calibri" pitchFamily="34" charset="0"/>
                <a:ea typeface="Calibri" pitchFamily="34" charset="-122"/>
                <a:cs typeface="Calibri" pitchFamily="34" charset="-120"/>
              </a:rPr>
              <a:t>  asymptomatique au début </a:t>
            </a:r>
            <a:r>
              <a:rPr lang="fr" sz="1800" noProof="0" dirty="0">
                <a:solidFill>
                  <a:schemeClr val="accent1">
                    <a:lumMod val="50000"/>
                  </a:schemeClr>
                </a:solidFill>
                <a:latin typeface="Calibri" pitchFamily="34" charset="0"/>
                <a:ea typeface="Calibri" pitchFamily="34" charset="-122"/>
                <a:cs typeface="Calibri" pitchFamily="34" charset="-120"/>
              </a:rPr>
              <a:t>.</a:t>
            </a:r>
            <a:endParaRPr lang="en-US" sz="1800" noProof="0" dirty="0">
              <a:solidFill>
                <a:schemeClr val="accent1">
                  <a:lumMod val="50000"/>
                </a:schemeClr>
              </a:solidFill>
            </a:endParaRPr>
          </a:p>
        </p:txBody>
      </p:sp>
      <p:sp>
        <p:nvSpPr>
          <p:cNvPr id="11" name="Shape 9"/>
          <p:cNvSpPr/>
          <p:nvPr/>
        </p:nvSpPr>
        <p:spPr>
          <a:xfrm>
            <a:off x="8091221" y="1492371"/>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solidFill>
                <a:schemeClr val="accent1">
                  <a:lumMod val="50000"/>
                </a:schemeClr>
              </a:solidFill>
            </a:endParaRPr>
          </a:p>
        </p:txBody>
      </p:sp>
      <p:sp>
        <p:nvSpPr>
          <p:cNvPr id="12" name="Text 10"/>
          <p:cNvSpPr/>
          <p:nvPr/>
        </p:nvSpPr>
        <p:spPr>
          <a:xfrm>
            <a:off x="8274101" y="1638674"/>
            <a:ext cx="3186074" cy="1544335"/>
          </a:xfrm>
          <a:prstGeom prst="rect">
            <a:avLst/>
          </a:prstGeom>
          <a:noFill/>
          <a:ln/>
        </p:spPr>
        <p:txBody>
          <a:bodyPr wrap="square" lIns="0" tIns="0" rIns="0" bIns="0" rtlCol="0" anchor="t">
            <a:noAutofit/>
          </a:bodyPr>
          <a:lstStyle/>
          <a:p>
            <a:pPr marL="0" indent="0">
              <a:buNone/>
            </a:pPr>
            <a:r>
              <a:rPr lang="fr" b="1" noProof="0">
                <a:solidFill>
                  <a:schemeClr val="accent1">
                    <a:lumMod val="50000"/>
                  </a:schemeClr>
                </a:solidFill>
                <a:latin typeface="Calibri" pitchFamily="34" charset="0"/>
                <a:ea typeface="Calibri" pitchFamily="34" charset="-122"/>
                <a:cs typeface="Calibri" pitchFamily="34" charset="-120"/>
              </a:rPr>
              <a:t>Un test de selles positif signifie cancer</a:t>
            </a:r>
            <a:endParaRPr lang="en-US" noProof="0" dirty="0">
              <a:solidFill>
                <a:schemeClr val="accent1">
                  <a:lumMod val="50000"/>
                </a:schemeClr>
              </a:solidFill>
            </a:endParaRPr>
          </a:p>
        </p:txBody>
      </p:sp>
      <p:sp>
        <p:nvSpPr>
          <p:cNvPr id="13" name="Text 11"/>
          <p:cNvSpPr/>
          <p:nvPr/>
        </p:nvSpPr>
        <p:spPr>
          <a:xfrm>
            <a:off x="8274101" y="2302529"/>
            <a:ext cx="3186074" cy="1137514"/>
          </a:xfrm>
          <a:prstGeom prst="rect">
            <a:avLst/>
          </a:prstGeom>
          <a:noFill/>
          <a:ln/>
        </p:spPr>
        <p:txBody>
          <a:bodyPr wrap="square" lIns="0" tIns="0" rIns="0" bIns="0" rtlCol="0" anchor="t">
            <a:normAutofit fontScale="94000"/>
          </a:bodyPr>
          <a:lstStyle/>
          <a:p>
            <a:pPr marL="0" indent="0">
              <a:lnSpc>
                <a:spcPct val="105000"/>
              </a:lnSpc>
              <a:buNone/>
            </a:pPr>
            <a:r>
              <a:rPr lang="fr" sz="1800" b="1" noProof="0">
                <a:solidFill>
                  <a:schemeClr val="accent1">
                    <a:lumMod val="50000"/>
                  </a:schemeClr>
                </a:solidFill>
                <a:latin typeface="Calibri" pitchFamily="34" charset="0"/>
                <a:ea typeface="Calibri" pitchFamily="34" charset="-122"/>
                <a:cs typeface="Calibri" pitchFamily="34" charset="-120"/>
              </a:rPr>
              <a:t>Faux. </a:t>
            </a:r>
            <a:r>
              <a:rPr lang="fr" sz="1800" noProof="0">
                <a:solidFill>
                  <a:schemeClr val="accent1">
                    <a:lumMod val="50000"/>
                  </a:schemeClr>
                </a:solidFill>
                <a:latin typeface="Calibri" pitchFamily="34" charset="0"/>
                <a:ea typeface="Calibri" pitchFamily="34" charset="-122"/>
                <a:cs typeface="Calibri" pitchFamily="34" charset="-120"/>
              </a:rPr>
              <a:t>Cela signifie que du sang a été détecté. La plupart des personnes avec un test positif n'ont pas de cancer.</a:t>
            </a:r>
            <a:endParaRPr lang="en-US" sz="1800" noProof="0" dirty="0">
              <a:solidFill>
                <a:schemeClr val="accent1">
                  <a:lumMod val="50000"/>
                </a:schemeClr>
              </a:solidFill>
            </a:endParaRPr>
          </a:p>
        </p:txBody>
      </p:sp>
      <p:sp>
        <p:nvSpPr>
          <p:cNvPr id="14" name="Shape 12"/>
          <p:cNvSpPr/>
          <p:nvPr/>
        </p:nvSpPr>
        <p:spPr>
          <a:xfrm>
            <a:off x="548640" y="4010768"/>
            <a:ext cx="3551834" cy="2176943"/>
          </a:xfrm>
          <a:prstGeom prst="roundRect">
            <a:avLst>
              <a:gd name="adj" fmla="val 4444"/>
            </a:avLst>
          </a:prstGeom>
          <a:solidFill>
            <a:srgbClr val="F3F7FC"/>
          </a:solidFill>
          <a:ln w="15875">
            <a:solidFill>
              <a:srgbClr val="C9DCF2"/>
            </a:solidFill>
            <a:prstDash val="solid"/>
          </a:ln>
        </p:spPr>
        <p:txBody>
          <a:bodyPr/>
          <a:lstStyle/>
          <a:p>
            <a:endParaRPr lang="en-US" noProof="0" dirty="0">
              <a:solidFill>
                <a:schemeClr val="accent1">
                  <a:lumMod val="50000"/>
                </a:schemeClr>
              </a:solidFill>
            </a:endParaRPr>
          </a:p>
        </p:txBody>
      </p:sp>
      <p:sp>
        <p:nvSpPr>
          <p:cNvPr id="15" name="Text 13"/>
          <p:cNvSpPr/>
          <p:nvPr/>
        </p:nvSpPr>
        <p:spPr>
          <a:xfrm>
            <a:off x="731520" y="4157073"/>
            <a:ext cx="3186074" cy="1801368"/>
          </a:xfrm>
          <a:prstGeom prst="rect">
            <a:avLst/>
          </a:prstGeom>
          <a:noFill/>
          <a:ln/>
        </p:spPr>
        <p:txBody>
          <a:bodyPr wrap="square" lIns="0" tIns="0" rIns="0" bIns="0" rtlCol="0" anchor="t">
            <a:noAutofit/>
          </a:bodyPr>
          <a:lstStyle/>
          <a:p>
            <a:pPr marL="0" indent="0">
              <a:buNone/>
            </a:pPr>
            <a:r>
              <a:rPr lang="fr" b="1" noProof="0" dirty="0">
                <a:solidFill>
                  <a:schemeClr val="accent1">
                    <a:lumMod val="50000"/>
                  </a:schemeClr>
                </a:solidFill>
                <a:latin typeface="Calibri" pitchFamily="34" charset="0"/>
                <a:ea typeface="Calibri" pitchFamily="34" charset="-122"/>
                <a:cs typeface="Calibri" pitchFamily="34" charset="-120"/>
              </a:rPr>
              <a:t>Retirer un polype provoque un cancer</a:t>
            </a:r>
            <a:endParaRPr lang="en-US" noProof="0" dirty="0">
              <a:solidFill>
                <a:schemeClr val="accent1">
                  <a:lumMod val="50000"/>
                </a:schemeClr>
              </a:solidFill>
            </a:endParaRPr>
          </a:p>
        </p:txBody>
      </p:sp>
      <p:sp>
        <p:nvSpPr>
          <p:cNvPr id="16" name="Text 14"/>
          <p:cNvSpPr/>
          <p:nvPr/>
        </p:nvSpPr>
        <p:spPr>
          <a:xfrm>
            <a:off x="731519" y="4745705"/>
            <a:ext cx="3186074" cy="1442009"/>
          </a:xfrm>
          <a:prstGeom prst="rect">
            <a:avLst/>
          </a:prstGeom>
          <a:noFill/>
          <a:ln/>
        </p:spPr>
        <p:txBody>
          <a:bodyPr wrap="square" lIns="0" tIns="0" rIns="0" bIns="0" rtlCol="0" anchor="t">
            <a:normAutofit fontScale="94000"/>
          </a:bodyPr>
          <a:lstStyle/>
          <a:p>
            <a:pPr marL="0" indent="0">
              <a:lnSpc>
                <a:spcPct val="105000"/>
              </a:lnSpc>
              <a:buNone/>
            </a:pPr>
            <a:r>
              <a:rPr lang="fr" sz="1800" b="1" noProof="0" dirty="0">
                <a:solidFill>
                  <a:schemeClr val="accent1">
                    <a:lumMod val="50000"/>
                  </a:schemeClr>
                </a:solidFill>
                <a:latin typeface="Calibri" pitchFamily="34" charset="0"/>
                <a:ea typeface="Calibri" pitchFamily="34" charset="-122"/>
                <a:cs typeface="Calibri" pitchFamily="34" charset="-120"/>
              </a:rPr>
              <a:t>Faux. </a:t>
            </a:r>
            <a:r>
              <a:rPr lang="fr" sz="1800" noProof="0" dirty="0">
                <a:solidFill>
                  <a:schemeClr val="accent1">
                    <a:lumMod val="50000"/>
                  </a:schemeClr>
                </a:solidFill>
                <a:latin typeface="Calibri" pitchFamily="34" charset="0"/>
                <a:ea typeface="Calibri" pitchFamily="34" charset="-122"/>
                <a:cs typeface="Calibri" pitchFamily="34" charset="-120"/>
              </a:rPr>
              <a:t>Retirer une lésion précurseur réduit le risque futur. Elle ne crée ni ne propage la maladie.</a:t>
            </a:r>
            <a:endParaRPr lang="en-US" sz="1800" noProof="0" dirty="0">
              <a:solidFill>
                <a:schemeClr val="accent1">
                  <a:lumMod val="50000"/>
                </a:schemeClr>
              </a:solidFill>
            </a:endParaRPr>
          </a:p>
        </p:txBody>
      </p:sp>
      <p:sp>
        <p:nvSpPr>
          <p:cNvPr id="17" name="Shape 15"/>
          <p:cNvSpPr/>
          <p:nvPr/>
        </p:nvSpPr>
        <p:spPr>
          <a:xfrm>
            <a:off x="4319930" y="4010769"/>
            <a:ext cx="3551834" cy="2176944"/>
          </a:xfrm>
          <a:prstGeom prst="roundRect">
            <a:avLst>
              <a:gd name="adj" fmla="val 4444"/>
            </a:avLst>
          </a:prstGeom>
          <a:solidFill>
            <a:srgbClr val="F3F7FC"/>
          </a:solidFill>
          <a:ln w="15875">
            <a:solidFill>
              <a:srgbClr val="C9DCF2"/>
            </a:solidFill>
            <a:prstDash val="solid"/>
          </a:ln>
        </p:spPr>
        <p:txBody>
          <a:bodyPr/>
          <a:lstStyle/>
          <a:p>
            <a:endParaRPr lang="en-US" noProof="0" dirty="0">
              <a:solidFill>
                <a:schemeClr val="accent1">
                  <a:lumMod val="50000"/>
                </a:schemeClr>
              </a:solidFill>
            </a:endParaRPr>
          </a:p>
        </p:txBody>
      </p:sp>
      <p:sp>
        <p:nvSpPr>
          <p:cNvPr id="18" name="Text 16"/>
          <p:cNvSpPr/>
          <p:nvPr/>
        </p:nvSpPr>
        <p:spPr>
          <a:xfrm>
            <a:off x="4502810" y="4157073"/>
            <a:ext cx="3186074" cy="3327718"/>
          </a:xfrm>
          <a:prstGeom prst="rect">
            <a:avLst/>
          </a:prstGeom>
          <a:noFill/>
          <a:ln/>
        </p:spPr>
        <p:txBody>
          <a:bodyPr wrap="square" lIns="0" tIns="0" rIns="0" bIns="0" rtlCol="0" anchor="t">
            <a:noAutofit/>
          </a:bodyPr>
          <a:lstStyle/>
          <a:p>
            <a:pPr marL="0" indent="0">
              <a:buNone/>
            </a:pPr>
            <a:r>
              <a:rPr lang="fr" b="1" noProof="0">
                <a:solidFill>
                  <a:schemeClr val="accent1">
                    <a:lumMod val="50000"/>
                  </a:schemeClr>
                </a:solidFill>
                <a:latin typeface="Calibri" pitchFamily="34" charset="0"/>
                <a:ea typeface="Calibri" pitchFamily="34" charset="-122"/>
                <a:cs typeface="Calibri" pitchFamily="34" charset="-120"/>
              </a:rPr>
              <a:t>Tous ceux qui ont un cancer du côlon reçoivent un sac</a:t>
            </a:r>
            <a:endParaRPr lang="en-US" noProof="0" dirty="0">
              <a:solidFill>
                <a:schemeClr val="accent1">
                  <a:lumMod val="50000"/>
                </a:schemeClr>
              </a:solidFill>
            </a:endParaRPr>
          </a:p>
        </p:txBody>
      </p:sp>
      <p:sp>
        <p:nvSpPr>
          <p:cNvPr id="19" name="Text 17"/>
          <p:cNvSpPr/>
          <p:nvPr/>
        </p:nvSpPr>
        <p:spPr>
          <a:xfrm>
            <a:off x="4502810" y="4745705"/>
            <a:ext cx="3186074" cy="1137514"/>
          </a:xfrm>
          <a:prstGeom prst="rect">
            <a:avLst/>
          </a:prstGeom>
          <a:noFill/>
          <a:ln/>
        </p:spPr>
        <p:txBody>
          <a:bodyPr wrap="square" lIns="0" tIns="0" rIns="0" bIns="0" rtlCol="0" anchor="t">
            <a:normAutofit fontScale="94000"/>
          </a:bodyPr>
          <a:lstStyle/>
          <a:p>
            <a:pPr marL="0" indent="0">
              <a:lnSpc>
                <a:spcPct val="105000"/>
              </a:lnSpc>
              <a:buNone/>
            </a:pPr>
            <a:r>
              <a:rPr lang="fr" sz="1800" b="1" noProof="0" dirty="0">
                <a:solidFill>
                  <a:schemeClr val="accent1">
                    <a:lumMod val="50000"/>
                  </a:schemeClr>
                </a:solidFill>
                <a:latin typeface="Calibri" pitchFamily="34" charset="0"/>
                <a:ea typeface="Calibri" pitchFamily="34" charset="-122"/>
                <a:cs typeface="Calibri" pitchFamily="34" charset="-120"/>
              </a:rPr>
              <a:t>Faux. </a:t>
            </a:r>
            <a:r>
              <a:rPr lang="fr" sz="1800" noProof="0" dirty="0">
                <a:solidFill>
                  <a:schemeClr val="accent1">
                    <a:lumMod val="50000"/>
                  </a:schemeClr>
                </a:solidFill>
                <a:latin typeface="Calibri" pitchFamily="34" charset="0"/>
                <a:ea typeface="Calibri" pitchFamily="34" charset="-122"/>
                <a:cs typeface="Calibri" pitchFamily="34" charset="-120"/>
              </a:rPr>
              <a:t>Beaucoup de gens n'ont jamais besoin de stomie, et certains stomies sont temporaires.</a:t>
            </a:r>
            <a:endParaRPr lang="en-US" sz="1800" noProof="0" dirty="0">
              <a:solidFill>
                <a:schemeClr val="accent1">
                  <a:lumMod val="50000"/>
                </a:schemeClr>
              </a:solidFill>
            </a:endParaRPr>
          </a:p>
        </p:txBody>
      </p:sp>
      <p:sp>
        <p:nvSpPr>
          <p:cNvPr id="20" name="Shape 18"/>
          <p:cNvSpPr/>
          <p:nvPr/>
        </p:nvSpPr>
        <p:spPr>
          <a:xfrm>
            <a:off x="8091221" y="4010768"/>
            <a:ext cx="3551834" cy="2176945"/>
          </a:xfrm>
          <a:prstGeom prst="roundRect">
            <a:avLst>
              <a:gd name="adj" fmla="val 4444"/>
            </a:avLst>
          </a:prstGeom>
          <a:solidFill>
            <a:srgbClr val="F3F7FC"/>
          </a:solidFill>
          <a:ln w="15875">
            <a:solidFill>
              <a:srgbClr val="C9DCF2"/>
            </a:solidFill>
            <a:prstDash val="solid"/>
          </a:ln>
        </p:spPr>
        <p:txBody>
          <a:bodyPr/>
          <a:lstStyle/>
          <a:p>
            <a:endParaRPr lang="en-US" noProof="0" dirty="0">
              <a:solidFill>
                <a:schemeClr val="accent1">
                  <a:lumMod val="50000"/>
                </a:schemeClr>
              </a:solidFill>
            </a:endParaRPr>
          </a:p>
        </p:txBody>
      </p:sp>
      <p:sp>
        <p:nvSpPr>
          <p:cNvPr id="21" name="Text 19"/>
          <p:cNvSpPr/>
          <p:nvPr/>
        </p:nvSpPr>
        <p:spPr>
          <a:xfrm>
            <a:off x="8274101" y="4157073"/>
            <a:ext cx="3186074" cy="1801368"/>
          </a:xfrm>
          <a:prstGeom prst="rect">
            <a:avLst/>
          </a:prstGeom>
          <a:noFill/>
          <a:ln/>
        </p:spPr>
        <p:txBody>
          <a:bodyPr wrap="square" lIns="0" tIns="0" rIns="0" bIns="0" rtlCol="0" anchor="t">
            <a:noAutofit/>
          </a:bodyPr>
          <a:lstStyle/>
          <a:p>
            <a:pPr marL="0" indent="0">
              <a:buNone/>
            </a:pPr>
            <a:r>
              <a:rPr lang="fr" b="1" noProof="0">
                <a:solidFill>
                  <a:schemeClr val="accent1">
                    <a:lumMod val="50000"/>
                  </a:schemeClr>
                </a:solidFill>
                <a:latin typeface="Calibri" pitchFamily="34" charset="0"/>
                <a:ea typeface="Calibri" pitchFamily="34" charset="-122"/>
                <a:cs typeface="Calibri" pitchFamily="34" charset="-120"/>
              </a:rPr>
              <a:t>Cela ne concerne que les personnes âgées</a:t>
            </a:r>
            <a:endParaRPr lang="en-US" noProof="0" dirty="0">
              <a:solidFill>
                <a:schemeClr val="accent1">
                  <a:lumMod val="50000"/>
                </a:schemeClr>
              </a:solidFill>
            </a:endParaRPr>
          </a:p>
        </p:txBody>
      </p:sp>
      <p:sp>
        <p:nvSpPr>
          <p:cNvPr id="22" name="Text 20"/>
          <p:cNvSpPr/>
          <p:nvPr/>
        </p:nvSpPr>
        <p:spPr>
          <a:xfrm>
            <a:off x="8274101" y="4745705"/>
            <a:ext cx="3186074" cy="1442009"/>
          </a:xfrm>
          <a:prstGeom prst="rect">
            <a:avLst/>
          </a:prstGeom>
          <a:noFill/>
          <a:ln/>
        </p:spPr>
        <p:txBody>
          <a:bodyPr wrap="square" lIns="0" tIns="0" rIns="0" bIns="0" rtlCol="0" anchor="t">
            <a:normAutofit fontScale="94000"/>
          </a:bodyPr>
          <a:lstStyle/>
          <a:p>
            <a:pPr marL="0" indent="0">
              <a:lnSpc>
                <a:spcPct val="105000"/>
              </a:lnSpc>
              <a:buNone/>
            </a:pPr>
            <a:r>
              <a:rPr lang="fr" sz="1800" b="1" noProof="0" dirty="0">
                <a:solidFill>
                  <a:schemeClr val="accent1">
                    <a:lumMod val="50000"/>
                  </a:schemeClr>
                </a:solidFill>
                <a:latin typeface="Calibri" pitchFamily="34" charset="0"/>
                <a:ea typeface="Calibri" pitchFamily="34" charset="-122"/>
                <a:cs typeface="Calibri" pitchFamily="34" charset="-120"/>
              </a:rPr>
              <a:t>Faux. </a:t>
            </a:r>
            <a:r>
              <a:rPr lang="fr" sz="1800" noProof="0" dirty="0">
                <a:solidFill>
                  <a:schemeClr val="accent1">
                    <a:lumMod val="50000"/>
                  </a:schemeClr>
                </a:solidFill>
                <a:latin typeface="Calibri" pitchFamily="34" charset="0"/>
                <a:ea typeface="Calibri" pitchFamily="34" charset="-122"/>
                <a:cs typeface="Calibri" pitchFamily="34" charset="-120"/>
              </a:rPr>
              <a:t>Le risque augmente avec l'âge, mais le cancer colorectal survient chez les jeunes adultes, et leurs symptômes sont plus souvent ignorés.</a:t>
            </a:r>
            <a:endParaRPr lang="en-US" sz="1800" noProof="0" dirty="0">
              <a:solidFill>
                <a:schemeClr val="accent1">
                  <a:lumMod val="50000"/>
                </a:schemeClr>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200" b="1" noProof="0">
                <a:solidFill>
                  <a:srgbClr val="0E2E5C"/>
                </a:solidFill>
                <a:latin typeface="Cambria" pitchFamily="34" charset="0"/>
                <a:ea typeface="Cambria" pitchFamily="34" charset="-122"/>
                <a:cs typeface="Cambria" pitchFamily="34" charset="-120"/>
              </a:rPr>
              <a:t>Appliquez-le</a:t>
            </a:r>
            <a:endParaRPr lang="en-US" sz="32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11094415" cy="868680"/>
          </a:xfrm>
          <a:prstGeom prst="roundRect">
            <a:avLst>
              <a:gd name="adj" fmla="val 10526"/>
            </a:avLst>
          </a:prstGeom>
          <a:solidFill>
            <a:srgbClr val="FFF7E3"/>
          </a:solidFill>
          <a:ln w="15875">
            <a:solidFill>
              <a:srgbClr val="E3C173"/>
            </a:solidFill>
            <a:prstDash val="solid"/>
          </a:ln>
        </p:spPr>
        <p:txBody>
          <a:bodyPr/>
          <a:lstStyle/>
          <a:p>
            <a:endParaRPr lang="en-US" noProof="0" dirty="0"/>
          </a:p>
        </p:txBody>
      </p:sp>
      <p:sp>
        <p:nvSpPr>
          <p:cNvPr id="6" name="Text 4"/>
          <p:cNvSpPr/>
          <p:nvPr/>
        </p:nvSpPr>
        <p:spPr>
          <a:xfrm>
            <a:off x="731520" y="1426464"/>
            <a:ext cx="10728655" cy="758952"/>
          </a:xfrm>
          <a:prstGeom prst="rect">
            <a:avLst/>
          </a:prstGeom>
          <a:noFill/>
          <a:ln/>
        </p:spPr>
        <p:txBody>
          <a:bodyPr wrap="square" rtlCol="0" anchor="ctr"/>
          <a:lstStyle/>
          <a:p>
            <a:pPr marL="0" indent="0">
              <a:buNone/>
            </a:pPr>
            <a:r>
              <a:rPr lang="fr" sz="1800" b="1" noProof="0">
                <a:solidFill>
                  <a:srgbClr val="9A5B00"/>
                </a:solidFill>
                <a:latin typeface="Calibri" pitchFamily="34" charset="0"/>
                <a:ea typeface="Calibri" pitchFamily="34" charset="-122"/>
                <a:cs typeface="Calibri" pitchFamily="34" charset="-120"/>
              </a:rPr>
              <a:t>Scénario   </a:t>
            </a:r>
            <a:r>
              <a:rPr lang="fr" sz="1800" noProof="0">
                <a:solidFill>
                  <a:srgbClr val="17325E"/>
                </a:solidFill>
                <a:latin typeface="Calibri" pitchFamily="34" charset="0"/>
                <a:ea typeface="Calibri" pitchFamily="34" charset="-122"/>
                <a:cs typeface="Calibri" pitchFamily="34" charset="-120"/>
              </a:rPr>
              <a:t>Une patiente a une perte de poids, une altération de ses habitudes intestinales et un test de selles anormal. Son fils demande si le diagnostic est désormais certain.</a:t>
            </a:r>
            <a:endParaRPr lang="en-US" sz="1800" noProof="0" dirty="0"/>
          </a:p>
        </p:txBody>
      </p:sp>
      <p:sp>
        <p:nvSpPr>
          <p:cNvPr id="7" name="Text 5"/>
          <p:cNvSpPr/>
          <p:nvPr/>
        </p:nvSpPr>
        <p:spPr>
          <a:xfrm>
            <a:off x="548640" y="2468880"/>
            <a:ext cx="7772400" cy="365760"/>
          </a:xfrm>
          <a:prstGeom prst="rect">
            <a:avLst/>
          </a:prstGeom>
          <a:noFill/>
          <a:ln/>
        </p:spPr>
        <p:txBody>
          <a:bodyPr wrap="square" lIns="0" tIns="0" rIns="0" bIns="0" rtlCol="0" anchor="ctr"/>
          <a:lstStyle/>
          <a:p>
            <a:pPr marL="0" indent="0">
              <a:buNone/>
            </a:pPr>
            <a:r>
              <a:rPr lang="fr" sz="2000" b="1" noProof="0">
                <a:solidFill>
                  <a:srgbClr val="0E2E5C"/>
                </a:solidFill>
                <a:latin typeface="Calibri" pitchFamily="34" charset="0"/>
                <a:ea typeface="Calibri" pitchFamily="34" charset="-122"/>
                <a:cs typeface="Calibri" pitchFamily="34" charset="-120"/>
              </a:rPr>
              <a:t>Qu'est-ce qui est exact ?</a:t>
            </a:r>
            <a:endParaRPr lang="en-US" sz="2000" noProof="0" dirty="0"/>
          </a:p>
        </p:txBody>
      </p:sp>
      <p:sp>
        <p:nvSpPr>
          <p:cNvPr id="8" name="Shape 6"/>
          <p:cNvSpPr/>
          <p:nvPr/>
        </p:nvSpPr>
        <p:spPr>
          <a:xfrm>
            <a:off x="548640" y="2926080"/>
            <a:ext cx="7772400" cy="566928"/>
          </a:xfrm>
          <a:prstGeom prst="roundRect">
            <a:avLst>
              <a:gd name="adj" fmla="val 12903"/>
            </a:avLst>
          </a:prstGeom>
          <a:solidFill>
            <a:srgbClr val="EAF6F0"/>
          </a:solidFill>
          <a:ln w="15875">
            <a:solidFill>
              <a:srgbClr val="C9DCF2"/>
            </a:solidFill>
            <a:prstDash val="solid"/>
          </a:ln>
        </p:spPr>
        <p:txBody>
          <a:bodyPr/>
          <a:lstStyle/>
          <a:p>
            <a:endParaRPr lang="en-US" noProof="0" dirty="0"/>
          </a:p>
        </p:txBody>
      </p:sp>
      <p:sp>
        <p:nvSpPr>
          <p:cNvPr id="9" name="Text 7"/>
          <p:cNvSpPr/>
          <p:nvPr/>
        </p:nvSpPr>
        <p:spPr>
          <a:xfrm>
            <a:off x="713232" y="2926080"/>
            <a:ext cx="7461504" cy="566928"/>
          </a:xfrm>
          <a:prstGeom prst="rect">
            <a:avLst/>
          </a:prstGeom>
          <a:noFill/>
          <a:ln/>
        </p:spPr>
        <p:txBody>
          <a:bodyPr wrap="square" lIns="0" tIns="0" rIns="0" bIns="0" rtlCol="0" anchor="ctr"/>
          <a:lstStyle/>
          <a:p>
            <a:pPr marL="0" indent="0">
              <a:buNone/>
            </a:pPr>
            <a:r>
              <a:rPr lang="fr" sz="1700" b="1" noProof="0">
                <a:solidFill>
                  <a:srgbClr val="126647"/>
                </a:solidFill>
                <a:latin typeface="Calibri" pitchFamily="34" charset="0"/>
                <a:ea typeface="Calibri" pitchFamily="34" charset="-122"/>
                <a:cs typeface="Calibri" pitchFamily="34" charset="-120"/>
              </a:rPr>
              <a:t>A   Le cancer n’est confirmé qu’après examen du tissu par l’histopathologie   ✓</a:t>
            </a:r>
            <a:endParaRPr lang="en-US" sz="1700" noProof="0" dirty="0"/>
          </a:p>
        </p:txBody>
      </p:sp>
      <p:sp>
        <p:nvSpPr>
          <p:cNvPr id="10" name="Shape 8"/>
          <p:cNvSpPr/>
          <p:nvPr/>
        </p:nvSpPr>
        <p:spPr>
          <a:xfrm>
            <a:off x="548640" y="3584448"/>
            <a:ext cx="7772400" cy="566928"/>
          </a:xfrm>
          <a:prstGeom prst="roundRect">
            <a:avLst>
              <a:gd name="adj" fmla="val 12903"/>
            </a:avLst>
          </a:prstGeom>
          <a:solidFill>
            <a:srgbClr val="F3F7FC"/>
          </a:solidFill>
          <a:ln w="15875">
            <a:solidFill>
              <a:srgbClr val="9BCBB4"/>
            </a:solidFill>
            <a:prstDash val="solid"/>
          </a:ln>
        </p:spPr>
        <p:txBody>
          <a:bodyPr/>
          <a:lstStyle/>
          <a:p>
            <a:endParaRPr lang="en-US" noProof="0" dirty="0"/>
          </a:p>
        </p:txBody>
      </p:sp>
      <p:sp>
        <p:nvSpPr>
          <p:cNvPr id="11" name="Text 9"/>
          <p:cNvSpPr/>
          <p:nvPr/>
        </p:nvSpPr>
        <p:spPr>
          <a:xfrm>
            <a:off x="713232" y="3584448"/>
            <a:ext cx="7461504" cy="566928"/>
          </a:xfrm>
          <a:prstGeom prst="rect">
            <a:avLst/>
          </a:prstGeom>
          <a:noFill/>
          <a:ln/>
        </p:spPr>
        <p:txBody>
          <a:bodyPr wrap="square" lIns="0" tIns="0" rIns="0" bIns="0" rtlCol="0" anchor="ctr"/>
          <a:lstStyle/>
          <a:p>
            <a:pPr marL="0" indent="0">
              <a:buNone/>
            </a:pPr>
            <a:r>
              <a:t>B   Le diagnostic est confirmé par ces résultats</a:t>
            </a:r>
            <a:endParaRPr lang="en-US" sz="1700" noProof="0" dirty="0"/>
          </a:p>
        </p:txBody>
      </p:sp>
      <p:sp>
        <p:nvSpPr>
          <p:cNvPr id="12" name="Shape 10"/>
          <p:cNvSpPr/>
          <p:nvPr/>
        </p:nvSpPr>
        <p:spPr>
          <a:xfrm>
            <a:off x="548640" y="4242816"/>
            <a:ext cx="7772400" cy="566928"/>
          </a:xfrm>
          <a:prstGeom prst="roundRect">
            <a:avLst>
              <a:gd name="adj" fmla="val 12903"/>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713232" y="4242816"/>
            <a:ext cx="7461504" cy="566928"/>
          </a:xfrm>
          <a:prstGeom prst="rect">
            <a:avLst/>
          </a:prstGeom>
          <a:noFill/>
          <a:ln/>
        </p:spPr>
        <p:txBody>
          <a:bodyPr wrap="square" lIns="0" tIns="0" rIns="0" bIns="0" rtlCol="0" anchor="ctr"/>
          <a:lstStyle/>
          <a:p>
            <a:pPr marL="0" indent="0">
              <a:buNone/>
            </a:pPr>
            <a:r>
              <a:t>C   Le test des selles seul le confirme</a:t>
            </a:r>
            <a:endParaRPr lang="en-US" sz="1700" noProof="0" dirty="0"/>
          </a:p>
        </p:txBody>
      </p:sp>
      <p:sp>
        <p:nvSpPr>
          <p:cNvPr id="14" name="Shape 12"/>
          <p:cNvSpPr/>
          <p:nvPr/>
        </p:nvSpPr>
        <p:spPr>
          <a:xfrm>
            <a:off x="548640" y="4901184"/>
            <a:ext cx="7772400" cy="566928"/>
          </a:xfrm>
          <a:prstGeom prst="roundRect">
            <a:avLst>
              <a:gd name="adj" fmla="val 12903"/>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13232" y="4901184"/>
            <a:ext cx="7461504" cy="566928"/>
          </a:xfrm>
          <a:prstGeom prst="rect">
            <a:avLst/>
          </a:prstGeom>
          <a:noFill/>
          <a:ln/>
        </p:spPr>
        <p:txBody>
          <a:bodyPr wrap="square" lIns="0" tIns="0" rIns="0" bIns="0" rtlCol="0" anchor="ctr"/>
          <a:lstStyle/>
          <a:p>
            <a:pPr marL="0" indent="0">
              <a:buNone/>
            </a:pPr>
            <a:r>
              <a:t>D   L’imagerie seule le confirme</a:t>
            </a:r>
            <a:endParaRPr lang="en-US" sz="1700" noProof="0" dirty="0"/>
          </a:p>
        </p:txBody>
      </p:sp>
      <p:sp>
        <p:nvSpPr>
          <p:cNvPr id="16" name="Shape 14"/>
          <p:cNvSpPr/>
          <p:nvPr/>
        </p:nvSpPr>
        <p:spPr>
          <a:xfrm>
            <a:off x="8595360" y="2926080"/>
            <a:ext cx="3047695" cy="2834640"/>
          </a:xfrm>
          <a:prstGeom prst="roundRect">
            <a:avLst>
              <a:gd name="adj" fmla="val 3226"/>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8759952" y="3072384"/>
            <a:ext cx="2718511" cy="365760"/>
          </a:xfrm>
          <a:prstGeom prst="rect">
            <a:avLst/>
          </a:prstGeom>
          <a:noFill/>
          <a:ln/>
        </p:spPr>
        <p:txBody>
          <a:bodyPr wrap="square" lIns="0" tIns="0" rIns="0" bIns="0" rtlCol="0" anchor="ctr"/>
          <a:lstStyle/>
          <a:p>
            <a:pPr marL="0" indent="0">
              <a:buNone/>
            </a:pPr>
            <a:r>
              <a:rPr lang="fr" sz="1800" b="1" noProof="0">
                <a:solidFill>
                  <a:srgbClr val="126647"/>
                </a:solidFill>
                <a:latin typeface="Calibri" pitchFamily="34" charset="0"/>
                <a:ea typeface="Calibri" pitchFamily="34" charset="-122"/>
                <a:cs typeface="Calibri" pitchFamily="34" charset="-120"/>
              </a:rPr>
              <a:t>Bonne réponse : A</a:t>
            </a:r>
            <a:endParaRPr lang="en-US" sz="1800" noProof="0" dirty="0"/>
          </a:p>
        </p:txBody>
      </p:sp>
      <p:sp>
        <p:nvSpPr>
          <p:cNvPr id="18" name="Text 16"/>
          <p:cNvSpPr/>
          <p:nvPr/>
        </p:nvSpPr>
        <p:spPr>
          <a:xfrm>
            <a:off x="8759952" y="3511296"/>
            <a:ext cx="2718511" cy="2121408"/>
          </a:xfrm>
          <a:prstGeom prst="rect">
            <a:avLst/>
          </a:prstGeom>
          <a:noFill/>
          <a:ln/>
        </p:spPr>
        <p:txBody>
          <a:bodyPr wrap="square" lIns="0" tIns="0" rIns="0" bIns="0" rtlCol="0" anchor="t">
            <a:normAutofit fontScale="92000" lnSpcReduction="10000"/>
          </a:bodyPr>
          <a:lstStyle/>
          <a:p>
            <a:pPr marL="0" indent="0">
              <a:buNone/>
            </a:pPr>
            <a:r>
              <a:rPr lang="fr" sz="1500" noProof="0">
                <a:solidFill>
                  <a:srgbClr val="17325E"/>
                </a:solidFill>
                <a:latin typeface="Calibri" pitchFamily="34" charset="0"/>
                <a:ea typeface="Calibri" pitchFamily="34" charset="-122"/>
                <a:cs typeface="Calibri" pitchFamily="34" charset="-120"/>
              </a:rPr>
              <a:t>Les symptômes, l’examen clinique, les tests de selles et l’imagerie peuvent augmenter ou diminuer le niveau de suspicion et préciser l’étendue de la maladie. Seule l’histopathologie confirme la présence d’un cancer. Expliquez clairement ce que l’on sait jusqu’à présent et quelle est la prochaine étape.</a:t>
            </a:r>
            <a:endParaRPr lang="en-US" sz="1500" noProof="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(1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 Le cancer colorectal est confirmé par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A. </a:t>
            </a:r>
            <a:r>
              <a:rPr lang="fr" sz="1500" noProof="0">
                <a:solidFill>
                  <a:srgbClr val="17325E"/>
                </a:solidFill>
                <a:latin typeface="Calibri" pitchFamily="34" charset="0"/>
                <a:ea typeface="Calibri" pitchFamily="34" charset="-122"/>
                <a:cs typeface="Calibri" pitchFamily="34" charset="-120"/>
              </a:rPr>
              <a:t>Un test de selles</a:t>
            </a:r>
            <a:endParaRPr lang="en-US" sz="1500" noProof="0" dirty="0"/>
          </a:p>
        </p:txBody>
      </p:sp>
      <p:sp>
        <p:nvSpPr>
          <p:cNvPr id="8" name="Shape 6"/>
          <p:cNvSpPr/>
          <p:nvPr/>
        </p:nvSpPr>
        <p:spPr>
          <a:xfrm>
            <a:off x="6196432" y="1956816"/>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B. Biopsie et histopathologie</a:t>
            </a:r>
            <a:endParaRPr lang="en-US" sz="1500"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C. </a:t>
            </a:r>
            <a:r>
              <a:rPr lang="fr" sz="1500" noProof="0">
                <a:solidFill>
                  <a:srgbClr val="17325E"/>
                </a:solidFill>
                <a:latin typeface="Calibri" pitchFamily="34" charset="0"/>
                <a:ea typeface="Calibri" pitchFamily="34" charset="-122"/>
                <a:cs typeface="Calibri" pitchFamily="34" charset="-120"/>
              </a:rPr>
              <a:t>Symptômes et examen</a:t>
            </a:r>
            <a:endParaRPr lang="en-US" sz="1500"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Tomodensitométrie (TDM / scanner)</a:t>
            </a:r>
            <a:endParaRPr lang="en-US" sz="1500"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a:t>
            </a:r>
            <a:r>
              <a:rPr lang="fr" sz="1500" i="1" noProof="0">
                <a:solidFill>
                  <a:srgbClr val="17325E"/>
                </a:solidFill>
                <a:latin typeface="Calibri" pitchFamily="34" charset="0"/>
                <a:ea typeface="Calibri" pitchFamily="34" charset="-122"/>
                <a:cs typeface="Calibri" pitchFamily="34" charset="-120"/>
              </a:rPr>
              <a:t>Les tissus examinés au microscope confirment le diagnostic.</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Q2. Un examen abdominal et rectal normal chez une personne ayant trois mois de saignement signifie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A. </a:t>
            </a:r>
            <a:r>
              <a:rPr lang="fr" sz="1500" noProof="0">
                <a:solidFill>
                  <a:srgbClr val="17325E"/>
                </a:solidFill>
                <a:latin typeface="Calibri" pitchFamily="34" charset="0"/>
                <a:ea typeface="Calibri" pitchFamily="34" charset="-122"/>
                <a:cs typeface="Calibri" pitchFamily="34" charset="-120"/>
              </a:rPr>
              <a:t>Le cancer est exclu</a:t>
            </a:r>
            <a:endParaRPr lang="en-US" sz="1500"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Aucune orientation n'est nécessaire</a:t>
            </a:r>
            <a:endParaRPr lang="en-US" sz="1500"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C. </a:t>
            </a:r>
            <a:r>
              <a:rPr lang="fr" sz="1500" noProof="0">
                <a:solidFill>
                  <a:srgbClr val="17325E"/>
                </a:solidFill>
                <a:latin typeface="Calibri" pitchFamily="34" charset="0"/>
                <a:ea typeface="Calibri" pitchFamily="34" charset="-122"/>
                <a:cs typeface="Calibri" pitchFamily="34" charset="-120"/>
              </a:rPr>
              <a:t>Un test de selles est désormais suffisant</a:t>
            </a:r>
            <a:endParaRPr lang="en-US" sz="1500" noProof="0" dirty="0"/>
          </a:p>
        </p:txBody>
      </p:sp>
      <p:sp>
        <p:nvSpPr>
          <p:cNvPr id="22" name="Shape 20"/>
          <p:cNvSpPr/>
          <p:nvPr/>
        </p:nvSpPr>
        <p:spPr>
          <a:xfrm>
            <a:off x="6196432"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D. Le cancer n'est pas exclu et l'évaluation doit se poursuivre</a:t>
            </a:r>
            <a:endParaRPr lang="en-US" sz="1500"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La plupart des tumeurs colorectales ne peuvent pas être senties. Un examen normal n'exclut pas la maladie.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(2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Q3. La radiothérapie dans le cancer colorectal est principalement utilisée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A. Dans certains cancers rectaux, souvent avant la chirurgie</a:t>
            </a:r>
            <a:endParaRPr lang="en-US" sz="1500"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Pour tous les cancers du côlon après une opération</a:t>
            </a:r>
            <a:endParaRPr lang="en-US" sz="1500"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C. </a:t>
            </a:r>
            <a:r>
              <a:rPr lang="fr" sz="1500" noProof="0">
                <a:solidFill>
                  <a:srgbClr val="17325E"/>
                </a:solidFill>
                <a:latin typeface="Calibri" pitchFamily="34" charset="0"/>
                <a:ea typeface="Calibri" pitchFamily="34" charset="-122"/>
                <a:cs typeface="Calibri" pitchFamily="34" charset="-120"/>
              </a:rPr>
              <a:t>Au lieu d'histopathologie</a:t>
            </a:r>
            <a:endParaRPr lang="en-US" sz="1500"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Traiter les métastases hépatiques dans tous les cas</a:t>
            </a:r>
            <a:endParaRPr lang="en-US" sz="1500"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Son rôle établi réside dans certaines stratégies sélectionnées contre le cancer du rectum, et non dans le traitement de routine du cancer du côlon.</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Q4. La chimiothérapie diffère de la chirurgie et de la radiothérapie car elle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A. </a:t>
            </a:r>
            <a:r>
              <a:rPr lang="fr" sz="1500" noProof="0">
                <a:solidFill>
                  <a:srgbClr val="17325E"/>
                </a:solidFill>
                <a:latin typeface="Calibri" pitchFamily="34" charset="0"/>
                <a:ea typeface="Calibri" pitchFamily="34" charset="-122"/>
                <a:cs typeface="Calibri" pitchFamily="34" charset="-120"/>
              </a:rPr>
              <a:t>Agit uniquement au site tumoral</a:t>
            </a:r>
            <a:endParaRPr lang="en-US" sz="1500"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Ne nécessite aucune surveillance</a:t>
            </a:r>
            <a:endParaRPr lang="en-US" sz="1500" noProof="0" dirty="0"/>
          </a:p>
        </p:txBody>
      </p:sp>
      <p:sp>
        <p:nvSpPr>
          <p:cNvPr id="20" name="Shape 18"/>
          <p:cNvSpPr/>
          <p:nvPr/>
        </p:nvSpPr>
        <p:spPr>
          <a:xfrm>
            <a:off x="548640"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C. Agit dans tout le corps</a:t>
            </a:r>
            <a:endParaRPr lang="en-US" sz="1500"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Est toujours administrée en premier</a:t>
            </a:r>
            <a:endParaRPr lang="en-US" sz="1500"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a:t>
            </a:r>
            <a:r>
              <a:rPr lang="fr" sz="1500" i="1" noProof="0">
                <a:solidFill>
                  <a:srgbClr val="17325E"/>
                </a:solidFill>
                <a:latin typeface="Calibri" pitchFamily="34" charset="0"/>
                <a:ea typeface="Calibri" pitchFamily="34" charset="-122"/>
                <a:cs typeface="Calibri" pitchFamily="34" charset="-120"/>
              </a:rPr>
              <a:t>La chimiothérapie est systémique, c'est pourquoi ses effets se font sentir dans tout le corps.</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(3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Q5. Un patient est terrifié à l'idée qu'une chirurgie entraîne une poche permanente. La réponse précise est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Tout le monde en a besoin après une opération intestinale</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Personne n'en a besoin de nos jours</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Le chirurgien décide sans discussion</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D. Une stomie peut être temporaire ou permanente, et beaucoup de personnes n'en ont jamais besoin</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C'est l'une des peurs les plus courantes et l'une des idées fausses les plus courantes. Répondez-y honnêtement et tôt.</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Q6. L'imagerie dans le cancer colorectal est principalement utilisée pour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Confirmez la présence d'un cancer</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B. Évaluer l'étendue de la maladie et planifier le traitement</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Remplacer la coloscopie</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Déterminer le grade de la tumeur</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L'imagerie contribue à la stadification de la maladie. L'histopathologie le confirme et rapporte le grade.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4</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Réflexion sur la session</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325880"/>
            <a:ext cx="11094415" cy="457200"/>
          </a:xfrm>
          <a:prstGeom prst="rect">
            <a:avLst/>
          </a:prstGeom>
          <a:noFill/>
          <a:ln/>
        </p:spPr>
        <p:txBody>
          <a:bodyPr wrap="square" rtlCol="0" anchor="ctr"/>
          <a:lstStyle/>
          <a:p>
            <a:pPr marL="0" indent="0">
              <a:buNone/>
            </a:pPr>
            <a:r>
              <a:rPr lang="fr" sz="1600" i="1" noProof="0">
                <a:solidFill>
                  <a:srgbClr val="5B7195"/>
                </a:solidFill>
                <a:latin typeface="Calibri" pitchFamily="34" charset="0"/>
                <a:ea typeface="Calibri" pitchFamily="34" charset="-122"/>
                <a:cs typeface="Calibri" pitchFamily="34" charset="-120"/>
              </a:rPr>
              <a:t>Saisissez votre réponse dans la boîte de texte. Il n'y a pas de réponse unique correcte. Ces prompts ne sont pas notés, et servent à votre propre pratique et à la discussion.</a:t>
            </a:r>
            <a:endParaRPr lang="en-US" sz="1600" noProof="0" dirty="0"/>
          </a:p>
        </p:txBody>
      </p:sp>
      <p:sp>
        <p:nvSpPr>
          <p:cNvPr id="6" name="Shape 4"/>
          <p:cNvSpPr/>
          <p:nvPr/>
        </p:nvSpPr>
        <p:spPr>
          <a:xfrm>
            <a:off x="548640" y="1965960"/>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31520" y="2240280"/>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1</a:t>
            </a:r>
            <a:endParaRPr lang="en-US" sz="2400" noProof="0" dirty="0"/>
          </a:p>
        </p:txBody>
      </p:sp>
      <p:sp>
        <p:nvSpPr>
          <p:cNvPr id="8" name="Text 6"/>
          <p:cNvSpPr/>
          <p:nvPr/>
        </p:nvSpPr>
        <p:spPr>
          <a:xfrm>
            <a:off x="1417320" y="2075688"/>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Comment expliqueriez-vous une coloscopie, en termes simples, à quelqu'un qui n'en a jamais entendu parler ?</a:t>
            </a:r>
            <a:endParaRPr lang="en-US" sz="1800" noProof="0" dirty="0"/>
          </a:p>
        </p:txBody>
      </p:sp>
      <p:sp>
        <p:nvSpPr>
          <p:cNvPr id="9" name="Shape 7"/>
          <p:cNvSpPr/>
          <p:nvPr/>
        </p:nvSpPr>
        <p:spPr>
          <a:xfrm>
            <a:off x="548640" y="3218688"/>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0" name="Text 8"/>
          <p:cNvSpPr/>
          <p:nvPr/>
        </p:nvSpPr>
        <p:spPr>
          <a:xfrm>
            <a:off x="731520" y="3493008"/>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2</a:t>
            </a:r>
            <a:endParaRPr lang="en-US" sz="2400" noProof="0" dirty="0"/>
          </a:p>
        </p:txBody>
      </p:sp>
      <p:sp>
        <p:nvSpPr>
          <p:cNvPr id="11" name="Text 9"/>
          <p:cNvSpPr/>
          <p:nvPr/>
        </p:nvSpPr>
        <p:spPr>
          <a:xfrm>
            <a:off x="1417320" y="3328416"/>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Comment décririez-vous la différence entre un traitement qui agit localement et un traitement qui agit dans tout le corps ?</a:t>
            </a:r>
            <a:endParaRPr lang="en-US" sz="1800" noProof="0" dirty="0"/>
          </a:p>
        </p:txBody>
      </p:sp>
      <p:sp>
        <p:nvSpPr>
          <p:cNvPr id="12" name="Shape 10"/>
          <p:cNvSpPr/>
          <p:nvPr/>
        </p:nvSpPr>
        <p:spPr>
          <a:xfrm>
            <a:off x="548640" y="4471416"/>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731520" y="4745736"/>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3</a:t>
            </a:r>
            <a:endParaRPr lang="en-US" sz="2400" noProof="0" dirty="0"/>
          </a:p>
        </p:txBody>
      </p:sp>
      <p:sp>
        <p:nvSpPr>
          <p:cNvPr id="14" name="Text 12"/>
          <p:cNvSpPr/>
          <p:nvPr/>
        </p:nvSpPr>
        <p:spPr>
          <a:xfrm>
            <a:off x="1417320" y="4581144"/>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Quelle idée reçue sur le cancer colorectal aimeriez-vous le plus corriger dans votre propre contexte, et comment procéderiez-vous ?</a:t>
            </a:r>
            <a:endParaRPr lang="en-US" sz="1800" noProof="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3">
    <p:bg>
      <p:bgPr>
        <a:solidFill>
          <a:srgbClr val="0E2E5C"/>
        </a:solidFill>
        <a:effectLst/>
      </p:bgPr>
    </p:bg>
    <p:spTree>
      <p:nvGrpSpPr>
        <p:cNvPr id="1" name=""/>
        <p:cNvGrpSpPr/>
        <p:nvPr/>
      </p:nvGrpSpPr>
      <p:grpSpPr>
        <a:xfrm>
          <a:off x="0" y="0"/>
          <a:ext cx="0" cy="0"/>
          <a:chOff x="0" y="0"/>
          <a:chExt cx="0" cy="0"/>
        </a:xfrm>
      </p:grpSpPr>
      <p:sp>
        <p:nvSpPr>
          <p:cNvPr id="2" name="Shape 0"/>
          <p:cNvSpPr/>
          <p:nvPr/>
        </p:nvSpPr>
        <p:spPr>
          <a:xfrm>
            <a:off x="548640" y="1874520"/>
            <a:ext cx="1051560" cy="1051560"/>
          </a:xfrm>
          <a:prstGeom prst="roundRect">
            <a:avLst>
              <a:gd name="adj" fmla="val 12174"/>
            </a:avLst>
          </a:prstGeom>
          <a:solidFill>
            <a:srgbClr val="2C5A9E"/>
          </a:solidFill>
          <a:ln w="15875">
            <a:solidFill>
              <a:srgbClr val="5C8DD6"/>
            </a:solidFill>
            <a:prstDash val="solid"/>
          </a:ln>
        </p:spPr>
        <p:txBody>
          <a:bodyPr/>
          <a:lstStyle/>
          <a:p>
            <a:endParaRPr lang="en-US" noProof="0" dirty="0"/>
          </a:p>
        </p:txBody>
      </p:sp>
      <p:sp>
        <p:nvSpPr>
          <p:cNvPr id="3" name="Text 1"/>
          <p:cNvSpPr/>
          <p:nvPr/>
        </p:nvSpPr>
        <p:spPr>
          <a:xfrm>
            <a:off x="548640" y="1874520"/>
            <a:ext cx="1051560" cy="1051560"/>
          </a:xfrm>
          <a:prstGeom prst="rect">
            <a:avLst/>
          </a:prstGeom>
          <a:noFill/>
          <a:ln/>
        </p:spPr>
        <p:txBody>
          <a:bodyPr wrap="square" lIns="0" tIns="0" rIns="0" bIns="0" rtlCol="0" anchor="ctr"/>
          <a:lstStyle/>
          <a:p>
            <a:pPr marL="0" indent="0" algn="ctr">
              <a:buNone/>
            </a:pPr>
            <a:r>
              <a:rPr lang="fr" sz="4600" b="1" noProof="0">
                <a:solidFill>
                  <a:srgbClr val="FFFFFF"/>
                </a:solidFill>
                <a:latin typeface="Cambria" pitchFamily="34" charset="0"/>
                <a:ea typeface="Cambria" pitchFamily="34" charset="-122"/>
                <a:cs typeface="Cambria" pitchFamily="34" charset="-120"/>
              </a:rPr>
              <a:t>5</a:t>
            </a:r>
            <a:endParaRPr lang="en-US" sz="4600" noProof="0" dirty="0"/>
          </a:p>
        </p:txBody>
      </p:sp>
      <p:sp>
        <p:nvSpPr>
          <p:cNvPr id="4" name="Text 2"/>
          <p:cNvSpPr/>
          <p:nvPr/>
        </p:nvSpPr>
        <p:spPr>
          <a:xfrm>
            <a:off x="1920240" y="1920240"/>
            <a:ext cx="8686800" cy="365760"/>
          </a:xfrm>
          <a:prstGeom prst="rect">
            <a:avLst/>
          </a:prstGeom>
          <a:noFill/>
          <a:ln/>
        </p:spPr>
        <p:txBody>
          <a:bodyPr wrap="square" lIns="0" tIns="0" rIns="0" bIns="0" rtlCol="0" anchor="ctr"/>
          <a:lstStyle/>
          <a:p>
            <a:pPr marL="0" indent="0">
              <a:buNone/>
            </a:pPr>
            <a:r>
              <a:rPr lang="fr" sz="1500" b="1" kern="0" spc="300" noProof="0">
                <a:solidFill>
                  <a:srgbClr val="9DC0EE"/>
                </a:solidFill>
                <a:latin typeface="Calibri" pitchFamily="34" charset="0"/>
                <a:ea typeface="Calibri" pitchFamily="34" charset="-122"/>
                <a:cs typeface="Calibri" pitchFamily="34" charset="-120"/>
              </a:rPr>
              <a:t>Session 5</a:t>
            </a:r>
            <a:endParaRPr lang="en-US" sz="1500" noProof="0" dirty="0"/>
          </a:p>
        </p:txBody>
      </p:sp>
      <p:sp>
        <p:nvSpPr>
          <p:cNvPr id="5" name="Text 3"/>
          <p:cNvSpPr/>
          <p:nvPr/>
        </p:nvSpPr>
        <p:spPr>
          <a:xfrm>
            <a:off x="1920240" y="2286000"/>
            <a:ext cx="9601200" cy="777240"/>
          </a:xfrm>
          <a:prstGeom prst="rect">
            <a:avLst/>
          </a:prstGeom>
          <a:noFill/>
          <a:ln/>
        </p:spPr>
        <p:txBody>
          <a:bodyPr wrap="square" lIns="0" tIns="0" rIns="0" bIns="0" rtlCol="0" anchor="ctr"/>
          <a:lstStyle/>
          <a:p>
            <a:pPr marL="0" indent="0">
              <a:buNone/>
            </a:pPr>
            <a:r>
              <a:rPr lang="fr" sz="4200" b="1" noProof="0">
                <a:solidFill>
                  <a:srgbClr val="FFFFFF"/>
                </a:solidFill>
                <a:latin typeface="Cambria" pitchFamily="34" charset="0"/>
                <a:ea typeface="Cambria" pitchFamily="34" charset="-122"/>
                <a:cs typeface="Cambria" pitchFamily="34" charset="-120"/>
              </a:rPr>
              <a:t>Soins de soutien</a:t>
            </a:r>
            <a:endParaRPr lang="en-US" sz="4200" noProof="0" dirty="0"/>
          </a:p>
        </p:txBody>
      </p:sp>
      <p:sp>
        <p:nvSpPr>
          <p:cNvPr id="6" name="Text 4"/>
          <p:cNvSpPr/>
          <p:nvPr/>
        </p:nvSpPr>
        <p:spPr>
          <a:xfrm>
            <a:off x="1920240" y="3246120"/>
            <a:ext cx="9326880" cy="914400"/>
          </a:xfrm>
          <a:prstGeom prst="rect">
            <a:avLst/>
          </a:prstGeom>
          <a:noFill/>
          <a:ln/>
        </p:spPr>
        <p:txBody>
          <a:bodyPr wrap="square" lIns="0" tIns="0" rIns="0" bIns="0" rtlCol="0" anchor="ctr"/>
          <a:lstStyle/>
          <a:p>
            <a:pPr marL="0" indent="0">
              <a:buNone/>
            </a:pPr>
            <a:r>
              <a:rPr lang="fr" sz="1800" noProof="0">
                <a:solidFill>
                  <a:srgbClr val="CFE0F6"/>
                </a:solidFill>
                <a:latin typeface="Calibri" pitchFamily="34" charset="0"/>
                <a:ea typeface="Calibri" pitchFamily="34" charset="-122"/>
                <a:cs typeface="Calibri" pitchFamily="34" charset="-120"/>
              </a:rPr>
              <a:t>Soutenez les personnes tout au long du traitement et au-delà : reconnaissez les effets, identifiez les urgences et protégez la qualité de vie.</a:t>
            </a:r>
            <a:endParaRPr lang="en-US" sz="1800" noProof="0" dirty="0"/>
          </a:p>
        </p:txBody>
      </p:sp>
      <p:sp>
        <p:nvSpPr>
          <p:cNvPr id="7" name="Text 5"/>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8FA9CE"/>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Objectifs d'apprentissage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6" name="Text 4"/>
          <p:cNvSpPr/>
          <p:nvPr/>
        </p:nvSpPr>
        <p:spPr>
          <a:xfrm>
            <a:off x="73152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Reconnaissez</a:t>
            </a:r>
            <a:endParaRPr lang="en-US" sz="1800" noProof="0" dirty="0"/>
          </a:p>
        </p:txBody>
      </p:sp>
      <p:sp>
        <p:nvSpPr>
          <p:cNvPr id="7" name="Text 5"/>
          <p:cNvSpPr/>
          <p:nvPr/>
        </p:nvSpPr>
        <p:spPr>
          <a:xfrm>
            <a:off x="73152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Reconnaître les effets courants de la chirurgie, de la radiothérapie et de la thérapie systémique pour le cancer colorectal.</a:t>
            </a:r>
            <a:endParaRPr lang="en-US" sz="1800" noProof="0" dirty="0"/>
          </a:p>
        </p:txBody>
      </p:sp>
      <p:sp>
        <p:nvSpPr>
          <p:cNvPr id="8" name="Shape 6"/>
          <p:cNvSpPr/>
          <p:nvPr/>
        </p:nvSpPr>
        <p:spPr>
          <a:xfrm>
            <a:off x="4319930"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4502810"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Classer</a:t>
            </a:r>
            <a:endParaRPr lang="en-US" sz="1800" noProof="0" dirty="0"/>
          </a:p>
        </p:txBody>
      </p:sp>
      <p:sp>
        <p:nvSpPr>
          <p:cNvPr id="10" name="Text 8"/>
          <p:cNvSpPr/>
          <p:nvPr/>
        </p:nvSpPr>
        <p:spPr>
          <a:xfrm>
            <a:off x="4502810"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Triez les effets en attendus, nécessitant une évaluation et urgents.</a:t>
            </a:r>
            <a:endParaRPr lang="en-US" sz="1800" noProof="0" dirty="0"/>
          </a:p>
        </p:txBody>
      </p:sp>
      <p:sp>
        <p:nvSpPr>
          <p:cNvPr id="11" name="Shape 9"/>
          <p:cNvSpPr/>
          <p:nvPr/>
        </p:nvSpPr>
        <p:spPr>
          <a:xfrm>
            <a:off x="8091221" y="1371600"/>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2" name="Text 10"/>
          <p:cNvSpPr/>
          <p:nvPr/>
        </p:nvSpPr>
        <p:spPr>
          <a:xfrm>
            <a:off x="8274101" y="1517904"/>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Expliquez</a:t>
            </a:r>
            <a:endParaRPr lang="en-US" sz="1800" noProof="0" dirty="0"/>
          </a:p>
        </p:txBody>
      </p:sp>
      <p:sp>
        <p:nvSpPr>
          <p:cNvPr id="13" name="Text 11"/>
          <p:cNvSpPr/>
          <p:nvPr/>
        </p:nvSpPr>
        <p:spPr>
          <a:xfrm>
            <a:off x="8274101" y="1877263"/>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Expliquez ce qu'est une stomie et quel soutien quotidien elle a besoin, en utilisant un langage respectueux.</a:t>
            </a:r>
            <a:endParaRPr lang="en-US" sz="1800" noProof="0" dirty="0"/>
          </a:p>
        </p:txBody>
      </p:sp>
      <p:sp>
        <p:nvSpPr>
          <p:cNvPr id="14" name="Shape 12"/>
          <p:cNvSpPr/>
          <p:nvPr/>
        </p:nvSpPr>
        <p:spPr>
          <a:xfrm>
            <a:off x="54864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3152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Décrire</a:t>
            </a:r>
            <a:endParaRPr lang="en-US" sz="1800" noProof="0" dirty="0"/>
          </a:p>
        </p:txBody>
      </p:sp>
      <p:sp>
        <p:nvSpPr>
          <p:cNvPr id="16" name="Text 14"/>
          <p:cNvSpPr/>
          <p:nvPr/>
        </p:nvSpPr>
        <p:spPr>
          <a:xfrm>
            <a:off x="73152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Décrivez ce que les soins palliatifs offrent et quand ils peuvent être proposés à un patient.</a:t>
            </a:r>
            <a:endParaRPr lang="en-US" sz="1800" noProof="0" dirty="0"/>
          </a:p>
        </p:txBody>
      </p:sp>
      <p:sp>
        <p:nvSpPr>
          <p:cNvPr id="17" name="Shape 15"/>
          <p:cNvSpPr/>
          <p:nvPr/>
        </p:nvSpPr>
        <p:spPr>
          <a:xfrm>
            <a:off x="4319930"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18" name="Text 16"/>
          <p:cNvSpPr/>
          <p:nvPr/>
        </p:nvSpPr>
        <p:spPr>
          <a:xfrm>
            <a:off x="4502810"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Soutien</a:t>
            </a:r>
            <a:endParaRPr lang="en-US" sz="1800" noProof="0" dirty="0"/>
          </a:p>
        </p:txBody>
      </p:sp>
      <p:sp>
        <p:nvSpPr>
          <p:cNvPr id="19" name="Text 17"/>
          <p:cNvSpPr/>
          <p:nvPr/>
        </p:nvSpPr>
        <p:spPr>
          <a:xfrm>
            <a:off x="4502810"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Soutenir la qualité de vie, y compris la nutrition, la fonction intestinale, le travail et le bien-être émotionnel.</a:t>
            </a:r>
            <a:endParaRPr lang="en-US" sz="1800" noProof="0" dirty="0"/>
          </a:p>
        </p:txBody>
      </p:sp>
      <p:sp>
        <p:nvSpPr>
          <p:cNvPr id="20" name="Shape 18"/>
          <p:cNvSpPr/>
          <p:nvPr/>
        </p:nvSpPr>
        <p:spPr>
          <a:xfrm>
            <a:off x="8091221" y="3648456"/>
            <a:ext cx="3551834" cy="205740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8274101" y="3794760"/>
            <a:ext cx="3186074" cy="359359"/>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Suivi</a:t>
            </a:r>
            <a:endParaRPr lang="en-US" sz="1800" noProof="0" dirty="0"/>
          </a:p>
        </p:txBody>
      </p:sp>
      <p:sp>
        <p:nvSpPr>
          <p:cNvPr id="22" name="Text 20"/>
          <p:cNvSpPr/>
          <p:nvPr/>
        </p:nvSpPr>
        <p:spPr>
          <a:xfrm>
            <a:off x="8274101" y="4154119"/>
            <a:ext cx="3186074" cy="1442009"/>
          </a:xfrm>
          <a:prstGeom prst="rect">
            <a:avLst/>
          </a:prstGeom>
          <a:noFill/>
          <a:ln/>
        </p:spPr>
        <p:txBody>
          <a:bodyPr wrap="square" lIns="0" tIns="0" rIns="0" bIns="0" rtlCol="0" anchor="t"/>
          <a:lstStyle/>
          <a:p>
            <a:pPr marL="0" indent="0">
              <a:lnSpc>
                <a:spcPct val="105000"/>
              </a:lnSpc>
              <a:buNone/>
            </a:pPr>
            <a:r>
              <a:rPr lang="fr" sz="1800" noProof="0">
                <a:solidFill>
                  <a:srgbClr val="17325E"/>
                </a:solidFill>
                <a:latin typeface="Calibri" pitchFamily="34" charset="0"/>
                <a:ea typeface="Calibri" pitchFamily="34" charset="-122"/>
                <a:cs typeface="Calibri" pitchFamily="34" charset="-120"/>
              </a:rPr>
              <a:t>Expliquez l'objectif du suivi après le traitement et encouragez le signalement des nouveaux symptômes.</a:t>
            </a:r>
            <a:endParaRPr lang="en-US" sz="1800" noProof="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Effets à reconnaître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pic>
        <p:nvPicPr>
          <p:cNvPr id="5" name="Imagen 4">
            <a:extLst>
              <a:ext uri="{FF2B5EF4-FFF2-40B4-BE49-F238E27FC236}">
                <a16:creationId xmlns:a16="http://schemas.microsoft.com/office/drawing/2014/main" id="{6C963C00-3792-41A6-56A7-8F5C28E80458}"/>
              </a:ext>
            </a:extLst>
          </p:cNvPr>
          <p:cNvPicPr>
            <a:picLocks noChangeAspect="1"/>
          </p:cNvPicPr>
          <p:nvPr/>
        </p:nvPicPr>
        <p:blipFill>
          <a:blip r:embed="rId3"/>
          <a:stretch>
            <a:fillRect/>
          </a:stretch>
        </p:blipFill>
        <p:spPr>
          <a:xfrm>
            <a:off x="548640" y="1225295"/>
            <a:ext cx="10894060" cy="509656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Classez le symptôme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6" name="Shape 4"/>
          <p:cNvSpPr/>
          <p:nvPr/>
        </p:nvSpPr>
        <p:spPr>
          <a:xfrm>
            <a:off x="548640" y="1225296"/>
            <a:ext cx="3527450" cy="5065776"/>
          </a:xfrm>
          <a:prstGeom prst="roundRect">
            <a:avLst>
              <a:gd name="adj" fmla="val 2592"/>
            </a:avLst>
          </a:prstGeom>
          <a:solidFill>
            <a:srgbClr val="EAF6F0"/>
          </a:solidFill>
          <a:ln w="15875">
            <a:solidFill>
              <a:srgbClr val="9BCBB4"/>
            </a:solidFill>
            <a:prstDash val="solid"/>
          </a:ln>
        </p:spPr>
        <p:txBody>
          <a:bodyPr/>
          <a:lstStyle/>
          <a:p>
            <a:endParaRPr lang="en-US" noProof="0" dirty="0"/>
          </a:p>
        </p:txBody>
      </p:sp>
      <p:sp>
        <p:nvSpPr>
          <p:cNvPr id="7" name="Text 5"/>
          <p:cNvSpPr/>
          <p:nvPr/>
        </p:nvSpPr>
        <p:spPr>
          <a:xfrm>
            <a:off x="731520" y="1320185"/>
            <a:ext cx="3161690" cy="359359"/>
          </a:xfrm>
          <a:prstGeom prst="rect">
            <a:avLst/>
          </a:prstGeom>
          <a:noFill/>
          <a:ln/>
        </p:spPr>
        <p:txBody>
          <a:bodyPr wrap="square" lIns="0" tIns="0" rIns="0" bIns="0" rtlCol="0" anchor="t">
            <a:noAutofit/>
          </a:bodyPr>
          <a:lstStyle/>
          <a:p>
            <a:pPr marL="0" indent="0">
              <a:buNone/>
            </a:pPr>
            <a:r>
              <a:rPr lang="fr" sz="1422" b="1" noProof="0">
                <a:solidFill>
                  <a:srgbClr val="126647"/>
                </a:solidFill>
                <a:latin typeface="Calibri" pitchFamily="34" charset="0"/>
                <a:ea typeface="Calibri" pitchFamily="34" charset="-122"/>
                <a:cs typeface="Calibri" pitchFamily="34" charset="-120"/>
              </a:rPr>
              <a:t>Attendus : prendre en charge et réévaluer</a:t>
            </a:r>
            <a:endParaRPr lang="en-US" noProof="0" dirty="0"/>
          </a:p>
        </p:txBody>
      </p:sp>
      <p:sp>
        <p:nvSpPr>
          <p:cNvPr id="8" name="Text 6"/>
          <p:cNvSpPr/>
          <p:nvPr/>
        </p:nvSpPr>
        <p:spPr>
          <a:xfrm>
            <a:off x="731520" y="1679544"/>
            <a:ext cx="3161690" cy="3755441"/>
          </a:xfrm>
          <a:prstGeom prst="rect">
            <a:avLst/>
          </a:prstGeom>
          <a:noFill/>
          <a:ln/>
        </p:spPr>
        <p:txBody>
          <a:bodyPr wrap="square" lIns="0" tIns="0" rIns="0" bIns="0" rtlCol="0" anchor="t"/>
          <a:lstStyle/>
          <a:p>
            <a:pPr marL="0" indent="0">
              <a:lnSpc>
                <a:spcPct val="105000"/>
              </a:lnSpc>
              <a:buNone/>
            </a:pPr>
            <a:r>
              <a:rPr lang="fr" noProof="0">
                <a:solidFill>
                  <a:srgbClr val="17325E"/>
                </a:solidFill>
                <a:latin typeface="Calibri" pitchFamily="34" charset="0"/>
                <a:ea typeface="Calibri" pitchFamily="34" charset="-122"/>
                <a:cs typeface="Calibri" pitchFamily="34" charset="-120"/>
              </a:rPr>
              <a:t>Fatigue légère pendant le traitement</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Nausées légères contrôlées par des médicaments</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Selles plus molles dans les semaines suivant l'opération de l'intestin</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Légère sécheresse cutanée dans la zone irradiée</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Amincissement des cheveux</a:t>
            </a:r>
            <a:endParaRPr lang="en-US" noProof="0" dirty="0"/>
          </a:p>
        </p:txBody>
      </p:sp>
      <p:sp>
        <p:nvSpPr>
          <p:cNvPr id="9" name="Shape 7"/>
          <p:cNvSpPr/>
          <p:nvPr/>
        </p:nvSpPr>
        <p:spPr>
          <a:xfrm>
            <a:off x="4332122" y="1225296"/>
            <a:ext cx="3527450" cy="5065776"/>
          </a:xfrm>
          <a:prstGeom prst="roundRect">
            <a:avLst>
              <a:gd name="adj" fmla="val 2592"/>
            </a:avLst>
          </a:prstGeom>
          <a:solidFill>
            <a:srgbClr val="FFF3DF"/>
          </a:solidFill>
          <a:ln w="15875">
            <a:solidFill>
              <a:srgbClr val="E8CFA4"/>
            </a:solidFill>
            <a:prstDash val="solid"/>
          </a:ln>
        </p:spPr>
        <p:txBody>
          <a:bodyPr/>
          <a:lstStyle/>
          <a:p>
            <a:endParaRPr lang="en-US" noProof="0" dirty="0"/>
          </a:p>
        </p:txBody>
      </p:sp>
      <p:sp>
        <p:nvSpPr>
          <p:cNvPr id="10" name="Text 8"/>
          <p:cNvSpPr/>
          <p:nvPr/>
        </p:nvSpPr>
        <p:spPr>
          <a:xfrm>
            <a:off x="4515002" y="1320185"/>
            <a:ext cx="3161690" cy="359359"/>
          </a:xfrm>
          <a:prstGeom prst="rect">
            <a:avLst/>
          </a:prstGeom>
          <a:noFill/>
          <a:ln/>
        </p:spPr>
        <p:txBody>
          <a:bodyPr wrap="square" lIns="0" tIns="0" rIns="0" bIns="0" rtlCol="0" anchor="t">
            <a:noAutofit/>
          </a:bodyPr>
          <a:lstStyle/>
          <a:p>
            <a:pPr marL="0" indent="0">
              <a:buNone/>
            </a:pPr>
            <a:r>
              <a:rPr lang="fr" sz="1422" b="1" noProof="0">
                <a:solidFill>
                  <a:srgbClr val="9A5B00"/>
                </a:solidFill>
                <a:latin typeface="Calibri" pitchFamily="34" charset="0"/>
                <a:ea typeface="Calibri" pitchFamily="34" charset="-122"/>
                <a:cs typeface="Calibri" pitchFamily="34" charset="-120"/>
              </a:rPr>
              <a:t>Évaluer rapidement</a:t>
            </a:r>
            <a:endParaRPr lang="en-US" noProof="0" dirty="0"/>
          </a:p>
        </p:txBody>
      </p:sp>
      <p:sp>
        <p:nvSpPr>
          <p:cNvPr id="11" name="Text 9"/>
          <p:cNvSpPr/>
          <p:nvPr/>
        </p:nvSpPr>
        <p:spPr>
          <a:xfrm>
            <a:off x="4515002" y="1679544"/>
            <a:ext cx="3161690" cy="3755441"/>
          </a:xfrm>
          <a:prstGeom prst="rect">
            <a:avLst/>
          </a:prstGeom>
          <a:noFill/>
          <a:ln/>
        </p:spPr>
        <p:txBody>
          <a:bodyPr wrap="square" lIns="0" tIns="0" rIns="0" bIns="0" rtlCol="0" anchor="t"/>
          <a:lstStyle/>
          <a:p>
            <a:pPr marL="0" indent="0">
              <a:lnSpc>
                <a:spcPct val="105000"/>
              </a:lnSpc>
              <a:buNone/>
            </a:pPr>
            <a:r>
              <a:rPr lang="fr" noProof="0" err="1">
                <a:solidFill>
                  <a:srgbClr val="17325E"/>
                </a:solidFill>
                <a:latin typeface="Calibri" pitchFamily="34" charset="0"/>
                <a:ea typeface="Calibri" pitchFamily="34" charset="-122"/>
                <a:cs typeface="Calibri" pitchFamily="34" charset="-120"/>
              </a:rPr>
              <a:t>Diarrhée persistante ou provoque de la déshydratation</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Nouveau engourdissement ou picotement dans les mains ou les pieds</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Apports alimentaires insuffisants ou perte de poids continue</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Débit de stomie durablement élevé, ou peau abîmée autour d'une stomie</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Humeur basse ou anxiété marquée</a:t>
            </a:r>
            <a:endParaRPr lang="en-US" noProof="0" dirty="0"/>
          </a:p>
        </p:txBody>
      </p:sp>
      <p:sp>
        <p:nvSpPr>
          <p:cNvPr id="12" name="Shape 10"/>
          <p:cNvSpPr/>
          <p:nvPr/>
        </p:nvSpPr>
        <p:spPr>
          <a:xfrm>
            <a:off x="8115605" y="1225296"/>
            <a:ext cx="3527450" cy="5065776"/>
          </a:xfrm>
          <a:prstGeom prst="roundRect">
            <a:avLst>
              <a:gd name="adj" fmla="val 2592"/>
            </a:avLst>
          </a:prstGeom>
          <a:solidFill>
            <a:srgbClr val="FCEDEB"/>
          </a:solidFill>
          <a:ln w="15875">
            <a:solidFill>
              <a:srgbClr val="E7B8B2"/>
            </a:solidFill>
            <a:prstDash val="solid"/>
          </a:ln>
        </p:spPr>
        <p:txBody>
          <a:bodyPr/>
          <a:lstStyle/>
          <a:p>
            <a:endParaRPr lang="en-US" noProof="0" dirty="0"/>
          </a:p>
        </p:txBody>
      </p:sp>
      <p:sp>
        <p:nvSpPr>
          <p:cNvPr id="13" name="Text 11"/>
          <p:cNvSpPr/>
          <p:nvPr/>
        </p:nvSpPr>
        <p:spPr>
          <a:xfrm>
            <a:off x="8298485" y="1320185"/>
            <a:ext cx="3161690" cy="359359"/>
          </a:xfrm>
          <a:prstGeom prst="rect">
            <a:avLst/>
          </a:prstGeom>
          <a:noFill/>
          <a:ln/>
        </p:spPr>
        <p:txBody>
          <a:bodyPr wrap="square" lIns="0" tIns="0" rIns="0" bIns="0" rtlCol="0" anchor="t">
            <a:noAutofit/>
          </a:bodyPr>
          <a:lstStyle/>
          <a:p>
            <a:pPr marL="0" indent="0">
              <a:buNone/>
            </a:pPr>
            <a:r>
              <a:rPr lang="fr" sz="1422" b="1" noProof="0">
                <a:solidFill>
                  <a:srgbClr val="9E2019"/>
                </a:solidFill>
                <a:latin typeface="Calibri" pitchFamily="34" charset="0"/>
                <a:ea typeface="Calibri" pitchFamily="34" charset="-122"/>
                <a:cs typeface="Calibri" pitchFamily="34" charset="-120"/>
              </a:rPr>
              <a:t>Urgent, ne pas attendre</a:t>
            </a:r>
            <a:endParaRPr lang="en-US" noProof="0" dirty="0"/>
          </a:p>
        </p:txBody>
      </p:sp>
      <p:sp>
        <p:nvSpPr>
          <p:cNvPr id="14" name="Text 12"/>
          <p:cNvSpPr/>
          <p:nvPr/>
        </p:nvSpPr>
        <p:spPr>
          <a:xfrm>
            <a:off x="8298485" y="1679544"/>
            <a:ext cx="3161690" cy="3755441"/>
          </a:xfrm>
          <a:prstGeom prst="rect">
            <a:avLst/>
          </a:prstGeom>
          <a:noFill/>
          <a:ln/>
        </p:spPr>
        <p:txBody>
          <a:bodyPr wrap="square" lIns="0" tIns="0" rIns="0" bIns="0" rtlCol="0" anchor="t"/>
          <a:lstStyle/>
          <a:p>
            <a:pPr marL="0" indent="0">
              <a:lnSpc>
                <a:spcPct val="105000"/>
              </a:lnSpc>
              <a:buNone/>
            </a:pPr>
            <a:r>
              <a:rPr lang="fr" noProof="0">
                <a:solidFill>
                  <a:srgbClr val="17325E"/>
                </a:solidFill>
                <a:latin typeface="Calibri" pitchFamily="34" charset="0"/>
                <a:ea typeface="Calibri" pitchFamily="34" charset="-122"/>
                <a:cs typeface="Calibri" pitchFamily="34" charset="-120"/>
              </a:rPr>
              <a:t>Fièvre ou rigueurs pendant la chimiothérapie</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Distension abdominale avec vomissements et absence de selles ou de gaz</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Saignements abondants, ou saignements avec vertiges</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Douleur abdominale sévère avec défense abdominale</a:t>
            </a:r>
            <a:endParaRPr lang="en-US" noProof="0" dirty="0"/>
          </a:p>
          <a:p>
            <a:pPr marL="0" indent="0">
              <a:lnSpc>
                <a:spcPct val="105000"/>
              </a:lnSpc>
              <a:buNone/>
            </a:pPr>
            <a:endParaRPr lang="en-US" noProof="0" dirty="0"/>
          </a:p>
          <a:p>
            <a:pPr marL="0" indent="0">
              <a:lnSpc>
                <a:spcPct val="105000"/>
              </a:lnSpc>
              <a:buNone/>
            </a:pPr>
            <a:r>
              <a:rPr lang="fr" noProof="0">
                <a:solidFill>
                  <a:srgbClr val="17325E"/>
                </a:solidFill>
                <a:latin typeface="Calibri" pitchFamily="34" charset="0"/>
                <a:ea typeface="Calibri" pitchFamily="34" charset="-122"/>
                <a:cs typeface="Calibri" pitchFamily="34" charset="-120"/>
              </a:rPr>
              <a:t>Une stomie qui cesse de fonctionner et s'accompagne de douleur</a:t>
            </a:r>
            <a:endParaRPr lang="en-US" noProof="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Stomie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225296"/>
            <a:ext cx="6645790" cy="4557318"/>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31519" y="1395064"/>
            <a:ext cx="6186865" cy="1837944"/>
          </a:xfrm>
          <a:prstGeom prst="rect">
            <a:avLst/>
          </a:prstGeom>
          <a:noFill/>
          <a:ln/>
        </p:spPr>
        <p:txBody>
          <a:bodyPr wrap="square" lIns="0" tIns="0" rIns="0" bIns="0" rtlCol="0" anchor="t">
            <a:noAutofit/>
          </a:bodyPr>
          <a:lstStyle/>
          <a:p>
            <a:pPr lvl="0">
              <a:lnSpc>
                <a:spcPct val="105000"/>
              </a:lnSpc>
              <a:spcAft>
                <a:spcPts val="600"/>
              </a:spcAft>
            </a:pPr>
            <a:r>
              <a:rPr lang="fr" sz="1512" b="1" noProof="0">
                <a:solidFill>
                  <a:srgbClr val="17325E"/>
                </a:solidFill>
                <a:latin typeface="Calibri" pitchFamily="34" charset="0"/>
                <a:ea typeface="Calibri" pitchFamily="34" charset="-122"/>
                <a:cs typeface="Calibri" pitchFamily="34" charset="-120"/>
              </a:rPr>
              <a:t>Ce que c'est : </a:t>
            </a:r>
            <a:r>
              <a:rPr lang="fr" sz="1512" noProof="0">
                <a:solidFill>
                  <a:srgbClr val="17325E"/>
                </a:solidFill>
                <a:latin typeface="Calibri" pitchFamily="34" charset="0"/>
                <a:ea typeface="Calibri" pitchFamily="34" charset="-122"/>
                <a:cs typeface="Calibri" pitchFamily="34" charset="-120"/>
              </a:rPr>
              <a:t>une stomie est une ouverture chirurgicale créée sur l'abdomen qui permet aux selles de passer dans un sac de collecte.</a:t>
            </a:r>
          </a:p>
          <a:p>
            <a:pPr lvl="0">
              <a:lnSpc>
                <a:spcPct val="105000"/>
              </a:lnSpc>
              <a:spcAft>
                <a:spcPts val="600"/>
              </a:spcAft>
            </a:pPr>
            <a:r>
              <a:rPr lang="fr" sz="1512" b="1" noProof="0">
                <a:solidFill>
                  <a:srgbClr val="17325E"/>
                </a:solidFill>
                <a:latin typeface="Calibri" pitchFamily="34" charset="0"/>
                <a:ea typeface="Calibri" pitchFamily="34" charset="-122"/>
                <a:cs typeface="Calibri" pitchFamily="34" charset="-120"/>
              </a:rPr>
              <a:t>Temporaire ou permanente : Certaines stomies sont refermées après cicatrisation ; d’autres sont permanentes.</a:t>
            </a:r>
          </a:p>
          <a:p>
            <a:pPr lvl="0">
              <a:lnSpc>
                <a:spcPct val="105000"/>
              </a:lnSpc>
              <a:spcAft>
                <a:spcPts val="600"/>
              </a:spcAft>
            </a:pPr>
            <a:r>
              <a:rPr lang="fr" sz="1512" b="1" noProof="0">
                <a:solidFill>
                  <a:srgbClr val="17325E"/>
                </a:solidFill>
                <a:latin typeface="Calibri" pitchFamily="34" charset="0"/>
                <a:ea typeface="Calibri" pitchFamily="34" charset="-122"/>
                <a:cs typeface="Calibri" pitchFamily="34" charset="-120"/>
              </a:rPr>
              <a:t>Tout le monde n'en a pas besoin : Beaucoup de </a:t>
            </a:r>
            <a:r>
              <a:rPr lang="fr" sz="1512" noProof="0">
                <a:solidFill>
                  <a:srgbClr val="17325E"/>
                </a:solidFill>
                <a:latin typeface="Calibri" pitchFamily="34" charset="0"/>
                <a:ea typeface="Calibri" pitchFamily="34" charset="-122"/>
                <a:cs typeface="Calibri" pitchFamily="34" charset="-120"/>
              </a:rPr>
              <a:t>personnes traitées pour un cancer colorectal n'ont jamais besoin de stomie.</a:t>
            </a:r>
          </a:p>
          <a:p>
            <a:pPr lvl="0">
              <a:lnSpc>
                <a:spcPct val="105000"/>
              </a:lnSpc>
              <a:spcAft>
                <a:spcPts val="600"/>
              </a:spcAft>
            </a:pPr>
            <a:r>
              <a:rPr lang="fr" sz="1512" b="1" noProof="0">
                <a:solidFill>
                  <a:srgbClr val="17325E"/>
                </a:solidFill>
                <a:latin typeface="Calibri" pitchFamily="34" charset="0"/>
                <a:ea typeface="Calibri" pitchFamily="34" charset="-122"/>
                <a:cs typeface="Calibri" pitchFamily="34" charset="-120"/>
              </a:rPr>
              <a:t>Soins de la peau et des appareils : </a:t>
            </a:r>
            <a:r>
              <a:rPr lang="fr" sz="1512" noProof="0">
                <a:solidFill>
                  <a:srgbClr val="17325E"/>
                </a:solidFill>
                <a:latin typeface="Calibri" pitchFamily="34" charset="0"/>
                <a:ea typeface="Calibri" pitchFamily="34" charset="-122"/>
                <a:cs typeface="Calibri" pitchFamily="34" charset="-120"/>
              </a:rPr>
              <a:t>La peau environnante doit rester saine ; les fuites, les douleurs ou les rougeurs doivent être évaluées.</a:t>
            </a:r>
          </a:p>
          <a:p>
            <a:pPr lvl="0">
              <a:lnSpc>
                <a:spcPct val="105000"/>
              </a:lnSpc>
              <a:spcAft>
                <a:spcPts val="600"/>
              </a:spcAft>
            </a:pPr>
            <a:r>
              <a:rPr lang="fr" sz="1512" b="1" noProof="0">
                <a:solidFill>
                  <a:srgbClr val="17325E"/>
                </a:solidFill>
                <a:latin typeface="Calibri" pitchFamily="34" charset="0"/>
                <a:ea typeface="Calibri" pitchFamily="34" charset="-122"/>
                <a:cs typeface="Calibri" pitchFamily="34" charset="-120"/>
              </a:rPr>
              <a:t>Hydratation : Les stomies à haut débit peuvent provoquer une perte de liquide et de sel ; il faut donc surveiller le débit, la soif, les vertiges et la production d’urine.</a:t>
            </a:r>
          </a:p>
          <a:p>
            <a:pPr lvl="0">
              <a:lnSpc>
                <a:spcPct val="105000"/>
              </a:lnSpc>
              <a:spcAft>
                <a:spcPts val="600"/>
              </a:spcAft>
            </a:pPr>
            <a:r>
              <a:rPr lang="fr" sz="1512" b="1" noProof="0">
                <a:solidFill>
                  <a:srgbClr val="17325E"/>
                </a:solidFill>
                <a:latin typeface="Calibri" pitchFamily="34" charset="0"/>
                <a:ea typeface="Calibri" pitchFamily="34" charset="-122"/>
                <a:cs typeface="Calibri" pitchFamily="34" charset="-120"/>
              </a:rPr>
              <a:t>Vie quotidienne : </a:t>
            </a:r>
            <a:r>
              <a:rPr lang="fr" sz="1512" noProof="0">
                <a:solidFill>
                  <a:srgbClr val="17325E"/>
                </a:solidFill>
                <a:latin typeface="Calibri" pitchFamily="34" charset="0"/>
                <a:ea typeface="Calibri" pitchFamily="34" charset="-122"/>
                <a:cs typeface="Calibri" pitchFamily="34" charset="-120"/>
              </a:rPr>
              <a:t>Avec un soutien approprié, les personnes atteintes d'une stomie peuvent travailler, voyager, participer à la vie familiale et communautaire, et rester actives.</a:t>
            </a:r>
          </a:p>
          <a:p>
            <a:pPr lvl="0">
              <a:lnSpc>
                <a:spcPct val="105000"/>
              </a:lnSpc>
              <a:spcAft>
                <a:spcPts val="600"/>
              </a:spcAft>
            </a:pPr>
            <a:endParaRPr lang="en-US" sz="1512" noProof="0" dirty="0">
              <a:solidFill>
                <a:srgbClr val="17325E"/>
              </a:solidFill>
              <a:latin typeface="Calibri" pitchFamily="34" charset="0"/>
              <a:ea typeface="Calibri" pitchFamily="34" charset="-122"/>
              <a:cs typeface="Calibri" pitchFamily="34" charset="-120"/>
            </a:endParaRPr>
          </a:p>
        </p:txBody>
      </p:sp>
      <p:pic>
        <p:nvPicPr>
          <p:cNvPr id="6" name="Imagen 5">
            <a:extLst>
              <a:ext uri="{FF2B5EF4-FFF2-40B4-BE49-F238E27FC236}">
                <a16:creationId xmlns:a16="http://schemas.microsoft.com/office/drawing/2014/main" id="{0BBB97A2-8E36-DD47-F44E-EF7AEA427235}"/>
              </a:ext>
            </a:extLst>
          </p:cNvPr>
          <p:cNvPicPr>
            <a:picLocks noChangeAspect="1"/>
          </p:cNvPicPr>
          <p:nvPr/>
        </p:nvPicPr>
        <p:blipFill>
          <a:blip r:embed="rId3"/>
          <a:stretch>
            <a:fillRect/>
          </a:stretch>
        </p:blipFill>
        <p:spPr>
          <a:xfrm>
            <a:off x="7734792" y="822960"/>
            <a:ext cx="3342501" cy="4974336"/>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Soins palliatifs</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178415"/>
            <a:ext cx="5877918" cy="5112657"/>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07234" y="1481328"/>
            <a:ext cx="5719324" cy="1719201"/>
          </a:xfrm>
          <a:prstGeom prst="rect">
            <a:avLst/>
          </a:prstGeom>
          <a:noFill/>
          <a:ln/>
        </p:spPr>
        <p:txBody>
          <a:bodyPr wrap="square" lIns="0" tIns="0" rIns="0" bIns="0" rtlCol="0" anchor="t">
            <a:noAutofit/>
          </a:bodyPr>
          <a:lstStyle/>
          <a:p>
            <a:pPr marL="0" indent="0">
              <a:lnSpc>
                <a:spcPct val="105000"/>
              </a:lnSpc>
              <a:spcAft>
                <a:spcPts val="600"/>
              </a:spcAft>
              <a:buNone/>
            </a:pPr>
            <a:r>
              <a:rPr lang="fr" sz="1602" b="1" noProof="0">
                <a:solidFill>
                  <a:srgbClr val="17325E"/>
                </a:solidFill>
                <a:latin typeface="Calibri" pitchFamily="34" charset="0"/>
                <a:ea typeface="Calibri" pitchFamily="34" charset="-122"/>
                <a:cs typeface="Calibri" pitchFamily="34" charset="-120"/>
              </a:rPr>
              <a:t>Ce que c'est : </a:t>
            </a:r>
            <a:r>
              <a:rPr lang="fr" sz="1602" noProof="0">
                <a:solidFill>
                  <a:srgbClr val="17325E"/>
                </a:solidFill>
                <a:latin typeface="Calibri" pitchFamily="34" charset="0"/>
                <a:ea typeface="Calibri" pitchFamily="34" charset="-122"/>
                <a:cs typeface="Calibri" pitchFamily="34" charset="-120"/>
              </a:rPr>
              <a:t>Soulagement des symptômes et soutien à la qualité de vie pour les patients et leurs familles, fournis en parallèle avec le traitement du cancer lorsque cela est approprié.</a:t>
            </a:r>
          </a:p>
          <a:p>
            <a:pPr marL="0" indent="0">
              <a:lnSpc>
                <a:spcPct val="105000"/>
              </a:lnSpc>
              <a:spcAft>
                <a:spcPts val="600"/>
              </a:spcAft>
              <a:buNone/>
            </a:pPr>
            <a:r>
              <a:rPr lang="fr" sz="1602" b="1" noProof="0">
                <a:solidFill>
                  <a:srgbClr val="17325E"/>
                </a:solidFill>
                <a:latin typeface="Calibri" pitchFamily="34" charset="0"/>
                <a:ea typeface="Calibri" pitchFamily="34" charset="-122"/>
                <a:cs typeface="Calibri" pitchFamily="34" charset="-120"/>
              </a:rPr>
              <a:t>Non seulement les soins de fin de vie : </a:t>
            </a:r>
            <a:r>
              <a:rPr lang="fr" sz="1602" noProof="0">
                <a:solidFill>
                  <a:srgbClr val="17325E"/>
                </a:solidFill>
                <a:latin typeface="Calibri" pitchFamily="34" charset="0"/>
                <a:ea typeface="Calibri" pitchFamily="34" charset="-122"/>
                <a:cs typeface="Calibri" pitchFamily="34" charset="-120"/>
              </a:rPr>
              <a:t>ils peuvent commencer plus tôt dans la maladie et ne signifient pas que le traitement contre le cancer a cessé.</a:t>
            </a:r>
          </a:p>
          <a:p>
            <a:pPr marL="0" indent="0">
              <a:lnSpc>
                <a:spcPct val="105000"/>
              </a:lnSpc>
              <a:spcAft>
                <a:spcPts val="600"/>
              </a:spcAft>
              <a:buNone/>
            </a:pPr>
            <a:r>
              <a:rPr lang="fr" sz="1602" b="1" noProof="0">
                <a:solidFill>
                  <a:srgbClr val="17325E"/>
                </a:solidFill>
                <a:latin typeface="Calibri" pitchFamily="34" charset="0"/>
                <a:ea typeface="Calibri" pitchFamily="34" charset="-122"/>
                <a:cs typeface="Calibri" pitchFamily="34" charset="-120"/>
              </a:rPr>
              <a:t>Douleur : </a:t>
            </a:r>
            <a:r>
              <a:rPr lang="fr" sz="1602" noProof="0">
                <a:solidFill>
                  <a:srgbClr val="17325E"/>
                </a:solidFill>
                <a:latin typeface="Calibri" pitchFamily="34" charset="0"/>
                <a:ea typeface="Calibri" pitchFamily="34" charset="-122"/>
                <a:cs typeface="Calibri" pitchFamily="34" charset="-120"/>
              </a:rPr>
              <a:t>Évaluer et traiter la douleur de manière appropriée ; la morphine orale est disponible au Rwanda.</a:t>
            </a:r>
          </a:p>
          <a:p>
            <a:pPr marL="0" indent="0">
              <a:lnSpc>
                <a:spcPct val="105000"/>
              </a:lnSpc>
              <a:spcAft>
                <a:spcPts val="600"/>
              </a:spcAft>
              <a:buNone/>
            </a:pPr>
            <a:r>
              <a:rPr lang="fr" sz="1602" b="1" noProof="0">
                <a:solidFill>
                  <a:srgbClr val="17325E"/>
                </a:solidFill>
                <a:latin typeface="Calibri" pitchFamily="34" charset="0"/>
                <a:ea typeface="Calibri" pitchFamily="34" charset="-122"/>
                <a:cs typeface="Calibri" pitchFamily="34" charset="-120"/>
              </a:rPr>
              <a:t>Symptômes intestinaux : </a:t>
            </a:r>
            <a:r>
              <a:rPr lang="fr" sz="1602" noProof="0">
                <a:solidFill>
                  <a:srgbClr val="17325E"/>
                </a:solidFill>
                <a:latin typeface="Calibri" pitchFamily="34" charset="0"/>
                <a:ea typeface="Calibri" pitchFamily="34" charset="-122"/>
                <a:cs typeface="Calibri" pitchFamily="34" charset="-120"/>
              </a:rPr>
              <a:t>Obstruction, constipation, diarrhée, nausées et vomissements sont fréquents mais peuvent souvent être traités.</a:t>
            </a:r>
          </a:p>
          <a:p>
            <a:pPr marL="0" indent="0">
              <a:lnSpc>
                <a:spcPct val="105000"/>
              </a:lnSpc>
              <a:spcAft>
                <a:spcPts val="600"/>
              </a:spcAft>
              <a:buNone/>
            </a:pPr>
            <a:r>
              <a:rPr lang="fr" sz="1602" b="1" noProof="0">
                <a:solidFill>
                  <a:srgbClr val="17325E"/>
                </a:solidFill>
                <a:latin typeface="Calibri" pitchFamily="34" charset="0"/>
                <a:ea typeface="Calibri" pitchFamily="34" charset="-122"/>
                <a:cs typeface="Calibri" pitchFamily="34" charset="-120"/>
              </a:rPr>
              <a:t>Nutrition et fatigue : </a:t>
            </a:r>
            <a:r>
              <a:rPr lang="fr" sz="1602" noProof="0">
                <a:solidFill>
                  <a:srgbClr val="17325E"/>
                </a:solidFill>
                <a:latin typeface="Calibri" pitchFamily="34" charset="0"/>
                <a:ea typeface="Calibri" pitchFamily="34" charset="-122"/>
                <a:cs typeface="Calibri" pitchFamily="34" charset="-120"/>
              </a:rPr>
              <a:t>Encouragez de petits repas acceptables, une hydratation adéquate et un rythme réaliste des activités.</a:t>
            </a:r>
          </a:p>
          <a:p>
            <a:pPr marL="0" indent="0">
              <a:lnSpc>
                <a:spcPct val="105000"/>
              </a:lnSpc>
              <a:spcAft>
                <a:spcPts val="600"/>
              </a:spcAft>
              <a:buNone/>
            </a:pPr>
            <a:r>
              <a:rPr lang="fr" sz="1602" b="1" noProof="0">
                <a:solidFill>
                  <a:srgbClr val="17325E"/>
                </a:solidFill>
                <a:latin typeface="Calibri" pitchFamily="34" charset="0"/>
                <a:ea typeface="Calibri" pitchFamily="34" charset="-122"/>
                <a:cs typeface="Calibri" pitchFamily="34" charset="-120"/>
              </a:rPr>
              <a:t>Famille et communication : </a:t>
            </a:r>
            <a:r>
              <a:rPr lang="fr" sz="1602" noProof="0">
                <a:solidFill>
                  <a:srgbClr val="17325E"/>
                </a:solidFill>
                <a:latin typeface="Calibri" pitchFamily="34" charset="0"/>
                <a:ea typeface="Calibri" pitchFamily="34" charset="-122"/>
                <a:cs typeface="Calibri" pitchFamily="34" charset="-120"/>
              </a:rPr>
              <a:t>Fournissez aux familles des informations claires et honnêtes, un contact pour l'aide et des conseils sur les symptômes nécessitant des soins urgents.</a:t>
            </a:r>
          </a:p>
        </p:txBody>
      </p:sp>
      <p:pic>
        <p:nvPicPr>
          <p:cNvPr id="8" name="Imagen 7">
            <a:extLst>
              <a:ext uri="{FF2B5EF4-FFF2-40B4-BE49-F238E27FC236}">
                <a16:creationId xmlns:a16="http://schemas.microsoft.com/office/drawing/2014/main" id="{0CAF1B5C-BCEA-1A8C-DA7A-C4A1A7D35CC3}"/>
              </a:ext>
            </a:extLst>
          </p:cNvPr>
          <p:cNvPicPr>
            <a:picLocks noChangeAspect="1"/>
          </p:cNvPicPr>
          <p:nvPr/>
        </p:nvPicPr>
        <p:blipFill>
          <a:blip r:embed="rId3"/>
          <a:stretch>
            <a:fillRect/>
          </a:stretch>
        </p:blipFill>
        <p:spPr>
          <a:xfrm>
            <a:off x="6585152" y="1168654"/>
            <a:ext cx="5270500" cy="52705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Qualité de vie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148022"/>
            <a:ext cx="5547360" cy="5234490"/>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51697" y="1216537"/>
            <a:ext cx="5141246" cy="4404575"/>
          </a:xfrm>
          <a:prstGeom prst="rect">
            <a:avLst/>
          </a:prstGeom>
          <a:noFill/>
          <a:ln/>
        </p:spPr>
        <p:txBody>
          <a:bodyPr wrap="square" lIns="0" tIns="0" rIns="0" bIns="0" rtlCol="0" anchor="t">
            <a:noAutofit/>
          </a:bodyPr>
          <a:lstStyle/>
          <a:p>
            <a:pPr lvl="0">
              <a:spcAft>
                <a:spcPts val="600"/>
              </a:spcAft>
            </a:pPr>
            <a:r>
              <a:rPr lang="fr" sz="1530" b="1" noProof="0" dirty="0">
                <a:solidFill>
                  <a:schemeClr val="accent1">
                    <a:lumMod val="50000"/>
                  </a:schemeClr>
                </a:solidFill>
              </a:rPr>
              <a:t>Fonction intestinale : Le traitement peut provoquer une urgence, des selles fréquentes ou un</a:t>
            </a:r>
            <a:r>
              <a:rPr lang="fr" sz="1530" b="1" noProof="0" dirty="0">
                <a:solidFill>
                  <a:srgbClr val="FF0000"/>
                </a:solidFill>
              </a:rPr>
              <a:t>e </a:t>
            </a:r>
            <a:r>
              <a:rPr lang="fr" sz="1530" b="1" noProof="0" dirty="0">
                <a:solidFill>
                  <a:schemeClr val="accent1">
                    <a:lumMod val="50000"/>
                  </a:schemeClr>
                </a:solidFill>
              </a:rPr>
              <a:t>sensation d'évacuation incomplète, affectant la confiance en soi et les activités quotidiennes.</a:t>
            </a:r>
          </a:p>
          <a:p>
            <a:pPr lvl="0">
              <a:spcAft>
                <a:spcPts val="600"/>
              </a:spcAft>
            </a:pPr>
            <a:r>
              <a:rPr lang="fr" sz="1530" b="1" noProof="0" dirty="0">
                <a:solidFill>
                  <a:schemeClr val="accent1">
                    <a:lumMod val="50000"/>
                  </a:schemeClr>
                </a:solidFill>
              </a:rPr>
              <a:t>Alimentation et nutrition :</a:t>
            </a:r>
            <a:r>
              <a:rPr lang="fr" sz="1530" noProof="0" dirty="0">
                <a:solidFill>
                  <a:schemeClr val="accent1">
                    <a:lumMod val="50000"/>
                  </a:schemeClr>
                </a:solidFill>
              </a:rPr>
              <a:t> Surveillez l'appétit, le poids, l'hydratation et les aliments tolérés ; impliquez la famille ou les aidants dans le soutien nutritionnel.</a:t>
            </a:r>
          </a:p>
          <a:p>
            <a:pPr lvl="0">
              <a:spcAft>
                <a:spcPts val="600"/>
              </a:spcAft>
            </a:pPr>
            <a:r>
              <a:rPr lang="fr" sz="1530" b="1" noProof="0" dirty="0">
                <a:solidFill>
                  <a:schemeClr val="accent1">
                    <a:lumMod val="50000"/>
                  </a:schemeClr>
                </a:solidFill>
              </a:rPr>
              <a:t>Santé sexuelle et image corporelle :</a:t>
            </a:r>
            <a:r>
              <a:rPr lang="fr" sz="1530" noProof="0" dirty="0">
                <a:solidFill>
                  <a:schemeClr val="accent1">
                    <a:lumMod val="50000"/>
                  </a:schemeClr>
                </a:solidFill>
              </a:rPr>
              <a:t> Discutez de manière sensible et sans stigmatisation, surtout après une chirurgie rectale, une radiothérapie ou la formation d'une stomie.</a:t>
            </a:r>
          </a:p>
          <a:p>
            <a:pPr lvl="0">
              <a:spcAft>
                <a:spcPts val="600"/>
              </a:spcAft>
            </a:pPr>
            <a:r>
              <a:rPr lang="fr" sz="1530" b="1" noProof="0" dirty="0">
                <a:solidFill>
                  <a:schemeClr val="accent1">
                    <a:lumMod val="50000"/>
                  </a:schemeClr>
                </a:solidFill>
              </a:rPr>
              <a:t>Bien-être émotionnel :</a:t>
            </a:r>
            <a:r>
              <a:rPr lang="fr" sz="1530" noProof="0" dirty="0">
                <a:solidFill>
                  <a:schemeClr val="accent1">
                    <a:lumMod val="50000"/>
                  </a:schemeClr>
                </a:solidFill>
              </a:rPr>
              <a:t> Demandez à propos de l'anxiété, y compris la peur d'une récidive, et apportez un soutien approprié.</a:t>
            </a:r>
          </a:p>
          <a:p>
            <a:pPr lvl="0">
              <a:spcAft>
                <a:spcPts val="600"/>
              </a:spcAft>
            </a:pPr>
            <a:r>
              <a:rPr lang="fr" sz="1530" b="1" noProof="0" dirty="0">
                <a:solidFill>
                  <a:schemeClr val="accent1">
                    <a:lumMod val="50000"/>
                  </a:schemeClr>
                </a:solidFill>
              </a:rPr>
              <a:t>Travail et vie quotidienne :</a:t>
            </a:r>
            <a:r>
              <a:rPr lang="fr" sz="1530" noProof="0" dirty="0">
                <a:solidFill>
                  <a:schemeClr val="accent1">
                    <a:lumMod val="50000"/>
                  </a:schemeClr>
                </a:solidFill>
              </a:rPr>
              <a:t> Prenez en compte les interruptions de travail, les coûts de transport, les finances et la charge pratique du traitement pour le foyer.</a:t>
            </a:r>
          </a:p>
          <a:p>
            <a:pPr lvl="0">
              <a:spcAft>
                <a:spcPts val="600"/>
              </a:spcAft>
            </a:pPr>
            <a:r>
              <a:rPr lang="fr" sz="1530" b="1" noProof="0" dirty="0">
                <a:solidFill>
                  <a:schemeClr val="accent1">
                    <a:lumMod val="50000"/>
                  </a:schemeClr>
                </a:solidFill>
              </a:rPr>
              <a:t>Dignité : protégez la vie privée du patient, expliquez clairement les soins et communiquez toujours avec respect, sans reproches ni jugement.</a:t>
            </a:r>
          </a:p>
        </p:txBody>
      </p:sp>
      <p:pic>
        <p:nvPicPr>
          <p:cNvPr id="6" name="Imagen 5">
            <a:extLst>
              <a:ext uri="{FF2B5EF4-FFF2-40B4-BE49-F238E27FC236}">
                <a16:creationId xmlns:a16="http://schemas.microsoft.com/office/drawing/2014/main" id="{3F8B12C6-2C5A-46CB-A018-36357A7B76C7}"/>
              </a:ext>
            </a:extLst>
          </p:cNvPr>
          <p:cNvPicPr>
            <a:picLocks noChangeAspect="1"/>
          </p:cNvPicPr>
          <p:nvPr/>
        </p:nvPicPr>
        <p:blipFill>
          <a:blip r:embed="rId3"/>
          <a:stretch>
            <a:fillRect/>
          </a:stretch>
        </p:blipFill>
        <p:spPr>
          <a:xfrm>
            <a:off x="6226556" y="822960"/>
            <a:ext cx="5724144" cy="5724144"/>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07B7D872-3C84-E74B-5ABA-41940BA15DCD}"/>
              </a:ext>
            </a:extLst>
          </p:cNvPr>
          <p:cNvPicPr>
            <a:picLocks noChangeAspect="1"/>
          </p:cNvPicPr>
          <p:nvPr/>
        </p:nvPicPr>
        <p:blipFill>
          <a:blip r:embed="rId3"/>
          <a:stretch>
            <a:fillRect/>
          </a:stretch>
        </p:blipFill>
        <p:spPr>
          <a:xfrm>
            <a:off x="6259772" y="1149057"/>
            <a:ext cx="5073636" cy="5073636"/>
          </a:xfrm>
          <a:prstGeom prst="rect">
            <a:avLst/>
          </a:prstGeom>
        </p:spPr>
      </p:pic>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Suivi après traitement</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noAutofit/>
          </a:bodyPr>
          <a:lstStyle/>
          <a:p>
            <a:pPr marL="0" indent="0" algn="l">
              <a:buNone/>
            </a:pPr>
            <a:r>
              <a:rPr lang="fr" sz="87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870" noProof="0" dirty="0"/>
          </a:p>
        </p:txBody>
      </p:sp>
      <p:sp>
        <p:nvSpPr>
          <p:cNvPr id="5" name="Shape 3"/>
          <p:cNvSpPr/>
          <p:nvPr/>
        </p:nvSpPr>
        <p:spPr>
          <a:xfrm>
            <a:off x="548640" y="1225296"/>
            <a:ext cx="5547360" cy="4919472"/>
          </a:xfrm>
          <a:prstGeom prst="roundRect">
            <a:avLst>
              <a:gd name="adj" fmla="val 4444"/>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06621" y="1316736"/>
            <a:ext cx="5231398" cy="4005071"/>
          </a:xfrm>
          <a:prstGeom prst="rect">
            <a:avLst/>
          </a:prstGeom>
          <a:noFill/>
          <a:ln/>
        </p:spPr>
        <p:txBody>
          <a:bodyPr wrap="square" lIns="0" tIns="0" rIns="0" bIns="0" rtlCol="0" anchor="t">
            <a:noAutofit/>
          </a:bodyPr>
          <a:lstStyle/>
          <a:p>
            <a:pPr lvl="0">
              <a:spcAft>
                <a:spcPts val="600"/>
              </a:spcAft>
            </a:pPr>
            <a:r>
              <a:rPr lang="fr" sz="1496" b="1" noProof="0">
                <a:solidFill>
                  <a:schemeClr val="accent1">
                    <a:lumMod val="50000"/>
                  </a:schemeClr>
                </a:solidFill>
              </a:rPr>
              <a:t>Surveillez la récupération :</a:t>
            </a:r>
            <a:r>
              <a:rPr lang="fr" sz="1496" noProof="0">
                <a:solidFill>
                  <a:schemeClr val="accent1">
                    <a:lumMod val="50000"/>
                  </a:schemeClr>
                </a:solidFill>
              </a:rPr>
              <a:t> vérifiez la cicatrisation, la fonction intestinale, le poids et le retour à des activités normales.</a:t>
            </a:r>
          </a:p>
          <a:p>
            <a:pPr lvl="0">
              <a:spcAft>
                <a:spcPts val="600"/>
              </a:spcAft>
            </a:pPr>
            <a:r>
              <a:rPr lang="fr" sz="1496" b="1" noProof="0">
                <a:solidFill>
                  <a:schemeClr val="accent1">
                    <a:lumMod val="50000"/>
                  </a:schemeClr>
                </a:solidFill>
              </a:rPr>
              <a:t>Gérez les effets durables :</a:t>
            </a:r>
            <a:r>
              <a:rPr lang="fr" sz="1496" noProof="0">
                <a:solidFill>
                  <a:schemeClr val="accent1">
                    <a:lumMod val="50000"/>
                  </a:schemeClr>
                </a:solidFill>
              </a:rPr>
              <a:t> Continuez à évaluer et traiter des problèmes tels que la neuropathie, les modifications intestinales et la fatigue.</a:t>
            </a:r>
          </a:p>
          <a:p>
            <a:pPr lvl="0">
              <a:spcAft>
                <a:spcPts val="600"/>
              </a:spcAft>
            </a:pPr>
            <a:r>
              <a:rPr lang="fr" sz="1496" b="1" noProof="0">
                <a:solidFill>
                  <a:schemeClr val="accent1">
                    <a:lumMod val="50000"/>
                  </a:schemeClr>
                </a:solidFill>
              </a:rPr>
              <a:t>Détecter la récidive :</a:t>
            </a:r>
            <a:r>
              <a:rPr lang="fr" sz="1496" noProof="0">
                <a:solidFill>
                  <a:schemeClr val="accent1">
                    <a:lumMod val="50000"/>
                  </a:schemeClr>
                </a:solidFill>
              </a:rPr>
              <a:t> Le suivi vise à identifier la récidive du cancer tôt, lorsque le traitement supplémentaire peut encore être possible.</a:t>
            </a:r>
          </a:p>
          <a:p>
            <a:pPr lvl="0">
              <a:spcAft>
                <a:spcPts val="600"/>
              </a:spcAft>
            </a:pPr>
            <a:r>
              <a:rPr lang="fr" sz="1496" b="1" noProof="0">
                <a:solidFill>
                  <a:schemeClr val="accent1">
                    <a:lumMod val="50000"/>
                  </a:schemeClr>
                </a:solidFill>
              </a:rPr>
              <a:t>Poursuivre la surveillance intestinale : Les personnes ayant déjà eu un cancer colorectal ou des adénomes restent à risque accru et nécessitent des examens intestinaux programmés.</a:t>
            </a:r>
          </a:p>
          <a:p>
            <a:pPr lvl="0">
              <a:spcAft>
                <a:spcPts val="600"/>
              </a:spcAft>
            </a:pPr>
            <a:r>
              <a:rPr lang="fr" sz="1496" b="1" noProof="0">
                <a:solidFill>
                  <a:schemeClr val="accent1">
                    <a:lumMod val="50000"/>
                  </a:schemeClr>
                </a:solidFill>
              </a:rPr>
              <a:t>Soutenez la personne dans son ensemble : abordez la nutrition, le bien-être émotionnel et social, et reprise du travail en parallèle avec un suivi médical.</a:t>
            </a:r>
          </a:p>
          <a:p>
            <a:pPr lvl="0">
              <a:spcAft>
                <a:spcPts val="600"/>
              </a:spcAft>
            </a:pPr>
            <a:r>
              <a:rPr lang="fr" sz="1496" b="1" noProof="0">
                <a:solidFill>
                  <a:schemeClr val="accent1">
                    <a:lumMod val="50000"/>
                  </a:schemeClr>
                </a:solidFill>
              </a:rPr>
              <a:t>Signalez rapidement les nouveaux symptômes :</a:t>
            </a:r>
            <a:r>
              <a:rPr lang="fr" sz="1496" noProof="0">
                <a:solidFill>
                  <a:schemeClr val="accent1">
                    <a:lumMod val="50000"/>
                  </a:schemeClr>
                </a:solidFill>
              </a:rPr>
              <a:t> Les nouveaux saignements, les changements dans les habitudes intestinales, la douleur ou la perte de poids inexpliquée doivent être évalués plutôt que d'attendre.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200" b="1" noProof="0">
                <a:solidFill>
                  <a:srgbClr val="0E2E5C"/>
                </a:solidFill>
                <a:latin typeface="Cambria" pitchFamily="34" charset="0"/>
                <a:ea typeface="Cambria" pitchFamily="34" charset="-122"/>
                <a:cs typeface="Cambria" pitchFamily="34" charset="-120"/>
              </a:rPr>
              <a:t>Appliquez-le</a:t>
            </a:r>
            <a:endParaRPr lang="en-US" sz="32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Shape 3"/>
          <p:cNvSpPr/>
          <p:nvPr/>
        </p:nvSpPr>
        <p:spPr>
          <a:xfrm>
            <a:off x="548640" y="1371600"/>
            <a:ext cx="11094415" cy="868680"/>
          </a:xfrm>
          <a:prstGeom prst="roundRect">
            <a:avLst>
              <a:gd name="adj" fmla="val 10526"/>
            </a:avLst>
          </a:prstGeom>
          <a:solidFill>
            <a:srgbClr val="FFF7E3"/>
          </a:solidFill>
          <a:ln w="15875">
            <a:solidFill>
              <a:srgbClr val="E3C173"/>
            </a:solidFill>
            <a:prstDash val="solid"/>
          </a:ln>
        </p:spPr>
        <p:txBody>
          <a:bodyPr/>
          <a:lstStyle/>
          <a:p>
            <a:endParaRPr lang="en-US" noProof="0" dirty="0"/>
          </a:p>
        </p:txBody>
      </p:sp>
      <p:sp>
        <p:nvSpPr>
          <p:cNvPr id="6" name="Text 4"/>
          <p:cNvSpPr/>
          <p:nvPr/>
        </p:nvSpPr>
        <p:spPr>
          <a:xfrm>
            <a:off x="731520" y="1426464"/>
            <a:ext cx="10728655" cy="758952"/>
          </a:xfrm>
          <a:prstGeom prst="rect">
            <a:avLst/>
          </a:prstGeom>
          <a:noFill/>
          <a:ln/>
        </p:spPr>
        <p:txBody>
          <a:bodyPr wrap="square" rtlCol="0" anchor="ctr"/>
          <a:lstStyle/>
          <a:p>
            <a:pPr marL="0" indent="0">
              <a:buNone/>
            </a:pPr>
            <a:r>
              <a:rPr lang="fr" sz="1800" b="1" noProof="0">
                <a:solidFill>
                  <a:srgbClr val="9A5B00"/>
                </a:solidFill>
                <a:latin typeface="Calibri" pitchFamily="34" charset="0"/>
                <a:ea typeface="Calibri" pitchFamily="34" charset="-122"/>
                <a:cs typeface="Calibri" pitchFamily="34" charset="-120"/>
              </a:rPr>
              <a:t>Scénario : Un homme dix jours après le début d'un cycle de chimiothérapie après une chirurgie colorectale rapporte de la fièvre, frissons et aggravation brutale de l'état général.</a:t>
            </a:r>
            <a:endParaRPr lang="en-US" sz="1800" noProof="0" dirty="0"/>
          </a:p>
        </p:txBody>
      </p:sp>
      <p:sp>
        <p:nvSpPr>
          <p:cNvPr id="7" name="Text 5"/>
          <p:cNvSpPr/>
          <p:nvPr/>
        </p:nvSpPr>
        <p:spPr>
          <a:xfrm>
            <a:off x="548640" y="2468880"/>
            <a:ext cx="7772400" cy="365760"/>
          </a:xfrm>
          <a:prstGeom prst="rect">
            <a:avLst/>
          </a:prstGeom>
          <a:noFill/>
          <a:ln/>
        </p:spPr>
        <p:txBody>
          <a:bodyPr wrap="square" lIns="0" tIns="0" rIns="0" bIns="0" rtlCol="0" anchor="ctr"/>
          <a:lstStyle/>
          <a:p>
            <a:pPr marL="0" indent="0">
              <a:buNone/>
            </a:pPr>
            <a:r>
              <a:rPr lang="fr" sz="2000" b="1" noProof="0">
                <a:solidFill>
                  <a:srgbClr val="0E2E5C"/>
                </a:solidFill>
                <a:latin typeface="Calibri" pitchFamily="34" charset="0"/>
                <a:ea typeface="Calibri" pitchFamily="34" charset="-122"/>
                <a:cs typeface="Calibri" pitchFamily="34" charset="-120"/>
              </a:rPr>
              <a:t>Quelle est la priorité ?</a:t>
            </a:r>
            <a:endParaRPr lang="en-US" sz="2000" noProof="0" dirty="0"/>
          </a:p>
        </p:txBody>
      </p:sp>
      <p:sp>
        <p:nvSpPr>
          <p:cNvPr id="8" name="Shape 6"/>
          <p:cNvSpPr/>
          <p:nvPr/>
        </p:nvSpPr>
        <p:spPr>
          <a:xfrm>
            <a:off x="548640" y="2926080"/>
            <a:ext cx="7772400" cy="566928"/>
          </a:xfrm>
          <a:prstGeom prst="roundRect">
            <a:avLst>
              <a:gd name="adj" fmla="val 12903"/>
            </a:avLst>
          </a:prstGeom>
          <a:solidFill>
            <a:srgbClr val="F3F7FC"/>
          </a:solidFill>
          <a:ln w="15875">
            <a:solidFill>
              <a:srgbClr val="C9DCF2"/>
            </a:solidFill>
            <a:prstDash val="solid"/>
          </a:ln>
        </p:spPr>
        <p:txBody>
          <a:bodyPr/>
          <a:lstStyle/>
          <a:p>
            <a:endParaRPr lang="en-US" noProof="0" dirty="0"/>
          </a:p>
        </p:txBody>
      </p:sp>
      <p:sp>
        <p:nvSpPr>
          <p:cNvPr id="9" name="Text 7"/>
          <p:cNvSpPr/>
          <p:nvPr/>
        </p:nvSpPr>
        <p:spPr>
          <a:xfrm>
            <a:off x="713232" y="2926080"/>
            <a:ext cx="7461504" cy="566928"/>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A   </a:t>
            </a:r>
            <a:r>
              <a:rPr lang="fr" sz="1700" noProof="0">
                <a:solidFill>
                  <a:srgbClr val="17325E"/>
                </a:solidFill>
                <a:latin typeface="Calibri" pitchFamily="34" charset="0"/>
                <a:ea typeface="Calibri" pitchFamily="34" charset="-122"/>
                <a:cs typeface="Calibri" pitchFamily="34" charset="-120"/>
              </a:rPr>
              <a:t>: Conseillez le paracétamol et révisez dans une semaine</a:t>
            </a:r>
            <a:endParaRPr lang="en-US" sz="1700" noProof="0" dirty="0"/>
          </a:p>
        </p:txBody>
      </p:sp>
      <p:sp>
        <p:nvSpPr>
          <p:cNvPr id="10" name="Shape 8"/>
          <p:cNvSpPr/>
          <p:nvPr/>
        </p:nvSpPr>
        <p:spPr>
          <a:xfrm>
            <a:off x="548640" y="3584448"/>
            <a:ext cx="7772400" cy="566928"/>
          </a:xfrm>
          <a:prstGeom prst="roundRect">
            <a:avLst>
              <a:gd name="adj" fmla="val 12903"/>
            </a:avLst>
          </a:prstGeom>
          <a:solidFill>
            <a:srgbClr val="F3F7FC"/>
          </a:solidFill>
          <a:ln w="15875">
            <a:solidFill>
              <a:srgbClr val="9BCBB4"/>
            </a:solidFill>
            <a:prstDash val="solid"/>
          </a:ln>
        </p:spPr>
        <p:txBody>
          <a:bodyPr/>
          <a:lstStyle/>
          <a:p>
            <a:endParaRPr lang="en-US" noProof="0" dirty="0"/>
          </a:p>
        </p:txBody>
      </p:sp>
      <p:sp>
        <p:nvSpPr>
          <p:cNvPr id="11" name="Text 9"/>
          <p:cNvSpPr/>
          <p:nvPr/>
        </p:nvSpPr>
        <p:spPr>
          <a:xfrm>
            <a:off x="713232" y="3584448"/>
            <a:ext cx="7461504" cy="566928"/>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B   </a:t>
            </a:r>
            <a:r>
              <a:rPr lang="fr" sz="1700" noProof="0">
                <a:solidFill>
                  <a:srgbClr val="17325E"/>
                </a:solidFill>
                <a:latin typeface="Calibri" pitchFamily="34" charset="0"/>
                <a:ea typeface="Calibri" pitchFamily="34" charset="-122"/>
                <a:cs typeface="Calibri" pitchFamily="34" charset="-120"/>
              </a:rPr>
              <a:t>Conseiller uniquement du repos et davantage de liquides</a:t>
            </a:r>
            <a:endParaRPr lang="en-US" sz="1700" noProof="0" dirty="0"/>
          </a:p>
        </p:txBody>
      </p:sp>
      <p:sp>
        <p:nvSpPr>
          <p:cNvPr id="12" name="Shape 10"/>
          <p:cNvSpPr/>
          <p:nvPr/>
        </p:nvSpPr>
        <p:spPr>
          <a:xfrm>
            <a:off x="548640" y="4242816"/>
            <a:ext cx="7772400" cy="566928"/>
          </a:xfrm>
          <a:prstGeom prst="roundRect">
            <a:avLst>
              <a:gd name="adj" fmla="val 12903"/>
            </a:avLst>
          </a:prstGeom>
          <a:solidFill>
            <a:srgbClr val="EAF6F0"/>
          </a:solidFill>
          <a:ln w="15875">
            <a:solidFill>
              <a:srgbClr val="C9DCF2"/>
            </a:solidFill>
            <a:prstDash val="solid"/>
          </a:ln>
        </p:spPr>
        <p:txBody>
          <a:bodyPr/>
          <a:lstStyle/>
          <a:p>
            <a:endParaRPr lang="en-US" noProof="0" dirty="0"/>
          </a:p>
        </p:txBody>
      </p:sp>
      <p:sp>
        <p:nvSpPr>
          <p:cNvPr id="13" name="Text 11"/>
          <p:cNvSpPr/>
          <p:nvPr/>
        </p:nvSpPr>
        <p:spPr>
          <a:xfrm>
            <a:off x="713232" y="4242816"/>
            <a:ext cx="7461504" cy="566928"/>
          </a:xfrm>
          <a:prstGeom prst="rect">
            <a:avLst/>
          </a:prstGeom>
          <a:noFill/>
          <a:ln/>
        </p:spPr>
        <p:txBody>
          <a:bodyPr wrap="square" lIns="0" tIns="0" rIns="0" bIns="0" rtlCol="0" anchor="ctr"/>
          <a:lstStyle/>
          <a:p>
            <a:pPr marL="0" indent="0">
              <a:buNone/>
            </a:pPr>
            <a:r>
              <a:rPr lang="fr" sz="1700" b="1" noProof="0">
                <a:solidFill>
                  <a:srgbClr val="126647"/>
                </a:solidFill>
                <a:latin typeface="Calibri" pitchFamily="34" charset="0"/>
                <a:ea typeface="Calibri" pitchFamily="34" charset="-122"/>
                <a:cs typeface="Calibri" pitchFamily="34" charset="-120"/>
              </a:rPr>
              <a:t>C   Organiser une évaluation urgente pour une possible infection neutropénique   ✓</a:t>
            </a:r>
            <a:endParaRPr lang="en-US" sz="1700" noProof="0" dirty="0"/>
          </a:p>
        </p:txBody>
      </p:sp>
      <p:sp>
        <p:nvSpPr>
          <p:cNvPr id="14" name="Shape 12"/>
          <p:cNvSpPr/>
          <p:nvPr/>
        </p:nvSpPr>
        <p:spPr>
          <a:xfrm>
            <a:off x="548640" y="4901184"/>
            <a:ext cx="7772400" cy="566928"/>
          </a:xfrm>
          <a:prstGeom prst="roundRect">
            <a:avLst>
              <a:gd name="adj" fmla="val 12903"/>
            </a:avLst>
          </a:prstGeom>
          <a:solidFill>
            <a:srgbClr val="F3F7FC"/>
          </a:solidFill>
          <a:ln w="15875">
            <a:solidFill>
              <a:srgbClr val="C9DCF2"/>
            </a:solidFill>
            <a:prstDash val="solid"/>
          </a:ln>
        </p:spPr>
        <p:txBody>
          <a:bodyPr/>
          <a:lstStyle/>
          <a:p>
            <a:endParaRPr lang="en-US" noProof="0" dirty="0"/>
          </a:p>
        </p:txBody>
      </p:sp>
      <p:sp>
        <p:nvSpPr>
          <p:cNvPr id="15" name="Text 13"/>
          <p:cNvSpPr/>
          <p:nvPr/>
        </p:nvSpPr>
        <p:spPr>
          <a:xfrm>
            <a:off x="713232" y="4901184"/>
            <a:ext cx="7461504" cy="566928"/>
          </a:xfrm>
          <a:prstGeom prst="rect">
            <a:avLst/>
          </a:prstGeom>
          <a:noFill/>
          <a:ln/>
        </p:spPr>
        <p:txBody>
          <a:bodyPr wrap="square" lIns="0" tIns="0" rIns="0" bIns="0" rtlCol="0" anchor="ctr"/>
          <a:lstStyle/>
          <a:p>
            <a:pPr marL="0" indent="0">
              <a:buNone/>
            </a:pPr>
            <a:r>
              <a:rPr lang="fr" sz="1700" b="1" noProof="0">
                <a:solidFill>
                  <a:srgbClr val="1F4E96"/>
                </a:solidFill>
                <a:latin typeface="Calibri" pitchFamily="34" charset="0"/>
                <a:ea typeface="Calibri" pitchFamily="34" charset="-122"/>
                <a:cs typeface="Calibri" pitchFamily="34" charset="-120"/>
              </a:rPr>
              <a:t>D   </a:t>
            </a:r>
            <a:r>
              <a:rPr lang="fr" sz="1700" noProof="0">
                <a:solidFill>
                  <a:srgbClr val="17325E"/>
                </a:solidFill>
                <a:latin typeface="Calibri" pitchFamily="34" charset="0"/>
                <a:ea typeface="Calibri" pitchFamily="34" charset="-122"/>
                <a:cs typeface="Calibri" pitchFamily="34" charset="-120"/>
              </a:rPr>
              <a:t>Arrêter la chimiothérapie et ne pas prendre d'autre mesure</a:t>
            </a:r>
            <a:endParaRPr lang="en-US" sz="1700" noProof="0" dirty="0"/>
          </a:p>
        </p:txBody>
      </p:sp>
      <p:sp>
        <p:nvSpPr>
          <p:cNvPr id="16" name="Shape 14"/>
          <p:cNvSpPr/>
          <p:nvPr/>
        </p:nvSpPr>
        <p:spPr>
          <a:xfrm>
            <a:off x="8595360" y="2926080"/>
            <a:ext cx="3047695" cy="2834640"/>
          </a:xfrm>
          <a:prstGeom prst="roundRect">
            <a:avLst>
              <a:gd name="adj" fmla="val 3226"/>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8759952" y="3072384"/>
            <a:ext cx="2718511" cy="365760"/>
          </a:xfrm>
          <a:prstGeom prst="rect">
            <a:avLst/>
          </a:prstGeom>
          <a:noFill/>
          <a:ln/>
        </p:spPr>
        <p:txBody>
          <a:bodyPr wrap="square" lIns="0" tIns="0" rIns="0" bIns="0" rtlCol="0" anchor="ctr"/>
          <a:lstStyle/>
          <a:p>
            <a:pPr marL="0" indent="0">
              <a:buNone/>
            </a:pPr>
            <a:r>
              <a:rPr lang="fr" sz="1800" b="1" noProof="0">
                <a:solidFill>
                  <a:srgbClr val="126647"/>
                </a:solidFill>
                <a:latin typeface="Calibri" pitchFamily="34" charset="0"/>
                <a:ea typeface="Calibri" pitchFamily="34" charset="-122"/>
                <a:cs typeface="Calibri" pitchFamily="34" charset="-120"/>
              </a:rPr>
              <a:t>Bonne réponse : C</a:t>
            </a:r>
            <a:endParaRPr lang="en-US" sz="1800" noProof="0" dirty="0"/>
          </a:p>
        </p:txBody>
      </p:sp>
      <p:sp>
        <p:nvSpPr>
          <p:cNvPr id="18" name="Text 16"/>
          <p:cNvSpPr/>
          <p:nvPr/>
        </p:nvSpPr>
        <p:spPr>
          <a:xfrm>
            <a:off x="8759952" y="3511296"/>
            <a:ext cx="2718511" cy="2121408"/>
          </a:xfrm>
          <a:prstGeom prst="rect">
            <a:avLst/>
          </a:prstGeom>
          <a:noFill/>
          <a:ln/>
        </p:spPr>
        <p:txBody>
          <a:bodyPr wrap="square" lIns="0" tIns="0" rIns="0" bIns="0" rtlCol="0" anchor="t"/>
          <a:lstStyle/>
          <a:p>
            <a:pPr marL="0" indent="0">
              <a:buNone/>
            </a:pPr>
            <a:r>
              <a:rPr lang="fr" sz="1500" noProof="0">
                <a:solidFill>
                  <a:srgbClr val="17325E"/>
                </a:solidFill>
                <a:latin typeface="Calibri" pitchFamily="34" charset="0"/>
                <a:ea typeface="Calibri" pitchFamily="34" charset="-122"/>
                <a:cs typeface="Calibri" pitchFamily="34" charset="-120"/>
              </a:rPr>
              <a:t>La fièvre pendant la chimiothérapie peut indiquer une infection avec un faible taux de neutrophiles, qui peut se détériorer très rapidement. Organisez une évaluation urgente et contactez l'équipe soignante le jour même. N'attendez pas de voir si la fièvre se calme.</a:t>
            </a:r>
            <a:endParaRPr lang="en-US" sz="1500" noProof="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(1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 Les soins palliatifs sont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A. Soulagement des symptômes et qualité de vie, accompagnés d'un traitement lorsque cela est approprié</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Seulement pour les derniers jours de sa vie</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C'est la même chose que d'arrêter le traitement</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Seulement des antidouleurs</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Les soins palliatifs se concentrent sur les symptômes, la fonction et le soutien, et peuvent être associés à un traitement anticancéreux.</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Q2. Lequel de ces éléments nécessite une évaluation urgente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Fatigue légère lors de la deuxième semaine de chimiothérapie</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Léger amincissement des cheveux</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Légère sécheresse cutanée dans la zone irradiée</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D. Distension et vomissements sans passage de selles ni de gaz</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Cela suggère une obstruction intestinale, ce qui est une urgence.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(2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Q3. Une personne avec une stomie a la peau douloureuse et cassée autour. Vous devriez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A. </a:t>
            </a:r>
            <a:r>
              <a:rPr lang="fr" sz="1275" noProof="0">
                <a:solidFill>
                  <a:srgbClr val="17325E"/>
                </a:solidFill>
                <a:latin typeface="Calibri" pitchFamily="34" charset="0"/>
                <a:ea typeface="Calibri" pitchFamily="34" charset="-122"/>
                <a:cs typeface="Calibri" pitchFamily="34" charset="-120"/>
              </a:rPr>
              <a:t>Conseiller que c'est normal et attendu</a:t>
            </a:r>
            <a:endParaRPr lang="en-US" sz="127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B. </a:t>
            </a:r>
            <a:r>
              <a:rPr lang="fr" sz="1275" noProof="0">
                <a:solidFill>
                  <a:srgbClr val="17325E"/>
                </a:solidFill>
                <a:latin typeface="Calibri" pitchFamily="34" charset="0"/>
                <a:ea typeface="Calibri" pitchFamily="34" charset="-122"/>
                <a:cs typeface="Calibri" pitchFamily="34" charset="-120"/>
              </a:rPr>
              <a:t>Conseille de laisser la poche retirée</a:t>
            </a:r>
            <a:endParaRPr lang="en-US" sz="1275" noProof="0" dirty="0"/>
          </a:p>
        </p:txBody>
      </p:sp>
      <p:sp>
        <p:nvSpPr>
          <p:cNvPr id="10" name="Shape 8"/>
          <p:cNvSpPr/>
          <p:nvPr/>
        </p:nvSpPr>
        <p:spPr>
          <a:xfrm>
            <a:off x="548640"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75" b="1" noProof="0">
                <a:solidFill>
                  <a:srgbClr val="126647"/>
                </a:solidFill>
                <a:latin typeface="Calibri" pitchFamily="34" charset="0"/>
                <a:ea typeface="Calibri" pitchFamily="34" charset="-122"/>
                <a:cs typeface="Calibri" pitchFamily="34" charset="-120"/>
              </a:rPr>
              <a:t>C. Organisez une évaluation et une revue de l'appareil et des soins de la peau</a:t>
            </a:r>
            <a:endParaRPr lang="en-US" sz="127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D. </a:t>
            </a:r>
            <a:r>
              <a:rPr lang="fr" sz="1275" noProof="0">
                <a:solidFill>
                  <a:srgbClr val="17325E"/>
                </a:solidFill>
                <a:latin typeface="Calibri" pitchFamily="34" charset="0"/>
                <a:ea typeface="Calibri" pitchFamily="34" charset="-122"/>
                <a:cs typeface="Calibri" pitchFamily="34" charset="-120"/>
              </a:rPr>
              <a:t>Réduire l'apport en liquides</a:t>
            </a:r>
            <a:endParaRPr lang="en-US" sz="127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a:t>
            </a:r>
            <a:r>
              <a:rPr lang="fr" sz="1500" i="1" noProof="0">
                <a:solidFill>
                  <a:srgbClr val="17325E"/>
                </a:solidFill>
                <a:latin typeface="Calibri" pitchFamily="34" charset="0"/>
                <a:ea typeface="Calibri" pitchFamily="34" charset="-122"/>
                <a:cs typeface="Calibri" pitchFamily="34" charset="-120"/>
              </a:rPr>
              <a:t>La dégradation cutanée autour d'une stomie est fréquente, traitable et mérite d'agir. Elle ne doit pas être tolérée.</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Q4. Un nouvel engourdissement et picotements dans les mains et les pieds pendant la thérapie systémique doivent être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A. </a:t>
            </a:r>
            <a:r>
              <a:rPr lang="fr" sz="1275" noProof="0">
                <a:solidFill>
                  <a:srgbClr val="17325E"/>
                </a:solidFill>
                <a:latin typeface="Calibri" pitchFamily="34" charset="0"/>
                <a:ea typeface="Calibri" pitchFamily="34" charset="-122"/>
                <a:cs typeface="Calibri" pitchFamily="34" charset="-120"/>
              </a:rPr>
              <a:t>Ignoré comme d'habitude</a:t>
            </a:r>
            <a:endParaRPr lang="en-US" sz="1275" noProof="0" dirty="0"/>
          </a:p>
        </p:txBody>
      </p:sp>
      <p:sp>
        <p:nvSpPr>
          <p:cNvPr id="18" name="Shape 16"/>
          <p:cNvSpPr/>
          <p:nvPr/>
        </p:nvSpPr>
        <p:spPr>
          <a:xfrm>
            <a:off x="6196432" y="4187952"/>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75" b="1" noProof="0">
                <a:solidFill>
                  <a:srgbClr val="126647"/>
                </a:solidFill>
                <a:latin typeface="Calibri" pitchFamily="34" charset="0"/>
                <a:ea typeface="Calibri" pitchFamily="34" charset="-122"/>
                <a:cs typeface="Calibri" pitchFamily="34" charset="-120"/>
              </a:rPr>
              <a:t>B. Signalé rapidement à l'équipe soignante</a:t>
            </a:r>
            <a:endParaRPr lang="en-US" sz="127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C. </a:t>
            </a:r>
            <a:r>
              <a:rPr lang="fr" sz="1275" noProof="0">
                <a:solidFill>
                  <a:srgbClr val="17325E"/>
                </a:solidFill>
                <a:latin typeface="Calibri" pitchFamily="34" charset="0"/>
                <a:ea typeface="Calibri" pitchFamily="34" charset="-122"/>
                <a:cs typeface="Calibri" pitchFamily="34" charset="-120"/>
              </a:rPr>
              <a:t>Traité uniquement avec du repos</a:t>
            </a:r>
            <a:endParaRPr lang="en-US" sz="127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D. </a:t>
            </a:r>
            <a:r>
              <a:rPr lang="fr" sz="1275" noProof="0">
                <a:solidFill>
                  <a:srgbClr val="17325E"/>
                </a:solidFill>
                <a:latin typeface="Calibri" pitchFamily="34" charset="0"/>
                <a:ea typeface="Calibri" pitchFamily="34" charset="-122"/>
                <a:cs typeface="Calibri" pitchFamily="34" charset="-120"/>
              </a:rPr>
              <a:t>Géré en arrêtant le suivi</a:t>
            </a:r>
            <a:endParaRPr lang="en-US" sz="127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Cela peut être une neuropathie périphérique, qui peut limiter la dose et devenir permanente si elle n'est pas prise en charge.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Test de connaissances (3 sur 3)</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Q5. Le suivi après le traitement du cancer colorectal comprend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Seulement des contrôles de cicatrisation</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Rien une fois le traitement terminé</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Répétition de l'opération initiale</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D. Surveillance de la récupération, gestion des effets et surveillance planifiée de l'intestin</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Les personnes traitées pour un cancer colorectal restent à plus grand risque, donc un examen de l'intestin planifié fait partie du suivi.</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Q6. Les fonctions sexuelle et intestinale après un traitement du cancer rectal doit être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A. Abordée par vous, respectueusement et sans stigmatisation</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Évité car trop sensible</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Discuté uniquement si la personne insiste</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Laissé au spécialiste seul</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Les gens élèvent rarement ces questions eux-mêmes. Demander permet d'offrir de l'aide.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SESSION 5</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Réflexion sur la session</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325880"/>
            <a:ext cx="11094415" cy="457200"/>
          </a:xfrm>
          <a:prstGeom prst="rect">
            <a:avLst/>
          </a:prstGeom>
          <a:noFill/>
          <a:ln/>
        </p:spPr>
        <p:txBody>
          <a:bodyPr wrap="square" rtlCol="0" anchor="ctr"/>
          <a:lstStyle/>
          <a:p>
            <a:pPr marL="0" indent="0">
              <a:buNone/>
            </a:pPr>
            <a:r>
              <a:rPr lang="fr" sz="1600" i="1" noProof="0">
                <a:solidFill>
                  <a:srgbClr val="5B7195"/>
                </a:solidFill>
                <a:latin typeface="Calibri" pitchFamily="34" charset="0"/>
                <a:ea typeface="Calibri" pitchFamily="34" charset="-122"/>
                <a:cs typeface="Calibri" pitchFamily="34" charset="-120"/>
              </a:rPr>
              <a:t>Saisissez votre réponse dans la boîte de texte. Il n'y a pas de réponse unique correcte. Ces prompts ne sont pas notés, et servent à votre propre pratique et à la discussion.</a:t>
            </a:r>
            <a:endParaRPr lang="en-US" sz="1600" noProof="0" dirty="0"/>
          </a:p>
        </p:txBody>
      </p:sp>
      <p:sp>
        <p:nvSpPr>
          <p:cNvPr id="6" name="Shape 4"/>
          <p:cNvSpPr/>
          <p:nvPr/>
        </p:nvSpPr>
        <p:spPr>
          <a:xfrm>
            <a:off x="548640" y="1965960"/>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731520" y="2240280"/>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1</a:t>
            </a:r>
            <a:endParaRPr lang="en-US" sz="2400" noProof="0" dirty="0"/>
          </a:p>
        </p:txBody>
      </p:sp>
      <p:sp>
        <p:nvSpPr>
          <p:cNvPr id="8" name="Text 6"/>
          <p:cNvSpPr/>
          <p:nvPr/>
        </p:nvSpPr>
        <p:spPr>
          <a:xfrm>
            <a:off x="1417320" y="2075688"/>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Comment aideriez-vous un patient et sa famille à décider quels symptômes signaler d'urgence et lesquels peuvent attendre la prochaine évaluation ?</a:t>
            </a:r>
            <a:endParaRPr lang="en-US" sz="1800" noProof="0" dirty="0"/>
          </a:p>
        </p:txBody>
      </p:sp>
      <p:sp>
        <p:nvSpPr>
          <p:cNvPr id="9" name="Shape 7"/>
          <p:cNvSpPr/>
          <p:nvPr/>
        </p:nvSpPr>
        <p:spPr>
          <a:xfrm>
            <a:off x="548640" y="3218688"/>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0" name="Text 8"/>
          <p:cNvSpPr/>
          <p:nvPr/>
        </p:nvSpPr>
        <p:spPr>
          <a:xfrm>
            <a:off x="731520" y="3493008"/>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2</a:t>
            </a:r>
            <a:endParaRPr lang="en-US" sz="2400" noProof="0" dirty="0"/>
          </a:p>
        </p:txBody>
      </p:sp>
      <p:sp>
        <p:nvSpPr>
          <p:cNvPr id="11" name="Text 9"/>
          <p:cNvSpPr/>
          <p:nvPr/>
        </p:nvSpPr>
        <p:spPr>
          <a:xfrm>
            <a:off x="1417320" y="3328416"/>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Comment parleriez-vous d'une stomie avec quelqu'un qui a peur de ce que les autres vont penser ?</a:t>
            </a:r>
            <a:endParaRPr lang="en-US" sz="1800" noProof="0" dirty="0"/>
          </a:p>
        </p:txBody>
      </p:sp>
      <p:sp>
        <p:nvSpPr>
          <p:cNvPr id="12" name="Shape 10"/>
          <p:cNvSpPr/>
          <p:nvPr/>
        </p:nvSpPr>
        <p:spPr>
          <a:xfrm>
            <a:off x="548640" y="4471416"/>
            <a:ext cx="11094415" cy="1051560"/>
          </a:xfrm>
          <a:prstGeom prst="roundRect">
            <a:avLst>
              <a:gd name="adj" fmla="val 8696"/>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731520" y="4745736"/>
            <a:ext cx="502920" cy="502920"/>
          </a:xfrm>
          <a:prstGeom prst="rect">
            <a:avLst/>
          </a:prstGeom>
          <a:noFill/>
          <a:ln/>
        </p:spPr>
        <p:txBody>
          <a:bodyPr wrap="square" lIns="0" tIns="0" rIns="0" bIns="0" rtlCol="0" anchor="ctr"/>
          <a:lstStyle/>
          <a:p>
            <a:pPr marL="0" indent="0" algn="ctr">
              <a:buNone/>
            </a:pPr>
            <a:r>
              <a:rPr lang="fr" sz="2400" b="1" noProof="0">
                <a:solidFill>
                  <a:srgbClr val="1F4E96"/>
                </a:solidFill>
                <a:latin typeface="Cambria" pitchFamily="34" charset="0"/>
                <a:ea typeface="Cambria" pitchFamily="34" charset="-122"/>
                <a:cs typeface="Cambria" pitchFamily="34" charset="-120"/>
              </a:rPr>
              <a:t>3</a:t>
            </a:r>
            <a:endParaRPr lang="en-US" sz="2400" noProof="0" dirty="0"/>
          </a:p>
        </p:txBody>
      </p:sp>
      <p:sp>
        <p:nvSpPr>
          <p:cNvPr id="14" name="Text 12"/>
          <p:cNvSpPr/>
          <p:nvPr/>
        </p:nvSpPr>
        <p:spPr>
          <a:xfrm>
            <a:off x="1417320" y="4581144"/>
            <a:ext cx="9997135" cy="832104"/>
          </a:xfrm>
          <a:prstGeom prst="rect">
            <a:avLst/>
          </a:prstGeom>
          <a:noFill/>
          <a:ln/>
        </p:spPr>
        <p:txBody>
          <a:bodyPr wrap="square" lIns="0" tIns="0" rIns="0" bIns="0" rtlCol="0" anchor="ctr"/>
          <a:lstStyle/>
          <a:p>
            <a:pPr marL="0" indent="0">
              <a:buNone/>
            </a:pPr>
            <a:r>
              <a:rPr lang="fr" sz="1800" noProof="0">
                <a:solidFill>
                  <a:srgbClr val="17325E"/>
                </a:solidFill>
                <a:latin typeface="Calibri" pitchFamily="34" charset="0"/>
                <a:ea typeface="Calibri" pitchFamily="34" charset="-122"/>
                <a:cs typeface="Calibri" pitchFamily="34" charset="-120"/>
              </a:rPr>
              <a:t>Quelle est la chose pratique que vous pourriez changer dans votre environnement pour aider les personnes à poursuivre le suivi après le traitement ?</a:t>
            </a:r>
            <a:endParaRPr lang="en-US" sz="1800" noProof="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6">
    <p:bg>
      <p:bgPr>
        <a:solidFill>
          <a:srgbClr val="0E2E5C"/>
        </a:solidFill>
        <a:effectLst/>
      </p:bgPr>
    </p:bg>
    <p:spTree>
      <p:nvGrpSpPr>
        <p:cNvPr id="1" name=""/>
        <p:cNvGrpSpPr/>
        <p:nvPr/>
      </p:nvGrpSpPr>
      <p:grpSpPr>
        <a:xfrm>
          <a:off x="0" y="0"/>
          <a:ext cx="0" cy="0"/>
          <a:chOff x="0" y="0"/>
          <a:chExt cx="0" cy="0"/>
        </a:xfrm>
      </p:grpSpPr>
      <p:sp>
        <p:nvSpPr>
          <p:cNvPr id="2" name="Text 0"/>
          <p:cNvSpPr/>
          <p:nvPr/>
        </p:nvSpPr>
        <p:spPr>
          <a:xfrm>
            <a:off x="548640" y="2286000"/>
            <a:ext cx="11094415" cy="365760"/>
          </a:xfrm>
          <a:prstGeom prst="rect">
            <a:avLst/>
          </a:prstGeom>
          <a:noFill/>
          <a:ln/>
        </p:spPr>
        <p:txBody>
          <a:bodyPr wrap="square" rtlCol="0" anchor="ctr"/>
          <a:lstStyle/>
          <a:p>
            <a:pPr marL="0" indent="0">
              <a:buNone/>
            </a:pPr>
            <a:r>
              <a:rPr lang="fr" sz="1400" b="1" kern="0" spc="300" noProof="0">
                <a:solidFill>
                  <a:srgbClr val="9DC0EE"/>
                </a:solidFill>
                <a:latin typeface="Calibri" pitchFamily="34" charset="0"/>
                <a:ea typeface="Calibri" pitchFamily="34" charset="-122"/>
                <a:cs typeface="Calibri" pitchFamily="34" charset="-120"/>
              </a:rPr>
              <a:t>DERNIER CONTRÔLE</a:t>
            </a:r>
            <a:endParaRPr lang="en-US" sz="1400" noProof="0" dirty="0"/>
          </a:p>
        </p:txBody>
      </p:sp>
      <p:sp>
        <p:nvSpPr>
          <p:cNvPr id="3" name="Text 1"/>
          <p:cNvSpPr/>
          <p:nvPr/>
        </p:nvSpPr>
        <p:spPr>
          <a:xfrm>
            <a:off x="548640" y="2697480"/>
            <a:ext cx="11094415" cy="822960"/>
          </a:xfrm>
          <a:prstGeom prst="rect">
            <a:avLst/>
          </a:prstGeom>
          <a:noFill/>
          <a:ln/>
        </p:spPr>
        <p:txBody>
          <a:bodyPr wrap="square" rtlCol="0" anchor="ctr"/>
          <a:lstStyle/>
          <a:p>
            <a:pPr marL="0" indent="0">
              <a:buNone/>
            </a:pPr>
            <a:r>
              <a:rPr lang="fr" sz="4400" b="1" noProof="0">
                <a:solidFill>
                  <a:srgbClr val="FFFFFF"/>
                </a:solidFill>
                <a:latin typeface="Cambria" pitchFamily="34" charset="0"/>
                <a:ea typeface="Cambria" pitchFamily="34" charset="-122"/>
                <a:cs typeface="Cambria" pitchFamily="34" charset="-120"/>
              </a:rPr>
              <a:t>Post-test</a:t>
            </a:r>
            <a:endParaRPr lang="en-US" sz="4400" noProof="0" dirty="0"/>
          </a:p>
        </p:txBody>
      </p:sp>
      <p:sp>
        <p:nvSpPr>
          <p:cNvPr id="4" name="Text 2"/>
          <p:cNvSpPr/>
          <p:nvPr/>
        </p:nvSpPr>
        <p:spPr>
          <a:xfrm>
            <a:off x="548640" y="3611880"/>
            <a:ext cx="9601200" cy="731520"/>
          </a:xfrm>
          <a:prstGeom prst="rect">
            <a:avLst/>
          </a:prstGeom>
          <a:noFill/>
          <a:ln/>
        </p:spPr>
        <p:txBody>
          <a:bodyPr wrap="square" rtlCol="0" anchor="ctr"/>
          <a:lstStyle/>
          <a:p>
            <a:pPr marL="0" indent="0">
              <a:buNone/>
            </a:pPr>
            <a:r>
              <a:rPr lang="fr" sz="1800" noProof="0">
                <a:solidFill>
                  <a:srgbClr val="CFE0F6"/>
                </a:solidFill>
                <a:latin typeface="Calibri" pitchFamily="34" charset="0"/>
                <a:ea typeface="Calibri" pitchFamily="34" charset="-122"/>
                <a:cs typeface="Calibri" pitchFamily="34" charset="-120"/>
              </a:rPr>
              <a:t>Vingt questions couvrant tout le module. Les bonnes réponses et retours sont montrés pour que vous puissiez voir le raisonnement, pas seulement le score.</a:t>
            </a:r>
            <a:endParaRPr lang="en-US" sz="1800" noProof="0" dirty="0"/>
          </a:p>
        </p:txBody>
      </p:sp>
      <p:sp>
        <p:nvSpPr>
          <p:cNvPr id="5" name="Text 3"/>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8FA9CE"/>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(1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 La plupart des cancers colorectaux proviennent de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A. </a:t>
            </a:r>
            <a:r>
              <a:rPr lang="fr" sz="1500" noProof="0">
                <a:solidFill>
                  <a:srgbClr val="17325E"/>
                </a:solidFill>
                <a:latin typeface="Calibri" pitchFamily="34" charset="0"/>
                <a:ea typeface="Calibri" pitchFamily="34" charset="-122"/>
                <a:cs typeface="Calibri" pitchFamily="34" charset="-120"/>
              </a:rPr>
              <a:t>Muscle de la paroi intestinale</a:t>
            </a:r>
            <a:endParaRPr lang="en-US" sz="1500"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Tissu nerveux</a:t>
            </a:r>
            <a:endParaRPr lang="en-US" sz="1500" noProof="0" dirty="0"/>
          </a:p>
        </p:txBody>
      </p:sp>
      <p:sp>
        <p:nvSpPr>
          <p:cNvPr id="10" name="Shape 8"/>
          <p:cNvSpPr/>
          <p:nvPr/>
        </p:nvSpPr>
        <p:spPr>
          <a:xfrm>
            <a:off x="548640"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C. La muqueuse glandulaire de l'intestin</a:t>
            </a:r>
            <a:endParaRPr lang="en-US" sz="1500"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Vaisseaux sanguins</a:t>
            </a:r>
            <a:endParaRPr lang="en-US" sz="1500"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a:t>
            </a:r>
            <a:r>
              <a:rPr lang="fr" sz="1500" i="1" noProof="0">
                <a:solidFill>
                  <a:srgbClr val="17325E"/>
                </a:solidFill>
                <a:latin typeface="Calibri" pitchFamily="34" charset="0"/>
                <a:ea typeface="Calibri" pitchFamily="34" charset="-122"/>
                <a:cs typeface="Calibri" pitchFamily="34" charset="-120"/>
              </a:rPr>
              <a:t>Ce sont des adénocarcinomes de la muqueuse glandulaire.</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Q2. Le retrait d'un polype adénomateux lors de la coloscopie peut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A. Prévenir certains cancers colorectaux futurs</a:t>
            </a:r>
            <a:endParaRPr lang="en-US" sz="1500"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Provoquer la propagation du polype</a:t>
            </a:r>
            <a:endParaRPr lang="en-US" sz="1500"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C. </a:t>
            </a:r>
            <a:r>
              <a:rPr lang="fr" sz="1500" noProof="0">
                <a:solidFill>
                  <a:srgbClr val="17325E"/>
                </a:solidFill>
                <a:latin typeface="Calibri" pitchFamily="34" charset="0"/>
                <a:ea typeface="Calibri" pitchFamily="34" charset="-122"/>
                <a:cs typeface="Calibri" pitchFamily="34" charset="-120"/>
              </a:rPr>
              <a:t>Confirmer la métastase</a:t>
            </a:r>
            <a:endParaRPr lang="en-US" sz="1500"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Remplacer la stadification</a:t>
            </a:r>
            <a:endParaRPr lang="en-US" sz="1500"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Détecter et retirer les lésions précurseurs appropriées interrompt la progression, donc le dépistage peut prévenir autant que détecter.</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(2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Q3. Une personne ayant trois mois de saignement rectal a besoin de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485" b="1" noProof="0">
                <a:solidFill>
                  <a:srgbClr val="1F4E96"/>
                </a:solidFill>
                <a:latin typeface="Calibri" pitchFamily="34" charset="0"/>
                <a:ea typeface="Calibri" pitchFamily="34" charset="-122"/>
                <a:cs typeface="Calibri" pitchFamily="34" charset="-120"/>
              </a:rPr>
              <a:t>A. </a:t>
            </a:r>
            <a:r>
              <a:rPr lang="fr" sz="1485" noProof="0">
                <a:solidFill>
                  <a:srgbClr val="17325E"/>
                </a:solidFill>
                <a:latin typeface="Calibri" pitchFamily="34" charset="0"/>
                <a:ea typeface="Calibri" pitchFamily="34" charset="-122"/>
                <a:cs typeface="Calibri" pitchFamily="34" charset="-120"/>
              </a:rPr>
              <a:t>Un test de dépistage des selles au lieu d'une évaluation</a:t>
            </a:r>
            <a:endParaRPr lang="en-US" sz="148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485" b="1" noProof="0">
                <a:solidFill>
                  <a:srgbClr val="1F4E96"/>
                </a:solidFill>
                <a:latin typeface="Calibri" pitchFamily="34" charset="0"/>
                <a:ea typeface="Calibri" pitchFamily="34" charset="-122"/>
                <a:cs typeface="Calibri" pitchFamily="34" charset="-120"/>
              </a:rPr>
              <a:t>B. </a:t>
            </a:r>
            <a:r>
              <a:rPr lang="fr" sz="1485" noProof="0">
                <a:solidFill>
                  <a:srgbClr val="17325E"/>
                </a:solidFill>
                <a:latin typeface="Calibri" pitchFamily="34" charset="0"/>
                <a:ea typeface="Calibri" pitchFamily="34" charset="-122"/>
                <a:cs typeface="Calibri" pitchFamily="34" charset="-120"/>
              </a:rPr>
              <a:t>Réassurance seulement</a:t>
            </a:r>
            <a:endParaRPr lang="en-US" sz="148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485" b="1" noProof="0">
                <a:solidFill>
                  <a:srgbClr val="1F4E96"/>
                </a:solidFill>
                <a:latin typeface="Calibri" pitchFamily="34" charset="0"/>
                <a:ea typeface="Calibri" pitchFamily="34" charset="-122"/>
                <a:cs typeface="Calibri" pitchFamily="34" charset="-120"/>
              </a:rPr>
              <a:t>C. </a:t>
            </a:r>
            <a:r>
              <a:rPr lang="fr" sz="1485" noProof="0">
                <a:solidFill>
                  <a:srgbClr val="17325E"/>
                </a:solidFill>
                <a:latin typeface="Calibri" pitchFamily="34" charset="0"/>
                <a:ea typeface="Calibri" pitchFamily="34" charset="-122"/>
                <a:cs typeface="Calibri" pitchFamily="34" charset="-120"/>
              </a:rPr>
              <a:t>Répéter le FIT dans deux ans</a:t>
            </a:r>
            <a:endParaRPr lang="en-US" sz="1485" noProof="0" dirty="0"/>
          </a:p>
        </p:txBody>
      </p:sp>
      <p:sp>
        <p:nvSpPr>
          <p:cNvPr id="12" name="Shape 10"/>
          <p:cNvSpPr/>
          <p:nvPr/>
        </p:nvSpPr>
        <p:spPr>
          <a:xfrm>
            <a:off x="6196432"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485" b="1" noProof="0">
                <a:solidFill>
                  <a:srgbClr val="126647"/>
                </a:solidFill>
                <a:latin typeface="Calibri" pitchFamily="34" charset="0"/>
                <a:ea typeface="Calibri" pitchFamily="34" charset="-122"/>
                <a:cs typeface="Calibri" pitchFamily="34" charset="-120"/>
              </a:rPr>
              <a:t>D. Évaluation diagnostique de l'intestin</a:t>
            </a:r>
            <a:endParaRPr lang="en-US" sz="148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Les personnes symptomatiques ont besoin d'une évaluation diagnostique. Un test de dépistage ne remplace pas.</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Q4. Trouver des hémorroïdes chez une personne présentant des saignements persistants signifie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485" b="1" noProof="0">
                <a:solidFill>
                  <a:srgbClr val="1F4E96"/>
                </a:solidFill>
                <a:latin typeface="Calibri" pitchFamily="34" charset="0"/>
                <a:ea typeface="Calibri" pitchFamily="34" charset="-122"/>
                <a:cs typeface="Calibri" pitchFamily="34" charset="-120"/>
              </a:rPr>
              <a:t>A. </a:t>
            </a:r>
            <a:r>
              <a:rPr lang="fr" sz="1485" noProof="0">
                <a:solidFill>
                  <a:srgbClr val="17325E"/>
                </a:solidFill>
                <a:latin typeface="Calibri" pitchFamily="34" charset="0"/>
                <a:ea typeface="Calibri" pitchFamily="34" charset="-122"/>
                <a:cs typeface="Calibri" pitchFamily="34" charset="-120"/>
              </a:rPr>
              <a:t>Le saignement est entièrement expliqué</a:t>
            </a:r>
            <a:endParaRPr lang="en-US" sz="1485" noProof="0" dirty="0"/>
          </a:p>
        </p:txBody>
      </p:sp>
      <p:sp>
        <p:nvSpPr>
          <p:cNvPr id="18" name="Shape 16"/>
          <p:cNvSpPr/>
          <p:nvPr/>
        </p:nvSpPr>
        <p:spPr>
          <a:xfrm>
            <a:off x="6196432" y="4187952"/>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485" b="1" noProof="0">
                <a:solidFill>
                  <a:srgbClr val="126647"/>
                </a:solidFill>
                <a:latin typeface="Calibri" pitchFamily="34" charset="0"/>
                <a:ea typeface="Calibri" pitchFamily="34" charset="-122"/>
                <a:cs typeface="Calibri" pitchFamily="34" charset="-120"/>
              </a:rPr>
              <a:t>B. Une évaluation supplémentaire pourrait encore être nécessaire</a:t>
            </a:r>
            <a:endParaRPr lang="en-US" sz="148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485" b="1" noProof="0">
                <a:solidFill>
                  <a:srgbClr val="1F4E96"/>
                </a:solidFill>
                <a:latin typeface="Calibri" pitchFamily="34" charset="0"/>
                <a:ea typeface="Calibri" pitchFamily="34" charset="-122"/>
                <a:cs typeface="Calibri" pitchFamily="34" charset="-120"/>
              </a:rPr>
              <a:t>C. </a:t>
            </a:r>
            <a:r>
              <a:rPr lang="fr" sz="1485" noProof="0">
                <a:solidFill>
                  <a:srgbClr val="17325E"/>
                </a:solidFill>
                <a:latin typeface="Calibri" pitchFamily="34" charset="0"/>
                <a:ea typeface="Calibri" pitchFamily="34" charset="-122"/>
                <a:cs typeface="Calibri" pitchFamily="34" charset="-120"/>
              </a:rPr>
              <a:t>Aucun suivi n'est requis</a:t>
            </a:r>
            <a:endParaRPr lang="en-US" sz="148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485" b="1" noProof="0">
                <a:solidFill>
                  <a:srgbClr val="1F4E96"/>
                </a:solidFill>
                <a:latin typeface="Calibri" pitchFamily="34" charset="0"/>
                <a:ea typeface="Calibri" pitchFamily="34" charset="-122"/>
                <a:cs typeface="Calibri" pitchFamily="34" charset="-120"/>
              </a:rPr>
              <a:t>D. </a:t>
            </a:r>
            <a:r>
              <a:rPr lang="fr" sz="1485" noProof="0">
                <a:solidFill>
                  <a:srgbClr val="17325E"/>
                </a:solidFill>
                <a:latin typeface="Calibri" pitchFamily="34" charset="0"/>
                <a:ea typeface="Calibri" pitchFamily="34" charset="-122"/>
                <a:cs typeface="Calibri" pitchFamily="34" charset="-120"/>
              </a:rPr>
              <a:t>Le cancer est exclu</a:t>
            </a:r>
            <a:endParaRPr lang="en-US" sz="148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a:t>
            </a:r>
            <a:r>
              <a:rPr lang="fr" sz="1500" i="1" noProof="0" err="1">
                <a:solidFill>
                  <a:srgbClr val="17325E"/>
                </a:solidFill>
                <a:latin typeface="Calibri" pitchFamily="34" charset="0"/>
                <a:ea typeface="Calibri" pitchFamily="34" charset="-122"/>
                <a:cs typeface="Calibri" pitchFamily="34" charset="-120"/>
              </a:rPr>
              <a:t>Les hémorroïdes sont fréquentes et peuvent coexister avec une cause plus grave de saignement.</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(3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Q5. FIT détecte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75" b="1" noProof="0">
                <a:solidFill>
                  <a:srgbClr val="126647"/>
                </a:solidFill>
                <a:latin typeface="Calibri" pitchFamily="34" charset="0"/>
                <a:ea typeface="Calibri" pitchFamily="34" charset="-122"/>
                <a:cs typeface="Calibri" pitchFamily="34" charset="-120"/>
              </a:rPr>
              <a:t>A. Hémoglobine humaine dans les selles</a:t>
            </a:r>
            <a:endParaRPr lang="en-US" sz="127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B. </a:t>
            </a:r>
            <a:r>
              <a:rPr lang="fr" sz="1275" noProof="0">
                <a:solidFill>
                  <a:srgbClr val="17325E"/>
                </a:solidFill>
                <a:latin typeface="Calibri" pitchFamily="34" charset="0"/>
                <a:ea typeface="Calibri" pitchFamily="34" charset="-122"/>
                <a:cs typeface="Calibri" pitchFamily="34" charset="-120"/>
              </a:rPr>
              <a:t>Cellules cancéreuses dans les selles</a:t>
            </a:r>
            <a:endParaRPr lang="en-US" sz="127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C. </a:t>
            </a:r>
            <a:r>
              <a:rPr lang="fr" sz="1275" noProof="0">
                <a:solidFill>
                  <a:srgbClr val="17325E"/>
                </a:solidFill>
                <a:latin typeface="Calibri" pitchFamily="34" charset="0"/>
                <a:ea typeface="Calibri" pitchFamily="34" charset="-122"/>
                <a:cs typeface="Calibri" pitchFamily="34" charset="-120"/>
              </a:rPr>
              <a:t>Bactéries dans les selles</a:t>
            </a:r>
            <a:endParaRPr lang="en-US" sz="127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D. </a:t>
            </a:r>
            <a:r>
              <a:rPr lang="fr" sz="1275" noProof="0">
                <a:solidFill>
                  <a:srgbClr val="17325E"/>
                </a:solidFill>
                <a:latin typeface="Calibri" pitchFamily="34" charset="0"/>
                <a:ea typeface="Calibri" pitchFamily="34" charset="-122"/>
                <a:cs typeface="Calibri" pitchFamily="34" charset="-120"/>
              </a:rPr>
              <a:t>Inflammation intestinale uniquement</a:t>
            </a:r>
            <a:endParaRPr lang="en-US" sz="127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Le FIT est spécifique à l'hémoglobine humaine et indique des saignements pouvant provenir d'une lésion.</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Q6. La bonne étape suivante après un test de dépistage à base de selles positif est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A. </a:t>
            </a:r>
            <a:r>
              <a:rPr lang="fr" sz="1275" noProof="0">
                <a:solidFill>
                  <a:srgbClr val="17325E"/>
                </a:solidFill>
                <a:latin typeface="Calibri" pitchFamily="34" charset="0"/>
                <a:ea typeface="Calibri" pitchFamily="34" charset="-122"/>
                <a:cs typeface="Calibri" pitchFamily="34" charset="-120"/>
              </a:rPr>
              <a:t>Dites à la personne qu'elle a un cancer</a:t>
            </a:r>
            <a:endParaRPr lang="en-US" sz="127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B. </a:t>
            </a:r>
            <a:r>
              <a:rPr lang="fr" sz="1275" noProof="0">
                <a:solidFill>
                  <a:srgbClr val="17325E"/>
                </a:solidFill>
                <a:latin typeface="Calibri" pitchFamily="34" charset="0"/>
                <a:ea typeface="Calibri" pitchFamily="34" charset="-122"/>
                <a:cs typeface="Calibri" pitchFamily="34" charset="-120"/>
              </a:rPr>
              <a:t>Répétez le test des selles dans cinq ans</a:t>
            </a:r>
            <a:endParaRPr lang="en-US" sz="1275" noProof="0" dirty="0"/>
          </a:p>
        </p:txBody>
      </p:sp>
      <p:sp>
        <p:nvSpPr>
          <p:cNvPr id="20" name="Shape 18"/>
          <p:cNvSpPr/>
          <p:nvPr/>
        </p:nvSpPr>
        <p:spPr>
          <a:xfrm>
            <a:off x="548640"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75" b="1" noProof="0">
                <a:solidFill>
                  <a:srgbClr val="126647"/>
                </a:solidFill>
                <a:latin typeface="Calibri" pitchFamily="34" charset="0"/>
                <a:ea typeface="Calibri" pitchFamily="34" charset="-122"/>
                <a:cs typeface="Calibri" pitchFamily="34" charset="-120"/>
              </a:rPr>
              <a:t>C. Organisez une évaluation du côlon et du rectum selon le parcours convenu</a:t>
            </a:r>
            <a:endParaRPr lang="en-US" sz="127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75" b="1" noProof="0">
                <a:solidFill>
                  <a:srgbClr val="1F4E96"/>
                </a:solidFill>
                <a:latin typeface="Calibri" pitchFamily="34" charset="0"/>
                <a:ea typeface="Calibri" pitchFamily="34" charset="-122"/>
                <a:cs typeface="Calibri" pitchFamily="34" charset="-120"/>
              </a:rPr>
              <a:t>D. </a:t>
            </a:r>
            <a:r>
              <a:rPr lang="fr" sz="1275" noProof="0">
                <a:solidFill>
                  <a:srgbClr val="17325E"/>
                </a:solidFill>
                <a:latin typeface="Calibri" pitchFamily="34" charset="0"/>
                <a:ea typeface="Calibri" pitchFamily="34" charset="-122"/>
                <a:cs typeface="Calibri" pitchFamily="34" charset="-120"/>
              </a:rPr>
              <a:t>Commencez la chimiothérapie</a:t>
            </a:r>
            <a:endParaRPr lang="en-US" sz="127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a:t>
            </a:r>
            <a:r>
              <a:rPr lang="fr" sz="1500" i="1" noProof="0">
                <a:solidFill>
                  <a:srgbClr val="17325E"/>
                </a:solidFill>
                <a:latin typeface="Calibri" pitchFamily="34" charset="0"/>
                <a:ea typeface="Calibri" pitchFamily="34" charset="-122"/>
                <a:cs typeface="Calibri" pitchFamily="34" charset="-120"/>
              </a:rPr>
              <a:t>Un test de dépistage positif déclenche une évaluation diagnostique du côlon, généralement une coloscopie lorsque disponible.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(4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Q7. Quelle personne est à risque accru, plutôt qu'un risque moyen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Un homme de 52 ans sans antécédents familiaux</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B. Un homme de 45 ans dont le père et le frère avaient un cancer colorectal</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Un homme de 60 ans qui fait de l'exercice</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Une femme de 55 ans avec un reflux léger</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Un historique familial fort augmente le risque et peut justifier une évaluation plus précoce ou une évaluation spécialisée.</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Q8. La localisation de la tumeur est importante car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Cela n'affecte pas les symptômes</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Toutes les tumeurs saignent visiblement</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Seules les tumeurs rectales provoquent des symptômes</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D. Les tumeurs du côté droit se présentent plus souvent avec anémie et celles du côté gauche avec obstruction ou saignement visible</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Les schémas de symptômes varient selon les sites, ce qui modifie la façon dont la maladie est reconnue.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(5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Q9. Dans TNM, la lettre N décrit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A. </a:t>
            </a:r>
            <a:r>
              <a:rPr lang="fr" sz="1500" noProof="0">
                <a:solidFill>
                  <a:srgbClr val="17325E"/>
                </a:solidFill>
                <a:latin typeface="Calibri" pitchFamily="34" charset="0"/>
                <a:ea typeface="Calibri" pitchFamily="34" charset="-122"/>
                <a:cs typeface="Calibri" pitchFamily="34" charset="-120"/>
              </a:rPr>
              <a:t>Profondeur de l'invasion</a:t>
            </a:r>
            <a:endParaRPr lang="en-US" sz="1500"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Propagation à distance</a:t>
            </a:r>
            <a:endParaRPr lang="en-US" sz="1500" noProof="0" dirty="0"/>
          </a:p>
        </p:txBody>
      </p:sp>
      <p:sp>
        <p:nvSpPr>
          <p:cNvPr id="10" name="Shape 8"/>
          <p:cNvSpPr/>
          <p:nvPr/>
        </p:nvSpPr>
        <p:spPr>
          <a:xfrm>
            <a:off x="548640"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C. Atteinte régionale des ganglions lymphatiques</a:t>
            </a:r>
            <a:endParaRPr lang="en-US" sz="1500"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Grade tumoral</a:t>
            </a:r>
            <a:endParaRPr lang="en-US" sz="1500"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a:t>
            </a:r>
            <a:r>
              <a:rPr lang="fr" sz="1500" i="1" noProof="0">
                <a:solidFill>
                  <a:srgbClr val="17325E"/>
                </a:solidFill>
                <a:latin typeface="Calibri" pitchFamily="34" charset="0"/>
                <a:ea typeface="Calibri" pitchFamily="34" charset="-122"/>
                <a:cs typeface="Calibri" pitchFamily="34" charset="-120"/>
              </a:rPr>
              <a:t>T est la profondeur d'invasion, N les nœuds régionaux, M la métastase lointaine.</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Q10. Le grade indique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A. À quel point les cellules paraissent anormales au microscope</a:t>
            </a:r>
            <a:endParaRPr lang="en-US" sz="1500"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Jusqu'où le cancer s'est-il propagé</a:t>
            </a:r>
            <a:endParaRPr lang="en-US" sz="1500"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C. </a:t>
            </a:r>
            <a:r>
              <a:rPr lang="fr" sz="1500" noProof="0">
                <a:solidFill>
                  <a:srgbClr val="17325E"/>
                </a:solidFill>
                <a:latin typeface="Calibri" pitchFamily="34" charset="0"/>
                <a:ea typeface="Calibri" pitchFamily="34" charset="-122"/>
                <a:cs typeface="Calibri" pitchFamily="34" charset="-120"/>
              </a:rPr>
              <a:t>La valeur FIT</a:t>
            </a:r>
            <a:endParaRPr lang="en-US" sz="1500"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Le type de stomie</a:t>
            </a:r>
            <a:endParaRPr lang="en-US" sz="1500"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Le grade est une apparence microscopique. Le stade est l'étendue.</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(6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Q11. Quelle conclusion nécessite une orientation d'urgence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Un épisode de sang strié après avoir forcé</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Fatigue légère</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Constipation occasionnelle</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D. Distension abdominale, vomissements et absence de passage de selles ou de gaz</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Cela suggère une obstruction intestinale et ne peut pas attendre.</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Q12. Le conseil avant l'orientation devrait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Promettre qu'il ne s'agit pas d'un cancer</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B. Expliquez qu'une évaluation est nécessaire, sans créer de peur</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Ne pas préciser la raison de la recommandation</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Évitez les questions de la personne</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a:t>
            </a:r>
            <a:r>
              <a:rPr lang="fr" sz="1500" i="1" noProof="0">
                <a:solidFill>
                  <a:srgbClr val="17325E"/>
                </a:solidFill>
                <a:latin typeface="Calibri" pitchFamily="34" charset="0"/>
                <a:ea typeface="Calibri" pitchFamily="34" charset="-122"/>
                <a:cs typeface="Calibri" pitchFamily="34" charset="-120"/>
              </a:rPr>
              <a:t>Expliquez honnêtement l'étape suivante, reconnaissez l'incertitude et permettez les questions.</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(7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Q13. Qu'est-ce qui doit être enregistré au premier contact pour le registre du cancer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A. Symptôme, date d'apparition, date de la première consultation, résultats et destination de l'orientation</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Seulement des diagnostics confirmés</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Rien jusqu'à l'arrivée des résultats de la biopsie</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Seulement le nom de la personne</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Un cas suspect et non confirmé bien enregistré est une donnée précieuse du registre. Enregistrez le cas dès la première suspicion et mettez les données à jour ultérieurement.</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Q14. L'histopathologie est nécessaire car elle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Mesure l'hémoglobine</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Remplace l'imagerie</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C. Confirme le cancer et décrit le type et les caractéristiques tumorales</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Détecte les antécédents familiaux</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a:t>
            </a:r>
            <a:r>
              <a:rPr lang="fr" sz="1500" i="1" noProof="0">
                <a:solidFill>
                  <a:srgbClr val="17325E"/>
                </a:solidFill>
                <a:latin typeface="Calibri" pitchFamily="34" charset="0"/>
                <a:ea typeface="Calibri" pitchFamily="34" charset="-122"/>
                <a:cs typeface="Calibri" pitchFamily="34" charset="-120"/>
              </a:rPr>
              <a:t>Le diagnostic tissulaire confirme le cancer et guide la planification du traitement.</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(8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Q15. L'imagerie dans le cancer colorectal est principalement utilisée pour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A. </a:t>
            </a:r>
            <a:r>
              <a:rPr lang="fr" sz="1500" noProof="0">
                <a:solidFill>
                  <a:srgbClr val="17325E"/>
                </a:solidFill>
                <a:latin typeface="Calibri" pitchFamily="34" charset="0"/>
                <a:ea typeface="Calibri" pitchFamily="34" charset="-122"/>
                <a:cs typeface="Calibri" pitchFamily="34" charset="-120"/>
              </a:rPr>
              <a:t>Confirmez le diagnostic</a:t>
            </a:r>
            <a:endParaRPr lang="en-US" sz="1500" noProof="0" dirty="0"/>
          </a:p>
        </p:txBody>
      </p:sp>
      <p:sp>
        <p:nvSpPr>
          <p:cNvPr id="8" name="Shape 6"/>
          <p:cNvSpPr/>
          <p:nvPr/>
        </p:nvSpPr>
        <p:spPr>
          <a:xfrm>
            <a:off x="6196432" y="1956816"/>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B. Évaluer l'étendue de la maladie et planifier un traitement</a:t>
            </a:r>
            <a:endParaRPr lang="en-US" sz="1500"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C. </a:t>
            </a:r>
            <a:r>
              <a:rPr lang="fr" sz="1500" noProof="0">
                <a:solidFill>
                  <a:srgbClr val="17325E"/>
                </a:solidFill>
                <a:latin typeface="Calibri" pitchFamily="34" charset="0"/>
                <a:ea typeface="Calibri" pitchFamily="34" charset="-122"/>
                <a:cs typeface="Calibri" pitchFamily="34" charset="-120"/>
              </a:rPr>
              <a:t>Remplacer la coloscopie</a:t>
            </a:r>
            <a:endParaRPr lang="en-US" sz="1500"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D. </a:t>
            </a:r>
            <a:r>
              <a:rPr lang="fr" sz="1500" noProof="0">
                <a:solidFill>
                  <a:srgbClr val="17325E"/>
                </a:solidFill>
                <a:latin typeface="Calibri" pitchFamily="34" charset="0"/>
                <a:ea typeface="Calibri" pitchFamily="34" charset="-122"/>
                <a:cs typeface="Calibri" pitchFamily="34" charset="-120"/>
              </a:rPr>
              <a:t>Déterminer le grade</a:t>
            </a:r>
            <a:endParaRPr lang="en-US" sz="1500"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a:t>
            </a:r>
            <a:r>
              <a:rPr lang="fr" sz="1500" i="1" noProof="0">
                <a:solidFill>
                  <a:srgbClr val="17325E"/>
                </a:solidFill>
                <a:latin typeface="Calibri" pitchFamily="34" charset="0"/>
                <a:ea typeface="Calibri" pitchFamily="34" charset="-122"/>
                <a:cs typeface="Calibri" pitchFamily="34" charset="-120"/>
              </a:rPr>
              <a:t>L'imagerie soutient la stadification et la planification du traitement. Les tissus confirment le diagnostic.</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Q16. La chimiothérapie diffère de la chirurgie car elle suit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A. </a:t>
            </a:r>
            <a:r>
              <a:rPr lang="fr" sz="1500" noProof="0">
                <a:solidFill>
                  <a:srgbClr val="17325E"/>
                </a:solidFill>
                <a:latin typeface="Calibri" pitchFamily="34" charset="0"/>
                <a:ea typeface="Calibri" pitchFamily="34" charset="-122"/>
                <a:cs typeface="Calibri" pitchFamily="34" charset="-120"/>
              </a:rPr>
              <a:t>Agit uniquement au site tumoral</a:t>
            </a:r>
            <a:endParaRPr lang="en-US" sz="1500"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B. </a:t>
            </a:r>
            <a:r>
              <a:rPr lang="fr" sz="1500" noProof="0">
                <a:solidFill>
                  <a:srgbClr val="17325E"/>
                </a:solidFill>
                <a:latin typeface="Calibri" pitchFamily="34" charset="0"/>
                <a:ea typeface="Calibri" pitchFamily="34" charset="-122"/>
                <a:cs typeface="Calibri" pitchFamily="34" charset="-120"/>
              </a:rPr>
              <a:t>Utilise le rayonnement</a:t>
            </a:r>
            <a:endParaRPr lang="en-US" sz="1500"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lstStyle/>
          <a:p>
            <a:pPr marL="0" indent="0">
              <a:buNone/>
            </a:pPr>
            <a:r>
              <a:rPr lang="fr" sz="1500" b="1" noProof="0">
                <a:solidFill>
                  <a:srgbClr val="1F4E96"/>
                </a:solidFill>
                <a:latin typeface="Calibri" pitchFamily="34" charset="0"/>
                <a:ea typeface="Calibri" pitchFamily="34" charset="-122"/>
                <a:cs typeface="Calibri" pitchFamily="34" charset="-120"/>
              </a:rPr>
              <a:t>C. </a:t>
            </a:r>
            <a:r>
              <a:rPr lang="fr" sz="1500" noProof="0">
                <a:solidFill>
                  <a:srgbClr val="17325E"/>
                </a:solidFill>
                <a:latin typeface="Calibri" pitchFamily="34" charset="0"/>
                <a:ea typeface="Calibri" pitchFamily="34" charset="-122"/>
                <a:cs typeface="Calibri" pitchFamily="34" charset="-120"/>
              </a:rPr>
              <a:t>Enlève les ganglions lymphatiques</a:t>
            </a:r>
            <a:endParaRPr lang="en-US" sz="1500" noProof="0" dirty="0"/>
          </a:p>
        </p:txBody>
      </p:sp>
      <p:sp>
        <p:nvSpPr>
          <p:cNvPr id="22" name="Shape 20"/>
          <p:cNvSpPr/>
          <p:nvPr/>
        </p:nvSpPr>
        <p:spPr>
          <a:xfrm>
            <a:off x="6196432"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lstStyle/>
          <a:p>
            <a:pPr marL="0" indent="0">
              <a:buNone/>
            </a:pPr>
            <a:r>
              <a:rPr lang="fr" sz="1500" b="1" noProof="0">
                <a:solidFill>
                  <a:srgbClr val="126647"/>
                </a:solidFill>
                <a:latin typeface="Calibri" pitchFamily="34" charset="0"/>
                <a:ea typeface="Calibri" pitchFamily="34" charset="-122"/>
                <a:cs typeface="Calibri" pitchFamily="34" charset="-120"/>
              </a:rPr>
              <a:t>D. Agit dans tout le corps</a:t>
            </a:r>
            <a:endParaRPr lang="en-US" sz="1500"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La chimiothérapie est systémique. La chirurgie et la radiothérapie agissent localement ou locorégionalement.</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(9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Q17. Quelle affirmation concernant les soins des stomies est exacte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Toute personne atteinte d'un cancer colorectal en a besoin</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Une stomie signifie toujours une maladie avancée</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C. Les problèmes de peau, la production élevée et la déshydratation sont des problèmes reconnus à surveiller</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Les stomies n'ont pas besoin d'éducation</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C. L'éducation à la stomie, les soins de la peau, le surveillance du débit de la stomie et l'hydratation comptent, et le soutien réduit les complications.</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Q18. Les nouveaux symptômes neuropathiques sévères lors d'une thérapie systémique doivent être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A. Signalés et évalués</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Ignoré</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Prise en charge uniquement par le repos</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Traité en arrêtant tout suivi</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A. </a:t>
            </a:r>
            <a:r>
              <a:rPr lang="fr" sz="1500" i="1" noProof="0">
                <a:solidFill>
                  <a:srgbClr val="17325E"/>
                </a:solidFill>
                <a:latin typeface="Calibri" pitchFamily="34" charset="0"/>
                <a:ea typeface="Calibri" pitchFamily="34" charset="-122"/>
                <a:cs typeface="Calibri" pitchFamily="34" charset="-120"/>
              </a:rPr>
              <a:t>La neuropathie peut limiter la dose. Un rapport précoce permet à l'équipe soignante d'agir.</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DERNIER CONTRÔLE</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000" b="1" noProof="0">
                <a:solidFill>
                  <a:srgbClr val="0E2E5C"/>
                </a:solidFill>
                <a:latin typeface="Cambria" pitchFamily="34" charset="0"/>
                <a:ea typeface="Cambria" pitchFamily="34" charset="-122"/>
                <a:cs typeface="Cambria" pitchFamily="34" charset="-120"/>
              </a:rPr>
              <a:t>Après l'examen (10 sur 10)</a:t>
            </a:r>
            <a:endParaRPr lang="en-US" sz="30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5" name="Text 3"/>
          <p:cNvSpPr/>
          <p:nvPr/>
        </p:nvSpPr>
        <p:spPr>
          <a:xfrm>
            <a:off x="548640" y="1554480"/>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Q19. Le suivi après traitement vise à :</a:t>
            </a:r>
            <a:endParaRPr lang="en-US" sz="1800" noProof="0" dirty="0"/>
          </a:p>
        </p:txBody>
      </p:sp>
      <p:sp>
        <p:nvSpPr>
          <p:cNvPr id="6" name="Shape 4"/>
          <p:cNvSpPr/>
          <p:nvPr/>
        </p:nvSpPr>
        <p:spPr>
          <a:xfrm>
            <a:off x="548640" y="1956816"/>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7" name="Text 5"/>
          <p:cNvSpPr/>
          <p:nvPr/>
        </p:nvSpPr>
        <p:spPr>
          <a:xfrm>
            <a:off x="694944"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Prouver que le cancer ne reviendra jamais</a:t>
            </a:r>
            <a:endParaRPr lang="en-US" sz="1245" noProof="0" dirty="0"/>
          </a:p>
        </p:txBody>
      </p:sp>
      <p:sp>
        <p:nvSpPr>
          <p:cNvPr id="8" name="Shape 6"/>
          <p:cNvSpPr/>
          <p:nvPr/>
        </p:nvSpPr>
        <p:spPr>
          <a:xfrm>
            <a:off x="6196432" y="1956816"/>
            <a:ext cx="5446624" cy="475488"/>
          </a:xfrm>
          <a:prstGeom prst="roundRect">
            <a:avLst>
              <a:gd name="adj" fmla="val 15385"/>
            </a:avLst>
          </a:prstGeom>
          <a:solidFill>
            <a:srgbClr val="EAF6F0"/>
          </a:solidFill>
          <a:ln w="15875">
            <a:solidFill>
              <a:srgbClr val="9BCBB4"/>
            </a:solidFill>
            <a:prstDash val="solid"/>
          </a:ln>
        </p:spPr>
        <p:txBody>
          <a:bodyPr/>
          <a:lstStyle/>
          <a:p>
            <a:endParaRPr lang="en-US" noProof="0" dirty="0"/>
          </a:p>
        </p:txBody>
      </p:sp>
      <p:sp>
        <p:nvSpPr>
          <p:cNvPr id="9" name="Text 7"/>
          <p:cNvSpPr/>
          <p:nvPr/>
        </p:nvSpPr>
        <p:spPr>
          <a:xfrm>
            <a:off x="6342736" y="1956816"/>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B. Surveiller la récupération, gérez les effets et détectez les récidives lorsque cela est approprié</a:t>
            </a:r>
            <a:endParaRPr lang="en-US" sz="1245" noProof="0" dirty="0"/>
          </a:p>
        </p:txBody>
      </p:sp>
      <p:sp>
        <p:nvSpPr>
          <p:cNvPr id="10" name="Shape 8"/>
          <p:cNvSpPr/>
          <p:nvPr/>
        </p:nvSpPr>
        <p:spPr>
          <a:xfrm>
            <a:off x="548640"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1" name="Text 9"/>
          <p:cNvSpPr/>
          <p:nvPr/>
        </p:nvSpPr>
        <p:spPr>
          <a:xfrm>
            <a:off x="694944"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Remplacer les soins palliatifs</a:t>
            </a:r>
            <a:endParaRPr lang="en-US" sz="1245" noProof="0" dirty="0"/>
          </a:p>
        </p:txBody>
      </p:sp>
      <p:sp>
        <p:nvSpPr>
          <p:cNvPr id="12" name="Shape 10"/>
          <p:cNvSpPr/>
          <p:nvPr/>
        </p:nvSpPr>
        <p:spPr>
          <a:xfrm>
            <a:off x="6196432" y="2523744"/>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3" name="Text 11"/>
          <p:cNvSpPr/>
          <p:nvPr/>
        </p:nvSpPr>
        <p:spPr>
          <a:xfrm>
            <a:off x="6342736" y="2523744"/>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D. </a:t>
            </a:r>
            <a:r>
              <a:rPr lang="fr" sz="1245" noProof="0">
                <a:solidFill>
                  <a:srgbClr val="17325E"/>
                </a:solidFill>
                <a:latin typeface="Calibri" pitchFamily="34" charset="0"/>
                <a:ea typeface="Calibri" pitchFamily="34" charset="-122"/>
                <a:cs typeface="Calibri" pitchFamily="34" charset="-120"/>
              </a:rPr>
              <a:t>Mettre fin à tout contact avec les services</a:t>
            </a:r>
            <a:endParaRPr lang="en-US" sz="1245" noProof="0" dirty="0"/>
          </a:p>
        </p:txBody>
      </p:sp>
      <p:sp>
        <p:nvSpPr>
          <p:cNvPr id="14" name="Text 12"/>
          <p:cNvSpPr/>
          <p:nvPr/>
        </p:nvSpPr>
        <p:spPr>
          <a:xfrm>
            <a:off x="548640" y="3054096"/>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B. </a:t>
            </a:r>
            <a:r>
              <a:rPr lang="fr" sz="1500" i="1" noProof="0">
                <a:solidFill>
                  <a:srgbClr val="17325E"/>
                </a:solidFill>
                <a:latin typeface="Calibri" pitchFamily="34" charset="0"/>
                <a:ea typeface="Calibri" pitchFamily="34" charset="-122"/>
                <a:cs typeface="Calibri" pitchFamily="34" charset="-120"/>
              </a:rPr>
              <a:t>Le suivi soutient la récupération, gère les effets et cherche la récidive lorsque cela est approprié.</a:t>
            </a:r>
            <a:endParaRPr lang="en-US" sz="1500" noProof="0" dirty="0"/>
          </a:p>
        </p:txBody>
      </p:sp>
      <p:sp>
        <p:nvSpPr>
          <p:cNvPr id="15" name="Text 13"/>
          <p:cNvSpPr/>
          <p:nvPr/>
        </p:nvSpPr>
        <p:spPr>
          <a:xfrm>
            <a:off x="548640" y="3785615"/>
            <a:ext cx="11094415" cy="329184"/>
          </a:xfrm>
          <a:prstGeom prst="rect">
            <a:avLst/>
          </a:prstGeom>
          <a:noFill/>
          <a:ln/>
        </p:spPr>
        <p:txBody>
          <a:bodyPr wrap="square" lIns="0" tIns="0" rIns="0" bIns="0" rtlCol="0" anchor="t"/>
          <a:lstStyle/>
          <a:p>
            <a:pPr marL="0" indent="0">
              <a:buNone/>
            </a:pPr>
            <a:r>
              <a:rPr lang="fr" sz="1800" b="1" noProof="0">
                <a:solidFill>
                  <a:srgbClr val="0E2E5C"/>
                </a:solidFill>
                <a:latin typeface="Calibri" pitchFamily="34" charset="0"/>
                <a:ea typeface="Calibri" pitchFamily="34" charset="-122"/>
                <a:cs typeface="Calibri" pitchFamily="34" charset="-120"/>
              </a:rPr>
              <a:t>Q20. Au Rwanda, un programme national organisé de dépistage du cancer colorectal :</a:t>
            </a:r>
            <a:endParaRPr lang="en-US" sz="1800" noProof="0" dirty="0"/>
          </a:p>
        </p:txBody>
      </p:sp>
      <p:sp>
        <p:nvSpPr>
          <p:cNvPr id="16" name="Shape 14"/>
          <p:cNvSpPr/>
          <p:nvPr/>
        </p:nvSpPr>
        <p:spPr>
          <a:xfrm>
            <a:off x="548640" y="4187952"/>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17" name="Text 15"/>
          <p:cNvSpPr/>
          <p:nvPr/>
        </p:nvSpPr>
        <p:spPr>
          <a:xfrm>
            <a:off x="694944"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A. </a:t>
            </a:r>
            <a:r>
              <a:rPr lang="fr" sz="1245" noProof="0">
                <a:solidFill>
                  <a:srgbClr val="17325E"/>
                </a:solidFill>
                <a:latin typeface="Calibri" pitchFamily="34" charset="0"/>
                <a:ea typeface="Calibri" pitchFamily="34" charset="-122"/>
                <a:cs typeface="Calibri" pitchFamily="34" charset="-120"/>
              </a:rPr>
              <a:t>Couvre tous les adultes de plus de 50 ans</a:t>
            </a:r>
            <a:endParaRPr lang="en-US" sz="1245" noProof="0" dirty="0"/>
          </a:p>
        </p:txBody>
      </p:sp>
      <p:sp>
        <p:nvSpPr>
          <p:cNvPr id="18" name="Shape 16"/>
          <p:cNvSpPr/>
          <p:nvPr/>
        </p:nvSpPr>
        <p:spPr>
          <a:xfrm>
            <a:off x="6196432" y="4187952"/>
            <a:ext cx="5446624" cy="475488"/>
          </a:xfrm>
          <a:prstGeom prst="roundRect">
            <a:avLst>
              <a:gd name="adj" fmla="val 15385"/>
            </a:avLst>
          </a:prstGeom>
          <a:solidFill>
            <a:srgbClr val="F3F7FC"/>
          </a:solidFill>
          <a:ln w="15875">
            <a:solidFill>
              <a:srgbClr val="9BCBB4"/>
            </a:solidFill>
            <a:prstDash val="solid"/>
          </a:ln>
        </p:spPr>
        <p:txBody>
          <a:bodyPr/>
          <a:lstStyle/>
          <a:p>
            <a:endParaRPr lang="en-US" noProof="0" dirty="0"/>
          </a:p>
        </p:txBody>
      </p:sp>
      <p:sp>
        <p:nvSpPr>
          <p:cNvPr id="19" name="Text 17"/>
          <p:cNvSpPr/>
          <p:nvPr/>
        </p:nvSpPr>
        <p:spPr>
          <a:xfrm>
            <a:off x="6342736" y="4187952"/>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B. </a:t>
            </a:r>
            <a:r>
              <a:rPr lang="fr" sz="1245" noProof="0">
                <a:solidFill>
                  <a:srgbClr val="17325E"/>
                </a:solidFill>
                <a:latin typeface="Calibri" pitchFamily="34" charset="0"/>
                <a:ea typeface="Calibri" pitchFamily="34" charset="-122"/>
                <a:cs typeface="Calibri" pitchFamily="34" charset="-120"/>
              </a:rPr>
              <a:t>Utilise la coloscopie pour tout le monde</a:t>
            </a:r>
            <a:endParaRPr lang="en-US" sz="1245" noProof="0" dirty="0"/>
          </a:p>
        </p:txBody>
      </p:sp>
      <p:sp>
        <p:nvSpPr>
          <p:cNvPr id="20" name="Shape 18"/>
          <p:cNvSpPr/>
          <p:nvPr/>
        </p:nvSpPr>
        <p:spPr>
          <a:xfrm>
            <a:off x="548640" y="4754880"/>
            <a:ext cx="5446624" cy="475488"/>
          </a:xfrm>
          <a:prstGeom prst="roundRect">
            <a:avLst>
              <a:gd name="adj" fmla="val 15385"/>
            </a:avLst>
          </a:prstGeom>
          <a:solidFill>
            <a:srgbClr val="F3F7FC"/>
          </a:solidFill>
          <a:ln w="15875">
            <a:solidFill>
              <a:srgbClr val="C9DCF2"/>
            </a:solidFill>
            <a:prstDash val="solid"/>
          </a:ln>
        </p:spPr>
        <p:txBody>
          <a:bodyPr/>
          <a:lstStyle/>
          <a:p>
            <a:endParaRPr lang="en-US" noProof="0" dirty="0"/>
          </a:p>
        </p:txBody>
      </p:sp>
      <p:sp>
        <p:nvSpPr>
          <p:cNvPr id="21" name="Text 19"/>
          <p:cNvSpPr/>
          <p:nvPr/>
        </p:nvSpPr>
        <p:spPr>
          <a:xfrm>
            <a:off x="694944"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F4E96"/>
                </a:solidFill>
                <a:latin typeface="Calibri" pitchFamily="34" charset="0"/>
                <a:ea typeface="Calibri" pitchFamily="34" charset="-122"/>
                <a:cs typeface="Calibri" pitchFamily="34" charset="-120"/>
              </a:rPr>
              <a:t>C. </a:t>
            </a:r>
            <a:r>
              <a:rPr lang="fr" sz="1245" noProof="0">
                <a:solidFill>
                  <a:srgbClr val="17325E"/>
                </a:solidFill>
                <a:latin typeface="Calibri" pitchFamily="34" charset="0"/>
                <a:ea typeface="Calibri" pitchFamily="34" charset="-122"/>
                <a:cs typeface="Calibri" pitchFamily="34" charset="-120"/>
              </a:rPr>
              <a:t>Existe depuis dix ans</a:t>
            </a:r>
            <a:endParaRPr lang="en-US" sz="1245" noProof="0" dirty="0"/>
          </a:p>
        </p:txBody>
      </p:sp>
      <p:sp>
        <p:nvSpPr>
          <p:cNvPr id="22" name="Shape 20"/>
          <p:cNvSpPr/>
          <p:nvPr/>
        </p:nvSpPr>
        <p:spPr>
          <a:xfrm>
            <a:off x="6196432" y="4754880"/>
            <a:ext cx="5446624" cy="475488"/>
          </a:xfrm>
          <a:prstGeom prst="roundRect">
            <a:avLst>
              <a:gd name="adj" fmla="val 15385"/>
            </a:avLst>
          </a:prstGeom>
          <a:solidFill>
            <a:srgbClr val="EAF6F0"/>
          </a:solidFill>
          <a:ln w="15875">
            <a:solidFill>
              <a:srgbClr val="C9DCF2"/>
            </a:solidFill>
            <a:prstDash val="solid"/>
          </a:ln>
        </p:spPr>
        <p:txBody>
          <a:bodyPr/>
          <a:lstStyle/>
          <a:p>
            <a:endParaRPr lang="en-US" noProof="0" dirty="0"/>
          </a:p>
        </p:txBody>
      </p:sp>
      <p:sp>
        <p:nvSpPr>
          <p:cNvPr id="23" name="Text 21"/>
          <p:cNvSpPr/>
          <p:nvPr/>
        </p:nvSpPr>
        <p:spPr>
          <a:xfrm>
            <a:off x="6342736" y="4754880"/>
            <a:ext cx="5172304" cy="475488"/>
          </a:xfrm>
          <a:prstGeom prst="rect">
            <a:avLst/>
          </a:prstGeom>
          <a:noFill/>
          <a:ln/>
        </p:spPr>
        <p:txBody>
          <a:bodyPr wrap="square" lIns="0" tIns="0" rIns="0" bIns="0" rtlCol="0" anchor="ctr">
            <a:noAutofit/>
          </a:bodyPr>
          <a:lstStyle/>
          <a:p>
            <a:pPr marL="0" indent="0">
              <a:buNone/>
            </a:pPr>
            <a:r>
              <a:rPr lang="fr" sz="1245" b="1" noProof="0">
                <a:solidFill>
                  <a:srgbClr val="126647"/>
                </a:solidFill>
                <a:latin typeface="Calibri" pitchFamily="34" charset="0"/>
                <a:ea typeface="Calibri" pitchFamily="34" charset="-122"/>
                <a:cs typeface="Calibri" pitchFamily="34" charset="-120"/>
              </a:rPr>
              <a:t>D. Il n'est pas actuellement en place, selon le plan national de lutte contre le cancer</a:t>
            </a:r>
            <a:endParaRPr lang="en-US" sz="1245" noProof="0" dirty="0"/>
          </a:p>
        </p:txBody>
      </p:sp>
      <p:sp>
        <p:nvSpPr>
          <p:cNvPr id="24" name="Text 22"/>
          <p:cNvSpPr/>
          <p:nvPr/>
        </p:nvSpPr>
        <p:spPr>
          <a:xfrm>
            <a:off x="548640" y="5285232"/>
            <a:ext cx="11094415" cy="365760"/>
          </a:xfrm>
          <a:prstGeom prst="rect">
            <a:avLst/>
          </a:prstGeom>
          <a:noFill/>
          <a:ln/>
        </p:spPr>
        <p:txBody>
          <a:bodyPr wrap="square" lIns="0" tIns="0" rIns="0" bIns="0" rtlCol="0" anchor="t"/>
          <a:lstStyle/>
          <a:p>
            <a:pPr marL="0" indent="0">
              <a:buNone/>
            </a:pPr>
            <a:r>
              <a:rPr lang="fr" sz="1500" b="1" noProof="0">
                <a:solidFill>
                  <a:srgbClr val="126647"/>
                </a:solidFill>
                <a:latin typeface="Calibri" pitchFamily="34" charset="0"/>
                <a:ea typeface="Calibri" pitchFamily="34" charset="-122"/>
                <a:cs typeface="Calibri" pitchFamily="34" charset="-120"/>
              </a:rPr>
              <a:t>Correct : D. </a:t>
            </a:r>
            <a:r>
              <a:rPr lang="fr" sz="1500" i="1" noProof="0">
                <a:solidFill>
                  <a:srgbClr val="17325E"/>
                </a:solidFill>
                <a:latin typeface="Calibri" pitchFamily="34" charset="0"/>
                <a:ea typeface="Calibri" pitchFamily="34" charset="-122"/>
                <a:cs typeface="Calibri" pitchFamily="34" charset="-120"/>
              </a:rPr>
              <a:t>Le Plan national de contrôle du cancer 2025 à 2029 indique que le dépistage colorectal n'a pas abouti et qu'aucun programme de dépistage n'est actuellement en place. La détection précoce dépend donc de la reconnaissance des symptômes et des risques.</a:t>
            </a:r>
            <a:endParaRPr lang="en-US" sz="1500" noProof="0" dirty="0"/>
          </a:p>
        </p:txBody>
      </p:sp>
      <p:sp>
        <p:nvSpPr>
          <p:cNvPr id="25" name="Text 3"/>
          <p:cNvSpPr/>
          <p:nvPr/>
        </p:nvSpPr>
        <p:spPr>
          <a:xfrm>
            <a:off x="548640" y="1261872"/>
            <a:ext cx="11091672" cy="256032"/>
          </a:xfrm>
          <a:prstGeom prst="rect">
            <a:avLst/>
          </a:prstGeom>
          <a:noFill/>
          <a:ln/>
        </p:spPr>
        <p:txBody>
          <a:bodyPr wrap="square" rtlCol="0" anchor="ctr"/>
          <a:lstStyle/>
          <a:p>
            <a:pPr marL="0" indent="0">
              <a:buNone/>
            </a:pPr>
            <a:r>
              <a:rPr lang="fr" sz="1500" i="1" noProof="0">
                <a:solidFill>
                  <a:srgbClr val="5B7195"/>
                </a:solidFill>
                <a:latin typeface="Calibri" pitchFamily="34" charset="0"/>
                <a:ea typeface="Calibri" pitchFamily="34" charset="-122"/>
                <a:cs typeface="Calibri" pitchFamily="34" charset="-120"/>
              </a:rPr>
              <a:t>Choisissez la meilleure réponse.</a:t>
            </a:r>
            <a:endParaRPr lang="en-US" sz="1500" noProof="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ATTRIBUTION ET SOURCES</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Références</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9" name="Text 7"/>
          <p:cNvSpPr/>
          <p:nvPr/>
        </p:nvSpPr>
        <p:spPr>
          <a:xfrm>
            <a:off x="548640" y="5660136"/>
            <a:ext cx="5364328" cy="950976"/>
          </a:xfrm>
          <a:prstGeom prst="rect">
            <a:avLst/>
          </a:prstGeom>
          <a:noFill/>
          <a:ln/>
        </p:spPr>
        <p:txBody>
          <a:bodyPr wrap="square" lIns="0" tIns="0" rIns="0" bIns="0" rtlCol="0" anchor="t"/>
          <a:lstStyle/>
          <a:p>
            <a:pPr marL="0" indent="0">
              <a:buNone/>
            </a:pPr>
            <a:r>
              <a:rPr lang="fr" sz="1300" b="1" noProof="0">
                <a:solidFill>
                  <a:srgbClr val="1F4E96"/>
                </a:solidFill>
                <a:latin typeface="Calibri" pitchFamily="34" charset="0"/>
                <a:ea typeface="Calibri" pitchFamily="34" charset="-122"/>
                <a:cs typeface="Calibri" pitchFamily="34" charset="-120"/>
              </a:rPr>
              <a:t>5. Mounoume Lobe ILV, Qiu Z, Liu L. Charge africaine du cancer colorectal en 2022 et projections jusqu'en 2050. ecancermedicalscience. 2024 ; 18:1780. doi :10.3332/ecancer.2024.1780</a:t>
            </a:r>
            <a:endParaRPr lang="en-US" sz="1300" noProof="0" dirty="0"/>
          </a:p>
        </p:txBody>
      </p:sp>
      <p:sp>
        <p:nvSpPr>
          <p:cNvPr id="14" name="Text 3">
            <a:extLst>
              <a:ext uri="{FF2B5EF4-FFF2-40B4-BE49-F238E27FC236}">
                <a16:creationId xmlns:a16="http://schemas.microsoft.com/office/drawing/2014/main" id="{60DEEC0E-F93F-BC02-CC33-C30FA9F68BB9}"/>
              </a:ext>
            </a:extLst>
          </p:cNvPr>
          <p:cNvSpPr/>
          <p:nvPr/>
        </p:nvSpPr>
        <p:spPr>
          <a:xfrm>
            <a:off x="548640" y="1417320"/>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1.  </a:t>
            </a:r>
            <a:r>
              <a:rPr lang="en-US" sz="1300" noProof="0" dirty="0">
                <a:solidFill>
                  <a:srgbClr val="17325E"/>
                </a:solidFill>
                <a:latin typeface="Calibri" pitchFamily="34" charset="0"/>
                <a:ea typeface="Calibri" pitchFamily="34" charset="-122"/>
                <a:cs typeface="Calibri" pitchFamily="34" charset="-120"/>
              </a:rPr>
              <a:t>International Agency for Research on Cancer. Global Cancer Observatory: Cancer Today. Rwanda fact sheet, GLOBOCAN 2024 estimates. Lyon: IARC / WHO. https://</a:t>
            </a:r>
            <a:r>
              <a:rPr lang="en-US" sz="1300" noProof="0" dirty="0" err="1">
                <a:solidFill>
                  <a:srgbClr val="17325E"/>
                </a:solidFill>
                <a:latin typeface="Calibri" pitchFamily="34" charset="0"/>
                <a:ea typeface="Calibri" pitchFamily="34" charset="-122"/>
                <a:cs typeface="Calibri" pitchFamily="34" charset="-120"/>
              </a:rPr>
              <a:t>gco.iarc.who.int</a:t>
            </a:r>
            <a:r>
              <a:rPr lang="en-US" sz="1300" noProof="0" dirty="0">
                <a:solidFill>
                  <a:srgbClr val="17325E"/>
                </a:solidFill>
                <a:latin typeface="Calibri" pitchFamily="34" charset="0"/>
                <a:ea typeface="Calibri" pitchFamily="34" charset="-122"/>
                <a:cs typeface="Calibri" pitchFamily="34" charset="-120"/>
              </a:rPr>
              <a:t>/today</a:t>
            </a:r>
            <a:endParaRPr lang="en-US" sz="1300" noProof="0" dirty="0"/>
          </a:p>
        </p:txBody>
      </p:sp>
      <p:sp>
        <p:nvSpPr>
          <p:cNvPr id="15" name="Text 4">
            <a:extLst>
              <a:ext uri="{FF2B5EF4-FFF2-40B4-BE49-F238E27FC236}">
                <a16:creationId xmlns:a16="http://schemas.microsoft.com/office/drawing/2014/main" id="{D9F06D9C-B07A-4D9E-B9BA-5166289DB2C5}"/>
              </a:ext>
            </a:extLst>
          </p:cNvPr>
          <p:cNvSpPr/>
          <p:nvPr/>
        </p:nvSpPr>
        <p:spPr>
          <a:xfrm>
            <a:off x="548640" y="2423160"/>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2.  </a:t>
            </a:r>
            <a:r>
              <a:rPr lang="en-US" sz="1300" noProof="0" dirty="0">
                <a:solidFill>
                  <a:srgbClr val="17325E"/>
                </a:solidFill>
                <a:latin typeface="Calibri" pitchFamily="34" charset="0"/>
                <a:ea typeface="Calibri" pitchFamily="34" charset="-122"/>
                <a:cs typeface="Calibri" pitchFamily="34" charset="-120"/>
              </a:rPr>
              <a:t>International Agency for Research on Cancer. Global Cancer Observatory: Cancer Today. Colorectum fact sheet, GLOBOCAN 2024 estimates (2,041,007 cases; 917,895 deaths). Lyon: IARC / WHO.</a:t>
            </a:r>
            <a:endParaRPr lang="en-US" sz="1300" noProof="0" dirty="0"/>
          </a:p>
        </p:txBody>
      </p:sp>
      <p:sp>
        <p:nvSpPr>
          <p:cNvPr id="16" name="Text 5">
            <a:extLst>
              <a:ext uri="{FF2B5EF4-FFF2-40B4-BE49-F238E27FC236}">
                <a16:creationId xmlns:a16="http://schemas.microsoft.com/office/drawing/2014/main" id="{0BDB5414-CDAA-0DBD-4B39-045ECECDF7A7}"/>
              </a:ext>
            </a:extLst>
          </p:cNvPr>
          <p:cNvSpPr/>
          <p:nvPr/>
        </p:nvSpPr>
        <p:spPr>
          <a:xfrm>
            <a:off x="548640" y="3429000"/>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3.  </a:t>
            </a:r>
            <a:r>
              <a:rPr lang="en-US" sz="1300" noProof="0" dirty="0">
                <a:solidFill>
                  <a:srgbClr val="17325E"/>
                </a:solidFill>
                <a:latin typeface="Calibri" pitchFamily="34" charset="0"/>
                <a:ea typeface="Calibri" pitchFamily="34" charset="-122"/>
                <a:cs typeface="Calibri" pitchFamily="34" charset="-120"/>
              </a:rPr>
              <a:t>International Agency for Research on Cancer. Global Cancer Observatory: Cancer Today. Africa and Eastern Africa fact sheets, GLOBOCAN 2024 estimates. Lyon: IARC / WHO.</a:t>
            </a:r>
            <a:endParaRPr lang="en-US" sz="1300" noProof="0" dirty="0"/>
          </a:p>
        </p:txBody>
      </p:sp>
      <p:sp>
        <p:nvSpPr>
          <p:cNvPr id="17" name="Text 6">
            <a:extLst>
              <a:ext uri="{FF2B5EF4-FFF2-40B4-BE49-F238E27FC236}">
                <a16:creationId xmlns:a16="http://schemas.microsoft.com/office/drawing/2014/main" id="{04761C92-A2A3-4CB3-7062-F5CE83992D96}"/>
              </a:ext>
            </a:extLst>
          </p:cNvPr>
          <p:cNvSpPr/>
          <p:nvPr/>
        </p:nvSpPr>
        <p:spPr>
          <a:xfrm>
            <a:off x="548640" y="4434840"/>
            <a:ext cx="5364328" cy="1170432"/>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4.  </a:t>
            </a:r>
            <a:r>
              <a:rPr lang="en-US" sz="1300" noProof="0" dirty="0">
                <a:solidFill>
                  <a:srgbClr val="17325E"/>
                </a:solidFill>
                <a:latin typeface="Calibri" pitchFamily="34" charset="0"/>
                <a:ea typeface="Calibri" pitchFamily="34" charset="-122"/>
                <a:cs typeface="Calibri" pitchFamily="34" charset="-120"/>
              </a:rPr>
              <a:t>Sung H, Filho AM, </a:t>
            </a:r>
            <a:r>
              <a:rPr lang="en-US" sz="1300" noProof="0" dirty="0" err="1">
                <a:solidFill>
                  <a:srgbClr val="17325E"/>
                </a:solidFill>
                <a:latin typeface="Calibri" pitchFamily="34" charset="0"/>
                <a:ea typeface="Calibri" pitchFamily="34" charset="-122"/>
                <a:cs typeface="Calibri" pitchFamily="34" charset="-120"/>
              </a:rPr>
              <a:t>Laversanne</a:t>
            </a:r>
            <a:r>
              <a:rPr lang="en-US" sz="1300" noProof="0" dirty="0">
                <a:solidFill>
                  <a:srgbClr val="17325E"/>
                </a:solidFill>
                <a:latin typeface="Calibri" pitchFamily="34" charset="0"/>
                <a:ea typeface="Calibri" pitchFamily="34" charset="-122"/>
                <a:cs typeface="Calibri" pitchFamily="34" charset="-120"/>
              </a:rPr>
              <a:t> M, et al. Global cancer statistics 2024: GLOBOCAN estimates of incidence and mortality worldwide for 34 cancers in 186 countries. CA Cancer J Clin. 2026. doi:10.3322/caac.70090</a:t>
            </a:r>
            <a:endParaRPr lang="en-US" sz="1300" noProof="0" dirty="0"/>
          </a:p>
        </p:txBody>
      </p:sp>
      <p:sp>
        <p:nvSpPr>
          <p:cNvPr id="18" name="Text 8">
            <a:extLst>
              <a:ext uri="{FF2B5EF4-FFF2-40B4-BE49-F238E27FC236}">
                <a16:creationId xmlns:a16="http://schemas.microsoft.com/office/drawing/2014/main" id="{77F018F6-8FCA-31A5-9EBC-69701A72CAB3}"/>
              </a:ext>
            </a:extLst>
          </p:cNvPr>
          <p:cNvSpPr/>
          <p:nvPr/>
        </p:nvSpPr>
        <p:spPr>
          <a:xfrm>
            <a:off x="6278728" y="1417320"/>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6.  </a:t>
            </a:r>
            <a:r>
              <a:rPr lang="en-US" sz="1300" noProof="0" dirty="0">
                <a:solidFill>
                  <a:srgbClr val="17325E"/>
                </a:solidFill>
                <a:latin typeface="Calibri" pitchFamily="34" charset="0"/>
                <a:ea typeface="Calibri" pitchFamily="34" charset="-122"/>
                <a:cs typeface="Calibri" pitchFamily="34" charset="-120"/>
              </a:rPr>
              <a:t>International Agency for Research on Cancer. Global Cancer Observatory: Cancer Tomorrow. Projected cancer burden in Rwanda to 2050. Lyon: IARC / WHO. https://</a:t>
            </a:r>
            <a:r>
              <a:rPr lang="en-US" sz="1300" noProof="0" dirty="0" err="1">
                <a:solidFill>
                  <a:srgbClr val="17325E"/>
                </a:solidFill>
                <a:latin typeface="Calibri" pitchFamily="34" charset="0"/>
                <a:ea typeface="Calibri" pitchFamily="34" charset="-122"/>
                <a:cs typeface="Calibri" pitchFamily="34" charset="-120"/>
              </a:rPr>
              <a:t>gco.iarc.fr</a:t>
            </a:r>
            <a:r>
              <a:rPr lang="en-US" sz="1300" noProof="0" dirty="0">
                <a:solidFill>
                  <a:srgbClr val="17325E"/>
                </a:solidFill>
                <a:latin typeface="Calibri" pitchFamily="34" charset="0"/>
                <a:ea typeface="Calibri" pitchFamily="34" charset="-122"/>
                <a:cs typeface="Calibri" pitchFamily="34" charset="-120"/>
              </a:rPr>
              <a:t>/tomorrow</a:t>
            </a:r>
            <a:endParaRPr lang="en-US" sz="1300" noProof="0" dirty="0"/>
          </a:p>
        </p:txBody>
      </p:sp>
      <p:sp>
        <p:nvSpPr>
          <p:cNvPr id="19" name="Text 9">
            <a:extLst>
              <a:ext uri="{FF2B5EF4-FFF2-40B4-BE49-F238E27FC236}">
                <a16:creationId xmlns:a16="http://schemas.microsoft.com/office/drawing/2014/main" id="{6C73D269-1C8B-1F69-0216-C23AD1FB8EFE}"/>
              </a:ext>
            </a:extLst>
          </p:cNvPr>
          <p:cNvSpPr/>
          <p:nvPr/>
        </p:nvSpPr>
        <p:spPr>
          <a:xfrm>
            <a:off x="6278728" y="2423160"/>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7.  </a:t>
            </a:r>
            <a:r>
              <a:rPr lang="en-US" sz="1300" noProof="0" dirty="0">
                <a:solidFill>
                  <a:srgbClr val="17325E"/>
                </a:solidFill>
                <a:latin typeface="Calibri" pitchFamily="34" charset="0"/>
                <a:ea typeface="Calibri" pitchFamily="34" charset="-122"/>
                <a:cs typeface="Calibri" pitchFamily="34" charset="-120"/>
              </a:rPr>
              <a:t>Republic of Rwanda, Ministry of Health. National Cancer Control Plan 2025 to 2029. Kigali: Ministry of Health / Rwanda Biomedical Centre.</a:t>
            </a:r>
            <a:endParaRPr lang="en-US" sz="1300" noProof="0" dirty="0"/>
          </a:p>
        </p:txBody>
      </p:sp>
      <p:sp>
        <p:nvSpPr>
          <p:cNvPr id="20" name="Text 10">
            <a:extLst>
              <a:ext uri="{FF2B5EF4-FFF2-40B4-BE49-F238E27FC236}">
                <a16:creationId xmlns:a16="http://schemas.microsoft.com/office/drawing/2014/main" id="{A5646660-7D9C-DA65-CA88-2292A6B70F28}"/>
              </a:ext>
            </a:extLst>
          </p:cNvPr>
          <p:cNvSpPr/>
          <p:nvPr/>
        </p:nvSpPr>
        <p:spPr>
          <a:xfrm>
            <a:off x="6278728" y="3429000"/>
            <a:ext cx="5364328" cy="731520"/>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8.  </a:t>
            </a:r>
            <a:r>
              <a:rPr lang="en-US" sz="1300" noProof="0" dirty="0">
                <a:solidFill>
                  <a:srgbClr val="17325E"/>
                </a:solidFill>
                <a:latin typeface="Calibri" pitchFamily="34" charset="0"/>
                <a:ea typeface="Calibri" pitchFamily="34" charset="-122"/>
                <a:cs typeface="Calibri" pitchFamily="34" charset="-120"/>
              </a:rPr>
              <a:t>Rwanda Biomedical Centre. Updates in Cancer Care in Rwanda, June 2026. Kigali: Rwanda Ministry of Health, Cancer </a:t>
            </a:r>
            <a:r>
              <a:rPr lang="en-US" sz="1300" noProof="0" dirty="0" err="1">
                <a:solidFill>
                  <a:srgbClr val="17325E"/>
                </a:solidFill>
                <a:latin typeface="Calibri" pitchFamily="34" charset="0"/>
                <a:ea typeface="Calibri" pitchFamily="34" charset="-122"/>
                <a:cs typeface="Calibri" pitchFamily="34" charset="-120"/>
              </a:rPr>
              <a:t>Programme</a:t>
            </a:r>
            <a:r>
              <a:rPr lang="en-US" sz="1300" noProof="0" dirty="0">
                <a:solidFill>
                  <a:srgbClr val="17325E"/>
                </a:solidFill>
                <a:latin typeface="Calibri" pitchFamily="34" charset="0"/>
                <a:ea typeface="Calibri" pitchFamily="34" charset="-122"/>
                <a:cs typeface="Calibri" pitchFamily="34" charset="-120"/>
              </a:rPr>
              <a:t>.</a:t>
            </a:r>
            <a:endParaRPr lang="en-US" sz="1300" noProof="0" dirty="0"/>
          </a:p>
        </p:txBody>
      </p:sp>
      <p:sp>
        <p:nvSpPr>
          <p:cNvPr id="21" name="Text 11">
            <a:extLst>
              <a:ext uri="{FF2B5EF4-FFF2-40B4-BE49-F238E27FC236}">
                <a16:creationId xmlns:a16="http://schemas.microsoft.com/office/drawing/2014/main" id="{EF7B6718-BD97-3B63-66D0-4563E5FEAA9A}"/>
              </a:ext>
            </a:extLst>
          </p:cNvPr>
          <p:cNvSpPr/>
          <p:nvPr/>
        </p:nvSpPr>
        <p:spPr>
          <a:xfrm>
            <a:off x="6278728" y="4215384"/>
            <a:ext cx="5364328" cy="1170432"/>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9.  </a:t>
            </a:r>
            <a:r>
              <a:rPr lang="en-US" sz="1300" noProof="0" dirty="0">
                <a:solidFill>
                  <a:srgbClr val="17325E"/>
                </a:solidFill>
                <a:latin typeface="Calibri" pitchFamily="34" charset="0"/>
                <a:ea typeface="Calibri" pitchFamily="34" charset="-122"/>
                <a:cs typeface="Calibri" pitchFamily="34" charset="-120"/>
              </a:rPr>
              <a:t>Baldwin M, </a:t>
            </a:r>
            <a:r>
              <a:rPr lang="en-US" sz="1300" noProof="0" dirty="0" err="1">
                <a:solidFill>
                  <a:srgbClr val="17325E"/>
                </a:solidFill>
                <a:latin typeface="Calibri" pitchFamily="34" charset="0"/>
                <a:ea typeface="Calibri" pitchFamily="34" charset="-122"/>
                <a:cs typeface="Calibri" pitchFamily="34" charset="-120"/>
              </a:rPr>
              <a:t>Niyibizi</a:t>
            </a:r>
            <a:r>
              <a:rPr lang="en-US" sz="1300" noProof="0" dirty="0">
                <a:solidFill>
                  <a:srgbClr val="17325E"/>
                </a:solidFill>
                <a:latin typeface="Calibri" pitchFamily="34" charset="0"/>
                <a:ea typeface="Calibri" pitchFamily="34" charset="-122"/>
                <a:cs typeface="Calibri" pitchFamily="34" charset="-120"/>
              </a:rPr>
              <a:t> BA, </a:t>
            </a:r>
            <a:r>
              <a:rPr lang="en-US" sz="1300" noProof="0" dirty="0" err="1">
                <a:solidFill>
                  <a:srgbClr val="17325E"/>
                </a:solidFill>
                <a:latin typeface="Calibri" pitchFamily="34" charset="0"/>
                <a:ea typeface="Calibri" pitchFamily="34" charset="-122"/>
                <a:cs typeface="Calibri" pitchFamily="34" charset="-120"/>
              </a:rPr>
              <a:t>Rangira</a:t>
            </a:r>
            <a:r>
              <a:rPr lang="en-US" sz="1300" noProof="0" dirty="0">
                <a:solidFill>
                  <a:srgbClr val="17325E"/>
                </a:solidFill>
                <a:latin typeface="Calibri" pitchFamily="34" charset="0"/>
                <a:ea typeface="Calibri" pitchFamily="34" charset="-122"/>
                <a:cs typeface="Calibri" pitchFamily="34" charset="-120"/>
              </a:rPr>
              <a:t> D, et al. Colorectal cancer disease profile and treatment patterns at an urban tertiary hospital in Rwanda. </a:t>
            </a:r>
            <a:r>
              <a:rPr lang="en-US" sz="1300" noProof="0" dirty="0" err="1">
                <a:solidFill>
                  <a:srgbClr val="17325E"/>
                </a:solidFill>
                <a:latin typeface="Calibri" pitchFamily="34" charset="0"/>
                <a:ea typeface="Calibri" pitchFamily="34" charset="-122"/>
                <a:cs typeface="Calibri" pitchFamily="34" charset="-120"/>
              </a:rPr>
              <a:t>ecancermedicalscience</a:t>
            </a:r>
            <a:r>
              <a:rPr lang="en-US" sz="1300" noProof="0" dirty="0">
                <a:solidFill>
                  <a:srgbClr val="17325E"/>
                </a:solidFill>
                <a:latin typeface="Calibri" pitchFamily="34" charset="0"/>
                <a:ea typeface="Calibri" pitchFamily="34" charset="-122"/>
                <a:cs typeface="Calibri" pitchFamily="34" charset="-120"/>
              </a:rPr>
              <a:t>. 2024;18:1687. doi:10.3332/ecancer.2024.1687</a:t>
            </a:r>
            <a:endParaRPr lang="en-US" sz="1300" noProof="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normAutofit fontScale="92500" lnSpcReduction="10000"/>
          </a:bodyPr>
          <a:lstStyle/>
          <a:p>
            <a:pPr marL="0" indent="0">
              <a:buNone/>
            </a:pPr>
            <a:r>
              <a:rPr lang="fr" sz="1200" b="1" kern="0" spc="200" noProof="0">
                <a:solidFill>
                  <a:srgbClr val="1F4E96"/>
                </a:solidFill>
                <a:latin typeface="Calibri" pitchFamily="34" charset="0"/>
                <a:ea typeface="Calibri" pitchFamily="34" charset="-122"/>
                <a:cs typeface="Calibri" pitchFamily="34" charset="-120"/>
              </a:rPr>
              <a:t>ATTRIBUTION ET SOURCES</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fr" sz="3400" b="1" noProof="0">
                <a:solidFill>
                  <a:srgbClr val="0E2E5C"/>
                </a:solidFill>
                <a:latin typeface="Cambria" pitchFamily="34" charset="0"/>
                <a:ea typeface="Cambria" pitchFamily="34" charset="-122"/>
                <a:cs typeface="Cambria" pitchFamily="34" charset="-120"/>
              </a:rPr>
              <a:t>Références (suite)</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fr" sz="1000" noProof="0">
                <a:solidFill>
                  <a:srgbClr val="5B7195"/>
                </a:solidFill>
                <a:latin typeface="Calibri" pitchFamily="34" charset="0"/>
                <a:ea typeface="Calibri" pitchFamily="34" charset="-122"/>
                <a:cs typeface="Calibri" pitchFamily="34" charset="-120"/>
              </a:rPr>
              <a:t>Cancer colorectal | Santé de première ligne | Centre biomédical du Rwanda</a:t>
            </a:r>
            <a:endParaRPr lang="en-US" sz="1000" noProof="0" dirty="0"/>
          </a:p>
        </p:txBody>
      </p:sp>
      <p:sp>
        <p:nvSpPr>
          <p:cNvPr id="14" name="Text 3">
            <a:extLst>
              <a:ext uri="{FF2B5EF4-FFF2-40B4-BE49-F238E27FC236}">
                <a16:creationId xmlns:a16="http://schemas.microsoft.com/office/drawing/2014/main" id="{1AE0CFD6-7377-C223-7833-3C875FE69F0A}"/>
              </a:ext>
            </a:extLst>
          </p:cNvPr>
          <p:cNvSpPr/>
          <p:nvPr/>
        </p:nvSpPr>
        <p:spPr>
          <a:xfrm>
            <a:off x="548640" y="1417320"/>
            <a:ext cx="5364328" cy="731520"/>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10.  </a:t>
            </a:r>
            <a:r>
              <a:rPr lang="en-US" sz="1300" noProof="0" dirty="0">
                <a:solidFill>
                  <a:srgbClr val="17325E"/>
                </a:solidFill>
                <a:latin typeface="Calibri" pitchFamily="34" charset="0"/>
                <a:ea typeface="Calibri" pitchFamily="34" charset="-122"/>
                <a:cs typeface="Calibri" pitchFamily="34" charset="-120"/>
              </a:rPr>
              <a:t>World Health Organization. Guide to Cancer Early Diagnosis. Geneva: WHO, 2017.</a:t>
            </a:r>
            <a:endParaRPr lang="en-US" sz="1300" noProof="0" dirty="0"/>
          </a:p>
        </p:txBody>
      </p:sp>
      <p:sp>
        <p:nvSpPr>
          <p:cNvPr id="15" name="Text 4">
            <a:extLst>
              <a:ext uri="{FF2B5EF4-FFF2-40B4-BE49-F238E27FC236}">
                <a16:creationId xmlns:a16="http://schemas.microsoft.com/office/drawing/2014/main" id="{9FCB1A09-7EEA-CE2B-3172-9F916ADF9C71}"/>
              </a:ext>
            </a:extLst>
          </p:cNvPr>
          <p:cNvSpPr/>
          <p:nvPr/>
        </p:nvSpPr>
        <p:spPr>
          <a:xfrm>
            <a:off x="548640" y="2203704"/>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11.  </a:t>
            </a:r>
            <a:r>
              <a:rPr lang="en-US" sz="1300" noProof="0" dirty="0">
                <a:solidFill>
                  <a:srgbClr val="17325E"/>
                </a:solidFill>
                <a:latin typeface="Calibri" pitchFamily="34" charset="0"/>
                <a:ea typeface="Calibri" pitchFamily="34" charset="-122"/>
                <a:cs typeface="Calibri" pitchFamily="34" charset="-120"/>
              </a:rPr>
              <a:t>International Agency for Research on Cancer. Colorectal Cancer Screening. IARC Handbooks of Cancer Prevention, Volume 17. Lyon: IARC, 2019.</a:t>
            </a:r>
            <a:endParaRPr lang="en-US" sz="1300" noProof="0" dirty="0"/>
          </a:p>
        </p:txBody>
      </p:sp>
      <p:sp>
        <p:nvSpPr>
          <p:cNvPr id="16" name="Text 5">
            <a:extLst>
              <a:ext uri="{FF2B5EF4-FFF2-40B4-BE49-F238E27FC236}">
                <a16:creationId xmlns:a16="http://schemas.microsoft.com/office/drawing/2014/main" id="{328EC641-4A17-2C63-7A41-9625D24ADFB7}"/>
              </a:ext>
            </a:extLst>
          </p:cNvPr>
          <p:cNvSpPr/>
          <p:nvPr/>
        </p:nvSpPr>
        <p:spPr>
          <a:xfrm>
            <a:off x="548640" y="3209544"/>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12.  </a:t>
            </a:r>
            <a:r>
              <a:rPr lang="en-US" sz="1300" noProof="0" dirty="0" err="1">
                <a:solidFill>
                  <a:srgbClr val="17325E"/>
                </a:solidFill>
                <a:latin typeface="Calibri" pitchFamily="34" charset="0"/>
                <a:ea typeface="Calibri" pitchFamily="34" charset="-122"/>
                <a:cs typeface="Calibri" pitchFamily="34" charset="-120"/>
              </a:rPr>
              <a:t>Argilés</a:t>
            </a:r>
            <a:r>
              <a:rPr lang="en-US" sz="1300" noProof="0" dirty="0">
                <a:solidFill>
                  <a:srgbClr val="17325E"/>
                </a:solidFill>
                <a:latin typeface="Calibri" pitchFamily="34" charset="0"/>
                <a:ea typeface="Calibri" pitchFamily="34" charset="-122"/>
                <a:cs typeface="Calibri" pitchFamily="34" charset="-120"/>
              </a:rPr>
              <a:t> G, Tabernero J, </a:t>
            </a:r>
            <a:r>
              <a:rPr lang="en-US" sz="1300" noProof="0" dirty="0" err="1">
                <a:solidFill>
                  <a:srgbClr val="17325E"/>
                </a:solidFill>
                <a:latin typeface="Calibri" pitchFamily="34" charset="0"/>
                <a:ea typeface="Calibri" pitchFamily="34" charset="-122"/>
                <a:cs typeface="Calibri" pitchFamily="34" charset="-120"/>
              </a:rPr>
              <a:t>Labianca</a:t>
            </a:r>
            <a:r>
              <a:rPr lang="en-US" sz="1300" noProof="0" dirty="0">
                <a:solidFill>
                  <a:srgbClr val="17325E"/>
                </a:solidFill>
                <a:latin typeface="Calibri" pitchFamily="34" charset="0"/>
                <a:ea typeface="Calibri" pitchFamily="34" charset="-122"/>
                <a:cs typeface="Calibri" pitchFamily="34" charset="-120"/>
              </a:rPr>
              <a:t> R, et al. </a:t>
            </a:r>
            <a:r>
              <a:rPr lang="en-US" sz="1300" noProof="0" dirty="0" err="1">
                <a:solidFill>
                  <a:srgbClr val="17325E"/>
                </a:solidFill>
                <a:latin typeface="Calibri" pitchFamily="34" charset="0"/>
                <a:ea typeface="Calibri" pitchFamily="34" charset="-122"/>
                <a:cs typeface="Calibri" pitchFamily="34" charset="-120"/>
              </a:rPr>
              <a:t>Localised</a:t>
            </a:r>
            <a:r>
              <a:rPr lang="en-US" sz="1300" noProof="0" dirty="0">
                <a:solidFill>
                  <a:srgbClr val="17325E"/>
                </a:solidFill>
                <a:latin typeface="Calibri" pitchFamily="34" charset="0"/>
                <a:ea typeface="Calibri" pitchFamily="34" charset="-122"/>
                <a:cs typeface="Calibri" pitchFamily="34" charset="-120"/>
              </a:rPr>
              <a:t> colon cancer: ESMO Clinical Practice Guidelines. Ann Oncol. 2020;31(10):1291 to 1305. doi:10.1016/j.annonc.2020.06.022</a:t>
            </a:r>
            <a:endParaRPr lang="en-US" sz="1300" noProof="0" dirty="0"/>
          </a:p>
        </p:txBody>
      </p:sp>
      <p:sp>
        <p:nvSpPr>
          <p:cNvPr id="17" name="Text 6">
            <a:extLst>
              <a:ext uri="{FF2B5EF4-FFF2-40B4-BE49-F238E27FC236}">
                <a16:creationId xmlns:a16="http://schemas.microsoft.com/office/drawing/2014/main" id="{3538147B-DDB1-C04E-B925-6EDD7D8EDD91}"/>
              </a:ext>
            </a:extLst>
          </p:cNvPr>
          <p:cNvSpPr/>
          <p:nvPr/>
        </p:nvSpPr>
        <p:spPr>
          <a:xfrm>
            <a:off x="548640" y="4215384"/>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13.  </a:t>
            </a:r>
            <a:r>
              <a:rPr lang="en-US" sz="1300" noProof="0" dirty="0">
                <a:solidFill>
                  <a:srgbClr val="17325E"/>
                </a:solidFill>
                <a:latin typeface="Calibri" pitchFamily="34" charset="0"/>
                <a:ea typeface="Calibri" pitchFamily="34" charset="-122"/>
                <a:cs typeface="Calibri" pitchFamily="34" charset="-120"/>
              </a:rPr>
              <a:t>European Society for Medical Oncology. ESMO Clinical Practice Guideline: metastatic colorectal cancer. https://</a:t>
            </a:r>
            <a:r>
              <a:rPr lang="en-US" sz="1300" noProof="0" dirty="0" err="1">
                <a:solidFill>
                  <a:srgbClr val="17325E"/>
                </a:solidFill>
                <a:latin typeface="Calibri" pitchFamily="34" charset="0"/>
                <a:ea typeface="Calibri" pitchFamily="34" charset="-122"/>
                <a:cs typeface="Calibri" pitchFamily="34" charset="-120"/>
              </a:rPr>
              <a:t>www.esmo.org</a:t>
            </a:r>
            <a:r>
              <a:rPr lang="en-US" sz="1300" noProof="0" dirty="0">
                <a:solidFill>
                  <a:srgbClr val="17325E"/>
                </a:solidFill>
                <a:latin typeface="Calibri" pitchFamily="34" charset="0"/>
                <a:ea typeface="Calibri" pitchFamily="34" charset="-122"/>
                <a:cs typeface="Calibri" pitchFamily="34" charset="-120"/>
              </a:rPr>
              <a:t>/guidelines</a:t>
            </a:r>
            <a:endParaRPr lang="en-US" sz="1300" noProof="0" dirty="0"/>
          </a:p>
        </p:txBody>
      </p:sp>
      <p:sp>
        <p:nvSpPr>
          <p:cNvPr id="18" name="Text 8">
            <a:extLst>
              <a:ext uri="{FF2B5EF4-FFF2-40B4-BE49-F238E27FC236}">
                <a16:creationId xmlns:a16="http://schemas.microsoft.com/office/drawing/2014/main" id="{57175E93-0E74-7EDA-8101-1637A85682E2}"/>
              </a:ext>
            </a:extLst>
          </p:cNvPr>
          <p:cNvSpPr/>
          <p:nvPr/>
        </p:nvSpPr>
        <p:spPr>
          <a:xfrm>
            <a:off x="6278728" y="1417320"/>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15.  </a:t>
            </a:r>
            <a:r>
              <a:rPr lang="en-US" sz="1300" noProof="0" dirty="0">
                <a:solidFill>
                  <a:srgbClr val="17325E"/>
                </a:solidFill>
                <a:latin typeface="Calibri" pitchFamily="34" charset="0"/>
                <a:ea typeface="Calibri" pitchFamily="34" charset="-122"/>
                <a:cs typeface="Calibri" pitchFamily="34" charset="-120"/>
              </a:rPr>
              <a:t>National Comprehensive Cancer Network. NCCN Clinical Practice Guidelines in Oncology: Genetic / Familial High-Risk Assessment, Colorectal. https://</a:t>
            </a:r>
            <a:r>
              <a:rPr lang="en-US" sz="1300" noProof="0" dirty="0" err="1">
                <a:solidFill>
                  <a:srgbClr val="17325E"/>
                </a:solidFill>
                <a:latin typeface="Calibri" pitchFamily="34" charset="0"/>
                <a:ea typeface="Calibri" pitchFamily="34" charset="-122"/>
                <a:cs typeface="Calibri" pitchFamily="34" charset="-120"/>
              </a:rPr>
              <a:t>www.nccn.org</a:t>
            </a:r>
            <a:endParaRPr lang="en-US" sz="1300" noProof="0" dirty="0"/>
          </a:p>
        </p:txBody>
      </p:sp>
      <p:sp>
        <p:nvSpPr>
          <p:cNvPr id="19" name="Text 9">
            <a:extLst>
              <a:ext uri="{FF2B5EF4-FFF2-40B4-BE49-F238E27FC236}">
                <a16:creationId xmlns:a16="http://schemas.microsoft.com/office/drawing/2014/main" id="{EBC4C922-CFA0-412C-32DA-AED9E9F28A68}"/>
              </a:ext>
            </a:extLst>
          </p:cNvPr>
          <p:cNvSpPr/>
          <p:nvPr/>
        </p:nvSpPr>
        <p:spPr>
          <a:xfrm>
            <a:off x="6278728" y="2423160"/>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16.  </a:t>
            </a:r>
            <a:r>
              <a:rPr lang="en-US" sz="1300" noProof="0" dirty="0">
                <a:solidFill>
                  <a:srgbClr val="17325E"/>
                </a:solidFill>
                <a:latin typeface="Calibri" pitchFamily="34" charset="0"/>
                <a:ea typeface="Calibri" pitchFamily="34" charset="-122"/>
                <a:cs typeface="Calibri" pitchFamily="34" charset="-120"/>
              </a:rPr>
              <a:t>American Cancer Society. Colorectal cancer: causes, risk factors, detection, diagnosis, staging and treatment. https://</a:t>
            </a:r>
            <a:r>
              <a:rPr lang="en-US" sz="1300" noProof="0" dirty="0" err="1">
                <a:solidFill>
                  <a:srgbClr val="17325E"/>
                </a:solidFill>
                <a:latin typeface="Calibri" pitchFamily="34" charset="0"/>
                <a:ea typeface="Calibri" pitchFamily="34" charset="-122"/>
                <a:cs typeface="Calibri" pitchFamily="34" charset="-120"/>
              </a:rPr>
              <a:t>www.cancer.org</a:t>
            </a:r>
            <a:endParaRPr lang="en-US" sz="1300" noProof="0" dirty="0"/>
          </a:p>
        </p:txBody>
      </p:sp>
      <p:sp>
        <p:nvSpPr>
          <p:cNvPr id="20" name="Text 10">
            <a:extLst>
              <a:ext uri="{FF2B5EF4-FFF2-40B4-BE49-F238E27FC236}">
                <a16:creationId xmlns:a16="http://schemas.microsoft.com/office/drawing/2014/main" id="{00799AB9-101D-DF9F-32F1-9F48ACC30092}"/>
              </a:ext>
            </a:extLst>
          </p:cNvPr>
          <p:cNvSpPr/>
          <p:nvPr/>
        </p:nvSpPr>
        <p:spPr>
          <a:xfrm>
            <a:off x="6278728" y="3429000"/>
            <a:ext cx="5364328" cy="1170432"/>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17.  </a:t>
            </a:r>
            <a:r>
              <a:rPr lang="en-US" sz="1300" noProof="0" dirty="0">
                <a:solidFill>
                  <a:srgbClr val="17325E"/>
                </a:solidFill>
                <a:latin typeface="Calibri" pitchFamily="34" charset="0"/>
                <a:ea typeface="Calibri" pitchFamily="34" charset="-122"/>
                <a:cs typeface="Calibri" pitchFamily="34" charset="-120"/>
              </a:rPr>
              <a:t>Amin MB, Edge SB, Greene FL, et al. AJCC Cancer Staging Manual, 8th edition. American College of Surgeons; and Union for International Cancer Control, TNM Classification of Malignant </a:t>
            </a:r>
            <a:r>
              <a:rPr lang="en-US" sz="1300" noProof="0" dirty="0" err="1">
                <a:solidFill>
                  <a:srgbClr val="17325E"/>
                </a:solidFill>
                <a:latin typeface="Calibri" pitchFamily="34" charset="0"/>
                <a:ea typeface="Calibri" pitchFamily="34" charset="-122"/>
                <a:cs typeface="Calibri" pitchFamily="34" charset="-120"/>
              </a:rPr>
              <a:t>Tumours</a:t>
            </a:r>
            <a:r>
              <a:rPr lang="en-US" sz="1300" noProof="0" dirty="0">
                <a:solidFill>
                  <a:srgbClr val="17325E"/>
                </a:solidFill>
                <a:latin typeface="Calibri" pitchFamily="34" charset="0"/>
                <a:ea typeface="Calibri" pitchFamily="34" charset="-122"/>
                <a:cs typeface="Calibri" pitchFamily="34" charset="-120"/>
              </a:rPr>
              <a:t>.</a:t>
            </a:r>
            <a:endParaRPr lang="en-US" sz="1300" noProof="0" dirty="0"/>
          </a:p>
        </p:txBody>
      </p:sp>
      <p:sp>
        <p:nvSpPr>
          <p:cNvPr id="21" name="Text 7">
            <a:extLst>
              <a:ext uri="{FF2B5EF4-FFF2-40B4-BE49-F238E27FC236}">
                <a16:creationId xmlns:a16="http://schemas.microsoft.com/office/drawing/2014/main" id="{CFB8A6BC-13DD-A51F-1FA0-691A13ED93BF}"/>
              </a:ext>
            </a:extLst>
          </p:cNvPr>
          <p:cNvSpPr/>
          <p:nvPr/>
        </p:nvSpPr>
        <p:spPr>
          <a:xfrm>
            <a:off x="548640" y="5000244"/>
            <a:ext cx="5364328" cy="950976"/>
          </a:xfrm>
          <a:prstGeom prst="rect">
            <a:avLst/>
          </a:prstGeom>
          <a:noFill/>
          <a:ln/>
        </p:spPr>
        <p:txBody>
          <a:bodyPr wrap="square" lIns="0" tIns="0" rIns="0" bIns="0" rtlCol="0" anchor="t"/>
          <a:lstStyle/>
          <a:p>
            <a:pPr marL="0" indent="0">
              <a:buNone/>
            </a:pPr>
            <a:r>
              <a:rPr lang="en-US" sz="1300" b="1" noProof="0" dirty="0">
                <a:solidFill>
                  <a:srgbClr val="1F4E96"/>
                </a:solidFill>
                <a:latin typeface="Calibri" pitchFamily="34" charset="0"/>
                <a:ea typeface="Calibri" pitchFamily="34" charset="-122"/>
                <a:cs typeface="Calibri" pitchFamily="34" charset="-120"/>
              </a:rPr>
              <a:t>14.  </a:t>
            </a:r>
            <a:r>
              <a:rPr lang="en-US" sz="1300" noProof="0" dirty="0">
                <a:solidFill>
                  <a:srgbClr val="17325E"/>
                </a:solidFill>
                <a:latin typeface="Calibri" pitchFamily="34" charset="0"/>
                <a:ea typeface="Calibri" pitchFamily="34" charset="-122"/>
                <a:cs typeface="Calibri" pitchFamily="34" charset="-120"/>
              </a:rPr>
              <a:t>National Comprehensive Cancer Network. NCCN Clinical Practice Guidelines in Oncology: Colon Cancer, and Rectal Cancer. https://</a:t>
            </a:r>
            <a:r>
              <a:rPr lang="en-US" sz="1300" noProof="0" dirty="0" err="1">
                <a:solidFill>
                  <a:srgbClr val="17325E"/>
                </a:solidFill>
                <a:latin typeface="Calibri" pitchFamily="34" charset="0"/>
                <a:ea typeface="Calibri" pitchFamily="34" charset="-122"/>
                <a:cs typeface="Calibri" pitchFamily="34" charset="-120"/>
              </a:rPr>
              <a:t>www.nccn.org</a:t>
            </a:r>
            <a:endParaRPr lang="en-US" sz="13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BD95A3A-A3A2-44B0-B57F-74FE13AC88CC}"/>
</file>

<file path=customXml/itemProps2.xml><?xml version="1.0" encoding="utf-8"?>
<ds:datastoreItem xmlns:ds="http://schemas.openxmlformats.org/officeDocument/2006/customXml" ds:itemID="{A91F3876-D8C0-44E2-8759-C0C0F53304A9}"/>
</file>

<file path=customXml/itemProps3.xml><?xml version="1.0" encoding="utf-8"?>
<ds:datastoreItem xmlns:ds="http://schemas.openxmlformats.org/officeDocument/2006/customXml" ds:itemID="{D01D2D5F-769A-42D9-98FF-F8B85727117A}"/>
</file>

<file path=docProps/app.xml><?xml version="1.0" encoding="utf-8"?>
<Properties xmlns="http://schemas.openxmlformats.org/officeDocument/2006/extended-properties" xmlns:vt="http://schemas.openxmlformats.org/officeDocument/2006/docPropsVTypes">
  <TotalTime>4843</TotalTime>
  <Words>14660</Words>
  <Application>Microsoft Macintosh PowerPoint</Application>
  <PresentationFormat>Panorámica</PresentationFormat>
  <Paragraphs>1460</Paragraphs>
  <Slides>114</Slides>
  <Notes>114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114</vt:i4>
      </vt:variant>
    </vt:vector>
  </HeadingPairs>
  <TitlesOfParts>
    <vt:vector size="119" baseType="lpstr">
      <vt:lpstr>-apple-system</vt: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Rwanda Biomedical Centre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Colorectal Cancer, Frontline HCP Module</dc:title>
  <dc:subject>Colorectal Cancer, Frontline HCP module</dc:subject>
  <dc:creator>Rwanda Biomedical Centre</dc:creator>
  <cp:lastModifiedBy>komorebimindset_es@hotmail.com</cp:lastModifiedBy>
  <cp:revision>108</cp:revision>
  <cp:lastPrinted>2026-08-26T08:44:53Z</cp:lastPrinted>
  <dcterms:created xsi:type="dcterms:W3CDTF">2026-08-24T11:37:18Z</dcterms:created>
  <dcterms:modified xsi:type="dcterms:W3CDTF">2026-09-23T17:51:55Z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1acc0d-dcc4-4dc9-a2c5-be70b05a2fe6_Enabled">
    <vt:lpwstr>true</vt:lpwstr>
  </property>
  <property fmtid="{D5CDD505-2E9C-101B-9397-08002B2CF9AE}" pid="3" name="MSIP_Label_e81acc0d-dcc4-4dc9-a2c5-be70b05a2fe6_SetDate">
    <vt:lpwstr>2026-09-14T16:27:18Z</vt:lpwstr>
  </property>
  <property fmtid="{D5CDD505-2E9C-101B-9397-08002B2CF9AE}" pid="4" name="MSIP_Label_e81acc0d-dcc4-4dc9-a2c5-be70b05a2fe6_Method">
    <vt:lpwstr>Privileged</vt:lpwstr>
  </property>
  <property fmtid="{D5CDD505-2E9C-101B-9397-08002B2CF9AE}" pid="5" name="MSIP_Label_e81acc0d-dcc4-4dc9-a2c5-be70b05a2fe6_Name">
    <vt:lpwstr>e81acc0d-dcc4-4dc9-a2c5-be70b05a2fe6</vt:lpwstr>
  </property>
  <property fmtid="{D5CDD505-2E9C-101B-9397-08002B2CF9AE}" pid="6" name="MSIP_Label_e81acc0d-dcc4-4dc9-a2c5-be70b05a2fe6_SiteId">
    <vt:lpwstr>a00de4ec-48a8-43a6-be74-e31274e2060d</vt:lpwstr>
  </property>
  <property fmtid="{D5CDD505-2E9C-101B-9397-08002B2CF9AE}" pid="7" name="MSIP_Label_e81acc0d-dcc4-4dc9-a2c5-be70b05a2fe6_ActionId">
    <vt:lpwstr>9e3774c1-e13c-4dbf-980a-d928c4504afd</vt:lpwstr>
  </property>
  <property fmtid="{D5CDD505-2E9C-101B-9397-08002B2CF9AE}" pid="8" name="MSIP_Label_e81acc0d-dcc4-4dc9-a2c5-be70b05a2fe6_ContentBits">
    <vt:lpwstr>0</vt:lpwstr>
  </property>
  <property fmtid="{D5CDD505-2E9C-101B-9397-08002B2CF9AE}" pid="9" name="MSIP_Label_e81acc0d-dcc4-4dc9-a2c5-be70b05a2fe6_Tag">
    <vt:lpwstr>10, 0, 1, 1</vt:lpwstr>
  </property>
  <property fmtid="{D5CDD505-2E9C-101B-9397-08002B2CF9AE}" pid="10" name="ContentTypeId">
    <vt:lpwstr>0x0101007D61ECC46547A045896A1B75675AB43C</vt:lpwstr>
  </property>
</Properties>
</file>