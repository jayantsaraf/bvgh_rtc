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presentation.xml" ContentType="application/vnd.openxmlformats-officedocument.presentationml.presentation.main+xml"/>
  <Override PartName="/ppt/slides/slide85.xml" ContentType="application/vnd.openxmlformats-officedocument.presentationml.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44.xml" ContentType="application/vnd.openxmlformats-officedocument.presentationml.notesSlide+xml"/>
  <Override PartName="/ppt/notesSlides/notesSlide43.xml" ContentType="application/vnd.openxmlformats-officedocument.presentationml.notesSlide+xml"/>
  <Override PartName="/ppt/notesSlides/notesSlide42.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37.xml" ContentType="application/vnd.openxmlformats-officedocument.presentationml.notesSlide+xml"/>
  <Override PartName="/ppt/notesSlides/notesSlide36.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notesSlides/notesSlide33.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30.xml" ContentType="application/vnd.openxmlformats-officedocument.presentationml.notesSlide+xml"/>
  <Override PartName="/ppt/notesSlides/notesSlide29.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notesSlides/notesSlide63.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342" r:id="rId23"/>
    <p:sldId id="277" r:id="rId24"/>
    <p:sldId id="278" r:id="rId25"/>
    <p:sldId id="279" r:id="rId26"/>
    <p:sldId id="280" r:id="rId27"/>
    <p:sldId id="281" r:id="rId28"/>
    <p:sldId id="282" r:id="rId29"/>
    <p:sldId id="283" r:id="rId30"/>
    <p:sldId id="284"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1" r:id="rId8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219"/>
    <p:restoredTop sz="94610"/>
  </p:normalViewPr>
  <p:slideViewPr>
    <p:cSldViewPr snapToGrid="0" snapToObjects="1">
      <p:cViewPr varScale="1">
        <p:scale>
          <a:sx n="100" d="100"/>
          <a:sy n="100" d="100"/>
        </p:scale>
        <p:origin x="384"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customXml" Target="../customXml/item2.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customXml" Target="../customXml/item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45239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B78C5-CCC8-F5E1-1024-C726C8123C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810C9-3B2B-D221-0508-244F211754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A83EFF-5C59-73D4-3960-6376CBF9B8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4E7031-1346-AE29-B94B-0A97D3A966C8}"/>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8807329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0.png"/></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45.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8.png"/><Relationship Id="rId7" Type="http://schemas.openxmlformats.org/officeDocument/2006/relationships/image" Target="../media/image41.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40.png"/><Relationship Id="rId4" Type="http://schemas.openxmlformats.org/officeDocument/2006/relationships/image" Target="../media/image39.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55.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56.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50.png"/><Relationship Id="rId7" Type="http://schemas.openxmlformats.org/officeDocument/2006/relationships/image" Target="../media/image53.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36.png"/></Relationships>
</file>

<file path=ppt/slides/_rels/slide5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5.xml"/><Relationship Id="rId1" Type="http://schemas.openxmlformats.org/officeDocument/2006/relationships/slideLayout" Target="../slideLayouts/slideLayout1.xml"/><Relationship Id="rId5" Type="http://schemas.openxmlformats.org/officeDocument/2006/relationships/image" Target="../media/image59.png"/><Relationship Id="rId4" Type="http://schemas.openxmlformats.org/officeDocument/2006/relationships/image" Target="../media/image58.png"/></Relationships>
</file>

<file path=ppt/slides/_rels/slide6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56.png"/><Relationship Id="rId7" Type="http://schemas.openxmlformats.org/officeDocument/2006/relationships/image" Target="../media/image38.png"/><Relationship Id="rId2" Type="http://schemas.openxmlformats.org/officeDocument/2006/relationships/notesSlide" Target="../notesSlides/notesSlide66.xml"/><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67.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notesSlide" Target="../notesSlides/notesSlide67.xml"/><Relationship Id="rId1" Type="http://schemas.openxmlformats.org/officeDocument/2006/relationships/slideLayout" Target="../slideLayouts/slideLayout1.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hyperlink" Target="https://www.who.int/news-room/fact-sheets/detail/colorectal-cancer" TargetMode="External"/><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05B"/>
        </a:solidFill>
        <a:effectLst/>
      </p:bgPr>
    </p:bg>
    <p:spTree>
      <p:nvGrpSpPr>
        <p:cNvPr id="1" name=""/>
        <p:cNvGrpSpPr/>
        <p:nvPr/>
      </p:nvGrpSpPr>
      <p:grpSpPr>
        <a:xfrm>
          <a:off x="0" y="0"/>
          <a:ext cx="0" cy="0"/>
          <a:chOff x="0" y="0"/>
          <a:chExt cx="0" cy="0"/>
        </a:xfrm>
      </p:grpSpPr>
      <p:sp>
        <p:nvSpPr>
          <p:cNvPr id="2" name="Text 0"/>
          <p:cNvSpPr txBox="1"/>
          <p:nvPr/>
        </p:nvSpPr>
        <p:spPr>
          <a:xfrm>
            <a:off x="822960" y="1417320"/>
            <a:ext cx="9144000" cy="320040"/>
          </a:xfrm>
          <a:prstGeom prst="rect">
            <a:avLst/>
          </a:prstGeom>
          <a:noFill/>
          <a:ln/>
        </p:spPr>
        <p:txBody>
          <a:bodyPr wrap="square" lIns="0" tIns="0" rIns="0" bIns="0" rtlCol="0" anchor="ctr"/>
          <a:lstStyle/>
          <a:p>
            <a:pPr marL="0" indent="0">
              <a:buNone/>
            </a:pPr>
            <a:r>
              <a:rPr lang="rw-RW" sz="1400" b="1" kern="0" spc="300" dirty="0">
                <a:solidFill>
                  <a:srgbClr val="A9C4E8"/>
                </a:solidFill>
                <a:latin typeface="Calibri" pitchFamily="34" charset="0"/>
                <a:ea typeface="Calibri" pitchFamily="34" charset="-122"/>
                <a:cs typeface="Calibri" pitchFamily="34" charset="-120"/>
              </a:rPr>
              <a:t>AMASOMO Y'ABAJYANAMA B'UBUZIMA</a:t>
            </a:r>
            <a:endParaRPr lang="rw-RW" sz="1400" dirty="0"/>
          </a:p>
        </p:txBody>
      </p:sp>
      <p:sp>
        <p:nvSpPr>
          <p:cNvPr id="3" name="Text 1"/>
          <p:cNvSpPr txBox="1"/>
          <p:nvPr/>
        </p:nvSpPr>
        <p:spPr>
          <a:xfrm>
            <a:off x="822960" y="1828800"/>
            <a:ext cx="10058400" cy="1188720"/>
          </a:xfrm>
          <a:prstGeom prst="rect">
            <a:avLst/>
          </a:prstGeom>
          <a:noFill/>
          <a:ln/>
        </p:spPr>
        <p:txBody>
          <a:bodyPr wrap="square" lIns="0" tIns="0" rIns="0" bIns="0" rtlCol="0" anchor="ctr"/>
          <a:lstStyle/>
          <a:p>
            <a:pPr marL="0" indent="0">
              <a:buNone/>
            </a:pPr>
            <a:r>
              <a:rPr lang="rw-RW" sz="5400" b="1" dirty="0">
                <a:solidFill>
                  <a:srgbClr val="FFFFFF"/>
                </a:solidFill>
                <a:latin typeface="Cambria" pitchFamily="34" charset="0"/>
                <a:ea typeface="Cambria" pitchFamily="34" charset="-122"/>
                <a:cs typeface="Cambria" pitchFamily="34" charset="-120"/>
              </a:rPr>
              <a:t>Kanseri y'amara</a:t>
            </a:r>
            <a:endParaRPr lang="rw-RW" sz="5400" dirty="0"/>
          </a:p>
        </p:txBody>
      </p:sp>
      <p:sp>
        <p:nvSpPr>
          <p:cNvPr id="4" name="Text 2"/>
          <p:cNvSpPr txBox="1"/>
          <p:nvPr/>
        </p:nvSpPr>
        <p:spPr>
          <a:xfrm>
            <a:off x="822960" y="3063240"/>
            <a:ext cx="8778240" cy="731520"/>
          </a:xfrm>
          <a:prstGeom prst="rect">
            <a:avLst/>
          </a:prstGeom>
          <a:noFill/>
          <a:ln/>
        </p:spPr>
        <p:txBody>
          <a:bodyPr wrap="square" lIns="0" tIns="0" rIns="0" bIns="0" rtlCol="0" anchor="ctr">
            <a:normAutofit/>
          </a:bodyPr>
          <a:lstStyle/>
          <a:p>
            <a:pPr marL="0" indent="0">
              <a:buNone/>
            </a:pPr>
            <a:r>
              <a:rPr lang="rw-RW" sz="2050" dirty="0">
                <a:solidFill>
                  <a:srgbClr val="D6E4F5"/>
                </a:solidFill>
                <a:latin typeface="Calibri" pitchFamily="34" charset="0"/>
                <a:ea typeface="Calibri" pitchFamily="34" charset="-122"/>
                <a:cs typeface="Calibri" pitchFamily="34" charset="-120"/>
              </a:rPr>
              <a:t>Urugendo rwawe rwo kwiga: kuyimenya, kuyibona, kuyivugaho, kohereza umurwayi, no gufasha.</a:t>
            </a:r>
            <a:endParaRPr lang="rw-RW" sz="2050" dirty="0"/>
          </a:p>
        </p:txBody>
      </p:sp>
      <p:sp>
        <p:nvSpPr>
          <p:cNvPr id="5" name="Shape 3"/>
          <p:cNvSpPr/>
          <p:nvPr/>
        </p:nvSpPr>
        <p:spPr>
          <a:xfrm>
            <a:off x="822960" y="3931920"/>
            <a:ext cx="1737360" cy="566928"/>
          </a:xfrm>
          <a:prstGeom prst="roundRect">
            <a:avLst>
              <a:gd name="adj" fmla="val 16129"/>
            </a:avLst>
          </a:prstGeom>
          <a:solidFill>
            <a:srgbClr val="CADCFC"/>
          </a:solidFill>
          <a:ln/>
        </p:spPr>
        <p:txBody>
          <a:bodyPr/>
          <a:lstStyle/>
          <a:p>
            <a:endParaRPr lang="rw-RW" dirty="0"/>
          </a:p>
        </p:txBody>
      </p:sp>
      <p:sp>
        <p:nvSpPr>
          <p:cNvPr id="6" name="Text 4"/>
          <p:cNvSpPr txBox="1"/>
          <p:nvPr/>
        </p:nvSpPr>
        <p:spPr>
          <a:xfrm>
            <a:off x="822960" y="3931920"/>
            <a:ext cx="1737360" cy="566928"/>
          </a:xfrm>
          <a:prstGeom prst="rect">
            <a:avLst/>
          </a:prstGeom>
          <a:noFill/>
          <a:ln/>
        </p:spPr>
        <p:txBody>
          <a:bodyPr wrap="square" lIns="0" tIns="0" rIns="0" bIns="0" rtlCol="0" anchor="ctr"/>
          <a:lstStyle/>
          <a:p>
            <a:pPr marL="0" indent="0" algn="ctr">
              <a:buNone/>
            </a:pPr>
            <a:r>
              <a:rPr lang="rw-RW" sz="1800" b="1" dirty="0">
                <a:solidFill>
                  <a:srgbClr val="12305B"/>
                </a:solidFill>
                <a:latin typeface="Calibri" pitchFamily="34" charset="0"/>
                <a:ea typeface="Calibri" pitchFamily="34" charset="-122"/>
                <a:cs typeface="Calibri" pitchFamily="34" charset="-120"/>
              </a:rPr>
              <a:t>Ikinyarwanda</a:t>
            </a:r>
            <a:endParaRPr lang="rw-RW" sz="1800" dirty="0"/>
          </a:p>
        </p:txBody>
      </p:sp>
      <p:sp>
        <p:nvSpPr>
          <p:cNvPr id="7" name="Text 5"/>
          <p:cNvSpPr txBox="1"/>
          <p:nvPr/>
        </p:nvSpPr>
        <p:spPr>
          <a:xfrm>
            <a:off x="822960" y="6035040"/>
            <a:ext cx="7315200" cy="320040"/>
          </a:xfrm>
          <a:prstGeom prst="rect">
            <a:avLst/>
          </a:prstGeom>
          <a:noFill/>
          <a:ln/>
        </p:spPr>
        <p:txBody>
          <a:bodyPr wrap="square" lIns="0" tIns="0" rIns="0" bIns="0" rtlCol="0" anchor="ctr"/>
          <a:lstStyle/>
          <a:p>
            <a:pPr marL="0" indent="0">
              <a:buNone/>
            </a:pPr>
            <a:r>
              <a:rPr lang="rw-RW" sz="1300" dirty="0">
                <a:solidFill>
                  <a:srgbClr val="8FAFD6"/>
                </a:solidFill>
                <a:latin typeface="Calibri" pitchFamily="34" charset="0"/>
                <a:ea typeface="Calibri" pitchFamily="34" charset="-122"/>
                <a:cs typeface="Calibri" pitchFamily="34" charset="-120"/>
              </a:rPr>
              <a:t>Rwanda Biomedical Centre</a:t>
            </a:r>
            <a:endParaRPr lang="rw-RW"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CY'ABAJYANAMA B'UBUZIMA</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Icyo wakora</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Abajyanama b'ubuzima | Ikigo cy'Igihugu gishinzwe Ubuvuzi (Rwanda Biomedical Centre)</a:t>
            </a:r>
            <a:endParaRPr lang="rw-RW" sz="1100" dirty="0"/>
          </a:p>
        </p:txBody>
      </p:sp>
      <p:sp>
        <p:nvSpPr>
          <p:cNvPr id="5" name="Shape 3"/>
          <p:cNvSpPr/>
          <p:nvPr/>
        </p:nvSpPr>
        <p:spPr>
          <a:xfrm>
            <a:off x="548640" y="1371600"/>
            <a:ext cx="3515258" cy="2194560"/>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6" name="Text 4"/>
          <p:cNvSpPr txBox="1"/>
          <p:nvPr/>
        </p:nvSpPr>
        <p:spPr>
          <a:xfrm>
            <a:off x="1051560" y="1564476"/>
            <a:ext cx="3112922" cy="384048"/>
          </a:xfrm>
          <a:prstGeom prst="rect">
            <a:avLst/>
          </a:prstGeom>
          <a:noFill/>
          <a:ln/>
        </p:spPr>
        <p:txBody>
          <a:bodyPr wrap="square" lIns="0" tIns="0" rIns="0" bIns="0" rtlCol="0" anchor="t">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Kumenya</a:t>
            </a:r>
            <a:endParaRPr lang="rw-RW" sz="1850" dirty="0"/>
          </a:p>
        </p:txBody>
      </p:sp>
      <p:sp>
        <p:nvSpPr>
          <p:cNvPr id="7" name="Text 5"/>
          <p:cNvSpPr txBox="1"/>
          <p:nvPr/>
        </p:nvSpPr>
        <p:spPr>
          <a:xfrm>
            <a:off x="749808" y="1938528"/>
            <a:ext cx="3112922" cy="1499616"/>
          </a:xfrm>
          <a:prstGeom prst="rect">
            <a:avLst/>
          </a:prstGeom>
          <a:noFill/>
          <a:ln/>
        </p:spPr>
        <p:txBody>
          <a:bodyPr wrap="square" lIns="0" tIns="0" rIns="0" bIns="0" rtlCol="0" anchor="t"/>
          <a:lstStyle/>
          <a:p>
            <a:pPr marL="0" indent="0">
              <a:lnSpc>
                <a:spcPct val="105000"/>
              </a:lnSpc>
              <a:buNone/>
            </a:pPr>
            <a:r>
              <a:rPr lang="rw-RW" sz="1800" dirty="0">
                <a:solidFill>
                  <a:srgbClr val="17335F"/>
                </a:solidFill>
                <a:latin typeface="Calibri" pitchFamily="34" charset="0"/>
                <a:ea typeface="Calibri" pitchFamily="34" charset="-122"/>
                <a:cs typeface="Calibri" pitchFamily="34" charset="-120"/>
              </a:rPr>
              <a:t>Vuga icyo kanseri y'amara ari cyo, n'aho amara manini n'umuyoboro w'ibyavuye mu mubiri (rectum) biherereye, mu magambo yoroheje.</a:t>
            </a:r>
            <a:endParaRPr lang="rw-RW" sz="1800" dirty="0"/>
          </a:p>
        </p:txBody>
      </p:sp>
      <p:sp>
        <p:nvSpPr>
          <p:cNvPr id="8" name="Shape 6"/>
          <p:cNvSpPr/>
          <p:nvPr/>
        </p:nvSpPr>
        <p:spPr>
          <a:xfrm>
            <a:off x="4338218" y="1371600"/>
            <a:ext cx="3515258" cy="2194560"/>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9" name="Text 7"/>
          <p:cNvSpPr txBox="1"/>
          <p:nvPr/>
        </p:nvSpPr>
        <p:spPr>
          <a:xfrm>
            <a:off x="4877715" y="1554480"/>
            <a:ext cx="3112922" cy="384048"/>
          </a:xfrm>
          <a:prstGeom prst="rect">
            <a:avLst/>
          </a:prstGeom>
          <a:noFill/>
          <a:ln/>
        </p:spPr>
        <p:txBody>
          <a:bodyPr wrap="square" lIns="0" tIns="0" rIns="0" bIns="0" rtlCol="0" anchor="t">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Kubona</a:t>
            </a:r>
            <a:endParaRPr lang="rw-RW" sz="1850" dirty="0"/>
          </a:p>
        </p:txBody>
      </p:sp>
      <p:sp>
        <p:nvSpPr>
          <p:cNvPr id="10" name="Text 8"/>
          <p:cNvSpPr txBox="1"/>
          <p:nvPr/>
        </p:nvSpPr>
        <p:spPr>
          <a:xfrm>
            <a:off x="4539386" y="1938528"/>
            <a:ext cx="3112922" cy="1499616"/>
          </a:xfrm>
          <a:prstGeom prst="rect">
            <a:avLst/>
          </a:prstGeom>
          <a:noFill/>
          <a:ln/>
        </p:spPr>
        <p:txBody>
          <a:bodyPr wrap="square" lIns="0" tIns="0" rIns="0" bIns="0" rtlCol="0" anchor="t"/>
          <a:lstStyle/>
          <a:p>
            <a:pPr marL="0" indent="0">
              <a:lnSpc>
                <a:spcPct val="105000"/>
              </a:lnSpc>
              <a:buNone/>
            </a:pPr>
            <a:r>
              <a:rPr lang="rw-RW" sz="1800" dirty="0">
                <a:solidFill>
                  <a:srgbClr val="17335F"/>
                </a:solidFill>
                <a:latin typeface="Calibri" pitchFamily="34" charset="0"/>
                <a:ea typeface="Calibri" pitchFamily="34" charset="-122"/>
                <a:cs typeface="Calibri" pitchFamily="34" charset="-120"/>
              </a:rPr>
              <a:t>Menya ababa bafite ibyago byinshi kurusha abandi, ibimenyetso mpuruza n'ibimenyetso byihutirwa by'akaga gakomeye.</a:t>
            </a:r>
            <a:endParaRPr lang="rw-RW" sz="1800" dirty="0"/>
          </a:p>
        </p:txBody>
      </p:sp>
      <p:sp>
        <p:nvSpPr>
          <p:cNvPr id="11" name="Shape 9"/>
          <p:cNvSpPr/>
          <p:nvPr/>
        </p:nvSpPr>
        <p:spPr>
          <a:xfrm>
            <a:off x="8127797" y="1371600"/>
            <a:ext cx="3515258" cy="2194560"/>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12" name="Text 10"/>
          <p:cNvSpPr txBox="1"/>
          <p:nvPr/>
        </p:nvSpPr>
        <p:spPr>
          <a:xfrm>
            <a:off x="8663706" y="1535818"/>
            <a:ext cx="3112922" cy="384048"/>
          </a:xfrm>
          <a:prstGeom prst="rect">
            <a:avLst/>
          </a:prstGeom>
          <a:noFill/>
          <a:ln/>
        </p:spPr>
        <p:txBody>
          <a:bodyPr wrap="square" lIns="0" tIns="0" rIns="0" bIns="0" rtlCol="0" anchor="t">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Kuvuga</a:t>
            </a:r>
            <a:endParaRPr lang="rw-RW" sz="1850" dirty="0"/>
          </a:p>
        </p:txBody>
      </p:sp>
      <p:sp>
        <p:nvSpPr>
          <p:cNvPr id="13" name="Text 11"/>
          <p:cNvSpPr txBox="1"/>
          <p:nvPr/>
        </p:nvSpPr>
        <p:spPr>
          <a:xfrm>
            <a:off x="8328965" y="1938528"/>
            <a:ext cx="3112922" cy="1499616"/>
          </a:xfrm>
          <a:prstGeom prst="rect">
            <a:avLst/>
          </a:prstGeom>
          <a:noFill/>
          <a:ln/>
        </p:spPr>
        <p:txBody>
          <a:bodyPr wrap="square" lIns="0" tIns="0" rIns="0" bIns="0" rtlCol="0" anchor="t"/>
          <a:lstStyle/>
          <a:p>
            <a:pPr marL="0" indent="0">
              <a:lnSpc>
                <a:spcPct val="105000"/>
              </a:lnSpc>
              <a:buNone/>
            </a:pPr>
            <a:r>
              <a:rPr lang="rw-RW" sz="1800" dirty="0">
                <a:solidFill>
                  <a:srgbClr val="17335F"/>
                </a:solidFill>
                <a:latin typeface="Calibri" pitchFamily="34" charset="0"/>
                <a:ea typeface="Calibri" pitchFamily="34" charset="-122"/>
                <a:cs typeface="Calibri" pitchFamily="34" charset="-120"/>
              </a:rPr>
              <a:t>Ganira ku bimenyetso byo mu mara mu bwubahane, mu ibanga kandi udashinja umuntu.</a:t>
            </a:r>
            <a:endParaRPr lang="rw-RW" sz="1800" dirty="0"/>
          </a:p>
        </p:txBody>
      </p:sp>
      <p:sp>
        <p:nvSpPr>
          <p:cNvPr id="14" name="Shape 12"/>
          <p:cNvSpPr/>
          <p:nvPr/>
        </p:nvSpPr>
        <p:spPr>
          <a:xfrm>
            <a:off x="548640" y="3840480"/>
            <a:ext cx="3515258" cy="2194560"/>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15" name="Text 13"/>
          <p:cNvSpPr txBox="1"/>
          <p:nvPr/>
        </p:nvSpPr>
        <p:spPr>
          <a:xfrm>
            <a:off x="1139793" y="4007916"/>
            <a:ext cx="3112922" cy="384048"/>
          </a:xfrm>
          <a:prstGeom prst="rect">
            <a:avLst/>
          </a:prstGeom>
          <a:noFill/>
          <a:ln/>
        </p:spPr>
        <p:txBody>
          <a:bodyPr wrap="square" lIns="0" tIns="0" rIns="0" bIns="0" rtlCol="0" anchor="t">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Kohereza</a:t>
            </a:r>
            <a:endParaRPr lang="rw-RW" sz="1850" dirty="0"/>
          </a:p>
        </p:txBody>
      </p:sp>
      <p:sp>
        <p:nvSpPr>
          <p:cNvPr id="16" name="Text 14"/>
          <p:cNvSpPr txBox="1"/>
          <p:nvPr/>
        </p:nvSpPr>
        <p:spPr>
          <a:xfrm>
            <a:off x="749808" y="4407408"/>
            <a:ext cx="3112922" cy="1499616"/>
          </a:xfrm>
          <a:prstGeom prst="rect">
            <a:avLst/>
          </a:prstGeom>
          <a:noFill/>
          <a:ln/>
        </p:spPr>
        <p:txBody>
          <a:bodyPr wrap="square" lIns="0" tIns="0" rIns="0" bIns="0" rtlCol="0" anchor="t"/>
          <a:lstStyle/>
          <a:p>
            <a:pPr marL="0" indent="0">
              <a:lnSpc>
                <a:spcPct val="105000"/>
              </a:lnSpc>
              <a:buNone/>
            </a:pPr>
            <a:r>
              <a:rPr lang="rw-RW" sz="1800" dirty="0">
                <a:solidFill>
                  <a:srgbClr val="17335F"/>
                </a:solidFill>
                <a:latin typeface="Calibri" pitchFamily="34" charset="0"/>
                <a:ea typeface="Calibri" pitchFamily="34" charset="-122"/>
                <a:cs typeface="Calibri" pitchFamily="34" charset="-120"/>
              </a:rPr>
              <a:t>Gufasha abantu kugera ku kwivuriro, no kumenya igihe cyo kwitabwaho kuri uwo munsi.</a:t>
            </a:r>
            <a:endParaRPr lang="rw-RW" sz="1800" dirty="0"/>
          </a:p>
        </p:txBody>
      </p:sp>
      <p:sp>
        <p:nvSpPr>
          <p:cNvPr id="17" name="Shape 15"/>
          <p:cNvSpPr/>
          <p:nvPr/>
        </p:nvSpPr>
        <p:spPr>
          <a:xfrm>
            <a:off x="4314981" y="3840480"/>
            <a:ext cx="3515258" cy="2194560"/>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18" name="Text 16"/>
          <p:cNvSpPr txBox="1"/>
          <p:nvPr/>
        </p:nvSpPr>
        <p:spPr>
          <a:xfrm>
            <a:off x="4826058" y="3952167"/>
            <a:ext cx="3112922" cy="384048"/>
          </a:xfrm>
          <a:prstGeom prst="rect">
            <a:avLst/>
          </a:prstGeom>
          <a:noFill/>
          <a:ln/>
        </p:spPr>
        <p:txBody>
          <a:bodyPr wrap="square" lIns="0" tIns="0" rIns="0" bIns="0" rtlCol="0" anchor="t">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Gushyigikira</a:t>
            </a:r>
            <a:endParaRPr lang="rw-RW" sz="1850" dirty="0"/>
          </a:p>
        </p:txBody>
      </p:sp>
      <p:sp>
        <p:nvSpPr>
          <p:cNvPr id="19" name="Text 17"/>
          <p:cNvSpPr txBox="1"/>
          <p:nvPr/>
        </p:nvSpPr>
        <p:spPr>
          <a:xfrm>
            <a:off x="4539386" y="4407408"/>
            <a:ext cx="3112922" cy="1499616"/>
          </a:xfrm>
          <a:prstGeom prst="rect">
            <a:avLst/>
          </a:prstGeom>
          <a:noFill/>
          <a:ln/>
        </p:spPr>
        <p:txBody>
          <a:bodyPr wrap="square" lIns="0" tIns="0" rIns="0" bIns="0" rtlCol="0" anchor="t"/>
          <a:lstStyle/>
          <a:p>
            <a:pPr marL="0" indent="0">
              <a:lnSpc>
                <a:spcPct val="105000"/>
              </a:lnSpc>
              <a:buNone/>
            </a:pPr>
            <a:r>
              <a:rPr lang="rw-RW" sz="1800" dirty="0">
                <a:solidFill>
                  <a:srgbClr val="17335F"/>
                </a:solidFill>
                <a:latin typeface="Calibri" pitchFamily="34" charset="0"/>
                <a:ea typeface="Calibri" pitchFamily="34" charset="-122"/>
                <a:cs typeface="Calibri" pitchFamily="34" charset="-120"/>
              </a:rPr>
              <a:t>Gushyigikira gukurikirana, guhumuriza, icyubahiro n'umuryango.</a:t>
            </a:r>
            <a:endParaRPr lang="rw-RW" sz="1800" dirty="0"/>
          </a:p>
        </p:txBody>
      </p:sp>
      <p:sp>
        <p:nvSpPr>
          <p:cNvPr id="20" name="Shape 18"/>
          <p:cNvSpPr/>
          <p:nvPr/>
        </p:nvSpPr>
        <p:spPr>
          <a:xfrm>
            <a:off x="8127797" y="3840480"/>
            <a:ext cx="3515258" cy="2194560"/>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21" name="Text 19"/>
          <p:cNvSpPr txBox="1"/>
          <p:nvPr/>
        </p:nvSpPr>
        <p:spPr>
          <a:xfrm>
            <a:off x="8718950" y="3986784"/>
            <a:ext cx="3112922" cy="384048"/>
          </a:xfrm>
          <a:prstGeom prst="rect">
            <a:avLst/>
          </a:prstGeom>
          <a:noFill/>
          <a:ln/>
        </p:spPr>
        <p:txBody>
          <a:bodyPr wrap="square" lIns="0" tIns="0" rIns="0" bIns="0" rtlCol="0" anchor="t">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Gukosora</a:t>
            </a:r>
            <a:endParaRPr lang="rw-RW" sz="1850" dirty="0"/>
          </a:p>
        </p:txBody>
      </p:sp>
      <p:sp>
        <p:nvSpPr>
          <p:cNvPr id="22" name="Text 20"/>
          <p:cNvSpPr txBox="1"/>
          <p:nvPr/>
        </p:nvSpPr>
        <p:spPr>
          <a:xfrm>
            <a:off x="8328965" y="4407408"/>
            <a:ext cx="3112922" cy="1499616"/>
          </a:xfrm>
          <a:prstGeom prst="rect">
            <a:avLst/>
          </a:prstGeom>
          <a:noFill/>
          <a:ln/>
        </p:spPr>
        <p:txBody>
          <a:bodyPr wrap="square" lIns="0" tIns="0" rIns="0" bIns="0" rtlCol="0" anchor="t"/>
          <a:lstStyle/>
          <a:p>
            <a:pPr marL="0" indent="0">
              <a:lnSpc>
                <a:spcPct val="105000"/>
              </a:lnSpc>
              <a:buNone/>
            </a:pPr>
            <a:r>
              <a:rPr lang="rw-RW" sz="1800" dirty="0">
                <a:solidFill>
                  <a:srgbClr val="17335F"/>
                </a:solidFill>
                <a:latin typeface="Calibri" pitchFamily="34" charset="0"/>
                <a:ea typeface="Calibri" pitchFamily="34" charset="-122"/>
                <a:cs typeface="Calibri" pitchFamily="34" charset="-120"/>
              </a:rPr>
              <a:t>Gukosora imyumvire itari yo ikunze kugaragara ku bimenyetso by'amara, ku bizamini no ku buvuzi.</a:t>
            </a:r>
            <a:endParaRPr lang="rw-RW" sz="1800" dirty="0"/>
          </a:p>
        </p:txBody>
      </p:sp>
      <p:sp>
        <p:nvSpPr>
          <p:cNvPr id="24" name="TextBox 23">
            <a:extLst>
              <a:ext uri="{FF2B5EF4-FFF2-40B4-BE49-F238E27FC236}">
                <a16:creationId xmlns:a16="http://schemas.microsoft.com/office/drawing/2014/main" id="{F1A02EEE-98A4-CC97-9BD1-64479DA64CFD}"/>
              </a:ext>
            </a:extLst>
          </p:cNvPr>
          <p:cNvSpPr txBox="1"/>
          <p:nvPr/>
        </p:nvSpPr>
        <p:spPr>
          <a:xfrm>
            <a:off x="548640" y="1469951"/>
            <a:ext cx="644825" cy="461665"/>
          </a:xfrm>
          <a:prstGeom prst="rect">
            <a:avLst/>
          </a:prstGeom>
          <a:noFill/>
        </p:spPr>
        <p:txBody>
          <a:bodyPr wrap="square">
            <a:noAutofit/>
          </a:bodyPr>
          <a:lstStyle/>
          <a:p>
            <a:pPr marL="0" indent="0">
              <a:buNone/>
            </a:pPr>
            <a:r>
              <a:rPr lang="rw-RW" sz="2115" noProof="0" dirty="0">
                <a:solidFill>
                  <a:srgbClr val="1A2733"/>
                </a:solidFill>
                <a:latin typeface="Calibri" pitchFamily="34" charset="0"/>
                <a:ea typeface="Calibri" pitchFamily="34" charset="-122"/>
                <a:cs typeface="Calibri" pitchFamily="34" charset="-120"/>
              </a:rPr>
              <a:t>🧭</a:t>
            </a:r>
            <a:endParaRPr lang="rw-RW" sz="2115" noProof="0" dirty="0"/>
          </a:p>
        </p:txBody>
      </p:sp>
      <p:sp>
        <p:nvSpPr>
          <p:cNvPr id="26" name="TextBox 25">
            <a:extLst>
              <a:ext uri="{FF2B5EF4-FFF2-40B4-BE49-F238E27FC236}">
                <a16:creationId xmlns:a16="http://schemas.microsoft.com/office/drawing/2014/main" id="{75EA1FA2-025D-9A08-4318-BD1DABA4C2A1}"/>
              </a:ext>
            </a:extLst>
          </p:cNvPr>
          <p:cNvSpPr txBox="1"/>
          <p:nvPr/>
        </p:nvSpPr>
        <p:spPr>
          <a:xfrm>
            <a:off x="8088441" y="1439538"/>
            <a:ext cx="535909" cy="461665"/>
          </a:xfrm>
          <a:prstGeom prst="rect">
            <a:avLst/>
          </a:prstGeom>
          <a:noFill/>
        </p:spPr>
        <p:txBody>
          <a:bodyPr wrap="square">
            <a:spAutoFit/>
          </a:bodyPr>
          <a:lstStyle/>
          <a:p>
            <a:pPr marL="0" indent="0">
              <a:buNone/>
            </a:pPr>
            <a:r>
              <a:rPr lang="rw-RW" sz="2350" noProof="0" dirty="0">
                <a:solidFill>
                  <a:srgbClr val="1A2733"/>
                </a:solidFill>
                <a:latin typeface="Calibri" pitchFamily="34" charset="0"/>
                <a:ea typeface="Calibri" pitchFamily="34" charset="-122"/>
                <a:cs typeface="Calibri" pitchFamily="34" charset="-120"/>
              </a:rPr>
              <a:t>🗣️</a:t>
            </a:r>
            <a:endParaRPr lang="rw-RW" sz="2350" noProof="0" dirty="0"/>
          </a:p>
        </p:txBody>
      </p:sp>
      <p:sp>
        <p:nvSpPr>
          <p:cNvPr id="28" name="TextBox 27">
            <a:extLst>
              <a:ext uri="{FF2B5EF4-FFF2-40B4-BE49-F238E27FC236}">
                <a16:creationId xmlns:a16="http://schemas.microsoft.com/office/drawing/2014/main" id="{907BB145-AD0F-FAE2-05F8-C01A5FA4A67E}"/>
              </a:ext>
            </a:extLst>
          </p:cNvPr>
          <p:cNvSpPr txBox="1"/>
          <p:nvPr/>
        </p:nvSpPr>
        <p:spPr>
          <a:xfrm>
            <a:off x="4302636" y="3893112"/>
            <a:ext cx="544678" cy="461665"/>
          </a:xfrm>
          <a:prstGeom prst="rect">
            <a:avLst/>
          </a:prstGeom>
          <a:noFill/>
        </p:spPr>
        <p:txBody>
          <a:bodyPr wrap="square">
            <a:spAutoFit/>
          </a:bodyPr>
          <a:lstStyle/>
          <a:p>
            <a:pPr marL="0" indent="0">
              <a:buNone/>
            </a:pPr>
            <a:r>
              <a:rPr lang="rw-RW" sz="2350" noProof="0" dirty="0">
                <a:solidFill>
                  <a:srgbClr val="1A2733"/>
                </a:solidFill>
                <a:latin typeface="Calibri" pitchFamily="34" charset="0"/>
                <a:ea typeface="Calibri" pitchFamily="34" charset="-122"/>
                <a:cs typeface="Calibri" pitchFamily="34" charset="-120"/>
              </a:rPr>
              <a:t>💙</a:t>
            </a:r>
            <a:endParaRPr lang="rw-RW" sz="2350" noProof="0" dirty="0"/>
          </a:p>
        </p:txBody>
      </p:sp>
      <p:sp>
        <p:nvSpPr>
          <p:cNvPr id="30" name="TextBox 29">
            <a:extLst>
              <a:ext uri="{FF2B5EF4-FFF2-40B4-BE49-F238E27FC236}">
                <a16:creationId xmlns:a16="http://schemas.microsoft.com/office/drawing/2014/main" id="{CE4279DC-DC22-1428-0291-3D001AC6181A}"/>
              </a:ext>
            </a:extLst>
          </p:cNvPr>
          <p:cNvSpPr txBox="1"/>
          <p:nvPr/>
        </p:nvSpPr>
        <p:spPr>
          <a:xfrm>
            <a:off x="4314981" y="1486859"/>
            <a:ext cx="700528" cy="461665"/>
          </a:xfrm>
          <a:prstGeom prst="rect">
            <a:avLst/>
          </a:prstGeom>
          <a:noFill/>
        </p:spPr>
        <p:txBody>
          <a:bodyPr wrap="square">
            <a:noAutofit/>
          </a:bodyPr>
          <a:lstStyle/>
          <a:p>
            <a:pPr marL="0" indent="0">
              <a:buNone/>
            </a:pPr>
            <a:r>
              <a:rPr lang="rw-RW" sz="1997" noProof="0" dirty="0">
                <a:solidFill>
                  <a:srgbClr val="1A2733"/>
                </a:solidFill>
                <a:latin typeface="Calibri" pitchFamily="34" charset="0"/>
                <a:ea typeface="Calibri" pitchFamily="34" charset="-122"/>
                <a:cs typeface="Calibri" pitchFamily="34" charset="-120"/>
              </a:rPr>
              <a:t>📝</a:t>
            </a:r>
            <a:endParaRPr lang="rw-RW" sz="1998" noProof="0" dirty="0"/>
          </a:p>
        </p:txBody>
      </p:sp>
      <p:sp>
        <p:nvSpPr>
          <p:cNvPr id="32" name="TextBox 31">
            <a:extLst>
              <a:ext uri="{FF2B5EF4-FFF2-40B4-BE49-F238E27FC236}">
                <a16:creationId xmlns:a16="http://schemas.microsoft.com/office/drawing/2014/main" id="{9AE27524-8298-20EA-5A8D-09363D427E99}"/>
              </a:ext>
            </a:extLst>
          </p:cNvPr>
          <p:cNvSpPr txBox="1"/>
          <p:nvPr/>
        </p:nvSpPr>
        <p:spPr>
          <a:xfrm>
            <a:off x="560991" y="3921766"/>
            <a:ext cx="848895" cy="461665"/>
          </a:xfrm>
          <a:prstGeom prst="rect">
            <a:avLst/>
          </a:prstGeom>
          <a:noFill/>
        </p:spPr>
        <p:txBody>
          <a:bodyPr wrap="square">
            <a:spAutoFit/>
          </a:bodyPr>
          <a:lstStyle/>
          <a:p>
            <a:pPr marL="0" indent="0">
              <a:buNone/>
            </a:pPr>
            <a:r>
              <a:rPr lang="rw-RW" sz="2350" noProof="0" dirty="0">
                <a:solidFill>
                  <a:srgbClr val="1A2733"/>
                </a:solidFill>
                <a:latin typeface="Calibri" pitchFamily="34" charset="0"/>
                <a:ea typeface="Calibri" pitchFamily="34" charset="-122"/>
                <a:cs typeface="Calibri" pitchFamily="34" charset="-120"/>
              </a:rPr>
              <a:t>🏥</a:t>
            </a:r>
            <a:endParaRPr lang="rw-RW" sz="2350" noProof="0" dirty="0"/>
          </a:p>
        </p:txBody>
      </p:sp>
      <p:sp>
        <p:nvSpPr>
          <p:cNvPr id="34" name="TextBox 33">
            <a:extLst>
              <a:ext uri="{FF2B5EF4-FFF2-40B4-BE49-F238E27FC236}">
                <a16:creationId xmlns:a16="http://schemas.microsoft.com/office/drawing/2014/main" id="{5BA8CE36-B1A1-4557-CFE3-15C91DCFE70E}"/>
              </a:ext>
            </a:extLst>
          </p:cNvPr>
          <p:cNvSpPr txBox="1"/>
          <p:nvPr/>
        </p:nvSpPr>
        <p:spPr>
          <a:xfrm>
            <a:off x="8127797" y="3921766"/>
            <a:ext cx="6094562" cy="461665"/>
          </a:xfrm>
          <a:prstGeom prst="rect">
            <a:avLst/>
          </a:prstGeom>
          <a:noFill/>
        </p:spPr>
        <p:txBody>
          <a:bodyPr wrap="square">
            <a:spAutoFit/>
          </a:bodyPr>
          <a:lstStyle/>
          <a:p>
            <a:pPr marL="0" indent="0">
              <a:buNone/>
            </a:pPr>
            <a:r>
              <a:rPr lang="rw-RW" sz="2350" noProof="0" dirty="0">
                <a:solidFill>
                  <a:srgbClr val="1A2733"/>
                </a:solidFill>
                <a:latin typeface="Calibri" pitchFamily="34" charset="0"/>
                <a:ea typeface="Calibri" pitchFamily="34" charset="-122"/>
                <a:cs typeface="Calibri" pitchFamily="34" charset="-120"/>
              </a:rPr>
              <a:t>🔍</a:t>
            </a:r>
            <a:endParaRPr lang="rw-RW" sz="235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AMASOMO Y'ABAJYANAMA B'UBUZIMA</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Ibiri imbere</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Abajyanama b'ubuzima | Rwanda Biomedical Centre</a:t>
            </a:r>
            <a:endParaRPr lang="rw-RW" sz="1100" dirty="0"/>
          </a:p>
        </p:txBody>
      </p:sp>
      <p:sp>
        <p:nvSpPr>
          <p:cNvPr id="5" name="Shape 3"/>
          <p:cNvSpPr/>
          <p:nvPr/>
        </p:nvSpPr>
        <p:spPr>
          <a:xfrm>
            <a:off x="548640" y="1371600"/>
            <a:ext cx="3515258" cy="2194560"/>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6" name="Text 4"/>
          <p:cNvSpPr txBox="1"/>
          <p:nvPr/>
        </p:nvSpPr>
        <p:spPr>
          <a:xfrm>
            <a:off x="749808" y="1517904"/>
            <a:ext cx="3112922" cy="74980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Ikizamini kibanza n'ikizamini cya nyuma</a:t>
            </a:r>
            <a:endParaRPr lang="rw-RW" dirty="0"/>
          </a:p>
        </p:txBody>
      </p:sp>
      <p:sp>
        <p:nvSpPr>
          <p:cNvPr id="7" name="Text 5"/>
          <p:cNvSpPr txBox="1"/>
          <p:nvPr/>
        </p:nvSpPr>
        <p:spPr>
          <a:xfrm>
            <a:off x="749808" y="2103628"/>
            <a:ext cx="3112922" cy="1499616"/>
          </a:xfrm>
          <a:prstGeom prst="rect">
            <a:avLst/>
          </a:prstGeom>
          <a:noFill/>
          <a:ln/>
        </p:spPr>
        <p:txBody>
          <a:bodyPr wrap="square" lIns="0" tIns="0" rIns="0" bIns="0" rtlCol="0" anchor="t">
            <a:normAutofit fontScale="99000"/>
          </a:bodyPr>
          <a:lstStyle/>
          <a:p>
            <a:pPr marL="0" indent="0">
              <a:lnSpc>
                <a:spcPct val="105000"/>
              </a:lnSpc>
              <a:buNone/>
            </a:pPr>
            <a:r>
              <a:rPr lang="rw-RW" dirty="0">
                <a:solidFill>
                  <a:srgbClr val="17335F"/>
                </a:solidFill>
                <a:latin typeface="Calibri" pitchFamily="34" charset="0"/>
                <a:ea typeface="Calibri" pitchFamily="34" charset="-122"/>
                <a:cs typeface="Calibri" pitchFamily="34" charset="-120"/>
              </a:rPr>
              <a:t>Ibibazo bigufi makumyabiri byo kugenzura aho watangiriye n'aho ugeze.</a:t>
            </a:r>
            <a:endParaRPr lang="rw-RW" dirty="0"/>
          </a:p>
        </p:txBody>
      </p:sp>
      <p:sp>
        <p:nvSpPr>
          <p:cNvPr id="8" name="Shape 6"/>
          <p:cNvSpPr/>
          <p:nvPr/>
        </p:nvSpPr>
        <p:spPr>
          <a:xfrm>
            <a:off x="4338218" y="1371600"/>
            <a:ext cx="3515258" cy="2194560"/>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9" name="Text 7"/>
          <p:cNvSpPr txBox="1"/>
          <p:nvPr/>
        </p:nvSpPr>
        <p:spPr>
          <a:xfrm>
            <a:off x="4539386" y="1517904"/>
            <a:ext cx="3112922" cy="74980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Igice cya 1: Kanseri y'amara ni iki?</a:t>
            </a:r>
            <a:endParaRPr lang="rw-RW" dirty="0"/>
          </a:p>
        </p:txBody>
      </p:sp>
      <p:sp>
        <p:nvSpPr>
          <p:cNvPr id="10" name="Text 8"/>
          <p:cNvSpPr txBox="1"/>
          <p:nvPr/>
        </p:nvSpPr>
        <p:spPr>
          <a:xfrm>
            <a:off x="4539386" y="2124686"/>
            <a:ext cx="3112922" cy="761540"/>
          </a:xfrm>
          <a:prstGeom prst="rect">
            <a:avLst/>
          </a:prstGeom>
          <a:noFill/>
          <a:ln/>
        </p:spPr>
        <p:txBody>
          <a:bodyPr wrap="square" lIns="0" tIns="0" rIns="0" bIns="0" rtlCol="0" anchor="t">
            <a:normAutofit/>
          </a:bodyPr>
          <a:lstStyle/>
          <a:p>
            <a:pPr marL="0" indent="0">
              <a:lnSpc>
                <a:spcPct val="105000"/>
              </a:lnSpc>
              <a:buNone/>
            </a:pPr>
            <a:r>
              <a:rPr lang="rw-RW" dirty="0">
                <a:solidFill>
                  <a:srgbClr val="17335F"/>
                </a:solidFill>
                <a:latin typeface="Calibri" pitchFamily="34" charset="0"/>
                <a:ea typeface="Calibri" pitchFamily="34" charset="-122"/>
                <a:cs typeface="Calibri" pitchFamily="34" charset="-120"/>
              </a:rPr>
              <a:t>Ni iki?, aho ikurira n'uko ikunze kugaragara mu Rwanda.</a:t>
            </a:r>
            <a:endParaRPr lang="rw-RW" dirty="0"/>
          </a:p>
        </p:txBody>
      </p:sp>
      <p:sp>
        <p:nvSpPr>
          <p:cNvPr id="11" name="Shape 9"/>
          <p:cNvSpPr/>
          <p:nvPr/>
        </p:nvSpPr>
        <p:spPr>
          <a:xfrm>
            <a:off x="8127797" y="1371600"/>
            <a:ext cx="3515258" cy="2194560"/>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12" name="Text 10"/>
          <p:cNvSpPr txBox="1"/>
          <p:nvPr/>
        </p:nvSpPr>
        <p:spPr>
          <a:xfrm>
            <a:off x="8328965" y="1517904"/>
            <a:ext cx="3112922" cy="74980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Igice cya 2: Ibyo ugomba kwitondera</a:t>
            </a:r>
            <a:endParaRPr lang="rw-RW" dirty="0"/>
          </a:p>
        </p:txBody>
      </p:sp>
      <p:sp>
        <p:nvSpPr>
          <p:cNvPr id="13" name="Text 11"/>
          <p:cNvSpPr txBox="1"/>
          <p:nvPr/>
        </p:nvSpPr>
        <p:spPr>
          <a:xfrm>
            <a:off x="8328965" y="2103628"/>
            <a:ext cx="3112922" cy="1499616"/>
          </a:xfrm>
          <a:prstGeom prst="rect">
            <a:avLst/>
          </a:prstGeom>
          <a:noFill/>
          <a:ln/>
        </p:spPr>
        <p:txBody>
          <a:bodyPr wrap="square" lIns="0" tIns="0" rIns="0" bIns="0" rtlCol="0" anchor="t">
            <a:normAutofit fontScale="99000"/>
          </a:bodyPr>
          <a:lstStyle/>
          <a:p>
            <a:pPr marL="0" indent="0">
              <a:lnSpc>
                <a:spcPct val="105000"/>
              </a:lnSpc>
              <a:buNone/>
            </a:pPr>
            <a:r>
              <a:rPr lang="rw-RW" dirty="0">
                <a:solidFill>
                  <a:srgbClr val="17335F"/>
                </a:solidFill>
                <a:latin typeface="Calibri" pitchFamily="34" charset="0"/>
                <a:ea typeface="Calibri" pitchFamily="34" charset="-122"/>
                <a:cs typeface="Calibri" pitchFamily="34" charset="-120"/>
              </a:rPr>
              <a:t>Ni nde uri mu kaga kurusha abandi, ibimenyetso, n'igihe cyo kugira igikorwa?</a:t>
            </a:r>
            <a:endParaRPr lang="rw-RW" dirty="0"/>
          </a:p>
        </p:txBody>
      </p:sp>
      <p:sp>
        <p:nvSpPr>
          <p:cNvPr id="14" name="Shape 12"/>
          <p:cNvSpPr/>
          <p:nvPr/>
        </p:nvSpPr>
        <p:spPr>
          <a:xfrm>
            <a:off x="548640" y="3840480"/>
            <a:ext cx="3515258" cy="2194560"/>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15" name="Text 13"/>
          <p:cNvSpPr txBox="1"/>
          <p:nvPr/>
        </p:nvSpPr>
        <p:spPr>
          <a:xfrm>
            <a:off x="749808" y="3986784"/>
            <a:ext cx="3112922" cy="74980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Icyiciro cya 3: Ni iki wakora gikurikiraho</a:t>
            </a:r>
            <a:endParaRPr lang="rw-RW" dirty="0"/>
          </a:p>
        </p:txBody>
      </p:sp>
      <p:sp>
        <p:nvSpPr>
          <p:cNvPr id="16" name="Text 14"/>
          <p:cNvSpPr txBox="1"/>
          <p:nvPr/>
        </p:nvSpPr>
        <p:spPr>
          <a:xfrm>
            <a:off x="749808" y="4572508"/>
            <a:ext cx="3112922" cy="1499616"/>
          </a:xfrm>
          <a:prstGeom prst="rect">
            <a:avLst/>
          </a:prstGeom>
          <a:noFill/>
          <a:ln/>
        </p:spPr>
        <p:txBody>
          <a:bodyPr wrap="square" lIns="0" tIns="0" rIns="0" bIns="0" rtlCol="0" anchor="t">
            <a:normAutofit fontScale="99000"/>
          </a:bodyPr>
          <a:lstStyle/>
          <a:p>
            <a:pPr marL="0" indent="0">
              <a:lnSpc>
                <a:spcPct val="105000"/>
              </a:lnSpc>
              <a:buNone/>
            </a:pPr>
            <a:r>
              <a:rPr lang="rw-RW" dirty="0">
                <a:solidFill>
                  <a:srgbClr val="17335F"/>
                </a:solidFill>
                <a:latin typeface="Calibri" pitchFamily="34" charset="0"/>
                <a:ea typeface="Calibri" pitchFamily="34" charset="-122"/>
                <a:cs typeface="Calibri" pitchFamily="34" charset="-120"/>
              </a:rPr>
              <a:t>Aho kohereza abantu, uburyo bwo kuganira, n'uburyo bwo gushyigikira gukurikirana.</a:t>
            </a:r>
            <a:endParaRPr lang="rw-RW" dirty="0"/>
          </a:p>
        </p:txBody>
      </p:sp>
      <p:sp>
        <p:nvSpPr>
          <p:cNvPr id="17" name="Shape 15"/>
          <p:cNvSpPr/>
          <p:nvPr/>
        </p:nvSpPr>
        <p:spPr>
          <a:xfrm>
            <a:off x="4338218" y="3840480"/>
            <a:ext cx="3515258" cy="2194560"/>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18" name="Text 16"/>
          <p:cNvSpPr txBox="1"/>
          <p:nvPr/>
        </p:nvSpPr>
        <p:spPr>
          <a:xfrm>
            <a:off x="4539386" y="3986784"/>
            <a:ext cx="3112922" cy="74980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Igice cya 4: Uko kanseri yemezwa n'uko ivurwa</a:t>
            </a:r>
            <a:endParaRPr lang="rw-RW" dirty="0"/>
          </a:p>
        </p:txBody>
      </p:sp>
      <p:sp>
        <p:nvSpPr>
          <p:cNvPr id="19" name="Text 17"/>
          <p:cNvSpPr txBox="1"/>
          <p:nvPr/>
        </p:nvSpPr>
        <p:spPr>
          <a:xfrm>
            <a:off x="4539386" y="4529836"/>
            <a:ext cx="3112922" cy="932688"/>
          </a:xfrm>
          <a:prstGeom prst="rect">
            <a:avLst/>
          </a:prstGeom>
          <a:noFill/>
          <a:ln/>
        </p:spPr>
        <p:txBody>
          <a:bodyPr wrap="square" lIns="0" tIns="0" rIns="0" bIns="0" rtlCol="0" anchor="t">
            <a:noAutofit/>
          </a:bodyPr>
          <a:lstStyle/>
          <a:p>
            <a:pPr marL="0" indent="0">
              <a:lnSpc>
                <a:spcPct val="105000"/>
              </a:lnSpc>
              <a:buNone/>
            </a:pPr>
            <a:r>
              <a:rPr lang="rw-RW" dirty="0">
                <a:solidFill>
                  <a:srgbClr val="17335F"/>
                </a:solidFill>
                <a:latin typeface="Calibri" pitchFamily="34" charset="0"/>
                <a:ea typeface="Calibri" pitchFamily="34" charset="-122"/>
                <a:cs typeface="Calibri" pitchFamily="34" charset="-120"/>
              </a:rPr>
              <a:t>Reka turebere mu buryo bworoshye uko ikigo cy'ubuzima cyemeza indwara n'ubwoko bw'ubuvuzi bushobora gutangwa.</a:t>
            </a:r>
            <a:endParaRPr lang="rw-RW" dirty="0"/>
          </a:p>
        </p:txBody>
      </p:sp>
      <p:sp>
        <p:nvSpPr>
          <p:cNvPr id="20" name="Shape 18"/>
          <p:cNvSpPr/>
          <p:nvPr/>
        </p:nvSpPr>
        <p:spPr>
          <a:xfrm>
            <a:off x="8127797" y="3840480"/>
            <a:ext cx="3515258" cy="2194560"/>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21" name="Text 19"/>
          <p:cNvSpPr txBox="1"/>
          <p:nvPr/>
        </p:nvSpPr>
        <p:spPr>
          <a:xfrm>
            <a:off x="8328965" y="3986784"/>
            <a:ext cx="3112922" cy="74980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Igice cya 5: Ibyo wakwitega</a:t>
            </a:r>
            <a:endParaRPr lang="rw-RW" dirty="0"/>
          </a:p>
        </p:txBody>
      </p:sp>
      <p:sp>
        <p:nvSpPr>
          <p:cNvPr id="22" name="Text 20"/>
          <p:cNvSpPr txBox="1"/>
          <p:nvPr/>
        </p:nvSpPr>
        <p:spPr>
          <a:xfrm>
            <a:off x="8328965" y="4572508"/>
            <a:ext cx="3112922" cy="1499616"/>
          </a:xfrm>
          <a:prstGeom prst="rect">
            <a:avLst/>
          </a:prstGeom>
          <a:noFill/>
          <a:ln/>
        </p:spPr>
        <p:txBody>
          <a:bodyPr wrap="square" lIns="0" tIns="0" rIns="0" bIns="0" rtlCol="0" anchor="t">
            <a:normAutofit fontScale="99000"/>
          </a:bodyPr>
          <a:lstStyle/>
          <a:p>
            <a:pPr marL="0" indent="0">
              <a:lnSpc>
                <a:spcPct val="105000"/>
              </a:lnSpc>
              <a:buNone/>
            </a:pPr>
            <a:r>
              <a:rPr lang="rw-RW" dirty="0">
                <a:solidFill>
                  <a:srgbClr val="17335F"/>
                </a:solidFill>
                <a:latin typeface="Calibri" pitchFamily="34" charset="0"/>
                <a:ea typeface="Calibri" pitchFamily="34" charset="-122"/>
                <a:cs typeface="Calibri" pitchFamily="34" charset="-120"/>
              </a:rPr>
              <a:t>Ingaruka zisanzwe, ibimenyetso mpuruza, ubufasha bwa stoma, n'ihumure.</a:t>
            </a:r>
            <a:endParaRPr lang="rw-RW"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305B"/>
        </a:solidFill>
        <a:effectLst/>
      </p:bgPr>
    </p:bg>
    <p:spTree>
      <p:nvGrpSpPr>
        <p:cNvPr id="1" name=""/>
        <p:cNvGrpSpPr/>
        <p:nvPr/>
      </p:nvGrpSpPr>
      <p:grpSpPr>
        <a:xfrm>
          <a:off x="0" y="0"/>
          <a:ext cx="0" cy="0"/>
          <a:chOff x="0" y="0"/>
          <a:chExt cx="0" cy="0"/>
        </a:xfrm>
      </p:grpSpPr>
      <p:sp>
        <p:nvSpPr>
          <p:cNvPr id="2" name="Text 0"/>
          <p:cNvSpPr txBox="1"/>
          <p:nvPr/>
        </p:nvSpPr>
        <p:spPr>
          <a:xfrm>
            <a:off x="548640" y="2468880"/>
            <a:ext cx="9144000" cy="320040"/>
          </a:xfrm>
          <a:prstGeom prst="rect">
            <a:avLst/>
          </a:prstGeom>
          <a:noFill/>
          <a:ln/>
        </p:spPr>
        <p:txBody>
          <a:bodyPr wrap="square" lIns="0" tIns="0" rIns="0" bIns="0" rtlCol="0" anchor="ctr"/>
          <a:lstStyle/>
          <a:p>
            <a:pPr marL="0" indent="0">
              <a:buNone/>
            </a:pPr>
            <a:r>
              <a:rPr lang="rw-RW" sz="1300" b="1" kern="0" spc="300" dirty="0">
                <a:solidFill>
                  <a:srgbClr val="A9C4E8"/>
                </a:solidFill>
                <a:latin typeface="Calibri" pitchFamily="34" charset="0"/>
                <a:ea typeface="Calibri" pitchFamily="34" charset="-122"/>
                <a:cs typeface="Calibri" pitchFamily="34" charset="-120"/>
              </a:rPr>
              <a:t>IGENZURA RYIBANZE</a:t>
            </a:r>
            <a:endParaRPr lang="rw-RW" sz="1300" dirty="0"/>
          </a:p>
        </p:txBody>
      </p:sp>
      <p:sp>
        <p:nvSpPr>
          <p:cNvPr id="3" name="Text 1"/>
          <p:cNvSpPr txBox="1"/>
          <p:nvPr/>
        </p:nvSpPr>
        <p:spPr>
          <a:xfrm>
            <a:off x="548640" y="2788920"/>
            <a:ext cx="9144000" cy="868680"/>
          </a:xfrm>
          <a:prstGeom prst="rect">
            <a:avLst/>
          </a:prstGeom>
          <a:noFill/>
          <a:ln/>
        </p:spPr>
        <p:txBody>
          <a:bodyPr wrap="square" lIns="0" tIns="0" rIns="0" bIns="0" rtlCol="0" anchor="ctr"/>
          <a:lstStyle/>
          <a:p>
            <a:pPr marL="0" indent="0">
              <a:buNone/>
            </a:pPr>
            <a:r>
              <a:rPr lang="rw-RW" sz="4600" b="1" dirty="0">
                <a:solidFill>
                  <a:srgbClr val="FFFFFF"/>
                </a:solidFill>
                <a:latin typeface="Cambria" pitchFamily="34" charset="0"/>
                <a:ea typeface="Cambria" pitchFamily="34" charset="-122"/>
                <a:cs typeface="Cambria" pitchFamily="34" charset="-120"/>
              </a:rPr>
              <a:t>Mbere y'igeragezwa</a:t>
            </a:r>
            <a:endParaRPr lang="rw-RW" sz="4600" dirty="0"/>
          </a:p>
        </p:txBody>
      </p:sp>
      <p:sp>
        <p:nvSpPr>
          <p:cNvPr id="4" name="Text 2"/>
          <p:cNvSpPr txBox="1"/>
          <p:nvPr/>
        </p:nvSpPr>
        <p:spPr>
          <a:xfrm>
            <a:off x="548640" y="3749040"/>
            <a:ext cx="9326880" cy="822960"/>
          </a:xfrm>
          <a:prstGeom prst="rect">
            <a:avLst/>
          </a:prstGeom>
          <a:noFill/>
          <a:ln/>
        </p:spPr>
        <p:txBody>
          <a:bodyPr wrap="square" lIns="0" tIns="0" rIns="0" bIns="0" rtlCol="0" anchor="ctr">
            <a:normAutofit/>
          </a:bodyPr>
          <a:lstStyle/>
          <a:p>
            <a:pPr marL="0" indent="0">
              <a:buNone/>
            </a:pPr>
            <a:r>
              <a:rPr lang="rw-RW" sz="1550" dirty="0">
                <a:solidFill>
                  <a:srgbClr val="D6E4F5"/>
                </a:solidFill>
                <a:latin typeface="Calibri" pitchFamily="34" charset="0"/>
                <a:ea typeface="Calibri" pitchFamily="34" charset="-122"/>
                <a:cs typeface="Calibri" pitchFamily="34" charset="-120"/>
              </a:rPr>
              <a:t>Ibibazo bigufi makumyabiri byo kugenzura ibyo usanzwe uzi. Ibisubizo byawe ntibihabwa amanota. Uzongera guhura n'ibitekerezo bisa n'ibi mu igeragezwa ryo mu nyuma.</a:t>
            </a:r>
            <a:endParaRPr lang="rw-RW" sz="1550" dirty="0"/>
          </a:p>
        </p:txBody>
      </p:sp>
      <p:sp>
        <p:nvSpPr>
          <p:cNvPr id="5" name="Text 3"/>
          <p:cNvSpPr txBox="1"/>
          <p:nvPr/>
        </p:nvSpPr>
        <p:spPr>
          <a:xfrm>
            <a:off x="548640" y="6263640"/>
            <a:ext cx="7315200" cy="274320"/>
          </a:xfrm>
          <a:prstGeom prst="rect">
            <a:avLst/>
          </a:prstGeom>
          <a:noFill/>
          <a:ln/>
        </p:spPr>
        <p:txBody>
          <a:bodyPr wrap="square" lIns="0" tIns="0" rIns="0" bIns="0" rtlCol="0" anchor="ctr">
            <a:normAutofit/>
          </a:bodyPr>
          <a:lstStyle/>
          <a:p>
            <a:pPr marL="0" indent="0">
              <a:buNone/>
            </a:pPr>
            <a:r>
              <a:rPr lang="rw-RW" sz="1100" dirty="0">
                <a:solidFill>
                  <a:srgbClr val="8FAFD6"/>
                </a:solidFill>
                <a:latin typeface="Calibri" pitchFamily="34" charset="0"/>
                <a:ea typeface="Calibri" pitchFamily="34" charset="-122"/>
                <a:cs typeface="Calibri" pitchFamily="34" charset="-120"/>
              </a:rPr>
              <a:t>Rwanda Biomedical Centre | CHW</a:t>
            </a:r>
            <a:endParaRPr lang="rw-RW"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IGENZURA RYIBANZE</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Isuzuma bumenyi (1 muri 10)</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Umujyanama w'ubuzima | Ikigo cy'Igihugu cy'Ubuvuzi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Q1. Amara manini n'umuyoboro w'ibyavuye mu mubiri (rectum) ni ibice by'ibi bikurikira:</a:t>
            </a:r>
            <a:endParaRPr lang="rw-RW" sz="1850" dirty="0"/>
          </a:p>
        </p:txBody>
      </p:sp>
      <p:sp>
        <p:nvSpPr>
          <p:cNvPr id="6" name="Shape 4"/>
          <p:cNvSpPr/>
          <p:nvPr/>
        </p:nvSpPr>
        <p:spPr>
          <a:xfrm>
            <a:off x="548640" y="1682495"/>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Ibihaha</a:t>
            </a:r>
            <a:endParaRPr lang="rw-RW" sz="1800" dirty="0"/>
          </a:p>
        </p:txBody>
      </p:sp>
      <p:sp>
        <p:nvSpPr>
          <p:cNvPr id="8" name="Shape 6"/>
          <p:cNvSpPr/>
          <p:nvPr/>
        </p:nvSpPr>
        <p:spPr>
          <a:xfrm>
            <a:off x="6233008" y="1682495"/>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9" name="Text 7"/>
          <p:cNvSpPr txBox="1"/>
          <p:nvPr/>
        </p:nvSpPr>
        <p:spPr>
          <a:xfrm>
            <a:off x="6434176" y="1682495"/>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Umutima</a:t>
            </a:r>
            <a:endParaRPr lang="rw-RW" sz="1800" dirty="0"/>
          </a:p>
        </p:txBody>
      </p:sp>
      <p:sp>
        <p:nvSpPr>
          <p:cNvPr id="10" name="Shape 8"/>
          <p:cNvSpPr/>
          <p:nvPr/>
        </p:nvSpPr>
        <p:spPr>
          <a:xfrm>
            <a:off x="548640" y="2157984"/>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49808" y="215798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Amara</a:t>
            </a:r>
            <a:endParaRPr lang="rw-RW" sz="1800" dirty="0"/>
          </a:p>
        </p:txBody>
      </p:sp>
      <p:sp>
        <p:nvSpPr>
          <p:cNvPr id="12" name="Shape 10"/>
          <p:cNvSpPr/>
          <p:nvPr/>
        </p:nvSpPr>
        <p:spPr>
          <a:xfrm>
            <a:off x="6233008" y="2157984"/>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15798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Uruhu</a:t>
            </a:r>
            <a:endParaRPr lang="rw-RW" sz="1800" dirty="0"/>
          </a:p>
        </p:txBody>
      </p:sp>
      <p:sp>
        <p:nvSpPr>
          <p:cNvPr id="14" name="Text 12"/>
          <p:cNvSpPr txBox="1"/>
          <p:nvPr/>
        </p:nvSpPr>
        <p:spPr>
          <a:xfrm>
            <a:off x="548640" y="2834640"/>
            <a:ext cx="11094415" cy="329184"/>
          </a:xfrm>
          <a:prstGeom prst="rect">
            <a:avLst/>
          </a:prstGeom>
          <a:noFill/>
          <a:ln/>
        </p:spPr>
        <p:txBody>
          <a:bodyPr wrap="square" lIns="0" tIns="0" rIns="0" bIns="0" rtlCol="0" anchor="ctr">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Ikibazo cya 2. Kanseri y'amara ishobora kugira ingaruka zikurikira:</a:t>
            </a:r>
            <a:endParaRPr lang="rw-RW" sz="1850" dirty="0"/>
          </a:p>
        </p:txBody>
      </p:sp>
      <p:sp>
        <p:nvSpPr>
          <p:cNvPr id="15" name="Shape 13"/>
          <p:cNvSpPr/>
          <p:nvPr/>
        </p:nvSpPr>
        <p:spPr>
          <a:xfrm>
            <a:off x="548640" y="3218688"/>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6" name="Text 14"/>
          <p:cNvSpPr txBox="1"/>
          <p:nvPr/>
        </p:nvSpPr>
        <p:spPr>
          <a:xfrm>
            <a:off x="749808" y="3218688"/>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Abagabo n'abagore</a:t>
            </a:r>
            <a:endParaRPr lang="rw-RW" sz="1800" dirty="0"/>
          </a:p>
        </p:txBody>
      </p:sp>
      <p:sp>
        <p:nvSpPr>
          <p:cNvPr id="17" name="Shape 15"/>
          <p:cNvSpPr/>
          <p:nvPr/>
        </p:nvSpPr>
        <p:spPr>
          <a:xfrm>
            <a:off x="6233008" y="3218688"/>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8" name="Text 16"/>
          <p:cNvSpPr txBox="1"/>
          <p:nvPr/>
        </p:nvSpPr>
        <p:spPr>
          <a:xfrm>
            <a:off x="6434176" y="3218688"/>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pitchFamily="34" charset="0"/>
                <a:ea typeface="Calibri" pitchFamily="34" charset="-122"/>
                <a:cs typeface="Calibri" pitchFamily="34" charset="-120"/>
              </a:rPr>
              <a:t>Abagabo gusa</a:t>
            </a:r>
            <a:endParaRPr lang="rw-RW" sz="1800" dirty="0"/>
          </a:p>
        </p:txBody>
      </p:sp>
      <p:sp>
        <p:nvSpPr>
          <p:cNvPr id="19" name="Shape 17"/>
          <p:cNvSpPr/>
          <p:nvPr/>
        </p:nvSpPr>
        <p:spPr>
          <a:xfrm>
            <a:off x="548640" y="3694176"/>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20" name="Text 18"/>
          <p:cNvSpPr txBox="1"/>
          <p:nvPr/>
        </p:nvSpPr>
        <p:spPr>
          <a:xfrm>
            <a:off x="749808" y="3694176"/>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Abagore gusa</a:t>
            </a:r>
            <a:endParaRPr lang="rw-RW" sz="1800" dirty="0"/>
          </a:p>
        </p:txBody>
      </p:sp>
      <p:sp>
        <p:nvSpPr>
          <p:cNvPr id="21" name="Shape 19"/>
          <p:cNvSpPr/>
          <p:nvPr/>
        </p:nvSpPr>
        <p:spPr>
          <a:xfrm>
            <a:off x="6233008" y="3694176"/>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22" name="Text 20"/>
          <p:cNvSpPr txBox="1"/>
          <p:nvPr/>
        </p:nvSpPr>
        <p:spPr>
          <a:xfrm>
            <a:off x="6434176" y="3694176"/>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Abana gusa</a:t>
            </a:r>
            <a:endParaRPr lang="rw-RW"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IGENZURA RYIBANZE</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Isuzuma bumenyi (2 muri 10)</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Ikibazo cya 3. Kanseri y’amara ikiri kare akenshi:</a:t>
            </a:r>
            <a:endParaRPr lang="rw-RW" sz="1850" dirty="0"/>
          </a:p>
        </p:txBody>
      </p:sp>
      <p:sp>
        <p:nvSpPr>
          <p:cNvPr id="6" name="Shape 4"/>
          <p:cNvSpPr/>
          <p:nvPr/>
        </p:nvSpPr>
        <p:spPr>
          <a:xfrm>
            <a:off x="548640" y="1682495"/>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a:rPr>
              <a:t>Ububabare bukomeye icyarimwe</a:t>
            </a:r>
            <a:endParaRPr lang="rw-RW" sz="1800" dirty="0"/>
          </a:p>
        </p:txBody>
      </p:sp>
      <p:sp>
        <p:nvSpPr>
          <p:cNvPr id="8" name="Shape 6"/>
          <p:cNvSpPr/>
          <p:nvPr/>
        </p:nvSpPr>
        <p:spPr>
          <a:xfrm>
            <a:off x="6233008" y="1682495"/>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9" name="Text 7"/>
          <p:cNvSpPr txBox="1"/>
          <p:nvPr/>
        </p:nvSpPr>
        <p:spPr>
          <a:xfrm>
            <a:off x="6434176" y="1682495"/>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pitchFamily="34" charset="0"/>
                <a:ea typeface="Calibri" pitchFamily="34" charset="-122"/>
                <a:cs typeface="Calibri" pitchFamily="34" charset="-120"/>
              </a:rPr>
              <a:t>Umuriro buri munsi</a:t>
            </a:r>
            <a:endParaRPr lang="rw-RW" sz="1800" dirty="0"/>
          </a:p>
        </p:txBody>
      </p:sp>
      <p:sp>
        <p:nvSpPr>
          <p:cNvPr id="10" name="Shape 8"/>
          <p:cNvSpPr/>
          <p:nvPr/>
        </p:nvSpPr>
        <p:spPr>
          <a:xfrm>
            <a:off x="548640" y="2157984"/>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49808" y="215798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Gutakaza umusatsi</a:t>
            </a:r>
            <a:endParaRPr lang="rw-RW" sz="1800" dirty="0"/>
          </a:p>
        </p:txBody>
      </p:sp>
      <p:sp>
        <p:nvSpPr>
          <p:cNvPr id="12" name="Shape 10"/>
          <p:cNvSpPr/>
          <p:nvPr/>
        </p:nvSpPr>
        <p:spPr>
          <a:xfrm>
            <a:off x="6233008" y="2157984"/>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15798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Nta bimenyetso na bicye igaragaza</a:t>
            </a:r>
            <a:endParaRPr lang="rw-RW" sz="1800" dirty="0"/>
          </a:p>
        </p:txBody>
      </p:sp>
      <p:sp>
        <p:nvSpPr>
          <p:cNvPr id="14" name="Text 12"/>
          <p:cNvSpPr txBox="1"/>
          <p:nvPr/>
        </p:nvSpPr>
        <p:spPr>
          <a:xfrm>
            <a:off x="548640" y="2834640"/>
            <a:ext cx="11094415" cy="329184"/>
          </a:xfrm>
          <a:prstGeom prst="rect">
            <a:avLst/>
          </a:prstGeom>
          <a:noFill/>
          <a:ln/>
        </p:spPr>
        <p:txBody>
          <a:bodyPr wrap="square" lIns="0" tIns="0" rIns="0" bIns="0" rtlCol="0" anchor="ctr">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Ikibazo cya 4. Amaraso mu musarane bisobanura:</a:t>
            </a:r>
            <a:endParaRPr lang="rw-RW" sz="1850" dirty="0"/>
          </a:p>
        </p:txBody>
      </p:sp>
      <p:sp>
        <p:nvSpPr>
          <p:cNvPr id="15" name="Shape 13"/>
          <p:cNvSpPr/>
          <p:nvPr/>
        </p:nvSpPr>
        <p:spPr>
          <a:xfrm>
            <a:off x="548640" y="3218688"/>
            <a:ext cx="5410048" cy="694944"/>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6" name="Text 14"/>
          <p:cNvSpPr txBox="1"/>
          <p:nvPr/>
        </p:nvSpPr>
        <p:spPr>
          <a:xfrm>
            <a:off x="749808" y="3218688"/>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Buri gihe ni kanseri</a:t>
            </a:r>
            <a:endParaRPr lang="rw-RW" sz="1800" dirty="0"/>
          </a:p>
        </p:txBody>
      </p:sp>
      <p:sp>
        <p:nvSpPr>
          <p:cNvPr id="17" name="Shape 15"/>
          <p:cNvSpPr/>
          <p:nvPr/>
        </p:nvSpPr>
        <p:spPr>
          <a:xfrm>
            <a:off x="6233008" y="3218688"/>
            <a:ext cx="5410048" cy="694944"/>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8" name="Text 16"/>
          <p:cNvSpPr txBox="1"/>
          <p:nvPr/>
        </p:nvSpPr>
        <p:spPr>
          <a:xfrm>
            <a:off x="6434176" y="3218688"/>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pitchFamily="34" charset="0"/>
                <a:ea typeface="Calibri" pitchFamily="34" charset="-122"/>
                <a:cs typeface="Calibri" pitchFamily="34" charset="-120"/>
              </a:rPr>
              <a:t>Bifite impamvu nyinshi kandi ikeneye gusuzumwa</a:t>
            </a:r>
            <a:endParaRPr lang="rw-RW" sz="1800" dirty="0"/>
          </a:p>
        </p:txBody>
      </p:sp>
      <p:sp>
        <p:nvSpPr>
          <p:cNvPr id="19" name="Shape 17"/>
          <p:cNvSpPr/>
          <p:nvPr/>
        </p:nvSpPr>
        <p:spPr>
          <a:xfrm>
            <a:off x="548640" y="3968496"/>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20" name="Text 18"/>
          <p:cNvSpPr txBox="1"/>
          <p:nvPr/>
        </p:nvSpPr>
        <p:spPr>
          <a:xfrm>
            <a:off x="749808" y="3968496"/>
            <a:ext cx="5044288" cy="420623"/>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Buri gihe ni hemorroides</a:t>
            </a:r>
            <a:endParaRPr lang="rw-RW" sz="1250" dirty="0"/>
          </a:p>
        </p:txBody>
      </p:sp>
      <p:sp>
        <p:nvSpPr>
          <p:cNvPr id="21" name="Shape 19"/>
          <p:cNvSpPr/>
          <p:nvPr/>
        </p:nvSpPr>
        <p:spPr>
          <a:xfrm>
            <a:off x="6233008" y="3968496"/>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22" name="Text 20"/>
          <p:cNvSpPr txBox="1"/>
          <p:nvPr/>
        </p:nvSpPr>
        <p:spPr>
          <a:xfrm>
            <a:off x="6434176" y="3968496"/>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Nta na kimwe</a:t>
            </a:r>
            <a:endParaRPr lang="rw-RW"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IGENZURA RYIBANZE</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Isuzuma bumenyi (3 kuri 10)</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Ikibazo cya 5. Impinduka mu buryo bwo kwituma bimaze ibyumweru birenze bibiri bigomba:</a:t>
            </a:r>
            <a:endParaRPr lang="rw-RW" sz="1850" dirty="0"/>
          </a:p>
        </p:txBody>
      </p:sp>
      <p:sp>
        <p:nvSpPr>
          <p:cNvPr id="6" name="Shape 4"/>
          <p:cNvSpPr/>
          <p:nvPr/>
        </p:nvSpPr>
        <p:spPr>
          <a:xfrm>
            <a:off x="548640" y="1682495"/>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Kwisuzumisha ku kigo nderabuzima</a:t>
            </a:r>
            <a:endParaRPr lang="rw-RW" sz="1800" dirty="0"/>
          </a:p>
        </p:txBody>
      </p:sp>
      <p:sp>
        <p:nvSpPr>
          <p:cNvPr id="8" name="Shape 6"/>
          <p:cNvSpPr/>
          <p:nvPr/>
        </p:nvSpPr>
        <p:spPr>
          <a:xfrm>
            <a:off x="6233008" y="1682495"/>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9" name="Text 7"/>
          <p:cNvSpPr txBox="1"/>
          <p:nvPr/>
        </p:nvSpPr>
        <p:spPr>
          <a:xfrm>
            <a:off x="6434176" y="1682495"/>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pitchFamily="34" charset="0"/>
                <a:ea typeface="Calibri" pitchFamily="34" charset="-122"/>
                <a:cs typeface="Calibri" pitchFamily="34" charset="-120"/>
              </a:rPr>
              <a:t>Kwirengagiza</a:t>
            </a:r>
            <a:endParaRPr lang="rw-RW" sz="1800" dirty="0"/>
          </a:p>
        </p:txBody>
      </p:sp>
      <p:sp>
        <p:nvSpPr>
          <p:cNvPr id="10" name="Shape 8"/>
          <p:cNvSpPr/>
          <p:nvPr/>
        </p:nvSpPr>
        <p:spPr>
          <a:xfrm>
            <a:off x="548640" y="2157984"/>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49808" y="215798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Kuvurirwa mu rugo gusa</a:t>
            </a:r>
            <a:endParaRPr lang="rw-RW" sz="1800" dirty="0"/>
          </a:p>
        </p:txBody>
      </p:sp>
      <p:sp>
        <p:nvSpPr>
          <p:cNvPr id="12" name="Shape 10"/>
          <p:cNvSpPr/>
          <p:nvPr/>
        </p:nvSpPr>
        <p:spPr>
          <a:xfrm>
            <a:off x="6233008" y="2157984"/>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15798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Tegereza umwaka umwe</a:t>
            </a:r>
            <a:endParaRPr lang="rw-RW" sz="1800" dirty="0"/>
          </a:p>
        </p:txBody>
      </p:sp>
      <p:sp>
        <p:nvSpPr>
          <p:cNvPr id="14" name="Text 12"/>
          <p:cNvSpPr txBox="1"/>
          <p:nvPr/>
        </p:nvSpPr>
        <p:spPr>
          <a:xfrm>
            <a:off x="548640" y="2834640"/>
            <a:ext cx="11094415" cy="329184"/>
          </a:xfrm>
          <a:prstGeom prst="rect">
            <a:avLst/>
          </a:prstGeom>
          <a:noFill/>
          <a:ln/>
        </p:spPr>
        <p:txBody>
          <a:bodyPr wrap="square" lIns="0" tIns="0" rIns="0" bIns="0" rtlCol="0" anchor="ctr">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Ikibazo cya 6. Kanseri y'amara igenda irushaho kwiyongera:</a:t>
            </a:r>
            <a:endParaRPr lang="rw-RW" sz="1850" dirty="0"/>
          </a:p>
        </p:txBody>
      </p:sp>
      <p:sp>
        <p:nvSpPr>
          <p:cNvPr id="15" name="Shape 13"/>
          <p:cNvSpPr/>
          <p:nvPr/>
        </p:nvSpPr>
        <p:spPr>
          <a:xfrm>
            <a:off x="548640" y="3218688"/>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6" name="Text 14"/>
          <p:cNvSpPr txBox="1"/>
          <p:nvPr/>
        </p:nvSpPr>
        <p:spPr>
          <a:xfrm>
            <a:off x="749808" y="3218688"/>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Mu rubyiruko gusa</a:t>
            </a:r>
            <a:endParaRPr lang="rw-RW" sz="1800" dirty="0"/>
          </a:p>
        </p:txBody>
      </p:sp>
      <p:sp>
        <p:nvSpPr>
          <p:cNvPr id="17" name="Shape 15"/>
          <p:cNvSpPr/>
          <p:nvPr/>
        </p:nvSpPr>
        <p:spPr>
          <a:xfrm>
            <a:off x="6233008" y="3218688"/>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8" name="Text 16"/>
          <p:cNvSpPr txBox="1"/>
          <p:nvPr/>
        </p:nvSpPr>
        <p:spPr>
          <a:xfrm>
            <a:off x="6434176" y="3218688"/>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pitchFamily="34" charset="0"/>
                <a:ea typeface="Calibri" pitchFamily="34" charset="-122"/>
                <a:cs typeface="Calibri" pitchFamily="34" charset="-120"/>
              </a:rPr>
              <a:t>Mu bana gusa</a:t>
            </a:r>
            <a:endParaRPr lang="rw-RW" sz="1800" dirty="0"/>
          </a:p>
        </p:txBody>
      </p:sp>
      <p:sp>
        <p:nvSpPr>
          <p:cNvPr id="19" name="Shape 17"/>
          <p:cNvSpPr/>
          <p:nvPr/>
        </p:nvSpPr>
        <p:spPr>
          <a:xfrm>
            <a:off x="548640" y="3694176"/>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20" name="Text 18"/>
          <p:cNvSpPr txBox="1"/>
          <p:nvPr/>
        </p:nvSpPr>
        <p:spPr>
          <a:xfrm>
            <a:off x="749808" y="3694176"/>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Uko abantu bagenda bakura</a:t>
            </a:r>
            <a:endParaRPr lang="rw-RW" sz="1800" dirty="0"/>
          </a:p>
        </p:txBody>
      </p:sp>
      <p:sp>
        <p:nvSpPr>
          <p:cNvPr id="21" name="Shape 19"/>
          <p:cNvSpPr/>
          <p:nvPr/>
        </p:nvSpPr>
        <p:spPr>
          <a:xfrm>
            <a:off x="6233008" y="3694176"/>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22" name="Text 20"/>
          <p:cNvSpPr txBox="1"/>
          <p:nvPr/>
        </p:nvSpPr>
        <p:spPr>
          <a:xfrm>
            <a:off x="6434176" y="3694176"/>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Mu karere kamwe gusa</a:t>
            </a:r>
            <a:endParaRPr lang="rw-RW"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IGENZURA RYIBANZE</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Isuzuma bumenyi (4 kuri 10)</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Ikibazo cya 7. Umuntu wo mu muryango wa hafi urwaye kanseri y'amara bisobanura umuntu:</a:t>
            </a:r>
            <a:endParaRPr lang="rw-RW" sz="1850" dirty="0"/>
          </a:p>
        </p:txBody>
      </p:sp>
      <p:sp>
        <p:nvSpPr>
          <p:cNvPr id="6" name="Shape 4"/>
          <p:cNvSpPr/>
          <p:nvPr/>
        </p:nvSpPr>
        <p:spPr>
          <a:xfrm>
            <a:off x="548640" y="1682495"/>
            <a:ext cx="5410048" cy="694944"/>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Birumvikana ko azarwara kanseri</a:t>
            </a:r>
            <a:endParaRPr lang="rw-RW" sz="1800" dirty="0"/>
          </a:p>
        </p:txBody>
      </p:sp>
      <p:sp>
        <p:nvSpPr>
          <p:cNvPr id="8" name="Shape 6"/>
          <p:cNvSpPr/>
          <p:nvPr/>
        </p:nvSpPr>
        <p:spPr>
          <a:xfrm>
            <a:off x="6233008" y="1682495"/>
            <a:ext cx="5410048" cy="694944"/>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9" name="Text 7"/>
          <p:cNvSpPr txBox="1"/>
          <p:nvPr/>
        </p:nvSpPr>
        <p:spPr>
          <a:xfrm>
            <a:off x="6434176" y="1682495"/>
            <a:ext cx="5044288" cy="694944"/>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pitchFamily="34" charset="0"/>
                <a:ea typeface="Calibri" pitchFamily="34" charset="-122"/>
                <a:cs typeface="Calibri" pitchFamily="34" charset="-120"/>
              </a:rPr>
              <a:t>Afite ibyago byinshi kandi agomba kugisha inama hakiri kare</a:t>
            </a:r>
            <a:endParaRPr lang="rw-RW" sz="1250" dirty="0"/>
          </a:p>
        </p:txBody>
      </p:sp>
      <p:sp>
        <p:nvSpPr>
          <p:cNvPr id="10" name="Shape 8"/>
          <p:cNvSpPr/>
          <p:nvPr/>
        </p:nvSpPr>
        <p:spPr>
          <a:xfrm>
            <a:off x="548640" y="2432304"/>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49808" y="243230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Ntushobora kurwara kanseri</a:t>
            </a:r>
            <a:endParaRPr lang="rw-RW" sz="1800" dirty="0"/>
          </a:p>
        </p:txBody>
      </p:sp>
      <p:sp>
        <p:nvSpPr>
          <p:cNvPr id="12" name="Shape 10"/>
          <p:cNvSpPr/>
          <p:nvPr/>
        </p:nvSpPr>
        <p:spPr>
          <a:xfrm>
            <a:off x="6233008" y="2432304"/>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43230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Ntibikenewe kwitabwaho</a:t>
            </a:r>
            <a:endParaRPr lang="rw-RW" sz="1800" dirty="0"/>
          </a:p>
        </p:txBody>
      </p:sp>
      <p:sp>
        <p:nvSpPr>
          <p:cNvPr id="14" name="Text 12"/>
          <p:cNvSpPr txBox="1"/>
          <p:nvPr/>
        </p:nvSpPr>
        <p:spPr>
          <a:xfrm>
            <a:off x="548640" y="3108960"/>
            <a:ext cx="11094415" cy="329184"/>
          </a:xfrm>
          <a:prstGeom prst="rect">
            <a:avLst/>
          </a:prstGeom>
          <a:noFill/>
          <a:ln/>
        </p:spPr>
        <p:txBody>
          <a:bodyPr wrap="square" lIns="0" tIns="0" rIns="0" bIns="0" rtlCol="0" anchor="ctr">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Ikibazo cya 8. Ni ikihe muri ibi gishobora kongera ibyago byo kurwara kanseri y'amara?</a:t>
            </a:r>
            <a:endParaRPr lang="rw-RW" sz="1850" dirty="0"/>
          </a:p>
        </p:txBody>
      </p:sp>
      <p:sp>
        <p:nvSpPr>
          <p:cNvPr id="15" name="Shape 13"/>
          <p:cNvSpPr/>
          <p:nvPr/>
        </p:nvSpPr>
        <p:spPr>
          <a:xfrm>
            <a:off x="548640" y="3493008"/>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6" name="Text 14"/>
          <p:cNvSpPr txBox="1"/>
          <p:nvPr/>
        </p:nvSpPr>
        <p:spPr>
          <a:xfrm>
            <a:off x="749808" y="3493008"/>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Kunywa amazi</a:t>
            </a:r>
            <a:endParaRPr lang="rw-RW" sz="1800" dirty="0"/>
          </a:p>
        </p:txBody>
      </p:sp>
      <p:sp>
        <p:nvSpPr>
          <p:cNvPr id="17" name="Shape 15"/>
          <p:cNvSpPr/>
          <p:nvPr/>
        </p:nvSpPr>
        <p:spPr>
          <a:xfrm>
            <a:off x="6233008" y="3493008"/>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8" name="Text 16"/>
          <p:cNvSpPr txBox="1"/>
          <p:nvPr/>
        </p:nvSpPr>
        <p:spPr>
          <a:xfrm>
            <a:off x="6434176" y="3493008"/>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pitchFamily="34" charset="0"/>
                <a:ea typeface="Calibri" pitchFamily="34" charset="-122"/>
                <a:cs typeface="Calibri" pitchFamily="34" charset="-120"/>
              </a:rPr>
              <a:t>Kugenda n'amaguru mu murima</a:t>
            </a:r>
            <a:endParaRPr lang="rw-RW" sz="1800" dirty="0"/>
          </a:p>
        </p:txBody>
      </p:sp>
      <p:sp>
        <p:nvSpPr>
          <p:cNvPr id="19" name="Shape 17"/>
          <p:cNvSpPr/>
          <p:nvPr/>
        </p:nvSpPr>
        <p:spPr>
          <a:xfrm>
            <a:off x="548640" y="3968496"/>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20" name="Text 18"/>
          <p:cNvSpPr txBox="1"/>
          <p:nvPr/>
        </p:nvSpPr>
        <p:spPr>
          <a:xfrm>
            <a:off x="749808" y="3968496"/>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Kurya imboga</a:t>
            </a:r>
            <a:endParaRPr lang="rw-RW" sz="1800" dirty="0"/>
          </a:p>
        </p:txBody>
      </p:sp>
      <p:sp>
        <p:nvSpPr>
          <p:cNvPr id="21" name="Shape 19"/>
          <p:cNvSpPr/>
          <p:nvPr/>
        </p:nvSpPr>
        <p:spPr>
          <a:xfrm>
            <a:off x="6233008" y="3968496"/>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22" name="Text 20"/>
          <p:cNvSpPr txBox="1"/>
          <p:nvPr/>
        </p:nvSpPr>
        <p:spPr>
          <a:xfrm>
            <a:off x="6434176" y="3968496"/>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Kunywa itabi</a:t>
            </a:r>
            <a:endParaRPr lang="rw-RW"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IGENZURA RYIBANZE</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Isuzuma bumenyi (5 kuri 10)</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Ikibazo cya 9. Umuntu wumva ameze neza:</a:t>
            </a:r>
            <a:endParaRPr lang="rw-RW" sz="1850" dirty="0"/>
          </a:p>
        </p:txBody>
      </p:sp>
      <p:sp>
        <p:nvSpPr>
          <p:cNvPr id="6" name="Shape 4"/>
          <p:cNvSpPr/>
          <p:nvPr/>
        </p:nvSpPr>
        <p:spPr>
          <a:xfrm>
            <a:off x="548640" y="1682495"/>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Ntashobora kurwara kanseri y'amara</a:t>
            </a:r>
            <a:endParaRPr lang="rw-RW" sz="1800" dirty="0"/>
          </a:p>
        </p:txBody>
      </p:sp>
      <p:sp>
        <p:nvSpPr>
          <p:cNvPr id="8" name="Shape 6"/>
          <p:cNvSpPr/>
          <p:nvPr/>
        </p:nvSpPr>
        <p:spPr>
          <a:xfrm>
            <a:off x="6233008" y="1682495"/>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9" name="Text 7"/>
          <p:cNvSpPr txBox="1"/>
          <p:nvPr/>
        </p:nvSpPr>
        <p:spPr>
          <a:xfrm>
            <a:off x="6434176" y="1682495"/>
            <a:ext cx="5044288" cy="420623"/>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pitchFamily="34" charset="0"/>
                <a:ea typeface="Calibri" pitchFamily="34" charset="-122"/>
                <a:cs typeface="Calibri" pitchFamily="34" charset="-120"/>
              </a:rPr>
              <a:t>Ntakenera kuvurwa na rimwe</a:t>
            </a:r>
            <a:endParaRPr lang="rw-RW" sz="1250" dirty="0"/>
          </a:p>
        </p:txBody>
      </p:sp>
      <p:sp>
        <p:nvSpPr>
          <p:cNvPr id="10" name="Shape 8"/>
          <p:cNvSpPr/>
          <p:nvPr/>
        </p:nvSpPr>
        <p:spPr>
          <a:xfrm>
            <a:off x="548640" y="2157984"/>
            <a:ext cx="5410048" cy="694944"/>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49808" y="2157984"/>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Ashobora kuba arwaye kanseri y'amara hakiri kare atabizi</a:t>
            </a:r>
            <a:endParaRPr lang="rw-RW" sz="1800" dirty="0"/>
          </a:p>
        </p:txBody>
      </p:sp>
      <p:sp>
        <p:nvSpPr>
          <p:cNvPr id="12" name="Shape 10"/>
          <p:cNvSpPr/>
          <p:nvPr/>
        </p:nvSpPr>
        <p:spPr>
          <a:xfrm>
            <a:off x="6233008" y="2157984"/>
            <a:ext cx="5410048" cy="694944"/>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157984"/>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Buri gihe arwaye</a:t>
            </a:r>
            <a:endParaRPr lang="rw-RW" sz="1800" dirty="0"/>
          </a:p>
        </p:txBody>
      </p:sp>
      <p:sp>
        <p:nvSpPr>
          <p:cNvPr id="14" name="Text 12"/>
          <p:cNvSpPr txBox="1"/>
          <p:nvPr/>
        </p:nvSpPr>
        <p:spPr>
          <a:xfrm>
            <a:off x="548640" y="3108960"/>
            <a:ext cx="11094415" cy="329184"/>
          </a:xfrm>
          <a:prstGeom prst="rect">
            <a:avLst/>
          </a:prstGeom>
          <a:noFill/>
          <a:ln/>
        </p:spPr>
        <p:txBody>
          <a:bodyPr wrap="square" lIns="0" tIns="0" rIns="0" bIns="0" rtlCol="0" anchor="ctr">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Ikibazo cya 10. Umukozi wo mu rwego rw'ubuzima agomba :</a:t>
            </a:r>
            <a:endParaRPr lang="rw-RW" sz="1850" dirty="0"/>
          </a:p>
        </p:txBody>
      </p:sp>
      <p:sp>
        <p:nvSpPr>
          <p:cNvPr id="15" name="Shape 13"/>
          <p:cNvSpPr/>
          <p:nvPr/>
        </p:nvSpPr>
        <p:spPr>
          <a:xfrm>
            <a:off x="548640" y="3493008"/>
            <a:ext cx="5410048" cy="96926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6" name="Text 14"/>
          <p:cNvSpPr txBox="1"/>
          <p:nvPr/>
        </p:nvSpPr>
        <p:spPr>
          <a:xfrm>
            <a:off x="749808" y="3493008"/>
            <a:ext cx="5044288" cy="96926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Gukangurira abaturage, gutanga ubufasha no gushishikariza koherezwa kwa muganga no gukurikiranwa</a:t>
            </a:r>
            <a:endParaRPr lang="rw-RW" sz="1800" dirty="0"/>
          </a:p>
        </p:txBody>
      </p:sp>
      <p:sp>
        <p:nvSpPr>
          <p:cNvPr id="17" name="Shape 15"/>
          <p:cNvSpPr/>
          <p:nvPr/>
        </p:nvSpPr>
        <p:spPr>
          <a:xfrm>
            <a:off x="6233008" y="3493008"/>
            <a:ext cx="5410048" cy="96926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8" name="Text 16"/>
          <p:cNvSpPr txBox="1"/>
          <p:nvPr/>
        </p:nvSpPr>
        <p:spPr>
          <a:xfrm>
            <a:off x="6434176" y="3493008"/>
            <a:ext cx="5044288" cy="96926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pitchFamily="34" charset="0"/>
                <a:ea typeface="Calibri" pitchFamily="34" charset="-122"/>
                <a:cs typeface="Calibri" pitchFamily="34" charset="-120"/>
              </a:rPr>
              <a:t>Gufata icyemezo cyo kuvura</a:t>
            </a:r>
            <a:endParaRPr lang="rw-RW" sz="1800" dirty="0"/>
          </a:p>
        </p:txBody>
      </p:sp>
      <p:sp>
        <p:nvSpPr>
          <p:cNvPr id="19" name="Shape 17"/>
          <p:cNvSpPr/>
          <p:nvPr/>
        </p:nvSpPr>
        <p:spPr>
          <a:xfrm>
            <a:off x="548640" y="4517136"/>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20" name="Text 18"/>
          <p:cNvSpPr txBox="1"/>
          <p:nvPr/>
        </p:nvSpPr>
        <p:spPr>
          <a:xfrm>
            <a:off x="749808" y="4517136"/>
            <a:ext cx="5044288" cy="420623"/>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a:rPr>
              <a:t>Kwemeza ko ari kanseri</a:t>
            </a:r>
            <a:endParaRPr lang="rw-RW" sz="1250" dirty="0"/>
          </a:p>
        </p:txBody>
      </p:sp>
      <p:sp>
        <p:nvSpPr>
          <p:cNvPr id="21" name="Shape 19"/>
          <p:cNvSpPr/>
          <p:nvPr/>
        </p:nvSpPr>
        <p:spPr>
          <a:xfrm>
            <a:off x="6233008" y="4517136"/>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22" name="Text 20"/>
          <p:cNvSpPr txBox="1"/>
          <p:nvPr/>
        </p:nvSpPr>
        <p:spPr>
          <a:xfrm>
            <a:off x="6434176" y="4517136"/>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Gusoma ibisubizo by'ibizamini</a:t>
            </a:r>
            <a:endParaRPr lang="rw-RW"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IGENZURA RYIBANZE</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Isuzuma bumenyi (6 kuri 10)</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Text 3"/>
          <p:cNvSpPr txBox="1"/>
          <p:nvPr/>
        </p:nvSpPr>
        <p:spPr>
          <a:xfrm>
            <a:off x="548640" y="1298448"/>
            <a:ext cx="11094415" cy="603503"/>
          </a:xfrm>
          <a:prstGeom prst="rect">
            <a:avLst/>
          </a:prstGeom>
          <a:noFill/>
          <a:ln/>
        </p:spPr>
        <p:txBody>
          <a:bodyPr wrap="square" lIns="0" tIns="0" rIns="0" bIns="0" rtlCol="0" anchor="ctr">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Ikibazo cya 11. Umuntu ntashobora kwituma cyangwa kurekura umwuka wo mu nda, araruka kandi inda ye irabyimbye kandi irababara. Ibi bikeneye:</a:t>
            </a:r>
            <a:endParaRPr lang="rw-RW" sz="1150" dirty="0"/>
          </a:p>
        </p:txBody>
      </p:sp>
      <p:sp>
        <p:nvSpPr>
          <p:cNvPr id="6" name="Shape 4"/>
          <p:cNvSpPr/>
          <p:nvPr/>
        </p:nvSpPr>
        <p:spPr>
          <a:xfrm>
            <a:off x="548640" y="1956815"/>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7" name="Text 5"/>
          <p:cNvSpPr txBox="1"/>
          <p:nvPr/>
        </p:nvSpPr>
        <p:spPr>
          <a:xfrm>
            <a:off x="749808" y="1956815"/>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Uruzinduko mu kwezi gutaha</a:t>
            </a:r>
            <a:endParaRPr lang="rw-RW" sz="1800" dirty="0"/>
          </a:p>
        </p:txBody>
      </p:sp>
      <p:sp>
        <p:nvSpPr>
          <p:cNvPr id="8" name="Shape 6"/>
          <p:cNvSpPr/>
          <p:nvPr/>
        </p:nvSpPr>
        <p:spPr>
          <a:xfrm>
            <a:off x="6233008" y="1956815"/>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9" name="Text 7"/>
          <p:cNvSpPr txBox="1"/>
          <p:nvPr/>
        </p:nvSpPr>
        <p:spPr>
          <a:xfrm>
            <a:off x="6434176" y="1956815"/>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pitchFamily="34" charset="0"/>
                <a:ea typeface="Calibri" pitchFamily="34" charset="-122"/>
                <a:cs typeface="Calibri" pitchFamily="34" charset="-120"/>
              </a:rPr>
              <a:t>Kuruhukira mu rugo</a:t>
            </a:r>
            <a:endParaRPr lang="rw-RW" sz="1800" dirty="0"/>
          </a:p>
        </p:txBody>
      </p:sp>
      <p:sp>
        <p:nvSpPr>
          <p:cNvPr id="10" name="Shape 8"/>
          <p:cNvSpPr/>
          <p:nvPr/>
        </p:nvSpPr>
        <p:spPr>
          <a:xfrm>
            <a:off x="548640" y="2432303"/>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49808" y="2432303"/>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Nta gikorwa</a:t>
            </a:r>
            <a:endParaRPr lang="rw-RW" sz="1800" dirty="0"/>
          </a:p>
        </p:txBody>
      </p:sp>
      <p:sp>
        <p:nvSpPr>
          <p:cNvPr id="12" name="Shape 10"/>
          <p:cNvSpPr/>
          <p:nvPr/>
        </p:nvSpPr>
        <p:spPr>
          <a:xfrm>
            <a:off x="6233008" y="2432303"/>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432303"/>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Kwita kuri uwo munsi</a:t>
            </a:r>
            <a:endParaRPr lang="rw-RW" sz="1800" dirty="0"/>
          </a:p>
        </p:txBody>
      </p:sp>
      <p:sp>
        <p:nvSpPr>
          <p:cNvPr id="14" name="Text 12"/>
          <p:cNvSpPr txBox="1"/>
          <p:nvPr/>
        </p:nvSpPr>
        <p:spPr>
          <a:xfrm>
            <a:off x="548640" y="3108960"/>
            <a:ext cx="11094415" cy="329184"/>
          </a:xfrm>
          <a:prstGeom prst="rect">
            <a:avLst/>
          </a:prstGeom>
          <a:noFill/>
          <a:ln/>
        </p:spPr>
        <p:txBody>
          <a:bodyPr wrap="square" lIns="0" tIns="0" rIns="0" bIns="0" rtlCol="0" anchor="ctr">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Ikibazo cya 12. Ikibyimba kiboneka imbere mu mara (polype):</a:t>
            </a:r>
            <a:endParaRPr lang="rw-RW" sz="1850" dirty="0"/>
          </a:p>
        </p:txBody>
      </p:sp>
      <p:sp>
        <p:nvSpPr>
          <p:cNvPr id="15" name="Shape 13"/>
          <p:cNvSpPr/>
          <p:nvPr/>
        </p:nvSpPr>
        <p:spPr>
          <a:xfrm>
            <a:off x="548640" y="3493008"/>
            <a:ext cx="5410048" cy="694944"/>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6" name="Text 14"/>
          <p:cNvSpPr txBox="1"/>
          <p:nvPr/>
        </p:nvSpPr>
        <p:spPr>
          <a:xfrm>
            <a:off x="749808" y="3493008"/>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Buri gihe ni kanseri</a:t>
            </a:r>
            <a:endParaRPr lang="rw-RW" sz="1800" dirty="0"/>
          </a:p>
        </p:txBody>
      </p:sp>
      <p:sp>
        <p:nvSpPr>
          <p:cNvPr id="17" name="Shape 15"/>
          <p:cNvSpPr/>
          <p:nvPr/>
        </p:nvSpPr>
        <p:spPr>
          <a:xfrm>
            <a:off x="6233008" y="3493008"/>
            <a:ext cx="5410048" cy="694944"/>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8" name="Text 16"/>
          <p:cNvSpPr txBox="1"/>
          <p:nvPr/>
        </p:nvSpPr>
        <p:spPr>
          <a:xfrm>
            <a:off x="6434176" y="3493008"/>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pitchFamily="34" charset="0"/>
                <a:ea typeface="Calibri" pitchFamily="34" charset="-122"/>
                <a:cs typeface="Calibri" pitchFamily="34" charset="-120"/>
              </a:rPr>
              <a:t>Akenshi ntabwo ari kanseri, ariko ubwoko bumwe bushobora guhinduka buhoro buhoro</a:t>
            </a:r>
            <a:endParaRPr lang="rw-RW" sz="1800" dirty="0"/>
          </a:p>
        </p:txBody>
      </p:sp>
      <p:sp>
        <p:nvSpPr>
          <p:cNvPr id="19" name="Shape 17"/>
          <p:cNvSpPr/>
          <p:nvPr/>
        </p:nvSpPr>
        <p:spPr>
          <a:xfrm>
            <a:off x="548640" y="4242816"/>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20" name="Text 18"/>
          <p:cNvSpPr txBox="1"/>
          <p:nvPr/>
        </p:nvSpPr>
        <p:spPr>
          <a:xfrm>
            <a:off x="749808" y="4242816"/>
            <a:ext cx="5044288" cy="420623"/>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Nta na rimwe ari ingenzi</a:t>
            </a:r>
            <a:endParaRPr lang="rw-RW" sz="1250" dirty="0"/>
          </a:p>
        </p:txBody>
      </p:sp>
      <p:sp>
        <p:nvSpPr>
          <p:cNvPr id="21" name="Shape 19"/>
          <p:cNvSpPr/>
          <p:nvPr/>
        </p:nvSpPr>
        <p:spPr>
          <a:xfrm>
            <a:off x="6233008" y="4242816"/>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22" name="Text 20"/>
          <p:cNvSpPr txBox="1"/>
          <p:nvPr/>
        </p:nvSpPr>
        <p:spPr>
          <a:xfrm>
            <a:off x="6434176" y="4242816"/>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Ni ubwoko bwa hemorroïde</a:t>
            </a:r>
            <a:endParaRPr lang="rw-RW"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IGENZURA RYIBANZE</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Isuzuma bumenyi (7 muri 10)</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Umujyanama w'ubuzima | Ikigo cy'Igihugu gishinzwe Ubuzima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Ikibazo cya 13. Kanseri yemejwe na:</a:t>
            </a:r>
            <a:endParaRPr lang="rw-RW" sz="1850" dirty="0"/>
          </a:p>
        </p:txBody>
      </p:sp>
      <p:sp>
        <p:nvSpPr>
          <p:cNvPr id="6" name="Shape 4"/>
          <p:cNvSpPr/>
          <p:nvPr/>
        </p:nvSpPr>
        <p:spPr>
          <a:xfrm>
            <a:off x="548640" y="1682495"/>
            <a:ext cx="5410048" cy="694944"/>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Agace gato k'umubiri gasuzumwa hakoreshejwe mikorosikopi</a:t>
            </a:r>
            <a:endParaRPr lang="rw-RW" sz="1800" dirty="0"/>
          </a:p>
        </p:txBody>
      </p:sp>
      <p:sp>
        <p:nvSpPr>
          <p:cNvPr id="8" name="Shape 6"/>
          <p:cNvSpPr/>
          <p:nvPr/>
        </p:nvSpPr>
        <p:spPr>
          <a:xfrm>
            <a:off x="6233008" y="1682495"/>
            <a:ext cx="5410048" cy="694944"/>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9" name="Text 7"/>
          <p:cNvSpPr txBox="1"/>
          <p:nvPr/>
        </p:nvSpPr>
        <p:spPr>
          <a:xfrm>
            <a:off x="6434176" y="1682495"/>
            <a:ext cx="5044288" cy="694944"/>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Ibimenyetso byonyine</a:t>
            </a:r>
            <a:endParaRPr lang="rw-RW" sz="1250" dirty="0"/>
          </a:p>
        </p:txBody>
      </p:sp>
      <p:sp>
        <p:nvSpPr>
          <p:cNvPr id="10" name="Shape 8"/>
          <p:cNvSpPr/>
          <p:nvPr/>
        </p:nvSpPr>
        <p:spPr>
          <a:xfrm>
            <a:off x="548640" y="2432304"/>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49808" y="243230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Gutekereza</a:t>
            </a:r>
            <a:endParaRPr lang="rw-RW" sz="1800" dirty="0"/>
          </a:p>
        </p:txBody>
      </p:sp>
      <p:sp>
        <p:nvSpPr>
          <p:cNvPr id="12" name="Shape 10"/>
          <p:cNvSpPr/>
          <p:nvPr/>
        </p:nvSpPr>
        <p:spPr>
          <a:xfrm>
            <a:off x="6233008" y="2432304"/>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43230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Ikibazo kimwe</a:t>
            </a:r>
            <a:endParaRPr lang="rw-RW" sz="1800" dirty="0"/>
          </a:p>
        </p:txBody>
      </p:sp>
      <p:sp>
        <p:nvSpPr>
          <p:cNvPr id="14" name="Text 12"/>
          <p:cNvSpPr txBox="1"/>
          <p:nvPr/>
        </p:nvSpPr>
        <p:spPr>
          <a:xfrm>
            <a:off x="548640" y="3108960"/>
            <a:ext cx="11094415" cy="329184"/>
          </a:xfrm>
          <a:prstGeom prst="rect">
            <a:avLst/>
          </a:prstGeom>
          <a:noFill/>
          <a:ln/>
        </p:spPr>
        <p:txBody>
          <a:bodyPr wrap="square" lIns="0" tIns="0" rIns="0" bIns="0" rtlCol="0" anchor="ctr">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Ikibazo cya 14. Ikizamini cya kamera cyo kureba mu mara gishobora gukurikira:</a:t>
            </a:r>
            <a:endParaRPr lang="rw-RW" sz="1850" dirty="0"/>
          </a:p>
        </p:txBody>
      </p:sp>
      <p:sp>
        <p:nvSpPr>
          <p:cNvPr id="15" name="Shape 13"/>
          <p:cNvSpPr/>
          <p:nvPr/>
        </p:nvSpPr>
        <p:spPr>
          <a:xfrm>
            <a:off x="548640" y="3493008"/>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6" name="Text 14"/>
          <p:cNvSpPr txBox="1"/>
          <p:nvPr/>
        </p:nvSpPr>
        <p:spPr>
          <a:xfrm>
            <a:off x="749808" y="3493008"/>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Reba imbere gusa</a:t>
            </a:r>
            <a:endParaRPr lang="rw-RW" sz="1800" dirty="0"/>
          </a:p>
        </p:txBody>
      </p:sp>
      <p:sp>
        <p:nvSpPr>
          <p:cNvPr id="17" name="Shape 15"/>
          <p:cNvSpPr/>
          <p:nvPr/>
        </p:nvSpPr>
        <p:spPr>
          <a:xfrm>
            <a:off x="6233008" y="3493008"/>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8" name="Text 16"/>
          <p:cNvSpPr txBox="1"/>
          <p:nvPr/>
        </p:nvSpPr>
        <p:spPr>
          <a:xfrm>
            <a:off x="6434176" y="3493008"/>
            <a:ext cx="5044288" cy="420623"/>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Vura kanseri zose icyarimwe</a:t>
            </a:r>
            <a:endParaRPr lang="rw-RW" sz="1250" dirty="0"/>
          </a:p>
        </p:txBody>
      </p:sp>
      <p:sp>
        <p:nvSpPr>
          <p:cNvPr id="19" name="Shape 17"/>
          <p:cNvSpPr/>
          <p:nvPr/>
        </p:nvSpPr>
        <p:spPr>
          <a:xfrm>
            <a:off x="548640" y="3968496"/>
            <a:ext cx="5410048" cy="96926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20" name="Text 18"/>
          <p:cNvSpPr txBox="1"/>
          <p:nvPr/>
        </p:nvSpPr>
        <p:spPr>
          <a:xfrm>
            <a:off x="749808" y="3968496"/>
            <a:ext cx="5044288" cy="96926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Reba imbere, fata agace gato k'umubiri ngo gasuzumwe hanyuma ukureho tumwe mu dukura (polypes)</a:t>
            </a:r>
            <a:endParaRPr lang="rw-RW" sz="1800" dirty="0"/>
          </a:p>
        </p:txBody>
      </p:sp>
      <p:sp>
        <p:nvSpPr>
          <p:cNvPr id="21" name="Shape 19"/>
          <p:cNvSpPr/>
          <p:nvPr/>
        </p:nvSpPr>
        <p:spPr>
          <a:xfrm>
            <a:off x="6233008" y="3968496"/>
            <a:ext cx="5410048" cy="96926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22" name="Text 20"/>
          <p:cNvSpPr txBox="1"/>
          <p:nvPr/>
        </p:nvSpPr>
        <p:spPr>
          <a:xfrm>
            <a:off x="6434176" y="3968496"/>
            <a:ext cx="5044288" cy="96926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Gusimbuza ubundi buvuzi bwose</a:t>
            </a:r>
            <a:endParaRPr lang="rw-RW"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IGENZURA RYIBANZE</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Isuzuma bumenyi (8 muri 10)</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Ikibazo cya 15. Umugore aterwa isoni no kuvuga ko yituma amaraso. Ugomba ku:</a:t>
            </a:r>
            <a:endParaRPr lang="rw-RW" sz="1850" dirty="0"/>
          </a:p>
        </p:txBody>
      </p:sp>
      <p:sp>
        <p:nvSpPr>
          <p:cNvPr id="6" name="Shape 4"/>
          <p:cNvSpPr/>
          <p:nvPr/>
        </p:nvSpPr>
        <p:spPr>
          <a:xfrm>
            <a:off x="548640" y="1682495"/>
            <a:ext cx="5410048" cy="694944"/>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694944"/>
          </a:xfrm>
          <a:prstGeom prst="rect">
            <a:avLst/>
          </a:prstGeom>
          <a:noFill/>
          <a:ln/>
        </p:spPr>
        <p:txBody>
          <a:bodyPr wrap="square" lIns="0" tIns="0" rIns="0" bIns="0" rtlCol="0" anchor="ctr">
            <a:noAutofit/>
          </a:bodyP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Urwenya</a:t>
            </a:r>
            <a:endParaRPr lang="rw-RW" sz="1728" dirty="0"/>
          </a:p>
        </p:txBody>
      </p:sp>
      <p:sp>
        <p:nvSpPr>
          <p:cNvPr id="8" name="Shape 6"/>
          <p:cNvSpPr/>
          <p:nvPr/>
        </p:nvSpPr>
        <p:spPr>
          <a:xfrm>
            <a:off x="6233008" y="1682495"/>
            <a:ext cx="5410048" cy="694944"/>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9" name="Text 7"/>
          <p:cNvSpPr txBox="1"/>
          <p:nvPr/>
        </p:nvSpPr>
        <p:spPr>
          <a:xfrm>
            <a:off x="6434176" y="1682495"/>
            <a:ext cx="5044288" cy="694944"/>
          </a:xfrm>
          <a:prstGeom prst="rect">
            <a:avLst/>
          </a:prstGeom>
          <a:noFill/>
          <a:ln/>
        </p:spPr>
        <p:txBody>
          <a:bodyPr wrap="square" lIns="0" tIns="0" rIns="0" bIns="0" rtlCol="0" anchor="ctr">
            <a:no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pitchFamily="34" charset="0"/>
                <a:ea typeface="Calibri" pitchFamily="34" charset="-122"/>
                <a:cs typeface="Calibri" pitchFamily="34" charset="-120"/>
              </a:rPr>
              <a:t>Tega amatwi mu bwubahane, ubishyire mu ibanga, kandi umushishikarize kwisuzumisha</a:t>
            </a:r>
            <a:endParaRPr lang="rw-RW" sz="1728" dirty="0"/>
          </a:p>
        </p:txBody>
      </p:sp>
      <p:sp>
        <p:nvSpPr>
          <p:cNvPr id="10" name="Shape 8"/>
          <p:cNvSpPr/>
          <p:nvPr/>
        </p:nvSpPr>
        <p:spPr>
          <a:xfrm>
            <a:off x="548640" y="2432304"/>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49808" y="2432304"/>
            <a:ext cx="5044288" cy="420623"/>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Muganire imbere y'abandi</a:t>
            </a:r>
            <a:endParaRPr lang="rw-RW" sz="1100" dirty="0"/>
          </a:p>
        </p:txBody>
      </p:sp>
      <p:sp>
        <p:nvSpPr>
          <p:cNvPr id="12" name="Shape 10"/>
          <p:cNvSpPr/>
          <p:nvPr/>
        </p:nvSpPr>
        <p:spPr>
          <a:xfrm>
            <a:off x="6233008" y="2432304"/>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432304"/>
            <a:ext cx="5044288" cy="420623"/>
          </a:xfrm>
          <a:prstGeom prst="rect">
            <a:avLst/>
          </a:prstGeom>
          <a:noFill/>
          <a:ln/>
        </p:spPr>
        <p:txBody>
          <a:bodyPr wrap="square" lIns="0" tIns="0" rIns="0" bIns="0" rtlCol="0" anchor="ctr">
            <a:noAutofit/>
          </a:bodyP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Mubwire ko yabyibagirwa</a:t>
            </a:r>
            <a:endParaRPr lang="rw-RW" sz="1728" dirty="0"/>
          </a:p>
        </p:txBody>
      </p:sp>
      <p:sp>
        <p:nvSpPr>
          <p:cNvPr id="14" name="Text 12"/>
          <p:cNvSpPr txBox="1"/>
          <p:nvPr/>
        </p:nvSpPr>
        <p:spPr>
          <a:xfrm>
            <a:off x="548640" y="3108960"/>
            <a:ext cx="11094415" cy="329184"/>
          </a:xfrm>
          <a:prstGeom prst="rect">
            <a:avLst/>
          </a:prstGeom>
          <a:noFill/>
          <a:ln/>
        </p:spPr>
        <p:txBody>
          <a:bodyPr wrap="square" lIns="0" tIns="0" rIns="0" bIns="0" rtlCol="0" anchor="ctr">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Ikibazo cya 16. Ahantu abantu benshi bajya kwisuzumisha ni:</a:t>
            </a:r>
            <a:endParaRPr lang="rw-RW" sz="1850" dirty="0"/>
          </a:p>
        </p:txBody>
      </p:sp>
      <p:sp>
        <p:nvSpPr>
          <p:cNvPr id="15" name="Shape 13"/>
          <p:cNvSpPr/>
          <p:nvPr/>
        </p:nvSpPr>
        <p:spPr>
          <a:xfrm>
            <a:off x="548640" y="3493008"/>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6" name="Text 14"/>
          <p:cNvSpPr txBox="1"/>
          <p:nvPr/>
        </p:nvSpPr>
        <p:spPr>
          <a:xfrm>
            <a:off x="749808" y="3493008"/>
            <a:ext cx="5044288" cy="420623"/>
          </a:xfrm>
          <a:prstGeom prst="rect">
            <a:avLst/>
          </a:prstGeom>
          <a:noFill/>
          <a:ln/>
        </p:spPr>
        <p:txBody>
          <a:bodyPr wrap="square" lIns="0" tIns="0" rIns="0" bIns="0" rtlCol="0" anchor="ctr">
            <a:noAutofit/>
          </a:bodyP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Ikigo cya kanseri</a:t>
            </a:r>
            <a:endParaRPr lang="rw-RW" sz="1728" dirty="0"/>
          </a:p>
        </p:txBody>
      </p:sp>
      <p:sp>
        <p:nvSpPr>
          <p:cNvPr id="17" name="Shape 15"/>
          <p:cNvSpPr/>
          <p:nvPr/>
        </p:nvSpPr>
        <p:spPr>
          <a:xfrm>
            <a:off x="6233008" y="3493008"/>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8" name="Text 16"/>
          <p:cNvSpPr txBox="1"/>
          <p:nvPr/>
        </p:nvSpPr>
        <p:spPr>
          <a:xfrm>
            <a:off x="6434176" y="3493008"/>
            <a:ext cx="5044288" cy="420623"/>
          </a:xfrm>
          <a:prstGeom prst="rect">
            <a:avLst/>
          </a:prstGeom>
          <a:noFill/>
          <a:ln/>
        </p:spPr>
        <p:txBody>
          <a:bodyPr wrap="square" lIns="0" tIns="0" rIns="0" bIns="0" rtlCol="0" anchor="ctr">
            <a:no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Iduka</a:t>
            </a:r>
            <a:endParaRPr lang="rw-RW" sz="1728" dirty="0"/>
          </a:p>
        </p:txBody>
      </p:sp>
      <p:sp>
        <p:nvSpPr>
          <p:cNvPr id="19" name="Shape 17"/>
          <p:cNvSpPr/>
          <p:nvPr/>
        </p:nvSpPr>
        <p:spPr>
          <a:xfrm>
            <a:off x="548640" y="3968496"/>
            <a:ext cx="5410048" cy="694944"/>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20" name="Text 18"/>
          <p:cNvSpPr txBox="1"/>
          <p:nvPr/>
        </p:nvSpPr>
        <p:spPr>
          <a:xfrm>
            <a:off x="749808" y="3968496"/>
            <a:ext cx="5044288" cy="694944"/>
          </a:xfrm>
          <a:prstGeom prst="rect">
            <a:avLst/>
          </a:prstGeom>
          <a:noFill/>
          <a:ln/>
        </p:spPr>
        <p:txBody>
          <a:bodyPr wrap="square" lIns="0" tIns="0" rIns="0" bIns="0" rtlCol="0" anchor="ctr">
            <a:noAutofit/>
          </a:bodyP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Nta hantu na hamwe</a:t>
            </a:r>
            <a:endParaRPr lang="rw-RW" sz="1728" dirty="0"/>
          </a:p>
        </p:txBody>
      </p:sp>
      <p:sp>
        <p:nvSpPr>
          <p:cNvPr id="21" name="Shape 19"/>
          <p:cNvSpPr/>
          <p:nvPr/>
        </p:nvSpPr>
        <p:spPr>
          <a:xfrm>
            <a:off x="6233008" y="3968496"/>
            <a:ext cx="5410048" cy="694944"/>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22" name="Text 20"/>
          <p:cNvSpPr txBox="1"/>
          <p:nvPr/>
        </p:nvSpPr>
        <p:spPr>
          <a:xfrm>
            <a:off x="6434176" y="3968496"/>
            <a:ext cx="5044288" cy="694944"/>
          </a:xfrm>
          <a:prstGeom prst="rect">
            <a:avLst/>
          </a:prstGeom>
          <a:noFill/>
          <a:ln/>
        </p:spPr>
        <p:txBody>
          <a:bodyPr wrap="square" lIns="0" tIns="0" rIns="0" bIns="0" rtlCol="0" anchor="ctr">
            <a:noAutofit/>
          </a:bodyP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Ivuriro rito (health post) cyangwa ikigo nderabuzima</a:t>
            </a:r>
            <a:endParaRPr lang="rw-RW" sz="1728"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IGENZURA RYIBANZE</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Isuzuma bumenyi (9 muri 10)</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Umujyanama w'ubuzima |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Ikibazo cya 17. Nyuma yo koherezwa, ubufasha bwawe bukubiyemo ibi bikurikira:</a:t>
            </a:r>
            <a:endParaRPr lang="rw-RW" sz="1850" dirty="0"/>
          </a:p>
        </p:txBody>
      </p:sp>
      <p:sp>
        <p:nvSpPr>
          <p:cNvPr id="6" name="Shape 4"/>
          <p:cNvSpPr/>
          <p:nvPr/>
        </p:nvSpPr>
        <p:spPr>
          <a:xfrm>
            <a:off x="548640" y="1682495"/>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Gukora ibizamini ubwawe</a:t>
            </a:r>
            <a:endParaRPr lang="rw-RW" sz="1800" dirty="0"/>
          </a:p>
        </p:txBody>
      </p:sp>
      <p:sp>
        <p:nvSpPr>
          <p:cNvPr id="8" name="Shape 6"/>
          <p:cNvSpPr/>
          <p:nvPr/>
        </p:nvSpPr>
        <p:spPr>
          <a:xfrm>
            <a:off x="6233008" y="1682495"/>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9" name="Text 7"/>
          <p:cNvSpPr txBox="1"/>
          <p:nvPr/>
        </p:nvSpPr>
        <p:spPr>
          <a:xfrm>
            <a:off x="6434176" y="1682495"/>
            <a:ext cx="5044288" cy="420623"/>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pitchFamily="34" charset="0"/>
                <a:ea typeface="Calibri" pitchFamily="34" charset="-122"/>
                <a:cs typeface="Calibri" pitchFamily="34" charset="-120"/>
              </a:rPr>
              <a:t>Kubwira umuntu kubyibagirwa</a:t>
            </a:r>
            <a:endParaRPr lang="rw-RW" sz="1250" dirty="0"/>
          </a:p>
        </p:txBody>
      </p:sp>
      <p:sp>
        <p:nvSpPr>
          <p:cNvPr id="10" name="Shape 8"/>
          <p:cNvSpPr/>
          <p:nvPr/>
        </p:nvSpPr>
        <p:spPr>
          <a:xfrm>
            <a:off x="548640" y="2157984"/>
            <a:ext cx="5410048" cy="694944"/>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49808" y="2157984"/>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Gushishikariza umuntu kwitabira no kugaruka gufata bisubizo</a:t>
            </a:r>
            <a:endParaRPr lang="rw-RW" sz="1800" dirty="0"/>
          </a:p>
        </p:txBody>
      </p:sp>
      <p:sp>
        <p:nvSpPr>
          <p:cNvPr id="12" name="Shape 10"/>
          <p:cNvSpPr/>
          <p:nvPr/>
        </p:nvSpPr>
        <p:spPr>
          <a:xfrm>
            <a:off x="6233008" y="2157984"/>
            <a:ext cx="5410048" cy="694944"/>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157984"/>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Nta kintu na kimwe</a:t>
            </a:r>
            <a:endParaRPr lang="rw-RW" sz="1800" dirty="0"/>
          </a:p>
        </p:txBody>
      </p:sp>
      <p:sp>
        <p:nvSpPr>
          <p:cNvPr id="14" name="Text 12"/>
          <p:cNvSpPr txBox="1"/>
          <p:nvPr/>
        </p:nvSpPr>
        <p:spPr>
          <a:xfrm>
            <a:off x="548640" y="3108960"/>
            <a:ext cx="11094415" cy="329184"/>
          </a:xfrm>
          <a:prstGeom prst="rect">
            <a:avLst/>
          </a:prstGeom>
          <a:noFill/>
          <a:ln/>
        </p:spPr>
        <p:txBody>
          <a:bodyPr wrap="square" lIns="0" tIns="0" rIns="0" bIns="0" rtlCol="0" anchor="ctr">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Ikibazo cya 18. Kuvura kanseri y'amara:</a:t>
            </a:r>
            <a:endParaRPr lang="rw-RW" sz="1850" dirty="0"/>
          </a:p>
        </p:txBody>
      </p:sp>
      <p:sp>
        <p:nvSpPr>
          <p:cNvPr id="15" name="Shape 13"/>
          <p:cNvSpPr/>
          <p:nvPr/>
        </p:nvSpPr>
        <p:spPr>
          <a:xfrm>
            <a:off x="548640" y="3493008"/>
            <a:ext cx="5410048" cy="694944"/>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6" name="Text 14"/>
          <p:cNvSpPr txBox="1"/>
          <p:nvPr/>
        </p:nvSpPr>
        <p:spPr>
          <a:xfrm>
            <a:off x="749808" y="3493008"/>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Biterwa n'aho kanseri iherereye, aho yakwirakwiye, n'ubuzima bw'umuntu</a:t>
            </a:r>
            <a:endParaRPr lang="rw-RW" sz="1800" dirty="0"/>
          </a:p>
        </p:txBody>
      </p:sp>
      <p:sp>
        <p:nvSpPr>
          <p:cNvPr id="17" name="Shape 15"/>
          <p:cNvSpPr/>
          <p:nvPr/>
        </p:nvSpPr>
        <p:spPr>
          <a:xfrm>
            <a:off x="6233008" y="3493008"/>
            <a:ext cx="5410048" cy="694944"/>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8" name="Text 16"/>
          <p:cNvSpPr txBox="1"/>
          <p:nvPr/>
        </p:nvSpPr>
        <p:spPr>
          <a:xfrm>
            <a:off x="6434176" y="3493008"/>
            <a:ext cx="5044288" cy="694944"/>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pitchFamily="34" charset="0"/>
                <a:ea typeface="Calibri" pitchFamily="34" charset="-122"/>
                <a:cs typeface="Calibri" pitchFamily="34" charset="-120"/>
              </a:rPr>
              <a:t>Ni kimwe kuri buri wese</a:t>
            </a:r>
            <a:endParaRPr lang="rw-RW" sz="1250" dirty="0"/>
          </a:p>
        </p:txBody>
      </p:sp>
      <p:sp>
        <p:nvSpPr>
          <p:cNvPr id="19" name="Shape 17"/>
          <p:cNvSpPr/>
          <p:nvPr/>
        </p:nvSpPr>
        <p:spPr>
          <a:xfrm>
            <a:off x="548640" y="4242816"/>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20" name="Text 18"/>
          <p:cNvSpPr txBox="1"/>
          <p:nvPr/>
        </p:nvSpPr>
        <p:spPr>
          <a:xfrm>
            <a:off x="749808" y="4242816"/>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Buri gihe ni kubagwa gusa</a:t>
            </a:r>
            <a:endParaRPr lang="rw-RW" sz="1800" dirty="0"/>
          </a:p>
        </p:txBody>
      </p:sp>
      <p:sp>
        <p:nvSpPr>
          <p:cNvPr id="21" name="Shape 19"/>
          <p:cNvSpPr/>
          <p:nvPr/>
        </p:nvSpPr>
        <p:spPr>
          <a:xfrm>
            <a:off x="6233008" y="4242816"/>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22" name="Text 20"/>
          <p:cNvSpPr txBox="1"/>
          <p:nvPr/>
        </p:nvSpPr>
        <p:spPr>
          <a:xfrm>
            <a:off x="6434176" y="4242816"/>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Ntibaho na rimwe</a:t>
            </a:r>
            <a:endParaRPr lang="rw-RW"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IGENZURA RYIBANZE</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Isuzuma bumenyi (10 kuri 10)</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Ikibazo cya 19. Stoma ni:</a:t>
            </a:r>
            <a:endParaRPr lang="rw-RW" sz="1850" dirty="0"/>
          </a:p>
        </p:txBody>
      </p:sp>
      <p:sp>
        <p:nvSpPr>
          <p:cNvPr id="6" name="Shape 4"/>
          <p:cNvSpPr/>
          <p:nvPr/>
        </p:nvSpPr>
        <p:spPr>
          <a:xfrm>
            <a:off x="548640" y="1682495"/>
            <a:ext cx="5410048" cy="694944"/>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694944"/>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Ikenewe na buri muntu urwaye kanseri y'amara</a:t>
            </a:r>
            <a:endParaRPr lang="rw-RW" sz="1250" dirty="0"/>
          </a:p>
        </p:txBody>
      </p:sp>
      <p:sp>
        <p:nvSpPr>
          <p:cNvPr id="8" name="Shape 6"/>
          <p:cNvSpPr/>
          <p:nvPr/>
        </p:nvSpPr>
        <p:spPr>
          <a:xfrm>
            <a:off x="6233008" y="1682495"/>
            <a:ext cx="5410048" cy="694944"/>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9" name="Text 7"/>
          <p:cNvSpPr txBox="1"/>
          <p:nvPr/>
        </p:nvSpPr>
        <p:spPr>
          <a:xfrm>
            <a:off x="6434176" y="1682495"/>
            <a:ext cx="5044288" cy="694944"/>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pitchFamily="34" charset="0"/>
                <a:ea typeface="Calibri" pitchFamily="34" charset="-122"/>
                <a:cs typeface="Calibri" pitchFamily="34" charset="-120"/>
              </a:rPr>
              <a:t>Umwenge uba ku nda aho amabyi asohokera akajya mwi sashi yabugenewe</a:t>
            </a:r>
            <a:endParaRPr lang="rw-RW" sz="1250" dirty="0"/>
          </a:p>
        </p:txBody>
      </p:sp>
      <p:sp>
        <p:nvSpPr>
          <p:cNvPr id="10" name="Shape 8"/>
          <p:cNvSpPr/>
          <p:nvPr/>
        </p:nvSpPr>
        <p:spPr>
          <a:xfrm>
            <a:off x="548640" y="2432304"/>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49808" y="243230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Ubwoko bw'imiti</a:t>
            </a:r>
            <a:endParaRPr lang="rw-RW" sz="1800" dirty="0"/>
          </a:p>
        </p:txBody>
      </p:sp>
      <p:sp>
        <p:nvSpPr>
          <p:cNvPr id="12" name="Shape 10"/>
          <p:cNvSpPr/>
          <p:nvPr/>
        </p:nvSpPr>
        <p:spPr>
          <a:xfrm>
            <a:off x="6233008" y="2432304"/>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43230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Igeragezwa</a:t>
            </a:r>
            <a:endParaRPr lang="rw-RW" sz="1800" dirty="0"/>
          </a:p>
        </p:txBody>
      </p:sp>
      <p:sp>
        <p:nvSpPr>
          <p:cNvPr id="14" name="Text 12"/>
          <p:cNvSpPr txBox="1"/>
          <p:nvPr/>
        </p:nvSpPr>
        <p:spPr>
          <a:xfrm>
            <a:off x="548640" y="3108960"/>
            <a:ext cx="11094415" cy="603503"/>
          </a:xfrm>
          <a:prstGeom prst="rect">
            <a:avLst/>
          </a:prstGeom>
          <a:noFill/>
          <a:ln/>
        </p:spPr>
        <p:txBody>
          <a:bodyPr wrap="square" lIns="0" tIns="0" rIns="0" bIns="0" rtlCol="0" anchor="ctr">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Ikibazo cya 20. Umuntu ufata ubuvuzi bwa kanseri aba afite impiswi y'amazi inshuro nyinshi ku munsi kandi ntashobora kunywa. Ugomba ko:</a:t>
            </a:r>
            <a:endParaRPr lang="rw-RW" sz="1150" dirty="0"/>
          </a:p>
        </p:txBody>
      </p:sp>
      <p:sp>
        <p:nvSpPr>
          <p:cNvPr id="15" name="Shape 13"/>
          <p:cNvSpPr/>
          <p:nvPr/>
        </p:nvSpPr>
        <p:spPr>
          <a:xfrm>
            <a:off x="548640" y="3767328"/>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6" name="Text 14"/>
          <p:cNvSpPr txBox="1"/>
          <p:nvPr/>
        </p:nvSpPr>
        <p:spPr>
          <a:xfrm>
            <a:off x="749808" y="3767328"/>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Tegereza ukwezi kumwe</a:t>
            </a:r>
            <a:endParaRPr lang="rw-RW" sz="1800" dirty="0"/>
          </a:p>
        </p:txBody>
      </p:sp>
      <p:sp>
        <p:nvSpPr>
          <p:cNvPr id="17" name="Shape 15"/>
          <p:cNvSpPr/>
          <p:nvPr/>
        </p:nvSpPr>
        <p:spPr>
          <a:xfrm>
            <a:off x="6233008" y="3767328"/>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18" name="Text 16"/>
          <p:cNvSpPr txBox="1"/>
          <p:nvPr/>
        </p:nvSpPr>
        <p:spPr>
          <a:xfrm>
            <a:off x="6434176" y="3767328"/>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Vuga ko ari ibisanzwe</a:t>
            </a:r>
            <a:endParaRPr lang="rw-RW" sz="1800" dirty="0"/>
          </a:p>
        </p:txBody>
      </p:sp>
      <p:sp>
        <p:nvSpPr>
          <p:cNvPr id="19" name="Shape 17"/>
          <p:cNvSpPr/>
          <p:nvPr/>
        </p:nvSpPr>
        <p:spPr>
          <a:xfrm>
            <a:off x="548640" y="4242816"/>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20" name="Text 18"/>
          <p:cNvSpPr txBox="1"/>
          <p:nvPr/>
        </p:nvSpPr>
        <p:spPr>
          <a:xfrm>
            <a:off x="749808" y="4242816"/>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Hagarika ibyo kurya n'ibinyobwa byose</a:t>
            </a:r>
            <a:endParaRPr lang="rw-RW" sz="1800" dirty="0"/>
          </a:p>
        </p:txBody>
      </p:sp>
      <p:sp>
        <p:nvSpPr>
          <p:cNvPr id="21" name="Shape 19"/>
          <p:cNvSpPr/>
          <p:nvPr/>
        </p:nvSpPr>
        <p:spPr>
          <a:xfrm>
            <a:off x="6233008" y="4242816"/>
            <a:ext cx="5410048" cy="420623"/>
          </a:xfrm>
          <a:prstGeom prst="roundRect">
            <a:avLst>
              <a:gd name="adj" fmla="val 18519"/>
            </a:avLst>
          </a:prstGeom>
          <a:solidFill>
            <a:srgbClr val="F2F7FD"/>
          </a:solidFill>
          <a:ln w="12700">
            <a:solidFill>
              <a:srgbClr val="CBDDF3"/>
            </a:solidFill>
            <a:prstDash val="solid"/>
          </a:ln>
        </p:spPr>
        <p:txBody>
          <a:bodyPr/>
          <a:lstStyle/>
          <a:p>
            <a:endParaRPr lang="rw-RW" dirty="0"/>
          </a:p>
        </p:txBody>
      </p:sp>
      <p:sp>
        <p:nvSpPr>
          <p:cNvPr id="22" name="Text 20"/>
          <p:cNvSpPr txBox="1"/>
          <p:nvPr/>
        </p:nvSpPr>
        <p:spPr>
          <a:xfrm>
            <a:off x="6434176" y="4242816"/>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Fasha uwo muntu kugera kwa muganga vuba</a:t>
            </a:r>
            <a:endParaRPr lang="rw-RW"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305B"/>
        </a:solidFill>
        <a:effectLst/>
      </p:bgPr>
    </p:bg>
    <p:spTree>
      <p:nvGrpSpPr>
        <p:cNvPr id="1" name=""/>
        <p:cNvGrpSpPr/>
        <p:nvPr/>
      </p:nvGrpSpPr>
      <p:grpSpPr>
        <a:xfrm>
          <a:off x="0" y="0"/>
          <a:ext cx="0" cy="0"/>
          <a:chOff x="0" y="0"/>
          <a:chExt cx="0" cy="0"/>
        </a:xfrm>
      </p:grpSpPr>
      <p:sp>
        <p:nvSpPr>
          <p:cNvPr id="2" name="Text 0"/>
          <p:cNvSpPr txBox="1"/>
          <p:nvPr/>
        </p:nvSpPr>
        <p:spPr>
          <a:xfrm>
            <a:off x="548640" y="1371600"/>
            <a:ext cx="1828800" cy="1097280"/>
          </a:xfrm>
          <a:prstGeom prst="rect">
            <a:avLst/>
          </a:prstGeom>
          <a:noFill/>
          <a:ln/>
        </p:spPr>
        <p:txBody>
          <a:bodyPr wrap="square" lIns="0" tIns="0" rIns="0" bIns="0" rtlCol="0" anchor="ctr">
            <a:normAutofit/>
          </a:bodyPr>
          <a:lstStyle/>
          <a:p>
            <a:pPr marL="0" indent="0">
              <a:buNone/>
            </a:pPr>
            <a:r>
              <a:rPr lang="rw-RW" sz="6500" b="1" dirty="0">
                <a:solidFill>
                  <a:srgbClr val="3E6FA8"/>
                </a:solidFill>
                <a:latin typeface="Cambria" pitchFamily="34" charset="0"/>
                <a:ea typeface="Cambria" pitchFamily="34" charset="-122"/>
                <a:cs typeface="Cambria" pitchFamily="34" charset="-120"/>
              </a:rPr>
              <a:t>1</a:t>
            </a:r>
            <a:endParaRPr lang="rw-RW" sz="6500" dirty="0"/>
          </a:p>
        </p:txBody>
      </p:sp>
      <p:sp>
        <p:nvSpPr>
          <p:cNvPr id="3" name="Text 1"/>
          <p:cNvSpPr txBox="1"/>
          <p:nvPr/>
        </p:nvSpPr>
        <p:spPr>
          <a:xfrm>
            <a:off x="548640" y="2606040"/>
            <a:ext cx="11094415" cy="274320"/>
          </a:xfrm>
          <a:prstGeom prst="rect">
            <a:avLst/>
          </a:prstGeom>
          <a:noFill/>
          <a:ln/>
        </p:spPr>
        <p:txBody>
          <a:bodyPr wrap="square" lIns="0" tIns="0" rIns="0" bIns="0" rtlCol="0" anchor="ctr">
            <a:normAutofit/>
          </a:bodyPr>
          <a:lstStyle/>
          <a:p>
            <a:pPr marL="0" indent="0">
              <a:buNone/>
            </a:pPr>
            <a:r>
              <a:rPr lang="rw-RW" sz="1100" b="1" kern="0" spc="300" dirty="0">
                <a:solidFill>
                  <a:srgbClr val="A9C4E8"/>
                </a:solidFill>
                <a:latin typeface="Calibri" pitchFamily="34" charset="0"/>
                <a:ea typeface="Calibri" pitchFamily="34" charset="-122"/>
                <a:cs typeface="Calibri" pitchFamily="34" charset="-120"/>
              </a:rPr>
              <a:t>ISOMO RYA 1</a:t>
            </a:r>
            <a:endParaRPr lang="rw-RW" sz="1100" dirty="0"/>
          </a:p>
        </p:txBody>
      </p:sp>
      <p:sp>
        <p:nvSpPr>
          <p:cNvPr id="4" name="Text 2"/>
          <p:cNvSpPr txBox="1"/>
          <p:nvPr/>
        </p:nvSpPr>
        <p:spPr>
          <a:xfrm>
            <a:off x="548640" y="2926080"/>
            <a:ext cx="9692640" cy="1005840"/>
          </a:xfrm>
          <a:prstGeom prst="rect">
            <a:avLst/>
          </a:prstGeom>
          <a:noFill/>
          <a:ln/>
        </p:spPr>
        <p:txBody>
          <a:bodyPr wrap="square" lIns="0" tIns="0" rIns="0" bIns="0" rtlCol="0" anchor="ctr"/>
          <a:lstStyle/>
          <a:p>
            <a:pPr marL="0" indent="0">
              <a:buNone/>
            </a:pPr>
            <a:r>
              <a:rPr lang="rw-RW" sz="4000" b="1" dirty="0">
                <a:solidFill>
                  <a:srgbClr val="FFFFFF"/>
                </a:solidFill>
                <a:latin typeface="Cambria" pitchFamily="34" charset="0"/>
                <a:ea typeface="Cambria" pitchFamily="34" charset="-122"/>
                <a:cs typeface="Cambria" pitchFamily="34" charset="-120"/>
              </a:rPr>
              <a:t>Kanseri y'amara ni iki?</a:t>
            </a:r>
            <a:endParaRPr lang="rw-RW" sz="4000" dirty="0"/>
          </a:p>
        </p:txBody>
      </p:sp>
      <p:sp>
        <p:nvSpPr>
          <p:cNvPr id="5" name="Text 3"/>
          <p:cNvSpPr txBox="1"/>
          <p:nvPr/>
        </p:nvSpPr>
        <p:spPr>
          <a:xfrm>
            <a:off x="548640" y="4069080"/>
            <a:ext cx="9326880" cy="822960"/>
          </a:xfrm>
          <a:prstGeom prst="rect">
            <a:avLst/>
          </a:prstGeom>
          <a:noFill/>
          <a:ln/>
        </p:spPr>
        <p:txBody>
          <a:bodyPr wrap="square" lIns="0" tIns="0" rIns="0" bIns="0" rtlCol="0" anchor="ctr"/>
          <a:lstStyle/>
          <a:p>
            <a:pPr marL="0" indent="0">
              <a:buNone/>
            </a:pPr>
            <a:r>
              <a:rPr lang="rw-RW" sz="1900" dirty="0">
                <a:solidFill>
                  <a:srgbClr val="D6E4F5"/>
                </a:solidFill>
                <a:latin typeface="Calibri" pitchFamily="34" charset="0"/>
                <a:ea typeface="Calibri" pitchFamily="34" charset="-122"/>
                <a:cs typeface="Calibri" pitchFamily="34" charset="-120"/>
              </a:rPr>
              <a:t>Intangiriro yoroshye: aho amara manini n'umuyoboro w'ibyavuye mu mubiri (rectum) biherereye, kanseri yamara niki?, n'uko ikunze kugaragara mu Rwanda.</a:t>
            </a:r>
            <a:endParaRPr lang="rw-RW" sz="1900" dirty="0"/>
          </a:p>
        </p:txBody>
      </p:sp>
      <p:sp>
        <p:nvSpPr>
          <p:cNvPr id="6" name="Text 4"/>
          <p:cNvSpPr txBox="1"/>
          <p:nvPr/>
        </p:nvSpPr>
        <p:spPr>
          <a:xfrm>
            <a:off x="548640" y="6263640"/>
            <a:ext cx="7315200" cy="274320"/>
          </a:xfrm>
          <a:prstGeom prst="rect">
            <a:avLst/>
          </a:prstGeom>
          <a:noFill/>
          <a:ln/>
        </p:spPr>
        <p:txBody>
          <a:bodyPr wrap="square" lIns="0" tIns="0" rIns="0" bIns="0" rtlCol="0" anchor="ctr">
            <a:normAutofit/>
          </a:bodyPr>
          <a:lstStyle/>
          <a:p>
            <a:pPr marL="0" indent="0">
              <a:buNone/>
            </a:pPr>
            <a:r>
              <a:rPr lang="rw-RW" sz="1100" dirty="0">
                <a:solidFill>
                  <a:srgbClr val="8FAFD6"/>
                </a:solidFill>
                <a:latin typeface="Calibri" pitchFamily="34" charset="0"/>
                <a:ea typeface="Calibri" pitchFamily="34" charset="-122"/>
                <a:cs typeface="Calibri" pitchFamily="34" charset="-120"/>
              </a:rPr>
              <a:t>Rwanda Biomedical Centre | CHW</a:t>
            </a:r>
            <a:endParaRPr lang="rw-RW"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ISOMO RYA 1</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Icyo wakora</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Shape 3"/>
          <p:cNvSpPr/>
          <p:nvPr/>
        </p:nvSpPr>
        <p:spPr>
          <a:xfrm>
            <a:off x="548640" y="1371600"/>
            <a:ext cx="3515258" cy="1783080"/>
          </a:xfrm>
          <a:prstGeom prst="roundRect">
            <a:avLst>
              <a:gd name="adj" fmla="val 6154"/>
            </a:avLst>
          </a:prstGeom>
          <a:solidFill>
            <a:srgbClr val="F2F7FD"/>
          </a:solidFill>
          <a:ln w="12700">
            <a:solidFill>
              <a:srgbClr val="CBDDF3"/>
            </a:solidFill>
            <a:prstDash val="solid"/>
          </a:ln>
        </p:spPr>
        <p:txBody>
          <a:bodyPr/>
          <a:lstStyle/>
          <a:p>
            <a:endParaRPr lang="rw-RW" dirty="0"/>
          </a:p>
        </p:txBody>
      </p:sp>
      <p:sp>
        <p:nvSpPr>
          <p:cNvPr id="6" name="Text 4"/>
          <p:cNvSpPr txBox="1"/>
          <p:nvPr/>
        </p:nvSpPr>
        <p:spPr>
          <a:xfrm>
            <a:off x="1233628" y="1517904"/>
            <a:ext cx="2629101" cy="384048"/>
          </a:xfrm>
          <a:prstGeom prst="rect">
            <a:avLst/>
          </a:prstGeom>
          <a:noFill/>
          <a:ln/>
        </p:spPr>
        <p:txBody>
          <a:bodyPr wrap="square" lIns="0" tIns="0" rIns="0" bIns="0" rtlCol="0" anchor="t">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Izina</a:t>
            </a:r>
            <a:endParaRPr lang="rw-RW" sz="1850" dirty="0"/>
          </a:p>
        </p:txBody>
      </p:sp>
      <p:sp>
        <p:nvSpPr>
          <p:cNvPr id="7" name="Text 5"/>
          <p:cNvSpPr txBox="1"/>
          <p:nvPr/>
        </p:nvSpPr>
        <p:spPr>
          <a:xfrm>
            <a:off x="749808" y="1938528"/>
            <a:ext cx="3112922" cy="1088136"/>
          </a:xfrm>
          <a:prstGeom prst="rect">
            <a:avLst/>
          </a:prstGeom>
          <a:noFill/>
          <a:ln/>
        </p:spPr>
        <p:txBody>
          <a:bodyPr wrap="square" lIns="0" tIns="0" rIns="0" bIns="0" rtlCol="0" anchor="t"/>
          <a:lstStyle/>
          <a:p>
            <a:pPr marL="0" indent="0">
              <a:lnSpc>
                <a:spcPct val="105000"/>
              </a:lnSpc>
              <a:buNone/>
            </a:pPr>
            <a:r>
              <a:rPr lang="rw-RW" sz="1800" dirty="0">
                <a:solidFill>
                  <a:srgbClr val="17335F"/>
                </a:solidFill>
                <a:latin typeface="Calibri" pitchFamily="34" charset="0"/>
                <a:ea typeface="Calibri" pitchFamily="34" charset="-122"/>
                <a:cs typeface="Calibri" pitchFamily="34" charset="-120"/>
              </a:rPr>
              <a:t>Vuga aho amara manini na rectum biherereye mu mubiri.</a:t>
            </a:r>
            <a:endParaRPr lang="rw-RW" sz="1800" dirty="0"/>
          </a:p>
        </p:txBody>
      </p:sp>
      <p:sp>
        <p:nvSpPr>
          <p:cNvPr id="8" name="Shape 6"/>
          <p:cNvSpPr/>
          <p:nvPr/>
        </p:nvSpPr>
        <p:spPr>
          <a:xfrm>
            <a:off x="4338218" y="1371600"/>
            <a:ext cx="3515258" cy="1783080"/>
          </a:xfrm>
          <a:prstGeom prst="roundRect">
            <a:avLst>
              <a:gd name="adj" fmla="val 6154"/>
            </a:avLst>
          </a:prstGeom>
          <a:solidFill>
            <a:srgbClr val="F2F7FD"/>
          </a:solidFill>
          <a:ln w="12700">
            <a:solidFill>
              <a:srgbClr val="CBDDF3"/>
            </a:solidFill>
            <a:prstDash val="solid"/>
          </a:ln>
        </p:spPr>
        <p:txBody>
          <a:bodyPr/>
          <a:lstStyle/>
          <a:p>
            <a:endParaRPr lang="rw-RW" dirty="0"/>
          </a:p>
        </p:txBody>
      </p:sp>
      <p:sp>
        <p:nvSpPr>
          <p:cNvPr id="9" name="Text 7"/>
          <p:cNvSpPr txBox="1"/>
          <p:nvPr/>
        </p:nvSpPr>
        <p:spPr>
          <a:xfrm>
            <a:off x="4914291" y="1574241"/>
            <a:ext cx="3112922" cy="384048"/>
          </a:xfrm>
          <a:prstGeom prst="rect">
            <a:avLst/>
          </a:prstGeom>
          <a:noFill/>
          <a:ln/>
        </p:spPr>
        <p:txBody>
          <a:bodyPr wrap="square" lIns="0" tIns="0" rIns="0" bIns="0" rtlCol="0" anchor="t">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Sobanura</a:t>
            </a:r>
            <a:endParaRPr lang="rw-RW" sz="1850" dirty="0"/>
          </a:p>
        </p:txBody>
      </p:sp>
      <p:sp>
        <p:nvSpPr>
          <p:cNvPr id="10" name="Text 8"/>
          <p:cNvSpPr txBox="1"/>
          <p:nvPr/>
        </p:nvSpPr>
        <p:spPr>
          <a:xfrm>
            <a:off x="4539386" y="1938528"/>
            <a:ext cx="3112922" cy="1088136"/>
          </a:xfrm>
          <a:prstGeom prst="rect">
            <a:avLst/>
          </a:prstGeom>
          <a:noFill/>
          <a:ln/>
        </p:spPr>
        <p:txBody>
          <a:bodyPr wrap="square" lIns="0" tIns="0" rIns="0" bIns="0" rtlCol="0" anchor="t"/>
          <a:lstStyle/>
          <a:p>
            <a:pPr marL="0" indent="0">
              <a:lnSpc>
                <a:spcPct val="105000"/>
              </a:lnSpc>
              <a:buNone/>
            </a:pPr>
            <a:r>
              <a:rPr lang="rw-RW" sz="1800" dirty="0">
                <a:solidFill>
                  <a:srgbClr val="17335F"/>
                </a:solidFill>
                <a:latin typeface="Calibri" pitchFamily="34" charset="0"/>
                <a:ea typeface="Calibri" pitchFamily="34" charset="-122"/>
                <a:cs typeface="Calibri" pitchFamily="34" charset="-120"/>
              </a:rPr>
              <a:t>Sobanura mu magambo yoroheje icyo kanseri y'amara ari cyo.</a:t>
            </a:r>
            <a:endParaRPr lang="rw-RW" sz="1800" dirty="0"/>
          </a:p>
        </p:txBody>
      </p:sp>
      <p:sp>
        <p:nvSpPr>
          <p:cNvPr id="11" name="Shape 9"/>
          <p:cNvSpPr/>
          <p:nvPr/>
        </p:nvSpPr>
        <p:spPr>
          <a:xfrm>
            <a:off x="8127797" y="1371600"/>
            <a:ext cx="3515258" cy="1783080"/>
          </a:xfrm>
          <a:prstGeom prst="roundRect">
            <a:avLst>
              <a:gd name="adj" fmla="val 6154"/>
            </a:avLst>
          </a:prstGeom>
          <a:solidFill>
            <a:srgbClr val="F2F7FD"/>
          </a:solidFill>
          <a:ln w="12700">
            <a:solidFill>
              <a:srgbClr val="CBDDF3"/>
            </a:solidFill>
            <a:prstDash val="solid"/>
          </a:ln>
        </p:spPr>
        <p:txBody>
          <a:bodyPr/>
          <a:lstStyle/>
          <a:p>
            <a:endParaRPr lang="rw-RW" dirty="0"/>
          </a:p>
        </p:txBody>
      </p:sp>
      <p:sp>
        <p:nvSpPr>
          <p:cNvPr id="12" name="Text 10"/>
          <p:cNvSpPr txBox="1"/>
          <p:nvPr/>
        </p:nvSpPr>
        <p:spPr>
          <a:xfrm>
            <a:off x="8685578" y="1535818"/>
            <a:ext cx="3112922" cy="384048"/>
          </a:xfrm>
          <a:prstGeom prst="rect">
            <a:avLst/>
          </a:prstGeom>
          <a:noFill/>
          <a:ln/>
        </p:spPr>
        <p:txBody>
          <a:bodyPr wrap="square" lIns="0" tIns="0" rIns="0" bIns="0" rtlCol="0" anchor="t">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Ibuka</a:t>
            </a:r>
            <a:endParaRPr lang="rw-RW" sz="1850" dirty="0"/>
          </a:p>
        </p:txBody>
      </p:sp>
      <p:sp>
        <p:nvSpPr>
          <p:cNvPr id="13" name="Text 11"/>
          <p:cNvSpPr txBox="1"/>
          <p:nvPr/>
        </p:nvSpPr>
        <p:spPr>
          <a:xfrm>
            <a:off x="8328965" y="1938528"/>
            <a:ext cx="3112922" cy="1088136"/>
          </a:xfrm>
          <a:prstGeom prst="rect">
            <a:avLst/>
          </a:prstGeom>
          <a:noFill/>
          <a:ln/>
        </p:spPr>
        <p:txBody>
          <a:bodyPr wrap="square" lIns="0" tIns="0" rIns="0" bIns="0" rtlCol="0" anchor="t"/>
          <a:lstStyle/>
          <a:p>
            <a:pPr marL="0" indent="0">
              <a:lnSpc>
                <a:spcPct val="105000"/>
              </a:lnSpc>
              <a:buNone/>
            </a:pPr>
            <a:r>
              <a:rPr lang="rw-RW" sz="1800" dirty="0">
                <a:solidFill>
                  <a:srgbClr val="17335F"/>
                </a:solidFill>
                <a:latin typeface="Calibri" pitchFamily="34" charset="0"/>
                <a:ea typeface="Calibri" pitchFamily="34" charset="-122"/>
                <a:cs typeface="Calibri" pitchFamily="34" charset="-120"/>
              </a:rPr>
              <a:t>Wibuke ko kanseri y'amara akenshi itagira ibimenyetso.</a:t>
            </a:r>
            <a:endParaRPr lang="rw-RW" sz="1800" dirty="0"/>
          </a:p>
        </p:txBody>
      </p:sp>
      <p:sp>
        <p:nvSpPr>
          <p:cNvPr id="14" name="Shape 12"/>
          <p:cNvSpPr/>
          <p:nvPr/>
        </p:nvSpPr>
        <p:spPr>
          <a:xfrm>
            <a:off x="548640" y="3429000"/>
            <a:ext cx="3515258" cy="1783080"/>
          </a:xfrm>
          <a:prstGeom prst="roundRect">
            <a:avLst>
              <a:gd name="adj" fmla="val 6154"/>
            </a:avLst>
          </a:prstGeom>
          <a:solidFill>
            <a:srgbClr val="F2F7FD"/>
          </a:solidFill>
          <a:ln w="12700">
            <a:solidFill>
              <a:srgbClr val="CBDDF3"/>
            </a:solidFill>
            <a:prstDash val="solid"/>
          </a:ln>
        </p:spPr>
        <p:txBody>
          <a:bodyPr/>
          <a:lstStyle/>
          <a:p>
            <a:endParaRPr lang="rw-RW" dirty="0"/>
          </a:p>
        </p:txBody>
      </p:sp>
      <p:sp>
        <p:nvSpPr>
          <p:cNvPr id="15" name="Text 13"/>
          <p:cNvSpPr txBox="1"/>
          <p:nvPr/>
        </p:nvSpPr>
        <p:spPr>
          <a:xfrm>
            <a:off x="1193464" y="3575304"/>
            <a:ext cx="2669265" cy="384048"/>
          </a:xfrm>
          <a:prstGeom prst="rect">
            <a:avLst/>
          </a:prstGeom>
          <a:noFill/>
          <a:ln/>
        </p:spPr>
        <p:txBody>
          <a:bodyPr wrap="square" lIns="0" tIns="0" rIns="0" bIns="0" rtlCol="0" anchor="t">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Kumenya</a:t>
            </a:r>
            <a:endParaRPr lang="rw-RW" sz="1850" dirty="0"/>
          </a:p>
        </p:txBody>
      </p:sp>
      <p:sp>
        <p:nvSpPr>
          <p:cNvPr id="16" name="Text 14"/>
          <p:cNvSpPr txBox="1"/>
          <p:nvPr/>
        </p:nvSpPr>
        <p:spPr>
          <a:xfrm>
            <a:off x="749808" y="3995928"/>
            <a:ext cx="3112922" cy="1088136"/>
          </a:xfrm>
          <a:prstGeom prst="rect">
            <a:avLst/>
          </a:prstGeom>
          <a:noFill/>
          <a:ln/>
        </p:spPr>
        <p:txBody>
          <a:bodyPr wrap="square" lIns="0" tIns="0" rIns="0" bIns="0" rtlCol="0" anchor="t"/>
          <a:lstStyle/>
          <a:p>
            <a:pPr marL="0" indent="0">
              <a:lnSpc>
                <a:spcPct val="105000"/>
              </a:lnSpc>
              <a:buNone/>
            </a:pPr>
            <a:r>
              <a:rPr lang="rw-RW" sz="1800" dirty="0">
                <a:solidFill>
                  <a:srgbClr val="17335F"/>
                </a:solidFill>
                <a:latin typeface="Calibri" pitchFamily="34" charset="0"/>
                <a:ea typeface="Calibri" pitchFamily="34" charset="-122"/>
                <a:cs typeface="Calibri" pitchFamily="34" charset="-120"/>
              </a:rPr>
              <a:t>Twibutse ko yibasira abagabo n'abagore mu Rwanda.</a:t>
            </a:r>
            <a:endParaRPr lang="rw-RW" sz="1800" dirty="0"/>
          </a:p>
        </p:txBody>
      </p:sp>
      <p:sp>
        <p:nvSpPr>
          <p:cNvPr id="17" name="Shape 15"/>
          <p:cNvSpPr/>
          <p:nvPr/>
        </p:nvSpPr>
        <p:spPr>
          <a:xfrm>
            <a:off x="4338218" y="3429000"/>
            <a:ext cx="3515258" cy="1783080"/>
          </a:xfrm>
          <a:prstGeom prst="roundRect">
            <a:avLst>
              <a:gd name="adj" fmla="val 6154"/>
            </a:avLst>
          </a:prstGeom>
          <a:solidFill>
            <a:srgbClr val="F2F7FD"/>
          </a:solidFill>
          <a:ln w="12700">
            <a:solidFill>
              <a:srgbClr val="CBDDF3"/>
            </a:solidFill>
            <a:prstDash val="solid"/>
          </a:ln>
        </p:spPr>
        <p:txBody>
          <a:bodyPr/>
          <a:lstStyle/>
          <a:p>
            <a:endParaRPr lang="rw-RW" dirty="0"/>
          </a:p>
        </p:txBody>
      </p:sp>
      <p:sp>
        <p:nvSpPr>
          <p:cNvPr id="18" name="Text 16"/>
          <p:cNvSpPr txBox="1"/>
          <p:nvPr/>
        </p:nvSpPr>
        <p:spPr>
          <a:xfrm>
            <a:off x="4882896" y="3575304"/>
            <a:ext cx="3112922" cy="384048"/>
          </a:xfrm>
          <a:prstGeom prst="rect">
            <a:avLst/>
          </a:prstGeom>
          <a:noFill/>
          <a:ln/>
        </p:spPr>
        <p:txBody>
          <a:bodyPr wrap="square" lIns="0" tIns="0" rIns="0" bIns="0" rtlCol="0" anchor="t">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Sangiza</a:t>
            </a:r>
            <a:endParaRPr lang="rw-RW" sz="1850" dirty="0"/>
          </a:p>
        </p:txBody>
      </p:sp>
      <p:sp>
        <p:nvSpPr>
          <p:cNvPr id="19" name="Text 17"/>
          <p:cNvSpPr txBox="1"/>
          <p:nvPr/>
        </p:nvSpPr>
        <p:spPr>
          <a:xfrm>
            <a:off x="4539386" y="3995928"/>
            <a:ext cx="3112922" cy="1088136"/>
          </a:xfrm>
          <a:prstGeom prst="rect">
            <a:avLst/>
          </a:prstGeom>
          <a:noFill/>
          <a:ln/>
        </p:spPr>
        <p:txBody>
          <a:bodyPr wrap="square" lIns="0" tIns="0" rIns="0" bIns="0" rtlCol="0" anchor="t"/>
          <a:lstStyle/>
          <a:p>
            <a:pPr marL="0" indent="0">
              <a:lnSpc>
                <a:spcPct val="105000"/>
              </a:lnSpc>
              <a:buNone/>
            </a:pPr>
            <a:r>
              <a:rPr lang="rw-RW" sz="1800" dirty="0">
                <a:solidFill>
                  <a:srgbClr val="17335F"/>
                </a:solidFill>
                <a:latin typeface="Calibri" pitchFamily="34" charset="0"/>
                <a:ea typeface="Calibri" pitchFamily="34" charset="-122"/>
                <a:cs typeface="Calibri" pitchFamily="34" charset="-120"/>
              </a:rPr>
              <a:t>Sangiza abaturage ubutumwa busobanutse kandi butuje.</a:t>
            </a:r>
            <a:endParaRPr lang="rw-RW" sz="1800" dirty="0"/>
          </a:p>
        </p:txBody>
      </p:sp>
      <p:sp>
        <p:nvSpPr>
          <p:cNvPr id="21" name="TextBox 20">
            <a:extLst>
              <a:ext uri="{FF2B5EF4-FFF2-40B4-BE49-F238E27FC236}">
                <a16:creationId xmlns:a16="http://schemas.microsoft.com/office/drawing/2014/main" id="{D9F30015-1F31-5489-5362-D407A2979203}"/>
              </a:ext>
            </a:extLst>
          </p:cNvPr>
          <p:cNvSpPr txBox="1"/>
          <p:nvPr/>
        </p:nvSpPr>
        <p:spPr>
          <a:xfrm>
            <a:off x="632313" y="3526215"/>
            <a:ext cx="644825" cy="461665"/>
          </a:xfrm>
          <a:prstGeom prst="rect">
            <a:avLst/>
          </a:prstGeom>
          <a:noFill/>
        </p:spPr>
        <p:txBody>
          <a:bodyPr wrap="square">
            <a:noAutofit/>
          </a:bodyPr>
          <a:lstStyle/>
          <a:p>
            <a:pPr marL="0" indent="0">
              <a:buNone/>
            </a:pPr>
            <a:r>
              <a:rPr lang="rw-RW" sz="2115" noProof="0" dirty="0">
                <a:solidFill>
                  <a:srgbClr val="1A2733"/>
                </a:solidFill>
                <a:latin typeface="Calibri" pitchFamily="34" charset="0"/>
                <a:ea typeface="Calibri" pitchFamily="34" charset="-122"/>
                <a:cs typeface="Calibri" pitchFamily="34" charset="-120"/>
              </a:rPr>
              <a:t>🧭</a:t>
            </a:r>
            <a:endParaRPr lang="rw-RW" sz="2115" noProof="0" dirty="0"/>
          </a:p>
        </p:txBody>
      </p:sp>
      <p:sp>
        <p:nvSpPr>
          <p:cNvPr id="23" name="TextBox 22">
            <a:extLst>
              <a:ext uri="{FF2B5EF4-FFF2-40B4-BE49-F238E27FC236}">
                <a16:creationId xmlns:a16="http://schemas.microsoft.com/office/drawing/2014/main" id="{984979F7-F986-C830-EC99-2D4994CE5E93}"/>
              </a:ext>
            </a:extLst>
          </p:cNvPr>
          <p:cNvSpPr txBox="1"/>
          <p:nvPr/>
        </p:nvSpPr>
        <p:spPr>
          <a:xfrm>
            <a:off x="4378382" y="1474523"/>
            <a:ext cx="535909" cy="461665"/>
          </a:xfrm>
          <a:prstGeom prst="rect">
            <a:avLst/>
          </a:prstGeom>
          <a:noFill/>
        </p:spPr>
        <p:txBody>
          <a:bodyPr wrap="square">
            <a:noAutofit/>
          </a:bodyPr>
          <a:lstStyle/>
          <a:p>
            <a:pPr marL="0" indent="0">
              <a:buNone/>
            </a:pPr>
            <a:r>
              <a:rPr lang="rw-RW" sz="2092" noProof="0" dirty="0">
                <a:solidFill>
                  <a:srgbClr val="1A2733"/>
                </a:solidFill>
                <a:latin typeface="Calibri" pitchFamily="34" charset="0"/>
                <a:ea typeface="Calibri" pitchFamily="34" charset="-122"/>
                <a:cs typeface="Calibri" pitchFamily="34" charset="-120"/>
              </a:rPr>
              <a:t>🗣️</a:t>
            </a:r>
            <a:endParaRPr lang="rw-RW" sz="2092" noProof="0" dirty="0"/>
          </a:p>
        </p:txBody>
      </p:sp>
      <p:sp>
        <p:nvSpPr>
          <p:cNvPr id="25" name="TextBox 24">
            <a:extLst>
              <a:ext uri="{FF2B5EF4-FFF2-40B4-BE49-F238E27FC236}">
                <a16:creationId xmlns:a16="http://schemas.microsoft.com/office/drawing/2014/main" id="{FCB1DD21-1D47-EC3B-7624-297D12CB4B79}"/>
              </a:ext>
            </a:extLst>
          </p:cNvPr>
          <p:cNvSpPr txBox="1"/>
          <p:nvPr/>
        </p:nvSpPr>
        <p:spPr>
          <a:xfrm>
            <a:off x="4331806" y="3490775"/>
            <a:ext cx="544678" cy="461665"/>
          </a:xfrm>
          <a:prstGeom prst="rect">
            <a:avLst/>
          </a:prstGeom>
          <a:noFill/>
        </p:spPr>
        <p:txBody>
          <a:bodyPr wrap="square">
            <a:normAutofit fontScale="96500"/>
          </a:bodyPr>
          <a:lstStyle/>
          <a:p>
            <a:pPr marL="0" indent="0">
              <a:buNone/>
            </a:pPr>
            <a:r>
              <a:rPr lang="rw-RW" sz="2350" noProof="0" dirty="0">
                <a:solidFill>
                  <a:srgbClr val="1A2733"/>
                </a:solidFill>
                <a:latin typeface="Calibri" pitchFamily="34" charset="0"/>
                <a:ea typeface="Calibri" pitchFamily="34" charset="-122"/>
                <a:cs typeface="Calibri" pitchFamily="34" charset="-120"/>
              </a:rPr>
              <a:t>💙</a:t>
            </a:r>
            <a:endParaRPr lang="rw-RW" sz="2350" noProof="0" dirty="0"/>
          </a:p>
        </p:txBody>
      </p:sp>
      <p:sp>
        <p:nvSpPr>
          <p:cNvPr id="27" name="TextBox 26">
            <a:extLst>
              <a:ext uri="{FF2B5EF4-FFF2-40B4-BE49-F238E27FC236}">
                <a16:creationId xmlns:a16="http://schemas.microsoft.com/office/drawing/2014/main" id="{8781956F-3B38-361B-0C74-B7283E1E2879}"/>
              </a:ext>
            </a:extLst>
          </p:cNvPr>
          <p:cNvSpPr txBox="1"/>
          <p:nvPr/>
        </p:nvSpPr>
        <p:spPr>
          <a:xfrm>
            <a:off x="8171692" y="1458201"/>
            <a:ext cx="700528" cy="461665"/>
          </a:xfrm>
          <a:prstGeom prst="rect">
            <a:avLst/>
          </a:prstGeom>
          <a:noFill/>
        </p:spPr>
        <p:txBody>
          <a:bodyPr wrap="square">
            <a:spAutoFit/>
          </a:bodyPr>
          <a:lstStyle/>
          <a:p>
            <a:pPr marL="0" indent="0">
              <a:buNone/>
            </a:pPr>
            <a:r>
              <a:rPr lang="rw-RW" sz="2350" noProof="0" dirty="0">
                <a:solidFill>
                  <a:srgbClr val="1A2733"/>
                </a:solidFill>
                <a:latin typeface="Calibri" pitchFamily="34" charset="0"/>
                <a:ea typeface="Calibri" pitchFamily="34" charset="-122"/>
                <a:cs typeface="Calibri" pitchFamily="34" charset="-120"/>
              </a:rPr>
              <a:t>📝</a:t>
            </a:r>
            <a:endParaRPr lang="rw-RW" sz="2350" noProof="0" dirty="0"/>
          </a:p>
        </p:txBody>
      </p:sp>
      <p:sp>
        <p:nvSpPr>
          <p:cNvPr id="31" name="TextBox 30">
            <a:extLst>
              <a:ext uri="{FF2B5EF4-FFF2-40B4-BE49-F238E27FC236}">
                <a16:creationId xmlns:a16="http://schemas.microsoft.com/office/drawing/2014/main" id="{20945A8F-FAD8-7154-5D9C-12A3D7EF6B17}"/>
              </a:ext>
            </a:extLst>
          </p:cNvPr>
          <p:cNvSpPr txBox="1"/>
          <p:nvPr/>
        </p:nvSpPr>
        <p:spPr>
          <a:xfrm>
            <a:off x="632313" y="1464311"/>
            <a:ext cx="6094562" cy="461665"/>
          </a:xfrm>
          <a:prstGeom prst="rect">
            <a:avLst/>
          </a:prstGeom>
          <a:noFill/>
        </p:spPr>
        <p:txBody>
          <a:bodyPr wrap="square">
            <a:spAutoFit/>
          </a:bodyPr>
          <a:lstStyle/>
          <a:p>
            <a:pPr marL="0" indent="0">
              <a:buNone/>
            </a:pPr>
            <a:r>
              <a:rPr lang="rw-RW" sz="2350" noProof="0" dirty="0">
                <a:solidFill>
                  <a:srgbClr val="1A2733"/>
                </a:solidFill>
                <a:latin typeface="Calibri" pitchFamily="34" charset="0"/>
                <a:ea typeface="Calibri" pitchFamily="34" charset="-122"/>
                <a:cs typeface="Calibri" pitchFamily="34" charset="-120"/>
              </a:rPr>
              <a:t>🔍</a:t>
            </a:r>
            <a:endParaRPr lang="rw-RW" sz="2350" noProof="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ISOMO RYA 1</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Aho amara manini na rectum biherereye</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Umujyanama w'ubuzima | Ikigo cy'Igihugu cy'Ubuvuzi (Rwanda Biomedical Centre)</a:t>
            </a:r>
            <a:endParaRPr lang="rw-RW" sz="1100" dirty="0"/>
          </a:p>
        </p:txBody>
      </p:sp>
      <p:sp>
        <p:nvSpPr>
          <p:cNvPr id="5" name="Shape 3"/>
          <p:cNvSpPr/>
          <p:nvPr/>
        </p:nvSpPr>
        <p:spPr>
          <a:xfrm>
            <a:off x="548639" y="1135380"/>
            <a:ext cx="4006107" cy="969782"/>
          </a:xfrm>
          <a:prstGeom prst="roundRect">
            <a:avLst>
              <a:gd name="adj" fmla="val 6154"/>
            </a:avLst>
          </a:prstGeom>
          <a:solidFill>
            <a:srgbClr val="F2F7FD"/>
          </a:solidFill>
          <a:ln w="12700">
            <a:solidFill>
              <a:srgbClr val="CBDDF3"/>
            </a:solidFill>
            <a:prstDash val="solid"/>
          </a:ln>
        </p:spPr>
        <p:txBody>
          <a:bodyPr/>
          <a:lstStyle/>
          <a:p>
            <a:endParaRPr lang="rw-RW" dirty="0"/>
          </a:p>
        </p:txBody>
      </p:sp>
      <p:sp>
        <p:nvSpPr>
          <p:cNvPr id="6" name="Text 4"/>
          <p:cNvSpPr txBox="1"/>
          <p:nvPr/>
        </p:nvSpPr>
        <p:spPr>
          <a:xfrm>
            <a:off x="749808" y="1180084"/>
            <a:ext cx="3112922" cy="384048"/>
          </a:xfrm>
          <a:prstGeom prst="rect">
            <a:avLst/>
          </a:prstGeom>
          <a:noFill/>
          <a:ln/>
        </p:spPr>
        <p:txBody>
          <a:bodyPr wrap="square" lIns="0" tIns="0" rIns="0" bIns="0" rtlCol="0" anchor="t">
            <a:normAutofit fontScale="96500"/>
          </a:bodyPr>
          <a:lstStyle/>
          <a:p>
            <a:pPr marL="0" indent="0">
              <a:buNone/>
            </a:pPr>
            <a:r>
              <a:rPr lang="rw-RW" sz="2000" b="1" dirty="0">
                <a:solidFill>
                  <a:srgbClr val="12305B"/>
                </a:solidFill>
                <a:latin typeface="Calibri" pitchFamily="34" charset="0"/>
                <a:ea typeface="Calibri" pitchFamily="34" charset="-122"/>
                <a:cs typeface="Calibri" pitchFamily="34" charset="-120"/>
              </a:rPr>
              <a:t>Amara</a:t>
            </a:r>
            <a:endParaRPr lang="rw-RW" sz="2000" dirty="0"/>
          </a:p>
        </p:txBody>
      </p:sp>
      <p:sp>
        <p:nvSpPr>
          <p:cNvPr id="7" name="Text 5"/>
          <p:cNvSpPr txBox="1"/>
          <p:nvPr/>
        </p:nvSpPr>
        <p:spPr>
          <a:xfrm>
            <a:off x="749808" y="1511808"/>
            <a:ext cx="3804938" cy="585216"/>
          </a:xfrm>
          <a:prstGeom prst="rect">
            <a:avLst/>
          </a:prstGeom>
          <a:noFill/>
          <a:ln/>
        </p:spPr>
        <p:txBody>
          <a:bodyPr wrap="square" lIns="0" tIns="0" rIns="0" bIns="0" rtlCol="0" anchor="t">
            <a:normAutofit/>
          </a:bodyPr>
          <a:lstStyle/>
          <a:p>
            <a:pPr marL="0" indent="0">
              <a:lnSpc>
                <a:spcPct val="105000"/>
              </a:lnSpc>
              <a:buNone/>
            </a:pPr>
            <a:r>
              <a:rPr lang="rw-RW" dirty="0">
                <a:solidFill>
                  <a:srgbClr val="17335F"/>
                </a:solidFill>
                <a:latin typeface="Calibri" pitchFamily="34" charset="0"/>
                <a:ea typeface="Calibri" pitchFamily="34" charset="-122"/>
                <a:cs typeface="Calibri" pitchFamily="34" charset="-120"/>
              </a:rPr>
              <a:t>Ibiryo biva mu gifu bijya mu mara mato, hanyuma bijya mu mara manini.</a:t>
            </a:r>
            <a:endParaRPr lang="rw-RW" dirty="0"/>
          </a:p>
        </p:txBody>
      </p:sp>
      <p:sp>
        <p:nvSpPr>
          <p:cNvPr id="8" name="Shape 6"/>
          <p:cNvSpPr/>
          <p:nvPr/>
        </p:nvSpPr>
        <p:spPr>
          <a:xfrm>
            <a:off x="548946" y="2214372"/>
            <a:ext cx="4005800" cy="1077468"/>
          </a:xfrm>
          <a:prstGeom prst="roundRect">
            <a:avLst>
              <a:gd name="adj" fmla="val 6154"/>
            </a:avLst>
          </a:prstGeom>
          <a:solidFill>
            <a:srgbClr val="F2F7FD"/>
          </a:solidFill>
          <a:ln w="12700">
            <a:solidFill>
              <a:srgbClr val="CBDDF3"/>
            </a:solidFill>
            <a:prstDash val="solid"/>
          </a:ln>
        </p:spPr>
        <p:txBody>
          <a:bodyPr/>
          <a:lstStyle/>
          <a:p>
            <a:endParaRPr lang="rw-RW" dirty="0"/>
          </a:p>
        </p:txBody>
      </p:sp>
      <p:sp>
        <p:nvSpPr>
          <p:cNvPr id="9" name="Text 7"/>
          <p:cNvSpPr txBox="1"/>
          <p:nvPr/>
        </p:nvSpPr>
        <p:spPr>
          <a:xfrm>
            <a:off x="750114" y="2360676"/>
            <a:ext cx="3112922" cy="384048"/>
          </a:xfrm>
          <a:prstGeom prst="rect">
            <a:avLst/>
          </a:prstGeom>
          <a:noFill/>
          <a:ln/>
        </p:spPr>
        <p:txBody>
          <a:bodyPr wrap="square" lIns="0" tIns="0" rIns="0" bIns="0" rtlCol="0" anchor="t">
            <a:normAutofit fontScale="96500"/>
          </a:bodyPr>
          <a:lstStyle/>
          <a:p>
            <a:pPr marL="0" indent="0">
              <a:buNone/>
            </a:pPr>
            <a:r>
              <a:rPr lang="rw-RW" sz="2000" b="1" dirty="0">
                <a:solidFill>
                  <a:srgbClr val="12305B"/>
                </a:solidFill>
                <a:latin typeface="Calibri" pitchFamily="34" charset="0"/>
                <a:ea typeface="Calibri" pitchFamily="34" charset="-122"/>
                <a:cs typeface="Calibri" pitchFamily="34" charset="-120"/>
              </a:rPr>
              <a:t>Amara manini</a:t>
            </a:r>
            <a:endParaRPr lang="rw-RW" sz="2000" dirty="0"/>
          </a:p>
        </p:txBody>
      </p:sp>
      <p:sp>
        <p:nvSpPr>
          <p:cNvPr id="10" name="Text 8"/>
          <p:cNvSpPr txBox="1"/>
          <p:nvPr/>
        </p:nvSpPr>
        <p:spPr>
          <a:xfrm>
            <a:off x="750114" y="2667000"/>
            <a:ext cx="3701116" cy="624840"/>
          </a:xfrm>
          <a:prstGeom prst="rect">
            <a:avLst/>
          </a:prstGeom>
          <a:noFill/>
          <a:ln/>
        </p:spPr>
        <p:txBody>
          <a:bodyPr wrap="square" lIns="0" tIns="0" rIns="0" bIns="0" rtlCol="0" anchor="t">
            <a:normAutofit/>
          </a:bodyPr>
          <a:lstStyle/>
          <a:p>
            <a:pPr marL="0" indent="0">
              <a:lnSpc>
                <a:spcPct val="105000"/>
              </a:lnSpc>
              <a:buNone/>
            </a:pPr>
            <a:r>
              <a:rPr lang="rw-RW" sz="1750" dirty="0">
                <a:solidFill>
                  <a:srgbClr val="17335F"/>
                </a:solidFill>
                <a:latin typeface="Calibri" pitchFamily="34" charset="0"/>
                <a:ea typeface="Calibri" pitchFamily="34" charset="-122"/>
                <a:cs typeface="Calibri" pitchFamily="34" charset="-120"/>
              </a:rPr>
              <a:t>Amara manini ni igice kirekire cy'amara. Ni cyo gice gikuramo amazi mu biribwa.</a:t>
            </a:r>
            <a:endParaRPr lang="rw-RW" sz="1750" dirty="0"/>
          </a:p>
        </p:txBody>
      </p:sp>
      <p:sp>
        <p:nvSpPr>
          <p:cNvPr id="11" name="Shape 9"/>
          <p:cNvSpPr/>
          <p:nvPr/>
        </p:nvSpPr>
        <p:spPr>
          <a:xfrm>
            <a:off x="548946" y="3421390"/>
            <a:ext cx="4005800" cy="2661910"/>
          </a:xfrm>
          <a:prstGeom prst="roundRect">
            <a:avLst>
              <a:gd name="adj" fmla="val 6154"/>
            </a:avLst>
          </a:prstGeom>
          <a:solidFill>
            <a:srgbClr val="F2F7FD"/>
          </a:solidFill>
          <a:ln w="12700">
            <a:solidFill>
              <a:srgbClr val="CBDDF3"/>
            </a:solidFill>
            <a:prstDash val="solid"/>
          </a:ln>
        </p:spPr>
        <p:txBody>
          <a:bodyPr/>
          <a:lstStyle/>
          <a:p>
            <a:endParaRPr lang="rw-RW" dirty="0"/>
          </a:p>
        </p:txBody>
      </p:sp>
      <p:sp>
        <p:nvSpPr>
          <p:cNvPr id="12" name="Text 10"/>
          <p:cNvSpPr txBox="1"/>
          <p:nvPr/>
        </p:nvSpPr>
        <p:spPr>
          <a:xfrm>
            <a:off x="750114" y="3567694"/>
            <a:ext cx="3112922" cy="384048"/>
          </a:xfrm>
          <a:prstGeom prst="rect">
            <a:avLst/>
          </a:prstGeom>
          <a:noFill/>
          <a:ln/>
        </p:spPr>
        <p:txBody>
          <a:bodyPr wrap="square" lIns="0" tIns="0" rIns="0" bIns="0" rtlCol="0" anchor="t">
            <a:noAutofit/>
          </a:bodyPr>
          <a:lstStyle/>
          <a:p>
            <a:pPr marL="0" indent="0">
              <a:buNone/>
            </a:pPr>
            <a:r>
              <a:rPr lang="rw-RW" sz="2000" b="1" dirty="0">
                <a:solidFill>
                  <a:srgbClr val="12305B"/>
                </a:solidFill>
                <a:latin typeface="Calibri" pitchFamily="34" charset="0"/>
                <a:ea typeface="Calibri" pitchFamily="34" charset="-122"/>
                <a:cs typeface="Calibri" pitchFamily="34" charset="-120"/>
              </a:rPr>
              <a:t>Rectum (igice cya nyuma cy'amara manini)</a:t>
            </a:r>
            <a:endParaRPr lang="rw-RW" sz="2000" dirty="0"/>
          </a:p>
        </p:txBody>
      </p:sp>
      <p:sp>
        <p:nvSpPr>
          <p:cNvPr id="13" name="Text 11"/>
          <p:cNvSpPr txBox="1"/>
          <p:nvPr/>
        </p:nvSpPr>
        <p:spPr>
          <a:xfrm>
            <a:off x="750113" y="4242318"/>
            <a:ext cx="3632105" cy="1344168"/>
          </a:xfrm>
          <a:prstGeom prst="rect">
            <a:avLst/>
          </a:prstGeom>
          <a:noFill/>
          <a:ln/>
        </p:spPr>
        <p:txBody>
          <a:bodyPr wrap="square" lIns="0" tIns="0" rIns="0" bIns="0" rtlCol="0" anchor="t">
            <a:noAutofit/>
          </a:bodyPr>
          <a:lstStyle/>
          <a:p>
            <a:pPr marL="0" indent="0">
              <a:lnSpc>
                <a:spcPct val="105000"/>
              </a:lnSpc>
              <a:buNone/>
            </a:pPr>
            <a:r>
              <a:rPr lang="rw-RW" dirty="0">
                <a:solidFill>
                  <a:srgbClr val="17335F"/>
                </a:solidFill>
                <a:latin typeface="Calibri" pitchFamily="34" charset="0"/>
                <a:ea typeface="Calibri" pitchFamily="34" charset="-122"/>
                <a:cs typeface="Calibri" pitchFamily="34" charset="-120"/>
              </a:rPr>
              <a:t>Umuyoboro w'ibyavuye mu mubiri (rectum) ni igice cya nyuma. Umusarane uguma muri gice cyanyuma cyamara manini mbere yo gusohoka mu mubiri unyuze mu mwenge w'ikibuno.</a:t>
            </a:r>
            <a:endParaRPr lang="rw-RW" dirty="0"/>
          </a:p>
        </p:txBody>
      </p:sp>
      <p:pic>
        <p:nvPicPr>
          <p:cNvPr id="15" name="Picture 14" descr="image.png"/>
          <p:cNvPicPr>
            <a:picLocks noChangeAspect="1"/>
          </p:cNvPicPr>
          <p:nvPr/>
        </p:nvPicPr>
        <p:blipFill>
          <a:blip r:embed="rId3"/>
          <a:stretch>
            <a:fillRect/>
          </a:stretch>
        </p:blipFill>
        <p:spPr>
          <a:xfrm>
            <a:off x="5201512" y="1216019"/>
            <a:ext cx="5324656" cy="469789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ISOMO RYA 1</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Kanseri y'amara ni iki?</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Umujyanama w'Ubuzima | Ikigo cy'Igihugu cy'Ubuvuzi (Rwanda Biomedical Centre)</a:t>
            </a:r>
            <a:endParaRPr lang="rw-RW" sz="1100" dirty="0"/>
          </a:p>
        </p:txBody>
      </p:sp>
      <p:sp>
        <p:nvSpPr>
          <p:cNvPr id="5" name="Shape 3"/>
          <p:cNvSpPr/>
          <p:nvPr/>
        </p:nvSpPr>
        <p:spPr>
          <a:xfrm>
            <a:off x="548640" y="1211580"/>
            <a:ext cx="3515258" cy="2438190"/>
          </a:xfrm>
          <a:prstGeom prst="roundRect">
            <a:avLst>
              <a:gd name="adj" fmla="val 5000"/>
            </a:avLst>
          </a:prstGeom>
          <a:solidFill>
            <a:schemeClr val="accent6">
              <a:lumMod val="20000"/>
              <a:lumOff val="80000"/>
            </a:schemeClr>
          </a:solidFill>
          <a:ln w="12700">
            <a:solidFill>
              <a:srgbClr val="CBDDF3"/>
            </a:solidFill>
            <a:prstDash val="solid"/>
          </a:ln>
        </p:spPr>
        <p:txBody>
          <a:bodyPr/>
          <a:lstStyle/>
          <a:p>
            <a:endParaRPr lang="rw-RW" dirty="0"/>
          </a:p>
        </p:txBody>
      </p:sp>
      <p:sp>
        <p:nvSpPr>
          <p:cNvPr id="6" name="Text 4"/>
          <p:cNvSpPr txBox="1"/>
          <p:nvPr/>
        </p:nvSpPr>
        <p:spPr>
          <a:xfrm>
            <a:off x="749808" y="1357884"/>
            <a:ext cx="3112922"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Gukura bidasanzwe</a:t>
            </a:r>
            <a:endParaRPr lang="rw-RW" dirty="0"/>
          </a:p>
        </p:txBody>
      </p:sp>
      <p:sp>
        <p:nvSpPr>
          <p:cNvPr id="7" name="Text 5"/>
          <p:cNvSpPr txBox="1"/>
          <p:nvPr/>
        </p:nvSpPr>
        <p:spPr>
          <a:xfrm>
            <a:off x="749808" y="1778508"/>
            <a:ext cx="1734840" cy="149961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Kanseri itangira iyo uturemangingo tumwe na tumwe two mu mara dukura mu buryo budasanzwe.</a:t>
            </a:r>
            <a:endParaRPr lang="rw-RW" sz="1600" dirty="0"/>
          </a:p>
        </p:txBody>
      </p:sp>
      <p:sp>
        <p:nvSpPr>
          <p:cNvPr id="8" name="Shape 6"/>
          <p:cNvSpPr/>
          <p:nvPr/>
        </p:nvSpPr>
        <p:spPr>
          <a:xfrm>
            <a:off x="4338218" y="1211580"/>
            <a:ext cx="3515258" cy="2438190"/>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9" name="Text 7"/>
          <p:cNvSpPr txBox="1"/>
          <p:nvPr/>
        </p:nvSpPr>
        <p:spPr>
          <a:xfrm>
            <a:off x="4539386" y="1357884"/>
            <a:ext cx="3112922"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Izina rimwe, ahantu habiri</a:t>
            </a:r>
            <a:endParaRPr lang="rw-RW" dirty="0"/>
          </a:p>
        </p:txBody>
      </p:sp>
      <p:sp>
        <p:nvSpPr>
          <p:cNvPr id="10" name="Text 8"/>
          <p:cNvSpPr txBox="1"/>
          <p:nvPr/>
        </p:nvSpPr>
        <p:spPr>
          <a:xfrm>
            <a:off x="4539386" y="1778508"/>
            <a:ext cx="2266856" cy="149961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Kanseri yo mu mara manini na kanseri yo mu muyoboro w'ibyavuye mu mubiri (rectum) bihuriweho n'izina rimwe: kanseri y'amara.</a:t>
            </a:r>
            <a:endParaRPr lang="rw-RW" sz="1600" dirty="0"/>
          </a:p>
        </p:txBody>
      </p:sp>
      <p:sp>
        <p:nvSpPr>
          <p:cNvPr id="11" name="Shape 9"/>
          <p:cNvSpPr/>
          <p:nvPr/>
        </p:nvSpPr>
        <p:spPr>
          <a:xfrm>
            <a:off x="8127797" y="1211580"/>
            <a:ext cx="3515258" cy="2438190"/>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12" name="Text 10"/>
          <p:cNvSpPr txBox="1"/>
          <p:nvPr/>
        </p:nvSpPr>
        <p:spPr>
          <a:xfrm>
            <a:off x="8328965" y="1357884"/>
            <a:ext cx="3112922"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Abagabo n'abagore</a:t>
            </a:r>
            <a:endParaRPr lang="rw-RW" dirty="0"/>
          </a:p>
        </p:txBody>
      </p:sp>
      <p:sp>
        <p:nvSpPr>
          <p:cNvPr id="13" name="Text 11"/>
          <p:cNvSpPr txBox="1"/>
          <p:nvPr/>
        </p:nvSpPr>
        <p:spPr>
          <a:xfrm>
            <a:off x="8328965" y="1740408"/>
            <a:ext cx="1692980" cy="1499616"/>
          </a:xfrm>
          <a:prstGeom prst="rect">
            <a:avLst/>
          </a:prstGeom>
          <a:noFill/>
          <a:ln/>
        </p:spPr>
        <p:txBody>
          <a:bodyPr wrap="square" lIns="0" tIns="0" rIns="0" bIns="0" rtlCol="0" anchor="t"/>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Iyi ndwara ifata abagabo n'abagore. Uko abantu bagenda basaza, ibyago byo kuyirwara biriyongera.</a:t>
            </a:r>
            <a:endParaRPr lang="rw-RW" sz="1600" dirty="0"/>
          </a:p>
        </p:txBody>
      </p:sp>
      <p:sp>
        <p:nvSpPr>
          <p:cNvPr id="14" name="Shape 12"/>
          <p:cNvSpPr/>
          <p:nvPr/>
        </p:nvSpPr>
        <p:spPr>
          <a:xfrm>
            <a:off x="548640" y="3794760"/>
            <a:ext cx="3515258" cy="2496312"/>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15" name="Text 13"/>
          <p:cNvSpPr txBox="1"/>
          <p:nvPr/>
        </p:nvSpPr>
        <p:spPr>
          <a:xfrm>
            <a:off x="749808" y="3941064"/>
            <a:ext cx="3112922" cy="384048"/>
          </a:xfrm>
          <a:prstGeom prst="rect">
            <a:avLst/>
          </a:prstGeom>
          <a:noFill/>
          <a:ln/>
        </p:spPr>
        <p:txBody>
          <a:bodyPr wrap="square" lIns="0" tIns="0" rIns="0" bIns="0" rtlCol="0" anchor="t">
            <a:noAutofit/>
          </a:bodyPr>
          <a:lstStyle/>
          <a:p>
            <a:pPr marL="0" indent="0">
              <a:buNone/>
            </a:pPr>
            <a:r>
              <a:rPr lang="rw-RW" b="1" dirty="0">
                <a:solidFill>
                  <a:srgbClr val="12305B"/>
                </a:solidFill>
                <a:latin typeface="Calibri" pitchFamily="34" charset="0"/>
                <a:ea typeface="Calibri" pitchFamily="34" charset="-122"/>
                <a:cs typeface="Calibri" pitchFamily="34" charset="-120"/>
              </a:rPr>
              <a:t>Akenshi nta bimenyetso igaragaza hakiri kare</a:t>
            </a:r>
            <a:endParaRPr lang="rw-RW" dirty="0"/>
          </a:p>
        </p:txBody>
      </p:sp>
      <p:sp>
        <p:nvSpPr>
          <p:cNvPr id="16" name="Text 14"/>
          <p:cNvSpPr txBox="1"/>
          <p:nvPr/>
        </p:nvSpPr>
        <p:spPr>
          <a:xfrm>
            <a:off x="735119" y="4549936"/>
            <a:ext cx="1695025" cy="1499616"/>
          </a:xfrm>
          <a:prstGeom prst="rect">
            <a:avLst/>
          </a:prstGeom>
          <a:noFill/>
          <a:ln/>
        </p:spPr>
        <p:txBody>
          <a:bodyPr wrap="square" lIns="0" tIns="0" rIns="0" bIns="0" rtlCol="0" anchor="t">
            <a:norm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Umuntu ashobora kurwara kanseri y'amara hakiri kare kandi ntagaragaze ibimenyetso.</a:t>
            </a:r>
            <a:endParaRPr lang="rw-RW" sz="1600" dirty="0"/>
          </a:p>
        </p:txBody>
      </p:sp>
      <p:sp>
        <p:nvSpPr>
          <p:cNvPr id="17" name="Shape 15"/>
          <p:cNvSpPr/>
          <p:nvPr/>
        </p:nvSpPr>
        <p:spPr>
          <a:xfrm>
            <a:off x="4338218" y="3794760"/>
            <a:ext cx="3515258" cy="2496312"/>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18" name="Text 16"/>
          <p:cNvSpPr txBox="1"/>
          <p:nvPr/>
        </p:nvSpPr>
        <p:spPr>
          <a:xfrm>
            <a:off x="4539386" y="3941064"/>
            <a:ext cx="3112922"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Ishobora gukwirakwira</a:t>
            </a:r>
            <a:endParaRPr lang="rw-RW" dirty="0"/>
          </a:p>
        </p:txBody>
      </p:sp>
      <p:sp>
        <p:nvSpPr>
          <p:cNvPr id="19" name="Text 17"/>
          <p:cNvSpPr txBox="1"/>
          <p:nvPr/>
        </p:nvSpPr>
        <p:spPr>
          <a:xfrm>
            <a:off x="4438725" y="4294920"/>
            <a:ext cx="1479973" cy="1499616"/>
          </a:xfrm>
          <a:prstGeom prst="rect">
            <a:avLst/>
          </a:prstGeom>
          <a:noFill/>
          <a:ln/>
        </p:spPr>
        <p:txBody>
          <a:bodyPr wrap="square" lIns="0" tIns="0" rIns="0" bIns="0" rtlCol="0" anchor="t"/>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Iyo itavuwe, ishobora gukura igakwirakwira mu bindi bice by'umubiri.</a:t>
            </a:r>
            <a:endParaRPr lang="rw-RW" sz="1600" dirty="0"/>
          </a:p>
        </p:txBody>
      </p:sp>
      <p:sp>
        <p:nvSpPr>
          <p:cNvPr id="20" name="Shape 18"/>
          <p:cNvSpPr/>
          <p:nvPr/>
        </p:nvSpPr>
        <p:spPr>
          <a:xfrm>
            <a:off x="8127797" y="3794760"/>
            <a:ext cx="3515258" cy="2496312"/>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21" name="Text 19"/>
          <p:cNvSpPr txBox="1"/>
          <p:nvPr/>
        </p:nvSpPr>
        <p:spPr>
          <a:xfrm>
            <a:off x="8328965" y="3941064"/>
            <a:ext cx="3112922"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Impamvu ari ngombwa</a:t>
            </a:r>
            <a:endParaRPr lang="rw-RW" dirty="0"/>
          </a:p>
        </p:txBody>
      </p:sp>
      <p:sp>
        <p:nvSpPr>
          <p:cNvPr id="22" name="Text 20"/>
          <p:cNvSpPr txBox="1"/>
          <p:nvPr/>
        </p:nvSpPr>
        <p:spPr>
          <a:xfrm>
            <a:off x="8328965" y="4361688"/>
            <a:ext cx="1625033" cy="149961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Iyo uyibonye hakiri kare, hari uburyo bwinshi bwo kuyivura ndetse n'amahirwe menshi yo kubaho igihe kirekire.</a:t>
            </a:r>
            <a:endParaRPr lang="rw-RW" sz="1600" dirty="0"/>
          </a:p>
        </p:txBody>
      </p:sp>
      <p:pic>
        <p:nvPicPr>
          <p:cNvPr id="23" name="Imagen 22">
            <a:extLst>
              <a:ext uri="{FF2B5EF4-FFF2-40B4-BE49-F238E27FC236}">
                <a16:creationId xmlns:a16="http://schemas.microsoft.com/office/drawing/2014/main" id="{16DA3714-115E-B485-EFBB-355E77B07082}"/>
              </a:ext>
            </a:extLst>
          </p:cNvPr>
          <p:cNvPicPr>
            <a:picLocks noChangeAspect="1"/>
          </p:cNvPicPr>
          <p:nvPr/>
        </p:nvPicPr>
        <p:blipFill>
          <a:blip r:embed="rId3"/>
          <a:srcRect/>
          <a:stretch>
            <a:fillRect/>
          </a:stretch>
        </p:blipFill>
        <p:spPr>
          <a:xfrm>
            <a:off x="2535448" y="1733243"/>
            <a:ext cx="1629034" cy="1629034"/>
          </a:xfrm>
          <a:prstGeom prst="rect">
            <a:avLst/>
          </a:prstGeom>
        </p:spPr>
      </p:pic>
      <p:pic>
        <p:nvPicPr>
          <p:cNvPr id="24" name="Imagen 23">
            <a:extLst>
              <a:ext uri="{FF2B5EF4-FFF2-40B4-BE49-F238E27FC236}">
                <a16:creationId xmlns:a16="http://schemas.microsoft.com/office/drawing/2014/main" id="{705F9B31-BA39-10D4-41DB-4ABA2B8689E8}"/>
              </a:ext>
            </a:extLst>
          </p:cNvPr>
          <p:cNvPicPr>
            <a:picLocks noChangeAspect="1"/>
          </p:cNvPicPr>
          <p:nvPr/>
        </p:nvPicPr>
        <p:blipFill>
          <a:blip r:embed="rId4"/>
          <a:srcRect/>
          <a:stretch>
            <a:fillRect/>
          </a:stretch>
        </p:blipFill>
        <p:spPr>
          <a:xfrm>
            <a:off x="6827672" y="1806899"/>
            <a:ext cx="914909" cy="1352943"/>
          </a:xfrm>
          <a:prstGeom prst="rect">
            <a:avLst/>
          </a:prstGeom>
        </p:spPr>
      </p:pic>
      <p:pic>
        <p:nvPicPr>
          <p:cNvPr id="25" name="Imagen 24">
            <a:extLst>
              <a:ext uri="{FF2B5EF4-FFF2-40B4-BE49-F238E27FC236}">
                <a16:creationId xmlns:a16="http://schemas.microsoft.com/office/drawing/2014/main" id="{452074CD-5D3B-CCA5-B75B-5B175402E90B}"/>
              </a:ext>
            </a:extLst>
          </p:cNvPr>
          <p:cNvPicPr>
            <a:picLocks noChangeAspect="1"/>
          </p:cNvPicPr>
          <p:nvPr/>
        </p:nvPicPr>
        <p:blipFill>
          <a:blip r:embed="rId5"/>
          <a:stretch>
            <a:fillRect/>
          </a:stretch>
        </p:blipFill>
        <p:spPr>
          <a:xfrm>
            <a:off x="10004798" y="2091379"/>
            <a:ext cx="1369142" cy="912761"/>
          </a:xfrm>
          <a:prstGeom prst="rect">
            <a:avLst/>
          </a:prstGeom>
        </p:spPr>
      </p:pic>
      <p:pic>
        <p:nvPicPr>
          <p:cNvPr id="27" name="Imagen 26">
            <a:extLst>
              <a:ext uri="{FF2B5EF4-FFF2-40B4-BE49-F238E27FC236}">
                <a16:creationId xmlns:a16="http://schemas.microsoft.com/office/drawing/2014/main" id="{19422CEF-FEDB-BD40-6F91-B8011778033A}"/>
              </a:ext>
            </a:extLst>
          </p:cNvPr>
          <p:cNvPicPr>
            <a:picLocks noChangeAspect="1"/>
          </p:cNvPicPr>
          <p:nvPr/>
        </p:nvPicPr>
        <p:blipFill>
          <a:blip r:embed="rId6"/>
          <a:stretch>
            <a:fillRect/>
          </a:stretch>
        </p:blipFill>
        <p:spPr>
          <a:xfrm>
            <a:off x="2495633" y="4294920"/>
            <a:ext cx="1491216" cy="1549410"/>
          </a:xfrm>
          <a:prstGeom prst="rect">
            <a:avLst/>
          </a:prstGeom>
        </p:spPr>
      </p:pic>
      <p:pic>
        <p:nvPicPr>
          <p:cNvPr id="29" name="Imagen 28">
            <a:extLst>
              <a:ext uri="{FF2B5EF4-FFF2-40B4-BE49-F238E27FC236}">
                <a16:creationId xmlns:a16="http://schemas.microsoft.com/office/drawing/2014/main" id="{5B718E31-FFF2-77B3-8799-04E5FA10D5AC}"/>
              </a:ext>
            </a:extLst>
          </p:cNvPr>
          <p:cNvPicPr>
            <a:picLocks noChangeAspect="1"/>
          </p:cNvPicPr>
          <p:nvPr/>
        </p:nvPicPr>
        <p:blipFill>
          <a:blip r:embed="rId7"/>
          <a:stretch>
            <a:fillRect/>
          </a:stretch>
        </p:blipFill>
        <p:spPr>
          <a:xfrm>
            <a:off x="5969498" y="4270970"/>
            <a:ext cx="1967925" cy="1311950"/>
          </a:xfrm>
          <a:prstGeom prst="rect">
            <a:avLst/>
          </a:prstGeom>
        </p:spPr>
      </p:pic>
      <p:pic>
        <p:nvPicPr>
          <p:cNvPr id="30" name="Imagen 29">
            <a:extLst>
              <a:ext uri="{FF2B5EF4-FFF2-40B4-BE49-F238E27FC236}">
                <a16:creationId xmlns:a16="http://schemas.microsoft.com/office/drawing/2014/main" id="{0692E52D-9516-EA88-35DE-991735A05FAC}"/>
              </a:ext>
            </a:extLst>
          </p:cNvPr>
          <p:cNvPicPr>
            <a:picLocks noChangeAspect="1"/>
          </p:cNvPicPr>
          <p:nvPr/>
        </p:nvPicPr>
        <p:blipFill>
          <a:blip r:embed="rId8"/>
          <a:stretch>
            <a:fillRect/>
          </a:stretch>
        </p:blipFill>
        <p:spPr>
          <a:xfrm>
            <a:off x="10004798" y="4892040"/>
            <a:ext cx="1572768" cy="104851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1</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Uko itangira n'uko ikura</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Shape 3"/>
          <p:cNvSpPr/>
          <p:nvPr/>
        </p:nvSpPr>
        <p:spPr>
          <a:xfrm>
            <a:off x="379310" y="1371600"/>
            <a:ext cx="2581580" cy="3775900"/>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6" name="Shape 4"/>
          <p:cNvSpPr/>
          <p:nvPr/>
        </p:nvSpPr>
        <p:spPr>
          <a:xfrm>
            <a:off x="580478" y="1554480"/>
            <a:ext cx="420624" cy="420624"/>
          </a:xfrm>
          <a:prstGeom prst="ellipse">
            <a:avLst/>
          </a:prstGeom>
          <a:solidFill>
            <a:srgbClr val="12305B"/>
          </a:solidFill>
          <a:ln/>
        </p:spPr>
        <p:txBody>
          <a:bodyPr/>
          <a:lstStyle/>
          <a:p>
            <a:endParaRPr lang="rw-RW" dirty="0"/>
          </a:p>
        </p:txBody>
      </p:sp>
      <p:sp>
        <p:nvSpPr>
          <p:cNvPr id="7" name="Text 5"/>
          <p:cNvSpPr txBox="1"/>
          <p:nvPr/>
        </p:nvSpPr>
        <p:spPr>
          <a:xfrm>
            <a:off x="580478" y="1554480"/>
            <a:ext cx="420624" cy="420624"/>
          </a:xfrm>
          <a:prstGeom prst="rect">
            <a:avLst/>
          </a:prstGeom>
          <a:noFill/>
          <a:ln/>
        </p:spPr>
        <p:txBody>
          <a:bodyPr wrap="square" lIns="0" tIns="0" rIns="0" bIns="0" rtlCol="0" anchor="ctr"/>
          <a:lstStyle/>
          <a:p>
            <a:pPr marL="0" indent="0" algn="ctr">
              <a:buNone/>
            </a:pPr>
            <a:r>
              <a:rPr lang="rw-RW" sz="1700" b="1" dirty="0">
                <a:solidFill>
                  <a:srgbClr val="FFFFFF"/>
                </a:solidFill>
                <a:latin typeface="Calibri" pitchFamily="34" charset="0"/>
                <a:ea typeface="Calibri" pitchFamily="34" charset="-122"/>
                <a:cs typeface="Calibri" pitchFamily="34" charset="-120"/>
              </a:rPr>
              <a:t>1</a:t>
            </a:r>
            <a:endParaRPr lang="rw-RW" sz="1700" dirty="0"/>
          </a:p>
        </p:txBody>
      </p:sp>
      <p:sp>
        <p:nvSpPr>
          <p:cNvPr id="8" name="Text 6"/>
          <p:cNvSpPr txBox="1"/>
          <p:nvPr/>
        </p:nvSpPr>
        <p:spPr>
          <a:xfrm>
            <a:off x="1110830" y="1661668"/>
            <a:ext cx="1667180" cy="402336"/>
          </a:xfrm>
          <a:prstGeom prst="rect">
            <a:avLst/>
          </a:prstGeom>
          <a:noFill/>
          <a:ln/>
        </p:spPr>
        <p:txBody>
          <a:bodyPr wrap="square" lIns="0" tIns="0" rIns="0" bIns="0" rtlCol="0" anchor="ctr">
            <a:noAutofit/>
          </a:bodyPr>
          <a:lstStyle/>
          <a:p>
            <a:pPr marL="0" indent="0">
              <a:buNone/>
            </a:pPr>
            <a:r>
              <a:rPr lang="rw-RW" b="1" dirty="0">
                <a:solidFill>
                  <a:srgbClr val="12305B"/>
                </a:solidFill>
                <a:latin typeface="Calibri" pitchFamily="34" charset="0"/>
                <a:ea typeface="Calibri" pitchFamily="34" charset="-122"/>
                <a:cs typeface="Calibri" pitchFamily="34" charset="-120"/>
              </a:rPr>
              <a:t>Urukuta rw'imbere rw'amara ruzima</a:t>
            </a:r>
            <a:endParaRPr lang="rw-RW" dirty="0"/>
          </a:p>
        </p:txBody>
      </p:sp>
      <p:sp>
        <p:nvSpPr>
          <p:cNvPr id="9" name="Text 7"/>
          <p:cNvSpPr txBox="1"/>
          <p:nvPr/>
        </p:nvSpPr>
        <p:spPr>
          <a:xfrm>
            <a:off x="580478" y="2326132"/>
            <a:ext cx="2179244" cy="839523"/>
          </a:xfrm>
          <a:prstGeom prst="rect">
            <a:avLst/>
          </a:prstGeom>
          <a:noFill/>
          <a:ln/>
        </p:spPr>
        <p:txBody>
          <a:bodyPr wrap="square" lIns="0" tIns="0" rIns="0" bIns="0" rtlCol="0" anchor="t">
            <a:norm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Imbere mu gice cy'umubiri w'umuntu habamo uruhu rwiza.</a:t>
            </a:r>
            <a:endParaRPr lang="rw-RW" sz="1600" dirty="0"/>
          </a:p>
        </p:txBody>
      </p:sp>
      <p:sp>
        <p:nvSpPr>
          <p:cNvPr id="10" name="Text 8"/>
          <p:cNvSpPr txBox="1"/>
          <p:nvPr/>
        </p:nvSpPr>
        <p:spPr>
          <a:xfrm>
            <a:off x="2979177" y="2240280"/>
            <a:ext cx="201169" cy="457200"/>
          </a:xfrm>
          <a:prstGeom prst="rect">
            <a:avLst/>
          </a:prstGeom>
          <a:noFill/>
          <a:ln/>
        </p:spPr>
        <p:txBody>
          <a:bodyPr wrap="square" lIns="0" tIns="0" rIns="0" bIns="0" rtlCol="0" anchor="ctr"/>
          <a:lstStyle/>
          <a:p>
            <a:pPr marL="0" indent="0" algn="ctr">
              <a:buNone/>
            </a:pPr>
            <a:r>
              <a:rPr lang="rw-RW" sz="2000" b="1" dirty="0">
                <a:solidFill>
                  <a:srgbClr val="1F5FA9"/>
                </a:solidFill>
                <a:latin typeface="Calibri" pitchFamily="34" charset="0"/>
                <a:ea typeface="Calibri" pitchFamily="34" charset="-122"/>
                <a:cs typeface="Calibri" pitchFamily="34" charset="-120"/>
              </a:rPr>
              <a:t>»</a:t>
            </a:r>
            <a:endParaRPr lang="rw-RW" sz="2000" dirty="0"/>
          </a:p>
        </p:txBody>
      </p:sp>
      <p:sp>
        <p:nvSpPr>
          <p:cNvPr id="11" name="Shape 9"/>
          <p:cNvSpPr/>
          <p:nvPr/>
        </p:nvSpPr>
        <p:spPr>
          <a:xfrm>
            <a:off x="3235209" y="1371599"/>
            <a:ext cx="2732623" cy="3775899"/>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12" name="Shape 10"/>
          <p:cNvSpPr/>
          <p:nvPr/>
        </p:nvSpPr>
        <p:spPr>
          <a:xfrm>
            <a:off x="3274949" y="1554480"/>
            <a:ext cx="445234" cy="420624"/>
          </a:xfrm>
          <a:prstGeom prst="ellipse">
            <a:avLst/>
          </a:prstGeom>
          <a:solidFill>
            <a:srgbClr val="12305B"/>
          </a:solidFill>
          <a:ln/>
        </p:spPr>
        <p:txBody>
          <a:bodyPr/>
          <a:lstStyle/>
          <a:p>
            <a:endParaRPr lang="rw-RW" dirty="0"/>
          </a:p>
        </p:txBody>
      </p:sp>
      <p:sp>
        <p:nvSpPr>
          <p:cNvPr id="13" name="Text 11"/>
          <p:cNvSpPr txBox="1"/>
          <p:nvPr/>
        </p:nvSpPr>
        <p:spPr>
          <a:xfrm>
            <a:off x="3258008" y="1554480"/>
            <a:ext cx="445234" cy="420624"/>
          </a:xfrm>
          <a:prstGeom prst="rect">
            <a:avLst/>
          </a:prstGeom>
          <a:noFill/>
          <a:ln/>
        </p:spPr>
        <p:txBody>
          <a:bodyPr wrap="square" lIns="0" tIns="0" rIns="0" bIns="0" rtlCol="0" anchor="ctr"/>
          <a:lstStyle/>
          <a:p>
            <a:pPr marL="0" indent="0" algn="ctr">
              <a:buNone/>
            </a:pPr>
            <a:r>
              <a:rPr lang="rw-RW" sz="1700" b="1" dirty="0">
                <a:solidFill>
                  <a:srgbClr val="FFFFFF"/>
                </a:solidFill>
                <a:latin typeface="Calibri" pitchFamily="34" charset="0"/>
                <a:ea typeface="Calibri" pitchFamily="34" charset="-122"/>
                <a:cs typeface="Calibri" pitchFamily="34" charset="-120"/>
              </a:rPr>
              <a:t>2</a:t>
            </a:r>
            <a:endParaRPr lang="rw-RW" sz="1700" dirty="0"/>
          </a:p>
        </p:txBody>
      </p:sp>
      <p:sp>
        <p:nvSpPr>
          <p:cNvPr id="14" name="Text 12"/>
          <p:cNvSpPr txBox="1"/>
          <p:nvPr/>
        </p:nvSpPr>
        <p:spPr>
          <a:xfrm>
            <a:off x="3853742" y="1572768"/>
            <a:ext cx="1764723" cy="402336"/>
          </a:xfrm>
          <a:prstGeom prst="rect">
            <a:avLst/>
          </a:prstGeom>
          <a:noFill/>
          <a:ln/>
        </p:spPr>
        <p:txBody>
          <a:bodyPr wrap="square" lIns="0" tIns="0" rIns="0" bIns="0" rtlCol="0" anchor="ctr">
            <a:noAutofit/>
          </a:bodyPr>
          <a:lstStyle/>
          <a:p>
            <a:pPr marL="0" indent="0">
              <a:buNone/>
            </a:pPr>
            <a:r>
              <a:rPr lang="rw-RW" b="1" dirty="0">
                <a:solidFill>
                  <a:srgbClr val="12305B"/>
                </a:solidFill>
                <a:latin typeface="Calibri" pitchFamily="34" charset="0"/>
                <a:ea typeface="Calibri" pitchFamily="34" charset="-122"/>
                <a:cs typeface="Calibri" pitchFamily="34" charset="-120"/>
              </a:rPr>
              <a:t>Akaregeya gato gakura (polyp)</a:t>
            </a:r>
            <a:endParaRPr lang="rw-RW" dirty="0"/>
          </a:p>
        </p:txBody>
      </p:sp>
      <p:sp>
        <p:nvSpPr>
          <p:cNvPr id="15" name="Text 13"/>
          <p:cNvSpPr txBox="1"/>
          <p:nvPr/>
        </p:nvSpPr>
        <p:spPr>
          <a:xfrm>
            <a:off x="3443900" y="2084832"/>
            <a:ext cx="2596538" cy="1325880"/>
          </a:xfrm>
          <a:prstGeom prst="rect">
            <a:avLst/>
          </a:prstGeom>
          <a:noFill/>
          <a:ln/>
        </p:spPr>
        <p:txBody>
          <a:bodyPr wrap="square" lIns="0" tIns="0" rIns="0" bIns="0" rtlCol="0" anchor="t"/>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Rimwe na rimwe habaho gukura gato kuri urwo ruhu rw'imbere. Yitwa polyp.</a:t>
            </a:r>
            <a:endParaRPr lang="rw-RW" sz="1600" dirty="0"/>
          </a:p>
        </p:txBody>
      </p:sp>
      <p:sp>
        <p:nvSpPr>
          <p:cNvPr id="16" name="Text 14"/>
          <p:cNvSpPr txBox="1"/>
          <p:nvPr/>
        </p:nvSpPr>
        <p:spPr>
          <a:xfrm>
            <a:off x="5973280" y="2240280"/>
            <a:ext cx="232296" cy="457200"/>
          </a:xfrm>
          <a:prstGeom prst="rect">
            <a:avLst/>
          </a:prstGeom>
          <a:noFill/>
          <a:ln/>
        </p:spPr>
        <p:txBody>
          <a:bodyPr wrap="square" lIns="0" tIns="0" rIns="0" bIns="0" rtlCol="0" anchor="ctr"/>
          <a:lstStyle/>
          <a:p>
            <a:pPr marL="0" indent="0" algn="ctr">
              <a:buNone/>
            </a:pPr>
            <a:r>
              <a:rPr lang="rw-RW" sz="2000" b="1" dirty="0">
                <a:solidFill>
                  <a:srgbClr val="1F5FA9"/>
                </a:solidFill>
                <a:latin typeface="Calibri" pitchFamily="34" charset="0"/>
                <a:ea typeface="Calibri" pitchFamily="34" charset="-122"/>
                <a:cs typeface="Calibri" pitchFamily="34" charset="-120"/>
              </a:rPr>
              <a:t>»</a:t>
            </a:r>
            <a:endParaRPr lang="rw-RW" sz="2000" dirty="0"/>
          </a:p>
        </p:txBody>
      </p:sp>
      <p:sp>
        <p:nvSpPr>
          <p:cNvPr id="17" name="Shape 15"/>
          <p:cNvSpPr/>
          <p:nvPr/>
        </p:nvSpPr>
        <p:spPr>
          <a:xfrm>
            <a:off x="6223864" y="1371600"/>
            <a:ext cx="2581580" cy="3775898"/>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18" name="Shape 16"/>
          <p:cNvSpPr/>
          <p:nvPr/>
        </p:nvSpPr>
        <p:spPr>
          <a:xfrm>
            <a:off x="6425032" y="1554480"/>
            <a:ext cx="420624" cy="420624"/>
          </a:xfrm>
          <a:prstGeom prst="ellipse">
            <a:avLst/>
          </a:prstGeom>
          <a:solidFill>
            <a:srgbClr val="12305B"/>
          </a:solidFill>
          <a:ln/>
        </p:spPr>
        <p:txBody>
          <a:bodyPr/>
          <a:lstStyle/>
          <a:p>
            <a:endParaRPr lang="rw-RW" dirty="0"/>
          </a:p>
        </p:txBody>
      </p:sp>
      <p:sp>
        <p:nvSpPr>
          <p:cNvPr id="19" name="Text 17"/>
          <p:cNvSpPr txBox="1"/>
          <p:nvPr/>
        </p:nvSpPr>
        <p:spPr>
          <a:xfrm>
            <a:off x="6425032" y="1554480"/>
            <a:ext cx="420624" cy="420624"/>
          </a:xfrm>
          <a:prstGeom prst="rect">
            <a:avLst/>
          </a:prstGeom>
          <a:noFill/>
          <a:ln/>
        </p:spPr>
        <p:txBody>
          <a:bodyPr wrap="square" lIns="0" tIns="0" rIns="0" bIns="0" rtlCol="0" anchor="ctr"/>
          <a:lstStyle/>
          <a:p>
            <a:pPr marL="0" indent="0" algn="ctr">
              <a:buNone/>
            </a:pPr>
            <a:r>
              <a:rPr lang="rw-RW" sz="1700" b="1" dirty="0">
                <a:solidFill>
                  <a:srgbClr val="FFFFFF"/>
                </a:solidFill>
                <a:latin typeface="Calibri" pitchFamily="34" charset="0"/>
                <a:ea typeface="Calibri" pitchFamily="34" charset="-122"/>
                <a:cs typeface="Calibri" pitchFamily="34" charset="-120"/>
              </a:rPr>
              <a:t>3</a:t>
            </a:r>
            <a:endParaRPr lang="rw-RW" sz="1700" dirty="0"/>
          </a:p>
        </p:txBody>
      </p:sp>
      <p:sp>
        <p:nvSpPr>
          <p:cNvPr id="20" name="Text 18"/>
          <p:cNvSpPr txBox="1"/>
          <p:nvPr/>
        </p:nvSpPr>
        <p:spPr>
          <a:xfrm>
            <a:off x="6955384" y="1572768"/>
            <a:ext cx="1667180" cy="402336"/>
          </a:xfrm>
          <a:prstGeom prst="rect">
            <a:avLst/>
          </a:prstGeom>
          <a:noFill/>
          <a:ln/>
        </p:spPr>
        <p:txBody>
          <a:bodyPr wrap="square" lIns="0" tIns="0" rIns="0" bIns="0" rtlCol="0" anchor="ctr">
            <a:noAutofit/>
          </a:bodyPr>
          <a:lstStyle/>
          <a:p>
            <a:pPr marL="0" indent="0">
              <a:buNone/>
            </a:pPr>
            <a:r>
              <a:rPr lang="rw-RW" b="1" dirty="0">
                <a:solidFill>
                  <a:srgbClr val="12305B"/>
                </a:solidFill>
                <a:latin typeface="Calibri" pitchFamily="34" charset="0"/>
                <a:ea typeface="Calibri" pitchFamily="34" charset="-122"/>
                <a:cs typeface="Calibri" pitchFamily="34" charset="-120"/>
              </a:rPr>
              <a:t>Impinduka zigenda buhoro</a:t>
            </a:r>
            <a:endParaRPr lang="rw-RW" dirty="0"/>
          </a:p>
        </p:txBody>
      </p:sp>
      <p:sp>
        <p:nvSpPr>
          <p:cNvPr id="21" name="Text 19"/>
          <p:cNvSpPr txBox="1"/>
          <p:nvPr/>
        </p:nvSpPr>
        <p:spPr>
          <a:xfrm>
            <a:off x="6425032" y="2084832"/>
            <a:ext cx="2334691" cy="1325880"/>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Tumwe muri utu dukura dushobora guhinduka buhoro buhoro mu myaka myinshi.</a:t>
            </a:r>
            <a:endParaRPr lang="rw-RW" sz="1600" dirty="0"/>
          </a:p>
        </p:txBody>
      </p:sp>
      <p:sp>
        <p:nvSpPr>
          <p:cNvPr id="22" name="Text 20"/>
          <p:cNvSpPr txBox="1"/>
          <p:nvPr/>
        </p:nvSpPr>
        <p:spPr>
          <a:xfrm>
            <a:off x="8823731" y="2240280"/>
            <a:ext cx="219456" cy="457200"/>
          </a:xfrm>
          <a:prstGeom prst="rect">
            <a:avLst/>
          </a:prstGeom>
          <a:noFill/>
          <a:ln/>
        </p:spPr>
        <p:txBody>
          <a:bodyPr wrap="square" lIns="0" tIns="0" rIns="0" bIns="0" rtlCol="0" anchor="ctr"/>
          <a:lstStyle/>
          <a:p>
            <a:pPr marL="0" indent="0" algn="ctr">
              <a:buNone/>
            </a:pPr>
            <a:r>
              <a:rPr lang="rw-RW" sz="2000" b="1" dirty="0">
                <a:solidFill>
                  <a:srgbClr val="1F5FA9"/>
                </a:solidFill>
                <a:latin typeface="Calibri" pitchFamily="34" charset="0"/>
                <a:ea typeface="Calibri" pitchFamily="34" charset="-122"/>
                <a:cs typeface="Calibri" pitchFamily="34" charset="-120"/>
              </a:rPr>
              <a:t>»</a:t>
            </a:r>
            <a:endParaRPr lang="rw-RW" sz="2000" dirty="0"/>
          </a:p>
        </p:txBody>
      </p:sp>
      <p:sp>
        <p:nvSpPr>
          <p:cNvPr id="23" name="Shape 21"/>
          <p:cNvSpPr/>
          <p:nvPr/>
        </p:nvSpPr>
        <p:spPr>
          <a:xfrm>
            <a:off x="9262643" y="1371600"/>
            <a:ext cx="2380412" cy="3775898"/>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24" name="Shape 22"/>
          <p:cNvSpPr/>
          <p:nvPr/>
        </p:nvSpPr>
        <p:spPr>
          <a:xfrm>
            <a:off x="9262643" y="1554480"/>
            <a:ext cx="420624" cy="420624"/>
          </a:xfrm>
          <a:prstGeom prst="ellipse">
            <a:avLst/>
          </a:prstGeom>
          <a:solidFill>
            <a:srgbClr val="12305B"/>
          </a:solidFill>
          <a:ln/>
        </p:spPr>
        <p:txBody>
          <a:bodyPr/>
          <a:lstStyle/>
          <a:p>
            <a:endParaRPr lang="rw-RW" dirty="0"/>
          </a:p>
        </p:txBody>
      </p:sp>
      <p:sp>
        <p:nvSpPr>
          <p:cNvPr id="25" name="Text 23"/>
          <p:cNvSpPr txBox="1"/>
          <p:nvPr/>
        </p:nvSpPr>
        <p:spPr>
          <a:xfrm>
            <a:off x="9262643" y="1554480"/>
            <a:ext cx="420624" cy="420624"/>
          </a:xfrm>
          <a:prstGeom prst="rect">
            <a:avLst/>
          </a:prstGeom>
          <a:noFill/>
          <a:ln/>
        </p:spPr>
        <p:txBody>
          <a:bodyPr wrap="square" lIns="0" tIns="0" rIns="0" bIns="0" rtlCol="0" anchor="ctr"/>
          <a:lstStyle/>
          <a:p>
            <a:pPr marL="0" indent="0" algn="ctr">
              <a:buNone/>
            </a:pPr>
            <a:r>
              <a:rPr lang="rw-RW" sz="1700" b="1" dirty="0">
                <a:solidFill>
                  <a:srgbClr val="FFFFFF"/>
                </a:solidFill>
                <a:latin typeface="Calibri" pitchFamily="34" charset="0"/>
                <a:ea typeface="Calibri" pitchFamily="34" charset="-122"/>
                <a:cs typeface="Calibri" pitchFamily="34" charset="-120"/>
              </a:rPr>
              <a:t>4</a:t>
            </a:r>
            <a:endParaRPr lang="rw-RW" sz="1700" dirty="0"/>
          </a:p>
        </p:txBody>
      </p:sp>
      <p:sp>
        <p:nvSpPr>
          <p:cNvPr id="26" name="Text 24"/>
          <p:cNvSpPr txBox="1"/>
          <p:nvPr/>
        </p:nvSpPr>
        <p:spPr>
          <a:xfrm>
            <a:off x="9792995" y="1572768"/>
            <a:ext cx="1667180" cy="402336"/>
          </a:xfrm>
          <a:prstGeom prst="rect">
            <a:avLst/>
          </a:prstGeom>
          <a:noFill/>
          <a:ln/>
        </p:spPr>
        <p:txBody>
          <a:bodyPr wrap="square" lIns="0" tIns="0" rIns="0" bIns="0" rtlCol="0" anchor="ctr">
            <a:noAutofit/>
          </a:bodyPr>
          <a:lstStyle/>
          <a:p>
            <a:pPr marL="0" indent="0">
              <a:buNone/>
            </a:pPr>
            <a:r>
              <a:rPr lang="rw-RW" b="1" dirty="0">
                <a:solidFill>
                  <a:srgbClr val="12305B"/>
                </a:solidFill>
                <a:latin typeface="Calibri" pitchFamily="34" charset="0"/>
                <a:ea typeface="Calibri" pitchFamily="34" charset="-122"/>
                <a:cs typeface="Calibri" pitchFamily="34" charset="-120"/>
              </a:rPr>
              <a:t>Ishobora gukwirakwira</a:t>
            </a:r>
            <a:endParaRPr lang="rw-RW" dirty="0"/>
          </a:p>
        </p:txBody>
      </p:sp>
      <p:sp>
        <p:nvSpPr>
          <p:cNvPr id="27" name="Text 25"/>
          <p:cNvSpPr txBox="1"/>
          <p:nvPr/>
        </p:nvSpPr>
        <p:spPr>
          <a:xfrm>
            <a:off x="9301383" y="2084832"/>
            <a:ext cx="2307806" cy="1325880"/>
          </a:xfrm>
          <a:prstGeom prst="rect">
            <a:avLst/>
          </a:prstGeom>
          <a:noFill/>
          <a:ln/>
        </p:spPr>
        <p:txBody>
          <a:bodyPr wrap="square" lIns="0" tIns="0" rIns="0" bIns="0" rtlCol="0" anchor="t"/>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Kanseri y'amara ishobora gukura mu bindi bice by'umubiri.</a:t>
            </a:r>
            <a:endParaRPr lang="rw-RW" sz="1600" dirty="0"/>
          </a:p>
        </p:txBody>
      </p:sp>
      <p:sp>
        <p:nvSpPr>
          <p:cNvPr id="28" name="Shape 26"/>
          <p:cNvSpPr/>
          <p:nvPr/>
        </p:nvSpPr>
        <p:spPr>
          <a:xfrm>
            <a:off x="548640" y="5417900"/>
            <a:ext cx="10911533" cy="432521"/>
          </a:xfrm>
          <a:prstGeom prst="roundRect">
            <a:avLst>
              <a:gd name="adj" fmla="val 12821"/>
            </a:avLst>
          </a:prstGeom>
          <a:solidFill>
            <a:srgbClr val="E9F5EC"/>
          </a:solidFill>
          <a:ln w="12700">
            <a:solidFill>
              <a:srgbClr val="AFD8BE"/>
            </a:solidFill>
            <a:prstDash val="solid"/>
          </a:ln>
        </p:spPr>
        <p:txBody>
          <a:bodyPr/>
          <a:lstStyle/>
          <a:p>
            <a:endParaRPr lang="rw-RW" dirty="0"/>
          </a:p>
        </p:txBody>
      </p:sp>
      <p:sp>
        <p:nvSpPr>
          <p:cNvPr id="29" name="Text 27"/>
          <p:cNvSpPr txBox="1"/>
          <p:nvPr/>
        </p:nvSpPr>
        <p:spPr>
          <a:xfrm>
            <a:off x="676279" y="5388994"/>
            <a:ext cx="10783895" cy="452036"/>
          </a:xfrm>
          <a:prstGeom prst="rect">
            <a:avLst/>
          </a:prstGeom>
          <a:noFill/>
          <a:ln/>
        </p:spPr>
        <p:txBody>
          <a:bodyPr wrap="square" lIns="0" tIns="0" rIns="0" bIns="0" rtlCol="0" anchor="ctr">
            <a:normAutofit/>
          </a:bodyPr>
          <a:lstStyle/>
          <a:p>
            <a:pPr marL="0" indent="0">
              <a:buNone/>
            </a:pPr>
            <a:r>
              <a:rPr lang="rw-RW" sz="1400" i="1" dirty="0">
                <a:solidFill>
                  <a:srgbClr val="1B6B41"/>
                </a:solidFill>
                <a:latin typeface="Calibri" pitchFamily="34" charset="0"/>
                <a:ea typeface="Calibri" pitchFamily="34" charset="-122"/>
                <a:cs typeface="Calibri" pitchFamily="34" charset="-120"/>
              </a:rPr>
              <a:t>Uturegeya twinshi two mu mara ntituhinduka kanseri. Iyo ibonetse kandi igakurwaho, iyo kanseri irarindwa.</a:t>
            </a:r>
            <a:endParaRPr lang="rw-RW" sz="1400" i="1" dirty="0"/>
          </a:p>
        </p:txBody>
      </p:sp>
      <p:sp>
        <p:nvSpPr>
          <p:cNvPr id="30" name="Shape 28"/>
          <p:cNvSpPr/>
          <p:nvPr/>
        </p:nvSpPr>
        <p:spPr>
          <a:xfrm>
            <a:off x="548640" y="5961334"/>
            <a:ext cx="10911535" cy="426572"/>
          </a:xfrm>
          <a:prstGeom prst="roundRect">
            <a:avLst>
              <a:gd name="adj" fmla="val 12821"/>
            </a:avLst>
          </a:prstGeom>
          <a:solidFill>
            <a:srgbClr val="F2F7FD"/>
          </a:solidFill>
          <a:ln w="12700">
            <a:solidFill>
              <a:srgbClr val="CBDDF3"/>
            </a:solidFill>
            <a:prstDash val="solid"/>
          </a:ln>
        </p:spPr>
        <p:txBody>
          <a:bodyPr/>
          <a:lstStyle/>
          <a:p>
            <a:endParaRPr lang="rw-RW" dirty="0"/>
          </a:p>
        </p:txBody>
      </p:sp>
      <p:sp>
        <p:nvSpPr>
          <p:cNvPr id="31" name="Text 29"/>
          <p:cNvSpPr txBox="1"/>
          <p:nvPr/>
        </p:nvSpPr>
        <p:spPr>
          <a:xfrm>
            <a:off x="667512" y="5927268"/>
            <a:ext cx="10719356" cy="391692"/>
          </a:xfrm>
          <a:prstGeom prst="rect">
            <a:avLst/>
          </a:prstGeom>
          <a:noFill/>
          <a:ln/>
        </p:spPr>
        <p:txBody>
          <a:bodyPr wrap="square" lIns="0" tIns="0" rIns="0" bIns="0" rtlCol="0" anchor="ctr">
            <a:normAutofit/>
          </a:bodyPr>
          <a:lstStyle/>
          <a:p>
            <a:pPr marL="0" indent="0">
              <a:buNone/>
            </a:pPr>
            <a:r>
              <a:rPr lang="rw-RW" sz="1400" i="1" dirty="0">
                <a:solidFill>
                  <a:srgbClr val="17335F"/>
                </a:solidFill>
                <a:latin typeface="Calibri" pitchFamily="34" charset="0"/>
                <a:ea typeface="Calibri" pitchFamily="34" charset="-122"/>
                <a:cs typeface="Calibri" pitchFamily="34" charset="-120"/>
              </a:rPr>
              <a:t>Iyi mpinduka igenda buhoro. Akenshi bifata imyaka myinshi. Niyo mpamvu kumenya ikibazo hakiri kare bigira itandukaniro.</a:t>
            </a:r>
            <a:endParaRPr lang="rw-RW" sz="1400" i="1" dirty="0"/>
          </a:p>
        </p:txBody>
      </p:sp>
      <p:pic>
        <p:nvPicPr>
          <p:cNvPr id="32" name="Imagen 31">
            <a:extLst>
              <a:ext uri="{FF2B5EF4-FFF2-40B4-BE49-F238E27FC236}">
                <a16:creationId xmlns:a16="http://schemas.microsoft.com/office/drawing/2014/main" id="{0FF3EB7C-9DC2-1FE5-B642-E77DDD8AA412}"/>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9329760" y="2890374"/>
            <a:ext cx="2246178" cy="2217464"/>
          </a:xfrm>
          <a:prstGeom prst="rect">
            <a:avLst/>
          </a:prstGeom>
        </p:spPr>
      </p:pic>
      <p:pic>
        <p:nvPicPr>
          <p:cNvPr id="35" name="Imagen 34">
            <a:extLst>
              <a:ext uri="{FF2B5EF4-FFF2-40B4-BE49-F238E27FC236}">
                <a16:creationId xmlns:a16="http://schemas.microsoft.com/office/drawing/2014/main" id="{62805666-7AD8-4E82-6493-D78A31246CA3}"/>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601256" y="2939864"/>
            <a:ext cx="2158466" cy="2317364"/>
          </a:xfrm>
          <a:prstGeom prst="rect">
            <a:avLst/>
          </a:prstGeom>
        </p:spPr>
      </p:pic>
      <p:pic>
        <p:nvPicPr>
          <p:cNvPr id="37" name="Imagen 36">
            <a:extLst>
              <a:ext uri="{FF2B5EF4-FFF2-40B4-BE49-F238E27FC236}">
                <a16:creationId xmlns:a16="http://schemas.microsoft.com/office/drawing/2014/main" id="{2FFE6E71-D40B-2BEE-3599-8E1D40DFC5B6}"/>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3517461" y="2945558"/>
            <a:ext cx="2101003" cy="2197689"/>
          </a:xfrm>
          <a:prstGeom prst="rect">
            <a:avLst/>
          </a:prstGeom>
        </p:spPr>
      </p:pic>
      <p:pic>
        <p:nvPicPr>
          <p:cNvPr id="39" name="Imagen 38">
            <a:extLst>
              <a:ext uri="{FF2B5EF4-FFF2-40B4-BE49-F238E27FC236}">
                <a16:creationId xmlns:a16="http://schemas.microsoft.com/office/drawing/2014/main" id="{875AF3B1-0995-74BD-A7BE-11A4BFF51049}"/>
              </a:ext>
            </a:extLst>
          </p:cNvPr>
          <p:cNvPicPr>
            <a:picLocks noChangeAspect="1"/>
          </p:cNvPicPr>
          <p:nvPr/>
        </p:nvPicPr>
        <p:blipFill>
          <a:blip r:embed="rId6" cstate="hqprint">
            <a:extLst>
              <a:ext uri="{28A0092B-C50C-407E-A947-70E740481C1C}">
                <a14:useLocalDpi xmlns:a14="http://schemas.microsoft.com/office/drawing/2010/main"/>
              </a:ext>
            </a:extLst>
          </a:blip>
          <a:srcRect/>
          <a:stretch>
            <a:fillRect/>
          </a:stretch>
        </p:blipFill>
        <p:spPr>
          <a:xfrm>
            <a:off x="6604000" y="3165655"/>
            <a:ext cx="1833095" cy="196364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ISOMO RYA 1</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Kanseri y'amara mu Rwanda</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Shape 3"/>
          <p:cNvSpPr/>
          <p:nvPr/>
        </p:nvSpPr>
        <p:spPr>
          <a:xfrm>
            <a:off x="548640" y="1417320"/>
            <a:ext cx="3515258" cy="2379980"/>
          </a:xfrm>
          <a:prstGeom prst="roundRect">
            <a:avLst>
              <a:gd name="adj" fmla="val 5106"/>
            </a:avLst>
          </a:prstGeom>
          <a:solidFill>
            <a:srgbClr val="F2F7FD"/>
          </a:solidFill>
          <a:ln w="12700">
            <a:solidFill>
              <a:srgbClr val="CBDDF3"/>
            </a:solidFill>
            <a:prstDash val="solid"/>
          </a:ln>
        </p:spPr>
        <p:txBody>
          <a:bodyPr/>
          <a:lstStyle/>
          <a:p>
            <a:endParaRPr lang="rw-RW" dirty="0"/>
          </a:p>
        </p:txBody>
      </p:sp>
      <p:sp>
        <p:nvSpPr>
          <p:cNvPr id="6" name="Text 4"/>
          <p:cNvSpPr txBox="1"/>
          <p:nvPr/>
        </p:nvSpPr>
        <p:spPr>
          <a:xfrm>
            <a:off x="731520" y="1600200"/>
            <a:ext cx="3149498" cy="914400"/>
          </a:xfrm>
          <a:prstGeom prst="rect">
            <a:avLst/>
          </a:prstGeom>
          <a:noFill/>
          <a:ln/>
        </p:spPr>
        <p:txBody>
          <a:bodyPr wrap="square" lIns="0" tIns="0" rIns="0" bIns="0" rtlCol="0" anchor="ctr">
            <a:normAutofit fontScale="73000" lnSpcReduction="20000"/>
          </a:bodyPr>
          <a:lstStyle/>
          <a:p>
            <a:pPr marL="0" indent="0" algn="ctr">
              <a:buNone/>
            </a:pPr>
            <a:r>
              <a:rPr lang="rw-RW" sz="5000" b="1" dirty="0">
                <a:solidFill>
                  <a:srgbClr val="12305B"/>
                </a:solidFill>
                <a:latin typeface="Cambria" pitchFamily="34" charset="0"/>
                <a:ea typeface="Cambria" pitchFamily="34" charset="-122"/>
                <a:cs typeface="Cambria" pitchFamily="34" charset="-120"/>
              </a:rPr>
              <a:t>Umwanya wa 4</a:t>
            </a:r>
            <a:endParaRPr lang="rw-RW" sz="5000" dirty="0"/>
          </a:p>
        </p:txBody>
      </p:sp>
      <p:sp>
        <p:nvSpPr>
          <p:cNvPr id="7" name="Text 5"/>
          <p:cNvSpPr txBox="1"/>
          <p:nvPr/>
        </p:nvSpPr>
        <p:spPr>
          <a:xfrm>
            <a:off x="731520" y="2606040"/>
            <a:ext cx="3149498" cy="868680"/>
          </a:xfrm>
          <a:prstGeom prst="rect">
            <a:avLst/>
          </a:prstGeom>
          <a:noFill/>
          <a:ln/>
        </p:spPr>
        <p:txBody>
          <a:bodyPr wrap="square" lIns="0" tIns="0" rIns="0" bIns="0" rtlCol="0" anchor="t">
            <a:noAutofit/>
          </a:bodyPr>
          <a:lstStyle/>
          <a:p>
            <a:pPr marL="0" indent="0" algn="ctr">
              <a:buNone/>
            </a:pPr>
            <a:r>
              <a:rPr lang="rw-RW" dirty="0">
                <a:solidFill>
                  <a:srgbClr val="17335F"/>
                </a:solidFill>
                <a:latin typeface="Calibri" pitchFamily="34" charset="0"/>
                <a:ea typeface="Calibri" pitchFamily="34" charset="-122"/>
                <a:cs typeface="Calibri" pitchFamily="34" charset="-120"/>
              </a:rPr>
              <a:t>Kanseri ya 4 mu zikunze kugaragara mu Rwanda,</a:t>
            </a:r>
          </a:p>
          <a:p>
            <a:pPr marL="0" indent="0" algn="ctr">
              <a:buNone/>
            </a:pPr>
            <a:r>
              <a:rPr lang="rw-RW" dirty="0">
                <a:solidFill>
                  <a:srgbClr val="17335F"/>
                </a:solidFill>
                <a:latin typeface="Calibri" pitchFamily="34" charset="0"/>
                <a:ea typeface="Calibri" pitchFamily="34" charset="-122"/>
                <a:cs typeface="Calibri" pitchFamily="34" charset="-120"/>
              </a:rPr>
              <a:t>abagabo n’abagore hamwe (2024)</a:t>
            </a:r>
            <a:endParaRPr lang="rw-RW" dirty="0"/>
          </a:p>
        </p:txBody>
      </p:sp>
      <p:sp>
        <p:nvSpPr>
          <p:cNvPr id="8" name="Shape 6"/>
          <p:cNvSpPr/>
          <p:nvPr/>
        </p:nvSpPr>
        <p:spPr>
          <a:xfrm>
            <a:off x="4338218" y="1417320"/>
            <a:ext cx="3515258" cy="2379980"/>
          </a:xfrm>
          <a:prstGeom prst="roundRect">
            <a:avLst>
              <a:gd name="adj" fmla="val 5106"/>
            </a:avLst>
          </a:prstGeom>
          <a:solidFill>
            <a:srgbClr val="F2F7FD"/>
          </a:solidFill>
          <a:ln w="12700">
            <a:solidFill>
              <a:srgbClr val="CBDDF3"/>
            </a:solidFill>
            <a:prstDash val="solid"/>
          </a:ln>
        </p:spPr>
        <p:txBody>
          <a:bodyPr/>
          <a:lstStyle/>
          <a:p>
            <a:endParaRPr lang="rw-RW" dirty="0"/>
          </a:p>
        </p:txBody>
      </p:sp>
      <p:sp>
        <p:nvSpPr>
          <p:cNvPr id="9" name="Text 7"/>
          <p:cNvSpPr txBox="1"/>
          <p:nvPr/>
        </p:nvSpPr>
        <p:spPr>
          <a:xfrm>
            <a:off x="4521098" y="1600200"/>
            <a:ext cx="3149498" cy="914400"/>
          </a:xfrm>
          <a:prstGeom prst="rect">
            <a:avLst/>
          </a:prstGeom>
          <a:noFill/>
          <a:ln/>
        </p:spPr>
        <p:txBody>
          <a:bodyPr wrap="square" lIns="0" tIns="0" rIns="0" bIns="0" rtlCol="0" anchor="ctr">
            <a:normAutofit fontScale="95500"/>
          </a:bodyPr>
          <a:lstStyle/>
          <a:p>
            <a:pPr marL="0" indent="0" algn="ctr">
              <a:buNone/>
            </a:pPr>
            <a:r>
              <a:rPr lang="rw-RW" sz="5000" b="1" dirty="0">
                <a:solidFill>
                  <a:srgbClr val="12305B"/>
                </a:solidFill>
                <a:latin typeface="Cambria" pitchFamily="34" charset="0"/>
                <a:ea typeface="Cambria" pitchFamily="34" charset="-122"/>
                <a:cs typeface="Cambria" pitchFamily="34" charset="-120"/>
              </a:rPr>
              <a:t>~ 925</a:t>
            </a:r>
            <a:endParaRPr lang="rw-RW" sz="5000" dirty="0"/>
          </a:p>
        </p:txBody>
      </p:sp>
      <p:sp>
        <p:nvSpPr>
          <p:cNvPr id="10" name="Text 8"/>
          <p:cNvSpPr txBox="1"/>
          <p:nvPr/>
        </p:nvSpPr>
        <p:spPr>
          <a:xfrm>
            <a:off x="4521098" y="2606040"/>
            <a:ext cx="3149498" cy="868680"/>
          </a:xfrm>
          <a:prstGeom prst="rect">
            <a:avLst/>
          </a:prstGeom>
          <a:noFill/>
          <a:ln/>
        </p:spPr>
        <p:txBody>
          <a:bodyPr wrap="square" lIns="0" tIns="0" rIns="0" bIns="0" rtlCol="0" anchor="t">
            <a:normAutofit/>
          </a:bodyPr>
          <a:lstStyle/>
          <a:p>
            <a:pPr marL="0" indent="0" algn="ctr">
              <a:buNone/>
            </a:pPr>
            <a:r>
              <a:rPr lang="rw-RW" dirty="0">
                <a:solidFill>
                  <a:srgbClr val="17335F"/>
                </a:solidFill>
                <a:latin typeface="Calibri" pitchFamily="34" charset="0"/>
                <a:ea typeface="Calibri" pitchFamily="34" charset="-122"/>
                <a:cs typeface="Calibri" pitchFamily="34" charset="-120"/>
              </a:rPr>
              <a:t>Abarwayi bashya bagereranyijwe mu mwaka umwe</a:t>
            </a:r>
          </a:p>
          <a:p>
            <a:pPr marL="0" indent="0" algn="ctr">
              <a:buNone/>
            </a:pPr>
            <a:r>
              <a:rPr lang="rw-RW" dirty="0">
                <a:solidFill>
                  <a:srgbClr val="17335F"/>
                </a:solidFill>
                <a:latin typeface="Calibri" pitchFamily="34" charset="0"/>
                <a:ea typeface="Calibri" pitchFamily="34" charset="-122"/>
                <a:cs typeface="Calibri" pitchFamily="34" charset="-120"/>
              </a:rPr>
              <a:t>(igereranyo rya 2024)</a:t>
            </a:r>
            <a:endParaRPr lang="rw-RW" dirty="0"/>
          </a:p>
        </p:txBody>
      </p:sp>
      <p:sp>
        <p:nvSpPr>
          <p:cNvPr id="11" name="Shape 9"/>
          <p:cNvSpPr/>
          <p:nvPr/>
        </p:nvSpPr>
        <p:spPr>
          <a:xfrm>
            <a:off x="8127797" y="1417320"/>
            <a:ext cx="3515258" cy="2379980"/>
          </a:xfrm>
          <a:prstGeom prst="roundRect">
            <a:avLst>
              <a:gd name="adj" fmla="val 5106"/>
            </a:avLst>
          </a:prstGeom>
          <a:solidFill>
            <a:srgbClr val="F2F7FD"/>
          </a:solidFill>
          <a:ln w="12700">
            <a:solidFill>
              <a:srgbClr val="CBDDF3"/>
            </a:solidFill>
            <a:prstDash val="solid"/>
          </a:ln>
        </p:spPr>
        <p:txBody>
          <a:bodyPr/>
          <a:lstStyle/>
          <a:p>
            <a:endParaRPr lang="rw-RW" dirty="0"/>
          </a:p>
        </p:txBody>
      </p:sp>
      <p:sp>
        <p:nvSpPr>
          <p:cNvPr id="12" name="Text 10"/>
          <p:cNvSpPr txBox="1"/>
          <p:nvPr/>
        </p:nvSpPr>
        <p:spPr>
          <a:xfrm>
            <a:off x="8310677" y="1600200"/>
            <a:ext cx="3149498" cy="914400"/>
          </a:xfrm>
          <a:prstGeom prst="rect">
            <a:avLst/>
          </a:prstGeom>
          <a:noFill/>
          <a:ln/>
        </p:spPr>
        <p:txBody>
          <a:bodyPr wrap="square" lIns="0" tIns="0" rIns="0" bIns="0" rtlCol="0" anchor="ctr">
            <a:normAutofit fontScale="95500"/>
          </a:bodyPr>
          <a:lstStyle/>
          <a:p>
            <a:pPr marL="0" indent="0" algn="ctr">
              <a:buNone/>
            </a:pPr>
            <a:r>
              <a:rPr lang="rw-RW" sz="5000" b="1" dirty="0">
                <a:solidFill>
                  <a:srgbClr val="12305B"/>
                </a:solidFill>
                <a:latin typeface="Cambria" pitchFamily="34" charset="0"/>
                <a:ea typeface="Cambria" pitchFamily="34" charset="-122"/>
                <a:cs typeface="Cambria" pitchFamily="34" charset="-120"/>
              </a:rPr>
              <a:t>~ 535</a:t>
            </a:r>
            <a:endParaRPr lang="rw-RW" sz="5000" dirty="0"/>
          </a:p>
        </p:txBody>
      </p:sp>
      <p:sp>
        <p:nvSpPr>
          <p:cNvPr id="13" name="Text 11"/>
          <p:cNvSpPr txBox="1"/>
          <p:nvPr/>
        </p:nvSpPr>
        <p:spPr>
          <a:xfrm>
            <a:off x="8310677" y="2606040"/>
            <a:ext cx="3149498" cy="868680"/>
          </a:xfrm>
          <a:prstGeom prst="rect">
            <a:avLst/>
          </a:prstGeom>
          <a:noFill/>
          <a:ln/>
        </p:spPr>
        <p:txBody>
          <a:bodyPr wrap="square" lIns="0" tIns="0" rIns="0" bIns="0" rtlCol="0" anchor="t">
            <a:normAutofit/>
          </a:bodyPr>
          <a:lstStyle/>
          <a:p>
            <a:pPr marL="0" indent="0" algn="ctr">
              <a:buNone/>
            </a:pPr>
            <a:r>
              <a:rPr lang="rw-RW" dirty="0">
                <a:solidFill>
                  <a:srgbClr val="17335F"/>
                </a:solidFill>
                <a:latin typeface="Calibri" pitchFamily="34" charset="0"/>
                <a:ea typeface="Calibri" pitchFamily="34" charset="-122"/>
                <a:cs typeface="Calibri" pitchFamily="34" charset="-120"/>
              </a:rPr>
              <a:t>Impfu bagereranyijwe mu mwaka umwe</a:t>
            </a:r>
          </a:p>
          <a:p>
            <a:pPr marL="0" indent="0" algn="ctr">
              <a:buNone/>
            </a:pPr>
            <a:r>
              <a:rPr lang="rw-RW" dirty="0">
                <a:solidFill>
                  <a:srgbClr val="17335F"/>
                </a:solidFill>
                <a:latin typeface="Calibri" pitchFamily="34" charset="0"/>
                <a:ea typeface="Calibri" pitchFamily="34" charset="-122"/>
                <a:cs typeface="Calibri" pitchFamily="34" charset="-120"/>
              </a:rPr>
              <a:t>(igereranyo rya 2024)</a:t>
            </a:r>
            <a:endParaRPr lang="rw-RW" dirty="0"/>
          </a:p>
        </p:txBody>
      </p:sp>
      <p:sp>
        <p:nvSpPr>
          <p:cNvPr id="14" name="Shape 12"/>
          <p:cNvSpPr/>
          <p:nvPr/>
        </p:nvSpPr>
        <p:spPr>
          <a:xfrm>
            <a:off x="548640" y="4074160"/>
            <a:ext cx="11094415" cy="713232"/>
          </a:xfrm>
          <a:prstGeom prst="roundRect">
            <a:avLst>
              <a:gd name="adj" fmla="val 12821"/>
            </a:avLst>
          </a:prstGeom>
          <a:solidFill>
            <a:srgbClr val="F2F7FD"/>
          </a:solidFill>
          <a:ln w="12700">
            <a:solidFill>
              <a:srgbClr val="CBDDF3"/>
            </a:solidFill>
            <a:prstDash val="solid"/>
          </a:ln>
        </p:spPr>
        <p:txBody>
          <a:bodyPr/>
          <a:lstStyle/>
          <a:p>
            <a:endParaRPr lang="rw-RW" dirty="0"/>
          </a:p>
        </p:txBody>
      </p:sp>
      <p:sp>
        <p:nvSpPr>
          <p:cNvPr id="15" name="Text 13"/>
          <p:cNvSpPr txBox="1"/>
          <p:nvPr/>
        </p:nvSpPr>
        <p:spPr>
          <a:xfrm>
            <a:off x="777240" y="4165600"/>
            <a:ext cx="10637215" cy="530352"/>
          </a:xfrm>
          <a:prstGeom prst="rect">
            <a:avLst/>
          </a:prstGeom>
          <a:noFill/>
          <a:ln/>
        </p:spPr>
        <p:txBody>
          <a:bodyPr wrap="square" lIns="0" tIns="0" rIns="0" bIns="0" rtlCol="0" anchor="ctr">
            <a:normAutofit/>
          </a:bodyPr>
          <a:lstStyle/>
          <a:p>
            <a:pPr marL="0" indent="0">
              <a:buNone/>
            </a:pPr>
            <a:r>
              <a:rPr lang="rw-RW" sz="1600" dirty="0">
                <a:solidFill>
                  <a:srgbClr val="17335F"/>
                </a:solidFill>
                <a:latin typeface="Calibri" pitchFamily="34" charset="0"/>
                <a:ea typeface="Calibri" pitchFamily="34" charset="-122"/>
                <a:cs typeface="Calibri" pitchFamily="34" charset="-120"/>
              </a:rPr>
              <a:t>Iyi ni mibare y'igereranyo, si umubare nyawo w'abarwayi babaruwe. Abagabo n'abagore ni bo bahura n'iyi ndwara. Abantu bashobora kurwara cyane kandi bagapfa bazize iyi kanseri, bityo kumenya, kwitabwaho hakiri kare, no gukurikirana ni ngombwa.</a:t>
            </a:r>
            <a:endParaRPr lang="rw-RW" sz="1600" dirty="0"/>
          </a:p>
        </p:txBody>
      </p:sp>
      <p:sp>
        <p:nvSpPr>
          <p:cNvPr id="16" name="Shape 14"/>
          <p:cNvSpPr/>
          <p:nvPr/>
        </p:nvSpPr>
        <p:spPr>
          <a:xfrm>
            <a:off x="548640" y="4961128"/>
            <a:ext cx="11094415" cy="713232"/>
          </a:xfrm>
          <a:prstGeom prst="roundRect">
            <a:avLst>
              <a:gd name="adj" fmla="val 12821"/>
            </a:avLst>
          </a:prstGeom>
          <a:solidFill>
            <a:srgbClr val="F2F7FD"/>
          </a:solidFill>
          <a:ln w="12700">
            <a:solidFill>
              <a:srgbClr val="CBDDF3"/>
            </a:solidFill>
            <a:prstDash val="solid"/>
          </a:ln>
        </p:spPr>
        <p:txBody>
          <a:bodyPr/>
          <a:lstStyle/>
          <a:p>
            <a:endParaRPr lang="rw-RW" dirty="0"/>
          </a:p>
        </p:txBody>
      </p:sp>
      <p:sp>
        <p:nvSpPr>
          <p:cNvPr id="17" name="Text 15"/>
          <p:cNvSpPr txBox="1"/>
          <p:nvPr/>
        </p:nvSpPr>
        <p:spPr>
          <a:xfrm>
            <a:off x="777240" y="5052568"/>
            <a:ext cx="10637215" cy="530352"/>
          </a:xfrm>
          <a:prstGeom prst="rect">
            <a:avLst/>
          </a:prstGeom>
          <a:noFill/>
          <a:ln/>
        </p:spPr>
        <p:txBody>
          <a:bodyPr wrap="square" lIns="0" tIns="0" rIns="0" bIns="0" rtlCol="0" anchor="ctr">
            <a:normAutofit/>
          </a:bodyPr>
          <a:lstStyle/>
          <a:p>
            <a:pPr marL="0" indent="0">
              <a:buNone/>
            </a:pPr>
            <a:r>
              <a:rPr lang="rw-RW" sz="1600" dirty="0">
                <a:solidFill>
                  <a:srgbClr val="17335F"/>
                </a:solidFill>
                <a:latin typeface="Calibri" pitchFamily="34" charset="0"/>
                <a:ea typeface="Calibri" pitchFamily="34" charset="-122"/>
                <a:cs typeface="Calibri" pitchFamily="34" charset="-120"/>
              </a:rPr>
              <a:t>Biteganyijwe ko umubare w'abarwayi ba kanseri mu Rwanda uzikuba kabiri mu myaka 25 iri imbere, kuko abaturage bagenda biyongera kandi abantu bakaramba cyane.</a:t>
            </a:r>
            <a:endParaRPr lang="rw-RW" sz="1600" dirty="0"/>
          </a:p>
        </p:txBody>
      </p:sp>
      <p:sp>
        <p:nvSpPr>
          <p:cNvPr id="18" name="Text 16"/>
          <p:cNvSpPr txBox="1"/>
          <p:nvPr/>
        </p:nvSpPr>
        <p:spPr>
          <a:xfrm>
            <a:off x="548640" y="5857240"/>
            <a:ext cx="11094415" cy="457200"/>
          </a:xfrm>
          <a:prstGeom prst="rect">
            <a:avLst/>
          </a:prstGeom>
          <a:noFill/>
          <a:ln/>
        </p:spPr>
        <p:txBody>
          <a:bodyPr wrap="square" lIns="0" tIns="0" rIns="0" bIns="0" rtlCol="0" anchor="ctr">
            <a:normAutofit/>
          </a:bodyPr>
          <a:lstStyle/>
          <a:p>
            <a:pPr marL="0" indent="0">
              <a:buNone/>
            </a:pPr>
            <a:r>
              <a:rPr lang="rw-RW" sz="1150" i="1" dirty="0">
                <a:solidFill>
                  <a:srgbClr val="6B7A90"/>
                </a:solidFill>
                <a:latin typeface="Calibri" pitchFamily="34" charset="0"/>
                <a:ea typeface="Calibri" pitchFamily="34" charset="-122"/>
                <a:cs typeface="Calibri" pitchFamily="34" charset="-120"/>
              </a:rPr>
              <a:t>Inkomoko: IARC Global Cancer Observatory, GLOBOCAN 2024, u Rwanda, abagabo n’abagore, imyaka yose. Ni imibare y’igereranyo. Iyongera riteganyijwe ni igereranyo (IARC Cancer Tomorrow).</a:t>
            </a:r>
            <a:endParaRPr lang="rw-RW"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ISOMO RYA 1</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Ishusho yoroshye y'uko kanseri y'amara ikwiriye kwitabwaho</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Abajyanama b'ubuzima | Ikigo cy'Igihugu gishinzwe Ubuzima (Rwanda Biomedical Centre)</a:t>
            </a:r>
            <a:endParaRPr lang="rw-RW" sz="1100" dirty="0"/>
          </a:p>
        </p:txBody>
      </p:sp>
      <p:sp>
        <p:nvSpPr>
          <p:cNvPr id="5" name="Text 3"/>
          <p:cNvSpPr txBox="1"/>
          <p:nvPr/>
        </p:nvSpPr>
        <p:spPr>
          <a:xfrm>
            <a:off x="548640" y="1207008"/>
            <a:ext cx="11094415" cy="320040"/>
          </a:xfrm>
          <a:prstGeom prst="rect">
            <a:avLst/>
          </a:prstGeom>
          <a:noFill/>
          <a:ln/>
        </p:spPr>
        <p:txBody>
          <a:bodyPr wrap="square" lIns="0" tIns="0" rIns="0" bIns="0" rtlCol="0" anchor="ctr">
            <a:normAutofit/>
          </a:bodyPr>
          <a:lstStyle/>
          <a:p>
            <a:pPr marL="0" indent="0">
              <a:buNone/>
            </a:pPr>
            <a:r>
              <a:rPr lang="rw-RW" b="1" dirty="0">
                <a:solidFill>
                  <a:srgbClr val="12305B"/>
                </a:solidFill>
                <a:latin typeface="Calibri" pitchFamily="34" charset="0"/>
                <a:ea typeface="Calibri" pitchFamily="34" charset="-122"/>
                <a:cs typeface="Calibri" pitchFamily="34" charset="-120"/>
              </a:rPr>
              <a:t>Kanseri zikunze kugaragara cyane mu Rwanda mu mwaka umwe (2024)</a:t>
            </a:r>
            <a:endParaRPr lang="rw-RW" dirty="0"/>
          </a:p>
        </p:txBody>
      </p:sp>
      <p:sp>
        <p:nvSpPr>
          <p:cNvPr id="6" name="Text 4"/>
          <p:cNvSpPr txBox="1"/>
          <p:nvPr/>
        </p:nvSpPr>
        <p:spPr>
          <a:xfrm>
            <a:off x="548640" y="1765300"/>
            <a:ext cx="1737360" cy="475488"/>
          </a:xfrm>
          <a:prstGeom prst="rect">
            <a:avLst/>
          </a:prstGeom>
          <a:noFill/>
          <a:ln/>
        </p:spPr>
        <p:txBody>
          <a:bodyPr wrap="square" lIns="0" tIns="0" rIns="0" bIns="0" rtlCol="0" anchor="ctr">
            <a:normAutofit/>
          </a:bodyPr>
          <a:lstStyle/>
          <a:p>
            <a:pPr marL="0" indent="0" algn="r">
              <a:buNone/>
            </a:pPr>
            <a:r>
              <a:rPr lang="rw-RW" sz="1600" dirty="0">
                <a:solidFill>
                  <a:srgbClr val="17335F"/>
                </a:solidFill>
                <a:latin typeface="Calibri" pitchFamily="34" charset="0"/>
                <a:ea typeface="Calibri" pitchFamily="34" charset="-122"/>
                <a:cs typeface="Calibri" pitchFamily="34" charset="-120"/>
              </a:rPr>
              <a:t>Prostate</a:t>
            </a:r>
            <a:endParaRPr lang="rw-RW" sz="1600" dirty="0"/>
          </a:p>
        </p:txBody>
      </p:sp>
      <p:sp>
        <p:nvSpPr>
          <p:cNvPr id="7" name="Shape 5"/>
          <p:cNvSpPr/>
          <p:nvPr/>
        </p:nvSpPr>
        <p:spPr>
          <a:xfrm>
            <a:off x="2377440" y="1765300"/>
            <a:ext cx="5074920" cy="475488"/>
          </a:xfrm>
          <a:prstGeom prst="roundRect">
            <a:avLst>
              <a:gd name="adj" fmla="val 11538"/>
            </a:avLst>
          </a:prstGeom>
          <a:solidFill>
            <a:srgbClr val="AFC7E6"/>
          </a:solidFill>
          <a:ln/>
        </p:spPr>
        <p:txBody>
          <a:bodyPr/>
          <a:lstStyle/>
          <a:p>
            <a:endParaRPr lang="rw-RW" dirty="0"/>
          </a:p>
        </p:txBody>
      </p:sp>
      <p:sp>
        <p:nvSpPr>
          <p:cNvPr id="8" name="Text 6"/>
          <p:cNvSpPr txBox="1"/>
          <p:nvPr/>
        </p:nvSpPr>
        <p:spPr>
          <a:xfrm>
            <a:off x="7562088" y="1765300"/>
            <a:ext cx="1097280" cy="475488"/>
          </a:xfrm>
          <a:prstGeom prst="rect">
            <a:avLst/>
          </a:prstGeom>
          <a:noFill/>
          <a:ln/>
        </p:spPr>
        <p:txBody>
          <a:bodyPr wrap="square" lIns="0" tIns="0" rIns="0" bIns="0" rtlCol="0" anchor="ctr"/>
          <a:lstStyle/>
          <a:p>
            <a:pPr marL="0" indent="0">
              <a:buNone/>
            </a:pPr>
            <a:r>
              <a:rPr lang="rw-RW" sz="1800" dirty="0">
                <a:solidFill>
                  <a:srgbClr val="17335F"/>
                </a:solidFill>
                <a:latin typeface="Calibri" pitchFamily="34" charset="0"/>
                <a:ea typeface="Calibri" pitchFamily="34" charset="-122"/>
                <a:cs typeface="Calibri" pitchFamily="34" charset="-120"/>
              </a:rPr>
              <a:t>1856</a:t>
            </a:r>
            <a:endParaRPr lang="rw-RW" sz="1800" dirty="0"/>
          </a:p>
        </p:txBody>
      </p:sp>
      <p:sp>
        <p:nvSpPr>
          <p:cNvPr id="9" name="Text 7"/>
          <p:cNvSpPr txBox="1"/>
          <p:nvPr/>
        </p:nvSpPr>
        <p:spPr>
          <a:xfrm>
            <a:off x="548640" y="2551684"/>
            <a:ext cx="1737360" cy="475488"/>
          </a:xfrm>
          <a:prstGeom prst="rect">
            <a:avLst/>
          </a:prstGeom>
          <a:noFill/>
          <a:ln/>
        </p:spPr>
        <p:txBody>
          <a:bodyPr wrap="square" lIns="0" tIns="0" rIns="0" bIns="0" rtlCol="0" anchor="ctr"/>
          <a:lstStyle/>
          <a:p>
            <a:pPr marL="0" indent="0" algn="r">
              <a:buNone/>
            </a:pPr>
            <a:r>
              <a:rPr lang="rw-RW" sz="1600" dirty="0">
                <a:solidFill>
                  <a:srgbClr val="17335F"/>
                </a:solidFill>
                <a:latin typeface="Calibri" pitchFamily="34" charset="0"/>
                <a:ea typeface="Calibri" pitchFamily="34" charset="-122"/>
                <a:cs typeface="Calibri" pitchFamily="34" charset="-120"/>
              </a:rPr>
              <a:t>Ibere</a:t>
            </a:r>
            <a:endParaRPr lang="rw-RW" sz="1600" dirty="0"/>
          </a:p>
        </p:txBody>
      </p:sp>
      <p:sp>
        <p:nvSpPr>
          <p:cNvPr id="10" name="Shape 8"/>
          <p:cNvSpPr/>
          <p:nvPr/>
        </p:nvSpPr>
        <p:spPr>
          <a:xfrm>
            <a:off x="2377440" y="2551684"/>
            <a:ext cx="4604615" cy="475488"/>
          </a:xfrm>
          <a:prstGeom prst="roundRect">
            <a:avLst>
              <a:gd name="adj" fmla="val 11538"/>
            </a:avLst>
          </a:prstGeom>
          <a:solidFill>
            <a:srgbClr val="AFC7E6"/>
          </a:solidFill>
          <a:ln/>
        </p:spPr>
        <p:txBody>
          <a:bodyPr/>
          <a:lstStyle/>
          <a:p>
            <a:endParaRPr lang="rw-RW" dirty="0"/>
          </a:p>
        </p:txBody>
      </p:sp>
      <p:sp>
        <p:nvSpPr>
          <p:cNvPr id="11" name="Text 9"/>
          <p:cNvSpPr txBox="1"/>
          <p:nvPr/>
        </p:nvSpPr>
        <p:spPr>
          <a:xfrm>
            <a:off x="7091783" y="2551684"/>
            <a:ext cx="1097280" cy="475488"/>
          </a:xfrm>
          <a:prstGeom prst="rect">
            <a:avLst/>
          </a:prstGeom>
          <a:noFill/>
          <a:ln/>
        </p:spPr>
        <p:txBody>
          <a:bodyPr wrap="square" lIns="0" tIns="0" rIns="0" bIns="0" rtlCol="0" anchor="ctr"/>
          <a:lstStyle/>
          <a:p>
            <a:pPr marL="0" indent="0">
              <a:buNone/>
            </a:pPr>
            <a:r>
              <a:rPr lang="rw-RW" sz="1800" dirty="0">
                <a:solidFill>
                  <a:srgbClr val="17335F"/>
                </a:solidFill>
                <a:latin typeface="Calibri" pitchFamily="34" charset="0"/>
                <a:ea typeface="Calibri" pitchFamily="34" charset="-122"/>
                <a:cs typeface="Calibri" pitchFamily="34" charset="-120"/>
              </a:rPr>
              <a:t>1684</a:t>
            </a:r>
            <a:endParaRPr lang="rw-RW" sz="1800" dirty="0"/>
          </a:p>
        </p:txBody>
      </p:sp>
      <p:sp>
        <p:nvSpPr>
          <p:cNvPr id="12" name="Text 10"/>
          <p:cNvSpPr txBox="1"/>
          <p:nvPr/>
        </p:nvSpPr>
        <p:spPr>
          <a:xfrm>
            <a:off x="548640" y="3338068"/>
            <a:ext cx="1737360" cy="475488"/>
          </a:xfrm>
          <a:prstGeom prst="rect">
            <a:avLst/>
          </a:prstGeom>
          <a:noFill/>
          <a:ln/>
        </p:spPr>
        <p:txBody>
          <a:bodyPr wrap="square" lIns="0" tIns="0" rIns="0" bIns="0" rtlCol="0" anchor="ctr">
            <a:normAutofit/>
          </a:bodyPr>
          <a:lstStyle/>
          <a:p>
            <a:pPr marL="0" indent="0" algn="r">
              <a:buNone/>
            </a:pPr>
            <a:r>
              <a:rPr lang="rw-RW" sz="1600" dirty="0">
                <a:solidFill>
                  <a:srgbClr val="17335F"/>
                </a:solidFill>
                <a:latin typeface="Calibri" pitchFamily="34" charset="0"/>
                <a:ea typeface="Calibri" pitchFamily="34" charset="-122"/>
                <a:cs typeface="Calibri" pitchFamily="34" charset="-120"/>
              </a:rPr>
              <a:t>Inkondo y'umura</a:t>
            </a:r>
            <a:endParaRPr lang="rw-RW" sz="1600" dirty="0"/>
          </a:p>
        </p:txBody>
      </p:sp>
      <p:sp>
        <p:nvSpPr>
          <p:cNvPr id="13" name="Shape 11"/>
          <p:cNvSpPr/>
          <p:nvPr/>
        </p:nvSpPr>
        <p:spPr>
          <a:xfrm>
            <a:off x="2377440" y="3338068"/>
            <a:ext cx="4325713" cy="475488"/>
          </a:xfrm>
          <a:prstGeom prst="roundRect">
            <a:avLst>
              <a:gd name="adj" fmla="val 11538"/>
            </a:avLst>
          </a:prstGeom>
          <a:solidFill>
            <a:srgbClr val="AFC7E6"/>
          </a:solidFill>
          <a:ln/>
        </p:spPr>
        <p:txBody>
          <a:bodyPr/>
          <a:lstStyle/>
          <a:p>
            <a:endParaRPr lang="rw-RW" dirty="0"/>
          </a:p>
        </p:txBody>
      </p:sp>
      <p:sp>
        <p:nvSpPr>
          <p:cNvPr id="14" name="Text 12"/>
          <p:cNvSpPr txBox="1"/>
          <p:nvPr/>
        </p:nvSpPr>
        <p:spPr>
          <a:xfrm>
            <a:off x="6812881" y="3338068"/>
            <a:ext cx="1097280" cy="475488"/>
          </a:xfrm>
          <a:prstGeom prst="rect">
            <a:avLst/>
          </a:prstGeom>
          <a:noFill/>
          <a:ln/>
        </p:spPr>
        <p:txBody>
          <a:bodyPr wrap="square" lIns="0" tIns="0" rIns="0" bIns="0" rtlCol="0" anchor="ctr"/>
          <a:lstStyle/>
          <a:p>
            <a:pPr marL="0" indent="0">
              <a:buNone/>
            </a:pPr>
            <a:r>
              <a:rPr lang="rw-RW" sz="1800" dirty="0">
                <a:solidFill>
                  <a:srgbClr val="17335F"/>
                </a:solidFill>
                <a:latin typeface="Calibri" pitchFamily="34" charset="0"/>
                <a:ea typeface="Calibri" pitchFamily="34" charset="-122"/>
                <a:cs typeface="Calibri" pitchFamily="34" charset="-120"/>
              </a:rPr>
              <a:t>1582</a:t>
            </a:r>
            <a:endParaRPr lang="rw-RW" sz="1800" dirty="0"/>
          </a:p>
        </p:txBody>
      </p:sp>
      <p:sp>
        <p:nvSpPr>
          <p:cNvPr id="15" name="Text 13"/>
          <p:cNvSpPr txBox="1"/>
          <p:nvPr/>
        </p:nvSpPr>
        <p:spPr>
          <a:xfrm>
            <a:off x="548640" y="4124452"/>
            <a:ext cx="1737360" cy="475488"/>
          </a:xfrm>
          <a:prstGeom prst="rect">
            <a:avLst/>
          </a:prstGeom>
          <a:noFill/>
          <a:ln/>
        </p:spPr>
        <p:txBody>
          <a:bodyPr wrap="square" lIns="0" tIns="0" rIns="0" bIns="0" rtlCol="0" anchor="ctr">
            <a:noAutofit/>
          </a:bodyPr>
          <a:lstStyle/>
          <a:p>
            <a:pPr marL="0" indent="0" algn="r">
              <a:buNone/>
            </a:pPr>
            <a:r>
              <a:rPr lang="rw-RW" sz="1600" dirty="0">
                <a:solidFill>
                  <a:srgbClr val="17335F"/>
                </a:solidFill>
                <a:latin typeface="Calibri" pitchFamily="34" charset="0"/>
                <a:ea typeface="Calibri" pitchFamily="34" charset="-122"/>
                <a:cs typeface="Calibri" pitchFamily="34" charset="-120"/>
              </a:rPr>
              <a:t>Amara (kanseri y'amara)</a:t>
            </a:r>
            <a:endParaRPr lang="rw-RW" sz="1600" dirty="0"/>
          </a:p>
        </p:txBody>
      </p:sp>
      <p:sp>
        <p:nvSpPr>
          <p:cNvPr id="16" name="Shape 14"/>
          <p:cNvSpPr/>
          <p:nvPr/>
        </p:nvSpPr>
        <p:spPr>
          <a:xfrm>
            <a:off x="2377440" y="4124452"/>
            <a:ext cx="2529257" cy="475488"/>
          </a:xfrm>
          <a:prstGeom prst="roundRect">
            <a:avLst>
              <a:gd name="adj" fmla="val 11538"/>
            </a:avLst>
          </a:prstGeom>
          <a:solidFill>
            <a:srgbClr val="12305B"/>
          </a:solidFill>
          <a:ln/>
        </p:spPr>
        <p:txBody>
          <a:bodyPr/>
          <a:lstStyle/>
          <a:p>
            <a:endParaRPr lang="rw-RW" dirty="0"/>
          </a:p>
        </p:txBody>
      </p:sp>
      <p:sp>
        <p:nvSpPr>
          <p:cNvPr id="17" name="Text 15"/>
          <p:cNvSpPr txBox="1"/>
          <p:nvPr/>
        </p:nvSpPr>
        <p:spPr>
          <a:xfrm>
            <a:off x="5016425" y="4124452"/>
            <a:ext cx="1097280" cy="475488"/>
          </a:xfrm>
          <a:prstGeom prst="rect">
            <a:avLst/>
          </a:prstGeom>
          <a:noFill/>
          <a:ln/>
        </p:spPr>
        <p:txBody>
          <a:bodyPr wrap="square" lIns="0" tIns="0" rIns="0" bIns="0" rtlCol="0" anchor="ctr"/>
          <a:lstStyle/>
          <a:p>
            <a:pPr marL="0" indent="0">
              <a:buNone/>
            </a:pPr>
            <a:r>
              <a:rPr lang="rw-RW" sz="1800" b="1" dirty="0">
                <a:solidFill>
                  <a:srgbClr val="12305B"/>
                </a:solidFill>
                <a:latin typeface="Calibri" pitchFamily="34" charset="0"/>
                <a:ea typeface="Calibri" pitchFamily="34" charset="-122"/>
                <a:cs typeface="Calibri" pitchFamily="34" charset="-120"/>
              </a:rPr>
              <a:t>925</a:t>
            </a:r>
            <a:endParaRPr lang="rw-RW" sz="1800" dirty="0"/>
          </a:p>
        </p:txBody>
      </p:sp>
      <p:sp>
        <p:nvSpPr>
          <p:cNvPr id="18" name="Text 16"/>
          <p:cNvSpPr txBox="1"/>
          <p:nvPr/>
        </p:nvSpPr>
        <p:spPr>
          <a:xfrm>
            <a:off x="548640" y="4910836"/>
            <a:ext cx="1737360" cy="475488"/>
          </a:xfrm>
          <a:prstGeom prst="rect">
            <a:avLst/>
          </a:prstGeom>
          <a:noFill/>
          <a:ln/>
        </p:spPr>
        <p:txBody>
          <a:bodyPr wrap="square" lIns="0" tIns="0" rIns="0" bIns="0" rtlCol="0" anchor="ctr"/>
          <a:lstStyle/>
          <a:p>
            <a:pPr marL="0" indent="0" algn="r">
              <a:buNone/>
            </a:pPr>
            <a:r>
              <a:rPr lang="rw-RW" sz="1600" dirty="0">
                <a:solidFill>
                  <a:srgbClr val="17335F"/>
                </a:solidFill>
                <a:latin typeface="Calibri" pitchFamily="34" charset="0"/>
                <a:ea typeface="Calibri" pitchFamily="34" charset="-122"/>
                <a:cs typeface="Calibri" pitchFamily="34" charset="-120"/>
              </a:rPr>
              <a:t>Igifu</a:t>
            </a:r>
            <a:endParaRPr lang="rw-RW" sz="1600" dirty="0"/>
          </a:p>
        </p:txBody>
      </p:sp>
      <p:sp>
        <p:nvSpPr>
          <p:cNvPr id="19" name="Shape 17"/>
          <p:cNvSpPr/>
          <p:nvPr/>
        </p:nvSpPr>
        <p:spPr>
          <a:xfrm>
            <a:off x="2377440" y="4910836"/>
            <a:ext cx="2447227" cy="475488"/>
          </a:xfrm>
          <a:prstGeom prst="roundRect">
            <a:avLst>
              <a:gd name="adj" fmla="val 11538"/>
            </a:avLst>
          </a:prstGeom>
          <a:solidFill>
            <a:srgbClr val="AFC7E6"/>
          </a:solidFill>
          <a:ln/>
        </p:spPr>
        <p:txBody>
          <a:bodyPr/>
          <a:lstStyle/>
          <a:p>
            <a:endParaRPr lang="rw-RW" dirty="0"/>
          </a:p>
        </p:txBody>
      </p:sp>
      <p:sp>
        <p:nvSpPr>
          <p:cNvPr id="20" name="Text 18"/>
          <p:cNvSpPr txBox="1"/>
          <p:nvPr/>
        </p:nvSpPr>
        <p:spPr>
          <a:xfrm>
            <a:off x="4934395" y="4910836"/>
            <a:ext cx="1097280" cy="475488"/>
          </a:xfrm>
          <a:prstGeom prst="rect">
            <a:avLst/>
          </a:prstGeom>
          <a:noFill/>
          <a:ln/>
        </p:spPr>
        <p:txBody>
          <a:bodyPr wrap="square" lIns="0" tIns="0" rIns="0" bIns="0" rtlCol="0" anchor="ctr"/>
          <a:lstStyle/>
          <a:p>
            <a:pPr marL="0" indent="0">
              <a:buNone/>
            </a:pPr>
            <a:r>
              <a:rPr lang="rw-RW" sz="1800" dirty="0">
                <a:solidFill>
                  <a:srgbClr val="17335F"/>
                </a:solidFill>
                <a:latin typeface="Calibri" pitchFamily="34" charset="0"/>
                <a:ea typeface="Calibri" pitchFamily="34" charset="-122"/>
                <a:cs typeface="Calibri" pitchFamily="34" charset="-120"/>
              </a:rPr>
              <a:t>895</a:t>
            </a:r>
            <a:endParaRPr lang="rw-RW" sz="1800" dirty="0"/>
          </a:p>
        </p:txBody>
      </p:sp>
      <p:sp>
        <p:nvSpPr>
          <p:cNvPr id="21" name="Shape 19"/>
          <p:cNvSpPr/>
          <p:nvPr/>
        </p:nvSpPr>
        <p:spPr>
          <a:xfrm>
            <a:off x="8686800" y="1765300"/>
            <a:ext cx="2953512" cy="3017520"/>
          </a:xfrm>
          <a:prstGeom prst="roundRect">
            <a:avLst>
              <a:gd name="adj" fmla="val 3715"/>
            </a:avLst>
          </a:prstGeom>
          <a:solidFill>
            <a:srgbClr val="F2F7FD"/>
          </a:solidFill>
          <a:ln w="12700">
            <a:solidFill>
              <a:srgbClr val="CBDDF3"/>
            </a:solidFill>
            <a:prstDash val="solid"/>
          </a:ln>
        </p:spPr>
        <p:txBody>
          <a:bodyPr/>
          <a:lstStyle/>
          <a:p>
            <a:endParaRPr lang="rw-RW" dirty="0"/>
          </a:p>
        </p:txBody>
      </p:sp>
      <p:sp>
        <p:nvSpPr>
          <p:cNvPr id="22" name="Text 20"/>
          <p:cNvSpPr txBox="1"/>
          <p:nvPr/>
        </p:nvSpPr>
        <p:spPr>
          <a:xfrm>
            <a:off x="8915400" y="1948180"/>
            <a:ext cx="2514600" cy="365760"/>
          </a:xfrm>
          <a:prstGeom prst="rect">
            <a:avLst/>
          </a:prstGeom>
          <a:noFill/>
          <a:ln/>
        </p:spPr>
        <p:txBody>
          <a:bodyPr wrap="square" lIns="0" tIns="0" rIns="0" bIns="0" rtlCol="0" anchor="ctr">
            <a:normAutofit/>
          </a:bodyPr>
          <a:lstStyle/>
          <a:p>
            <a:pPr marL="0" indent="0">
              <a:buNone/>
            </a:pPr>
            <a:r>
              <a:rPr lang="rw-RW" sz="1700" b="1" dirty="0">
                <a:solidFill>
                  <a:srgbClr val="12305B"/>
                </a:solidFill>
                <a:latin typeface="Calibri" pitchFamily="34" charset="0"/>
                <a:ea typeface="Calibri" pitchFamily="34" charset="-122"/>
                <a:cs typeface="Calibri" pitchFamily="34" charset="-120"/>
              </a:rPr>
              <a:t>Ibyo bitubwira</a:t>
            </a:r>
            <a:endParaRPr lang="rw-RW" sz="1700" dirty="0"/>
          </a:p>
        </p:txBody>
      </p:sp>
      <p:sp>
        <p:nvSpPr>
          <p:cNvPr id="23" name="Text 21"/>
          <p:cNvSpPr txBox="1"/>
          <p:nvPr/>
        </p:nvSpPr>
        <p:spPr>
          <a:xfrm>
            <a:off x="8915400" y="2377948"/>
            <a:ext cx="2514600" cy="2286000"/>
          </a:xfrm>
          <a:prstGeom prst="rect">
            <a:avLst/>
          </a:prstGeom>
          <a:noFill/>
          <a:ln/>
        </p:spPr>
        <p:txBody>
          <a:bodyPr wrap="square" lIns="0" tIns="0" rIns="0" bIns="0" rtlCol="0" anchor="t"/>
          <a:lstStyle/>
          <a:p>
            <a:pPr marL="0" indent="0">
              <a:lnSpc>
                <a:spcPct val="105000"/>
              </a:lnSpc>
              <a:buNone/>
            </a:pPr>
            <a:r>
              <a:rPr lang="rw-RW" sz="1800" dirty="0">
                <a:solidFill>
                  <a:srgbClr val="17335F"/>
                </a:solidFill>
                <a:latin typeface="Calibri" pitchFamily="34" charset="0"/>
                <a:ea typeface="Calibri" pitchFamily="34" charset="-122"/>
                <a:cs typeface="Calibri" pitchFamily="34" charset="-120"/>
              </a:rPr>
              <a:t>Kanseri y'amara ni imwe muri kanseri zikunze kugaragara mu Rwanda. Si indwara idakunze kuboneka, kandi si ikibazo kiboneka mu bindi bihugu gusa.</a:t>
            </a:r>
            <a:endParaRPr lang="rw-RW" sz="1800" dirty="0"/>
          </a:p>
        </p:txBody>
      </p:sp>
      <p:sp>
        <p:nvSpPr>
          <p:cNvPr id="24" name="Text 22"/>
          <p:cNvSpPr txBox="1"/>
          <p:nvPr/>
        </p:nvSpPr>
        <p:spPr>
          <a:xfrm>
            <a:off x="548640" y="5532120"/>
            <a:ext cx="11094415" cy="457200"/>
          </a:xfrm>
          <a:prstGeom prst="rect">
            <a:avLst/>
          </a:prstGeom>
          <a:noFill/>
          <a:ln/>
        </p:spPr>
        <p:txBody>
          <a:bodyPr wrap="square" lIns="0" tIns="0" rIns="0" bIns="0" rtlCol="0" anchor="ctr">
            <a:normAutofit/>
          </a:bodyPr>
          <a:lstStyle/>
          <a:p>
            <a:pPr marL="0" indent="0">
              <a:buNone/>
            </a:pPr>
            <a:r>
              <a:rPr lang="rw-RW" sz="1150" i="1" dirty="0">
                <a:solidFill>
                  <a:srgbClr val="6B7A90"/>
                </a:solidFill>
                <a:latin typeface="Calibri" pitchFamily="34" charset="0"/>
                <a:ea typeface="Calibri" pitchFamily="34" charset="-122"/>
                <a:cs typeface="Calibri" pitchFamily="34" charset="-120"/>
              </a:rPr>
              <a:t>Abaturage: Rwanda, abagabo n'abagore, imyaka yose. Igipimo: abantu bashya bagize iyo ndwara mu mwaka wa 2024. Aho byavuye: IARC Global Cancer Observatory, GLOBOCAN 2024. Imibare ni iyagereranyijwe.</a:t>
            </a:r>
            <a:endParaRPr lang="rw-RW"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A968E8F-AE06-B60E-DC65-F826B44F4B7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A051093-0857-A6CA-B0D1-AE7EB28E2639}"/>
              </a:ext>
            </a:extLst>
          </p:cNvPr>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1</a:t>
            </a:r>
            <a:endParaRPr lang="rw-RW" sz="1100" dirty="0"/>
          </a:p>
        </p:txBody>
      </p:sp>
      <p:sp>
        <p:nvSpPr>
          <p:cNvPr id="3" name="Text 1">
            <a:extLst>
              <a:ext uri="{FF2B5EF4-FFF2-40B4-BE49-F238E27FC236}">
                <a16:creationId xmlns:a16="http://schemas.microsoft.com/office/drawing/2014/main" id="{31773AFD-4076-3BC2-6828-4F89E9B5E93A}"/>
              </a:ext>
            </a:extLst>
          </p:cNvPr>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Ishusho yoroshye y'umutwaro wa kanseri</a:t>
            </a:r>
            <a:endParaRPr lang="rw-RW" sz="3050" dirty="0"/>
          </a:p>
        </p:txBody>
      </p:sp>
      <p:sp>
        <p:nvSpPr>
          <p:cNvPr id="4" name="Text 2">
            <a:extLst>
              <a:ext uri="{FF2B5EF4-FFF2-40B4-BE49-F238E27FC236}">
                <a16:creationId xmlns:a16="http://schemas.microsoft.com/office/drawing/2014/main" id="{AFFD260F-25B0-2062-9CB5-C9DD3A657107}"/>
              </a:ext>
            </a:extLst>
          </p:cNvPr>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Abajyanama b'ubuzima | Ikigo cy'Igihugu gishinzwe Ubuvuzi (Rwanda Biomedical Centre)</a:t>
            </a:r>
            <a:endParaRPr lang="rw-RW" sz="1100" dirty="0"/>
          </a:p>
        </p:txBody>
      </p:sp>
      <p:sp>
        <p:nvSpPr>
          <p:cNvPr id="24" name="Text 22">
            <a:extLst>
              <a:ext uri="{FF2B5EF4-FFF2-40B4-BE49-F238E27FC236}">
                <a16:creationId xmlns:a16="http://schemas.microsoft.com/office/drawing/2014/main" id="{CFA1228F-FA69-B1CD-B096-E38428A77ACC}"/>
              </a:ext>
            </a:extLst>
          </p:cNvPr>
          <p:cNvSpPr txBox="1"/>
          <p:nvPr/>
        </p:nvSpPr>
        <p:spPr>
          <a:xfrm>
            <a:off x="524408" y="5971032"/>
            <a:ext cx="11094415" cy="457200"/>
          </a:xfrm>
          <a:prstGeom prst="rect">
            <a:avLst/>
          </a:prstGeom>
          <a:noFill/>
          <a:ln/>
        </p:spPr>
        <p:txBody>
          <a:bodyPr wrap="square" lIns="0" tIns="0" rIns="0" bIns="0" rtlCol="0" anchor="ctr">
            <a:normAutofit/>
          </a:bodyPr>
          <a:lstStyle/>
          <a:p>
            <a:pPr marL="0" indent="0">
              <a:buNone/>
            </a:pPr>
            <a:r>
              <a:rPr lang="rw-RW" sz="1150" i="1" dirty="0">
                <a:solidFill>
                  <a:srgbClr val="6B7A90"/>
                </a:solidFill>
                <a:latin typeface="Calibri" pitchFamily="34" charset="0"/>
                <a:ea typeface="Calibri" pitchFamily="34" charset="-122"/>
                <a:cs typeface="Calibri" pitchFamily="34" charset="-120"/>
              </a:rPr>
              <a:t>Abaturage: u Rwanda, abagabo n'abagore, imyaka yose. Igipimo: abarwara bashya bagereranyijwe mu mwaka wa 2024. Aho byavuye: IARC Global Cancer Observatory, GLOBOCAN 2024. Iyi mibare ni imibare igereranyijwe.</a:t>
            </a:r>
            <a:endParaRPr lang="rw-RW" sz="1150" dirty="0"/>
          </a:p>
        </p:txBody>
      </p:sp>
      <p:sp>
        <p:nvSpPr>
          <p:cNvPr id="25" name="Shape 2">
            <a:extLst>
              <a:ext uri="{FF2B5EF4-FFF2-40B4-BE49-F238E27FC236}">
                <a16:creationId xmlns:a16="http://schemas.microsoft.com/office/drawing/2014/main" id="{04FA3E2C-19B8-29EE-62E8-307E8F16BAA7}"/>
              </a:ext>
            </a:extLst>
          </p:cNvPr>
          <p:cNvSpPr/>
          <p:nvPr/>
        </p:nvSpPr>
        <p:spPr>
          <a:xfrm>
            <a:off x="457200" y="1775581"/>
            <a:ext cx="3657600" cy="3438144"/>
          </a:xfrm>
          <a:prstGeom prst="roundRect">
            <a:avLst>
              <a:gd name="adj" fmla="val 3000"/>
            </a:avLst>
          </a:prstGeom>
          <a:solidFill>
            <a:srgbClr val="EAF1F8"/>
          </a:solidFill>
          <a:ln w="16510">
            <a:solidFill>
              <a:srgbClr val="B9D0E7"/>
            </a:solidFill>
            <a:prstDash val="solid"/>
          </a:ln>
        </p:spPr>
        <p:txBody>
          <a:bodyPr/>
          <a:lstStyle/>
          <a:p>
            <a:endParaRPr lang="rw-RW" dirty="0"/>
          </a:p>
        </p:txBody>
      </p:sp>
      <p:sp>
        <p:nvSpPr>
          <p:cNvPr id="27" name="Text 4">
            <a:extLst>
              <a:ext uri="{FF2B5EF4-FFF2-40B4-BE49-F238E27FC236}">
                <a16:creationId xmlns:a16="http://schemas.microsoft.com/office/drawing/2014/main" id="{AE74E20D-7585-0978-E482-AD7AF6B2604C}"/>
              </a:ext>
            </a:extLst>
          </p:cNvPr>
          <p:cNvSpPr/>
          <p:nvPr/>
        </p:nvSpPr>
        <p:spPr>
          <a:xfrm>
            <a:off x="675152" y="1976749"/>
            <a:ext cx="3339063" cy="1463040"/>
          </a:xfrm>
          <a:prstGeom prst="rect">
            <a:avLst/>
          </a:prstGeom>
          <a:noFill/>
          <a:ln/>
        </p:spPr>
        <p:txBody>
          <a:bodyPr wrap="square" lIns="0" tIns="0" rIns="0" bIns="0" rtlCol="0" anchor="ctr">
            <a:noAutofit/>
          </a:bodyPr>
          <a:lstStyle/>
          <a:p>
            <a:pPr marL="0" indent="0">
              <a:buNone/>
            </a:pPr>
            <a:r>
              <a:rPr lang="rw-RW" dirty="0">
                <a:solidFill>
                  <a:srgbClr val="0B2B5B"/>
                </a:solidFill>
              </a:rPr>
              <a:t>Umutwaro w'iyi ndwara uteganyijwe kwiyongera cyane.</a:t>
            </a:r>
          </a:p>
          <a:p>
            <a:pPr marL="0" indent="0">
              <a:buNone/>
            </a:pPr>
            <a:endParaRPr lang="rw-RW" dirty="0">
              <a:solidFill>
                <a:srgbClr val="0B2B5B"/>
              </a:solidFill>
            </a:endParaRPr>
          </a:p>
          <a:p>
            <a:pPr marL="0" indent="0">
              <a:buNone/>
            </a:pPr>
            <a:r>
              <a:rPr lang="rw-RW" dirty="0">
                <a:solidFill>
                  <a:srgbClr val="0B2B5B"/>
                </a:solidFill>
              </a:rPr>
              <a:t>Biteganyijwe ko mu mwaka wa 2050 uyu mubare uzaba wikubye inshuro zirenze ebyiri.</a:t>
            </a:r>
            <a:endParaRPr lang="rw-RW" dirty="0"/>
          </a:p>
        </p:txBody>
      </p:sp>
      <p:sp>
        <p:nvSpPr>
          <p:cNvPr id="36" name="Shape 13">
            <a:extLst>
              <a:ext uri="{FF2B5EF4-FFF2-40B4-BE49-F238E27FC236}">
                <a16:creationId xmlns:a16="http://schemas.microsoft.com/office/drawing/2014/main" id="{D142704B-BFDE-49EF-FB90-48C7A28D6327}"/>
              </a:ext>
            </a:extLst>
          </p:cNvPr>
          <p:cNvSpPr/>
          <p:nvPr/>
        </p:nvSpPr>
        <p:spPr>
          <a:xfrm>
            <a:off x="4480560" y="1298448"/>
            <a:ext cx="3246120" cy="1298448"/>
          </a:xfrm>
          <a:prstGeom prst="roundRect">
            <a:avLst>
              <a:gd name="adj" fmla="val 8451"/>
            </a:avLst>
          </a:prstGeom>
          <a:solidFill>
            <a:srgbClr val="EAF1F8"/>
          </a:solidFill>
          <a:ln w="13970">
            <a:solidFill>
              <a:srgbClr val="B9D0E7"/>
            </a:solidFill>
            <a:prstDash val="solid"/>
          </a:ln>
        </p:spPr>
        <p:txBody>
          <a:bodyPr/>
          <a:lstStyle/>
          <a:p>
            <a:endParaRPr lang="rw-RW" dirty="0"/>
          </a:p>
        </p:txBody>
      </p:sp>
      <p:sp>
        <p:nvSpPr>
          <p:cNvPr id="37" name="Text 14">
            <a:extLst>
              <a:ext uri="{FF2B5EF4-FFF2-40B4-BE49-F238E27FC236}">
                <a16:creationId xmlns:a16="http://schemas.microsoft.com/office/drawing/2014/main" id="{4C341DBA-FD2C-3BD3-63AE-E1E9E68F4376}"/>
              </a:ext>
            </a:extLst>
          </p:cNvPr>
          <p:cNvSpPr/>
          <p:nvPr/>
        </p:nvSpPr>
        <p:spPr>
          <a:xfrm>
            <a:off x="4736592" y="1472184"/>
            <a:ext cx="1280160" cy="256032"/>
          </a:xfrm>
          <a:prstGeom prst="rect">
            <a:avLst/>
          </a:prstGeom>
          <a:noFill/>
          <a:ln/>
        </p:spPr>
        <p:txBody>
          <a:bodyPr wrap="square" lIns="0" tIns="0" rIns="0" bIns="0" rtlCol="0" anchor="ctr">
            <a:noAutofit/>
          </a:bodyPr>
          <a:lstStyle/>
          <a:p>
            <a:pPr marL="0" indent="0">
              <a:buNone/>
            </a:pPr>
            <a:r>
              <a:rPr lang="rw-RW" b="1" dirty="0">
                <a:solidFill>
                  <a:srgbClr val="173A6A"/>
                </a:solidFill>
              </a:rPr>
              <a:t>Afurika</a:t>
            </a:r>
            <a:endParaRPr lang="rw-RW" dirty="0"/>
          </a:p>
        </p:txBody>
      </p:sp>
      <p:sp>
        <p:nvSpPr>
          <p:cNvPr id="38" name="Text 15">
            <a:extLst>
              <a:ext uri="{FF2B5EF4-FFF2-40B4-BE49-F238E27FC236}">
                <a16:creationId xmlns:a16="http://schemas.microsoft.com/office/drawing/2014/main" id="{9B57F1D5-2F28-DFF3-EDE2-F3AF17DEDE11}"/>
              </a:ext>
            </a:extLst>
          </p:cNvPr>
          <p:cNvSpPr/>
          <p:nvPr/>
        </p:nvSpPr>
        <p:spPr>
          <a:xfrm>
            <a:off x="4736592" y="1783080"/>
            <a:ext cx="2103120" cy="228600"/>
          </a:xfrm>
          <a:prstGeom prst="rect">
            <a:avLst/>
          </a:prstGeom>
          <a:noFill/>
          <a:ln/>
        </p:spPr>
        <p:txBody>
          <a:bodyPr wrap="square" lIns="0" tIns="0" rIns="0" bIns="0" rtlCol="0" anchor="ctr">
            <a:noAutofit/>
          </a:bodyPr>
          <a:lstStyle/>
          <a:p>
            <a:pPr marL="0" indent="0">
              <a:buNone/>
            </a:pPr>
            <a:r>
              <a:rPr lang="rw-RW" dirty="0">
                <a:solidFill>
                  <a:srgbClr val="0B2B5B"/>
                </a:solidFill>
              </a:rPr>
              <a:t>Kanseri y'amara</a:t>
            </a:r>
            <a:endParaRPr lang="rw-RW" dirty="0"/>
          </a:p>
        </p:txBody>
      </p:sp>
      <p:sp>
        <p:nvSpPr>
          <p:cNvPr id="45" name="Shape 22">
            <a:extLst>
              <a:ext uri="{FF2B5EF4-FFF2-40B4-BE49-F238E27FC236}">
                <a16:creationId xmlns:a16="http://schemas.microsoft.com/office/drawing/2014/main" id="{F31171EC-AE05-9A45-4315-3B64CC8F679A}"/>
              </a:ext>
            </a:extLst>
          </p:cNvPr>
          <p:cNvSpPr/>
          <p:nvPr/>
        </p:nvSpPr>
        <p:spPr>
          <a:xfrm>
            <a:off x="4480560" y="2816352"/>
            <a:ext cx="3246120" cy="1298448"/>
          </a:xfrm>
          <a:prstGeom prst="roundRect">
            <a:avLst>
              <a:gd name="adj" fmla="val 8451"/>
            </a:avLst>
          </a:prstGeom>
          <a:solidFill>
            <a:srgbClr val="EAF1F8"/>
          </a:solidFill>
          <a:ln w="13970">
            <a:solidFill>
              <a:srgbClr val="B9D0E7"/>
            </a:solidFill>
            <a:prstDash val="solid"/>
          </a:ln>
        </p:spPr>
        <p:txBody>
          <a:bodyPr/>
          <a:lstStyle/>
          <a:p>
            <a:endParaRPr lang="rw-RW" dirty="0"/>
          </a:p>
        </p:txBody>
      </p:sp>
      <p:sp>
        <p:nvSpPr>
          <p:cNvPr id="46" name="Text 23">
            <a:extLst>
              <a:ext uri="{FF2B5EF4-FFF2-40B4-BE49-F238E27FC236}">
                <a16:creationId xmlns:a16="http://schemas.microsoft.com/office/drawing/2014/main" id="{8AAE6C28-2D3F-054B-806E-390474D2C133}"/>
              </a:ext>
            </a:extLst>
          </p:cNvPr>
          <p:cNvSpPr/>
          <p:nvPr/>
        </p:nvSpPr>
        <p:spPr>
          <a:xfrm>
            <a:off x="4736592" y="2990088"/>
            <a:ext cx="1280160" cy="256032"/>
          </a:xfrm>
          <a:prstGeom prst="rect">
            <a:avLst/>
          </a:prstGeom>
          <a:noFill/>
          <a:ln/>
        </p:spPr>
        <p:txBody>
          <a:bodyPr wrap="square" lIns="0" tIns="0" rIns="0" bIns="0" rtlCol="0" anchor="ctr">
            <a:noAutofit/>
          </a:bodyPr>
          <a:lstStyle/>
          <a:p>
            <a:pPr marL="0" indent="0">
              <a:buNone/>
            </a:pPr>
            <a:r>
              <a:rPr lang="rw-RW" b="1" dirty="0">
                <a:solidFill>
                  <a:srgbClr val="B36B00"/>
                </a:solidFill>
              </a:rPr>
              <a:t>Afurika</a:t>
            </a:r>
            <a:endParaRPr lang="rw-RW" dirty="0"/>
          </a:p>
        </p:txBody>
      </p:sp>
      <p:sp>
        <p:nvSpPr>
          <p:cNvPr id="47" name="Text 24">
            <a:extLst>
              <a:ext uri="{FF2B5EF4-FFF2-40B4-BE49-F238E27FC236}">
                <a16:creationId xmlns:a16="http://schemas.microsoft.com/office/drawing/2014/main" id="{4F26B075-D3E2-F6BB-CEA0-048F045CF90A}"/>
              </a:ext>
            </a:extLst>
          </p:cNvPr>
          <p:cNvSpPr/>
          <p:nvPr/>
        </p:nvSpPr>
        <p:spPr>
          <a:xfrm>
            <a:off x="4736591" y="3300984"/>
            <a:ext cx="2572537" cy="203589"/>
          </a:xfrm>
          <a:prstGeom prst="rect">
            <a:avLst/>
          </a:prstGeom>
          <a:noFill/>
          <a:ln/>
        </p:spPr>
        <p:txBody>
          <a:bodyPr wrap="square" lIns="0" tIns="0" rIns="0" bIns="0" rtlCol="0" anchor="ctr">
            <a:noAutofit/>
          </a:bodyPr>
          <a:lstStyle/>
          <a:p>
            <a:pPr marL="0" indent="0">
              <a:buNone/>
            </a:pPr>
            <a:r>
              <a:rPr lang="rw-RW" dirty="0">
                <a:solidFill>
                  <a:srgbClr val="0B2B5B"/>
                </a:solidFill>
              </a:rPr>
              <a:t>Impfu za kanseri y'amara</a:t>
            </a:r>
            <a:endParaRPr lang="rw-RW" dirty="0"/>
          </a:p>
        </p:txBody>
      </p:sp>
      <p:sp>
        <p:nvSpPr>
          <p:cNvPr id="54" name="Shape 31">
            <a:extLst>
              <a:ext uri="{FF2B5EF4-FFF2-40B4-BE49-F238E27FC236}">
                <a16:creationId xmlns:a16="http://schemas.microsoft.com/office/drawing/2014/main" id="{AE2CE052-1835-7554-BE55-6EAF37B21A01}"/>
              </a:ext>
            </a:extLst>
          </p:cNvPr>
          <p:cNvSpPr/>
          <p:nvPr/>
        </p:nvSpPr>
        <p:spPr>
          <a:xfrm>
            <a:off x="4480560" y="4334256"/>
            <a:ext cx="3246120" cy="1298448"/>
          </a:xfrm>
          <a:prstGeom prst="roundRect">
            <a:avLst>
              <a:gd name="adj" fmla="val 8451"/>
            </a:avLst>
          </a:prstGeom>
          <a:solidFill>
            <a:srgbClr val="EAF1F8"/>
          </a:solidFill>
          <a:ln w="13970">
            <a:solidFill>
              <a:srgbClr val="B9D0E7"/>
            </a:solidFill>
            <a:prstDash val="solid"/>
          </a:ln>
        </p:spPr>
        <p:txBody>
          <a:bodyPr/>
          <a:lstStyle/>
          <a:p>
            <a:endParaRPr lang="rw-RW" dirty="0"/>
          </a:p>
        </p:txBody>
      </p:sp>
      <p:sp>
        <p:nvSpPr>
          <p:cNvPr id="55" name="Text 32">
            <a:extLst>
              <a:ext uri="{FF2B5EF4-FFF2-40B4-BE49-F238E27FC236}">
                <a16:creationId xmlns:a16="http://schemas.microsoft.com/office/drawing/2014/main" id="{8E1F6C53-7D39-454F-1718-CB0C8316A96A}"/>
              </a:ext>
            </a:extLst>
          </p:cNvPr>
          <p:cNvSpPr/>
          <p:nvPr/>
        </p:nvSpPr>
        <p:spPr>
          <a:xfrm>
            <a:off x="4736592" y="4507992"/>
            <a:ext cx="1280160" cy="256032"/>
          </a:xfrm>
          <a:prstGeom prst="rect">
            <a:avLst/>
          </a:prstGeom>
          <a:noFill/>
          <a:ln/>
        </p:spPr>
        <p:txBody>
          <a:bodyPr wrap="square" lIns="0" tIns="0" rIns="0" bIns="0" rtlCol="0" anchor="ctr">
            <a:noAutofit/>
          </a:bodyPr>
          <a:lstStyle/>
          <a:p>
            <a:pPr marL="0" indent="0">
              <a:buNone/>
            </a:pPr>
            <a:r>
              <a:rPr lang="rw-RW" b="1" dirty="0">
                <a:solidFill>
                  <a:srgbClr val="0B6A4C"/>
                </a:solidFill>
              </a:rPr>
              <a:t>Rwanda</a:t>
            </a:r>
            <a:endParaRPr lang="rw-RW" dirty="0"/>
          </a:p>
        </p:txBody>
      </p:sp>
      <p:sp>
        <p:nvSpPr>
          <p:cNvPr id="56" name="Text 33">
            <a:extLst>
              <a:ext uri="{FF2B5EF4-FFF2-40B4-BE49-F238E27FC236}">
                <a16:creationId xmlns:a16="http://schemas.microsoft.com/office/drawing/2014/main" id="{7E9AFFB5-DB3B-8F1B-F537-37B94B2E418E}"/>
              </a:ext>
            </a:extLst>
          </p:cNvPr>
          <p:cNvSpPr/>
          <p:nvPr/>
        </p:nvSpPr>
        <p:spPr>
          <a:xfrm>
            <a:off x="4736591" y="4818888"/>
            <a:ext cx="2540533" cy="212110"/>
          </a:xfrm>
          <a:prstGeom prst="rect">
            <a:avLst/>
          </a:prstGeom>
          <a:noFill/>
          <a:ln/>
        </p:spPr>
        <p:txBody>
          <a:bodyPr wrap="square" lIns="0" tIns="0" rIns="0" bIns="0" rtlCol="0" anchor="ctr">
            <a:noAutofit/>
          </a:bodyPr>
          <a:lstStyle/>
          <a:p>
            <a:pPr marL="0" indent="0">
              <a:buNone/>
            </a:pPr>
            <a:r>
              <a:rPr lang="rw-RW" dirty="0">
                <a:solidFill>
                  <a:srgbClr val="0B2B5B"/>
                </a:solidFill>
              </a:rPr>
              <a:t>Abarwayi ba kanseri bose</a:t>
            </a:r>
            <a:endParaRPr lang="rw-RW" dirty="0"/>
          </a:p>
        </p:txBody>
      </p:sp>
      <p:sp>
        <p:nvSpPr>
          <p:cNvPr id="63" name="Shape 40">
            <a:extLst>
              <a:ext uri="{FF2B5EF4-FFF2-40B4-BE49-F238E27FC236}">
                <a16:creationId xmlns:a16="http://schemas.microsoft.com/office/drawing/2014/main" id="{60CB96E6-57E2-5681-3FD5-FECA1F6FB55D}"/>
              </a:ext>
            </a:extLst>
          </p:cNvPr>
          <p:cNvSpPr/>
          <p:nvPr/>
        </p:nvSpPr>
        <p:spPr>
          <a:xfrm>
            <a:off x="8101584" y="1728216"/>
            <a:ext cx="3474720" cy="3438144"/>
          </a:xfrm>
          <a:prstGeom prst="roundRect">
            <a:avLst>
              <a:gd name="adj" fmla="val 3158"/>
            </a:avLst>
          </a:prstGeom>
          <a:solidFill>
            <a:srgbClr val="FFF1D8"/>
          </a:solidFill>
          <a:ln w="16510">
            <a:solidFill>
              <a:srgbClr val="EACB8F"/>
            </a:solidFill>
            <a:prstDash val="solid"/>
          </a:ln>
        </p:spPr>
        <p:txBody>
          <a:bodyPr/>
          <a:lstStyle/>
          <a:p>
            <a:endParaRPr lang="rw-RW" dirty="0"/>
          </a:p>
        </p:txBody>
      </p:sp>
      <p:sp>
        <p:nvSpPr>
          <p:cNvPr id="64" name="Text 41">
            <a:extLst>
              <a:ext uri="{FF2B5EF4-FFF2-40B4-BE49-F238E27FC236}">
                <a16:creationId xmlns:a16="http://schemas.microsoft.com/office/drawing/2014/main" id="{CF774CEB-CF38-884C-9ED5-FCEB5DF79BF7}"/>
              </a:ext>
            </a:extLst>
          </p:cNvPr>
          <p:cNvSpPr/>
          <p:nvPr/>
        </p:nvSpPr>
        <p:spPr>
          <a:xfrm>
            <a:off x="8366760" y="1942423"/>
            <a:ext cx="2834640" cy="320040"/>
          </a:xfrm>
          <a:prstGeom prst="rect">
            <a:avLst/>
          </a:prstGeom>
          <a:noFill/>
          <a:ln/>
        </p:spPr>
        <p:txBody>
          <a:bodyPr wrap="square" lIns="0" tIns="0" rIns="0" bIns="0" rtlCol="0" anchor="ctr">
            <a:normAutofit/>
          </a:bodyPr>
          <a:lstStyle/>
          <a:p>
            <a:pPr marL="0" indent="0">
              <a:buNone/>
            </a:pPr>
            <a:r>
              <a:rPr lang="rw-RW" b="1" dirty="0">
                <a:solidFill>
                  <a:srgbClr val="B36B00"/>
                </a:solidFill>
              </a:rPr>
              <a:t>Ibyo bitubwira</a:t>
            </a:r>
            <a:endParaRPr lang="rw-RW" dirty="0"/>
          </a:p>
        </p:txBody>
      </p:sp>
      <p:sp>
        <p:nvSpPr>
          <p:cNvPr id="65" name="Text 42">
            <a:extLst>
              <a:ext uri="{FF2B5EF4-FFF2-40B4-BE49-F238E27FC236}">
                <a16:creationId xmlns:a16="http://schemas.microsoft.com/office/drawing/2014/main" id="{4536A522-76D2-AC45-E5B0-52F8E32B6DF2}"/>
              </a:ext>
            </a:extLst>
          </p:cNvPr>
          <p:cNvSpPr/>
          <p:nvPr/>
        </p:nvSpPr>
        <p:spPr>
          <a:xfrm>
            <a:off x="8366760" y="2536783"/>
            <a:ext cx="2743200" cy="1920240"/>
          </a:xfrm>
          <a:prstGeom prst="rect">
            <a:avLst/>
          </a:prstGeom>
          <a:noFill/>
          <a:ln/>
        </p:spPr>
        <p:txBody>
          <a:bodyPr wrap="square" lIns="0" tIns="0" rIns="0" bIns="0" rtlCol="0" anchor="ctr">
            <a:noAutofit/>
          </a:bodyPr>
          <a:lstStyle/>
          <a:p>
            <a:pPr marL="0" indent="0">
              <a:buNone/>
            </a:pPr>
            <a:r>
              <a:rPr lang="rw-RW" dirty="0">
                <a:solidFill>
                  <a:srgbClr val="0B2B5B"/>
                </a:solidFill>
              </a:rPr>
              <a:t>Kanseri y'amara ni imwe muri kanseri zikunze kwibasira u Rwanda.</a:t>
            </a:r>
          </a:p>
          <a:p>
            <a:pPr marL="0" indent="0">
              <a:buNone/>
            </a:pPr>
            <a:endParaRPr lang="rw-RW" dirty="0">
              <a:solidFill>
                <a:srgbClr val="0B2B5B"/>
              </a:solidFill>
            </a:endParaRPr>
          </a:p>
          <a:p>
            <a:pPr marL="0" indent="0">
              <a:buNone/>
            </a:pPr>
            <a:r>
              <a:rPr lang="rw-RW" dirty="0">
                <a:solidFill>
                  <a:srgbClr val="0B2B5B"/>
                </a:solidFill>
              </a:rPr>
              <a:t>Gutegura tugomba kwiteganyiriza ko umutwaro wa kanseri uzaba munini cyane mu myaka iri imbere.</a:t>
            </a:r>
            <a:endParaRPr lang="rw-RW" dirty="0"/>
          </a:p>
        </p:txBody>
      </p:sp>
      <p:grpSp>
        <p:nvGrpSpPr>
          <p:cNvPr id="69" name="Grupo 68">
            <a:extLst>
              <a:ext uri="{FF2B5EF4-FFF2-40B4-BE49-F238E27FC236}">
                <a16:creationId xmlns:a16="http://schemas.microsoft.com/office/drawing/2014/main" id="{F4FAA8EA-5E30-DCEF-50CF-74F3CBFEFDEE}"/>
              </a:ext>
            </a:extLst>
          </p:cNvPr>
          <p:cNvGrpSpPr/>
          <p:nvPr/>
        </p:nvGrpSpPr>
        <p:grpSpPr>
          <a:xfrm>
            <a:off x="741807" y="3831076"/>
            <a:ext cx="3088386" cy="808482"/>
            <a:chOff x="566928" y="4193286"/>
            <a:chExt cx="3088386" cy="808482"/>
          </a:xfrm>
        </p:grpSpPr>
        <p:sp>
          <p:nvSpPr>
            <p:cNvPr id="28" name="Shape 5">
              <a:extLst>
                <a:ext uri="{FF2B5EF4-FFF2-40B4-BE49-F238E27FC236}">
                  <a16:creationId xmlns:a16="http://schemas.microsoft.com/office/drawing/2014/main" id="{26340707-28D4-03CF-5834-BAC5FEC9191B}"/>
                </a:ext>
              </a:extLst>
            </p:cNvPr>
            <p:cNvSpPr/>
            <p:nvPr/>
          </p:nvSpPr>
          <p:spPr>
            <a:xfrm>
              <a:off x="868680" y="4343400"/>
              <a:ext cx="347472" cy="347472"/>
            </a:xfrm>
            <a:prstGeom prst="ellipse">
              <a:avLst/>
            </a:prstGeom>
            <a:solidFill>
              <a:srgbClr val="173A6A"/>
            </a:solidFill>
            <a:ln w="12700">
              <a:solidFill>
                <a:srgbClr val="173A6A"/>
              </a:solidFill>
              <a:prstDash val="solid"/>
            </a:ln>
          </p:spPr>
          <p:txBody>
            <a:bodyPr/>
            <a:lstStyle/>
            <a:p>
              <a:endParaRPr lang="rw-RW" dirty="0"/>
            </a:p>
          </p:txBody>
        </p:sp>
        <p:sp>
          <p:nvSpPr>
            <p:cNvPr id="29" name="Text 6">
              <a:extLst>
                <a:ext uri="{FF2B5EF4-FFF2-40B4-BE49-F238E27FC236}">
                  <a16:creationId xmlns:a16="http://schemas.microsoft.com/office/drawing/2014/main" id="{C6BE197B-0B9F-7C86-9CB2-1BE207ECE60C}"/>
                </a:ext>
              </a:extLst>
            </p:cNvPr>
            <p:cNvSpPr/>
            <p:nvPr/>
          </p:nvSpPr>
          <p:spPr>
            <a:xfrm>
              <a:off x="566928" y="4773168"/>
              <a:ext cx="1005840" cy="228600"/>
            </a:xfrm>
            <a:prstGeom prst="rect">
              <a:avLst/>
            </a:prstGeom>
            <a:noFill/>
            <a:ln/>
          </p:spPr>
          <p:txBody>
            <a:bodyPr wrap="square" lIns="0" tIns="0" rIns="0" bIns="0" rtlCol="0" anchor="ctr">
              <a:noAutofit/>
            </a:bodyPr>
            <a:lstStyle/>
            <a:p>
              <a:pPr marL="0" indent="0" algn="ctr">
                <a:buNone/>
              </a:pPr>
              <a:r>
                <a:rPr lang="rw-RW" b="1" dirty="0">
                  <a:solidFill>
                    <a:srgbClr val="173A6A"/>
                  </a:solidFill>
                </a:rPr>
                <a:t>2022</a:t>
              </a:r>
              <a:endParaRPr lang="rw-RW" dirty="0"/>
            </a:p>
          </p:txBody>
        </p:sp>
        <p:sp>
          <p:nvSpPr>
            <p:cNvPr id="30" name="Shape 7">
              <a:extLst>
                <a:ext uri="{FF2B5EF4-FFF2-40B4-BE49-F238E27FC236}">
                  <a16:creationId xmlns:a16="http://schemas.microsoft.com/office/drawing/2014/main" id="{5F6F497E-34D7-6AF0-B61C-C20788B02867}"/>
                </a:ext>
              </a:extLst>
            </p:cNvPr>
            <p:cNvSpPr/>
            <p:nvPr/>
          </p:nvSpPr>
          <p:spPr>
            <a:xfrm>
              <a:off x="1417320" y="4526280"/>
              <a:ext cx="640080" cy="0"/>
            </a:xfrm>
            <a:prstGeom prst="line">
              <a:avLst/>
            </a:prstGeom>
            <a:noFill/>
            <a:ln w="29210">
              <a:solidFill>
                <a:srgbClr val="0B2B5B"/>
              </a:solidFill>
              <a:prstDash val="solid"/>
              <a:headEnd type="none"/>
              <a:tailEnd type="triangle"/>
            </a:ln>
          </p:spPr>
          <p:txBody>
            <a:bodyPr/>
            <a:lstStyle/>
            <a:p>
              <a:endParaRPr lang="rw-RW" dirty="0"/>
            </a:p>
          </p:txBody>
        </p:sp>
        <p:sp>
          <p:nvSpPr>
            <p:cNvPr id="31" name="Shape 8">
              <a:extLst>
                <a:ext uri="{FF2B5EF4-FFF2-40B4-BE49-F238E27FC236}">
                  <a16:creationId xmlns:a16="http://schemas.microsoft.com/office/drawing/2014/main" id="{D20D3AF7-AB50-1FB0-1D1E-517CF1C17467}"/>
                </a:ext>
              </a:extLst>
            </p:cNvPr>
            <p:cNvSpPr/>
            <p:nvPr/>
          </p:nvSpPr>
          <p:spPr>
            <a:xfrm>
              <a:off x="2331720" y="4297680"/>
              <a:ext cx="347472" cy="347472"/>
            </a:xfrm>
            <a:prstGeom prst="ellipse">
              <a:avLst/>
            </a:prstGeom>
            <a:solidFill>
              <a:srgbClr val="B36B00"/>
            </a:solidFill>
            <a:ln w="12700">
              <a:solidFill>
                <a:srgbClr val="B36B00"/>
              </a:solidFill>
              <a:prstDash val="solid"/>
            </a:ln>
          </p:spPr>
          <p:txBody>
            <a:bodyPr/>
            <a:lstStyle/>
            <a:p>
              <a:endParaRPr lang="rw-RW" dirty="0"/>
            </a:p>
          </p:txBody>
        </p:sp>
        <p:sp>
          <p:nvSpPr>
            <p:cNvPr id="32" name="Shape 9">
              <a:extLst>
                <a:ext uri="{FF2B5EF4-FFF2-40B4-BE49-F238E27FC236}">
                  <a16:creationId xmlns:a16="http://schemas.microsoft.com/office/drawing/2014/main" id="{07FD2B7C-1D47-31F5-C100-A6B19548EC01}"/>
                </a:ext>
              </a:extLst>
            </p:cNvPr>
            <p:cNvSpPr/>
            <p:nvPr/>
          </p:nvSpPr>
          <p:spPr>
            <a:xfrm>
              <a:off x="2724912" y="4297680"/>
              <a:ext cx="347472" cy="347472"/>
            </a:xfrm>
            <a:prstGeom prst="ellipse">
              <a:avLst/>
            </a:prstGeom>
            <a:solidFill>
              <a:srgbClr val="B36B00"/>
            </a:solidFill>
            <a:ln w="12700">
              <a:solidFill>
                <a:srgbClr val="B36B00"/>
              </a:solidFill>
              <a:prstDash val="solid"/>
            </a:ln>
          </p:spPr>
          <p:txBody>
            <a:bodyPr/>
            <a:lstStyle/>
            <a:p>
              <a:endParaRPr lang="rw-RW" dirty="0"/>
            </a:p>
          </p:txBody>
        </p:sp>
        <p:sp>
          <p:nvSpPr>
            <p:cNvPr id="33" name="Shape 10">
              <a:extLst>
                <a:ext uri="{FF2B5EF4-FFF2-40B4-BE49-F238E27FC236}">
                  <a16:creationId xmlns:a16="http://schemas.microsoft.com/office/drawing/2014/main" id="{18BFDFFC-EC5B-DE5E-2319-606047D89597}"/>
                </a:ext>
              </a:extLst>
            </p:cNvPr>
            <p:cNvSpPr/>
            <p:nvPr/>
          </p:nvSpPr>
          <p:spPr>
            <a:xfrm>
              <a:off x="3118104" y="4297680"/>
              <a:ext cx="347472" cy="347472"/>
            </a:xfrm>
            <a:prstGeom prst="ellipse">
              <a:avLst/>
            </a:prstGeom>
            <a:solidFill>
              <a:srgbClr val="B36B00"/>
            </a:solidFill>
            <a:ln w="12700">
              <a:solidFill>
                <a:srgbClr val="B36B00"/>
              </a:solidFill>
              <a:prstDash val="solid"/>
            </a:ln>
          </p:spPr>
          <p:txBody>
            <a:bodyPr/>
            <a:lstStyle/>
            <a:p>
              <a:endParaRPr lang="rw-RW" dirty="0"/>
            </a:p>
          </p:txBody>
        </p:sp>
        <p:sp>
          <p:nvSpPr>
            <p:cNvPr id="34" name="Text 11">
              <a:extLst>
                <a:ext uri="{FF2B5EF4-FFF2-40B4-BE49-F238E27FC236}">
                  <a16:creationId xmlns:a16="http://schemas.microsoft.com/office/drawing/2014/main" id="{852A45FB-A41F-809D-54DA-05BA7BF64370}"/>
                </a:ext>
              </a:extLst>
            </p:cNvPr>
            <p:cNvSpPr/>
            <p:nvPr/>
          </p:nvSpPr>
          <p:spPr>
            <a:xfrm>
              <a:off x="2395728" y="4773168"/>
              <a:ext cx="1143000" cy="228600"/>
            </a:xfrm>
            <a:prstGeom prst="rect">
              <a:avLst/>
            </a:prstGeom>
            <a:noFill/>
            <a:ln/>
          </p:spPr>
          <p:txBody>
            <a:bodyPr wrap="square" lIns="0" tIns="0" rIns="0" bIns="0" rtlCol="0" anchor="ctr">
              <a:noAutofit/>
            </a:bodyPr>
            <a:lstStyle/>
            <a:p>
              <a:pPr marL="0" indent="0" algn="ctr">
                <a:buNone/>
              </a:pPr>
              <a:r>
                <a:rPr lang="rw-RW" b="1" dirty="0">
                  <a:solidFill>
                    <a:srgbClr val="B36B00"/>
                  </a:solidFill>
                </a:rPr>
                <a:t>2050</a:t>
              </a:r>
              <a:endParaRPr lang="rw-RW" dirty="0"/>
            </a:p>
          </p:txBody>
        </p:sp>
        <p:pic>
          <p:nvPicPr>
            <p:cNvPr id="68" name="Imagen 67">
              <a:extLst>
                <a:ext uri="{FF2B5EF4-FFF2-40B4-BE49-F238E27FC236}">
                  <a16:creationId xmlns:a16="http://schemas.microsoft.com/office/drawing/2014/main" id="{3C577EC5-4F06-01DE-531F-34AC0F7C3265}"/>
                </a:ext>
              </a:extLst>
            </p:cNvPr>
            <p:cNvPicPr>
              <a:picLocks noChangeAspect="1"/>
            </p:cNvPicPr>
            <p:nvPr/>
          </p:nvPicPr>
          <p:blipFill>
            <a:blip r:embed="rId3" cstate="hqprint">
              <a:extLst>
                <a:ext uri="{28A0092B-C50C-407E-A947-70E740481C1C}">
                  <a14:useLocalDpi xmlns:a14="http://schemas.microsoft.com/office/drawing/2010/main"/>
                </a:ext>
              </a:extLst>
            </a:blip>
            <a:srcRect l="18760" r="18759"/>
            <a:stretch>
              <a:fillRect/>
            </a:stretch>
          </p:blipFill>
          <p:spPr>
            <a:xfrm>
              <a:off x="3307842" y="4193286"/>
              <a:ext cx="347472" cy="497586"/>
            </a:xfrm>
            <a:prstGeom prst="rect">
              <a:avLst/>
            </a:prstGeom>
          </p:spPr>
        </p:pic>
      </p:grpSp>
      <p:grpSp>
        <p:nvGrpSpPr>
          <p:cNvPr id="75" name="Grupo 74">
            <a:extLst>
              <a:ext uri="{FF2B5EF4-FFF2-40B4-BE49-F238E27FC236}">
                <a16:creationId xmlns:a16="http://schemas.microsoft.com/office/drawing/2014/main" id="{C6EB8A6A-165D-3BD5-356F-CDB7E6D49C41}"/>
              </a:ext>
            </a:extLst>
          </p:cNvPr>
          <p:cNvGrpSpPr/>
          <p:nvPr/>
        </p:nvGrpSpPr>
        <p:grpSpPr>
          <a:xfrm>
            <a:off x="4773168" y="2106942"/>
            <a:ext cx="2503957" cy="320040"/>
            <a:chOff x="4773168" y="2061972"/>
            <a:chExt cx="2503957" cy="320040"/>
          </a:xfrm>
        </p:grpSpPr>
        <p:sp>
          <p:nvSpPr>
            <p:cNvPr id="39" name="Shape 16">
              <a:extLst>
                <a:ext uri="{FF2B5EF4-FFF2-40B4-BE49-F238E27FC236}">
                  <a16:creationId xmlns:a16="http://schemas.microsoft.com/office/drawing/2014/main" id="{CE24E5BC-8999-97EE-364F-31C018DB4F81}"/>
                </a:ext>
              </a:extLst>
            </p:cNvPr>
            <p:cNvSpPr/>
            <p:nvPr/>
          </p:nvSpPr>
          <p:spPr>
            <a:xfrm>
              <a:off x="4773168" y="2167128"/>
              <a:ext cx="201168" cy="201168"/>
            </a:xfrm>
            <a:prstGeom prst="ellipse">
              <a:avLst/>
            </a:prstGeom>
            <a:solidFill>
              <a:srgbClr val="173A6A"/>
            </a:solidFill>
            <a:ln w="12700">
              <a:solidFill>
                <a:srgbClr val="173A6A"/>
              </a:solidFill>
              <a:prstDash val="solid"/>
            </a:ln>
          </p:spPr>
          <p:txBody>
            <a:bodyPr/>
            <a:lstStyle/>
            <a:p>
              <a:endParaRPr lang="rw-RW" dirty="0"/>
            </a:p>
          </p:txBody>
        </p:sp>
        <p:sp>
          <p:nvSpPr>
            <p:cNvPr id="40" name="Shape 17">
              <a:extLst>
                <a:ext uri="{FF2B5EF4-FFF2-40B4-BE49-F238E27FC236}">
                  <a16:creationId xmlns:a16="http://schemas.microsoft.com/office/drawing/2014/main" id="{9A550C1B-F09E-7768-B08C-7D9482313483}"/>
                </a:ext>
              </a:extLst>
            </p:cNvPr>
            <p:cNvSpPr/>
            <p:nvPr/>
          </p:nvSpPr>
          <p:spPr>
            <a:xfrm>
              <a:off x="5138928" y="2267712"/>
              <a:ext cx="484632" cy="0"/>
            </a:xfrm>
            <a:prstGeom prst="line">
              <a:avLst/>
            </a:prstGeom>
            <a:noFill/>
            <a:ln w="29210">
              <a:solidFill>
                <a:srgbClr val="173A6A"/>
              </a:solidFill>
              <a:prstDash val="solid"/>
              <a:headEnd type="none"/>
              <a:tailEnd type="triangle"/>
            </a:ln>
          </p:spPr>
          <p:txBody>
            <a:bodyPr/>
            <a:lstStyle/>
            <a:p>
              <a:endParaRPr lang="rw-RW" dirty="0"/>
            </a:p>
          </p:txBody>
        </p:sp>
        <p:sp>
          <p:nvSpPr>
            <p:cNvPr id="41" name="Shape 18">
              <a:extLst>
                <a:ext uri="{FF2B5EF4-FFF2-40B4-BE49-F238E27FC236}">
                  <a16:creationId xmlns:a16="http://schemas.microsoft.com/office/drawing/2014/main" id="{771284A6-DDD5-FED6-87BC-683B4CEBF2DA}"/>
                </a:ext>
              </a:extLst>
            </p:cNvPr>
            <p:cNvSpPr/>
            <p:nvPr/>
          </p:nvSpPr>
          <p:spPr>
            <a:xfrm>
              <a:off x="5824728" y="2139696"/>
              <a:ext cx="201168" cy="201168"/>
            </a:xfrm>
            <a:prstGeom prst="ellipse">
              <a:avLst/>
            </a:prstGeom>
            <a:solidFill>
              <a:srgbClr val="173A6A"/>
            </a:solidFill>
            <a:ln w="12700">
              <a:solidFill>
                <a:srgbClr val="173A6A"/>
              </a:solidFill>
              <a:prstDash val="solid"/>
            </a:ln>
          </p:spPr>
          <p:txBody>
            <a:bodyPr/>
            <a:lstStyle/>
            <a:p>
              <a:endParaRPr lang="rw-RW" dirty="0"/>
            </a:p>
          </p:txBody>
        </p:sp>
        <p:sp>
          <p:nvSpPr>
            <p:cNvPr id="42" name="Shape 19">
              <a:extLst>
                <a:ext uri="{FF2B5EF4-FFF2-40B4-BE49-F238E27FC236}">
                  <a16:creationId xmlns:a16="http://schemas.microsoft.com/office/drawing/2014/main" id="{176DD4FA-51BF-6F17-F37E-8E2EAB96B336}"/>
                </a:ext>
              </a:extLst>
            </p:cNvPr>
            <p:cNvSpPr/>
            <p:nvPr/>
          </p:nvSpPr>
          <p:spPr>
            <a:xfrm>
              <a:off x="6071616" y="2139696"/>
              <a:ext cx="201168" cy="201168"/>
            </a:xfrm>
            <a:prstGeom prst="ellipse">
              <a:avLst/>
            </a:prstGeom>
            <a:solidFill>
              <a:srgbClr val="173A6A"/>
            </a:solidFill>
            <a:ln w="12700">
              <a:solidFill>
                <a:srgbClr val="173A6A"/>
              </a:solidFill>
              <a:prstDash val="solid"/>
            </a:ln>
          </p:spPr>
          <p:txBody>
            <a:bodyPr/>
            <a:lstStyle/>
            <a:p>
              <a:endParaRPr lang="rw-RW" dirty="0"/>
            </a:p>
          </p:txBody>
        </p:sp>
        <p:sp>
          <p:nvSpPr>
            <p:cNvPr id="43" name="Shape 20">
              <a:extLst>
                <a:ext uri="{FF2B5EF4-FFF2-40B4-BE49-F238E27FC236}">
                  <a16:creationId xmlns:a16="http://schemas.microsoft.com/office/drawing/2014/main" id="{CEF3C815-F4AB-6B6D-0356-249124CD17B9}"/>
                </a:ext>
              </a:extLst>
            </p:cNvPr>
            <p:cNvSpPr/>
            <p:nvPr/>
          </p:nvSpPr>
          <p:spPr>
            <a:xfrm>
              <a:off x="6318504" y="2139696"/>
              <a:ext cx="201168" cy="201168"/>
            </a:xfrm>
            <a:prstGeom prst="ellipse">
              <a:avLst/>
            </a:prstGeom>
            <a:solidFill>
              <a:srgbClr val="173A6A"/>
            </a:solidFill>
            <a:ln w="12700">
              <a:solidFill>
                <a:srgbClr val="173A6A"/>
              </a:solidFill>
              <a:prstDash val="solid"/>
            </a:ln>
          </p:spPr>
          <p:txBody>
            <a:bodyPr/>
            <a:lstStyle/>
            <a:p>
              <a:endParaRPr lang="rw-RW" dirty="0"/>
            </a:p>
          </p:txBody>
        </p:sp>
        <p:sp>
          <p:nvSpPr>
            <p:cNvPr id="44" name="Text 21">
              <a:extLst>
                <a:ext uri="{FF2B5EF4-FFF2-40B4-BE49-F238E27FC236}">
                  <a16:creationId xmlns:a16="http://schemas.microsoft.com/office/drawing/2014/main" id="{826F49D9-79A8-EADA-2181-0A5EB9D9777C}"/>
                </a:ext>
              </a:extLst>
            </p:cNvPr>
            <p:cNvSpPr/>
            <p:nvPr/>
          </p:nvSpPr>
          <p:spPr>
            <a:xfrm>
              <a:off x="6591325" y="2061972"/>
              <a:ext cx="685800" cy="320040"/>
            </a:xfrm>
            <a:prstGeom prst="rect">
              <a:avLst/>
            </a:prstGeom>
            <a:noFill/>
            <a:ln/>
          </p:spPr>
          <p:txBody>
            <a:bodyPr wrap="square" lIns="0" tIns="0" rIns="0" bIns="0" rtlCol="0" anchor="ctr">
              <a:normAutofit/>
            </a:bodyPr>
            <a:lstStyle/>
            <a:p>
              <a:pPr marL="0" indent="0">
                <a:buNone/>
              </a:pPr>
              <a:r>
                <a:rPr lang="rw-RW" b="1" dirty="0">
                  <a:solidFill>
                    <a:srgbClr val="173A6A"/>
                  </a:solidFill>
                </a:rPr>
                <a:t>2.5×</a:t>
              </a:r>
              <a:endParaRPr lang="rw-RW" dirty="0"/>
            </a:p>
          </p:txBody>
        </p:sp>
        <p:pic>
          <p:nvPicPr>
            <p:cNvPr id="70" name="Imagen 69">
              <a:extLst>
                <a:ext uri="{FF2B5EF4-FFF2-40B4-BE49-F238E27FC236}">
                  <a16:creationId xmlns:a16="http://schemas.microsoft.com/office/drawing/2014/main" id="{9B067E1E-BB4C-276E-FD77-173E889CB40E}"/>
                </a:ext>
              </a:extLst>
            </p:cNvPr>
            <p:cNvPicPr>
              <a:picLocks noChangeAspect="1"/>
            </p:cNvPicPr>
            <p:nvPr/>
          </p:nvPicPr>
          <p:blipFill>
            <a:blip r:embed="rId3"/>
            <a:stretch>
              <a:fillRect/>
            </a:stretch>
          </p:blipFill>
          <p:spPr>
            <a:xfrm>
              <a:off x="6419088" y="2174367"/>
              <a:ext cx="173736" cy="155448"/>
            </a:xfrm>
            <a:prstGeom prst="rect">
              <a:avLst/>
            </a:prstGeom>
          </p:spPr>
        </p:pic>
      </p:grpSp>
      <p:grpSp>
        <p:nvGrpSpPr>
          <p:cNvPr id="74" name="Grupo 73">
            <a:extLst>
              <a:ext uri="{FF2B5EF4-FFF2-40B4-BE49-F238E27FC236}">
                <a16:creationId xmlns:a16="http://schemas.microsoft.com/office/drawing/2014/main" id="{AFE6B3C2-639F-4745-CD3E-416657589B7C}"/>
              </a:ext>
            </a:extLst>
          </p:cNvPr>
          <p:cNvGrpSpPr/>
          <p:nvPr/>
        </p:nvGrpSpPr>
        <p:grpSpPr>
          <a:xfrm>
            <a:off x="4773168" y="3638047"/>
            <a:ext cx="2537460" cy="320040"/>
            <a:chOff x="4773168" y="3578087"/>
            <a:chExt cx="2537460" cy="320040"/>
          </a:xfrm>
        </p:grpSpPr>
        <p:sp>
          <p:nvSpPr>
            <p:cNvPr id="48" name="Shape 25">
              <a:extLst>
                <a:ext uri="{FF2B5EF4-FFF2-40B4-BE49-F238E27FC236}">
                  <a16:creationId xmlns:a16="http://schemas.microsoft.com/office/drawing/2014/main" id="{008F395D-0C54-8E95-4C19-8E8F5FEEB0BC}"/>
                </a:ext>
              </a:extLst>
            </p:cNvPr>
            <p:cNvSpPr/>
            <p:nvPr/>
          </p:nvSpPr>
          <p:spPr>
            <a:xfrm>
              <a:off x="4773168" y="3685032"/>
              <a:ext cx="201168" cy="201168"/>
            </a:xfrm>
            <a:prstGeom prst="ellipse">
              <a:avLst/>
            </a:prstGeom>
            <a:solidFill>
              <a:srgbClr val="B36B00"/>
            </a:solidFill>
            <a:ln w="12700">
              <a:solidFill>
                <a:srgbClr val="B36B00"/>
              </a:solidFill>
              <a:prstDash val="solid"/>
            </a:ln>
          </p:spPr>
          <p:txBody>
            <a:bodyPr/>
            <a:lstStyle/>
            <a:p>
              <a:endParaRPr lang="rw-RW" dirty="0"/>
            </a:p>
          </p:txBody>
        </p:sp>
        <p:sp>
          <p:nvSpPr>
            <p:cNvPr id="49" name="Shape 26">
              <a:extLst>
                <a:ext uri="{FF2B5EF4-FFF2-40B4-BE49-F238E27FC236}">
                  <a16:creationId xmlns:a16="http://schemas.microsoft.com/office/drawing/2014/main" id="{C8F2296F-473B-DDCE-BE9D-0EC8D2D4DD8B}"/>
                </a:ext>
              </a:extLst>
            </p:cNvPr>
            <p:cNvSpPr/>
            <p:nvPr/>
          </p:nvSpPr>
          <p:spPr>
            <a:xfrm>
              <a:off x="5138928" y="3785616"/>
              <a:ext cx="484632" cy="0"/>
            </a:xfrm>
            <a:prstGeom prst="line">
              <a:avLst/>
            </a:prstGeom>
            <a:noFill/>
            <a:ln w="29210">
              <a:solidFill>
                <a:srgbClr val="B36B00"/>
              </a:solidFill>
              <a:prstDash val="solid"/>
              <a:headEnd type="none"/>
              <a:tailEnd type="triangle"/>
            </a:ln>
          </p:spPr>
          <p:txBody>
            <a:bodyPr/>
            <a:lstStyle/>
            <a:p>
              <a:endParaRPr lang="rw-RW" dirty="0"/>
            </a:p>
          </p:txBody>
        </p:sp>
        <p:sp>
          <p:nvSpPr>
            <p:cNvPr id="50" name="Shape 27">
              <a:extLst>
                <a:ext uri="{FF2B5EF4-FFF2-40B4-BE49-F238E27FC236}">
                  <a16:creationId xmlns:a16="http://schemas.microsoft.com/office/drawing/2014/main" id="{C84F54A5-6BCD-300C-C94E-7FCACB01F273}"/>
                </a:ext>
              </a:extLst>
            </p:cNvPr>
            <p:cNvSpPr/>
            <p:nvPr/>
          </p:nvSpPr>
          <p:spPr>
            <a:xfrm>
              <a:off x="5824728" y="3657600"/>
              <a:ext cx="201168" cy="201168"/>
            </a:xfrm>
            <a:prstGeom prst="ellipse">
              <a:avLst/>
            </a:prstGeom>
            <a:solidFill>
              <a:srgbClr val="B36B00"/>
            </a:solidFill>
            <a:ln w="12700">
              <a:solidFill>
                <a:srgbClr val="B36B00"/>
              </a:solidFill>
              <a:prstDash val="solid"/>
            </a:ln>
          </p:spPr>
          <p:txBody>
            <a:bodyPr/>
            <a:lstStyle/>
            <a:p>
              <a:endParaRPr lang="rw-RW" dirty="0"/>
            </a:p>
          </p:txBody>
        </p:sp>
        <p:sp>
          <p:nvSpPr>
            <p:cNvPr id="51" name="Shape 28">
              <a:extLst>
                <a:ext uri="{FF2B5EF4-FFF2-40B4-BE49-F238E27FC236}">
                  <a16:creationId xmlns:a16="http://schemas.microsoft.com/office/drawing/2014/main" id="{C68F6F82-FC93-CCEB-938A-4C3F990B16D3}"/>
                </a:ext>
              </a:extLst>
            </p:cNvPr>
            <p:cNvSpPr/>
            <p:nvPr/>
          </p:nvSpPr>
          <p:spPr>
            <a:xfrm>
              <a:off x="6071616" y="3657600"/>
              <a:ext cx="201168" cy="201168"/>
            </a:xfrm>
            <a:prstGeom prst="ellipse">
              <a:avLst/>
            </a:prstGeom>
            <a:solidFill>
              <a:srgbClr val="B36B00"/>
            </a:solidFill>
            <a:ln w="12700">
              <a:solidFill>
                <a:srgbClr val="B36B00"/>
              </a:solidFill>
              <a:prstDash val="solid"/>
            </a:ln>
          </p:spPr>
          <p:txBody>
            <a:bodyPr/>
            <a:lstStyle/>
            <a:p>
              <a:endParaRPr lang="rw-RW" dirty="0"/>
            </a:p>
          </p:txBody>
        </p:sp>
        <p:sp>
          <p:nvSpPr>
            <p:cNvPr id="52" name="Shape 29">
              <a:extLst>
                <a:ext uri="{FF2B5EF4-FFF2-40B4-BE49-F238E27FC236}">
                  <a16:creationId xmlns:a16="http://schemas.microsoft.com/office/drawing/2014/main" id="{C855C75C-8E6B-982E-2A37-C4D82F960A61}"/>
                </a:ext>
              </a:extLst>
            </p:cNvPr>
            <p:cNvSpPr/>
            <p:nvPr/>
          </p:nvSpPr>
          <p:spPr>
            <a:xfrm>
              <a:off x="6318504" y="3657600"/>
              <a:ext cx="201168" cy="201168"/>
            </a:xfrm>
            <a:prstGeom prst="ellipse">
              <a:avLst/>
            </a:prstGeom>
            <a:solidFill>
              <a:srgbClr val="B36B00"/>
            </a:solidFill>
            <a:ln w="12700">
              <a:solidFill>
                <a:srgbClr val="B36B00"/>
              </a:solidFill>
              <a:prstDash val="solid"/>
            </a:ln>
          </p:spPr>
          <p:txBody>
            <a:bodyPr/>
            <a:lstStyle/>
            <a:p>
              <a:endParaRPr lang="rw-RW" dirty="0"/>
            </a:p>
          </p:txBody>
        </p:sp>
        <p:sp>
          <p:nvSpPr>
            <p:cNvPr id="53" name="Text 30">
              <a:extLst>
                <a:ext uri="{FF2B5EF4-FFF2-40B4-BE49-F238E27FC236}">
                  <a16:creationId xmlns:a16="http://schemas.microsoft.com/office/drawing/2014/main" id="{D2CA6123-286F-F5DF-59F0-98EC3EDDDE1A}"/>
                </a:ext>
              </a:extLst>
            </p:cNvPr>
            <p:cNvSpPr/>
            <p:nvPr/>
          </p:nvSpPr>
          <p:spPr>
            <a:xfrm>
              <a:off x="6624828" y="3578087"/>
              <a:ext cx="685800" cy="320040"/>
            </a:xfrm>
            <a:prstGeom prst="rect">
              <a:avLst/>
            </a:prstGeom>
            <a:noFill/>
            <a:ln/>
          </p:spPr>
          <p:txBody>
            <a:bodyPr wrap="square" lIns="0" tIns="0" rIns="0" bIns="0" rtlCol="0" anchor="ctr">
              <a:normAutofit/>
            </a:bodyPr>
            <a:lstStyle/>
            <a:p>
              <a:pPr marL="0" indent="0">
                <a:buNone/>
              </a:pPr>
              <a:r>
                <a:rPr lang="rw-RW" b="1" dirty="0">
                  <a:solidFill>
                    <a:srgbClr val="B36B00"/>
                  </a:solidFill>
                </a:rPr>
                <a:t>2.5×</a:t>
              </a:r>
              <a:endParaRPr lang="rw-RW" dirty="0"/>
            </a:p>
          </p:txBody>
        </p:sp>
        <p:pic>
          <p:nvPicPr>
            <p:cNvPr id="71" name="Imagen 70">
              <a:extLst>
                <a:ext uri="{FF2B5EF4-FFF2-40B4-BE49-F238E27FC236}">
                  <a16:creationId xmlns:a16="http://schemas.microsoft.com/office/drawing/2014/main" id="{DF2AF4FD-ECBA-C2DF-019D-917F6BC631D3}"/>
                </a:ext>
              </a:extLst>
            </p:cNvPr>
            <p:cNvPicPr>
              <a:picLocks noChangeAspect="1"/>
            </p:cNvPicPr>
            <p:nvPr/>
          </p:nvPicPr>
          <p:blipFill>
            <a:blip r:embed="rId3"/>
            <a:stretch>
              <a:fillRect/>
            </a:stretch>
          </p:blipFill>
          <p:spPr>
            <a:xfrm>
              <a:off x="6419088" y="3696081"/>
              <a:ext cx="173736" cy="155448"/>
            </a:xfrm>
            <a:prstGeom prst="rect">
              <a:avLst/>
            </a:prstGeom>
          </p:spPr>
        </p:pic>
      </p:grpSp>
      <p:grpSp>
        <p:nvGrpSpPr>
          <p:cNvPr id="73" name="Grupo 72">
            <a:extLst>
              <a:ext uri="{FF2B5EF4-FFF2-40B4-BE49-F238E27FC236}">
                <a16:creationId xmlns:a16="http://schemas.microsoft.com/office/drawing/2014/main" id="{2EAB2F12-04C9-5C83-1ECF-B7BD1C58D9FF}"/>
              </a:ext>
            </a:extLst>
          </p:cNvPr>
          <p:cNvGrpSpPr/>
          <p:nvPr/>
        </p:nvGrpSpPr>
        <p:grpSpPr>
          <a:xfrm>
            <a:off x="4773168" y="5181874"/>
            <a:ext cx="2535961" cy="320040"/>
            <a:chOff x="4773168" y="5106924"/>
            <a:chExt cx="2535961" cy="320040"/>
          </a:xfrm>
        </p:grpSpPr>
        <p:sp>
          <p:nvSpPr>
            <p:cNvPr id="57" name="Shape 34">
              <a:extLst>
                <a:ext uri="{FF2B5EF4-FFF2-40B4-BE49-F238E27FC236}">
                  <a16:creationId xmlns:a16="http://schemas.microsoft.com/office/drawing/2014/main" id="{AD7EA9F2-0EDC-7D91-2D8C-0EF5F481457D}"/>
                </a:ext>
              </a:extLst>
            </p:cNvPr>
            <p:cNvSpPr/>
            <p:nvPr/>
          </p:nvSpPr>
          <p:spPr>
            <a:xfrm>
              <a:off x="4773168" y="5202936"/>
              <a:ext cx="201168" cy="201168"/>
            </a:xfrm>
            <a:prstGeom prst="ellipse">
              <a:avLst/>
            </a:prstGeom>
            <a:solidFill>
              <a:srgbClr val="0B6A4C"/>
            </a:solidFill>
            <a:ln w="12700">
              <a:solidFill>
                <a:srgbClr val="0B6A4C"/>
              </a:solidFill>
              <a:prstDash val="solid"/>
            </a:ln>
          </p:spPr>
          <p:txBody>
            <a:bodyPr/>
            <a:lstStyle/>
            <a:p>
              <a:endParaRPr lang="rw-RW" dirty="0"/>
            </a:p>
          </p:txBody>
        </p:sp>
        <p:sp>
          <p:nvSpPr>
            <p:cNvPr id="58" name="Shape 35">
              <a:extLst>
                <a:ext uri="{FF2B5EF4-FFF2-40B4-BE49-F238E27FC236}">
                  <a16:creationId xmlns:a16="http://schemas.microsoft.com/office/drawing/2014/main" id="{AB3661D7-B19A-DAD9-2D55-6AAC927973E9}"/>
                </a:ext>
              </a:extLst>
            </p:cNvPr>
            <p:cNvSpPr/>
            <p:nvPr/>
          </p:nvSpPr>
          <p:spPr>
            <a:xfrm>
              <a:off x="5138928" y="5303520"/>
              <a:ext cx="484632" cy="0"/>
            </a:xfrm>
            <a:prstGeom prst="line">
              <a:avLst/>
            </a:prstGeom>
            <a:noFill/>
            <a:ln w="29210">
              <a:solidFill>
                <a:srgbClr val="0B6A4C"/>
              </a:solidFill>
              <a:prstDash val="solid"/>
              <a:headEnd type="none"/>
              <a:tailEnd type="triangle"/>
            </a:ln>
          </p:spPr>
          <p:txBody>
            <a:bodyPr/>
            <a:lstStyle/>
            <a:p>
              <a:endParaRPr lang="rw-RW" dirty="0"/>
            </a:p>
          </p:txBody>
        </p:sp>
        <p:sp>
          <p:nvSpPr>
            <p:cNvPr id="59" name="Shape 36">
              <a:extLst>
                <a:ext uri="{FF2B5EF4-FFF2-40B4-BE49-F238E27FC236}">
                  <a16:creationId xmlns:a16="http://schemas.microsoft.com/office/drawing/2014/main" id="{40158B6D-129A-FCE6-8092-C1021B5542B9}"/>
                </a:ext>
              </a:extLst>
            </p:cNvPr>
            <p:cNvSpPr/>
            <p:nvPr/>
          </p:nvSpPr>
          <p:spPr>
            <a:xfrm>
              <a:off x="5824728" y="5175504"/>
              <a:ext cx="201168" cy="201168"/>
            </a:xfrm>
            <a:prstGeom prst="ellipse">
              <a:avLst/>
            </a:prstGeom>
            <a:solidFill>
              <a:srgbClr val="0B6A4C"/>
            </a:solidFill>
            <a:ln w="12700">
              <a:solidFill>
                <a:srgbClr val="0B6A4C"/>
              </a:solidFill>
              <a:prstDash val="solid"/>
            </a:ln>
          </p:spPr>
          <p:txBody>
            <a:bodyPr/>
            <a:lstStyle/>
            <a:p>
              <a:endParaRPr lang="rw-RW" dirty="0"/>
            </a:p>
          </p:txBody>
        </p:sp>
        <p:sp>
          <p:nvSpPr>
            <p:cNvPr id="60" name="Shape 37">
              <a:extLst>
                <a:ext uri="{FF2B5EF4-FFF2-40B4-BE49-F238E27FC236}">
                  <a16:creationId xmlns:a16="http://schemas.microsoft.com/office/drawing/2014/main" id="{F6C1F509-9F19-2B1A-AB1E-E8CFBF70B020}"/>
                </a:ext>
              </a:extLst>
            </p:cNvPr>
            <p:cNvSpPr/>
            <p:nvPr/>
          </p:nvSpPr>
          <p:spPr>
            <a:xfrm>
              <a:off x="6071616" y="5175504"/>
              <a:ext cx="201168" cy="201168"/>
            </a:xfrm>
            <a:prstGeom prst="ellipse">
              <a:avLst/>
            </a:prstGeom>
            <a:solidFill>
              <a:srgbClr val="0B6A4C"/>
            </a:solidFill>
            <a:ln w="12700">
              <a:solidFill>
                <a:srgbClr val="0B6A4C"/>
              </a:solidFill>
              <a:prstDash val="solid"/>
            </a:ln>
          </p:spPr>
          <p:txBody>
            <a:bodyPr/>
            <a:lstStyle/>
            <a:p>
              <a:endParaRPr lang="rw-RW" dirty="0"/>
            </a:p>
          </p:txBody>
        </p:sp>
        <p:sp>
          <p:nvSpPr>
            <p:cNvPr id="61" name="Shape 38">
              <a:extLst>
                <a:ext uri="{FF2B5EF4-FFF2-40B4-BE49-F238E27FC236}">
                  <a16:creationId xmlns:a16="http://schemas.microsoft.com/office/drawing/2014/main" id="{AF3E2BA8-736F-07B6-32B6-2B9EFD8ADF26}"/>
                </a:ext>
              </a:extLst>
            </p:cNvPr>
            <p:cNvSpPr/>
            <p:nvPr/>
          </p:nvSpPr>
          <p:spPr>
            <a:xfrm>
              <a:off x="6318504" y="5175504"/>
              <a:ext cx="201168" cy="201168"/>
            </a:xfrm>
            <a:prstGeom prst="ellipse">
              <a:avLst/>
            </a:prstGeom>
            <a:solidFill>
              <a:srgbClr val="0B6A4C"/>
            </a:solidFill>
            <a:ln w="12700">
              <a:solidFill>
                <a:srgbClr val="0B6A4C"/>
              </a:solidFill>
              <a:prstDash val="solid"/>
            </a:ln>
          </p:spPr>
          <p:txBody>
            <a:bodyPr/>
            <a:lstStyle/>
            <a:p>
              <a:endParaRPr lang="rw-RW" dirty="0"/>
            </a:p>
          </p:txBody>
        </p:sp>
        <p:sp>
          <p:nvSpPr>
            <p:cNvPr id="62" name="Text 39">
              <a:extLst>
                <a:ext uri="{FF2B5EF4-FFF2-40B4-BE49-F238E27FC236}">
                  <a16:creationId xmlns:a16="http://schemas.microsoft.com/office/drawing/2014/main" id="{036D74C9-5902-D742-0299-CCDA5581A28A}"/>
                </a:ext>
              </a:extLst>
            </p:cNvPr>
            <p:cNvSpPr/>
            <p:nvPr/>
          </p:nvSpPr>
          <p:spPr>
            <a:xfrm>
              <a:off x="6623329" y="5106924"/>
              <a:ext cx="685800" cy="320040"/>
            </a:xfrm>
            <a:prstGeom prst="rect">
              <a:avLst/>
            </a:prstGeom>
            <a:noFill/>
            <a:ln/>
          </p:spPr>
          <p:txBody>
            <a:bodyPr wrap="square" lIns="0" tIns="0" rIns="0" bIns="0" rtlCol="0" anchor="ctr">
              <a:normAutofit/>
            </a:bodyPr>
            <a:lstStyle/>
            <a:p>
              <a:pPr marL="0" indent="0">
                <a:buNone/>
              </a:pPr>
              <a:r>
                <a:rPr lang="rw-RW" b="1" dirty="0">
                  <a:solidFill>
                    <a:srgbClr val="0B6A4C"/>
                  </a:solidFill>
                </a:rPr>
                <a:t>2.5×</a:t>
              </a:r>
              <a:endParaRPr lang="rw-RW" dirty="0"/>
            </a:p>
          </p:txBody>
        </p:sp>
        <p:pic>
          <p:nvPicPr>
            <p:cNvPr id="72" name="Imagen 71">
              <a:extLst>
                <a:ext uri="{FF2B5EF4-FFF2-40B4-BE49-F238E27FC236}">
                  <a16:creationId xmlns:a16="http://schemas.microsoft.com/office/drawing/2014/main" id="{EE9AC52C-994E-315F-0B77-EB10053F455B}"/>
                </a:ext>
              </a:extLst>
            </p:cNvPr>
            <p:cNvPicPr>
              <a:picLocks noChangeAspect="1"/>
            </p:cNvPicPr>
            <p:nvPr/>
          </p:nvPicPr>
          <p:blipFill>
            <a:blip r:embed="rId3"/>
            <a:stretch>
              <a:fillRect/>
            </a:stretch>
          </p:blipFill>
          <p:spPr>
            <a:xfrm>
              <a:off x="6417589" y="5162122"/>
              <a:ext cx="173736" cy="227931"/>
            </a:xfrm>
            <a:prstGeom prst="rect">
              <a:avLst/>
            </a:prstGeom>
          </p:spPr>
        </p:pic>
      </p:grpSp>
      <p:pic>
        <p:nvPicPr>
          <p:cNvPr id="5" name="Imagen 4">
            <a:extLst>
              <a:ext uri="{FF2B5EF4-FFF2-40B4-BE49-F238E27FC236}">
                <a16:creationId xmlns:a16="http://schemas.microsoft.com/office/drawing/2014/main" id="{14D22079-9F8E-2776-99D0-DCA102CF08DB}"/>
              </a:ext>
            </a:extLst>
          </p:cNvPr>
          <p:cNvPicPr>
            <a:picLocks noChangeAspect="1"/>
          </p:cNvPicPr>
          <p:nvPr/>
        </p:nvPicPr>
        <p:blipFill>
          <a:blip r:embed="rId3"/>
          <a:stretch>
            <a:fillRect/>
          </a:stretch>
        </p:blipFill>
        <p:spPr>
          <a:xfrm>
            <a:off x="6420789" y="3707539"/>
            <a:ext cx="173736" cy="227931"/>
          </a:xfrm>
          <a:prstGeom prst="rect">
            <a:avLst/>
          </a:prstGeom>
        </p:spPr>
      </p:pic>
      <p:pic>
        <p:nvPicPr>
          <p:cNvPr id="6" name="Imagen 5">
            <a:extLst>
              <a:ext uri="{FF2B5EF4-FFF2-40B4-BE49-F238E27FC236}">
                <a16:creationId xmlns:a16="http://schemas.microsoft.com/office/drawing/2014/main" id="{200C8A35-F3BF-75EB-8ECD-FD7763AD80CB}"/>
              </a:ext>
            </a:extLst>
          </p:cNvPr>
          <p:cNvPicPr>
            <a:picLocks noChangeAspect="1"/>
          </p:cNvPicPr>
          <p:nvPr/>
        </p:nvPicPr>
        <p:blipFill>
          <a:blip r:embed="rId3"/>
          <a:stretch>
            <a:fillRect/>
          </a:stretch>
        </p:blipFill>
        <p:spPr>
          <a:xfrm>
            <a:off x="6410693" y="2171284"/>
            <a:ext cx="173736" cy="227931"/>
          </a:xfrm>
          <a:prstGeom prst="rect">
            <a:avLst/>
          </a:prstGeom>
        </p:spPr>
      </p:pic>
    </p:spTree>
    <p:extLst>
      <p:ext uri="{BB962C8B-B14F-4D97-AF65-F5344CB8AC3E}">
        <p14:creationId xmlns:p14="http://schemas.microsoft.com/office/powerpoint/2010/main" val="1966511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1</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Genzura uko usobanukiwe</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Shape 3"/>
          <p:cNvSpPr/>
          <p:nvPr/>
        </p:nvSpPr>
        <p:spPr>
          <a:xfrm>
            <a:off x="548640" y="1298448"/>
            <a:ext cx="7269480" cy="868680"/>
          </a:xfrm>
          <a:prstGeom prst="roundRect">
            <a:avLst>
              <a:gd name="adj" fmla="val 10526"/>
            </a:avLst>
          </a:prstGeom>
          <a:solidFill>
            <a:srgbClr val="F2F7FD"/>
          </a:solidFill>
          <a:ln w="12700">
            <a:solidFill>
              <a:srgbClr val="CBDDF3"/>
            </a:solidFill>
            <a:prstDash val="solid"/>
          </a:ln>
        </p:spPr>
        <p:txBody>
          <a:bodyPr/>
          <a:lstStyle/>
          <a:p>
            <a:endParaRPr lang="rw-RW" dirty="0"/>
          </a:p>
        </p:txBody>
      </p:sp>
      <p:sp>
        <p:nvSpPr>
          <p:cNvPr id="6" name="Text 4"/>
          <p:cNvSpPr txBox="1"/>
          <p:nvPr/>
        </p:nvSpPr>
        <p:spPr>
          <a:xfrm>
            <a:off x="768096" y="1371600"/>
            <a:ext cx="6830568" cy="731520"/>
          </a:xfrm>
          <a:prstGeom prst="rect">
            <a:avLst/>
          </a:prstGeom>
          <a:noFill/>
          <a:ln/>
        </p:spPr>
        <p:txBody>
          <a:bodyPr wrap="square" lIns="0" tIns="0" rIns="0" bIns="0" rtlCol="0" anchor="ctr"/>
          <a:lstStyle/>
          <a:p>
            <a:pPr marL="0" indent="0">
              <a:lnSpc>
                <a:spcPct val="105000"/>
              </a:lnSpc>
              <a:buNone/>
            </a:pPr>
            <a:r>
              <a:rPr lang="rw-RW" sz="1800" dirty="0">
                <a:solidFill>
                  <a:srgbClr val="17335F"/>
                </a:solidFill>
                <a:latin typeface="Calibri" pitchFamily="34" charset="0"/>
                <a:ea typeface="Calibri" pitchFamily="34" charset="-122"/>
                <a:cs typeface="Calibri" pitchFamily="34" charset="-120"/>
              </a:rPr>
              <a:t>Umugore wo mu mudugudu wawe avuga ko yumva ameze neza, ku buryo nta byago afite bwo kurwara kanseri y’amara.</a:t>
            </a:r>
            <a:endParaRPr lang="rw-RW" sz="1800" dirty="0"/>
          </a:p>
        </p:txBody>
      </p:sp>
      <p:sp>
        <p:nvSpPr>
          <p:cNvPr id="7" name="Text 5"/>
          <p:cNvSpPr txBox="1"/>
          <p:nvPr/>
        </p:nvSpPr>
        <p:spPr>
          <a:xfrm>
            <a:off x="548640" y="2331720"/>
            <a:ext cx="7269480" cy="365760"/>
          </a:xfrm>
          <a:prstGeom prst="rect">
            <a:avLst/>
          </a:prstGeom>
          <a:noFill/>
          <a:ln/>
        </p:spPr>
        <p:txBody>
          <a:bodyPr wrap="square" lIns="0" tIns="0" rIns="0" bIns="0" rtlCol="0" anchor="ctr">
            <a:normAutofit/>
          </a:bodyPr>
          <a:lstStyle/>
          <a:p>
            <a:pPr marL="0" indent="0">
              <a:buNone/>
            </a:pPr>
            <a:r>
              <a:rPr lang="rw-RW" sz="1700" b="1" dirty="0">
                <a:solidFill>
                  <a:srgbClr val="12305B"/>
                </a:solidFill>
                <a:latin typeface="Calibri" pitchFamily="34" charset="0"/>
                <a:ea typeface="Calibri" pitchFamily="34" charset="-122"/>
                <a:cs typeface="Calibri" pitchFamily="34" charset="-120"/>
              </a:rPr>
              <a:t>Ese afite ukuri?</a:t>
            </a:r>
            <a:endParaRPr lang="rw-RW" sz="1700" dirty="0"/>
          </a:p>
        </p:txBody>
      </p:sp>
      <p:sp>
        <p:nvSpPr>
          <p:cNvPr id="8" name="Shape 6"/>
          <p:cNvSpPr/>
          <p:nvPr/>
        </p:nvSpPr>
        <p:spPr>
          <a:xfrm>
            <a:off x="548640" y="2752344"/>
            <a:ext cx="7269480" cy="438912"/>
          </a:xfrm>
          <a:prstGeom prst="roundRect">
            <a:avLst>
              <a:gd name="adj" fmla="val 13889"/>
            </a:avLst>
          </a:prstGeom>
          <a:solidFill>
            <a:srgbClr val="F2F7FD"/>
          </a:solidFill>
          <a:ln w="12700">
            <a:solidFill>
              <a:srgbClr val="CBDDF3"/>
            </a:solidFill>
            <a:prstDash val="solid"/>
          </a:ln>
        </p:spPr>
        <p:txBody>
          <a:bodyPr/>
          <a:lstStyle/>
          <a:p>
            <a:endParaRPr lang="rw-RW" dirty="0"/>
          </a:p>
        </p:txBody>
      </p:sp>
      <p:sp>
        <p:nvSpPr>
          <p:cNvPr id="9" name="Text 7"/>
          <p:cNvSpPr txBox="1"/>
          <p:nvPr/>
        </p:nvSpPr>
        <p:spPr>
          <a:xfrm>
            <a:off x="768096" y="2788920"/>
            <a:ext cx="6830568" cy="365760"/>
          </a:xfrm>
          <a:prstGeom prst="rect">
            <a:avLst/>
          </a:prstGeom>
          <a:noFill/>
          <a:ln/>
        </p:spPr>
        <p:txBody>
          <a:bodyPr wrap="square" lIns="0" tIns="0" rIns="0" bIns="0" rtlCol="0" anchor="ctr"/>
          <a:lstStyle/>
          <a:p>
            <a:pPr marL="0" indent="0">
              <a:lnSpc>
                <a:spcPct val="100000"/>
              </a:lnSpc>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a:rPr>
              <a:t>Yego, kumva umeze neza bisobanura ko nta kanseri ihari</a:t>
            </a:r>
            <a:endParaRPr lang="rw-RW" sz="1800" dirty="0"/>
          </a:p>
        </p:txBody>
      </p:sp>
      <p:sp>
        <p:nvSpPr>
          <p:cNvPr id="10" name="Shape 8"/>
          <p:cNvSpPr/>
          <p:nvPr/>
        </p:nvSpPr>
        <p:spPr>
          <a:xfrm>
            <a:off x="548640" y="3264408"/>
            <a:ext cx="7269480" cy="438912"/>
          </a:xfrm>
          <a:prstGeom prst="roundRect">
            <a:avLst>
              <a:gd name="adj" fmla="val 13889"/>
            </a:avLst>
          </a:prstGeom>
          <a:solidFill>
            <a:srgbClr val="F2F7FD"/>
          </a:solidFill>
          <a:ln w="12700">
            <a:solidFill>
              <a:srgbClr val="AFD8BE"/>
            </a:solidFill>
            <a:prstDash val="solid"/>
          </a:ln>
        </p:spPr>
        <p:txBody>
          <a:bodyPr/>
          <a:lstStyle/>
          <a:p>
            <a:endParaRPr lang="rw-RW" dirty="0"/>
          </a:p>
        </p:txBody>
      </p:sp>
      <p:sp>
        <p:nvSpPr>
          <p:cNvPr id="11" name="Text 9"/>
          <p:cNvSpPr txBox="1"/>
          <p:nvPr/>
        </p:nvSpPr>
        <p:spPr>
          <a:xfrm>
            <a:off x="768096" y="3300984"/>
            <a:ext cx="6830568" cy="365760"/>
          </a:xfrm>
          <a:prstGeom prst="rect">
            <a:avLst/>
          </a:prstGeom>
          <a:noFill/>
          <a:ln/>
        </p:spPr>
        <p:txBody>
          <a:bodyPr wrap="square" lIns="0" tIns="0" rIns="0" bIns="0" rtlCol="0" anchor="ctr"/>
          <a:lstStyle/>
          <a:p>
            <a:pPr marL="0" indent="0">
              <a:lnSpc>
                <a:spcPct val="100000"/>
              </a:lnSpc>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Abagabo bonyine ni bo bashobora kurwara kanseri y'amara</a:t>
            </a:r>
            <a:endParaRPr lang="rw-RW" sz="1800" dirty="0"/>
          </a:p>
        </p:txBody>
      </p:sp>
      <p:sp>
        <p:nvSpPr>
          <p:cNvPr id="12" name="Shape 10"/>
          <p:cNvSpPr/>
          <p:nvPr/>
        </p:nvSpPr>
        <p:spPr>
          <a:xfrm>
            <a:off x="548640" y="3776472"/>
            <a:ext cx="7269480" cy="438912"/>
          </a:xfrm>
          <a:prstGeom prst="roundRect">
            <a:avLst>
              <a:gd name="adj" fmla="val 13889"/>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768096" y="3813048"/>
            <a:ext cx="6830568" cy="365760"/>
          </a:xfrm>
          <a:prstGeom prst="rect">
            <a:avLst/>
          </a:prstGeom>
          <a:noFill/>
          <a:ln/>
        </p:spPr>
        <p:txBody>
          <a:bodyPr wrap="square" lIns="0" tIns="0" rIns="0" bIns="0" rtlCol="0" anchor="ctr"/>
          <a:lstStyle/>
          <a:p>
            <a:pPr marL="0" indent="0">
              <a:lnSpc>
                <a:spcPct val="100000"/>
              </a:lnSpc>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Nta kibazo na kimwe gishobora kuboneka mu mara</a:t>
            </a:r>
            <a:endParaRPr lang="rw-RW" sz="1800" dirty="0"/>
          </a:p>
        </p:txBody>
      </p:sp>
      <p:sp>
        <p:nvSpPr>
          <p:cNvPr id="14" name="Shape 12"/>
          <p:cNvSpPr/>
          <p:nvPr/>
        </p:nvSpPr>
        <p:spPr>
          <a:xfrm>
            <a:off x="548640" y="4288536"/>
            <a:ext cx="7269480" cy="713231"/>
          </a:xfrm>
          <a:prstGeom prst="roundRect">
            <a:avLst>
              <a:gd name="adj" fmla="val 13889"/>
            </a:avLst>
          </a:prstGeom>
          <a:solidFill>
            <a:srgbClr val="E9F5EC"/>
          </a:solidFill>
          <a:ln w="12700">
            <a:solidFill>
              <a:srgbClr val="CBDDF3"/>
            </a:solidFill>
            <a:prstDash val="solid"/>
          </a:ln>
        </p:spPr>
        <p:txBody>
          <a:bodyPr/>
          <a:lstStyle/>
          <a:p>
            <a:endParaRPr lang="rw-RW" dirty="0"/>
          </a:p>
        </p:txBody>
      </p:sp>
      <p:sp>
        <p:nvSpPr>
          <p:cNvPr id="15" name="Text 13"/>
          <p:cNvSpPr txBox="1"/>
          <p:nvPr/>
        </p:nvSpPr>
        <p:spPr>
          <a:xfrm>
            <a:off x="768096" y="4325112"/>
            <a:ext cx="6830568" cy="640080"/>
          </a:xfrm>
          <a:prstGeom prst="rect">
            <a:avLst/>
          </a:prstGeom>
          <a:noFill/>
          <a:ln/>
        </p:spPr>
        <p:txBody>
          <a:bodyPr wrap="square" lIns="0" tIns="0" rIns="0" bIns="0" rtlCol="0" anchor="ctr"/>
          <a:lstStyle/>
          <a:p>
            <a:pPr marL="0" indent="0">
              <a:lnSpc>
                <a:spcPct val="100000"/>
              </a:lnSpc>
              <a:buNone/>
            </a:pPr>
            <a:r>
              <a:rPr lang="rw-RW" sz="1800" b="1" dirty="0">
                <a:solidFill>
                  <a:srgbClr val="1B6B41"/>
                </a:solidFill>
                <a:latin typeface="Calibri" pitchFamily="34" charset="0"/>
                <a:ea typeface="Calibri" pitchFamily="34" charset="-122"/>
                <a:cs typeface="Calibri" pitchFamily="34" charset="-120"/>
              </a:rPr>
              <a:t>D. Oya, kanseri y'amara ikiri kare akenshi ntigaragaza ikimenyetso na kimwe ✓</a:t>
            </a:r>
            <a:endParaRPr lang="rw-RW" sz="1800" dirty="0"/>
          </a:p>
        </p:txBody>
      </p:sp>
      <p:sp>
        <p:nvSpPr>
          <p:cNvPr id="16" name="Shape 14"/>
          <p:cNvSpPr/>
          <p:nvPr/>
        </p:nvSpPr>
        <p:spPr>
          <a:xfrm>
            <a:off x="8138160" y="1298448"/>
            <a:ext cx="3504895" cy="4663440"/>
          </a:xfrm>
          <a:prstGeom prst="roundRect">
            <a:avLst>
              <a:gd name="adj" fmla="val 3131"/>
            </a:avLst>
          </a:prstGeom>
          <a:solidFill>
            <a:srgbClr val="E9F5EC"/>
          </a:solidFill>
          <a:ln w="12700">
            <a:solidFill>
              <a:srgbClr val="AFD8BE"/>
            </a:solidFill>
            <a:prstDash val="solid"/>
          </a:ln>
        </p:spPr>
        <p:txBody>
          <a:bodyPr/>
          <a:lstStyle/>
          <a:p>
            <a:endParaRPr lang="rw-RW" dirty="0"/>
          </a:p>
        </p:txBody>
      </p:sp>
      <p:sp>
        <p:nvSpPr>
          <p:cNvPr id="17" name="Text 15"/>
          <p:cNvSpPr txBox="1"/>
          <p:nvPr/>
        </p:nvSpPr>
        <p:spPr>
          <a:xfrm>
            <a:off x="8366760" y="1463040"/>
            <a:ext cx="3047695" cy="365760"/>
          </a:xfrm>
          <a:prstGeom prst="rect">
            <a:avLst/>
          </a:prstGeom>
          <a:noFill/>
          <a:ln/>
        </p:spPr>
        <p:txBody>
          <a:bodyPr wrap="square" lIns="0" tIns="0" rIns="0" bIns="0" rtlCol="0" anchor="ctr">
            <a:normAutofit/>
          </a:bodyPr>
          <a:lstStyle/>
          <a:p>
            <a:pPr marL="0" indent="0">
              <a:buNone/>
            </a:pPr>
            <a:r>
              <a:rPr lang="rw-RW" sz="1700" b="1" dirty="0">
                <a:solidFill>
                  <a:srgbClr val="1B6B41"/>
                </a:solidFill>
                <a:latin typeface="Calibri" pitchFamily="34" charset="0"/>
                <a:ea typeface="Calibri" pitchFamily="34" charset="-122"/>
                <a:cs typeface="Calibri" pitchFamily="34" charset="-120"/>
              </a:rPr>
              <a:t>Igisubizo cyiza: D</a:t>
            </a:r>
            <a:endParaRPr lang="rw-RW" sz="1700" dirty="0"/>
          </a:p>
        </p:txBody>
      </p:sp>
      <p:sp>
        <p:nvSpPr>
          <p:cNvPr id="18" name="Text 16"/>
          <p:cNvSpPr txBox="1"/>
          <p:nvPr/>
        </p:nvSpPr>
        <p:spPr>
          <a:xfrm>
            <a:off x="8366760" y="1920240"/>
            <a:ext cx="3047695" cy="3931920"/>
          </a:xfrm>
          <a:prstGeom prst="rect">
            <a:avLst/>
          </a:prstGeom>
          <a:noFill/>
          <a:ln/>
        </p:spPr>
        <p:txBody>
          <a:bodyPr wrap="square" lIns="0" tIns="0" rIns="0" bIns="0" rtlCol="0" anchor="t"/>
          <a:lstStyle/>
          <a:p>
            <a:pPr marL="0" indent="0">
              <a:lnSpc>
                <a:spcPct val="105000"/>
              </a:lnSpc>
              <a:buNone/>
            </a:pPr>
            <a:r>
              <a:rPr lang="rw-RW" sz="1700" dirty="0">
                <a:solidFill>
                  <a:srgbClr val="17335F"/>
                </a:solidFill>
                <a:latin typeface="Calibri" pitchFamily="34" charset="0"/>
                <a:ea typeface="Calibri" pitchFamily="34" charset="-122"/>
                <a:cs typeface="Calibri" pitchFamily="34" charset="-120"/>
              </a:rPr>
              <a:t>Kanseri y'amara ikunze gutinda kugaragaza ibimenyetso. Umuntu ashobora kumva ameze neza kandi agakomeza kugira kanseri y'amara hakiri kare. Ni yo mpamvu ibimenyetso nk'amaraso mu byavuye mu mubiri bifatwa nk'uburemere ako kanya akigaragara, kandi impamvu umuntu adakwiye gutegereza ko yumva arwaye cyane mbere yo gushaka ubuvuzi.</a:t>
            </a:r>
            <a:endParaRPr lang="rw-RW"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ICYICIRO CYA 1</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Isuzuma bumenyi (1 kuri 3)</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Umujyanama w'ubuzima | Ikigo cy'Igihugu gishinzwe Ubuzima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Q1. Amara manini n'umuyoboro w'ibyavuye mu mubiri (rectum) ni ibice by'ibi bikurikira:</a:t>
            </a:r>
            <a:endParaRPr lang="rw-RW" sz="1700" dirty="0"/>
          </a:p>
        </p:txBody>
      </p:sp>
      <p:sp>
        <p:nvSpPr>
          <p:cNvPr id="6" name="Shape 4"/>
          <p:cNvSpPr/>
          <p:nvPr/>
        </p:nvSpPr>
        <p:spPr>
          <a:xfrm>
            <a:off x="548640" y="1682495"/>
            <a:ext cx="5410048" cy="420623"/>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7" name="Text 5"/>
          <p:cNvSpPr txBox="1"/>
          <p:nvPr/>
        </p:nvSpPr>
        <p:spPr>
          <a:xfrm>
            <a:off x="749808" y="1682495"/>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a:rPr>
              <a:t>Ibihaha</a:t>
            </a:r>
            <a:endParaRPr lang="rw-RW" sz="1800" dirty="0"/>
          </a:p>
        </p:txBody>
      </p:sp>
      <p:sp>
        <p:nvSpPr>
          <p:cNvPr id="8" name="Shape 6"/>
          <p:cNvSpPr/>
          <p:nvPr/>
        </p:nvSpPr>
        <p:spPr>
          <a:xfrm>
            <a:off x="6233008" y="1682495"/>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9" name="Text 7"/>
          <p:cNvSpPr txBox="1"/>
          <p:nvPr/>
        </p:nvSpPr>
        <p:spPr>
          <a:xfrm>
            <a:off x="6434176" y="1682495"/>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pitchFamily="34" charset="0"/>
                <a:ea typeface="Calibri" pitchFamily="34" charset="-122"/>
                <a:cs typeface="Calibri" pitchFamily="34" charset="-120"/>
              </a:rPr>
              <a:t>Impyiko</a:t>
            </a:r>
            <a:endParaRPr lang="rw-RW" sz="1800" dirty="0"/>
          </a:p>
        </p:txBody>
      </p:sp>
      <p:sp>
        <p:nvSpPr>
          <p:cNvPr id="10" name="Shape 8"/>
          <p:cNvSpPr/>
          <p:nvPr/>
        </p:nvSpPr>
        <p:spPr>
          <a:xfrm>
            <a:off x="548640" y="2157984"/>
            <a:ext cx="5410048" cy="420623"/>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11" name="Text 9"/>
          <p:cNvSpPr txBox="1"/>
          <p:nvPr/>
        </p:nvSpPr>
        <p:spPr>
          <a:xfrm>
            <a:off x="749808" y="2157984"/>
            <a:ext cx="5044288" cy="420623"/>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C. Urwungano rw'igogora ry'ibiryo ✓</a:t>
            </a:r>
            <a:endParaRPr lang="rw-RW" sz="1800" dirty="0"/>
          </a:p>
        </p:txBody>
      </p:sp>
      <p:sp>
        <p:nvSpPr>
          <p:cNvPr id="12" name="Shape 10"/>
          <p:cNvSpPr/>
          <p:nvPr/>
        </p:nvSpPr>
        <p:spPr>
          <a:xfrm>
            <a:off x="6233008" y="2157984"/>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15798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Uruhu</a:t>
            </a:r>
            <a:endParaRPr lang="rw-RW" sz="1800" dirty="0"/>
          </a:p>
        </p:txBody>
      </p:sp>
      <p:sp>
        <p:nvSpPr>
          <p:cNvPr id="14" name="Text 12"/>
          <p:cNvSpPr txBox="1"/>
          <p:nvPr/>
        </p:nvSpPr>
        <p:spPr>
          <a:xfrm>
            <a:off x="548640" y="2670048"/>
            <a:ext cx="11094415" cy="585216"/>
          </a:xfrm>
          <a:prstGeom prst="rect">
            <a:avLst/>
          </a:prstGeom>
          <a:noFill/>
          <a:ln/>
        </p:spPr>
        <p:txBody>
          <a:bodyPr wrap="square" lIns="0" tIns="0" rIns="0" bIns="0" rtlCol="0" anchor="t">
            <a:normAutofit/>
          </a:bodyPr>
          <a:lstStyle/>
          <a:p>
            <a:pPr marL="0" indent="0">
              <a:buNone/>
            </a:pPr>
            <a:r>
              <a:rPr lang="rw-RW" sz="1800" b="1" dirty="0">
                <a:solidFill>
                  <a:srgbClr val="1B6B41"/>
                </a:solidFill>
                <a:latin typeface="Calibri" pitchFamily="34" charset="0"/>
                <a:ea typeface="Calibri" pitchFamily="34" charset="-122"/>
                <a:cs typeface="Calibri" pitchFamily="34" charset="-120"/>
              </a:rPr>
              <a:t>Ukuri: C. </a:t>
            </a:r>
            <a:r>
              <a:rPr lang="rw-RW" sz="1800" dirty="0">
                <a:solidFill>
                  <a:srgbClr val="17335F"/>
                </a:solidFill>
                <a:latin typeface="Calibri" pitchFamily="34" charset="0"/>
                <a:ea typeface="Calibri" pitchFamily="34" charset="-122"/>
                <a:cs typeface="Calibri" pitchFamily="34" charset="-120"/>
              </a:rPr>
              <a:t>Amara manini n'umuyoboro w'ibyavuye mu mubiri (rectum) ni ibice bya nyuma by'urwungano rw'igogora ry'ibiryo.</a:t>
            </a:r>
            <a:endParaRPr lang="rw-RW" sz="1150" dirty="0"/>
          </a:p>
        </p:txBody>
      </p:sp>
      <p:sp>
        <p:nvSpPr>
          <p:cNvPr id="15" name="Text 13"/>
          <p:cNvSpPr txBox="1"/>
          <p:nvPr/>
        </p:nvSpPr>
        <p:spPr>
          <a:xfrm>
            <a:off x="548640" y="3547872"/>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Q2. Kanseri y'amara ikunze kugaragara:</a:t>
            </a:r>
            <a:endParaRPr lang="rw-RW" sz="1700" dirty="0"/>
          </a:p>
        </p:txBody>
      </p:sp>
      <p:sp>
        <p:nvSpPr>
          <p:cNvPr id="16" name="Shape 14"/>
          <p:cNvSpPr/>
          <p:nvPr/>
        </p:nvSpPr>
        <p:spPr>
          <a:xfrm>
            <a:off x="548640" y="3931920"/>
            <a:ext cx="5410048" cy="420623"/>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17" name="Text 15"/>
          <p:cNvSpPr txBox="1"/>
          <p:nvPr/>
        </p:nvSpPr>
        <p:spPr>
          <a:xfrm>
            <a:off x="749808" y="3931920"/>
            <a:ext cx="5044288" cy="420623"/>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A. Akenshi nta bimenyetso igaragaza ✓</a:t>
            </a:r>
            <a:endParaRPr lang="rw-RW" sz="1800" dirty="0"/>
          </a:p>
        </p:txBody>
      </p:sp>
      <p:sp>
        <p:nvSpPr>
          <p:cNvPr id="18" name="Shape 16"/>
          <p:cNvSpPr/>
          <p:nvPr/>
        </p:nvSpPr>
        <p:spPr>
          <a:xfrm>
            <a:off x="6233008" y="3931920"/>
            <a:ext cx="5410048" cy="420623"/>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19" name="Text 17"/>
          <p:cNvSpPr txBox="1"/>
          <p:nvPr/>
        </p:nvSpPr>
        <p:spPr>
          <a:xfrm>
            <a:off x="6434176" y="3931920"/>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Biteza ububabare bukomeye icyarimwe</a:t>
            </a:r>
            <a:endParaRPr lang="rw-RW" sz="1800" dirty="0"/>
          </a:p>
        </p:txBody>
      </p:sp>
      <p:sp>
        <p:nvSpPr>
          <p:cNvPr id="20" name="Shape 18"/>
          <p:cNvSpPr/>
          <p:nvPr/>
        </p:nvSpPr>
        <p:spPr>
          <a:xfrm>
            <a:off x="548640" y="4407408"/>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1" name="Text 19"/>
          <p:cNvSpPr txBox="1"/>
          <p:nvPr/>
        </p:nvSpPr>
        <p:spPr>
          <a:xfrm>
            <a:off x="749808" y="4407408"/>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Gutera umuriro buri munsi</a:t>
            </a:r>
            <a:endParaRPr lang="rw-RW" sz="1800" dirty="0"/>
          </a:p>
        </p:txBody>
      </p:sp>
      <p:sp>
        <p:nvSpPr>
          <p:cNvPr id="22" name="Shape 20"/>
          <p:cNvSpPr/>
          <p:nvPr/>
        </p:nvSpPr>
        <p:spPr>
          <a:xfrm>
            <a:off x="6233008" y="4407408"/>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3" name="Text 21"/>
          <p:cNvSpPr txBox="1"/>
          <p:nvPr/>
        </p:nvSpPr>
        <p:spPr>
          <a:xfrm>
            <a:off x="6434176" y="4407408"/>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Gutera gutakaza umusatsi</a:t>
            </a:r>
            <a:endParaRPr lang="rw-RW" sz="1800" dirty="0"/>
          </a:p>
        </p:txBody>
      </p:sp>
      <p:sp>
        <p:nvSpPr>
          <p:cNvPr id="24" name="Text 22"/>
          <p:cNvSpPr txBox="1"/>
          <p:nvPr/>
        </p:nvSpPr>
        <p:spPr>
          <a:xfrm>
            <a:off x="548640" y="4919472"/>
            <a:ext cx="11094415" cy="310896"/>
          </a:xfrm>
          <a:prstGeom prst="rect">
            <a:avLst/>
          </a:prstGeom>
          <a:noFill/>
          <a:ln/>
        </p:spPr>
        <p:txBody>
          <a:bodyPr wrap="square" lIns="0" tIns="0" rIns="0" bIns="0" rtlCol="0" anchor="t"/>
          <a:lstStyle/>
          <a:p>
            <a:pPr marL="0" indent="0">
              <a:buNone/>
            </a:pPr>
            <a:r>
              <a:rPr lang="rw-RW" sz="1800" b="1" dirty="0">
                <a:solidFill>
                  <a:srgbClr val="1B6B41"/>
                </a:solidFill>
                <a:latin typeface="Calibri" pitchFamily="34" charset="0"/>
                <a:ea typeface="Calibri" pitchFamily="34" charset="-122"/>
                <a:cs typeface="Calibri" pitchFamily="34" charset="-120"/>
              </a:rPr>
              <a:t>Ukuri: A. </a:t>
            </a:r>
            <a:r>
              <a:rPr lang="rw-RW" sz="1800" dirty="0">
                <a:solidFill>
                  <a:srgbClr val="17335F"/>
                </a:solidFill>
                <a:latin typeface="Calibri" pitchFamily="34" charset="0"/>
                <a:ea typeface="Calibri" pitchFamily="34" charset="-122"/>
                <a:cs typeface="Calibri" pitchFamily="34" charset="-120"/>
              </a:rPr>
              <a:t>Indwara ya mbere akenshi iba ntabimenyetso igaragaza, bityo umuntu yumva ameze neza.</a:t>
            </a:r>
            <a:endParaRPr lang="rw-RW"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ICYICIRO 1</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Isuzuma bumenyi (2 kuri 3)</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Umukozi w'ubuzima | Ikigo cy'Igihugu cy'Ubuvuzi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Q3. Kanseri y'amara mu Rwanda ni:</a:t>
            </a:r>
            <a:endParaRPr lang="rw-RW" sz="1700" dirty="0"/>
          </a:p>
        </p:txBody>
      </p:sp>
      <p:sp>
        <p:nvSpPr>
          <p:cNvPr id="6" name="Shape 4"/>
          <p:cNvSpPr/>
          <p:nvPr/>
        </p:nvSpPr>
        <p:spPr>
          <a:xfrm>
            <a:off x="548640" y="1682495"/>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Ntiboneka hano</a:t>
            </a:r>
            <a:endParaRPr lang="rw-RW" sz="1800" dirty="0"/>
          </a:p>
        </p:txBody>
      </p:sp>
      <p:sp>
        <p:nvSpPr>
          <p:cNvPr id="8" name="Shape 6"/>
          <p:cNvSpPr/>
          <p:nvPr/>
        </p:nvSpPr>
        <p:spPr>
          <a:xfrm>
            <a:off x="6233008" y="1682495"/>
            <a:ext cx="5410048" cy="420623"/>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9" name="Text 7"/>
          <p:cNvSpPr txBox="1"/>
          <p:nvPr/>
        </p:nvSpPr>
        <p:spPr>
          <a:xfrm>
            <a:off x="6434176" y="1682495"/>
            <a:ext cx="5044288" cy="420623"/>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Iboneka ku bagabo gusa</a:t>
            </a:r>
            <a:endParaRPr lang="rw-RW" sz="1200" dirty="0"/>
          </a:p>
        </p:txBody>
      </p:sp>
      <p:sp>
        <p:nvSpPr>
          <p:cNvPr id="10" name="Shape 8"/>
          <p:cNvSpPr/>
          <p:nvPr/>
        </p:nvSpPr>
        <p:spPr>
          <a:xfrm>
            <a:off x="548640" y="2157984"/>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49808" y="215798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Iboneka ku bana gusa</a:t>
            </a:r>
            <a:endParaRPr lang="rw-RW" sz="1800" dirty="0"/>
          </a:p>
        </p:txBody>
      </p:sp>
      <p:sp>
        <p:nvSpPr>
          <p:cNvPr id="12" name="Shape 10"/>
          <p:cNvSpPr/>
          <p:nvPr/>
        </p:nvSpPr>
        <p:spPr>
          <a:xfrm>
            <a:off x="6233008" y="2157984"/>
            <a:ext cx="5410048" cy="420623"/>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13" name="Text 11"/>
          <p:cNvSpPr txBox="1"/>
          <p:nvPr/>
        </p:nvSpPr>
        <p:spPr>
          <a:xfrm>
            <a:off x="6434176" y="2157984"/>
            <a:ext cx="5044288" cy="420623"/>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D. Imwe mu kanseri zikunze kugaragara cyane ✓</a:t>
            </a:r>
            <a:endParaRPr lang="rw-RW" sz="1800" dirty="0"/>
          </a:p>
        </p:txBody>
      </p:sp>
      <p:sp>
        <p:nvSpPr>
          <p:cNvPr id="14" name="Text 12"/>
          <p:cNvSpPr txBox="1"/>
          <p:nvPr/>
        </p:nvSpPr>
        <p:spPr>
          <a:xfrm>
            <a:off x="548640" y="2670048"/>
            <a:ext cx="11094415" cy="310896"/>
          </a:xfrm>
          <a:prstGeom prst="rect">
            <a:avLst/>
          </a:prstGeom>
          <a:noFill/>
          <a:ln/>
        </p:spPr>
        <p:txBody>
          <a:bodyPr wrap="square" lIns="0" tIns="0" rIns="0" bIns="0" rtlCol="0" anchor="t"/>
          <a:lstStyle/>
          <a:p>
            <a:pPr marL="0" indent="0">
              <a:buNone/>
            </a:pPr>
            <a:r>
              <a:rPr lang="rw-RW" sz="1800" b="1" dirty="0">
                <a:solidFill>
                  <a:srgbClr val="1B6B41"/>
                </a:solidFill>
                <a:latin typeface="Calibri" pitchFamily="34" charset="0"/>
                <a:ea typeface="Calibri" pitchFamily="34" charset="-122"/>
                <a:cs typeface="Calibri" pitchFamily="34" charset="-120"/>
              </a:rPr>
              <a:t>Ni ukuri: D. </a:t>
            </a:r>
            <a:r>
              <a:rPr lang="rw-RW" sz="1800" dirty="0">
                <a:solidFill>
                  <a:srgbClr val="17335F"/>
                </a:solidFill>
                <a:latin typeface="Calibri" pitchFamily="34" charset="0"/>
                <a:ea typeface="Calibri" pitchFamily="34" charset="-122"/>
                <a:cs typeface="Calibri" pitchFamily="34" charset="-120"/>
              </a:rPr>
              <a:t>Iyi kanseri ni imwe mu ndwara zikunze kwibasira u Rwanda, ku bagabo no ku bagore.</a:t>
            </a:r>
            <a:endParaRPr lang="rw-RW" sz="1800" dirty="0"/>
          </a:p>
        </p:txBody>
      </p:sp>
      <p:sp>
        <p:nvSpPr>
          <p:cNvPr id="15" name="Text 13"/>
          <p:cNvSpPr txBox="1"/>
          <p:nvPr/>
        </p:nvSpPr>
        <p:spPr>
          <a:xfrm>
            <a:off x="548640" y="3273552"/>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Q4. Akantu gato kameze (polyp) mu mara:</a:t>
            </a:r>
            <a:endParaRPr lang="rw-RW" sz="1700" dirty="0"/>
          </a:p>
        </p:txBody>
      </p:sp>
      <p:sp>
        <p:nvSpPr>
          <p:cNvPr id="16" name="Shape 14"/>
          <p:cNvSpPr/>
          <p:nvPr/>
        </p:nvSpPr>
        <p:spPr>
          <a:xfrm>
            <a:off x="548640" y="3657600"/>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7" name="Text 15"/>
          <p:cNvSpPr txBox="1"/>
          <p:nvPr/>
        </p:nvSpPr>
        <p:spPr>
          <a:xfrm>
            <a:off x="749808" y="3657600"/>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Buri gihe ni kanseri</a:t>
            </a:r>
            <a:endParaRPr lang="rw-RW" sz="1800" dirty="0"/>
          </a:p>
        </p:txBody>
      </p:sp>
      <p:sp>
        <p:nvSpPr>
          <p:cNvPr id="18" name="Shape 16"/>
          <p:cNvSpPr/>
          <p:nvPr/>
        </p:nvSpPr>
        <p:spPr>
          <a:xfrm>
            <a:off x="6233008" y="3657600"/>
            <a:ext cx="5410048" cy="694944"/>
          </a:xfrm>
          <a:prstGeom prst="roundRect">
            <a:avLst>
              <a:gd name="adj" fmla="val 19231"/>
            </a:avLst>
          </a:prstGeom>
          <a:solidFill>
            <a:srgbClr val="E9F5EC"/>
          </a:solidFill>
          <a:ln w="12700">
            <a:solidFill>
              <a:srgbClr val="AFD8BE"/>
            </a:solidFill>
            <a:prstDash val="solid"/>
          </a:ln>
        </p:spPr>
        <p:txBody>
          <a:bodyPr/>
          <a:lstStyle/>
          <a:p>
            <a:endParaRPr lang="rw-RW" dirty="0"/>
          </a:p>
        </p:txBody>
      </p:sp>
      <p:sp>
        <p:nvSpPr>
          <p:cNvPr id="19" name="Text 17"/>
          <p:cNvSpPr txBox="1"/>
          <p:nvPr/>
        </p:nvSpPr>
        <p:spPr>
          <a:xfrm>
            <a:off x="6434176" y="3657600"/>
            <a:ext cx="5044288" cy="694944"/>
          </a:xfrm>
          <a:prstGeom prst="rect">
            <a:avLst/>
          </a:prstGeom>
          <a:noFill/>
          <a:ln/>
        </p:spPr>
        <p:txBody>
          <a:bodyPr wrap="square" lIns="0" tIns="0" rIns="0" bIns="0" rtlCol="0" anchor="ctr">
            <a:normAutofit/>
          </a:bodyPr>
          <a:lstStyle/>
          <a:p>
            <a:pPr marL="0" indent="0">
              <a:buNone/>
            </a:pPr>
            <a:r>
              <a:rPr lang="rw-RW" sz="1800" b="1" dirty="0">
                <a:solidFill>
                  <a:srgbClr val="1B6B41"/>
                </a:solidFill>
                <a:latin typeface="Calibri" pitchFamily="34" charset="0"/>
                <a:ea typeface="Calibri" pitchFamily="34" charset="-122"/>
                <a:cs typeface="Calibri" pitchFamily="34" charset="-120"/>
              </a:rPr>
              <a:t>B. Akenshi ntabwo ari kanseri, ariko hari ubwoko bushobora guhinduka buhoro buhoro ✓</a:t>
            </a:r>
            <a:endParaRPr lang="rw-RW" sz="1200" dirty="0"/>
          </a:p>
        </p:txBody>
      </p:sp>
      <p:sp>
        <p:nvSpPr>
          <p:cNvPr id="20" name="Shape 18"/>
          <p:cNvSpPr/>
          <p:nvPr/>
        </p:nvSpPr>
        <p:spPr>
          <a:xfrm>
            <a:off x="548640" y="4407408"/>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1" name="Text 19"/>
          <p:cNvSpPr txBox="1"/>
          <p:nvPr/>
        </p:nvSpPr>
        <p:spPr>
          <a:xfrm>
            <a:off x="749808" y="4407408"/>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Ni hemorroïde</a:t>
            </a:r>
            <a:endParaRPr lang="rw-RW" sz="1800" dirty="0"/>
          </a:p>
        </p:txBody>
      </p:sp>
      <p:sp>
        <p:nvSpPr>
          <p:cNvPr id="22" name="Shape 20"/>
          <p:cNvSpPr/>
          <p:nvPr/>
        </p:nvSpPr>
        <p:spPr>
          <a:xfrm>
            <a:off x="6233008" y="4407408"/>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3" name="Text 21"/>
          <p:cNvSpPr txBox="1"/>
          <p:nvPr/>
        </p:nvSpPr>
        <p:spPr>
          <a:xfrm>
            <a:off x="6434176" y="4407408"/>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Ntabwo na rimwe kavanwaho</a:t>
            </a:r>
            <a:endParaRPr lang="rw-RW" sz="1800" dirty="0"/>
          </a:p>
        </p:txBody>
      </p:sp>
      <p:sp>
        <p:nvSpPr>
          <p:cNvPr id="24" name="Text 22"/>
          <p:cNvSpPr txBox="1"/>
          <p:nvPr/>
        </p:nvSpPr>
        <p:spPr>
          <a:xfrm>
            <a:off x="548640" y="4919472"/>
            <a:ext cx="11094415" cy="585216"/>
          </a:xfrm>
          <a:prstGeom prst="rect">
            <a:avLst/>
          </a:prstGeom>
          <a:noFill/>
          <a:ln/>
        </p:spPr>
        <p:txBody>
          <a:bodyPr wrap="square" lIns="0" tIns="0" rIns="0" bIns="0" rtlCol="0" anchor="t">
            <a:normAutofit/>
          </a:bodyPr>
          <a:lstStyle/>
          <a:p>
            <a:pPr marL="0" indent="0">
              <a:buNone/>
            </a:pPr>
            <a:r>
              <a:rPr lang="rw-RW" sz="1800" b="1" dirty="0">
                <a:solidFill>
                  <a:srgbClr val="1B6B41"/>
                </a:solidFill>
                <a:latin typeface="Calibri" pitchFamily="34" charset="0"/>
                <a:ea typeface="Calibri" pitchFamily="34" charset="-122"/>
                <a:cs typeface="Calibri" pitchFamily="34" charset="-120"/>
              </a:rPr>
              <a:t>Ukuri: B. </a:t>
            </a:r>
            <a:r>
              <a:rPr lang="rw-RW" sz="1800" b="0" dirty="0">
                <a:solidFill>
                  <a:srgbClr val="17335F"/>
                </a:solidFill>
                <a:latin typeface="Calibri"/>
              </a:rPr>
              <a:t>Uturegeya twinshi ntiduhinduka kanseri. Gukuraho utwo tuntu bishobora kurinda kanseri zimwe na zimwe.</a:t>
            </a:r>
            <a:endParaRPr lang="rw-RW"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1</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Isuzuma bumenyi (3 kuri 3)</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Ikibazo cya 5. Kanseri y’amara ishobora gufata:</a:t>
            </a:r>
            <a:endParaRPr lang="rw-RW" sz="1700" dirty="0"/>
          </a:p>
        </p:txBody>
      </p:sp>
      <p:sp>
        <p:nvSpPr>
          <p:cNvPr id="6" name="Shape 4"/>
          <p:cNvSpPr/>
          <p:nvPr/>
        </p:nvSpPr>
        <p:spPr>
          <a:xfrm>
            <a:off x="548640" y="1682495"/>
            <a:ext cx="5410048" cy="420623"/>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420623"/>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A. Abagabo n’abagore ✓</a:t>
            </a:r>
            <a:endParaRPr lang="rw-RW" sz="1800" dirty="0"/>
          </a:p>
        </p:txBody>
      </p:sp>
      <p:sp>
        <p:nvSpPr>
          <p:cNvPr id="8" name="Shape 6"/>
          <p:cNvSpPr/>
          <p:nvPr/>
        </p:nvSpPr>
        <p:spPr>
          <a:xfrm>
            <a:off x="6233008" y="1682495"/>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9" name="Text 7"/>
          <p:cNvSpPr txBox="1"/>
          <p:nvPr/>
        </p:nvSpPr>
        <p:spPr>
          <a:xfrm>
            <a:off x="6434176" y="1682495"/>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pitchFamily="34" charset="0"/>
                <a:ea typeface="Calibri" pitchFamily="34" charset="-122"/>
                <a:cs typeface="Calibri" pitchFamily="34" charset="-120"/>
              </a:rPr>
              <a:t>Abagabo gusa</a:t>
            </a:r>
            <a:endParaRPr lang="rw-RW" sz="1800" dirty="0"/>
          </a:p>
        </p:txBody>
      </p:sp>
      <p:sp>
        <p:nvSpPr>
          <p:cNvPr id="10" name="Shape 8"/>
          <p:cNvSpPr/>
          <p:nvPr/>
        </p:nvSpPr>
        <p:spPr>
          <a:xfrm>
            <a:off x="548640" y="2157984"/>
            <a:ext cx="5410048" cy="420623"/>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11" name="Text 9"/>
          <p:cNvSpPr txBox="1"/>
          <p:nvPr/>
        </p:nvSpPr>
        <p:spPr>
          <a:xfrm>
            <a:off x="749808" y="215798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a:rPr>
              <a:t>Abagore gusa</a:t>
            </a:r>
            <a:endParaRPr lang="rw-RW" sz="1800" dirty="0"/>
          </a:p>
        </p:txBody>
      </p:sp>
      <p:sp>
        <p:nvSpPr>
          <p:cNvPr id="12" name="Shape 10"/>
          <p:cNvSpPr/>
          <p:nvPr/>
        </p:nvSpPr>
        <p:spPr>
          <a:xfrm>
            <a:off x="6233008" y="2157984"/>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15798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Nta muntu n'umwe mu Rwanda</a:t>
            </a:r>
            <a:endParaRPr lang="rw-RW" sz="1800" dirty="0"/>
          </a:p>
        </p:txBody>
      </p:sp>
      <p:sp>
        <p:nvSpPr>
          <p:cNvPr id="14" name="Text 12"/>
          <p:cNvSpPr txBox="1"/>
          <p:nvPr/>
        </p:nvSpPr>
        <p:spPr>
          <a:xfrm>
            <a:off x="548640" y="2670048"/>
            <a:ext cx="11094415" cy="585216"/>
          </a:xfrm>
          <a:prstGeom prst="rect">
            <a:avLst/>
          </a:prstGeom>
          <a:noFill/>
          <a:ln/>
        </p:spPr>
        <p:txBody>
          <a:bodyPr wrap="square" lIns="0" tIns="0" rIns="0" bIns="0" rtlCol="0" anchor="t">
            <a:normAutofit/>
          </a:bodyPr>
          <a:lstStyle/>
          <a:p>
            <a:pPr marL="0" indent="0">
              <a:buNone/>
            </a:pPr>
            <a:r>
              <a:rPr lang="rw-RW" sz="1800" b="1" dirty="0">
                <a:solidFill>
                  <a:srgbClr val="1B6B41"/>
                </a:solidFill>
                <a:latin typeface="Calibri" pitchFamily="34" charset="0"/>
                <a:ea typeface="Calibri" pitchFamily="34" charset="-122"/>
                <a:cs typeface="Calibri" pitchFamily="34" charset="-120"/>
              </a:rPr>
              <a:t>Ukuri: A. </a:t>
            </a:r>
            <a:r>
              <a:rPr lang="rw-RW" sz="1800" dirty="0">
                <a:solidFill>
                  <a:srgbClr val="17335F"/>
                </a:solidFill>
                <a:latin typeface="Calibri" pitchFamily="34" charset="0"/>
                <a:ea typeface="Calibri" pitchFamily="34" charset="-122"/>
                <a:cs typeface="Calibri" pitchFamily="34" charset="-120"/>
              </a:rPr>
              <a:t>Abagabo n'abagore bashobora kurwara kanseri y'amara, kandi ibyago yiyongera uko imyaka igenda yiyongera.</a:t>
            </a:r>
            <a:endParaRPr lang="rw-RW"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ISOMO RYA 1</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Kwibutsa ku isomo</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Ikigo cy'Igihugu cy'Ubuvuzi (Rwanda Biomedical Centre)</a:t>
            </a:r>
            <a:endParaRPr lang="rw-RW" sz="1100" dirty="0"/>
          </a:p>
        </p:txBody>
      </p:sp>
      <p:sp>
        <p:nvSpPr>
          <p:cNvPr id="5" name="Text 3"/>
          <p:cNvSpPr txBox="1"/>
          <p:nvPr/>
        </p:nvSpPr>
        <p:spPr>
          <a:xfrm>
            <a:off x="548640" y="1280160"/>
            <a:ext cx="11094415" cy="457200"/>
          </a:xfrm>
          <a:prstGeom prst="rect">
            <a:avLst/>
          </a:prstGeom>
          <a:noFill/>
          <a:ln/>
        </p:spPr>
        <p:txBody>
          <a:bodyPr wrap="square" lIns="0" tIns="0" rIns="0" bIns="0" rtlCol="0" anchor="ctr">
            <a:normAutofit/>
          </a:bodyPr>
          <a:lstStyle/>
          <a:p>
            <a:pPr marL="0" indent="0">
              <a:buNone/>
            </a:pPr>
            <a:r>
              <a:rPr lang="rw-RW" sz="1150" i="1" dirty="0">
                <a:solidFill>
                  <a:srgbClr val="6B7A90"/>
                </a:solidFill>
                <a:latin typeface="Calibri" pitchFamily="34" charset="0"/>
                <a:ea typeface="Calibri" pitchFamily="34" charset="-122"/>
                <a:cs typeface="Calibri" pitchFamily="34" charset="-120"/>
              </a:rPr>
              <a:t>Andika igisubizo cyawe mu kazu k'inyandiko. Nta gisubizo kimwe gusa cy'ukuri gihari. Ibi bibazo ni ukugira ngo wiyigishe ubwawe kandi ubiganireho n'abandi. Ntibiterwa amanota.</a:t>
            </a:r>
            <a:endParaRPr lang="rw-RW" sz="1150" dirty="0"/>
          </a:p>
        </p:txBody>
      </p:sp>
      <p:sp>
        <p:nvSpPr>
          <p:cNvPr id="6" name="Shape 4"/>
          <p:cNvSpPr/>
          <p:nvPr/>
        </p:nvSpPr>
        <p:spPr>
          <a:xfrm>
            <a:off x="548640" y="1920240"/>
            <a:ext cx="11094415" cy="1051560"/>
          </a:xfrm>
          <a:prstGeom prst="roundRect">
            <a:avLst>
              <a:gd name="adj" fmla="val 8696"/>
            </a:avLst>
          </a:prstGeom>
          <a:solidFill>
            <a:srgbClr val="F2F7FD"/>
          </a:solidFill>
          <a:ln w="12700">
            <a:solidFill>
              <a:srgbClr val="CBDDF3"/>
            </a:solidFill>
            <a:prstDash val="solid"/>
          </a:ln>
        </p:spPr>
        <p:txBody>
          <a:bodyPr/>
          <a:lstStyle/>
          <a:p>
            <a:endParaRPr lang="rw-RW" dirty="0"/>
          </a:p>
        </p:txBody>
      </p:sp>
      <p:sp>
        <p:nvSpPr>
          <p:cNvPr id="7" name="Shape 5"/>
          <p:cNvSpPr/>
          <p:nvPr/>
        </p:nvSpPr>
        <p:spPr>
          <a:xfrm>
            <a:off x="777240" y="2221992"/>
            <a:ext cx="438912" cy="438912"/>
          </a:xfrm>
          <a:prstGeom prst="ellipse">
            <a:avLst/>
          </a:prstGeom>
          <a:solidFill>
            <a:srgbClr val="12305B"/>
          </a:solidFill>
          <a:ln/>
        </p:spPr>
        <p:txBody>
          <a:bodyPr/>
          <a:lstStyle/>
          <a:p>
            <a:endParaRPr lang="rw-RW" dirty="0"/>
          </a:p>
        </p:txBody>
      </p:sp>
      <p:sp>
        <p:nvSpPr>
          <p:cNvPr id="8" name="Text 6"/>
          <p:cNvSpPr txBox="1"/>
          <p:nvPr/>
        </p:nvSpPr>
        <p:spPr>
          <a:xfrm>
            <a:off x="777240" y="2221992"/>
            <a:ext cx="438912" cy="438912"/>
          </a:xfrm>
          <a:prstGeom prst="rect">
            <a:avLst/>
          </a:prstGeom>
          <a:noFill/>
          <a:ln/>
        </p:spPr>
        <p:txBody>
          <a:bodyPr wrap="square" lIns="0" tIns="0" rIns="0" bIns="0" rtlCol="0" anchor="ctr"/>
          <a:lstStyle/>
          <a:p>
            <a:pPr marL="0" indent="0" algn="ctr">
              <a:buNone/>
            </a:pPr>
            <a:r>
              <a:rPr lang="rw-RW" sz="1700" b="1" dirty="0">
                <a:solidFill>
                  <a:srgbClr val="FFFFFF"/>
                </a:solidFill>
                <a:latin typeface="Calibri" pitchFamily="34" charset="0"/>
                <a:ea typeface="Calibri" pitchFamily="34" charset="-122"/>
                <a:cs typeface="Calibri" pitchFamily="34" charset="-120"/>
              </a:rPr>
              <a:t>1</a:t>
            </a:r>
            <a:endParaRPr lang="rw-RW" sz="1700" dirty="0"/>
          </a:p>
        </p:txBody>
      </p:sp>
      <p:sp>
        <p:nvSpPr>
          <p:cNvPr id="9" name="Text 7"/>
          <p:cNvSpPr txBox="1"/>
          <p:nvPr/>
        </p:nvSpPr>
        <p:spPr>
          <a:xfrm>
            <a:off x="1417320" y="2057400"/>
            <a:ext cx="9905695" cy="777240"/>
          </a:xfrm>
          <a:prstGeom prst="rect">
            <a:avLst/>
          </a:prstGeom>
          <a:noFill/>
          <a:ln/>
        </p:spPr>
        <p:txBody>
          <a:bodyPr wrap="square" lIns="0" tIns="0" rIns="0" bIns="0" rtlCol="0" anchor="ctr"/>
          <a:lstStyle/>
          <a:p>
            <a:pPr marL="0" indent="0">
              <a:lnSpc>
                <a:spcPct val="105000"/>
              </a:lnSpc>
              <a:buNone/>
            </a:pPr>
            <a:r>
              <a:rPr lang="rw-RW" sz="1900" dirty="0">
                <a:solidFill>
                  <a:srgbClr val="17335F"/>
                </a:solidFill>
                <a:latin typeface="Calibri" pitchFamily="34" charset="0"/>
                <a:ea typeface="Calibri" pitchFamily="34" charset="-122"/>
                <a:cs typeface="Calibri" pitchFamily="34" charset="-120"/>
              </a:rPr>
              <a:t>Ni gute wabwira umuturanyi wawe aho amara manini n'umuyoboro w'ibyavuye mu mubiri (rectum) biherereye?</a:t>
            </a:r>
            <a:endParaRPr lang="rw-RW" sz="1900" dirty="0"/>
          </a:p>
        </p:txBody>
      </p:sp>
      <p:sp>
        <p:nvSpPr>
          <p:cNvPr id="10" name="Shape 8"/>
          <p:cNvSpPr/>
          <p:nvPr/>
        </p:nvSpPr>
        <p:spPr>
          <a:xfrm>
            <a:off x="548640" y="3154680"/>
            <a:ext cx="11094415" cy="1051560"/>
          </a:xfrm>
          <a:prstGeom prst="roundRect">
            <a:avLst>
              <a:gd name="adj" fmla="val 8696"/>
            </a:avLst>
          </a:prstGeom>
          <a:solidFill>
            <a:srgbClr val="F2F7FD"/>
          </a:solidFill>
          <a:ln w="12700">
            <a:solidFill>
              <a:srgbClr val="CBDDF3"/>
            </a:solidFill>
            <a:prstDash val="solid"/>
          </a:ln>
        </p:spPr>
        <p:txBody>
          <a:bodyPr/>
          <a:lstStyle/>
          <a:p>
            <a:endParaRPr lang="rw-RW" dirty="0"/>
          </a:p>
        </p:txBody>
      </p:sp>
      <p:sp>
        <p:nvSpPr>
          <p:cNvPr id="11" name="Shape 9"/>
          <p:cNvSpPr/>
          <p:nvPr/>
        </p:nvSpPr>
        <p:spPr>
          <a:xfrm>
            <a:off x="777240" y="3456432"/>
            <a:ext cx="438912" cy="438912"/>
          </a:xfrm>
          <a:prstGeom prst="ellipse">
            <a:avLst/>
          </a:prstGeom>
          <a:solidFill>
            <a:srgbClr val="12305B"/>
          </a:solidFill>
          <a:ln/>
        </p:spPr>
        <p:txBody>
          <a:bodyPr/>
          <a:lstStyle/>
          <a:p>
            <a:endParaRPr lang="rw-RW" dirty="0"/>
          </a:p>
        </p:txBody>
      </p:sp>
      <p:sp>
        <p:nvSpPr>
          <p:cNvPr id="12" name="Text 10"/>
          <p:cNvSpPr txBox="1"/>
          <p:nvPr/>
        </p:nvSpPr>
        <p:spPr>
          <a:xfrm>
            <a:off x="777240" y="3456432"/>
            <a:ext cx="438912" cy="438912"/>
          </a:xfrm>
          <a:prstGeom prst="rect">
            <a:avLst/>
          </a:prstGeom>
          <a:noFill/>
          <a:ln/>
        </p:spPr>
        <p:txBody>
          <a:bodyPr wrap="square" lIns="0" tIns="0" rIns="0" bIns="0" rtlCol="0" anchor="ctr"/>
          <a:lstStyle/>
          <a:p>
            <a:pPr marL="0" indent="0" algn="ctr">
              <a:buNone/>
            </a:pPr>
            <a:r>
              <a:rPr lang="rw-RW" sz="1700" b="1" dirty="0">
                <a:solidFill>
                  <a:srgbClr val="FFFFFF"/>
                </a:solidFill>
                <a:latin typeface="Calibri" pitchFamily="34" charset="0"/>
                <a:ea typeface="Calibri" pitchFamily="34" charset="-122"/>
                <a:cs typeface="Calibri" pitchFamily="34" charset="-120"/>
              </a:rPr>
              <a:t>2</a:t>
            </a:r>
            <a:endParaRPr lang="rw-RW" sz="1700" dirty="0"/>
          </a:p>
        </p:txBody>
      </p:sp>
      <p:sp>
        <p:nvSpPr>
          <p:cNvPr id="13" name="Text 11"/>
          <p:cNvSpPr txBox="1"/>
          <p:nvPr/>
        </p:nvSpPr>
        <p:spPr>
          <a:xfrm>
            <a:off x="1417320" y="3291840"/>
            <a:ext cx="9905695" cy="777240"/>
          </a:xfrm>
          <a:prstGeom prst="rect">
            <a:avLst/>
          </a:prstGeom>
          <a:noFill/>
          <a:ln/>
        </p:spPr>
        <p:txBody>
          <a:bodyPr wrap="square" lIns="0" tIns="0" rIns="0" bIns="0" rtlCol="0" anchor="ctr"/>
          <a:lstStyle/>
          <a:p>
            <a:pPr marL="0" indent="0">
              <a:lnSpc>
                <a:spcPct val="105000"/>
              </a:lnSpc>
              <a:buNone/>
            </a:pPr>
            <a:r>
              <a:rPr lang="rw-RW" sz="1900" dirty="0">
                <a:solidFill>
                  <a:srgbClr val="17335F"/>
                </a:solidFill>
                <a:latin typeface="Calibri" pitchFamily="34" charset="0"/>
                <a:ea typeface="Calibri" pitchFamily="34" charset="-122"/>
                <a:cs typeface="Calibri" pitchFamily="34" charset="-120"/>
              </a:rPr>
              <a:t>Ni ikihe kintu ku ndwara ya kanseri y'amara mu Rwanda wifuza ko abantu bo mu gace utuye bamenya?</a:t>
            </a:r>
            <a:endParaRPr lang="rw-RW" sz="1900" dirty="0"/>
          </a:p>
        </p:txBody>
      </p:sp>
      <p:sp>
        <p:nvSpPr>
          <p:cNvPr id="14" name="Shape 12"/>
          <p:cNvSpPr/>
          <p:nvPr/>
        </p:nvSpPr>
        <p:spPr>
          <a:xfrm>
            <a:off x="548640" y="4389120"/>
            <a:ext cx="11094415" cy="1051560"/>
          </a:xfrm>
          <a:prstGeom prst="roundRect">
            <a:avLst>
              <a:gd name="adj" fmla="val 8696"/>
            </a:avLst>
          </a:prstGeom>
          <a:solidFill>
            <a:srgbClr val="F2F7FD"/>
          </a:solidFill>
          <a:ln w="12700">
            <a:solidFill>
              <a:srgbClr val="CBDDF3"/>
            </a:solidFill>
            <a:prstDash val="solid"/>
          </a:ln>
        </p:spPr>
        <p:txBody>
          <a:bodyPr/>
          <a:lstStyle/>
          <a:p>
            <a:endParaRPr lang="rw-RW" dirty="0"/>
          </a:p>
        </p:txBody>
      </p:sp>
      <p:sp>
        <p:nvSpPr>
          <p:cNvPr id="15" name="Shape 13"/>
          <p:cNvSpPr/>
          <p:nvPr/>
        </p:nvSpPr>
        <p:spPr>
          <a:xfrm>
            <a:off x="777240" y="4690872"/>
            <a:ext cx="438912" cy="438912"/>
          </a:xfrm>
          <a:prstGeom prst="ellipse">
            <a:avLst/>
          </a:prstGeom>
          <a:solidFill>
            <a:srgbClr val="12305B"/>
          </a:solidFill>
          <a:ln/>
        </p:spPr>
        <p:txBody>
          <a:bodyPr/>
          <a:lstStyle/>
          <a:p>
            <a:endParaRPr lang="rw-RW" dirty="0"/>
          </a:p>
        </p:txBody>
      </p:sp>
      <p:sp>
        <p:nvSpPr>
          <p:cNvPr id="16" name="Text 14"/>
          <p:cNvSpPr txBox="1"/>
          <p:nvPr/>
        </p:nvSpPr>
        <p:spPr>
          <a:xfrm>
            <a:off x="777240" y="4690872"/>
            <a:ext cx="438912" cy="438912"/>
          </a:xfrm>
          <a:prstGeom prst="rect">
            <a:avLst/>
          </a:prstGeom>
          <a:noFill/>
          <a:ln/>
        </p:spPr>
        <p:txBody>
          <a:bodyPr wrap="square" lIns="0" tIns="0" rIns="0" bIns="0" rtlCol="0" anchor="ctr"/>
          <a:lstStyle/>
          <a:p>
            <a:pPr marL="0" indent="0" algn="ctr">
              <a:buNone/>
            </a:pPr>
            <a:r>
              <a:rPr lang="rw-RW" sz="1700" b="1" dirty="0">
                <a:solidFill>
                  <a:srgbClr val="FFFFFF"/>
                </a:solidFill>
                <a:latin typeface="Calibri" pitchFamily="34" charset="0"/>
                <a:ea typeface="Calibri" pitchFamily="34" charset="-122"/>
                <a:cs typeface="Calibri" pitchFamily="34" charset="-120"/>
              </a:rPr>
              <a:t>3</a:t>
            </a:r>
            <a:endParaRPr lang="rw-RW" sz="1700" dirty="0"/>
          </a:p>
        </p:txBody>
      </p:sp>
      <p:sp>
        <p:nvSpPr>
          <p:cNvPr id="17" name="Text 15"/>
          <p:cNvSpPr txBox="1"/>
          <p:nvPr/>
        </p:nvSpPr>
        <p:spPr>
          <a:xfrm>
            <a:off x="1417320" y="4526280"/>
            <a:ext cx="9905695" cy="777240"/>
          </a:xfrm>
          <a:prstGeom prst="rect">
            <a:avLst/>
          </a:prstGeom>
          <a:noFill/>
          <a:ln/>
        </p:spPr>
        <p:txBody>
          <a:bodyPr wrap="square" lIns="0" tIns="0" rIns="0" bIns="0" rtlCol="0" anchor="ctr"/>
          <a:lstStyle/>
          <a:p>
            <a:pPr marL="0" indent="0">
              <a:lnSpc>
                <a:spcPct val="105000"/>
              </a:lnSpc>
              <a:buNone/>
            </a:pPr>
            <a:r>
              <a:rPr lang="rw-RW" sz="1900" dirty="0">
                <a:solidFill>
                  <a:srgbClr val="17335F"/>
                </a:solidFill>
                <a:latin typeface="Calibri" pitchFamily="34" charset="0"/>
                <a:ea typeface="Calibri" pitchFamily="34" charset="-122"/>
                <a:cs typeface="Calibri" pitchFamily="34" charset="-120"/>
              </a:rPr>
              <a:t>Ni gute wasubiza umuntu uvuga ati "ndumva meze neza, ku buryo ntashobora kurwara kanseri"?</a:t>
            </a:r>
            <a:endParaRPr lang="rw-RW" sz="1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12305B"/>
        </a:solidFill>
        <a:effectLst/>
      </p:bgPr>
    </p:bg>
    <p:spTree>
      <p:nvGrpSpPr>
        <p:cNvPr id="1" name=""/>
        <p:cNvGrpSpPr/>
        <p:nvPr/>
      </p:nvGrpSpPr>
      <p:grpSpPr>
        <a:xfrm>
          <a:off x="0" y="0"/>
          <a:ext cx="0" cy="0"/>
          <a:chOff x="0" y="0"/>
          <a:chExt cx="0" cy="0"/>
        </a:xfrm>
      </p:grpSpPr>
      <p:sp>
        <p:nvSpPr>
          <p:cNvPr id="2" name="Text 0"/>
          <p:cNvSpPr txBox="1"/>
          <p:nvPr/>
        </p:nvSpPr>
        <p:spPr>
          <a:xfrm>
            <a:off x="548640" y="1371600"/>
            <a:ext cx="1828800" cy="1097280"/>
          </a:xfrm>
          <a:prstGeom prst="rect">
            <a:avLst/>
          </a:prstGeom>
          <a:noFill/>
          <a:ln/>
        </p:spPr>
        <p:txBody>
          <a:bodyPr wrap="square" lIns="0" tIns="0" rIns="0" bIns="0" rtlCol="0" anchor="ctr">
            <a:normAutofit/>
          </a:bodyPr>
          <a:lstStyle/>
          <a:p>
            <a:pPr marL="0" indent="0">
              <a:buNone/>
            </a:pPr>
            <a:r>
              <a:rPr lang="rw-RW" sz="6500" b="1" dirty="0">
                <a:solidFill>
                  <a:srgbClr val="3E6FA8"/>
                </a:solidFill>
                <a:latin typeface="Cambria" pitchFamily="34" charset="0"/>
                <a:ea typeface="Cambria" pitchFamily="34" charset="-122"/>
                <a:cs typeface="Cambria" pitchFamily="34" charset="-120"/>
              </a:rPr>
              <a:t>2</a:t>
            </a:r>
            <a:endParaRPr lang="rw-RW" sz="6500" dirty="0"/>
          </a:p>
        </p:txBody>
      </p:sp>
      <p:sp>
        <p:nvSpPr>
          <p:cNvPr id="3" name="Text 1"/>
          <p:cNvSpPr txBox="1"/>
          <p:nvPr/>
        </p:nvSpPr>
        <p:spPr>
          <a:xfrm>
            <a:off x="548640" y="2606040"/>
            <a:ext cx="11094415" cy="274320"/>
          </a:xfrm>
          <a:prstGeom prst="rect">
            <a:avLst/>
          </a:prstGeom>
          <a:noFill/>
          <a:ln/>
        </p:spPr>
        <p:txBody>
          <a:bodyPr wrap="square" lIns="0" tIns="0" rIns="0" bIns="0" rtlCol="0" anchor="ctr">
            <a:normAutofit/>
          </a:bodyPr>
          <a:lstStyle/>
          <a:p>
            <a:pPr marL="0" indent="0">
              <a:buNone/>
            </a:pPr>
            <a:r>
              <a:rPr lang="rw-RW" sz="1100" b="1" kern="0" spc="300" dirty="0">
                <a:solidFill>
                  <a:srgbClr val="A9C4E8"/>
                </a:solidFill>
                <a:latin typeface="Calibri" pitchFamily="34" charset="0"/>
                <a:ea typeface="Calibri" pitchFamily="34" charset="-122"/>
                <a:cs typeface="Calibri" pitchFamily="34" charset="-120"/>
              </a:rPr>
              <a:t>IGICE CYA 2</a:t>
            </a:r>
            <a:endParaRPr lang="rw-RW" sz="1100" dirty="0"/>
          </a:p>
        </p:txBody>
      </p:sp>
      <p:sp>
        <p:nvSpPr>
          <p:cNvPr id="4" name="Text 2"/>
          <p:cNvSpPr txBox="1"/>
          <p:nvPr/>
        </p:nvSpPr>
        <p:spPr>
          <a:xfrm>
            <a:off x="548640" y="2926080"/>
            <a:ext cx="9692640" cy="1005840"/>
          </a:xfrm>
          <a:prstGeom prst="rect">
            <a:avLst/>
          </a:prstGeom>
          <a:noFill/>
          <a:ln/>
        </p:spPr>
        <p:txBody>
          <a:bodyPr wrap="square" lIns="0" tIns="0" rIns="0" bIns="0" rtlCol="0" anchor="ctr"/>
          <a:lstStyle/>
          <a:p>
            <a:pPr marL="0" indent="0">
              <a:buNone/>
            </a:pPr>
            <a:r>
              <a:rPr lang="rw-RW" sz="4000" b="1" dirty="0">
                <a:solidFill>
                  <a:srgbClr val="FFFFFF"/>
                </a:solidFill>
                <a:latin typeface="Cambria" pitchFamily="34" charset="0"/>
                <a:ea typeface="Cambria" pitchFamily="34" charset="-122"/>
                <a:cs typeface="Cambria" pitchFamily="34" charset="-120"/>
              </a:rPr>
              <a:t>Ibyo ugomba kwitondera</a:t>
            </a:r>
            <a:endParaRPr lang="rw-RW" sz="4000" dirty="0"/>
          </a:p>
        </p:txBody>
      </p:sp>
      <p:sp>
        <p:nvSpPr>
          <p:cNvPr id="5" name="Text 3"/>
          <p:cNvSpPr txBox="1"/>
          <p:nvPr/>
        </p:nvSpPr>
        <p:spPr>
          <a:xfrm>
            <a:off x="548640" y="4069080"/>
            <a:ext cx="9326880" cy="822960"/>
          </a:xfrm>
          <a:prstGeom prst="rect">
            <a:avLst/>
          </a:prstGeom>
          <a:noFill/>
          <a:ln/>
        </p:spPr>
        <p:txBody>
          <a:bodyPr wrap="square" lIns="0" tIns="0" rIns="0" bIns="0" rtlCol="0" anchor="ctr"/>
          <a:lstStyle/>
          <a:p>
            <a:pPr marL="0" indent="0">
              <a:buNone/>
            </a:pPr>
            <a:r>
              <a:rPr lang="rw-RW" sz="1900" dirty="0">
                <a:solidFill>
                  <a:srgbClr val="D6E4F5"/>
                </a:solidFill>
                <a:latin typeface="Calibri" pitchFamily="34" charset="0"/>
                <a:ea typeface="Calibri" pitchFamily="34" charset="-122"/>
                <a:cs typeface="Calibri" pitchFamily="34" charset="-120"/>
              </a:rPr>
              <a:t>Menya Vestine, 52. Menya uwaba afite ibyago byinshi byo guhura nabyo, icyo ugomba gushakisha n'igihe cyo gukora.</a:t>
            </a:r>
            <a:endParaRPr lang="rw-RW" sz="1900" dirty="0"/>
          </a:p>
        </p:txBody>
      </p:sp>
      <p:sp>
        <p:nvSpPr>
          <p:cNvPr id="6" name="Text 4"/>
          <p:cNvSpPr txBox="1"/>
          <p:nvPr/>
        </p:nvSpPr>
        <p:spPr>
          <a:xfrm>
            <a:off x="548640" y="6263640"/>
            <a:ext cx="7315200" cy="274320"/>
          </a:xfrm>
          <a:prstGeom prst="rect">
            <a:avLst/>
          </a:prstGeom>
          <a:noFill/>
          <a:ln/>
        </p:spPr>
        <p:txBody>
          <a:bodyPr wrap="square" lIns="0" tIns="0" rIns="0" bIns="0" rtlCol="0" anchor="ctr">
            <a:normAutofit/>
          </a:bodyPr>
          <a:lstStyle/>
          <a:p>
            <a:pPr marL="0" indent="0">
              <a:buNone/>
            </a:pPr>
            <a:r>
              <a:rPr lang="rw-RW" sz="1100" dirty="0">
                <a:solidFill>
                  <a:srgbClr val="8FAFD6"/>
                </a:solidFill>
                <a:latin typeface="Calibri" pitchFamily="34" charset="0"/>
                <a:ea typeface="Calibri" pitchFamily="34" charset="-122"/>
                <a:cs typeface="Calibri" pitchFamily="34" charset="-120"/>
              </a:rPr>
              <a:t>Rwanda Biomedical Centre | CHW</a:t>
            </a:r>
            <a:endParaRPr lang="rw-RW"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2</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Icyo wakora</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Shape 3"/>
          <p:cNvSpPr/>
          <p:nvPr/>
        </p:nvSpPr>
        <p:spPr>
          <a:xfrm>
            <a:off x="548640" y="1371600"/>
            <a:ext cx="3515258" cy="1783080"/>
          </a:xfrm>
          <a:prstGeom prst="roundRect">
            <a:avLst>
              <a:gd name="adj" fmla="val 6154"/>
            </a:avLst>
          </a:prstGeom>
          <a:solidFill>
            <a:srgbClr val="F2F7FD"/>
          </a:solidFill>
          <a:ln w="12700">
            <a:solidFill>
              <a:srgbClr val="CBDDF3"/>
            </a:solidFill>
            <a:prstDash val="solid"/>
          </a:ln>
        </p:spPr>
        <p:txBody>
          <a:bodyPr/>
          <a:lstStyle/>
          <a:p>
            <a:endParaRPr lang="rw-RW" dirty="0"/>
          </a:p>
        </p:txBody>
      </p:sp>
      <p:sp>
        <p:nvSpPr>
          <p:cNvPr id="6" name="Text 4"/>
          <p:cNvSpPr txBox="1"/>
          <p:nvPr/>
        </p:nvSpPr>
        <p:spPr>
          <a:xfrm>
            <a:off x="1093318" y="1568369"/>
            <a:ext cx="3112922" cy="384048"/>
          </a:xfrm>
          <a:prstGeom prst="rect">
            <a:avLst/>
          </a:prstGeom>
          <a:noFill/>
          <a:ln/>
        </p:spPr>
        <p:txBody>
          <a:bodyPr wrap="square" lIns="0" tIns="0" rIns="0" bIns="0" rtlCol="0" anchor="t">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Menya</a:t>
            </a:r>
            <a:endParaRPr lang="rw-RW" sz="1850" dirty="0"/>
          </a:p>
        </p:txBody>
      </p:sp>
      <p:sp>
        <p:nvSpPr>
          <p:cNvPr id="7" name="Text 5"/>
          <p:cNvSpPr txBox="1"/>
          <p:nvPr/>
        </p:nvSpPr>
        <p:spPr>
          <a:xfrm>
            <a:off x="749808" y="1938528"/>
            <a:ext cx="3112922" cy="1088136"/>
          </a:xfrm>
          <a:prstGeom prst="rect">
            <a:avLst/>
          </a:prstGeom>
          <a:noFill/>
          <a:ln/>
        </p:spPr>
        <p:txBody>
          <a:bodyPr wrap="square" lIns="0" tIns="0" rIns="0" bIns="0" rtlCol="0" anchor="t"/>
          <a:lstStyle/>
          <a:p>
            <a:pPr marL="0" indent="0">
              <a:lnSpc>
                <a:spcPct val="105000"/>
              </a:lnSpc>
              <a:buNone/>
            </a:pPr>
            <a:r>
              <a:rPr lang="rw-RW" sz="1800" dirty="0">
                <a:solidFill>
                  <a:srgbClr val="17335F"/>
                </a:solidFill>
                <a:latin typeface="Calibri" pitchFamily="34" charset="0"/>
                <a:ea typeface="Calibri" pitchFamily="34" charset="-122"/>
                <a:cs typeface="Calibri" pitchFamily="34" charset="-120"/>
              </a:rPr>
              <a:t>Menya umuntu ufite ibyago byinshi byo kurwara kanseri y'amara.</a:t>
            </a:r>
            <a:endParaRPr lang="rw-RW" sz="1800" dirty="0"/>
          </a:p>
        </p:txBody>
      </p:sp>
      <p:sp>
        <p:nvSpPr>
          <p:cNvPr id="8" name="Shape 6"/>
          <p:cNvSpPr/>
          <p:nvPr/>
        </p:nvSpPr>
        <p:spPr>
          <a:xfrm>
            <a:off x="4338218" y="1371600"/>
            <a:ext cx="3515258" cy="1783080"/>
          </a:xfrm>
          <a:prstGeom prst="roundRect">
            <a:avLst>
              <a:gd name="adj" fmla="val 6154"/>
            </a:avLst>
          </a:prstGeom>
          <a:solidFill>
            <a:srgbClr val="F2F7FD"/>
          </a:solidFill>
          <a:ln w="12700">
            <a:solidFill>
              <a:srgbClr val="CBDDF3"/>
            </a:solidFill>
            <a:prstDash val="solid"/>
          </a:ln>
        </p:spPr>
        <p:txBody>
          <a:bodyPr/>
          <a:lstStyle/>
          <a:p>
            <a:endParaRPr lang="rw-RW" dirty="0"/>
          </a:p>
        </p:txBody>
      </p:sp>
      <p:sp>
        <p:nvSpPr>
          <p:cNvPr id="9" name="Text 7"/>
          <p:cNvSpPr txBox="1"/>
          <p:nvPr/>
        </p:nvSpPr>
        <p:spPr>
          <a:xfrm>
            <a:off x="4872532" y="1536192"/>
            <a:ext cx="3112922" cy="384048"/>
          </a:xfrm>
          <a:prstGeom prst="rect">
            <a:avLst/>
          </a:prstGeom>
          <a:noFill/>
          <a:ln/>
        </p:spPr>
        <p:txBody>
          <a:bodyPr wrap="square" lIns="0" tIns="0" rIns="0" bIns="0" rtlCol="0" anchor="t">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Menya</a:t>
            </a:r>
            <a:endParaRPr lang="rw-RW" sz="1850" dirty="0"/>
          </a:p>
        </p:txBody>
      </p:sp>
      <p:sp>
        <p:nvSpPr>
          <p:cNvPr id="10" name="Text 8"/>
          <p:cNvSpPr txBox="1"/>
          <p:nvPr/>
        </p:nvSpPr>
        <p:spPr>
          <a:xfrm>
            <a:off x="4539386" y="1938528"/>
            <a:ext cx="3112922" cy="1088136"/>
          </a:xfrm>
          <a:prstGeom prst="rect">
            <a:avLst/>
          </a:prstGeom>
          <a:noFill/>
          <a:ln/>
        </p:spPr>
        <p:txBody>
          <a:bodyPr wrap="square" lIns="0" tIns="0" rIns="0" bIns="0" rtlCol="0" anchor="t"/>
          <a:lstStyle/>
          <a:p>
            <a:pPr marL="0" indent="0">
              <a:lnSpc>
                <a:spcPct val="105000"/>
              </a:lnSpc>
              <a:buNone/>
            </a:pPr>
            <a:r>
              <a:rPr lang="rw-RW" sz="1800" dirty="0">
                <a:solidFill>
                  <a:srgbClr val="17335F"/>
                </a:solidFill>
                <a:latin typeface="Calibri" pitchFamily="34" charset="0"/>
                <a:ea typeface="Calibri" pitchFamily="34" charset="-122"/>
                <a:cs typeface="Calibri" pitchFamily="34" charset="-120"/>
              </a:rPr>
              <a:t>Menya ibimenyetso by'uburwayi ukeneye kwisuzumisha</a:t>
            </a:r>
            <a:endParaRPr lang="rw-RW" sz="1800" dirty="0"/>
          </a:p>
        </p:txBody>
      </p:sp>
      <p:sp>
        <p:nvSpPr>
          <p:cNvPr id="11" name="Shape 9"/>
          <p:cNvSpPr/>
          <p:nvPr/>
        </p:nvSpPr>
        <p:spPr>
          <a:xfrm>
            <a:off x="8127797" y="1371600"/>
            <a:ext cx="3515258" cy="1783080"/>
          </a:xfrm>
          <a:prstGeom prst="roundRect">
            <a:avLst>
              <a:gd name="adj" fmla="val 6154"/>
            </a:avLst>
          </a:prstGeom>
          <a:solidFill>
            <a:srgbClr val="F2F7FD"/>
          </a:solidFill>
          <a:ln w="12700">
            <a:solidFill>
              <a:srgbClr val="CBDDF3"/>
            </a:solidFill>
            <a:prstDash val="solid"/>
          </a:ln>
        </p:spPr>
        <p:txBody>
          <a:bodyPr/>
          <a:lstStyle/>
          <a:p>
            <a:endParaRPr lang="rw-RW" dirty="0"/>
          </a:p>
        </p:txBody>
      </p:sp>
      <p:sp>
        <p:nvSpPr>
          <p:cNvPr id="12" name="Text 10"/>
          <p:cNvSpPr txBox="1"/>
          <p:nvPr/>
        </p:nvSpPr>
        <p:spPr>
          <a:xfrm>
            <a:off x="8624350" y="1495485"/>
            <a:ext cx="3112922" cy="384048"/>
          </a:xfrm>
          <a:prstGeom prst="rect">
            <a:avLst/>
          </a:prstGeom>
          <a:noFill/>
          <a:ln/>
        </p:spPr>
        <p:txBody>
          <a:bodyPr wrap="square" lIns="0" tIns="0" rIns="0" bIns="0" rtlCol="0" anchor="t">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Sobanura</a:t>
            </a:r>
            <a:endParaRPr lang="rw-RW" sz="1850" dirty="0"/>
          </a:p>
        </p:txBody>
      </p:sp>
      <p:sp>
        <p:nvSpPr>
          <p:cNvPr id="13" name="Text 11"/>
          <p:cNvSpPr txBox="1"/>
          <p:nvPr/>
        </p:nvSpPr>
        <p:spPr>
          <a:xfrm>
            <a:off x="8328965" y="1938528"/>
            <a:ext cx="3112922" cy="1088136"/>
          </a:xfrm>
          <a:prstGeom prst="rect">
            <a:avLst/>
          </a:prstGeom>
          <a:noFill/>
          <a:ln/>
        </p:spPr>
        <p:txBody>
          <a:bodyPr wrap="square" lIns="0" tIns="0" rIns="0" bIns="0" rtlCol="0" anchor="t"/>
          <a:lstStyle/>
          <a:p>
            <a:pPr marL="0" indent="0">
              <a:lnSpc>
                <a:spcPct val="105000"/>
              </a:lnSpc>
              <a:buNone/>
            </a:pPr>
            <a:r>
              <a:rPr lang="rw-RW" sz="1800" dirty="0">
                <a:solidFill>
                  <a:srgbClr val="17335F"/>
                </a:solidFill>
                <a:latin typeface="Calibri" pitchFamily="34" charset="0"/>
                <a:ea typeface="Calibri" pitchFamily="34" charset="-122"/>
                <a:cs typeface="Calibri" pitchFamily="34" charset="-120"/>
              </a:rPr>
              <a:t>Vuga ko ibi bimenyetso biterwa n'impamvu zitandukanye.</a:t>
            </a:r>
            <a:endParaRPr lang="rw-RW" sz="1800" dirty="0"/>
          </a:p>
        </p:txBody>
      </p:sp>
      <p:sp>
        <p:nvSpPr>
          <p:cNvPr id="14" name="Shape 12"/>
          <p:cNvSpPr/>
          <p:nvPr/>
        </p:nvSpPr>
        <p:spPr>
          <a:xfrm>
            <a:off x="548640" y="3429000"/>
            <a:ext cx="3515258" cy="1783080"/>
          </a:xfrm>
          <a:prstGeom prst="roundRect">
            <a:avLst>
              <a:gd name="adj" fmla="val 6154"/>
            </a:avLst>
          </a:prstGeom>
          <a:solidFill>
            <a:srgbClr val="F2F7FD"/>
          </a:solidFill>
          <a:ln w="12700">
            <a:solidFill>
              <a:srgbClr val="CBDDF3"/>
            </a:solidFill>
            <a:prstDash val="solid"/>
          </a:ln>
        </p:spPr>
        <p:txBody>
          <a:bodyPr/>
          <a:lstStyle/>
          <a:p>
            <a:endParaRPr lang="rw-RW" dirty="0"/>
          </a:p>
        </p:txBody>
      </p:sp>
      <p:sp>
        <p:nvSpPr>
          <p:cNvPr id="15" name="Text 13"/>
          <p:cNvSpPr txBox="1"/>
          <p:nvPr/>
        </p:nvSpPr>
        <p:spPr>
          <a:xfrm>
            <a:off x="1088136" y="3584535"/>
            <a:ext cx="3112922" cy="384048"/>
          </a:xfrm>
          <a:prstGeom prst="rect">
            <a:avLst/>
          </a:prstGeom>
          <a:noFill/>
          <a:ln/>
        </p:spPr>
        <p:txBody>
          <a:bodyPr wrap="square" lIns="0" tIns="0" rIns="0" bIns="0" rtlCol="0" anchor="t">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Gira icyo ukora</a:t>
            </a:r>
            <a:endParaRPr lang="rw-RW" sz="1850" dirty="0"/>
          </a:p>
        </p:txBody>
      </p:sp>
      <p:sp>
        <p:nvSpPr>
          <p:cNvPr id="16" name="Text 14"/>
          <p:cNvSpPr txBox="1"/>
          <p:nvPr/>
        </p:nvSpPr>
        <p:spPr>
          <a:xfrm>
            <a:off x="749808" y="3995928"/>
            <a:ext cx="3112922" cy="1088136"/>
          </a:xfrm>
          <a:prstGeom prst="rect">
            <a:avLst/>
          </a:prstGeom>
          <a:noFill/>
          <a:ln/>
        </p:spPr>
        <p:txBody>
          <a:bodyPr wrap="square" lIns="0" tIns="0" rIns="0" bIns="0" rtlCol="0" anchor="t"/>
          <a:lstStyle/>
          <a:p>
            <a:pPr marL="0" indent="0">
              <a:lnSpc>
                <a:spcPct val="105000"/>
              </a:lnSpc>
              <a:buNone/>
            </a:pPr>
            <a:r>
              <a:rPr lang="rw-RW" sz="1800" dirty="0">
                <a:solidFill>
                  <a:srgbClr val="17335F"/>
                </a:solidFill>
                <a:latin typeface="Calibri" pitchFamily="34" charset="0"/>
                <a:ea typeface="Calibri" pitchFamily="34" charset="-122"/>
                <a:cs typeface="Calibri" pitchFamily="34" charset="-120"/>
              </a:rPr>
              <a:t>Shishikariza umuntu kwisuzumisha hakiri kare, utamuteye ubwoba kandi utamushinja.</a:t>
            </a:r>
            <a:endParaRPr lang="rw-RW" sz="1800" dirty="0"/>
          </a:p>
        </p:txBody>
      </p:sp>
      <p:sp>
        <p:nvSpPr>
          <p:cNvPr id="17" name="Shape 15"/>
          <p:cNvSpPr/>
          <p:nvPr/>
        </p:nvSpPr>
        <p:spPr>
          <a:xfrm>
            <a:off x="4338218" y="3429000"/>
            <a:ext cx="3515258" cy="1783080"/>
          </a:xfrm>
          <a:prstGeom prst="roundRect">
            <a:avLst>
              <a:gd name="adj" fmla="val 6154"/>
            </a:avLst>
          </a:prstGeom>
          <a:solidFill>
            <a:srgbClr val="F2F7FD"/>
          </a:solidFill>
          <a:ln w="12700">
            <a:solidFill>
              <a:srgbClr val="CBDDF3"/>
            </a:solidFill>
            <a:prstDash val="solid"/>
          </a:ln>
        </p:spPr>
        <p:txBody>
          <a:bodyPr/>
          <a:lstStyle/>
          <a:p>
            <a:endParaRPr lang="rw-RW" dirty="0"/>
          </a:p>
        </p:txBody>
      </p:sp>
      <p:sp>
        <p:nvSpPr>
          <p:cNvPr id="18" name="Text 16"/>
          <p:cNvSpPr txBox="1"/>
          <p:nvPr/>
        </p:nvSpPr>
        <p:spPr>
          <a:xfrm>
            <a:off x="4872532" y="3593592"/>
            <a:ext cx="3112922" cy="384048"/>
          </a:xfrm>
          <a:prstGeom prst="rect">
            <a:avLst/>
          </a:prstGeom>
          <a:noFill/>
          <a:ln/>
        </p:spPr>
        <p:txBody>
          <a:bodyPr wrap="square" lIns="0" tIns="0" rIns="0" bIns="0" rtlCol="0" anchor="t">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Kuburira</a:t>
            </a:r>
            <a:endParaRPr lang="rw-RW" sz="1850" dirty="0"/>
          </a:p>
        </p:txBody>
      </p:sp>
      <p:sp>
        <p:nvSpPr>
          <p:cNvPr id="19" name="Text 17"/>
          <p:cNvSpPr txBox="1"/>
          <p:nvPr/>
        </p:nvSpPr>
        <p:spPr>
          <a:xfrm>
            <a:off x="4539386" y="3995928"/>
            <a:ext cx="3112922" cy="1088136"/>
          </a:xfrm>
          <a:prstGeom prst="rect">
            <a:avLst/>
          </a:prstGeom>
          <a:noFill/>
          <a:ln/>
        </p:spPr>
        <p:txBody>
          <a:bodyPr wrap="square" lIns="0" tIns="0" rIns="0" bIns="0" rtlCol="0" anchor="t"/>
          <a:lstStyle/>
          <a:p>
            <a:pPr marL="0" indent="0">
              <a:lnSpc>
                <a:spcPct val="105000"/>
              </a:lnSpc>
              <a:buNone/>
            </a:pPr>
            <a:r>
              <a:rPr lang="rw-RW" sz="1800" dirty="0">
                <a:solidFill>
                  <a:srgbClr val="17335F"/>
                </a:solidFill>
                <a:latin typeface="Calibri" pitchFamily="34" charset="0"/>
                <a:ea typeface="Calibri" pitchFamily="34" charset="-122"/>
                <a:cs typeface="Calibri" pitchFamily="34" charset="-120"/>
              </a:rPr>
              <a:t>Menya ibimenyetso byihutirwa by'ibyago bikeneye kwitabwaho uwo munsi.</a:t>
            </a:r>
            <a:endParaRPr lang="rw-RW" sz="1800" dirty="0"/>
          </a:p>
        </p:txBody>
      </p:sp>
      <p:sp>
        <p:nvSpPr>
          <p:cNvPr id="23" name="TextBox 22">
            <a:extLst>
              <a:ext uri="{FF2B5EF4-FFF2-40B4-BE49-F238E27FC236}">
                <a16:creationId xmlns:a16="http://schemas.microsoft.com/office/drawing/2014/main" id="{7B1B7F7E-BCFB-FA33-6FAE-3F1D6162D73A}"/>
              </a:ext>
            </a:extLst>
          </p:cNvPr>
          <p:cNvSpPr txBox="1"/>
          <p:nvPr/>
        </p:nvSpPr>
        <p:spPr>
          <a:xfrm>
            <a:off x="548640" y="1469951"/>
            <a:ext cx="644825" cy="461665"/>
          </a:xfrm>
          <a:prstGeom prst="rect">
            <a:avLst/>
          </a:prstGeom>
          <a:noFill/>
        </p:spPr>
        <p:txBody>
          <a:bodyPr wrap="square">
            <a:noAutofit/>
          </a:bodyPr>
          <a:lstStyle/>
          <a:p>
            <a:pPr marL="0" indent="0">
              <a:buNone/>
            </a:pPr>
            <a:r>
              <a:rPr lang="rw-RW" sz="2115" noProof="0" dirty="0">
                <a:solidFill>
                  <a:srgbClr val="1A2733"/>
                </a:solidFill>
                <a:latin typeface="Calibri" pitchFamily="34" charset="0"/>
                <a:ea typeface="Calibri" pitchFamily="34" charset="-122"/>
                <a:cs typeface="Calibri" pitchFamily="34" charset="-120"/>
              </a:rPr>
              <a:t>🧭</a:t>
            </a:r>
            <a:endParaRPr lang="rw-RW" sz="2115" noProof="0" dirty="0"/>
          </a:p>
        </p:txBody>
      </p:sp>
      <p:sp>
        <p:nvSpPr>
          <p:cNvPr id="25" name="TextBox 24">
            <a:extLst>
              <a:ext uri="{FF2B5EF4-FFF2-40B4-BE49-F238E27FC236}">
                <a16:creationId xmlns:a16="http://schemas.microsoft.com/office/drawing/2014/main" id="{921595A9-ACB4-7F49-6FC8-AA38E3E58D53}"/>
              </a:ext>
            </a:extLst>
          </p:cNvPr>
          <p:cNvSpPr txBox="1"/>
          <p:nvPr/>
        </p:nvSpPr>
        <p:spPr>
          <a:xfrm>
            <a:off x="8088441" y="1439538"/>
            <a:ext cx="535909" cy="461665"/>
          </a:xfrm>
          <a:prstGeom prst="rect">
            <a:avLst/>
          </a:prstGeom>
          <a:noFill/>
        </p:spPr>
        <p:txBody>
          <a:bodyPr wrap="square">
            <a:spAutoFit/>
          </a:bodyPr>
          <a:lstStyle/>
          <a:p>
            <a:pPr marL="0" indent="0">
              <a:buNone/>
            </a:pPr>
            <a:r>
              <a:rPr lang="rw-RW" sz="2350" noProof="0" dirty="0">
                <a:solidFill>
                  <a:srgbClr val="1A2733"/>
                </a:solidFill>
                <a:latin typeface="Calibri" pitchFamily="34" charset="0"/>
                <a:ea typeface="Calibri" pitchFamily="34" charset="-122"/>
                <a:cs typeface="Calibri" pitchFamily="34" charset="-120"/>
              </a:rPr>
              <a:t>🗣️</a:t>
            </a:r>
            <a:endParaRPr lang="rw-RW" sz="2350" noProof="0" dirty="0"/>
          </a:p>
        </p:txBody>
      </p:sp>
      <p:sp>
        <p:nvSpPr>
          <p:cNvPr id="27" name="TextBox 26">
            <a:extLst>
              <a:ext uri="{FF2B5EF4-FFF2-40B4-BE49-F238E27FC236}">
                <a16:creationId xmlns:a16="http://schemas.microsoft.com/office/drawing/2014/main" id="{94D0B348-5B9E-9810-733D-A4EBA7AD082C}"/>
              </a:ext>
            </a:extLst>
          </p:cNvPr>
          <p:cNvSpPr txBox="1"/>
          <p:nvPr/>
        </p:nvSpPr>
        <p:spPr>
          <a:xfrm>
            <a:off x="514908" y="3521324"/>
            <a:ext cx="544678" cy="461665"/>
          </a:xfrm>
          <a:prstGeom prst="rect">
            <a:avLst/>
          </a:prstGeom>
          <a:noFill/>
        </p:spPr>
        <p:txBody>
          <a:bodyPr wrap="square">
            <a:spAutoFit/>
          </a:bodyPr>
          <a:lstStyle/>
          <a:p>
            <a:pPr marL="0" indent="0">
              <a:buNone/>
            </a:pPr>
            <a:r>
              <a:rPr lang="rw-RW" sz="2350" noProof="0" dirty="0">
                <a:solidFill>
                  <a:srgbClr val="1A2733"/>
                </a:solidFill>
                <a:latin typeface="Calibri" pitchFamily="34" charset="0"/>
                <a:ea typeface="Calibri" pitchFamily="34" charset="-122"/>
                <a:cs typeface="Calibri" pitchFamily="34" charset="-120"/>
              </a:rPr>
              <a:t>💙</a:t>
            </a:r>
            <a:endParaRPr lang="rw-RW" sz="2350" noProof="0" dirty="0"/>
          </a:p>
        </p:txBody>
      </p:sp>
      <p:sp>
        <p:nvSpPr>
          <p:cNvPr id="29" name="TextBox 28">
            <a:extLst>
              <a:ext uri="{FF2B5EF4-FFF2-40B4-BE49-F238E27FC236}">
                <a16:creationId xmlns:a16="http://schemas.microsoft.com/office/drawing/2014/main" id="{B93BBA13-34F8-7392-145E-3E6A0DDB92E5}"/>
              </a:ext>
            </a:extLst>
          </p:cNvPr>
          <p:cNvSpPr txBox="1"/>
          <p:nvPr/>
        </p:nvSpPr>
        <p:spPr>
          <a:xfrm>
            <a:off x="4317137" y="1440287"/>
            <a:ext cx="700528" cy="461665"/>
          </a:xfrm>
          <a:prstGeom prst="rect">
            <a:avLst/>
          </a:prstGeom>
          <a:noFill/>
        </p:spPr>
        <p:txBody>
          <a:bodyPr wrap="square">
            <a:spAutoFit/>
          </a:bodyPr>
          <a:lstStyle/>
          <a:p>
            <a:pPr marL="0" indent="0">
              <a:buNone/>
            </a:pPr>
            <a:r>
              <a:rPr lang="rw-RW" sz="2350" noProof="0" dirty="0">
                <a:solidFill>
                  <a:srgbClr val="1A2733"/>
                </a:solidFill>
                <a:latin typeface="Calibri" pitchFamily="34" charset="0"/>
                <a:ea typeface="Calibri" pitchFamily="34" charset="-122"/>
                <a:cs typeface="Calibri" pitchFamily="34" charset="-120"/>
              </a:rPr>
              <a:t>📝</a:t>
            </a:r>
            <a:endParaRPr lang="rw-RW" sz="2350" noProof="0" dirty="0"/>
          </a:p>
        </p:txBody>
      </p:sp>
      <p:sp>
        <p:nvSpPr>
          <p:cNvPr id="31" name="TextBox 30">
            <a:extLst>
              <a:ext uri="{FF2B5EF4-FFF2-40B4-BE49-F238E27FC236}">
                <a16:creationId xmlns:a16="http://schemas.microsoft.com/office/drawing/2014/main" id="{0823E98F-8B26-07D3-6072-C26E8D695FBC}"/>
              </a:ext>
            </a:extLst>
          </p:cNvPr>
          <p:cNvSpPr txBox="1"/>
          <p:nvPr/>
        </p:nvSpPr>
        <p:spPr>
          <a:xfrm>
            <a:off x="4338218" y="3501740"/>
            <a:ext cx="848895" cy="461665"/>
          </a:xfrm>
          <a:prstGeom prst="rect">
            <a:avLst/>
          </a:prstGeom>
          <a:noFill/>
        </p:spPr>
        <p:txBody>
          <a:bodyPr wrap="square">
            <a:spAutoFit/>
          </a:bodyPr>
          <a:lstStyle/>
          <a:p>
            <a:pPr marL="0" indent="0">
              <a:buNone/>
            </a:pPr>
            <a:r>
              <a:rPr lang="rw-RW" sz="2350" noProof="0" dirty="0">
                <a:solidFill>
                  <a:srgbClr val="1A2733"/>
                </a:solidFill>
                <a:latin typeface="Calibri" pitchFamily="34" charset="0"/>
                <a:ea typeface="Calibri" pitchFamily="34" charset="-122"/>
                <a:cs typeface="Calibri" pitchFamily="34" charset="-120"/>
              </a:rPr>
              <a:t>🏥</a:t>
            </a:r>
            <a:endParaRPr lang="rw-RW" sz="2350" noProof="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2</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Ikibazo cyo mu muryango: Vestine</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Umujyanama w'ubuzima | Ikigo cy'Igihugu cy'Ubuvuzi (Rwanda Biomedical Centre)</a:t>
            </a:r>
            <a:endParaRPr lang="rw-RW"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2</a:t>
            </a:r>
            <a:endParaRPr lang="rw-RW" sz="1100" dirty="0"/>
          </a:p>
        </p:txBody>
      </p:sp>
      <p:sp>
        <p:nvSpPr>
          <p:cNvPr id="3" name="Text 1"/>
          <p:cNvSpPr txBox="1"/>
          <p:nvPr/>
        </p:nvSpPr>
        <p:spPr>
          <a:xfrm>
            <a:off x="548640" y="453136"/>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Ibyo ugomba kwitondera</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Shape 3"/>
          <p:cNvSpPr/>
          <p:nvPr/>
        </p:nvSpPr>
        <p:spPr>
          <a:xfrm>
            <a:off x="548640" y="1021079"/>
            <a:ext cx="3515258" cy="2125103"/>
          </a:xfrm>
          <a:prstGeom prst="roundRect">
            <a:avLst>
              <a:gd name="adj" fmla="val 6000"/>
            </a:avLst>
          </a:prstGeom>
          <a:solidFill>
            <a:srgbClr val="F2F7FD"/>
          </a:solidFill>
          <a:ln w="12700">
            <a:solidFill>
              <a:srgbClr val="CBDDF3"/>
            </a:solidFill>
            <a:prstDash val="solid"/>
          </a:ln>
        </p:spPr>
        <p:txBody>
          <a:bodyPr/>
          <a:lstStyle/>
          <a:p>
            <a:endParaRPr lang="rw-RW" dirty="0"/>
          </a:p>
        </p:txBody>
      </p:sp>
      <p:sp>
        <p:nvSpPr>
          <p:cNvPr id="6" name="Text 4"/>
          <p:cNvSpPr txBox="1"/>
          <p:nvPr/>
        </p:nvSpPr>
        <p:spPr>
          <a:xfrm>
            <a:off x="749808" y="1167384"/>
            <a:ext cx="3112922" cy="384048"/>
          </a:xfrm>
          <a:prstGeom prst="rect">
            <a:avLst/>
          </a:prstGeom>
          <a:noFill/>
          <a:ln/>
        </p:spPr>
        <p:txBody>
          <a:bodyPr wrap="square" lIns="0" tIns="0" rIns="0" bIns="0" rtlCol="0" anchor="t">
            <a:normAutofit fontScale="99000"/>
          </a:bodyPr>
          <a:lstStyle/>
          <a:p>
            <a:pPr marL="0" indent="0">
              <a:buNone/>
            </a:pPr>
            <a:r>
              <a:rPr lang="rw-RW" b="1" dirty="0">
                <a:solidFill>
                  <a:srgbClr val="12305B"/>
                </a:solidFill>
                <a:latin typeface="Calibri" pitchFamily="34" charset="0"/>
                <a:ea typeface="Calibri" pitchFamily="34" charset="-122"/>
                <a:cs typeface="Calibri" pitchFamily="34" charset="-120"/>
              </a:rPr>
              <a:t>Amaraso mu musarane</a:t>
            </a:r>
            <a:endParaRPr lang="rw-RW" dirty="0"/>
          </a:p>
        </p:txBody>
      </p:sp>
      <p:sp>
        <p:nvSpPr>
          <p:cNvPr id="7" name="Text 5"/>
          <p:cNvSpPr txBox="1"/>
          <p:nvPr/>
        </p:nvSpPr>
        <p:spPr>
          <a:xfrm>
            <a:off x="749807" y="1528048"/>
            <a:ext cx="1814997" cy="962535"/>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Amaraso atukura, cyangwa umusarane wirabura cyane bishobora kuba ikimenyetso cy'amaraso</a:t>
            </a:r>
            <a:endParaRPr lang="rw-RW" sz="1600" dirty="0"/>
          </a:p>
        </p:txBody>
      </p:sp>
      <p:sp>
        <p:nvSpPr>
          <p:cNvPr id="8" name="Shape 6"/>
          <p:cNvSpPr/>
          <p:nvPr/>
        </p:nvSpPr>
        <p:spPr>
          <a:xfrm>
            <a:off x="4338218" y="1021079"/>
            <a:ext cx="3515258" cy="2125103"/>
          </a:xfrm>
          <a:prstGeom prst="roundRect">
            <a:avLst>
              <a:gd name="adj" fmla="val 6000"/>
            </a:avLst>
          </a:prstGeom>
          <a:solidFill>
            <a:srgbClr val="F2F7FD"/>
          </a:solidFill>
          <a:ln w="12700">
            <a:solidFill>
              <a:srgbClr val="CBDDF3"/>
            </a:solidFill>
            <a:prstDash val="solid"/>
          </a:ln>
        </p:spPr>
        <p:txBody>
          <a:bodyPr/>
          <a:lstStyle/>
          <a:p>
            <a:endParaRPr lang="rw-RW" dirty="0"/>
          </a:p>
        </p:txBody>
      </p:sp>
      <p:sp>
        <p:nvSpPr>
          <p:cNvPr id="9" name="Text 7"/>
          <p:cNvSpPr txBox="1"/>
          <p:nvPr/>
        </p:nvSpPr>
        <p:spPr>
          <a:xfrm>
            <a:off x="4539386" y="1167384"/>
            <a:ext cx="3112922" cy="384048"/>
          </a:xfrm>
          <a:prstGeom prst="rect">
            <a:avLst/>
          </a:prstGeom>
          <a:noFill/>
          <a:ln/>
        </p:spPr>
        <p:txBody>
          <a:bodyPr wrap="square" lIns="0" tIns="0" rIns="0" bIns="0" rtlCol="0" anchor="t">
            <a:noAutofit/>
          </a:bodyPr>
          <a:lstStyle/>
          <a:p>
            <a:pPr marL="0" indent="0">
              <a:buNone/>
            </a:pPr>
            <a:r>
              <a:rPr lang="rw-RW" b="1" dirty="0">
                <a:solidFill>
                  <a:srgbClr val="12305B"/>
                </a:solidFill>
                <a:latin typeface="Calibri" pitchFamily="34" charset="0"/>
                <a:ea typeface="Calibri" pitchFamily="34" charset="-122"/>
                <a:cs typeface="Calibri" pitchFamily="34" charset="-120"/>
              </a:rPr>
              <a:t>Impinduka mu buryo bwo kwituma</a:t>
            </a:r>
            <a:endParaRPr lang="rw-RW" dirty="0"/>
          </a:p>
        </p:txBody>
      </p:sp>
      <p:sp>
        <p:nvSpPr>
          <p:cNvPr id="10" name="Text 8"/>
          <p:cNvSpPr txBox="1"/>
          <p:nvPr/>
        </p:nvSpPr>
        <p:spPr>
          <a:xfrm>
            <a:off x="4539386" y="1753108"/>
            <a:ext cx="1930248" cy="113385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Impiswi cyangwa impatwe bimara ibyumweru bibiri kandi ari bishya kuri uwo muntu.</a:t>
            </a:r>
            <a:endParaRPr lang="rw-RW" sz="1600" dirty="0"/>
          </a:p>
        </p:txBody>
      </p:sp>
      <p:sp>
        <p:nvSpPr>
          <p:cNvPr id="11" name="Shape 9"/>
          <p:cNvSpPr/>
          <p:nvPr/>
        </p:nvSpPr>
        <p:spPr>
          <a:xfrm>
            <a:off x="8127797" y="1021079"/>
            <a:ext cx="3515258" cy="2125103"/>
          </a:xfrm>
          <a:prstGeom prst="roundRect">
            <a:avLst>
              <a:gd name="adj" fmla="val 6000"/>
            </a:avLst>
          </a:prstGeom>
          <a:solidFill>
            <a:srgbClr val="F2F7FD"/>
          </a:solidFill>
          <a:ln w="12700">
            <a:solidFill>
              <a:srgbClr val="CBDDF3"/>
            </a:solidFill>
            <a:prstDash val="solid"/>
          </a:ln>
        </p:spPr>
        <p:txBody>
          <a:bodyPr/>
          <a:lstStyle/>
          <a:p>
            <a:endParaRPr lang="rw-RW" dirty="0"/>
          </a:p>
        </p:txBody>
      </p:sp>
      <p:sp>
        <p:nvSpPr>
          <p:cNvPr id="12" name="Text 10"/>
          <p:cNvSpPr txBox="1"/>
          <p:nvPr/>
        </p:nvSpPr>
        <p:spPr>
          <a:xfrm>
            <a:off x="8328965" y="1167384"/>
            <a:ext cx="3112922" cy="384048"/>
          </a:xfrm>
          <a:prstGeom prst="rect">
            <a:avLst/>
          </a:prstGeom>
          <a:noFill/>
          <a:ln/>
        </p:spPr>
        <p:txBody>
          <a:bodyPr wrap="square" lIns="0" tIns="0" rIns="0" bIns="0" rtlCol="0" anchor="t">
            <a:noAutofit/>
          </a:bodyPr>
          <a:lstStyle/>
          <a:p>
            <a:pPr marL="0" indent="0">
              <a:buNone/>
            </a:pPr>
            <a:r>
              <a:rPr lang="rw-RW" b="1" dirty="0">
                <a:solidFill>
                  <a:srgbClr val="12305B"/>
                </a:solidFill>
                <a:latin typeface="Calibri" pitchFamily="34" charset="0"/>
                <a:ea typeface="Calibri" pitchFamily="34" charset="-122"/>
                <a:cs typeface="Calibri" pitchFamily="34" charset="-120"/>
              </a:rPr>
              <a:t>Ububabare bwo mu nda bukomeje</a:t>
            </a:r>
            <a:endParaRPr lang="rw-RW" dirty="0"/>
          </a:p>
        </p:txBody>
      </p:sp>
      <p:sp>
        <p:nvSpPr>
          <p:cNvPr id="13" name="Text 11"/>
          <p:cNvSpPr txBox="1"/>
          <p:nvPr/>
        </p:nvSpPr>
        <p:spPr>
          <a:xfrm>
            <a:off x="8328965" y="1753108"/>
            <a:ext cx="2058197" cy="1133856"/>
          </a:xfrm>
          <a:prstGeom prst="rect">
            <a:avLst/>
          </a:prstGeom>
          <a:noFill/>
          <a:ln/>
        </p:spPr>
        <p:txBody>
          <a:bodyPr wrap="square" lIns="0" tIns="0" rIns="0" bIns="0" rtlCol="0" anchor="t"/>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Ububabare cyangwa kubabara mu nda bihoraho.</a:t>
            </a:r>
            <a:endParaRPr lang="rw-RW" sz="1600" dirty="0"/>
          </a:p>
        </p:txBody>
      </p:sp>
      <p:sp>
        <p:nvSpPr>
          <p:cNvPr id="14" name="Shape 12"/>
          <p:cNvSpPr/>
          <p:nvPr/>
        </p:nvSpPr>
        <p:spPr>
          <a:xfrm>
            <a:off x="548640" y="3383280"/>
            <a:ext cx="3515258" cy="1946672"/>
          </a:xfrm>
          <a:prstGeom prst="roundRect">
            <a:avLst>
              <a:gd name="adj" fmla="val 6000"/>
            </a:avLst>
          </a:prstGeom>
          <a:solidFill>
            <a:srgbClr val="F2F7FD"/>
          </a:solidFill>
          <a:ln w="12700">
            <a:solidFill>
              <a:srgbClr val="CBDDF3"/>
            </a:solidFill>
            <a:prstDash val="solid"/>
          </a:ln>
        </p:spPr>
        <p:txBody>
          <a:bodyPr/>
          <a:lstStyle/>
          <a:p>
            <a:endParaRPr lang="rw-RW" dirty="0"/>
          </a:p>
        </p:txBody>
      </p:sp>
      <p:sp>
        <p:nvSpPr>
          <p:cNvPr id="15" name="Text 13"/>
          <p:cNvSpPr txBox="1"/>
          <p:nvPr/>
        </p:nvSpPr>
        <p:spPr>
          <a:xfrm>
            <a:off x="749808" y="3453384"/>
            <a:ext cx="3112922" cy="384048"/>
          </a:xfrm>
          <a:prstGeom prst="rect">
            <a:avLst/>
          </a:prstGeom>
          <a:noFill/>
          <a:ln/>
        </p:spPr>
        <p:txBody>
          <a:bodyPr wrap="square" lIns="0" tIns="0" rIns="0" bIns="0" rtlCol="0" anchor="t">
            <a:normAutofit fontScale="99000"/>
          </a:bodyPr>
          <a:lstStyle/>
          <a:p>
            <a:pPr marL="0" indent="0">
              <a:buNone/>
            </a:pPr>
            <a:r>
              <a:rPr lang="rw-RW" b="1" dirty="0">
                <a:solidFill>
                  <a:srgbClr val="12305B"/>
                </a:solidFill>
                <a:latin typeface="Calibri" pitchFamily="34" charset="0"/>
                <a:ea typeface="Calibri" pitchFamily="34" charset="-122"/>
                <a:cs typeface="Calibri" pitchFamily="34" charset="-120"/>
              </a:rPr>
              <a:t>Gutakaza ibiro</a:t>
            </a:r>
            <a:endParaRPr lang="rw-RW" dirty="0"/>
          </a:p>
        </p:txBody>
      </p:sp>
      <p:sp>
        <p:nvSpPr>
          <p:cNvPr id="16" name="Text 14"/>
          <p:cNvSpPr txBox="1"/>
          <p:nvPr/>
        </p:nvSpPr>
        <p:spPr>
          <a:xfrm>
            <a:off x="749808" y="3772408"/>
            <a:ext cx="2010481" cy="1133856"/>
          </a:xfrm>
          <a:prstGeom prst="rect">
            <a:avLst/>
          </a:prstGeom>
          <a:noFill/>
          <a:ln/>
        </p:spPr>
        <p:txBody>
          <a:bodyPr wrap="square" lIns="0" tIns="0" rIns="0" bIns="0" rtlCol="0" anchor="t"/>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Gutakaza ibiro utabishaka kandi nta mpamvu igaragara.</a:t>
            </a:r>
            <a:endParaRPr lang="rw-RW" sz="1600" dirty="0"/>
          </a:p>
        </p:txBody>
      </p:sp>
      <p:sp>
        <p:nvSpPr>
          <p:cNvPr id="17" name="Shape 15"/>
          <p:cNvSpPr/>
          <p:nvPr/>
        </p:nvSpPr>
        <p:spPr>
          <a:xfrm>
            <a:off x="4338218" y="3383280"/>
            <a:ext cx="3515258" cy="1946672"/>
          </a:xfrm>
          <a:prstGeom prst="roundRect">
            <a:avLst>
              <a:gd name="adj" fmla="val 6000"/>
            </a:avLst>
          </a:prstGeom>
          <a:solidFill>
            <a:srgbClr val="F2F7FD"/>
          </a:solidFill>
          <a:ln w="12700">
            <a:solidFill>
              <a:srgbClr val="CBDDF3"/>
            </a:solidFill>
            <a:prstDash val="solid"/>
          </a:ln>
        </p:spPr>
        <p:txBody>
          <a:bodyPr/>
          <a:lstStyle/>
          <a:p>
            <a:endParaRPr lang="rw-RW" dirty="0"/>
          </a:p>
        </p:txBody>
      </p:sp>
      <p:sp>
        <p:nvSpPr>
          <p:cNvPr id="18" name="Text 16"/>
          <p:cNvSpPr txBox="1"/>
          <p:nvPr/>
        </p:nvSpPr>
        <p:spPr>
          <a:xfrm>
            <a:off x="4539386" y="3453384"/>
            <a:ext cx="3112922"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Ananiwe kandi afite intege nke</a:t>
            </a:r>
            <a:endParaRPr lang="rw-RW" dirty="0"/>
          </a:p>
        </p:txBody>
      </p:sp>
      <p:sp>
        <p:nvSpPr>
          <p:cNvPr id="19" name="Text 17"/>
          <p:cNvSpPr txBox="1"/>
          <p:nvPr/>
        </p:nvSpPr>
        <p:spPr>
          <a:xfrm>
            <a:off x="4539386" y="3772408"/>
            <a:ext cx="2166523" cy="113385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Umunaniro udasanzwe, intege nke, cyangwa kugaragara yera cyane / afite amaraso make.</a:t>
            </a:r>
            <a:endParaRPr lang="rw-RW" sz="1600" dirty="0"/>
          </a:p>
        </p:txBody>
      </p:sp>
      <p:sp>
        <p:nvSpPr>
          <p:cNvPr id="20" name="Shape 18"/>
          <p:cNvSpPr/>
          <p:nvPr/>
        </p:nvSpPr>
        <p:spPr>
          <a:xfrm>
            <a:off x="8127797" y="3383280"/>
            <a:ext cx="3515258" cy="1946672"/>
          </a:xfrm>
          <a:prstGeom prst="roundRect">
            <a:avLst>
              <a:gd name="adj" fmla="val 6000"/>
            </a:avLst>
          </a:prstGeom>
          <a:solidFill>
            <a:srgbClr val="F2F7FD"/>
          </a:solidFill>
          <a:ln w="12700">
            <a:solidFill>
              <a:srgbClr val="CBDDF3"/>
            </a:solidFill>
            <a:prstDash val="solid"/>
          </a:ln>
        </p:spPr>
        <p:txBody>
          <a:bodyPr/>
          <a:lstStyle/>
          <a:p>
            <a:endParaRPr lang="rw-RW" dirty="0"/>
          </a:p>
        </p:txBody>
      </p:sp>
      <p:sp>
        <p:nvSpPr>
          <p:cNvPr id="21" name="Text 19"/>
          <p:cNvSpPr txBox="1"/>
          <p:nvPr/>
        </p:nvSpPr>
        <p:spPr>
          <a:xfrm>
            <a:off x="8328965" y="3453384"/>
            <a:ext cx="3112922" cy="384048"/>
          </a:xfrm>
          <a:prstGeom prst="rect">
            <a:avLst/>
          </a:prstGeom>
          <a:noFill/>
          <a:ln/>
        </p:spPr>
        <p:txBody>
          <a:bodyPr wrap="square" lIns="0" tIns="0" rIns="0" bIns="0" rtlCol="0" anchor="t">
            <a:normAutofit fontScale="99000"/>
          </a:bodyPr>
          <a:lstStyle/>
          <a:p>
            <a:pPr marL="0" indent="0">
              <a:buNone/>
            </a:pPr>
            <a:r>
              <a:rPr lang="rw-RW" b="1" dirty="0">
                <a:solidFill>
                  <a:srgbClr val="12305B"/>
                </a:solidFill>
                <a:latin typeface="Calibri" pitchFamily="34" charset="0"/>
                <a:ea typeface="Calibri" pitchFamily="34" charset="-122"/>
                <a:cs typeface="Calibri" pitchFamily="34" charset="-120"/>
              </a:rPr>
              <a:t>Kumva utarangije kwituma neza</a:t>
            </a:r>
            <a:endParaRPr lang="rw-RW" dirty="0"/>
          </a:p>
        </p:txBody>
      </p:sp>
      <p:sp>
        <p:nvSpPr>
          <p:cNvPr id="22" name="Text 20"/>
          <p:cNvSpPr txBox="1"/>
          <p:nvPr/>
        </p:nvSpPr>
        <p:spPr>
          <a:xfrm>
            <a:off x="8328965" y="3772408"/>
            <a:ext cx="2108997" cy="113385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Kumva igihe kirekire ko amara atarangiye gusohora umusarane nyuma yo kwituma, nk'aho hari ikintu gisigaye imbere.</a:t>
            </a:r>
            <a:endParaRPr lang="rw-RW" sz="1600" dirty="0"/>
          </a:p>
        </p:txBody>
      </p:sp>
      <p:sp>
        <p:nvSpPr>
          <p:cNvPr id="23" name="Shape 21"/>
          <p:cNvSpPr/>
          <p:nvPr/>
        </p:nvSpPr>
        <p:spPr>
          <a:xfrm>
            <a:off x="548640" y="5603240"/>
            <a:ext cx="11094415" cy="713232"/>
          </a:xfrm>
          <a:prstGeom prst="roundRect">
            <a:avLst>
              <a:gd name="adj" fmla="val 12821"/>
            </a:avLst>
          </a:prstGeom>
          <a:solidFill>
            <a:srgbClr val="F2F7FD"/>
          </a:solidFill>
          <a:ln w="12700">
            <a:solidFill>
              <a:srgbClr val="CBDDF3"/>
            </a:solidFill>
            <a:prstDash val="solid"/>
          </a:ln>
        </p:spPr>
        <p:txBody>
          <a:bodyPr/>
          <a:lstStyle/>
          <a:p>
            <a:endParaRPr lang="rw-RW" dirty="0"/>
          </a:p>
        </p:txBody>
      </p:sp>
      <p:sp>
        <p:nvSpPr>
          <p:cNvPr id="24" name="Text 22"/>
          <p:cNvSpPr txBox="1"/>
          <p:nvPr/>
        </p:nvSpPr>
        <p:spPr>
          <a:xfrm>
            <a:off x="777240" y="5694680"/>
            <a:ext cx="10637215" cy="530352"/>
          </a:xfrm>
          <a:prstGeom prst="rect">
            <a:avLst/>
          </a:prstGeom>
          <a:noFill/>
          <a:ln/>
        </p:spPr>
        <p:txBody>
          <a:bodyPr wrap="square" lIns="0" tIns="0" rIns="0" bIns="0" rtlCol="0" anchor="ctr">
            <a:normAutofit/>
          </a:bodyPr>
          <a:lstStyle/>
          <a:p>
            <a:pPr marL="0" indent="0">
              <a:buNone/>
            </a:pPr>
            <a:r>
              <a:rPr lang="rw-RW" sz="1600" dirty="0">
                <a:solidFill>
                  <a:srgbClr val="17335F"/>
                </a:solidFill>
                <a:latin typeface="Calibri" pitchFamily="34" charset="0"/>
                <a:ea typeface="Calibri" pitchFamily="34" charset="-122"/>
                <a:cs typeface="Calibri" pitchFamily="34" charset="-120"/>
              </a:rPr>
              <a:t>Ibi bimenyetso biterwa n'impamvu zitandukanye kandi nyinshi muri zo ntabwo ari kanseri. Nta na kimwe kigaragaza neza icyo ari cyo. Bivuze ko ari ngombwa kwisuzumisha kandi ko gutegereza atari byiza.</a:t>
            </a:r>
            <a:endParaRPr lang="rw-RW" sz="1600" dirty="0"/>
          </a:p>
        </p:txBody>
      </p:sp>
      <p:pic>
        <p:nvPicPr>
          <p:cNvPr id="25" name="Content Placeholder 4">
            <a:extLst>
              <a:ext uri="{FF2B5EF4-FFF2-40B4-BE49-F238E27FC236}">
                <a16:creationId xmlns:a16="http://schemas.microsoft.com/office/drawing/2014/main" id="{B4172E7B-C773-A7F6-595E-3C60310254B1}"/>
              </a:ext>
            </a:extLst>
          </p:cNvPr>
          <p:cNvPicPr>
            <a:picLocks noChangeAspect="1"/>
          </p:cNvPicPr>
          <p:nvPr/>
        </p:nvPicPr>
        <p:blipFill>
          <a:blip r:embed="rId3" cstate="hqprint">
            <a:extLst>
              <a:ext uri="{28A0092B-C50C-407E-A947-70E740481C1C}">
                <a14:useLocalDpi xmlns:a14="http://schemas.microsoft.com/office/drawing/2010/main"/>
              </a:ext>
            </a:extLst>
          </a:blip>
          <a:srcRect l="15091" r="14844"/>
          <a:stretch>
            <a:fillRect/>
          </a:stretch>
        </p:blipFill>
        <p:spPr>
          <a:xfrm>
            <a:off x="2564805" y="1560576"/>
            <a:ext cx="1411972" cy="1133856"/>
          </a:xfrm>
          <a:prstGeom prst="rect">
            <a:avLst/>
          </a:prstGeom>
        </p:spPr>
      </p:pic>
      <p:pic>
        <p:nvPicPr>
          <p:cNvPr id="26" name="Imagen 25">
            <a:extLst>
              <a:ext uri="{FF2B5EF4-FFF2-40B4-BE49-F238E27FC236}">
                <a16:creationId xmlns:a16="http://schemas.microsoft.com/office/drawing/2014/main" id="{6D6FAE5A-8C81-133A-2727-E64DA1950FCB}"/>
              </a:ext>
            </a:extLst>
          </p:cNvPr>
          <p:cNvPicPr>
            <a:picLocks noChangeAspect="1"/>
          </p:cNvPicPr>
          <p:nvPr/>
        </p:nvPicPr>
        <p:blipFill>
          <a:blip r:embed="rId4"/>
          <a:stretch>
            <a:fillRect/>
          </a:stretch>
        </p:blipFill>
        <p:spPr>
          <a:xfrm>
            <a:off x="6520434" y="2018745"/>
            <a:ext cx="1274135" cy="849423"/>
          </a:xfrm>
          <a:prstGeom prst="rect">
            <a:avLst/>
          </a:prstGeom>
        </p:spPr>
      </p:pic>
      <p:pic>
        <p:nvPicPr>
          <p:cNvPr id="28" name="Imagen 27">
            <a:extLst>
              <a:ext uri="{FF2B5EF4-FFF2-40B4-BE49-F238E27FC236}">
                <a16:creationId xmlns:a16="http://schemas.microsoft.com/office/drawing/2014/main" id="{8525157D-467C-C6F1-31DF-F180CB1E6CD0}"/>
              </a:ext>
            </a:extLst>
          </p:cNvPr>
          <p:cNvPicPr>
            <a:picLocks noChangeAspect="1"/>
          </p:cNvPicPr>
          <p:nvPr/>
        </p:nvPicPr>
        <p:blipFill>
          <a:blip r:embed="rId5"/>
          <a:stretch>
            <a:fillRect/>
          </a:stretch>
        </p:blipFill>
        <p:spPr>
          <a:xfrm>
            <a:off x="10437962" y="1800174"/>
            <a:ext cx="1109119" cy="985698"/>
          </a:xfrm>
          <a:prstGeom prst="rect">
            <a:avLst/>
          </a:prstGeom>
        </p:spPr>
      </p:pic>
      <p:pic>
        <p:nvPicPr>
          <p:cNvPr id="30" name="Imagen 29">
            <a:extLst>
              <a:ext uri="{FF2B5EF4-FFF2-40B4-BE49-F238E27FC236}">
                <a16:creationId xmlns:a16="http://schemas.microsoft.com/office/drawing/2014/main" id="{46AAA828-302E-8C11-ADD5-0217524C46F8}"/>
              </a:ext>
            </a:extLst>
          </p:cNvPr>
          <p:cNvPicPr>
            <a:picLocks noChangeAspect="1"/>
          </p:cNvPicPr>
          <p:nvPr/>
        </p:nvPicPr>
        <p:blipFill>
          <a:blip r:embed="rId6"/>
          <a:stretch>
            <a:fillRect/>
          </a:stretch>
        </p:blipFill>
        <p:spPr>
          <a:xfrm>
            <a:off x="2811089" y="3968496"/>
            <a:ext cx="1292114" cy="1243584"/>
          </a:xfrm>
          <a:prstGeom prst="rect">
            <a:avLst/>
          </a:prstGeom>
        </p:spPr>
      </p:pic>
      <p:pic>
        <p:nvPicPr>
          <p:cNvPr id="32" name="Imagen 31">
            <a:extLst>
              <a:ext uri="{FF2B5EF4-FFF2-40B4-BE49-F238E27FC236}">
                <a16:creationId xmlns:a16="http://schemas.microsoft.com/office/drawing/2014/main" id="{34428D15-027D-5640-CBA7-1E74808F4AD1}"/>
              </a:ext>
            </a:extLst>
          </p:cNvPr>
          <p:cNvPicPr>
            <a:picLocks noChangeAspect="1"/>
          </p:cNvPicPr>
          <p:nvPr/>
        </p:nvPicPr>
        <p:blipFill>
          <a:blip r:embed="rId7"/>
          <a:stretch>
            <a:fillRect/>
          </a:stretch>
        </p:blipFill>
        <p:spPr>
          <a:xfrm flipH="1">
            <a:off x="6756709" y="4237006"/>
            <a:ext cx="974209" cy="911066"/>
          </a:xfrm>
          <a:prstGeom prst="rect">
            <a:avLst/>
          </a:prstGeom>
        </p:spPr>
      </p:pic>
      <p:pic>
        <p:nvPicPr>
          <p:cNvPr id="34" name="Imagen 33">
            <a:extLst>
              <a:ext uri="{FF2B5EF4-FFF2-40B4-BE49-F238E27FC236}">
                <a16:creationId xmlns:a16="http://schemas.microsoft.com/office/drawing/2014/main" id="{3F5D34D5-22B4-E950-DBF2-352E3691E4FB}"/>
              </a:ext>
            </a:extLst>
          </p:cNvPr>
          <p:cNvPicPr>
            <a:picLocks noChangeAspect="1"/>
          </p:cNvPicPr>
          <p:nvPr/>
        </p:nvPicPr>
        <p:blipFill>
          <a:blip r:embed="rId8"/>
          <a:stretch>
            <a:fillRect/>
          </a:stretch>
        </p:blipFill>
        <p:spPr>
          <a:xfrm>
            <a:off x="10497960" y="4150729"/>
            <a:ext cx="1049121" cy="879117"/>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2</a:t>
            </a:r>
            <a:endParaRPr lang="rw-RW" sz="1100" dirty="0"/>
          </a:p>
        </p:txBody>
      </p:sp>
      <p:sp>
        <p:nvSpPr>
          <p:cNvPr id="3" name="Text 1"/>
          <p:cNvSpPr txBox="1"/>
          <p:nvPr/>
        </p:nvSpPr>
        <p:spPr>
          <a:xfrm>
            <a:off x="548640" y="401828"/>
            <a:ext cx="11094415" cy="566928"/>
          </a:xfrm>
          <a:prstGeom prst="rect">
            <a:avLst/>
          </a:prstGeom>
          <a:noFill/>
          <a:ln/>
        </p:spPr>
        <p:txBody>
          <a:bodyPr wrap="square" lIns="0" tIns="0" rIns="0" bIns="0" rtlCol="0" anchor="ctr">
            <a:normAutofit/>
          </a:bodyPr>
          <a:lstStyle/>
          <a:p>
            <a:pPr marL="0" indent="0">
              <a:buNone/>
            </a:pPr>
            <a:r>
              <a:rPr lang="rw-RW" sz="3000" b="1" dirty="0">
                <a:solidFill>
                  <a:srgbClr val="12305B"/>
                </a:solidFill>
                <a:latin typeface="Cambria" pitchFamily="34" charset="0"/>
                <a:ea typeface="Cambria" pitchFamily="34" charset="-122"/>
                <a:cs typeface="Cambria" pitchFamily="34" charset="-120"/>
              </a:rPr>
              <a:t>Amaraso mu musarane ntagomba na rimwe kwirengagizwa</a:t>
            </a:r>
            <a:endParaRPr lang="rw-RW" sz="300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Shape 3"/>
          <p:cNvSpPr/>
          <p:nvPr/>
        </p:nvSpPr>
        <p:spPr>
          <a:xfrm>
            <a:off x="548640" y="1109981"/>
            <a:ext cx="5547360" cy="1174523"/>
          </a:xfrm>
          <a:prstGeom prst="roundRect">
            <a:avLst>
              <a:gd name="adj" fmla="val 5854"/>
            </a:avLst>
          </a:prstGeom>
          <a:solidFill>
            <a:srgbClr val="F2F7FD"/>
          </a:solidFill>
          <a:ln w="12700">
            <a:solidFill>
              <a:srgbClr val="CBDDF3"/>
            </a:solidFill>
            <a:prstDash val="solid"/>
          </a:ln>
        </p:spPr>
        <p:txBody>
          <a:bodyPr/>
          <a:lstStyle/>
          <a:p>
            <a:endParaRPr lang="rw-RW" dirty="0">
              <a:latin typeface="Calibri" panose="020F0502020204030204" pitchFamily="34" charset="0"/>
              <a:cs typeface="Calibri" panose="020F0502020204030204" pitchFamily="34" charset="0"/>
            </a:endParaRPr>
          </a:p>
        </p:txBody>
      </p:sp>
      <p:sp>
        <p:nvSpPr>
          <p:cNvPr id="6" name="Text 4"/>
          <p:cNvSpPr txBox="1"/>
          <p:nvPr/>
        </p:nvSpPr>
        <p:spPr>
          <a:xfrm>
            <a:off x="749808" y="1151354"/>
            <a:ext cx="3112922"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anose="020F0502020204030204" pitchFamily="34" charset="0"/>
                <a:ea typeface="Calibri" pitchFamily="34" charset="-122"/>
                <a:cs typeface="Calibri" panose="020F0502020204030204" pitchFamily="34" charset="0"/>
              </a:rPr>
              <a:t>Impamvu zitandukanye</a:t>
            </a:r>
            <a:endParaRPr lang="rw-RW" dirty="0">
              <a:latin typeface="Calibri" panose="020F0502020204030204" pitchFamily="34" charset="0"/>
              <a:cs typeface="Calibri" panose="020F0502020204030204" pitchFamily="34" charset="0"/>
            </a:endParaRPr>
          </a:p>
        </p:txBody>
      </p:sp>
      <p:sp>
        <p:nvSpPr>
          <p:cNvPr id="7" name="Text 5"/>
          <p:cNvSpPr txBox="1"/>
          <p:nvPr/>
        </p:nvSpPr>
        <p:spPr>
          <a:xfrm>
            <a:off x="760170" y="1419115"/>
            <a:ext cx="5201287" cy="625540"/>
          </a:xfrm>
          <a:prstGeom prst="rect">
            <a:avLst/>
          </a:prstGeom>
          <a:noFill/>
          <a:ln/>
        </p:spPr>
        <p:txBody>
          <a:bodyPr wrap="square" lIns="0" tIns="0" rIns="0" bIns="0" rtlCol="0" anchor="t">
            <a:noAutofit/>
          </a:bodyPr>
          <a:lstStyle/>
          <a:p>
            <a:pPr marL="0" indent="0">
              <a:lnSpc>
                <a:spcPct val="105000"/>
              </a:lnSpc>
              <a:buNone/>
            </a:pPr>
            <a:r>
              <a:rPr lang="rw-RW" dirty="0">
                <a:solidFill>
                  <a:srgbClr val="17335F"/>
                </a:solidFill>
                <a:latin typeface="Calibri" panose="020F0502020204030204" pitchFamily="34" charset="0"/>
                <a:ea typeface="Calibri" pitchFamily="34" charset="-122"/>
                <a:cs typeface="Calibri" panose="020F0502020204030204" pitchFamily="34" charset="0"/>
              </a:rPr>
              <a:t>Amaraso aboneka mu byo umuntu yituma ashobora guturuka ku mabyimba (hemorroide), ku ndwara, ku bikomere cyangwa ku bibyimba biri mu mara.</a:t>
            </a:r>
            <a:endParaRPr lang="rw-RW" dirty="0">
              <a:latin typeface="Calibri" panose="020F0502020204030204" pitchFamily="34" charset="0"/>
              <a:cs typeface="Calibri" panose="020F0502020204030204" pitchFamily="34" charset="0"/>
            </a:endParaRPr>
          </a:p>
        </p:txBody>
      </p:sp>
      <p:sp>
        <p:nvSpPr>
          <p:cNvPr id="8" name="Shape 6"/>
          <p:cNvSpPr/>
          <p:nvPr/>
        </p:nvSpPr>
        <p:spPr>
          <a:xfrm>
            <a:off x="559002" y="2373709"/>
            <a:ext cx="5547359" cy="1010398"/>
          </a:xfrm>
          <a:prstGeom prst="roundRect">
            <a:avLst>
              <a:gd name="adj" fmla="val 5854"/>
            </a:avLst>
          </a:prstGeom>
          <a:solidFill>
            <a:srgbClr val="F2F7FD"/>
          </a:solidFill>
          <a:ln w="12700">
            <a:solidFill>
              <a:srgbClr val="CBDDF3"/>
            </a:solidFill>
            <a:prstDash val="solid"/>
          </a:ln>
        </p:spPr>
        <p:txBody>
          <a:bodyPr/>
          <a:lstStyle/>
          <a:p>
            <a:endParaRPr lang="rw-RW" dirty="0">
              <a:latin typeface="Calibri" panose="020F0502020204030204" pitchFamily="34" charset="0"/>
              <a:cs typeface="Calibri" panose="020F0502020204030204" pitchFamily="34" charset="0"/>
            </a:endParaRPr>
          </a:p>
        </p:txBody>
      </p:sp>
      <p:sp>
        <p:nvSpPr>
          <p:cNvPr id="9" name="Text 7"/>
          <p:cNvSpPr txBox="1"/>
          <p:nvPr/>
        </p:nvSpPr>
        <p:spPr>
          <a:xfrm>
            <a:off x="760170" y="2415083"/>
            <a:ext cx="4561129" cy="384048"/>
          </a:xfrm>
          <a:prstGeom prst="rect">
            <a:avLst/>
          </a:prstGeom>
          <a:noFill/>
          <a:ln/>
        </p:spPr>
        <p:txBody>
          <a:bodyPr wrap="square" lIns="0" tIns="0" rIns="0" bIns="0" rtlCol="0" anchor="t">
            <a:noAutofit/>
          </a:bodyPr>
          <a:lstStyle/>
          <a:p>
            <a:pPr marL="0" indent="0">
              <a:buNone/>
            </a:pPr>
            <a:r>
              <a:rPr lang="rw-RW" b="1" dirty="0">
                <a:solidFill>
                  <a:srgbClr val="12305B"/>
                </a:solidFill>
                <a:latin typeface="Calibri" panose="020F0502020204030204" pitchFamily="34" charset="0"/>
                <a:ea typeface="Calibri" pitchFamily="34" charset="-122"/>
                <a:cs typeface="Calibri" panose="020F0502020204030204" pitchFamily="34" charset="0"/>
              </a:rPr>
              <a:t>Amabyimba (hemorroide) akunze kugaragara</a:t>
            </a:r>
            <a:endParaRPr lang="rw-RW" dirty="0">
              <a:latin typeface="Calibri" panose="020F0502020204030204" pitchFamily="34" charset="0"/>
              <a:cs typeface="Calibri" panose="020F0502020204030204" pitchFamily="34" charset="0"/>
            </a:endParaRPr>
          </a:p>
        </p:txBody>
      </p:sp>
      <p:sp>
        <p:nvSpPr>
          <p:cNvPr id="10" name="Text 8"/>
          <p:cNvSpPr txBox="1"/>
          <p:nvPr/>
        </p:nvSpPr>
        <p:spPr>
          <a:xfrm>
            <a:off x="737219" y="2730825"/>
            <a:ext cx="5190923" cy="640354"/>
          </a:xfrm>
          <a:prstGeom prst="rect">
            <a:avLst/>
          </a:prstGeom>
          <a:noFill/>
          <a:ln/>
        </p:spPr>
        <p:txBody>
          <a:bodyPr wrap="square" lIns="0" tIns="0" rIns="0" bIns="0" rtlCol="0" anchor="t">
            <a:normAutofit/>
          </a:bodyPr>
          <a:lstStyle/>
          <a:p>
            <a:pPr marL="0" indent="0">
              <a:lnSpc>
                <a:spcPct val="105000"/>
              </a:lnSpc>
              <a:buNone/>
            </a:pPr>
            <a:r>
              <a:rPr lang="rw-RW" dirty="0">
                <a:solidFill>
                  <a:srgbClr val="17335F"/>
                </a:solidFill>
                <a:latin typeface="Calibri" panose="020F0502020204030204" pitchFamily="34" charset="0"/>
                <a:ea typeface="Calibri" pitchFamily="34" charset="-122"/>
                <a:cs typeface="Calibri" panose="020F0502020204030204" pitchFamily="34" charset="0"/>
              </a:rPr>
              <a:t>Abantu benshi bagira amabyimba (hemorroide). Ibi ntibivuze ko ari yo yonyine ituma amaraso ava.</a:t>
            </a:r>
            <a:endParaRPr lang="rw-RW" dirty="0">
              <a:latin typeface="Calibri" panose="020F0502020204030204" pitchFamily="34" charset="0"/>
              <a:cs typeface="Calibri" panose="020F0502020204030204" pitchFamily="34" charset="0"/>
            </a:endParaRPr>
          </a:p>
        </p:txBody>
      </p:sp>
      <p:sp>
        <p:nvSpPr>
          <p:cNvPr id="11" name="Shape 9"/>
          <p:cNvSpPr/>
          <p:nvPr/>
        </p:nvSpPr>
        <p:spPr>
          <a:xfrm>
            <a:off x="559002" y="3475570"/>
            <a:ext cx="5547358" cy="1020736"/>
          </a:xfrm>
          <a:prstGeom prst="roundRect">
            <a:avLst>
              <a:gd name="adj" fmla="val 5854"/>
            </a:avLst>
          </a:prstGeom>
          <a:solidFill>
            <a:srgbClr val="F2F7FD"/>
          </a:solidFill>
          <a:ln w="12700">
            <a:solidFill>
              <a:srgbClr val="CBDDF3"/>
            </a:solidFill>
            <a:prstDash val="solid"/>
          </a:ln>
        </p:spPr>
        <p:txBody>
          <a:bodyPr/>
          <a:lstStyle/>
          <a:p>
            <a:endParaRPr lang="rw-RW" dirty="0">
              <a:latin typeface="Calibri" panose="020F0502020204030204" pitchFamily="34" charset="0"/>
              <a:cs typeface="Calibri" panose="020F0502020204030204" pitchFamily="34" charset="0"/>
            </a:endParaRPr>
          </a:p>
        </p:txBody>
      </p:sp>
      <p:sp>
        <p:nvSpPr>
          <p:cNvPr id="12" name="Text 10"/>
          <p:cNvSpPr txBox="1"/>
          <p:nvPr/>
        </p:nvSpPr>
        <p:spPr>
          <a:xfrm>
            <a:off x="760170" y="3507574"/>
            <a:ext cx="4912440"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anose="020F0502020204030204" pitchFamily="34" charset="0"/>
                <a:ea typeface="Calibri" pitchFamily="34" charset="-122"/>
                <a:cs typeface="Calibri" panose="020F0502020204030204" pitchFamily="34" charset="0"/>
              </a:rPr>
              <a:t>Irinde kwifatira ibyemezo</a:t>
            </a:r>
            <a:endParaRPr lang="rw-RW" dirty="0">
              <a:latin typeface="Calibri" panose="020F0502020204030204" pitchFamily="34" charset="0"/>
              <a:cs typeface="Calibri" panose="020F0502020204030204" pitchFamily="34" charset="0"/>
            </a:endParaRPr>
          </a:p>
        </p:txBody>
      </p:sp>
      <p:sp>
        <p:nvSpPr>
          <p:cNvPr id="13" name="Text 11"/>
          <p:cNvSpPr txBox="1"/>
          <p:nvPr/>
        </p:nvSpPr>
        <p:spPr>
          <a:xfrm>
            <a:off x="760170" y="3928198"/>
            <a:ext cx="4912440" cy="568108"/>
          </a:xfrm>
          <a:prstGeom prst="rect">
            <a:avLst/>
          </a:prstGeom>
          <a:noFill/>
          <a:ln/>
        </p:spPr>
        <p:txBody>
          <a:bodyPr wrap="square" lIns="0" tIns="0" rIns="0" bIns="0" rtlCol="0" anchor="t">
            <a:normAutofit/>
          </a:bodyPr>
          <a:lstStyle/>
          <a:p>
            <a:pPr marL="0" indent="0">
              <a:lnSpc>
                <a:spcPct val="105000"/>
              </a:lnSpc>
              <a:buNone/>
            </a:pPr>
            <a:r>
              <a:rPr lang="rw-RW" dirty="0">
                <a:solidFill>
                  <a:srgbClr val="17335F"/>
                </a:solidFill>
                <a:latin typeface="Calibri" panose="020F0502020204030204" pitchFamily="34" charset="0"/>
                <a:ea typeface="Calibri" pitchFamily="34" charset="-122"/>
                <a:cs typeface="Calibri" panose="020F0502020204030204" pitchFamily="34" charset="0"/>
              </a:rPr>
              <a:t>Umukozi w'ubuzima ku kigo nderabuzima ni we ushobora gusuzuma inkomoko y'amaraso.</a:t>
            </a:r>
            <a:endParaRPr lang="rw-RW" dirty="0">
              <a:latin typeface="Calibri" panose="020F0502020204030204" pitchFamily="34" charset="0"/>
              <a:cs typeface="Calibri" panose="020F0502020204030204" pitchFamily="34" charset="0"/>
            </a:endParaRPr>
          </a:p>
        </p:txBody>
      </p:sp>
      <p:sp>
        <p:nvSpPr>
          <p:cNvPr id="14" name="Shape 12"/>
          <p:cNvSpPr/>
          <p:nvPr/>
        </p:nvSpPr>
        <p:spPr>
          <a:xfrm>
            <a:off x="559002" y="6029333"/>
            <a:ext cx="11084053" cy="566903"/>
          </a:xfrm>
          <a:prstGeom prst="roundRect">
            <a:avLst>
              <a:gd name="adj" fmla="val 12821"/>
            </a:avLst>
          </a:prstGeom>
          <a:solidFill>
            <a:srgbClr val="FDF0DE"/>
          </a:solidFill>
          <a:ln w="12700">
            <a:solidFill>
              <a:srgbClr val="F0CFA0"/>
            </a:solidFill>
            <a:prstDash val="solid"/>
          </a:ln>
        </p:spPr>
        <p:txBody>
          <a:bodyPr/>
          <a:lstStyle/>
          <a:p>
            <a:endParaRPr lang="rw-RW" dirty="0"/>
          </a:p>
        </p:txBody>
      </p:sp>
      <p:sp>
        <p:nvSpPr>
          <p:cNvPr id="15" name="Text 13"/>
          <p:cNvSpPr txBox="1"/>
          <p:nvPr/>
        </p:nvSpPr>
        <p:spPr>
          <a:xfrm>
            <a:off x="747016" y="6029333"/>
            <a:ext cx="10787944" cy="553975"/>
          </a:xfrm>
          <a:prstGeom prst="rect">
            <a:avLst/>
          </a:prstGeom>
          <a:noFill/>
          <a:ln/>
        </p:spPr>
        <p:txBody>
          <a:bodyPr wrap="square" lIns="0" tIns="0" rIns="0" bIns="0" rtlCol="0" anchor="ctr">
            <a:normAutofit/>
          </a:bodyPr>
          <a:lstStyle/>
          <a:p>
            <a:pPr marL="0" indent="0">
              <a:buNone/>
            </a:pPr>
            <a:r>
              <a:rPr lang="rw-RW" sz="1300" dirty="0">
                <a:solidFill>
                  <a:srgbClr val="9C4A00"/>
                </a:solidFill>
                <a:latin typeface="Calibri" pitchFamily="34" charset="0"/>
                <a:ea typeface="Calibri" pitchFamily="34" charset="-122"/>
                <a:cs typeface="Calibri" pitchFamily="34" charset="-120"/>
              </a:rPr>
              <a:t>Bivuge mu buryo bwumvikana: Iyo amaraso agarukagaruka, cyangwa akava igihe kirenze gito / gikomeza kugaruka, bisaba kwisuzumisha ku kigo nderabuzima, kabone n'iyo waba wumva umeze neza.</a:t>
            </a:r>
            <a:endParaRPr lang="rw-RW" sz="1300" dirty="0"/>
          </a:p>
        </p:txBody>
      </p:sp>
      <p:sp>
        <p:nvSpPr>
          <p:cNvPr id="16" name="Shape 14"/>
          <p:cNvSpPr/>
          <p:nvPr/>
        </p:nvSpPr>
        <p:spPr>
          <a:xfrm>
            <a:off x="548640" y="4666466"/>
            <a:ext cx="3990746" cy="1219298"/>
          </a:xfrm>
          <a:prstGeom prst="roundRect">
            <a:avLst>
              <a:gd name="adj" fmla="val 7059"/>
            </a:avLst>
          </a:prstGeom>
          <a:solidFill>
            <a:srgbClr val="F2F7FD"/>
          </a:solidFill>
          <a:ln w="12700">
            <a:solidFill>
              <a:srgbClr val="CBDDF3"/>
            </a:solidFill>
            <a:prstDash val="solid"/>
          </a:ln>
        </p:spPr>
        <p:txBody>
          <a:bodyPr/>
          <a:lstStyle/>
          <a:p>
            <a:endParaRPr lang="rw-RW" dirty="0">
              <a:latin typeface="Calibri" panose="020F0502020204030204" pitchFamily="34" charset="0"/>
              <a:cs typeface="Calibri" panose="020F0502020204030204" pitchFamily="34" charset="0"/>
            </a:endParaRPr>
          </a:p>
        </p:txBody>
      </p:sp>
      <p:sp>
        <p:nvSpPr>
          <p:cNvPr id="17" name="Text 15"/>
          <p:cNvSpPr txBox="1"/>
          <p:nvPr/>
        </p:nvSpPr>
        <p:spPr>
          <a:xfrm>
            <a:off x="749808" y="4748989"/>
            <a:ext cx="5007712"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anose="020F0502020204030204" pitchFamily="34" charset="0"/>
                <a:ea typeface="Calibri" pitchFamily="34" charset="-122"/>
                <a:cs typeface="Calibri" panose="020F0502020204030204" pitchFamily="34" charset="0"/>
              </a:rPr>
              <a:t>Icyo abantu bakunze kuvuga</a:t>
            </a:r>
            <a:endParaRPr lang="rw-RW" dirty="0">
              <a:latin typeface="Calibri" panose="020F0502020204030204" pitchFamily="34" charset="0"/>
              <a:cs typeface="Calibri" panose="020F0502020204030204" pitchFamily="34" charset="0"/>
            </a:endParaRPr>
          </a:p>
        </p:txBody>
      </p:sp>
      <p:sp>
        <p:nvSpPr>
          <p:cNvPr id="18" name="Text 16"/>
          <p:cNvSpPr txBox="1"/>
          <p:nvPr/>
        </p:nvSpPr>
        <p:spPr>
          <a:xfrm>
            <a:off x="749808" y="5039056"/>
            <a:ext cx="3789578" cy="486946"/>
          </a:xfrm>
          <a:prstGeom prst="rect">
            <a:avLst/>
          </a:prstGeom>
          <a:noFill/>
          <a:ln/>
        </p:spPr>
        <p:txBody>
          <a:bodyPr wrap="square" lIns="0" tIns="0" rIns="0" bIns="0" rtlCol="0" anchor="t">
            <a:noAutofit/>
          </a:bodyPr>
          <a:lstStyle/>
          <a:p>
            <a:pPr marL="0" indent="0">
              <a:lnSpc>
                <a:spcPct val="105000"/>
              </a:lnSpc>
              <a:buNone/>
            </a:pPr>
            <a:r>
              <a:rPr lang="rw-RW" dirty="0">
                <a:solidFill>
                  <a:srgbClr val="17335F"/>
                </a:solidFill>
                <a:latin typeface="Calibri" panose="020F0502020204030204" pitchFamily="34" charset="0"/>
                <a:ea typeface="Calibri" pitchFamily="34" charset="-122"/>
                <a:cs typeface="Calibri" panose="020F0502020204030204" pitchFamily="34" charset="0"/>
              </a:rPr>
              <a:t>"Ni amabyimba (hemorroide) gusa." "Byarahagaze, birarangiye." "Mfite isoni zo kwerekana ibi."</a:t>
            </a:r>
            <a:endParaRPr lang="rw-RW" dirty="0">
              <a:latin typeface="Calibri" panose="020F0502020204030204" pitchFamily="34" charset="0"/>
              <a:cs typeface="Calibri" panose="020F0502020204030204" pitchFamily="34" charset="0"/>
            </a:endParaRPr>
          </a:p>
        </p:txBody>
      </p:sp>
      <p:sp>
        <p:nvSpPr>
          <p:cNvPr id="19" name="Shape 17"/>
          <p:cNvSpPr/>
          <p:nvPr/>
        </p:nvSpPr>
        <p:spPr>
          <a:xfrm>
            <a:off x="4740554" y="4666466"/>
            <a:ext cx="6902502" cy="1234478"/>
          </a:xfrm>
          <a:prstGeom prst="roundRect">
            <a:avLst>
              <a:gd name="adj" fmla="val 7059"/>
            </a:avLst>
          </a:prstGeom>
          <a:solidFill>
            <a:srgbClr val="F2F7FD"/>
          </a:solidFill>
          <a:ln w="12700">
            <a:solidFill>
              <a:srgbClr val="CBDDF3"/>
            </a:solidFill>
            <a:prstDash val="solid"/>
          </a:ln>
        </p:spPr>
        <p:txBody>
          <a:bodyPr/>
          <a:lstStyle/>
          <a:p>
            <a:endParaRPr lang="rw-RW" dirty="0">
              <a:latin typeface="Calibri" panose="020F0502020204030204" pitchFamily="34" charset="0"/>
              <a:cs typeface="Calibri" panose="020F0502020204030204" pitchFamily="34" charset="0"/>
            </a:endParaRPr>
          </a:p>
        </p:txBody>
      </p:sp>
      <p:sp>
        <p:nvSpPr>
          <p:cNvPr id="20" name="Text 18"/>
          <p:cNvSpPr txBox="1"/>
          <p:nvPr/>
        </p:nvSpPr>
        <p:spPr>
          <a:xfrm>
            <a:off x="4980134" y="4704495"/>
            <a:ext cx="5007712"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anose="020F0502020204030204" pitchFamily="34" charset="0"/>
                <a:ea typeface="Calibri" pitchFamily="34" charset="-122"/>
                <a:cs typeface="Calibri" panose="020F0502020204030204" pitchFamily="34" charset="0"/>
              </a:rPr>
              <a:t>Icyo wasubiza</a:t>
            </a:r>
            <a:endParaRPr lang="rw-RW" dirty="0">
              <a:latin typeface="Calibri" panose="020F0502020204030204" pitchFamily="34" charset="0"/>
              <a:cs typeface="Calibri" panose="020F0502020204030204" pitchFamily="34" charset="0"/>
            </a:endParaRPr>
          </a:p>
        </p:txBody>
      </p:sp>
      <p:sp>
        <p:nvSpPr>
          <p:cNvPr id="21" name="Text 19"/>
          <p:cNvSpPr txBox="1"/>
          <p:nvPr/>
        </p:nvSpPr>
        <p:spPr>
          <a:xfrm>
            <a:off x="4980135" y="5026228"/>
            <a:ext cx="6662920" cy="859536"/>
          </a:xfrm>
          <a:prstGeom prst="rect">
            <a:avLst/>
          </a:prstGeom>
          <a:noFill/>
          <a:ln/>
        </p:spPr>
        <p:txBody>
          <a:bodyPr wrap="square" lIns="0" tIns="0" rIns="0" bIns="0" rtlCol="0" anchor="t">
            <a:normAutofit/>
          </a:bodyPr>
          <a:lstStyle/>
          <a:p>
            <a:pPr marL="0" indent="0">
              <a:lnSpc>
                <a:spcPct val="105000"/>
              </a:lnSpc>
              <a:buNone/>
            </a:pPr>
            <a:r>
              <a:rPr lang="rw-RW" dirty="0">
                <a:solidFill>
                  <a:srgbClr val="17335F"/>
                </a:solidFill>
                <a:latin typeface="Calibri" panose="020F0502020204030204" pitchFamily="34" charset="0"/>
                <a:ea typeface="Calibri" pitchFamily="34" charset="-122"/>
                <a:cs typeface="Calibri" panose="020F0502020204030204" pitchFamily="34" charset="0"/>
              </a:rPr>
              <a:t>"Bishobora kuba ari amabyimba (hemorroide). Isuzuma ryihuse ni ryo ribwira icyo ari cyo, kandi rikagumana hagati yawe n'umukozi w'ubuzima."</a:t>
            </a:r>
            <a:endParaRPr lang="rw-RW" dirty="0">
              <a:latin typeface="Calibri" panose="020F0502020204030204" pitchFamily="34" charset="0"/>
              <a:cs typeface="Calibri" panose="020F0502020204030204" pitchFamily="34" charset="0"/>
            </a:endParaRPr>
          </a:p>
        </p:txBody>
      </p:sp>
      <p:pic>
        <p:nvPicPr>
          <p:cNvPr id="23" name="Imagen 22">
            <a:extLst>
              <a:ext uri="{FF2B5EF4-FFF2-40B4-BE49-F238E27FC236}">
                <a16:creationId xmlns:a16="http://schemas.microsoft.com/office/drawing/2014/main" id="{E5432A9A-D988-8C33-910E-C50C7650A3C5}"/>
              </a:ext>
            </a:extLst>
          </p:cNvPr>
          <p:cNvPicPr>
            <a:picLocks noChangeAspect="1"/>
          </p:cNvPicPr>
          <p:nvPr/>
        </p:nvPicPr>
        <p:blipFill>
          <a:blip r:embed="rId3"/>
          <a:stretch>
            <a:fillRect/>
          </a:stretch>
        </p:blipFill>
        <p:spPr>
          <a:xfrm>
            <a:off x="6297168" y="1074880"/>
            <a:ext cx="3560811" cy="3560811"/>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2</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Dore inama wagira uyu munsi</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Shape 3"/>
          <p:cNvSpPr/>
          <p:nvPr/>
        </p:nvSpPr>
        <p:spPr>
          <a:xfrm>
            <a:off x="548640" y="1325879"/>
            <a:ext cx="3515258" cy="3246121"/>
          </a:xfrm>
          <a:prstGeom prst="roundRect">
            <a:avLst>
              <a:gd name="adj" fmla="val 5333"/>
            </a:avLst>
          </a:prstGeom>
          <a:solidFill>
            <a:srgbClr val="F2F7FD"/>
          </a:solidFill>
          <a:ln w="12700">
            <a:solidFill>
              <a:srgbClr val="CBDDF3"/>
            </a:solidFill>
            <a:prstDash val="solid"/>
          </a:ln>
        </p:spPr>
        <p:txBody>
          <a:bodyPr/>
          <a:lstStyle/>
          <a:p>
            <a:endParaRPr lang="rw-RW" dirty="0"/>
          </a:p>
        </p:txBody>
      </p:sp>
      <p:sp>
        <p:nvSpPr>
          <p:cNvPr id="6" name="Text 4"/>
          <p:cNvSpPr txBox="1"/>
          <p:nvPr/>
        </p:nvSpPr>
        <p:spPr>
          <a:xfrm>
            <a:off x="749808" y="1472184"/>
            <a:ext cx="3112922"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Ntutegereze</a:t>
            </a:r>
            <a:endParaRPr lang="rw-RW" dirty="0"/>
          </a:p>
        </p:txBody>
      </p:sp>
      <p:sp>
        <p:nvSpPr>
          <p:cNvPr id="7" name="Text 5"/>
          <p:cNvSpPr txBox="1"/>
          <p:nvPr/>
        </p:nvSpPr>
        <p:spPr>
          <a:xfrm>
            <a:off x="649224" y="1945389"/>
            <a:ext cx="2005229" cy="1770379"/>
          </a:xfrm>
          <a:prstGeom prst="rect">
            <a:avLst/>
          </a:prstGeom>
          <a:noFill/>
          <a:ln/>
        </p:spPr>
        <p:txBody>
          <a:bodyPr wrap="square" lIns="0" tIns="0" rIns="0" bIns="0" rtlCol="0" anchor="t">
            <a:norm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Umuntu wese ufite ibimenyetso byavuzwe haruguru, agomba kujya ku kigo nderabuzima cyangwa ku bitaro ubu, atari mu mezi make.</a:t>
            </a:r>
            <a:endParaRPr lang="rw-RW" sz="1600" dirty="0"/>
          </a:p>
        </p:txBody>
      </p:sp>
      <p:sp>
        <p:nvSpPr>
          <p:cNvPr id="8" name="Shape 6"/>
          <p:cNvSpPr/>
          <p:nvPr/>
        </p:nvSpPr>
        <p:spPr>
          <a:xfrm>
            <a:off x="4338218" y="1325880"/>
            <a:ext cx="3515258" cy="3246120"/>
          </a:xfrm>
          <a:prstGeom prst="roundRect">
            <a:avLst>
              <a:gd name="adj" fmla="val 5333"/>
            </a:avLst>
          </a:prstGeom>
          <a:solidFill>
            <a:srgbClr val="F2F7FD"/>
          </a:solidFill>
          <a:ln w="12700">
            <a:solidFill>
              <a:srgbClr val="CBDDF3"/>
            </a:solidFill>
            <a:prstDash val="solid"/>
          </a:ln>
        </p:spPr>
        <p:txBody>
          <a:bodyPr/>
          <a:lstStyle/>
          <a:p>
            <a:endParaRPr lang="rw-RW" dirty="0"/>
          </a:p>
        </p:txBody>
      </p:sp>
      <p:sp>
        <p:nvSpPr>
          <p:cNvPr id="9" name="Text 7"/>
          <p:cNvSpPr txBox="1"/>
          <p:nvPr/>
        </p:nvSpPr>
        <p:spPr>
          <a:xfrm>
            <a:off x="4539386" y="1472184"/>
            <a:ext cx="3112922" cy="384048"/>
          </a:xfrm>
          <a:prstGeom prst="rect">
            <a:avLst/>
          </a:prstGeom>
          <a:noFill/>
          <a:ln/>
        </p:spPr>
        <p:txBody>
          <a:bodyPr wrap="square" lIns="0" tIns="0" rIns="0" bIns="0" rtlCol="0" anchor="t">
            <a:noAutofit/>
          </a:bodyPr>
          <a:lstStyle/>
          <a:p>
            <a:pPr marL="0" indent="0">
              <a:buNone/>
            </a:pPr>
            <a:r>
              <a:rPr lang="rw-RW" b="1" dirty="0">
                <a:solidFill>
                  <a:srgbClr val="12305B"/>
                </a:solidFill>
                <a:latin typeface="Calibri" pitchFamily="34" charset="0"/>
                <a:ea typeface="Calibri" pitchFamily="34" charset="-122"/>
                <a:cs typeface="Calibri" pitchFamily="34" charset="-120"/>
              </a:rPr>
              <a:t>Vugana n'umukozi wo mu rwego rw'ubuzima hakiri kare</a:t>
            </a:r>
            <a:endParaRPr lang="rw-RW" dirty="0"/>
          </a:p>
        </p:txBody>
      </p:sp>
      <p:sp>
        <p:nvSpPr>
          <p:cNvPr id="10" name="Text 8"/>
          <p:cNvSpPr txBox="1"/>
          <p:nvPr/>
        </p:nvSpPr>
        <p:spPr>
          <a:xfrm>
            <a:off x="4444553" y="2125937"/>
            <a:ext cx="1970617" cy="1818601"/>
          </a:xfrm>
          <a:prstGeom prst="rect">
            <a:avLst/>
          </a:prstGeom>
          <a:noFill/>
          <a:ln/>
        </p:spPr>
        <p:txBody>
          <a:bodyPr wrap="square" lIns="0" tIns="0" rIns="0" bIns="0" rtlCol="0" anchor="t">
            <a:norm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Umuntu ufite umuryango wa hafi urwaye kanseri y'amara yagombye kubibwira ku kigo nderabuzima, akagisha inama.</a:t>
            </a:r>
            <a:endParaRPr lang="rw-RW" sz="1600" dirty="0"/>
          </a:p>
        </p:txBody>
      </p:sp>
      <p:sp>
        <p:nvSpPr>
          <p:cNvPr id="11" name="Shape 9"/>
          <p:cNvSpPr/>
          <p:nvPr/>
        </p:nvSpPr>
        <p:spPr>
          <a:xfrm>
            <a:off x="8127797" y="1325879"/>
            <a:ext cx="3515258" cy="3246121"/>
          </a:xfrm>
          <a:prstGeom prst="roundRect">
            <a:avLst>
              <a:gd name="adj" fmla="val 5333"/>
            </a:avLst>
          </a:prstGeom>
          <a:solidFill>
            <a:srgbClr val="F2F7FD"/>
          </a:solidFill>
          <a:ln w="12700">
            <a:solidFill>
              <a:srgbClr val="CBDDF3"/>
            </a:solidFill>
            <a:prstDash val="solid"/>
          </a:ln>
        </p:spPr>
        <p:txBody>
          <a:bodyPr/>
          <a:lstStyle/>
          <a:p>
            <a:endParaRPr lang="rw-RW" dirty="0"/>
          </a:p>
        </p:txBody>
      </p:sp>
      <p:sp>
        <p:nvSpPr>
          <p:cNvPr id="12" name="Text 10"/>
          <p:cNvSpPr txBox="1"/>
          <p:nvPr/>
        </p:nvSpPr>
        <p:spPr>
          <a:xfrm>
            <a:off x="8328965" y="1472184"/>
            <a:ext cx="3112922" cy="384048"/>
          </a:xfrm>
          <a:prstGeom prst="rect">
            <a:avLst/>
          </a:prstGeom>
          <a:noFill/>
          <a:ln/>
        </p:spPr>
        <p:txBody>
          <a:bodyPr wrap="square" lIns="0" tIns="0" rIns="0" bIns="0" rtlCol="0" anchor="t">
            <a:noAutofit/>
          </a:bodyPr>
          <a:lstStyle/>
          <a:p>
            <a:pPr marL="0" indent="0">
              <a:buNone/>
            </a:pPr>
            <a:r>
              <a:rPr lang="rw-RW" b="1" dirty="0">
                <a:solidFill>
                  <a:srgbClr val="12305B"/>
                </a:solidFill>
                <a:latin typeface="Calibri" pitchFamily="34" charset="0"/>
                <a:ea typeface="Calibri" pitchFamily="34" charset="-122"/>
                <a:cs typeface="Calibri" pitchFamily="34" charset="-120"/>
              </a:rPr>
              <a:t>Imyitozo ngororamubiri ya buri munsi irafasha</a:t>
            </a:r>
            <a:endParaRPr lang="rw-RW" dirty="0"/>
          </a:p>
        </p:txBody>
      </p:sp>
      <p:sp>
        <p:nvSpPr>
          <p:cNvPr id="13" name="Text 11"/>
          <p:cNvSpPr txBox="1"/>
          <p:nvPr/>
        </p:nvSpPr>
        <p:spPr>
          <a:xfrm>
            <a:off x="8329577" y="2144580"/>
            <a:ext cx="1878870" cy="1488123"/>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Kwirinda itabi, kugabanya inzoga, gukora imyitozo ngororamubiri no kurya imboga nyinshi, imbuto n'ibishyimbo bifasha kugira ubuzima buzira umuze.</a:t>
            </a:r>
            <a:endParaRPr lang="rw-RW" sz="1600" dirty="0"/>
          </a:p>
        </p:txBody>
      </p:sp>
      <p:sp>
        <p:nvSpPr>
          <p:cNvPr id="14" name="Shape 12"/>
          <p:cNvSpPr/>
          <p:nvPr/>
        </p:nvSpPr>
        <p:spPr>
          <a:xfrm>
            <a:off x="548640" y="5008090"/>
            <a:ext cx="11094415" cy="1051560"/>
          </a:xfrm>
          <a:prstGeom prst="roundRect">
            <a:avLst>
              <a:gd name="adj" fmla="val 8696"/>
            </a:avLst>
          </a:prstGeom>
          <a:solidFill>
            <a:srgbClr val="F2F7FD"/>
          </a:solidFill>
          <a:ln w="12700">
            <a:solidFill>
              <a:srgbClr val="CBDDF3"/>
            </a:solidFill>
            <a:prstDash val="solid"/>
          </a:ln>
        </p:spPr>
        <p:txBody>
          <a:bodyPr/>
          <a:lstStyle/>
          <a:p>
            <a:endParaRPr lang="rw-RW" dirty="0"/>
          </a:p>
        </p:txBody>
      </p:sp>
      <p:sp>
        <p:nvSpPr>
          <p:cNvPr id="15" name="Text 13"/>
          <p:cNvSpPr txBox="1"/>
          <p:nvPr/>
        </p:nvSpPr>
        <p:spPr>
          <a:xfrm>
            <a:off x="639216" y="5099530"/>
            <a:ext cx="10637215" cy="868680"/>
          </a:xfrm>
          <a:prstGeom prst="rect">
            <a:avLst/>
          </a:prstGeom>
          <a:noFill/>
          <a:ln/>
        </p:spPr>
        <p:txBody>
          <a:bodyPr wrap="square" lIns="0" tIns="0" rIns="0" bIns="0" rtlCol="0" anchor="ctr">
            <a:noAutofit/>
          </a:bodyPr>
          <a:lstStyle/>
          <a:p>
            <a:pPr marL="0" indent="0">
              <a:buNone/>
            </a:pPr>
            <a:r>
              <a:rPr lang="rw-RW" sz="1600" dirty="0">
                <a:solidFill>
                  <a:srgbClr val="17335F"/>
                </a:solidFill>
                <a:latin typeface="Calibri" pitchFamily="34" charset="0"/>
                <a:ea typeface="Calibri" pitchFamily="34" charset="-122"/>
                <a:cs typeface="Calibri" pitchFamily="34" charset="-120"/>
              </a:rPr>
              <a:t>Kugeza ubu u Rwanda rufite gahunda zateguwe zo gusuzuma kanseri y'inkondo y'umura na kanseri y'ibere. Kugeza ubu nta gahunda y'igihugu yateguwe yo gusuzuma kanseri y'amara ku bantu badafite ibimenyetso, bityo ntuhize gupima abantu bumva bameze neza. Uruhare rwawe ni ugukangurira abaturage, gushishikariza kwisuzumisha hakiri kare igihe ibimenyetso bigaragaye, kohereza umurwayi no kumukurikirana.</a:t>
            </a:r>
            <a:endParaRPr lang="rw-RW" sz="1600" dirty="0"/>
          </a:p>
        </p:txBody>
      </p:sp>
      <p:sp>
        <p:nvSpPr>
          <p:cNvPr id="18" name="Text 16"/>
          <p:cNvSpPr txBox="1"/>
          <p:nvPr/>
        </p:nvSpPr>
        <p:spPr>
          <a:xfrm>
            <a:off x="548639" y="5997256"/>
            <a:ext cx="11094415" cy="365760"/>
          </a:xfrm>
          <a:prstGeom prst="rect">
            <a:avLst/>
          </a:prstGeom>
          <a:noFill/>
          <a:ln/>
        </p:spPr>
        <p:txBody>
          <a:bodyPr wrap="square" lIns="0" tIns="0" rIns="0" bIns="0" rtlCol="0" anchor="ctr">
            <a:normAutofit/>
          </a:bodyPr>
          <a:lstStyle/>
          <a:p>
            <a:pPr marL="0" indent="0">
              <a:buNone/>
            </a:pPr>
            <a:r>
              <a:rPr lang="rw-RW" sz="900" i="1" dirty="0">
                <a:solidFill>
                  <a:srgbClr val="6B7A90"/>
                </a:solidFill>
                <a:latin typeface="Calibri" pitchFamily="34" charset="0"/>
                <a:ea typeface="Calibri" pitchFamily="34" charset="-122"/>
                <a:cs typeface="Calibri" pitchFamily="34" charset="-120"/>
              </a:rPr>
              <a:t>Source: Repubulika y'u Rwanda, Minisiteri y'Ubuzima n'Ikigo cy'Igihugu gishinzwe Kurwanya Kanseri (National Cancer Control Plan) 2025-2029.</a:t>
            </a:r>
            <a:endParaRPr lang="rw-RW" sz="900" dirty="0"/>
          </a:p>
        </p:txBody>
      </p:sp>
      <p:pic>
        <p:nvPicPr>
          <p:cNvPr id="19" name="Imagen 18">
            <a:extLst>
              <a:ext uri="{FF2B5EF4-FFF2-40B4-BE49-F238E27FC236}">
                <a16:creationId xmlns:a16="http://schemas.microsoft.com/office/drawing/2014/main" id="{495764D1-1D84-4B60-BADD-0183789D7083}"/>
              </a:ext>
            </a:extLst>
          </p:cNvPr>
          <p:cNvPicPr>
            <a:picLocks noChangeAspect="1"/>
          </p:cNvPicPr>
          <p:nvPr/>
        </p:nvPicPr>
        <p:blipFill>
          <a:blip r:embed="rId3"/>
          <a:stretch>
            <a:fillRect/>
          </a:stretch>
        </p:blipFill>
        <p:spPr>
          <a:xfrm>
            <a:off x="2719177" y="2273377"/>
            <a:ext cx="1205411" cy="1003631"/>
          </a:xfrm>
          <a:prstGeom prst="rect">
            <a:avLst/>
          </a:prstGeom>
        </p:spPr>
      </p:pic>
      <p:pic>
        <p:nvPicPr>
          <p:cNvPr id="21" name="Imagen 20">
            <a:extLst>
              <a:ext uri="{FF2B5EF4-FFF2-40B4-BE49-F238E27FC236}">
                <a16:creationId xmlns:a16="http://schemas.microsoft.com/office/drawing/2014/main" id="{86A001D2-0087-6DD5-BB5F-0BC69F710D4B}"/>
              </a:ext>
            </a:extLst>
          </p:cNvPr>
          <p:cNvPicPr>
            <a:picLocks noChangeAspect="1"/>
          </p:cNvPicPr>
          <p:nvPr/>
        </p:nvPicPr>
        <p:blipFill>
          <a:blip r:embed="rId4"/>
          <a:stretch>
            <a:fillRect/>
          </a:stretch>
        </p:blipFill>
        <p:spPr>
          <a:xfrm>
            <a:off x="6465970" y="2149981"/>
            <a:ext cx="1242192" cy="1360398"/>
          </a:xfrm>
          <a:prstGeom prst="rect">
            <a:avLst/>
          </a:prstGeom>
        </p:spPr>
      </p:pic>
      <p:pic>
        <p:nvPicPr>
          <p:cNvPr id="23" name="Imagen 22">
            <a:extLst>
              <a:ext uri="{FF2B5EF4-FFF2-40B4-BE49-F238E27FC236}">
                <a16:creationId xmlns:a16="http://schemas.microsoft.com/office/drawing/2014/main" id="{BB17DEE5-8DB6-4880-F4C0-11EA242B57F4}"/>
              </a:ext>
            </a:extLst>
          </p:cNvPr>
          <p:cNvPicPr>
            <a:picLocks noChangeAspect="1"/>
          </p:cNvPicPr>
          <p:nvPr/>
        </p:nvPicPr>
        <p:blipFill>
          <a:blip r:embed="rId5"/>
          <a:stretch>
            <a:fillRect/>
          </a:stretch>
        </p:blipFill>
        <p:spPr>
          <a:xfrm>
            <a:off x="10142017" y="1844585"/>
            <a:ext cx="1400454" cy="1104891"/>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2</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Ibimenyetso mpuruza</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Shape 3"/>
          <p:cNvSpPr/>
          <p:nvPr/>
        </p:nvSpPr>
        <p:spPr>
          <a:xfrm>
            <a:off x="548639" y="1325880"/>
            <a:ext cx="6281187" cy="4050792"/>
          </a:xfrm>
          <a:prstGeom prst="roundRect">
            <a:avLst>
              <a:gd name="adj" fmla="val 3077"/>
            </a:avLst>
          </a:prstGeom>
          <a:solidFill>
            <a:srgbClr val="FDF0DE"/>
          </a:solidFill>
          <a:ln w="12700">
            <a:solidFill>
              <a:srgbClr val="F0CFA0"/>
            </a:solidFill>
            <a:prstDash val="solid"/>
          </a:ln>
        </p:spPr>
        <p:txBody>
          <a:bodyPr/>
          <a:lstStyle/>
          <a:p>
            <a:endParaRPr lang="rw-RW" dirty="0"/>
          </a:p>
        </p:txBody>
      </p:sp>
      <p:sp>
        <p:nvSpPr>
          <p:cNvPr id="6" name="Text 4"/>
          <p:cNvSpPr txBox="1"/>
          <p:nvPr/>
        </p:nvSpPr>
        <p:spPr>
          <a:xfrm>
            <a:off x="822960" y="1481328"/>
            <a:ext cx="6217920" cy="365760"/>
          </a:xfrm>
          <a:prstGeom prst="rect">
            <a:avLst/>
          </a:prstGeom>
          <a:noFill/>
          <a:ln/>
        </p:spPr>
        <p:txBody>
          <a:bodyPr wrap="square" lIns="0" tIns="0" rIns="0" bIns="0" rtlCol="0" anchor="ctr">
            <a:normAutofit/>
          </a:bodyPr>
          <a:lstStyle/>
          <a:p>
            <a:pPr marL="0" indent="0">
              <a:buNone/>
            </a:pPr>
            <a:r>
              <a:rPr lang="rw-RW" b="1" dirty="0">
                <a:solidFill>
                  <a:srgbClr val="9C4A00"/>
                </a:solidFill>
                <a:latin typeface="Calibri" pitchFamily="34" charset="0"/>
                <a:ea typeface="Calibri" pitchFamily="34" charset="-122"/>
                <a:cs typeface="Calibri" pitchFamily="34" charset="-120"/>
              </a:rPr>
              <a:t>Shaka ubuvuzi uwo munsi nyine niba ufite ibi bikurikira:</a:t>
            </a:r>
            <a:endParaRPr lang="rw-RW" dirty="0"/>
          </a:p>
        </p:txBody>
      </p:sp>
      <p:sp>
        <p:nvSpPr>
          <p:cNvPr id="7" name="Text 5"/>
          <p:cNvSpPr txBox="1"/>
          <p:nvPr/>
        </p:nvSpPr>
        <p:spPr>
          <a:xfrm>
            <a:off x="1812750" y="2025747"/>
            <a:ext cx="4960119" cy="2834640"/>
          </a:xfrm>
          <a:prstGeom prst="rect">
            <a:avLst/>
          </a:prstGeom>
          <a:noFill/>
          <a:ln/>
        </p:spPr>
        <p:txBody>
          <a:bodyPr wrap="square" lIns="0" tIns="0" rIns="0" bIns="0" rtlCol="0" anchor="ctr"/>
          <a:lstStyle/>
          <a:p>
            <a:pPr marL="342900" indent="-342900">
              <a:spcAft>
                <a:spcPts val="600"/>
              </a:spcAft>
              <a:buSzPct val="100000"/>
              <a:buChar char="•"/>
            </a:pPr>
            <a:r>
              <a:rPr lang="rw-RW" sz="1800" dirty="0">
                <a:solidFill>
                  <a:srgbClr val="17335F"/>
                </a:solidFill>
                <a:latin typeface="Calibri" pitchFamily="34" charset="0"/>
                <a:ea typeface="Calibri" pitchFamily="34" charset="-122"/>
                <a:cs typeface="Calibri" pitchFamily="34" charset="-120"/>
              </a:rPr>
              <a:t>Kuva amaraso menshi cyangwa kuva amaraso bidahagarara</a:t>
            </a:r>
          </a:p>
          <a:p>
            <a:pPr marL="342900" indent="-342900">
              <a:spcAft>
                <a:spcPts val="600"/>
              </a:spcAft>
              <a:buSzPct val="100000"/>
              <a:buChar char="•"/>
            </a:pPr>
            <a:r>
              <a:rPr lang="rw-RW" sz="1800" dirty="0">
                <a:solidFill>
                  <a:srgbClr val="17335F"/>
                </a:solidFill>
                <a:latin typeface="Calibri" pitchFamily="34" charset="0"/>
                <a:ea typeface="Calibri" pitchFamily="34" charset="-122"/>
                <a:cs typeface="Calibri" pitchFamily="34" charset="-120"/>
              </a:rPr>
              <a:t>Ububabare bukabije mu nda</a:t>
            </a:r>
          </a:p>
          <a:p>
            <a:pPr marL="342900" indent="-342900">
              <a:spcAft>
                <a:spcPts val="600"/>
              </a:spcAft>
              <a:buSzPct val="100000"/>
              <a:buChar char="•"/>
            </a:pPr>
            <a:r>
              <a:rPr lang="rw-RW" sz="1800" dirty="0">
                <a:solidFill>
                  <a:srgbClr val="17335F"/>
                </a:solidFill>
                <a:latin typeface="Calibri" pitchFamily="34" charset="0"/>
                <a:ea typeface="Calibri" pitchFamily="34" charset="-122"/>
                <a:cs typeface="Calibri" pitchFamily="34" charset="-120"/>
              </a:rPr>
              <a:t>Igifu kibyimba, gikomeye, kandi kibabaza</a:t>
            </a:r>
          </a:p>
          <a:p>
            <a:pPr marL="342900" indent="-342900">
              <a:spcAft>
                <a:spcPts val="600"/>
              </a:spcAft>
              <a:buSzPct val="100000"/>
              <a:buChar char="•"/>
            </a:pPr>
            <a:r>
              <a:rPr lang="rw-RW" sz="1800" dirty="0">
                <a:solidFill>
                  <a:srgbClr val="17335F"/>
                </a:solidFill>
                <a:latin typeface="Calibri" pitchFamily="34" charset="0"/>
                <a:ea typeface="Calibri" pitchFamily="34" charset="-122"/>
                <a:cs typeface="Calibri" pitchFamily="34" charset="-120"/>
              </a:rPr>
              <a:t>Kuruka inshuro nyinshi</a:t>
            </a:r>
          </a:p>
          <a:p>
            <a:pPr marL="342900" indent="-342900">
              <a:spcAft>
                <a:spcPts val="600"/>
              </a:spcAft>
              <a:buSzPct val="100000"/>
              <a:buChar char="•"/>
            </a:pPr>
            <a:r>
              <a:rPr lang="rw-RW" sz="1800" dirty="0">
                <a:solidFill>
                  <a:srgbClr val="17335F"/>
                </a:solidFill>
                <a:latin typeface="Calibri" pitchFamily="34" charset="0"/>
                <a:ea typeface="Calibri" pitchFamily="34" charset="-122"/>
                <a:cs typeface="Calibri" pitchFamily="34" charset="-120"/>
              </a:rPr>
              <a:t>Nta musarane cyangwa gaz inyuramo, hamwe no kubyimba inda.</a:t>
            </a:r>
          </a:p>
          <a:p>
            <a:pPr marL="342900" indent="-342900">
              <a:spcAft>
                <a:spcPts val="600"/>
              </a:spcAft>
              <a:buSzPct val="100000"/>
              <a:buChar char="•"/>
            </a:pPr>
            <a:r>
              <a:rPr lang="rw-RW" sz="1800" dirty="0">
                <a:solidFill>
                  <a:srgbClr val="17335F"/>
                </a:solidFill>
                <a:latin typeface="Calibri" pitchFamily="34" charset="0"/>
                <a:ea typeface="Calibri" pitchFamily="34" charset="-122"/>
                <a:cs typeface="Calibri" pitchFamily="34" charset="-120"/>
              </a:rPr>
              <a:t>Kugwa hasi, gucika intege cyangwa kugira intege nke cyane</a:t>
            </a:r>
            <a:endParaRPr lang="rw-RW" sz="1800" dirty="0"/>
          </a:p>
        </p:txBody>
      </p:sp>
      <p:sp>
        <p:nvSpPr>
          <p:cNvPr id="8" name="Shape 6"/>
          <p:cNvSpPr/>
          <p:nvPr/>
        </p:nvSpPr>
        <p:spPr>
          <a:xfrm>
            <a:off x="6968418" y="1325880"/>
            <a:ext cx="4674637" cy="1783080"/>
          </a:xfrm>
          <a:prstGeom prst="roundRect">
            <a:avLst>
              <a:gd name="adj" fmla="val 6486"/>
            </a:avLst>
          </a:prstGeom>
          <a:solidFill>
            <a:srgbClr val="FDF6E6"/>
          </a:solidFill>
          <a:ln w="12700">
            <a:solidFill>
              <a:srgbClr val="E6D5A8"/>
            </a:solidFill>
            <a:prstDash val="solid"/>
          </a:ln>
        </p:spPr>
        <p:txBody>
          <a:bodyPr/>
          <a:lstStyle/>
          <a:p>
            <a:endParaRPr lang="rw-RW" dirty="0"/>
          </a:p>
        </p:txBody>
      </p:sp>
      <p:sp>
        <p:nvSpPr>
          <p:cNvPr id="9" name="Text 7"/>
          <p:cNvSpPr txBox="1"/>
          <p:nvPr/>
        </p:nvSpPr>
        <p:spPr>
          <a:xfrm>
            <a:off x="7142626" y="1524527"/>
            <a:ext cx="3596335" cy="365760"/>
          </a:xfrm>
          <a:prstGeom prst="rect">
            <a:avLst/>
          </a:prstGeom>
          <a:noFill/>
          <a:ln/>
        </p:spPr>
        <p:txBody>
          <a:bodyPr wrap="square" lIns="0" tIns="0" rIns="0" bIns="0" rtlCol="0" anchor="ctr">
            <a:normAutofit/>
          </a:bodyPr>
          <a:lstStyle/>
          <a:p>
            <a:pPr marL="0" indent="0">
              <a:buNone/>
            </a:pPr>
            <a:r>
              <a:rPr lang="rw-RW" b="1" dirty="0">
                <a:solidFill>
                  <a:srgbClr val="12305B"/>
                </a:solidFill>
                <a:latin typeface="Calibri" pitchFamily="34" charset="0"/>
                <a:ea typeface="Calibri" pitchFamily="34" charset="-122"/>
                <a:cs typeface="Calibri" pitchFamily="34" charset="-120"/>
              </a:rPr>
              <a:t>Icyo wakora</a:t>
            </a:r>
            <a:endParaRPr lang="rw-RW" dirty="0"/>
          </a:p>
        </p:txBody>
      </p:sp>
      <p:sp>
        <p:nvSpPr>
          <p:cNvPr id="10" name="Text 8"/>
          <p:cNvSpPr txBox="1"/>
          <p:nvPr/>
        </p:nvSpPr>
        <p:spPr>
          <a:xfrm>
            <a:off x="7067623" y="1933956"/>
            <a:ext cx="3189186" cy="1005840"/>
          </a:xfrm>
          <a:prstGeom prst="rect">
            <a:avLst/>
          </a:prstGeom>
          <a:noFill/>
          <a:ln/>
        </p:spPr>
        <p:txBody>
          <a:bodyPr wrap="square" lIns="0" tIns="0" rIns="0" bIns="0" rtlCol="0" anchor="t">
            <a:noAutofit/>
          </a:bodyPr>
          <a:lstStyle/>
          <a:p>
            <a:pPr marL="0" indent="0">
              <a:lnSpc>
                <a:spcPct val="105000"/>
              </a:lnSpc>
              <a:buNone/>
            </a:pPr>
            <a:r>
              <a:rPr lang="rw-RW" dirty="0">
                <a:solidFill>
                  <a:srgbClr val="17335F"/>
                </a:solidFill>
                <a:latin typeface="Calibri" pitchFamily="34" charset="0"/>
                <a:ea typeface="Calibri" pitchFamily="34" charset="-122"/>
                <a:cs typeface="Calibri" pitchFamily="34" charset="-120"/>
              </a:rPr>
              <a:t>Fasha umuntu kugera ku kigo nderabuzima cyangwa ku bitaro uwo munsi. Ntugategereze intambwe zisanzwe.</a:t>
            </a:r>
            <a:endParaRPr lang="rw-RW" dirty="0"/>
          </a:p>
        </p:txBody>
      </p:sp>
      <p:sp>
        <p:nvSpPr>
          <p:cNvPr id="11" name="Shape 9"/>
          <p:cNvSpPr/>
          <p:nvPr/>
        </p:nvSpPr>
        <p:spPr>
          <a:xfrm>
            <a:off x="6968418" y="3200400"/>
            <a:ext cx="4674637" cy="2250828"/>
          </a:xfrm>
          <a:prstGeom prst="roundRect">
            <a:avLst>
              <a:gd name="adj" fmla="val 6486"/>
            </a:avLst>
          </a:prstGeom>
          <a:solidFill>
            <a:srgbClr val="FDF6E6"/>
          </a:solidFill>
          <a:ln w="12700">
            <a:solidFill>
              <a:srgbClr val="E6D5A8"/>
            </a:solidFill>
            <a:prstDash val="solid"/>
          </a:ln>
        </p:spPr>
        <p:txBody>
          <a:bodyPr/>
          <a:lstStyle/>
          <a:p>
            <a:endParaRPr lang="rw-RW" dirty="0"/>
          </a:p>
        </p:txBody>
      </p:sp>
      <p:sp>
        <p:nvSpPr>
          <p:cNvPr id="12" name="Text 10"/>
          <p:cNvSpPr txBox="1"/>
          <p:nvPr/>
        </p:nvSpPr>
        <p:spPr>
          <a:xfrm>
            <a:off x="7067622" y="3346704"/>
            <a:ext cx="2295371" cy="365760"/>
          </a:xfrm>
          <a:prstGeom prst="rect">
            <a:avLst/>
          </a:prstGeom>
          <a:noFill/>
          <a:ln/>
        </p:spPr>
        <p:txBody>
          <a:bodyPr wrap="square" lIns="0" tIns="0" rIns="0" bIns="0" rtlCol="0" anchor="ctr">
            <a:normAutofit/>
          </a:bodyPr>
          <a:lstStyle/>
          <a:p>
            <a:pPr marL="0" indent="0">
              <a:buNone/>
            </a:pPr>
            <a:r>
              <a:rPr lang="rw-RW" b="1" dirty="0">
                <a:solidFill>
                  <a:srgbClr val="12305B"/>
                </a:solidFill>
                <a:latin typeface="Calibri" pitchFamily="34" charset="0"/>
                <a:ea typeface="Calibri" pitchFamily="34" charset="-122"/>
                <a:cs typeface="Calibri" pitchFamily="34" charset="-120"/>
              </a:rPr>
              <a:t>Ubufasha bufatika</a:t>
            </a:r>
            <a:endParaRPr lang="rw-RW" dirty="0"/>
          </a:p>
        </p:txBody>
      </p:sp>
      <p:sp>
        <p:nvSpPr>
          <p:cNvPr id="13" name="Text 11"/>
          <p:cNvSpPr txBox="1"/>
          <p:nvPr/>
        </p:nvSpPr>
        <p:spPr>
          <a:xfrm>
            <a:off x="7067622" y="3666979"/>
            <a:ext cx="2295371" cy="1005840"/>
          </a:xfrm>
          <a:prstGeom prst="rect">
            <a:avLst/>
          </a:prstGeom>
          <a:noFill/>
          <a:ln/>
        </p:spPr>
        <p:txBody>
          <a:bodyPr wrap="square" lIns="0" tIns="0" rIns="0" bIns="0" rtlCol="0" anchor="t">
            <a:noAutofit/>
          </a:bodyPr>
          <a:lstStyle/>
          <a:p>
            <a:pPr marL="0" indent="0">
              <a:lnSpc>
                <a:spcPct val="105000"/>
              </a:lnSpc>
              <a:buNone/>
            </a:pPr>
            <a:r>
              <a:rPr lang="rw-RW" dirty="0">
                <a:solidFill>
                  <a:srgbClr val="17335F"/>
                </a:solidFill>
                <a:latin typeface="Calibri" pitchFamily="34" charset="0"/>
                <a:ea typeface="Calibri" pitchFamily="34" charset="-122"/>
                <a:cs typeface="Calibri" pitchFamily="34" charset="-120"/>
              </a:rPr>
              <a:t>Fasha gutegura uburyo bwo gutwara umurwayi, mubwire umuryango, kandi urebe ko hari umuntu ujyanye n'uwo muntu.</a:t>
            </a:r>
            <a:endParaRPr lang="rw-RW" dirty="0"/>
          </a:p>
        </p:txBody>
      </p:sp>
      <p:sp>
        <p:nvSpPr>
          <p:cNvPr id="14" name="Shape 12"/>
          <p:cNvSpPr/>
          <p:nvPr/>
        </p:nvSpPr>
        <p:spPr>
          <a:xfrm>
            <a:off x="548640" y="5542668"/>
            <a:ext cx="11094415" cy="713232"/>
          </a:xfrm>
          <a:prstGeom prst="roundRect">
            <a:avLst>
              <a:gd name="adj" fmla="val 12821"/>
            </a:avLst>
          </a:prstGeom>
          <a:solidFill>
            <a:srgbClr val="FDF0DE"/>
          </a:solidFill>
          <a:ln w="12700">
            <a:solidFill>
              <a:srgbClr val="F0CFA0"/>
            </a:solidFill>
            <a:prstDash val="solid"/>
          </a:ln>
        </p:spPr>
        <p:txBody>
          <a:bodyPr/>
          <a:lstStyle/>
          <a:p>
            <a:endParaRPr lang="rw-RW" sz="1600" dirty="0"/>
          </a:p>
        </p:txBody>
      </p:sp>
      <p:sp>
        <p:nvSpPr>
          <p:cNvPr id="15" name="Text 13"/>
          <p:cNvSpPr txBox="1"/>
          <p:nvPr/>
        </p:nvSpPr>
        <p:spPr>
          <a:xfrm>
            <a:off x="777240" y="5634108"/>
            <a:ext cx="10637215" cy="530352"/>
          </a:xfrm>
          <a:prstGeom prst="rect">
            <a:avLst/>
          </a:prstGeom>
          <a:noFill/>
          <a:ln/>
        </p:spPr>
        <p:txBody>
          <a:bodyPr wrap="square" lIns="0" tIns="0" rIns="0" bIns="0" rtlCol="0" anchor="ctr">
            <a:normAutofit/>
          </a:bodyPr>
          <a:lstStyle/>
          <a:p>
            <a:pPr marL="0" indent="0">
              <a:buNone/>
            </a:pPr>
            <a:r>
              <a:rPr lang="rw-RW" sz="1600" b="1" dirty="0">
                <a:solidFill>
                  <a:srgbClr val="9C4A00"/>
                </a:solidFill>
                <a:latin typeface="Calibri" pitchFamily="34" charset="0"/>
                <a:ea typeface="Calibri" pitchFamily="34" charset="-122"/>
                <a:cs typeface="Calibri" pitchFamily="34" charset="-120"/>
              </a:rPr>
              <a:t>Niba utazi neza niba hari ibimenyetso byihutirwa, jya ubifata nk'ikimenyetso cyihutirwa kandi ufashe uwo muntu kwitabwaho.</a:t>
            </a:r>
            <a:endParaRPr lang="rw-RW" sz="1600" dirty="0"/>
          </a:p>
        </p:txBody>
      </p:sp>
      <p:pic>
        <p:nvPicPr>
          <p:cNvPr id="21" name="Picture 20">
            <a:extLst>
              <a:ext uri="{FF2B5EF4-FFF2-40B4-BE49-F238E27FC236}">
                <a16:creationId xmlns:a16="http://schemas.microsoft.com/office/drawing/2014/main" id="{BCCEF5E0-F980-1F10-D398-48904EB1A709}"/>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10256809" y="1961890"/>
            <a:ext cx="1247655" cy="953799"/>
          </a:xfrm>
          <a:prstGeom prst="rect">
            <a:avLst/>
          </a:prstGeom>
        </p:spPr>
      </p:pic>
      <p:pic>
        <p:nvPicPr>
          <p:cNvPr id="16" name="Imagen 15">
            <a:extLst>
              <a:ext uri="{FF2B5EF4-FFF2-40B4-BE49-F238E27FC236}">
                <a16:creationId xmlns:a16="http://schemas.microsoft.com/office/drawing/2014/main" id="{FE9E3EAB-7A26-F17F-4644-D1EFDA3E558A}"/>
              </a:ext>
            </a:extLst>
          </p:cNvPr>
          <p:cNvPicPr>
            <a:picLocks noChangeAspect="1"/>
          </p:cNvPicPr>
          <p:nvPr/>
        </p:nvPicPr>
        <p:blipFill>
          <a:blip r:embed="rId4" cstate="hqprint">
            <a:extLst>
              <a:ext uri="{28A0092B-C50C-407E-A947-70E740481C1C}">
                <a14:useLocalDpi xmlns:a14="http://schemas.microsoft.com/office/drawing/2010/main"/>
              </a:ext>
            </a:extLst>
          </a:blip>
          <a:srcRect l="20765" r="14611"/>
          <a:stretch>
            <a:fillRect/>
          </a:stretch>
        </p:blipFill>
        <p:spPr>
          <a:xfrm>
            <a:off x="939250" y="1936913"/>
            <a:ext cx="836034" cy="3012308"/>
          </a:xfrm>
          <a:prstGeom prst="rect">
            <a:avLst/>
          </a:prstGeom>
        </p:spPr>
      </p:pic>
      <p:pic>
        <p:nvPicPr>
          <p:cNvPr id="18" name="Imagen 17">
            <a:extLst>
              <a:ext uri="{FF2B5EF4-FFF2-40B4-BE49-F238E27FC236}">
                <a16:creationId xmlns:a16="http://schemas.microsoft.com/office/drawing/2014/main" id="{85B2552C-439A-B154-134B-0460AA8F68C4}"/>
              </a:ext>
            </a:extLst>
          </p:cNvPr>
          <p:cNvPicPr>
            <a:picLocks noChangeAspect="1"/>
          </p:cNvPicPr>
          <p:nvPr/>
        </p:nvPicPr>
        <p:blipFill>
          <a:blip r:embed="rId5"/>
          <a:stretch>
            <a:fillRect/>
          </a:stretch>
        </p:blipFill>
        <p:spPr>
          <a:xfrm>
            <a:off x="9413793" y="3416331"/>
            <a:ext cx="2033713" cy="135580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2</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Bishyire kuri Vestine</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Ikigo cy'Igihugu gishinzwe Ubuvuzi (Rwanda Biomedical Centre)</a:t>
            </a:r>
            <a:endParaRPr lang="rw-RW" sz="1100" dirty="0"/>
          </a:p>
        </p:txBody>
      </p:sp>
      <p:sp>
        <p:nvSpPr>
          <p:cNvPr id="5" name="Shape 3"/>
          <p:cNvSpPr/>
          <p:nvPr/>
        </p:nvSpPr>
        <p:spPr>
          <a:xfrm>
            <a:off x="548640" y="1298448"/>
            <a:ext cx="7269480" cy="868680"/>
          </a:xfrm>
          <a:prstGeom prst="roundRect">
            <a:avLst>
              <a:gd name="adj" fmla="val 10526"/>
            </a:avLst>
          </a:prstGeom>
          <a:solidFill>
            <a:srgbClr val="FDF6E6"/>
          </a:solidFill>
          <a:ln w="12700">
            <a:solidFill>
              <a:srgbClr val="E6D5A8"/>
            </a:solidFill>
            <a:prstDash val="solid"/>
          </a:ln>
        </p:spPr>
        <p:txBody>
          <a:bodyPr/>
          <a:lstStyle/>
          <a:p>
            <a:endParaRPr lang="rw-RW" dirty="0">
              <a:latin typeface="Calibri" panose="020F0502020204030204" pitchFamily="34" charset="0"/>
              <a:cs typeface="Calibri" panose="020F0502020204030204" pitchFamily="34" charset="0"/>
            </a:endParaRPr>
          </a:p>
        </p:txBody>
      </p:sp>
      <p:sp>
        <p:nvSpPr>
          <p:cNvPr id="6" name="Text 4"/>
          <p:cNvSpPr txBox="1"/>
          <p:nvPr/>
        </p:nvSpPr>
        <p:spPr>
          <a:xfrm>
            <a:off x="768096" y="1371600"/>
            <a:ext cx="6830568" cy="731520"/>
          </a:xfrm>
          <a:prstGeom prst="rect">
            <a:avLst/>
          </a:prstGeom>
          <a:noFill/>
          <a:ln/>
        </p:spPr>
        <p:txBody>
          <a:bodyPr wrap="square" lIns="0" tIns="0" rIns="0" bIns="0" rtlCol="0" anchor="ctr">
            <a:noAutofit/>
          </a:bodyPr>
          <a:lstStyle/>
          <a:p>
            <a:pPr marL="0" indent="0">
              <a:lnSpc>
                <a:spcPct val="105000"/>
              </a:lnSpc>
              <a:buNone/>
            </a:pPr>
            <a:r>
              <a:rPr lang="rw-RW" dirty="0">
                <a:solidFill>
                  <a:srgbClr val="17335F"/>
                </a:solidFill>
                <a:latin typeface="Calibri" panose="020F0502020204030204" pitchFamily="34" charset="0"/>
                <a:ea typeface="Calibri" pitchFamily="34" charset="-122"/>
                <a:cs typeface="Calibri" panose="020F0502020204030204" pitchFamily="34" charset="0"/>
              </a:rPr>
              <a:t>Vestine akubwira iby'amaraso ari mu musarane we ariko avuga ko yumva ameze neza, ko ari hemorroide gusa, kandi ko atewe isoni no kujya ku kigo nderabuzima.</a:t>
            </a:r>
            <a:endParaRPr lang="rw-RW" dirty="0">
              <a:latin typeface="Calibri" panose="020F0502020204030204" pitchFamily="34" charset="0"/>
              <a:cs typeface="Calibri" panose="020F0502020204030204" pitchFamily="34" charset="0"/>
            </a:endParaRPr>
          </a:p>
        </p:txBody>
      </p:sp>
      <p:sp>
        <p:nvSpPr>
          <p:cNvPr id="7" name="Text 5"/>
          <p:cNvSpPr txBox="1"/>
          <p:nvPr/>
        </p:nvSpPr>
        <p:spPr>
          <a:xfrm>
            <a:off x="548640" y="2331720"/>
            <a:ext cx="7269480" cy="365760"/>
          </a:xfrm>
          <a:prstGeom prst="rect">
            <a:avLst/>
          </a:prstGeom>
          <a:noFill/>
          <a:ln/>
        </p:spPr>
        <p:txBody>
          <a:bodyPr wrap="square" lIns="0" tIns="0" rIns="0" bIns="0" rtlCol="0" anchor="ctr">
            <a:normAutofit/>
          </a:bodyPr>
          <a:lstStyle/>
          <a:p>
            <a:pPr marL="0" indent="0">
              <a:buNone/>
            </a:pPr>
            <a:r>
              <a:rPr lang="rw-RW" b="1" dirty="0">
                <a:solidFill>
                  <a:srgbClr val="12305B"/>
                </a:solidFill>
                <a:latin typeface="Calibri" panose="020F0502020204030204" pitchFamily="34" charset="0"/>
                <a:ea typeface="Calibri" pitchFamily="34" charset="-122"/>
                <a:cs typeface="Calibri" panose="020F0502020204030204" pitchFamily="34" charset="0"/>
              </a:rPr>
              <a:t>Ni ikihe kintu cyiza cyo gukora?</a:t>
            </a:r>
            <a:endParaRPr lang="rw-RW" dirty="0">
              <a:latin typeface="Calibri" panose="020F0502020204030204" pitchFamily="34" charset="0"/>
              <a:cs typeface="Calibri" panose="020F0502020204030204" pitchFamily="34" charset="0"/>
            </a:endParaRPr>
          </a:p>
        </p:txBody>
      </p:sp>
      <p:sp>
        <p:nvSpPr>
          <p:cNvPr id="8" name="Shape 6"/>
          <p:cNvSpPr/>
          <p:nvPr/>
        </p:nvSpPr>
        <p:spPr>
          <a:xfrm>
            <a:off x="548640" y="2752344"/>
            <a:ext cx="7269480" cy="438912"/>
          </a:xfrm>
          <a:prstGeom prst="roundRect">
            <a:avLst>
              <a:gd name="adj" fmla="val 13889"/>
            </a:avLst>
          </a:prstGeom>
          <a:solidFill>
            <a:srgbClr val="F2F7FD"/>
          </a:solidFill>
          <a:ln w="12700">
            <a:solidFill>
              <a:srgbClr val="CBDDF3"/>
            </a:solidFill>
            <a:prstDash val="solid"/>
          </a:ln>
        </p:spPr>
        <p:txBody>
          <a:bodyPr/>
          <a:lstStyle/>
          <a:p>
            <a:endParaRPr lang="rw-RW" dirty="0">
              <a:latin typeface="Calibri" panose="020F0502020204030204" pitchFamily="34" charset="0"/>
              <a:cs typeface="Calibri" panose="020F0502020204030204" pitchFamily="34" charset="0"/>
            </a:endParaRPr>
          </a:p>
        </p:txBody>
      </p:sp>
      <p:sp>
        <p:nvSpPr>
          <p:cNvPr id="9" name="Text 7"/>
          <p:cNvSpPr txBox="1"/>
          <p:nvPr/>
        </p:nvSpPr>
        <p:spPr>
          <a:xfrm>
            <a:off x="768096" y="2788920"/>
            <a:ext cx="6830568" cy="365760"/>
          </a:xfrm>
          <a:prstGeom prst="rect">
            <a:avLst/>
          </a:prstGeom>
          <a:noFill/>
          <a:ln/>
        </p:spPr>
        <p:txBody>
          <a:bodyPr wrap="square" lIns="0" tIns="0" rIns="0" bIns="0" rtlCol="0" anchor="ctr"/>
          <a:lstStyle/>
          <a:p>
            <a:pPr marL="0" indent="0">
              <a:lnSpc>
                <a:spcPct val="100000"/>
              </a:lnSpc>
              <a:buNone/>
            </a:pPr>
            <a:r>
              <a:rPr lang="rw-RW" b="1" dirty="0">
                <a:solidFill>
                  <a:srgbClr val="1F5FA9"/>
                </a:solidFill>
                <a:latin typeface="Calibri" panose="020F0502020204030204" pitchFamily="34" charset="0"/>
                <a:ea typeface="Calibri" pitchFamily="34" charset="-122"/>
                <a:cs typeface="Calibri" panose="020F0502020204030204" pitchFamily="34" charset="0"/>
              </a:rPr>
              <a:t>A. </a:t>
            </a:r>
            <a:r>
              <a:rPr lang="rw-RW" b="0" dirty="0">
                <a:solidFill>
                  <a:srgbClr val="17335F"/>
                </a:solidFill>
                <a:latin typeface="Calibri" panose="020F0502020204030204" pitchFamily="34" charset="0"/>
                <a:cs typeface="Calibri" panose="020F0502020204030204" pitchFamily="34" charset="0"/>
              </a:rPr>
              <a:t>Emera ko ari hemorroide gusa maze ntugire icyo ukora</a:t>
            </a:r>
            <a:endParaRPr lang="rw-RW" dirty="0">
              <a:latin typeface="Calibri" panose="020F0502020204030204" pitchFamily="34" charset="0"/>
              <a:cs typeface="Calibri" panose="020F0502020204030204" pitchFamily="34" charset="0"/>
            </a:endParaRPr>
          </a:p>
        </p:txBody>
      </p:sp>
      <p:sp>
        <p:nvSpPr>
          <p:cNvPr id="10" name="Shape 8"/>
          <p:cNvSpPr/>
          <p:nvPr/>
        </p:nvSpPr>
        <p:spPr>
          <a:xfrm>
            <a:off x="548640" y="3264408"/>
            <a:ext cx="7269480" cy="438912"/>
          </a:xfrm>
          <a:prstGeom prst="roundRect">
            <a:avLst>
              <a:gd name="adj" fmla="val 13889"/>
            </a:avLst>
          </a:prstGeom>
          <a:solidFill>
            <a:srgbClr val="F2F7FD"/>
          </a:solidFill>
          <a:ln w="12700">
            <a:solidFill>
              <a:srgbClr val="AFD8BE"/>
            </a:solidFill>
            <a:prstDash val="solid"/>
          </a:ln>
        </p:spPr>
        <p:txBody>
          <a:bodyPr/>
          <a:lstStyle/>
          <a:p>
            <a:endParaRPr lang="rw-RW" dirty="0">
              <a:latin typeface="Calibri" panose="020F0502020204030204" pitchFamily="34" charset="0"/>
              <a:cs typeface="Calibri" panose="020F0502020204030204" pitchFamily="34" charset="0"/>
            </a:endParaRPr>
          </a:p>
        </p:txBody>
      </p:sp>
      <p:sp>
        <p:nvSpPr>
          <p:cNvPr id="11" name="Text 9"/>
          <p:cNvSpPr txBox="1"/>
          <p:nvPr/>
        </p:nvSpPr>
        <p:spPr>
          <a:xfrm>
            <a:off x="768096" y="3300984"/>
            <a:ext cx="6830568" cy="365760"/>
          </a:xfrm>
          <a:prstGeom prst="rect">
            <a:avLst/>
          </a:prstGeom>
          <a:noFill/>
          <a:ln/>
        </p:spPr>
        <p:txBody>
          <a:bodyPr wrap="square" lIns="0" tIns="0" rIns="0" bIns="0" rtlCol="0" anchor="ctr">
            <a:normAutofit/>
          </a:bodyPr>
          <a:lstStyle/>
          <a:p>
            <a:pPr marL="0" indent="0">
              <a:lnSpc>
                <a:spcPct val="100000"/>
              </a:lnSpc>
              <a:buNone/>
            </a:pPr>
            <a:r>
              <a:rPr lang="rw-RW" b="1" dirty="0">
                <a:solidFill>
                  <a:srgbClr val="1F5FA9"/>
                </a:solidFill>
                <a:latin typeface="Calibri" panose="020F0502020204030204" pitchFamily="34" charset="0"/>
                <a:ea typeface="Calibri" pitchFamily="34" charset="-122"/>
                <a:cs typeface="Calibri" panose="020F0502020204030204" pitchFamily="34" charset="0"/>
              </a:rPr>
              <a:t>B. </a:t>
            </a:r>
            <a:r>
              <a:rPr lang="rw-RW" b="0" dirty="0">
                <a:solidFill>
                  <a:srgbClr val="17335F"/>
                </a:solidFill>
                <a:latin typeface="Calibri" panose="020F0502020204030204" pitchFamily="34" charset="0"/>
                <a:cs typeface="Calibri" panose="020F0502020204030204" pitchFamily="34" charset="0"/>
              </a:rPr>
              <a:t>Umuhe wowe imiti y'ibirundo</a:t>
            </a:r>
            <a:endParaRPr lang="rw-RW" dirty="0">
              <a:latin typeface="Calibri" panose="020F0502020204030204" pitchFamily="34" charset="0"/>
              <a:cs typeface="Calibri" panose="020F0502020204030204" pitchFamily="34" charset="0"/>
            </a:endParaRPr>
          </a:p>
        </p:txBody>
      </p:sp>
      <p:sp>
        <p:nvSpPr>
          <p:cNvPr id="12" name="Shape 10"/>
          <p:cNvSpPr/>
          <p:nvPr/>
        </p:nvSpPr>
        <p:spPr>
          <a:xfrm>
            <a:off x="548640" y="3776472"/>
            <a:ext cx="7269480" cy="987551"/>
          </a:xfrm>
          <a:prstGeom prst="roundRect">
            <a:avLst>
              <a:gd name="adj" fmla="val 13889"/>
            </a:avLst>
          </a:prstGeom>
          <a:solidFill>
            <a:srgbClr val="E9F5EC"/>
          </a:solidFill>
          <a:ln w="12700">
            <a:solidFill>
              <a:srgbClr val="CBDDF3"/>
            </a:solidFill>
            <a:prstDash val="solid"/>
          </a:ln>
        </p:spPr>
        <p:txBody>
          <a:bodyPr/>
          <a:lstStyle/>
          <a:p>
            <a:endParaRPr lang="rw-RW" dirty="0">
              <a:latin typeface="Calibri" panose="020F0502020204030204" pitchFamily="34" charset="0"/>
              <a:cs typeface="Calibri" panose="020F0502020204030204" pitchFamily="34" charset="0"/>
            </a:endParaRPr>
          </a:p>
        </p:txBody>
      </p:sp>
      <p:sp>
        <p:nvSpPr>
          <p:cNvPr id="13" name="Text 11"/>
          <p:cNvSpPr txBox="1"/>
          <p:nvPr/>
        </p:nvSpPr>
        <p:spPr>
          <a:xfrm>
            <a:off x="768096" y="3813048"/>
            <a:ext cx="6830568" cy="914399"/>
          </a:xfrm>
          <a:prstGeom prst="rect">
            <a:avLst/>
          </a:prstGeom>
          <a:noFill/>
          <a:ln/>
        </p:spPr>
        <p:txBody>
          <a:bodyPr wrap="square" lIns="0" tIns="0" rIns="0" bIns="0" rtlCol="0" anchor="ctr"/>
          <a:lstStyle/>
          <a:p>
            <a:pPr marL="0" indent="0">
              <a:lnSpc>
                <a:spcPct val="100000"/>
              </a:lnSpc>
              <a:buNone/>
            </a:pPr>
            <a:r>
              <a:rPr lang="rw-RW" b="1" dirty="0">
                <a:solidFill>
                  <a:srgbClr val="1B6B41"/>
                </a:solidFill>
                <a:latin typeface="Calibri" panose="020F0502020204030204" pitchFamily="34" charset="0"/>
                <a:ea typeface="Calibri" pitchFamily="34" charset="-122"/>
                <a:cs typeface="Calibri" panose="020F0502020204030204" pitchFamily="34" charset="0"/>
              </a:rPr>
              <a:t>C. Tega amatwi mu bwubahane, umusobanurire ko kuva amaraso biterwa n'impamvu zitandukanye kandi bikeneye kwisuzumishwa, kandi umushishikariza kujya ku kigo nderabuzima. ✓</a:t>
            </a:r>
            <a:endParaRPr lang="rw-RW" dirty="0">
              <a:latin typeface="Calibri" panose="020F0502020204030204" pitchFamily="34" charset="0"/>
              <a:cs typeface="Calibri" panose="020F0502020204030204" pitchFamily="34" charset="0"/>
            </a:endParaRPr>
          </a:p>
        </p:txBody>
      </p:sp>
      <p:sp>
        <p:nvSpPr>
          <p:cNvPr id="14" name="Shape 12"/>
          <p:cNvSpPr/>
          <p:nvPr/>
        </p:nvSpPr>
        <p:spPr>
          <a:xfrm>
            <a:off x="548640" y="4837176"/>
            <a:ext cx="7269480" cy="438912"/>
          </a:xfrm>
          <a:prstGeom prst="roundRect">
            <a:avLst>
              <a:gd name="adj" fmla="val 13889"/>
            </a:avLst>
          </a:prstGeom>
          <a:solidFill>
            <a:srgbClr val="F2F7FD"/>
          </a:solidFill>
          <a:ln w="12700">
            <a:solidFill>
              <a:srgbClr val="CBDDF3"/>
            </a:solidFill>
            <a:prstDash val="solid"/>
          </a:ln>
        </p:spPr>
        <p:txBody>
          <a:bodyPr/>
          <a:lstStyle/>
          <a:p>
            <a:endParaRPr lang="rw-RW" dirty="0">
              <a:latin typeface="Calibri" panose="020F0502020204030204" pitchFamily="34" charset="0"/>
              <a:cs typeface="Calibri" panose="020F0502020204030204" pitchFamily="34" charset="0"/>
            </a:endParaRPr>
          </a:p>
        </p:txBody>
      </p:sp>
      <p:sp>
        <p:nvSpPr>
          <p:cNvPr id="15" name="Text 13"/>
          <p:cNvSpPr txBox="1"/>
          <p:nvPr/>
        </p:nvSpPr>
        <p:spPr>
          <a:xfrm>
            <a:off x="768096" y="4873752"/>
            <a:ext cx="6830568" cy="365760"/>
          </a:xfrm>
          <a:prstGeom prst="rect">
            <a:avLst/>
          </a:prstGeom>
          <a:noFill/>
          <a:ln/>
        </p:spPr>
        <p:txBody>
          <a:bodyPr wrap="square" lIns="0" tIns="0" rIns="0" bIns="0" rtlCol="0" anchor="ctr"/>
          <a:lstStyle/>
          <a:p>
            <a:pPr marL="0" indent="0">
              <a:lnSpc>
                <a:spcPct val="100000"/>
              </a:lnSpc>
              <a:buNone/>
            </a:pPr>
            <a:r>
              <a:rPr lang="rw-RW" b="1" dirty="0">
                <a:solidFill>
                  <a:srgbClr val="1F5FA9"/>
                </a:solidFill>
                <a:latin typeface="Calibri" panose="020F0502020204030204" pitchFamily="34" charset="0"/>
                <a:ea typeface="Calibri" pitchFamily="34" charset="-122"/>
                <a:cs typeface="Calibri" panose="020F0502020204030204" pitchFamily="34" charset="0"/>
              </a:rPr>
              <a:t>D. </a:t>
            </a:r>
            <a:r>
              <a:rPr lang="rw-RW" b="0" dirty="0">
                <a:solidFill>
                  <a:srgbClr val="17335F"/>
                </a:solidFill>
                <a:latin typeface="Calibri" panose="020F0502020204030204" pitchFamily="34" charset="0"/>
                <a:cs typeface="Calibri" panose="020F0502020204030204" pitchFamily="34" charset="0"/>
              </a:rPr>
              <a:t>Bwira abaturanyi be kugira ngo bamwemeze</a:t>
            </a:r>
            <a:endParaRPr lang="rw-RW" dirty="0">
              <a:latin typeface="Calibri" panose="020F0502020204030204" pitchFamily="34" charset="0"/>
              <a:cs typeface="Calibri" panose="020F0502020204030204" pitchFamily="34" charset="0"/>
            </a:endParaRPr>
          </a:p>
        </p:txBody>
      </p:sp>
      <p:sp>
        <p:nvSpPr>
          <p:cNvPr id="16" name="Shape 14"/>
          <p:cNvSpPr/>
          <p:nvPr/>
        </p:nvSpPr>
        <p:spPr>
          <a:xfrm>
            <a:off x="8138160" y="1298448"/>
            <a:ext cx="3504895" cy="4663440"/>
          </a:xfrm>
          <a:prstGeom prst="roundRect">
            <a:avLst>
              <a:gd name="adj" fmla="val 3131"/>
            </a:avLst>
          </a:prstGeom>
          <a:solidFill>
            <a:srgbClr val="E9F5EC"/>
          </a:solidFill>
          <a:ln w="12700">
            <a:solidFill>
              <a:srgbClr val="AFD8BE"/>
            </a:solidFill>
            <a:prstDash val="solid"/>
          </a:ln>
        </p:spPr>
        <p:txBody>
          <a:bodyPr/>
          <a:lstStyle/>
          <a:p>
            <a:endParaRPr lang="rw-RW" dirty="0">
              <a:latin typeface="Calibri" panose="020F0502020204030204" pitchFamily="34" charset="0"/>
              <a:cs typeface="Calibri" panose="020F0502020204030204" pitchFamily="34" charset="0"/>
            </a:endParaRPr>
          </a:p>
        </p:txBody>
      </p:sp>
      <p:sp>
        <p:nvSpPr>
          <p:cNvPr id="17" name="Text 15"/>
          <p:cNvSpPr txBox="1"/>
          <p:nvPr/>
        </p:nvSpPr>
        <p:spPr>
          <a:xfrm>
            <a:off x="8366760" y="1463040"/>
            <a:ext cx="3047695" cy="365760"/>
          </a:xfrm>
          <a:prstGeom prst="rect">
            <a:avLst/>
          </a:prstGeom>
          <a:noFill/>
          <a:ln/>
        </p:spPr>
        <p:txBody>
          <a:bodyPr wrap="square" lIns="0" tIns="0" rIns="0" bIns="0" rtlCol="0" anchor="ctr">
            <a:normAutofit/>
          </a:bodyPr>
          <a:lstStyle/>
          <a:p>
            <a:pPr marL="0" indent="0">
              <a:buNone/>
            </a:pPr>
            <a:r>
              <a:rPr lang="rw-RW" b="1" dirty="0">
                <a:solidFill>
                  <a:srgbClr val="1B6B41"/>
                </a:solidFill>
                <a:latin typeface="Calibri" panose="020F0502020204030204" pitchFamily="34" charset="0"/>
                <a:ea typeface="Calibri" pitchFamily="34" charset="-122"/>
                <a:cs typeface="Calibri" panose="020F0502020204030204" pitchFamily="34" charset="0"/>
              </a:rPr>
              <a:t>Igisubizo cyiza: C</a:t>
            </a:r>
            <a:endParaRPr lang="rw-RW" dirty="0">
              <a:latin typeface="Calibri" panose="020F0502020204030204" pitchFamily="34" charset="0"/>
              <a:cs typeface="Calibri" panose="020F0502020204030204" pitchFamily="34" charset="0"/>
            </a:endParaRPr>
          </a:p>
        </p:txBody>
      </p:sp>
      <p:sp>
        <p:nvSpPr>
          <p:cNvPr id="18" name="Text 16"/>
          <p:cNvSpPr txBox="1"/>
          <p:nvPr/>
        </p:nvSpPr>
        <p:spPr>
          <a:xfrm>
            <a:off x="8366760" y="1920240"/>
            <a:ext cx="3047695" cy="3931920"/>
          </a:xfrm>
          <a:prstGeom prst="rect">
            <a:avLst/>
          </a:prstGeom>
          <a:noFill/>
          <a:ln/>
        </p:spPr>
        <p:txBody>
          <a:bodyPr wrap="square" lIns="0" tIns="0" rIns="0" bIns="0" rtlCol="0" anchor="t"/>
          <a:lstStyle/>
          <a:p>
            <a:pPr marL="0" indent="0">
              <a:lnSpc>
                <a:spcPct val="105000"/>
              </a:lnSpc>
              <a:buNone/>
            </a:pPr>
            <a:r>
              <a:rPr lang="rw-RW" dirty="0">
                <a:solidFill>
                  <a:srgbClr val="17335F"/>
                </a:solidFill>
                <a:latin typeface="Calibri" panose="020F0502020204030204" pitchFamily="34" charset="0"/>
                <a:ea typeface="Calibri" pitchFamily="34" charset="-122"/>
                <a:cs typeface="Calibri" panose="020F0502020204030204" pitchFamily="34" charset="0"/>
              </a:rPr>
              <a:t>Kuva amaraso bimaze hafi amezi abiri bisaba gusuzumwa, uko byaba bimeze kose. Mwemere isoni ze, ubike ibyo yakubwiye mu ibanga, kandi umusobanurire ko kwisuzumisha byihuse kandi ari ibanga. Ntukamuhe ubuvuzi ubwawe, kandi ntukamusezeranya ko ari hemorroide gusa. Mujye mutanga ubufasha bufatika mu rugendo, kandi mwumvikane umunsi umwe.</a:t>
            </a:r>
            <a:endParaRPr lang="rw-RW" dirty="0">
              <a:latin typeface="Calibri" panose="020F0502020204030204" pitchFamily="34" charset="0"/>
              <a:cs typeface="Calibri" panose="020F050202020403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2</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Isuzuma bumenyi (1 muri 3)</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Q1. Ni nde ufite ibyago byinshi byo kurwara kanseri y'amara?</a:t>
            </a:r>
            <a:endParaRPr lang="rw-RW" sz="1700" dirty="0"/>
          </a:p>
        </p:txBody>
      </p:sp>
      <p:sp>
        <p:nvSpPr>
          <p:cNvPr id="6" name="Shape 4"/>
          <p:cNvSpPr/>
          <p:nvPr/>
        </p:nvSpPr>
        <p:spPr>
          <a:xfrm>
            <a:off x="548640" y="1682495"/>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Abana bato</a:t>
            </a:r>
            <a:endParaRPr lang="rw-RW" sz="1800" dirty="0"/>
          </a:p>
        </p:txBody>
      </p:sp>
      <p:sp>
        <p:nvSpPr>
          <p:cNvPr id="8" name="Shape 6"/>
          <p:cNvSpPr/>
          <p:nvPr/>
        </p:nvSpPr>
        <p:spPr>
          <a:xfrm>
            <a:off x="6233008" y="1682495"/>
            <a:ext cx="5410048" cy="420623"/>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9" name="Text 7"/>
          <p:cNvSpPr txBox="1"/>
          <p:nvPr/>
        </p:nvSpPr>
        <p:spPr>
          <a:xfrm>
            <a:off x="6434176" y="1682495"/>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Abagore gusa</a:t>
            </a:r>
            <a:endParaRPr lang="rw-RW" sz="1800" dirty="0"/>
          </a:p>
        </p:txBody>
      </p:sp>
      <p:sp>
        <p:nvSpPr>
          <p:cNvPr id="10" name="Shape 8"/>
          <p:cNvSpPr/>
          <p:nvPr/>
        </p:nvSpPr>
        <p:spPr>
          <a:xfrm>
            <a:off x="548640" y="2157984"/>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49808" y="215798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Abantu batigeze barya inyama gusa</a:t>
            </a:r>
            <a:endParaRPr lang="rw-RW" sz="1800" dirty="0"/>
          </a:p>
        </p:txBody>
      </p:sp>
      <p:sp>
        <p:nvSpPr>
          <p:cNvPr id="12" name="Shape 10"/>
          <p:cNvSpPr/>
          <p:nvPr/>
        </p:nvSpPr>
        <p:spPr>
          <a:xfrm>
            <a:off x="6233008" y="2157984"/>
            <a:ext cx="5410048" cy="420623"/>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13" name="Text 11"/>
          <p:cNvSpPr txBox="1"/>
          <p:nvPr/>
        </p:nvSpPr>
        <p:spPr>
          <a:xfrm>
            <a:off x="6434176" y="2157984"/>
            <a:ext cx="5044288" cy="420623"/>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D. Abantu bakuze b'imyaka myinshi ✓</a:t>
            </a:r>
            <a:endParaRPr lang="rw-RW" sz="1800" dirty="0"/>
          </a:p>
        </p:txBody>
      </p:sp>
      <p:sp>
        <p:nvSpPr>
          <p:cNvPr id="14" name="Text 12"/>
          <p:cNvSpPr txBox="1"/>
          <p:nvPr/>
        </p:nvSpPr>
        <p:spPr>
          <a:xfrm>
            <a:off x="548640" y="2670048"/>
            <a:ext cx="11094415" cy="310896"/>
          </a:xfrm>
          <a:prstGeom prst="rect">
            <a:avLst/>
          </a:prstGeom>
          <a:noFill/>
          <a:ln/>
        </p:spPr>
        <p:txBody>
          <a:bodyPr wrap="square" lIns="0" tIns="0" rIns="0" bIns="0" rtlCol="0" anchor="t"/>
          <a:lstStyle/>
          <a:p>
            <a:pPr marL="0" indent="0">
              <a:buNone/>
            </a:pPr>
            <a:r>
              <a:rPr lang="rw-RW" sz="1800" b="1" dirty="0">
                <a:solidFill>
                  <a:srgbClr val="1B6B41"/>
                </a:solidFill>
                <a:latin typeface="Calibri" pitchFamily="34" charset="0"/>
                <a:ea typeface="Calibri" pitchFamily="34" charset="-122"/>
                <a:cs typeface="Calibri" pitchFamily="34" charset="-120"/>
              </a:rPr>
              <a:t>Ukuri: D. </a:t>
            </a:r>
            <a:r>
              <a:rPr lang="rw-RW" sz="1800" dirty="0">
                <a:solidFill>
                  <a:srgbClr val="17335F"/>
                </a:solidFill>
                <a:latin typeface="Calibri" pitchFamily="34" charset="0"/>
                <a:ea typeface="Calibri" pitchFamily="34" charset="-122"/>
                <a:cs typeface="Calibri" pitchFamily="34" charset="-120"/>
              </a:rPr>
              <a:t>Ibyago yiyongera uko imyaka igenda yiyongera, haba ku bagabo no ku bagore.</a:t>
            </a:r>
            <a:endParaRPr lang="rw-RW" sz="1800" dirty="0"/>
          </a:p>
        </p:txBody>
      </p:sp>
      <p:sp>
        <p:nvSpPr>
          <p:cNvPr id="15" name="Text 13"/>
          <p:cNvSpPr txBox="1"/>
          <p:nvPr/>
        </p:nvSpPr>
        <p:spPr>
          <a:xfrm>
            <a:off x="548640" y="3273552"/>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Q2. Amaraso mu musarane:</a:t>
            </a:r>
            <a:endParaRPr lang="rw-RW" sz="1700" dirty="0"/>
          </a:p>
        </p:txBody>
      </p:sp>
      <p:sp>
        <p:nvSpPr>
          <p:cNvPr id="16" name="Shape 14"/>
          <p:cNvSpPr/>
          <p:nvPr/>
        </p:nvSpPr>
        <p:spPr>
          <a:xfrm>
            <a:off x="548640" y="3657600"/>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7" name="Text 15"/>
          <p:cNvSpPr txBox="1"/>
          <p:nvPr/>
        </p:nvSpPr>
        <p:spPr>
          <a:xfrm>
            <a:off x="749808" y="3657600"/>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Buri gihe bisobanura kanseri</a:t>
            </a:r>
            <a:endParaRPr lang="rw-RW" sz="1800" dirty="0"/>
          </a:p>
        </p:txBody>
      </p:sp>
      <p:sp>
        <p:nvSpPr>
          <p:cNvPr id="18" name="Shape 16"/>
          <p:cNvSpPr/>
          <p:nvPr/>
        </p:nvSpPr>
        <p:spPr>
          <a:xfrm>
            <a:off x="6233008" y="3657600"/>
            <a:ext cx="5410048" cy="694944"/>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19" name="Text 17"/>
          <p:cNvSpPr txBox="1"/>
          <p:nvPr/>
        </p:nvSpPr>
        <p:spPr>
          <a:xfrm>
            <a:off x="6434176" y="3657600"/>
            <a:ext cx="5044288" cy="694944"/>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B. Impamvu zinyuranye zishobora kuba zibitera kandi zikeneye kwisuzumisha ✓</a:t>
            </a:r>
            <a:endParaRPr lang="rw-RW" sz="1800" dirty="0"/>
          </a:p>
        </p:txBody>
      </p:sp>
      <p:sp>
        <p:nvSpPr>
          <p:cNvPr id="20" name="Shape 18"/>
          <p:cNvSpPr/>
          <p:nvPr/>
        </p:nvSpPr>
        <p:spPr>
          <a:xfrm>
            <a:off x="548640" y="4407408"/>
            <a:ext cx="5410048" cy="694944"/>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21" name="Text 19"/>
          <p:cNvSpPr txBox="1"/>
          <p:nvPr/>
        </p:nvSpPr>
        <p:spPr>
          <a:xfrm>
            <a:off x="749808" y="4407408"/>
            <a:ext cx="5044288" cy="694944"/>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a:rPr>
              <a:t>Buri gihe bisobanura hemorroides</a:t>
            </a:r>
            <a:endParaRPr lang="rw-RW" sz="1200" dirty="0"/>
          </a:p>
        </p:txBody>
      </p:sp>
      <p:sp>
        <p:nvSpPr>
          <p:cNvPr id="22" name="Shape 20"/>
          <p:cNvSpPr/>
          <p:nvPr/>
        </p:nvSpPr>
        <p:spPr>
          <a:xfrm>
            <a:off x="6233008" y="4407408"/>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3" name="Text 21"/>
          <p:cNvSpPr txBox="1"/>
          <p:nvPr/>
        </p:nvSpPr>
        <p:spPr>
          <a:xfrm>
            <a:off x="6434176" y="4407408"/>
            <a:ext cx="5044288" cy="694944"/>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Ushobora kwirengagiza niba nta bubabare buhari</a:t>
            </a:r>
            <a:endParaRPr lang="rw-RW" sz="1200" dirty="0"/>
          </a:p>
        </p:txBody>
      </p:sp>
      <p:sp>
        <p:nvSpPr>
          <p:cNvPr id="24" name="Text 22"/>
          <p:cNvSpPr txBox="1"/>
          <p:nvPr/>
        </p:nvSpPr>
        <p:spPr>
          <a:xfrm>
            <a:off x="548640" y="5193792"/>
            <a:ext cx="11094415" cy="585216"/>
          </a:xfrm>
          <a:prstGeom prst="rect">
            <a:avLst/>
          </a:prstGeom>
          <a:noFill/>
          <a:ln/>
        </p:spPr>
        <p:txBody>
          <a:bodyPr wrap="square" lIns="0" tIns="0" rIns="0" bIns="0" rtlCol="0" anchor="t">
            <a:normAutofit/>
          </a:bodyPr>
          <a:lstStyle/>
          <a:p>
            <a:pPr marL="0" indent="0">
              <a:buNone/>
            </a:pPr>
            <a:r>
              <a:rPr lang="rw-RW" sz="1800" b="1" dirty="0">
                <a:solidFill>
                  <a:srgbClr val="1B6B41"/>
                </a:solidFill>
                <a:latin typeface="Calibri" pitchFamily="34" charset="0"/>
                <a:ea typeface="Calibri" pitchFamily="34" charset="-122"/>
                <a:cs typeface="Calibri" pitchFamily="34" charset="-120"/>
              </a:rPr>
              <a:t>Ukuri: B. </a:t>
            </a:r>
            <a:r>
              <a:rPr lang="rw-RW" sz="1800" b="0" dirty="0">
                <a:solidFill>
                  <a:srgbClr val="17335F"/>
                </a:solidFill>
                <a:latin typeface="Calibri"/>
              </a:rPr>
              <a:t>Ntabwo ari ikimenyetso cya kanseri, kandi ntibigomba gufatwa nka hemorroide gusa hatabanje gukorwa isuzuma.</a:t>
            </a:r>
            <a:endParaRPr lang="rw-RW"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2</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Isuzuma bumenyi (2 kuri 3)</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Umujyanama w'ubuzima | Ikigo cy'Igihugu gishinzwe Ubuvuzi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Ikibazo cya 3. Impinduka mu myitwarire y'amara imaze ibyumweru bitandatu igomba kuba:</a:t>
            </a:r>
            <a:endParaRPr lang="rw-RW" sz="1700" dirty="0"/>
          </a:p>
        </p:txBody>
      </p:sp>
      <p:sp>
        <p:nvSpPr>
          <p:cNvPr id="6" name="Shape 4"/>
          <p:cNvSpPr/>
          <p:nvPr/>
        </p:nvSpPr>
        <p:spPr>
          <a:xfrm>
            <a:off x="548640" y="1682495"/>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Kwirengagizwa</a:t>
            </a:r>
            <a:endParaRPr lang="rw-RW" sz="1800" dirty="0"/>
          </a:p>
        </p:txBody>
      </p:sp>
      <p:sp>
        <p:nvSpPr>
          <p:cNvPr id="8" name="Shape 6"/>
          <p:cNvSpPr/>
          <p:nvPr/>
        </p:nvSpPr>
        <p:spPr>
          <a:xfrm>
            <a:off x="6233008" y="1682495"/>
            <a:ext cx="5410048" cy="420623"/>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9" name="Text 7"/>
          <p:cNvSpPr txBox="1"/>
          <p:nvPr/>
        </p:nvSpPr>
        <p:spPr>
          <a:xfrm>
            <a:off x="6434176" y="1682495"/>
            <a:ext cx="5044288" cy="420623"/>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Kuvurwa n'ibimera mu rugo</a:t>
            </a:r>
            <a:endParaRPr lang="rw-RW" sz="1200" dirty="0"/>
          </a:p>
        </p:txBody>
      </p:sp>
      <p:sp>
        <p:nvSpPr>
          <p:cNvPr id="10" name="Shape 8"/>
          <p:cNvSpPr/>
          <p:nvPr/>
        </p:nvSpPr>
        <p:spPr>
          <a:xfrm>
            <a:off x="548640" y="2157984"/>
            <a:ext cx="5410048" cy="694944"/>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11" name="Text 9"/>
          <p:cNvSpPr txBox="1"/>
          <p:nvPr/>
        </p:nvSpPr>
        <p:spPr>
          <a:xfrm>
            <a:off x="749808" y="2157984"/>
            <a:ext cx="5044288" cy="694944"/>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C. Kwisuzumisha ku ivuriro rito cyangwa ku kigo nderabuzima ✓</a:t>
            </a:r>
            <a:endParaRPr lang="rw-RW" sz="1800" dirty="0"/>
          </a:p>
        </p:txBody>
      </p:sp>
      <p:sp>
        <p:nvSpPr>
          <p:cNvPr id="12" name="Shape 10"/>
          <p:cNvSpPr/>
          <p:nvPr/>
        </p:nvSpPr>
        <p:spPr>
          <a:xfrm>
            <a:off x="6233008" y="2157984"/>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157984"/>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a:rPr>
              <a:t>Asubire gusuzumwa nyuma y'umwaka umwe</a:t>
            </a:r>
            <a:endParaRPr lang="rw-RW" sz="1800" dirty="0"/>
          </a:p>
        </p:txBody>
      </p:sp>
      <p:sp>
        <p:nvSpPr>
          <p:cNvPr id="14" name="Text 12"/>
          <p:cNvSpPr txBox="1"/>
          <p:nvPr/>
        </p:nvSpPr>
        <p:spPr>
          <a:xfrm>
            <a:off x="548640" y="2944368"/>
            <a:ext cx="11094415" cy="310896"/>
          </a:xfrm>
          <a:prstGeom prst="rect">
            <a:avLst/>
          </a:prstGeom>
          <a:noFill/>
          <a:ln/>
        </p:spPr>
        <p:txBody>
          <a:bodyPr wrap="square" lIns="0" tIns="0" rIns="0" bIns="0" rtlCol="0" anchor="t"/>
          <a:lstStyle/>
          <a:p>
            <a:pPr marL="0" indent="0">
              <a:buNone/>
            </a:pPr>
            <a:r>
              <a:rPr lang="rw-RW" sz="1800" b="1" dirty="0">
                <a:solidFill>
                  <a:srgbClr val="1B6B41"/>
                </a:solidFill>
                <a:latin typeface="Calibri" pitchFamily="34" charset="0"/>
                <a:ea typeface="Calibri" pitchFamily="34" charset="-122"/>
                <a:cs typeface="Calibri" pitchFamily="34" charset="-120"/>
              </a:rPr>
              <a:t>Igisubizo nyacyo: C. </a:t>
            </a:r>
            <a:r>
              <a:rPr lang="rw-RW" sz="1800" dirty="0">
                <a:solidFill>
                  <a:srgbClr val="17335F"/>
                </a:solidFill>
                <a:latin typeface="Calibri" pitchFamily="34" charset="0"/>
                <a:ea typeface="Calibri" pitchFamily="34" charset="-122"/>
                <a:cs typeface="Calibri" pitchFamily="34" charset="-120"/>
              </a:rPr>
              <a:t>Impinduka irambye kandi nshya kuri uwo muntu ikeneye gusuzumwa.</a:t>
            </a:r>
            <a:endParaRPr lang="rw-RW" sz="1800" dirty="0"/>
          </a:p>
        </p:txBody>
      </p:sp>
      <p:sp>
        <p:nvSpPr>
          <p:cNvPr id="15" name="Text 13"/>
          <p:cNvSpPr txBox="1"/>
          <p:nvPr/>
        </p:nvSpPr>
        <p:spPr>
          <a:xfrm>
            <a:off x="548640" y="3547872"/>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Ikibazo cya 4. Ni ikihe kimenyetso cyihutirwa cy'akaga?</a:t>
            </a:r>
            <a:endParaRPr lang="rw-RW" sz="1700" dirty="0"/>
          </a:p>
        </p:txBody>
      </p:sp>
      <p:sp>
        <p:nvSpPr>
          <p:cNvPr id="16" name="Shape 14"/>
          <p:cNvSpPr/>
          <p:nvPr/>
        </p:nvSpPr>
        <p:spPr>
          <a:xfrm>
            <a:off x="548640" y="3931920"/>
            <a:ext cx="5410048" cy="694944"/>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17" name="Text 15"/>
          <p:cNvSpPr txBox="1"/>
          <p:nvPr/>
        </p:nvSpPr>
        <p:spPr>
          <a:xfrm>
            <a:off x="749808" y="3931920"/>
            <a:ext cx="5044288" cy="694944"/>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A. Kutabasha kwituma no kutarekura umwuka mu nda, hamwe n'inda ibyimbye kandi imubabaza ✓</a:t>
            </a:r>
            <a:endParaRPr lang="rw-RW" sz="1800" dirty="0"/>
          </a:p>
        </p:txBody>
      </p:sp>
      <p:sp>
        <p:nvSpPr>
          <p:cNvPr id="18" name="Shape 16"/>
          <p:cNvSpPr/>
          <p:nvPr/>
        </p:nvSpPr>
        <p:spPr>
          <a:xfrm>
            <a:off x="6233008" y="3931920"/>
            <a:ext cx="5410048" cy="694944"/>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19" name="Text 17"/>
          <p:cNvSpPr txBox="1"/>
          <p:nvPr/>
        </p:nvSpPr>
        <p:spPr>
          <a:xfrm>
            <a:off x="6434176" y="3931920"/>
            <a:ext cx="5044288" cy="694944"/>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Umunaniro muke nyuma y'akazi</a:t>
            </a:r>
            <a:endParaRPr lang="rw-RW" sz="1200" dirty="0"/>
          </a:p>
        </p:txBody>
      </p:sp>
      <p:sp>
        <p:nvSpPr>
          <p:cNvPr id="20" name="Shape 18"/>
          <p:cNvSpPr/>
          <p:nvPr/>
        </p:nvSpPr>
        <p:spPr>
          <a:xfrm>
            <a:off x="548640" y="4681728"/>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1" name="Text 19"/>
          <p:cNvSpPr txBox="1"/>
          <p:nvPr/>
        </p:nvSpPr>
        <p:spPr>
          <a:xfrm>
            <a:off x="749808" y="4681728"/>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Umusarane umwe udasanzwe</a:t>
            </a:r>
            <a:endParaRPr lang="rw-RW" sz="1800" dirty="0"/>
          </a:p>
        </p:txBody>
      </p:sp>
      <p:sp>
        <p:nvSpPr>
          <p:cNvPr id="22" name="Shape 20"/>
          <p:cNvSpPr/>
          <p:nvPr/>
        </p:nvSpPr>
        <p:spPr>
          <a:xfrm>
            <a:off x="6233008" y="4681728"/>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3" name="Text 21"/>
          <p:cNvSpPr txBox="1"/>
          <p:nvPr/>
        </p:nvSpPr>
        <p:spPr>
          <a:xfrm>
            <a:off x="6434176" y="4681728"/>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Inzara yoroheje</a:t>
            </a:r>
            <a:endParaRPr lang="rw-RW" sz="1800" dirty="0"/>
          </a:p>
        </p:txBody>
      </p:sp>
      <p:sp>
        <p:nvSpPr>
          <p:cNvPr id="24" name="Text 22"/>
          <p:cNvSpPr txBox="1"/>
          <p:nvPr/>
        </p:nvSpPr>
        <p:spPr>
          <a:xfrm>
            <a:off x="548640" y="5193792"/>
            <a:ext cx="11094415" cy="310896"/>
          </a:xfrm>
          <a:prstGeom prst="rect">
            <a:avLst/>
          </a:prstGeom>
          <a:noFill/>
          <a:ln/>
        </p:spPr>
        <p:txBody>
          <a:bodyPr wrap="square" lIns="0" tIns="0" rIns="0" bIns="0" rtlCol="0" anchor="t"/>
          <a:lstStyle/>
          <a:p>
            <a:pPr marL="0" indent="0">
              <a:buNone/>
            </a:pPr>
            <a:r>
              <a:rPr lang="rw-RW" sz="1800" b="1" dirty="0">
                <a:solidFill>
                  <a:srgbClr val="1B6B41"/>
                </a:solidFill>
                <a:latin typeface="Calibri" pitchFamily="34" charset="0"/>
                <a:ea typeface="Calibri" pitchFamily="34" charset="-122"/>
                <a:cs typeface="Calibri" pitchFamily="34" charset="-120"/>
              </a:rPr>
              <a:t>Ukuri: A. </a:t>
            </a:r>
            <a:r>
              <a:rPr lang="rw-RW" sz="1800" dirty="0">
                <a:solidFill>
                  <a:srgbClr val="17335F"/>
                </a:solidFill>
                <a:latin typeface="Calibri" pitchFamily="34" charset="0"/>
                <a:ea typeface="Calibri" pitchFamily="34" charset="-122"/>
                <a:cs typeface="Calibri" pitchFamily="34" charset="-120"/>
              </a:rPr>
              <a:t>Ibi bishobora gusobanura ko amara yafunze. Bisaba kwitabwaho uwo munsi.</a:t>
            </a:r>
            <a:endParaRPr lang="rw-RW"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2</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Isuzuma bumenyi (3 kuri 3)</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Ikibazo cya 5. Umuntu ufite umuvandimwe urwaye kanseri y'amara kandi nta bimenyetso yagombye :</a:t>
            </a:r>
            <a:endParaRPr lang="rw-RW" sz="1700" dirty="0"/>
          </a:p>
        </p:txBody>
      </p:sp>
      <p:sp>
        <p:nvSpPr>
          <p:cNvPr id="6" name="Shape 4"/>
          <p:cNvSpPr/>
          <p:nvPr/>
        </p:nvSpPr>
        <p:spPr>
          <a:xfrm>
            <a:off x="548640" y="1682495"/>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Ntugire icyo ukora na gato</a:t>
            </a:r>
            <a:endParaRPr lang="rw-RW" sz="1800" dirty="0"/>
          </a:p>
        </p:txBody>
      </p:sp>
      <p:sp>
        <p:nvSpPr>
          <p:cNvPr id="8" name="Shape 6"/>
          <p:cNvSpPr/>
          <p:nvPr/>
        </p:nvSpPr>
        <p:spPr>
          <a:xfrm>
            <a:off x="6233008" y="1682495"/>
            <a:ext cx="5410048" cy="694944"/>
          </a:xfrm>
          <a:prstGeom prst="roundRect">
            <a:avLst>
              <a:gd name="adj" fmla="val 19231"/>
            </a:avLst>
          </a:prstGeom>
          <a:solidFill>
            <a:srgbClr val="E9F5EC"/>
          </a:solidFill>
          <a:ln w="12700">
            <a:solidFill>
              <a:srgbClr val="AFD8BE"/>
            </a:solidFill>
            <a:prstDash val="solid"/>
          </a:ln>
        </p:spPr>
        <p:txBody>
          <a:bodyPr/>
          <a:lstStyle/>
          <a:p>
            <a:endParaRPr lang="rw-RW" dirty="0"/>
          </a:p>
        </p:txBody>
      </p:sp>
      <p:sp>
        <p:nvSpPr>
          <p:cNvPr id="9" name="Text 7"/>
          <p:cNvSpPr txBox="1"/>
          <p:nvPr/>
        </p:nvSpPr>
        <p:spPr>
          <a:xfrm>
            <a:off x="6434176" y="1682495"/>
            <a:ext cx="5044288" cy="694944"/>
          </a:xfrm>
          <a:prstGeom prst="rect">
            <a:avLst/>
          </a:prstGeom>
          <a:noFill/>
          <a:ln/>
        </p:spPr>
        <p:txBody>
          <a:bodyPr wrap="square" lIns="0" tIns="0" rIns="0" bIns="0" rtlCol="0" anchor="ctr">
            <a:normAutofit/>
          </a:bodyPr>
          <a:lstStyle/>
          <a:p>
            <a:pPr marL="0" indent="0">
              <a:buNone/>
            </a:pPr>
            <a:r>
              <a:rPr lang="rw-RW" sz="1800" b="1" dirty="0">
                <a:solidFill>
                  <a:srgbClr val="1B6B41"/>
                </a:solidFill>
                <a:latin typeface="Calibri" pitchFamily="34" charset="0"/>
                <a:ea typeface="Calibri" pitchFamily="34" charset="-122"/>
                <a:cs typeface="Calibri" pitchFamily="34" charset="-120"/>
              </a:rPr>
              <a:t>B. Vuga amateka y'umuryango ku kigo nderabuzima kandi usabe inama ✓</a:t>
            </a:r>
            <a:endParaRPr lang="rw-RW" sz="1200" dirty="0"/>
          </a:p>
        </p:txBody>
      </p:sp>
      <p:sp>
        <p:nvSpPr>
          <p:cNvPr id="10" name="Shape 8"/>
          <p:cNvSpPr/>
          <p:nvPr/>
        </p:nvSpPr>
        <p:spPr>
          <a:xfrm>
            <a:off x="548640" y="2432304"/>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49808" y="243230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Kubwirwa ko azarwara kanseri</a:t>
            </a:r>
            <a:endParaRPr lang="rw-RW" sz="1800" dirty="0"/>
          </a:p>
        </p:txBody>
      </p:sp>
      <p:sp>
        <p:nvSpPr>
          <p:cNvPr id="12" name="Shape 10"/>
          <p:cNvSpPr/>
          <p:nvPr/>
        </p:nvSpPr>
        <p:spPr>
          <a:xfrm>
            <a:off x="6233008" y="2432304"/>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43230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Geragezwa nawe</a:t>
            </a:r>
            <a:endParaRPr lang="rw-RW" sz="1800" dirty="0"/>
          </a:p>
        </p:txBody>
      </p:sp>
      <p:sp>
        <p:nvSpPr>
          <p:cNvPr id="14" name="Text 12"/>
          <p:cNvSpPr txBox="1"/>
          <p:nvPr/>
        </p:nvSpPr>
        <p:spPr>
          <a:xfrm>
            <a:off x="548640" y="2944368"/>
            <a:ext cx="11094415" cy="585216"/>
          </a:xfrm>
          <a:prstGeom prst="rect">
            <a:avLst/>
          </a:prstGeom>
          <a:noFill/>
          <a:ln/>
        </p:spPr>
        <p:txBody>
          <a:bodyPr wrap="square" lIns="0" tIns="0" rIns="0" bIns="0" rtlCol="0" anchor="t">
            <a:normAutofit/>
          </a:bodyPr>
          <a:lstStyle/>
          <a:p>
            <a:pPr marL="0" indent="0">
              <a:buNone/>
            </a:pPr>
            <a:r>
              <a:rPr lang="rw-RW" sz="1800" b="1" dirty="0">
                <a:solidFill>
                  <a:srgbClr val="1B6B41"/>
                </a:solidFill>
                <a:latin typeface="Calibri" pitchFamily="34" charset="0"/>
                <a:ea typeface="Calibri" pitchFamily="34" charset="-122"/>
                <a:cs typeface="Calibri" pitchFamily="34" charset="-120"/>
              </a:rPr>
              <a:t>Ukuri: B. </a:t>
            </a:r>
            <a:r>
              <a:rPr lang="rw-RW" sz="1800" b="0" dirty="0">
                <a:solidFill>
                  <a:srgbClr val="17335F"/>
                </a:solidFill>
                <a:latin typeface="Calibri"/>
              </a:rPr>
              <a:t>Amateka y'umuryango ashobora kongera ibyago. Ivuriro rishobora gutanga inama ku bigomba gukurikiraho.</a:t>
            </a:r>
            <a:endParaRPr lang="rw-RW" sz="11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2</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Gutekereza ku isomo</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Text 3"/>
          <p:cNvSpPr txBox="1"/>
          <p:nvPr/>
        </p:nvSpPr>
        <p:spPr>
          <a:xfrm>
            <a:off x="548640" y="1280160"/>
            <a:ext cx="11094415" cy="457200"/>
          </a:xfrm>
          <a:prstGeom prst="rect">
            <a:avLst/>
          </a:prstGeom>
          <a:noFill/>
          <a:ln/>
        </p:spPr>
        <p:txBody>
          <a:bodyPr wrap="square" lIns="0" tIns="0" rIns="0" bIns="0" rtlCol="0" anchor="ctr">
            <a:normAutofit/>
          </a:bodyPr>
          <a:lstStyle/>
          <a:p>
            <a:pPr marL="0" indent="0">
              <a:buNone/>
            </a:pPr>
            <a:r>
              <a:rPr lang="rw-RW" sz="1150" i="1" dirty="0">
                <a:solidFill>
                  <a:srgbClr val="6B7A90"/>
                </a:solidFill>
                <a:latin typeface="Calibri" pitchFamily="34" charset="0"/>
                <a:ea typeface="Calibri" pitchFamily="34" charset="-122"/>
                <a:cs typeface="Calibri" pitchFamily="34" charset="-120"/>
              </a:rPr>
              <a:t>Andika igisubizo cyawe mu kazu k'inyandiko. Nta gisubizo kimwe gusa cy'ukuri kihari. Ibi bibazo ni ukugira ngo wisuzume kandi mubiganireho. Ntibihabwa amanota.</a:t>
            </a:r>
            <a:endParaRPr lang="rw-RW" sz="1150" dirty="0"/>
          </a:p>
        </p:txBody>
      </p:sp>
      <p:sp>
        <p:nvSpPr>
          <p:cNvPr id="6" name="Shape 4"/>
          <p:cNvSpPr/>
          <p:nvPr/>
        </p:nvSpPr>
        <p:spPr>
          <a:xfrm>
            <a:off x="548640" y="1920240"/>
            <a:ext cx="11094415" cy="1051560"/>
          </a:xfrm>
          <a:prstGeom prst="roundRect">
            <a:avLst>
              <a:gd name="adj" fmla="val 8696"/>
            </a:avLst>
          </a:prstGeom>
          <a:solidFill>
            <a:srgbClr val="F2F7FD"/>
          </a:solidFill>
          <a:ln w="12700">
            <a:solidFill>
              <a:srgbClr val="CBDDF3"/>
            </a:solidFill>
            <a:prstDash val="solid"/>
          </a:ln>
        </p:spPr>
        <p:txBody>
          <a:bodyPr/>
          <a:lstStyle/>
          <a:p>
            <a:endParaRPr lang="rw-RW" dirty="0"/>
          </a:p>
        </p:txBody>
      </p:sp>
      <p:sp>
        <p:nvSpPr>
          <p:cNvPr id="7" name="Shape 5"/>
          <p:cNvSpPr/>
          <p:nvPr/>
        </p:nvSpPr>
        <p:spPr>
          <a:xfrm>
            <a:off x="777240" y="2221992"/>
            <a:ext cx="438912" cy="438912"/>
          </a:xfrm>
          <a:prstGeom prst="ellipse">
            <a:avLst/>
          </a:prstGeom>
          <a:solidFill>
            <a:srgbClr val="12305B"/>
          </a:solidFill>
          <a:ln/>
        </p:spPr>
        <p:txBody>
          <a:bodyPr/>
          <a:lstStyle/>
          <a:p>
            <a:endParaRPr lang="rw-RW" dirty="0"/>
          </a:p>
        </p:txBody>
      </p:sp>
      <p:sp>
        <p:nvSpPr>
          <p:cNvPr id="8" name="Text 6"/>
          <p:cNvSpPr txBox="1"/>
          <p:nvPr/>
        </p:nvSpPr>
        <p:spPr>
          <a:xfrm>
            <a:off x="777240" y="2221992"/>
            <a:ext cx="438912" cy="438912"/>
          </a:xfrm>
          <a:prstGeom prst="rect">
            <a:avLst/>
          </a:prstGeom>
          <a:noFill/>
          <a:ln/>
        </p:spPr>
        <p:txBody>
          <a:bodyPr wrap="square" lIns="0" tIns="0" rIns="0" bIns="0" rtlCol="0" anchor="ctr"/>
          <a:lstStyle/>
          <a:p>
            <a:pPr marL="0" indent="0" algn="ctr">
              <a:buNone/>
            </a:pPr>
            <a:r>
              <a:rPr lang="rw-RW" sz="1700" b="1" dirty="0">
                <a:solidFill>
                  <a:srgbClr val="FFFFFF"/>
                </a:solidFill>
                <a:latin typeface="Calibri" pitchFamily="34" charset="0"/>
                <a:ea typeface="Calibri" pitchFamily="34" charset="-122"/>
                <a:cs typeface="Calibri" pitchFamily="34" charset="-120"/>
              </a:rPr>
              <a:t>1</a:t>
            </a:r>
            <a:endParaRPr lang="rw-RW" sz="1700" dirty="0"/>
          </a:p>
        </p:txBody>
      </p:sp>
      <p:sp>
        <p:nvSpPr>
          <p:cNvPr id="9" name="Text 7"/>
          <p:cNvSpPr txBox="1"/>
          <p:nvPr/>
        </p:nvSpPr>
        <p:spPr>
          <a:xfrm>
            <a:off x="1417320" y="2057400"/>
            <a:ext cx="9905695" cy="777240"/>
          </a:xfrm>
          <a:prstGeom prst="rect">
            <a:avLst/>
          </a:prstGeom>
          <a:noFill/>
          <a:ln/>
        </p:spPr>
        <p:txBody>
          <a:bodyPr wrap="square" lIns="0" tIns="0" rIns="0" bIns="0" rtlCol="0" anchor="ctr"/>
          <a:lstStyle/>
          <a:p>
            <a:pPr marL="0" indent="0">
              <a:lnSpc>
                <a:spcPct val="105000"/>
              </a:lnSpc>
              <a:buNone/>
            </a:pPr>
            <a:r>
              <a:rPr lang="rw-RW" sz="1900" dirty="0">
                <a:solidFill>
                  <a:srgbClr val="17335F"/>
                </a:solidFill>
                <a:latin typeface="Calibri" pitchFamily="34" charset="0"/>
                <a:ea typeface="Calibri" pitchFamily="34" charset="-122"/>
                <a:cs typeface="Calibri" pitchFamily="34" charset="-120"/>
              </a:rPr>
              <a:t>Ni iki wabwira umuntu ufite isoni zo kuvuga ibijyanye n'amaraso mu ntebe?</a:t>
            </a:r>
            <a:endParaRPr lang="rw-RW" sz="1900" dirty="0"/>
          </a:p>
        </p:txBody>
      </p:sp>
      <p:sp>
        <p:nvSpPr>
          <p:cNvPr id="10" name="Shape 8"/>
          <p:cNvSpPr/>
          <p:nvPr/>
        </p:nvSpPr>
        <p:spPr>
          <a:xfrm>
            <a:off x="548640" y="3154680"/>
            <a:ext cx="11094415" cy="1051560"/>
          </a:xfrm>
          <a:prstGeom prst="roundRect">
            <a:avLst>
              <a:gd name="adj" fmla="val 8696"/>
            </a:avLst>
          </a:prstGeom>
          <a:solidFill>
            <a:srgbClr val="F2F7FD"/>
          </a:solidFill>
          <a:ln w="12700">
            <a:solidFill>
              <a:srgbClr val="CBDDF3"/>
            </a:solidFill>
            <a:prstDash val="solid"/>
          </a:ln>
        </p:spPr>
        <p:txBody>
          <a:bodyPr/>
          <a:lstStyle/>
          <a:p>
            <a:endParaRPr lang="rw-RW" dirty="0"/>
          </a:p>
        </p:txBody>
      </p:sp>
      <p:sp>
        <p:nvSpPr>
          <p:cNvPr id="11" name="Shape 9"/>
          <p:cNvSpPr/>
          <p:nvPr/>
        </p:nvSpPr>
        <p:spPr>
          <a:xfrm>
            <a:off x="777240" y="3456432"/>
            <a:ext cx="438912" cy="438912"/>
          </a:xfrm>
          <a:prstGeom prst="ellipse">
            <a:avLst/>
          </a:prstGeom>
          <a:solidFill>
            <a:srgbClr val="12305B"/>
          </a:solidFill>
          <a:ln/>
        </p:spPr>
        <p:txBody>
          <a:bodyPr/>
          <a:lstStyle/>
          <a:p>
            <a:endParaRPr lang="rw-RW" dirty="0"/>
          </a:p>
        </p:txBody>
      </p:sp>
      <p:sp>
        <p:nvSpPr>
          <p:cNvPr id="12" name="Text 10"/>
          <p:cNvSpPr txBox="1"/>
          <p:nvPr/>
        </p:nvSpPr>
        <p:spPr>
          <a:xfrm>
            <a:off x="777240" y="3456432"/>
            <a:ext cx="438912" cy="438912"/>
          </a:xfrm>
          <a:prstGeom prst="rect">
            <a:avLst/>
          </a:prstGeom>
          <a:noFill/>
          <a:ln/>
        </p:spPr>
        <p:txBody>
          <a:bodyPr wrap="square" lIns="0" tIns="0" rIns="0" bIns="0" rtlCol="0" anchor="ctr"/>
          <a:lstStyle/>
          <a:p>
            <a:pPr marL="0" indent="0" algn="ctr">
              <a:buNone/>
            </a:pPr>
            <a:r>
              <a:rPr lang="rw-RW" sz="1700" b="1" dirty="0">
                <a:solidFill>
                  <a:srgbClr val="FFFFFF"/>
                </a:solidFill>
                <a:latin typeface="Calibri" pitchFamily="34" charset="0"/>
                <a:ea typeface="Calibri" pitchFamily="34" charset="-122"/>
                <a:cs typeface="Calibri" pitchFamily="34" charset="-120"/>
              </a:rPr>
              <a:t>2</a:t>
            </a:r>
            <a:endParaRPr lang="rw-RW" sz="1700" dirty="0"/>
          </a:p>
        </p:txBody>
      </p:sp>
      <p:sp>
        <p:nvSpPr>
          <p:cNvPr id="13" name="Text 11"/>
          <p:cNvSpPr txBox="1"/>
          <p:nvPr/>
        </p:nvSpPr>
        <p:spPr>
          <a:xfrm>
            <a:off x="1417320" y="3291840"/>
            <a:ext cx="9905695" cy="777240"/>
          </a:xfrm>
          <a:prstGeom prst="rect">
            <a:avLst/>
          </a:prstGeom>
          <a:noFill/>
          <a:ln/>
        </p:spPr>
        <p:txBody>
          <a:bodyPr wrap="square" lIns="0" tIns="0" rIns="0" bIns="0" rtlCol="0" anchor="ctr"/>
          <a:lstStyle/>
          <a:p>
            <a:pPr marL="0" indent="0">
              <a:lnSpc>
                <a:spcPct val="105000"/>
              </a:lnSpc>
              <a:buNone/>
            </a:pPr>
            <a:r>
              <a:rPr lang="rw-RW" sz="1900" dirty="0">
                <a:solidFill>
                  <a:srgbClr val="17335F"/>
                </a:solidFill>
                <a:latin typeface="Calibri" pitchFamily="34" charset="0"/>
                <a:ea typeface="Calibri" pitchFamily="34" charset="-122"/>
                <a:cs typeface="Calibri" pitchFamily="34" charset="-120"/>
              </a:rPr>
              <a:t>Ni ikihe kimenyetso cyatuma ushishikariza umuntu gushaka ubuvuzi bidatinze?</a:t>
            </a:r>
            <a:endParaRPr lang="rw-RW" sz="1900" dirty="0"/>
          </a:p>
        </p:txBody>
      </p:sp>
      <p:sp>
        <p:nvSpPr>
          <p:cNvPr id="14" name="Shape 12"/>
          <p:cNvSpPr/>
          <p:nvPr/>
        </p:nvSpPr>
        <p:spPr>
          <a:xfrm>
            <a:off x="548640" y="4389120"/>
            <a:ext cx="11094415" cy="1051560"/>
          </a:xfrm>
          <a:prstGeom prst="roundRect">
            <a:avLst>
              <a:gd name="adj" fmla="val 8696"/>
            </a:avLst>
          </a:prstGeom>
          <a:solidFill>
            <a:srgbClr val="F2F7FD"/>
          </a:solidFill>
          <a:ln w="12700">
            <a:solidFill>
              <a:srgbClr val="CBDDF3"/>
            </a:solidFill>
            <a:prstDash val="solid"/>
          </a:ln>
        </p:spPr>
        <p:txBody>
          <a:bodyPr/>
          <a:lstStyle/>
          <a:p>
            <a:endParaRPr lang="rw-RW" dirty="0"/>
          </a:p>
        </p:txBody>
      </p:sp>
      <p:sp>
        <p:nvSpPr>
          <p:cNvPr id="15" name="Shape 13"/>
          <p:cNvSpPr/>
          <p:nvPr/>
        </p:nvSpPr>
        <p:spPr>
          <a:xfrm>
            <a:off x="777240" y="4690872"/>
            <a:ext cx="438912" cy="438912"/>
          </a:xfrm>
          <a:prstGeom prst="ellipse">
            <a:avLst/>
          </a:prstGeom>
          <a:solidFill>
            <a:srgbClr val="12305B"/>
          </a:solidFill>
          <a:ln/>
        </p:spPr>
        <p:txBody>
          <a:bodyPr/>
          <a:lstStyle/>
          <a:p>
            <a:endParaRPr lang="rw-RW" dirty="0"/>
          </a:p>
        </p:txBody>
      </p:sp>
      <p:sp>
        <p:nvSpPr>
          <p:cNvPr id="16" name="Text 14"/>
          <p:cNvSpPr txBox="1"/>
          <p:nvPr/>
        </p:nvSpPr>
        <p:spPr>
          <a:xfrm>
            <a:off x="777240" y="4690872"/>
            <a:ext cx="438912" cy="438912"/>
          </a:xfrm>
          <a:prstGeom prst="rect">
            <a:avLst/>
          </a:prstGeom>
          <a:noFill/>
          <a:ln/>
        </p:spPr>
        <p:txBody>
          <a:bodyPr wrap="square" lIns="0" tIns="0" rIns="0" bIns="0" rtlCol="0" anchor="ctr"/>
          <a:lstStyle/>
          <a:p>
            <a:pPr marL="0" indent="0" algn="ctr">
              <a:buNone/>
            </a:pPr>
            <a:r>
              <a:rPr lang="rw-RW" sz="1700" b="1" dirty="0">
                <a:solidFill>
                  <a:srgbClr val="FFFFFF"/>
                </a:solidFill>
                <a:latin typeface="Calibri" pitchFamily="34" charset="0"/>
                <a:ea typeface="Calibri" pitchFamily="34" charset="-122"/>
                <a:cs typeface="Calibri" pitchFamily="34" charset="-120"/>
              </a:rPr>
              <a:t>3</a:t>
            </a:r>
            <a:endParaRPr lang="rw-RW" sz="1700" dirty="0"/>
          </a:p>
        </p:txBody>
      </p:sp>
      <p:sp>
        <p:nvSpPr>
          <p:cNvPr id="17" name="Text 15"/>
          <p:cNvSpPr txBox="1"/>
          <p:nvPr/>
        </p:nvSpPr>
        <p:spPr>
          <a:xfrm>
            <a:off x="1417320" y="4526280"/>
            <a:ext cx="9905695" cy="777240"/>
          </a:xfrm>
          <a:prstGeom prst="rect">
            <a:avLst/>
          </a:prstGeom>
          <a:noFill/>
          <a:ln/>
        </p:spPr>
        <p:txBody>
          <a:bodyPr wrap="square" lIns="0" tIns="0" rIns="0" bIns="0" rtlCol="0" anchor="ctr"/>
          <a:lstStyle/>
          <a:p>
            <a:pPr marL="0" indent="0">
              <a:lnSpc>
                <a:spcPct val="105000"/>
              </a:lnSpc>
              <a:buNone/>
            </a:pPr>
            <a:r>
              <a:rPr lang="rw-RW" sz="1900" dirty="0">
                <a:solidFill>
                  <a:srgbClr val="17335F"/>
                </a:solidFill>
                <a:latin typeface="Calibri" pitchFamily="34" charset="0"/>
                <a:ea typeface="Calibri" pitchFamily="34" charset="-122"/>
                <a:cs typeface="Calibri" pitchFamily="34" charset="-120"/>
              </a:rPr>
              <a:t>Ni ikihe kimenyetso mpuruza ugomba kwibuka buri gihe, kandi se ni iki wakora mbere?</a:t>
            </a:r>
            <a:endParaRPr lang="rw-RW" sz="1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2305B"/>
        </a:solidFill>
        <a:effectLst/>
      </p:bgPr>
    </p:bg>
    <p:spTree>
      <p:nvGrpSpPr>
        <p:cNvPr id="1" name=""/>
        <p:cNvGrpSpPr/>
        <p:nvPr/>
      </p:nvGrpSpPr>
      <p:grpSpPr>
        <a:xfrm>
          <a:off x="0" y="0"/>
          <a:ext cx="0" cy="0"/>
          <a:chOff x="0" y="0"/>
          <a:chExt cx="0" cy="0"/>
        </a:xfrm>
      </p:grpSpPr>
      <p:sp>
        <p:nvSpPr>
          <p:cNvPr id="2" name="Text 0"/>
          <p:cNvSpPr txBox="1"/>
          <p:nvPr/>
        </p:nvSpPr>
        <p:spPr>
          <a:xfrm>
            <a:off x="548640" y="1371600"/>
            <a:ext cx="1828800" cy="1097280"/>
          </a:xfrm>
          <a:prstGeom prst="rect">
            <a:avLst/>
          </a:prstGeom>
          <a:noFill/>
          <a:ln/>
        </p:spPr>
        <p:txBody>
          <a:bodyPr wrap="square" lIns="0" tIns="0" rIns="0" bIns="0" rtlCol="0" anchor="ctr">
            <a:normAutofit/>
          </a:bodyPr>
          <a:lstStyle/>
          <a:p>
            <a:pPr marL="0" indent="0">
              <a:buNone/>
            </a:pPr>
            <a:r>
              <a:rPr lang="rw-RW" sz="6500" b="1" dirty="0">
                <a:solidFill>
                  <a:srgbClr val="3E6FA8"/>
                </a:solidFill>
                <a:latin typeface="Cambria" pitchFamily="34" charset="0"/>
                <a:ea typeface="Cambria" pitchFamily="34" charset="-122"/>
                <a:cs typeface="Cambria" pitchFamily="34" charset="-120"/>
              </a:rPr>
              <a:t>3</a:t>
            </a:r>
            <a:endParaRPr lang="rw-RW" sz="6500" dirty="0"/>
          </a:p>
        </p:txBody>
      </p:sp>
      <p:sp>
        <p:nvSpPr>
          <p:cNvPr id="3" name="Text 1"/>
          <p:cNvSpPr txBox="1"/>
          <p:nvPr/>
        </p:nvSpPr>
        <p:spPr>
          <a:xfrm>
            <a:off x="548640" y="2606040"/>
            <a:ext cx="11094415" cy="274320"/>
          </a:xfrm>
          <a:prstGeom prst="rect">
            <a:avLst/>
          </a:prstGeom>
          <a:noFill/>
          <a:ln/>
        </p:spPr>
        <p:txBody>
          <a:bodyPr wrap="square" lIns="0" tIns="0" rIns="0" bIns="0" rtlCol="0" anchor="ctr">
            <a:normAutofit/>
          </a:bodyPr>
          <a:lstStyle/>
          <a:p>
            <a:pPr marL="0" indent="0">
              <a:buNone/>
            </a:pPr>
            <a:r>
              <a:rPr lang="rw-RW" sz="1100" b="1" kern="0" spc="300" dirty="0">
                <a:solidFill>
                  <a:srgbClr val="A9C4E8"/>
                </a:solidFill>
                <a:latin typeface="Calibri" pitchFamily="34" charset="0"/>
                <a:ea typeface="Calibri" pitchFamily="34" charset="-122"/>
                <a:cs typeface="Calibri" pitchFamily="34" charset="-120"/>
              </a:rPr>
              <a:t>IGICE CYA 3</a:t>
            </a:r>
            <a:endParaRPr lang="rw-RW" sz="1100" dirty="0"/>
          </a:p>
        </p:txBody>
      </p:sp>
      <p:sp>
        <p:nvSpPr>
          <p:cNvPr id="4" name="Text 2"/>
          <p:cNvSpPr txBox="1"/>
          <p:nvPr/>
        </p:nvSpPr>
        <p:spPr>
          <a:xfrm>
            <a:off x="548640" y="2926080"/>
            <a:ext cx="9692640" cy="1005840"/>
          </a:xfrm>
          <a:prstGeom prst="rect">
            <a:avLst/>
          </a:prstGeom>
          <a:noFill/>
          <a:ln/>
        </p:spPr>
        <p:txBody>
          <a:bodyPr wrap="square" lIns="0" tIns="0" rIns="0" bIns="0" rtlCol="0" anchor="ctr"/>
          <a:lstStyle/>
          <a:p>
            <a:pPr marL="0" indent="0">
              <a:buNone/>
            </a:pPr>
            <a:r>
              <a:rPr lang="rw-RW" sz="4000" b="1" dirty="0">
                <a:solidFill>
                  <a:srgbClr val="FFFFFF"/>
                </a:solidFill>
                <a:latin typeface="Cambria" pitchFamily="34" charset="0"/>
                <a:ea typeface="Cambria" pitchFamily="34" charset="-122"/>
                <a:cs typeface="Cambria" pitchFamily="34" charset="-120"/>
              </a:rPr>
              <a:t>Gushyira mu bikorwa</a:t>
            </a:r>
            <a:endParaRPr lang="rw-RW" sz="4000" dirty="0"/>
          </a:p>
        </p:txBody>
      </p:sp>
      <p:sp>
        <p:nvSpPr>
          <p:cNvPr id="5" name="Text 3"/>
          <p:cNvSpPr txBox="1"/>
          <p:nvPr/>
        </p:nvSpPr>
        <p:spPr>
          <a:xfrm>
            <a:off x="548640" y="4069080"/>
            <a:ext cx="9326880" cy="822960"/>
          </a:xfrm>
          <a:prstGeom prst="rect">
            <a:avLst/>
          </a:prstGeom>
          <a:noFill/>
          <a:ln/>
        </p:spPr>
        <p:txBody>
          <a:bodyPr wrap="square" lIns="0" tIns="0" rIns="0" bIns="0" rtlCol="0" anchor="ctr"/>
          <a:lstStyle/>
          <a:p>
            <a:pPr marL="0" indent="0">
              <a:buNone/>
            </a:pPr>
            <a:r>
              <a:rPr lang="rw-RW" sz="1900" dirty="0">
                <a:solidFill>
                  <a:srgbClr val="D6E4F5"/>
                </a:solidFill>
                <a:latin typeface="Calibri" pitchFamily="34" charset="0"/>
                <a:ea typeface="Calibri" pitchFamily="34" charset="-122"/>
                <a:cs typeface="Calibri" pitchFamily="34" charset="-120"/>
              </a:rPr>
              <a:t>Hindura guhangayika mu bikorwa: gufasha abantu kugera aho bitabwaho, kuganira n'ikinyabupfura, no gushyigikira gukurikiranwa.</a:t>
            </a:r>
            <a:endParaRPr lang="rw-RW" sz="1900" dirty="0"/>
          </a:p>
        </p:txBody>
      </p:sp>
      <p:sp>
        <p:nvSpPr>
          <p:cNvPr id="6" name="Text 4"/>
          <p:cNvSpPr txBox="1"/>
          <p:nvPr/>
        </p:nvSpPr>
        <p:spPr>
          <a:xfrm>
            <a:off x="548640" y="6263640"/>
            <a:ext cx="7315200" cy="274320"/>
          </a:xfrm>
          <a:prstGeom prst="rect">
            <a:avLst/>
          </a:prstGeom>
          <a:noFill/>
          <a:ln/>
        </p:spPr>
        <p:txBody>
          <a:bodyPr wrap="square" lIns="0" tIns="0" rIns="0" bIns="0" rtlCol="0" anchor="ctr">
            <a:normAutofit/>
          </a:bodyPr>
          <a:lstStyle/>
          <a:p>
            <a:pPr marL="0" indent="0">
              <a:buNone/>
            </a:pPr>
            <a:r>
              <a:rPr lang="rw-RW" sz="1100" dirty="0">
                <a:solidFill>
                  <a:srgbClr val="8FAFD6"/>
                </a:solidFill>
                <a:latin typeface="Calibri" pitchFamily="34" charset="0"/>
                <a:ea typeface="Calibri" pitchFamily="34" charset="-122"/>
                <a:cs typeface="Calibri" pitchFamily="34" charset="-120"/>
              </a:rPr>
              <a:t>Rwanda Biomedical Centre | CHW</a:t>
            </a:r>
            <a:endParaRPr lang="rw-RW"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3</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Icyo wakora</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Shape 3"/>
          <p:cNvSpPr/>
          <p:nvPr/>
        </p:nvSpPr>
        <p:spPr>
          <a:xfrm>
            <a:off x="548640" y="1371600"/>
            <a:ext cx="3515258" cy="1783080"/>
          </a:xfrm>
          <a:prstGeom prst="roundRect">
            <a:avLst>
              <a:gd name="adj" fmla="val 6154"/>
            </a:avLst>
          </a:prstGeom>
          <a:solidFill>
            <a:srgbClr val="F2F7FD"/>
          </a:solidFill>
          <a:ln w="12700">
            <a:solidFill>
              <a:srgbClr val="CBDDF3"/>
            </a:solidFill>
            <a:prstDash val="solid"/>
          </a:ln>
        </p:spPr>
        <p:txBody>
          <a:bodyPr/>
          <a:lstStyle/>
          <a:p>
            <a:endParaRPr lang="rw-RW" dirty="0"/>
          </a:p>
        </p:txBody>
      </p:sp>
      <p:sp>
        <p:nvSpPr>
          <p:cNvPr id="6" name="Text 4"/>
          <p:cNvSpPr txBox="1"/>
          <p:nvPr/>
        </p:nvSpPr>
        <p:spPr>
          <a:xfrm>
            <a:off x="1093318" y="1508760"/>
            <a:ext cx="3112922"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Ubuyobozi</a:t>
            </a:r>
            <a:endParaRPr lang="rw-RW" dirty="0"/>
          </a:p>
        </p:txBody>
      </p:sp>
      <p:sp>
        <p:nvSpPr>
          <p:cNvPr id="7" name="Text 5"/>
          <p:cNvSpPr txBox="1"/>
          <p:nvPr/>
        </p:nvSpPr>
        <p:spPr>
          <a:xfrm>
            <a:off x="749808" y="1938528"/>
            <a:ext cx="3112922" cy="1088136"/>
          </a:xfrm>
          <a:prstGeom prst="rect">
            <a:avLst/>
          </a:prstGeom>
          <a:noFill/>
          <a:ln/>
        </p:spPr>
        <p:txBody>
          <a:bodyPr wrap="square" lIns="0" tIns="0" rIns="0" bIns="0" rtlCol="0" anchor="t"/>
          <a:lstStyle/>
          <a:p>
            <a:pPr marL="0" indent="0">
              <a:lnSpc>
                <a:spcPct val="105000"/>
              </a:lnSpc>
              <a:buNone/>
            </a:pPr>
            <a:r>
              <a:rPr lang="rw-RW" dirty="0">
                <a:solidFill>
                  <a:srgbClr val="17335F"/>
                </a:solidFill>
                <a:latin typeface="Calibri" pitchFamily="34" charset="0"/>
                <a:ea typeface="Calibri" pitchFamily="34" charset="-122"/>
                <a:cs typeface="Calibri" pitchFamily="34" charset="-120"/>
              </a:rPr>
              <a:t>Vuga aho umuntu ufite ibimenyetso byo mu mara agomba kubanza kujya.</a:t>
            </a:r>
            <a:endParaRPr lang="rw-RW" dirty="0"/>
          </a:p>
        </p:txBody>
      </p:sp>
      <p:sp>
        <p:nvSpPr>
          <p:cNvPr id="8" name="Shape 6"/>
          <p:cNvSpPr/>
          <p:nvPr/>
        </p:nvSpPr>
        <p:spPr>
          <a:xfrm>
            <a:off x="4338218" y="1371600"/>
            <a:ext cx="3515258" cy="1783080"/>
          </a:xfrm>
          <a:prstGeom prst="roundRect">
            <a:avLst>
              <a:gd name="adj" fmla="val 6154"/>
            </a:avLst>
          </a:prstGeom>
          <a:solidFill>
            <a:srgbClr val="F2F7FD"/>
          </a:solidFill>
          <a:ln w="12700">
            <a:solidFill>
              <a:srgbClr val="CBDDF3"/>
            </a:solidFill>
            <a:prstDash val="solid"/>
          </a:ln>
        </p:spPr>
        <p:txBody>
          <a:bodyPr/>
          <a:lstStyle/>
          <a:p>
            <a:endParaRPr lang="rw-RW" dirty="0"/>
          </a:p>
        </p:txBody>
      </p:sp>
      <p:sp>
        <p:nvSpPr>
          <p:cNvPr id="9" name="Text 7"/>
          <p:cNvSpPr txBox="1"/>
          <p:nvPr/>
        </p:nvSpPr>
        <p:spPr>
          <a:xfrm>
            <a:off x="4841138" y="1508760"/>
            <a:ext cx="3112922"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Sobanura</a:t>
            </a:r>
            <a:endParaRPr lang="rw-RW" dirty="0"/>
          </a:p>
        </p:txBody>
      </p:sp>
      <p:sp>
        <p:nvSpPr>
          <p:cNvPr id="10" name="Text 8"/>
          <p:cNvSpPr txBox="1"/>
          <p:nvPr/>
        </p:nvSpPr>
        <p:spPr>
          <a:xfrm>
            <a:off x="4539386" y="1938528"/>
            <a:ext cx="3112922" cy="1088136"/>
          </a:xfrm>
          <a:prstGeom prst="rect">
            <a:avLst/>
          </a:prstGeom>
          <a:noFill/>
          <a:ln/>
        </p:spPr>
        <p:txBody>
          <a:bodyPr wrap="square" lIns="0" tIns="0" rIns="0" bIns="0" rtlCol="0" anchor="t"/>
          <a:lstStyle/>
          <a:p>
            <a:pPr marL="0" indent="0">
              <a:lnSpc>
                <a:spcPct val="105000"/>
              </a:lnSpc>
              <a:buNone/>
            </a:pPr>
            <a:r>
              <a:rPr lang="rw-RW" dirty="0">
                <a:solidFill>
                  <a:srgbClr val="17335F"/>
                </a:solidFill>
                <a:latin typeface="Calibri" pitchFamily="34" charset="0"/>
                <a:ea typeface="Calibri" pitchFamily="34" charset="-122"/>
                <a:cs typeface="Calibri" pitchFamily="34" charset="-120"/>
              </a:rPr>
              <a:t>Sobanura inzira yo kohereza umurwayi mu magambo yoroheje.</a:t>
            </a:r>
            <a:endParaRPr lang="rw-RW" dirty="0"/>
          </a:p>
        </p:txBody>
      </p:sp>
      <p:sp>
        <p:nvSpPr>
          <p:cNvPr id="11" name="Shape 9"/>
          <p:cNvSpPr/>
          <p:nvPr/>
        </p:nvSpPr>
        <p:spPr>
          <a:xfrm>
            <a:off x="8127797" y="1371600"/>
            <a:ext cx="3515258" cy="1783080"/>
          </a:xfrm>
          <a:prstGeom prst="roundRect">
            <a:avLst>
              <a:gd name="adj" fmla="val 6154"/>
            </a:avLst>
          </a:prstGeom>
          <a:solidFill>
            <a:srgbClr val="F2F7FD"/>
          </a:solidFill>
          <a:ln w="12700">
            <a:solidFill>
              <a:srgbClr val="CBDDF3"/>
            </a:solidFill>
            <a:prstDash val="solid"/>
          </a:ln>
        </p:spPr>
        <p:txBody>
          <a:bodyPr/>
          <a:lstStyle/>
          <a:p>
            <a:endParaRPr lang="rw-RW" dirty="0"/>
          </a:p>
        </p:txBody>
      </p:sp>
      <p:sp>
        <p:nvSpPr>
          <p:cNvPr id="12" name="Text 10"/>
          <p:cNvSpPr txBox="1"/>
          <p:nvPr/>
        </p:nvSpPr>
        <p:spPr>
          <a:xfrm>
            <a:off x="8596920" y="1517904"/>
            <a:ext cx="3112922"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Inama</a:t>
            </a:r>
            <a:endParaRPr lang="rw-RW" dirty="0"/>
          </a:p>
        </p:txBody>
      </p:sp>
      <p:sp>
        <p:nvSpPr>
          <p:cNvPr id="13" name="Text 11"/>
          <p:cNvSpPr txBox="1"/>
          <p:nvPr/>
        </p:nvSpPr>
        <p:spPr>
          <a:xfrm>
            <a:off x="8328965" y="1938528"/>
            <a:ext cx="3112922" cy="1088136"/>
          </a:xfrm>
          <a:prstGeom prst="rect">
            <a:avLst/>
          </a:prstGeom>
          <a:noFill/>
          <a:ln/>
        </p:spPr>
        <p:txBody>
          <a:bodyPr wrap="square" lIns="0" tIns="0" rIns="0" bIns="0" rtlCol="0" anchor="t"/>
          <a:lstStyle/>
          <a:p>
            <a:pPr marL="0" indent="0">
              <a:lnSpc>
                <a:spcPct val="105000"/>
              </a:lnSpc>
              <a:buNone/>
            </a:pPr>
            <a:r>
              <a:rPr lang="rw-RW" dirty="0">
                <a:solidFill>
                  <a:srgbClr val="17335F"/>
                </a:solidFill>
                <a:latin typeface="Calibri" pitchFamily="34" charset="0"/>
                <a:ea typeface="Calibri" pitchFamily="34" charset="-122"/>
                <a:cs typeface="Calibri" pitchFamily="34" charset="-120"/>
              </a:rPr>
              <a:t>Mujye muvugana mu bwitonzi no mu bwisanzure.</a:t>
            </a:r>
            <a:endParaRPr lang="rw-RW" dirty="0"/>
          </a:p>
        </p:txBody>
      </p:sp>
      <p:sp>
        <p:nvSpPr>
          <p:cNvPr id="14" name="Shape 12"/>
          <p:cNvSpPr/>
          <p:nvPr/>
        </p:nvSpPr>
        <p:spPr>
          <a:xfrm>
            <a:off x="548640" y="3429000"/>
            <a:ext cx="3515258" cy="1783080"/>
          </a:xfrm>
          <a:prstGeom prst="roundRect">
            <a:avLst>
              <a:gd name="adj" fmla="val 6154"/>
            </a:avLst>
          </a:prstGeom>
          <a:solidFill>
            <a:srgbClr val="F2F7FD"/>
          </a:solidFill>
          <a:ln w="12700">
            <a:solidFill>
              <a:srgbClr val="CBDDF3"/>
            </a:solidFill>
            <a:prstDash val="solid"/>
          </a:ln>
        </p:spPr>
        <p:txBody>
          <a:bodyPr/>
          <a:lstStyle/>
          <a:p>
            <a:endParaRPr lang="rw-RW" dirty="0"/>
          </a:p>
        </p:txBody>
      </p:sp>
      <p:sp>
        <p:nvSpPr>
          <p:cNvPr id="15" name="Text 13"/>
          <p:cNvSpPr txBox="1"/>
          <p:nvPr/>
        </p:nvSpPr>
        <p:spPr>
          <a:xfrm>
            <a:off x="1093318" y="3593161"/>
            <a:ext cx="1626436" cy="384048"/>
          </a:xfrm>
          <a:prstGeom prst="rect">
            <a:avLst/>
          </a:prstGeom>
          <a:noFill/>
          <a:ln/>
        </p:spPr>
        <p:txBody>
          <a:bodyPr wrap="square" lIns="0" tIns="0" rIns="0" bIns="0" rtlCol="0" anchor="t">
            <a:noAutofit/>
          </a:bodyPr>
          <a:lstStyle/>
          <a:p>
            <a:pPr marL="0" indent="0">
              <a:buNone/>
            </a:pPr>
            <a:r>
              <a:rPr lang="rw-RW" b="1" dirty="0">
                <a:solidFill>
                  <a:srgbClr val="12305B"/>
                </a:solidFill>
                <a:latin typeface="Calibri" pitchFamily="34" charset="0"/>
                <a:ea typeface="Calibri" pitchFamily="34" charset="-122"/>
                <a:cs typeface="Calibri" pitchFamily="34" charset="-120"/>
              </a:rPr>
              <a:t>Gushyigikira</a:t>
            </a:r>
            <a:endParaRPr lang="rw-RW" dirty="0"/>
          </a:p>
        </p:txBody>
      </p:sp>
      <p:sp>
        <p:nvSpPr>
          <p:cNvPr id="16" name="Text 14"/>
          <p:cNvSpPr txBox="1"/>
          <p:nvPr/>
        </p:nvSpPr>
        <p:spPr>
          <a:xfrm>
            <a:off x="749808" y="3995928"/>
            <a:ext cx="3112922" cy="1088136"/>
          </a:xfrm>
          <a:prstGeom prst="rect">
            <a:avLst/>
          </a:prstGeom>
          <a:noFill/>
          <a:ln/>
        </p:spPr>
        <p:txBody>
          <a:bodyPr wrap="square" lIns="0" tIns="0" rIns="0" bIns="0" rtlCol="0" anchor="t">
            <a:normAutofit/>
          </a:bodyPr>
          <a:lstStyle/>
          <a:p>
            <a:pPr marL="0" indent="0">
              <a:lnSpc>
                <a:spcPct val="105000"/>
              </a:lnSpc>
              <a:buNone/>
            </a:pPr>
            <a:r>
              <a:rPr lang="rw-RW" dirty="0">
                <a:solidFill>
                  <a:srgbClr val="17335F"/>
                </a:solidFill>
                <a:latin typeface="Calibri" pitchFamily="34" charset="0"/>
                <a:ea typeface="Calibri" pitchFamily="34" charset="-122"/>
                <a:cs typeface="Calibri" pitchFamily="34" charset="-120"/>
              </a:rPr>
              <a:t>Fasha umuntu kujya aho yoherejwe no kugaruka gufata ibisubizo.</a:t>
            </a:r>
            <a:endParaRPr lang="rw-RW" dirty="0"/>
          </a:p>
        </p:txBody>
      </p:sp>
      <p:sp>
        <p:nvSpPr>
          <p:cNvPr id="17" name="Shape 15"/>
          <p:cNvSpPr/>
          <p:nvPr/>
        </p:nvSpPr>
        <p:spPr>
          <a:xfrm>
            <a:off x="4338218" y="3429000"/>
            <a:ext cx="3515258" cy="1783080"/>
          </a:xfrm>
          <a:prstGeom prst="roundRect">
            <a:avLst>
              <a:gd name="adj" fmla="val 6154"/>
            </a:avLst>
          </a:prstGeom>
          <a:solidFill>
            <a:srgbClr val="F2F7FD"/>
          </a:solidFill>
          <a:ln w="12700">
            <a:solidFill>
              <a:srgbClr val="CBDDF3"/>
            </a:solidFill>
            <a:prstDash val="solid"/>
          </a:ln>
        </p:spPr>
        <p:txBody>
          <a:bodyPr/>
          <a:lstStyle/>
          <a:p>
            <a:endParaRPr lang="rw-RW" dirty="0"/>
          </a:p>
        </p:txBody>
      </p:sp>
      <p:sp>
        <p:nvSpPr>
          <p:cNvPr id="18" name="Text 16"/>
          <p:cNvSpPr txBox="1"/>
          <p:nvPr/>
        </p:nvSpPr>
        <p:spPr>
          <a:xfrm>
            <a:off x="4911032" y="3575304"/>
            <a:ext cx="3112922"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Kuburira</a:t>
            </a:r>
            <a:endParaRPr lang="rw-RW" dirty="0"/>
          </a:p>
        </p:txBody>
      </p:sp>
      <p:sp>
        <p:nvSpPr>
          <p:cNvPr id="19" name="Text 17"/>
          <p:cNvSpPr txBox="1"/>
          <p:nvPr/>
        </p:nvSpPr>
        <p:spPr>
          <a:xfrm>
            <a:off x="4539386" y="3995928"/>
            <a:ext cx="3112922" cy="1088136"/>
          </a:xfrm>
          <a:prstGeom prst="rect">
            <a:avLst/>
          </a:prstGeom>
          <a:noFill/>
          <a:ln/>
        </p:spPr>
        <p:txBody>
          <a:bodyPr wrap="square" lIns="0" tIns="0" rIns="0" bIns="0" rtlCol="0" anchor="t"/>
          <a:lstStyle/>
          <a:p>
            <a:pPr marL="0" indent="0">
              <a:lnSpc>
                <a:spcPct val="105000"/>
              </a:lnSpc>
              <a:buNone/>
            </a:pPr>
            <a:r>
              <a:rPr lang="rw-RW" dirty="0">
                <a:solidFill>
                  <a:srgbClr val="17335F"/>
                </a:solidFill>
                <a:latin typeface="Calibri" pitchFamily="34" charset="0"/>
                <a:ea typeface="Calibri" pitchFamily="34" charset="-122"/>
                <a:cs typeface="Calibri" pitchFamily="34" charset="-120"/>
              </a:rPr>
              <a:t>Menya igihe kohereza umurwayi kwa muganga bidashobora gutegereza.</a:t>
            </a:r>
            <a:endParaRPr lang="rw-RW" dirty="0"/>
          </a:p>
        </p:txBody>
      </p:sp>
      <p:sp>
        <p:nvSpPr>
          <p:cNvPr id="21" name="TextBox 20">
            <a:extLst>
              <a:ext uri="{FF2B5EF4-FFF2-40B4-BE49-F238E27FC236}">
                <a16:creationId xmlns:a16="http://schemas.microsoft.com/office/drawing/2014/main" id="{D5A005AE-957D-C5A7-749E-B659B1265135}"/>
              </a:ext>
            </a:extLst>
          </p:cNvPr>
          <p:cNvSpPr txBox="1"/>
          <p:nvPr/>
        </p:nvSpPr>
        <p:spPr>
          <a:xfrm>
            <a:off x="548640" y="1469951"/>
            <a:ext cx="644825" cy="461665"/>
          </a:xfrm>
          <a:prstGeom prst="rect">
            <a:avLst/>
          </a:prstGeom>
          <a:noFill/>
        </p:spPr>
        <p:txBody>
          <a:bodyPr wrap="square">
            <a:noAutofit/>
          </a:bodyPr>
          <a:lstStyle/>
          <a:p>
            <a:pPr marL="0" indent="0">
              <a:buNone/>
            </a:pPr>
            <a:r>
              <a:rPr lang="rw-RW" noProof="0" dirty="0">
                <a:solidFill>
                  <a:srgbClr val="1A2733"/>
                </a:solidFill>
                <a:latin typeface="Calibri" pitchFamily="34" charset="0"/>
                <a:ea typeface="Calibri" pitchFamily="34" charset="-122"/>
                <a:cs typeface="Calibri" pitchFamily="34" charset="-120"/>
              </a:rPr>
              <a:t>🧭</a:t>
            </a:r>
            <a:endParaRPr lang="rw-RW" noProof="0" dirty="0"/>
          </a:p>
        </p:txBody>
      </p:sp>
      <p:sp>
        <p:nvSpPr>
          <p:cNvPr id="23" name="TextBox 22">
            <a:extLst>
              <a:ext uri="{FF2B5EF4-FFF2-40B4-BE49-F238E27FC236}">
                <a16:creationId xmlns:a16="http://schemas.microsoft.com/office/drawing/2014/main" id="{48C20288-A640-0A15-5841-3DD4CF302B45}"/>
              </a:ext>
            </a:extLst>
          </p:cNvPr>
          <p:cNvSpPr txBox="1"/>
          <p:nvPr/>
        </p:nvSpPr>
        <p:spPr>
          <a:xfrm>
            <a:off x="8088441" y="1439538"/>
            <a:ext cx="535909" cy="369332"/>
          </a:xfrm>
          <a:prstGeom prst="rect">
            <a:avLst/>
          </a:prstGeom>
          <a:noFill/>
        </p:spPr>
        <p:txBody>
          <a:bodyPr wrap="square">
            <a:spAutoFit/>
          </a:bodyPr>
          <a:lstStyle/>
          <a:p>
            <a:pPr marL="0" indent="0">
              <a:buNone/>
            </a:pPr>
            <a:r>
              <a:rPr lang="rw-RW" noProof="0" dirty="0">
                <a:solidFill>
                  <a:srgbClr val="1A2733"/>
                </a:solidFill>
                <a:latin typeface="Calibri" pitchFamily="34" charset="0"/>
                <a:ea typeface="Calibri" pitchFamily="34" charset="-122"/>
                <a:cs typeface="Calibri" pitchFamily="34" charset="-120"/>
              </a:rPr>
              <a:t>🗣️</a:t>
            </a:r>
            <a:endParaRPr lang="rw-RW" noProof="0" dirty="0"/>
          </a:p>
        </p:txBody>
      </p:sp>
      <p:sp>
        <p:nvSpPr>
          <p:cNvPr id="25" name="TextBox 24">
            <a:extLst>
              <a:ext uri="{FF2B5EF4-FFF2-40B4-BE49-F238E27FC236}">
                <a16:creationId xmlns:a16="http://schemas.microsoft.com/office/drawing/2014/main" id="{92515DAC-D69E-5969-F4FD-C753363130F5}"/>
              </a:ext>
            </a:extLst>
          </p:cNvPr>
          <p:cNvSpPr txBox="1"/>
          <p:nvPr/>
        </p:nvSpPr>
        <p:spPr>
          <a:xfrm>
            <a:off x="548640" y="3501741"/>
            <a:ext cx="544678" cy="369332"/>
          </a:xfrm>
          <a:prstGeom prst="rect">
            <a:avLst/>
          </a:prstGeom>
          <a:noFill/>
        </p:spPr>
        <p:txBody>
          <a:bodyPr wrap="square">
            <a:spAutoFit/>
          </a:bodyPr>
          <a:lstStyle/>
          <a:p>
            <a:pPr marL="0" indent="0">
              <a:buNone/>
            </a:pPr>
            <a:r>
              <a:rPr lang="rw-RW" noProof="0" dirty="0">
                <a:solidFill>
                  <a:srgbClr val="1A2733"/>
                </a:solidFill>
                <a:latin typeface="Calibri" pitchFamily="34" charset="0"/>
                <a:ea typeface="Calibri" pitchFamily="34" charset="-122"/>
                <a:cs typeface="Calibri" pitchFamily="34" charset="-120"/>
              </a:rPr>
              <a:t>💙</a:t>
            </a:r>
            <a:endParaRPr lang="rw-RW" noProof="0" dirty="0"/>
          </a:p>
        </p:txBody>
      </p:sp>
      <p:sp>
        <p:nvSpPr>
          <p:cNvPr id="27" name="TextBox 26">
            <a:extLst>
              <a:ext uri="{FF2B5EF4-FFF2-40B4-BE49-F238E27FC236}">
                <a16:creationId xmlns:a16="http://schemas.microsoft.com/office/drawing/2014/main" id="{C4DEB1A6-0677-AE85-4634-923DB38FABC8}"/>
              </a:ext>
            </a:extLst>
          </p:cNvPr>
          <p:cNvSpPr txBox="1"/>
          <p:nvPr/>
        </p:nvSpPr>
        <p:spPr>
          <a:xfrm>
            <a:off x="4317137" y="1440287"/>
            <a:ext cx="700528" cy="369332"/>
          </a:xfrm>
          <a:prstGeom prst="rect">
            <a:avLst/>
          </a:prstGeom>
          <a:noFill/>
        </p:spPr>
        <p:txBody>
          <a:bodyPr wrap="square">
            <a:spAutoFit/>
          </a:bodyPr>
          <a:lstStyle/>
          <a:p>
            <a:pPr marL="0" indent="0">
              <a:buNone/>
            </a:pPr>
            <a:r>
              <a:rPr lang="rw-RW" noProof="0" dirty="0">
                <a:solidFill>
                  <a:srgbClr val="1A2733"/>
                </a:solidFill>
                <a:latin typeface="Calibri" pitchFamily="34" charset="0"/>
                <a:ea typeface="Calibri" pitchFamily="34" charset="-122"/>
                <a:cs typeface="Calibri" pitchFamily="34" charset="-120"/>
              </a:rPr>
              <a:t>📝</a:t>
            </a:r>
            <a:endParaRPr lang="rw-RW" noProof="0" dirty="0"/>
          </a:p>
        </p:txBody>
      </p:sp>
      <p:sp>
        <p:nvSpPr>
          <p:cNvPr id="29" name="TextBox 28">
            <a:extLst>
              <a:ext uri="{FF2B5EF4-FFF2-40B4-BE49-F238E27FC236}">
                <a16:creationId xmlns:a16="http://schemas.microsoft.com/office/drawing/2014/main" id="{A7B211E6-052A-6094-BE16-EE30D3232EDB}"/>
              </a:ext>
            </a:extLst>
          </p:cNvPr>
          <p:cNvSpPr txBox="1"/>
          <p:nvPr/>
        </p:nvSpPr>
        <p:spPr>
          <a:xfrm>
            <a:off x="4338218" y="3501740"/>
            <a:ext cx="848895" cy="369332"/>
          </a:xfrm>
          <a:prstGeom prst="rect">
            <a:avLst/>
          </a:prstGeom>
          <a:noFill/>
        </p:spPr>
        <p:txBody>
          <a:bodyPr wrap="square">
            <a:spAutoFit/>
          </a:bodyPr>
          <a:lstStyle/>
          <a:p>
            <a:pPr marL="0" indent="0">
              <a:buNone/>
            </a:pPr>
            <a:r>
              <a:rPr lang="rw-RW" noProof="0" dirty="0">
                <a:solidFill>
                  <a:srgbClr val="1A2733"/>
                </a:solidFill>
                <a:latin typeface="Calibri" pitchFamily="34" charset="0"/>
                <a:ea typeface="Calibri" pitchFamily="34" charset="-122"/>
                <a:cs typeface="Calibri" pitchFamily="34" charset="-120"/>
              </a:rPr>
              <a:t>🏥</a:t>
            </a:r>
            <a:endParaRPr lang="rw-RW" noProof="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3</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Inzira yo kohereza umurwayi mu Rwanda</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Shape 3"/>
          <p:cNvSpPr/>
          <p:nvPr/>
        </p:nvSpPr>
        <p:spPr>
          <a:xfrm>
            <a:off x="548640" y="1371599"/>
            <a:ext cx="2581580" cy="3399493"/>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6" name="Shape 4"/>
          <p:cNvSpPr/>
          <p:nvPr/>
        </p:nvSpPr>
        <p:spPr>
          <a:xfrm>
            <a:off x="749808" y="1554480"/>
            <a:ext cx="420624" cy="420624"/>
          </a:xfrm>
          <a:prstGeom prst="ellipse">
            <a:avLst/>
          </a:prstGeom>
          <a:solidFill>
            <a:srgbClr val="12305B"/>
          </a:solidFill>
          <a:ln/>
        </p:spPr>
        <p:txBody>
          <a:bodyPr/>
          <a:lstStyle/>
          <a:p>
            <a:endParaRPr lang="rw-RW" dirty="0"/>
          </a:p>
        </p:txBody>
      </p:sp>
      <p:sp>
        <p:nvSpPr>
          <p:cNvPr id="7" name="Text 5"/>
          <p:cNvSpPr txBox="1"/>
          <p:nvPr/>
        </p:nvSpPr>
        <p:spPr>
          <a:xfrm>
            <a:off x="749808" y="1554480"/>
            <a:ext cx="420624" cy="420624"/>
          </a:xfrm>
          <a:prstGeom prst="rect">
            <a:avLst/>
          </a:prstGeom>
          <a:noFill/>
          <a:ln/>
        </p:spPr>
        <p:txBody>
          <a:bodyPr wrap="square" lIns="0" tIns="0" rIns="0" bIns="0" rtlCol="0" anchor="ctr"/>
          <a:lstStyle/>
          <a:p>
            <a:pPr marL="0" indent="0" algn="ctr">
              <a:buNone/>
            </a:pPr>
            <a:r>
              <a:rPr lang="rw-RW" sz="1700" b="1" dirty="0">
                <a:solidFill>
                  <a:srgbClr val="FFFFFF"/>
                </a:solidFill>
                <a:latin typeface="Calibri" pitchFamily="34" charset="0"/>
                <a:ea typeface="Calibri" pitchFamily="34" charset="-122"/>
                <a:cs typeface="Calibri" pitchFamily="34" charset="-120"/>
              </a:rPr>
              <a:t>1</a:t>
            </a:r>
            <a:endParaRPr lang="rw-RW" sz="1700" dirty="0"/>
          </a:p>
        </p:txBody>
      </p:sp>
      <p:sp>
        <p:nvSpPr>
          <p:cNvPr id="8" name="Text 6"/>
          <p:cNvSpPr txBox="1"/>
          <p:nvPr/>
        </p:nvSpPr>
        <p:spPr>
          <a:xfrm>
            <a:off x="1280160" y="1572768"/>
            <a:ext cx="1868348" cy="402336"/>
          </a:xfrm>
          <a:prstGeom prst="rect">
            <a:avLst/>
          </a:prstGeom>
          <a:noFill/>
          <a:ln/>
        </p:spPr>
        <p:txBody>
          <a:bodyPr wrap="square" lIns="0" tIns="0" rIns="0" bIns="0" rtlCol="0" anchor="ctr"/>
          <a:lstStyle/>
          <a:p>
            <a:pPr marL="0" indent="0">
              <a:buNone/>
            </a:pPr>
            <a:r>
              <a:rPr lang="rw-RW" b="1" dirty="0">
                <a:solidFill>
                  <a:srgbClr val="12305B"/>
                </a:solidFill>
                <a:latin typeface="Calibri" pitchFamily="34" charset="0"/>
                <a:ea typeface="Calibri" pitchFamily="34" charset="-122"/>
                <a:cs typeface="Calibri" pitchFamily="34" charset="-120"/>
              </a:rPr>
              <a:t>Mu muryango</a:t>
            </a:r>
            <a:endParaRPr lang="rw-RW" dirty="0"/>
          </a:p>
        </p:txBody>
      </p:sp>
      <p:sp>
        <p:nvSpPr>
          <p:cNvPr id="9" name="Text 7"/>
          <p:cNvSpPr txBox="1"/>
          <p:nvPr/>
        </p:nvSpPr>
        <p:spPr>
          <a:xfrm>
            <a:off x="749808" y="2084832"/>
            <a:ext cx="2279828" cy="1325880"/>
          </a:xfrm>
          <a:prstGeom prst="rect">
            <a:avLst/>
          </a:prstGeom>
          <a:noFill/>
          <a:ln/>
        </p:spPr>
        <p:txBody>
          <a:bodyPr wrap="square" lIns="0" tIns="0" rIns="0" bIns="0" rtlCol="0" anchor="t">
            <a:norm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Tega amatwi, ujye umenya ibimenyetso, kandi ushishikarize uwo muntu gushaka ubuvuzi.</a:t>
            </a:r>
            <a:endParaRPr lang="rw-RW" sz="1600" dirty="0"/>
          </a:p>
        </p:txBody>
      </p:sp>
      <p:sp>
        <p:nvSpPr>
          <p:cNvPr id="10" name="Text 8"/>
          <p:cNvSpPr txBox="1"/>
          <p:nvPr/>
        </p:nvSpPr>
        <p:spPr>
          <a:xfrm>
            <a:off x="3148508" y="2240280"/>
            <a:ext cx="219456" cy="457200"/>
          </a:xfrm>
          <a:prstGeom prst="rect">
            <a:avLst/>
          </a:prstGeom>
          <a:noFill/>
          <a:ln/>
        </p:spPr>
        <p:txBody>
          <a:bodyPr wrap="square" lIns="0" tIns="0" rIns="0" bIns="0" rtlCol="0" anchor="ctr"/>
          <a:lstStyle/>
          <a:p>
            <a:pPr marL="0" indent="0" algn="ctr">
              <a:buNone/>
            </a:pPr>
            <a:r>
              <a:rPr lang="rw-RW" sz="2000" b="1" dirty="0">
                <a:solidFill>
                  <a:srgbClr val="1F5FA9"/>
                </a:solidFill>
                <a:latin typeface="Calibri" pitchFamily="34" charset="0"/>
                <a:ea typeface="Calibri" pitchFamily="34" charset="-122"/>
                <a:cs typeface="Calibri" pitchFamily="34" charset="-120"/>
              </a:rPr>
              <a:t>»</a:t>
            </a:r>
            <a:endParaRPr lang="rw-RW" sz="2000" dirty="0"/>
          </a:p>
        </p:txBody>
      </p:sp>
      <p:sp>
        <p:nvSpPr>
          <p:cNvPr id="11" name="Shape 9"/>
          <p:cNvSpPr/>
          <p:nvPr/>
        </p:nvSpPr>
        <p:spPr>
          <a:xfrm>
            <a:off x="3374529" y="1371599"/>
            <a:ext cx="2581580" cy="3399493"/>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12" name="Shape 10"/>
          <p:cNvSpPr/>
          <p:nvPr/>
        </p:nvSpPr>
        <p:spPr>
          <a:xfrm>
            <a:off x="3493636" y="1554480"/>
            <a:ext cx="420624" cy="420624"/>
          </a:xfrm>
          <a:prstGeom prst="ellipse">
            <a:avLst/>
          </a:prstGeom>
          <a:solidFill>
            <a:srgbClr val="12305B"/>
          </a:solidFill>
          <a:ln/>
        </p:spPr>
        <p:txBody>
          <a:bodyPr/>
          <a:lstStyle/>
          <a:p>
            <a:endParaRPr lang="rw-RW" dirty="0"/>
          </a:p>
        </p:txBody>
      </p:sp>
      <p:sp>
        <p:nvSpPr>
          <p:cNvPr id="13" name="Text 11"/>
          <p:cNvSpPr txBox="1"/>
          <p:nvPr/>
        </p:nvSpPr>
        <p:spPr>
          <a:xfrm>
            <a:off x="3493636" y="1554480"/>
            <a:ext cx="420624" cy="420624"/>
          </a:xfrm>
          <a:prstGeom prst="rect">
            <a:avLst/>
          </a:prstGeom>
          <a:noFill/>
          <a:ln/>
        </p:spPr>
        <p:txBody>
          <a:bodyPr wrap="square" lIns="0" tIns="0" rIns="0" bIns="0" rtlCol="0" anchor="ctr"/>
          <a:lstStyle/>
          <a:p>
            <a:pPr marL="0" indent="0" algn="ctr">
              <a:buNone/>
            </a:pPr>
            <a:r>
              <a:rPr lang="rw-RW" sz="1700" b="1" dirty="0">
                <a:solidFill>
                  <a:srgbClr val="FFFFFF"/>
                </a:solidFill>
                <a:latin typeface="Calibri" pitchFamily="34" charset="0"/>
                <a:ea typeface="Calibri" pitchFamily="34" charset="-122"/>
                <a:cs typeface="Calibri" pitchFamily="34" charset="-120"/>
              </a:rPr>
              <a:t>2</a:t>
            </a:r>
            <a:endParaRPr lang="rw-RW" sz="1700" dirty="0"/>
          </a:p>
        </p:txBody>
      </p:sp>
      <p:sp>
        <p:nvSpPr>
          <p:cNvPr id="14" name="Text 12"/>
          <p:cNvSpPr txBox="1"/>
          <p:nvPr/>
        </p:nvSpPr>
        <p:spPr>
          <a:xfrm>
            <a:off x="4023988" y="1654829"/>
            <a:ext cx="1868348" cy="402336"/>
          </a:xfrm>
          <a:prstGeom prst="rect">
            <a:avLst/>
          </a:prstGeom>
          <a:noFill/>
          <a:ln/>
        </p:spPr>
        <p:txBody>
          <a:bodyPr wrap="square" lIns="0" tIns="0" rIns="0" bIns="0" rtlCol="0" anchor="ctr">
            <a:noAutofit/>
          </a:bodyPr>
          <a:lstStyle/>
          <a:p>
            <a:pPr marL="0" indent="0">
              <a:buNone/>
            </a:pPr>
            <a:r>
              <a:rPr lang="rw-RW" b="1" dirty="0">
                <a:solidFill>
                  <a:srgbClr val="12305B"/>
                </a:solidFill>
                <a:latin typeface="Calibri" pitchFamily="34" charset="0"/>
                <a:ea typeface="Calibri" pitchFamily="34" charset="-122"/>
                <a:cs typeface="Calibri" pitchFamily="34" charset="-120"/>
              </a:rPr>
              <a:t>Ivuriro rito (health post) cyangwa ikigo nderabuzima</a:t>
            </a:r>
            <a:endParaRPr lang="rw-RW" dirty="0"/>
          </a:p>
        </p:txBody>
      </p:sp>
      <p:sp>
        <p:nvSpPr>
          <p:cNvPr id="15" name="Text 13"/>
          <p:cNvSpPr txBox="1"/>
          <p:nvPr/>
        </p:nvSpPr>
        <p:spPr>
          <a:xfrm>
            <a:off x="3528805" y="2295846"/>
            <a:ext cx="2179244" cy="1325880"/>
          </a:xfrm>
          <a:prstGeom prst="rect">
            <a:avLst/>
          </a:prstGeom>
          <a:noFill/>
          <a:ln/>
        </p:spPr>
        <p:txBody>
          <a:bodyPr wrap="square" lIns="0" tIns="0" rIns="0" bIns="0" rtlCol="0" anchor="t">
            <a:norm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Umuntu abanza gusuzumwa hano hanyuma yoherezwe mu gihe bibaye ngombwa.</a:t>
            </a:r>
            <a:endParaRPr lang="rw-RW" sz="1600" dirty="0"/>
          </a:p>
        </p:txBody>
      </p:sp>
      <p:sp>
        <p:nvSpPr>
          <p:cNvPr id="16" name="Text 14"/>
          <p:cNvSpPr txBox="1"/>
          <p:nvPr/>
        </p:nvSpPr>
        <p:spPr>
          <a:xfrm>
            <a:off x="5986120" y="2240280"/>
            <a:ext cx="219456" cy="457200"/>
          </a:xfrm>
          <a:prstGeom prst="rect">
            <a:avLst/>
          </a:prstGeom>
          <a:noFill/>
          <a:ln/>
        </p:spPr>
        <p:txBody>
          <a:bodyPr wrap="square" lIns="0" tIns="0" rIns="0" bIns="0" rtlCol="0" anchor="ctr"/>
          <a:lstStyle/>
          <a:p>
            <a:pPr marL="0" indent="0" algn="ctr">
              <a:buNone/>
            </a:pPr>
            <a:r>
              <a:rPr lang="rw-RW" sz="2000" b="1" dirty="0">
                <a:solidFill>
                  <a:srgbClr val="1F5FA9"/>
                </a:solidFill>
                <a:latin typeface="Calibri" pitchFamily="34" charset="0"/>
                <a:ea typeface="Calibri" pitchFamily="34" charset="-122"/>
                <a:cs typeface="Calibri" pitchFamily="34" charset="-120"/>
              </a:rPr>
              <a:t>»</a:t>
            </a:r>
            <a:endParaRPr lang="rw-RW" sz="2000" dirty="0"/>
          </a:p>
        </p:txBody>
      </p:sp>
      <p:sp>
        <p:nvSpPr>
          <p:cNvPr id="17" name="Shape 15"/>
          <p:cNvSpPr/>
          <p:nvPr/>
        </p:nvSpPr>
        <p:spPr>
          <a:xfrm>
            <a:off x="6223864" y="1371600"/>
            <a:ext cx="2581580" cy="3399492"/>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18" name="Shape 16"/>
          <p:cNvSpPr/>
          <p:nvPr/>
        </p:nvSpPr>
        <p:spPr>
          <a:xfrm>
            <a:off x="6425032" y="1554480"/>
            <a:ext cx="420624" cy="420624"/>
          </a:xfrm>
          <a:prstGeom prst="ellipse">
            <a:avLst/>
          </a:prstGeom>
          <a:solidFill>
            <a:srgbClr val="12305B"/>
          </a:solidFill>
          <a:ln/>
        </p:spPr>
        <p:txBody>
          <a:bodyPr/>
          <a:lstStyle/>
          <a:p>
            <a:endParaRPr lang="rw-RW" dirty="0"/>
          </a:p>
        </p:txBody>
      </p:sp>
      <p:sp>
        <p:nvSpPr>
          <p:cNvPr id="19" name="Text 17"/>
          <p:cNvSpPr txBox="1"/>
          <p:nvPr/>
        </p:nvSpPr>
        <p:spPr>
          <a:xfrm>
            <a:off x="6425032" y="1554480"/>
            <a:ext cx="420624" cy="420624"/>
          </a:xfrm>
          <a:prstGeom prst="rect">
            <a:avLst/>
          </a:prstGeom>
          <a:noFill/>
          <a:ln/>
        </p:spPr>
        <p:txBody>
          <a:bodyPr wrap="square" lIns="0" tIns="0" rIns="0" bIns="0" rtlCol="0" anchor="ctr"/>
          <a:lstStyle/>
          <a:p>
            <a:pPr marL="0" indent="0" algn="ctr">
              <a:buNone/>
            </a:pPr>
            <a:r>
              <a:rPr lang="rw-RW" sz="1700" b="1" dirty="0">
                <a:solidFill>
                  <a:srgbClr val="FFFFFF"/>
                </a:solidFill>
                <a:latin typeface="Calibri" pitchFamily="34" charset="0"/>
                <a:ea typeface="Calibri" pitchFamily="34" charset="-122"/>
                <a:cs typeface="Calibri" pitchFamily="34" charset="-120"/>
              </a:rPr>
              <a:t>3</a:t>
            </a:r>
            <a:endParaRPr lang="rw-RW" sz="1700" dirty="0"/>
          </a:p>
        </p:txBody>
      </p:sp>
      <p:sp>
        <p:nvSpPr>
          <p:cNvPr id="20" name="Text 18"/>
          <p:cNvSpPr txBox="1"/>
          <p:nvPr/>
        </p:nvSpPr>
        <p:spPr>
          <a:xfrm>
            <a:off x="6955384" y="1572768"/>
            <a:ext cx="1868348" cy="402336"/>
          </a:xfrm>
          <a:prstGeom prst="rect">
            <a:avLst/>
          </a:prstGeom>
          <a:noFill/>
          <a:ln/>
        </p:spPr>
        <p:txBody>
          <a:bodyPr wrap="square" lIns="0" tIns="0" rIns="0" bIns="0" rtlCol="0" anchor="ctr">
            <a:noAutofit/>
          </a:bodyPr>
          <a:lstStyle/>
          <a:p>
            <a:pPr marL="0" indent="0">
              <a:buNone/>
            </a:pPr>
            <a:r>
              <a:rPr lang="rw-RW" b="1" dirty="0">
                <a:solidFill>
                  <a:srgbClr val="12305B"/>
                </a:solidFill>
                <a:latin typeface="Calibri" pitchFamily="34" charset="0"/>
                <a:ea typeface="Calibri" pitchFamily="34" charset="-122"/>
                <a:cs typeface="Calibri" pitchFamily="34" charset="-120"/>
              </a:rPr>
              <a:t>Ibitaro by'akarere</a:t>
            </a:r>
            <a:endParaRPr lang="rw-RW" dirty="0"/>
          </a:p>
        </p:txBody>
      </p:sp>
      <p:sp>
        <p:nvSpPr>
          <p:cNvPr id="21" name="Text 19"/>
          <p:cNvSpPr txBox="1"/>
          <p:nvPr/>
        </p:nvSpPr>
        <p:spPr>
          <a:xfrm>
            <a:off x="6347103" y="2021170"/>
            <a:ext cx="2441729" cy="1325880"/>
          </a:xfrm>
          <a:prstGeom prst="rect">
            <a:avLst/>
          </a:prstGeom>
          <a:noFill/>
          <a:ln/>
        </p:spPr>
        <p:txBody>
          <a:bodyPr wrap="square" lIns="0" tIns="0" rIns="0" bIns="0" rtlCol="0" anchor="t"/>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Ibindi bipimo bishobora gukorwa hano, harimo n'ibizamini bigenzura imbere mu mara.</a:t>
            </a:r>
            <a:endParaRPr lang="rw-RW" sz="1600" dirty="0"/>
          </a:p>
        </p:txBody>
      </p:sp>
      <p:sp>
        <p:nvSpPr>
          <p:cNvPr id="22" name="Text 20"/>
          <p:cNvSpPr txBox="1"/>
          <p:nvPr/>
        </p:nvSpPr>
        <p:spPr>
          <a:xfrm>
            <a:off x="8823731" y="2240280"/>
            <a:ext cx="219456" cy="457200"/>
          </a:xfrm>
          <a:prstGeom prst="rect">
            <a:avLst/>
          </a:prstGeom>
          <a:noFill/>
          <a:ln/>
        </p:spPr>
        <p:txBody>
          <a:bodyPr wrap="square" lIns="0" tIns="0" rIns="0" bIns="0" rtlCol="0" anchor="ctr"/>
          <a:lstStyle/>
          <a:p>
            <a:pPr marL="0" indent="0" algn="ctr">
              <a:buNone/>
            </a:pPr>
            <a:r>
              <a:rPr lang="rw-RW" sz="2000" b="1" dirty="0">
                <a:solidFill>
                  <a:srgbClr val="1F5FA9"/>
                </a:solidFill>
                <a:latin typeface="Calibri" pitchFamily="34" charset="0"/>
                <a:ea typeface="Calibri" pitchFamily="34" charset="-122"/>
                <a:cs typeface="Calibri" pitchFamily="34" charset="-120"/>
              </a:rPr>
              <a:t>»</a:t>
            </a:r>
            <a:endParaRPr lang="rw-RW" sz="2000" dirty="0"/>
          </a:p>
        </p:txBody>
      </p:sp>
      <p:sp>
        <p:nvSpPr>
          <p:cNvPr id="23" name="Shape 21"/>
          <p:cNvSpPr/>
          <p:nvPr/>
        </p:nvSpPr>
        <p:spPr>
          <a:xfrm>
            <a:off x="9061475" y="1371600"/>
            <a:ext cx="2581580" cy="3399492"/>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24" name="Shape 22"/>
          <p:cNvSpPr/>
          <p:nvPr/>
        </p:nvSpPr>
        <p:spPr>
          <a:xfrm>
            <a:off x="9262643" y="1554480"/>
            <a:ext cx="420624" cy="420624"/>
          </a:xfrm>
          <a:prstGeom prst="ellipse">
            <a:avLst/>
          </a:prstGeom>
          <a:solidFill>
            <a:srgbClr val="12305B"/>
          </a:solidFill>
          <a:ln/>
        </p:spPr>
        <p:txBody>
          <a:bodyPr/>
          <a:lstStyle/>
          <a:p>
            <a:endParaRPr lang="rw-RW" dirty="0"/>
          </a:p>
        </p:txBody>
      </p:sp>
      <p:sp>
        <p:nvSpPr>
          <p:cNvPr id="25" name="Text 23"/>
          <p:cNvSpPr txBox="1"/>
          <p:nvPr/>
        </p:nvSpPr>
        <p:spPr>
          <a:xfrm>
            <a:off x="9262643" y="1554480"/>
            <a:ext cx="420624" cy="420624"/>
          </a:xfrm>
          <a:prstGeom prst="rect">
            <a:avLst/>
          </a:prstGeom>
          <a:noFill/>
          <a:ln/>
        </p:spPr>
        <p:txBody>
          <a:bodyPr wrap="square" lIns="0" tIns="0" rIns="0" bIns="0" rtlCol="0" anchor="ctr"/>
          <a:lstStyle/>
          <a:p>
            <a:pPr marL="0" indent="0" algn="ctr">
              <a:buNone/>
            </a:pPr>
            <a:r>
              <a:rPr lang="rw-RW" sz="1700" b="1" dirty="0">
                <a:solidFill>
                  <a:srgbClr val="FFFFFF"/>
                </a:solidFill>
                <a:latin typeface="Calibri" pitchFamily="34" charset="0"/>
                <a:ea typeface="Calibri" pitchFamily="34" charset="-122"/>
                <a:cs typeface="Calibri" pitchFamily="34" charset="-120"/>
              </a:rPr>
              <a:t>4</a:t>
            </a:r>
            <a:endParaRPr lang="rw-RW" sz="1700" dirty="0"/>
          </a:p>
        </p:txBody>
      </p:sp>
      <p:sp>
        <p:nvSpPr>
          <p:cNvPr id="26" name="Text 24"/>
          <p:cNvSpPr txBox="1"/>
          <p:nvPr/>
        </p:nvSpPr>
        <p:spPr>
          <a:xfrm>
            <a:off x="9792995" y="1842397"/>
            <a:ext cx="1868348" cy="402336"/>
          </a:xfrm>
          <a:prstGeom prst="rect">
            <a:avLst/>
          </a:prstGeom>
          <a:noFill/>
          <a:ln/>
        </p:spPr>
        <p:txBody>
          <a:bodyPr wrap="square" lIns="0" tIns="0" rIns="0" bIns="0" rtlCol="0" anchor="ctr">
            <a:noAutofit/>
          </a:bodyPr>
          <a:lstStyle/>
          <a:p>
            <a:pPr marL="0" indent="0">
              <a:buNone/>
            </a:pPr>
            <a:r>
              <a:rPr lang="rw-RW" b="1" dirty="0">
                <a:solidFill>
                  <a:srgbClr val="12305B"/>
                </a:solidFill>
                <a:latin typeface="Calibri" pitchFamily="34" charset="0"/>
                <a:ea typeface="Calibri" pitchFamily="34" charset="-122"/>
                <a:cs typeface="Calibri" pitchFamily="34" charset="-120"/>
              </a:rPr>
              <a:t>Ibitaro byoherezwamo abarwayi cyangwa ikigo cya kanseri</a:t>
            </a:r>
            <a:endParaRPr lang="rw-RW" dirty="0"/>
          </a:p>
        </p:txBody>
      </p:sp>
      <p:sp>
        <p:nvSpPr>
          <p:cNvPr id="27" name="Text 25"/>
          <p:cNvSpPr txBox="1"/>
          <p:nvPr/>
        </p:nvSpPr>
        <p:spPr>
          <a:xfrm>
            <a:off x="9262644" y="2691293"/>
            <a:ext cx="2200088" cy="1325880"/>
          </a:xfrm>
          <a:prstGeom prst="rect">
            <a:avLst/>
          </a:prstGeom>
          <a:noFill/>
          <a:ln/>
        </p:spPr>
        <p:txBody>
          <a:bodyPr wrap="square" lIns="0" tIns="0" rIns="0" bIns="0" rtlCol="0" anchor="t">
            <a:norm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Isuzuma ry'inzobere, gutegura ubuvuzi n'ubuvuzi bw'umwihariko.</a:t>
            </a:r>
            <a:endParaRPr lang="rw-RW" sz="1600" dirty="0"/>
          </a:p>
        </p:txBody>
      </p:sp>
      <p:sp>
        <p:nvSpPr>
          <p:cNvPr id="28" name="Shape 26"/>
          <p:cNvSpPr/>
          <p:nvPr/>
        </p:nvSpPr>
        <p:spPr>
          <a:xfrm>
            <a:off x="548640" y="5077644"/>
            <a:ext cx="11094415" cy="1229992"/>
          </a:xfrm>
          <a:prstGeom prst="roundRect">
            <a:avLst>
              <a:gd name="adj" fmla="val 12821"/>
            </a:avLst>
          </a:prstGeom>
          <a:solidFill>
            <a:srgbClr val="FDF0DE"/>
          </a:solidFill>
          <a:ln w="12700">
            <a:solidFill>
              <a:srgbClr val="F0CFA0"/>
            </a:solidFill>
            <a:prstDash val="solid"/>
          </a:ln>
        </p:spPr>
        <p:txBody>
          <a:bodyPr/>
          <a:lstStyle/>
          <a:p>
            <a:endParaRPr lang="rw-RW" dirty="0"/>
          </a:p>
        </p:txBody>
      </p:sp>
      <p:sp>
        <p:nvSpPr>
          <p:cNvPr id="29" name="Text 27"/>
          <p:cNvSpPr txBox="1"/>
          <p:nvPr/>
        </p:nvSpPr>
        <p:spPr>
          <a:xfrm>
            <a:off x="777240" y="5325862"/>
            <a:ext cx="7190911" cy="799729"/>
          </a:xfrm>
          <a:prstGeom prst="rect">
            <a:avLst/>
          </a:prstGeom>
          <a:noFill/>
          <a:ln/>
        </p:spPr>
        <p:txBody>
          <a:bodyPr wrap="square" lIns="0" tIns="0" rIns="0" bIns="0" rtlCol="0" anchor="ctr"/>
          <a:lstStyle/>
          <a:p>
            <a:pPr marL="0" indent="0">
              <a:buNone/>
            </a:pPr>
            <a:r>
              <a:rPr lang="rw-RW" sz="1800" b="1" dirty="0">
                <a:solidFill>
                  <a:srgbClr val="9C4A00"/>
                </a:solidFill>
                <a:latin typeface="Calibri" pitchFamily="34" charset="0"/>
                <a:ea typeface="Calibri" pitchFamily="34" charset="-122"/>
                <a:cs typeface="Calibri" pitchFamily="34" charset="-120"/>
              </a:rPr>
              <a:t>Ku bimenyetso byihutirwa by'akaga, fasha uwo muntu kwitabwaho uwo munsi. Ntugategereze inzira isanzwe yo kohereza.</a:t>
            </a:r>
            <a:endParaRPr lang="rw-RW" sz="1800" dirty="0"/>
          </a:p>
        </p:txBody>
      </p:sp>
      <p:pic>
        <p:nvPicPr>
          <p:cNvPr id="33" name="Picture 32">
            <a:extLst>
              <a:ext uri="{FF2B5EF4-FFF2-40B4-BE49-F238E27FC236}">
                <a16:creationId xmlns:a16="http://schemas.microsoft.com/office/drawing/2014/main" id="{EF008BC6-A673-1D0F-A074-2E9A0107F8C2}"/>
              </a:ext>
            </a:extLst>
          </p:cNvPr>
          <p:cNvPicPr>
            <a:picLocks noChangeAspect="1"/>
          </p:cNvPicPr>
          <p:nvPr/>
        </p:nvPicPr>
        <p:blipFill>
          <a:blip r:embed="rId3"/>
          <a:stretch>
            <a:fillRect/>
          </a:stretch>
        </p:blipFill>
        <p:spPr>
          <a:xfrm>
            <a:off x="8018951" y="5275904"/>
            <a:ext cx="1243692" cy="951058"/>
          </a:xfrm>
          <a:prstGeom prst="rect">
            <a:avLst/>
          </a:prstGeom>
        </p:spPr>
      </p:pic>
      <p:pic>
        <p:nvPicPr>
          <p:cNvPr id="32" name="Imagen 31">
            <a:extLst>
              <a:ext uri="{FF2B5EF4-FFF2-40B4-BE49-F238E27FC236}">
                <a16:creationId xmlns:a16="http://schemas.microsoft.com/office/drawing/2014/main" id="{40044622-2E4F-1BE9-DFC5-2257C34AAF63}"/>
              </a:ext>
            </a:extLst>
          </p:cNvPr>
          <p:cNvPicPr>
            <a:picLocks noChangeAspect="1"/>
          </p:cNvPicPr>
          <p:nvPr/>
        </p:nvPicPr>
        <p:blipFill>
          <a:blip r:embed="rId4"/>
          <a:stretch>
            <a:fillRect/>
          </a:stretch>
        </p:blipFill>
        <p:spPr>
          <a:xfrm>
            <a:off x="1280160" y="3552862"/>
            <a:ext cx="1076941" cy="896667"/>
          </a:xfrm>
          <a:prstGeom prst="rect">
            <a:avLst/>
          </a:prstGeom>
        </p:spPr>
      </p:pic>
      <p:pic>
        <p:nvPicPr>
          <p:cNvPr id="34" name="Imagen 33">
            <a:extLst>
              <a:ext uri="{FF2B5EF4-FFF2-40B4-BE49-F238E27FC236}">
                <a16:creationId xmlns:a16="http://schemas.microsoft.com/office/drawing/2014/main" id="{33DEEAF7-AF9E-40D2-5175-DD486A5B42D1}"/>
              </a:ext>
            </a:extLst>
          </p:cNvPr>
          <p:cNvPicPr>
            <a:picLocks noChangeAspect="1"/>
          </p:cNvPicPr>
          <p:nvPr/>
        </p:nvPicPr>
        <p:blipFill>
          <a:blip r:embed="rId5"/>
          <a:stretch>
            <a:fillRect/>
          </a:stretch>
        </p:blipFill>
        <p:spPr>
          <a:xfrm>
            <a:off x="3914260" y="3514479"/>
            <a:ext cx="1168396" cy="935050"/>
          </a:xfrm>
          <a:prstGeom prst="rect">
            <a:avLst/>
          </a:prstGeom>
        </p:spPr>
      </p:pic>
      <p:pic>
        <p:nvPicPr>
          <p:cNvPr id="36" name="Imagen 35">
            <a:extLst>
              <a:ext uri="{FF2B5EF4-FFF2-40B4-BE49-F238E27FC236}">
                <a16:creationId xmlns:a16="http://schemas.microsoft.com/office/drawing/2014/main" id="{8D707827-BF42-DBE8-22BA-0106C9BEF841}"/>
              </a:ext>
            </a:extLst>
          </p:cNvPr>
          <p:cNvPicPr>
            <a:picLocks noChangeAspect="1"/>
          </p:cNvPicPr>
          <p:nvPr/>
        </p:nvPicPr>
        <p:blipFill>
          <a:blip r:embed="rId6"/>
          <a:stretch>
            <a:fillRect/>
          </a:stretch>
        </p:blipFill>
        <p:spPr>
          <a:xfrm>
            <a:off x="7068635" y="3487956"/>
            <a:ext cx="998663" cy="1109439"/>
          </a:xfrm>
          <a:prstGeom prst="rect">
            <a:avLst/>
          </a:prstGeom>
        </p:spPr>
      </p:pic>
      <p:pic>
        <p:nvPicPr>
          <p:cNvPr id="38" name="Imagen 37">
            <a:extLst>
              <a:ext uri="{FF2B5EF4-FFF2-40B4-BE49-F238E27FC236}">
                <a16:creationId xmlns:a16="http://schemas.microsoft.com/office/drawing/2014/main" id="{D3039C20-114A-2CBA-619F-70BEA9BE3ADE}"/>
              </a:ext>
            </a:extLst>
          </p:cNvPr>
          <p:cNvPicPr>
            <a:picLocks noChangeAspect="1"/>
          </p:cNvPicPr>
          <p:nvPr/>
        </p:nvPicPr>
        <p:blipFill>
          <a:blip r:embed="rId7"/>
          <a:stretch>
            <a:fillRect/>
          </a:stretch>
        </p:blipFill>
        <p:spPr>
          <a:xfrm>
            <a:off x="9633603" y="3842614"/>
            <a:ext cx="1178178" cy="785452"/>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3</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Uwo muntu agomba kugenda vuba ryari?</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Shape 3"/>
          <p:cNvSpPr/>
          <p:nvPr/>
        </p:nvSpPr>
        <p:spPr>
          <a:xfrm>
            <a:off x="548640" y="1325880"/>
            <a:ext cx="3515258" cy="4050792"/>
          </a:xfrm>
          <a:prstGeom prst="roundRect">
            <a:avLst>
              <a:gd name="adj" fmla="val 3121"/>
            </a:avLst>
          </a:prstGeom>
          <a:solidFill>
            <a:srgbClr val="FDF0DE"/>
          </a:solidFill>
          <a:ln w="12700">
            <a:solidFill>
              <a:srgbClr val="F0CFA0"/>
            </a:solidFill>
            <a:prstDash val="solid"/>
          </a:ln>
        </p:spPr>
        <p:txBody>
          <a:bodyPr/>
          <a:lstStyle/>
          <a:p>
            <a:endParaRPr lang="rw-RW" sz="1600" dirty="0"/>
          </a:p>
        </p:txBody>
      </p:sp>
      <p:sp>
        <p:nvSpPr>
          <p:cNvPr id="6" name="Text 4"/>
          <p:cNvSpPr txBox="1"/>
          <p:nvPr/>
        </p:nvSpPr>
        <p:spPr>
          <a:xfrm>
            <a:off x="777240" y="1481328"/>
            <a:ext cx="3058058" cy="411480"/>
          </a:xfrm>
          <a:prstGeom prst="rect">
            <a:avLst/>
          </a:prstGeom>
          <a:noFill/>
          <a:ln/>
        </p:spPr>
        <p:txBody>
          <a:bodyPr wrap="square" lIns="0" tIns="0" rIns="0" bIns="0" rtlCol="0" anchor="ctr">
            <a:normAutofit/>
          </a:bodyPr>
          <a:lstStyle/>
          <a:p>
            <a:pPr marL="0" indent="0">
              <a:buNone/>
            </a:pPr>
            <a:r>
              <a:rPr lang="rw-RW" sz="2000" b="1" dirty="0">
                <a:solidFill>
                  <a:srgbClr val="9C4A00"/>
                </a:solidFill>
                <a:latin typeface="Calibri" pitchFamily="34" charset="0"/>
                <a:ea typeface="Calibri" pitchFamily="34" charset="-122"/>
                <a:cs typeface="Calibri" pitchFamily="34" charset="-120"/>
              </a:rPr>
              <a:t>Uwo munsi nyine</a:t>
            </a:r>
            <a:endParaRPr lang="rw-RW" sz="2000" dirty="0"/>
          </a:p>
        </p:txBody>
      </p:sp>
      <p:sp>
        <p:nvSpPr>
          <p:cNvPr id="7" name="Text 5"/>
          <p:cNvSpPr txBox="1"/>
          <p:nvPr/>
        </p:nvSpPr>
        <p:spPr>
          <a:xfrm>
            <a:off x="1504556" y="1938528"/>
            <a:ext cx="2480848" cy="3200400"/>
          </a:xfrm>
          <a:prstGeom prst="rect">
            <a:avLst/>
          </a:prstGeom>
          <a:noFill/>
          <a:ln/>
        </p:spPr>
        <p:txBody>
          <a:bodyPr wrap="square" lIns="0" tIns="0" rIns="0" bIns="0" rtlCol="0" anchor="t">
            <a:noAutofit/>
          </a:bodyPr>
          <a:lstStyle/>
          <a:p>
            <a:pPr marL="342900" indent="-342900">
              <a:spcAft>
                <a:spcPts val="700"/>
              </a:spcAft>
              <a:buSzPct val="100000"/>
              <a:buChar char="•"/>
            </a:pPr>
            <a:r>
              <a:rPr lang="rw-RW" sz="1600" dirty="0">
                <a:solidFill>
                  <a:srgbClr val="17335F"/>
                </a:solidFill>
                <a:latin typeface="Calibri" pitchFamily="34" charset="0"/>
                <a:ea typeface="Calibri" pitchFamily="34" charset="-122"/>
                <a:cs typeface="Calibri" pitchFamily="34" charset="-120"/>
              </a:rPr>
              <a:t>Kuva amaraso menshi cyangwa gukomeza kuva amaraso</a:t>
            </a:r>
          </a:p>
          <a:p>
            <a:pPr marL="342900" indent="-342900">
              <a:spcAft>
                <a:spcPts val="700"/>
              </a:spcAft>
              <a:buSzPct val="100000"/>
              <a:buChar char="•"/>
            </a:pPr>
            <a:r>
              <a:rPr lang="rw-RW" sz="1600" dirty="0">
                <a:solidFill>
                  <a:srgbClr val="17335F"/>
                </a:solidFill>
                <a:latin typeface="Calibri" pitchFamily="34" charset="0"/>
                <a:ea typeface="Calibri" pitchFamily="34" charset="-122"/>
                <a:cs typeface="Calibri" pitchFamily="34" charset="-120"/>
              </a:rPr>
              <a:t>Ububabare bukabije mu nda</a:t>
            </a:r>
          </a:p>
          <a:p>
            <a:pPr marL="342900" indent="-342900">
              <a:spcAft>
                <a:spcPts val="700"/>
              </a:spcAft>
              <a:buSzPct val="100000"/>
              <a:buChar char="•"/>
            </a:pPr>
            <a:r>
              <a:rPr lang="rw-RW" sz="1600" dirty="0">
                <a:solidFill>
                  <a:srgbClr val="17335F"/>
                </a:solidFill>
                <a:latin typeface="Calibri" pitchFamily="34" charset="0"/>
                <a:ea typeface="Calibri" pitchFamily="34" charset="-122"/>
                <a:cs typeface="Calibri" pitchFamily="34" charset="-120"/>
              </a:rPr>
              <a:t>Igifu kibyimba, gikomeye, kibabaza</a:t>
            </a:r>
          </a:p>
          <a:p>
            <a:pPr marL="342900" indent="-342900">
              <a:spcAft>
                <a:spcPts val="700"/>
              </a:spcAft>
              <a:buSzPct val="100000"/>
              <a:buChar char="•"/>
            </a:pPr>
            <a:r>
              <a:rPr lang="rw-RW" sz="1600" dirty="0">
                <a:solidFill>
                  <a:srgbClr val="17335F"/>
                </a:solidFill>
                <a:latin typeface="Calibri" pitchFamily="34" charset="0"/>
                <a:ea typeface="Calibri" pitchFamily="34" charset="-122"/>
                <a:cs typeface="Calibri" pitchFamily="34" charset="-120"/>
              </a:rPr>
              <a:t>Nta musarane cyangwa gaz inyura</a:t>
            </a:r>
          </a:p>
          <a:p>
            <a:pPr marL="342900" indent="-342900">
              <a:spcAft>
                <a:spcPts val="700"/>
              </a:spcAft>
              <a:buSzPct val="100000"/>
              <a:buChar char="•"/>
            </a:pPr>
            <a:r>
              <a:rPr lang="rw-RW" sz="1600" dirty="0">
                <a:solidFill>
                  <a:srgbClr val="17335F"/>
                </a:solidFill>
                <a:latin typeface="Calibri" pitchFamily="34" charset="0"/>
                <a:ea typeface="Calibri" pitchFamily="34" charset="-122"/>
                <a:cs typeface="Calibri" pitchFamily="34" charset="-120"/>
              </a:rPr>
              <a:t>Kuruka inshuro nyinshi</a:t>
            </a:r>
          </a:p>
          <a:p>
            <a:pPr marL="342900" indent="-342900">
              <a:spcAft>
                <a:spcPts val="700"/>
              </a:spcAft>
              <a:buSzPct val="100000"/>
              <a:buChar char="•"/>
            </a:pPr>
            <a:r>
              <a:rPr lang="rw-RW" sz="1600" dirty="0">
                <a:solidFill>
                  <a:srgbClr val="17335F"/>
                </a:solidFill>
                <a:latin typeface="Calibri" pitchFamily="34" charset="0"/>
                <a:ea typeface="Calibri" pitchFamily="34" charset="-122"/>
                <a:cs typeface="Calibri" pitchFamily="34" charset="-120"/>
              </a:rPr>
              <a:t>Guta ubwenge cyangwa intege nke zikabije</a:t>
            </a:r>
            <a:endParaRPr lang="rw-RW" sz="1600" dirty="0"/>
          </a:p>
        </p:txBody>
      </p:sp>
      <p:sp>
        <p:nvSpPr>
          <p:cNvPr id="8" name="Shape 6"/>
          <p:cNvSpPr/>
          <p:nvPr/>
        </p:nvSpPr>
        <p:spPr>
          <a:xfrm>
            <a:off x="4338218" y="1325880"/>
            <a:ext cx="3515258" cy="4050792"/>
          </a:xfrm>
          <a:prstGeom prst="roundRect">
            <a:avLst>
              <a:gd name="adj" fmla="val 3121"/>
            </a:avLst>
          </a:prstGeom>
          <a:solidFill>
            <a:srgbClr val="FDF6E6"/>
          </a:solidFill>
          <a:ln w="12700">
            <a:solidFill>
              <a:srgbClr val="E6D5A8"/>
            </a:solidFill>
            <a:prstDash val="solid"/>
          </a:ln>
        </p:spPr>
        <p:txBody>
          <a:bodyPr/>
          <a:lstStyle/>
          <a:p>
            <a:endParaRPr lang="rw-RW" sz="1600" dirty="0"/>
          </a:p>
        </p:txBody>
      </p:sp>
      <p:sp>
        <p:nvSpPr>
          <p:cNvPr id="9" name="Text 7"/>
          <p:cNvSpPr txBox="1"/>
          <p:nvPr/>
        </p:nvSpPr>
        <p:spPr>
          <a:xfrm>
            <a:off x="4566818" y="1481328"/>
            <a:ext cx="3058058" cy="411480"/>
          </a:xfrm>
          <a:prstGeom prst="rect">
            <a:avLst/>
          </a:prstGeom>
          <a:noFill/>
          <a:ln/>
        </p:spPr>
        <p:txBody>
          <a:bodyPr wrap="square" lIns="0" tIns="0" rIns="0" bIns="0" rtlCol="0" anchor="ctr">
            <a:normAutofit/>
          </a:bodyPr>
          <a:lstStyle/>
          <a:p>
            <a:pPr marL="0" indent="0">
              <a:buNone/>
            </a:pPr>
            <a:r>
              <a:rPr lang="rw-RW" sz="2000" b="1" dirty="0">
                <a:solidFill>
                  <a:srgbClr val="12305B"/>
                </a:solidFill>
                <a:latin typeface="Calibri" pitchFamily="34" charset="0"/>
                <a:ea typeface="Calibri" pitchFamily="34" charset="-122"/>
                <a:cs typeface="Calibri" pitchFamily="34" charset="-120"/>
              </a:rPr>
              <a:t>Mu minsi mike</a:t>
            </a:r>
            <a:endParaRPr lang="rw-RW" sz="2000" dirty="0"/>
          </a:p>
        </p:txBody>
      </p:sp>
      <p:sp>
        <p:nvSpPr>
          <p:cNvPr id="10" name="Text 8"/>
          <p:cNvSpPr txBox="1"/>
          <p:nvPr/>
        </p:nvSpPr>
        <p:spPr>
          <a:xfrm>
            <a:off x="5481462" y="1938528"/>
            <a:ext cx="2097693" cy="3200400"/>
          </a:xfrm>
          <a:prstGeom prst="rect">
            <a:avLst/>
          </a:prstGeom>
          <a:noFill/>
          <a:ln/>
        </p:spPr>
        <p:txBody>
          <a:bodyPr wrap="square" lIns="0" tIns="0" rIns="0" bIns="0" rtlCol="0" anchor="t">
            <a:noAutofit/>
          </a:bodyPr>
          <a:lstStyle/>
          <a:p>
            <a:pPr marL="342900" indent="-342900">
              <a:spcAft>
                <a:spcPts val="700"/>
              </a:spcAft>
              <a:buSzPct val="100000"/>
              <a:buChar char="•"/>
            </a:pPr>
            <a:r>
              <a:rPr lang="rw-RW" sz="1600" dirty="0">
                <a:solidFill>
                  <a:srgbClr val="17335F"/>
                </a:solidFill>
                <a:latin typeface="Calibri" pitchFamily="34" charset="0"/>
                <a:ea typeface="Calibri" pitchFamily="34" charset="-122"/>
                <a:cs typeface="Calibri" pitchFamily="34" charset="-120"/>
              </a:rPr>
              <a:t>Amaraso mu ntebe</a:t>
            </a:r>
          </a:p>
          <a:p>
            <a:pPr marL="342900" indent="-342900">
              <a:spcAft>
                <a:spcPts val="700"/>
              </a:spcAft>
              <a:buSzPct val="100000"/>
              <a:buChar char="•"/>
            </a:pPr>
            <a:r>
              <a:rPr lang="rw-RW" sz="1600" dirty="0">
                <a:solidFill>
                  <a:srgbClr val="17335F"/>
                </a:solidFill>
                <a:latin typeface="Calibri" pitchFamily="34" charset="0"/>
                <a:ea typeface="Calibri" pitchFamily="34" charset="-122"/>
                <a:cs typeface="Calibri" pitchFamily="34" charset="-120"/>
              </a:rPr>
              <a:t>Impinduka mu buryo bwo kwituma imara ibyumweru</a:t>
            </a:r>
          </a:p>
          <a:p>
            <a:pPr marL="342900" indent="-342900">
              <a:spcAft>
                <a:spcPts val="700"/>
              </a:spcAft>
              <a:buSzPct val="100000"/>
              <a:buChar char="•"/>
            </a:pPr>
            <a:r>
              <a:rPr lang="rw-RW" sz="1600" dirty="0">
                <a:solidFill>
                  <a:srgbClr val="17335F"/>
                </a:solidFill>
                <a:latin typeface="Calibri" pitchFamily="34" charset="0"/>
                <a:ea typeface="Calibri" pitchFamily="34" charset="-122"/>
                <a:cs typeface="Calibri" pitchFamily="34" charset="-120"/>
              </a:rPr>
              <a:t>Gutakaza ibiro nta mpamvu ifatika</a:t>
            </a:r>
          </a:p>
          <a:p>
            <a:pPr marL="342900" indent="-342900">
              <a:spcAft>
                <a:spcPts val="700"/>
              </a:spcAft>
              <a:buSzPct val="100000"/>
              <a:buChar char="•"/>
            </a:pPr>
            <a:r>
              <a:rPr lang="rw-RW" sz="1600" dirty="0">
                <a:solidFill>
                  <a:srgbClr val="17335F"/>
                </a:solidFill>
                <a:latin typeface="Calibri" pitchFamily="34" charset="0"/>
                <a:ea typeface="Calibri" pitchFamily="34" charset="-122"/>
                <a:cs typeface="Calibri" pitchFamily="34" charset="-120"/>
              </a:rPr>
              <a:t>Ububabare bwo mu nda bukomeje</a:t>
            </a:r>
          </a:p>
          <a:p>
            <a:pPr marL="342900" indent="-342900">
              <a:spcAft>
                <a:spcPts val="700"/>
              </a:spcAft>
              <a:buSzPct val="100000"/>
              <a:buChar char="•"/>
            </a:pPr>
            <a:r>
              <a:rPr lang="rw-RW" sz="1600" dirty="0">
                <a:solidFill>
                  <a:srgbClr val="17335F"/>
                </a:solidFill>
                <a:latin typeface="Calibri" pitchFamily="34" charset="0"/>
                <a:ea typeface="Calibri" pitchFamily="34" charset="-122"/>
                <a:cs typeface="Calibri" pitchFamily="34" charset="-120"/>
              </a:rPr>
              <a:t>Kugaragara yera, ananiwe kandi afite intege nke</a:t>
            </a:r>
            <a:endParaRPr lang="rw-RW" sz="1600" dirty="0"/>
          </a:p>
        </p:txBody>
      </p:sp>
      <p:sp>
        <p:nvSpPr>
          <p:cNvPr id="11" name="Shape 9"/>
          <p:cNvSpPr/>
          <p:nvPr/>
        </p:nvSpPr>
        <p:spPr>
          <a:xfrm>
            <a:off x="8127797" y="1325880"/>
            <a:ext cx="3515258" cy="4050792"/>
          </a:xfrm>
          <a:prstGeom prst="roundRect">
            <a:avLst>
              <a:gd name="adj" fmla="val 3121"/>
            </a:avLst>
          </a:prstGeom>
          <a:solidFill>
            <a:srgbClr val="F2F7FD"/>
          </a:solidFill>
          <a:ln w="12700">
            <a:solidFill>
              <a:srgbClr val="CBDDF3"/>
            </a:solidFill>
            <a:prstDash val="solid"/>
          </a:ln>
        </p:spPr>
        <p:txBody>
          <a:bodyPr/>
          <a:lstStyle/>
          <a:p>
            <a:endParaRPr lang="rw-RW" sz="1600" dirty="0"/>
          </a:p>
        </p:txBody>
      </p:sp>
      <p:sp>
        <p:nvSpPr>
          <p:cNvPr id="12" name="Text 10"/>
          <p:cNvSpPr txBox="1"/>
          <p:nvPr/>
        </p:nvSpPr>
        <p:spPr>
          <a:xfrm>
            <a:off x="8356397" y="1481328"/>
            <a:ext cx="3058058" cy="411480"/>
          </a:xfrm>
          <a:prstGeom prst="rect">
            <a:avLst/>
          </a:prstGeom>
          <a:noFill/>
          <a:ln/>
        </p:spPr>
        <p:txBody>
          <a:bodyPr wrap="square" lIns="0" tIns="0" rIns="0" bIns="0" rtlCol="0" anchor="ctr">
            <a:normAutofit/>
          </a:bodyPr>
          <a:lstStyle/>
          <a:p>
            <a:pPr marL="0" indent="0">
              <a:buNone/>
            </a:pPr>
            <a:r>
              <a:rPr lang="rw-RW" b="1" dirty="0">
                <a:solidFill>
                  <a:srgbClr val="12305B"/>
                </a:solidFill>
                <a:latin typeface="Calibri" pitchFamily="34" charset="0"/>
                <a:ea typeface="Calibri" pitchFamily="34" charset="-122"/>
                <a:cs typeface="Calibri" pitchFamily="34" charset="-120"/>
              </a:rPr>
              <a:t>Inama mu rugendo rukurikira</a:t>
            </a:r>
            <a:endParaRPr lang="rw-RW" dirty="0"/>
          </a:p>
        </p:txBody>
      </p:sp>
      <p:sp>
        <p:nvSpPr>
          <p:cNvPr id="13" name="Text 11"/>
          <p:cNvSpPr txBox="1"/>
          <p:nvPr/>
        </p:nvSpPr>
        <p:spPr>
          <a:xfrm>
            <a:off x="9394165" y="1938528"/>
            <a:ext cx="2181603" cy="3200400"/>
          </a:xfrm>
          <a:prstGeom prst="rect">
            <a:avLst/>
          </a:prstGeom>
          <a:noFill/>
          <a:ln/>
        </p:spPr>
        <p:txBody>
          <a:bodyPr wrap="square" lIns="0" tIns="0" rIns="0" bIns="0" rtlCol="0" anchor="t">
            <a:noAutofit/>
          </a:bodyPr>
          <a:lstStyle/>
          <a:p>
            <a:pPr marL="342900" indent="-342900">
              <a:spcAft>
                <a:spcPts val="700"/>
              </a:spcAft>
              <a:buSzPct val="100000"/>
              <a:buChar char="•"/>
            </a:pPr>
            <a:r>
              <a:rPr lang="rw-RW" sz="1600" dirty="0">
                <a:solidFill>
                  <a:srgbClr val="17335F"/>
                </a:solidFill>
                <a:latin typeface="Calibri" pitchFamily="34" charset="0"/>
                <a:ea typeface="Calibri" pitchFamily="34" charset="-122"/>
                <a:cs typeface="Calibri" pitchFamily="34" charset="-120"/>
              </a:rPr>
              <a:t>Nta bimenyetso afite, ariko hari umuntu wo mu muryango wa hafi warwaye kanseri y'amara</a:t>
            </a:r>
          </a:p>
          <a:p>
            <a:pPr marL="342900" indent="-342900">
              <a:spcAft>
                <a:spcPts val="700"/>
              </a:spcAft>
              <a:buSzPct val="100000"/>
              <a:buChar char="•"/>
            </a:pPr>
            <a:r>
              <a:rPr lang="rw-RW" sz="1600" dirty="0">
                <a:solidFill>
                  <a:srgbClr val="17335F"/>
                </a:solidFill>
                <a:latin typeface="Calibri" pitchFamily="34" charset="0"/>
                <a:ea typeface="Calibri" pitchFamily="34" charset="-122"/>
                <a:cs typeface="Calibri" pitchFamily="34" charset="-120"/>
              </a:rPr>
              <a:t>Ibibazo bijyanye n'itabi, inzoga, ibiro cyangwa imyitozo ngororamubiri</a:t>
            </a:r>
          </a:p>
          <a:p>
            <a:pPr marL="342900" indent="-342900">
              <a:spcAft>
                <a:spcPts val="700"/>
              </a:spcAft>
              <a:buSzPct val="100000"/>
              <a:buChar char="•"/>
            </a:pPr>
            <a:r>
              <a:rPr lang="rw-RW" sz="1600" dirty="0">
                <a:solidFill>
                  <a:srgbClr val="17335F"/>
                </a:solidFill>
                <a:latin typeface="Calibri" pitchFamily="34" charset="0"/>
                <a:ea typeface="Calibri" pitchFamily="34" charset="-122"/>
                <a:cs typeface="Calibri" pitchFamily="34" charset="-120"/>
              </a:rPr>
              <a:t>Guhangayika nyuma yo kumva inkuru za kanseri mu muryango</a:t>
            </a:r>
            <a:endParaRPr lang="rw-RW" sz="1600" dirty="0"/>
          </a:p>
        </p:txBody>
      </p:sp>
      <p:sp>
        <p:nvSpPr>
          <p:cNvPr id="14" name="Shape 12"/>
          <p:cNvSpPr/>
          <p:nvPr/>
        </p:nvSpPr>
        <p:spPr>
          <a:xfrm>
            <a:off x="548640" y="5608788"/>
            <a:ext cx="11094415" cy="713232"/>
          </a:xfrm>
          <a:prstGeom prst="roundRect">
            <a:avLst>
              <a:gd name="adj" fmla="val 12821"/>
            </a:avLst>
          </a:prstGeom>
          <a:solidFill>
            <a:srgbClr val="F2F7FD"/>
          </a:solidFill>
          <a:ln w="12700">
            <a:solidFill>
              <a:srgbClr val="CBDDF3"/>
            </a:solidFill>
            <a:prstDash val="solid"/>
          </a:ln>
        </p:spPr>
        <p:txBody>
          <a:bodyPr/>
          <a:lstStyle/>
          <a:p>
            <a:endParaRPr lang="rw-RW" sz="1600" dirty="0"/>
          </a:p>
        </p:txBody>
      </p:sp>
      <p:sp>
        <p:nvSpPr>
          <p:cNvPr id="15" name="Text 13"/>
          <p:cNvSpPr txBox="1"/>
          <p:nvPr/>
        </p:nvSpPr>
        <p:spPr>
          <a:xfrm>
            <a:off x="777240" y="5700228"/>
            <a:ext cx="10637215" cy="530352"/>
          </a:xfrm>
          <a:prstGeom prst="rect">
            <a:avLst/>
          </a:prstGeom>
          <a:noFill/>
          <a:ln/>
        </p:spPr>
        <p:txBody>
          <a:bodyPr wrap="square" lIns="0" tIns="0" rIns="0" bIns="0" rtlCol="0" anchor="ctr">
            <a:noAutofit/>
          </a:bodyPr>
          <a:lstStyle/>
          <a:p>
            <a:pPr marL="0" indent="0">
              <a:buNone/>
            </a:pPr>
            <a:r>
              <a:rPr lang="rw-RW" sz="1600" b="1" dirty="0">
                <a:solidFill>
                  <a:srgbClr val="17335F"/>
                </a:solidFill>
                <a:latin typeface="Calibri" pitchFamily="34" charset="0"/>
                <a:ea typeface="Calibri" pitchFamily="34" charset="-122"/>
                <a:cs typeface="Calibri" pitchFamily="34" charset="-120"/>
              </a:rPr>
              <a:t>Niba utazi neza, fata ikibazo nk'icyihutirwa, aho kuba gito. Ni byiza ko buri gihe ufasha umuntu uhangayitse kugera aho yitabwaho.</a:t>
            </a:r>
            <a:endParaRPr lang="rw-RW" sz="1600" dirty="0"/>
          </a:p>
        </p:txBody>
      </p:sp>
      <p:pic>
        <p:nvPicPr>
          <p:cNvPr id="16" name="Imagen 15">
            <a:extLst>
              <a:ext uri="{FF2B5EF4-FFF2-40B4-BE49-F238E27FC236}">
                <a16:creationId xmlns:a16="http://schemas.microsoft.com/office/drawing/2014/main" id="{7CC4034C-F627-3AEE-5131-4ADC1008E158}"/>
              </a:ext>
            </a:extLst>
          </p:cNvPr>
          <p:cNvPicPr>
            <a:picLocks noChangeAspect="1"/>
          </p:cNvPicPr>
          <p:nvPr/>
        </p:nvPicPr>
        <p:blipFill>
          <a:blip r:embed="rId3" cstate="hqprint">
            <a:extLst>
              <a:ext uri="{28A0092B-C50C-407E-A947-70E740481C1C}">
                <a14:useLocalDpi xmlns:a14="http://schemas.microsoft.com/office/drawing/2010/main"/>
              </a:ext>
            </a:extLst>
          </a:blip>
          <a:srcRect l="20765" r="14611"/>
          <a:stretch>
            <a:fillRect/>
          </a:stretch>
        </p:blipFill>
        <p:spPr>
          <a:xfrm>
            <a:off x="642909" y="1892807"/>
            <a:ext cx="899747" cy="3102819"/>
          </a:xfrm>
          <a:prstGeom prst="rect">
            <a:avLst/>
          </a:prstGeom>
        </p:spPr>
      </p:pic>
      <p:pic>
        <p:nvPicPr>
          <p:cNvPr id="18" name="Imagen 17">
            <a:extLst>
              <a:ext uri="{FF2B5EF4-FFF2-40B4-BE49-F238E27FC236}">
                <a16:creationId xmlns:a16="http://schemas.microsoft.com/office/drawing/2014/main" id="{E911C842-FF4B-075F-97AF-8C7E2FCFE2AA}"/>
              </a:ext>
            </a:extLst>
          </p:cNvPr>
          <p:cNvPicPr>
            <a:picLocks noChangeAspect="1"/>
          </p:cNvPicPr>
          <p:nvPr/>
        </p:nvPicPr>
        <p:blipFill>
          <a:blip r:embed="rId4" cstate="hqprint">
            <a:extLst>
              <a:ext uri="{28A0092B-C50C-407E-A947-70E740481C1C}">
                <a14:useLocalDpi xmlns:a14="http://schemas.microsoft.com/office/drawing/2010/main"/>
              </a:ext>
            </a:extLst>
          </a:blip>
          <a:srcRect l="15212" r="12893"/>
          <a:stretch>
            <a:fillRect/>
          </a:stretch>
        </p:blipFill>
        <p:spPr>
          <a:xfrm>
            <a:off x="4542395" y="1892807"/>
            <a:ext cx="901718" cy="2807781"/>
          </a:xfrm>
          <a:prstGeom prst="rect">
            <a:avLst/>
          </a:prstGeom>
        </p:spPr>
      </p:pic>
      <p:pic>
        <p:nvPicPr>
          <p:cNvPr id="20" name="Imagen 19">
            <a:extLst>
              <a:ext uri="{FF2B5EF4-FFF2-40B4-BE49-F238E27FC236}">
                <a16:creationId xmlns:a16="http://schemas.microsoft.com/office/drawing/2014/main" id="{94398650-7665-73C5-FD7E-4DC6E50E871C}"/>
              </a:ext>
            </a:extLst>
          </p:cNvPr>
          <p:cNvPicPr>
            <a:picLocks noChangeAspect="1"/>
          </p:cNvPicPr>
          <p:nvPr/>
        </p:nvPicPr>
        <p:blipFill>
          <a:blip r:embed="rId5"/>
          <a:srcRect/>
          <a:stretch>
            <a:fillRect/>
          </a:stretch>
        </p:blipFill>
        <p:spPr>
          <a:xfrm>
            <a:off x="8207597" y="2406771"/>
            <a:ext cx="1186568" cy="1779852"/>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3</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Kuganira witonze</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Shape 3"/>
          <p:cNvSpPr/>
          <p:nvPr/>
        </p:nvSpPr>
        <p:spPr>
          <a:xfrm>
            <a:off x="548640" y="1298447"/>
            <a:ext cx="5410048" cy="1713207"/>
          </a:xfrm>
          <a:prstGeom prst="roundRect">
            <a:avLst>
              <a:gd name="adj" fmla="val 8000"/>
            </a:avLst>
          </a:prstGeom>
          <a:solidFill>
            <a:srgbClr val="F2F7FD"/>
          </a:solidFill>
          <a:ln w="12700">
            <a:solidFill>
              <a:srgbClr val="CBDDF3"/>
            </a:solidFill>
            <a:prstDash val="solid"/>
          </a:ln>
        </p:spPr>
        <p:txBody>
          <a:bodyPr/>
          <a:lstStyle/>
          <a:p>
            <a:endParaRPr lang="rw-RW" sz="1600" dirty="0"/>
          </a:p>
        </p:txBody>
      </p:sp>
      <p:sp>
        <p:nvSpPr>
          <p:cNvPr id="6" name="Text 4"/>
          <p:cNvSpPr txBox="1"/>
          <p:nvPr/>
        </p:nvSpPr>
        <p:spPr>
          <a:xfrm>
            <a:off x="749808" y="1444752"/>
            <a:ext cx="3963671" cy="384048"/>
          </a:xfrm>
          <a:prstGeom prst="rect">
            <a:avLst/>
          </a:prstGeom>
          <a:noFill/>
          <a:ln/>
        </p:spPr>
        <p:txBody>
          <a:bodyPr wrap="square" lIns="0" tIns="0" rIns="0" bIns="0" rtlCol="0" anchor="t">
            <a:normAutofit/>
          </a:bodyPr>
          <a:lstStyle/>
          <a:p>
            <a:pPr marL="0" indent="0">
              <a:buNone/>
            </a:pPr>
            <a:r>
              <a:rPr lang="rw-RW" sz="1600" b="1" dirty="0">
                <a:solidFill>
                  <a:srgbClr val="12305B"/>
                </a:solidFill>
                <a:latin typeface="Calibri" pitchFamily="34" charset="0"/>
                <a:ea typeface="Calibri" pitchFamily="34" charset="-122"/>
                <a:cs typeface="Calibri" pitchFamily="34" charset="-120"/>
              </a:rPr>
              <a:t>"Ni ibirundo gusa."</a:t>
            </a:r>
            <a:endParaRPr lang="rw-RW" sz="1600" dirty="0"/>
          </a:p>
        </p:txBody>
      </p:sp>
      <p:sp>
        <p:nvSpPr>
          <p:cNvPr id="7" name="Text 5"/>
          <p:cNvSpPr txBox="1"/>
          <p:nvPr/>
        </p:nvSpPr>
        <p:spPr>
          <a:xfrm>
            <a:off x="749808" y="1865376"/>
            <a:ext cx="4011973" cy="67665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"Birashoboka ko ari hemorroide. Kuva amaraso biterwa n'impamvu nyinshi, kandi igenzura ryihuse ritubwira icyo ari cyo."</a:t>
            </a:r>
            <a:endParaRPr lang="rw-RW" sz="1600" dirty="0"/>
          </a:p>
        </p:txBody>
      </p:sp>
      <p:sp>
        <p:nvSpPr>
          <p:cNvPr id="8" name="Shape 6"/>
          <p:cNvSpPr/>
          <p:nvPr/>
        </p:nvSpPr>
        <p:spPr>
          <a:xfrm>
            <a:off x="6233008" y="1298447"/>
            <a:ext cx="5410048" cy="1713207"/>
          </a:xfrm>
          <a:prstGeom prst="roundRect">
            <a:avLst>
              <a:gd name="adj" fmla="val 8000"/>
            </a:avLst>
          </a:prstGeom>
          <a:solidFill>
            <a:srgbClr val="F2F7FD"/>
          </a:solidFill>
          <a:ln w="12700">
            <a:solidFill>
              <a:srgbClr val="CBDDF3"/>
            </a:solidFill>
            <a:prstDash val="solid"/>
          </a:ln>
        </p:spPr>
        <p:txBody>
          <a:bodyPr/>
          <a:lstStyle/>
          <a:p>
            <a:endParaRPr lang="rw-RW" sz="1600" dirty="0"/>
          </a:p>
        </p:txBody>
      </p:sp>
      <p:sp>
        <p:nvSpPr>
          <p:cNvPr id="9" name="Text 7"/>
          <p:cNvSpPr txBox="1"/>
          <p:nvPr/>
        </p:nvSpPr>
        <p:spPr>
          <a:xfrm>
            <a:off x="6434176" y="1444752"/>
            <a:ext cx="3670583" cy="384048"/>
          </a:xfrm>
          <a:prstGeom prst="rect">
            <a:avLst/>
          </a:prstGeom>
          <a:noFill/>
          <a:ln/>
        </p:spPr>
        <p:txBody>
          <a:bodyPr wrap="square" lIns="0" tIns="0" rIns="0" bIns="0" rtlCol="0" anchor="t">
            <a:noAutofit/>
          </a:bodyPr>
          <a:lstStyle/>
          <a:p>
            <a:pPr marL="0" indent="0">
              <a:buNone/>
            </a:pPr>
            <a:r>
              <a:rPr lang="rw-RW" sz="1600" b="1" dirty="0">
                <a:solidFill>
                  <a:srgbClr val="12305B"/>
                </a:solidFill>
                <a:latin typeface="Calibri" pitchFamily="34" charset="0"/>
                <a:ea typeface="Calibri" pitchFamily="34" charset="-122"/>
                <a:cs typeface="Calibri" pitchFamily="34" charset="-120"/>
              </a:rPr>
              <a:t>Njyewe-"None se ko numva meze neza, none se kuki njyayo?"</a:t>
            </a:r>
            <a:endParaRPr lang="rw-RW" sz="1600" dirty="0"/>
          </a:p>
        </p:txBody>
      </p:sp>
      <p:sp>
        <p:nvSpPr>
          <p:cNvPr id="10" name="Text 8"/>
          <p:cNvSpPr txBox="1"/>
          <p:nvPr/>
        </p:nvSpPr>
        <p:spPr>
          <a:xfrm>
            <a:off x="6410154" y="1934072"/>
            <a:ext cx="3694605" cy="67665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"Ibibazo byo mu mara hakiri kare akenshi ntibitanga umuburo. Kugenda ubu mu gihe wumva umeze neza biroroshye kuruta kugenda nyuma."</a:t>
            </a:r>
            <a:endParaRPr lang="rw-RW" sz="1600" dirty="0"/>
          </a:p>
        </p:txBody>
      </p:sp>
      <p:sp>
        <p:nvSpPr>
          <p:cNvPr id="11" name="Shape 9"/>
          <p:cNvSpPr/>
          <p:nvPr/>
        </p:nvSpPr>
        <p:spPr>
          <a:xfrm>
            <a:off x="548640" y="3152568"/>
            <a:ext cx="5410048" cy="1316737"/>
          </a:xfrm>
          <a:prstGeom prst="roundRect">
            <a:avLst>
              <a:gd name="adj" fmla="val 8000"/>
            </a:avLst>
          </a:prstGeom>
          <a:solidFill>
            <a:srgbClr val="F2F7FD"/>
          </a:solidFill>
          <a:ln w="12700">
            <a:solidFill>
              <a:srgbClr val="CBDDF3"/>
            </a:solidFill>
            <a:prstDash val="solid"/>
          </a:ln>
        </p:spPr>
        <p:txBody>
          <a:bodyPr/>
          <a:lstStyle/>
          <a:p>
            <a:endParaRPr lang="rw-RW" sz="1600" dirty="0"/>
          </a:p>
        </p:txBody>
      </p:sp>
      <p:sp>
        <p:nvSpPr>
          <p:cNvPr id="12" name="Text 10"/>
          <p:cNvSpPr txBox="1"/>
          <p:nvPr/>
        </p:nvSpPr>
        <p:spPr>
          <a:xfrm>
            <a:off x="749808" y="3298872"/>
            <a:ext cx="3739477" cy="384048"/>
          </a:xfrm>
          <a:prstGeom prst="rect">
            <a:avLst/>
          </a:prstGeom>
          <a:noFill/>
          <a:ln/>
        </p:spPr>
        <p:txBody>
          <a:bodyPr wrap="square" lIns="0" tIns="0" rIns="0" bIns="0" rtlCol="0" anchor="t">
            <a:normAutofit/>
          </a:bodyPr>
          <a:lstStyle/>
          <a:p>
            <a:pPr marL="0" indent="0">
              <a:buNone/>
            </a:pPr>
            <a:r>
              <a:rPr lang="rw-RW" sz="1600" b="1" dirty="0">
                <a:solidFill>
                  <a:srgbClr val="12305B"/>
                </a:solidFill>
                <a:latin typeface="Calibri" pitchFamily="34" charset="0"/>
                <a:ea typeface="Calibri" pitchFamily="34" charset="-122"/>
                <a:cs typeface="Calibri" pitchFamily="34" charset="-120"/>
              </a:rPr>
              <a:t>"Mfite isoni zo kuvuga ku musarane."</a:t>
            </a:r>
            <a:endParaRPr lang="rw-RW" sz="1600" dirty="0"/>
          </a:p>
        </p:txBody>
      </p:sp>
      <p:sp>
        <p:nvSpPr>
          <p:cNvPr id="13" name="Text 11"/>
          <p:cNvSpPr txBox="1"/>
          <p:nvPr/>
        </p:nvSpPr>
        <p:spPr>
          <a:xfrm>
            <a:off x="719432" y="3671432"/>
            <a:ext cx="3521997" cy="67665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"Abantu benshi babibona batyo. Birakomeza kuba hagati yawe n'umukozi wo mu rwego rw'ubuzima."</a:t>
            </a:r>
            <a:endParaRPr lang="rw-RW" sz="1600" dirty="0"/>
          </a:p>
        </p:txBody>
      </p:sp>
      <p:sp>
        <p:nvSpPr>
          <p:cNvPr id="14" name="Shape 12"/>
          <p:cNvSpPr/>
          <p:nvPr/>
        </p:nvSpPr>
        <p:spPr>
          <a:xfrm>
            <a:off x="6233008" y="3152568"/>
            <a:ext cx="5410048" cy="1316737"/>
          </a:xfrm>
          <a:prstGeom prst="roundRect">
            <a:avLst>
              <a:gd name="adj" fmla="val 8000"/>
            </a:avLst>
          </a:prstGeom>
          <a:solidFill>
            <a:srgbClr val="F2F7FD"/>
          </a:solidFill>
          <a:ln w="12700">
            <a:solidFill>
              <a:srgbClr val="CBDDF3"/>
            </a:solidFill>
            <a:prstDash val="solid"/>
          </a:ln>
        </p:spPr>
        <p:txBody>
          <a:bodyPr/>
          <a:lstStyle/>
          <a:p>
            <a:endParaRPr lang="rw-RW" sz="1600" dirty="0"/>
          </a:p>
        </p:txBody>
      </p:sp>
      <p:sp>
        <p:nvSpPr>
          <p:cNvPr id="15" name="Text 13"/>
          <p:cNvSpPr txBox="1"/>
          <p:nvPr/>
        </p:nvSpPr>
        <p:spPr>
          <a:xfrm>
            <a:off x="6434176" y="3298872"/>
            <a:ext cx="4043472" cy="384048"/>
          </a:xfrm>
          <a:prstGeom prst="rect">
            <a:avLst/>
          </a:prstGeom>
          <a:noFill/>
          <a:ln/>
        </p:spPr>
        <p:txBody>
          <a:bodyPr wrap="square" lIns="0" tIns="0" rIns="0" bIns="0" rtlCol="0" anchor="t">
            <a:normAutofit/>
          </a:bodyPr>
          <a:lstStyle/>
          <a:p>
            <a:pPr marL="0" indent="0">
              <a:buNone/>
            </a:pPr>
            <a:r>
              <a:rPr lang="rw-RW" sz="1600" b="1" dirty="0">
                <a:solidFill>
                  <a:srgbClr val="12305B"/>
                </a:solidFill>
                <a:latin typeface="Calibri" pitchFamily="34" charset="0"/>
                <a:ea typeface="Calibri" pitchFamily="34" charset="-122"/>
                <a:cs typeface="Calibri" pitchFamily="34" charset="-120"/>
              </a:rPr>
              <a:t>"Mfite ubwoba bw'igeragezwa rya kamera."</a:t>
            </a:r>
            <a:endParaRPr lang="rw-RW" sz="1600" dirty="0"/>
          </a:p>
        </p:txBody>
      </p:sp>
      <p:sp>
        <p:nvSpPr>
          <p:cNvPr id="16" name="Text 14"/>
          <p:cNvSpPr txBox="1"/>
          <p:nvPr/>
        </p:nvSpPr>
        <p:spPr>
          <a:xfrm>
            <a:off x="6344852" y="3606017"/>
            <a:ext cx="4091802" cy="67665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"Bikorwa n'abakozi bahuguwe basobanurira buri ntambwe. Bazakubwira ibyo ugomba kwitega mbere y'uko bitangira."</a:t>
            </a:r>
            <a:endParaRPr lang="rw-RW" sz="1600" dirty="0"/>
          </a:p>
        </p:txBody>
      </p:sp>
      <p:sp>
        <p:nvSpPr>
          <p:cNvPr id="17" name="Shape 15"/>
          <p:cNvSpPr/>
          <p:nvPr/>
        </p:nvSpPr>
        <p:spPr>
          <a:xfrm>
            <a:off x="548640" y="4631552"/>
            <a:ext cx="5410048" cy="1371600"/>
          </a:xfrm>
          <a:prstGeom prst="roundRect">
            <a:avLst>
              <a:gd name="adj" fmla="val 8000"/>
            </a:avLst>
          </a:prstGeom>
          <a:solidFill>
            <a:srgbClr val="F2F7FD"/>
          </a:solidFill>
          <a:ln w="12700">
            <a:solidFill>
              <a:srgbClr val="CBDDF3"/>
            </a:solidFill>
            <a:prstDash val="solid"/>
          </a:ln>
        </p:spPr>
        <p:txBody>
          <a:bodyPr/>
          <a:lstStyle/>
          <a:p>
            <a:endParaRPr lang="rw-RW" sz="1600" dirty="0"/>
          </a:p>
        </p:txBody>
      </p:sp>
      <p:sp>
        <p:nvSpPr>
          <p:cNvPr id="18" name="Text 16"/>
          <p:cNvSpPr txBox="1"/>
          <p:nvPr/>
        </p:nvSpPr>
        <p:spPr>
          <a:xfrm>
            <a:off x="749808" y="4777856"/>
            <a:ext cx="3937077" cy="384048"/>
          </a:xfrm>
          <a:prstGeom prst="rect">
            <a:avLst/>
          </a:prstGeom>
          <a:noFill/>
          <a:ln/>
        </p:spPr>
        <p:txBody>
          <a:bodyPr wrap="square" lIns="0" tIns="0" rIns="0" bIns="0" rtlCol="0" anchor="t">
            <a:noAutofit/>
          </a:bodyPr>
          <a:lstStyle/>
          <a:p>
            <a:pPr marL="0" indent="0">
              <a:buNone/>
            </a:pPr>
            <a:r>
              <a:rPr lang="rw-RW" sz="1600" b="1" dirty="0">
                <a:solidFill>
                  <a:srgbClr val="12305B"/>
                </a:solidFill>
                <a:latin typeface="Calibri" pitchFamily="34" charset="0"/>
                <a:ea typeface="Calibri" pitchFamily="34" charset="-122"/>
                <a:cs typeface="Calibri" pitchFamily="34" charset="-120"/>
              </a:rPr>
              <a:t>Niba ari kanseri y'amara, nta kintu na kimwe cyakorwa."</a:t>
            </a:r>
            <a:endParaRPr lang="rw-RW" sz="1600" dirty="0"/>
          </a:p>
        </p:txBody>
      </p:sp>
      <p:sp>
        <p:nvSpPr>
          <p:cNvPr id="19" name="Text 17"/>
          <p:cNvSpPr txBox="1"/>
          <p:nvPr/>
        </p:nvSpPr>
        <p:spPr>
          <a:xfrm>
            <a:off x="719757" y="5266590"/>
            <a:ext cx="3683007" cy="67665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"Ibyo ntabwo ari ukuri. Hari ubuvuzi, kandi hari kwitabwaho no gushyigikirwa muri buri ntambwe."</a:t>
            </a:r>
            <a:endParaRPr lang="rw-RW" sz="1600" dirty="0"/>
          </a:p>
        </p:txBody>
      </p:sp>
      <p:sp>
        <p:nvSpPr>
          <p:cNvPr id="20" name="Shape 18"/>
          <p:cNvSpPr/>
          <p:nvPr/>
        </p:nvSpPr>
        <p:spPr>
          <a:xfrm>
            <a:off x="6233008" y="4631552"/>
            <a:ext cx="5410048" cy="1371600"/>
          </a:xfrm>
          <a:prstGeom prst="roundRect">
            <a:avLst>
              <a:gd name="adj" fmla="val 8000"/>
            </a:avLst>
          </a:prstGeom>
          <a:solidFill>
            <a:srgbClr val="F2F7FD"/>
          </a:solidFill>
          <a:ln w="12700">
            <a:solidFill>
              <a:srgbClr val="CBDDF3"/>
            </a:solidFill>
            <a:prstDash val="solid"/>
          </a:ln>
        </p:spPr>
        <p:txBody>
          <a:bodyPr/>
          <a:lstStyle/>
          <a:p>
            <a:endParaRPr lang="rw-RW" sz="1600" dirty="0"/>
          </a:p>
        </p:txBody>
      </p:sp>
      <p:sp>
        <p:nvSpPr>
          <p:cNvPr id="21" name="Text 19"/>
          <p:cNvSpPr txBox="1"/>
          <p:nvPr/>
        </p:nvSpPr>
        <p:spPr>
          <a:xfrm>
            <a:off x="6434176" y="4777856"/>
            <a:ext cx="4087987" cy="384048"/>
          </a:xfrm>
          <a:prstGeom prst="rect">
            <a:avLst/>
          </a:prstGeom>
          <a:noFill/>
          <a:ln/>
        </p:spPr>
        <p:txBody>
          <a:bodyPr wrap="square" lIns="0" tIns="0" rIns="0" bIns="0" rtlCol="0" anchor="t">
            <a:noAutofit/>
          </a:bodyPr>
          <a:lstStyle/>
          <a:p>
            <a:pPr marL="0" indent="0">
              <a:buNone/>
            </a:pPr>
            <a:r>
              <a:rPr lang="rw-RW" sz="1600" b="1" dirty="0">
                <a:solidFill>
                  <a:srgbClr val="12305B"/>
                </a:solidFill>
                <a:latin typeface="Calibri" pitchFamily="34" charset="0"/>
                <a:ea typeface="Calibri" pitchFamily="34" charset="-122"/>
                <a:cs typeface="Calibri" pitchFamily="34" charset="-120"/>
              </a:rPr>
              <a:t>"Umuntu wese urwaye kanseri y'amara agomba gushyirwaho igikapu."</a:t>
            </a:r>
            <a:endParaRPr lang="rw-RW" sz="1600" dirty="0"/>
          </a:p>
        </p:txBody>
      </p:sp>
      <p:sp>
        <p:nvSpPr>
          <p:cNvPr id="22" name="Text 20"/>
          <p:cNvSpPr txBox="1"/>
          <p:nvPr/>
        </p:nvSpPr>
        <p:spPr>
          <a:xfrm>
            <a:off x="6344851" y="5333852"/>
            <a:ext cx="4116269" cy="676656"/>
          </a:xfrm>
          <a:prstGeom prst="rect">
            <a:avLst/>
          </a:prstGeom>
          <a:noFill/>
          <a:ln/>
        </p:spPr>
        <p:txBody>
          <a:bodyPr wrap="square" lIns="0" tIns="0" rIns="0" bIns="0" rtlCol="0" anchor="t">
            <a:norm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"Oya. Abantu bamwe bakeneye igikapu cy'igihe runaka, abenshi ntibagikeneye na gato."</a:t>
            </a:r>
            <a:endParaRPr lang="rw-RW" sz="1600" dirty="0"/>
          </a:p>
        </p:txBody>
      </p:sp>
      <p:pic>
        <p:nvPicPr>
          <p:cNvPr id="23" name="Imagen 22">
            <a:extLst>
              <a:ext uri="{FF2B5EF4-FFF2-40B4-BE49-F238E27FC236}">
                <a16:creationId xmlns:a16="http://schemas.microsoft.com/office/drawing/2014/main" id="{27A48AB8-2826-AC0E-B05B-357BB836DD56}"/>
              </a:ext>
            </a:extLst>
          </p:cNvPr>
          <p:cNvPicPr>
            <a:picLocks noChangeAspect="1"/>
          </p:cNvPicPr>
          <p:nvPr/>
        </p:nvPicPr>
        <p:blipFill>
          <a:blip r:embed="rId3"/>
          <a:srcRect/>
          <a:stretch>
            <a:fillRect/>
          </a:stretch>
        </p:blipFill>
        <p:spPr>
          <a:xfrm>
            <a:off x="4764279" y="1468977"/>
            <a:ext cx="1130401" cy="1193407"/>
          </a:xfrm>
          <a:prstGeom prst="rect">
            <a:avLst/>
          </a:prstGeom>
        </p:spPr>
      </p:pic>
      <p:pic>
        <p:nvPicPr>
          <p:cNvPr id="25" name="Imagen 24">
            <a:extLst>
              <a:ext uri="{FF2B5EF4-FFF2-40B4-BE49-F238E27FC236}">
                <a16:creationId xmlns:a16="http://schemas.microsoft.com/office/drawing/2014/main" id="{DC8DC279-993B-46D9-EE5F-6F16BAADECAE}"/>
              </a:ext>
            </a:extLst>
          </p:cNvPr>
          <p:cNvPicPr>
            <a:picLocks noChangeAspect="1"/>
          </p:cNvPicPr>
          <p:nvPr/>
        </p:nvPicPr>
        <p:blipFill>
          <a:blip r:embed="rId4"/>
          <a:srcRect/>
          <a:stretch>
            <a:fillRect/>
          </a:stretch>
        </p:blipFill>
        <p:spPr>
          <a:xfrm>
            <a:off x="4540085" y="3390312"/>
            <a:ext cx="1249680" cy="975102"/>
          </a:xfrm>
          <a:prstGeom prst="rect">
            <a:avLst/>
          </a:prstGeom>
        </p:spPr>
      </p:pic>
      <p:pic>
        <p:nvPicPr>
          <p:cNvPr id="29" name="Imagen 28">
            <a:extLst>
              <a:ext uri="{FF2B5EF4-FFF2-40B4-BE49-F238E27FC236}">
                <a16:creationId xmlns:a16="http://schemas.microsoft.com/office/drawing/2014/main" id="{1266533E-A041-6374-9173-EACCE7788D90}"/>
              </a:ext>
            </a:extLst>
          </p:cNvPr>
          <p:cNvPicPr>
            <a:picLocks noChangeAspect="1"/>
          </p:cNvPicPr>
          <p:nvPr/>
        </p:nvPicPr>
        <p:blipFill>
          <a:blip r:embed="rId5"/>
          <a:stretch>
            <a:fillRect/>
          </a:stretch>
        </p:blipFill>
        <p:spPr>
          <a:xfrm>
            <a:off x="10155559" y="1402262"/>
            <a:ext cx="1286329" cy="1174559"/>
          </a:xfrm>
          <a:prstGeom prst="rect">
            <a:avLst/>
          </a:prstGeom>
        </p:spPr>
      </p:pic>
      <p:pic>
        <p:nvPicPr>
          <p:cNvPr id="31" name="Imagen 30">
            <a:extLst>
              <a:ext uri="{FF2B5EF4-FFF2-40B4-BE49-F238E27FC236}">
                <a16:creationId xmlns:a16="http://schemas.microsoft.com/office/drawing/2014/main" id="{2939DAE8-A503-4C95-4036-61593C83B744}"/>
              </a:ext>
            </a:extLst>
          </p:cNvPr>
          <p:cNvPicPr>
            <a:picLocks noChangeAspect="1"/>
          </p:cNvPicPr>
          <p:nvPr/>
        </p:nvPicPr>
        <p:blipFill>
          <a:blip r:embed="rId6"/>
          <a:stretch>
            <a:fillRect/>
          </a:stretch>
        </p:blipFill>
        <p:spPr>
          <a:xfrm>
            <a:off x="10528448" y="3295077"/>
            <a:ext cx="944120" cy="1123092"/>
          </a:xfrm>
          <a:prstGeom prst="rect">
            <a:avLst/>
          </a:prstGeom>
        </p:spPr>
      </p:pic>
      <p:pic>
        <p:nvPicPr>
          <p:cNvPr id="33" name="Imagen 32">
            <a:extLst>
              <a:ext uri="{FF2B5EF4-FFF2-40B4-BE49-F238E27FC236}">
                <a16:creationId xmlns:a16="http://schemas.microsoft.com/office/drawing/2014/main" id="{B85AB593-0F54-B49B-68B6-CACF1E418FA6}"/>
              </a:ext>
            </a:extLst>
          </p:cNvPr>
          <p:cNvPicPr>
            <a:picLocks noChangeAspect="1"/>
          </p:cNvPicPr>
          <p:nvPr/>
        </p:nvPicPr>
        <p:blipFill>
          <a:blip r:embed="rId7"/>
          <a:stretch>
            <a:fillRect/>
          </a:stretch>
        </p:blipFill>
        <p:spPr>
          <a:xfrm>
            <a:off x="4737685" y="4758558"/>
            <a:ext cx="1004388" cy="1117588"/>
          </a:xfrm>
          <a:prstGeom prst="rect">
            <a:avLst/>
          </a:prstGeom>
        </p:spPr>
      </p:pic>
      <p:pic>
        <p:nvPicPr>
          <p:cNvPr id="35" name="Imagen 34">
            <a:extLst>
              <a:ext uri="{FF2B5EF4-FFF2-40B4-BE49-F238E27FC236}">
                <a16:creationId xmlns:a16="http://schemas.microsoft.com/office/drawing/2014/main" id="{0C0695D0-7D44-624E-C4AE-964498414522}"/>
              </a:ext>
            </a:extLst>
          </p:cNvPr>
          <p:cNvPicPr>
            <a:picLocks noChangeAspect="1"/>
          </p:cNvPicPr>
          <p:nvPr/>
        </p:nvPicPr>
        <p:blipFill>
          <a:blip r:embed="rId8"/>
          <a:srcRect/>
          <a:stretch>
            <a:fillRect/>
          </a:stretch>
        </p:blipFill>
        <p:spPr>
          <a:xfrm>
            <a:off x="10572963" y="4718116"/>
            <a:ext cx="938844" cy="1214874"/>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3</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Gushyigikira umuntu n'umuryango we</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Shape 3"/>
          <p:cNvSpPr/>
          <p:nvPr/>
        </p:nvSpPr>
        <p:spPr>
          <a:xfrm>
            <a:off x="548640" y="1325879"/>
            <a:ext cx="3515258" cy="2165251"/>
          </a:xfrm>
          <a:prstGeom prst="roundRect">
            <a:avLst>
              <a:gd name="adj" fmla="val 6000"/>
            </a:avLst>
          </a:prstGeom>
          <a:solidFill>
            <a:srgbClr val="F2F7FD"/>
          </a:solidFill>
          <a:ln w="12700">
            <a:solidFill>
              <a:srgbClr val="CBDDF3"/>
            </a:solidFill>
            <a:prstDash val="solid"/>
          </a:ln>
        </p:spPr>
        <p:txBody>
          <a:bodyPr/>
          <a:lstStyle/>
          <a:p>
            <a:endParaRPr lang="rw-RW" sz="1600" dirty="0"/>
          </a:p>
        </p:txBody>
      </p:sp>
      <p:sp>
        <p:nvSpPr>
          <p:cNvPr id="6" name="Text 4"/>
          <p:cNvSpPr txBox="1"/>
          <p:nvPr/>
        </p:nvSpPr>
        <p:spPr>
          <a:xfrm>
            <a:off x="749808" y="1472184"/>
            <a:ext cx="3112922"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Tega amatwi mbere</a:t>
            </a:r>
            <a:endParaRPr lang="rw-RW" dirty="0"/>
          </a:p>
        </p:txBody>
      </p:sp>
      <p:sp>
        <p:nvSpPr>
          <p:cNvPr id="7" name="Text 5"/>
          <p:cNvSpPr txBox="1"/>
          <p:nvPr/>
        </p:nvSpPr>
        <p:spPr>
          <a:xfrm>
            <a:off x="749809" y="1892808"/>
            <a:ext cx="1734312" cy="113385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Jya uha uwo muntu umwanya. Ntukihutire kandi ntugakoreshe ubwoba bwo kwemeza.</a:t>
            </a:r>
            <a:endParaRPr lang="rw-RW" sz="1600" dirty="0"/>
          </a:p>
        </p:txBody>
      </p:sp>
      <p:sp>
        <p:nvSpPr>
          <p:cNvPr id="8" name="Shape 6"/>
          <p:cNvSpPr/>
          <p:nvPr/>
        </p:nvSpPr>
        <p:spPr>
          <a:xfrm>
            <a:off x="4338218" y="1325879"/>
            <a:ext cx="3515258" cy="2165251"/>
          </a:xfrm>
          <a:prstGeom prst="roundRect">
            <a:avLst>
              <a:gd name="adj" fmla="val 6000"/>
            </a:avLst>
          </a:prstGeom>
          <a:solidFill>
            <a:srgbClr val="F2F7FD"/>
          </a:solidFill>
          <a:ln w="12700">
            <a:solidFill>
              <a:srgbClr val="CBDDF3"/>
            </a:solidFill>
            <a:prstDash val="solid"/>
          </a:ln>
        </p:spPr>
        <p:txBody>
          <a:bodyPr/>
          <a:lstStyle/>
          <a:p>
            <a:endParaRPr lang="rw-RW" sz="1600" dirty="0"/>
          </a:p>
        </p:txBody>
      </p:sp>
      <p:sp>
        <p:nvSpPr>
          <p:cNvPr id="9" name="Text 7"/>
          <p:cNvSpPr txBox="1"/>
          <p:nvPr/>
        </p:nvSpPr>
        <p:spPr>
          <a:xfrm>
            <a:off x="4539386" y="1472184"/>
            <a:ext cx="3112922" cy="384048"/>
          </a:xfrm>
          <a:prstGeom prst="rect">
            <a:avLst/>
          </a:prstGeom>
          <a:noFill/>
          <a:ln/>
        </p:spPr>
        <p:txBody>
          <a:bodyPr wrap="square" lIns="0" tIns="0" rIns="0" bIns="0" rtlCol="0" anchor="t">
            <a:noAutofit/>
          </a:bodyPr>
          <a:lstStyle/>
          <a:p>
            <a:pPr marL="0" indent="0">
              <a:buNone/>
            </a:pPr>
            <a:r>
              <a:rPr lang="rw-RW" b="1" dirty="0">
                <a:solidFill>
                  <a:srgbClr val="12305B"/>
                </a:solidFill>
                <a:latin typeface="Calibri" pitchFamily="34" charset="0"/>
                <a:ea typeface="Calibri" pitchFamily="34" charset="-122"/>
                <a:cs typeface="Calibri" pitchFamily="34" charset="-120"/>
              </a:rPr>
              <a:t>Mujye mubishyira mu mwiherero</a:t>
            </a:r>
            <a:endParaRPr lang="rw-RW" dirty="0"/>
          </a:p>
        </p:txBody>
      </p:sp>
      <p:sp>
        <p:nvSpPr>
          <p:cNvPr id="10" name="Text 8"/>
          <p:cNvSpPr txBox="1"/>
          <p:nvPr/>
        </p:nvSpPr>
        <p:spPr>
          <a:xfrm>
            <a:off x="4433288" y="1892808"/>
            <a:ext cx="1933360" cy="855943"/>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Ibyo uwo muntu akubwira bigumana nawe. Mujye ahantu abandi badashobora kumva.</a:t>
            </a:r>
            <a:endParaRPr lang="rw-RW" sz="1600" dirty="0"/>
          </a:p>
        </p:txBody>
      </p:sp>
      <p:sp>
        <p:nvSpPr>
          <p:cNvPr id="11" name="Shape 9"/>
          <p:cNvSpPr/>
          <p:nvPr/>
        </p:nvSpPr>
        <p:spPr>
          <a:xfrm>
            <a:off x="8127797" y="1325879"/>
            <a:ext cx="3515258" cy="2165251"/>
          </a:xfrm>
          <a:prstGeom prst="roundRect">
            <a:avLst>
              <a:gd name="adj" fmla="val 6000"/>
            </a:avLst>
          </a:prstGeom>
          <a:solidFill>
            <a:srgbClr val="F2F7FD"/>
          </a:solidFill>
          <a:ln w="12700">
            <a:solidFill>
              <a:srgbClr val="CBDDF3"/>
            </a:solidFill>
            <a:prstDash val="solid"/>
          </a:ln>
        </p:spPr>
        <p:txBody>
          <a:bodyPr/>
          <a:lstStyle/>
          <a:p>
            <a:endParaRPr lang="rw-RW" sz="1600" dirty="0"/>
          </a:p>
        </p:txBody>
      </p:sp>
      <p:sp>
        <p:nvSpPr>
          <p:cNvPr id="12" name="Text 10"/>
          <p:cNvSpPr txBox="1"/>
          <p:nvPr/>
        </p:nvSpPr>
        <p:spPr>
          <a:xfrm>
            <a:off x="8328965" y="1472184"/>
            <a:ext cx="3112922" cy="384048"/>
          </a:xfrm>
          <a:prstGeom prst="rect">
            <a:avLst/>
          </a:prstGeom>
          <a:noFill/>
          <a:ln/>
        </p:spPr>
        <p:txBody>
          <a:bodyPr wrap="square" lIns="0" tIns="0" rIns="0" bIns="0" rtlCol="0" anchor="t">
            <a:noAutofit/>
          </a:bodyPr>
          <a:lstStyle/>
          <a:p>
            <a:pPr marL="0" indent="0">
              <a:buNone/>
            </a:pPr>
            <a:r>
              <a:rPr lang="rw-RW" b="1" dirty="0">
                <a:solidFill>
                  <a:srgbClr val="12305B"/>
                </a:solidFill>
                <a:latin typeface="Calibri" pitchFamily="34" charset="0"/>
                <a:ea typeface="Calibri" pitchFamily="34" charset="-122"/>
                <a:cs typeface="Calibri" pitchFamily="34" charset="-120"/>
              </a:rPr>
              <a:t>Bafashe kujya kuri gahunda yo kwa muganga</a:t>
            </a:r>
            <a:endParaRPr lang="rw-RW" dirty="0"/>
          </a:p>
        </p:txBody>
      </p:sp>
      <p:sp>
        <p:nvSpPr>
          <p:cNvPr id="13" name="Text 11"/>
          <p:cNvSpPr txBox="1"/>
          <p:nvPr/>
        </p:nvSpPr>
        <p:spPr>
          <a:xfrm>
            <a:off x="8269659" y="2056695"/>
            <a:ext cx="1977769" cy="1133856"/>
          </a:xfrm>
          <a:prstGeom prst="rect">
            <a:avLst/>
          </a:prstGeom>
          <a:noFill/>
          <a:ln/>
        </p:spPr>
        <p:txBody>
          <a:bodyPr wrap="square" lIns="0" tIns="0" rIns="0" bIns="0" rtlCol="0" anchor="t"/>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Mwemeranye umunsi, mufashe gutegura urugendo, hanyuma umenye niba yagiye.</a:t>
            </a:r>
            <a:endParaRPr lang="rw-RW" sz="1600" dirty="0"/>
          </a:p>
        </p:txBody>
      </p:sp>
      <p:sp>
        <p:nvSpPr>
          <p:cNvPr id="14" name="Shape 12"/>
          <p:cNvSpPr/>
          <p:nvPr/>
        </p:nvSpPr>
        <p:spPr>
          <a:xfrm>
            <a:off x="548640" y="3582570"/>
            <a:ext cx="3515258" cy="2001863"/>
          </a:xfrm>
          <a:prstGeom prst="roundRect">
            <a:avLst>
              <a:gd name="adj" fmla="val 6000"/>
            </a:avLst>
          </a:prstGeom>
          <a:solidFill>
            <a:srgbClr val="F2F7FD"/>
          </a:solidFill>
          <a:ln w="12700">
            <a:solidFill>
              <a:srgbClr val="CBDDF3"/>
            </a:solidFill>
            <a:prstDash val="solid"/>
          </a:ln>
        </p:spPr>
        <p:txBody>
          <a:bodyPr/>
          <a:lstStyle/>
          <a:p>
            <a:endParaRPr lang="rw-RW" sz="1600" dirty="0"/>
          </a:p>
        </p:txBody>
      </p:sp>
      <p:sp>
        <p:nvSpPr>
          <p:cNvPr id="15" name="Text 13"/>
          <p:cNvSpPr txBox="1"/>
          <p:nvPr/>
        </p:nvSpPr>
        <p:spPr>
          <a:xfrm>
            <a:off x="749808" y="3728875"/>
            <a:ext cx="3112922"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Kugaruka gufata ibisubizo</a:t>
            </a:r>
            <a:endParaRPr lang="rw-RW" dirty="0"/>
          </a:p>
        </p:txBody>
      </p:sp>
      <p:sp>
        <p:nvSpPr>
          <p:cNvPr id="16" name="Text 14"/>
          <p:cNvSpPr txBox="1"/>
          <p:nvPr/>
        </p:nvSpPr>
        <p:spPr>
          <a:xfrm>
            <a:off x="749808" y="4020546"/>
            <a:ext cx="1816122" cy="1173060"/>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Mwibutse uwo muntu kugaruka gufata ibisubizo no kujya kuri gahunda ikurikira.</a:t>
            </a:r>
            <a:endParaRPr lang="rw-RW" sz="1600" dirty="0"/>
          </a:p>
        </p:txBody>
      </p:sp>
      <p:sp>
        <p:nvSpPr>
          <p:cNvPr id="17" name="Shape 15"/>
          <p:cNvSpPr/>
          <p:nvPr/>
        </p:nvSpPr>
        <p:spPr>
          <a:xfrm>
            <a:off x="4338218" y="3582570"/>
            <a:ext cx="3515258" cy="2002535"/>
          </a:xfrm>
          <a:prstGeom prst="roundRect">
            <a:avLst>
              <a:gd name="adj" fmla="val 6000"/>
            </a:avLst>
          </a:prstGeom>
          <a:solidFill>
            <a:srgbClr val="F2F7FD"/>
          </a:solidFill>
          <a:ln w="12700">
            <a:solidFill>
              <a:srgbClr val="CBDDF3"/>
            </a:solidFill>
            <a:prstDash val="solid"/>
          </a:ln>
        </p:spPr>
        <p:txBody>
          <a:bodyPr/>
          <a:lstStyle/>
          <a:p>
            <a:endParaRPr lang="rw-RW" sz="1600" dirty="0"/>
          </a:p>
        </p:txBody>
      </p:sp>
      <p:sp>
        <p:nvSpPr>
          <p:cNvPr id="18" name="Text 16"/>
          <p:cNvSpPr txBox="1"/>
          <p:nvPr/>
        </p:nvSpPr>
        <p:spPr>
          <a:xfrm>
            <a:off x="4539386" y="3728875"/>
            <a:ext cx="3112922"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Zana umuryango wawe</a:t>
            </a:r>
            <a:endParaRPr lang="rw-RW" dirty="0"/>
          </a:p>
        </p:txBody>
      </p:sp>
      <p:sp>
        <p:nvSpPr>
          <p:cNvPr id="19" name="Text 17"/>
          <p:cNvSpPr txBox="1"/>
          <p:nvPr/>
        </p:nvSpPr>
        <p:spPr>
          <a:xfrm>
            <a:off x="4433288" y="4020546"/>
            <a:ext cx="1977827" cy="113385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Umuntu abanje kubyemera, fasha umuryango we gusobanukirwa impamvu agomba gukomeza kwitabwaho.</a:t>
            </a:r>
            <a:endParaRPr lang="rw-RW" sz="1600" dirty="0"/>
          </a:p>
        </p:txBody>
      </p:sp>
      <p:sp>
        <p:nvSpPr>
          <p:cNvPr id="20" name="Shape 18"/>
          <p:cNvSpPr/>
          <p:nvPr/>
        </p:nvSpPr>
        <p:spPr>
          <a:xfrm>
            <a:off x="8127797" y="3582571"/>
            <a:ext cx="3515258" cy="2002536"/>
          </a:xfrm>
          <a:prstGeom prst="roundRect">
            <a:avLst>
              <a:gd name="adj" fmla="val 6000"/>
            </a:avLst>
          </a:prstGeom>
          <a:solidFill>
            <a:srgbClr val="F2F7FD"/>
          </a:solidFill>
          <a:ln w="12700">
            <a:solidFill>
              <a:srgbClr val="CBDDF3"/>
            </a:solidFill>
            <a:prstDash val="solid"/>
          </a:ln>
        </p:spPr>
        <p:txBody>
          <a:bodyPr/>
          <a:lstStyle/>
          <a:p>
            <a:endParaRPr lang="rw-RW" sz="1600" dirty="0"/>
          </a:p>
        </p:txBody>
      </p:sp>
      <p:sp>
        <p:nvSpPr>
          <p:cNvPr id="21" name="Text 19"/>
          <p:cNvSpPr txBox="1"/>
          <p:nvPr/>
        </p:nvSpPr>
        <p:spPr>
          <a:xfrm>
            <a:off x="8328965" y="3728875"/>
            <a:ext cx="1644142" cy="384048"/>
          </a:xfrm>
          <a:prstGeom prst="rect">
            <a:avLst/>
          </a:prstGeom>
          <a:noFill/>
          <a:ln/>
        </p:spPr>
        <p:txBody>
          <a:bodyPr wrap="square" lIns="0" tIns="0" rIns="0" bIns="0" rtlCol="0" anchor="t">
            <a:noAutofit/>
          </a:bodyPr>
          <a:lstStyle/>
          <a:p>
            <a:pPr marL="0" indent="0">
              <a:buNone/>
            </a:pPr>
            <a:r>
              <a:rPr lang="rw-RW" b="1" dirty="0">
                <a:solidFill>
                  <a:srgbClr val="12305B"/>
                </a:solidFill>
                <a:latin typeface="Calibri" pitchFamily="34" charset="0"/>
                <a:ea typeface="Calibri" pitchFamily="34" charset="-122"/>
                <a:cs typeface="Calibri" pitchFamily="34" charset="-120"/>
              </a:rPr>
              <a:t>Ntuzigere ushinja</a:t>
            </a:r>
            <a:endParaRPr lang="rw-RW" dirty="0"/>
          </a:p>
        </p:txBody>
      </p:sp>
      <p:sp>
        <p:nvSpPr>
          <p:cNvPr id="22" name="Text 20"/>
          <p:cNvSpPr txBox="1"/>
          <p:nvPr/>
        </p:nvSpPr>
        <p:spPr>
          <a:xfrm>
            <a:off x="8328965" y="4266729"/>
            <a:ext cx="1823220" cy="113385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Ntugashinje uwo muntu ku bimenyetso bye, imyitwarire ye, cyangwa gutinda gushaka ubuvuzi.</a:t>
            </a:r>
            <a:endParaRPr lang="rw-RW" sz="1600" dirty="0"/>
          </a:p>
        </p:txBody>
      </p:sp>
      <p:sp>
        <p:nvSpPr>
          <p:cNvPr id="23" name="Shape 21"/>
          <p:cNvSpPr/>
          <p:nvPr/>
        </p:nvSpPr>
        <p:spPr>
          <a:xfrm>
            <a:off x="548640" y="5654038"/>
            <a:ext cx="11094415" cy="713232"/>
          </a:xfrm>
          <a:prstGeom prst="roundRect">
            <a:avLst>
              <a:gd name="adj" fmla="val 12821"/>
            </a:avLst>
          </a:prstGeom>
          <a:solidFill>
            <a:srgbClr val="F2F7FD"/>
          </a:solidFill>
          <a:ln w="12700">
            <a:solidFill>
              <a:srgbClr val="CBDDF3"/>
            </a:solidFill>
            <a:prstDash val="solid"/>
          </a:ln>
        </p:spPr>
        <p:txBody>
          <a:bodyPr/>
          <a:lstStyle/>
          <a:p>
            <a:endParaRPr lang="rw-RW" sz="1600" dirty="0"/>
          </a:p>
        </p:txBody>
      </p:sp>
      <p:sp>
        <p:nvSpPr>
          <p:cNvPr id="24" name="Text 22"/>
          <p:cNvSpPr txBox="1"/>
          <p:nvPr/>
        </p:nvSpPr>
        <p:spPr>
          <a:xfrm>
            <a:off x="777240" y="5745478"/>
            <a:ext cx="10637215" cy="530352"/>
          </a:xfrm>
          <a:prstGeom prst="rect">
            <a:avLst/>
          </a:prstGeom>
          <a:noFill/>
          <a:ln/>
        </p:spPr>
        <p:txBody>
          <a:bodyPr wrap="square" lIns="0" tIns="0" rIns="0" bIns="0" rtlCol="0" anchor="ctr">
            <a:noAutofit/>
          </a:bodyPr>
          <a:lstStyle/>
          <a:p>
            <a:pPr marL="0" indent="0">
              <a:buNone/>
            </a:pPr>
            <a:r>
              <a:rPr lang="rw-RW" sz="1600" dirty="0">
                <a:solidFill>
                  <a:srgbClr val="17335F"/>
                </a:solidFill>
                <a:latin typeface="Calibri" pitchFamily="34" charset="0"/>
                <a:ea typeface="Calibri" pitchFamily="34" charset="-122"/>
                <a:cs typeface="Calibri" pitchFamily="34" charset="-120"/>
              </a:rPr>
              <a:t>Abantu batakaza kwitabwaho kubera kure, ikiguzi, ubwoba, n'isoni. Kuganira kuri izo mbogamizi mu buryo bweruye no kuzishakira ibisubizo imwe ku yindi ni igice kinini cy'akazi kawe.</a:t>
            </a:r>
            <a:endParaRPr lang="rw-RW" sz="1600" dirty="0"/>
          </a:p>
        </p:txBody>
      </p:sp>
      <p:pic>
        <p:nvPicPr>
          <p:cNvPr id="27" name="Imagen 26">
            <a:extLst>
              <a:ext uri="{FF2B5EF4-FFF2-40B4-BE49-F238E27FC236}">
                <a16:creationId xmlns:a16="http://schemas.microsoft.com/office/drawing/2014/main" id="{BD13F786-F778-02DC-336D-67114A61D323}"/>
              </a:ext>
            </a:extLst>
          </p:cNvPr>
          <p:cNvPicPr>
            <a:picLocks noChangeAspect="1"/>
          </p:cNvPicPr>
          <p:nvPr/>
        </p:nvPicPr>
        <p:blipFill>
          <a:blip r:embed="rId3"/>
          <a:stretch>
            <a:fillRect/>
          </a:stretch>
        </p:blipFill>
        <p:spPr>
          <a:xfrm>
            <a:off x="2498925" y="2101603"/>
            <a:ext cx="1424330" cy="949553"/>
          </a:xfrm>
          <a:prstGeom prst="rect">
            <a:avLst/>
          </a:prstGeom>
        </p:spPr>
      </p:pic>
      <p:pic>
        <p:nvPicPr>
          <p:cNvPr id="29" name="Imagen 28">
            <a:extLst>
              <a:ext uri="{FF2B5EF4-FFF2-40B4-BE49-F238E27FC236}">
                <a16:creationId xmlns:a16="http://schemas.microsoft.com/office/drawing/2014/main" id="{0F581F24-2A23-CF24-B799-81E54280F696}"/>
              </a:ext>
            </a:extLst>
          </p:cNvPr>
          <p:cNvPicPr>
            <a:picLocks noChangeAspect="1"/>
          </p:cNvPicPr>
          <p:nvPr/>
        </p:nvPicPr>
        <p:blipFill>
          <a:blip r:embed="rId4"/>
          <a:stretch>
            <a:fillRect/>
          </a:stretch>
        </p:blipFill>
        <p:spPr>
          <a:xfrm>
            <a:off x="6366648" y="2054283"/>
            <a:ext cx="1327214" cy="884809"/>
          </a:xfrm>
          <a:prstGeom prst="rect">
            <a:avLst/>
          </a:prstGeom>
        </p:spPr>
      </p:pic>
      <p:pic>
        <p:nvPicPr>
          <p:cNvPr id="30" name="Imagen 29">
            <a:extLst>
              <a:ext uri="{FF2B5EF4-FFF2-40B4-BE49-F238E27FC236}">
                <a16:creationId xmlns:a16="http://schemas.microsoft.com/office/drawing/2014/main" id="{0EF5F239-9326-5046-F068-ED1FBB994167}"/>
              </a:ext>
            </a:extLst>
          </p:cNvPr>
          <p:cNvPicPr>
            <a:picLocks noChangeAspect="1"/>
          </p:cNvPicPr>
          <p:nvPr/>
        </p:nvPicPr>
        <p:blipFill>
          <a:blip r:embed="rId5"/>
          <a:stretch>
            <a:fillRect/>
          </a:stretch>
        </p:blipFill>
        <p:spPr>
          <a:xfrm>
            <a:off x="10213583" y="2230955"/>
            <a:ext cx="1340686" cy="703666"/>
          </a:xfrm>
          <a:prstGeom prst="rect">
            <a:avLst/>
          </a:prstGeom>
        </p:spPr>
      </p:pic>
      <p:pic>
        <p:nvPicPr>
          <p:cNvPr id="31" name="Imagen 30">
            <a:extLst>
              <a:ext uri="{FF2B5EF4-FFF2-40B4-BE49-F238E27FC236}">
                <a16:creationId xmlns:a16="http://schemas.microsoft.com/office/drawing/2014/main" id="{11CF5A09-3348-4709-C850-7F54AF2E0E51}"/>
              </a:ext>
            </a:extLst>
          </p:cNvPr>
          <p:cNvPicPr>
            <a:picLocks noChangeAspect="1"/>
          </p:cNvPicPr>
          <p:nvPr/>
        </p:nvPicPr>
        <p:blipFill>
          <a:blip r:embed="rId6"/>
          <a:srcRect/>
          <a:stretch>
            <a:fillRect/>
          </a:stretch>
        </p:blipFill>
        <p:spPr>
          <a:xfrm>
            <a:off x="10247428" y="4020546"/>
            <a:ext cx="1272996" cy="993296"/>
          </a:xfrm>
          <a:prstGeom prst="rect">
            <a:avLst/>
          </a:prstGeom>
        </p:spPr>
      </p:pic>
      <p:pic>
        <p:nvPicPr>
          <p:cNvPr id="33" name="Imagen 32">
            <a:extLst>
              <a:ext uri="{FF2B5EF4-FFF2-40B4-BE49-F238E27FC236}">
                <a16:creationId xmlns:a16="http://schemas.microsoft.com/office/drawing/2014/main" id="{B5FBA0D3-6255-40F1-843F-8503A3E10AAD}"/>
              </a:ext>
            </a:extLst>
          </p:cNvPr>
          <p:cNvPicPr>
            <a:picLocks noChangeAspect="1"/>
          </p:cNvPicPr>
          <p:nvPr/>
        </p:nvPicPr>
        <p:blipFill>
          <a:blip r:embed="rId7"/>
          <a:stretch>
            <a:fillRect/>
          </a:stretch>
        </p:blipFill>
        <p:spPr>
          <a:xfrm>
            <a:off x="2616730" y="4267056"/>
            <a:ext cx="1306525" cy="871017"/>
          </a:xfrm>
          <a:prstGeom prst="rect">
            <a:avLst/>
          </a:prstGeom>
        </p:spPr>
      </p:pic>
      <p:pic>
        <p:nvPicPr>
          <p:cNvPr id="35" name="Imagen 34">
            <a:extLst>
              <a:ext uri="{FF2B5EF4-FFF2-40B4-BE49-F238E27FC236}">
                <a16:creationId xmlns:a16="http://schemas.microsoft.com/office/drawing/2014/main" id="{F7F05191-3CF9-CC52-BEF6-39284694AF14}"/>
              </a:ext>
            </a:extLst>
          </p:cNvPr>
          <p:cNvPicPr>
            <a:picLocks noChangeAspect="1"/>
          </p:cNvPicPr>
          <p:nvPr/>
        </p:nvPicPr>
        <p:blipFill>
          <a:blip r:embed="rId8"/>
          <a:stretch>
            <a:fillRect/>
          </a:stretch>
        </p:blipFill>
        <p:spPr>
          <a:xfrm>
            <a:off x="6461915" y="4149499"/>
            <a:ext cx="1282747" cy="85516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3</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Inkuru ya Vestine irakomeje</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3</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Bishyire mu bikorwa</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Shape 3"/>
          <p:cNvSpPr/>
          <p:nvPr/>
        </p:nvSpPr>
        <p:spPr>
          <a:xfrm>
            <a:off x="548640" y="1298447"/>
            <a:ext cx="7269480" cy="960119"/>
          </a:xfrm>
          <a:prstGeom prst="roundRect">
            <a:avLst>
              <a:gd name="adj" fmla="val 10526"/>
            </a:avLst>
          </a:prstGeom>
          <a:solidFill>
            <a:srgbClr val="FDF6E6"/>
          </a:solidFill>
          <a:ln w="12700">
            <a:solidFill>
              <a:srgbClr val="E6D5A8"/>
            </a:solidFill>
            <a:prstDash val="solid"/>
          </a:ln>
        </p:spPr>
        <p:txBody>
          <a:bodyPr/>
          <a:lstStyle/>
          <a:p>
            <a:endParaRPr lang="rw-RW" dirty="0"/>
          </a:p>
        </p:txBody>
      </p:sp>
      <p:sp>
        <p:nvSpPr>
          <p:cNvPr id="6" name="Text 4"/>
          <p:cNvSpPr txBox="1"/>
          <p:nvPr/>
        </p:nvSpPr>
        <p:spPr>
          <a:xfrm>
            <a:off x="768096" y="1430215"/>
            <a:ext cx="6830568" cy="731520"/>
          </a:xfrm>
          <a:prstGeom prst="rect">
            <a:avLst/>
          </a:prstGeom>
          <a:noFill/>
          <a:ln/>
        </p:spPr>
        <p:txBody>
          <a:bodyPr wrap="square" lIns="0" tIns="0" rIns="0" bIns="0" rtlCol="0" anchor="ctr">
            <a:noAutofit/>
          </a:bodyPr>
          <a:lstStyle/>
          <a:p>
            <a:pPr marL="0" indent="0">
              <a:lnSpc>
                <a:spcPct val="105000"/>
              </a:lnSpc>
              <a:buNone/>
            </a:pPr>
            <a:r>
              <a:rPr lang="rw-RW" dirty="0">
                <a:solidFill>
                  <a:srgbClr val="17335F"/>
                </a:solidFill>
                <a:latin typeface="Calibri" pitchFamily="34" charset="0"/>
                <a:ea typeface="Calibri" pitchFamily="34" charset="-122"/>
                <a:cs typeface="Calibri" pitchFamily="34" charset="-120"/>
              </a:rPr>
              <a:t>Mbere y'uko ibisubizo bye bigaruka, Vestine aravuga atuje ati: "Niba babonye kanseri, nta kintu na kimwe cyakorwa, none kuki ngomba kugaruka?"</a:t>
            </a:r>
            <a:endParaRPr lang="rw-RW" dirty="0"/>
          </a:p>
        </p:txBody>
      </p:sp>
      <p:sp>
        <p:nvSpPr>
          <p:cNvPr id="7" name="Text 5"/>
          <p:cNvSpPr txBox="1"/>
          <p:nvPr/>
        </p:nvSpPr>
        <p:spPr>
          <a:xfrm>
            <a:off x="548640" y="2331720"/>
            <a:ext cx="7269480" cy="365760"/>
          </a:xfrm>
          <a:prstGeom prst="rect">
            <a:avLst/>
          </a:prstGeom>
          <a:noFill/>
          <a:ln/>
        </p:spPr>
        <p:txBody>
          <a:bodyPr wrap="square" lIns="0" tIns="0" rIns="0" bIns="0" rtlCol="0" anchor="ctr">
            <a:normAutofit/>
          </a:bodyPr>
          <a:lstStyle/>
          <a:p>
            <a:pPr marL="0" indent="0">
              <a:buNone/>
            </a:pPr>
            <a:r>
              <a:rPr lang="rw-RW" b="1" dirty="0">
                <a:solidFill>
                  <a:srgbClr val="12305B"/>
                </a:solidFill>
                <a:latin typeface="Calibri" pitchFamily="34" charset="0"/>
                <a:ea typeface="Calibri" pitchFamily="34" charset="-122"/>
                <a:cs typeface="Calibri" pitchFamily="34" charset="-120"/>
              </a:rPr>
              <a:t>Ni ikihe gisubizo cy'ingirakamaro kurusha ibindi?</a:t>
            </a:r>
            <a:endParaRPr lang="rw-RW" dirty="0"/>
          </a:p>
        </p:txBody>
      </p:sp>
      <p:sp>
        <p:nvSpPr>
          <p:cNvPr id="8" name="Shape 6"/>
          <p:cNvSpPr/>
          <p:nvPr/>
        </p:nvSpPr>
        <p:spPr>
          <a:xfrm>
            <a:off x="548640" y="2752344"/>
            <a:ext cx="7269480" cy="987551"/>
          </a:xfrm>
          <a:prstGeom prst="roundRect">
            <a:avLst>
              <a:gd name="adj" fmla="val 13889"/>
            </a:avLst>
          </a:prstGeom>
          <a:solidFill>
            <a:srgbClr val="E9F5EC"/>
          </a:solidFill>
          <a:ln w="12700">
            <a:solidFill>
              <a:srgbClr val="CBDDF3"/>
            </a:solidFill>
            <a:prstDash val="solid"/>
          </a:ln>
        </p:spPr>
        <p:txBody>
          <a:bodyPr/>
          <a:lstStyle/>
          <a:p>
            <a:endParaRPr lang="rw-RW" dirty="0"/>
          </a:p>
        </p:txBody>
      </p:sp>
      <p:sp>
        <p:nvSpPr>
          <p:cNvPr id="9" name="Text 7"/>
          <p:cNvSpPr txBox="1"/>
          <p:nvPr/>
        </p:nvSpPr>
        <p:spPr>
          <a:xfrm>
            <a:off x="768096" y="2788920"/>
            <a:ext cx="6830568" cy="914399"/>
          </a:xfrm>
          <a:prstGeom prst="rect">
            <a:avLst/>
          </a:prstGeom>
          <a:noFill/>
          <a:ln/>
        </p:spPr>
        <p:txBody>
          <a:bodyPr wrap="square" lIns="0" tIns="0" rIns="0" bIns="0" rtlCol="0" anchor="ctr"/>
          <a:lstStyle/>
          <a:p>
            <a:pPr marL="0" indent="0">
              <a:lnSpc>
                <a:spcPct val="100000"/>
              </a:lnSpc>
              <a:buNone/>
            </a:pPr>
            <a:r>
              <a:rPr lang="rw-RW" b="1" dirty="0">
                <a:solidFill>
                  <a:srgbClr val="1B6B41"/>
                </a:solidFill>
                <a:latin typeface="Calibri" pitchFamily="34" charset="0"/>
                <a:ea typeface="Calibri" pitchFamily="34" charset="-122"/>
                <a:cs typeface="Calibri" pitchFamily="34" charset="-120"/>
              </a:rPr>
              <a:t>A. Muvugishe neza umwereke ko ibyo atari ukuri, umusobanurire ko ubuvuzi n'ubufasha bihari, kandi wiyemeze kumufasha kugaruka kubona ibisubizo bye ✓</a:t>
            </a:r>
            <a:endParaRPr lang="rw-RW" dirty="0"/>
          </a:p>
        </p:txBody>
      </p:sp>
      <p:sp>
        <p:nvSpPr>
          <p:cNvPr id="10" name="Shape 8"/>
          <p:cNvSpPr/>
          <p:nvPr/>
        </p:nvSpPr>
        <p:spPr>
          <a:xfrm>
            <a:off x="548640" y="3813048"/>
            <a:ext cx="7269480" cy="438912"/>
          </a:xfrm>
          <a:prstGeom prst="roundRect">
            <a:avLst>
              <a:gd name="adj" fmla="val 13889"/>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68096" y="3849624"/>
            <a:ext cx="6830568" cy="365760"/>
          </a:xfrm>
          <a:prstGeom prst="rect">
            <a:avLst/>
          </a:prstGeom>
          <a:noFill/>
          <a:ln/>
        </p:spPr>
        <p:txBody>
          <a:bodyPr wrap="square" lIns="0" tIns="0" rIns="0" bIns="0" rtlCol="0" anchor="ctr"/>
          <a:lstStyle/>
          <a:p>
            <a:pPr marL="0" indent="0">
              <a:lnSpc>
                <a:spcPct val="100000"/>
              </a:lnSpc>
              <a:buNone/>
            </a:pPr>
            <a:r>
              <a:rPr lang="rw-RW" b="1" dirty="0">
                <a:solidFill>
                  <a:srgbClr val="1F5FA9"/>
                </a:solidFill>
                <a:latin typeface="Calibri" pitchFamily="34" charset="0"/>
                <a:ea typeface="Calibri" pitchFamily="34" charset="-122"/>
                <a:cs typeface="Calibri" pitchFamily="34" charset="-120"/>
              </a:rPr>
              <a:t>B. </a:t>
            </a:r>
            <a:r>
              <a:rPr lang="rw-RW" b="0" dirty="0">
                <a:solidFill>
                  <a:srgbClr val="17335F"/>
                </a:solidFill>
                <a:latin typeface="Calibri"/>
              </a:rPr>
              <a:t>Emera ko nta byinshi byakorwa</a:t>
            </a:r>
            <a:endParaRPr lang="rw-RW" dirty="0"/>
          </a:p>
        </p:txBody>
      </p:sp>
      <p:sp>
        <p:nvSpPr>
          <p:cNvPr id="12" name="Shape 10"/>
          <p:cNvSpPr/>
          <p:nvPr/>
        </p:nvSpPr>
        <p:spPr>
          <a:xfrm>
            <a:off x="548640" y="4325112"/>
            <a:ext cx="7269480" cy="438912"/>
          </a:xfrm>
          <a:prstGeom prst="roundRect">
            <a:avLst>
              <a:gd name="adj" fmla="val 13889"/>
            </a:avLst>
          </a:prstGeom>
          <a:solidFill>
            <a:srgbClr val="F2F7FD"/>
          </a:solidFill>
          <a:ln w="12700">
            <a:solidFill>
              <a:srgbClr val="AFD8BE"/>
            </a:solidFill>
            <a:prstDash val="solid"/>
          </a:ln>
        </p:spPr>
        <p:txBody>
          <a:bodyPr/>
          <a:lstStyle/>
          <a:p>
            <a:endParaRPr lang="rw-RW" dirty="0"/>
          </a:p>
        </p:txBody>
      </p:sp>
      <p:sp>
        <p:nvSpPr>
          <p:cNvPr id="13" name="Text 11"/>
          <p:cNvSpPr txBox="1"/>
          <p:nvPr/>
        </p:nvSpPr>
        <p:spPr>
          <a:xfrm>
            <a:off x="768096" y="4361688"/>
            <a:ext cx="6830568" cy="365760"/>
          </a:xfrm>
          <a:prstGeom prst="rect">
            <a:avLst/>
          </a:prstGeom>
          <a:noFill/>
          <a:ln/>
        </p:spPr>
        <p:txBody>
          <a:bodyPr wrap="square" lIns="0" tIns="0" rIns="0" bIns="0" rtlCol="0" anchor="ctr">
            <a:normAutofit/>
          </a:bodyPr>
          <a:lstStyle/>
          <a:p>
            <a:pPr marL="0" indent="0">
              <a:lnSpc>
                <a:spcPct val="100000"/>
              </a:lnSpc>
              <a:buNone/>
            </a:pPr>
            <a:r>
              <a:rPr lang="rw-RW" b="1" dirty="0">
                <a:solidFill>
                  <a:srgbClr val="1F5FA9"/>
                </a:solidFill>
                <a:latin typeface="Calibri" pitchFamily="34" charset="0"/>
                <a:ea typeface="Calibri" pitchFamily="34" charset="-122"/>
                <a:cs typeface="Calibri" pitchFamily="34" charset="-120"/>
              </a:rPr>
              <a:t>C. </a:t>
            </a:r>
            <a:r>
              <a:rPr lang="rw-RW" b="0" dirty="0">
                <a:solidFill>
                  <a:srgbClr val="17335F"/>
                </a:solidFill>
                <a:latin typeface="Calibri"/>
              </a:rPr>
              <a:t>Mubwire kutabitekerezaho</a:t>
            </a:r>
            <a:endParaRPr lang="rw-RW" dirty="0"/>
          </a:p>
        </p:txBody>
      </p:sp>
      <p:sp>
        <p:nvSpPr>
          <p:cNvPr id="14" name="Shape 12"/>
          <p:cNvSpPr/>
          <p:nvPr/>
        </p:nvSpPr>
        <p:spPr>
          <a:xfrm>
            <a:off x="548640" y="4837176"/>
            <a:ext cx="7269480" cy="438912"/>
          </a:xfrm>
          <a:prstGeom prst="roundRect">
            <a:avLst>
              <a:gd name="adj" fmla="val 13889"/>
            </a:avLst>
          </a:prstGeom>
          <a:solidFill>
            <a:srgbClr val="F2F7FD"/>
          </a:solidFill>
          <a:ln w="12700">
            <a:solidFill>
              <a:srgbClr val="CBDDF3"/>
            </a:solidFill>
            <a:prstDash val="solid"/>
          </a:ln>
        </p:spPr>
        <p:txBody>
          <a:bodyPr/>
          <a:lstStyle/>
          <a:p>
            <a:endParaRPr lang="rw-RW" dirty="0"/>
          </a:p>
        </p:txBody>
      </p:sp>
      <p:sp>
        <p:nvSpPr>
          <p:cNvPr id="15" name="Text 13"/>
          <p:cNvSpPr txBox="1"/>
          <p:nvPr/>
        </p:nvSpPr>
        <p:spPr>
          <a:xfrm>
            <a:off x="768096" y="4873752"/>
            <a:ext cx="6830568" cy="365760"/>
          </a:xfrm>
          <a:prstGeom prst="rect">
            <a:avLst/>
          </a:prstGeom>
          <a:noFill/>
          <a:ln/>
        </p:spPr>
        <p:txBody>
          <a:bodyPr wrap="square" lIns="0" tIns="0" rIns="0" bIns="0" rtlCol="0" anchor="ctr"/>
          <a:lstStyle/>
          <a:p>
            <a:pPr marL="0" indent="0">
              <a:lnSpc>
                <a:spcPct val="100000"/>
              </a:lnSpc>
              <a:buNone/>
            </a:pPr>
            <a:r>
              <a:rPr lang="rw-RW" b="1" dirty="0">
                <a:solidFill>
                  <a:srgbClr val="1F5FA9"/>
                </a:solidFill>
                <a:latin typeface="Calibri" pitchFamily="34" charset="0"/>
                <a:ea typeface="Calibri" pitchFamily="34" charset="-122"/>
                <a:cs typeface="Calibri" pitchFamily="34" charset="-120"/>
              </a:rPr>
              <a:t>D. </a:t>
            </a:r>
            <a:r>
              <a:rPr lang="rw-RW" b="0" dirty="0">
                <a:solidFill>
                  <a:srgbClr val="17335F"/>
                </a:solidFill>
                <a:latin typeface="Calibri"/>
              </a:rPr>
              <a:t>Mubwire ko yagombaga kuza hakiri kare</a:t>
            </a:r>
            <a:endParaRPr lang="rw-RW" dirty="0"/>
          </a:p>
        </p:txBody>
      </p:sp>
      <p:sp>
        <p:nvSpPr>
          <p:cNvPr id="16" name="Shape 14"/>
          <p:cNvSpPr/>
          <p:nvPr/>
        </p:nvSpPr>
        <p:spPr>
          <a:xfrm>
            <a:off x="8138160" y="1298448"/>
            <a:ext cx="3504895" cy="4992624"/>
          </a:xfrm>
          <a:prstGeom prst="roundRect">
            <a:avLst>
              <a:gd name="adj" fmla="val 3131"/>
            </a:avLst>
          </a:prstGeom>
          <a:solidFill>
            <a:srgbClr val="E9F5EC"/>
          </a:solidFill>
          <a:ln w="12700">
            <a:solidFill>
              <a:srgbClr val="AFD8BE"/>
            </a:solidFill>
            <a:prstDash val="solid"/>
          </a:ln>
        </p:spPr>
        <p:txBody>
          <a:bodyPr/>
          <a:lstStyle/>
          <a:p>
            <a:endParaRPr lang="rw-RW" dirty="0"/>
          </a:p>
        </p:txBody>
      </p:sp>
      <p:sp>
        <p:nvSpPr>
          <p:cNvPr id="17" name="Text 15"/>
          <p:cNvSpPr txBox="1"/>
          <p:nvPr/>
        </p:nvSpPr>
        <p:spPr>
          <a:xfrm>
            <a:off x="8366760" y="1463040"/>
            <a:ext cx="3047695" cy="365760"/>
          </a:xfrm>
          <a:prstGeom prst="rect">
            <a:avLst/>
          </a:prstGeom>
          <a:noFill/>
          <a:ln/>
        </p:spPr>
        <p:txBody>
          <a:bodyPr wrap="square" lIns="0" tIns="0" rIns="0" bIns="0" rtlCol="0" anchor="ctr">
            <a:normAutofit/>
          </a:bodyPr>
          <a:lstStyle/>
          <a:p>
            <a:pPr marL="0" indent="0">
              <a:buNone/>
            </a:pPr>
            <a:r>
              <a:rPr lang="rw-RW" b="1" dirty="0">
                <a:solidFill>
                  <a:srgbClr val="1B6B41"/>
                </a:solidFill>
                <a:latin typeface="Calibri" pitchFamily="34" charset="0"/>
                <a:ea typeface="Calibri" pitchFamily="34" charset="-122"/>
                <a:cs typeface="Calibri" pitchFamily="34" charset="-120"/>
              </a:rPr>
              <a:t>Igisubizo cyiza: A</a:t>
            </a:r>
            <a:endParaRPr lang="rw-RW" dirty="0"/>
          </a:p>
        </p:txBody>
      </p:sp>
      <p:sp>
        <p:nvSpPr>
          <p:cNvPr id="18" name="Text 16"/>
          <p:cNvSpPr txBox="1"/>
          <p:nvPr/>
        </p:nvSpPr>
        <p:spPr>
          <a:xfrm>
            <a:off x="8366760" y="1920240"/>
            <a:ext cx="3047695" cy="3931920"/>
          </a:xfrm>
          <a:prstGeom prst="rect">
            <a:avLst/>
          </a:prstGeom>
          <a:noFill/>
          <a:ln/>
        </p:spPr>
        <p:txBody>
          <a:bodyPr wrap="square" lIns="0" tIns="0" rIns="0" bIns="0" rtlCol="0" anchor="t"/>
          <a:lstStyle/>
          <a:p>
            <a:pPr marL="0" indent="0">
              <a:lnSpc>
                <a:spcPct val="105000"/>
              </a:lnSpc>
              <a:buNone/>
            </a:pPr>
            <a:r>
              <a:rPr lang="rw-RW" dirty="0">
                <a:solidFill>
                  <a:srgbClr val="17335F"/>
                </a:solidFill>
                <a:latin typeface="Calibri" pitchFamily="34" charset="0"/>
                <a:ea typeface="Calibri" pitchFamily="34" charset="-122"/>
                <a:cs typeface="Calibri" pitchFamily="34" charset="-120"/>
              </a:rPr>
              <a:t>Ubwoba bwe ni ukuri, bityo wemere mbere yo gukosora imyizerere. Vuga neza ko kanseri y'amara ivurwa mu Rwanda kandi ko ubuvuzi bwo kugabanya ububabare biboneka kuri buri ntambwe. Ntusezeranye ko azakira burundu kandi ntugakoreshe amagambo ateye ubwoba. Tanga ikintu gifatika, nko kumvikana ku munsi azagaruka, kugira ngo ibyiringiro bibe umugambi. Ntuzigere ushinja umuntu kuba yatinze.</a:t>
            </a:r>
            <a:endParaRPr lang="rw-RW"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3</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Isuzuma bumenyi (1 kuri 3)</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Ikigo cy'Igihugu gishinzwe Ubuzima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Q1. Umuntu wo mu mudugudu wawe afite amaraso mu musarane. Ahantu heza ho kujya ni uku:</a:t>
            </a:r>
            <a:endParaRPr lang="rw-RW" sz="1700" dirty="0"/>
          </a:p>
        </p:txBody>
      </p:sp>
      <p:sp>
        <p:nvSpPr>
          <p:cNvPr id="6" name="Shape 4"/>
          <p:cNvSpPr/>
          <p:nvPr/>
        </p:nvSpPr>
        <p:spPr>
          <a:xfrm>
            <a:off x="548640" y="1682495"/>
            <a:ext cx="5410048" cy="694944"/>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694944"/>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A. Ivuriro rito (health post) cyangwa ikigo nderabuzima ✓</a:t>
            </a:r>
            <a:endParaRPr lang="rw-RW" sz="1800" dirty="0"/>
          </a:p>
        </p:txBody>
      </p:sp>
      <p:sp>
        <p:nvSpPr>
          <p:cNvPr id="8" name="Shape 6"/>
          <p:cNvSpPr/>
          <p:nvPr/>
        </p:nvSpPr>
        <p:spPr>
          <a:xfrm>
            <a:off x="6233008" y="1682495"/>
            <a:ext cx="5410048" cy="694944"/>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9" name="Text 7"/>
          <p:cNvSpPr txBox="1"/>
          <p:nvPr/>
        </p:nvSpPr>
        <p:spPr>
          <a:xfrm>
            <a:off x="6434176" y="1682495"/>
            <a:ext cx="5044288" cy="694944"/>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Ikigo cya kanseri</a:t>
            </a:r>
            <a:endParaRPr lang="rw-RW" sz="1200" dirty="0"/>
          </a:p>
        </p:txBody>
      </p:sp>
      <p:sp>
        <p:nvSpPr>
          <p:cNvPr id="10" name="Shape 8"/>
          <p:cNvSpPr/>
          <p:nvPr/>
        </p:nvSpPr>
        <p:spPr>
          <a:xfrm>
            <a:off x="548640" y="2432304"/>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49808" y="243230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Umuvuzi gakondo gusa</a:t>
            </a:r>
            <a:endParaRPr lang="rw-RW" sz="1800" dirty="0"/>
          </a:p>
        </p:txBody>
      </p:sp>
      <p:sp>
        <p:nvSpPr>
          <p:cNvPr id="12" name="Shape 10"/>
          <p:cNvSpPr/>
          <p:nvPr/>
        </p:nvSpPr>
        <p:spPr>
          <a:xfrm>
            <a:off x="6233008" y="2432304"/>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43230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Nta hantu na hamwe bizanyura</a:t>
            </a:r>
            <a:endParaRPr lang="rw-RW" sz="1800" dirty="0"/>
          </a:p>
        </p:txBody>
      </p:sp>
      <p:sp>
        <p:nvSpPr>
          <p:cNvPr id="14" name="Text 12"/>
          <p:cNvSpPr txBox="1"/>
          <p:nvPr/>
        </p:nvSpPr>
        <p:spPr>
          <a:xfrm>
            <a:off x="548640" y="2944368"/>
            <a:ext cx="11094415" cy="585216"/>
          </a:xfrm>
          <a:prstGeom prst="rect">
            <a:avLst/>
          </a:prstGeom>
          <a:noFill/>
          <a:ln/>
        </p:spPr>
        <p:txBody>
          <a:bodyPr wrap="square" lIns="0" tIns="0" rIns="0" bIns="0" rtlCol="0" anchor="t">
            <a:normAutofit/>
          </a:bodyPr>
          <a:lstStyle/>
          <a:p>
            <a:pPr marL="0" indent="0">
              <a:buNone/>
            </a:pPr>
            <a:r>
              <a:rPr lang="rw-RW" sz="1800" b="1" dirty="0">
                <a:solidFill>
                  <a:srgbClr val="1B6B41"/>
                </a:solidFill>
                <a:latin typeface="Calibri" pitchFamily="34" charset="0"/>
                <a:ea typeface="Calibri" pitchFamily="34" charset="-122"/>
                <a:cs typeface="Calibri" pitchFamily="34" charset="-120"/>
              </a:rPr>
              <a:t>Igisubizo nyacyo: A. </a:t>
            </a:r>
            <a:r>
              <a:rPr lang="rw-RW" sz="1800" b="0" dirty="0">
                <a:solidFill>
                  <a:srgbClr val="17335F"/>
                </a:solidFill>
                <a:latin typeface="Calibri"/>
              </a:rPr>
              <a:t>Aho umuntu abanza kujya ni ku ivuriro rito cyangwa ku kigo nderabuzima; bamwohereza ahandi iyo bibaye ngombwa.</a:t>
            </a:r>
            <a:endParaRPr lang="rw-RW" sz="1150" dirty="0"/>
          </a:p>
        </p:txBody>
      </p:sp>
      <p:sp>
        <p:nvSpPr>
          <p:cNvPr id="15" name="Text 13"/>
          <p:cNvSpPr txBox="1"/>
          <p:nvPr/>
        </p:nvSpPr>
        <p:spPr>
          <a:xfrm>
            <a:off x="548640" y="3822191"/>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Q2. "Niba ari kanseri, nta kintu na kimwe gishobora gukorwa" ni:</a:t>
            </a:r>
            <a:endParaRPr lang="rw-RW" sz="1700" dirty="0"/>
          </a:p>
        </p:txBody>
      </p:sp>
      <p:sp>
        <p:nvSpPr>
          <p:cNvPr id="16" name="Shape 14"/>
          <p:cNvSpPr/>
          <p:nvPr/>
        </p:nvSpPr>
        <p:spPr>
          <a:xfrm>
            <a:off x="548640" y="4206240"/>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7" name="Text 15"/>
          <p:cNvSpPr txBox="1"/>
          <p:nvPr/>
        </p:nvSpPr>
        <p:spPr>
          <a:xfrm>
            <a:off x="749808" y="4206240"/>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Ukuri</a:t>
            </a:r>
            <a:endParaRPr lang="rw-RW" sz="1800" dirty="0"/>
          </a:p>
        </p:txBody>
      </p:sp>
      <p:sp>
        <p:nvSpPr>
          <p:cNvPr id="18" name="Shape 16"/>
          <p:cNvSpPr/>
          <p:nvPr/>
        </p:nvSpPr>
        <p:spPr>
          <a:xfrm>
            <a:off x="6233008" y="4206240"/>
            <a:ext cx="5410048" cy="420623"/>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19" name="Text 17"/>
          <p:cNvSpPr txBox="1"/>
          <p:nvPr/>
        </p:nvSpPr>
        <p:spPr>
          <a:xfrm>
            <a:off x="6434176" y="4206240"/>
            <a:ext cx="5044288" cy="420623"/>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Inama nziza yo gusubiramo</a:t>
            </a:r>
            <a:endParaRPr lang="rw-RW" sz="1200" dirty="0"/>
          </a:p>
        </p:txBody>
      </p:sp>
      <p:sp>
        <p:nvSpPr>
          <p:cNvPr id="20" name="Shape 18"/>
          <p:cNvSpPr/>
          <p:nvPr/>
        </p:nvSpPr>
        <p:spPr>
          <a:xfrm>
            <a:off x="548640" y="4681727"/>
            <a:ext cx="5410048" cy="694944"/>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21" name="Text 19"/>
          <p:cNvSpPr txBox="1"/>
          <p:nvPr/>
        </p:nvSpPr>
        <p:spPr>
          <a:xfrm>
            <a:off x="749808" y="4681727"/>
            <a:ext cx="5044288" cy="694944"/>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C. Iyi ni imyizerere itari yo igomba gukosorwa mu buryo bwiza ✓</a:t>
            </a:r>
            <a:endParaRPr lang="rw-RW" sz="1800" dirty="0"/>
          </a:p>
        </p:txBody>
      </p:sp>
      <p:sp>
        <p:nvSpPr>
          <p:cNvPr id="22" name="Shape 20"/>
          <p:cNvSpPr/>
          <p:nvPr/>
        </p:nvSpPr>
        <p:spPr>
          <a:xfrm>
            <a:off x="6233008" y="4681727"/>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3" name="Text 21"/>
          <p:cNvSpPr txBox="1"/>
          <p:nvPr/>
        </p:nvSpPr>
        <p:spPr>
          <a:xfrm>
            <a:off x="6434176" y="4681727"/>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Ni ukuri gusa ku bagore</a:t>
            </a:r>
            <a:endParaRPr lang="rw-RW" sz="1800" dirty="0"/>
          </a:p>
        </p:txBody>
      </p:sp>
      <p:sp>
        <p:nvSpPr>
          <p:cNvPr id="24" name="Text 22"/>
          <p:cNvSpPr txBox="1"/>
          <p:nvPr/>
        </p:nvSpPr>
        <p:spPr>
          <a:xfrm>
            <a:off x="548640" y="5468112"/>
            <a:ext cx="11094415" cy="310896"/>
          </a:xfrm>
          <a:prstGeom prst="rect">
            <a:avLst/>
          </a:prstGeom>
          <a:noFill/>
          <a:ln/>
        </p:spPr>
        <p:txBody>
          <a:bodyPr wrap="square" lIns="0" tIns="0" rIns="0" bIns="0" rtlCol="0" anchor="t"/>
          <a:lstStyle/>
          <a:p>
            <a:pPr marL="0" indent="0">
              <a:buNone/>
            </a:pPr>
            <a:r>
              <a:rPr lang="rw-RW" sz="1800" b="1" dirty="0">
                <a:solidFill>
                  <a:srgbClr val="1B6B41"/>
                </a:solidFill>
                <a:latin typeface="Calibri" pitchFamily="34" charset="0"/>
                <a:ea typeface="Calibri" pitchFamily="34" charset="-122"/>
                <a:cs typeface="Calibri" pitchFamily="34" charset="-120"/>
              </a:rPr>
              <a:t>Igisubizo nyacyo: C. </a:t>
            </a:r>
            <a:r>
              <a:rPr lang="rw-RW" sz="1800" dirty="0">
                <a:solidFill>
                  <a:srgbClr val="17335F"/>
                </a:solidFill>
                <a:latin typeface="Calibri" pitchFamily="34" charset="0"/>
                <a:ea typeface="Calibri" pitchFamily="34" charset="-122"/>
                <a:cs typeface="Calibri" pitchFamily="34" charset="-120"/>
              </a:rPr>
              <a:t>Kuvura no kwitabwaho birahari. Kosora imyizerere utiriwe utinya umuntu.</a:t>
            </a:r>
            <a:endParaRPr lang="rw-RW" sz="1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3</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Isuzuma bumenyi (2 kuri 3)</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Q3. Kuganira neza ku bimenyetso byo mu mara bisobanura:</a:t>
            </a:r>
            <a:endParaRPr lang="rw-RW" sz="1700" dirty="0"/>
          </a:p>
        </p:txBody>
      </p:sp>
      <p:sp>
        <p:nvSpPr>
          <p:cNvPr id="6" name="Shape 4"/>
          <p:cNvSpPr/>
          <p:nvPr/>
        </p:nvSpPr>
        <p:spPr>
          <a:xfrm>
            <a:off x="548640" y="1682495"/>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694944"/>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Kuganira imbere y'umuryango utabanje kubaza</a:t>
            </a:r>
            <a:endParaRPr lang="rw-RW" sz="1200" dirty="0"/>
          </a:p>
        </p:txBody>
      </p:sp>
      <p:sp>
        <p:nvSpPr>
          <p:cNvPr id="8" name="Shape 6"/>
          <p:cNvSpPr/>
          <p:nvPr/>
        </p:nvSpPr>
        <p:spPr>
          <a:xfrm>
            <a:off x="6233008" y="1682495"/>
            <a:ext cx="5410048" cy="694944"/>
          </a:xfrm>
          <a:prstGeom prst="roundRect">
            <a:avLst>
              <a:gd name="adj" fmla="val 19231"/>
            </a:avLst>
          </a:prstGeom>
          <a:solidFill>
            <a:srgbClr val="E9F5EC"/>
          </a:solidFill>
          <a:ln w="12700">
            <a:solidFill>
              <a:srgbClr val="AFD8BE"/>
            </a:solidFill>
            <a:prstDash val="solid"/>
          </a:ln>
        </p:spPr>
        <p:txBody>
          <a:bodyPr/>
          <a:lstStyle/>
          <a:p>
            <a:endParaRPr lang="rw-RW" dirty="0"/>
          </a:p>
        </p:txBody>
      </p:sp>
      <p:sp>
        <p:nvSpPr>
          <p:cNvPr id="9" name="Text 7"/>
          <p:cNvSpPr txBox="1"/>
          <p:nvPr/>
        </p:nvSpPr>
        <p:spPr>
          <a:xfrm>
            <a:off x="6434176" y="1682495"/>
            <a:ext cx="5044288" cy="694944"/>
          </a:xfrm>
          <a:prstGeom prst="rect">
            <a:avLst/>
          </a:prstGeom>
          <a:noFill/>
          <a:ln/>
        </p:spPr>
        <p:txBody>
          <a:bodyPr wrap="square" lIns="0" tIns="0" rIns="0" bIns="0" rtlCol="0" anchor="ctr">
            <a:normAutofit/>
          </a:bodyPr>
          <a:lstStyle/>
          <a:p>
            <a:pPr marL="0" indent="0">
              <a:buNone/>
            </a:pPr>
            <a:r>
              <a:rPr lang="rw-RW" sz="1800" b="1" dirty="0">
                <a:solidFill>
                  <a:srgbClr val="1B6B41"/>
                </a:solidFill>
                <a:latin typeface="Calibri" pitchFamily="34" charset="0"/>
                <a:ea typeface="Calibri" pitchFamily="34" charset="-122"/>
                <a:cs typeface="Calibri" pitchFamily="34" charset="-120"/>
              </a:rPr>
              <a:t>B. Gutega amatwi, kubishyira mu ibanga, no gushishikariza abantu kwisuzumisha ✓</a:t>
            </a:r>
            <a:endParaRPr lang="rw-RW" sz="1200" dirty="0"/>
          </a:p>
        </p:txBody>
      </p:sp>
      <p:sp>
        <p:nvSpPr>
          <p:cNvPr id="10" name="Shape 8"/>
          <p:cNvSpPr/>
          <p:nvPr/>
        </p:nvSpPr>
        <p:spPr>
          <a:xfrm>
            <a:off x="548640" y="2432304"/>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49808" y="243230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Gukoresha ubwoba kugira ngo umuntu agende</a:t>
            </a:r>
            <a:endParaRPr lang="rw-RW" sz="1800" dirty="0"/>
          </a:p>
        </p:txBody>
      </p:sp>
      <p:sp>
        <p:nvSpPr>
          <p:cNvPr id="12" name="Shape 10"/>
          <p:cNvSpPr/>
          <p:nvPr/>
        </p:nvSpPr>
        <p:spPr>
          <a:xfrm>
            <a:off x="6233008" y="2432304"/>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43230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Kubwira umuntu ko nta kintu na kimwe</a:t>
            </a:r>
            <a:endParaRPr lang="rw-RW" sz="1800" dirty="0"/>
          </a:p>
        </p:txBody>
      </p:sp>
      <p:sp>
        <p:nvSpPr>
          <p:cNvPr id="14" name="Text 12"/>
          <p:cNvSpPr txBox="1"/>
          <p:nvPr/>
        </p:nvSpPr>
        <p:spPr>
          <a:xfrm>
            <a:off x="548640" y="2944368"/>
            <a:ext cx="11094415" cy="310896"/>
          </a:xfrm>
          <a:prstGeom prst="rect">
            <a:avLst/>
          </a:prstGeom>
          <a:noFill/>
          <a:ln/>
        </p:spPr>
        <p:txBody>
          <a:bodyPr wrap="square" lIns="0" tIns="0" rIns="0" bIns="0" rtlCol="0" anchor="t"/>
          <a:lstStyle/>
          <a:p>
            <a:pPr marL="0" indent="0">
              <a:buNone/>
            </a:pPr>
            <a:r>
              <a:rPr lang="rw-RW" sz="1800" b="1" dirty="0">
                <a:solidFill>
                  <a:srgbClr val="1B6B41"/>
                </a:solidFill>
                <a:latin typeface="Calibri" pitchFamily="34" charset="0"/>
                <a:ea typeface="Calibri" pitchFamily="34" charset="-122"/>
                <a:cs typeface="Calibri" pitchFamily="34" charset="-120"/>
              </a:rPr>
              <a:t>Igisubizo cy'ukuri: B. </a:t>
            </a:r>
            <a:r>
              <a:rPr lang="rw-RW" sz="1800" dirty="0">
                <a:solidFill>
                  <a:srgbClr val="17335F"/>
                </a:solidFill>
                <a:latin typeface="Calibri" pitchFamily="34" charset="0"/>
                <a:ea typeface="Calibri" pitchFamily="34" charset="-122"/>
                <a:cs typeface="Calibri" pitchFamily="34" charset="-120"/>
              </a:rPr>
              <a:t>Kumwubaha no kubika ibanga bituma umuntu ashobora cyane kugenda.</a:t>
            </a:r>
            <a:endParaRPr lang="rw-RW" sz="1800" dirty="0"/>
          </a:p>
        </p:txBody>
      </p:sp>
      <p:sp>
        <p:nvSpPr>
          <p:cNvPr id="15" name="Text 13"/>
          <p:cNvSpPr txBox="1"/>
          <p:nvPr/>
        </p:nvSpPr>
        <p:spPr>
          <a:xfrm>
            <a:off x="548640" y="3547872"/>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Q4. Nyuma yo koherezwa, akazi kawe ni:</a:t>
            </a:r>
            <a:endParaRPr lang="rw-RW" sz="1700" dirty="0"/>
          </a:p>
        </p:txBody>
      </p:sp>
      <p:sp>
        <p:nvSpPr>
          <p:cNvPr id="16" name="Shape 14"/>
          <p:cNvSpPr/>
          <p:nvPr/>
        </p:nvSpPr>
        <p:spPr>
          <a:xfrm>
            <a:off x="548640" y="3931920"/>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7" name="Text 15"/>
          <p:cNvSpPr txBox="1"/>
          <p:nvPr/>
        </p:nvSpPr>
        <p:spPr>
          <a:xfrm>
            <a:off x="749808" y="3931920"/>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Kora ibizamini</a:t>
            </a:r>
            <a:endParaRPr lang="rw-RW" sz="1800" dirty="0"/>
          </a:p>
        </p:txBody>
      </p:sp>
      <p:sp>
        <p:nvSpPr>
          <p:cNvPr id="18" name="Shape 16"/>
          <p:cNvSpPr/>
          <p:nvPr/>
        </p:nvSpPr>
        <p:spPr>
          <a:xfrm>
            <a:off x="6233008" y="3931920"/>
            <a:ext cx="5410048" cy="420623"/>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19" name="Text 17"/>
          <p:cNvSpPr txBox="1"/>
          <p:nvPr/>
        </p:nvSpPr>
        <p:spPr>
          <a:xfrm>
            <a:off x="6434176" y="3931920"/>
            <a:ext cx="5044288" cy="420623"/>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Hitamo uburyo bwo kuvura</a:t>
            </a:r>
            <a:endParaRPr lang="rw-RW" sz="1200" dirty="0"/>
          </a:p>
        </p:txBody>
      </p:sp>
      <p:sp>
        <p:nvSpPr>
          <p:cNvPr id="20" name="Shape 18"/>
          <p:cNvSpPr/>
          <p:nvPr/>
        </p:nvSpPr>
        <p:spPr>
          <a:xfrm>
            <a:off x="548640" y="4407408"/>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1" name="Text 19"/>
          <p:cNvSpPr txBox="1"/>
          <p:nvPr/>
        </p:nvSpPr>
        <p:spPr>
          <a:xfrm>
            <a:off x="749808" y="4407408"/>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Hagarika gusura uwo muntu</a:t>
            </a:r>
            <a:endParaRPr lang="rw-RW" sz="1800" dirty="0"/>
          </a:p>
        </p:txBody>
      </p:sp>
      <p:sp>
        <p:nvSpPr>
          <p:cNvPr id="22" name="Shape 20"/>
          <p:cNvSpPr/>
          <p:nvPr/>
        </p:nvSpPr>
        <p:spPr>
          <a:xfrm>
            <a:off x="6233008" y="4407408"/>
            <a:ext cx="5410048" cy="694944"/>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23" name="Text 21"/>
          <p:cNvSpPr txBox="1"/>
          <p:nvPr/>
        </p:nvSpPr>
        <p:spPr>
          <a:xfrm>
            <a:off x="6434176" y="4407408"/>
            <a:ext cx="5044288" cy="694944"/>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D. Gushishikariza umuntu kwitabira no kugaruka gufata ibisubizo ✓</a:t>
            </a:r>
            <a:endParaRPr lang="rw-RW" sz="1800" dirty="0"/>
          </a:p>
        </p:txBody>
      </p:sp>
      <p:sp>
        <p:nvSpPr>
          <p:cNvPr id="24" name="Text 22"/>
          <p:cNvSpPr txBox="1"/>
          <p:nvPr/>
        </p:nvSpPr>
        <p:spPr>
          <a:xfrm>
            <a:off x="548640" y="5193792"/>
            <a:ext cx="11094415" cy="310896"/>
          </a:xfrm>
          <a:prstGeom prst="rect">
            <a:avLst/>
          </a:prstGeom>
          <a:noFill/>
          <a:ln/>
        </p:spPr>
        <p:txBody>
          <a:bodyPr wrap="square" lIns="0" tIns="0" rIns="0" bIns="0" rtlCol="0" anchor="t"/>
          <a:lstStyle/>
          <a:p>
            <a:pPr marL="0" indent="0">
              <a:buNone/>
            </a:pPr>
            <a:r>
              <a:rPr lang="rw-RW" sz="1800" b="1" dirty="0">
                <a:solidFill>
                  <a:srgbClr val="1B6B41"/>
                </a:solidFill>
                <a:latin typeface="Calibri" pitchFamily="34" charset="0"/>
                <a:ea typeface="Calibri" pitchFamily="34" charset="-122"/>
                <a:cs typeface="Calibri" pitchFamily="34" charset="-120"/>
              </a:rPr>
              <a:t>Ukuri: D. </a:t>
            </a:r>
            <a:r>
              <a:rPr lang="rw-RW" sz="1800" dirty="0">
                <a:solidFill>
                  <a:srgbClr val="17335F"/>
                </a:solidFill>
                <a:latin typeface="Calibri" pitchFamily="34" charset="0"/>
                <a:ea typeface="Calibri" pitchFamily="34" charset="-122"/>
                <a:cs typeface="Calibri" pitchFamily="34" charset="-120"/>
              </a:rPr>
              <a:t>Gushyigikira kwitabira no gukurikirana ni igice cy'ingenzi cy'uruhare rwa CHW.</a:t>
            </a:r>
            <a:endParaRPr lang="rw-RW" sz="1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3</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Isuzuma bumenyi (3 kuri 3)</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Umujyanama w'ubuzima | Ikigo cy'Igihugu gishinzwe Ubuvuzi (Rwanda Biomedical Centre)</a:t>
            </a:r>
            <a:endParaRPr lang="rw-RW" sz="1100" dirty="0"/>
          </a:p>
        </p:txBody>
      </p:sp>
      <p:sp>
        <p:nvSpPr>
          <p:cNvPr id="5" name="Text 3"/>
          <p:cNvSpPr txBox="1"/>
          <p:nvPr/>
        </p:nvSpPr>
        <p:spPr>
          <a:xfrm>
            <a:off x="548640" y="1298448"/>
            <a:ext cx="11094415" cy="603503"/>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Ikibazo cya 5. Umuntu ntashobora gusohora umusarane cyangwa gaz, araruka, kandi afite inda yabyimbye. Ugomba ko:</a:t>
            </a:r>
            <a:endParaRPr lang="rw-RW" sz="1150" dirty="0"/>
          </a:p>
        </p:txBody>
      </p:sp>
      <p:sp>
        <p:nvSpPr>
          <p:cNvPr id="6" name="Shape 4"/>
          <p:cNvSpPr/>
          <p:nvPr/>
        </p:nvSpPr>
        <p:spPr>
          <a:xfrm>
            <a:off x="548640" y="1956815"/>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7" name="Text 5"/>
          <p:cNvSpPr txBox="1"/>
          <p:nvPr/>
        </p:nvSpPr>
        <p:spPr>
          <a:xfrm>
            <a:off x="749808" y="1956815"/>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Tegereza inama itaha y'umuryango</a:t>
            </a:r>
            <a:endParaRPr lang="rw-RW" sz="1800" dirty="0"/>
          </a:p>
        </p:txBody>
      </p:sp>
      <p:sp>
        <p:nvSpPr>
          <p:cNvPr id="8" name="Shape 6"/>
          <p:cNvSpPr/>
          <p:nvPr/>
        </p:nvSpPr>
        <p:spPr>
          <a:xfrm>
            <a:off x="6233008" y="1956815"/>
            <a:ext cx="5410048" cy="694944"/>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9" name="Text 7"/>
          <p:cNvSpPr txBox="1"/>
          <p:nvPr/>
        </p:nvSpPr>
        <p:spPr>
          <a:xfrm>
            <a:off x="6434176" y="1956815"/>
            <a:ext cx="5044288" cy="694944"/>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Gira inama andi mazi kandi utegereze icyumweru kimwe</a:t>
            </a:r>
            <a:endParaRPr lang="rw-RW" sz="1200" dirty="0"/>
          </a:p>
        </p:txBody>
      </p:sp>
      <p:sp>
        <p:nvSpPr>
          <p:cNvPr id="10" name="Shape 8"/>
          <p:cNvSpPr/>
          <p:nvPr/>
        </p:nvSpPr>
        <p:spPr>
          <a:xfrm>
            <a:off x="548640" y="2706624"/>
            <a:ext cx="5410048" cy="694944"/>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11" name="Text 9"/>
          <p:cNvSpPr txBox="1"/>
          <p:nvPr/>
        </p:nvSpPr>
        <p:spPr>
          <a:xfrm>
            <a:off x="749808" y="2706624"/>
            <a:ext cx="5044288" cy="694944"/>
          </a:xfrm>
          <a:prstGeom prst="rect">
            <a:avLst/>
          </a:prstGeom>
          <a:noFill/>
          <a:ln/>
        </p:spPr>
        <p:txBody>
          <a:bodyPr wrap="square" lIns="0" tIns="0" rIns="0" bIns="0" rtlCol="0" anchor="ctr">
            <a:normAutofit/>
          </a:bodyPr>
          <a:lstStyle/>
          <a:p>
            <a:pPr marL="0" indent="0">
              <a:buNone/>
            </a:pPr>
            <a:r>
              <a:rPr lang="rw-RW" sz="1800" b="1" dirty="0">
                <a:solidFill>
                  <a:srgbClr val="1B6B41"/>
                </a:solidFill>
                <a:latin typeface="Calibri" pitchFamily="34" charset="0"/>
                <a:ea typeface="Calibri" pitchFamily="34" charset="-122"/>
                <a:cs typeface="Calibri" pitchFamily="34" charset="-120"/>
              </a:rPr>
              <a:t>C. Ufasha uwo muntu kugera aho bamuvura kuri uwo munsi ✓</a:t>
            </a:r>
            <a:endParaRPr lang="rw-RW" sz="1200" dirty="0"/>
          </a:p>
        </p:txBody>
      </p:sp>
      <p:sp>
        <p:nvSpPr>
          <p:cNvPr id="12" name="Shape 10"/>
          <p:cNvSpPr/>
          <p:nvPr/>
        </p:nvSpPr>
        <p:spPr>
          <a:xfrm>
            <a:off x="6233008" y="2706624"/>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706624"/>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Umuhe wowe imiti yoroshya inda (laxative)</a:t>
            </a:r>
            <a:endParaRPr lang="rw-RW" sz="1800" dirty="0"/>
          </a:p>
        </p:txBody>
      </p:sp>
      <p:sp>
        <p:nvSpPr>
          <p:cNvPr id="14" name="Text 12"/>
          <p:cNvSpPr txBox="1"/>
          <p:nvPr/>
        </p:nvSpPr>
        <p:spPr>
          <a:xfrm>
            <a:off x="548640" y="3493008"/>
            <a:ext cx="11094415" cy="310896"/>
          </a:xfrm>
          <a:prstGeom prst="rect">
            <a:avLst/>
          </a:prstGeom>
          <a:noFill/>
          <a:ln/>
        </p:spPr>
        <p:txBody>
          <a:bodyPr wrap="square" lIns="0" tIns="0" rIns="0" bIns="0" rtlCol="0" anchor="t">
            <a:normAutofit/>
          </a:bodyPr>
          <a:lstStyle/>
          <a:p>
            <a:pPr marL="0" indent="0">
              <a:buNone/>
            </a:pPr>
            <a:r>
              <a:rPr lang="rw-RW" sz="1800" b="1" dirty="0">
                <a:solidFill>
                  <a:srgbClr val="1B6B41"/>
                </a:solidFill>
                <a:latin typeface="Calibri" pitchFamily="34" charset="0"/>
                <a:ea typeface="Calibri" pitchFamily="34" charset="-122"/>
                <a:cs typeface="Calibri" pitchFamily="34" charset="-120"/>
              </a:rPr>
              <a:t>Ukuri: C. </a:t>
            </a:r>
            <a:r>
              <a:rPr lang="rw-RW" sz="1800" dirty="0">
                <a:solidFill>
                  <a:srgbClr val="17335F"/>
                </a:solidFill>
                <a:latin typeface="Calibri" pitchFamily="34" charset="0"/>
                <a:ea typeface="Calibri" pitchFamily="34" charset="-122"/>
                <a:cs typeface="Calibri" pitchFamily="34" charset="-120"/>
              </a:rPr>
              <a:t>Ibi bimenyetso byerekana ko amara ashobora kuba yarafunze, ibi bikaba ari ibintu byihutirwa.</a:t>
            </a:r>
            <a:endParaRPr lang="rw-RW" sz="11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3</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Kwitekerezaho ku isomo</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Umujyanama w'ubuzima | Ikigo cy'Igihugu gishinzwe Ubuvuzi (Rwanda Biomedical Centre)</a:t>
            </a:r>
            <a:endParaRPr lang="rw-RW" sz="1100" dirty="0"/>
          </a:p>
        </p:txBody>
      </p:sp>
      <p:sp>
        <p:nvSpPr>
          <p:cNvPr id="5" name="Text 3"/>
          <p:cNvSpPr txBox="1"/>
          <p:nvPr/>
        </p:nvSpPr>
        <p:spPr>
          <a:xfrm>
            <a:off x="548640" y="1280160"/>
            <a:ext cx="11094415" cy="457200"/>
          </a:xfrm>
          <a:prstGeom prst="rect">
            <a:avLst/>
          </a:prstGeom>
          <a:noFill/>
          <a:ln/>
        </p:spPr>
        <p:txBody>
          <a:bodyPr wrap="square" lIns="0" tIns="0" rIns="0" bIns="0" rtlCol="0" anchor="ctr">
            <a:normAutofit/>
          </a:bodyPr>
          <a:lstStyle/>
          <a:p>
            <a:pPr marL="0" indent="0">
              <a:buNone/>
            </a:pPr>
            <a:r>
              <a:rPr lang="rw-RW" sz="1150" i="1" dirty="0">
                <a:solidFill>
                  <a:srgbClr val="6B7A90"/>
                </a:solidFill>
                <a:latin typeface="Calibri" pitchFamily="34" charset="0"/>
                <a:ea typeface="Calibri" pitchFamily="34" charset="-122"/>
                <a:cs typeface="Calibri" pitchFamily="34" charset="-120"/>
              </a:rPr>
              <a:t>Andika igisubizo cyawe mu kazu kanditse. Nta gisubizo kimwe cyonyine ari cyo cy'ukuri. Ibi bibazo ni ukugira ngo wimenyereze wowe ubwawe no kugira ngo muganire. Ntibihabwa amanota.</a:t>
            </a:r>
            <a:endParaRPr lang="rw-RW" sz="1150" dirty="0"/>
          </a:p>
        </p:txBody>
      </p:sp>
      <p:sp>
        <p:nvSpPr>
          <p:cNvPr id="6" name="Shape 4"/>
          <p:cNvSpPr/>
          <p:nvPr/>
        </p:nvSpPr>
        <p:spPr>
          <a:xfrm>
            <a:off x="548640" y="1920240"/>
            <a:ext cx="11094415" cy="1051560"/>
          </a:xfrm>
          <a:prstGeom prst="roundRect">
            <a:avLst>
              <a:gd name="adj" fmla="val 8696"/>
            </a:avLst>
          </a:prstGeom>
          <a:solidFill>
            <a:srgbClr val="F2F7FD"/>
          </a:solidFill>
          <a:ln w="12700">
            <a:solidFill>
              <a:srgbClr val="CBDDF3"/>
            </a:solidFill>
            <a:prstDash val="solid"/>
          </a:ln>
        </p:spPr>
        <p:txBody>
          <a:bodyPr/>
          <a:lstStyle/>
          <a:p>
            <a:endParaRPr lang="rw-RW" dirty="0"/>
          </a:p>
        </p:txBody>
      </p:sp>
      <p:sp>
        <p:nvSpPr>
          <p:cNvPr id="7" name="Shape 5"/>
          <p:cNvSpPr/>
          <p:nvPr/>
        </p:nvSpPr>
        <p:spPr>
          <a:xfrm>
            <a:off x="777240" y="2221992"/>
            <a:ext cx="438912" cy="438912"/>
          </a:xfrm>
          <a:prstGeom prst="ellipse">
            <a:avLst/>
          </a:prstGeom>
          <a:solidFill>
            <a:srgbClr val="12305B"/>
          </a:solidFill>
          <a:ln/>
        </p:spPr>
        <p:txBody>
          <a:bodyPr/>
          <a:lstStyle/>
          <a:p>
            <a:endParaRPr lang="rw-RW" dirty="0"/>
          </a:p>
        </p:txBody>
      </p:sp>
      <p:sp>
        <p:nvSpPr>
          <p:cNvPr id="8" name="Text 6"/>
          <p:cNvSpPr txBox="1"/>
          <p:nvPr/>
        </p:nvSpPr>
        <p:spPr>
          <a:xfrm>
            <a:off x="777240" y="2221992"/>
            <a:ext cx="438912" cy="438912"/>
          </a:xfrm>
          <a:prstGeom prst="rect">
            <a:avLst/>
          </a:prstGeom>
          <a:noFill/>
          <a:ln/>
        </p:spPr>
        <p:txBody>
          <a:bodyPr wrap="square" lIns="0" tIns="0" rIns="0" bIns="0" rtlCol="0" anchor="ctr"/>
          <a:lstStyle/>
          <a:p>
            <a:pPr marL="0" indent="0" algn="ctr">
              <a:buNone/>
            </a:pPr>
            <a:r>
              <a:rPr lang="rw-RW" sz="1700" b="1" dirty="0">
                <a:solidFill>
                  <a:srgbClr val="FFFFFF"/>
                </a:solidFill>
                <a:latin typeface="Calibri" pitchFamily="34" charset="0"/>
                <a:ea typeface="Calibri" pitchFamily="34" charset="-122"/>
                <a:cs typeface="Calibri" pitchFamily="34" charset="-120"/>
              </a:rPr>
              <a:t>1</a:t>
            </a:r>
            <a:endParaRPr lang="rw-RW" sz="1700" dirty="0"/>
          </a:p>
        </p:txBody>
      </p:sp>
      <p:sp>
        <p:nvSpPr>
          <p:cNvPr id="9" name="Text 7"/>
          <p:cNvSpPr txBox="1"/>
          <p:nvPr/>
        </p:nvSpPr>
        <p:spPr>
          <a:xfrm>
            <a:off x="1417320" y="2057400"/>
            <a:ext cx="9905695" cy="777240"/>
          </a:xfrm>
          <a:prstGeom prst="rect">
            <a:avLst/>
          </a:prstGeom>
          <a:noFill/>
          <a:ln/>
        </p:spPr>
        <p:txBody>
          <a:bodyPr wrap="square" lIns="0" tIns="0" rIns="0" bIns="0" rtlCol="0" anchor="ctr"/>
          <a:lstStyle/>
          <a:p>
            <a:pPr marL="0" indent="0">
              <a:lnSpc>
                <a:spcPct val="105000"/>
              </a:lnSpc>
              <a:buNone/>
            </a:pPr>
            <a:r>
              <a:rPr lang="rw-RW" sz="1900" dirty="0">
                <a:solidFill>
                  <a:srgbClr val="17335F"/>
                </a:solidFill>
                <a:latin typeface="Calibri" pitchFamily="34" charset="0"/>
                <a:ea typeface="Calibri" pitchFamily="34" charset="-122"/>
                <a:cs typeface="Calibri" pitchFamily="34" charset="-120"/>
              </a:rPr>
              <a:t>Ni gute wafasha umuntu kugera aho yoherejwe no kurangiza inzira yo koherezwa mu gihe ikigo kiri kure kandi amafaranga ari make?</a:t>
            </a:r>
            <a:endParaRPr lang="rw-RW" sz="1900" dirty="0"/>
          </a:p>
        </p:txBody>
      </p:sp>
      <p:sp>
        <p:nvSpPr>
          <p:cNvPr id="10" name="Shape 8"/>
          <p:cNvSpPr/>
          <p:nvPr/>
        </p:nvSpPr>
        <p:spPr>
          <a:xfrm>
            <a:off x="548640" y="3154680"/>
            <a:ext cx="11094415" cy="1051560"/>
          </a:xfrm>
          <a:prstGeom prst="roundRect">
            <a:avLst>
              <a:gd name="adj" fmla="val 8696"/>
            </a:avLst>
          </a:prstGeom>
          <a:solidFill>
            <a:srgbClr val="F2F7FD"/>
          </a:solidFill>
          <a:ln w="12700">
            <a:solidFill>
              <a:srgbClr val="CBDDF3"/>
            </a:solidFill>
            <a:prstDash val="solid"/>
          </a:ln>
        </p:spPr>
        <p:txBody>
          <a:bodyPr/>
          <a:lstStyle/>
          <a:p>
            <a:endParaRPr lang="rw-RW" dirty="0"/>
          </a:p>
        </p:txBody>
      </p:sp>
      <p:sp>
        <p:nvSpPr>
          <p:cNvPr id="11" name="Shape 9"/>
          <p:cNvSpPr/>
          <p:nvPr/>
        </p:nvSpPr>
        <p:spPr>
          <a:xfrm>
            <a:off x="777240" y="3456432"/>
            <a:ext cx="438912" cy="438912"/>
          </a:xfrm>
          <a:prstGeom prst="ellipse">
            <a:avLst/>
          </a:prstGeom>
          <a:solidFill>
            <a:srgbClr val="12305B"/>
          </a:solidFill>
          <a:ln/>
        </p:spPr>
        <p:txBody>
          <a:bodyPr/>
          <a:lstStyle/>
          <a:p>
            <a:endParaRPr lang="rw-RW" dirty="0"/>
          </a:p>
        </p:txBody>
      </p:sp>
      <p:sp>
        <p:nvSpPr>
          <p:cNvPr id="12" name="Text 10"/>
          <p:cNvSpPr txBox="1"/>
          <p:nvPr/>
        </p:nvSpPr>
        <p:spPr>
          <a:xfrm>
            <a:off x="777240" y="3456432"/>
            <a:ext cx="438912" cy="438912"/>
          </a:xfrm>
          <a:prstGeom prst="rect">
            <a:avLst/>
          </a:prstGeom>
          <a:noFill/>
          <a:ln/>
        </p:spPr>
        <p:txBody>
          <a:bodyPr wrap="square" lIns="0" tIns="0" rIns="0" bIns="0" rtlCol="0" anchor="ctr"/>
          <a:lstStyle/>
          <a:p>
            <a:pPr marL="0" indent="0" algn="ctr">
              <a:buNone/>
            </a:pPr>
            <a:r>
              <a:rPr lang="rw-RW" sz="1700" b="1" dirty="0">
                <a:solidFill>
                  <a:srgbClr val="FFFFFF"/>
                </a:solidFill>
                <a:latin typeface="Calibri" pitchFamily="34" charset="0"/>
                <a:ea typeface="Calibri" pitchFamily="34" charset="-122"/>
                <a:cs typeface="Calibri" pitchFamily="34" charset="-120"/>
              </a:rPr>
              <a:t>2</a:t>
            </a:r>
            <a:endParaRPr lang="rw-RW" sz="1700" dirty="0"/>
          </a:p>
        </p:txBody>
      </p:sp>
      <p:sp>
        <p:nvSpPr>
          <p:cNvPr id="13" name="Text 11"/>
          <p:cNvSpPr txBox="1"/>
          <p:nvPr/>
        </p:nvSpPr>
        <p:spPr>
          <a:xfrm>
            <a:off x="1417320" y="3291840"/>
            <a:ext cx="9905695" cy="777240"/>
          </a:xfrm>
          <a:prstGeom prst="rect">
            <a:avLst/>
          </a:prstGeom>
          <a:noFill/>
          <a:ln/>
        </p:spPr>
        <p:txBody>
          <a:bodyPr wrap="square" lIns="0" tIns="0" rIns="0" bIns="0" rtlCol="0" anchor="ctr"/>
          <a:lstStyle/>
          <a:p>
            <a:pPr marL="0" indent="0">
              <a:lnSpc>
                <a:spcPct val="105000"/>
              </a:lnSpc>
              <a:buNone/>
            </a:pPr>
            <a:r>
              <a:rPr lang="rw-RW" sz="1900" dirty="0">
                <a:solidFill>
                  <a:srgbClr val="17335F"/>
                </a:solidFill>
                <a:latin typeface="Calibri" pitchFamily="34" charset="0"/>
                <a:ea typeface="Calibri" pitchFamily="34" charset="-122"/>
                <a:cs typeface="Calibri" pitchFamily="34" charset="-120"/>
              </a:rPr>
              <a:t>Ni iki wabwira umuntu ufite ubwoba bw'ibizamini bizagaragaza?</a:t>
            </a:r>
            <a:endParaRPr lang="rw-RW" sz="1900" dirty="0"/>
          </a:p>
        </p:txBody>
      </p:sp>
      <p:sp>
        <p:nvSpPr>
          <p:cNvPr id="14" name="Shape 12"/>
          <p:cNvSpPr/>
          <p:nvPr/>
        </p:nvSpPr>
        <p:spPr>
          <a:xfrm>
            <a:off x="548640" y="4389120"/>
            <a:ext cx="11094415" cy="1051560"/>
          </a:xfrm>
          <a:prstGeom prst="roundRect">
            <a:avLst>
              <a:gd name="adj" fmla="val 8696"/>
            </a:avLst>
          </a:prstGeom>
          <a:solidFill>
            <a:srgbClr val="F2F7FD"/>
          </a:solidFill>
          <a:ln w="12700">
            <a:solidFill>
              <a:srgbClr val="CBDDF3"/>
            </a:solidFill>
            <a:prstDash val="solid"/>
          </a:ln>
        </p:spPr>
        <p:txBody>
          <a:bodyPr/>
          <a:lstStyle/>
          <a:p>
            <a:endParaRPr lang="rw-RW" dirty="0"/>
          </a:p>
        </p:txBody>
      </p:sp>
      <p:sp>
        <p:nvSpPr>
          <p:cNvPr id="15" name="Shape 13"/>
          <p:cNvSpPr/>
          <p:nvPr/>
        </p:nvSpPr>
        <p:spPr>
          <a:xfrm>
            <a:off x="777240" y="4690872"/>
            <a:ext cx="438912" cy="438912"/>
          </a:xfrm>
          <a:prstGeom prst="ellipse">
            <a:avLst/>
          </a:prstGeom>
          <a:solidFill>
            <a:srgbClr val="12305B"/>
          </a:solidFill>
          <a:ln/>
        </p:spPr>
        <p:txBody>
          <a:bodyPr/>
          <a:lstStyle/>
          <a:p>
            <a:endParaRPr lang="rw-RW" dirty="0"/>
          </a:p>
        </p:txBody>
      </p:sp>
      <p:sp>
        <p:nvSpPr>
          <p:cNvPr id="16" name="Text 14"/>
          <p:cNvSpPr txBox="1"/>
          <p:nvPr/>
        </p:nvSpPr>
        <p:spPr>
          <a:xfrm>
            <a:off x="777240" y="4690872"/>
            <a:ext cx="438912" cy="438912"/>
          </a:xfrm>
          <a:prstGeom prst="rect">
            <a:avLst/>
          </a:prstGeom>
          <a:noFill/>
          <a:ln/>
        </p:spPr>
        <p:txBody>
          <a:bodyPr wrap="square" lIns="0" tIns="0" rIns="0" bIns="0" rtlCol="0" anchor="ctr"/>
          <a:lstStyle/>
          <a:p>
            <a:pPr marL="0" indent="0" algn="ctr">
              <a:buNone/>
            </a:pPr>
            <a:r>
              <a:rPr lang="rw-RW" sz="1700" b="1" dirty="0">
                <a:solidFill>
                  <a:srgbClr val="FFFFFF"/>
                </a:solidFill>
                <a:latin typeface="Calibri" pitchFamily="34" charset="0"/>
                <a:ea typeface="Calibri" pitchFamily="34" charset="-122"/>
                <a:cs typeface="Calibri" pitchFamily="34" charset="-120"/>
              </a:rPr>
              <a:t>3</a:t>
            </a:r>
            <a:endParaRPr lang="rw-RW" sz="1700" dirty="0"/>
          </a:p>
        </p:txBody>
      </p:sp>
      <p:sp>
        <p:nvSpPr>
          <p:cNvPr id="17" name="Text 15"/>
          <p:cNvSpPr txBox="1"/>
          <p:nvPr/>
        </p:nvSpPr>
        <p:spPr>
          <a:xfrm>
            <a:off x="1417320" y="4526280"/>
            <a:ext cx="9905695" cy="777240"/>
          </a:xfrm>
          <a:prstGeom prst="rect">
            <a:avLst/>
          </a:prstGeom>
          <a:noFill/>
          <a:ln/>
        </p:spPr>
        <p:txBody>
          <a:bodyPr wrap="square" lIns="0" tIns="0" rIns="0" bIns="0" rtlCol="0" anchor="ctr"/>
          <a:lstStyle/>
          <a:p>
            <a:pPr marL="0" indent="0">
              <a:lnSpc>
                <a:spcPct val="105000"/>
              </a:lnSpc>
              <a:buNone/>
            </a:pPr>
            <a:r>
              <a:rPr lang="rw-RW" sz="1900" dirty="0">
                <a:solidFill>
                  <a:srgbClr val="17335F"/>
                </a:solidFill>
                <a:latin typeface="Calibri" pitchFamily="34" charset="0"/>
                <a:ea typeface="Calibri" pitchFamily="34" charset="-122"/>
                <a:cs typeface="Calibri" pitchFamily="34" charset="-120"/>
              </a:rPr>
              <a:t>Ni iyihe myizerere itari yo kuri kanseri y'amara wifuza gukosora mu gace utuyemo?</a:t>
            </a:r>
            <a:endParaRPr lang="rw-RW" sz="1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2305B"/>
        </a:solidFill>
        <a:effectLst/>
      </p:bgPr>
    </p:bg>
    <p:spTree>
      <p:nvGrpSpPr>
        <p:cNvPr id="1" name=""/>
        <p:cNvGrpSpPr/>
        <p:nvPr/>
      </p:nvGrpSpPr>
      <p:grpSpPr>
        <a:xfrm>
          <a:off x="0" y="0"/>
          <a:ext cx="0" cy="0"/>
          <a:chOff x="0" y="0"/>
          <a:chExt cx="0" cy="0"/>
        </a:xfrm>
      </p:grpSpPr>
      <p:sp>
        <p:nvSpPr>
          <p:cNvPr id="2" name="Text 0"/>
          <p:cNvSpPr txBox="1"/>
          <p:nvPr/>
        </p:nvSpPr>
        <p:spPr>
          <a:xfrm>
            <a:off x="548640" y="1371600"/>
            <a:ext cx="1828800" cy="1097280"/>
          </a:xfrm>
          <a:prstGeom prst="rect">
            <a:avLst/>
          </a:prstGeom>
          <a:noFill/>
          <a:ln/>
        </p:spPr>
        <p:txBody>
          <a:bodyPr wrap="square" lIns="0" tIns="0" rIns="0" bIns="0" rtlCol="0" anchor="ctr">
            <a:normAutofit/>
          </a:bodyPr>
          <a:lstStyle/>
          <a:p>
            <a:pPr marL="0" indent="0">
              <a:buNone/>
            </a:pPr>
            <a:r>
              <a:rPr lang="rw-RW" sz="6500" b="1" dirty="0">
                <a:solidFill>
                  <a:srgbClr val="3E6FA8"/>
                </a:solidFill>
                <a:latin typeface="Cambria" pitchFamily="34" charset="0"/>
                <a:ea typeface="Cambria" pitchFamily="34" charset="-122"/>
                <a:cs typeface="Cambria" pitchFamily="34" charset="-120"/>
              </a:rPr>
              <a:t>4</a:t>
            </a:r>
            <a:endParaRPr lang="rw-RW" sz="6500" dirty="0"/>
          </a:p>
        </p:txBody>
      </p:sp>
      <p:sp>
        <p:nvSpPr>
          <p:cNvPr id="3" name="Text 1"/>
          <p:cNvSpPr txBox="1"/>
          <p:nvPr/>
        </p:nvSpPr>
        <p:spPr>
          <a:xfrm>
            <a:off x="548640" y="2606040"/>
            <a:ext cx="11094415" cy="274320"/>
          </a:xfrm>
          <a:prstGeom prst="rect">
            <a:avLst/>
          </a:prstGeom>
          <a:noFill/>
          <a:ln/>
        </p:spPr>
        <p:txBody>
          <a:bodyPr wrap="square" lIns="0" tIns="0" rIns="0" bIns="0" rtlCol="0" anchor="ctr">
            <a:normAutofit/>
          </a:bodyPr>
          <a:lstStyle/>
          <a:p>
            <a:pPr marL="0" indent="0">
              <a:buNone/>
            </a:pPr>
            <a:r>
              <a:rPr lang="rw-RW" sz="1100" b="1" kern="0" spc="300" dirty="0">
                <a:solidFill>
                  <a:srgbClr val="A9C4E8"/>
                </a:solidFill>
                <a:latin typeface="Calibri" pitchFamily="34" charset="0"/>
                <a:ea typeface="Calibri" pitchFamily="34" charset="-122"/>
                <a:cs typeface="Calibri" pitchFamily="34" charset="-120"/>
              </a:rPr>
              <a:t>IGICE CYA 4</a:t>
            </a:r>
            <a:endParaRPr lang="rw-RW" sz="1100" dirty="0"/>
          </a:p>
        </p:txBody>
      </p:sp>
      <p:sp>
        <p:nvSpPr>
          <p:cNvPr id="4" name="Text 2"/>
          <p:cNvSpPr txBox="1"/>
          <p:nvPr/>
        </p:nvSpPr>
        <p:spPr>
          <a:xfrm>
            <a:off x="548640" y="2926080"/>
            <a:ext cx="9692640" cy="1005840"/>
          </a:xfrm>
          <a:prstGeom prst="rect">
            <a:avLst/>
          </a:prstGeom>
          <a:noFill/>
          <a:ln/>
        </p:spPr>
        <p:txBody>
          <a:bodyPr wrap="square" lIns="0" tIns="0" rIns="0" bIns="0" rtlCol="0" anchor="ctr">
            <a:normAutofit fontScale="89000" lnSpcReduction="10000"/>
          </a:bodyPr>
          <a:lstStyle/>
          <a:p>
            <a:pPr marL="0" indent="0">
              <a:buNone/>
            </a:pPr>
            <a:r>
              <a:rPr lang="rw-RW" sz="4000" b="1" dirty="0">
                <a:solidFill>
                  <a:srgbClr val="FFFFFF"/>
                </a:solidFill>
                <a:latin typeface="Cambria" pitchFamily="34" charset="0"/>
                <a:ea typeface="Cambria" pitchFamily="34" charset="-122"/>
                <a:cs typeface="Cambria" pitchFamily="34" charset="-120"/>
              </a:rPr>
              <a:t>Kanseri y'amara yemezwa ite kandi ivurwa ite?</a:t>
            </a:r>
            <a:endParaRPr lang="rw-RW" sz="4000" dirty="0"/>
          </a:p>
        </p:txBody>
      </p:sp>
      <p:sp>
        <p:nvSpPr>
          <p:cNvPr id="5" name="Text 3"/>
          <p:cNvSpPr txBox="1"/>
          <p:nvPr/>
        </p:nvSpPr>
        <p:spPr>
          <a:xfrm>
            <a:off x="548640" y="4069080"/>
            <a:ext cx="9326880" cy="822960"/>
          </a:xfrm>
          <a:prstGeom prst="rect">
            <a:avLst/>
          </a:prstGeom>
          <a:noFill/>
          <a:ln/>
        </p:spPr>
        <p:txBody>
          <a:bodyPr wrap="square" lIns="0" tIns="0" rIns="0" bIns="0" rtlCol="0" anchor="ctr"/>
          <a:lstStyle/>
          <a:p>
            <a:pPr marL="0" indent="0">
              <a:buNone/>
            </a:pPr>
            <a:r>
              <a:rPr lang="rw-RW" sz="1900" dirty="0">
                <a:solidFill>
                  <a:srgbClr val="D6E4F5"/>
                </a:solidFill>
                <a:latin typeface="Calibri" pitchFamily="34" charset="0"/>
                <a:ea typeface="Calibri" pitchFamily="34" charset="-122"/>
                <a:cs typeface="Calibri" pitchFamily="34" charset="-120"/>
              </a:rPr>
              <a:t>Reka turebere hamwe uko byagenze nyuma yo koherezwa kwa muganga: uko ikigo cy'ubuzima cyemeza indwara ndetse n'uburyo bwo kuvurwa.</a:t>
            </a:r>
            <a:endParaRPr lang="rw-RW" sz="1900" dirty="0"/>
          </a:p>
        </p:txBody>
      </p:sp>
      <p:sp>
        <p:nvSpPr>
          <p:cNvPr id="6" name="Text 4"/>
          <p:cNvSpPr txBox="1"/>
          <p:nvPr/>
        </p:nvSpPr>
        <p:spPr>
          <a:xfrm>
            <a:off x="548640" y="6263640"/>
            <a:ext cx="7315200" cy="274320"/>
          </a:xfrm>
          <a:prstGeom prst="rect">
            <a:avLst/>
          </a:prstGeom>
          <a:noFill/>
          <a:ln/>
        </p:spPr>
        <p:txBody>
          <a:bodyPr wrap="square" lIns="0" tIns="0" rIns="0" bIns="0" rtlCol="0" anchor="ctr">
            <a:normAutofit/>
          </a:bodyPr>
          <a:lstStyle/>
          <a:p>
            <a:pPr marL="0" indent="0">
              <a:buNone/>
            </a:pPr>
            <a:r>
              <a:rPr lang="rw-RW" sz="1100" dirty="0">
                <a:solidFill>
                  <a:srgbClr val="8FAFD6"/>
                </a:solidFill>
                <a:latin typeface="Calibri" pitchFamily="34" charset="0"/>
                <a:ea typeface="Calibri" pitchFamily="34" charset="-122"/>
                <a:cs typeface="Calibri" pitchFamily="34" charset="-120"/>
              </a:rPr>
              <a:t>Rwanda Biomedical Centre | CHW</a:t>
            </a:r>
            <a:endParaRPr lang="rw-RW"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4</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Icyo wakora</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Shape 3"/>
          <p:cNvSpPr/>
          <p:nvPr/>
        </p:nvSpPr>
        <p:spPr>
          <a:xfrm>
            <a:off x="548640" y="1371600"/>
            <a:ext cx="5410048" cy="2011680"/>
          </a:xfrm>
          <a:prstGeom prst="roundRect">
            <a:avLst>
              <a:gd name="adj" fmla="val 5455"/>
            </a:avLst>
          </a:prstGeom>
          <a:solidFill>
            <a:srgbClr val="F2F7FD"/>
          </a:solidFill>
          <a:ln w="12700">
            <a:solidFill>
              <a:srgbClr val="CBDDF3"/>
            </a:solidFill>
            <a:prstDash val="solid"/>
          </a:ln>
        </p:spPr>
        <p:txBody>
          <a:bodyPr/>
          <a:lstStyle/>
          <a:p>
            <a:endParaRPr lang="rw-RW" dirty="0"/>
          </a:p>
        </p:txBody>
      </p:sp>
      <p:sp>
        <p:nvSpPr>
          <p:cNvPr id="6" name="Text 4"/>
          <p:cNvSpPr txBox="1"/>
          <p:nvPr/>
        </p:nvSpPr>
        <p:spPr>
          <a:xfrm>
            <a:off x="1024128" y="1537498"/>
            <a:ext cx="5007712" cy="384048"/>
          </a:xfrm>
          <a:prstGeom prst="rect">
            <a:avLst/>
          </a:prstGeom>
          <a:noFill/>
          <a:ln/>
        </p:spPr>
        <p:txBody>
          <a:bodyPr wrap="square" lIns="0" tIns="0" rIns="0" bIns="0" rtlCol="0" anchor="t">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Sobanura</a:t>
            </a:r>
            <a:endParaRPr lang="rw-RW" sz="1850" dirty="0"/>
          </a:p>
        </p:txBody>
      </p:sp>
      <p:sp>
        <p:nvSpPr>
          <p:cNvPr id="7" name="Text 5"/>
          <p:cNvSpPr txBox="1"/>
          <p:nvPr/>
        </p:nvSpPr>
        <p:spPr>
          <a:xfrm>
            <a:off x="749808" y="1938528"/>
            <a:ext cx="5007712" cy="1316736"/>
          </a:xfrm>
          <a:prstGeom prst="rect">
            <a:avLst/>
          </a:prstGeom>
          <a:noFill/>
          <a:ln/>
        </p:spPr>
        <p:txBody>
          <a:bodyPr wrap="square" lIns="0" tIns="0" rIns="0" bIns="0" rtlCol="0" anchor="t"/>
          <a:lstStyle/>
          <a:p>
            <a:pPr marL="0" indent="0">
              <a:lnSpc>
                <a:spcPct val="105000"/>
              </a:lnSpc>
              <a:buNone/>
            </a:pPr>
            <a:r>
              <a:rPr lang="rw-RW" sz="1800" dirty="0">
                <a:solidFill>
                  <a:srgbClr val="17335F"/>
                </a:solidFill>
                <a:latin typeface="Calibri" pitchFamily="34" charset="0"/>
                <a:ea typeface="Calibri" pitchFamily="34" charset="-122"/>
                <a:cs typeface="Calibri" pitchFamily="34" charset="-120"/>
              </a:rPr>
              <a:t>Sobanura mu magambo yoroheje uko abaganga bamenya niba kanseri y'amara ihari.</a:t>
            </a:r>
            <a:endParaRPr lang="rw-RW" sz="1800" dirty="0"/>
          </a:p>
        </p:txBody>
      </p:sp>
      <p:sp>
        <p:nvSpPr>
          <p:cNvPr id="8" name="Shape 6"/>
          <p:cNvSpPr/>
          <p:nvPr/>
        </p:nvSpPr>
        <p:spPr>
          <a:xfrm>
            <a:off x="6233008" y="1371600"/>
            <a:ext cx="5410048" cy="2011680"/>
          </a:xfrm>
          <a:prstGeom prst="roundRect">
            <a:avLst>
              <a:gd name="adj" fmla="val 5455"/>
            </a:avLst>
          </a:prstGeom>
          <a:solidFill>
            <a:srgbClr val="F2F7FD"/>
          </a:solidFill>
          <a:ln w="12700">
            <a:solidFill>
              <a:srgbClr val="CBDDF3"/>
            </a:solidFill>
            <a:prstDash val="solid"/>
          </a:ln>
        </p:spPr>
        <p:txBody>
          <a:bodyPr/>
          <a:lstStyle/>
          <a:p>
            <a:endParaRPr lang="rw-RW" dirty="0"/>
          </a:p>
        </p:txBody>
      </p:sp>
      <p:sp>
        <p:nvSpPr>
          <p:cNvPr id="9" name="Text 7"/>
          <p:cNvSpPr txBox="1"/>
          <p:nvPr/>
        </p:nvSpPr>
        <p:spPr>
          <a:xfrm>
            <a:off x="7075502" y="1517904"/>
            <a:ext cx="4366385" cy="384048"/>
          </a:xfrm>
          <a:prstGeom prst="rect">
            <a:avLst/>
          </a:prstGeom>
          <a:noFill/>
          <a:ln/>
        </p:spPr>
        <p:txBody>
          <a:bodyPr wrap="square" lIns="0" tIns="0" rIns="0" bIns="0" rtlCol="0" anchor="t">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Sobanura neza</a:t>
            </a:r>
            <a:endParaRPr lang="rw-RW" sz="1850" dirty="0"/>
          </a:p>
        </p:txBody>
      </p:sp>
      <p:sp>
        <p:nvSpPr>
          <p:cNvPr id="10" name="Text 8"/>
          <p:cNvSpPr txBox="1"/>
          <p:nvPr/>
        </p:nvSpPr>
        <p:spPr>
          <a:xfrm>
            <a:off x="6434176" y="1938528"/>
            <a:ext cx="5007712" cy="1316736"/>
          </a:xfrm>
          <a:prstGeom prst="rect">
            <a:avLst/>
          </a:prstGeom>
          <a:noFill/>
          <a:ln/>
        </p:spPr>
        <p:txBody>
          <a:bodyPr wrap="square" lIns="0" tIns="0" rIns="0" bIns="0" rtlCol="0" anchor="t"/>
          <a:lstStyle/>
          <a:p>
            <a:pPr marL="0" indent="0">
              <a:lnSpc>
                <a:spcPct val="105000"/>
              </a:lnSpc>
              <a:buNone/>
            </a:pPr>
            <a:r>
              <a:rPr lang="rw-RW" sz="1800" dirty="0">
                <a:solidFill>
                  <a:srgbClr val="17335F"/>
                </a:solidFill>
                <a:latin typeface="Calibri" pitchFamily="34" charset="0"/>
                <a:ea typeface="Calibri" pitchFamily="34" charset="-122"/>
                <a:cs typeface="Calibri" pitchFamily="34" charset="-120"/>
              </a:rPr>
              <a:t>Sobanura neza ko akaregeya gakura mu mara (polyp) atari ko buri gihe kaba kanseri.</a:t>
            </a:r>
            <a:endParaRPr lang="rw-RW" sz="1800" dirty="0"/>
          </a:p>
        </p:txBody>
      </p:sp>
      <p:sp>
        <p:nvSpPr>
          <p:cNvPr id="11" name="Shape 9"/>
          <p:cNvSpPr/>
          <p:nvPr/>
        </p:nvSpPr>
        <p:spPr>
          <a:xfrm>
            <a:off x="548640" y="3657600"/>
            <a:ext cx="5410048" cy="2011680"/>
          </a:xfrm>
          <a:prstGeom prst="roundRect">
            <a:avLst>
              <a:gd name="adj" fmla="val 5455"/>
            </a:avLst>
          </a:prstGeom>
          <a:solidFill>
            <a:srgbClr val="F2F7FD"/>
          </a:solidFill>
          <a:ln w="12700">
            <a:solidFill>
              <a:srgbClr val="CBDDF3"/>
            </a:solidFill>
            <a:prstDash val="solid"/>
          </a:ln>
        </p:spPr>
        <p:txBody>
          <a:bodyPr/>
          <a:lstStyle/>
          <a:p>
            <a:endParaRPr lang="rw-RW" dirty="0"/>
          </a:p>
        </p:txBody>
      </p:sp>
      <p:sp>
        <p:nvSpPr>
          <p:cNvPr id="12" name="Text 10"/>
          <p:cNvSpPr txBox="1"/>
          <p:nvPr/>
        </p:nvSpPr>
        <p:spPr>
          <a:xfrm>
            <a:off x="1024128" y="3806516"/>
            <a:ext cx="5007712" cy="384048"/>
          </a:xfrm>
          <a:prstGeom prst="rect">
            <a:avLst/>
          </a:prstGeom>
          <a:noFill/>
          <a:ln/>
        </p:spPr>
        <p:txBody>
          <a:bodyPr wrap="square" lIns="0" tIns="0" rIns="0" bIns="0" rtlCol="0" anchor="t">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Vuga muri make</a:t>
            </a:r>
            <a:endParaRPr lang="rw-RW" sz="1850" dirty="0"/>
          </a:p>
        </p:txBody>
      </p:sp>
      <p:sp>
        <p:nvSpPr>
          <p:cNvPr id="13" name="Text 11"/>
          <p:cNvSpPr txBox="1"/>
          <p:nvPr/>
        </p:nvSpPr>
        <p:spPr>
          <a:xfrm>
            <a:off x="749808" y="4224528"/>
            <a:ext cx="5007712" cy="1316736"/>
          </a:xfrm>
          <a:prstGeom prst="rect">
            <a:avLst/>
          </a:prstGeom>
          <a:noFill/>
          <a:ln/>
        </p:spPr>
        <p:txBody>
          <a:bodyPr wrap="square" lIns="0" tIns="0" rIns="0" bIns="0" rtlCol="0" anchor="t"/>
          <a:lstStyle/>
          <a:p>
            <a:pPr marL="0" indent="0">
              <a:lnSpc>
                <a:spcPct val="105000"/>
              </a:lnSpc>
              <a:buNone/>
            </a:pPr>
            <a:r>
              <a:rPr lang="rw-RW" sz="1800" dirty="0">
                <a:solidFill>
                  <a:srgbClr val="17335F"/>
                </a:solidFill>
                <a:latin typeface="Calibri" pitchFamily="34" charset="0"/>
                <a:ea typeface="Calibri" pitchFamily="34" charset="-122"/>
                <a:cs typeface="Calibri" pitchFamily="34" charset="-120"/>
              </a:rPr>
              <a:t>Vuga ubwoko bw'ingenzi bw'ubuvuzi mu magambo yoroheje.</a:t>
            </a:r>
            <a:endParaRPr lang="rw-RW" sz="1800" dirty="0"/>
          </a:p>
        </p:txBody>
      </p:sp>
      <p:sp>
        <p:nvSpPr>
          <p:cNvPr id="14" name="Shape 12"/>
          <p:cNvSpPr/>
          <p:nvPr/>
        </p:nvSpPr>
        <p:spPr>
          <a:xfrm>
            <a:off x="6233008" y="3657600"/>
            <a:ext cx="5410048" cy="2011680"/>
          </a:xfrm>
          <a:prstGeom prst="roundRect">
            <a:avLst>
              <a:gd name="adj" fmla="val 5455"/>
            </a:avLst>
          </a:prstGeom>
          <a:solidFill>
            <a:srgbClr val="F2F7FD"/>
          </a:solidFill>
          <a:ln w="12700">
            <a:solidFill>
              <a:srgbClr val="CBDDF3"/>
            </a:solidFill>
            <a:prstDash val="solid"/>
          </a:ln>
        </p:spPr>
        <p:txBody>
          <a:bodyPr/>
          <a:lstStyle/>
          <a:p>
            <a:endParaRPr lang="rw-RW" dirty="0"/>
          </a:p>
        </p:txBody>
      </p:sp>
      <p:sp>
        <p:nvSpPr>
          <p:cNvPr id="15" name="Text 13"/>
          <p:cNvSpPr txBox="1"/>
          <p:nvPr/>
        </p:nvSpPr>
        <p:spPr>
          <a:xfrm>
            <a:off x="6742103" y="3832176"/>
            <a:ext cx="5007712" cy="384048"/>
          </a:xfrm>
          <a:prstGeom prst="rect">
            <a:avLst/>
          </a:prstGeom>
          <a:noFill/>
          <a:ln/>
        </p:spPr>
        <p:txBody>
          <a:bodyPr wrap="square" lIns="0" tIns="0" rIns="0" bIns="0" rtlCol="0" anchor="t">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Gukosora</a:t>
            </a:r>
            <a:endParaRPr lang="rw-RW" sz="1850" dirty="0"/>
          </a:p>
        </p:txBody>
      </p:sp>
      <p:sp>
        <p:nvSpPr>
          <p:cNvPr id="16" name="Text 14"/>
          <p:cNvSpPr txBox="1"/>
          <p:nvPr/>
        </p:nvSpPr>
        <p:spPr>
          <a:xfrm>
            <a:off x="6434176" y="4224528"/>
            <a:ext cx="5007712" cy="1316736"/>
          </a:xfrm>
          <a:prstGeom prst="rect">
            <a:avLst/>
          </a:prstGeom>
          <a:noFill/>
          <a:ln/>
        </p:spPr>
        <p:txBody>
          <a:bodyPr wrap="square" lIns="0" tIns="0" rIns="0" bIns="0" rtlCol="0" anchor="t"/>
          <a:lstStyle/>
          <a:p>
            <a:pPr marL="0" indent="0">
              <a:lnSpc>
                <a:spcPct val="105000"/>
              </a:lnSpc>
              <a:buNone/>
            </a:pPr>
            <a:r>
              <a:rPr lang="rw-RW" sz="1800" dirty="0">
                <a:solidFill>
                  <a:srgbClr val="17335F"/>
                </a:solidFill>
                <a:latin typeface="Calibri" pitchFamily="34" charset="0"/>
                <a:ea typeface="Calibri" pitchFamily="34" charset="-122"/>
                <a:cs typeface="Calibri" pitchFamily="34" charset="-120"/>
              </a:rPr>
              <a:t>Kosora ibitekerezo bibi bikunze kwibeshywaho ku bijyanye n'isuzuma, kubagwa, no gushyirwaho umwenge (stoma).</a:t>
            </a:r>
            <a:endParaRPr lang="rw-RW" sz="1800" dirty="0"/>
          </a:p>
        </p:txBody>
      </p:sp>
      <p:sp>
        <p:nvSpPr>
          <p:cNvPr id="18" name="TextBox 17">
            <a:extLst>
              <a:ext uri="{FF2B5EF4-FFF2-40B4-BE49-F238E27FC236}">
                <a16:creationId xmlns:a16="http://schemas.microsoft.com/office/drawing/2014/main" id="{1070019A-5609-EBDC-36BE-41504944E948}"/>
              </a:ext>
            </a:extLst>
          </p:cNvPr>
          <p:cNvSpPr txBox="1"/>
          <p:nvPr/>
        </p:nvSpPr>
        <p:spPr>
          <a:xfrm>
            <a:off x="500547" y="3731364"/>
            <a:ext cx="644825" cy="461665"/>
          </a:xfrm>
          <a:prstGeom prst="rect">
            <a:avLst/>
          </a:prstGeom>
          <a:noFill/>
        </p:spPr>
        <p:txBody>
          <a:bodyPr wrap="square">
            <a:spAutoFit/>
          </a:bodyPr>
          <a:lstStyle/>
          <a:p>
            <a:pPr marL="0" indent="0">
              <a:buNone/>
            </a:pPr>
            <a:r>
              <a:rPr lang="rw-RW" sz="2350" noProof="0" dirty="0">
                <a:solidFill>
                  <a:srgbClr val="1A2733"/>
                </a:solidFill>
                <a:latin typeface="Calibri" pitchFamily="34" charset="0"/>
                <a:ea typeface="Calibri" pitchFamily="34" charset="-122"/>
                <a:cs typeface="Calibri" pitchFamily="34" charset="-120"/>
              </a:rPr>
              <a:t>🧭</a:t>
            </a:r>
            <a:endParaRPr lang="rw-RW" sz="2350" noProof="0" dirty="0"/>
          </a:p>
        </p:txBody>
      </p:sp>
      <p:sp>
        <p:nvSpPr>
          <p:cNvPr id="20" name="TextBox 19">
            <a:extLst>
              <a:ext uri="{FF2B5EF4-FFF2-40B4-BE49-F238E27FC236}">
                <a16:creationId xmlns:a16="http://schemas.microsoft.com/office/drawing/2014/main" id="{2993F75B-0E79-8C1E-94C9-9C676601B721}"/>
              </a:ext>
            </a:extLst>
          </p:cNvPr>
          <p:cNvSpPr txBox="1"/>
          <p:nvPr/>
        </p:nvSpPr>
        <p:spPr>
          <a:xfrm>
            <a:off x="6402433" y="1458575"/>
            <a:ext cx="535909" cy="461665"/>
          </a:xfrm>
          <a:prstGeom prst="rect">
            <a:avLst/>
          </a:prstGeom>
          <a:noFill/>
        </p:spPr>
        <p:txBody>
          <a:bodyPr wrap="square">
            <a:spAutoFit/>
          </a:bodyPr>
          <a:lstStyle/>
          <a:p>
            <a:pPr marL="0" indent="0">
              <a:buNone/>
            </a:pPr>
            <a:r>
              <a:rPr lang="rw-RW" sz="2350" noProof="0" dirty="0">
                <a:solidFill>
                  <a:srgbClr val="1A2733"/>
                </a:solidFill>
                <a:latin typeface="Calibri" pitchFamily="34" charset="0"/>
                <a:ea typeface="Calibri" pitchFamily="34" charset="-122"/>
                <a:cs typeface="Calibri" pitchFamily="34" charset="-120"/>
              </a:rPr>
              <a:t>🗣️</a:t>
            </a:r>
            <a:endParaRPr lang="rw-RW" sz="2350" noProof="0" dirty="0"/>
          </a:p>
        </p:txBody>
      </p:sp>
      <p:sp>
        <p:nvSpPr>
          <p:cNvPr id="24" name="TextBox 23">
            <a:extLst>
              <a:ext uri="{FF2B5EF4-FFF2-40B4-BE49-F238E27FC236}">
                <a16:creationId xmlns:a16="http://schemas.microsoft.com/office/drawing/2014/main" id="{CCCD4510-2679-313D-28EC-147693172B6A}"/>
              </a:ext>
            </a:extLst>
          </p:cNvPr>
          <p:cNvSpPr txBox="1"/>
          <p:nvPr/>
        </p:nvSpPr>
        <p:spPr>
          <a:xfrm>
            <a:off x="500547" y="1478455"/>
            <a:ext cx="700528" cy="461665"/>
          </a:xfrm>
          <a:prstGeom prst="rect">
            <a:avLst/>
          </a:prstGeom>
          <a:noFill/>
        </p:spPr>
        <p:txBody>
          <a:bodyPr wrap="square">
            <a:spAutoFit/>
          </a:bodyPr>
          <a:lstStyle/>
          <a:p>
            <a:pPr marL="0" indent="0">
              <a:buNone/>
            </a:pPr>
            <a:r>
              <a:rPr lang="rw-RW" sz="2350" noProof="0" dirty="0">
                <a:solidFill>
                  <a:srgbClr val="1A2733"/>
                </a:solidFill>
                <a:latin typeface="Calibri" pitchFamily="34" charset="0"/>
                <a:ea typeface="Calibri" pitchFamily="34" charset="-122"/>
                <a:cs typeface="Calibri" pitchFamily="34" charset="-120"/>
              </a:rPr>
              <a:t>📝</a:t>
            </a:r>
            <a:endParaRPr lang="rw-RW" sz="2350" noProof="0" dirty="0"/>
          </a:p>
        </p:txBody>
      </p:sp>
      <p:sp>
        <p:nvSpPr>
          <p:cNvPr id="28" name="TextBox 27">
            <a:extLst>
              <a:ext uri="{FF2B5EF4-FFF2-40B4-BE49-F238E27FC236}">
                <a16:creationId xmlns:a16="http://schemas.microsoft.com/office/drawing/2014/main" id="{D2DC122D-8DE4-FB47-3B2E-A943261C3443}"/>
              </a:ext>
            </a:extLst>
          </p:cNvPr>
          <p:cNvSpPr txBox="1"/>
          <p:nvPr/>
        </p:nvSpPr>
        <p:spPr>
          <a:xfrm>
            <a:off x="6233008" y="3751821"/>
            <a:ext cx="6094562" cy="461665"/>
          </a:xfrm>
          <a:prstGeom prst="rect">
            <a:avLst/>
          </a:prstGeom>
          <a:noFill/>
        </p:spPr>
        <p:txBody>
          <a:bodyPr wrap="square">
            <a:spAutoFit/>
          </a:bodyPr>
          <a:lstStyle/>
          <a:p>
            <a:pPr marL="0" indent="0">
              <a:buNone/>
            </a:pPr>
            <a:r>
              <a:rPr lang="rw-RW" sz="2350" noProof="0" dirty="0">
                <a:solidFill>
                  <a:srgbClr val="1A2733"/>
                </a:solidFill>
                <a:latin typeface="Calibri" pitchFamily="34" charset="0"/>
                <a:ea typeface="Calibri" pitchFamily="34" charset="-122"/>
                <a:cs typeface="Calibri" pitchFamily="34" charset="-120"/>
              </a:rPr>
              <a:t>🔍</a:t>
            </a:r>
            <a:endParaRPr lang="rw-RW" sz="2350" noProof="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4</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Uko ikigo cy'ubuzima kimenya niba kanseri ihari</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Shape 3"/>
          <p:cNvSpPr/>
          <p:nvPr/>
        </p:nvSpPr>
        <p:spPr>
          <a:xfrm>
            <a:off x="548640" y="1417319"/>
            <a:ext cx="2014057" cy="2795903"/>
          </a:xfrm>
          <a:prstGeom prst="roundRect">
            <a:avLst>
              <a:gd name="adj" fmla="val 5448"/>
            </a:avLst>
          </a:prstGeom>
          <a:solidFill>
            <a:srgbClr val="F2F7FD"/>
          </a:solidFill>
          <a:ln w="12700">
            <a:solidFill>
              <a:srgbClr val="CBDDF3"/>
            </a:solidFill>
            <a:prstDash val="solid"/>
          </a:ln>
        </p:spPr>
        <p:txBody>
          <a:bodyPr/>
          <a:lstStyle/>
          <a:p>
            <a:endParaRPr lang="rw-RW" dirty="0"/>
          </a:p>
        </p:txBody>
      </p:sp>
      <p:sp>
        <p:nvSpPr>
          <p:cNvPr id="6" name="Shape 4"/>
          <p:cNvSpPr/>
          <p:nvPr/>
        </p:nvSpPr>
        <p:spPr>
          <a:xfrm>
            <a:off x="749808" y="1600200"/>
            <a:ext cx="420624" cy="420624"/>
          </a:xfrm>
          <a:prstGeom prst="ellipse">
            <a:avLst/>
          </a:prstGeom>
          <a:solidFill>
            <a:srgbClr val="12305B"/>
          </a:solidFill>
          <a:ln/>
        </p:spPr>
        <p:txBody>
          <a:bodyPr/>
          <a:lstStyle/>
          <a:p>
            <a:endParaRPr lang="rw-RW" dirty="0"/>
          </a:p>
        </p:txBody>
      </p:sp>
      <p:sp>
        <p:nvSpPr>
          <p:cNvPr id="7" name="Text 5"/>
          <p:cNvSpPr txBox="1"/>
          <p:nvPr/>
        </p:nvSpPr>
        <p:spPr>
          <a:xfrm>
            <a:off x="749808" y="1600200"/>
            <a:ext cx="420624" cy="420624"/>
          </a:xfrm>
          <a:prstGeom prst="rect">
            <a:avLst/>
          </a:prstGeom>
          <a:noFill/>
          <a:ln/>
        </p:spPr>
        <p:txBody>
          <a:bodyPr wrap="square" lIns="0" tIns="0" rIns="0" bIns="0" rtlCol="0" anchor="ctr"/>
          <a:lstStyle/>
          <a:p>
            <a:pPr marL="0" indent="0" algn="ctr">
              <a:buNone/>
            </a:pPr>
            <a:r>
              <a:rPr lang="rw-RW" b="1" dirty="0">
                <a:solidFill>
                  <a:srgbClr val="FFFFFF"/>
                </a:solidFill>
                <a:latin typeface="Calibri" pitchFamily="34" charset="0"/>
                <a:ea typeface="Calibri" pitchFamily="34" charset="-122"/>
                <a:cs typeface="Calibri" pitchFamily="34" charset="-120"/>
              </a:rPr>
              <a:t>1</a:t>
            </a:r>
            <a:endParaRPr lang="rw-RW" dirty="0"/>
          </a:p>
        </p:txBody>
      </p:sp>
      <p:sp>
        <p:nvSpPr>
          <p:cNvPr id="8" name="Text 6"/>
          <p:cNvSpPr txBox="1"/>
          <p:nvPr/>
        </p:nvSpPr>
        <p:spPr>
          <a:xfrm>
            <a:off x="1280160" y="1618488"/>
            <a:ext cx="1099657" cy="402336"/>
          </a:xfrm>
          <a:prstGeom prst="rect">
            <a:avLst/>
          </a:prstGeom>
          <a:noFill/>
          <a:ln/>
        </p:spPr>
        <p:txBody>
          <a:bodyPr wrap="square" lIns="0" tIns="0" rIns="0" bIns="0" rtlCol="0" anchor="ctr">
            <a:normAutofit/>
          </a:bodyPr>
          <a:lstStyle/>
          <a:p>
            <a:pPr marL="0" indent="0">
              <a:buNone/>
            </a:pPr>
            <a:r>
              <a:rPr lang="rw-RW" b="1" dirty="0">
                <a:solidFill>
                  <a:srgbClr val="12305B"/>
                </a:solidFill>
                <a:latin typeface="Calibri" pitchFamily="34" charset="0"/>
                <a:ea typeface="Calibri" pitchFamily="34" charset="-122"/>
                <a:cs typeface="Calibri" pitchFamily="34" charset="-120"/>
              </a:rPr>
              <a:t>Kugenzura</a:t>
            </a:r>
            <a:endParaRPr lang="rw-RW" dirty="0"/>
          </a:p>
        </p:txBody>
      </p:sp>
      <p:sp>
        <p:nvSpPr>
          <p:cNvPr id="9" name="Text 7"/>
          <p:cNvSpPr txBox="1"/>
          <p:nvPr/>
        </p:nvSpPr>
        <p:spPr>
          <a:xfrm>
            <a:off x="749808" y="2130552"/>
            <a:ext cx="1611721" cy="1463040"/>
          </a:xfrm>
          <a:prstGeom prst="rect">
            <a:avLst/>
          </a:prstGeom>
          <a:noFill/>
          <a:ln/>
        </p:spPr>
        <p:txBody>
          <a:bodyPr wrap="square" lIns="0" tIns="0" rIns="0" bIns="0" rtlCol="0" anchor="t"/>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Abakozi babaza ibibazo kandi bakareba uwo muntu.</a:t>
            </a:r>
            <a:endParaRPr lang="rw-RW" sz="1600" dirty="0"/>
          </a:p>
        </p:txBody>
      </p:sp>
      <p:sp>
        <p:nvSpPr>
          <p:cNvPr id="10" name="Text 8"/>
          <p:cNvSpPr txBox="1"/>
          <p:nvPr/>
        </p:nvSpPr>
        <p:spPr>
          <a:xfrm>
            <a:off x="2580985" y="2354580"/>
            <a:ext cx="219456" cy="457200"/>
          </a:xfrm>
          <a:prstGeom prst="rect">
            <a:avLst/>
          </a:prstGeom>
          <a:noFill/>
          <a:ln/>
        </p:spPr>
        <p:txBody>
          <a:bodyPr wrap="square" lIns="0" tIns="0" rIns="0" bIns="0" rtlCol="0" anchor="ctr"/>
          <a:lstStyle/>
          <a:p>
            <a:pPr marL="0" indent="0" algn="ctr">
              <a:buNone/>
            </a:pPr>
            <a:r>
              <a:rPr lang="rw-RW" sz="1600" b="1" dirty="0">
                <a:solidFill>
                  <a:srgbClr val="1F5FA9"/>
                </a:solidFill>
                <a:latin typeface="Calibri" pitchFamily="34" charset="0"/>
                <a:ea typeface="Calibri" pitchFamily="34" charset="-122"/>
                <a:cs typeface="Calibri" pitchFamily="34" charset="-120"/>
              </a:rPr>
              <a:t>»</a:t>
            </a:r>
            <a:endParaRPr lang="rw-RW" sz="1600" dirty="0"/>
          </a:p>
        </p:txBody>
      </p:sp>
      <p:sp>
        <p:nvSpPr>
          <p:cNvPr id="11" name="Shape 9"/>
          <p:cNvSpPr/>
          <p:nvPr/>
        </p:nvSpPr>
        <p:spPr>
          <a:xfrm>
            <a:off x="2818729" y="1417320"/>
            <a:ext cx="2014057" cy="2795902"/>
          </a:xfrm>
          <a:prstGeom prst="roundRect">
            <a:avLst>
              <a:gd name="adj" fmla="val 5448"/>
            </a:avLst>
          </a:prstGeom>
          <a:solidFill>
            <a:srgbClr val="F2F7FD"/>
          </a:solidFill>
          <a:ln w="12700">
            <a:solidFill>
              <a:srgbClr val="CBDDF3"/>
            </a:solidFill>
            <a:prstDash val="solid"/>
          </a:ln>
        </p:spPr>
        <p:txBody>
          <a:bodyPr/>
          <a:lstStyle/>
          <a:p>
            <a:endParaRPr lang="rw-RW" dirty="0"/>
          </a:p>
        </p:txBody>
      </p:sp>
      <p:sp>
        <p:nvSpPr>
          <p:cNvPr id="12" name="Shape 10"/>
          <p:cNvSpPr/>
          <p:nvPr/>
        </p:nvSpPr>
        <p:spPr>
          <a:xfrm>
            <a:off x="3019897" y="1600200"/>
            <a:ext cx="420624" cy="420624"/>
          </a:xfrm>
          <a:prstGeom prst="ellipse">
            <a:avLst/>
          </a:prstGeom>
          <a:solidFill>
            <a:srgbClr val="12305B"/>
          </a:solidFill>
          <a:ln/>
        </p:spPr>
        <p:txBody>
          <a:bodyPr/>
          <a:lstStyle/>
          <a:p>
            <a:endParaRPr lang="rw-RW" dirty="0"/>
          </a:p>
        </p:txBody>
      </p:sp>
      <p:sp>
        <p:nvSpPr>
          <p:cNvPr id="13" name="Text 11"/>
          <p:cNvSpPr txBox="1"/>
          <p:nvPr/>
        </p:nvSpPr>
        <p:spPr>
          <a:xfrm>
            <a:off x="3019897" y="1600200"/>
            <a:ext cx="420624" cy="420624"/>
          </a:xfrm>
          <a:prstGeom prst="rect">
            <a:avLst/>
          </a:prstGeom>
          <a:noFill/>
          <a:ln/>
        </p:spPr>
        <p:txBody>
          <a:bodyPr wrap="square" lIns="0" tIns="0" rIns="0" bIns="0" rtlCol="0" anchor="ctr"/>
          <a:lstStyle/>
          <a:p>
            <a:pPr marL="0" indent="0" algn="ctr">
              <a:buNone/>
            </a:pPr>
            <a:r>
              <a:rPr lang="rw-RW" b="1" dirty="0">
                <a:solidFill>
                  <a:srgbClr val="FFFFFF"/>
                </a:solidFill>
                <a:latin typeface="Calibri" pitchFamily="34" charset="0"/>
                <a:ea typeface="Calibri" pitchFamily="34" charset="-122"/>
                <a:cs typeface="Calibri" pitchFamily="34" charset="-120"/>
              </a:rPr>
              <a:t>2</a:t>
            </a:r>
            <a:endParaRPr lang="rw-RW" dirty="0"/>
          </a:p>
        </p:txBody>
      </p:sp>
      <p:sp>
        <p:nvSpPr>
          <p:cNvPr id="14" name="Text 12"/>
          <p:cNvSpPr txBox="1"/>
          <p:nvPr/>
        </p:nvSpPr>
        <p:spPr>
          <a:xfrm>
            <a:off x="3550249" y="1618488"/>
            <a:ext cx="1099657" cy="402336"/>
          </a:xfrm>
          <a:prstGeom prst="rect">
            <a:avLst/>
          </a:prstGeom>
          <a:noFill/>
          <a:ln/>
        </p:spPr>
        <p:txBody>
          <a:bodyPr wrap="square" lIns="0" tIns="0" rIns="0" bIns="0" rtlCol="0" anchor="ctr">
            <a:noAutofit/>
          </a:bodyPr>
          <a:lstStyle/>
          <a:p>
            <a:pPr marL="0" indent="0">
              <a:buNone/>
            </a:pPr>
            <a:r>
              <a:rPr lang="rw-RW" b="1" dirty="0">
                <a:solidFill>
                  <a:srgbClr val="12305B"/>
                </a:solidFill>
                <a:latin typeface="Calibri" pitchFamily="34" charset="0"/>
                <a:ea typeface="Calibri" pitchFamily="34" charset="-122"/>
                <a:cs typeface="Calibri" pitchFamily="34" charset="-120"/>
              </a:rPr>
              <a:t>Ibizamini by'amaraso</a:t>
            </a:r>
            <a:endParaRPr lang="rw-RW" dirty="0"/>
          </a:p>
        </p:txBody>
      </p:sp>
      <p:sp>
        <p:nvSpPr>
          <p:cNvPr id="15" name="Text 13"/>
          <p:cNvSpPr txBox="1"/>
          <p:nvPr/>
        </p:nvSpPr>
        <p:spPr>
          <a:xfrm>
            <a:off x="3019897" y="2130552"/>
            <a:ext cx="1611721" cy="1463040"/>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Urugero ni nk'aho umuntu ashobora gupima amaraso urugero kugira ngo barebe niba umuntu afite amaraso make (anemia).</a:t>
            </a:r>
            <a:endParaRPr lang="rw-RW" sz="1600" dirty="0"/>
          </a:p>
        </p:txBody>
      </p:sp>
      <p:sp>
        <p:nvSpPr>
          <p:cNvPr id="16" name="Text 14"/>
          <p:cNvSpPr txBox="1"/>
          <p:nvPr/>
        </p:nvSpPr>
        <p:spPr>
          <a:xfrm>
            <a:off x="4851075" y="2354580"/>
            <a:ext cx="219456" cy="457200"/>
          </a:xfrm>
          <a:prstGeom prst="rect">
            <a:avLst/>
          </a:prstGeom>
          <a:noFill/>
          <a:ln/>
        </p:spPr>
        <p:txBody>
          <a:bodyPr wrap="square" lIns="0" tIns="0" rIns="0" bIns="0" rtlCol="0" anchor="ctr"/>
          <a:lstStyle/>
          <a:p>
            <a:pPr marL="0" indent="0" algn="ctr">
              <a:buNone/>
            </a:pPr>
            <a:r>
              <a:rPr lang="rw-RW" sz="1600" b="1" dirty="0">
                <a:solidFill>
                  <a:srgbClr val="1F5FA9"/>
                </a:solidFill>
                <a:latin typeface="Calibri" pitchFamily="34" charset="0"/>
                <a:ea typeface="Calibri" pitchFamily="34" charset="-122"/>
                <a:cs typeface="Calibri" pitchFamily="34" charset="-120"/>
              </a:rPr>
              <a:t>»</a:t>
            </a:r>
            <a:endParaRPr lang="rw-RW" sz="1600" dirty="0"/>
          </a:p>
        </p:txBody>
      </p:sp>
      <p:sp>
        <p:nvSpPr>
          <p:cNvPr id="17" name="Shape 15"/>
          <p:cNvSpPr/>
          <p:nvPr/>
        </p:nvSpPr>
        <p:spPr>
          <a:xfrm>
            <a:off x="5088819" y="1417320"/>
            <a:ext cx="2014057" cy="2939796"/>
          </a:xfrm>
          <a:prstGeom prst="roundRect">
            <a:avLst>
              <a:gd name="adj" fmla="val 5448"/>
            </a:avLst>
          </a:prstGeom>
          <a:solidFill>
            <a:srgbClr val="F2F7FD"/>
          </a:solidFill>
          <a:ln w="12700">
            <a:solidFill>
              <a:srgbClr val="CBDDF3"/>
            </a:solidFill>
            <a:prstDash val="solid"/>
          </a:ln>
        </p:spPr>
        <p:txBody>
          <a:bodyPr/>
          <a:lstStyle/>
          <a:p>
            <a:endParaRPr lang="rw-RW" dirty="0"/>
          </a:p>
        </p:txBody>
      </p:sp>
      <p:sp>
        <p:nvSpPr>
          <p:cNvPr id="18" name="Shape 16"/>
          <p:cNvSpPr/>
          <p:nvPr/>
        </p:nvSpPr>
        <p:spPr>
          <a:xfrm>
            <a:off x="5289987" y="1600200"/>
            <a:ext cx="420624" cy="420624"/>
          </a:xfrm>
          <a:prstGeom prst="ellipse">
            <a:avLst/>
          </a:prstGeom>
          <a:solidFill>
            <a:srgbClr val="12305B"/>
          </a:solidFill>
          <a:ln/>
        </p:spPr>
        <p:txBody>
          <a:bodyPr/>
          <a:lstStyle/>
          <a:p>
            <a:endParaRPr lang="rw-RW" dirty="0"/>
          </a:p>
        </p:txBody>
      </p:sp>
      <p:sp>
        <p:nvSpPr>
          <p:cNvPr id="19" name="Text 17"/>
          <p:cNvSpPr txBox="1"/>
          <p:nvPr/>
        </p:nvSpPr>
        <p:spPr>
          <a:xfrm>
            <a:off x="5289987" y="1600200"/>
            <a:ext cx="420624" cy="420624"/>
          </a:xfrm>
          <a:prstGeom prst="rect">
            <a:avLst/>
          </a:prstGeom>
          <a:noFill/>
          <a:ln/>
        </p:spPr>
        <p:txBody>
          <a:bodyPr wrap="square" lIns="0" tIns="0" rIns="0" bIns="0" rtlCol="0" anchor="ctr"/>
          <a:lstStyle/>
          <a:p>
            <a:pPr marL="0" indent="0" algn="ctr">
              <a:buNone/>
            </a:pPr>
            <a:r>
              <a:rPr lang="rw-RW" b="1" dirty="0">
                <a:solidFill>
                  <a:srgbClr val="FFFFFF"/>
                </a:solidFill>
                <a:latin typeface="Calibri" pitchFamily="34" charset="0"/>
                <a:ea typeface="Calibri" pitchFamily="34" charset="-122"/>
                <a:cs typeface="Calibri" pitchFamily="34" charset="-120"/>
              </a:rPr>
              <a:t>3</a:t>
            </a:r>
            <a:endParaRPr lang="rw-RW" dirty="0"/>
          </a:p>
        </p:txBody>
      </p:sp>
      <p:sp>
        <p:nvSpPr>
          <p:cNvPr id="20" name="Text 18"/>
          <p:cNvSpPr txBox="1"/>
          <p:nvPr/>
        </p:nvSpPr>
        <p:spPr>
          <a:xfrm>
            <a:off x="5820339" y="1618488"/>
            <a:ext cx="1099657" cy="402336"/>
          </a:xfrm>
          <a:prstGeom prst="rect">
            <a:avLst/>
          </a:prstGeom>
          <a:noFill/>
          <a:ln/>
        </p:spPr>
        <p:txBody>
          <a:bodyPr wrap="square" lIns="0" tIns="0" rIns="0" bIns="0" rtlCol="0" anchor="ctr">
            <a:noAutofit/>
          </a:bodyPr>
          <a:lstStyle/>
          <a:p>
            <a:pPr marL="0" indent="0">
              <a:buNone/>
            </a:pPr>
            <a:r>
              <a:rPr lang="rw-RW" b="1" dirty="0">
                <a:solidFill>
                  <a:srgbClr val="12305B"/>
                </a:solidFill>
                <a:latin typeface="Calibri" pitchFamily="34" charset="0"/>
                <a:ea typeface="Calibri" pitchFamily="34" charset="-122"/>
                <a:cs typeface="Calibri" pitchFamily="34" charset="-120"/>
              </a:rPr>
              <a:t>Igeragezwa rya kamera</a:t>
            </a:r>
            <a:endParaRPr lang="rw-RW" dirty="0"/>
          </a:p>
        </p:txBody>
      </p:sp>
      <p:sp>
        <p:nvSpPr>
          <p:cNvPr id="21" name="Text 19"/>
          <p:cNvSpPr txBox="1"/>
          <p:nvPr/>
        </p:nvSpPr>
        <p:spPr>
          <a:xfrm>
            <a:off x="5289987" y="2130552"/>
            <a:ext cx="1611721" cy="1463040"/>
          </a:xfrm>
          <a:prstGeom prst="rect">
            <a:avLst/>
          </a:prstGeom>
          <a:noFill/>
          <a:ln/>
        </p:spPr>
        <p:txBody>
          <a:bodyPr wrap="square" lIns="0" tIns="0" rIns="0" bIns="0" rtlCol="0" anchor="t">
            <a:norm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Agatube gato gafite kamera ntoya ireba imbere mu mara.</a:t>
            </a:r>
            <a:endParaRPr lang="rw-RW" sz="1600" dirty="0"/>
          </a:p>
        </p:txBody>
      </p:sp>
      <p:sp>
        <p:nvSpPr>
          <p:cNvPr id="22" name="Text 20"/>
          <p:cNvSpPr txBox="1"/>
          <p:nvPr/>
        </p:nvSpPr>
        <p:spPr>
          <a:xfrm>
            <a:off x="7121164" y="2354580"/>
            <a:ext cx="219456" cy="457200"/>
          </a:xfrm>
          <a:prstGeom prst="rect">
            <a:avLst/>
          </a:prstGeom>
          <a:noFill/>
          <a:ln/>
        </p:spPr>
        <p:txBody>
          <a:bodyPr wrap="square" lIns="0" tIns="0" rIns="0" bIns="0" rtlCol="0" anchor="ctr"/>
          <a:lstStyle/>
          <a:p>
            <a:pPr marL="0" indent="0" algn="ctr">
              <a:buNone/>
            </a:pPr>
            <a:r>
              <a:rPr lang="rw-RW" sz="1600" b="1" dirty="0">
                <a:solidFill>
                  <a:srgbClr val="1F5FA9"/>
                </a:solidFill>
                <a:latin typeface="Calibri" pitchFamily="34" charset="0"/>
                <a:ea typeface="Calibri" pitchFamily="34" charset="-122"/>
                <a:cs typeface="Calibri" pitchFamily="34" charset="-120"/>
              </a:rPr>
              <a:t>»</a:t>
            </a:r>
            <a:endParaRPr lang="rw-RW" sz="1600" dirty="0"/>
          </a:p>
        </p:txBody>
      </p:sp>
      <p:sp>
        <p:nvSpPr>
          <p:cNvPr id="23" name="Shape 21"/>
          <p:cNvSpPr/>
          <p:nvPr/>
        </p:nvSpPr>
        <p:spPr>
          <a:xfrm>
            <a:off x="7358909" y="1417319"/>
            <a:ext cx="1922618" cy="2969639"/>
          </a:xfrm>
          <a:prstGeom prst="roundRect">
            <a:avLst>
              <a:gd name="adj" fmla="val 5448"/>
            </a:avLst>
          </a:prstGeom>
          <a:solidFill>
            <a:srgbClr val="F2F7FD"/>
          </a:solidFill>
          <a:ln w="12700">
            <a:solidFill>
              <a:srgbClr val="CBDDF3"/>
            </a:solidFill>
            <a:prstDash val="solid"/>
          </a:ln>
        </p:spPr>
        <p:txBody>
          <a:bodyPr/>
          <a:lstStyle/>
          <a:p>
            <a:endParaRPr lang="rw-RW" dirty="0"/>
          </a:p>
        </p:txBody>
      </p:sp>
      <p:sp>
        <p:nvSpPr>
          <p:cNvPr id="24" name="Shape 22"/>
          <p:cNvSpPr/>
          <p:nvPr/>
        </p:nvSpPr>
        <p:spPr>
          <a:xfrm>
            <a:off x="7560076" y="1600200"/>
            <a:ext cx="420624" cy="420624"/>
          </a:xfrm>
          <a:prstGeom prst="ellipse">
            <a:avLst/>
          </a:prstGeom>
          <a:solidFill>
            <a:srgbClr val="12305B"/>
          </a:solidFill>
          <a:ln/>
        </p:spPr>
        <p:txBody>
          <a:bodyPr/>
          <a:lstStyle/>
          <a:p>
            <a:endParaRPr lang="rw-RW" dirty="0"/>
          </a:p>
        </p:txBody>
      </p:sp>
      <p:sp>
        <p:nvSpPr>
          <p:cNvPr id="25" name="Text 23"/>
          <p:cNvSpPr txBox="1"/>
          <p:nvPr/>
        </p:nvSpPr>
        <p:spPr>
          <a:xfrm>
            <a:off x="7560076" y="1600200"/>
            <a:ext cx="420624" cy="420624"/>
          </a:xfrm>
          <a:prstGeom prst="rect">
            <a:avLst/>
          </a:prstGeom>
          <a:noFill/>
          <a:ln/>
        </p:spPr>
        <p:txBody>
          <a:bodyPr wrap="square" lIns="0" tIns="0" rIns="0" bIns="0" rtlCol="0" anchor="ctr"/>
          <a:lstStyle/>
          <a:p>
            <a:pPr marL="0" indent="0" algn="ctr">
              <a:buNone/>
            </a:pPr>
            <a:r>
              <a:rPr lang="rw-RW" b="1" dirty="0">
                <a:solidFill>
                  <a:srgbClr val="FFFFFF"/>
                </a:solidFill>
                <a:latin typeface="Calibri" pitchFamily="34" charset="0"/>
                <a:ea typeface="Calibri" pitchFamily="34" charset="-122"/>
                <a:cs typeface="Calibri" pitchFamily="34" charset="-120"/>
              </a:rPr>
              <a:t>4</a:t>
            </a:r>
            <a:endParaRPr lang="rw-RW" dirty="0"/>
          </a:p>
        </p:txBody>
      </p:sp>
      <p:sp>
        <p:nvSpPr>
          <p:cNvPr id="26" name="Text 24"/>
          <p:cNvSpPr txBox="1"/>
          <p:nvPr/>
        </p:nvSpPr>
        <p:spPr>
          <a:xfrm>
            <a:off x="8090428" y="1618488"/>
            <a:ext cx="1099657" cy="402336"/>
          </a:xfrm>
          <a:prstGeom prst="rect">
            <a:avLst/>
          </a:prstGeom>
          <a:noFill/>
          <a:ln/>
        </p:spPr>
        <p:txBody>
          <a:bodyPr wrap="square" lIns="0" tIns="0" rIns="0" bIns="0" rtlCol="0" anchor="ctr">
            <a:noAutofit/>
          </a:bodyPr>
          <a:lstStyle/>
          <a:p>
            <a:pPr marL="0" indent="0">
              <a:buNone/>
            </a:pPr>
            <a:r>
              <a:rPr lang="rw-RW" b="1" dirty="0">
                <a:solidFill>
                  <a:srgbClr val="12305B"/>
                </a:solidFill>
                <a:latin typeface="Calibri" pitchFamily="34" charset="0"/>
                <a:ea typeface="Calibri" pitchFamily="34" charset="-122"/>
                <a:cs typeface="Calibri" pitchFamily="34" charset="-120"/>
              </a:rPr>
              <a:t>Agace k'umubiri</a:t>
            </a:r>
            <a:endParaRPr lang="rw-RW" dirty="0"/>
          </a:p>
        </p:txBody>
      </p:sp>
      <p:sp>
        <p:nvSpPr>
          <p:cNvPr id="27" name="Text 25"/>
          <p:cNvSpPr txBox="1"/>
          <p:nvPr/>
        </p:nvSpPr>
        <p:spPr>
          <a:xfrm>
            <a:off x="7560076" y="2130552"/>
            <a:ext cx="1611721" cy="1463040"/>
          </a:xfrm>
          <a:prstGeom prst="rect">
            <a:avLst/>
          </a:prstGeom>
          <a:noFill/>
          <a:ln/>
        </p:spPr>
        <p:txBody>
          <a:bodyPr wrap="square" lIns="0" tIns="0" rIns="0" bIns="0" rtlCol="0" anchor="t"/>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Igice gito cy'umubiri gikurwa mu kintu cyose kidasanzwe.</a:t>
            </a:r>
            <a:endParaRPr lang="rw-RW" sz="1600" dirty="0"/>
          </a:p>
        </p:txBody>
      </p:sp>
      <p:sp>
        <p:nvSpPr>
          <p:cNvPr id="28" name="Text 26"/>
          <p:cNvSpPr txBox="1"/>
          <p:nvPr/>
        </p:nvSpPr>
        <p:spPr>
          <a:xfrm>
            <a:off x="9391254" y="2354580"/>
            <a:ext cx="219456" cy="457200"/>
          </a:xfrm>
          <a:prstGeom prst="rect">
            <a:avLst/>
          </a:prstGeom>
          <a:noFill/>
          <a:ln/>
        </p:spPr>
        <p:txBody>
          <a:bodyPr wrap="square" lIns="0" tIns="0" rIns="0" bIns="0" rtlCol="0" anchor="ctr"/>
          <a:lstStyle/>
          <a:p>
            <a:pPr marL="0" indent="0" algn="ctr">
              <a:buNone/>
            </a:pPr>
            <a:r>
              <a:rPr lang="rw-RW" sz="1600" b="1" dirty="0">
                <a:solidFill>
                  <a:srgbClr val="1F5FA9"/>
                </a:solidFill>
                <a:latin typeface="Calibri" pitchFamily="34" charset="0"/>
                <a:ea typeface="Calibri" pitchFamily="34" charset="-122"/>
                <a:cs typeface="Calibri" pitchFamily="34" charset="-120"/>
              </a:rPr>
              <a:t>»</a:t>
            </a:r>
            <a:endParaRPr lang="rw-RW" sz="1600" dirty="0"/>
          </a:p>
        </p:txBody>
      </p:sp>
      <p:sp>
        <p:nvSpPr>
          <p:cNvPr id="29" name="Shape 27"/>
          <p:cNvSpPr/>
          <p:nvPr/>
        </p:nvSpPr>
        <p:spPr>
          <a:xfrm>
            <a:off x="9628998" y="1417320"/>
            <a:ext cx="2014057" cy="2875788"/>
          </a:xfrm>
          <a:prstGeom prst="roundRect">
            <a:avLst>
              <a:gd name="adj" fmla="val 5448"/>
            </a:avLst>
          </a:prstGeom>
          <a:solidFill>
            <a:srgbClr val="F2F7FD"/>
          </a:solidFill>
          <a:ln w="12700">
            <a:solidFill>
              <a:srgbClr val="CBDDF3"/>
            </a:solidFill>
            <a:prstDash val="solid"/>
          </a:ln>
        </p:spPr>
        <p:txBody>
          <a:bodyPr/>
          <a:lstStyle/>
          <a:p>
            <a:endParaRPr lang="rw-RW" dirty="0"/>
          </a:p>
        </p:txBody>
      </p:sp>
      <p:sp>
        <p:nvSpPr>
          <p:cNvPr id="30" name="Shape 28"/>
          <p:cNvSpPr/>
          <p:nvPr/>
        </p:nvSpPr>
        <p:spPr>
          <a:xfrm>
            <a:off x="9830166" y="1600200"/>
            <a:ext cx="420624" cy="420624"/>
          </a:xfrm>
          <a:prstGeom prst="ellipse">
            <a:avLst/>
          </a:prstGeom>
          <a:solidFill>
            <a:srgbClr val="12305B"/>
          </a:solidFill>
          <a:ln/>
        </p:spPr>
        <p:txBody>
          <a:bodyPr/>
          <a:lstStyle/>
          <a:p>
            <a:endParaRPr lang="rw-RW" dirty="0"/>
          </a:p>
        </p:txBody>
      </p:sp>
      <p:sp>
        <p:nvSpPr>
          <p:cNvPr id="31" name="Text 29"/>
          <p:cNvSpPr txBox="1"/>
          <p:nvPr/>
        </p:nvSpPr>
        <p:spPr>
          <a:xfrm>
            <a:off x="9830166" y="1600200"/>
            <a:ext cx="420624" cy="420624"/>
          </a:xfrm>
          <a:prstGeom prst="rect">
            <a:avLst/>
          </a:prstGeom>
          <a:noFill/>
          <a:ln/>
        </p:spPr>
        <p:txBody>
          <a:bodyPr wrap="square" lIns="0" tIns="0" rIns="0" bIns="0" rtlCol="0" anchor="ctr"/>
          <a:lstStyle/>
          <a:p>
            <a:pPr marL="0" indent="0" algn="ctr">
              <a:buNone/>
            </a:pPr>
            <a:r>
              <a:rPr lang="rw-RW" b="1" dirty="0">
                <a:solidFill>
                  <a:srgbClr val="FFFFFF"/>
                </a:solidFill>
                <a:latin typeface="Calibri" pitchFamily="34" charset="0"/>
                <a:ea typeface="Calibri" pitchFamily="34" charset="-122"/>
                <a:cs typeface="Calibri" pitchFamily="34" charset="-120"/>
              </a:rPr>
              <a:t>5</a:t>
            </a:r>
            <a:endParaRPr lang="rw-RW" dirty="0"/>
          </a:p>
        </p:txBody>
      </p:sp>
      <p:sp>
        <p:nvSpPr>
          <p:cNvPr id="32" name="Text 30"/>
          <p:cNvSpPr txBox="1"/>
          <p:nvPr/>
        </p:nvSpPr>
        <p:spPr>
          <a:xfrm>
            <a:off x="10360518" y="1618488"/>
            <a:ext cx="1099657" cy="402336"/>
          </a:xfrm>
          <a:prstGeom prst="rect">
            <a:avLst/>
          </a:prstGeom>
          <a:noFill/>
          <a:ln/>
        </p:spPr>
        <p:txBody>
          <a:bodyPr wrap="square" lIns="0" tIns="0" rIns="0" bIns="0" rtlCol="0" anchor="ctr">
            <a:normAutofit/>
          </a:bodyPr>
          <a:lstStyle/>
          <a:p>
            <a:pPr marL="0" indent="0">
              <a:buNone/>
            </a:pPr>
            <a:r>
              <a:rPr lang="rw-RW" b="1" dirty="0">
                <a:solidFill>
                  <a:srgbClr val="12305B"/>
                </a:solidFill>
                <a:latin typeface="Calibri" pitchFamily="34" charset="0"/>
                <a:ea typeface="Calibri" pitchFamily="34" charset="-122"/>
                <a:cs typeface="Calibri" pitchFamily="34" charset="-120"/>
              </a:rPr>
              <a:t>Igisubizo</a:t>
            </a:r>
            <a:endParaRPr lang="rw-RW" dirty="0"/>
          </a:p>
        </p:txBody>
      </p:sp>
      <p:sp>
        <p:nvSpPr>
          <p:cNvPr id="33" name="Text 31"/>
          <p:cNvSpPr txBox="1"/>
          <p:nvPr/>
        </p:nvSpPr>
        <p:spPr>
          <a:xfrm>
            <a:off x="9830166" y="2130552"/>
            <a:ext cx="1611721" cy="1463040"/>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Ibice by'umubiri bigomba gusuzumwa kugira ngo harebwe niba hari kanseri y'amara.</a:t>
            </a:r>
            <a:endParaRPr lang="rw-RW" sz="1600" dirty="0"/>
          </a:p>
        </p:txBody>
      </p:sp>
      <p:sp>
        <p:nvSpPr>
          <p:cNvPr id="34" name="Shape 32"/>
          <p:cNvSpPr/>
          <p:nvPr/>
        </p:nvSpPr>
        <p:spPr>
          <a:xfrm>
            <a:off x="499412" y="4448556"/>
            <a:ext cx="4790576" cy="1849270"/>
          </a:xfrm>
          <a:prstGeom prst="roundRect">
            <a:avLst>
              <a:gd name="adj" fmla="val 10526"/>
            </a:avLst>
          </a:prstGeom>
          <a:solidFill>
            <a:srgbClr val="E9F5EC"/>
          </a:solidFill>
          <a:ln w="12700">
            <a:solidFill>
              <a:srgbClr val="AFD8BE"/>
            </a:solidFill>
            <a:prstDash val="solid"/>
          </a:ln>
        </p:spPr>
        <p:txBody>
          <a:bodyPr/>
          <a:lstStyle/>
          <a:p>
            <a:endParaRPr lang="rw-RW" sz="1600" dirty="0"/>
          </a:p>
        </p:txBody>
      </p:sp>
      <p:sp>
        <p:nvSpPr>
          <p:cNvPr id="35" name="Text 33"/>
          <p:cNvSpPr txBox="1"/>
          <p:nvPr/>
        </p:nvSpPr>
        <p:spPr>
          <a:xfrm>
            <a:off x="665098" y="4622292"/>
            <a:ext cx="2885151" cy="1588894"/>
          </a:xfrm>
          <a:prstGeom prst="rect">
            <a:avLst/>
          </a:prstGeom>
          <a:noFill/>
          <a:ln/>
        </p:spPr>
        <p:txBody>
          <a:bodyPr wrap="square" lIns="0" tIns="0" rIns="0" bIns="0" rtlCol="0" anchor="ctr">
            <a:noAutofit/>
          </a:bodyPr>
          <a:lstStyle/>
          <a:p>
            <a:pPr marL="0" indent="0">
              <a:buNone/>
            </a:pPr>
            <a:r>
              <a:rPr lang="rw-RW" sz="1600" dirty="0">
                <a:solidFill>
                  <a:srgbClr val="1B6B41"/>
                </a:solidFill>
                <a:latin typeface="Calibri" pitchFamily="34" charset="0"/>
                <a:ea typeface="Calibri" pitchFamily="34" charset="-122"/>
                <a:cs typeface="Calibri" pitchFamily="34" charset="-120"/>
              </a:rPr>
              <a:t>Gusuzuma agace k'umubiri muri laboratwari ni byo byemeza kanseri. Ibimenyetso byonyine, ibipimo by'amaraso byonyine, cyangwa ibyo kamera ibona byonyine ntibishobora kwemeza kanseri.</a:t>
            </a:r>
            <a:endParaRPr lang="rw-RW" sz="1600" dirty="0"/>
          </a:p>
        </p:txBody>
      </p:sp>
      <p:sp>
        <p:nvSpPr>
          <p:cNvPr id="36" name="Shape 34"/>
          <p:cNvSpPr/>
          <p:nvPr/>
        </p:nvSpPr>
        <p:spPr>
          <a:xfrm>
            <a:off x="5997117" y="4622292"/>
            <a:ext cx="5645937" cy="1771775"/>
          </a:xfrm>
          <a:prstGeom prst="roundRect">
            <a:avLst>
              <a:gd name="adj" fmla="val 10526"/>
            </a:avLst>
          </a:prstGeom>
          <a:solidFill>
            <a:srgbClr val="F2F7FD"/>
          </a:solidFill>
          <a:ln w="12700">
            <a:solidFill>
              <a:srgbClr val="CBDDF3"/>
            </a:solidFill>
            <a:prstDash val="solid"/>
          </a:ln>
        </p:spPr>
        <p:txBody>
          <a:bodyPr/>
          <a:lstStyle/>
          <a:p>
            <a:endParaRPr lang="rw-RW" sz="1600" dirty="0"/>
          </a:p>
        </p:txBody>
      </p:sp>
      <p:sp>
        <p:nvSpPr>
          <p:cNvPr id="37" name="Text 35"/>
          <p:cNvSpPr txBox="1"/>
          <p:nvPr/>
        </p:nvSpPr>
        <p:spPr>
          <a:xfrm>
            <a:off x="6143782" y="4752454"/>
            <a:ext cx="2533051" cy="1513612"/>
          </a:xfrm>
          <a:prstGeom prst="rect">
            <a:avLst/>
          </a:prstGeom>
          <a:noFill/>
          <a:ln/>
        </p:spPr>
        <p:txBody>
          <a:bodyPr wrap="square" lIns="0" tIns="0" rIns="0" bIns="0" rtlCol="0" anchor="ctr"/>
          <a:lstStyle/>
          <a:p>
            <a:pPr marL="0" indent="0">
              <a:buNone/>
            </a:pPr>
            <a:r>
              <a:rPr lang="rw-RW" sz="1600" dirty="0">
                <a:solidFill>
                  <a:srgbClr val="17335F"/>
                </a:solidFill>
                <a:latin typeface="Calibri" pitchFamily="34" charset="0"/>
                <a:ea typeface="Calibri" pitchFamily="34" charset="-122"/>
                <a:cs typeface="Calibri" pitchFamily="34" charset="-120"/>
              </a:rPr>
              <a:t>Ntabwo usoma ibisubizo kandi ntubisobanura. Usobanura ibizaba, kandi ufasha umuntu kuhagera no kugaruka.</a:t>
            </a:r>
            <a:endParaRPr lang="rw-RW" sz="1600" dirty="0"/>
          </a:p>
        </p:txBody>
      </p:sp>
      <p:pic>
        <p:nvPicPr>
          <p:cNvPr id="46" name="Imagen 45">
            <a:extLst>
              <a:ext uri="{FF2B5EF4-FFF2-40B4-BE49-F238E27FC236}">
                <a16:creationId xmlns:a16="http://schemas.microsoft.com/office/drawing/2014/main" id="{0F8B2284-8853-6F72-EFC1-18F490A330B2}"/>
              </a:ext>
            </a:extLst>
          </p:cNvPr>
          <p:cNvPicPr>
            <a:picLocks noChangeAspect="1"/>
          </p:cNvPicPr>
          <p:nvPr/>
        </p:nvPicPr>
        <p:blipFill>
          <a:blip r:embed="rId3"/>
          <a:stretch>
            <a:fillRect/>
          </a:stretch>
        </p:blipFill>
        <p:spPr>
          <a:xfrm>
            <a:off x="3597182" y="4560404"/>
            <a:ext cx="1590378" cy="1590378"/>
          </a:xfrm>
          <a:prstGeom prst="rect">
            <a:avLst/>
          </a:prstGeom>
        </p:spPr>
      </p:pic>
      <p:pic>
        <p:nvPicPr>
          <p:cNvPr id="50" name="Imagen 49">
            <a:extLst>
              <a:ext uri="{FF2B5EF4-FFF2-40B4-BE49-F238E27FC236}">
                <a16:creationId xmlns:a16="http://schemas.microsoft.com/office/drawing/2014/main" id="{9DBAF403-29DE-3B78-F276-05F49F2B6B18}"/>
              </a:ext>
            </a:extLst>
          </p:cNvPr>
          <p:cNvPicPr>
            <a:picLocks noChangeAspect="1"/>
          </p:cNvPicPr>
          <p:nvPr/>
        </p:nvPicPr>
        <p:blipFill>
          <a:blip r:embed="rId4"/>
          <a:stretch>
            <a:fillRect/>
          </a:stretch>
        </p:blipFill>
        <p:spPr>
          <a:xfrm>
            <a:off x="8834954" y="4810448"/>
            <a:ext cx="2485122" cy="1419214"/>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4</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Akaregeya gakura mu mara si ko buri gihe kaba kanseri</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Abajyanama b'ubuzima | Ikigo cy'Igihugu gishinzwe Ubuvuzi (RBC)</a:t>
            </a:r>
            <a:endParaRPr lang="rw-RW" sz="1100" dirty="0"/>
          </a:p>
        </p:txBody>
      </p:sp>
      <p:sp>
        <p:nvSpPr>
          <p:cNvPr id="5" name="Shape 3"/>
          <p:cNvSpPr/>
          <p:nvPr/>
        </p:nvSpPr>
        <p:spPr>
          <a:xfrm>
            <a:off x="548640" y="1196927"/>
            <a:ext cx="3515258" cy="2011680"/>
          </a:xfrm>
          <a:prstGeom prst="roundRect">
            <a:avLst>
              <a:gd name="adj" fmla="val 5455"/>
            </a:avLst>
          </a:prstGeom>
          <a:solidFill>
            <a:srgbClr val="F2F7FD"/>
          </a:solidFill>
          <a:ln w="12700">
            <a:solidFill>
              <a:srgbClr val="CBDDF3"/>
            </a:solidFill>
            <a:prstDash val="solid"/>
          </a:ln>
        </p:spPr>
        <p:txBody>
          <a:bodyPr/>
          <a:lstStyle/>
          <a:p>
            <a:endParaRPr lang="rw-RW" sz="1600" dirty="0"/>
          </a:p>
        </p:txBody>
      </p:sp>
      <p:sp>
        <p:nvSpPr>
          <p:cNvPr id="6" name="Text 4"/>
          <p:cNvSpPr txBox="1"/>
          <p:nvPr/>
        </p:nvSpPr>
        <p:spPr>
          <a:xfrm>
            <a:off x="749808" y="1343231"/>
            <a:ext cx="3112922"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Byinshi muri byo si kanseri</a:t>
            </a:r>
            <a:endParaRPr lang="rw-RW" dirty="0"/>
          </a:p>
        </p:txBody>
      </p:sp>
      <p:sp>
        <p:nvSpPr>
          <p:cNvPr id="7" name="Text 5"/>
          <p:cNvSpPr txBox="1"/>
          <p:nvPr/>
        </p:nvSpPr>
        <p:spPr>
          <a:xfrm>
            <a:off x="749808" y="1634902"/>
            <a:ext cx="1558224" cy="131673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Abantu benshi bagira uturegeya duto / polypes mu mara. Byinshi muri byo ntabwo bihinduka kanseri.</a:t>
            </a:r>
            <a:endParaRPr lang="rw-RW" sz="1600" dirty="0"/>
          </a:p>
        </p:txBody>
      </p:sp>
      <p:sp>
        <p:nvSpPr>
          <p:cNvPr id="8" name="Shape 6"/>
          <p:cNvSpPr/>
          <p:nvPr/>
        </p:nvSpPr>
        <p:spPr>
          <a:xfrm>
            <a:off x="4338218" y="1196927"/>
            <a:ext cx="3515258" cy="2011680"/>
          </a:xfrm>
          <a:prstGeom prst="roundRect">
            <a:avLst>
              <a:gd name="adj" fmla="val 5455"/>
            </a:avLst>
          </a:prstGeom>
          <a:solidFill>
            <a:srgbClr val="F2F7FD"/>
          </a:solidFill>
          <a:ln w="12700">
            <a:solidFill>
              <a:srgbClr val="CBDDF3"/>
            </a:solidFill>
            <a:prstDash val="solid"/>
          </a:ln>
        </p:spPr>
        <p:txBody>
          <a:bodyPr/>
          <a:lstStyle/>
          <a:p>
            <a:endParaRPr lang="rw-RW" sz="1600" dirty="0"/>
          </a:p>
        </p:txBody>
      </p:sp>
      <p:sp>
        <p:nvSpPr>
          <p:cNvPr id="9" name="Text 7"/>
          <p:cNvSpPr txBox="1"/>
          <p:nvPr/>
        </p:nvSpPr>
        <p:spPr>
          <a:xfrm>
            <a:off x="4539386" y="1343231"/>
            <a:ext cx="3112922"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Bimwe bishobora guhinduka</a:t>
            </a:r>
            <a:endParaRPr lang="rw-RW" dirty="0"/>
          </a:p>
        </p:txBody>
      </p:sp>
      <p:sp>
        <p:nvSpPr>
          <p:cNvPr id="10" name="Text 8"/>
          <p:cNvSpPr txBox="1"/>
          <p:nvPr/>
        </p:nvSpPr>
        <p:spPr>
          <a:xfrm>
            <a:off x="4539385" y="1623179"/>
            <a:ext cx="3250267" cy="131673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Ubwoko bumwe bushobora guhinduka buhoro buhoro uko imyaka igenda ihita. Nta muntu n'umwe ushobora kumenya ubwoko bwabyo mu kubireba hanze.</a:t>
            </a:r>
            <a:endParaRPr lang="rw-RW" sz="1600" dirty="0"/>
          </a:p>
        </p:txBody>
      </p:sp>
      <p:sp>
        <p:nvSpPr>
          <p:cNvPr id="11" name="Shape 9"/>
          <p:cNvSpPr/>
          <p:nvPr/>
        </p:nvSpPr>
        <p:spPr>
          <a:xfrm>
            <a:off x="8127797" y="1196927"/>
            <a:ext cx="3515258" cy="2011680"/>
          </a:xfrm>
          <a:prstGeom prst="roundRect">
            <a:avLst>
              <a:gd name="adj" fmla="val 5455"/>
            </a:avLst>
          </a:prstGeom>
          <a:solidFill>
            <a:srgbClr val="F2F7FD"/>
          </a:solidFill>
          <a:ln w="12700">
            <a:solidFill>
              <a:srgbClr val="CBDDF3"/>
            </a:solidFill>
            <a:prstDash val="solid"/>
          </a:ln>
        </p:spPr>
        <p:txBody>
          <a:bodyPr/>
          <a:lstStyle/>
          <a:p>
            <a:endParaRPr lang="rw-RW" sz="1600" dirty="0"/>
          </a:p>
        </p:txBody>
      </p:sp>
      <p:sp>
        <p:nvSpPr>
          <p:cNvPr id="12" name="Text 10"/>
          <p:cNvSpPr txBox="1"/>
          <p:nvPr/>
        </p:nvSpPr>
        <p:spPr>
          <a:xfrm>
            <a:off x="8328965" y="1343231"/>
            <a:ext cx="3112922"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Kubikuraho birafasha</a:t>
            </a:r>
            <a:endParaRPr lang="rw-RW" dirty="0"/>
          </a:p>
        </p:txBody>
      </p:sp>
      <p:sp>
        <p:nvSpPr>
          <p:cNvPr id="13" name="Text 11"/>
          <p:cNvSpPr txBox="1"/>
          <p:nvPr/>
        </p:nvSpPr>
        <p:spPr>
          <a:xfrm>
            <a:off x="8328965" y="1763855"/>
            <a:ext cx="3112922" cy="1316736"/>
          </a:xfrm>
          <a:prstGeom prst="rect">
            <a:avLst/>
          </a:prstGeom>
          <a:noFill/>
          <a:ln/>
        </p:spPr>
        <p:txBody>
          <a:bodyPr wrap="square" lIns="0" tIns="0" rIns="0" bIns="0" rtlCol="0" anchor="t">
            <a:norm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Iyo akaregeya gakura gakuweho mu gihe cy'ikizamini cya kamera, ashobora kwirindwa kanseri y'amara.</a:t>
            </a:r>
            <a:endParaRPr lang="rw-RW" sz="1600" dirty="0"/>
          </a:p>
        </p:txBody>
      </p:sp>
      <p:sp>
        <p:nvSpPr>
          <p:cNvPr id="14" name="Shape 12"/>
          <p:cNvSpPr/>
          <p:nvPr/>
        </p:nvSpPr>
        <p:spPr>
          <a:xfrm>
            <a:off x="548640" y="3465577"/>
            <a:ext cx="11094415" cy="946748"/>
          </a:xfrm>
          <a:prstGeom prst="roundRect">
            <a:avLst>
              <a:gd name="adj" fmla="val 12821"/>
            </a:avLst>
          </a:prstGeom>
          <a:solidFill>
            <a:srgbClr val="E9F5EC"/>
          </a:solidFill>
          <a:ln w="12700">
            <a:solidFill>
              <a:srgbClr val="AFD8BE"/>
            </a:solidFill>
            <a:prstDash val="solid"/>
          </a:ln>
        </p:spPr>
        <p:txBody>
          <a:bodyPr/>
          <a:lstStyle/>
          <a:p>
            <a:endParaRPr lang="rw-RW" sz="1600" dirty="0"/>
          </a:p>
        </p:txBody>
      </p:sp>
      <p:sp>
        <p:nvSpPr>
          <p:cNvPr id="15" name="Text 13"/>
          <p:cNvSpPr txBox="1"/>
          <p:nvPr/>
        </p:nvSpPr>
        <p:spPr>
          <a:xfrm>
            <a:off x="777240" y="3657600"/>
            <a:ext cx="9781492" cy="530352"/>
          </a:xfrm>
          <a:prstGeom prst="rect">
            <a:avLst/>
          </a:prstGeom>
          <a:noFill/>
          <a:ln/>
        </p:spPr>
        <p:txBody>
          <a:bodyPr wrap="square" lIns="0" tIns="0" rIns="0" bIns="0" rtlCol="0" anchor="ctr">
            <a:noAutofit/>
          </a:bodyPr>
          <a:lstStyle/>
          <a:p>
            <a:pPr marL="0" indent="0">
              <a:buNone/>
            </a:pPr>
            <a:r>
              <a:rPr lang="rw-RW" sz="1600" dirty="0">
                <a:solidFill>
                  <a:srgbClr val="1B6B41"/>
                </a:solidFill>
                <a:latin typeface="Calibri" pitchFamily="34" charset="0"/>
                <a:ea typeface="Calibri" pitchFamily="34" charset="-122"/>
                <a:cs typeface="Calibri" pitchFamily="34" charset="-120"/>
              </a:rPr>
              <a:t>Umuntu wakuweho igiheri aba yirinze indwara, ntabwo aba afite kanseri. Ibi ni ikintu cyiza, kuko abantu benshi bumva ijambo giheri bagatekereza ko risobanura kanseri.</a:t>
            </a:r>
            <a:endParaRPr lang="rw-RW" sz="1600" dirty="0"/>
          </a:p>
        </p:txBody>
      </p:sp>
      <p:sp>
        <p:nvSpPr>
          <p:cNvPr id="16" name="Shape 14"/>
          <p:cNvSpPr/>
          <p:nvPr/>
        </p:nvSpPr>
        <p:spPr>
          <a:xfrm>
            <a:off x="534403" y="4476333"/>
            <a:ext cx="5410048" cy="1814739"/>
          </a:xfrm>
          <a:prstGeom prst="roundRect">
            <a:avLst>
              <a:gd name="adj" fmla="val 7500"/>
            </a:avLst>
          </a:prstGeom>
          <a:solidFill>
            <a:srgbClr val="F2F7FD"/>
          </a:solidFill>
          <a:ln w="12700">
            <a:solidFill>
              <a:srgbClr val="CBDDF3"/>
            </a:solidFill>
            <a:prstDash val="solid"/>
          </a:ln>
        </p:spPr>
        <p:txBody>
          <a:bodyPr/>
          <a:lstStyle/>
          <a:p>
            <a:endParaRPr lang="rw-RW" sz="1600" dirty="0"/>
          </a:p>
        </p:txBody>
      </p:sp>
      <p:sp>
        <p:nvSpPr>
          <p:cNvPr id="17" name="Text 15"/>
          <p:cNvSpPr txBox="1"/>
          <p:nvPr/>
        </p:nvSpPr>
        <p:spPr>
          <a:xfrm>
            <a:off x="633424" y="4532750"/>
            <a:ext cx="3527542"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Icyo wabivugaho</a:t>
            </a:r>
            <a:endParaRPr lang="rw-RW" dirty="0"/>
          </a:p>
        </p:txBody>
      </p:sp>
      <p:sp>
        <p:nvSpPr>
          <p:cNvPr id="18" name="Text 16"/>
          <p:cNvSpPr txBox="1"/>
          <p:nvPr/>
        </p:nvSpPr>
        <p:spPr>
          <a:xfrm>
            <a:off x="648182" y="4938837"/>
            <a:ext cx="3269501" cy="1306039"/>
          </a:xfrm>
          <a:prstGeom prst="rect">
            <a:avLst/>
          </a:prstGeom>
          <a:noFill/>
          <a:ln/>
        </p:spPr>
        <p:txBody>
          <a:bodyPr wrap="square" lIns="0" tIns="0" rIns="0" bIns="0" rtlCol="0" anchor="t"/>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"Babonye igiheri gito maze barakikuramo. Iyi ni inkuru nziza. Bivuze ko kitazashobora guteza ibibazo nyuma."</a:t>
            </a:r>
            <a:endParaRPr lang="rw-RW" sz="1600" dirty="0"/>
          </a:p>
        </p:txBody>
      </p:sp>
      <p:sp>
        <p:nvSpPr>
          <p:cNvPr id="19" name="Shape 17"/>
          <p:cNvSpPr/>
          <p:nvPr/>
        </p:nvSpPr>
        <p:spPr>
          <a:xfrm>
            <a:off x="6233008" y="4480560"/>
            <a:ext cx="5410048" cy="1463040"/>
          </a:xfrm>
          <a:prstGeom prst="roundRect">
            <a:avLst>
              <a:gd name="adj" fmla="val 7500"/>
            </a:avLst>
          </a:prstGeom>
          <a:solidFill>
            <a:srgbClr val="F2F7FD"/>
          </a:solidFill>
          <a:ln w="12700">
            <a:solidFill>
              <a:srgbClr val="CBDDF3"/>
            </a:solidFill>
            <a:prstDash val="solid"/>
          </a:ln>
        </p:spPr>
        <p:txBody>
          <a:bodyPr/>
          <a:lstStyle/>
          <a:p>
            <a:endParaRPr lang="rw-RW" sz="1600" dirty="0"/>
          </a:p>
        </p:txBody>
      </p:sp>
      <p:sp>
        <p:nvSpPr>
          <p:cNvPr id="20" name="Text 18"/>
          <p:cNvSpPr txBox="1"/>
          <p:nvPr/>
        </p:nvSpPr>
        <p:spPr>
          <a:xfrm>
            <a:off x="6434176" y="4626864"/>
            <a:ext cx="5007712"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Ibyo utagomba kuvuga</a:t>
            </a:r>
            <a:endParaRPr lang="rw-RW" dirty="0"/>
          </a:p>
        </p:txBody>
      </p:sp>
      <p:sp>
        <p:nvSpPr>
          <p:cNvPr id="21" name="Text 19"/>
          <p:cNvSpPr txBox="1"/>
          <p:nvPr/>
        </p:nvSpPr>
        <p:spPr>
          <a:xfrm>
            <a:off x="6434176" y="5047488"/>
            <a:ext cx="5007712" cy="76809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"Babonye ikintu, ku buryo ushobora kuba urwaye kanseri." Ntuzigere ukeka indwara umuntu arwaye kandi ntuzigere usubiramo ibihuha.</a:t>
            </a:r>
            <a:endParaRPr lang="rw-RW" sz="1600" dirty="0"/>
          </a:p>
        </p:txBody>
      </p:sp>
      <p:pic>
        <p:nvPicPr>
          <p:cNvPr id="23" name="Picture 22">
            <a:extLst>
              <a:ext uri="{FF2B5EF4-FFF2-40B4-BE49-F238E27FC236}">
                <a16:creationId xmlns:a16="http://schemas.microsoft.com/office/drawing/2014/main" id="{A58A497A-36BE-3DEE-3BCF-07CAF9A89B60}"/>
              </a:ext>
            </a:extLst>
          </p:cNvPr>
          <p:cNvPicPr>
            <a:picLocks noChangeAspect="1"/>
          </p:cNvPicPr>
          <p:nvPr/>
        </p:nvPicPr>
        <p:blipFill>
          <a:blip r:embed="rId3"/>
          <a:srcRect/>
          <a:stretch>
            <a:fillRect/>
          </a:stretch>
        </p:blipFill>
        <p:spPr>
          <a:xfrm>
            <a:off x="2308032" y="1964180"/>
            <a:ext cx="1637345" cy="801003"/>
          </a:xfrm>
          <a:prstGeom prst="rect">
            <a:avLst/>
          </a:prstGeom>
        </p:spPr>
      </p:pic>
      <p:pic>
        <p:nvPicPr>
          <p:cNvPr id="25" name="Picture 24">
            <a:extLst>
              <a:ext uri="{FF2B5EF4-FFF2-40B4-BE49-F238E27FC236}">
                <a16:creationId xmlns:a16="http://schemas.microsoft.com/office/drawing/2014/main" id="{47ED1F5E-5777-C5AD-771D-3607E28EE558}"/>
              </a:ext>
            </a:extLst>
          </p:cNvPr>
          <p:cNvPicPr>
            <a:picLocks noChangeAspect="1"/>
          </p:cNvPicPr>
          <p:nvPr/>
        </p:nvPicPr>
        <p:blipFill>
          <a:blip r:embed="rId4"/>
          <a:srcRect/>
          <a:stretch>
            <a:fillRect/>
          </a:stretch>
        </p:blipFill>
        <p:spPr>
          <a:xfrm>
            <a:off x="5455291" y="2639283"/>
            <a:ext cx="1329146" cy="543300"/>
          </a:xfrm>
          <a:prstGeom prst="rect">
            <a:avLst/>
          </a:prstGeom>
        </p:spPr>
      </p:pic>
      <p:pic>
        <p:nvPicPr>
          <p:cNvPr id="27" name="Picture 26">
            <a:extLst>
              <a:ext uri="{FF2B5EF4-FFF2-40B4-BE49-F238E27FC236}">
                <a16:creationId xmlns:a16="http://schemas.microsoft.com/office/drawing/2014/main" id="{24432C5A-FA18-6378-B7FE-DC33BE1DA06E}"/>
              </a:ext>
            </a:extLst>
          </p:cNvPr>
          <p:cNvPicPr>
            <a:picLocks noChangeAspect="1"/>
          </p:cNvPicPr>
          <p:nvPr/>
        </p:nvPicPr>
        <p:blipFill>
          <a:blip r:embed="rId5"/>
          <a:stretch>
            <a:fillRect/>
          </a:stretch>
        </p:blipFill>
        <p:spPr>
          <a:xfrm>
            <a:off x="9378773" y="2571732"/>
            <a:ext cx="719754" cy="615063"/>
          </a:xfrm>
          <a:prstGeom prst="rect">
            <a:avLst/>
          </a:prstGeom>
        </p:spPr>
      </p:pic>
      <p:pic>
        <p:nvPicPr>
          <p:cNvPr id="22" name="Imagen 21">
            <a:extLst>
              <a:ext uri="{FF2B5EF4-FFF2-40B4-BE49-F238E27FC236}">
                <a16:creationId xmlns:a16="http://schemas.microsoft.com/office/drawing/2014/main" id="{C1CDD73E-9FAF-8B49-F707-21E9C32706BE}"/>
              </a:ext>
            </a:extLst>
          </p:cNvPr>
          <p:cNvPicPr>
            <a:picLocks noChangeAspect="1"/>
          </p:cNvPicPr>
          <p:nvPr/>
        </p:nvPicPr>
        <p:blipFill>
          <a:blip r:embed="rId6"/>
          <a:stretch>
            <a:fillRect/>
          </a:stretch>
        </p:blipFill>
        <p:spPr>
          <a:xfrm>
            <a:off x="10558732" y="3529584"/>
            <a:ext cx="714149" cy="830920"/>
          </a:xfrm>
          <a:prstGeom prst="rect">
            <a:avLst/>
          </a:prstGeom>
        </p:spPr>
      </p:pic>
      <p:pic>
        <p:nvPicPr>
          <p:cNvPr id="24" name="Imagen 23">
            <a:extLst>
              <a:ext uri="{FF2B5EF4-FFF2-40B4-BE49-F238E27FC236}">
                <a16:creationId xmlns:a16="http://schemas.microsoft.com/office/drawing/2014/main" id="{051FB578-1E8D-D7F8-B28D-CEAF1825435B}"/>
              </a:ext>
            </a:extLst>
          </p:cNvPr>
          <p:cNvPicPr>
            <a:picLocks noChangeAspect="1"/>
          </p:cNvPicPr>
          <p:nvPr/>
        </p:nvPicPr>
        <p:blipFill>
          <a:blip r:embed="rId7"/>
          <a:stretch>
            <a:fillRect/>
          </a:stretch>
        </p:blipFill>
        <p:spPr>
          <a:xfrm>
            <a:off x="4211766" y="4608583"/>
            <a:ext cx="1429370" cy="156039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4</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Ubwoko bw'ubuvuzi</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Shape 3"/>
          <p:cNvSpPr/>
          <p:nvPr/>
        </p:nvSpPr>
        <p:spPr>
          <a:xfrm>
            <a:off x="548640" y="1325879"/>
            <a:ext cx="3207377" cy="2033497"/>
          </a:xfrm>
          <a:prstGeom prst="roundRect">
            <a:avLst>
              <a:gd name="adj" fmla="val 6000"/>
            </a:avLst>
          </a:prstGeom>
          <a:solidFill>
            <a:srgbClr val="F2F7FD"/>
          </a:solidFill>
          <a:ln w="12700">
            <a:solidFill>
              <a:srgbClr val="CBDDF3"/>
            </a:solidFill>
            <a:prstDash val="solid"/>
          </a:ln>
        </p:spPr>
        <p:txBody>
          <a:bodyPr/>
          <a:lstStyle/>
          <a:p>
            <a:endParaRPr lang="rw-RW" sz="1600" dirty="0"/>
          </a:p>
        </p:txBody>
      </p:sp>
      <p:sp>
        <p:nvSpPr>
          <p:cNvPr id="6" name="Text 4"/>
          <p:cNvSpPr txBox="1"/>
          <p:nvPr/>
        </p:nvSpPr>
        <p:spPr>
          <a:xfrm>
            <a:off x="749808" y="1472184"/>
            <a:ext cx="3112922" cy="384048"/>
          </a:xfrm>
          <a:prstGeom prst="rect">
            <a:avLst/>
          </a:prstGeom>
          <a:noFill/>
          <a:ln/>
        </p:spPr>
        <p:txBody>
          <a:bodyPr wrap="square" lIns="0" tIns="0" rIns="0" bIns="0" rtlCol="0" anchor="t">
            <a:noAutofit/>
          </a:bodyPr>
          <a:lstStyle/>
          <a:p>
            <a:pPr marL="0" indent="0">
              <a:buNone/>
            </a:pPr>
            <a:r>
              <a:rPr lang="rw-RW" b="1" dirty="0">
                <a:solidFill>
                  <a:srgbClr val="12305B"/>
                </a:solidFill>
                <a:latin typeface="Calibri" pitchFamily="34" charset="0"/>
                <a:ea typeface="Calibri" pitchFamily="34" charset="-122"/>
                <a:cs typeface="Calibri" pitchFamily="34" charset="-120"/>
              </a:rPr>
              <a:t>Gukuraho akaregeya gakura (polyp)</a:t>
            </a:r>
            <a:endParaRPr lang="rw-RW" dirty="0"/>
          </a:p>
        </p:txBody>
      </p:sp>
      <p:sp>
        <p:nvSpPr>
          <p:cNvPr id="7" name="Text 5"/>
          <p:cNvSpPr txBox="1"/>
          <p:nvPr/>
        </p:nvSpPr>
        <p:spPr>
          <a:xfrm>
            <a:off x="749808" y="2033484"/>
            <a:ext cx="1954067" cy="113385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Uduce duto dushobora gukurwaho mu gihe cyo kugenzura hakoreshejwe kamera, nta kubagwa.</a:t>
            </a:r>
            <a:endParaRPr lang="rw-RW" sz="1600" dirty="0"/>
          </a:p>
        </p:txBody>
      </p:sp>
      <p:sp>
        <p:nvSpPr>
          <p:cNvPr id="8" name="Shape 6"/>
          <p:cNvSpPr/>
          <p:nvPr/>
        </p:nvSpPr>
        <p:spPr>
          <a:xfrm>
            <a:off x="3957185" y="1325879"/>
            <a:ext cx="3896291" cy="2033497"/>
          </a:xfrm>
          <a:prstGeom prst="roundRect">
            <a:avLst>
              <a:gd name="adj" fmla="val 6000"/>
            </a:avLst>
          </a:prstGeom>
          <a:solidFill>
            <a:srgbClr val="F2F7FD"/>
          </a:solidFill>
          <a:ln w="12700">
            <a:solidFill>
              <a:srgbClr val="CBDDF3"/>
            </a:solidFill>
            <a:prstDash val="solid"/>
          </a:ln>
        </p:spPr>
        <p:txBody>
          <a:bodyPr/>
          <a:lstStyle/>
          <a:p>
            <a:endParaRPr lang="rw-RW" sz="1600" dirty="0"/>
          </a:p>
        </p:txBody>
      </p:sp>
      <p:sp>
        <p:nvSpPr>
          <p:cNvPr id="9" name="Text 7"/>
          <p:cNvSpPr txBox="1"/>
          <p:nvPr/>
        </p:nvSpPr>
        <p:spPr>
          <a:xfrm>
            <a:off x="4137051" y="1448459"/>
            <a:ext cx="3112922" cy="384048"/>
          </a:xfrm>
          <a:prstGeom prst="rect">
            <a:avLst/>
          </a:prstGeom>
          <a:noFill/>
          <a:ln/>
        </p:spPr>
        <p:txBody>
          <a:bodyPr wrap="square" lIns="0" tIns="0" rIns="0" bIns="0" rtlCol="0" anchor="t">
            <a:noAutofit/>
          </a:bodyPr>
          <a:lstStyle/>
          <a:p>
            <a:pPr marL="0" indent="0">
              <a:buNone/>
            </a:pPr>
            <a:r>
              <a:rPr lang="rw-RW" b="1" dirty="0">
                <a:solidFill>
                  <a:srgbClr val="12305B"/>
                </a:solidFill>
                <a:latin typeface="Calibri" pitchFamily="34" charset="0"/>
                <a:ea typeface="Calibri" pitchFamily="34" charset="-122"/>
                <a:cs typeface="Calibri" pitchFamily="34" charset="-120"/>
              </a:rPr>
              <a:t>Kubaga</a:t>
            </a:r>
            <a:endParaRPr lang="rw-RW" dirty="0"/>
          </a:p>
        </p:txBody>
      </p:sp>
      <p:sp>
        <p:nvSpPr>
          <p:cNvPr id="10" name="Text 8"/>
          <p:cNvSpPr txBox="1"/>
          <p:nvPr/>
        </p:nvSpPr>
        <p:spPr>
          <a:xfrm>
            <a:off x="4122126" y="1775405"/>
            <a:ext cx="2427743" cy="1268078"/>
          </a:xfrm>
          <a:prstGeom prst="rect">
            <a:avLst/>
          </a:prstGeom>
          <a:noFill/>
          <a:ln/>
        </p:spPr>
        <p:txBody>
          <a:bodyPr wrap="square" lIns="0" tIns="0" rIns="0" bIns="0" rtlCol="0" anchor="t"/>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Kubagwa bikuraho igice cy'amara gifite kanseri, kandi impande zombi zikunze guhuzwa.</a:t>
            </a:r>
            <a:endParaRPr lang="rw-RW" sz="1600" dirty="0"/>
          </a:p>
        </p:txBody>
      </p:sp>
      <p:sp>
        <p:nvSpPr>
          <p:cNvPr id="11" name="Shape 9"/>
          <p:cNvSpPr/>
          <p:nvPr/>
        </p:nvSpPr>
        <p:spPr>
          <a:xfrm>
            <a:off x="8127797" y="1325879"/>
            <a:ext cx="3515258" cy="2033497"/>
          </a:xfrm>
          <a:prstGeom prst="roundRect">
            <a:avLst>
              <a:gd name="adj" fmla="val 6000"/>
            </a:avLst>
          </a:prstGeom>
          <a:solidFill>
            <a:srgbClr val="F2F7FD"/>
          </a:solidFill>
          <a:ln w="12700">
            <a:solidFill>
              <a:srgbClr val="CBDDF3"/>
            </a:solidFill>
            <a:prstDash val="solid"/>
          </a:ln>
        </p:spPr>
        <p:txBody>
          <a:bodyPr/>
          <a:lstStyle/>
          <a:p>
            <a:endParaRPr lang="rw-RW" sz="1600" dirty="0"/>
          </a:p>
        </p:txBody>
      </p:sp>
      <p:sp>
        <p:nvSpPr>
          <p:cNvPr id="12" name="Text 10"/>
          <p:cNvSpPr txBox="1"/>
          <p:nvPr/>
        </p:nvSpPr>
        <p:spPr>
          <a:xfrm>
            <a:off x="8328965" y="1472184"/>
            <a:ext cx="3112922" cy="384048"/>
          </a:xfrm>
          <a:prstGeom prst="rect">
            <a:avLst/>
          </a:prstGeom>
          <a:noFill/>
          <a:ln/>
        </p:spPr>
        <p:txBody>
          <a:bodyPr wrap="square" lIns="0" tIns="0" rIns="0" bIns="0" rtlCol="0" anchor="t">
            <a:noAutofit/>
          </a:bodyPr>
          <a:lstStyle/>
          <a:p>
            <a:pPr marL="0" indent="0">
              <a:buNone/>
            </a:pPr>
            <a:r>
              <a:rPr lang="rw-RW" b="1" dirty="0">
                <a:solidFill>
                  <a:srgbClr val="12305B"/>
                </a:solidFill>
                <a:latin typeface="Calibri" pitchFamily="34" charset="0"/>
                <a:ea typeface="Calibri" pitchFamily="34" charset="-122"/>
                <a:cs typeface="Calibri" pitchFamily="34" charset="-120"/>
              </a:rPr>
              <a:t>Imiti ya kanseri</a:t>
            </a:r>
            <a:endParaRPr lang="rw-RW" dirty="0"/>
          </a:p>
        </p:txBody>
      </p:sp>
      <p:sp>
        <p:nvSpPr>
          <p:cNvPr id="13" name="Text 11"/>
          <p:cNvSpPr txBox="1"/>
          <p:nvPr/>
        </p:nvSpPr>
        <p:spPr>
          <a:xfrm>
            <a:off x="8228381" y="1777042"/>
            <a:ext cx="2320757" cy="1249622"/>
          </a:xfrm>
          <a:prstGeom prst="rect">
            <a:avLst/>
          </a:prstGeom>
          <a:noFill/>
          <a:ln/>
        </p:spPr>
        <p:txBody>
          <a:bodyPr wrap="square" lIns="0" tIns="0" rIns="0" bIns="0" rtlCol="0" anchor="t"/>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Imiti ikora ku mubiri wose. Itangwa mu byiciro mu gihe cy'amezi runaka.</a:t>
            </a:r>
            <a:endParaRPr lang="rw-RW" sz="1600" dirty="0"/>
          </a:p>
        </p:txBody>
      </p:sp>
      <p:sp>
        <p:nvSpPr>
          <p:cNvPr id="14" name="Shape 12"/>
          <p:cNvSpPr/>
          <p:nvPr/>
        </p:nvSpPr>
        <p:spPr>
          <a:xfrm>
            <a:off x="548640" y="3547401"/>
            <a:ext cx="3515258" cy="1915551"/>
          </a:xfrm>
          <a:prstGeom prst="roundRect">
            <a:avLst>
              <a:gd name="adj" fmla="val 6000"/>
            </a:avLst>
          </a:prstGeom>
          <a:solidFill>
            <a:srgbClr val="F2F7FD"/>
          </a:solidFill>
          <a:ln w="12700">
            <a:solidFill>
              <a:srgbClr val="CBDDF3"/>
            </a:solidFill>
            <a:prstDash val="solid"/>
          </a:ln>
        </p:spPr>
        <p:txBody>
          <a:bodyPr/>
          <a:lstStyle/>
          <a:p>
            <a:endParaRPr lang="rw-RW" sz="1600" dirty="0"/>
          </a:p>
        </p:txBody>
      </p:sp>
      <p:sp>
        <p:nvSpPr>
          <p:cNvPr id="15" name="Text 13"/>
          <p:cNvSpPr txBox="1"/>
          <p:nvPr/>
        </p:nvSpPr>
        <p:spPr>
          <a:xfrm>
            <a:off x="749808" y="3693706"/>
            <a:ext cx="3112922" cy="384048"/>
          </a:xfrm>
          <a:prstGeom prst="rect">
            <a:avLst/>
          </a:prstGeom>
          <a:noFill/>
          <a:ln/>
        </p:spPr>
        <p:txBody>
          <a:bodyPr wrap="square" lIns="0" tIns="0" rIns="0" bIns="0" rtlCol="0" anchor="t">
            <a:normAutofit fontScale="97500"/>
          </a:bodyPr>
          <a:lstStyle/>
          <a:p>
            <a:pPr marL="0" indent="0">
              <a:buNone/>
            </a:pPr>
            <a:r>
              <a:rPr lang="rw-RW" b="1" dirty="0">
                <a:solidFill>
                  <a:srgbClr val="12305B"/>
                </a:solidFill>
                <a:latin typeface="Calibri" pitchFamily="34" charset="0"/>
                <a:ea typeface="Calibri" pitchFamily="34" charset="-122"/>
                <a:cs typeface="Calibri" pitchFamily="34" charset="-120"/>
              </a:rPr>
              <a:t>Kuvura imirasire</a:t>
            </a:r>
            <a:endParaRPr lang="rw-RW" dirty="0"/>
          </a:p>
        </p:txBody>
      </p:sp>
      <p:sp>
        <p:nvSpPr>
          <p:cNvPr id="16" name="Text 14"/>
          <p:cNvSpPr txBox="1"/>
          <p:nvPr/>
        </p:nvSpPr>
        <p:spPr>
          <a:xfrm>
            <a:off x="749809" y="4114330"/>
            <a:ext cx="1993879" cy="113385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Imirasire idasanzwe ikoreshwa ku kanseri zimwe, cyane cyane kanseri ya rectum.</a:t>
            </a:r>
            <a:endParaRPr lang="rw-RW" sz="1600" dirty="0"/>
          </a:p>
        </p:txBody>
      </p:sp>
      <p:sp>
        <p:nvSpPr>
          <p:cNvPr id="17" name="Shape 15"/>
          <p:cNvSpPr/>
          <p:nvPr/>
        </p:nvSpPr>
        <p:spPr>
          <a:xfrm>
            <a:off x="4338218" y="3547401"/>
            <a:ext cx="3515258" cy="1915551"/>
          </a:xfrm>
          <a:prstGeom prst="roundRect">
            <a:avLst>
              <a:gd name="adj" fmla="val 6000"/>
            </a:avLst>
          </a:prstGeom>
          <a:solidFill>
            <a:srgbClr val="F2F7FD"/>
          </a:solidFill>
          <a:ln w="12700">
            <a:solidFill>
              <a:srgbClr val="CBDDF3"/>
            </a:solidFill>
            <a:prstDash val="solid"/>
          </a:ln>
        </p:spPr>
        <p:txBody>
          <a:bodyPr/>
          <a:lstStyle/>
          <a:p>
            <a:endParaRPr lang="rw-RW" sz="1600" dirty="0"/>
          </a:p>
        </p:txBody>
      </p:sp>
      <p:sp>
        <p:nvSpPr>
          <p:cNvPr id="18" name="Text 16"/>
          <p:cNvSpPr txBox="1"/>
          <p:nvPr/>
        </p:nvSpPr>
        <p:spPr>
          <a:xfrm>
            <a:off x="4539386" y="3693706"/>
            <a:ext cx="3112922" cy="384048"/>
          </a:xfrm>
          <a:prstGeom prst="rect">
            <a:avLst/>
          </a:prstGeom>
          <a:noFill/>
          <a:ln/>
        </p:spPr>
        <p:txBody>
          <a:bodyPr wrap="square" lIns="0" tIns="0" rIns="0" bIns="0" rtlCol="0" anchor="t">
            <a:normAutofit fontScale="97500"/>
          </a:bodyPr>
          <a:lstStyle/>
          <a:p>
            <a:pPr marL="0" indent="0">
              <a:buNone/>
            </a:pPr>
            <a:r>
              <a:rPr lang="rw-RW" b="1" dirty="0">
                <a:solidFill>
                  <a:srgbClr val="12305B"/>
                </a:solidFill>
                <a:latin typeface="Calibri" pitchFamily="34" charset="0"/>
                <a:ea typeface="Calibri" pitchFamily="34" charset="-122"/>
                <a:cs typeface="Calibri" pitchFamily="34" charset="-120"/>
              </a:rPr>
              <a:t>Ubuvuzi bw'ihumure</a:t>
            </a:r>
            <a:endParaRPr lang="rw-RW" dirty="0"/>
          </a:p>
        </p:txBody>
      </p:sp>
      <p:sp>
        <p:nvSpPr>
          <p:cNvPr id="19" name="Text 17"/>
          <p:cNvSpPr txBox="1"/>
          <p:nvPr/>
        </p:nvSpPr>
        <p:spPr>
          <a:xfrm>
            <a:off x="4539386" y="4114330"/>
            <a:ext cx="1991953" cy="113385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Kuvura ububabare n'ibindi bimenyetso by'ububabare, bitangwa hamwe n'ubundi buvuzi.</a:t>
            </a:r>
            <a:endParaRPr lang="rw-RW" sz="1600" dirty="0"/>
          </a:p>
        </p:txBody>
      </p:sp>
      <p:sp>
        <p:nvSpPr>
          <p:cNvPr id="20" name="Shape 18"/>
          <p:cNvSpPr/>
          <p:nvPr/>
        </p:nvSpPr>
        <p:spPr>
          <a:xfrm>
            <a:off x="8127797" y="3547401"/>
            <a:ext cx="3515258" cy="1915551"/>
          </a:xfrm>
          <a:prstGeom prst="roundRect">
            <a:avLst>
              <a:gd name="adj" fmla="val 6000"/>
            </a:avLst>
          </a:prstGeom>
          <a:solidFill>
            <a:srgbClr val="F2F7FD"/>
          </a:solidFill>
          <a:ln w="12700">
            <a:solidFill>
              <a:srgbClr val="CBDDF3"/>
            </a:solidFill>
            <a:prstDash val="solid"/>
          </a:ln>
        </p:spPr>
        <p:txBody>
          <a:bodyPr/>
          <a:lstStyle/>
          <a:p>
            <a:endParaRPr lang="rw-RW" sz="1600" dirty="0"/>
          </a:p>
        </p:txBody>
      </p:sp>
      <p:sp>
        <p:nvSpPr>
          <p:cNvPr id="21" name="Text 19"/>
          <p:cNvSpPr txBox="1"/>
          <p:nvPr/>
        </p:nvSpPr>
        <p:spPr>
          <a:xfrm>
            <a:off x="8328965" y="3693706"/>
            <a:ext cx="2030947" cy="384048"/>
          </a:xfrm>
          <a:prstGeom prst="rect">
            <a:avLst/>
          </a:prstGeom>
          <a:noFill/>
          <a:ln/>
        </p:spPr>
        <p:txBody>
          <a:bodyPr wrap="square" lIns="0" tIns="0" rIns="0" bIns="0" rtlCol="0" anchor="t">
            <a:noAutofit/>
          </a:bodyPr>
          <a:lstStyle/>
          <a:p>
            <a:pPr marL="0" indent="0">
              <a:buNone/>
            </a:pPr>
            <a:r>
              <a:rPr lang="rw-RW" b="1" dirty="0">
                <a:solidFill>
                  <a:srgbClr val="12305B"/>
                </a:solidFill>
                <a:latin typeface="Calibri" pitchFamily="34" charset="0"/>
                <a:ea typeface="Calibri" pitchFamily="34" charset="-122"/>
                <a:cs typeface="Calibri" pitchFamily="34" charset="-120"/>
              </a:rPr>
              <a:t>Ntabwo ari kimwe kuri bose</a:t>
            </a:r>
            <a:endParaRPr lang="rw-RW" dirty="0"/>
          </a:p>
        </p:txBody>
      </p:sp>
      <p:sp>
        <p:nvSpPr>
          <p:cNvPr id="22" name="Text 20"/>
          <p:cNvSpPr txBox="1"/>
          <p:nvPr/>
        </p:nvSpPr>
        <p:spPr>
          <a:xfrm>
            <a:off x="8228381" y="4284056"/>
            <a:ext cx="2131531" cy="113385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Biterwa na kanseri n'umuntu. Hari abantu bafata ubwoko burenze bumwe.</a:t>
            </a:r>
            <a:endParaRPr lang="rw-RW" sz="1600" dirty="0"/>
          </a:p>
        </p:txBody>
      </p:sp>
      <p:sp>
        <p:nvSpPr>
          <p:cNvPr id="23" name="Shape 21"/>
          <p:cNvSpPr/>
          <p:nvPr/>
        </p:nvSpPr>
        <p:spPr>
          <a:xfrm>
            <a:off x="548640" y="5753533"/>
            <a:ext cx="11094415" cy="616786"/>
          </a:xfrm>
          <a:prstGeom prst="roundRect">
            <a:avLst>
              <a:gd name="adj" fmla="val 10526"/>
            </a:avLst>
          </a:prstGeom>
          <a:solidFill>
            <a:srgbClr val="F2F7FD"/>
          </a:solidFill>
          <a:ln w="12700">
            <a:solidFill>
              <a:srgbClr val="CBDDF3"/>
            </a:solidFill>
            <a:prstDash val="solid"/>
          </a:ln>
        </p:spPr>
        <p:txBody>
          <a:bodyPr/>
          <a:lstStyle/>
          <a:p>
            <a:endParaRPr lang="rw-RW" sz="1600" dirty="0"/>
          </a:p>
        </p:txBody>
      </p:sp>
      <p:sp>
        <p:nvSpPr>
          <p:cNvPr id="24" name="Text 22"/>
          <p:cNvSpPr txBox="1"/>
          <p:nvPr/>
        </p:nvSpPr>
        <p:spPr>
          <a:xfrm>
            <a:off x="777240" y="5722032"/>
            <a:ext cx="10637215" cy="685800"/>
          </a:xfrm>
          <a:prstGeom prst="rect">
            <a:avLst/>
          </a:prstGeom>
          <a:noFill/>
          <a:ln/>
        </p:spPr>
        <p:txBody>
          <a:bodyPr wrap="square" lIns="0" tIns="0" rIns="0" bIns="0" rtlCol="0" anchor="ctr"/>
          <a:lstStyle/>
          <a:p>
            <a:pPr marL="0" indent="0">
              <a:buNone/>
            </a:pPr>
            <a:r>
              <a:rPr lang="rw-RW" sz="1600" dirty="0">
                <a:solidFill>
                  <a:srgbClr val="17335F"/>
                </a:solidFill>
                <a:latin typeface="Calibri" pitchFamily="34" charset="0"/>
                <a:ea typeface="Calibri" pitchFamily="34" charset="-122"/>
                <a:cs typeface="Calibri" pitchFamily="34" charset="-120"/>
              </a:rPr>
              <a:t>Inzobere zifata icyemezo cyo kuvura hamwe n'umuntu n'umuryango. Uruhare rwawe ni ugufasha uwo muntu gusobanukirwa ibyo yemeranyijweho, kubahiriza gahunda zo kwa muganga, no gukomeza gahunda mu rugo.</a:t>
            </a:r>
            <a:endParaRPr lang="rw-RW" sz="1600" dirty="0"/>
          </a:p>
        </p:txBody>
      </p:sp>
      <p:pic>
        <p:nvPicPr>
          <p:cNvPr id="25" name="Imagen 24">
            <a:extLst>
              <a:ext uri="{FF2B5EF4-FFF2-40B4-BE49-F238E27FC236}">
                <a16:creationId xmlns:a16="http://schemas.microsoft.com/office/drawing/2014/main" id="{867FBE95-1146-1C77-1159-64A00307CB37}"/>
              </a:ext>
            </a:extLst>
          </p:cNvPr>
          <p:cNvPicPr>
            <a:picLocks noChangeAspect="1"/>
          </p:cNvPicPr>
          <p:nvPr/>
        </p:nvPicPr>
        <p:blipFill>
          <a:blip r:embed="rId3"/>
          <a:srcRect/>
          <a:stretch>
            <a:fillRect/>
          </a:stretch>
        </p:blipFill>
        <p:spPr>
          <a:xfrm>
            <a:off x="2754675" y="2119016"/>
            <a:ext cx="1016686" cy="1016686"/>
          </a:xfrm>
          <a:prstGeom prst="rect">
            <a:avLst/>
          </a:prstGeom>
        </p:spPr>
      </p:pic>
      <p:pic>
        <p:nvPicPr>
          <p:cNvPr id="27" name="Imagen 26">
            <a:extLst>
              <a:ext uri="{FF2B5EF4-FFF2-40B4-BE49-F238E27FC236}">
                <a16:creationId xmlns:a16="http://schemas.microsoft.com/office/drawing/2014/main" id="{EB5868D4-A091-B84D-58B6-4B70AB6B8875}"/>
              </a:ext>
            </a:extLst>
          </p:cNvPr>
          <p:cNvPicPr>
            <a:picLocks noChangeAspect="1"/>
          </p:cNvPicPr>
          <p:nvPr/>
        </p:nvPicPr>
        <p:blipFill>
          <a:blip r:embed="rId4"/>
          <a:stretch>
            <a:fillRect/>
          </a:stretch>
        </p:blipFill>
        <p:spPr>
          <a:xfrm>
            <a:off x="6600669" y="1749423"/>
            <a:ext cx="1172506" cy="1304654"/>
          </a:xfrm>
          <a:prstGeom prst="rect">
            <a:avLst/>
          </a:prstGeom>
        </p:spPr>
      </p:pic>
      <p:pic>
        <p:nvPicPr>
          <p:cNvPr id="29" name="Imagen 28">
            <a:extLst>
              <a:ext uri="{FF2B5EF4-FFF2-40B4-BE49-F238E27FC236}">
                <a16:creationId xmlns:a16="http://schemas.microsoft.com/office/drawing/2014/main" id="{BC0EF7A2-86FF-3CBB-9C0B-3C121D1D4B97}"/>
              </a:ext>
            </a:extLst>
          </p:cNvPr>
          <p:cNvPicPr>
            <a:picLocks noChangeAspect="1"/>
          </p:cNvPicPr>
          <p:nvPr/>
        </p:nvPicPr>
        <p:blipFill>
          <a:blip r:embed="rId5"/>
          <a:stretch>
            <a:fillRect/>
          </a:stretch>
        </p:blipFill>
        <p:spPr>
          <a:xfrm>
            <a:off x="10586153" y="1775406"/>
            <a:ext cx="961875" cy="1201914"/>
          </a:xfrm>
          <a:prstGeom prst="rect">
            <a:avLst/>
          </a:prstGeom>
        </p:spPr>
      </p:pic>
      <p:pic>
        <p:nvPicPr>
          <p:cNvPr id="31" name="Imagen 30">
            <a:extLst>
              <a:ext uri="{FF2B5EF4-FFF2-40B4-BE49-F238E27FC236}">
                <a16:creationId xmlns:a16="http://schemas.microsoft.com/office/drawing/2014/main" id="{CB1A1957-4228-86CC-BA5F-38DD27E94057}"/>
              </a:ext>
            </a:extLst>
          </p:cNvPr>
          <p:cNvPicPr>
            <a:picLocks noChangeAspect="1"/>
          </p:cNvPicPr>
          <p:nvPr/>
        </p:nvPicPr>
        <p:blipFill>
          <a:blip r:embed="rId6"/>
          <a:stretch>
            <a:fillRect/>
          </a:stretch>
        </p:blipFill>
        <p:spPr>
          <a:xfrm>
            <a:off x="10410712" y="3939168"/>
            <a:ext cx="1189455" cy="1189455"/>
          </a:xfrm>
          <a:prstGeom prst="rect">
            <a:avLst/>
          </a:prstGeom>
        </p:spPr>
      </p:pic>
      <p:pic>
        <p:nvPicPr>
          <p:cNvPr id="33" name="Imagen 32">
            <a:extLst>
              <a:ext uri="{FF2B5EF4-FFF2-40B4-BE49-F238E27FC236}">
                <a16:creationId xmlns:a16="http://schemas.microsoft.com/office/drawing/2014/main" id="{F084F14B-163D-9254-DA63-C5B986C589F8}"/>
              </a:ext>
            </a:extLst>
          </p:cNvPr>
          <p:cNvPicPr>
            <a:picLocks noChangeAspect="1"/>
          </p:cNvPicPr>
          <p:nvPr/>
        </p:nvPicPr>
        <p:blipFill>
          <a:blip r:embed="rId7"/>
          <a:stretch>
            <a:fillRect/>
          </a:stretch>
        </p:blipFill>
        <p:spPr>
          <a:xfrm>
            <a:off x="6582139" y="3970894"/>
            <a:ext cx="1170754" cy="1317346"/>
          </a:xfrm>
          <a:prstGeom prst="rect">
            <a:avLst/>
          </a:prstGeom>
        </p:spPr>
      </p:pic>
      <p:pic>
        <p:nvPicPr>
          <p:cNvPr id="37" name="Imagen 36">
            <a:extLst>
              <a:ext uri="{FF2B5EF4-FFF2-40B4-BE49-F238E27FC236}">
                <a16:creationId xmlns:a16="http://schemas.microsoft.com/office/drawing/2014/main" id="{19A3DA61-F522-7698-BED3-5B74F1C8EB61}"/>
              </a:ext>
            </a:extLst>
          </p:cNvPr>
          <p:cNvPicPr>
            <a:picLocks noChangeAspect="1"/>
          </p:cNvPicPr>
          <p:nvPr/>
        </p:nvPicPr>
        <p:blipFill>
          <a:blip r:embed="rId8"/>
          <a:stretch>
            <a:fillRect/>
          </a:stretch>
        </p:blipFill>
        <p:spPr>
          <a:xfrm>
            <a:off x="2794488" y="3999652"/>
            <a:ext cx="1069861" cy="128495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4</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Ibyerekeye stoma</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Shape 3"/>
          <p:cNvSpPr/>
          <p:nvPr/>
        </p:nvSpPr>
        <p:spPr>
          <a:xfrm>
            <a:off x="548640" y="1325880"/>
            <a:ext cx="2567864" cy="2194560"/>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6" name="Text 4"/>
          <p:cNvSpPr txBox="1"/>
          <p:nvPr/>
        </p:nvSpPr>
        <p:spPr>
          <a:xfrm>
            <a:off x="749808" y="1472184"/>
            <a:ext cx="2165528"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Icyo ari cyo</a:t>
            </a:r>
            <a:endParaRPr lang="rw-RW" dirty="0"/>
          </a:p>
        </p:txBody>
      </p:sp>
      <p:sp>
        <p:nvSpPr>
          <p:cNvPr id="7" name="Text 5"/>
          <p:cNvSpPr txBox="1"/>
          <p:nvPr/>
        </p:nvSpPr>
        <p:spPr>
          <a:xfrm>
            <a:off x="749808" y="1892808"/>
            <a:ext cx="2165528" cy="149961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Mu kubagwa kw'amara, hakorwa uburyo bushya bwo gufungura mu nda kugira ngo umusarane usohoke mu mubiri.</a:t>
            </a:r>
            <a:endParaRPr lang="rw-RW" sz="1600" dirty="0"/>
          </a:p>
        </p:txBody>
      </p:sp>
      <p:sp>
        <p:nvSpPr>
          <p:cNvPr id="8" name="Shape 6"/>
          <p:cNvSpPr/>
          <p:nvPr/>
        </p:nvSpPr>
        <p:spPr>
          <a:xfrm>
            <a:off x="3390824" y="1325880"/>
            <a:ext cx="2567864" cy="2194560"/>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9" name="Text 7"/>
          <p:cNvSpPr txBox="1"/>
          <p:nvPr/>
        </p:nvSpPr>
        <p:spPr>
          <a:xfrm>
            <a:off x="3591992" y="1472184"/>
            <a:ext cx="2165528"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Igikapu</a:t>
            </a:r>
            <a:endParaRPr lang="rw-RW" dirty="0"/>
          </a:p>
        </p:txBody>
      </p:sp>
      <p:sp>
        <p:nvSpPr>
          <p:cNvPr id="10" name="Text 8"/>
          <p:cNvSpPr txBox="1"/>
          <p:nvPr/>
        </p:nvSpPr>
        <p:spPr>
          <a:xfrm>
            <a:off x="3591992" y="1892808"/>
            <a:ext cx="2165528" cy="149961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Umusarane ukusanyirizwa mu gikapu cyabugenewe, kigenda gisukurwa cyangwa kigahindurwa. Yambarwa munsi y'imyenda.</a:t>
            </a:r>
            <a:endParaRPr lang="rw-RW" sz="1600" dirty="0"/>
          </a:p>
        </p:txBody>
      </p:sp>
      <p:sp>
        <p:nvSpPr>
          <p:cNvPr id="11" name="Shape 9"/>
          <p:cNvSpPr/>
          <p:nvPr/>
        </p:nvSpPr>
        <p:spPr>
          <a:xfrm>
            <a:off x="6233008" y="1325880"/>
            <a:ext cx="2567864" cy="2194560"/>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12" name="Text 10"/>
          <p:cNvSpPr txBox="1"/>
          <p:nvPr/>
        </p:nvSpPr>
        <p:spPr>
          <a:xfrm>
            <a:off x="6434176" y="1472184"/>
            <a:ext cx="2165528"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Si kuri buri wese</a:t>
            </a:r>
            <a:endParaRPr lang="rw-RW" dirty="0"/>
          </a:p>
        </p:txBody>
      </p:sp>
      <p:sp>
        <p:nvSpPr>
          <p:cNvPr id="13" name="Text 11"/>
          <p:cNvSpPr txBox="1"/>
          <p:nvPr/>
        </p:nvSpPr>
        <p:spPr>
          <a:xfrm>
            <a:off x="6434176" y="1892808"/>
            <a:ext cx="2165528" cy="149961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Abantu benshi babazwe mu mara ntibakenera imwe. Kuri bamwe, ni iby'igihe gito kandi bifungwa nyuma.</a:t>
            </a:r>
            <a:endParaRPr lang="rw-RW" sz="1600" dirty="0"/>
          </a:p>
        </p:txBody>
      </p:sp>
      <p:sp>
        <p:nvSpPr>
          <p:cNvPr id="14" name="Shape 12"/>
          <p:cNvSpPr/>
          <p:nvPr/>
        </p:nvSpPr>
        <p:spPr>
          <a:xfrm>
            <a:off x="9075191" y="1325880"/>
            <a:ext cx="2567864" cy="2194560"/>
          </a:xfrm>
          <a:prstGeom prst="roundRect">
            <a:avLst>
              <a:gd name="adj" fmla="val 5000"/>
            </a:avLst>
          </a:prstGeom>
          <a:solidFill>
            <a:srgbClr val="F2F7FD"/>
          </a:solidFill>
          <a:ln w="12700">
            <a:solidFill>
              <a:srgbClr val="CBDDF3"/>
            </a:solidFill>
            <a:prstDash val="solid"/>
          </a:ln>
        </p:spPr>
        <p:txBody>
          <a:bodyPr/>
          <a:lstStyle/>
          <a:p>
            <a:endParaRPr lang="rw-RW" dirty="0"/>
          </a:p>
        </p:txBody>
      </p:sp>
      <p:sp>
        <p:nvSpPr>
          <p:cNvPr id="15" name="Text 13"/>
          <p:cNvSpPr txBox="1"/>
          <p:nvPr/>
        </p:nvSpPr>
        <p:spPr>
          <a:xfrm>
            <a:off x="9276359" y="1472184"/>
            <a:ext cx="2165528"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Ubuzima buracyahari</a:t>
            </a:r>
            <a:endParaRPr lang="rw-RW" dirty="0"/>
          </a:p>
        </p:txBody>
      </p:sp>
      <p:sp>
        <p:nvSpPr>
          <p:cNvPr id="16" name="Text 14"/>
          <p:cNvSpPr txBox="1"/>
          <p:nvPr/>
        </p:nvSpPr>
        <p:spPr>
          <a:xfrm>
            <a:off x="9276359" y="1892808"/>
            <a:ext cx="2165528" cy="149961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Abantu bafite stoma bashobora gukora, guhinga, gutembera, gusenga no kugira uruhare mu buzima bw’umuryango.</a:t>
            </a:r>
            <a:endParaRPr lang="rw-RW" sz="1600" dirty="0"/>
          </a:p>
        </p:txBody>
      </p:sp>
      <p:sp>
        <p:nvSpPr>
          <p:cNvPr id="21" name="Shape 19"/>
          <p:cNvSpPr/>
          <p:nvPr/>
        </p:nvSpPr>
        <p:spPr>
          <a:xfrm>
            <a:off x="5757520" y="3749040"/>
            <a:ext cx="5885535" cy="2286000"/>
          </a:xfrm>
          <a:prstGeom prst="roundRect">
            <a:avLst>
              <a:gd name="adj" fmla="val 4800"/>
            </a:avLst>
          </a:prstGeom>
          <a:solidFill>
            <a:srgbClr val="FDF0DE"/>
          </a:solidFill>
          <a:ln w="12700">
            <a:solidFill>
              <a:srgbClr val="F0CFA0"/>
            </a:solidFill>
            <a:prstDash val="solid"/>
          </a:ln>
        </p:spPr>
        <p:txBody>
          <a:bodyPr/>
          <a:lstStyle/>
          <a:p>
            <a:endParaRPr lang="rw-RW" dirty="0"/>
          </a:p>
        </p:txBody>
      </p:sp>
      <p:sp>
        <p:nvSpPr>
          <p:cNvPr id="22" name="Text 20"/>
          <p:cNvSpPr txBox="1"/>
          <p:nvPr/>
        </p:nvSpPr>
        <p:spPr>
          <a:xfrm>
            <a:off x="7909560" y="3913632"/>
            <a:ext cx="3504895" cy="365760"/>
          </a:xfrm>
          <a:prstGeom prst="rect">
            <a:avLst/>
          </a:prstGeom>
          <a:noFill/>
          <a:ln/>
        </p:spPr>
        <p:txBody>
          <a:bodyPr wrap="square" lIns="0" tIns="0" rIns="0" bIns="0" rtlCol="0" anchor="ctr">
            <a:normAutofit/>
          </a:bodyPr>
          <a:lstStyle/>
          <a:p>
            <a:pPr marL="0" indent="0">
              <a:buNone/>
            </a:pPr>
            <a:r>
              <a:rPr lang="rw-RW" b="1" dirty="0">
                <a:solidFill>
                  <a:srgbClr val="9C4A00"/>
                </a:solidFill>
                <a:latin typeface="Calibri" pitchFamily="34" charset="0"/>
                <a:ea typeface="Calibri" pitchFamily="34" charset="-122"/>
                <a:cs typeface="Calibri" pitchFamily="34" charset="-120"/>
              </a:rPr>
              <a:t>Amagambo afite akamaro</a:t>
            </a:r>
            <a:endParaRPr lang="rw-RW" dirty="0"/>
          </a:p>
        </p:txBody>
      </p:sp>
      <p:sp>
        <p:nvSpPr>
          <p:cNvPr id="23" name="Text 21"/>
          <p:cNvSpPr txBox="1"/>
          <p:nvPr/>
        </p:nvSpPr>
        <p:spPr>
          <a:xfrm>
            <a:off x="7737242" y="4297680"/>
            <a:ext cx="3677213" cy="1645920"/>
          </a:xfrm>
          <a:prstGeom prst="rect">
            <a:avLst/>
          </a:prstGeom>
          <a:noFill/>
          <a:ln/>
        </p:spPr>
        <p:txBody>
          <a:bodyPr wrap="square" lIns="0" tIns="0" rIns="0" bIns="0" rtlCol="0" anchor="t">
            <a:norm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Vuga kuri stoma utuje kandi nta nkomyi. Ntuzigere ubiganiraho imbere y'abandi kandi ntuzigere ubifata nk'ikimwaro. Uko ubivuga bigena uburyo umuryango ufata umuntu.</a:t>
            </a:r>
            <a:endParaRPr lang="rw-RW" sz="1600" dirty="0"/>
          </a:p>
        </p:txBody>
      </p:sp>
      <p:pic>
        <p:nvPicPr>
          <p:cNvPr id="19" name="Imagen 18">
            <a:extLst>
              <a:ext uri="{FF2B5EF4-FFF2-40B4-BE49-F238E27FC236}">
                <a16:creationId xmlns:a16="http://schemas.microsoft.com/office/drawing/2014/main" id="{29F8E710-AB45-808B-25FB-4BFD3A6FEF72}"/>
              </a:ext>
            </a:extLst>
          </p:cNvPr>
          <p:cNvPicPr>
            <a:picLocks noChangeAspect="1"/>
          </p:cNvPicPr>
          <p:nvPr/>
        </p:nvPicPr>
        <p:blipFill>
          <a:blip r:embed="rId3"/>
          <a:srcRect/>
          <a:stretch>
            <a:fillRect/>
          </a:stretch>
        </p:blipFill>
        <p:spPr>
          <a:xfrm>
            <a:off x="2083446" y="3666744"/>
            <a:ext cx="1508546" cy="2511139"/>
          </a:xfrm>
          <a:prstGeom prst="rect">
            <a:avLst/>
          </a:prstGeom>
        </p:spPr>
      </p:pic>
      <p:pic>
        <p:nvPicPr>
          <p:cNvPr id="20" name="Imagen 19">
            <a:extLst>
              <a:ext uri="{FF2B5EF4-FFF2-40B4-BE49-F238E27FC236}">
                <a16:creationId xmlns:a16="http://schemas.microsoft.com/office/drawing/2014/main" id="{00FA951C-86BB-3267-7B77-6BE5D089B67F}"/>
              </a:ext>
            </a:extLst>
          </p:cNvPr>
          <p:cNvPicPr>
            <a:picLocks noChangeAspect="1"/>
          </p:cNvPicPr>
          <p:nvPr/>
        </p:nvPicPr>
        <p:blipFill>
          <a:blip r:embed="rId4"/>
          <a:srcRect/>
          <a:stretch>
            <a:fillRect/>
          </a:stretch>
        </p:blipFill>
        <p:spPr>
          <a:xfrm>
            <a:off x="5918598" y="3801911"/>
            <a:ext cx="1849791" cy="2286001"/>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4</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Ikinyoma cyangwa ukuri</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Umujyanama w'ubuzima | Ikigo cy'Igihugu gishinzwe Ubuvuzi (Rwanda Biomedical Centre)</a:t>
            </a:r>
            <a:endParaRPr lang="rw-RW" sz="1100" dirty="0"/>
          </a:p>
        </p:txBody>
      </p:sp>
      <p:sp>
        <p:nvSpPr>
          <p:cNvPr id="5" name="Shape 3"/>
          <p:cNvSpPr/>
          <p:nvPr/>
        </p:nvSpPr>
        <p:spPr>
          <a:xfrm>
            <a:off x="548640" y="1298448"/>
            <a:ext cx="5318608" cy="804672"/>
          </a:xfrm>
          <a:prstGeom prst="roundRect">
            <a:avLst>
              <a:gd name="adj" fmla="val 11364"/>
            </a:avLst>
          </a:prstGeom>
          <a:solidFill>
            <a:srgbClr val="FDECEA"/>
          </a:solidFill>
          <a:ln w="12700">
            <a:solidFill>
              <a:srgbClr val="F0B7B0"/>
            </a:solidFill>
            <a:prstDash val="solid"/>
          </a:ln>
        </p:spPr>
        <p:txBody>
          <a:bodyPr/>
          <a:lstStyle/>
          <a:p>
            <a:endParaRPr lang="rw-RW" sz="1600" dirty="0"/>
          </a:p>
        </p:txBody>
      </p:sp>
      <p:sp>
        <p:nvSpPr>
          <p:cNvPr id="6" name="Text 4"/>
          <p:cNvSpPr txBox="1"/>
          <p:nvPr/>
        </p:nvSpPr>
        <p:spPr>
          <a:xfrm>
            <a:off x="749808" y="1298448"/>
            <a:ext cx="4916272" cy="804672"/>
          </a:xfrm>
          <a:prstGeom prst="rect">
            <a:avLst/>
          </a:prstGeom>
          <a:noFill/>
          <a:ln/>
        </p:spPr>
        <p:txBody>
          <a:bodyPr wrap="square" lIns="0" tIns="0" rIns="0" bIns="0" rtlCol="0" anchor="ctr">
            <a:normAutofit/>
          </a:bodyPr>
          <a:lstStyle/>
          <a:p>
            <a:pPr marL="0" indent="0">
              <a:buNone/>
            </a:pPr>
            <a:r>
              <a:rPr lang="rw-RW" sz="1600" b="1" dirty="0">
                <a:solidFill>
                  <a:srgbClr val="C0392B"/>
                </a:solidFill>
                <a:latin typeface="Calibri" pitchFamily="34" charset="0"/>
                <a:ea typeface="Calibri" pitchFamily="34" charset="-122"/>
                <a:cs typeface="Calibri" pitchFamily="34" charset="-120"/>
              </a:rPr>
              <a:t>Ikinyoma</a:t>
            </a:r>
            <a:r>
              <a:rPr lang="rw-RW" sz="1600" dirty="0">
                <a:solidFill>
                  <a:srgbClr val="17335F"/>
                </a:solidFill>
                <a:latin typeface="Calibri" pitchFamily="34" charset="0"/>
                <a:ea typeface="Calibri" pitchFamily="34" charset="-122"/>
                <a:cs typeface="Calibri" pitchFamily="34" charset="-120"/>
              </a:rPr>
              <a:t>: Amaraso mu mabyi buri gihe aba ari indwara y'imitsi izunguruye (piles) gusa</a:t>
            </a:r>
            <a:endParaRPr lang="rw-RW" sz="1600" dirty="0"/>
          </a:p>
        </p:txBody>
      </p:sp>
      <p:sp>
        <p:nvSpPr>
          <p:cNvPr id="7" name="Text 5"/>
          <p:cNvSpPr txBox="1"/>
          <p:nvPr/>
        </p:nvSpPr>
        <p:spPr>
          <a:xfrm>
            <a:off x="5912968" y="1298448"/>
            <a:ext cx="365760" cy="804672"/>
          </a:xfrm>
          <a:prstGeom prst="rect">
            <a:avLst/>
          </a:prstGeom>
          <a:noFill/>
          <a:ln/>
        </p:spPr>
        <p:txBody>
          <a:bodyPr wrap="square" lIns="0" tIns="0" rIns="0" bIns="0" rtlCol="0" anchor="ctr"/>
          <a:lstStyle/>
          <a:p>
            <a:pPr marL="0" indent="0" algn="ctr">
              <a:buNone/>
            </a:pPr>
            <a:r>
              <a:rPr lang="rw-RW" sz="1600" b="1" dirty="0">
                <a:solidFill>
                  <a:srgbClr val="1F5FA9"/>
                </a:solidFill>
                <a:latin typeface="Calibri" pitchFamily="34" charset="0"/>
                <a:ea typeface="Calibri" pitchFamily="34" charset="-122"/>
                <a:cs typeface="Calibri" pitchFamily="34" charset="-120"/>
              </a:rPr>
              <a:t>»</a:t>
            </a:r>
            <a:endParaRPr lang="rw-RW" sz="1600" dirty="0"/>
          </a:p>
        </p:txBody>
      </p:sp>
      <p:sp>
        <p:nvSpPr>
          <p:cNvPr id="8" name="Shape 6"/>
          <p:cNvSpPr/>
          <p:nvPr/>
        </p:nvSpPr>
        <p:spPr>
          <a:xfrm>
            <a:off x="6324448" y="1298448"/>
            <a:ext cx="5318608" cy="804672"/>
          </a:xfrm>
          <a:prstGeom prst="roundRect">
            <a:avLst>
              <a:gd name="adj" fmla="val 11364"/>
            </a:avLst>
          </a:prstGeom>
          <a:solidFill>
            <a:srgbClr val="E9F5EC"/>
          </a:solidFill>
          <a:ln w="12700">
            <a:solidFill>
              <a:srgbClr val="AFD8BE"/>
            </a:solidFill>
            <a:prstDash val="solid"/>
          </a:ln>
        </p:spPr>
        <p:txBody>
          <a:bodyPr/>
          <a:lstStyle/>
          <a:p>
            <a:endParaRPr lang="rw-RW" sz="1600" dirty="0"/>
          </a:p>
        </p:txBody>
      </p:sp>
      <p:sp>
        <p:nvSpPr>
          <p:cNvPr id="9" name="Text 7"/>
          <p:cNvSpPr txBox="1"/>
          <p:nvPr/>
        </p:nvSpPr>
        <p:spPr>
          <a:xfrm>
            <a:off x="6525616" y="1298448"/>
            <a:ext cx="4916272" cy="804672"/>
          </a:xfrm>
          <a:prstGeom prst="rect">
            <a:avLst/>
          </a:prstGeom>
          <a:noFill/>
          <a:ln/>
        </p:spPr>
        <p:txBody>
          <a:bodyPr wrap="square" lIns="0" tIns="0" rIns="0" bIns="0" rtlCol="0" anchor="ctr"/>
          <a:lstStyle/>
          <a:p>
            <a:r>
              <a:rPr lang="rw-RW" sz="1600" b="1" dirty="0">
                <a:solidFill>
                  <a:srgbClr val="1B6B41"/>
                </a:solidFill>
                <a:latin typeface="Calibri" pitchFamily="34" charset="0"/>
                <a:ea typeface="Calibri" pitchFamily="34" charset="-122"/>
                <a:cs typeface="Calibri" pitchFamily="34" charset="-120"/>
              </a:rPr>
              <a:t>Ukuri: </a:t>
            </a:r>
            <a:r>
              <a:rPr lang="rw-RW" sz="1600" dirty="0">
                <a:solidFill>
                  <a:srgbClr val="17335F"/>
                </a:solidFill>
                <a:latin typeface="Calibri" pitchFamily="34" charset="0"/>
                <a:ea typeface="Calibri" pitchFamily="34" charset="-122"/>
                <a:cs typeface="Calibri" pitchFamily="34" charset="-120"/>
              </a:rPr>
              <a:t>Bifite impamvu nyinshi. Buri gihe bikeneye gusuzumwa.</a:t>
            </a:r>
            <a:endParaRPr lang="rw-RW" sz="1600" dirty="0"/>
          </a:p>
        </p:txBody>
      </p:sp>
      <p:sp>
        <p:nvSpPr>
          <p:cNvPr id="10" name="Shape 8"/>
          <p:cNvSpPr/>
          <p:nvPr/>
        </p:nvSpPr>
        <p:spPr>
          <a:xfrm>
            <a:off x="548640" y="2231136"/>
            <a:ext cx="5318608" cy="804672"/>
          </a:xfrm>
          <a:prstGeom prst="roundRect">
            <a:avLst>
              <a:gd name="adj" fmla="val 11364"/>
            </a:avLst>
          </a:prstGeom>
          <a:solidFill>
            <a:srgbClr val="FDECEA"/>
          </a:solidFill>
          <a:ln w="12700">
            <a:solidFill>
              <a:srgbClr val="F0B7B0"/>
            </a:solidFill>
            <a:prstDash val="solid"/>
          </a:ln>
        </p:spPr>
        <p:txBody>
          <a:bodyPr/>
          <a:lstStyle/>
          <a:p>
            <a:endParaRPr lang="rw-RW" sz="1600" dirty="0"/>
          </a:p>
        </p:txBody>
      </p:sp>
      <p:sp>
        <p:nvSpPr>
          <p:cNvPr id="11" name="Text 9"/>
          <p:cNvSpPr txBox="1"/>
          <p:nvPr/>
        </p:nvSpPr>
        <p:spPr>
          <a:xfrm>
            <a:off x="749808" y="2231136"/>
            <a:ext cx="4916272" cy="804672"/>
          </a:xfrm>
          <a:prstGeom prst="rect">
            <a:avLst/>
          </a:prstGeom>
          <a:noFill/>
          <a:ln/>
        </p:spPr>
        <p:txBody>
          <a:bodyPr wrap="square" lIns="0" tIns="0" rIns="0" bIns="0" rtlCol="0" anchor="ctr"/>
          <a:lstStyle/>
          <a:p>
            <a:pPr marL="0" indent="0">
              <a:buNone/>
            </a:pPr>
            <a:r>
              <a:rPr lang="rw-RW" sz="1600" b="1" dirty="0">
                <a:solidFill>
                  <a:srgbClr val="C0392B"/>
                </a:solidFill>
                <a:latin typeface="Calibri" pitchFamily="34" charset="0"/>
                <a:ea typeface="Calibri" pitchFamily="34" charset="-122"/>
                <a:cs typeface="Calibri" pitchFamily="34" charset="-120"/>
              </a:rPr>
              <a:t>Ikinyoma: </a:t>
            </a:r>
            <a:r>
              <a:rPr lang="rw-RW" sz="1600" dirty="0">
                <a:solidFill>
                  <a:schemeClr val="accent1">
                    <a:lumMod val="50000"/>
                  </a:schemeClr>
                </a:solidFill>
                <a:latin typeface="Calibri" pitchFamily="34" charset="0"/>
                <a:ea typeface="Calibri" pitchFamily="34" charset="-122"/>
                <a:cs typeface="Calibri" pitchFamily="34" charset="-120"/>
              </a:rPr>
              <a:t>Umuntu udafite ibimenyetso ntashobora kurwara kanseri y'amara</a:t>
            </a:r>
            <a:endParaRPr lang="rw-RW" sz="1600" dirty="0">
              <a:solidFill>
                <a:schemeClr val="accent1">
                  <a:lumMod val="50000"/>
                </a:schemeClr>
              </a:solidFill>
            </a:endParaRPr>
          </a:p>
        </p:txBody>
      </p:sp>
      <p:sp>
        <p:nvSpPr>
          <p:cNvPr id="12" name="Text 10"/>
          <p:cNvSpPr txBox="1"/>
          <p:nvPr/>
        </p:nvSpPr>
        <p:spPr>
          <a:xfrm>
            <a:off x="5912968" y="2231136"/>
            <a:ext cx="365760" cy="804672"/>
          </a:xfrm>
          <a:prstGeom prst="rect">
            <a:avLst/>
          </a:prstGeom>
          <a:noFill/>
          <a:ln/>
        </p:spPr>
        <p:txBody>
          <a:bodyPr wrap="square" lIns="0" tIns="0" rIns="0" bIns="0" rtlCol="0" anchor="ctr"/>
          <a:lstStyle/>
          <a:p>
            <a:pPr marL="0" indent="0" algn="ctr">
              <a:buNone/>
            </a:pPr>
            <a:r>
              <a:rPr lang="rw-RW" sz="1600" b="1" dirty="0">
                <a:solidFill>
                  <a:srgbClr val="1F5FA9"/>
                </a:solidFill>
                <a:latin typeface="Calibri" pitchFamily="34" charset="0"/>
                <a:ea typeface="Calibri" pitchFamily="34" charset="-122"/>
                <a:cs typeface="Calibri" pitchFamily="34" charset="-120"/>
              </a:rPr>
              <a:t>»</a:t>
            </a:r>
            <a:endParaRPr lang="rw-RW" sz="1600" dirty="0"/>
          </a:p>
        </p:txBody>
      </p:sp>
      <p:sp>
        <p:nvSpPr>
          <p:cNvPr id="13" name="Shape 11"/>
          <p:cNvSpPr/>
          <p:nvPr/>
        </p:nvSpPr>
        <p:spPr>
          <a:xfrm>
            <a:off x="6324448" y="2231136"/>
            <a:ext cx="5318608" cy="804672"/>
          </a:xfrm>
          <a:prstGeom prst="roundRect">
            <a:avLst>
              <a:gd name="adj" fmla="val 11364"/>
            </a:avLst>
          </a:prstGeom>
          <a:solidFill>
            <a:srgbClr val="E9F5EC"/>
          </a:solidFill>
          <a:ln w="12700">
            <a:solidFill>
              <a:srgbClr val="AFD8BE"/>
            </a:solidFill>
            <a:prstDash val="solid"/>
          </a:ln>
        </p:spPr>
        <p:txBody>
          <a:bodyPr/>
          <a:lstStyle/>
          <a:p>
            <a:endParaRPr lang="rw-RW" sz="1600" dirty="0"/>
          </a:p>
        </p:txBody>
      </p:sp>
      <p:sp>
        <p:nvSpPr>
          <p:cNvPr id="14" name="Text 12"/>
          <p:cNvSpPr txBox="1"/>
          <p:nvPr/>
        </p:nvSpPr>
        <p:spPr>
          <a:xfrm>
            <a:off x="6525616" y="2231136"/>
            <a:ext cx="4916272" cy="804672"/>
          </a:xfrm>
          <a:prstGeom prst="rect">
            <a:avLst/>
          </a:prstGeom>
          <a:noFill/>
          <a:ln/>
        </p:spPr>
        <p:txBody>
          <a:bodyPr wrap="square" lIns="0" tIns="0" rIns="0" bIns="0" rtlCol="0" anchor="ctr"/>
          <a:lstStyle/>
          <a:p>
            <a:r>
              <a:rPr lang="rw-RW" sz="1600" b="1" dirty="0">
                <a:solidFill>
                  <a:srgbClr val="1B6B41"/>
                </a:solidFill>
                <a:latin typeface="Calibri" pitchFamily="34" charset="0"/>
                <a:ea typeface="Calibri" pitchFamily="34" charset="-122"/>
                <a:cs typeface="Calibri" pitchFamily="34" charset="-120"/>
              </a:rPr>
              <a:t>Ukuri: </a:t>
            </a:r>
            <a:r>
              <a:rPr lang="rw-RW" sz="1600" dirty="0">
                <a:solidFill>
                  <a:srgbClr val="17335F"/>
                </a:solidFill>
                <a:latin typeface="Calibri" pitchFamily="34" charset="0"/>
                <a:ea typeface="Calibri" pitchFamily="34" charset="-122"/>
                <a:cs typeface="Calibri" pitchFamily="34" charset="-120"/>
              </a:rPr>
              <a:t>Kanseri y'amara akenshi nta bimenyetso na kimwe igaragaza.</a:t>
            </a:r>
            <a:endParaRPr lang="rw-RW" sz="1600" dirty="0"/>
          </a:p>
        </p:txBody>
      </p:sp>
      <p:sp>
        <p:nvSpPr>
          <p:cNvPr id="15" name="Shape 13"/>
          <p:cNvSpPr/>
          <p:nvPr/>
        </p:nvSpPr>
        <p:spPr>
          <a:xfrm>
            <a:off x="548640" y="3163824"/>
            <a:ext cx="5318608" cy="804672"/>
          </a:xfrm>
          <a:prstGeom prst="roundRect">
            <a:avLst>
              <a:gd name="adj" fmla="val 11364"/>
            </a:avLst>
          </a:prstGeom>
          <a:solidFill>
            <a:srgbClr val="FDECEA"/>
          </a:solidFill>
          <a:ln w="12700">
            <a:solidFill>
              <a:srgbClr val="F0B7B0"/>
            </a:solidFill>
            <a:prstDash val="solid"/>
          </a:ln>
        </p:spPr>
        <p:txBody>
          <a:bodyPr/>
          <a:lstStyle/>
          <a:p>
            <a:endParaRPr lang="rw-RW" sz="1600" dirty="0"/>
          </a:p>
        </p:txBody>
      </p:sp>
      <p:sp>
        <p:nvSpPr>
          <p:cNvPr id="16" name="Text 14"/>
          <p:cNvSpPr txBox="1"/>
          <p:nvPr/>
        </p:nvSpPr>
        <p:spPr>
          <a:xfrm>
            <a:off x="749808" y="3163824"/>
            <a:ext cx="4916272" cy="804672"/>
          </a:xfrm>
          <a:prstGeom prst="rect">
            <a:avLst/>
          </a:prstGeom>
          <a:noFill/>
          <a:ln/>
        </p:spPr>
        <p:txBody>
          <a:bodyPr wrap="square" lIns="0" tIns="0" rIns="0" bIns="0" rtlCol="0" anchor="ctr"/>
          <a:lstStyle/>
          <a:p>
            <a:pPr marL="0" indent="0">
              <a:buNone/>
            </a:pPr>
            <a:r>
              <a:rPr lang="rw-RW" sz="1600" b="1" dirty="0">
                <a:solidFill>
                  <a:srgbClr val="C0392B"/>
                </a:solidFill>
                <a:latin typeface="Calibri" pitchFamily="34" charset="0"/>
                <a:ea typeface="Calibri" pitchFamily="34" charset="-122"/>
                <a:cs typeface="Calibri" pitchFamily="34" charset="-120"/>
              </a:rPr>
              <a:t>Ikinyoma: </a:t>
            </a:r>
            <a:r>
              <a:rPr lang="rw-RW" sz="1600" dirty="0">
                <a:solidFill>
                  <a:srgbClr val="17335F"/>
                </a:solidFill>
                <a:latin typeface="Calibri" pitchFamily="34" charset="0"/>
                <a:ea typeface="Calibri" pitchFamily="34" charset="-122"/>
                <a:cs typeface="Calibri" pitchFamily="34" charset="-120"/>
              </a:rPr>
              <a:t>Buri gukura (polyp) mu mara ni kanseri y'amara</a:t>
            </a:r>
            <a:endParaRPr lang="rw-RW" sz="1600" dirty="0"/>
          </a:p>
        </p:txBody>
      </p:sp>
      <p:sp>
        <p:nvSpPr>
          <p:cNvPr id="17" name="Text 15"/>
          <p:cNvSpPr txBox="1"/>
          <p:nvPr/>
        </p:nvSpPr>
        <p:spPr>
          <a:xfrm>
            <a:off x="5912968" y="3163824"/>
            <a:ext cx="365760" cy="804672"/>
          </a:xfrm>
          <a:prstGeom prst="rect">
            <a:avLst/>
          </a:prstGeom>
          <a:noFill/>
          <a:ln/>
        </p:spPr>
        <p:txBody>
          <a:bodyPr wrap="square" lIns="0" tIns="0" rIns="0" bIns="0" rtlCol="0" anchor="ctr"/>
          <a:lstStyle/>
          <a:p>
            <a:pPr marL="0" indent="0" algn="ctr">
              <a:buNone/>
            </a:pPr>
            <a:r>
              <a:rPr lang="rw-RW" sz="1600" b="1" dirty="0">
                <a:solidFill>
                  <a:srgbClr val="1F5FA9"/>
                </a:solidFill>
                <a:latin typeface="Calibri" pitchFamily="34" charset="0"/>
                <a:ea typeface="Calibri" pitchFamily="34" charset="-122"/>
                <a:cs typeface="Calibri" pitchFamily="34" charset="-120"/>
              </a:rPr>
              <a:t>»</a:t>
            </a:r>
            <a:endParaRPr lang="rw-RW" sz="1600" dirty="0"/>
          </a:p>
        </p:txBody>
      </p:sp>
      <p:sp>
        <p:nvSpPr>
          <p:cNvPr id="18" name="Shape 16"/>
          <p:cNvSpPr/>
          <p:nvPr/>
        </p:nvSpPr>
        <p:spPr>
          <a:xfrm>
            <a:off x="6324448" y="3163824"/>
            <a:ext cx="5318608" cy="804672"/>
          </a:xfrm>
          <a:prstGeom prst="roundRect">
            <a:avLst>
              <a:gd name="adj" fmla="val 11364"/>
            </a:avLst>
          </a:prstGeom>
          <a:solidFill>
            <a:srgbClr val="E9F5EC"/>
          </a:solidFill>
          <a:ln w="12700">
            <a:solidFill>
              <a:srgbClr val="AFD8BE"/>
            </a:solidFill>
            <a:prstDash val="solid"/>
          </a:ln>
        </p:spPr>
        <p:txBody>
          <a:bodyPr/>
          <a:lstStyle/>
          <a:p>
            <a:endParaRPr lang="rw-RW" sz="1600" dirty="0"/>
          </a:p>
        </p:txBody>
      </p:sp>
      <p:sp>
        <p:nvSpPr>
          <p:cNvPr id="19" name="Text 17"/>
          <p:cNvSpPr txBox="1"/>
          <p:nvPr/>
        </p:nvSpPr>
        <p:spPr>
          <a:xfrm>
            <a:off x="6525616" y="3163824"/>
            <a:ext cx="4916272" cy="804672"/>
          </a:xfrm>
          <a:prstGeom prst="rect">
            <a:avLst/>
          </a:prstGeom>
          <a:noFill/>
          <a:ln/>
        </p:spPr>
        <p:txBody>
          <a:bodyPr wrap="square" lIns="0" tIns="0" rIns="0" bIns="0" rtlCol="0" anchor="ctr">
            <a:normAutofit/>
          </a:bodyPr>
          <a:lstStyle/>
          <a:p>
            <a:pPr marL="0" indent="0">
              <a:buNone/>
            </a:pPr>
            <a:r>
              <a:rPr lang="rw-RW" sz="1600" b="1" dirty="0">
                <a:solidFill>
                  <a:srgbClr val="1B6B41"/>
                </a:solidFill>
                <a:latin typeface="Calibri" pitchFamily="34" charset="0"/>
                <a:ea typeface="Calibri" pitchFamily="34" charset="-122"/>
                <a:cs typeface="Calibri" pitchFamily="34" charset="-120"/>
              </a:rPr>
              <a:t>Ukuri: </a:t>
            </a:r>
            <a:r>
              <a:rPr lang="rw-RW" sz="1600" dirty="0">
                <a:solidFill>
                  <a:srgbClr val="17335F"/>
                </a:solidFill>
                <a:latin typeface="Calibri" pitchFamily="34" charset="0"/>
                <a:ea typeface="Calibri" pitchFamily="34" charset="-122"/>
                <a:cs typeface="Calibri" pitchFamily="34" charset="-120"/>
              </a:rPr>
              <a:t>Ibikura byinshi mu mara ntabwo ari kanseri, kandi kubikuramo bishobora kurinda kanseri.</a:t>
            </a:r>
            <a:endParaRPr lang="rw-RW" sz="1600" dirty="0"/>
          </a:p>
        </p:txBody>
      </p:sp>
      <p:sp>
        <p:nvSpPr>
          <p:cNvPr id="20" name="Shape 18"/>
          <p:cNvSpPr/>
          <p:nvPr/>
        </p:nvSpPr>
        <p:spPr>
          <a:xfrm>
            <a:off x="548640" y="4096512"/>
            <a:ext cx="5318608" cy="804672"/>
          </a:xfrm>
          <a:prstGeom prst="roundRect">
            <a:avLst>
              <a:gd name="adj" fmla="val 11364"/>
            </a:avLst>
          </a:prstGeom>
          <a:solidFill>
            <a:srgbClr val="FDECEA"/>
          </a:solidFill>
          <a:ln w="12700">
            <a:solidFill>
              <a:srgbClr val="F0B7B0"/>
            </a:solidFill>
            <a:prstDash val="solid"/>
          </a:ln>
        </p:spPr>
        <p:txBody>
          <a:bodyPr/>
          <a:lstStyle/>
          <a:p>
            <a:endParaRPr lang="rw-RW" sz="1600" dirty="0"/>
          </a:p>
        </p:txBody>
      </p:sp>
      <p:sp>
        <p:nvSpPr>
          <p:cNvPr id="21" name="Text 19"/>
          <p:cNvSpPr txBox="1"/>
          <p:nvPr/>
        </p:nvSpPr>
        <p:spPr>
          <a:xfrm>
            <a:off x="749808" y="4096512"/>
            <a:ext cx="4916272" cy="804672"/>
          </a:xfrm>
          <a:prstGeom prst="rect">
            <a:avLst/>
          </a:prstGeom>
          <a:noFill/>
          <a:ln/>
        </p:spPr>
        <p:txBody>
          <a:bodyPr wrap="square" lIns="0" tIns="0" rIns="0" bIns="0" rtlCol="0" anchor="ctr"/>
          <a:lstStyle/>
          <a:p>
            <a:pPr marL="0" indent="0">
              <a:buNone/>
            </a:pPr>
            <a:r>
              <a:rPr lang="rw-RW" sz="1600" b="1" dirty="0">
                <a:solidFill>
                  <a:srgbClr val="C0392B"/>
                </a:solidFill>
                <a:latin typeface="Calibri" pitchFamily="34" charset="0"/>
                <a:ea typeface="Calibri" pitchFamily="34" charset="-122"/>
                <a:cs typeface="Calibri" pitchFamily="34" charset="-120"/>
              </a:rPr>
              <a:t>Ikinyoma: </a:t>
            </a:r>
            <a:r>
              <a:rPr lang="rw-RW" sz="1600" dirty="0">
                <a:solidFill>
                  <a:schemeClr val="accent1">
                    <a:lumMod val="50000"/>
                  </a:schemeClr>
                </a:solidFill>
                <a:latin typeface="Calibri" pitchFamily="34" charset="0"/>
                <a:ea typeface="Calibri" pitchFamily="34" charset="-122"/>
                <a:cs typeface="Calibri" pitchFamily="34" charset="-120"/>
              </a:rPr>
              <a:t>Gufata agace k'umubiri ngo gasuzumwe bituma kanseri ikwirakwira</a:t>
            </a:r>
            <a:endParaRPr lang="rw-RW" sz="1600" dirty="0">
              <a:solidFill>
                <a:schemeClr val="accent1">
                  <a:lumMod val="50000"/>
                </a:schemeClr>
              </a:solidFill>
            </a:endParaRPr>
          </a:p>
        </p:txBody>
      </p:sp>
      <p:sp>
        <p:nvSpPr>
          <p:cNvPr id="22" name="Text 20"/>
          <p:cNvSpPr txBox="1"/>
          <p:nvPr/>
        </p:nvSpPr>
        <p:spPr>
          <a:xfrm>
            <a:off x="5912968" y="4096512"/>
            <a:ext cx="365760" cy="804672"/>
          </a:xfrm>
          <a:prstGeom prst="rect">
            <a:avLst/>
          </a:prstGeom>
          <a:noFill/>
          <a:ln/>
        </p:spPr>
        <p:txBody>
          <a:bodyPr wrap="square" lIns="0" tIns="0" rIns="0" bIns="0" rtlCol="0" anchor="ctr"/>
          <a:lstStyle/>
          <a:p>
            <a:pPr marL="0" indent="0" algn="ctr">
              <a:buNone/>
            </a:pPr>
            <a:r>
              <a:rPr lang="rw-RW" sz="1600" b="1" dirty="0">
                <a:solidFill>
                  <a:srgbClr val="1F5FA9"/>
                </a:solidFill>
                <a:latin typeface="Calibri" pitchFamily="34" charset="0"/>
                <a:ea typeface="Calibri" pitchFamily="34" charset="-122"/>
                <a:cs typeface="Calibri" pitchFamily="34" charset="-120"/>
              </a:rPr>
              <a:t>»</a:t>
            </a:r>
            <a:endParaRPr lang="rw-RW" sz="1600" dirty="0"/>
          </a:p>
        </p:txBody>
      </p:sp>
      <p:sp>
        <p:nvSpPr>
          <p:cNvPr id="23" name="Shape 21"/>
          <p:cNvSpPr/>
          <p:nvPr/>
        </p:nvSpPr>
        <p:spPr>
          <a:xfrm>
            <a:off x="6324448" y="4096512"/>
            <a:ext cx="5318608" cy="804672"/>
          </a:xfrm>
          <a:prstGeom prst="roundRect">
            <a:avLst>
              <a:gd name="adj" fmla="val 11364"/>
            </a:avLst>
          </a:prstGeom>
          <a:solidFill>
            <a:srgbClr val="E9F5EC"/>
          </a:solidFill>
          <a:ln w="12700">
            <a:solidFill>
              <a:srgbClr val="AFD8BE"/>
            </a:solidFill>
            <a:prstDash val="solid"/>
          </a:ln>
        </p:spPr>
        <p:txBody>
          <a:bodyPr/>
          <a:lstStyle/>
          <a:p>
            <a:endParaRPr lang="rw-RW" sz="1600" dirty="0"/>
          </a:p>
        </p:txBody>
      </p:sp>
      <p:sp>
        <p:nvSpPr>
          <p:cNvPr id="24" name="Text 22"/>
          <p:cNvSpPr txBox="1"/>
          <p:nvPr/>
        </p:nvSpPr>
        <p:spPr>
          <a:xfrm>
            <a:off x="6525616" y="4096512"/>
            <a:ext cx="4916272" cy="804672"/>
          </a:xfrm>
          <a:prstGeom prst="rect">
            <a:avLst/>
          </a:prstGeom>
          <a:noFill/>
          <a:ln/>
        </p:spPr>
        <p:txBody>
          <a:bodyPr wrap="square" lIns="0" tIns="0" rIns="0" bIns="0" rtlCol="0" anchor="ctr"/>
          <a:lstStyle/>
          <a:p>
            <a:r>
              <a:rPr lang="rw-RW" sz="1600" b="1" dirty="0">
                <a:solidFill>
                  <a:srgbClr val="1B6B41"/>
                </a:solidFill>
                <a:latin typeface="Calibri" pitchFamily="34" charset="0"/>
                <a:ea typeface="Calibri" pitchFamily="34" charset="-122"/>
                <a:cs typeface="Calibri" pitchFamily="34" charset="-120"/>
              </a:rPr>
              <a:t>Ukuri: </a:t>
            </a:r>
            <a:r>
              <a:rPr lang="rw-RW" sz="1600" dirty="0">
                <a:solidFill>
                  <a:srgbClr val="17335F"/>
                </a:solidFill>
                <a:latin typeface="Calibri" pitchFamily="34" charset="0"/>
                <a:ea typeface="Calibri" pitchFamily="34" charset="-122"/>
                <a:cs typeface="Calibri" pitchFamily="34" charset="-120"/>
              </a:rPr>
              <a:t>Ntibiyikwirakwiza. Ni bwo buryo bwonyine bwo kumenya ikibazo icyo ari cyo.</a:t>
            </a:r>
            <a:endParaRPr lang="rw-RW" sz="1600" dirty="0"/>
          </a:p>
        </p:txBody>
      </p:sp>
      <p:sp>
        <p:nvSpPr>
          <p:cNvPr id="25" name="Shape 23"/>
          <p:cNvSpPr/>
          <p:nvPr/>
        </p:nvSpPr>
        <p:spPr>
          <a:xfrm>
            <a:off x="548640" y="5029200"/>
            <a:ext cx="5318608" cy="804672"/>
          </a:xfrm>
          <a:prstGeom prst="roundRect">
            <a:avLst>
              <a:gd name="adj" fmla="val 11364"/>
            </a:avLst>
          </a:prstGeom>
          <a:solidFill>
            <a:srgbClr val="FDECEA"/>
          </a:solidFill>
          <a:ln w="12700">
            <a:solidFill>
              <a:srgbClr val="F0B7B0"/>
            </a:solidFill>
            <a:prstDash val="solid"/>
          </a:ln>
        </p:spPr>
        <p:txBody>
          <a:bodyPr/>
          <a:lstStyle/>
          <a:p>
            <a:endParaRPr lang="rw-RW" sz="1600" dirty="0"/>
          </a:p>
        </p:txBody>
      </p:sp>
      <p:sp>
        <p:nvSpPr>
          <p:cNvPr id="26" name="Text 24"/>
          <p:cNvSpPr txBox="1"/>
          <p:nvPr/>
        </p:nvSpPr>
        <p:spPr>
          <a:xfrm>
            <a:off x="749808" y="5029200"/>
            <a:ext cx="4916272" cy="804672"/>
          </a:xfrm>
          <a:prstGeom prst="rect">
            <a:avLst/>
          </a:prstGeom>
          <a:noFill/>
          <a:ln/>
        </p:spPr>
        <p:txBody>
          <a:bodyPr wrap="square" lIns="0" tIns="0" rIns="0" bIns="0" rtlCol="0" anchor="ctr">
            <a:normAutofit/>
          </a:bodyPr>
          <a:lstStyle/>
          <a:p>
            <a:pPr marL="0" indent="0">
              <a:buNone/>
            </a:pPr>
            <a:r>
              <a:rPr lang="rw-RW" sz="1600" b="1" dirty="0">
                <a:solidFill>
                  <a:srgbClr val="C0392B"/>
                </a:solidFill>
                <a:latin typeface="Calibri" pitchFamily="34" charset="0"/>
                <a:ea typeface="Calibri" pitchFamily="34" charset="-122"/>
                <a:cs typeface="Calibri" pitchFamily="34" charset="-120"/>
              </a:rPr>
              <a:t>Ikinyoma: </a:t>
            </a:r>
            <a:r>
              <a:rPr lang="rw-RW" sz="1600" dirty="0">
                <a:solidFill>
                  <a:srgbClr val="17335F"/>
                </a:solidFill>
                <a:latin typeface="Calibri" pitchFamily="34" charset="0"/>
                <a:ea typeface="Calibri" pitchFamily="34" charset="-122"/>
                <a:cs typeface="Calibri" pitchFamily="34" charset="-120"/>
              </a:rPr>
              <a:t>Umuntu wese urwaye kanseri y'amara akenera igikapu (agasakoshi ko gukusanya ibyavuye mu mubiri)</a:t>
            </a:r>
            <a:endParaRPr lang="rw-RW" sz="1600" dirty="0"/>
          </a:p>
        </p:txBody>
      </p:sp>
      <p:sp>
        <p:nvSpPr>
          <p:cNvPr id="27" name="Text 25"/>
          <p:cNvSpPr txBox="1"/>
          <p:nvPr/>
        </p:nvSpPr>
        <p:spPr>
          <a:xfrm>
            <a:off x="5912968" y="5029200"/>
            <a:ext cx="365760" cy="804672"/>
          </a:xfrm>
          <a:prstGeom prst="rect">
            <a:avLst/>
          </a:prstGeom>
          <a:noFill/>
          <a:ln/>
        </p:spPr>
        <p:txBody>
          <a:bodyPr wrap="square" lIns="0" tIns="0" rIns="0" bIns="0" rtlCol="0" anchor="ctr"/>
          <a:lstStyle/>
          <a:p>
            <a:pPr marL="0" indent="0" algn="ctr">
              <a:buNone/>
            </a:pPr>
            <a:r>
              <a:rPr lang="rw-RW" sz="1600" b="1" dirty="0">
                <a:solidFill>
                  <a:srgbClr val="1F5FA9"/>
                </a:solidFill>
                <a:latin typeface="Calibri" pitchFamily="34" charset="0"/>
                <a:ea typeface="Calibri" pitchFamily="34" charset="-122"/>
                <a:cs typeface="Calibri" pitchFamily="34" charset="-120"/>
              </a:rPr>
              <a:t>»</a:t>
            </a:r>
            <a:endParaRPr lang="rw-RW" sz="1600" dirty="0"/>
          </a:p>
        </p:txBody>
      </p:sp>
      <p:sp>
        <p:nvSpPr>
          <p:cNvPr id="28" name="Shape 26"/>
          <p:cNvSpPr/>
          <p:nvPr/>
        </p:nvSpPr>
        <p:spPr>
          <a:xfrm>
            <a:off x="6324448" y="5029200"/>
            <a:ext cx="5318608" cy="804672"/>
          </a:xfrm>
          <a:prstGeom prst="roundRect">
            <a:avLst>
              <a:gd name="adj" fmla="val 11364"/>
            </a:avLst>
          </a:prstGeom>
          <a:solidFill>
            <a:srgbClr val="E9F5EC"/>
          </a:solidFill>
          <a:ln w="12700">
            <a:solidFill>
              <a:srgbClr val="AFD8BE"/>
            </a:solidFill>
            <a:prstDash val="solid"/>
          </a:ln>
        </p:spPr>
        <p:txBody>
          <a:bodyPr/>
          <a:lstStyle/>
          <a:p>
            <a:endParaRPr lang="rw-RW" sz="1600" dirty="0"/>
          </a:p>
        </p:txBody>
      </p:sp>
      <p:sp>
        <p:nvSpPr>
          <p:cNvPr id="29" name="Text 27"/>
          <p:cNvSpPr txBox="1"/>
          <p:nvPr/>
        </p:nvSpPr>
        <p:spPr>
          <a:xfrm>
            <a:off x="6525616" y="5029200"/>
            <a:ext cx="4916272" cy="804672"/>
          </a:xfrm>
          <a:prstGeom prst="rect">
            <a:avLst/>
          </a:prstGeom>
          <a:noFill/>
          <a:ln/>
        </p:spPr>
        <p:txBody>
          <a:bodyPr wrap="square" lIns="0" tIns="0" rIns="0" bIns="0" rtlCol="0" anchor="ctr"/>
          <a:lstStyle/>
          <a:p>
            <a:r>
              <a:rPr lang="rw-RW" sz="1600" b="1" dirty="0">
                <a:solidFill>
                  <a:srgbClr val="1B6B41"/>
                </a:solidFill>
                <a:latin typeface="Calibri" pitchFamily="34" charset="0"/>
                <a:ea typeface="Calibri" pitchFamily="34" charset="-122"/>
                <a:cs typeface="Calibri" pitchFamily="34" charset="-120"/>
              </a:rPr>
              <a:t>Ukuri: </a:t>
            </a:r>
            <a:r>
              <a:rPr lang="rw-RW" sz="1600" dirty="0">
                <a:solidFill>
                  <a:srgbClr val="17335F"/>
                </a:solidFill>
                <a:latin typeface="Calibri" pitchFamily="34" charset="0"/>
                <a:ea typeface="Calibri" pitchFamily="34" charset="-122"/>
                <a:cs typeface="Calibri" pitchFamily="34" charset="-120"/>
              </a:rPr>
              <a:t>Abenshi ntabwo bakenera. Ku bamwe biba ari agateganyo gusa.</a:t>
            </a:r>
            <a:endParaRPr lang="rw-RW" sz="16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4</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Isuzuma bumenyi (1 muri 3)</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Umujyanama w'ubuzima |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Q1. Kanseri y'amara yemezwa na:</a:t>
            </a:r>
            <a:endParaRPr lang="rw-RW" sz="1700" dirty="0"/>
          </a:p>
        </p:txBody>
      </p:sp>
      <p:sp>
        <p:nvSpPr>
          <p:cNvPr id="6" name="Shape 4"/>
          <p:cNvSpPr/>
          <p:nvPr/>
        </p:nvSpPr>
        <p:spPr>
          <a:xfrm>
            <a:off x="548640" y="1682495"/>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Ibimenyetso byonyine</a:t>
            </a:r>
            <a:endParaRPr lang="rw-RW" sz="1800" dirty="0"/>
          </a:p>
        </p:txBody>
      </p:sp>
      <p:sp>
        <p:nvSpPr>
          <p:cNvPr id="8" name="Shape 6"/>
          <p:cNvSpPr/>
          <p:nvPr/>
        </p:nvSpPr>
        <p:spPr>
          <a:xfrm>
            <a:off x="6233008" y="1682495"/>
            <a:ext cx="5410048" cy="694944"/>
          </a:xfrm>
          <a:prstGeom prst="roundRect">
            <a:avLst>
              <a:gd name="adj" fmla="val 19231"/>
            </a:avLst>
          </a:prstGeom>
          <a:solidFill>
            <a:srgbClr val="E9F5EC"/>
          </a:solidFill>
          <a:ln w="12700">
            <a:solidFill>
              <a:srgbClr val="AFD8BE"/>
            </a:solidFill>
            <a:prstDash val="solid"/>
          </a:ln>
        </p:spPr>
        <p:txBody>
          <a:bodyPr/>
          <a:lstStyle/>
          <a:p>
            <a:endParaRPr lang="rw-RW" dirty="0"/>
          </a:p>
        </p:txBody>
      </p:sp>
      <p:sp>
        <p:nvSpPr>
          <p:cNvPr id="9" name="Text 7"/>
          <p:cNvSpPr txBox="1"/>
          <p:nvPr/>
        </p:nvSpPr>
        <p:spPr>
          <a:xfrm>
            <a:off x="6434176" y="1682495"/>
            <a:ext cx="5044288" cy="694944"/>
          </a:xfrm>
          <a:prstGeom prst="rect">
            <a:avLst/>
          </a:prstGeom>
          <a:noFill/>
          <a:ln/>
        </p:spPr>
        <p:txBody>
          <a:bodyPr wrap="square" lIns="0" tIns="0" rIns="0" bIns="0" rtlCol="0" anchor="ctr">
            <a:normAutofit/>
          </a:bodyPr>
          <a:lstStyle/>
          <a:p>
            <a:pPr marL="0" indent="0">
              <a:buNone/>
            </a:pPr>
            <a:r>
              <a:rPr lang="rw-RW" sz="1800" b="1" dirty="0">
                <a:solidFill>
                  <a:srgbClr val="1B6B41"/>
                </a:solidFill>
                <a:latin typeface="Calibri" pitchFamily="34" charset="0"/>
                <a:ea typeface="Calibri" pitchFamily="34" charset="-122"/>
                <a:cs typeface="Calibri" pitchFamily="34" charset="-120"/>
              </a:rPr>
              <a:t>B. Agace gato k'umubiri gasuzumwa hakoreshejwe mikorosikopi ✓</a:t>
            </a:r>
            <a:endParaRPr lang="rw-RW" sz="1200" dirty="0"/>
          </a:p>
        </p:txBody>
      </p:sp>
      <p:sp>
        <p:nvSpPr>
          <p:cNvPr id="10" name="Shape 8"/>
          <p:cNvSpPr/>
          <p:nvPr/>
        </p:nvSpPr>
        <p:spPr>
          <a:xfrm>
            <a:off x="548640" y="2432304"/>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49808" y="243230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Kwipimisha amaraso wenyine</a:t>
            </a:r>
            <a:endParaRPr lang="rw-RW" sz="1800" dirty="0"/>
          </a:p>
        </p:txBody>
      </p:sp>
      <p:sp>
        <p:nvSpPr>
          <p:cNvPr id="12" name="Shape 10"/>
          <p:cNvSpPr/>
          <p:nvPr/>
        </p:nvSpPr>
        <p:spPr>
          <a:xfrm>
            <a:off x="6233008" y="2432304"/>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43230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Ibitekerezo by'umuryango</a:t>
            </a:r>
            <a:endParaRPr lang="rw-RW" sz="1800" dirty="0"/>
          </a:p>
        </p:txBody>
      </p:sp>
      <p:sp>
        <p:nvSpPr>
          <p:cNvPr id="14" name="Text 12"/>
          <p:cNvSpPr txBox="1"/>
          <p:nvPr/>
        </p:nvSpPr>
        <p:spPr>
          <a:xfrm>
            <a:off x="548640" y="2944368"/>
            <a:ext cx="11094415" cy="585216"/>
          </a:xfrm>
          <a:prstGeom prst="rect">
            <a:avLst/>
          </a:prstGeom>
          <a:noFill/>
          <a:ln/>
        </p:spPr>
        <p:txBody>
          <a:bodyPr wrap="square" lIns="0" tIns="0" rIns="0" bIns="0" rtlCol="0" anchor="t">
            <a:normAutofit/>
          </a:bodyPr>
          <a:lstStyle/>
          <a:p>
            <a:pPr marL="0" indent="0">
              <a:buNone/>
            </a:pPr>
            <a:r>
              <a:rPr lang="rw-RW" sz="1800" b="1" dirty="0">
                <a:solidFill>
                  <a:srgbClr val="1B6B41"/>
                </a:solidFill>
                <a:latin typeface="Calibri" pitchFamily="34" charset="0"/>
                <a:ea typeface="Calibri" pitchFamily="34" charset="-122"/>
                <a:cs typeface="Calibri" pitchFamily="34" charset="-120"/>
              </a:rPr>
              <a:t>Igisubizo cy'ukuri: B. </a:t>
            </a:r>
            <a:r>
              <a:rPr lang="rw-RW" sz="1800" b="0" dirty="0">
                <a:solidFill>
                  <a:srgbClr val="17335F"/>
                </a:solidFill>
                <a:latin typeface="Calibri"/>
              </a:rPr>
              <a:t>Gusuzuma agace k'umubiri ni byo byemeza kanseri. Ibindi byose byerekana ko ari kanseri.</a:t>
            </a:r>
            <a:endParaRPr lang="rw-RW" sz="1150" dirty="0"/>
          </a:p>
        </p:txBody>
      </p:sp>
      <p:sp>
        <p:nvSpPr>
          <p:cNvPr id="15" name="Text 13"/>
          <p:cNvSpPr txBox="1"/>
          <p:nvPr/>
        </p:nvSpPr>
        <p:spPr>
          <a:xfrm>
            <a:off x="548640" y="3822191"/>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Q2. Igipimo cya kamera cyinjizwa mu mara gishobora gukora:</a:t>
            </a:r>
            <a:endParaRPr lang="rw-RW" sz="1700" dirty="0"/>
          </a:p>
        </p:txBody>
      </p:sp>
      <p:sp>
        <p:nvSpPr>
          <p:cNvPr id="16" name="Shape 14"/>
          <p:cNvSpPr/>
          <p:nvPr/>
        </p:nvSpPr>
        <p:spPr>
          <a:xfrm>
            <a:off x="548640" y="4206240"/>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7" name="Text 15"/>
          <p:cNvSpPr txBox="1"/>
          <p:nvPr/>
        </p:nvSpPr>
        <p:spPr>
          <a:xfrm>
            <a:off x="749808" y="4206240"/>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Kureba imbere gusa</a:t>
            </a:r>
            <a:endParaRPr lang="rw-RW" sz="1800" dirty="0"/>
          </a:p>
        </p:txBody>
      </p:sp>
      <p:sp>
        <p:nvSpPr>
          <p:cNvPr id="18" name="Shape 16"/>
          <p:cNvSpPr/>
          <p:nvPr/>
        </p:nvSpPr>
        <p:spPr>
          <a:xfrm>
            <a:off x="6233008" y="4206240"/>
            <a:ext cx="5410048" cy="420623"/>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19" name="Text 17"/>
          <p:cNvSpPr txBox="1"/>
          <p:nvPr/>
        </p:nvSpPr>
        <p:spPr>
          <a:xfrm>
            <a:off x="6434176" y="4206240"/>
            <a:ext cx="5044288" cy="420623"/>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Kwemeza kanseri ubwayo</a:t>
            </a:r>
            <a:endParaRPr lang="rw-RW" sz="1200" dirty="0"/>
          </a:p>
        </p:txBody>
      </p:sp>
      <p:sp>
        <p:nvSpPr>
          <p:cNvPr id="20" name="Shape 18"/>
          <p:cNvSpPr/>
          <p:nvPr/>
        </p:nvSpPr>
        <p:spPr>
          <a:xfrm>
            <a:off x="548640" y="4681727"/>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1" name="Text 19"/>
          <p:cNvSpPr txBox="1"/>
          <p:nvPr/>
        </p:nvSpPr>
        <p:spPr>
          <a:xfrm>
            <a:off x="749808" y="4681727"/>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Kuvura kanseri</a:t>
            </a:r>
            <a:endParaRPr lang="rw-RW" sz="1800" dirty="0"/>
          </a:p>
        </p:txBody>
      </p:sp>
      <p:sp>
        <p:nvSpPr>
          <p:cNvPr id="22" name="Shape 20"/>
          <p:cNvSpPr/>
          <p:nvPr/>
        </p:nvSpPr>
        <p:spPr>
          <a:xfrm>
            <a:off x="6233008" y="4681727"/>
            <a:ext cx="5410048" cy="694944"/>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23" name="Text 21"/>
          <p:cNvSpPr txBox="1"/>
          <p:nvPr/>
        </p:nvSpPr>
        <p:spPr>
          <a:xfrm>
            <a:off x="6434176" y="4681727"/>
            <a:ext cx="5044288" cy="694944"/>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D. Kureba imbere, gufata agace k'umubiri, no gukuraho zimwe mu mikurire ✓</a:t>
            </a:r>
            <a:endParaRPr lang="rw-RW" sz="1800" dirty="0"/>
          </a:p>
        </p:txBody>
      </p:sp>
      <p:sp>
        <p:nvSpPr>
          <p:cNvPr id="24" name="Text 22"/>
          <p:cNvSpPr txBox="1"/>
          <p:nvPr/>
        </p:nvSpPr>
        <p:spPr>
          <a:xfrm>
            <a:off x="548640" y="5468112"/>
            <a:ext cx="11094415" cy="310896"/>
          </a:xfrm>
          <a:prstGeom prst="rect">
            <a:avLst/>
          </a:prstGeom>
          <a:noFill/>
          <a:ln/>
        </p:spPr>
        <p:txBody>
          <a:bodyPr wrap="square" lIns="0" tIns="0" rIns="0" bIns="0" rtlCol="0" anchor="t"/>
          <a:lstStyle/>
          <a:p>
            <a:pPr marL="0" indent="0">
              <a:buNone/>
            </a:pPr>
            <a:r>
              <a:rPr lang="rw-RW" sz="1800" b="1" dirty="0">
                <a:solidFill>
                  <a:srgbClr val="1B6B41"/>
                </a:solidFill>
                <a:latin typeface="Calibri" pitchFamily="34" charset="0"/>
                <a:ea typeface="Calibri" pitchFamily="34" charset="-122"/>
                <a:cs typeface="Calibri" pitchFamily="34" charset="-120"/>
              </a:rPr>
              <a:t>Igisubizo cy'ukuri: D.  Kiragenzura </a:t>
            </a:r>
            <a:r>
              <a:rPr lang="rw-RW" sz="1800" dirty="0">
                <a:solidFill>
                  <a:srgbClr val="17335F"/>
                </a:solidFill>
                <a:latin typeface="Calibri" pitchFamily="34" charset="0"/>
                <a:ea typeface="Calibri" pitchFamily="34" charset="-122"/>
                <a:cs typeface="Calibri" pitchFamily="34" charset="-120"/>
              </a:rPr>
              <a:t>imbere kandi gishobora gukuraho zimwe mu mikurire.</a:t>
            </a:r>
            <a:endParaRPr lang="rw-RW" sz="1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4</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Isuzuma bumenyi (2 muri 3)</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Q3. Akaregeya gakura (polyp) kabonetse kandi kakurwaho mu gihe cy'ikizamini cya kamera bivuze:</a:t>
            </a:r>
            <a:endParaRPr lang="rw-RW" sz="1700" dirty="0"/>
          </a:p>
        </p:txBody>
      </p:sp>
      <p:sp>
        <p:nvSpPr>
          <p:cNvPr id="6" name="Shape 4"/>
          <p:cNvSpPr/>
          <p:nvPr/>
        </p:nvSpPr>
        <p:spPr>
          <a:xfrm>
            <a:off x="548640" y="1682495"/>
            <a:ext cx="5410048" cy="694944"/>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694944"/>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A. Ikibazo gishobora kuzavuka ejo hazaza cyarakumiriwe ✓</a:t>
            </a:r>
            <a:endParaRPr lang="rw-RW" sz="1800" dirty="0"/>
          </a:p>
        </p:txBody>
      </p:sp>
      <p:sp>
        <p:nvSpPr>
          <p:cNvPr id="8" name="Shape 6"/>
          <p:cNvSpPr/>
          <p:nvPr/>
        </p:nvSpPr>
        <p:spPr>
          <a:xfrm>
            <a:off x="6233008" y="1682495"/>
            <a:ext cx="5410048" cy="694944"/>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9" name="Text 7"/>
          <p:cNvSpPr txBox="1"/>
          <p:nvPr/>
        </p:nvSpPr>
        <p:spPr>
          <a:xfrm>
            <a:off x="6434176" y="1682495"/>
            <a:ext cx="5044288" cy="694944"/>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Birumvikana ko umuntu arwaye kanseri</a:t>
            </a:r>
            <a:endParaRPr lang="rw-RW" sz="1200" dirty="0"/>
          </a:p>
        </p:txBody>
      </p:sp>
      <p:sp>
        <p:nvSpPr>
          <p:cNvPr id="10" name="Shape 8"/>
          <p:cNvSpPr/>
          <p:nvPr/>
        </p:nvSpPr>
        <p:spPr>
          <a:xfrm>
            <a:off x="548640" y="2432304"/>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49808" y="243230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Nta kintu na kimwe cyagezweho</a:t>
            </a:r>
            <a:endParaRPr lang="rw-RW" sz="1800" dirty="0"/>
          </a:p>
        </p:txBody>
      </p:sp>
      <p:sp>
        <p:nvSpPr>
          <p:cNvPr id="12" name="Shape 10"/>
          <p:cNvSpPr/>
          <p:nvPr/>
        </p:nvSpPr>
        <p:spPr>
          <a:xfrm>
            <a:off x="6233008" y="2432304"/>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432304"/>
            <a:ext cx="5044288" cy="420623"/>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Uwo muntu ntakeneye gukurikiranwa na rimwe</a:t>
            </a:r>
            <a:endParaRPr lang="rw-RW" sz="1200" dirty="0"/>
          </a:p>
        </p:txBody>
      </p:sp>
      <p:sp>
        <p:nvSpPr>
          <p:cNvPr id="14" name="Text 12"/>
          <p:cNvSpPr txBox="1"/>
          <p:nvPr/>
        </p:nvSpPr>
        <p:spPr>
          <a:xfrm>
            <a:off x="548640" y="2944368"/>
            <a:ext cx="11094415" cy="310896"/>
          </a:xfrm>
          <a:prstGeom prst="rect">
            <a:avLst/>
          </a:prstGeom>
          <a:noFill/>
          <a:ln/>
        </p:spPr>
        <p:txBody>
          <a:bodyPr wrap="square" lIns="0" tIns="0" rIns="0" bIns="0" rtlCol="0" anchor="t"/>
          <a:lstStyle/>
          <a:p>
            <a:pPr marL="0" indent="0">
              <a:buNone/>
            </a:pPr>
            <a:r>
              <a:rPr lang="rw-RW" sz="1800" b="1" dirty="0">
                <a:solidFill>
                  <a:srgbClr val="1B6B41"/>
                </a:solidFill>
                <a:latin typeface="Calibri" pitchFamily="34" charset="0"/>
                <a:ea typeface="Calibri" pitchFamily="34" charset="-122"/>
                <a:cs typeface="Calibri" pitchFamily="34" charset="-120"/>
              </a:rPr>
              <a:t>Ukuri: A. </a:t>
            </a:r>
            <a:r>
              <a:rPr lang="rw-RW" sz="1800" b="0" dirty="0">
                <a:solidFill>
                  <a:srgbClr val="17335F"/>
                </a:solidFill>
                <a:latin typeface="Calibri"/>
              </a:rPr>
              <a:t>Uturegeya twinshi ntabwo ari kanseri, kandi gukuramo bishobora kurinda kanseri gukura.</a:t>
            </a:r>
            <a:endParaRPr lang="rw-RW" sz="1800" dirty="0"/>
          </a:p>
        </p:txBody>
      </p:sp>
      <p:sp>
        <p:nvSpPr>
          <p:cNvPr id="15" name="Text 13"/>
          <p:cNvSpPr txBox="1"/>
          <p:nvPr/>
        </p:nvSpPr>
        <p:spPr>
          <a:xfrm>
            <a:off x="548640" y="3547872"/>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Q4. Kuvura kanseri y'amara:</a:t>
            </a:r>
            <a:endParaRPr lang="rw-RW" sz="1700" dirty="0"/>
          </a:p>
        </p:txBody>
      </p:sp>
      <p:sp>
        <p:nvSpPr>
          <p:cNvPr id="16" name="Shape 14"/>
          <p:cNvSpPr/>
          <p:nvPr/>
        </p:nvSpPr>
        <p:spPr>
          <a:xfrm>
            <a:off x="548640" y="3931920"/>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7" name="Text 15"/>
          <p:cNvSpPr txBox="1"/>
          <p:nvPr/>
        </p:nvSpPr>
        <p:spPr>
          <a:xfrm>
            <a:off x="749808" y="3931920"/>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Ni kimwe kuri buri wese</a:t>
            </a:r>
            <a:endParaRPr lang="rw-RW" sz="1800" dirty="0"/>
          </a:p>
        </p:txBody>
      </p:sp>
      <p:sp>
        <p:nvSpPr>
          <p:cNvPr id="18" name="Shape 16"/>
          <p:cNvSpPr/>
          <p:nvPr/>
        </p:nvSpPr>
        <p:spPr>
          <a:xfrm>
            <a:off x="6233008" y="3931920"/>
            <a:ext cx="5410048" cy="420623"/>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19" name="Text 17"/>
          <p:cNvSpPr txBox="1"/>
          <p:nvPr/>
        </p:nvSpPr>
        <p:spPr>
          <a:xfrm>
            <a:off x="6434176" y="3931920"/>
            <a:ext cx="5044288" cy="420623"/>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Buri gihe ni ukubaga gusa</a:t>
            </a:r>
            <a:endParaRPr lang="rw-RW" sz="1100" dirty="0"/>
          </a:p>
        </p:txBody>
      </p:sp>
      <p:sp>
        <p:nvSpPr>
          <p:cNvPr id="20" name="Shape 18"/>
          <p:cNvSpPr/>
          <p:nvPr/>
        </p:nvSpPr>
        <p:spPr>
          <a:xfrm>
            <a:off x="548640" y="4407408"/>
            <a:ext cx="5410048" cy="694944"/>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21" name="Text 19"/>
          <p:cNvSpPr txBox="1"/>
          <p:nvPr/>
        </p:nvSpPr>
        <p:spPr>
          <a:xfrm>
            <a:off x="749808" y="4407408"/>
            <a:ext cx="5044288" cy="694944"/>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C. Biterwa na kanseri n'umuntu ku giti cye, kandi bishobora guhuza ubwoko burenze bumwe ✓</a:t>
            </a:r>
            <a:endParaRPr lang="rw-RW" sz="1800" dirty="0"/>
          </a:p>
        </p:txBody>
      </p:sp>
      <p:sp>
        <p:nvSpPr>
          <p:cNvPr id="22" name="Shape 20"/>
          <p:cNvSpPr/>
          <p:nvPr/>
        </p:nvSpPr>
        <p:spPr>
          <a:xfrm>
            <a:off x="6233008" y="4407408"/>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3" name="Text 21"/>
          <p:cNvSpPr txBox="1"/>
          <p:nvPr/>
        </p:nvSpPr>
        <p:spPr>
          <a:xfrm>
            <a:off x="6434176" y="4407408"/>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Ntibiboneka mu Rwanda</a:t>
            </a:r>
            <a:endParaRPr lang="rw-RW" sz="1800" dirty="0"/>
          </a:p>
        </p:txBody>
      </p:sp>
      <p:sp>
        <p:nvSpPr>
          <p:cNvPr id="24" name="Text 22"/>
          <p:cNvSpPr txBox="1"/>
          <p:nvPr/>
        </p:nvSpPr>
        <p:spPr>
          <a:xfrm>
            <a:off x="548640" y="5193792"/>
            <a:ext cx="11094415" cy="310896"/>
          </a:xfrm>
          <a:prstGeom prst="rect">
            <a:avLst/>
          </a:prstGeom>
          <a:noFill/>
          <a:ln/>
        </p:spPr>
        <p:txBody>
          <a:bodyPr wrap="square" lIns="0" tIns="0" rIns="0" bIns="0" rtlCol="0" anchor="t"/>
          <a:lstStyle/>
          <a:p>
            <a:pPr marL="0" indent="0">
              <a:buNone/>
            </a:pPr>
            <a:r>
              <a:rPr lang="rw-RW" sz="1800" b="1" dirty="0">
                <a:solidFill>
                  <a:srgbClr val="1B6B41"/>
                </a:solidFill>
                <a:latin typeface="Calibri" pitchFamily="34" charset="0"/>
                <a:ea typeface="Calibri" pitchFamily="34" charset="-122"/>
                <a:cs typeface="Calibri" pitchFamily="34" charset="-120"/>
              </a:rPr>
              <a:t>Ukuri: C. </a:t>
            </a:r>
            <a:r>
              <a:rPr lang="rw-RW" sz="1800" dirty="0">
                <a:solidFill>
                  <a:srgbClr val="17335F"/>
                </a:solidFill>
                <a:latin typeface="Calibri" pitchFamily="34" charset="0"/>
                <a:ea typeface="Calibri" pitchFamily="34" charset="-122"/>
                <a:cs typeface="Calibri" pitchFamily="34" charset="-120"/>
              </a:rPr>
              <a:t>Inzobere zitegura hamwe n'umuntu. Uburyo butandukanye bwo kuvura bushobora guhuzwa.</a:t>
            </a:r>
            <a:endParaRPr lang="rw-RW" sz="1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4</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Isuzuma bumenyi (3 muri 3)</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Ikibazo cya 5. "Umuntu wese urwaye kanseri y'amara akeneye igikapu." Ibi ni:</a:t>
            </a:r>
            <a:endParaRPr lang="rw-RW" sz="1700" dirty="0"/>
          </a:p>
        </p:txBody>
      </p:sp>
      <p:sp>
        <p:nvSpPr>
          <p:cNvPr id="6" name="Shape 4"/>
          <p:cNvSpPr/>
          <p:nvPr/>
        </p:nvSpPr>
        <p:spPr>
          <a:xfrm>
            <a:off x="548640" y="1682495"/>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Ukuri</a:t>
            </a:r>
            <a:endParaRPr lang="rw-RW" sz="1800" dirty="0"/>
          </a:p>
        </p:txBody>
      </p:sp>
      <p:sp>
        <p:nvSpPr>
          <p:cNvPr id="8" name="Shape 6"/>
          <p:cNvSpPr/>
          <p:nvPr/>
        </p:nvSpPr>
        <p:spPr>
          <a:xfrm>
            <a:off x="6233008" y="1682495"/>
            <a:ext cx="5410048" cy="420623"/>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9" name="Text 7"/>
          <p:cNvSpPr txBox="1"/>
          <p:nvPr/>
        </p:nvSpPr>
        <p:spPr>
          <a:xfrm>
            <a:off x="6434176" y="1682495"/>
            <a:ext cx="5044288" cy="420623"/>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Ni ukuri ku bagore gusa</a:t>
            </a:r>
            <a:endParaRPr lang="rw-RW" sz="1200" dirty="0"/>
          </a:p>
        </p:txBody>
      </p:sp>
      <p:sp>
        <p:nvSpPr>
          <p:cNvPr id="10" name="Shape 8"/>
          <p:cNvSpPr/>
          <p:nvPr/>
        </p:nvSpPr>
        <p:spPr>
          <a:xfrm>
            <a:off x="548640" y="2157984"/>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49808" y="2157984"/>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Ni ukuri kuri buri gikorwa</a:t>
            </a:r>
            <a:endParaRPr lang="rw-RW" sz="1800" dirty="0"/>
          </a:p>
        </p:txBody>
      </p:sp>
      <p:sp>
        <p:nvSpPr>
          <p:cNvPr id="12" name="Shape 10"/>
          <p:cNvSpPr/>
          <p:nvPr/>
        </p:nvSpPr>
        <p:spPr>
          <a:xfrm>
            <a:off x="6233008" y="2157984"/>
            <a:ext cx="5410048" cy="694944"/>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13" name="Text 11"/>
          <p:cNvSpPr txBox="1"/>
          <p:nvPr/>
        </p:nvSpPr>
        <p:spPr>
          <a:xfrm>
            <a:off x="6434176" y="2157984"/>
            <a:ext cx="5044288" cy="694944"/>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D. Ni ikinyoma, abantu benshi ntibakeneye igikapu, kandi ku bamwe ni igihe gito gusa ✓</a:t>
            </a:r>
            <a:endParaRPr lang="rw-RW" sz="1800" dirty="0"/>
          </a:p>
        </p:txBody>
      </p:sp>
      <p:sp>
        <p:nvSpPr>
          <p:cNvPr id="14" name="Text 12"/>
          <p:cNvSpPr txBox="1"/>
          <p:nvPr/>
        </p:nvSpPr>
        <p:spPr>
          <a:xfrm>
            <a:off x="548640" y="2944368"/>
            <a:ext cx="11094415" cy="585216"/>
          </a:xfrm>
          <a:prstGeom prst="rect">
            <a:avLst/>
          </a:prstGeom>
          <a:noFill/>
          <a:ln/>
        </p:spPr>
        <p:txBody>
          <a:bodyPr wrap="square" lIns="0" tIns="0" rIns="0" bIns="0" rtlCol="0" anchor="t">
            <a:normAutofit/>
          </a:bodyPr>
          <a:lstStyle/>
          <a:p>
            <a:pPr marL="0" indent="0">
              <a:buNone/>
            </a:pPr>
            <a:r>
              <a:rPr lang="rw-RW" sz="1800" b="1" dirty="0">
                <a:solidFill>
                  <a:srgbClr val="1B6B41"/>
                </a:solidFill>
                <a:latin typeface="Calibri" pitchFamily="34" charset="0"/>
                <a:ea typeface="Calibri" pitchFamily="34" charset="-122"/>
                <a:cs typeface="Calibri" pitchFamily="34" charset="-120"/>
              </a:rPr>
              <a:t>Igisubizo cy'ukuri: D. </a:t>
            </a:r>
            <a:r>
              <a:rPr lang="rw-RW" sz="1800" b="0" dirty="0">
                <a:solidFill>
                  <a:srgbClr val="17335F"/>
                </a:solidFill>
                <a:latin typeface="Calibri"/>
              </a:rPr>
              <a:t>Kosora iyi myizerere buhoro buhoro, kuko ubwoba bwo gushyirwaho igikapu bushobora gutuma abantu batinya kujya kwivuza.</a:t>
            </a:r>
            <a:endParaRPr lang="rw-RW" sz="11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4</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Gutekereza ku isomo</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Text 3"/>
          <p:cNvSpPr txBox="1"/>
          <p:nvPr/>
        </p:nvSpPr>
        <p:spPr>
          <a:xfrm>
            <a:off x="548640" y="1280160"/>
            <a:ext cx="11094415" cy="457200"/>
          </a:xfrm>
          <a:prstGeom prst="rect">
            <a:avLst/>
          </a:prstGeom>
          <a:noFill/>
          <a:ln/>
        </p:spPr>
        <p:txBody>
          <a:bodyPr wrap="square" lIns="0" tIns="0" rIns="0" bIns="0" rtlCol="0" anchor="ctr">
            <a:normAutofit/>
          </a:bodyPr>
          <a:lstStyle/>
          <a:p>
            <a:pPr marL="0" indent="0">
              <a:buNone/>
            </a:pPr>
            <a:r>
              <a:rPr lang="rw-RW" sz="1150" i="1" dirty="0">
                <a:solidFill>
                  <a:srgbClr val="6B7A90"/>
                </a:solidFill>
                <a:latin typeface="Calibri" pitchFamily="34" charset="0"/>
                <a:ea typeface="Calibri" pitchFamily="34" charset="-122"/>
                <a:cs typeface="Calibri" pitchFamily="34" charset="-120"/>
              </a:rPr>
              <a:t>Andika igisubizo cyawe mu kazu k'inyandiko. Nta gisubizo kimwe gusa ari cyo cy'ukuri. Ibi bibazo ni ibyo kwimenyereza wenyine no kuganiraho. Ntibihabwa amanota.</a:t>
            </a:r>
            <a:endParaRPr lang="rw-RW" sz="1150" dirty="0"/>
          </a:p>
        </p:txBody>
      </p:sp>
      <p:sp>
        <p:nvSpPr>
          <p:cNvPr id="6" name="Shape 4"/>
          <p:cNvSpPr/>
          <p:nvPr/>
        </p:nvSpPr>
        <p:spPr>
          <a:xfrm>
            <a:off x="548640" y="1920240"/>
            <a:ext cx="11094415" cy="1051560"/>
          </a:xfrm>
          <a:prstGeom prst="roundRect">
            <a:avLst>
              <a:gd name="adj" fmla="val 8696"/>
            </a:avLst>
          </a:prstGeom>
          <a:solidFill>
            <a:srgbClr val="F2F7FD"/>
          </a:solidFill>
          <a:ln w="12700">
            <a:solidFill>
              <a:srgbClr val="CBDDF3"/>
            </a:solidFill>
            <a:prstDash val="solid"/>
          </a:ln>
        </p:spPr>
        <p:txBody>
          <a:bodyPr/>
          <a:lstStyle/>
          <a:p>
            <a:endParaRPr lang="rw-RW" dirty="0"/>
          </a:p>
        </p:txBody>
      </p:sp>
      <p:sp>
        <p:nvSpPr>
          <p:cNvPr id="7" name="Shape 5"/>
          <p:cNvSpPr/>
          <p:nvPr/>
        </p:nvSpPr>
        <p:spPr>
          <a:xfrm>
            <a:off x="777240" y="2221992"/>
            <a:ext cx="438912" cy="438912"/>
          </a:xfrm>
          <a:prstGeom prst="ellipse">
            <a:avLst/>
          </a:prstGeom>
          <a:solidFill>
            <a:srgbClr val="12305B"/>
          </a:solidFill>
          <a:ln/>
        </p:spPr>
        <p:txBody>
          <a:bodyPr/>
          <a:lstStyle/>
          <a:p>
            <a:endParaRPr lang="rw-RW" dirty="0"/>
          </a:p>
        </p:txBody>
      </p:sp>
      <p:sp>
        <p:nvSpPr>
          <p:cNvPr id="8" name="Text 6"/>
          <p:cNvSpPr txBox="1"/>
          <p:nvPr/>
        </p:nvSpPr>
        <p:spPr>
          <a:xfrm>
            <a:off x="777240" y="2221992"/>
            <a:ext cx="438912" cy="438912"/>
          </a:xfrm>
          <a:prstGeom prst="rect">
            <a:avLst/>
          </a:prstGeom>
          <a:noFill/>
          <a:ln/>
        </p:spPr>
        <p:txBody>
          <a:bodyPr wrap="square" lIns="0" tIns="0" rIns="0" bIns="0" rtlCol="0" anchor="ctr"/>
          <a:lstStyle/>
          <a:p>
            <a:pPr marL="0" indent="0" algn="ctr">
              <a:buNone/>
            </a:pPr>
            <a:r>
              <a:rPr lang="rw-RW" sz="1700" b="1" dirty="0">
                <a:solidFill>
                  <a:srgbClr val="FFFFFF"/>
                </a:solidFill>
                <a:latin typeface="Calibri" pitchFamily="34" charset="0"/>
                <a:ea typeface="Calibri" pitchFamily="34" charset="-122"/>
                <a:cs typeface="Calibri" pitchFamily="34" charset="-120"/>
              </a:rPr>
              <a:t>1</a:t>
            </a:r>
            <a:endParaRPr lang="rw-RW" sz="1700" dirty="0"/>
          </a:p>
        </p:txBody>
      </p:sp>
      <p:sp>
        <p:nvSpPr>
          <p:cNvPr id="9" name="Text 7"/>
          <p:cNvSpPr txBox="1"/>
          <p:nvPr/>
        </p:nvSpPr>
        <p:spPr>
          <a:xfrm>
            <a:off x="1417320" y="2057400"/>
            <a:ext cx="9905695" cy="777240"/>
          </a:xfrm>
          <a:prstGeom prst="rect">
            <a:avLst/>
          </a:prstGeom>
          <a:noFill/>
          <a:ln/>
        </p:spPr>
        <p:txBody>
          <a:bodyPr wrap="square" lIns="0" tIns="0" rIns="0" bIns="0" rtlCol="0" anchor="ctr"/>
          <a:lstStyle/>
          <a:p>
            <a:pPr marL="0" indent="0">
              <a:lnSpc>
                <a:spcPct val="105000"/>
              </a:lnSpc>
              <a:buNone/>
            </a:pPr>
            <a:r>
              <a:rPr lang="rw-RW" sz="1900" dirty="0">
                <a:solidFill>
                  <a:srgbClr val="17335F"/>
                </a:solidFill>
                <a:latin typeface="Calibri" pitchFamily="34" charset="0"/>
                <a:ea typeface="Calibri" pitchFamily="34" charset="-122"/>
                <a:cs typeface="Calibri" pitchFamily="34" charset="-120"/>
              </a:rPr>
              <a:t>Ni gute wasobanura mu magambo yoroheje, uko ikigo kigenzura niba kanseri ihari?</a:t>
            </a:r>
            <a:endParaRPr lang="rw-RW" sz="1900" dirty="0"/>
          </a:p>
        </p:txBody>
      </p:sp>
      <p:sp>
        <p:nvSpPr>
          <p:cNvPr id="10" name="Shape 8"/>
          <p:cNvSpPr/>
          <p:nvPr/>
        </p:nvSpPr>
        <p:spPr>
          <a:xfrm>
            <a:off x="548640" y="3154680"/>
            <a:ext cx="11094415" cy="1051560"/>
          </a:xfrm>
          <a:prstGeom prst="roundRect">
            <a:avLst>
              <a:gd name="adj" fmla="val 8696"/>
            </a:avLst>
          </a:prstGeom>
          <a:solidFill>
            <a:srgbClr val="F2F7FD"/>
          </a:solidFill>
          <a:ln w="12700">
            <a:solidFill>
              <a:srgbClr val="CBDDF3"/>
            </a:solidFill>
            <a:prstDash val="solid"/>
          </a:ln>
        </p:spPr>
        <p:txBody>
          <a:bodyPr/>
          <a:lstStyle/>
          <a:p>
            <a:endParaRPr lang="rw-RW" dirty="0"/>
          </a:p>
        </p:txBody>
      </p:sp>
      <p:sp>
        <p:nvSpPr>
          <p:cNvPr id="11" name="Shape 9"/>
          <p:cNvSpPr/>
          <p:nvPr/>
        </p:nvSpPr>
        <p:spPr>
          <a:xfrm>
            <a:off x="777240" y="3456432"/>
            <a:ext cx="438912" cy="438912"/>
          </a:xfrm>
          <a:prstGeom prst="ellipse">
            <a:avLst/>
          </a:prstGeom>
          <a:solidFill>
            <a:srgbClr val="12305B"/>
          </a:solidFill>
          <a:ln/>
        </p:spPr>
        <p:txBody>
          <a:bodyPr/>
          <a:lstStyle/>
          <a:p>
            <a:endParaRPr lang="rw-RW" dirty="0"/>
          </a:p>
        </p:txBody>
      </p:sp>
      <p:sp>
        <p:nvSpPr>
          <p:cNvPr id="12" name="Text 10"/>
          <p:cNvSpPr txBox="1"/>
          <p:nvPr/>
        </p:nvSpPr>
        <p:spPr>
          <a:xfrm>
            <a:off x="777240" y="3456432"/>
            <a:ext cx="438912" cy="438912"/>
          </a:xfrm>
          <a:prstGeom prst="rect">
            <a:avLst/>
          </a:prstGeom>
          <a:noFill/>
          <a:ln/>
        </p:spPr>
        <p:txBody>
          <a:bodyPr wrap="square" lIns="0" tIns="0" rIns="0" bIns="0" rtlCol="0" anchor="ctr"/>
          <a:lstStyle/>
          <a:p>
            <a:pPr marL="0" indent="0" algn="ctr">
              <a:buNone/>
            </a:pPr>
            <a:r>
              <a:rPr lang="rw-RW" sz="1700" b="1" dirty="0">
                <a:solidFill>
                  <a:srgbClr val="FFFFFF"/>
                </a:solidFill>
                <a:latin typeface="Calibri" pitchFamily="34" charset="0"/>
                <a:ea typeface="Calibri" pitchFamily="34" charset="-122"/>
                <a:cs typeface="Calibri" pitchFamily="34" charset="-120"/>
              </a:rPr>
              <a:t>2</a:t>
            </a:r>
            <a:endParaRPr lang="rw-RW" sz="1700" dirty="0"/>
          </a:p>
        </p:txBody>
      </p:sp>
      <p:sp>
        <p:nvSpPr>
          <p:cNvPr id="13" name="Text 11"/>
          <p:cNvSpPr txBox="1"/>
          <p:nvPr/>
        </p:nvSpPr>
        <p:spPr>
          <a:xfrm>
            <a:off x="1417320" y="3291840"/>
            <a:ext cx="9905695" cy="777240"/>
          </a:xfrm>
          <a:prstGeom prst="rect">
            <a:avLst/>
          </a:prstGeom>
          <a:noFill/>
          <a:ln/>
        </p:spPr>
        <p:txBody>
          <a:bodyPr wrap="square" lIns="0" tIns="0" rIns="0" bIns="0" rtlCol="0" anchor="ctr"/>
          <a:lstStyle/>
          <a:p>
            <a:pPr marL="0" indent="0">
              <a:lnSpc>
                <a:spcPct val="105000"/>
              </a:lnSpc>
              <a:buNone/>
            </a:pPr>
            <a:r>
              <a:rPr lang="rw-RW" sz="1900" dirty="0">
                <a:solidFill>
                  <a:srgbClr val="17335F"/>
                </a:solidFill>
                <a:latin typeface="Calibri" pitchFamily="34" charset="0"/>
                <a:ea typeface="Calibri" pitchFamily="34" charset="-122"/>
                <a:cs typeface="Calibri" pitchFamily="34" charset="-120"/>
              </a:rPr>
              <a:t>Ni gute wakwihumuriza umuntu utegereje ibisubizo by'isuzuma ry'agace k'umubiri?</a:t>
            </a:r>
            <a:endParaRPr lang="rw-RW" sz="1900" dirty="0"/>
          </a:p>
        </p:txBody>
      </p:sp>
      <p:sp>
        <p:nvSpPr>
          <p:cNvPr id="14" name="Shape 12"/>
          <p:cNvSpPr/>
          <p:nvPr/>
        </p:nvSpPr>
        <p:spPr>
          <a:xfrm>
            <a:off x="548640" y="4389120"/>
            <a:ext cx="11094415" cy="1051560"/>
          </a:xfrm>
          <a:prstGeom prst="roundRect">
            <a:avLst>
              <a:gd name="adj" fmla="val 8696"/>
            </a:avLst>
          </a:prstGeom>
          <a:solidFill>
            <a:srgbClr val="F2F7FD"/>
          </a:solidFill>
          <a:ln w="12700">
            <a:solidFill>
              <a:srgbClr val="CBDDF3"/>
            </a:solidFill>
            <a:prstDash val="solid"/>
          </a:ln>
        </p:spPr>
        <p:txBody>
          <a:bodyPr/>
          <a:lstStyle/>
          <a:p>
            <a:endParaRPr lang="rw-RW" dirty="0"/>
          </a:p>
        </p:txBody>
      </p:sp>
      <p:sp>
        <p:nvSpPr>
          <p:cNvPr id="15" name="Shape 13"/>
          <p:cNvSpPr/>
          <p:nvPr/>
        </p:nvSpPr>
        <p:spPr>
          <a:xfrm>
            <a:off x="777240" y="4690872"/>
            <a:ext cx="438912" cy="438912"/>
          </a:xfrm>
          <a:prstGeom prst="ellipse">
            <a:avLst/>
          </a:prstGeom>
          <a:solidFill>
            <a:srgbClr val="12305B"/>
          </a:solidFill>
          <a:ln/>
        </p:spPr>
        <p:txBody>
          <a:bodyPr/>
          <a:lstStyle/>
          <a:p>
            <a:endParaRPr lang="rw-RW" dirty="0"/>
          </a:p>
        </p:txBody>
      </p:sp>
      <p:sp>
        <p:nvSpPr>
          <p:cNvPr id="16" name="Text 14"/>
          <p:cNvSpPr txBox="1"/>
          <p:nvPr/>
        </p:nvSpPr>
        <p:spPr>
          <a:xfrm>
            <a:off x="777240" y="4690872"/>
            <a:ext cx="438912" cy="438912"/>
          </a:xfrm>
          <a:prstGeom prst="rect">
            <a:avLst/>
          </a:prstGeom>
          <a:noFill/>
          <a:ln/>
        </p:spPr>
        <p:txBody>
          <a:bodyPr wrap="square" lIns="0" tIns="0" rIns="0" bIns="0" rtlCol="0" anchor="ctr"/>
          <a:lstStyle/>
          <a:p>
            <a:pPr marL="0" indent="0" algn="ctr">
              <a:buNone/>
            </a:pPr>
            <a:r>
              <a:rPr lang="rw-RW" sz="1700" b="1" dirty="0">
                <a:solidFill>
                  <a:srgbClr val="FFFFFF"/>
                </a:solidFill>
                <a:latin typeface="Calibri" pitchFamily="34" charset="0"/>
                <a:ea typeface="Calibri" pitchFamily="34" charset="-122"/>
                <a:cs typeface="Calibri" pitchFamily="34" charset="-120"/>
              </a:rPr>
              <a:t>3</a:t>
            </a:r>
            <a:endParaRPr lang="rw-RW" sz="1700" dirty="0"/>
          </a:p>
        </p:txBody>
      </p:sp>
      <p:sp>
        <p:nvSpPr>
          <p:cNvPr id="17" name="Text 15"/>
          <p:cNvSpPr txBox="1"/>
          <p:nvPr/>
        </p:nvSpPr>
        <p:spPr>
          <a:xfrm>
            <a:off x="1417320" y="4526280"/>
            <a:ext cx="9905695" cy="777240"/>
          </a:xfrm>
          <a:prstGeom prst="rect">
            <a:avLst/>
          </a:prstGeom>
          <a:noFill/>
          <a:ln/>
        </p:spPr>
        <p:txBody>
          <a:bodyPr wrap="square" lIns="0" tIns="0" rIns="0" bIns="0" rtlCol="0" anchor="ctr"/>
          <a:lstStyle/>
          <a:p>
            <a:pPr marL="0" indent="0">
              <a:lnSpc>
                <a:spcPct val="105000"/>
              </a:lnSpc>
              <a:buNone/>
            </a:pPr>
            <a:r>
              <a:rPr lang="rw-RW" sz="1900" dirty="0">
                <a:solidFill>
                  <a:srgbClr val="17335F"/>
                </a:solidFill>
                <a:latin typeface="Calibri" pitchFamily="34" charset="0"/>
                <a:ea typeface="Calibri" pitchFamily="34" charset="-122"/>
                <a:cs typeface="Calibri" pitchFamily="34" charset="-120"/>
              </a:rPr>
              <a:t>Ni iki wabwira umuryango utekereza ko kugira igikapu cya stoma bisobanura iherezo ry'ubuzima busanzwe?</a:t>
            </a:r>
            <a:endParaRPr lang="rw-RW" sz="1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2305B"/>
        </a:solidFill>
        <a:effectLst/>
      </p:bgPr>
    </p:bg>
    <p:spTree>
      <p:nvGrpSpPr>
        <p:cNvPr id="1" name=""/>
        <p:cNvGrpSpPr/>
        <p:nvPr/>
      </p:nvGrpSpPr>
      <p:grpSpPr>
        <a:xfrm>
          <a:off x="0" y="0"/>
          <a:ext cx="0" cy="0"/>
          <a:chOff x="0" y="0"/>
          <a:chExt cx="0" cy="0"/>
        </a:xfrm>
      </p:grpSpPr>
      <p:sp>
        <p:nvSpPr>
          <p:cNvPr id="2" name="Text 0"/>
          <p:cNvSpPr txBox="1"/>
          <p:nvPr/>
        </p:nvSpPr>
        <p:spPr>
          <a:xfrm>
            <a:off x="548640" y="1371600"/>
            <a:ext cx="1828800" cy="1097280"/>
          </a:xfrm>
          <a:prstGeom prst="rect">
            <a:avLst/>
          </a:prstGeom>
          <a:noFill/>
          <a:ln/>
        </p:spPr>
        <p:txBody>
          <a:bodyPr wrap="square" lIns="0" tIns="0" rIns="0" bIns="0" rtlCol="0" anchor="ctr">
            <a:normAutofit/>
          </a:bodyPr>
          <a:lstStyle/>
          <a:p>
            <a:pPr marL="0" indent="0">
              <a:buNone/>
            </a:pPr>
            <a:r>
              <a:rPr lang="rw-RW" sz="6500" b="1" dirty="0">
                <a:solidFill>
                  <a:srgbClr val="3E6FA8"/>
                </a:solidFill>
                <a:latin typeface="Cambria" pitchFamily="34" charset="0"/>
                <a:ea typeface="Cambria" pitchFamily="34" charset="-122"/>
                <a:cs typeface="Cambria" pitchFamily="34" charset="-120"/>
              </a:rPr>
              <a:t>5</a:t>
            </a:r>
            <a:endParaRPr lang="rw-RW" sz="6500" dirty="0"/>
          </a:p>
        </p:txBody>
      </p:sp>
      <p:sp>
        <p:nvSpPr>
          <p:cNvPr id="3" name="Text 1"/>
          <p:cNvSpPr txBox="1"/>
          <p:nvPr/>
        </p:nvSpPr>
        <p:spPr>
          <a:xfrm>
            <a:off x="548640" y="2606040"/>
            <a:ext cx="11094415" cy="274320"/>
          </a:xfrm>
          <a:prstGeom prst="rect">
            <a:avLst/>
          </a:prstGeom>
          <a:noFill/>
          <a:ln/>
        </p:spPr>
        <p:txBody>
          <a:bodyPr wrap="square" lIns="0" tIns="0" rIns="0" bIns="0" rtlCol="0" anchor="ctr">
            <a:normAutofit/>
          </a:bodyPr>
          <a:lstStyle/>
          <a:p>
            <a:pPr marL="0" indent="0">
              <a:buNone/>
            </a:pPr>
            <a:r>
              <a:rPr lang="rw-RW" sz="1100" b="1" kern="0" spc="300" dirty="0">
                <a:solidFill>
                  <a:srgbClr val="A9C4E8"/>
                </a:solidFill>
                <a:latin typeface="Calibri" pitchFamily="34" charset="0"/>
                <a:ea typeface="Calibri" pitchFamily="34" charset="-122"/>
                <a:cs typeface="Calibri" pitchFamily="34" charset="-120"/>
              </a:rPr>
              <a:t>ISOMO RYA 5</a:t>
            </a:r>
            <a:endParaRPr lang="rw-RW" sz="1100" dirty="0"/>
          </a:p>
        </p:txBody>
      </p:sp>
      <p:sp>
        <p:nvSpPr>
          <p:cNvPr id="4" name="Text 2"/>
          <p:cNvSpPr txBox="1"/>
          <p:nvPr/>
        </p:nvSpPr>
        <p:spPr>
          <a:xfrm>
            <a:off x="548640" y="2926080"/>
            <a:ext cx="9692640" cy="1005840"/>
          </a:xfrm>
          <a:prstGeom prst="rect">
            <a:avLst/>
          </a:prstGeom>
          <a:noFill/>
          <a:ln/>
        </p:spPr>
        <p:txBody>
          <a:bodyPr wrap="square" lIns="0" tIns="0" rIns="0" bIns="0" rtlCol="0" anchor="ctr"/>
          <a:lstStyle/>
          <a:p>
            <a:pPr marL="0" indent="0">
              <a:buNone/>
            </a:pPr>
            <a:r>
              <a:rPr lang="rw-RW" sz="4000" b="1" dirty="0">
                <a:solidFill>
                  <a:srgbClr val="FFFFFF"/>
                </a:solidFill>
                <a:latin typeface="Cambria" pitchFamily="34" charset="0"/>
                <a:ea typeface="Cambria" pitchFamily="34" charset="-122"/>
                <a:cs typeface="Cambria" pitchFamily="34" charset="-120"/>
              </a:rPr>
              <a:t>Ibyo wakwitega ku ndwara n'imiti</a:t>
            </a:r>
            <a:endParaRPr lang="rw-RW" sz="4000" dirty="0"/>
          </a:p>
        </p:txBody>
      </p:sp>
      <p:sp>
        <p:nvSpPr>
          <p:cNvPr id="5" name="Text 3"/>
          <p:cNvSpPr txBox="1"/>
          <p:nvPr/>
        </p:nvSpPr>
        <p:spPr>
          <a:xfrm>
            <a:off x="548640" y="4069080"/>
            <a:ext cx="9326880" cy="822960"/>
          </a:xfrm>
          <a:prstGeom prst="rect">
            <a:avLst/>
          </a:prstGeom>
          <a:noFill/>
          <a:ln/>
        </p:spPr>
        <p:txBody>
          <a:bodyPr wrap="square" lIns="0" tIns="0" rIns="0" bIns="0" rtlCol="0" anchor="ctr"/>
          <a:lstStyle/>
          <a:p>
            <a:pPr marL="0" indent="0">
              <a:buNone/>
            </a:pPr>
            <a:r>
              <a:rPr lang="rw-RW" sz="1900" dirty="0">
                <a:solidFill>
                  <a:srgbClr val="D6E4F5"/>
                </a:solidFill>
                <a:latin typeface="Calibri" pitchFamily="34" charset="0"/>
                <a:ea typeface="Calibri" pitchFamily="34" charset="-122"/>
                <a:cs typeface="Calibri" pitchFamily="34" charset="-120"/>
              </a:rPr>
              <a:t>Fasha abantu mu gihe cyo kuvurwa na nyuma yaho: menya ingaruka zisanzwe, ibimenyetso by'akaga, n'uburyo bwo guhumuriza.</a:t>
            </a:r>
            <a:endParaRPr lang="rw-RW" sz="1900" dirty="0"/>
          </a:p>
        </p:txBody>
      </p:sp>
      <p:sp>
        <p:nvSpPr>
          <p:cNvPr id="6" name="Text 4"/>
          <p:cNvSpPr txBox="1"/>
          <p:nvPr/>
        </p:nvSpPr>
        <p:spPr>
          <a:xfrm>
            <a:off x="548640" y="6263640"/>
            <a:ext cx="7315200" cy="274320"/>
          </a:xfrm>
          <a:prstGeom prst="rect">
            <a:avLst/>
          </a:prstGeom>
          <a:noFill/>
          <a:ln/>
        </p:spPr>
        <p:txBody>
          <a:bodyPr wrap="square" lIns="0" tIns="0" rIns="0" bIns="0" rtlCol="0" anchor="ctr">
            <a:normAutofit/>
          </a:bodyPr>
          <a:lstStyle/>
          <a:p>
            <a:pPr marL="0" indent="0">
              <a:buNone/>
            </a:pPr>
            <a:r>
              <a:rPr lang="rw-RW" sz="1100" dirty="0">
                <a:solidFill>
                  <a:srgbClr val="8FAFD6"/>
                </a:solidFill>
                <a:latin typeface="Calibri" pitchFamily="34" charset="0"/>
                <a:ea typeface="Calibri" pitchFamily="34" charset="-122"/>
                <a:cs typeface="Calibri" pitchFamily="34" charset="-120"/>
              </a:rPr>
              <a:t>Rwanda Biomedical Centre | CHW</a:t>
            </a:r>
            <a:endParaRPr lang="rw-RW"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5</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Icyo wakora</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Shape 3"/>
          <p:cNvSpPr/>
          <p:nvPr/>
        </p:nvSpPr>
        <p:spPr>
          <a:xfrm>
            <a:off x="548640" y="1371600"/>
            <a:ext cx="5410048" cy="2011680"/>
          </a:xfrm>
          <a:prstGeom prst="roundRect">
            <a:avLst>
              <a:gd name="adj" fmla="val 5455"/>
            </a:avLst>
          </a:prstGeom>
          <a:solidFill>
            <a:srgbClr val="F2F7FD"/>
          </a:solidFill>
          <a:ln w="12700">
            <a:solidFill>
              <a:srgbClr val="CBDDF3"/>
            </a:solidFill>
            <a:prstDash val="solid"/>
          </a:ln>
        </p:spPr>
        <p:txBody>
          <a:bodyPr/>
          <a:lstStyle/>
          <a:p>
            <a:endParaRPr lang="rw-RW" dirty="0"/>
          </a:p>
        </p:txBody>
      </p:sp>
      <p:sp>
        <p:nvSpPr>
          <p:cNvPr id="6" name="Text 4"/>
          <p:cNvSpPr txBox="1"/>
          <p:nvPr/>
        </p:nvSpPr>
        <p:spPr>
          <a:xfrm>
            <a:off x="1124712" y="1541013"/>
            <a:ext cx="5007712" cy="384048"/>
          </a:xfrm>
          <a:prstGeom prst="rect">
            <a:avLst/>
          </a:prstGeom>
          <a:noFill/>
          <a:ln/>
        </p:spPr>
        <p:txBody>
          <a:bodyPr wrap="square" lIns="0" tIns="0" rIns="0" bIns="0" rtlCol="0" anchor="t">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Kumenya</a:t>
            </a:r>
            <a:endParaRPr lang="rw-RW" sz="1850" dirty="0"/>
          </a:p>
        </p:txBody>
      </p:sp>
      <p:sp>
        <p:nvSpPr>
          <p:cNvPr id="7" name="Text 5"/>
          <p:cNvSpPr txBox="1"/>
          <p:nvPr/>
        </p:nvSpPr>
        <p:spPr>
          <a:xfrm>
            <a:off x="749808" y="1938528"/>
            <a:ext cx="5007712" cy="1316736"/>
          </a:xfrm>
          <a:prstGeom prst="rect">
            <a:avLst/>
          </a:prstGeom>
          <a:noFill/>
          <a:ln/>
        </p:spPr>
        <p:txBody>
          <a:bodyPr wrap="square" lIns="0" tIns="0" rIns="0" bIns="0" rtlCol="0" anchor="t"/>
          <a:lstStyle/>
          <a:p>
            <a:pPr marL="0" indent="0">
              <a:lnSpc>
                <a:spcPct val="105000"/>
              </a:lnSpc>
              <a:buNone/>
            </a:pPr>
            <a:r>
              <a:rPr lang="rw-RW" sz="1800" dirty="0">
                <a:solidFill>
                  <a:srgbClr val="17335F"/>
                </a:solidFill>
                <a:latin typeface="Calibri" pitchFamily="34" charset="0"/>
                <a:ea typeface="Calibri" pitchFamily="34" charset="-122"/>
                <a:cs typeface="Calibri" pitchFamily="34" charset="-120"/>
              </a:rPr>
              <a:t>Sobanukirwa n'ingaruka zikunze guterwa no kuvura kanseri y'amara.</a:t>
            </a:r>
            <a:endParaRPr lang="rw-RW" sz="1800" dirty="0"/>
          </a:p>
        </p:txBody>
      </p:sp>
      <p:sp>
        <p:nvSpPr>
          <p:cNvPr id="8" name="Shape 6"/>
          <p:cNvSpPr/>
          <p:nvPr/>
        </p:nvSpPr>
        <p:spPr>
          <a:xfrm>
            <a:off x="6233008" y="1371600"/>
            <a:ext cx="5410048" cy="2011680"/>
          </a:xfrm>
          <a:prstGeom prst="roundRect">
            <a:avLst>
              <a:gd name="adj" fmla="val 5455"/>
            </a:avLst>
          </a:prstGeom>
          <a:solidFill>
            <a:srgbClr val="F2F7FD"/>
          </a:solidFill>
          <a:ln w="12700">
            <a:solidFill>
              <a:srgbClr val="CBDDF3"/>
            </a:solidFill>
            <a:prstDash val="solid"/>
          </a:ln>
        </p:spPr>
        <p:txBody>
          <a:bodyPr/>
          <a:lstStyle/>
          <a:p>
            <a:endParaRPr lang="rw-RW" dirty="0"/>
          </a:p>
        </p:txBody>
      </p:sp>
      <p:sp>
        <p:nvSpPr>
          <p:cNvPr id="9" name="Text 7"/>
          <p:cNvSpPr txBox="1"/>
          <p:nvPr/>
        </p:nvSpPr>
        <p:spPr>
          <a:xfrm>
            <a:off x="6776433" y="1508760"/>
            <a:ext cx="5007712" cy="384048"/>
          </a:xfrm>
          <a:prstGeom prst="rect">
            <a:avLst/>
          </a:prstGeom>
          <a:noFill/>
          <a:ln/>
        </p:spPr>
        <p:txBody>
          <a:bodyPr wrap="square" lIns="0" tIns="0" rIns="0" bIns="0" rtlCol="0" anchor="t">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Ubwoko</a:t>
            </a:r>
            <a:endParaRPr lang="rw-RW" sz="1850" dirty="0"/>
          </a:p>
        </p:txBody>
      </p:sp>
      <p:sp>
        <p:nvSpPr>
          <p:cNvPr id="10" name="Text 8"/>
          <p:cNvSpPr txBox="1"/>
          <p:nvPr/>
        </p:nvSpPr>
        <p:spPr>
          <a:xfrm>
            <a:off x="6434176" y="1938528"/>
            <a:ext cx="5007712" cy="1316736"/>
          </a:xfrm>
          <a:prstGeom prst="rect">
            <a:avLst/>
          </a:prstGeom>
          <a:noFill/>
          <a:ln/>
        </p:spPr>
        <p:txBody>
          <a:bodyPr wrap="square" lIns="0" tIns="0" rIns="0" bIns="0" rtlCol="0" anchor="t"/>
          <a:lstStyle/>
          <a:p>
            <a:pPr marL="0" indent="0">
              <a:lnSpc>
                <a:spcPct val="105000"/>
              </a:lnSpc>
              <a:buNone/>
            </a:pPr>
            <a:r>
              <a:rPr lang="rw-RW" sz="1800" dirty="0">
                <a:solidFill>
                  <a:srgbClr val="17335F"/>
                </a:solidFill>
                <a:latin typeface="Calibri" pitchFamily="34" charset="0"/>
                <a:ea typeface="Calibri" pitchFamily="34" charset="-122"/>
                <a:cs typeface="Calibri" pitchFamily="34" charset="-120"/>
              </a:rPr>
              <a:t>Tandukanya ingaruka zisanzwe n’ibibazo bisaba kwitabwaho kwa muganga.</a:t>
            </a:r>
            <a:endParaRPr lang="rw-RW" sz="1800" dirty="0"/>
          </a:p>
        </p:txBody>
      </p:sp>
      <p:sp>
        <p:nvSpPr>
          <p:cNvPr id="11" name="Shape 9"/>
          <p:cNvSpPr/>
          <p:nvPr/>
        </p:nvSpPr>
        <p:spPr>
          <a:xfrm>
            <a:off x="548640" y="3657600"/>
            <a:ext cx="5410048" cy="2011680"/>
          </a:xfrm>
          <a:prstGeom prst="roundRect">
            <a:avLst>
              <a:gd name="adj" fmla="val 5455"/>
            </a:avLst>
          </a:prstGeom>
          <a:solidFill>
            <a:srgbClr val="F2F7FD"/>
          </a:solidFill>
          <a:ln w="12700">
            <a:solidFill>
              <a:srgbClr val="CBDDF3"/>
            </a:solidFill>
            <a:prstDash val="solid"/>
          </a:ln>
        </p:spPr>
        <p:txBody>
          <a:bodyPr/>
          <a:lstStyle/>
          <a:p>
            <a:endParaRPr lang="rw-RW" dirty="0"/>
          </a:p>
        </p:txBody>
      </p:sp>
      <p:sp>
        <p:nvSpPr>
          <p:cNvPr id="12" name="Text 10"/>
          <p:cNvSpPr txBox="1"/>
          <p:nvPr/>
        </p:nvSpPr>
        <p:spPr>
          <a:xfrm>
            <a:off x="1124712" y="3816327"/>
            <a:ext cx="5007712" cy="384048"/>
          </a:xfrm>
          <a:prstGeom prst="rect">
            <a:avLst/>
          </a:prstGeom>
          <a:noFill/>
          <a:ln/>
        </p:spPr>
        <p:txBody>
          <a:bodyPr wrap="square" lIns="0" tIns="0" rIns="0" bIns="0" rtlCol="0" anchor="t">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Kuburira</a:t>
            </a:r>
            <a:endParaRPr lang="rw-RW" sz="1850" dirty="0"/>
          </a:p>
        </p:txBody>
      </p:sp>
      <p:sp>
        <p:nvSpPr>
          <p:cNvPr id="13" name="Text 11"/>
          <p:cNvSpPr txBox="1"/>
          <p:nvPr/>
        </p:nvSpPr>
        <p:spPr>
          <a:xfrm>
            <a:off x="749808" y="4224528"/>
            <a:ext cx="5007712" cy="1316736"/>
          </a:xfrm>
          <a:prstGeom prst="rect">
            <a:avLst/>
          </a:prstGeom>
          <a:noFill/>
          <a:ln/>
        </p:spPr>
        <p:txBody>
          <a:bodyPr wrap="square" lIns="0" tIns="0" rIns="0" bIns="0" rtlCol="0" anchor="t"/>
          <a:lstStyle/>
          <a:p>
            <a:pPr marL="0" indent="0">
              <a:lnSpc>
                <a:spcPct val="105000"/>
              </a:lnSpc>
              <a:buNone/>
            </a:pPr>
            <a:r>
              <a:rPr lang="rw-RW" sz="1800" dirty="0">
                <a:solidFill>
                  <a:srgbClr val="17335F"/>
                </a:solidFill>
                <a:latin typeface="Calibri" pitchFamily="34" charset="0"/>
                <a:ea typeface="Calibri" pitchFamily="34" charset="-122"/>
                <a:cs typeface="Calibri" pitchFamily="34" charset="-120"/>
              </a:rPr>
              <a:t>Kwita ku bimenyetso byihutirwa by'ibyago kuri uwo munsi.</a:t>
            </a:r>
            <a:endParaRPr lang="rw-RW" sz="1800" dirty="0"/>
          </a:p>
        </p:txBody>
      </p:sp>
      <p:sp>
        <p:nvSpPr>
          <p:cNvPr id="14" name="Shape 12"/>
          <p:cNvSpPr/>
          <p:nvPr/>
        </p:nvSpPr>
        <p:spPr>
          <a:xfrm>
            <a:off x="6233008" y="3657600"/>
            <a:ext cx="5410048" cy="2011680"/>
          </a:xfrm>
          <a:prstGeom prst="roundRect">
            <a:avLst>
              <a:gd name="adj" fmla="val 5455"/>
            </a:avLst>
          </a:prstGeom>
          <a:solidFill>
            <a:srgbClr val="F2F7FD"/>
          </a:solidFill>
          <a:ln w="12700">
            <a:solidFill>
              <a:srgbClr val="CBDDF3"/>
            </a:solidFill>
            <a:prstDash val="solid"/>
          </a:ln>
        </p:spPr>
        <p:txBody>
          <a:bodyPr/>
          <a:lstStyle/>
          <a:p>
            <a:endParaRPr lang="rw-RW" dirty="0"/>
          </a:p>
        </p:txBody>
      </p:sp>
      <p:sp>
        <p:nvSpPr>
          <p:cNvPr id="15" name="Text 13"/>
          <p:cNvSpPr txBox="1"/>
          <p:nvPr/>
        </p:nvSpPr>
        <p:spPr>
          <a:xfrm>
            <a:off x="6806492" y="3803904"/>
            <a:ext cx="5007712" cy="384048"/>
          </a:xfrm>
          <a:prstGeom prst="rect">
            <a:avLst/>
          </a:prstGeom>
          <a:noFill/>
          <a:ln/>
        </p:spPr>
        <p:txBody>
          <a:bodyPr wrap="square" lIns="0" tIns="0" rIns="0" bIns="0" rtlCol="0" anchor="t">
            <a:normAutofit/>
          </a:bodyPr>
          <a:lstStyle/>
          <a:p>
            <a:pPr marL="0" indent="0">
              <a:buNone/>
            </a:pPr>
            <a:r>
              <a:rPr lang="rw-RW" sz="1850" b="1" dirty="0">
                <a:solidFill>
                  <a:srgbClr val="12305B"/>
                </a:solidFill>
                <a:latin typeface="Calibri" pitchFamily="34" charset="0"/>
                <a:ea typeface="Calibri" pitchFamily="34" charset="-122"/>
                <a:cs typeface="Calibri" pitchFamily="34" charset="-120"/>
              </a:rPr>
              <a:t>Ihumure</a:t>
            </a:r>
            <a:endParaRPr lang="rw-RW" sz="1850" dirty="0"/>
          </a:p>
        </p:txBody>
      </p:sp>
      <p:sp>
        <p:nvSpPr>
          <p:cNvPr id="16" name="Text 14"/>
          <p:cNvSpPr txBox="1"/>
          <p:nvPr/>
        </p:nvSpPr>
        <p:spPr>
          <a:xfrm>
            <a:off x="6434176" y="4224528"/>
            <a:ext cx="5007712" cy="1316736"/>
          </a:xfrm>
          <a:prstGeom prst="rect">
            <a:avLst/>
          </a:prstGeom>
          <a:noFill/>
          <a:ln/>
        </p:spPr>
        <p:txBody>
          <a:bodyPr wrap="square" lIns="0" tIns="0" rIns="0" bIns="0" rtlCol="0" anchor="t"/>
          <a:lstStyle/>
          <a:p>
            <a:pPr marL="0" indent="0">
              <a:lnSpc>
                <a:spcPct val="105000"/>
              </a:lnSpc>
              <a:buNone/>
            </a:pPr>
            <a:r>
              <a:rPr lang="rw-RW" sz="1800" dirty="0">
                <a:solidFill>
                  <a:srgbClr val="17335F"/>
                </a:solidFill>
                <a:latin typeface="Calibri" pitchFamily="34" charset="0"/>
                <a:ea typeface="Calibri" pitchFamily="34" charset="-122"/>
                <a:cs typeface="Calibri" pitchFamily="34" charset="-120"/>
              </a:rPr>
              <a:t>Guhumuriza no gushyigikira umuntu n'umuryango we.</a:t>
            </a:r>
            <a:endParaRPr lang="rw-RW" sz="1800" dirty="0"/>
          </a:p>
        </p:txBody>
      </p:sp>
      <p:sp>
        <p:nvSpPr>
          <p:cNvPr id="20" name="TextBox 19">
            <a:extLst>
              <a:ext uri="{FF2B5EF4-FFF2-40B4-BE49-F238E27FC236}">
                <a16:creationId xmlns:a16="http://schemas.microsoft.com/office/drawing/2014/main" id="{5FCFA4CB-D0F9-9E4D-6833-D2D5DE05C8A8}"/>
              </a:ext>
            </a:extLst>
          </p:cNvPr>
          <p:cNvSpPr txBox="1"/>
          <p:nvPr/>
        </p:nvSpPr>
        <p:spPr>
          <a:xfrm>
            <a:off x="6240524" y="1439538"/>
            <a:ext cx="535909" cy="461665"/>
          </a:xfrm>
          <a:prstGeom prst="rect">
            <a:avLst/>
          </a:prstGeom>
          <a:noFill/>
        </p:spPr>
        <p:txBody>
          <a:bodyPr wrap="square">
            <a:spAutoFit/>
          </a:bodyPr>
          <a:lstStyle/>
          <a:p>
            <a:pPr marL="0" indent="0">
              <a:buNone/>
            </a:pPr>
            <a:r>
              <a:rPr lang="rw-RW" sz="2350" noProof="0" dirty="0">
                <a:solidFill>
                  <a:srgbClr val="1A2733"/>
                </a:solidFill>
                <a:latin typeface="Calibri" pitchFamily="34" charset="0"/>
                <a:ea typeface="Calibri" pitchFamily="34" charset="-122"/>
                <a:cs typeface="Calibri" pitchFamily="34" charset="-120"/>
              </a:rPr>
              <a:t>🗣️</a:t>
            </a:r>
            <a:endParaRPr lang="rw-RW" sz="2350" noProof="0" dirty="0"/>
          </a:p>
        </p:txBody>
      </p:sp>
      <p:sp>
        <p:nvSpPr>
          <p:cNvPr id="22" name="TextBox 21">
            <a:extLst>
              <a:ext uri="{FF2B5EF4-FFF2-40B4-BE49-F238E27FC236}">
                <a16:creationId xmlns:a16="http://schemas.microsoft.com/office/drawing/2014/main" id="{A46B7F35-87FC-7735-3606-B5C4C7375CB0}"/>
              </a:ext>
            </a:extLst>
          </p:cNvPr>
          <p:cNvSpPr txBox="1"/>
          <p:nvPr/>
        </p:nvSpPr>
        <p:spPr>
          <a:xfrm>
            <a:off x="6261814" y="3738710"/>
            <a:ext cx="544678" cy="461665"/>
          </a:xfrm>
          <a:prstGeom prst="rect">
            <a:avLst/>
          </a:prstGeom>
          <a:noFill/>
        </p:spPr>
        <p:txBody>
          <a:bodyPr wrap="square">
            <a:spAutoFit/>
          </a:bodyPr>
          <a:lstStyle/>
          <a:p>
            <a:pPr marL="0" indent="0">
              <a:buNone/>
            </a:pPr>
            <a:r>
              <a:rPr lang="rw-RW" sz="2350" noProof="0" dirty="0">
                <a:solidFill>
                  <a:srgbClr val="1A2733"/>
                </a:solidFill>
                <a:latin typeface="Calibri" pitchFamily="34" charset="0"/>
                <a:ea typeface="Calibri" pitchFamily="34" charset="-122"/>
                <a:cs typeface="Calibri" pitchFamily="34" charset="-120"/>
              </a:rPr>
              <a:t>💙</a:t>
            </a:r>
            <a:endParaRPr lang="rw-RW" sz="2350" noProof="0" dirty="0"/>
          </a:p>
        </p:txBody>
      </p:sp>
      <p:sp>
        <p:nvSpPr>
          <p:cNvPr id="26" name="TextBox 25">
            <a:extLst>
              <a:ext uri="{FF2B5EF4-FFF2-40B4-BE49-F238E27FC236}">
                <a16:creationId xmlns:a16="http://schemas.microsoft.com/office/drawing/2014/main" id="{C16A5C7A-8773-D165-A416-731490D07027}"/>
              </a:ext>
            </a:extLst>
          </p:cNvPr>
          <p:cNvSpPr txBox="1"/>
          <p:nvPr/>
        </p:nvSpPr>
        <p:spPr>
          <a:xfrm>
            <a:off x="599680" y="3748913"/>
            <a:ext cx="848895" cy="461665"/>
          </a:xfrm>
          <a:prstGeom prst="rect">
            <a:avLst/>
          </a:prstGeom>
          <a:noFill/>
        </p:spPr>
        <p:txBody>
          <a:bodyPr wrap="square">
            <a:noAutofit/>
          </a:bodyPr>
          <a:lstStyle/>
          <a:p>
            <a:pPr marL="0" indent="0">
              <a:buNone/>
            </a:pPr>
            <a:r>
              <a:rPr lang="rw-RW" sz="2162" noProof="0" dirty="0">
                <a:solidFill>
                  <a:srgbClr val="1A2733"/>
                </a:solidFill>
                <a:latin typeface="Calibri" pitchFamily="34" charset="0"/>
                <a:ea typeface="Calibri" pitchFamily="34" charset="-122"/>
                <a:cs typeface="Calibri" pitchFamily="34" charset="-120"/>
              </a:rPr>
              <a:t>🏥</a:t>
            </a:r>
            <a:endParaRPr lang="rw-RW" sz="2162" noProof="0" dirty="0"/>
          </a:p>
        </p:txBody>
      </p:sp>
      <p:sp>
        <p:nvSpPr>
          <p:cNvPr id="28" name="TextBox 27">
            <a:extLst>
              <a:ext uri="{FF2B5EF4-FFF2-40B4-BE49-F238E27FC236}">
                <a16:creationId xmlns:a16="http://schemas.microsoft.com/office/drawing/2014/main" id="{0098DA32-9F05-3B22-BAF8-C3BF9B15A1D7}"/>
              </a:ext>
            </a:extLst>
          </p:cNvPr>
          <p:cNvSpPr txBox="1"/>
          <p:nvPr/>
        </p:nvSpPr>
        <p:spPr>
          <a:xfrm>
            <a:off x="581287" y="1452354"/>
            <a:ext cx="2790515" cy="461665"/>
          </a:xfrm>
          <a:prstGeom prst="rect">
            <a:avLst/>
          </a:prstGeom>
          <a:noFill/>
        </p:spPr>
        <p:txBody>
          <a:bodyPr wrap="square">
            <a:spAutoFit/>
          </a:bodyPr>
          <a:lstStyle/>
          <a:p>
            <a:pPr marL="0" indent="0">
              <a:buNone/>
            </a:pPr>
            <a:r>
              <a:rPr lang="rw-RW" sz="2350" noProof="0" dirty="0">
                <a:solidFill>
                  <a:srgbClr val="1A2733"/>
                </a:solidFill>
                <a:latin typeface="Calibri" pitchFamily="34" charset="0"/>
                <a:ea typeface="Calibri" pitchFamily="34" charset="-122"/>
                <a:cs typeface="Calibri" pitchFamily="34" charset="-120"/>
              </a:rPr>
              <a:t>🔍</a:t>
            </a:r>
            <a:endParaRPr lang="rw-RW" sz="2350" noProof="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ISOMO RYA 5</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Gutandukanya ingaruka</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Umujyanama w'ubuzima | Ikigo cy'Igihugu gishinzwe Ubuvuzi (Rwanda Biomedical Centre)</a:t>
            </a:r>
            <a:endParaRPr lang="rw-RW" sz="1100" dirty="0"/>
          </a:p>
        </p:txBody>
      </p:sp>
      <p:sp>
        <p:nvSpPr>
          <p:cNvPr id="5" name="Shape 3"/>
          <p:cNvSpPr/>
          <p:nvPr/>
        </p:nvSpPr>
        <p:spPr>
          <a:xfrm>
            <a:off x="548640" y="1325880"/>
            <a:ext cx="3286658" cy="4511508"/>
          </a:xfrm>
          <a:prstGeom prst="roundRect">
            <a:avLst>
              <a:gd name="adj" fmla="val 3121"/>
            </a:avLst>
          </a:prstGeom>
          <a:solidFill>
            <a:srgbClr val="F2F7FD"/>
          </a:solidFill>
          <a:ln w="12700">
            <a:solidFill>
              <a:srgbClr val="CBDDF3"/>
            </a:solidFill>
            <a:prstDash val="solid"/>
          </a:ln>
        </p:spPr>
        <p:txBody>
          <a:bodyPr/>
          <a:lstStyle/>
          <a:p>
            <a:endParaRPr lang="rw-RW" dirty="0"/>
          </a:p>
        </p:txBody>
      </p:sp>
      <p:sp>
        <p:nvSpPr>
          <p:cNvPr id="6" name="Text 4"/>
          <p:cNvSpPr txBox="1"/>
          <p:nvPr/>
        </p:nvSpPr>
        <p:spPr>
          <a:xfrm>
            <a:off x="777240" y="1399032"/>
            <a:ext cx="3058058" cy="411480"/>
          </a:xfrm>
          <a:prstGeom prst="rect">
            <a:avLst/>
          </a:prstGeom>
          <a:noFill/>
          <a:ln/>
        </p:spPr>
        <p:txBody>
          <a:bodyPr wrap="square" lIns="0" tIns="0" rIns="0" bIns="0" rtlCol="0" anchor="ctr">
            <a:normAutofit/>
          </a:bodyPr>
          <a:lstStyle/>
          <a:p>
            <a:pPr marL="0" indent="0">
              <a:buNone/>
            </a:pPr>
            <a:r>
              <a:rPr lang="rw-RW" sz="2000" b="1" dirty="0">
                <a:solidFill>
                  <a:srgbClr val="12305B"/>
                </a:solidFill>
                <a:latin typeface="Calibri" pitchFamily="34" charset="0"/>
                <a:ea typeface="Calibri" pitchFamily="34" charset="-122"/>
                <a:cs typeface="Calibri" pitchFamily="34" charset="-120"/>
              </a:rPr>
              <a:t>Ingaruka zisanzwe</a:t>
            </a:r>
            <a:endParaRPr lang="rw-RW" sz="2000" dirty="0"/>
          </a:p>
        </p:txBody>
      </p:sp>
      <p:sp>
        <p:nvSpPr>
          <p:cNvPr id="7" name="Text 5"/>
          <p:cNvSpPr txBox="1"/>
          <p:nvPr/>
        </p:nvSpPr>
        <p:spPr>
          <a:xfrm>
            <a:off x="1726082" y="1938528"/>
            <a:ext cx="2009156" cy="3246120"/>
          </a:xfrm>
          <a:prstGeom prst="rect">
            <a:avLst/>
          </a:prstGeom>
          <a:noFill/>
          <a:ln/>
        </p:spPr>
        <p:txBody>
          <a:bodyPr wrap="square" lIns="0" tIns="0" rIns="0" bIns="0" rtlCol="0" anchor="t">
            <a:noAutofit/>
          </a:bodyPr>
          <a:lstStyle/>
          <a:p>
            <a:pPr marL="342900" indent="-342900">
              <a:spcAft>
                <a:spcPts val="700"/>
              </a:spcAft>
              <a:buSzPct val="100000"/>
              <a:buChar char="•"/>
            </a:pPr>
            <a:r>
              <a:rPr lang="rw-RW" sz="1400" dirty="0">
                <a:solidFill>
                  <a:srgbClr val="17335F"/>
                </a:solidFill>
                <a:latin typeface="Calibri" pitchFamily="34" charset="0"/>
                <a:ea typeface="Calibri" pitchFamily="34" charset="-122"/>
                <a:cs typeface="Calibri" pitchFamily="34" charset="-120"/>
              </a:rPr>
              <a:t>Umunaniro</a:t>
            </a:r>
          </a:p>
          <a:p>
            <a:pPr marL="342900" indent="-342900">
              <a:spcAft>
                <a:spcPts val="700"/>
              </a:spcAft>
              <a:buSzPct val="100000"/>
              <a:buChar char="•"/>
            </a:pPr>
            <a:r>
              <a:rPr lang="rw-RW" sz="1400" dirty="0">
                <a:solidFill>
                  <a:srgbClr val="17335F"/>
                </a:solidFill>
                <a:latin typeface="Calibri" pitchFamily="34" charset="0"/>
                <a:ea typeface="Calibri" pitchFamily="34" charset="-122"/>
                <a:cs typeface="Calibri" pitchFamily="34" charset="-120"/>
              </a:rPr>
              <a:t>Kumva uburwayi, kubura ubushake bwo kurya</a:t>
            </a:r>
          </a:p>
          <a:p>
            <a:pPr marL="342900" indent="-342900">
              <a:spcAft>
                <a:spcPts val="700"/>
              </a:spcAft>
              <a:buSzPct val="100000"/>
              <a:buChar char="•"/>
            </a:pPr>
            <a:r>
              <a:rPr lang="rw-RW" sz="1400" dirty="0">
                <a:solidFill>
                  <a:srgbClr val="17335F"/>
                </a:solidFill>
                <a:latin typeface="Calibri" pitchFamily="34" charset="0"/>
                <a:ea typeface="Calibri" pitchFamily="34" charset="-122"/>
                <a:cs typeface="Calibri" pitchFamily="34" charset="-120"/>
              </a:rPr>
              <a:t>Kwituma umusarane woroshye cyangwa kwituma kenshi</a:t>
            </a:r>
          </a:p>
          <a:p>
            <a:pPr marL="342900" indent="-342900">
              <a:spcAft>
                <a:spcPts val="700"/>
              </a:spcAft>
              <a:buSzPct val="100000"/>
              <a:buChar char="•"/>
            </a:pPr>
            <a:r>
              <a:rPr lang="rw-RW" sz="1400" dirty="0">
                <a:solidFill>
                  <a:srgbClr val="17335F"/>
                </a:solidFill>
                <a:latin typeface="Calibri" pitchFamily="34" charset="0"/>
                <a:ea typeface="Calibri" pitchFamily="34" charset="-122"/>
                <a:cs typeface="Calibri" pitchFamily="34" charset="-120"/>
              </a:rPr>
              <a:t>Kunanirwa kwituma (constipation)</a:t>
            </a:r>
          </a:p>
          <a:p>
            <a:pPr marL="342900" indent="-342900">
              <a:spcAft>
                <a:spcPts val="700"/>
              </a:spcAft>
              <a:buSzPct val="100000"/>
              <a:buChar char="•"/>
            </a:pPr>
            <a:r>
              <a:rPr lang="rw-RW" sz="1400" dirty="0">
                <a:solidFill>
                  <a:srgbClr val="17335F"/>
                </a:solidFill>
                <a:latin typeface="Calibri" pitchFamily="34" charset="0"/>
                <a:ea typeface="Calibri" pitchFamily="34" charset="-122"/>
                <a:cs typeface="Calibri" pitchFamily="34" charset="-120"/>
              </a:rPr>
              <a:t>Ububabare buke bugenzurwa neza</a:t>
            </a:r>
          </a:p>
          <a:p>
            <a:pPr marL="342900" indent="-342900">
              <a:spcAft>
                <a:spcPts val="700"/>
              </a:spcAft>
              <a:buSzPct val="100000"/>
              <a:buChar char="•"/>
            </a:pPr>
            <a:r>
              <a:rPr lang="rw-RW" sz="1400" dirty="0">
                <a:solidFill>
                  <a:srgbClr val="17335F"/>
                </a:solidFill>
                <a:latin typeface="Calibri" pitchFamily="34" charset="0"/>
                <a:ea typeface="Calibri" pitchFamily="34" charset="-122"/>
                <a:cs typeface="Calibri" pitchFamily="34" charset="-120"/>
              </a:rPr>
              <a:t>Rimwe na rimwe kumva ufite agahinda cyangwa uhangayitse</a:t>
            </a:r>
            <a:endParaRPr lang="rw-RW" sz="1400" dirty="0"/>
          </a:p>
        </p:txBody>
      </p:sp>
      <p:sp>
        <p:nvSpPr>
          <p:cNvPr id="8" name="Shape 6"/>
          <p:cNvSpPr/>
          <p:nvPr/>
        </p:nvSpPr>
        <p:spPr>
          <a:xfrm>
            <a:off x="4063899" y="1325880"/>
            <a:ext cx="3950898" cy="4511508"/>
          </a:xfrm>
          <a:prstGeom prst="roundRect">
            <a:avLst>
              <a:gd name="adj" fmla="val 3121"/>
            </a:avLst>
          </a:prstGeom>
          <a:solidFill>
            <a:srgbClr val="FDF6E6"/>
          </a:solidFill>
          <a:ln w="12700">
            <a:solidFill>
              <a:srgbClr val="E6D5A8"/>
            </a:solidFill>
            <a:prstDash val="solid"/>
          </a:ln>
        </p:spPr>
        <p:txBody>
          <a:bodyPr/>
          <a:lstStyle/>
          <a:p>
            <a:endParaRPr lang="rw-RW" dirty="0"/>
          </a:p>
        </p:txBody>
      </p:sp>
      <p:sp>
        <p:nvSpPr>
          <p:cNvPr id="9" name="Text 7"/>
          <p:cNvSpPr txBox="1"/>
          <p:nvPr/>
        </p:nvSpPr>
        <p:spPr>
          <a:xfrm>
            <a:off x="4566818" y="1396617"/>
            <a:ext cx="3058058" cy="411480"/>
          </a:xfrm>
          <a:prstGeom prst="rect">
            <a:avLst/>
          </a:prstGeom>
          <a:noFill/>
          <a:ln/>
        </p:spPr>
        <p:txBody>
          <a:bodyPr wrap="square" lIns="0" tIns="0" rIns="0" bIns="0" rtlCol="0" anchor="ctr">
            <a:normAutofit/>
          </a:bodyPr>
          <a:lstStyle/>
          <a:p>
            <a:pPr marL="0" indent="0">
              <a:buNone/>
            </a:pPr>
            <a:r>
              <a:rPr lang="rw-RW" sz="2000" b="1" dirty="0">
                <a:solidFill>
                  <a:srgbClr val="12305B"/>
                </a:solidFill>
                <a:latin typeface="Calibri" pitchFamily="34" charset="0"/>
                <a:ea typeface="Calibri" pitchFamily="34" charset="-122"/>
                <a:cs typeface="Calibri" pitchFamily="34" charset="-120"/>
              </a:rPr>
              <a:t>Jya ku ivuriro vuba</a:t>
            </a:r>
            <a:endParaRPr lang="rw-RW" sz="2000" dirty="0"/>
          </a:p>
        </p:txBody>
      </p:sp>
      <p:sp>
        <p:nvSpPr>
          <p:cNvPr id="10" name="Text 8"/>
          <p:cNvSpPr txBox="1"/>
          <p:nvPr/>
        </p:nvSpPr>
        <p:spPr>
          <a:xfrm>
            <a:off x="5225989" y="1858648"/>
            <a:ext cx="2788808" cy="3106544"/>
          </a:xfrm>
          <a:prstGeom prst="rect">
            <a:avLst/>
          </a:prstGeom>
          <a:noFill/>
          <a:ln/>
        </p:spPr>
        <p:txBody>
          <a:bodyPr wrap="square" lIns="0" tIns="0" rIns="0" bIns="0" rtlCol="0" anchor="t">
            <a:normAutofit/>
          </a:bodyPr>
          <a:lstStyle/>
          <a:p>
            <a:pPr marL="342900" indent="-342900">
              <a:spcAft>
                <a:spcPts val="700"/>
              </a:spcAft>
              <a:buSzPct val="100000"/>
              <a:buChar char="•"/>
            </a:pPr>
            <a:r>
              <a:rPr lang="rw-RW" sz="1400" dirty="0">
                <a:solidFill>
                  <a:srgbClr val="17335F"/>
                </a:solidFill>
                <a:latin typeface="Calibri" pitchFamily="34" charset="0"/>
                <a:ea typeface="Calibri" pitchFamily="34" charset="-122"/>
                <a:cs typeface="Calibri" pitchFamily="34" charset="-120"/>
              </a:rPr>
              <a:t>Ububabare bugenda burushaho kwiyongera</a:t>
            </a:r>
          </a:p>
          <a:p>
            <a:pPr marL="342900" indent="-342900">
              <a:spcAft>
                <a:spcPts val="700"/>
              </a:spcAft>
              <a:buSzPct val="100000"/>
              <a:buChar char="•"/>
            </a:pPr>
            <a:r>
              <a:rPr lang="rw-RW" sz="1400" dirty="0">
                <a:solidFill>
                  <a:srgbClr val="17335F"/>
                </a:solidFill>
                <a:latin typeface="Calibri" pitchFamily="34" charset="0"/>
                <a:ea typeface="Calibri" pitchFamily="34" charset="-122"/>
                <a:cs typeface="Calibri" pitchFamily="34" charset="-120"/>
              </a:rPr>
              <a:t>Impiswi idashira</a:t>
            </a:r>
          </a:p>
          <a:p>
            <a:pPr marL="342900" indent="-342900">
              <a:spcAft>
                <a:spcPts val="700"/>
              </a:spcAft>
              <a:buSzPct val="100000"/>
              <a:buChar char="•"/>
            </a:pPr>
            <a:r>
              <a:rPr lang="rw-RW" sz="1400" dirty="0">
                <a:solidFill>
                  <a:srgbClr val="17335F"/>
                </a:solidFill>
                <a:latin typeface="Calibri" pitchFamily="34" charset="0"/>
                <a:ea typeface="Calibri" pitchFamily="34" charset="-122"/>
                <a:cs typeface="Calibri" pitchFamily="34" charset="-120"/>
              </a:rPr>
              <a:t>Bamaze iminsi batarya cyangwa ngo banywe amazi ahagije</a:t>
            </a:r>
          </a:p>
          <a:p>
            <a:pPr marL="342900" indent="-342900">
              <a:spcAft>
                <a:spcPts val="700"/>
              </a:spcAft>
              <a:buSzPct val="100000"/>
              <a:buChar char="•"/>
            </a:pPr>
            <a:r>
              <a:rPr lang="rw-RW" sz="1400" dirty="0">
                <a:solidFill>
                  <a:srgbClr val="17335F"/>
                </a:solidFill>
                <a:latin typeface="Calibri" pitchFamily="34" charset="0"/>
                <a:ea typeface="Calibri" pitchFamily="34" charset="-122"/>
                <a:cs typeface="Calibri" pitchFamily="34" charset="-120"/>
              </a:rPr>
              <a:t>Uruhu rubabaza cyangwa rwakomeretse ruzengurutse stoma</a:t>
            </a:r>
          </a:p>
          <a:p>
            <a:pPr marL="342900" indent="-342900">
              <a:spcAft>
                <a:spcPts val="700"/>
              </a:spcAft>
              <a:buSzPct val="100000"/>
              <a:buChar char="•"/>
            </a:pPr>
            <a:r>
              <a:rPr lang="rw-RW" sz="1400" dirty="0">
                <a:solidFill>
                  <a:srgbClr val="17335F"/>
                </a:solidFill>
                <a:latin typeface="Calibri" pitchFamily="34" charset="0"/>
                <a:ea typeface="Calibri" pitchFamily="34" charset="-122"/>
                <a:cs typeface="Calibri" pitchFamily="34" charset="-120"/>
              </a:rPr>
              <a:t>Igikapu cya stoma gikomeza kumeneka</a:t>
            </a:r>
          </a:p>
          <a:p>
            <a:pPr marL="342900" indent="-342900">
              <a:spcAft>
                <a:spcPts val="700"/>
              </a:spcAft>
              <a:buSzPct val="100000"/>
              <a:buChar char="•"/>
            </a:pPr>
            <a:r>
              <a:rPr lang="rw-RW" sz="1400" dirty="0">
                <a:solidFill>
                  <a:srgbClr val="17335F"/>
                </a:solidFill>
                <a:latin typeface="Calibri" pitchFamily="34" charset="0"/>
                <a:ea typeface="Calibri" pitchFamily="34" charset="-122"/>
                <a:cs typeface="Calibri" pitchFamily="34" charset="-120"/>
              </a:rPr>
              <a:t>Agahinda gakomeza kutagabanuka</a:t>
            </a:r>
            <a:endParaRPr lang="rw-RW" sz="1400" dirty="0"/>
          </a:p>
        </p:txBody>
      </p:sp>
      <p:sp>
        <p:nvSpPr>
          <p:cNvPr id="11" name="Shape 9"/>
          <p:cNvSpPr/>
          <p:nvPr/>
        </p:nvSpPr>
        <p:spPr>
          <a:xfrm>
            <a:off x="8127796" y="1325880"/>
            <a:ext cx="3950897" cy="4511508"/>
          </a:xfrm>
          <a:prstGeom prst="roundRect">
            <a:avLst>
              <a:gd name="adj" fmla="val 3121"/>
            </a:avLst>
          </a:prstGeom>
          <a:solidFill>
            <a:srgbClr val="FDF0DE"/>
          </a:solidFill>
          <a:ln w="12700">
            <a:solidFill>
              <a:srgbClr val="F0CFA0"/>
            </a:solidFill>
            <a:prstDash val="solid"/>
          </a:ln>
        </p:spPr>
        <p:txBody>
          <a:bodyPr/>
          <a:lstStyle/>
          <a:p>
            <a:endParaRPr lang="rw-RW" dirty="0"/>
          </a:p>
        </p:txBody>
      </p:sp>
      <p:sp>
        <p:nvSpPr>
          <p:cNvPr id="12" name="Text 10"/>
          <p:cNvSpPr txBox="1"/>
          <p:nvPr/>
        </p:nvSpPr>
        <p:spPr>
          <a:xfrm>
            <a:off x="8356397" y="1481328"/>
            <a:ext cx="3058058" cy="411480"/>
          </a:xfrm>
          <a:prstGeom prst="rect">
            <a:avLst/>
          </a:prstGeom>
          <a:noFill/>
          <a:ln/>
        </p:spPr>
        <p:txBody>
          <a:bodyPr wrap="square" lIns="0" tIns="0" rIns="0" bIns="0" rtlCol="0" anchor="ctr">
            <a:normAutofit/>
          </a:bodyPr>
          <a:lstStyle/>
          <a:p>
            <a:pPr marL="0" indent="0">
              <a:buNone/>
            </a:pPr>
            <a:r>
              <a:rPr lang="rw-RW" sz="1300" b="1" dirty="0">
                <a:solidFill>
                  <a:srgbClr val="9C4A00"/>
                </a:solidFill>
                <a:latin typeface="Calibri" pitchFamily="34" charset="0"/>
                <a:ea typeface="Calibri" pitchFamily="34" charset="-122"/>
                <a:cs typeface="Calibri" pitchFamily="34" charset="-120"/>
              </a:rPr>
              <a:t>Byihutirwa, uwo munsi nyine</a:t>
            </a:r>
            <a:endParaRPr lang="rw-RW" sz="1300" dirty="0"/>
          </a:p>
        </p:txBody>
      </p:sp>
      <p:sp>
        <p:nvSpPr>
          <p:cNvPr id="13" name="Text 11"/>
          <p:cNvSpPr txBox="1"/>
          <p:nvPr/>
        </p:nvSpPr>
        <p:spPr>
          <a:xfrm>
            <a:off x="9163565" y="1895398"/>
            <a:ext cx="2775393" cy="3246120"/>
          </a:xfrm>
          <a:prstGeom prst="rect">
            <a:avLst/>
          </a:prstGeom>
          <a:noFill/>
          <a:ln/>
        </p:spPr>
        <p:txBody>
          <a:bodyPr wrap="square" lIns="0" tIns="0" rIns="0" bIns="0" rtlCol="0" anchor="t">
            <a:noAutofit/>
          </a:bodyPr>
          <a:lstStyle/>
          <a:p>
            <a:pPr marL="342900" indent="-342900">
              <a:spcAft>
                <a:spcPts val="700"/>
              </a:spcAft>
              <a:buSzPct val="100000"/>
              <a:buChar char="•"/>
            </a:pPr>
            <a:r>
              <a:rPr lang="rw-RW" sz="1400" dirty="0">
                <a:solidFill>
                  <a:srgbClr val="17335F"/>
                </a:solidFill>
                <a:latin typeface="Calibri" pitchFamily="34" charset="0"/>
                <a:ea typeface="Calibri" pitchFamily="34" charset="-122"/>
                <a:cs typeface="Calibri" pitchFamily="34" charset="-120"/>
              </a:rPr>
              <a:t>Kuva amaraso menshi</a:t>
            </a:r>
          </a:p>
          <a:p>
            <a:pPr marL="342900" indent="-342900">
              <a:spcAft>
                <a:spcPts val="700"/>
              </a:spcAft>
              <a:buSzPct val="100000"/>
              <a:buChar char="•"/>
            </a:pPr>
            <a:r>
              <a:rPr lang="rw-RW" sz="1400" dirty="0">
                <a:solidFill>
                  <a:srgbClr val="17335F"/>
                </a:solidFill>
                <a:latin typeface="Calibri" pitchFamily="34" charset="0"/>
                <a:ea typeface="Calibri" pitchFamily="34" charset="-122"/>
                <a:cs typeface="Calibri" pitchFamily="34" charset="-120"/>
              </a:rPr>
              <a:t>Nta musarane cyangwa gaz, hamwe no kubyimba munda, no kubabara</a:t>
            </a:r>
          </a:p>
          <a:p>
            <a:pPr marL="342900" indent="-342900">
              <a:spcAft>
                <a:spcPts val="700"/>
              </a:spcAft>
              <a:buSzPct val="100000"/>
              <a:buChar char="•"/>
            </a:pPr>
            <a:r>
              <a:rPr lang="rw-RW" sz="1400" dirty="0">
                <a:solidFill>
                  <a:srgbClr val="17335F"/>
                </a:solidFill>
                <a:latin typeface="Calibri" pitchFamily="34" charset="0"/>
                <a:ea typeface="Calibri" pitchFamily="34" charset="-122"/>
                <a:cs typeface="Calibri" pitchFamily="34" charset="-120"/>
              </a:rPr>
              <a:t>Kuruka inshuro nyinshi</a:t>
            </a:r>
          </a:p>
          <a:p>
            <a:pPr marL="342900" indent="-342900">
              <a:spcAft>
                <a:spcPts val="700"/>
              </a:spcAft>
              <a:buSzPct val="100000"/>
              <a:buChar char="•"/>
            </a:pPr>
            <a:r>
              <a:rPr lang="rw-RW" sz="1400" dirty="0">
                <a:solidFill>
                  <a:srgbClr val="17335F"/>
                </a:solidFill>
                <a:latin typeface="Calibri" pitchFamily="34" charset="0"/>
                <a:ea typeface="Calibri" pitchFamily="34" charset="-122"/>
                <a:cs typeface="Calibri" pitchFamily="34" charset="-120"/>
              </a:rPr>
              <a:t>Impiswi y'amazi inshuro nyinshi ku munsi kandi umuntu ntashobora kunywa</a:t>
            </a:r>
          </a:p>
          <a:p>
            <a:pPr marL="342900" indent="-342900">
              <a:spcAft>
                <a:spcPts val="700"/>
              </a:spcAft>
              <a:buSzPct val="100000"/>
              <a:buChar char="•"/>
            </a:pPr>
            <a:r>
              <a:rPr lang="rw-RW" sz="1400" dirty="0">
                <a:solidFill>
                  <a:srgbClr val="17335F"/>
                </a:solidFill>
                <a:latin typeface="Calibri" pitchFamily="34" charset="0"/>
                <a:ea typeface="Calibri" pitchFamily="34" charset="-122"/>
                <a:cs typeface="Calibri" pitchFamily="34" charset="-120"/>
              </a:rPr>
              <a:t>Kugira umuriro hamwe no guhinda umushyitsi cyangwa intege nke cyane</a:t>
            </a:r>
          </a:p>
          <a:p>
            <a:pPr marL="342900" indent="-342900">
              <a:spcAft>
                <a:spcPts val="700"/>
              </a:spcAft>
              <a:buSzPct val="100000"/>
              <a:buChar char="•"/>
            </a:pPr>
            <a:r>
              <a:rPr lang="rw-RW" sz="1400" dirty="0">
                <a:solidFill>
                  <a:srgbClr val="17335F"/>
                </a:solidFill>
                <a:latin typeface="Calibri" pitchFamily="34" charset="0"/>
                <a:ea typeface="Calibri" pitchFamily="34" charset="-122"/>
                <a:cs typeface="Calibri" pitchFamily="34" charset="-120"/>
              </a:rPr>
              <a:t>Stoma ihagarika gukora umunsi wose</a:t>
            </a:r>
            <a:endParaRPr lang="rw-RW" sz="1400" dirty="0"/>
          </a:p>
        </p:txBody>
      </p:sp>
      <p:sp>
        <p:nvSpPr>
          <p:cNvPr id="14" name="Shape 12"/>
          <p:cNvSpPr/>
          <p:nvPr/>
        </p:nvSpPr>
        <p:spPr>
          <a:xfrm>
            <a:off x="548640" y="5999608"/>
            <a:ext cx="11094415" cy="368132"/>
          </a:xfrm>
          <a:prstGeom prst="roundRect">
            <a:avLst>
              <a:gd name="adj" fmla="val 12821"/>
            </a:avLst>
          </a:prstGeom>
          <a:solidFill>
            <a:srgbClr val="F2F7FD"/>
          </a:solidFill>
          <a:ln w="12700">
            <a:solidFill>
              <a:srgbClr val="CBDDF3"/>
            </a:solidFill>
            <a:prstDash val="solid"/>
          </a:ln>
        </p:spPr>
        <p:txBody>
          <a:bodyPr/>
          <a:lstStyle/>
          <a:p>
            <a:endParaRPr lang="rw-RW" dirty="0"/>
          </a:p>
        </p:txBody>
      </p:sp>
      <p:sp>
        <p:nvSpPr>
          <p:cNvPr id="15" name="Text 13"/>
          <p:cNvSpPr txBox="1"/>
          <p:nvPr/>
        </p:nvSpPr>
        <p:spPr>
          <a:xfrm>
            <a:off x="777240" y="5886624"/>
            <a:ext cx="10637215" cy="530352"/>
          </a:xfrm>
          <a:prstGeom prst="rect">
            <a:avLst/>
          </a:prstGeom>
          <a:noFill/>
          <a:ln/>
        </p:spPr>
        <p:txBody>
          <a:bodyPr wrap="square" lIns="0" tIns="0" rIns="0" bIns="0" rtlCol="0" anchor="ctr">
            <a:normAutofit/>
          </a:bodyPr>
          <a:lstStyle/>
          <a:p>
            <a:pPr marL="0" indent="0">
              <a:buNone/>
            </a:pPr>
            <a:r>
              <a:rPr lang="rw-RW" sz="1400" b="1" dirty="0">
                <a:solidFill>
                  <a:srgbClr val="17335F"/>
                </a:solidFill>
                <a:latin typeface="Calibri" pitchFamily="34" charset="0"/>
                <a:ea typeface="Calibri" pitchFamily="34" charset="-122"/>
                <a:cs typeface="Calibri" pitchFamily="34" charset="-120"/>
              </a:rPr>
              <a:t>Niba utazi neza aho ikibazo giherereye, jya ugifata nk'igisubizo cyihutirwa kandi ufashe uwo muntu kwitabwaho.</a:t>
            </a:r>
            <a:endParaRPr lang="rw-RW" sz="1400" dirty="0"/>
          </a:p>
        </p:txBody>
      </p:sp>
      <p:pic>
        <p:nvPicPr>
          <p:cNvPr id="16" name="Imagen 15">
            <a:extLst>
              <a:ext uri="{FF2B5EF4-FFF2-40B4-BE49-F238E27FC236}">
                <a16:creationId xmlns:a16="http://schemas.microsoft.com/office/drawing/2014/main" id="{A9C3A926-41C7-C3F3-963F-B7F6E651D491}"/>
              </a:ext>
            </a:extLst>
          </p:cNvPr>
          <p:cNvPicPr>
            <a:picLocks noChangeAspect="1"/>
          </p:cNvPicPr>
          <p:nvPr/>
        </p:nvPicPr>
        <p:blipFill>
          <a:blip r:embed="rId3"/>
          <a:srcRect/>
          <a:stretch>
            <a:fillRect/>
          </a:stretch>
        </p:blipFill>
        <p:spPr>
          <a:xfrm>
            <a:off x="472051" y="1871222"/>
            <a:ext cx="1376038" cy="3122546"/>
          </a:xfrm>
          <a:prstGeom prst="rect">
            <a:avLst/>
          </a:prstGeom>
        </p:spPr>
      </p:pic>
      <p:pic>
        <p:nvPicPr>
          <p:cNvPr id="18" name="Imagen 17">
            <a:extLst>
              <a:ext uri="{FF2B5EF4-FFF2-40B4-BE49-F238E27FC236}">
                <a16:creationId xmlns:a16="http://schemas.microsoft.com/office/drawing/2014/main" id="{E280A8E9-730D-DACD-2374-B24626A49C1E}"/>
              </a:ext>
            </a:extLst>
          </p:cNvPr>
          <p:cNvPicPr>
            <a:picLocks noChangeAspect="1"/>
          </p:cNvPicPr>
          <p:nvPr/>
        </p:nvPicPr>
        <p:blipFill>
          <a:blip r:embed="rId4" cstate="hqprint">
            <a:extLst>
              <a:ext uri="{28A0092B-C50C-407E-A947-70E740481C1C}">
                <a14:useLocalDpi xmlns:a14="http://schemas.microsoft.com/office/drawing/2010/main"/>
              </a:ext>
            </a:extLst>
          </a:blip>
          <a:srcRect l="15004" r="18159"/>
          <a:stretch>
            <a:fillRect/>
          </a:stretch>
        </p:blipFill>
        <p:spPr>
          <a:xfrm>
            <a:off x="4176897" y="1801240"/>
            <a:ext cx="1082641" cy="3243261"/>
          </a:xfrm>
          <a:prstGeom prst="rect">
            <a:avLst/>
          </a:prstGeom>
        </p:spPr>
      </p:pic>
      <p:pic>
        <p:nvPicPr>
          <p:cNvPr id="20" name="Imagen 19">
            <a:extLst>
              <a:ext uri="{FF2B5EF4-FFF2-40B4-BE49-F238E27FC236}">
                <a16:creationId xmlns:a16="http://schemas.microsoft.com/office/drawing/2014/main" id="{47F48C4E-F928-DD6E-FB3D-5016348D522F}"/>
              </a:ext>
            </a:extLst>
          </p:cNvPr>
          <p:cNvPicPr>
            <a:picLocks noChangeAspect="1"/>
          </p:cNvPicPr>
          <p:nvPr/>
        </p:nvPicPr>
        <p:blipFill>
          <a:blip r:embed="rId5" cstate="hqprint">
            <a:extLst>
              <a:ext uri="{28A0092B-C50C-407E-A947-70E740481C1C}">
                <a14:useLocalDpi xmlns:a14="http://schemas.microsoft.com/office/drawing/2010/main"/>
              </a:ext>
            </a:extLst>
          </a:blip>
          <a:srcRect l="17676" r="20989"/>
          <a:stretch>
            <a:fillRect/>
          </a:stretch>
        </p:blipFill>
        <p:spPr>
          <a:xfrm>
            <a:off x="8127795" y="1892808"/>
            <a:ext cx="1062803" cy="324612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ISOMO RYA 5</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2100" b="1" dirty="0">
                <a:solidFill>
                  <a:srgbClr val="12305B"/>
                </a:solidFill>
                <a:latin typeface="Cambria" pitchFamily="34" charset="0"/>
                <a:ea typeface="Cambria" pitchFamily="34" charset="-122"/>
                <a:cs typeface="Cambria" pitchFamily="34" charset="-120"/>
              </a:rPr>
              <a:t>Gufasha umuntu ufite stoma</a:t>
            </a:r>
            <a:endParaRPr lang="rw-RW" sz="210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Shape 3"/>
          <p:cNvSpPr/>
          <p:nvPr/>
        </p:nvSpPr>
        <p:spPr>
          <a:xfrm>
            <a:off x="548640" y="1185203"/>
            <a:ext cx="3515258" cy="2161265"/>
          </a:xfrm>
          <a:prstGeom prst="roundRect">
            <a:avLst>
              <a:gd name="adj" fmla="val 6000"/>
            </a:avLst>
          </a:prstGeom>
          <a:solidFill>
            <a:srgbClr val="F2F7FD"/>
          </a:solidFill>
          <a:ln w="12700">
            <a:solidFill>
              <a:srgbClr val="CBDDF3"/>
            </a:solidFill>
            <a:prstDash val="solid"/>
          </a:ln>
        </p:spPr>
        <p:txBody>
          <a:bodyPr/>
          <a:lstStyle/>
          <a:p>
            <a:endParaRPr lang="rw-RW" sz="1600" dirty="0"/>
          </a:p>
        </p:txBody>
      </p:sp>
      <p:sp>
        <p:nvSpPr>
          <p:cNvPr id="6" name="Text 4"/>
          <p:cNvSpPr txBox="1"/>
          <p:nvPr/>
        </p:nvSpPr>
        <p:spPr>
          <a:xfrm>
            <a:off x="749808" y="1331508"/>
            <a:ext cx="3112922"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Ibanga mbere ya byose</a:t>
            </a:r>
            <a:endParaRPr lang="rw-RW" dirty="0"/>
          </a:p>
        </p:txBody>
      </p:sp>
      <p:sp>
        <p:nvSpPr>
          <p:cNvPr id="7" name="Text 5"/>
          <p:cNvSpPr txBox="1"/>
          <p:nvPr/>
        </p:nvSpPr>
        <p:spPr>
          <a:xfrm>
            <a:off x="749808" y="1752132"/>
            <a:ext cx="2319058" cy="113385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Vuga wenyine, ntuzigere ugira icyo uvuga imbere y'abaturanyi cyangwa abana, kandi ntuzigere ugira urwenya.</a:t>
            </a:r>
            <a:endParaRPr lang="rw-RW" sz="1600" dirty="0"/>
          </a:p>
        </p:txBody>
      </p:sp>
      <p:sp>
        <p:nvSpPr>
          <p:cNvPr id="8" name="Shape 6"/>
          <p:cNvSpPr/>
          <p:nvPr/>
        </p:nvSpPr>
        <p:spPr>
          <a:xfrm>
            <a:off x="4338218" y="1185203"/>
            <a:ext cx="3515258" cy="2161265"/>
          </a:xfrm>
          <a:prstGeom prst="roundRect">
            <a:avLst>
              <a:gd name="adj" fmla="val 6000"/>
            </a:avLst>
          </a:prstGeom>
          <a:solidFill>
            <a:srgbClr val="F2F7FD"/>
          </a:solidFill>
          <a:ln w="12700">
            <a:solidFill>
              <a:srgbClr val="CBDDF3"/>
            </a:solidFill>
            <a:prstDash val="solid"/>
          </a:ln>
        </p:spPr>
        <p:txBody>
          <a:bodyPr/>
          <a:lstStyle/>
          <a:p>
            <a:endParaRPr lang="rw-RW" sz="1600" dirty="0"/>
          </a:p>
        </p:txBody>
      </p:sp>
      <p:sp>
        <p:nvSpPr>
          <p:cNvPr id="9" name="Text 7"/>
          <p:cNvSpPr txBox="1"/>
          <p:nvPr/>
        </p:nvSpPr>
        <p:spPr>
          <a:xfrm>
            <a:off x="4539386" y="1331508"/>
            <a:ext cx="3112922" cy="384048"/>
          </a:xfrm>
          <a:prstGeom prst="rect">
            <a:avLst/>
          </a:prstGeom>
          <a:noFill/>
          <a:ln/>
        </p:spPr>
        <p:txBody>
          <a:bodyPr wrap="square" lIns="0" tIns="0" rIns="0" bIns="0" rtlCol="0" anchor="t">
            <a:noAutofit/>
          </a:bodyPr>
          <a:lstStyle/>
          <a:p>
            <a:pPr marL="0" indent="0">
              <a:buNone/>
            </a:pPr>
            <a:r>
              <a:rPr lang="rw-RW" b="1" dirty="0">
                <a:solidFill>
                  <a:srgbClr val="12305B"/>
                </a:solidFill>
                <a:latin typeface="Calibri" pitchFamily="34" charset="0"/>
                <a:ea typeface="Calibri" pitchFamily="34" charset="-122"/>
                <a:cs typeface="Calibri" pitchFamily="34" charset="-120"/>
              </a:rPr>
              <a:t>Komeza imigenzereze ya buri munsi</a:t>
            </a:r>
            <a:endParaRPr lang="rw-RW" dirty="0"/>
          </a:p>
        </p:txBody>
      </p:sp>
      <p:sp>
        <p:nvSpPr>
          <p:cNvPr id="10" name="Text 8"/>
          <p:cNvSpPr txBox="1"/>
          <p:nvPr/>
        </p:nvSpPr>
        <p:spPr>
          <a:xfrm>
            <a:off x="4539386" y="1939700"/>
            <a:ext cx="1969946" cy="113385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Gushishikariza uwo muntu gukuramo no guhindura igikapu nk'uko yabigishwaga mu bitaro.</a:t>
            </a:r>
            <a:endParaRPr lang="rw-RW" sz="1600" dirty="0"/>
          </a:p>
        </p:txBody>
      </p:sp>
      <p:sp>
        <p:nvSpPr>
          <p:cNvPr id="11" name="Shape 9"/>
          <p:cNvSpPr/>
          <p:nvPr/>
        </p:nvSpPr>
        <p:spPr>
          <a:xfrm>
            <a:off x="8127797" y="1185203"/>
            <a:ext cx="3515258" cy="2161265"/>
          </a:xfrm>
          <a:prstGeom prst="roundRect">
            <a:avLst>
              <a:gd name="adj" fmla="val 6000"/>
            </a:avLst>
          </a:prstGeom>
          <a:solidFill>
            <a:srgbClr val="F2F7FD"/>
          </a:solidFill>
          <a:ln w="12700">
            <a:solidFill>
              <a:srgbClr val="CBDDF3"/>
            </a:solidFill>
            <a:prstDash val="solid"/>
          </a:ln>
        </p:spPr>
        <p:txBody>
          <a:bodyPr/>
          <a:lstStyle/>
          <a:p>
            <a:endParaRPr lang="rw-RW" sz="1600" dirty="0"/>
          </a:p>
        </p:txBody>
      </p:sp>
      <p:sp>
        <p:nvSpPr>
          <p:cNvPr id="12" name="Text 10"/>
          <p:cNvSpPr txBox="1"/>
          <p:nvPr/>
        </p:nvSpPr>
        <p:spPr>
          <a:xfrm>
            <a:off x="8269264" y="1279907"/>
            <a:ext cx="3112922"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Kunywa no kurya</a:t>
            </a:r>
            <a:endParaRPr lang="rw-RW" dirty="0"/>
          </a:p>
        </p:txBody>
      </p:sp>
      <p:sp>
        <p:nvSpPr>
          <p:cNvPr id="13" name="Text 11"/>
          <p:cNvSpPr txBox="1"/>
          <p:nvPr/>
        </p:nvSpPr>
        <p:spPr>
          <a:xfrm>
            <a:off x="8260625" y="1614972"/>
            <a:ext cx="2191817" cy="113385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Gushishikariza umuntu kunywa no kurya buri gihe. Iyo stoma isohora amazi menshi cyane, umuntu akeneye kwitabwaho.</a:t>
            </a:r>
            <a:endParaRPr lang="rw-RW" sz="1600" dirty="0"/>
          </a:p>
        </p:txBody>
      </p:sp>
      <p:sp>
        <p:nvSpPr>
          <p:cNvPr id="14" name="Shape 12"/>
          <p:cNvSpPr/>
          <p:nvPr/>
        </p:nvSpPr>
        <p:spPr>
          <a:xfrm>
            <a:off x="548640" y="3606017"/>
            <a:ext cx="3515258" cy="2563836"/>
          </a:xfrm>
          <a:prstGeom prst="roundRect">
            <a:avLst>
              <a:gd name="adj" fmla="val 6000"/>
            </a:avLst>
          </a:prstGeom>
          <a:solidFill>
            <a:srgbClr val="F2F7FD"/>
          </a:solidFill>
          <a:ln w="12700">
            <a:solidFill>
              <a:srgbClr val="CBDDF3"/>
            </a:solidFill>
            <a:prstDash val="solid"/>
          </a:ln>
        </p:spPr>
        <p:txBody>
          <a:bodyPr/>
          <a:lstStyle/>
          <a:p>
            <a:endParaRPr lang="rw-RW" sz="1600" dirty="0"/>
          </a:p>
        </p:txBody>
      </p:sp>
      <p:sp>
        <p:nvSpPr>
          <p:cNvPr id="15" name="Text 13"/>
          <p:cNvSpPr txBox="1"/>
          <p:nvPr/>
        </p:nvSpPr>
        <p:spPr>
          <a:xfrm>
            <a:off x="749808" y="3752321"/>
            <a:ext cx="3112922"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Genzura uruhu</a:t>
            </a:r>
            <a:endParaRPr lang="rw-RW" dirty="0"/>
          </a:p>
        </p:txBody>
      </p:sp>
      <p:sp>
        <p:nvSpPr>
          <p:cNvPr id="16" name="Text 14"/>
          <p:cNvSpPr txBox="1"/>
          <p:nvPr/>
        </p:nvSpPr>
        <p:spPr>
          <a:xfrm>
            <a:off x="749808" y="4172945"/>
            <a:ext cx="2137771" cy="113385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Uruhu rutukura, rutukura ruzengurutse stoma, cyangwa igikapu gikomeza kumeneka, bigomba kumenyeshwa kwa muganga.</a:t>
            </a:r>
            <a:endParaRPr lang="rw-RW" sz="1600" dirty="0"/>
          </a:p>
        </p:txBody>
      </p:sp>
      <p:sp>
        <p:nvSpPr>
          <p:cNvPr id="17" name="Shape 15"/>
          <p:cNvSpPr/>
          <p:nvPr/>
        </p:nvSpPr>
        <p:spPr>
          <a:xfrm>
            <a:off x="4338218" y="3606017"/>
            <a:ext cx="3515258" cy="2563836"/>
          </a:xfrm>
          <a:prstGeom prst="roundRect">
            <a:avLst>
              <a:gd name="adj" fmla="val 6000"/>
            </a:avLst>
          </a:prstGeom>
          <a:solidFill>
            <a:srgbClr val="F2F7FD"/>
          </a:solidFill>
          <a:ln w="12700">
            <a:solidFill>
              <a:srgbClr val="CBDDF3"/>
            </a:solidFill>
            <a:prstDash val="solid"/>
          </a:ln>
        </p:spPr>
        <p:txBody>
          <a:bodyPr/>
          <a:lstStyle/>
          <a:p>
            <a:endParaRPr lang="rw-RW" sz="1600" dirty="0"/>
          </a:p>
        </p:txBody>
      </p:sp>
      <p:sp>
        <p:nvSpPr>
          <p:cNvPr id="18" name="Text 16"/>
          <p:cNvSpPr txBox="1"/>
          <p:nvPr/>
        </p:nvSpPr>
        <p:spPr>
          <a:xfrm>
            <a:off x="4539386" y="3752321"/>
            <a:ext cx="3112922"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Kurwanya ipfunwe (stigma)</a:t>
            </a:r>
            <a:endParaRPr lang="rw-RW" dirty="0"/>
          </a:p>
        </p:txBody>
      </p:sp>
      <p:sp>
        <p:nvSpPr>
          <p:cNvPr id="19" name="Text 17"/>
          <p:cNvSpPr txBox="1"/>
          <p:nvPr/>
        </p:nvSpPr>
        <p:spPr>
          <a:xfrm>
            <a:off x="4438801" y="4154684"/>
            <a:ext cx="1877021" cy="799183"/>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Kosora abantu baseka cyangwa bakirinda umuntu. Sobanura ko stoma ari igice gisanzwe cyo kwitabwaho.</a:t>
            </a:r>
            <a:endParaRPr lang="rw-RW" sz="1600" dirty="0"/>
          </a:p>
        </p:txBody>
      </p:sp>
      <p:sp>
        <p:nvSpPr>
          <p:cNvPr id="20" name="Shape 18"/>
          <p:cNvSpPr/>
          <p:nvPr/>
        </p:nvSpPr>
        <p:spPr>
          <a:xfrm>
            <a:off x="8127797" y="3606017"/>
            <a:ext cx="3515258" cy="2563836"/>
          </a:xfrm>
          <a:prstGeom prst="roundRect">
            <a:avLst>
              <a:gd name="adj" fmla="val 6000"/>
            </a:avLst>
          </a:prstGeom>
          <a:solidFill>
            <a:srgbClr val="F2F7FD"/>
          </a:solidFill>
          <a:ln w="12700">
            <a:solidFill>
              <a:srgbClr val="CBDDF3"/>
            </a:solidFill>
            <a:prstDash val="solid"/>
          </a:ln>
        </p:spPr>
        <p:txBody>
          <a:bodyPr/>
          <a:lstStyle/>
          <a:p>
            <a:endParaRPr lang="rw-RW" sz="1600" dirty="0"/>
          </a:p>
        </p:txBody>
      </p:sp>
      <p:sp>
        <p:nvSpPr>
          <p:cNvPr id="21" name="Text 19"/>
          <p:cNvSpPr txBox="1"/>
          <p:nvPr/>
        </p:nvSpPr>
        <p:spPr>
          <a:xfrm>
            <a:off x="8328965" y="3752321"/>
            <a:ext cx="3112922"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Gushyigikira umuryango</a:t>
            </a:r>
            <a:endParaRPr lang="rw-RW" dirty="0"/>
          </a:p>
        </p:txBody>
      </p:sp>
      <p:sp>
        <p:nvSpPr>
          <p:cNvPr id="22" name="Text 20"/>
          <p:cNvSpPr txBox="1"/>
          <p:nvPr/>
        </p:nvSpPr>
        <p:spPr>
          <a:xfrm>
            <a:off x="8328965" y="4073292"/>
            <a:ext cx="1652621" cy="113385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Jya ufasha umuryango kubona ko uwo muntu ashobora gukora, gusenga no kugira uruhare mu mibereho y'umuryango.</a:t>
            </a:r>
            <a:endParaRPr lang="rw-RW" sz="1600" dirty="0"/>
          </a:p>
        </p:txBody>
      </p:sp>
      <p:pic>
        <p:nvPicPr>
          <p:cNvPr id="25" name="Imagen 24">
            <a:extLst>
              <a:ext uri="{FF2B5EF4-FFF2-40B4-BE49-F238E27FC236}">
                <a16:creationId xmlns:a16="http://schemas.microsoft.com/office/drawing/2014/main" id="{E5BB0CEF-3C37-84F4-34CA-D804DAFB4784}"/>
              </a:ext>
            </a:extLst>
          </p:cNvPr>
          <p:cNvPicPr>
            <a:picLocks noChangeAspect="1"/>
          </p:cNvPicPr>
          <p:nvPr/>
        </p:nvPicPr>
        <p:blipFill>
          <a:blip r:embed="rId3"/>
          <a:srcRect/>
          <a:stretch>
            <a:fillRect/>
          </a:stretch>
        </p:blipFill>
        <p:spPr>
          <a:xfrm>
            <a:off x="3119666" y="1776485"/>
            <a:ext cx="952075" cy="1176589"/>
          </a:xfrm>
          <a:prstGeom prst="rect">
            <a:avLst/>
          </a:prstGeom>
        </p:spPr>
      </p:pic>
      <p:pic>
        <p:nvPicPr>
          <p:cNvPr id="27" name="Imagen 26">
            <a:extLst>
              <a:ext uri="{FF2B5EF4-FFF2-40B4-BE49-F238E27FC236}">
                <a16:creationId xmlns:a16="http://schemas.microsoft.com/office/drawing/2014/main" id="{5B9EAC96-10EE-7508-8CE4-084ED1C3E538}"/>
              </a:ext>
            </a:extLst>
          </p:cNvPr>
          <p:cNvPicPr>
            <a:picLocks noChangeAspect="1"/>
          </p:cNvPicPr>
          <p:nvPr/>
        </p:nvPicPr>
        <p:blipFill>
          <a:blip r:embed="rId4"/>
          <a:srcRect/>
          <a:stretch>
            <a:fillRect/>
          </a:stretch>
        </p:blipFill>
        <p:spPr>
          <a:xfrm>
            <a:off x="6560132" y="1729726"/>
            <a:ext cx="1235997" cy="1014517"/>
          </a:xfrm>
          <a:prstGeom prst="rect">
            <a:avLst/>
          </a:prstGeom>
        </p:spPr>
      </p:pic>
      <p:pic>
        <p:nvPicPr>
          <p:cNvPr id="29" name="Imagen 28">
            <a:extLst>
              <a:ext uri="{FF2B5EF4-FFF2-40B4-BE49-F238E27FC236}">
                <a16:creationId xmlns:a16="http://schemas.microsoft.com/office/drawing/2014/main" id="{9F631474-CE57-FC62-6C2F-DB7EC690937D}"/>
              </a:ext>
            </a:extLst>
          </p:cNvPr>
          <p:cNvPicPr>
            <a:picLocks noChangeAspect="1"/>
          </p:cNvPicPr>
          <p:nvPr/>
        </p:nvPicPr>
        <p:blipFill>
          <a:blip r:embed="rId5"/>
          <a:srcRect/>
          <a:stretch>
            <a:fillRect/>
          </a:stretch>
        </p:blipFill>
        <p:spPr>
          <a:xfrm>
            <a:off x="10503242" y="1677578"/>
            <a:ext cx="1026987" cy="1322803"/>
          </a:xfrm>
          <a:prstGeom prst="rect">
            <a:avLst/>
          </a:prstGeom>
        </p:spPr>
      </p:pic>
      <p:pic>
        <p:nvPicPr>
          <p:cNvPr id="31" name="Imagen 30">
            <a:extLst>
              <a:ext uri="{FF2B5EF4-FFF2-40B4-BE49-F238E27FC236}">
                <a16:creationId xmlns:a16="http://schemas.microsoft.com/office/drawing/2014/main" id="{CB2B233B-324D-A43A-5534-5F699FA2FB73}"/>
              </a:ext>
            </a:extLst>
          </p:cNvPr>
          <p:cNvPicPr>
            <a:picLocks noChangeAspect="1"/>
          </p:cNvPicPr>
          <p:nvPr/>
        </p:nvPicPr>
        <p:blipFill>
          <a:blip r:embed="rId6"/>
          <a:srcRect/>
          <a:stretch>
            <a:fillRect/>
          </a:stretch>
        </p:blipFill>
        <p:spPr>
          <a:xfrm>
            <a:off x="3001733" y="4305453"/>
            <a:ext cx="1037924" cy="1037924"/>
          </a:xfrm>
          <a:prstGeom prst="rect">
            <a:avLst/>
          </a:prstGeom>
        </p:spPr>
      </p:pic>
      <p:pic>
        <p:nvPicPr>
          <p:cNvPr id="33" name="Imagen 32">
            <a:extLst>
              <a:ext uri="{FF2B5EF4-FFF2-40B4-BE49-F238E27FC236}">
                <a16:creationId xmlns:a16="http://schemas.microsoft.com/office/drawing/2014/main" id="{6BD1A761-A8A1-510C-D1DF-335010E418B3}"/>
              </a:ext>
            </a:extLst>
          </p:cNvPr>
          <p:cNvPicPr>
            <a:picLocks noChangeAspect="1"/>
          </p:cNvPicPr>
          <p:nvPr/>
        </p:nvPicPr>
        <p:blipFill>
          <a:blip r:embed="rId7"/>
          <a:stretch>
            <a:fillRect/>
          </a:stretch>
        </p:blipFill>
        <p:spPr>
          <a:xfrm>
            <a:off x="6371799" y="4218665"/>
            <a:ext cx="1424330" cy="949553"/>
          </a:xfrm>
          <a:prstGeom prst="rect">
            <a:avLst/>
          </a:prstGeom>
        </p:spPr>
      </p:pic>
      <p:pic>
        <p:nvPicPr>
          <p:cNvPr id="35" name="Imagen 34">
            <a:extLst>
              <a:ext uri="{FF2B5EF4-FFF2-40B4-BE49-F238E27FC236}">
                <a16:creationId xmlns:a16="http://schemas.microsoft.com/office/drawing/2014/main" id="{8F03F191-4307-C8C5-838B-E6F3AFB1B35D}"/>
              </a:ext>
            </a:extLst>
          </p:cNvPr>
          <p:cNvPicPr>
            <a:picLocks noChangeAspect="1"/>
          </p:cNvPicPr>
          <p:nvPr/>
        </p:nvPicPr>
        <p:blipFill>
          <a:blip r:embed="rId8"/>
          <a:stretch>
            <a:fillRect/>
          </a:stretch>
        </p:blipFill>
        <p:spPr>
          <a:xfrm>
            <a:off x="10032386" y="4671067"/>
            <a:ext cx="1349800" cy="899867"/>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ISOMO RYA 5</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Ihumure n'imibereho myiza</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Shape 3"/>
          <p:cNvSpPr/>
          <p:nvPr/>
        </p:nvSpPr>
        <p:spPr>
          <a:xfrm>
            <a:off x="548640" y="1325879"/>
            <a:ext cx="3515258" cy="2002535"/>
          </a:xfrm>
          <a:prstGeom prst="roundRect">
            <a:avLst>
              <a:gd name="adj" fmla="val 6000"/>
            </a:avLst>
          </a:prstGeom>
          <a:solidFill>
            <a:srgbClr val="F2F7FD"/>
          </a:solidFill>
          <a:ln w="12700">
            <a:solidFill>
              <a:srgbClr val="CBDDF3"/>
            </a:solidFill>
            <a:prstDash val="solid"/>
          </a:ln>
        </p:spPr>
        <p:txBody>
          <a:bodyPr/>
          <a:lstStyle/>
          <a:p>
            <a:endParaRPr lang="rw-RW" sz="1600" dirty="0"/>
          </a:p>
        </p:txBody>
      </p:sp>
      <p:sp>
        <p:nvSpPr>
          <p:cNvPr id="6" name="Text 4"/>
          <p:cNvSpPr txBox="1"/>
          <p:nvPr/>
        </p:nvSpPr>
        <p:spPr>
          <a:xfrm>
            <a:off x="749808" y="1472184"/>
            <a:ext cx="3112922" cy="384048"/>
          </a:xfrm>
          <a:prstGeom prst="rect">
            <a:avLst/>
          </a:prstGeom>
          <a:noFill/>
          <a:ln/>
        </p:spPr>
        <p:txBody>
          <a:bodyPr wrap="square" lIns="0" tIns="0" rIns="0" bIns="0" rtlCol="0" anchor="t">
            <a:normAutofit fontScale="98000"/>
          </a:bodyPr>
          <a:lstStyle/>
          <a:p>
            <a:pPr marL="0" indent="0">
              <a:buNone/>
            </a:pPr>
            <a:r>
              <a:rPr lang="rw-RW" b="1" dirty="0">
                <a:solidFill>
                  <a:srgbClr val="12305B"/>
                </a:solidFill>
                <a:latin typeface="Calibri" pitchFamily="34" charset="0"/>
                <a:ea typeface="Calibri" pitchFamily="34" charset="-122"/>
                <a:cs typeface="Calibri" pitchFamily="34" charset="-120"/>
              </a:rPr>
              <a:t>Tega amatwi</a:t>
            </a:r>
            <a:endParaRPr lang="rw-RW" dirty="0"/>
          </a:p>
        </p:txBody>
      </p:sp>
      <p:sp>
        <p:nvSpPr>
          <p:cNvPr id="7" name="Text 5"/>
          <p:cNvSpPr txBox="1"/>
          <p:nvPr/>
        </p:nvSpPr>
        <p:spPr>
          <a:xfrm>
            <a:off x="749808" y="1892808"/>
            <a:ext cx="1878747" cy="113385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Fata umwanya kandi utege amatwi utiriwe ucira urubanza. Ntukihutire kuganira.</a:t>
            </a:r>
            <a:endParaRPr lang="rw-RW" sz="1600" dirty="0"/>
          </a:p>
        </p:txBody>
      </p:sp>
      <p:sp>
        <p:nvSpPr>
          <p:cNvPr id="8" name="Shape 6"/>
          <p:cNvSpPr/>
          <p:nvPr/>
        </p:nvSpPr>
        <p:spPr>
          <a:xfrm>
            <a:off x="4338218" y="1325879"/>
            <a:ext cx="3515258" cy="2002535"/>
          </a:xfrm>
          <a:prstGeom prst="roundRect">
            <a:avLst>
              <a:gd name="adj" fmla="val 6000"/>
            </a:avLst>
          </a:prstGeom>
          <a:solidFill>
            <a:srgbClr val="F2F7FD"/>
          </a:solidFill>
          <a:ln w="12700">
            <a:solidFill>
              <a:srgbClr val="CBDDF3"/>
            </a:solidFill>
            <a:prstDash val="solid"/>
          </a:ln>
        </p:spPr>
        <p:txBody>
          <a:bodyPr/>
          <a:lstStyle/>
          <a:p>
            <a:endParaRPr lang="rw-RW" sz="1600" dirty="0"/>
          </a:p>
        </p:txBody>
      </p:sp>
      <p:sp>
        <p:nvSpPr>
          <p:cNvPr id="9" name="Text 7"/>
          <p:cNvSpPr txBox="1"/>
          <p:nvPr/>
        </p:nvSpPr>
        <p:spPr>
          <a:xfrm>
            <a:off x="4539386" y="1472184"/>
            <a:ext cx="3112922"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Kubahiriza gahunda z'ubuvuzi</a:t>
            </a:r>
            <a:endParaRPr lang="rw-RW" dirty="0"/>
          </a:p>
        </p:txBody>
      </p:sp>
      <p:sp>
        <p:nvSpPr>
          <p:cNvPr id="10" name="Text 8"/>
          <p:cNvSpPr txBox="1"/>
          <p:nvPr/>
        </p:nvSpPr>
        <p:spPr>
          <a:xfrm>
            <a:off x="4539386" y="1892808"/>
            <a:ext cx="2094327" cy="1133856"/>
          </a:xfrm>
          <a:prstGeom prst="rect">
            <a:avLst/>
          </a:prstGeom>
          <a:noFill/>
          <a:ln/>
        </p:spPr>
        <p:txBody>
          <a:bodyPr wrap="square" lIns="0" tIns="0" rIns="0" bIns="0" rtlCol="0" anchor="t"/>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Gufasha abarwayi gukurikirana no gukomeza kwivuza.</a:t>
            </a:r>
            <a:endParaRPr lang="rw-RW" sz="1600" dirty="0"/>
          </a:p>
        </p:txBody>
      </p:sp>
      <p:sp>
        <p:nvSpPr>
          <p:cNvPr id="11" name="Shape 9"/>
          <p:cNvSpPr/>
          <p:nvPr/>
        </p:nvSpPr>
        <p:spPr>
          <a:xfrm>
            <a:off x="8127797" y="1325879"/>
            <a:ext cx="3515258" cy="2002535"/>
          </a:xfrm>
          <a:prstGeom prst="roundRect">
            <a:avLst>
              <a:gd name="adj" fmla="val 6000"/>
            </a:avLst>
          </a:prstGeom>
          <a:solidFill>
            <a:srgbClr val="F2F7FD"/>
          </a:solidFill>
          <a:ln w="12700">
            <a:solidFill>
              <a:srgbClr val="CBDDF3"/>
            </a:solidFill>
            <a:prstDash val="solid"/>
          </a:ln>
        </p:spPr>
        <p:txBody>
          <a:bodyPr/>
          <a:lstStyle/>
          <a:p>
            <a:endParaRPr lang="rw-RW" sz="1600" dirty="0"/>
          </a:p>
        </p:txBody>
      </p:sp>
      <p:sp>
        <p:nvSpPr>
          <p:cNvPr id="12" name="Text 10"/>
          <p:cNvSpPr txBox="1"/>
          <p:nvPr/>
        </p:nvSpPr>
        <p:spPr>
          <a:xfrm>
            <a:off x="8328965" y="1472184"/>
            <a:ext cx="3112922" cy="384048"/>
          </a:xfrm>
          <a:prstGeom prst="rect">
            <a:avLst/>
          </a:prstGeom>
          <a:noFill/>
          <a:ln/>
        </p:spPr>
        <p:txBody>
          <a:bodyPr wrap="square" lIns="0" tIns="0" rIns="0" bIns="0" rtlCol="0" anchor="t">
            <a:noAutofit/>
          </a:bodyPr>
          <a:lstStyle/>
          <a:p>
            <a:pPr marL="0" indent="0">
              <a:buNone/>
            </a:pPr>
            <a:r>
              <a:rPr lang="rw-RW" b="1" dirty="0">
                <a:solidFill>
                  <a:srgbClr val="12305B"/>
                </a:solidFill>
                <a:latin typeface="Calibri" pitchFamily="34" charset="0"/>
                <a:ea typeface="Calibri" pitchFamily="34" charset="-122"/>
                <a:cs typeface="Calibri" pitchFamily="34" charset="-120"/>
              </a:rPr>
              <a:t>Shishikariza kuvuga ibibazo hakiri kare</a:t>
            </a:r>
            <a:endParaRPr lang="rw-RW" dirty="0"/>
          </a:p>
        </p:txBody>
      </p:sp>
      <p:sp>
        <p:nvSpPr>
          <p:cNvPr id="13" name="Text 11"/>
          <p:cNvSpPr txBox="1"/>
          <p:nvPr/>
        </p:nvSpPr>
        <p:spPr>
          <a:xfrm>
            <a:off x="8328965" y="2045207"/>
            <a:ext cx="2000359" cy="113385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Saba uwo muntu kukubwira ibibazo bishya cyangwa birushaho kuba bibi hakiri kare.</a:t>
            </a:r>
            <a:endParaRPr lang="rw-RW" sz="1600" dirty="0"/>
          </a:p>
        </p:txBody>
      </p:sp>
      <p:sp>
        <p:nvSpPr>
          <p:cNvPr id="14" name="Shape 12"/>
          <p:cNvSpPr/>
          <p:nvPr/>
        </p:nvSpPr>
        <p:spPr>
          <a:xfrm>
            <a:off x="548640" y="3570848"/>
            <a:ext cx="3515258" cy="2002536"/>
          </a:xfrm>
          <a:prstGeom prst="roundRect">
            <a:avLst>
              <a:gd name="adj" fmla="val 6000"/>
            </a:avLst>
          </a:prstGeom>
          <a:solidFill>
            <a:srgbClr val="F2F7FD"/>
          </a:solidFill>
          <a:ln w="12700">
            <a:solidFill>
              <a:srgbClr val="CBDDF3"/>
            </a:solidFill>
            <a:prstDash val="solid"/>
          </a:ln>
        </p:spPr>
        <p:txBody>
          <a:bodyPr/>
          <a:lstStyle/>
          <a:p>
            <a:endParaRPr lang="rw-RW" sz="1600" dirty="0"/>
          </a:p>
        </p:txBody>
      </p:sp>
      <p:sp>
        <p:nvSpPr>
          <p:cNvPr id="15" name="Text 13"/>
          <p:cNvSpPr txBox="1"/>
          <p:nvPr/>
        </p:nvSpPr>
        <p:spPr>
          <a:xfrm>
            <a:off x="749808" y="3717152"/>
            <a:ext cx="1843074"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Kurya no kuruhuka</a:t>
            </a:r>
            <a:endParaRPr lang="rw-RW" dirty="0"/>
          </a:p>
        </p:txBody>
      </p:sp>
      <p:sp>
        <p:nvSpPr>
          <p:cNvPr id="16" name="Text 14"/>
          <p:cNvSpPr txBox="1"/>
          <p:nvPr/>
        </p:nvSpPr>
        <p:spPr>
          <a:xfrm>
            <a:off x="749808" y="4043992"/>
            <a:ext cx="1800867" cy="113385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Shishikariza abantu kurya ibiryo bito, ibinyobwa bihagije, kuruhuka no gukora imyitozo yoroheje.</a:t>
            </a:r>
            <a:endParaRPr lang="rw-RW" sz="1600" dirty="0"/>
          </a:p>
        </p:txBody>
      </p:sp>
      <p:sp>
        <p:nvSpPr>
          <p:cNvPr id="17" name="Shape 15"/>
          <p:cNvSpPr/>
          <p:nvPr/>
        </p:nvSpPr>
        <p:spPr>
          <a:xfrm>
            <a:off x="4338218" y="3570848"/>
            <a:ext cx="3515258" cy="2002536"/>
          </a:xfrm>
          <a:prstGeom prst="roundRect">
            <a:avLst>
              <a:gd name="adj" fmla="val 6000"/>
            </a:avLst>
          </a:prstGeom>
          <a:solidFill>
            <a:srgbClr val="F2F7FD"/>
          </a:solidFill>
          <a:ln w="12700">
            <a:solidFill>
              <a:srgbClr val="CBDDF3"/>
            </a:solidFill>
            <a:prstDash val="solid"/>
          </a:ln>
        </p:spPr>
        <p:txBody>
          <a:bodyPr/>
          <a:lstStyle/>
          <a:p>
            <a:endParaRPr lang="rw-RW" sz="1600" dirty="0"/>
          </a:p>
        </p:txBody>
      </p:sp>
      <p:sp>
        <p:nvSpPr>
          <p:cNvPr id="18" name="Text 16"/>
          <p:cNvSpPr txBox="1"/>
          <p:nvPr/>
        </p:nvSpPr>
        <p:spPr>
          <a:xfrm>
            <a:off x="4539386" y="3717152"/>
            <a:ext cx="3112922" cy="384048"/>
          </a:xfrm>
          <a:prstGeom prst="rect">
            <a:avLst/>
          </a:prstGeom>
          <a:noFill/>
          <a:ln/>
        </p:spPr>
        <p:txBody>
          <a:bodyPr wrap="square" lIns="0" tIns="0" rIns="0" bIns="0" rtlCol="0" anchor="t">
            <a:noAutofit/>
          </a:bodyPr>
          <a:lstStyle/>
          <a:p>
            <a:pPr marL="0" indent="0">
              <a:buNone/>
            </a:pPr>
            <a:r>
              <a:rPr lang="rw-RW" b="1" dirty="0">
                <a:solidFill>
                  <a:srgbClr val="12305B"/>
                </a:solidFill>
                <a:latin typeface="Calibri" pitchFamily="34" charset="0"/>
                <a:ea typeface="Calibri" pitchFamily="34" charset="-122"/>
                <a:cs typeface="Calibri" pitchFamily="34" charset="-120"/>
              </a:rPr>
              <a:t>Icyubahiro</a:t>
            </a:r>
            <a:endParaRPr lang="rw-RW" dirty="0"/>
          </a:p>
        </p:txBody>
      </p:sp>
      <p:sp>
        <p:nvSpPr>
          <p:cNvPr id="19" name="Text 17"/>
          <p:cNvSpPr txBox="1"/>
          <p:nvPr/>
        </p:nvSpPr>
        <p:spPr>
          <a:xfrm>
            <a:off x="4408766" y="4000659"/>
            <a:ext cx="2106334" cy="113385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Kurinda ubuzima bwite bw'ibibazo by'amara na stoma. Ntuzigere ubiganiraho mu ruhame.</a:t>
            </a:r>
            <a:endParaRPr lang="rw-RW" sz="1600" dirty="0"/>
          </a:p>
        </p:txBody>
      </p:sp>
      <p:sp>
        <p:nvSpPr>
          <p:cNvPr id="20" name="Shape 18"/>
          <p:cNvSpPr/>
          <p:nvPr/>
        </p:nvSpPr>
        <p:spPr>
          <a:xfrm>
            <a:off x="8127797" y="3570848"/>
            <a:ext cx="3515258" cy="2002536"/>
          </a:xfrm>
          <a:prstGeom prst="roundRect">
            <a:avLst>
              <a:gd name="adj" fmla="val 6000"/>
            </a:avLst>
          </a:prstGeom>
          <a:solidFill>
            <a:srgbClr val="F2F7FD"/>
          </a:solidFill>
          <a:ln w="12700">
            <a:solidFill>
              <a:srgbClr val="CBDDF3"/>
            </a:solidFill>
            <a:prstDash val="solid"/>
          </a:ln>
        </p:spPr>
        <p:txBody>
          <a:bodyPr/>
          <a:lstStyle/>
          <a:p>
            <a:endParaRPr lang="rw-RW" sz="1600" dirty="0"/>
          </a:p>
        </p:txBody>
      </p:sp>
      <p:sp>
        <p:nvSpPr>
          <p:cNvPr id="21" name="Text 19"/>
          <p:cNvSpPr txBox="1"/>
          <p:nvPr/>
        </p:nvSpPr>
        <p:spPr>
          <a:xfrm>
            <a:off x="8328965" y="3717152"/>
            <a:ext cx="2075544" cy="384048"/>
          </a:xfrm>
          <a:prstGeom prst="rect">
            <a:avLst/>
          </a:prstGeom>
          <a:noFill/>
          <a:ln/>
        </p:spPr>
        <p:txBody>
          <a:bodyPr wrap="square" lIns="0" tIns="0" rIns="0" bIns="0" rtlCol="0" anchor="t">
            <a:normAutofit/>
          </a:bodyPr>
          <a:lstStyle/>
          <a:p>
            <a:pPr marL="0" indent="0">
              <a:buNone/>
            </a:pPr>
            <a:r>
              <a:rPr lang="rw-RW" b="1" dirty="0">
                <a:solidFill>
                  <a:srgbClr val="12305B"/>
                </a:solidFill>
                <a:latin typeface="Calibri" pitchFamily="34" charset="0"/>
                <a:ea typeface="Calibri" pitchFamily="34" charset="-122"/>
                <a:cs typeface="Calibri" pitchFamily="34" charset="-120"/>
              </a:rPr>
              <a:t>Menya aho ugarukira</a:t>
            </a:r>
            <a:endParaRPr lang="rw-RW" dirty="0"/>
          </a:p>
        </p:txBody>
      </p:sp>
      <p:sp>
        <p:nvSpPr>
          <p:cNvPr id="22" name="Text 20"/>
          <p:cNvSpPr txBox="1"/>
          <p:nvPr/>
        </p:nvSpPr>
        <p:spPr>
          <a:xfrm>
            <a:off x="8314390" y="4009101"/>
            <a:ext cx="2176452" cy="1133856"/>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Mu gihe uburwayi bukomeye, cyangwa se ukaba ufite ibimenyetso by'uburwayi, jya utanga ubufasha bw'ubuvuzi n'ubw'amarangamutima.</a:t>
            </a:r>
            <a:endParaRPr lang="rw-RW" sz="1600" dirty="0"/>
          </a:p>
        </p:txBody>
      </p:sp>
      <p:sp>
        <p:nvSpPr>
          <p:cNvPr id="23" name="Shape 21"/>
          <p:cNvSpPr/>
          <p:nvPr/>
        </p:nvSpPr>
        <p:spPr>
          <a:xfrm>
            <a:off x="548640" y="5760011"/>
            <a:ext cx="11094415" cy="548643"/>
          </a:xfrm>
          <a:prstGeom prst="roundRect">
            <a:avLst>
              <a:gd name="adj" fmla="val 12821"/>
            </a:avLst>
          </a:prstGeom>
          <a:solidFill>
            <a:srgbClr val="E9F5EC"/>
          </a:solidFill>
          <a:ln w="12700">
            <a:solidFill>
              <a:srgbClr val="AFD8BE"/>
            </a:solidFill>
            <a:prstDash val="solid"/>
          </a:ln>
        </p:spPr>
        <p:txBody>
          <a:bodyPr/>
          <a:lstStyle/>
          <a:p>
            <a:endParaRPr lang="rw-RW" sz="1600" dirty="0"/>
          </a:p>
        </p:txBody>
      </p:sp>
      <p:sp>
        <p:nvSpPr>
          <p:cNvPr id="24" name="Text 22"/>
          <p:cNvSpPr txBox="1"/>
          <p:nvPr/>
        </p:nvSpPr>
        <p:spPr>
          <a:xfrm>
            <a:off x="777240" y="5792370"/>
            <a:ext cx="10637215" cy="530352"/>
          </a:xfrm>
          <a:prstGeom prst="rect">
            <a:avLst/>
          </a:prstGeom>
          <a:noFill/>
          <a:ln/>
        </p:spPr>
        <p:txBody>
          <a:bodyPr wrap="square" lIns="0" tIns="0" rIns="0" bIns="0" rtlCol="0" anchor="ctr">
            <a:noAutofit/>
          </a:bodyPr>
          <a:lstStyle/>
          <a:p>
            <a:pPr marL="0" indent="0">
              <a:buNone/>
            </a:pPr>
            <a:r>
              <a:rPr lang="rw-RW" sz="1600" dirty="0">
                <a:solidFill>
                  <a:srgbClr val="1B6B41"/>
                </a:solidFill>
                <a:latin typeface="Calibri" pitchFamily="34" charset="0"/>
                <a:ea typeface="Calibri" pitchFamily="34" charset="-122"/>
                <a:cs typeface="Calibri" pitchFamily="34" charset="-120"/>
              </a:rPr>
              <a:t>Kuvura ububabare n'ibindi bimenyetso bishobora gutangwa icyarimwe no kuvura kanseri. Ntabwo ari iherezo ry'ubuzima gusa.</a:t>
            </a:r>
            <a:endParaRPr lang="rw-RW" sz="1600" dirty="0"/>
          </a:p>
        </p:txBody>
      </p:sp>
      <p:pic>
        <p:nvPicPr>
          <p:cNvPr id="25" name="Imagen 24">
            <a:extLst>
              <a:ext uri="{FF2B5EF4-FFF2-40B4-BE49-F238E27FC236}">
                <a16:creationId xmlns:a16="http://schemas.microsoft.com/office/drawing/2014/main" id="{D3F711E0-3B5F-8CEB-9ED0-BBB430286FD3}"/>
              </a:ext>
            </a:extLst>
          </p:cNvPr>
          <p:cNvPicPr>
            <a:picLocks noChangeAspect="1"/>
          </p:cNvPicPr>
          <p:nvPr/>
        </p:nvPicPr>
        <p:blipFill>
          <a:blip r:embed="rId3"/>
          <a:srcRect/>
          <a:stretch>
            <a:fillRect/>
          </a:stretch>
        </p:blipFill>
        <p:spPr>
          <a:xfrm>
            <a:off x="2679355" y="1892808"/>
            <a:ext cx="1316048" cy="1197864"/>
          </a:xfrm>
          <a:prstGeom prst="rect">
            <a:avLst/>
          </a:prstGeom>
        </p:spPr>
      </p:pic>
      <p:pic>
        <p:nvPicPr>
          <p:cNvPr id="27" name="Imagen 26">
            <a:extLst>
              <a:ext uri="{FF2B5EF4-FFF2-40B4-BE49-F238E27FC236}">
                <a16:creationId xmlns:a16="http://schemas.microsoft.com/office/drawing/2014/main" id="{7D39D88D-A852-7B0F-EFA6-A83C2F0C4A3F}"/>
              </a:ext>
            </a:extLst>
          </p:cNvPr>
          <p:cNvPicPr>
            <a:picLocks noChangeAspect="1"/>
          </p:cNvPicPr>
          <p:nvPr/>
        </p:nvPicPr>
        <p:blipFill>
          <a:blip r:embed="rId4"/>
          <a:stretch>
            <a:fillRect/>
          </a:stretch>
        </p:blipFill>
        <p:spPr>
          <a:xfrm>
            <a:off x="6687773" y="1856232"/>
            <a:ext cx="1088509" cy="1192090"/>
          </a:xfrm>
          <a:prstGeom prst="rect">
            <a:avLst/>
          </a:prstGeom>
        </p:spPr>
      </p:pic>
      <p:pic>
        <p:nvPicPr>
          <p:cNvPr id="29" name="Imagen 28">
            <a:extLst>
              <a:ext uri="{FF2B5EF4-FFF2-40B4-BE49-F238E27FC236}">
                <a16:creationId xmlns:a16="http://schemas.microsoft.com/office/drawing/2014/main" id="{0520B822-9238-7726-4E5B-F5A82FC063AB}"/>
              </a:ext>
            </a:extLst>
          </p:cNvPr>
          <p:cNvPicPr>
            <a:picLocks noChangeAspect="1"/>
          </p:cNvPicPr>
          <p:nvPr/>
        </p:nvPicPr>
        <p:blipFill>
          <a:blip r:embed="rId5"/>
          <a:stretch>
            <a:fillRect/>
          </a:stretch>
        </p:blipFill>
        <p:spPr>
          <a:xfrm>
            <a:off x="10382115" y="2048256"/>
            <a:ext cx="1171728" cy="1051370"/>
          </a:xfrm>
          <a:prstGeom prst="rect">
            <a:avLst/>
          </a:prstGeom>
        </p:spPr>
      </p:pic>
      <p:pic>
        <p:nvPicPr>
          <p:cNvPr id="31" name="Imagen 30">
            <a:extLst>
              <a:ext uri="{FF2B5EF4-FFF2-40B4-BE49-F238E27FC236}">
                <a16:creationId xmlns:a16="http://schemas.microsoft.com/office/drawing/2014/main" id="{FF943268-D082-4FA4-18BA-FF3F670E06BC}"/>
              </a:ext>
            </a:extLst>
          </p:cNvPr>
          <p:cNvPicPr>
            <a:picLocks noChangeAspect="1"/>
          </p:cNvPicPr>
          <p:nvPr/>
        </p:nvPicPr>
        <p:blipFill>
          <a:blip r:embed="rId6"/>
          <a:stretch>
            <a:fillRect/>
          </a:stretch>
        </p:blipFill>
        <p:spPr>
          <a:xfrm>
            <a:off x="2643682" y="3863543"/>
            <a:ext cx="1239456" cy="1408089"/>
          </a:xfrm>
          <a:prstGeom prst="rect">
            <a:avLst/>
          </a:prstGeom>
        </p:spPr>
      </p:pic>
      <p:pic>
        <p:nvPicPr>
          <p:cNvPr id="33" name="Imagen 32">
            <a:extLst>
              <a:ext uri="{FF2B5EF4-FFF2-40B4-BE49-F238E27FC236}">
                <a16:creationId xmlns:a16="http://schemas.microsoft.com/office/drawing/2014/main" id="{46AF3DBD-D48E-C1ED-9744-D83E8C5A1F45}"/>
              </a:ext>
            </a:extLst>
          </p:cNvPr>
          <p:cNvPicPr>
            <a:picLocks noChangeAspect="1"/>
          </p:cNvPicPr>
          <p:nvPr/>
        </p:nvPicPr>
        <p:blipFill>
          <a:blip r:embed="rId7"/>
          <a:stretch>
            <a:fillRect/>
          </a:stretch>
        </p:blipFill>
        <p:spPr>
          <a:xfrm>
            <a:off x="6533331" y="4001680"/>
            <a:ext cx="1239514" cy="1131813"/>
          </a:xfrm>
          <a:prstGeom prst="rect">
            <a:avLst/>
          </a:prstGeom>
        </p:spPr>
      </p:pic>
      <p:pic>
        <p:nvPicPr>
          <p:cNvPr id="35" name="Imagen 34">
            <a:extLst>
              <a:ext uri="{FF2B5EF4-FFF2-40B4-BE49-F238E27FC236}">
                <a16:creationId xmlns:a16="http://schemas.microsoft.com/office/drawing/2014/main" id="{961B6B59-3423-8FB9-8761-D26279A60921}"/>
              </a:ext>
            </a:extLst>
          </p:cNvPr>
          <p:cNvPicPr>
            <a:picLocks noChangeAspect="1"/>
          </p:cNvPicPr>
          <p:nvPr/>
        </p:nvPicPr>
        <p:blipFill>
          <a:blip r:embed="rId8"/>
          <a:stretch>
            <a:fillRect/>
          </a:stretch>
        </p:blipFill>
        <p:spPr>
          <a:xfrm>
            <a:off x="10455309" y="3965436"/>
            <a:ext cx="1059772" cy="1168057"/>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ISOMO RYA 5</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Vestine yagarutse</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Umujyanama w'ubuzima | Ikigo cy'Igihugu cy'Ubuvuzi (Rwanda Biomedical Centre)</a:t>
            </a:r>
            <a:endParaRPr lang="rw-RW" sz="1100" dirty="0"/>
          </a:p>
        </p:txBody>
      </p:sp>
      <p:sp>
        <p:nvSpPr>
          <p:cNvPr id="5" name="Shape 3"/>
          <p:cNvSpPr/>
          <p:nvPr/>
        </p:nvSpPr>
        <p:spPr>
          <a:xfrm>
            <a:off x="548640" y="1298448"/>
            <a:ext cx="7269480" cy="868680"/>
          </a:xfrm>
          <a:prstGeom prst="roundRect">
            <a:avLst>
              <a:gd name="adj" fmla="val 10526"/>
            </a:avLst>
          </a:prstGeom>
          <a:solidFill>
            <a:srgbClr val="FDF6E6"/>
          </a:solidFill>
          <a:ln w="12700">
            <a:solidFill>
              <a:srgbClr val="E6D5A8"/>
            </a:solidFill>
            <a:prstDash val="solid"/>
          </a:ln>
        </p:spPr>
        <p:txBody>
          <a:bodyPr/>
          <a:lstStyle/>
          <a:p>
            <a:endParaRPr lang="rw-RW" dirty="0"/>
          </a:p>
        </p:txBody>
      </p:sp>
      <p:sp>
        <p:nvSpPr>
          <p:cNvPr id="6" name="Text 4"/>
          <p:cNvSpPr txBox="1"/>
          <p:nvPr/>
        </p:nvSpPr>
        <p:spPr>
          <a:xfrm>
            <a:off x="768096" y="1371600"/>
            <a:ext cx="6830568" cy="731520"/>
          </a:xfrm>
          <a:prstGeom prst="rect">
            <a:avLst/>
          </a:prstGeom>
          <a:noFill/>
          <a:ln/>
        </p:spPr>
        <p:txBody>
          <a:bodyPr wrap="square" lIns="0" tIns="0" rIns="0" bIns="0" rtlCol="0" anchor="ctr">
            <a:noAutofit/>
          </a:bodyPr>
          <a:lstStyle/>
          <a:p>
            <a:pPr marL="0" indent="0">
              <a:lnSpc>
                <a:spcPct val="105000"/>
              </a:lnSpc>
              <a:buNone/>
            </a:pPr>
            <a:r>
              <a:rPr lang="rw-RW" dirty="0">
                <a:solidFill>
                  <a:srgbClr val="17335F"/>
                </a:solidFill>
                <a:latin typeface="Calibri" pitchFamily="34" charset="0"/>
                <a:ea typeface="Calibri" pitchFamily="34" charset="-122"/>
                <a:cs typeface="Calibri" pitchFamily="34" charset="-120"/>
              </a:rPr>
              <a:t>Vestine yabazwe kandi ubu arimo guhabwa imiti ya kanseri. Avuga ko afite impiswi nyinshi ku munsi, adashobora kunywa amazi, kandi yumva afite intege nke.</a:t>
            </a:r>
            <a:endParaRPr lang="rw-RW" dirty="0"/>
          </a:p>
        </p:txBody>
      </p:sp>
      <p:sp>
        <p:nvSpPr>
          <p:cNvPr id="7" name="Text 5"/>
          <p:cNvSpPr txBox="1"/>
          <p:nvPr/>
        </p:nvSpPr>
        <p:spPr>
          <a:xfrm>
            <a:off x="548640" y="2331720"/>
            <a:ext cx="7269480" cy="365760"/>
          </a:xfrm>
          <a:prstGeom prst="rect">
            <a:avLst/>
          </a:prstGeom>
          <a:noFill/>
          <a:ln/>
        </p:spPr>
        <p:txBody>
          <a:bodyPr wrap="square" lIns="0" tIns="0" rIns="0" bIns="0" rtlCol="0" anchor="ctr">
            <a:normAutofit/>
          </a:bodyPr>
          <a:lstStyle/>
          <a:p>
            <a:pPr marL="0" indent="0">
              <a:buNone/>
            </a:pPr>
            <a:r>
              <a:rPr lang="rw-RW" b="1" dirty="0">
                <a:solidFill>
                  <a:srgbClr val="12305B"/>
                </a:solidFill>
                <a:latin typeface="Calibri" pitchFamily="34" charset="0"/>
                <a:ea typeface="Calibri" pitchFamily="34" charset="-122"/>
                <a:cs typeface="Calibri" pitchFamily="34" charset="-120"/>
              </a:rPr>
              <a:t>Ni ikihe gikorwa cyiza kurusha ibindi?</a:t>
            </a:r>
            <a:endParaRPr lang="rw-RW" dirty="0"/>
          </a:p>
        </p:txBody>
      </p:sp>
      <p:sp>
        <p:nvSpPr>
          <p:cNvPr id="8" name="Shape 6"/>
          <p:cNvSpPr/>
          <p:nvPr/>
        </p:nvSpPr>
        <p:spPr>
          <a:xfrm>
            <a:off x="548640" y="2752344"/>
            <a:ext cx="7269480" cy="438912"/>
          </a:xfrm>
          <a:prstGeom prst="roundRect">
            <a:avLst>
              <a:gd name="adj" fmla="val 13889"/>
            </a:avLst>
          </a:prstGeom>
          <a:solidFill>
            <a:srgbClr val="F2F7FD"/>
          </a:solidFill>
          <a:ln w="12700">
            <a:solidFill>
              <a:srgbClr val="CBDDF3"/>
            </a:solidFill>
            <a:prstDash val="solid"/>
          </a:ln>
        </p:spPr>
        <p:txBody>
          <a:bodyPr/>
          <a:lstStyle/>
          <a:p>
            <a:endParaRPr lang="rw-RW" dirty="0"/>
          </a:p>
        </p:txBody>
      </p:sp>
      <p:sp>
        <p:nvSpPr>
          <p:cNvPr id="9" name="Text 7"/>
          <p:cNvSpPr txBox="1"/>
          <p:nvPr/>
        </p:nvSpPr>
        <p:spPr>
          <a:xfrm>
            <a:off x="768096" y="2788920"/>
            <a:ext cx="6830568" cy="365760"/>
          </a:xfrm>
          <a:prstGeom prst="rect">
            <a:avLst/>
          </a:prstGeom>
          <a:noFill/>
          <a:ln/>
        </p:spPr>
        <p:txBody>
          <a:bodyPr wrap="square" lIns="0" tIns="0" rIns="0" bIns="0" rtlCol="0" anchor="ctr"/>
          <a:lstStyle/>
          <a:p>
            <a:pPr marL="0" indent="0">
              <a:lnSpc>
                <a:spcPct val="100000"/>
              </a:lnSpc>
              <a:buNone/>
            </a:pPr>
            <a:r>
              <a:rPr lang="rw-RW" b="1" dirty="0">
                <a:solidFill>
                  <a:srgbClr val="1F5FA9"/>
                </a:solidFill>
                <a:latin typeface="Calibri" pitchFamily="34" charset="0"/>
                <a:ea typeface="Calibri" pitchFamily="34" charset="-122"/>
                <a:cs typeface="Calibri" pitchFamily="34" charset="-120"/>
              </a:rPr>
              <a:t>A. </a:t>
            </a:r>
            <a:r>
              <a:rPr lang="rw-RW" b="0" dirty="0">
                <a:solidFill>
                  <a:srgbClr val="17335F"/>
                </a:solidFill>
                <a:latin typeface="Calibri"/>
              </a:rPr>
              <a:t>Mubwire ko ari ibisanzwe maze ategereze gahunda ye ikurikira</a:t>
            </a:r>
            <a:endParaRPr lang="rw-RW" dirty="0"/>
          </a:p>
        </p:txBody>
      </p:sp>
      <p:sp>
        <p:nvSpPr>
          <p:cNvPr id="10" name="Shape 8"/>
          <p:cNvSpPr/>
          <p:nvPr/>
        </p:nvSpPr>
        <p:spPr>
          <a:xfrm>
            <a:off x="548640" y="3264408"/>
            <a:ext cx="7269480" cy="438912"/>
          </a:xfrm>
          <a:prstGeom prst="roundRect">
            <a:avLst>
              <a:gd name="adj" fmla="val 13889"/>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68096" y="3300984"/>
            <a:ext cx="6830568" cy="365760"/>
          </a:xfrm>
          <a:prstGeom prst="rect">
            <a:avLst/>
          </a:prstGeom>
          <a:noFill/>
          <a:ln/>
        </p:spPr>
        <p:txBody>
          <a:bodyPr wrap="square" lIns="0" tIns="0" rIns="0" bIns="0" rtlCol="0" anchor="ctr"/>
          <a:lstStyle/>
          <a:p>
            <a:pPr marL="0" indent="0">
              <a:lnSpc>
                <a:spcPct val="100000"/>
              </a:lnSpc>
              <a:buNone/>
            </a:pPr>
            <a:r>
              <a:rPr lang="rw-RW" b="1" dirty="0">
                <a:solidFill>
                  <a:srgbClr val="1F5FA9"/>
                </a:solidFill>
                <a:latin typeface="Calibri" pitchFamily="34" charset="0"/>
                <a:ea typeface="Calibri" pitchFamily="34" charset="-122"/>
                <a:cs typeface="Calibri" pitchFamily="34" charset="-120"/>
              </a:rPr>
              <a:t>B. </a:t>
            </a:r>
            <a:r>
              <a:rPr lang="rw-RW" b="0" dirty="0">
                <a:solidFill>
                  <a:srgbClr val="17335F"/>
                </a:solidFill>
                <a:latin typeface="Calibri"/>
              </a:rPr>
              <a:t>Mugire inama yo guhagarika ubuvuzi</a:t>
            </a:r>
            <a:endParaRPr lang="rw-RW" dirty="0"/>
          </a:p>
        </p:txBody>
      </p:sp>
      <p:sp>
        <p:nvSpPr>
          <p:cNvPr id="12" name="Shape 10"/>
          <p:cNvSpPr/>
          <p:nvPr/>
        </p:nvSpPr>
        <p:spPr>
          <a:xfrm>
            <a:off x="548640" y="3776472"/>
            <a:ext cx="7269480" cy="438912"/>
          </a:xfrm>
          <a:prstGeom prst="roundRect">
            <a:avLst>
              <a:gd name="adj" fmla="val 13889"/>
            </a:avLst>
          </a:prstGeom>
          <a:solidFill>
            <a:srgbClr val="F2F7FD"/>
          </a:solidFill>
          <a:ln w="12700">
            <a:solidFill>
              <a:srgbClr val="AFD8BE"/>
            </a:solidFill>
            <a:prstDash val="solid"/>
          </a:ln>
        </p:spPr>
        <p:txBody>
          <a:bodyPr/>
          <a:lstStyle/>
          <a:p>
            <a:endParaRPr lang="rw-RW" dirty="0"/>
          </a:p>
        </p:txBody>
      </p:sp>
      <p:sp>
        <p:nvSpPr>
          <p:cNvPr id="13" name="Text 11"/>
          <p:cNvSpPr txBox="1"/>
          <p:nvPr/>
        </p:nvSpPr>
        <p:spPr>
          <a:xfrm>
            <a:off x="768096" y="3813048"/>
            <a:ext cx="6830568" cy="365760"/>
          </a:xfrm>
          <a:prstGeom prst="rect">
            <a:avLst/>
          </a:prstGeom>
          <a:noFill/>
          <a:ln/>
        </p:spPr>
        <p:txBody>
          <a:bodyPr wrap="square" lIns="0" tIns="0" rIns="0" bIns="0" rtlCol="0" anchor="ctr"/>
          <a:lstStyle/>
          <a:p>
            <a:pPr marL="0" indent="0">
              <a:lnSpc>
                <a:spcPct val="100000"/>
              </a:lnSpc>
              <a:buNone/>
            </a:pPr>
            <a:r>
              <a:rPr lang="rw-RW" b="1" dirty="0">
                <a:solidFill>
                  <a:srgbClr val="1F5FA9"/>
                </a:solidFill>
                <a:latin typeface="Calibri" pitchFamily="34" charset="0"/>
                <a:ea typeface="Calibri" pitchFamily="34" charset="-122"/>
                <a:cs typeface="Calibri" pitchFamily="34" charset="-120"/>
              </a:rPr>
              <a:t>C. </a:t>
            </a:r>
            <a:r>
              <a:rPr lang="rw-RW" b="0" dirty="0">
                <a:solidFill>
                  <a:srgbClr val="17335F"/>
                </a:solidFill>
                <a:latin typeface="Calibri"/>
              </a:rPr>
              <a:t>Umuhe imiti y'impiswi ubwawe</a:t>
            </a:r>
            <a:endParaRPr lang="rw-RW" dirty="0"/>
          </a:p>
        </p:txBody>
      </p:sp>
      <p:sp>
        <p:nvSpPr>
          <p:cNvPr id="14" name="Shape 12"/>
          <p:cNvSpPr/>
          <p:nvPr/>
        </p:nvSpPr>
        <p:spPr>
          <a:xfrm>
            <a:off x="548640" y="4288536"/>
            <a:ext cx="7269480" cy="713231"/>
          </a:xfrm>
          <a:prstGeom prst="roundRect">
            <a:avLst>
              <a:gd name="adj" fmla="val 13889"/>
            </a:avLst>
          </a:prstGeom>
          <a:solidFill>
            <a:srgbClr val="E9F5EC"/>
          </a:solidFill>
          <a:ln w="12700">
            <a:solidFill>
              <a:srgbClr val="CBDDF3"/>
            </a:solidFill>
            <a:prstDash val="solid"/>
          </a:ln>
        </p:spPr>
        <p:txBody>
          <a:bodyPr/>
          <a:lstStyle/>
          <a:p>
            <a:endParaRPr lang="rw-RW" dirty="0"/>
          </a:p>
        </p:txBody>
      </p:sp>
      <p:sp>
        <p:nvSpPr>
          <p:cNvPr id="15" name="Text 13"/>
          <p:cNvSpPr txBox="1"/>
          <p:nvPr/>
        </p:nvSpPr>
        <p:spPr>
          <a:xfrm>
            <a:off x="768096" y="4325112"/>
            <a:ext cx="6830568" cy="640080"/>
          </a:xfrm>
          <a:prstGeom prst="rect">
            <a:avLst/>
          </a:prstGeom>
          <a:noFill/>
          <a:ln/>
        </p:spPr>
        <p:txBody>
          <a:bodyPr wrap="square" lIns="0" tIns="0" rIns="0" bIns="0" rtlCol="0" anchor="ctr"/>
          <a:lstStyle/>
          <a:p>
            <a:pPr marL="0" indent="0">
              <a:lnSpc>
                <a:spcPct val="100000"/>
              </a:lnSpc>
              <a:buNone/>
            </a:pPr>
            <a:r>
              <a:rPr lang="rw-RW" b="1" dirty="0">
                <a:solidFill>
                  <a:srgbClr val="1B6B41"/>
                </a:solidFill>
                <a:latin typeface="Calibri" pitchFamily="34" charset="0"/>
                <a:ea typeface="Calibri" pitchFamily="34" charset="-122"/>
                <a:cs typeface="Calibri" pitchFamily="34" charset="-120"/>
              </a:rPr>
              <a:t>D. Mufashe kugera vuba aho bavurira, kandi umutere inkunga yo kunywa utuzi duke duke mu nzira ✓</a:t>
            </a:r>
            <a:endParaRPr lang="rw-RW" dirty="0"/>
          </a:p>
        </p:txBody>
      </p:sp>
      <p:sp>
        <p:nvSpPr>
          <p:cNvPr id="16" name="Shape 14"/>
          <p:cNvSpPr/>
          <p:nvPr/>
        </p:nvSpPr>
        <p:spPr>
          <a:xfrm>
            <a:off x="8138160" y="1298448"/>
            <a:ext cx="3504895" cy="4663440"/>
          </a:xfrm>
          <a:prstGeom prst="roundRect">
            <a:avLst>
              <a:gd name="adj" fmla="val 3131"/>
            </a:avLst>
          </a:prstGeom>
          <a:solidFill>
            <a:srgbClr val="E9F5EC"/>
          </a:solidFill>
          <a:ln w="12700">
            <a:solidFill>
              <a:srgbClr val="AFD8BE"/>
            </a:solidFill>
            <a:prstDash val="solid"/>
          </a:ln>
        </p:spPr>
        <p:txBody>
          <a:bodyPr/>
          <a:lstStyle/>
          <a:p>
            <a:endParaRPr lang="rw-RW" dirty="0"/>
          </a:p>
        </p:txBody>
      </p:sp>
      <p:sp>
        <p:nvSpPr>
          <p:cNvPr id="17" name="Text 15"/>
          <p:cNvSpPr txBox="1"/>
          <p:nvPr/>
        </p:nvSpPr>
        <p:spPr>
          <a:xfrm>
            <a:off x="8366760" y="1463040"/>
            <a:ext cx="3047695" cy="365760"/>
          </a:xfrm>
          <a:prstGeom prst="rect">
            <a:avLst/>
          </a:prstGeom>
          <a:noFill/>
          <a:ln/>
        </p:spPr>
        <p:txBody>
          <a:bodyPr wrap="square" lIns="0" tIns="0" rIns="0" bIns="0" rtlCol="0" anchor="ctr">
            <a:normAutofit/>
          </a:bodyPr>
          <a:lstStyle/>
          <a:p>
            <a:pPr marL="0" indent="0">
              <a:buNone/>
            </a:pPr>
            <a:r>
              <a:rPr lang="rw-RW" b="1" dirty="0">
                <a:solidFill>
                  <a:srgbClr val="1B6B41"/>
                </a:solidFill>
                <a:latin typeface="Calibri" pitchFamily="34" charset="0"/>
                <a:ea typeface="Calibri" pitchFamily="34" charset="-122"/>
                <a:cs typeface="Calibri" pitchFamily="34" charset="-120"/>
              </a:rPr>
              <a:t>Igisubizo nyacyo: D</a:t>
            </a:r>
            <a:endParaRPr lang="rw-RW" dirty="0"/>
          </a:p>
        </p:txBody>
      </p:sp>
      <p:sp>
        <p:nvSpPr>
          <p:cNvPr id="18" name="Text 16"/>
          <p:cNvSpPr txBox="1"/>
          <p:nvPr/>
        </p:nvSpPr>
        <p:spPr>
          <a:xfrm>
            <a:off x="8366760" y="1920240"/>
            <a:ext cx="3047695" cy="3931920"/>
          </a:xfrm>
          <a:prstGeom prst="rect">
            <a:avLst/>
          </a:prstGeom>
          <a:noFill/>
          <a:ln/>
        </p:spPr>
        <p:txBody>
          <a:bodyPr wrap="square" lIns="0" tIns="0" rIns="0" bIns="0" rtlCol="0" anchor="t">
            <a:noAutofit/>
          </a:bodyPr>
          <a:lstStyle/>
          <a:p>
            <a:pPr marL="0" indent="0">
              <a:lnSpc>
                <a:spcPct val="105000"/>
              </a:lnSpc>
              <a:buNone/>
            </a:pPr>
            <a:r>
              <a:rPr lang="rw-RW" sz="1600" dirty="0">
                <a:solidFill>
                  <a:srgbClr val="17335F"/>
                </a:solidFill>
                <a:latin typeface="Calibri" pitchFamily="34" charset="0"/>
                <a:ea typeface="Calibri" pitchFamily="34" charset="-122"/>
                <a:cs typeface="Calibri" pitchFamily="34" charset="-120"/>
              </a:rPr>
              <a:t>Impiswi ni ingaruka ikunze kugaragara ku miti ya kanseri, ariko impiswi nyinshi z'amazi hamwe no kuruka no kugira intege nke bishobora gutera gutakaza amazi menshi mu mubiri. Ibi bisaba kwisuzumisha vuba, atari mu gihe cy'uruzinduko rukurikiyeho. Ntumubwire guhagarika imiti ye, kuko icyo cyemezo ni icy'itsinda ry'abamwitaho, kandi ntukamuhe imiti ubwawe. Mumufashe kuhagera, ubibwire umuryango, hanyuma umukurikirane nyuma.</a:t>
            </a:r>
            <a:endParaRPr lang="rw-RW" sz="16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ICYICIRO CYA 5</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Isuzuma bumenyi (1 muri 3)</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Umujyanama w'ubuzima | Ikigo cy'Igihugu gishinzwe Ubuzima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Q1. Ni ikihe kimenyetso cyihutirwa cy'akaga mu gihe cyo kuvurwa?</a:t>
            </a:r>
            <a:endParaRPr lang="rw-RW" sz="1700" dirty="0"/>
          </a:p>
        </p:txBody>
      </p:sp>
      <p:sp>
        <p:nvSpPr>
          <p:cNvPr id="6" name="Shape 4"/>
          <p:cNvSpPr/>
          <p:nvPr/>
        </p:nvSpPr>
        <p:spPr>
          <a:xfrm>
            <a:off x="548640" y="1682495"/>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Umunaniro muke</a:t>
            </a:r>
            <a:endParaRPr lang="rw-RW" sz="1800" dirty="0"/>
          </a:p>
        </p:txBody>
      </p:sp>
      <p:sp>
        <p:nvSpPr>
          <p:cNvPr id="8" name="Shape 6"/>
          <p:cNvSpPr/>
          <p:nvPr/>
        </p:nvSpPr>
        <p:spPr>
          <a:xfrm>
            <a:off x="6233008" y="1682495"/>
            <a:ext cx="5410048" cy="420623"/>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9" name="Text 7"/>
          <p:cNvSpPr txBox="1"/>
          <p:nvPr/>
        </p:nvSpPr>
        <p:spPr>
          <a:xfrm>
            <a:off x="6434176" y="1682495"/>
            <a:ext cx="5044288" cy="420623"/>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Ijoro rimwe ryo gusinzira nabi</a:t>
            </a:r>
            <a:endParaRPr lang="rw-RW" sz="1200" dirty="0"/>
          </a:p>
        </p:txBody>
      </p:sp>
      <p:sp>
        <p:nvSpPr>
          <p:cNvPr id="10" name="Shape 8"/>
          <p:cNvSpPr/>
          <p:nvPr/>
        </p:nvSpPr>
        <p:spPr>
          <a:xfrm>
            <a:off x="548640" y="2157984"/>
            <a:ext cx="5410048" cy="694944"/>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11" name="Text 9"/>
          <p:cNvSpPr txBox="1"/>
          <p:nvPr/>
        </p:nvSpPr>
        <p:spPr>
          <a:xfrm>
            <a:off x="749808" y="2157984"/>
            <a:ext cx="5044288" cy="694944"/>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C. Impiswi y'amazi inshuro nyinshi ku munsi kandi ntashobora kugumana amazi mu nda - YEGO ✓</a:t>
            </a:r>
            <a:endParaRPr lang="rw-RW" sz="1800" dirty="0"/>
          </a:p>
        </p:txBody>
      </p:sp>
      <p:sp>
        <p:nvSpPr>
          <p:cNvPr id="12" name="Shape 10"/>
          <p:cNvSpPr/>
          <p:nvPr/>
        </p:nvSpPr>
        <p:spPr>
          <a:xfrm>
            <a:off x="6233008" y="2157984"/>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157984"/>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Gutakaza ubushake bwo kurya byoroheje</a:t>
            </a:r>
            <a:endParaRPr lang="rw-RW" sz="1800" dirty="0"/>
          </a:p>
        </p:txBody>
      </p:sp>
      <p:sp>
        <p:nvSpPr>
          <p:cNvPr id="14" name="Text 12"/>
          <p:cNvSpPr txBox="1"/>
          <p:nvPr/>
        </p:nvSpPr>
        <p:spPr>
          <a:xfrm>
            <a:off x="548640" y="2944368"/>
            <a:ext cx="11094415" cy="310896"/>
          </a:xfrm>
          <a:prstGeom prst="rect">
            <a:avLst/>
          </a:prstGeom>
          <a:noFill/>
          <a:ln/>
        </p:spPr>
        <p:txBody>
          <a:bodyPr wrap="square" lIns="0" tIns="0" rIns="0" bIns="0" rtlCol="0" anchor="t"/>
          <a:lstStyle/>
          <a:p>
            <a:pPr marL="0" indent="0">
              <a:buNone/>
            </a:pPr>
            <a:r>
              <a:rPr lang="rw-RW" sz="1800" b="1" dirty="0">
                <a:solidFill>
                  <a:srgbClr val="1B6B41"/>
                </a:solidFill>
                <a:latin typeface="Calibri" pitchFamily="34" charset="0"/>
                <a:ea typeface="Calibri" pitchFamily="34" charset="-122"/>
                <a:cs typeface="Calibri" pitchFamily="34" charset="-120"/>
              </a:rPr>
              <a:t>Ukuri: C. </a:t>
            </a:r>
            <a:r>
              <a:rPr lang="rw-RW" sz="1800" dirty="0">
                <a:solidFill>
                  <a:srgbClr val="17335F"/>
                </a:solidFill>
                <a:latin typeface="Calibri" pitchFamily="34" charset="0"/>
                <a:ea typeface="Calibri" pitchFamily="34" charset="-122"/>
                <a:cs typeface="Calibri" pitchFamily="34" charset="-120"/>
              </a:rPr>
              <a:t>Ibi bishobora gutuma umuntu atakaza amazi kandi akeneye kwitabwaho byihuse.</a:t>
            </a:r>
            <a:endParaRPr lang="rw-RW" sz="1800" dirty="0"/>
          </a:p>
        </p:txBody>
      </p:sp>
      <p:sp>
        <p:nvSpPr>
          <p:cNvPr id="15" name="Text 13"/>
          <p:cNvSpPr txBox="1"/>
          <p:nvPr/>
        </p:nvSpPr>
        <p:spPr>
          <a:xfrm>
            <a:off x="548640" y="3547872"/>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Q2. Umunaniro no kubura ubushake bwo kurya mu gihe cy'imiti ya kanseri ni:</a:t>
            </a:r>
            <a:endParaRPr lang="rw-RW" sz="1700" dirty="0"/>
          </a:p>
        </p:txBody>
      </p:sp>
      <p:sp>
        <p:nvSpPr>
          <p:cNvPr id="16" name="Shape 14"/>
          <p:cNvSpPr/>
          <p:nvPr/>
        </p:nvSpPr>
        <p:spPr>
          <a:xfrm>
            <a:off x="548640" y="3931920"/>
            <a:ext cx="5410048" cy="694944"/>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17" name="Text 15"/>
          <p:cNvSpPr txBox="1"/>
          <p:nvPr/>
        </p:nvSpPr>
        <p:spPr>
          <a:xfrm>
            <a:off x="749808" y="3931920"/>
            <a:ext cx="5044288" cy="694944"/>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A. Ingaruka zisanzwe zishobora kuganirwaho kuri gahunda ikurikira ✓</a:t>
            </a:r>
            <a:endParaRPr lang="rw-RW" sz="1800" dirty="0"/>
          </a:p>
        </p:txBody>
      </p:sp>
      <p:sp>
        <p:nvSpPr>
          <p:cNvPr id="18" name="Shape 16"/>
          <p:cNvSpPr/>
          <p:nvPr/>
        </p:nvSpPr>
        <p:spPr>
          <a:xfrm>
            <a:off x="6233008" y="3931920"/>
            <a:ext cx="5410048" cy="694944"/>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19" name="Text 17"/>
          <p:cNvSpPr txBox="1"/>
          <p:nvPr/>
        </p:nvSpPr>
        <p:spPr>
          <a:xfrm>
            <a:off x="6434176" y="3931920"/>
            <a:ext cx="5044288" cy="694944"/>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Buri gihe ni ibintu byihutirwa</a:t>
            </a:r>
            <a:endParaRPr lang="rw-RW" sz="1200" dirty="0"/>
          </a:p>
        </p:txBody>
      </p:sp>
      <p:sp>
        <p:nvSpPr>
          <p:cNvPr id="20" name="Shape 18"/>
          <p:cNvSpPr/>
          <p:nvPr/>
        </p:nvSpPr>
        <p:spPr>
          <a:xfrm>
            <a:off x="548640" y="4681728"/>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1" name="Text 19"/>
          <p:cNvSpPr txBox="1"/>
          <p:nvPr/>
        </p:nvSpPr>
        <p:spPr>
          <a:xfrm>
            <a:off x="749808" y="4681728"/>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Impamvu yo guhagarika ubuvuzi</a:t>
            </a:r>
            <a:endParaRPr lang="rw-RW" sz="1800" dirty="0"/>
          </a:p>
        </p:txBody>
      </p:sp>
      <p:sp>
        <p:nvSpPr>
          <p:cNvPr id="22" name="Shape 20"/>
          <p:cNvSpPr/>
          <p:nvPr/>
        </p:nvSpPr>
        <p:spPr>
          <a:xfrm>
            <a:off x="6233008" y="4681728"/>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3" name="Text 21"/>
          <p:cNvSpPr txBox="1"/>
          <p:nvPr/>
        </p:nvSpPr>
        <p:spPr>
          <a:xfrm>
            <a:off x="6434176" y="4681728"/>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Ntibigeze bigaragara</a:t>
            </a:r>
            <a:endParaRPr lang="rw-RW" sz="1800" dirty="0"/>
          </a:p>
        </p:txBody>
      </p:sp>
      <p:sp>
        <p:nvSpPr>
          <p:cNvPr id="24" name="Text 22"/>
          <p:cNvSpPr txBox="1"/>
          <p:nvPr/>
        </p:nvSpPr>
        <p:spPr>
          <a:xfrm>
            <a:off x="548640" y="5193792"/>
            <a:ext cx="11094415" cy="310896"/>
          </a:xfrm>
          <a:prstGeom prst="rect">
            <a:avLst/>
          </a:prstGeom>
          <a:noFill/>
          <a:ln/>
        </p:spPr>
        <p:txBody>
          <a:bodyPr wrap="square" lIns="0" tIns="0" rIns="0" bIns="0" rtlCol="0" anchor="t"/>
          <a:lstStyle/>
          <a:p>
            <a:pPr marL="0" indent="0">
              <a:buNone/>
            </a:pPr>
            <a:r>
              <a:rPr lang="rw-RW" sz="1800" b="1" dirty="0">
                <a:solidFill>
                  <a:srgbClr val="1B6B41"/>
                </a:solidFill>
                <a:latin typeface="Calibri" pitchFamily="34" charset="0"/>
                <a:ea typeface="Calibri" pitchFamily="34" charset="-122"/>
                <a:cs typeface="Calibri" pitchFamily="34" charset="-120"/>
              </a:rPr>
              <a:t>Ukuri: A. </a:t>
            </a:r>
            <a:r>
              <a:rPr lang="rw-RW" sz="1800" b="0" dirty="0">
                <a:solidFill>
                  <a:srgbClr val="17335F"/>
                </a:solidFill>
                <a:latin typeface="Calibri"/>
              </a:rPr>
              <a:t>Ibi ni ibintu bisanzwe. Kubitangaza, kubikurikirana no kubivuga kuri gahunda ikurikira.</a:t>
            </a:r>
            <a:endParaRPr lang="rw-RW" sz="1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IGICE CYA 5</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Isuzuma bumenyi (2 kuri 3)</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Umujyanama w'ubuzima | Ikigo cy'Igihugu gishinzwe Ubuvuzi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Q3. Uruhu rubabaza hafi ya stoma cyangwa umufuka ukomeza gusohoka ugomba kuba:</a:t>
            </a:r>
            <a:endParaRPr lang="rw-RW" sz="1700" dirty="0"/>
          </a:p>
        </p:txBody>
      </p:sp>
      <p:sp>
        <p:nvSpPr>
          <p:cNvPr id="6" name="Shape 4"/>
          <p:cNvSpPr/>
          <p:nvPr/>
        </p:nvSpPr>
        <p:spPr>
          <a:xfrm>
            <a:off x="548640" y="1682495"/>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694944"/>
          </a:xfrm>
          <a:prstGeom prst="rect">
            <a:avLst/>
          </a:prstGeom>
          <a:noFill/>
          <a:ln/>
        </p:spPr>
        <p:txBody>
          <a:bodyPr wrap="square" lIns="0" tIns="0" rIns="0" bIns="0" rtlCol="0" anchor="ctr">
            <a:noAutofit/>
          </a:bodyP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Kwirengagizwa</a:t>
            </a:r>
            <a:endParaRPr lang="rw-RW" sz="1746" dirty="0"/>
          </a:p>
        </p:txBody>
      </p:sp>
      <p:sp>
        <p:nvSpPr>
          <p:cNvPr id="8" name="Shape 6"/>
          <p:cNvSpPr/>
          <p:nvPr/>
        </p:nvSpPr>
        <p:spPr>
          <a:xfrm>
            <a:off x="6233008" y="1682495"/>
            <a:ext cx="5410048" cy="694944"/>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9" name="Text 7"/>
          <p:cNvSpPr txBox="1"/>
          <p:nvPr/>
        </p:nvSpPr>
        <p:spPr>
          <a:xfrm>
            <a:off x="6434176" y="1682495"/>
            <a:ext cx="5044288" cy="694944"/>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Kuvurwa n'imiti gakondo cyangwa imiti yo mu rugo</a:t>
            </a:r>
            <a:endParaRPr lang="rw-RW" sz="1200" dirty="0"/>
          </a:p>
        </p:txBody>
      </p:sp>
      <p:sp>
        <p:nvSpPr>
          <p:cNvPr id="10" name="Shape 8"/>
          <p:cNvSpPr/>
          <p:nvPr/>
        </p:nvSpPr>
        <p:spPr>
          <a:xfrm>
            <a:off x="548640" y="2432304"/>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49808" y="2432304"/>
            <a:ext cx="5044288" cy="694944"/>
          </a:xfrm>
          <a:prstGeom prst="rect">
            <a:avLst/>
          </a:prstGeom>
          <a:noFill/>
          <a:ln/>
        </p:spPr>
        <p:txBody>
          <a:bodyPr wrap="square" lIns="0" tIns="0" rIns="0" bIns="0" rtlCol="0" anchor="ctr">
            <a:noAutofit/>
          </a:bodyP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a:rPr>
              <a:t>Kuganira n'abaturanyi</a:t>
            </a:r>
            <a:endParaRPr lang="rw-RW" sz="1746" dirty="0"/>
          </a:p>
        </p:txBody>
      </p:sp>
      <p:sp>
        <p:nvSpPr>
          <p:cNvPr id="12" name="Shape 10"/>
          <p:cNvSpPr/>
          <p:nvPr/>
        </p:nvSpPr>
        <p:spPr>
          <a:xfrm>
            <a:off x="6233008" y="2432304"/>
            <a:ext cx="5410048" cy="694944"/>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13" name="Text 11"/>
          <p:cNvSpPr txBox="1"/>
          <p:nvPr/>
        </p:nvSpPr>
        <p:spPr>
          <a:xfrm>
            <a:off x="6434176" y="2432304"/>
            <a:ext cx="5044288" cy="694944"/>
          </a:xfrm>
          <a:prstGeom prst="rect">
            <a:avLst/>
          </a:prstGeom>
          <a:noFill/>
          <a:ln/>
        </p:spPr>
        <p:txBody>
          <a:bodyPr wrap="square" lIns="0" tIns="0" rIns="0" bIns="0" rtlCol="0" anchor="ctr">
            <a:noAutofit/>
          </a:bodyPr>
          <a:lstStyle/>
          <a:p>
            <a:pPr marL="0" indent="0">
              <a:buNone/>
            </a:pPr>
            <a:r>
              <a:rPr lang="rw-RW" sz="1800" b="1" dirty="0">
                <a:solidFill>
                  <a:srgbClr val="1B6B41"/>
                </a:solidFill>
                <a:latin typeface="Calibri" pitchFamily="34" charset="0"/>
                <a:ea typeface="Calibri" pitchFamily="34" charset="-122"/>
                <a:cs typeface="Calibri" pitchFamily="34" charset="-120"/>
              </a:rPr>
              <a:t>D. Bimenyeshwe kugira ngo umuntu ajye kwitabwaho ku ivuriro ✓</a:t>
            </a:r>
            <a:endParaRPr lang="rw-RW" sz="1746" dirty="0"/>
          </a:p>
        </p:txBody>
      </p:sp>
      <p:sp>
        <p:nvSpPr>
          <p:cNvPr id="14" name="Text 12"/>
          <p:cNvSpPr txBox="1"/>
          <p:nvPr/>
        </p:nvSpPr>
        <p:spPr>
          <a:xfrm>
            <a:off x="548640" y="3218688"/>
            <a:ext cx="11094415" cy="585216"/>
          </a:xfrm>
          <a:prstGeom prst="rect">
            <a:avLst/>
          </a:prstGeom>
          <a:noFill/>
          <a:ln/>
        </p:spPr>
        <p:txBody>
          <a:bodyPr wrap="square" lIns="0" tIns="0" rIns="0" bIns="0" rtlCol="0" anchor="t">
            <a:normAutofit/>
          </a:bodyPr>
          <a:lstStyle/>
          <a:p>
            <a:pPr marL="0" indent="0">
              <a:buNone/>
            </a:pPr>
            <a:r>
              <a:rPr lang="rw-RW" sz="1800" b="1" dirty="0">
                <a:solidFill>
                  <a:srgbClr val="1B6B41"/>
                </a:solidFill>
                <a:latin typeface="Calibri" pitchFamily="34" charset="0"/>
                <a:ea typeface="Calibri" pitchFamily="34" charset="-122"/>
                <a:cs typeface="Calibri" pitchFamily="34" charset="-120"/>
              </a:rPr>
              <a:t>Ukuri: D. </a:t>
            </a:r>
            <a:r>
              <a:rPr lang="rw-RW" sz="1800" b="0" dirty="0">
                <a:solidFill>
                  <a:srgbClr val="17335F"/>
                </a:solidFill>
                <a:latin typeface="Calibri"/>
              </a:rPr>
              <a:t>Ibibazo by'uruhu no kumeneka kw'igikapu birasanzwe kandi bishobora kuvurwa, ariko bakeneye kwitabwaho neza.</a:t>
            </a:r>
            <a:endParaRPr lang="rw-RW" sz="1150" dirty="0"/>
          </a:p>
        </p:txBody>
      </p:sp>
      <p:sp>
        <p:nvSpPr>
          <p:cNvPr id="15" name="Text 13"/>
          <p:cNvSpPr txBox="1"/>
          <p:nvPr/>
        </p:nvSpPr>
        <p:spPr>
          <a:xfrm>
            <a:off x="548640" y="4096512"/>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Q4. Kwita ku bubabare n'ibindi bimenyetso:</a:t>
            </a:r>
            <a:endParaRPr lang="rw-RW" sz="1700" dirty="0"/>
          </a:p>
        </p:txBody>
      </p:sp>
      <p:sp>
        <p:nvSpPr>
          <p:cNvPr id="16" name="Shape 14"/>
          <p:cNvSpPr/>
          <p:nvPr/>
        </p:nvSpPr>
        <p:spPr>
          <a:xfrm>
            <a:off x="548640" y="4480560"/>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7" name="Text 15"/>
          <p:cNvSpPr txBox="1"/>
          <p:nvPr/>
        </p:nvSpPr>
        <p:spPr>
          <a:xfrm>
            <a:off x="749808" y="4480560"/>
            <a:ext cx="5044288" cy="694944"/>
          </a:xfrm>
          <a:prstGeom prst="rect">
            <a:avLst/>
          </a:prstGeom>
          <a:noFill/>
          <a:ln/>
        </p:spPr>
        <p:txBody>
          <a:bodyPr wrap="square" lIns="0" tIns="0" rIns="0" bIns="0" rtlCol="0" anchor="ctr">
            <a:noAutofit/>
          </a:bodyP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Ni mu minsi ya nyuma y'ubuzima</a:t>
            </a:r>
            <a:endParaRPr lang="rw-RW" sz="1746" dirty="0"/>
          </a:p>
        </p:txBody>
      </p:sp>
      <p:sp>
        <p:nvSpPr>
          <p:cNvPr id="18" name="Shape 16"/>
          <p:cNvSpPr/>
          <p:nvPr/>
        </p:nvSpPr>
        <p:spPr>
          <a:xfrm>
            <a:off x="6233008" y="4480560"/>
            <a:ext cx="5410048" cy="694944"/>
          </a:xfrm>
          <a:prstGeom prst="roundRect">
            <a:avLst>
              <a:gd name="adj" fmla="val 19231"/>
            </a:avLst>
          </a:prstGeom>
          <a:solidFill>
            <a:srgbClr val="E9F5EC"/>
          </a:solidFill>
          <a:ln w="12700">
            <a:solidFill>
              <a:srgbClr val="AFD8BE"/>
            </a:solidFill>
            <a:prstDash val="solid"/>
          </a:ln>
        </p:spPr>
        <p:txBody>
          <a:bodyPr/>
          <a:lstStyle/>
          <a:p>
            <a:endParaRPr lang="rw-RW" dirty="0"/>
          </a:p>
        </p:txBody>
      </p:sp>
      <p:sp>
        <p:nvSpPr>
          <p:cNvPr id="19" name="Text 17"/>
          <p:cNvSpPr txBox="1"/>
          <p:nvPr/>
        </p:nvSpPr>
        <p:spPr>
          <a:xfrm>
            <a:off x="6434176" y="4480560"/>
            <a:ext cx="5044288" cy="694944"/>
          </a:xfrm>
          <a:prstGeom prst="rect">
            <a:avLst/>
          </a:prstGeom>
          <a:noFill/>
          <a:ln/>
        </p:spPr>
        <p:txBody>
          <a:bodyPr wrap="square" lIns="0" tIns="0" rIns="0" bIns="0" rtlCol="0" anchor="ctr">
            <a:normAutofit/>
          </a:bodyPr>
          <a:lstStyle/>
          <a:p>
            <a:pPr marL="0" indent="0">
              <a:buNone/>
            </a:pPr>
            <a:r>
              <a:rPr lang="rw-RW" sz="1800" b="1" dirty="0">
                <a:solidFill>
                  <a:srgbClr val="1B6B41"/>
                </a:solidFill>
                <a:latin typeface="Calibri" pitchFamily="34" charset="0"/>
                <a:ea typeface="Calibri" pitchFamily="34" charset="-122"/>
                <a:cs typeface="Calibri" pitchFamily="34" charset="-120"/>
              </a:rPr>
              <a:t>B. Bishobora gutangwa hamwe no kuvura kanseri ✓</a:t>
            </a:r>
            <a:endParaRPr lang="rw-RW" sz="1200" dirty="0"/>
          </a:p>
        </p:txBody>
      </p:sp>
      <p:sp>
        <p:nvSpPr>
          <p:cNvPr id="20" name="Shape 18"/>
          <p:cNvSpPr/>
          <p:nvPr/>
        </p:nvSpPr>
        <p:spPr>
          <a:xfrm>
            <a:off x="548640" y="5230368"/>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1" name="Text 19"/>
          <p:cNvSpPr txBox="1"/>
          <p:nvPr/>
        </p:nvSpPr>
        <p:spPr>
          <a:xfrm>
            <a:off x="749808" y="5230368"/>
            <a:ext cx="5044288" cy="694944"/>
          </a:xfrm>
          <a:prstGeom prst="rect">
            <a:avLst/>
          </a:prstGeom>
          <a:noFill/>
          <a:ln/>
        </p:spPr>
        <p:txBody>
          <a:bodyPr wrap="square" lIns="0" tIns="0" rIns="0" bIns="0" rtlCol="0" anchor="ctr">
            <a:noAutofit/>
          </a:bodyP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Bisobanura ko kuvura byananiranye</a:t>
            </a:r>
            <a:endParaRPr lang="rw-RW" sz="1746" dirty="0"/>
          </a:p>
        </p:txBody>
      </p:sp>
      <p:sp>
        <p:nvSpPr>
          <p:cNvPr id="22" name="Shape 20"/>
          <p:cNvSpPr/>
          <p:nvPr/>
        </p:nvSpPr>
        <p:spPr>
          <a:xfrm>
            <a:off x="6233008" y="5230368"/>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3" name="Text 21"/>
          <p:cNvSpPr txBox="1"/>
          <p:nvPr/>
        </p:nvSpPr>
        <p:spPr>
          <a:xfrm>
            <a:off x="6434176" y="5230368"/>
            <a:ext cx="5044288" cy="694944"/>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Ntabwo ari igice cyo kwita ku barwaye kanseri</a:t>
            </a:r>
            <a:endParaRPr lang="rw-RW" sz="1200" dirty="0"/>
          </a:p>
        </p:txBody>
      </p:sp>
      <p:sp>
        <p:nvSpPr>
          <p:cNvPr id="24" name="Text 22"/>
          <p:cNvSpPr txBox="1"/>
          <p:nvPr/>
        </p:nvSpPr>
        <p:spPr>
          <a:xfrm>
            <a:off x="548640" y="6016752"/>
            <a:ext cx="11094415" cy="310896"/>
          </a:xfrm>
          <a:prstGeom prst="rect">
            <a:avLst/>
          </a:prstGeom>
          <a:noFill/>
          <a:ln/>
        </p:spPr>
        <p:txBody>
          <a:bodyPr wrap="square" lIns="0" tIns="0" rIns="0" bIns="0" rtlCol="0" anchor="t"/>
          <a:lstStyle/>
          <a:p>
            <a:pPr marL="0" indent="0">
              <a:buNone/>
            </a:pPr>
            <a:r>
              <a:rPr lang="rw-RW" sz="1800" b="1" dirty="0">
                <a:solidFill>
                  <a:srgbClr val="1B6B41"/>
                </a:solidFill>
                <a:latin typeface="Calibri" pitchFamily="34" charset="0"/>
                <a:ea typeface="Calibri" pitchFamily="34" charset="-122"/>
                <a:cs typeface="Calibri" pitchFamily="34" charset="-120"/>
              </a:rPr>
              <a:t>Ukuri: B. </a:t>
            </a:r>
            <a:r>
              <a:rPr lang="rw-RW" sz="1800" dirty="0">
                <a:solidFill>
                  <a:srgbClr val="17335F"/>
                </a:solidFill>
                <a:latin typeface="Calibri" pitchFamily="34" charset="0"/>
                <a:ea typeface="Calibri" pitchFamily="34" charset="-122"/>
                <a:cs typeface="Calibri" pitchFamily="34" charset="-120"/>
              </a:rPr>
              <a:t>Kwita ku ihumure bijyana no kuvurwa kuva hakiri kare.</a:t>
            </a:r>
            <a:endParaRPr lang="rw-RW" sz="1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ISOMO RYA 5</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Isuzuma bumenyi (3 kuri 3)</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Ikibazo cya 5. Igikorwa cyiza cyo guhumuriza umuntu ufite stoma ni:</a:t>
            </a:r>
            <a:endParaRPr lang="rw-RW" sz="1700" dirty="0"/>
          </a:p>
        </p:txBody>
      </p:sp>
      <p:sp>
        <p:nvSpPr>
          <p:cNvPr id="6" name="Shape 4"/>
          <p:cNvSpPr/>
          <p:nvPr/>
        </p:nvSpPr>
        <p:spPr>
          <a:xfrm>
            <a:off x="548640" y="1682495"/>
            <a:ext cx="5410048" cy="694944"/>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694944"/>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A. Gutega amatwi mu mwiherero, gushyigikira ibisanzwe, no kurwanya ipfunwe ✓</a:t>
            </a:r>
            <a:endParaRPr lang="rw-RW" sz="1800" dirty="0"/>
          </a:p>
        </p:txBody>
      </p:sp>
      <p:sp>
        <p:nvSpPr>
          <p:cNvPr id="8" name="Shape 6"/>
          <p:cNvSpPr/>
          <p:nvPr/>
        </p:nvSpPr>
        <p:spPr>
          <a:xfrm>
            <a:off x="6233008" y="1682495"/>
            <a:ext cx="5410048" cy="694944"/>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9" name="Text 7"/>
          <p:cNvSpPr txBox="1"/>
          <p:nvPr/>
        </p:nvSpPr>
        <p:spPr>
          <a:xfrm>
            <a:off x="6434176" y="1682495"/>
            <a:ext cx="5044288" cy="694944"/>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Kuvuga ku mufuka imbere y'abandi</a:t>
            </a:r>
            <a:endParaRPr lang="rw-RW" sz="1200" dirty="0"/>
          </a:p>
        </p:txBody>
      </p:sp>
      <p:sp>
        <p:nvSpPr>
          <p:cNvPr id="10" name="Shape 8"/>
          <p:cNvSpPr/>
          <p:nvPr/>
        </p:nvSpPr>
        <p:spPr>
          <a:xfrm>
            <a:off x="548640" y="2432304"/>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49808" y="243230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Kubwira umuntu kuguma mu rugo</a:t>
            </a:r>
            <a:endParaRPr lang="rw-RW" sz="1800" dirty="0"/>
          </a:p>
        </p:txBody>
      </p:sp>
      <p:sp>
        <p:nvSpPr>
          <p:cNvPr id="12" name="Shape 10"/>
          <p:cNvSpPr/>
          <p:nvPr/>
        </p:nvSpPr>
        <p:spPr>
          <a:xfrm>
            <a:off x="6233008" y="2432304"/>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43230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Kubwira umuryango kubihisha mu ivuriro</a:t>
            </a:r>
            <a:endParaRPr lang="rw-RW" sz="1800" dirty="0"/>
          </a:p>
        </p:txBody>
      </p:sp>
      <p:sp>
        <p:nvSpPr>
          <p:cNvPr id="14" name="Text 12"/>
          <p:cNvSpPr txBox="1"/>
          <p:nvPr/>
        </p:nvSpPr>
        <p:spPr>
          <a:xfrm>
            <a:off x="548640" y="2944368"/>
            <a:ext cx="11094415" cy="585216"/>
          </a:xfrm>
          <a:prstGeom prst="rect">
            <a:avLst/>
          </a:prstGeom>
          <a:noFill/>
          <a:ln/>
        </p:spPr>
        <p:txBody>
          <a:bodyPr wrap="square" lIns="0" tIns="0" rIns="0" bIns="0" rtlCol="0" anchor="t">
            <a:normAutofit/>
          </a:bodyPr>
          <a:lstStyle/>
          <a:p>
            <a:pPr marL="0" indent="0">
              <a:buNone/>
            </a:pPr>
            <a:r>
              <a:rPr lang="rw-RW" sz="1800" b="1" dirty="0">
                <a:solidFill>
                  <a:srgbClr val="1B6B41"/>
                </a:solidFill>
                <a:latin typeface="Calibri" pitchFamily="34" charset="0"/>
                <a:ea typeface="Calibri" pitchFamily="34" charset="-122"/>
                <a:cs typeface="Calibri" pitchFamily="34" charset="-120"/>
              </a:rPr>
              <a:t>Igisubizo nyacyo: A. </a:t>
            </a:r>
            <a:r>
              <a:rPr lang="rw-RW" sz="1800" dirty="0">
                <a:solidFill>
                  <a:srgbClr val="17335F"/>
                </a:solidFill>
                <a:latin typeface="Calibri" pitchFamily="34" charset="0"/>
                <a:ea typeface="Calibri" pitchFamily="34" charset="-122"/>
                <a:cs typeface="Calibri" pitchFamily="34" charset="-120"/>
              </a:rPr>
              <a:t>Kubungabunga ibanga, gutanga ubufasha bufatika, no kurinda umuntu ipfunwe bituma akomeza kuvurwa no kubaho mu muryango.</a:t>
            </a:r>
            <a:endParaRPr lang="rw-RW" sz="11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ISOMO RYA 5</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Gutekereza ku isomo</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Umujyanama w'ubuzima | Ikigo cy'Igihugu gishinzwe Ubuvuzi (Rwanda Biomedical Centre)</a:t>
            </a:r>
            <a:endParaRPr lang="rw-RW" sz="1100" dirty="0"/>
          </a:p>
        </p:txBody>
      </p:sp>
      <p:sp>
        <p:nvSpPr>
          <p:cNvPr id="5" name="Text 3"/>
          <p:cNvSpPr txBox="1"/>
          <p:nvPr/>
        </p:nvSpPr>
        <p:spPr>
          <a:xfrm>
            <a:off x="548640" y="1280160"/>
            <a:ext cx="11094415" cy="457200"/>
          </a:xfrm>
          <a:prstGeom prst="rect">
            <a:avLst/>
          </a:prstGeom>
          <a:noFill/>
          <a:ln/>
        </p:spPr>
        <p:txBody>
          <a:bodyPr wrap="square" lIns="0" tIns="0" rIns="0" bIns="0" rtlCol="0" anchor="ctr">
            <a:normAutofit/>
          </a:bodyPr>
          <a:lstStyle/>
          <a:p>
            <a:pPr marL="0" indent="0">
              <a:buNone/>
            </a:pPr>
            <a:r>
              <a:rPr lang="rw-RW" sz="1150" i="1" dirty="0">
                <a:solidFill>
                  <a:srgbClr val="6B7A90"/>
                </a:solidFill>
                <a:latin typeface="Calibri" pitchFamily="34" charset="0"/>
                <a:ea typeface="Calibri" pitchFamily="34" charset="-122"/>
                <a:cs typeface="Calibri" pitchFamily="34" charset="-120"/>
              </a:rPr>
              <a:t>Andika igisubizo cyawe mu gasanduku k'inyandiko. Nta gisubizo kimwe cyonyine cy'ukuri. Ibi bibazo ni ukugira ngo wimenyereze wowe ubwawe kandi mubiganireho. Ntibihabwa amanota.</a:t>
            </a:r>
            <a:endParaRPr lang="rw-RW" sz="1150" dirty="0"/>
          </a:p>
        </p:txBody>
      </p:sp>
      <p:sp>
        <p:nvSpPr>
          <p:cNvPr id="6" name="Shape 4"/>
          <p:cNvSpPr/>
          <p:nvPr/>
        </p:nvSpPr>
        <p:spPr>
          <a:xfrm>
            <a:off x="548640" y="1920240"/>
            <a:ext cx="11094415" cy="1051560"/>
          </a:xfrm>
          <a:prstGeom prst="roundRect">
            <a:avLst>
              <a:gd name="adj" fmla="val 8696"/>
            </a:avLst>
          </a:prstGeom>
          <a:solidFill>
            <a:srgbClr val="F2F7FD"/>
          </a:solidFill>
          <a:ln w="12700">
            <a:solidFill>
              <a:srgbClr val="CBDDF3"/>
            </a:solidFill>
            <a:prstDash val="solid"/>
          </a:ln>
        </p:spPr>
        <p:txBody>
          <a:bodyPr/>
          <a:lstStyle/>
          <a:p>
            <a:endParaRPr lang="rw-RW" dirty="0"/>
          </a:p>
        </p:txBody>
      </p:sp>
      <p:sp>
        <p:nvSpPr>
          <p:cNvPr id="7" name="Shape 5"/>
          <p:cNvSpPr/>
          <p:nvPr/>
        </p:nvSpPr>
        <p:spPr>
          <a:xfrm>
            <a:off x="777240" y="2221992"/>
            <a:ext cx="438912" cy="438912"/>
          </a:xfrm>
          <a:prstGeom prst="ellipse">
            <a:avLst/>
          </a:prstGeom>
          <a:solidFill>
            <a:srgbClr val="12305B"/>
          </a:solidFill>
          <a:ln/>
        </p:spPr>
        <p:txBody>
          <a:bodyPr/>
          <a:lstStyle/>
          <a:p>
            <a:endParaRPr lang="rw-RW" dirty="0"/>
          </a:p>
        </p:txBody>
      </p:sp>
      <p:sp>
        <p:nvSpPr>
          <p:cNvPr id="8" name="Text 6"/>
          <p:cNvSpPr txBox="1"/>
          <p:nvPr/>
        </p:nvSpPr>
        <p:spPr>
          <a:xfrm>
            <a:off x="777240" y="2221992"/>
            <a:ext cx="438912" cy="438912"/>
          </a:xfrm>
          <a:prstGeom prst="rect">
            <a:avLst/>
          </a:prstGeom>
          <a:noFill/>
          <a:ln/>
        </p:spPr>
        <p:txBody>
          <a:bodyPr wrap="square" lIns="0" tIns="0" rIns="0" bIns="0" rtlCol="0" anchor="ctr"/>
          <a:lstStyle/>
          <a:p>
            <a:pPr marL="0" indent="0" algn="ctr">
              <a:buNone/>
            </a:pPr>
            <a:r>
              <a:rPr lang="rw-RW" sz="1700" b="1" dirty="0">
                <a:solidFill>
                  <a:srgbClr val="FFFFFF"/>
                </a:solidFill>
                <a:latin typeface="Calibri" pitchFamily="34" charset="0"/>
                <a:ea typeface="Calibri" pitchFamily="34" charset="-122"/>
                <a:cs typeface="Calibri" pitchFamily="34" charset="-120"/>
              </a:rPr>
              <a:t>1</a:t>
            </a:r>
            <a:endParaRPr lang="rw-RW" sz="1700" dirty="0"/>
          </a:p>
        </p:txBody>
      </p:sp>
      <p:sp>
        <p:nvSpPr>
          <p:cNvPr id="9" name="Text 7"/>
          <p:cNvSpPr txBox="1"/>
          <p:nvPr/>
        </p:nvSpPr>
        <p:spPr>
          <a:xfrm>
            <a:off x="1417320" y="2057400"/>
            <a:ext cx="9905695" cy="777240"/>
          </a:xfrm>
          <a:prstGeom prst="rect">
            <a:avLst/>
          </a:prstGeom>
          <a:noFill/>
          <a:ln/>
        </p:spPr>
        <p:txBody>
          <a:bodyPr wrap="square" lIns="0" tIns="0" rIns="0" bIns="0" rtlCol="0" anchor="ctr"/>
          <a:lstStyle/>
          <a:p>
            <a:pPr marL="0" indent="0">
              <a:lnSpc>
                <a:spcPct val="105000"/>
              </a:lnSpc>
              <a:buNone/>
            </a:pPr>
            <a:r>
              <a:rPr lang="rw-RW" sz="1900" dirty="0">
                <a:solidFill>
                  <a:srgbClr val="17335F"/>
                </a:solidFill>
                <a:latin typeface="Calibri" pitchFamily="34" charset="0"/>
                <a:ea typeface="Calibri" pitchFamily="34" charset="-122"/>
                <a:cs typeface="Calibri" pitchFamily="34" charset="-120"/>
              </a:rPr>
              <a:t>Ni gute wafasha umuntu kwibuka ibibazo agomba kumenyesha byihutirwa?</a:t>
            </a:r>
            <a:endParaRPr lang="rw-RW" sz="1900" dirty="0"/>
          </a:p>
        </p:txBody>
      </p:sp>
      <p:sp>
        <p:nvSpPr>
          <p:cNvPr id="10" name="Shape 8"/>
          <p:cNvSpPr/>
          <p:nvPr/>
        </p:nvSpPr>
        <p:spPr>
          <a:xfrm>
            <a:off x="548640" y="3154680"/>
            <a:ext cx="11094415" cy="1051560"/>
          </a:xfrm>
          <a:prstGeom prst="roundRect">
            <a:avLst>
              <a:gd name="adj" fmla="val 8696"/>
            </a:avLst>
          </a:prstGeom>
          <a:solidFill>
            <a:srgbClr val="F2F7FD"/>
          </a:solidFill>
          <a:ln w="12700">
            <a:solidFill>
              <a:srgbClr val="CBDDF3"/>
            </a:solidFill>
            <a:prstDash val="solid"/>
          </a:ln>
        </p:spPr>
        <p:txBody>
          <a:bodyPr/>
          <a:lstStyle/>
          <a:p>
            <a:endParaRPr lang="rw-RW" dirty="0"/>
          </a:p>
        </p:txBody>
      </p:sp>
      <p:sp>
        <p:nvSpPr>
          <p:cNvPr id="11" name="Shape 9"/>
          <p:cNvSpPr/>
          <p:nvPr/>
        </p:nvSpPr>
        <p:spPr>
          <a:xfrm>
            <a:off x="777240" y="3456432"/>
            <a:ext cx="438912" cy="438912"/>
          </a:xfrm>
          <a:prstGeom prst="ellipse">
            <a:avLst/>
          </a:prstGeom>
          <a:solidFill>
            <a:srgbClr val="12305B"/>
          </a:solidFill>
          <a:ln/>
        </p:spPr>
        <p:txBody>
          <a:bodyPr/>
          <a:lstStyle/>
          <a:p>
            <a:endParaRPr lang="rw-RW" dirty="0"/>
          </a:p>
        </p:txBody>
      </p:sp>
      <p:sp>
        <p:nvSpPr>
          <p:cNvPr id="12" name="Text 10"/>
          <p:cNvSpPr txBox="1"/>
          <p:nvPr/>
        </p:nvSpPr>
        <p:spPr>
          <a:xfrm>
            <a:off x="777240" y="3456432"/>
            <a:ext cx="438912" cy="438912"/>
          </a:xfrm>
          <a:prstGeom prst="rect">
            <a:avLst/>
          </a:prstGeom>
          <a:noFill/>
          <a:ln/>
        </p:spPr>
        <p:txBody>
          <a:bodyPr wrap="square" lIns="0" tIns="0" rIns="0" bIns="0" rtlCol="0" anchor="ctr"/>
          <a:lstStyle/>
          <a:p>
            <a:pPr marL="0" indent="0" algn="ctr">
              <a:buNone/>
            </a:pPr>
            <a:r>
              <a:rPr lang="rw-RW" sz="1700" b="1" dirty="0">
                <a:solidFill>
                  <a:srgbClr val="FFFFFF"/>
                </a:solidFill>
                <a:latin typeface="Calibri" pitchFamily="34" charset="0"/>
                <a:ea typeface="Calibri" pitchFamily="34" charset="-122"/>
                <a:cs typeface="Calibri" pitchFamily="34" charset="-120"/>
              </a:rPr>
              <a:t>2</a:t>
            </a:r>
            <a:endParaRPr lang="rw-RW" sz="1700" dirty="0"/>
          </a:p>
        </p:txBody>
      </p:sp>
      <p:sp>
        <p:nvSpPr>
          <p:cNvPr id="13" name="Text 11"/>
          <p:cNvSpPr txBox="1"/>
          <p:nvPr/>
        </p:nvSpPr>
        <p:spPr>
          <a:xfrm>
            <a:off x="1417320" y="3291840"/>
            <a:ext cx="9905695" cy="777240"/>
          </a:xfrm>
          <a:prstGeom prst="rect">
            <a:avLst/>
          </a:prstGeom>
          <a:noFill/>
          <a:ln/>
        </p:spPr>
        <p:txBody>
          <a:bodyPr wrap="square" lIns="0" tIns="0" rIns="0" bIns="0" rtlCol="0" anchor="ctr"/>
          <a:lstStyle/>
          <a:p>
            <a:pPr marL="0" indent="0">
              <a:lnSpc>
                <a:spcPct val="105000"/>
              </a:lnSpc>
              <a:buNone/>
            </a:pPr>
            <a:r>
              <a:rPr lang="rw-RW" sz="1900" dirty="0">
                <a:solidFill>
                  <a:srgbClr val="17335F"/>
                </a:solidFill>
                <a:latin typeface="Calibri" pitchFamily="34" charset="0"/>
                <a:ea typeface="Calibri" pitchFamily="34" charset="-122"/>
                <a:cs typeface="Calibri" pitchFamily="34" charset="-120"/>
              </a:rPr>
              <a:t>Ni gute wavuga ku bibazo by'amara cyangwa by'umwenge wakozwe mu nda (stoma) mu buryo bw'ikinyabupfura kandi bwitondera ibanga ry'umuntu?</a:t>
            </a:r>
            <a:endParaRPr lang="rw-RW" sz="1900" dirty="0"/>
          </a:p>
        </p:txBody>
      </p:sp>
      <p:sp>
        <p:nvSpPr>
          <p:cNvPr id="14" name="Shape 12"/>
          <p:cNvSpPr/>
          <p:nvPr/>
        </p:nvSpPr>
        <p:spPr>
          <a:xfrm>
            <a:off x="548640" y="4389120"/>
            <a:ext cx="11094415" cy="1051560"/>
          </a:xfrm>
          <a:prstGeom prst="roundRect">
            <a:avLst>
              <a:gd name="adj" fmla="val 8696"/>
            </a:avLst>
          </a:prstGeom>
          <a:solidFill>
            <a:srgbClr val="F2F7FD"/>
          </a:solidFill>
          <a:ln w="12700">
            <a:solidFill>
              <a:srgbClr val="CBDDF3"/>
            </a:solidFill>
            <a:prstDash val="solid"/>
          </a:ln>
        </p:spPr>
        <p:txBody>
          <a:bodyPr/>
          <a:lstStyle/>
          <a:p>
            <a:endParaRPr lang="rw-RW" dirty="0"/>
          </a:p>
        </p:txBody>
      </p:sp>
      <p:sp>
        <p:nvSpPr>
          <p:cNvPr id="15" name="Shape 13"/>
          <p:cNvSpPr/>
          <p:nvPr/>
        </p:nvSpPr>
        <p:spPr>
          <a:xfrm>
            <a:off x="777240" y="4690872"/>
            <a:ext cx="438912" cy="438912"/>
          </a:xfrm>
          <a:prstGeom prst="ellipse">
            <a:avLst/>
          </a:prstGeom>
          <a:solidFill>
            <a:srgbClr val="12305B"/>
          </a:solidFill>
          <a:ln/>
        </p:spPr>
        <p:txBody>
          <a:bodyPr/>
          <a:lstStyle/>
          <a:p>
            <a:endParaRPr lang="rw-RW" dirty="0"/>
          </a:p>
        </p:txBody>
      </p:sp>
      <p:sp>
        <p:nvSpPr>
          <p:cNvPr id="16" name="Text 14"/>
          <p:cNvSpPr txBox="1"/>
          <p:nvPr/>
        </p:nvSpPr>
        <p:spPr>
          <a:xfrm>
            <a:off x="777240" y="4690872"/>
            <a:ext cx="438912" cy="438912"/>
          </a:xfrm>
          <a:prstGeom prst="rect">
            <a:avLst/>
          </a:prstGeom>
          <a:noFill/>
          <a:ln/>
        </p:spPr>
        <p:txBody>
          <a:bodyPr wrap="square" lIns="0" tIns="0" rIns="0" bIns="0" rtlCol="0" anchor="ctr"/>
          <a:lstStyle/>
          <a:p>
            <a:pPr marL="0" indent="0" algn="ctr">
              <a:buNone/>
            </a:pPr>
            <a:r>
              <a:rPr lang="rw-RW" sz="1700" b="1" dirty="0">
                <a:solidFill>
                  <a:srgbClr val="FFFFFF"/>
                </a:solidFill>
                <a:latin typeface="Calibri" pitchFamily="34" charset="0"/>
                <a:ea typeface="Calibri" pitchFamily="34" charset="-122"/>
                <a:cs typeface="Calibri" pitchFamily="34" charset="-120"/>
              </a:rPr>
              <a:t>3</a:t>
            </a:r>
            <a:endParaRPr lang="rw-RW" sz="1700" dirty="0"/>
          </a:p>
        </p:txBody>
      </p:sp>
      <p:sp>
        <p:nvSpPr>
          <p:cNvPr id="17" name="Text 15"/>
          <p:cNvSpPr txBox="1"/>
          <p:nvPr/>
        </p:nvSpPr>
        <p:spPr>
          <a:xfrm>
            <a:off x="1417320" y="4526280"/>
            <a:ext cx="9905695" cy="777240"/>
          </a:xfrm>
          <a:prstGeom prst="rect">
            <a:avLst/>
          </a:prstGeom>
          <a:noFill/>
          <a:ln/>
        </p:spPr>
        <p:txBody>
          <a:bodyPr wrap="square" lIns="0" tIns="0" rIns="0" bIns="0" rtlCol="0" anchor="ctr"/>
          <a:lstStyle/>
          <a:p>
            <a:pPr marL="0" indent="0">
              <a:lnSpc>
                <a:spcPct val="105000"/>
              </a:lnSpc>
              <a:buNone/>
            </a:pPr>
            <a:r>
              <a:rPr lang="rw-RW" sz="1900" dirty="0">
                <a:solidFill>
                  <a:srgbClr val="17335F"/>
                </a:solidFill>
                <a:latin typeface="Calibri" pitchFamily="34" charset="0"/>
                <a:ea typeface="Calibri" pitchFamily="34" charset="-122"/>
                <a:cs typeface="Calibri" pitchFamily="34" charset="-120"/>
              </a:rPr>
              <a:t>Ni ubuhe bufasha mu gace kawe gushobora gufasha umuntu gukomeza gusubira kuri gahunda zo kwa muganga?</a:t>
            </a:r>
            <a:endParaRPr lang="rw-RW" sz="1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12305B"/>
        </a:solidFill>
        <a:effectLst/>
      </p:bgPr>
    </p:bg>
    <p:spTree>
      <p:nvGrpSpPr>
        <p:cNvPr id="1" name=""/>
        <p:cNvGrpSpPr/>
        <p:nvPr/>
      </p:nvGrpSpPr>
      <p:grpSpPr>
        <a:xfrm>
          <a:off x="0" y="0"/>
          <a:ext cx="0" cy="0"/>
          <a:chOff x="0" y="0"/>
          <a:chExt cx="0" cy="0"/>
        </a:xfrm>
      </p:grpSpPr>
      <p:sp>
        <p:nvSpPr>
          <p:cNvPr id="2" name="Text 0"/>
          <p:cNvSpPr txBox="1"/>
          <p:nvPr/>
        </p:nvSpPr>
        <p:spPr>
          <a:xfrm>
            <a:off x="548640" y="2468880"/>
            <a:ext cx="9144000" cy="320040"/>
          </a:xfrm>
          <a:prstGeom prst="rect">
            <a:avLst/>
          </a:prstGeom>
          <a:noFill/>
          <a:ln/>
        </p:spPr>
        <p:txBody>
          <a:bodyPr wrap="square" lIns="0" tIns="0" rIns="0" bIns="0" rtlCol="0" anchor="ctr"/>
          <a:lstStyle/>
          <a:p>
            <a:pPr marL="0" indent="0">
              <a:buNone/>
            </a:pPr>
            <a:r>
              <a:rPr lang="rw-RW" sz="1300" b="1" kern="0" spc="300" dirty="0">
                <a:solidFill>
                  <a:srgbClr val="A9C4E8"/>
                </a:solidFill>
                <a:latin typeface="Calibri" pitchFamily="34" charset="0"/>
                <a:ea typeface="Calibri" pitchFamily="34" charset="-122"/>
                <a:cs typeface="Calibri" pitchFamily="34" charset="-120"/>
              </a:rPr>
              <a:t>IGENZURA RYA NYUMA</a:t>
            </a:r>
            <a:endParaRPr lang="rw-RW" sz="1300" dirty="0"/>
          </a:p>
        </p:txBody>
      </p:sp>
      <p:sp>
        <p:nvSpPr>
          <p:cNvPr id="3" name="Text 1"/>
          <p:cNvSpPr txBox="1"/>
          <p:nvPr/>
        </p:nvSpPr>
        <p:spPr>
          <a:xfrm>
            <a:off x="548640" y="2788920"/>
            <a:ext cx="9144000" cy="868680"/>
          </a:xfrm>
          <a:prstGeom prst="rect">
            <a:avLst/>
          </a:prstGeom>
          <a:noFill/>
          <a:ln/>
        </p:spPr>
        <p:txBody>
          <a:bodyPr wrap="square" lIns="0" tIns="0" rIns="0" bIns="0" rtlCol="0" anchor="ctr"/>
          <a:lstStyle/>
          <a:p>
            <a:pPr marL="0" indent="0">
              <a:buNone/>
            </a:pPr>
            <a:r>
              <a:rPr lang="rw-RW" sz="4600" b="1" dirty="0">
                <a:solidFill>
                  <a:srgbClr val="FFFFFF"/>
                </a:solidFill>
                <a:latin typeface="Cambria" pitchFamily="34" charset="0"/>
                <a:ea typeface="Cambria" pitchFamily="34" charset="-122"/>
                <a:cs typeface="Cambria" pitchFamily="34" charset="-120"/>
              </a:rPr>
              <a:t>Ikizamini cya nyuma</a:t>
            </a:r>
            <a:endParaRPr lang="rw-RW" sz="4600" dirty="0"/>
          </a:p>
        </p:txBody>
      </p:sp>
      <p:sp>
        <p:nvSpPr>
          <p:cNvPr id="4" name="Text 2"/>
          <p:cNvSpPr txBox="1"/>
          <p:nvPr/>
        </p:nvSpPr>
        <p:spPr>
          <a:xfrm>
            <a:off x="548640" y="3749040"/>
            <a:ext cx="9326880" cy="822960"/>
          </a:xfrm>
          <a:prstGeom prst="rect">
            <a:avLst/>
          </a:prstGeom>
          <a:noFill/>
          <a:ln/>
        </p:spPr>
        <p:txBody>
          <a:bodyPr wrap="square" lIns="0" tIns="0" rIns="0" bIns="0" rtlCol="0" anchor="ctr"/>
          <a:lstStyle/>
          <a:p>
            <a:pPr marL="0" indent="0">
              <a:buNone/>
            </a:pPr>
            <a:r>
              <a:rPr lang="rw-RW" sz="1900" dirty="0">
                <a:solidFill>
                  <a:srgbClr val="D6E4F5"/>
                </a:solidFill>
                <a:latin typeface="Calibri" pitchFamily="34" charset="0"/>
                <a:ea typeface="Calibri" pitchFamily="34" charset="-122"/>
                <a:cs typeface="Calibri" pitchFamily="34" charset="-120"/>
              </a:rPr>
              <a:t>Ibibazo makumyabiri bireba isomo ryose. Buri kibazo giherekejwe n'igisubizo cy'ukuri hamwe n'ibisobanuro bigufi.</a:t>
            </a:r>
            <a:endParaRPr lang="rw-RW" sz="1900" dirty="0"/>
          </a:p>
        </p:txBody>
      </p:sp>
      <p:sp>
        <p:nvSpPr>
          <p:cNvPr id="5" name="Text 3"/>
          <p:cNvSpPr txBox="1"/>
          <p:nvPr/>
        </p:nvSpPr>
        <p:spPr>
          <a:xfrm>
            <a:off x="548640" y="6263640"/>
            <a:ext cx="7315200" cy="274320"/>
          </a:xfrm>
          <a:prstGeom prst="rect">
            <a:avLst/>
          </a:prstGeom>
          <a:noFill/>
          <a:ln/>
        </p:spPr>
        <p:txBody>
          <a:bodyPr wrap="square" lIns="0" tIns="0" rIns="0" bIns="0" rtlCol="0" anchor="ctr">
            <a:normAutofit/>
          </a:bodyPr>
          <a:lstStyle/>
          <a:p>
            <a:pPr marL="0" indent="0">
              <a:buNone/>
            </a:pPr>
            <a:r>
              <a:rPr lang="rw-RW" sz="1100" dirty="0">
                <a:solidFill>
                  <a:srgbClr val="8FAFD6"/>
                </a:solidFill>
                <a:latin typeface="Calibri" pitchFamily="34" charset="0"/>
                <a:ea typeface="Calibri" pitchFamily="34" charset="-122"/>
                <a:cs typeface="Calibri" pitchFamily="34" charset="-120"/>
              </a:rPr>
              <a:t>Rwanda Biomedical Centre | CHW</a:t>
            </a:r>
            <a:endParaRPr lang="rw-RW"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IGENZURA RYA NYUMA</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Ikizamini gisoza (1 muri 10)</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Umujyanama w'ubuzima | Ikigo cy'Igihugu cy'Ubuzima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Q1. Kanseri y'amara isobanura kanseri y'amara manini n'umuyoboro w'ibyavuye mu mubiri (rectum):</a:t>
            </a:r>
            <a:endParaRPr lang="rw-RW" sz="1150" dirty="0"/>
          </a:p>
        </p:txBody>
      </p:sp>
      <p:sp>
        <p:nvSpPr>
          <p:cNvPr id="6" name="Shape 4"/>
          <p:cNvSpPr/>
          <p:nvPr/>
        </p:nvSpPr>
        <p:spPr>
          <a:xfrm>
            <a:off x="548640" y="1682495"/>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Igifu n'umwijima</a:t>
            </a:r>
            <a:endParaRPr lang="rw-RW" sz="1800" dirty="0"/>
          </a:p>
        </p:txBody>
      </p:sp>
      <p:sp>
        <p:nvSpPr>
          <p:cNvPr id="8" name="Shape 6"/>
          <p:cNvSpPr/>
          <p:nvPr/>
        </p:nvSpPr>
        <p:spPr>
          <a:xfrm>
            <a:off x="6233008" y="1682495"/>
            <a:ext cx="5410048" cy="420623"/>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9" name="Text 7"/>
          <p:cNvSpPr txBox="1"/>
          <p:nvPr/>
        </p:nvSpPr>
        <p:spPr>
          <a:xfrm>
            <a:off x="6434176" y="1682495"/>
            <a:ext cx="5044288" cy="420623"/>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Impyiko</a:t>
            </a:r>
            <a:endParaRPr lang="rw-RW" sz="1200" dirty="0"/>
          </a:p>
        </p:txBody>
      </p:sp>
      <p:sp>
        <p:nvSpPr>
          <p:cNvPr id="10" name="Shape 8"/>
          <p:cNvSpPr/>
          <p:nvPr/>
        </p:nvSpPr>
        <p:spPr>
          <a:xfrm>
            <a:off x="548640" y="2157984"/>
            <a:ext cx="5410048" cy="694944"/>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11" name="Text 9"/>
          <p:cNvSpPr txBox="1"/>
          <p:nvPr/>
        </p:nvSpPr>
        <p:spPr>
          <a:xfrm>
            <a:off x="749808" y="2157984"/>
            <a:ext cx="5044288" cy="694944"/>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C. Amara manini n'umuyoboro w'ibyavuye mu mubiri (rectum) ✓</a:t>
            </a:r>
            <a:endParaRPr lang="rw-RW" sz="1800" dirty="0"/>
          </a:p>
        </p:txBody>
      </p:sp>
      <p:sp>
        <p:nvSpPr>
          <p:cNvPr id="12" name="Shape 10"/>
          <p:cNvSpPr/>
          <p:nvPr/>
        </p:nvSpPr>
        <p:spPr>
          <a:xfrm>
            <a:off x="6233008" y="2157984"/>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157984"/>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Ibihaha</a:t>
            </a:r>
            <a:endParaRPr lang="rw-RW" sz="1800" dirty="0"/>
          </a:p>
        </p:txBody>
      </p:sp>
      <p:sp>
        <p:nvSpPr>
          <p:cNvPr id="14" name="Text 12"/>
          <p:cNvSpPr txBox="1"/>
          <p:nvPr/>
        </p:nvSpPr>
        <p:spPr>
          <a:xfrm>
            <a:off x="548640" y="2944368"/>
            <a:ext cx="11094415" cy="585216"/>
          </a:xfrm>
          <a:prstGeom prst="rect">
            <a:avLst/>
          </a:prstGeom>
          <a:noFill/>
          <a:ln/>
        </p:spPr>
        <p:txBody>
          <a:bodyPr wrap="square" lIns="0" tIns="0" rIns="0" bIns="0" rtlCol="0" anchor="t">
            <a:normAutofit/>
          </a:bodyPr>
          <a:lstStyle/>
          <a:p>
            <a:pPr marL="0" indent="0">
              <a:buNone/>
            </a:pPr>
            <a:r>
              <a:rPr lang="rw-RW" sz="1800" b="1" dirty="0">
                <a:solidFill>
                  <a:srgbClr val="1B6B41"/>
                </a:solidFill>
                <a:latin typeface="Calibri" pitchFamily="34" charset="0"/>
                <a:ea typeface="Calibri" pitchFamily="34" charset="-122"/>
                <a:cs typeface="Calibri" pitchFamily="34" charset="-120"/>
              </a:rPr>
              <a:t>Igisubizo nyacyo: C. </a:t>
            </a:r>
            <a:r>
              <a:rPr lang="rw-RW" sz="1800" dirty="0">
                <a:solidFill>
                  <a:srgbClr val="17335F"/>
                </a:solidFill>
                <a:latin typeface="Calibri" pitchFamily="34" charset="0"/>
                <a:ea typeface="Calibri" pitchFamily="34" charset="-122"/>
                <a:cs typeface="Calibri" pitchFamily="34" charset="-120"/>
              </a:rPr>
              <a:t>Amara manini n'umuyoboro w'ibyavuye mu mubiri (rectum) ni ibice bya nyuma by'amara.</a:t>
            </a:r>
            <a:endParaRPr lang="rw-RW" sz="1150" dirty="0"/>
          </a:p>
        </p:txBody>
      </p:sp>
      <p:sp>
        <p:nvSpPr>
          <p:cNvPr id="15" name="Text 13"/>
          <p:cNvSpPr txBox="1"/>
          <p:nvPr/>
        </p:nvSpPr>
        <p:spPr>
          <a:xfrm>
            <a:off x="548640" y="3822191"/>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Q2. Kanseri y'amara hakiri kare:</a:t>
            </a:r>
            <a:endParaRPr lang="rw-RW" sz="1700" dirty="0"/>
          </a:p>
        </p:txBody>
      </p:sp>
      <p:sp>
        <p:nvSpPr>
          <p:cNvPr id="16" name="Shape 14"/>
          <p:cNvSpPr/>
          <p:nvPr/>
        </p:nvSpPr>
        <p:spPr>
          <a:xfrm>
            <a:off x="548640" y="4206240"/>
            <a:ext cx="5410048" cy="420623"/>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17" name="Text 15"/>
          <p:cNvSpPr txBox="1"/>
          <p:nvPr/>
        </p:nvSpPr>
        <p:spPr>
          <a:xfrm>
            <a:off x="749808" y="4206240"/>
            <a:ext cx="5044288" cy="420623"/>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A. Akenshi ntibitera ikimenyetso na kimwe ✓</a:t>
            </a:r>
            <a:endParaRPr lang="rw-RW" sz="1800" dirty="0"/>
          </a:p>
        </p:txBody>
      </p:sp>
      <p:sp>
        <p:nvSpPr>
          <p:cNvPr id="18" name="Shape 16"/>
          <p:cNvSpPr/>
          <p:nvPr/>
        </p:nvSpPr>
        <p:spPr>
          <a:xfrm>
            <a:off x="6233008" y="4206240"/>
            <a:ext cx="5410048" cy="420623"/>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19" name="Text 17"/>
          <p:cNvSpPr txBox="1"/>
          <p:nvPr/>
        </p:nvSpPr>
        <p:spPr>
          <a:xfrm>
            <a:off x="6434176" y="4206240"/>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Buri gihe bitera ububabare bukabije</a:t>
            </a:r>
            <a:endParaRPr lang="rw-RW" sz="1800" dirty="0"/>
          </a:p>
        </p:txBody>
      </p:sp>
      <p:sp>
        <p:nvSpPr>
          <p:cNvPr id="20" name="Shape 18"/>
          <p:cNvSpPr/>
          <p:nvPr/>
        </p:nvSpPr>
        <p:spPr>
          <a:xfrm>
            <a:off x="548640" y="4681727"/>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1" name="Text 19"/>
          <p:cNvSpPr txBox="1"/>
          <p:nvPr/>
        </p:nvSpPr>
        <p:spPr>
          <a:xfrm>
            <a:off x="749808" y="4681727"/>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Buri gihe bitera umuriro</a:t>
            </a:r>
            <a:endParaRPr lang="rw-RW" sz="1800" dirty="0"/>
          </a:p>
        </p:txBody>
      </p:sp>
      <p:sp>
        <p:nvSpPr>
          <p:cNvPr id="22" name="Shape 20"/>
          <p:cNvSpPr/>
          <p:nvPr/>
        </p:nvSpPr>
        <p:spPr>
          <a:xfrm>
            <a:off x="6233008" y="4681727"/>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3" name="Text 21"/>
          <p:cNvSpPr txBox="1"/>
          <p:nvPr/>
        </p:nvSpPr>
        <p:spPr>
          <a:xfrm>
            <a:off x="6434176" y="4681727"/>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Buri gihe igaragara hanze</a:t>
            </a:r>
            <a:endParaRPr lang="rw-RW" sz="1800" dirty="0"/>
          </a:p>
        </p:txBody>
      </p:sp>
      <p:sp>
        <p:nvSpPr>
          <p:cNvPr id="24" name="Text 22"/>
          <p:cNvSpPr txBox="1"/>
          <p:nvPr/>
        </p:nvSpPr>
        <p:spPr>
          <a:xfrm>
            <a:off x="548640" y="5193791"/>
            <a:ext cx="11094415" cy="310896"/>
          </a:xfrm>
          <a:prstGeom prst="rect">
            <a:avLst/>
          </a:prstGeom>
          <a:noFill/>
          <a:ln/>
        </p:spPr>
        <p:txBody>
          <a:bodyPr wrap="square" lIns="0" tIns="0" rIns="0" bIns="0" rtlCol="0" anchor="t"/>
          <a:lstStyle/>
          <a:p>
            <a:pPr marL="0" indent="0">
              <a:buNone/>
            </a:pPr>
            <a:r>
              <a:rPr lang="rw-RW" sz="1800" b="1" dirty="0">
                <a:solidFill>
                  <a:srgbClr val="1B6B41"/>
                </a:solidFill>
                <a:latin typeface="Calibri" pitchFamily="34" charset="0"/>
                <a:ea typeface="Calibri" pitchFamily="34" charset="-122"/>
                <a:cs typeface="Calibri" pitchFamily="34" charset="-120"/>
              </a:rPr>
              <a:t>Ukuri: A. </a:t>
            </a:r>
            <a:r>
              <a:rPr lang="rw-RW" sz="1800" dirty="0">
                <a:solidFill>
                  <a:srgbClr val="17335F"/>
                </a:solidFill>
                <a:latin typeface="Calibri" pitchFamily="34" charset="0"/>
                <a:ea typeface="Calibri" pitchFamily="34" charset="-122"/>
                <a:cs typeface="Calibri" pitchFamily="34" charset="-120"/>
              </a:rPr>
              <a:t>Umuntu ashobora kumva ameze neza kandi agakomeza kurwara kanseri hakiri kare.</a:t>
            </a:r>
            <a:endParaRPr lang="rw-RW" sz="1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IGENZURA RYA NYUMA</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Ikizamini gisoza (2 kuri 10)</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Q3. Uturegeya duto twinshi tuboneka mu mara:</a:t>
            </a:r>
            <a:endParaRPr lang="rw-RW" sz="1700" dirty="0"/>
          </a:p>
        </p:txBody>
      </p:sp>
      <p:sp>
        <p:nvSpPr>
          <p:cNvPr id="6" name="Shape 4"/>
          <p:cNvSpPr/>
          <p:nvPr/>
        </p:nvSpPr>
        <p:spPr>
          <a:xfrm>
            <a:off x="548640" y="1682495"/>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Ni kanseri</a:t>
            </a:r>
            <a:endParaRPr lang="rw-RW" sz="1800" dirty="0"/>
          </a:p>
        </p:txBody>
      </p:sp>
      <p:sp>
        <p:nvSpPr>
          <p:cNvPr id="8" name="Shape 6"/>
          <p:cNvSpPr/>
          <p:nvPr/>
        </p:nvSpPr>
        <p:spPr>
          <a:xfrm>
            <a:off x="6233008" y="1682495"/>
            <a:ext cx="5410048" cy="420623"/>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9" name="Text 7"/>
          <p:cNvSpPr txBox="1"/>
          <p:nvPr/>
        </p:nvSpPr>
        <p:spPr>
          <a:xfrm>
            <a:off x="6434176" y="1682495"/>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Buri gihe bikeneye kubagwa</a:t>
            </a:r>
            <a:endParaRPr lang="rw-RW" sz="1800" dirty="0"/>
          </a:p>
        </p:txBody>
      </p:sp>
      <p:sp>
        <p:nvSpPr>
          <p:cNvPr id="10" name="Shape 8"/>
          <p:cNvSpPr/>
          <p:nvPr/>
        </p:nvSpPr>
        <p:spPr>
          <a:xfrm>
            <a:off x="548640" y="2157984"/>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49808" y="215798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Ni hemorroides</a:t>
            </a:r>
            <a:endParaRPr lang="rw-RW" sz="1800" dirty="0"/>
          </a:p>
        </p:txBody>
      </p:sp>
      <p:sp>
        <p:nvSpPr>
          <p:cNvPr id="12" name="Shape 10"/>
          <p:cNvSpPr/>
          <p:nvPr/>
        </p:nvSpPr>
        <p:spPr>
          <a:xfrm>
            <a:off x="6233008" y="2157984"/>
            <a:ext cx="5410048" cy="420623"/>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13" name="Text 11"/>
          <p:cNvSpPr txBox="1"/>
          <p:nvPr/>
        </p:nvSpPr>
        <p:spPr>
          <a:xfrm>
            <a:off x="6434176" y="2157984"/>
            <a:ext cx="5044288" cy="420623"/>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D. Ntabwo na rimwe biba kanseri ✓</a:t>
            </a:r>
            <a:endParaRPr lang="rw-RW" sz="1800" dirty="0"/>
          </a:p>
        </p:txBody>
      </p:sp>
      <p:sp>
        <p:nvSpPr>
          <p:cNvPr id="14" name="Text 12"/>
          <p:cNvSpPr txBox="1"/>
          <p:nvPr/>
        </p:nvSpPr>
        <p:spPr>
          <a:xfrm>
            <a:off x="548640" y="2670048"/>
            <a:ext cx="11094415" cy="585216"/>
          </a:xfrm>
          <a:prstGeom prst="rect">
            <a:avLst/>
          </a:prstGeom>
          <a:noFill/>
          <a:ln/>
        </p:spPr>
        <p:txBody>
          <a:bodyPr wrap="square" lIns="0" tIns="0" rIns="0" bIns="0" rtlCol="0" anchor="t">
            <a:normAutofit/>
          </a:bodyPr>
          <a:lstStyle/>
          <a:p>
            <a:pPr marL="0" indent="0">
              <a:buNone/>
            </a:pPr>
            <a:r>
              <a:rPr lang="rw-RW" sz="1800" b="1" dirty="0">
                <a:solidFill>
                  <a:srgbClr val="1B6B41"/>
                </a:solidFill>
                <a:latin typeface="Calibri" pitchFamily="34" charset="0"/>
                <a:ea typeface="Calibri" pitchFamily="34" charset="-122"/>
                <a:cs typeface="Calibri" pitchFamily="34" charset="-120"/>
              </a:rPr>
              <a:t>Ukuri: D. </a:t>
            </a:r>
            <a:r>
              <a:rPr lang="rw-RW" sz="1800" dirty="0">
                <a:solidFill>
                  <a:srgbClr val="17335F"/>
                </a:solidFill>
                <a:latin typeface="Calibri" pitchFamily="34" charset="0"/>
                <a:ea typeface="Calibri" pitchFamily="34" charset="-122"/>
                <a:cs typeface="Calibri" pitchFamily="34" charset="-120"/>
              </a:rPr>
              <a:t>Inyinshi ntiziba kanseri, ariko ubwoko buke bushobora guhinduka buhoro buhoro uko imyaka ihita.</a:t>
            </a:r>
            <a:endParaRPr lang="rw-RW" sz="1150" dirty="0"/>
          </a:p>
        </p:txBody>
      </p:sp>
      <p:sp>
        <p:nvSpPr>
          <p:cNvPr id="15" name="Text 13"/>
          <p:cNvSpPr txBox="1"/>
          <p:nvPr/>
        </p:nvSpPr>
        <p:spPr>
          <a:xfrm>
            <a:off x="548640" y="3547872"/>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Q4. Gukuraho ibimera bito mu gihe cy'ikizamini cya kamera bishobora:</a:t>
            </a:r>
            <a:endParaRPr lang="rw-RW" sz="1700" dirty="0"/>
          </a:p>
        </p:txBody>
      </p:sp>
      <p:sp>
        <p:nvSpPr>
          <p:cNvPr id="16" name="Shape 14"/>
          <p:cNvSpPr/>
          <p:nvPr/>
        </p:nvSpPr>
        <p:spPr>
          <a:xfrm>
            <a:off x="548640" y="3931920"/>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7" name="Text 15"/>
          <p:cNvSpPr txBox="1"/>
          <p:nvPr/>
        </p:nvSpPr>
        <p:spPr>
          <a:xfrm>
            <a:off x="749808" y="3931920"/>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Gutuma kanseri ikwirakwira</a:t>
            </a:r>
            <a:endParaRPr lang="rw-RW" sz="1800" dirty="0"/>
          </a:p>
        </p:txBody>
      </p:sp>
      <p:sp>
        <p:nvSpPr>
          <p:cNvPr id="18" name="Shape 16"/>
          <p:cNvSpPr/>
          <p:nvPr/>
        </p:nvSpPr>
        <p:spPr>
          <a:xfrm>
            <a:off x="6233008" y="3931920"/>
            <a:ext cx="5410048" cy="420623"/>
          </a:xfrm>
          <a:prstGeom prst="roundRect">
            <a:avLst>
              <a:gd name="adj" fmla="val 19231"/>
            </a:avLst>
          </a:prstGeom>
          <a:solidFill>
            <a:srgbClr val="E9F5EC"/>
          </a:solidFill>
          <a:ln w="12700">
            <a:solidFill>
              <a:srgbClr val="AFD8BE"/>
            </a:solidFill>
            <a:prstDash val="solid"/>
          </a:ln>
        </p:spPr>
        <p:txBody>
          <a:bodyPr/>
          <a:lstStyle/>
          <a:p>
            <a:endParaRPr lang="rw-RW" dirty="0"/>
          </a:p>
        </p:txBody>
      </p:sp>
      <p:sp>
        <p:nvSpPr>
          <p:cNvPr id="19" name="Text 17"/>
          <p:cNvSpPr txBox="1"/>
          <p:nvPr/>
        </p:nvSpPr>
        <p:spPr>
          <a:xfrm>
            <a:off x="6434176" y="3931920"/>
            <a:ext cx="5044288" cy="420623"/>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B. Kwirinda kanseri y'ahazaza ✓</a:t>
            </a:r>
            <a:endParaRPr lang="rw-RW" sz="1800" dirty="0"/>
          </a:p>
        </p:txBody>
      </p:sp>
      <p:sp>
        <p:nvSpPr>
          <p:cNvPr id="20" name="Shape 18"/>
          <p:cNvSpPr/>
          <p:nvPr/>
        </p:nvSpPr>
        <p:spPr>
          <a:xfrm>
            <a:off x="548640" y="4407408"/>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1" name="Text 19"/>
          <p:cNvSpPr txBox="1"/>
          <p:nvPr/>
        </p:nvSpPr>
        <p:spPr>
          <a:xfrm>
            <a:off x="749808" y="4407408"/>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Ntugire icyo ukora na gato</a:t>
            </a:r>
            <a:endParaRPr lang="rw-RW" sz="1800" dirty="0"/>
          </a:p>
        </p:txBody>
      </p:sp>
      <p:sp>
        <p:nvSpPr>
          <p:cNvPr id="22" name="Shape 20"/>
          <p:cNvSpPr/>
          <p:nvPr/>
        </p:nvSpPr>
        <p:spPr>
          <a:xfrm>
            <a:off x="6233008" y="4407408"/>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3" name="Text 21"/>
          <p:cNvSpPr txBox="1"/>
          <p:nvPr/>
        </p:nvSpPr>
        <p:spPr>
          <a:xfrm>
            <a:off x="6434176" y="4407408"/>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Gusimbuza ubuvuzi bwose</a:t>
            </a:r>
            <a:endParaRPr lang="rw-RW" sz="1800" dirty="0"/>
          </a:p>
        </p:txBody>
      </p:sp>
      <p:sp>
        <p:nvSpPr>
          <p:cNvPr id="24" name="Text 22"/>
          <p:cNvSpPr txBox="1"/>
          <p:nvPr/>
        </p:nvSpPr>
        <p:spPr>
          <a:xfrm>
            <a:off x="548640" y="4919472"/>
            <a:ext cx="11094415" cy="310896"/>
          </a:xfrm>
          <a:prstGeom prst="rect">
            <a:avLst/>
          </a:prstGeom>
          <a:noFill/>
          <a:ln/>
        </p:spPr>
        <p:txBody>
          <a:bodyPr wrap="square" lIns="0" tIns="0" rIns="0" bIns="0" rtlCol="0" anchor="t"/>
          <a:lstStyle/>
          <a:p>
            <a:pPr marL="0" indent="0">
              <a:buNone/>
            </a:pPr>
            <a:r>
              <a:rPr lang="rw-RW" sz="1800" b="1" dirty="0">
                <a:solidFill>
                  <a:srgbClr val="1B6B41"/>
                </a:solidFill>
                <a:latin typeface="Calibri" pitchFamily="34" charset="0"/>
                <a:ea typeface="Calibri" pitchFamily="34" charset="-122"/>
                <a:cs typeface="Calibri" pitchFamily="34" charset="-120"/>
              </a:rPr>
              <a:t>Ukuri: B. </a:t>
            </a:r>
            <a:r>
              <a:rPr lang="rw-RW" sz="1800" dirty="0">
                <a:solidFill>
                  <a:srgbClr val="17335F"/>
                </a:solidFill>
                <a:latin typeface="Calibri" pitchFamily="34" charset="0"/>
                <a:ea typeface="Calibri" pitchFamily="34" charset="-122"/>
                <a:cs typeface="Calibri" pitchFamily="34" charset="-120"/>
              </a:rPr>
              <a:t>Niyo mpamvu isuzuma rya kamera ribona ibibazo no kurinda kanseri zimwe na zimwe.</a:t>
            </a:r>
            <a:endParaRPr lang="rw-RW" sz="1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IGENZURA RYA NYUMA</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Ikizamini gisoza (3 muri 10)</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Umujyanama w'ubuzima | Ikigo cy'Igihugu gishinzwe Ubuvuzi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Ikibazo cya 5. Mu Rwanda, kanseri y'amara:</a:t>
            </a:r>
            <a:endParaRPr lang="rw-RW" sz="1700" dirty="0"/>
          </a:p>
        </p:txBody>
      </p:sp>
      <p:sp>
        <p:nvSpPr>
          <p:cNvPr id="6" name="Shape 4"/>
          <p:cNvSpPr/>
          <p:nvPr/>
        </p:nvSpPr>
        <p:spPr>
          <a:xfrm>
            <a:off x="548640" y="1682495"/>
            <a:ext cx="5410048" cy="694944"/>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694944"/>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A. Ni imwe muri kanseri zikunze kugaragara mu Rwanda, ku bagabo no ku bagore. ✓</a:t>
            </a:r>
            <a:endParaRPr lang="rw-RW" sz="1800" dirty="0"/>
          </a:p>
        </p:txBody>
      </p:sp>
      <p:sp>
        <p:nvSpPr>
          <p:cNvPr id="8" name="Shape 6"/>
          <p:cNvSpPr/>
          <p:nvPr/>
        </p:nvSpPr>
        <p:spPr>
          <a:xfrm>
            <a:off x="6233008" y="1682495"/>
            <a:ext cx="5410048" cy="694944"/>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9" name="Text 7"/>
          <p:cNvSpPr txBox="1"/>
          <p:nvPr/>
        </p:nvSpPr>
        <p:spPr>
          <a:xfrm>
            <a:off x="6434176" y="1682495"/>
            <a:ext cx="5044288" cy="694944"/>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Ntibibaho</a:t>
            </a:r>
            <a:endParaRPr lang="rw-RW" sz="1200" dirty="0"/>
          </a:p>
        </p:txBody>
      </p:sp>
      <p:sp>
        <p:nvSpPr>
          <p:cNvPr id="10" name="Shape 8"/>
          <p:cNvSpPr/>
          <p:nvPr/>
        </p:nvSpPr>
        <p:spPr>
          <a:xfrm>
            <a:off x="548640" y="2432304"/>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49808" y="243230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Igira ingaruka ku bagabo gusa</a:t>
            </a:r>
            <a:endParaRPr lang="rw-RW" sz="1800" dirty="0"/>
          </a:p>
        </p:txBody>
      </p:sp>
      <p:sp>
        <p:nvSpPr>
          <p:cNvPr id="12" name="Shape 10"/>
          <p:cNvSpPr/>
          <p:nvPr/>
        </p:nvSpPr>
        <p:spPr>
          <a:xfrm>
            <a:off x="6233008" y="2432304"/>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43230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Yibasira abagore bakuze gusa</a:t>
            </a:r>
            <a:endParaRPr lang="rw-RW" sz="1800" dirty="0"/>
          </a:p>
        </p:txBody>
      </p:sp>
      <p:sp>
        <p:nvSpPr>
          <p:cNvPr id="14" name="Text 12"/>
          <p:cNvSpPr txBox="1"/>
          <p:nvPr/>
        </p:nvSpPr>
        <p:spPr>
          <a:xfrm>
            <a:off x="548640" y="2944368"/>
            <a:ext cx="11094415" cy="310896"/>
          </a:xfrm>
          <a:prstGeom prst="rect">
            <a:avLst/>
          </a:prstGeom>
          <a:noFill/>
          <a:ln/>
        </p:spPr>
        <p:txBody>
          <a:bodyPr wrap="square" lIns="0" tIns="0" rIns="0" bIns="0" rtlCol="0" anchor="t"/>
          <a:lstStyle/>
          <a:p>
            <a:pPr marL="0" indent="0">
              <a:buNone/>
            </a:pPr>
            <a:r>
              <a:rPr lang="rw-RW" sz="1800" b="1" dirty="0">
                <a:solidFill>
                  <a:srgbClr val="1B6B41"/>
                </a:solidFill>
                <a:latin typeface="Calibri" pitchFamily="34" charset="0"/>
                <a:ea typeface="Calibri" pitchFamily="34" charset="-122"/>
                <a:cs typeface="Calibri" pitchFamily="34" charset="-120"/>
              </a:rPr>
              <a:t>Ukuri: A. </a:t>
            </a:r>
            <a:r>
              <a:rPr lang="rw-RW" sz="1800" dirty="0">
                <a:solidFill>
                  <a:srgbClr val="17335F"/>
                </a:solidFill>
                <a:latin typeface="Calibri" pitchFamily="34" charset="0"/>
                <a:ea typeface="Calibri" pitchFamily="34" charset="-122"/>
                <a:cs typeface="Calibri" pitchFamily="34" charset="-120"/>
              </a:rPr>
              <a:t>Ni imwe mu kanseri zikunze kugaragara mu gihugu, ku bitsina byombi.</a:t>
            </a:r>
            <a:endParaRPr lang="rw-RW" sz="1800" dirty="0"/>
          </a:p>
        </p:txBody>
      </p:sp>
      <p:sp>
        <p:nvSpPr>
          <p:cNvPr id="15" name="Text 13"/>
          <p:cNvSpPr txBox="1"/>
          <p:nvPr/>
        </p:nvSpPr>
        <p:spPr>
          <a:xfrm>
            <a:off x="548640" y="3547872"/>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Ikibazo cya 6. Ni ikihe muri ibi byongera ibyago byo kurwara kanseri y'amara?</a:t>
            </a:r>
            <a:endParaRPr lang="rw-RW" sz="1700" dirty="0"/>
          </a:p>
        </p:txBody>
      </p:sp>
      <p:sp>
        <p:nvSpPr>
          <p:cNvPr id="16" name="Shape 14"/>
          <p:cNvSpPr/>
          <p:nvPr/>
        </p:nvSpPr>
        <p:spPr>
          <a:xfrm>
            <a:off x="548640" y="3931920"/>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7" name="Text 15"/>
          <p:cNvSpPr txBox="1"/>
          <p:nvPr/>
        </p:nvSpPr>
        <p:spPr>
          <a:xfrm>
            <a:off x="749808" y="3931920"/>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Kunywa amazi</a:t>
            </a:r>
            <a:endParaRPr lang="rw-RW" sz="1800" dirty="0"/>
          </a:p>
        </p:txBody>
      </p:sp>
      <p:sp>
        <p:nvSpPr>
          <p:cNvPr id="18" name="Shape 16"/>
          <p:cNvSpPr/>
          <p:nvPr/>
        </p:nvSpPr>
        <p:spPr>
          <a:xfrm>
            <a:off x="6233008" y="3931920"/>
            <a:ext cx="5410048" cy="420623"/>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19" name="Text 17"/>
          <p:cNvSpPr txBox="1"/>
          <p:nvPr/>
        </p:nvSpPr>
        <p:spPr>
          <a:xfrm>
            <a:off x="6434176" y="3931920"/>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Kurya imboga</a:t>
            </a:r>
            <a:endParaRPr lang="rw-RW" sz="1800" dirty="0"/>
          </a:p>
        </p:txBody>
      </p:sp>
      <p:sp>
        <p:nvSpPr>
          <p:cNvPr id="20" name="Shape 18"/>
          <p:cNvSpPr/>
          <p:nvPr/>
        </p:nvSpPr>
        <p:spPr>
          <a:xfrm>
            <a:off x="548640" y="4407408"/>
            <a:ext cx="5410048" cy="420623"/>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21" name="Text 19"/>
          <p:cNvSpPr txBox="1"/>
          <p:nvPr/>
        </p:nvSpPr>
        <p:spPr>
          <a:xfrm>
            <a:off x="749808" y="4407408"/>
            <a:ext cx="5044288" cy="420623"/>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C. Kunywa itabi ✓</a:t>
            </a:r>
            <a:endParaRPr lang="rw-RW" sz="1800" dirty="0"/>
          </a:p>
        </p:txBody>
      </p:sp>
      <p:sp>
        <p:nvSpPr>
          <p:cNvPr id="22" name="Shape 20"/>
          <p:cNvSpPr/>
          <p:nvPr/>
        </p:nvSpPr>
        <p:spPr>
          <a:xfrm>
            <a:off x="6233008" y="4407408"/>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3" name="Text 21"/>
          <p:cNvSpPr txBox="1"/>
          <p:nvPr/>
        </p:nvSpPr>
        <p:spPr>
          <a:xfrm>
            <a:off x="6434176" y="4407408"/>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Kugenda n'amaguru buri munsi</a:t>
            </a:r>
            <a:endParaRPr lang="rw-RW" sz="1800" dirty="0"/>
          </a:p>
        </p:txBody>
      </p:sp>
      <p:sp>
        <p:nvSpPr>
          <p:cNvPr id="24" name="Text 22"/>
          <p:cNvSpPr txBox="1"/>
          <p:nvPr/>
        </p:nvSpPr>
        <p:spPr>
          <a:xfrm>
            <a:off x="548640" y="4919472"/>
            <a:ext cx="11094415" cy="585216"/>
          </a:xfrm>
          <a:prstGeom prst="rect">
            <a:avLst/>
          </a:prstGeom>
          <a:noFill/>
          <a:ln/>
        </p:spPr>
        <p:txBody>
          <a:bodyPr wrap="square" lIns="0" tIns="0" rIns="0" bIns="0" rtlCol="0" anchor="t">
            <a:normAutofit/>
          </a:bodyPr>
          <a:lstStyle/>
          <a:p>
            <a:pPr marL="0" indent="0">
              <a:buNone/>
            </a:pPr>
            <a:r>
              <a:rPr lang="rw-RW" sz="1800" b="1" dirty="0">
                <a:solidFill>
                  <a:srgbClr val="1B6B41"/>
                </a:solidFill>
                <a:latin typeface="Calibri" pitchFamily="34" charset="0"/>
                <a:ea typeface="Calibri" pitchFamily="34" charset="-122"/>
                <a:cs typeface="Calibri" pitchFamily="34" charset="-120"/>
              </a:rPr>
              <a:t>Ukuri: C. </a:t>
            </a:r>
            <a:r>
              <a:rPr lang="rw-RW" sz="1800" dirty="0">
                <a:solidFill>
                  <a:srgbClr val="17335F"/>
                </a:solidFill>
                <a:latin typeface="Calibri" pitchFamily="34" charset="0"/>
                <a:ea typeface="Calibri" pitchFamily="34" charset="-122"/>
                <a:cs typeface="Calibri" pitchFamily="34" charset="-120"/>
              </a:rPr>
              <a:t>Kunywa itabi, kunywa inzoga nyinshi, umubyibuho ukabije, no kudakora imyitozo ngororamubiri byose byongera ibyago byo kurwara.</a:t>
            </a:r>
            <a:endParaRPr lang="rw-RW" sz="11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IGENZURA RYA NYUMA</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Ikizamini gisoza (4 kuri 10)</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Text 3"/>
          <p:cNvSpPr txBox="1"/>
          <p:nvPr/>
        </p:nvSpPr>
        <p:spPr>
          <a:xfrm>
            <a:off x="548640" y="1298448"/>
            <a:ext cx="11094415" cy="603503"/>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Ikibazo cya 7. Umugabo w'imyaka 60 nta bimenyetso agira, ariko se yari arwaye kanseri y'amara. Agomba kubikora:</a:t>
            </a:r>
            <a:endParaRPr lang="rw-RW" sz="1150" dirty="0"/>
          </a:p>
        </p:txBody>
      </p:sp>
      <p:sp>
        <p:nvSpPr>
          <p:cNvPr id="6" name="Shape 4"/>
          <p:cNvSpPr/>
          <p:nvPr/>
        </p:nvSpPr>
        <p:spPr>
          <a:xfrm>
            <a:off x="548640" y="1956815"/>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7" name="Text 5"/>
          <p:cNvSpPr txBox="1"/>
          <p:nvPr/>
        </p:nvSpPr>
        <p:spPr>
          <a:xfrm>
            <a:off x="749808" y="1956815"/>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Ntugire icyo ukora</a:t>
            </a:r>
            <a:endParaRPr lang="rw-RW" sz="1800" dirty="0"/>
          </a:p>
        </p:txBody>
      </p:sp>
      <p:sp>
        <p:nvSpPr>
          <p:cNvPr id="8" name="Shape 6"/>
          <p:cNvSpPr/>
          <p:nvPr/>
        </p:nvSpPr>
        <p:spPr>
          <a:xfrm>
            <a:off x="6233008" y="1956815"/>
            <a:ext cx="5410048" cy="694944"/>
          </a:xfrm>
          <a:prstGeom prst="roundRect">
            <a:avLst>
              <a:gd name="adj" fmla="val 19231"/>
            </a:avLst>
          </a:prstGeom>
          <a:solidFill>
            <a:srgbClr val="E9F5EC"/>
          </a:solidFill>
          <a:ln w="12700">
            <a:solidFill>
              <a:srgbClr val="AFD8BE"/>
            </a:solidFill>
            <a:prstDash val="solid"/>
          </a:ln>
        </p:spPr>
        <p:txBody>
          <a:bodyPr/>
          <a:lstStyle/>
          <a:p>
            <a:endParaRPr lang="rw-RW" dirty="0"/>
          </a:p>
        </p:txBody>
      </p:sp>
      <p:sp>
        <p:nvSpPr>
          <p:cNvPr id="9" name="Text 7"/>
          <p:cNvSpPr txBox="1"/>
          <p:nvPr/>
        </p:nvSpPr>
        <p:spPr>
          <a:xfrm>
            <a:off x="6434176" y="1956815"/>
            <a:ext cx="5044288" cy="694944"/>
          </a:xfrm>
          <a:prstGeom prst="rect">
            <a:avLst/>
          </a:prstGeom>
          <a:noFill/>
          <a:ln/>
        </p:spPr>
        <p:txBody>
          <a:bodyPr wrap="square" lIns="0" tIns="0" rIns="0" bIns="0" rtlCol="0" anchor="ctr">
            <a:normAutofit/>
          </a:bodyPr>
          <a:lstStyle/>
          <a:p>
            <a:pPr marL="0" indent="0">
              <a:buNone/>
            </a:pPr>
            <a:r>
              <a:rPr lang="rw-RW" sz="1800" b="1" dirty="0">
                <a:solidFill>
                  <a:srgbClr val="1B6B41"/>
                </a:solidFill>
                <a:latin typeface="Calibri" pitchFamily="34" charset="0"/>
                <a:ea typeface="Calibri" pitchFamily="34" charset="-122"/>
                <a:cs typeface="Calibri" pitchFamily="34" charset="-120"/>
              </a:rPr>
              <a:t>B. Vuga amateka y'umuryango ku kigo nderabuzima kandi usabe inama ✓</a:t>
            </a:r>
            <a:endParaRPr lang="rw-RW" sz="1200" dirty="0"/>
          </a:p>
        </p:txBody>
      </p:sp>
      <p:sp>
        <p:nvSpPr>
          <p:cNvPr id="10" name="Shape 8"/>
          <p:cNvSpPr/>
          <p:nvPr/>
        </p:nvSpPr>
        <p:spPr>
          <a:xfrm>
            <a:off x="548640" y="2706624"/>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49808" y="270662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Kubwirwa ko azarwara kanseri</a:t>
            </a:r>
            <a:endParaRPr lang="rw-RW" sz="1800" dirty="0"/>
          </a:p>
        </p:txBody>
      </p:sp>
      <p:sp>
        <p:nvSpPr>
          <p:cNvPr id="12" name="Shape 10"/>
          <p:cNvSpPr/>
          <p:nvPr/>
        </p:nvSpPr>
        <p:spPr>
          <a:xfrm>
            <a:off x="6233008" y="2706624"/>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70662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Kugeragezwa na CHW</a:t>
            </a:r>
            <a:endParaRPr lang="rw-RW" sz="1800" dirty="0"/>
          </a:p>
        </p:txBody>
      </p:sp>
      <p:sp>
        <p:nvSpPr>
          <p:cNvPr id="14" name="Text 12"/>
          <p:cNvSpPr txBox="1"/>
          <p:nvPr/>
        </p:nvSpPr>
        <p:spPr>
          <a:xfrm>
            <a:off x="548640" y="3218688"/>
            <a:ext cx="11094415" cy="310896"/>
          </a:xfrm>
          <a:prstGeom prst="rect">
            <a:avLst/>
          </a:prstGeom>
          <a:noFill/>
          <a:ln/>
        </p:spPr>
        <p:txBody>
          <a:bodyPr wrap="square" lIns="0" tIns="0" rIns="0" bIns="0" rtlCol="0" anchor="t">
            <a:normAutofit/>
          </a:bodyPr>
          <a:lstStyle/>
          <a:p>
            <a:pPr marL="0" indent="0">
              <a:buNone/>
            </a:pPr>
            <a:r>
              <a:rPr lang="rw-RW" sz="1800" b="1" dirty="0">
                <a:solidFill>
                  <a:srgbClr val="1B6B41"/>
                </a:solidFill>
                <a:latin typeface="Calibri" pitchFamily="34" charset="0"/>
                <a:ea typeface="Calibri" pitchFamily="34" charset="-122"/>
                <a:cs typeface="Calibri" pitchFamily="34" charset="-120"/>
              </a:rPr>
              <a:t>Ukuri: B. </a:t>
            </a:r>
            <a:r>
              <a:rPr lang="rw-RW" sz="1800" b="0" dirty="0">
                <a:solidFill>
                  <a:srgbClr val="17335F"/>
                </a:solidFill>
                <a:latin typeface="Calibri"/>
              </a:rPr>
              <a:t>Amateka y'umuryango yongera ibyago, kandi ikigo gishobora gutanga inama z'ibizakurikiraho.</a:t>
            </a:r>
            <a:endParaRPr lang="rw-RW" sz="1150" dirty="0"/>
          </a:p>
        </p:txBody>
      </p:sp>
      <p:sp>
        <p:nvSpPr>
          <p:cNvPr id="15" name="Text 13"/>
          <p:cNvSpPr txBox="1"/>
          <p:nvPr/>
        </p:nvSpPr>
        <p:spPr>
          <a:xfrm>
            <a:off x="548640" y="3822191"/>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Ikibazo cya 8. Umugore amaze ibyumweru bitandatu afite amaraso mu ntebe ye. Uburyo bwiza bwo gukora ni:</a:t>
            </a:r>
            <a:endParaRPr lang="rw-RW" sz="1150" dirty="0"/>
          </a:p>
        </p:txBody>
      </p:sp>
      <p:sp>
        <p:nvSpPr>
          <p:cNvPr id="16" name="Shape 14"/>
          <p:cNvSpPr/>
          <p:nvPr/>
        </p:nvSpPr>
        <p:spPr>
          <a:xfrm>
            <a:off x="548640" y="4206240"/>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7" name="Text 15"/>
          <p:cNvSpPr txBox="1"/>
          <p:nvPr/>
        </p:nvSpPr>
        <p:spPr>
          <a:xfrm>
            <a:off x="749808" y="4206240"/>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Mubwire gutegereza ukwezi kumwe</a:t>
            </a:r>
            <a:endParaRPr lang="rw-RW" sz="1800" dirty="0"/>
          </a:p>
        </p:txBody>
      </p:sp>
      <p:sp>
        <p:nvSpPr>
          <p:cNvPr id="18" name="Shape 16"/>
          <p:cNvSpPr/>
          <p:nvPr/>
        </p:nvSpPr>
        <p:spPr>
          <a:xfrm>
            <a:off x="6233008" y="4206240"/>
            <a:ext cx="5410048" cy="694944"/>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19" name="Text 17"/>
          <p:cNvSpPr txBox="1"/>
          <p:nvPr/>
        </p:nvSpPr>
        <p:spPr>
          <a:xfrm>
            <a:off x="6434176" y="4206240"/>
            <a:ext cx="5044288" cy="694944"/>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Muhe imiti y'ibyibyimba byo mu ntebe (piles)</a:t>
            </a:r>
            <a:endParaRPr lang="rw-RW" sz="1200" dirty="0"/>
          </a:p>
        </p:txBody>
      </p:sp>
      <p:sp>
        <p:nvSpPr>
          <p:cNvPr id="20" name="Shape 18"/>
          <p:cNvSpPr/>
          <p:nvPr/>
        </p:nvSpPr>
        <p:spPr>
          <a:xfrm>
            <a:off x="548640" y="4956048"/>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1" name="Text 19"/>
          <p:cNvSpPr txBox="1"/>
          <p:nvPr/>
        </p:nvSpPr>
        <p:spPr>
          <a:xfrm>
            <a:off x="749808" y="4956048"/>
            <a:ext cx="5044288" cy="694944"/>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Mubwire ko bizashira</a:t>
            </a:r>
            <a:endParaRPr lang="rw-RW" sz="1200" dirty="0"/>
          </a:p>
        </p:txBody>
      </p:sp>
      <p:sp>
        <p:nvSpPr>
          <p:cNvPr id="22" name="Shape 20"/>
          <p:cNvSpPr/>
          <p:nvPr/>
        </p:nvSpPr>
        <p:spPr>
          <a:xfrm>
            <a:off x="6233008" y="4956048"/>
            <a:ext cx="5410048" cy="694944"/>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23" name="Text 21"/>
          <p:cNvSpPr txBox="1"/>
          <p:nvPr/>
        </p:nvSpPr>
        <p:spPr>
          <a:xfrm>
            <a:off x="6434176" y="4956048"/>
            <a:ext cx="5044288" cy="694944"/>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D. Gushishikariza kwisuzumisha ku ivuriro rito (health post) cyangwa ku kigo nderabuzima ✓</a:t>
            </a:r>
            <a:endParaRPr lang="rw-RW" sz="1800" dirty="0"/>
          </a:p>
        </p:txBody>
      </p:sp>
      <p:sp>
        <p:nvSpPr>
          <p:cNvPr id="24" name="Text 22"/>
          <p:cNvSpPr txBox="1"/>
          <p:nvPr/>
        </p:nvSpPr>
        <p:spPr>
          <a:xfrm>
            <a:off x="548640" y="5742432"/>
            <a:ext cx="11094415" cy="310896"/>
          </a:xfrm>
          <a:prstGeom prst="rect">
            <a:avLst/>
          </a:prstGeom>
          <a:noFill/>
          <a:ln/>
        </p:spPr>
        <p:txBody>
          <a:bodyPr wrap="square" lIns="0" tIns="0" rIns="0" bIns="0" rtlCol="0" anchor="t"/>
          <a:lstStyle/>
          <a:p>
            <a:pPr marL="0" indent="0">
              <a:buNone/>
            </a:pPr>
            <a:r>
              <a:rPr lang="rw-RW" sz="1800" b="1" dirty="0">
                <a:solidFill>
                  <a:srgbClr val="1B6B41"/>
                </a:solidFill>
                <a:latin typeface="Calibri" pitchFamily="34" charset="0"/>
                <a:ea typeface="Calibri" pitchFamily="34" charset="-122"/>
                <a:cs typeface="Calibri" pitchFamily="34" charset="-120"/>
              </a:rPr>
              <a:t>Ukuri: D. </a:t>
            </a:r>
            <a:r>
              <a:rPr lang="rw-RW" sz="1800" dirty="0">
                <a:solidFill>
                  <a:srgbClr val="17335F"/>
                </a:solidFill>
                <a:latin typeface="Calibri" pitchFamily="34" charset="0"/>
                <a:ea typeface="Calibri" pitchFamily="34" charset="-122"/>
                <a:cs typeface="Calibri" pitchFamily="34" charset="-120"/>
              </a:rPr>
              <a:t>Amaraso amara igihe kirekire akeneye gusuzumwa, uko byaba bimeze kose.</a:t>
            </a:r>
            <a:endParaRPr lang="rw-RW" sz="1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IGENZURA RYA NYUMA</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Ikizamini gisoza (5 kuri 10)</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Ikibazo cya 9. Umuntu urwaye hemorroide yari asanzwe afite aba afite amaraso mashya. Ibi:</a:t>
            </a:r>
            <a:endParaRPr lang="rw-RW" sz="1700" dirty="0"/>
          </a:p>
        </p:txBody>
      </p:sp>
      <p:sp>
        <p:nvSpPr>
          <p:cNvPr id="6" name="Shape 4"/>
          <p:cNvSpPr/>
          <p:nvPr/>
        </p:nvSpPr>
        <p:spPr>
          <a:xfrm>
            <a:off x="548640" y="1682495"/>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694944"/>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a:rPr>
              <a:t>A. Nta gushidikanya ko biterwa na hemorroide</a:t>
            </a:r>
            <a:endParaRPr lang="rw-RW" sz="1200" dirty="0"/>
          </a:p>
        </p:txBody>
      </p:sp>
      <p:sp>
        <p:nvSpPr>
          <p:cNvPr id="8" name="Shape 6"/>
          <p:cNvSpPr/>
          <p:nvPr/>
        </p:nvSpPr>
        <p:spPr>
          <a:xfrm>
            <a:off x="6233008" y="1682495"/>
            <a:ext cx="5410048" cy="694944"/>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9" name="Text 7"/>
          <p:cNvSpPr txBox="1"/>
          <p:nvPr/>
        </p:nvSpPr>
        <p:spPr>
          <a:xfrm>
            <a:off x="6434176" y="1682495"/>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Ntibikenewe kwitabwaho</a:t>
            </a:r>
            <a:endParaRPr lang="rw-RW" sz="1800" dirty="0"/>
          </a:p>
        </p:txBody>
      </p:sp>
      <p:sp>
        <p:nvSpPr>
          <p:cNvPr id="10" name="Shape 8"/>
          <p:cNvSpPr/>
          <p:nvPr/>
        </p:nvSpPr>
        <p:spPr>
          <a:xfrm>
            <a:off x="548640" y="2432304"/>
            <a:ext cx="5410048" cy="420623"/>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11" name="Text 9"/>
          <p:cNvSpPr txBox="1"/>
          <p:nvPr/>
        </p:nvSpPr>
        <p:spPr>
          <a:xfrm>
            <a:off x="749808" y="2432304"/>
            <a:ext cx="5044288" cy="420623"/>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C. Aracyakeneye kwisuzumisha ✓</a:t>
            </a:r>
            <a:endParaRPr lang="rw-RW" sz="1800" dirty="0"/>
          </a:p>
        </p:txBody>
      </p:sp>
      <p:sp>
        <p:nvSpPr>
          <p:cNvPr id="12" name="Shape 10"/>
          <p:cNvSpPr/>
          <p:nvPr/>
        </p:nvSpPr>
        <p:spPr>
          <a:xfrm>
            <a:off x="6233008" y="2432304"/>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43230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Bivuze ko kanseri yemejwe</a:t>
            </a:r>
            <a:endParaRPr lang="rw-RW" sz="1800" dirty="0"/>
          </a:p>
        </p:txBody>
      </p:sp>
      <p:sp>
        <p:nvSpPr>
          <p:cNvPr id="14" name="Text 12"/>
          <p:cNvSpPr txBox="1"/>
          <p:nvPr/>
        </p:nvSpPr>
        <p:spPr>
          <a:xfrm>
            <a:off x="548640" y="2944368"/>
            <a:ext cx="11094415" cy="310896"/>
          </a:xfrm>
          <a:prstGeom prst="rect">
            <a:avLst/>
          </a:prstGeom>
          <a:noFill/>
          <a:ln/>
        </p:spPr>
        <p:txBody>
          <a:bodyPr wrap="square" lIns="0" tIns="0" rIns="0" bIns="0" rtlCol="0" anchor="t"/>
          <a:lstStyle/>
          <a:p>
            <a:pPr marL="0" indent="0">
              <a:buNone/>
            </a:pPr>
            <a:r>
              <a:rPr lang="rw-RW" sz="1800" b="1" dirty="0">
                <a:solidFill>
                  <a:srgbClr val="1B6B41"/>
                </a:solidFill>
                <a:latin typeface="Calibri" pitchFamily="34" charset="0"/>
                <a:ea typeface="Calibri" pitchFamily="34" charset="-122"/>
                <a:cs typeface="Calibri" pitchFamily="34" charset="-120"/>
              </a:rPr>
              <a:t>Ukuri: C. </a:t>
            </a:r>
            <a:r>
              <a:rPr lang="rw-RW" sz="1800" dirty="0">
                <a:solidFill>
                  <a:srgbClr val="17335F"/>
                </a:solidFill>
                <a:latin typeface="Calibri" pitchFamily="34" charset="0"/>
                <a:ea typeface="Calibri" pitchFamily="34" charset="-122"/>
                <a:cs typeface="Calibri" pitchFamily="34" charset="-120"/>
              </a:rPr>
              <a:t>Kugira hemorroide ntibivuga ko ari yo nkomoko y'amaraso.</a:t>
            </a:r>
            <a:endParaRPr lang="rw-RW" sz="1800" dirty="0"/>
          </a:p>
        </p:txBody>
      </p:sp>
      <p:sp>
        <p:nvSpPr>
          <p:cNvPr id="15" name="Text 13"/>
          <p:cNvSpPr txBox="1"/>
          <p:nvPr/>
        </p:nvSpPr>
        <p:spPr>
          <a:xfrm>
            <a:off x="548640" y="3547872"/>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Ikibazo cya 10. Impinduka mu buryo bwo kwituma imara ibyumweru byinshi bisobanura:</a:t>
            </a:r>
            <a:endParaRPr lang="rw-RW" sz="1700" dirty="0"/>
          </a:p>
        </p:txBody>
      </p:sp>
      <p:sp>
        <p:nvSpPr>
          <p:cNvPr id="16" name="Shape 14"/>
          <p:cNvSpPr/>
          <p:nvPr/>
        </p:nvSpPr>
        <p:spPr>
          <a:xfrm>
            <a:off x="548640" y="3931920"/>
            <a:ext cx="5410048" cy="420623"/>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17" name="Text 15"/>
          <p:cNvSpPr txBox="1"/>
          <p:nvPr/>
        </p:nvSpPr>
        <p:spPr>
          <a:xfrm>
            <a:off x="749808" y="3931920"/>
            <a:ext cx="5044288" cy="420623"/>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A. Hakenewe kwisuzumisha ✓</a:t>
            </a:r>
            <a:endParaRPr lang="rw-RW" sz="1800" dirty="0"/>
          </a:p>
        </p:txBody>
      </p:sp>
      <p:sp>
        <p:nvSpPr>
          <p:cNvPr id="18" name="Shape 16"/>
          <p:cNvSpPr/>
          <p:nvPr/>
        </p:nvSpPr>
        <p:spPr>
          <a:xfrm>
            <a:off x="6233008" y="3931920"/>
            <a:ext cx="5410048" cy="420623"/>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19" name="Text 17"/>
          <p:cNvSpPr txBox="1"/>
          <p:nvPr/>
        </p:nvSpPr>
        <p:spPr>
          <a:xfrm>
            <a:off x="6434176" y="3931920"/>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Kanseri yemejwe</a:t>
            </a:r>
            <a:endParaRPr lang="rw-RW" sz="1800" dirty="0"/>
          </a:p>
        </p:txBody>
      </p:sp>
      <p:sp>
        <p:nvSpPr>
          <p:cNvPr id="20" name="Shape 18"/>
          <p:cNvSpPr/>
          <p:nvPr/>
        </p:nvSpPr>
        <p:spPr>
          <a:xfrm>
            <a:off x="548640" y="4407408"/>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1" name="Text 19"/>
          <p:cNvSpPr txBox="1"/>
          <p:nvPr/>
        </p:nvSpPr>
        <p:spPr>
          <a:xfrm>
            <a:off x="749808" y="4407408"/>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Nta kintu na kimwe gishobora gukorwa</a:t>
            </a:r>
            <a:endParaRPr lang="rw-RW" sz="1800" dirty="0"/>
          </a:p>
        </p:txBody>
      </p:sp>
      <p:sp>
        <p:nvSpPr>
          <p:cNvPr id="22" name="Shape 20"/>
          <p:cNvSpPr/>
          <p:nvPr/>
        </p:nvSpPr>
        <p:spPr>
          <a:xfrm>
            <a:off x="6233008" y="4407408"/>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3" name="Text 21"/>
          <p:cNvSpPr txBox="1"/>
          <p:nvPr/>
        </p:nvSpPr>
        <p:spPr>
          <a:xfrm>
            <a:off x="6434176" y="4407408"/>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Umuntu agomba kwiyiriza ubusa</a:t>
            </a:r>
            <a:endParaRPr lang="rw-RW" sz="1800" dirty="0"/>
          </a:p>
        </p:txBody>
      </p:sp>
      <p:sp>
        <p:nvSpPr>
          <p:cNvPr id="24" name="Text 22"/>
          <p:cNvSpPr txBox="1"/>
          <p:nvPr/>
        </p:nvSpPr>
        <p:spPr>
          <a:xfrm>
            <a:off x="548640" y="4919472"/>
            <a:ext cx="11094415" cy="310896"/>
          </a:xfrm>
          <a:prstGeom prst="rect">
            <a:avLst/>
          </a:prstGeom>
          <a:noFill/>
          <a:ln/>
        </p:spPr>
        <p:txBody>
          <a:bodyPr wrap="square" lIns="0" tIns="0" rIns="0" bIns="0" rtlCol="0" anchor="t"/>
          <a:lstStyle/>
          <a:p>
            <a:pPr marL="0" indent="0">
              <a:buNone/>
            </a:pPr>
            <a:r>
              <a:rPr lang="rw-RW" sz="1800" b="1" dirty="0">
                <a:solidFill>
                  <a:srgbClr val="1B6B41"/>
                </a:solidFill>
                <a:latin typeface="Calibri" pitchFamily="34" charset="0"/>
                <a:ea typeface="Calibri" pitchFamily="34" charset="-122"/>
                <a:cs typeface="Calibri" pitchFamily="34" charset="-120"/>
              </a:rPr>
              <a:t>Ukuri: A. </a:t>
            </a:r>
            <a:r>
              <a:rPr lang="rw-RW" sz="1800" dirty="0">
                <a:solidFill>
                  <a:srgbClr val="17335F"/>
                </a:solidFill>
                <a:latin typeface="Calibri" pitchFamily="34" charset="0"/>
                <a:ea typeface="Calibri" pitchFamily="34" charset="-122"/>
                <a:cs typeface="Calibri" pitchFamily="34" charset="-120"/>
              </a:rPr>
              <a:t>Ntabwo ari ikimenyetso cy'ikintu na kimwe, ariko ntibikwiye gusigara bitasuzumwe.</a:t>
            </a:r>
            <a:endParaRPr lang="rw-RW" sz="1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IGENZURA RYA NYUMA</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Ikizamini gisoza (6 kuri 10)</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Umujyanama w'ubuzima | Ikigo cy'Igihugu gishinzwe Ubuzima (Rwanda Biomedical Centre)</a:t>
            </a:r>
            <a:endParaRPr lang="rw-RW" sz="1100" dirty="0"/>
          </a:p>
        </p:txBody>
      </p:sp>
      <p:sp>
        <p:nvSpPr>
          <p:cNvPr id="5" name="Text 3"/>
          <p:cNvSpPr txBox="1"/>
          <p:nvPr/>
        </p:nvSpPr>
        <p:spPr>
          <a:xfrm>
            <a:off x="548640" y="1298448"/>
            <a:ext cx="11094415" cy="603503"/>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Ikibazo cya 11. Umuntu ntashobora kwituma cyangwa kurekura umwuka wo mu nda, araruka, kandi igifu kibyimba kandi kibabaje. Ibi bikenewe:</a:t>
            </a:r>
            <a:endParaRPr lang="rw-RW" sz="1150" dirty="0"/>
          </a:p>
        </p:txBody>
      </p:sp>
      <p:sp>
        <p:nvSpPr>
          <p:cNvPr id="6" name="Shape 4"/>
          <p:cNvSpPr/>
          <p:nvPr/>
        </p:nvSpPr>
        <p:spPr>
          <a:xfrm>
            <a:off x="548640" y="1956815"/>
            <a:ext cx="5410048" cy="420623"/>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7" name="Text 5"/>
          <p:cNvSpPr txBox="1"/>
          <p:nvPr/>
        </p:nvSpPr>
        <p:spPr>
          <a:xfrm>
            <a:off x="749808" y="1956815"/>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a:rPr>
              <a:t>Uruzinduko mu kwezi gutaha</a:t>
            </a:r>
            <a:endParaRPr lang="rw-RW" sz="1800" dirty="0"/>
          </a:p>
        </p:txBody>
      </p:sp>
      <p:sp>
        <p:nvSpPr>
          <p:cNvPr id="8" name="Shape 6"/>
          <p:cNvSpPr/>
          <p:nvPr/>
        </p:nvSpPr>
        <p:spPr>
          <a:xfrm>
            <a:off x="6233008" y="1956815"/>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9" name="Text 7"/>
          <p:cNvSpPr txBox="1"/>
          <p:nvPr/>
        </p:nvSpPr>
        <p:spPr>
          <a:xfrm>
            <a:off x="6434176" y="1956815"/>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pitchFamily="34" charset="0"/>
                <a:ea typeface="Calibri" pitchFamily="34" charset="-122"/>
                <a:cs typeface="Calibri" pitchFamily="34" charset="-120"/>
              </a:rPr>
              <a:t>Kuruhuka no kurya byinshi</a:t>
            </a:r>
            <a:endParaRPr lang="rw-RW" sz="1800" dirty="0"/>
          </a:p>
        </p:txBody>
      </p:sp>
      <p:sp>
        <p:nvSpPr>
          <p:cNvPr id="10" name="Shape 8"/>
          <p:cNvSpPr/>
          <p:nvPr/>
        </p:nvSpPr>
        <p:spPr>
          <a:xfrm>
            <a:off x="548640" y="2432303"/>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49808" y="2432303"/>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Nta gikorwa</a:t>
            </a:r>
            <a:endParaRPr lang="rw-RW" sz="1800" dirty="0"/>
          </a:p>
        </p:txBody>
      </p:sp>
      <p:sp>
        <p:nvSpPr>
          <p:cNvPr id="12" name="Shape 10"/>
          <p:cNvSpPr/>
          <p:nvPr/>
        </p:nvSpPr>
        <p:spPr>
          <a:xfrm>
            <a:off x="6233008" y="2432303"/>
            <a:ext cx="5410048" cy="420623"/>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13" name="Text 11"/>
          <p:cNvSpPr txBox="1"/>
          <p:nvPr/>
        </p:nvSpPr>
        <p:spPr>
          <a:xfrm>
            <a:off x="6434176" y="2432303"/>
            <a:ext cx="5044288" cy="420623"/>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D. Kwitabwaho uwo munsi ✓</a:t>
            </a:r>
            <a:endParaRPr lang="rw-RW" sz="1800" dirty="0"/>
          </a:p>
        </p:txBody>
      </p:sp>
      <p:sp>
        <p:nvSpPr>
          <p:cNvPr id="14" name="Text 12"/>
          <p:cNvSpPr txBox="1"/>
          <p:nvPr/>
        </p:nvSpPr>
        <p:spPr>
          <a:xfrm>
            <a:off x="548640" y="2944368"/>
            <a:ext cx="11094415" cy="310896"/>
          </a:xfrm>
          <a:prstGeom prst="rect">
            <a:avLst/>
          </a:prstGeom>
          <a:noFill/>
          <a:ln/>
        </p:spPr>
        <p:txBody>
          <a:bodyPr wrap="square" lIns="0" tIns="0" rIns="0" bIns="0" rtlCol="0" anchor="t"/>
          <a:lstStyle/>
          <a:p>
            <a:pPr marL="0" indent="0">
              <a:buNone/>
            </a:pPr>
            <a:r>
              <a:rPr lang="rw-RW" sz="1800" b="1" dirty="0">
                <a:solidFill>
                  <a:srgbClr val="1B6B41"/>
                </a:solidFill>
                <a:latin typeface="Calibri" pitchFamily="34" charset="0"/>
                <a:ea typeface="Calibri" pitchFamily="34" charset="-122"/>
                <a:cs typeface="Calibri" pitchFamily="34" charset="-120"/>
              </a:rPr>
              <a:t>Ukuri: D. </a:t>
            </a:r>
            <a:r>
              <a:rPr lang="rw-RW" sz="1800" dirty="0">
                <a:solidFill>
                  <a:srgbClr val="17335F"/>
                </a:solidFill>
                <a:latin typeface="Calibri" pitchFamily="34" charset="0"/>
                <a:ea typeface="Calibri" pitchFamily="34" charset="-122"/>
                <a:cs typeface="Calibri" pitchFamily="34" charset="-120"/>
              </a:rPr>
              <a:t>Ibi bimenyetso byerekana ko amara ashobora kuziba, ibi bikaba ari ibintu byihutirwa.</a:t>
            </a:r>
            <a:endParaRPr lang="rw-RW" sz="1800" dirty="0"/>
          </a:p>
        </p:txBody>
      </p:sp>
      <p:sp>
        <p:nvSpPr>
          <p:cNvPr id="15" name="Text 13"/>
          <p:cNvSpPr txBox="1"/>
          <p:nvPr/>
        </p:nvSpPr>
        <p:spPr>
          <a:xfrm>
            <a:off x="548640" y="3547872"/>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Ikibazo cya 12. Ahantu umuntu akunze kujya kwisuzumisha ni ibi bikurikira:</a:t>
            </a:r>
            <a:endParaRPr lang="rw-RW" sz="1700" dirty="0"/>
          </a:p>
        </p:txBody>
      </p:sp>
      <p:sp>
        <p:nvSpPr>
          <p:cNvPr id="16" name="Shape 14"/>
          <p:cNvSpPr/>
          <p:nvPr/>
        </p:nvSpPr>
        <p:spPr>
          <a:xfrm>
            <a:off x="548640" y="3931920"/>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7" name="Text 15"/>
          <p:cNvSpPr txBox="1"/>
          <p:nvPr/>
        </p:nvSpPr>
        <p:spPr>
          <a:xfrm>
            <a:off x="749808" y="3931920"/>
            <a:ext cx="5044288" cy="694944"/>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Ibitaro bikuru byakira abarwayi boherejwe (Referral)</a:t>
            </a:r>
            <a:endParaRPr lang="rw-RW" sz="1200" dirty="0"/>
          </a:p>
        </p:txBody>
      </p:sp>
      <p:sp>
        <p:nvSpPr>
          <p:cNvPr id="18" name="Shape 16"/>
          <p:cNvSpPr/>
          <p:nvPr/>
        </p:nvSpPr>
        <p:spPr>
          <a:xfrm>
            <a:off x="6233008" y="3931920"/>
            <a:ext cx="5410048" cy="694944"/>
          </a:xfrm>
          <a:prstGeom prst="roundRect">
            <a:avLst>
              <a:gd name="adj" fmla="val 19231"/>
            </a:avLst>
          </a:prstGeom>
          <a:solidFill>
            <a:srgbClr val="E9F5EC"/>
          </a:solidFill>
          <a:ln w="12700">
            <a:solidFill>
              <a:srgbClr val="AFD8BE"/>
            </a:solidFill>
            <a:prstDash val="solid"/>
          </a:ln>
        </p:spPr>
        <p:txBody>
          <a:bodyPr/>
          <a:lstStyle/>
          <a:p>
            <a:endParaRPr lang="rw-RW" dirty="0"/>
          </a:p>
        </p:txBody>
      </p:sp>
      <p:sp>
        <p:nvSpPr>
          <p:cNvPr id="19" name="Text 17"/>
          <p:cNvSpPr txBox="1"/>
          <p:nvPr/>
        </p:nvSpPr>
        <p:spPr>
          <a:xfrm>
            <a:off x="6434176" y="3931920"/>
            <a:ext cx="5044288" cy="694944"/>
          </a:xfrm>
          <a:prstGeom prst="rect">
            <a:avLst/>
          </a:prstGeom>
          <a:noFill/>
          <a:ln/>
        </p:spPr>
        <p:txBody>
          <a:bodyPr wrap="square" lIns="0" tIns="0" rIns="0" bIns="0" rtlCol="0" anchor="ctr">
            <a:normAutofit/>
          </a:bodyPr>
          <a:lstStyle/>
          <a:p>
            <a:pPr marL="0" indent="0">
              <a:buNone/>
            </a:pPr>
            <a:r>
              <a:rPr lang="rw-RW" sz="1800" b="1" dirty="0">
                <a:solidFill>
                  <a:srgbClr val="1B6B41"/>
                </a:solidFill>
                <a:latin typeface="Calibri" pitchFamily="34" charset="0"/>
                <a:ea typeface="Calibri" pitchFamily="34" charset="-122"/>
                <a:cs typeface="Calibri" pitchFamily="34" charset="-120"/>
              </a:rPr>
              <a:t>B. Ivuriro rito (health post) cyangwa ikigo nderabuzima ✓</a:t>
            </a:r>
            <a:endParaRPr lang="rw-RW" sz="1200" dirty="0"/>
          </a:p>
        </p:txBody>
      </p:sp>
      <p:sp>
        <p:nvSpPr>
          <p:cNvPr id="20" name="Shape 18"/>
          <p:cNvSpPr/>
          <p:nvPr/>
        </p:nvSpPr>
        <p:spPr>
          <a:xfrm>
            <a:off x="548640" y="4681728"/>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1" name="Text 19"/>
          <p:cNvSpPr txBox="1"/>
          <p:nvPr/>
        </p:nvSpPr>
        <p:spPr>
          <a:xfrm>
            <a:off x="749808" y="4681728"/>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Ikigo cya kanseri</a:t>
            </a:r>
            <a:endParaRPr lang="rw-RW" sz="1800" dirty="0"/>
          </a:p>
        </p:txBody>
      </p:sp>
      <p:sp>
        <p:nvSpPr>
          <p:cNvPr id="22" name="Shape 20"/>
          <p:cNvSpPr/>
          <p:nvPr/>
        </p:nvSpPr>
        <p:spPr>
          <a:xfrm>
            <a:off x="6233008" y="4681728"/>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3" name="Text 21"/>
          <p:cNvSpPr txBox="1"/>
          <p:nvPr/>
        </p:nvSpPr>
        <p:spPr>
          <a:xfrm>
            <a:off x="6434176" y="4681728"/>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Isoko</a:t>
            </a:r>
            <a:endParaRPr lang="rw-RW" sz="1800" dirty="0"/>
          </a:p>
        </p:txBody>
      </p:sp>
      <p:sp>
        <p:nvSpPr>
          <p:cNvPr id="24" name="Text 22"/>
          <p:cNvSpPr txBox="1"/>
          <p:nvPr/>
        </p:nvSpPr>
        <p:spPr>
          <a:xfrm>
            <a:off x="548640" y="5193792"/>
            <a:ext cx="11094415" cy="585216"/>
          </a:xfrm>
          <a:prstGeom prst="rect">
            <a:avLst/>
          </a:prstGeom>
          <a:noFill/>
          <a:ln/>
        </p:spPr>
        <p:txBody>
          <a:bodyPr wrap="square" lIns="0" tIns="0" rIns="0" bIns="0" rtlCol="0" anchor="t">
            <a:normAutofit/>
          </a:bodyPr>
          <a:lstStyle/>
          <a:p>
            <a:pPr marL="0" indent="0">
              <a:buNone/>
            </a:pPr>
            <a:r>
              <a:rPr lang="rw-RW" sz="1800" b="1" dirty="0">
                <a:solidFill>
                  <a:srgbClr val="1B6B41"/>
                </a:solidFill>
                <a:latin typeface="Calibri" pitchFamily="34" charset="0"/>
                <a:ea typeface="Calibri" pitchFamily="34" charset="-122"/>
                <a:cs typeface="Calibri" pitchFamily="34" charset="-120"/>
              </a:rPr>
              <a:t>Ukuri: B. </a:t>
            </a:r>
            <a:r>
              <a:rPr lang="rw-RW" sz="1800" dirty="0">
                <a:solidFill>
                  <a:srgbClr val="17335F"/>
                </a:solidFill>
                <a:latin typeface="Calibri" pitchFamily="34" charset="0"/>
                <a:ea typeface="Calibri" pitchFamily="34" charset="-122"/>
                <a:cs typeface="Calibri" pitchFamily="34" charset="-120"/>
              </a:rPr>
              <a:t>Ivuriro rito cyangwa ikigo cy'ubuzima nibwo basuzuma mbere, hanyuma bakohereza umurwayi ahandi niba bibaye ngombwa.</a:t>
            </a:r>
            <a:endParaRPr lang="rw-RW" sz="11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IGENZURA RYA NYUMA</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Ikizamini gisoza (7 muri 10)</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Umujyanama w'ubuzima | Ikigo cy'Igihugu gishinzwe Ubuvuzi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Ikibazo cya 13. Umuntu aterwa isoni no kuvuga iby'amaraso mu ntebe. Ugomba ko:</a:t>
            </a:r>
            <a:endParaRPr lang="rw-RW" sz="1700" dirty="0"/>
          </a:p>
        </p:txBody>
      </p:sp>
      <p:sp>
        <p:nvSpPr>
          <p:cNvPr id="6" name="Shape 4"/>
          <p:cNvSpPr/>
          <p:nvPr/>
        </p:nvSpPr>
        <p:spPr>
          <a:xfrm>
            <a:off x="548640" y="1682495"/>
            <a:ext cx="5410048" cy="694944"/>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694944"/>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A. Tega amatwi mu mwiherero, ubishyire mu ibanga, kandi ushishikarize kwisuzumisha ✓</a:t>
            </a:r>
            <a:endParaRPr lang="rw-RW" sz="1800" dirty="0"/>
          </a:p>
        </p:txBody>
      </p:sp>
      <p:sp>
        <p:nvSpPr>
          <p:cNvPr id="8" name="Shape 6"/>
          <p:cNvSpPr/>
          <p:nvPr/>
        </p:nvSpPr>
        <p:spPr>
          <a:xfrm>
            <a:off x="6233008" y="1682495"/>
            <a:ext cx="5410048" cy="694944"/>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9" name="Text 7"/>
          <p:cNvSpPr txBox="1"/>
          <p:nvPr/>
        </p:nvSpPr>
        <p:spPr>
          <a:xfrm>
            <a:off x="6434176" y="1682495"/>
            <a:ext cx="5044288" cy="694944"/>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Banza uganire n'umuryango wawe</a:t>
            </a:r>
            <a:endParaRPr lang="rw-RW" sz="1200" dirty="0"/>
          </a:p>
        </p:txBody>
      </p:sp>
      <p:sp>
        <p:nvSpPr>
          <p:cNvPr id="10" name="Shape 8"/>
          <p:cNvSpPr/>
          <p:nvPr/>
        </p:nvSpPr>
        <p:spPr>
          <a:xfrm>
            <a:off x="548640" y="2432304"/>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49808" y="243230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Mubwire ko yakwibagirwa</a:t>
            </a:r>
            <a:endParaRPr lang="rw-RW" sz="1800" dirty="0"/>
          </a:p>
        </p:txBody>
      </p:sp>
      <p:sp>
        <p:nvSpPr>
          <p:cNvPr id="12" name="Shape 10"/>
          <p:cNvSpPr/>
          <p:nvPr/>
        </p:nvSpPr>
        <p:spPr>
          <a:xfrm>
            <a:off x="6233008" y="2432304"/>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432304"/>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a:rPr>
              <a:t>Musetseho kugira ngo yumve aruhutse</a:t>
            </a:r>
            <a:endParaRPr lang="rw-RW" sz="1800" dirty="0"/>
          </a:p>
        </p:txBody>
      </p:sp>
      <p:sp>
        <p:nvSpPr>
          <p:cNvPr id="14" name="Text 12"/>
          <p:cNvSpPr txBox="1"/>
          <p:nvPr/>
        </p:nvSpPr>
        <p:spPr>
          <a:xfrm>
            <a:off x="548640" y="2944368"/>
            <a:ext cx="11094415" cy="310896"/>
          </a:xfrm>
          <a:prstGeom prst="rect">
            <a:avLst/>
          </a:prstGeom>
          <a:noFill/>
          <a:ln/>
        </p:spPr>
        <p:txBody>
          <a:bodyPr wrap="square" lIns="0" tIns="0" rIns="0" bIns="0" rtlCol="0" anchor="t"/>
          <a:lstStyle/>
          <a:p>
            <a:pPr marL="0" indent="0">
              <a:buNone/>
            </a:pPr>
            <a:r>
              <a:rPr lang="rw-RW" sz="1800" b="1" dirty="0">
                <a:solidFill>
                  <a:srgbClr val="1B6B41"/>
                </a:solidFill>
                <a:latin typeface="Calibri" pitchFamily="34" charset="0"/>
                <a:ea typeface="Calibri" pitchFamily="34" charset="-122"/>
                <a:cs typeface="Calibri" pitchFamily="34" charset="-120"/>
              </a:rPr>
              <a:t>Ukuri: A. </a:t>
            </a:r>
            <a:r>
              <a:rPr lang="rw-RW" sz="1800" dirty="0">
                <a:solidFill>
                  <a:srgbClr val="17335F"/>
                </a:solidFill>
                <a:latin typeface="Calibri" pitchFamily="34" charset="0"/>
                <a:ea typeface="Calibri" pitchFamily="34" charset="-122"/>
                <a:cs typeface="Calibri" pitchFamily="34" charset="-120"/>
              </a:rPr>
              <a:t>Ubuzima bwite n'icyubahiro bituma umuntu arushaho kwitabwaho.</a:t>
            </a:r>
            <a:endParaRPr lang="rw-RW" sz="1800" dirty="0"/>
          </a:p>
        </p:txBody>
      </p:sp>
      <p:sp>
        <p:nvSpPr>
          <p:cNvPr id="15" name="Text 13"/>
          <p:cNvSpPr txBox="1"/>
          <p:nvPr/>
        </p:nvSpPr>
        <p:spPr>
          <a:xfrm>
            <a:off x="548640" y="3547872"/>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Ikibazo cya 14. Kanseri y'amara yemezwa na:</a:t>
            </a:r>
            <a:endParaRPr lang="rw-RW" sz="1700" dirty="0"/>
          </a:p>
        </p:txBody>
      </p:sp>
      <p:sp>
        <p:nvSpPr>
          <p:cNvPr id="16" name="Shape 14"/>
          <p:cNvSpPr/>
          <p:nvPr/>
        </p:nvSpPr>
        <p:spPr>
          <a:xfrm>
            <a:off x="548640" y="3931920"/>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7" name="Text 15"/>
          <p:cNvSpPr txBox="1"/>
          <p:nvPr/>
        </p:nvSpPr>
        <p:spPr>
          <a:xfrm>
            <a:off x="749808" y="3931920"/>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Ibimenyetso</a:t>
            </a:r>
            <a:endParaRPr lang="rw-RW" sz="1800" dirty="0"/>
          </a:p>
        </p:txBody>
      </p:sp>
      <p:sp>
        <p:nvSpPr>
          <p:cNvPr id="18" name="Shape 16"/>
          <p:cNvSpPr/>
          <p:nvPr/>
        </p:nvSpPr>
        <p:spPr>
          <a:xfrm>
            <a:off x="6233008" y="3931920"/>
            <a:ext cx="5410048" cy="420623"/>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19" name="Text 17"/>
          <p:cNvSpPr txBox="1"/>
          <p:nvPr/>
        </p:nvSpPr>
        <p:spPr>
          <a:xfrm>
            <a:off x="6434176" y="3931920"/>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Kwipimisha amaraso wenyine</a:t>
            </a:r>
            <a:endParaRPr lang="rw-RW" sz="1800" dirty="0"/>
          </a:p>
        </p:txBody>
      </p:sp>
      <p:sp>
        <p:nvSpPr>
          <p:cNvPr id="20" name="Shape 18"/>
          <p:cNvSpPr/>
          <p:nvPr/>
        </p:nvSpPr>
        <p:spPr>
          <a:xfrm>
            <a:off x="548640" y="4407408"/>
            <a:ext cx="5410048" cy="420623"/>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21" name="Text 19"/>
          <p:cNvSpPr txBox="1"/>
          <p:nvPr/>
        </p:nvSpPr>
        <p:spPr>
          <a:xfrm>
            <a:off x="749808" y="4407408"/>
            <a:ext cx="5044288" cy="420623"/>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C. Gusuzuma agace gato k'umubiri kavuyemo ✓</a:t>
            </a:r>
            <a:endParaRPr lang="rw-RW" sz="1800" dirty="0"/>
          </a:p>
        </p:txBody>
      </p:sp>
      <p:sp>
        <p:nvSpPr>
          <p:cNvPr id="22" name="Shape 20"/>
          <p:cNvSpPr/>
          <p:nvPr/>
        </p:nvSpPr>
        <p:spPr>
          <a:xfrm>
            <a:off x="6233008" y="4407408"/>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3" name="Text 21"/>
          <p:cNvSpPr txBox="1"/>
          <p:nvPr/>
        </p:nvSpPr>
        <p:spPr>
          <a:xfrm>
            <a:off x="6434176" y="4407408"/>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Ifoto ya kamera yonyine</a:t>
            </a:r>
            <a:endParaRPr lang="rw-RW" sz="1800" dirty="0"/>
          </a:p>
        </p:txBody>
      </p:sp>
      <p:sp>
        <p:nvSpPr>
          <p:cNvPr id="24" name="Text 22"/>
          <p:cNvSpPr txBox="1"/>
          <p:nvPr/>
        </p:nvSpPr>
        <p:spPr>
          <a:xfrm>
            <a:off x="548640" y="4919472"/>
            <a:ext cx="11094415" cy="310896"/>
          </a:xfrm>
          <a:prstGeom prst="rect">
            <a:avLst/>
          </a:prstGeom>
          <a:noFill/>
          <a:ln/>
        </p:spPr>
        <p:txBody>
          <a:bodyPr wrap="square" lIns="0" tIns="0" rIns="0" bIns="0" rtlCol="0" anchor="t"/>
          <a:lstStyle/>
          <a:p>
            <a:pPr marL="0" indent="0">
              <a:buNone/>
            </a:pPr>
            <a:r>
              <a:rPr lang="rw-RW" sz="1800" b="1" dirty="0">
                <a:solidFill>
                  <a:srgbClr val="1B6B41"/>
                </a:solidFill>
                <a:latin typeface="Calibri" pitchFamily="34" charset="0"/>
                <a:ea typeface="Calibri" pitchFamily="34" charset="-122"/>
                <a:cs typeface="Calibri" pitchFamily="34" charset="-120"/>
              </a:rPr>
              <a:t>Ukuri: C. </a:t>
            </a:r>
            <a:r>
              <a:rPr lang="rw-RW" sz="1800" b="0" dirty="0">
                <a:solidFill>
                  <a:srgbClr val="17335F"/>
                </a:solidFill>
                <a:latin typeface="Calibri"/>
              </a:rPr>
              <a:t>Gusuzuma agace k'umubiri ni byo byemeza kanseri.</a:t>
            </a:r>
            <a:endParaRPr lang="rw-RW" sz="1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IGENZURA RYA NYUMA</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Ikizamini gisoza (8 kuri 10)</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Ikibazo cya 15. Ikizamini cya kamera cyo kureba mu mara rishobora gukurikira:</a:t>
            </a:r>
            <a:endParaRPr lang="rw-RW" sz="1700" dirty="0"/>
          </a:p>
        </p:txBody>
      </p:sp>
      <p:sp>
        <p:nvSpPr>
          <p:cNvPr id="6" name="Shape 4"/>
          <p:cNvSpPr/>
          <p:nvPr/>
        </p:nvSpPr>
        <p:spPr>
          <a:xfrm>
            <a:off x="548640" y="1682495"/>
            <a:ext cx="5410048" cy="96926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969263"/>
          </a:xfrm>
          <a:prstGeom prst="rect">
            <a:avLst/>
          </a:prstGeom>
          <a:noFill/>
          <a:ln/>
        </p:spPr>
        <p:txBody>
          <a:bodyPr wrap="square" lIns="0" tIns="0" rIns="0" bIns="0" rtlCol="0" anchor="ctr">
            <a:noAutofit/>
          </a:bodyP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Reba imbere gusa</a:t>
            </a:r>
            <a:endParaRPr lang="rw-RW" sz="1584" dirty="0"/>
          </a:p>
        </p:txBody>
      </p:sp>
      <p:sp>
        <p:nvSpPr>
          <p:cNvPr id="8" name="Shape 6"/>
          <p:cNvSpPr/>
          <p:nvPr/>
        </p:nvSpPr>
        <p:spPr>
          <a:xfrm>
            <a:off x="6233008" y="1682495"/>
            <a:ext cx="5410048" cy="969263"/>
          </a:xfrm>
          <a:prstGeom prst="roundRect">
            <a:avLst>
              <a:gd name="adj" fmla="val 19231"/>
            </a:avLst>
          </a:prstGeom>
          <a:solidFill>
            <a:srgbClr val="E9F5EC"/>
          </a:solidFill>
          <a:ln w="12700">
            <a:solidFill>
              <a:srgbClr val="AFD8BE"/>
            </a:solidFill>
            <a:prstDash val="solid"/>
          </a:ln>
        </p:spPr>
        <p:txBody>
          <a:bodyPr/>
          <a:lstStyle/>
          <a:p>
            <a:endParaRPr lang="rw-RW" dirty="0"/>
          </a:p>
        </p:txBody>
      </p:sp>
      <p:sp>
        <p:nvSpPr>
          <p:cNvPr id="9" name="Text 7"/>
          <p:cNvSpPr txBox="1"/>
          <p:nvPr/>
        </p:nvSpPr>
        <p:spPr>
          <a:xfrm>
            <a:off x="6434176" y="1682495"/>
            <a:ext cx="5044288" cy="969263"/>
          </a:xfrm>
          <a:prstGeom prst="rect">
            <a:avLst/>
          </a:prstGeom>
          <a:noFill/>
          <a:ln/>
        </p:spPr>
        <p:txBody>
          <a:bodyPr wrap="square" lIns="0" tIns="0" rIns="0" bIns="0" rtlCol="0" anchor="ctr">
            <a:normAutofit/>
          </a:bodyPr>
          <a:lstStyle/>
          <a:p>
            <a:pPr marL="0" indent="0">
              <a:buNone/>
            </a:pPr>
            <a:r>
              <a:rPr lang="rw-RW" sz="1800" b="1" dirty="0">
                <a:solidFill>
                  <a:srgbClr val="1B6B41"/>
                </a:solidFill>
                <a:latin typeface="Calibri" pitchFamily="34" charset="0"/>
                <a:ea typeface="Calibri" pitchFamily="34" charset="-122"/>
                <a:cs typeface="Calibri" pitchFamily="34" charset="-120"/>
              </a:rPr>
              <a:t>B. Kureba imbere, gufata agace k'umubiri kugira ngo gasuzumwe, no gukuraho imikurire imwe n'imwe ✓</a:t>
            </a:r>
            <a:endParaRPr lang="rw-RW" sz="1100" dirty="0"/>
          </a:p>
        </p:txBody>
      </p:sp>
      <p:sp>
        <p:nvSpPr>
          <p:cNvPr id="10" name="Shape 8"/>
          <p:cNvSpPr/>
          <p:nvPr/>
        </p:nvSpPr>
        <p:spPr>
          <a:xfrm>
            <a:off x="548640" y="2706624"/>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49808" y="2706624"/>
            <a:ext cx="5044288" cy="420623"/>
          </a:xfrm>
          <a:prstGeom prst="rect">
            <a:avLst/>
          </a:prstGeom>
          <a:noFill/>
          <a:ln/>
        </p:spPr>
        <p:txBody>
          <a:bodyPr wrap="square" lIns="0" tIns="0" rIns="0" bIns="0" rtlCol="0" anchor="ctr">
            <a:noAutofit/>
          </a:bodyP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Kuvura kanseri</a:t>
            </a:r>
            <a:endParaRPr lang="rw-RW" sz="1584" dirty="0"/>
          </a:p>
        </p:txBody>
      </p:sp>
      <p:sp>
        <p:nvSpPr>
          <p:cNvPr id="12" name="Shape 10"/>
          <p:cNvSpPr/>
          <p:nvPr/>
        </p:nvSpPr>
        <p:spPr>
          <a:xfrm>
            <a:off x="6233008" y="2706624"/>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706624"/>
            <a:ext cx="5044288" cy="420623"/>
          </a:xfrm>
          <a:prstGeom prst="rect">
            <a:avLst/>
          </a:prstGeom>
          <a:noFill/>
          <a:ln/>
        </p:spPr>
        <p:txBody>
          <a:bodyPr wrap="square" lIns="0" tIns="0" rIns="0" bIns="0" rtlCol="0" anchor="ctr">
            <a:noAutofit/>
          </a:bodyP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Gusimbuza kubagwa muri buri gihe</a:t>
            </a:r>
            <a:endParaRPr lang="rw-RW" sz="1584" dirty="0"/>
          </a:p>
        </p:txBody>
      </p:sp>
      <p:sp>
        <p:nvSpPr>
          <p:cNvPr id="14" name="Text 12"/>
          <p:cNvSpPr txBox="1"/>
          <p:nvPr/>
        </p:nvSpPr>
        <p:spPr>
          <a:xfrm>
            <a:off x="548640" y="3218688"/>
            <a:ext cx="11094415" cy="310896"/>
          </a:xfrm>
          <a:prstGeom prst="rect">
            <a:avLst/>
          </a:prstGeom>
          <a:noFill/>
          <a:ln/>
        </p:spPr>
        <p:txBody>
          <a:bodyPr wrap="square" lIns="0" tIns="0" rIns="0" bIns="0" rtlCol="0" anchor="t"/>
          <a:lstStyle/>
          <a:p>
            <a:pPr marL="0" indent="0">
              <a:buNone/>
            </a:pPr>
            <a:r>
              <a:rPr lang="rw-RW" sz="1800" b="1" dirty="0">
                <a:solidFill>
                  <a:srgbClr val="1B6B41"/>
                </a:solidFill>
                <a:latin typeface="Calibri" pitchFamily="34" charset="0"/>
                <a:ea typeface="Calibri" pitchFamily="34" charset="-122"/>
                <a:cs typeface="Calibri" pitchFamily="34" charset="-120"/>
              </a:rPr>
              <a:t>Ukuri: B. </a:t>
            </a:r>
            <a:r>
              <a:rPr lang="rw-RW" sz="1800" dirty="0">
                <a:solidFill>
                  <a:srgbClr val="17335F"/>
                </a:solidFill>
                <a:latin typeface="Calibri" pitchFamily="34" charset="0"/>
                <a:ea typeface="Calibri" pitchFamily="34" charset="-122"/>
                <a:cs typeface="Calibri" pitchFamily="34" charset="-120"/>
              </a:rPr>
              <a:t>Ikoreshwa mu gushakisha ibibazo no gukuraho imikurire.</a:t>
            </a:r>
            <a:endParaRPr lang="rw-RW" sz="1800" dirty="0"/>
          </a:p>
        </p:txBody>
      </p:sp>
      <p:sp>
        <p:nvSpPr>
          <p:cNvPr id="15" name="Text 13"/>
          <p:cNvSpPr txBox="1"/>
          <p:nvPr/>
        </p:nvSpPr>
        <p:spPr>
          <a:xfrm>
            <a:off x="548640" y="3822191"/>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Ikibazo cya 16. Kuvura kanseri y'amara:</a:t>
            </a:r>
            <a:endParaRPr lang="rw-RW" sz="1700" dirty="0"/>
          </a:p>
        </p:txBody>
      </p:sp>
      <p:sp>
        <p:nvSpPr>
          <p:cNvPr id="16" name="Shape 14"/>
          <p:cNvSpPr/>
          <p:nvPr/>
        </p:nvSpPr>
        <p:spPr>
          <a:xfrm>
            <a:off x="548640" y="4206240"/>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7" name="Text 15"/>
          <p:cNvSpPr txBox="1"/>
          <p:nvPr/>
        </p:nvSpPr>
        <p:spPr>
          <a:xfrm>
            <a:off x="749808" y="4206240"/>
            <a:ext cx="5044288" cy="420623"/>
          </a:xfrm>
          <a:prstGeom prst="rect">
            <a:avLst/>
          </a:prstGeom>
          <a:noFill/>
          <a:ln/>
        </p:spPr>
        <p:txBody>
          <a:bodyPr wrap="square" lIns="0" tIns="0" rIns="0" bIns="0" rtlCol="0" anchor="ctr">
            <a:noAutofit/>
          </a:bodyP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Ni kimwe kuri buri wese</a:t>
            </a:r>
            <a:endParaRPr lang="rw-RW" sz="1584" dirty="0"/>
          </a:p>
        </p:txBody>
      </p:sp>
      <p:sp>
        <p:nvSpPr>
          <p:cNvPr id="18" name="Shape 16"/>
          <p:cNvSpPr/>
          <p:nvPr/>
        </p:nvSpPr>
        <p:spPr>
          <a:xfrm>
            <a:off x="6233008" y="4206240"/>
            <a:ext cx="5410048" cy="420623"/>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19" name="Text 17"/>
          <p:cNvSpPr txBox="1"/>
          <p:nvPr/>
        </p:nvSpPr>
        <p:spPr>
          <a:xfrm>
            <a:off x="6434176" y="4206240"/>
            <a:ext cx="5044288" cy="420623"/>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Buri gihe ni imiti gusa</a:t>
            </a:r>
            <a:endParaRPr lang="rw-RW" sz="1200" dirty="0"/>
          </a:p>
        </p:txBody>
      </p:sp>
      <p:sp>
        <p:nvSpPr>
          <p:cNvPr id="20" name="Shape 18"/>
          <p:cNvSpPr/>
          <p:nvPr/>
        </p:nvSpPr>
        <p:spPr>
          <a:xfrm>
            <a:off x="548640" y="4681727"/>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1" name="Text 19"/>
          <p:cNvSpPr txBox="1"/>
          <p:nvPr/>
        </p:nvSpPr>
        <p:spPr>
          <a:xfrm>
            <a:off x="749808" y="4681727"/>
            <a:ext cx="5044288" cy="694944"/>
          </a:xfrm>
          <a:prstGeom prst="rect">
            <a:avLst/>
          </a:prstGeom>
          <a:noFill/>
          <a:ln/>
        </p:spPr>
        <p:txBody>
          <a:bodyPr wrap="square" lIns="0" tIns="0" rIns="0" bIns="0" rtlCol="0" anchor="ctr">
            <a:noAutofit/>
          </a:bodyP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D. Nta buvuzi bwa kanseri y'amara buboneka mu Rwanda</a:t>
            </a:r>
            <a:endParaRPr lang="rw-RW" sz="1584" dirty="0"/>
          </a:p>
        </p:txBody>
      </p:sp>
      <p:sp>
        <p:nvSpPr>
          <p:cNvPr id="22" name="Shape 20"/>
          <p:cNvSpPr/>
          <p:nvPr/>
        </p:nvSpPr>
        <p:spPr>
          <a:xfrm>
            <a:off x="6233008" y="4681727"/>
            <a:ext cx="5410048" cy="694944"/>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23" name="Text 21"/>
          <p:cNvSpPr txBox="1"/>
          <p:nvPr/>
        </p:nvSpPr>
        <p:spPr>
          <a:xfrm>
            <a:off x="6434176" y="4681727"/>
            <a:ext cx="5044288" cy="694944"/>
          </a:xfrm>
          <a:prstGeom prst="rect">
            <a:avLst/>
          </a:prstGeom>
          <a:noFill/>
          <a:ln/>
        </p:spPr>
        <p:txBody>
          <a:bodyPr wrap="square" lIns="0" tIns="0" rIns="0" bIns="0" rtlCol="0" anchor="ctr">
            <a:noAutofit/>
          </a:bodyPr>
          <a:lstStyle/>
          <a:p>
            <a:pPr marL="0" indent="0">
              <a:buNone/>
            </a:pPr>
            <a:r>
              <a:rPr lang="rw-RW" sz="1800" b="1" dirty="0">
                <a:solidFill>
                  <a:srgbClr val="1B6B41"/>
                </a:solidFill>
                <a:latin typeface="Calibri" pitchFamily="34" charset="0"/>
                <a:ea typeface="Calibri" pitchFamily="34" charset="-122"/>
                <a:cs typeface="Calibri" pitchFamily="34" charset="-120"/>
              </a:rPr>
              <a:t>D. Biterwa n'aho iyi kanseri iherereye, aho yakwirakwiye, ndetse n'ubuzima bw'umuntu ✓</a:t>
            </a:r>
            <a:endParaRPr lang="rw-RW" sz="1584" dirty="0"/>
          </a:p>
        </p:txBody>
      </p:sp>
      <p:sp>
        <p:nvSpPr>
          <p:cNvPr id="24" name="Text 22"/>
          <p:cNvSpPr txBox="1"/>
          <p:nvPr/>
        </p:nvSpPr>
        <p:spPr>
          <a:xfrm>
            <a:off x="548640" y="5468112"/>
            <a:ext cx="11094415" cy="585216"/>
          </a:xfrm>
          <a:prstGeom prst="rect">
            <a:avLst/>
          </a:prstGeom>
          <a:noFill/>
          <a:ln/>
        </p:spPr>
        <p:txBody>
          <a:bodyPr wrap="square" lIns="0" tIns="0" rIns="0" bIns="0" rtlCol="0" anchor="t">
            <a:normAutofit/>
          </a:bodyPr>
          <a:lstStyle/>
          <a:p>
            <a:pPr marL="0" indent="0">
              <a:buNone/>
            </a:pPr>
            <a:r>
              <a:rPr lang="rw-RW" sz="1800" b="1" dirty="0">
                <a:solidFill>
                  <a:srgbClr val="1B6B41"/>
                </a:solidFill>
                <a:latin typeface="Calibri" pitchFamily="34" charset="0"/>
                <a:ea typeface="Calibri" pitchFamily="34" charset="-122"/>
                <a:cs typeface="Calibri" pitchFamily="34" charset="-120"/>
              </a:rPr>
              <a:t>Ukuri: D. </a:t>
            </a:r>
            <a:r>
              <a:rPr lang="rw-RW" sz="1800" dirty="0">
                <a:solidFill>
                  <a:srgbClr val="17335F"/>
                </a:solidFill>
                <a:latin typeface="Calibri" pitchFamily="34" charset="0"/>
                <a:ea typeface="Calibri" pitchFamily="34" charset="-122"/>
                <a:cs typeface="Calibri" pitchFamily="34" charset="-120"/>
              </a:rPr>
              <a:t>Abaganga b'inzobere babiteganya hamwe n'umuntu, kandi hashobora gukoreshwa ubwoko burenze bumwe bwo kuvura.</a:t>
            </a:r>
            <a:endParaRPr lang="rw-RW" sz="11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IGENZURA RYA NYUMA</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Ikizamini gisoza (9 kuri 10)</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Text 3"/>
          <p:cNvSpPr txBox="1"/>
          <p:nvPr/>
        </p:nvSpPr>
        <p:spPr>
          <a:xfrm>
            <a:off x="548640" y="1298448"/>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Ikibazo cya 17. Stoma ni:</a:t>
            </a:r>
            <a:endParaRPr lang="rw-RW" sz="1700" dirty="0"/>
          </a:p>
        </p:txBody>
      </p:sp>
      <p:sp>
        <p:nvSpPr>
          <p:cNvPr id="6" name="Shape 4"/>
          <p:cNvSpPr/>
          <p:nvPr/>
        </p:nvSpPr>
        <p:spPr>
          <a:xfrm>
            <a:off x="548640" y="1682495"/>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7" name="Text 5"/>
          <p:cNvSpPr txBox="1"/>
          <p:nvPr/>
        </p:nvSpPr>
        <p:spPr>
          <a:xfrm>
            <a:off x="749808" y="1682495"/>
            <a:ext cx="5044288" cy="694944"/>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Ikenewe na buri muntu urwaye kanseri y'amara</a:t>
            </a:r>
            <a:endParaRPr lang="rw-RW" sz="1200" dirty="0"/>
          </a:p>
        </p:txBody>
      </p:sp>
      <p:sp>
        <p:nvSpPr>
          <p:cNvPr id="8" name="Shape 6"/>
          <p:cNvSpPr/>
          <p:nvPr/>
        </p:nvSpPr>
        <p:spPr>
          <a:xfrm>
            <a:off x="6233008" y="1682495"/>
            <a:ext cx="5410048" cy="694944"/>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9" name="Text 7"/>
          <p:cNvSpPr txBox="1"/>
          <p:nvPr/>
        </p:nvSpPr>
        <p:spPr>
          <a:xfrm>
            <a:off x="6434176" y="1682495"/>
            <a:ext cx="5044288" cy="694944"/>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a:rPr>
              <a:t>Ubwoko bw'imiti</a:t>
            </a:r>
            <a:endParaRPr lang="rw-RW" sz="1100" dirty="0"/>
          </a:p>
        </p:txBody>
      </p:sp>
      <p:sp>
        <p:nvSpPr>
          <p:cNvPr id="10" name="Shape 8"/>
          <p:cNvSpPr/>
          <p:nvPr/>
        </p:nvSpPr>
        <p:spPr>
          <a:xfrm>
            <a:off x="548640" y="2432304"/>
            <a:ext cx="5410048" cy="694944"/>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11" name="Text 9"/>
          <p:cNvSpPr txBox="1"/>
          <p:nvPr/>
        </p:nvSpPr>
        <p:spPr>
          <a:xfrm>
            <a:off x="749808" y="2432304"/>
            <a:ext cx="5044288" cy="694944"/>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C. Umwenge ukorwa ku nda kugira ngo umusarane usohokere mu gikapu cyabugenewe ✓</a:t>
            </a:r>
            <a:endParaRPr lang="rw-RW" sz="1800" dirty="0"/>
          </a:p>
        </p:txBody>
      </p:sp>
      <p:sp>
        <p:nvSpPr>
          <p:cNvPr id="12" name="Shape 10"/>
          <p:cNvSpPr/>
          <p:nvPr/>
        </p:nvSpPr>
        <p:spPr>
          <a:xfrm>
            <a:off x="6233008" y="2432304"/>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432304"/>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a:rPr>
              <a:t>Ikizamini cy'amara</a:t>
            </a:r>
            <a:endParaRPr lang="rw-RW" sz="1800" dirty="0"/>
          </a:p>
        </p:txBody>
      </p:sp>
      <p:sp>
        <p:nvSpPr>
          <p:cNvPr id="14" name="Text 12"/>
          <p:cNvSpPr txBox="1"/>
          <p:nvPr/>
        </p:nvSpPr>
        <p:spPr>
          <a:xfrm>
            <a:off x="548640" y="3218688"/>
            <a:ext cx="11094415" cy="310896"/>
          </a:xfrm>
          <a:prstGeom prst="rect">
            <a:avLst/>
          </a:prstGeom>
          <a:noFill/>
          <a:ln/>
        </p:spPr>
        <p:txBody>
          <a:bodyPr wrap="square" lIns="0" tIns="0" rIns="0" bIns="0" rtlCol="0" anchor="t"/>
          <a:lstStyle/>
          <a:p>
            <a:pPr marL="0" indent="0">
              <a:buNone/>
            </a:pPr>
            <a:r>
              <a:rPr lang="rw-RW" sz="1800" b="1" dirty="0">
                <a:solidFill>
                  <a:srgbClr val="1B6B41"/>
                </a:solidFill>
                <a:latin typeface="Calibri" pitchFamily="34" charset="0"/>
                <a:ea typeface="Calibri" pitchFamily="34" charset="-122"/>
                <a:cs typeface="Calibri" pitchFamily="34" charset="-120"/>
              </a:rPr>
              <a:t>Ukuri: C. </a:t>
            </a:r>
            <a:r>
              <a:rPr lang="rw-RW" sz="1800" dirty="0">
                <a:solidFill>
                  <a:srgbClr val="17335F"/>
                </a:solidFill>
                <a:latin typeface="Calibri" pitchFamily="34" charset="0"/>
                <a:ea typeface="Calibri" pitchFamily="34" charset="-122"/>
                <a:cs typeface="Calibri" pitchFamily="34" charset="-120"/>
              </a:rPr>
              <a:t>Abantu benshi babazwe mu mara ntibaba bakeneye stoma, kandi kuri bamwe ni iby'igihe gito.</a:t>
            </a:r>
            <a:endParaRPr lang="rw-RW" sz="1800" dirty="0"/>
          </a:p>
        </p:txBody>
      </p:sp>
      <p:sp>
        <p:nvSpPr>
          <p:cNvPr id="15" name="Text 13"/>
          <p:cNvSpPr txBox="1"/>
          <p:nvPr/>
        </p:nvSpPr>
        <p:spPr>
          <a:xfrm>
            <a:off x="548640" y="3822192"/>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Ikibazo cya 18. Ni izihe ngaruka zisanzwe ziterwa n'imiti ya kanseri?</a:t>
            </a:r>
            <a:endParaRPr lang="rw-RW" sz="1700" dirty="0"/>
          </a:p>
        </p:txBody>
      </p:sp>
      <p:sp>
        <p:nvSpPr>
          <p:cNvPr id="16" name="Shape 14"/>
          <p:cNvSpPr/>
          <p:nvPr/>
        </p:nvSpPr>
        <p:spPr>
          <a:xfrm>
            <a:off x="548640" y="4206240"/>
            <a:ext cx="5410048" cy="420623"/>
          </a:xfrm>
          <a:prstGeom prst="roundRect">
            <a:avLst>
              <a:gd name="adj" fmla="val 19231"/>
            </a:avLst>
          </a:prstGeom>
          <a:solidFill>
            <a:srgbClr val="E9F5EC"/>
          </a:solidFill>
          <a:ln w="12700">
            <a:solidFill>
              <a:srgbClr val="AFD8BE"/>
            </a:solidFill>
            <a:prstDash val="solid"/>
          </a:ln>
        </p:spPr>
        <p:txBody>
          <a:bodyPr/>
          <a:lstStyle/>
          <a:p>
            <a:endParaRPr lang="rw-RW" dirty="0"/>
          </a:p>
        </p:txBody>
      </p:sp>
      <p:sp>
        <p:nvSpPr>
          <p:cNvPr id="17" name="Text 15"/>
          <p:cNvSpPr txBox="1"/>
          <p:nvPr/>
        </p:nvSpPr>
        <p:spPr>
          <a:xfrm>
            <a:off x="749808" y="4206240"/>
            <a:ext cx="5044288" cy="420623"/>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A. Umunaniro ✓</a:t>
            </a:r>
            <a:endParaRPr lang="rw-RW" sz="1800" dirty="0"/>
          </a:p>
        </p:txBody>
      </p:sp>
      <p:sp>
        <p:nvSpPr>
          <p:cNvPr id="18" name="Shape 16"/>
          <p:cNvSpPr/>
          <p:nvPr/>
        </p:nvSpPr>
        <p:spPr>
          <a:xfrm>
            <a:off x="6233008" y="4206240"/>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9" name="Text 17"/>
          <p:cNvSpPr txBox="1"/>
          <p:nvPr/>
        </p:nvSpPr>
        <p:spPr>
          <a:xfrm>
            <a:off x="6434176" y="4206240"/>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pitchFamily="34" charset="0"/>
                <a:ea typeface="Calibri" pitchFamily="34" charset="-122"/>
                <a:cs typeface="Calibri" pitchFamily="34" charset="-120"/>
              </a:rPr>
              <a:t>Kuva amaraso menshi mu buryo butunguranye</a:t>
            </a:r>
            <a:endParaRPr lang="rw-RW" sz="1800" dirty="0"/>
          </a:p>
        </p:txBody>
      </p:sp>
      <p:sp>
        <p:nvSpPr>
          <p:cNvPr id="20" name="Shape 18"/>
          <p:cNvSpPr/>
          <p:nvPr/>
        </p:nvSpPr>
        <p:spPr>
          <a:xfrm>
            <a:off x="548640" y="4681728"/>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1" name="Text 19"/>
          <p:cNvSpPr txBox="1"/>
          <p:nvPr/>
        </p:nvSpPr>
        <p:spPr>
          <a:xfrm>
            <a:off x="749808" y="4681728"/>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a:rPr>
              <a:t>Amara yafunze</a:t>
            </a:r>
            <a:endParaRPr lang="rw-RW" sz="1800" dirty="0"/>
          </a:p>
        </p:txBody>
      </p:sp>
      <p:sp>
        <p:nvSpPr>
          <p:cNvPr id="22" name="Shape 20"/>
          <p:cNvSpPr/>
          <p:nvPr/>
        </p:nvSpPr>
        <p:spPr>
          <a:xfrm>
            <a:off x="6233008" y="4681728"/>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23" name="Text 21"/>
          <p:cNvSpPr txBox="1"/>
          <p:nvPr/>
        </p:nvSpPr>
        <p:spPr>
          <a:xfrm>
            <a:off x="6434176" y="4681728"/>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Kugwa hasi utakaza ubwenge</a:t>
            </a:r>
            <a:endParaRPr lang="rw-RW" sz="1800" dirty="0"/>
          </a:p>
        </p:txBody>
      </p:sp>
      <p:sp>
        <p:nvSpPr>
          <p:cNvPr id="24" name="Text 22"/>
          <p:cNvSpPr txBox="1"/>
          <p:nvPr/>
        </p:nvSpPr>
        <p:spPr>
          <a:xfrm>
            <a:off x="548640" y="5193792"/>
            <a:ext cx="11094415" cy="310896"/>
          </a:xfrm>
          <a:prstGeom prst="rect">
            <a:avLst/>
          </a:prstGeom>
          <a:noFill/>
          <a:ln/>
        </p:spPr>
        <p:txBody>
          <a:bodyPr wrap="square" lIns="0" tIns="0" rIns="0" bIns="0" rtlCol="0" anchor="t"/>
          <a:lstStyle/>
          <a:p>
            <a:pPr marL="0" indent="0">
              <a:buNone/>
            </a:pPr>
            <a:r>
              <a:rPr lang="rw-RW" sz="1800" b="1" dirty="0">
                <a:solidFill>
                  <a:srgbClr val="1B6B41"/>
                </a:solidFill>
                <a:latin typeface="Calibri" pitchFamily="34" charset="0"/>
                <a:ea typeface="Calibri" pitchFamily="34" charset="-122"/>
                <a:cs typeface="Calibri" pitchFamily="34" charset="-120"/>
              </a:rPr>
              <a:t>Ukuri: A. </a:t>
            </a:r>
            <a:r>
              <a:rPr lang="rw-RW" sz="1800" dirty="0">
                <a:solidFill>
                  <a:srgbClr val="17335F"/>
                </a:solidFill>
                <a:latin typeface="Calibri" pitchFamily="34" charset="0"/>
                <a:ea typeface="Calibri" pitchFamily="34" charset="-122"/>
                <a:cs typeface="Calibri" pitchFamily="34" charset="-120"/>
              </a:rPr>
              <a:t>Umunaniro no kubura ubushake bwo kurya ni ibintu bisanzwe. Ibindi bitatu ni ibyihutirwa.</a:t>
            </a:r>
            <a:endParaRPr lang="rw-RW" sz="1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IGENZURA RYA NYUMA</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Ikizamini gisoza (10 kuri 10)</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Rwanda Biomedical Centre</a:t>
            </a:r>
            <a:endParaRPr lang="rw-RW" sz="1100" dirty="0"/>
          </a:p>
        </p:txBody>
      </p:sp>
      <p:sp>
        <p:nvSpPr>
          <p:cNvPr id="5" name="Text 3"/>
          <p:cNvSpPr txBox="1"/>
          <p:nvPr/>
        </p:nvSpPr>
        <p:spPr>
          <a:xfrm>
            <a:off x="548640" y="1298448"/>
            <a:ext cx="11094415" cy="603503"/>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Ikibazo cya 19. Umuntu uri ku miti aba afite impiswi y'amazi inshuro nyinshi kandi ntashobora kugumana amazi mu nda. Ugomba ko:</a:t>
            </a:r>
            <a:endParaRPr lang="rw-RW" sz="1150" dirty="0"/>
          </a:p>
        </p:txBody>
      </p:sp>
      <p:sp>
        <p:nvSpPr>
          <p:cNvPr id="6" name="Shape 4"/>
          <p:cNvSpPr/>
          <p:nvPr/>
        </p:nvSpPr>
        <p:spPr>
          <a:xfrm>
            <a:off x="548640" y="1956815"/>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7" name="Text 5"/>
          <p:cNvSpPr txBox="1"/>
          <p:nvPr/>
        </p:nvSpPr>
        <p:spPr>
          <a:xfrm>
            <a:off x="749808" y="1956815"/>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a:rPr>
              <a:t>Tegereza gahunda ikurikira</a:t>
            </a:r>
            <a:endParaRPr lang="rw-RW" sz="1800" dirty="0"/>
          </a:p>
        </p:txBody>
      </p:sp>
      <p:sp>
        <p:nvSpPr>
          <p:cNvPr id="8" name="Shape 6"/>
          <p:cNvSpPr/>
          <p:nvPr/>
        </p:nvSpPr>
        <p:spPr>
          <a:xfrm>
            <a:off x="6233008" y="1956815"/>
            <a:ext cx="5410048" cy="420623"/>
          </a:xfrm>
          <a:prstGeom prst="roundRect">
            <a:avLst>
              <a:gd name="adj" fmla="val 19231"/>
            </a:avLst>
          </a:prstGeom>
          <a:solidFill>
            <a:srgbClr val="E9F5EC"/>
          </a:solidFill>
          <a:ln w="12700">
            <a:solidFill>
              <a:srgbClr val="AFD8BE"/>
            </a:solidFill>
            <a:prstDash val="solid"/>
          </a:ln>
        </p:spPr>
        <p:txBody>
          <a:bodyPr/>
          <a:lstStyle/>
          <a:p>
            <a:endParaRPr lang="rw-RW" dirty="0"/>
          </a:p>
        </p:txBody>
      </p:sp>
      <p:sp>
        <p:nvSpPr>
          <p:cNvPr id="9" name="Text 7"/>
          <p:cNvSpPr txBox="1"/>
          <p:nvPr/>
        </p:nvSpPr>
        <p:spPr>
          <a:xfrm>
            <a:off x="6434176" y="1956815"/>
            <a:ext cx="5044288" cy="420623"/>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B. Fasha umuntu kugera ku buvuzi bwihuse ✓</a:t>
            </a:r>
            <a:endParaRPr lang="rw-RW" sz="1800" dirty="0"/>
          </a:p>
        </p:txBody>
      </p:sp>
      <p:sp>
        <p:nvSpPr>
          <p:cNvPr id="10" name="Shape 8"/>
          <p:cNvSpPr/>
          <p:nvPr/>
        </p:nvSpPr>
        <p:spPr>
          <a:xfrm>
            <a:off x="548640" y="2432303"/>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1" name="Text 9"/>
          <p:cNvSpPr txBox="1"/>
          <p:nvPr/>
        </p:nvSpPr>
        <p:spPr>
          <a:xfrm>
            <a:off x="749808" y="2432303"/>
            <a:ext cx="5044288" cy="694944"/>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pitchFamily="34" charset="0"/>
                <a:ea typeface="Calibri" pitchFamily="34" charset="-122"/>
                <a:cs typeface="Calibri" pitchFamily="34" charset="-120"/>
              </a:rPr>
              <a:t>Inama yo guhagarika imiti</a:t>
            </a:r>
            <a:endParaRPr lang="rw-RW" sz="1800" dirty="0"/>
          </a:p>
        </p:txBody>
      </p:sp>
      <p:sp>
        <p:nvSpPr>
          <p:cNvPr id="12" name="Shape 10"/>
          <p:cNvSpPr/>
          <p:nvPr/>
        </p:nvSpPr>
        <p:spPr>
          <a:xfrm>
            <a:off x="6233008" y="2432303"/>
            <a:ext cx="5410048" cy="694944"/>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3" name="Text 11"/>
          <p:cNvSpPr txBox="1"/>
          <p:nvPr/>
        </p:nvSpPr>
        <p:spPr>
          <a:xfrm>
            <a:off x="6434176" y="2432303"/>
            <a:ext cx="5044288" cy="694944"/>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D. </a:t>
            </a:r>
            <a:r>
              <a:rPr lang="rw-RW" sz="1800" b="0" dirty="0">
                <a:solidFill>
                  <a:srgbClr val="17335F"/>
                </a:solidFill>
                <a:latin typeface="Calibri" pitchFamily="34" charset="0"/>
                <a:ea typeface="Calibri" pitchFamily="34" charset="-122"/>
                <a:cs typeface="Calibri" pitchFamily="34" charset="-120"/>
              </a:rPr>
              <a:t>Tanga imiti igabanya ubukana bw'impiswi ubwawe</a:t>
            </a:r>
            <a:endParaRPr lang="rw-RW" sz="1200" dirty="0"/>
          </a:p>
        </p:txBody>
      </p:sp>
      <p:sp>
        <p:nvSpPr>
          <p:cNvPr id="14" name="Text 12"/>
          <p:cNvSpPr txBox="1"/>
          <p:nvPr/>
        </p:nvSpPr>
        <p:spPr>
          <a:xfrm>
            <a:off x="548640" y="3218687"/>
            <a:ext cx="11094415" cy="585216"/>
          </a:xfrm>
          <a:prstGeom prst="rect">
            <a:avLst/>
          </a:prstGeom>
          <a:noFill/>
          <a:ln/>
        </p:spPr>
        <p:txBody>
          <a:bodyPr wrap="square" lIns="0" tIns="0" rIns="0" bIns="0" rtlCol="0" anchor="t">
            <a:normAutofit/>
          </a:bodyPr>
          <a:lstStyle/>
          <a:p>
            <a:pPr marL="0" indent="0">
              <a:buNone/>
            </a:pPr>
            <a:r>
              <a:rPr lang="rw-RW" sz="1800" b="1" dirty="0">
                <a:solidFill>
                  <a:srgbClr val="1B6B41"/>
                </a:solidFill>
                <a:latin typeface="Calibri" pitchFamily="34" charset="0"/>
                <a:ea typeface="Calibri" pitchFamily="34" charset="-122"/>
                <a:cs typeface="Calibri" pitchFamily="34" charset="-120"/>
              </a:rPr>
              <a:t>Ukuri: B. </a:t>
            </a:r>
            <a:r>
              <a:rPr lang="rw-RW" sz="1800" b="0" dirty="0">
                <a:solidFill>
                  <a:srgbClr val="17335F"/>
                </a:solidFill>
                <a:latin typeface="Calibri"/>
              </a:rPr>
              <a:t>Ibi bishobora gutera gutakaza amazi mu buryo buteye ubwoba. Ibyemezo byo guhindura cyangwa guhagarika ubuvuzi bifatwa n'itsinda ry'ubuvuzi.</a:t>
            </a:r>
            <a:endParaRPr lang="rw-RW" sz="1150" dirty="0"/>
          </a:p>
        </p:txBody>
      </p:sp>
      <p:sp>
        <p:nvSpPr>
          <p:cNvPr id="15" name="Text 13"/>
          <p:cNvSpPr txBox="1"/>
          <p:nvPr/>
        </p:nvSpPr>
        <p:spPr>
          <a:xfrm>
            <a:off x="548640" y="4096511"/>
            <a:ext cx="11094415" cy="329184"/>
          </a:xfrm>
          <a:prstGeom prst="rect">
            <a:avLst/>
          </a:prstGeom>
          <a:noFill/>
          <a:ln/>
        </p:spPr>
        <p:txBody>
          <a:bodyPr wrap="square" lIns="0" tIns="0" rIns="0" bIns="0" rtlCol="0" anchor="ctr">
            <a:normAutofit/>
          </a:bodyPr>
          <a:lstStyle/>
          <a:p>
            <a:pPr marL="0" indent="0">
              <a:buNone/>
            </a:pPr>
            <a:r>
              <a:rPr lang="rw-RW" sz="1800" b="1" dirty="0">
                <a:solidFill>
                  <a:srgbClr val="12305B"/>
                </a:solidFill>
                <a:latin typeface="Calibri" pitchFamily="34" charset="0"/>
                <a:ea typeface="Calibri" pitchFamily="34" charset="-122"/>
                <a:cs typeface="Calibri" pitchFamily="34" charset="-120"/>
              </a:rPr>
              <a:t>Q20. Akazi k'umukozi wo mu rwego rw'ubuzima muri kanseri y'amara ni:</a:t>
            </a:r>
            <a:endParaRPr lang="rw-RW" sz="1700" dirty="0"/>
          </a:p>
        </p:txBody>
      </p:sp>
      <p:sp>
        <p:nvSpPr>
          <p:cNvPr id="16" name="Shape 14"/>
          <p:cNvSpPr/>
          <p:nvPr/>
        </p:nvSpPr>
        <p:spPr>
          <a:xfrm>
            <a:off x="548640" y="4480559"/>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7" name="Text 15"/>
          <p:cNvSpPr txBox="1"/>
          <p:nvPr/>
        </p:nvSpPr>
        <p:spPr>
          <a:xfrm>
            <a:off x="749808" y="4480559"/>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A. </a:t>
            </a:r>
            <a:r>
              <a:rPr lang="rw-RW" sz="1800" b="0" dirty="0">
                <a:solidFill>
                  <a:srgbClr val="17335F"/>
                </a:solidFill>
                <a:latin typeface="Calibri" pitchFamily="34" charset="0"/>
                <a:ea typeface="Calibri" pitchFamily="34" charset="-122"/>
                <a:cs typeface="Calibri" pitchFamily="34" charset="-120"/>
              </a:rPr>
              <a:t>Kwemeza uburwayi</a:t>
            </a:r>
            <a:endParaRPr lang="rw-RW" sz="1800" dirty="0"/>
          </a:p>
        </p:txBody>
      </p:sp>
      <p:sp>
        <p:nvSpPr>
          <p:cNvPr id="18" name="Shape 16"/>
          <p:cNvSpPr/>
          <p:nvPr/>
        </p:nvSpPr>
        <p:spPr>
          <a:xfrm>
            <a:off x="6233008" y="4480559"/>
            <a:ext cx="5410048" cy="420623"/>
          </a:xfrm>
          <a:prstGeom prst="roundRect">
            <a:avLst>
              <a:gd name="adj" fmla="val 19231"/>
            </a:avLst>
          </a:prstGeom>
          <a:solidFill>
            <a:srgbClr val="F2F7FD"/>
          </a:solidFill>
          <a:ln w="12700">
            <a:solidFill>
              <a:srgbClr val="CBDDF3"/>
            </a:solidFill>
            <a:prstDash val="solid"/>
          </a:ln>
        </p:spPr>
        <p:txBody>
          <a:bodyPr/>
          <a:lstStyle/>
          <a:p>
            <a:endParaRPr lang="rw-RW" dirty="0"/>
          </a:p>
        </p:txBody>
      </p:sp>
      <p:sp>
        <p:nvSpPr>
          <p:cNvPr id="19" name="Text 17"/>
          <p:cNvSpPr txBox="1"/>
          <p:nvPr/>
        </p:nvSpPr>
        <p:spPr>
          <a:xfrm>
            <a:off x="6434176" y="4480559"/>
            <a:ext cx="5044288" cy="420623"/>
          </a:xfrm>
          <a:prstGeom prst="rect">
            <a:avLst/>
          </a:prstGeom>
          <a:noFill/>
          <a:ln/>
        </p:spPr>
        <p:txBody>
          <a:bodyPr wrap="square" lIns="0" tIns="0" rIns="0" bIns="0" rtlCol="0" anchor="ctr"/>
          <a:lstStyle/>
          <a:p>
            <a:pPr marL="0" indent="0">
              <a:buNone/>
            </a:pPr>
            <a:r>
              <a:rPr lang="rw-RW" sz="1800" b="1" dirty="0">
                <a:solidFill>
                  <a:srgbClr val="1F5FA9"/>
                </a:solidFill>
                <a:latin typeface="Calibri" pitchFamily="34" charset="0"/>
                <a:ea typeface="Calibri" pitchFamily="34" charset="-122"/>
                <a:cs typeface="Calibri" pitchFamily="34" charset="-120"/>
              </a:rPr>
              <a:t>B. </a:t>
            </a:r>
            <a:r>
              <a:rPr lang="rw-RW" sz="1800" b="0" dirty="0">
                <a:solidFill>
                  <a:srgbClr val="17335F"/>
                </a:solidFill>
                <a:latin typeface="Calibri" pitchFamily="34" charset="0"/>
                <a:ea typeface="Calibri" pitchFamily="34" charset="-122"/>
                <a:cs typeface="Calibri" pitchFamily="34" charset="-120"/>
              </a:rPr>
              <a:t>Soma ibisubizo by'ibizamini</a:t>
            </a:r>
            <a:endParaRPr lang="rw-RW" sz="1800" dirty="0"/>
          </a:p>
        </p:txBody>
      </p:sp>
      <p:sp>
        <p:nvSpPr>
          <p:cNvPr id="20" name="Shape 18"/>
          <p:cNvSpPr/>
          <p:nvPr/>
        </p:nvSpPr>
        <p:spPr>
          <a:xfrm>
            <a:off x="548640" y="4956048"/>
            <a:ext cx="5410048" cy="694944"/>
          </a:xfrm>
          <a:prstGeom prst="roundRect">
            <a:avLst>
              <a:gd name="adj" fmla="val 19231"/>
            </a:avLst>
          </a:prstGeom>
          <a:solidFill>
            <a:srgbClr val="F2F7FD"/>
          </a:solidFill>
          <a:ln w="12700">
            <a:solidFill>
              <a:srgbClr val="AFD8BE"/>
            </a:solidFill>
            <a:prstDash val="solid"/>
          </a:ln>
        </p:spPr>
        <p:txBody>
          <a:bodyPr/>
          <a:lstStyle/>
          <a:p>
            <a:endParaRPr lang="rw-RW" dirty="0"/>
          </a:p>
        </p:txBody>
      </p:sp>
      <p:sp>
        <p:nvSpPr>
          <p:cNvPr id="21" name="Text 19"/>
          <p:cNvSpPr txBox="1"/>
          <p:nvPr/>
        </p:nvSpPr>
        <p:spPr>
          <a:xfrm>
            <a:off x="749808" y="4956048"/>
            <a:ext cx="5044288" cy="694944"/>
          </a:xfrm>
          <a:prstGeom prst="rect">
            <a:avLst/>
          </a:prstGeom>
          <a:noFill/>
          <a:ln/>
        </p:spPr>
        <p:txBody>
          <a:bodyPr wrap="square" lIns="0" tIns="0" rIns="0" bIns="0" rtlCol="0" anchor="ctr">
            <a:normAutofit/>
          </a:bodyPr>
          <a:lstStyle/>
          <a:p>
            <a:pPr marL="0" indent="0">
              <a:buNone/>
            </a:pPr>
            <a:r>
              <a:rPr lang="rw-RW" sz="1800" b="1" dirty="0">
                <a:solidFill>
                  <a:srgbClr val="1F5FA9"/>
                </a:solidFill>
                <a:latin typeface="Calibri" pitchFamily="34" charset="0"/>
                <a:ea typeface="Calibri" pitchFamily="34" charset="-122"/>
                <a:cs typeface="Calibri" pitchFamily="34" charset="-120"/>
              </a:rPr>
              <a:t>C. </a:t>
            </a:r>
            <a:r>
              <a:rPr lang="rw-RW" sz="1800" b="0" dirty="0">
                <a:solidFill>
                  <a:srgbClr val="17335F"/>
                </a:solidFill>
                <a:latin typeface="Calibri"/>
              </a:rPr>
              <a:t>Hitamo ubuvuzi</a:t>
            </a:r>
            <a:endParaRPr lang="rw-RW" sz="1100" dirty="0"/>
          </a:p>
        </p:txBody>
      </p:sp>
      <p:sp>
        <p:nvSpPr>
          <p:cNvPr id="22" name="Shape 20"/>
          <p:cNvSpPr/>
          <p:nvPr/>
        </p:nvSpPr>
        <p:spPr>
          <a:xfrm>
            <a:off x="6233008" y="4956048"/>
            <a:ext cx="5410048" cy="694944"/>
          </a:xfrm>
          <a:prstGeom prst="roundRect">
            <a:avLst>
              <a:gd name="adj" fmla="val 19231"/>
            </a:avLst>
          </a:prstGeom>
          <a:solidFill>
            <a:srgbClr val="E9F5EC"/>
          </a:solidFill>
          <a:ln w="12700">
            <a:solidFill>
              <a:srgbClr val="CBDDF3"/>
            </a:solidFill>
            <a:prstDash val="solid"/>
          </a:ln>
        </p:spPr>
        <p:txBody>
          <a:bodyPr/>
          <a:lstStyle/>
          <a:p>
            <a:endParaRPr lang="rw-RW" dirty="0"/>
          </a:p>
        </p:txBody>
      </p:sp>
      <p:sp>
        <p:nvSpPr>
          <p:cNvPr id="23" name="Text 21"/>
          <p:cNvSpPr txBox="1"/>
          <p:nvPr/>
        </p:nvSpPr>
        <p:spPr>
          <a:xfrm>
            <a:off x="6434176" y="4956048"/>
            <a:ext cx="5044288" cy="694944"/>
          </a:xfrm>
          <a:prstGeom prst="rect">
            <a:avLst/>
          </a:prstGeom>
          <a:noFill/>
          <a:ln/>
        </p:spPr>
        <p:txBody>
          <a:bodyPr wrap="square" lIns="0" tIns="0" rIns="0" bIns="0" rtlCol="0" anchor="ctr"/>
          <a:lstStyle/>
          <a:p>
            <a:pPr marL="0" indent="0">
              <a:buNone/>
            </a:pPr>
            <a:r>
              <a:rPr lang="rw-RW" sz="1800" b="1" dirty="0">
                <a:solidFill>
                  <a:srgbClr val="1B6B41"/>
                </a:solidFill>
                <a:latin typeface="Calibri" pitchFamily="34" charset="0"/>
                <a:ea typeface="Calibri" pitchFamily="34" charset="-122"/>
                <a:cs typeface="Calibri" pitchFamily="34" charset="-120"/>
              </a:rPr>
              <a:t>D. Kongera ubumenyi bw'abaturage, kumenya ibimenyetso, gufasha koherereza no gukurikirana ✓</a:t>
            </a:r>
            <a:endParaRPr lang="rw-RW" sz="1800" dirty="0"/>
          </a:p>
        </p:txBody>
      </p:sp>
      <p:sp>
        <p:nvSpPr>
          <p:cNvPr id="24" name="Text 22"/>
          <p:cNvSpPr txBox="1"/>
          <p:nvPr/>
        </p:nvSpPr>
        <p:spPr>
          <a:xfrm>
            <a:off x="548640" y="5742432"/>
            <a:ext cx="11094415" cy="585216"/>
          </a:xfrm>
          <a:prstGeom prst="rect">
            <a:avLst/>
          </a:prstGeom>
          <a:noFill/>
          <a:ln/>
        </p:spPr>
        <p:txBody>
          <a:bodyPr wrap="square" lIns="0" tIns="0" rIns="0" bIns="0" rtlCol="0" anchor="t">
            <a:normAutofit/>
          </a:bodyPr>
          <a:lstStyle/>
          <a:p>
            <a:pPr marL="0" indent="0">
              <a:buNone/>
            </a:pPr>
            <a:r>
              <a:rPr lang="rw-RW" sz="1800" b="1" dirty="0">
                <a:solidFill>
                  <a:srgbClr val="1B6B41"/>
                </a:solidFill>
                <a:latin typeface="Calibri" pitchFamily="34" charset="0"/>
                <a:ea typeface="Calibri" pitchFamily="34" charset="-122"/>
                <a:cs typeface="Calibri" pitchFamily="34" charset="-120"/>
              </a:rPr>
              <a:t>Ukuri: D. </a:t>
            </a:r>
            <a:r>
              <a:rPr lang="rw-RW" sz="1800" dirty="0">
                <a:solidFill>
                  <a:srgbClr val="17335F"/>
                </a:solidFill>
                <a:latin typeface="Calibri" pitchFamily="34" charset="0"/>
                <a:ea typeface="Calibri" pitchFamily="34" charset="-122"/>
                <a:cs typeface="Calibri" pitchFamily="34" charset="-120"/>
              </a:rPr>
              <a:t>Kongera ubumenyi bw'abaturage, kumenya ibimenyetso, kuvugana neza, koherereza uwo urwaye no kumukurikirana ni ko kazi k'umukozi wo mu rwego rw'ubuzima (CHW).</a:t>
            </a:r>
            <a:endParaRPr lang="rw-RW" sz="11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094415" cy="274320"/>
          </a:xfrm>
          <a:prstGeom prst="rect">
            <a:avLst/>
          </a:prstGeom>
          <a:noFill/>
          <a:ln/>
        </p:spPr>
        <p:txBody>
          <a:bodyPr wrap="square" lIns="0" tIns="0" rIns="0" bIns="0" rtlCol="0" anchor="ctr">
            <a:normAutofit/>
          </a:bodyPr>
          <a:lstStyle/>
          <a:p>
            <a:pPr marL="0" indent="0">
              <a:buNone/>
            </a:pPr>
            <a:r>
              <a:rPr lang="rw-RW" sz="1100" b="1" kern="0" spc="200" dirty="0">
                <a:solidFill>
                  <a:srgbClr val="1F5FA9"/>
                </a:solidFill>
                <a:latin typeface="Calibri" pitchFamily="34" charset="0"/>
                <a:ea typeface="Calibri" pitchFamily="34" charset="-122"/>
                <a:cs typeface="Calibri" pitchFamily="34" charset="-120"/>
              </a:rPr>
              <a:t>Aho amakuru yavuye n'inkomoko</a:t>
            </a:r>
            <a:endParaRPr lang="rw-RW" sz="1100" dirty="0"/>
          </a:p>
        </p:txBody>
      </p:sp>
      <p:sp>
        <p:nvSpPr>
          <p:cNvPr id="3" name="Text 1"/>
          <p:cNvSpPr txBox="1"/>
          <p:nvPr/>
        </p:nvSpPr>
        <p:spPr>
          <a:xfrm>
            <a:off x="548640" y="566928"/>
            <a:ext cx="11094415" cy="566928"/>
          </a:xfrm>
          <a:prstGeom prst="rect">
            <a:avLst/>
          </a:prstGeom>
          <a:noFill/>
          <a:ln/>
        </p:spPr>
        <p:txBody>
          <a:bodyPr wrap="square" lIns="0" tIns="0" rIns="0" bIns="0" rtlCol="0" anchor="ctr">
            <a:normAutofit/>
          </a:bodyPr>
          <a:lstStyle/>
          <a:p>
            <a:pPr marL="0" indent="0">
              <a:buNone/>
            </a:pPr>
            <a:r>
              <a:rPr lang="rw-RW" sz="3050" b="1" dirty="0">
                <a:solidFill>
                  <a:srgbClr val="12305B"/>
                </a:solidFill>
                <a:latin typeface="Cambria" pitchFamily="34" charset="0"/>
                <a:ea typeface="Cambria" pitchFamily="34" charset="-122"/>
                <a:cs typeface="Cambria" pitchFamily="34" charset="-120"/>
              </a:rPr>
              <a:t>Aho amakuru yakuwe</a:t>
            </a:r>
            <a:endParaRPr lang="rw-RW" sz="3050" dirty="0"/>
          </a:p>
        </p:txBody>
      </p:sp>
      <p:sp>
        <p:nvSpPr>
          <p:cNvPr id="4" name="Text 2"/>
          <p:cNvSpPr txBox="1"/>
          <p:nvPr/>
        </p:nvSpPr>
        <p:spPr>
          <a:xfrm>
            <a:off x="548640" y="6355080"/>
            <a:ext cx="7315200" cy="274320"/>
          </a:xfrm>
          <a:prstGeom prst="rect">
            <a:avLst/>
          </a:prstGeom>
          <a:noFill/>
          <a:ln/>
        </p:spPr>
        <p:txBody>
          <a:bodyPr wrap="square" lIns="0" tIns="0" rIns="0" bIns="0" rtlCol="0" anchor="ctr"/>
          <a:lstStyle/>
          <a:p>
            <a:pPr marL="0" indent="0">
              <a:buNone/>
            </a:pPr>
            <a:r>
              <a:rPr lang="rw-RW" sz="1100" dirty="0">
                <a:solidFill>
                  <a:srgbClr val="6B7A90"/>
                </a:solidFill>
                <a:latin typeface="Calibri" pitchFamily="34" charset="0"/>
                <a:ea typeface="Calibri" pitchFamily="34" charset="-122"/>
                <a:cs typeface="Calibri" pitchFamily="34" charset="-120"/>
              </a:rPr>
              <a:t>Kanseri y'amara | CHW | Ikigo cy'Igihugu cy'Ubuvuzi (Rwanda Biomedical Centre)</a:t>
            </a:r>
            <a:endParaRPr lang="rw-RW" sz="1100" dirty="0"/>
          </a:p>
        </p:txBody>
      </p:sp>
      <p:sp>
        <p:nvSpPr>
          <p:cNvPr id="5" name="Text 22">
            <a:extLst>
              <a:ext uri="{FF2B5EF4-FFF2-40B4-BE49-F238E27FC236}">
                <a16:creationId xmlns:a16="http://schemas.microsoft.com/office/drawing/2014/main" id="{886E1808-6557-742F-B118-4D55AA447956}"/>
              </a:ext>
            </a:extLst>
          </p:cNvPr>
          <p:cNvSpPr txBox="1"/>
          <p:nvPr/>
        </p:nvSpPr>
        <p:spPr>
          <a:xfrm>
            <a:off x="548641" y="1485546"/>
            <a:ext cx="5547360" cy="4071190"/>
          </a:xfrm>
          <a:prstGeom prst="rect">
            <a:avLst/>
          </a:prstGeom>
          <a:noFill/>
          <a:ln/>
        </p:spPr>
        <p:txBody>
          <a:bodyPr wrap="square" lIns="0" tIns="0" rIns="0" bIns="0" rtlCol="0" anchor="t">
            <a:noAutofit/>
          </a:bodyPr>
          <a:lstStyle/>
          <a:p>
            <a:pPr marL="0" indent="0">
              <a:buNone/>
            </a:pPr>
            <a:r>
              <a:rPr lang="rw-RW" sz="1400" dirty="0">
                <a:solidFill>
                  <a:srgbClr val="17335F"/>
                </a:solidFill>
                <a:latin typeface="Calibri" pitchFamily="34" charset="0"/>
                <a:ea typeface="Calibri" pitchFamily="34" charset="-122"/>
                <a:cs typeface="Calibri" pitchFamily="34" charset="-120"/>
              </a:rPr>
              <a:t>1. International Agency for Research on Cancer. Global Cancer Observatory: Cancer Today, GLOBOCAN 2024 estimates, version 1.0. Lyon: IARC/WHO. https://gco.iarc.who.int/today</a:t>
            </a:r>
          </a:p>
          <a:p>
            <a:pPr marL="0" indent="0">
              <a:buNone/>
            </a:pPr>
            <a:r>
              <a:rPr lang="rw-RW" sz="1400" dirty="0">
                <a:solidFill>
                  <a:srgbClr val="17335F"/>
                </a:solidFill>
                <a:latin typeface="Calibri" pitchFamily="34" charset="0"/>
                <a:ea typeface="Calibri" pitchFamily="34" charset="-122"/>
                <a:cs typeface="Calibri" pitchFamily="34" charset="-120"/>
              </a:rPr>
              <a:t>2. Bray F, Laversanne M, Sung H, et al. Global cancer statistics: GLOBOCAN estimates of incidence and mortality worldwide. CA: A Cancer Journal for Clinicians. https://acsjournals.onlinelibrary.wiley.com</a:t>
            </a:r>
          </a:p>
          <a:p>
            <a:pPr marL="0" indent="0">
              <a:buNone/>
            </a:pPr>
            <a:r>
              <a:rPr lang="rw-RW" sz="1400" dirty="0">
                <a:solidFill>
                  <a:srgbClr val="17335F"/>
                </a:solidFill>
                <a:latin typeface="Calibri" pitchFamily="34" charset="0"/>
                <a:ea typeface="Calibri" pitchFamily="34" charset="-122"/>
                <a:cs typeface="Calibri" pitchFamily="34" charset="-120"/>
              </a:rPr>
              <a:t>3. International Agency for Research on Cancer. Global Cancer Observatory: Cancer Tomorrow, projections of the future cancer burden to 2050. Lyon: IARC/WHO. https://gco.iarc.who.int/tomorrow</a:t>
            </a:r>
          </a:p>
          <a:p>
            <a:pPr marL="0" indent="0">
              <a:buNone/>
            </a:pPr>
            <a:r>
              <a:rPr lang="rw-RW" sz="1400" dirty="0">
                <a:solidFill>
                  <a:srgbClr val="17335F"/>
                </a:solidFill>
                <a:latin typeface="Calibri" pitchFamily="34" charset="0"/>
                <a:ea typeface="Calibri" pitchFamily="34" charset="-122"/>
                <a:cs typeface="Calibri" pitchFamily="34" charset="-120"/>
              </a:rPr>
              <a:t>4. Republic of Rwanda, Ministry of Health and Rwanda Biomedical Centre. National Cancer Control Plan 2025 to 2029. Kigali.</a:t>
            </a:r>
          </a:p>
          <a:p>
            <a:pPr marL="0" indent="0">
              <a:buNone/>
            </a:pPr>
            <a:r>
              <a:rPr lang="rw-RW" sz="1400" dirty="0">
                <a:solidFill>
                  <a:srgbClr val="17335F"/>
                </a:solidFill>
                <a:latin typeface="Calibri" pitchFamily="34" charset="0"/>
                <a:ea typeface="Calibri" pitchFamily="34" charset="-122"/>
                <a:cs typeface="Calibri" pitchFamily="34" charset="-120"/>
              </a:rPr>
              <a:t>5. World Health Organization. Colorectal cancer, fact sheet. Geneva: WHO, 2023. </a:t>
            </a:r>
            <a:r>
              <a:rPr lang="rw-RW" sz="1400" dirty="0">
                <a:solidFill>
                  <a:srgbClr val="17335F"/>
                </a:solidFill>
                <a:latin typeface="Calibri" pitchFamily="34" charset="0"/>
                <a:ea typeface="Calibri" pitchFamily="34" charset="-122"/>
                <a:cs typeface="Calibri" pitchFamily="34" charset="-120"/>
                <a:hlinkClick r:id="rId3"/>
              </a:rPr>
              <a:t>https://www.who.int/news-room/fact-sheets/detail/colorectal-cancer</a:t>
            </a:r>
            <a:endParaRPr lang="rw-RW" sz="1400" dirty="0">
              <a:solidFill>
                <a:srgbClr val="17335F"/>
              </a:solidFill>
              <a:latin typeface="Calibri" pitchFamily="34" charset="0"/>
              <a:ea typeface="Calibri" pitchFamily="34" charset="-122"/>
              <a:cs typeface="Calibri" pitchFamily="34" charset="-120"/>
            </a:endParaRPr>
          </a:p>
          <a:p>
            <a:pPr marL="0" indent="0">
              <a:buNone/>
            </a:pPr>
            <a:r>
              <a:rPr lang="rw-RW" sz="1400" dirty="0">
                <a:solidFill>
                  <a:srgbClr val="17335F"/>
                </a:solidFill>
                <a:latin typeface="Calibri" pitchFamily="34" charset="0"/>
                <a:ea typeface="Calibri" pitchFamily="34" charset="-122"/>
                <a:cs typeface="Calibri" pitchFamily="34" charset="-120"/>
              </a:rPr>
              <a:t>6. World Health Organization. Guide to Cancer Early Diagnosis. Geneva: WHO, 2017.</a:t>
            </a:r>
          </a:p>
          <a:p>
            <a:pPr marL="0" indent="0">
              <a:buNone/>
            </a:pPr>
            <a:r>
              <a:rPr lang="rw-RW" sz="1400" dirty="0">
                <a:solidFill>
                  <a:srgbClr val="17335F"/>
                </a:solidFill>
                <a:latin typeface="Calibri" pitchFamily="34" charset="0"/>
                <a:ea typeface="Calibri" pitchFamily="34" charset="-122"/>
                <a:cs typeface="Calibri" pitchFamily="34" charset="-120"/>
              </a:rPr>
              <a:t>7. International Agency for Research on Cancer. Colorectal Cancer Screening. IARC Handbooks of Cancer Prevention, Volume 17. Lyon: IARC, 2019.</a:t>
            </a:r>
          </a:p>
          <a:p>
            <a:pPr marL="0" indent="0">
              <a:buNone/>
            </a:pPr>
            <a:endParaRPr lang="rw-RW" sz="1400" dirty="0">
              <a:solidFill>
                <a:srgbClr val="17335F"/>
              </a:solidFill>
              <a:latin typeface="Calibri" pitchFamily="34" charset="0"/>
              <a:ea typeface="Calibri" pitchFamily="34" charset="-122"/>
              <a:cs typeface="Calibri" pitchFamily="34" charset="-120"/>
            </a:endParaRPr>
          </a:p>
          <a:p>
            <a:pPr marL="0" indent="0">
              <a:buNone/>
            </a:pPr>
            <a:endParaRPr lang="rw-RW" sz="1400" dirty="0"/>
          </a:p>
        </p:txBody>
      </p:sp>
      <p:sp>
        <p:nvSpPr>
          <p:cNvPr id="6" name="Text 22">
            <a:extLst>
              <a:ext uri="{FF2B5EF4-FFF2-40B4-BE49-F238E27FC236}">
                <a16:creationId xmlns:a16="http://schemas.microsoft.com/office/drawing/2014/main" id="{F8977ED1-5C93-23D4-E21F-0A4FDE05589A}"/>
              </a:ext>
            </a:extLst>
          </p:cNvPr>
          <p:cNvSpPr txBox="1"/>
          <p:nvPr/>
        </p:nvSpPr>
        <p:spPr>
          <a:xfrm>
            <a:off x="6339841" y="1485546"/>
            <a:ext cx="5547360" cy="4071190"/>
          </a:xfrm>
          <a:prstGeom prst="rect">
            <a:avLst/>
          </a:prstGeom>
          <a:noFill/>
          <a:ln/>
        </p:spPr>
        <p:txBody>
          <a:bodyPr wrap="square" lIns="0" tIns="0" rIns="0" bIns="0" rtlCol="0" anchor="t">
            <a:noAutofit/>
          </a:bodyPr>
          <a:lstStyle/>
          <a:p>
            <a:pPr marL="0" indent="0">
              <a:buNone/>
            </a:pPr>
            <a:r>
              <a:rPr lang="rw-RW" sz="1400" dirty="0">
                <a:solidFill>
                  <a:srgbClr val="17335F"/>
                </a:solidFill>
                <a:latin typeface="Calibri" pitchFamily="34" charset="0"/>
                <a:ea typeface="Calibri" pitchFamily="34" charset="-122"/>
                <a:cs typeface="Calibri" pitchFamily="34" charset="-120"/>
              </a:rPr>
              <a:t>8. World Cancer Research Fund and American Institute for Cancer Research. Diet, Nutrition, Physical Activity and Colorectal Cancer. Continuous Update Project Expert Report, 2018.</a:t>
            </a:r>
          </a:p>
          <a:p>
            <a:pPr marL="0" indent="0">
              <a:buNone/>
            </a:pPr>
            <a:r>
              <a:rPr lang="rw-RW" sz="1400" dirty="0">
                <a:solidFill>
                  <a:srgbClr val="17335F"/>
                </a:solidFill>
                <a:latin typeface="Calibri" pitchFamily="34" charset="0"/>
                <a:ea typeface="Calibri" pitchFamily="34" charset="-122"/>
                <a:cs typeface="Calibri" pitchFamily="34" charset="-120"/>
              </a:rPr>
              <a:t>9. American Cancer Society. Colorectal cancer: signs and symptoms, colorectal polyps, tests and treatment. https://www.cancer.org/cancer/types/colon-rectal-cancer.html</a:t>
            </a:r>
          </a:p>
          <a:p>
            <a:pPr marL="0" indent="0">
              <a:buNone/>
            </a:pPr>
            <a:r>
              <a:rPr lang="rw-RW" sz="1400" dirty="0">
                <a:solidFill>
                  <a:srgbClr val="17335F"/>
                </a:solidFill>
                <a:latin typeface="Calibri" pitchFamily="34" charset="0"/>
                <a:ea typeface="Calibri" pitchFamily="34" charset="-122"/>
                <a:cs typeface="Calibri" pitchFamily="34" charset="-120"/>
              </a:rPr>
              <a:t>10. African Cancer Registry Network. Rwanda National Cancer Registry. https://afcrn.org</a:t>
            </a:r>
          </a:p>
          <a:p>
            <a:pPr marL="0" indent="0">
              <a:buNone/>
            </a:pPr>
            <a:endParaRPr lang="rw-RW" sz="1400" dirty="0">
              <a:solidFill>
                <a:srgbClr val="17335F"/>
              </a:solidFill>
              <a:latin typeface="Calibri" pitchFamily="34" charset="0"/>
              <a:ea typeface="Calibri" pitchFamily="34" charset="-122"/>
              <a:cs typeface="Calibri" pitchFamily="34" charset="-120"/>
            </a:endParaRPr>
          </a:p>
          <a:p>
            <a:pPr marL="0" indent="0">
              <a:buNone/>
            </a:pPr>
            <a:endParaRPr lang="rw-RW" sz="14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6">
    <p:bg>
      <p:bgPr>
        <a:solidFill>
          <a:srgbClr val="12305B"/>
        </a:solidFill>
        <a:effectLst/>
      </p:bgPr>
    </p:bg>
    <p:spTree>
      <p:nvGrpSpPr>
        <p:cNvPr id="1" name=""/>
        <p:cNvGrpSpPr/>
        <p:nvPr/>
      </p:nvGrpSpPr>
      <p:grpSpPr>
        <a:xfrm>
          <a:off x="0" y="0"/>
          <a:ext cx="0" cy="0"/>
          <a:chOff x="0" y="0"/>
          <a:chExt cx="0" cy="0"/>
        </a:xfrm>
      </p:grpSpPr>
      <p:sp>
        <p:nvSpPr>
          <p:cNvPr id="2" name="Text 0"/>
          <p:cNvSpPr txBox="1"/>
          <p:nvPr/>
        </p:nvSpPr>
        <p:spPr>
          <a:xfrm>
            <a:off x="548640" y="1737360"/>
            <a:ext cx="9144000" cy="320040"/>
          </a:xfrm>
          <a:prstGeom prst="rect">
            <a:avLst/>
          </a:prstGeom>
          <a:noFill/>
          <a:ln/>
        </p:spPr>
        <p:txBody>
          <a:bodyPr wrap="square" lIns="0" tIns="0" rIns="0" bIns="0" rtlCol="0" anchor="ctr"/>
          <a:lstStyle/>
          <a:p>
            <a:pPr marL="0" indent="0">
              <a:buNone/>
            </a:pPr>
            <a:r>
              <a:rPr lang="rw-RW" sz="1300" b="1" kern="0" spc="300" dirty="0">
                <a:solidFill>
                  <a:srgbClr val="A9C4E8"/>
                </a:solidFill>
                <a:latin typeface="Calibri" pitchFamily="34" charset="0"/>
                <a:ea typeface="Calibri" pitchFamily="34" charset="-122"/>
                <a:cs typeface="Calibri" pitchFamily="34" charset="-120"/>
              </a:rPr>
              <a:t>IHERERO RY'ISOMO</a:t>
            </a:r>
            <a:endParaRPr lang="rw-RW" sz="1300" dirty="0"/>
          </a:p>
        </p:txBody>
      </p:sp>
      <p:sp>
        <p:nvSpPr>
          <p:cNvPr id="3" name="Text 1"/>
          <p:cNvSpPr txBox="1"/>
          <p:nvPr/>
        </p:nvSpPr>
        <p:spPr>
          <a:xfrm>
            <a:off x="548640" y="2103120"/>
            <a:ext cx="10515600" cy="914400"/>
          </a:xfrm>
          <a:prstGeom prst="rect">
            <a:avLst/>
          </a:prstGeom>
          <a:noFill/>
          <a:ln/>
        </p:spPr>
        <p:txBody>
          <a:bodyPr wrap="square" lIns="0" tIns="0" rIns="0" bIns="0" rtlCol="0" anchor="ctr"/>
          <a:lstStyle/>
          <a:p>
            <a:pPr marL="0" indent="0">
              <a:buNone/>
            </a:pPr>
            <a:r>
              <a:rPr lang="rw-RW" sz="4000" b="1" dirty="0">
                <a:solidFill>
                  <a:srgbClr val="FFFFFF"/>
                </a:solidFill>
                <a:latin typeface="Cambria" pitchFamily="34" charset="0"/>
                <a:ea typeface="Cambria" pitchFamily="34" charset="-122"/>
                <a:cs typeface="Cambria" pitchFamily="34" charset="-120"/>
              </a:rPr>
              <a:t>Iby'ingenzi ujyana mu muryango wawe</a:t>
            </a:r>
            <a:endParaRPr lang="rw-RW" sz="4000" dirty="0"/>
          </a:p>
        </p:txBody>
      </p:sp>
      <p:sp>
        <p:nvSpPr>
          <p:cNvPr id="4" name="Shape 2"/>
          <p:cNvSpPr/>
          <p:nvPr/>
        </p:nvSpPr>
        <p:spPr>
          <a:xfrm>
            <a:off x="548640" y="3255264"/>
            <a:ext cx="182880" cy="182880"/>
          </a:xfrm>
          <a:prstGeom prst="ellipse">
            <a:avLst/>
          </a:prstGeom>
          <a:solidFill>
            <a:srgbClr val="7FA8DA"/>
          </a:solidFill>
          <a:ln/>
        </p:spPr>
        <p:txBody>
          <a:bodyPr/>
          <a:lstStyle/>
          <a:p>
            <a:endParaRPr lang="rw-RW" dirty="0"/>
          </a:p>
        </p:txBody>
      </p:sp>
      <p:sp>
        <p:nvSpPr>
          <p:cNvPr id="5" name="Text 3"/>
          <p:cNvSpPr txBox="1"/>
          <p:nvPr/>
        </p:nvSpPr>
        <p:spPr>
          <a:xfrm>
            <a:off x="960120" y="3200400"/>
            <a:ext cx="10241280" cy="384048"/>
          </a:xfrm>
          <a:prstGeom prst="rect">
            <a:avLst/>
          </a:prstGeom>
          <a:noFill/>
          <a:ln/>
        </p:spPr>
        <p:txBody>
          <a:bodyPr wrap="square" lIns="0" tIns="0" rIns="0" bIns="0" rtlCol="0" anchor="ctr">
            <a:normAutofit fontScale="88000"/>
          </a:bodyPr>
          <a:lstStyle/>
          <a:p>
            <a:pPr marL="0" indent="0">
              <a:buNone/>
            </a:pPr>
            <a:r>
              <a:rPr lang="rw-RW" sz="1850" dirty="0">
                <a:solidFill>
                  <a:srgbClr val="E3ECF8"/>
                </a:solidFill>
                <a:latin typeface="Calibri" pitchFamily="34" charset="0"/>
                <a:ea typeface="Calibri" pitchFamily="34" charset="-122"/>
                <a:cs typeface="Calibri" pitchFamily="34" charset="-120"/>
              </a:rPr>
              <a:t>Kuva amaraso no guhinduka kw'uko umuntu yituma bimara igihe bigomba gusuzumwa, ntibigomba gufatwa nk'ibisanzwe.</a:t>
            </a:r>
            <a:endParaRPr lang="rw-RW" sz="1850" dirty="0"/>
          </a:p>
        </p:txBody>
      </p:sp>
      <p:sp>
        <p:nvSpPr>
          <p:cNvPr id="6" name="Shape 4"/>
          <p:cNvSpPr/>
          <p:nvPr/>
        </p:nvSpPr>
        <p:spPr>
          <a:xfrm>
            <a:off x="548640" y="3758184"/>
            <a:ext cx="182880" cy="182880"/>
          </a:xfrm>
          <a:prstGeom prst="ellipse">
            <a:avLst/>
          </a:prstGeom>
          <a:solidFill>
            <a:srgbClr val="7FA8DA"/>
          </a:solidFill>
          <a:ln/>
        </p:spPr>
        <p:txBody>
          <a:bodyPr/>
          <a:lstStyle/>
          <a:p>
            <a:endParaRPr lang="rw-RW" dirty="0"/>
          </a:p>
        </p:txBody>
      </p:sp>
      <p:sp>
        <p:nvSpPr>
          <p:cNvPr id="7" name="Text 5"/>
          <p:cNvSpPr txBox="1"/>
          <p:nvPr/>
        </p:nvSpPr>
        <p:spPr>
          <a:xfrm>
            <a:off x="960120" y="3703320"/>
            <a:ext cx="10241280" cy="384048"/>
          </a:xfrm>
          <a:prstGeom prst="rect">
            <a:avLst/>
          </a:prstGeom>
          <a:noFill/>
          <a:ln/>
        </p:spPr>
        <p:txBody>
          <a:bodyPr wrap="square" lIns="0" tIns="0" rIns="0" bIns="0" rtlCol="0" anchor="ctr">
            <a:normAutofit fontScale="95500"/>
          </a:bodyPr>
          <a:lstStyle/>
          <a:p>
            <a:pPr marL="0" indent="0">
              <a:buNone/>
            </a:pPr>
            <a:r>
              <a:rPr lang="rw-RW" sz="1850" dirty="0">
                <a:solidFill>
                  <a:srgbClr val="E3ECF8"/>
                </a:solidFill>
                <a:latin typeface="Calibri" pitchFamily="34" charset="0"/>
                <a:ea typeface="Calibri" pitchFamily="34" charset="-122"/>
                <a:cs typeface="Calibri" pitchFamily="34" charset="-120"/>
              </a:rPr>
              <a:t>Abantu bumva bameze neza bashobora kugira ikibazo hakiri kare mu mara.</a:t>
            </a:r>
            <a:endParaRPr lang="rw-RW" sz="1850" dirty="0"/>
          </a:p>
        </p:txBody>
      </p:sp>
      <p:sp>
        <p:nvSpPr>
          <p:cNvPr id="8" name="Shape 6"/>
          <p:cNvSpPr/>
          <p:nvPr/>
        </p:nvSpPr>
        <p:spPr>
          <a:xfrm>
            <a:off x="548640" y="4261104"/>
            <a:ext cx="182880" cy="182880"/>
          </a:xfrm>
          <a:prstGeom prst="ellipse">
            <a:avLst/>
          </a:prstGeom>
          <a:solidFill>
            <a:srgbClr val="7FA8DA"/>
          </a:solidFill>
          <a:ln/>
        </p:spPr>
        <p:txBody>
          <a:bodyPr/>
          <a:lstStyle/>
          <a:p>
            <a:endParaRPr lang="rw-RW" dirty="0"/>
          </a:p>
        </p:txBody>
      </p:sp>
      <p:sp>
        <p:nvSpPr>
          <p:cNvPr id="9" name="Text 7"/>
          <p:cNvSpPr txBox="1"/>
          <p:nvPr/>
        </p:nvSpPr>
        <p:spPr>
          <a:xfrm>
            <a:off x="960120" y="4206240"/>
            <a:ext cx="10241280" cy="384048"/>
          </a:xfrm>
          <a:prstGeom prst="rect">
            <a:avLst/>
          </a:prstGeom>
          <a:noFill/>
          <a:ln/>
        </p:spPr>
        <p:txBody>
          <a:bodyPr wrap="square" lIns="0" tIns="0" rIns="0" bIns="0" rtlCol="0" anchor="ctr">
            <a:normAutofit fontScale="95500"/>
          </a:bodyPr>
          <a:lstStyle/>
          <a:p>
            <a:pPr marL="0" indent="0">
              <a:buNone/>
            </a:pPr>
            <a:r>
              <a:rPr lang="rw-RW" sz="1850" dirty="0">
                <a:solidFill>
                  <a:srgbClr val="E3ECF8"/>
                </a:solidFill>
                <a:latin typeface="Calibri" pitchFamily="34" charset="0"/>
                <a:ea typeface="Calibri" pitchFamily="34" charset="-122"/>
                <a:cs typeface="Calibri" pitchFamily="34" charset="-120"/>
              </a:rPr>
              <a:t>Gutega amatwi, kubika ibanga no kudashinja umuntu ni byo bituma abantu bemera gushaka ubuvuzi.</a:t>
            </a:r>
            <a:endParaRPr lang="rw-RW" sz="1850" dirty="0"/>
          </a:p>
        </p:txBody>
      </p:sp>
      <p:sp>
        <p:nvSpPr>
          <p:cNvPr id="10" name="Shape 8"/>
          <p:cNvSpPr/>
          <p:nvPr/>
        </p:nvSpPr>
        <p:spPr>
          <a:xfrm>
            <a:off x="548640" y="4764024"/>
            <a:ext cx="182880" cy="182880"/>
          </a:xfrm>
          <a:prstGeom prst="ellipse">
            <a:avLst/>
          </a:prstGeom>
          <a:solidFill>
            <a:srgbClr val="7FA8DA"/>
          </a:solidFill>
          <a:ln/>
        </p:spPr>
        <p:txBody>
          <a:bodyPr/>
          <a:lstStyle/>
          <a:p>
            <a:endParaRPr lang="rw-RW" dirty="0"/>
          </a:p>
        </p:txBody>
      </p:sp>
      <p:sp>
        <p:nvSpPr>
          <p:cNvPr id="11" name="Text 9"/>
          <p:cNvSpPr txBox="1"/>
          <p:nvPr/>
        </p:nvSpPr>
        <p:spPr>
          <a:xfrm>
            <a:off x="960120" y="4709160"/>
            <a:ext cx="10241280" cy="384048"/>
          </a:xfrm>
          <a:prstGeom prst="rect">
            <a:avLst/>
          </a:prstGeom>
          <a:noFill/>
          <a:ln/>
        </p:spPr>
        <p:txBody>
          <a:bodyPr wrap="square" lIns="0" tIns="0" rIns="0" bIns="0" rtlCol="0" anchor="ctr">
            <a:normAutofit fontScale="95500"/>
          </a:bodyPr>
          <a:lstStyle/>
          <a:p>
            <a:pPr marL="0" indent="0">
              <a:buNone/>
            </a:pPr>
            <a:r>
              <a:rPr lang="rw-RW" sz="1850" dirty="0">
                <a:solidFill>
                  <a:srgbClr val="E3ECF8"/>
                </a:solidFill>
                <a:latin typeface="Calibri" pitchFamily="34" charset="0"/>
                <a:ea typeface="Calibri" pitchFamily="34" charset="-122"/>
                <a:cs typeface="Calibri" pitchFamily="34" charset="-120"/>
              </a:rPr>
              <a:t>Ibimenyetso by'akaga bikeneye kwitabwaho uwo munsi.</a:t>
            </a:r>
            <a:endParaRPr lang="rw-RW" sz="1850" dirty="0"/>
          </a:p>
        </p:txBody>
      </p:sp>
      <p:sp>
        <p:nvSpPr>
          <p:cNvPr id="12" name="Shape 10"/>
          <p:cNvSpPr/>
          <p:nvPr/>
        </p:nvSpPr>
        <p:spPr>
          <a:xfrm>
            <a:off x="548640" y="5266944"/>
            <a:ext cx="182880" cy="182880"/>
          </a:xfrm>
          <a:prstGeom prst="ellipse">
            <a:avLst/>
          </a:prstGeom>
          <a:solidFill>
            <a:srgbClr val="7FA8DA"/>
          </a:solidFill>
          <a:ln/>
        </p:spPr>
        <p:txBody>
          <a:bodyPr/>
          <a:lstStyle/>
          <a:p>
            <a:endParaRPr lang="rw-RW" dirty="0"/>
          </a:p>
        </p:txBody>
      </p:sp>
      <p:sp>
        <p:nvSpPr>
          <p:cNvPr id="13" name="Text 11"/>
          <p:cNvSpPr txBox="1"/>
          <p:nvPr/>
        </p:nvSpPr>
        <p:spPr>
          <a:xfrm>
            <a:off x="960120" y="5212080"/>
            <a:ext cx="10241280" cy="384048"/>
          </a:xfrm>
          <a:prstGeom prst="rect">
            <a:avLst/>
          </a:prstGeom>
          <a:noFill/>
          <a:ln/>
        </p:spPr>
        <p:txBody>
          <a:bodyPr wrap="square" lIns="0" tIns="0" rIns="0" bIns="0" rtlCol="0" anchor="ctr">
            <a:normAutofit fontScale="95500"/>
          </a:bodyPr>
          <a:lstStyle/>
          <a:p>
            <a:pPr marL="0" indent="0">
              <a:buNone/>
            </a:pPr>
            <a:r>
              <a:rPr lang="rw-RW" sz="1850" dirty="0">
                <a:solidFill>
                  <a:srgbClr val="E3ECF8"/>
                </a:solidFill>
                <a:latin typeface="Calibri" pitchFamily="34" charset="0"/>
                <a:ea typeface="Calibri" pitchFamily="34" charset="-122"/>
                <a:cs typeface="Calibri" pitchFamily="34" charset="-120"/>
              </a:rPr>
              <a:t>Gukurikirana umurwayi ni igice cy'ingenzi cy'uruhare rwawe.</a:t>
            </a:r>
            <a:endParaRPr lang="rw-RW" sz="1850" dirty="0"/>
          </a:p>
        </p:txBody>
      </p:sp>
      <p:sp>
        <p:nvSpPr>
          <p:cNvPr id="14" name="Text 12"/>
          <p:cNvSpPr txBox="1"/>
          <p:nvPr/>
        </p:nvSpPr>
        <p:spPr>
          <a:xfrm>
            <a:off x="548640" y="6217920"/>
            <a:ext cx="8229600" cy="274320"/>
          </a:xfrm>
          <a:prstGeom prst="rect">
            <a:avLst/>
          </a:prstGeom>
          <a:noFill/>
          <a:ln/>
        </p:spPr>
        <p:txBody>
          <a:bodyPr wrap="square" lIns="0" tIns="0" rIns="0" bIns="0" rtlCol="0" anchor="ctr">
            <a:normAutofit/>
          </a:bodyPr>
          <a:lstStyle/>
          <a:p>
            <a:pPr marL="0" indent="0">
              <a:buNone/>
            </a:pPr>
            <a:r>
              <a:rPr lang="rw-RW" sz="1100" dirty="0">
                <a:solidFill>
                  <a:srgbClr val="8FAFD6"/>
                </a:solidFill>
                <a:latin typeface="Calibri" pitchFamily="34" charset="0"/>
                <a:ea typeface="Calibri" pitchFamily="34" charset="-122"/>
                <a:cs typeface="Calibri" pitchFamily="34" charset="-120"/>
              </a:rPr>
              <a:t>Kanseri y'amara | Umujyanama w'ubuzima | Rwanda Biomedical Centre</a:t>
            </a:r>
            <a:endParaRPr lang="rw-RW"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D61ECC46547A045896A1B75675AB43C" ma:contentTypeVersion="12" ma:contentTypeDescription="Create a new document." ma:contentTypeScope="" ma:versionID="b64b65294843640458730aea8e953da7">
  <xsd:schema xmlns:xsd="http://www.w3.org/2001/XMLSchema" xmlns:xs="http://www.w3.org/2001/XMLSchema" xmlns:p="http://schemas.microsoft.com/office/2006/metadata/properties" xmlns:ns1="http://schemas.microsoft.com/sharepoint/v3" xmlns:ns2="17d9841e-3b3a-4c82-8e4d-4f809d4d0b5f" xmlns:ns3="55fd9118-62da-44f2-ad5d-6ee26453d194" targetNamespace="http://schemas.microsoft.com/office/2006/metadata/properties" ma:root="true" ma:fieldsID="0ebed194f83790a6b312e91a81a0e8d9" ns1:_="" ns2:_="" ns3:_="">
    <xsd:import namespace="http://schemas.microsoft.com/sharepoint/v3"/>
    <xsd:import namespace="17d9841e-3b3a-4c82-8e4d-4f809d4d0b5f"/>
    <xsd:import namespace="55fd9118-62da-44f2-ad5d-6ee26453d19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hidden="true" ma:internalName="_ip_UnifiedCompliancePolicyProperties">
      <xsd:simpleType>
        <xsd:restriction base="dms:Note"/>
      </xsd:simpleType>
    </xsd:element>
    <xsd:element name="_ip_UnifiedCompliancePolicyUIAction" ma:index="1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7d9841e-3b3a-4c82-8e4d-4f809d4d0b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3f5e642b-91f5-4888-b018-43334a040d09"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5fd9118-62da-44f2-ad5d-6ee26453d194"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2a656308-58b0-4c85-8062-04ccee44b053}" ma:internalName="TaxCatchAll" ma:showField="CatchAllData" ma:web="55fd9118-62da-44f2-ad5d-6ee26453d19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55fd9118-62da-44f2-ad5d-6ee26453d194" xsi:nil="true"/>
    <_ip_UnifiedCompliancePolicyProperties xmlns="http://schemas.microsoft.com/sharepoint/v3" xsi:nil="true"/>
    <lcf76f155ced4ddcb4097134ff3c332f xmlns="17d9841e-3b3a-4c82-8e4d-4f809d4d0b5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2BCAE92-BD5E-4491-8B4E-A5BBAFB36FDB}"/>
</file>

<file path=customXml/itemProps2.xml><?xml version="1.0" encoding="utf-8"?>
<ds:datastoreItem xmlns:ds="http://schemas.openxmlformats.org/officeDocument/2006/customXml" ds:itemID="{8FE526A2-426F-442B-9680-B8D1F0AD7D44}"/>
</file>

<file path=customXml/itemProps3.xml><?xml version="1.0" encoding="utf-8"?>
<ds:datastoreItem xmlns:ds="http://schemas.openxmlformats.org/officeDocument/2006/customXml" ds:itemID="{74428737-FCA4-4C71-BF05-147F94474CD2}"/>
</file>

<file path=docProps/app.xml><?xml version="1.0" encoding="utf-8"?>
<Properties xmlns="http://schemas.openxmlformats.org/officeDocument/2006/extended-properties" xmlns:vt="http://schemas.openxmlformats.org/officeDocument/2006/docPropsVTypes">
  <TotalTime>820</TotalTime>
  <Words>9676</Words>
  <Application>Microsoft Macintosh PowerPoint</Application>
  <PresentationFormat>Panorámica</PresentationFormat>
  <Paragraphs>1205</Paragraphs>
  <Slides>85</Slides>
  <Notes>85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85</vt:i4>
      </vt:variant>
    </vt:vector>
  </HeadingPairs>
  <TitlesOfParts>
    <vt:vector size="89"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Colorectal Cancer, CHW Module (English)</dc:title>
  <dc:subject>PptxGenJS Presentation</dc:subject>
  <dc:creator>Rwanda Biomedical Centre</dc:creator>
  <cp:lastModifiedBy>Diana Alejandra Guarin Castaño</cp:lastModifiedBy>
  <cp:revision>35</cp:revision>
  <dcterms:created xsi:type="dcterms:W3CDTF">2026-08-26T09:03:58Z</dcterms:created>
  <dcterms:modified xsi:type="dcterms:W3CDTF">2026-09-28T22:57:08Z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128e483-8504-409f-97ca-6f94af18631c_Enabled">
    <vt:lpwstr>true</vt:lpwstr>
  </property>
  <property fmtid="{D5CDD505-2E9C-101B-9397-08002B2CF9AE}" pid="3" name="MSIP_Label_1128e483-8504-409f-97ca-6f94af18631c_SetDate">
    <vt:lpwstr>2026-09-02T09:19:06Z</vt:lpwstr>
  </property>
  <property fmtid="{D5CDD505-2E9C-101B-9397-08002B2CF9AE}" pid="4" name="MSIP_Label_1128e483-8504-409f-97ca-6f94af18631c_Method">
    <vt:lpwstr>Privileged</vt:lpwstr>
  </property>
  <property fmtid="{D5CDD505-2E9C-101B-9397-08002B2CF9AE}" pid="5" name="MSIP_Label_1128e483-8504-409f-97ca-6f94af18631c_Name">
    <vt:lpwstr>Portuguese - Not Classified</vt:lpwstr>
  </property>
  <property fmtid="{D5CDD505-2E9C-101B-9397-08002B2CF9AE}" pid="6" name="MSIP_Label_1128e483-8504-409f-97ca-6f94af18631c_SiteId">
    <vt:lpwstr>a00de4ec-48a8-43a6-be74-e31274e2060d</vt:lpwstr>
  </property>
  <property fmtid="{D5CDD505-2E9C-101B-9397-08002B2CF9AE}" pid="7" name="MSIP_Label_1128e483-8504-409f-97ca-6f94af18631c_ActionId">
    <vt:lpwstr>93f88142-ee7b-4125-856a-8c05418993ac</vt:lpwstr>
  </property>
  <property fmtid="{D5CDD505-2E9C-101B-9397-08002B2CF9AE}" pid="8" name="MSIP_Label_1128e483-8504-409f-97ca-6f94af18631c_ContentBits">
    <vt:lpwstr>0</vt:lpwstr>
  </property>
  <property fmtid="{D5CDD505-2E9C-101B-9397-08002B2CF9AE}" pid="9" name="MSIP_Label_1128e483-8504-409f-97ca-6f94af18631c_Tag">
    <vt:lpwstr>10, 0, 1, 1</vt:lpwstr>
  </property>
  <property fmtid="{D5CDD505-2E9C-101B-9397-08002B2CF9AE}" pid="10" name="_AdHocReviewCycleID">
    <vt:i4>-2053499940</vt:i4>
  </property>
  <property fmtid="{D5CDD505-2E9C-101B-9397-08002B2CF9AE}" pid="11" name="_NewReviewCycle">
    <vt:lpwstr/>
  </property>
  <property fmtid="{D5CDD505-2E9C-101B-9397-08002B2CF9AE}" pid="12" name="_EmailSubject">
    <vt:lpwstr>CHW with images</vt:lpwstr>
  </property>
  <property fmtid="{D5CDD505-2E9C-101B-9397-08002B2CF9AE}" pid="13" name="_AuthorEmail">
    <vt:lpwstr>sara.figueiredo@msd.com</vt:lpwstr>
  </property>
  <property fmtid="{D5CDD505-2E9C-101B-9397-08002B2CF9AE}" pid="14" name="_AuthorEmailDisplayName">
    <vt:lpwstr>Figueiredo, Sara</vt:lpwstr>
  </property>
  <property fmtid="{D5CDD505-2E9C-101B-9397-08002B2CF9AE}" pid="15" name="ContentTypeId">
    <vt:lpwstr>0x0101007D61ECC46547A045896A1B75675AB43C</vt:lpwstr>
  </property>
</Properties>
</file>