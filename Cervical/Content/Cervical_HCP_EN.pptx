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slideLayouts/slideLayout1.xml" ContentType="application/vnd.openxmlformats-officedocument.presentationml.slideLayout+xml"/>
  <Override PartName="/ppt/tableStyles.xml" ContentType="application/vnd.openxmlformats-officedocument.presentationml.tableStyl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slides/slide181.xml" ContentType="application/vnd.openxmlformats-officedocument.presentationml.slide+xml"/>
  <Override PartName="/ppt/slides/slide118.xml" ContentType="application/vnd.openxmlformats-officedocument.presentationml.slide+xml"/>
  <Override PartName="/ppt/slides/slide57.xml" ContentType="application/vnd.openxmlformats-officedocument.presentationml.slide+xml"/>
  <Override PartName="/ppt/slides/slide30.xml" ContentType="application/vnd.openxmlformats-officedocument.presentationml.slide+xml"/>
  <Override PartName="/ppt/slides/slide126.xml" ContentType="application/vnd.openxmlformats-officedocument.presentationml.slide+xml"/>
  <Override PartName="/ppt/slides/slide40.xml" ContentType="application/vnd.openxmlformats-officedocument.presentationml.slide+xml"/>
  <Override PartName="/ppt/slides/slide10.xml" ContentType="application/vnd.openxmlformats-officedocument.presentationml.slide+xml"/>
  <Override PartName="/ppt/slides/slide41.xml" ContentType="application/vnd.openxmlformats-officedocument.presentationml.slide+xml"/>
  <Override PartName="/ppt/slides/slide47.xml" ContentType="application/vnd.openxmlformats-officedocument.presentationml.slide+xml"/>
  <Override PartName="/ppt/slides/slide66.xml" ContentType="application/vnd.openxmlformats-officedocument.presentationml.slide+xml"/>
  <Override PartName="/ppt/slides/slide5.xml" ContentType="application/vnd.openxmlformats-officedocument.presentationml.slide+xml"/>
  <Override PartName="/ppt/slides/slide45.xml" ContentType="application/vnd.openxmlformats-officedocument.presentationml.slide+xml"/>
  <Override PartName="/ppt/slides/slide110.xml" ContentType="application/vnd.openxmlformats-officedocument.presentationml.slide+xml"/>
  <Override PartName="/ppt/slides/slide178.xml" ContentType="application/vnd.openxmlformats-officedocument.presentationml.slide+xml"/>
  <Override PartName="/ppt/slides/slide42.xml" ContentType="application/vnd.openxmlformats-officedocument.presentationml.slide+xml"/>
  <Override PartName="/ppt/slides/slide23.xml" ContentType="application/vnd.openxmlformats-officedocument.presentationml.slide+xml"/>
  <Override PartName="/ppt/slides/slide160.xml" ContentType="application/vnd.openxmlformats-officedocument.presentationml.slide+xml"/>
  <Override PartName="/ppt/slides/slide159.xml" ContentType="application/vnd.openxmlformats-officedocument.presentationml.slide+xml"/>
  <Override PartName="/ppt/slides/slide114.xml" ContentType="application/vnd.openxmlformats-officedocument.presentationml.slide+xml"/>
  <Override PartName="/ppt/slides/slide44.xml" ContentType="application/vnd.openxmlformats-officedocument.presentationml.slide+xml"/>
  <Override PartName="/ppt/slides/slide90.xml" ContentType="application/vnd.openxmlformats-officedocument.presentationml.slide+xml"/>
  <Override PartName="/ppt/slides/slide7.xml" ContentType="application/vnd.openxmlformats-officedocument.presentationml.slide+xml"/>
  <Override PartName="/ppt/slides/slide143.xml" ContentType="application/vnd.openxmlformats-officedocument.presentationml.slide+xml"/>
  <Override PartName="/ppt/slides/slide191.xml" ContentType="application/vnd.openxmlformats-officedocument.presentationml.slide+xml"/>
  <Override PartName="/ppt/slides/slide190.xml" ContentType="application/vnd.openxmlformats-officedocument.presentationml.slide+xml"/>
  <Override PartName="/ppt/slides/slide106.xml" ContentType="application/vnd.openxmlformats-officedocument.presentationml.slide+xml"/>
  <Override PartName="/ppt/slides/slide140.xml" ContentType="application/vnd.openxmlformats-officedocument.presentationml.slide+xml"/>
  <Override PartName="/ppt/slides/slide184.xml" ContentType="application/vnd.openxmlformats-officedocument.presentationml.slide+xml"/>
  <Override PartName="/ppt/slides/slide129.xml" ContentType="application/vnd.openxmlformats-officedocument.presentationml.slide+xml"/>
  <Override PartName="/ppt/slides/slide27.xml" ContentType="application/vnd.openxmlformats-officedocument.presentationml.slide+xml"/>
  <Override PartName="/ppt/slides/slide167.xml" ContentType="application/vnd.openxmlformats-officedocument.presentationml.slide+xml"/>
  <Override PartName="/ppt/slides/slide122.xml" ContentType="application/vnd.openxmlformats-officedocument.presentationml.slide+xml"/>
  <Override PartName="/ppt/slides/slide32.xml" ContentType="application/vnd.openxmlformats-officedocument.presentationml.slide+xml"/>
  <Override PartName="/ppt/slides/slide55.xml" ContentType="application/vnd.openxmlformats-officedocument.presentationml.slide+xml"/>
  <Override PartName="/ppt/slides/slide183.xml" ContentType="application/vnd.openxmlformats-officedocument.presentationml.slide+xml"/>
  <Override PartName="/ppt/slides/slide151.xml" ContentType="application/vnd.openxmlformats-officedocument.presentationml.slide+xml"/>
  <Override PartName="/ppt/slides/slide135.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53.xml" ContentType="application/vnd.openxmlformats-officedocument.presentationml.slide+xml"/>
  <Override PartName="/ppt/slides/slide192.xml" ContentType="application/vnd.openxmlformats-officedocument.presentationml.slide+xml"/>
  <Override PartName="/ppt/slides/slide76.xml" ContentType="application/vnd.openxmlformats-officedocument.presentationml.slide+xml"/>
  <Override PartName="/ppt/slides/slide6.xml" ContentType="application/vnd.openxmlformats-officedocument.presentationml.slide+xml"/>
  <Override PartName="/ppt/slides/slide74.xml" ContentType="application/vnd.openxmlformats-officedocument.presentationml.slide+xml"/>
  <Override PartName="/ppt/slides/slide141.xml" ContentType="application/vnd.openxmlformats-officedocument.presentationml.slide+xml"/>
  <Override PartName="/ppt/slides/slide96.xml" ContentType="application/vnd.openxmlformats-officedocument.presentationml.slide+xml"/>
  <Override PartName="/ppt/slides/slide61.xml" ContentType="application/vnd.openxmlformats-officedocument.presentationml.slide+xml"/>
  <Override PartName="/ppt/slides/slide12.xml" ContentType="application/vnd.openxmlformats-officedocument.presentationml.slide+xml"/>
  <Override PartName="/ppt/slides/slide69.xml" ContentType="application/vnd.openxmlformats-officedocument.presentationml.slide+xml"/>
  <Override PartName="/ppt/slides/slide176.xml" ContentType="application/vnd.openxmlformats-officedocument.presentationml.slide+xml"/>
  <Override PartName="/ppt/slides/slide68.xml" ContentType="application/vnd.openxmlformats-officedocument.presentationml.slide+xml"/>
  <Override PartName="/ppt/slides/slide18.xml" ContentType="application/vnd.openxmlformats-officedocument.presentationml.slide+xml"/>
  <Override PartName="/ppt/slides/slide113.xml" ContentType="application/vnd.openxmlformats-officedocument.presentationml.slide+xml"/>
  <Override PartName="/ppt/slides/slide196.xml" ContentType="application/vnd.openxmlformats-officedocument.presentationml.slide+xml"/>
  <Override PartName="/ppt/slides/slide138.xml" ContentType="application/vnd.openxmlformats-officedocument.presentationml.slide+xml"/>
  <Override PartName="/ppt/slides/slide166.xml" ContentType="application/vnd.openxmlformats-officedocument.presentationml.slide+xml"/>
  <Override PartName="/ppt/slides/slide59.xml" ContentType="application/vnd.openxmlformats-officedocument.presentationml.slide+xml"/>
  <Override PartName="/ppt/slides/slide3.xml" ContentType="application/vnd.openxmlformats-officedocument.presentationml.slide+xml"/>
  <Override PartName="/ppt/slides/slide51.xml" ContentType="application/vnd.openxmlformats-officedocument.presentationml.slide+xml"/>
  <Override PartName="/ppt/slides/slide109.xml" ContentType="application/vnd.openxmlformats-officedocument.presentationml.slide+xml"/>
  <Override PartName="/ppt/slides/slide157.xml" ContentType="application/vnd.openxmlformats-officedocument.presentationml.slide+xml"/>
  <Override PartName="/ppt/slides/slide137.xml" ContentType="application/vnd.openxmlformats-officedocument.presentationml.slide+xml"/>
  <Override PartName="/ppt/slides/slide145.xml" ContentType="application/vnd.openxmlformats-officedocument.presentationml.slide+xml"/>
  <Override PartName="/ppt/slides/slide1.xml" ContentType="application/vnd.openxmlformats-officedocument.presentationml.slide+xml"/>
  <Override PartName="/ppt/slides/slide115.xml" ContentType="application/vnd.openxmlformats-officedocument.presentationml.slide+xml"/>
  <Override PartName="/ppt/slides/slide111.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34.xml" ContentType="application/vnd.openxmlformats-officedocument.presentationml.slide+xml"/>
  <Override PartName="/ppt/slides/slide182.xml" ContentType="application/vnd.openxmlformats-officedocument.presentationml.slide+xml"/>
  <Override PartName="/ppt/slides/slide124.xml" ContentType="application/vnd.openxmlformats-officedocument.presentationml.slide+xml"/>
  <Override PartName="/ppt/slides/slide156.xml" ContentType="application/vnd.openxmlformats-officedocument.presentationml.slide+xml"/>
  <Override PartName="/ppt/slides/slide54.xml" ContentType="application/vnd.openxmlformats-officedocument.presentationml.slide+xml"/>
  <Override PartName="/ppt/slides/slide14.xml" ContentType="application/vnd.openxmlformats-officedocument.presentationml.slide+xml"/>
  <Override PartName="/ppt/slides/slide56.xml" ContentType="application/vnd.openxmlformats-officedocument.presentationml.slide+xml"/>
  <Override PartName="/ppt/slides/slide73.xml" ContentType="application/vnd.openxmlformats-officedocument.presentationml.slide+xml"/>
  <Override PartName="/ppt/slides/slide86.xml" ContentType="application/vnd.openxmlformats-officedocument.presentationml.slide+xml"/>
  <Override PartName="/ppt/slides/slide154.xml" ContentType="application/vnd.openxmlformats-officedocument.presentationml.slide+xml"/>
  <Override PartName="/ppt/slides/slide38.xml" ContentType="application/vnd.openxmlformats-officedocument.presentationml.slide+xml"/>
  <Override PartName="/ppt/slides/slide99.xml" ContentType="application/vnd.openxmlformats-officedocument.presentationml.slide+xml"/>
  <Override PartName="/ppt/slides/slide15.xml" ContentType="application/vnd.openxmlformats-officedocument.presentationml.slide+xml"/>
  <Override PartName="/ppt/slides/slide70.xml" ContentType="application/vnd.openxmlformats-officedocument.presentationml.slide+xml"/>
  <Override PartName="/ppt/slides/slide155.xml" ContentType="application/vnd.openxmlformats-officedocument.presentationml.slide+xml"/>
  <Override PartName="/ppt/slides/slide116.xml" ContentType="application/vnd.openxmlformats-officedocument.presentationml.slide+xml"/>
  <Override PartName="/ppt/slides/slide173.xml" ContentType="application/vnd.openxmlformats-officedocument.presentationml.slide+xml"/>
  <Override PartName="/ppt/slides/slide13.xml" ContentType="application/vnd.openxmlformats-officedocument.presentationml.slide+xml"/>
  <Override PartName="/ppt/slides/slide58.xml" ContentType="application/vnd.openxmlformats-officedocument.presentationml.slide+xml"/>
  <Override PartName="/ppt/slides/slide67.xml" ContentType="application/vnd.openxmlformats-officedocument.presentationml.slide+xml"/>
  <Override PartName="/ppt/slides/slide43.xml" ContentType="application/vnd.openxmlformats-officedocument.presentationml.slide+xml"/>
  <Override PartName="/ppt/slides/slide127.xml" ContentType="application/vnd.openxmlformats-officedocument.presentationml.slide+xml"/>
  <Override PartName="/ppt/slides/slide187.xml" ContentType="application/vnd.openxmlformats-officedocument.presentationml.slide+xml"/>
  <Override PartName="/ppt/slides/slide97.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194.xml" ContentType="application/vnd.openxmlformats-officedocument.presentationml.slide+xml"/>
  <Override PartName="/ppt/slides/slide161.xml" ContentType="application/vnd.openxmlformats-officedocument.presentationml.slide+xml"/>
  <Override PartName="/ppt/slides/slide89.xml" ContentType="application/vnd.openxmlformats-officedocument.presentationml.slide+xml"/>
  <Override PartName="/ppt/slides/slide37.xml" ContentType="application/vnd.openxmlformats-officedocument.presentationml.slide+xml"/>
  <Override PartName="/ppt/slides/slide172.xml" ContentType="application/vnd.openxmlformats-officedocument.presentationml.slide+xml"/>
  <Override PartName="/ppt/slides/slide78.xml" ContentType="application/vnd.openxmlformats-officedocument.presentationml.slide+xml"/>
  <Override PartName="/ppt/slides/slide189.xml" ContentType="application/vnd.openxmlformats-officedocument.presentationml.slide+xml"/>
  <Override PartName="/ppt/slides/slide193.xml" ContentType="application/vnd.openxmlformats-officedocument.presentationml.slide+xml"/>
  <Override PartName="/ppt/slides/slide64.xml" ContentType="application/vnd.openxmlformats-officedocument.presentationml.slide+xml"/>
  <Override PartName="/ppt/slides/slide19.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slides/slide22.xml" ContentType="application/vnd.openxmlformats-officedocument.presentationml.slide+xml"/>
  <Override PartName="/ppt/slides/slide128.xml" ContentType="application/vnd.openxmlformats-officedocument.presentationml.slide+xml"/>
  <Override PartName="/ppt/slides/slide77.xml" ContentType="application/vnd.openxmlformats-officedocument.presentationml.slide+xml"/>
  <Override PartName="/ppt/slides/slide169.xml" ContentType="application/vnd.openxmlformats-officedocument.presentationml.slide+xml"/>
  <Override PartName="/ppt/slides/slide132.xml" ContentType="application/vnd.openxmlformats-officedocument.presentationml.slide+xml"/>
  <Override PartName="/ppt/slides/slide85.xml" ContentType="application/vnd.openxmlformats-officedocument.presentationml.slide+xml"/>
  <Override PartName="/ppt/slides/slide35.xml" ContentType="application/vnd.openxmlformats-officedocument.presentationml.slide+xml"/>
  <Override PartName="/ppt/slides/slide25.xml" ContentType="application/vnd.openxmlformats-officedocument.presentationml.slide+xml"/>
  <Override PartName="/ppt/slides/slide103.xml" ContentType="application/vnd.openxmlformats-officedocument.presentationml.slide+xml"/>
  <Override PartName="/ppt/slides/slide139.xml" ContentType="application/vnd.openxmlformats-officedocument.presentationml.slide+xml"/>
  <Override PartName="/ppt/slides/slide46.xml" ContentType="application/vnd.openxmlformats-officedocument.presentationml.slide+xml"/>
  <Override PartName="/ppt/slides/slide39.xml" ContentType="application/vnd.openxmlformats-officedocument.presentationml.slide+xml"/>
  <Override PartName="/ppt/slides/slide29.xml" ContentType="application/vnd.openxmlformats-officedocument.presentationml.slide+xml"/>
  <Override PartName="/ppt/slides/slide197.xml" ContentType="application/vnd.openxmlformats-officedocument.presentationml.slide+xml"/>
  <Override PartName="/ppt/slides/slide98.xml" ContentType="application/vnd.openxmlformats-officedocument.presentationml.slide+xml"/>
  <Override PartName="/ppt/slides/slide4.xml" ContentType="application/vnd.openxmlformats-officedocument.presentationml.slide+xml"/>
  <Override PartName="/ppt/slides/slide150.xml" ContentType="application/vnd.openxmlformats-officedocument.presentationml.slide+xml"/>
  <Override PartName="/ppt/slides/slide177.xml" ContentType="application/vnd.openxmlformats-officedocument.presentationml.slide+xml"/>
  <Override PartName="/ppt/slides/slide142.xml" ContentType="application/vnd.openxmlformats-officedocument.presentationml.slide+xml"/>
  <Override PartName="/ppt/slides/slide119.xml" ContentType="application/vnd.openxmlformats-officedocument.presentationml.slide+xml"/>
  <Override PartName="/ppt/slides/slide65.xml" ContentType="application/vnd.openxmlformats-officedocument.presentationml.slide+xml"/>
  <Override PartName="/ppt/slides/slide136.xml" ContentType="application/vnd.openxmlformats-officedocument.presentationml.slide+xml"/>
  <Override PartName="/ppt/slides/slide170.xml" ContentType="application/vnd.openxmlformats-officedocument.presentationml.slide+xml"/>
  <Override PartName="/ppt/slides/slide200.xml" ContentType="application/vnd.openxmlformats-officedocument.presentationml.slide+xml"/>
  <Override PartName="/ppt/slides/slide104.xml" ContentType="application/vnd.openxmlformats-officedocument.presentationml.slide+xml"/>
  <Override PartName="/ppt/slides/slide123.xml" ContentType="application/vnd.openxmlformats-officedocument.presentationml.slide+xml"/>
  <Override PartName="/ppt/slides/slide162.xml" ContentType="application/vnd.openxmlformats-officedocument.presentationml.slide+xml"/>
  <Override PartName="/ppt/slides/slide148.xml" ContentType="application/vnd.openxmlformats-officedocument.presentationml.slide+xml"/>
  <Override PartName="/ppt/slides/slide198.xml" ContentType="application/vnd.openxmlformats-officedocument.presentationml.slide+xml"/>
  <Override PartName="/ppt/slides/slide153.xml" ContentType="application/vnd.openxmlformats-officedocument.presentationml.slide+xml"/>
  <Override PartName="/ppt/slides/slide186.xml" ContentType="application/vnd.openxmlformats-officedocument.presentationml.slide+xml"/>
  <Override PartName="/ppt/slides/slide101.xml" ContentType="application/vnd.openxmlformats-officedocument.presentationml.slide+xml"/>
  <Override PartName="/ppt/slides/slide134.xml" ContentType="application/vnd.openxmlformats-officedocument.presentationml.slide+xml"/>
  <Override PartName="/ppt/slides/slide24.xml" ContentType="application/vnd.openxmlformats-officedocument.presentationml.slide+xml"/>
  <Override PartName="/ppt/slides/slide16.xml" ContentType="application/vnd.openxmlformats-officedocument.presentationml.slide+xml"/>
  <Override PartName="/ppt/slides/slide72.xml" ContentType="application/vnd.openxmlformats-officedocument.presentationml.slide+xml"/>
  <Override PartName="/ppt/slides/slide152.xml" ContentType="application/vnd.openxmlformats-officedocument.presentationml.slide+xml"/>
  <Override PartName="/ppt/slides/slide130.xml" ContentType="application/vnd.openxmlformats-officedocument.presentationml.slide+xml"/>
  <Override PartName="/ppt/slides/slide21.xml" ContentType="application/vnd.openxmlformats-officedocument.presentationml.slide+xml"/>
  <Override PartName="/ppt/slides/slide94.xml" ContentType="application/vnd.openxmlformats-officedocument.presentationml.slide+xml"/>
  <Override PartName="/ppt/slides/slide163.xml" ContentType="application/vnd.openxmlformats-officedocument.presentationml.slide+xml"/>
  <Override PartName="/ppt/slides/slide179.xml" ContentType="application/vnd.openxmlformats-officedocument.presentationml.slide+xml"/>
  <Override PartName="/ppt/slides/slide174.xml" ContentType="application/vnd.openxmlformats-officedocument.presentationml.slide+xml"/>
  <Override PartName="/ppt/slides/slide20.xml" ContentType="application/vnd.openxmlformats-officedocument.presentationml.slide+xml"/>
  <Override PartName="/ppt/slides/slide120.xml" ContentType="application/vnd.openxmlformats-officedocument.presentationml.slide+xml"/>
  <Override PartName="/ppt/slides/slide100.xml" ContentType="application/vnd.openxmlformats-officedocument.presentationml.slide+xml"/>
  <Override PartName="/ppt/slides/slide9.xml" ContentType="application/vnd.openxmlformats-officedocument.presentationml.slide+xml"/>
  <Override PartName="/ppt/slides/slide82.xml" ContentType="application/vnd.openxmlformats-officedocument.presentationml.slide+xml"/>
  <Override PartName="/ppt/slides/slide84.xml" ContentType="application/vnd.openxmlformats-officedocument.presentationml.slide+xml"/>
  <Override PartName="/ppt/slides/slide87.xml" ContentType="application/vnd.openxmlformats-officedocument.presentationml.slide+xml"/>
  <Override PartName="/ppt/slides/slide149.xml" ContentType="application/vnd.openxmlformats-officedocument.presentationml.slide+xml"/>
  <Override PartName="/ppt/slides/slide117.xml" ContentType="application/vnd.openxmlformats-officedocument.presentationml.slide+xml"/>
  <Override PartName="/ppt/slides/slide188.xml" ContentType="application/vnd.openxmlformats-officedocument.presentationml.slide+xml"/>
  <Override PartName="/ppt/slides/slide195.xml" ContentType="application/vnd.openxmlformats-officedocument.presentationml.slide+xml"/>
  <Override PartName="/ppt/slides/slide11.xml" ContentType="application/vnd.openxmlformats-officedocument.presentationml.slide+xml"/>
  <Override PartName="/ppt/slides/slide62.xml" ContentType="application/vnd.openxmlformats-officedocument.presentationml.slide+xml"/>
  <Override PartName="/ppt/slides/slide164.xml" ContentType="application/vnd.openxmlformats-officedocument.presentationml.slide+xml"/>
  <Override PartName="/ppt/slides/slide50.xml" ContentType="application/vnd.openxmlformats-officedocument.presentationml.slide+xml"/>
  <Override PartName="/ppt/slides/slide146.xml" ContentType="application/vnd.openxmlformats-officedocument.presentationml.slide+xml"/>
  <Override PartName="/ppt/slides/slide131.xml" ContentType="application/vnd.openxmlformats-officedocument.presentationml.slide+xml"/>
  <Override PartName="/ppt/slides/slide49.xml" ContentType="application/vnd.openxmlformats-officedocument.presentationml.slide+xml"/>
  <Override PartName="/ppt/slides/slide185.xml" ContentType="application/vnd.openxmlformats-officedocument.presentationml.slide+xml"/>
  <Override PartName="/ppt/slides/slide180.xml" ContentType="application/vnd.openxmlformats-officedocument.presentationml.slide+xml"/>
  <Override PartName="/ppt/slides/slide168.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5.xml" ContentType="application/vnd.openxmlformats-officedocument.presentationml.slide+xml"/>
  <Override PartName="/ppt/slides/slide28.xml" ContentType="application/vnd.openxmlformats-officedocument.presentationml.slide+xml"/>
  <Override PartName="/ppt/slides/slide147.xml" ContentType="application/vnd.openxmlformats-officedocument.presentationml.slide+xml"/>
  <Override PartName="/ppt/slides/slide158.xml" ContentType="application/vnd.openxmlformats-officedocument.presentationml.slide+xml"/>
  <Override PartName="/ppt/slides/slide83.xml" ContentType="application/vnd.openxmlformats-officedocument.presentationml.slide+xml"/>
  <Override PartName="/ppt/slides/slide112.xml" ContentType="application/vnd.openxmlformats-officedocument.presentationml.slide+xml"/>
  <Override PartName="/ppt/slides/slide36.xml" ContentType="application/vnd.openxmlformats-officedocument.presentationml.slide+xml"/>
  <Override PartName="/ppt/slides/slide26.xml" ContentType="application/vnd.openxmlformats-officedocument.presentationml.slide+xml"/>
  <Override PartName="/ppt/slides/slide60.xml" ContentType="application/vnd.openxmlformats-officedocument.presentationml.slide+xml"/>
  <Override PartName="/ppt/slides/slide107.xml" ContentType="application/vnd.openxmlformats-officedocument.presentationml.slide+xml"/>
  <Override PartName="/ppt/slides/slide199.xml" ContentType="application/vnd.openxmlformats-officedocument.presentationml.slide+xml"/>
  <Override PartName="/ppt/slides/slide144.xml" ContentType="application/vnd.openxmlformats-officedocument.presentationml.slide+xml"/>
  <Override PartName="/ppt/slides/slide102.xml" ContentType="application/vnd.openxmlformats-officedocument.presentationml.slide+xml"/>
  <Override PartName="/ppt/slides/slide88.xml" ContentType="application/vnd.openxmlformats-officedocument.presentationml.slide+xml"/>
  <Override PartName="/ppt/slides/slide91.xml" ContentType="application/vnd.openxmlformats-officedocument.presentationml.slide+xml"/>
  <Override PartName="/ppt/slides/slide71.xml" ContentType="application/vnd.openxmlformats-officedocument.presentationml.slide+xml"/>
  <Override PartName="/ppt/slides/slide121.xml" ContentType="application/vnd.openxmlformats-officedocument.presentationml.slide+xml"/>
  <Override PartName="/ppt/slides/slide125.xml" ContentType="application/vnd.openxmlformats-officedocument.presentationml.slide+xml"/>
  <Override PartName="/ppt/slides/slide79.xml" ContentType="application/vnd.openxmlformats-officedocument.presentationml.slide+xml"/>
  <Override PartName="/ppt/slides/slide165.xml" ContentType="application/vnd.openxmlformats-officedocument.presentationml.slide+xml"/>
  <Override PartName="/ppt/slides/slide48.xml" ContentType="application/vnd.openxmlformats-officedocument.presentationml.slide+xml"/>
  <Override PartName="/ppt/slides/slide175.xml" ContentType="application/vnd.openxmlformats-officedocument.presentationml.slide+xml"/>
  <Override PartName="/ppt/slides/slide75.xml" ContentType="application/vnd.openxmlformats-officedocument.presentationml.slide+xml"/>
  <Override PartName="/ppt/slides/slide105.xml" ContentType="application/vnd.openxmlformats-officedocument.presentationml.slide+xml"/>
  <Override PartName="/ppt/slides/slide108.xml" ContentType="application/vnd.openxmlformats-officedocument.presentationml.slide+xml"/>
  <Override PartName="/ppt/slides/slide133.xml" ContentType="application/vnd.openxmlformats-officedocument.presentationml.slide+xml"/>
  <Override PartName="/ppt/slides/slide171.xml" ContentType="application/vnd.openxmlformats-officedocument.presentationml.slide+xml"/>
  <Override PartName="/ppt/slides/slide52.xml" ContentType="application/vnd.openxmlformats-officedocument.presentationml.slide+xml"/>
  <Override PartName="/ppt/viewProps.xml" ContentType="application/vnd.openxmlformats-officedocument.presentationml.viewProps+xml"/>
  <Override PartName="/ppt/notesSlides/notesSlide63.xml" ContentType="application/vnd.openxmlformats-officedocument.presentationml.notesSlide+xml"/>
  <Override PartName="/ppt/notesSlides/notesSlide6.xml" ContentType="application/vnd.openxmlformats-officedocument.presentationml.notesSlide+xml"/>
  <Override PartName="/ppt/notesSlides/notesSlide1.xml" ContentType="application/vnd.openxmlformats-officedocument.presentationml.notesSlide+xml"/>
  <Override PartName="/ppt/notesSlides/notesSlide167.xml" ContentType="application/vnd.openxmlformats-officedocument.presentationml.notesSlide+xml"/>
  <Override PartName="/ppt/notesSlides/notesSlide102.xml" ContentType="application/vnd.openxmlformats-officedocument.presentationml.notesSlide+xml"/>
  <Override PartName="/ppt/notesSlides/notesSlide140.xml" ContentType="application/vnd.openxmlformats-officedocument.presentationml.notesSlide+xml"/>
  <Override PartName="/ppt/notesSlides/notesSlide129.xml" ContentType="application/vnd.openxmlformats-officedocument.presentationml.notesSlide+xml"/>
  <Override PartName="/ppt/notesSlides/notesSlide132.xml" ContentType="application/vnd.openxmlformats-officedocument.presentationml.notesSlide+xml"/>
  <Override PartName="/ppt/notesSlides/notesSlide117.xml" ContentType="application/vnd.openxmlformats-officedocument.presentationml.notesSlide+xml"/>
  <Override PartName="/ppt/notesSlides/notesSlide48.xml" ContentType="application/vnd.openxmlformats-officedocument.presentationml.notesSlide+xml"/>
  <Override PartName="/ppt/notesSlides/notesSlide158.xml" ContentType="application/vnd.openxmlformats-officedocument.presentationml.notesSlide+xml"/>
  <Override PartName="/ppt/notesSlides/notesSlide20.xml" ContentType="application/vnd.openxmlformats-officedocument.presentationml.notesSlide+xml"/>
  <Override PartName="/ppt/notesSlides/notesSlide141.xml" ContentType="application/vnd.openxmlformats-officedocument.presentationml.notesSlide+xml"/>
  <Override PartName="/ppt/notesSlides/notesSlide31.xml" ContentType="application/vnd.openxmlformats-officedocument.presentationml.notesSlide+xml"/>
  <Override PartName="/ppt/notesSlides/notesSlide37.xml" ContentType="application/vnd.openxmlformats-officedocument.presentationml.notesSlide+xml"/>
  <Override PartName="/ppt/notesSlides/notesSlide168.xml" ContentType="application/vnd.openxmlformats-officedocument.presentationml.notesSlide+xml"/>
  <Override PartName="/ppt/notesSlides/notesSlide23.xml" ContentType="application/vnd.openxmlformats-officedocument.presentationml.notesSlide+xml"/>
  <Override PartName="/ppt/notesSlides/notesSlide120.xml" ContentType="application/vnd.openxmlformats-officedocument.presentationml.notesSlide+xml"/>
  <Override PartName="/ppt/notesSlides/notesSlide135.xml" ContentType="application/vnd.openxmlformats-officedocument.presentationml.notesSlide+xml"/>
  <Override PartName="/ppt/notesSlides/notesSlide92.xml" ContentType="application/vnd.openxmlformats-officedocument.presentationml.notesSlide+xml"/>
  <Override PartName="/ppt/notesSlides/notesSlide142.xml" ContentType="application/vnd.openxmlformats-officedocument.presentationml.notesSlide+xml"/>
  <Override PartName="/ppt/notesSlides/notesSlide39.xml" ContentType="application/vnd.openxmlformats-officedocument.presentationml.notesSlide+xml"/>
  <Override PartName="/ppt/notesSlides/notesSlide78.xml" ContentType="application/vnd.openxmlformats-officedocument.presentationml.notesSlide+xml"/>
  <Override PartName="/ppt/notesSlides/notesSlide113.xml" ContentType="application/vnd.openxmlformats-officedocument.presentationml.notesSlide+xml"/>
  <Override PartName="/ppt/notesSlides/notesSlide79.xml" ContentType="application/vnd.openxmlformats-officedocument.presentationml.notesSlide+xml"/>
  <Override PartName="/ppt/notesSlides/notesSlide69.xml" ContentType="application/vnd.openxmlformats-officedocument.presentationml.notesSlide+xml"/>
  <Override PartName="/ppt/notesSlides/notesSlide9.xml" ContentType="application/vnd.openxmlformats-officedocument.presentationml.notesSlide+xml"/>
  <Override PartName="/ppt/notesSlides/notesSlide59.xml" ContentType="application/vnd.openxmlformats-officedocument.presentationml.notesSlide+xml"/>
  <Override PartName="/ppt/notesSlides/notesSlide17.xml" ContentType="application/vnd.openxmlformats-officedocument.presentationml.notesSlide+xml"/>
  <Override PartName="/ppt/notesSlides/notesSlide71.xml" ContentType="application/vnd.openxmlformats-officedocument.presentationml.notesSlide+xml"/>
  <Override PartName="/ppt/notesSlides/notesSlide81.xml" ContentType="application/vnd.openxmlformats-officedocument.presentationml.notesSlide+xml"/>
  <Override PartName="/ppt/notesSlides/notesSlide131.xml" ContentType="application/vnd.openxmlformats-officedocument.presentationml.notesSlide+xml"/>
  <Override PartName="/ppt/notesSlides/notesSlide145.xml" ContentType="application/vnd.openxmlformats-officedocument.presentationml.notesSlide+xml"/>
  <Override PartName="/ppt/notesSlides/notesSlide164.xml" ContentType="application/vnd.openxmlformats-officedocument.presentationml.notesSlide+xml"/>
  <Override PartName="/ppt/notesSlides/notesSlide99.xml" ContentType="application/vnd.openxmlformats-officedocument.presentationml.notesSlide+xml"/>
  <Override PartName="/ppt/notesSlides/notesSlide74.xml" ContentType="application/vnd.openxmlformats-officedocument.presentationml.notesSlide+xml"/>
  <Override PartName="/ppt/notesSlides/notesSlide148.xml" ContentType="application/vnd.openxmlformats-officedocument.presentationml.notesSlide+xml"/>
  <Override PartName="/ppt/notesSlides/notesSlide11.xml" ContentType="application/vnd.openxmlformats-officedocument.presentationml.notesSlide+xml"/>
  <Override PartName="/ppt/notesSlides/notesSlide122.xml" ContentType="application/vnd.openxmlformats-officedocument.presentationml.notesSlide+xml"/>
  <Override PartName="/ppt/notesSlides/notesSlide89.xml" ContentType="application/vnd.openxmlformats-officedocument.presentationml.notesSlide+xml"/>
  <Override PartName="/ppt/notesSlides/notesSlide28.xml" ContentType="application/vnd.openxmlformats-officedocument.presentationml.notesSlide+xml"/>
  <Override PartName="/ppt/notesSlides/notesSlide40.xml" ContentType="application/vnd.openxmlformats-officedocument.presentationml.notesSlide+xml"/>
  <Override PartName="/ppt/notesSlides/notesSlide55.xml" ContentType="application/vnd.openxmlformats-officedocument.presentationml.notesSlide+xml"/>
  <Override PartName="/ppt/notesSlides/notesSlide15.xml" ContentType="application/vnd.openxmlformats-officedocument.presentationml.notesSlide+xml"/>
  <Override PartName="/ppt/notesSlides/notesSlide121.xml" ContentType="application/vnd.openxmlformats-officedocument.presentationml.notesSlide+xml"/>
  <Override PartName="/ppt/notesSlides/notesSlide146.xml" ContentType="application/vnd.openxmlformats-officedocument.presentationml.notesSlide+xml"/>
  <Override PartName="/ppt/notesSlides/notesSlide41.xml" ContentType="application/vnd.openxmlformats-officedocument.presentationml.notesSlide+xml"/>
  <Override PartName="/ppt/notesSlides/notesSlide157.xml" ContentType="application/vnd.openxmlformats-officedocument.presentationml.notesSlide+xml"/>
  <Override PartName="/ppt/notesSlides/notesSlide24.xml" ContentType="application/vnd.openxmlformats-officedocument.presentationml.notesSlide+xml"/>
  <Override PartName="/ppt/notesSlides/notesSlide112.xml" ContentType="application/vnd.openxmlformats-officedocument.presentationml.notesSlide+xml"/>
  <Override PartName="/ppt/notesSlides/notesSlide84.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50.xml" ContentType="application/vnd.openxmlformats-officedocument.presentationml.notesSlide+xml"/>
  <Override PartName="/ppt/notesSlides/notesSlide21.xml" ContentType="application/vnd.openxmlformats-officedocument.presentationml.notesSlide+xml"/>
  <Override PartName="/ppt/notesSlides/notesSlide2.xml" ContentType="application/vnd.openxmlformats-officedocument.presentationml.notesSlide+xml"/>
  <Override PartName="/ppt/notesSlides/notesSlide126.xml" ContentType="application/vnd.openxmlformats-officedocument.presentationml.notesSlide+xml"/>
  <Override PartName="/ppt/notesSlides/notesSlide56.xml" ContentType="application/vnd.openxmlformats-officedocument.presentationml.notesSlide+xml"/>
  <Override PartName="/ppt/notesSlides/notesSlide60.xml" ContentType="application/vnd.openxmlformats-officedocument.presentationml.notesSlide+xml"/>
  <Override PartName="/ppt/notesSlides/notesSlide154.xml" ContentType="application/vnd.openxmlformats-officedocument.presentationml.notesSlide+xml"/>
  <Override PartName="/ppt/notesSlides/notesSlide95.xml" ContentType="application/vnd.openxmlformats-officedocument.presentationml.notesSlide+xml"/>
  <Override PartName="/ppt/notesSlides/notesSlide143.xml" ContentType="application/vnd.openxmlformats-officedocument.presentationml.notesSlide+xml"/>
  <Override PartName="/ppt/notesSlides/notesSlide67.xml" ContentType="application/vnd.openxmlformats-officedocument.presentationml.notesSlide+xml"/>
  <Override PartName="/ppt/notesSlides/notesSlide77.xml" ContentType="application/vnd.openxmlformats-officedocument.presentationml.notesSlide+xml"/>
  <Override PartName="/ppt/notesSlides/notesSlide51.xml" ContentType="application/vnd.openxmlformats-officedocument.presentationml.notesSlide+xml"/>
  <Override PartName="/ppt/notesSlides/notesSlide49.xml" ContentType="application/vnd.openxmlformats-officedocument.presentationml.notesSlide+xml"/>
  <Override PartName="/ppt/notesSlides/notesSlide116.xml" ContentType="application/vnd.openxmlformats-officedocument.presentationml.notesSlide+xml"/>
  <Override PartName="/ppt/notesSlides/notesSlide93.xml" ContentType="application/vnd.openxmlformats-officedocument.presentationml.notesSlide+xml"/>
  <Override PartName="/ppt/notesSlides/notesSlide16.xml" ContentType="application/vnd.openxmlformats-officedocument.presentationml.notesSlide+xml"/>
  <Override PartName="/ppt/notesSlides/notesSlide68.xml" ContentType="application/vnd.openxmlformats-officedocument.presentationml.notesSlide+xml"/>
  <Override PartName="/ppt/notesSlides/notesSlide109.xml" ContentType="application/vnd.openxmlformats-officedocument.presentationml.notesSlide+xml"/>
  <Override PartName="/ppt/notesSlides/notesSlide26.xml" ContentType="application/vnd.openxmlformats-officedocument.presentationml.notesSlide+xml"/>
  <Override PartName="/ppt/notesSlides/notesSlide124.xml" ContentType="application/vnd.openxmlformats-officedocument.presentationml.notesSlide+xml"/>
  <Override PartName="/ppt/notesSlides/notesSlide47.xml" ContentType="application/vnd.openxmlformats-officedocument.presentationml.notesSlide+xml"/>
  <Override PartName="/ppt/notesSlides/notesSlide33.xml" ContentType="application/vnd.openxmlformats-officedocument.presentationml.notesSlide+xml"/>
  <Override PartName="/ppt/notesSlides/notesSlide64.xml" ContentType="application/vnd.openxmlformats-officedocument.presentationml.notesSlide+xml"/>
  <Override PartName="/ppt/notesSlides/notesSlide5.xml" ContentType="application/vnd.openxmlformats-officedocument.presentationml.notesSlide+xml"/>
  <Override PartName="/ppt/notesSlides/notesSlide98.xml" ContentType="application/vnd.openxmlformats-officedocument.presentationml.notesSlide+xml"/>
  <Override PartName="/ppt/notesSlides/notesSlide34.xml" ContentType="application/vnd.openxmlformats-officedocument.presentationml.notesSlide+xml"/>
  <Override PartName="/ppt/notesSlides/notesSlide54.xml" ContentType="application/vnd.openxmlformats-officedocument.presentationml.notesSlide+xml"/>
  <Override PartName="/ppt/notesSlides/notesSlide118.xml" ContentType="application/vnd.openxmlformats-officedocument.presentationml.notesSlide+xml"/>
  <Override PartName="/ppt/notesSlides/notesSlide57.xml" ContentType="application/vnd.openxmlformats-officedocument.presentationml.notesSlide+xml"/>
  <Override PartName="/ppt/notesSlides/notesSlide65.xml" ContentType="application/vnd.openxmlformats-officedocument.presentationml.notesSlide+xml"/>
  <Override PartName="/ppt/notesSlides/notesSlide53.xml" ContentType="application/vnd.openxmlformats-officedocument.presentationml.notesSlide+xml"/>
  <Override PartName="/ppt/notesSlides/notesSlide14.xml" ContentType="application/vnd.openxmlformats-officedocument.presentationml.notesSlide+xml"/>
  <Override PartName="/ppt/notesSlides/notesSlide35.xml" ContentType="application/vnd.openxmlformats-officedocument.presentationml.notesSlide+xml"/>
  <Override PartName="/ppt/notesSlides/notesSlide91.xml" ContentType="application/vnd.openxmlformats-officedocument.presentationml.notesSlide+xml"/>
  <Override PartName="/ppt/notesSlides/notesSlide104.xml" ContentType="application/vnd.openxmlformats-officedocument.presentationml.notesSlide+xml"/>
  <Override PartName="/ppt/notesSlides/notesSlide151.xml" ContentType="application/vnd.openxmlformats-officedocument.presentationml.notesSlide+xml"/>
  <Override PartName="/ppt/notesSlides/notesSlide38.xml" ContentType="application/vnd.openxmlformats-officedocument.presentationml.notesSlide+xml"/>
  <Override PartName="/ppt/notesSlides/notesSlide153.xml" ContentType="application/vnd.openxmlformats-officedocument.presentationml.notesSlide+xml"/>
  <Override PartName="/ppt/notesSlides/notesSlide18.xml" ContentType="application/vnd.openxmlformats-officedocument.presentationml.notesSlide+xml"/>
  <Override PartName="/ppt/notesSlides/notesSlide29.xml" ContentType="application/vnd.openxmlformats-officedocument.presentationml.notesSlide+xml"/>
  <Override PartName="/ppt/notesSlides/notesSlide27.xml" ContentType="application/vnd.openxmlformats-officedocument.presentationml.notesSlide+xml"/>
  <Override PartName="/ppt/notesSlides/notesSlide165.xml" ContentType="application/vnd.openxmlformats-officedocument.presentationml.notesSlide+xml"/>
  <Override PartName="/ppt/notesSlides/notesSlide150.xml" ContentType="application/vnd.openxmlformats-officedocument.presentationml.notesSlide+xml"/>
  <Override PartName="/ppt/notesSlides/notesSlide97.xml" ContentType="application/vnd.openxmlformats-officedocument.presentationml.notesSlide+xml"/>
  <Override PartName="/ppt/notesSlides/notesSlide85.xml" ContentType="application/vnd.openxmlformats-officedocument.presentationml.notesSlide+xml"/>
  <Override PartName="/ppt/notesSlides/notesSlide66.xml" ContentType="application/vnd.openxmlformats-officedocument.presentationml.notesSlide+xml"/>
  <Override PartName="/ppt/notesSlides/notesSlide115.xml" ContentType="application/vnd.openxmlformats-officedocument.presentationml.notesSlide+xml"/>
  <Override PartName="/ppt/notesSlides/notesSlide32.xml" ContentType="application/vnd.openxmlformats-officedocument.presentationml.notesSlide+xml"/>
  <Override PartName="/ppt/notesSlides/notesSlide103.xml" ContentType="application/vnd.openxmlformats-officedocument.presentationml.notesSlide+xml"/>
  <Override PartName="/ppt/notesSlides/notesSlide134.xml" ContentType="application/vnd.openxmlformats-officedocument.presentationml.notesSlide+xml"/>
  <Override PartName="/ppt/notesSlides/notesSlide152.xml" ContentType="application/vnd.openxmlformats-officedocument.presentationml.notesSlide+xml"/>
  <Override PartName="/ppt/notesSlides/notesSlide111.xml" ContentType="application/vnd.openxmlformats-officedocument.presentationml.notesSlide+xml"/>
  <Override PartName="/ppt/notesSlides/notesSlide86.xml" ContentType="application/vnd.openxmlformats-officedocument.presentationml.notesSlide+xml"/>
  <Override PartName="/ppt/notesSlides/notesSlide101.xml" ContentType="application/vnd.openxmlformats-officedocument.presentationml.notesSlide+xml"/>
  <Override PartName="/ppt/notesSlides/notesSlide161.xml" ContentType="application/vnd.openxmlformats-officedocument.presentationml.notesSlide+xml"/>
  <Override PartName="/ppt/notesSlides/notesSlide130.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136.xml" ContentType="application/vnd.openxmlformats-officedocument.presentationml.notesSlide+xml"/>
  <Override PartName="/ppt/notesSlides/notesSlide127.xml" ContentType="application/vnd.openxmlformats-officedocument.presentationml.notesSlide+xml"/>
  <Override PartName="/ppt/notesSlides/notesSlide83.xml" ContentType="application/vnd.openxmlformats-officedocument.presentationml.notesSlide+xml"/>
  <Override PartName="/ppt/notesSlides/notesSlide80.xml" ContentType="application/vnd.openxmlformats-officedocument.presentationml.notesSlide+xml"/>
  <Override PartName="/ppt/notesSlides/notesSlide46.xml" ContentType="application/vnd.openxmlformats-officedocument.presentationml.notesSlide+xml"/>
  <Override PartName="/ppt/notesSlides/notesSlide107.xml" ContentType="application/vnd.openxmlformats-officedocument.presentationml.notesSlide+xml"/>
  <Override PartName="/ppt/notesSlides/notesSlide137.xml" ContentType="application/vnd.openxmlformats-officedocument.presentationml.notesSlide+xml"/>
  <Override PartName="/ppt/notesSlides/notesSlide70.xml" ContentType="application/vnd.openxmlformats-officedocument.presentationml.notesSlide+xml"/>
  <Override PartName="/ppt/notesSlides/notesSlide105.xml" ContentType="application/vnd.openxmlformats-officedocument.presentationml.notesSlide+xml"/>
  <Override PartName="/ppt/notesSlides/notesSlide19.xml" ContentType="application/vnd.openxmlformats-officedocument.presentationml.notesSlide+xml"/>
  <Override PartName="/ppt/notesSlides/notesSlide22.xml" ContentType="application/vnd.openxmlformats-officedocument.presentationml.notesSlide+xml"/>
  <Override PartName="/ppt/notesSlides/notesSlide58.xml" ContentType="application/vnd.openxmlformats-officedocument.presentationml.notesSlide+xml"/>
  <Override PartName="/ppt/notesSlides/notesSlide139.xml" ContentType="application/vnd.openxmlformats-officedocument.presentationml.notesSlide+xml"/>
  <Override PartName="/ppt/notesSlides/notesSlide72.xml" ContentType="application/vnd.openxmlformats-officedocument.presentationml.notesSlide+xml"/>
  <Override PartName="/ppt/notesSlides/notesSlide45.xml" ContentType="application/vnd.openxmlformats-officedocument.presentationml.notesSlide+xml"/>
  <Override PartName="/ppt/notesSlides/notesSlide88.xml" ContentType="application/vnd.openxmlformats-officedocument.presentationml.notesSlide+xml"/>
  <Override PartName="/ppt/notesSlides/notesSlide169.xml" ContentType="application/vnd.openxmlformats-officedocument.presentationml.notesSlide+xml"/>
  <Override PartName="/ppt/notesSlides/notesSlide73.xml" ContentType="application/vnd.openxmlformats-officedocument.presentationml.notesSlide+xml"/>
  <Override PartName="/ppt/notesSlides/notesSlide133.xml" ContentType="application/vnd.openxmlformats-officedocument.presentationml.notesSlide+xml"/>
  <Override PartName="/ppt/notesSlides/notesSlide43.xml" ContentType="application/vnd.openxmlformats-officedocument.presentationml.notesSlide+xml"/>
  <Override PartName="/ppt/notesSlides/notesSlide3.xml" ContentType="application/vnd.openxmlformats-officedocument.presentationml.notesSlide+xml"/>
  <Override PartName="/ppt/notesSlides/notesSlide149.xml" ContentType="application/vnd.openxmlformats-officedocument.presentationml.notesSlide+xml"/>
  <Override PartName="/ppt/notesSlides/notesSlide100.xml" ContentType="application/vnd.openxmlformats-officedocument.presentationml.notesSlide+xml"/>
  <Override PartName="/ppt/notesSlides/notesSlide61.xml" ContentType="application/vnd.openxmlformats-officedocument.presentationml.notesSlide+xml"/>
  <Override PartName="/ppt/notesSlides/notesSlide30.xml" ContentType="application/vnd.openxmlformats-officedocument.presentationml.notesSlide+xml"/>
  <Override PartName="/ppt/notesSlides/notesSlide10.xml" ContentType="application/vnd.openxmlformats-officedocument.presentationml.notesSlide+xml"/>
  <Override PartName="/ppt/notesSlides/notesSlide42.xml" ContentType="application/vnd.openxmlformats-officedocument.presentationml.notesSlide+xml"/>
  <Override PartName="/ppt/notesSlides/notesSlide76.xml" ContentType="application/vnd.openxmlformats-officedocument.presentationml.notesSlide+xml"/>
  <Override PartName="/ppt/notesSlides/notesSlide128.xml" ContentType="application/vnd.openxmlformats-officedocument.presentationml.notesSlide+xml"/>
  <Override PartName="/ppt/notesSlides/notesSlide12.xml" ContentType="application/vnd.openxmlformats-officedocument.presentationml.notesSlide+xml"/>
  <Override PartName="/ppt/notesSlides/notesSlide125.xml" ContentType="application/vnd.openxmlformats-officedocument.presentationml.notesSlide+xml"/>
  <Override PartName="/ppt/notesSlides/notesSlide7.xml" ContentType="application/vnd.openxmlformats-officedocument.presentationml.notesSlide+xml"/>
  <Override PartName="/ppt/notesSlides/notesSlide44.xml" ContentType="application/vnd.openxmlformats-officedocument.presentationml.notesSlide+xml"/>
  <Override PartName="/ppt/notesSlides/notesSlide138.xml" ContentType="application/vnd.openxmlformats-officedocument.presentationml.notesSlide+xml"/>
  <Override PartName="/ppt/notesSlides/notesSlide25.xml" ContentType="application/vnd.openxmlformats-officedocument.presentationml.notesSlide+xml"/>
  <Override PartName="/ppt/notesSlides/notesSlide4.xml" ContentType="application/vnd.openxmlformats-officedocument.presentationml.notesSlide+xml"/>
  <Override PartName="/ppt/notesSlides/notesSlide155.xml" ContentType="application/vnd.openxmlformats-officedocument.presentationml.notesSlide+xml"/>
  <Override PartName="/ppt/notesSlides/notesSlide36.xml" ContentType="application/vnd.openxmlformats-officedocument.presentationml.notesSlide+xml"/>
  <Override PartName="/ppt/notesSlides/notesSlide108.xml" ContentType="application/vnd.openxmlformats-officedocument.presentationml.notesSlide+xml"/>
  <Override PartName="/ppt/notesSlides/notesSlide144.xml" ContentType="application/vnd.openxmlformats-officedocument.presentationml.notesSlide+xml"/>
  <Override PartName="/ppt/notesSlides/notesSlide94.xml" ContentType="application/vnd.openxmlformats-officedocument.presentationml.notesSlide+xml"/>
  <Override PartName="/ppt/notesSlides/notesSlide147.xml" ContentType="application/vnd.openxmlformats-officedocument.presentationml.notesSlide+xml"/>
  <Override PartName="/ppt/notesSlides/notesSlide119.xml" ContentType="application/vnd.openxmlformats-officedocument.presentationml.notesSlide+xml"/>
  <Override PartName="/ppt/notesSlides/notesSlide123.xml" ContentType="application/vnd.openxmlformats-officedocument.presentationml.notesSlide+xml"/>
  <Override PartName="/ppt/notesSlides/notesSlide166.xml" ContentType="application/vnd.openxmlformats-officedocument.presentationml.notesSlide+xml"/>
  <Override PartName="/ppt/notesSlides/notesSlide110.xml" ContentType="application/vnd.openxmlformats-officedocument.presentationml.notesSlide+xml"/>
  <Override PartName="/ppt/notesSlides/notesSlide106.xml" ContentType="application/vnd.openxmlformats-officedocument.presentationml.notesSlide+xml"/>
  <Override PartName="/ppt/notesSlides/notesSlide52.xml" ContentType="application/vnd.openxmlformats-officedocument.presentationml.notesSlide+xml"/>
  <Override PartName="/ppt/notesSlides/notesSlide162.xml" ContentType="application/vnd.openxmlformats-officedocument.presentationml.notesSlide+xml"/>
  <Override PartName="/ppt/notesSlides/notesSlide62.xml" ContentType="application/vnd.openxmlformats-officedocument.presentationml.notesSlide+xml"/>
  <Override PartName="/ppt/notesSlides/notesSlide96.xml" ContentType="application/vnd.openxmlformats-officedocument.presentationml.notesSlide+xml"/>
  <Override PartName="/ppt/notesSlides/notesSlide114.xml" ContentType="application/vnd.openxmlformats-officedocument.presentationml.notesSlide+xml"/>
  <Override PartName="/ppt/notesSlides/notesSlide163.xml" ContentType="application/vnd.openxmlformats-officedocument.presentationml.notesSlide+xml"/>
  <Override PartName="/ppt/notesSlides/notesSlide87.xml" ContentType="application/vnd.openxmlformats-officedocument.presentationml.notesSlide+xml"/>
  <Override PartName="/ppt/notesSlides/notesSlide82.xml" ContentType="application/vnd.openxmlformats-officedocument.presentationml.notesSlide+xml"/>
  <Override PartName="/ppt/notesSlides/notesSlide90.xml" ContentType="application/vnd.openxmlformats-officedocument.presentationml.notesSlide+xml"/>
  <Override PartName="/ppt/notesSlides/notesSlide13.xml" ContentType="application/vnd.openxmlformats-officedocument.presentationml.notesSlide+xml"/>
  <Override PartName="/ppt/notesSlides/notesSlide156.xml" ContentType="application/vnd.openxmlformats-officedocument.presentationml.notesSlide+xml"/>
  <Override PartName="/ppt/notesMasters/notesMaster1.xml" ContentType="application/vnd.openxmlformats-officedocument.presentationml.notesMaster+xml"/>
  <Override PartName="/ppt/presProps.xml" ContentType="application/vnd.openxmlformats-officedocument.presentationml.presProps+xml"/>
  <Override PartName="/ppt/charts/chart3.xml" ContentType="application/vnd.openxmlformats-officedocument.drawingml.chart+xml"/>
  <Override PartName="/ppt/charts/chart2.xml" ContentType="application/vnd.openxmlformats-officedocument.drawingml.chart+xml"/>
  <Override PartName="/ppt/charts/chart1.xml" ContentType="application/vnd.openxmlformats-officedocument.drawingml.chart+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443" r:id="rId33"/>
    <p:sldId id="444" r:id="rId34"/>
    <p:sldId id="445" r:id="rId35"/>
    <p:sldId id="287" r:id="rId36"/>
    <p:sldId id="446" r:id="rId37"/>
    <p:sldId id="447" r:id="rId38"/>
    <p:sldId id="288" r:id="rId39"/>
    <p:sldId id="448" r:id="rId40"/>
    <p:sldId id="290" r:id="rId41"/>
    <p:sldId id="291" r:id="rId42"/>
    <p:sldId id="292" r:id="rId43"/>
    <p:sldId id="449" r:id="rId44"/>
    <p:sldId id="293" r:id="rId45"/>
    <p:sldId id="294" r:id="rId46"/>
    <p:sldId id="295" r:id="rId47"/>
    <p:sldId id="296" r:id="rId48"/>
    <p:sldId id="297" r:id="rId49"/>
    <p:sldId id="298" r:id="rId50"/>
    <p:sldId id="299" r:id="rId51"/>
    <p:sldId id="439" r:id="rId52"/>
    <p:sldId id="300" r:id="rId53"/>
    <p:sldId id="301" r:id="rId54"/>
    <p:sldId id="302" r:id="rId55"/>
    <p:sldId id="303" r:id="rId56"/>
    <p:sldId id="304" r:id="rId57"/>
    <p:sldId id="305" r:id="rId58"/>
    <p:sldId id="307" r:id="rId59"/>
    <p:sldId id="308" r:id="rId60"/>
    <p:sldId id="309" r:id="rId61"/>
    <p:sldId id="310"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8" r:id="rId76"/>
    <p:sldId id="331" r:id="rId77"/>
    <p:sldId id="329" r:id="rId78"/>
    <p:sldId id="450" r:id="rId79"/>
    <p:sldId id="330" r:id="rId80"/>
    <p:sldId id="451" r:id="rId81"/>
    <p:sldId id="452" r:id="rId82"/>
    <p:sldId id="453" r:id="rId83"/>
    <p:sldId id="454" r:id="rId84"/>
    <p:sldId id="455" r:id="rId85"/>
    <p:sldId id="456" r:id="rId86"/>
    <p:sldId id="457" r:id="rId87"/>
    <p:sldId id="458" r:id="rId88"/>
    <p:sldId id="459" r:id="rId89"/>
    <p:sldId id="460" r:id="rId90"/>
    <p:sldId id="461" r:id="rId91"/>
    <p:sldId id="462" r:id="rId92"/>
    <p:sldId id="463" r:id="rId93"/>
    <p:sldId id="464" r:id="rId94"/>
    <p:sldId id="465" r:id="rId95"/>
    <p:sldId id="466" r:id="rId96"/>
    <p:sldId id="467" r:id="rId97"/>
    <p:sldId id="332" r:id="rId98"/>
    <p:sldId id="333" r:id="rId99"/>
    <p:sldId id="440" r:id="rId100"/>
    <p:sldId id="468" r:id="rId101"/>
    <p:sldId id="334" r:id="rId102"/>
    <p:sldId id="335" r:id="rId103"/>
    <p:sldId id="469" r:id="rId104"/>
    <p:sldId id="470" r:id="rId105"/>
    <p:sldId id="471" r:id="rId106"/>
    <p:sldId id="472" r:id="rId107"/>
    <p:sldId id="336" r:id="rId108"/>
    <p:sldId id="337" r:id="rId109"/>
    <p:sldId id="338" r:id="rId110"/>
    <p:sldId id="473" r:id="rId111"/>
    <p:sldId id="339" r:id="rId112"/>
    <p:sldId id="340" r:id="rId113"/>
    <p:sldId id="341" r:id="rId114"/>
    <p:sldId id="342" r:id="rId115"/>
    <p:sldId id="343" r:id="rId116"/>
    <p:sldId id="344" r:id="rId117"/>
    <p:sldId id="345" r:id="rId118"/>
    <p:sldId id="346" r:id="rId119"/>
    <p:sldId id="348" r:id="rId120"/>
    <p:sldId id="349" r:id="rId121"/>
    <p:sldId id="350" r:id="rId122"/>
    <p:sldId id="351" r:id="rId123"/>
    <p:sldId id="352" r:id="rId124"/>
    <p:sldId id="442" r:id="rId125"/>
    <p:sldId id="353" r:id="rId126"/>
    <p:sldId id="355" r:id="rId127"/>
    <p:sldId id="356" r:id="rId128"/>
    <p:sldId id="441" r:id="rId129"/>
    <p:sldId id="357" r:id="rId130"/>
    <p:sldId id="358" r:id="rId131"/>
    <p:sldId id="359" r:id="rId132"/>
    <p:sldId id="361" r:id="rId133"/>
    <p:sldId id="362" r:id="rId134"/>
    <p:sldId id="363" r:id="rId135"/>
    <p:sldId id="364" r:id="rId136"/>
    <p:sldId id="365" r:id="rId137"/>
    <p:sldId id="367" r:id="rId138"/>
    <p:sldId id="368" r:id="rId139"/>
    <p:sldId id="369" r:id="rId140"/>
    <p:sldId id="370" r:id="rId141"/>
    <p:sldId id="371" r:id="rId142"/>
    <p:sldId id="372" r:id="rId143"/>
    <p:sldId id="373" r:id="rId144"/>
    <p:sldId id="374" r:id="rId145"/>
    <p:sldId id="376" r:id="rId146"/>
    <p:sldId id="377" r:id="rId147"/>
    <p:sldId id="378" r:id="rId148"/>
    <p:sldId id="379" r:id="rId149"/>
    <p:sldId id="380" r:id="rId150"/>
    <p:sldId id="381" r:id="rId151"/>
    <p:sldId id="382" r:id="rId152"/>
    <p:sldId id="383" r:id="rId153"/>
    <p:sldId id="386" r:id="rId154"/>
    <p:sldId id="387" r:id="rId155"/>
    <p:sldId id="388" r:id="rId156"/>
    <p:sldId id="389" r:id="rId157"/>
    <p:sldId id="390" r:id="rId158"/>
    <p:sldId id="391" r:id="rId159"/>
    <p:sldId id="392" r:id="rId160"/>
    <p:sldId id="393" r:id="rId161"/>
    <p:sldId id="394" r:id="rId162"/>
    <p:sldId id="395" r:id="rId163"/>
    <p:sldId id="396" r:id="rId164"/>
    <p:sldId id="397" r:id="rId165"/>
    <p:sldId id="398" r:id="rId166"/>
    <p:sldId id="399" r:id="rId167"/>
    <p:sldId id="400" r:id="rId168"/>
    <p:sldId id="401" r:id="rId169"/>
    <p:sldId id="402" r:id="rId170"/>
    <p:sldId id="403" r:id="rId171"/>
    <p:sldId id="404" r:id="rId172"/>
    <p:sldId id="405" r:id="rId173"/>
    <p:sldId id="406" r:id="rId174"/>
    <p:sldId id="407" r:id="rId175"/>
    <p:sldId id="408" r:id="rId176"/>
    <p:sldId id="409" r:id="rId177"/>
    <p:sldId id="410" r:id="rId178"/>
    <p:sldId id="412" r:id="rId179"/>
    <p:sldId id="414" r:id="rId180"/>
    <p:sldId id="415" r:id="rId181"/>
    <p:sldId id="416" r:id="rId182"/>
    <p:sldId id="417" r:id="rId183"/>
    <p:sldId id="418" r:id="rId184"/>
    <p:sldId id="419" r:id="rId185"/>
    <p:sldId id="420" r:id="rId186"/>
    <p:sldId id="421" r:id="rId187"/>
    <p:sldId id="422" r:id="rId188"/>
    <p:sldId id="423" r:id="rId189"/>
    <p:sldId id="424" r:id="rId190"/>
    <p:sldId id="425" r:id="rId191"/>
    <p:sldId id="426" r:id="rId192"/>
    <p:sldId id="427" r:id="rId193"/>
    <p:sldId id="428" r:id="rId194"/>
    <p:sldId id="429" r:id="rId195"/>
    <p:sldId id="430" r:id="rId196"/>
    <p:sldId id="431" r:id="rId197"/>
    <p:sldId id="432" r:id="rId198"/>
    <p:sldId id="433" r:id="rId199"/>
    <p:sldId id="434" r:id="rId200"/>
    <p:sldId id="436" r:id="rId20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E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003"/>
    <p:restoredTop sz="94610"/>
  </p:normalViewPr>
  <p:slideViewPr>
    <p:cSldViewPr snapToGrid="0" snapToObjects="1">
      <p:cViewPr>
        <p:scale>
          <a:sx n="104" d="100"/>
          <a:sy n="104" d="100"/>
        </p:scale>
        <p:origin x="280"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tableStyles" Target="tableStyle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customXml" Target="../customXml/item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presProps" Target="presProps.xml"/><Relationship Id="rId208" Type="http://schemas.openxmlformats.org/officeDocument/2006/relationships/customXml" Target="../customXml/item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customXml" Target="../customXml/item3.xml"/><Relationship Id="rId190" Type="http://schemas.openxmlformats.org/officeDocument/2006/relationships/slide" Target="slides/slide189.xml"/><Relationship Id="rId204"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notesMaster" Target="notesMasters/notesMaster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s>
</file>

<file path=ppt/charts/_rels/chart1.xml.rels><?xml version="1.0" encoding="UTF-8" standalone="yes"?>
<Relationships xmlns="http://schemas.openxmlformats.org/package/2006/relationships"><Relationship Id="rId1" Type="http://schemas.openxmlformats.org/officeDocument/2006/relationships/package" Target="../embeddings/Hoja_de_c_lculo_de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Hoja_de_c_lculo_de_Microsoft_Excel1.xlsx"/></Relationships>
</file>

<file path=ppt/charts/_rels/chart3.xml.rels><?xml version="1.0" encoding="UTF-8" standalone="yes"?>
<Relationships xmlns="http://schemas.openxmlformats.org/package/2006/relationships"><Relationship Id="rId1" Type="http://schemas.openxmlformats.org/officeDocument/2006/relationships/package" Target="../embeddings/Hoja_de_c_lculo_de_Microsoft_Excel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300" b="0" i="0" u="none" strike="noStrike">
                <a:solidFill>
                  <a:srgbClr val="23303F"/>
                </a:solidFill>
                <a:latin typeface="Calibri"/>
              </a:defRPr>
            </a:pPr>
            <a:r>
              <a:rPr lang="en-GB" sz="1300" b="0" i="0" u="none" strike="noStrike" noProof="0" dirty="0">
                <a:solidFill>
                  <a:srgbClr val="23303F"/>
                </a:solidFill>
                <a:latin typeface="Calibri"/>
              </a:rPr>
              <a:t>Cervical cancer incidence, age-standardised rate per 100,000 women, 2024</a:t>
            </a:r>
          </a:p>
        </c:rich>
      </c:tx>
      <c:overlay val="0"/>
    </c:title>
    <c:autoTitleDeleted val="0"/>
    <c:plotArea>
      <c:layout/>
      <c:barChart>
        <c:barDir val="bar"/>
        <c:grouping val="clustered"/>
        <c:varyColors val="0"/>
        <c:ser>
          <c:idx val="0"/>
          <c:order val="0"/>
          <c:tx>
            <c:strRef>
              <c:f>Sheet1!$B$1</c:f>
              <c:strCache>
                <c:ptCount val="1"/>
                <c:pt idx="0">
                  <c:v>ASR per 100,000</c:v>
                </c:pt>
              </c:strCache>
            </c:strRef>
          </c:tx>
          <c:spPr>
            <a:solidFill>
              <a:srgbClr val="1F4E96"/>
            </a:solidFill>
            <a:effectLst/>
          </c:spPr>
          <c:invertIfNegative val="0"/>
          <c:dPt>
            <c:idx val="0"/>
            <c:invertIfNegative val="0"/>
            <c:bubble3D val="0"/>
            <c:extLst>
              <c:ext xmlns:c16="http://schemas.microsoft.com/office/drawing/2014/chart" uri="{C3380CC4-5D6E-409C-BE32-E72D297353CC}">
                <c16:uniqueId val="{00000001-CE65-FC44-907E-B399A72D595A}"/>
              </c:ext>
            </c:extLst>
          </c:dPt>
          <c:dPt>
            <c:idx val="1"/>
            <c:invertIfNegative val="0"/>
            <c:bubble3D val="0"/>
            <c:spPr>
              <a:solidFill>
                <a:srgbClr val="8FA6C6"/>
              </a:solidFill>
              <a:effectLst/>
            </c:spPr>
            <c:extLst>
              <c:ext xmlns:c16="http://schemas.microsoft.com/office/drawing/2014/chart" uri="{C3380CC4-5D6E-409C-BE32-E72D297353CC}">
                <c16:uniqueId val="{00000003-CE65-FC44-907E-B399A72D595A}"/>
              </c:ext>
            </c:extLst>
          </c:dPt>
          <c:dPt>
            <c:idx val="2"/>
            <c:invertIfNegative val="0"/>
            <c:bubble3D val="0"/>
            <c:spPr>
              <a:solidFill>
                <a:srgbClr val="9B5807"/>
              </a:solidFill>
              <a:effectLst/>
            </c:spPr>
            <c:extLst>
              <c:ext xmlns:c16="http://schemas.microsoft.com/office/drawing/2014/chart" uri="{C3380CC4-5D6E-409C-BE32-E72D297353CC}">
                <c16:uniqueId val="{00000005-CE65-FC44-907E-B399A72D595A}"/>
              </c:ext>
            </c:extLst>
          </c:dPt>
          <c:dPt>
            <c:idx val="3"/>
            <c:invertIfNegative val="0"/>
            <c:bubble3D val="0"/>
            <c:spPr>
              <a:solidFill>
                <a:srgbClr val="5B7294"/>
              </a:solidFill>
              <a:effectLst/>
            </c:spPr>
            <c:extLst>
              <c:ext xmlns:c16="http://schemas.microsoft.com/office/drawing/2014/chart" uri="{C3380CC4-5D6E-409C-BE32-E72D297353CC}">
                <c16:uniqueId val="{00000007-CE65-FC44-907E-B399A72D595A}"/>
              </c:ext>
            </c:extLst>
          </c:dPt>
          <c:dLbls>
            <c:numFmt formatCode="0.0" sourceLinked="0"/>
            <c:spPr>
              <a:noFill/>
              <a:ln>
                <a:noFill/>
              </a:ln>
              <a:effectLst/>
            </c:spPr>
            <c:txPr>
              <a:bodyPr/>
              <a:lstStyle/>
              <a:p>
                <a:pPr>
                  <a:defRPr sz="1400" b="0" i="0" u="none" strike="noStrike">
                    <a:solidFill>
                      <a:srgbClr val="23303F"/>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World</c:v>
                </c:pt>
                <c:pt idx="1">
                  <c:v>Africa</c:v>
                </c:pt>
                <c:pt idx="2">
                  <c:v>Rwanda</c:v>
                </c:pt>
                <c:pt idx="3">
                  <c:v>Eastern Africa</c:v>
                </c:pt>
              </c:strCache>
            </c:strRef>
          </c:cat>
          <c:val>
            <c:numRef>
              <c:f>Sheet1!$B$2:$B$5</c:f>
              <c:numCache>
                <c:formatCode>General</c:formatCode>
                <c:ptCount val="4"/>
                <c:pt idx="0">
                  <c:v>12.4</c:v>
                </c:pt>
                <c:pt idx="1">
                  <c:v>17.2</c:v>
                </c:pt>
                <c:pt idx="2">
                  <c:v>30.6</c:v>
                </c:pt>
                <c:pt idx="3">
                  <c:v>33.799999999999997</c:v>
                </c:pt>
              </c:numCache>
            </c:numRef>
          </c:val>
          <c:extLst>
            <c:ext xmlns:c16="http://schemas.microsoft.com/office/drawing/2014/chart" uri="{C3380CC4-5D6E-409C-BE32-E72D297353CC}">
              <c16:uniqueId val="{00000008-CE65-FC44-907E-B399A72D595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23303F"/>
                </a:solidFill>
                <a:latin typeface="Calibri"/>
              </a:defRPr>
            </a:pPr>
            <a:endParaRPr lang="en-US"/>
          </a:p>
        </c:txPr>
        <c:crossAx val="2094734552"/>
        <c:crosses val="autoZero"/>
        <c:auto val="1"/>
        <c:lblAlgn val="ctr"/>
        <c:lblOffset val="100"/>
        <c:noMultiLvlLbl val="1"/>
      </c:catAx>
      <c:valAx>
        <c:axId val="2094734552"/>
        <c:scaling>
          <c:orientation val="minMax"/>
          <c:max val="40"/>
          <c:min val="0"/>
        </c:scaling>
        <c:delete val="0"/>
        <c:axPos val="b"/>
        <c:majorGridlines>
          <c:spPr>
            <a:ln w="12700" cap="flat">
              <a:solidFill>
                <a:srgbClr val="E7EBF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A727F"/>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300" b="0" i="0" u="none" strike="noStrike">
                <a:solidFill>
                  <a:srgbClr val="23303F"/>
                </a:solidFill>
                <a:latin typeface="Calibri"/>
              </a:defRPr>
            </a:pPr>
            <a:r>
              <a:rPr lang="en-GB" sz="1300" b="0" i="0" u="none" strike="noStrike" noProof="0" dirty="0">
                <a:solidFill>
                  <a:srgbClr val="23303F"/>
                </a:solidFill>
                <a:latin typeface="Calibri"/>
              </a:rPr>
              <a:t>Five most frequent cancers in women in Rwanda, estimated new cases, 2024</a:t>
            </a:r>
          </a:p>
        </c:rich>
      </c:tx>
      <c:overlay val="0"/>
    </c:title>
    <c:autoTitleDeleted val="0"/>
    <c:plotArea>
      <c:layout/>
      <c:barChart>
        <c:barDir val="bar"/>
        <c:grouping val="clustered"/>
        <c:varyColors val="0"/>
        <c:ser>
          <c:idx val="0"/>
          <c:order val="0"/>
          <c:tx>
            <c:strRef>
              <c:f>Sheet1!$B$1</c:f>
              <c:strCache>
                <c:ptCount val="1"/>
                <c:pt idx="0">
                  <c:v>Estimated new cases</c:v>
                </c:pt>
              </c:strCache>
            </c:strRef>
          </c:tx>
          <c:spPr>
            <a:solidFill>
              <a:srgbClr val="8FA6C6"/>
            </a:solidFill>
            <a:effectLst/>
          </c:spPr>
          <c:invertIfNegative val="0"/>
          <c:dPt>
            <c:idx val="0"/>
            <c:invertIfNegative val="0"/>
            <c:bubble3D val="0"/>
            <c:extLst>
              <c:ext xmlns:c16="http://schemas.microsoft.com/office/drawing/2014/chart" uri="{C3380CC4-5D6E-409C-BE32-E72D297353CC}">
                <c16:uniqueId val="{00000001-C46A-A94E-B2FC-BF2234E2D38C}"/>
              </c:ext>
            </c:extLst>
          </c:dPt>
          <c:dPt>
            <c:idx val="1"/>
            <c:invertIfNegative val="0"/>
            <c:bubble3D val="0"/>
            <c:extLst>
              <c:ext xmlns:c16="http://schemas.microsoft.com/office/drawing/2014/chart" uri="{C3380CC4-5D6E-409C-BE32-E72D297353CC}">
                <c16:uniqueId val="{00000003-C46A-A94E-B2FC-BF2234E2D38C}"/>
              </c:ext>
            </c:extLst>
          </c:dPt>
          <c:dPt>
            <c:idx val="2"/>
            <c:invertIfNegative val="0"/>
            <c:bubble3D val="0"/>
            <c:extLst>
              <c:ext xmlns:c16="http://schemas.microsoft.com/office/drawing/2014/chart" uri="{C3380CC4-5D6E-409C-BE32-E72D297353CC}">
                <c16:uniqueId val="{00000005-C46A-A94E-B2FC-BF2234E2D38C}"/>
              </c:ext>
            </c:extLst>
          </c:dPt>
          <c:dPt>
            <c:idx val="3"/>
            <c:invertIfNegative val="0"/>
            <c:bubble3D val="0"/>
            <c:spPr>
              <a:solidFill>
                <a:srgbClr val="9B5807"/>
              </a:solidFill>
              <a:effectLst/>
            </c:spPr>
            <c:extLst>
              <c:ext xmlns:c16="http://schemas.microsoft.com/office/drawing/2014/chart" uri="{C3380CC4-5D6E-409C-BE32-E72D297353CC}">
                <c16:uniqueId val="{00000007-C46A-A94E-B2FC-BF2234E2D38C}"/>
              </c:ext>
            </c:extLst>
          </c:dPt>
          <c:dPt>
            <c:idx val="4"/>
            <c:invertIfNegative val="0"/>
            <c:bubble3D val="0"/>
            <c:spPr>
              <a:solidFill>
                <a:srgbClr val="5B7294"/>
              </a:solidFill>
              <a:effectLst/>
            </c:spPr>
            <c:extLst>
              <c:ext xmlns:c16="http://schemas.microsoft.com/office/drawing/2014/chart" uri="{C3380CC4-5D6E-409C-BE32-E72D297353CC}">
                <c16:uniqueId val="{00000009-C46A-A94E-B2FC-BF2234E2D38C}"/>
              </c:ext>
            </c:extLst>
          </c:dPt>
          <c:dLbls>
            <c:numFmt formatCode="#,##0" sourceLinked="0"/>
            <c:spPr>
              <a:noFill/>
              <a:ln>
                <a:noFill/>
              </a:ln>
              <a:effectLst/>
            </c:spPr>
            <c:txPr>
              <a:bodyPr/>
              <a:lstStyle/>
              <a:p>
                <a:pPr>
                  <a:defRPr sz="1400" b="0" i="0" u="none" strike="noStrike">
                    <a:solidFill>
                      <a:srgbClr val="23303F"/>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Liver</c:v>
                </c:pt>
                <c:pt idx="1">
                  <c:v>Stomach</c:v>
                </c:pt>
                <c:pt idx="2">
                  <c:v>Colorectum</c:v>
                </c:pt>
                <c:pt idx="3">
                  <c:v>Cervix uteri</c:v>
                </c:pt>
                <c:pt idx="4">
                  <c:v>Breast</c:v>
                </c:pt>
              </c:strCache>
            </c:strRef>
          </c:cat>
          <c:val>
            <c:numRef>
              <c:f>Sheet1!$B$2:$B$6</c:f>
              <c:numCache>
                <c:formatCode>General</c:formatCode>
                <c:ptCount val="5"/>
                <c:pt idx="0">
                  <c:v>362</c:v>
                </c:pt>
                <c:pt idx="1">
                  <c:v>502</c:v>
                </c:pt>
                <c:pt idx="2">
                  <c:v>503</c:v>
                </c:pt>
                <c:pt idx="3">
                  <c:v>1582</c:v>
                </c:pt>
                <c:pt idx="4">
                  <c:v>1684</c:v>
                </c:pt>
              </c:numCache>
            </c:numRef>
          </c:val>
          <c:extLst>
            <c:ext xmlns:c16="http://schemas.microsoft.com/office/drawing/2014/chart" uri="{C3380CC4-5D6E-409C-BE32-E72D297353CC}">
              <c16:uniqueId val="{0000000A-C46A-A94E-B2FC-BF2234E2D38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23303F"/>
                </a:solidFill>
                <a:latin typeface="Calibri"/>
              </a:defRPr>
            </a:pPr>
            <a:endParaRPr lang="en-US"/>
          </a:p>
        </c:txPr>
        <c:crossAx val="2094734552"/>
        <c:crosses val="autoZero"/>
        <c:auto val="1"/>
        <c:lblAlgn val="ctr"/>
        <c:lblOffset val="100"/>
        <c:noMultiLvlLbl val="1"/>
      </c:catAx>
      <c:valAx>
        <c:axId val="2094734552"/>
        <c:scaling>
          <c:orientation val="minMax"/>
          <c:max val="1900"/>
          <c:min val="0"/>
        </c:scaling>
        <c:delete val="0"/>
        <c:axPos val="b"/>
        <c:majorGridlines>
          <c:spPr>
            <a:ln w="12700" cap="flat">
              <a:solidFill>
                <a:srgbClr val="E7EBF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A727F"/>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300" b="0" i="0" u="none" strike="noStrike">
                <a:solidFill>
                  <a:srgbClr val="23303F"/>
                </a:solidFill>
                <a:latin typeface="Calibri"/>
              </a:defRPr>
            </a:pPr>
            <a:r>
              <a:rPr lang="en-GB" sz="1300" b="1" i="0" u="none" strike="noStrike" noProof="0" dirty="0">
                <a:solidFill>
                  <a:srgbClr val="23303F"/>
                </a:solidFill>
                <a:latin typeface="Calibri"/>
              </a:rPr>
              <a:t>All cancers </a:t>
            </a:r>
            <a:r>
              <a:rPr lang="en-GB" sz="1300" b="0" i="0" u="none" strike="noStrike" noProof="0" dirty="0">
                <a:solidFill>
                  <a:srgbClr val="23303F"/>
                </a:solidFill>
                <a:latin typeface="Calibri"/>
              </a:rPr>
              <a:t>in Rwanda: estimated and projected new cases a year</a:t>
            </a:r>
          </a:p>
        </c:rich>
      </c:tx>
      <c:overlay val="0"/>
    </c:title>
    <c:autoTitleDeleted val="0"/>
    <c:plotArea>
      <c:layout/>
      <c:barChart>
        <c:barDir val="col"/>
        <c:grouping val="clustered"/>
        <c:varyColors val="0"/>
        <c:ser>
          <c:idx val="0"/>
          <c:order val="0"/>
          <c:tx>
            <c:strRef>
              <c:f>Sheet1!$B$1</c:f>
              <c:strCache>
                <c:ptCount val="1"/>
                <c:pt idx="0">
                  <c:v>New cancer cases a year</c:v>
                </c:pt>
              </c:strCache>
            </c:strRef>
          </c:tx>
          <c:spPr>
            <a:solidFill>
              <a:srgbClr val="5B7294"/>
            </a:solidFill>
            <a:effectLst/>
          </c:spPr>
          <c:invertIfNegative val="0"/>
          <c:dPt>
            <c:idx val="0"/>
            <c:invertIfNegative val="0"/>
            <c:bubble3D val="0"/>
            <c:extLst>
              <c:ext xmlns:c16="http://schemas.microsoft.com/office/drawing/2014/chart" uri="{C3380CC4-5D6E-409C-BE32-E72D297353CC}">
                <c16:uniqueId val="{00000001-7B50-384A-8702-51F2879E6527}"/>
              </c:ext>
            </c:extLst>
          </c:dPt>
          <c:dPt>
            <c:idx val="1"/>
            <c:invertIfNegative val="0"/>
            <c:bubble3D val="0"/>
            <c:spPr>
              <a:solidFill>
                <a:srgbClr val="1F4E96"/>
              </a:solidFill>
              <a:effectLst/>
            </c:spPr>
            <c:extLst>
              <c:ext xmlns:c16="http://schemas.microsoft.com/office/drawing/2014/chart" uri="{C3380CC4-5D6E-409C-BE32-E72D297353CC}">
                <c16:uniqueId val="{00000003-7B50-384A-8702-51F2879E6527}"/>
              </c:ext>
            </c:extLst>
          </c:dPt>
          <c:dLbls>
            <c:numFmt formatCode="#,##0" sourceLinked="0"/>
            <c:spPr>
              <a:noFill/>
              <a:ln>
                <a:noFill/>
              </a:ln>
              <a:effectLst/>
            </c:spPr>
            <c:txPr>
              <a:bodyPr/>
              <a:lstStyle/>
              <a:p>
                <a:pPr>
                  <a:defRPr sz="1400" b="0" i="0" u="none" strike="noStrike">
                    <a:solidFill>
                      <a:srgbClr val="23303F"/>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2022 estimate</c:v>
                </c:pt>
                <c:pt idx="1">
                  <c:v>2050 projection</c:v>
                </c:pt>
              </c:strCache>
            </c:strRef>
          </c:cat>
          <c:val>
            <c:numRef>
              <c:f>Sheet1!$B$2:$B$3</c:f>
              <c:numCache>
                <c:formatCode>General</c:formatCode>
                <c:ptCount val="2"/>
                <c:pt idx="0">
                  <c:v>7100</c:v>
                </c:pt>
                <c:pt idx="1">
                  <c:v>17500</c:v>
                </c:pt>
              </c:numCache>
            </c:numRef>
          </c:val>
          <c:extLst>
            <c:ext xmlns:c16="http://schemas.microsoft.com/office/drawing/2014/chart" uri="{C3380CC4-5D6E-409C-BE32-E72D297353CC}">
              <c16:uniqueId val="{00000004-7B50-384A-8702-51F2879E652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23303F"/>
                </a:solidFill>
                <a:latin typeface="Calibri"/>
              </a:defRPr>
            </a:pPr>
            <a:endParaRPr lang="en-US"/>
          </a:p>
        </c:txPr>
        <c:crossAx val="2094734552"/>
        <c:crosses val="autoZero"/>
        <c:auto val="1"/>
        <c:lblAlgn val="ctr"/>
        <c:lblOffset val="100"/>
        <c:noMultiLvlLbl val="1"/>
      </c:catAx>
      <c:valAx>
        <c:axId val="2094734552"/>
        <c:scaling>
          <c:orientation val="minMax"/>
          <c:max val="20000"/>
          <c:min val="0"/>
        </c:scaling>
        <c:delete val="0"/>
        <c:axPos val="l"/>
        <c:majorGridlines>
          <c:spPr>
            <a:ln w="12700" cap="flat">
              <a:solidFill>
                <a:srgbClr val="E7EB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A727F"/>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1308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DE39E-6AA3-1158-049E-3516014235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0E3205-6684-27D4-EE3E-3831B914DA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2BFD40-0FEA-847A-7387-57DDE44CA5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1401AE-65E3-A891-BD17-F276D02D8B09}"/>
              </a:ext>
            </a:extLst>
          </p:cNvPr>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39670317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CBF5C-76D6-96CC-AF38-0785815946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1E689C-5FA0-F51B-2AAF-99D2AC3C85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BCA183-B706-EBB0-ED06-DC2CB0EDFA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C36331-F758-6739-0574-B5D3F9EE53DA}"/>
              </a:ext>
            </a:extLst>
          </p:cNvPr>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28879576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5F044-9EA3-18B2-FD68-88ADBE60DE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779529-D105-779A-5230-F7D9DCD5E6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30C01-7932-67B6-498B-BA779955CF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B7F436-7FE2-6E8C-0A0C-621233491E54}"/>
              </a:ext>
            </a:extLst>
          </p:cNvPr>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236536538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1.xml"/><Relationship Id="rId4" Type="http://schemas.openxmlformats.org/officeDocument/2006/relationships/image" Target="../media/image10.jpg"/></Relationships>
</file>

<file path=ppt/slides/_rels/slide3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1.xml"/><Relationship Id="rId4" Type="http://schemas.openxmlformats.org/officeDocument/2006/relationships/image" Target="../media/image15.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6.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2.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65.xml"/><Relationship Id="rId1" Type="http://schemas.openxmlformats.org/officeDocument/2006/relationships/slideLayout" Target="../slideLayouts/slideLayout1.xml"/><Relationship Id="rId5" Type="http://schemas.openxmlformats.org/officeDocument/2006/relationships/image" Target="../media/image35.jpg"/><Relationship Id="rId4" Type="http://schemas.openxmlformats.org/officeDocument/2006/relationships/image" Target="../media/image34.jp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7.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7.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9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5.jp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5.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9.xml"/><Relationship Id="rId1" Type="http://schemas.openxmlformats.org/officeDocument/2006/relationships/slideLayout" Target="../slideLayouts/slideLayout1.xml"/><Relationship Id="rId5" Type="http://schemas.openxmlformats.org/officeDocument/2006/relationships/image" Target="../media/image53.jpg"/><Relationship Id="rId4" Type="http://schemas.openxmlformats.org/officeDocument/2006/relationships/image" Target="../media/image5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91.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notesSlide" Target="../notesSlides/notesSlide109.xml"/><Relationship Id="rId1"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14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10.xml"/><Relationship Id="rId1" Type="http://schemas.openxmlformats.org/officeDocument/2006/relationships/slideLayout" Target="../slideLayouts/slideLayout1.xml"/><Relationship Id="rId5" Type="http://schemas.openxmlformats.org/officeDocument/2006/relationships/image" Target="../media/image68.jpg"/><Relationship Id="rId4" Type="http://schemas.openxmlformats.org/officeDocument/2006/relationships/image" Target="../media/image67.jpg"/></Relationships>
</file>

<file path=ppt/slides/_rels/slide14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11.xml"/><Relationship Id="rId1" Type="http://schemas.openxmlformats.org/officeDocument/2006/relationships/slideLayout" Target="../slideLayouts/slideLayout1.xml"/><Relationship Id="rId5" Type="http://schemas.openxmlformats.org/officeDocument/2006/relationships/image" Target="../media/image71.jpg"/><Relationship Id="rId4" Type="http://schemas.openxmlformats.org/officeDocument/2006/relationships/image" Target="../media/image70.png"/></Relationships>
</file>

<file path=ppt/slides/_rels/slide143.xml.rels><?xml version="1.0" encoding="UTF-8" standalone="yes"?>
<Relationships xmlns="http://schemas.openxmlformats.org/package/2006/relationships"><Relationship Id="rId3" Type="http://schemas.openxmlformats.org/officeDocument/2006/relationships/image" Target="../media/image72.jpg"/><Relationship Id="rId2" Type="http://schemas.openxmlformats.org/officeDocument/2006/relationships/notesSlide" Target="../notesSlides/notesSlide112.xml"/><Relationship Id="rId1" Type="http://schemas.openxmlformats.org/officeDocument/2006/relationships/slideLayout" Target="../slideLayouts/slideLayout1.xml"/><Relationship Id="rId5" Type="http://schemas.openxmlformats.org/officeDocument/2006/relationships/image" Target="../media/image73.jpg"/><Relationship Id="rId4" Type="http://schemas.openxmlformats.org/officeDocument/2006/relationships/image" Target="../media/image48.jpg"/></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115.xml"/><Relationship Id="rId1" Type="http://schemas.openxmlformats.org/officeDocument/2006/relationships/slideLayout" Target="../slideLayouts/slideLayout1.xml"/><Relationship Id="rId5" Type="http://schemas.openxmlformats.org/officeDocument/2006/relationships/image" Target="../media/image76.jpg"/><Relationship Id="rId4" Type="http://schemas.openxmlformats.org/officeDocument/2006/relationships/image" Target="../media/image75.jpg"/></Relationships>
</file>

<file path=ppt/slides/_rels/slide147.xml.rels><?xml version="1.0" encoding="UTF-8" standalone="yes"?>
<Relationships xmlns="http://schemas.openxmlformats.org/package/2006/relationships"><Relationship Id="rId3" Type="http://schemas.openxmlformats.org/officeDocument/2006/relationships/image" Target="../media/image77.jpg"/><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3" Type="http://schemas.openxmlformats.org/officeDocument/2006/relationships/image" Target="../media/image79.jpg"/><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19.xml"/><Relationship Id="rId1" Type="http://schemas.openxmlformats.org/officeDocument/2006/relationships/slideLayout" Target="../slideLayouts/slideLayout1.xml"/><Relationship Id="rId4" Type="http://schemas.openxmlformats.org/officeDocument/2006/relationships/image" Target="../media/image81.png"/></Relationships>
</file>

<file path=ppt/slides/_rels/slide151.xml.rels><?xml version="1.0" encoding="UTF-8" standalone="yes"?>
<Relationships xmlns="http://schemas.openxmlformats.org/package/2006/relationships"><Relationship Id="rId3" Type="http://schemas.openxmlformats.org/officeDocument/2006/relationships/image" Target="../media/image82.jpg"/><Relationship Id="rId2" Type="http://schemas.openxmlformats.org/officeDocument/2006/relationships/notesSlide" Target="../notesSlides/notesSlide120.xml"/><Relationship Id="rId1" Type="http://schemas.openxmlformats.org/officeDocument/2006/relationships/slideLayout" Target="../slideLayouts/slideLayout1.xml"/><Relationship Id="rId5" Type="http://schemas.openxmlformats.org/officeDocument/2006/relationships/image" Target="../media/image84.jpg"/><Relationship Id="rId4" Type="http://schemas.openxmlformats.org/officeDocument/2006/relationships/image" Target="../media/image83.jpg"/></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31.xml"/><Relationship Id="rId1" Type="http://schemas.openxmlformats.org/officeDocument/2006/relationships/slideLayout" Target="../slideLayouts/slideLayout1.xml"/><Relationship Id="rId5" Type="http://schemas.openxmlformats.org/officeDocument/2006/relationships/image" Target="../media/image87.png"/><Relationship Id="rId4" Type="http://schemas.openxmlformats.org/officeDocument/2006/relationships/image" Target="../media/image86.png"/></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33.xml"/><Relationship Id="rId1" Type="http://schemas.openxmlformats.org/officeDocument/2006/relationships/slideLayout" Target="../slideLayouts/slideLayout1.xml"/><Relationship Id="rId5" Type="http://schemas.openxmlformats.org/officeDocument/2006/relationships/image" Target="../media/image90.png"/><Relationship Id="rId4" Type="http://schemas.openxmlformats.org/officeDocument/2006/relationships/image" Target="../media/image89.png"/></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3" Type="http://schemas.openxmlformats.org/officeDocument/2006/relationships/image" Target="../media/image91.jpg"/><Relationship Id="rId2" Type="http://schemas.openxmlformats.org/officeDocument/2006/relationships/notesSlide" Target="../notesSlides/notesSlide136.xml"/><Relationship Id="rId1" Type="http://schemas.openxmlformats.org/officeDocument/2006/relationships/slideLayout" Target="../slideLayouts/slideLayout1.xml"/><Relationship Id="rId5" Type="http://schemas.openxmlformats.org/officeDocument/2006/relationships/image" Target="../media/image93.jpg"/><Relationship Id="rId4" Type="http://schemas.openxmlformats.org/officeDocument/2006/relationships/image" Target="../media/image92.png"/></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39.xml"/><Relationship Id="rId1" Type="http://schemas.openxmlformats.org/officeDocument/2006/relationships/slideLayout" Target="../slideLayouts/slideLayout1.xml"/><Relationship Id="rId5" Type="http://schemas.openxmlformats.org/officeDocument/2006/relationships/image" Target="../media/image96.png"/><Relationship Id="rId4" Type="http://schemas.openxmlformats.org/officeDocument/2006/relationships/image" Target="../media/image95.png"/></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F5C"/>
        </a:solidFill>
        <a:effectLst/>
      </p:bgPr>
    </p:bg>
    <p:spTree>
      <p:nvGrpSpPr>
        <p:cNvPr id="1" name=""/>
        <p:cNvGrpSpPr/>
        <p:nvPr/>
      </p:nvGrpSpPr>
      <p:grpSpPr>
        <a:xfrm>
          <a:off x="0" y="0"/>
          <a:ext cx="0" cy="0"/>
          <a:chOff x="0" y="0"/>
          <a:chExt cx="0" cy="0"/>
        </a:xfrm>
      </p:grpSpPr>
      <p:sp>
        <p:nvSpPr>
          <p:cNvPr id="2" name="Shape 0"/>
          <p:cNvSpPr/>
          <p:nvPr/>
        </p:nvSpPr>
        <p:spPr>
          <a:xfrm>
            <a:off x="8321040" y="-1371600"/>
            <a:ext cx="6035040" cy="6035040"/>
          </a:xfrm>
          <a:prstGeom prst="ellipse">
            <a:avLst/>
          </a:prstGeom>
          <a:solidFill>
            <a:srgbClr val="12376A"/>
          </a:solidFill>
          <a:ln w="12700">
            <a:solidFill>
              <a:srgbClr val="12376A"/>
            </a:solidFill>
            <a:prstDash val="solid"/>
          </a:ln>
        </p:spPr>
        <p:txBody>
          <a:bodyPr/>
          <a:lstStyle/>
          <a:p>
            <a:endParaRPr lang="en-GB" noProof="0" dirty="0"/>
          </a:p>
        </p:txBody>
      </p:sp>
      <p:sp>
        <p:nvSpPr>
          <p:cNvPr id="3" name="Shape 1"/>
          <p:cNvSpPr/>
          <p:nvPr/>
        </p:nvSpPr>
        <p:spPr>
          <a:xfrm>
            <a:off x="9692640" y="3108960"/>
            <a:ext cx="3840480" cy="3840480"/>
          </a:xfrm>
          <a:prstGeom prst="ellipse">
            <a:avLst/>
          </a:prstGeom>
          <a:solidFill>
            <a:srgbClr val="16406F"/>
          </a:solidFill>
          <a:ln w="12700">
            <a:solidFill>
              <a:srgbClr val="16406F"/>
            </a:solidFill>
            <a:prstDash val="solid"/>
          </a:ln>
        </p:spPr>
        <p:txBody>
          <a:bodyPr/>
          <a:lstStyle/>
          <a:p>
            <a:endParaRPr lang="en-GB" noProof="0" dirty="0"/>
          </a:p>
        </p:txBody>
      </p:sp>
      <p:sp>
        <p:nvSpPr>
          <p:cNvPr id="4" name="Text 2"/>
          <p:cNvSpPr txBox="1"/>
          <p:nvPr/>
        </p:nvSpPr>
        <p:spPr>
          <a:xfrm>
            <a:off x="566928" y="1600200"/>
            <a:ext cx="8229600" cy="365760"/>
          </a:xfrm>
          <a:prstGeom prst="rect">
            <a:avLst/>
          </a:prstGeom>
          <a:noFill/>
          <a:ln/>
        </p:spPr>
        <p:txBody>
          <a:bodyPr wrap="square" lIns="0" tIns="0" rIns="0" bIns="0" rtlCol="0" anchor="ctr"/>
          <a:lstStyle/>
          <a:p>
            <a:pPr marL="0" indent="0">
              <a:buNone/>
            </a:pPr>
            <a:r>
              <a:rPr lang="en-GB" sz="1400" b="1" kern="0" spc="200" noProof="0" dirty="0">
                <a:solidFill>
                  <a:srgbClr val="9FB8DA"/>
                </a:solidFill>
                <a:latin typeface="Calibri" pitchFamily="34" charset="0"/>
                <a:ea typeface="Calibri" pitchFamily="34" charset="-122"/>
                <a:cs typeface="Calibri" pitchFamily="34" charset="-120"/>
              </a:rPr>
              <a:t>F R O N T L I N E   H C P   M O D U L E</a:t>
            </a:r>
            <a:endParaRPr lang="en-GB" sz="1400" noProof="0" dirty="0"/>
          </a:p>
        </p:txBody>
      </p:sp>
      <p:sp>
        <p:nvSpPr>
          <p:cNvPr id="5" name="Text 3"/>
          <p:cNvSpPr txBox="1"/>
          <p:nvPr/>
        </p:nvSpPr>
        <p:spPr>
          <a:xfrm>
            <a:off x="566928" y="2057400"/>
            <a:ext cx="8595360" cy="1234440"/>
          </a:xfrm>
          <a:prstGeom prst="rect">
            <a:avLst/>
          </a:prstGeom>
          <a:noFill/>
          <a:ln/>
        </p:spPr>
        <p:txBody>
          <a:bodyPr wrap="square" lIns="0" tIns="0" rIns="0" bIns="0" rtlCol="0" anchor="ctr"/>
          <a:lstStyle/>
          <a:p>
            <a:pPr marL="0" indent="0">
              <a:buNone/>
            </a:pPr>
            <a:r>
              <a:rPr lang="en-GB" sz="6000" b="1" noProof="0" dirty="0">
                <a:solidFill>
                  <a:srgbClr val="FFFFFF"/>
                </a:solidFill>
                <a:latin typeface="Cambria" pitchFamily="34" charset="0"/>
                <a:ea typeface="Cambria" pitchFamily="34" charset="-122"/>
                <a:cs typeface="Cambria" pitchFamily="34" charset="-120"/>
              </a:rPr>
              <a:t>Cervical Cancer</a:t>
            </a:r>
            <a:endParaRPr lang="en-GB" sz="6000" noProof="0" dirty="0"/>
          </a:p>
        </p:txBody>
      </p:sp>
      <p:sp>
        <p:nvSpPr>
          <p:cNvPr id="6" name="Text 4"/>
          <p:cNvSpPr txBox="1"/>
          <p:nvPr/>
        </p:nvSpPr>
        <p:spPr>
          <a:xfrm>
            <a:off x="566928" y="3474720"/>
            <a:ext cx="7680960" cy="548640"/>
          </a:xfrm>
          <a:prstGeom prst="rect">
            <a:avLst/>
          </a:prstGeom>
          <a:noFill/>
          <a:ln/>
        </p:spPr>
        <p:txBody>
          <a:bodyPr wrap="square" lIns="0" tIns="0" rIns="0" bIns="0" rtlCol="0" anchor="t"/>
          <a:lstStyle/>
          <a:p>
            <a:pPr marL="0" indent="0">
              <a:buNone/>
            </a:pPr>
            <a:r>
              <a:rPr lang="en-GB" sz="2000" noProof="0" dirty="0">
                <a:solidFill>
                  <a:srgbClr val="C6D5EA"/>
                </a:solidFill>
                <a:latin typeface="Calibri" pitchFamily="34" charset="0"/>
                <a:ea typeface="Calibri" pitchFamily="34" charset="-122"/>
                <a:cs typeface="Calibri" pitchFamily="34" charset="-120"/>
              </a:rPr>
              <a:t>Prevent. Screen. Treat precancer. Refer. Support.</a:t>
            </a:r>
            <a:endParaRPr lang="en-GB" sz="2000" noProof="0" dirty="0"/>
          </a:p>
        </p:txBody>
      </p:sp>
      <p:sp>
        <p:nvSpPr>
          <p:cNvPr id="7" name="Text 5"/>
          <p:cNvSpPr txBox="1"/>
          <p:nvPr/>
        </p:nvSpPr>
        <p:spPr>
          <a:xfrm>
            <a:off x="566928" y="4846320"/>
            <a:ext cx="2743200" cy="365760"/>
          </a:xfrm>
          <a:prstGeom prst="rect">
            <a:avLst/>
          </a:prstGeom>
          <a:noFill/>
          <a:ln/>
        </p:spPr>
        <p:txBody>
          <a:bodyPr wrap="square" lIns="0" tIns="0" rIns="0" bIns="0" rtlCol="0" anchor="ctr"/>
          <a:lstStyle/>
          <a:p>
            <a:pPr marL="0" indent="0">
              <a:buNone/>
            </a:pPr>
            <a:r>
              <a:rPr lang="en-GB" sz="1800" b="1" noProof="0" dirty="0">
                <a:solidFill>
                  <a:srgbClr val="9FB8DA"/>
                </a:solidFill>
                <a:latin typeface="Calibri" pitchFamily="34" charset="0"/>
                <a:ea typeface="Calibri" pitchFamily="34" charset="-122"/>
                <a:cs typeface="Calibri" pitchFamily="34" charset="-120"/>
              </a:rPr>
              <a:t>English</a:t>
            </a:r>
            <a:endParaRPr lang="en-GB" sz="1800" noProof="0" dirty="0"/>
          </a:p>
        </p:txBody>
      </p:sp>
      <p:sp>
        <p:nvSpPr>
          <p:cNvPr id="8" name="Text 6"/>
          <p:cNvSpPr txBox="1"/>
          <p:nvPr/>
        </p:nvSpPr>
        <p:spPr>
          <a:xfrm>
            <a:off x="566928" y="5230368"/>
            <a:ext cx="5486400" cy="365760"/>
          </a:xfrm>
          <a:prstGeom prst="rect">
            <a:avLst/>
          </a:prstGeom>
          <a:noFill/>
          <a:ln/>
        </p:spPr>
        <p:txBody>
          <a:bodyPr wrap="square" lIns="0" tIns="0" rIns="0" bIns="0" rtlCol="0" anchor="ctr"/>
          <a:lstStyle/>
          <a:p>
            <a:pPr marL="0" indent="0">
              <a:buNone/>
            </a:pPr>
            <a:r>
              <a:rPr lang="en-GB" sz="1800" noProof="0" dirty="0">
                <a:solidFill>
                  <a:srgbClr val="C6D5EA"/>
                </a:solidFill>
                <a:latin typeface="Calibri" pitchFamily="34" charset="0"/>
                <a:ea typeface="Calibri" pitchFamily="34" charset="-122"/>
                <a:cs typeface="Calibri" pitchFamily="34" charset="-120"/>
              </a:rPr>
              <a:t>Rwanda Biomedical Centre</a:t>
            </a:r>
            <a:endParaRPr lang="en-GB" sz="18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2</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MODULE SYLLABUS</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What this module covers</a:t>
            </a:r>
            <a:endParaRPr lang="en-GB" sz="3200" noProof="0" dirty="0"/>
          </a:p>
        </p:txBody>
      </p:sp>
      <p:sp>
        <p:nvSpPr>
          <p:cNvPr id="6" name="Text 4"/>
          <p:cNvSpPr txBox="1"/>
          <p:nvPr/>
        </p:nvSpPr>
        <p:spPr>
          <a:xfrm>
            <a:off x="566928" y="1572768"/>
            <a:ext cx="11055096" cy="384048"/>
          </a:xfrm>
          <a:prstGeom prst="rect">
            <a:avLst/>
          </a:prstGeom>
          <a:noFill/>
          <a:ln/>
        </p:spPr>
        <p:txBody>
          <a:bodyPr wrap="square" lIns="0" tIns="0" rIns="0" bIns="0" rtlCol="0" anchor="ctr"/>
          <a:lstStyle/>
          <a:p>
            <a:pPr marL="0" indent="0">
              <a:buNone/>
            </a:pPr>
            <a:r>
              <a:rPr lang="en-GB" sz="1800" noProof="0" dirty="0">
                <a:solidFill>
                  <a:srgbClr val="23303F"/>
                </a:solidFill>
                <a:latin typeface="Calibri" pitchFamily="34" charset="0"/>
                <a:ea typeface="Calibri" pitchFamily="34" charset="-122"/>
                <a:cs typeface="Calibri" pitchFamily="34" charset="-120"/>
              </a:rPr>
              <a:t>Cervical cancer is largely preventable. This module follows the prevention pathway from end to end.</a:t>
            </a:r>
            <a:endParaRPr lang="en-GB" sz="1800" noProof="0" dirty="0"/>
          </a:p>
        </p:txBody>
      </p:sp>
      <p:sp>
        <p:nvSpPr>
          <p:cNvPr id="7" name="Shape 5"/>
          <p:cNvSpPr/>
          <p:nvPr/>
        </p:nvSpPr>
        <p:spPr>
          <a:xfrm>
            <a:off x="566928" y="2194560"/>
            <a:ext cx="2035454" cy="2286000"/>
          </a:xfrm>
          <a:prstGeom prst="roundRect">
            <a:avLst>
              <a:gd name="adj" fmla="val 3594"/>
            </a:avLst>
          </a:prstGeom>
          <a:solidFill>
            <a:srgbClr val="F3F6FB"/>
          </a:solidFill>
          <a:ln w="12700">
            <a:solidFill>
              <a:srgbClr val="E0E3EA"/>
            </a:solidFill>
            <a:prstDash val="solid"/>
          </a:ln>
        </p:spPr>
        <p:txBody>
          <a:bodyPr/>
          <a:lstStyle/>
          <a:p>
            <a:endParaRPr lang="en-GB" noProof="0" dirty="0"/>
          </a:p>
        </p:txBody>
      </p:sp>
      <p:sp>
        <p:nvSpPr>
          <p:cNvPr id="8" name="Shape 6"/>
          <p:cNvSpPr/>
          <p:nvPr/>
        </p:nvSpPr>
        <p:spPr>
          <a:xfrm>
            <a:off x="1356055" y="2395728"/>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9" name="Text 7"/>
          <p:cNvSpPr txBox="1"/>
          <p:nvPr/>
        </p:nvSpPr>
        <p:spPr>
          <a:xfrm>
            <a:off x="1356055" y="2395728"/>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libri" pitchFamily="34" charset="0"/>
                <a:ea typeface="Calibri" pitchFamily="34" charset="-122"/>
                <a:cs typeface="Calibri" pitchFamily="34" charset="-120"/>
              </a:rPr>
              <a:t>1</a:t>
            </a:r>
            <a:endParaRPr lang="en-GB" sz="1500" noProof="0" dirty="0"/>
          </a:p>
        </p:txBody>
      </p:sp>
      <p:sp>
        <p:nvSpPr>
          <p:cNvPr id="10" name="Text 8"/>
          <p:cNvSpPr txBox="1"/>
          <p:nvPr/>
        </p:nvSpPr>
        <p:spPr>
          <a:xfrm>
            <a:off x="749808" y="2980944"/>
            <a:ext cx="1669694" cy="1316736"/>
          </a:xfrm>
          <a:prstGeom prst="rect">
            <a:avLst/>
          </a:prstGeom>
          <a:noFill/>
          <a:ln/>
        </p:spPr>
        <p:txBody>
          <a:bodyPr wrap="square" lIns="0" tIns="0" rIns="0" bIns="0" rtlCol="0" anchor="t"/>
          <a:lstStyle/>
          <a:p>
            <a:pPr marL="0" indent="0" algn="ctr">
              <a:lnSpc>
                <a:spcPct val="106000"/>
              </a:lnSpc>
              <a:buNone/>
            </a:pPr>
            <a:r>
              <a:rPr lang="en-GB" sz="1800" noProof="0" dirty="0">
                <a:solidFill>
                  <a:srgbClr val="23303F"/>
                </a:solidFill>
                <a:latin typeface="Calibri" pitchFamily="34" charset="0"/>
                <a:ea typeface="Calibri" pitchFamily="34" charset="-122"/>
                <a:cs typeface="Calibri" pitchFamily="34" charset="-120"/>
              </a:rPr>
              <a:t>Prevent HPV infection</a:t>
            </a:r>
            <a:endParaRPr lang="en-GB" sz="1800" noProof="0" dirty="0"/>
          </a:p>
        </p:txBody>
      </p:sp>
      <p:sp>
        <p:nvSpPr>
          <p:cNvPr id="11" name="Text 9"/>
          <p:cNvSpPr txBox="1"/>
          <p:nvPr/>
        </p:nvSpPr>
        <p:spPr>
          <a:xfrm>
            <a:off x="2602382" y="2194560"/>
            <a:ext cx="219456" cy="2286000"/>
          </a:xfrm>
          <a:prstGeom prst="rect">
            <a:avLst/>
          </a:prstGeom>
          <a:noFill/>
          <a:ln/>
        </p:spPr>
        <p:txBody>
          <a:bodyPr wrap="square" lIns="0" tIns="0" rIns="0" bIns="0" rtlCol="0" anchor="ctr"/>
          <a:lstStyle/>
          <a:p>
            <a:pPr marL="0" indent="0" algn="ctr">
              <a:buNone/>
            </a:pPr>
            <a:r>
              <a:rPr lang="en-GB" sz="1300" noProof="0" dirty="0">
                <a:solidFill>
                  <a:srgbClr val="000000"/>
                </a:solidFill>
                <a:latin typeface="Calibri" pitchFamily="34" charset="0"/>
                <a:ea typeface="Calibri" pitchFamily="34" charset="-122"/>
                <a:cs typeface="Calibri" pitchFamily="34" charset="-120"/>
              </a:rPr>
              <a:t>➡️</a:t>
            </a:r>
            <a:endParaRPr lang="en-GB" sz="1300" noProof="0" dirty="0"/>
          </a:p>
        </p:txBody>
      </p:sp>
      <p:sp>
        <p:nvSpPr>
          <p:cNvPr id="12" name="Shape 10"/>
          <p:cNvSpPr/>
          <p:nvPr/>
        </p:nvSpPr>
        <p:spPr>
          <a:xfrm>
            <a:off x="2821838" y="2194560"/>
            <a:ext cx="2035454" cy="2286000"/>
          </a:xfrm>
          <a:prstGeom prst="roundRect">
            <a:avLst>
              <a:gd name="adj" fmla="val 3594"/>
            </a:avLst>
          </a:prstGeom>
          <a:solidFill>
            <a:srgbClr val="F3F6FB"/>
          </a:solidFill>
          <a:ln w="12700">
            <a:solidFill>
              <a:srgbClr val="E0E3EA"/>
            </a:solidFill>
            <a:prstDash val="solid"/>
          </a:ln>
        </p:spPr>
        <p:txBody>
          <a:bodyPr/>
          <a:lstStyle/>
          <a:p>
            <a:endParaRPr lang="en-GB" noProof="0" dirty="0"/>
          </a:p>
        </p:txBody>
      </p:sp>
      <p:sp>
        <p:nvSpPr>
          <p:cNvPr id="13" name="Shape 11"/>
          <p:cNvSpPr/>
          <p:nvPr/>
        </p:nvSpPr>
        <p:spPr>
          <a:xfrm>
            <a:off x="3610966" y="2395728"/>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14" name="Text 12"/>
          <p:cNvSpPr txBox="1"/>
          <p:nvPr/>
        </p:nvSpPr>
        <p:spPr>
          <a:xfrm>
            <a:off x="3610966" y="2395728"/>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libri" pitchFamily="34" charset="0"/>
                <a:ea typeface="Calibri" pitchFamily="34" charset="-122"/>
                <a:cs typeface="Calibri" pitchFamily="34" charset="-120"/>
              </a:rPr>
              <a:t>2</a:t>
            </a:r>
            <a:endParaRPr lang="en-GB" sz="1500" noProof="0" dirty="0"/>
          </a:p>
        </p:txBody>
      </p:sp>
      <p:sp>
        <p:nvSpPr>
          <p:cNvPr id="15" name="Text 13"/>
          <p:cNvSpPr txBox="1"/>
          <p:nvPr/>
        </p:nvSpPr>
        <p:spPr>
          <a:xfrm>
            <a:off x="3004718" y="2980944"/>
            <a:ext cx="1669694" cy="1316736"/>
          </a:xfrm>
          <a:prstGeom prst="rect">
            <a:avLst/>
          </a:prstGeom>
          <a:noFill/>
          <a:ln/>
        </p:spPr>
        <p:txBody>
          <a:bodyPr wrap="square" lIns="0" tIns="0" rIns="0" bIns="0" rtlCol="0" anchor="t"/>
          <a:lstStyle/>
          <a:p>
            <a:pPr marL="0" indent="0" algn="ctr">
              <a:lnSpc>
                <a:spcPct val="106000"/>
              </a:lnSpc>
              <a:buNone/>
            </a:pPr>
            <a:r>
              <a:rPr lang="en-GB" sz="1800" noProof="0" dirty="0">
                <a:solidFill>
                  <a:srgbClr val="23303F"/>
                </a:solidFill>
                <a:latin typeface="Calibri" pitchFamily="34" charset="0"/>
                <a:ea typeface="Calibri" pitchFamily="34" charset="-122"/>
                <a:cs typeface="Calibri" pitchFamily="34" charset="-120"/>
              </a:rPr>
              <a:t>Screen eligible women</a:t>
            </a:r>
            <a:endParaRPr lang="en-GB" sz="1800" noProof="0" dirty="0"/>
          </a:p>
        </p:txBody>
      </p:sp>
      <p:sp>
        <p:nvSpPr>
          <p:cNvPr id="16" name="Text 14"/>
          <p:cNvSpPr txBox="1"/>
          <p:nvPr/>
        </p:nvSpPr>
        <p:spPr>
          <a:xfrm>
            <a:off x="4857293" y="2194560"/>
            <a:ext cx="219456" cy="2286000"/>
          </a:xfrm>
          <a:prstGeom prst="rect">
            <a:avLst/>
          </a:prstGeom>
          <a:noFill/>
          <a:ln/>
        </p:spPr>
        <p:txBody>
          <a:bodyPr wrap="square" lIns="0" tIns="0" rIns="0" bIns="0" rtlCol="0" anchor="ctr"/>
          <a:lstStyle/>
          <a:p>
            <a:pPr marL="0" indent="0" algn="ctr">
              <a:buNone/>
            </a:pPr>
            <a:r>
              <a:rPr lang="en-GB" sz="1300" noProof="0" dirty="0">
                <a:solidFill>
                  <a:srgbClr val="000000"/>
                </a:solidFill>
                <a:latin typeface="Calibri" pitchFamily="34" charset="0"/>
                <a:ea typeface="Calibri" pitchFamily="34" charset="-122"/>
                <a:cs typeface="Calibri" pitchFamily="34" charset="-120"/>
              </a:rPr>
              <a:t>➡️</a:t>
            </a:r>
            <a:endParaRPr lang="en-GB" sz="1300" noProof="0" dirty="0"/>
          </a:p>
        </p:txBody>
      </p:sp>
      <p:sp>
        <p:nvSpPr>
          <p:cNvPr id="17" name="Shape 15"/>
          <p:cNvSpPr/>
          <p:nvPr/>
        </p:nvSpPr>
        <p:spPr>
          <a:xfrm>
            <a:off x="5076749" y="2194560"/>
            <a:ext cx="2035454" cy="2286000"/>
          </a:xfrm>
          <a:prstGeom prst="roundRect">
            <a:avLst>
              <a:gd name="adj" fmla="val 3594"/>
            </a:avLst>
          </a:prstGeom>
          <a:solidFill>
            <a:srgbClr val="F3F6FB"/>
          </a:solidFill>
          <a:ln w="12700">
            <a:solidFill>
              <a:srgbClr val="E0E3EA"/>
            </a:solidFill>
            <a:prstDash val="solid"/>
          </a:ln>
        </p:spPr>
        <p:txBody>
          <a:bodyPr/>
          <a:lstStyle/>
          <a:p>
            <a:endParaRPr lang="en-GB" noProof="0" dirty="0"/>
          </a:p>
        </p:txBody>
      </p:sp>
      <p:sp>
        <p:nvSpPr>
          <p:cNvPr id="18" name="Shape 16"/>
          <p:cNvSpPr/>
          <p:nvPr/>
        </p:nvSpPr>
        <p:spPr>
          <a:xfrm>
            <a:off x="5865876" y="2395728"/>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19" name="Text 17"/>
          <p:cNvSpPr txBox="1"/>
          <p:nvPr/>
        </p:nvSpPr>
        <p:spPr>
          <a:xfrm>
            <a:off x="5865876" y="2395728"/>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libri" pitchFamily="34" charset="0"/>
                <a:ea typeface="Calibri" pitchFamily="34" charset="-122"/>
                <a:cs typeface="Calibri" pitchFamily="34" charset="-120"/>
              </a:rPr>
              <a:t>3</a:t>
            </a:r>
            <a:endParaRPr lang="en-GB" sz="1500" noProof="0" dirty="0"/>
          </a:p>
        </p:txBody>
      </p:sp>
      <p:sp>
        <p:nvSpPr>
          <p:cNvPr id="20" name="Text 18"/>
          <p:cNvSpPr txBox="1"/>
          <p:nvPr/>
        </p:nvSpPr>
        <p:spPr>
          <a:xfrm>
            <a:off x="5259629" y="2980944"/>
            <a:ext cx="1669694" cy="1316736"/>
          </a:xfrm>
          <a:prstGeom prst="rect">
            <a:avLst/>
          </a:prstGeom>
          <a:noFill/>
          <a:ln/>
        </p:spPr>
        <p:txBody>
          <a:bodyPr wrap="square" lIns="0" tIns="0" rIns="0" bIns="0" rtlCol="0" anchor="t"/>
          <a:lstStyle/>
          <a:p>
            <a:pPr marL="0" indent="0" algn="ctr">
              <a:lnSpc>
                <a:spcPct val="106000"/>
              </a:lnSpc>
              <a:buNone/>
            </a:pPr>
            <a:r>
              <a:rPr lang="en-GB" sz="1800" noProof="0" dirty="0">
                <a:solidFill>
                  <a:srgbClr val="23303F"/>
                </a:solidFill>
                <a:latin typeface="Calibri" pitchFamily="34" charset="0"/>
                <a:ea typeface="Calibri" pitchFamily="34" charset="-122"/>
                <a:cs typeface="Calibri" pitchFamily="34" charset="-120"/>
              </a:rPr>
              <a:t>Treat cervical precancer</a:t>
            </a:r>
            <a:endParaRPr lang="en-GB" sz="1800" noProof="0" dirty="0"/>
          </a:p>
        </p:txBody>
      </p:sp>
      <p:sp>
        <p:nvSpPr>
          <p:cNvPr id="21" name="Text 19"/>
          <p:cNvSpPr txBox="1"/>
          <p:nvPr/>
        </p:nvSpPr>
        <p:spPr>
          <a:xfrm>
            <a:off x="7112203" y="2194560"/>
            <a:ext cx="219456" cy="2286000"/>
          </a:xfrm>
          <a:prstGeom prst="rect">
            <a:avLst/>
          </a:prstGeom>
          <a:noFill/>
          <a:ln/>
        </p:spPr>
        <p:txBody>
          <a:bodyPr wrap="square" lIns="0" tIns="0" rIns="0" bIns="0" rtlCol="0" anchor="ctr"/>
          <a:lstStyle/>
          <a:p>
            <a:pPr marL="0" indent="0" algn="ctr">
              <a:buNone/>
            </a:pPr>
            <a:r>
              <a:rPr lang="en-GB" sz="1300" noProof="0" dirty="0">
                <a:solidFill>
                  <a:srgbClr val="000000"/>
                </a:solidFill>
                <a:latin typeface="Calibri" pitchFamily="34" charset="0"/>
                <a:ea typeface="Calibri" pitchFamily="34" charset="-122"/>
                <a:cs typeface="Calibri" pitchFamily="34" charset="-120"/>
              </a:rPr>
              <a:t>➡️</a:t>
            </a:r>
            <a:endParaRPr lang="en-GB" sz="1300" noProof="0" dirty="0"/>
          </a:p>
        </p:txBody>
      </p:sp>
      <p:sp>
        <p:nvSpPr>
          <p:cNvPr id="22" name="Shape 20"/>
          <p:cNvSpPr/>
          <p:nvPr/>
        </p:nvSpPr>
        <p:spPr>
          <a:xfrm>
            <a:off x="7331659" y="2194560"/>
            <a:ext cx="2035454" cy="2286000"/>
          </a:xfrm>
          <a:prstGeom prst="roundRect">
            <a:avLst>
              <a:gd name="adj" fmla="val 3594"/>
            </a:avLst>
          </a:prstGeom>
          <a:solidFill>
            <a:srgbClr val="F3F6FB"/>
          </a:solidFill>
          <a:ln w="12700">
            <a:solidFill>
              <a:srgbClr val="E0E3EA"/>
            </a:solidFill>
            <a:prstDash val="solid"/>
          </a:ln>
        </p:spPr>
        <p:txBody>
          <a:bodyPr/>
          <a:lstStyle/>
          <a:p>
            <a:endParaRPr lang="en-GB" noProof="0" dirty="0"/>
          </a:p>
        </p:txBody>
      </p:sp>
      <p:sp>
        <p:nvSpPr>
          <p:cNvPr id="23" name="Shape 21"/>
          <p:cNvSpPr/>
          <p:nvPr/>
        </p:nvSpPr>
        <p:spPr>
          <a:xfrm>
            <a:off x="8120786" y="2395728"/>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24" name="Text 22"/>
          <p:cNvSpPr txBox="1"/>
          <p:nvPr/>
        </p:nvSpPr>
        <p:spPr>
          <a:xfrm>
            <a:off x="8120786" y="2395728"/>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libri" pitchFamily="34" charset="0"/>
                <a:ea typeface="Calibri" pitchFamily="34" charset="-122"/>
                <a:cs typeface="Calibri" pitchFamily="34" charset="-120"/>
              </a:rPr>
              <a:t>4</a:t>
            </a:r>
            <a:endParaRPr lang="en-GB" sz="1500" noProof="0" dirty="0"/>
          </a:p>
        </p:txBody>
      </p:sp>
      <p:sp>
        <p:nvSpPr>
          <p:cNvPr id="25" name="Text 23"/>
          <p:cNvSpPr txBox="1"/>
          <p:nvPr/>
        </p:nvSpPr>
        <p:spPr>
          <a:xfrm>
            <a:off x="7514539" y="2980944"/>
            <a:ext cx="1669694" cy="1316736"/>
          </a:xfrm>
          <a:prstGeom prst="rect">
            <a:avLst/>
          </a:prstGeom>
          <a:noFill/>
          <a:ln/>
        </p:spPr>
        <p:txBody>
          <a:bodyPr wrap="square" lIns="0" tIns="0" rIns="0" bIns="0" rtlCol="0" anchor="t"/>
          <a:lstStyle/>
          <a:p>
            <a:pPr marL="0" indent="0" algn="ctr">
              <a:lnSpc>
                <a:spcPct val="106000"/>
              </a:lnSpc>
              <a:buNone/>
            </a:pPr>
            <a:r>
              <a:rPr lang="en-GB" sz="1800" noProof="0" dirty="0">
                <a:solidFill>
                  <a:srgbClr val="23303F"/>
                </a:solidFill>
                <a:latin typeface="Calibri" pitchFamily="34" charset="0"/>
                <a:ea typeface="Calibri" pitchFamily="34" charset="-122"/>
                <a:cs typeface="Calibri" pitchFamily="34" charset="-120"/>
              </a:rPr>
              <a:t>Recognise and refer suspected cancer</a:t>
            </a:r>
            <a:endParaRPr lang="en-GB" sz="1800" noProof="0" dirty="0"/>
          </a:p>
        </p:txBody>
      </p:sp>
      <p:sp>
        <p:nvSpPr>
          <p:cNvPr id="26" name="Text 24"/>
          <p:cNvSpPr txBox="1"/>
          <p:nvPr/>
        </p:nvSpPr>
        <p:spPr>
          <a:xfrm>
            <a:off x="9367114" y="2194560"/>
            <a:ext cx="219456" cy="2286000"/>
          </a:xfrm>
          <a:prstGeom prst="rect">
            <a:avLst/>
          </a:prstGeom>
          <a:noFill/>
          <a:ln/>
        </p:spPr>
        <p:txBody>
          <a:bodyPr wrap="square" lIns="0" tIns="0" rIns="0" bIns="0" rtlCol="0" anchor="ctr"/>
          <a:lstStyle/>
          <a:p>
            <a:pPr marL="0" indent="0" algn="ctr">
              <a:buNone/>
            </a:pPr>
            <a:r>
              <a:rPr lang="en-GB" sz="1300" noProof="0" dirty="0">
                <a:solidFill>
                  <a:srgbClr val="000000"/>
                </a:solidFill>
                <a:latin typeface="Calibri" pitchFamily="34" charset="0"/>
                <a:ea typeface="Calibri" pitchFamily="34" charset="-122"/>
                <a:cs typeface="Calibri" pitchFamily="34" charset="-120"/>
              </a:rPr>
              <a:t>➡️</a:t>
            </a:r>
            <a:endParaRPr lang="en-GB" sz="1300" noProof="0" dirty="0"/>
          </a:p>
        </p:txBody>
      </p:sp>
      <p:sp>
        <p:nvSpPr>
          <p:cNvPr id="27" name="Shape 25"/>
          <p:cNvSpPr/>
          <p:nvPr/>
        </p:nvSpPr>
        <p:spPr>
          <a:xfrm>
            <a:off x="9586570" y="2194560"/>
            <a:ext cx="2035454" cy="2286000"/>
          </a:xfrm>
          <a:prstGeom prst="roundRect">
            <a:avLst>
              <a:gd name="adj" fmla="val 3594"/>
            </a:avLst>
          </a:prstGeom>
          <a:solidFill>
            <a:srgbClr val="F3F6FB"/>
          </a:solidFill>
          <a:ln w="12700">
            <a:solidFill>
              <a:srgbClr val="E0E3EA"/>
            </a:solidFill>
            <a:prstDash val="solid"/>
          </a:ln>
        </p:spPr>
        <p:txBody>
          <a:bodyPr/>
          <a:lstStyle/>
          <a:p>
            <a:endParaRPr lang="en-GB" noProof="0" dirty="0"/>
          </a:p>
        </p:txBody>
      </p:sp>
      <p:sp>
        <p:nvSpPr>
          <p:cNvPr id="28" name="Shape 26"/>
          <p:cNvSpPr/>
          <p:nvPr/>
        </p:nvSpPr>
        <p:spPr>
          <a:xfrm>
            <a:off x="10375697" y="2395728"/>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29" name="Text 27"/>
          <p:cNvSpPr txBox="1"/>
          <p:nvPr/>
        </p:nvSpPr>
        <p:spPr>
          <a:xfrm>
            <a:off x="10375697" y="2395728"/>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libri" pitchFamily="34" charset="0"/>
                <a:ea typeface="Calibri" pitchFamily="34" charset="-122"/>
                <a:cs typeface="Calibri" pitchFamily="34" charset="-120"/>
              </a:rPr>
              <a:t>5</a:t>
            </a:r>
            <a:endParaRPr lang="en-GB" sz="1500" noProof="0" dirty="0"/>
          </a:p>
        </p:txBody>
      </p:sp>
      <p:sp>
        <p:nvSpPr>
          <p:cNvPr id="30" name="Text 28"/>
          <p:cNvSpPr txBox="1"/>
          <p:nvPr/>
        </p:nvSpPr>
        <p:spPr>
          <a:xfrm>
            <a:off x="9769450" y="2980944"/>
            <a:ext cx="1669694" cy="1316736"/>
          </a:xfrm>
          <a:prstGeom prst="rect">
            <a:avLst/>
          </a:prstGeom>
          <a:noFill/>
          <a:ln/>
        </p:spPr>
        <p:txBody>
          <a:bodyPr wrap="square" lIns="0" tIns="0" rIns="0" bIns="0" rtlCol="0" anchor="t"/>
          <a:lstStyle/>
          <a:p>
            <a:pPr marL="0" indent="0" algn="ctr">
              <a:lnSpc>
                <a:spcPct val="106000"/>
              </a:lnSpc>
              <a:buNone/>
            </a:pPr>
            <a:r>
              <a:rPr lang="en-GB" sz="1800" noProof="0" dirty="0">
                <a:solidFill>
                  <a:srgbClr val="23303F"/>
                </a:solidFill>
                <a:latin typeface="Calibri" pitchFamily="34" charset="0"/>
                <a:ea typeface="Calibri" pitchFamily="34" charset="-122"/>
                <a:cs typeface="Calibri" pitchFamily="34" charset="-120"/>
              </a:rPr>
              <a:t>Support diagnosis, treatment and follow-up</a:t>
            </a:r>
            <a:endParaRPr lang="en-GB" sz="1800" noProof="0" dirty="0"/>
          </a:p>
        </p:txBody>
      </p:sp>
      <p:sp>
        <p:nvSpPr>
          <p:cNvPr id="31" name="Shape 29"/>
          <p:cNvSpPr/>
          <p:nvPr/>
        </p:nvSpPr>
        <p:spPr>
          <a:xfrm>
            <a:off x="566928" y="4754880"/>
            <a:ext cx="11055096" cy="786384"/>
          </a:xfrm>
          <a:prstGeom prst="roundRect">
            <a:avLst>
              <a:gd name="adj" fmla="val 8140"/>
            </a:avLst>
          </a:prstGeom>
          <a:solidFill>
            <a:srgbClr val="EAF7F0"/>
          </a:solidFill>
          <a:ln w="12700">
            <a:solidFill>
              <a:srgbClr val="C0D4CB"/>
            </a:solidFill>
            <a:prstDash val="solid"/>
          </a:ln>
        </p:spPr>
        <p:txBody>
          <a:bodyPr/>
          <a:lstStyle/>
          <a:p>
            <a:endParaRPr lang="en-GB" noProof="0" dirty="0"/>
          </a:p>
        </p:txBody>
      </p:sp>
      <p:sp>
        <p:nvSpPr>
          <p:cNvPr id="32" name="Text 30"/>
          <p:cNvSpPr txBox="1"/>
          <p:nvPr/>
        </p:nvSpPr>
        <p:spPr>
          <a:xfrm>
            <a:off x="841248" y="4809744"/>
            <a:ext cx="10506456" cy="676656"/>
          </a:xfrm>
          <a:prstGeom prst="rect">
            <a:avLst/>
          </a:prstGeom>
          <a:noFill/>
          <a:ln/>
        </p:spPr>
        <p:txBody>
          <a:bodyPr wrap="square" lIns="0" tIns="0" rIns="0" bIns="0" rtlCol="0" anchor="ctr"/>
          <a:lstStyle/>
          <a:p>
            <a:pPr marL="0" indent="0">
              <a:lnSpc>
                <a:spcPct val="104000"/>
              </a:lnSpc>
              <a:buNone/>
            </a:pPr>
            <a:r>
              <a:rPr lang="en-GB" sz="1800" b="1" noProof="0" dirty="0">
                <a:solidFill>
                  <a:srgbClr val="19543E"/>
                </a:solidFill>
                <a:latin typeface="Calibri" pitchFamily="34" charset="0"/>
                <a:ea typeface="Calibri" pitchFamily="34" charset="-122"/>
                <a:cs typeface="Calibri" pitchFamily="34" charset="-120"/>
              </a:rPr>
              <a:t>📌 Central idea:  </a:t>
            </a:r>
            <a:r>
              <a:rPr lang="en-GB" sz="1800" noProof="0" dirty="0">
                <a:solidFill>
                  <a:srgbClr val="23303F"/>
                </a:solidFill>
                <a:latin typeface="Calibri" pitchFamily="34" charset="0"/>
                <a:ea typeface="Calibri" pitchFamily="34" charset="-122"/>
                <a:cs typeface="Calibri" pitchFamily="34" charset="-120"/>
              </a:rPr>
              <a:t>Most cervical cancers can be prevented, through HPV vaccination and through finding and treating precancer before invasive cancer develops.</a:t>
            </a:r>
            <a:endParaRPr lang="en-GB" sz="180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3</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MODULE SYLLABUS</a:t>
            </a:r>
            <a:endParaRPr lang="en-GB" sz="1200" noProof="0" dirty="0"/>
          </a:p>
        </p:txBody>
      </p:sp>
      <p:sp>
        <p:nvSpPr>
          <p:cNvPr id="5" name="Text 3"/>
          <p:cNvSpPr txBox="1"/>
          <p:nvPr/>
        </p:nvSpPr>
        <p:spPr>
          <a:xfrm>
            <a:off x="566928" y="472596"/>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How the module is organised</a:t>
            </a:r>
            <a:endParaRPr lang="en-GB" sz="3200" noProof="0" dirty="0"/>
          </a:p>
        </p:txBody>
      </p:sp>
      <p:sp>
        <p:nvSpPr>
          <p:cNvPr id="6" name="Shape 4"/>
          <p:cNvSpPr/>
          <p:nvPr/>
        </p:nvSpPr>
        <p:spPr>
          <a:xfrm>
            <a:off x="566928" y="1177643"/>
            <a:ext cx="11055096" cy="647663"/>
          </a:xfrm>
          <a:prstGeom prst="roundRect">
            <a:avLst>
              <a:gd name="adj" fmla="val 9883"/>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786384" y="1177643"/>
            <a:ext cx="548640" cy="647663"/>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8" name="Text 6"/>
          <p:cNvSpPr txBox="1"/>
          <p:nvPr/>
        </p:nvSpPr>
        <p:spPr>
          <a:xfrm>
            <a:off x="1463040" y="1232507"/>
            <a:ext cx="9866376" cy="537935"/>
          </a:xfrm>
          <a:prstGeom prst="rect">
            <a:avLst/>
          </a:prstGeom>
          <a:noFill/>
          <a:ln/>
        </p:spPr>
        <p:txBody>
          <a:bodyPr wrap="square" lIns="0" tIns="0" rIns="0" bIns="0" rtlCol="0" anchor="ctr"/>
          <a:lstStyle/>
          <a:p>
            <a:pPr marL="0" indent="0">
              <a:lnSpc>
                <a:spcPct val="104000"/>
              </a:lnSpc>
              <a:buNone/>
            </a:pPr>
            <a:r>
              <a:rPr lang="en-GB" sz="1800" b="1" noProof="0" dirty="0">
                <a:solidFill>
                  <a:srgbClr val="10305A"/>
                </a:solidFill>
                <a:latin typeface="Calibri" pitchFamily="34" charset="0"/>
                <a:ea typeface="Calibri" pitchFamily="34" charset="-122"/>
                <a:cs typeface="Calibri" pitchFamily="34" charset="-120"/>
              </a:rPr>
              <a:t>Pre-test.  </a:t>
            </a:r>
            <a:r>
              <a:rPr lang="en-GB" sz="1800" noProof="0" dirty="0">
                <a:solidFill>
                  <a:srgbClr val="23303F"/>
                </a:solidFill>
                <a:latin typeface="Calibri" pitchFamily="34" charset="0"/>
                <a:ea typeface="Calibri" pitchFamily="34" charset="-122"/>
                <a:cs typeface="Calibri" pitchFamily="34" charset="-120"/>
              </a:rPr>
              <a:t>Twenty questions to check your starting point.</a:t>
            </a:r>
            <a:endParaRPr lang="en-GB" sz="1800" noProof="0" dirty="0"/>
          </a:p>
        </p:txBody>
      </p:sp>
      <p:sp>
        <p:nvSpPr>
          <p:cNvPr id="9" name="Shape 7"/>
          <p:cNvSpPr/>
          <p:nvPr/>
        </p:nvSpPr>
        <p:spPr>
          <a:xfrm>
            <a:off x="566928" y="1933250"/>
            <a:ext cx="11055096" cy="647663"/>
          </a:xfrm>
          <a:prstGeom prst="roundRect">
            <a:avLst>
              <a:gd name="adj" fmla="val 9883"/>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786384" y="1933250"/>
            <a:ext cx="548640" cy="647663"/>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1" name="Text 9"/>
          <p:cNvSpPr txBox="1"/>
          <p:nvPr/>
        </p:nvSpPr>
        <p:spPr>
          <a:xfrm>
            <a:off x="1463040" y="1988114"/>
            <a:ext cx="9866376" cy="537935"/>
          </a:xfrm>
          <a:prstGeom prst="rect">
            <a:avLst/>
          </a:prstGeom>
          <a:noFill/>
          <a:ln/>
        </p:spPr>
        <p:txBody>
          <a:bodyPr wrap="square" lIns="0" tIns="0" rIns="0" bIns="0" rtlCol="0" anchor="ctr"/>
          <a:lstStyle/>
          <a:p>
            <a:pPr marL="0" indent="0">
              <a:lnSpc>
                <a:spcPct val="104000"/>
              </a:lnSpc>
              <a:buNone/>
            </a:pPr>
            <a:r>
              <a:rPr lang="en-GB" sz="1800" b="1" noProof="0" dirty="0">
                <a:solidFill>
                  <a:srgbClr val="10305A"/>
                </a:solidFill>
                <a:latin typeface="Calibri" pitchFamily="34" charset="0"/>
                <a:ea typeface="Calibri" pitchFamily="34" charset="-122"/>
                <a:cs typeface="Calibri" pitchFamily="34" charset="-120"/>
              </a:rPr>
              <a:t>Session 1.  </a:t>
            </a:r>
            <a:r>
              <a:rPr lang="en-GB" sz="1800" noProof="0" dirty="0">
                <a:solidFill>
                  <a:srgbClr val="23303F"/>
                </a:solidFill>
                <a:latin typeface="Calibri" pitchFamily="34" charset="0"/>
                <a:ea typeface="Calibri" pitchFamily="34" charset="-122"/>
                <a:cs typeface="Calibri" pitchFamily="34" charset="-120"/>
              </a:rPr>
              <a:t>Understanding cervical cancer: burden, anatomy and the transformation zone, HPV, precancer, staging.</a:t>
            </a:r>
            <a:endParaRPr lang="en-GB" sz="1800" noProof="0" dirty="0"/>
          </a:p>
        </p:txBody>
      </p:sp>
      <p:sp>
        <p:nvSpPr>
          <p:cNvPr id="12" name="Shape 10"/>
          <p:cNvSpPr/>
          <p:nvPr/>
        </p:nvSpPr>
        <p:spPr>
          <a:xfrm>
            <a:off x="566928" y="2688856"/>
            <a:ext cx="11055096" cy="647663"/>
          </a:xfrm>
          <a:prstGeom prst="roundRect">
            <a:avLst>
              <a:gd name="adj" fmla="val 9883"/>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786384" y="2688856"/>
            <a:ext cx="548640" cy="647663"/>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4" name="Text 12"/>
          <p:cNvSpPr txBox="1"/>
          <p:nvPr/>
        </p:nvSpPr>
        <p:spPr>
          <a:xfrm>
            <a:off x="1463040" y="2743720"/>
            <a:ext cx="9866376" cy="537935"/>
          </a:xfrm>
          <a:prstGeom prst="rect">
            <a:avLst/>
          </a:prstGeom>
          <a:noFill/>
          <a:ln/>
        </p:spPr>
        <p:txBody>
          <a:bodyPr wrap="square" lIns="0" tIns="0" rIns="0" bIns="0" rtlCol="0" anchor="ctr"/>
          <a:lstStyle/>
          <a:p>
            <a:pPr marL="0" indent="0">
              <a:lnSpc>
                <a:spcPct val="104000"/>
              </a:lnSpc>
              <a:buNone/>
            </a:pPr>
            <a:r>
              <a:rPr lang="en-GB" sz="1800" b="1" noProof="0" dirty="0">
                <a:solidFill>
                  <a:srgbClr val="10305A"/>
                </a:solidFill>
                <a:latin typeface="Calibri" pitchFamily="34" charset="0"/>
                <a:ea typeface="Calibri" pitchFamily="34" charset="-122"/>
                <a:cs typeface="Calibri" pitchFamily="34" charset="-120"/>
              </a:rPr>
              <a:t>Session 2.  </a:t>
            </a:r>
            <a:r>
              <a:rPr lang="en-GB" sz="1800" noProof="0" dirty="0">
                <a:solidFill>
                  <a:srgbClr val="23303F"/>
                </a:solidFill>
                <a:latin typeface="Calibri" pitchFamily="34" charset="0"/>
                <a:ea typeface="Calibri" pitchFamily="34" charset="-122"/>
                <a:cs typeface="Calibri" pitchFamily="34" charset="-120"/>
              </a:rPr>
              <a:t>Screening and prevention: vaccination, risk, symptoms, HPV testing and VIA, managing precancer.</a:t>
            </a:r>
            <a:endParaRPr lang="en-GB" sz="1800" noProof="0" dirty="0"/>
          </a:p>
        </p:txBody>
      </p:sp>
      <p:sp>
        <p:nvSpPr>
          <p:cNvPr id="15" name="Shape 13"/>
          <p:cNvSpPr/>
          <p:nvPr/>
        </p:nvSpPr>
        <p:spPr>
          <a:xfrm>
            <a:off x="566928" y="3444463"/>
            <a:ext cx="11055096" cy="647663"/>
          </a:xfrm>
          <a:prstGeom prst="roundRect">
            <a:avLst>
              <a:gd name="adj" fmla="val 9883"/>
            </a:avLst>
          </a:prstGeom>
          <a:solidFill>
            <a:srgbClr val="F3F6FB"/>
          </a:solidFill>
          <a:ln w="12700">
            <a:solidFill>
              <a:srgbClr val="E0E3EA"/>
            </a:solidFill>
            <a:prstDash val="solid"/>
          </a:ln>
        </p:spPr>
        <p:txBody>
          <a:bodyPr/>
          <a:lstStyle/>
          <a:p>
            <a:endParaRPr lang="en-GB" noProof="0" dirty="0"/>
          </a:p>
        </p:txBody>
      </p:sp>
      <p:sp>
        <p:nvSpPr>
          <p:cNvPr id="16" name="Text 14"/>
          <p:cNvSpPr txBox="1"/>
          <p:nvPr/>
        </p:nvSpPr>
        <p:spPr>
          <a:xfrm>
            <a:off x="786384" y="3444463"/>
            <a:ext cx="548640" cy="647663"/>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7" name="Text 15"/>
          <p:cNvSpPr txBox="1"/>
          <p:nvPr/>
        </p:nvSpPr>
        <p:spPr>
          <a:xfrm>
            <a:off x="1463040" y="3499327"/>
            <a:ext cx="9866376" cy="537935"/>
          </a:xfrm>
          <a:prstGeom prst="rect">
            <a:avLst/>
          </a:prstGeom>
          <a:noFill/>
          <a:ln/>
        </p:spPr>
        <p:txBody>
          <a:bodyPr wrap="square" lIns="0" tIns="0" rIns="0" bIns="0" rtlCol="0" anchor="ctr"/>
          <a:lstStyle/>
          <a:p>
            <a:pPr marL="0" indent="0">
              <a:lnSpc>
                <a:spcPct val="104000"/>
              </a:lnSpc>
              <a:buNone/>
            </a:pPr>
            <a:r>
              <a:rPr lang="en-GB" sz="1800" b="1" noProof="0" dirty="0">
                <a:solidFill>
                  <a:srgbClr val="10305A"/>
                </a:solidFill>
                <a:latin typeface="Calibri" pitchFamily="34" charset="0"/>
                <a:ea typeface="Calibri" pitchFamily="34" charset="-122"/>
                <a:cs typeface="Calibri" pitchFamily="34" charset="-120"/>
              </a:rPr>
              <a:t>Session 3.  </a:t>
            </a:r>
            <a:r>
              <a:rPr lang="en-GB" sz="1800" noProof="0" dirty="0">
                <a:solidFill>
                  <a:srgbClr val="23303F"/>
                </a:solidFill>
                <a:latin typeface="Calibri" pitchFamily="34" charset="0"/>
                <a:ea typeface="Calibri" pitchFamily="34" charset="-122"/>
                <a:cs typeface="Calibri" pitchFamily="34" charset="-120"/>
              </a:rPr>
              <a:t>Referral and counselling: urgency, what to record, communication without stigma.</a:t>
            </a:r>
            <a:endParaRPr lang="en-GB" sz="1800" noProof="0" dirty="0"/>
          </a:p>
        </p:txBody>
      </p:sp>
      <p:sp>
        <p:nvSpPr>
          <p:cNvPr id="18" name="Shape 16"/>
          <p:cNvSpPr/>
          <p:nvPr/>
        </p:nvSpPr>
        <p:spPr>
          <a:xfrm>
            <a:off x="566928" y="4200070"/>
            <a:ext cx="11055096" cy="647663"/>
          </a:xfrm>
          <a:prstGeom prst="roundRect">
            <a:avLst>
              <a:gd name="adj" fmla="val 9883"/>
            </a:avLst>
          </a:prstGeom>
          <a:solidFill>
            <a:srgbClr val="F3F6FB"/>
          </a:solidFill>
          <a:ln w="12700">
            <a:solidFill>
              <a:srgbClr val="E0E3EA"/>
            </a:solidFill>
            <a:prstDash val="solid"/>
          </a:ln>
        </p:spPr>
        <p:txBody>
          <a:bodyPr/>
          <a:lstStyle/>
          <a:p>
            <a:endParaRPr lang="en-GB" noProof="0" dirty="0"/>
          </a:p>
        </p:txBody>
      </p:sp>
      <p:sp>
        <p:nvSpPr>
          <p:cNvPr id="19" name="Text 17"/>
          <p:cNvSpPr txBox="1"/>
          <p:nvPr/>
        </p:nvSpPr>
        <p:spPr>
          <a:xfrm>
            <a:off x="786384" y="4200070"/>
            <a:ext cx="548640" cy="647663"/>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20" name="Text 18"/>
          <p:cNvSpPr txBox="1"/>
          <p:nvPr/>
        </p:nvSpPr>
        <p:spPr>
          <a:xfrm>
            <a:off x="1463040" y="4254934"/>
            <a:ext cx="9866376" cy="537935"/>
          </a:xfrm>
          <a:prstGeom prst="rect">
            <a:avLst/>
          </a:prstGeom>
          <a:noFill/>
          <a:ln/>
        </p:spPr>
        <p:txBody>
          <a:bodyPr wrap="square" lIns="0" tIns="0" rIns="0" bIns="0" rtlCol="0" anchor="ctr"/>
          <a:lstStyle/>
          <a:p>
            <a:pPr marL="0" indent="0">
              <a:lnSpc>
                <a:spcPct val="104000"/>
              </a:lnSpc>
              <a:buNone/>
            </a:pPr>
            <a:r>
              <a:rPr lang="en-GB" sz="1800" b="1" noProof="0" dirty="0">
                <a:solidFill>
                  <a:srgbClr val="10305A"/>
                </a:solidFill>
                <a:latin typeface="Calibri" pitchFamily="34" charset="0"/>
                <a:ea typeface="Calibri" pitchFamily="34" charset="-122"/>
                <a:cs typeface="Calibri" pitchFamily="34" charset="-120"/>
              </a:rPr>
              <a:t>Session 4.  </a:t>
            </a:r>
            <a:r>
              <a:rPr lang="en-GB" sz="1800" noProof="0" dirty="0">
                <a:solidFill>
                  <a:srgbClr val="23303F"/>
                </a:solidFill>
                <a:latin typeface="Calibri" pitchFamily="34" charset="0"/>
                <a:ea typeface="Calibri" pitchFamily="34" charset="-122"/>
                <a:cs typeface="Calibri" pitchFamily="34" charset="-120"/>
              </a:rPr>
              <a:t>Diagnosis and treatment: biopsy, staging, surgery, radiotherapy, brachytherapy, chemotherapy.</a:t>
            </a:r>
            <a:endParaRPr lang="en-GB" sz="1800" noProof="0" dirty="0"/>
          </a:p>
        </p:txBody>
      </p:sp>
      <p:sp>
        <p:nvSpPr>
          <p:cNvPr id="21" name="Shape 19"/>
          <p:cNvSpPr/>
          <p:nvPr/>
        </p:nvSpPr>
        <p:spPr>
          <a:xfrm>
            <a:off x="566928" y="4955676"/>
            <a:ext cx="11055096" cy="647663"/>
          </a:xfrm>
          <a:prstGeom prst="roundRect">
            <a:avLst>
              <a:gd name="adj" fmla="val 9883"/>
            </a:avLst>
          </a:prstGeom>
          <a:solidFill>
            <a:srgbClr val="F3F6FB"/>
          </a:solidFill>
          <a:ln w="12700">
            <a:solidFill>
              <a:srgbClr val="E0E3EA"/>
            </a:solidFill>
            <a:prstDash val="solid"/>
          </a:ln>
        </p:spPr>
        <p:txBody>
          <a:bodyPr/>
          <a:lstStyle/>
          <a:p>
            <a:endParaRPr lang="en-GB" noProof="0" dirty="0"/>
          </a:p>
        </p:txBody>
      </p:sp>
      <p:sp>
        <p:nvSpPr>
          <p:cNvPr id="22" name="Text 20"/>
          <p:cNvSpPr txBox="1"/>
          <p:nvPr/>
        </p:nvSpPr>
        <p:spPr>
          <a:xfrm>
            <a:off x="786384" y="4955676"/>
            <a:ext cx="548640" cy="647663"/>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23" name="Text 21"/>
          <p:cNvSpPr txBox="1"/>
          <p:nvPr/>
        </p:nvSpPr>
        <p:spPr>
          <a:xfrm>
            <a:off x="1463040" y="5010540"/>
            <a:ext cx="9866376" cy="537935"/>
          </a:xfrm>
          <a:prstGeom prst="rect">
            <a:avLst/>
          </a:prstGeom>
          <a:noFill/>
          <a:ln/>
        </p:spPr>
        <p:txBody>
          <a:bodyPr wrap="square" lIns="0" tIns="0" rIns="0" bIns="0" rtlCol="0" anchor="ctr"/>
          <a:lstStyle/>
          <a:p>
            <a:pPr marL="0" indent="0">
              <a:lnSpc>
                <a:spcPct val="104000"/>
              </a:lnSpc>
              <a:buNone/>
            </a:pPr>
            <a:r>
              <a:rPr lang="en-GB" sz="1800" b="1" noProof="0" dirty="0">
                <a:solidFill>
                  <a:srgbClr val="10305A"/>
                </a:solidFill>
                <a:latin typeface="Calibri" pitchFamily="34" charset="0"/>
                <a:ea typeface="Calibri" pitchFamily="34" charset="-122"/>
                <a:cs typeface="Calibri" pitchFamily="34" charset="-120"/>
              </a:rPr>
              <a:t>Session 5.  </a:t>
            </a:r>
            <a:r>
              <a:rPr lang="en-GB" sz="1800" noProof="0" dirty="0">
                <a:solidFill>
                  <a:srgbClr val="23303F"/>
                </a:solidFill>
                <a:latin typeface="Calibri" pitchFamily="34" charset="0"/>
                <a:ea typeface="Calibri" pitchFamily="34" charset="-122"/>
                <a:cs typeface="Calibri" pitchFamily="34" charset="-120"/>
              </a:rPr>
              <a:t>Supportive treatment: adverse effects, sexual health, palliative care, follow-up.</a:t>
            </a:r>
            <a:endParaRPr lang="en-GB" sz="1800" noProof="0" dirty="0"/>
          </a:p>
        </p:txBody>
      </p:sp>
      <p:sp>
        <p:nvSpPr>
          <p:cNvPr id="25" name="Shape 4">
            <a:extLst>
              <a:ext uri="{FF2B5EF4-FFF2-40B4-BE49-F238E27FC236}">
                <a16:creationId xmlns:a16="http://schemas.microsoft.com/office/drawing/2014/main" id="{9122ADEA-4900-1FA4-CF90-6EB713AB81B0}"/>
              </a:ext>
            </a:extLst>
          </p:cNvPr>
          <p:cNvSpPr/>
          <p:nvPr/>
        </p:nvSpPr>
        <p:spPr>
          <a:xfrm>
            <a:off x="566928" y="5680357"/>
            <a:ext cx="11055096" cy="647663"/>
          </a:xfrm>
          <a:prstGeom prst="roundRect">
            <a:avLst>
              <a:gd name="adj" fmla="val 9883"/>
            </a:avLst>
          </a:prstGeom>
          <a:solidFill>
            <a:srgbClr val="F3F6FB"/>
          </a:solidFill>
          <a:ln w="12700">
            <a:solidFill>
              <a:srgbClr val="E0E3EA"/>
            </a:solidFill>
            <a:prstDash val="solid"/>
          </a:ln>
        </p:spPr>
        <p:txBody>
          <a:bodyPr/>
          <a:lstStyle/>
          <a:p>
            <a:endParaRPr lang="en-GB" noProof="0" dirty="0"/>
          </a:p>
        </p:txBody>
      </p:sp>
      <p:sp>
        <p:nvSpPr>
          <p:cNvPr id="26" name="Text 5">
            <a:extLst>
              <a:ext uri="{FF2B5EF4-FFF2-40B4-BE49-F238E27FC236}">
                <a16:creationId xmlns:a16="http://schemas.microsoft.com/office/drawing/2014/main" id="{ED7CF819-B111-206B-C7DC-7C25123E12A3}"/>
              </a:ext>
            </a:extLst>
          </p:cNvPr>
          <p:cNvSpPr txBox="1"/>
          <p:nvPr/>
        </p:nvSpPr>
        <p:spPr>
          <a:xfrm>
            <a:off x="786384" y="5680357"/>
            <a:ext cx="548640" cy="647663"/>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27" name="Text 6">
            <a:extLst>
              <a:ext uri="{FF2B5EF4-FFF2-40B4-BE49-F238E27FC236}">
                <a16:creationId xmlns:a16="http://schemas.microsoft.com/office/drawing/2014/main" id="{76486D3A-F864-4963-B4AE-FFF8255DA38A}"/>
              </a:ext>
            </a:extLst>
          </p:cNvPr>
          <p:cNvSpPr txBox="1"/>
          <p:nvPr/>
        </p:nvSpPr>
        <p:spPr>
          <a:xfrm>
            <a:off x="1463040" y="5735221"/>
            <a:ext cx="9866376" cy="537935"/>
          </a:xfrm>
          <a:prstGeom prst="rect">
            <a:avLst/>
          </a:prstGeom>
          <a:noFill/>
          <a:ln/>
        </p:spPr>
        <p:txBody>
          <a:bodyPr wrap="square" lIns="0" tIns="0" rIns="0" bIns="0" rtlCol="0" anchor="ctr"/>
          <a:lstStyle/>
          <a:p>
            <a:pPr marL="0" indent="0">
              <a:lnSpc>
                <a:spcPct val="104000"/>
              </a:lnSpc>
              <a:buNone/>
            </a:pPr>
            <a:r>
              <a:rPr lang="en-GB" sz="1800" b="1" noProof="0" dirty="0">
                <a:solidFill>
                  <a:srgbClr val="10305A"/>
                </a:solidFill>
                <a:latin typeface="Calibri" pitchFamily="34" charset="0"/>
                <a:ea typeface="Calibri" pitchFamily="34" charset="-122"/>
                <a:cs typeface="Calibri" pitchFamily="34" charset="-120"/>
              </a:rPr>
              <a:t>Post-test.  </a:t>
            </a:r>
            <a:r>
              <a:rPr lang="en-GB" sz="1800" noProof="0" dirty="0">
                <a:solidFill>
                  <a:srgbClr val="23303F"/>
                </a:solidFill>
                <a:latin typeface="Calibri" pitchFamily="34" charset="0"/>
                <a:ea typeface="Calibri" pitchFamily="34" charset="-122"/>
                <a:cs typeface="Calibri" pitchFamily="34" charset="-120"/>
              </a:rPr>
              <a:t>Twenty questions to check your new knowledge.</a:t>
            </a:r>
            <a:endParaRPr lang="en-GB" sz="180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4</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MODULE SYLLABUS</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Module objectives</a:t>
            </a:r>
            <a:endParaRPr lang="en-GB" sz="3200" noProof="0" dirty="0"/>
          </a:p>
        </p:txBody>
      </p:sp>
      <p:sp>
        <p:nvSpPr>
          <p:cNvPr id="6" name="Text 4"/>
          <p:cNvSpPr txBox="1"/>
          <p:nvPr/>
        </p:nvSpPr>
        <p:spPr>
          <a:xfrm>
            <a:off x="566928" y="1416170"/>
            <a:ext cx="11055096" cy="384048"/>
          </a:xfrm>
          <a:prstGeom prst="rect">
            <a:avLst/>
          </a:prstGeom>
          <a:noFill/>
          <a:ln/>
        </p:spPr>
        <p:txBody>
          <a:bodyPr wrap="square" lIns="0" tIns="0" rIns="0" bIns="0" rtlCol="0" anchor="ctr"/>
          <a:lstStyle/>
          <a:p>
            <a:pPr marL="0" indent="0">
              <a:buNone/>
            </a:pPr>
            <a:r>
              <a:rPr lang="en-GB" sz="1800" noProof="0" dirty="0">
                <a:solidFill>
                  <a:srgbClr val="23303F"/>
                </a:solidFill>
                <a:latin typeface="Calibri" pitchFamily="34" charset="0"/>
                <a:ea typeface="Calibri" pitchFamily="34" charset="-122"/>
                <a:cs typeface="Calibri" pitchFamily="34" charset="-120"/>
              </a:rPr>
              <a:t>By the end of this module you will be able to:</a:t>
            </a:r>
            <a:endParaRPr lang="en-GB" sz="1800" noProof="0" dirty="0"/>
          </a:p>
        </p:txBody>
      </p:sp>
      <p:sp>
        <p:nvSpPr>
          <p:cNvPr id="7" name="Shape 5"/>
          <p:cNvSpPr/>
          <p:nvPr/>
        </p:nvSpPr>
        <p:spPr>
          <a:xfrm>
            <a:off x="566928" y="1982800"/>
            <a:ext cx="11055096" cy="585510"/>
          </a:xfrm>
          <a:prstGeom prst="roundRect">
            <a:avLst>
              <a:gd name="adj" fmla="val 10932"/>
            </a:avLst>
          </a:prstGeom>
          <a:solidFill>
            <a:srgbClr val="F3F6FB"/>
          </a:solidFill>
          <a:ln w="12700">
            <a:solidFill>
              <a:srgbClr val="E0E3EA"/>
            </a:solidFill>
            <a:prstDash val="solid"/>
          </a:ln>
        </p:spPr>
        <p:txBody>
          <a:bodyPr/>
          <a:lstStyle/>
          <a:p>
            <a:endParaRPr lang="en-GB" noProof="0" dirty="0"/>
          </a:p>
        </p:txBody>
      </p:sp>
      <p:sp>
        <p:nvSpPr>
          <p:cNvPr id="8" name="Shape 6"/>
          <p:cNvSpPr/>
          <p:nvPr/>
        </p:nvSpPr>
        <p:spPr>
          <a:xfrm>
            <a:off x="804672" y="2065243"/>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9" name="Text 7"/>
          <p:cNvSpPr txBox="1"/>
          <p:nvPr/>
        </p:nvSpPr>
        <p:spPr>
          <a:xfrm>
            <a:off x="804672" y="2065243"/>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1</a:t>
            </a:r>
            <a:endParaRPr lang="en-GB" sz="1400" noProof="0" dirty="0"/>
          </a:p>
        </p:txBody>
      </p:sp>
      <p:sp>
        <p:nvSpPr>
          <p:cNvPr id="10" name="Text 8"/>
          <p:cNvSpPr txBox="1"/>
          <p:nvPr/>
        </p:nvSpPr>
        <p:spPr>
          <a:xfrm>
            <a:off x="1463040" y="2037664"/>
            <a:ext cx="9866376" cy="475782"/>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Explain how persistent high-risk HPV infection leads to cervical precancer and, in some women, to invasive cancer.</a:t>
            </a:r>
            <a:endParaRPr lang="en-GB" sz="1800" noProof="0" dirty="0"/>
          </a:p>
        </p:txBody>
      </p:sp>
      <p:sp>
        <p:nvSpPr>
          <p:cNvPr id="11" name="Shape 9"/>
          <p:cNvSpPr/>
          <p:nvPr/>
        </p:nvSpPr>
        <p:spPr>
          <a:xfrm>
            <a:off x="566928" y="2674028"/>
            <a:ext cx="11055096" cy="585510"/>
          </a:xfrm>
          <a:prstGeom prst="roundRect">
            <a:avLst>
              <a:gd name="adj" fmla="val 10932"/>
            </a:avLst>
          </a:prstGeom>
          <a:solidFill>
            <a:srgbClr val="F3F6FB"/>
          </a:solidFill>
          <a:ln w="12700">
            <a:solidFill>
              <a:srgbClr val="E0E3EA"/>
            </a:solidFill>
            <a:prstDash val="solid"/>
          </a:ln>
        </p:spPr>
        <p:txBody>
          <a:bodyPr/>
          <a:lstStyle/>
          <a:p>
            <a:endParaRPr lang="en-GB" noProof="0" dirty="0"/>
          </a:p>
        </p:txBody>
      </p:sp>
      <p:sp>
        <p:nvSpPr>
          <p:cNvPr id="12" name="Shape 10"/>
          <p:cNvSpPr/>
          <p:nvPr/>
        </p:nvSpPr>
        <p:spPr>
          <a:xfrm>
            <a:off x="804672" y="2756471"/>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13" name="Text 11"/>
          <p:cNvSpPr txBox="1"/>
          <p:nvPr/>
        </p:nvSpPr>
        <p:spPr>
          <a:xfrm>
            <a:off x="804672" y="2756471"/>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2</a:t>
            </a:r>
            <a:endParaRPr lang="en-GB" sz="1400" noProof="0" dirty="0"/>
          </a:p>
        </p:txBody>
      </p:sp>
      <p:sp>
        <p:nvSpPr>
          <p:cNvPr id="14" name="Text 12"/>
          <p:cNvSpPr txBox="1"/>
          <p:nvPr/>
        </p:nvSpPr>
        <p:spPr>
          <a:xfrm>
            <a:off x="1463040" y="2728892"/>
            <a:ext cx="9866376" cy="475782"/>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Promote HPV vaccination and answer the concerns that most often reduce uptake.</a:t>
            </a:r>
            <a:endParaRPr lang="en-GB" sz="1800" noProof="0" dirty="0"/>
          </a:p>
        </p:txBody>
      </p:sp>
      <p:sp>
        <p:nvSpPr>
          <p:cNvPr id="15" name="Shape 13"/>
          <p:cNvSpPr/>
          <p:nvPr/>
        </p:nvSpPr>
        <p:spPr>
          <a:xfrm>
            <a:off x="566928" y="3365255"/>
            <a:ext cx="11055096" cy="585510"/>
          </a:xfrm>
          <a:prstGeom prst="roundRect">
            <a:avLst>
              <a:gd name="adj" fmla="val 10932"/>
            </a:avLst>
          </a:prstGeom>
          <a:solidFill>
            <a:srgbClr val="F3F6FB"/>
          </a:solidFill>
          <a:ln w="12700">
            <a:solidFill>
              <a:srgbClr val="E0E3EA"/>
            </a:solidFill>
            <a:prstDash val="solid"/>
          </a:ln>
        </p:spPr>
        <p:txBody>
          <a:bodyPr/>
          <a:lstStyle/>
          <a:p>
            <a:endParaRPr lang="en-GB" noProof="0" dirty="0"/>
          </a:p>
        </p:txBody>
      </p:sp>
      <p:sp>
        <p:nvSpPr>
          <p:cNvPr id="16" name="Shape 14"/>
          <p:cNvSpPr/>
          <p:nvPr/>
        </p:nvSpPr>
        <p:spPr>
          <a:xfrm>
            <a:off x="804672" y="3447698"/>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17" name="Text 15"/>
          <p:cNvSpPr txBox="1"/>
          <p:nvPr/>
        </p:nvSpPr>
        <p:spPr>
          <a:xfrm>
            <a:off x="804672" y="3447698"/>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3</a:t>
            </a:r>
            <a:endParaRPr lang="en-GB" sz="1400" noProof="0" dirty="0"/>
          </a:p>
        </p:txBody>
      </p:sp>
      <p:sp>
        <p:nvSpPr>
          <p:cNvPr id="18" name="Text 16"/>
          <p:cNvSpPr txBox="1"/>
          <p:nvPr/>
        </p:nvSpPr>
        <p:spPr>
          <a:xfrm>
            <a:off x="1463040" y="3420119"/>
            <a:ext cx="9866376" cy="475782"/>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Distinguish screening of a well woman from assessment of a woman who has symptoms.</a:t>
            </a:r>
            <a:endParaRPr lang="en-GB" sz="1800" noProof="0" dirty="0"/>
          </a:p>
        </p:txBody>
      </p:sp>
      <p:sp>
        <p:nvSpPr>
          <p:cNvPr id="19" name="Shape 17"/>
          <p:cNvSpPr/>
          <p:nvPr/>
        </p:nvSpPr>
        <p:spPr>
          <a:xfrm>
            <a:off x="566928" y="4056483"/>
            <a:ext cx="11055096" cy="585510"/>
          </a:xfrm>
          <a:prstGeom prst="roundRect">
            <a:avLst>
              <a:gd name="adj" fmla="val 10932"/>
            </a:avLst>
          </a:prstGeom>
          <a:solidFill>
            <a:srgbClr val="F3F6FB"/>
          </a:solidFill>
          <a:ln w="12700">
            <a:solidFill>
              <a:srgbClr val="E0E3EA"/>
            </a:solidFill>
            <a:prstDash val="solid"/>
          </a:ln>
        </p:spPr>
        <p:txBody>
          <a:bodyPr/>
          <a:lstStyle/>
          <a:p>
            <a:endParaRPr lang="en-GB" noProof="0" dirty="0"/>
          </a:p>
        </p:txBody>
      </p:sp>
      <p:sp>
        <p:nvSpPr>
          <p:cNvPr id="20" name="Shape 18"/>
          <p:cNvSpPr/>
          <p:nvPr/>
        </p:nvSpPr>
        <p:spPr>
          <a:xfrm>
            <a:off x="804672" y="4138926"/>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21" name="Text 19"/>
          <p:cNvSpPr txBox="1"/>
          <p:nvPr/>
        </p:nvSpPr>
        <p:spPr>
          <a:xfrm>
            <a:off x="804672" y="4138926"/>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4</a:t>
            </a:r>
            <a:endParaRPr lang="en-GB" sz="1400" noProof="0" dirty="0"/>
          </a:p>
        </p:txBody>
      </p:sp>
      <p:sp>
        <p:nvSpPr>
          <p:cNvPr id="22" name="Text 20"/>
          <p:cNvSpPr txBox="1"/>
          <p:nvPr/>
        </p:nvSpPr>
        <p:spPr>
          <a:xfrm>
            <a:off x="1463040" y="4111347"/>
            <a:ext cx="9866376" cy="475782"/>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Interpret a screening result and state the correct next step for that woman.</a:t>
            </a:r>
            <a:endParaRPr lang="en-GB" sz="1800" noProof="0" dirty="0"/>
          </a:p>
        </p:txBody>
      </p:sp>
      <p:sp>
        <p:nvSpPr>
          <p:cNvPr id="23" name="Shape 21"/>
          <p:cNvSpPr/>
          <p:nvPr/>
        </p:nvSpPr>
        <p:spPr>
          <a:xfrm>
            <a:off x="566928" y="4747710"/>
            <a:ext cx="11055096" cy="585510"/>
          </a:xfrm>
          <a:prstGeom prst="roundRect">
            <a:avLst>
              <a:gd name="adj" fmla="val 10932"/>
            </a:avLst>
          </a:prstGeom>
          <a:solidFill>
            <a:srgbClr val="F3F6FB"/>
          </a:solidFill>
          <a:ln w="12700">
            <a:solidFill>
              <a:srgbClr val="E0E3EA"/>
            </a:solidFill>
            <a:prstDash val="solid"/>
          </a:ln>
        </p:spPr>
        <p:txBody>
          <a:bodyPr/>
          <a:lstStyle/>
          <a:p>
            <a:endParaRPr lang="en-GB" noProof="0" dirty="0"/>
          </a:p>
        </p:txBody>
      </p:sp>
      <p:sp>
        <p:nvSpPr>
          <p:cNvPr id="24" name="Shape 22"/>
          <p:cNvSpPr/>
          <p:nvPr/>
        </p:nvSpPr>
        <p:spPr>
          <a:xfrm>
            <a:off x="804672" y="4830153"/>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25" name="Text 23"/>
          <p:cNvSpPr txBox="1"/>
          <p:nvPr/>
        </p:nvSpPr>
        <p:spPr>
          <a:xfrm>
            <a:off x="804672" y="4830153"/>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5</a:t>
            </a:r>
            <a:endParaRPr lang="en-GB" sz="1400" noProof="0" dirty="0"/>
          </a:p>
        </p:txBody>
      </p:sp>
      <p:sp>
        <p:nvSpPr>
          <p:cNvPr id="26" name="Text 24"/>
          <p:cNvSpPr txBox="1"/>
          <p:nvPr/>
        </p:nvSpPr>
        <p:spPr>
          <a:xfrm>
            <a:off x="1463040" y="4802574"/>
            <a:ext cx="9866376" cy="475782"/>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Refer with the right urgency, counsel without stigma, and record what the national registry needs.</a:t>
            </a:r>
            <a:endParaRPr lang="en-GB" sz="1800" noProof="0" dirty="0"/>
          </a:p>
        </p:txBody>
      </p:sp>
      <p:sp>
        <p:nvSpPr>
          <p:cNvPr id="27" name="Shape 25"/>
          <p:cNvSpPr/>
          <p:nvPr/>
        </p:nvSpPr>
        <p:spPr>
          <a:xfrm>
            <a:off x="566928" y="5438938"/>
            <a:ext cx="11055096" cy="585510"/>
          </a:xfrm>
          <a:prstGeom prst="roundRect">
            <a:avLst>
              <a:gd name="adj" fmla="val 10932"/>
            </a:avLst>
          </a:prstGeom>
          <a:solidFill>
            <a:srgbClr val="F3F6FB"/>
          </a:solidFill>
          <a:ln w="12700">
            <a:solidFill>
              <a:srgbClr val="E0E3EA"/>
            </a:solidFill>
            <a:prstDash val="solid"/>
          </a:ln>
        </p:spPr>
        <p:txBody>
          <a:bodyPr/>
          <a:lstStyle/>
          <a:p>
            <a:endParaRPr lang="en-GB" noProof="0" dirty="0"/>
          </a:p>
        </p:txBody>
      </p:sp>
      <p:sp>
        <p:nvSpPr>
          <p:cNvPr id="28" name="Shape 26"/>
          <p:cNvSpPr/>
          <p:nvPr/>
        </p:nvSpPr>
        <p:spPr>
          <a:xfrm>
            <a:off x="804672" y="5521381"/>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29" name="Text 27"/>
          <p:cNvSpPr txBox="1"/>
          <p:nvPr/>
        </p:nvSpPr>
        <p:spPr>
          <a:xfrm>
            <a:off x="804672" y="5521381"/>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6</a:t>
            </a:r>
            <a:endParaRPr lang="en-GB" sz="1400" noProof="0" dirty="0"/>
          </a:p>
        </p:txBody>
      </p:sp>
      <p:sp>
        <p:nvSpPr>
          <p:cNvPr id="30" name="Text 28"/>
          <p:cNvSpPr txBox="1"/>
          <p:nvPr/>
        </p:nvSpPr>
        <p:spPr>
          <a:xfrm>
            <a:off x="1463040" y="5493802"/>
            <a:ext cx="9866376" cy="475782"/>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Support women through treatment, follow-up, palliative care and quality of life.</a:t>
            </a:r>
            <a:endParaRPr lang="en-GB" sz="180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5</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BASELINE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Pre-test</a:t>
            </a:r>
            <a:endParaRPr lang="en-GB" sz="3200" noProof="0" dirty="0"/>
          </a:p>
        </p:txBody>
      </p:sp>
      <p:sp>
        <p:nvSpPr>
          <p:cNvPr id="6" name="Text 4"/>
          <p:cNvSpPr txBox="1"/>
          <p:nvPr/>
        </p:nvSpPr>
        <p:spPr>
          <a:xfrm>
            <a:off x="566928" y="1572768"/>
            <a:ext cx="11055096" cy="384048"/>
          </a:xfrm>
          <a:prstGeom prst="rect">
            <a:avLst/>
          </a:prstGeom>
          <a:noFill/>
          <a:ln/>
        </p:spPr>
        <p:txBody>
          <a:bodyPr wrap="square" lIns="0" tIns="0" rIns="0" bIns="0" rtlCol="0" anchor="ctr"/>
          <a:lstStyle/>
          <a:p>
            <a:pPr marL="0" indent="0">
              <a:buNone/>
            </a:pPr>
            <a:r>
              <a:rPr lang="en-GB" sz="1800" noProof="0" dirty="0">
                <a:solidFill>
                  <a:srgbClr val="23303F"/>
                </a:solidFill>
                <a:latin typeface="Calibri" pitchFamily="34" charset="0"/>
                <a:ea typeface="Calibri" pitchFamily="34" charset="-122"/>
                <a:cs typeface="Calibri" pitchFamily="34" charset="-120"/>
              </a:rPr>
              <a:t>Twenty questions to check what you already know before you begin.</a:t>
            </a:r>
            <a:endParaRPr lang="en-GB" sz="1800" noProof="0" dirty="0"/>
          </a:p>
        </p:txBody>
      </p:sp>
      <p:sp>
        <p:nvSpPr>
          <p:cNvPr id="7" name="Shape 5"/>
          <p:cNvSpPr/>
          <p:nvPr/>
        </p:nvSpPr>
        <p:spPr>
          <a:xfrm>
            <a:off x="566928" y="2194560"/>
            <a:ext cx="3563112" cy="2377440"/>
          </a:xfrm>
          <a:prstGeom prst="roundRect">
            <a:avLst>
              <a:gd name="adj" fmla="val 3462"/>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22960" y="2377440"/>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Twenty questions</a:t>
            </a:r>
            <a:endParaRPr lang="en-GB" sz="2000" noProof="0" dirty="0"/>
          </a:p>
        </p:txBody>
      </p:sp>
      <p:sp>
        <p:nvSpPr>
          <p:cNvPr id="9" name="Text 7"/>
          <p:cNvSpPr txBox="1"/>
          <p:nvPr/>
        </p:nvSpPr>
        <p:spPr>
          <a:xfrm>
            <a:off x="822960" y="2980944"/>
            <a:ext cx="3051048" cy="140817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One question on each screen, with four answer options.</a:t>
            </a:r>
            <a:endParaRPr lang="en-GB" sz="1800" noProof="0" dirty="0"/>
          </a:p>
        </p:txBody>
      </p:sp>
      <p:sp>
        <p:nvSpPr>
          <p:cNvPr id="10" name="Shape 8"/>
          <p:cNvSpPr/>
          <p:nvPr/>
        </p:nvSpPr>
        <p:spPr>
          <a:xfrm>
            <a:off x="4312920" y="2194560"/>
            <a:ext cx="3563112" cy="2377440"/>
          </a:xfrm>
          <a:prstGeom prst="roundRect">
            <a:avLst>
              <a:gd name="adj" fmla="val 3462"/>
            </a:avLst>
          </a:prstGeom>
          <a:solidFill>
            <a:srgbClr val="F3F6FB"/>
          </a:solidFill>
          <a:ln w="12700">
            <a:solidFill>
              <a:srgbClr val="E0E3EA"/>
            </a:solidFill>
            <a:prstDash val="solid"/>
          </a:ln>
        </p:spPr>
        <p:txBody>
          <a:bodyPr/>
          <a:lstStyle/>
          <a:p>
            <a:endParaRPr lang="en-GB" noProof="0" dirty="0"/>
          </a:p>
        </p:txBody>
      </p:sp>
      <p:sp>
        <p:nvSpPr>
          <p:cNvPr id="11" name="Text 9"/>
          <p:cNvSpPr txBox="1"/>
          <p:nvPr/>
        </p:nvSpPr>
        <p:spPr>
          <a:xfrm>
            <a:off x="4568952" y="2377440"/>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Not graded for you</a:t>
            </a:r>
            <a:endParaRPr lang="en-GB" sz="2000" noProof="0" dirty="0"/>
          </a:p>
        </p:txBody>
      </p:sp>
      <p:sp>
        <p:nvSpPr>
          <p:cNvPr id="12" name="Text 10"/>
          <p:cNvSpPr txBox="1"/>
          <p:nvPr/>
        </p:nvSpPr>
        <p:spPr>
          <a:xfrm>
            <a:off x="4568952" y="2980944"/>
            <a:ext cx="3051048" cy="140817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Your answers set your starting point. They do not affect your result.</a:t>
            </a:r>
            <a:endParaRPr lang="en-GB" sz="1800" noProof="0" dirty="0"/>
          </a:p>
        </p:txBody>
      </p:sp>
      <p:sp>
        <p:nvSpPr>
          <p:cNvPr id="13" name="Shape 11"/>
          <p:cNvSpPr/>
          <p:nvPr/>
        </p:nvSpPr>
        <p:spPr>
          <a:xfrm>
            <a:off x="8058912" y="2194560"/>
            <a:ext cx="3563112" cy="2377440"/>
          </a:xfrm>
          <a:prstGeom prst="roundRect">
            <a:avLst>
              <a:gd name="adj" fmla="val 3462"/>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314944" y="2377440"/>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You will meet these ideas again</a:t>
            </a:r>
            <a:endParaRPr lang="en-GB" sz="2000" noProof="0" dirty="0"/>
          </a:p>
        </p:txBody>
      </p:sp>
      <p:sp>
        <p:nvSpPr>
          <p:cNvPr id="15" name="Text 13"/>
          <p:cNvSpPr txBox="1"/>
          <p:nvPr/>
        </p:nvSpPr>
        <p:spPr>
          <a:xfrm>
            <a:off x="8314944" y="2980944"/>
            <a:ext cx="3051048" cy="140817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The post-test at the end covers the same concepts, with answers and feedback.</a:t>
            </a:r>
            <a:endParaRPr lang="en-GB" sz="1800"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6</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BASELINE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Pre-test: question 1 of 20</a:t>
            </a:r>
            <a:endParaRPr lang="en-GB"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Nearly all cervical cancers are caused by:</a:t>
            </a:r>
            <a:endParaRPr lang="en-GB"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A bacterial infection</a:t>
            </a:r>
            <a:endParaRPr lang="en-GB" sz="1800" noProof="0" dirty="0"/>
          </a:p>
        </p:txBody>
      </p:sp>
      <p:sp>
        <p:nvSpPr>
          <p:cNvPr id="9" name="Shape 7"/>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841248" y="320954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Persistent infection with a high-risk type of HPV</a:t>
            </a:r>
            <a:endParaRPr lang="en-GB"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An inherited gene fault</a:t>
            </a:r>
            <a:endParaRPr lang="en-GB"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Poor diet</a:t>
            </a:r>
            <a:endParaRPr lang="en-GB" sz="1800" noProof="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7</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BASELINE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Pre-test: question 2 of 20</a:t>
            </a:r>
            <a:endParaRPr lang="en-GB"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Most cervical cancers are which type of tumour?</a:t>
            </a:r>
            <a:endParaRPr lang="en-GB"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Sarcoma</a:t>
            </a:r>
            <a:endParaRPr lang="en-GB" sz="1800" noProof="0" dirty="0"/>
          </a:p>
        </p:txBody>
      </p:sp>
      <p:sp>
        <p:nvSpPr>
          <p:cNvPr id="13" name="Shape 11"/>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320954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Melanoma</a:t>
            </a:r>
            <a:endParaRPr lang="en-GB"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Lymphoma</a:t>
            </a:r>
            <a:endParaRPr lang="en-GB" sz="1800" noProof="0" dirty="0"/>
          </a:p>
        </p:txBody>
      </p:sp>
      <p:sp>
        <p:nvSpPr>
          <p:cNvPr id="9" name="Shape 7"/>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841248" y="467258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Squamous cell carcinoma</a:t>
            </a:r>
            <a:endParaRPr lang="en-GB" sz="1800"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8</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BASELINE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Pre-test: question 3 of 20</a:t>
            </a:r>
            <a:endParaRPr lang="en-GB"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Cervical cancer usually develops from:</a:t>
            </a:r>
            <a:endParaRPr lang="en-GB" sz="2000" noProof="0" dirty="0"/>
          </a:p>
        </p:txBody>
      </p:sp>
      <p:sp>
        <p:nvSpPr>
          <p:cNvPr id="9" name="Shape 7"/>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841248" y="247802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Precancerous changes in the transformation zone</a:t>
            </a:r>
            <a:endParaRPr lang="en-GB" sz="1800" noProof="0" dirty="0"/>
          </a:p>
        </p:txBody>
      </p:sp>
      <p:sp>
        <p:nvSpPr>
          <p:cNvPr id="7" name="Shape 5"/>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320954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Uterine fibroids</a:t>
            </a:r>
            <a:endParaRPr lang="en-GB"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Ovarian cysts</a:t>
            </a:r>
            <a:endParaRPr lang="en-GB"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Untreated candidiasis</a:t>
            </a:r>
            <a:endParaRPr lang="en-GB" sz="1800"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9</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BASELINE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Pre-test: question 4 of 20</a:t>
            </a:r>
            <a:endParaRPr lang="en-GB"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Early cervical cancer and cervical precancer usually cause:</a:t>
            </a:r>
            <a:endParaRPr lang="en-GB"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Severe pelvic pain</a:t>
            </a:r>
            <a:endParaRPr lang="en-GB" sz="1800" noProof="0" dirty="0"/>
          </a:p>
        </p:txBody>
      </p:sp>
      <p:sp>
        <p:nvSpPr>
          <p:cNvPr id="11" name="Shape 9"/>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20954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Immediate heavy bleeding</a:t>
            </a:r>
            <a:endParaRPr lang="en-GB" sz="1800" noProof="0" dirty="0"/>
          </a:p>
        </p:txBody>
      </p:sp>
      <p:sp>
        <p:nvSpPr>
          <p:cNvPr id="9" name="Shape 7"/>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841248" y="394106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Often no symptoms at all</a:t>
            </a:r>
            <a:endParaRPr lang="en-GB"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High fever</a:t>
            </a:r>
            <a:endParaRPr lang="en-GB" sz="1800" noProof="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10</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BASELINE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Pre-test: question 5 of 20</a:t>
            </a:r>
            <a:endParaRPr lang="en-GB"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HPV vaccination works best when it is given:</a:t>
            </a:r>
            <a:endParaRPr lang="en-GB" sz="2000" noProof="0" dirty="0"/>
          </a:p>
        </p:txBody>
      </p:sp>
      <p:sp>
        <p:nvSpPr>
          <p:cNvPr id="9" name="Shape 7"/>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841248" y="247802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Before exposure to HPV, starting at age 9</a:t>
            </a:r>
            <a:endParaRPr lang="en-GB" sz="1800" noProof="0" dirty="0"/>
          </a:p>
        </p:txBody>
      </p:sp>
      <p:sp>
        <p:nvSpPr>
          <p:cNvPr id="7" name="Shape 5"/>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320954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After a person becomes sexually active</a:t>
            </a:r>
            <a:endParaRPr lang="en-GB"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Only after the age of 30</a:t>
            </a:r>
            <a:endParaRPr lang="en-GB"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During pregnancy</a:t>
            </a:r>
            <a:endParaRPr lang="en-GB" sz="1800"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11</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BASELINE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Pre-test: question 6 of 20</a:t>
            </a:r>
            <a:endParaRPr lang="en-GB"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A positive HPV test means:</a:t>
            </a:r>
            <a:endParaRPr lang="en-GB"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Cervical cancer is confirmed</a:t>
            </a:r>
            <a:endParaRPr lang="en-GB" sz="1800" noProof="0" dirty="0"/>
          </a:p>
        </p:txBody>
      </p:sp>
      <p:sp>
        <p:nvSpPr>
          <p:cNvPr id="9" name="Shape 7"/>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841248" y="320954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High-risk HPV was detected and the next step in the screening pathway is needed</a:t>
            </a:r>
            <a:endParaRPr lang="en-GB"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No action is needed</a:t>
            </a:r>
            <a:endParaRPr lang="en-GB"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Antibiotics should be started</a:t>
            </a:r>
            <a:endParaRPr lang="en-GB" sz="180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12</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BASELINE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Pre-test: question 7 of 20</a:t>
            </a:r>
            <a:endParaRPr lang="en-GB"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Screening applies to:</a:t>
            </a:r>
            <a:endParaRPr lang="en-GB"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Women with concerning symptoms</a:t>
            </a:r>
            <a:endParaRPr lang="en-GB" sz="1800" noProof="0" dirty="0"/>
          </a:p>
        </p:txBody>
      </p:sp>
      <p:sp>
        <p:nvSpPr>
          <p:cNvPr id="9" name="Shape 7"/>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841248" y="320954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Eligible women who have no symptoms</a:t>
            </a:r>
            <a:endParaRPr lang="en-GB"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Women already diagnosed with cancer</a:t>
            </a:r>
            <a:endParaRPr lang="en-GB"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Nobody</a:t>
            </a:r>
            <a:endParaRPr lang="en-GB" sz="1800"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13</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BASELINE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Pre-test: question 8 of 20</a:t>
            </a:r>
            <a:endParaRPr lang="en-GB"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Compared with other women, women living with HIV have:</a:t>
            </a:r>
            <a:endParaRPr lang="en-GB"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The same risk of cervical cancer</a:t>
            </a:r>
            <a:endParaRPr lang="en-GB" sz="1800" noProof="0" dirty="0"/>
          </a:p>
        </p:txBody>
      </p:sp>
      <p:sp>
        <p:nvSpPr>
          <p:cNvPr id="13" name="Shape 11"/>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320954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No need for screening</a:t>
            </a:r>
            <a:endParaRPr lang="en-GB"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A lower risk</a:t>
            </a:r>
            <a:endParaRPr lang="en-GB" sz="1800" noProof="0" dirty="0"/>
          </a:p>
        </p:txBody>
      </p:sp>
      <p:sp>
        <p:nvSpPr>
          <p:cNvPr id="9" name="Shape 7"/>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841248" y="467258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A higher risk of persistent HPV infection, precancer and cervical cancer</a:t>
            </a:r>
            <a:endParaRPr lang="en-GB" sz="1800" noProof="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14</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BASELINE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Pre-test: question 9 of 20</a:t>
            </a:r>
            <a:endParaRPr lang="en-GB"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Thermal ablation is used to:</a:t>
            </a:r>
            <a:endParaRPr lang="en-GB" sz="2000" noProof="0" dirty="0"/>
          </a:p>
        </p:txBody>
      </p:sp>
      <p:sp>
        <p:nvSpPr>
          <p:cNvPr id="9" name="Shape 7"/>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841248" y="247802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Treat an eligible precancerous lesion of the cervix</a:t>
            </a:r>
            <a:endParaRPr lang="en-GB" sz="1800" noProof="0" dirty="0"/>
          </a:p>
        </p:txBody>
      </p:sp>
      <p:sp>
        <p:nvSpPr>
          <p:cNvPr id="7" name="Shape 5"/>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320954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Remove an invasive cancer</a:t>
            </a:r>
            <a:endParaRPr lang="en-GB"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Confirm a diagnosis</a:t>
            </a:r>
            <a:endParaRPr lang="en-GB"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Replace HPV testing</a:t>
            </a:r>
            <a:endParaRPr lang="en-GB" sz="1800" noProof="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15</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BASELINE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Pre-test: question 10 of 20</a:t>
            </a:r>
            <a:endParaRPr lang="en-GB"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Invasive cervical cancer is confirmed by:</a:t>
            </a:r>
            <a:endParaRPr lang="en-GB"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An HPV test alone</a:t>
            </a:r>
            <a:endParaRPr lang="en-GB" sz="1800" noProof="0" dirty="0"/>
          </a:p>
        </p:txBody>
      </p:sp>
      <p:sp>
        <p:nvSpPr>
          <p:cNvPr id="9" name="Shape 7"/>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841248" y="320954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Visual inspection with acetic acid alone</a:t>
            </a:r>
            <a:endParaRPr lang="en-GB"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Biopsy and histopathology</a:t>
            </a:r>
            <a:endParaRPr lang="en-GB"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Ultrasound alone</a:t>
            </a:r>
            <a:endParaRPr lang="en-GB" sz="1800" noProof="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16</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BASELINE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Pre-test: question 11 of 20</a:t>
            </a:r>
            <a:endParaRPr lang="en-GB"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Bleeding after sexual intercourse in an adult woman should be:</a:t>
            </a:r>
            <a:endParaRPr lang="en-GB"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Assumed to be normal</a:t>
            </a:r>
            <a:endParaRPr lang="en-GB" sz="1800" noProof="0" dirty="0"/>
          </a:p>
        </p:txBody>
      </p:sp>
      <p:sp>
        <p:nvSpPr>
          <p:cNvPr id="13" name="Shape 11"/>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320954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Treated with antibiotics only</a:t>
            </a:r>
            <a:endParaRPr lang="en-GB"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Ignored if it is painless</a:t>
            </a:r>
            <a:endParaRPr lang="en-GB" sz="1800" noProof="0" dirty="0"/>
          </a:p>
        </p:txBody>
      </p:sp>
      <p:sp>
        <p:nvSpPr>
          <p:cNvPr id="9" name="Shape 7"/>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841248" y="467258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Assessed properly, because several causes are possible</a:t>
            </a:r>
            <a:endParaRPr lang="en-GB" sz="1800" noProof="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17</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BASELINE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Pre-test: question 12 of 20</a:t>
            </a:r>
            <a:endParaRPr lang="en-GB"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An acetowhite area seen on visual inspection with acetic acid means:</a:t>
            </a:r>
            <a:endParaRPr lang="en-GB"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Cervical cancer is confirmed</a:t>
            </a:r>
            <a:endParaRPr lang="en-GB" sz="1800" noProof="0" dirty="0"/>
          </a:p>
        </p:txBody>
      </p:sp>
      <p:sp>
        <p:nvSpPr>
          <p:cNvPr id="13" name="Shape 11"/>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320954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The woman has an infection</a:t>
            </a:r>
            <a:endParaRPr lang="en-GB"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Nothing at all</a:t>
            </a:r>
            <a:endParaRPr lang="en-GB" sz="1800" noProof="0" dirty="0"/>
          </a:p>
        </p:txBody>
      </p:sp>
      <p:sp>
        <p:nvSpPr>
          <p:cNvPr id="9" name="Shape 7"/>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841248" y="467258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A cervical change that needs management or further assessment</a:t>
            </a:r>
            <a:endParaRPr lang="en-GB" sz="1800" noProof="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18</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BASELINE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Pre-test: question 13 of 20</a:t>
            </a:r>
            <a:endParaRPr lang="en-GB"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Invasive cervical cancer is staged using:</a:t>
            </a:r>
            <a:endParaRPr lang="en-GB" sz="2000" noProof="0" dirty="0"/>
          </a:p>
        </p:txBody>
      </p:sp>
      <p:sp>
        <p:nvSpPr>
          <p:cNvPr id="9" name="Shape 7"/>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841248" y="247802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The FIGO system</a:t>
            </a:r>
            <a:endParaRPr lang="en-GB" sz="1800" noProof="0" dirty="0"/>
          </a:p>
        </p:txBody>
      </p:sp>
      <p:sp>
        <p:nvSpPr>
          <p:cNvPr id="7" name="Shape 5"/>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320954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The Gleason score</a:t>
            </a:r>
            <a:endParaRPr lang="en-GB"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The Bethesda system</a:t>
            </a:r>
            <a:endParaRPr lang="en-GB"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The Dukes classification</a:t>
            </a:r>
            <a:endParaRPr lang="en-GB" sz="1800" noProof="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19</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BASELINE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Pre-test: question 14 of 20</a:t>
            </a:r>
            <a:endParaRPr lang="en-GB"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Which finding needs urgent, same day assessment?</a:t>
            </a:r>
            <a:endParaRPr lang="en-GB" sz="2000" noProof="0" dirty="0"/>
          </a:p>
        </p:txBody>
      </p:sp>
      <p:sp>
        <p:nvSpPr>
          <p:cNvPr id="9" name="Shape 7"/>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841248" y="247802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Heavy vaginal bleeding with dizziness and pallor</a:t>
            </a:r>
            <a:endParaRPr lang="en-GB" sz="1800" noProof="0" dirty="0"/>
          </a:p>
        </p:txBody>
      </p:sp>
      <p:sp>
        <p:nvSpPr>
          <p:cNvPr id="7" name="Shape 5"/>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320954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Mild vaginal discharge</a:t>
            </a:r>
            <a:endParaRPr lang="en-GB"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Occasional backache</a:t>
            </a:r>
            <a:endParaRPr lang="en-GB"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Mild vulval itching</a:t>
            </a:r>
            <a:endParaRPr lang="en-GB" sz="1800" noProof="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20</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BASELINE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Pre-test: question 15 of 20</a:t>
            </a:r>
            <a:endParaRPr lang="en-GB"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Stage describes:</a:t>
            </a:r>
            <a:endParaRPr lang="en-GB"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How abnormal the cells look under the microscope</a:t>
            </a:r>
            <a:endParaRPr lang="en-GB" sz="1800" noProof="0" dirty="0"/>
          </a:p>
        </p:txBody>
      </p:sp>
      <p:sp>
        <p:nvSpPr>
          <p:cNvPr id="11" name="Shape 9"/>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20954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The HPV type detected</a:t>
            </a:r>
            <a:endParaRPr lang="en-GB" sz="1800" noProof="0" dirty="0"/>
          </a:p>
        </p:txBody>
      </p:sp>
      <p:sp>
        <p:nvSpPr>
          <p:cNvPr id="9" name="Shape 7"/>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841248" y="394106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How far the cancer has spread</a:t>
            </a:r>
            <a:endParaRPr lang="en-GB"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The treatment chosen</a:t>
            </a:r>
            <a:endParaRPr lang="en-GB" sz="1800" noProof="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21</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BASELINE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Pre-test: question 16 of 20</a:t>
            </a:r>
            <a:endParaRPr lang="en-GB"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A high-grade cervical precancerous lesion is:</a:t>
            </a:r>
            <a:endParaRPr lang="en-GB"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Invasive cancer</a:t>
            </a:r>
            <a:endParaRPr lang="en-GB" sz="1800" noProof="0" dirty="0"/>
          </a:p>
        </p:txBody>
      </p:sp>
      <p:sp>
        <p:nvSpPr>
          <p:cNvPr id="9" name="Shape 7"/>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841248" y="320954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Not cancer, but a lesion that can progress if it is not treated</a:t>
            </a:r>
            <a:endParaRPr lang="en-GB"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Never important</a:t>
            </a:r>
            <a:endParaRPr lang="en-GB"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A type of fibroid</a:t>
            </a:r>
            <a:endParaRPr lang="en-GB" sz="1800" noProof="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22</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BASELINE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Pre-test: question 17 of 20</a:t>
            </a:r>
            <a:endParaRPr lang="en-GB"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Brachytherapy in cervical cancer:</a:t>
            </a:r>
            <a:endParaRPr lang="en-GB"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Has no established role</a:t>
            </a:r>
            <a:endParaRPr lang="en-GB" sz="1800" noProof="0" dirty="0"/>
          </a:p>
        </p:txBody>
      </p:sp>
      <p:sp>
        <p:nvSpPr>
          <p:cNvPr id="9" name="Shape 7"/>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841248" y="320954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Delivers radiation close to the cervix and is an important part of curative treatment for many locally advanced cancers</a:t>
            </a:r>
            <a:endParaRPr lang="en-GB"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Replaces surgery in every case</a:t>
            </a:r>
            <a:endParaRPr lang="en-GB"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Is a type of chemotherapy</a:t>
            </a:r>
            <a:endParaRPr lang="en-GB" sz="1800" noProof="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23</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BASELINE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Pre-test: question 18 of 20</a:t>
            </a:r>
            <a:endParaRPr lang="en-GB"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After treatment of a cervical precancerous lesion, a woman:</a:t>
            </a:r>
            <a:endParaRPr lang="en-GB"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Needs no further screening</a:t>
            </a:r>
            <a:endParaRPr lang="en-GB" sz="1800" noProof="0" dirty="0"/>
          </a:p>
        </p:txBody>
      </p:sp>
      <p:sp>
        <p:nvSpPr>
          <p:cNvPr id="11" name="Shape 9"/>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20954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Becomes immune to HPV</a:t>
            </a:r>
            <a:endParaRPr lang="en-GB" sz="1800" noProof="0" dirty="0"/>
          </a:p>
        </p:txBody>
      </p:sp>
      <p:sp>
        <p:nvSpPr>
          <p:cNvPr id="9" name="Shape 7"/>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841248" y="394106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Needs planned follow-up testing</a:t>
            </a:r>
            <a:endParaRPr lang="en-GB"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Must stop having children</a:t>
            </a:r>
            <a:endParaRPr lang="en-GB" sz="1800" noProof="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24</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BASELINE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Pre-test: question 19 of 20</a:t>
            </a:r>
            <a:endParaRPr lang="en-GB"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Palliative care is:</a:t>
            </a:r>
            <a:endParaRPr lang="en-GB"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Only for the last days of life</a:t>
            </a:r>
            <a:endParaRPr lang="en-GB" sz="1800" noProof="0" dirty="0"/>
          </a:p>
        </p:txBody>
      </p:sp>
      <p:sp>
        <p:nvSpPr>
          <p:cNvPr id="11" name="Shape 9"/>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20954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The same as stopping care</a:t>
            </a:r>
            <a:endParaRPr lang="en-GB" sz="1800" noProof="0" dirty="0"/>
          </a:p>
        </p:txBody>
      </p:sp>
      <p:sp>
        <p:nvSpPr>
          <p:cNvPr id="9" name="Shape 7"/>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841248" y="394106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Symptom relief and quality of life support, alongside cancer treatment when appropriate</a:t>
            </a:r>
            <a:endParaRPr lang="en-GB" sz="1800" noProof="0" dirty="0"/>
          </a:p>
        </p:txBody>
      </p:sp>
      <p:sp>
        <p:nvSpPr>
          <p:cNvPr id="13" name="Shape 11"/>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67258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Only pain medicine</a:t>
            </a:r>
            <a:endParaRPr lang="en-GB" sz="1800" noProof="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25</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BASELINE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Pre-test: question 20 of 20</a:t>
            </a:r>
            <a:endParaRPr lang="en-GB" sz="3200" noProof="0" dirty="0"/>
          </a:p>
        </p:txBody>
      </p:sp>
      <p:sp>
        <p:nvSpPr>
          <p:cNvPr id="6" name="Text 4"/>
          <p:cNvSpPr txBox="1"/>
          <p:nvPr/>
        </p:nvSpPr>
        <p:spPr>
          <a:xfrm>
            <a:off x="566928" y="1691640"/>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A woman with a cervix that looks suspicious for invasive cancer should:</a:t>
            </a:r>
            <a:endParaRPr lang="en-GB" sz="2000" noProof="0" dirty="0"/>
          </a:p>
        </p:txBody>
      </p:sp>
      <p:sp>
        <p:nvSpPr>
          <p:cNvPr id="7" name="Shape 5"/>
          <p:cNvSpPr/>
          <p:nvPr/>
        </p:nvSpPr>
        <p:spPr>
          <a:xfrm>
            <a:off x="566928" y="247802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47802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Receive thermal ablation at the same visit</a:t>
            </a:r>
            <a:endParaRPr lang="en-GB" sz="1800" noProof="0" dirty="0"/>
          </a:p>
        </p:txBody>
      </p:sp>
      <p:sp>
        <p:nvSpPr>
          <p:cNvPr id="13" name="Shape 11"/>
          <p:cNvSpPr/>
          <p:nvPr/>
        </p:nvSpPr>
        <p:spPr>
          <a:xfrm>
            <a:off x="566928" y="320954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320954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Repeat the HPV test</a:t>
            </a:r>
            <a:endParaRPr lang="en-GB" sz="1800" noProof="0" dirty="0"/>
          </a:p>
        </p:txBody>
      </p:sp>
      <p:sp>
        <p:nvSpPr>
          <p:cNvPr id="11" name="Shape 9"/>
          <p:cNvSpPr/>
          <p:nvPr/>
        </p:nvSpPr>
        <p:spPr>
          <a:xfrm>
            <a:off x="566928" y="394106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94106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Be reassured and reviewed in a year</a:t>
            </a:r>
            <a:endParaRPr lang="en-GB" sz="1800" noProof="0" dirty="0"/>
          </a:p>
        </p:txBody>
      </p:sp>
      <p:sp>
        <p:nvSpPr>
          <p:cNvPr id="9" name="Shape 7"/>
          <p:cNvSpPr/>
          <p:nvPr/>
        </p:nvSpPr>
        <p:spPr>
          <a:xfrm>
            <a:off x="566928" y="4672584"/>
            <a:ext cx="11055096" cy="621792"/>
          </a:xfrm>
          <a:prstGeom prst="roundRect">
            <a:avLst>
              <a:gd name="adj" fmla="val 8824"/>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841248" y="4672584"/>
            <a:ext cx="10506456" cy="621792"/>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Be referred for diagnostic assessment and biopsy</a:t>
            </a:r>
            <a:endParaRPr lang="en-GB" sz="1800" noProof="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2F5C"/>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8FA3C2"/>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8FA3C2"/>
                </a:solidFill>
                <a:latin typeface="Calibri" pitchFamily="34" charset="0"/>
                <a:ea typeface="Calibri" pitchFamily="34" charset="-122"/>
                <a:cs typeface="Calibri" pitchFamily="34" charset="-120"/>
              </a:rPr>
              <a:t>Screen 26</a:t>
            </a:r>
            <a:endParaRPr lang="en-GB" sz="1100" noProof="0" dirty="0"/>
          </a:p>
        </p:txBody>
      </p:sp>
      <p:sp>
        <p:nvSpPr>
          <p:cNvPr id="4" name="Text 2"/>
          <p:cNvSpPr txBox="1"/>
          <p:nvPr/>
        </p:nvSpPr>
        <p:spPr>
          <a:xfrm>
            <a:off x="7680960" y="365760"/>
            <a:ext cx="4023360" cy="5852160"/>
          </a:xfrm>
          <a:prstGeom prst="rect">
            <a:avLst/>
          </a:prstGeom>
          <a:noFill/>
          <a:ln/>
        </p:spPr>
        <p:txBody>
          <a:bodyPr wrap="square" lIns="0" tIns="0" rIns="0" bIns="0" rtlCol="0" anchor="ctr"/>
          <a:lstStyle/>
          <a:p>
            <a:pPr marL="0" indent="0" algn="r">
              <a:buNone/>
            </a:pPr>
            <a:r>
              <a:rPr lang="en-GB" sz="30000" b="1" noProof="0" dirty="0">
                <a:solidFill>
                  <a:srgbClr val="16406F"/>
                </a:solidFill>
                <a:latin typeface="Cambria" pitchFamily="34" charset="0"/>
                <a:ea typeface="Cambria" pitchFamily="34" charset="-122"/>
                <a:cs typeface="Cambria" pitchFamily="34" charset="-120"/>
              </a:rPr>
              <a:t>1</a:t>
            </a:r>
            <a:endParaRPr lang="en-GB" sz="30000" noProof="0" dirty="0"/>
          </a:p>
        </p:txBody>
      </p:sp>
      <p:sp>
        <p:nvSpPr>
          <p:cNvPr id="5" name="Text 3"/>
          <p:cNvSpPr txBox="1"/>
          <p:nvPr/>
        </p:nvSpPr>
        <p:spPr>
          <a:xfrm>
            <a:off x="566928" y="1874520"/>
            <a:ext cx="7315200" cy="329184"/>
          </a:xfrm>
          <a:prstGeom prst="rect">
            <a:avLst/>
          </a:prstGeom>
          <a:noFill/>
          <a:ln/>
        </p:spPr>
        <p:txBody>
          <a:bodyPr wrap="square" lIns="0" tIns="0" rIns="0" bIns="0" rtlCol="0" anchor="ctr"/>
          <a:lstStyle/>
          <a:p>
            <a:pPr marL="0" indent="0">
              <a:buNone/>
            </a:pPr>
            <a:r>
              <a:rPr lang="en-GB" sz="1300" b="1" kern="0" spc="300" noProof="0" dirty="0">
                <a:solidFill>
                  <a:srgbClr val="9FB8DA"/>
                </a:solidFill>
                <a:latin typeface="Calibri" pitchFamily="34" charset="0"/>
                <a:ea typeface="Calibri" pitchFamily="34" charset="-122"/>
                <a:cs typeface="Calibri" pitchFamily="34" charset="-120"/>
              </a:rPr>
              <a:t>S E S S I O N   1</a:t>
            </a:r>
            <a:endParaRPr lang="en-GB" sz="1300" noProof="0" dirty="0"/>
          </a:p>
        </p:txBody>
      </p:sp>
      <p:sp>
        <p:nvSpPr>
          <p:cNvPr id="6" name="Text 4"/>
          <p:cNvSpPr txBox="1"/>
          <p:nvPr/>
        </p:nvSpPr>
        <p:spPr>
          <a:xfrm>
            <a:off x="566928" y="2286000"/>
            <a:ext cx="7680960" cy="1371600"/>
          </a:xfrm>
          <a:prstGeom prst="rect">
            <a:avLst/>
          </a:prstGeom>
          <a:noFill/>
          <a:ln/>
        </p:spPr>
        <p:txBody>
          <a:bodyPr wrap="square" lIns="0" tIns="0" rIns="0" bIns="0" rtlCol="0" anchor="ctr"/>
          <a:lstStyle/>
          <a:p>
            <a:pPr marL="0" indent="0">
              <a:buNone/>
            </a:pPr>
            <a:r>
              <a:rPr lang="en-GB" sz="4000" b="1" noProof="0" dirty="0">
                <a:solidFill>
                  <a:srgbClr val="FFFFFF"/>
                </a:solidFill>
                <a:latin typeface="Cambria" pitchFamily="34" charset="0"/>
                <a:ea typeface="Cambria" pitchFamily="34" charset="-122"/>
                <a:cs typeface="Cambria" pitchFamily="34" charset="-120"/>
              </a:rPr>
              <a:t>Understanding cervical cancer</a:t>
            </a:r>
            <a:endParaRPr lang="en-GB" sz="4000" noProof="0" dirty="0"/>
          </a:p>
        </p:txBody>
      </p:sp>
      <p:sp>
        <p:nvSpPr>
          <p:cNvPr id="7" name="Text 5"/>
          <p:cNvSpPr txBox="1"/>
          <p:nvPr/>
        </p:nvSpPr>
        <p:spPr>
          <a:xfrm>
            <a:off x="566928" y="3794760"/>
            <a:ext cx="7040880" cy="1463040"/>
          </a:xfrm>
          <a:prstGeom prst="rect">
            <a:avLst/>
          </a:prstGeom>
          <a:noFill/>
          <a:ln/>
        </p:spPr>
        <p:txBody>
          <a:bodyPr wrap="square" lIns="0" tIns="0" rIns="0" bIns="0" rtlCol="0" anchor="t"/>
          <a:lstStyle/>
          <a:p>
            <a:pPr marL="0" indent="0">
              <a:lnSpc>
                <a:spcPct val="118000"/>
              </a:lnSpc>
              <a:buNone/>
            </a:pPr>
            <a:r>
              <a:rPr lang="en-GB" sz="1800" noProof="0" dirty="0">
                <a:solidFill>
                  <a:srgbClr val="C6D5EA"/>
                </a:solidFill>
                <a:latin typeface="Calibri" pitchFamily="34" charset="0"/>
                <a:ea typeface="Calibri" pitchFamily="34" charset="-122"/>
                <a:cs typeface="Calibri" pitchFamily="34" charset="-120"/>
              </a:rPr>
              <a:t>What cervical cancer is, where it develops, how a common virus causes it, how much of it there is in Rwanda, and what stage and grade mean.</a:t>
            </a:r>
            <a:endParaRPr lang="en-GB" sz="1800" noProof="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27</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1</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Learning objectives</a:t>
            </a:r>
            <a:endParaRPr lang="en-GB" sz="3200" noProof="0" dirty="0"/>
          </a:p>
        </p:txBody>
      </p:sp>
      <p:sp>
        <p:nvSpPr>
          <p:cNvPr id="6" name="Text 4"/>
          <p:cNvSpPr txBox="1"/>
          <p:nvPr/>
        </p:nvSpPr>
        <p:spPr>
          <a:xfrm>
            <a:off x="566928" y="1554480"/>
            <a:ext cx="11055096" cy="384048"/>
          </a:xfrm>
          <a:prstGeom prst="rect">
            <a:avLst/>
          </a:prstGeom>
          <a:noFill/>
          <a:ln/>
        </p:spPr>
        <p:txBody>
          <a:bodyPr wrap="square" lIns="0" tIns="0" rIns="0" bIns="0" rtlCol="0" anchor="ctr"/>
          <a:lstStyle/>
          <a:p>
            <a:pPr marL="0" indent="0">
              <a:buNone/>
            </a:pPr>
            <a:r>
              <a:rPr lang="en-GB" sz="1800" noProof="0" dirty="0">
                <a:solidFill>
                  <a:srgbClr val="23303F"/>
                </a:solidFill>
                <a:latin typeface="Calibri" pitchFamily="34" charset="0"/>
                <a:ea typeface="Calibri" pitchFamily="34" charset="-122"/>
                <a:cs typeface="Calibri" pitchFamily="34" charset="-120"/>
              </a:rPr>
              <a:t>By the end of this session you will be able to:</a:t>
            </a:r>
            <a:endParaRPr lang="en-GB" sz="1800" noProof="0" dirty="0"/>
          </a:p>
        </p:txBody>
      </p:sp>
      <p:sp>
        <p:nvSpPr>
          <p:cNvPr id="7" name="Shape 5"/>
          <p:cNvSpPr/>
          <p:nvPr/>
        </p:nvSpPr>
        <p:spPr>
          <a:xfrm>
            <a:off x="566928" y="1975104"/>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8" name="Shape 6"/>
          <p:cNvSpPr/>
          <p:nvPr/>
        </p:nvSpPr>
        <p:spPr>
          <a:xfrm>
            <a:off x="804672" y="2069889"/>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9" name="Text 7"/>
          <p:cNvSpPr txBox="1"/>
          <p:nvPr/>
        </p:nvSpPr>
        <p:spPr>
          <a:xfrm>
            <a:off x="804672" y="2069889"/>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1</a:t>
            </a:r>
            <a:endParaRPr lang="en-GB" sz="1400" noProof="0" dirty="0"/>
          </a:p>
        </p:txBody>
      </p:sp>
      <p:sp>
        <p:nvSpPr>
          <p:cNvPr id="10" name="Text 8"/>
          <p:cNvSpPr txBox="1"/>
          <p:nvPr/>
        </p:nvSpPr>
        <p:spPr>
          <a:xfrm>
            <a:off x="1463040" y="2029968"/>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Describe what cervical cancer is and where in the cervix it develops.</a:t>
            </a:r>
            <a:endParaRPr lang="en-GB" sz="1800" noProof="0" dirty="0"/>
          </a:p>
        </p:txBody>
      </p:sp>
      <p:sp>
        <p:nvSpPr>
          <p:cNvPr id="11" name="Shape 9"/>
          <p:cNvSpPr/>
          <p:nvPr/>
        </p:nvSpPr>
        <p:spPr>
          <a:xfrm>
            <a:off x="566928" y="2686998"/>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12" name="Shape 10"/>
          <p:cNvSpPr/>
          <p:nvPr/>
        </p:nvSpPr>
        <p:spPr>
          <a:xfrm>
            <a:off x="804672" y="2781783"/>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13" name="Text 11"/>
          <p:cNvSpPr txBox="1"/>
          <p:nvPr/>
        </p:nvSpPr>
        <p:spPr>
          <a:xfrm>
            <a:off x="804672" y="2781783"/>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2</a:t>
            </a:r>
            <a:endParaRPr lang="en-GB" sz="1400" noProof="0" dirty="0"/>
          </a:p>
        </p:txBody>
      </p:sp>
      <p:sp>
        <p:nvSpPr>
          <p:cNvPr id="14" name="Text 12"/>
          <p:cNvSpPr txBox="1"/>
          <p:nvPr/>
        </p:nvSpPr>
        <p:spPr>
          <a:xfrm>
            <a:off x="1463040" y="2741862"/>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Explain the anatomy of the cervix, the squamocolumnar junction and why the transformation zone matters.</a:t>
            </a:r>
            <a:endParaRPr lang="en-GB" sz="1800" noProof="0" dirty="0"/>
          </a:p>
        </p:txBody>
      </p:sp>
      <p:sp>
        <p:nvSpPr>
          <p:cNvPr id="15" name="Shape 13"/>
          <p:cNvSpPr/>
          <p:nvPr/>
        </p:nvSpPr>
        <p:spPr>
          <a:xfrm>
            <a:off x="566928" y="3398892"/>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16" name="Shape 14"/>
          <p:cNvSpPr/>
          <p:nvPr/>
        </p:nvSpPr>
        <p:spPr>
          <a:xfrm>
            <a:off x="804672" y="3493677"/>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17" name="Text 15"/>
          <p:cNvSpPr txBox="1"/>
          <p:nvPr/>
        </p:nvSpPr>
        <p:spPr>
          <a:xfrm>
            <a:off x="804672" y="3493677"/>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3</a:t>
            </a:r>
            <a:endParaRPr lang="en-GB" sz="1400" noProof="0" dirty="0"/>
          </a:p>
        </p:txBody>
      </p:sp>
      <p:sp>
        <p:nvSpPr>
          <p:cNvPr id="18" name="Text 16"/>
          <p:cNvSpPr txBox="1"/>
          <p:nvPr/>
        </p:nvSpPr>
        <p:spPr>
          <a:xfrm>
            <a:off x="1463040" y="3453756"/>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Explain how persistent high-risk HPV infection leads to cervical precancer.</a:t>
            </a:r>
            <a:endParaRPr lang="en-GB" sz="1800" noProof="0" dirty="0"/>
          </a:p>
        </p:txBody>
      </p:sp>
      <p:sp>
        <p:nvSpPr>
          <p:cNvPr id="19" name="Shape 17"/>
          <p:cNvSpPr/>
          <p:nvPr/>
        </p:nvSpPr>
        <p:spPr>
          <a:xfrm>
            <a:off x="566928" y="4110786"/>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20" name="Shape 18"/>
          <p:cNvSpPr/>
          <p:nvPr/>
        </p:nvSpPr>
        <p:spPr>
          <a:xfrm>
            <a:off x="804672" y="4205571"/>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21" name="Text 19"/>
          <p:cNvSpPr txBox="1"/>
          <p:nvPr/>
        </p:nvSpPr>
        <p:spPr>
          <a:xfrm>
            <a:off x="804672" y="4205571"/>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4</a:t>
            </a:r>
            <a:endParaRPr lang="en-GB" sz="1400" noProof="0" dirty="0"/>
          </a:p>
        </p:txBody>
      </p:sp>
      <p:sp>
        <p:nvSpPr>
          <p:cNvPr id="22" name="Text 20"/>
          <p:cNvSpPr txBox="1"/>
          <p:nvPr/>
        </p:nvSpPr>
        <p:spPr>
          <a:xfrm>
            <a:off x="1463040" y="4165650"/>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Identify cervical precancerous lesions and distinguish them from invasive cancer.</a:t>
            </a:r>
            <a:endParaRPr lang="en-GB" sz="1800" noProof="0" dirty="0"/>
          </a:p>
        </p:txBody>
      </p:sp>
      <p:sp>
        <p:nvSpPr>
          <p:cNvPr id="23" name="Shape 21"/>
          <p:cNvSpPr/>
          <p:nvPr/>
        </p:nvSpPr>
        <p:spPr>
          <a:xfrm>
            <a:off x="566928" y="4822679"/>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24" name="Shape 22"/>
          <p:cNvSpPr/>
          <p:nvPr/>
        </p:nvSpPr>
        <p:spPr>
          <a:xfrm>
            <a:off x="804672" y="4917465"/>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25" name="Text 23"/>
          <p:cNvSpPr txBox="1"/>
          <p:nvPr/>
        </p:nvSpPr>
        <p:spPr>
          <a:xfrm>
            <a:off x="804672" y="4917465"/>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5</a:t>
            </a:r>
            <a:endParaRPr lang="en-GB" sz="1400" noProof="0" dirty="0"/>
          </a:p>
        </p:txBody>
      </p:sp>
      <p:sp>
        <p:nvSpPr>
          <p:cNvPr id="26" name="Text 24"/>
          <p:cNvSpPr txBox="1"/>
          <p:nvPr/>
        </p:nvSpPr>
        <p:spPr>
          <a:xfrm>
            <a:off x="1463040" y="4877543"/>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Interpret the global, regional and Rwandan burden of cervical cancer.</a:t>
            </a:r>
            <a:endParaRPr lang="en-GB" sz="1800" noProof="0" dirty="0"/>
          </a:p>
        </p:txBody>
      </p:sp>
      <p:sp>
        <p:nvSpPr>
          <p:cNvPr id="27" name="Shape 25"/>
          <p:cNvSpPr/>
          <p:nvPr/>
        </p:nvSpPr>
        <p:spPr>
          <a:xfrm>
            <a:off x="566928" y="5534573"/>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28" name="Shape 26"/>
          <p:cNvSpPr/>
          <p:nvPr/>
        </p:nvSpPr>
        <p:spPr>
          <a:xfrm>
            <a:off x="804672" y="5629359"/>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29" name="Text 27"/>
          <p:cNvSpPr txBox="1"/>
          <p:nvPr/>
        </p:nvSpPr>
        <p:spPr>
          <a:xfrm>
            <a:off x="804672" y="5629359"/>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6</a:t>
            </a:r>
            <a:endParaRPr lang="en-GB" sz="1400" noProof="0" dirty="0"/>
          </a:p>
        </p:txBody>
      </p:sp>
      <p:sp>
        <p:nvSpPr>
          <p:cNvPr id="30" name="Text 28"/>
          <p:cNvSpPr txBox="1"/>
          <p:nvPr/>
        </p:nvSpPr>
        <p:spPr>
          <a:xfrm>
            <a:off x="1463040" y="5589437"/>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Explain FIGO staging and distinguish stage from grade.</a:t>
            </a:r>
            <a:endParaRPr lang="en-GB" sz="1800" noProof="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28</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1 · BRIEF DESCRIPTION</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What cervical cancer is</a:t>
            </a:r>
            <a:endParaRPr lang="en-GB" sz="3200" noProof="0" dirty="0"/>
          </a:p>
        </p:txBody>
      </p:sp>
      <p:sp>
        <p:nvSpPr>
          <p:cNvPr id="6" name="Shape 4"/>
          <p:cNvSpPr/>
          <p:nvPr/>
        </p:nvSpPr>
        <p:spPr>
          <a:xfrm>
            <a:off x="566928" y="1533096"/>
            <a:ext cx="3563112" cy="3675410"/>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822960" y="1715976"/>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The cervix</a:t>
            </a:r>
            <a:endParaRPr lang="en-GB" sz="2000" noProof="0" dirty="0"/>
          </a:p>
        </p:txBody>
      </p:sp>
      <p:sp>
        <p:nvSpPr>
          <p:cNvPr id="8" name="Text 6"/>
          <p:cNvSpPr txBox="1"/>
          <p:nvPr/>
        </p:nvSpPr>
        <p:spPr>
          <a:xfrm>
            <a:off x="822960" y="2319480"/>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The cervix is the lower part of the uterus. It opens into the vagina and can be seen directly with a speculum.</a:t>
            </a:r>
            <a:endParaRPr lang="en-GB" sz="1800" noProof="0" dirty="0"/>
          </a:p>
        </p:txBody>
      </p:sp>
      <p:sp>
        <p:nvSpPr>
          <p:cNvPr id="9" name="Shape 7"/>
          <p:cNvSpPr/>
          <p:nvPr/>
        </p:nvSpPr>
        <p:spPr>
          <a:xfrm>
            <a:off x="4312920" y="1533096"/>
            <a:ext cx="3563112" cy="3675410"/>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4568952" y="1715976"/>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Where it starts</a:t>
            </a:r>
            <a:endParaRPr lang="en-GB" sz="2000" noProof="0" dirty="0"/>
          </a:p>
        </p:txBody>
      </p:sp>
      <p:sp>
        <p:nvSpPr>
          <p:cNvPr id="11" name="Text 9"/>
          <p:cNvSpPr txBox="1"/>
          <p:nvPr/>
        </p:nvSpPr>
        <p:spPr>
          <a:xfrm>
            <a:off x="4568952" y="2319480"/>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Cervical cancer develops from abnormal cells in the cervix, most often squamous cell carcinoma, less often adenocarcinoma.</a:t>
            </a:r>
            <a:endParaRPr lang="en-GB" sz="1800" noProof="0" dirty="0"/>
          </a:p>
        </p:txBody>
      </p:sp>
      <p:sp>
        <p:nvSpPr>
          <p:cNvPr id="12" name="Shape 10"/>
          <p:cNvSpPr/>
          <p:nvPr/>
        </p:nvSpPr>
        <p:spPr>
          <a:xfrm>
            <a:off x="8058912" y="1533096"/>
            <a:ext cx="3563112" cy="3675410"/>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8314944" y="1715976"/>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What causes it</a:t>
            </a:r>
            <a:endParaRPr lang="en-GB" sz="2000" noProof="0" dirty="0"/>
          </a:p>
        </p:txBody>
      </p:sp>
      <p:sp>
        <p:nvSpPr>
          <p:cNvPr id="14" name="Text 12"/>
          <p:cNvSpPr txBox="1"/>
          <p:nvPr/>
        </p:nvSpPr>
        <p:spPr>
          <a:xfrm>
            <a:off x="8314944" y="2319480"/>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Persistent infection with high-risk types of human papillomavirus (HPV) is the main cause of cervical cancer.</a:t>
            </a:r>
            <a:endParaRPr lang="en-GB" sz="1800" noProof="0" dirty="0"/>
          </a:p>
        </p:txBody>
      </p:sp>
      <p:sp>
        <p:nvSpPr>
          <p:cNvPr id="15" name="Shape 13"/>
          <p:cNvSpPr/>
          <p:nvPr/>
        </p:nvSpPr>
        <p:spPr>
          <a:xfrm>
            <a:off x="566928" y="5481589"/>
            <a:ext cx="11055096" cy="786384"/>
          </a:xfrm>
          <a:prstGeom prst="roundRect">
            <a:avLst>
              <a:gd name="adj" fmla="val 8140"/>
            </a:avLst>
          </a:prstGeom>
          <a:solidFill>
            <a:srgbClr val="ECF3FD"/>
          </a:solidFill>
          <a:ln w="12700">
            <a:solidFill>
              <a:srgbClr val="E0E3EA"/>
            </a:solidFill>
            <a:prstDash val="solid"/>
          </a:ln>
        </p:spPr>
        <p:txBody>
          <a:bodyPr/>
          <a:lstStyle/>
          <a:p>
            <a:endParaRPr lang="en-GB" noProof="0" dirty="0"/>
          </a:p>
        </p:txBody>
      </p:sp>
      <p:sp>
        <p:nvSpPr>
          <p:cNvPr id="16" name="Text 14"/>
          <p:cNvSpPr txBox="1"/>
          <p:nvPr/>
        </p:nvSpPr>
        <p:spPr>
          <a:xfrm>
            <a:off x="841248" y="5536453"/>
            <a:ext cx="10506456" cy="676656"/>
          </a:xfrm>
          <a:prstGeom prst="rect">
            <a:avLst/>
          </a:prstGeom>
          <a:noFill/>
          <a:ln/>
        </p:spPr>
        <p:txBody>
          <a:bodyPr wrap="square" lIns="0" tIns="0" rIns="0" bIns="0" rtlCol="0" anchor="ctr"/>
          <a:lstStyle/>
          <a:p>
            <a:pPr marL="0" indent="0">
              <a:lnSpc>
                <a:spcPct val="104000"/>
              </a:lnSpc>
              <a:buNone/>
            </a:pPr>
            <a:r>
              <a:rPr lang="en-GB" sz="1800" b="1" noProof="0" dirty="0">
                <a:solidFill>
                  <a:srgbClr val="10305A"/>
                </a:solidFill>
                <a:latin typeface="Calibri" pitchFamily="34" charset="0"/>
                <a:ea typeface="Calibri" pitchFamily="34" charset="-122"/>
                <a:cs typeface="Calibri" pitchFamily="34" charset="-120"/>
              </a:rPr>
              <a:t>📌 Remember:  </a:t>
            </a:r>
            <a:r>
              <a:rPr lang="en-GB" sz="1800" noProof="0" dirty="0">
                <a:solidFill>
                  <a:srgbClr val="23303F"/>
                </a:solidFill>
                <a:latin typeface="Calibri" pitchFamily="34" charset="0"/>
                <a:ea typeface="Calibri" pitchFamily="34" charset="-122"/>
                <a:cs typeface="Calibri" pitchFamily="34" charset="-120"/>
              </a:rPr>
              <a:t>Cervical cancer is not the same as cancer of the uterine body or of the ovary. It has a different cause, a different screening pathway and different treatment.</a:t>
            </a:r>
            <a:endParaRPr lang="en-GB" sz="1800" noProof="0" dirty="0"/>
          </a:p>
        </p:txBody>
      </p:sp>
      <p:pic>
        <p:nvPicPr>
          <p:cNvPr id="18" name="Imagen 17">
            <a:extLst>
              <a:ext uri="{FF2B5EF4-FFF2-40B4-BE49-F238E27FC236}">
                <a16:creationId xmlns:a16="http://schemas.microsoft.com/office/drawing/2014/main" id="{20051994-A1FB-B11C-84B7-AA20061E9D37}"/>
              </a:ext>
            </a:extLst>
          </p:cNvPr>
          <p:cNvPicPr>
            <a:picLocks noChangeAspect="1"/>
          </p:cNvPicPr>
          <p:nvPr/>
        </p:nvPicPr>
        <p:blipFill>
          <a:blip r:embed="rId3"/>
          <a:srcRect l="30354" t="25294" r="3137" b="53824"/>
          <a:stretch>
            <a:fillRect/>
          </a:stretch>
        </p:blipFill>
        <p:spPr>
          <a:xfrm>
            <a:off x="4471416" y="4093416"/>
            <a:ext cx="3307080" cy="692225"/>
          </a:xfrm>
          <a:prstGeom prst="rect">
            <a:avLst/>
          </a:prstGeom>
        </p:spPr>
      </p:pic>
      <p:pic>
        <p:nvPicPr>
          <p:cNvPr id="19" name="Imagen 18">
            <a:extLst>
              <a:ext uri="{FF2B5EF4-FFF2-40B4-BE49-F238E27FC236}">
                <a16:creationId xmlns:a16="http://schemas.microsoft.com/office/drawing/2014/main" id="{BA6A4420-8090-1D4F-990A-ECA9F4B5EB59}"/>
              </a:ext>
            </a:extLst>
          </p:cNvPr>
          <p:cNvPicPr>
            <a:picLocks noChangeAspect="1"/>
          </p:cNvPicPr>
          <p:nvPr/>
        </p:nvPicPr>
        <p:blipFill>
          <a:blip r:embed="rId4"/>
          <a:srcRect/>
          <a:stretch>
            <a:fillRect/>
          </a:stretch>
        </p:blipFill>
        <p:spPr>
          <a:xfrm>
            <a:off x="1679841" y="3584413"/>
            <a:ext cx="1002399" cy="1438629"/>
          </a:xfrm>
          <a:prstGeom prst="rect">
            <a:avLst/>
          </a:prstGeom>
        </p:spPr>
      </p:pic>
      <p:pic>
        <p:nvPicPr>
          <p:cNvPr id="20" name="Imagen 19">
            <a:extLst>
              <a:ext uri="{FF2B5EF4-FFF2-40B4-BE49-F238E27FC236}">
                <a16:creationId xmlns:a16="http://schemas.microsoft.com/office/drawing/2014/main" id="{D38DBE8C-8DC2-1BC4-CB99-0433C5CC0610}"/>
              </a:ext>
            </a:extLst>
          </p:cNvPr>
          <p:cNvPicPr>
            <a:picLocks noChangeAspect="1"/>
          </p:cNvPicPr>
          <p:nvPr/>
        </p:nvPicPr>
        <p:blipFill>
          <a:blip r:embed="rId5"/>
          <a:srcRect l="26745" t="35000" r="56848" b="33588"/>
          <a:stretch>
            <a:fillRect/>
          </a:stretch>
        </p:blipFill>
        <p:spPr>
          <a:xfrm>
            <a:off x="9283485" y="3591694"/>
            <a:ext cx="1115659" cy="142406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29</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1 · BRIEF DESCRIPTION</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Why cervical cancer is different</a:t>
            </a:r>
            <a:endParaRPr lang="en-GB" sz="3200" noProof="0" dirty="0"/>
          </a:p>
        </p:txBody>
      </p:sp>
      <p:sp>
        <p:nvSpPr>
          <p:cNvPr id="6" name="Shape 4"/>
          <p:cNvSpPr/>
          <p:nvPr/>
        </p:nvSpPr>
        <p:spPr>
          <a:xfrm>
            <a:off x="566928" y="1471101"/>
            <a:ext cx="5529072" cy="1169012"/>
          </a:xfrm>
          <a:prstGeom prst="roundRect">
            <a:avLst>
              <a:gd name="adj" fmla="val 3000"/>
            </a:avLst>
          </a:prstGeom>
          <a:solidFill>
            <a:srgbClr val="F3F6FB"/>
          </a:solidFill>
          <a:ln w="12700">
            <a:solidFill>
              <a:srgbClr val="E0E3EA"/>
            </a:solidFill>
            <a:prstDash val="solid"/>
          </a:ln>
        </p:spPr>
        <p:txBody>
          <a:bodyPr/>
          <a:lstStyle/>
          <a:p>
            <a:endParaRPr lang="en-GB" sz="1600" noProof="0" dirty="0"/>
          </a:p>
        </p:txBody>
      </p:sp>
      <p:sp>
        <p:nvSpPr>
          <p:cNvPr id="7" name="Text 5"/>
          <p:cNvSpPr txBox="1"/>
          <p:nvPr/>
        </p:nvSpPr>
        <p:spPr>
          <a:xfrm>
            <a:off x="822959" y="1483502"/>
            <a:ext cx="4734475" cy="56692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  It develops slowly</a:t>
            </a:r>
            <a:endParaRPr lang="en-GB" noProof="0" dirty="0"/>
          </a:p>
        </p:txBody>
      </p:sp>
      <p:sp>
        <p:nvSpPr>
          <p:cNvPr id="8" name="Text 6"/>
          <p:cNvSpPr txBox="1"/>
          <p:nvPr/>
        </p:nvSpPr>
        <p:spPr>
          <a:xfrm>
            <a:off x="822959" y="2009516"/>
            <a:ext cx="5143888" cy="566929"/>
          </a:xfrm>
          <a:prstGeom prst="rect">
            <a:avLst/>
          </a:prstGeom>
          <a:noFill/>
          <a:ln/>
        </p:spPr>
        <p:txBody>
          <a:bodyPr wrap="square" lIns="0" tIns="0" rIns="0" bIns="0" rtlCol="0" anchor="t"/>
          <a:lstStyle/>
          <a:p>
            <a:pPr marL="0" indent="0">
              <a:lnSpc>
                <a:spcPct val="106000"/>
              </a:lnSpc>
              <a:buNone/>
            </a:pPr>
            <a:r>
              <a:rPr lang="en-GB" sz="1600" noProof="0" dirty="0">
                <a:solidFill>
                  <a:srgbClr val="23303F"/>
                </a:solidFill>
                <a:latin typeface="Calibri" pitchFamily="34" charset="0"/>
                <a:ea typeface="Calibri" pitchFamily="34" charset="-122"/>
                <a:cs typeface="Calibri" pitchFamily="34" charset="-120"/>
              </a:rPr>
              <a:t>Abnormal cells usually pass through precancerous stages before invasive cancer develops, generally over many years.</a:t>
            </a:r>
            <a:endParaRPr lang="en-GB" sz="1600" noProof="0" dirty="0"/>
          </a:p>
        </p:txBody>
      </p:sp>
      <p:sp>
        <p:nvSpPr>
          <p:cNvPr id="9" name="Shape 7"/>
          <p:cNvSpPr/>
          <p:nvPr/>
        </p:nvSpPr>
        <p:spPr>
          <a:xfrm>
            <a:off x="566928" y="2848899"/>
            <a:ext cx="5529072" cy="1288367"/>
          </a:xfrm>
          <a:prstGeom prst="roundRect">
            <a:avLst>
              <a:gd name="adj" fmla="val 3000"/>
            </a:avLst>
          </a:prstGeom>
          <a:solidFill>
            <a:srgbClr val="F3F6FB"/>
          </a:solidFill>
          <a:ln w="12700">
            <a:solidFill>
              <a:srgbClr val="E0E3EA"/>
            </a:solidFill>
            <a:prstDash val="solid"/>
          </a:ln>
        </p:spPr>
        <p:txBody>
          <a:bodyPr/>
          <a:lstStyle/>
          <a:p>
            <a:endParaRPr lang="en-GB" sz="1600" noProof="0" dirty="0"/>
          </a:p>
        </p:txBody>
      </p:sp>
      <p:sp>
        <p:nvSpPr>
          <p:cNvPr id="10" name="Text 8"/>
          <p:cNvSpPr txBox="1"/>
          <p:nvPr/>
        </p:nvSpPr>
        <p:spPr>
          <a:xfrm>
            <a:off x="822959" y="2861301"/>
            <a:ext cx="4734475" cy="56692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  It can be prevented</a:t>
            </a:r>
            <a:endParaRPr lang="en-GB" noProof="0" dirty="0"/>
          </a:p>
        </p:txBody>
      </p:sp>
      <p:sp>
        <p:nvSpPr>
          <p:cNvPr id="11" name="Text 9"/>
          <p:cNvSpPr txBox="1"/>
          <p:nvPr/>
        </p:nvSpPr>
        <p:spPr>
          <a:xfrm>
            <a:off x="822959" y="3340821"/>
            <a:ext cx="5143888" cy="668115"/>
          </a:xfrm>
          <a:prstGeom prst="rect">
            <a:avLst/>
          </a:prstGeom>
          <a:noFill/>
          <a:ln/>
        </p:spPr>
        <p:txBody>
          <a:bodyPr wrap="square" lIns="0" tIns="0" rIns="0" bIns="0" rtlCol="0" anchor="t"/>
          <a:lstStyle/>
          <a:p>
            <a:pPr marL="0" indent="0">
              <a:lnSpc>
                <a:spcPct val="106000"/>
              </a:lnSpc>
              <a:buNone/>
            </a:pPr>
            <a:r>
              <a:rPr lang="en-GB" sz="1600" noProof="0" dirty="0">
                <a:solidFill>
                  <a:srgbClr val="23303F"/>
                </a:solidFill>
                <a:latin typeface="Calibri" pitchFamily="34" charset="0"/>
                <a:ea typeface="Calibri" pitchFamily="34" charset="-122"/>
                <a:cs typeface="Calibri" pitchFamily="34" charset="-120"/>
              </a:rPr>
              <a:t>Vaccination prevents the infection of high-risk HPV. Screening finds and treats precancer before cancer develops.</a:t>
            </a:r>
            <a:endParaRPr lang="en-GB" sz="1600" noProof="0" dirty="0"/>
          </a:p>
        </p:txBody>
      </p:sp>
      <p:sp>
        <p:nvSpPr>
          <p:cNvPr id="12" name="Shape 10"/>
          <p:cNvSpPr/>
          <p:nvPr/>
        </p:nvSpPr>
        <p:spPr>
          <a:xfrm>
            <a:off x="566927" y="4364473"/>
            <a:ext cx="5529071" cy="1134009"/>
          </a:xfrm>
          <a:prstGeom prst="roundRect">
            <a:avLst>
              <a:gd name="adj" fmla="val 3000"/>
            </a:avLst>
          </a:prstGeom>
          <a:solidFill>
            <a:srgbClr val="F3F6FB"/>
          </a:solidFill>
          <a:ln w="12700">
            <a:solidFill>
              <a:srgbClr val="E0E3EA"/>
            </a:solidFill>
            <a:prstDash val="solid"/>
          </a:ln>
        </p:spPr>
        <p:txBody>
          <a:bodyPr/>
          <a:lstStyle/>
          <a:p>
            <a:endParaRPr lang="en-GB" sz="1600" noProof="0" dirty="0"/>
          </a:p>
        </p:txBody>
      </p:sp>
      <p:sp>
        <p:nvSpPr>
          <p:cNvPr id="13" name="Text 11"/>
          <p:cNvSpPr txBox="1"/>
          <p:nvPr/>
        </p:nvSpPr>
        <p:spPr>
          <a:xfrm>
            <a:off x="822960" y="4516357"/>
            <a:ext cx="4734474" cy="23357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  It is silent early</a:t>
            </a:r>
            <a:endParaRPr lang="en-GB" noProof="0" dirty="0"/>
          </a:p>
        </p:txBody>
      </p:sp>
      <p:sp>
        <p:nvSpPr>
          <p:cNvPr id="14" name="Text 12"/>
          <p:cNvSpPr txBox="1"/>
          <p:nvPr/>
        </p:nvSpPr>
        <p:spPr>
          <a:xfrm>
            <a:off x="822959" y="4840895"/>
            <a:ext cx="5143887" cy="730872"/>
          </a:xfrm>
          <a:prstGeom prst="rect">
            <a:avLst/>
          </a:prstGeom>
          <a:noFill/>
          <a:ln/>
        </p:spPr>
        <p:txBody>
          <a:bodyPr wrap="square" lIns="0" tIns="0" rIns="0" bIns="0" rtlCol="0" anchor="t"/>
          <a:lstStyle/>
          <a:p>
            <a:pPr marL="0" indent="0">
              <a:lnSpc>
                <a:spcPct val="106000"/>
              </a:lnSpc>
              <a:buNone/>
            </a:pPr>
            <a:r>
              <a:rPr lang="en-GB" sz="1600" noProof="0" dirty="0">
                <a:solidFill>
                  <a:srgbClr val="23303F"/>
                </a:solidFill>
                <a:latin typeface="Calibri" pitchFamily="34" charset="0"/>
                <a:ea typeface="Calibri" pitchFamily="34" charset="-122"/>
                <a:cs typeface="Calibri" pitchFamily="34" charset="-120"/>
              </a:rPr>
              <a:t>Cervical precancer and early cervical cancer usually cause no symptoms. Waiting for symptoms means later diagnosis.</a:t>
            </a:r>
            <a:endParaRPr lang="en-GB" sz="1600" noProof="0" dirty="0"/>
          </a:p>
        </p:txBody>
      </p:sp>
      <p:sp>
        <p:nvSpPr>
          <p:cNvPr id="15" name="Shape 13"/>
          <p:cNvSpPr/>
          <p:nvPr/>
        </p:nvSpPr>
        <p:spPr>
          <a:xfrm>
            <a:off x="566928" y="5694693"/>
            <a:ext cx="11055096" cy="607536"/>
          </a:xfrm>
          <a:prstGeom prst="roundRect">
            <a:avLst>
              <a:gd name="adj" fmla="val 8140"/>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5694693"/>
            <a:ext cx="10506456" cy="676656"/>
          </a:xfrm>
          <a:prstGeom prst="rect">
            <a:avLst/>
          </a:prstGeom>
          <a:noFill/>
          <a:ln/>
        </p:spPr>
        <p:txBody>
          <a:bodyPr wrap="square" lIns="0" tIns="0" rIns="0" bIns="0" rtlCol="0" anchor="ctr"/>
          <a:lstStyle/>
          <a:p>
            <a:pPr marL="0" indent="0">
              <a:lnSpc>
                <a:spcPct val="104000"/>
              </a:lnSpc>
              <a:buNone/>
            </a:pPr>
            <a:r>
              <a:rPr lang="en-GB" sz="1600" b="1" noProof="0" dirty="0">
                <a:solidFill>
                  <a:srgbClr val="19543E"/>
                </a:solidFill>
                <a:latin typeface="Calibri" pitchFamily="34" charset="0"/>
                <a:ea typeface="Calibri" pitchFamily="34" charset="-122"/>
                <a:cs typeface="Calibri" pitchFamily="34" charset="-120"/>
              </a:rPr>
              <a:t>💡 Key point:  </a:t>
            </a:r>
            <a:r>
              <a:rPr lang="en-GB" sz="1600" noProof="0" dirty="0">
                <a:solidFill>
                  <a:srgbClr val="23303F"/>
                </a:solidFill>
                <a:latin typeface="Calibri" pitchFamily="34" charset="0"/>
                <a:ea typeface="Calibri" pitchFamily="34" charset="-122"/>
                <a:cs typeface="Calibri" pitchFamily="34" charset="-120"/>
              </a:rPr>
              <a:t>Detecting and treating cervical precancer prevents many cervical cancers. Screening does not only find cancer earlier, it stops cancer from developing.</a:t>
            </a:r>
            <a:endParaRPr lang="en-GB" sz="1600" noProof="0" dirty="0"/>
          </a:p>
        </p:txBody>
      </p:sp>
      <p:pic>
        <p:nvPicPr>
          <p:cNvPr id="19" name="Imagen 18">
            <a:extLst>
              <a:ext uri="{FF2B5EF4-FFF2-40B4-BE49-F238E27FC236}">
                <a16:creationId xmlns:a16="http://schemas.microsoft.com/office/drawing/2014/main" id="{9573937F-A2EE-444F-5CE9-25B4FA46D37A}"/>
              </a:ext>
            </a:extLst>
          </p:cNvPr>
          <p:cNvPicPr>
            <a:picLocks noChangeAspect="1"/>
          </p:cNvPicPr>
          <p:nvPr/>
        </p:nvPicPr>
        <p:blipFill>
          <a:blip r:embed="rId3"/>
          <a:stretch>
            <a:fillRect/>
          </a:stretch>
        </p:blipFill>
        <p:spPr>
          <a:xfrm>
            <a:off x="6385430" y="1301499"/>
            <a:ext cx="5050038" cy="4340343"/>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30</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1 · ANATOMY</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The cervix: where it sits</a:t>
            </a:r>
            <a:endParaRPr lang="en-GB" sz="3200" noProof="0" dirty="0"/>
          </a:p>
        </p:txBody>
      </p:sp>
      <p:pic>
        <p:nvPicPr>
          <p:cNvPr id="6" name="Imagen 5">
            <a:extLst>
              <a:ext uri="{FF2B5EF4-FFF2-40B4-BE49-F238E27FC236}">
                <a16:creationId xmlns:a16="http://schemas.microsoft.com/office/drawing/2014/main" id="{14B7AAE5-9661-BEB3-4D2F-3FBFC9AF8FB9}"/>
              </a:ext>
            </a:extLst>
          </p:cNvPr>
          <p:cNvPicPr>
            <a:picLocks noChangeAspect="1"/>
          </p:cNvPicPr>
          <p:nvPr/>
        </p:nvPicPr>
        <p:blipFill>
          <a:blip r:embed="rId3"/>
          <a:stretch>
            <a:fillRect/>
          </a:stretch>
        </p:blipFill>
        <p:spPr>
          <a:xfrm>
            <a:off x="990684" y="1508760"/>
            <a:ext cx="10631340" cy="4549947"/>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31</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1 · ANATOMY</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Two linings meet at the cervix</a:t>
            </a:r>
            <a:endParaRPr lang="en-GB" sz="3200" noProof="0" dirty="0"/>
          </a:p>
        </p:txBody>
      </p:sp>
      <p:sp>
        <p:nvSpPr>
          <p:cNvPr id="6" name="Shape 4"/>
          <p:cNvSpPr/>
          <p:nvPr/>
        </p:nvSpPr>
        <p:spPr>
          <a:xfrm>
            <a:off x="566928" y="1451448"/>
            <a:ext cx="3563112" cy="1262593"/>
          </a:xfrm>
          <a:prstGeom prst="roundRect">
            <a:avLst>
              <a:gd name="adj" fmla="val 3000"/>
            </a:avLst>
          </a:prstGeom>
          <a:solidFill>
            <a:srgbClr val="F3F6FB"/>
          </a:solidFill>
          <a:ln w="12700">
            <a:solidFill>
              <a:srgbClr val="E0E3EA"/>
            </a:solidFill>
            <a:prstDash val="solid"/>
          </a:ln>
        </p:spPr>
        <p:txBody>
          <a:bodyPr/>
          <a:lstStyle/>
          <a:p>
            <a:endParaRPr lang="en-GB" sz="1600" noProof="0" dirty="0"/>
          </a:p>
        </p:txBody>
      </p:sp>
      <p:sp>
        <p:nvSpPr>
          <p:cNvPr id="7" name="Text 5"/>
          <p:cNvSpPr txBox="1"/>
          <p:nvPr/>
        </p:nvSpPr>
        <p:spPr>
          <a:xfrm>
            <a:off x="689148" y="1422459"/>
            <a:ext cx="3051048" cy="56692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1️⃣  The ectocervix</a:t>
            </a:r>
            <a:endParaRPr lang="en-GB" noProof="0" dirty="0"/>
          </a:p>
        </p:txBody>
      </p:sp>
      <p:sp>
        <p:nvSpPr>
          <p:cNvPr id="8" name="Text 6"/>
          <p:cNvSpPr txBox="1"/>
          <p:nvPr/>
        </p:nvSpPr>
        <p:spPr>
          <a:xfrm>
            <a:off x="716505" y="1846176"/>
            <a:ext cx="3334287" cy="906814"/>
          </a:xfrm>
          <a:prstGeom prst="rect">
            <a:avLst/>
          </a:prstGeom>
          <a:noFill/>
          <a:ln/>
        </p:spPr>
        <p:txBody>
          <a:bodyPr wrap="square" lIns="0" tIns="0" rIns="0" bIns="0" rtlCol="0" anchor="t"/>
          <a:lstStyle/>
          <a:p>
            <a:pPr marL="0" indent="0">
              <a:lnSpc>
                <a:spcPct val="106000"/>
              </a:lnSpc>
              <a:buNone/>
            </a:pPr>
            <a:r>
              <a:rPr lang="en-GB" sz="1600" noProof="0" dirty="0">
                <a:solidFill>
                  <a:srgbClr val="23303F"/>
                </a:solidFill>
                <a:latin typeface="Calibri" pitchFamily="34" charset="0"/>
                <a:ea typeface="Calibri" pitchFamily="34" charset="-122"/>
                <a:cs typeface="Calibri" pitchFamily="34" charset="-120"/>
              </a:rPr>
              <a:t>The outer surface of the cervix, facing the vagina. It is covered by flat squamous cells.</a:t>
            </a:r>
            <a:endParaRPr lang="en-GB" sz="1600" noProof="0" dirty="0"/>
          </a:p>
        </p:txBody>
      </p:sp>
      <p:sp>
        <p:nvSpPr>
          <p:cNvPr id="9" name="Shape 7"/>
          <p:cNvSpPr/>
          <p:nvPr/>
        </p:nvSpPr>
        <p:spPr>
          <a:xfrm>
            <a:off x="557189" y="2850715"/>
            <a:ext cx="3563112" cy="1264065"/>
          </a:xfrm>
          <a:prstGeom prst="roundRect">
            <a:avLst>
              <a:gd name="adj" fmla="val 3000"/>
            </a:avLst>
          </a:prstGeom>
          <a:solidFill>
            <a:srgbClr val="F3F6FB"/>
          </a:solidFill>
          <a:ln w="12700">
            <a:solidFill>
              <a:srgbClr val="E0E3EA"/>
            </a:solidFill>
            <a:prstDash val="solid"/>
          </a:ln>
        </p:spPr>
        <p:txBody>
          <a:bodyPr/>
          <a:lstStyle/>
          <a:p>
            <a:endParaRPr lang="en-GB" sz="1600" noProof="0" dirty="0"/>
          </a:p>
        </p:txBody>
      </p:sp>
      <p:sp>
        <p:nvSpPr>
          <p:cNvPr id="10" name="Text 8"/>
          <p:cNvSpPr txBox="1"/>
          <p:nvPr/>
        </p:nvSpPr>
        <p:spPr>
          <a:xfrm>
            <a:off x="679409" y="2821725"/>
            <a:ext cx="3051048" cy="56692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2️⃣  The endocervix</a:t>
            </a:r>
            <a:endParaRPr lang="en-GB" noProof="0" dirty="0"/>
          </a:p>
        </p:txBody>
      </p:sp>
      <p:sp>
        <p:nvSpPr>
          <p:cNvPr id="11" name="Text 9"/>
          <p:cNvSpPr txBox="1"/>
          <p:nvPr/>
        </p:nvSpPr>
        <p:spPr>
          <a:xfrm>
            <a:off x="695615" y="3269115"/>
            <a:ext cx="3300612" cy="737981"/>
          </a:xfrm>
          <a:prstGeom prst="rect">
            <a:avLst/>
          </a:prstGeom>
          <a:noFill/>
          <a:ln/>
        </p:spPr>
        <p:txBody>
          <a:bodyPr wrap="square" lIns="0" tIns="0" rIns="0" bIns="0" rtlCol="0" anchor="t"/>
          <a:lstStyle/>
          <a:p>
            <a:pPr marL="0" indent="0">
              <a:lnSpc>
                <a:spcPct val="106000"/>
              </a:lnSpc>
              <a:buNone/>
            </a:pPr>
            <a:r>
              <a:rPr lang="en-GB" sz="1600" noProof="0" dirty="0">
                <a:solidFill>
                  <a:srgbClr val="23303F"/>
                </a:solidFill>
                <a:latin typeface="Calibri" pitchFamily="34" charset="0"/>
                <a:ea typeface="Calibri" pitchFamily="34" charset="-122"/>
                <a:cs typeface="Calibri" pitchFamily="34" charset="-120"/>
              </a:rPr>
              <a:t>The canal leading up into the uterus. It is lined by tall columnar cells that produce mucus.</a:t>
            </a:r>
            <a:endParaRPr lang="en-GB" sz="1600" noProof="0" dirty="0"/>
          </a:p>
        </p:txBody>
      </p:sp>
      <p:sp>
        <p:nvSpPr>
          <p:cNvPr id="12" name="Shape 10"/>
          <p:cNvSpPr/>
          <p:nvPr/>
        </p:nvSpPr>
        <p:spPr>
          <a:xfrm>
            <a:off x="566928" y="4245234"/>
            <a:ext cx="3553373" cy="1431331"/>
          </a:xfrm>
          <a:prstGeom prst="roundRect">
            <a:avLst>
              <a:gd name="adj" fmla="val 3000"/>
            </a:avLst>
          </a:prstGeom>
          <a:solidFill>
            <a:srgbClr val="F3F6FB"/>
          </a:solidFill>
          <a:ln w="12700">
            <a:solidFill>
              <a:srgbClr val="E0E3EA"/>
            </a:solidFill>
            <a:prstDash val="solid"/>
          </a:ln>
        </p:spPr>
        <p:txBody>
          <a:bodyPr/>
          <a:lstStyle/>
          <a:p>
            <a:endParaRPr lang="en-GB" sz="1600" noProof="0" dirty="0"/>
          </a:p>
        </p:txBody>
      </p:sp>
      <p:sp>
        <p:nvSpPr>
          <p:cNvPr id="13" name="Text 11"/>
          <p:cNvSpPr txBox="1"/>
          <p:nvPr/>
        </p:nvSpPr>
        <p:spPr>
          <a:xfrm>
            <a:off x="689148" y="4238547"/>
            <a:ext cx="3307079" cy="56692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3️⃣  The squamocolumnar junction</a:t>
            </a:r>
            <a:endParaRPr lang="en-GB" noProof="0" dirty="0"/>
          </a:p>
        </p:txBody>
      </p:sp>
      <p:sp>
        <p:nvSpPr>
          <p:cNvPr id="14" name="Text 12"/>
          <p:cNvSpPr txBox="1"/>
          <p:nvPr/>
        </p:nvSpPr>
        <p:spPr>
          <a:xfrm>
            <a:off x="711451" y="4752843"/>
            <a:ext cx="3158022" cy="868680"/>
          </a:xfrm>
          <a:prstGeom prst="rect">
            <a:avLst/>
          </a:prstGeom>
          <a:noFill/>
          <a:ln/>
        </p:spPr>
        <p:txBody>
          <a:bodyPr wrap="square" lIns="0" tIns="0" rIns="0" bIns="0" rtlCol="0" anchor="t"/>
          <a:lstStyle/>
          <a:p>
            <a:pPr marL="0" indent="0">
              <a:lnSpc>
                <a:spcPct val="106000"/>
              </a:lnSpc>
              <a:buNone/>
            </a:pPr>
            <a:r>
              <a:rPr lang="en-GB" sz="1600" noProof="0" dirty="0">
                <a:solidFill>
                  <a:srgbClr val="23303F"/>
                </a:solidFill>
                <a:latin typeface="Calibri" pitchFamily="34" charset="0"/>
                <a:ea typeface="Calibri" pitchFamily="34" charset="-122"/>
                <a:cs typeface="Calibri" pitchFamily="34" charset="-120"/>
              </a:rPr>
              <a:t>The line where the two linings meet. Its position moves with age, puberty, childbirth and menopause.</a:t>
            </a:r>
            <a:endParaRPr lang="en-GB" sz="1600" noProof="0" dirty="0"/>
          </a:p>
        </p:txBody>
      </p:sp>
      <p:sp>
        <p:nvSpPr>
          <p:cNvPr id="15" name="Shape 13"/>
          <p:cNvSpPr/>
          <p:nvPr/>
        </p:nvSpPr>
        <p:spPr>
          <a:xfrm>
            <a:off x="560832" y="5792508"/>
            <a:ext cx="11055096" cy="562572"/>
          </a:xfrm>
          <a:prstGeom prst="roundRect">
            <a:avLst>
              <a:gd name="adj" fmla="val 8140"/>
            </a:avLst>
          </a:prstGeom>
          <a:solidFill>
            <a:srgbClr val="ECF3FD"/>
          </a:solidFill>
          <a:ln w="12700">
            <a:solidFill>
              <a:srgbClr val="E0E3EA"/>
            </a:solidFill>
            <a:prstDash val="solid"/>
          </a:ln>
        </p:spPr>
        <p:txBody>
          <a:bodyPr/>
          <a:lstStyle/>
          <a:p>
            <a:endParaRPr lang="en-GB" noProof="0" dirty="0"/>
          </a:p>
        </p:txBody>
      </p:sp>
      <p:sp>
        <p:nvSpPr>
          <p:cNvPr id="16" name="Text 14"/>
          <p:cNvSpPr txBox="1"/>
          <p:nvPr/>
        </p:nvSpPr>
        <p:spPr>
          <a:xfrm>
            <a:off x="723642" y="5835429"/>
            <a:ext cx="10796016" cy="505152"/>
          </a:xfrm>
          <a:prstGeom prst="rect">
            <a:avLst/>
          </a:prstGeom>
          <a:noFill/>
          <a:ln/>
        </p:spPr>
        <p:txBody>
          <a:bodyPr wrap="square" lIns="0" tIns="0" rIns="0" bIns="0" rtlCol="0" anchor="ctr"/>
          <a:lstStyle/>
          <a:p>
            <a:pPr marL="0" indent="0">
              <a:lnSpc>
                <a:spcPct val="104000"/>
              </a:lnSpc>
              <a:buNone/>
            </a:pPr>
            <a:r>
              <a:rPr lang="en-GB" sz="1600" b="1" noProof="0" dirty="0">
                <a:solidFill>
                  <a:srgbClr val="10305A"/>
                </a:solidFill>
                <a:latin typeface="Calibri" pitchFamily="34" charset="0"/>
                <a:ea typeface="Calibri" pitchFamily="34" charset="-122"/>
                <a:cs typeface="Calibri" pitchFamily="34" charset="-120"/>
              </a:rPr>
              <a:t>🔎 Why this matters:  </a:t>
            </a:r>
            <a:r>
              <a:rPr lang="en-GB" sz="1600" noProof="0" dirty="0">
                <a:solidFill>
                  <a:srgbClr val="23303F"/>
                </a:solidFill>
                <a:latin typeface="Calibri" pitchFamily="34" charset="0"/>
                <a:ea typeface="Calibri" pitchFamily="34" charset="-122"/>
                <a:cs typeface="Calibri" pitchFamily="34" charset="-120"/>
              </a:rPr>
              <a:t>The junction can be seen at the cervical opening in younger women. After the menopause it usually retreats up inside the canal.</a:t>
            </a:r>
            <a:endParaRPr lang="en-GB" sz="1600" noProof="0" dirty="0"/>
          </a:p>
        </p:txBody>
      </p:sp>
      <p:pic>
        <p:nvPicPr>
          <p:cNvPr id="18" name="Imagen 17">
            <a:extLst>
              <a:ext uri="{FF2B5EF4-FFF2-40B4-BE49-F238E27FC236}">
                <a16:creationId xmlns:a16="http://schemas.microsoft.com/office/drawing/2014/main" id="{547B37A1-0E7B-1E55-AF4F-17A5462A19C3}"/>
              </a:ext>
            </a:extLst>
          </p:cNvPr>
          <p:cNvPicPr>
            <a:picLocks noChangeAspect="1"/>
          </p:cNvPicPr>
          <p:nvPr/>
        </p:nvPicPr>
        <p:blipFill>
          <a:blip r:embed="rId3"/>
          <a:stretch>
            <a:fillRect/>
          </a:stretch>
        </p:blipFill>
        <p:spPr>
          <a:xfrm>
            <a:off x="4406811" y="1468304"/>
            <a:ext cx="6868547" cy="429609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6" name="Imagen 15">
            <a:extLst>
              <a:ext uri="{FF2B5EF4-FFF2-40B4-BE49-F238E27FC236}">
                <a16:creationId xmlns:a16="http://schemas.microsoft.com/office/drawing/2014/main" id="{C4627144-EAEE-C8B9-A2BC-41865F890445}"/>
              </a:ext>
            </a:extLst>
          </p:cNvPr>
          <p:cNvPicPr>
            <a:picLocks noChangeAspect="1"/>
          </p:cNvPicPr>
          <p:nvPr/>
        </p:nvPicPr>
        <p:blipFill>
          <a:blip r:embed="rId2"/>
          <a:stretch>
            <a:fillRect/>
          </a:stretch>
        </p:blipFill>
        <p:spPr>
          <a:xfrm>
            <a:off x="1980514" y="1022514"/>
            <a:ext cx="7496403" cy="2474634"/>
          </a:xfrm>
          <a:prstGeom prst="rect">
            <a:avLst/>
          </a:prstGeom>
        </p:spPr>
      </p:pic>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1 · ANATOMY</a:t>
            </a:r>
            <a:endParaRPr lang="en-GB" sz="1200" dirty="0"/>
          </a:p>
        </p:txBody>
      </p:sp>
      <p:sp>
        <p:nvSpPr>
          <p:cNvPr id="3" name="Text 3"/>
          <p:cNvSpPr txBox="1"/>
          <p:nvPr/>
        </p:nvSpPr>
        <p:spPr>
          <a:xfrm>
            <a:off x="566928" y="329184"/>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Two linings, seen under the microscope</a:t>
            </a:r>
          </a:p>
        </p:txBody>
      </p:sp>
      <p:sp>
        <p:nvSpPr>
          <p:cNvPr id="4" name="Shape 4"/>
          <p:cNvSpPr/>
          <p:nvPr/>
        </p:nvSpPr>
        <p:spPr>
          <a:xfrm>
            <a:off x="566928" y="3441862"/>
            <a:ext cx="5436108" cy="23622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5" name="Text 5"/>
          <p:cNvSpPr txBox="1"/>
          <p:nvPr/>
        </p:nvSpPr>
        <p:spPr>
          <a:xfrm>
            <a:off x="804672" y="3552434"/>
            <a:ext cx="4924044" cy="520000"/>
          </a:xfrm>
          <a:prstGeom prst="rect">
            <a:avLst/>
          </a:prstGeom>
          <a:noFill/>
          <a:ln/>
        </p:spPr>
        <p:txBody>
          <a:bodyPr wrap="square" lIns="0" tIns="0" rIns="0" bIns="0" rtlCol="0" anchor="ctr"/>
          <a:lstStyle/>
          <a:p>
            <a:pPr marL="0" indent="0" algn="l">
              <a:buNone/>
            </a:pPr>
            <a:r>
              <a:rPr lang="en-GB" sz="2000" b="1" noProof="0" dirty="0">
                <a:solidFill>
                  <a:srgbClr val="10305A"/>
                </a:solidFill>
                <a:latin typeface="Calibri" pitchFamily="34" charset="0"/>
                <a:ea typeface="Calibri" pitchFamily="34" charset="-122"/>
                <a:cs typeface="Calibri" pitchFamily="34" charset="-120"/>
              </a:rPr>
              <a:t>🔬  Squamous epithelium (ectocervix)</a:t>
            </a:r>
            <a:endParaRPr lang="en-GB" sz="2000" dirty="0"/>
          </a:p>
        </p:txBody>
      </p:sp>
      <p:sp>
        <p:nvSpPr>
          <p:cNvPr id="6" name="Text 6"/>
          <p:cNvSpPr txBox="1"/>
          <p:nvPr/>
        </p:nvSpPr>
        <p:spPr>
          <a:xfrm>
            <a:off x="804672" y="4036222"/>
            <a:ext cx="5198364" cy="176784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Many layers of flat cells (15 to 20), resting on a basement membrane.</a:t>
            </a:r>
            <a:endParaRPr lang="en-GB" sz="1600" dirty="0"/>
          </a:p>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Four layers: basal, parabasal, intermediate and superficial.</a:t>
            </a:r>
            <a:endParaRPr lang="en-GB" sz="1600" dirty="0"/>
          </a:p>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Upper layers are rich in glycogen. Maturation depends on oestrogen.</a:t>
            </a:r>
            <a:endParaRPr lang="en-GB" sz="1600" dirty="0"/>
          </a:p>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Looks pale pink on inspection.</a:t>
            </a:r>
            <a:endParaRPr lang="en-GB" sz="1600" dirty="0"/>
          </a:p>
        </p:txBody>
      </p:sp>
      <p:sp>
        <p:nvSpPr>
          <p:cNvPr id="7" name="Shape 7"/>
          <p:cNvSpPr/>
          <p:nvPr/>
        </p:nvSpPr>
        <p:spPr>
          <a:xfrm>
            <a:off x="6185916" y="3441862"/>
            <a:ext cx="5436108" cy="23622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8" name="Text 8"/>
          <p:cNvSpPr txBox="1"/>
          <p:nvPr/>
        </p:nvSpPr>
        <p:spPr>
          <a:xfrm>
            <a:off x="6423660" y="3552434"/>
            <a:ext cx="4924044" cy="520000"/>
          </a:xfrm>
          <a:prstGeom prst="rect">
            <a:avLst/>
          </a:prstGeom>
          <a:noFill/>
          <a:ln/>
        </p:spPr>
        <p:txBody>
          <a:bodyPr wrap="square" lIns="0" tIns="0" rIns="0" bIns="0" rtlCol="0" anchor="ctr"/>
          <a:lstStyle/>
          <a:p>
            <a:pPr marL="0" indent="0" algn="l">
              <a:buNone/>
            </a:pPr>
            <a:r>
              <a:rPr lang="en-GB" sz="2000" b="1" noProof="0" dirty="0">
                <a:solidFill>
                  <a:srgbClr val="10305A"/>
                </a:solidFill>
                <a:latin typeface="Calibri" pitchFamily="34" charset="0"/>
                <a:ea typeface="Calibri" pitchFamily="34" charset="-122"/>
                <a:cs typeface="Calibri" pitchFamily="34" charset="-120"/>
              </a:rPr>
              <a:t>🔬  Columnar epithelium (endocervix)</a:t>
            </a:r>
            <a:endParaRPr lang="en-GB" sz="2000" dirty="0"/>
          </a:p>
        </p:txBody>
      </p:sp>
      <p:sp>
        <p:nvSpPr>
          <p:cNvPr id="9" name="Text 9"/>
          <p:cNvSpPr txBox="1"/>
          <p:nvPr/>
        </p:nvSpPr>
        <p:spPr>
          <a:xfrm>
            <a:off x="6423660" y="4036222"/>
            <a:ext cx="4924044" cy="1576635"/>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A single layer of tall, mucus-secreting cells.</a:t>
            </a:r>
            <a:endParaRPr lang="en-GB" sz="1600" dirty="0"/>
          </a:p>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Folds into the stroma to form crypts, about 5 to 8 mm deep.</a:t>
            </a:r>
            <a:endParaRPr lang="en-GB" sz="1600" dirty="0"/>
          </a:p>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Contains no glycogen.</a:t>
            </a:r>
            <a:endParaRPr lang="en-GB" sz="1600" dirty="0"/>
          </a:p>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Looks red and velvety on inspection.</a:t>
            </a:r>
            <a:endParaRPr lang="en-GB" sz="1600" dirty="0"/>
          </a:p>
        </p:txBody>
      </p:sp>
      <p:sp>
        <p:nvSpPr>
          <p:cNvPr id="11" name="Shape 11"/>
          <p:cNvSpPr/>
          <p:nvPr/>
        </p:nvSpPr>
        <p:spPr>
          <a:xfrm>
            <a:off x="566928" y="5903634"/>
            <a:ext cx="11055096" cy="458766"/>
          </a:xfrm>
          <a:prstGeom prst="roundRect">
            <a:avLst>
              <a:gd name="adj" fmla="val 3000"/>
            </a:avLst>
          </a:prstGeom>
          <a:solidFill>
            <a:srgbClr val="ECF3FD"/>
          </a:solidFill>
          <a:ln w="12700">
            <a:solidFill>
              <a:srgbClr val="E0E3EA"/>
            </a:solidFill>
          </a:ln>
        </p:spPr>
        <p:txBody>
          <a:bodyPr/>
          <a:lstStyle/>
          <a:p>
            <a:endParaRPr lang="en-GB" sz="1600" dirty="0"/>
          </a:p>
        </p:txBody>
      </p:sp>
      <p:sp>
        <p:nvSpPr>
          <p:cNvPr id="12" name="Text 12"/>
          <p:cNvSpPr txBox="1"/>
          <p:nvPr/>
        </p:nvSpPr>
        <p:spPr>
          <a:xfrm>
            <a:off x="679662" y="5903634"/>
            <a:ext cx="10780776" cy="408765"/>
          </a:xfrm>
          <a:prstGeom prst="rect">
            <a:avLst/>
          </a:prstGeom>
          <a:noFill/>
          <a:ln/>
        </p:spPr>
        <p:txBody>
          <a:bodyPr wrap="square" lIns="0" tIns="0" rIns="0" bIns="0" rtlCol="0" anchor="ctr"/>
          <a:lstStyle/>
          <a:p>
            <a:pPr marL="0" indent="0" algn="l">
              <a:buNone/>
            </a:pPr>
            <a:r>
              <a:rPr lang="en-GB" sz="1400" b="1" noProof="0" dirty="0">
                <a:solidFill>
                  <a:srgbClr val="10305A"/>
                </a:solidFill>
                <a:latin typeface="Calibri" pitchFamily="34" charset="0"/>
                <a:ea typeface="Calibri" pitchFamily="34" charset="-122"/>
                <a:cs typeface="Calibri" pitchFamily="34" charset="-120"/>
              </a:rPr>
              <a:t>🔎 Why this matters:  </a:t>
            </a:r>
            <a:r>
              <a:rPr lang="en-GB" sz="1400" noProof="0" dirty="0">
                <a:solidFill>
                  <a:srgbClr val="23303F"/>
                </a:solidFill>
                <a:latin typeface="Calibri" pitchFamily="34" charset="0"/>
                <a:ea typeface="Calibri" pitchFamily="34" charset="-122"/>
                <a:cs typeface="Calibri" pitchFamily="34" charset="-120"/>
              </a:rPr>
              <a:t>The two linings look different with a speculum: a pale pink ectocervix and a red, velvety area around the opening of the canal.</a:t>
            </a:r>
            <a:endParaRPr lang="en-GB" sz="1400" dirty="0"/>
          </a:p>
        </p:txBody>
      </p:sp>
      <p:sp>
        <p:nvSpPr>
          <p:cNvPr id="13" name="Text 13"/>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14" name="Text 14"/>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32</a:t>
            </a:r>
            <a:endParaRPr lang="en-GB"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1 · ANATOMY</a:t>
            </a:r>
            <a:endParaRPr lang="en-GB" sz="1200" dirty="0"/>
          </a:p>
        </p:txBody>
      </p:sp>
      <p:sp>
        <p:nvSpPr>
          <p:cNvPr id="3" name="Text 3"/>
          <p:cNvSpPr txBox="1"/>
          <p:nvPr/>
        </p:nvSpPr>
        <p:spPr>
          <a:xfrm>
            <a:off x="566928" y="343196"/>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The squamocolumnar junction moves through life</a:t>
            </a:r>
          </a:p>
        </p:txBody>
      </p:sp>
      <p:sp>
        <p:nvSpPr>
          <p:cNvPr id="4" name="Text 4"/>
          <p:cNvSpPr txBox="1"/>
          <p:nvPr/>
        </p:nvSpPr>
        <p:spPr>
          <a:xfrm>
            <a:off x="566928" y="971758"/>
            <a:ext cx="11055096" cy="365760"/>
          </a:xfrm>
          <a:prstGeom prst="rect">
            <a:avLst/>
          </a:prstGeom>
          <a:noFill/>
          <a:ln/>
        </p:spPr>
        <p:txBody>
          <a:bodyPr wrap="square" lIns="0" tIns="0" rIns="0" bIns="0" rtlCol="0" anchor="ctr"/>
          <a:lstStyle/>
          <a:p>
            <a:pPr marL="0" indent="0" algn="l">
              <a:buNone/>
            </a:pPr>
            <a:r>
              <a:rPr lang="en-GB" sz="1600" i="1" noProof="0" dirty="0">
                <a:solidFill>
                  <a:srgbClr val="31507B"/>
                </a:solidFill>
                <a:latin typeface="Calibri" pitchFamily="34" charset="0"/>
                <a:ea typeface="Calibri" pitchFamily="34" charset="-122"/>
                <a:cs typeface="Calibri" pitchFamily="34" charset="-120"/>
              </a:rPr>
              <a:t>The position of the SCJ changes with age, hormones, pregnancy and childbirth.</a:t>
            </a:r>
            <a:endParaRPr lang="en-GB" sz="1600" i="1" dirty="0"/>
          </a:p>
        </p:txBody>
      </p:sp>
      <p:sp>
        <p:nvSpPr>
          <p:cNvPr id="5" name="Shape 5"/>
          <p:cNvSpPr/>
          <p:nvPr/>
        </p:nvSpPr>
        <p:spPr>
          <a:xfrm>
            <a:off x="566928" y="1346956"/>
            <a:ext cx="3563112" cy="4037964"/>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6" name="Text 6"/>
          <p:cNvSpPr txBox="1"/>
          <p:nvPr/>
        </p:nvSpPr>
        <p:spPr>
          <a:xfrm>
            <a:off x="822960" y="1327487"/>
            <a:ext cx="3051048" cy="520000"/>
          </a:xfrm>
          <a:prstGeom prst="rect">
            <a:avLst/>
          </a:prstGeom>
          <a:noFill/>
          <a:ln/>
        </p:spPr>
        <p:txBody>
          <a:bodyPr wrap="square" lIns="0" tIns="0" rIns="0" bIns="0" rtlCol="0" anchor="ctr"/>
          <a:lstStyle/>
          <a:p>
            <a:pPr marL="0" indent="0" algn="l">
              <a:buNone/>
            </a:pPr>
            <a:r>
              <a:rPr lang="en-GB" sz="2000" b="1" noProof="0" dirty="0">
                <a:solidFill>
                  <a:srgbClr val="10305A"/>
                </a:solidFill>
                <a:latin typeface="Calibri" pitchFamily="34" charset="0"/>
                <a:ea typeface="Calibri" pitchFamily="34" charset="-122"/>
                <a:cs typeface="Calibri" pitchFamily="34" charset="-120"/>
              </a:rPr>
              <a:t>🌱  Before puberty</a:t>
            </a:r>
            <a:endParaRPr lang="en-GB" sz="2000" dirty="0"/>
          </a:p>
        </p:txBody>
      </p:sp>
      <p:sp>
        <p:nvSpPr>
          <p:cNvPr id="7" name="Text 7"/>
          <p:cNvSpPr txBox="1"/>
          <p:nvPr/>
        </p:nvSpPr>
        <p:spPr>
          <a:xfrm>
            <a:off x="822960" y="1907487"/>
            <a:ext cx="3051048" cy="1780000"/>
          </a:xfrm>
          <a:prstGeom prst="rect">
            <a:avLst/>
          </a:prstGeom>
          <a:noFill/>
          <a:ln/>
        </p:spPr>
        <p:txBody>
          <a:bodyPr wrap="square" lIns="0" tIns="0" rIns="0" bIns="0" rtlCol="0" anchor="t"/>
          <a:lstStyle/>
          <a:p>
            <a:pPr marL="0" indent="0" algn="l">
              <a:lnSpc>
                <a:spcPct val="104000"/>
              </a:lnSpc>
              <a:spcAft>
                <a:spcPts val="600"/>
              </a:spcAft>
              <a:buNone/>
            </a:pPr>
            <a:r>
              <a:rPr lang="en-GB" sz="1600" noProof="0" dirty="0">
                <a:solidFill>
                  <a:srgbClr val="23303F"/>
                </a:solidFill>
                <a:latin typeface="Calibri" pitchFamily="34" charset="0"/>
                <a:ea typeface="Calibri" pitchFamily="34" charset="-122"/>
                <a:cs typeface="Calibri" pitchFamily="34" charset="-120"/>
              </a:rPr>
              <a:t>The SCJ lies at, or very close to, the external os.</a:t>
            </a:r>
            <a:endParaRPr lang="en-GB" sz="1600" dirty="0"/>
          </a:p>
        </p:txBody>
      </p:sp>
      <p:sp>
        <p:nvSpPr>
          <p:cNvPr id="8" name="Shape 8"/>
          <p:cNvSpPr/>
          <p:nvPr/>
        </p:nvSpPr>
        <p:spPr>
          <a:xfrm>
            <a:off x="4312920" y="1337518"/>
            <a:ext cx="3563112" cy="4047402"/>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9" name="Text 9"/>
          <p:cNvSpPr txBox="1"/>
          <p:nvPr/>
        </p:nvSpPr>
        <p:spPr>
          <a:xfrm>
            <a:off x="4568952" y="1327487"/>
            <a:ext cx="3051048" cy="520000"/>
          </a:xfrm>
          <a:prstGeom prst="rect">
            <a:avLst/>
          </a:prstGeom>
          <a:noFill/>
          <a:ln/>
        </p:spPr>
        <p:txBody>
          <a:bodyPr wrap="square" lIns="0" tIns="0" rIns="0" bIns="0" rtlCol="0" anchor="ctr"/>
          <a:lstStyle/>
          <a:p>
            <a:pPr marL="0" indent="0" algn="l">
              <a:buNone/>
            </a:pPr>
            <a:r>
              <a:rPr lang="en-GB" sz="2000" b="1" noProof="0" dirty="0">
                <a:solidFill>
                  <a:srgbClr val="10305A"/>
                </a:solidFill>
                <a:latin typeface="Calibri" pitchFamily="34" charset="0"/>
                <a:ea typeface="Calibri" pitchFamily="34" charset="-122"/>
                <a:cs typeface="Calibri" pitchFamily="34" charset="-120"/>
              </a:rPr>
              <a:t>🌸  Puberty and pregnancy</a:t>
            </a:r>
            <a:endParaRPr lang="en-GB" sz="2000" dirty="0"/>
          </a:p>
        </p:txBody>
      </p:sp>
      <p:sp>
        <p:nvSpPr>
          <p:cNvPr id="10" name="Text 10"/>
          <p:cNvSpPr txBox="1"/>
          <p:nvPr/>
        </p:nvSpPr>
        <p:spPr>
          <a:xfrm>
            <a:off x="4568952" y="1907487"/>
            <a:ext cx="3051048" cy="1780000"/>
          </a:xfrm>
          <a:prstGeom prst="rect">
            <a:avLst/>
          </a:prstGeom>
          <a:noFill/>
          <a:ln/>
        </p:spPr>
        <p:txBody>
          <a:bodyPr wrap="square" lIns="0" tIns="0" rIns="0" bIns="0" rtlCol="0" anchor="t"/>
          <a:lstStyle/>
          <a:p>
            <a:pPr marL="0" indent="0" algn="l">
              <a:lnSpc>
                <a:spcPct val="104000"/>
              </a:lnSpc>
              <a:spcAft>
                <a:spcPts val="600"/>
              </a:spcAft>
              <a:buNone/>
            </a:pPr>
            <a:r>
              <a:rPr lang="en-GB" sz="1600" noProof="0" dirty="0">
                <a:solidFill>
                  <a:srgbClr val="23303F"/>
                </a:solidFill>
                <a:latin typeface="Calibri" pitchFamily="34" charset="0"/>
                <a:ea typeface="Calibri" pitchFamily="34" charset="-122"/>
                <a:cs typeface="Calibri" pitchFamily="34" charset="-120"/>
              </a:rPr>
              <a:t>Under oestrogen the cervix enlarges and the columnar lining turns out onto the ectocervix (ectropion). The SCJ moves out, away from the os. Hormonal contraception can have the same effect.</a:t>
            </a:r>
            <a:endParaRPr lang="en-GB" sz="1600" dirty="0"/>
          </a:p>
        </p:txBody>
      </p:sp>
      <p:sp>
        <p:nvSpPr>
          <p:cNvPr id="11" name="Shape 11"/>
          <p:cNvSpPr/>
          <p:nvPr/>
        </p:nvSpPr>
        <p:spPr>
          <a:xfrm>
            <a:off x="8058912" y="1330742"/>
            <a:ext cx="3563112" cy="4054178"/>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2" name="Text 12"/>
          <p:cNvSpPr txBox="1"/>
          <p:nvPr/>
        </p:nvSpPr>
        <p:spPr>
          <a:xfrm>
            <a:off x="8314944" y="1327487"/>
            <a:ext cx="3051048" cy="520000"/>
          </a:xfrm>
          <a:prstGeom prst="rect">
            <a:avLst/>
          </a:prstGeom>
          <a:noFill/>
          <a:ln/>
        </p:spPr>
        <p:txBody>
          <a:bodyPr wrap="square" lIns="0" tIns="0" rIns="0" bIns="0" rtlCol="0" anchor="ctr"/>
          <a:lstStyle/>
          <a:p>
            <a:pPr marL="0" indent="0" algn="l">
              <a:buNone/>
            </a:pPr>
            <a:r>
              <a:rPr lang="en-GB" sz="2000" b="1" noProof="0" dirty="0">
                <a:solidFill>
                  <a:srgbClr val="10305A"/>
                </a:solidFill>
                <a:latin typeface="Calibri" pitchFamily="34" charset="0"/>
                <a:ea typeface="Calibri" pitchFamily="34" charset="-122"/>
                <a:cs typeface="Calibri" pitchFamily="34" charset="-120"/>
              </a:rPr>
              <a:t>🍂  After menopause</a:t>
            </a:r>
            <a:endParaRPr lang="en-GB" sz="2000" dirty="0"/>
          </a:p>
        </p:txBody>
      </p:sp>
      <p:sp>
        <p:nvSpPr>
          <p:cNvPr id="13" name="Text 13"/>
          <p:cNvSpPr txBox="1"/>
          <p:nvPr/>
        </p:nvSpPr>
        <p:spPr>
          <a:xfrm>
            <a:off x="8314944" y="1907487"/>
            <a:ext cx="3051048" cy="1780000"/>
          </a:xfrm>
          <a:prstGeom prst="rect">
            <a:avLst/>
          </a:prstGeom>
          <a:noFill/>
          <a:ln/>
        </p:spPr>
        <p:txBody>
          <a:bodyPr wrap="square" lIns="0" tIns="0" rIns="0" bIns="0" rtlCol="0" anchor="t"/>
          <a:lstStyle/>
          <a:p>
            <a:pPr marL="0" indent="0" algn="l">
              <a:lnSpc>
                <a:spcPct val="104000"/>
              </a:lnSpc>
              <a:spcAft>
                <a:spcPts val="600"/>
              </a:spcAft>
              <a:buNone/>
            </a:pPr>
            <a:r>
              <a:rPr lang="en-GB" sz="1600" noProof="0" dirty="0">
                <a:solidFill>
                  <a:srgbClr val="23303F"/>
                </a:solidFill>
                <a:latin typeface="Calibri" pitchFamily="34" charset="0"/>
                <a:ea typeface="Calibri" pitchFamily="34" charset="-122"/>
                <a:cs typeface="Calibri" pitchFamily="34" charset="-120"/>
              </a:rPr>
              <a:t>With less oestrogen the cervix shrinks. The SCJ moves back into the canal and is often not visible.</a:t>
            </a:r>
            <a:endParaRPr lang="en-GB" sz="1600" dirty="0"/>
          </a:p>
        </p:txBody>
      </p:sp>
      <p:sp>
        <p:nvSpPr>
          <p:cNvPr id="15" name="Shape 15"/>
          <p:cNvSpPr/>
          <p:nvPr/>
        </p:nvSpPr>
        <p:spPr>
          <a:xfrm>
            <a:off x="566928" y="5520000"/>
            <a:ext cx="11055096" cy="700000"/>
          </a:xfrm>
          <a:prstGeom prst="roundRect">
            <a:avLst>
              <a:gd name="adj" fmla="val 3000"/>
            </a:avLst>
          </a:prstGeom>
          <a:solidFill>
            <a:srgbClr val="FFF2DF"/>
          </a:solidFill>
          <a:ln w="12700">
            <a:solidFill>
              <a:srgbClr val="E8DDC7"/>
            </a:solidFill>
          </a:ln>
        </p:spPr>
        <p:txBody>
          <a:bodyPr/>
          <a:lstStyle/>
          <a:p>
            <a:endParaRPr lang="en-GB" sz="1600" dirty="0"/>
          </a:p>
        </p:txBody>
      </p:sp>
      <p:sp>
        <p:nvSpPr>
          <p:cNvPr id="16" name="Text 16"/>
          <p:cNvSpPr txBox="1"/>
          <p:nvPr/>
        </p:nvSpPr>
        <p:spPr>
          <a:xfrm>
            <a:off x="841248" y="5570000"/>
            <a:ext cx="10506456" cy="600000"/>
          </a:xfrm>
          <a:prstGeom prst="rect">
            <a:avLst/>
          </a:prstGeom>
          <a:noFill/>
          <a:ln/>
        </p:spPr>
        <p:txBody>
          <a:bodyPr wrap="square" lIns="0" tIns="0" rIns="0" bIns="0" rtlCol="0" anchor="ctr"/>
          <a:lstStyle/>
          <a:p>
            <a:pPr marL="0" indent="0" algn="l">
              <a:buNone/>
            </a:pPr>
            <a:r>
              <a:rPr lang="en-GB" sz="1600" b="1" noProof="0" dirty="0">
                <a:solidFill>
                  <a:srgbClr val="7B5727"/>
                </a:solidFill>
                <a:latin typeface="Calibri" pitchFamily="34" charset="0"/>
                <a:ea typeface="Calibri" pitchFamily="34" charset="-122"/>
                <a:cs typeface="Calibri" pitchFamily="34" charset="-120"/>
              </a:rPr>
              <a:t>📌 Remember:  </a:t>
            </a:r>
            <a:r>
              <a:rPr lang="en-GB" sz="1600" noProof="0" dirty="0">
                <a:solidFill>
                  <a:srgbClr val="23303F"/>
                </a:solidFill>
                <a:latin typeface="Calibri" pitchFamily="34" charset="0"/>
                <a:ea typeface="Calibri" pitchFamily="34" charset="-122"/>
                <a:cs typeface="Calibri" pitchFamily="34" charset="-120"/>
              </a:rPr>
              <a:t>When the SCJ lies inside the canal, the whole transformation zone cannot be seen. This is common after the menopause.</a:t>
            </a:r>
            <a:endParaRPr lang="en-GB" sz="1600" dirty="0"/>
          </a:p>
        </p:txBody>
      </p:sp>
      <p:sp>
        <p:nvSpPr>
          <p:cNvPr id="17" name="Text 17"/>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18" name="Text 18"/>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33</a:t>
            </a:r>
            <a:endParaRPr lang="en-GB" sz="1100" dirty="0"/>
          </a:p>
        </p:txBody>
      </p:sp>
      <p:pic>
        <p:nvPicPr>
          <p:cNvPr id="26" name="Imagen 25">
            <a:extLst>
              <a:ext uri="{FF2B5EF4-FFF2-40B4-BE49-F238E27FC236}">
                <a16:creationId xmlns:a16="http://schemas.microsoft.com/office/drawing/2014/main" id="{7D418113-0B29-1E99-38A3-E597F85CD8E7}"/>
              </a:ext>
            </a:extLst>
          </p:cNvPr>
          <p:cNvPicPr>
            <a:picLocks noChangeAspect="1"/>
          </p:cNvPicPr>
          <p:nvPr/>
        </p:nvPicPr>
        <p:blipFill>
          <a:blip r:embed="rId2"/>
          <a:srcRect b="7695"/>
          <a:stretch>
            <a:fillRect/>
          </a:stretch>
        </p:blipFill>
        <p:spPr>
          <a:xfrm>
            <a:off x="800188" y="3444401"/>
            <a:ext cx="3096591" cy="1905535"/>
          </a:xfrm>
          <a:prstGeom prst="rect">
            <a:avLst/>
          </a:prstGeom>
        </p:spPr>
      </p:pic>
      <p:pic>
        <p:nvPicPr>
          <p:cNvPr id="28" name="Imagen 27">
            <a:extLst>
              <a:ext uri="{FF2B5EF4-FFF2-40B4-BE49-F238E27FC236}">
                <a16:creationId xmlns:a16="http://schemas.microsoft.com/office/drawing/2014/main" id="{8165E834-2306-FA5C-AC39-E055D5EE39C8}"/>
              </a:ext>
            </a:extLst>
          </p:cNvPr>
          <p:cNvPicPr>
            <a:picLocks noChangeAspect="1"/>
          </p:cNvPicPr>
          <p:nvPr/>
        </p:nvPicPr>
        <p:blipFill>
          <a:blip r:embed="rId3"/>
          <a:srcRect t="5871" b="4893"/>
          <a:stretch>
            <a:fillRect/>
          </a:stretch>
        </p:blipFill>
        <p:spPr>
          <a:xfrm>
            <a:off x="4479500" y="3429000"/>
            <a:ext cx="3228996" cy="1920936"/>
          </a:xfrm>
          <a:prstGeom prst="rect">
            <a:avLst/>
          </a:prstGeom>
        </p:spPr>
      </p:pic>
      <p:pic>
        <p:nvPicPr>
          <p:cNvPr id="30" name="Imagen 29">
            <a:extLst>
              <a:ext uri="{FF2B5EF4-FFF2-40B4-BE49-F238E27FC236}">
                <a16:creationId xmlns:a16="http://schemas.microsoft.com/office/drawing/2014/main" id="{E2361187-DF79-282B-4CF2-60B8F35E52B5}"/>
              </a:ext>
            </a:extLst>
          </p:cNvPr>
          <p:cNvPicPr>
            <a:picLocks noChangeAspect="1"/>
          </p:cNvPicPr>
          <p:nvPr/>
        </p:nvPicPr>
        <p:blipFill>
          <a:blip r:embed="rId4"/>
          <a:srcRect t="6353" b="4670"/>
          <a:stretch>
            <a:fillRect/>
          </a:stretch>
        </p:blipFill>
        <p:spPr>
          <a:xfrm>
            <a:off x="8230131" y="3444400"/>
            <a:ext cx="3212387" cy="190553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1 · ANATOMY</a:t>
            </a:r>
            <a:endParaRPr lang="en-GB"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Squamous metaplasia: the original and the new SCJ</a:t>
            </a:r>
          </a:p>
        </p:txBody>
      </p:sp>
      <p:sp>
        <p:nvSpPr>
          <p:cNvPr id="4" name="Shape 4"/>
          <p:cNvSpPr/>
          <p:nvPr/>
        </p:nvSpPr>
        <p:spPr>
          <a:xfrm>
            <a:off x="566928" y="1450000"/>
            <a:ext cx="4634992" cy="84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5" name="Text 5"/>
          <p:cNvSpPr txBox="1"/>
          <p:nvPr/>
        </p:nvSpPr>
        <p:spPr>
          <a:xfrm>
            <a:off x="716928" y="1450000"/>
            <a:ext cx="520000" cy="84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1️⃣</a:t>
            </a:r>
            <a:endParaRPr lang="en-GB" sz="2000" dirty="0"/>
          </a:p>
        </p:txBody>
      </p:sp>
      <p:sp>
        <p:nvSpPr>
          <p:cNvPr id="6" name="Text 6"/>
          <p:cNvSpPr txBox="1"/>
          <p:nvPr/>
        </p:nvSpPr>
        <p:spPr>
          <a:xfrm>
            <a:off x="1316928" y="1450000"/>
            <a:ext cx="3884992" cy="840000"/>
          </a:xfrm>
          <a:prstGeom prst="rect">
            <a:avLst/>
          </a:prstGeom>
          <a:noFill/>
          <a:ln/>
        </p:spPr>
        <p:txBody>
          <a:bodyPr wrap="square" lIns="0" tIns="0" rIns="0" bIns="0" rtlCol="0" anchor="ctr"/>
          <a:lstStyle/>
          <a:p>
            <a:pPr marL="0" indent="0" algn="l">
              <a:buNone/>
            </a:pPr>
            <a:r>
              <a:rPr lang="en-GB" sz="1700" noProof="0" dirty="0">
                <a:solidFill>
                  <a:srgbClr val="23303F"/>
                </a:solidFill>
                <a:latin typeface="Calibri" pitchFamily="34" charset="0"/>
                <a:ea typeface="Calibri" pitchFamily="34" charset="-122"/>
                <a:cs typeface="Calibri" pitchFamily="34" charset="-120"/>
              </a:rPr>
              <a:t>The everted columnar lining is exposed to the acidic vaginal environment.</a:t>
            </a:r>
            <a:endParaRPr lang="en-GB" sz="1700" dirty="0"/>
          </a:p>
        </p:txBody>
      </p:sp>
      <p:sp>
        <p:nvSpPr>
          <p:cNvPr id="7" name="Shape 7"/>
          <p:cNvSpPr/>
          <p:nvPr/>
        </p:nvSpPr>
        <p:spPr>
          <a:xfrm>
            <a:off x="566928" y="2400000"/>
            <a:ext cx="4634992" cy="84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8" name="Text 8"/>
          <p:cNvSpPr txBox="1"/>
          <p:nvPr/>
        </p:nvSpPr>
        <p:spPr>
          <a:xfrm>
            <a:off x="716928" y="2400000"/>
            <a:ext cx="520000" cy="84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2️⃣</a:t>
            </a:r>
            <a:endParaRPr lang="en-GB" sz="2000" dirty="0"/>
          </a:p>
        </p:txBody>
      </p:sp>
      <p:sp>
        <p:nvSpPr>
          <p:cNvPr id="9" name="Text 9"/>
          <p:cNvSpPr txBox="1"/>
          <p:nvPr/>
        </p:nvSpPr>
        <p:spPr>
          <a:xfrm>
            <a:off x="1316928" y="2400000"/>
            <a:ext cx="3884992" cy="840000"/>
          </a:xfrm>
          <a:prstGeom prst="rect">
            <a:avLst/>
          </a:prstGeom>
          <a:noFill/>
          <a:ln/>
        </p:spPr>
        <p:txBody>
          <a:bodyPr wrap="square" lIns="0" tIns="0" rIns="0" bIns="0" rtlCol="0" anchor="ctr"/>
          <a:lstStyle/>
          <a:p>
            <a:pPr marL="0" indent="0" algn="l">
              <a:buNone/>
            </a:pPr>
            <a:r>
              <a:rPr lang="en-GB" sz="1700" noProof="0" dirty="0">
                <a:solidFill>
                  <a:srgbClr val="23303F"/>
                </a:solidFill>
                <a:latin typeface="Calibri" pitchFamily="34" charset="0"/>
                <a:ea typeface="Calibri" pitchFamily="34" charset="-122"/>
                <a:cs typeface="Calibri" pitchFamily="34" charset="-120"/>
              </a:rPr>
              <a:t>It is gradually replaced by new squamous epithelium. This normal process is called squamous metaplasia.</a:t>
            </a:r>
            <a:endParaRPr lang="en-GB" sz="1700" dirty="0"/>
          </a:p>
        </p:txBody>
      </p:sp>
      <p:sp>
        <p:nvSpPr>
          <p:cNvPr id="10" name="Shape 10"/>
          <p:cNvSpPr/>
          <p:nvPr/>
        </p:nvSpPr>
        <p:spPr>
          <a:xfrm>
            <a:off x="566928" y="3350000"/>
            <a:ext cx="4634992" cy="84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1" name="Text 11"/>
          <p:cNvSpPr txBox="1"/>
          <p:nvPr/>
        </p:nvSpPr>
        <p:spPr>
          <a:xfrm>
            <a:off x="716928" y="3350000"/>
            <a:ext cx="520000" cy="84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3️⃣</a:t>
            </a:r>
            <a:endParaRPr lang="en-GB" sz="2000" dirty="0"/>
          </a:p>
        </p:txBody>
      </p:sp>
      <p:sp>
        <p:nvSpPr>
          <p:cNvPr id="12" name="Text 12"/>
          <p:cNvSpPr txBox="1"/>
          <p:nvPr/>
        </p:nvSpPr>
        <p:spPr>
          <a:xfrm>
            <a:off x="1316928" y="3350000"/>
            <a:ext cx="3884992" cy="840000"/>
          </a:xfrm>
          <a:prstGeom prst="rect">
            <a:avLst/>
          </a:prstGeom>
          <a:noFill/>
          <a:ln/>
        </p:spPr>
        <p:txBody>
          <a:bodyPr wrap="square" lIns="0" tIns="0" rIns="0" bIns="0" rtlCol="0" anchor="ctr"/>
          <a:lstStyle/>
          <a:p>
            <a:pPr marL="0" indent="0" algn="l">
              <a:buNone/>
            </a:pPr>
            <a:r>
              <a:rPr lang="en-GB" sz="1700" noProof="0" dirty="0">
                <a:solidFill>
                  <a:srgbClr val="23303F"/>
                </a:solidFill>
                <a:latin typeface="Calibri" pitchFamily="34" charset="0"/>
                <a:ea typeface="Calibri" pitchFamily="34" charset="-122"/>
                <a:cs typeface="Calibri" pitchFamily="34" charset="-120"/>
              </a:rPr>
              <a:t>Metaplasia starts at the original SCJ and moves inwards, towards the external os.</a:t>
            </a:r>
            <a:endParaRPr lang="en-GB" sz="1700" dirty="0"/>
          </a:p>
        </p:txBody>
      </p:sp>
      <p:sp>
        <p:nvSpPr>
          <p:cNvPr id="13" name="Shape 13"/>
          <p:cNvSpPr/>
          <p:nvPr/>
        </p:nvSpPr>
        <p:spPr>
          <a:xfrm>
            <a:off x="566928" y="4300000"/>
            <a:ext cx="4634992" cy="84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4" name="Text 14"/>
          <p:cNvSpPr txBox="1"/>
          <p:nvPr/>
        </p:nvSpPr>
        <p:spPr>
          <a:xfrm>
            <a:off x="716928" y="4300000"/>
            <a:ext cx="520000" cy="84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4️⃣</a:t>
            </a:r>
            <a:endParaRPr lang="en-GB" sz="2000" dirty="0"/>
          </a:p>
        </p:txBody>
      </p:sp>
      <p:sp>
        <p:nvSpPr>
          <p:cNvPr id="15" name="Text 15"/>
          <p:cNvSpPr txBox="1"/>
          <p:nvPr/>
        </p:nvSpPr>
        <p:spPr>
          <a:xfrm>
            <a:off x="1316928" y="4300000"/>
            <a:ext cx="3884992" cy="840000"/>
          </a:xfrm>
          <a:prstGeom prst="rect">
            <a:avLst/>
          </a:prstGeom>
          <a:noFill/>
          <a:ln/>
        </p:spPr>
        <p:txBody>
          <a:bodyPr wrap="square" lIns="0" tIns="0" rIns="0" bIns="0" rtlCol="0" anchor="ctr"/>
          <a:lstStyle/>
          <a:p>
            <a:pPr marL="0" indent="0" algn="l">
              <a:buNone/>
            </a:pPr>
            <a:r>
              <a:rPr lang="en-GB" sz="1700" noProof="0" dirty="0">
                <a:solidFill>
                  <a:srgbClr val="23303F"/>
                </a:solidFill>
                <a:latin typeface="Calibri" pitchFamily="34" charset="0"/>
                <a:ea typeface="Calibri" pitchFamily="34" charset="-122"/>
                <a:cs typeface="Calibri" pitchFamily="34" charset="-120"/>
              </a:rPr>
              <a:t>A new SCJ forms, where the new squamous epithelium meets the columnar lining.</a:t>
            </a:r>
            <a:endParaRPr lang="en-GB" sz="1700" dirty="0"/>
          </a:p>
        </p:txBody>
      </p:sp>
      <p:sp>
        <p:nvSpPr>
          <p:cNvPr id="17" name="Shape 17"/>
          <p:cNvSpPr/>
          <p:nvPr/>
        </p:nvSpPr>
        <p:spPr>
          <a:xfrm>
            <a:off x="566928" y="5330000"/>
            <a:ext cx="11055096" cy="880000"/>
          </a:xfrm>
          <a:prstGeom prst="roundRect">
            <a:avLst>
              <a:gd name="adj" fmla="val 3000"/>
            </a:avLst>
          </a:prstGeom>
          <a:solidFill>
            <a:srgbClr val="EAF7F0"/>
          </a:solidFill>
          <a:ln w="12700">
            <a:solidFill>
              <a:srgbClr val="C0D4CB"/>
            </a:solidFill>
          </a:ln>
        </p:spPr>
        <p:txBody>
          <a:bodyPr/>
          <a:lstStyle/>
          <a:p>
            <a:endParaRPr lang="en-GB" sz="1600" dirty="0"/>
          </a:p>
        </p:txBody>
      </p:sp>
      <p:sp>
        <p:nvSpPr>
          <p:cNvPr id="18" name="Text 18"/>
          <p:cNvSpPr txBox="1"/>
          <p:nvPr/>
        </p:nvSpPr>
        <p:spPr>
          <a:xfrm>
            <a:off x="841248" y="5380000"/>
            <a:ext cx="10506456" cy="780000"/>
          </a:xfrm>
          <a:prstGeom prst="rect">
            <a:avLst/>
          </a:prstGeom>
          <a:noFill/>
          <a:ln/>
        </p:spPr>
        <p:txBody>
          <a:bodyPr wrap="square" lIns="0" tIns="0" rIns="0" bIns="0" rtlCol="0" anchor="ctr"/>
          <a:lstStyle/>
          <a:p>
            <a:pPr marL="0" indent="0" algn="l">
              <a:buNone/>
            </a:pPr>
            <a:r>
              <a:rPr lang="en-GB" sz="1600" b="1" noProof="0" dirty="0">
                <a:solidFill>
                  <a:srgbClr val="19543E"/>
                </a:solidFill>
                <a:latin typeface="Calibri" pitchFamily="34" charset="0"/>
                <a:ea typeface="Calibri" pitchFamily="34" charset="-122"/>
                <a:cs typeface="Calibri" pitchFamily="34" charset="-120"/>
              </a:rPr>
              <a:t>✅ Normal, not disease:  </a:t>
            </a:r>
            <a:r>
              <a:rPr lang="en-GB" sz="1600" noProof="0" dirty="0">
                <a:solidFill>
                  <a:srgbClr val="23303F"/>
                </a:solidFill>
                <a:latin typeface="Calibri" pitchFamily="34" charset="0"/>
                <a:ea typeface="Calibri" pitchFamily="34" charset="-122"/>
                <a:cs typeface="Calibri" pitchFamily="34" charset="-120"/>
              </a:rPr>
              <a:t>Squamous metaplasia is a physiological change. It matters because these actively changing cells are the ones most vulnerable to high-risk HPV.</a:t>
            </a:r>
            <a:endParaRPr lang="en-GB" sz="1600" dirty="0"/>
          </a:p>
        </p:txBody>
      </p:sp>
      <p:sp>
        <p:nvSpPr>
          <p:cNvPr id="19" name="Text 19"/>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20" name="Text 20"/>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34</a:t>
            </a:r>
            <a:endParaRPr lang="en-GB" sz="1100" dirty="0"/>
          </a:p>
        </p:txBody>
      </p:sp>
      <p:pic>
        <p:nvPicPr>
          <p:cNvPr id="21" name="Imagen 20">
            <a:extLst>
              <a:ext uri="{FF2B5EF4-FFF2-40B4-BE49-F238E27FC236}">
                <a16:creationId xmlns:a16="http://schemas.microsoft.com/office/drawing/2014/main" id="{256DEAFC-6CFF-5DA0-4791-845BC38EAF30}"/>
              </a:ext>
            </a:extLst>
          </p:cNvPr>
          <p:cNvPicPr>
            <a:picLocks noChangeAspect="1"/>
          </p:cNvPicPr>
          <p:nvPr/>
        </p:nvPicPr>
        <p:blipFill>
          <a:blip r:embed="rId2"/>
          <a:srcRect t="8235"/>
          <a:stretch>
            <a:fillRect/>
          </a:stretch>
        </p:blipFill>
        <p:spPr>
          <a:xfrm>
            <a:off x="5337847" y="1461372"/>
            <a:ext cx="6273152" cy="3837693"/>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35</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1 · ANATOMY</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The transformation zone</a:t>
            </a:r>
            <a:endParaRPr lang="en-GB" sz="3200" noProof="0" dirty="0"/>
          </a:p>
        </p:txBody>
      </p:sp>
      <p:sp>
        <p:nvSpPr>
          <p:cNvPr id="6" name="Shape 4"/>
          <p:cNvSpPr/>
          <p:nvPr/>
        </p:nvSpPr>
        <p:spPr>
          <a:xfrm>
            <a:off x="566928" y="1381615"/>
            <a:ext cx="3563112" cy="1590185"/>
          </a:xfrm>
          <a:prstGeom prst="roundRect">
            <a:avLst>
              <a:gd name="adj" fmla="val 3000"/>
            </a:avLst>
          </a:prstGeom>
          <a:solidFill>
            <a:srgbClr val="F3F6FB"/>
          </a:solidFill>
          <a:ln w="12700">
            <a:solidFill>
              <a:srgbClr val="E0E3EA"/>
            </a:solidFill>
            <a:prstDash val="solid"/>
          </a:ln>
        </p:spPr>
        <p:txBody>
          <a:bodyPr/>
          <a:lstStyle/>
          <a:p>
            <a:endParaRPr lang="en-GB" sz="1600" noProof="0" dirty="0"/>
          </a:p>
        </p:txBody>
      </p:sp>
      <p:sp>
        <p:nvSpPr>
          <p:cNvPr id="7" name="Text 5"/>
          <p:cNvSpPr txBox="1"/>
          <p:nvPr/>
        </p:nvSpPr>
        <p:spPr>
          <a:xfrm>
            <a:off x="822960" y="1390321"/>
            <a:ext cx="3051048" cy="56692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  What it is</a:t>
            </a:r>
            <a:endParaRPr lang="en-GB" noProof="0" dirty="0"/>
          </a:p>
        </p:txBody>
      </p:sp>
      <p:sp>
        <p:nvSpPr>
          <p:cNvPr id="8" name="Text 6"/>
          <p:cNvSpPr txBox="1"/>
          <p:nvPr/>
        </p:nvSpPr>
        <p:spPr>
          <a:xfrm>
            <a:off x="822960" y="1895856"/>
            <a:ext cx="3051048" cy="1773936"/>
          </a:xfrm>
          <a:prstGeom prst="rect">
            <a:avLst/>
          </a:prstGeom>
          <a:noFill/>
          <a:ln/>
        </p:spPr>
        <p:txBody>
          <a:bodyPr wrap="square" lIns="0" tIns="0" rIns="0" bIns="0" rtlCol="0" anchor="t"/>
          <a:lstStyle/>
          <a:p>
            <a:pPr marL="0" indent="0">
              <a:lnSpc>
                <a:spcPct val="106000"/>
              </a:lnSpc>
              <a:buNone/>
            </a:pPr>
            <a:r>
              <a:rPr lang="en-GB" sz="1600" noProof="0" dirty="0">
                <a:solidFill>
                  <a:srgbClr val="23303F"/>
                </a:solidFill>
                <a:latin typeface="Calibri" pitchFamily="34" charset="0"/>
                <a:ea typeface="Calibri" pitchFamily="34" charset="-122"/>
                <a:cs typeface="Calibri" pitchFamily="34" charset="-120"/>
              </a:rPr>
              <a:t>The area between the original SCJ and the new SCJ, where squamous metaplasia has taken place.</a:t>
            </a:r>
            <a:endParaRPr lang="en-GB" sz="1600" noProof="0" dirty="0"/>
          </a:p>
        </p:txBody>
      </p:sp>
      <p:sp>
        <p:nvSpPr>
          <p:cNvPr id="9" name="Shape 7"/>
          <p:cNvSpPr/>
          <p:nvPr/>
        </p:nvSpPr>
        <p:spPr>
          <a:xfrm>
            <a:off x="4312920" y="1381615"/>
            <a:ext cx="3563112" cy="1590185"/>
          </a:xfrm>
          <a:prstGeom prst="roundRect">
            <a:avLst>
              <a:gd name="adj" fmla="val 3000"/>
            </a:avLst>
          </a:prstGeom>
          <a:solidFill>
            <a:srgbClr val="F3F6FB"/>
          </a:solidFill>
          <a:ln w="12700">
            <a:solidFill>
              <a:srgbClr val="E0E3EA"/>
            </a:solidFill>
            <a:prstDash val="solid"/>
          </a:ln>
        </p:spPr>
        <p:txBody>
          <a:bodyPr/>
          <a:lstStyle/>
          <a:p>
            <a:endParaRPr lang="en-GB" sz="1600" noProof="0" dirty="0"/>
          </a:p>
        </p:txBody>
      </p:sp>
      <p:sp>
        <p:nvSpPr>
          <p:cNvPr id="10" name="Text 8"/>
          <p:cNvSpPr txBox="1"/>
          <p:nvPr/>
        </p:nvSpPr>
        <p:spPr>
          <a:xfrm>
            <a:off x="4568952" y="1390321"/>
            <a:ext cx="3051048" cy="56692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  Why it matters</a:t>
            </a:r>
            <a:endParaRPr lang="en-GB" noProof="0" dirty="0"/>
          </a:p>
        </p:txBody>
      </p:sp>
      <p:sp>
        <p:nvSpPr>
          <p:cNvPr id="11" name="Text 9"/>
          <p:cNvSpPr txBox="1"/>
          <p:nvPr/>
        </p:nvSpPr>
        <p:spPr>
          <a:xfrm>
            <a:off x="4568952" y="1895856"/>
            <a:ext cx="3051048" cy="1773936"/>
          </a:xfrm>
          <a:prstGeom prst="rect">
            <a:avLst/>
          </a:prstGeom>
          <a:noFill/>
          <a:ln/>
        </p:spPr>
        <p:txBody>
          <a:bodyPr wrap="square" lIns="0" tIns="0" rIns="0" bIns="0" rtlCol="0" anchor="t"/>
          <a:lstStyle/>
          <a:p>
            <a:pPr marL="0" indent="0">
              <a:lnSpc>
                <a:spcPct val="106000"/>
              </a:lnSpc>
              <a:buNone/>
            </a:pPr>
            <a:r>
              <a:rPr lang="en-GB" sz="1600" noProof="0" dirty="0">
                <a:solidFill>
                  <a:srgbClr val="23303F"/>
                </a:solidFill>
                <a:latin typeface="Calibri" pitchFamily="34" charset="0"/>
                <a:ea typeface="Calibri" pitchFamily="34" charset="-122"/>
                <a:cs typeface="Calibri" pitchFamily="34" charset="-120"/>
              </a:rPr>
              <a:t>Almost all cervical cancers begin here, because these actively changing cells are the ones HPV affects.</a:t>
            </a:r>
            <a:endParaRPr lang="en-GB" sz="1600" noProof="0" dirty="0"/>
          </a:p>
        </p:txBody>
      </p:sp>
      <p:sp>
        <p:nvSpPr>
          <p:cNvPr id="12" name="Shape 10"/>
          <p:cNvSpPr/>
          <p:nvPr/>
        </p:nvSpPr>
        <p:spPr>
          <a:xfrm>
            <a:off x="8058912" y="1381615"/>
            <a:ext cx="3563112" cy="1590185"/>
          </a:xfrm>
          <a:prstGeom prst="roundRect">
            <a:avLst>
              <a:gd name="adj" fmla="val 3000"/>
            </a:avLst>
          </a:prstGeom>
          <a:solidFill>
            <a:srgbClr val="F3F6FB"/>
          </a:solidFill>
          <a:ln w="12700">
            <a:solidFill>
              <a:srgbClr val="E0E3EA"/>
            </a:solidFill>
            <a:prstDash val="solid"/>
          </a:ln>
        </p:spPr>
        <p:txBody>
          <a:bodyPr/>
          <a:lstStyle/>
          <a:p>
            <a:endParaRPr lang="en-GB" sz="1600" noProof="0" dirty="0"/>
          </a:p>
        </p:txBody>
      </p:sp>
      <p:sp>
        <p:nvSpPr>
          <p:cNvPr id="13" name="Text 11"/>
          <p:cNvSpPr txBox="1"/>
          <p:nvPr/>
        </p:nvSpPr>
        <p:spPr>
          <a:xfrm>
            <a:off x="8314944" y="1390321"/>
            <a:ext cx="3051048" cy="56692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  What it changes for you</a:t>
            </a:r>
            <a:endParaRPr lang="en-GB" noProof="0" dirty="0"/>
          </a:p>
        </p:txBody>
      </p:sp>
      <p:sp>
        <p:nvSpPr>
          <p:cNvPr id="14" name="Text 12"/>
          <p:cNvSpPr txBox="1"/>
          <p:nvPr/>
        </p:nvSpPr>
        <p:spPr>
          <a:xfrm>
            <a:off x="8314944" y="1895856"/>
            <a:ext cx="3051048" cy="1773936"/>
          </a:xfrm>
          <a:prstGeom prst="rect">
            <a:avLst/>
          </a:prstGeom>
          <a:noFill/>
          <a:ln/>
        </p:spPr>
        <p:txBody>
          <a:bodyPr wrap="square" lIns="0" tIns="0" rIns="0" bIns="0" rtlCol="0" anchor="t"/>
          <a:lstStyle/>
          <a:p>
            <a:pPr marL="0" indent="0">
              <a:lnSpc>
                <a:spcPct val="106000"/>
              </a:lnSpc>
              <a:buNone/>
            </a:pPr>
            <a:r>
              <a:rPr lang="en-GB" sz="1600" noProof="0" dirty="0">
                <a:solidFill>
                  <a:srgbClr val="23303F"/>
                </a:solidFill>
                <a:latin typeface="Calibri" pitchFamily="34" charset="0"/>
                <a:ea typeface="Calibri" pitchFamily="34" charset="-122"/>
                <a:cs typeface="Calibri" pitchFamily="34" charset="-120"/>
              </a:rPr>
              <a:t>Screening and treatment of precancer both depend on whether this zone can be seen.</a:t>
            </a:r>
            <a:endParaRPr lang="en-GB" sz="1600" noProof="0" dirty="0"/>
          </a:p>
        </p:txBody>
      </p:sp>
      <p:sp>
        <p:nvSpPr>
          <p:cNvPr id="15" name="Shape 13"/>
          <p:cNvSpPr/>
          <p:nvPr/>
        </p:nvSpPr>
        <p:spPr>
          <a:xfrm>
            <a:off x="566928" y="5687136"/>
            <a:ext cx="11055096" cy="633546"/>
          </a:xfrm>
          <a:prstGeom prst="roundRect">
            <a:avLst>
              <a:gd name="adj" fmla="val 8140"/>
            </a:avLst>
          </a:prstGeom>
          <a:solidFill>
            <a:srgbClr val="FFF2DF"/>
          </a:solidFill>
          <a:ln w="12700">
            <a:solidFill>
              <a:srgbClr val="E8DDC7"/>
            </a:solidFill>
            <a:prstDash val="solid"/>
          </a:ln>
        </p:spPr>
        <p:txBody>
          <a:bodyPr/>
          <a:lstStyle/>
          <a:p>
            <a:endParaRPr lang="en-GB" sz="1600" noProof="0" dirty="0"/>
          </a:p>
        </p:txBody>
      </p:sp>
      <p:sp>
        <p:nvSpPr>
          <p:cNvPr id="16" name="Text 14"/>
          <p:cNvSpPr txBox="1"/>
          <p:nvPr/>
        </p:nvSpPr>
        <p:spPr>
          <a:xfrm>
            <a:off x="841248" y="5687136"/>
            <a:ext cx="10506456" cy="676656"/>
          </a:xfrm>
          <a:prstGeom prst="rect">
            <a:avLst/>
          </a:prstGeom>
          <a:noFill/>
          <a:ln/>
        </p:spPr>
        <p:txBody>
          <a:bodyPr wrap="square" lIns="0" tIns="0" rIns="0" bIns="0" rtlCol="0" anchor="ctr"/>
          <a:lstStyle/>
          <a:p>
            <a:pPr marL="0" indent="0">
              <a:lnSpc>
                <a:spcPct val="104000"/>
              </a:lnSpc>
              <a:buNone/>
            </a:pPr>
            <a:r>
              <a:rPr lang="en-GB" sz="1600" b="1" noProof="0" dirty="0">
                <a:solidFill>
                  <a:srgbClr val="7B5727"/>
                </a:solidFill>
                <a:latin typeface="Calibri" pitchFamily="34" charset="0"/>
                <a:ea typeface="Calibri" pitchFamily="34" charset="-122"/>
                <a:cs typeface="Calibri" pitchFamily="34" charset="-120"/>
              </a:rPr>
              <a:t>📌 Remember:  </a:t>
            </a:r>
            <a:r>
              <a:rPr lang="en-GB" sz="1600" noProof="0" dirty="0">
                <a:solidFill>
                  <a:srgbClr val="23303F"/>
                </a:solidFill>
                <a:latin typeface="Calibri" pitchFamily="34" charset="0"/>
                <a:ea typeface="Calibri" pitchFamily="34" charset="-122"/>
                <a:cs typeface="Calibri" pitchFamily="34" charset="-120"/>
              </a:rPr>
              <a:t>When the transformation zone cannot be fully seen, visual inspection is unreliable and ablative treatment of a lesion is not appropriate.</a:t>
            </a:r>
            <a:endParaRPr lang="en-GB" sz="1600" noProof="0" dirty="0"/>
          </a:p>
        </p:txBody>
      </p:sp>
      <p:pic>
        <p:nvPicPr>
          <p:cNvPr id="17" name="Imagen 16">
            <a:extLst>
              <a:ext uri="{FF2B5EF4-FFF2-40B4-BE49-F238E27FC236}">
                <a16:creationId xmlns:a16="http://schemas.microsoft.com/office/drawing/2014/main" id="{726EAD2F-5C51-A856-2EE5-02B334D7166D}"/>
              </a:ext>
            </a:extLst>
          </p:cNvPr>
          <p:cNvPicPr>
            <a:picLocks noChangeAspect="1"/>
          </p:cNvPicPr>
          <p:nvPr/>
        </p:nvPicPr>
        <p:blipFill>
          <a:blip r:embed="rId3"/>
          <a:srcRect/>
          <a:stretch>
            <a:fillRect/>
          </a:stretch>
        </p:blipFill>
        <p:spPr>
          <a:xfrm>
            <a:off x="2415758" y="3006198"/>
            <a:ext cx="6835139" cy="283802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1 · ANATOMY</a:t>
            </a:r>
            <a:endParaRPr lang="en-GB" sz="1200" dirty="0"/>
          </a:p>
        </p:txBody>
      </p:sp>
      <p:sp>
        <p:nvSpPr>
          <p:cNvPr id="3" name="Text 3"/>
          <p:cNvSpPr txBox="1"/>
          <p:nvPr/>
        </p:nvSpPr>
        <p:spPr>
          <a:xfrm>
            <a:off x="566928" y="346781"/>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Three types of transformation zone</a:t>
            </a:r>
          </a:p>
        </p:txBody>
      </p:sp>
      <p:sp>
        <p:nvSpPr>
          <p:cNvPr id="4" name="Text 4"/>
          <p:cNvSpPr txBox="1"/>
          <p:nvPr/>
        </p:nvSpPr>
        <p:spPr>
          <a:xfrm>
            <a:off x="566928" y="1041350"/>
            <a:ext cx="11055096" cy="365760"/>
          </a:xfrm>
          <a:prstGeom prst="rect">
            <a:avLst/>
          </a:prstGeom>
          <a:noFill/>
          <a:ln/>
        </p:spPr>
        <p:txBody>
          <a:bodyPr wrap="square" lIns="0" tIns="0" rIns="0" bIns="0" rtlCol="0" anchor="ctr"/>
          <a:lstStyle/>
          <a:p>
            <a:pPr marL="0" indent="0" algn="l">
              <a:buNone/>
            </a:pPr>
            <a:r>
              <a:rPr lang="en-GB" sz="1800" i="1" noProof="0" dirty="0">
                <a:solidFill>
                  <a:srgbClr val="31507B"/>
                </a:solidFill>
                <a:latin typeface="Calibri" pitchFamily="34" charset="0"/>
                <a:ea typeface="Calibri" pitchFamily="34" charset="-122"/>
                <a:cs typeface="Calibri" pitchFamily="34" charset="-120"/>
              </a:rPr>
              <a:t>The type depends on where the SCJ lies and whether all of it can be seen.</a:t>
            </a:r>
            <a:endParaRPr lang="en-GB" sz="1800" i="1" dirty="0"/>
          </a:p>
        </p:txBody>
      </p:sp>
      <p:sp>
        <p:nvSpPr>
          <p:cNvPr id="5" name="Shape 5"/>
          <p:cNvSpPr/>
          <p:nvPr/>
        </p:nvSpPr>
        <p:spPr>
          <a:xfrm>
            <a:off x="566928" y="1436918"/>
            <a:ext cx="3563112" cy="4379732"/>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6" name="Text 6"/>
          <p:cNvSpPr txBox="1"/>
          <p:nvPr/>
        </p:nvSpPr>
        <p:spPr>
          <a:xfrm>
            <a:off x="822960" y="1556918"/>
            <a:ext cx="3051048" cy="520000"/>
          </a:xfrm>
          <a:prstGeom prst="rect">
            <a:avLst/>
          </a:prstGeom>
          <a:noFill/>
          <a:ln/>
        </p:spPr>
        <p:txBody>
          <a:bodyPr wrap="square" lIns="0" tIns="0" rIns="0" bIns="0" rtlCol="0" anchor="ctr"/>
          <a:lstStyle/>
          <a:p>
            <a:pPr marL="0" indent="0" algn="l">
              <a:buNone/>
            </a:pPr>
            <a:r>
              <a:rPr lang="en-GB" sz="2000" b="1" noProof="0" dirty="0">
                <a:solidFill>
                  <a:srgbClr val="10305A"/>
                </a:solidFill>
                <a:latin typeface="Calibri" pitchFamily="34" charset="0"/>
                <a:ea typeface="Calibri" pitchFamily="34" charset="-122"/>
                <a:cs typeface="Calibri" pitchFamily="34" charset="-120"/>
              </a:rPr>
              <a:t>1️⃣  Type 1</a:t>
            </a:r>
            <a:endParaRPr lang="en-GB" sz="2000" dirty="0"/>
          </a:p>
        </p:txBody>
      </p:sp>
      <p:sp>
        <p:nvSpPr>
          <p:cNvPr id="7" name="Text 7"/>
          <p:cNvSpPr txBox="1"/>
          <p:nvPr/>
        </p:nvSpPr>
        <p:spPr>
          <a:xfrm>
            <a:off x="822960" y="2136918"/>
            <a:ext cx="3051048" cy="1780000"/>
          </a:xfrm>
          <a:prstGeom prst="rect">
            <a:avLst/>
          </a:prstGeom>
          <a:noFill/>
          <a:ln/>
        </p:spPr>
        <p:txBody>
          <a:bodyPr wrap="square" lIns="0" tIns="0" rIns="0" bIns="0" rtlCol="0" anchor="t"/>
          <a:lstStyle/>
          <a:p>
            <a:pPr marL="0" indent="0" algn="l">
              <a:lnSpc>
                <a:spcPct val="104000"/>
              </a:lnSpc>
              <a:spcAft>
                <a:spcPts val="600"/>
              </a:spcAft>
              <a:buNone/>
            </a:pPr>
            <a:r>
              <a:rPr lang="en-GB" sz="1600" noProof="0" dirty="0">
                <a:solidFill>
                  <a:srgbClr val="23303F"/>
                </a:solidFill>
                <a:latin typeface="Calibri" pitchFamily="34" charset="0"/>
                <a:ea typeface="Calibri" pitchFamily="34" charset="-122"/>
                <a:cs typeface="Calibri" pitchFamily="34" charset="-120"/>
              </a:rPr>
              <a:t>Lies entirely on the ectocervix. The whole SCJ can be seen.</a:t>
            </a:r>
            <a:endParaRPr lang="en-GB" sz="1600" dirty="0"/>
          </a:p>
        </p:txBody>
      </p:sp>
      <p:sp>
        <p:nvSpPr>
          <p:cNvPr id="8" name="Text 8"/>
          <p:cNvSpPr txBox="1"/>
          <p:nvPr/>
        </p:nvSpPr>
        <p:spPr>
          <a:xfrm>
            <a:off x="822960" y="2889111"/>
            <a:ext cx="3051048" cy="700000"/>
          </a:xfrm>
          <a:prstGeom prst="rect">
            <a:avLst/>
          </a:prstGeom>
          <a:noFill/>
          <a:ln/>
        </p:spPr>
        <p:txBody>
          <a:bodyPr wrap="square" lIns="0" tIns="0" rIns="0" bIns="0" rtlCol="0" anchor="ctr"/>
          <a:lstStyle/>
          <a:p>
            <a:pPr marL="0" indent="0" algn="l">
              <a:buNone/>
            </a:pPr>
            <a:r>
              <a:rPr lang="en-GB" sz="1600" b="1" noProof="0" dirty="0">
                <a:solidFill>
                  <a:srgbClr val="19543E"/>
                </a:solidFill>
                <a:latin typeface="Calibri" pitchFamily="34" charset="0"/>
                <a:ea typeface="Calibri" pitchFamily="34" charset="-122"/>
                <a:cs typeface="Calibri" pitchFamily="34" charset="-120"/>
              </a:rPr>
              <a:t>✅ Ablation possible if other criteria are met.</a:t>
            </a:r>
            <a:endParaRPr lang="en-GB" sz="1600" dirty="0"/>
          </a:p>
        </p:txBody>
      </p:sp>
      <p:sp>
        <p:nvSpPr>
          <p:cNvPr id="9" name="Shape 9"/>
          <p:cNvSpPr/>
          <p:nvPr/>
        </p:nvSpPr>
        <p:spPr>
          <a:xfrm>
            <a:off x="4312920" y="1436918"/>
            <a:ext cx="3563112" cy="4379732"/>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0" name="Text 10"/>
          <p:cNvSpPr txBox="1"/>
          <p:nvPr/>
        </p:nvSpPr>
        <p:spPr>
          <a:xfrm>
            <a:off x="4568952" y="1556918"/>
            <a:ext cx="3051048" cy="520000"/>
          </a:xfrm>
          <a:prstGeom prst="rect">
            <a:avLst/>
          </a:prstGeom>
          <a:noFill/>
          <a:ln/>
        </p:spPr>
        <p:txBody>
          <a:bodyPr wrap="square" lIns="0" tIns="0" rIns="0" bIns="0" rtlCol="0" anchor="ctr"/>
          <a:lstStyle/>
          <a:p>
            <a:pPr marL="0" indent="0" algn="l">
              <a:buNone/>
            </a:pPr>
            <a:r>
              <a:rPr lang="en-GB" sz="2000" b="1" noProof="0" dirty="0">
                <a:solidFill>
                  <a:srgbClr val="10305A"/>
                </a:solidFill>
                <a:latin typeface="Calibri" pitchFamily="34" charset="0"/>
                <a:ea typeface="Calibri" pitchFamily="34" charset="-122"/>
                <a:cs typeface="Calibri" pitchFamily="34" charset="-120"/>
              </a:rPr>
              <a:t>2️⃣  Type 2</a:t>
            </a:r>
            <a:endParaRPr lang="en-GB" sz="2000" dirty="0"/>
          </a:p>
        </p:txBody>
      </p:sp>
      <p:sp>
        <p:nvSpPr>
          <p:cNvPr id="11" name="Text 11"/>
          <p:cNvSpPr txBox="1"/>
          <p:nvPr/>
        </p:nvSpPr>
        <p:spPr>
          <a:xfrm>
            <a:off x="4568952" y="2136918"/>
            <a:ext cx="3051048" cy="1780000"/>
          </a:xfrm>
          <a:prstGeom prst="rect">
            <a:avLst/>
          </a:prstGeom>
          <a:noFill/>
          <a:ln/>
        </p:spPr>
        <p:txBody>
          <a:bodyPr wrap="square" lIns="0" tIns="0" rIns="0" bIns="0" rtlCol="0" anchor="t"/>
          <a:lstStyle/>
          <a:p>
            <a:pPr marL="0" indent="0" algn="l">
              <a:lnSpc>
                <a:spcPct val="104000"/>
              </a:lnSpc>
              <a:spcAft>
                <a:spcPts val="600"/>
              </a:spcAft>
              <a:buNone/>
            </a:pPr>
            <a:r>
              <a:rPr lang="en-GB" sz="1600" noProof="0" dirty="0">
                <a:solidFill>
                  <a:srgbClr val="23303F"/>
                </a:solidFill>
                <a:latin typeface="Calibri" pitchFamily="34" charset="0"/>
                <a:ea typeface="Calibri" pitchFamily="34" charset="-122"/>
                <a:cs typeface="Calibri" pitchFamily="34" charset="-120"/>
              </a:rPr>
              <a:t>Extends into the canal, but the whole SCJ can still be seen, with or without an endocervical speculum.</a:t>
            </a:r>
            <a:endParaRPr lang="en-GB" sz="1600" dirty="0"/>
          </a:p>
        </p:txBody>
      </p:sp>
      <p:sp>
        <p:nvSpPr>
          <p:cNvPr id="12" name="Text 12"/>
          <p:cNvSpPr txBox="1"/>
          <p:nvPr/>
        </p:nvSpPr>
        <p:spPr>
          <a:xfrm>
            <a:off x="4568952" y="2889111"/>
            <a:ext cx="3051048" cy="700000"/>
          </a:xfrm>
          <a:prstGeom prst="rect">
            <a:avLst/>
          </a:prstGeom>
          <a:noFill/>
          <a:ln/>
        </p:spPr>
        <p:txBody>
          <a:bodyPr wrap="square" lIns="0" tIns="0" rIns="0" bIns="0" rtlCol="0" anchor="ctr"/>
          <a:lstStyle/>
          <a:p>
            <a:pPr marL="0" indent="0" algn="l">
              <a:buNone/>
            </a:pPr>
            <a:r>
              <a:rPr lang="en-GB" sz="1600" b="1" noProof="0" dirty="0">
                <a:solidFill>
                  <a:srgbClr val="19543E"/>
                </a:solidFill>
                <a:latin typeface="Calibri" pitchFamily="34" charset="0"/>
                <a:ea typeface="Calibri" pitchFamily="34" charset="-122"/>
                <a:cs typeface="Calibri" pitchFamily="34" charset="-120"/>
              </a:rPr>
              <a:t>✅ Ablation possible if other criteria are met.</a:t>
            </a:r>
            <a:endParaRPr lang="en-GB" sz="1600" dirty="0"/>
          </a:p>
        </p:txBody>
      </p:sp>
      <p:sp>
        <p:nvSpPr>
          <p:cNvPr id="13" name="Shape 13"/>
          <p:cNvSpPr/>
          <p:nvPr/>
        </p:nvSpPr>
        <p:spPr>
          <a:xfrm>
            <a:off x="8058912" y="1436918"/>
            <a:ext cx="3563112" cy="4379732"/>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4" name="Text 14"/>
          <p:cNvSpPr txBox="1"/>
          <p:nvPr/>
        </p:nvSpPr>
        <p:spPr>
          <a:xfrm>
            <a:off x="8314944" y="1556918"/>
            <a:ext cx="3051048" cy="520000"/>
          </a:xfrm>
          <a:prstGeom prst="rect">
            <a:avLst/>
          </a:prstGeom>
          <a:noFill/>
          <a:ln/>
        </p:spPr>
        <p:txBody>
          <a:bodyPr wrap="square" lIns="0" tIns="0" rIns="0" bIns="0" rtlCol="0" anchor="ctr"/>
          <a:lstStyle/>
          <a:p>
            <a:pPr marL="0" indent="0" algn="l">
              <a:buNone/>
            </a:pPr>
            <a:r>
              <a:rPr lang="en-GB" sz="2000" b="1" noProof="0" dirty="0">
                <a:solidFill>
                  <a:srgbClr val="10305A"/>
                </a:solidFill>
                <a:latin typeface="Calibri" pitchFamily="34" charset="0"/>
                <a:ea typeface="Calibri" pitchFamily="34" charset="-122"/>
                <a:cs typeface="Calibri" pitchFamily="34" charset="-120"/>
              </a:rPr>
              <a:t>3️⃣  Type 3</a:t>
            </a:r>
            <a:endParaRPr lang="en-GB" sz="2000" dirty="0"/>
          </a:p>
        </p:txBody>
      </p:sp>
      <p:sp>
        <p:nvSpPr>
          <p:cNvPr id="15" name="Text 15"/>
          <p:cNvSpPr txBox="1"/>
          <p:nvPr/>
        </p:nvSpPr>
        <p:spPr>
          <a:xfrm>
            <a:off x="8314944" y="2136918"/>
            <a:ext cx="3051048" cy="1780000"/>
          </a:xfrm>
          <a:prstGeom prst="rect">
            <a:avLst/>
          </a:prstGeom>
          <a:noFill/>
          <a:ln/>
        </p:spPr>
        <p:txBody>
          <a:bodyPr wrap="square" lIns="0" tIns="0" rIns="0" bIns="0" rtlCol="0" anchor="t"/>
          <a:lstStyle/>
          <a:p>
            <a:pPr marL="0" indent="0" algn="l">
              <a:lnSpc>
                <a:spcPct val="104000"/>
              </a:lnSpc>
              <a:spcAft>
                <a:spcPts val="600"/>
              </a:spcAft>
              <a:buNone/>
            </a:pPr>
            <a:r>
              <a:rPr lang="en-GB" sz="1600" noProof="0" dirty="0">
                <a:solidFill>
                  <a:srgbClr val="23303F"/>
                </a:solidFill>
                <a:latin typeface="Calibri" pitchFamily="34" charset="0"/>
                <a:ea typeface="Calibri" pitchFamily="34" charset="-122"/>
                <a:cs typeface="Calibri" pitchFamily="34" charset="-120"/>
              </a:rPr>
              <a:t>Extends into the canal, and the SCJ cannot be fully seen.</a:t>
            </a:r>
            <a:endParaRPr lang="en-GB" sz="1600" dirty="0"/>
          </a:p>
        </p:txBody>
      </p:sp>
      <p:sp>
        <p:nvSpPr>
          <p:cNvPr id="16" name="Text 16"/>
          <p:cNvSpPr txBox="1"/>
          <p:nvPr/>
        </p:nvSpPr>
        <p:spPr>
          <a:xfrm>
            <a:off x="8314944" y="2889111"/>
            <a:ext cx="3051048" cy="700000"/>
          </a:xfrm>
          <a:prstGeom prst="rect">
            <a:avLst/>
          </a:prstGeom>
          <a:noFill/>
          <a:ln/>
        </p:spPr>
        <p:txBody>
          <a:bodyPr wrap="square" lIns="0" tIns="0" rIns="0" bIns="0" rtlCol="0" anchor="ctr"/>
          <a:lstStyle/>
          <a:p>
            <a:pPr marL="0" indent="0" algn="l">
              <a:buNone/>
            </a:pPr>
            <a:r>
              <a:rPr lang="en-GB" sz="1600" b="1" noProof="0" dirty="0">
                <a:solidFill>
                  <a:srgbClr val="8E2531"/>
                </a:solidFill>
                <a:latin typeface="Calibri" pitchFamily="34" charset="0"/>
                <a:ea typeface="Calibri" pitchFamily="34" charset="-122"/>
                <a:cs typeface="Calibri" pitchFamily="34" charset="-120"/>
              </a:rPr>
              <a:t>❌ Not suitable for ablation: refer for LEEP.</a:t>
            </a:r>
            <a:endParaRPr lang="en-GB" sz="1600" dirty="0"/>
          </a:p>
        </p:txBody>
      </p:sp>
      <p:sp>
        <p:nvSpPr>
          <p:cNvPr id="18" name="Shape 18"/>
          <p:cNvSpPr/>
          <p:nvPr/>
        </p:nvSpPr>
        <p:spPr>
          <a:xfrm>
            <a:off x="566928" y="5977291"/>
            <a:ext cx="11055096" cy="403350"/>
          </a:xfrm>
          <a:prstGeom prst="roundRect">
            <a:avLst>
              <a:gd name="adj" fmla="val 3000"/>
            </a:avLst>
          </a:prstGeom>
          <a:solidFill>
            <a:srgbClr val="EAF7F0"/>
          </a:solidFill>
          <a:ln w="12700">
            <a:solidFill>
              <a:srgbClr val="C0D4CB"/>
            </a:solidFill>
          </a:ln>
        </p:spPr>
        <p:txBody>
          <a:bodyPr/>
          <a:lstStyle/>
          <a:p>
            <a:endParaRPr lang="en-GB" sz="1600" dirty="0"/>
          </a:p>
        </p:txBody>
      </p:sp>
      <p:sp>
        <p:nvSpPr>
          <p:cNvPr id="19" name="Text 19"/>
          <p:cNvSpPr txBox="1"/>
          <p:nvPr/>
        </p:nvSpPr>
        <p:spPr>
          <a:xfrm>
            <a:off x="841248" y="5977291"/>
            <a:ext cx="10506456" cy="353350"/>
          </a:xfrm>
          <a:prstGeom prst="rect">
            <a:avLst/>
          </a:prstGeom>
          <a:noFill/>
          <a:ln/>
        </p:spPr>
        <p:txBody>
          <a:bodyPr wrap="square" lIns="0" tIns="0" rIns="0" bIns="0" rtlCol="0" anchor="ctr"/>
          <a:lstStyle/>
          <a:p>
            <a:pPr marL="0" indent="0" algn="l">
              <a:buNone/>
            </a:pPr>
            <a:r>
              <a:rPr lang="en-GB" sz="1400" b="1" noProof="0" dirty="0">
                <a:solidFill>
                  <a:srgbClr val="19543E"/>
                </a:solidFill>
                <a:latin typeface="Calibri" pitchFamily="34" charset="0"/>
                <a:ea typeface="Calibri" pitchFamily="34" charset="-122"/>
                <a:cs typeface="Calibri" pitchFamily="34" charset="-120"/>
              </a:rPr>
              <a:t>🏥 In Rwanda:  </a:t>
            </a:r>
            <a:r>
              <a:rPr lang="en-GB" sz="1400" noProof="0" dirty="0">
                <a:solidFill>
                  <a:srgbClr val="23303F"/>
                </a:solidFill>
                <a:latin typeface="Calibri" pitchFamily="34" charset="0"/>
                <a:ea typeface="Calibri" pitchFamily="34" charset="-122"/>
                <a:cs typeface="Calibri" pitchFamily="34" charset="-120"/>
              </a:rPr>
              <a:t>Transformation zone type 1 or 2 with an eligible lesion: thermal ablation. Type 3: LEEP at the district hospital.</a:t>
            </a:r>
            <a:endParaRPr lang="en-GB" sz="1400" dirty="0"/>
          </a:p>
        </p:txBody>
      </p:sp>
      <p:sp>
        <p:nvSpPr>
          <p:cNvPr id="20" name="Text 2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21" name="Text 2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36</a:t>
            </a:r>
            <a:endParaRPr lang="en-GB" sz="1100" dirty="0"/>
          </a:p>
        </p:txBody>
      </p:sp>
      <p:pic>
        <p:nvPicPr>
          <p:cNvPr id="23" name="Imagen 22">
            <a:extLst>
              <a:ext uri="{FF2B5EF4-FFF2-40B4-BE49-F238E27FC236}">
                <a16:creationId xmlns:a16="http://schemas.microsoft.com/office/drawing/2014/main" id="{46E3E9EE-B9A3-FADD-B809-2E95A5EAEE46}"/>
              </a:ext>
            </a:extLst>
          </p:cNvPr>
          <p:cNvPicPr>
            <a:picLocks noChangeAspect="1"/>
          </p:cNvPicPr>
          <p:nvPr/>
        </p:nvPicPr>
        <p:blipFill>
          <a:blip r:embed="rId2"/>
          <a:srcRect t="4600" b="5496"/>
          <a:stretch>
            <a:fillRect/>
          </a:stretch>
        </p:blipFill>
        <p:spPr>
          <a:xfrm>
            <a:off x="4386072" y="3622108"/>
            <a:ext cx="3441302" cy="2062593"/>
          </a:xfrm>
          <a:prstGeom prst="rect">
            <a:avLst/>
          </a:prstGeom>
        </p:spPr>
      </p:pic>
      <p:pic>
        <p:nvPicPr>
          <p:cNvPr id="25" name="Imagen 24">
            <a:extLst>
              <a:ext uri="{FF2B5EF4-FFF2-40B4-BE49-F238E27FC236}">
                <a16:creationId xmlns:a16="http://schemas.microsoft.com/office/drawing/2014/main" id="{C14002BB-C7EF-9662-DFF6-ACFA0AA1F633}"/>
              </a:ext>
            </a:extLst>
          </p:cNvPr>
          <p:cNvPicPr>
            <a:picLocks noChangeAspect="1"/>
          </p:cNvPicPr>
          <p:nvPr/>
        </p:nvPicPr>
        <p:blipFill>
          <a:blip r:embed="rId3"/>
          <a:srcRect t="2828"/>
          <a:stretch>
            <a:fillRect/>
          </a:stretch>
        </p:blipFill>
        <p:spPr>
          <a:xfrm>
            <a:off x="650804" y="3528985"/>
            <a:ext cx="3395359" cy="2199547"/>
          </a:xfrm>
          <a:prstGeom prst="rect">
            <a:avLst/>
          </a:prstGeom>
        </p:spPr>
      </p:pic>
      <p:pic>
        <p:nvPicPr>
          <p:cNvPr id="27" name="Imagen 26">
            <a:extLst>
              <a:ext uri="{FF2B5EF4-FFF2-40B4-BE49-F238E27FC236}">
                <a16:creationId xmlns:a16="http://schemas.microsoft.com/office/drawing/2014/main" id="{75379BE6-04E2-6E55-B63B-3978E918B949}"/>
              </a:ext>
            </a:extLst>
          </p:cNvPr>
          <p:cNvPicPr>
            <a:picLocks noChangeAspect="1"/>
          </p:cNvPicPr>
          <p:nvPr/>
        </p:nvPicPr>
        <p:blipFill>
          <a:blip r:embed="rId4"/>
          <a:srcRect t="4704" b="5317"/>
          <a:stretch>
            <a:fillRect/>
          </a:stretch>
        </p:blipFill>
        <p:spPr>
          <a:xfrm>
            <a:off x="8132064" y="3685929"/>
            <a:ext cx="3398520" cy="193494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1 · INTERACTIVE</a:t>
            </a:r>
            <a:endParaRPr lang="en-GB"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Which transformation zone?</a:t>
            </a:r>
          </a:p>
        </p:txBody>
      </p:sp>
      <p:sp>
        <p:nvSpPr>
          <p:cNvPr id="4" name="Text 4"/>
          <p:cNvSpPr txBox="1"/>
          <p:nvPr/>
        </p:nvSpPr>
        <p:spPr>
          <a:xfrm>
            <a:off x="566928" y="1540000"/>
            <a:ext cx="11055096" cy="900000"/>
          </a:xfrm>
          <a:prstGeom prst="rect">
            <a:avLst/>
          </a:prstGeom>
          <a:noFill/>
          <a:ln/>
        </p:spPr>
        <p:txBody>
          <a:bodyPr wrap="square" lIns="0" tIns="0" rIns="0" bIns="0" rtlCol="0" anchor="ctr"/>
          <a:lstStyle/>
          <a:p>
            <a:pPr marL="0" indent="0" algn="l">
              <a:buNone/>
            </a:pPr>
            <a:r>
              <a:rPr lang="en-GB" sz="1800" b="1" noProof="0" dirty="0">
                <a:solidFill>
                  <a:srgbClr val="23303F"/>
                </a:solidFill>
                <a:latin typeface="Calibri" pitchFamily="34" charset="0"/>
                <a:ea typeface="Calibri" pitchFamily="34" charset="-122"/>
                <a:cs typeface="Calibri" pitchFamily="34" charset="-120"/>
              </a:rPr>
              <a:t>Nyiraneza Josée, aged 52, has a positive HPV test. At VIA, the SCJ lies inside the canal and cannot be fully seen, even with an endocervical speculum. What is the transformation zone type, and what does it mean?</a:t>
            </a:r>
            <a:endParaRPr lang="en-GB" sz="1800" dirty="0"/>
          </a:p>
        </p:txBody>
      </p:sp>
      <p:sp>
        <p:nvSpPr>
          <p:cNvPr id="5" name="Shape 5"/>
          <p:cNvSpPr/>
          <p:nvPr/>
        </p:nvSpPr>
        <p:spPr>
          <a:xfrm>
            <a:off x="566928" y="2530000"/>
            <a:ext cx="11055096" cy="48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6" name="Text 6"/>
          <p:cNvSpPr txBox="1"/>
          <p:nvPr/>
        </p:nvSpPr>
        <p:spPr>
          <a:xfrm>
            <a:off x="841248" y="2530000"/>
            <a:ext cx="10506456" cy="480000"/>
          </a:xfrm>
          <a:prstGeom prst="rect">
            <a:avLst/>
          </a:prstGeom>
          <a:noFill/>
          <a:ln/>
        </p:spPr>
        <p:txBody>
          <a:bodyPr wrap="square" lIns="0" tIns="0" rIns="0" bIns="0" rtlCol="0" anchor="ctr"/>
          <a:lstStyle/>
          <a:p>
            <a:pPr marL="0" indent="0" algn="l">
              <a:buNone/>
            </a:pPr>
            <a:r>
              <a:rPr lang="en-GB" sz="1700" b="1" noProof="0" dirty="0">
                <a:solidFill>
                  <a:srgbClr val="1F4E96"/>
                </a:solidFill>
                <a:latin typeface="Calibri" pitchFamily="34" charset="0"/>
                <a:ea typeface="Calibri" pitchFamily="34" charset="-122"/>
                <a:cs typeface="Calibri" pitchFamily="34" charset="-120"/>
              </a:rPr>
              <a:t>A   </a:t>
            </a:r>
            <a:r>
              <a:rPr lang="en-GB" sz="1700" noProof="0" dirty="0">
                <a:solidFill>
                  <a:srgbClr val="23303F"/>
                </a:solidFill>
                <a:latin typeface="Calibri" pitchFamily="34" charset="0"/>
                <a:ea typeface="Calibri" pitchFamily="34" charset="-122"/>
                <a:cs typeface="Calibri" pitchFamily="34" charset="-120"/>
              </a:rPr>
              <a:t>Type 1, so ablation can be offered today</a:t>
            </a:r>
            <a:endParaRPr lang="en-GB" sz="1700" dirty="0"/>
          </a:p>
        </p:txBody>
      </p:sp>
      <p:sp>
        <p:nvSpPr>
          <p:cNvPr id="7" name="Shape 7"/>
          <p:cNvSpPr/>
          <p:nvPr/>
        </p:nvSpPr>
        <p:spPr>
          <a:xfrm>
            <a:off x="566928" y="3080000"/>
            <a:ext cx="11055096" cy="48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8" name="Text 8"/>
          <p:cNvSpPr txBox="1"/>
          <p:nvPr/>
        </p:nvSpPr>
        <p:spPr>
          <a:xfrm>
            <a:off x="841248" y="3080000"/>
            <a:ext cx="10506456" cy="480000"/>
          </a:xfrm>
          <a:prstGeom prst="rect">
            <a:avLst/>
          </a:prstGeom>
          <a:noFill/>
          <a:ln/>
        </p:spPr>
        <p:txBody>
          <a:bodyPr wrap="square" lIns="0" tIns="0" rIns="0" bIns="0" rtlCol="0" anchor="ctr"/>
          <a:lstStyle/>
          <a:p>
            <a:pPr marL="0" indent="0" algn="l">
              <a:buNone/>
            </a:pPr>
            <a:r>
              <a:rPr lang="en-GB" sz="1700" b="1" noProof="0" dirty="0">
                <a:solidFill>
                  <a:srgbClr val="1F4E96"/>
                </a:solidFill>
                <a:latin typeface="Calibri" pitchFamily="34" charset="0"/>
                <a:ea typeface="Calibri" pitchFamily="34" charset="-122"/>
                <a:cs typeface="Calibri" pitchFamily="34" charset="-120"/>
              </a:rPr>
              <a:t>B   </a:t>
            </a:r>
            <a:r>
              <a:rPr lang="en-GB" sz="1700" noProof="0" dirty="0">
                <a:solidFill>
                  <a:srgbClr val="23303F"/>
                </a:solidFill>
                <a:latin typeface="Calibri" pitchFamily="34" charset="0"/>
                <a:ea typeface="Calibri" pitchFamily="34" charset="-122"/>
                <a:cs typeface="Calibri" pitchFamily="34" charset="-120"/>
              </a:rPr>
              <a:t>Type 2, so any lesion can be ablated</a:t>
            </a:r>
            <a:endParaRPr lang="en-GB" sz="1700" dirty="0"/>
          </a:p>
        </p:txBody>
      </p:sp>
      <p:sp>
        <p:nvSpPr>
          <p:cNvPr id="9" name="Shape 9"/>
          <p:cNvSpPr/>
          <p:nvPr/>
        </p:nvSpPr>
        <p:spPr>
          <a:xfrm>
            <a:off x="566928" y="3630000"/>
            <a:ext cx="11055096" cy="480000"/>
          </a:xfrm>
          <a:prstGeom prst="roundRect">
            <a:avLst>
              <a:gd name="adj" fmla="val 3000"/>
            </a:avLst>
          </a:prstGeom>
          <a:solidFill>
            <a:srgbClr val="EAF7F0"/>
          </a:solidFill>
          <a:ln w="12700">
            <a:solidFill>
              <a:srgbClr val="C0D4CB"/>
            </a:solidFill>
          </a:ln>
        </p:spPr>
        <p:txBody>
          <a:bodyPr/>
          <a:lstStyle/>
          <a:p>
            <a:endParaRPr lang="en-GB" sz="1600" dirty="0"/>
          </a:p>
        </p:txBody>
      </p:sp>
      <p:sp>
        <p:nvSpPr>
          <p:cNvPr id="10" name="Text 10"/>
          <p:cNvSpPr txBox="1"/>
          <p:nvPr/>
        </p:nvSpPr>
        <p:spPr>
          <a:xfrm>
            <a:off x="841248" y="3630000"/>
            <a:ext cx="10506456" cy="480000"/>
          </a:xfrm>
          <a:prstGeom prst="rect">
            <a:avLst/>
          </a:prstGeom>
          <a:noFill/>
          <a:ln/>
        </p:spPr>
        <p:txBody>
          <a:bodyPr wrap="square" lIns="0" tIns="0" rIns="0" bIns="0" rtlCol="0" anchor="ctr"/>
          <a:lstStyle/>
          <a:p>
            <a:pPr marL="0" indent="0" algn="l">
              <a:buNone/>
            </a:pPr>
            <a:r>
              <a:rPr lang="en-GB" sz="1700" b="1" noProof="0" dirty="0">
                <a:solidFill>
                  <a:srgbClr val="19543E"/>
                </a:solidFill>
                <a:latin typeface="Calibri" pitchFamily="34" charset="0"/>
                <a:ea typeface="Calibri" pitchFamily="34" charset="-122"/>
                <a:cs typeface="Calibri" pitchFamily="34" charset="-120"/>
              </a:rPr>
              <a:t>C   </a:t>
            </a:r>
            <a:r>
              <a:rPr lang="en-GB" sz="1700" noProof="0" dirty="0">
                <a:solidFill>
                  <a:srgbClr val="23303F"/>
                </a:solidFill>
                <a:latin typeface="Calibri" pitchFamily="34" charset="0"/>
                <a:ea typeface="Calibri" pitchFamily="34" charset="-122"/>
                <a:cs typeface="Calibri" pitchFamily="34" charset="-120"/>
              </a:rPr>
              <a:t>Type 3, so ablation is not suitable and she is referred for LEEP   ✅</a:t>
            </a:r>
            <a:endParaRPr lang="en-GB" sz="1700" dirty="0"/>
          </a:p>
        </p:txBody>
      </p:sp>
      <p:sp>
        <p:nvSpPr>
          <p:cNvPr id="11" name="Shape 11"/>
          <p:cNvSpPr/>
          <p:nvPr/>
        </p:nvSpPr>
        <p:spPr>
          <a:xfrm>
            <a:off x="566928" y="4180000"/>
            <a:ext cx="11055096" cy="48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2" name="Text 12"/>
          <p:cNvSpPr txBox="1"/>
          <p:nvPr/>
        </p:nvSpPr>
        <p:spPr>
          <a:xfrm>
            <a:off x="841248" y="4180000"/>
            <a:ext cx="10506456" cy="480000"/>
          </a:xfrm>
          <a:prstGeom prst="rect">
            <a:avLst/>
          </a:prstGeom>
          <a:noFill/>
          <a:ln/>
        </p:spPr>
        <p:txBody>
          <a:bodyPr wrap="square" lIns="0" tIns="0" rIns="0" bIns="0" rtlCol="0" anchor="ctr"/>
          <a:lstStyle/>
          <a:p>
            <a:pPr marL="0" indent="0" algn="l">
              <a:buNone/>
            </a:pPr>
            <a:r>
              <a:rPr lang="en-GB" sz="1700" b="1" noProof="0" dirty="0">
                <a:solidFill>
                  <a:srgbClr val="1F4E96"/>
                </a:solidFill>
                <a:latin typeface="Calibri" pitchFamily="34" charset="0"/>
                <a:ea typeface="Calibri" pitchFamily="34" charset="-122"/>
                <a:cs typeface="Calibri" pitchFamily="34" charset="-120"/>
              </a:rPr>
              <a:t>D   </a:t>
            </a:r>
            <a:r>
              <a:rPr lang="en-GB" sz="1700" noProof="0" dirty="0">
                <a:solidFill>
                  <a:srgbClr val="23303F"/>
                </a:solidFill>
                <a:latin typeface="Calibri" pitchFamily="34" charset="0"/>
                <a:ea typeface="Calibri" pitchFamily="34" charset="-122"/>
                <a:cs typeface="Calibri" pitchFamily="34" charset="-120"/>
              </a:rPr>
              <a:t>The type does not affect the treatment decision</a:t>
            </a:r>
            <a:endParaRPr lang="en-GB" sz="1700" dirty="0"/>
          </a:p>
        </p:txBody>
      </p:sp>
      <p:sp>
        <p:nvSpPr>
          <p:cNvPr id="13" name="Shape 13"/>
          <p:cNvSpPr/>
          <p:nvPr/>
        </p:nvSpPr>
        <p:spPr>
          <a:xfrm>
            <a:off x="566928" y="4790000"/>
            <a:ext cx="11055096" cy="1460000"/>
          </a:xfrm>
          <a:prstGeom prst="roundRect">
            <a:avLst>
              <a:gd name="adj" fmla="val 3000"/>
            </a:avLst>
          </a:prstGeom>
          <a:solidFill>
            <a:srgbClr val="EAF7F0"/>
          </a:solidFill>
          <a:ln w="12700">
            <a:solidFill>
              <a:srgbClr val="C0D4CB"/>
            </a:solidFill>
          </a:ln>
        </p:spPr>
        <p:txBody>
          <a:bodyPr/>
          <a:lstStyle/>
          <a:p>
            <a:endParaRPr lang="en-GB" sz="1600" dirty="0"/>
          </a:p>
        </p:txBody>
      </p:sp>
      <p:sp>
        <p:nvSpPr>
          <p:cNvPr id="14" name="Text 14"/>
          <p:cNvSpPr txBox="1"/>
          <p:nvPr/>
        </p:nvSpPr>
        <p:spPr>
          <a:xfrm>
            <a:off x="841248" y="4840000"/>
            <a:ext cx="10506456" cy="1360000"/>
          </a:xfrm>
          <a:prstGeom prst="rect">
            <a:avLst/>
          </a:prstGeom>
          <a:noFill/>
          <a:ln/>
        </p:spPr>
        <p:txBody>
          <a:bodyPr wrap="square" lIns="0" tIns="0" rIns="0" bIns="0" rtlCol="0" anchor="ctr"/>
          <a:lstStyle/>
          <a:p>
            <a:pPr marL="0" indent="0" algn="l">
              <a:buNone/>
            </a:pPr>
            <a:r>
              <a:rPr lang="en-GB" sz="1600" b="1" noProof="0" dirty="0">
                <a:solidFill>
                  <a:srgbClr val="19543E"/>
                </a:solidFill>
                <a:latin typeface="Calibri" pitchFamily="34" charset="0"/>
                <a:ea typeface="Calibri" pitchFamily="34" charset="-122"/>
                <a:cs typeface="Calibri" pitchFamily="34" charset="-120"/>
              </a:rPr>
              <a:t>Correct answer: C</a:t>
            </a:r>
            <a:endParaRPr lang="en-GB" sz="1600" dirty="0"/>
          </a:p>
          <a:p>
            <a:pPr marL="0" indent="0" algn="l">
              <a:buNone/>
            </a:pPr>
            <a:r>
              <a:rPr lang="en-GB" sz="1600" b="1" noProof="0" dirty="0">
                <a:solidFill>
                  <a:srgbClr val="19543E"/>
                </a:solidFill>
                <a:latin typeface="Calibri" pitchFamily="34" charset="0"/>
                <a:ea typeface="Calibri" pitchFamily="34" charset="-122"/>
                <a:cs typeface="Calibri" pitchFamily="34" charset="-120"/>
              </a:rPr>
              <a:t>Feedback: </a:t>
            </a:r>
            <a:r>
              <a:rPr lang="en-GB" sz="1600" noProof="0" dirty="0">
                <a:solidFill>
                  <a:srgbClr val="23303F"/>
                </a:solidFill>
                <a:latin typeface="Calibri" pitchFamily="34" charset="0"/>
                <a:ea typeface="Calibri" pitchFamily="34" charset="-122"/>
                <a:cs typeface="Calibri" pitchFamily="34" charset="-120"/>
              </a:rPr>
              <a:t>When the SCJ cannot be fully seen, the transformation zone is type 3. A lesion may extend out of view, so ablation could leave disease behind. She is referred for excisional treatment (LEEP).</a:t>
            </a:r>
            <a:endParaRPr lang="en-GB" sz="1600" dirty="0"/>
          </a:p>
        </p:txBody>
      </p:sp>
      <p:sp>
        <p:nvSpPr>
          <p:cNvPr id="15" name="Text 15"/>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16" name="Text 16"/>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37</a:t>
            </a:r>
            <a:endParaRPr lang="en-GB"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38</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1 · HPV</a:t>
            </a:r>
            <a:endParaRPr lang="en-GB" sz="1200" noProof="0" dirty="0"/>
          </a:p>
        </p:txBody>
      </p:sp>
      <p:sp>
        <p:nvSpPr>
          <p:cNvPr id="5" name="Text 3"/>
          <p:cNvSpPr txBox="1"/>
          <p:nvPr/>
        </p:nvSpPr>
        <p:spPr>
          <a:xfrm>
            <a:off x="566928" y="542107"/>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Human papillomavirus</a:t>
            </a:r>
            <a:endParaRPr lang="en-GB" sz="3200" noProof="0" dirty="0"/>
          </a:p>
        </p:txBody>
      </p:sp>
      <p:sp>
        <p:nvSpPr>
          <p:cNvPr id="6" name="Shape 4"/>
          <p:cNvSpPr/>
          <p:nvPr/>
        </p:nvSpPr>
        <p:spPr>
          <a:xfrm>
            <a:off x="566928" y="1348955"/>
            <a:ext cx="3563112" cy="4198842"/>
          </a:xfrm>
          <a:prstGeom prst="roundRect">
            <a:avLst>
              <a:gd name="adj" fmla="val 3000"/>
            </a:avLst>
          </a:prstGeom>
          <a:solidFill>
            <a:srgbClr val="F3F6FB"/>
          </a:solidFill>
          <a:ln w="12700">
            <a:solidFill>
              <a:srgbClr val="E0E3EA"/>
            </a:solidFill>
            <a:prstDash val="solid"/>
          </a:ln>
        </p:spPr>
        <p:txBody>
          <a:bodyPr/>
          <a:lstStyle/>
          <a:p>
            <a:endParaRPr lang="en-GB" sz="1600" noProof="0" dirty="0"/>
          </a:p>
        </p:txBody>
      </p:sp>
      <p:sp>
        <p:nvSpPr>
          <p:cNvPr id="7" name="Text 5"/>
          <p:cNvSpPr txBox="1"/>
          <p:nvPr/>
        </p:nvSpPr>
        <p:spPr>
          <a:xfrm>
            <a:off x="822960" y="1335894"/>
            <a:ext cx="3051048" cy="56692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  A very common virus</a:t>
            </a:r>
            <a:endParaRPr lang="en-GB" noProof="0" dirty="0"/>
          </a:p>
        </p:txBody>
      </p:sp>
      <p:sp>
        <p:nvSpPr>
          <p:cNvPr id="8" name="Text 6"/>
          <p:cNvSpPr txBox="1"/>
          <p:nvPr/>
        </p:nvSpPr>
        <p:spPr>
          <a:xfrm>
            <a:off x="822960" y="1830537"/>
            <a:ext cx="3051048" cy="1130377"/>
          </a:xfrm>
          <a:prstGeom prst="rect">
            <a:avLst/>
          </a:prstGeom>
          <a:noFill/>
          <a:ln/>
        </p:spPr>
        <p:txBody>
          <a:bodyPr wrap="square" lIns="0" tIns="0" rIns="0" bIns="0" rtlCol="0" anchor="t"/>
          <a:lstStyle/>
          <a:p>
            <a:pPr marL="0" indent="0">
              <a:lnSpc>
                <a:spcPct val="106000"/>
              </a:lnSpc>
              <a:buNone/>
            </a:pPr>
            <a:r>
              <a:rPr lang="en-GB" sz="1600" noProof="0" dirty="0">
                <a:solidFill>
                  <a:srgbClr val="23303F"/>
                </a:solidFill>
                <a:latin typeface="Calibri" pitchFamily="34" charset="0"/>
                <a:ea typeface="Calibri" pitchFamily="34" charset="-122"/>
                <a:cs typeface="Calibri" pitchFamily="34" charset="-120"/>
              </a:rPr>
              <a:t>HPV is a large group of viruses passed on by direct genital skin or mucosa contact. Most sexually active people acquire it at some point.</a:t>
            </a:r>
            <a:endParaRPr lang="en-GB" sz="1600" noProof="0" dirty="0"/>
          </a:p>
        </p:txBody>
      </p:sp>
      <p:sp>
        <p:nvSpPr>
          <p:cNvPr id="9" name="Shape 7"/>
          <p:cNvSpPr/>
          <p:nvPr/>
        </p:nvSpPr>
        <p:spPr>
          <a:xfrm>
            <a:off x="4312920" y="1348955"/>
            <a:ext cx="3563112" cy="4198842"/>
          </a:xfrm>
          <a:prstGeom prst="roundRect">
            <a:avLst>
              <a:gd name="adj" fmla="val 3000"/>
            </a:avLst>
          </a:prstGeom>
          <a:solidFill>
            <a:srgbClr val="F3F6FB"/>
          </a:solidFill>
          <a:ln w="12700">
            <a:solidFill>
              <a:srgbClr val="E0E3EA"/>
            </a:solidFill>
            <a:prstDash val="solid"/>
          </a:ln>
        </p:spPr>
        <p:txBody>
          <a:bodyPr/>
          <a:lstStyle/>
          <a:p>
            <a:endParaRPr lang="en-GB" sz="1600" noProof="0" dirty="0"/>
          </a:p>
        </p:txBody>
      </p:sp>
      <p:sp>
        <p:nvSpPr>
          <p:cNvPr id="10" name="Text 8"/>
          <p:cNvSpPr txBox="1"/>
          <p:nvPr/>
        </p:nvSpPr>
        <p:spPr>
          <a:xfrm>
            <a:off x="4568952" y="1335894"/>
            <a:ext cx="3051048" cy="56692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  High-risk types</a:t>
            </a:r>
            <a:endParaRPr lang="en-GB" noProof="0" dirty="0"/>
          </a:p>
        </p:txBody>
      </p:sp>
      <p:sp>
        <p:nvSpPr>
          <p:cNvPr id="11" name="Text 9"/>
          <p:cNvSpPr txBox="1"/>
          <p:nvPr/>
        </p:nvSpPr>
        <p:spPr>
          <a:xfrm>
            <a:off x="4568952" y="1830537"/>
            <a:ext cx="3051048" cy="1130377"/>
          </a:xfrm>
          <a:prstGeom prst="rect">
            <a:avLst/>
          </a:prstGeom>
          <a:noFill/>
          <a:ln/>
        </p:spPr>
        <p:txBody>
          <a:bodyPr wrap="square" lIns="0" tIns="0" rIns="0" bIns="0" rtlCol="0" anchor="t"/>
          <a:lstStyle/>
          <a:p>
            <a:pPr marL="0" indent="0">
              <a:lnSpc>
                <a:spcPct val="106000"/>
              </a:lnSpc>
              <a:buNone/>
            </a:pPr>
            <a:r>
              <a:rPr lang="en-GB" sz="1600" noProof="0" dirty="0">
                <a:solidFill>
                  <a:srgbClr val="23303F"/>
                </a:solidFill>
                <a:latin typeface="Calibri" pitchFamily="34" charset="0"/>
                <a:ea typeface="Calibri" pitchFamily="34" charset="-122"/>
                <a:cs typeface="Calibri" pitchFamily="34" charset="-120"/>
              </a:rPr>
              <a:t>A small number of HPV types are linked with cancer. Types 16 and 18 cause most cervical cancers worldwide.</a:t>
            </a:r>
            <a:endParaRPr lang="en-GB" sz="1600" noProof="0" dirty="0"/>
          </a:p>
        </p:txBody>
      </p:sp>
      <p:sp>
        <p:nvSpPr>
          <p:cNvPr id="12" name="Shape 10"/>
          <p:cNvSpPr/>
          <p:nvPr/>
        </p:nvSpPr>
        <p:spPr>
          <a:xfrm>
            <a:off x="8058912" y="1348955"/>
            <a:ext cx="3563112" cy="4198842"/>
          </a:xfrm>
          <a:prstGeom prst="roundRect">
            <a:avLst>
              <a:gd name="adj" fmla="val 3000"/>
            </a:avLst>
          </a:prstGeom>
          <a:solidFill>
            <a:srgbClr val="F3F6FB"/>
          </a:solidFill>
          <a:ln w="12700">
            <a:solidFill>
              <a:srgbClr val="E0E3EA"/>
            </a:solidFill>
            <a:prstDash val="solid"/>
          </a:ln>
        </p:spPr>
        <p:txBody>
          <a:bodyPr/>
          <a:lstStyle/>
          <a:p>
            <a:endParaRPr lang="en-GB" sz="1600" noProof="0" dirty="0"/>
          </a:p>
        </p:txBody>
      </p:sp>
      <p:sp>
        <p:nvSpPr>
          <p:cNvPr id="13" name="Text 11"/>
          <p:cNvSpPr txBox="1"/>
          <p:nvPr/>
        </p:nvSpPr>
        <p:spPr>
          <a:xfrm>
            <a:off x="8314944" y="1335894"/>
            <a:ext cx="3051048" cy="56692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  Persistent infection</a:t>
            </a:r>
            <a:endParaRPr lang="en-GB" noProof="0" dirty="0"/>
          </a:p>
        </p:txBody>
      </p:sp>
      <p:sp>
        <p:nvSpPr>
          <p:cNvPr id="14" name="Text 12"/>
          <p:cNvSpPr txBox="1"/>
          <p:nvPr/>
        </p:nvSpPr>
        <p:spPr>
          <a:xfrm>
            <a:off x="8314944" y="1830537"/>
            <a:ext cx="3051048" cy="1130377"/>
          </a:xfrm>
          <a:prstGeom prst="rect">
            <a:avLst/>
          </a:prstGeom>
          <a:noFill/>
          <a:ln/>
        </p:spPr>
        <p:txBody>
          <a:bodyPr wrap="square" lIns="0" tIns="0" rIns="0" bIns="0" rtlCol="0" anchor="t"/>
          <a:lstStyle/>
          <a:p>
            <a:pPr marL="0" indent="0">
              <a:lnSpc>
                <a:spcPct val="106000"/>
              </a:lnSpc>
              <a:buNone/>
            </a:pPr>
            <a:r>
              <a:rPr lang="en-GB" sz="1600" noProof="0" dirty="0">
                <a:solidFill>
                  <a:srgbClr val="23303F"/>
                </a:solidFill>
                <a:latin typeface="Calibri" pitchFamily="34" charset="0"/>
                <a:ea typeface="Calibri" pitchFamily="34" charset="-122"/>
                <a:cs typeface="Calibri" pitchFamily="34" charset="-120"/>
              </a:rPr>
              <a:t>High-risk infection that remains over time is what increases the risk of cervical precancer. Most infections clear on their own.</a:t>
            </a:r>
            <a:endParaRPr lang="en-GB" sz="1600" noProof="0" dirty="0"/>
          </a:p>
        </p:txBody>
      </p:sp>
      <p:sp>
        <p:nvSpPr>
          <p:cNvPr id="15" name="Shape 13"/>
          <p:cNvSpPr/>
          <p:nvPr/>
        </p:nvSpPr>
        <p:spPr>
          <a:xfrm>
            <a:off x="566928" y="5698022"/>
            <a:ext cx="11055096" cy="633546"/>
          </a:xfrm>
          <a:prstGeom prst="roundRect">
            <a:avLst>
              <a:gd name="adj" fmla="val 8140"/>
            </a:avLst>
          </a:prstGeom>
          <a:solidFill>
            <a:srgbClr val="EAF7F0"/>
          </a:solidFill>
          <a:ln w="12700">
            <a:solidFill>
              <a:srgbClr val="C0D4CB"/>
            </a:solidFill>
            <a:prstDash val="solid"/>
          </a:ln>
        </p:spPr>
        <p:txBody>
          <a:bodyPr/>
          <a:lstStyle/>
          <a:p>
            <a:endParaRPr lang="en-GB" sz="1600" noProof="0" dirty="0"/>
          </a:p>
        </p:txBody>
      </p:sp>
      <p:sp>
        <p:nvSpPr>
          <p:cNvPr id="16" name="Text 14"/>
          <p:cNvSpPr txBox="1"/>
          <p:nvPr/>
        </p:nvSpPr>
        <p:spPr>
          <a:xfrm>
            <a:off x="841248" y="5698022"/>
            <a:ext cx="10506456" cy="676656"/>
          </a:xfrm>
          <a:prstGeom prst="rect">
            <a:avLst/>
          </a:prstGeom>
          <a:noFill/>
          <a:ln/>
        </p:spPr>
        <p:txBody>
          <a:bodyPr wrap="square" lIns="0" tIns="0" rIns="0" bIns="0" rtlCol="0" anchor="ctr"/>
          <a:lstStyle/>
          <a:p>
            <a:pPr marL="0" indent="0">
              <a:lnSpc>
                <a:spcPct val="104000"/>
              </a:lnSpc>
              <a:buNone/>
            </a:pPr>
            <a:r>
              <a:rPr lang="en-GB" sz="1600" b="1" noProof="0" dirty="0">
                <a:solidFill>
                  <a:srgbClr val="19543E"/>
                </a:solidFill>
                <a:latin typeface="Calibri" pitchFamily="34" charset="0"/>
                <a:ea typeface="Calibri" pitchFamily="34" charset="-122"/>
                <a:cs typeface="Calibri" pitchFamily="34" charset="-120"/>
              </a:rPr>
              <a:t>💬 Say it this way:  </a:t>
            </a:r>
            <a:r>
              <a:rPr lang="en-GB" sz="1600" noProof="0" dirty="0">
                <a:solidFill>
                  <a:srgbClr val="23303F"/>
                </a:solidFill>
                <a:latin typeface="Calibri" pitchFamily="34" charset="0"/>
                <a:ea typeface="Calibri" pitchFamily="34" charset="-122"/>
                <a:cs typeface="Calibri" pitchFamily="34" charset="-120"/>
              </a:rPr>
              <a:t>HPV is common, it usually causes no symptoms, and it can stay silent for years. A positive test says nothing about anyone's behaviour.</a:t>
            </a:r>
            <a:endParaRPr lang="en-GB" sz="1600" noProof="0" dirty="0"/>
          </a:p>
        </p:txBody>
      </p:sp>
      <p:pic>
        <p:nvPicPr>
          <p:cNvPr id="18" name="Imagen 17">
            <a:extLst>
              <a:ext uri="{FF2B5EF4-FFF2-40B4-BE49-F238E27FC236}">
                <a16:creationId xmlns:a16="http://schemas.microsoft.com/office/drawing/2014/main" id="{14C982D9-C645-51FE-CB2E-DF1DFBFBB321}"/>
              </a:ext>
            </a:extLst>
          </p:cNvPr>
          <p:cNvPicPr>
            <a:picLocks noChangeAspect="1"/>
          </p:cNvPicPr>
          <p:nvPr/>
        </p:nvPicPr>
        <p:blipFill>
          <a:blip r:embed="rId3"/>
          <a:srcRect l="2940" t="31573" r="69486" b="49498"/>
          <a:stretch>
            <a:fillRect/>
          </a:stretch>
        </p:blipFill>
        <p:spPr>
          <a:xfrm>
            <a:off x="5760831" y="2671768"/>
            <a:ext cx="1617398" cy="740230"/>
          </a:xfrm>
          <a:prstGeom prst="rect">
            <a:avLst/>
          </a:prstGeom>
        </p:spPr>
      </p:pic>
      <p:pic>
        <p:nvPicPr>
          <p:cNvPr id="19" name="Imagen 18">
            <a:extLst>
              <a:ext uri="{FF2B5EF4-FFF2-40B4-BE49-F238E27FC236}">
                <a16:creationId xmlns:a16="http://schemas.microsoft.com/office/drawing/2014/main" id="{DBDDF45F-DC89-F1CE-5A8E-D0CA02EDF8E5}"/>
              </a:ext>
            </a:extLst>
          </p:cNvPr>
          <p:cNvPicPr>
            <a:picLocks noChangeAspect="1"/>
          </p:cNvPicPr>
          <p:nvPr/>
        </p:nvPicPr>
        <p:blipFill>
          <a:blip r:embed="rId3"/>
          <a:srcRect l="32978" t="23445" r="4202" b="20547"/>
          <a:stretch>
            <a:fillRect/>
          </a:stretch>
        </p:blipFill>
        <p:spPr>
          <a:xfrm>
            <a:off x="4473615" y="3516495"/>
            <a:ext cx="3241721" cy="1926805"/>
          </a:xfrm>
          <a:prstGeom prst="rect">
            <a:avLst/>
          </a:prstGeom>
        </p:spPr>
      </p:pic>
      <p:pic>
        <p:nvPicPr>
          <p:cNvPr id="20" name="Imagen 19">
            <a:extLst>
              <a:ext uri="{FF2B5EF4-FFF2-40B4-BE49-F238E27FC236}">
                <a16:creationId xmlns:a16="http://schemas.microsoft.com/office/drawing/2014/main" id="{30296DAD-10E6-B8FA-23AA-9EA4F6B01512}"/>
              </a:ext>
            </a:extLst>
          </p:cNvPr>
          <p:cNvPicPr>
            <a:picLocks noChangeAspect="1"/>
          </p:cNvPicPr>
          <p:nvPr/>
        </p:nvPicPr>
        <p:blipFill>
          <a:blip r:embed="rId4"/>
          <a:srcRect/>
          <a:stretch>
            <a:fillRect/>
          </a:stretch>
        </p:blipFill>
        <p:spPr>
          <a:xfrm>
            <a:off x="602404" y="3053647"/>
            <a:ext cx="3604978" cy="2401417"/>
          </a:xfrm>
          <a:prstGeom prst="rect">
            <a:avLst/>
          </a:prstGeom>
        </p:spPr>
      </p:pic>
      <p:pic>
        <p:nvPicPr>
          <p:cNvPr id="21" name="Imagen 20">
            <a:extLst>
              <a:ext uri="{FF2B5EF4-FFF2-40B4-BE49-F238E27FC236}">
                <a16:creationId xmlns:a16="http://schemas.microsoft.com/office/drawing/2014/main" id="{B580EF6B-A48E-32F5-7663-47BBA28BE9E5}"/>
              </a:ext>
            </a:extLst>
          </p:cNvPr>
          <p:cNvPicPr>
            <a:picLocks noChangeAspect="1"/>
          </p:cNvPicPr>
          <p:nvPr/>
        </p:nvPicPr>
        <p:blipFill>
          <a:blip r:embed="rId5"/>
          <a:srcRect/>
          <a:stretch>
            <a:fillRect/>
          </a:stretch>
        </p:blipFill>
        <p:spPr>
          <a:xfrm>
            <a:off x="8046885" y="2835730"/>
            <a:ext cx="3567791" cy="2378527"/>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1 · HPV</a:t>
            </a:r>
            <a:endParaRPr lang="en-GB"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HPV types, and what helps an infection persist</a:t>
            </a:r>
          </a:p>
        </p:txBody>
      </p:sp>
      <p:sp>
        <p:nvSpPr>
          <p:cNvPr id="4" name="Shape 4"/>
          <p:cNvSpPr/>
          <p:nvPr/>
        </p:nvSpPr>
        <p:spPr>
          <a:xfrm>
            <a:off x="1566928" y="1450000"/>
            <a:ext cx="3800000" cy="520000"/>
          </a:xfrm>
          <a:prstGeom prst="roundRect">
            <a:avLst>
              <a:gd name="adj" fmla="val 3000"/>
            </a:avLst>
          </a:prstGeom>
          <a:solidFill>
            <a:srgbClr val="1F4E96"/>
          </a:solidFill>
          <a:ln w="12700">
            <a:solidFill>
              <a:srgbClr val="1F4E96"/>
            </a:solidFill>
          </a:ln>
        </p:spPr>
        <p:txBody>
          <a:bodyPr wrap="square" lIns="45720" tIns="45720" rIns="45720" bIns="45720" rtlCol="0" anchor="ctr"/>
          <a:lstStyle/>
          <a:p>
            <a:pPr marL="0" indent="0" algn="ctr">
              <a:buNone/>
            </a:pPr>
            <a:r>
              <a:rPr lang="en-GB" sz="1600" b="1" noProof="0" dirty="0">
                <a:solidFill>
                  <a:srgbClr val="FFFFFF"/>
                </a:solidFill>
                <a:latin typeface="Calibri" pitchFamily="34" charset="0"/>
                <a:ea typeface="Calibri" pitchFamily="34" charset="-122"/>
                <a:cs typeface="Calibri" pitchFamily="34" charset="-120"/>
              </a:rPr>
              <a:t>HPV: more than 200 types</a:t>
            </a:r>
            <a:endParaRPr lang="en-GB" sz="1600" dirty="0"/>
          </a:p>
        </p:txBody>
      </p:sp>
      <p:cxnSp>
        <p:nvCxnSpPr>
          <p:cNvPr id="5" name="Connector 5"/>
          <p:cNvCxnSpPr/>
          <p:nvPr/>
        </p:nvCxnSpPr>
        <p:spPr>
          <a:xfrm>
            <a:off x="3466928" y="1970000"/>
            <a:ext cx="0" cy="210000"/>
          </a:xfrm>
          <a:prstGeom prst="straightConnector1">
            <a:avLst/>
          </a:prstGeom>
          <a:ln w="19050">
            <a:solidFill>
              <a:srgbClr val="31507B"/>
            </a:solidFill>
            <a:tailEnd type="triangle" w="med" len="med"/>
          </a:ln>
        </p:spPr>
      </p:cxnSp>
      <p:sp>
        <p:nvSpPr>
          <p:cNvPr id="6" name="Shape 6"/>
          <p:cNvSpPr/>
          <p:nvPr/>
        </p:nvSpPr>
        <p:spPr>
          <a:xfrm>
            <a:off x="1566928" y="2180000"/>
            <a:ext cx="3800000" cy="520000"/>
          </a:xfrm>
          <a:prstGeom prst="roundRect">
            <a:avLst>
              <a:gd name="adj" fmla="val 3000"/>
            </a:avLst>
          </a:prstGeom>
          <a:solidFill>
            <a:srgbClr val="DCE6F5"/>
          </a:solidFill>
          <a:ln w="12700">
            <a:solidFill>
              <a:srgbClr val="B7C6E0"/>
            </a:solidFill>
          </a:ln>
        </p:spPr>
        <p:txBody>
          <a:bodyPr wrap="square" lIns="45720" tIns="45720" rIns="45720" bIns="45720" rtlCol="0" anchor="ctr"/>
          <a:lstStyle/>
          <a:p>
            <a:pPr marL="0" indent="0" algn="ctr">
              <a:buNone/>
            </a:pPr>
            <a:r>
              <a:rPr lang="en-GB" sz="1600" b="1" noProof="0" dirty="0">
                <a:solidFill>
                  <a:srgbClr val="10305A"/>
                </a:solidFill>
                <a:latin typeface="Calibri" pitchFamily="34" charset="0"/>
                <a:ea typeface="Calibri" pitchFamily="34" charset="-122"/>
                <a:cs typeface="Calibri" pitchFamily="34" charset="-120"/>
              </a:rPr>
              <a:t>About 40 infect the genital tract</a:t>
            </a:r>
            <a:endParaRPr lang="en-GB" sz="1600" dirty="0"/>
          </a:p>
        </p:txBody>
      </p:sp>
      <p:cxnSp>
        <p:nvCxnSpPr>
          <p:cNvPr id="7" name="Connector 7"/>
          <p:cNvCxnSpPr/>
          <p:nvPr/>
        </p:nvCxnSpPr>
        <p:spPr>
          <a:xfrm>
            <a:off x="3466928" y="2700000"/>
            <a:ext cx="0" cy="180000"/>
          </a:xfrm>
          <a:prstGeom prst="straightConnector1">
            <a:avLst/>
          </a:prstGeom>
          <a:ln w="19050">
            <a:solidFill>
              <a:srgbClr val="31507B"/>
            </a:solidFill>
          </a:ln>
        </p:spPr>
      </p:cxnSp>
      <p:cxnSp>
        <p:nvCxnSpPr>
          <p:cNvPr id="8" name="Connector 8"/>
          <p:cNvCxnSpPr/>
          <p:nvPr/>
        </p:nvCxnSpPr>
        <p:spPr>
          <a:xfrm>
            <a:off x="1966928" y="2880000"/>
            <a:ext cx="3000000" cy="0"/>
          </a:xfrm>
          <a:prstGeom prst="straightConnector1">
            <a:avLst/>
          </a:prstGeom>
          <a:ln w="19050">
            <a:solidFill>
              <a:srgbClr val="31507B"/>
            </a:solidFill>
          </a:ln>
        </p:spPr>
      </p:cxnSp>
      <p:cxnSp>
        <p:nvCxnSpPr>
          <p:cNvPr id="9" name="Connector 9"/>
          <p:cNvCxnSpPr/>
          <p:nvPr/>
        </p:nvCxnSpPr>
        <p:spPr>
          <a:xfrm>
            <a:off x="1966928" y="2880000"/>
            <a:ext cx="0" cy="170000"/>
          </a:xfrm>
          <a:prstGeom prst="straightConnector1">
            <a:avLst/>
          </a:prstGeom>
          <a:ln w="19050">
            <a:solidFill>
              <a:srgbClr val="31507B"/>
            </a:solidFill>
            <a:tailEnd type="triangle" w="med" len="med"/>
          </a:ln>
        </p:spPr>
      </p:cxnSp>
      <p:cxnSp>
        <p:nvCxnSpPr>
          <p:cNvPr id="10" name="Connector 10"/>
          <p:cNvCxnSpPr/>
          <p:nvPr/>
        </p:nvCxnSpPr>
        <p:spPr>
          <a:xfrm>
            <a:off x="4966928" y="2880000"/>
            <a:ext cx="0" cy="170000"/>
          </a:xfrm>
          <a:prstGeom prst="straightConnector1">
            <a:avLst/>
          </a:prstGeom>
          <a:ln w="19050">
            <a:solidFill>
              <a:srgbClr val="31507B"/>
            </a:solidFill>
            <a:tailEnd type="triangle" w="med" len="med"/>
          </a:ln>
        </p:spPr>
      </p:cxnSp>
      <p:sp>
        <p:nvSpPr>
          <p:cNvPr id="11" name="Shape 11"/>
          <p:cNvSpPr/>
          <p:nvPr/>
        </p:nvSpPr>
        <p:spPr>
          <a:xfrm>
            <a:off x="566928" y="3050000"/>
            <a:ext cx="2800000" cy="2050000"/>
          </a:xfrm>
          <a:prstGeom prst="roundRect">
            <a:avLst>
              <a:gd name="adj" fmla="val 3000"/>
            </a:avLst>
          </a:prstGeom>
          <a:solidFill>
            <a:srgbClr val="FDE9E8"/>
          </a:solidFill>
          <a:ln w="12700">
            <a:solidFill>
              <a:srgbClr val="F0CFCE"/>
            </a:solidFill>
          </a:ln>
        </p:spPr>
        <p:txBody>
          <a:bodyPr wrap="square" lIns="91440" tIns="91440" rIns="91440" bIns="91440" rtlCol="0" anchor="t"/>
          <a:lstStyle/>
          <a:p>
            <a:pPr marL="0" indent="0" algn="ctr">
              <a:spcAft>
                <a:spcPts val="400"/>
              </a:spcAft>
              <a:buNone/>
            </a:pPr>
            <a:r>
              <a:rPr lang="en-GB" sz="1600" b="1" noProof="0" dirty="0">
                <a:solidFill>
                  <a:srgbClr val="8E2531"/>
                </a:solidFill>
                <a:latin typeface="Calibri" pitchFamily="34" charset="0"/>
                <a:ea typeface="Calibri" pitchFamily="34" charset="-122"/>
                <a:cs typeface="Calibri" pitchFamily="34" charset="-120"/>
              </a:rPr>
              <a:t>High-risk (oncogenic)</a:t>
            </a:r>
            <a:endParaRPr lang="en-GB" sz="1600" dirty="0"/>
          </a:p>
          <a:p>
            <a:pPr marL="0" indent="0" algn="ctr">
              <a:spcAft>
                <a:spcPts val="400"/>
              </a:spcAft>
              <a:buNone/>
            </a:pPr>
            <a:r>
              <a:rPr lang="en-GB" sz="1400" noProof="0" dirty="0">
                <a:solidFill>
                  <a:srgbClr val="23303F"/>
                </a:solidFill>
                <a:latin typeface="Calibri" pitchFamily="34" charset="0"/>
                <a:ea typeface="Calibri" pitchFamily="34" charset="-122"/>
                <a:cs typeface="Calibri" pitchFamily="34" charset="-120"/>
              </a:rPr>
              <a:t>16, 18, 31, 33, 35, 39, 45, 51, 52, 56, 58, 59, 68 and others</a:t>
            </a:r>
            <a:endParaRPr lang="en-GB" sz="1400" dirty="0"/>
          </a:p>
          <a:p>
            <a:pPr marL="0" indent="0" algn="ctr">
              <a:buNone/>
            </a:pPr>
            <a:r>
              <a:rPr lang="en-GB" sz="1400" b="1" noProof="0" dirty="0">
                <a:solidFill>
                  <a:srgbClr val="23303F"/>
                </a:solidFill>
                <a:latin typeface="Calibri" pitchFamily="34" charset="0"/>
                <a:ea typeface="Calibri" pitchFamily="34" charset="-122"/>
                <a:cs typeface="Calibri" pitchFamily="34" charset="-120"/>
              </a:rPr>
              <a:t>HPV 16 and 18 cause about 70% of cervical cancers worldwide.</a:t>
            </a:r>
            <a:endParaRPr lang="en-GB" sz="1400" dirty="0"/>
          </a:p>
        </p:txBody>
      </p:sp>
      <p:sp>
        <p:nvSpPr>
          <p:cNvPr id="12" name="Shape 12"/>
          <p:cNvSpPr/>
          <p:nvPr/>
        </p:nvSpPr>
        <p:spPr>
          <a:xfrm>
            <a:off x="3566928" y="3050000"/>
            <a:ext cx="2800000" cy="2050000"/>
          </a:xfrm>
          <a:prstGeom prst="roundRect">
            <a:avLst>
              <a:gd name="adj" fmla="val 3000"/>
            </a:avLst>
          </a:prstGeom>
          <a:solidFill>
            <a:srgbClr val="ECF3FD"/>
          </a:solidFill>
          <a:ln w="12700">
            <a:solidFill>
              <a:srgbClr val="E0E3EA"/>
            </a:solidFill>
          </a:ln>
        </p:spPr>
        <p:txBody>
          <a:bodyPr wrap="square" lIns="91440" tIns="91440" rIns="91440" bIns="91440" rtlCol="0" anchor="t"/>
          <a:lstStyle/>
          <a:p>
            <a:pPr marL="0" indent="0" algn="ctr">
              <a:spcAft>
                <a:spcPts val="400"/>
              </a:spcAft>
              <a:buNone/>
            </a:pPr>
            <a:r>
              <a:rPr lang="en-GB" sz="1600" b="1" noProof="0" dirty="0">
                <a:solidFill>
                  <a:srgbClr val="10305A"/>
                </a:solidFill>
                <a:latin typeface="Calibri" pitchFamily="34" charset="0"/>
                <a:ea typeface="Calibri" pitchFamily="34" charset="-122"/>
                <a:cs typeface="Calibri" pitchFamily="34" charset="-120"/>
              </a:rPr>
              <a:t>Low-risk</a:t>
            </a:r>
            <a:endParaRPr lang="en-GB" sz="1600" dirty="0"/>
          </a:p>
          <a:p>
            <a:pPr marL="0" indent="0" algn="ctr">
              <a:spcAft>
                <a:spcPts val="400"/>
              </a:spcAft>
              <a:buNone/>
            </a:pPr>
            <a:r>
              <a:rPr lang="en-GB" sz="1400" noProof="0" dirty="0">
                <a:solidFill>
                  <a:srgbClr val="23303F"/>
                </a:solidFill>
                <a:latin typeface="Calibri" pitchFamily="34" charset="0"/>
                <a:ea typeface="Calibri" pitchFamily="34" charset="-122"/>
                <a:cs typeface="Calibri" pitchFamily="34" charset="-120"/>
              </a:rPr>
              <a:t>6, 11 and others</a:t>
            </a:r>
            <a:endParaRPr lang="en-GB" sz="1400" dirty="0"/>
          </a:p>
          <a:p>
            <a:pPr marL="0" indent="0" algn="ctr">
              <a:buNone/>
            </a:pPr>
            <a:r>
              <a:rPr lang="en-GB" sz="1400" noProof="0" dirty="0">
                <a:solidFill>
                  <a:srgbClr val="23303F"/>
                </a:solidFill>
                <a:latin typeface="Calibri" pitchFamily="34" charset="0"/>
                <a:ea typeface="Calibri" pitchFamily="34" charset="-122"/>
                <a:cs typeface="Calibri" pitchFamily="34" charset="-120"/>
              </a:rPr>
              <a:t>HPV 6 and 11 cause about 90% of genital warts. They do not cause cervical cancer.</a:t>
            </a:r>
            <a:endParaRPr lang="en-GB" sz="1400" dirty="0"/>
          </a:p>
        </p:txBody>
      </p:sp>
      <p:sp>
        <p:nvSpPr>
          <p:cNvPr id="13" name="Shape 13"/>
          <p:cNvSpPr/>
          <p:nvPr/>
        </p:nvSpPr>
        <p:spPr>
          <a:xfrm>
            <a:off x="6666928" y="1450000"/>
            <a:ext cx="4955096" cy="365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4" name="Text 14"/>
          <p:cNvSpPr txBox="1"/>
          <p:nvPr/>
        </p:nvSpPr>
        <p:spPr>
          <a:xfrm>
            <a:off x="6922960" y="1570000"/>
            <a:ext cx="4443032" cy="520000"/>
          </a:xfrm>
          <a:prstGeom prst="rect">
            <a:avLst/>
          </a:prstGeom>
          <a:noFill/>
          <a:ln/>
        </p:spPr>
        <p:txBody>
          <a:bodyPr wrap="square" lIns="0" tIns="0" rIns="0" bIns="0" rtlCol="0" anchor="ctr"/>
          <a:lstStyle/>
          <a:p>
            <a:pPr marL="0" indent="0" algn="l">
              <a:buNone/>
            </a:pPr>
            <a:r>
              <a:rPr lang="en-GB" sz="1800" b="1" noProof="0" dirty="0">
                <a:solidFill>
                  <a:srgbClr val="10305A"/>
                </a:solidFill>
                <a:latin typeface="Calibri" pitchFamily="34" charset="0"/>
                <a:ea typeface="Calibri" pitchFamily="34" charset="-122"/>
                <a:cs typeface="Calibri" pitchFamily="34" charset="-120"/>
              </a:rPr>
              <a:t>⚠️  Co-factors for persistence or progression</a:t>
            </a:r>
            <a:endParaRPr lang="en-GB" sz="1800" dirty="0"/>
          </a:p>
        </p:txBody>
      </p:sp>
      <p:sp>
        <p:nvSpPr>
          <p:cNvPr id="15" name="Text 15"/>
          <p:cNvSpPr txBox="1"/>
          <p:nvPr/>
        </p:nvSpPr>
        <p:spPr>
          <a:xfrm>
            <a:off x="6922960" y="2150000"/>
            <a:ext cx="4443032" cy="287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HIV infection or other reduced immunity</a:t>
            </a:r>
            <a:endParaRPr lang="en-GB" sz="1600" dirty="0"/>
          </a:p>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Tobacco use</a:t>
            </a:r>
            <a:endParaRPr lang="en-GB" sz="1600" dirty="0"/>
          </a:p>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Many full-term pregnancies, especially from a young age</a:t>
            </a:r>
            <a:endParaRPr lang="en-GB" sz="1600" dirty="0"/>
          </a:p>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Early age at first sexual intercourse (earlier exposure to HPV)</a:t>
            </a:r>
            <a:endParaRPr lang="en-GB" sz="1600" dirty="0"/>
          </a:p>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Other genital infections, such as chlamydia</a:t>
            </a:r>
            <a:endParaRPr lang="en-GB" sz="1600" dirty="0"/>
          </a:p>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Never having been screened</a:t>
            </a:r>
            <a:endParaRPr lang="en-GB" sz="1600" dirty="0"/>
          </a:p>
        </p:txBody>
      </p:sp>
      <p:sp>
        <p:nvSpPr>
          <p:cNvPr id="16" name="Shape 16"/>
          <p:cNvSpPr/>
          <p:nvPr/>
        </p:nvSpPr>
        <p:spPr>
          <a:xfrm>
            <a:off x="566928" y="5270000"/>
            <a:ext cx="11055096" cy="900000"/>
          </a:xfrm>
          <a:prstGeom prst="roundRect">
            <a:avLst>
              <a:gd name="adj" fmla="val 3000"/>
            </a:avLst>
          </a:prstGeom>
          <a:solidFill>
            <a:srgbClr val="FFF2DF"/>
          </a:solidFill>
          <a:ln w="12700">
            <a:solidFill>
              <a:srgbClr val="E8DDC7"/>
            </a:solidFill>
          </a:ln>
        </p:spPr>
        <p:txBody>
          <a:bodyPr/>
          <a:lstStyle/>
          <a:p>
            <a:endParaRPr lang="en-GB" sz="1600" dirty="0"/>
          </a:p>
        </p:txBody>
      </p:sp>
      <p:sp>
        <p:nvSpPr>
          <p:cNvPr id="17" name="Text 17"/>
          <p:cNvSpPr txBox="1"/>
          <p:nvPr/>
        </p:nvSpPr>
        <p:spPr>
          <a:xfrm>
            <a:off x="841248" y="5320000"/>
            <a:ext cx="10506456" cy="800000"/>
          </a:xfrm>
          <a:prstGeom prst="rect">
            <a:avLst/>
          </a:prstGeom>
          <a:noFill/>
          <a:ln/>
        </p:spPr>
        <p:txBody>
          <a:bodyPr wrap="square" lIns="0" tIns="0" rIns="0" bIns="0" rtlCol="0" anchor="ctr"/>
          <a:lstStyle/>
          <a:p>
            <a:pPr marL="0" indent="0" algn="l">
              <a:buNone/>
            </a:pPr>
            <a:r>
              <a:rPr lang="en-GB" sz="1600" b="1" noProof="0" dirty="0">
                <a:solidFill>
                  <a:srgbClr val="7B5727"/>
                </a:solidFill>
                <a:latin typeface="Calibri" pitchFamily="34" charset="0"/>
                <a:ea typeface="Calibri" pitchFamily="34" charset="-122"/>
                <a:cs typeface="Calibri" pitchFamily="34" charset="-120"/>
              </a:rPr>
              <a:t>💬 Say it this way:  </a:t>
            </a:r>
            <a:r>
              <a:rPr lang="en-GB" sz="1600" noProof="0" dirty="0">
                <a:solidFill>
                  <a:srgbClr val="23303F"/>
                </a:solidFill>
                <a:latin typeface="Calibri" pitchFamily="34" charset="0"/>
                <a:ea typeface="Calibri" pitchFamily="34" charset="-122"/>
                <a:cs typeface="Calibri" pitchFamily="34" charset="-120"/>
              </a:rPr>
              <a:t>Co-factors describe risk across populations. They never explain an individual woman's diagnosis, and they are never a reason for blame.</a:t>
            </a:r>
            <a:endParaRPr lang="en-GB" sz="1600" dirty="0"/>
          </a:p>
        </p:txBody>
      </p:sp>
      <p:sp>
        <p:nvSpPr>
          <p:cNvPr id="18" name="Text 18"/>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19" name="Text 19"/>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39</a:t>
            </a:r>
            <a:endParaRPr lang="en-GB"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40</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1 · PATHOPHYSIOLOGY</a:t>
            </a:r>
            <a:endParaRPr lang="en-GB" sz="1200" noProof="0" dirty="0"/>
          </a:p>
        </p:txBody>
      </p:sp>
      <p:sp>
        <p:nvSpPr>
          <p:cNvPr id="5" name="Text 3"/>
          <p:cNvSpPr txBox="1"/>
          <p:nvPr/>
        </p:nvSpPr>
        <p:spPr>
          <a:xfrm>
            <a:off x="566928" y="438436"/>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The pathway, drawn</a:t>
            </a:r>
            <a:endParaRPr lang="en-GB" sz="3200" noProof="0" dirty="0"/>
          </a:p>
        </p:txBody>
      </p:sp>
      <p:pic>
        <p:nvPicPr>
          <p:cNvPr id="10" name="Imagen 9">
            <a:extLst>
              <a:ext uri="{FF2B5EF4-FFF2-40B4-BE49-F238E27FC236}">
                <a16:creationId xmlns:a16="http://schemas.microsoft.com/office/drawing/2014/main" id="{4A765CA9-6ED0-29C6-9F9C-13E03BE3D33C}"/>
              </a:ext>
            </a:extLst>
          </p:cNvPr>
          <p:cNvPicPr>
            <a:picLocks noChangeAspect="1"/>
          </p:cNvPicPr>
          <p:nvPr/>
        </p:nvPicPr>
        <p:blipFill>
          <a:blip r:embed="rId3"/>
          <a:srcRect t="9850" b="2717"/>
          <a:stretch>
            <a:fillRect/>
          </a:stretch>
        </p:blipFill>
        <p:spPr>
          <a:xfrm>
            <a:off x="1442300" y="1133915"/>
            <a:ext cx="9781871" cy="4690754"/>
          </a:xfrm>
          <a:prstGeom prst="rect">
            <a:avLst/>
          </a:prstGeom>
        </p:spPr>
      </p:pic>
      <p:sp>
        <p:nvSpPr>
          <p:cNvPr id="6" name="Shape 28">
            <a:extLst>
              <a:ext uri="{FF2B5EF4-FFF2-40B4-BE49-F238E27FC236}">
                <a16:creationId xmlns:a16="http://schemas.microsoft.com/office/drawing/2014/main" id="{941116D4-A0D5-7FB5-17B4-036212707948}"/>
              </a:ext>
            </a:extLst>
          </p:cNvPr>
          <p:cNvSpPr/>
          <p:nvPr/>
        </p:nvSpPr>
        <p:spPr>
          <a:xfrm>
            <a:off x="543652" y="5855275"/>
            <a:ext cx="11055096" cy="524920"/>
          </a:xfrm>
          <a:prstGeom prst="roundRect">
            <a:avLst>
              <a:gd name="adj" fmla="val 8140"/>
            </a:avLst>
          </a:prstGeom>
          <a:solidFill>
            <a:srgbClr val="FFF2DF"/>
          </a:solidFill>
          <a:ln w="12700">
            <a:solidFill>
              <a:srgbClr val="E8DDC7"/>
            </a:solidFill>
            <a:prstDash val="solid"/>
          </a:ln>
        </p:spPr>
        <p:txBody>
          <a:bodyPr/>
          <a:lstStyle/>
          <a:p>
            <a:endParaRPr lang="en-GB" sz="1400" noProof="0" dirty="0"/>
          </a:p>
        </p:txBody>
      </p:sp>
      <p:sp>
        <p:nvSpPr>
          <p:cNvPr id="7" name="Text 29">
            <a:extLst>
              <a:ext uri="{FF2B5EF4-FFF2-40B4-BE49-F238E27FC236}">
                <a16:creationId xmlns:a16="http://schemas.microsoft.com/office/drawing/2014/main" id="{970C31E2-F9D5-E6E0-7A58-537770AB97B9}"/>
              </a:ext>
            </a:extLst>
          </p:cNvPr>
          <p:cNvSpPr txBox="1"/>
          <p:nvPr/>
        </p:nvSpPr>
        <p:spPr>
          <a:xfrm>
            <a:off x="817972" y="5873655"/>
            <a:ext cx="10506456" cy="451675"/>
          </a:xfrm>
          <a:prstGeom prst="rect">
            <a:avLst/>
          </a:prstGeom>
          <a:noFill/>
          <a:ln/>
        </p:spPr>
        <p:txBody>
          <a:bodyPr wrap="square" lIns="0" tIns="0" rIns="0" bIns="0" rtlCol="0" anchor="ctr"/>
          <a:lstStyle/>
          <a:p>
            <a:pPr marL="0" indent="0">
              <a:lnSpc>
                <a:spcPct val="104000"/>
              </a:lnSpc>
              <a:buNone/>
            </a:pPr>
            <a:r>
              <a:rPr lang="en-GB" sz="1400" b="1" noProof="0" dirty="0">
                <a:solidFill>
                  <a:srgbClr val="7B5727"/>
                </a:solidFill>
                <a:latin typeface="Calibri" pitchFamily="34" charset="0"/>
                <a:ea typeface="Calibri" pitchFamily="34" charset="-122"/>
                <a:cs typeface="Calibri" pitchFamily="34" charset="-120"/>
              </a:rPr>
              <a:t>⚠️ Do not oversimplify:  </a:t>
            </a:r>
            <a:r>
              <a:rPr lang="en-GB" sz="1400" noProof="0" dirty="0">
                <a:solidFill>
                  <a:srgbClr val="23303F"/>
                </a:solidFill>
                <a:latin typeface="Calibri" pitchFamily="34" charset="0"/>
                <a:ea typeface="Calibri" pitchFamily="34" charset="-122"/>
                <a:cs typeface="Calibri" pitchFamily="34" charset="-120"/>
              </a:rPr>
              <a:t>HPV infection is not the same as cervical cancer, and not every persistent infection progresses. Progression is possible, not inevitable.</a:t>
            </a:r>
            <a:endParaRPr lang="en-GB" sz="1400" noProof="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41</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1 · INTERACTIVE</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Put the pathway in order</a:t>
            </a:r>
            <a:endParaRPr lang="en-GB" sz="3200" noProof="0" dirty="0"/>
          </a:p>
        </p:txBody>
      </p:sp>
      <p:sp>
        <p:nvSpPr>
          <p:cNvPr id="6" name="Text 4"/>
          <p:cNvSpPr txBox="1"/>
          <p:nvPr/>
        </p:nvSpPr>
        <p:spPr>
          <a:xfrm>
            <a:off x="566928" y="1517904"/>
            <a:ext cx="11055096" cy="365760"/>
          </a:xfrm>
          <a:prstGeom prst="rect">
            <a:avLst/>
          </a:prstGeom>
          <a:noFill/>
          <a:ln/>
        </p:spPr>
        <p:txBody>
          <a:bodyPr wrap="square" lIns="0" tIns="0" rIns="0" bIns="0" rtlCol="0" anchor="ctr"/>
          <a:lstStyle/>
          <a:p>
            <a:pPr marL="0" indent="0">
              <a:buNone/>
            </a:pPr>
            <a:r>
              <a:rPr lang="en-GB" sz="1800" i="1" noProof="0" dirty="0">
                <a:solidFill>
                  <a:srgbClr val="31507B"/>
                </a:solidFill>
                <a:latin typeface="Calibri" pitchFamily="34" charset="0"/>
                <a:ea typeface="Calibri" pitchFamily="34" charset="-122"/>
                <a:cs typeface="Calibri" pitchFamily="34" charset="-120"/>
              </a:rPr>
              <a:t>💬  Drag the five stages into the order in which they occur, then select Submit.</a:t>
            </a:r>
            <a:endParaRPr lang="en-GB" sz="1800" noProof="0" dirty="0"/>
          </a:p>
        </p:txBody>
      </p:sp>
      <p:sp>
        <p:nvSpPr>
          <p:cNvPr id="7" name="Text 5"/>
          <p:cNvSpPr txBox="1"/>
          <p:nvPr/>
        </p:nvSpPr>
        <p:spPr>
          <a:xfrm>
            <a:off x="566928" y="1719072"/>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Which order correctly describes how almost all cervical cancers develop?</a:t>
            </a:r>
            <a:endParaRPr lang="en-GB" sz="2000" noProof="0" dirty="0"/>
          </a:p>
        </p:txBody>
      </p:sp>
      <p:sp>
        <p:nvSpPr>
          <p:cNvPr id="10" name="Shape 8"/>
          <p:cNvSpPr/>
          <p:nvPr/>
        </p:nvSpPr>
        <p:spPr>
          <a:xfrm>
            <a:off x="566928" y="2450592"/>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1" name="Text 9"/>
          <p:cNvSpPr txBox="1"/>
          <p:nvPr/>
        </p:nvSpPr>
        <p:spPr>
          <a:xfrm>
            <a:off x="841248" y="2450592"/>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HPV infection, persistent infection, precancer, invasive cancer</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8" name="Shape 6"/>
          <p:cNvSpPr/>
          <p:nvPr/>
        </p:nvSpPr>
        <p:spPr>
          <a:xfrm>
            <a:off x="566928" y="3026664"/>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9" name="Text 7"/>
          <p:cNvSpPr txBox="1"/>
          <p:nvPr/>
        </p:nvSpPr>
        <p:spPr>
          <a:xfrm>
            <a:off x="841248" y="3026664"/>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Invasive cancer, then persistent HPV infection, then precancer</a:t>
            </a:r>
            <a:endParaRPr lang="en-GB" sz="1800" noProof="0" dirty="0"/>
          </a:p>
        </p:txBody>
      </p:sp>
      <p:sp>
        <p:nvSpPr>
          <p:cNvPr id="12" name="Shape 10"/>
          <p:cNvSpPr/>
          <p:nvPr/>
        </p:nvSpPr>
        <p:spPr>
          <a:xfrm>
            <a:off x="566928" y="360273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841248" y="360273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Precancer, HPV infection, invasive cancer, persistent infection</a:t>
            </a:r>
            <a:endParaRPr lang="en-GB" sz="1800" noProof="0" dirty="0"/>
          </a:p>
        </p:txBody>
      </p:sp>
      <p:sp>
        <p:nvSpPr>
          <p:cNvPr id="14" name="Shape 12"/>
          <p:cNvSpPr/>
          <p:nvPr/>
        </p:nvSpPr>
        <p:spPr>
          <a:xfrm>
            <a:off x="566928" y="417880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5" name="Text 13"/>
          <p:cNvSpPr txBox="1"/>
          <p:nvPr/>
        </p:nvSpPr>
        <p:spPr>
          <a:xfrm>
            <a:off x="841248" y="417880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Symptoms appear first, then HPV infection, then cancer</a:t>
            </a:r>
            <a:endParaRPr lang="en-GB" sz="1800" noProof="0" dirty="0"/>
          </a:p>
        </p:txBody>
      </p:sp>
      <p:sp>
        <p:nvSpPr>
          <p:cNvPr id="16" name="Shape 14"/>
          <p:cNvSpPr/>
          <p:nvPr/>
        </p:nvSpPr>
        <p:spPr>
          <a:xfrm>
            <a:off x="566928" y="4846320"/>
            <a:ext cx="11055096" cy="1389888"/>
          </a:xfrm>
          <a:prstGeom prst="roundRect">
            <a:avLst>
              <a:gd name="adj" fmla="val 4605"/>
            </a:avLst>
          </a:prstGeom>
          <a:solidFill>
            <a:srgbClr val="EAF7F0"/>
          </a:solidFill>
          <a:ln w="12700">
            <a:solidFill>
              <a:srgbClr val="C0D4CB"/>
            </a:solidFill>
            <a:prstDash val="solid"/>
          </a:ln>
        </p:spPr>
        <p:txBody>
          <a:bodyPr/>
          <a:lstStyle/>
          <a:p>
            <a:endParaRPr lang="en-GB" noProof="0" dirty="0"/>
          </a:p>
        </p:txBody>
      </p:sp>
      <p:sp>
        <p:nvSpPr>
          <p:cNvPr id="17" name="Text 15"/>
          <p:cNvSpPr txBox="1"/>
          <p:nvPr/>
        </p:nvSpPr>
        <p:spPr>
          <a:xfrm>
            <a:off x="841248" y="4937760"/>
            <a:ext cx="10506456" cy="1207008"/>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A
Feedback: </a:t>
            </a:r>
            <a:r>
              <a:rPr lang="en-GB" sz="1800" noProof="0" dirty="0">
                <a:solidFill>
                  <a:srgbClr val="23303F"/>
                </a:solidFill>
                <a:latin typeface="Calibri" pitchFamily="34" charset="0"/>
                <a:ea typeface="Calibri" pitchFamily="34" charset="-122"/>
                <a:cs typeface="Calibri" pitchFamily="34" charset="-120"/>
              </a:rPr>
              <a:t>HPV infects the transformation zone. Most infections clear. Persistent infection can lead to precancer, and a minority of untreated lesions become cancer.</a:t>
            </a:r>
            <a:endParaRPr lang="en-GB" sz="1800" noProof="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42</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1 · PRECANCEROUS LESIONS</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What cervical precancer is</a:t>
            </a:r>
            <a:endParaRPr lang="en-GB" sz="3200" noProof="0" dirty="0"/>
          </a:p>
        </p:txBody>
      </p:sp>
      <p:sp>
        <p:nvSpPr>
          <p:cNvPr id="6" name="Shape 4"/>
          <p:cNvSpPr/>
          <p:nvPr/>
        </p:nvSpPr>
        <p:spPr>
          <a:xfrm>
            <a:off x="566928" y="1386564"/>
            <a:ext cx="3563112" cy="3901992"/>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822960" y="1569444"/>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Abnormal, not invasive</a:t>
            </a:r>
            <a:endParaRPr lang="en-GB" sz="2000" noProof="0" dirty="0"/>
          </a:p>
        </p:txBody>
      </p:sp>
      <p:sp>
        <p:nvSpPr>
          <p:cNvPr id="8" name="Text 6"/>
          <p:cNvSpPr txBox="1"/>
          <p:nvPr/>
        </p:nvSpPr>
        <p:spPr>
          <a:xfrm>
            <a:off x="822960" y="2172948"/>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Precancer means abnormal cells in the surface layer of the cervix that have not invaded deeper tissue.</a:t>
            </a:r>
            <a:endParaRPr lang="en-GB" sz="1800" noProof="0" dirty="0"/>
          </a:p>
        </p:txBody>
      </p:sp>
      <p:sp>
        <p:nvSpPr>
          <p:cNvPr id="9" name="Shape 7"/>
          <p:cNvSpPr/>
          <p:nvPr/>
        </p:nvSpPr>
        <p:spPr>
          <a:xfrm>
            <a:off x="4312920" y="1386564"/>
            <a:ext cx="3563112" cy="3901992"/>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4568952" y="1569444"/>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Low grade</a:t>
            </a:r>
            <a:endParaRPr lang="en-GB" sz="2000" noProof="0" dirty="0"/>
          </a:p>
        </p:txBody>
      </p:sp>
      <p:sp>
        <p:nvSpPr>
          <p:cNvPr id="11" name="Text 9"/>
          <p:cNvSpPr txBox="1"/>
          <p:nvPr/>
        </p:nvSpPr>
        <p:spPr>
          <a:xfrm>
            <a:off x="4568952" y="2172948"/>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Changes affecting only the lower part of the surface layer. Many of these regress on their own.</a:t>
            </a:r>
            <a:endParaRPr lang="en-GB" sz="1800" noProof="0" dirty="0"/>
          </a:p>
        </p:txBody>
      </p:sp>
      <p:sp>
        <p:nvSpPr>
          <p:cNvPr id="12" name="Shape 10"/>
          <p:cNvSpPr/>
          <p:nvPr/>
        </p:nvSpPr>
        <p:spPr>
          <a:xfrm>
            <a:off x="8058912" y="1386564"/>
            <a:ext cx="3563112" cy="3901992"/>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8314944" y="1569444"/>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High grade</a:t>
            </a:r>
            <a:endParaRPr lang="en-GB" sz="2000" noProof="0" dirty="0"/>
          </a:p>
        </p:txBody>
      </p:sp>
      <p:sp>
        <p:nvSpPr>
          <p:cNvPr id="14" name="Text 12"/>
          <p:cNvSpPr txBox="1"/>
          <p:nvPr/>
        </p:nvSpPr>
        <p:spPr>
          <a:xfrm>
            <a:off x="8314944" y="2172948"/>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More extensive changes carrying a higher risk of progression. These are treated.</a:t>
            </a:r>
            <a:endParaRPr lang="en-GB" sz="1800" noProof="0" dirty="0"/>
          </a:p>
        </p:txBody>
      </p:sp>
      <p:sp>
        <p:nvSpPr>
          <p:cNvPr id="15" name="Shape 13"/>
          <p:cNvSpPr/>
          <p:nvPr/>
        </p:nvSpPr>
        <p:spPr>
          <a:xfrm>
            <a:off x="566928" y="5542217"/>
            <a:ext cx="11055096" cy="786384"/>
          </a:xfrm>
          <a:prstGeom prst="roundRect">
            <a:avLst>
              <a:gd name="adj" fmla="val 8140"/>
            </a:avLst>
          </a:prstGeom>
          <a:solidFill>
            <a:srgbClr val="ECF3FD"/>
          </a:solidFill>
          <a:ln w="12700">
            <a:solidFill>
              <a:srgbClr val="E0E3EA"/>
            </a:solidFill>
            <a:prstDash val="solid"/>
          </a:ln>
        </p:spPr>
        <p:txBody>
          <a:bodyPr/>
          <a:lstStyle/>
          <a:p>
            <a:endParaRPr lang="en-GB" noProof="0" dirty="0"/>
          </a:p>
        </p:txBody>
      </p:sp>
      <p:sp>
        <p:nvSpPr>
          <p:cNvPr id="16" name="Text 14"/>
          <p:cNvSpPr txBox="1"/>
          <p:nvPr/>
        </p:nvSpPr>
        <p:spPr>
          <a:xfrm>
            <a:off x="841248" y="5597081"/>
            <a:ext cx="10506456" cy="676656"/>
          </a:xfrm>
          <a:prstGeom prst="rect">
            <a:avLst/>
          </a:prstGeom>
          <a:noFill/>
          <a:ln/>
        </p:spPr>
        <p:txBody>
          <a:bodyPr wrap="square" lIns="0" tIns="0" rIns="0" bIns="0" rtlCol="0" anchor="ctr"/>
          <a:lstStyle/>
          <a:p>
            <a:pPr marL="0" indent="0">
              <a:lnSpc>
                <a:spcPct val="104000"/>
              </a:lnSpc>
              <a:buNone/>
            </a:pPr>
            <a:r>
              <a:rPr lang="en-GB" sz="1800" b="1" noProof="0" dirty="0">
                <a:solidFill>
                  <a:srgbClr val="10305A"/>
                </a:solidFill>
                <a:latin typeface="Calibri" pitchFamily="34" charset="0"/>
                <a:ea typeface="Calibri" pitchFamily="34" charset="-122"/>
                <a:cs typeface="Calibri" pitchFamily="34" charset="-120"/>
              </a:rPr>
              <a:t>📌 Two vocabularies:  </a:t>
            </a:r>
            <a:r>
              <a:rPr lang="en-GB" sz="1800" noProof="0" dirty="0">
                <a:solidFill>
                  <a:srgbClr val="23303F"/>
                </a:solidFill>
                <a:latin typeface="Calibri" pitchFamily="34" charset="0"/>
                <a:ea typeface="Calibri" pitchFamily="34" charset="-122"/>
                <a:cs typeface="Calibri" pitchFamily="34" charset="-120"/>
              </a:rPr>
              <a:t>A biopsy report may describe cervical intraepithelial neoplasia, or CIN. A cytology report may describe a low-grade or high-grade squamous intraepithelial lesion. Both describe the same spectrum.</a:t>
            </a:r>
            <a:endParaRPr lang="en-GB" sz="1800" noProof="0" dirty="0"/>
          </a:p>
        </p:txBody>
      </p:sp>
      <p:pic>
        <p:nvPicPr>
          <p:cNvPr id="17" name="Imagen 16">
            <a:extLst>
              <a:ext uri="{FF2B5EF4-FFF2-40B4-BE49-F238E27FC236}">
                <a16:creationId xmlns:a16="http://schemas.microsoft.com/office/drawing/2014/main" id="{89FAB3B0-2647-31F2-99F4-113F4F600D60}"/>
              </a:ext>
            </a:extLst>
          </p:cNvPr>
          <p:cNvPicPr>
            <a:picLocks noChangeAspect="1"/>
          </p:cNvPicPr>
          <p:nvPr/>
        </p:nvPicPr>
        <p:blipFill>
          <a:blip r:embed="rId3"/>
          <a:srcRect/>
          <a:stretch>
            <a:fillRect/>
          </a:stretch>
        </p:blipFill>
        <p:spPr>
          <a:xfrm>
            <a:off x="822960" y="3337560"/>
            <a:ext cx="3051048" cy="2034032"/>
          </a:xfrm>
          <a:prstGeom prst="rect">
            <a:avLst/>
          </a:prstGeom>
        </p:spPr>
      </p:pic>
      <p:pic>
        <p:nvPicPr>
          <p:cNvPr id="19" name="Imagen 18">
            <a:extLst>
              <a:ext uri="{FF2B5EF4-FFF2-40B4-BE49-F238E27FC236}">
                <a16:creationId xmlns:a16="http://schemas.microsoft.com/office/drawing/2014/main" id="{DA754DC3-B2AC-1B7B-71E8-6D4B2750FEF5}"/>
              </a:ext>
            </a:extLst>
          </p:cNvPr>
          <p:cNvPicPr>
            <a:picLocks noChangeAspect="1"/>
          </p:cNvPicPr>
          <p:nvPr/>
        </p:nvPicPr>
        <p:blipFill>
          <a:blip r:embed="rId4"/>
          <a:srcRect/>
          <a:stretch>
            <a:fillRect/>
          </a:stretch>
        </p:blipFill>
        <p:spPr>
          <a:xfrm>
            <a:off x="4628368" y="3223139"/>
            <a:ext cx="2932216" cy="1954811"/>
          </a:xfrm>
          <a:prstGeom prst="rect">
            <a:avLst/>
          </a:prstGeom>
        </p:spPr>
      </p:pic>
      <p:pic>
        <p:nvPicPr>
          <p:cNvPr id="20" name="Imagen 19">
            <a:extLst>
              <a:ext uri="{FF2B5EF4-FFF2-40B4-BE49-F238E27FC236}">
                <a16:creationId xmlns:a16="http://schemas.microsoft.com/office/drawing/2014/main" id="{A2C2555C-98CF-46C1-D7A6-63BF83919311}"/>
              </a:ext>
            </a:extLst>
          </p:cNvPr>
          <p:cNvPicPr>
            <a:picLocks noChangeAspect="1"/>
          </p:cNvPicPr>
          <p:nvPr/>
        </p:nvPicPr>
        <p:blipFill>
          <a:blip r:embed="rId5"/>
          <a:srcRect/>
          <a:stretch>
            <a:fillRect/>
          </a:stretch>
        </p:blipFill>
        <p:spPr>
          <a:xfrm>
            <a:off x="8326819" y="3222145"/>
            <a:ext cx="2933710" cy="1955806"/>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1 · PRECANCEROUS LESIONS</a:t>
            </a:r>
            <a:endParaRPr lang="en-GB"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CIN grades: how much of the lining is abnormal</a:t>
            </a:r>
          </a:p>
        </p:txBody>
      </p:sp>
      <p:sp>
        <p:nvSpPr>
          <p:cNvPr id="4" name="Shape 4"/>
          <p:cNvSpPr/>
          <p:nvPr/>
        </p:nvSpPr>
        <p:spPr>
          <a:xfrm>
            <a:off x="566928" y="1500000"/>
            <a:ext cx="1900000" cy="1500000"/>
          </a:xfrm>
          <a:prstGeom prst="rect">
            <a:avLst/>
          </a:prstGeom>
          <a:solidFill>
            <a:srgbClr val="F8DDE0"/>
          </a:solidFill>
          <a:ln w="12700">
            <a:solidFill>
              <a:srgbClr val="E7B9BF"/>
            </a:solidFill>
          </a:ln>
        </p:spPr>
        <p:txBody>
          <a:bodyPr/>
          <a:lstStyle/>
          <a:p>
            <a:endParaRPr lang="en-GB" sz="1600" dirty="0"/>
          </a:p>
        </p:txBody>
      </p:sp>
      <p:sp>
        <p:nvSpPr>
          <p:cNvPr id="5" name="Shape 5"/>
          <p:cNvSpPr/>
          <p:nvPr/>
        </p:nvSpPr>
        <p:spPr>
          <a:xfrm>
            <a:off x="566928" y="2500000"/>
            <a:ext cx="1900000" cy="500000"/>
          </a:xfrm>
          <a:prstGeom prst="rect">
            <a:avLst/>
          </a:prstGeom>
          <a:solidFill>
            <a:srgbClr val="A58BD6"/>
          </a:solidFill>
          <a:ln w="12700">
            <a:solidFill>
              <a:srgbClr val="8E6CC0"/>
            </a:solidFill>
          </a:ln>
        </p:spPr>
        <p:txBody>
          <a:bodyPr/>
          <a:lstStyle/>
          <a:p>
            <a:endParaRPr lang="en-GB" sz="1600" dirty="0"/>
          </a:p>
        </p:txBody>
      </p:sp>
      <p:cxnSp>
        <p:nvCxnSpPr>
          <p:cNvPr id="6" name="Connector 6"/>
          <p:cNvCxnSpPr/>
          <p:nvPr/>
        </p:nvCxnSpPr>
        <p:spPr>
          <a:xfrm>
            <a:off x="506928" y="3000000"/>
            <a:ext cx="2020000" cy="0"/>
          </a:xfrm>
          <a:prstGeom prst="straightConnector1">
            <a:avLst/>
          </a:prstGeom>
          <a:ln w="38100">
            <a:solidFill>
              <a:srgbClr val="10305A"/>
            </a:solidFill>
          </a:ln>
        </p:spPr>
      </p:cxnSp>
      <p:sp>
        <p:nvSpPr>
          <p:cNvPr id="7" name="Text 7"/>
          <p:cNvSpPr txBox="1"/>
          <p:nvPr/>
        </p:nvSpPr>
        <p:spPr>
          <a:xfrm>
            <a:off x="416928" y="3380000"/>
            <a:ext cx="2200000" cy="900000"/>
          </a:xfrm>
          <a:prstGeom prst="rect">
            <a:avLst/>
          </a:prstGeom>
          <a:noFill/>
          <a:ln/>
        </p:spPr>
        <p:txBody>
          <a:bodyPr wrap="square" lIns="0" tIns="0" rIns="0" bIns="0" rtlCol="0" anchor="t"/>
          <a:lstStyle/>
          <a:p>
            <a:pPr marL="0" indent="0" algn="ctr">
              <a:buNone/>
            </a:pPr>
            <a:r>
              <a:rPr lang="en-GB" sz="1800" b="1" noProof="0" dirty="0">
                <a:solidFill>
                  <a:srgbClr val="10305A"/>
                </a:solidFill>
                <a:latin typeface="Calibri" pitchFamily="34" charset="0"/>
                <a:ea typeface="Calibri" pitchFamily="34" charset="-122"/>
                <a:cs typeface="Calibri" pitchFamily="34" charset="-120"/>
              </a:rPr>
              <a:t>CIN 1</a:t>
            </a:r>
            <a:endParaRPr lang="en-GB" sz="1800" dirty="0"/>
          </a:p>
          <a:p>
            <a:pPr marL="0" indent="0" algn="ctr">
              <a:buNone/>
            </a:pPr>
            <a:r>
              <a:rPr lang="en-GB" sz="1400" b="1" noProof="0" dirty="0">
                <a:solidFill>
                  <a:srgbClr val="19543E"/>
                </a:solidFill>
                <a:latin typeface="Calibri" pitchFamily="34" charset="0"/>
                <a:ea typeface="Calibri" pitchFamily="34" charset="-122"/>
                <a:cs typeface="Calibri" pitchFamily="34" charset="-120"/>
              </a:rPr>
              <a:t>Low grade (LSIL)</a:t>
            </a:r>
            <a:endParaRPr lang="en-GB" sz="1400" dirty="0"/>
          </a:p>
          <a:p>
            <a:pPr marL="0" indent="0" algn="ctr">
              <a:buNone/>
            </a:pPr>
            <a:r>
              <a:rPr lang="en-GB" sz="1400" noProof="0" dirty="0">
                <a:solidFill>
                  <a:srgbClr val="23303F"/>
                </a:solidFill>
                <a:latin typeface="Calibri" pitchFamily="34" charset="0"/>
                <a:ea typeface="Calibri" pitchFamily="34" charset="-122"/>
                <a:cs typeface="Calibri" pitchFamily="34" charset="-120"/>
              </a:rPr>
              <a:t>Lower third of the lining</a:t>
            </a:r>
            <a:endParaRPr lang="en-GB" sz="1400" dirty="0"/>
          </a:p>
        </p:txBody>
      </p:sp>
      <p:sp>
        <p:nvSpPr>
          <p:cNvPr id="8" name="Shape 8"/>
          <p:cNvSpPr/>
          <p:nvPr/>
        </p:nvSpPr>
        <p:spPr>
          <a:xfrm>
            <a:off x="3618626" y="1500000"/>
            <a:ext cx="1900000" cy="1500000"/>
          </a:xfrm>
          <a:prstGeom prst="rect">
            <a:avLst/>
          </a:prstGeom>
          <a:solidFill>
            <a:srgbClr val="F8DDE0"/>
          </a:solidFill>
          <a:ln w="12700">
            <a:solidFill>
              <a:srgbClr val="E7B9BF"/>
            </a:solidFill>
          </a:ln>
        </p:spPr>
        <p:txBody>
          <a:bodyPr/>
          <a:lstStyle/>
          <a:p>
            <a:endParaRPr lang="en-GB" sz="1600" dirty="0"/>
          </a:p>
        </p:txBody>
      </p:sp>
      <p:sp>
        <p:nvSpPr>
          <p:cNvPr id="9" name="Shape 9"/>
          <p:cNvSpPr/>
          <p:nvPr/>
        </p:nvSpPr>
        <p:spPr>
          <a:xfrm>
            <a:off x="3618626" y="2000000"/>
            <a:ext cx="1900000" cy="1000000"/>
          </a:xfrm>
          <a:prstGeom prst="rect">
            <a:avLst/>
          </a:prstGeom>
          <a:solidFill>
            <a:srgbClr val="A58BD6"/>
          </a:solidFill>
          <a:ln w="12700">
            <a:solidFill>
              <a:srgbClr val="8E6CC0"/>
            </a:solidFill>
          </a:ln>
        </p:spPr>
        <p:txBody>
          <a:bodyPr/>
          <a:lstStyle/>
          <a:p>
            <a:endParaRPr lang="en-GB" sz="1600" dirty="0"/>
          </a:p>
        </p:txBody>
      </p:sp>
      <p:cxnSp>
        <p:nvCxnSpPr>
          <p:cNvPr id="10" name="Connector 10"/>
          <p:cNvCxnSpPr/>
          <p:nvPr/>
        </p:nvCxnSpPr>
        <p:spPr>
          <a:xfrm>
            <a:off x="3558626" y="3000000"/>
            <a:ext cx="2020000" cy="0"/>
          </a:xfrm>
          <a:prstGeom prst="straightConnector1">
            <a:avLst/>
          </a:prstGeom>
          <a:ln w="38100">
            <a:solidFill>
              <a:srgbClr val="10305A"/>
            </a:solidFill>
          </a:ln>
        </p:spPr>
      </p:cxnSp>
      <p:sp>
        <p:nvSpPr>
          <p:cNvPr id="11" name="Text 11"/>
          <p:cNvSpPr txBox="1"/>
          <p:nvPr/>
        </p:nvSpPr>
        <p:spPr>
          <a:xfrm>
            <a:off x="3468626" y="3380000"/>
            <a:ext cx="2200000" cy="900000"/>
          </a:xfrm>
          <a:prstGeom prst="rect">
            <a:avLst/>
          </a:prstGeom>
          <a:noFill/>
          <a:ln/>
        </p:spPr>
        <p:txBody>
          <a:bodyPr wrap="square" lIns="0" tIns="0" rIns="0" bIns="0" rtlCol="0" anchor="t"/>
          <a:lstStyle/>
          <a:p>
            <a:pPr marL="0" indent="0" algn="ctr">
              <a:buNone/>
            </a:pPr>
            <a:r>
              <a:rPr lang="en-GB" sz="1800" b="1" noProof="0" dirty="0">
                <a:solidFill>
                  <a:srgbClr val="10305A"/>
                </a:solidFill>
                <a:latin typeface="Calibri" pitchFamily="34" charset="0"/>
                <a:ea typeface="Calibri" pitchFamily="34" charset="-122"/>
                <a:cs typeface="Calibri" pitchFamily="34" charset="-120"/>
              </a:rPr>
              <a:t>CIN 2</a:t>
            </a:r>
            <a:endParaRPr lang="en-GB" sz="1800" dirty="0"/>
          </a:p>
          <a:p>
            <a:pPr marL="0" indent="0" algn="ctr">
              <a:buNone/>
            </a:pPr>
            <a:r>
              <a:rPr lang="en-GB" sz="1400" b="1" noProof="0" dirty="0">
                <a:solidFill>
                  <a:srgbClr val="8E2531"/>
                </a:solidFill>
                <a:latin typeface="Calibri" pitchFamily="34" charset="0"/>
                <a:ea typeface="Calibri" pitchFamily="34" charset="-122"/>
                <a:cs typeface="Calibri" pitchFamily="34" charset="-120"/>
              </a:rPr>
              <a:t>High grade (HSIL)</a:t>
            </a:r>
            <a:endParaRPr lang="en-GB" sz="1400" dirty="0"/>
          </a:p>
          <a:p>
            <a:pPr marL="0" indent="0" algn="ctr">
              <a:buNone/>
            </a:pPr>
            <a:r>
              <a:rPr lang="en-GB" sz="1400" noProof="0" dirty="0">
                <a:solidFill>
                  <a:srgbClr val="23303F"/>
                </a:solidFill>
                <a:latin typeface="Calibri" pitchFamily="34" charset="0"/>
                <a:ea typeface="Calibri" pitchFamily="34" charset="-122"/>
                <a:cs typeface="Calibri" pitchFamily="34" charset="-120"/>
              </a:rPr>
              <a:t>Up to two-thirds</a:t>
            </a:r>
            <a:endParaRPr lang="en-GB" sz="1400" dirty="0"/>
          </a:p>
        </p:txBody>
      </p:sp>
      <p:sp>
        <p:nvSpPr>
          <p:cNvPr id="12" name="Shape 12"/>
          <p:cNvSpPr/>
          <p:nvPr/>
        </p:nvSpPr>
        <p:spPr>
          <a:xfrm>
            <a:off x="6670325" y="1500000"/>
            <a:ext cx="1900000" cy="1500000"/>
          </a:xfrm>
          <a:prstGeom prst="rect">
            <a:avLst/>
          </a:prstGeom>
          <a:solidFill>
            <a:srgbClr val="F8DDE0"/>
          </a:solidFill>
          <a:ln w="12700">
            <a:solidFill>
              <a:srgbClr val="E7B9BF"/>
            </a:solidFill>
          </a:ln>
        </p:spPr>
        <p:txBody>
          <a:bodyPr/>
          <a:lstStyle/>
          <a:p>
            <a:endParaRPr lang="en-GB" sz="1600" dirty="0"/>
          </a:p>
        </p:txBody>
      </p:sp>
      <p:sp>
        <p:nvSpPr>
          <p:cNvPr id="13" name="Shape 13"/>
          <p:cNvSpPr/>
          <p:nvPr/>
        </p:nvSpPr>
        <p:spPr>
          <a:xfrm>
            <a:off x="6670325" y="1500000"/>
            <a:ext cx="1900000" cy="1500000"/>
          </a:xfrm>
          <a:prstGeom prst="rect">
            <a:avLst/>
          </a:prstGeom>
          <a:solidFill>
            <a:srgbClr val="A58BD6"/>
          </a:solidFill>
          <a:ln w="12700">
            <a:solidFill>
              <a:srgbClr val="8E6CC0"/>
            </a:solidFill>
          </a:ln>
        </p:spPr>
        <p:txBody>
          <a:bodyPr/>
          <a:lstStyle/>
          <a:p>
            <a:endParaRPr lang="en-GB" sz="1600" dirty="0"/>
          </a:p>
        </p:txBody>
      </p:sp>
      <p:cxnSp>
        <p:nvCxnSpPr>
          <p:cNvPr id="14" name="Connector 14"/>
          <p:cNvCxnSpPr/>
          <p:nvPr/>
        </p:nvCxnSpPr>
        <p:spPr>
          <a:xfrm>
            <a:off x="6610325" y="3000000"/>
            <a:ext cx="2020000" cy="0"/>
          </a:xfrm>
          <a:prstGeom prst="straightConnector1">
            <a:avLst/>
          </a:prstGeom>
          <a:ln w="38100">
            <a:solidFill>
              <a:srgbClr val="10305A"/>
            </a:solidFill>
          </a:ln>
        </p:spPr>
      </p:cxnSp>
      <p:sp>
        <p:nvSpPr>
          <p:cNvPr id="15" name="Text 15"/>
          <p:cNvSpPr txBox="1"/>
          <p:nvPr/>
        </p:nvSpPr>
        <p:spPr>
          <a:xfrm>
            <a:off x="6520325" y="3380000"/>
            <a:ext cx="2200000" cy="900000"/>
          </a:xfrm>
          <a:prstGeom prst="rect">
            <a:avLst/>
          </a:prstGeom>
          <a:noFill/>
          <a:ln/>
        </p:spPr>
        <p:txBody>
          <a:bodyPr wrap="square" lIns="0" tIns="0" rIns="0" bIns="0" rtlCol="0" anchor="t"/>
          <a:lstStyle/>
          <a:p>
            <a:pPr marL="0" indent="0" algn="ctr">
              <a:buNone/>
            </a:pPr>
            <a:r>
              <a:rPr lang="en-GB" sz="1800" b="1" noProof="0" dirty="0">
                <a:solidFill>
                  <a:srgbClr val="10305A"/>
                </a:solidFill>
                <a:latin typeface="Calibri" pitchFamily="34" charset="0"/>
                <a:ea typeface="Calibri" pitchFamily="34" charset="-122"/>
                <a:cs typeface="Calibri" pitchFamily="34" charset="-120"/>
              </a:rPr>
              <a:t>CIN 3</a:t>
            </a:r>
            <a:endParaRPr lang="en-GB" sz="1800" dirty="0"/>
          </a:p>
          <a:p>
            <a:pPr marL="0" indent="0" algn="ctr">
              <a:buNone/>
            </a:pPr>
            <a:r>
              <a:rPr lang="en-GB" sz="1400" b="1" noProof="0" dirty="0">
                <a:solidFill>
                  <a:srgbClr val="8E2531"/>
                </a:solidFill>
                <a:latin typeface="Calibri" pitchFamily="34" charset="0"/>
                <a:ea typeface="Calibri" pitchFamily="34" charset="-122"/>
                <a:cs typeface="Calibri" pitchFamily="34" charset="-120"/>
              </a:rPr>
              <a:t>High grade (HSIL)</a:t>
            </a:r>
            <a:endParaRPr lang="en-GB" sz="1400" dirty="0"/>
          </a:p>
          <a:p>
            <a:pPr marL="0" indent="0" algn="ctr">
              <a:buNone/>
            </a:pPr>
            <a:r>
              <a:rPr lang="en-GB" sz="1400" noProof="0" dirty="0">
                <a:solidFill>
                  <a:srgbClr val="23303F"/>
                </a:solidFill>
                <a:latin typeface="Calibri" pitchFamily="34" charset="0"/>
                <a:ea typeface="Calibri" pitchFamily="34" charset="-122"/>
                <a:cs typeface="Calibri" pitchFamily="34" charset="-120"/>
              </a:rPr>
              <a:t>Full thickness, includes carcinoma in situ</a:t>
            </a:r>
            <a:endParaRPr lang="en-GB" sz="1400" dirty="0"/>
          </a:p>
        </p:txBody>
      </p:sp>
      <p:sp>
        <p:nvSpPr>
          <p:cNvPr id="16" name="Shape 16"/>
          <p:cNvSpPr/>
          <p:nvPr/>
        </p:nvSpPr>
        <p:spPr>
          <a:xfrm>
            <a:off x="9722024" y="1500000"/>
            <a:ext cx="1900000" cy="1500000"/>
          </a:xfrm>
          <a:prstGeom prst="rect">
            <a:avLst/>
          </a:prstGeom>
          <a:solidFill>
            <a:srgbClr val="F8DDE0"/>
          </a:solidFill>
          <a:ln w="12700">
            <a:solidFill>
              <a:srgbClr val="E7B9BF"/>
            </a:solidFill>
          </a:ln>
        </p:spPr>
        <p:txBody>
          <a:bodyPr/>
          <a:lstStyle/>
          <a:p>
            <a:endParaRPr lang="en-GB" sz="1600" dirty="0"/>
          </a:p>
        </p:txBody>
      </p:sp>
      <p:sp>
        <p:nvSpPr>
          <p:cNvPr id="17" name="Shape 17"/>
          <p:cNvSpPr/>
          <p:nvPr/>
        </p:nvSpPr>
        <p:spPr>
          <a:xfrm>
            <a:off x="9722024" y="1500000"/>
            <a:ext cx="1900000" cy="1500000"/>
          </a:xfrm>
          <a:prstGeom prst="rect">
            <a:avLst/>
          </a:prstGeom>
          <a:solidFill>
            <a:srgbClr val="A58BD6"/>
          </a:solidFill>
          <a:ln w="12700">
            <a:solidFill>
              <a:srgbClr val="8E6CC0"/>
            </a:solidFill>
          </a:ln>
        </p:spPr>
        <p:txBody>
          <a:bodyPr/>
          <a:lstStyle/>
          <a:p>
            <a:endParaRPr lang="en-GB" sz="1600" dirty="0"/>
          </a:p>
        </p:txBody>
      </p:sp>
      <p:sp>
        <p:nvSpPr>
          <p:cNvPr id="18" name="Shape 18"/>
          <p:cNvSpPr/>
          <p:nvPr/>
        </p:nvSpPr>
        <p:spPr>
          <a:xfrm>
            <a:off x="10197024" y="3000000"/>
            <a:ext cx="950000" cy="330000"/>
          </a:xfrm>
          <a:prstGeom prst="rect">
            <a:avLst/>
          </a:prstGeom>
          <a:solidFill>
            <a:srgbClr val="A58BD6"/>
          </a:solidFill>
          <a:ln w="12700">
            <a:solidFill>
              <a:srgbClr val="8E6CC0"/>
            </a:solidFill>
          </a:ln>
        </p:spPr>
        <p:txBody>
          <a:bodyPr/>
          <a:lstStyle/>
          <a:p>
            <a:endParaRPr lang="en-GB" sz="1600" dirty="0"/>
          </a:p>
        </p:txBody>
      </p:sp>
      <p:cxnSp>
        <p:nvCxnSpPr>
          <p:cNvPr id="19" name="Connector 19"/>
          <p:cNvCxnSpPr/>
          <p:nvPr/>
        </p:nvCxnSpPr>
        <p:spPr>
          <a:xfrm>
            <a:off x="9662024" y="3000000"/>
            <a:ext cx="2020000" cy="0"/>
          </a:xfrm>
          <a:prstGeom prst="straightConnector1">
            <a:avLst/>
          </a:prstGeom>
          <a:ln w="38100">
            <a:solidFill>
              <a:srgbClr val="10305A"/>
            </a:solidFill>
          </a:ln>
        </p:spPr>
      </p:cxnSp>
      <p:sp>
        <p:nvSpPr>
          <p:cNvPr id="20" name="Text 20"/>
          <p:cNvSpPr txBox="1"/>
          <p:nvPr/>
        </p:nvSpPr>
        <p:spPr>
          <a:xfrm>
            <a:off x="9572024" y="3380000"/>
            <a:ext cx="2200000" cy="900000"/>
          </a:xfrm>
          <a:prstGeom prst="rect">
            <a:avLst/>
          </a:prstGeom>
          <a:noFill/>
          <a:ln/>
        </p:spPr>
        <p:txBody>
          <a:bodyPr wrap="square" lIns="0" tIns="0" rIns="0" bIns="0" rtlCol="0" anchor="t"/>
          <a:lstStyle/>
          <a:p>
            <a:pPr marL="0" indent="0" algn="ctr">
              <a:buNone/>
            </a:pPr>
            <a:r>
              <a:rPr lang="en-GB" sz="1800" b="1" noProof="0" dirty="0">
                <a:solidFill>
                  <a:srgbClr val="10305A"/>
                </a:solidFill>
                <a:latin typeface="Calibri" pitchFamily="34" charset="0"/>
                <a:ea typeface="Calibri" pitchFamily="34" charset="-122"/>
                <a:cs typeface="Calibri" pitchFamily="34" charset="-120"/>
              </a:rPr>
              <a:t>Invasive cancer</a:t>
            </a:r>
            <a:endParaRPr lang="en-GB" sz="1800" dirty="0"/>
          </a:p>
          <a:p>
            <a:pPr marL="0" indent="0" algn="ctr">
              <a:buNone/>
            </a:pPr>
            <a:r>
              <a:rPr lang="en-GB" sz="1400" b="1" noProof="0" dirty="0">
                <a:solidFill>
                  <a:srgbClr val="8E2531"/>
                </a:solidFill>
                <a:latin typeface="Calibri" pitchFamily="34" charset="0"/>
                <a:ea typeface="Calibri" pitchFamily="34" charset="-122"/>
                <a:cs typeface="Calibri" pitchFamily="34" charset="-120"/>
              </a:rPr>
              <a:t>Not precancer</a:t>
            </a:r>
            <a:endParaRPr lang="en-GB" sz="1400" dirty="0"/>
          </a:p>
          <a:p>
            <a:pPr marL="0" indent="0" algn="ctr">
              <a:buNone/>
            </a:pPr>
            <a:r>
              <a:rPr lang="en-GB" sz="1400" noProof="0" dirty="0">
                <a:solidFill>
                  <a:srgbClr val="23303F"/>
                </a:solidFill>
                <a:latin typeface="Calibri" pitchFamily="34" charset="0"/>
                <a:ea typeface="Calibri" pitchFamily="34" charset="-122"/>
                <a:cs typeface="Calibri" pitchFamily="34" charset="-120"/>
              </a:rPr>
              <a:t>Cells break through the basement membrane</a:t>
            </a:r>
            <a:endParaRPr lang="en-GB" sz="1400" dirty="0"/>
          </a:p>
        </p:txBody>
      </p:sp>
      <p:sp>
        <p:nvSpPr>
          <p:cNvPr id="21" name="Text 21"/>
          <p:cNvSpPr txBox="1"/>
          <p:nvPr/>
        </p:nvSpPr>
        <p:spPr>
          <a:xfrm>
            <a:off x="566928" y="3030000"/>
            <a:ext cx="2500000" cy="250000"/>
          </a:xfrm>
          <a:prstGeom prst="rect">
            <a:avLst/>
          </a:prstGeom>
          <a:noFill/>
          <a:ln/>
        </p:spPr>
        <p:txBody>
          <a:bodyPr wrap="square" lIns="0" tIns="0" rIns="0" bIns="0" rtlCol="0" anchor="t"/>
          <a:lstStyle/>
          <a:p>
            <a:pPr marL="0" indent="0" algn="l">
              <a:buNone/>
            </a:pPr>
            <a:r>
              <a:rPr lang="en-GB" sz="1100" i="1" noProof="0" dirty="0">
                <a:solidFill>
                  <a:srgbClr val="6A727F"/>
                </a:solidFill>
                <a:latin typeface="Calibri" pitchFamily="34" charset="0"/>
                <a:ea typeface="Calibri" pitchFamily="34" charset="-122"/>
                <a:cs typeface="Calibri" pitchFamily="34" charset="-120"/>
              </a:rPr>
              <a:t>basement membrane</a:t>
            </a:r>
            <a:endParaRPr lang="en-GB" sz="1100" dirty="0"/>
          </a:p>
        </p:txBody>
      </p:sp>
      <p:sp>
        <p:nvSpPr>
          <p:cNvPr id="22" name="Shape 22"/>
          <p:cNvSpPr/>
          <p:nvPr/>
        </p:nvSpPr>
        <p:spPr>
          <a:xfrm>
            <a:off x="566928" y="4380000"/>
            <a:ext cx="11055096" cy="800000"/>
          </a:xfrm>
          <a:prstGeom prst="roundRect">
            <a:avLst>
              <a:gd name="adj" fmla="val 3000"/>
            </a:avLst>
          </a:prstGeom>
          <a:solidFill>
            <a:srgbClr val="ECF3FD"/>
          </a:solidFill>
          <a:ln w="12700">
            <a:solidFill>
              <a:srgbClr val="E0E3EA"/>
            </a:solidFill>
          </a:ln>
        </p:spPr>
        <p:txBody>
          <a:bodyPr/>
          <a:lstStyle/>
          <a:p>
            <a:endParaRPr lang="en-GB" sz="1600" dirty="0"/>
          </a:p>
        </p:txBody>
      </p:sp>
      <p:sp>
        <p:nvSpPr>
          <p:cNvPr id="23" name="Text 23"/>
          <p:cNvSpPr txBox="1"/>
          <p:nvPr/>
        </p:nvSpPr>
        <p:spPr>
          <a:xfrm>
            <a:off x="841248" y="4430000"/>
            <a:ext cx="10506456" cy="700000"/>
          </a:xfrm>
          <a:prstGeom prst="rect">
            <a:avLst/>
          </a:prstGeom>
          <a:noFill/>
          <a:ln/>
        </p:spPr>
        <p:txBody>
          <a:bodyPr wrap="square" lIns="0" tIns="0" rIns="0" bIns="0" rtlCol="0" anchor="ctr"/>
          <a:lstStyle/>
          <a:p>
            <a:pPr marL="0" indent="0" algn="l">
              <a:buNone/>
            </a:pPr>
            <a:r>
              <a:rPr lang="en-GB" sz="1600" b="1" noProof="0" dirty="0">
                <a:solidFill>
                  <a:srgbClr val="10305A"/>
                </a:solidFill>
                <a:latin typeface="Calibri" pitchFamily="34" charset="0"/>
                <a:ea typeface="Calibri" pitchFamily="34" charset="-122"/>
                <a:cs typeface="Calibri" pitchFamily="34" charset="-120"/>
              </a:rPr>
              <a:t>⏱️ Natural history:  </a:t>
            </a:r>
            <a:r>
              <a:rPr lang="en-GB" sz="1600" noProof="0" dirty="0">
                <a:solidFill>
                  <a:srgbClr val="23303F"/>
                </a:solidFill>
                <a:latin typeface="Calibri" pitchFamily="34" charset="0"/>
                <a:ea typeface="Calibri" pitchFamily="34" charset="-122"/>
                <a:cs typeface="Calibri" pitchFamily="34" charset="-120"/>
              </a:rPr>
              <a:t>Most CIN 1 regresses within 1 to 2 years. CIN 2 and CIN 3 carry a real risk of progression, usually over many years, and are treated.</a:t>
            </a:r>
            <a:endParaRPr lang="en-GB" sz="1600" dirty="0"/>
          </a:p>
        </p:txBody>
      </p:sp>
      <p:sp>
        <p:nvSpPr>
          <p:cNvPr id="24" name="Shape 24"/>
          <p:cNvSpPr/>
          <p:nvPr/>
        </p:nvSpPr>
        <p:spPr>
          <a:xfrm>
            <a:off x="566928" y="5320000"/>
            <a:ext cx="11055096" cy="850000"/>
          </a:xfrm>
          <a:prstGeom prst="roundRect">
            <a:avLst>
              <a:gd name="adj" fmla="val 3000"/>
            </a:avLst>
          </a:prstGeom>
          <a:solidFill>
            <a:srgbClr val="FFF2DF"/>
          </a:solidFill>
          <a:ln w="12700">
            <a:solidFill>
              <a:srgbClr val="E8DDC7"/>
            </a:solidFill>
          </a:ln>
        </p:spPr>
        <p:txBody>
          <a:bodyPr/>
          <a:lstStyle/>
          <a:p>
            <a:endParaRPr lang="en-GB" sz="1600" dirty="0"/>
          </a:p>
        </p:txBody>
      </p:sp>
      <p:sp>
        <p:nvSpPr>
          <p:cNvPr id="25" name="Text 25"/>
          <p:cNvSpPr txBox="1"/>
          <p:nvPr/>
        </p:nvSpPr>
        <p:spPr>
          <a:xfrm>
            <a:off x="841248" y="5370000"/>
            <a:ext cx="10506456" cy="750000"/>
          </a:xfrm>
          <a:prstGeom prst="rect">
            <a:avLst/>
          </a:prstGeom>
          <a:noFill/>
          <a:ln/>
        </p:spPr>
        <p:txBody>
          <a:bodyPr wrap="square" lIns="0" tIns="0" rIns="0" bIns="0" rtlCol="0" anchor="ctr"/>
          <a:lstStyle/>
          <a:p>
            <a:pPr marL="0" indent="0" algn="l">
              <a:buNone/>
            </a:pPr>
            <a:r>
              <a:rPr lang="en-GB" sz="1600" b="1" noProof="0" dirty="0">
                <a:solidFill>
                  <a:srgbClr val="7B5727"/>
                </a:solidFill>
                <a:latin typeface="Calibri" pitchFamily="34" charset="0"/>
                <a:ea typeface="Calibri" pitchFamily="34" charset="-122"/>
                <a:cs typeface="Calibri" pitchFamily="34" charset="-120"/>
              </a:rPr>
              <a:t>🧠 Glandular precursor:  </a:t>
            </a:r>
            <a:r>
              <a:rPr lang="en-GB" sz="1600" noProof="0" dirty="0">
                <a:solidFill>
                  <a:srgbClr val="23303F"/>
                </a:solidFill>
                <a:latin typeface="Calibri" pitchFamily="34" charset="0"/>
                <a:ea typeface="Calibri" pitchFamily="34" charset="-122"/>
                <a:cs typeface="Calibri" pitchFamily="34" charset="-120"/>
              </a:rPr>
              <a:t>Adenocarcinoma in situ (AIS) arises from the columnar lining of the canal. It is harder to see at VIA and needs referral for excision.</a:t>
            </a:r>
            <a:endParaRPr lang="en-GB" sz="1600" dirty="0"/>
          </a:p>
        </p:txBody>
      </p:sp>
      <p:sp>
        <p:nvSpPr>
          <p:cNvPr id="26" name="Text 26"/>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27" name="Text 27"/>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43</a:t>
            </a:r>
            <a:endParaRPr lang="en-GB"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44</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1 · PRECANCEROUS LESIONS</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Precancer is not cancer</a:t>
            </a:r>
            <a:endParaRPr lang="en-GB" sz="3200" noProof="0" dirty="0"/>
          </a:p>
        </p:txBody>
      </p:sp>
      <p:sp>
        <p:nvSpPr>
          <p:cNvPr id="6" name="Shape 4"/>
          <p:cNvSpPr/>
          <p:nvPr/>
        </p:nvSpPr>
        <p:spPr>
          <a:xfrm>
            <a:off x="566928" y="1469691"/>
            <a:ext cx="5436108" cy="3474720"/>
          </a:xfrm>
          <a:prstGeom prst="roundRect">
            <a:avLst>
              <a:gd name="adj" fmla="val 2368"/>
            </a:avLst>
          </a:prstGeom>
          <a:solidFill>
            <a:srgbClr val="EAF7F0"/>
          </a:solidFill>
          <a:ln w="12700">
            <a:solidFill>
              <a:srgbClr val="C0D4CB"/>
            </a:solidFill>
            <a:prstDash val="solid"/>
          </a:ln>
        </p:spPr>
        <p:txBody>
          <a:bodyPr/>
          <a:lstStyle/>
          <a:p>
            <a:endParaRPr lang="en-GB" noProof="0" dirty="0"/>
          </a:p>
        </p:txBody>
      </p:sp>
      <p:sp>
        <p:nvSpPr>
          <p:cNvPr id="7" name="Text 5"/>
          <p:cNvSpPr txBox="1"/>
          <p:nvPr/>
        </p:nvSpPr>
        <p:spPr>
          <a:xfrm>
            <a:off x="822960" y="1670859"/>
            <a:ext cx="4924044" cy="566928"/>
          </a:xfrm>
          <a:prstGeom prst="rect">
            <a:avLst/>
          </a:prstGeom>
          <a:noFill/>
          <a:ln/>
        </p:spPr>
        <p:txBody>
          <a:bodyPr wrap="square" lIns="0" tIns="0" rIns="0" bIns="0" rtlCol="0" anchor="ctr"/>
          <a:lstStyle/>
          <a:p>
            <a:pPr marL="0" indent="0">
              <a:buNone/>
            </a:pPr>
            <a:r>
              <a:rPr lang="en-GB" sz="2000" b="1" noProof="0" dirty="0">
                <a:solidFill>
                  <a:srgbClr val="19543E"/>
                </a:solidFill>
                <a:latin typeface="Calibri" pitchFamily="34" charset="0"/>
                <a:ea typeface="Calibri" pitchFamily="34" charset="-122"/>
                <a:cs typeface="Calibri" pitchFamily="34" charset="-120"/>
              </a:rPr>
              <a:t>🟢  Cervical precancer (precancerous lesion)</a:t>
            </a:r>
            <a:endParaRPr lang="en-GB" sz="2000" noProof="0" dirty="0"/>
          </a:p>
        </p:txBody>
      </p:sp>
      <p:sp>
        <p:nvSpPr>
          <p:cNvPr id="8" name="Text 6"/>
          <p:cNvSpPr txBox="1"/>
          <p:nvPr/>
        </p:nvSpPr>
        <p:spPr>
          <a:xfrm>
            <a:off x="877824" y="2310939"/>
            <a:ext cx="4869180" cy="2432304"/>
          </a:xfrm>
          <a:prstGeom prst="rect">
            <a:avLst/>
          </a:prstGeom>
          <a:noFill/>
          <a:ln/>
        </p:spPr>
        <p:txBody>
          <a:bodyPr wrap="square" lIns="0" tIns="0" rIns="0" bIns="0" rtlCol="0" anchor="t"/>
          <a:lstStyle/>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Abnormal cells in the surface layer only.</a:t>
            </a:r>
            <a:endParaRPr lang="en-GB" sz="1800" noProof="0" dirty="0"/>
          </a:p>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Cannot spread to lymph nodes or other organs.</a:t>
            </a:r>
            <a:endParaRPr lang="en-GB" sz="1800" noProof="0" dirty="0"/>
          </a:p>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Usually causes no symptoms.</a:t>
            </a:r>
            <a:endParaRPr lang="en-GB" sz="1800" noProof="0" dirty="0"/>
          </a:p>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Treated in a short procedure that keeps the uterus.</a:t>
            </a:r>
            <a:endParaRPr lang="en-GB" sz="1800" noProof="0" dirty="0"/>
          </a:p>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Treating it prevents a cancer from developing.</a:t>
            </a:r>
            <a:endParaRPr lang="en-GB" sz="1800" noProof="0" dirty="0"/>
          </a:p>
        </p:txBody>
      </p:sp>
      <p:sp>
        <p:nvSpPr>
          <p:cNvPr id="9" name="Shape 7"/>
          <p:cNvSpPr/>
          <p:nvPr/>
        </p:nvSpPr>
        <p:spPr>
          <a:xfrm>
            <a:off x="6185916" y="1469691"/>
            <a:ext cx="5436108" cy="3474720"/>
          </a:xfrm>
          <a:prstGeom prst="roundRect">
            <a:avLst>
              <a:gd name="adj" fmla="val 2368"/>
            </a:avLst>
          </a:prstGeom>
          <a:solidFill>
            <a:srgbClr val="FDE9E8"/>
          </a:solidFill>
          <a:ln w="12700">
            <a:solidFill>
              <a:srgbClr val="F0CFCE"/>
            </a:solidFill>
            <a:prstDash val="solid"/>
          </a:ln>
        </p:spPr>
        <p:txBody>
          <a:bodyPr/>
          <a:lstStyle/>
          <a:p>
            <a:endParaRPr lang="en-GB" noProof="0" dirty="0"/>
          </a:p>
        </p:txBody>
      </p:sp>
      <p:sp>
        <p:nvSpPr>
          <p:cNvPr id="10" name="Text 8"/>
          <p:cNvSpPr txBox="1"/>
          <p:nvPr/>
        </p:nvSpPr>
        <p:spPr>
          <a:xfrm>
            <a:off x="6441948" y="1670859"/>
            <a:ext cx="4924044" cy="566928"/>
          </a:xfrm>
          <a:prstGeom prst="rect">
            <a:avLst/>
          </a:prstGeom>
          <a:noFill/>
          <a:ln/>
        </p:spPr>
        <p:txBody>
          <a:bodyPr wrap="square" lIns="0" tIns="0" rIns="0" bIns="0" rtlCol="0" anchor="ctr"/>
          <a:lstStyle/>
          <a:p>
            <a:pPr marL="0" indent="0">
              <a:buNone/>
            </a:pPr>
            <a:r>
              <a:rPr lang="en-GB" sz="2000" b="1" noProof="0" dirty="0">
                <a:solidFill>
                  <a:srgbClr val="8E2531"/>
                </a:solidFill>
                <a:latin typeface="Calibri" pitchFamily="34" charset="0"/>
                <a:ea typeface="Calibri" pitchFamily="34" charset="-122"/>
                <a:cs typeface="Calibri" pitchFamily="34" charset="-120"/>
              </a:rPr>
              <a:t>🔴  Invasive cervical cancer</a:t>
            </a:r>
            <a:endParaRPr lang="en-GB" sz="2000" noProof="0" dirty="0"/>
          </a:p>
        </p:txBody>
      </p:sp>
      <p:sp>
        <p:nvSpPr>
          <p:cNvPr id="11" name="Text 9"/>
          <p:cNvSpPr txBox="1"/>
          <p:nvPr/>
        </p:nvSpPr>
        <p:spPr>
          <a:xfrm>
            <a:off x="6496812" y="2310939"/>
            <a:ext cx="4869180" cy="2432304"/>
          </a:xfrm>
          <a:prstGeom prst="rect">
            <a:avLst/>
          </a:prstGeom>
          <a:noFill/>
          <a:ln/>
        </p:spPr>
        <p:txBody>
          <a:bodyPr wrap="square" lIns="0" tIns="0" rIns="0" bIns="0" rtlCol="0" anchor="t"/>
          <a:lstStyle/>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Cancer cells have invaded the deeper tissue of the cervix.</a:t>
            </a:r>
            <a:endParaRPr lang="en-GB" sz="1800" noProof="0" dirty="0"/>
          </a:p>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Can spread locally, to lymph nodes and to distant organs.</a:t>
            </a:r>
            <a:endParaRPr lang="en-GB" sz="1800" noProof="0" dirty="0"/>
          </a:p>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May cause bleeding, discharge or pain, usually later.</a:t>
            </a:r>
            <a:endParaRPr lang="en-GB" sz="1800" noProof="0" dirty="0"/>
          </a:p>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Needs staging and specialist treatment.</a:t>
            </a:r>
            <a:endParaRPr lang="en-GB" sz="1800" noProof="0" dirty="0"/>
          </a:p>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Confirmed only by biopsy.</a:t>
            </a:r>
            <a:endParaRPr lang="en-GB" sz="1800" noProof="0" dirty="0"/>
          </a:p>
        </p:txBody>
      </p:sp>
      <p:sp>
        <p:nvSpPr>
          <p:cNvPr id="12" name="Shape 10"/>
          <p:cNvSpPr/>
          <p:nvPr/>
        </p:nvSpPr>
        <p:spPr>
          <a:xfrm>
            <a:off x="566928" y="5340096"/>
            <a:ext cx="11055096" cy="786384"/>
          </a:xfrm>
          <a:prstGeom prst="roundRect">
            <a:avLst>
              <a:gd name="adj" fmla="val 8140"/>
            </a:avLst>
          </a:prstGeom>
          <a:solidFill>
            <a:srgbClr val="EAF7F0"/>
          </a:solidFill>
          <a:ln w="12700">
            <a:solidFill>
              <a:srgbClr val="C0D4CB"/>
            </a:solidFill>
            <a:prstDash val="solid"/>
          </a:ln>
        </p:spPr>
        <p:txBody>
          <a:bodyPr/>
          <a:lstStyle/>
          <a:p>
            <a:endParaRPr lang="en-GB" noProof="0" dirty="0"/>
          </a:p>
        </p:txBody>
      </p:sp>
      <p:sp>
        <p:nvSpPr>
          <p:cNvPr id="13" name="Text 11"/>
          <p:cNvSpPr txBox="1"/>
          <p:nvPr/>
        </p:nvSpPr>
        <p:spPr>
          <a:xfrm>
            <a:off x="841248" y="5394960"/>
            <a:ext cx="10506456" cy="676656"/>
          </a:xfrm>
          <a:prstGeom prst="rect">
            <a:avLst/>
          </a:prstGeom>
          <a:noFill/>
          <a:ln/>
        </p:spPr>
        <p:txBody>
          <a:bodyPr wrap="square" lIns="0" tIns="0" rIns="0" bIns="0" rtlCol="0" anchor="ctr"/>
          <a:lstStyle/>
          <a:p>
            <a:pPr marL="0" indent="0">
              <a:lnSpc>
                <a:spcPct val="104000"/>
              </a:lnSpc>
              <a:buNone/>
            </a:pPr>
            <a:r>
              <a:rPr lang="en-GB" sz="1800" b="1" noProof="0" dirty="0">
                <a:solidFill>
                  <a:srgbClr val="19543E"/>
                </a:solidFill>
                <a:latin typeface="Calibri" pitchFamily="34" charset="0"/>
                <a:ea typeface="Calibri" pitchFamily="34" charset="-122"/>
                <a:cs typeface="Calibri" pitchFamily="34" charset="-120"/>
              </a:rPr>
              <a:t>💬 Say it this way:  </a:t>
            </a:r>
            <a:r>
              <a:rPr lang="en-GB" sz="1800" noProof="0" dirty="0">
                <a:solidFill>
                  <a:srgbClr val="23303F"/>
                </a:solidFill>
                <a:latin typeface="Calibri" pitchFamily="34" charset="0"/>
                <a:ea typeface="Calibri" pitchFamily="34" charset="-122"/>
                <a:cs typeface="Calibri" pitchFamily="34" charset="-120"/>
              </a:rPr>
              <a:t>Precancer is not cancer. It is a change that could become cancer in the future. Treating it now prevents cancer.</a:t>
            </a:r>
            <a:endParaRPr lang="en-GB" sz="1800" noProof="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45</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1 · EPIDEMIOLOGY</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The global burden</a:t>
            </a:r>
            <a:endParaRPr lang="en-GB" sz="3200" noProof="0" dirty="0"/>
          </a:p>
        </p:txBody>
      </p:sp>
      <p:sp>
        <p:nvSpPr>
          <p:cNvPr id="6" name="Text 4"/>
          <p:cNvSpPr txBox="1"/>
          <p:nvPr/>
        </p:nvSpPr>
        <p:spPr>
          <a:xfrm>
            <a:off x="566928" y="1572768"/>
            <a:ext cx="11055096" cy="384048"/>
          </a:xfrm>
          <a:prstGeom prst="rect">
            <a:avLst/>
          </a:prstGeom>
          <a:noFill/>
          <a:ln/>
        </p:spPr>
        <p:txBody>
          <a:bodyPr wrap="square" lIns="0" tIns="0" rIns="0" bIns="0" rtlCol="0" anchor="ctr"/>
          <a:lstStyle/>
          <a:p>
            <a:pPr marL="0" indent="0">
              <a:buNone/>
            </a:pPr>
            <a:r>
              <a:rPr lang="en-GB" sz="1800" noProof="0" dirty="0">
                <a:solidFill>
                  <a:srgbClr val="23303F"/>
                </a:solidFill>
                <a:latin typeface="Calibri" pitchFamily="34" charset="0"/>
                <a:ea typeface="Calibri" pitchFamily="34" charset="-122"/>
                <a:cs typeface="Calibri" pitchFamily="34" charset="-120"/>
              </a:rPr>
              <a:t>Cervical cancer remains one of the most common cancers affecting women worldwide.</a:t>
            </a:r>
            <a:endParaRPr lang="en-GB" sz="1800" noProof="0" dirty="0"/>
          </a:p>
        </p:txBody>
      </p:sp>
      <p:sp>
        <p:nvSpPr>
          <p:cNvPr id="7" name="Shape 5"/>
          <p:cNvSpPr/>
          <p:nvPr/>
        </p:nvSpPr>
        <p:spPr>
          <a:xfrm>
            <a:off x="566928" y="2148839"/>
            <a:ext cx="2626614" cy="2228991"/>
          </a:xfrm>
          <a:prstGeom prst="roundRect">
            <a:avLst>
              <a:gd name="adj" fmla="val 4091"/>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792797" y="2432187"/>
            <a:ext cx="2151126" cy="658368"/>
          </a:xfrm>
          <a:prstGeom prst="rect">
            <a:avLst/>
          </a:prstGeom>
          <a:noFill/>
          <a:ln/>
        </p:spPr>
        <p:txBody>
          <a:bodyPr wrap="square" lIns="0" tIns="0" rIns="0" bIns="0" rtlCol="0" anchor="ctr"/>
          <a:lstStyle/>
          <a:p>
            <a:pPr marL="0" indent="0">
              <a:buNone/>
            </a:pPr>
            <a:r>
              <a:rPr lang="en-GB" sz="3000" b="1" noProof="0" dirty="0">
                <a:solidFill>
                  <a:srgbClr val="10305A"/>
                </a:solidFill>
                <a:latin typeface="Cambria" pitchFamily="34" charset="0"/>
                <a:ea typeface="Cambria" pitchFamily="34" charset="-122"/>
                <a:cs typeface="Cambria" pitchFamily="34" charset="-120"/>
              </a:rPr>
              <a:t>660,000</a:t>
            </a:r>
            <a:endParaRPr lang="en-GB" sz="3000" noProof="0" dirty="0"/>
          </a:p>
        </p:txBody>
      </p:sp>
      <p:sp>
        <p:nvSpPr>
          <p:cNvPr id="9" name="Text 7"/>
          <p:cNvSpPr txBox="1"/>
          <p:nvPr/>
        </p:nvSpPr>
        <p:spPr>
          <a:xfrm>
            <a:off x="792797" y="3127131"/>
            <a:ext cx="2151126" cy="987552"/>
          </a:xfrm>
          <a:prstGeom prst="rect">
            <a:avLst/>
          </a:prstGeom>
          <a:noFill/>
          <a:ln/>
        </p:spPr>
        <p:txBody>
          <a:bodyPr wrap="square" lIns="0" tIns="0" rIns="0" bIns="0" rtlCol="0" anchor="t"/>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Estimated new cases worldwide</a:t>
            </a:r>
            <a:endParaRPr lang="en-GB" sz="1800" noProof="0" dirty="0"/>
          </a:p>
        </p:txBody>
      </p:sp>
      <p:sp>
        <p:nvSpPr>
          <p:cNvPr id="10" name="Shape 8"/>
          <p:cNvSpPr/>
          <p:nvPr/>
        </p:nvSpPr>
        <p:spPr>
          <a:xfrm>
            <a:off x="3376422" y="2148839"/>
            <a:ext cx="2626614" cy="2228991"/>
          </a:xfrm>
          <a:prstGeom prst="roundRect">
            <a:avLst>
              <a:gd name="adj" fmla="val 4091"/>
            </a:avLst>
          </a:prstGeom>
          <a:solidFill>
            <a:srgbClr val="F3F6FB"/>
          </a:solidFill>
          <a:ln w="12700">
            <a:solidFill>
              <a:srgbClr val="E0E3EA"/>
            </a:solidFill>
            <a:prstDash val="solid"/>
          </a:ln>
        </p:spPr>
        <p:txBody>
          <a:bodyPr/>
          <a:lstStyle/>
          <a:p>
            <a:endParaRPr lang="en-GB" noProof="0" dirty="0"/>
          </a:p>
        </p:txBody>
      </p:sp>
      <p:sp>
        <p:nvSpPr>
          <p:cNvPr id="11" name="Text 9"/>
          <p:cNvSpPr txBox="1"/>
          <p:nvPr/>
        </p:nvSpPr>
        <p:spPr>
          <a:xfrm>
            <a:off x="3602291" y="2432187"/>
            <a:ext cx="2151126" cy="658368"/>
          </a:xfrm>
          <a:prstGeom prst="rect">
            <a:avLst/>
          </a:prstGeom>
          <a:noFill/>
          <a:ln/>
        </p:spPr>
        <p:txBody>
          <a:bodyPr wrap="square" lIns="0" tIns="0" rIns="0" bIns="0" rtlCol="0" anchor="ctr"/>
          <a:lstStyle/>
          <a:p>
            <a:pPr marL="0" indent="0">
              <a:buNone/>
            </a:pPr>
            <a:r>
              <a:rPr lang="en-GB" sz="3000" b="1" noProof="0" dirty="0">
                <a:solidFill>
                  <a:srgbClr val="10305A"/>
                </a:solidFill>
                <a:latin typeface="Cambria" pitchFamily="34" charset="0"/>
                <a:ea typeface="Cambria" pitchFamily="34" charset="-122"/>
                <a:cs typeface="Cambria" pitchFamily="34" charset="-120"/>
              </a:rPr>
              <a:t>350,000</a:t>
            </a:r>
            <a:endParaRPr lang="en-GB" sz="3000" noProof="0" dirty="0"/>
          </a:p>
        </p:txBody>
      </p:sp>
      <p:sp>
        <p:nvSpPr>
          <p:cNvPr id="12" name="Text 10"/>
          <p:cNvSpPr txBox="1"/>
          <p:nvPr/>
        </p:nvSpPr>
        <p:spPr>
          <a:xfrm>
            <a:off x="3602291" y="3127131"/>
            <a:ext cx="2151126" cy="987552"/>
          </a:xfrm>
          <a:prstGeom prst="rect">
            <a:avLst/>
          </a:prstGeom>
          <a:noFill/>
          <a:ln/>
        </p:spPr>
        <p:txBody>
          <a:bodyPr wrap="square" lIns="0" tIns="0" rIns="0" bIns="0" rtlCol="0" anchor="t"/>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Estimated deaths worldwide</a:t>
            </a:r>
            <a:endParaRPr lang="en-GB" sz="1800" noProof="0" dirty="0"/>
          </a:p>
        </p:txBody>
      </p:sp>
      <p:sp>
        <p:nvSpPr>
          <p:cNvPr id="13" name="Shape 11"/>
          <p:cNvSpPr/>
          <p:nvPr/>
        </p:nvSpPr>
        <p:spPr>
          <a:xfrm>
            <a:off x="6185916" y="2148839"/>
            <a:ext cx="2626614" cy="2228991"/>
          </a:xfrm>
          <a:prstGeom prst="roundRect">
            <a:avLst>
              <a:gd name="adj" fmla="val 4091"/>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6423660" y="2313432"/>
            <a:ext cx="2151126" cy="658368"/>
          </a:xfrm>
          <a:prstGeom prst="rect">
            <a:avLst/>
          </a:prstGeom>
          <a:noFill/>
          <a:ln/>
        </p:spPr>
        <p:txBody>
          <a:bodyPr wrap="square" lIns="0" tIns="0" rIns="0" bIns="0" rtlCol="0" anchor="ctr"/>
          <a:lstStyle/>
          <a:p>
            <a:pPr marL="0" indent="0">
              <a:buNone/>
            </a:pPr>
            <a:r>
              <a:rPr lang="en-GB" sz="3400" b="1" noProof="0" dirty="0">
                <a:solidFill>
                  <a:srgbClr val="10305A"/>
                </a:solidFill>
                <a:latin typeface="Cambria" pitchFamily="34" charset="0"/>
                <a:ea typeface="Cambria" pitchFamily="34" charset="-122"/>
                <a:cs typeface="Cambria" pitchFamily="34" charset="-120"/>
              </a:rPr>
              <a:t>5th</a:t>
            </a:r>
            <a:endParaRPr lang="en-GB" sz="3400" noProof="0" dirty="0"/>
          </a:p>
        </p:txBody>
      </p:sp>
      <p:sp>
        <p:nvSpPr>
          <p:cNvPr id="15" name="Text 13"/>
          <p:cNvSpPr txBox="1"/>
          <p:nvPr/>
        </p:nvSpPr>
        <p:spPr>
          <a:xfrm>
            <a:off x="6423660" y="3008376"/>
            <a:ext cx="2151126" cy="987552"/>
          </a:xfrm>
          <a:prstGeom prst="rect">
            <a:avLst/>
          </a:prstGeom>
          <a:noFill/>
          <a:ln/>
        </p:spPr>
        <p:txBody>
          <a:bodyPr wrap="square" lIns="0" tIns="0" rIns="0" bIns="0" rtlCol="0" anchor="t"/>
          <a:lstStyle/>
          <a:p>
            <a:pPr>
              <a:lnSpc>
                <a:spcPct val="104000"/>
              </a:lnSpc>
            </a:pPr>
            <a:r>
              <a:rPr lang="en-GB" sz="1800" noProof="0" dirty="0">
                <a:solidFill>
                  <a:srgbClr val="23303F"/>
                </a:solidFill>
                <a:latin typeface="Calibri" pitchFamily="34" charset="0"/>
                <a:ea typeface="Calibri" pitchFamily="34" charset="-122"/>
                <a:cs typeface="Calibri" pitchFamily="34" charset="-120"/>
              </a:rPr>
              <a:t>Most commonly diagnosed cancer in women*</a:t>
            </a:r>
          </a:p>
        </p:txBody>
      </p:sp>
      <p:sp>
        <p:nvSpPr>
          <p:cNvPr id="16" name="Shape 14"/>
          <p:cNvSpPr/>
          <p:nvPr/>
        </p:nvSpPr>
        <p:spPr>
          <a:xfrm>
            <a:off x="8995410" y="2148839"/>
            <a:ext cx="2626614" cy="2228991"/>
          </a:xfrm>
          <a:prstGeom prst="roundRect">
            <a:avLst>
              <a:gd name="adj" fmla="val 4091"/>
            </a:avLst>
          </a:prstGeom>
          <a:solidFill>
            <a:srgbClr val="F3F6FB"/>
          </a:solidFill>
          <a:ln w="12700">
            <a:solidFill>
              <a:srgbClr val="E0E3EA"/>
            </a:solidFill>
            <a:prstDash val="solid"/>
          </a:ln>
        </p:spPr>
        <p:txBody>
          <a:bodyPr/>
          <a:lstStyle/>
          <a:p>
            <a:endParaRPr lang="en-GB" noProof="0" dirty="0"/>
          </a:p>
        </p:txBody>
      </p:sp>
      <p:sp>
        <p:nvSpPr>
          <p:cNvPr id="17" name="Text 15"/>
          <p:cNvSpPr txBox="1"/>
          <p:nvPr/>
        </p:nvSpPr>
        <p:spPr>
          <a:xfrm>
            <a:off x="9233154" y="2313432"/>
            <a:ext cx="2151126" cy="658368"/>
          </a:xfrm>
          <a:prstGeom prst="rect">
            <a:avLst/>
          </a:prstGeom>
          <a:noFill/>
          <a:ln/>
        </p:spPr>
        <p:txBody>
          <a:bodyPr wrap="square" lIns="0" tIns="0" rIns="0" bIns="0" rtlCol="0" anchor="ctr"/>
          <a:lstStyle/>
          <a:p>
            <a:pPr marL="0" indent="0">
              <a:buNone/>
            </a:pPr>
            <a:r>
              <a:rPr lang="en-GB" sz="3400" b="1" noProof="0" dirty="0">
                <a:solidFill>
                  <a:srgbClr val="10305A"/>
                </a:solidFill>
                <a:latin typeface="Cambria" pitchFamily="34" charset="0"/>
                <a:ea typeface="Cambria" pitchFamily="34" charset="-122"/>
                <a:cs typeface="Cambria" pitchFamily="34" charset="-120"/>
              </a:rPr>
              <a:t>2nd</a:t>
            </a:r>
            <a:endParaRPr lang="en-GB" sz="3400" noProof="0" dirty="0"/>
          </a:p>
        </p:txBody>
      </p:sp>
      <p:sp>
        <p:nvSpPr>
          <p:cNvPr id="18" name="Text 16"/>
          <p:cNvSpPr txBox="1"/>
          <p:nvPr/>
        </p:nvSpPr>
        <p:spPr>
          <a:xfrm>
            <a:off x="9233154" y="3008376"/>
            <a:ext cx="2151126" cy="987552"/>
          </a:xfrm>
          <a:prstGeom prst="rect">
            <a:avLst/>
          </a:prstGeom>
          <a:noFill/>
          <a:ln/>
        </p:spPr>
        <p:txBody>
          <a:bodyPr wrap="square" lIns="0" tIns="0" rIns="0" bIns="0" rtlCol="0" anchor="t"/>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Most commonly diagnosed cancer in African women</a:t>
            </a:r>
            <a:endParaRPr lang="en-GB" sz="1800" noProof="0" dirty="0"/>
          </a:p>
        </p:txBody>
      </p:sp>
      <p:sp>
        <p:nvSpPr>
          <p:cNvPr id="19" name="Text 17"/>
          <p:cNvSpPr txBox="1"/>
          <p:nvPr/>
        </p:nvSpPr>
        <p:spPr>
          <a:xfrm>
            <a:off x="550403" y="5566270"/>
            <a:ext cx="11055096" cy="457200"/>
          </a:xfrm>
          <a:prstGeom prst="rect">
            <a:avLst/>
          </a:prstGeom>
          <a:noFill/>
          <a:ln/>
        </p:spPr>
        <p:txBody>
          <a:bodyPr wrap="square" lIns="0" tIns="0" rIns="0" bIns="0" rtlCol="0" anchor="t"/>
          <a:lstStyle/>
          <a:p>
            <a:pPr marL="0" indent="0">
              <a:buNone/>
            </a:pPr>
            <a:r>
              <a:rPr lang="en-GB" sz="1400" noProof="0" dirty="0">
                <a:solidFill>
                  <a:srgbClr val="6A727F"/>
                </a:solidFill>
                <a:latin typeface="Calibri" pitchFamily="34" charset="0"/>
                <a:ea typeface="Calibri" pitchFamily="34" charset="-122"/>
                <a:cs typeface="Calibri" pitchFamily="34" charset="-120"/>
              </a:rPr>
              <a:t>Population: world, women, all ages.  Year: 2024 estimates.  Source: IARC Global Cancer Observatory, GLOBOCAN 2024. These are modelled estimates, not registry-confirmed counts.</a:t>
            </a:r>
            <a:endParaRPr lang="en-GB" sz="1400" noProof="0" dirty="0"/>
          </a:p>
        </p:txBody>
      </p:sp>
      <p:sp>
        <p:nvSpPr>
          <p:cNvPr id="20" name="Shape 18"/>
          <p:cNvSpPr/>
          <p:nvPr/>
        </p:nvSpPr>
        <p:spPr>
          <a:xfrm>
            <a:off x="550403" y="4648934"/>
            <a:ext cx="11055096" cy="786384"/>
          </a:xfrm>
          <a:prstGeom prst="roundRect">
            <a:avLst>
              <a:gd name="adj" fmla="val 8140"/>
            </a:avLst>
          </a:prstGeom>
          <a:solidFill>
            <a:srgbClr val="ECF3FD"/>
          </a:solidFill>
          <a:ln w="12700">
            <a:solidFill>
              <a:srgbClr val="E0E3EA"/>
            </a:solidFill>
            <a:prstDash val="solid"/>
          </a:ln>
        </p:spPr>
        <p:txBody>
          <a:bodyPr/>
          <a:lstStyle/>
          <a:p>
            <a:endParaRPr lang="en-GB" noProof="0" dirty="0"/>
          </a:p>
        </p:txBody>
      </p:sp>
      <p:sp>
        <p:nvSpPr>
          <p:cNvPr id="21" name="Text 19"/>
          <p:cNvSpPr txBox="1"/>
          <p:nvPr/>
        </p:nvSpPr>
        <p:spPr>
          <a:xfrm>
            <a:off x="824723" y="4703798"/>
            <a:ext cx="10506456" cy="676656"/>
          </a:xfrm>
          <a:prstGeom prst="rect">
            <a:avLst/>
          </a:prstGeom>
          <a:noFill/>
          <a:ln/>
        </p:spPr>
        <p:txBody>
          <a:bodyPr wrap="square" lIns="0" tIns="0" rIns="0" bIns="0" rtlCol="0" anchor="ctr"/>
          <a:lstStyle/>
          <a:p>
            <a:pPr marL="0" indent="0">
              <a:lnSpc>
                <a:spcPct val="104000"/>
              </a:lnSpc>
              <a:buNone/>
            </a:pPr>
            <a:r>
              <a:rPr lang="en-GB" sz="1800" b="1" noProof="0" dirty="0">
                <a:solidFill>
                  <a:srgbClr val="10305A"/>
                </a:solidFill>
                <a:latin typeface="Calibri" pitchFamily="34" charset="0"/>
                <a:ea typeface="Calibri" pitchFamily="34" charset="-122"/>
                <a:cs typeface="Calibri" pitchFamily="34" charset="-120"/>
              </a:rPr>
              <a:t>🔎 What this shows:  </a:t>
            </a:r>
            <a:r>
              <a:rPr lang="en-GB" sz="1800" noProof="0" dirty="0">
                <a:solidFill>
                  <a:srgbClr val="23303F"/>
                </a:solidFill>
                <a:latin typeface="Calibri" pitchFamily="34" charset="0"/>
                <a:ea typeface="Calibri" pitchFamily="34" charset="-122"/>
                <a:cs typeface="Calibri" pitchFamily="34" charset="-120"/>
              </a:rPr>
              <a:t>The burden falls most heavily on countries with limited access to vaccination, screening and treatment.</a:t>
            </a:r>
            <a:endParaRPr lang="en-GB" sz="1800" noProof="0" dirty="0"/>
          </a:p>
        </p:txBody>
      </p:sp>
      <p:sp>
        <p:nvSpPr>
          <p:cNvPr id="22" name="CuadroTexto 21">
            <a:extLst>
              <a:ext uri="{FF2B5EF4-FFF2-40B4-BE49-F238E27FC236}">
                <a16:creationId xmlns:a16="http://schemas.microsoft.com/office/drawing/2014/main" id="{6DAD3368-0F11-279F-49BA-2CA230D0B26B}"/>
              </a:ext>
            </a:extLst>
          </p:cNvPr>
          <p:cNvSpPr txBox="1"/>
          <p:nvPr/>
        </p:nvSpPr>
        <p:spPr>
          <a:xfrm>
            <a:off x="550403" y="6016526"/>
            <a:ext cx="5214889" cy="338554"/>
          </a:xfrm>
          <a:prstGeom prst="rect">
            <a:avLst/>
          </a:prstGeom>
          <a:noFill/>
        </p:spPr>
        <p:txBody>
          <a:bodyPr wrap="none" rtlCol="0">
            <a:spAutoFit/>
          </a:bodyPr>
          <a:lstStyle/>
          <a:p>
            <a:r>
              <a:rPr lang="en-GB" sz="1600" i="1" noProof="0" dirty="0">
                <a:solidFill>
                  <a:schemeClr val="accent1">
                    <a:lumMod val="50000"/>
                  </a:schemeClr>
                </a:solidFill>
                <a:latin typeface="Calibri" pitchFamily="34" charset="0"/>
                <a:ea typeface="Calibri" pitchFamily="34" charset="-122"/>
                <a:cs typeface="Calibri" pitchFamily="34" charset="-120"/>
              </a:rPr>
              <a:t>* Following breast, lung, colorectal, and corpus uteri cancers)</a:t>
            </a:r>
            <a:endParaRPr lang="en-GB" sz="1600" i="1" noProof="0" dirty="0">
              <a:solidFill>
                <a:schemeClr val="accent1">
                  <a:lumMod val="50000"/>
                </a:schemeClr>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46</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1 · EPIDEMIOLOGY</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Rwanda compared with the region</a:t>
            </a:r>
            <a:endParaRPr lang="en-GB" sz="3200" noProof="0" dirty="0"/>
          </a:p>
        </p:txBody>
      </p:sp>
      <p:graphicFrame>
        <p:nvGraphicFramePr>
          <p:cNvPr id="6" name="Chart 0"/>
          <p:cNvGraphicFramePr/>
          <p:nvPr>
            <p:extLst>
              <p:ext uri="{D42A27DB-BD31-4B8C-83A1-F6EECF244321}">
                <p14:modId xmlns:p14="http://schemas.microsoft.com/office/powerpoint/2010/main" val="2488482312"/>
              </p:ext>
            </p:extLst>
          </p:nvPr>
        </p:nvGraphicFramePr>
        <p:xfrm>
          <a:off x="566928" y="1737360"/>
          <a:ext cx="667512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452360" y="1737360"/>
            <a:ext cx="4169664" cy="3931920"/>
          </a:xfrm>
          <a:prstGeom prst="roundRect">
            <a:avLst>
              <a:gd name="adj" fmla="val 2093"/>
            </a:avLst>
          </a:prstGeom>
          <a:solidFill>
            <a:srgbClr val="F3F6FB"/>
          </a:solidFill>
          <a:ln w="12700">
            <a:solidFill>
              <a:srgbClr val="E0E3EA"/>
            </a:solidFill>
            <a:prstDash val="solid"/>
          </a:ln>
        </p:spPr>
        <p:txBody>
          <a:bodyPr/>
          <a:lstStyle/>
          <a:p>
            <a:endParaRPr lang="en-GB" noProof="0" dirty="0"/>
          </a:p>
        </p:txBody>
      </p:sp>
      <p:sp>
        <p:nvSpPr>
          <p:cNvPr id="8" name="Text 5"/>
          <p:cNvSpPr txBox="1"/>
          <p:nvPr/>
        </p:nvSpPr>
        <p:spPr>
          <a:xfrm>
            <a:off x="7690104" y="1901952"/>
            <a:ext cx="3694176" cy="402336"/>
          </a:xfrm>
          <a:prstGeom prst="rect">
            <a:avLst/>
          </a:prstGeom>
          <a:noFill/>
          <a:ln/>
        </p:spPr>
        <p:txBody>
          <a:bodyPr wrap="square" lIns="0" tIns="0" rIns="0" bIns="0" rtlCol="0" anchor="ctr"/>
          <a:lstStyle/>
          <a:p>
            <a:pPr marL="0" indent="0">
              <a:buNone/>
            </a:pPr>
            <a:r>
              <a:rPr lang="en-GB" sz="1400" b="1" noProof="0" dirty="0">
                <a:solidFill>
                  <a:srgbClr val="31507B"/>
                </a:solidFill>
                <a:latin typeface="Calibri" pitchFamily="34" charset="0"/>
                <a:ea typeface="Calibri" pitchFamily="34" charset="-122"/>
                <a:cs typeface="Calibri" pitchFamily="34" charset="-120"/>
              </a:rPr>
              <a:t>Population: </a:t>
            </a:r>
            <a:r>
              <a:rPr lang="en-GB" sz="1400" noProof="0" dirty="0">
                <a:solidFill>
                  <a:srgbClr val="23303F"/>
                </a:solidFill>
                <a:latin typeface="Calibri" pitchFamily="34" charset="0"/>
                <a:ea typeface="Calibri" pitchFamily="34" charset="-122"/>
                <a:cs typeface="Calibri" pitchFamily="34" charset="-120"/>
              </a:rPr>
              <a:t>Women, all ages</a:t>
            </a:r>
            <a:endParaRPr lang="en-GB" sz="1400" noProof="0" dirty="0"/>
          </a:p>
        </p:txBody>
      </p:sp>
      <p:sp>
        <p:nvSpPr>
          <p:cNvPr id="9" name="Text 6"/>
          <p:cNvSpPr txBox="1"/>
          <p:nvPr/>
        </p:nvSpPr>
        <p:spPr>
          <a:xfrm>
            <a:off x="7690104" y="2322576"/>
            <a:ext cx="3694176" cy="402336"/>
          </a:xfrm>
          <a:prstGeom prst="rect">
            <a:avLst/>
          </a:prstGeom>
          <a:noFill/>
          <a:ln/>
        </p:spPr>
        <p:txBody>
          <a:bodyPr wrap="square" lIns="0" tIns="0" rIns="0" bIns="0" rtlCol="0" anchor="ctr"/>
          <a:lstStyle/>
          <a:p>
            <a:pPr marL="0" indent="0">
              <a:buNone/>
            </a:pPr>
            <a:r>
              <a:rPr lang="en-GB" sz="1400" b="1" noProof="0" dirty="0">
                <a:solidFill>
                  <a:srgbClr val="31507B"/>
                </a:solidFill>
                <a:latin typeface="Calibri" pitchFamily="34" charset="0"/>
                <a:ea typeface="Calibri" pitchFamily="34" charset="-122"/>
                <a:cs typeface="Calibri" pitchFamily="34" charset="-120"/>
              </a:rPr>
              <a:t>Year: </a:t>
            </a:r>
            <a:r>
              <a:rPr lang="en-GB" sz="1400" noProof="0" dirty="0">
                <a:solidFill>
                  <a:srgbClr val="23303F"/>
                </a:solidFill>
                <a:latin typeface="Calibri" pitchFamily="34" charset="0"/>
                <a:ea typeface="Calibri" pitchFamily="34" charset="-122"/>
                <a:cs typeface="Calibri" pitchFamily="34" charset="-120"/>
              </a:rPr>
              <a:t>2024 estimates</a:t>
            </a:r>
            <a:endParaRPr lang="en-GB" sz="1400" noProof="0" dirty="0"/>
          </a:p>
        </p:txBody>
      </p:sp>
      <p:sp>
        <p:nvSpPr>
          <p:cNvPr id="10" name="Text 7"/>
          <p:cNvSpPr txBox="1"/>
          <p:nvPr/>
        </p:nvSpPr>
        <p:spPr>
          <a:xfrm>
            <a:off x="7690104" y="2743200"/>
            <a:ext cx="3694176" cy="402336"/>
          </a:xfrm>
          <a:prstGeom prst="rect">
            <a:avLst/>
          </a:prstGeom>
          <a:noFill/>
          <a:ln/>
        </p:spPr>
        <p:txBody>
          <a:bodyPr wrap="square" lIns="0" tIns="0" rIns="0" bIns="0" rtlCol="0" anchor="ctr"/>
          <a:lstStyle/>
          <a:p>
            <a:pPr marL="0" indent="0">
              <a:buNone/>
            </a:pPr>
            <a:r>
              <a:rPr lang="en-GB" sz="1400" b="1" noProof="0" dirty="0">
                <a:solidFill>
                  <a:srgbClr val="31507B"/>
                </a:solidFill>
                <a:latin typeface="Calibri" pitchFamily="34" charset="0"/>
                <a:ea typeface="Calibri" pitchFamily="34" charset="-122"/>
                <a:cs typeface="Calibri" pitchFamily="34" charset="-120"/>
              </a:rPr>
              <a:t>Measure: </a:t>
            </a:r>
            <a:r>
              <a:rPr lang="en-GB" sz="1400" noProof="0" dirty="0">
                <a:solidFill>
                  <a:srgbClr val="23303F"/>
                </a:solidFill>
                <a:latin typeface="Calibri" pitchFamily="34" charset="0"/>
                <a:ea typeface="Calibri" pitchFamily="34" charset="-122"/>
                <a:cs typeface="Calibri" pitchFamily="34" charset="-120"/>
              </a:rPr>
              <a:t>Age-standardised incidence rate per 100,000</a:t>
            </a:r>
            <a:endParaRPr lang="en-GB" sz="1400" noProof="0" dirty="0"/>
          </a:p>
        </p:txBody>
      </p:sp>
      <p:sp>
        <p:nvSpPr>
          <p:cNvPr id="11" name="Text 8"/>
          <p:cNvSpPr txBox="1"/>
          <p:nvPr/>
        </p:nvSpPr>
        <p:spPr>
          <a:xfrm>
            <a:off x="7690104" y="3163824"/>
            <a:ext cx="3694176" cy="402336"/>
          </a:xfrm>
          <a:prstGeom prst="rect">
            <a:avLst/>
          </a:prstGeom>
          <a:noFill/>
          <a:ln/>
        </p:spPr>
        <p:txBody>
          <a:bodyPr wrap="square" lIns="0" tIns="0" rIns="0" bIns="0" rtlCol="0" anchor="ctr"/>
          <a:lstStyle/>
          <a:p>
            <a:pPr marL="0" indent="0">
              <a:buNone/>
            </a:pPr>
            <a:r>
              <a:rPr lang="en-GB" sz="1400" b="1" noProof="0" dirty="0">
                <a:solidFill>
                  <a:srgbClr val="31507B"/>
                </a:solidFill>
                <a:latin typeface="Calibri" pitchFamily="34" charset="0"/>
                <a:ea typeface="Calibri" pitchFamily="34" charset="-122"/>
                <a:cs typeface="Calibri" pitchFamily="34" charset="-120"/>
              </a:rPr>
              <a:t>Source: </a:t>
            </a:r>
            <a:r>
              <a:rPr lang="en-GB" sz="1400" noProof="0" dirty="0">
                <a:solidFill>
                  <a:srgbClr val="23303F"/>
                </a:solidFill>
                <a:latin typeface="Calibri" pitchFamily="34" charset="0"/>
                <a:ea typeface="Calibri" pitchFamily="34" charset="-122"/>
                <a:cs typeface="Calibri" pitchFamily="34" charset="-120"/>
              </a:rPr>
              <a:t>IARC Global Cancer Observatory, GLOBOCAN 2024</a:t>
            </a:r>
            <a:endParaRPr lang="en-GB" sz="1400" noProof="0" dirty="0"/>
          </a:p>
        </p:txBody>
      </p:sp>
      <p:sp>
        <p:nvSpPr>
          <p:cNvPr id="12" name="Text 9"/>
          <p:cNvSpPr txBox="1"/>
          <p:nvPr/>
        </p:nvSpPr>
        <p:spPr>
          <a:xfrm>
            <a:off x="7690104" y="3675888"/>
            <a:ext cx="3694176" cy="1920240"/>
          </a:xfrm>
          <a:prstGeom prst="rect">
            <a:avLst/>
          </a:prstGeom>
          <a:noFill/>
          <a:ln/>
        </p:spPr>
        <p:txBody>
          <a:bodyPr wrap="square" lIns="0" tIns="0" rIns="0" bIns="0" rtlCol="0" anchor="t"/>
          <a:lstStyle/>
          <a:p>
            <a:pPr marL="0" indent="0">
              <a:lnSpc>
                <a:spcPct val="106000"/>
              </a:lnSpc>
              <a:buNone/>
            </a:pPr>
            <a:r>
              <a:rPr lang="en-GB" sz="1800" b="1" noProof="0" dirty="0">
                <a:solidFill>
                  <a:srgbClr val="10305A"/>
                </a:solidFill>
                <a:latin typeface="Calibri" pitchFamily="34" charset="0"/>
                <a:ea typeface="Calibri" pitchFamily="34" charset="-122"/>
                <a:cs typeface="Calibri" pitchFamily="34" charset="-120"/>
              </a:rPr>
              <a:t>What this shows: </a:t>
            </a:r>
            <a:r>
              <a:rPr lang="en-GB" sz="1800" noProof="0" dirty="0">
                <a:solidFill>
                  <a:srgbClr val="23303F"/>
                </a:solidFill>
                <a:latin typeface="Calibri" pitchFamily="34" charset="0"/>
                <a:ea typeface="Calibri" pitchFamily="34" charset="-122"/>
                <a:cs typeface="Calibri" pitchFamily="34" charset="-120"/>
              </a:rPr>
              <a:t>Rates are age-standardised so populations can be compared. Rwanda's estimated rate is about two and a half times the world rate, and close to the Eastern African average.</a:t>
            </a:r>
            <a:endParaRPr lang="en-GB" sz="1800" noProof="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47</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1 · EPIDEMIOLOGY</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Where cervical cancer sits in Rwanda</a:t>
            </a:r>
            <a:endParaRPr lang="en-GB" sz="3200" noProof="0" dirty="0"/>
          </a:p>
        </p:txBody>
      </p:sp>
      <p:graphicFrame>
        <p:nvGraphicFramePr>
          <p:cNvPr id="6" name="Chart 0"/>
          <p:cNvGraphicFramePr/>
          <p:nvPr>
            <p:extLst>
              <p:ext uri="{D42A27DB-BD31-4B8C-83A1-F6EECF244321}">
                <p14:modId xmlns:p14="http://schemas.microsoft.com/office/powerpoint/2010/main" val="3488021717"/>
              </p:ext>
            </p:extLst>
          </p:nvPr>
        </p:nvGraphicFramePr>
        <p:xfrm>
          <a:off x="566928" y="1737360"/>
          <a:ext cx="667512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452360" y="1737360"/>
            <a:ext cx="4169664" cy="3931920"/>
          </a:xfrm>
          <a:prstGeom prst="roundRect">
            <a:avLst>
              <a:gd name="adj" fmla="val 2093"/>
            </a:avLst>
          </a:prstGeom>
          <a:solidFill>
            <a:srgbClr val="F3F6FB"/>
          </a:solidFill>
          <a:ln w="12700">
            <a:solidFill>
              <a:srgbClr val="E0E3EA"/>
            </a:solidFill>
            <a:prstDash val="solid"/>
          </a:ln>
        </p:spPr>
        <p:txBody>
          <a:bodyPr/>
          <a:lstStyle/>
          <a:p>
            <a:endParaRPr lang="en-GB" noProof="0" dirty="0"/>
          </a:p>
        </p:txBody>
      </p:sp>
      <p:sp>
        <p:nvSpPr>
          <p:cNvPr id="8" name="Text 5"/>
          <p:cNvSpPr txBox="1"/>
          <p:nvPr/>
        </p:nvSpPr>
        <p:spPr>
          <a:xfrm>
            <a:off x="7690104" y="1901952"/>
            <a:ext cx="3694176" cy="402336"/>
          </a:xfrm>
          <a:prstGeom prst="rect">
            <a:avLst/>
          </a:prstGeom>
          <a:noFill/>
          <a:ln/>
        </p:spPr>
        <p:txBody>
          <a:bodyPr wrap="square" lIns="0" tIns="0" rIns="0" bIns="0" rtlCol="0" anchor="ctr"/>
          <a:lstStyle/>
          <a:p>
            <a:pPr marL="0" indent="0">
              <a:buNone/>
            </a:pPr>
            <a:r>
              <a:rPr lang="en-GB" sz="1400" b="1" noProof="0" dirty="0">
                <a:solidFill>
                  <a:srgbClr val="31507B"/>
                </a:solidFill>
                <a:latin typeface="Calibri" pitchFamily="34" charset="0"/>
                <a:ea typeface="Calibri" pitchFamily="34" charset="-122"/>
                <a:cs typeface="Calibri" pitchFamily="34" charset="-120"/>
              </a:rPr>
              <a:t>Population: </a:t>
            </a:r>
            <a:r>
              <a:rPr lang="en-GB" sz="1400" noProof="0" dirty="0">
                <a:solidFill>
                  <a:srgbClr val="23303F"/>
                </a:solidFill>
                <a:latin typeface="Calibri" pitchFamily="34" charset="0"/>
                <a:ea typeface="Calibri" pitchFamily="34" charset="-122"/>
                <a:cs typeface="Calibri" pitchFamily="34" charset="-120"/>
              </a:rPr>
              <a:t>Women in Rwanda, all ages</a:t>
            </a:r>
            <a:endParaRPr lang="en-GB" sz="1400" noProof="0" dirty="0"/>
          </a:p>
        </p:txBody>
      </p:sp>
      <p:sp>
        <p:nvSpPr>
          <p:cNvPr id="9" name="Text 6"/>
          <p:cNvSpPr txBox="1"/>
          <p:nvPr/>
        </p:nvSpPr>
        <p:spPr>
          <a:xfrm>
            <a:off x="7690104" y="2322576"/>
            <a:ext cx="3694176" cy="402336"/>
          </a:xfrm>
          <a:prstGeom prst="rect">
            <a:avLst/>
          </a:prstGeom>
          <a:noFill/>
          <a:ln/>
        </p:spPr>
        <p:txBody>
          <a:bodyPr wrap="square" lIns="0" tIns="0" rIns="0" bIns="0" rtlCol="0" anchor="ctr"/>
          <a:lstStyle/>
          <a:p>
            <a:pPr marL="0" indent="0">
              <a:buNone/>
            </a:pPr>
            <a:r>
              <a:rPr lang="en-GB" sz="1400" b="1" noProof="0" dirty="0">
                <a:solidFill>
                  <a:srgbClr val="31507B"/>
                </a:solidFill>
                <a:latin typeface="Calibri" pitchFamily="34" charset="0"/>
                <a:ea typeface="Calibri" pitchFamily="34" charset="-122"/>
                <a:cs typeface="Calibri" pitchFamily="34" charset="-120"/>
              </a:rPr>
              <a:t>Year: </a:t>
            </a:r>
            <a:r>
              <a:rPr lang="en-GB" sz="1400" noProof="0" dirty="0">
                <a:solidFill>
                  <a:srgbClr val="23303F"/>
                </a:solidFill>
                <a:latin typeface="Calibri" pitchFamily="34" charset="0"/>
                <a:ea typeface="Calibri" pitchFamily="34" charset="-122"/>
                <a:cs typeface="Calibri" pitchFamily="34" charset="-120"/>
              </a:rPr>
              <a:t>2024 estimates</a:t>
            </a:r>
            <a:endParaRPr lang="en-GB" sz="1400" noProof="0" dirty="0"/>
          </a:p>
        </p:txBody>
      </p:sp>
      <p:sp>
        <p:nvSpPr>
          <p:cNvPr id="10" name="Text 7"/>
          <p:cNvSpPr txBox="1"/>
          <p:nvPr/>
        </p:nvSpPr>
        <p:spPr>
          <a:xfrm>
            <a:off x="7690104" y="2743200"/>
            <a:ext cx="3694176" cy="402336"/>
          </a:xfrm>
          <a:prstGeom prst="rect">
            <a:avLst/>
          </a:prstGeom>
          <a:noFill/>
          <a:ln/>
        </p:spPr>
        <p:txBody>
          <a:bodyPr wrap="square" lIns="0" tIns="0" rIns="0" bIns="0" rtlCol="0" anchor="ctr"/>
          <a:lstStyle/>
          <a:p>
            <a:pPr marL="0" indent="0">
              <a:buNone/>
            </a:pPr>
            <a:r>
              <a:rPr lang="en-GB" sz="1400" b="1" noProof="0" dirty="0">
                <a:solidFill>
                  <a:srgbClr val="31507B"/>
                </a:solidFill>
                <a:latin typeface="Calibri" pitchFamily="34" charset="0"/>
                <a:ea typeface="Calibri" pitchFamily="34" charset="-122"/>
                <a:cs typeface="Calibri" pitchFamily="34" charset="-120"/>
              </a:rPr>
              <a:t>Measure: </a:t>
            </a:r>
            <a:r>
              <a:rPr lang="en-GB" sz="1400" noProof="0" dirty="0">
                <a:solidFill>
                  <a:srgbClr val="23303F"/>
                </a:solidFill>
                <a:latin typeface="Calibri" pitchFamily="34" charset="0"/>
                <a:ea typeface="Calibri" pitchFamily="34" charset="-122"/>
                <a:cs typeface="Calibri" pitchFamily="34" charset="-120"/>
              </a:rPr>
              <a:t>Estimated new cases</a:t>
            </a:r>
            <a:endParaRPr lang="en-GB" sz="1400" noProof="0" dirty="0"/>
          </a:p>
        </p:txBody>
      </p:sp>
      <p:sp>
        <p:nvSpPr>
          <p:cNvPr id="11" name="Text 8"/>
          <p:cNvSpPr txBox="1"/>
          <p:nvPr/>
        </p:nvSpPr>
        <p:spPr>
          <a:xfrm>
            <a:off x="7690104" y="3163824"/>
            <a:ext cx="3694176" cy="402336"/>
          </a:xfrm>
          <a:prstGeom prst="rect">
            <a:avLst/>
          </a:prstGeom>
          <a:noFill/>
          <a:ln/>
        </p:spPr>
        <p:txBody>
          <a:bodyPr wrap="square" lIns="0" tIns="0" rIns="0" bIns="0" rtlCol="0" anchor="ctr"/>
          <a:lstStyle/>
          <a:p>
            <a:pPr marL="0" indent="0">
              <a:buNone/>
            </a:pPr>
            <a:r>
              <a:rPr lang="en-GB" sz="1400" b="1" noProof="0" dirty="0">
                <a:solidFill>
                  <a:srgbClr val="31507B"/>
                </a:solidFill>
                <a:latin typeface="Calibri" pitchFamily="34" charset="0"/>
                <a:ea typeface="Calibri" pitchFamily="34" charset="-122"/>
                <a:cs typeface="Calibri" pitchFamily="34" charset="-120"/>
              </a:rPr>
              <a:t>Source: </a:t>
            </a:r>
            <a:r>
              <a:rPr lang="en-GB" sz="1400" noProof="0" dirty="0">
                <a:solidFill>
                  <a:srgbClr val="23303F"/>
                </a:solidFill>
                <a:latin typeface="Calibri" pitchFamily="34" charset="0"/>
                <a:ea typeface="Calibri" pitchFamily="34" charset="-122"/>
                <a:cs typeface="Calibri" pitchFamily="34" charset="-120"/>
              </a:rPr>
              <a:t>IARC Global Cancer Observatory, GLOBOCAN 2024</a:t>
            </a:r>
            <a:endParaRPr lang="en-GB" sz="1400" noProof="0" dirty="0"/>
          </a:p>
        </p:txBody>
      </p:sp>
      <p:sp>
        <p:nvSpPr>
          <p:cNvPr id="12" name="Text 9"/>
          <p:cNvSpPr txBox="1"/>
          <p:nvPr/>
        </p:nvSpPr>
        <p:spPr>
          <a:xfrm>
            <a:off x="7690104" y="3675888"/>
            <a:ext cx="3694176" cy="1920240"/>
          </a:xfrm>
          <a:prstGeom prst="rect">
            <a:avLst/>
          </a:prstGeom>
          <a:noFill/>
          <a:ln/>
        </p:spPr>
        <p:txBody>
          <a:bodyPr wrap="square" lIns="0" tIns="0" rIns="0" bIns="0" rtlCol="0" anchor="t"/>
          <a:lstStyle/>
          <a:p>
            <a:pPr marL="0" indent="0">
              <a:lnSpc>
                <a:spcPct val="106000"/>
              </a:lnSpc>
              <a:buNone/>
            </a:pPr>
            <a:r>
              <a:rPr lang="en-GB" sz="1800" b="1" noProof="0" dirty="0">
                <a:solidFill>
                  <a:srgbClr val="10305A"/>
                </a:solidFill>
                <a:latin typeface="Calibri" pitchFamily="34" charset="0"/>
                <a:ea typeface="Calibri" pitchFamily="34" charset="-122"/>
                <a:cs typeface="Calibri" pitchFamily="34" charset="-120"/>
              </a:rPr>
              <a:t>What this shows: </a:t>
            </a:r>
            <a:r>
              <a:rPr lang="en-GB" sz="1800" noProof="0" dirty="0">
                <a:solidFill>
                  <a:srgbClr val="23303F"/>
                </a:solidFill>
                <a:latin typeface="Calibri" pitchFamily="34" charset="0"/>
                <a:ea typeface="Calibri" pitchFamily="34" charset="-122"/>
                <a:cs typeface="Calibri" pitchFamily="34" charset="-120"/>
              </a:rPr>
              <a:t>Cervical cancer is the </a:t>
            </a:r>
            <a:r>
              <a:rPr lang="en-GB" noProof="0" dirty="0">
                <a:solidFill>
                  <a:srgbClr val="23303F"/>
                </a:solidFill>
                <a:latin typeface="Calibri" pitchFamily="34" charset="0"/>
                <a:ea typeface="Calibri" pitchFamily="34" charset="-122"/>
                <a:cs typeface="Calibri" pitchFamily="34" charset="-120"/>
              </a:rPr>
              <a:t>2</a:t>
            </a:r>
            <a:r>
              <a:rPr lang="en-GB" sz="1800" noProof="0" dirty="0">
                <a:solidFill>
                  <a:srgbClr val="23303F"/>
                </a:solidFill>
                <a:latin typeface="Calibri" pitchFamily="34" charset="0"/>
                <a:ea typeface="Calibri" pitchFamily="34" charset="-122"/>
                <a:cs typeface="Calibri" pitchFamily="34" charset="-120"/>
              </a:rPr>
              <a:t>nd most frequent cancer in women in Rwanda, close behind breast cancer, and it is the leading cause of cancer death in women.</a:t>
            </a:r>
            <a:endParaRPr lang="en-GB" sz="1800" noProof="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48</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1 · EPIDEMIOLOGY</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The burden in Rwanda today</a:t>
            </a:r>
            <a:endParaRPr lang="en-GB" sz="3200" noProof="0" dirty="0"/>
          </a:p>
        </p:txBody>
      </p:sp>
      <p:sp>
        <p:nvSpPr>
          <p:cNvPr id="6" name="Shape 4"/>
          <p:cNvSpPr/>
          <p:nvPr/>
        </p:nvSpPr>
        <p:spPr>
          <a:xfrm>
            <a:off x="566928" y="1719072"/>
            <a:ext cx="3563112" cy="2103120"/>
          </a:xfrm>
          <a:prstGeom prst="roundRect">
            <a:avLst>
              <a:gd name="adj" fmla="val 3913"/>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804672" y="1883664"/>
            <a:ext cx="3087624" cy="658368"/>
          </a:xfrm>
          <a:prstGeom prst="rect">
            <a:avLst/>
          </a:prstGeom>
          <a:noFill/>
          <a:ln/>
        </p:spPr>
        <p:txBody>
          <a:bodyPr wrap="square" lIns="0" tIns="0" rIns="0" bIns="0" rtlCol="0" anchor="ctr"/>
          <a:lstStyle/>
          <a:p>
            <a:pPr marL="0" indent="0">
              <a:buNone/>
            </a:pPr>
            <a:r>
              <a:rPr lang="en-GB" sz="3400" b="1" noProof="0" dirty="0">
                <a:solidFill>
                  <a:srgbClr val="10305A"/>
                </a:solidFill>
                <a:latin typeface="Cambria" pitchFamily="34" charset="0"/>
                <a:ea typeface="Cambria" pitchFamily="34" charset="-122"/>
                <a:cs typeface="Cambria" pitchFamily="34" charset="-120"/>
              </a:rPr>
              <a:t>1,582</a:t>
            </a:r>
            <a:endParaRPr lang="en-GB" sz="3400" noProof="0" dirty="0"/>
          </a:p>
        </p:txBody>
      </p:sp>
      <p:sp>
        <p:nvSpPr>
          <p:cNvPr id="8" name="Text 6"/>
          <p:cNvSpPr txBox="1"/>
          <p:nvPr/>
        </p:nvSpPr>
        <p:spPr>
          <a:xfrm>
            <a:off x="804672" y="2578608"/>
            <a:ext cx="3087624" cy="1078992"/>
          </a:xfrm>
          <a:prstGeom prst="rect">
            <a:avLst/>
          </a:prstGeom>
          <a:noFill/>
          <a:ln/>
        </p:spPr>
        <p:txBody>
          <a:bodyPr wrap="square" lIns="0" tIns="0" rIns="0" bIns="0" rtlCol="0" anchor="t"/>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Estimated new cervical cancer cases in Rwanda</a:t>
            </a:r>
            <a:endParaRPr lang="en-GB" sz="1800" noProof="0" dirty="0"/>
          </a:p>
        </p:txBody>
      </p:sp>
      <p:sp>
        <p:nvSpPr>
          <p:cNvPr id="9" name="Shape 7"/>
          <p:cNvSpPr/>
          <p:nvPr/>
        </p:nvSpPr>
        <p:spPr>
          <a:xfrm>
            <a:off x="4312920" y="1719072"/>
            <a:ext cx="3563112" cy="2103120"/>
          </a:xfrm>
          <a:prstGeom prst="roundRect">
            <a:avLst>
              <a:gd name="adj" fmla="val 3913"/>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4550664" y="1883664"/>
            <a:ext cx="3087624" cy="658368"/>
          </a:xfrm>
          <a:prstGeom prst="rect">
            <a:avLst/>
          </a:prstGeom>
          <a:noFill/>
          <a:ln/>
        </p:spPr>
        <p:txBody>
          <a:bodyPr wrap="square" lIns="0" tIns="0" rIns="0" bIns="0" rtlCol="0" anchor="ctr"/>
          <a:lstStyle/>
          <a:p>
            <a:pPr marL="0" indent="0">
              <a:buNone/>
            </a:pPr>
            <a:r>
              <a:rPr lang="en-GB" sz="3400" b="1" noProof="0" dirty="0">
                <a:solidFill>
                  <a:srgbClr val="8E2531"/>
                </a:solidFill>
                <a:latin typeface="Cambria" pitchFamily="34" charset="0"/>
                <a:ea typeface="Cambria" pitchFamily="34" charset="-122"/>
                <a:cs typeface="Cambria" pitchFamily="34" charset="-120"/>
              </a:rPr>
              <a:t>965</a:t>
            </a:r>
            <a:endParaRPr lang="en-GB" sz="3400" noProof="0" dirty="0"/>
          </a:p>
        </p:txBody>
      </p:sp>
      <p:sp>
        <p:nvSpPr>
          <p:cNvPr id="11" name="Text 9"/>
          <p:cNvSpPr txBox="1"/>
          <p:nvPr/>
        </p:nvSpPr>
        <p:spPr>
          <a:xfrm>
            <a:off x="4550664" y="2578608"/>
            <a:ext cx="3087624" cy="1078992"/>
          </a:xfrm>
          <a:prstGeom prst="rect">
            <a:avLst/>
          </a:prstGeom>
          <a:noFill/>
          <a:ln/>
        </p:spPr>
        <p:txBody>
          <a:bodyPr wrap="square" lIns="0" tIns="0" rIns="0" bIns="0" rtlCol="0" anchor="t"/>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Estimated cervical cancer deaths in Rwanda</a:t>
            </a:r>
            <a:endParaRPr lang="en-GB" sz="1800" noProof="0" dirty="0"/>
          </a:p>
        </p:txBody>
      </p:sp>
      <p:sp>
        <p:nvSpPr>
          <p:cNvPr id="12" name="Shape 10"/>
          <p:cNvSpPr/>
          <p:nvPr/>
        </p:nvSpPr>
        <p:spPr>
          <a:xfrm>
            <a:off x="8058912" y="1719072"/>
            <a:ext cx="3563112" cy="2103120"/>
          </a:xfrm>
          <a:prstGeom prst="roundRect">
            <a:avLst>
              <a:gd name="adj" fmla="val 3913"/>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8296656" y="1883664"/>
            <a:ext cx="3087624" cy="658368"/>
          </a:xfrm>
          <a:prstGeom prst="rect">
            <a:avLst/>
          </a:prstGeom>
          <a:noFill/>
          <a:ln/>
        </p:spPr>
        <p:txBody>
          <a:bodyPr wrap="square" lIns="0" tIns="0" rIns="0" bIns="0" rtlCol="0" anchor="ctr"/>
          <a:lstStyle/>
          <a:p>
            <a:pPr marL="0" indent="0">
              <a:buNone/>
            </a:pPr>
            <a:r>
              <a:rPr lang="en-GB" sz="3400" b="1" noProof="0" dirty="0">
                <a:solidFill>
                  <a:srgbClr val="10305A"/>
                </a:solidFill>
                <a:latin typeface="Cambria" pitchFamily="34" charset="0"/>
                <a:ea typeface="Cambria" pitchFamily="34" charset="-122"/>
                <a:cs typeface="Cambria" pitchFamily="34" charset="-120"/>
              </a:rPr>
              <a:t>30.6</a:t>
            </a:r>
            <a:endParaRPr lang="en-GB" sz="3400" noProof="0" dirty="0"/>
          </a:p>
        </p:txBody>
      </p:sp>
      <p:sp>
        <p:nvSpPr>
          <p:cNvPr id="14" name="Text 12"/>
          <p:cNvSpPr txBox="1"/>
          <p:nvPr/>
        </p:nvSpPr>
        <p:spPr>
          <a:xfrm>
            <a:off x="8296656" y="2578608"/>
            <a:ext cx="3087624" cy="1078992"/>
          </a:xfrm>
          <a:prstGeom prst="rect">
            <a:avLst/>
          </a:prstGeom>
          <a:noFill/>
          <a:ln/>
        </p:spPr>
        <p:txBody>
          <a:bodyPr wrap="square" lIns="0" tIns="0" rIns="0" bIns="0" rtlCol="0" anchor="t"/>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Age-standardised incidence per 100,000 women</a:t>
            </a:r>
            <a:endParaRPr lang="en-GB" sz="1800" noProof="0" dirty="0"/>
          </a:p>
        </p:txBody>
      </p:sp>
      <p:sp>
        <p:nvSpPr>
          <p:cNvPr id="15" name="Text 13"/>
          <p:cNvSpPr txBox="1"/>
          <p:nvPr/>
        </p:nvSpPr>
        <p:spPr>
          <a:xfrm>
            <a:off x="566928" y="4023360"/>
            <a:ext cx="11055096" cy="548640"/>
          </a:xfrm>
          <a:prstGeom prst="rect">
            <a:avLst/>
          </a:prstGeom>
          <a:noFill/>
          <a:ln/>
        </p:spPr>
        <p:txBody>
          <a:bodyPr wrap="square" lIns="0" tIns="0" rIns="0" bIns="0" rtlCol="0" anchor="t"/>
          <a:lstStyle/>
          <a:p>
            <a:pPr marL="0" indent="0">
              <a:buNone/>
            </a:pPr>
            <a:r>
              <a:rPr lang="en-GB" sz="1400" noProof="0" dirty="0">
                <a:solidFill>
                  <a:srgbClr val="6A727F"/>
                </a:solidFill>
                <a:latin typeface="Calibri" pitchFamily="34" charset="0"/>
                <a:ea typeface="Calibri" pitchFamily="34" charset="-122"/>
                <a:cs typeface="Calibri" pitchFamily="34" charset="-120"/>
              </a:rPr>
              <a:t>Population: Rwanda, women, all ages.  Year: 2024 estimates.  Measure: cases, deaths and age-standardised incidence rate.  Source: IARC Global Cancer Observatory, GLOBOCAN 2024. These are modelled estimates, not registry-confirmed counts.</a:t>
            </a:r>
            <a:endParaRPr lang="en-GB" sz="1400" noProof="0" dirty="0"/>
          </a:p>
        </p:txBody>
      </p:sp>
      <p:sp>
        <p:nvSpPr>
          <p:cNvPr id="16" name="Shape 14"/>
          <p:cNvSpPr/>
          <p:nvPr/>
        </p:nvSpPr>
        <p:spPr>
          <a:xfrm>
            <a:off x="566928" y="4709160"/>
            <a:ext cx="11055096" cy="786384"/>
          </a:xfrm>
          <a:prstGeom prst="roundRect">
            <a:avLst>
              <a:gd name="adj" fmla="val 8140"/>
            </a:avLst>
          </a:prstGeom>
          <a:solidFill>
            <a:srgbClr val="FFF2DF"/>
          </a:solidFill>
          <a:ln w="12700">
            <a:solidFill>
              <a:srgbClr val="E8DDC7"/>
            </a:solidFill>
            <a:prstDash val="solid"/>
          </a:ln>
        </p:spPr>
        <p:txBody>
          <a:bodyPr/>
          <a:lstStyle/>
          <a:p>
            <a:endParaRPr lang="en-GB" noProof="0" dirty="0"/>
          </a:p>
        </p:txBody>
      </p:sp>
      <p:sp>
        <p:nvSpPr>
          <p:cNvPr id="17" name="Text 15"/>
          <p:cNvSpPr txBox="1"/>
          <p:nvPr/>
        </p:nvSpPr>
        <p:spPr>
          <a:xfrm>
            <a:off x="841248" y="4764024"/>
            <a:ext cx="10506456" cy="676656"/>
          </a:xfrm>
          <a:prstGeom prst="rect">
            <a:avLst/>
          </a:prstGeom>
          <a:noFill/>
          <a:ln/>
        </p:spPr>
        <p:txBody>
          <a:bodyPr wrap="square" lIns="0" tIns="0" rIns="0" bIns="0" rtlCol="0" anchor="ctr"/>
          <a:lstStyle/>
          <a:p>
            <a:pPr marL="0" indent="0">
              <a:lnSpc>
                <a:spcPct val="104000"/>
              </a:lnSpc>
              <a:buNone/>
            </a:pPr>
            <a:r>
              <a:rPr lang="en-GB" sz="1800" b="1" noProof="0" dirty="0">
                <a:solidFill>
                  <a:srgbClr val="7B5727"/>
                </a:solidFill>
                <a:latin typeface="Calibri" pitchFamily="34" charset="0"/>
                <a:ea typeface="Calibri" pitchFamily="34" charset="-122"/>
                <a:cs typeface="Calibri" pitchFamily="34" charset="-120"/>
              </a:rPr>
              <a:t>🔎 What this shows:  </a:t>
            </a:r>
            <a:r>
              <a:rPr lang="en-GB" sz="1800" noProof="0" dirty="0">
                <a:solidFill>
                  <a:srgbClr val="23303F"/>
                </a:solidFill>
                <a:latin typeface="Calibri" pitchFamily="34" charset="0"/>
                <a:ea typeface="Calibri" pitchFamily="34" charset="-122"/>
                <a:cs typeface="Calibri" pitchFamily="34" charset="-120"/>
              </a:rPr>
              <a:t>More women in Rwanda die of cervical cancer than of any other cancer, and almost all of these cancers could have been prevented.</a:t>
            </a:r>
            <a:endParaRPr lang="en-GB" sz="1800" noProof="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49</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1 · EPIDEMIOLOGY</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What is projected ahead</a:t>
            </a:r>
            <a:endParaRPr lang="en-GB" sz="3200" noProof="0" dirty="0"/>
          </a:p>
        </p:txBody>
      </p:sp>
      <p:graphicFrame>
        <p:nvGraphicFramePr>
          <p:cNvPr id="6" name="Chart 0"/>
          <p:cNvGraphicFramePr/>
          <p:nvPr>
            <p:extLst>
              <p:ext uri="{D42A27DB-BD31-4B8C-83A1-F6EECF244321}">
                <p14:modId xmlns:p14="http://schemas.microsoft.com/office/powerpoint/2010/main" val="2831914835"/>
              </p:ext>
            </p:extLst>
          </p:nvPr>
        </p:nvGraphicFramePr>
        <p:xfrm>
          <a:off x="566928" y="1783080"/>
          <a:ext cx="594360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720840" y="1783080"/>
            <a:ext cx="4901184" cy="3749040"/>
          </a:xfrm>
          <a:prstGeom prst="roundRect">
            <a:avLst>
              <a:gd name="adj" fmla="val 2195"/>
            </a:avLst>
          </a:prstGeom>
          <a:solidFill>
            <a:srgbClr val="F3F6FB"/>
          </a:solidFill>
          <a:ln w="12700">
            <a:solidFill>
              <a:srgbClr val="E0E3EA"/>
            </a:solidFill>
            <a:prstDash val="solid"/>
          </a:ln>
        </p:spPr>
        <p:txBody>
          <a:bodyPr/>
          <a:lstStyle/>
          <a:p>
            <a:endParaRPr lang="en-GB" noProof="0" dirty="0"/>
          </a:p>
        </p:txBody>
      </p:sp>
      <p:sp>
        <p:nvSpPr>
          <p:cNvPr id="8" name="Text 5"/>
          <p:cNvSpPr txBox="1"/>
          <p:nvPr/>
        </p:nvSpPr>
        <p:spPr>
          <a:xfrm>
            <a:off x="6958584" y="1947672"/>
            <a:ext cx="4425696" cy="402336"/>
          </a:xfrm>
          <a:prstGeom prst="rect">
            <a:avLst/>
          </a:prstGeom>
          <a:noFill/>
          <a:ln/>
        </p:spPr>
        <p:txBody>
          <a:bodyPr wrap="square" lIns="0" tIns="0" rIns="0" bIns="0" rtlCol="0" anchor="ctr"/>
          <a:lstStyle/>
          <a:p>
            <a:pPr marL="0" indent="0">
              <a:buNone/>
            </a:pPr>
            <a:r>
              <a:rPr lang="en-GB" sz="1400" b="1" noProof="0" dirty="0">
                <a:solidFill>
                  <a:srgbClr val="31507B"/>
                </a:solidFill>
                <a:latin typeface="Calibri" pitchFamily="34" charset="0"/>
                <a:ea typeface="Calibri" pitchFamily="34" charset="-122"/>
                <a:cs typeface="Calibri" pitchFamily="34" charset="-120"/>
              </a:rPr>
              <a:t>Population: </a:t>
            </a:r>
            <a:r>
              <a:rPr lang="en-GB" sz="1400" noProof="0" dirty="0">
                <a:solidFill>
                  <a:srgbClr val="23303F"/>
                </a:solidFill>
                <a:latin typeface="Calibri" pitchFamily="34" charset="0"/>
                <a:ea typeface="Calibri" pitchFamily="34" charset="-122"/>
                <a:cs typeface="Calibri" pitchFamily="34" charset="-120"/>
              </a:rPr>
              <a:t>Rwanda, both sexes, all cancers</a:t>
            </a:r>
            <a:endParaRPr lang="en-GB" sz="1400" noProof="0" dirty="0"/>
          </a:p>
        </p:txBody>
      </p:sp>
      <p:sp>
        <p:nvSpPr>
          <p:cNvPr id="9" name="Text 6"/>
          <p:cNvSpPr txBox="1"/>
          <p:nvPr/>
        </p:nvSpPr>
        <p:spPr>
          <a:xfrm>
            <a:off x="6958584" y="2368296"/>
            <a:ext cx="4425696" cy="402336"/>
          </a:xfrm>
          <a:prstGeom prst="rect">
            <a:avLst/>
          </a:prstGeom>
          <a:noFill/>
          <a:ln/>
        </p:spPr>
        <p:txBody>
          <a:bodyPr wrap="square" lIns="0" tIns="0" rIns="0" bIns="0" rtlCol="0" anchor="ctr"/>
          <a:lstStyle/>
          <a:p>
            <a:pPr marL="0" indent="0">
              <a:buNone/>
            </a:pPr>
            <a:r>
              <a:rPr lang="en-GB" sz="1400" b="1" noProof="0" dirty="0">
                <a:solidFill>
                  <a:srgbClr val="31507B"/>
                </a:solidFill>
                <a:latin typeface="Calibri" pitchFamily="34" charset="0"/>
                <a:ea typeface="Calibri" pitchFamily="34" charset="-122"/>
                <a:cs typeface="Calibri" pitchFamily="34" charset="-120"/>
              </a:rPr>
              <a:t>Year: </a:t>
            </a:r>
            <a:r>
              <a:rPr lang="en-GB" sz="1400" noProof="0" dirty="0">
                <a:solidFill>
                  <a:srgbClr val="23303F"/>
                </a:solidFill>
                <a:latin typeface="Calibri" pitchFamily="34" charset="0"/>
                <a:ea typeface="Calibri" pitchFamily="34" charset="-122"/>
                <a:cs typeface="Calibri" pitchFamily="34" charset="-120"/>
              </a:rPr>
              <a:t>2022 estimate and 2050 projection</a:t>
            </a:r>
            <a:endParaRPr lang="en-GB" sz="1400" noProof="0" dirty="0"/>
          </a:p>
        </p:txBody>
      </p:sp>
      <p:sp>
        <p:nvSpPr>
          <p:cNvPr id="10" name="Text 7"/>
          <p:cNvSpPr txBox="1"/>
          <p:nvPr/>
        </p:nvSpPr>
        <p:spPr>
          <a:xfrm>
            <a:off x="6958584" y="2788920"/>
            <a:ext cx="4425696" cy="402336"/>
          </a:xfrm>
          <a:prstGeom prst="rect">
            <a:avLst/>
          </a:prstGeom>
          <a:noFill/>
          <a:ln/>
        </p:spPr>
        <p:txBody>
          <a:bodyPr wrap="square" lIns="0" tIns="0" rIns="0" bIns="0" rtlCol="0" anchor="ctr"/>
          <a:lstStyle/>
          <a:p>
            <a:pPr marL="0" indent="0">
              <a:buNone/>
            </a:pPr>
            <a:r>
              <a:rPr lang="en-GB" sz="1400" b="1" noProof="0" dirty="0">
                <a:solidFill>
                  <a:srgbClr val="31507B"/>
                </a:solidFill>
                <a:latin typeface="Calibri" pitchFamily="34" charset="0"/>
                <a:ea typeface="Calibri" pitchFamily="34" charset="-122"/>
                <a:cs typeface="Calibri" pitchFamily="34" charset="-120"/>
              </a:rPr>
              <a:t>Measure: </a:t>
            </a:r>
            <a:r>
              <a:rPr lang="en-GB" sz="1400" noProof="0" dirty="0">
                <a:solidFill>
                  <a:srgbClr val="23303F"/>
                </a:solidFill>
                <a:latin typeface="Calibri" pitchFamily="34" charset="0"/>
                <a:ea typeface="Calibri" pitchFamily="34" charset="-122"/>
                <a:cs typeface="Calibri" pitchFamily="34" charset="-120"/>
              </a:rPr>
              <a:t>Estimated and projected new cases a year</a:t>
            </a:r>
            <a:endParaRPr lang="en-GB" sz="1400" noProof="0" dirty="0"/>
          </a:p>
        </p:txBody>
      </p:sp>
      <p:sp>
        <p:nvSpPr>
          <p:cNvPr id="11" name="Text 8"/>
          <p:cNvSpPr txBox="1"/>
          <p:nvPr/>
        </p:nvSpPr>
        <p:spPr>
          <a:xfrm>
            <a:off x="6958584" y="3209544"/>
            <a:ext cx="4425696" cy="402336"/>
          </a:xfrm>
          <a:prstGeom prst="rect">
            <a:avLst/>
          </a:prstGeom>
          <a:noFill/>
          <a:ln/>
        </p:spPr>
        <p:txBody>
          <a:bodyPr wrap="square" lIns="0" tIns="0" rIns="0" bIns="0" rtlCol="0" anchor="ctr"/>
          <a:lstStyle/>
          <a:p>
            <a:pPr marL="0" indent="0">
              <a:buNone/>
            </a:pPr>
            <a:r>
              <a:rPr lang="en-GB" sz="1400" b="1" noProof="0" dirty="0">
                <a:solidFill>
                  <a:srgbClr val="31507B"/>
                </a:solidFill>
                <a:latin typeface="Calibri" pitchFamily="34" charset="0"/>
                <a:ea typeface="Calibri" pitchFamily="34" charset="-122"/>
                <a:cs typeface="Calibri" pitchFamily="34" charset="-120"/>
              </a:rPr>
              <a:t>Source: </a:t>
            </a:r>
            <a:r>
              <a:rPr lang="en-GB" sz="1400" noProof="0" dirty="0">
                <a:solidFill>
                  <a:srgbClr val="23303F"/>
                </a:solidFill>
                <a:latin typeface="Calibri" pitchFamily="34" charset="0"/>
                <a:ea typeface="Calibri" pitchFamily="34" charset="-122"/>
                <a:cs typeface="Calibri" pitchFamily="34" charset="-120"/>
              </a:rPr>
              <a:t>IARC Global Cancer Observatory, Cancer Tomorrow</a:t>
            </a:r>
            <a:endParaRPr lang="en-GB" sz="1400" noProof="0" dirty="0"/>
          </a:p>
        </p:txBody>
      </p:sp>
      <p:sp>
        <p:nvSpPr>
          <p:cNvPr id="12" name="Text 9"/>
          <p:cNvSpPr txBox="1"/>
          <p:nvPr/>
        </p:nvSpPr>
        <p:spPr>
          <a:xfrm>
            <a:off x="6958584" y="3721608"/>
            <a:ext cx="4425696" cy="1737360"/>
          </a:xfrm>
          <a:prstGeom prst="rect">
            <a:avLst/>
          </a:prstGeom>
          <a:noFill/>
          <a:ln/>
        </p:spPr>
        <p:txBody>
          <a:bodyPr wrap="square" lIns="0" tIns="0" rIns="0" bIns="0" rtlCol="0" anchor="t"/>
          <a:lstStyle/>
          <a:p>
            <a:pPr marL="0" indent="0">
              <a:lnSpc>
                <a:spcPct val="106000"/>
              </a:lnSpc>
              <a:buNone/>
            </a:pPr>
            <a:r>
              <a:rPr lang="en-GB" sz="1800" b="1" noProof="0" dirty="0">
                <a:solidFill>
                  <a:srgbClr val="10305A"/>
                </a:solidFill>
                <a:latin typeface="Calibri" pitchFamily="34" charset="0"/>
                <a:ea typeface="Calibri" pitchFamily="34" charset="-122"/>
                <a:cs typeface="Calibri" pitchFamily="34" charset="-120"/>
              </a:rPr>
              <a:t>What this shows: </a:t>
            </a:r>
            <a:r>
              <a:rPr lang="en-GB" sz="1800" noProof="0" dirty="0">
                <a:solidFill>
                  <a:srgbClr val="23303F"/>
                </a:solidFill>
                <a:latin typeface="Calibri" pitchFamily="34" charset="0"/>
                <a:ea typeface="Calibri" pitchFamily="34" charset="-122"/>
                <a:cs typeface="Calibri" pitchFamily="34" charset="-120"/>
              </a:rPr>
              <a:t>A projection describes what could happen if current patterns continue. It is not a guaranteed outcome. Cervical cancer is the one major cancer where prevention can change the projection directly.</a:t>
            </a:r>
            <a:endParaRPr lang="en-GB" sz="1800" noProof="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50</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1 · STAGING</a:t>
            </a:r>
            <a:endParaRPr lang="en-GB" sz="1200" noProof="0" dirty="0"/>
          </a:p>
        </p:txBody>
      </p:sp>
      <p:sp>
        <p:nvSpPr>
          <p:cNvPr id="5" name="Text 3"/>
          <p:cNvSpPr txBox="1"/>
          <p:nvPr/>
        </p:nvSpPr>
        <p:spPr>
          <a:xfrm>
            <a:off x="566928" y="383604"/>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FIGO staging of invasive cervical cancer</a:t>
            </a:r>
            <a:endParaRPr lang="en-GB" sz="3200" noProof="0" dirty="0"/>
          </a:p>
        </p:txBody>
      </p:sp>
      <p:sp>
        <p:nvSpPr>
          <p:cNvPr id="18" name="Shape 16"/>
          <p:cNvSpPr/>
          <p:nvPr/>
        </p:nvSpPr>
        <p:spPr>
          <a:xfrm>
            <a:off x="376922" y="5700156"/>
            <a:ext cx="11367773" cy="462900"/>
          </a:xfrm>
          <a:prstGeom prst="roundRect">
            <a:avLst>
              <a:gd name="adj" fmla="val 8140"/>
            </a:avLst>
          </a:prstGeom>
          <a:solidFill>
            <a:srgbClr val="ECF3FD"/>
          </a:solidFill>
          <a:ln w="12700">
            <a:solidFill>
              <a:srgbClr val="E0E3EA"/>
            </a:solidFill>
            <a:prstDash val="solid"/>
          </a:ln>
        </p:spPr>
        <p:txBody>
          <a:bodyPr/>
          <a:lstStyle/>
          <a:p>
            <a:endParaRPr lang="en-GB" noProof="0" dirty="0"/>
          </a:p>
        </p:txBody>
      </p:sp>
      <p:sp>
        <p:nvSpPr>
          <p:cNvPr id="19" name="Text 17"/>
          <p:cNvSpPr txBox="1"/>
          <p:nvPr/>
        </p:nvSpPr>
        <p:spPr>
          <a:xfrm>
            <a:off x="447305" y="5582412"/>
            <a:ext cx="11247832" cy="676656"/>
          </a:xfrm>
          <a:prstGeom prst="rect">
            <a:avLst/>
          </a:prstGeom>
          <a:noFill/>
          <a:ln/>
        </p:spPr>
        <p:txBody>
          <a:bodyPr wrap="square" lIns="0" tIns="0" rIns="0" bIns="0" rtlCol="0" anchor="ctr"/>
          <a:lstStyle/>
          <a:p>
            <a:pPr marL="0" indent="0">
              <a:lnSpc>
                <a:spcPct val="104000"/>
              </a:lnSpc>
              <a:buNone/>
            </a:pPr>
            <a:r>
              <a:rPr lang="en-GB" sz="1600" b="1" noProof="0" dirty="0">
                <a:solidFill>
                  <a:srgbClr val="10305A"/>
                </a:solidFill>
                <a:latin typeface="Calibri" pitchFamily="34" charset="0"/>
                <a:ea typeface="Calibri" pitchFamily="34" charset="-122"/>
                <a:cs typeface="Calibri" pitchFamily="34" charset="-120"/>
              </a:rPr>
              <a:t>📌 Your role:  </a:t>
            </a:r>
            <a:r>
              <a:rPr lang="en-GB" sz="1600" noProof="0" dirty="0">
                <a:solidFill>
                  <a:srgbClr val="23303F"/>
                </a:solidFill>
                <a:latin typeface="Calibri" pitchFamily="34" charset="0"/>
                <a:ea typeface="Calibri" pitchFamily="34" charset="-122"/>
                <a:cs typeface="Calibri" pitchFamily="34" charset="-120"/>
              </a:rPr>
              <a:t>You do not assign the stage. You use it to understand what the specialist team is planning and to explain it to the woman.</a:t>
            </a:r>
            <a:endParaRPr lang="en-GB" sz="1600" noProof="0" dirty="0"/>
          </a:p>
        </p:txBody>
      </p:sp>
      <p:pic>
        <p:nvPicPr>
          <p:cNvPr id="21" name="Imagen 20">
            <a:extLst>
              <a:ext uri="{FF2B5EF4-FFF2-40B4-BE49-F238E27FC236}">
                <a16:creationId xmlns:a16="http://schemas.microsoft.com/office/drawing/2014/main" id="{80006F51-2E3E-2C35-E4CA-C78EE4611401}"/>
              </a:ext>
            </a:extLst>
          </p:cNvPr>
          <p:cNvPicPr>
            <a:picLocks noChangeAspect="1"/>
          </p:cNvPicPr>
          <p:nvPr/>
        </p:nvPicPr>
        <p:blipFill>
          <a:blip r:embed="rId3"/>
          <a:srcRect t="10264" b="13523"/>
          <a:stretch>
            <a:fillRect/>
          </a:stretch>
        </p:blipFill>
        <p:spPr>
          <a:xfrm>
            <a:off x="1213698" y="1093213"/>
            <a:ext cx="8878155" cy="4510931"/>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C640B15-295E-3690-0F4D-0038A001108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72FF982-3461-FD2A-497F-8BE1EA8A0871}"/>
              </a:ext>
            </a:extLst>
          </p:cNvPr>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a:extLst>
              <a:ext uri="{FF2B5EF4-FFF2-40B4-BE49-F238E27FC236}">
                <a16:creationId xmlns:a16="http://schemas.microsoft.com/office/drawing/2014/main" id="{06C0581B-543B-8E19-C262-ECE2F3B0C604}"/>
              </a:ext>
            </a:extLst>
          </p:cNvPr>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51</a:t>
            </a:r>
            <a:endParaRPr lang="en-GB" sz="1100" noProof="0" dirty="0"/>
          </a:p>
        </p:txBody>
      </p:sp>
      <p:sp>
        <p:nvSpPr>
          <p:cNvPr id="4" name="Text 2">
            <a:extLst>
              <a:ext uri="{FF2B5EF4-FFF2-40B4-BE49-F238E27FC236}">
                <a16:creationId xmlns:a16="http://schemas.microsoft.com/office/drawing/2014/main" id="{29A308DE-B3CA-84DC-0C68-7CCF2E4F1DF1}"/>
              </a:ext>
            </a:extLst>
          </p:cNvPr>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1 · GRADING</a:t>
            </a:r>
            <a:endParaRPr lang="en-GB" sz="1200" noProof="0" dirty="0"/>
          </a:p>
        </p:txBody>
      </p:sp>
      <p:sp>
        <p:nvSpPr>
          <p:cNvPr id="5" name="Text 3">
            <a:extLst>
              <a:ext uri="{FF2B5EF4-FFF2-40B4-BE49-F238E27FC236}">
                <a16:creationId xmlns:a16="http://schemas.microsoft.com/office/drawing/2014/main" id="{0FFD89B2-AD72-96A3-AEEC-24A62869AA39}"/>
              </a:ext>
            </a:extLst>
          </p:cNvPr>
          <p:cNvSpPr txBox="1"/>
          <p:nvPr/>
        </p:nvSpPr>
        <p:spPr>
          <a:xfrm>
            <a:off x="576072" y="466344"/>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Grading of cervical cancer</a:t>
            </a:r>
            <a:endParaRPr lang="en-GB" sz="3200" noProof="0" dirty="0"/>
          </a:p>
        </p:txBody>
      </p:sp>
      <p:pic>
        <p:nvPicPr>
          <p:cNvPr id="6" name="Imagen 5">
            <a:extLst>
              <a:ext uri="{FF2B5EF4-FFF2-40B4-BE49-F238E27FC236}">
                <a16:creationId xmlns:a16="http://schemas.microsoft.com/office/drawing/2014/main" id="{8AA81B34-E591-95AC-C5F9-5F3337A1B8DC}"/>
              </a:ext>
            </a:extLst>
          </p:cNvPr>
          <p:cNvPicPr>
            <a:picLocks noChangeAspect="1"/>
          </p:cNvPicPr>
          <p:nvPr/>
        </p:nvPicPr>
        <p:blipFill>
          <a:blip r:embed="rId3"/>
          <a:srcRect t="7091" b="17353"/>
          <a:stretch>
            <a:fillRect/>
          </a:stretch>
        </p:blipFill>
        <p:spPr>
          <a:xfrm>
            <a:off x="688496" y="1335024"/>
            <a:ext cx="9780869" cy="4926662"/>
          </a:xfrm>
          <a:prstGeom prst="rect">
            <a:avLst/>
          </a:prstGeom>
        </p:spPr>
      </p:pic>
    </p:spTree>
    <p:extLst>
      <p:ext uri="{BB962C8B-B14F-4D97-AF65-F5344CB8AC3E}">
        <p14:creationId xmlns:p14="http://schemas.microsoft.com/office/powerpoint/2010/main" val="21119357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52</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1 · STAGING AND GRADING</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Stage and grade are different</a:t>
            </a:r>
            <a:endParaRPr lang="en-GB" sz="3200" noProof="0" dirty="0"/>
          </a:p>
        </p:txBody>
      </p:sp>
      <p:sp>
        <p:nvSpPr>
          <p:cNvPr id="6" name="Shape 4"/>
          <p:cNvSpPr/>
          <p:nvPr/>
        </p:nvSpPr>
        <p:spPr>
          <a:xfrm>
            <a:off x="566928" y="1384538"/>
            <a:ext cx="5436108" cy="4704028"/>
          </a:xfrm>
          <a:prstGeom prst="roundRect">
            <a:avLst>
              <a:gd name="adj" fmla="val 2093"/>
            </a:avLst>
          </a:prstGeom>
          <a:solidFill>
            <a:srgbClr val="ECF3FD"/>
          </a:solidFill>
          <a:ln w="12700">
            <a:solidFill>
              <a:srgbClr val="E0E3EA"/>
            </a:solidFill>
            <a:prstDash val="solid"/>
          </a:ln>
        </p:spPr>
        <p:txBody>
          <a:bodyPr/>
          <a:lstStyle/>
          <a:p>
            <a:endParaRPr lang="en-GB" noProof="0" dirty="0"/>
          </a:p>
        </p:txBody>
      </p:sp>
      <p:sp>
        <p:nvSpPr>
          <p:cNvPr id="7" name="Text 5"/>
          <p:cNvSpPr txBox="1"/>
          <p:nvPr/>
        </p:nvSpPr>
        <p:spPr>
          <a:xfrm>
            <a:off x="822960" y="1585706"/>
            <a:ext cx="4924044"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Stage</a:t>
            </a:r>
            <a:endParaRPr lang="en-GB" sz="2000" noProof="0" dirty="0"/>
          </a:p>
        </p:txBody>
      </p:sp>
      <p:sp>
        <p:nvSpPr>
          <p:cNvPr id="8" name="Text 6"/>
          <p:cNvSpPr txBox="1"/>
          <p:nvPr/>
        </p:nvSpPr>
        <p:spPr>
          <a:xfrm>
            <a:off x="877824" y="2225786"/>
            <a:ext cx="4869180" cy="2889504"/>
          </a:xfrm>
          <a:prstGeom prst="rect">
            <a:avLst/>
          </a:prstGeom>
          <a:noFill/>
          <a:ln/>
        </p:spPr>
        <p:txBody>
          <a:bodyPr wrap="square" lIns="0" tIns="0" rIns="0" bIns="0" rtlCol="0" anchor="t"/>
          <a:lstStyle/>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How far the cancer has spread.</a:t>
            </a:r>
            <a:endParaRPr lang="en-GB" sz="1800" noProof="0" dirty="0"/>
          </a:p>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Described using the FIGO system, from stage I to stage IV.</a:t>
            </a:r>
            <a:endParaRPr lang="en-GB" sz="1800" noProof="0" dirty="0"/>
          </a:p>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Based on examination, and on imaging and pathology where these are available.</a:t>
            </a:r>
            <a:endParaRPr lang="en-GB" sz="1800" noProof="0" dirty="0"/>
          </a:p>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Assigned by the specialist team.</a:t>
            </a:r>
            <a:endParaRPr lang="en-GB" sz="1800" noProof="0" dirty="0"/>
          </a:p>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It is the strongest predictor of outcome.</a:t>
            </a:r>
            <a:endParaRPr lang="en-GB" sz="1800" noProof="0" dirty="0"/>
          </a:p>
        </p:txBody>
      </p:sp>
      <p:sp>
        <p:nvSpPr>
          <p:cNvPr id="9" name="Shape 7"/>
          <p:cNvSpPr/>
          <p:nvPr/>
        </p:nvSpPr>
        <p:spPr>
          <a:xfrm>
            <a:off x="6185916" y="1384538"/>
            <a:ext cx="5436108" cy="4704028"/>
          </a:xfrm>
          <a:prstGeom prst="roundRect">
            <a:avLst>
              <a:gd name="adj" fmla="val 2093"/>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6441948" y="1585706"/>
            <a:ext cx="4924044"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Grade</a:t>
            </a:r>
            <a:endParaRPr lang="en-GB" sz="2000" noProof="0" dirty="0"/>
          </a:p>
        </p:txBody>
      </p:sp>
      <p:sp>
        <p:nvSpPr>
          <p:cNvPr id="11" name="Text 9"/>
          <p:cNvSpPr txBox="1"/>
          <p:nvPr/>
        </p:nvSpPr>
        <p:spPr>
          <a:xfrm>
            <a:off x="6496812" y="2225786"/>
            <a:ext cx="4869180" cy="2889504"/>
          </a:xfrm>
          <a:prstGeom prst="rect">
            <a:avLst/>
          </a:prstGeom>
          <a:noFill/>
          <a:ln/>
        </p:spPr>
        <p:txBody>
          <a:bodyPr wrap="square" lIns="0" tIns="0" rIns="0" bIns="0" rtlCol="0" anchor="t"/>
          <a:lstStyle/>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How abnormal the cancer cells look under the microscope.</a:t>
            </a:r>
            <a:endParaRPr lang="en-GB" sz="1800" noProof="0" dirty="0"/>
          </a:p>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Reported by the pathologist from the biopsy.</a:t>
            </a:r>
            <a:endParaRPr lang="en-GB" sz="1800" noProof="0" dirty="0"/>
          </a:p>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Describes appearance, not extent.</a:t>
            </a:r>
            <a:endParaRPr lang="en-GB" sz="1800" noProof="0" dirty="0"/>
          </a:p>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Do not confuse it with the grade of a precancerous lesion, which is not cancer at all.</a:t>
            </a:r>
            <a:endParaRPr lang="en-GB" sz="1800" noProof="0" dirty="0"/>
          </a:p>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It is one factor among several in planning treatment.</a:t>
            </a:r>
            <a:endParaRPr lang="en-GB" sz="1800" noProof="0" dirty="0"/>
          </a:p>
        </p:txBody>
      </p:sp>
      <p:pic>
        <p:nvPicPr>
          <p:cNvPr id="12" name="Imagen 11">
            <a:extLst>
              <a:ext uri="{FF2B5EF4-FFF2-40B4-BE49-F238E27FC236}">
                <a16:creationId xmlns:a16="http://schemas.microsoft.com/office/drawing/2014/main" id="{8FF32EF2-683C-DF6A-BEBE-86DA2CCBD31B}"/>
              </a:ext>
            </a:extLst>
          </p:cNvPr>
          <p:cNvPicPr>
            <a:picLocks noChangeAspect="1"/>
          </p:cNvPicPr>
          <p:nvPr/>
        </p:nvPicPr>
        <p:blipFill>
          <a:blip r:embed="rId3"/>
          <a:srcRect/>
          <a:stretch>
            <a:fillRect/>
          </a:stretch>
        </p:blipFill>
        <p:spPr>
          <a:xfrm>
            <a:off x="2511227" y="4498538"/>
            <a:ext cx="1547510" cy="1547510"/>
          </a:xfrm>
          <a:prstGeom prst="rect">
            <a:avLst/>
          </a:prstGeom>
        </p:spPr>
      </p:pic>
      <p:pic>
        <p:nvPicPr>
          <p:cNvPr id="13" name="Imagen 12">
            <a:extLst>
              <a:ext uri="{FF2B5EF4-FFF2-40B4-BE49-F238E27FC236}">
                <a16:creationId xmlns:a16="http://schemas.microsoft.com/office/drawing/2014/main" id="{8BCC3668-A6A2-16BD-05CE-661327C7169D}"/>
              </a:ext>
            </a:extLst>
          </p:cNvPr>
          <p:cNvPicPr>
            <a:picLocks noChangeAspect="1"/>
          </p:cNvPicPr>
          <p:nvPr/>
        </p:nvPicPr>
        <p:blipFill>
          <a:blip r:embed="rId4"/>
          <a:stretch>
            <a:fillRect/>
          </a:stretch>
        </p:blipFill>
        <p:spPr>
          <a:xfrm>
            <a:off x="8038000" y="4541493"/>
            <a:ext cx="1461601" cy="1461601"/>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53</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1 · KNOWLEDGE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Knowledge check: question 1 of 5</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Almost all cervical cancers are caused by:</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A bacterial infection of the cervix</a:t>
            </a:r>
            <a:endParaRPr lang="en-GB" sz="1800" noProof="0" dirty="0"/>
          </a:p>
        </p:txBody>
      </p:sp>
      <p:sp>
        <p:nvSpPr>
          <p:cNvPr id="9" name="Shape 7"/>
          <p:cNvSpPr/>
          <p:nvPr/>
        </p:nvSpPr>
        <p:spPr>
          <a:xfrm>
            <a:off x="566928" y="2898648"/>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Persistent infection with a high-risk HPV type</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Repeated childbirth on its own</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An inherited gene fault</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B
Feedback: </a:t>
            </a:r>
            <a:r>
              <a:rPr lang="en-GB" sz="1800" noProof="0" dirty="0">
                <a:solidFill>
                  <a:srgbClr val="23303F"/>
                </a:solidFill>
                <a:latin typeface="Calibri" pitchFamily="34" charset="0"/>
                <a:ea typeface="Calibri" pitchFamily="34" charset="-122"/>
                <a:cs typeface="Calibri" pitchFamily="34" charset="-120"/>
              </a:rPr>
              <a:t>Persistent high-risk HPV infection is the central cause. Other factors influence whether an infection persists and whether changes progress, but they do not cause cervical cancer on their own.</a:t>
            </a:r>
            <a:endParaRPr lang="en-GB" sz="1800" noProof="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54</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1 · KNOWLEDGE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Knowledge check: question 2 of 5</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Almost all cervical cancers begin in which part of the cervix?</a:t>
            </a:r>
            <a:endParaRPr lang="en-GB" sz="2000" noProof="0" dirty="0"/>
          </a:p>
        </p:txBody>
      </p:sp>
      <p:sp>
        <p:nvSpPr>
          <p:cNvPr id="9" name="Shape 7"/>
          <p:cNvSpPr/>
          <p:nvPr/>
        </p:nvSpPr>
        <p:spPr>
          <a:xfrm>
            <a:off x="566928" y="2322576"/>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The transformation zone</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7" name="Shape 5"/>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The endometrial cavity</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The uterine fundus</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The vaginal fornix</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A
Feedback: </a:t>
            </a:r>
            <a:r>
              <a:rPr lang="en-GB" sz="1800" noProof="0" dirty="0">
                <a:solidFill>
                  <a:srgbClr val="23303F"/>
                </a:solidFill>
                <a:latin typeface="Calibri" pitchFamily="34" charset="0"/>
                <a:ea typeface="Calibri" pitchFamily="34" charset="-122"/>
                <a:cs typeface="Calibri" pitchFamily="34" charset="-120"/>
              </a:rPr>
              <a:t>The transformation zone is where columnar cells are being replaced by squamous cells. These actively changing cells are the ones affected by HPV, which is why almost all cervical cancers begin here.</a:t>
            </a:r>
            <a:endParaRPr lang="en-GB" sz="1800" noProof="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55</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1 · KNOWLEDGE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Knowledge check: question 3 of 5</a:t>
            </a:r>
            <a:endParaRPr lang="en-GB" sz="3200" noProof="0" dirty="0"/>
          </a:p>
        </p:txBody>
      </p:sp>
      <p:sp>
        <p:nvSpPr>
          <p:cNvPr id="6" name="Text 4"/>
          <p:cNvSpPr txBox="1"/>
          <p:nvPr/>
        </p:nvSpPr>
        <p:spPr>
          <a:xfrm>
            <a:off x="566928" y="1591056"/>
            <a:ext cx="11055096" cy="768096"/>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A woman is told she has a high-grade cervical precancerous lesion. The accurate explanation is:</a:t>
            </a:r>
            <a:endParaRPr lang="en-GB" sz="2000" noProof="0" dirty="0"/>
          </a:p>
        </p:txBody>
      </p:sp>
      <p:sp>
        <p:nvSpPr>
          <p:cNvPr id="9" name="Shape 7"/>
          <p:cNvSpPr/>
          <p:nvPr/>
        </p:nvSpPr>
        <p:spPr>
          <a:xfrm>
            <a:off x="566928" y="2432304"/>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2432304"/>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She has abnormal surface cells that are not cancer, and treating them prevents cancer</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7" name="Shape 5"/>
          <p:cNvSpPr/>
          <p:nvPr/>
        </p:nvSpPr>
        <p:spPr>
          <a:xfrm>
            <a:off x="566928" y="30083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30083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She has cervical cancer</a:t>
            </a:r>
            <a:endParaRPr lang="en-GB" sz="1800" noProof="0" dirty="0"/>
          </a:p>
        </p:txBody>
      </p:sp>
      <p:sp>
        <p:nvSpPr>
          <p:cNvPr id="11" name="Shape 9"/>
          <p:cNvSpPr/>
          <p:nvPr/>
        </p:nvSpPr>
        <p:spPr>
          <a:xfrm>
            <a:off x="566928" y="35844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5844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Nothing needs to be done</a:t>
            </a:r>
            <a:endParaRPr lang="en-GB" sz="1800" noProof="0" dirty="0"/>
          </a:p>
        </p:txBody>
      </p:sp>
      <p:sp>
        <p:nvSpPr>
          <p:cNvPr id="13" name="Shape 11"/>
          <p:cNvSpPr/>
          <p:nvPr/>
        </p:nvSpPr>
        <p:spPr>
          <a:xfrm>
            <a:off x="566928" y="41605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1605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She caused this herself</a:t>
            </a:r>
            <a:endParaRPr lang="en-GB" sz="1800" noProof="0" dirty="0"/>
          </a:p>
        </p:txBody>
      </p:sp>
      <p:sp>
        <p:nvSpPr>
          <p:cNvPr id="15" name="Shape 13"/>
          <p:cNvSpPr/>
          <p:nvPr/>
        </p:nvSpPr>
        <p:spPr>
          <a:xfrm>
            <a:off x="566928" y="4828032"/>
            <a:ext cx="11055096" cy="1408176"/>
          </a:xfrm>
          <a:prstGeom prst="roundRect">
            <a:avLst>
              <a:gd name="adj" fmla="val 4545"/>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919472"/>
            <a:ext cx="10506456" cy="1225296"/>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A
Feedback: </a:t>
            </a:r>
            <a:r>
              <a:rPr lang="en-GB" sz="1800" noProof="0" dirty="0">
                <a:solidFill>
                  <a:srgbClr val="23303F"/>
                </a:solidFill>
                <a:latin typeface="Calibri" pitchFamily="34" charset="0"/>
                <a:ea typeface="Calibri" pitchFamily="34" charset="-122"/>
                <a:cs typeface="Calibri" pitchFamily="34" charset="-120"/>
              </a:rPr>
              <a:t>High-grade precancer means abnormal cells confined to the surface layer. It is not cancer and it cannot spread. Saying this plainly reduces fear and makes it far more likely that she returns for treatment.</a:t>
            </a:r>
            <a:endParaRPr lang="en-GB" sz="1800" noProof="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56</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1 · KNOWLEDGE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Knowledge check: question 4 of 5</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Stage and grade differ because:</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They mean the same thing</a:t>
            </a:r>
            <a:endParaRPr lang="en-GB" sz="1800" noProof="0" dirty="0"/>
          </a:p>
        </p:txBody>
      </p:sp>
      <p:sp>
        <p:nvSpPr>
          <p:cNvPr id="11" name="Shape 9"/>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Grade is how far the cancer has spread</a:t>
            </a:r>
            <a:endParaRPr lang="en-GB" sz="1800" noProof="0" dirty="0"/>
          </a:p>
        </p:txBody>
      </p:sp>
      <p:sp>
        <p:nvSpPr>
          <p:cNvPr id="9" name="Shape 7"/>
          <p:cNvSpPr/>
          <p:nvPr/>
        </p:nvSpPr>
        <p:spPr>
          <a:xfrm>
            <a:off x="566928" y="3474720"/>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Stage is how far the cancer has spread and grade is how abnormal the cells look</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Stage is tumour size only</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C
Feedback: </a:t>
            </a:r>
            <a:r>
              <a:rPr lang="en-GB" sz="1800" noProof="0" dirty="0">
                <a:solidFill>
                  <a:srgbClr val="23303F"/>
                </a:solidFill>
                <a:latin typeface="Calibri" pitchFamily="34" charset="0"/>
                <a:ea typeface="Calibri" pitchFamily="34" charset="-122"/>
                <a:cs typeface="Calibri" pitchFamily="34" charset="-120"/>
              </a:rPr>
              <a:t>Stage describes extent of disease and is assigned by the specialist team using the FIGO system. Grade describes microscopic appearance and is reported by the pathologist.</a:t>
            </a:r>
            <a:endParaRPr lang="en-GB" sz="1800" noProof="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57</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1 · KNOWLEDGE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Knowledge check: question 5 of 5</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Which statement about HPV infection is accurate?</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Every HPV infection leads to cervical cancer</a:t>
            </a:r>
            <a:endParaRPr lang="en-GB" sz="1800" noProof="0" dirty="0"/>
          </a:p>
        </p:txBody>
      </p:sp>
      <p:sp>
        <p:nvSpPr>
          <p:cNvPr id="9" name="Shape 7"/>
          <p:cNvSpPr/>
          <p:nvPr/>
        </p:nvSpPr>
        <p:spPr>
          <a:xfrm>
            <a:off x="566928" y="2898648"/>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Most HPV infections clear without causing cancer</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HPV infection proves recent sexual exposure</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HPV infection always causes symptoms</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B
Feedback: </a:t>
            </a:r>
            <a:r>
              <a:rPr lang="en-GB" sz="1800" noProof="0" dirty="0">
                <a:solidFill>
                  <a:srgbClr val="23303F"/>
                </a:solidFill>
                <a:latin typeface="Calibri" pitchFamily="34" charset="0"/>
                <a:ea typeface="Calibri" pitchFamily="34" charset="-122"/>
                <a:cs typeface="Calibri" pitchFamily="34" charset="-120"/>
              </a:rPr>
              <a:t>Most infections clear within one to two years. Only persistent high-risk infection carries real risk, and progression is uncommon and slow. HPV can persist silently for years, so a result says nothing about when infection was acquired.</a:t>
            </a:r>
            <a:endParaRPr lang="en-GB" sz="1800" noProof="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58</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1</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Reflection</a:t>
            </a:r>
            <a:endParaRPr lang="en-GB" sz="3200" noProof="0" dirty="0"/>
          </a:p>
        </p:txBody>
      </p:sp>
      <p:sp>
        <p:nvSpPr>
          <p:cNvPr id="6" name="Text 4"/>
          <p:cNvSpPr txBox="1"/>
          <p:nvPr/>
        </p:nvSpPr>
        <p:spPr>
          <a:xfrm>
            <a:off x="576072" y="1408853"/>
            <a:ext cx="11055096" cy="384048"/>
          </a:xfrm>
          <a:prstGeom prst="rect">
            <a:avLst/>
          </a:prstGeom>
          <a:noFill/>
          <a:ln/>
        </p:spPr>
        <p:txBody>
          <a:bodyPr wrap="square" lIns="0" tIns="0" rIns="0" bIns="0" rtlCol="0" anchor="ctr"/>
          <a:lstStyle/>
          <a:p>
            <a:pPr marL="0" indent="0">
              <a:buNone/>
            </a:pPr>
            <a:r>
              <a:rPr lang="en-GB" sz="1800" i="1" noProof="0" dirty="0">
                <a:solidFill>
                  <a:srgbClr val="31507B"/>
                </a:solidFill>
                <a:latin typeface="Calibri" pitchFamily="34" charset="0"/>
                <a:ea typeface="Calibri" pitchFamily="34" charset="-122"/>
                <a:cs typeface="Calibri" pitchFamily="34" charset="-120"/>
              </a:rPr>
              <a:t>Learner instruction: Enter your response in the text box. These responses are not scored.</a:t>
            </a:r>
            <a:endParaRPr lang="en-GB" sz="1800" noProof="0" dirty="0"/>
          </a:p>
        </p:txBody>
      </p:sp>
      <p:sp>
        <p:nvSpPr>
          <p:cNvPr id="7" name="Shape 5"/>
          <p:cNvSpPr/>
          <p:nvPr/>
        </p:nvSpPr>
        <p:spPr>
          <a:xfrm>
            <a:off x="576072" y="1920917"/>
            <a:ext cx="11055096" cy="1255776"/>
          </a:xfrm>
          <a:prstGeom prst="roundRect">
            <a:avLst>
              <a:gd name="adj" fmla="val 5097"/>
            </a:avLst>
          </a:prstGeom>
          <a:solidFill>
            <a:srgbClr val="F3F6FB"/>
          </a:solidFill>
          <a:ln w="12700">
            <a:solidFill>
              <a:srgbClr val="E0E3EA"/>
            </a:solidFill>
            <a:prstDash val="solid"/>
          </a:ln>
        </p:spPr>
        <p:txBody>
          <a:bodyPr/>
          <a:lstStyle/>
          <a:p>
            <a:endParaRPr lang="en-GB" noProof="0" dirty="0"/>
          </a:p>
        </p:txBody>
      </p:sp>
      <p:sp>
        <p:nvSpPr>
          <p:cNvPr id="8" name="Shape 6"/>
          <p:cNvSpPr/>
          <p:nvPr/>
        </p:nvSpPr>
        <p:spPr>
          <a:xfrm>
            <a:off x="850392" y="2320205"/>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9" name="Text 7"/>
          <p:cNvSpPr txBox="1"/>
          <p:nvPr/>
        </p:nvSpPr>
        <p:spPr>
          <a:xfrm>
            <a:off x="850392" y="2320205"/>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mbria" pitchFamily="34" charset="0"/>
                <a:ea typeface="Cambria" pitchFamily="34" charset="-122"/>
                <a:cs typeface="Cambria" pitchFamily="34" charset="-120"/>
              </a:rPr>
              <a:t>1</a:t>
            </a:r>
            <a:endParaRPr lang="en-GB" sz="1500" noProof="0" dirty="0"/>
          </a:p>
        </p:txBody>
      </p:sp>
      <p:sp>
        <p:nvSpPr>
          <p:cNvPr id="10" name="Text 8"/>
          <p:cNvSpPr txBox="1"/>
          <p:nvPr/>
        </p:nvSpPr>
        <p:spPr>
          <a:xfrm>
            <a:off x="1527048" y="1994069"/>
            <a:ext cx="9811512" cy="1109472"/>
          </a:xfrm>
          <a:prstGeom prst="rect">
            <a:avLst/>
          </a:prstGeom>
          <a:noFill/>
          <a:ln/>
        </p:spPr>
        <p:txBody>
          <a:bodyPr wrap="square" lIns="0" tIns="0" rIns="0" bIns="0" rtlCol="0" anchor="ctr"/>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How would you explain the relationship between HPV infection and cervical cancer to a woman, without increasing stigma?</a:t>
            </a:r>
            <a:endParaRPr lang="en-GB" sz="1800" noProof="0" dirty="0"/>
          </a:p>
        </p:txBody>
      </p:sp>
      <p:sp>
        <p:nvSpPr>
          <p:cNvPr id="11" name="Shape 9"/>
          <p:cNvSpPr/>
          <p:nvPr/>
        </p:nvSpPr>
        <p:spPr>
          <a:xfrm>
            <a:off x="576072" y="3322997"/>
            <a:ext cx="11055096" cy="1255776"/>
          </a:xfrm>
          <a:prstGeom prst="roundRect">
            <a:avLst>
              <a:gd name="adj" fmla="val 5097"/>
            </a:avLst>
          </a:prstGeom>
          <a:solidFill>
            <a:srgbClr val="F3F6FB"/>
          </a:solidFill>
          <a:ln w="12700">
            <a:solidFill>
              <a:srgbClr val="E0E3EA"/>
            </a:solidFill>
            <a:prstDash val="solid"/>
          </a:ln>
        </p:spPr>
        <p:txBody>
          <a:bodyPr/>
          <a:lstStyle/>
          <a:p>
            <a:endParaRPr lang="en-GB" noProof="0" dirty="0"/>
          </a:p>
        </p:txBody>
      </p:sp>
      <p:sp>
        <p:nvSpPr>
          <p:cNvPr id="12" name="Shape 10"/>
          <p:cNvSpPr/>
          <p:nvPr/>
        </p:nvSpPr>
        <p:spPr>
          <a:xfrm>
            <a:off x="850392" y="3722285"/>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13" name="Text 11"/>
          <p:cNvSpPr txBox="1"/>
          <p:nvPr/>
        </p:nvSpPr>
        <p:spPr>
          <a:xfrm>
            <a:off x="850392" y="3722285"/>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mbria" pitchFamily="34" charset="0"/>
                <a:ea typeface="Cambria" pitchFamily="34" charset="-122"/>
                <a:cs typeface="Cambria" pitchFamily="34" charset="-120"/>
              </a:rPr>
              <a:t>2</a:t>
            </a:r>
            <a:endParaRPr lang="en-GB" sz="1500" noProof="0" dirty="0"/>
          </a:p>
        </p:txBody>
      </p:sp>
      <p:sp>
        <p:nvSpPr>
          <p:cNvPr id="14" name="Text 12"/>
          <p:cNvSpPr txBox="1"/>
          <p:nvPr/>
        </p:nvSpPr>
        <p:spPr>
          <a:xfrm>
            <a:off x="1527048" y="3396149"/>
            <a:ext cx="9811512" cy="1109472"/>
          </a:xfrm>
          <a:prstGeom prst="rect">
            <a:avLst/>
          </a:prstGeom>
          <a:noFill/>
          <a:ln/>
        </p:spPr>
        <p:txBody>
          <a:bodyPr wrap="square" lIns="0" tIns="0" rIns="0" bIns="0" rtlCol="0" anchor="ctr"/>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How would you explain to a woman that a high-grade precancerous lesion is not a cancer, and that treating it now prevents one?</a:t>
            </a:r>
            <a:endParaRPr lang="en-GB" sz="1800" noProof="0" dirty="0"/>
          </a:p>
        </p:txBody>
      </p:sp>
      <p:sp>
        <p:nvSpPr>
          <p:cNvPr id="15" name="Shape 13"/>
          <p:cNvSpPr/>
          <p:nvPr/>
        </p:nvSpPr>
        <p:spPr>
          <a:xfrm>
            <a:off x="576072" y="4725077"/>
            <a:ext cx="11055096" cy="1255776"/>
          </a:xfrm>
          <a:prstGeom prst="roundRect">
            <a:avLst>
              <a:gd name="adj" fmla="val 5097"/>
            </a:avLst>
          </a:prstGeom>
          <a:solidFill>
            <a:srgbClr val="F3F6FB"/>
          </a:solidFill>
          <a:ln w="12700">
            <a:solidFill>
              <a:srgbClr val="E0E3EA"/>
            </a:solidFill>
            <a:prstDash val="solid"/>
          </a:ln>
        </p:spPr>
        <p:txBody>
          <a:bodyPr/>
          <a:lstStyle/>
          <a:p>
            <a:endParaRPr lang="en-GB" noProof="0" dirty="0"/>
          </a:p>
        </p:txBody>
      </p:sp>
      <p:sp>
        <p:nvSpPr>
          <p:cNvPr id="16" name="Shape 14"/>
          <p:cNvSpPr/>
          <p:nvPr/>
        </p:nvSpPr>
        <p:spPr>
          <a:xfrm>
            <a:off x="850392" y="5124365"/>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17" name="Text 15"/>
          <p:cNvSpPr txBox="1"/>
          <p:nvPr/>
        </p:nvSpPr>
        <p:spPr>
          <a:xfrm>
            <a:off x="850392" y="5124365"/>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mbria" pitchFamily="34" charset="0"/>
                <a:ea typeface="Cambria" pitchFamily="34" charset="-122"/>
                <a:cs typeface="Cambria" pitchFamily="34" charset="-120"/>
              </a:rPr>
              <a:t>3</a:t>
            </a:r>
            <a:endParaRPr lang="en-GB" sz="1500" noProof="0" dirty="0"/>
          </a:p>
        </p:txBody>
      </p:sp>
      <p:sp>
        <p:nvSpPr>
          <p:cNvPr id="18" name="Text 16"/>
          <p:cNvSpPr txBox="1"/>
          <p:nvPr/>
        </p:nvSpPr>
        <p:spPr>
          <a:xfrm>
            <a:off x="1527048" y="4798229"/>
            <a:ext cx="9811512" cy="1109472"/>
          </a:xfrm>
          <a:prstGeom prst="rect">
            <a:avLst/>
          </a:prstGeom>
          <a:noFill/>
          <a:ln/>
        </p:spPr>
        <p:txBody>
          <a:bodyPr wrap="square" lIns="0" tIns="0" rIns="0" bIns="0" rtlCol="0" anchor="ctr"/>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Which single fact about the burden of cervical cancer in Rwanda would you most want a community member to understand, and why?</a:t>
            </a:r>
            <a:endParaRPr lang="en-GB" sz="1800" noProof="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3">
    <p:bg>
      <p:bgPr>
        <a:solidFill>
          <a:srgbClr val="0E2F5C"/>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8FA3C2"/>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8FA3C2"/>
                </a:solidFill>
                <a:latin typeface="Calibri" pitchFamily="34" charset="0"/>
                <a:ea typeface="Calibri" pitchFamily="34" charset="-122"/>
                <a:cs typeface="Calibri" pitchFamily="34" charset="-120"/>
              </a:rPr>
              <a:t>Screen 59</a:t>
            </a:r>
            <a:endParaRPr lang="en-GB" sz="1100" noProof="0" dirty="0"/>
          </a:p>
        </p:txBody>
      </p:sp>
      <p:sp>
        <p:nvSpPr>
          <p:cNvPr id="4" name="Text 2"/>
          <p:cNvSpPr txBox="1"/>
          <p:nvPr/>
        </p:nvSpPr>
        <p:spPr>
          <a:xfrm>
            <a:off x="7680960" y="365760"/>
            <a:ext cx="4023360" cy="5852160"/>
          </a:xfrm>
          <a:prstGeom prst="rect">
            <a:avLst/>
          </a:prstGeom>
          <a:noFill/>
          <a:ln/>
        </p:spPr>
        <p:txBody>
          <a:bodyPr wrap="square" lIns="0" tIns="0" rIns="0" bIns="0" rtlCol="0" anchor="ctr"/>
          <a:lstStyle/>
          <a:p>
            <a:pPr marL="0" indent="0" algn="r">
              <a:buNone/>
            </a:pPr>
            <a:r>
              <a:rPr lang="en-GB" sz="30000" b="1" noProof="0" dirty="0">
                <a:solidFill>
                  <a:srgbClr val="16406F"/>
                </a:solidFill>
                <a:latin typeface="Cambria" pitchFamily="34" charset="0"/>
                <a:ea typeface="Cambria" pitchFamily="34" charset="-122"/>
                <a:cs typeface="Cambria" pitchFamily="34" charset="-120"/>
              </a:rPr>
              <a:t>2</a:t>
            </a:r>
            <a:endParaRPr lang="en-GB" sz="30000" noProof="0" dirty="0"/>
          </a:p>
        </p:txBody>
      </p:sp>
      <p:sp>
        <p:nvSpPr>
          <p:cNvPr id="5" name="Text 3"/>
          <p:cNvSpPr txBox="1"/>
          <p:nvPr/>
        </p:nvSpPr>
        <p:spPr>
          <a:xfrm>
            <a:off x="566928" y="1874520"/>
            <a:ext cx="7315200" cy="329184"/>
          </a:xfrm>
          <a:prstGeom prst="rect">
            <a:avLst/>
          </a:prstGeom>
          <a:noFill/>
          <a:ln/>
        </p:spPr>
        <p:txBody>
          <a:bodyPr wrap="square" lIns="0" tIns="0" rIns="0" bIns="0" rtlCol="0" anchor="ctr"/>
          <a:lstStyle/>
          <a:p>
            <a:pPr marL="0" indent="0">
              <a:buNone/>
            </a:pPr>
            <a:r>
              <a:rPr lang="en-GB" sz="1300" b="1" kern="0" spc="300" noProof="0" dirty="0">
                <a:solidFill>
                  <a:srgbClr val="9FB8DA"/>
                </a:solidFill>
                <a:latin typeface="Calibri" pitchFamily="34" charset="0"/>
                <a:ea typeface="Calibri" pitchFamily="34" charset="-122"/>
                <a:cs typeface="Calibri" pitchFamily="34" charset="-120"/>
              </a:rPr>
              <a:t>S E S S I O N   2</a:t>
            </a:r>
            <a:endParaRPr lang="en-GB" sz="1300" noProof="0" dirty="0"/>
          </a:p>
        </p:txBody>
      </p:sp>
      <p:sp>
        <p:nvSpPr>
          <p:cNvPr id="6" name="Text 4"/>
          <p:cNvSpPr txBox="1"/>
          <p:nvPr/>
        </p:nvSpPr>
        <p:spPr>
          <a:xfrm>
            <a:off x="566928" y="2286000"/>
            <a:ext cx="7680960" cy="1371600"/>
          </a:xfrm>
          <a:prstGeom prst="rect">
            <a:avLst/>
          </a:prstGeom>
          <a:noFill/>
          <a:ln/>
        </p:spPr>
        <p:txBody>
          <a:bodyPr wrap="square" lIns="0" tIns="0" rIns="0" bIns="0" rtlCol="0" anchor="ctr"/>
          <a:lstStyle/>
          <a:p>
            <a:pPr marL="0" indent="0">
              <a:buNone/>
            </a:pPr>
            <a:r>
              <a:rPr lang="en-GB" sz="4000" b="1" noProof="0" dirty="0">
                <a:solidFill>
                  <a:srgbClr val="FFFFFF"/>
                </a:solidFill>
                <a:latin typeface="Cambria" pitchFamily="34" charset="0"/>
                <a:ea typeface="Cambria" pitchFamily="34" charset="-122"/>
                <a:cs typeface="Cambria" pitchFamily="34" charset="-120"/>
              </a:rPr>
              <a:t>Screening and prevention</a:t>
            </a:r>
            <a:endParaRPr lang="en-GB" sz="4000" noProof="0" dirty="0"/>
          </a:p>
        </p:txBody>
      </p:sp>
      <p:sp>
        <p:nvSpPr>
          <p:cNvPr id="7" name="Text 5"/>
          <p:cNvSpPr txBox="1"/>
          <p:nvPr/>
        </p:nvSpPr>
        <p:spPr>
          <a:xfrm>
            <a:off x="566928" y="3794760"/>
            <a:ext cx="7040880" cy="1463040"/>
          </a:xfrm>
          <a:prstGeom prst="rect">
            <a:avLst/>
          </a:prstGeom>
          <a:noFill/>
          <a:ln/>
        </p:spPr>
        <p:txBody>
          <a:bodyPr wrap="square" lIns="0" tIns="0" rIns="0" bIns="0" rtlCol="0" anchor="t"/>
          <a:lstStyle/>
          <a:p>
            <a:pPr marL="0" indent="0">
              <a:lnSpc>
                <a:spcPct val="118000"/>
              </a:lnSpc>
              <a:buNone/>
            </a:pPr>
            <a:r>
              <a:rPr lang="en-GB" sz="1800" noProof="0" dirty="0">
                <a:solidFill>
                  <a:srgbClr val="C6D5EA"/>
                </a:solidFill>
                <a:latin typeface="Calibri" pitchFamily="34" charset="0"/>
                <a:ea typeface="Calibri" pitchFamily="34" charset="-122"/>
                <a:cs typeface="Calibri" pitchFamily="34" charset="-120"/>
              </a:rPr>
              <a:t>Follow Immaculée through a screening visit as you work through vaccination, risk, symptoms, the screening tests, what a result means, and how cervical precancer is treated.</a:t>
            </a:r>
            <a:endParaRPr lang="en-GB" sz="1800" noProof="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60</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Learning objectives</a:t>
            </a:r>
            <a:endParaRPr lang="en-GB" sz="3200" noProof="0" dirty="0"/>
          </a:p>
        </p:txBody>
      </p:sp>
      <p:sp>
        <p:nvSpPr>
          <p:cNvPr id="6" name="Text 4"/>
          <p:cNvSpPr txBox="1"/>
          <p:nvPr/>
        </p:nvSpPr>
        <p:spPr>
          <a:xfrm>
            <a:off x="566928" y="1554480"/>
            <a:ext cx="11055096" cy="384048"/>
          </a:xfrm>
          <a:prstGeom prst="rect">
            <a:avLst/>
          </a:prstGeom>
          <a:noFill/>
          <a:ln/>
        </p:spPr>
        <p:txBody>
          <a:bodyPr wrap="square" lIns="0" tIns="0" rIns="0" bIns="0" rtlCol="0" anchor="ctr"/>
          <a:lstStyle/>
          <a:p>
            <a:pPr marL="0" indent="0">
              <a:buNone/>
            </a:pPr>
            <a:r>
              <a:rPr lang="en-GB" sz="1800" noProof="0" dirty="0">
                <a:solidFill>
                  <a:srgbClr val="23303F"/>
                </a:solidFill>
                <a:latin typeface="Calibri" pitchFamily="34" charset="0"/>
                <a:ea typeface="Calibri" pitchFamily="34" charset="-122"/>
                <a:cs typeface="Calibri" pitchFamily="34" charset="-120"/>
              </a:rPr>
              <a:t>By the end of this session you will be able to:</a:t>
            </a:r>
            <a:endParaRPr lang="en-GB" sz="1800" noProof="0" dirty="0"/>
          </a:p>
        </p:txBody>
      </p:sp>
      <p:sp>
        <p:nvSpPr>
          <p:cNvPr id="7" name="Shape 5"/>
          <p:cNvSpPr/>
          <p:nvPr/>
        </p:nvSpPr>
        <p:spPr>
          <a:xfrm>
            <a:off x="566928" y="1975104"/>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8" name="Shape 6"/>
          <p:cNvSpPr/>
          <p:nvPr/>
        </p:nvSpPr>
        <p:spPr>
          <a:xfrm>
            <a:off x="804672" y="2069889"/>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9" name="Text 7"/>
          <p:cNvSpPr txBox="1"/>
          <p:nvPr/>
        </p:nvSpPr>
        <p:spPr>
          <a:xfrm>
            <a:off x="804672" y="2069889"/>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1</a:t>
            </a:r>
            <a:endParaRPr lang="en-GB" sz="1400" noProof="0" dirty="0"/>
          </a:p>
        </p:txBody>
      </p:sp>
      <p:sp>
        <p:nvSpPr>
          <p:cNvPr id="10" name="Text 8"/>
          <p:cNvSpPr txBox="1"/>
          <p:nvPr/>
        </p:nvSpPr>
        <p:spPr>
          <a:xfrm>
            <a:off x="1463040" y="2029968"/>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Distinguish screening of a well woman from assessment of a woman who has symptoms.</a:t>
            </a:r>
            <a:endParaRPr lang="en-GB" sz="1800" noProof="0" dirty="0"/>
          </a:p>
        </p:txBody>
      </p:sp>
      <p:sp>
        <p:nvSpPr>
          <p:cNvPr id="11" name="Shape 9"/>
          <p:cNvSpPr/>
          <p:nvPr/>
        </p:nvSpPr>
        <p:spPr>
          <a:xfrm>
            <a:off x="566928" y="2686998"/>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12" name="Shape 10"/>
          <p:cNvSpPr/>
          <p:nvPr/>
        </p:nvSpPr>
        <p:spPr>
          <a:xfrm>
            <a:off x="804672" y="2781783"/>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13" name="Text 11"/>
          <p:cNvSpPr txBox="1"/>
          <p:nvPr/>
        </p:nvSpPr>
        <p:spPr>
          <a:xfrm>
            <a:off x="804672" y="2781783"/>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2</a:t>
            </a:r>
            <a:endParaRPr lang="en-GB" sz="1400" noProof="0" dirty="0"/>
          </a:p>
        </p:txBody>
      </p:sp>
      <p:sp>
        <p:nvSpPr>
          <p:cNvPr id="14" name="Text 12"/>
          <p:cNvSpPr txBox="1"/>
          <p:nvPr/>
        </p:nvSpPr>
        <p:spPr>
          <a:xfrm>
            <a:off x="1463040" y="2741862"/>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Explain how HPV vaccination prevents cervical cancer and answer common concerns.</a:t>
            </a:r>
            <a:endParaRPr lang="en-GB" sz="1800" noProof="0" dirty="0"/>
          </a:p>
        </p:txBody>
      </p:sp>
      <p:sp>
        <p:nvSpPr>
          <p:cNvPr id="15" name="Shape 13"/>
          <p:cNvSpPr/>
          <p:nvPr/>
        </p:nvSpPr>
        <p:spPr>
          <a:xfrm>
            <a:off x="566928" y="3398892"/>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16" name="Shape 14"/>
          <p:cNvSpPr/>
          <p:nvPr/>
        </p:nvSpPr>
        <p:spPr>
          <a:xfrm>
            <a:off x="804672" y="3493677"/>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17" name="Text 15"/>
          <p:cNvSpPr txBox="1"/>
          <p:nvPr/>
        </p:nvSpPr>
        <p:spPr>
          <a:xfrm>
            <a:off x="804672" y="3493677"/>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3</a:t>
            </a:r>
            <a:endParaRPr lang="en-GB" sz="1400" noProof="0" dirty="0"/>
          </a:p>
        </p:txBody>
      </p:sp>
      <p:sp>
        <p:nvSpPr>
          <p:cNvPr id="18" name="Text 16"/>
          <p:cNvSpPr txBox="1"/>
          <p:nvPr/>
        </p:nvSpPr>
        <p:spPr>
          <a:xfrm>
            <a:off x="1463040" y="3453756"/>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Identify risk factors, symptoms and the red flags that need urgent assessment.</a:t>
            </a:r>
            <a:endParaRPr lang="en-GB" sz="1800" noProof="0" dirty="0"/>
          </a:p>
        </p:txBody>
      </p:sp>
      <p:sp>
        <p:nvSpPr>
          <p:cNvPr id="19" name="Shape 17"/>
          <p:cNvSpPr/>
          <p:nvPr/>
        </p:nvSpPr>
        <p:spPr>
          <a:xfrm>
            <a:off x="566928" y="4110786"/>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20" name="Shape 18"/>
          <p:cNvSpPr/>
          <p:nvPr/>
        </p:nvSpPr>
        <p:spPr>
          <a:xfrm>
            <a:off x="804672" y="4205571"/>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21" name="Text 19"/>
          <p:cNvSpPr txBox="1"/>
          <p:nvPr/>
        </p:nvSpPr>
        <p:spPr>
          <a:xfrm>
            <a:off x="804672" y="4205571"/>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4</a:t>
            </a:r>
            <a:endParaRPr lang="en-GB" sz="1400" noProof="0" dirty="0"/>
          </a:p>
        </p:txBody>
      </p:sp>
      <p:sp>
        <p:nvSpPr>
          <p:cNvPr id="22" name="Text 20"/>
          <p:cNvSpPr txBox="1"/>
          <p:nvPr/>
        </p:nvSpPr>
        <p:spPr>
          <a:xfrm>
            <a:off x="1463040" y="4165650"/>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Compare HPV testing, VIA and cytology, and describe how each is carried out.</a:t>
            </a:r>
            <a:endParaRPr lang="en-GB" sz="1800" noProof="0" dirty="0"/>
          </a:p>
        </p:txBody>
      </p:sp>
      <p:sp>
        <p:nvSpPr>
          <p:cNvPr id="23" name="Shape 21"/>
          <p:cNvSpPr/>
          <p:nvPr/>
        </p:nvSpPr>
        <p:spPr>
          <a:xfrm>
            <a:off x="566928" y="4822679"/>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24" name="Shape 22"/>
          <p:cNvSpPr/>
          <p:nvPr/>
        </p:nvSpPr>
        <p:spPr>
          <a:xfrm>
            <a:off x="804672" y="4917465"/>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25" name="Text 23"/>
          <p:cNvSpPr txBox="1"/>
          <p:nvPr/>
        </p:nvSpPr>
        <p:spPr>
          <a:xfrm>
            <a:off x="804672" y="4917465"/>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5</a:t>
            </a:r>
            <a:endParaRPr lang="en-GB" sz="1400" noProof="0" dirty="0"/>
          </a:p>
        </p:txBody>
      </p:sp>
      <p:sp>
        <p:nvSpPr>
          <p:cNvPr id="26" name="Text 24"/>
          <p:cNvSpPr txBox="1"/>
          <p:nvPr/>
        </p:nvSpPr>
        <p:spPr>
          <a:xfrm>
            <a:off x="1463040" y="4877543"/>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Interpret a screening result and state the correct next step.</a:t>
            </a:r>
            <a:endParaRPr lang="en-GB" sz="1800" noProof="0" dirty="0"/>
          </a:p>
        </p:txBody>
      </p:sp>
      <p:sp>
        <p:nvSpPr>
          <p:cNvPr id="27" name="Shape 25"/>
          <p:cNvSpPr/>
          <p:nvPr/>
        </p:nvSpPr>
        <p:spPr>
          <a:xfrm>
            <a:off x="566928" y="5534573"/>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28" name="Shape 26"/>
          <p:cNvSpPr/>
          <p:nvPr/>
        </p:nvSpPr>
        <p:spPr>
          <a:xfrm>
            <a:off x="804672" y="5629359"/>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29" name="Text 27"/>
          <p:cNvSpPr txBox="1"/>
          <p:nvPr/>
        </p:nvSpPr>
        <p:spPr>
          <a:xfrm>
            <a:off x="804672" y="5629359"/>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6</a:t>
            </a:r>
            <a:endParaRPr lang="en-GB" sz="1400" noProof="0" dirty="0"/>
          </a:p>
        </p:txBody>
      </p:sp>
      <p:sp>
        <p:nvSpPr>
          <p:cNvPr id="30" name="Text 28"/>
          <p:cNvSpPr txBox="1"/>
          <p:nvPr/>
        </p:nvSpPr>
        <p:spPr>
          <a:xfrm>
            <a:off x="1463040" y="5589437"/>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Manage an HPV-positive woman using the Rwanda algorithm, including treatment, referral and follow-up.</a:t>
            </a:r>
            <a:endParaRPr lang="en-GB" sz="1800" noProof="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61</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CLINICAL CASE</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Meet Immaculée</a:t>
            </a:r>
            <a:endParaRPr lang="en-GB" sz="3200" noProof="0" dirty="0"/>
          </a:p>
        </p:txBody>
      </p:sp>
      <p:sp>
        <p:nvSpPr>
          <p:cNvPr id="6" name="Shape 4"/>
          <p:cNvSpPr/>
          <p:nvPr/>
        </p:nvSpPr>
        <p:spPr>
          <a:xfrm>
            <a:off x="576072" y="1399032"/>
            <a:ext cx="11055096" cy="2432304"/>
          </a:xfrm>
          <a:prstGeom prst="roundRect">
            <a:avLst>
              <a:gd name="adj" fmla="val 2813"/>
            </a:avLst>
          </a:prstGeom>
          <a:solidFill>
            <a:srgbClr val="ECF3FD"/>
          </a:solidFill>
          <a:ln w="12700">
            <a:solidFill>
              <a:srgbClr val="E0E3EA"/>
            </a:solidFill>
            <a:prstDash val="solid"/>
          </a:ln>
        </p:spPr>
        <p:txBody>
          <a:bodyPr/>
          <a:lstStyle/>
          <a:p>
            <a:endParaRPr lang="en-GB" sz="1600" noProof="0" dirty="0"/>
          </a:p>
        </p:txBody>
      </p:sp>
      <p:sp>
        <p:nvSpPr>
          <p:cNvPr id="7" name="Text 5"/>
          <p:cNvSpPr txBox="1"/>
          <p:nvPr/>
        </p:nvSpPr>
        <p:spPr>
          <a:xfrm>
            <a:off x="850392" y="1508760"/>
            <a:ext cx="10506456" cy="420624"/>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 CLINICAL CASE VIDEO PLACEHOLDER</a:t>
            </a:r>
            <a:endParaRPr lang="en-GB" noProof="0" dirty="0"/>
          </a:p>
        </p:txBody>
      </p:sp>
      <p:sp>
        <p:nvSpPr>
          <p:cNvPr id="8" name="Text 6"/>
          <p:cNvSpPr txBox="1"/>
          <p:nvPr/>
        </p:nvSpPr>
        <p:spPr>
          <a:xfrm>
            <a:off x="850392" y="1984248"/>
            <a:ext cx="10506456" cy="1719072"/>
          </a:xfrm>
          <a:prstGeom prst="rect">
            <a:avLst/>
          </a:prstGeom>
          <a:noFill/>
          <a:ln/>
        </p:spPr>
        <p:txBody>
          <a:bodyPr wrap="square" lIns="0" tIns="0" rIns="0" bIns="0" rtlCol="0" anchor="t"/>
          <a:lstStyle/>
          <a:p>
            <a:pPr marL="0" indent="0">
              <a:lnSpc>
                <a:spcPct val="104000"/>
              </a:lnSpc>
              <a:spcAft>
                <a:spcPts val="700"/>
              </a:spcAft>
              <a:buNone/>
            </a:pPr>
            <a:r>
              <a:rPr lang="en-GB" sz="1600" b="1" noProof="0" dirty="0">
                <a:solidFill>
                  <a:srgbClr val="31507B"/>
                </a:solidFill>
                <a:latin typeface="Calibri" pitchFamily="34" charset="0"/>
                <a:ea typeface="Calibri" pitchFamily="34" charset="-122"/>
                <a:cs typeface="Calibri" pitchFamily="34" charset="-120"/>
              </a:rPr>
              <a:t>Video to produce: </a:t>
            </a:r>
            <a:r>
              <a:rPr lang="en-GB" sz="1600" noProof="0" dirty="0">
                <a:solidFill>
                  <a:srgbClr val="23303F"/>
                </a:solidFill>
                <a:latin typeface="Calibri" pitchFamily="34" charset="0"/>
                <a:ea typeface="Calibri" pitchFamily="34" charset="-122"/>
                <a:cs typeface="Calibri" pitchFamily="34" charset="-120"/>
              </a:rPr>
              <a:t>Two minute scene in a health centre consulting room. A woman in her late thirties arrives for a routine visit. A frontline HCP greets her, explains what cervical screening is, asks permission before examining, and describes what will happen. Calm, respectful, unhurried tone. Rwandan health centre setting.</a:t>
            </a:r>
            <a:endParaRPr lang="en-GB" sz="1600" noProof="0" dirty="0"/>
          </a:p>
          <a:p>
            <a:pPr marL="0" indent="0">
              <a:lnSpc>
                <a:spcPct val="104000"/>
              </a:lnSpc>
              <a:spcAft>
                <a:spcPts val="700"/>
              </a:spcAft>
              <a:buNone/>
            </a:pPr>
            <a:r>
              <a:rPr lang="en-GB" sz="1600" b="1" noProof="0" dirty="0">
                <a:solidFill>
                  <a:srgbClr val="31507B"/>
                </a:solidFill>
                <a:latin typeface="Calibri" pitchFamily="34" charset="0"/>
                <a:ea typeface="Calibri" pitchFamily="34" charset="-122"/>
                <a:cs typeface="Calibri" pitchFamily="34" charset="-120"/>
              </a:rPr>
              <a:t>Learning purpose: </a:t>
            </a:r>
            <a:r>
              <a:rPr lang="en-GB" sz="1600" noProof="0" dirty="0">
                <a:solidFill>
                  <a:srgbClr val="23303F"/>
                </a:solidFill>
                <a:latin typeface="Calibri" pitchFamily="34" charset="0"/>
                <a:ea typeface="Calibri" pitchFamily="34" charset="-122"/>
                <a:cs typeface="Calibri" pitchFamily="34" charset="-120"/>
              </a:rPr>
              <a:t>Learners see how screening is introduced to a woman who feels completely well, and how consent, privacy and plain explanation are handled before any examination.</a:t>
            </a:r>
            <a:endParaRPr lang="en-GB" sz="1600" noProof="0" dirty="0"/>
          </a:p>
          <a:p>
            <a:pPr marL="0" indent="0">
              <a:lnSpc>
                <a:spcPct val="104000"/>
              </a:lnSpc>
              <a:spcAft>
                <a:spcPts val="700"/>
              </a:spcAft>
              <a:buNone/>
            </a:pPr>
            <a:r>
              <a:rPr lang="en-GB" sz="1600" b="1" noProof="0" dirty="0">
                <a:solidFill>
                  <a:srgbClr val="31507B"/>
                </a:solidFill>
                <a:latin typeface="Calibri" pitchFamily="34" charset="0"/>
                <a:ea typeface="Calibri" pitchFamily="34" charset="-122"/>
                <a:cs typeface="Calibri" pitchFamily="34" charset="-120"/>
              </a:rPr>
              <a:t>Suggested placement: </a:t>
            </a:r>
            <a:r>
              <a:rPr lang="en-GB" sz="1600" noProof="0" dirty="0">
                <a:solidFill>
                  <a:srgbClr val="23303F"/>
                </a:solidFill>
                <a:latin typeface="Calibri" pitchFamily="34" charset="0"/>
                <a:ea typeface="Calibri" pitchFamily="34" charset="-122"/>
                <a:cs typeface="Calibri" pitchFamily="34" charset="-120"/>
              </a:rPr>
              <a:t>Full width, at the start of the Session 2 clinical case.</a:t>
            </a:r>
            <a:endParaRPr lang="en-GB" sz="1600" noProof="0" dirty="0"/>
          </a:p>
        </p:txBody>
      </p:sp>
      <p:sp>
        <p:nvSpPr>
          <p:cNvPr id="11" name="Shape 4">
            <a:extLst>
              <a:ext uri="{FF2B5EF4-FFF2-40B4-BE49-F238E27FC236}">
                <a16:creationId xmlns:a16="http://schemas.microsoft.com/office/drawing/2014/main" id="{9618BE2B-F08C-B3CB-5E19-19627056A0CA}"/>
              </a:ext>
            </a:extLst>
          </p:cNvPr>
          <p:cNvSpPr/>
          <p:nvPr/>
        </p:nvSpPr>
        <p:spPr>
          <a:xfrm>
            <a:off x="576072" y="3774438"/>
            <a:ext cx="11055096" cy="2926080"/>
          </a:xfrm>
          <a:prstGeom prst="roundRect">
            <a:avLst>
              <a:gd name="adj" fmla="val 2093"/>
            </a:avLst>
          </a:prstGeom>
          <a:solidFill>
            <a:srgbClr val="FFF8E7"/>
          </a:solidFill>
          <a:ln w="12700">
            <a:solidFill>
              <a:srgbClr val="EADFC3"/>
            </a:solidFill>
            <a:prstDash val="solid"/>
          </a:ln>
        </p:spPr>
        <p:txBody>
          <a:bodyPr/>
          <a:lstStyle/>
          <a:p>
            <a:endParaRPr lang="en-GB" sz="1600" noProof="0" dirty="0"/>
          </a:p>
        </p:txBody>
      </p:sp>
      <p:sp>
        <p:nvSpPr>
          <p:cNvPr id="12" name="Text 5">
            <a:extLst>
              <a:ext uri="{FF2B5EF4-FFF2-40B4-BE49-F238E27FC236}">
                <a16:creationId xmlns:a16="http://schemas.microsoft.com/office/drawing/2014/main" id="{4DB2D583-3948-C6E9-F142-230E84061496}"/>
              </a:ext>
            </a:extLst>
          </p:cNvPr>
          <p:cNvSpPr txBox="1"/>
          <p:nvPr/>
        </p:nvSpPr>
        <p:spPr>
          <a:xfrm>
            <a:off x="850392" y="3902454"/>
            <a:ext cx="10506456" cy="457200"/>
          </a:xfrm>
          <a:prstGeom prst="rect">
            <a:avLst/>
          </a:prstGeom>
          <a:noFill/>
          <a:ln/>
        </p:spPr>
        <p:txBody>
          <a:bodyPr wrap="square" lIns="0" tIns="0" rIns="0" bIns="0" rtlCol="0" anchor="ctr"/>
          <a:lstStyle/>
          <a:p>
            <a:pPr marL="0" indent="0">
              <a:buNone/>
            </a:pPr>
            <a:r>
              <a:rPr lang="en-GB" b="1" noProof="0" dirty="0" err="1">
                <a:solidFill>
                  <a:srgbClr val="10305A"/>
                </a:solidFill>
                <a:latin typeface="Cambria" pitchFamily="34" charset="0"/>
                <a:ea typeface="Cambria" pitchFamily="34" charset="-122"/>
                <a:cs typeface="Cambria" pitchFamily="34" charset="-120"/>
              </a:rPr>
              <a:t>Mukamana</a:t>
            </a:r>
            <a:r>
              <a:rPr lang="en-GB" b="1" noProof="0" dirty="0">
                <a:solidFill>
                  <a:srgbClr val="10305A"/>
                </a:solidFill>
                <a:latin typeface="Cambria" pitchFamily="34" charset="0"/>
                <a:ea typeface="Cambria" pitchFamily="34" charset="-122"/>
                <a:cs typeface="Cambria" pitchFamily="34" charset="-120"/>
              </a:rPr>
              <a:t> Immaculée</a:t>
            </a:r>
            <a:endParaRPr lang="en-GB" noProof="0" dirty="0"/>
          </a:p>
        </p:txBody>
      </p:sp>
      <p:sp>
        <p:nvSpPr>
          <p:cNvPr id="13" name="Text 6">
            <a:extLst>
              <a:ext uri="{FF2B5EF4-FFF2-40B4-BE49-F238E27FC236}">
                <a16:creationId xmlns:a16="http://schemas.microsoft.com/office/drawing/2014/main" id="{1AD08457-2BE5-E1F0-0117-1ABE448FBA97}"/>
              </a:ext>
            </a:extLst>
          </p:cNvPr>
          <p:cNvSpPr txBox="1"/>
          <p:nvPr/>
        </p:nvSpPr>
        <p:spPr>
          <a:xfrm>
            <a:off x="850392" y="4414518"/>
            <a:ext cx="10506456" cy="2322576"/>
          </a:xfrm>
          <a:prstGeom prst="rect">
            <a:avLst/>
          </a:prstGeom>
          <a:noFill/>
          <a:ln/>
        </p:spPr>
        <p:txBody>
          <a:bodyPr wrap="square" lIns="0" tIns="0" rIns="0" bIns="0" rtlCol="0" anchor="t"/>
          <a:lstStyle/>
          <a:p>
            <a:pPr marL="0" indent="0">
              <a:lnSpc>
                <a:spcPct val="105000"/>
              </a:lnSpc>
              <a:spcAft>
                <a:spcPts val="800"/>
              </a:spcAft>
              <a:buNone/>
            </a:pPr>
            <a:r>
              <a:rPr lang="en-GB" sz="1600" b="1" noProof="0" dirty="0">
                <a:solidFill>
                  <a:srgbClr val="31507B"/>
                </a:solidFill>
                <a:latin typeface="Calibri" pitchFamily="34" charset="0"/>
                <a:ea typeface="Calibri" pitchFamily="34" charset="-122"/>
                <a:cs typeface="Calibri" pitchFamily="34" charset="-120"/>
              </a:rPr>
              <a:t>Patient: </a:t>
            </a:r>
            <a:r>
              <a:rPr lang="en-GB" sz="1600" noProof="0" dirty="0">
                <a:solidFill>
                  <a:srgbClr val="23303F"/>
                </a:solidFill>
                <a:latin typeface="Calibri" pitchFamily="34" charset="0"/>
                <a:ea typeface="Calibri" pitchFamily="34" charset="-122"/>
                <a:cs typeface="Calibri" pitchFamily="34" charset="-120"/>
              </a:rPr>
              <a:t>38 years old. She has three children and works as a tailor. She has never been screened for cervical cancer.</a:t>
            </a:r>
            <a:endParaRPr lang="en-GB" sz="1600" noProof="0" dirty="0"/>
          </a:p>
          <a:p>
            <a:pPr marL="0" indent="0">
              <a:lnSpc>
                <a:spcPct val="105000"/>
              </a:lnSpc>
              <a:spcAft>
                <a:spcPts val="800"/>
              </a:spcAft>
              <a:buNone/>
            </a:pPr>
            <a:r>
              <a:rPr lang="en-GB" sz="1600" b="1" noProof="0" dirty="0">
                <a:solidFill>
                  <a:srgbClr val="31507B"/>
                </a:solidFill>
                <a:latin typeface="Calibri" pitchFamily="34" charset="0"/>
                <a:ea typeface="Calibri" pitchFamily="34" charset="-122"/>
                <a:cs typeface="Calibri" pitchFamily="34" charset="-120"/>
              </a:rPr>
              <a:t>Setting: </a:t>
            </a:r>
            <a:r>
              <a:rPr lang="en-GB" sz="1600" noProof="0" dirty="0">
                <a:solidFill>
                  <a:srgbClr val="23303F"/>
                </a:solidFill>
                <a:latin typeface="Calibri" pitchFamily="34" charset="0"/>
                <a:ea typeface="Calibri" pitchFamily="34" charset="-122"/>
                <a:cs typeface="Calibri" pitchFamily="34" charset="-120"/>
              </a:rPr>
              <a:t>A health centre in Nyanza District, on a cervical cancer screening outreach day.</a:t>
            </a:r>
            <a:endParaRPr lang="en-GB" sz="1600" noProof="0" dirty="0"/>
          </a:p>
          <a:p>
            <a:pPr marL="0" indent="0">
              <a:lnSpc>
                <a:spcPct val="105000"/>
              </a:lnSpc>
              <a:spcAft>
                <a:spcPts val="800"/>
              </a:spcAft>
              <a:buNone/>
            </a:pPr>
            <a:r>
              <a:rPr lang="en-GB" sz="1600" b="1" noProof="0" dirty="0">
                <a:solidFill>
                  <a:srgbClr val="31507B"/>
                </a:solidFill>
                <a:latin typeface="Calibri" pitchFamily="34" charset="0"/>
                <a:ea typeface="Calibri" pitchFamily="34" charset="-122"/>
                <a:cs typeface="Calibri" pitchFamily="34" charset="-120"/>
              </a:rPr>
              <a:t>Presenting situation: </a:t>
            </a:r>
            <a:r>
              <a:rPr lang="en-GB" sz="1600" noProof="0" dirty="0">
                <a:solidFill>
                  <a:srgbClr val="23303F"/>
                </a:solidFill>
                <a:latin typeface="Calibri" pitchFamily="34" charset="0"/>
                <a:ea typeface="Calibri" pitchFamily="34" charset="-122"/>
                <a:cs typeface="Calibri" pitchFamily="34" charset="-120"/>
              </a:rPr>
              <a:t>She feels completely well. She has come because a community health worker encouraged her to attend.</a:t>
            </a:r>
            <a:endParaRPr lang="en-GB" sz="1600" noProof="0" dirty="0"/>
          </a:p>
          <a:p>
            <a:pPr marL="0" indent="0">
              <a:lnSpc>
                <a:spcPct val="105000"/>
              </a:lnSpc>
              <a:spcAft>
                <a:spcPts val="800"/>
              </a:spcAft>
              <a:buNone/>
            </a:pPr>
            <a:r>
              <a:rPr lang="en-GB" sz="1600" b="1" noProof="0" dirty="0">
                <a:solidFill>
                  <a:srgbClr val="31507B"/>
                </a:solidFill>
                <a:latin typeface="Calibri" pitchFamily="34" charset="0"/>
                <a:ea typeface="Calibri" pitchFamily="34" charset="-122"/>
                <a:cs typeface="Calibri" pitchFamily="34" charset="-120"/>
              </a:rPr>
              <a:t>What you know so far: </a:t>
            </a:r>
            <a:r>
              <a:rPr lang="en-GB" sz="1600" noProof="0" dirty="0">
                <a:solidFill>
                  <a:srgbClr val="23303F"/>
                </a:solidFill>
                <a:latin typeface="Calibri" pitchFamily="34" charset="0"/>
                <a:ea typeface="Calibri" pitchFamily="34" charset="-122"/>
                <a:cs typeface="Calibri" pitchFamily="34" charset="-120"/>
              </a:rPr>
              <a:t>No abnormal bleeding, no unusual discharge, no pelvic pain. Her HIV status is negative and recorded in her file.</a:t>
            </a:r>
            <a:endParaRPr lang="en-GB" sz="1600" noProof="0" dirty="0"/>
          </a:p>
          <a:p>
            <a:pPr marL="0" indent="0">
              <a:lnSpc>
                <a:spcPct val="105000"/>
              </a:lnSpc>
              <a:spcAft>
                <a:spcPts val="800"/>
              </a:spcAft>
              <a:buNone/>
            </a:pPr>
            <a:r>
              <a:rPr lang="en-GB" sz="1600" b="1" noProof="0" dirty="0">
                <a:solidFill>
                  <a:srgbClr val="31507B"/>
                </a:solidFill>
                <a:latin typeface="Calibri" pitchFamily="34" charset="0"/>
                <a:ea typeface="Calibri" pitchFamily="34" charset="-122"/>
                <a:cs typeface="Calibri" pitchFamily="34" charset="-120"/>
              </a:rPr>
              <a:t>Learner task: </a:t>
            </a:r>
            <a:r>
              <a:rPr lang="en-GB" sz="1600" noProof="0" dirty="0">
                <a:solidFill>
                  <a:srgbClr val="23303F"/>
                </a:solidFill>
                <a:latin typeface="Calibri" pitchFamily="34" charset="0"/>
                <a:ea typeface="Calibri" pitchFamily="34" charset="-122"/>
                <a:cs typeface="Calibri" pitchFamily="34" charset="-120"/>
              </a:rPr>
              <a:t>Decide whether Immaculée is attending for screening or for diagnostic assessment, and what that means for what you offer her today.</a:t>
            </a:r>
            <a:endParaRPr lang="en-GB" sz="1600" noProof="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62</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CLINICAL CASE</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What is Immaculée attending for?</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Immaculée feels well and has no symptoms. Which description fits her visit today?</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Diagnostic assessment, because every woman needs her cervix examined</a:t>
            </a:r>
            <a:endParaRPr lang="en-GB" sz="1800" noProof="0" dirty="0"/>
          </a:p>
        </p:txBody>
      </p:sp>
      <p:sp>
        <p:nvSpPr>
          <p:cNvPr id="9" name="Shape 7"/>
          <p:cNvSpPr/>
          <p:nvPr/>
        </p:nvSpPr>
        <p:spPr>
          <a:xfrm>
            <a:off x="566928" y="2898648"/>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Screening, because she has no symptoms and is being tested to find changes early</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Surveillance, because she has been treated before</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No test is needed, because she feels well</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B
Feedback: </a:t>
            </a:r>
            <a:r>
              <a:rPr lang="en-GB" sz="1800" noProof="0" dirty="0">
                <a:solidFill>
                  <a:srgbClr val="23303F"/>
                </a:solidFill>
                <a:latin typeface="Calibri" pitchFamily="34" charset="0"/>
                <a:ea typeface="Calibri" pitchFamily="34" charset="-122"/>
                <a:cs typeface="Calibri" pitchFamily="34" charset="-120"/>
              </a:rPr>
              <a:t>Screening means testing an eligible woman who has no symptoms. Immaculée has no symptoms, so she is being screened. A woman with concerning symptoms would need diagnostic assessment instead, which is a different pathway.</a:t>
            </a:r>
            <a:endParaRPr lang="en-GB" sz="1800" noProof="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63</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PREVENTION</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The prevention continuum</a:t>
            </a:r>
            <a:endParaRPr lang="en-GB" sz="3200" noProof="0" dirty="0"/>
          </a:p>
        </p:txBody>
      </p:sp>
      <p:sp>
        <p:nvSpPr>
          <p:cNvPr id="6" name="Shape 4"/>
          <p:cNvSpPr/>
          <p:nvPr/>
        </p:nvSpPr>
        <p:spPr>
          <a:xfrm>
            <a:off x="566928" y="1719071"/>
            <a:ext cx="3563112" cy="3597995"/>
          </a:xfrm>
          <a:prstGeom prst="roundRect">
            <a:avLst>
              <a:gd name="adj" fmla="val 3000"/>
            </a:avLst>
          </a:prstGeom>
          <a:solidFill>
            <a:srgbClr val="EAF7F0"/>
          </a:solidFill>
          <a:ln w="12700">
            <a:solidFill>
              <a:srgbClr val="C0D4CB"/>
            </a:solidFill>
            <a:prstDash val="solid"/>
          </a:ln>
        </p:spPr>
        <p:txBody>
          <a:bodyPr/>
          <a:lstStyle/>
          <a:p>
            <a:endParaRPr lang="en-GB" noProof="0" dirty="0"/>
          </a:p>
        </p:txBody>
      </p:sp>
      <p:sp>
        <p:nvSpPr>
          <p:cNvPr id="7" name="Text 5"/>
          <p:cNvSpPr txBox="1"/>
          <p:nvPr/>
        </p:nvSpPr>
        <p:spPr>
          <a:xfrm>
            <a:off x="822960" y="1901952"/>
            <a:ext cx="3051048" cy="566928"/>
          </a:xfrm>
          <a:prstGeom prst="rect">
            <a:avLst/>
          </a:prstGeom>
          <a:noFill/>
          <a:ln/>
        </p:spPr>
        <p:txBody>
          <a:bodyPr wrap="square" lIns="0" tIns="0" rIns="0" bIns="0" rtlCol="0" anchor="ctr"/>
          <a:lstStyle/>
          <a:p>
            <a:pPr marL="0" indent="0">
              <a:buNone/>
            </a:pPr>
            <a:r>
              <a:rPr lang="en-GB" sz="2000" b="1" noProof="0" dirty="0">
                <a:solidFill>
                  <a:srgbClr val="19543E"/>
                </a:solidFill>
                <a:latin typeface="Calibri" pitchFamily="34" charset="0"/>
                <a:ea typeface="Calibri" pitchFamily="34" charset="-122"/>
                <a:cs typeface="Calibri" pitchFamily="34" charset="-120"/>
              </a:rPr>
              <a:t>1️⃣  Primary prevention</a:t>
            </a:r>
            <a:endParaRPr lang="en-GB" sz="2000" noProof="0" dirty="0"/>
          </a:p>
        </p:txBody>
      </p:sp>
      <p:sp>
        <p:nvSpPr>
          <p:cNvPr id="8" name="Text 6"/>
          <p:cNvSpPr txBox="1"/>
          <p:nvPr/>
        </p:nvSpPr>
        <p:spPr>
          <a:xfrm>
            <a:off x="822960" y="2505456"/>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Prevent HPV infection, mainly through HPV vaccination, before exposure.</a:t>
            </a:r>
            <a:endParaRPr lang="en-GB" sz="1800" noProof="0" dirty="0"/>
          </a:p>
        </p:txBody>
      </p:sp>
      <p:sp>
        <p:nvSpPr>
          <p:cNvPr id="9" name="Shape 7"/>
          <p:cNvSpPr/>
          <p:nvPr/>
        </p:nvSpPr>
        <p:spPr>
          <a:xfrm>
            <a:off x="4312920" y="1719071"/>
            <a:ext cx="3563112" cy="3597995"/>
          </a:xfrm>
          <a:prstGeom prst="roundRect">
            <a:avLst>
              <a:gd name="adj" fmla="val 3000"/>
            </a:avLst>
          </a:prstGeom>
          <a:solidFill>
            <a:srgbClr val="ECF3FD"/>
          </a:solidFill>
          <a:ln w="12700">
            <a:solidFill>
              <a:srgbClr val="E0E3EA"/>
            </a:solidFill>
            <a:prstDash val="solid"/>
          </a:ln>
        </p:spPr>
        <p:txBody>
          <a:bodyPr/>
          <a:lstStyle/>
          <a:p>
            <a:endParaRPr lang="en-GB" noProof="0" dirty="0"/>
          </a:p>
        </p:txBody>
      </p:sp>
      <p:sp>
        <p:nvSpPr>
          <p:cNvPr id="10" name="Text 8"/>
          <p:cNvSpPr txBox="1"/>
          <p:nvPr/>
        </p:nvSpPr>
        <p:spPr>
          <a:xfrm>
            <a:off x="4568952" y="1901952"/>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2️⃣  Secondary prevention</a:t>
            </a:r>
            <a:endParaRPr lang="en-GB" sz="2000" noProof="0" dirty="0"/>
          </a:p>
        </p:txBody>
      </p:sp>
      <p:sp>
        <p:nvSpPr>
          <p:cNvPr id="11" name="Text 9"/>
          <p:cNvSpPr txBox="1"/>
          <p:nvPr/>
        </p:nvSpPr>
        <p:spPr>
          <a:xfrm>
            <a:off x="4568952" y="2505456"/>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Detect and treat cervical precancer through screening, before invasive cancer develops.</a:t>
            </a:r>
            <a:endParaRPr lang="en-GB" sz="1800" noProof="0" dirty="0"/>
          </a:p>
        </p:txBody>
      </p:sp>
      <p:sp>
        <p:nvSpPr>
          <p:cNvPr id="12" name="Shape 10"/>
          <p:cNvSpPr/>
          <p:nvPr/>
        </p:nvSpPr>
        <p:spPr>
          <a:xfrm>
            <a:off x="8058912" y="1719071"/>
            <a:ext cx="3563112" cy="3597995"/>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8314944" y="1901952"/>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3️⃣  Tertiary care</a:t>
            </a:r>
            <a:endParaRPr lang="en-GB" sz="2000" noProof="0" dirty="0"/>
          </a:p>
        </p:txBody>
      </p:sp>
      <p:sp>
        <p:nvSpPr>
          <p:cNvPr id="14" name="Text 12"/>
          <p:cNvSpPr txBox="1"/>
          <p:nvPr/>
        </p:nvSpPr>
        <p:spPr>
          <a:xfrm>
            <a:off x="8314944" y="2505456"/>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Diagnose and treat invasive cancer, and provide supportive and palliative care.</a:t>
            </a:r>
            <a:endParaRPr lang="en-GB" sz="1800" noProof="0" dirty="0"/>
          </a:p>
        </p:txBody>
      </p:sp>
      <p:sp>
        <p:nvSpPr>
          <p:cNvPr id="15" name="Shape 13"/>
          <p:cNvSpPr/>
          <p:nvPr/>
        </p:nvSpPr>
        <p:spPr>
          <a:xfrm>
            <a:off x="566928" y="5543973"/>
            <a:ext cx="11055096" cy="786384"/>
          </a:xfrm>
          <a:prstGeom prst="roundRect">
            <a:avLst>
              <a:gd name="adj" fmla="val 8140"/>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5598837"/>
            <a:ext cx="10506456" cy="676656"/>
          </a:xfrm>
          <a:prstGeom prst="rect">
            <a:avLst/>
          </a:prstGeom>
          <a:noFill/>
          <a:ln/>
        </p:spPr>
        <p:txBody>
          <a:bodyPr wrap="square" lIns="0" tIns="0" rIns="0" bIns="0" rtlCol="0" anchor="ctr"/>
          <a:lstStyle/>
          <a:p>
            <a:pPr marL="0" indent="0">
              <a:lnSpc>
                <a:spcPct val="104000"/>
              </a:lnSpc>
              <a:buNone/>
            </a:pPr>
            <a:r>
              <a:rPr lang="en-GB" sz="1800" b="1" noProof="0" dirty="0">
                <a:solidFill>
                  <a:srgbClr val="19543E"/>
                </a:solidFill>
                <a:latin typeface="Calibri" pitchFamily="34" charset="0"/>
                <a:ea typeface="Calibri" pitchFamily="34" charset="-122"/>
                <a:cs typeface="Calibri" pitchFamily="34" charset="-120"/>
              </a:rPr>
              <a:t>💡 Key point:  </a:t>
            </a:r>
            <a:r>
              <a:rPr lang="en-GB" sz="1800" noProof="0" dirty="0">
                <a:solidFill>
                  <a:srgbClr val="23303F"/>
                </a:solidFill>
                <a:latin typeface="Calibri" pitchFamily="34" charset="0"/>
                <a:ea typeface="Calibri" pitchFamily="34" charset="-122"/>
                <a:cs typeface="Calibri" pitchFamily="34" charset="-120"/>
              </a:rPr>
              <a:t>Vaccination and screening are complementary. Neither one replaces the other, and a country needs both to eliminate cervical cancer.</a:t>
            </a:r>
            <a:endParaRPr lang="en-GB" sz="1800" noProof="0" dirty="0"/>
          </a:p>
        </p:txBody>
      </p:sp>
      <p:pic>
        <p:nvPicPr>
          <p:cNvPr id="18" name="Imagen 17">
            <a:extLst>
              <a:ext uri="{FF2B5EF4-FFF2-40B4-BE49-F238E27FC236}">
                <a16:creationId xmlns:a16="http://schemas.microsoft.com/office/drawing/2014/main" id="{7D06E25B-DAEB-33A6-0930-E9575B62BF2B}"/>
              </a:ext>
            </a:extLst>
          </p:cNvPr>
          <p:cNvPicPr>
            <a:picLocks noChangeAspect="1"/>
          </p:cNvPicPr>
          <p:nvPr/>
        </p:nvPicPr>
        <p:blipFill>
          <a:blip r:embed="rId3"/>
          <a:srcRect/>
          <a:stretch>
            <a:fillRect/>
          </a:stretch>
        </p:blipFill>
        <p:spPr>
          <a:xfrm>
            <a:off x="5209032" y="3491653"/>
            <a:ext cx="1773936" cy="1773936"/>
          </a:xfrm>
          <a:prstGeom prst="rect">
            <a:avLst/>
          </a:prstGeom>
        </p:spPr>
      </p:pic>
      <p:pic>
        <p:nvPicPr>
          <p:cNvPr id="19" name="Imagen 18">
            <a:extLst>
              <a:ext uri="{FF2B5EF4-FFF2-40B4-BE49-F238E27FC236}">
                <a16:creationId xmlns:a16="http://schemas.microsoft.com/office/drawing/2014/main" id="{F19BC0D4-A57F-F121-11D9-955CE68EF781}"/>
              </a:ext>
            </a:extLst>
          </p:cNvPr>
          <p:cNvPicPr>
            <a:picLocks noChangeAspect="1"/>
          </p:cNvPicPr>
          <p:nvPr/>
        </p:nvPicPr>
        <p:blipFill>
          <a:blip r:embed="rId4"/>
          <a:srcRect/>
          <a:stretch>
            <a:fillRect/>
          </a:stretch>
        </p:blipFill>
        <p:spPr>
          <a:xfrm>
            <a:off x="8958410" y="3491653"/>
            <a:ext cx="1730078" cy="1730078"/>
          </a:xfrm>
          <a:prstGeom prst="rect">
            <a:avLst/>
          </a:prstGeom>
        </p:spPr>
      </p:pic>
      <p:pic>
        <p:nvPicPr>
          <p:cNvPr id="20" name="Imagen 19">
            <a:extLst>
              <a:ext uri="{FF2B5EF4-FFF2-40B4-BE49-F238E27FC236}">
                <a16:creationId xmlns:a16="http://schemas.microsoft.com/office/drawing/2014/main" id="{A97F483E-5526-EEFE-E9FC-0544F4720941}"/>
              </a:ext>
            </a:extLst>
          </p:cNvPr>
          <p:cNvPicPr>
            <a:picLocks noChangeAspect="1"/>
          </p:cNvPicPr>
          <p:nvPr/>
        </p:nvPicPr>
        <p:blipFill>
          <a:blip r:embed="rId5"/>
          <a:srcRect/>
          <a:stretch>
            <a:fillRect/>
          </a:stretch>
        </p:blipFill>
        <p:spPr>
          <a:xfrm>
            <a:off x="1458298" y="3447287"/>
            <a:ext cx="1773937" cy="1773937"/>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64</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PREVENTION</a:t>
            </a:r>
            <a:endParaRPr lang="en-GB" sz="1200" noProof="0" dirty="0"/>
          </a:p>
        </p:txBody>
      </p:sp>
      <p:sp>
        <p:nvSpPr>
          <p:cNvPr id="5" name="Text 3"/>
          <p:cNvSpPr txBox="1"/>
          <p:nvPr/>
        </p:nvSpPr>
        <p:spPr>
          <a:xfrm>
            <a:off x="566928" y="868684"/>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Rwanda’s cervical cancer elimination goals</a:t>
            </a:r>
            <a:endParaRPr lang="en-GB" sz="3200" noProof="0" dirty="0"/>
          </a:p>
        </p:txBody>
      </p:sp>
      <p:sp>
        <p:nvSpPr>
          <p:cNvPr id="6" name="Shape 4"/>
          <p:cNvSpPr/>
          <p:nvPr/>
        </p:nvSpPr>
        <p:spPr>
          <a:xfrm>
            <a:off x="566928" y="2094636"/>
            <a:ext cx="3563112" cy="2243329"/>
          </a:xfrm>
          <a:prstGeom prst="roundRect">
            <a:avLst>
              <a:gd name="adj" fmla="val 3600"/>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804672" y="2259229"/>
            <a:ext cx="3087624" cy="658368"/>
          </a:xfrm>
          <a:prstGeom prst="rect">
            <a:avLst/>
          </a:prstGeom>
          <a:noFill/>
          <a:ln/>
        </p:spPr>
        <p:txBody>
          <a:bodyPr wrap="square" lIns="0" tIns="0" rIns="0" bIns="0" rtlCol="0" anchor="ctr"/>
          <a:lstStyle/>
          <a:p>
            <a:pPr marL="0" indent="0">
              <a:buNone/>
            </a:pPr>
            <a:r>
              <a:rPr lang="en-GB" sz="3400" b="1" noProof="0" dirty="0">
                <a:solidFill>
                  <a:srgbClr val="10305A"/>
                </a:solidFill>
                <a:latin typeface="Cambria" pitchFamily="34" charset="0"/>
                <a:ea typeface="Cambria" pitchFamily="34" charset="-122"/>
                <a:cs typeface="Cambria" pitchFamily="34" charset="-120"/>
              </a:rPr>
              <a:t>90%</a:t>
            </a:r>
            <a:endParaRPr lang="en-GB" sz="3400" noProof="0" dirty="0"/>
          </a:p>
        </p:txBody>
      </p:sp>
      <p:sp>
        <p:nvSpPr>
          <p:cNvPr id="8" name="Text 6"/>
          <p:cNvSpPr txBox="1"/>
          <p:nvPr/>
        </p:nvSpPr>
        <p:spPr>
          <a:xfrm>
            <a:off x="804672" y="2954173"/>
            <a:ext cx="3087624" cy="1261872"/>
          </a:xfrm>
          <a:prstGeom prst="rect">
            <a:avLst/>
          </a:prstGeom>
          <a:noFill/>
          <a:ln/>
        </p:spPr>
        <p:txBody>
          <a:bodyPr wrap="square" lIns="0" tIns="0" rIns="0" bIns="0" rtlCol="0" anchor="t"/>
          <a:lstStyle/>
          <a:p>
            <a:pPr marL="0" indent="0">
              <a:lnSpc>
                <a:spcPct val="104000"/>
              </a:lnSpc>
              <a:buNone/>
            </a:pPr>
            <a:r>
              <a:rPr lang="en-GB" sz="2000" noProof="0" dirty="0">
                <a:solidFill>
                  <a:srgbClr val="23303F"/>
                </a:solidFill>
                <a:latin typeface="Calibri" pitchFamily="34" charset="0"/>
                <a:ea typeface="Calibri" pitchFamily="34" charset="-122"/>
                <a:cs typeface="Calibri" pitchFamily="34" charset="-120"/>
              </a:rPr>
              <a:t>Of girls fully vaccinated against HPV by the age of 15</a:t>
            </a:r>
            <a:endParaRPr lang="en-GB" sz="2000" noProof="0" dirty="0"/>
          </a:p>
        </p:txBody>
      </p:sp>
      <p:sp>
        <p:nvSpPr>
          <p:cNvPr id="9" name="Shape 7"/>
          <p:cNvSpPr/>
          <p:nvPr/>
        </p:nvSpPr>
        <p:spPr>
          <a:xfrm>
            <a:off x="4312920" y="2094636"/>
            <a:ext cx="3563112" cy="2243329"/>
          </a:xfrm>
          <a:prstGeom prst="roundRect">
            <a:avLst>
              <a:gd name="adj" fmla="val 3600"/>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4550664" y="2259229"/>
            <a:ext cx="3087624" cy="658368"/>
          </a:xfrm>
          <a:prstGeom prst="rect">
            <a:avLst/>
          </a:prstGeom>
          <a:noFill/>
          <a:ln/>
        </p:spPr>
        <p:txBody>
          <a:bodyPr wrap="square" lIns="0" tIns="0" rIns="0" bIns="0" rtlCol="0" anchor="ctr"/>
          <a:lstStyle/>
          <a:p>
            <a:pPr marL="0" indent="0">
              <a:buNone/>
            </a:pPr>
            <a:r>
              <a:rPr lang="en-GB" sz="3400" b="1" noProof="0" dirty="0">
                <a:solidFill>
                  <a:srgbClr val="10305A"/>
                </a:solidFill>
                <a:latin typeface="Cambria" pitchFamily="34" charset="0"/>
                <a:ea typeface="Cambria" pitchFamily="34" charset="-122"/>
                <a:cs typeface="Cambria" pitchFamily="34" charset="-120"/>
              </a:rPr>
              <a:t>70%</a:t>
            </a:r>
            <a:endParaRPr lang="en-GB" sz="3400" noProof="0" dirty="0"/>
          </a:p>
        </p:txBody>
      </p:sp>
      <p:sp>
        <p:nvSpPr>
          <p:cNvPr id="11" name="Text 9"/>
          <p:cNvSpPr txBox="1"/>
          <p:nvPr/>
        </p:nvSpPr>
        <p:spPr>
          <a:xfrm>
            <a:off x="4550664" y="2954173"/>
            <a:ext cx="3087624" cy="1261872"/>
          </a:xfrm>
          <a:prstGeom prst="rect">
            <a:avLst/>
          </a:prstGeom>
          <a:noFill/>
          <a:ln/>
        </p:spPr>
        <p:txBody>
          <a:bodyPr wrap="square" lIns="0" tIns="0" rIns="0" bIns="0" rtlCol="0" anchor="t"/>
          <a:lstStyle/>
          <a:p>
            <a:pPr marL="0" indent="0">
              <a:lnSpc>
                <a:spcPct val="104000"/>
              </a:lnSpc>
              <a:buNone/>
            </a:pPr>
            <a:r>
              <a:rPr lang="en-GB" sz="2000" noProof="0" dirty="0">
                <a:solidFill>
                  <a:srgbClr val="23303F"/>
                </a:solidFill>
                <a:latin typeface="Calibri" pitchFamily="34" charset="0"/>
                <a:ea typeface="Calibri" pitchFamily="34" charset="-122"/>
                <a:cs typeface="Calibri" pitchFamily="34" charset="-120"/>
              </a:rPr>
              <a:t>Of women aged 30–49 years screened using high-precision HPV DNA-based testing</a:t>
            </a:r>
            <a:endParaRPr lang="en-GB" sz="2000" noProof="0" dirty="0"/>
          </a:p>
        </p:txBody>
      </p:sp>
      <p:sp>
        <p:nvSpPr>
          <p:cNvPr id="12" name="Shape 10"/>
          <p:cNvSpPr/>
          <p:nvPr/>
        </p:nvSpPr>
        <p:spPr>
          <a:xfrm>
            <a:off x="8058912" y="2094636"/>
            <a:ext cx="3563112" cy="2243329"/>
          </a:xfrm>
          <a:prstGeom prst="roundRect">
            <a:avLst>
              <a:gd name="adj" fmla="val 3600"/>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8296656" y="2259229"/>
            <a:ext cx="3087624" cy="658368"/>
          </a:xfrm>
          <a:prstGeom prst="rect">
            <a:avLst/>
          </a:prstGeom>
          <a:noFill/>
          <a:ln/>
        </p:spPr>
        <p:txBody>
          <a:bodyPr wrap="square" lIns="0" tIns="0" rIns="0" bIns="0" rtlCol="0" anchor="ctr"/>
          <a:lstStyle/>
          <a:p>
            <a:pPr marL="0" indent="0">
              <a:buNone/>
            </a:pPr>
            <a:r>
              <a:rPr lang="en-GB" sz="3400" b="1" noProof="0" dirty="0">
                <a:solidFill>
                  <a:srgbClr val="10305A"/>
                </a:solidFill>
                <a:latin typeface="Cambria" pitchFamily="34" charset="0"/>
                <a:ea typeface="Cambria" pitchFamily="34" charset="-122"/>
                <a:cs typeface="Cambria" pitchFamily="34" charset="-120"/>
              </a:rPr>
              <a:t>90%</a:t>
            </a:r>
            <a:endParaRPr lang="en-GB" sz="3400" noProof="0" dirty="0"/>
          </a:p>
        </p:txBody>
      </p:sp>
      <p:sp>
        <p:nvSpPr>
          <p:cNvPr id="14" name="Text 12"/>
          <p:cNvSpPr txBox="1"/>
          <p:nvPr/>
        </p:nvSpPr>
        <p:spPr>
          <a:xfrm>
            <a:off x="8296656" y="2954173"/>
            <a:ext cx="3087624" cy="1261872"/>
          </a:xfrm>
          <a:prstGeom prst="rect">
            <a:avLst/>
          </a:prstGeom>
          <a:noFill/>
          <a:ln/>
        </p:spPr>
        <p:txBody>
          <a:bodyPr wrap="square" lIns="0" tIns="0" rIns="0" bIns="0" rtlCol="0" anchor="t"/>
          <a:lstStyle/>
          <a:p>
            <a:pPr marL="0" indent="0">
              <a:lnSpc>
                <a:spcPct val="104000"/>
              </a:lnSpc>
              <a:buNone/>
            </a:pPr>
            <a:r>
              <a:rPr lang="en-GB" sz="2000" noProof="0" dirty="0">
                <a:solidFill>
                  <a:srgbClr val="23303F"/>
                </a:solidFill>
                <a:latin typeface="Calibri" pitchFamily="34" charset="0"/>
                <a:ea typeface="Calibri" pitchFamily="34" charset="-122"/>
                <a:cs typeface="Calibri" pitchFamily="34" charset="-120"/>
              </a:rPr>
              <a:t>Of women with precancer or cancer receiving treatment</a:t>
            </a:r>
            <a:endParaRPr lang="en-GB" sz="2000" noProof="0" dirty="0"/>
          </a:p>
        </p:txBody>
      </p:sp>
      <p:sp>
        <p:nvSpPr>
          <p:cNvPr id="17" name="Shape 15"/>
          <p:cNvSpPr/>
          <p:nvPr/>
        </p:nvSpPr>
        <p:spPr>
          <a:xfrm>
            <a:off x="566928" y="4927104"/>
            <a:ext cx="11055096" cy="786384"/>
          </a:xfrm>
          <a:prstGeom prst="roundRect">
            <a:avLst>
              <a:gd name="adj" fmla="val 8140"/>
            </a:avLst>
          </a:prstGeom>
          <a:solidFill>
            <a:srgbClr val="EAF7F0"/>
          </a:solidFill>
          <a:ln w="12700">
            <a:solidFill>
              <a:srgbClr val="C0D4CB"/>
            </a:solidFill>
            <a:prstDash val="solid"/>
          </a:ln>
        </p:spPr>
        <p:txBody>
          <a:bodyPr/>
          <a:lstStyle/>
          <a:p>
            <a:endParaRPr lang="en-GB" noProof="0" dirty="0"/>
          </a:p>
        </p:txBody>
      </p:sp>
      <p:sp>
        <p:nvSpPr>
          <p:cNvPr id="18" name="Text 16"/>
          <p:cNvSpPr txBox="1"/>
          <p:nvPr/>
        </p:nvSpPr>
        <p:spPr>
          <a:xfrm>
            <a:off x="841248" y="4981968"/>
            <a:ext cx="10506456" cy="676656"/>
          </a:xfrm>
          <a:prstGeom prst="rect">
            <a:avLst/>
          </a:prstGeom>
          <a:noFill/>
          <a:ln/>
        </p:spPr>
        <p:txBody>
          <a:bodyPr wrap="square" lIns="0" tIns="0" rIns="0" bIns="0" rtlCol="0" anchor="ctr"/>
          <a:lstStyle/>
          <a:p>
            <a:pPr marL="0" indent="0">
              <a:lnSpc>
                <a:spcPct val="104000"/>
              </a:lnSpc>
              <a:buNone/>
            </a:pPr>
            <a:r>
              <a:rPr lang="en-GB" sz="2000" b="1" noProof="0" dirty="0">
                <a:solidFill>
                  <a:srgbClr val="19543E"/>
                </a:solidFill>
                <a:latin typeface="Calibri" pitchFamily="34" charset="0"/>
                <a:ea typeface="Calibri" pitchFamily="34" charset="-122"/>
                <a:cs typeface="Calibri" pitchFamily="34" charset="-120"/>
              </a:rPr>
              <a:t>🏥 In Rwanda:  </a:t>
            </a:r>
            <a:r>
              <a:rPr lang="en-GB" sz="2000" noProof="0" dirty="0">
                <a:solidFill>
                  <a:srgbClr val="23303F"/>
                </a:solidFill>
                <a:latin typeface="Calibri" pitchFamily="34" charset="0"/>
                <a:ea typeface="Calibri" pitchFamily="34" charset="-122"/>
                <a:cs typeface="Calibri" pitchFamily="34" charset="-120"/>
              </a:rPr>
              <a:t>Rwanda has committed to meeting the 90–70–90 cervical cancer elimination targets by 2027 (Mission 2027), as set out in the national cervical cancer elimination plan.</a:t>
            </a:r>
            <a:endParaRPr lang="en-GB" sz="2000" noProof="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65</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HPV VACCINATION</a:t>
            </a:r>
            <a:endParaRPr lang="en-GB" sz="1200" noProof="0" dirty="0"/>
          </a:p>
        </p:txBody>
      </p:sp>
      <p:sp>
        <p:nvSpPr>
          <p:cNvPr id="5" name="Text 3"/>
          <p:cNvSpPr txBox="1"/>
          <p:nvPr/>
        </p:nvSpPr>
        <p:spPr>
          <a:xfrm>
            <a:off x="566928" y="80941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How HPV vaccination works</a:t>
            </a:r>
            <a:endParaRPr lang="en-GB" sz="3200" noProof="0" dirty="0"/>
          </a:p>
        </p:txBody>
      </p:sp>
      <p:sp>
        <p:nvSpPr>
          <p:cNvPr id="6" name="Shape 4"/>
          <p:cNvSpPr/>
          <p:nvPr/>
        </p:nvSpPr>
        <p:spPr>
          <a:xfrm>
            <a:off x="566928" y="1888402"/>
            <a:ext cx="3563112" cy="2743200"/>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822960" y="2071282"/>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What it protects against</a:t>
            </a:r>
            <a:endParaRPr lang="en-GB" sz="2000" noProof="0" dirty="0"/>
          </a:p>
        </p:txBody>
      </p:sp>
      <p:sp>
        <p:nvSpPr>
          <p:cNvPr id="8" name="Text 6"/>
          <p:cNvSpPr txBox="1"/>
          <p:nvPr/>
        </p:nvSpPr>
        <p:spPr>
          <a:xfrm>
            <a:off x="822960" y="2674786"/>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Vaccines protect against the high-risk (oncogenic) HPV types that cause most cervical cancers.</a:t>
            </a:r>
            <a:endParaRPr lang="en-GB" sz="1800" noProof="0" dirty="0"/>
          </a:p>
        </p:txBody>
      </p:sp>
      <p:sp>
        <p:nvSpPr>
          <p:cNvPr id="9" name="Shape 7"/>
          <p:cNvSpPr/>
          <p:nvPr/>
        </p:nvSpPr>
        <p:spPr>
          <a:xfrm>
            <a:off x="4312920" y="1888402"/>
            <a:ext cx="3563112" cy="2743200"/>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4568952" y="2071282"/>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When it works best</a:t>
            </a:r>
            <a:endParaRPr lang="en-GB" sz="2000" noProof="0" dirty="0"/>
          </a:p>
        </p:txBody>
      </p:sp>
      <p:sp>
        <p:nvSpPr>
          <p:cNvPr id="11" name="Text 9"/>
          <p:cNvSpPr txBox="1"/>
          <p:nvPr/>
        </p:nvSpPr>
        <p:spPr>
          <a:xfrm>
            <a:off x="4568952" y="2674786"/>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The vaccine prevents infection, so it is given before exposure to HPV, in early adolescence.</a:t>
            </a:r>
            <a:endParaRPr lang="en-GB" sz="1800" noProof="0" dirty="0"/>
          </a:p>
        </p:txBody>
      </p:sp>
      <p:sp>
        <p:nvSpPr>
          <p:cNvPr id="12" name="Shape 10"/>
          <p:cNvSpPr/>
          <p:nvPr/>
        </p:nvSpPr>
        <p:spPr>
          <a:xfrm>
            <a:off x="8058912" y="1888402"/>
            <a:ext cx="3563112" cy="2743200"/>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8314944" y="2071282"/>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What it achieves</a:t>
            </a:r>
            <a:endParaRPr lang="en-GB" sz="2000" noProof="0" dirty="0"/>
          </a:p>
        </p:txBody>
      </p:sp>
      <p:sp>
        <p:nvSpPr>
          <p:cNvPr id="14" name="Text 12"/>
          <p:cNvSpPr txBox="1"/>
          <p:nvPr/>
        </p:nvSpPr>
        <p:spPr>
          <a:xfrm>
            <a:off x="8314944" y="2674786"/>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It substantially reduces the future risk of cervical precancer and cervical cancer.</a:t>
            </a:r>
            <a:endParaRPr lang="en-GB" sz="1800" noProof="0" dirty="0"/>
          </a:p>
        </p:txBody>
      </p:sp>
      <p:sp>
        <p:nvSpPr>
          <p:cNvPr id="15" name="Shape 13"/>
          <p:cNvSpPr/>
          <p:nvPr/>
        </p:nvSpPr>
        <p:spPr>
          <a:xfrm>
            <a:off x="566928" y="5086772"/>
            <a:ext cx="11055096" cy="786384"/>
          </a:xfrm>
          <a:prstGeom prst="roundRect">
            <a:avLst>
              <a:gd name="adj" fmla="val 8140"/>
            </a:avLst>
          </a:prstGeom>
          <a:solidFill>
            <a:srgbClr val="FFF2DF"/>
          </a:solidFill>
          <a:ln w="12700">
            <a:solidFill>
              <a:srgbClr val="E8DDC7"/>
            </a:solidFill>
            <a:prstDash val="solid"/>
          </a:ln>
        </p:spPr>
        <p:txBody>
          <a:bodyPr/>
          <a:lstStyle/>
          <a:p>
            <a:endParaRPr lang="en-GB" noProof="0" dirty="0"/>
          </a:p>
        </p:txBody>
      </p:sp>
      <p:sp>
        <p:nvSpPr>
          <p:cNvPr id="16" name="Text 14"/>
          <p:cNvSpPr txBox="1"/>
          <p:nvPr/>
        </p:nvSpPr>
        <p:spPr>
          <a:xfrm>
            <a:off x="841248" y="5141636"/>
            <a:ext cx="10506456" cy="676656"/>
          </a:xfrm>
          <a:prstGeom prst="rect">
            <a:avLst/>
          </a:prstGeom>
          <a:noFill/>
          <a:ln/>
        </p:spPr>
        <p:txBody>
          <a:bodyPr wrap="square" lIns="0" tIns="0" rIns="0" bIns="0" rtlCol="0" anchor="ctr"/>
          <a:lstStyle/>
          <a:p>
            <a:pPr marL="0" indent="0">
              <a:lnSpc>
                <a:spcPct val="104000"/>
              </a:lnSpc>
              <a:buNone/>
            </a:pPr>
            <a:r>
              <a:rPr lang="en-GB" sz="1800" b="1" noProof="0" dirty="0">
                <a:solidFill>
                  <a:srgbClr val="7B5727"/>
                </a:solidFill>
                <a:latin typeface="Calibri" pitchFamily="34" charset="0"/>
                <a:ea typeface="Calibri" pitchFamily="34" charset="-122"/>
                <a:cs typeface="Calibri" pitchFamily="34" charset="-120"/>
              </a:rPr>
              <a:t>📌 Remember:  </a:t>
            </a:r>
            <a:r>
              <a:rPr lang="en-GB" sz="1800" noProof="0" dirty="0">
                <a:solidFill>
                  <a:srgbClr val="23303F"/>
                </a:solidFill>
                <a:latin typeface="Calibri" pitchFamily="34" charset="0"/>
                <a:ea typeface="Calibri" pitchFamily="34" charset="-122"/>
                <a:cs typeface="Calibri" pitchFamily="34" charset="-120"/>
              </a:rPr>
              <a:t>HPV vaccination does not treat an existing infection, an existing lesion or an existing cancer. It prevents new infection.</a:t>
            </a:r>
            <a:endParaRPr lang="en-GB" sz="1800" noProof="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66</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HPV VACCINATION</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What to tell people about the vaccine</a:t>
            </a:r>
            <a:endParaRPr lang="en-GB" sz="3200" noProof="0" dirty="0"/>
          </a:p>
        </p:txBody>
      </p:sp>
      <p:sp>
        <p:nvSpPr>
          <p:cNvPr id="6" name="Shape 4"/>
          <p:cNvSpPr/>
          <p:nvPr/>
        </p:nvSpPr>
        <p:spPr>
          <a:xfrm>
            <a:off x="566928" y="1719072"/>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786384" y="1719072"/>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8" name="Text 6"/>
          <p:cNvSpPr txBox="1"/>
          <p:nvPr/>
        </p:nvSpPr>
        <p:spPr>
          <a:xfrm>
            <a:off x="1463040" y="1773936"/>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The vaccine protects against the HPV types that cause most cervical cancers.</a:t>
            </a:r>
            <a:endParaRPr lang="en-GB" sz="1800" noProof="0" dirty="0"/>
          </a:p>
        </p:txBody>
      </p:sp>
      <p:sp>
        <p:nvSpPr>
          <p:cNvPr id="9" name="Shape 7"/>
          <p:cNvSpPr/>
          <p:nvPr/>
        </p:nvSpPr>
        <p:spPr>
          <a:xfrm>
            <a:off x="566928" y="2632880"/>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786384" y="2632880"/>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1" name="Text 9"/>
          <p:cNvSpPr txBox="1"/>
          <p:nvPr/>
        </p:nvSpPr>
        <p:spPr>
          <a:xfrm>
            <a:off x="1463040" y="2687744"/>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It works best when given before sexual activity and before exposure to HPV.</a:t>
            </a:r>
            <a:endParaRPr lang="en-GB" sz="1800" noProof="0" dirty="0"/>
          </a:p>
        </p:txBody>
      </p:sp>
      <p:sp>
        <p:nvSpPr>
          <p:cNvPr id="12" name="Shape 10"/>
          <p:cNvSpPr/>
          <p:nvPr/>
        </p:nvSpPr>
        <p:spPr>
          <a:xfrm>
            <a:off x="566928" y="3546687"/>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786384" y="3546687"/>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4" name="Text 12"/>
          <p:cNvSpPr txBox="1"/>
          <p:nvPr/>
        </p:nvSpPr>
        <p:spPr>
          <a:xfrm>
            <a:off x="1463040" y="3601551"/>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It has one of the largest safety records of any vaccine in use.</a:t>
            </a:r>
            <a:endParaRPr lang="en-GB" sz="1800" noProof="0" dirty="0"/>
          </a:p>
        </p:txBody>
      </p:sp>
      <p:sp>
        <p:nvSpPr>
          <p:cNvPr id="15" name="Shape 13"/>
          <p:cNvSpPr/>
          <p:nvPr/>
        </p:nvSpPr>
        <p:spPr>
          <a:xfrm>
            <a:off x="566928" y="4460495"/>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6" name="Text 14"/>
          <p:cNvSpPr txBox="1"/>
          <p:nvPr/>
        </p:nvSpPr>
        <p:spPr>
          <a:xfrm>
            <a:off x="786384" y="4460495"/>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7" name="Text 15"/>
          <p:cNvSpPr txBox="1"/>
          <p:nvPr/>
        </p:nvSpPr>
        <p:spPr>
          <a:xfrm>
            <a:off x="1463040" y="4515359"/>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It does not treat an infection or a lesion that is already present.</a:t>
            </a:r>
            <a:endParaRPr lang="en-GB" sz="1800" noProof="0" dirty="0"/>
          </a:p>
        </p:txBody>
      </p:sp>
      <p:sp>
        <p:nvSpPr>
          <p:cNvPr id="23" name="Shape 15">
            <a:extLst>
              <a:ext uri="{FF2B5EF4-FFF2-40B4-BE49-F238E27FC236}">
                <a16:creationId xmlns:a16="http://schemas.microsoft.com/office/drawing/2014/main" id="{C54334F3-A393-D6B3-FEC7-4744595C6641}"/>
              </a:ext>
            </a:extLst>
          </p:cNvPr>
          <p:cNvSpPr/>
          <p:nvPr/>
        </p:nvSpPr>
        <p:spPr>
          <a:xfrm>
            <a:off x="548640" y="5331544"/>
            <a:ext cx="11055096" cy="786384"/>
          </a:xfrm>
          <a:prstGeom prst="roundRect">
            <a:avLst>
              <a:gd name="adj" fmla="val 8140"/>
            </a:avLst>
          </a:prstGeom>
          <a:solidFill>
            <a:srgbClr val="EAF7F0"/>
          </a:solidFill>
          <a:ln w="12700">
            <a:solidFill>
              <a:srgbClr val="C0D4CB"/>
            </a:solidFill>
            <a:prstDash val="solid"/>
          </a:ln>
        </p:spPr>
        <p:txBody>
          <a:bodyPr/>
          <a:lstStyle/>
          <a:p>
            <a:endParaRPr lang="en-GB" sz="1600" noProof="0" dirty="0"/>
          </a:p>
        </p:txBody>
      </p:sp>
      <p:sp>
        <p:nvSpPr>
          <p:cNvPr id="24" name="Text 16">
            <a:extLst>
              <a:ext uri="{FF2B5EF4-FFF2-40B4-BE49-F238E27FC236}">
                <a16:creationId xmlns:a16="http://schemas.microsoft.com/office/drawing/2014/main" id="{F9B662A5-BFCA-5785-4123-AC4BFB5EA2D1}"/>
              </a:ext>
            </a:extLst>
          </p:cNvPr>
          <p:cNvSpPr txBox="1"/>
          <p:nvPr/>
        </p:nvSpPr>
        <p:spPr>
          <a:xfrm>
            <a:off x="822960" y="5386408"/>
            <a:ext cx="10506456" cy="676656"/>
          </a:xfrm>
          <a:prstGeom prst="rect">
            <a:avLst/>
          </a:prstGeom>
          <a:noFill/>
          <a:ln/>
        </p:spPr>
        <p:txBody>
          <a:bodyPr wrap="square" lIns="0" tIns="0" rIns="0" bIns="0" rtlCol="0" anchor="ctr"/>
          <a:lstStyle/>
          <a:p>
            <a:pPr>
              <a:lnSpc>
                <a:spcPct val="104000"/>
              </a:lnSpc>
            </a:pPr>
            <a:r>
              <a:rPr lang="en-GB" b="1" noProof="0" dirty="0">
                <a:solidFill>
                  <a:srgbClr val="19543E"/>
                </a:solidFill>
                <a:latin typeface="Calibri" pitchFamily="34" charset="0"/>
                <a:ea typeface="Calibri" pitchFamily="34" charset="-122"/>
                <a:cs typeface="Calibri" pitchFamily="34" charset="-120"/>
              </a:rPr>
              <a:t>🏥 In Rwanda:  </a:t>
            </a:r>
            <a:r>
              <a:rPr lang="en-GB" noProof="0" dirty="0">
                <a:solidFill>
                  <a:srgbClr val="23303F"/>
                </a:solidFill>
                <a:latin typeface="Calibri" pitchFamily="34" charset="0"/>
                <a:ea typeface="Calibri" pitchFamily="34" charset="-122"/>
                <a:cs typeface="Calibri" pitchFamily="34" charset="-120"/>
              </a:rPr>
              <a:t>HPV vaccination is routinely offered to girls around age 12, primarily through school-based vaccination programmes. The programme has traditionally used a 2-dose schedule.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67</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INTERACTIVE</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Myth or fact: HPV vaccination</a:t>
            </a:r>
            <a:endParaRPr lang="en-GB" sz="3200" noProof="0" dirty="0"/>
          </a:p>
        </p:txBody>
      </p:sp>
      <p:sp>
        <p:nvSpPr>
          <p:cNvPr id="6" name="Text 4"/>
          <p:cNvSpPr txBox="1"/>
          <p:nvPr/>
        </p:nvSpPr>
        <p:spPr>
          <a:xfrm>
            <a:off x="566928" y="1517904"/>
            <a:ext cx="11055096" cy="365760"/>
          </a:xfrm>
          <a:prstGeom prst="rect">
            <a:avLst/>
          </a:prstGeom>
          <a:noFill/>
          <a:ln/>
        </p:spPr>
        <p:txBody>
          <a:bodyPr wrap="square" lIns="0" tIns="0" rIns="0" bIns="0" rtlCol="0" anchor="ctr"/>
          <a:lstStyle/>
          <a:p>
            <a:pPr marL="0" indent="0">
              <a:buNone/>
            </a:pPr>
            <a:r>
              <a:rPr lang="en-GB" sz="1800" i="1" noProof="0" dirty="0">
                <a:solidFill>
                  <a:srgbClr val="31507B"/>
                </a:solidFill>
                <a:latin typeface="Calibri" pitchFamily="34" charset="0"/>
                <a:ea typeface="Calibri" pitchFamily="34" charset="-122"/>
                <a:cs typeface="Calibri" pitchFamily="34" charset="-120"/>
              </a:rPr>
              <a:t>💬  Select each myth to reveal the accurate response.</a:t>
            </a:r>
            <a:endParaRPr lang="en-GB" sz="1800" noProof="0" dirty="0"/>
          </a:p>
        </p:txBody>
      </p:sp>
      <p:sp>
        <p:nvSpPr>
          <p:cNvPr id="7" name="Shape 5"/>
          <p:cNvSpPr/>
          <p:nvPr/>
        </p:nvSpPr>
        <p:spPr>
          <a:xfrm>
            <a:off x="566928" y="1965960"/>
            <a:ext cx="4572000" cy="937553"/>
          </a:xfrm>
          <a:prstGeom prst="roundRect">
            <a:avLst>
              <a:gd name="adj" fmla="val 6827"/>
            </a:avLst>
          </a:prstGeom>
          <a:solidFill>
            <a:srgbClr val="FDE9E8"/>
          </a:solidFill>
          <a:ln w="12700">
            <a:solidFill>
              <a:srgbClr val="F0CFCE"/>
            </a:solidFill>
            <a:prstDash val="solid"/>
          </a:ln>
        </p:spPr>
        <p:txBody>
          <a:bodyPr/>
          <a:lstStyle/>
          <a:p>
            <a:endParaRPr lang="en-GB" noProof="0" dirty="0"/>
          </a:p>
        </p:txBody>
      </p:sp>
      <p:sp>
        <p:nvSpPr>
          <p:cNvPr id="8" name="Text 6"/>
          <p:cNvSpPr txBox="1"/>
          <p:nvPr/>
        </p:nvSpPr>
        <p:spPr>
          <a:xfrm>
            <a:off x="804672" y="2039112"/>
            <a:ext cx="4096512" cy="791249"/>
          </a:xfrm>
          <a:prstGeom prst="rect">
            <a:avLst/>
          </a:prstGeom>
          <a:noFill/>
          <a:ln/>
        </p:spPr>
        <p:txBody>
          <a:bodyPr wrap="square" lIns="0" tIns="0" rIns="0" bIns="0" rtlCol="0" anchor="ctr"/>
          <a:lstStyle/>
          <a:p>
            <a:pPr marL="0" indent="0">
              <a:lnSpc>
                <a:spcPct val="104000"/>
              </a:lnSpc>
              <a:buNone/>
            </a:pPr>
            <a:r>
              <a:rPr lang="en-GB" sz="1800" b="1" noProof="0" dirty="0">
                <a:solidFill>
                  <a:srgbClr val="8E2531"/>
                </a:solidFill>
                <a:latin typeface="Calibri" pitchFamily="34" charset="0"/>
                <a:ea typeface="Calibri" pitchFamily="34" charset="-122"/>
                <a:cs typeface="Calibri" pitchFamily="34" charset="-120"/>
              </a:rPr>
              <a:t>❌ Myth   </a:t>
            </a:r>
            <a:r>
              <a:rPr lang="en-GB" sz="1800" noProof="0" dirty="0">
                <a:solidFill>
                  <a:srgbClr val="23303F"/>
                </a:solidFill>
                <a:latin typeface="Calibri" pitchFamily="34" charset="0"/>
                <a:ea typeface="Calibri" pitchFamily="34" charset="-122"/>
                <a:cs typeface="Calibri" pitchFamily="34" charset="-120"/>
              </a:rPr>
              <a:t>The vaccine causes infertility.</a:t>
            </a:r>
            <a:endParaRPr lang="en-GB" sz="1800" noProof="0" dirty="0"/>
          </a:p>
        </p:txBody>
      </p:sp>
      <p:sp>
        <p:nvSpPr>
          <p:cNvPr id="9" name="Shape 7"/>
          <p:cNvSpPr/>
          <p:nvPr/>
        </p:nvSpPr>
        <p:spPr>
          <a:xfrm>
            <a:off x="5321808" y="1965960"/>
            <a:ext cx="6300216" cy="937553"/>
          </a:xfrm>
          <a:prstGeom prst="roundRect">
            <a:avLst>
              <a:gd name="adj" fmla="val 6827"/>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5559552" y="2039112"/>
            <a:ext cx="5824728" cy="791249"/>
          </a:xfrm>
          <a:prstGeom prst="rect">
            <a:avLst/>
          </a:prstGeom>
          <a:noFill/>
          <a:ln/>
        </p:spPr>
        <p:txBody>
          <a:bodyPr wrap="square" lIns="0" tIns="0" rIns="0" bIns="0" rtlCol="0" anchor="ctr"/>
          <a:lstStyle/>
          <a:p>
            <a:pPr marL="0" indent="0">
              <a:lnSpc>
                <a:spcPct val="104000"/>
              </a:lnSpc>
              <a:buNone/>
            </a:pPr>
            <a:r>
              <a:rPr lang="en-GB" sz="1800" b="1" noProof="0" dirty="0">
                <a:solidFill>
                  <a:srgbClr val="19543E"/>
                </a:solidFill>
                <a:latin typeface="Calibri" pitchFamily="34" charset="0"/>
                <a:ea typeface="Calibri" pitchFamily="34" charset="-122"/>
                <a:cs typeface="Calibri" pitchFamily="34" charset="-120"/>
              </a:rPr>
              <a:t>✅ Fact   </a:t>
            </a:r>
            <a:r>
              <a:rPr lang="en-GB" sz="1800" noProof="0" dirty="0">
                <a:solidFill>
                  <a:srgbClr val="23303F"/>
                </a:solidFill>
                <a:latin typeface="Calibri" pitchFamily="34" charset="0"/>
                <a:ea typeface="Calibri" pitchFamily="34" charset="-122"/>
                <a:cs typeface="Calibri" pitchFamily="34" charset="-120"/>
              </a:rPr>
              <a:t>Very large safety studies show no effect on fertility. Untreated cervical cancer, by contrast, does end fertility.</a:t>
            </a:r>
            <a:endParaRPr lang="en-GB" sz="1800" noProof="0" dirty="0"/>
          </a:p>
        </p:txBody>
      </p:sp>
      <p:sp>
        <p:nvSpPr>
          <p:cNvPr id="11" name="Shape 9"/>
          <p:cNvSpPr/>
          <p:nvPr/>
        </p:nvSpPr>
        <p:spPr>
          <a:xfrm>
            <a:off x="566928" y="3046378"/>
            <a:ext cx="4572000" cy="937553"/>
          </a:xfrm>
          <a:prstGeom prst="roundRect">
            <a:avLst>
              <a:gd name="adj" fmla="val 6827"/>
            </a:avLst>
          </a:prstGeom>
          <a:solidFill>
            <a:srgbClr val="FDE9E8"/>
          </a:solidFill>
          <a:ln w="12700">
            <a:solidFill>
              <a:srgbClr val="F0CFCE"/>
            </a:solidFill>
            <a:prstDash val="solid"/>
          </a:ln>
        </p:spPr>
        <p:txBody>
          <a:bodyPr/>
          <a:lstStyle/>
          <a:p>
            <a:endParaRPr lang="en-GB" noProof="0" dirty="0"/>
          </a:p>
        </p:txBody>
      </p:sp>
      <p:sp>
        <p:nvSpPr>
          <p:cNvPr id="12" name="Text 10"/>
          <p:cNvSpPr txBox="1"/>
          <p:nvPr/>
        </p:nvSpPr>
        <p:spPr>
          <a:xfrm>
            <a:off x="804672" y="3119530"/>
            <a:ext cx="4096512" cy="791249"/>
          </a:xfrm>
          <a:prstGeom prst="rect">
            <a:avLst/>
          </a:prstGeom>
          <a:noFill/>
          <a:ln/>
        </p:spPr>
        <p:txBody>
          <a:bodyPr wrap="square" lIns="0" tIns="0" rIns="0" bIns="0" rtlCol="0" anchor="ctr"/>
          <a:lstStyle/>
          <a:p>
            <a:pPr marL="0" indent="0">
              <a:lnSpc>
                <a:spcPct val="104000"/>
              </a:lnSpc>
              <a:buNone/>
            </a:pPr>
            <a:r>
              <a:rPr lang="en-GB" sz="1800" b="1" noProof="0" dirty="0">
                <a:solidFill>
                  <a:srgbClr val="8E2531"/>
                </a:solidFill>
                <a:latin typeface="Calibri" pitchFamily="34" charset="0"/>
                <a:ea typeface="Calibri" pitchFamily="34" charset="-122"/>
                <a:cs typeface="Calibri" pitchFamily="34" charset="-120"/>
              </a:rPr>
              <a:t>❌ Myth   </a:t>
            </a:r>
            <a:r>
              <a:rPr lang="en-GB" sz="1800" noProof="0" dirty="0">
                <a:solidFill>
                  <a:srgbClr val="23303F"/>
                </a:solidFill>
                <a:latin typeface="Calibri" pitchFamily="34" charset="0"/>
                <a:ea typeface="Calibri" pitchFamily="34" charset="-122"/>
                <a:cs typeface="Calibri" pitchFamily="34" charset="-120"/>
              </a:rPr>
              <a:t>It encourages earlier sexual activity.</a:t>
            </a:r>
            <a:endParaRPr lang="en-GB" sz="1800" noProof="0" dirty="0"/>
          </a:p>
        </p:txBody>
      </p:sp>
      <p:sp>
        <p:nvSpPr>
          <p:cNvPr id="13" name="Shape 11"/>
          <p:cNvSpPr/>
          <p:nvPr/>
        </p:nvSpPr>
        <p:spPr>
          <a:xfrm>
            <a:off x="5321808" y="3046378"/>
            <a:ext cx="6300216" cy="937553"/>
          </a:xfrm>
          <a:prstGeom prst="roundRect">
            <a:avLst>
              <a:gd name="adj" fmla="val 6827"/>
            </a:avLst>
          </a:prstGeom>
          <a:solidFill>
            <a:srgbClr val="EAF7F0"/>
          </a:solidFill>
          <a:ln w="12700">
            <a:solidFill>
              <a:srgbClr val="C0D4CB"/>
            </a:solidFill>
            <a:prstDash val="solid"/>
          </a:ln>
        </p:spPr>
        <p:txBody>
          <a:bodyPr/>
          <a:lstStyle/>
          <a:p>
            <a:endParaRPr lang="en-GB" noProof="0" dirty="0"/>
          </a:p>
        </p:txBody>
      </p:sp>
      <p:sp>
        <p:nvSpPr>
          <p:cNvPr id="14" name="Text 12"/>
          <p:cNvSpPr txBox="1"/>
          <p:nvPr/>
        </p:nvSpPr>
        <p:spPr>
          <a:xfrm>
            <a:off x="5559552" y="3119530"/>
            <a:ext cx="5824728" cy="791249"/>
          </a:xfrm>
          <a:prstGeom prst="rect">
            <a:avLst/>
          </a:prstGeom>
          <a:noFill/>
          <a:ln/>
        </p:spPr>
        <p:txBody>
          <a:bodyPr wrap="square" lIns="0" tIns="0" rIns="0" bIns="0" rtlCol="0" anchor="ctr"/>
          <a:lstStyle/>
          <a:p>
            <a:pPr marL="0" indent="0">
              <a:lnSpc>
                <a:spcPct val="104000"/>
              </a:lnSpc>
              <a:buNone/>
            </a:pPr>
            <a:r>
              <a:rPr lang="en-GB" sz="1800" b="1" noProof="0" dirty="0">
                <a:solidFill>
                  <a:srgbClr val="19543E"/>
                </a:solidFill>
                <a:latin typeface="Calibri" pitchFamily="34" charset="0"/>
                <a:ea typeface="Calibri" pitchFamily="34" charset="-122"/>
                <a:cs typeface="Calibri" pitchFamily="34" charset="-120"/>
              </a:rPr>
              <a:t>✅ Fact   </a:t>
            </a:r>
            <a:r>
              <a:rPr lang="en-GB" sz="1800" noProof="0" dirty="0">
                <a:solidFill>
                  <a:srgbClr val="23303F"/>
                </a:solidFill>
                <a:latin typeface="Calibri" pitchFamily="34" charset="0"/>
                <a:ea typeface="Calibri" pitchFamily="34" charset="-122"/>
                <a:cs typeface="Calibri" pitchFamily="34" charset="-120"/>
              </a:rPr>
              <a:t>Studies comparing vaccinated and unvaccinated adolescents find no difference in sexual behaviour.</a:t>
            </a:r>
            <a:endParaRPr lang="en-GB" sz="1800" noProof="0" dirty="0"/>
          </a:p>
        </p:txBody>
      </p:sp>
      <p:sp>
        <p:nvSpPr>
          <p:cNvPr id="15" name="Shape 13"/>
          <p:cNvSpPr/>
          <p:nvPr/>
        </p:nvSpPr>
        <p:spPr>
          <a:xfrm>
            <a:off x="566928" y="4126797"/>
            <a:ext cx="4572000" cy="937553"/>
          </a:xfrm>
          <a:prstGeom prst="roundRect">
            <a:avLst>
              <a:gd name="adj" fmla="val 6827"/>
            </a:avLst>
          </a:prstGeom>
          <a:solidFill>
            <a:srgbClr val="FDE9E8"/>
          </a:solidFill>
          <a:ln w="12700">
            <a:solidFill>
              <a:srgbClr val="F0CFCE"/>
            </a:solidFill>
            <a:prstDash val="solid"/>
          </a:ln>
        </p:spPr>
        <p:txBody>
          <a:bodyPr/>
          <a:lstStyle/>
          <a:p>
            <a:endParaRPr lang="en-GB" noProof="0" dirty="0"/>
          </a:p>
        </p:txBody>
      </p:sp>
      <p:sp>
        <p:nvSpPr>
          <p:cNvPr id="16" name="Text 14"/>
          <p:cNvSpPr txBox="1"/>
          <p:nvPr/>
        </p:nvSpPr>
        <p:spPr>
          <a:xfrm>
            <a:off x="804672" y="4199949"/>
            <a:ext cx="4096512" cy="791249"/>
          </a:xfrm>
          <a:prstGeom prst="rect">
            <a:avLst/>
          </a:prstGeom>
          <a:noFill/>
          <a:ln/>
        </p:spPr>
        <p:txBody>
          <a:bodyPr wrap="square" lIns="0" tIns="0" rIns="0" bIns="0" rtlCol="0" anchor="ctr"/>
          <a:lstStyle/>
          <a:p>
            <a:pPr marL="0" indent="0">
              <a:lnSpc>
                <a:spcPct val="104000"/>
              </a:lnSpc>
              <a:buNone/>
            </a:pPr>
            <a:r>
              <a:rPr lang="en-GB" sz="1800" b="1" noProof="0" dirty="0">
                <a:solidFill>
                  <a:srgbClr val="8E2531"/>
                </a:solidFill>
                <a:latin typeface="Calibri" pitchFamily="34" charset="0"/>
                <a:ea typeface="Calibri" pitchFamily="34" charset="-122"/>
                <a:cs typeface="Calibri" pitchFamily="34" charset="-120"/>
              </a:rPr>
              <a:t>❌ Myth   </a:t>
            </a:r>
            <a:r>
              <a:rPr lang="en-GB" sz="1800" noProof="0" dirty="0">
                <a:solidFill>
                  <a:srgbClr val="23303F"/>
                </a:solidFill>
                <a:latin typeface="Calibri" pitchFamily="34" charset="0"/>
                <a:ea typeface="Calibri" pitchFamily="34" charset="-122"/>
                <a:cs typeface="Calibri" pitchFamily="34" charset="-120"/>
              </a:rPr>
              <a:t>I am vaccinated, so I never need screening.</a:t>
            </a:r>
            <a:endParaRPr lang="en-GB" sz="1800" noProof="0" dirty="0"/>
          </a:p>
        </p:txBody>
      </p:sp>
      <p:sp>
        <p:nvSpPr>
          <p:cNvPr id="17" name="Shape 15"/>
          <p:cNvSpPr/>
          <p:nvPr/>
        </p:nvSpPr>
        <p:spPr>
          <a:xfrm>
            <a:off x="5321808" y="4126797"/>
            <a:ext cx="6300216" cy="937553"/>
          </a:xfrm>
          <a:prstGeom prst="roundRect">
            <a:avLst>
              <a:gd name="adj" fmla="val 6827"/>
            </a:avLst>
          </a:prstGeom>
          <a:solidFill>
            <a:srgbClr val="EAF7F0"/>
          </a:solidFill>
          <a:ln w="12700">
            <a:solidFill>
              <a:srgbClr val="C0D4CB"/>
            </a:solidFill>
            <a:prstDash val="solid"/>
          </a:ln>
        </p:spPr>
        <p:txBody>
          <a:bodyPr/>
          <a:lstStyle/>
          <a:p>
            <a:endParaRPr lang="en-GB" noProof="0" dirty="0"/>
          </a:p>
        </p:txBody>
      </p:sp>
      <p:sp>
        <p:nvSpPr>
          <p:cNvPr id="18" name="Text 16"/>
          <p:cNvSpPr txBox="1"/>
          <p:nvPr/>
        </p:nvSpPr>
        <p:spPr>
          <a:xfrm>
            <a:off x="5559552" y="4199949"/>
            <a:ext cx="5824728" cy="791249"/>
          </a:xfrm>
          <a:prstGeom prst="rect">
            <a:avLst/>
          </a:prstGeom>
          <a:noFill/>
          <a:ln/>
        </p:spPr>
        <p:txBody>
          <a:bodyPr wrap="square" lIns="0" tIns="0" rIns="0" bIns="0" rtlCol="0" anchor="ctr"/>
          <a:lstStyle/>
          <a:p>
            <a:pPr marL="0" indent="0">
              <a:lnSpc>
                <a:spcPct val="104000"/>
              </a:lnSpc>
              <a:buNone/>
            </a:pPr>
            <a:r>
              <a:rPr lang="en-GB" sz="1800" b="1" noProof="0" dirty="0">
                <a:solidFill>
                  <a:srgbClr val="19543E"/>
                </a:solidFill>
                <a:latin typeface="Calibri" pitchFamily="34" charset="0"/>
                <a:ea typeface="Calibri" pitchFamily="34" charset="-122"/>
                <a:cs typeface="Calibri" pitchFamily="34" charset="-120"/>
              </a:rPr>
              <a:t>✅ Fact   </a:t>
            </a:r>
            <a:r>
              <a:rPr lang="en-GB" sz="1800" noProof="0" dirty="0">
                <a:solidFill>
                  <a:srgbClr val="23303F"/>
                </a:solidFill>
                <a:latin typeface="Calibri" pitchFamily="34" charset="0"/>
                <a:ea typeface="Calibri" pitchFamily="34" charset="-122"/>
                <a:cs typeface="Calibri" pitchFamily="34" charset="-120"/>
              </a:rPr>
              <a:t>The vaccine does not cover every high-risk type, so eligible women still need screening.</a:t>
            </a:r>
            <a:endParaRPr lang="en-GB" sz="1800" noProof="0" dirty="0"/>
          </a:p>
        </p:txBody>
      </p:sp>
      <p:sp>
        <p:nvSpPr>
          <p:cNvPr id="19" name="Shape 17"/>
          <p:cNvSpPr/>
          <p:nvPr/>
        </p:nvSpPr>
        <p:spPr>
          <a:xfrm>
            <a:off x="566928" y="5207215"/>
            <a:ext cx="4572000" cy="937553"/>
          </a:xfrm>
          <a:prstGeom prst="roundRect">
            <a:avLst>
              <a:gd name="adj" fmla="val 6827"/>
            </a:avLst>
          </a:prstGeom>
          <a:solidFill>
            <a:srgbClr val="FDE9E8"/>
          </a:solidFill>
          <a:ln w="12700">
            <a:solidFill>
              <a:srgbClr val="F0CFCE"/>
            </a:solidFill>
            <a:prstDash val="solid"/>
          </a:ln>
        </p:spPr>
        <p:txBody>
          <a:bodyPr/>
          <a:lstStyle/>
          <a:p>
            <a:endParaRPr lang="en-GB" noProof="0" dirty="0"/>
          </a:p>
        </p:txBody>
      </p:sp>
      <p:sp>
        <p:nvSpPr>
          <p:cNvPr id="20" name="Text 18"/>
          <p:cNvSpPr txBox="1"/>
          <p:nvPr/>
        </p:nvSpPr>
        <p:spPr>
          <a:xfrm>
            <a:off x="804672" y="5280367"/>
            <a:ext cx="4096512" cy="791249"/>
          </a:xfrm>
          <a:prstGeom prst="rect">
            <a:avLst/>
          </a:prstGeom>
          <a:noFill/>
          <a:ln/>
        </p:spPr>
        <p:txBody>
          <a:bodyPr wrap="square" lIns="0" tIns="0" rIns="0" bIns="0" rtlCol="0" anchor="ctr"/>
          <a:lstStyle/>
          <a:p>
            <a:pPr marL="0" indent="0">
              <a:lnSpc>
                <a:spcPct val="104000"/>
              </a:lnSpc>
              <a:buNone/>
            </a:pPr>
            <a:r>
              <a:rPr lang="en-GB" sz="1800" b="1" noProof="0" dirty="0">
                <a:solidFill>
                  <a:srgbClr val="8E2531"/>
                </a:solidFill>
                <a:latin typeface="Calibri" pitchFamily="34" charset="0"/>
                <a:ea typeface="Calibri" pitchFamily="34" charset="-122"/>
                <a:cs typeface="Calibri" pitchFamily="34" charset="-120"/>
              </a:rPr>
              <a:t>❌ Myth   </a:t>
            </a:r>
            <a:r>
              <a:rPr lang="en-GB" sz="1800" noProof="0" dirty="0">
                <a:solidFill>
                  <a:srgbClr val="23303F"/>
                </a:solidFill>
                <a:latin typeface="Calibri" pitchFamily="34" charset="0"/>
                <a:ea typeface="Calibri" pitchFamily="34" charset="-122"/>
                <a:cs typeface="Calibri" pitchFamily="34" charset="-120"/>
              </a:rPr>
              <a:t>The vaccine can give you HPV infection.</a:t>
            </a:r>
            <a:endParaRPr lang="en-GB" sz="1800" noProof="0" dirty="0"/>
          </a:p>
        </p:txBody>
      </p:sp>
      <p:sp>
        <p:nvSpPr>
          <p:cNvPr id="21" name="Shape 19"/>
          <p:cNvSpPr/>
          <p:nvPr/>
        </p:nvSpPr>
        <p:spPr>
          <a:xfrm>
            <a:off x="5321808" y="5207215"/>
            <a:ext cx="6300216" cy="937553"/>
          </a:xfrm>
          <a:prstGeom prst="roundRect">
            <a:avLst>
              <a:gd name="adj" fmla="val 6827"/>
            </a:avLst>
          </a:prstGeom>
          <a:solidFill>
            <a:srgbClr val="EAF7F0"/>
          </a:solidFill>
          <a:ln w="12700">
            <a:solidFill>
              <a:srgbClr val="C0D4CB"/>
            </a:solidFill>
            <a:prstDash val="solid"/>
          </a:ln>
        </p:spPr>
        <p:txBody>
          <a:bodyPr/>
          <a:lstStyle/>
          <a:p>
            <a:endParaRPr lang="en-GB" noProof="0" dirty="0"/>
          </a:p>
        </p:txBody>
      </p:sp>
      <p:sp>
        <p:nvSpPr>
          <p:cNvPr id="22" name="Text 20"/>
          <p:cNvSpPr txBox="1"/>
          <p:nvPr/>
        </p:nvSpPr>
        <p:spPr>
          <a:xfrm>
            <a:off x="5559552" y="5280367"/>
            <a:ext cx="5824728" cy="791249"/>
          </a:xfrm>
          <a:prstGeom prst="rect">
            <a:avLst/>
          </a:prstGeom>
          <a:noFill/>
          <a:ln/>
        </p:spPr>
        <p:txBody>
          <a:bodyPr wrap="square" lIns="0" tIns="0" rIns="0" bIns="0" rtlCol="0" anchor="ctr"/>
          <a:lstStyle/>
          <a:p>
            <a:pPr marL="0" indent="0">
              <a:lnSpc>
                <a:spcPct val="104000"/>
              </a:lnSpc>
              <a:buNone/>
            </a:pPr>
            <a:r>
              <a:rPr lang="en-GB" sz="1800" b="1" noProof="0" dirty="0">
                <a:solidFill>
                  <a:srgbClr val="19543E"/>
                </a:solidFill>
                <a:latin typeface="Calibri" pitchFamily="34" charset="0"/>
                <a:ea typeface="Calibri" pitchFamily="34" charset="-122"/>
                <a:cs typeface="Calibri" pitchFamily="34" charset="-120"/>
              </a:rPr>
              <a:t>✅ Fact   </a:t>
            </a:r>
            <a:r>
              <a:rPr lang="en-GB" sz="1800" noProof="0" dirty="0">
                <a:solidFill>
                  <a:srgbClr val="23303F"/>
                </a:solidFill>
                <a:latin typeface="Calibri" pitchFamily="34" charset="0"/>
                <a:ea typeface="Calibri" pitchFamily="34" charset="-122"/>
                <a:cs typeface="Calibri" pitchFamily="34" charset="-120"/>
              </a:rPr>
              <a:t>The vaccine contains no live virus and cannot cause HPV infection.</a:t>
            </a:r>
            <a:endParaRPr lang="en-GB" sz="1800" noProof="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68</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RISK FACTORS</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Cause, risk and screening history</a:t>
            </a:r>
            <a:endParaRPr lang="en-GB" sz="3200" noProof="0" dirty="0"/>
          </a:p>
        </p:txBody>
      </p:sp>
      <p:sp>
        <p:nvSpPr>
          <p:cNvPr id="6" name="Shape 4"/>
          <p:cNvSpPr/>
          <p:nvPr/>
        </p:nvSpPr>
        <p:spPr>
          <a:xfrm>
            <a:off x="566928" y="1515876"/>
            <a:ext cx="3563112" cy="3566160"/>
          </a:xfrm>
          <a:prstGeom prst="roundRect">
            <a:avLst>
              <a:gd name="adj" fmla="val 2310"/>
            </a:avLst>
          </a:prstGeom>
          <a:solidFill>
            <a:srgbClr val="EAF7F0"/>
          </a:solidFill>
          <a:ln w="12700">
            <a:solidFill>
              <a:srgbClr val="C0D4CB"/>
            </a:solidFill>
            <a:prstDash val="solid"/>
          </a:ln>
        </p:spPr>
        <p:txBody>
          <a:bodyPr/>
          <a:lstStyle/>
          <a:p>
            <a:endParaRPr lang="en-GB" noProof="0" dirty="0"/>
          </a:p>
        </p:txBody>
      </p:sp>
      <p:sp>
        <p:nvSpPr>
          <p:cNvPr id="7" name="Text 5"/>
          <p:cNvSpPr txBox="1"/>
          <p:nvPr/>
        </p:nvSpPr>
        <p:spPr>
          <a:xfrm>
            <a:off x="822960" y="1717044"/>
            <a:ext cx="3051048" cy="566928"/>
          </a:xfrm>
          <a:prstGeom prst="rect">
            <a:avLst/>
          </a:prstGeom>
          <a:noFill/>
          <a:ln/>
        </p:spPr>
        <p:txBody>
          <a:bodyPr wrap="square" lIns="0" tIns="0" rIns="0" bIns="0" rtlCol="0" anchor="ctr"/>
          <a:lstStyle/>
          <a:p>
            <a:pPr marL="0" indent="0">
              <a:buNone/>
            </a:pPr>
            <a:r>
              <a:rPr lang="en-GB" sz="2000" b="1" noProof="0" dirty="0">
                <a:solidFill>
                  <a:srgbClr val="19543E"/>
                </a:solidFill>
                <a:latin typeface="Calibri" pitchFamily="34" charset="0"/>
                <a:ea typeface="Calibri" pitchFamily="34" charset="-122"/>
                <a:cs typeface="Calibri" pitchFamily="34" charset="-120"/>
              </a:rPr>
              <a:t>🧪  The cause</a:t>
            </a:r>
            <a:endParaRPr lang="en-GB" sz="2000" noProof="0" dirty="0"/>
          </a:p>
        </p:txBody>
      </p:sp>
      <p:sp>
        <p:nvSpPr>
          <p:cNvPr id="8" name="Text 6"/>
          <p:cNvSpPr txBox="1"/>
          <p:nvPr/>
        </p:nvSpPr>
        <p:spPr>
          <a:xfrm>
            <a:off x="877824" y="2357124"/>
            <a:ext cx="2996184" cy="252374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Persistent infection with a high-risk HPV type.</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Without this, cervical cancer does not develop.</a:t>
            </a:r>
            <a:endParaRPr lang="en-GB" sz="1800" noProof="0" dirty="0"/>
          </a:p>
        </p:txBody>
      </p:sp>
      <p:sp>
        <p:nvSpPr>
          <p:cNvPr id="9" name="Shape 7"/>
          <p:cNvSpPr/>
          <p:nvPr/>
        </p:nvSpPr>
        <p:spPr>
          <a:xfrm>
            <a:off x="4312920" y="1515876"/>
            <a:ext cx="3563112" cy="3566160"/>
          </a:xfrm>
          <a:prstGeom prst="roundRect">
            <a:avLst>
              <a:gd name="adj" fmla="val 2310"/>
            </a:avLst>
          </a:prstGeom>
          <a:solidFill>
            <a:srgbClr val="FFF2DF"/>
          </a:solidFill>
          <a:ln w="12700">
            <a:solidFill>
              <a:srgbClr val="E8DDC7"/>
            </a:solidFill>
            <a:prstDash val="solid"/>
          </a:ln>
        </p:spPr>
        <p:txBody>
          <a:bodyPr/>
          <a:lstStyle/>
          <a:p>
            <a:endParaRPr lang="en-GB" noProof="0" dirty="0"/>
          </a:p>
        </p:txBody>
      </p:sp>
      <p:sp>
        <p:nvSpPr>
          <p:cNvPr id="10" name="Text 8"/>
          <p:cNvSpPr txBox="1"/>
          <p:nvPr/>
        </p:nvSpPr>
        <p:spPr>
          <a:xfrm>
            <a:off x="4568952" y="1717044"/>
            <a:ext cx="3051048" cy="566928"/>
          </a:xfrm>
          <a:prstGeom prst="rect">
            <a:avLst/>
          </a:prstGeom>
          <a:noFill/>
          <a:ln/>
        </p:spPr>
        <p:txBody>
          <a:bodyPr wrap="square" lIns="0" tIns="0" rIns="0" bIns="0" rtlCol="0" anchor="ctr"/>
          <a:lstStyle/>
          <a:p>
            <a:pPr marL="0" indent="0">
              <a:buNone/>
            </a:pPr>
            <a:r>
              <a:rPr lang="en-GB" sz="2000" b="1" noProof="0" dirty="0">
                <a:solidFill>
                  <a:srgbClr val="7B5727"/>
                </a:solidFill>
                <a:latin typeface="Calibri" pitchFamily="34" charset="0"/>
                <a:ea typeface="Calibri" pitchFamily="34" charset="-122"/>
                <a:cs typeface="Calibri" pitchFamily="34" charset="-120"/>
              </a:rPr>
              <a:t>⚠️  Increases the risk</a:t>
            </a:r>
            <a:endParaRPr lang="en-GB" sz="2000" noProof="0" dirty="0"/>
          </a:p>
        </p:txBody>
      </p:sp>
      <p:sp>
        <p:nvSpPr>
          <p:cNvPr id="11" name="Text 9"/>
          <p:cNvSpPr txBox="1"/>
          <p:nvPr/>
        </p:nvSpPr>
        <p:spPr>
          <a:xfrm>
            <a:off x="4623816" y="2357124"/>
            <a:ext cx="2996184" cy="252374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Living with HIV, or other causes of reduced immunity.</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Tobacco use.</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Previous cervical precancer.</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Factors that make an HPV infection more likely to persist.</a:t>
            </a:r>
            <a:endParaRPr lang="en-GB" sz="1800" noProof="0" dirty="0"/>
          </a:p>
        </p:txBody>
      </p:sp>
      <p:sp>
        <p:nvSpPr>
          <p:cNvPr id="12" name="Shape 10"/>
          <p:cNvSpPr/>
          <p:nvPr/>
        </p:nvSpPr>
        <p:spPr>
          <a:xfrm>
            <a:off x="8058912" y="1515876"/>
            <a:ext cx="3563112" cy="3566160"/>
          </a:xfrm>
          <a:prstGeom prst="roundRect">
            <a:avLst>
              <a:gd name="adj" fmla="val 2310"/>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8314944" y="1717044"/>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Screening history affects risk of late diagnosis</a:t>
            </a:r>
            <a:endParaRPr lang="en-GB" sz="2000" noProof="0" dirty="0"/>
          </a:p>
        </p:txBody>
      </p:sp>
      <p:sp>
        <p:nvSpPr>
          <p:cNvPr id="14" name="Text 12"/>
          <p:cNvSpPr txBox="1"/>
          <p:nvPr/>
        </p:nvSpPr>
        <p:spPr>
          <a:xfrm>
            <a:off x="8369808" y="2357124"/>
            <a:ext cx="2996184" cy="252374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Never having been screened.</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An abnormal result that was never followed up.</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Most women who develop cervical cancer in Rwanda were never screened.</a:t>
            </a:r>
            <a:endParaRPr lang="en-GB" sz="1800" noProof="0" dirty="0"/>
          </a:p>
        </p:txBody>
      </p:sp>
      <p:sp>
        <p:nvSpPr>
          <p:cNvPr id="15" name="Shape 13"/>
          <p:cNvSpPr/>
          <p:nvPr/>
        </p:nvSpPr>
        <p:spPr>
          <a:xfrm>
            <a:off x="566928" y="5449824"/>
            <a:ext cx="11055096" cy="786384"/>
          </a:xfrm>
          <a:prstGeom prst="roundRect">
            <a:avLst>
              <a:gd name="adj" fmla="val 8140"/>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5504688"/>
            <a:ext cx="10506456" cy="676656"/>
          </a:xfrm>
          <a:prstGeom prst="rect">
            <a:avLst/>
          </a:prstGeom>
          <a:noFill/>
          <a:ln/>
        </p:spPr>
        <p:txBody>
          <a:bodyPr wrap="square" lIns="0" tIns="0" rIns="0" bIns="0" rtlCol="0" anchor="ctr"/>
          <a:lstStyle/>
          <a:p>
            <a:pPr marL="0" indent="0">
              <a:lnSpc>
                <a:spcPct val="104000"/>
              </a:lnSpc>
              <a:buNone/>
            </a:pPr>
            <a:r>
              <a:rPr lang="en-GB" sz="1800" b="1" noProof="0" dirty="0">
                <a:solidFill>
                  <a:srgbClr val="19543E"/>
                </a:solidFill>
                <a:latin typeface="Calibri" pitchFamily="34" charset="0"/>
                <a:ea typeface="Calibri" pitchFamily="34" charset="-122"/>
                <a:cs typeface="Calibri" pitchFamily="34" charset="-120"/>
              </a:rPr>
              <a:t>💬 Say it this way:  </a:t>
            </a:r>
            <a:r>
              <a:rPr lang="en-GB" sz="1800" noProof="0" dirty="0">
                <a:solidFill>
                  <a:srgbClr val="23303F"/>
                </a:solidFill>
                <a:latin typeface="Calibri" pitchFamily="34" charset="0"/>
                <a:ea typeface="Calibri" pitchFamily="34" charset="-122"/>
                <a:cs typeface="Calibri" pitchFamily="34" charset="-120"/>
              </a:rPr>
              <a:t>No woman is to blame for her diagnosis. Language that implies blame delays care and keeps women away from services.</a:t>
            </a:r>
            <a:endParaRPr lang="en-GB" sz="1800" noProof="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69</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RISK FACTORS</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HIV and cervical cancer</a:t>
            </a:r>
            <a:endParaRPr lang="en-GB" sz="3200" noProof="0" dirty="0"/>
          </a:p>
        </p:txBody>
      </p:sp>
      <p:sp>
        <p:nvSpPr>
          <p:cNvPr id="6" name="Shape 4"/>
          <p:cNvSpPr/>
          <p:nvPr/>
        </p:nvSpPr>
        <p:spPr>
          <a:xfrm>
            <a:off x="566928" y="1457810"/>
            <a:ext cx="3563112" cy="4760109"/>
          </a:xfrm>
          <a:prstGeom prst="roundRect">
            <a:avLst>
              <a:gd name="adj" fmla="val 3103"/>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822960" y="1640691"/>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Higher risk</a:t>
            </a:r>
            <a:endParaRPr lang="en-GB" sz="2000" noProof="0" dirty="0"/>
          </a:p>
        </p:txBody>
      </p:sp>
      <p:sp>
        <p:nvSpPr>
          <p:cNvPr id="8" name="Text 6"/>
          <p:cNvSpPr txBox="1"/>
          <p:nvPr/>
        </p:nvSpPr>
        <p:spPr>
          <a:xfrm>
            <a:off x="822960" y="2244195"/>
            <a:ext cx="3051048" cy="1682496"/>
          </a:xfrm>
          <a:prstGeom prst="rect">
            <a:avLst/>
          </a:prstGeom>
          <a:noFill/>
          <a:ln/>
        </p:spPr>
        <p:txBody>
          <a:bodyPr wrap="square" lIns="0" tIns="0" rIns="0" bIns="0" rtlCol="0" anchor="t"/>
          <a:lstStyle/>
          <a:p>
            <a:pPr marL="0" indent="0">
              <a:lnSpc>
                <a:spcPct val="106000"/>
              </a:lnSpc>
              <a:buNone/>
            </a:pPr>
            <a:r>
              <a:rPr lang="en-GB" sz="1800" noProof="0" dirty="0">
                <a:solidFill>
                  <a:schemeClr val="accent1">
                    <a:lumMod val="50000"/>
                  </a:schemeClr>
                </a:solidFill>
                <a:latin typeface="Calibri" pitchFamily="34" charset="0"/>
                <a:ea typeface="Calibri" pitchFamily="34" charset="-122"/>
                <a:cs typeface="Calibri" pitchFamily="34" charset="-120"/>
              </a:rPr>
              <a:t>Women living with HIV are more likely to have persistent high-risk HPV infection, cervical precancer and cervical cancer.</a:t>
            </a:r>
            <a:endParaRPr lang="en-GB" sz="1800" noProof="0" dirty="0">
              <a:solidFill>
                <a:schemeClr val="accent1">
                  <a:lumMod val="50000"/>
                </a:schemeClr>
              </a:solidFill>
            </a:endParaRPr>
          </a:p>
        </p:txBody>
      </p:sp>
      <p:sp>
        <p:nvSpPr>
          <p:cNvPr id="9" name="Shape 7"/>
          <p:cNvSpPr/>
          <p:nvPr/>
        </p:nvSpPr>
        <p:spPr>
          <a:xfrm>
            <a:off x="4312920" y="1457810"/>
            <a:ext cx="3563112" cy="4760109"/>
          </a:xfrm>
          <a:prstGeom prst="roundRect">
            <a:avLst>
              <a:gd name="adj" fmla="val 3103"/>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4568952" y="1640691"/>
            <a:ext cx="3307080" cy="566928"/>
          </a:xfrm>
          <a:prstGeom prst="rect">
            <a:avLst/>
          </a:prstGeom>
          <a:noFill/>
          <a:ln/>
        </p:spPr>
        <p:txBody>
          <a:bodyPr wrap="square" lIns="0" tIns="0" rIns="0" bIns="0" rtlCol="0" anchor="ctr"/>
          <a:lstStyle/>
          <a:p>
            <a:r>
              <a:rPr lang="en-GB" sz="2000" b="1" noProof="0" dirty="0">
                <a:solidFill>
                  <a:srgbClr val="10305A"/>
                </a:solidFill>
                <a:latin typeface="Calibri" pitchFamily="34" charset="0"/>
                <a:ea typeface="Calibri" pitchFamily="34" charset="-122"/>
                <a:cs typeface="Calibri" pitchFamily="34" charset="-120"/>
              </a:rPr>
              <a:t>🔎  Earlier and more frequent screening</a:t>
            </a:r>
          </a:p>
        </p:txBody>
      </p:sp>
      <p:sp>
        <p:nvSpPr>
          <p:cNvPr id="11" name="Text 9"/>
          <p:cNvSpPr txBox="1"/>
          <p:nvPr/>
        </p:nvSpPr>
        <p:spPr>
          <a:xfrm>
            <a:off x="4568952" y="2297420"/>
            <a:ext cx="3051048" cy="1682496"/>
          </a:xfrm>
          <a:prstGeom prst="rect">
            <a:avLst/>
          </a:prstGeom>
          <a:noFill/>
          <a:ln/>
        </p:spPr>
        <p:txBody>
          <a:bodyPr wrap="square" lIns="0" tIns="0" rIns="0" bIns="0" rtlCol="0" anchor="t"/>
          <a:lstStyle/>
          <a:p>
            <a:pPr marL="285750" indent="-285750">
              <a:lnSpc>
                <a:spcPct val="106000"/>
              </a:lnSpc>
              <a:buFont typeface="Arial" panose="020B0604020202020204" pitchFamily="34" charset="0"/>
              <a:buChar char="•"/>
            </a:pPr>
            <a:r>
              <a:rPr lang="en-GB" sz="1600" b="1" noProof="0" dirty="0">
                <a:solidFill>
                  <a:schemeClr val="accent1">
                    <a:lumMod val="50000"/>
                  </a:schemeClr>
                </a:solidFill>
                <a:latin typeface="Calibri" pitchFamily="34" charset="0"/>
                <a:ea typeface="Calibri" pitchFamily="34" charset="-122"/>
                <a:cs typeface="Calibri" pitchFamily="34" charset="-120"/>
              </a:rPr>
              <a:t>Women living with HIV: </a:t>
            </a:r>
            <a:r>
              <a:rPr lang="en-GB" sz="1600" noProof="0" dirty="0">
                <a:solidFill>
                  <a:schemeClr val="accent1">
                    <a:lumMod val="50000"/>
                  </a:schemeClr>
                </a:solidFill>
                <a:latin typeface="Calibri" pitchFamily="34" charset="0"/>
                <a:ea typeface="Calibri" pitchFamily="34" charset="-122"/>
                <a:cs typeface="Calibri" pitchFamily="34" charset="-120"/>
              </a:rPr>
              <a:t>priority age 25 to 49, HPV test every 5 years.</a:t>
            </a:r>
          </a:p>
          <a:p>
            <a:pPr marL="285750" indent="-285750">
              <a:lnSpc>
                <a:spcPct val="106000"/>
              </a:lnSpc>
              <a:buFont typeface="Arial" panose="020B0604020202020204" pitchFamily="34" charset="0"/>
              <a:buChar char="•"/>
            </a:pPr>
            <a:r>
              <a:rPr lang="en-GB" sz="1600" b="1" noProof="0" dirty="0">
                <a:solidFill>
                  <a:schemeClr val="accent1">
                    <a:lumMod val="50000"/>
                  </a:schemeClr>
                </a:solidFill>
                <a:latin typeface="Calibri" pitchFamily="34" charset="0"/>
                <a:ea typeface="Calibri" pitchFamily="34" charset="-122"/>
                <a:cs typeface="Calibri" pitchFamily="34" charset="-120"/>
              </a:rPr>
              <a:t>General population: </a:t>
            </a:r>
            <a:r>
              <a:rPr lang="en-GB" sz="1600" noProof="0" dirty="0">
                <a:solidFill>
                  <a:schemeClr val="accent1">
                    <a:lumMod val="50000"/>
                  </a:schemeClr>
                </a:solidFill>
                <a:latin typeface="Calibri" pitchFamily="34" charset="0"/>
                <a:ea typeface="Calibri" pitchFamily="34" charset="-122"/>
                <a:cs typeface="Calibri" pitchFamily="34" charset="-120"/>
              </a:rPr>
              <a:t>priority age 30 to 49, HPV test every 10 years.</a:t>
            </a:r>
          </a:p>
          <a:p>
            <a:pPr marL="285750" indent="-285750">
              <a:lnSpc>
                <a:spcPct val="106000"/>
              </a:lnSpc>
              <a:buFont typeface="Arial" panose="020B0604020202020204" pitchFamily="34" charset="0"/>
              <a:buChar char="•"/>
            </a:pPr>
            <a:r>
              <a:rPr lang="en-GB" sz="1600" noProof="0" dirty="0">
                <a:solidFill>
                  <a:schemeClr val="accent1">
                    <a:lumMod val="50000"/>
                  </a:schemeClr>
                </a:solidFill>
              </a:rPr>
              <a:t>Aged 50 to 65, never screened: Pap smear, or VIA if Pap is not available.</a:t>
            </a:r>
          </a:p>
        </p:txBody>
      </p:sp>
      <p:sp>
        <p:nvSpPr>
          <p:cNvPr id="12" name="Shape 10"/>
          <p:cNvSpPr/>
          <p:nvPr/>
        </p:nvSpPr>
        <p:spPr>
          <a:xfrm>
            <a:off x="8058912" y="1457810"/>
            <a:ext cx="3563112" cy="4760109"/>
          </a:xfrm>
          <a:prstGeom prst="roundRect">
            <a:avLst>
              <a:gd name="adj" fmla="val 3103"/>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8314944" y="1640691"/>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Without stigma</a:t>
            </a:r>
            <a:endParaRPr lang="en-GB" sz="2000" noProof="0" dirty="0"/>
          </a:p>
        </p:txBody>
      </p:sp>
      <p:sp>
        <p:nvSpPr>
          <p:cNvPr id="14" name="Text 12"/>
          <p:cNvSpPr txBox="1"/>
          <p:nvPr/>
        </p:nvSpPr>
        <p:spPr>
          <a:xfrm>
            <a:off x="8314944" y="2244195"/>
            <a:ext cx="3051048" cy="1682496"/>
          </a:xfrm>
          <a:prstGeom prst="rect">
            <a:avLst/>
          </a:prstGeom>
          <a:noFill/>
          <a:ln/>
        </p:spPr>
        <p:txBody>
          <a:bodyPr wrap="square" lIns="0" tIns="0" rIns="0" bIns="0" rtlCol="0" anchor="t"/>
          <a:lstStyle/>
          <a:p>
            <a:pPr marL="0" indent="0">
              <a:lnSpc>
                <a:spcPct val="106000"/>
              </a:lnSpc>
              <a:buNone/>
            </a:pPr>
            <a:r>
              <a:rPr lang="en-GB" sz="1800" noProof="0" dirty="0">
                <a:solidFill>
                  <a:schemeClr val="accent1">
                    <a:lumMod val="50000"/>
                  </a:schemeClr>
                </a:solidFill>
                <a:latin typeface="Calibri" pitchFamily="34" charset="0"/>
                <a:ea typeface="Calibri" pitchFamily="34" charset="-122"/>
                <a:cs typeface="Calibri" pitchFamily="34" charset="-120"/>
              </a:rPr>
              <a:t>Explain the reason for closer screening as a clinical fact. Never use language that isolates or blames.</a:t>
            </a:r>
            <a:endParaRPr lang="en-GB" sz="1800" noProof="0" dirty="0">
              <a:solidFill>
                <a:schemeClr val="accent1">
                  <a:lumMod val="50000"/>
                </a:schemeClr>
              </a:solidFill>
            </a:endParaRPr>
          </a:p>
        </p:txBody>
      </p:sp>
      <p:pic>
        <p:nvPicPr>
          <p:cNvPr id="17" name="Imagen 16">
            <a:extLst>
              <a:ext uri="{FF2B5EF4-FFF2-40B4-BE49-F238E27FC236}">
                <a16:creationId xmlns:a16="http://schemas.microsoft.com/office/drawing/2014/main" id="{E9FB145C-D925-DFE1-1952-501B7027ACC3}"/>
              </a:ext>
            </a:extLst>
          </p:cNvPr>
          <p:cNvPicPr>
            <a:picLocks noChangeAspect="1"/>
          </p:cNvPicPr>
          <p:nvPr/>
        </p:nvPicPr>
        <p:blipFill>
          <a:blip r:embed="rId3"/>
          <a:srcRect t="16176" b="21732"/>
          <a:stretch>
            <a:fillRect/>
          </a:stretch>
        </p:blipFill>
        <p:spPr>
          <a:xfrm>
            <a:off x="659553" y="3428738"/>
            <a:ext cx="3377861" cy="1398243"/>
          </a:xfrm>
          <a:prstGeom prst="rect">
            <a:avLst/>
          </a:prstGeom>
        </p:spPr>
      </p:pic>
      <p:pic>
        <p:nvPicPr>
          <p:cNvPr id="18" name="Imagen 17">
            <a:extLst>
              <a:ext uri="{FF2B5EF4-FFF2-40B4-BE49-F238E27FC236}">
                <a16:creationId xmlns:a16="http://schemas.microsoft.com/office/drawing/2014/main" id="{7F8B8443-2763-C684-F0DD-62F545B5B726}"/>
              </a:ext>
            </a:extLst>
          </p:cNvPr>
          <p:cNvPicPr>
            <a:picLocks noChangeAspect="1"/>
          </p:cNvPicPr>
          <p:nvPr/>
        </p:nvPicPr>
        <p:blipFill>
          <a:blip r:embed="rId4"/>
          <a:srcRect t="20529" b="17978"/>
          <a:stretch>
            <a:fillRect/>
          </a:stretch>
        </p:blipFill>
        <p:spPr>
          <a:xfrm>
            <a:off x="4759186" y="4987718"/>
            <a:ext cx="2673628" cy="1096052"/>
          </a:xfrm>
          <a:prstGeom prst="rect">
            <a:avLst/>
          </a:prstGeom>
        </p:spPr>
      </p:pic>
      <p:pic>
        <p:nvPicPr>
          <p:cNvPr id="19" name="Imagen 18">
            <a:extLst>
              <a:ext uri="{FF2B5EF4-FFF2-40B4-BE49-F238E27FC236}">
                <a16:creationId xmlns:a16="http://schemas.microsoft.com/office/drawing/2014/main" id="{61FC75C1-D7B9-828F-46F6-0E761D2B7CF6}"/>
              </a:ext>
            </a:extLst>
          </p:cNvPr>
          <p:cNvPicPr>
            <a:picLocks noChangeAspect="1"/>
          </p:cNvPicPr>
          <p:nvPr/>
        </p:nvPicPr>
        <p:blipFill>
          <a:blip r:embed="rId5"/>
          <a:srcRect t="6373" b="10039"/>
          <a:stretch>
            <a:fillRect/>
          </a:stretch>
        </p:blipFill>
        <p:spPr>
          <a:xfrm>
            <a:off x="8613478" y="3444113"/>
            <a:ext cx="2453979" cy="1367491"/>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70</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SCREENING</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Screening is not symptom assessment</a:t>
            </a:r>
            <a:endParaRPr lang="en-GB" sz="3200" noProof="0" dirty="0"/>
          </a:p>
        </p:txBody>
      </p:sp>
      <p:sp>
        <p:nvSpPr>
          <p:cNvPr id="6" name="Shape 4"/>
          <p:cNvSpPr/>
          <p:nvPr/>
        </p:nvSpPr>
        <p:spPr>
          <a:xfrm>
            <a:off x="566928" y="1719072"/>
            <a:ext cx="5436108" cy="3566160"/>
          </a:xfrm>
          <a:prstGeom prst="roundRect">
            <a:avLst>
              <a:gd name="adj" fmla="val 2308"/>
            </a:avLst>
          </a:prstGeom>
          <a:solidFill>
            <a:srgbClr val="EAF7F0"/>
          </a:solidFill>
          <a:ln w="12700">
            <a:solidFill>
              <a:srgbClr val="C0D4CB"/>
            </a:solidFill>
            <a:prstDash val="solid"/>
          </a:ln>
        </p:spPr>
        <p:txBody>
          <a:bodyPr/>
          <a:lstStyle/>
          <a:p>
            <a:endParaRPr lang="en-GB" noProof="0" dirty="0"/>
          </a:p>
        </p:txBody>
      </p:sp>
      <p:sp>
        <p:nvSpPr>
          <p:cNvPr id="7" name="Text 5"/>
          <p:cNvSpPr txBox="1"/>
          <p:nvPr/>
        </p:nvSpPr>
        <p:spPr>
          <a:xfrm>
            <a:off x="822960" y="1920240"/>
            <a:ext cx="4924044" cy="566928"/>
          </a:xfrm>
          <a:prstGeom prst="rect">
            <a:avLst/>
          </a:prstGeom>
          <a:noFill/>
          <a:ln/>
        </p:spPr>
        <p:txBody>
          <a:bodyPr wrap="square" lIns="0" tIns="0" rIns="0" bIns="0" rtlCol="0" anchor="ctr"/>
          <a:lstStyle/>
          <a:p>
            <a:pPr marL="0" indent="0">
              <a:buNone/>
            </a:pPr>
            <a:r>
              <a:rPr lang="en-GB" sz="2000" b="1" noProof="0" dirty="0">
                <a:solidFill>
                  <a:srgbClr val="19543E"/>
                </a:solidFill>
                <a:latin typeface="Calibri" pitchFamily="34" charset="0"/>
                <a:ea typeface="Calibri" pitchFamily="34" charset="-122"/>
                <a:cs typeface="Calibri" pitchFamily="34" charset="-120"/>
              </a:rPr>
              <a:t>🔎  Screening</a:t>
            </a:r>
            <a:endParaRPr lang="en-GB" sz="2000" noProof="0" dirty="0"/>
          </a:p>
        </p:txBody>
      </p:sp>
      <p:sp>
        <p:nvSpPr>
          <p:cNvPr id="8" name="Text 6"/>
          <p:cNvSpPr txBox="1"/>
          <p:nvPr/>
        </p:nvSpPr>
        <p:spPr>
          <a:xfrm>
            <a:off x="877824" y="2560320"/>
            <a:ext cx="4869180" cy="252374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Testing eligible women who have no symptoms.</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Aims to find high-risk HPV infection or cervical changes early.</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Follows a defined programme pathway with a set interval.</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Can prevent cancer, because precancer can be treated.</a:t>
            </a:r>
            <a:endParaRPr lang="en-GB" sz="1800" noProof="0" dirty="0"/>
          </a:p>
        </p:txBody>
      </p:sp>
      <p:sp>
        <p:nvSpPr>
          <p:cNvPr id="9" name="Shape 7"/>
          <p:cNvSpPr/>
          <p:nvPr/>
        </p:nvSpPr>
        <p:spPr>
          <a:xfrm>
            <a:off x="6185916" y="1719072"/>
            <a:ext cx="5436108" cy="3566160"/>
          </a:xfrm>
          <a:prstGeom prst="roundRect">
            <a:avLst>
              <a:gd name="adj" fmla="val 2308"/>
            </a:avLst>
          </a:prstGeom>
          <a:solidFill>
            <a:srgbClr val="FFF2DF"/>
          </a:solidFill>
          <a:ln w="12700">
            <a:solidFill>
              <a:srgbClr val="E8DDC7"/>
            </a:solidFill>
            <a:prstDash val="solid"/>
          </a:ln>
        </p:spPr>
        <p:txBody>
          <a:bodyPr/>
          <a:lstStyle/>
          <a:p>
            <a:endParaRPr lang="en-GB" noProof="0" dirty="0"/>
          </a:p>
        </p:txBody>
      </p:sp>
      <p:sp>
        <p:nvSpPr>
          <p:cNvPr id="10" name="Text 8"/>
          <p:cNvSpPr txBox="1"/>
          <p:nvPr/>
        </p:nvSpPr>
        <p:spPr>
          <a:xfrm>
            <a:off x="6441948" y="1920240"/>
            <a:ext cx="4924044" cy="566928"/>
          </a:xfrm>
          <a:prstGeom prst="rect">
            <a:avLst/>
          </a:prstGeom>
          <a:noFill/>
          <a:ln/>
        </p:spPr>
        <p:txBody>
          <a:bodyPr wrap="square" lIns="0" tIns="0" rIns="0" bIns="0" rtlCol="0" anchor="ctr"/>
          <a:lstStyle/>
          <a:p>
            <a:pPr marL="0" indent="0">
              <a:buNone/>
            </a:pPr>
            <a:r>
              <a:rPr lang="en-GB" sz="2000" b="1" noProof="0" dirty="0">
                <a:solidFill>
                  <a:srgbClr val="7B5727"/>
                </a:solidFill>
                <a:latin typeface="Calibri" pitchFamily="34" charset="0"/>
                <a:ea typeface="Calibri" pitchFamily="34" charset="-122"/>
                <a:cs typeface="Calibri" pitchFamily="34" charset="-120"/>
              </a:rPr>
              <a:t>🩺  Diagnostic assessment</a:t>
            </a:r>
            <a:endParaRPr lang="en-GB" sz="2000" noProof="0" dirty="0"/>
          </a:p>
        </p:txBody>
      </p:sp>
      <p:sp>
        <p:nvSpPr>
          <p:cNvPr id="11" name="Text 9"/>
          <p:cNvSpPr txBox="1"/>
          <p:nvPr/>
        </p:nvSpPr>
        <p:spPr>
          <a:xfrm>
            <a:off x="6496812" y="2560320"/>
            <a:ext cx="4869180" cy="252374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Investigating a woman with concerning symptoms.</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Also used for a suspicious cervix, or a screening result that needs evaluation.</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Aims to find out what is causing the problem.</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A screening test is not a substitute for it.</a:t>
            </a:r>
            <a:endParaRPr lang="en-GB" sz="1800" noProof="0" dirty="0"/>
          </a:p>
        </p:txBody>
      </p:sp>
      <p:sp>
        <p:nvSpPr>
          <p:cNvPr id="12" name="Shape 10"/>
          <p:cNvSpPr/>
          <p:nvPr/>
        </p:nvSpPr>
        <p:spPr>
          <a:xfrm>
            <a:off x="566928" y="5449824"/>
            <a:ext cx="11055096" cy="786384"/>
          </a:xfrm>
          <a:prstGeom prst="roundRect">
            <a:avLst>
              <a:gd name="adj" fmla="val 8140"/>
            </a:avLst>
          </a:prstGeom>
          <a:solidFill>
            <a:srgbClr val="FDE9E8"/>
          </a:solidFill>
          <a:ln w="12700">
            <a:solidFill>
              <a:srgbClr val="F0CFCE"/>
            </a:solidFill>
            <a:prstDash val="solid"/>
          </a:ln>
        </p:spPr>
        <p:txBody>
          <a:bodyPr/>
          <a:lstStyle/>
          <a:p>
            <a:endParaRPr lang="en-GB" noProof="0" dirty="0"/>
          </a:p>
        </p:txBody>
      </p:sp>
      <p:sp>
        <p:nvSpPr>
          <p:cNvPr id="13" name="Text 11"/>
          <p:cNvSpPr txBox="1"/>
          <p:nvPr/>
        </p:nvSpPr>
        <p:spPr>
          <a:xfrm>
            <a:off x="841248" y="5504688"/>
            <a:ext cx="10506456" cy="676656"/>
          </a:xfrm>
          <a:prstGeom prst="rect">
            <a:avLst/>
          </a:prstGeom>
          <a:noFill/>
          <a:ln/>
        </p:spPr>
        <p:txBody>
          <a:bodyPr wrap="square" lIns="0" tIns="0" rIns="0" bIns="0" rtlCol="0" anchor="ctr"/>
          <a:lstStyle/>
          <a:p>
            <a:pPr marL="0" indent="0">
              <a:lnSpc>
                <a:spcPct val="104000"/>
              </a:lnSpc>
              <a:buNone/>
            </a:pPr>
            <a:r>
              <a:rPr lang="en-GB" sz="1800" b="1" noProof="0" dirty="0">
                <a:solidFill>
                  <a:srgbClr val="8E2531"/>
                </a:solidFill>
                <a:latin typeface="Calibri" pitchFamily="34" charset="0"/>
                <a:ea typeface="Calibri" pitchFamily="34" charset="-122"/>
                <a:cs typeface="Calibri" pitchFamily="34" charset="-120"/>
              </a:rPr>
              <a:t>⚠️ Critical distinction:  </a:t>
            </a:r>
            <a:r>
              <a:rPr lang="en-GB" sz="1800" noProof="0" dirty="0">
                <a:solidFill>
                  <a:srgbClr val="23303F"/>
                </a:solidFill>
                <a:latin typeface="Calibri" pitchFamily="34" charset="0"/>
                <a:ea typeface="Calibri" pitchFamily="34" charset="-122"/>
                <a:cs typeface="Calibri" pitchFamily="34" charset="-120"/>
              </a:rPr>
              <a:t>A woman with significant abnormal vaginal bleeding needs assessment, not a routine screening test.</a:t>
            </a:r>
            <a:endParaRPr lang="en-GB" sz="1800" noProof="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71</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INTERACTIVE</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Screening or assessment?</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A 44 year old woman describes four months of bleeding after intercourse. What does she need?</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A routine screening test, with the result reviewed in a few weeks</a:t>
            </a:r>
            <a:endParaRPr lang="en-GB" sz="1800" noProof="0" dirty="0"/>
          </a:p>
        </p:txBody>
      </p:sp>
      <p:sp>
        <p:nvSpPr>
          <p:cNvPr id="13" name="Shape 11"/>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Treatment for a vaginal infection, with review in three months</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Reassurance, because bleeding after intercourse is normal</a:t>
            </a:r>
            <a:endParaRPr lang="en-GB" sz="1800" noProof="0" dirty="0"/>
          </a:p>
        </p:txBody>
      </p:sp>
      <p:sp>
        <p:nvSpPr>
          <p:cNvPr id="9" name="Shape 7"/>
          <p:cNvSpPr/>
          <p:nvPr/>
        </p:nvSpPr>
        <p:spPr>
          <a:xfrm>
            <a:off x="566928" y="4050792"/>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Diagnostic assessment, including examination of the cervix</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D
Feedback: </a:t>
            </a:r>
            <a:r>
              <a:rPr lang="en-GB" sz="1800" noProof="0" dirty="0">
                <a:solidFill>
                  <a:srgbClr val="23303F"/>
                </a:solidFill>
                <a:latin typeface="Calibri" pitchFamily="34" charset="0"/>
                <a:ea typeface="Calibri" pitchFamily="34" charset="-122"/>
                <a:cs typeface="Calibri" pitchFamily="34" charset="-120"/>
              </a:rPr>
              <a:t>She has a concerning symptom, so she needs assessment of the cervix now. Offering a screening test instead would add delay, and a negative result could falsely reassure both of you.</a:t>
            </a:r>
            <a:endParaRPr lang="en-GB" sz="1800" noProof="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72</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SIGNS AND SYMPTOMS</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Symptoms of invasive cervical cancer</a:t>
            </a:r>
            <a:endParaRPr lang="en-GB" sz="3200" noProof="0" dirty="0"/>
          </a:p>
        </p:txBody>
      </p:sp>
      <p:sp>
        <p:nvSpPr>
          <p:cNvPr id="6" name="Shape 4"/>
          <p:cNvSpPr/>
          <p:nvPr/>
        </p:nvSpPr>
        <p:spPr>
          <a:xfrm>
            <a:off x="566928" y="1397345"/>
            <a:ext cx="3563112" cy="3377168"/>
          </a:xfrm>
          <a:prstGeom prst="roundRect">
            <a:avLst>
              <a:gd name="adj" fmla="val 3103"/>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822960" y="1427828"/>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Abnormal bleeding</a:t>
            </a:r>
            <a:endParaRPr lang="en-GB" sz="2000" noProof="0" dirty="0"/>
          </a:p>
        </p:txBody>
      </p:sp>
      <p:sp>
        <p:nvSpPr>
          <p:cNvPr id="8" name="Text 6"/>
          <p:cNvSpPr txBox="1"/>
          <p:nvPr/>
        </p:nvSpPr>
        <p:spPr>
          <a:xfrm>
            <a:off x="822960" y="2031332"/>
            <a:ext cx="3051048" cy="168249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Bleeding after intercourse, between periods, or any bleeding after the menopause.</a:t>
            </a:r>
            <a:endParaRPr lang="en-GB" sz="1800" noProof="0" dirty="0"/>
          </a:p>
        </p:txBody>
      </p:sp>
      <p:sp>
        <p:nvSpPr>
          <p:cNvPr id="9" name="Shape 7"/>
          <p:cNvSpPr/>
          <p:nvPr/>
        </p:nvSpPr>
        <p:spPr>
          <a:xfrm>
            <a:off x="4312920" y="1397345"/>
            <a:ext cx="3563112" cy="3377168"/>
          </a:xfrm>
          <a:prstGeom prst="roundRect">
            <a:avLst>
              <a:gd name="adj" fmla="val 3103"/>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4568952" y="1427828"/>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Abnormal discharge</a:t>
            </a:r>
            <a:endParaRPr lang="en-GB" sz="2000" noProof="0" dirty="0"/>
          </a:p>
        </p:txBody>
      </p:sp>
      <p:sp>
        <p:nvSpPr>
          <p:cNvPr id="11" name="Text 9"/>
          <p:cNvSpPr txBox="1"/>
          <p:nvPr/>
        </p:nvSpPr>
        <p:spPr>
          <a:xfrm>
            <a:off x="4568952" y="2031332"/>
            <a:ext cx="3051048" cy="168249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Persistent, watery, blood-stained or foul-smelling discharge that does not settle.</a:t>
            </a:r>
            <a:endParaRPr lang="en-GB" sz="1800" noProof="0" dirty="0"/>
          </a:p>
        </p:txBody>
      </p:sp>
      <p:sp>
        <p:nvSpPr>
          <p:cNvPr id="12" name="Shape 10"/>
          <p:cNvSpPr/>
          <p:nvPr/>
        </p:nvSpPr>
        <p:spPr>
          <a:xfrm>
            <a:off x="8058912" y="1397345"/>
            <a:ext cx="3563112" cy="3377168"/>
          </a:xfrm>
          <a:prstGeom prst="roundRect">
            <a:avLst>
              <a:gd name="adj" fmla="val 3103"/>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8314944" y="1427828"/>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Pain</a:t>
            </a:r>
            <a:endParaRPr lang="en-GB" sz="2000" noProof="0" dirty="0"/>
          </a:p>
        </p:txBody>
      </p:sp>
      <p:sp>
        <p:nvSpPr>
          <p:cNvPr id="14" name="Text 12"/>
          <p:cNvSpPr txBox="1"/>
          <p:nvPr/>
        </p:nvSpPr>
        <p:spPr>
          <a:xfrm>
            <a:off x="8314944" y="2031332"/>
            <a:ext cx="3051048" cy="168249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Persistent pelvic, lower back or leg pain, or pain during sexual intercourse.</a:t>
            </a:r>
            <a:endParaRPr lang="en-GB" sz="1800" noProof="0" dirty="0"/>
          </a:p>
        </p:txBody>
      </p:sp>
      <p:sp>
        <p:nvSpPr>
          <p:cNvPr id="15" name="Shape 13"/>
          <p:cNvSpPr/>
          <p:nvPr/>
        </p:nvSpPr>
        <p:spPr>
          <a:xfrm>
            <a:off x="566928" y="4893385"/>
            <a:ext cx="11055096" cy="651261"/>
          </a:xfrm>
          <a:prstGeom prst="roundRect">
            <a:avLst>
              <a:gd name="adj" fmla="val 8140"/>
            </a:avLst>
          </a:prstGeom>
          <a:solidFill>
            <a:srgbClr val="ECF3FD"/>
          </a:solidFill>
          <a:ln w="12700">
            <a:solidFill>
              <a:srgbClr val="E0E3EA"/>
            </a:solidFill>
            <a:prstDash val="solid"/>
          </a:ln>
        </p:spPr>
        <p:txBody>
          <a:bodyPr/>
          <a:lstStyle/>
          <a:p>
            <a:endParaRPr lang="en-GB" sz="1600" noProof="0" dirty="0"/>
          </a:p>
        </p:txBody>
      </p:sp>
      <p:sp>
        <p:nvSpPr>
          <p:cNvPr id="16" name="Text 14"/>
          <p:cNvSpPr txBox="1"/>
          <p:nvPr/>
        </p:nvSpPr>
        <p:spPr>
          <a:xfrm>
            <a:off x="841248" y="4931658"/>
            <a:ext cx="10506456" cy="676656"/>
          </a:xfrm>
          <a:prstGeom prst="rect">
            <a:avLst/>
          </a:prstGeom>
          <a:noFill/>
          <a:ln/>
        </p:spPr>
        <p:txBody>
          <a:bodyPr wrap="square" lIns="0" tIns="0" rIns="0" bIns="0" rtlCol="0" anchor="ctr"/>
          <a:lstStyle/>
          <a:p>
            <a:pPr marL="0" indent="0">
              <a:lnSpc>
                <a:spcPct val="104000"/>
              </a:lnSpc>
              <a:buNone/>
            </a:pPr>
            <a:r>
              <a:rPr lang="en-GB" sz="1600" b="1" noProof="0" dirty="0">
                <a:solidFill>
                  <a:srgbClr val="10305A"/>
                </a:solidFill>
                <a:latin typeface="Calibri" pitchFamily="34" charset="0"/>
                <a:ea typeface="Calibri" pitchFamily="34" charset="-122"/>
                <a:cs typeface="Calibri" pitchFamily="34" charset="-120"/>
              </a:rPr>
              <a:t>📌 Remember:  </a:t>
            </a:r>
            <a:r>
              <a:rPr lang="en-GB" sz="1600" noProof="0" dirty="0">
                <a:solidFill>
                  <a:srgbClr val="23303F"/>
                </a:solidFill>
                <a:latin typeface="Calibri" pitchFamily="34" charset="0"/>
                <a:ea typeface="Calibri" pitchFamily="34" charset="-122"/>
                <a:cs typeface="Calibri" pitchFamily="34" charset="-120"/>
              </a:rPr>
              <a:t>Cervical precancer and early cervical cancer usually cause no symptoms at all. These symptoms have other, more common causes, so they do not confirm cancer.</a:t>
            </a:r>
            <a:endParaRPr lang="en-GB" sz="1600" noProof="0" dirty="0"/>
          </a:p>
        </p:txBody>
      </p:sp>
      <p:sp>
        <p:nvSpPr>
          <p:cNvPr id="17" name="Shape 15"/>
          <p:cNvSpPr/>
          <p:nvPr/>
        </p:nvSpPr>
        <p:spPr>
          <a:xfrm>
            <a:off x="566928" y="5640152"/>
            <a:ext cx="11055096" cy="596056"/>
          </a:xfrm>
          <a:prstGeom prst="roundRect">
            <a:avLst>
              <a:gd name="adj" fmla="val 8140"/>
            </a:avLst>
          </a:prstGeom>
          <a:solidFill>
            <a:srgbClr val="FFF2DF"/>
          </a:solidFill>
          <a:ln w="12700">
            <a:solidFill>
              <a:srgbClr val="E8DDC7"/>
            </a:solidFill>
            <a:prstDash val="solid"/>
          </a:ln>
        </p:spPr>
        <p:txBody>
          <a:bodyPr/>
          <a:lstStyle/>
          <a:p>
            <a:endParaRPr lang="en-GB" sz="1600" noProof="0" dirty="0"/>
          </a:p>
        </p:txBody>
      </p:sp>
      <p:sp>
        <p:nvSpPr>
          <p:cNvPr id="18" name="Text 16"/>
          <p:cNvSpPr txBox="1"/>
          <p:nvPr/>
        </p:nvSpPr>
        <p:spPr>
          <a:xfrm>
            <a:off x="841248" y="5640152"/>
            <a:ext cx="10506456" cy="676656"/>
          </a:xfrm>
          <a:prstGeom prst="rect">
            <a:avLst/>
          </a:prstGeom>
          <a:noFill/>
          <a:ln/>
        </p:spPr>
        <p:txBody>
          <a:bodyPr wrap="square" lIns="0" tIns="0" rIns="0" bIns="0" rtlCol="0" anchor="ctr"/>
          <a:lstStyle/>
          <a:p>
            <a:pPr marL="0" indent="0">
              <a:lnSpc>
                <a:spcPct val="104000"/>
              </a:lnSpc>
              <a:buNone/>
            </a:pPr>
            <a:r>
              <a:rPr lang="en-GB" sz="1600" b="1" noProof="0" dirty="0">
                <a:solidFill>
                  <a:srgbClr val="7B5727"/>
                </a:solidFill>
                <a:latin typeface="Calibri" pitchFamily="34" charset="0"/>
                <a:ea typeface="Calibri" pitchFamily="34" charset="-122"/>
                <a:cs typeface="Calibri" pitchFamily="34" charset="-120"/>
              </a:rPr>
              <a:t>🔎 What matters:  </a:t>
            </a:r>
            <a:r>
              <a:rPr lang="en-GB" sz="1600" noProof="0" dirty="0">
                <a:solidFill>
                  <a:srgbClr val="23303F"/>
                </a:solidFill>
                <a:latin typeface="Calibri" pitchFamily="34" charset="0"/>
                <a:ea typeface="Calibri" pitchFamily="34" charset="-122"/>
                <a:cs typeface="Calibri" pitchFamily="34" charset="-120"/>
              </a:rPr>
              <a:t>A symptom that is persistent, unexplained, or new for that woman needs assessment, whatever else you find.</a:t>
            </a:r>
            <a:endParaRPr lang="en-GB" sz="1600" noProof="0" dirty="0"/>
          </a:p>
        </p:txBody>
      </p:sp>
      <p:pic>
        <p:nvPicPr>
          <p:cNvPr id="19" name="Imagen 18">
            <a:extLst>
              <a:ext uri="{FF2B5EF4-FFF2-40B4-BE49-F238E27FC236}">
                <a16:creationId xmlns:a16="http://schemas.microsoft.com/office/drawing/2014/main" id="{1C0126C9-DEE0-2A92-4A95-EB34F0997658}"/>
              </a:ext>
            </a:extLst>
          </p:cNvPr>
          <p:cNvPicPr>
            <a:picLocks noChangeAspect="1"/>
          </p:cNvPicPr>
          <p:nvPr/>
        </p:nvPicPr>
        <p:blipFill>
          <a:blip r:embed="rId3"/>
          <a:stretch>
            <a:fillRect/>
          </a:stretch>
        </p:blipFill>
        <p:spPr>
          <a:xfrm>
            <a:off x="1168908" y="3076969"/>
            <a:ext cx="2359152" cy="1572768"/>
          </a:xfrm>
          <a:prstGeom prst="rect">
            <a:avLst/>
          </a:prstGeom>
        </p:spPr>
      </p:pic>
      <p:pic>
        <p:nvPicPr>
          <p:cNvPr id="20" name="Imagen 19">
            <a:extLst>
              <a:ext uri="{FF2B5EF4-FFF2-40B4-BE49-F238E27FC236}">
                <a16:creationId xmlns:a16="http://schemas.microsoft.com/office/drawing/2014/main" id="{CEB65E09-7319-C8C2-8198-21DA35CE6007}"/>
              </a:ext>
            </a:extLst>
          </p:cNvPr>
          <p:cNvPicPr>
            <a:picLocks noChangeAspect="1"/>
          </p:cNvPicPr>
          <p:nvPr/>
        </p:nvPicPr>
        <p:blipFill>
          <a:blip r:embed="rId4"/>
          <a:stretch>
            <a:fillRect/>
          </a:stretch>
        </p:blipFill>
        <p:spPr>
          <a:xfrm>
            <a:off x="4914900" y="3076969"/>
            <a:ext cx="2359152" cy="1572768"/>
          </a:xfrm>
          <a:prstGeom prst="rect">
            <a:avLst/>
          </a:prstGeom>
        </p:spPr>
      </p:pic>
      <p:pic>
        <p:nvPicPr>
          <p:cNvPr id="21" name="Imagen 20">
            <a:extLst>
              <a:ext uri="{FF2B5EF4-FFF2-40B4-BE49-F238E27FC236}">
                <a16:creationId xmlns:a16="http://schemas.microsoft.com/office/drawing/2014/main" id="{ABCE1333-4C9D-DA18-F155-2A2AC82B3FFE}"/>
              </a:ext>
            </a:extLst>
          </p:cNvPr>
          <p:cNvPicPr>
            <a:picLocks noChangeAspect="1"/>
          </p:cNvPicPr>
          <p:nvPr/>
        </p:nvPicPr>
        <p:blipFill>
          <a:blip r:embed="rId5"/>
          <a:stretch>
            <a:fillRect/>
          </a:stretch>
        </p:blipFill>
        <p:spPr>
          <a:xfrm>
            <a:off x="8787384" y="3093375"/>
            <a:ext cx="2359152" cy="1572768"/>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73</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INTERACTIVE</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Sort these findings by urgency</a:t>
            </a:r>
            <a:endParaRPr lang="en-GB" sz="3200" noProof="0" dirty="0"/>
          </a:p>
        </p:txBody>
      </p:sp>
      <p:sp>
        <p:nvSpPr>
          <p:cNvPr id="6" name="Text 4"/>
          <p:cNvSpPr txBox="1"/>
          <p:nvPr/>
        </p:nvSpPr>
        <p:spPr>
          <a:xfrm>
            <a:off x="566928" y="1517904"/>
            <a:ext cx="11055096" cy="365760"/>
          </a:xfrm>
          <a:prstGeom prst="rect">
            <a:avLst/>
          </a:prstGeom>
          <a:noFill/>
          <a:ln/>
        </p:spPr>
        <p:txBody>
          <a:bodyPr wrap="square" lIns="0" tIns="0" rIns="0" bIns="0" rtlCol="0" anchor="ctr"/>
          <a:lstStyle/>
          <a:p>
            <a:pPr marL="0" indent="0">
              <a:buNone/>
            </a:pPr>
            <a:r>
              <a:rPr lang="en-GB" sz="1800" i="1" noProof="0" dirty="0">
                <a:solidFill>
                  <a:srgbClr val="31507B"/>
                </a:solidFill>
                <a:latin typeface="Calibri" pitchFamily="34" charset="0"/>
                <a:ea typeface="Calibri" pitchFamily="34" charset="-122"/>
                <a:cs typeface="Calibri" pitchFamily="34" charset="-120"/>
              </a:rPr>
              <a:t>💬  Drag each finding into the correct urgency column, then select Submit.</a:t>
            </a:r>
            <a:endParaRPr lang="en-GB" sz="1800" noProof="0" dirty="0"/>
          </a:p>
        </p:txBody>
      </p:sp>
      <p:sp>
        <p:nvSpPr>
          <p:cNvPr id="7" name="Shape 5"/>
          <p:cNvSpPr/>
          <p:nvPr/>
        </p:nvSpPr>
        <p:spPr>
          <a:xfrm>
            <a:off x="566928" y="1965960"/>
            <a:ext cx="3563112" cy="3291840"/>
          </a:xfrm>
          <a:prstGeom prst="roundRect">
            <a:avLst>
              <a:gd name="adj" fmla="val 2500"/>
            </a:avLst>
          </a:prstGeom>
          <a:solidFill>
            <a:srgbClr val="FDE9E8"/>
          </a:solidFill>
          <a:ln w="12700">
            <a:solidFill>
              <a:srgbClr val="F0CFCE"/>
            </a:solidFill>
            <a:prstDash val="solid"/>
          </a:ln>
        </p:spPr>
        <p:txBody>
          <a:bodyPr/>
          <a:lstStyle/>
          <a:p>
            <a:endParaRPr lang="en-GB" noProof="0" dirty="0"/>
          </a:p>
        </p:txBody>
      </p:sp>
      <p:sp>
        <p:nvSpPr>
          <p:cNvPr id="8" name="Text 6"/>
          <p:cNvSpPr txBox="1"/>
          <p:nvPr/>
        </p:nvSpPr>
        <p:spPr>
          <a:xfrm>
            <a:off x="822960" y="2167128"/>
            <a:ext cx="3051048" cy="566928"/>
          </a:xfrm>
          <a:prstGeom prst="rect">
            <a:avLst/>
          </a:prstGeom>
          <a:noFill/>
          <a:ln/>
        </p:spPr>
        <p:txBody>
          <a:bodyPr wrap="square" lIns="0" tIns="0" rIns="0" bIns="0" rtlCol="0" anchor="ctr"/>
          <a:lstStyle/>
          <a:p>
            <a:pPr marL="0" indent="0">
              <a:buNone/>
            </a:pPr>
            <a:r>
              <a:rPr lang="en-GB" sz="2000" b="1" noProof="0" dirty="0">
                <a:solidFill>
                  <a:srgbClr val="8E2531"/>
                </a:solidFill>
                <a:latin typeface="Calibri" pitchFamily="34" charset="0"/>
                <a:ea typeface="Calibri" pitchFamily="34" charset="-122"/>
                <a:cs typeface="Calibri" pitchFamily="34" charset="-120"/>
              </a:rPr>
              <a:t>🔴  Urgent, same day</a:t>
            </a:r>
            <a:endParaRPr lang="en-GB" sz="2000" noProof="0" dirty="0"/>
          </a:p>
        </p:txBody>
      </p:sp>
      <p:sp>
        <p:nvSpPr>
          <p:cNvPr id="9" name="Text 7"/>
          <p:cNvSpPr txBox="1"/>
          <p:nvPr/>
        </p:nvSpPr>
        <p:spPr>
          <a:xfrm>
            <a:off x="877824" y="2807208"/>
            <a:ext cx="2996184" cy="224942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Heavy bleeding with dizziness</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Severe symptomatic anaemia</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Severe pain in an unwell woman</a:t>
            </a:r>
            <a:endParaRPr lang="en-GB" sz="1800" noProof="0" dirty="0"/>
          </a:p>
        </p:txBody>
      </p:sp>
      <p:sp>
        <p:nvSpPr>
          <p:cNvPr id="10" name="Shape 8"/>
          <p:cNvSpPr/>
          <p:nvPr/>
        </p:nvSpPr>
        <p:spPr>
          <a:xfrm>
            <a:off x="4312920" y="1965960"/>
            <a:ext cx="3563112" cy="3291840"/>
          </a:xfrm>
          <a:prstGeom prst="roundRect">
            <a:avLst>
              <a:gd name="adj" fmla="val 2500"/>
            </a:avLst>
          </a:prstGeom>
          <a:solidFill>
            <a:srgbClr val="FFF2DF"/>
          </a:solidFill>
          <a:ln w="12700">
            <a:solidFill>
              <a:srgbClr val="E8DDC7"/>
            </a:solidFill>
            <a:prstDash val="solid"/>
          </a:ln>
        </p:spPr>
        <p:txBody>
          <a:bodyPr/>
          <a:lstStyle/>
          <a:p>
            <a:endParaRPr lang="en-GB" noProof="0" dirty="0"/>
          </a:p>
        </p:txBody>
      </p:sp>
      <p:sp>
        <p:nvSpPr>
          <p:cNvPr id="11" name="Text 9"/>
          <p:cNvSpPr txBox="1"/>
          <p:nvPr/>
        </p:nvSpPr>
        <p:spPr>
          <a:xfrm>
            <a:off x="4568952" y="2167128"/>
            <a:ext cx="3051048" cy="566928"/>
          </a:xfrm>
          <a:prstGeom prst="rect">
            <a:avLst/>
          </a:prstGeom>
          <a:noFill/>
          <a:ln/>
        </p:spPr>
        <p:txBody>
          <a:bodyPr wrap="square" lIns="0" tIns="0" rIns="0" bIns="0" rtlCol="0" anchor="ctr"/>
          <a:lstStyle/>
          <a:p>
            <a:pPr marL="0" indent="0">
              <a:buNone/>
            </a:pPr>
            <a:r>
              <a:rPr lang="en-GB" sz="2000" b="1" noProof="0" dirty="0">
                <a:solidFill>
                  <a:srgbClr val="7B5727"/>
                </a:solidFill>
                <a:latin typeface="Calibri" pitchFamily="34" charset="0"/>
                <a:ea typeface="Calibri" pitchFamily="34" charset="-122"/>
                <a:cs typeface="Calibri" pitchFamily="34" charset="-120"/>
              </a:rPr>
              <a:t>🟠  Prompt, without waiting</a:t>
            </a:r>
            <a:endParaRPr lang="en-GB" sz="2000" noProof="0" dirty="0"/>
          </a:p>
        </p:txBody>
      </p:sp>
      <p:sp>
        <p:nvSpPr>
          <p:cNvPr id="12" name="Text 10"/>
          <p:cNvSpPr txBox="1"/>
          <p:nvPr/>
        </p:nvSpPr>
        <p:spPr>
          <a:xfrm>
            <a:off x="4623816" y="2807208"/>
            <a:ext cx="2996184" cy="224942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Bleeding after menopause</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Bleeding after intercourse</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An abnormal-looking cervix</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Offensive discharge</a:t>
            </a:r>
            <a:endParaRPr lang="en-GB" sz="1800" noProof="0" dirty="0"/>
          </a:p>
        </p:txBody>
      </p:sp>
      <p:sp>
        <p:nvSpPr>
          <p:cNvPr id="13" name="Shape 11"/>
          <p:cNvSpPr/>
          <p:nvPr/>
        </p:nvSpPr>
        <p:spPr>
          <a:xfrm>
            <a:off x="8058912" y="1965960"/>
            <a:ext cx="3563112" cy="3291840"/>
          </a:xfrm>
          <a:prstGeom prst="roundRect">
            <a:avLst>
              <a:gd name="adj" fmla="val 2500"/>
            </a:avLst>
          </a:prstGeom>
          <a:solidFill>
            <a:srgbClr val="ECF3FD"/>
          </a:solidFill>
          <a:ln w="12700">
            <a:solidFill>
              <a:srgbClr val="E0E3EA"/>
            </a:solidFill>
            <a:prstDash val="solid"/>
          </a:ln>
        </p:spPr>
        <p:txBody>
          <a:bodyPr/>
          <a:lstStyle/>
          <a:p>
            <a:endParaRPr lang="en-GB" noProof="0" dirty="0"/>
          </a:p>
        </p:txBody>
      </p:sp>
      <p:sp>
        <p:nvSpPr>
          <p:cNvPr id="14" name="Text 12"/>
          <p:cNvSpPr txBox="1"/>
          <p:nvPr/>
        </p:nvSpPr>
        <p:spPr>
          <a:xfrm>
            <a:off x="8314944" y="2167128"/>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Routine pathway</a:t>
            </a:r>
            <a:endParaRPr lang="en-GB" sz="2000" noProof="0" dirty="0"/>
          </a:p>
        </p:txBody>
      </p:sp>
      <p:sp>
        <p:nvSpPr>
          <p:cNvPr id="15" name="Text 13"/>
          <p:cNvSpPr txBox="1"/>
          <p:nvPr/>
        </p:nvSpPr>
        <p:spPr>
          <a:xfrm>
            <a:off x="8369808" y="2807208"/>
            <a:ext cx="2996184" cy="224942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A well woman due for screening</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A screen-positive well woman</a:t>
            </a:r>
            <a:endParaRPr lang="en-GB" sz="1800" noProof="0" dirty="0"/>
          </a:p>
        </p:txBody>
      </p:sp>
      <p:sp>
        <p:nvSpPr>
          <p:cNvPr id="16" name="Shape 14"/>
          <p:cNvSpPr/>
          <p:nvPr/>
        </p:nvSpPr>
        <p:spPr>
          <a:xfrm>
            <a:off x="566928" y="5358384"/>
            <a:ext cx="11055096" cy="786384"/>
          </a:xfrm>
          <a:prstGeom prst="roundRect">
            <a:avLst>
              <a:gd name="adj" fmla="val 8140"/>
            </a:avLst>
          </a:prstGeom>
          <a:solidFill>
            <a:srgbClr val="EAF7F0"/>
          </a:solidFill>
          <a:ln w="12700">
            <a:solidFill>
              <a:srgbClr val="C0D4CB"/>
            </a:solidFill>
            <a:prstDash val="solid"/>
          </a:ln>
        </p:spPr>
        <p:txBody>
          <a:bodyPr/>
          <a:lstStyle/>
          <a:p>
            <a:endParaRPr lang="en-GB" noProof="0" dirty="0"/>
          </a:p>
        </p:txBody>
      </p:sp>
      <p:sp>
        <p:nvSpPr>
          <p:cNvPr id="17" name="Text 15"/>
          <p:cNvSpPr txBox="1"/>
          <p:nvPr/>
        </p:nvSpPr>
        <p:spPr>
          <a:xfrm>
            <a:off x="841248" y="5413248"/>
            <a:ext cx="10506456" cy="676656"/>
          </a:xfrm>
          <a:prstGeom prst="rect">
            <a:avLst/>
          </a:prstGeom>
          <a:noFill/>
          <a:ln/>
        </p:spPr>
        <p:txBody>
          <a:bodyPr wrap="square" lIns="0" tIns="0" rIns="0" bIns="0" rtlCol="0" anchor="ctr"/>
          <a:lstStyle/>
          <a:p>
            <a:pPr marL="0" indent="0">
              <a:lnSpc>
                <a:spcPct val="104000"/>
              </a:lnSpc>
              <a:buNone/>
            </a:pPr>
            <a:r>
              <a:rPr lang="en-GB" sz="1800" b="1" noProof="0" dirty="0">
                <a:solidFill>
                  <a:srgbClr val="19543E"/>
                </a:solidFill>
                <a:latin typeface="Calibri" pitchFamily="34" charset="0"/>
                <a:ea typeface="Calibri" pitchFamily="34" charset="-122"/>
                <a:cs typeface="Calibri" pitchFamily="34" charset="-120"/>
              </a:rPr>
              <a:t>✅ Feedback:  </a:t>
            </a:r>
            <a:r>
              <a:rPr lang="en-GB" sz="1800" noProof="0" dirty="0">
                <a:solidFill>
                  <a:srgbClr val="23303F"/>
                </a:solidFill>
                <a:latin typeface="Calibri" pitchFamily="34" charset="0"/>
                <a:ea typeface="Calibri" pitchFamily="34" charset="-122"/>
                <a:cs typeface="Calibri" pitchFamily="34" charset="-120"/>
              </a:rPr>
              <a:t>Bleeding with haemodynamic compromise cannot wait. Post-menopausal and postcoital bleeding need prompt assessment, not the routine queue.</a:t>
            </a:r>
            <a:endParaRPr lang="en-GB" sz="1800" noProof="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74</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SCREENING METHODS</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The three screening tests</a:t>
            </a:r>
            <a:endParaRPr lang="en-GB" sz="3200" noProof="0" dirty="0"/>
          </a:p>
        </p:txBody>
      </p:sp>
      <p:sp>
        <p:nvSpPr>
          <p:cNvPr id="6" name="Shape 4"/>
          <p:cNvSpPr/>
          <p:nvPr/>
        </p:nvSpPr>
        <p:spPr>
          <a:xfrm>
            <a:off x="566928" y="1380751"/>
            <a:ext cx="3563112" cy="4078859"/>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822960" y="1591719"/>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HPV DNA testing</a:t>
            </a:r>
            <a:endParaRPr lang="en-GB" sz="2000" noProof="0" dirty="0"/>
          </a:p>
        </p:txBody>
      </p:sp>
      <p:sp>
        <p:nvSpPr>
          <p:cNvPr id="8" name="Text 6"/>
          <p:cNvSpPr txBox="1"/>
          <p:nvPr/>
        </p:nvSpPr>
        <p:spPr>
          <a:xfrm>
            <a:off x="822960" y="2195223"/>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Detects high-risk HPV in a cervical or vaginal sample. Used as the primary screening test.</a:t>
            </a:r>
            <a:endParaRPr lang="en-GB" sz="1800" noProof="0" dirty="0"/>
          </a:p>
        </p:txBody>
      </p:sp>
      <p:sp>
        <p:nvSpPr>
          <p:cNvPr id="9" name="Shape 7"/>
          <p:cNvSpPr/>
          <p:nvPr/>
        </p:nvSpPr>
        <p:spPr>
          <a:xfrm>
            <a:off x="4312920" y="1380751"/>
            <a:ext cx="3563112" cy="4078859"/>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4568952" y="1710585"/>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Visual inspection with acetic acid (VIA)</a:t>
            </a:r>
            <a:endParaRPr lang="en-GB" sz="2000" noProof="0" dirty="0"/>
          </a:p>
        </p:txBody>
      </p:sp>
      <p:sp>
        <p:nvSpPr>
          <p:cNvPr id="11" name="Text 9"/>
          <p:cNvSpPr txBox="1"/>
          <p:nvPr/>
        </p:nvSpPr>
        <p:spPr>
          <a:xfrm>
            <a:off x="4568952" y="2342198"/>
            <a:ext cx="3051048" cy="1186005"/>
          </a:xfrm>
          <a:prstGeom prst="rect">
            <a:avLst/>
          </a:prstGeom>
          <a:noFill/>
          <a:ln/>
        </p:spPr>
        <p:txBody>
          <a:bodyPr wrap="square" lIns="0" tIns="0" rIns="0" bIns="0" rtlCol="0" anchor="t"/>
          <a:lstStyle/>
          <a:p>
            <a:pPr marL="0" indent="0">
              <a:lnSpc>
                <a:spcPct val="106000"/>
              </a:lnSpc>
              <a:buNone/>
            </a:pPr>
            <a:r>
              <a:rPr lang="en-GB" sz="1600" noProof="0" dirty="0">
                <a:solidFill>
                  <a:srgbClr val="23303F"/>
                </a:solidFill>
                <a:latin typeface="Calibri" pitchFamily="34" charset="0"/>
                <a:ea typeface="Calibri" pitchFamily="34" charset="-122"/>
                <a:cs typeface="Calibri" pitchFamily="34" charset="-120"/>
              </a:rPr>
              <a:t>Acetic acid is applied and the cervix is inspected for acetowhite areas. Used to triage HPV-positive women.</a:t>
            </a:r>
            <a:endParaRPr lang="en-GB" sz="1600" noProof="0" dirty="0"/>
          </a:p>
        </p:txBody>
      </p:sp>
      <p:sp>
        <p:nvSpPr>
          <p:cNvPr id="12" name="Shape 10"/>
          <p:cNvSpPr/>
          <p:nvPr/>
        </p:nvSpPr>
        <p:spPr>
          <a:xfrm>
            <a:off x="8058912" y="1380751"/>
            <a:ext cx="3563112" cy="4078859"/>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8314944" y="1591719"/>
            <a:ext cx="3051048" cy="566928"/>
          </a:xfrm>
          <a:prstGeom prst="rect">
            <a:avLst/>
          </a:prstGeom>
          <a:noFill/>
          <a:ln/>
        </p:spPr>
        <p:txBody>
          <a:bodyPr wrap="square" lIns="0" tIns="0" rIns="0" bIns="0" rtlCol="0" anchor="ctr"/>
          <a:lstStyle/>
          <a:p>
            <a:r>
              <a:rPr lang="en-GB" sz="2000" b="1" noProof="0" dirty="0">
                <a:solidFill>
                  <a:srgbClr val="10305A"/>
                </a:solidFill>
                <a:latin typeface="Calibri" pitchFamily="34" charset="0"/>
                <a:ea typeface="Calibri" pitchFamily="34" charset="-122"/>
                <a:cs typeface="Calibri" pitchFamily="34" charset="-120"/>
              </a:rPr>
              <a:t>🔬  Cytology (Papanicolaou or Pap smear/test)</a:t>
            </a:r>
            <a:endParaRPr lang="en-GB" sz="2000" noProof="0" dirty="0"/>
          </a:p>
        </p:txBody>
      </p:sp>
      <p:sp>
        <p:nvSpPr>
          <p:cNvPr id="14" name="Text 12"/>
          <p:cNvSpPr txBox="1"/>
          <p:nvPr/>
        </p:nvSpPr>
        <p:spPr>
          <a:xfrm>
            <a:off x="8314944" y="2195223"/>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Cervical cells are examined for abnormalities. In Rwanda, used for women aged 50 to 65 never screened.</a:t>
            </a:r>
            <a:endParaRPr lang="en-GB" sz="1800" noProof="0" dirty="0"/>
          </a:p>
        </p:txBody>
      </p:sp>
      <p:sp>
        <p:nvSpPr>
          <p:cNvPr id="15" name="Shape 13"/>
          <p:cNvSpPr/>
          <p:nvPr/>
        </p:nvSpPr>
        <p:spPr>
          <a:xfrm>
            <a:off x="566928" y="5577833"/>
            <a:ext cx="11055096" cy="786384"/>
          </a:xfrm>
          <a:prstGeom prst="roundRect">
            <a:avLst>
              <a:gd name="adj" fmla="val 8140"/>
            </a:avLst>
          </a:prstGeom>
          <a:solidFill>
            <a:srgbClr val="ECF3FD"/>
          </a:solidFill>
          <a:ln w="12700">
            <a:solidFill>
              <a:srgbClr val="E0E3EA"/>
            </a:solidFill>
            <a:prstDash val="solid"/>
          </a:ln>
        </p:spPr>
        <p:txBody>
          <a:bodyPr/>
          <a:lstStyle/>
          <a:p>
            <a:endParaRPr lang="en-GB" noProof="0" dirty="0"/>
          </a:p>
        </p:txBody>
      </p:sp>
      <p:sp>
        <p:nvSpPr>
          <p:cNvPr id="16" name="Text 14"/>
          <p:cNvSpPr txBox="1"/>
          <p:nvPr/>
        </p:nvSpPr>
        <p:spPr>
          <a:xfrm>
            <a:off x="841248" y="5632697"/>
            <a:ext cx="10506456" cy="676656"/>
          </a:xfrm>
          <a:prstGeom prst="rect">
            <a:avLst/>
          </a:prstGeom>
          <a:noFill/>
          <a:ln/>
        </p:spPr>
        <p:txBody>
          <a:bodyPr wrap="square" lIns="0" tIns="0" rIns="0" bIns="0" rtlCol="0" anchor="ctr"/>
          <a:lstStyle/>
          <a:p>
            <a:pPr marL="0" indent="0">
              <a:lnSpc>
                <a:spcPct val="104000"/>
              </a:lnSpc>
              <a:buNone/>
            </a:pPr>
            <a:r>
              <a:rPr lang="en-GB" sz="1800" b="1" noProof="0" dirty="0">
                <a:solidFill>
                  <a:srgbClr val="10305A"/>
                </a:solidFill>
                <a:latin typeface="Calibri" pitchFamily="34" charset="0"/>
                <a:ea typeface="Calibri" pitchFamily="34" charset="-122"/>
                <a:cs typeface="Calibri" pitchFamily="34" charset="-120"/>
              </a:rPr>
              <a:t>📌 Three different jobs:  </a:t>
            </a:r>
            <a:r>
              <a:rPr lang="en-GB" sz="1800" noProof="0" dirty="0">
                <a:solidFill>
                  <a:srgbClr val="23303F"/>
                </a:solidFill>
                <a:latin typeface="Calibri" pitchFamily="34" charset="0"/>
                <a:ea typeface="Calibri" pitchFamily="34" charset="-122"/>
                <a:cs typeface="Calibri" pitchFamily="34" charset="-120"/>
              </a:rPr>
              <a:t>A primary screening test identifies who needs a closer look. A triage test decides who needs treatment. A diagnostic procedure finds out what the lesion actually is.</a:t>
            </a:r>
            <a:endParaRPr lang="en-GB" sz="1800" noProof="0" dirty="0"/>
          </a:p>
        </p:txBody>
      </p:sp>
      <p:pic>
        <p:nvPicPr>
          <p:cNvPr id="18" name="Imagen 17">
            <a:extLst>
              <a:ext uri="{FF2B5EF4-FFF2-40B4-BE49-F238E27FC236}">
                <a16:creationId xmlns:a16="http://schemas.microsoft.com/office/drawing/2014/main" id="{499931FF-9177-C74F-83A2-B51D32D2813B}"/>
              </a:ext>
            </a:extLst>
          </p:cNvPr>
          <p:cNvPicPr>
            <a:picLocks noChangeAspect="1"/>
          </p:cNvPicPr>
          <p:nvPr/>
        </p:nvPicPr>
        <p:blipFill>
          <a:blip r:embed="rId3"/>
          <a:srcRect l="66122" t="19373" r="3376" b="19372"/>
          <a:stretch>
            <a:fillRect/>
          </a:stretch>
        </p:blipFill>
        <p:spPr>
          <a:xfrm>
            <a:off x="5079238" y="3197676"/>
            <a:ext cx="2030476" cy="2224244"/>
          </a:xfrm>
          <a:prstGeom prst="rect">
            <a:avLst/>
          </a:prstGeom>
        </p:spPr>
      </p:pic>
      <p:pic>
        <p:nvPicPr>
          <p:cNvPr id="21" name="Imagen 20">
            <a:extLst>
              <a:ext uri="{FF2B5EF4-FFF2-40B4-BE49-F238E27FC236}">
                <a16:creationId xmlns:a16="http://schemas.microsoft.com/office/drawing/2014/main" id="{D3CFE367-426D-09AC-6047-5701E4D39FAB}"/>
              </a:ext>
            </a:extLst>
          </p:cNvPr>
          <p:cNvPicPr>
            <a:picLocks noChangeAspect="1"/>
          </p:cNvPicPr>
          <p:nvPr/>
        </p:nvPicPr>
        <p:blipFill>
          <a:blip r:embed="rId4"/>
          <a:srcRect l="34575" t="12701" r="3269" b="19549"/>
          <a:stretch>
            <a:fillRect/>
          </a:stretch>
        </p:blipFill>
        <p:spPr>
          <a:xfrm>
            <a:off x="640080" y="3163847"/>
            <a:ext cx="3456474" cy="2054986"/>
          </a:xfrm>
          <a:prstGeom prst="rect">
            <a:avLst/>
          </a:prstGeom>
        </p:spPr>
      </p:pic>
      <p:pic>
        <p:nvPicPr>
          <p:cNvPr id="22" name="Imagen 21">
            <a:extLst>
              <a:ext uri="{FF2B5EF4-FFF2-40B4-BE49-F238E27FC236}">
                <a16:creationId xmlns:a16="http://schemas.microsoft.com/office/drawing/2014/main" id="{7742CABF-1AD0-B635-DD7C-EA191CD5CE96}"/>
              </a:ext>
            </a:extLst>
          </p:cNvPr>
          <p:cNvPicPr>
            <a:picLocks noChangeAspect="1"/>
          </p:cNvPicPr>
          <p:nvPr/>
        </p:nvPicPr>
        <p:blipFill>
          <a:blip r:embed="rId5"/>
          <a:srcRect l="63043" t="17048" r="2627" b="13837"/>
          <a:stretch>
            <a:fillRect/>
          </a:stretch>
        </p:blipFill>
        <p:spPr>
          <a:xfrm>
            <a:off x="8709406" y="3430589"/>
            <a:ext cx="1628426" cy="1788244"/>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75</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RECOMMENDATIONS</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What global recommendations are based on</a:t>
            </a:r>
            <a:endParaRPr lang="en-GB" sz="3200" noProof="0" dirty="0"/>
          </a:p>
        </p:txBody>
      </p:sp>
      <p:sp>
        <p:nvSpPr>
          <p:cNvPr id="6" name="Shape 4"/>
          <p:cNvSpPr/>
          <p:nvPr/>
        </p:nvSpPr>
        <p:spPr>
          <a:xfrm>
            <a:off x="566928" y="1719072"/>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786384" y="1719072"/>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8" name="Text 6"/>
          <p:cNvSpPr txBox="1"/>
          <p:nvPr/>
        </p:nvSpPr>
        <p:spPr>
          <a:xfrm>
            <a:off x="1463040" y="1773936"/>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Age, because risk and the value of testing change across a woman's life.</a:t>
            </a:r>
            <a:endParaRPr lang="en-GB" sz="1800" noProof="0" dirty="0"/>
          </a:p>
        </p:txBody>
      </p:sp>
      <p:sp>
        <p:nvSpPr>
          <p:cNvPr id="9" name="Shape 7"/>
          <p:cNvSpPr/>
          <p:nvPr/>
        </p:nvSpPr>
        <p:spPr>
          <a:xfrm>
            <a:off x="566928" y="2632880"/>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786384" y="2632880"/>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1" name="Text 9"/>
          <p:cNvSpPr txBox="1"/>
          <p:nvPr/>
        </p:nvSpPr>
        <p:spPr>
          <a:xfrm>
            <a:off x="1463040" y="2687744"/>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Immune status, including HIV, which changes how often screening is repeated.</a:t>
            </a:r>
            <a:endParaRPr lang="en-GB" sz="1800" noProof="0" dirty="0"/>
          </a:p>
        </p:txBody>
      </p:sp>
      <p:sp>
        <p:nvSpPr>
          <p:cNvPr id="12" name="Shape 10"/>
          <p:cNvSpPr/>
          <p:nvPr/>
        </p:nvSpPr>
        <p:spPr>
          <a:xfrm>
            <a:off x="566928" y="3546687"/>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786384" y="3546687"/>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4" name="Text 12"/>
          <p:cNvSpPr txBox="1"/>
          <p:nvPr/>
        </p:nvSpPr>
        <p:spPr>
          <a:xfrm>
            <a:off x="1463040" y="3601551"/>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Previous results, and previous treatment for cervical precancer.</a:t>
            </a:r>
            <a:endParaRPr lang="en-GB" sz="1800" noProof="0" dirty="0"/>
          </a:p>
        </p:txBody>
      </p:sp>
      <p:sp>
        <p:nvSpPr>
          <p:cNvPr id="15" name="Shape 13"/>
          <p:cNvSpPr/>
          <p:nvPr/>
        </p:nvSpPr>
        <p:spPr>
          <a:xfrm>
            <a:off x="566928" y="4460495"/>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6" name="Text 14"/>
          <p:cNvSpPr txBox="1"/>
          <p:nvPr/>
        </p:nvSpPr>
        <p:spPr>
          <a:xfrm>
            <a:off x="786384" y="4460495"/>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7" name="Text 15"/>
          <p:cNvSpPr txBox="1"/>
          <p:nvPr/>
        </p:nvSpPr>
        <p:spPr>
          <a:xfrm>
            <a:off x="1463040" y="4515359"/>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Which screening test the health system can reliably provide.</a:t>
            </a:r>
            <a:endParaRPr lang="en-GB" sz="1800" noProof="0" dirty="0"/>
          </a:p>
        </p:txBody>
      </p:sp>
      <p:sp>
        <p:nvSpPr>
          <p:cNvPr id="18" name="Shape 16"/>
          <p:cNvSpPr/>
          <p:nvPr/>
        </p:nvSpPr>
        <p:spPr>
          <a:xfrm>
            <a:off x="566928" y="5374303"/>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9" name="Text 17"/>
          <p:cNvSpPr txBox="1"/>
          <p:nvPr/>
        </p:nvSpPr>
        <p:spPr>
          <a:xfrm>
            <a:off x="786384" y="5374303"/>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20" name="Text 18"/>
          <p:cNvSpPr txBox="1"/>
          <p:nvPr/>
        </p:nvSpPr>
        <p:spPr>
          <a:xfrm>
            <a:off x="1463040" y="5429167"/>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Whether triage, treatment and follow-up are actually available after a positive result.</a:t>
            </a:r>
            <a:endParaRPr lang="en-GB" sz="1800" noProof="0" dirty="0"/>
          </a:p>
        </p:txBody>
      </p:sp>
      <p:sp>
        <p:nvSpPr>
          <p:cNvPr id="21" name="Shape 19"/>
          <p:cNvSpPr/>
          <p:nvPr/>
        </p:nvSpPr>
        <p:spPr>
          <a:xfrm>
            <a:off x="566928" y="5394960"/>
            <a:ext cx="11055096" cy="786384"/>
          </a:xfrm>
          <a:prstGeom prst="roundRect">
            <a:avLst>
              <a:gd name="adj" fmla="val 8140"/>
            </a:avLst>
          </a:prstGeom>
          <a:solidFill>
            <a:srgbClr val="ECF3FD"/>
          </a:solidFill>
          <a:ln w="12700">
            <a:solidFill>
              <a:srgbClr val="E0E3EA"/>
            </a:solidFill>
            <a:prstDash val="solid"/>
          </a:ln>
        </p:spPr>
        <p:txBody>
          <a:bodyPr/>
          <a:lstStyle/>
          <a:p>
            <a:endParaRPr lang="en-GB" noProof="0" dirty="0"/>
          </a:p>
        </p:txBody>
      </p:sp>
      <p:sp>
        <p:nvSpPr>
          <p:cNvPr id="22" name="Text 20"/>
          <p:cNvSpPr txBox="1"/>
          <p:nvPr/>
        </p:nvSpPr>
        <p:spPr>
          <a:xfrm>
            <a:off x="841248" y="5449824"/>
            <a:ext cx="10506456" cy="676656"/>
          </a:xfrm>
          <a:prstGeom prst="rect">
            <a:avLst/>
          </a:prstGeom>
          <a:noFill/>
          <a:ln/>
        </p:spPr>
        <p:txBody>
          <a:bodyPr wrap="square" lIns="0" tIns="0" rIns="0" bIns="0" rtlCol="0" anchor="ctr"/>
          <a:lstStyle/>
          <a:p>
            <a:pPr marL="0" indent="0">
              <a:lnSpc>
                <a:spcPct val="104000"/>
              </a:lnSpc>
              <a:buNone/>
            </a:pPr>
            <a:r>
              <a:rPr lang="en-GB" sz="1800" b="1" noProof="0" dirty="0">
                <a:solidFill>
                  <a:srgbClr val="10305A"/>
                </a:solidFill>
                <a:latin typeface="Calibri" pitchFamily="34" charset="0"/>
                <a:ea typeface="Calibri" pitchFamily="34" charset="-122"/>
                <a:cs typeface="Calibri" pitchFamily="34" charset="-120"/>
              </a:rPr>
              <a:t>📌 Core principle:  </a:t>
            </a:r>
            <a:r>
              <a:rPr lang="en-GB" sz="1800" noProof="0" dirty="0">
                <a:solidFill>
                  <a:srgbClr val="23303F"/>
                </a:solidFill>
                <a:latin typeface="Calibri" pitchFamily="34" charset="0"/>
                <a:ea typeface="Calibri" pitchFamily="34" charset="-122"/>
                <a:cs typeface="Calibri" pitchFamily="34" charset="-120"/>
              </a:rPr>
              <a:t>A screening programme needs the right population, an available test, a defined interval and guaranteed follow-up. A test without follow-up does not save lives.</a:t>
            </a:r>
            <a:endParaRPr lang="en-GB" sz="1800" noProof="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76</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SCREENING RESULTS</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What a screening result means</a:t>
            </a:r>
            <a:endParaRPr lang="en-GB" sz="3200" noProof="0" dirty="0"/>
          </a:p>
        </p:txBody>
      </p:sp>
      <p:sp>
        <p:nvSpPr>
          <p:cNvPr id="6" name="Shape 4"/>
          <p:cNvSpPr/>
          <p:nvPr/>
        </p:nvSpPr>
        <p:spPr>
          <a:xfrm>
            <a:off x="566928" y="1828800"/>
            <a:ext cx="3563112" cy="2743200"/>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822960" y="2011680"/>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Positive HPV test</a:t>
            </a:r>
            <a:endParaRPr lang="en-GB" sz="2000" noProof="0" dirty="0"/>
          </a:p>
        </p:txBody>
      </p:sp>
      <p:sp>
        <p:nvSpPr>
          <p:cNvPr id="8" name="Text 6"/>
          <p:cNvSpPr txBox="1"/>
          <p:nvPr/>
        </p:nvSpPr>
        <p:spPr>
          <a:xfrm>
            <a:off x="822960" y="2615184"/>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High-risk HPV was detected. It does not mean cancer, and it does not mean a lesion is present.</a:t>
            </a:r>
            <a:endParaRPr lang="en-GB" sz="1800" noProof="0" dirty="0"/>
          </a:p>
        </p:txBody>
      </p:sp>
      <p:sp>
        <p:nvSpPr>
          <p:cNvPr id="9" name="Shape 7"/>
          <p:cNvSpPr/>
          <p:nvPr/>
        </p:nvSpPr>
        <p:spPr>
          <a:xfrm>
            <a:off x="4312920" y="1828800"/>
            <a:ext cx="3563112" cy="2743200"/>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4568952" y="2011680"/>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Positive visual inspection</a:t>
            </a:r>
            <a:endParaRPr lang="en-GB" sz="2000" noProof="0" dirty="0"/>
          </a:p>
        </p:txBody>
      </p:sp>
      <p:sp>
        <p:nvSpPr>
          <p:cNvPr id="11" name="Text 9"/>
          <p:cNvSpPr txBox="1"/>
          <p:nvPr/>
        </p:nvSpPr>
        <p:spPr>
          <a:xfrm>
            <a:off x="4568952" y="2615184"/>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A cervical change was seen. It needs management or further assessment, and it is not confirmed cancer.</a:t>
            </a:r>
            <a:endParaRPr lang="en-GB" sz="1800" noProof="0" dirty="0"/>
          </a:p>
        </p:txBody>
      </p:sp>
      <p:sp>
        <p:nvSpPr>
          <p:cNvPr id="12" name="Shape 10"/>
          <p:cNvSpPr/>
          <p:nvPr/>
        </p:nvSpPr>
        <p:spPr>
          <a:xfrm>
            <a:off x="8058912" y="1828800"/>
            <a:ext cx="3563112" cy="2743200"/>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8314944" y="2011680"/>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Abnormal cytology</a:t>
            </a:r>
            <a:endParaRPr lang="en-GB" sz="2000" noProof="0" dirty="0"/>
          </a:p>
        </p:txBody>
      </p:sp>
      <p:sp>
        <p:nvSpPr>
          <p:cNvPr id="14" name="Text 12"/>
          <p:cNvSpPr txBox="1"/>
          <p:nvPr/>
        </p:nvSpPr>
        <p:spPr>
          <a:xfrm>
            <a:off x="8314944" y="2615184"/>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Abnormal cells were seen. The next step depends on the result and the programme pathway.</a:t>
            </a:r>
            <a:endParaRPr lang="en-GB" sz="1800" noProof="0" dirty="0"/>
          </a:p>
        </p:txBody>
      </p:sp>
      <p:sp>
        <p:nvSpPr>
          <p:cNvPr id="15" name="Shape 13"/>
          <p:cNvSpPr/>
          <p:nvPr/>
        </p:nvSpPr>
        <p:spPr>
          <a:xfrm>
            <a:off x="566928" y="5017008"/>
            <a:ext cx="11055096" cy="786384"/>
          </a:xfrm>
          <a:prstGeom prst="roundRect">
            <a:avLst>
              <a:gd name="adj" fmla="val 8140"/>
            </a:avLst>
          </a:prstGeom>
          <a:solidFill>
            <a:srgbClr val="FDE9E8"/>
          </a:solidFill>
          <a:ln w="12700">
            <a:solidFill>
              <a:srgbClr val="F0CFCE"/>
            </a:solidFill>
            <a:prstDash val="solid"/>
          </a:ln>
        </p:spPr>
        <p:txBody>
          <a:bodyPr/>
          <a:lstStyle/>
          <a:p>
            <a:endParaRPr lang="en-GB" noProof="0" dirty="0"/>
          </a:p>
        </p:txBody>
      </p:sp>
      <p:sp>
        <p:nvSpPr>
          <p:cNvPr id="16" name="Text 14"/>
          <p:cNvSpPr txBox="1"/>
          <p:nvPr/>
        </p:nvSpPr>
        <p:spPr>
          <a:xfrm>
            <a:off x="841248" y="5071872"/>
            <a:ext cx="10506456" cy="676656"/>
          </a:xfrm>
          <a:prstGeom prst="rect">
            <a:avLst/>
          </a:prstGeom>
          <a:noFill/>
          <a:ln/>
        </p:spPr>
        <p:txBody>
          <a:bodyPr wrap="square" lIns="0" tIns="0" rIns="0" bIns="0" rtlCol="0" anchor="ctr"/>
          <a:lstStyle/>
          <a:p>
            <a:pPr marL="0" indent="0">
              <a:lnSpc>
                <a:spcPct val="104000"/>
              </a:lnSpc>
              <a:buNone/>
            </a:pPr>
            <a:r>
              <a:rPr lang="en-GB" sz="1800" b="1" noProof="0" dirty="0">
                <a:solidFill>
                  <a:srgbClr val="8E2531"/>
                </a:solidFill>
                <a:latin typeface="Calibri" pitchFamily="34" charset="0"/>
                <a:ea typeface="Calibri" pitchFamily="34" charset="-122"/>
                <a:cs typeface="Calibri" pitchFamily="34" charset="-120"/>
              </a:rPr>
              <a:t>⚠️ The rule that matters:  </a:t>
            </a:r>
            <a:r>
              <a:rPr lang="en-GB" sz="1800" noProof="0" dirty="0">
                <a:solidFill>
                  <a:srgbClr val="23303F"/>
                </a:solidFill>
                <a:latin typeface="Calibri" pitchFamily="34" charset="0"/>
                <a:ea typeface="Calibri" pitchFamily="34" charset="-122"/>
                <a:cs typeface="Calibri" pitchFamily="34" charset="-120"/>
              </a:rPr>
              <a:t>An abnormal screening result means the woman needs the next step in the pathway. It never means, on its own, that she has cervical cancer.</a:t>
            </a:r>
            <a:endParaRPr lang="en-GB" sz="1800" noProof="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77</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RECOMMENDATIONS</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The screening pathway in Rwanda</a:t>
            </a:r>
            <a:endParaRPr lang="en-GB" sz="3200" noProof="0" dirty="0"/>
          </a:p>
        </p:txBody>
      </p:sp>
      <p:sp>
        <p:nvSpPr>
          <p:cNvPr id="6" name="Shape 4"/>
          <p:cNvSpPr/>
          <p:nvPr/>
        </p:nvSpPr>
        <p:spPr>
          <a:xfrm>
            <a:off x="566928" y="1719072"/>
            <a:ext cx="11055096" cy="676656"/>
          </a:xfrm>
          <a:prstGeom prst="roundRect">
            <a:avLst>
              <a:gd name="adj" fmla="val 9459"/>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786384" y="1719072"/>
            <a:ext cx="548640" cy="676656"/>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8" name="Text 6"/>
          <p:cNvSpPr txBox="1"/>
          <p:nvPr/>
        </p:nvSpPr>
        <p:spPr>
          <a:xfrm>
            <a:off x="1463040" y="1773936"/>
            <a:ext cx="9866376" cy="566928"/>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HPV DNA testing is the primary test for women aged 30 to 49, and 25 to 49 if living with HIV. Samples may be clinician-collected or self-collected.</a:t>
            </a:r>
            <a:endParaRPr lang="en-GB" sz="1800" noProof="0" dirty="0"/>
          </a:p>
        </p:txBody>
      </p:sp>
      <p:sp>
        <p:nvSpPr>
          <p:cNvPr id="9" name="Shape 7"/>
          <p:cNvSpPr/>
          <p:nvPr/>
        </p:nvSpPr>
        <p:spPr>
          <a:xfrm>
            <a:off x="566928" y="2523744"/>
            <a:ext cx="11055096" cy="676656"/>
          </a:xfrm>
          <a:prstGeom prst="roundRect">
            <a:avLst>
              <a:gd name="adj" fmla="val 9459"/>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786384" y="2523744"/>
            <a:ext cx="548640" cy="676656"/>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1" name="Text 9"/>
          <p:cNvSpPr txBox="1"/>
          <p:nvPr/>
        </p:nvSpPr>
        <p:spPr>
          <a:xfrm>
            <a:off x="1463040" y="2578608"/>
            <a:ext cx="9866376" cy="566928"/>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Women who test HPV-positive undergo further assessment, including HPV16/18 genotyping and VIA triage, to guide treatment.</a:t>
            </a:r>
            <a:endParaRPr lang="en-GB" sz="1800" noProof="0" dirty="0"/>
          </a:p>
        </p:txBody>
      </p:sp>
      <p:sp>
        <p:nvSpPr>
          <p:cNvPr id="12" name="Shape 10"/>
          <p:cNvSpPr/>
          <p:nvPr/>
        </p:nvSpPr>
        <p:spPr>
          <a:xfrm>
            <a:off x="566928" y="3328416"/>
            <a:ext cx="11055096" cy="676656"/>
          </a:xfrm>
          <a:prstGeom prst="roundRect">
            <a:avLst>
              <a:gd name="adj" fmla="val 9459"/>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786384" y="3328416"/>
            <a:ext cx="548640" cy="676656"/>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4" name="Text 12"/>
          <p:cNvSpPr txBox="1"/>
          <p:nvPr/>
        </p:nvSpPr>
        <p:spPr>
          <a:xfrm>
            <a:off x="1463040" y="3383280"/>
            <a:ext cx="9866376" cy="566928"/>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Eligible precancerous lesions are treated promptly; women who are not eligible for local treatment are referred for appropriate care.</a:t>
            </a:r>
            <a:endParaRPr lang="en-GB" sz="1800" noProof="0" dirty="0"/>
          </a:p>
        </p:txBody>
      </p:sp>
      <p:sp>
        <p:nvSpPr>
          <p:cNvPr id="15" name="Shape 13"/>
          <p:cNvSpPr/>
          <p:nvPr/>
        </p:nvSpPr>
        <p:spPr>
          <a:xfrm>
            <a:off x="566928" y="4133088"/>
            <a:ext cx="11055096" cy="676656"/>
          </a:xfrm>
          <a:prstGeom prst="roundRect">
            <a:avLst>
              <a:gd name="adj" fmla="val 9459"/>
            </a:avLst>
          </a:prstGeom>
          <a:solidFill>
            <a:srgbClr val="F3F6FB"/>
          </a:solidFill>
          <a:ln w="12700">
            <a:solidFill>
              <a:srgbClr val="E0E3EA"/>
            </a:solidFill>
            <a:prstDash val="solid"/>
          </a:ln>
        </p:spPr>
        <p:txBody>
          <a:bodyPr/>
          <a:lstStyle/>
          <a:p>
            <a:endParaRPr lang="en-GB" noProof="0" dirty="0"/>
          </a:p>
        </p:txBody>
      </p:sp>
      <p:sp>
        <p:nvSpPr>
          <p:cNvPr id="16" name="Text 14"/>
          <p:cNvSpPr txBox="1"/>
          <p:nvPr/>
        </p:nvSpPr>
        <p:spPr>
          <a:xfrm>
            <a:off x="786384" y="4133088"/>
            <a:ext cx="548640" cy="676656"/>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7" name="Text 15"/>
          <p:cNvSpPr txBox="1"/>
          <p:nvPr/>
        </p:nvSpPr>
        <p:spPr>
          <a:xfrm>
            <a:off x="1463040" y="4187952"/>
            <a:ext cx="9866376" cy="566928"/>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A cervix suspicious for invasive cancer is referred for diagnostic assessment.</a:t>
            </a:r>
            <a:endParaRPr lang="en-GB" sz="1800" noProof="0" dirty="0"/>
          </a:p>
        </p:txBody>
      </p:sp>
      <p:sp>
        <p:nvSpPr>
          <p:cNvPr id="20" name="Shape 15">
            <a:extLst>
              <a:ext uri="{FF2B5EF4-FFF2-40B4-BE49-F238E27FC236}">
                <a16:creationId xmlns:a16="http://schemas.microsoft.com/office/drawing/2014/main" id="{02803E58-C989-7004-4AB5-E37408C06CD9}"/>
              </a:ext>
            </a:extLst>
          </p:cNvPr>
          <p:cNvSpPr/>
          <p:nvPr/>
        </p:nvSpPr>
        <p:spPr>
          <a:xfrm>
            <a:off x="548640" y="5199734"/>
            <a:ext cx="11055096" cy="1016168"/>
          </a:xfrm>
          <a:prstGeom prst="roundRect">
            <a:avLst>
              <a:gd name="adj" fmla="val 8140"/>
            </a:avLst>
          </a:prstGeom>
          <a:solidFill>
            <a:srgbClr val="EAF7F0"/>
          </a:solidFill>
          <a:ln w="12700">
            <a:solidFill>
              <a:srgbClr val="C0D4CB"/>
            </a:solidFill>
            <a:prstDash val="solid"/>
          </a:ln>
        </p:spPr>
        <p:txBody>
          <a:bodyPr/>
          <a:lstStyle/>
          <a:p>
            <a:endParaRPr lang="en-GB" sz="1600" noProof="0" dirty="0"/>
          </a:p>
        </p:txBody>
      </p:sp>
      <p:sp>
        <p:nvSpPr>
          <p:cNvPr id="21" name="Text 16">
            <a:extLst>
              <a:ext uri="{FF2B5EF4-FFF2-40B4-BE49-F238E27FC236}">
                <a16:creationId xmlns:a16="http://schemas.microsoft.com/office/drawing/2014/main" id="{4B1F7B69-512E-47DE-1DFE-8A0BCD45D2ED}"/>
              </a:ext>
            </a:extLst>
          </p:cNvPr>
          <p:cNvSpPr txBox="1"/>
          <p:nvPr/>
        </p:nvSpPr>
        <p:spPr>
          <a:xfrm>
            <a:off x="822960" y="5386408"/>
            <a:ext cx="10506456" cy="676656"/>
          </a:xfrm>
          <a:prstGeom prst="rect">
            <a:avLst/>
          </a:prstGeom>
          <a:noFill/>
          <a:ln/>
        </p:spPr>
        <p:txBody>
          <a:bodyPr wrap="square" lIns="0" tIns="0" rIns="0" bIns="0" rtlCol="0" anchor="ctr"/>
          <a:lstStyle/>
          <a:p>
            <a:pPr>
              <a:lnSpc>
                <a:spcPct val="104000"/>
              </a:lnSpc>
            </a:pPr>
            <a:r>
              <a:rPr lang="en-GB" b="1" noProof="0" dirty="0">
                <a:solidFill>
                  <a:srgbClr val="19543E"/>
                </a:solidFill>
                <a:latin typeface="Calibri" pitchFamily="34" charset="0"/>
                <a:ea typeface="Calibri" pitchFamily="34" charset="-122"/>
                <a:cs typeface="Calibri" pitchFamily="34" charset="-120"/>
              </a:rPr>
              <a:t>🏥 Rwanda pathway:  </a:t>
            </a:r>
            <a:r>
              <a:rPr lang="en-GB" noProof="0" dirty="0">
                <a:solidFill>
                  <a:srgbClr val="23303F"/>
                </a:solidFill>
                <a:latin typeface="Calibri" pitchFamily="34" charset="0"/>
                <a:ea typeface="Calibri" pitchFamily="34" charset="-122"/>
                <a:cs typeface="Calibri" pitchFamily="34" charset="-120"/>
              </a:rPr>
              <a:t>HPV DNA test → HPV-positive: genotyping + VIA triage → treat eligible precancer / refer when needed.</a:t>
            </a:r>
          </a:p>
          <a:p>
            <a:pPr>
              <a:lnSpc>
                <a:spcPct val="104000"/>
              </a:lnSpc>
            </a:pPr>
            <a:r>
              <a:rPr lang="en-GB" noProof="0" dirty="0">
                <a:solidFill>
                  <a:srgbClr val="23303F"/>
                </a:solidFill>
                <a:latin typeface="Calibri" pitchFamily="34" charset="0"/>
                <a:ea typeface="Calibri" pitchFamily="34" charset="-122"/>
                <a:cs typeface="Calibri" pitchFamily="34" charset="-120"/>
              </a:rPr>
              <a:t>Women aged 50 to 65 never screened: Pap smear, or VIA if Pap smear is not available.</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2 · RECOMMENDATIONS</a:t>
            </a:r>
            <a:endParaRPr lang="en-GB"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Who is screened in Rwanda, and with which test</a:t>
            </a:r>
          </a:p>
        </p:txBody>
      </p:sp>
      <p:sp>
        <p:nvSpPr>
          <p:cNvPr id="4" name="Shape 4"/>
          <p:cNvSpPr/>
          <p:nvPr/>
        </p:nvSpPr>
        <p:spPr>
          <a:xfrm>
            <a:off x="566928" y="1450000"/>
            <a:ext cx="2600000" cy="375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5" name="Text 5"/>
          <p:cNvSpPr txBox="1"/>
          <p:nvPr/>
        </p:nvSpPr>
        <p:spPr>
          <a:xfrm>
            <a:off x="716928" y="1560000"/>
            <a:ext cx="2300000" cy="800000"/>
          </a:xfrm>
          <a:prstGeom prst="rect">
            <a:avLst/>
          </a:prstGeom>
          <a:noFill/>
          <a:ln/>
        </p:spPr>
        <p:txBody>
          <a:bodyPr wrap="square" lIns="0" tIns="0" rIns="0" bIns="0" rtlCol="0" anchor="ctr"/>
          <a:lstStyle/>
          <a:p>
            <a:pPr marL="0" indent="0" algn="ctr">
              <a:buNone/>
            </a:pPr>
            <a:r>
              <a:rPr lang="en-GB" sz="3600" b="1" noProof="0" dirty="0">
                <a:solidFill>
                  <a:srgbClr val="1F4E96"/>
                </a:solidFill>
                <a:latin typeface="Calibri" pitchFamily="34" charset="0"/>
                <a:ea typeface="Calibri" pitchFamily="34" charset="-122"/>
                <a:cs typeface="Calibri" pitchFamily="34" charset="-120"/>
              </a:rPr>
              <a:t>30 to 49</a:t>
            </a:r>
            <a:endParaRPr lang="en-GB" sz="3600" dirty="0"/>
          </a:p>
        </p:txBody>
      </p:sp>
      <p:sp>
        <p:nvSpPr>
          <p:cNvPr id="6" name="Text 6"/>
          <p:cNvSpPr txBox="1"/>
          <p:nvPr/>
        </p:nvSpPr>
        <p:spPr>
          <a:xfrm>
            <a:off x="716928" y="2420000"/>
            <a:ext cx="2300000" cy="900000"/>
          </a:xfrm>
          <a:prstGeom prst="rect">
            <a:avLst/>
          </a:prstGeom>
          <a:noFill/>
          <a:ln/>
        </p:spPr>
        <p:txBody>
          <a:bodyPr wrap="square" lIns="0" tIns="0" rIns="0" bIns="0" rtlCol="0" anchor="t"/>
          <a:lstStyle/>
          <a:p>
            <a:pPr marL="0" indent="0" algn="ctr">
              <a:buNone/>
            </a:pPr>
            <a:r>
              <a:rPr lang="en-GB" sz="1600" b="1" noProof="0" dirty="0">
                <a:solidFill>
                  <a:srgbClr val="10305A"/>
                </a:solidFill>
                <a:latin typeface="Calibri" pitchFamily="34" charset="0"/>
                <a:ea typeface="Calibri" pitchFamily="34" charset="-122"/>
                <a:cs typeface="Calibri" pitchFamily="34" charset="-120"/>
              </a:rPr>
              <a:t>Priority age, general population</a:t>
            </a:r>
            <a:endParaRPr lang="en-GB" sz="1600" dirty="0"/>
          </a:p>
        </p:txBody>
      </p:sp>
      <p:sp>
        <p:nvSpPr>
          <p:cNvPr id="7" name="Text 7"/>
          <p:cNvSpPr txBox="1"/>
          <p:nvPr/>
        </p:nvSpPr>
        <p:spPr>
          <a:xfrm>
            <a:off x="716928" y="3350000"/>
            <a:ext cx="2300000" cy="1700000"/>
          </a:xfrm>
          <a:prstGeom prst="rect">
            <a:avLst/>
          </a:prstGeom>
          <a:noFill/>
          <a:ln/>
        </p:spPr>
        <p:txBody>
          <a:bodyPr wrap="square" lIns="0" tIns="0" rIns="0" bIns="0" rtlCol="0" anchor="t"/>
          <a:lstStyle/>
          <a:p>
            <a:pPr marL="0" indent="0" algn="ctr">
              <a:buNone/>
            </a:pPr>
            <a:r>
              <a:rPr lang="en-GB" sz="1600" noProof="0" dirty="0">
                <a:solidFill>
                  <a:srgbClr val="23303F"/>
                </a:solidFill>
                <a:latin typeface="Calibri" pitchFamily="34" charset="0"/>
                <a:ea typeface="Calibri" pitchFamily="34" charset="-122"/>
                <a:cs typeface="Calibri" pitchFamily="34" charset="-120"/>
              </a:rPr>
              <a:t>HPV test. If negative, rescreen after 10 years.</a:t>
            </a:r>
            <a:endParaRPr lang="en-GB" sz="1600" dirty="0"/>
          </a:p>
        </p:txBody>
      </p:sp>
      <p:sp>
        <p:nvSpPr>
          <p:cNvPr id="8" name="Shape 8"/>
          <p:cNvSpPr/>
          <p:nvPr/>
        </p:nvSpPr>
        <p:spPr>
          <a:xfrm>
            <a:off x="3385293" y="1450000"/>
            <a:ext cx="2600000" cy="375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9" name="Text 9"/>
          <p:cNvSpPr txBox="1"/>
          <p:nvPr/>
        </p:nvSpPr>
        <p:spPr>
          <a:xfrm>
            <a:off x="3535293" y="1560000"/>
            <a:ext cx="2300000" cy="800000"/>
          </a:xfrm>
          <a:prstGeom prst="rect">
            <a:avLst/>
          </a:prstGeom>
          <a:noFill/>
          <a:ln/>
        </p:spPr>
        <p:txBody>
          <a:bodyPr wrap="square" lIns="0" tIns="0" rIns="0" bIns="0" rtlCol="0" anchor="ctr"/>
          <a:lstStyle/>
          <a:p>
            <a:pPr marL="0" indent="0" algn="ctr">
              <a:buNone/>
            </a:pPr>
            <a:r>
              <a:rPr lang="en-GB" sz="3600" b="1" noProof="0" dirty="0">
                <a:solidFill>
                  <a:srgbClr val="1F4E96"/>
                </a:solidFill>
                <a:latin typeface="Calibri" pitchFamily="34" charset="0"/>
                <a:ea typeface="Calibri" pitchFamily="34" charset="-122"/>
                <a:cs typeface="Calibri" pitchFamily="34" charset="-120"/>
              </a:rPr>
              <a:t>25 to 49</a:t>
            </a:r>
            <a:endParaRPr lang="en-GB" sz="3600" dirty="0"/>
          </a:p>
        </p:txBody>
      </p:sp>
      <p:sp>
        <p:nvSpPr>
          <p:cNvPr id="10" name="Text 10"/>
          <p:cNvSpPr txBox="1"/>
          <p:nvPr/>
        </p:nvSpPr>
        <p:spPr>
          <a:xfrm>
            <a:off x="3535293" y="2420000"/>
            <a:ext cx="2300000" cy="900000"/>
          </a:xfrm>
          <a:prstGeom prst="rect">
            <a:avLst/>
          </a:prstGeom>
          <a:noFill/>
          <a:ln/>
        </p:spPr>
        <p:txBody>
          <a:bodyPr wrap="square" lIns="0" tIns="0" rIns="0" bIns="0" rtlCol="0" anchor="t"/>
          <a:lstStyle/>
          <a:p>
            <a:pPr marL="0" indent="0" algn="ctr">
              <a:buNone/>
            </a:pPr>
            <a:r>
              <a:rPr lang="en-GB" sz="1600" b="1" noProof="0" dirty="0">
                <a:solidFill>
                  <a:srgbClr val="10305A"/>
                </a:solidFill>
                <a:latin typeface="Calibri" pitchFamily="34" charset="0"/>
                <a:ea typeface="Calibri" pitchFamily="34" charset="-122"/>
                <a:cs typeface="Calibri" pitchFamily="34" charset="-120"/>
              </a:rPr>
              <a:t>Priority age, women living with HIV</a:t>
            </a:r>
            <a:endParaRPr lang="en-GB" sz="1600" dirty="0"/>
          </a:p>
        </p:txBody>
      </p:sp>
      <p:sp>
        <p:nvSpPr>
          <p:cNvPr id="11" name="Text 11"/>
          <p:cNvSpPr txBox="1"/>
          <p:nvPr/>
        </p:nvSpPr>
        <p:spPr>
          <a:xfrm>
            <a:off x="3535293" y="3350000"/>
            <a:ext cx="2300000" cy="1700000"/>
          </a:xfrm>
          <a:prstGeom prst="rect">
            <a:avLst/>
          </a:prstGeom>
          <a:noFill/>
          <a:ln/>
        </p:spPr>
        <p:txBody>
          <a:bodyPr wrap="square" lIns="0" tIns="0" rIns="0" bIns="0" rtlCol="0" anchor="t"/>
          <a:lstStyle/>
          <a:p>
            <a:pPr marL="0" indent="0" algn="ctr">
              <a:buNone/>
            </a:pPr>
            <a:r>
              <a:rPr lang="en-GB" sz="1600" noProof="0" dirty="0">
                <a:solidFill>
                  <a:srgbClr val="23303F"/>
                </a:solidFill>
                <a:latin typeface="Calibri" pitchFamily="34" charset="0"/>
                <a:ea typeface="Calibri" pitchFamily="34" charset="-122"/>
                <a:cs typeface="Calibri" pitchFamily="34" charset="-120"/>
              </a:rPr>
              <a:t>HPV test. If negative, rescreen after 5 years.</a:t>
            </a:r>
            <a:endParaRPr lang="en-GB" sz="1600" dirty="0"/>
          </a:p>
        </p:txBody>
      </p:sp>
      <p:sp>
        <p:nvSpPr>
          <p:cNvPr id="12" name="Shape 12"/>
          <p:cNvSpPr/>
          <p:nvPr/>
        </p:nvSpPr>
        <p:spPr>
          <a:xfrm>
            <a:off x="6203658" y="1450000"/>
            <a:ext cx="2600000" cy="3750000"/>
          </a:xfrm>
          <a:prstGeom prst="roundRect">
            <a:avLst>
              <a:gd name="adj" fmla="val 3000"/>
            </a:avLst>
          </a:prstGeom>
          <a:solidFill>
            <a:srgbClr val="FFF2DF"/>
          </a:solidFill>
          <a:ln w="12700">
            <a:solidFill>
              <a:srgbClr val="E8DDC7"/>
            </a:solidFill>
          </a:ln>
        </p:spPr>
        <p:txBody>
          <a:bodyPr/>
          <a:lstStyle/>
          <a:p>
            <a:endParaRPr lang="en-GB" sz="1600" dirty="0"/>
          </a:p>
        </p:txBody>
      </p:sp>
      <p:sp>
        <p:nvSpPr>
          <p:cNvPr id="13" name="Text 13"/>
          <p:cNvSpPr txBox="1"/>
          <p:nvPr/>
        </p:nvSpPr>
        <p:spPr>
          <a:xfrm>
            <a:off x="6353658" y="1560000"/>
            <a:ext cx="2300000" cy="800000"/>
          </a:xfrm>
          <a:prstGeom prst="rect">
            <a:avLst/>
          </a:prstGeom>
          <a:noFill/>
          <a:ln/>
        </p:spPr>
        <p:txBody>
          <a:bodyPr wrap="square" lIns="0" tIns="0" rIns="0" bIns="0" rtlCol="0" anchor="ctr"/>
          <a:lstStyle/>
          <a:p>
            <a:pPr marL="0" indent="0" algn="ctr">
              <a:buNone/>
            </a:pPr>
            <a:r>
              <a:rPr lang="en-GB" sz="3600" b="1" noProof="0" dirty="0">
                <a:solidFill>
                  <a:srgbClr val="1F4E96"/>
                </a:solidFill>
                <a:latin typeface="Calibri" pitchFamily="34" charset="0"/>
                <a:ea typeface="Calibri" pitchFamily="34" charset="-122"/>
                <a:cs typeface="Calibri" pitchFamily="34" charset="-120"/>
              </a:rPr>
              <a:t>50 to 65</a:t>
            </a:r>
            <a:endParaRPr lang="en-GB" sz="3600" dirty="0"/>
          </a:p>
        </p:txBody>
      </p:sp>
      <p:sp>
        <p:nvSpPr>
          <p:cNvPr id="14" name="Text 14"/>
          <p:cNvSpPr txBox="1"/>
          <p:nvPr/>
        </p:nvSpPr>
        <p:spPr>
          <a:xfrm>
            <a:off x="6353658" y="2420000"/>
            <a:ext cx="2300000" cy="900000"/>
          </a:xfrm>
          <a:prstGeom prst="rect">
            <a:avLst/>
          </a:prstGeom>
          <a:noFill/>
          <a:ln/>
        </p:spPr>
        <p:txBody>
          <a:bodyPr wrap="square" lIns="0" tIns="0" rIns="0" bIns="0" rtlCol="0" anchor="t"/>
          <a:lstStyle/>
          <a:p>
            <a:pPr marL="0" indent="0" algn="ctr">
              <a:buNone/>
            </a:pPr>
            <a:r>
              <a:rPr lang="en-GB" sz="1600" b="1" noProof="0" dirty="0">
                <a:solidFill>
                  <a:srgbClr val="10305A"/>
                </a:solidFill>
                <a:latin typeface="Calibri" pitchFamily="34" charset="0"/>
                <a:ea typeface="Calibri" pitchFamily="34" charset="-122"/>
                <a:cs typeface="Calibri" pitchFamily="34" charset="-120"/>
              </a:rPr>
              <a:t>Never screened, or no documented negative result</a:t>
            </a:r>
            <a:endParaRPr lang="en-GB" sz="1600" dirty="0"/>
          </a:p>
        </p:txBody>
      </p:sp>
      <p:sp>
        <p:nvSpPr>
          <p:cNvPr id="15" name="Text 15"/>
          <p:cNvSpPr txBox="1"/>
          <p:nvPr/>
        </p:nvSpPr>
        <p:spPr>
          <a:xfrm>
            <a:off x="6353658" y="3350000"/>
            <a:ext cx="2300000" cy="1700000"/>
          </a:xfrm>
          <a:prstGeom prst="rect">
            <a:avLst/>
          </a:prstGeom>
          <a:noFill/>
          <a:ln/>
        </p:spPr>
        <p:txBody>
          <a:bodyPr wrap="square" lIns="0" tIns="0" rIns="0" bIns="0" rtlCol="0" anchor="t"/>
          <a:lstStyle/>
          <a:p>
            <a:pPr marL="0" indent="0" algn="ctr">
              <a:buNone/>
            </a:pPr>
            <a:r>
              <a:rPr lang="en-GB" sz="1600" noProof="0" dirty="0">
                <a:solidFill>
                  <a:srgbClr val="23303F"/>
                </a:solidFill>
                <a:latin typeface="Calibri" pitchFamily="34" charset="0"/>
                <a:ea typeface="Calibri" pitchFamily="34" charset="-122"/>
                <a:cs typeface="Calibri" pitchFamily="34" charset="-120"/>
              </a:rPr>
              <a:t>Pap smear. VIA if Pap smear is not available.</a:t>
            </a:r>
            <a:endParaRPr lang="en-GB" sz="1600" dirty="0"/>
          </a:p>
        </p:txBody>
      </p:sp>
      <p:sp>
        <p:nvSpPr>
          <p:cNvPr id="16" name="Shape 16"/>
          <p:cNvSpPr/>
          <p:nvPr/>
        </p:nvSpPr>
        <p:spPr>
          <a:xfrm>
            <a:off x="9022024" y="1450000"/>
            <a:ext cx="2600000" cy="3750000"/>
          </a:xfrm>
          <a:prstGeom prst="roundRect">
            <a:avLst>
              <a:gd name="adj" fmla="val 3000"/>
            </a:avLst>
          </a:prstGeom>
          <a:solidFill>
            <a:srgbClr val="EAF7F0"/>
          </a:solidFill>
          <a:ln w="12700">
            <a:solidFill>
              <a:srgbClr val="C0D4CB"/>
            </a:solidFill>
          </a:ln>
        </p:spPr>
        <p:txBody>
          <a:bodyPr/>
          <a:lstStyle/>
          <a:p>
            <a:endParaRPr lang="en-GB" sz="1600" dirty="0"/>
          </a:p>
        </p:txBody>
      </p:sp>
      <p:sp>
        <p:nvSpPr>
          <p:cNvPr id="17" name="Text 17"/>
          <p:cNvSpPr txBox="1"/>
          <p:nvPr/>
        </p:nvSpPr>
        <p:spPr>
          <a:xfrm>
            <a:off x="9172024" y="1560000"/>
            <a:ext cx="2300000" cy="800000"/>
          </a:xfrm>
          <a:prstGeom prst="rect">
            <a:avLst/>
          </a:prstGeom>
          <a:noFill/>
          <a:ln/>
        </p:spPr>
        <p:txBody>
          <a:bodyPr wrap="square" lIns="0" tIns="0" rIns="0" bIns="0" rtlCol="0" anchor="ctr"/>
          <a:lstStyle/>
          <a:p>
            <a:pPr marL="0" indent="0" algn="ctr">
              <a:buNone/>
            </a:pPr>
            <a:r>
              <a:rPr lang="en-GB" sz="3600" b="1" noProof="0" dirty="0">
                <a:solidFill>
                  <a:srgbClr val="1F4E96"/>
                </a:solidFill>
                <a:latin typeface="Calibri" pitchFamily="34" charset="0"/>
                <a:ea typeface="Calibri" pitchFamily="34" charset="-122"/>
                <a:cs typeface="Calibri" pitchFamily="34" charset="-120"/>
              </a:rPr>
              <a:t>After 50</a:t>
            </a:r>
            <a:endParaRPr lang="en-GB" sz="3600" dirty="0"/>
          </a:p>
        </p:txBody>
      </p:sp>
      <p:sp>
        <p:nvSpPr>
          <p:cNvPr id="18" name="Text 18"/>
          <p:cNvSpPr txBox="1"/>
          <p:nvPr/>
        </p:nvSpPr>
        <p:spPr>
          <a:xfrm>
            <a:off x="9172024" y="2420000"/>
            <a:ext cx="2300000" cy="900000"/>
          </a:xfrm>
          <a:prstGeom prst="rect">
            <a:avLst/>
          </a:prstGeom>
          <a:noFill/>
          <a:ln/>
        </p:spPr>
        <p:txBody>
          <a:bodyPr wrap="square" lIns="0" tIns="0" rIns="0" bIns="0" rtlCol="0" anchor="t"/>
          <a:lstStyle/>
          <a:p>
            <a:pPr marL="0" indent="0" algn="ctr">
              <a:buNone/>
            </a:pPr>
            <a:r>
              <a:rPr lang="en-GB" sz="1600" b="1" noProof="0" dirty="0">
                <a:solidFill>
                  <a:srgbClr val="10305A"/>
                </a:solidFill>
                <a:latin typeface="Calibri" pitchFamily="34" charset="0"/>
                <a:ea typeface="Calibri" pitchFamily="34" charset="-122"/>
                <a:cs typeface="Calibri" pitchFamily="34" charset="-120"/>
              </a:rPr>
              <a:t>When screening can stop</a:t>
            </a:r>
            <a:endParaRPr lang="en-GB" sz="1600" dirty="0"/>
          </a:p>
        </p:txBody>
      </p:sp>
      <p:sp>
        <p:nvSpPr>
          <p:cNvPr id="19" name="Text 19"/>
          <p:cNvSpPr txBox="1"/>
          <p:nvPr/>
        </p:nvSpPr>
        <p:spPr>
          <a:xfrm>
            <a:off x="9172024" y="3350000"/>
            <a:ext cx="2300000" cy="1700000"/>
          </a:xfrm>
          <a:prstGeom prst="rect">
            <a:avLst/>
          </a:prstGeom>
          <a:noFill/>
          <a:ln/>
        </p:spPr>
        <p:txBody>
          <a:bodyPr wrap="square" lIns="0" tIns="0" rIns="0" bIns="0" rtlCol="0" anchor="t"/>
          <a:lstStyle/>
          <a:p>
            <a:pPr marL="0" indent="0" algn="ctr">
              <a:buNone/>
            </a:pPr>
            <a:r>
              <a:rPr lang="en-GB" sz="1600" noProof="0" dirty="0">
                <a:solidFill>
                  <a:srgbClr val="23303F"/>
                </a:solidFill>
                <a:latin typeface="Calibri" pitchFamily="34" charset="0"/>
                <a:ea typeface="Calibri" pitchFamily="34" charset="-122"/>
                <a:cs typeface="Calibri" pitchFamily="34" charset="-120"/>
              </a:rPr>
              <a:t>After two consecutive negative results at the recommended interval.</a:t>
            </a:r>
            <a:endParaRPr lang="en-GB" sz="1600" dirty="0"/>
          </a:p>
        </p:txBody>
      </p:sp>
      <p:sp>
        <p:nvSpPr>
          <p:cNvPr id="20" name="Shape 20"/>
          <p:cNvSpPr/>
          <p:nvPr/>
        </p:nvSpPr>
        <p:spPr>
          <a:xfrm>
            <a:off x="566928" y="5350000"/>
            <a:ext cx="11055096" cy="820000"/>
          </a:xfrm>
          <a:prstGeom prst="roundRect">
            <a:avLst>
              <a:gd name="adj" fmla="val 3000"/>
            </a:avLst>
          </a:prstGeom>
          <a:solidFill>
            <a:srgbClr val="FFF2DF"/>
          </a:solidFill>
          <a:ln w="12700">
            <a:solidFill>
              <a:srgbClr val="E8DDC7"/>
            </a:solidFill>
          </a:ln>
        </p:spPr>
        <p:txBody>
          <a:bodyPr/>
          <a:lstStyle/>
          <a:p>
            <a:endParaRPr lang="en-GB" sz="1600" dirty="0"/>
          </a:p>
        </p:txBody>
      </p:sp>
      <p:sp>
        <p:nvSpPr>
          <p:cNvPr id="21" name="Text 21"/>
          <p:cNvSpPr txBox="1"/>
          <p:nvPr/>
        </p:nvSpPr>
        <p:spPr>
          <a:xfrm>
            <a:off x="841248" y="5400000"/>
            <a:ext cx="10506456" cy="720000"/>
          </a:xfrm>
          <a:prstGeom prst="rect">
            <a:avLst/>
          </a:prstGeom>
          <a:noFill/>
          <a:ln/>
        </p:spPr>
        <p:txBody>
          <a:bodyPr wrap="square" lIns="0" tIns="0" rIns="0" bIns="0" rtlCol="0" anchor="ctr"/>
          <a:lstStyle/>
          <a:p>
            <a:pPr marL="0" indent="0" algn="l">
              <a:buNone/>
            </a:pPr>
            <a:r>
              <a:rPr lang="en-GB" sz="1600" b="1" noProof="0" dirty="0">
                <a:solidFill>
                  <a:srgbClr val="7B5727"/>
                </a:solidFill>
                <a:latin typeface="Calibri" pitchFamily="34" charset="0"/>
                <a:ea typeface="Calibri" pitchFamily="34" charset="-122"/>
                <a:cs typeface="Calibri" pitchFamily="34" charset="-120"/>
              </a:rPr>
              <a:t>📌 Remember:  </a:t>
            </a:r>
            <a:r>
              <a:rPr lang="en-GB" sz="1600" noProof="0" dirty="0">
                <a:solidFill>
                  <a:srgbClr val="23303F"/>
                </a:solidFill>
                <a:latin typeface="Calibri" pitchFamily="34" charset="0"/>
                <a:ea typeface="Calibri" pitchFamily="34" charset="-122"/>
                <a:cs typeface="Calibri" pitchFamily="34" charset="-120"/>
              </a:rPr>
              <a:t>HPV testing is used for the priority ages. Women aged 50 to 65 who missed screening are still invited, using Pap smear or VIA.</a:t>
            </a:r>
            <a:endParaRPr lang="en-GB" sz="1600" dirty="0"/>
          </a:p>
        </p:txBody>
      </p:sp>
      <p:sp>
        <p:nvSpPr>
          <p:cNvPr id="22" name="Text 22"/>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23" name="Text 23"/>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78</a:t>
            </a:r>
            <a:endParaRPr lang="en-GB" sz="11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79</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RECOMMENDATIONS</a:t>
            </a:r>
            <a:endParaRPr lang="en-GB" sz="1200" noProof="0" dirty="0"/>
          </a:p>
        </p:txBody>
      </p:sp>
      <p:sp>
        <p:nvSpPr>
          <p:cNvPr id="5" name="Text 3"/>
          <p:cNvSpPr txBox="1"/>
          <p:nvPr/>
        </p:nvSpPr>
        <p:spPr>
          <a:xfrm>
            <a:off x="566928" y="406486"/>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The pathway</a:t>
            </a:r>
            <a:endParaRPr lang="en-GB" sz="3200" noProof="0" dirty="0"/>
          </a:p>
        </p:txBody>
      </p:sp>
      <p:pic>
        <p:nvPicPr>
          <p:cNvPr id="6" name="Imagen 5">
            <a:extLst>
              <a:ext uri="{FF2B5EF4-FFF2-40B4-BE49-F238E27FC236}">
                <a16:creationId xmlns:a16="http://schemas.microsoft.com/office/drawing/2014/main" id="{A9D6D8E9-2440-E24E-1FE4-7DA704E16473}"/>
              </a:ext>
            </a:extLst>
          </p:cNvPr>
          <p:cNvPicPr>
            <a:picLocks noChangeAspect="1"/>
          </p:cNvPicPr>
          <p:nvPr/>
        </p:nvPicPr>
        <p:blipFill>
          <a:blip r:embed="rId3"/>
          <a:stretch>
            <a:fillRect/>
          </a:stretch>
        </p:blipFill>
        <p:spPr>
          <a:xfrm>
            <a:off x="921040" y="1187478"/>
            <a:ext cx="10346871" cy="5167602"/>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2 · HPV TESTING</a:t>
            </a:r>
            <a:endParaRPr lang="en-GB"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Before you take an HPV sample</a:t>
            </a:r>
          </a:p>
        </p:txBody>
      </p:sp>
      <p:sp>
        <p:nvSpPr>
          <p:cNvPr id="4" name="Shape 4"/>
          <p:cNvSpPr/>
          <p:nvPr/>
        </p:nvSpPr>
        <p:spPr>
          <a:xfrm>
            <a:off x="566928" y="1450000"/>
            <a:ext cx="5436108" cy="3150000"/>
          </a:xfrm>
          <a:prstGeom prst="roundRect">
            <a:avLst>
              <a:gd name="adj" fmla="val 3000"/>
            </a:avLst>
          </a:prstGeom>
          <a:solidFill>
            <a:srgbClr val="EAF7F0"/>
          </a:solidFill>
          <a:ln w="12700">
            <a:solidFill>
              <a:srgbClr val="C0D4CB"/>
            </a:solidFill>
          </a:ln>
        </p:spPr>
        <p:txBody>
          <a:bodyPr/>
          <a:lstStyle/>
          <a:p>
            <a:endParaRPr lang="en-GB" sz="1600" dirty="0"/>
          </a:p>
        </p:txBody>
      </p:sp>
      <p:sp>
        <p:nvSpPr>
          <p:cNvPr id="5" name="Text 5"/>
          <p:cNvSpPr txBox="1"/>
          <p:nvPr/>
        </p:nvSpPr>
        <p:spPr>
          <a:xfrm>
            <a:off x="822960" y="1570000"/>
            <a:ext cx="4924044" cy="520000"/>
          </a:xfrm>
          <a:prstGeom prst="rect">
            <a:avLst/>
          </a:prstGeom>
          <a:noFill/>
          <a:ln/>
        </p:spPr>
        <p:txBody>
          <a:bodyPr wrap="square" lIns="0" tIns="0" rIns="0" bIns="0" rtlCol="0" anchor="ctr"/>
          <a:lstStyle/>
          <a:p>
            <a:pPr marL="0" indent="0" algn="l">
              <a:buNone/>
            </a:pPr>
            <a:r>
              <a:rPr lang="en-GB" sz="2000" b="1" noProof="0" dirty="0">
                <a:solidFill>
                  <a:srgbClr val="19543E"/>
                </a:solidFill>
                <a:latin typeface="Calibri" pitchFamily="34" charset="0"/>
                <a:ea typeface="Calibri" pitchFamily="34" charset="-122"/>
                <a:cs typeface="Calibri" pitchFamily="34" charset="-120"/>
              </a:rPr>
              <a:t>✅  Offer the HPV test to</a:t>
            </a:r>
            <a:endParaRPr lang="en-GB" sz="2000" dirty="0"/>
          </a:p>
        </p:txBody>
      </p:sp>
      <p:sp>
        <p:nvSpPr>
          <p:cNvPr id="6" name="Text 6"/>
          <p:cNvSpPr txBox="1"/>
          <p:nvPr/>
        </p:nvSpPr>
        <p:spPr>
          <a:xfrm>
            <a:off x="822960" y="2150000"/>
            <a:ext cx="4924044" cy="237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en-GB" sz="1700" noProof="0" dirty="0">
                <a:solidFill>
                  <a:srgbClr val="23303F"/>
                </a:solidFill>
                <a:latin typeface="Calibri" pitchFamily="34" charset="0"/>
                <a:ea typeface="Calibri" pitchFamily="34" charset="-122"/>
                <a:cs typeface="Calibri" pitchFamily="34" charset="-120"/>
              </a:rPr>
              <a:t>Women in the priority ages: 30 to 49, or 25 to 49 if living with HIV.</a:t>
            </a:r>
            <a:endParaRPr lang="en-GB" sz="1700" dirty="0"/>
          </a:p>
          <a:p>
            <a:pPr marL="285750" indent="-285750" algn="l">
              <a:lnSpc>
                <a:spcPct val="104000"/>
              </a:lnSpc>
              <a:spcAft>
                <a:spcPts val="600"/>
              </a:spcAft>
              <a:buSzPct val="100000"/>
              <a:buChar char="•"/>
            </a:pPr>
            <a:r>
              <a:rPr lang="en-GB" sz="1700" noProof="0" dirty="0">
                <a:solidFill>
                  <a:srgbClr val="23303F"/>
                </a:solidFill>
                <a:latin typeface="Calibri" pitchFamily="34" charset="0"/>
                <a:ea typeface="Calibri" pitchFamily="34" charset="-122"/>
                <a:cs typeface="Calibri" pitchFamily="34" charset="-120"/>
              </a:rPr>
              <a:t>Women due for screening who have no symptoms.</a:t>
            </a:r>
            <a:endParaRPr lang="en-GB" sz="1700" dirty="0"/>
          </a:p>
          <a:p>
            <a:pPr marL="285750" indent="-285750" algn="l">
              <a:lnSpc>
                <a:spcPct val="104000"/>
              </a:lnSpc>
              <a:spcAft>
                <a:spcPts val="600"/>
              </a:spcAft>
              <a:buSzPct val="100000"/>
              <a:buChar char="•"/>
            </a:pPr>
            <a:r>
              <a:rPr lang="en-GB" sz="1700" noProof="0" dirty="0">
                <a:solidFill>
                  <a:srgbClr val="23303F"/>
                </a:solidFill>
                <a:latin typeface="Calibri" pitchFamily="34" charset="0"/>
                <a:ea typeface="Calibri" pitchFamily="34" charset="-122"/>
                <a:cs typeface="Calibri" pitchFamily="34" charset="-120"/>
              </a:rPr>
              <a:t>Women who have agreed after counselling.</a:t>
            </a:r>
            <a:endParaRPr lang="en-GB" sz="1700" dirty="0"/>
          </a:p>
        </p:txBody>
      </p:sp>
      <p:sp>
        <p:nvSpPr>
          <p:cNvPr id="7" name="Shape 7"/>
          <p:cNvSpPr/>
          <p:nvPr/>
        </p:nvSpPr>
        <p:spPr>
          <a:xfrm>
            <a:off x="6185916" y="1450000"/>
            <a:ext cx="5436108" cy="3150000"/>
          </a:xfrm>
          <a:prstGeom prst="roundRect">
            <a:avLst>
              <a:gd name="adj" fmla="val 3000"/>
            </a:avLst>
          </a:prstGeom>
          <a:solidFill>
            <a:srgbClr val="FFF2DF"/>
          </a:solidFill>
          <a:ln w="12700">
            <a:solidFill>
              <a:srgbClr val="E8DDC7"/>
            </a:solidFill>
          </a:ln>
        </p:spPr>
        <p:txBody>
          <a:bodyPr/>
          <a:lstStyle/>
          <a:p>
            <a:endParaRPr lang="en-GB" sz="1600" dirty="0"/>
          </a:p>
        </p:txBody>
      </p:sp>
      <p:sp>
        <p:nvSpPr>
          <p:cNvPr id="8" name="Text 8"/>
          <p:cNvSpPr txBox="1"/>
          <p:nvPr/>
        </p:nvSpPr>
        <p:spPr>
          <a:xfrm>
            <a:off x="6441948" y="1570000"/>
            <a:ext cx="4924044" cy="520000"/>
          </a:xfrm>
          <a:prstGeom prst="rect">
            <a:avLst/>
          </a:prstGeom>
          <a:noFill/>
          <a:ln/>
        </p:spPr>
        <p:txBody>
          <a:bodyPr wrap="square" lIns="0" tIns="0" rIns="0" bIns="0" rtlCol="0" anchor="ctr"/>
          <a:lstStyle/>
          <a:p>
            <a:pPr marL="0" indent="0" algn="l">
              <a:buNone/>
            </a:pPr>
            <a:r>
              <a:rPr lang="en-GB" sz="2000" b="1" noProof="0" dirty="0">
                <a:solidFill>
                  <a:srgbClr val="7B5727"/>
                </a:solidFill>
                <a:latin typeface="Calibri" pitchFamily="34" charset="0"/>
                <a:ea typeface="Calibri" pitchFamily="34" charset="-122"/>
                <a:cs typeface="Calibri" pitchFamily="34" charset="-120"/>
              </a:rPr>
              <a:t>⏸️  Do not take the sample</a:t>
            </a:r>
            <a:endParaRPr lang="en-GB" sz="2000" dirty="0"/>
          </a:p>
        </p:txBody>
      </p:sp>
      <p:sp>
        <p:nvSpPr>
          <p:cNvPr id="9" name="Text 9"/>
          <p:cNvSpPr txBox="1"/>
          <p:nvPr/>
        </p:nvSpPr>
        <p:spPr>
          <a:xfrm>
            <a:off x="6441948" y="2150000"/>
            <a:ext cx="4924044" cy="237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en-GB" sz="1700" noProof="0" dirty="0">
                <a:solidFill>
                  <a:srgbClr val="23303F"/>
                </a:solidFill>
                <a:latin typeface="Calibri" pitchFamily="34" charset="0"/>
                <a:ea typeface="Calibri" pitchFamily="34" charset="-122"/>
                <a:cs typeface="Calibri" pitchFamily="34" charset="-120"/>
              </a:rPr>
              <a:t>During menstruation.</a:t>
            </a:r>
            <a:endParaRPr lang="en-GB" sz="1700" dirty="0"/>
          </a:p>
          <a:p>
            <a:pPr marL="285750" indent="-285750" algn="l">
              <a:lnSpc>
                <a:spcPct val="104000"/>
              </a:lnSpc>
              <a:spcAft>
                <a:spcPts val="600"/>
              </a:spcAft>
              <a:buSzPct val="100000"/>
              <a:buChar char="•"/>
            </a:pPr>
            <a:r>
              <a:rPr lang="en-GB" sz="1700" noProof="0" dirty="0">
                <a:solidFill>
                  <a:srgbClr val="23303F"/>
                </a:solidFill>
                <a:latin typeface="Calibri" pitchFamily="34" charset="0"/>
                <a:ea typeface="Calibri" pitchFamily="34" charset="-122"/>
                <a:cs typeface="Calibri" pitchFamily="34" charset="-120"/>
              </a:rPr>
              <a:t>During pregnancy, or within 6 weeks of childbirth.</a:t>
            </a:r>
            <a:endParaRPr lang="en-GB" sz="1700" dirty="0"/>
          </a:p>
          <a:p>
            <a:pPr marL="285750" indent="-285750" algn="l">
              <a:lnSpc>
                <a:spcPct val="104000"/>
              </a:lnSpc>
              <a:spcAft>
                <a:spcPts val="600"/>
              </a:spcAft>
              <a:buSzPct val="100000"/>
              <a:buChar char="•"/>
            </a:pPr>
            <a:r>
              <a:rPr lang="en-GB" sz="1700" noProof="0" dirty="0">
                <a:solidFill>
                  <a:srgbClr val="23303F"/>
                </a:solidFill>
                <a:latin typeface="Calibri" pitchFamily="34" charset="0"/>
                <a:ea typeface="Calibri" pitchFamily="34" charset="-122"/>
                <a:cs typeface="Calibri" pitchFamily="34" charset="-120"/>
              </a:rPr>
              <a:t>After a total hysterectomy.</a:t>
            </a:r>
            <a:endParaRPr lang="en-GB" sz="1700" dirty="0"/>
          </a:p>
          <a:p>
            <a:pPr marL="285750" indent="-285750" algn="l">
              <a:lnSpc>
                <a:spcPct val="104000"/>
              </a:lnSpc>
              <a:spcAft>
                <a:spcPts val="600"/>
              </a:spcAft>
              <a:buSzPct val="100000"/>
              <a:buChar char="•"/>
            </a:pPr>
            <a:r>
              <a:rPr lang="en-GB" sz="1700" noProof="0" dirty="0">
                <a:solidFill>
                  <a:srgbClr val="23303F"/>
                </a:solidFill>
                <a:latin typeface="Calibri" pitchFamily="34" charset="0"/>
                <a:ea typeface="Calibri" pitchFamily="34" charset="-122"/>
                <a:cs typeface="Calibri" pitchFamily="34" charset="-120"/>
              </a:rPr>
              <a:t>When she has symptoms: she needs diagnostic assessment instead.</a:t>
            </a:r>
            <a:endParaRPr lang="en-GB" sz="1700" dirty="0"/>
          </a:p>
        </p:txBody>
      </p:sp>
      <p:sp>
        <p:nvSpPr>
          <p:cNvPr id="10" name="Shape 10"/>
          <p:cNvSpPr/>
          <p:nvPr/>
        </p:nvSpPr>
        <p:spPr>
          <a:xfrm>
            <a:off x="566928" y="4800000"/>
            <a:ext cx="11055096" cy="1000000"/>
          </a:xfrm>
          <a:prstGeom prst="roundRect">
            <a:avLst>
              <a:gd name="adj" fmla="val 3000"/>
            </a:avLst>
          </a:prstGeom>
          <a:solidFill>
            <a:srgbClr val="ECF3FD"/>
          </a:solidFill>
          <a:ln w="12700">
            <a:solidFill>
              <a:srgbClr val="E0E3EA"/>
            </a:solidFill>
          </a:ln>
        </p:spPr>
        <p:txBody>
          <a:bodyPr/>
          <a:lstStyle/>
          <a:p>
            <a:endParaRPr lang="en-GB" sz="1600" dirty="0"/>
          </a:p>
        </p:txBody>
      </p:sp>
      <p:sp>
        <p:nvSpPr>
          <p:cNvPr id="11" name="Text 11"/>
          <p:cNvSpPr txBox="1"/>
          <p:nvPr/>
        </p:nvSpPr>
        <p:spPr>
          <a:xfrm>
            <a:off x="841248" y="4850000"/>
            <a:ext cx="10506456" cy="900000"/>
          </a:xfrm>
          <a:prstGeom prst="rect">
            <a:avLst/>
          </a:prstGeom>
          <a:noFill/>
          <a:ln/>
        </p:spPr>
        <p:txBody>
          <a:bodyPr wrap="square" lIns="0" tIns="0" rIns="0" bIns="0" rtlCol="0" anchor="ctr"/>
          <a:lstStyle/>
          <a:p>
            <a:pPr marL="0" indent="0" algn="l">
              <a:buNone/>
            </a:pPr>
            <a:r>
              <a:rPr lang="en-GB" sz="1600" b="1" noProof="0" dirty="0">
                <a:solidFill>
                  <a:srgbClr val="10305A"/>
                </a:solidFill>
                <a:latin typeface="Calibri" pitchFamily="34" charset="0"/>
                <a:ea typeface="Calibri" pitchFamily="34" charset="-122"/>
                <a:cs typeface="Calibri" pitchFamily="34" charset="-120"/>
              </a:rPr>
              <a:t>📋 Before you start:  </a:t>
            </a:r>
            <a:r>
              <a:rPr lang="en-GB" sz="1600" noProof="0" dirty="0">
                <a:solidFill>
                  <a:srgbClr val="23303F"/>
                </a:solidFill>
                <a:latin typeface="Calibri" pitchFamily="34" charset="0"/>
                <a:ea typeface="Calibri" pitchFamily="34" charset="-122"/>
                <a:cs typeface="Calibri" pitchFamily="34" charset="-120"/>
              </a:rPr>
              <a:t>Label the tube with her name, screening ID and date, and complete the laboratory request in the EMR (mUzima or OpenMRS).</a:t>
            </a:r>
            <a:endParaRPr lang="en-GB" sz="1600" dirty="0"/>
          </a:p>
        </p:txBody>
      </p:sp>
      <p:sp>
        <p:nvSpPr>
          <p:cNvPr id="12" name="Text 12"/>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13" name="Text 13"/>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80</a:t>
            </a:r>
            <a:endParaRPr lang="en-GB" sz="11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2 · HPV TESTING</a:t>
            </a:r>
            <a:endParaRPr lang="en-GB" sz="1200" dirty="0"/>
          </a:p>
        </p:txBody>
      </p:sp>
      <p:sp>
        <p:nvSpPr>
          <p:cNvPr id="3" name="Text 3"/>
          <p:cNvSpPr txBox="1"/>
          <p:nvPr/>
        </p:nvSpPr>
        <p:spPr>
          <a:xfrm>
            <a:off x="566928" y="39294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Two ways to collect the sample</a:t>
            </a:r>
          </a:p>
        </p:txBody>
      </p:sp>
      <p:sp>
        <p:nvSpPr>
          <p:cNvPr id="4" name="Shape 4"/>
          <p:cNvSpPr/>
          <p:nvPr/>
        </p:nvSpPr>
        <p:spPr>
          <a:xfrm>
            <a:off x="566928" y="1202860"/>
            <a:ext cx="5436108" cy="4543032"/>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5" name="Text 5"/>
          <p:cNvSpPr txBox="1"/>
          <p:nvPr/>
        </p:nvSpPr>
        <p:spPr>
          <a:xfrm>
            <a:off x="822960" y="1322860"/>
            <a:ext cx="4924044" cy="520000"/>
          </a:xfrm>
          <a:prstGeom prst="rect">
            <a:avLst/>
          </a:prstGeom>
          <a:noFill/>
          <a:ln/>
        </p:spPr>
        <p:txBody>
          <a:bodyPr wrap="square" lIns="0" tIns="0" rIns="0" bIns="0" rtlCol="0" anchor="ctr"/>
          <a:lstStyle/>
          <a:p>
            <a:pPr marL="0" indent="0" algn="l">
              <a:buNone/>
            </a:pPr>
            <a:r>
              <a:rPr lang="en-GB" sz="2000" b="1" noProof="0" dirty="0">
                <a:solidFill>
                  <a:srgbClr val="10305A"/>
                </a:solidFill>
                <a:latin typeface="Calibri" pitchFamily="34" charset="0"/>
                <a:ea typeface="Calibri" pitchFamily="34" charset="-122"/>
                <a:cs typeface="Calibri" pitchFamily="34" charset="-120"/>
              </a:rPr>
              <a:t>👤  Self-collected</a:t>
            </a:r>
            <a:endParaRPr lang="en-GB" sz="2000" dirty="0"/>
          </a:p>
        </p:txBody>
      </p:sp>
      <p:sp>
        <p:nvSpPr>
          <p:cNvPr id="6" name="Text 6"/>
          <p:cNvSpPr txBox="1"/>
          <p:nvPr/>
        </p:nvSpPr>
        <p:spPr>
          <a:xfrm>
            <a:off x="822960" y="1902860"/>
            <a:ext cx="4924044" cy="212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Explain the steps with the instruction poster and give her privacy.</a:t>
            </a:r>
            <a:endParaRPr lang="en-GB" sz="1600" dirty="0"/>
          </a:p>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She inserts the swab into the vagina as far as is comfortable, rotates it, and places it in the tube.</a:t>
            </a:r>
            <a:endParaRPr lang="en-GB" sz="1600" dirty="0"/>
          </a:p>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Remove the pipette from the kit before handing it to her.</a:t>
            </a:r>
            <a:endParaRPr lang="en-GB" sz="1600" dirty="0"/>
          </a:p>
        </p:txBody>
      </p:sp>
      <p:sp>
        <p:nvSpPr>
          <p:cNvPr id="7" name="Shape 7"/>
          <p:cNvSpPr/>
          <p:nvPr/>
        </p:nvSpPr>
        <p:spPr>
          <a:xfrm>
            <a:off x="6185916" y="1202860"/>
            <a:ext cx="5436108" cy="4543032"/>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8" name="Text 8"/>
          <p:cNvSpPr txBox="1"/>
          <p:nvPr/>
        </p:nvSpPr>
        <p:spPr>
          <a:xfrm>
            <a:off x="6441948" y="1322860"/>
            <a:ext cx="4924044" cy="520000"/>
          </a:xfrm>
          <a:prstGeom prst="rect">
            <a:avLst/>
          </a:prstGeom>
          <a:noFill/>
          <a:ln/>
        </p:spPr>
        <p:txBody>
          <a:bodyPr wrap="square" lIns="0" tIns="0" rIns="0" bIns="0" rtlCol="0" anchor="ctr"/>
          <a:lstStyle/>
          <a:p>
            <a:pPr marL="0" indent="0" algn="l">
              <a:buNone/>
            </a:pPr>
            <a:r>
              <a:rPr lang="en-GB" sz="2000" b="1" noProof="0" dirty="0">
                <a:solidFill>
                  <a:srgbClr val="10305A"/>
                </a:solidFill>
                <a:latin typeface="Calibri" pitchFamily="34" charset="0"/>
                <a:ea typeface="Calibri" pitchFamily="34" charset="-122"/>
                <a:cs typeface="Calibri" pitchFamily="34" charset="-120"/>
              </a:rPr>
              <a:t>🩺  Clinician-collected</a:t>
            </a:r>
            <a:endParaRPr lang="en-GB" sz="2000" dirty="0"/>
          </a:p>
        </p:txBody>
      </p:sp>
      <p:sp>
        <p:nvSpPr>
          <p:cNvPr id="9" name="Text 9"/>
          <p:cNvSpPr txBox="1"/>
          <p:nvPr/>
        </p:nvSpPr>
        <p:spPr>
          <a:xfrm>
            <a:off x="6441948" y="1902860"/>
            <a:ext cx="4924044" cy="212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Insert a speculum moistened with water, not gel, and view the whole cervix.</a:t>
            </a:r>
            <a:endParaRPr lang="en-GB" sz="1600" dirty="0"/>
          </a:p>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Insert the brush into the os until the outer bristles touch the ectocervix, then rotate clockwise 3 to 5 times.</a:t>
            </a:r>
            <a:endParaRPr lang="en-GB" sz="1600" dirty="0"/>
          </a:p>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Rinse the brush in the transport buffer and cap the tube securely.</a:t>
            </a:r>
            <a:endParaRPr lang="en-GB" sz="1600" dirty="0"/>
          </a:p>
        </p:txBody>
      </p:sp>
      <p:sp>
        <p:nvSpPr>
          <p:cNvPr id="11" name="Shape 11"/>
          <p:cNvSpPr/>
          <p:nvPr/>
        </p:nvSpPr>
        <p:spPr>
          <a:xfrm>
            <a:off x="566928" y="5894176"/>
            <a:ext cx="11055096" cy="478822"/>
          </a:xfrm>
          <a:prstGeom prst="roundRect">
            <a:avLst>
              <a:gd name="adj" fmla="val 3000"/>
            </a:avLst>
          </a:prstGeom>
          <a:solidFill>
            <a:srgbClr val="EAF7F0"/>
          </a:solidFill>
          <a:ln w="12700">
            <a:solidFill>
              <a:srgbClr val="C0D4CB"/>
            </a:solidFill>
          </a:ln>
        </p:spPr>
        <p:txBody>
          <a:bodyPr/>
          <a:lstStyle/>
          <a:p>
            <a:endParaRPr lang="en-GB" sz="1600" dirty="0"/>
          </a:p>
        </p:txBody>
      </p:sp>
      <p:sp>
        <p:nvSpPr>
          <p:cNvPr id="12" name="Text 12"/>
          <p:cNvSpPr txBox="1"/>
          <p:nvPr/>
        </p:nvSpPr>
        <p:spPr>
          <a:xfrm>
            <a:off x="841248" y="5980674"/>
            <a:ext cx="10506456" cy="342324"/>
          </a:xfrm>
          <a:prstGeom prst="rect">
            <a:avLst/>
          </a:prstGeom>
          <a:noFill/>
          <a:ln/>
        </p:spPr>
        <p:txBody>
          <a:bodyPr wrap="square" lIns="0" tIns="0" rIns="0" bIns="0" rtlCol="0" anchor="ctr"/>
          <a:lstStyle/>
          <a:p>
            <a:pPr marL="0" indent="0" algn="l">
              <a:buNone/>
            </a:pPr>
            <a:r>
              <a:rPr lang="en-GB" sz="1600" b="1" noProof="0" dirty="0">
                <a:solidFill>
                  <a:srgbClr val="19543E"/>
                </a:solidFill>
                <a:latin typeface="Calibri" pitchFamily="34" charset="0"/>
                <a:ea typeface="Calibri" pitchFamily="34" charset="-122"/>
                <a:cs typeface="Calibri" pitchFamily="34" charset="-120"/>
              </a:rPr>
              <a:t>✅ Both are valid:  </a:t>
            </a:r>
            <a:r>
              <a:rPr lang="en-GB" sz="1600" noProof="0" dirty="0">
                <a:solidFill>
                  <a:srgbClr val="23303F"/>
                </a:solidFill>
                <a:latin typeface="Calibri" pitchFamily="34" charset="0"/>
                <a:ea typeface="Calibri" pitchFamily="34" charset="-122"/>
                <a:cs typeface="Calibri" pitchFamily="34" charset="-120"/>
              </a:rPr>
              <a:t>Self-collection and clinician collection are both used in Rwanda. Self-collection widens access.</a:t>
            </a:r>
            <a:endParaRPr lang="en-GB" sz="1600" dirty="0"/>
          </a:p>
        </p:txBody>
      </p:sp>
      <p:sp>
        <p:nvSpPr>
          <p:cNvPr id="13" name="Text 13"/>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14" name="Text 14"/>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81</a:t>
            </a:r>
            <a:endParaRPr lang="en-GB" sz="1100" dirty="0"/>
          </a:p>
        </p:txBody>
      </p:sp>
      <p:pic>
        <p:nvPicPr>
          <p:cNvPr id="15" name="Imagen 14">
            <a:extLst>
              <a:ext uri="{FF2B5EF4-FFF2-40B4-BE49-F238E27FC236}">
                <a16:creationId xmlns:a16="http://schemas.microsoft.com/office/drawing/2014/main" id="{E3F283DC-EFE4-F24A-B4C9-9ED2EE514BDA}"/>
              </a:ext>
            </a:extLst>
          </p:cNvPr>
          <p:cNvPicPr>
            <a:picLocks noChangeAspect="1"/>
          </p:cNvPicPr>
          <p:nvPr/>
        </p:nvPicPr>
        <p:blipFill>
          <a:blip r:embed="rId2"/>
          <a:stretch>
            <a:fillRect/>
          </a:stretch>
        </p:blipFill>
        <p:spPr>
          <a:xfrm>
            <a:off x="1980047" y="3496092"/>
            <a:ext cx="2572265" cy="2141682"/>
          </a:xfrm>
          <a:prstGeom prst="rect">
            <a:avLst/>
          </a:prstGeom>
        </p:spPr>
      </p:pic>
      <p:pic>
        <p:nvPicPr>
          <p:cNvPr id="17" name="Imagen 16">
            <a:extLst>
              <a:ext uri="{FF2B5EF4-FFF2-40B4-BE49-F238E27FC236}">
                <a16:creationId xmlns:a16="http://schemas.microsoft.com/office/drawing/2014/main" id="{3A8BAD46-E7F3-1C32-1D15-AF52C7445484}"/>
              </a:ext>
            </a:extLst>
          </p:cNvPr>
          <p:cNvPicPr>
            <a:picLocks noChangeAspect="1"/>
          </p:cNvPicPr>
          <p:nvPr/>
        </p:nvPicPr>
        <p:blipFill>
          <a:blip r:embed="rId3"/>
          <a:srcRect t="14415" b="11072"/>
          <a:stretch>
            <a:fillRect/>
          </a:stretch>
        </p:blipFill>
        <p:spPr>
          <a:xfrm>
            <a:off x="7340873" y="3367527"/>
            <a:ext cx="3126193" cy="2329437"/>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2 · INTERACTIVE</a:t>
            </a:r>
            <a:endParaRPr lang="en-GB"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Put the collection steps in order</a:t>
            </a:r>
          </a:p>
        </p:txBody>
      </p:sp>
      <p:sp>
        <p:nvSpPr>
          <p:cNvPr id="4" name="Text 4"/>
          <p:cNvSpPr txBox="1"/>
          <p:nvPr/>
        </p:nvSpPr>
        <p:spPr>
          <a:xfrm>
            <a:off x="566928" y="1517904"/>
            <a:ext cx="11055096" cy="365760"/>
          </a:xfrm>
          <a:prstGeom prst="rect">
            <a:avLst/>
          </a:prstGeom>
          <a:noFill/>
          <a:ln/>
        </p:spPr>
        <p:txBody>
          <a:bodyPr wrap="square" lIns="0" tIns="0" rIns="0" bIns="0" rtlCol="0" anchor="ctr"/>
          <a:lstStyle/>
          <a:p>
            <a:pPr marL="0" indent="0" algn="l">
              <a:buNone/>
            </a:pPr>
            <a:r>
              <a:rPr lang="en-GB" sz="1800" noProof="0" dirty="0">
                <a:solidFill>
                  <a:srgbClr val="31507B"/>
                </a:solidFill>
                <a:latin typeface="Calibri" pitchFamily="34" charset="0"/>
                <a:ea typeface="Calibri" pitchFamily="34" charset="-122"/>
                <a:cs typeface="Calibri" pitchFamily="34" charset="-120"/>
              </a:rPr>
              <a:t>💬  Drag the steps into the correct order for a clinician-collected HPV sample, then select Submit.</a:t>
            </a:r>
            <a:endParaRPr lang="en-GB" sz="1800" dirty="0"/>
          </a:p>
        </p:txBody>
      </p:sp>
      <p:sp>
        <p:nvSpPr>
          <p:cNvPr id="5" name="Shape 5"/>
          <p:cNvSpPr/>
          <p:nvPr/>
        </p:nvSpPr>
        <p:spPr>
          <a:xfrm>
            <a:off x="566928" y="2000000"/>
            <a:ext cx="5436108" cy="62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6" name="Text 6"/>
          <p:cNvSpPr txBox="1"/>
          <p:nvPr/>
        </p:nvSpPr>
        <p:spPr>
          <a:xfrm>
            <a:off x="786928" y="2000000"/>
            <a:ext cx="5036108" cy="620000"/>
          </a:xfrm>
          <a:prstGeom prst="rect">
            <a:avLst/>
          </a:prstGeom>
          <a:noFill/>
          <a:ln/>
        </p:spPr>
        <p:txBody>
          <a:bodyPr wrap="square" lIns="0" tIns="0" rIns="0" bIns="0" rtlCol="0" anchor="ctr"/>
          <a:lstStyle/>
          <a:p>
            <a:pPr marL="0" indent="0" algn="l">
              <a:buNone/>
            </a:pPr>
            <a:r>
              <a:rPr lang="en-GB" sz="1700" b="1" noProof="0" dirty="0">
                <a:solidFill>
                  <a:srgbClr val="1F4E96"/>
                </a:solidFill>
                <a:latin typeface="Calibri" pitchFamily="34" charset="0"/>
                <a:ea typeface="Calibri" pitchFamily="34" charset="-122"/>
                <a:cs typeface="Calibri" pitchFamily="34" charset="-120"/>
              </a:rPr>
              <a:t>A   </a:t>
            </a:r>
            <a:r>
              <a:rPr lang="en-GB" sz="1700" noProof="0" dirty="0">
                <a:solidFill>
                  <a:srgbClr val="23303F"/>
                </a:solidFill>
                <a:latin typeface="Calibri" pitchFamily="34" charset="0"/>
                <a:ea typeface="Calibri" pitchFamily="34" charset="-122"/>
                <a:cs typeface="Calibri" pitchFamily="34" charset="-120"/>
              </a:rPr>
              <a:t>Rotate the brush clockwise 3 to 5 times</a:t>
            </a:r>
            <a:endParaRPr lang="en-GB" sz="1700" dirty="0"/>
          </a:p>
        </p:txBody>
      </p:sp>
      <p:sp>
        <p:nvSpPr>
          <p:cNvPr id="7" name="Shape 7"/>
          <p:cNvSpPr/>
          <p:nvPr/>
        </p:nvSpPr>
        <p:spPr>
          <a:xfrm>
            <a:off x="6185916" y="2000000"/>
            <a:ext cx="5436108" cy="62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8" name="Text 8"/>
          <p:cNvSpPr txBox="1"/>
          <p:nvPr/>
        </p:nvSpPr>
        <p:spPr>
          <a:xfrm>
            <a:off x="6405916" y="2000000"/>
            <a:ext cx="5036108" cy="620000"/>
          </a:xfrm>
          <a:prstGeom prst="rect">
            <a:avLst/>
          </a:prstGeom>
          <a:noFill/>
          <a:ln/>
        </p:spPr>
        <p:txBody>
          <a:bodyPr wrap="square" lIns="0" tIns="0" rIns="0" bIns="0" rtlCol="0" anchor="ctr"/>
          <a:lstStyle/>
          <a:p>
            <a:pPr marL="0" indent="0" algn="l">
              <a:buNone/>
            </a:pPr>
            <a:r>
              <a:rPr lang="en-GB" sz="1700" b="1" noProof="0" dirty="0">
                <a:solidFill>
                  <a:srgbClr val="1F4E96"/>
                </a:solidFill>
                <a:latin typeface="Calibri" pitchFamily="34" charset="0"/>
                <a:ea typeface="Calibri" pitchFamily="34" charset="-122"/>
                <a:cs typeface="Calibri" pitchFamily="34" charset="-120"/>
              </a:rPr>
              <a:t>B   </a:t>
            </a:r>
            <a:r>
              <a:rPr lang="en-GB" sz="1700" noProof="0" dirty="0">
                <a:solidFill>
                  <a:srgbClr val="23303F"/>
                </a:solidFill>
                <a:latin typeface="Calibri" pitchFamily="34" charset="0"/>
                <a:ea typeface="Calibri" pitchFamily="34" charset="-122"/>
                <a:cs typeface="Calibri" pitchFamily="34" charset="-120"/>
              </a:rPr>
              <a:t>Insert the speculum and view the whole cervix</a:t>
            </a:r>
            <a:endParaRPr lang="en-GB" sz="1700" dirty="0"/>
          </a:p>
        </p:txBody>
      </p:sp>
      <p:sp>
        <p:nvSpPr>
          <p:cNvPr id="9" name="Shape 9"/>
          <p:cNvSpPr/>
          <p:nvPr/>
        </p:nvSpPr>
        <p:spPr>
          <a:xfrm>
            <a:off x="566928" y="2720000"/>
            <a:ext cx="5436108" cy="62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0" name="Text 10"/>
          <p:cNvSpPr txBox="1"/>
          <p:nvPr/>
        </p:nvSpPr>
        <p:spPr>
          <a:xfrm>
            <a:off x="786928" y="2720000"/>
            <a:ext cx="5036108" cy="620000"/>
          </a:xfrm>
          <a:prstGeom prst="rect">
            <a:avLst/>
          </a:prstGeom>
          <a:noFill/>
          <a:ln/>
        </p:spPr>
        <p:txBody>
          <a:bodyPr wrap="square" lIns="0" tIns="0" rIns="0" bIns="0" rtlCol="0" anchor="ctr"/>
          <a:lstStyle/>
          <a:p>
            <a:pPr marL="0" indent="0" algn="l">
              <a:buNone/>
            </a:pPr>
            <a:r>
              <a:rPr lang="en-GB" sz="1700" b="1" noProof="0" dirty="0">
                <a:solidFill>
                  <a:srgbClr val="1F4E96"/>
                </a:solidFill>
                <a:latin typeface="Calibri" pitchFamily="34" charset="0"/>
                <a:ea typeface="Calibri" pitchFamily="34" charset="-122"/>
                <a:cs typeface="Calibri" pitchFamily="34" charset="-120"/>
              </a:rPr>
              <a:t>C   </a:t>
            </a:r>
            <a:r>
              <a:rPr lang="en-GB" sz="1700" noProof="0" dirty="0">
                <a:solidFill>
                  <a:srgbClr val="23303F"/>
                </a:solidFill>
                <a:latin typeface="Calibri" pitchFamily="34" charset="0"/>
                <a:ea typeface="Calibri" pitchFamily="34" charset="-122"/>
                <a:cs typeface="Calibri" pitchFamily="34" charset="-120"/>
              </a:rPr>
              <a:t>Label the tube and complete the request</a:t>
            </a:r>
            <a:endParaRPr lang="en-GB" sz="1700" dirty="0"/>
          </a:p>
        </p:txBody>
      </p:sp>
      <p:sp>
        <p:nvSpPr>
          <p:cNvPr id="11" name="Shape 11"/>
          <p:cNvSpPr/>
          <p:nvPr/>
        </p:nvSpPr>
        <p:spPr>
          <a:xfrm>
            <a:off x="6185916" y="2720000"/>
            <a:ext cx="5436108" cy="62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2" name="Text 12"/>
          <p:cNvSpPr txBox="1"/>
          <p:nvPr/>
        </p:nvSpPr>
        <p:spPr>
          <a:xfrm>
            <a:off x="6405916" y="2720000"/>
            <a:ext cx="5036108" cy="620000"/>
          </a:xfrm>
          <a:prstGeom prst="rect">
            <a:avLst/>
          </a:prstGeom>
          <a:noFill/>
          <a:ln/>
        </p:spPr>
        <p:txBody>
          <a:bodyPr wrap="square" lIns="0" tIns="0" rIns="0" bIns="0" rtlCol="0" anchor="ctr"/>
          <a:lstStyle/>
          <a:p>
            <a:pPr marL="0" indent="0" algn="l">
              <a:buNone/>
            </a:pPr>
            <a:r>
              <a:rPr lang="en-GB" sz="1700" b="1" noProof="0" dirty="0">
                <a:solidFill>
                  <a:srgbClr val="1F4E96"/>
                </a:solidFill>
                <a:latin typeface="Calibri" pitchFamily="34" charset="0"/>
                <a:ea typeface="Calibri" pitchFamily="34" charset="-122"/>
                <a:cs typeface="Calibri" pitchFamily="34" charset="-120"/>
              </a:rPr>
              <a:t>D   </a:t>
            </a:r>
            <a:r>
              <a:rPr lang="en-GB" sz="1700" noProof="0" dirty="0">
                <a:solidFill>
                  <a:srgbClr val="23303F"/>
                </a:solidFill>
                <a:latin typeface="Calibri" pitchFamily="34" charset="0"/>
                <a:ea typeface="Calibri" pitchFamily="34" charset="-122"/>
                <a:cs typeface="Calibri" pitchFamily="34" charset="-120"/>
              </a:rPr>
              <a:t>Rinse the brush in the buffer and cap the tube</a:t>
            </a:r>
            <a:endParaRPr lang="en-GB" sz="1700" dirty="0"/>
          </a:p>
        </p:txBody>
      </p:sp>
      <p:sp>
        <p:nvSpPr>
          <p:cNvPr id="13" name="Shape 13"/>
          <p:cNvSpPr/>
          <p:nvPr/>
        </p:nvSpPr>
        <p:spPr>
          <a:xfrm>
            <a:off x="566928" y="3440000"/>
            <a:ext cx="5436108" cy="62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4" name="Text 14"/>
          <p:cNvSpPr txBox="1"/>
          <p:nvPr/>
        </p:nvSpPr>
        <p:spPr>
          <a:xfrm>
            <a:off x="786928" y="3440000"/>
            <a:ext cx="5036108" cy="620000"/>
          </a:xfrm>
          <a:prstGeom prst="rect">
            <a:avLst/>
          </a:prstGeom>
          <a:noFill/>
          <a:ln/>
        </p:spPr>
        <p:txBody>
          <a:bodyPr wrap="square" lIns="0" tIns="0" rIns="0" bIns="0" rtlCol="0" anchor="ctr"/>
          <a:lstStyle/>
          <a:p>
            <a:pPr marL="0" indent="0" algn="l">
              <a:buNone/>
            </a:pPr>
            <a:r>
              <a:rPr lang="en-GB" sz="1700" b="1" noProof="0" dirty="0">
                <a:solidFill>
                  <a:srgbClr val="1F4E96"/>
                </a:solidFill>
                <a:latin typeface="Calibri" pitchFamily="34" charset="0"/>
                <a:ea typeface="Calibri" pitchFamily="34" charset="-122"/>
                <a:cs typeface="Calibri" pitchFamily="34" charset="-120"/>
              </a:rPr>
              <a:t>E   </a:t>
            </a:r>
            <a:r>
              <a:rPr lang="en-GB" sz="1700" noProof="0" dirty="0">
                <a:solidFill>
                  <a:srgbClr val="23303F"/>
                </a:solidFill>
                <a:latin typeface="Calibri" pitchFamily="34" charset="0"/>
                <a:ea typeface="Calibri" pitchFamily="34" charset="-122"/>
                <a:cs typeface="Calibri" pitchFamily="34" charset="-120"/>
              </a:rPr>
              <a:t>Insert the brush into the external os</a:t>
            </a:r>
            <a:endParaRPr lang="en-GB" sz="1700" dirty="0"/>
          </a:p>
        </p:txBody>
      </p:sp>
      <p:sp>
        <p:nvSpPr>
          <p:cNvPr id="15" name="Shape 15"/>
          <p:cNvSpPr/>
          <p:nvPr/>
        </p:nvSpPr>
        <p:spPr>
          <a:xfrm>
            <a:off x="6185916" y="3440000"/>
            <a:ext cx="5436108" cy="62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6" name="Text 16"/>
          <p:cNvSpPr txBox="1"/>
          <p:nvPr/>
        </p:nvSpPr>
        <p:spPr>
          <a:xfrm>
            <a:off x="6405916" y="3440000"/>
            <a:ext cx="5036108" cy="620000"/>
          </a:xfrm>
          <a:prstGeom prst="rect">
            <a:avLst/>
          </a:prstGeom>
          <a:noFill/>
          <a:ln/>
        </p:spPr>
        <p:txBody>
          <a:bodyPr wrap="square" lIns="0" tIns="0" rIns="0" bIns="0" rtlCol="0" anchor="ctr"/>
          <a:lstStyle/>
          <a:p>
            <a:pPr marL="0" indent="0" algn="l">
              <a:buNone/>
            </a:pPr>
            <a:r>
              <a:rPr lang="en-GB" sz="1700" b="1" noProof="0" dirty="0">
                <a:solidFill>
                  <a:srgbClr val="1F4E96"/>
                </a:solidFill>
                <a:latin typeface="Calibri" pitchFamily="34" charset="0"/>
                <a:ea typeface="Calibri" pitchFamily="34" charset="-122"/>
                <a:cs typeface="Calibri" pitchFamily="34" charset="-120"/>
              </a:rPr>
              <a:t>F   </a:t>
            </a:r>
            <a:r>
              <a:rPr lang="en-GB" sz="1700" noProof="0" dirty="0">
                <a:solidFill>
                  <a:srgbClr val="23303F"/>
                </a:solidFill>
                <a:latin typeface="Calibri" pitchFamily="34" charset="0"/>
                <a:ea typeface="Calibri" pitchFamily="34" charset="-122"/>
                <a:cs typeface="Calibri" pitchFamily="34" charset="-120"/>
              </a:rPr>
              <a:t>Place the speculum in 0.5% chlorine solution</a:t>
            </a:r>
            <a:endParaRPr lang="en-GB" sz="1700" dirty="0"/>
          </a:p>
        </p:txBody>
      </p:sp>
      <p:sp>
        <p:nvSpPr>
          <p:cNvPr id="17" name="Shape 17"/>
          <p:cNvSpPr/>
          <p:nvPr/>
        </p:nvSpPr>
        <p:spPr>
          <a:xfrm>
            <a:off x="566928" y="4300000"/>
            <a:ext cx="11055096" cy="1850000"/>
          </a:xfrm>
          <a:prstGeom prst="roundRect">
            <a:avLst>
              <a:gd name="adj" fmla="val 3000"/>
            </a:avLst>
          </a:prstGeom>
          <a:solidFill>
            <a:srgbClr val="EAF7F0"/>
          </a:solidFill>
          <a:ln w="12700">
            <a:solidFill>
              <a:srgbClr val="C0D4CB"/>
            </a:solidFill>
          </a:ln>
        </p:spPr>
        <p:txBody>
          <a:bodyPr/>
          <a:lstStyle/>
          <a:p>
            <a:endParaRPr lang="en-GB" sz="1600" dirty="0"/>
          </a:p>
        </p:txBody>
      </p:sp>
      <p:sp>
        <p:nvSpPr>
          <p:cNvPr id="18" name="Text 18"/>
          <p:cNvSpPr txBox="1"/>
          <p:nvPr/>
        </p:nvSpPr>
        <p:spPr>
          <a:xfrm>
            <a:off x="841248" y="4350000"/>
            <a:ext cx="10506456" cy="1750000"/>
          </a:xfrm>
          <a:prstGeom prst="rect">
            <a:avLst/>
          </a:prstGeom>
          <a:noFill/>
          <a:ln/>
        </p:spPr>
        <p:txBody>
          <a:bodyPr wrap="square" lIns="0" tIns="0" rIns="0" bIns="0" rtlCol="0" anchor="ctr"/>
          <a:lstStyle/>
          <a:p>
            <a:pPr marL="0" indent="0" algn="l">
              <a:spcAft>
                <a:spcPts val="600"/>
              </a:spcAft>
              <a:buNone/>
            </a:pPr>
            <a:r>
              <a:rPr lang="en-GB" sz="1700" b="1" noProof="0" dirty="0">
                <a:solidFill>
                  <a:srgbClr val="19543E"/>
                </a:solidFill>
                <a:latin typeface="Calibri" pitchFamily="34" charset="0"/>
                <a:ea typeface="Calibri" pitchFamily="34" charset="-122"/>
                <a:cs typeface="Calibri" pitchFamily="34" charset="-120"/>
              </a:rPr>
              <a:t>Correct order: C → B → E → A → D → F</a:t>
            </a:r>
            <a:endParaRPr lang="en-GB" sz="1700" dirty="0"/>
          </a:p>
          <a:p>
            <a:pPr marL="0" indent="0" algn="l">
              <a:buNone/>
            </a:pPr>
            <a:r>
              <a:rPr lang="en-GB" sz="1700" b="1" noProof="0" dirty="0">
                <a:solidFill>
                  <a:srgbClr val="19543E"/>
                </a:solidFill>
                <a:latin typeface="Calibri" pitchFamily="34" charset="0"/>
                <a:ea typeface="Calibri" pitchFamily="34" charset="-122"/>
                <a:cs typeface="Calibri" pitchFamily="34" charset="-120"/>
              </a:rPr>
              <a:t>Feedback: </a:t>
            </a:r>
            <a:r>
              <a:rPr lang="en-GB" sz="1700" noProof="0" dirty="0">
                <a:solidFill>
                  <a:srgbClr val="23303F"/>
                </a:solidFill>
                <a:latin typeface="Calibri" pitchFamily="34" charset="0"/>
                <a:ea typeface="Calibri" pitchFamily="34" charset="-122"/>
                <a:cs typeface="Calibri" pitchFamily="34" charset="-120"/>
              </a:rPr>
              <a:t>Label first, so the sample cannot be mixed up. Then see the whole cervix, sample the os, rotate, and secure the brush in the buffer. Decontaminate instruments last.</a:t>
            </a:r>
            <a:endParaRPr lang="en-GB" sz="1700" dirty="0"/>
          </a:p>
        </p:txBody>
      </p:sp>
      <p:sp>
        <p:nvSpPr>
          <p:cNvPr id="19" name="Text 19"/>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20" name="Text 20"/>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82</a:t>
            </a:r>
            <a:endParaRPr lang="en-GB" sz="11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2 · HPV TESTING</a:t>
            </a:r>
            <a:endParaRPr lang="en-GB"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After collection: store and send the sample safely</a:t>
            </a:r>
          </a:p>
        </p:txBody>
      </p:sp>
      <p:sp>
        <p:nvSpPr>
          <p:cNvPr id="4" name="Shape 4"/>
          <p:cNvSpPr/>
          <p:nvPr/>
        </p:nvSpPr>
        <p:spPr>
          <a:xfrm>
            <a:off x="566928" y="1500000"/>
            <a:ext cx="11055096" cy="78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5" name="Text 5"/>
          <p:cNvSpPr txBox="1"/>
          <p:nvPr/>
        </p:nvSpPr>
        <p:spPr>
          <a:xfrm>
            <a:off x="786384" y="1500000"/>
            <a:ext cx="548640" cy="78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a:t>
            </a:r>
            <a:endParaRPr lang="en-GB" sz="2000" dirty="0"/>
          </a:p>
        </p:txBody>
      </p:sp>
      <p:sp>
        <p:nvSpPr>
          <p:cNvPr id="6" name="Text 6"/>
          <p:cNvSpPr txBox="1"/>
          <p:nvPr/>
        </p:nvSpPr>
        <p:spPr>
          <a:xfrm>
            <a:off x="1463040" y="1500000"/>
            <a:ext cx="9966960" cy="780000"/>
          </a:xfrm>
          <a:prstGeom prst="rect">
            <a:avLst/>
          </a:prstGeom>
          <a:noFill/>
          <a:ln/>
        </p:spPr>
        <p:txBody>
          <a:bodyPr wrap="square" lIns="0" tIns="0" rIns="0" bIns="0" rtlCol="0" anchor="ctr"/>
          <a:lstStyle/>
          <a:p>
            <a:pPr marL="0" indent="0" algn="l">
              <a:buNone/>
            </a:pPr>
            <a:r>
              <a:rPr lang="en-GB" sz="1800" noProof="0" dirty="0">
                <a:solidFill>
                  <a:srgbClr val="23303F"/>
                </a:solidFill>
                <a:latin typeface="Calibri" pitchFamily="34" charset="0"/>
                <a:ea typeface="Calibri" pitchFamily="34" charset="-122"/>
                <a:cs typeface="Calibri" pitchFamily="34" charset="-120"/>
              </a:rPr>
              <a:t>Check the label and the EMR request before the sample leaves the room.</a:t>
            </a:r>
            <a:endParaRPr lang="en-GB" sz="1800" dirty="0"/>
          </a:p>
        </p:txBody>
      </p:sp>
      <p:sp>
        <p:nvSpPr>
          <p:cNvPr id="7" name="Shape 7"/>
          <p:cNvSpPr/>
          <p:nvPr/>
        </p:nvSpPr>
        <p:spPr>
          <a:xfrm>
            <a:off x="566928" y="2410000"/>
            <a:ext cx="11055096" cy="78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8" name="Text 8"/>
          <p:cNvSpPr txBox="1"/>
          <p:nvPr/>
        </p:nvSpPr>
        <p:spPr>
          <a:xfrm>
            <a:off x="786384" y="2410000"/>
            <a:ext cx="548640" cy="78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a:t>
            </a:r>
            <a:endParaRPr lang="en-GB" sz="2000" dirty="0"/>
          </a:p>
        </p:txBody>
      </p:sp>
      <p:sp>
        <p:nvSpPr>
          <p:cNvPr id="9" name="Text 9"/>
          <p:cNvSpPr txBox="1"/>
          <p:nvPr/>
        </p:nvSpPr>
        <p:spPr>
          <a:xfrm>
            <a:off x="1463040" y="2410000"/>
            <a:ext cx="9966960" cy="780000"/>
          </a:xfrm>
          <a:prstGeom prst="rect">
            <a:avLst/>
          </a:prstGeom>
          <a:noFill/>
          <a:ln/>
        </p:spPr>
        <p:txBody>
          <a:bodyPr wrap="square" lIns="0" tIns="0" rIns="0" bIns="0" rtlCol="0" anchor="ctr"/>
          <a:lstStyle/>
          <a:p>
            <a:pPr marL="0" indent="0" algn="l">
              <a:buNone/>
            </a:pPr>
            <a:r>
              <a:rPr lang="en-GB" sz="1800" noProof="0" dirty="0">
                <a:solidFill>
                  <a:srgbClr val="23303F"/>
                </a:solidFill>
                <a:latin typeface="Calibri" pitchFamily="34" charset="0"/>
                <a:ea typeface="Calibri" pitchFamily="34" charset="-122"/>
                <a:cs typeface="Calibri" pitchFamily="34" charset="-120"/>
              </a:rPr>
              <a:t>Store at room temperature for up to 14 days, following the kit instructions.</a:t>
            </a:r>
            <a:endParaRPr lang="en-GB" sz="1800" dirty="0"/>
          </a:p>
        </p:txBody>
      </p:sp>
      <p:sp>
        <p:nvSpPr>
          <p:cNvPr id="10" name="Shape 10"/>
          <p:cNvSpPr/>
          <p:nvPr/>
        </p:nvSpPr>
        <p:spPr>
          <a:xfrm>
            <a:off x="566928" y="3320000"/>
            <a:ext cx="11055096" cy="78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1" name="Text 11"/>
          <p:cNvSpPr txBox="1"/>
          <p:nvPr/>
        </p:nvSpPr>
        <p:spPr>
          <a:xfrm>
            <a:off x="786384" y="3320000"/>
            <a:ext cx="548640" cy="78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a:t>
            </a:r>
            <a:endParaRPr lang="en-GB" sz="2000" dirty="0"/>
          </a:p>
        </p:txBody>
      </p:sp>
      <p:sp>
        <p:nvSpPr>
          <p:cNvPr id="12" name="Text 12"/>
          <p:cNvSpPr txBox="1"/>
          <p:nvPr/>
        </p:nvSpPr>
        <p:spPr>
          <a:xfrm>
            <a:off x="1463040" y="3320000"/>
            <a:ext cx="9966960" cy="780000"/>
          </a:xfrm>
          <a:prstGeom prst="rect">
            <a:avLst/>
          </a:prstGeom>
          <a:noFill/>
          <a:ln/>
        </p:spPr>
        <p:txBody>
          <a:bodyPr wrap="square" lIns="0" tIns="0" rIns="0" bIns="0" rtlCol="0" anchor="ctr"/>
          <a:lstStyle/>
          <a:p>
            <a:pPr marL="0" indent="0" algn="l">
              <a:buNone/>
            </a:pPr>
            <a:r>
              <a:rPr lang="en-GB" sz="1800" noProof="0" dirty="0">
                <a:solidFill>
                  <a:srgbClr val="23303F"/>
                </a:solidFill>
                <a:latin typeface="Calibri" pitchFamily="34" charset="0"/>
                <a:ea typeface="Calibri" pitchFamily="34" charset="-122"/>
                <a:cs typeface="Calibri" pitchFamily="34" charset="-120"/>
              </a:rPr>
              <a:t>If the room is hotter than 30°C, keep samples in a cool box or refrigerator, never in the freezer.</a:t>
            </a:r>
            <a:endParaRPr lang="en-GB" sz="1800" dirty="0"/>
          </a:p>
        </p:txBody>
      </p:sp>
      <p:sp>
        <p:nvSpPr>
          <p:cNvPr id="13" name="Shape 13"/>
          <p:cNvSpPr/>
          <p:nvPr/>
        </p:nvSpPr>
        <p:spPr>
          <a:xfrm>
            <a:off x="566928" y="4230000"/>
            <a:ext cx="11055096" cy="78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4" name="Text 14"/>
          <p:cNvSpPr txBox="1"/>
          <p:nvPr/>
        </p:nvSpPr>
        <p:spPr>
          <a:xfrm>
            <a:off x="786384" y="4230000"/>
            <a:ext cx="548640" cy="78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a:t>
            </a:r>
            <a:endParaRPr lang="en-GB" sz="2000" dirty="0"/>
          </a:p>
        </p:txBody>
      </p:sp>
      <p:sp>
        <p:nvSpPr>
          <p:cNvPr id="15" name="Text 15"/>
          <p:cNvSpPr txBox="1"/>
          <p:nvPr/>
        </p:nvSpPr>
        <p:spPr>
          <a:xfrm>
            <a:off x="1463040" y="4230000"/>
            <a:ext cx="9966960" cy="780000"/>
          </a:xfrm>
          <a:prstGeom prst="rect">
            <a:avLst/>
          </a:prstGeom>
          <a:noFill/>
          <a:ln/>
        </p:spPr>
        <p:txBody>
          <a:bodyPr wrap="square" lIns="0" tIns="0" rIns="0" bIns="0" rtlCol="0" anchor="ctr"/>
          <a:lstStyle/>
          <a:p>
            <a:pPr marL="0" indent="0" algn="l">
              <a:buNone/>
            </a:pPr>
            <a:r>
              <a:rPr lang="en-GB" sz="1800" noProof="0" dirty="0">
                <a:solidFill>
                  <a:srgbClr val="23303F"/>
                </a:solidFill>
                <a:latin typeface="Calibri" pitchFamily="34" charset="0"/>
                <a:ea typeface="Calibri" pitchFamily="34" charset="-122"/>
                <a:cs typeface="Calibri" pitchFamily="34" charset="-120"/>
              </a:rPr>
              <a:t>Transport at room temperature, or in a closed cool box or vaccine carrier when it is hot.</a:t>
            </a:r>
            <a:endParaRPr lang="en-GB" sz="1800" dirty="0"/>
          </a:p>
        </p:txBody>
      </p:sp>
      <p:sp>
        <p:nvSpPr>
          <p:cNvPr id="16" name="Shape 16"/>
          <p:cNvSpPr/>
          <p:nvPr/>
        </p:nvSpPr>
        <p:spPr>
          <a:xfrm>
            <a:off x="566928" y="5140000"/>
            <a:ext cx="11055096" cy="78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7" name="Text 17"/>
          <p:cNvSpPr txBox="1"/>
          <p:nvPr/>
        </p:nvSpPr>
        <p:spPr>
          <a:xfrm>
            <a:off x="786384" y="5140000"/>
            <a:ext cx="548640" cy="78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a:t>
            </a:r>
            <a:endParaRPr lang="en-GB" sz="2000" dirty="0"/>
          </a:p>
        </p:txBody>
      </p:sp>
      <p:sp>
        <p:nvSpPr>
          <p:cNvPr id="18" name="Text 18"/>
          <p:cNvSpPr txBox="1"/>
          <p:nvPr/>
        </p:nvSpPr>
        <p:spPr>
          <a:xfrm>
            <a:off x="1463040" y="5140000"/>
            <a:ext cx="9966960" cy="780000"/>
          </a:xfrm>
          <a:prstGeom prst="rect">
            <a:avLst/>
          </a:prstGeom>
          <a:noFill/>
          <a:ln/>
        </p:spPr>
        <p:txBody>
          <a:bodyPr wrap="square" lIns="0" tIns="0" rIns="0" bIns="0" rtlCol="0" anchor="ctr"/>
          <a:lstStyle/>
          <a:p>
            <a:pPr marL="0" indent="0" algn="l">
              <a:buNone/>
            </a:pPr>
            <a:r>
              <a:rPr lang="en-GB" sz="1800" noProof="0" dirty="0">
                <a:solidFill>
                  <a:srgbClr val="23303F"/>
                </a:solidFill>
                <a:latin typeface="Calibri" pitchFamily="34" charset="0"/>
                <a:ea typeface="Calibri" pitchFamily="34" charset="-122"/>
                <a:cs typeface="Calibri" pitchFamily="34" charset="-120"/>
              </a:rPr>
              <a:t>Place used instruments in 0.5% chlorine solution, and dispose of swabs and gloves safely.</a:t>
            </a:r>
            <a:endParaRPr lang="en-GB" sz="1800" dirty="0"/>
          </a:p>
        </p:txBody>
      </p:sp>
      <p:sp>
        <p:nvSpPr>
          <p:cNvPr id="19" name="Text 19"/>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20" name="Text 20"/>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83</a:t>
            </a:r>
            <a:endParaRPr lang="en-GB" sz="11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2 · HPV TESTING</a:t>
            </a:r>
            <a:endParaRPr lang="en-GB"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Reading an HPV test result</a:t>
            </a:r>
          </a:p>
        </p:txBody>
      </p:sp>
      <p:sp>
        <p:nvSpPr>
          <p:cNvPr id="4" name="Shape 4"/>
          <p:cNvSpPr/>
          <p:nvPr/>
        </p:nvSpPr>
        <p:spPr>
          <a:xfrm>
            <a:off x="566928" y="1450000"/>
            <a:ext cx="3563112" cy="3500000"/>
          </a:xfrm>
          <a:prstGeom prst="roundRect">
            <a:avLst>
              <a:gd name="adj" fmla="val 3000"/>
            </a:avLst>
          </a:prstGeom>
          <a:solidFill>
            <a:srgbClr val="EAF7F0"/>
          </a:solidFill>
          <a:ln w="12700">
            <a:solidFill>
              <a:srgbClr val="C0D4CB"/>
            </a:solidFill>
          </a:ln>
        </p:spPr>
        <p:txBody>
          <a:bodyPr/>
          <a:lstStyle/>
          <a:p>
            <a:endParaRPr lang="en-GB" sz="1600" dirty="0"/>
          </a:p>
        </p:txBody>
      </p:sp>
      <p:sp>
        <p:nvSpPr>
          <p:cNvPr id="5" name="Text 5"/>
          <p:cNvSpPr txBox="1"/>
          <p:nvPr/>
        </p:nvSpPr>
        <p:spPr>
          <a:xfrm>
            <a:off x="822960" y="1570000"/>
            <a:ext cx="3051048" cy="520000"/>
          </a:xfrm>
          <a:prstGeom prst="rect">
            <a:avLst/>
          </a:prstGeom>
          <a:noFill/>
          <a:ln/>
        </p:spPr>
        <p:txBody>
          <a:bodyPr wrap="square" lIns="0" tIns="0" rIns="0" bIns="0" rtlCol="0" anchor="ctr"/>
          <a:lstStyle/>
          <a:p>
            <a:pPr marL="0" indent="0" algn="l">
              <a:buNone/>
            </a:pPr>
            <a:r>
              <a:rPr lang="en-GB" sz="2000" b="1" noProof="0" dirty="0">
                <a:solidFill>
                  <a:srgbClr val="19543E"/>
                </a:solidFill>
                <a:latin typeface="Calibri" pitchFamily="34" charset="0"/>
                <a:ea typeface="Calibri" pitchFamily="34" charset="-122"/>
                <a:cs typeface="Calibri" pitchFamily="34" charset="-120"/>
              </a:rPr>
              <a:t>🟢  HPV negative</a:t>
            </a:r>
            <a:endParaRPr lang="en-GB" sz="2000" dirty="0"/>
          </a:p>
        </p:txBody>
      </p:sp>
      <p:sp>
        <p:nvSpPr>
          <p:cNvPr id="6" name="Text 6"/>
          <p:cNvSpPr txBox="1"/>
          <p:nvPr/>
        </p:nvSpPr>
        <p:spPr>
          <a:xfrm>
            <a:off x="822960" y="2150000"/>
            <a:ext cx="3051048" cy="2720000"/>
          </a:xfrm>
          <a:prstGeom prst="rect">
            <a:avLst/>
          </a:prstGeom>
          <a:noFill/>
          <a:ln/>
        </p:spPr>
        <p:txBody>
          <a:bodyPr wrap="square" lIns="0" tIns="0" rIns="0" bIns="0" rtlCol="0" anchor="t"/>
          <a:lstStyle/>
          <a:p>
            <a:pPr marL="0" indent="0" algn="l">
              <a:lnSpc>
                <a:spcPct val="104000"/>
              </a:lnSpc>
              <a:spcAft>
                <a:spcPts val="600"/>
              </a:spcAft>
              <a:buNone/>
            </a:pPr>
            <a:r>
              <a:rPr lang="en-GB" sz="1800" noProof="0" dirty="0">
                <a:solidFill>
                  <a:srgbClr val="23303F"/>
                </a:solidFill>
                <a:latin typeface="Calibri" pitchFamily="34" charset="0"/>
                <a:ea typeface="Calibri" pitchFamily="34" charset="-122"/>
                <a:cs typeface="Calibri" pitchFamily="34" charset="-120"/>
              </a:rPr>
              <a:t>No high-risk HPV detected. Rescreen after 10 years, or after 5 years for women living with HIV.</a:t>
            </a:r>
            <a:endParaRPr lang="en-GB" sz="1800" dirty="0"/>
          </a:p>
        </p:txBody>
      </p:sp>
      <p:sp>
        <p:nvSpPr>
          <p:cNvPr id="7" name="Shape 7"/>
          <p:cNvSpPr/>
          <p:nvPr/>
        </p:nvSpPr>
        <p:spPr>
          <a:xfrm>
            <a:off x="4312920" y="1450000"/>
            <a:ext cx="3563112" cy="3500000"/>
          </a:xfrm>
          <a:prstGeom prst="roundRect">
            <a:avLst>
              <a:gd name="adj" fmla="val 3000"/>
            </a:avLst>
          </a:prstGeom>
          <a:solidFill>
            <a:srgbClr val="FFF2DF"/>
          </a:solidFill>
          <a:ln w="12700">
            <a:solidFill>
              <a:srgbClr val="E8DDC7"/>
            </a:solidFill>
          </a:ln>
        </p:spPr>
        <p:txBody>
          <a:bodyPr/>
          <a:lstStyle/>
          <a:p>
            <a:endParaRPr lang="en-GB" sz="1600" dirty="0"/>
          </a:p>
        </p:txBody>
      </p:sp>
      <p:sp>
        <p:nvSpPr>
          <p:cNvPr id="8" name="Text 8"/>
          <p:cNvSpPr txBox="1"/>
          <p:nvPr/>
        </p:nvSpPr>
        <p:spPr>
          <a:xfrm>
            <a:off x="4568952" y="1570000"/>
            <a:ext cx="3051048" cy="520000"/>
          </a:xfrm>
          <a:prstGeom prst="rect">
            <a:avLst/>
          </a:prstGeom>
          <a:noFill/>
          <a:ln/>
        </p:spPr>
        <p:txBody>
          <a:bodyPr wrap="square" lIns="0" tIns="0" rIns="0" bIns="0" rtlCol="0" anchor="ctr"/>
          <a:lstStyle/>
          <a:p>
            <a:pPr marL="0" indent="0" algn="l">
              <a:buNone/>
            </a:pPr>
            <a:r>
              <a:rPr lang="en-GB" sz="2000" b="1" noProof="0" dirty="0">
                <a:solidFill>
                  <a:srgbClr val="7B5727"/>
                </a:solidFill>
                <a:latin typeface="Calibri" pitchFamily="34" charset="0"/>
                <a:ea typeface="Calibri" pitchFamily="34" charset="-122"/>
                <a:cs typeface="Calibri" pitchFamily="34" charset="-120"/>
              </a:rPr>
              <a:t>🟠  Positive: HPV 16 or 18</a:t>
            </a:r>
            <a:endParaRPr lang="en-GB" sz="2000" dirty="0"/>
          </a:p>
        </p:txBody>
      </p:sp>
      <p:sp>
        <p:nvSpPr>
          <p:cNvPr id="9" name="Text 9"/>
          <p:cNvSpPr txBox="1"/>
          <p:nvPr/>
        </p:nvSpPr>
        <p:spPr>
          <a:xfrm>
            <a:off x="4568952" y="2150000"/>
            <a:ext cx="3051048" cy="2720000"/>
          </a:xfrm>
          <a:prstGeom prst="rect">
            <a:avLst/>
          </a:prstGeom>
          <a:noFill/>
          <a:ln/>
        </p:spPr>
        <p:txBody>
          <a:bodyPr wrap="square" lIns="0" tIns="0" rIns="0" bIns="0" rtlCol="0" anchor="t"/>
          <a:lstStyle/>
          <a:p>
            <a:pPr marL="0" indent="0" algn="l">
              <a:lnSpc>
                <a:spcPct val="104000"/>
              </a:lnSpc>
              <a:spcAft>
                <a:spcPts val="600"/>
              </a:spcAft>
              <a:buNone/>
            </a:pPr>
            <a:r>
              <a:rPr lang="en-GB" sz="1800" noProof="0" dirty="0">
                <a:solidFill>
                  <a:srgbClr val="23303F"/>
                </a:solidFill>
                <a:latin typeface="Calibri" pitchFamily="34" charset="0"/>
                <a:ea typeface="Calibri" pitchFamily="34" charset="-122"/>
                <a:cs typeface="Calibri" pitchFamily="34" charset="-120"/>
              </a:rPr>
              <a:t>The highest-risk types. She needs VIA to decide treatment.</a:t>
            </a:r>
            <a:endParaRPr lang="en-GB" sz="1800" dirty="0"/>
          </a:p>
        </p:txBody>
      </p:sp>
      <p:sp>
        <p:nvSpPr>
          <p:cNvPr id="10" name="Shape 10"/>
          <p:cNvSpPr/>
          <p:nvPr/>
        </p:nvSpPr>
        <p:spPr>
          <a:xfrm>
            <a:off x="8058912" y="1450000"/>
            <a:ext cx="3563112" cy="3500000"/>
          </a:xfrm>
          <a:prstGeom prst="roundRect">
            <a:avLst>
              <a:gd name="adj" fmla="val 3000"/>
            </a:avLst>
          </a:prstGeom>
          <a:solidFill>
            <a:srgbClr val="FFF2DF"/>
          </a:solidFill>
          <a:ln w="12700">
            <a:solidFill>
              <a:srgbClr val="E8DDC7"/>
            </a:solidFill>
          </a:ln>
        </p:spPr>
        <p:txBody>
          <a:bodyPr/>
          <a:lstStyle/>
          <a:p>
            <a:endParaRPr lang="en-GB" sz="1600" dirty="0"/>
          </a:p>
        </p:txBody>
      </p:sp>
      <p:sp>
        <p:nvSpPr>
          <p:cNvPr id="11" name="Text 11"/>
          <p:cNvSpPr txBox="1"/>
          <p:nvPr/>
        </p:nvSpPr>
        <p:spPr>
          <a:xfrm>
            <a:off x="8314944" y="1570000"/>
            <a:ext cx="3051048" cy="520000"/>
          </a:xfrm>
          <a:prstGeom prst="rect">
            <a:avLst/>
          </a:prstGeom>
          <a:noFill/>
          <a:ln/>
        </p:spPr>
        <p:txBody>
          <a:bodyPr wrap="square" lIns="0" tIns="0" rIns="0" bIns="0" rtlCol="0" anchor="ctr"/>
          <a:lstStyle/>
          <a:p>
            <a:pPr marL="0" indent="0" algn="l">
              <a:buNone/>
            </a:pPr>
            <a:r>
              <a:rPr lang="en-GB" sz="2000" b="1" noProof="0" dirty="0">
                <a:solidFill>
                  <a:srgbClr val="7B5727"/>
                </a:solidFill>
                <a:latin typeface="Calibri" pitchFamily="34" charset="0"/>
                <a:ea typeface="Calibri" pitchFamily="34" charset="-122"/>
                <a:cs typeface="Calibri" pitchFamily="34" charset="-120"/>
              </a:rPr>
              <a:t>🟠  Positive: other high-risk type</a:t>
            </a:r>
            <a:endParaRPr lang="en-GB" sz="2000" dirty="0"/>
          </a:p>
        </p:txBody>
      </p:sp>
      <p:sp>
        <p:nvSpPr>
          <p:cNvPr id="12" name="Text 12"/>
          <p:cNvSpPr txBox="1"/>
          <p:nvPr/>
        </p:nvSpPr>
        <p:spPr>
          <a:xfrm>
            <a:off x="8314944" y="2150000"/>
            <a:ext cx="3051048" cy="2720000"/>
          </a:xfrm>
          <a:prstGeom prst="rect">
            <a:avLst/>
          </a:prstGeom>
          <a:noFill/>
          <a:ln/>
        </p:spPr>
        <p:txBody>
          <a:bodyPr wrap="square" lIns="0" tIns="0" rIns="0" bIns="0" rtlCol="0" anchor="t"/>
          <a:lstStyle/>
          <a:p>
            <a:pPr marL="0" indent="0" algn="l">
              <a:lnSpc>
                <a:spcPct val="104000"/>
              </a:lnSpc>
              <a:spcAft>
                <a:spcPts val="600"/>
              </a:spcAft>
              <a:buNone/>
            </a:pPr>
            <a:r>
              <a:rPr lang="en-GB" sz="1800" noProof="0" dirty="0">
                <a:solidFill>
                  <a:srgbClr val="23303F"/>
                </a:solidFill>
                <a:latin typeface="Calibri" pitchFamily="34" charset="0"/>
                <a:ea typeface="Calibri" pitchFamily="34" charset="-122"/>
                <a:cs typeface="Calibri" pitchFamily="34" charset="-120"/>
              </a:rPr>
              <a:t>She needs VIA to decide the next step. What happens after a negative VIA depends on her HIV status.</a:t>
            </a:r>
            <a:endParaRPr lang="en-GB" sz="1800" dirty="0"/>
          </a:p>
        </p:txBody>
      </p:sp>
      <p:sp>
        <p:nvSpPr>
          <p:cNvPr id="13" name="Shape 13"/>
          <p:cNvSpPr/>
          <p:nvPr/>
        </p:nvSpPr>
        <p:spPr>
          <a:xfrm>
            <a:off x="566928" y="5150000"/>
            <a:ext cx="11055096" cy="1000000"/>
          </a:xfrm>
          <a:prstGeom prst="roundRect">
            <a:avLst>
              <a:gd name="adj" fmla="val 3000"/>
            </a:avLst>
          </a:prstGeom>
          <a:solidFill>
            <a:srgbClr val="FFF2DF"/>
          </a:solidFill>
          <a:ln w="12700">
            <a:solidFill>
              <a:srgbClr val="E8DDC7"/>
            </a:solidFill>
          </a:ln>
        </p:spPr>
        <p:txBody>
          <a:bodyPr/>
          <a:lstStyle/>
          <a:p>
            <a:endParaRPr lang="en-GB" sz="1600" dirty="0"/>
          </a:p>
        </p:txBody>
      </p:sp>
      <p:sp>
        <p:nvSpPr>
          <p:cNvPr id="14" name="Text 14"/>
          <p:cNvSpPr txBox="1"/>
          <p:nvPr/>
        </p:nvSpPr>
        <p:spPr>
          <a:xfrm>
            <a:off x="841248" y="5200000"/>
            <a:ext cx="10506456" cy="900000"/>
          </a:xfrm>
          <a:prstGeom prst="rect">
            <a:avLst/>
          </a:prstGeom>
          <a:noFill/>
          <a:ln/>
        </p:spPr>
        <p:txBody>
          <a:bodyPr wrap="square" lIns="0" tIns="0" rIns="0" bIns="0" rtlCol="0" anchor="ctr"/>
          <a:lstStyle/>
          <a:p>
            <a:pPr marL="0" indent="0" algn="l">
              <a:buNone/>
            </a:pPr>
            <a:r>
              <a:rPr lang="en-GB" sz="1600" b="1" noProof="0" dirty="0">
                <a:solidFill>
                  <a:srgbClr val="7B5727"/>
                </a:solidFill>
                <a:latin typeface="Calibri" pitchFamily="34" charset="0"/>
                <a:ea typeface="Calibri" pitchFamily="34" charset="-122"/>
                <a:cs typeface="Calibri" pitchFamily="34" charset="-120"/>
              </a:rPr>
              <a:t>💬 Say it this way:  </a:t>
            </a:r>
            <a:r>
              <a:rPr lang="en-GB" sz="1600" noProof="0" dirty="0">
                <a:solidFill>
                  <a:srgbClr val="23303F"/>
                </a:solidFill>
                <a:latin typeface="Calibri" pitchFamily="34" charset="0"/>
                <a:ea typeface="Calibri" pitchFamily="34" charset="-122"/>
                <a:cs typeface="Calibri" pitchFamily="34" charset="-120"/>
              </a:rPr>
              <a:t>A positive result means the virus was found. It does not mean she has cancer, and it says nothing about anyone's behaviour.</a:t>
            </a:r>
            <a:endParaRPr lang="en-GB" sz="1600" dirty="0"/>
          </a:p>
        </p:txBody>
      </p:sp>
      <p:sp>
        <p:nvSpPr>
          <p:cNvPr id="15" name="Text 15"/>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16" name="Text 16"/>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84</a:t>
            </a:r>
            <a:endParaRPr lang="en-GB" sz="11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2 · VIA</a:t>
            </a:r>
            <a:endParaRPr lang="en-GB"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How visual inspection with acetic acid works</a:t>
            </a:r>
          </a:p>
        </p:txBody>
      </p:sp>
      <p:sp>
        <p:nvSpPr>
          <p:cNvPr id="4" name="Shape 4"/>
          <p:cNvSpPr/>
          <p:nvPr/>
        </p:nvSpPr>
        <p:spPr>
          <a:xfrm>
            <a:off x="566928" y="1450000"/>
            <a:ext cx="3563112" cy="290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5" name="Text 5"/>
          <p:cNvSpPr txBox="1"/>
          <p:nvPr/>
        </p:nvSpPr>
        <p:spPr>
          <a:xfrm>
            <a:off x="822960" y="1570000"/>
            <a:ext cx="3051048" cy="520000"/>
          </a:xfrm>
          <a:prstGeom prst="rect">
            <a:avLst/>
          </a:prstGeom>
          <a:noFill/>
          <a:ln/>
        </p:spPr>
        <p:txBody>
          <a:bodyPr wrap="square" lIns="0" tIns="0" rIns="0" bIns="0" rtlCol="0" anchor="ctr"/>
          <a:lstStyle/>
          <a:p>
            <a:pPr marL="0" indent="0" algn="l">
              <a:buNone/>
            </a:pPr>
            <a:r>
              <a:rPr lang="en-GB" sz="2000" b="1" noProof="0" dirty="0">
                <a:solidFill>
                  <a:srgbClr val="10305A"/>
                </a:solidFill>
                <a:latin typeface="Calibri" pitchFamily="34" charset="0"/>
                <a:ea typeface="Calibri" pitchFamily="34" charset="-122"/>
                <a:cs typeface="Calibri" pitchFamily="34" charset="-120"/>
              </a:rPr>
              <a:t>👁️  What it is</a:t>
            </a:r>
            <a:endParaRPr lang="en-GB" sz="2000" dirty="0"/>
          </a:p>
        </p:txBody>
      </p:sp>
      <p:sp>
        <p:nvSpPr>
          <p:cNvPr id="6" name="Text 6"/>
          <p:cNvSpPr txBox="1"/>
          <p:nvPr/>
        </p:nvSpPr>
        <p:spPr>
          <a:xfrm>
            <a:off x="822960" y="2150000"/>
            <a:ext cx="3051048" cy="2120000"/>
          </a:xfrm>
          <a:prstGeom prst="rect">
            <a:avLst/>
          </a:prstGeom>
          <a:noFill/>
          <a:ln/>
        </p:spPr>
        <p:txBody>
          <a:bodyPr wrap="square" lIns="0" tIns="0" rIns="0" bIns="0" rtlCol="0" anchor="t"/>
          <a:lstStyle/>
          <a:p>
            <a:pPr marL="0" indent="0" algn="l">
              <a:lnSpc>
                <a:spcPct val="104000"/>
              </a:lnSpc>
              <a:spcAft>
                <a:spcPts val="600"/>
              </a:spcAft>
              <a:buNone/>
            </a:pPr>
            <a:r>
              <a:rPr lang="en-GB" sz="1600" noProof="0" dirty="0">
                <a:solidFill>
                  <a:srgbClr val="23303F"/>
                </a:solidFill>
                <a:latin typeface="Calibri" pitchFamily="34" charset="0"/>
                <a:ea typeface="Calibri" pitchFamily="34" charset="-122"/>
                <a:cs typeface="Calibri" pitchFamily="34" charset="-120"/>
              </a:rPr>
              <a:t>Naked-eye inspection of the cervix, under a bright light, after applying dilute acetic acid (3 to 5%, vinegar).</a:t>
            </a:r>
            <a:endParaRPr lang="en-GB" sz="1600" dirty="0"/>
          </a:p>
        </p:txBody>
      </p:sp>
      <p:sp>
        <p:nvSpPr>
          <p:cNvPr id="7" name="Shape 7"/>
          <p:cNvSpPr/>
          <p:nvPr/>
        </p:nvSpPr>
        <p:spPr>
          <a:xfrm>
            <a:off x="4312920" y="1450000"/>
            <a:ext cx="3563112" cy="290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8" name="Text 8"/>
          <p:cNvSpPr txBox="1"/>
          <p:nvPr/>
        </p:nvSpPr>
        <p:spPr>
          <a:xfrm>
            <a:off x="4568952" y="1570000"/>
            <a:ext cx="3051048" cy="520000"/>
          </a:xfrm>
          <a:prstGeom prst="rect">
            <a:avLst/>
          </a:prstGeom>
          <a:noFill/>
          <a:ln/>
        </p:spPr>
        <p:txBody>
          <a:bodyPr wrap="square" lIns="0" tIns="0" rIns="0" bIns="0" rtlCol="0" anchor="ctr"/>
          <a:lstStyle/>
          <a:p>
            <a:pPr marL="0" indent="0" algn="l">
              <a:buNone/>
            </a:pPr>
            <a:r>
              <a:rPr lang="en-GB" sz="2000" b="1" noProof="0" dirty="0">
                <a:solidFill>
                  <a:srgbClr val="10305A"/>
                </a:solidFill>
                <a:latin typeface="Calibri" pitchFamily="34" charset="0"/>
                <a:ea typeface="Calibri" pitchFamily="34" charset="-122"/>
                <a:cs typeface="Calibri" pitchFamily="34" charset="-120"/>
              </a:rPr>
              <a:t>🧪  Why lesions turn white</a:t>
            </a:r>
            <a:endParaRPr lang="en-GB" sz="2000" dirty="0"/>
          </a:p>
        </p:txBody>
      </p:sp>
      <p:sp>
        <p:nvSpPr>
          <p:cNvPr id="9" name="Text 9"/>
          <p:cNvSpPr txBox="1"/>
          <p:nvPr/>
        </p:nvSpPr>
        <p:spPr>
          <a:xfrm>
            <a:off x="4568952" y="2150000"/>
            <a:ext cx="3051048" cy="2120000"/>
          </a:xfrm>
          <a:prstGeom prst="rect">
            <a:avLst/>
          </a:prstGeom>
          <a:noFill/>
          <a:ln/>
        </p:spPr>
        <p:txBody>
          <a:bodyPr wrap="square" lIns="0" tIns="0" rIns="0" bIns="0" rtlCol="0" anchor="t"/>
          <a:lstStyle/>
          <a:p>
            <a:pPr marL="0" indent="0" algn="l">
              <a:lnSpc>
                <a:spcPct val="104000"/>
              </a:lnSpc>
              <a:spcAft>
                <a:spcPts val="600"/>
              </a:spcAft>
              <a:buNone/>
            </a:pPr>
            <a:r>
              <a:rPr lang="en-GB" sz="1600" noProof="0" dirty="0">
                <a:solidFill>
                  <a:srgbClr val="23303F"/>
                </a:solidFill>
                <a:latin typeface="Calibri" pitchFamily="34" charset="0"/>
                <a:ea typeface="Calibri" pitchFamily="34" charset="-122"/>
                <a:cs typeface="Calibri" pitchFamily="34" charset="-120"/>
              </a:rPr>
              <a:t>Acetic acid coagulates proteins in surface cells. Precancerous cells contain more protein, so they turn white (acetowhite). Higher grades look denser.</a:t>
            </a:r>
            <a:endParaRPr lang="en-GB" sz="1600" dirty="0"/>
          </a:p>
        </p:txBody>
      </p:sp>
      <p:sp>
        <p:nvSpPr>
          <p:cNvPr id="10" name="Shape 10"/>
          <p:cNvSpPr/>
          <p:nvPr/>
        </p:nvSpPr>
        <p:spPr>
          <a:xfrm>
            <a:off x="8058912" y="1450000"/>
            <a:ext cx="3563112" cy="290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1" name="Text 11"/>
          <p:cNvSpPr txBox="1"/>
          <p:nvPr/>
        </p:nvSpPr>
        <p:spPr>
          <a:xfrm>
            <a:off x="8314944" y="1570000"/>
            <a:ext cx="3051048" cy="520000"/>
          </a:xfrm>
          <a:prstGeom prst="rect">
            <a:avLst/>
          </a:prstGeom>
          <a:noFill/>
          <a:ln/>
        </p:spPr>
        <p:txBody>
          <a:bodyPr wrap="square" lIns="0" tIns="0" rIns="0" bIns="0" rtlCol="0" anchor="ctr"/>
          <a:lstStyle/>
          <a:p>
            <a:pPr marL="0" indent="0" algn="l">
              <a:buNone/>
            </a:pPr>
            <a:r>
              <a:rPr lang="en-GB" sz="2000" b="1" noProof="0" dirty="0">
                <a:solidFill>
                  <a:srgbClr val="10305A"/>
                </a:solidFill>
                <a:latin typeface="Calibri" pitchFamily="34" charset="0"/>
                <a:ea typeface="Calibri" pitchFamily="34" charset="-122"/>
                <a:cs typeface="Calibri" pitchFamily="34" charset="-120"/>
              </a:rPr>
              <a:t>⚠️  Its limits</a:t>
            </a:r>
            <a:endParaRPr lang="en-GB" sz="2000" dirty="0"/>
          </a:p>
        </p:txBody>
      </p:sp>
      <p:sp>
        <p:nvSpPr>
          <p:cNvPr id="12" name="Text 12"/>
          <p:cNvSpPr txBox="1"/>
          <p:nvPr/>
        </p:nvSpPr>
        <p:spPr>
          <a:xfrm>
            <a:off x="8314944" y="2150000"/>
            <a:ext cx="3051048" cy="2120000"/>
          </a:xfrm>
          <a:prstGeom prst="rect">
            <a:avLst/>
          </a:prstGeom>
          <a:noFill/>
          <a:ln/>
        </p:spPr>
        <p:txBody>
          <a:bodyPr wrap="square" lIns="0" tIns="0" rIns="0" bIns="0" rtlCol="0" anchor="t"/>
          <a:lstStyle/>
          <a:p>
            <a:pPr marL="0" indent="0" algn="l">
              <a:lnSpc>
                <a:spcPct val="104000"/>
              </a:lnSpc>
              <a:spcAft>
                <a:spcPts val="600"/>
              </a:spcAft>
              <a:buNone/>
            </a:pPr>
            <a:r>
              <a:rPr lang="en-GB" sz="1600" noProof="0" dirty="0">
                <a:solidFill>
                  <a:srgbClr val="23303F"/>
                </a:solidFill>
                <a:latin typeface="Calibri" pitchFamily="34" charset="0"/>
                <a:ea typeface="Calibri" pitchFamily="34" charset="-122"/>
                <a:cs typeface="Calibri" pitchFamily="34" charset="-120"/>
              </a:rPr>
              <a:t>Reading VIA needs training and can miss lesions. Ask for a second opinion when unsure. Cancer may appear as a growth rather than a white area.</a:t>
            </a:r>
            <a:endParaRPr lang="en-GB" sz="1600" dirty="0"/>
          </a:p>
        </p:txBody>
      </p:sp>
      <p:sp>
        <p:nvSpPr>
          <p:cNvPr id="14" name="Text 14"/>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15" name="Text 15"/>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85</a:t>
            </a:r>
            <a:endParaRPr lang="en-GB" sz="11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2 · VIA</a:t>
            </a:r>
            <a:endParaRPr lang="en-GB"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Who should have VIA</a:t>
            </a:r>
          </a:p>
        </p:txBody>
      </p:sp>
      <p:sp>
        <p:nvSpPr>
          <p:cNvPr id="4" name="Shape 4"/>
          <p:cNvSpPr/>
          <p:nvPr/>
        </p:nvSpPr>
        <p:spPr>
          <a:xfrm>
            <a:off x="566928" y="1450000"/>
            <a:ext cx="5436108" cy="3300000"/>
          </a:xfrm>
          <a:prstGeom prst="roundRect">
            <a:avLst>
              <a:gd name="adj" fmla="val 3000"/>
            </a:avLst>
          </a:prstGeom>
          <a:solidFill>
            <a:srgbClr val="EAF7F0"/>
          </a:solidFill>
          <a:ln w="12700">
            <a:solidFill>
              <a:srgbClr val="C0D4CB"/>
            </a:solidFill>
          </a:ln>
        </p:spPr>
        <p:txBody>
          <a:bodyPr/>
          <a:lstStyle/>
          <a:p>
            <a:endParaRPr lang="en-GB" sz="1600" dirty="0"/>
          </a:p>
        </p:txBody>
      </p:sp>
      <p:sp>
        <p:nvSpPr>
          <p:cNvPr id="5" name="Text 5"/>
          <p:cNvSpPr txBox="1"/>
          <p:nvPr/>
        </p:nvSpPr>
        <p:spPr>
          <a:xfrm>
            <a:off x="822960" y="1570000"/>
            <a:ext cx="4924044" cy="520000"/>
          </a:xfrm>
          <a:prstGeom prst="rect">
            <a:avLst/>
          </a:prstGeom>
          <a:noFill/>
          <a:ln/>
        </p:spPr>
        <p:txBody>
          <a:bodyPr wrap="square" lIns="0" tIns="0" rIns="0" bIns="0" rtlCol="0" anchor="ctr"/>
          <a:lstStyle/>
          <a:p>
            <a:pPr marL="0" indent="0" algn="l">
              <a:buNone/>
            </a:pPr>
            <a:r>
              <a:rPr lang="en-GB" sz="2000" b="1" noProof="0" dirty="0">
                <a:solidFill>
                  <a:srgbClr val="19543E"/>
                </a:solidFill>
                <a:latin typeface="Calibri" pitchFamily="34" charset="0"/>
                <a:ea typeface="Calibri" pitchFamily="34" charset="-122"/>
                <a:cs typeface="Calibri" pitchFamily="34" charset="-120"/>
              </a:rPr>
              <a:t>✅  Perform VIA for</a:t>
            </a:r>
            <a:endParaRPr lang="en-GB" sz="2000" dirty="0"/>
          </a:p>
        </p:txBody>
      </p:sp>
      <p:sp>
        <p:nvSpPr>
          <p:cNvPr id="6" name="Text 6"/>
          <p:cNvSpPr txBox="1"/>
          <p:nvPr/>
        </p:nvSpPr>
        <p:spPr>
          <a:xfrm>
            <a:off x="822960" y="2150000"/>
            <a:ext cx="4924044" cy="252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en-GB" sz="1700" noProof="0" dirty="0">
                <a:solidFill>
                  <a:srgbClr val="23303F"/>
                </a:solidFill>
                <a:latin typeface="Calibri" pitchFamily="34" charset="0"/>
                <a:ea typeface="Calibri" pitchFamily="34" charset="-122"/>
                <a:cs typeface="Calibri" pitchFamily="34" charset="-120"/>
              </a:rPr>
              <a:t>HPV-positive women, to decide treatment.</a:t>
            </a:r>
            <a:endParaRPr lang="en-GB" sz="1700" dirty="0"/>
          </a:p>
          <a:p>
            <a:pPr marL="285750" indent="-285750" algn="l">
              <a:lnSpc>
                <a:spcPct val="104000"/>
              </a:lnSpc>
              <a:spcAft>
                <a:spcPts val="600"/>
              </a:spcAft>
              <a:buSzPct val="100000"/>
              <a:buChar char="•"/>
            </a:pPr>
            <a:r>
              <a:rPr lang="en-GB" sz="1700" noProof="0" dirty="0">
                <a:solidFill>
                  <a:srgbClr val="23303F"/>
                </a:solidFill>
                <a:latin typeface="Calibri" pitchFamily="34" charset="0"/>
                <a:ea typeface="Calibri" pitchFamily="34" charset="-122"/>
                <a:cs typeface="Calibri" pitchFamily="34" charset="-120"/>
              </a:rPr>
              <a:t>Women aged 30 to 49 (25 to 49 if living with HIV) when HPV testing is not available.</a:t>
            </a:r>
            <a:endParaRPr lang="en-GB" sz="1700" dirty="0"/>
          </a:p>
          <a:p>
            <a:pPr marL="285750" indent="-285750" algn="l">
              <a:lnSpc>
                <a:spcPct val="104000"/>
              </a:lnSpc>
              <a:spcAft>
                <a:spcPts val="600"/>
              </a:spcAft>
              <a:buSzPct val="100000"/>
              <a:buChar char="•"/>
            </a:pPr>
            <a:r>
              <a:rPr lang="en-GB" sz="1700" noProof="0" dirty="0">
                <a:solidFill>
                  <a:srgbClr val="23303F"/>
                </a:solidFill>
                <a:latin typeface="Calibri" pitchFamily="34" charset="0"/>
                <a:ea typeface="Calibri" pitchFamily="34" charset="-122"/>
                <a:cs typeface="Calibri" pitchFamily="34" charset="-120"/>
              </a:rPr>
              <a:t>Women aged 50 to 65 never screened, when Pap smear is not available.</a:t>
            </a:r>
            <a:endParaRPr lang="en-GB" sz="1700" dirty="0"/>
          </a:p>
        </p:txBody>
      </p:sp>
      <p:sp>
        <p:nvSpPr>
          <p:cNvPr id="7" name="Shape 7"/>
          <p:cNvSpPr/>
          <p:nvPr/>
        </p:nvSpPr>
        <p:spPr>
          <a:xfrm>
            <a:off x="6185916" y="1450000"/>
            <a:ext cx="5436108" cy="3300000"/>
          </a:xfrm>
          <a:prstGeom prst="roundRect">
            <a:avLst>
              <a:gd name="adj" fmla="val 3000"/>
            </a:avLst>
          </a:prstGeom>
          <a:solidFill>
            <a:srgbClr val="FFF2DF"/>
          </a:solidFill>
          <a:ln w="12700">
            <a:solidFill>
              <a:srgbClr val="E8DDC7"/>
            </a:solidFill>
          </a:ln>
        </p:spPr>
        <p:txBody>
          <a:bodyPr/>
          <a:lstStyle/>
          <a:p>
            <a:endParaRPr lang="en-GB" sz="1600" dirty="0"/>
          </a:p>
        </p:txBody>
      </p:sp>
      <p:sp>
        <p:nvSpPr>
          <p:cNvPr id="8" name="Text 8"/>
          <p:cNvSpPr txBox="1"/>
          <p:nvPr/>
        </p:nvSpPr>
        <p:spPr>
          <a:xfrm>
            <a:off x="6441948" y="1570000"/>
            <a:ext cx="4924044" cy="520000"/>
          </a:xfrm>
          <a:prstGeom prst="rect">
            <a:avLst/>
          </a:prstGeom>
          <a:noFill/>
          <a:ln/>
        </p:spPr>
        <p:txBody>
          <a:bodyPr wrap="square" lIns="0" tIns="0" rIns="0" bIns="0" rtlCol="0" anchor="ctr"/>
          <a:lstStyle/>
          <a:p>
            <a:pPr marL="0" indent="0" algn="l">
              <a:buNone/>
            </a:pPr>
            <a:r>
              <a:rPr lang="en-GB" sz="2000" b="1" noProof="0" dirty="0">
                <a:solidFill>
                  <a:srgbClr val="7B5727"/>
                </a:solidFill>
                <a:latin typeface="Calibri" pitchFamily="34" charset="0"/>
                <a:ea typeface="Calibri" pitchFamily="34" charset="-122"/>
                <a:cs typeface="Calibri" pitchFamily="34" charset="-120"/>
              </a:rPr>
              <a:t>❌  Do not perform VIA</a:t>
            </a:r>
            <a:endParaRPr lang="en-GB" sz="2000" dirty="0"/>
          </a:p>
        </p:txBody>
      </p:sp>
      <p:sp>
        <p:nvSpPr>
          <p:cNvPr id="9" name="Text 9"/>
          <p:cNvSpPr txBox="1"/>
          <p:nvPr/>
        </p:nvSpPr>
        <p:spPr>
          <a:xfrm>
            <a:off x="6441948" y="2150000"/>
            <a:ext cx="4924044" cy="252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en-GB" sz="1700" noProof="0" dirty="0">
                <a:solidFill>
                  <a:srgbClr val="23303F"/>
                </a:solidFill>
                <a:latin typeface="Calibri" pitchFamily="34" charset="0"/>
                <a:ea typeface="Calibri" pitchFamily="34" charset="-122"/>
                <a:cs typeface="Calibri" pitchFamily="34" charset="-120"/>
              </a:rPr>
              <a:t>On HPV-negative women.</a:t>
            </a:r>
            <a:endParaRPr lang="en-GB" sz="1700" dirty="0"/>
          </a:p>
          <a:p>
            <a:pPr marL="285750" indent="-285750" algn="l">
              <a:lnSpc>
                <a:spcPct val="104000"/>
              </a:lnSpc>
              <a:spcAft>
                <a:spcPts val="600"/>
              </a:spcAft>
              <a:buSzPct val="100000"/>
              <a:buChar char="•"/>
            </a:pPr>
            <a:r>
              <a:rPr lang="en-GB" sz="1700" noProof="0" dirty="0">
                <a:solidFill>
                  <a:srgbClr val="23303F"/>
                </a:solidFill>
                <a:latin typeface="Calibri" pitchFamily="34" charset="0"/>
                <a:ea typeface="Calibri" pitchFamily="34" charset="-122"/>
                <a:cs typeface="Calibri" pitchFamily="34" charset="-120"/>
              </a:rPr>
              <a:t>During pregnancy, or within 6 weeks of childbirth.</a:t>
            </a:r>
            <a:endParaRPr lang="en-GB" sz="1700" dirty="0"/>
          </a:p>
          <a:p>
            <a:pPr marL="285750" indent="-285750" algn="l">
              <a:lnSpc>
                <a:spcPct val="104000"/>
              </a:lnSpc>
              <a:spcAft>
                <a:spcPts val="600"/>
              </a:spcAft>
              <a:buSzPct val="100000"/>
              <a:buChar char="•"/>
            </a:pPr>
            <a:r>
              <a:rPr lang="en-GB" sz="1700" noProof="0" dirty="0">
                <a:solidFill>
                  <a:srgbClr val="23303F"/>
                </a:solidFill>
                <a:latin typeface="Calibri" pitchFamily="34" charset="0"/>
                <a:ea typeface="Calibri" pitchFamily="34" charset="-122"/>
                <a:cs typeface="Calibri" pitchFamily="34" charset="-120"/>
              </a:rPr>
              <a:t>After a total hysterectomy.</a:t>
            </a:r>
            <a:endParaRPr lang="en-GB" sz="1700" dirty="0"/>
          </a:p>
        </p:txBody>
      </p:sp>
      <p:sp>
        <p:nvSpPr>
          <p:cNvPr id="10" name="Shape 10"/>
          <p:cNvSpPr/>
          <p:nvPr/>
        </p:nvSpPr>
        <p:spPr>
          <a:xfrm>
            <a:off x="566928" y="4950000"/>
            <a:ext cx="11055096" cy="850000"/>
          </a:xfrm>
          <a:prstGeom prst="roundRect">
            <a:avLst>
              <a:gd name="adj" fmla="val 3000"/>
            </a:avLst>
          </a:prstGeom>
          <a:solidFill>
            <a:srgbClr val="ECF3FD"/>
          </a:solidFill>
          <a:ln w="12700">
            <a:solidFill>
              <a:srgbClr val="E0E3EA"/>
            </a:solidFill>
          </a:ln>
        </p:spPr>
        <p:txBody>
          <a:bodyPr/>
          <a:lstStyle/>
          <a:p>
            <a:endParaRPr lang="en-GB" sz="1600" dirty="0"/>
          </a:p>
        </p:txBody>
      </p:sp>
      <p:sp>
        <p:nvSpPr>
          <p:cNvPr id="11" name="Text 11"/>
          <p:cNvSpPr txBox="1"/>
          <p:nvPr/>
        </p:nvSpPr>
        <p:spPr>
          <a:xfrm>
            <a:off x="841248" y="5000000"/>
            <a:ext cx="10506456" cy="750000"/>
          </a:xfrm>
          <a:prstGeom prst="rect">
            <a:avLst/>
          </a:prstGeom>
          <a:noFill/>
          <a:ln/>
        </p:spPr>
        <p:txBody>
          <a:bodyPr wrap="square" lIns="0" tIns="0" rIns="0" bIns="0" rtlCol="0" anchor="ctr"/>
          <a:lstStyle/>
          <a:p>
            <a:pPr marL="0" indent="0" algn="l">
              <a:buNone/>
            </a:pPr>
            <a:r>
              <a:rPr lang="en-GB" sz="1600" b="1" noProof="0" dirty="0">
                <a:solidFill>
                  <a:srgbClr val="10305A"/>
                </a:solidFill>
                <a:latin typeface="Calibri" pitchFamily="34" charset="0"/>
                <a:ea typeface="Calibri" pitchFamily="34" charset="-122"/>
                <a:cs typeface="Calibri" pitchFamily="34" charset="-120"/>
              </a:rPr>
              <a:t>📌 Menstruation:  </a:t>
            </a:r>
            <a:r>
              <a:rPr lang="en-GB" sz="1600" noProof="0" dirty="0">
                <a:solidFill>
                  <a:srgbClr val="23303F"/>
                </a:solidFill>
                <a:latin typeface="Calibri" pitchFamily="34" charset="0"/>
                <a:ea typeface="Calibri" pitchFamily="34" charset="-122"/>
                <a:cs typeface="Calibri" pitchFamily="34" charset="-120"/>
              </a:rPr>
              <a:t>VIA can still be done during menstruation if the bleeding is not heavy.</a:t>
            </a:r>
            <a:endParaRPr lang="en-GB" sz="1600" dirty="0"/>
          </a:p>
        </p:txBody>
      </p:sp>
      <p:sp>
        <p:nvSpPr>
          <p:cNvPr id="12" name="Text 12"/>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13" name="Text 13"/>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86</a:t>
            </a:r>
            <a:endParaRPr lang="en-GB" sz="11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2 · VIA</a:t>
            </a:r>
            <a:endParaRPr lang="en-GB"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VIA step by step</a:t>
            </a:r>
          </a:p>
        </p:txBody>
      </p:sp>
      <p:sp>
        <p:nvSpPr>
          <p:cNvPr id="4" name="Shape 4"/>
          <p:cNvSpPr/>
          <p:nvPr/>
        </p:nvSpPr>
        <p:spPr>
          <a:xfrm>
            <a:off x="566928" y="1450000"/>
            <a:ext cx="11055096" cy="69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5" name="Text 5"/>
          <p:cNvSpPr txBox="1"/>
          <p:nvPr/>
        </p:nvSpPr>
        <p:spPr>
          <a:xfrm>
            <a:off x="786384" y="1450000"/>
            <a:ext cx="548640" cy="69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1️⃣</a:t>
            </a:r>
            <a:endParaRPr lang="en-GB" sz="2000" dirty="0"/>
          </a:p>
        </p:txBody>
      </p:sp>
      <p:sp>
        <p:nvSpPr>
          <p:cNvPr id="6" name="Text 6"/>
          <p:cNvSpPr txBox="1"/>
          <p:nvPr/>
        </p:nvSpPr>
        <p:spPr>
          <a:xfrm>
            <a:off x="1463040" y="1450000"/>
            <a:ext cx="9966960" cy="690000"/>
          </a:xfrm>
          <a:prstGeom prst="rect">
            <a:avLst/>
          </a:prstGeom>
          <a:noFill/>
          <a:ln/>
        </p:spPr>
        <p:txBody>
          <a:bodyPr wrap="square" lIns="0" tIns="0" rIns="0" bIns="0" rtlCol="0" anchor="ctr"/>
          <a:lstStyle/>
          <a:p>
            <a:pPr marL="0" indent="0" algn="l">
              <a:buNone/>
            </a:pPr>
            <a:r>
              <a:rPr lang="en-GB" sz="1700" noProof="0" dirty="0">
                <a:solidFill>
                  <a:srgbClr val="23303F"/>
                </a:solidFill>
                <a:latin typeface="Calibri" pitchFamily="34" charset="0"/>
                <a:ea typeface="Calibri" pitchFamily="34" charset="-122"/>
                <a:cs typeface="Calibri" pitchFamily="34" charset="-120"/>
              </a:rPr>
              <a:t>Prepare fresh 3 to 5% acetic acid, a bright focused lamp, a speculum and swabs. Sit to examine.</a:t>
            </a:r>
            <a:endParaRPr lang="en-GB" sz="1700" dirty="0"/>
          </a:p>
        </p:txBody>
      </p:sp>
      <p:sp>
        <p:nvSpPr>
          <p:cNvPr id="7" name="Shape 7"/>
          <p:cNvSpPr/>
          <p:nvPr/>
        </p:nvSpPr>
        <p:spPr>
          <a:xfrm>
            <a:off x="566928" y="2240000"/>
            <a:ext cx="11055096" cy="69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8" name="Text 8"/>
          <p:cNvSpPr txBox="1"/>
          <p:nvPr/>
        </p:nvSpPr>
        <p:spPr>
          <a:xfrm>
            <a:off x="786384" y="2240000"/>
            <a:ext cx="548640" cy="69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2️⃣</a:t>
            </a:r>
            <a:endParaRPr lang="en-GB" sz="2000" dirty="0"/>
          </a:p>
        </p:txBody>
      </p:sp>
      <p:sp>
        <p:nvSpPr>
          <p:cNvPr id="9" name="Text 9"/>
          <p:cNvSpPr txBox="1"/>
          <p:nvPr/>
        </p:nvSpPr>
        <p:spPr>
          <a:xfrm>
            <a:off x="1463040" y="2240000"/>
            <a:ext cx="9966960" cy="690000"/>
          </a:xfrm>
          <a:prstGeom prst="rect">
            <a:avLst/>
          </a:prstGeom>
          <a:noFill/>
          <a:ln/>
        </p:spPr>
        <p:txBody>
          <a:bodyPr wrap="square" lIns="0" tIns="0" rIns="0" bIns="0" rtlCol="0" anchor="ctr"/>
          <a:lstStyle/>
          <a:p>
            <a:pPr marL="0" indent="0" algn="l">
              <a:buNone/>
            </a:pPr>
            <a:r>
              <a:rPr lang="en-GB" sz="1700" noProof="0" dirty="0">
                <a:solidFill>
                  <a:srgbClr val="23303F"/>
                </a:solidFill>
                <a:latin typeface="Calibri" pitchFamily="34" charset="0"/>
                <a:ea typeface="Calibri" pitchFamily="34" charset="-122"/>
                <a:cs typeface="Calibri" pitchFamily="34" charset="-120"/>
              </a:rPr>
              <a:t>Insert the speculum and view the whole cervix. Before applying acid, look for growths, ulcers, white patches or signs of infection.</a:t>
            </a:r>
            <a:endParaRPr lang="en-GB" sz="1700" dirty="0"/>
          </a:p>
        </p:txBody>
      </p:sp>
      <p:sp>
        <p:nvSpPr>
          <p:cNvPr id="10" name="Shape 10"/>
          <p:cNvSpPr/>
          <p:nvPr/>
        </p:nvSpPr>
        <p:spPr>
          <a:xfrm>
            <a:off x="566928" y="3030000"/>
            <a:ext cx="11055096" cy="69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1" name="Text 11"/>
          <p:cNvSpPr txBox="1"/>
          <p:nvPr/>
        </p:nvSpPr>
        <p:spPr>
          <a:xfrm>
            <a:off x="786384" y="3030000"/>
            <a:ext cx="548640" cy="69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3️⃣</a:t>
            </a:r>
            <a:endParaRPr lang="en-GB" sz="2000" dirty="0"/>
          </a:p>
        </p:txBody>
      </p:sp>
      <p:sp>
        <p:nvSpPr>
          <p:cNvPr id="12" name="Text 12"/>
          <p:cNvSpPr txBox="1"/>
          <p:nvPr/>
        </p:nvSpPr>
        <p:spPr>
          <a:xfrm>
            <a:off x="1463040" y="3030000"/>
            <a:ext cx="9966960" cy="690000"/>
          </a:xfrm>
          <a:prstGeom prst="rect">
            <a:avLst/>
          </a:prstGeom>
          <a:noFill/>
          <a:ln/>
        </p:spPr>
        <p:txBody>
          <a:bodyPr wrap="square" lIns="0" tIns="0" rIns="0" bIns="0" rtlCol="0" anchor="ctr"/>
          <a:lstStyle/>
          <a:p>
            <a:pPr marL="0" indent="0" algn="l">
              <a:buNone/>
            </a:pPr>
            <a:r>
              <a:rPr lang="en-GB" sz="1700" noProof="0" dirty="0">
                <a:solidFill>
                  <a:srgbClr val="23303F"/>
                </a:solidFill>
                <a:latin typeface="Calibri" pitchFamily="34" charset="0"/>
                <a:ea typeface="Calibri" pitchFamily="34" charset="-122"/>
                <a:cs typeface="Calibri" pitchFamily="34" charset="-120"/>
              </a:rPr>
              <a:t>Identify the external os and the SCJ.</a:t>
            </a:r>
            <a:endParaRPr lang="en-GB" sz="1700" dirty="0"/>
          </a:p>
        </p:txBody>
      </p:sp>
      <p:sp>
        <p:nvSpPr>
          <p:cNvPr id="13" name="Shape 13"/>
          <p:cNvSpPr/>
          <p:nvPr/>
        </p:nvSpPr>
        <p:spPr>
          <a:xfrm>
            <a:off x="566928" y="3820000"/>
            <a:ext cx="11055096" cy="69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4" name="Text 14"/>
          <p:cNvSpPr txBox="1"/>
          <p:nvPr/>
        </p:nvSpPr>
        <p:spPr>
          <a:xfrm>
            <a:off x="786384" y="3820000"/>
            <a:ext cx="548640" cy="69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4️⃣</a:t>
            </a:r>
            <a:endParaRPr lang="en-GB" sz="2000" dirty="0"/>
          </a:p>
        </p:txBody>
      </p:sp>
      <p:sp>
        <p:nvSpPr>
          <p:cNvPr id="15" name="Text 15"/>
          <p:cNvSpPr txBox="1"/>
          <p:nvPr/>
        </p:nvSpPr>
        <p:spPr>
          <a:xfrm>
            <a:off x="1463040" y="3820000"/>
            <a:ext cx="9966960" cy="690000"/>
          </a:xfrm>
          <a:prstGeom prst="rect">
            <a:avLst/>
          </a:prstGeom>
          <a:noFill/>
          <a:ln/>
        </p:spPr>
        <p:txBody>
          <a:bodyPr wrap="square" lIns="0" tIns="0" rIns="0" bIns="0" rtlCol="0" anchor="ctr"/>
          <a:lstStyle/>
          <a:p>
            <a:pPr marL="0" indent="0" algn="l">
              <a:buNone/>
            </a:pPr>
            <a:r>
              <a:rPr lang="en-GB" sz="1700" noProof="0" dirty="0">
                <a:solidFill>
                  <a:srgbClr val="23303F"/>
                </a:solidFill>
                <a:latin typeface="Calibri" pitchFamily="34" charset="0"/>
                <a:ea typeface="Calibri" pitchFamily="34" charset="-122"/>
                <a:cs typeface="Calibri" pitchFamily="34" charset="-120"/>
              </a:rPr>
              <a:t>Hold cotton swabs soaked in acetic acid against the cervix, then wait 2 minutes.</a:t>
            </a:r>
            <a:endParaRPr lang="en-GB" sz="1700" dirty="0"/>
          </a:p>
        </p:txBody>
      </p:sp>
      <p:sp>
        <p:nvSpPr>
          <p:cNvPr id="16" name="Shape 16"/>
          <p:cNvSpPr/>
          <p:nvPr/>
        </p:nvSpPr>
        <p:spPr>
          <a:xfrm>
            <a:off x="566928" y="4610000"/>
            <a:ext cx="11055096" cy="69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7" name="Text 17"/>
          <p:cNvSpPr txBox="1"/>
          <p:nvPr/>
        </p:nvSpPr>
        <p:spPr>
          <a:xfrm>
            <a:off x="786384" y="4610000"/>
            <a:ext cx="548640" cy="69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5️⃣</a:t>
            </a:r>
            <a:endParaRPr lang="en-GB" sz="2000" dirty="0"/>
          </a:p>
        </p:txBody>
      </p:sp>
      <p:sp>
        <p:nvSpPr>
          <p:cNvPr id="18" name="Text 18"/>
          <p:cNvSpPr txBox="1"/>
          <p:nvPr/>
        </p:nvSpPr>
        <p:spPr>
          <a:xfrm>
            <a:off x="1463040" y="4610000"/>
            <a:ext cx="9966960" cy="690000"/>
          </a:xfrm>
          <a:prstGeom prst="rect">
            <a:avLst/>
          </a:prstGeom>
          <a:noFill/>
          <a:ln/>
        </p:spPr>
        <p:txBody>
          <a:bodyPr wrap="square" lIns="0" tIns="0" rIns="0" bIns="0" rtlCol="0" anchor="ctr"/>
          <a:lstStyle/>
          <a:p>
            <a:pPr marL="0" indent="0" algn="l">
              <a:buNone/>
            </a:pPr>
            <a:r>
              <a:rPr lang="en-GB" sz="1700" noProof="0" dirty="0">
                <a:solidFill>
                  <a:srgbClr val="23303F"/>
                </a:solidFill>
                <a:latin typeface="Calibri" pitchFamily="34" charset="0"/>
                <a:ea typeface="Calibri" pitchFamily="34" charset="-122"/>
                <a:cs typeface="Calibri" pitchFamily="34" charset="-120"/>
              </a:rPr>
              <a:t>Inspect the transformation zone for well-defined acetowhite areas close to the SCJ.</a:t>
            </a:r>
            <a:endParaRPr lang="en-GB" sz="1700" dirty="0"/>
          </a:p>
        </p:txBody>
      </p:sp>
      <p:sp>
        <p:nvSpPr>
          <p:cNvPr id="19" name="Shape 19"/>
          <p:cNvSpPr/>
          <p:nvPr/>
        </p:nvSpPr>
        <p:spPr>
          <a:xfrm>
            <a:off x="566928" y="5400000"/>
            <a:ext cx="11055096" cy="69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20" name="Text 20"/>
          <p:cNvSpPr txBox="1"/>
          <p:nvPr/>
        </p:nvSpPr>
        <p:spPr>
          <a:xfrm>
            <a:off x="786384" y="5400000"/>
            <a:ext cx="548640" cy="69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6️⃣</a:t>
            </a:r>
            <a:endParaRPr lang="en-GB" sz="2000" dirty="0"/>
          </a:p>
        </p:txBody>
      </p:sp>
      <p:sp>
        <p:nvSpPr>
          <p:cNvPr id="21" name="Text 21"/>
          <p:cNvSpPr txBox="1"/>
          <p:nvPr/>
        </p:nvSpPr>
        <p:spPr>
          <a:xfrm>
            <a:off x="1463040" y="5400000"/>
            <a:ext cx="9966960" cy="690000"/>
          </a:xfrm>
          <a:prstGeom prst="rect">
            <a:avLst/>
          </a:prstGeom>
          <a:noFill/>
          <a:ln/>
        </p:spPr>
        <p:txBody>
          <a:bodyPr wrap="square" lIns="0" tIns="0" rIns="0" bIns="0" rtlCol="0" anchor="ctr"/>
          <a:lstStyle/>
          <a:p>
            <a:pPr marL="0" indent="0" algn="l">
              <a:buNone/>
            </a:pPr>
            <a:r>
              <a:rPr lang="en-GB" sz="1700" noProof="0" dirty="0">
                <a:solidFill>
                  <a:srgbClr val="23303F"/>
                </a:solidFill>
                <a:latin typeface="Calibri" pitchFamily="34" charset="0"/>
                <a:ea typeface="Calibri" pitchFamily="34" charset="-122"/>
                <a:cs typeface="Calibri" pitchFamily="34" charset="-120"/>
              </a:rPr>
              <a:t>Record the result, explain it to her, and agree the next step before she leaves.</a:t>
            </a:r>
            <a:endParaRPr lang="en-GB" sz="1700" dirty="0"/>
          </a:p>
        </p:txBody>
      </p:sp>
      <p:sp>
        <p:nvSpPr>
          <p:cNvPr id="22" name="Text 22"/>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23" name="Text 23"/>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87</a:t>
            </a:r>
            <a:endParaRPr lang="en-GB" sz="11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2 · VIA</a:t>
            </a:r>
            <a:endParaRPr lang="en-GB"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Four questions to answer at every VIA</a:t>
            </a:r>
          </a:p>
        </p:txBody>
      </p:sp>
      <p:sp>
        <p:nvSpPr>
          <p:cNvPr id="4" name="Shape 4"/>
          <p:cNvSpPr/>
          <p:nvPr/>
        </p:nvSpPr>
        <p:spPr>
          <a:xfrm>
            <a:off x="566928" y="1450000"/>
            <a:ext cx="2600000" cy="330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5" name="Text 5"/>
          <p:cNvSpPr txBox="1"/>
          <p:nvPr/>
        </p:nvSpPr>
        <p:spPr>
          <a:xfrm>
            <a:off x="746928" y="1570000"/>
            <a:ext cx="2240000" cy="800000"/>
          </a:xfrm>
          <a:prstGeom prst="rect">
            <a:avLst/>
          </a:prstGeom>
          <a:noFill/>
          <a:ln/>
        </p:spPr>
        <p:txBody>
          <a:bodyPr wrap="square" lIns="0" tIns="0" rIns="0" bIns="0" rtlCol="0" anchor="ctr"/>
          <a:lstStyle/>
          <a:p>
            <a:pPr marL="0" indent="0" algn="l">
              <a:buNone/>
            </a:pPr>
            <a:r>
              <a:rPr lang="en-GB" sz="1700" b="1" noProof="0" dirty="0">
                <a:solidFill>
                  <a:srgbClr val="10305A"/>
                </a:solidFill>
                <a:latin typeface="Calibri" pitchFamily="34" charset="0"/>
                <a:ea typeface="Calibri" pitchFamily="34" charset="-122"/>
                <a:cs typeface="Calibri" pitchFamily="34" charset="-120"/>
              </a:rPr>
              <a:t>1️⃣  Can I see the whole SCJ?</a:t>
            </a:r>
            <a:endParaRPr lang="en-GB" sz="1700" dirty="0"/>
          </a:p>
        </p:txBody>
      </p:sp>
      <p:sp>
        <p:nvSpPr>
          <p:cNvPr id="6" name="Text 6"/>
          <p:cNvSpPr txBox="1"/>
          <p:nvPr/>
        </p:nvSpPr>
        <p:spPr>
          <a:xfrm>
            <a:off x="746928" y="2430000"/>
            <a:ext cx="2240000" cy="2240000"/>
          </a:xfrm>
          <a:prstGeom prst="rect">
            <a:avLst/>
          </a:prstGeom>
          <a:noFill/>
          <a:ln/>
        </p:spPr>
        <p:txBody>
          <a:bodyPr wrap="square" lIns="0" tIns="0" rIns="0" bIns="0" rtlCol="0" anchor="t"/>
          <a:lstStyle/>
          <a:p>
            <a:pPr marL="0" indent="0" algn="l">
              <a:lnSpc>
                <a:spcPct val="104000"/>
              </a:lnSpc>
              <a:spcAft>
                <a:spcPts val="600"/>
              </a:spcAft>
              <a:buNone/>
            </a:pPr>
            <a:r>
              <a:rPr lang="en-GB" sz="1600" noProof="0" dirty="0">
                <a:solidFill>
                  <a:srgbClr val="23303F"/>
                </a:solidFill>
                <a:latin typeface="Calibri" pitchFamily="34" charset="0"/>
                <a:ea typeface="Calibri" pitchFamily="34" charset="-122"/>
                <a:cs typeface="Calibri" pitchFamily="34" charset="-120"/>
              </a:rPr>
              <a:t>Yes: transformation zone type 1 or 2. Part of it hidden in the canal: type 3.</a:t>
            </a:r>
            <a:endParaRPr lang="en-GB" sz="1600" dirty="0"/>
          </a:p>
        </p:txBody>
      </p:sp>
      <p:sp>
        <p:nvSpPr>
          <p:cNvPr id="7" name="Shape 7"/>
          <p:cNvSpPr/>
          <p:nvPr/>
        </p:nvSpPr>
        <p:spPr>
          <a:xfrm>
            <a:off x="3385293" y="1450000"/>
            <a:ext cx="2600000" cy="330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8" name="Text 8"/>
          <p:cNvSpPr txBox="1"/>
          <p:nvPr/>
        </p:nvSpPr>
        <p:spPr>
          <a:xfrm>
            <a:off x="3565293" y="1570000"/>
            <a:ext cx="2240000" cy="800000"/>
          </a:xfrm>
          <a:prstGeom prst="rect">
            <a:avLst/>
          </a:prstGeom>
          <a:noFill/>
          <a:ln/>
        </p:spPr>
        <p:txBody>
          <a:bodyPr wrap="square" lIns="0" tIns="0" rIns="0" bIns="0" rtlCol="0" anchor="ctr"/>
          <a:lstStyle/>
          <a:p>
            <a:pPr marL="0" indent="0" algn="l">
              <a:buNone/>
            </a:pPr>
            <a:r>
              <a:rPr lang="en-GB" sz="1700" b="1" noProof="0" dirty="0">
                <a:solidFill>
                  <a:srgbClr val="10305A"/>
                </a:solidFill>
                <a:latin typeface="Calibri" pitchFamily="34" charset="0"/>
                <a:ea typeface="Calibri" pitchFamily="34" charset="-122"/>
                <a:cs typeface="Calibri" pitchFamily="34" charset="-120"/>
              </a:rPr>
              <a:t>2️⃣  Is there an acetowhite lesion?</a:t>
            </a:r>
            <a:endParaRPr lang="en-GB" sz="1700" dirty="0"/>
          </a:p>
        </p:txBody>
      </p:sp>
      <p:sp>
        <p:nvSpPr>
          <p:cNvPr id="9" name="Text 9"/>
          <p:cNvSpPr txBox="1"/>
          <p:nvPr/>
        </p:nvSpPr>
        <p:spPr>
          <a:xfrm>
            <a:off x="3565293" y="2430000"/>
            <a:ext cx="2240000" cy="2240000"/>
          </a:xfrm>
          <a:prstGeom prst="rect">
            <a:avLst/>
          </a:prstGeom>
          <a:noFill/>
          <a:ln/>
        </p:spPr>
        <p:txBody>
          <a:bodyPr wrap="square" lIns="0" tIns="0" rIns="0" bIns="0" rtlCol="0" anchor="t"/>
          <a:lstStyle/>
          <a:p>
            <a:pPr marL="0" indent="0" algn="l">
              <a:lnSpc>
                <a:spcPct val="104000"/>
              </a:lnSpc>
              <a:spcAft>
                <a:spcPts val="600"/>
              </a:spcAft>
              <a:buNone/>
            </a:pPr>
            <a:r>
              <a:rPr lang="en-GB" sz="1600" noProof="0" dirty="0">
                <a:solidFill>
                  <a:srgbClr val="23303F"/>
                </a:solidFill>
                <a:latin typeface="Calibri" pitchFamily="34" charset="0"/>
                <a:ea typeface="Calibri" pitchFamily="34" charset="-122"/>
                <a:cs typeface="Calibri" pitchFamily="34" charset="-120"/>
              </a:rPr>
              <a:t>Is it dense, well defined and touching the SCJ? Can I see all of it?</a:t>
            </a:r>
            <a:endParaRPr lang="en-GB" sz="1600" dirty="0"/>
          </a:p>
        </p:txBody>
      </p:sp>
      <p:sp>
        <p:nvSpPr>
          <p:cNvPr id="10" name="Shape 10"/>
          <p:cNvSpPr/>
          <p:nvPr/>
        </p:nvSpPr>
        <p:spPr>
          <a:xfrm>
            <a:off x="6203658" y="1450000"/>
            <a:ext cx="2600000" cy="330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1" name="Text 11"/>
          <p:cNvSpPr txBox="1"/>
          <p:nvPr/>
        </p:nvSpPr>
        <p:spPr>
          <a:xfrm>
            <a:off x="6383658" y="1570000"/>
            <a:ext cx="2240000" cy="800000"/>
          </a:xfrm>
          <a:prstGeom prst="rect">
            <a:avLst/>
          </a:prstGeom>
          <a:noFill/>
          <a:ln/>
        </p:spPr>
        <p:txBody>
          <a:bodyPr wrap="square" lIns="0" tIns="0" rIns="0" bIns="0" rtlCol="0" anchor="ctr"/>
          <a:lstStyle/>
          <a:p>
            <a:pPr marL="0" indent="0" algn="l">
              <a:buNone/>
            </a:pPr>
            <a:r>
              <a:rPr lang="en-GB" sz="1700" b="1" noProof="0" dirty="0">
                <a:solidFill>
                  <a:srgbClr val="10305A"/>
                </a:solidFill>
                <a:latin typeface="Calibri" pitchFamily="34" charset="0"/>
                <a:ea typeface="Calibri" pitchFamily="34" charset="-122"/>
                <a:cs typeface="Calibri" pitchFamily="34" charset="-120"/>
              </a:rPr>
              <a:t>3️⃣  How much does it cover?</a:t>
            </a:r>
            <a:endParaRPr lang="en-GB" sz="1700" dirty="0"/>
          </a:p>
        </p:txBody>
      </p:sp>
      <p:sp>
        <p:nvSpPr>
          <p:cNvPr id="12" name="Text 12"/>
          <p:cNvSpPr txBox="1"/>
          <p:nvPr/>
        </p:nvSpPr>
        <p:spPr>
          <a:xfrm>
            <a:off x="6383658" y="2430000"/>
            <a:ext cx="2240000" cy="2240000"/>
          </a:xfrm>
          <a:prstGeom prst="rect">
            <a:avLst/>
          </a:prstGeom>
          <a:noFill/>
          <a:ln/>
        </p:spPr>
        <p:txBody>
          <a:bodyPr wrap="square" lIns="0" tIns="0" rIns="0" bIns="0" rtlCol="0" anchor="t"/>
          <a:lstStyle/>
          <a:p>
            <a:pPr marL="0" indent="0" algn="l">
              <a:lnSpc>
                <a:spcPct val="104000"/>
              </a:lnSpc>
              <a:spcAft>
                <a:spcPts val="600"/>
              </a:spcAft>
              <a:buNone/>
            </a:pPr>
            <a:r>
              <a:rPr lang="en-GB" sz="1600" noProof="0" dirty="0">
                <a:solidFill>
                  <a:srgbClr val="23303F"/>
                </a:solidFill>
                <a:latin typeface="Calibri" pitchFamily="34" charset="0"/>
                <a:ea typeface="Calibri" pitchFamily="34" charset="-122"/>
                <a:cs typeface="Calibri" pitchFamily="34" charset="-120"/>
              </a:rPr>
              <a:t>Divide the cervix into four quadrants. Less than 75%, or more than 75%?</a:t>
            </a:r>
            <a:endParaRPr lang="en-GB" sz="1600" dirty="0"/>
          </a:p>
        </p:txBody>
      </p:sp>
      <p:sp>
        <p:nvSpPr>
          <p:cNvPr id="13" name="Shape 13"/>
          <p:cNvSpPr/>
          <p:nvPr/>
        </p:nvSpPr>
        <p:spPr>
          <a:xfrm>
            <a:off x="9022024" y="1450000"/>
            <a:ext cx="2600000" cy="3300000"/>
          </a:xfrm>
          <a:prstGeom prst="roundRect">
            <a:avLst>
              <a:gd name="adj" fmla="val 3000"/>
            </a:avLst>
          </a:prstGeom>
          <a:solidFill>
            <a:srgbClr val="FDE9E8"/>
          </a:solidFill>
          <a:ln w="12700">
            <a:solidFill>
              <a:srgbClr val="F0CFCE"/>
            </a:solidFill>
          </a:ln>
        </p:spPr>
        <p:txBody>
          <a:bodyPr/>
          <a:lstStyle/>
          <a:p>
            <a:endParaRPr lang="en-GB" sz="1600" dirty="0"/>
          </a:p>
        </p:txBody>
      </p:sp>
      <p:sp>
        <p:nvSpPr>
          <p:cNvPr id="14" name="Text 14"/>
          <p:cNvSpPr txBox="1"/>
          <p:nvPr/>
        </p:nvSpPr>
        <p:spPr>
          <a:xfrm>
            <a:off x="9202024" y="1570000"/>
            <a:ext cx="2240000" cy="800000"/>
          </a:xfrm>
          <a:prstGeom prst="rect">
            <a:avLst/>
          </a:prstGeom>
          <a:noFill/>
          <a:ln/>
        </p:spPr>
        <p:txBody>
          <a:bodyPr wrap="square" lIns="0" tIns="0" rIns="0" bIns="0" rtlCol="0" anchor="ctr"/>
          <a:lstStyle/>
          <a:p>
            <a:pPr marL="0" indent="0" algn="l">
              <a:buNone/>
            </a:pPr>
            <a:r>
              <a:rPr lang="en-GB" sz="1700" b="1" noProof="0" dirty="0">
                <a:solidFill>
                  <a:srgbClr val="8E2531"/>
                </a:solidFill>
                <a:latin typeface="Calibri" pitchFamily="34" charset="0"/>
                <a:ea typeface="Calibri" pitchFamily="34" charset="-122"/>
                <a:cs typeface="Calibri" pitchFamily="34" charset="-120"/>
              </a:rPr>
              <a:t>4️⃣  Could this be cancer?</a:t>
            </a:r>
            <a:endParaRPr lang="en-GB" sz="1700" dirty="0"/>
          </a:p>
        </p:txBody>
      </p:sp>
      <p:sp>
        <p:nvSpPr>
          <p:cNvPr id="15" name="Text 15"/>
          <p:cNvSpPr txBox="1"/>
          <p:nvPr/>
        </p:nvSpPr>
        <p:spPr>
          <a:xfrm>
            <a:off x="9202024" y="2430000"/>
            <a:ext cx="2240000" cy="2240000"/>
          </a:xfrm>
          <a:prstGeom prst="rect">
            <a:avLst/>
          </a:prstGeom>
          <a:noFill/>
          <a:ln/>
        </p:spPr>
        <p:txBody>
          <a:bodyPr wrap="square" lIns="0" tIns="0" rIns="0" bIns="0" rtlCol="0" anchor="t"/>
          <a:lstStyle/>
          <a:p>
            <a:pPr marL="0" indent="0" algn="l">
              <a:lnSpc>
                <a:spcPct val="104000"/>
              </a:lnSpc>
              <a:spcAft>
                <a:spcPts val="600"/>
              </a:spcAft>
              <a:buNone/>
            </a:pPr>
            <a:r>
              <a:rPr lang="en-GB" sz="1600" noProof="0" dirty="0">
                <a:solidFill>
                  <a:srgbClr val="23303F"/>
                </a:solidFill>
                <a:latin typeface="Calibri" pitchFamily="34" charset="0"/>
                <a:ea typeface="Calibri" pitchFamily="34" charset="-122"/>
                <a:cs typeface="Calibri" pitchFamily="34" charset="-120"/>
              </a:rPr>
              <a:t>A growth, an ulcer or a friable area that bleeds on touch: stop and refer.</a:t>
            </a:r>
            <a:endParaRPr lang="en-GB" sz="1600" dirty="0"/>
          </a:p>
        </p:txBody>
      </p:sp>
      <p:sp>
        <p:nvSpPr>
          <p:cNvPr id="16" name="Shape 16"/>
          <p:cNvSpPr/>
          <p:nvPr/>
        </p:nvSpPr>
        <p:spPr>
          <a:xfrm>
            <a:off x="566928" y="4950000"/>
            <a:ext cx="11055096" cy="1150000"/>
          </a:xfrm>
          <a:prstGeom prst="roundRect">
            <a:avLst>
              <a:gd name="adj" fmla="val 3000"/>
            </a:avLst>
          </a:prstGeom>
          <a:solidFill>
            <a:srgbClr val="FFF2DF"/>
          </a:solidFill>
          <a:ln w="12700">
            <a:solidFill>
              <a:srgbClr val="E8DDC7"/>
            </a:solidFill>
          </a:ln>
        </p:spPr>
        <p:txBody>
          <a:bodyPr/>
          <a:lstStyle/>
          <a:p>
            <a:endParaRPr lang="en-GB" sz="1600" dirty="0"/>
          </a:p>
        </p:txBody>
      </p:sp>
      <p:sp>
        <p:nvSpPr>
          <p:cNvPr id="17" name="Text 17"/>
          <p:cNvSpPr txBox="1"/>
          <p:nvPr/>
        </p:nvSpPr>
        <p:spPr>
          <a:xfrm>
            <a:off x="841248" y="5000000"/>
            <a:ext cx="10506456" cy="1050000"/>
          </a:xfrm>
          <a:prstGeom prst="rect">
            <a:avLst/>
          </a:prstGeom>
          <a:noFill/>
          <a:ln/>
        </p:spPr>
        <p:txBody>
          <a:bodyPr wrap="square" lIns="0" tIns="0" rIns="0" bIns="0" rtlCol="0" anchor="ctr"/>
          <a:lstStyle/>
          <a:p>
            <a:pPr marL="0" indent="0" algn="l">
              <a:buNone/>
            </a:pPr>
            <a:r>
              <a:rPr lang="en-GB" sz="1600" b="1" noProof="0" dirty="0">
                <a:solidFill>
                  <a:srgbClr val="7B5727"/>
                </a:solidFill>
                <a:latin typeface="Calibri" pitchFamily="34" charset="0"/>
                <a:ea typeface="Calibri" pitchFamily="34" charset="-122"/>
                <a:cs typeface="Calibri" pitchFamily="34" charset="-120"/>
              </a:rPr>
              <a:t>📌 Remember:  </a:t>
            </a:r>
            <a:r>
              <a:rPr lang="en-GB" sz="1600" noProof="0" dirty="0">
                <a:solidFill>
                  <a:srgbClr val="23303F"/>
                </a:solidFill>
                <a:latin typeface="Calibri" pitchFamily="34" charset="0"/>
                <a:ea typeface="Calibri" pitchFamily="34" charset="-122"/>
                <a:cs typeface="Calibri" pitchFamily="34" charset="-120"/>
              </a:rPr>
              <a:t>Keep the acetic acid bottle closed and pour a fresh amount for each woman. Wait the full 2 minutes, and use a focused lamp: daylight or a ceiling light is not enough.</a:t>
            </a:r>
            <a:endParaRPr lang="en-GB" sz="1600" dirty="0"/>
          </a:p>
        </p:txBody>
      </p:sp>
      <p:sp>
        <p:nvSpPr>
          <p:cNvPr id="18" name="Text 18"/>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19" name="Text 19"/>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88</a:t>
            </a:r>
            <a:endParaRPr lang="en-GB" sz="11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2 · VIA</a:t>
            </a:r>
            <a:endParaRPr lang="en-GB"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Classifying the VIA result</a:t>
            </a:r>
          </a:p>
        </p:txBody>
      </p:sp>
      <p:sp>
        <p:nvSpPr>
          <p:cNvPr id="4" name="Shape 4"/>
          <p:cNvSpPr/>
          <p:nvPr/>
        </p:nvSpPr>
        <p:spPr>
          <a:xfrm>
            <a:off x="566928" y="1450000"/>
            <a:ext cx="3563112" cy="4700000"/>
          </a:xfrm>
          <a:prstGeom prst="roundRect">
            <a:avLst>
              <a:gd name="adj" fmla="val 3000"/>
            </a:avLst>
          </a:prstGeom>
          <a:solidFill>
            <a:srgbClr val="EAF7F0"/>
          </a:solidFill>
          <a:ln w="12700">
            <a:solidFill>
              <a:srgbClr val="C0D4CB"/>
            </a:solidFill>
          </a:ln>
        </p:spPr>
        <p:txBody>
          <a:bodyPr/>
          <a:lstStyle/>
          <a:p>
            <a:endParaRPr lang="en-GB" sz="1600" dirty="0"/>
          </a:p>
        </p:txBody>
      </p:sp>
      <p:sp>
        <p:nvSpPr>
          <p:cNvPr id="6" name="Text 6"/>
          <p:cNvSpPr txBox="1"/>
          <p:nvPr/>
        </p:nvSpPr>
        <p:spPr>
          <a:xfrm>
            <a:off x="786928" y="1588332"/>
            <a:ext cx="3123112" cy="500000"/>
          </a:xfrm>
          <a:prstGeom prst="rect">
            <a:avLst/>
          </a:prstGeom>
          <a:noFill/>
          <a:ln/>
        </p:spPr>
        <p:txBody>
          <a:bodyPr wrap="square" lIns="0" tIns="0" rIns="0" bIns="0" rtlCol="0" anchor="ctr"/>
          <a:lstStyle/>
          <a:p>
            <a:pPr marL="0" indent="0" algn="l">
              <a:buNone/>
            </a:pPr>
            <a:r>
              <a:rPr lang="en-GB" sz="1900" b="1" noProof="0" dirty="0">
                <a:solidFill>
                  <a:srgbClr val="19543E"/>
                </a:solidFill>
                <a:latin typeface="Calibri" pitchFamily="34" charset="0"/>
                <a:ea typeface="Calibri" pitchFamily="34" charset="-122"/>
                <a:cs typeface="Calibri" pitchFamily="34" charset="-120"/>
              </a:rPr>
              <a:t>🟢  VIA negative</a:t>
            </a:r>
            <a:endParaRPr lang="en-GB" sz="1900" dirty="0"/>
          </a:p>
        </p:txBody>
      </p:sp>
      <p:sp>
        <p:nvSpPr>
          <p:cNvPr id="7" name="Text 7"/>
          <p:cNvSpPr txBox="1"/>
          <p:nvPr/>
        </p:nvSpPr>
        <p:spPr>
          <a:xfrm>
            <a:off x="786928" y="2138332"/>
            <a:ext cx="3123112" cy="2350000"/>
          </a:xfrm>
          <a:prstGeom prst="rect">
            <a:avLst/>
          </a:prstGeom>
          <a:noFill/>
          <a:ln/>
        </p:spPr>
        <p:txBody>
          <a:bodyPr wrap="square" lIns="0" tIns="0" rIns="0" bIns="0" rtlCol="0" anchor="t"/>
          <a:lstStyle/>
          <a:p>
            <a:pPr marL="0" indent="0" algn="l">
              <a:lnSpc>
                <a:spcPct val="104000"/>
              </a:lnSpc>
              <a:buNone/>
            </a:pPr>
            <a:r>
              <a:rPr lang="en-GB" sz="1600" noProof="0" dirty="0">
                <a:solidFill>
                  <a:srgbClr val="23303F"/>
                </a:solidFill>
                <a:latin typeface="Calibri" pitchFamily="34" charset="0"/>
                <a:ea typeface="Calibri" pitchFamily="34" charset="-122"/>
                <a:cs typeface="Calibri" pitchFamily="34" charset="-120"/>
              </a:rPr>
              <a:t>No acetowhite area, or only faint, patchy areas without clear margins. Areas far from the transformation zone, nabothian cysts and a thin line at the SCJ are also negative.</a:t>
            </a:r>
            <a:endParaRPr lang="en-GB" sz="1600" dirty="0"/>
          </a:p>
        </p:txBody>
      </p:sp>
      <p:sp>
        <p:nvSpPr>
          <p:cNvPr id="8" name="Shape 8"/>
          <p:cNvSpPr/>
          <p:nvPr/>
        </p:nvSpPr>
        <p:spPr>
          <a:xfrm>
            <a:off x="4312920" y="1450000"/>
            <a:ext cx="3563112" cy="4700000"/>
          </a:xfrm>
          <a:prstGeom prst="roundRect">
            <a:avLst>
              <a:gd name="adj" fmla="val 3000"/>
            </a:avLst>
          </a:prstGeom>
          <a:solidFill>
            <a:srgbClr val="FFF2DF"/>
          </a:solidFill>
          <a:ln w="12700">
            <a:solidFill>
              <a:srgbClr val="E8DDC7"/>
            </a:solidFill>
          </a:ln>
        </p:spPr>
        <p:txBody>
          <a:bodyPr/>
          <a:lstStyle/>
          <a:p>
            <a:endParaRPr lang="en-GB" sz="1600" dirty="0"/>
          </a:p>
        </p:txBody>
      </p:sp>
      <p:sp>
        <p:nvSpPr>
          <p:cNvPr id="10" name="Text 10"/>
          <p:cNvSpPr txBox="1"/>
          <p:nvPr/>
        </p:nvSpPr>
        <p:spPr>
          <a:xfrm>
            <a:off x="4532920" y="1588332"/>
            <a:ext cx="3123112" cy="500000"/>
          </a:xfrm>
          <a:prstGeom prst="rect">
            <a:avLst/>
          </a:prstGeom>
          <a:noFill/>
          <a:ln/>
        </p:spPr>
        <p:txBody>
          <a:bodyPr wrap="square" lIns="0" tIns="0" rIns="0" bIns="0" rtlCol="0" anchor="ctr"/>
          <a:lstStyle/>
          <a:p>
            <a:pPr marL="0" indent="0" algn="l">
              <a:buNone/>
            </a:pPr>
            <a:r>
              <a:rPr lang="en-GB" sz="1900" b="1" noProof="0" dirty="0">
                <a:solidFill>
                  <a:srgbClr val="7B5727"/>
                </a:solidFill>
                <a:latin typeface="Calibri" pitchFamily="34" charset="0"/>
                <a:ea typeface="Calibri" pitchFamily="34" charset="-122"/>
                <a:cs typeface="Calibri" pitchFamily="34" charset="-120"/>
              </a:rPr>
              <a:t>🟠  VIA positive</a:t>
            </a:r>
            <a:endParaRPr lang="en-GB" sz="1900" dirty="0"/>
          </a:p>
        </p:txBody>
      </p:sp>
      <p:sp>
        <p:nvSpPr>
          <p:cNvPr id="11" name="Text 11"/>
          <p:cNvSpPr txBox="1"/>
          <p:nvPr/>
        </p:nvSpPr>
        <p:spPr>
          <a:xfrm>
            <a:off x="4532920" y="2138332"/>
            <a:ext cx="3123112" cy="2350000"/>
          </a:xfrm>
          <a:prstGeom prst="rect">
            <a:avLst/>
          </a:prstGeom>
          <a:noFill/>
          <a:ln/>
        </p:spPr>
        <p:txBody>
          <a:bodyPr wrap="square" lIns="0" tIns="0" rIns="0" bIns="0" rtlCol="0" anchor="t"/>
          <a:lstStyle/>
          <a:p>
            <a:pPr marL="0" indent="0" algn="l">
              <a:lnSpc>
                <a:spcPct val="104000"/>
              </a:lnSpc>
              <a:buNone/>
            </a:pPr>
            <a:r>
              <a:rPr lang="en-GB" sz="1600" noProof="0" dirty="0">
                <a:solidFill>
                  <a:srgbClr val="23303F"/>
                </a:solidFill>
                <a:latin typeface="Calibri" pitchFamily="34" charset="0"/>
                <a:ea typeface="Calibri" pitchFamily="34" charset="-122"/>
                <a:cs typeface="Calibri" pitchFamily="34" charset="-120"/>
              </a:rPr>
              <a:t>A distinct, opaque acetowhite area with well-defined margins, in the transformation zone and touching the SCJ.</a:t>
            </a:r>
            <a:endParaRPr lang="en-GB" sz="1600" dirty="0"/>
          </a:p>
        </p:txBody>
      </p:sp>
      <p:sp>
        <p:nvSpPr>
          <p:cNvPr id="12" name="Shape 12"/>
          <p:cNvSpPr/>
          <p:nvPr/>
        </p:nvSpPr>
        <p:spPr>
          <a:xfrm>
            <a:off x="8058912" y="1450000"/>
            <a:ext cx="3563112" cy="4700000"/>
          </a:xfrm>
          <a:prstGeom prst="roundRect">
            <a:avLst>
              <a:gd name="adj" fmla="val 3000"/>
            </a:avLst>
          </a:prstGeom>
          <a:solidFill>
            <a:srgbClr val="FDE9E8"/>
          </a:solidFill>
          <a:ln w="12700">
            <a:solidFill>
              <a:srgbClr val="F0CFCE"/>
            </a:solidFill>
          </a:ln>
        </p:spPr>
        <p:txBody>
          <a:bodyPr/>
          <a:lstStyle/>
          <a:p>
            <a:endParaRPr lang="en-GB" sz="1600" dirty="0"/>
          </a:p>
        </p:txBody>
      </p:sp>
      <p:sp>
        <p:nvSpPr>
          <p:cNvPr id="14" name="Text 14"/>
          <p:cNvSpPr txBox="1"/>
          <p:nvPr/>
        </p:nvSpPr>
        <p:spPr>
          <a:xfrm>
            <a:off x="8278912" y="1588332"/>
            <a:ext cx="3123112" cy="500000"/>
          </a:xfrm>
          <a:prstGeom prst="rect">
            <a:avLst/>
          </a:prstGeom>
          <a:noFill/>
          <a:ln/>
        </p:spPr>
        <p:txBody>
          <a:bodyPr wrap="square" lIns="0" tIns="0" rIns="0" bIns="0" rtlCol="0" anchor="ctr"/>
          <a:lstStyle/>
          <a:p>
            <a:pPr marL="0" indent="0" algn="l">
              <a:buNone/>
            </a:pPr>
            <a:r>
              <a:rPr lang="en-GB" sz="1900" b="1" noProof="0" dirty="0">
                <a:solidFill>
                  <a:srgbClr val="8E2531"/>
                </a:solidFill>
                <a:latin typeface="Calibri" pitchFamily="34" charset="0"/>
                <a:ea typeface="Calibri" pitchFamily="34" charset="-122"/>
                <a:cs typeface="Calibri" pitchFamily="34" charset="-120"/>
              </a:rPr>
              <a:t>🔴  Suspected cancer</a:t>
            </a:r>
            <a:endParaRPr lang="en-GB" sz="1900" dirty="0"/>
          </a:p>
        </p:txBody>
      </p:sp>
      <p:sp>
        <p:nvSpPr>
          <p:cNvPr id="15" name="Text 15"/>
          <p:cNvSpPr txBox="1"/>
          <p:nvPr/>
        </p:nvSpPr>
        <p:spPr>
          <a:xfrm>
            <a:off x="8278912" y="2138332"/>
            <a:ext cx="3123112" cy="2350000"/>
          </a:xfrm>
          <a:prstGeom prst="rect">
            <a:avLst/>
          </a:prstGeom>
          <a:noFill/>
          <a:ln/>
        </p:spPr>
        <p:txBody>
          <a:bodyPr wrap="square" lIns="0" tIns="0" rIns="0" bIns="0" rtlCol="0" anchor="t"/>
          <a:lstStyle/>
          <a:p>
            <a:pPr marL="0" indent="0" algn="l">
              <a:lnSpc>
                <a:spcPct val="104000"/>
              </a:lnSpc>
              <a:buNone/>
            </a:pPr>
            <a:r>
              <a:rPr lang="en-GB" sz="1600" noProof="0" dirty="0">
                <a:solidFill>
                  <a:srgbClr val="23303F"/>
                </a:solidFill>
                <a:latin typeface="Calibri" pitchFamily="34" charset="0"/>
                <a:ea typeface="Calibri" pitchFamily="34" charset="-122"/>
                <a:cs typeface="Calibri" pitchFamily="34" charset="-120"/>
              </a:rPr>
              <a:t>A cauliflower-like growth, fungating mass or ulcer. It may bleed on touch, so an acetowhite change may not be visible.</a:t>
            </a:r>
            <a:endParaRPr lang="en-GB" sz="1600" dirty="0"/>
          </a:p>
        </p:txBody>
      </p:sp>
      <p:sp>
        <p:nvSpPr>
          <p:cNvPr id="16" name="Text 16"/>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17" name="Text 17"/>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89</a:t>
            </a:r>
            <a:endParaRPr lang="en-GB" sz="1100" dirty="0"/>
          </a:p>
        </p:txBody>
      </p:sp>
      <p:pic>
        <p:nvPicPr>
          <p:cNvPr id="19" name="Imagen 18">
            <a:extLst>
              <a:ext uri="{FF2B5EF4-FFF2-40B4-BE49-F238E27FC236}">
                <a16:creationId xmlns:a16="http://schemas.microsoft.com/office/drawing/2014/main" id="{077574B1-AB84-BC57-E427-D64035E640D1}"/>
              </a:ext>
            </a:extLst>
          </p:cNvPr>
          <p:cNvPicPr>
            <a:picLocks noChangeAspect="1"/>
          </p:cNvPicPr>
          <p:nvPr/>
        </p:nvPicPr>
        <p:blipFill>
          <a:blip r:embed="rId2"/>
          <a:srcRect l="29094" t="10746" r="28140" b="8373"/>
          <a:stretch>
            <a:fillRect/>
          </a:stretch>
        </p:blipFill>
        <p:spPr>
          <a:xfrm>
            <a:off x="1078253" y="3579429"/>
            <a:ext cx="2356089" cy="2227965"/>
          </a:xfrm>
          <a:prstGeom prst="rect">
            <a:avLst/>
          </a:prstGeom>
        </p:spPr>
      </p:pic>
      <p:pic>
        <p:nvPicPr>
          <p:cNvPr id="21" name="Imagen 20">
            <a:extLst>
              <a:ext uri="{FF2B5EF4-FFF2-40B4-BE49-F238E27FC236}">
                <a16:creationId xmlns:a16="http://schemas.microsoft.com/office/drawing/2014/main" id="{272F9A4B-826A-D868-DB61-4475BE5D1DD2}"/>
              </a:ext>
            </a:extLst>
          </p:cNvPr>
          <p:cNvPicPr>
            <a:picLocks noChangeAspect="1"/>
          </p:cNvPicPr>
          <p:nvPr/>
        </p:nvPicPr>
        <p:blipFill>
          <a:blip r:embed="rId3"/>
          <a:srcRect l="13002" t="13513" r="12943" b="12973"/>
          <a:stretch>
            <a:fillRect/>
          </a:stretch>
        </p:blipFill>
        <p:spPr>
          <a:xfrm>
            <a:off x="4911852" y="3558755"/>
            <a:ext cx="2286000" cy="2269314"/>
          </a:xfrm>
          <a:prstGeom prst="rect">
            <a:avLst/>
          </a:prstGeom>
        </p:spPr>
      </p:pic>
      <p:pic>
        <p:nvPicPr>
          <p:cNvPr id="23" name="Imagen 22">
            <a:extLst>
              <a:ext uri="{FF2B5EF4-FFF2-40B4-BE49-F238E27FC236}">
                <a16:creationId xmlns:a16="http://schemas.microsoft.com/office/drawing/2014/main" id="{849E58E8-D11D-2ED3-DF11-97003F9D1EC5}"/>
              </a:ext>
            </a:extLst>
          </p:cNvPr>
          <p:cNvPicPr>
            <a:picLocks noChangeAspect="1"/>
          </p:cNvPicPr>
          <p:nvPr/>
        </p:nvPicPr>
        <p:blipFill>
          <a:blip r:embed="rId4"/>
          <a:srcRect l="13856" t="17117" r="14373" b="14350"/>
          <a:stretch>
            <a:fillRect/>
          </a:stretch>
        </p:blipFill>
        <p:spPr>
          <a:xfrm>
            <a:off x="8754717" y="3492257"/>
            <a:ext cx="2424486" cy="2315137"/>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2 · VIA</a:t>
            </a:r>
            <a:endParaRPr lang="en-GB" sz="1200" dirty="0"/>
          </a:p>
        </p:txBody>
      </p:sp>
      <p:sp>
        <p:nvSpPr>
          <p:cNvPr id="3" name="Text 3"/>
          <p:cNvSpPr txBox="1"/>
          <p:nvPr/>
        </p:nvSpPr>
        <p:spPr>
          <a:xfrm>
            <a:off x="566928" y="318798"/>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Not every white area is VIA-positive</a:t>
            </a:r>
          </a:p>
        </p:txBody>
      </p:sp>
      <p:sp>
        <p:nvSpPr>
          <p:cNvPr id="4" name="Shape 4"/>
          <p:cNvSpPr/>
          <p:nvPr/>
        </p:nvSpPr>
        <p:spPr>
          <a:xfrm>
            <a:off x="566928" y="1128718"/>
            <a:ext cx="4206611" cy="2385796"/>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5" name="Text 5"/>
          <p:cNvSpPr txBox="1"/>
          <p:nvPr/>
        </p:nvSpPr>
        <p:spPr>
          <a:xfrm>
            <a:off x="822960" y="1248718"/>
            <a:ext cx="4924044" cy="520000"/>
          </a:xfrm>
          <a:prstGeom prst="rect">
            <a:avLst/>
          </a:prstGeom>
          <a:noFill/>
          <a:ln/>
        </p:spPr>
        <p:txBody>
          <a:bodyPr wrap="square" lIns="0" tIns="0" rIns="0" bIns="0" rtlCol="0" anchor="ctr"/>
          <a:lstStyle/>
          <a:p>
            <a:pPr marL="0" indent="0" algn="l">
              <a:buNone/>
            </a:pPr>
            <a:r>
              <a:rPr lang="en-GB" sz="2000" b="1" noProof="0" dirty="0">
                <a:solidFill>
                  <a:srgbClr val="10305A"/>
                </a:solidFill>
                <a:latin typeface="Calibri" pitchFamily="34" charset="0"/>
                <a:ea typeface="Calibri" pitchFamily="34" charset="-122"/>
                <a:cs typeface="Calibri" pitchFamily="34" charset="-120"/>
              </a:rPr>
              <a:t>🔎  Insignificant acetowhite changes</a:t>
            </a:r>
            <a:endParaRPr lang="en-GB" sz="2000" dirty="0"/>
          </a:p>
        </p:txBody>
      </p:sp>
      <p:sp>
        <p:nvSpPr>
          <p:cNvPr id="6" name="Text 6"/>
          <p:cNvSpPr txBox="1"/>
          <p:nvPr/>
        </p:nvSpPr>
        <p:spPr>
          <a:xfrm>
            <a:off x="822960" y="1828718"/>
            <a:ext cx="4924044" cy="1744099"/>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A thin line at the edge of the canal</a:t>
            </a:r>
            <a:endParaRPr lang="en-GB" sz="1600" dirty="0"/>
          </a:p>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Faint areas without a sharp outline</a:t>
            </a:r>
            <a:endParaRPr lang="en-GB" sz="1600" dirty="0"/>
          </a:p>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Areas far away from the SCJ</a:t>
            </a:r>
            <a:endParaRPr lang="en-GB" sz="1600" dirty="0"/>
          </a:p>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Dot-like or streak-like pale areas</a:t>
            </a:r>
            <a:endParaRPr lang="en-GB" sz="1600" dirty="0"/>
          </a:p>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Nabothian cysts</a:t>
            </a:r>
            <a:endParaRPr lang="en-GB" sz="1600" dirty="0"/>
          </a:p>
        </p:txBody>
      </p:sp>
      <p:sp>
        <p:nvSpPr>
          <p:cNvPr id="7" name="Shape 7"/>
          <p:cNvSpPr/>
          <p:nvPr/>
        </p:nvSpPr>
        <p:spPr>
          <a:xfrm>
            <a:off x="5029571" y="1128718"/>
            <a:ext cx="6592453" cy="2385796"/>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8" name="Text 8"/>
          <p:cNvSpPr txBox="1"/>
          <p:nvPr/>
        </p:nvSpPr>
        <p:spPr>
          <a:xfrm>
            <a:off x="5325762" y="1248718"/>
            <a:ext cx="6040230" cy="520000"/>
          </a:xfrm>
          <a:prstGeom prst="rect">
            <a:avLst/>
          </a:prstGeom>
          <a:noFill/>
          <a:ln/>
        </p:spPr>
        <p:txBody>
          <a:bodyPr wrap="square" lIns="0" tIns="0" rIns="0" bIns="0" rtlCol="0" anchor="ctr"/>
          <a:lstStyle/>
          <a:p>
            <a:pPr marL="0" indent="0" algn="l">
              <a:buNone/>
            </a:pPr>
            <a:r>
              <a:rPr lang="en-GB" sz="2000" b="1" noProof="0" dirty="0">
                <a:solidFill>
                  <a:srgbClr val="10305A"/>
                </a:solidFill>
                <a:latin typeface="Calibri" pitchFamily="34" charset="0"/>
                <a:ea typeface="Calibri" pitchFamily="34" charset="-122"/>
                <a:cs typeface="Calibri" pitchFamily="34" charset="-120"/>
              </a:rPr>
              <a:t>🦠  Benign conditions you may see</a:t>
            </a:r>
            <a:endParaRPr lang="en-GB" sz="2000" dirty="0"/>
          </a:p>
        </p:txBody>
      </p:sp>
      <p:sp>
        <p:nvSpPr>
          <p:cNvPr id="9" name="Text 9"/>
          <p:cNvSpPr txBox="1"/>
          <p:nvPr/>
        </p:nvSpPr>
        <p:spPr>
          <a:xfrm>
            <a:off x="5325762" y="1828718"/>
            <a:ext cx="6040230" cy="153534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Cervicitis: diffuse redness and discharge.</a:t>
            </a:r>
            <a:endParaRPr lang="en-GB" sz="1600" dirty="0"/>
          </a:p>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Genital warts: mostly caused by HPV 6 and 11.</a:t>
            </a:r>
            <a:endParaRPr lang="en-GB" sz="1600" dirty="0"/>
          </a:p>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Polyps: soft red growths from the os. Move them to see the SCJ.</a:t>
            </a:r>
            <a:endParaRPr lang="en-GB" sz="1600" dirty="0"/>
          </a:p>
          <a:p>
            <a:pPr marL="285750" indent="-285750" algn="l">
              <a:lnSpc>
                <a:spcPct val="104000"/>
              </a:lnSpc>
              <a:spcAft>
                <a:spcPts val="600"/>
              </a:spcAft>
              <a:buSzPct val="100000"/>
              <a:buChar char="•"/>
            </a:pPr>
            <a:r>
              <a:rPr lang="en-GB" sz="1600" noProof="0" dirty="0">
                <a:solidFill>
                  <a:srgbClr val="23303F"/>
                </a:solidFill>
                <a:latin typeface="Calibri" pitchFamily="34" charset="0"/>
                <a:ea typeface="Calibri" pitchFamily="34" charset="-122"/>
                <a:cs typeface="Calibri" pitchFamily="34" charset="-120"/>
              </a:rPr>
              <a:t>Leukoplakia: a white patch seen before acid. Near the SCJ, refer for colposcopy.</a:t>
            </a:r>
            <a:endParaRPr lang="en-GB" sz="1600" dirty="0"/>
          </a:p>
        </p:txBody>
      </p:sp>
      <p:sp>
        <p:nvSpPr>
          <p:cNvPr id="11" name="Shape 11"/>
          <p:cNvSpPr/>
          <p:nvPr/>
        </p:nvSpPr>
        <p:spPr>
          <a:xfrm>
            <a:off x="566928" y="5931747"/>
            <a:ext cx="11055096" cy="428894"/>
          </a:xfrm>
          <a:prstGeom prst="roundRect">
            <a:avLst>
              <a:gd name="adj" fmla="val 3000"/>
            </a:avLst>
          </a:prstGeom>
          <a:solidFill>
            <a:srgbClr val="FFF2DF"/>
          </a:solidFill>
          <a:ln w="12700">
            <a:solidFill>
              <a:srgbClr val="E8DDC7"/>
            </a:solidFill>
          </a:ln>
        </p:spPr>
        <p:txBody>
          <a:bodyPr/>
          <a:lstStyle/>
          <a:p>
            <a:endParaRPr lang="en-GB" sz="1600" dirty="0"/>
          </a:p>
        </p:txBody>
      </p:sp>
      <p:sp>
        <p:nvSpPr>
          <p:cNvPr id="12" name="Text 12"/>
          <p:cNvSpPr txBox="1"/>
          <p:nvPr/>
        </p:nvSpPr>
        <p:spPr>
          <a:xfrm>
            <a:off x="841248" y="5931747"/>
            <a:ext cx="10506456" cy="378894"/>
          </a:xfrm>
          <a:prstGeom prst="rect">
            <a:avLst/>
          </a:prstGeom>
          <a:noFill/>
          <a:ln/>
        </p:spPr>
        <p:txBody>
          <a:bodyPr wrap="square" lIns="0" tIns="0" rIns="0" bIns="0" rtlCol="0" anchor="ctr"/>
          <a:lstStyle/>
          <a:p>
            <a:pPr marL="0" indent="0" algn="l">
              <a:buNone/>
            </a:pPr>
            <a:r>
              <a:rPr lang="en-GB" sz="1600" b="1" noProof="0" dirty="0">
                <a:solidFill>
                  <a:srgbClr val="7B5727"/>
                </a:solidFill>
                <a:latin typeface="Calibri" pitchFamily="34" charset="0"/>
                <a:ea typeface="Calibri" pitchFamily="34" charset="-122"/>
                <a:cs typeface="Calibri" pitchFamily="34" charset="-120"/>
              </a:rPr>
              <a:t>📌 When unsure:  </a:t>
            </a:r>
            <a:r>
              <a:rPr lang="en-GB" sz="1600" noProof="0" dirty="0">
                <a:solidFill>
                  <a:srgbClr val="23303F"/>
                </a:solidFill>
                <a:latin typeface="Calibri" pitchFamily="34" charset="0"/>
                <a:ea typeface="Calibri" pitchFamily="34" charset="-122"/>
                <a:cs typeface="Calibri" pitchFamily="34" charset="-120"/>
              </a:rPr>
              <a:t>VIA can be hard to read at first. Ask for a second opinion rather than miss a lesion.</a:t>
            </a:r>
            <a:endParaRPr lang="en-GB" sz="1600" dirty="0"/>
          </a:p>
        </p:txBody>
      </p:sp>
      <p:sp>
        <p:nvSpPr>
          <p:cNvPr id="13" name="Text 13"/>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14" name="Text 14"/>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90</a:t>
            </a:r>
            <a:endParaRPr lang="en-GB" sz="1100" dirty="0"/>
          </a:p>
        </p:txBody>
      </p:sp>
      <p:pic>
        <p:nvPicPr>
          <p:cNvPr id="16" name="Imagen 15">
            <a:extLst>
              <a:ext uri="{FF2B5EF4-FFF2-40B4-BE49-F238E27FC236}">
                <a16:creationId xmlns:a16="http://schemas.microsoft.com/office/drawing/2014/main" id="{262BF07F-933D-81F1-FED4-6E7FD890BB62}"/>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20000"/>
                    </a14:imgEffect>
                  </a14:imgLayer>
                </a14:imgProps>
              </a:ext>
            </a:extLst>
          </a:blip>
          <a:srcRect t="7919" b="5277"/>
          <a:stretch>
            <a:fillRect/>
          </a:stretch>
        </p:blipFill>
        <p:spPr>
          <a:xfrm>
            <a:off x="1860804" y="3594228"/>
            <a:ext cx="7772400" cy="2248930"/>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2 · INTERACTIVE</a:t>
            </a:r>
            <a:endParaRPr lang="en-GB"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Classify each VIA finding</a:t>
            </a:r>
          </a:p>
        </p:txBody>
      </p:sp>
      <p:sp>
        <p:nvSpPr>
          <p:cNvPr id="4" name="Text 4"/>
          <p:cNvSpPr txBox="1"/>
          <p:nvPr/>
        </p:nvSpPr>
        <p:spPr>
          <a:xfrm>
            <a:off x="566928" y="1517904"/>
            <a:ext cx="11055096" cy="365760"/>
          </a:xfrm>
          <a:prstGeom prst="rect">
            <a:avLst/>
          </a:prstGeom>
          <a:noFill/>
          <a:ln/>
        </p:spPr>
        <p:txBody>
          <a:bodyPr wrap="square" lIns="0" tIns="0" rIns="0" bIns="0" rtlCol="0" anchor="ctr"/>
          <a:lstStyle/>
          <a:p>
            <a:pPr marL="0" indent="0" algn="l">
              <a:buNone/>
            </a:pPr>
            <a:r>
              <a:rPr lang="en-GB" sz="1800" noProof="0" dirty="0">
                <a:solidFill>
                  <a:srgbClr val="31507B"/>
                </a:solidFill>
                <a:latin typeface="Calibri" pitchFamily="34" charset="0"/>
                <a:ea typeface="Calibri" pitchFamily="34" charset="-122"/>
                <a:cs typeface="Calibri" pitchFamily="34" charset="-120"/>
              </a:rPr>
              <a:t>💬  Drag each finding into the correct column, then select Submit.</a:t>
            </a:r>
            <a:endParaRPr lang="en-GB" sz="1800" dirty="0"/>
          </a:p>
        </p:txBody>
      </p:sp>
      <p:sp>
        <p:nvSpPr>
          <p:cNvPr id="5" name="Shape 5"/>
          <p:cNvSpPr/>
          <p:nvPr/>
        </p:nvSpPr>
        <p:spPr>
          <a:xfrm>
            <a:off x="566928" y="1965960"/>
            <a:ext cx="3563112" cy="3291840"/>
          </a:xfrm>
          <a:prstGeom prst="roundRect">
            <a:avLst>
              <a:gd name="adj" fmla="val 3000"/>
            </a:avLst>
          </a:prstGeom>
          <a:solidFill>
            <a:srgbClr val="EAF7F0"/>
          </a:solidFill>
          <a:ln w="12700">
            <a:solidFill>
              <a:srgbClr val="C0D4CB"/>
            </a:solidFill>
          </a:ln>
        </p:spPr>
        <p:txBody>
          <a:bodyPr/>
          <a:lstStyle/>
          <a:p>
            <a:endParaRPr lang="en-GB" sz="1600" dirty="0"/>
          </a:p>
        </p:txBody>
      </p:sp>
      <p:sp>
        <p:nvSpPr>
          <p:cNvPr id="6" name="Text 6"/>
          <p:cNvSpPr txBox="1"/>
          <p:nvPr/>
        </p:nvSpPr>
        <p:spPr>
          <a:xfrm>
            <a:off x="822960" y="2100000"/>
            <a:ext cx="3051048" cy="520000"/>
          </a:xfrm>
          <a:prstGeom prst="rect">
            <a:avLst/>
          </a:prstGeom>
          <a:noFill/>
          <a:ln/>
        </p:spPr>
        <p:txBody>
          <a:bodyPr wrap="square" lIns="0" tIns="0" rIns="0" bIns="0" rtlCol="0" anchor="ctr"/>
          <a:lstStyle/>
          <a:p>
            <a:pPr marL="0" indent="0" algn="l">
              <a:buNone/>
            </a:pPr>
            <a:r>
              <a:rPr lang="en-GB" sz="2000" b="1" noProof="0" dirty="0">
                <a:solidFill>
                  <a:srgbClr val="19543E"/>
                </a:solidFill>
                <a:latin typeface="Calibri" pitchFamily="34" charset="0"/>
                <a:ea typeface="Calibri" pitchFamily="34" charset="-122"/>
                <a:cs typeface="Calibri" pitchFamily="34" charset="-120"/>
              </a:rPr>
              <a:t>🟢  VIA negative</a:t>
            </a:r>
            <a:endParaRPr lang="en-GB" sz="2000" dirty="0"/>
          </a:p>
        </p:txBody>
      </p:sp>
      <p:sp>
        <p:nvSpPr>
          <p:cNvPr id="7" name="Text 7"/>
          <p:cNvSpPr txBox="1"/>
          <p:nvPr/>
        </p:nvSpPr>
        <p:spPr>
          <a:xfrm>
            <a:off x="822960" y="2700000"/>
            <a:ext cx="3051048" cy="2500000"/>
          </a:xfrm>
          <a:prstGeom prst="rect">
            <a:avLst/>
          </a:prstGeom>
          <a:noFill/>
          <a:ln/>
        </p:spPr>
        <p:txBody>
          <a:bodyPr wrap="square" lIns="0" tIns="0" rIns="0" bIns="0" rtlCol="0" anchor="t"/>
          <a:lstStyle/>
          <a:p>
            <a:pPr marL="285750" indent="-285750" algn="l">
              <a:spcAft>
                <a:spcPts val="800"/>
              </a:spcAft>
              <a:buSzPct val="100000"/>
              <a:buChar char="•"/>
            </a:pPr>
            <a:r>
              <a:rPr lang="en-GB" sz="1700" noProof="0" dirty="0">
                <a:solidFill>
                  <a:srgbClr val="23303F"/>
                </a:solidFill>
                <a:latin typeface="Calibri" pitchFamily="34" charset="0"/>
                <a:ea typeface="Calibri" pitchFamily="34" charset="-122"/>
                <a:cs typeface="Calibri" pitchFamily="34" charset="-120"/>
              </a:rPr>
              <a:t>Faint, patchy whitening without clear margins</a:t>
            </a:r>
            <a:endParaRPr lang="en-GB" sz="1700" dirty="0"/>
          </a:p>
          <a:p>
            <a:pPr marL="285750" indent="-285750" algn="l">
              <a:spcAft>
                <a:spcPts val="800"/>
              </a:spcAft>
              <a:buSzPct val="100000"/>
              <a:buChar char="•"/>
            </a:pPr>
            <a:r>
              <a:rPr lang="en-GB" sz="1700" noProof="0" dirty="0">
                <a:solidFill>
                  <a:srgbClr val="23303F"/>
                </a:solidFill>
                <a:latin typeface="Calibri" pitchFamily="34" charset="0"/>
                <a:ea typeface="Calibri" pitchFamily="34" charset="-122"/>
                <a:cs typeface="Calibri" pitchFamily="34" charset="-120"/>
              </a:rPr>
              <a:t>Thin white line at the SCJ</a:t>
            </a:r>
            <a:endParaRPr lang="en-GB" sz="1700" dirty="0"/>
          </a:p>
          <a:p>
            <a:pPr marL="285750" indent="-285750" algn="l">
              <a:spcAft>
                <a:spcPts val="800"/>
              </a:spcAft>
              <a:buSzPct val="100000"/>
              <a:buChar char="•"/>
            </a:pPr>
            <a:r>
              <a:rPr lang="en-GB" sz="1700" noProof="0" dirty="0">
                <a:solidFill>
                  <a:srgbClr val="23303F"/>
                </a:solidFill>
                <a:latin typeface="Calibri" pitchFamily="34" charset="0"/>
                <a:ea typeface="Calibri" pitchFamily="34" charset="-122"/>
                <a:cs typeface="Calibri" pitchFamily="34" charset="-120"/>
              </a:rPr>
              <a:t>White area far from the transformation zone</a:t>
            </a:r>
            <a:endParaRPr lang="en-GB" sz="1700" dirty="0"/>
          </a:p>
        </p:txBody>
      </p:sp>
      <p:sp>
        <p:nvSpPr>
          <p:cNvPr id="8" name="Shape 8"/>
          <p:cNvSpPr/>
          <p:nvPr/>
        </p:nvSpPr>
        <p:spPr>
          <a:xfrm>
            <a:off x="4312920" y="1965960"/>
            <a:ext cx="3563112" cy="3291840"/>
          </a:xfrm>
          <a:prstGeom prst="roundRect">
            <a:avLst>
              <a:gd name="adj" fmla="val 3000"/>
            </a:avLst>
          </a:prstGeom>
          <a:solidFill>
            <a:srgbClr val="FFF2DF"/>
          </a:solidFill>
          <a:ln w="12700">
            <a:solidFill>
              <a:srgbClr val="E8DDC7"/>
            </a:solidFill>
          </a:ln>
        </p:spPr>
        <p:txBody>
          <a:bodyPr/>
          <a:lstStyle/>
          <a:p>
            <a:endParaRPr lang="en-GB" sz="1600" dirty="0"/>
          </a:p>
        </p:txBody>
      </p:sp>
      <p:sp>
        <p:nvSpPr>
          <p:cNvPr id="9" name="Text 9"/>
          <p:cNvSpPr txBox="1"/>
          <p:nvPr/>
        </p:nvSpPr>
        <p:spPr>
          <a:xfrm>
            <a:off x="4568952" y="2100000"/>
            <a:ext cx="3051048" cy="520000"/>
          </a:xfrm>
          <a:prstGeom prst="rect">
            <a:avLst/>
          </a:prstGeom>
          <a:noFill/>
          <a:ln/>
        </p:spPr>
        <p:txBody>
          <a:bodyPr wrap="square" lIns="0" tIns="0" rIns="0" bIns="0" rtlCol="0" anchor="ctr"/>
          <a:lstStyle/>
          <a:p>
            <a:pPr marL="0" indent="0" algn="l">
              <a:buNone/>
            </a:pPr>
            <a:r>
              <a:rPr lang="en-GB" sz="2000" b="1" noProof="0" dirty="0">
                <a:solidFill>
                  <a:srgbClr val="7B5727"/>
                </a:solidFill>
                <a:latin typeface="Calibri" pitchFamily="34" charset="0"/>
                <a:ea typeface="Calibri" pitchFamily="34" charset="-122"/>
                <a:cs typeface="Calibri" pitchFamily="34" charset="-120"/>
              </a:rPr>
              <a:t>🟠  VIA positive</a:t>
            </a:r>
            <a:endParaRPr lang="en-GB" sz="2000" dirty="0"/>
          </a:p>
        </p:txBody>
      </p:sp>
      <p:sp>
        <p:nvSpPr>
          <p:cNvPr id="10" name="Text 10"/>
          <p:cNvSpPr txBox="1"/>
          <p:nvPr/>
        </p:nvSpPr>
        <p:spPr>
          <a:xfrm>
            <a:off x="4568952" y="2700000"/>
            <a:ext cx="3051048" cy="2500000"/>
          </a:xfrm>
          <a:prstGeom prst="rect">
            <a:avLst/>
          </a:prstGeom>
          <a:noFill/>
          <a:ln/>
        </p:spPr>
        <p:txBody>
          <a:bodyPr wrap="square" lIns="0" tIns="0" rIns="0" bIns="0" rtlCol="0" anchor="t"/>
          <a:lstStyle/>
          <a:p>
            <a:pPr marL="285750" indent="-285750" algn="l">
              <a:spcAft>
                <a:spcPts val="800"/>
              </a:spcAft>
              <a:buSzPct val="100000"/>
              <a:buChar char="•"/>
            </a:pPr>
            <a:r>
              <a:rPr lang="en-GB" sz="1700" noProof="0" dirty="0">
                <a:solidFill>
                  <a:srgbClr val="23303F"/>
                </a:solidFill>
                <a:latin typeface="Calibri" pitchFamily="34" charset="0"/>
                <a:ea typeface="Calibri" pitchFamily="34" charset="-122"/>
                <a:cs typeface="Calibri" pitchFamily="34" charset="-120"/>
              </a:rPr>
              <a:t>Dense white area with sharp margins, touching the SCJ</a:t>
            </a:r>
            <a:endParaRPr lang="en-GB" sz="1700" dirty="0"/>
          </a:p>
          <a:p>
            <a:pPr marL="285750" indent="-285750" algn="l">
              <a:spcAft>
                <a:spcPts val="800"/>
              </a:spcAft>
              <a:buSzPct val="100000"/>
              <a:buChar char="•"/>
            </a:pPr>
            <a:r>
              <a:rPr lang="en-GB" sz="1700" noProof="0" dirty="0">
                <a:solidFill>
                  <a:srgbClr val="23303F"/>
                </a:solidFill>
                <a:latin typeface="Calibri" pitchFamily="34" charset="0"/>
                <a:ea typeface="Calibri" pitchFamily="34" charset="-122"/>
                <a:cs typeface="Calibri" pitchFamily="34" charset="-120"/>
              </a:rPr>
              <a:t>Opaque acetowhite lesion covering one quadrant</a:t>
            </a:r>
            <a:endParaRPr lang="en-GB" sz="1700" dirty="0"/>
          </a:p>
        </p:txBody>
      </p:sp>
      <p:sp>
        <p:nvSpPr>
          <p:cNvPr id="11" name="Shape 11"/>
          <p:cNvSpPr/>
          <p:nvPr/>
        </p:nvSpPr>
        <p:spPr>
          <a:xfrm>
            <a:off x="8058912" y="1965960"/>
            <a:ext cx="3563112" cy="3291840"/>
          </a:xfrm>
          <a:prstGeom prst="roundRect">
            <a:avLst>
              <a:gd name="adj" fmla="val 3000"/>
            </a:avLst>
          </a:prstGeom>
          <a:solidFill>
            <a:srgbClr val="FDE9E8"/>
          </a:solidFill>
          <a:ln w="12700">
            <a:solidFill>
              <a:srgbClr val="F0CFCE"/>
            </a:solidFill>
          </a:ln>
        </p:spPr>
        <p:txBody>
          <a:bodyPr/>
          <a:lstStyle/>
          <a:p>
            <a:endParaRPr lang="en-GB" sz="1600" dirty="0"/>
          </a:p>
        </p:txBody>
      </p:sp>
      <p:sp>
        <p:nvSpPr>
          <p:cNvPr id="12" name="Text 12"/>
          <p:cNvSpPr txBox="1"/>
          <p:nvPr/>
        </p:nvSpPr>
        <p:spPr>
          <a:xfrm>
            <a:off x="8314944" y="2100000"/>
            <a:ext cx="3051048" cy="520000"/>
          </a:xfrm>
          <a:prstGeom prst="rect">
            <a:avLst/>
          </a:prstGeom>
          <a:noFill/>
          <a:ln/>
        </p:spPr>
        <p:txBody>
          <a:bodyPr wrap="square" lIns="0" tIns="0" rIns="0" bIns="0" rtlCol="0" anchor="ctr"/>
          <a:lstStyle/>
          <a:p>
            <a:pPr marL="0" indent="0" algn="l">
              <a:buNone/>
            </a:pPr>
            <a:r>
              <a:rPr lang="en-GB" sz="2000" b="1" noProof="0" dirty="0">
                <a:solidFill>
                  <a:srgbClr val="8E2531"/>
                </a:solidFill>
                <a:latin typeface="Calibri" pitchFamily="34" charset="0"/>
                <a:ea typeface="Calibri" pitchFamily="34" charset="-122"/>
                <a:cs typeface="Calibri" pitchFamily="34" charset="-120"/>
              </a:rPr>
              <a:t>🔴  Suspected cancer</a:t>
            </a:r>
            <a:endParaRPr lang="en-GB" sz="2000" dirty="0"/>
          </a:p>
        </p:txBody>
      </p:sp>
      <p:sp>
        <p:nvSpPr>
          <p:cNvPr id="13" name="Text 13"/>
          <p:cNvSpPr txBox="1"/>
          <p:nvPr/>
        </p:nvSpPr>
        <p:spPr>
          <a:xfrm>
            <a:off x="8314944" y="2700000"/>
            <a:ext cx="3051048" cy="2500000"/>
          </a:xfrm>
          <a:prstGeom prst="rect">
            <a:avLst/>
          </a:prstGeom>
          <a:noFill/>
          <a:ln/>
        </p:spPr>
        <p:txBody>
          <a:bodyPr wrap="square" lIns="0" tIns="0" rIns="0" bIns="0" rtlCol="0" anchor="t"/>
          <a:lstStyle/>
          <a:p>
            <a:pPr marL="285750" indent="-285750" algn="l">
              <a:spcAft>
                <a:spcPts val="800"/>
              </a:spcAft>
              <a:buSzPct val="100000"/>
              <a:buChar char="•"/>
            </a:pPr>
            <a:r>
              <a:rPr lang="en-GB" sz="1700" noProof="0" dirty="0">
                <a:solidFill>
                  <a:srgbClr val="23303F"/>
                </a:solidFill>
                <a:latin typeface="Calibri" pitchFamily="34" charset="0"/>
                <a:ea typeface="Calibri" pitchFamily="34" charset="-122"/>
                <a:cs typeface="Calibri" pitchFamily="34" charset="-120"/>
              </a:rPr>
              <a:t>Friable growth that bleeds on touch</a:t>
            </a:r>
            <a:endParaRPr lang="en-GB" sz="1700" dirty="0"/>
          </a:p>
          <a:p>
            <a:pPr marL="285750" indent="-285750" algn="l">
              <a:spcAft>
                <a:spcPts val="800"/>
              </a:spcAft>
              <a:buSzPct val="100000"/>
              <a:buChar char="•"/>
            </a:pPr>
            <a:r>
              <a:rPr lang="en-GB" sz="1700" noProof="0" dirty="0">
                <a:solidFill>
                  <a:srgbClr val="23303F"/>
                </a:solidFill>
                <a:latin typeface="Calibri" pitchFamily="34" charset="0"/>
                <a:ea typeface="Calibri" pitchFamily="34" charset="-122"/>
                <a:cs typeface="Calibri" pitchFamily="34" charset="-120"/>
              </a:rPr>
              <a:t>Cauliflower-like mass replacing the cervix</a:t>
            </a:r>
            <a:endParaRPr lang="en-GB" sz="1700" dirty="0"/>
          </a:p>
        </p:txBody>
      </p:sp>
      <p:sp>
        <p:nvSpPr>
          <p:cNvPr id="14" name="Shape 14"/>
          <p:cNvSpPr/>
          <p:nvPr/>
        </p:nvSpPr>
        <p:spPr>
          <a:xfrm>
            <a:off x="566928" y="5358384"/>
            <a:ext cx="11055096" cy="850000"/>
          </a:xfrm>
          <a:prstGeom prst="roundRect">
            <a:avLst>
              <a:gd name="adj" fmla="val 3000"/>
            </a:avLst>
          </a:prstGeom>
          <a:solidFill>
            <a:srgbClr val="EAF7F0"/>
          </a:solidFill>
          <a:ln w="12700">
            <a:solidFill>
              <a:srgbClr val="C0D4CB"/>
            </a:solidFill>
          </a:ln>
        </p:spPr>
        <p:txBody>
          <a:bodyPr/>
          <a:lstStyle/>
          <a:p>
            <a:endParaRPr lang="en-GB" sz="1600" dirty="0"/>
          </a:p>
        </p:txBody>
      </p:sp>
      <p:sp>
        <p:nvSpPr>
          <p:cNvPr id="15" name="Text 15"/>
          <p:cNvSpPr txBox="1"/>
          <p:nvPr/>
        </p:nvSpPr>
        <p:spPr>
          <a:xfrm>
            <a:off x="841248" y="5408384"/>
            <a:ext cx="10506456" cy="750000"/>
          </a:xfrm>
          <a:prstGeom prst="rect">
            <a:avLst/>
          </a:prstGeom>
          <a:noFill/>
          <a:ln/>
        </p:spPr>
        <p:txBody>
          <a:bodyPr wrap="square" lIns="0" tIns="0" rIns="0" bIns="0" rtlCol="0" anchor="ctr"/>
          <a:lstStyle/>
          <a:p>
            <a:pPr marL="0" indent="0" algn="l">
              <a:buNone/>
            </a:pPr>
            <a:r>
              <a:rPr lang="en-GB" sz="1600" b="1" noProof="0" dirty="0">
                <a:solidFill>
                  <a:srgbClr val="19543E"/>
                </a:solidFill>
                <a:latin typeface="Calibri" pitchFamily="34" charset="0"/>
                <a:ea typeface="Calibri" pitchFamily="34" charset="-122"/>
                <a:cs typeface="Calibri" pitchFamily="34" charset="-120"/>
              </a:rPr>
              <a:t>✅ Feedback:  </a:t>
            </a:r>
            <a:r>
              <a:rPr lang="en-GB" sz="1600" noProof="0" dirty="0">
                <a:solidFill>
                  <a:srgbClr val="23303F"/>
                </a:solidFill>
                <a:latin typeface="Calibri" pitchFamily="34" charset="0"/>
                <a:ea typeface="Calibri" pitchFamily="34" charset="-122"/>
                <a:cs typeface="Calibri" pitchFamily="34" charset="-120"/>
              </a:rPr>
              <a:t>Only a distinct, well-defined acetowhite area in the transformation zone, touching the SCJ, is VIA-positive. A growth or ulcer is suspected cancer, whatever its colour.</a:t>
            </a:r>
            <a:endParaRPr lang="en-GB" sz="1600" dirty="0"/>
          </a:p>
        </p:txBody>
      </p:sp>
      <p:sp>
        <p:nvSpPr>
          <p:cNvPr id="16" name="Text 16"/>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17" name="Text 17"/>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91</a:t>
            </a:r>
            <a:endParaRPr lang="en-GB" sz="11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2 · MANAGEMENT</a:t>
            </a:r>
            <a:endParaRPr lang="en-GB"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2800" b="1" noProof="0" dirty="0">
                <a:solidFill>
                  <a:srgbClr val="10305A"/>
                </a:solidFill>
                <a:latin typeface="Cambria" pitchFamily="34" charset="0"/>
                <a:ea typeface="Cambria" pitchFamily="34" charset="-122"/>
                <a:cs typeface="Cambria" pitchFamily="34" charset="-120"/>
              </a:rPr>
              <a:t>Managing results: general population (HIV-negative)</a:t>
            </a:r>
          </a:p>
        </p:txBody>
      </p:sp>
      <p:sp>
        <p:nvSpPr>
          <p:cNvPr id="4" name="Shape 4"/>
          <p:cNvSpPr/>
          <p:nvPr/>
        </p:nvSpPr>
        <p:spPr>
          <a:xfrm>
            <a:off x="566928" y="2300000"/>
            <a:ext cx="1750000" cy="1500000"/>
          </a:xfrm>
          <a:prstGeom prst="roundRect">
            <a:avLst>
              <a:gd name="adj" fmla="val 8000"/>
            </a:avLst>
          </a:prstGeom>
          <a:solidFill>
            <a:srgbClr val="1F4E96"/>
          </a:solidFill>
          <a:ln w="12700">
            <a:solidFill>
              <a:srgbClr val="1F4E96"/>
            </a:solidFill>
          </a:ln>
        </p:spPr>
        <p:txBody>
          <a:bodyPr wrap="square" lIns="54864" tIns="54864" rIns="54864" bIns="54864" rtlCol="0" anchor="ctr"/>
          <a:lstStyle/>
          <a:p>
            <a:pPr marL="0" indent="0" algn="ctr">
              <a:buNone/>
            </a:pPr>
            <a:r>
              <a:rPr lang="en-GB" sz="1600" b="1" noProof="0" dirty="0">
                <a:solidFill>
                  <a:srgbClr val="FFFFFF"/>
                </a:solidFill>
                <a:latin typeface="Calibri" pitchFamily="34" charset="0"/>
                <a:ea typeface="Calibri" pitchFamily="34" charset="-122"/>
                <a:cs typeface="Calibri" pitchFamily="34" charset="-120"/>
              </a:rPr>
              <a:t>HPV DNA test</a:t>
            </a:r>
            <a:endParaRPr lang="en-GB" sz="1600" dirty="0"/>
          </a:p>
          <a:p>
            <a:pPr marL="0" indent="0" algn="ctr">
              <a:buNone/>
            </a:pPr>
            <a:r>
              <a:rPr lang="en-GB" sz="1300" noProof="0" dirty="0">
                <a:solidFill>
                  <a:srgbClr val="FFFFFF"/>
                </a:solidFill>
                <a:latin typeface="Calibri" pitchFamily="34" charset="0"/>
                <a:ea typeface="Calibri" pitchFamily="34" charset="-122"/>
                <a:cs typeface="Calibri" pitchFamily="34" charset="-120"/>
              </a:rPr>
              <a:t>Priority age 30 to 49</a:t>
            </a:r>
            <a:endParaRPr lang="en-GB" sz="1300" dirty="0"/>
          </a:p>
        </p:txBody>
      </p:sp>
      <p:sp>
        <p:nvSpPr>
          <p:cNvPr id="5" name="Shape 5"/>
          <p:cNvSpPr/>
          <p:nvPr/>
        </p:nvSpPr>
        <p:spPr>
          <a:xfrm>
            <a:off x="2616928" y="1450000"/>
            <a:ext cx="1900000" cy="560000"/>
          </a:xfrm>
          <a:prstGeom prst="roundRect">
            <a:avLst>
              <a:gd name="adj" fmla="val 8000"/>
            </a:avLst>
          </a:prstGeom>
          <a:solidFill>
            <a:srgbClr val="EAF7F0"/>
          </a:solidFill>
          <a:ln w="12700">
            <a:solidFill>
              <a:srgbClr val="C0D4CB"/>
            </a:solidFill>
          </a:ln>
        </p:spPr>
        <p:txBody>
          <a:bodyPr wrap="square" lIns="54864" tIns="54864" rIns="54864" bIns="54864" rtlCol="0" anchor="ctr"/>
          <a:lstStyle/>
          <a:p>
            <a:pPr marL="0" indent="0" algn="ctr">
              <a:buNone/>
            </a:pPr>
            <a:r>
              <a:rPr lang="en-GB" sz="1500" b="1" noProof="0" dirty="0">
                <a:solidFill>
                  <a:srgbClr val="19543E"/>
                </a:solidFill>
                <a:latin typeface="Calibri" pitchFamily="34" charset="0"/>
                <a:ea typeface="Calibri" pitchFamily="34" charset="-122"/>
                <a:cs typeface="Calibri" pitchFamily="34" charset="-120"/>
              </a:rPr>
              <a:t>HPV negative</a:t>
            </a:r>
            <a:endParaRPr lang="en-GB" sz="1500" dirty="0"/>
          </a:p>
        </p:txBody>
      </p:sp>
      <p:sp>
        <p:nvSpPr>
          <p:cNvPr id="6" name="Shape 6"/>
          <p:cNvSpPr/>
          <p:nvPr/>
        </p:nvSpPr>
        <p:spPr>
          <a:xfrm>
            <a:off x="4866928" y="1450000"/>
            <a:ext cx="6755096" cy="560000"/>
          </a:xfrm>
          <a:prstGeom prst="roundRect">
            <a:avLst>
              <a:gd name="adj" fmla="val 8000"/>
            </a:avLst>
          </a:prstGeom>
          <a:solidFill>
            <a:srgbClr val="ECF3FD"/>
          </a:solidFill>
          <a:ln w="12700">
            <a:solidFill>
              <a:srgbClr val="E0E3EA"/>
            </a:solidFill>
          </a:ln>
        </p:spPr>
        <p:txBody>
          <a:bodyPr wrap="square" lIns="54864" tIns="54864" rIns="54864" bIns="54864" rtlCol="0" anchor="ctr"/>
          <a:lstStyle/>
          <a:p>
            <a:pPr marL="0" indent="0" algn="ctr">
              <a:buNone/>
            </a:pPr>
            <a:r>
              <a:rPr lang="en-GB" sz="1500" noProof="0" dirty="0">
                <a:solidFill>
                  <a:srgbClr val="23303F"/>
                </a:solidFill>
                <a:latin typeface="Calibri" pitchFamily="34" charset="0"/>
                <a:ea typeface="Calibri" pitchFamily="34" charset="-122"/>
                <a:cs typeface="Calibri" pitchFamily="34" charset="-120"/>
              </a:rPr>
              <a:t>Rescreen with an HPV test after 10 years</a:t>
            </a:r>
            <a:endParaRPr lang="en-GB" sz="1500" dirty="0"/>
          </a:p>
        </p:txBody>
      </p:sp>
      <p:cxnSp>
        <p:nvCxnSpPr>
          <p:cNvPr id="7" name="Connector 7"/>
          <p:cNvCxnSpPr/>
          <p:nvPr/>
        </p:nvCxnSpPr>
        <p:spPr>
          <a:xfrm>
            <a:off x="4516928" y="1730000"/>
            <a:ext cx="350000" cy="0"/>
          </a:xfrm>
          <a:prstGeom prst="straightConnector1">
            <a:avLst/>
          </a:prstGeom>
          <a:ln w="19050">
            <a:solidFill>
              <a:srgbClr val="31507B"/>
            </a:solidFill>
            <a:tailEnd type="triangle" w="med" len="med"/>
          </a:ln>
        </p:spPr>
      </p:cxnSp>
      <p:sp>
        <p:nvSpPr>
          <p:cNvPr id="8" name="Shape 8"/>
          <p:cNvSpPr/>
          <p:nvPr/>
        </p:nvSpPr>
        <p:spPr>
          <a:xfrm>
            <a:off x="2616928" y="3290000"/>
            <a:ext cx="1900000" cy="900000"/>
          </a:xfrm>
          <a:prstGeom prst="roundRect">
            <a:avLst>
              <a:gd name="adj" fmla="val 8000"/>
            </a:avLst>
          </a:prstGeom>
          <a:solidFill>
            <a:srgbClr val="FFF2DF"/>
          </a:solidFill>
          <a:ln w="12700">
            <a:solidFill>
              <a:srgbClr val="E8DDC7"/>
            </a:solidFill>
          </a:ln>
        </p:spPr>
        <p:txBody>
          <a:bodyPr wrap="square" lIns="54864" tIns="54864" rIns="54864" bIns="54864" rtlCol="0" anchor="ctr"/>
          <a:lstStyle/>
          <a:p>
            <a:pPr marL="0" indent="0" algn="ctr">
              <a:buNone/>
            </a:pPr>
            <a:r>
              <a:rPr lang="en-GB" sz="1500" b="1" noProof="0" dirty="0">
                <a:solidFill>
                  <a:srgbClr val="7B5727"/>
                </a:solidFill>
                <a:latin typeface="Calibri" pitchFamily="34" charset="0"/>
                <a:ea typeface="Calibri" pitchFamily="34" charset="-122"/>
                <a:cs typeface="Calibri" pitchFamily="34" charset="-120"/>
              </a:rPr>
              <a:t>HPV positive</a:t>
            </a:r>
            <a:endParaRPr lang="en-GB" sz="1500" dirty="0"/>
          </a:p>
          <a:p>
            <a:pPr marL="0" indent="0" algn="ctr">
              <a:buNone/>
            </a:pPr>
            <a:r>
              <a:rPr lang="en-GB" sz="1300" noProof="0" dirty="0">
                <a:solidFill>
                  <a:srgbClr val="23303F"/>
                </a:solidFill>
                <a:latin typeface="Calibri" pitchFamily="34" charset="0"/>
                <a:ea typeface="Calibri" pitchFamily="34" charset="-122"/>
                <a:cs typeface="Calibri" pitchFamily="34" charset="-120"/>
              </a:rPr>
              <a:t>VIA to assess treatment</a:t>
            </a:r>
            <a:endParaRPr lang="en-GB" sz="1300" dirty="0"/>
          </a:p>
        </p:txBody>
      </p:sp>
      <p:cxnSp>
        <p:nvCxnSpPr>
          <p:cNvPr id="9" name="Connector 9"/>
          <p:cNvCxnSpPr/>
          <p:nvPr/>
        </p:nvCxnSpPr>
        <p:spPr>
          <a:xfrm>
            <a:off x="2316928" y="3050000"/>
            <a:ext cx="150000" cy="0"/>
          </a:xfrm>
          <a:prstGeom prst="straightConnector1">
            <a:avLst/>
          </a:prstGeom>
          <a:ln w="19050">
            <a:solidFill>
              <a:srgbClr val="31507B"/>
            </a:solidFill>
          </a:ln>
        </p:spPr>
      </p:cxnSp>
      <p:cxnSp>
        <p:nvCxnSpPr>
          <p:cNvPr id="10" name="Connector 10"/>
          <p:cNvCxnSpPr/>
          <p:nvPr/>
        </p:nvCxnSpPr>
        <p:spPr>
          <a:xfrm>
            <a:off x="2466928" y="1730000"/>
            <a:ext cx="0" cy="2010000"/>
          </a:xfrm>
          <a:prstGeom prst="straightConnector1">
            <a:avLst/>
          </a:prstGeom>
          <a:ln w="19050">
            <a:solidFill>
              <a:srgbClr val="31507B"/>
            </a:solidFill>
          </a:ln>
        </p:spPr>
      </p:cxnSp>
      <p:cxnSp>
        <p:nvCxnSpPr>
          <p:cNvPr id="11" name="Connector 11"/>
          <p:cNvCxnSpPr/>
          <p:nvPr/>
        </p:nvCxnSpPr>
        <p:spPr>
          <a:xfrm>
            <a:off x="2466928" y="1730000"/>
            <a:ext cx="150000" cy="0"/>
          </a:xfrm>
          <a:prstGeom prst="straightConnector1">
            <a:avLst/>
          </a:prstGeom>
          <a:ln w="19050">
            <a:solidFill>
              <a:srgbClr val="31507B"/>
            </a:solidFill>
            <a:tailEnd type="triangle" w="med" len="med"/>
          </a:ln>
        </p:spPr>
      </p:cxnSp>
      <p:cxnSp>
        <p:nvCxnSpPr>
          <p:cNvPr id="12" name="Connector 12"/>
          <p:cNvCxnSpPr/>
          <p:nvPr/>
        </p:nvCxnSpPr>
        <p:spPr>
          <a:xfrm>
            <a:off x="2466928" y="3740000"/>
            <a:ext cx="150000" cy="0"/>
          </a:xfrm>
          <a:prstGeom prst="straightConnector1">
            <a:avLst/>
          </a:prstGeom>
          <a:ln w="19050">
            <a:solidFill>
              <a:srgbClr val="31507B"/>
            </a:solidFill>
            <a:tailEnd type="triangle" w="med" len="med"/>
          </a:ln>
        </p:spPr>
      </p:cxnSp>
      <p:cxnSp>
        <p:nvCxnSpPr>
          <p:cNvPr id="13" name="Connector 13"/>
          <p:cNvCxnSpPr/>
          <p:nvPr/>
        </p:nvCxnSpPr>
        <p:spPr>
          <a:xfrm>
            <a:off x="4516928" y="3740000"/>
            <a:ext cx="175000" cy="0"/>
          </a:xfrm>
          <a:prstGeom prst="straightConnector1">
            <a:avLst/>
          </a:prstGeom>
          <a:ln w="19050">
            <a:solidFill>
              <a:srgbClr val="31507B"/>
            </a:solidFill>
          </a:ln>
        </p:spPr>
      </p:cxnSp>
      <p:cxnSp>
        <p:nvCxnSpPr>
          <p:cNvPr id="14" name="Connector 14"/>
          <p:cNvCxnSpPr/>
          <p:nvPr/>
        </p:nvCxnSpPr>
        <p:spPr>
          <a:xfrm>
            <a:off x="4691928" y="2552500"/>
            <a:ext cx="0" cy="2265000"/>
          </a:xfrm>
          <a:prstGeom prst="straightConnector1">
            <a:avLst/>
          </a:prstGeom>
          <a:ln w="19050">
            <a:solidFill>
              <a:srgbClr val="31507B"/>
            </a:solidFill>
          </a:ln>
        </p:spPr>
      </p:cxnSp>
      <p:sp>
        <p:nvSpPr>
          <p:cNvPr id="15" name="Shape 15"/>
          <p:cNvSpPr/>
          <p:nvPr/>
        </p:nvSpPr>
        <p:spPr>
          <a:xfrm>
            <a:off x="4866928" y="2230000"/>
            <a:ext cx="2550000" cy="645000"/>
          </a:xfrm>
          <a:prstGeom prst="roundRect">
            <a:avLst>
              <a:gd name="adj" fmla="val 8000"/>
            </a:avLst>
          </a:prstGeom>
          <a:solidFill>
            <a:srgbClr val="FFF2DF"/>
          </a:solidFill>
          <a:ln w="12700">
            <a:solidFill>
              <a:srgbClr val="E8DDC7"/>
            </a:solidFill>
          </a:ln>
        </p:spPr>
        <p:txBody>
          <a:bodyPr wrap="square" lIns="54864" tIns="54864" rIns="54864" bIns="54864" rtlCol="0" anchor="ctr"/>
          <a:lstStyle/>
          <a:p>
            <a:pPr marL="0" indent="0" algn="ctr">
              <a:buNone/>
            </a:pPr>
            <a:r>
              <a:rPr lang="en-GB" sz="1400" b="1" noProof="0" dirty="0">
                <a:solidFill>
                  <a:srgbClr val="7B5727"/>
                </a:solidFill>
                <a:latin typeface="Calibri" pitchFamily="34" charset="0"/>
                <a:ea typeface="Calibri" pitchFamily="34" charset="-122"/>
                <a:cs typeface="Calibri" pitchFamily="34" charset="-120"/>
              </a:rPr>
              <a:t>VIA positive</a:t>
            </a:r>
            <a:endParaRPr lang="en-GB" sz="1400" dirty="0"/>
          </a:p>
        </p:txBody>
      </p:sp>
      <p:cxnSp>
        <p:nvCxnSpPr>
          <p:cNvPr id="16" name="Connector 16"/>
          <p:cNvCxnSpPr/>
          <p:nvPr/>
        </p:nvCxnSpPr>
        <p:spPr>
          <a:xfrm>
            <a:off x="4691928" y="2552500"/>
            <a:ext cx="175000" cy="0"/>
          </a:xfrm>
          <a:prstGeom prst="straightConnector1">
            <a:avLst/>
          </a:prstGeom>
          <a:ln w="19050">
            <a:solidFill>
              <a:srgbClr val="31507B"/>
            </a:solidFill>
            <a:tailEnd type="triangle" w="med" len="med"/>
          </a:ln>
        </p:spPr>
      </p:cxnSp>
      <p:cxnSp>
        <p:nvCxnSpPr>
          <p:cNvPr id="17" name="Connector 17"/>
          <p:cNvCxnSpPr/>
          <p:nvPr/>
        </p:nvCxnSpPr>
        <p:spPr>
          <a:xfrm>
            <a:off x="7416928" y="2552500"/>
            <a:ext cx="350000" cy="0"/>
          </a:xfrm>
          <a:prstGeom prst="straightConnector1">
            <a:avLst/>
          </a:prstGeom>
          <a:ln w="19050">
            <a:solidFill>
              <a:srgbClr val="31507B"/>
            </a:solidFill>
            <a:tailEnd type="triangle" w="med" len="med"/>
          </a:ln>
        </p:spPr>
      </p:cxnSp>
      <p:sp>
        <p:nvSpPr>
          <p:cNvPr id="18" name="Shape 18"/>
          <p:cNvSpPr/>
          <p:nvPr/>
        </p:nvSpPr>
        <p:spPr>
          <a:xfrm>
            <a:off x="7766928" y="2230000"/>
            <a:ext cx="3855096" cy="645000"/>
          </a:xfrm>
          <a:prstGeom prst="roundRect">
            <a:avLst>
              <a:gd name="adj" fmla="val 8000"/>
            </a:avLst>
          </a:prstGeom>
          <a:solidFill>
            <a:srgbClr val="EAF7F0"/>
          </a:solidFill>
          <a:ln w="12700">
            <a:solidFill>
              <a:srgbClr val="C0D4CB"/>
            </a:solidFill>
          </a:ln>
        </p:spPr>
        <p:txBody>
          <a:bodyPr wrap="square" lIns="54864" tIns="54864" rIns="54864" bIns="54864" rtlCol="0" anchor="ctr"/>
          <a:lstStyle/>
          <a:p>
            <a:pPr marL="0" indent="0" algn="ctr">
              <a:buNone/>
            </a:pPr>
            <a:r>
              <a:rPr lang="en-GB" sz="1400" b="1" noProof="0" dirty="0">
                <a:solidFill>
                  <a:srgbClr val="23303F"/>
                </a:solidFill>
                <a:latin typeface="Calibri" pitchFamily="34" charset="0"/>
                <a:ea typeface="Calibri" pitchFamily="34" charset="-122"/>
                <a:cs typeface="Calibri" pitchFamily="34" charset="-120"/>
              </a:rPr>
              <a:t>Lesion &lt;75%, TZ 1 or 2: </a:t>
            </a:r>
            <a:r>
              <a:rPr lang="en-GB" sz="1400" noProof="0" dirty="0">
                <a:solidFill>
                  <a:srgbClr val="23303F"/>
                </a:solidFill>
                <a:latin typeface="Calibri" pitchFamily="34" charset="0"/>
                <a:ea typeface="Calibri" pitchFamily="34" charset="-122"/>
                <a:cs typeface="Calibri" pitchFamily="34" charset="-120"/>
              </a:rPr>
              <a:t>thermal ablation</a:t>
            </a:r>
            <a:endParaRPr lang="en-GB" sz="1400" dirty="0"/>
          </a:p>
          <a:p>
            <a:pPr marL="0" indent="0" algn="ctr">
              <a:buNone/>
            </a:pPr>
            <a:r>
              <a:rPr lang="en-GB" sz="1400" b="1" noProof="0" dirty="0">
                <a:solidFill>
                  <a:srgbClr val="23303F"/>
                </a:solidFill>
                <a:latin typeface="Calibri" pitchFamily="34" charset="0"/>
                <a:ea typeface="Calibri" pitchFamily="34" charset="-122"/>
                <a:cs typeface="Calibri" pitchFamily="34" charset="-120"/>
              </a:rPr>
              <a:t>Lesion &gt;75% or TZ 3: </a:t>
            </a:r>
            <a:r>
              <a:rPr lang="en-GB" sz="1400" noProof="0" dirty="0">
                <a:solidFill>
                  <a:srgbClr val="23303F"/>
                </a:solidFill>
                <a:latin typeface="Calibri" pitchFamily="34" charset="0"/>
                <a:ea typeface="Calibri" pitchFamily="34" charset="-122"/>
                <a:cs typeface="Calibri" pitchFamily="34" charset="-120"/>
              </a:rPr>
              <a:t>LEEP</a:t>
            </a:r>
            <a:endParaRPr lang="en-GB" sz="1400" dirty="0"/>
          </a:p>
        </p:txBody>
      </p:sp>
      <p:sp>
        <p:nvSpPr>
          <p:cNvPr id="19" name="Shape 19"/>
          <p:cNvSpPr/>
          <p:nvPr/>
        </p:nvSpPr>
        <p:spPr>
          <a:xfrm>
            <a:off x="4866928" y="2985000"/>
            <a:ext cx="2550000" cy="645000"/>
          </a:xfrm>
          <a:prstGeom prst="roundRect">
            <a:avLst>
              <a:gd name="adj" fmla="val 8000"/>
            </a:avLst>
          </a:prstGeom>
          <a:solidFill>
            <a:srgbClr val="F3F6FB"/>
          </a:solidFill>
          <a:ln w="12700">
            <a:solidFill>
              <a:srgbClr val="E0E3EA"/>
            </a:solidFill>
          </a:ln>
        </p:spPr>
        <p:txBody>
          <a:bodyPr wrap="square" lIns="54864" tIns="54864" rIns="54864" bIns="54864" rtlCol="0" anchor="ctr"/>
          <a:lstStyle/>
          <a:p>
            <a:pPr marL="0" indent="0" algn="ctr">
              <a:buNone/>
            </a:pPr>
            <a:r>
              <a:rPr lang="en-GB" sz="1400" b="1" noProof="0" dirty="0">
                <a:solidFill>
                  <a:srgbClr val="10305A"/>
                </a:solidFill>
                <a:latin typeface="Calibri" pitchFamily="34" charset="0"/>
                <a:ea typeface="Calibri" pitchFamily="34" charset="-122"/>
                <a:cs typeface="Calibri" pitchFamily="34" charset="-120"/>
              </a:rPr>
              <a:t>VIA negative, HPV 16/18</a:t>
            </a:r>
            <a:endParaRPr lang="en-GB" sz="1400" dirty="0"/>
          </a:p>
        </p:txBody>
      </p:sp>
      <p:cxnSp>
        <p:nvCxnSpPr>
          <p:cNvPr id="20" name="Connector 20"/>
          <p:cNvCxnSpPr/>
          <p:nvPr/>
        </p:nvCxnSpPr>
        <p:spPr>
          <a:xfrm>
            <a:off x="4691928" y="3307500"/>
            <a:ext cx="175000" cy="0"/>
          </a:xfrm>
          <a:prstGeom prst="straightConnector1">
            <a:avLst/>
          </a:prstGeom>
          <a:ln w="19050">
            <a:solidFill>
              <a:srgbClr val="31507B"/>
            </a:solidFill>
            <a:tailEnd type="triangle" w="med" len="med"/>
          </a:ln>
        </p:spPr>
      </p:cxnSp>
      <p:cxnSp>
        <p:nvCxnSpPr>
          <p:cNvPr id="21" name="Connector 21"/>
          <p:cNvCxnSpPr/>
          <p:nvPr/>
        </p:nvCxnSpPr>
        <p:spPr>
          <a:xfrm>
            <a:off x="7416928" y="3307500"/>
            <a:ext cx="350000" cy="0"/>
          </a:xfrm>
          <a:prstGeom prst="straightConnector1">
            <a:avLst/>
          </a:prstGeom>
          <a:ln w="19050">
            <a:solidFill>
              <a:srgbClr val="31507B"/>
            </a:solidFill>
            <a:tailEnd type="triangle" w="med" len="med"/>
          </a:ln>
        </p:spPr>
      </p:cxnSp>
      <p:sp>
        <p:nvSpPr>
          <p:cNvPr id="22" name="Shape 22"/>
          <p:cNvSpPr/>
          <p:nvPr/>
        </p:nvSpPr>
        <p:spPr>
          <a:xfrm>
            <a:off x="7766928" y="2985000"/>
            <a:ext cx="3855096" cy="645000"/>
          </a:xfrm>
          <a:prstGeom prst="roundRect">
            <a:avLst>
              <a:gd name="adj" fmla="val 8000"/>
            </a:avLst>
          </a:prstGeom>
          <a:solidFill>
            <a:srgbClr val="EAF7F0"/>
          </a:solidFill>
          <a:ln w="12700">
            <a:solidFill>
              <a:srgbClr val="C0D4CB"/>
            </a:solidFill>
          </a:ln>
        </p:spPr>
        <p:txBody>
          <a:bodyPr wrap="square" lIns="54864" tIns="54864" rIns="54864" bIns="54864" rtlCol="0" anchor="ctr"/>
          <a:lstStyle/>
          <a:p>
            <a:pPr marL="0" indent="0" algn="ctr">
              <a:buNone/>
            </a:pPr>
            <a:r>
              <a:rPr lang="en-GB" sz="1400" b="1" noProof="0" dirty="0">
                <a:solidFill>
                  <a:srgbClr val="23303F"/>
                </a:solidFill>
                <a:latin typeface="Calibri" pitchFamily="34" charset="0"/>
                <a:ea typeface="Calibri" pitchFamily="34" charset="-122"/>
                <a:cs typeface="Calibri" pitchFamily="34" charset="-120"/>
              </a:rPr>
              <a:t>TZ 1 or 2: </a:t>
            </a:r>
            <a:r>
              <a:rPr lang="en-GB" sz="1400" noProof="0" dirty="0">
                <a:solidFill>
                  <a:srgbClr val="23303F"/>
                </a:solidFill>
                <a:latin typeface="Calibri" pitchFamily="34" charset="0"/>
                <a:ea typeface="Calibri" pitchFamily="34" charset="-122"/>
                <a:cs typeface="Calibri" pitchFamily="34" charset="-120"/>
              </a:rPr>
              <a:t>thermal ablation</a:t>
            </a:r>
            <a:endParaRPr lang="en-GB" sz="1400" dirty="0"/>
          </a:p>
          <a:p>
            <a:pPr marL="0" indent="0" algn="ctr">
              <a:buNone/>
            </a:pPr>
            <a:r>
              <a:rPr lang="en-GB" sz="1400" b="1" noProof="0" dirty="0">
                <a:solidFill>
                  <a:srgbClr val="23303F"/>
                </a:solidFill>
                <a:latin typeface="Calibri" pitchFamily="34" charset="0"/>
                <a:ea typeface="Calibri" pitchFamily="34" charset="-122"/>
                <a:cs typeface="Calibri" pitchFamily="34" charset="-120"/>
              </a:rPr>
              <a:t>TZ 3: </a:t>
            </a:r>
            <a:r>
              <a:rPr lang="en-GB" sz="1400" noProof="0" dirty="0">
                <a:solidFill>
                  <a:srgbClr val="23303F"/>
                </a:solidFill>
                <a:latin typeface="Calibri" pitchFamily="34" charset="0"/>
                <a:ea typeface="Calibri" pitchFamily="34" charset="-122"/>
                <a:cs typeface="Calibri" pitchFamily="34" charset="-120"/>
              </a:rPr>
              <a:t>LEEP</a:t>
            </a:r>
            <a:endParaRPr lang="en-GB" sz="1400" dirty="0"/>
          </a:p>
        </p:txBody>
      </p:sp>
      <p:sp>
        <p:nvSpPr>
          <p:cNvPr id="23" name="Shape 23"/>
          <p:cNvSpPr/>
          <p:nvPr/>
        </p:nvSpPr>
        <p:spPr>
          <a:xfrm>
            <a:off x="4866928" y="3740000"/>
            <a:ext cx="2550000" cy="645000"/>
          </a:xfrm>
          <a:prstGeom prst="roundRect">
            <a:avLst>
              <a:gd name="adj" fmla="val 8000"/>
            </a:avLst>
          </a:prstGeom>
          <a:solidFill>
            <a:srgbClr val="F3F6FB"/>
          </a:solidFill>
          <a:ln w="12700">
            <a:solidFill>
              <a:srgbClr val="E0E3EA"/>
            </a:solidFill>
          </a:ln>
        </p:spPr>
        <p:txBody>
          <a:bodyPr wrap="square" lIns="54864" tIns="54864" rIns="54864" bIns="54864" rtlCol="0" anchor="ctr"/>
          <a:lstStyle/>
          <a:p>
            <a:pPr marL="0" indent="0" algn="ctr">
              <a:buNone/>
            </a:pPr>
            <a:r>
              <a:rPr lang="en-GB" sz="1400" b="1" noProof="0" dirty="0">
                <a:solidFill>
                  <a:srgbClr val="10305A"/>
                </a:solidFill>
                <a:latin typeface="Calibri" pitchFamily="34" charset="0"/>
                <a:ea typeface="Calibri" pitchFamily="34" charset="-122"/>
                <a:cs typeface="Calibri" pitchFamily="34" charset="-120"/>
              </a:rPr>
              <a:t>VIA negative, other high-risk type</a:t>
            </a:r>
            <a:endParaRPr lang="en-GB" sz="1400" dirty="0"/>
          </a:p>
        </p:txBody>
      </p:sp>
      <p:cxnSp>
        <p:nvCxnSpPr>
          <p:cNvPr id="24" name="Connector 24"/>
          <p:cNvCxnSpPr/>
          <p:nvPr/>
        </p:nvCxnSpPr>
        <p:spPr>
          <a:xfrm>
            <a:off x="4691928" y="4062500"/>
            <a:ext cx="175000" cy="0"/>
          </a:xfrm>
          <a:prstGeom prst="straightConnector1">
            <a:avLst/>
          </a:prstGeom>
          <a:ln w="19050">
            <a:solidFill>
              <a:srgbClr val="31507B"/>
            </a:solidFill>
            <a:tailEnd type="triangle" w="med" len="med"/>
          </a:ln>
        </p:spPr>
      </p:cxnSp>
      <p:cxnSp>
        <p:nvCxnSpPr>
          <p:cNvPr id="25" name="Connector 25"/>
          <p:cNvCxnSpPr/>
          <p:nvPr/>
        </p:nvCxnSpPr>
        <p:spPr>
          <a:xfrm>
            <a:off x="7416928" y="4062500"/>
            <a:ext cx="350000" cy="0"/>
          </a:xfrm>
          <a:prstGeom prst="straightConnector1">
            <a:avLst/>
          </a:prstGeom>
          <a:ln w="19050">
            <a:solidFill>
              <a:srgbClr val="31507B"/>
            </a:solidFill>
            <a:tailEnd type="triangle" w="med" len="med"/>
          </a:ln>
        </p:spPr>
      </p:cxnSp>
      <p:sp>
        <p:nvSpPr>
          <p:cNvPr id="26" name="Shape 26"/>
          <p:cNvSpPr/>
          <p:nvPr/>
        </p:nvSpPr>
        <p:spPr>
          <a:xfrm>
            <a:off x="7766928" y="3740000"/>
            <a:ext cx="3855096" cy="645000"/>
          </a:xfrm>
          <a:prstGeom prst="roundRect">
            <a:avLst>
              <a:gd name="adj" fmla="val 8000"/>
            </a:avLst>
          </a:prstGeom>
          <a:solidFill>
            <a:srgbClr val="ECF3FD"/>
          </a:solidFill>
          <a:ln w="12700">
            <a:solidFill>
              <a:srgbClr val="E0E3EA"/>
            </a:solidFill>
          </a:ln>
        </p:spPr>
        <p:txBody>
          <a:bodyPr wrap="square" lIns="54864" tIns="54864" rIns="54864" bIns="54864" rtlCol="0" anchor="ctr"/>
          <a:lstStyle/>
          <a:p>
            <a:pPr marL="0" indent="0" algn="ctr">
              <a:buNone/>
            </a:pPr>
            <a:r>
              <a:rPr lang="en-GB" sz="1400" noProof="0" dirty="0">
                <a:solidFill>
                  <a:srgbClr val="23303F"/>
                </a:solidFill>
                <a:latin typeface="Calibri" pitchFamily="34" charset="0"/>
                <a:ea typeface="Calibri" pitchFamily="34" charset="-122"/>
                <a:cs typeface="Calibri" pitchFamily="34" charset="-120"/>
              </a:rPr>
              <a:t>Rescreen with an HPV test after 2 years</a:t>
            </a:r>
            <a:endParaRPr lang="en-GB" sz="1400" dirty="0"/>
          </a:p>
        </p:txBody>
      </p:sp>
      <p:sp>
        <p:nvSpPr>
          <p:cNvPr id="27" name="Shape 27"/>
          <p:cNvSpPr/>
          <p:nvPr/>
        </p:nvSpPr>
        <p:spPr>
          <a:xfrm>
            <a:off x="4866928" y="4495000"/>
            <a:ext cx="2550000" cy="645000"/>
          </a:xfrm>
          <a:prstGeom prst="roundRect">
            <a:avLst>
              <a:gd name="adj" fmla="val 8000"/>
            </a:avLst>
          </a:prstGeom>
          <a:solidFill>
            <a:srgbClr val="FDE9E8"/>
          </a:solidFill>
          <a:ln w="12700">
            <a:solidFill>
              <a:srgbClr val="F0CFCE"/>
            </a:solidFill>
          </a:ln>
        </p:spPr>
        <p:txBody>
          <a:bodyPr wrap="square" lIns="54864" tIns="54864" rIns="54864" bIns="54864" rtlCol="0" anchor="ctr"/>
          <a:lstStyle/>
          <a:p>
            <a:pPr marL="0" indent="0" algn="ctr">
              <a:buNone/>
            </a:pPr>
            <a:r>
              <a:rPr lang="en-GB" sz="1400" b="1" noProof="0" dirty="0">
                <a:solidFill>
                  <a:srgbClr val="8E2531"/>
                </a:solidFill>
                <a:latin typeface="Calibri" pitchFamily="34" charset="0"/>
                <a:ea typeface="Calibri" pitchFamily="34" charset="-122"/>
                <a:cs typeface="Calibri" pitchFamily="34" charset="-120"/>
              </a:rPr>
              <a:t>Suspicious for cancer</a:t>
            </a:r>
            <a:endParaRPr lang="en-GB" sz="1400" dirty="0"/>
          </a:p>
        </p:txBody>
      </p:sp>
      <p:cxnSp>
        <p:nvCxnSpPr>
          <p:cNvPr id="28" name="Connector 28"/>
          <p:cNvCxnSpPr/>
          <p:nvPr/>
        </p:nvCxnSpPr>
        <p:spPr>
          <a:xfrm>
            <a:off x="4691928" y="4817500"/>
            <a:ext cx="175000" cy="0"/>
          </a:xfrm>
          <a:prstGeom prst="straightConnector1">
            <a:avLst/>
          </a:prstGeom>
          <a:ln w="19050">
            <a:solidFill>
              <a:srgbClr val="31507B"/>
            </a:solidFill>
            <a:tailEnd type="triangle" w="med" len="med"/>
          </a:ln>
        </p:spPr>
      </p:cxnSp>
      <p:cxnSp>
        <p:nvCxnSpPr>
          <p:cNvPr id="29" name="Connector 29"/>
          <p:cNvCxnSpPr/>
          <p:nvPr/>
        </p:nvCxnSpPr>
        <p:spPr>
          <a:xfrm>
            <a:off x="7416928" y="4817500"/>
            <a:ext cx="350000" cy="0"/>
          </a:xfrm>
          <a:prstGeom prst="straightConnector1">
            <a:avLst/>
          </a:prstGeom>
          <a:ln w="19050">
            <a:solidFill>
              <a:srgbClr val="31507B"/>
            </a:solidFill>
            <a:tailEnd type="triangle" w="med" len="med"/>
          </a:ln>
        </p:spPr>
      </p:cxnSp>
      <p:sp>
        <p:nvSpPr>
          <p:cNvPr id="30" name="Shape 30"/>
          <p:cNvSpPr/>
          <p:nvPr/>
        </p:nvSpPr>
        <p:spPr>
          <a:xfrm>
            <a:off x="7766928" y="4495000"/>
            <a:ext cx="3855096" cy="645000"/>
          </a:xfrm>
          <a:prstGeom prst="roundRect">
            <a:avLst>
              <a:gd name="adj" fmla="val 8000"/>
            </a:avLst>
          </a:prstGeom>
          <a:solidFill>
            <a:srgbClr val="FDE9E8"/>
          </a:solidFill>
          <a:ln w="12700">
            <a:solidFill>
              <a:srgbClr val="F0CFCE"/>
            </a:solidFill>
          </a:ln>
        </p:spPr>
        <p:txBody>
          <a:bodyPr wrap="square" lIns="54864" tIns="54864" rIns="54864" bIns="54864" rtlCol="0" anchor="ctr"/>
          <a:lstStyle/>
          <a:p>
            <a:pPr marL="0" indent="0" algn="ctr">
              <a:buNone/>
            </a:pPr>
            <a:r>
              <a:rPr lang="en-GB" sz="1400" b="1" noProof="0" dirty="0">
                <a:solidFill>
                  <a:srgbClr val="8E2531"/>
                </a:solidFill>
                <a:latin typeface="Calibri" pitchFamily="34" charset="0"/>
                <a:ea typeface="Calibri" pitchFamily="34" charset="-122"/>
                <a:cs typeface="Calibri" pitchFamily="34" charset="-120"/>
              </a:rPr>
              <a:t>Refer to the district hospital for biopsy and diagnosis</a:t>
            </a:r>
            <a:endParaRPr lang="en-GB" sz="1400" dirty="0"/>
          </a:p>
        </p:txBody>
      </p:sp>
      <p:sp>
        <p:nvSpPr>
          <p:cNvPr id="31" name="Shape 31"/>
          <p:cNvSpPr/>
          <p:nvPr/>
        </p:nvSpPr>
        <p:spPr>
          <a:xfrm>
            <a:off x="566928" y="5420000"/>
            <a:ext cx="11055096" cy="780000"/>
          </a:xfrm>
          <a:prstGeom prst="roundRect">
            <a:avLst>
              <a:gd name="adj" fmla="val 3000"/>
            </a:avLst>
          </a:prstGeom>
          <a:solidFill>
            <a:srgbClr val="EAF7F0"/>
          </a:solidFill>
          <a:ln w="12700">
            <a:solidFill>
              <a:srgbClr val="C0D4CB"/>
            </a:solidFill>
          </a:ln>
        </p:spPr>
        <p:txBody>
          <a:bodyPr/>
          <a:lstStyle/>
          <a:p>
            <a:endParaRPr lang="en-GB" sz="1600" dirty="0"/>
          </a:p>
        </p:txBody>
      </p:sp>
      <p:sp>
        <p:nvSpPr>
          <p:cNvPr id="32" name="Text 32"/>
          <p:cNvSpPr txBox="1"/>
          <p:nvPr/>
        </p:nvSpPr>
        <p:spPr>
          <a:xfrm>
            <a:off x="841248" y="5470000"/>
            <a:ext cx="10506456" cy="680000"/>
          </a:xfrm>
          <a:prstGeom prst="rect">
            <a:avLst/>
          </a:prstGeom>
          <a:noFill/>
          <a:ln/>
        </p:spPr>
        <p:txBody>
          <a:bodyPr wrap="square" lIns="0" tIns="0" rIns="0" bIns="0" rtlCol="0" anchor="ctr"/>
          <a:lstStyle/>
          <a:p>
            <a:pPr marL="0" indent="0" algn="l">
              <a:buNone/>
            </a:pPr>
            <a:r>
              <a:rPr lang="en-GB" sz="1500" b="1" noProof="0" dirty="0">
                <a:solidFill>
                  <a:srgbClr val="19543E"/>
                </a:solidFill>
                <a:latin typeface="Calibri" pitchFamily="34" charset="0"/>
                <a:ea typeface="Calibri" pitchFamily="34" charset="-122"/>
                <a:cs typeface="Calibri" pitchFamily="34" charset="-120"/>
              </a:rPr>
              <a:t>📋 After thermal ablation or LEEP:  </a:t>
            </a:r>
            <a:r>
              <a:rPr lang="en-GB" sz="1500" noProof="0" dirty="0">
                <a:solidFill>
                  <a:srgbClr val="23303F"/>
                </a:solidFill>
                <a:latin typeface="Calibri" pitchFamily="34" charset="0"/>
                <a:ea typeface="Calibri" pitchFamily="34" charset="-122"/>
                <a:cs typeface="Calibri" pitchFamily="34" charset="-120"/>
              </a:rPr>
              <a:t>Follow-up test at 12 months, with an HPV test (VIA if HPV testing is not available).</a:t>
            </a:r>
            <a:endParaRPr lang="en-GB" sz="1500" dirty="0"/>
          </a:p>
        </p:txBody>
      </p:sp>
      <p:sp>
        <p:nvSpPr>
          <p:cNvPr id="33" name="Text 33"/>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34" name="Text 34"/>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92</a:t>
            </a:r>
            <a:endParaRPr lang="en-GB" sz="11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2 · MANAGEMENT</a:t>
            </a:r>
            <a:endParaRPr lang="en-GB"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2800" b="1" noProof="0" dirty="0">
                <a:solidFill>
                  <a:srgbClr val="10305A"/>
                </a:solidFill>
                <a:latin typeface="Cambria" pitchFamily="34" charset="0"/>
                <a:ea typeface="Cambria" pitchFamily="34" charset="-122"/>
                <a:cs typeface="Cambria" pitchFamily="34" charset="-120"/>
              </a:rPr>
              <a:t>Managing results: women living with HIV</a:t>
            </a:r>
          </a:p>
        </p:txBody>
      </p:sp>
      <p:sp>
        <p:nvSpPr>
          <p:cNvPr id="4" name="Shape 4"/>
          <p:cNvSpPr/>
          <p:nvPr/>
        </p:nvSpPr>
        <p:spPr>
          <a:xfrm>
            <a:off x="566928" y="2300000"/>
            <a:ext cx="1750000" cy="1500000"/>
          </a:xfrm>
          <a:prstGeom prst="roundRect">
            <a:avLst>
              <a:gd name="adj" fmla="val 8000"/>
            </a:avLst>
          </a:prstGeom>
          <a:solidFill>
            <a:srgbClr val="1F4E96"/>
          </a:solidFill>
          <a:ln w="12700">
            <a:solidFill>
              <a:srgbClr val="1F4E96"/>
            </a:solidFill>
          </a:ln>
        </p:spPr>
        <p:txBody>
          <a:bodyPr wrap="square" lIns="54864" tIns="54864" rIns="54864" bIns="54864" rtlCol="0" anchor="ctr"/>
          <a:lstStyle/>
          <a:p>
            <a:pPr marL="0" indent="0" algn="ctr">
              <a:buNone/>
            </a:pPr>
            <a:r>
              <a:rPr lang="en-GB" sz="1600" b="1" noProof="0" dirty="0">
                <a:solidFill>
                  <a:srgbClr val="FFFFFF"/>
                </a:solidFill>
                <a:latin typeface="Calibri" pitchFamily="34" charset="0"/>
                <a:ea typeface="Calibri" pitchFamily="34" charset="-122"/>
                <a:cs typeface="Calibri" pitchFamily="34" charset="-120"/>
              </a:rPr>
              <a:t>HPV DNA test</a:t>
            </a:r>
            <a:endParaRPr lang="en-GB" sz="1600" dirty="0"/>
          </a:p>
          <a:p>
            <a:pPr marL="0" indent="0" algn="ctr">
              <a:buNone/>
            </a:pPr>
            <a:r>
              <a:rPr lang="en-GB" sz="1300" noProof="0" dirty="0">
                <a:solidFill>
                  <a:srgbClr val="FFFFFF"/>
                </a:solidFill>
                <a:latin typeface="Calibri" pitchFamily="34" charset="0"/>
                <a:ea typeface="Calibri" pitchFamily="34" charset="-122"/>
                <a:cs typeface="Calibri" pitchFamily="34" charset="-120"/>
              </a:rPr>
              <a:t>Priority age 25 to 49</a:t>
            </a:r>
            <a:endParaRPr lang="en-GB" sz="1300" dirty="0"/>
          </a:p>
        </p:txBody>
      </p:sp>
      <p:sp>
        <p:nvSpPr>
          <p:cNvPr id="5" name="Shape 5"/>
          <p:cNvSpPr/>
          <p:nvPr/>
        </p:nvSpPr>
        <p:spPr>
          <a:xfrm>
            <a:off x="2616928" y="1450000"/>
            <a:ext cx="1900000" cy="560000"/>
          </a:xfrm>
          <a:prstGeom prst="roundRect">
            <a:avLst>
              <a:gd name="adj" fmla="val 8000"/>
            </a:avLst>
          </a:prstGeom>
          <a:solidFill>
            <a:srgbClr val="EAF7F0"/>
          </a:solidFill>
          <a:ln w="12700">
            <a:solidFill>
              <a:srgbClr val="C0D4CB"/>
            </a:solidFill>
          </a:ln>
        </p:spPr>
        <p:txBody>
          <a:bodyPr wrap="square" lIns="54864" tIns="54864" rIns="54864" bIns="54864" rtlCol="0" anchor="ctr"/>
          <a:lstStyle/>
          <a:p>
            <a:pPr marL="0" indent="0" algn="ctr">
              <a:buNone/>
            </a:pPr>
            <a:r>
              <a:rPr lang="en-GB" sz="1500" b="1" noProof="0" dirty="0">
                <a:solidFill>
                  <a:srgbClr val="19543E"/>
                </a:solidFill>
                <a:latin typeface="Calibri" pitchFamily="34" charset="0"/>
                <a:ea typeface="Calibri" pitchFamily="34" charset="-122"/>
                <a:cs typeface="Calibri" pitchFamily="34" charset="-120"/>
              </a:rPr>
              <a:t>HPV negative</a:t>
            </a:r>
            <a:endParaRPr lang="en-GB" sz="1500" dirty="0"/>
          </a:p>
        </p:txBody>
      </p:sp>
      <p:sp>
        <p:nvSpPr>
          <p:cNvPr id="6" name="Shape 6"/>
          <p:cNvSpPr/>
          <p:nvPr/>
        </p:nvSpPr>
        <p:spPr>
          <a:xfrm>
            <a:off x="4866928" y="1450000"/>
            <a:ext cx="6755096" cy="560000"/>
          </a:xfrm>
          <a:prstGeom prst="roundRect">
            <a:avLst>
              <a:gd name="adj" fmla="val 8000"/>
            </a:avLst>
          </a:prstGeom>
          <a:solidFill>
            <a:srgbClr val="ECF3FD"/>
          </a:solidFill>
          <a:ln w="12700">
            <a:solidFill>
              <a:srgbClr val="E0E3EA"/>
            </a:solidFill>
          </a:ln>
        </p:spPr>
        <p:txBody>
          <a:bodyPr wrap="square" lIns="54864" tIns="54864" rIns="54864" bIns="54864" rtlCol="0" anchor="ctr"/>
          <a:lstStyle/>
          <a:p>
            <a:pPr marL="0" indent="0" algn="ctr">
              <a:buNone/>
            </a:pPr>
            <a:r>
              <a:rPr lang="en-GB" sz="1500" noProof="0" dirty="0">
                <a:solidFill>
                  <a:srgbClr val="23303F"/>
                </a:solidFill>
                <a:latin typeface="Calibri" pitchFamily="34" charset="0"/>
                <a:ea typeface="Calibri" pitchFamily="34" charset="-122"/>
                <a:cs typeface="Calibri" pitchFamily="34" charset="-120"/>
              </a:rPr>
              <a:t>Rescreen with an HPV test after 5 years</a:t>
            </a:r>
            <a:endParaRPr lang="en-GB" sz="1500" dirty="0"/>
          </a:p>
        </p:txBody>
      </p:sp>
      <p:cxnSp>
        <p:nvCxnSpPr>
          <p:cNvPr id="7" name="Connector 7"/>
          <p:cNvCxnSpPr/>
          <p:nvPr/>
        </p:nvCxnSpPr>
        <p:spPr>
          <a:xfrm>
            <a:off x="4516928" y="1730000"/>
            <a:ext cx="350000" cy="0"/>
          </a:xfrm>
          <a:prstGeom prst="straightConnector1">
            <a:avLst/>
          </a:prstGeom>
          <a:ln w="19050">
            <a:solidFill>
              <a:srgbClr val="31507B"/>
            </a:solidFill>
            <a:tailEnd type="triangle" w="med" len="med"/>
          </a:ln>
        </p:spPr>
      </p:cxnSp>
      <p:sp>
        <p:nvSpPr>
          <p:cNvPr id="8" name="Shape 8"/>
          <p:cNvSpPr/>
          <p:nvPr/>
        </p:nvSpPr>
        <p:spPr>
          <a:xfrm>
            <a:off x="2616928" y="3290000"/>
            <a:ext cx="1900000" cy="900000"/>
          </a:xfrm>
          <a:prstGeom prst="roundRect">
            <a:avLst>
              <a:gd name="adj" fmla="val 8000"/>
            </a:avLst>
          </a:prstGeom>
          <a:solidFill>
            <a:srgbClr val="FFF2DF"/>
          </a:solidFill>
          <a:ln w="12700">
            <a:solidFill>
              <a:srgbClr val="E8DDC7"/>
            </a:solidFill>
          </a:ln>
        </p:spPr>
        <p:txBody>
          <a:bodyPr wrap="square" lIns="54864" tIns="54864" rIns="54864" bIns="54864" rtlCol="0" anchor="ctr"/>
          <a:lstStyle/>
          <a:p>
            <a:pPr marL="0" indent="0" algn="ctr">
              <a:buNone/>
            </a:pPr>
            <a:r>
              <a:rPr lang="en-GB" sz="1500" b="1" noProof="0" dirty="0">
                <a:solidFill>
                  <a:srgbClr val="7B5727"/>
                </a:solidFill>
                <a:latin typeface="Calibri" pitchFamily="34" charset="0"/>
                <a:ea typeface="Calibri" pitchFamily="34" charset="-122"/>
                <a:cs typeface="Calibri" pitchFamily="34" charset="-120"/>
              </a:rPr>
              <a:t>HPV positive</a:t>
            </a:r>
            <a:endParaRPr lang="en-GB" sz="1500" dirty="0"/>
          </a:p>
          <a:p>
            <a:pPr marL="0" indent="0" algn="ctr">
              <a:buNone/>
            </a:pPr>
            <a:r>
              <a:rPr lang="en-GB" sz="1300" noProof="0" dirty="0">
                <a:solidFill>
                  <a:srgbClr val="23303F"/>
                </a:solidFill>
                <a:latin typeface="Calibri" pitchFamily="34" charset="0"/>
                <a:ea typeface="Calibri" pitchFamily="34" charset="-122"/>
                <a:cs typeface="Calibri" pitchFamily="34" charset="-120"/>
              </a:rPr>
              <a:t>VIA to assess treatment</a:t>
            </a:r>
            <a:endParaRPr lang="en-GB" sz="1300" dirty="0"/>
          </a:p>
        </p:txBody>
      </p:sp>
      <p:cxnSp>
        <p:nvCxnSpPr>
          <p:cNvPr id="9" name="Connector 9"/>
          <p:cNvCxnSpPr/>
          <p:nvPr/>
        </p:nvCxnSpPr>
        <p:spPr>
          <a:xfrm>
            <a:off x="2316928" y="3050000"/>
            <a:ext cx="150000" cy="0"/>
          </a:xfrm>
          <a:prstGeom prst="straightConnector1">
            <a:avLst/>
          </a:prstGeom>
          <a:ln w="19050">
            <a:solidFill>
              <a:srgbClr val="31507B"/>
            </a:solidFill>
          </a:ln>
        </p:spPr>
      </p:cxnSp>
      <p:cxnSp>
        <p:nvCxnSpPr>
          <p:cNvPr id="10" name="Connector 10"/>
          <p:cNvCxnSpPr/>
          <p:nvPr/>
        </p:nvCxnSpPr>
        <p:spPr>
          <a:xfrm>
            <a:off x="2466928" y="1730000"/>
            <a:ext cx="0" cy="2010000"/>
          </a:xfrm>
          <a:prstGeom prst="straightConnector1">
            <a:avLst/>
          </a:prstGeom>
          <a:ln w="19050">
            <a:solidFill>
              <a:srgbClr val="31507B"/>
            </a:solidFill>
          </a:ln>
        </p:spPr>
      </p:cxnSp>
      <p:cxnSp>
        <p:nvCxnSpPr>
          <p:cNvPr id="11" name="Connector 11"/>
          <p:cNvCxnSpPr/>
          <p:nvPr/>
        </p:nvCxnSpPr>
        <p:spPr>
          <a:xfrm>
            <a:off x="2466928" y="1730000"/>
            <a:ext cx="150000" cy="0"/>
          </a:xfrm>
          <a:prstGeom prst="straightConnector1">
            <a:avLst/>
          </a:prstGeom>
          <a:ln w="19050">
            <a:solidFill>
              <a:srgbClr val="31507B"/>
            </a:solidFill>
            <a:tailEnd type="triangle" w="med" len="med"/>
          </a:ln>
        </p:spPr>
      </p:cxnSp>
      <p:cxnSp>
        <p:nvCxnSpPr>
          <p:cNvPr id="12" name="Connector 12"/>
          <p:cNvCxnSpPr/>
          <p:nvPr/>
        </p:nvCxnSpPr>
        <p:spPr>
          <a:xfrm>
            <a:off x="2466928" y="3740000"/>
            <a:ext cx="150000" cy="0"/>
          </a:xfrm>
          <a:prstGeom prst="straightConnector1">
            <a:avLst/>
          </a:prstGeom>
          <a:ln w="19050">
            <a:solidFill>
              <a:srgbClr val="31507B"/>
            </a:solidFill>
            <a:tailEnd type="triangle" w="med" len="med"/>
          </a:ln>
        </p:spPr>
      </p:cxnSp>
      <p:cxnSp>
        <p:nvCxnSpPr>
          <p:cNvPr id="13" name="Connector 13"/>
          <p:cNvCxnSpPr/>
          <p:nvPr/>
        </p:nvCxnSpPr>
        <p:spPr>
          <a:xfrm>
            <a:off x="4516928" y="3740000"/>
            <a:ext cx="175000" cy="0"/>
          </a:xfrm>
          <a:prstGeom prst="straightConnector1">
            <a:avLst/>
          </a:prstGeom>
          <a:ln w="19050">
            <a:solidFill>
              <a:srgbClr val="31507B"/>
            </a:solidFill>
          </a:ln>
        </p:spPr>
      </p:cxnSp>
      <p:cxnSp>
        <p:nvCxnSpPr>
          <p:cNvPr id="14" name="Connector 14"/>
          <p:cNvCxnSpPr/>
          <p:nvPr/>
        </p:nvCxnSpPr>
        <p:spPr>
          <a:xfrm>
            <a:off x="4691928" y="2678333"/>
            <a:ext cx="0" cy="2013333"/>
          </a:xfrm>
          <a:prstGeom prst="straightConnector1">
            <a:avLst/>
          </a:prstGeom>
          <a:ln w="19050">
            <a:solidFill>
              <a:srgbClr val="31507B"/>
            </a:solidFill>
          </a:ln>
        </p:spPr>
      </p:cxnSp>
      <p:sp>
        <p:nvSpPr>
          <p:cNvPr id="15" name="Shape 15"/>
          <p:cNvSpPr/>
          <p:nvPr/>
        </p:nvSpPr>
        <p:spPr>
          <a:xfrm>
            <a:off x="4866928" y="2230000"/>
            <a:ext cx="2550000" cy="896666"/>
          </a:xfrm>
          <a:prstGeom prst="roundRect">
            <a:avLst>
              <a:gd name="adj" fmla="val 8000"/>
            </a:avLst>
          </a:prstGeom>
          <a:solidFill>
            <a:srgbClr val="FFF2DF"/>
          </a:solidFill>
          <a:ln w="12700">
            <a:solidFill>
              <a:srgbClr val="E8DDC7"/>
            </a:solidFill>
          </a:ln>
        </p:spPr>
        <p:txBody>
          <a:bodyPr wrap="square" lIns="54864" tIns="54864" rIns="54864" bIns="54864" rtlCol="0" anchor="ctr"/>
          <a:lstStyle/>
          <a:p>
            <a:pPr marL="0" indent="0" algn="ctr">
              <a:buNone/>
            </a:pPr>
            <a:r>
              <a:rPr lang="en-GB" sz="1400" b="1" noProof="0" dirty="0">
                <a:solidFill>
                  <a:srgbClr val="7B5727"/>
                </a:solidFill>
                <a:latin typeface="Calibri" pitchFamily="34" charset="0"/>
                <a:ea typeface="Calibri" pitchFamily="34" charset="-122"/>
                <a:cs typeface="Calibri" pitchFamily="34" charset="-120"/>
              </a:rPr>
              <a:t>VIA positive</a:t>
            </a:r>
            <a:endParaRPr lang="en-GB" sz="1400" dirty="0"/>
          </a:p>
        </p:txBody>
      </p:sp>
      <p:cxnSp>
        <p:nvCxnSpPr>
          <p:cNvPr id="16" name="Connector 16"/>
          <p:cNvCxnSpPr/>
          <p:nvPr/>
        </p:nvCxnSpPr>
        <p:spPr>
          <a:xfrm>
            <a:off x="4691928" y="2678333"/>
            <a:ext cx="175000" cy="0"/>
          </a:xfrm>
          <a:prstGeom prst="straightConnector1">
            <a:avLst/>
          </a:prstGeom>
          <a:ln w="19050">
            <a:solidFill>
              <a:srgbClr val="31507B"/>
            </a:solidFill>
            <a:tailEnd type="triangle" w="med" len="med"/>
          </a:ln>
        </p:spPr>
      </p:cxnSp>
      <p:cxnSp>
        <p:nvCxnSpPr>
          <p:cNvPr id="17" name="Connector 17"/>
          <p:cNvCxnSpPr/>
          <p:nvPr/>
        </p:nvCxnSpPr>
        <p:spPr>
          <a:xfrm>
            <a:off x="7416928" y="2678333"/>
            <a:ext cx="350000" cy="0"/>
          </a:xfrm>
          <a:prstGeom prst="straightConnector1">
            <a:avLst/>
          </a:prstGeom>
          <a:ln w="19050">
            <a:solidFill>
              <a:srgbClr val="31507B"/>
            </a:solidFill>
            <a:tailEnd type="triangle" w="med" len="med"/>
          </a:ln>
        </p:spPr>
      </p:cxnSp>
      <p:sp>
        <p:nvSpPr>
          <p:cNvPr id="18" name="Shape 18"/>
          <p:cNvSpPr/>
          <p:nvPr/>
        </p:nvSpPr>
        <p:spPr>
          <a:xfrm>
            <a:off x="7766928" y="2230000"/>
            <a:ext cx="3855096" cy="896666"/>
          </a:xfrm>
          <a:prstGeom prst="roundRect">
            <a:avLst>
              <a:gd name="adj" fmla="val 8000"/>
            </a:avLst>
          </a:prstGeom>
          <a:solidFill>
            <a:srgbClr val="EAF7F0"/>
          </a:solidFill>
          <a:ln w="12700">
            <a:solidFill>
              <a:srgbClr val="C0D4CB"/>
            </a:solidFill>
          </a:ln>
        </p:spPr>
        <p:txBody>
          <a:bodyPr wrap="square" lIns="54864" tIns="54864" rIns="54864" bIns="54864" rtlCol="0" anchor="ctr"/>
          <a:lstStyle/>
          <a:p>
            <a:pPr marL="0" indent="0" algn="ctr">
              <a:buNone/>
            </a:pPr>
            <a:r>
              <a:rPr lang="en-GB" sz="1400" b="1" noProof="0" dirty="0">
                <a:solidFill>
                  <a:srgbClr val="23303F"/>
                </a:solidFill>
                <a:latin typeface="Calibri" pitchFamily="34" charset="0"/>
                <a:ea typeface="Calibri" pitchFamily="34" charset="-122"/>
                <a:cs typeface="Calibri" pitchFamily="34" charset="-120"/>
              </a:rPr>
              <a:t>Lesion &lt;75%, TZ 1 or 2: </a:t>
            </a:r>
            <a:r>
              <a:rPr lang="en-GB" sz="1400" noProof="0" dirty="0">
                <a:solidFill>
                  <a:srgbClr val="23303F"/>
                </a:solidFill>
                <a:latin typeface="Calibri" pitchFamily="34" charset="0"/>
                <a:ea typeface="Calibri" pitchFamily="34" charset="-122"/>
                <a:cs typeface="Calibri" pitchFamily="34" charset="-120"/>
              </a:rPr>
              <a:t>thermal ablation</a:t>
            </a:r>
            <a:endParaRPr lang="en-GB" sz="1400" dirty="0"/>
          </a:p>
          <a:p>
            <a:pPr marL="0" indent="0" algn="ctr">
              <a:buNone/>
            </a:pPr>
            <a:r>
              <a:rPr lang="en-GB" sz="1400" b="1" noProof="0" dirty="0">
                <a:solidFill>
                  <a:srgbClr val="23303F"/>
                </a:solidFill>
                <a:latin typeface="Calibri" pitchFamily="34" charset="0"/>
                <a:ea typeface="Calibri" pitchFamily="34" charset="-122"/>
                <a:cs typeface="Calibri" pitchFamily="34" charset="-120"/>
              </a:rPr>
              <a:t>Lesion &gt;75% or TZ 3: </a:t>
            </a:r>
            <a:r>
              <a:rPr lang="en-GB" sz="1400" noProof="0" dirty="0">
                <a:solidFill>
                  <a:srgbClr val="23303F"/>
                </a:solidFill>
                <a:latin typeface="Calibri" pitchFamily="34" charset="0"/>
                <a:ea typeface="Calibri" pitchFamily="34" charset="-122"/>
                <a:cs typeface="Calibri" pitchFamily="34" charset="-120"/>
              </a:rPr>
              <a:t>LEEP</a:t>
            </a:r>
            <a:endParaRPr lang="en-GB" sz="1400" dirty="0"/>
          </a:p>
        </p:txBody>
      </p:sp>
      <p:sp>
        <p:nvSpPr>
          <p:cNvPr id="19" name="Shape 19"/>
          <p:cNvSpPr/>
          <p:nvPr/>
        </p:nvSpPr>
        <p:spPr>
          <a:xfrm>
            <a:off x="4866928" y="3236666"/>
            <a:ext cx="2550000" cy="896666"/>
          </a:xfrm>
          <a:prstGeom prst="roundRect">
            <a:avLst>
              <a:gd name="adj" fmla="val 8000"/>
            </a:avLst>
          </a:prstGeom>
          <a:solidFill>
            <a:srgbClr val="F3F6FB"/>
          </a:solidFill>
          <a:ln w="12700">
            <a:solidFill>
              <a:srgbClr val="E0E3EA"/>
            </a:solidFill>
          </a:ln>
        </p:spPr>
        <p:txBody>
          <a:bodyPr wrap="square" lIns="54864" tIns="54864" rIns="54864" bIns="54864" rtlCol="0" anchor="ctr"/>
          <a:lstStyle/>
          <a:p>
            <a:pPr marL="0" indent="0" algn="ctr">
              <a:buNone/>
            </a:pPr>
            <a:r>
              <a:rPr lang="en-GB" sz="1400" b="1" noProof="0" dirty="0">
                <a:solidFill>
                  <a:srgbClr val="10305A"/>
                </a:solidFill>
                <a:latin typeface="Calibri" pitchFamily="34" charset="0"/>
                <a:ea typeface="Calibri" pitchFamily="34" charset="-122"/>
                <a:cs typeface="Calibri" pitchFamily="34" charset="-120"/>
              </a:rPr>
              <a:t>VIA negative (any high-risk type)</a:t>
            </a:r>
            <a:endParaRPr lang="en-GB" sz="1400" dirty="0"/>
          </a:p>
        </p:txBody>
      </p:sp>
      <p:cxnSp>
        <p:nvCxnSpPr>
          <p:cNvPr id="20" name="Connector 20"/>
          <p:cNvCxnSpPr/>
          <p:nvPr/>
        </p:nvCxnSpPr>
        <p:spPr>
          <a:xfrm>
            <a:off x="4691928" y="3685000"/>
            <a:ext cx="175000" cy="0"/>
          </a:xfrm>
          <a:prstGeom prst="straightConnector1">
            <a:avLst/>
          </a:prstGeom>
          <a:ln w="19050">
            <a:solidFill>
              <a:srgbClr val="31507B"/>
            </a:solidFill>
            <a:tailEnd type="triangle" w="med" len="med"/>
          </a:ln>
        </p:spPr>
      </p:cxnSp>
      <p:cxnSp>
        <p:nvCxnSpPr>
          <p:cNvPr id="21" name="Connector 21"/>
          <p:cNvCxnSpPr/>
          <p:nvPr/>
        </p:nvCxnSpPr>
        <p:spPr>
          <a:xfrm>
            <a:off x="7416928" y="3685000"/>
            <a:ext cx="350000" cy="0"/>
          </a:xfrm>
          <a:prstGeom prst="straightConnector1">
            <a:avLst/>
          </a:prstGeom>
          <a:ln w="19050">
            <a:solidFill>
              <a:srgbClr val="31507B"/>
            </a:solidFill>
            <a:tailEnd type="triangle" w="med" len="med"/>
          </a:ln>
        </p:spPr>
      </p:cxnSp>
      <p:sp>
        <p:nvSpPr>
          <p:cNvPr id="22" name="Shape 22"/>
          <p:cNvSpPr/>
          <p:nvPr/>
        </p:nvSpPr>
        <p:spPr>
          <a:xfrm>
            <a:off x="7766928" y="3236666"/>
            <a:ext cx="3855096" cy="896666"/>
          </a:xfrm>
          <a:prstGeom prst="roundRect">
            <a:avLst>
              <a:gd name="adj" fmla="val 8000"/>
            </a:avLst>
          </a:prstGeom>
          <a:solidFill>
            <a:srgbClr val="EAF7F0"/>
          </a:solidFill>
          <a:ln w="12700">
            <a:solidFill>
              <a:srgbClr val="C0D4CB"/>
            </a:solidFill>
          </a:ln>
        </p:spPr>
        <p:txBody>
          <a:bodyPr wrap="square" lIns="54864" tIns="54864" rIns="54864" bIns="54864" rtlCol="0" anchor="ctr"/>
          <a:lstStyle/>
          <a:p>
            <a:pPr marL="0" indent="0" algn="ctr">
              <a:buNone/>
            </a:pPr>
            <a:r>
              <a:rPr lang="en-GB" sz="1400" b="1" noProof="0" dirty="0">
                <a:solidFill>
                  <a:srgbClr val="23303F"/>
                </a:solidFill>
                <a:latin typeface="Calibri" pitchFamily="34" charset="0"/>
                <a:ea typeface="Calibri" pitchFamily="34" charset="-122"/>
                <a:cs typeface="Calibri" pitchFamily="34" charset="-120"/>
              </a:rPr>
              <a:t>TZ 1 or 2: </a:t>
            </a:r>
            <a:r>
              <a:rPr lang="en-GB" sz="1400" noProof="0" dirty="0">
                <a:solidFill>
                  <a:srgbClr val="23303F"/>
                </a:solidFill>
                <a:latin typeface="Calibri" pitchFamily="34" charset="0"/>
                <a:ea typeface="Calibri" pitchFamily="34" charset="-122"/>
                <a:cs typeface="Calibri" pitchFamily="34" charset="-120"/>
              </a:rPr>
              <a:t>thermal ablation</a:t>
            </a:r>
            <a:endParaRPr lang="en-GB" sz="1400" dirty="0"/>
          </a:p>
          <a:p>
            <a:pPr marL="0" indent="0" algn="ctr">
              <a:buNone/>
            </a:pPr>
            <a:r>
              <a:rPr lang="en-GB" sz="1400" b="1" noProof="0" dirty="0">
                <a:solidFill>
                  <a:srgbClr val="23303F"/>
                </a:solidFill>
                <a:latin typeface="Calibri" pitchFamily="34" charset="0"/>
                <a:ea typeface="Calibri" pitchFamily="34" charset="-122"/>
                <a:cs typeface="Calibri" pitchFamily="34" charset="-120"/>
              </a:rPr>
              <a:t>TZ 3: </a:t>
            </a:r>
            <a:r>
              <a:rPr lang="en-GB" sz="1400" noProof="0" dirty="0">
                <a:solidFill>
                  <a:srgbClr val="23303F"/>
                </a:solidFill>
                <a:latin typeface="Calibri" pitchFamily="34" charset="0"/>
                <a:ea typeface="Calibri" pitchFamily="34" charset="-122"/>
                <a:cs typeface="Calibri" pitchFamily="34" charset="-120"/>
              </a:rPr>
              <a:t>LEEP</a:t>
            </a:r>
            <a:endParaRPr lang="en-GB" sz="1400" dirty="0"/>
          </a:p>
        </p:txBody>
      </p:sp>
      <p:sp>
        <p:nvSpPr>
          <p:cNvPr id="23" name="Shape 23"/>
          <p:cNvSpPr/>
          <p:nvPr/>
        </p:nvSpPr>
        <p:spPr>
          <a:xfrm>
            <a:off x="4866928" y="4243333"/>
            <a:ext cx="2550000" cy="896666"/>
          </a:xfrm>
          <a:prstGeom prst="roundRect">
            <a:avLst>
              <a:gd name="adj" fmla="val 8000"/>
            </a:avLst>
          </a:prstGeom>
          <a:solidFill>
            <a:srgbClr val="FDE9E8"/>
          </a:solidFill>
          <a:ln w="12700">
            <a:solidFill>
              <a:srgbClr val="F0CFCE"/>
            </a:solidFill>
          </a:ln>
        </p:spPr>
        <p:txBody>
          <a:bodyPr wrap="square" lIns="54864" tIns="54864" rIns="54864" bIns="54864" rtlCol="0" anchor="ctr"/>
          <a:lstStyle/>
          <a:p>
            <a:pPr marL="0" indent="0" algn="ctr">
              <a:buNone/>
            </a:pPr>
            <a:r>
              <a:rPr lang="en-GB" sz="1400" b="1" noProof="0" dirty="0">
                <a:solidFill>
                  <a:srgbClr val="8E2531"/>
                </a:solidFill>
                <a:latin typeface="Calibri" pitchFamily="34" charset="0"/>
                <a:ea typeface="Calibri" pitchFamily="34" charset="-122"/>
                <a:cs typeface="Calibri" pitchFamily="34" charset="-120"/>
              </a:rPr>
              <a:t>Suspicious for cancer</a:t>
            </a:r>
            <a:endParaRPr lang="en-GB" sz="1400" dirty="0"/>
          </a:p>
        </p:txBody>
      </p:sp>
      <p:cxnSp>
        <p:nvCxnSpPr>
          <p:cNvPr id="24" name="Connector 24"/>
          <p:cNvCxnSpPr/>
          <p:nvPr/>
        </p:nvCxnSpPr>
        <p:spPr>
          <a:xfrm>
            <a:off x="4691928" y="4691666"/>
            <a:ext cx="175000" cy="0"/>
          </a:xfrm>
          <a:prstGeom prst="straightConnector1">
            <a:avLst/>
          </a:prstGeom>
          <a:ln w="19050">
            <a:solidFill>
              <a:srgbClr val="31507B"/>
            </a:solidFill>
            <a:tailEnd type="triangle" w="med" len="med"/>
          </a:ln>
        </p:spPr>
      </p:cxnSp>
      <p:cxnSp>
        <p:nvCxnSpPr>
          <p:cNvPr id="25" name="Connector 25"/>
          <p:cNvCxnSpPr/>
          <p:nvPr/>
        </p:nvCxnSpPr>
        <p:spPr>
          <a:xfrm>
            <a:off x="7416928" y="4691666"/>
            <a:ext cx="350000" cy="0"/>
          </a:xfrm>
          <a:prstGeom prst="straightConnector1">
            <a:avLst/>
          </a:prstGeom>
          <a:ln w="19050">
            <a:solidFill>
              <a:srgbClr val="31507B"/>
            </a:solidFill>
            <a:tailEnd type="triangle" w="med" len="med"/>
          </a:ln>
        </p:spPr>
      </p:cxnSp>
      <p:sp>
        <p:nvSpPr>
          <p:cNvPr id="26" name="Shape 26"/>
          <p:cNvSpPr/>
          <p:nvPr/>
        </p:nvSpPr>
        <p:spPr>
          <a:xfrm>
            <a:off x="7766928" y="4243333"/>
            <a:ext cx="3855096" cy="896666"/>
          </a:xfrm>
          <a:prstGeom prst="roundRect">
            <a:avLst>
              <a:gd name="adj" fmla="val 8000"/>
            </a:avLst>
          </a:prstGeom>
          <a:solidFill>
            <a:srgbClr val="FDE9E8"/>
          </a:solidFill>
          <a:ln w="12700">
            <a:solidFill>
              <a:srgbClr val="F0CFCE"/>
            </a:solidFill>
          </a:ln>
        </p:spPr>
        <p:txBody>
          <a:bodyPr wrap="square" lIns="54864" tIns="54864" rIns="54864" bIns="54864" rtlCol="0" anchor="ctr"/>
          <a:lstStyle/>
          <a:p>
            <a:pPr marL="0" indent="0" algn="ctr">
              <a:buNone/>
            </a:pPr>
            <a:r>
              <a:rPr lang="en-GB" sz="1400" b="1" noProof="0" dirty="0">
                <a:solidFill>
                  <a:srgbClr val="8E2531"/>
                </a:solidFill>
                <a:latin typeface="Calibri" pitchFamily="34" charset="0"/>
                <a:ea typeface="Calibri" pitchFamily="34" charset="-122"/>
                <a:cs typeface="Calibri" pitchFamily="34" charset="-120"/>
              </a:rPr>
              <a:t>Refer to the district hospital for biopsy and diagnosis</a:t>
            </a:r>
            <a:endParaRPr lang="en-GB" sz="1400" dirty="0"/>
          </a:p>
        </p:txBody>
      </p:sp>
      <p:sp>
        <p:nvSpPr>
          <p:cNvPr id="27" name="Shape 27"/>
          <p:cNvSpPr/>
          <p:nvPr/>
        </p:nvSpPr>
        <p:spPr>
          <a:xfrm>
            <a:off x="566928" y="5420000"/>
            <a:ext cx="11055096" cy="780000"/>
          </a:xfrm>
          <a:prstGeom prst="roundRect">
            <a:avLst>
              <a:gd name="adj" fmla="val 3000"/>
            </a:avLst>
          </a:prstGeom>
          <a:solidFill>
            <a:srgbClr val="EAF7F0"/>
          </a:solidFill>
          <a:ln w="12700">
            <a:solidFill>
              <a:srgbClr val="C0D4CB"/>
            </a:solidFill>
          </a:ln>
        </p:spPr>
        <p:txBody>
          <a:bodyPr/>
          <a:lstStyle/>
          <a:p>
            <a:endParaRPr lang="en-GB" sz="1600" dirty="0"/>
          </a:p>
        </p:txBody>
      </p:sp>
      <p:sp>
        <p:nvSpPr>
          <p:cNvPr id="28" name="Text 28"/>
          <p:cNvSpPr txBox="1"/>
          <p:nvPr/>
        </p:nvSpPr>
        <p:spPr>
          <a:xfrm>
            <a:off x="841248" y="5470000"/>
            <a:ext cx="10506456" cy="680000"/>
          </a:xfrm>
          <a:prstGeom prst="rect">
            <a:avLst/>
          </a:prstGeom>
          <a:noFill/>
          <a:ln/>
        </p:spPr>
        <p:txBody>
          <a:bodyPr wrap="square" lIns="0" tIns="0" rIns="0" bIns="0" rtlCol="0" anchor="ctr"/>
          <a:lstStyle/>
          <a:p>
            <a:pPr marL="0" indent="0" algn="l">
              <a:buNone/>
            </a:pPr>
            <a:r>
              <a:rPr lang="en-GB" sz="1500" b="1" noProof="0" dirty="0">
                <a:solidFill>
                  <a:srgbClr val="19543E"/>
                </a:solidFill>
                <a:latin typeface="Calibri" pitchFamily="34" charset="0"/>
                <a:ea typeface="Calibri" pitchFamily="34" charset="-122"/>
                <a:cs typeface="Calibri" pitchFamily="34" charset="-120"/>
              </a:rPr>
              <a:t>📋 After thermal ablation or LEEP:  </a:t>
            </a:r>
            <a:r>
              <a:rPr lang="en-GB" sz="1500" noProof="0" dirty="0">
                <a:solidFill>
                  <a:srgbClr val="23303F"/>
                </a:solidFill>
                <a:latin typeface="Calibri" pitchFamily="34" charset="0"/>
                <a:ea typeface="Calibri" pitchFamily="34" charset="-122"/>
                <a:cs typeface="Calibri" pitchFamily="34" charset="-120"/>
              </a:rPr>
              <a:t>Follow-up test at 12 months, with an HPV test (VIA if HPV testing is not available).</a:t>
            </a:r>
            <a:endParaRPr lang="en-GB" sz="1500" dirty="0"/>
          </a:p>
        </p:txBody>
      </p:sp>
      <p:sp>
        <p:nvSpPr>
          <p:cNvPr id="29" name="Text 29"/>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30" name="Text 30"/>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93</a:t>
            </a:r>
            <a:endParaRPr lang="en-GB" sz="11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2 · MANAGEMENT</a:t>
            </a:r>
            <a:endParaRPr lang="en-GB"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Women aged 50 to 65 who were never screened</a:t>
            </a:r>
          </a:p>
        </p:txBody>
      </p:sp>
      <p:sp>
        <p:nvSpPr>
          <p:cNvPr id="4" name="Shape 4"/>
          <p:cNvSpPr/>
          <p:nvPr/>
        </p:nvSpPr>
        <p:spPr>
          <a:xfrm>
            <a:off x="566928" y="1450000"/>
            <a:ext cx="3563112" cy="320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5" name="Text 5"/>
          <p:cNvSpPr txBox="1"/>
          <p:nvPr/>
        </p:nvSpPr>
        <p:spPr>
          <a:xfrm>
            <a:off x="822960" y="1570000"/>
            <a:ext cx="3051048" cy="520000"/>
          </a:xfrm>
          <a:prstGeom prst="rect">
            <a:avLst/>
          </a:prstGeom>
          <a:noFill/>
          <a:ln/>
        </p:spPr>
        <p:txBody>
          <a:bodyPr wrap="square" lIns="0" tIns="0" rIns="0" bIns="0" rtlCol="0" anchor="ctr"/>
          <a:lstStyle/>
          <a:p>
            <a:pPr marL="0" indent="0" algn="l">
              <a:buNone/>
            </a:pPr>
            <a:r>
              <a:rPr lang="en-GB" sz="2000" b="1" noProof="0" dirty="0">
                <a:solidFill>
                  <a:srgbClr val="10305A"/>
                </a:solidFill>
                <a:latin typeface="Calibri" pitchFamily="34" charset="0"/>
                <a:ea typeface="Calibri" pitchFamily="34" charset="-122"/>
                <a:cs typeface="Calibri" pitchFamily="34" charset="-120"/>
              </a:rPr>
              <a:t>👤  Who</a:t>
            </a:r>
            <a:endParaRPr lang="en-GB" sz="2000" dirty="0"/>
          </a:p>
        </p:txBody>
      </p:sp>
      <p:sp>
        <p:nvSpPr>
          <p:cNvPr id="6" name="Text 6"/>
          <p:cNvSpPr txBox="1"/>
          <p:nvPr/>
        </p:nvSpPr>
        <p:spPr>
          <a:xfrm>
            <a:off x="822960" y="2150000"/>
            <a:ext cx="3051048" cy="2420000"/>
          </a:xfrm>
          <a:prstGeom prst="rect">
            <a:avLst/>
          </a:prstGeom>
          <a:noFill/>
          <a:ln/>
        </p:spPr>
        <p:txBody>
          <a:bodyPr wrap="square" lIns="0" tIns="0" rIns="0" bIns="0" rtlCol="0" anchor="t"/>
          <a:lstStyle/>
          <a:p>
            <a:pPr marL="0" indent="0" algn="l">
              <a:lnSpc>
                <a:spcPct val="104000"/>
              </a:lnSpc>
              <a:spcAft>
                <a:spcPts val="600"/>
              </a:spcAft>
              <a:buNone/>
            </a:pPr>
            <a:r>
              <a:rPr lang="en-GB" sz="1800" noProof="0" dirty="0">
                <a:solidFill>
                  <a:srgbClr val="23303F"/>
                </a:solidFill>
                <a:latin typeface="Calibri" pitchFamily="34" charset="0"/>
                <a:ea typeface="Calibri" pitchFamily="34" charset="-122"/>
                <a:cs typeface="Calibri" pitchFamily="34" charset="-120"/>
              </a:rPr>
              <a:t>Women aged 50 to 65 who were never screened, or who have no documented negative result from the priority ages.</a:t>
            </a:r>
            <a:endParaRPr lang="en-GB" sz="1800" dirty="0"/>
          </a:p>
        </p:txBody>
      </p:sp>
      <p:sp>
        <p:nvSpPr>
          <p:cNvPr id="7" name="Shape 7"/>
          <p:cNvSpPr/>
          <p:nvPr/>
        </p:nvSpPr>
        <p:spPr>
          <a:xfrm>
            <a:off x="4312920" y="1450000"/>
            <a:ext cx="3563112" cy="320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8" name="Text 8"/>
          <p:cNvSpPr txBox="1"/>
          <p:nvPr/>
        </p:nvSpPr>
        <p:spPr>
          <a:xfrm>
            <a:off x="4568952" y="1570000"/>
            <a:ext cx="3051048" cy="520000"/>
          </a:xfrm>
          <a:prstGeom prst="rect">
            <a:avLst/>
          </a:prstGeom>
          <a:noFill/>
          <a:ln/>
        </p:spPr>
        <p:txBody>
          <a:bodyPr wrap="square" lIns="0" tIns="0" rIns="0" bIns="0" rtlCol="0" anchor="ctr"/>
          <a:lstStyle/>
          <a:p>
            <a:pPr marL="0" indent="0" algn="l">
              <a:buNone/>
            </a:pPr>
            <a:r>
              <a:rPr lang="en-GB" sz="2000" b="1" noProof="0" dirty="0">
                <a:solidFill>
                  <a:srgbClr val="10305A"/>
                </a:solidFill>
                <a:latin typeface="Calibri" pitchFamily="34" charset="0"/>
                <a:ea typeface="Calibri" pitchFamily="34" charset="-122"/>
                <a:cs typeface="Calibri" pitchFamily="34" charset="-120"/>
              </a:rPr>
              <a:t>🔬  Which test</a:t>
            </a:r>
            <a:endParaRPr lang="en-GB" sz="2000" dirty="0"/>
          </a:p>
        </p:txBody>
      </p:sp>
      <p:sp>
        <p:nvSpPr>
          <p:cNvPr id="9" name="Text 9"/>
          <p:cNvSpPr txBox="1"/>
          <p:nvPr/>
        </p:nvSpPr>
        <p:spPr>
          <a:xfrm>
            <a:off x="4568952" y="2150000"/>
            <a:ext cx="3051048" cy="2420000"/>
          </a:xfrm>
          <a:prstGeom prst="rect">
            <a:avLst/>
          </a:prstGeom>
          <a:noFill/>
          <a:ln/>
        </p:spPr>
        <p:txBody>
          <a:bodyPr wrap="square" lIns="0" tIns="0" rIns="0" bIns="0" rtlCol="0" anchor="t"/>
          <a:lstStyle/>
          <a:p>
            <a:pPr marL="0" indent="0" algn="l">
              <a:lnSpc>
                <a:spcPct val="104000"/>
              </a:lnSpc>
              <a:spcAft>
                <a:spcPts val="600"/>
              </a:spcAft>
              <a:buNone/>
            </a:pPr>
            <a:r>
              <a:rPr lang="en-GB" sz="1800" noProof="0" dirty="0">
                <a:solidFill>
                  <a:srgbClr val="23303F"/>
                </a:solidFill>
                <a:latin typeface="Calibri" pitchFamily="34" charset="0"/>
                <a:ea typeface="Calibri" pitchFamily="34" charset="-122"/>
                <a:cs typeface="Calibri" pitchFamily="34" charset="-120"/>
              </a:rPr>
              <a:t>Pap smear (cytology). Where Pap smear is not available, use VIA.</a:t>
            </a:r>
            <a:endParaRPr lang="en-GB" sz="1800" dirty="0"/>
          </a:p>
        </p:txBody>
      </p:sp>
      <p:sp>
        <p:nvSpPr>
          <p:cNvPr id="10" name="Shape 10"/>
          <p:cNvSpPr/>
          <p:nvPr/>
        </p:nvSpPr>
        <p:spPr>
          <a:xfrm>
            <a:off x="8058912" y="1450000"/>
            <a:ext cx="3563112" cy="320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1" name="Text 11"/>
          <p:cNvSpPr txBox="1"/>
          <p:nvPr/>
        </p:nvSpPr>
        <p:spPr>
          <a:xfrm>
            <a:off x="8314944" y="1570000"/>
            <a:ext cx="3051048" cy="520000"/>
          </a:xfrm>
          <a:prstGeom prst="rect">
            <a:avLst/>
          </a:prstGeom>
          <a:noFill/>
          <a:ln/>
        </p:spPr>
        <p:txBody>
          <a:bodyPr wrap="square" lIns="0" tIns="0" rIns="0" bIns="0" rtlCol="0" anchor="ctr"/>
          <a:lstStyle/>
          <a:p>
            <a:pPr marL="0" indent="0" algn="l">
              <a:buNone/>
            </a:pPr>
            <a:r>
              <a:rPr lang="en-GB" sz="2000" b="1" noProof="0" dirty="0">
                <a:solidFill>
                  <a:srgbClr val="10305A"/>
                </a:solidFill>
                <a:latin typeface="Calibri" pitchFamily="34" charset="0"/>
                <a:ea typeface="Calibri" pitchFamily="34" charset="-122"/>
                <a:cs typeface="Calibri" pitchFamily="34" charset="-120"/>
              </a:rPr>
              <a:t>⚠️  What to expect</a:t>
            </a:r>
            <a:endParaRPr lang="en-GB" sz="2000" dirty="0"/>
          </a:p>
        </p:txBody>
      </p:sp>
      <p:sp>
        <p:nvSpPr>
          <p:cNvPr id="12" name="Text 12"/>
          <p:cNvSpPr txBox="1"/>
          <p:nvPr/>
        </p:nvSpPr>
        <p:spPr>
          <a:xfrm>
            <a:off x="8314944" y="2150000"/>
            <a:ext cx="3051048" cy="2420000"/>
          </a:xfrm>
          <a:prstGeom prst="rect">
            <a:avLst/>
          </a:prstGeom>
          <a:noFill/>
          <a:ln/>
        </p:spPr>
        <p:txBody>
          <a:bodyPr wrap="square" lIns="0" tIns="0" rIns="0" bIns="0" rtlCol="0" anchor="t"/>
          <a:lstStyle/>
          <a:p>
            <a:pPr marL="0" indent="0" algn="l">
              <a:lnSpc>
                <a:spcPct val="104000"/>
              </a:lnSpc>
              <a:spcAft>
                <a:spcPts val="600"/>
              </a:spcAft>
              <a:buNone/>
            </a:pPr>
            <a:r>
              <a:rPr lang="en-GB" sz="1800" noProof="0" dirty="0">
                <a:solidFill>
                  <a:srgbClr val="23303F"/>
                </a:solidFill>
                <a:latin typeface="Calibri" pitchFamily="34" charset="0"/>
                <a:ea typeface="Calibri" pitchFamily="34" charset="-122"/>
                <a:cs typeface="Calibri" pitchFamily="34" charset="-120"/>
              </a:rPr>
              <a:t>After the menopause the SCJ often lies inside the canal (type 3), so VIA is less reliable and ablation is often not suitable.</a:t>
            </a:r>
            <a:endParaRPr lang="en-GB" sz="1800" dirty="0"/>
          </a:p>
        </p:txBody>
      </p:sp>
      <p:sp>
        <p:nvSpPr>
          <p:cNvPr id="15" name="Text 15"/>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16" name="Text 16"/>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94</a:t>
            </a:r>
            <a:endParaRPr lang="en-GB" sz="11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2 · INTERACTIVE</a:t>
            </a:r>
            <a:endParaRPr lang="en-GB"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Match each woman to the next step</a:t>
            </a:r>
          </a:p>
        </p:txBody>
      </p:sp>
      <p:sp>
        <p:nvSpPr>
          <p:cNvPr id="4" name="Text 4"/>
          <p:cNvSpPr txBox="1"/>
          <p:nvPr/>
        </p:nvSpPr>
        <p:spPr>
          <a:xfrm>
            <a:off x="566928" y="1517904"/>
            <a:ext cx="11055096" cy="365760"/>
          </a:xfrm>
          <a:prstGeom prst="rect">
            <a:avLst/>
          </a:prstGeom>
          <a:noFill/>
          <a:ln/>
        </p:spPr>
        <p:txBody>
          <a:bodyPr wrap="square" lIns="0" tIns="0" rIns="0" bIns="0" rtlCol="0" anchor="ctr"/>
          <a:lstStyle/>
          <a:p>
            <a:pPr marL="0" indent="0" algn="l">
              <a:buNone/>
            </a:pPr>
            <a:r>
              <a:rPr lang="en-GB" sz="1800" noProof="0" dirty="0">
                <a:solidFill>
                  <a:srgbClr val="31507B"/>
                </a:solidFill>
                <a:latin typeface="Calibri" pitchFamily="34" charset="0"/>
                <a:ea typeface="Calibri" pitchFamily="34" charset="-122"/>
                <a:cs typeface="Calibri" pitchFamily="34" charset="-120"/>
              </a:rPr>
              <a:t>💬  Match each result on the left to the correct next step on the right, then select Submit.</a:t>
            </a:r>
            <a:endParaRPr lang="en-GB" sz="1800" dirty="0"/>
          </a:p>
        </p:txBody>
      </p:sp>
      <p:sp>
        <p:nvSpPr>
          <p:cNvPr id="5" name="Shape 5"/>
          <p:cNvSpPr/>
          <p:nvPr/>
        </p:nvSpPr>
        <p:spPr>
          <a:xfrm>
            <a:off x="566928" y="2011680"/>
            <a:ext cx="5074920" cy="74361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6" name="Text 6"/>
          <p:cNvSpPr txBox="1"/>
          <p:nvPr/>
        </p:nvSpPr>
        <p:spPr>
          <a:xfrm>
            <a:off x="786384" y="2011680"/>
            <a:ext cx="4636008" cy="743610"/>
          </a:xfrm>
          <a:prstGeom prst="rect">
            <a:avLst/>
          </a:prstGeom>
          <a:noFill/>
          <a:ln/>
        </p:spPr>
        <p:txBody>
          <a:bodyPr wrap="square" lIns="0" tIns="0" rIns="0" bIns="0" rtlCol="0" anchor="ctr"/>
          <a:lstStyle/>
          <a:p>
            <a:pPr marL="0" indent="0" algn="l">
              <a:buNone/>
            </a:pPr>
            <a:r>
              <a:rPr lang="en-GB" sz="1700" noProof="0" dirty="0">
                <a:solidFill>
                  <a:srgbClr val="23303F"/>
                </a:solidFill>
                <a:latin typeface="Calibri" pitchFamily="34" charset="0"/>
                <a:ea typeface="Calibri" pitchFamily="34" charset="-122"/>
                <a:cs typeface="Calibri" pitchFamily="34" charset="-120"/>
              </a:rPr>
              <a:t>HIV-negative, HPV negative</a:t>
            </a:r>
            <a:endParaRPr lang="en-GB" sz="1700" dirty="0"/>
          </a:p>
        </p:txBody>
      </p:sp>
      <p:sp>
        <p:nvSpPr>
          <p:cNvPr id="7" name="Text 7"/>
          <p:cNvSpPr txBox="1"/>
          <p:nvPr/>
        </p:nvSpPr>
        <p:spPr>
          <a:xfrm>
            <a:off x="5641848" y="2011680"/>
            <a:ext cx="548640" cy="743610"/>
          </a:xfrm>
          <a:prstGeom prst="rect">
            <a:avLst/>
          </a:prstGeom>
          <a:noFill/>
          <a:ln/>
        </p:spPr>
        <p:txBody>
          <a:bodyPr wrap="square" lIns="0" tIns="0" rIns="0" bIns="0" rtlCol="0" anchor="ctr"/>
          <a:lstStyle/>
          <a:p>
            <a:pPr marL="0" indent="0" algn="l">
              <a:buNone/>
            </a:pPr>
            <a:r>
              <a:rPr lang="en-GB" sz="1500" noProof="0" dirty="0">
                <a:solidFill>
                  <a:srgbClr val="000000"/>
                </a:solidFill>
                <a:latin typeface="Calibri" pitchFamily="34" charset="0"/>
                <a:ea typeface="Calibri" pitchFamily="34" charset="-122"/>
                <a:cs typeface="Calibri" pitchFamily="34" charset="-120"/>
              </a:rPr>
              <a:t>➡️</a:t>
            </a:r>
            <a:endParaRPr lang="en-GB" sz="1500" dirty="0"/>
          </a:p>
        </p:txBody>
      </p:sp>
      <p:sp>
        <p:nvSpPr>
          <p:cNvPr id="8" name="Shape 8"/>
          <p:cNvSpPr/>
          <p:nvPr/>
        </p:nvSpPr>
        <p:spPr>
          <a:xfrm>
            <a:off x="6190488" y="2011680"/>
            <a:ext cx="5431536" cy="743610"/>
          </a:xfrm>
          <a:prstGeom prst="roundRect">
            <a:avLst>
              <a:gd name="adj" fmla="val 3000"/>
            </a:avLst>
          </a:prstGeom>
          <a:solidFill>
            <a:srgbClr val="EAF7F0"/>
          </a:solidFill>
          <a:ln w="12700">
            <a:solidFill>
              <a:srgbClr val="C0D4CB"/>
            </a:solidFill>
          </a:ln>
        </p:spPr>
        <p:txBody>
          <a:bodyPr/>
          <a:lstStyle/>
          <a:p>
            <a:endParaRPr lang="en-GB" sz="1600" dirty="0"/>
          </a:p>
        </p:txBody>
      </p:sp>
      <p:sp>
        <p:nvSpPr>
          <p:cNvPr id="9" name="Text 9"/>
          <p:cNvSpPr txBox="1"/>
          <p:nvPr/>
        </p:nvSpPr>
        <p:spPr>
          <a:xfrm>
            <a:off x="6409944" y="2011680"/>
            <a:ext cx="4992624" cy="743610"/>
          </a:xfrm>
          <a:prstGeom prst="rect">
            <a:avLst/>
          </a:prstGeom>
          <a:noFill/>
          <a:ln/>
        </p:spPr>
        <p:txBody>
          <a:bodyPr wrap="square" lIns="0" tIns="0" rIns="0" bIns="0" rtlCol="0" anchor="ctr"/>
          <a:lstStyle/>
          <a:p>
            <a:pPr marL="0" indent="0" algn="l">
              <a:buNone/>
            </a:pPr>
            <a:r>
              <a:rPr lang="en-GB" sz="1700" noProof="0" dirty="0">
                <a:solidFill>
                  <a:srgbClr val="23303F"/>
                </a:solidFill>
                <a:latin typeface="Calibri" pitchFamily="34" charset="0"/>
                <a:ea typeface="Calibri" pitchFamily="34" charset="-122"/>
                <a:cs typeface="Calibri" pitchFamily="34" charset="-120"/>
              </a:rPr>
              <a:t>Rescreen with an HPV test after 10 years</a:t>
            </a:r>
            <a:endParaRPr lang="en-GB" sz="1700" dirty="0"/>
          </a:p>
        </p:txBody>
      </p:sp>
      <p:sp>
        <p:nvSpPr>
          <p:cNvPr id="10" name="Shape 10"/>
          <p:cNvSpPr/>
          <p:nvPr/>
        </p:nvSpPr>
        <p:spPr>
          <a:xfrm>
            <a:off x="566928" y="2859049"/>
            <a:ext cx="5074920" cy="74361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1" name="Text 11"/>
          <p:cNvSpPr txBox="1"/>
          <p:nvPr/>
        </p:nvSpPr>
        <p:spPr>
          <a:xfrm>
            <a:off x="786384" y="2859049"/>
            <a:ext cx="4636008" cy="743610"/>
          </a:xfrm>
          <a:prstGeom prst="rect">
            <a:avLst/>
          </a:prstGeom>
          <a:noFill/>
          <a:ln/>
        </p:spPr>
        <p:txBody>
          <a:bodyPr wrap="square" lIns="0" tIns="0" rIns="0" bIns="0" rtlCol="0" anchor="ctr"/>
          <a:lstStyle/>
          <a:p>
            <a:pPr marL="0" indent="0" algn="l">
              <a:buNone/>
            </a:pPr>
            <a:r>
              <a:rPr lang="en-GB" sz="1700" noProof="0" dirty="0">
                <a:solidFill>
                  <a:srgbClr val="23303F"/>
                </a:solidFill>
                <a:latin typeface="Calibri" pitchFamily="34" charset="0"/>
                <a:ea typeface="Calibri" pitchFamily="34" charset="-122"/>
                <a:cs typeface="Calibri" pitchFamily="34" charset="-120"/>
              </a:rPr>
              <a:t>Living with HIV, HPV negative</a:t>
            </a:r>
            <a:endParaRPr lang="en-GB" sz="1700" dirty="0"/>
          </a:p>
        </p:txBody>
      </p:sp>
      <p:sp>
        <p:nvSpPr>
          <p:cNvPr id="12" name="Text 12"/>
          <p:cNvSpPr txBox="1"/>
          <p:nvPr/>
        </p:nvSpPr>
        <p:spPr>
          <a:xfrm>
            <a:off x="5641848" y="2859049"/>
            <a:ext cx="548640" cy="743610"/>
          </a:xfrm>
          <a:prstGeom prst="rect">
            <a:avLst/>
          </a:prstGeom>
          <a:noFill/>
          <a:ln/>
        </p:spPr>
        <p:txBody>
          <a:bodyPr wrap="square" lIns="0" tIns="0" rIns="0" bIns="0" rtlCol="0" anchor="ctr"/>
          <a:lstStyle/>
          <a:p>
            <a:pPr marL="0" indent="0" algn="l">
              <a:buNone/>
            </a:pPr>
            <a:r>
              <a:rPr lang="en-GB" sz="1500" noProof="0" dirty="0">
                <a:solidFill>
                  <a:srgbClr val="000000"/>
                </a:solidFill>
                <a:latin typeface="Calibri" pitchFamily="34" charset="0"/>
                <a:ea typeface="Calibri" pitchFamily="34" charset="-122"/>
                <a:cs typeface="Calibri" pitchFamily="34" charset="-120"/>
              </a:rPr>
              <a:t>➡️</a:t>
            </a:r>
            <a:endParaRPr lang="en-GB" sz="1500" dirty="0"/>
          </a:p>
        </p:txBody>
      </p:sp>
      <p:sp>
        <p:nvSpPr>
          <p:cNvPr id="13" name="Shape 13"/>
          <p:cNvSpPr/>
          <p:nvPr/>
        </p:nvSpPr>
        <p:spPr>
          <a:xfrm>
            <a:off x="6190488" y="2859049"/>
            <a:ext cx="5431536" cy="743610"/>
          </a:xfrm>
          <a:prstGeom prst="roundRect">
            <a:avLst>
              <a:gd name="adj" fmla="val 3000"/>
            </a:avLst>
          </a:prstGeom>
          <a:solidFill>
            <a:srgbClr val="EAF7F0"/>
          </a:solidFill>
          <a:ln w="12700">
            <a:solidFill>
              <a:srgbClr val="C0D4CB"/>
            </a:solidFill>
          </a:ln>
        </p:spPr>
        <p:txBody>
          <a:bodyPr/>
          <a:lstStyle/>
          <a:p>
            <a:endParaRPr lang="en-GB" sz="1600" dirty="0"/>
          </a:p>
        </p:txBody>
      </p:sp>
      <p:sp>
        <p:nvSpPr>
          <p:cNvPr id="14" name="Text 14"/>
          <p:cNvSpPr txBox="1"/>
          <p:nvPr/>
        </p:nvSpPr>
        <p:spPr>
          <a:xfrm>
            <a:off x="6409944" y="2859049"/>
            <a:ext cx="4992624" cy="743610"/>
          </a:xfrm>
          <a:prstGeom prst="rect">
            <a:avLst/>
          </a:prstGeom>
          <a:noFill/>
          <a:ln/>
        </p:spPr>
        <p:txBody>
          <a:bodyPr wrap="square" lIns="0" tIns="0" rIns="0" bIns="0" rtlCol="0" anchor="ctr"/>
          <a:lstStyle/>
          <a:p>
            <a:pPr marL="0" indent="0" algn="l">
              <a:buNone/>
            </a:pPr>
            <a:r>
              <a:rPr lang="en-GB" sz="1700" noProof="0" dirty="0">
                <a:solidFill>
                  <a:srgbClr val="23303F"/>
                </a:solidFill>
                <a:latin typeface="Calibri" pitchFamily="34" charset="0"/>
                <a:ea typeface="Calibri" pitchFamily="34" charset="-122"/>
                <a:cs typeface="Calibri" pitchFamily="34" charset="-120"/>
              </a:rPr>
              <a:t>Rescreen with an HPV test after 5 years</a:t>
            </a:r>
            <a:endParaRPr lang="en-GB" sz="1700" dirty="0"/>
          </a:p>
        </p:txBody>
      </p:sp>
      <p:sp>
        <p:nvSpPr>
          <p:cNvPr id="15" name="Shape 15"/>
          <p:cNvSpPr/>
          <p:nvPr/>
        </p:nvSpPr>
        <p:spPr>
          <a:xfrm>
            <a:off x="566928" y="3706418"/>
            <a:ext cx="5074920" cy="74361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6" name="Text 16"/>
          <p:cNvSpPr txBox="1"/>
          <p:nvPr/>
        </p:nvSpPr>
        <p:spPr>
          <a:xfrm>
            <a:off x="786384" y="3706418"/>
            <a:ext cx="4636008" cy="743610"/>
          </a:xfrm>
          <a:prstGeom prst="rect">
            <a:avLst/>
          </a:prstGeom>
          <a:noFill/>
          <a:ln/>
        </p:spPr>
        <p:txBody>
          <a:bodyPr wrap="square" lIns="0" tIns="0" rIns="0" bIns="0" rtlCol="0" anchor="ctr"/>
          <a:lstStyle/>
          <a:p>
            <a:pPr marL="0" indent="0" algn="l">
              <a:buNone/>
            </a:pPr>
            <a:r>
              <a:rPr lang="en-GB" sz="1700" noProof="0" dirty="0">
                <a:solidFill>
                  <a:srgbClr val="23303F"/>
                </a:solidFill>
                <a:latin typeface="Calibri" pitchFamily="34" charset="0"/>
                <a:ea typeface="Calibri" pitchFamily="34" charset="-122"/>
                <a:cs typeface="Calibri" pitchFamily="34" charset="-120"/>
              </a:rPr>
              <a:t>HIV-negative, other high-risk type, VIA negative</a:t>
            </a:r>
            <a:endParaRPr lang="en-GB" sz="1700" dirty="0"/>
          </a:p>
        </p:txBody>
      </p:sp>
      <p:sp>
        <p:nvSpPr>
          <p:cNvPr id="17" name="Text 17"/>
          <p:cNvSpPr txBox="1"/>
          <p:nvPr/>
        </p:nvSpPr>
        <p:spPr>
          <a:xfrm>
            <a:off x="5641848" y="3706418"/>
            <a:ext cx="548640" cy="743610"/>
          </a:xfrm>
          <a:prstGeom prst="rect">
            <a:avLst/>
          </a:prstGeom>
          <a:noFill/>
          <a:ln/>
        </p:spPr>
        <p:txBody>
          <a:bodyPr wrap="square" lIns="0" tIns="0" rIns="0" bIns="0" rtlCol="0" anchor="ctr"/>
          <a:lstStyle/>
          <a:p>
            <a:pPr marL="0" indent="0" algn="l">
              <a:buNone/>
            </a:pPr>
            <a:r>
              <a:rPr lang="en-GB" sz="1500" noProof="0" dirty="0">
                <a:solidFill>
                  <a:srgbClr val="000000"/>
                </a:solidFill>
                <a:latin typeface="Calibri" pitchFamily="34" charset="0"/>
                <a:ea typeface="Calibri" pitchFamily="34" charset="-122"/>
                <a:cs typeface="Calibri" pitchFamily="34" charset="-120"/>
              </a:rPr>
              <a:t>➡️</a:t>
            </a:r>
            <a:endParaRPr lang="en-GB" sz="1500" dirty="0"/>
          </a:p>
        </p:txBody>
      </p:sp>
      <p:sp>
        <p:nvSpPr>
          <p:cNvPr id="18" name="Shape 18"/>
          <p:cNvSpPr/>
          <p:nvPr/>
        </p:nvSpPr>
        <p:spPr>
          <a:xfrm>
            <a:off x="6190488" y="3706418"/>
            <a:ext cx="5431536" cy="743610"/>
          </a:xfrm>
          <a:prstGeom prst="roundRect">
            <a:avLst>
              <a:gd name="adj" fmla="val 3000"/>
            </a:avLst>
          </a:prstGeom>
          <a:solidFill>
            <a:srgbClr val="EAF7F0"/>
          </a:solidFill>
          <a:ln w="12700">
            <a:solidFill>
              <a:srgbClr val="C0D4CB"/>
            </a:solidFill>
          </a:ln>
        </p:spPr>
        <p:txBody>
          <a:bodyPr/>
          <a:lstStyle/>
          <a:p>
            <a:endParaRPr lang="en-GB" sz="1600" dirty="0"/>
          </a:p>
        </p:txBody>
      </p:sp>
      <p:sp>
        <p:nvSpPr>
          <p:cNvPr id="19" name="Text 19"/>
          <p:cNvSpPr txBox="1"/>
          <p:nvPr/>
        </p:nvSpPr>
        <p:spPr>
          <a:xfrm>
            <a:off x="6409944" y="3706418"/>
            <a:ext cx="4992624" cy="743610"/>
          </a:xfrm>
          <a:prstGeom prst="rect">
            <a:avLst/>
          </a:prstGeom>
          <a:noFill/>
          <a:ln/>
        </p:spPr>
        <p:txBody>
          <a:bodyPr wrap="square" lIns="0" tIns="0" rIns="0" bIns="0" rtlCol="0" anchor="ctr"/>
          <a:lstStyle/>
          <a:p>
            <a:pPr marL="0" indent="0" algn="l">
              <a:buNone/>
            </a:pPr>
            <a:r>
              <a:rPr lang="en-GB" sz="1700" noProof="0" dirty="0">
                <a:solidFill>
                  <a:srgbClr val="23303F"/>
                </a:solidFill>
                <a:latin typeface="Calibri" pitchFamily="34" charset="0"/>
                <a:ea typeface="Calibri" pitchFamily="34" charset="-122"/>
                <a:cs typeface="Calibri" pitchFamily="34" charset="-120"/>
              </a:rPr>
              <a:t>Rescreen with an HPV test after 2 years</a:t>
            </a:r>
            <a:endParaRPr lang="en-GB" sz="1700" dirty="0"/>
          </a:p>
        </p:txBody>
      </p:sp>
      <p:sp>
        <p:nvSpPr>
          <p:cNvPr id="20" name="Shape 20"/>
          <p:cNvSpPr/>
          <p:nvPr/>
        </p:nvSpPr>
        <p:spPr>
          <a:xfrm>
            <a:off x="566928" y="4553787"/>
            <a:ext cx="5074920" cy="74361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21" name="Text 21"/>
          <p:cNvSpPr txBox="1"/>
          <p:nvPr/>
        </p:nvSpPr>
        <p:spPr>
          <a:xfrm>
            <a:off x="786384" y="4553787"/>
            <a:ext cx="4636008" cy="743610"/>
          </a:xfrm>
          <a:prstGeom prst="rect">
            <a:avLst/>
          </a:prstGeom>
          <a:noFill/>
          <a:ln/>
        </p:spPr>
        <p:txBody>
          <a:bodyPr wrap="square" lIns="0" tIns="0" rIns="0" bIns="0" rtlCol="0" anchor="ctr"/>
          <a:lstStyle/>
          <a:p>
            <a:pPr marL="0" indent="0" algn="l">
              <a:buNone/>
            </a:pPr>
            <a:r>
              <a:rPr lang="en-GB" sz="1700" noProof="0" dirty="0">
                <a:solidFill>
                  <a:srgbClr val="23303F"/>
                </a:solidFill>
                <a:latin typeface="Calibri" pitchFamily="34" charset="0"/>
                <a:ea typeface="Calibri" pitchFamily="34" charset="-122"/>
                <a:cs typeface="Calibri" pitchFamily="34" charset="-120"/>
              </a:rPr>
              <a:t>HIV-negative, HPV 16, VIA negative, TZ type 1</a:t>
            </a:r>
            <a:endParaRPr lang="en-GB" sz="1700" dirty="0"/>
          </a:p>
        </p:txBody>
      </p:sp>
      <p:sp>
        <p:nvSpPr>
          <p:cNvPr id="22" name="Text 22"/>
          <p:cNvSpPr txBox="1"/>
          <p:nvPr/>
        </p:nvSpPr>
        <p:spPr>
          <a:xfrm>
            <a:off x="5641848" y="4553787"/>
            <a:ext cx="548640" cy="743610"/>
          </a:xfrm>
          <a:prstGeom prst="rect">
            <a:avLst/>
          </a:prstGeom>
          <a:noFill/>
          <a:ln/>
        </p:spPr>
        <p:txBody>
          <a:bodyPr wrap="square" lIns="0" tIns="0" rIns="0" bIns="0" rtlCol="0" anchor="ctr"/>
          <a:lstStyle/>
          <a:p>
            <a:pPr marL="0" indent="0" algn="l">
              <a:buNone/>
            </a:pPr>
            <a:r>
              <a:rPr lang="en-GB" sz="1500" noProof="0" dirty="0">
                <a:solidFill>
                  <a:srgbClr val="000000"/>
                </a:solidFill>
                <a:latin typeface="Calibri" pitchFamily="34" charset="0"/>
                <a:ea typeface="Calibri" pitchFamily="34" charset="-122"/>
                <a:cs typeface="Calibri" pitchFamily="34" charset="-120"/>
              </a:rPr>
              <a:t>➡️</a:t>
            </a:r>
            <a:endParaRPr lang="en-GB" sz="1500" dirty="0"/>
          </a:p>
        </p:txBody>
      </p:sp>
      <p:sp>
        <p:nvSpPr>
          <p:cNvPr id="23" name="Shape 23"/>
          <p:cNvSpPr/>
          <p:nvPr/>
        </p:nvSpPr>
        <p:spPr>
          <a:xfrm>
            <a:off x="6190488" y="4553787"/>
            <a:ext cx="5431536" cy="743610"/>
          </a:xfrm>
          <a:prstGeom prst="roundRect">
            <a:avLst>
              <a:gd name="adj" fmla="val 3000"/>
            </a:avLst>
          </a:prstGeom>
          <a:solidFill>
            <a:srgbClr val="EAF7F0"/>
          </a:solidFill>
          <a:ln w="12700">
            <a:solidFill>
              <a:srgbClr val="C0D4CB"/>
            </a:solidFill>
          </a:ln>
        </p:spPr>
        <p:txBody>
          <a:bodyPr/>
          <a:lstStyle/>
          <a:p>
            <a:endParaRPr lang="en-GB" sz="1600" dirty="0"/>
          </a:p>
        </p:txBody>
      </p:sp>
      <p:sp>
        <p:nvSpPr>
          <p:cNvPr id="24" name="Text 24"/>
          <p:cNvSpPr txBox="1"/>
          <p:nvPr/>
        </p:nvSpPr>
        <p:spPr>
          <a:xfrm>
            <a:off x="6409944" y="4553787"/>
            <a:ext cx="4992624" cy="743610"/>
          </a:xfrm>
          <a:prstGeom prst="rect">
            <a:avLst/>
          </a:prstGeom>
          <a:noFill/>
          <a:ln/>
        </p:spPr>
        <p:txBody>
          <a:bodyPr wrap="square" lIns="0" tIns="0" rIns="0" bIns="0" rtlCol="0" anchor="ctr"/>
          <a:lstStyle/>
          <a:p>
            <a:pPr marL="0" indent="0" algn="l">
              <a:buNone/>
            </a:pPr>
            <a:r>
              <a:rPr lang="en-GB" sz="1700" noProof="0" dirty="0">
                <a:solidFill>
                  <a:srgbClr val="23303F"/>
                </a:solidFill>
                <a:latin typeface="Calibri" pitchFamily="34" charset="0"/>
                <a:ea typeface="Calibri" pitchFamily="34" charset="-122"/>
                <a:cs typeface="Calibri" pitchFamily="34" charset="-120"/>
              </a:rPr>
              <a:t>Thermal ablation, if the other criteria are met</a:t>
            </a:r>
            <a:endParaRPr lang="en-GB" sz="1700" dirty="0"/>
          </a:p>
        </p:txBody>
      </p:sp>
      <p:sp>
        <p:nvSpPr>
          <p:cNvPr id="25" name="Shape 25"/>
          <p:cNvSpPr/>
          <p:nvPr/>
        </p:nvSpPr>
        <p:spPr>
          <a:xfrm>
            <a:off x="566928" y="5401156"/>
            <a:ext cx="5074920" cy="74361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26" name="Text 26"/>
          <p:cNvSpPr txBox="1"/>
          <p:nvPr/>
        </p:nvSpPr>
        <p:spPr>
          <a:xfrm>
            <a:off x="786384" y="5401156"/>
            <a:ext cx="4636008" cy="743610"/>
          </a:xfrm>
          <a:prstGeom prst="rect">
            <a:avLst/>
          </a:prstGeom>
          <a:noFill/>
          <a:ln/>
        </p:spPr>
        <p:txBody>
          <a:bodyPr wrap="square" lIns="0" tIns="0" rIns="0" bIns="0" rtlCol="0" anchor="ctr"/>
          <a:lstStyle/>
          <a:p>
            <a:pPr marL="0" indent="0" algn="l">
              <a:buNone/>
            </a:pPr>
            <a:r>
              <a:rPr lang="en-GB" sz="1700" noProof="0" dirty="0">
                <a:solidFill>
                  <a:srgbClr val="23303F"/>
                </a:solidFill>
                <a:latin typeface="Calibri" pitchFamily="34" charset="0"/>
                <a:ea typeface="Calibri" pitchFamily="34" charset="-122"/>
                <a:cs typeface="Calibri" pitchFamily="34" charset="-120"/>
              </a:rPr>
              <a:t>VIA positive, lesion covering more than 75%</a:t>
            </a:r>
            <a:endParaRPr lang="en-GB" sz="1700" dirty="0"/>
          </a:p>
        </p:txBody>
      </p:sp>
      <p:sp>
        <p:nvSpPr>
          <p:cNvPr id="27" name="Text 27"/>
          <p:cNvSpPr txBox="1"/>
          <p:nvPr/>
        </p:nvSpPr>
        <p:spPr>
          <a:xfrm>
            <a:off x="5641848" y="5401156"/>
            <a:ext cx="548640" cy="743610"/>
          </a:xfrm>
          <a:prstGeom prst="rect">
            <a:avLst/>
          </a:prstGeom>
          <a:noFill/>
          <a:ln/>
        </p:spPr>
        <p:txBody>
          <a:bodyPr wrap="square" lIns="0" tIns="0" rIns="0" bIns="0" rtlCol="0" anchor="ctr"/>
          <a:lstStyle/>
          <a:p>
            <a:pPr marL="0" indent="0" algn="l">
              <a:buNone/>
            </a:pPr>
            <a:r>
              <a:rPr lang="en-GB" sz="1500" noProof="0" dirty="0">
                <a:solidFill>
                  <a:srgbClr val="000000"/>
                </a:solidFill>
                <a:latin typeface="Calibri" pitchFamily="34" charset="0"/>
                <a:ea typeface="Calibri" pitchFamily="34" charset="-122"/>
                <a:cs typeface="Calibri" pitchFamily="34" charset="-120"/>
              </a:rPr>
              <a:t>➡️</a:t>
            </a:r>
            <a:endParaRPr lang="en-GB" sz="1500" dirty="0"/>
          </a:p>
        </p:txBody>
      </p:sp>
      <p:sp>
        <p:nvSpPr>
          <p:cNvPr id="28" name="Shape 28"/>
          <p:cNvSpPr/>
          <p:nvPr/>
        </p:nvSpPr>
        <p:spPr>
          <a:xfrm>
            <a:off x="6190488" y="5401156"/>
            <a:ext cx="5431536" cy="743610"/>
          </a:xfrm>
          <a:prstGeom prst="roundRect">
            <a:avLst>
              <a:gd name="adj" fmla="val 3000"/>
            </a:avLst>
          </a:prstGeom>
          <a:solidFill>
            <a:srgbClr val="EAF7F0"/>
          </a:solidFill>
          <a:ln w="12700">
            <a:solidFill>
              <a:srgbClr val="C0D4CB"/>
            </a:solidFill>
          </a:ln>
        </p:spPr>
        <p:txBody>
          <a:bodyPr/>
          <a:lstStyle/>
          <a:p>
            <a:endParaRPr lang="en-GB" sz="1600" dirty="0"/>
          </a:p>
        </p:txBody>
      </p:sp>
      <p:sp>
        <p:nvSpPr>
          <p:cNvPr id="29" name="Text 29"/>
          <p:cNvSpPr txBox="1"/>
          <p:nvPr/>
        </p:nvSpPr>
        <p:spPr>
          <a:xfrm>
            <a:off x="6409944" y="5401156"/>
            <a:ext cx="4992624" cy="743610"/>
          </a:xfrm>
          <a:prstGeom prst="rect">
            <a:avLst/>
          </a:prstGeom>
          <a:noFill/>
          <a:ln/>
        </p:spPr>
        <p:txBody>
          <a:bodyPr wrap="square" lIns="0" tIns="0" rIns="0" bIns="0" rtlCol="0" anchor="ctr"/>
          <a:lstStyle/>
          <a:p>
            <a:pPr marL="0" indent="0" algn="l">
              <a:buNone/>
            </a:pPr>
            <a:r>
              <a:rPr lang="en-GB" sz="1700" noProof="0" dirty="0">
                <a:solidFill>
                  <a:srgbClr val="23303F"/>
                </a:solidFill>
                <a:latin typeface="Calibri" pitchFamily="34" charset="0"/>
                <a:ea typeface="Calibri" pitchFamily="34" charset="-122"/>
                <a:cs typeface="Calibri" pitchFamily="34" charset="-120"/>
              </a:rPr>
              <a:t>Refer for LEEP at the district hospital</a:t>
            </a:r>
            <a:endParaRPr lang="en-GB" sz="1700" dirty="0"/>
          </a:p>
        </p:txBody>
      </p:sp>
      <p:sp>
        <p:nvSpPr>
          <p:cNvPr id="30" name="Text 3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31" name="Text 3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95</a:t>
            </a:r>
            <a:endParaRPr lang="en-GB" sz="11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2 · INTERACTIVE</a:t>
            </a:r>
            <a:endParaRPr lang="en-GB"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What next for Aline?</a:t>
            </a:r>
          </a:p>
        </p:txBody>
      </p:sp>
      <p:sp>
        <p:nvSpPr>
          <p:cNvPr id="4" name="Text 4"/>
          <p:cNvSpPr txBox="1"/>
          <p:nvPr/>
        </p:nvSpPr>
        <p:spPr>
          <a:xfrm>
            <a:off x="566928" y="1540000"/>
            <a:ext cx="11055096" cy="900000"/>
          </a:xfrm>
          <a:prstGeom prst="rect">
            <a:avLst/>
          </a:prstGeom>
          <a:noFill/>
          <a:ln/>
        </p:spPr>
        <p:txBody>
          <a:bodyPr wrap="square" lIns="0" tIns="0" rIns="0" bIns="0" rtlCol="0" anchor="ctr"/>
          <a:lstStyle/>
          <a:p>
            <a:pPr marL="0" indent="0" algn="l">
              <a:buNone/>
            </a:pPr>
            <a:r>
              <a:rPr lang="en-GB" sz="1800" b="1" noProof="0" dirty="0">
                <a:solidFill>
                  <a:srgbClr val="23303F"/>
                </a:solidFill>
                <a:latin typeface="Calibri" pitchFamily="34" charset="0"/>
                <a:ea typeface="Calibri" pitchFamily="34" charset="-122"/>
                <a:cs typeface="Calibri" pitchFamily="34" charset="-120"/>
              </a:rPr>
              <a:t>Mukeshimana Aline is 34 and living with HIV. Her HPV test shows a high-risk type other than 16 or 18. VIA is negative and the transformation zone is type 1. What is the next step?</a:t>
            </a:r>
            <a:endParaRPr lang="en-GB" sz="1800" dirty="0"/>
          </a:p>
        </p:txBody>
      </p:sp>
      <p:sp>
        <p:nvSpPr>
          <p:cNvPr id="7" name="Shape 7"/>
          <p:cNvSpPr/>
          <p:nvPr/>
        </p:nvSpPr>
        <p:spPr>
          <a:xfrm>
            <a:off x="566928" y="2530000"/>
            <a:ext cx="11055096" cy="480000"/>
          </a:xfrm>
          <a:prstGeom prst="roundRect">
            <a:avLst>
              <a:gd name="adj" fmla="val 3000"/>
            </a:avLst>
          </a:prstGeom>
          <a:solidFill>
            <a:srgbClr val="EAF7F0"/>
          </a:solidFill>
          <a:ln w="12700">
            <a:solidFill>
              <a:srgbClr val="C0D4CB"/>
            </a:solidFill>
          </a:ln>
        </p:spPr>
        <p:txBody>
          <a:bodyPr/>
          <a:lstStyle/>
          <a:p>
            <a:endParaRPr lang="en-GB" sz="1600" dirty="0"/>
          </a:p>
        </p:txBody>
      </p:sp>
      <p:sp>
        <p:nvSpPr>
          <p:cNvPr id="8" name="Text 8"/>
          <p:cNvSpPr txBox="1"/>
          <p:nvPr/>
        </p:nvSpPr>
        <p:spPr>
          <a:xfrm>
            <a:off x="841248" y="2530000"/>
            <a:ext cx="10506456" cy="480000"/>
          </a:xfrm>
          <a:prstGeom prst="rect">
            <a:avLst/>
          </a:prstGeom>
          <a:noFill/>
          <a:ln/>
        </p:spPr>
        <p:txBody>
          <a:bodyPr wrap="square" lIns="0" tIns="0" rIns="0" bIns="0" rtlCol="0" anchor="ctr"/>
          <a:lstStyle/>
          <a:p>
            <a:pPr marL="0" indent="0" algn="l">
              <a:buNone/>
            </a:pPr>
            <a:r>
              <a:rPr lang="en-GB" sz="1700" b="1" noProof="0" dirty="0">
                <a:solidFill>
                  <a:srgbClr val="19543E"/>
                </a:solidFill>
                <a:latin typeface="Calibri" pitchFamily="34" charset="0"/>
                <a:ea typeface="Calibri" pitchFamily="34" charset="-122"/>
                <a:cs typeface="Calibri" pitchFamily="34" charset="-120"/>
              </a:rPr>
              <a:t>A   </a:t>
            </a:r>
            <a:r>
              <a:rPr lang="en-GB" sz="1700" noProof="0" dirty="0">
                <a:solidFill>
                  <a:srgbClr val="23303F"/>
                </a:solidFill>
                <a:latin typeface="Calibri" pitchFamily="34" charset="0"/>
                <a:ea typeface="Calibri" pitchFamily="34" charset="-122"/>
                <a:cs typeface="Calibri" pitchFamily="34" charset="-120"/>
              </a:rPr>
              <a:t>Offer thermal ablation, if the other eligibility criteria are met   ✅</a:t>
            </a:r>
            <a:endParaRPr lang="en-GB" sz="1700" dirty="0"/>
          </a:p>
        </p:txBody>
      </p:sp>
      <p:sp>
        <p:nvSpPr>
          <p:cNvPr id="5" name="Shape 5"/>
          <p:cNvSpPr/>
          <p:nvPr/>
        </p:nvSpPr>
        <p:spPr>
          <a:xfrm>
            <a:off x="566928" y="3080000"/>
            <a:ext cx="11055096" cy="48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6" name="Text 6"/>
          <p:cNvSpPr txBox="1"/>
          <p:nvPr/>
        </p:nvSpPr>
        <p:spPr>
          <a:xfrm>
            <a:off x="841248" y="3080000"/>
            <a:ext cx="10506456" cy="480000"/>
          </a:xfrm>
          <a:prstGeom prst="rect">
            <a:avLst/>
          </a:prstGeom>
          <a:noFill/>
          <a:ln/>
        </p:spPr>
        <p:txBody>
          <a:bodyPr wrap="square" lIns="0" tIns="0" rIns="0" bIns="0" rtlCol="0" anchor="ctr"/>
          <a:lstStyle/>
          <a:p>
            <a:pPr marL="0" indent="0" algn="l">
              <a:buNone/>
            </a:pPr>
            <a:r>
              <a:rPr lang="en-GB" sz="1700" b="1" noProof="0" dirty="0">
                <a:solidFill>
                  <a:srgbClr val="1F4E96"/>
                </a:solidFill>
                <a:latin typeface="Calibri" pitchFamily="34" charset="0"/>
                <a:ea typeface="Calibri" pitchFamily="34" charset="-122"/>
                <a:cs typeface="Calibri" pitchFamily="34" charset="-120"/>
              </a:rPr>
              <a:t>B   </a:t>
            </a:r>
            <a:r>
              <a:rPr lang="en-GB" sz="1700" noProof="0" dirty="0">
                <a:solidFill>
                  <a:srgbClr val="23303F"/>
                </a:solidFill>
                <a:latin typeface="Calibri" pitchFamily="34" charset="0"/>
                <a:ea typeface="Calibri" pitchFamily="34" charset="-122"/>
                <a:cs typeface="Calibri" pitchFamily="34" charset="-120"/>
              </a:rPr>
              <a:t>Rescreen with an HPV test in 2 years</a:t>
            </a:r>
            <a:endParaRPr lang="en-GB" sz="1700" dirty="0"/>
          </a:p>
        </p:txBody>
      </p:sp>
      <p:sp>
        <p:nvSpPr>
          <p:cNvPr id="9" name="Shape 9"/>
          <p:cNvSpPr/>
          <p:nvPr/>
        </p:nvSpPr>
        <p:spPr>
          <a:xfrm>
            <a:off x="566928" y="3630000"/>
            <a:ext cx="11055096" cy="48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0" name="Text 10"/>
          <p:cNvSpPr txBox="1"/>
          <p:nvPr/>
        </p:nvSpPr>
        <p:spPr>
          <a:xfrm>
            <a:off x="841248" y="3630000"/>
            <a:ext cx="10506456" cy="480000"/>
          </a:xfrm>
          <a:prstGeom prst="rect">
            <a:avLst/>
          </a:prstGeom>
          <a:noFill/>
          <a:ln/>
        </p:spPr>
        <p:txBody>
          <a:bodyPr wrap="square" lIns="0" tIns="0" rIns="0" bIns="0" rtlCol="0" anchor="ctr"/>
          <a:lstStyle/>
          <a:p>
            <a:pPr marL="0" indent="0" algn="l">
              <a:buNone/>
            </a:pPr>
            <a:r>
              <a:rPr lang="en-GB" sz="1700" b="1" noProof="0" dirty="0">
                <a:solidFill>
                  <a:srgbClr val="1F4E96"/>
                </a:solidFill>
                <a:latin typeface="Calibri" pitchFamily="34" charset="0"/>
                <a:ea typeface="Calibri" pitchFamily="34" charset="-122"/>
                <a:cs typeface="Calibri" pitchFamily="34" charset="-120"/>
              </a:rPr>
              <a:t>C   </a:t>
            </a:r>
            <a:r>
              <a:rPr lang="en-GB" sz="1700" noProof="0" dirty="0">
                <a:solidFill>
                  <a:srgbClr val="23303F"/>
                </a:solidFill>
                <a:latin typeface="Calibri" pitchFamily="34" charset="0"/>
                <a:ea typeface="Calibri" pitchFamily="34" charset="-122"/>
                <a:cs typeface="Calibri" pitchFamily="34" charset="-120"/>
              </a:rPr>
              <a:t>Refer for LEEP</a:t>
            </a:r>
            <a:endParaRPr lang="en-GB" sz="1700" dirty="0"/>
          </a:p>
        </p:txBody>
      </p:sp>
      <p:sp>
        <p:nvSpPr>
          <p:cNvPr id="11" name="Shape 11"/>
          <p:cNvSpPr/>
          <p:nvPr/>
        </p:nvSpPr>
        <p:spPr>
          <a:xfrm>
            <a:off x="566928" y="4180000"/>
            <a:ext cx="11055096" cy="48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2" name="Text 12"/>
          <p:cNvSpPr txBox="1"/>
          <p:nvPr/>
        </p:nvSpPr>
        <p:spPr>
          <a:xfrm>
            <a:off x="841248" y="4180000"/>
            <a:ext cx="10506456" cy="480000"/>
          </a:xfrm>
          <a:prstGeom prst="rect">
            <a:avLst/>
          </a:prstGeom>
          <a:noFill/>
          <a:ln/>
        </p:spPr>
        <p:txBody>
          <a:bodyPr wrap="square" lIns="0" tIns="0" rIns="0" bIns="0" rtlCol="0" anchor="ctr"/>
          <a:lstStyle/>
          <a:p>
            <a:pPr marL="0" indent="0" algn="l">
              <a:buNone/>
            </a:pPr>
            <a:r>
              <a:rPr lang="en-GB" sz="1700" b="1" noProof="0" dirty="0">
                <a:solidFill>
                  <a:srgbClr val="1F4E96"/>
                </a:solidFill>
                <a:latin typeface="Calibri" pitchFamily="34" charset="0"/>
                <a:ea typeface="Calibri" pitchFamily="34" charset="-122"/>
                <a:cs typeface="Calibri" pitchFamily="34" charset="-120"/>
              </a:rPr>
              <a:t>D   </a:t>
            </a:r>
            <a:r>
              <a:rPr lang="en-GB" sz="1700" noProof="0" dirty="0">
                <a:solidFill>
                  <a:srgbClr val="23303F"/>
                </a:solidFill>
                <a:latin typeface="Calibri" pitchFamily="34" charset="0"/>
                <a:ea typeface="Calibri" pitchFamily="34" charset="-122"/>
                <a:cs typeface="Calibri" pitchFamily="34" charset="-120"/>
              </a:rPr>
              <a:t>Reassure her and rescreen in 5 years</a:t>
            </a:r>
            <a:endParaRPr lang="en-GB" sz="1700" dirty="0"/>
          </a:p>
        </p:txBody>
      </p:sp>
      <p:sp>
        <p:nvSpPr>
          <p:cNvPr id="13" name="Shape 13"/>
          <p:cNvSpPr/>
          <p:nvPr/>
        </p:nvSpPr>
        <p:spPr>
          <a:xfrm>
            <a:off x="566928" y="4790000"/>
            <a:ext cx="11055096" cy="1460000"/>
          </a:xfrm>
          <a:prstGeom prst="roundRect">
            <a:avLst>
              <a:gd name="adj" fmla="val 3000"/>
            </a:avLst>
          </a:prstGeom>
          <a:solidFill>
            <a:srgbClr val="EAF7F0"/>
          </a:solidFill>
          <a:ln w="12700">
            <a:solidFill>
              <a:srgbClr val="C0D4CB"/>
            </a:solidFill>
          </a:ln>
        </p:spPr>
        <p:txBody>
          <a:bodyPr/>
          <a:lstStyle/>
          <a:p>
            <a:endParaRPr lang="en-GB" sz="1600" dirty="0"/>
          </a:p>
        </p:txBody>
      </p:sp>
      <p:sp>
        <p:nvSpPr>
          <p:cNvPr id="14" name="Text 14"/>
          <p:cNvSpPr txBox="1"/>
          <p:nvPr/>
        </p:nvSpPr>
        <p:spPr>
          <a:xfrm>
            <a:off x="841248" y="4840000"/>
            <a:ext cx="10506456" cy="1360000"/>
          </a:xfrm>
          <a:prstGeom prst="rect">
            <a:avLst/>
          </a:prstGeom>
          <a:noFill/>
          <a:ln/>
        </p:spPr>
        <p:txBody>
          <a:bodyPr wrap="square" lIns="0" tIns="0" rIns="0" bIns="0" rtlCol="0" anchor="ctr"/>
          <a:lstStyle/>
          <a:p>
            <a:pPr marL="0" indent="0" algn="l">
              <a:buNone/>
            </a:pPr>
            <a:r>
              <a:rPr lang="en-GB" sz="1600" b="1" noProof="0" dirty="0">
                <a:solidFill>
                  <a:srgbClr val="19543E"/>
                </a:solidFill>
                <a:latin typeface="Calibri" pitchFamily="34" charset="0"/>
                <a:ea typeface="Calibri" pitchFamily="34" charset="-122"/>
                <a:cs typeface="Calibri" pitchFamily="34" charset="-120"/>
              </a:rPr>
              <a:t>Correct answer: A</a:t>
            </a:r>
            <a:endParaRPr lang="en-GB" sz="1600" dirty="0"/>
          </a:p>
          <a:p>
            <a:pPr marL="0" indent="0" algn="l">
              <a:buNone/>
            </a:pPr>
            <a:r>
              <a:rPr lang="en-GB" sz="1600" b="1" noProof="0" dirty="0">
                <a:solidFill>
                  <a:srgbClr val="19543E"/>
                </a:solidFill>
                <a:latin typeface="Calibri" pitchFamily="34" charset="0"/>
                <a:ea typeface="Calibri" pitchFamily="34" charset="-122"/>
                <a:cs typeface="Calibri" pitchFamily="34" charset="-120"/>
              </a:rPr>
              <a:t>Feedback: </a:t>
            </a:r>
            <a:r>
              <a:rPr lang="en-GB" sz="1600" noProof="0" dirty="0">
                <a:solidFill>
                  <a:srgbClr val="23303F"/>
                </a:solidFill>
                <a:latin typeface="Calibri" pitchFamily="34" charset="0"/>
                <a:ea typeface="Calibri" pitchFamily="34" charset="-122"/>
                <a:cs typeface="Calibri" pitchFamily="34" charset="-120"/>
              </a:rPr>
              <a:t>For women living with HIV, a positive high-risk HPV result is treated even when VIA is negative, because persistence and progression are more likely. With a type 1 transformation zone, thermal ablation is appropriate. Rescreening in 2 years applies only to HIV-negative women with other high-risk types.</a:t>
            </a:r>
            <a:endParaRPr lang="en-GB" sz="1600" dirty="0"/>
          </a:p>
        </p:txBody>
      </p:sp>
      <p:sp>
        <p:nvSpPr>
          <p:cNvPr id="15" name="Text 15"/>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16" name="Text 16"/>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96</a:t>
            </a:r>
            <a:endParaRPr lang="en-GB" sz="11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97</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INTERACTIVE</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Match the finding to the next step</a:t>
            </a:r>
            <a:endParaRPr lang="en-GB" sz="3200" noProof="0" dirty="0"/>
          </a:p>
        </p:txBody>
      </p:sp>
      <p:sp>
        <p:nvSpPr>
          <p:cNvPr id="6" name="Text 4"/>
          <p:cNvSpPr txBox="1"/>
          <p:nvPr/>
        </p:nvSpPr>
        <p:spPr>
          <a:xfrm>
            <a:off x="566928" y="1517904"/>
            <a:ext cx="11055096" cy="365760"/>
          </a:xfrm>
          <a:prstGeom prst="rect">
            <a:avLst/>
          </a:prstGeom>
          <a:noFill/>
          <a:ln/>
        </p:spPr>
        <p:txBody>
          <a:bodyPr wrap="square" lIns="0" tIns="0" rIns="0" bIns="0" rtlCol="0" anchor="ctr"/>
          <a:lstStyle/>
          <a:p>
            <a:pPr marL="0" indent="0">
              <a:buNone/>
            </a:pPr>
            <a:r>
              <a:rPr lang="en-GB" sz="1800" i="1" noProof="0" dirty="0">
                <a:solidFill>
                  <a:srgbClr val="31507B"/>
                </a:solidFill>
                <a:latin typeface="Calibri" pitchFamily="34" charset="0"/>
                <a:ea typeface="Calibri" pitchFamily="34" charset="-122"/>
                <a:cs typeface="Calibri" pitchFamily="34" charset="-120"/>
              </a:rPr>
              <a:t>💬  Match each finding on the left to the correct next step on the right, then select Submit.</a:t>
            </a:r>
            <a:endParaRPr lang="en-GB" sz="1800" noProof="0" dirty="0"/>
          </a:p>
        </p:txBody>
      </p:sp>
      <p:sp>
        <p:nvSpPr>
          <p:cNvPr id="7" name="Shape 5"/>
          <p:cNvSpPr/>
          <p:nvPr/>
        </p:nvSpPr>
        <p:spPr>
          <a:xfrm>
            <a:off x="566928" y="2011680"/>
            <a:ext cx="5074920" cy="743610"/>
          </a:xfrm>
          <a:prstGeom prst="roundRect">
            <a:avLst>
              <a:gd name="adj" fmla="val 7378"/>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786384" y="2011680"/>
            <a:ext cx="4636008" cy="743610"/>
          </a:xfrm>
          <a:prstGeom prst="rect">
            <a:avLst/>
          </a:prstGeom>
          <a:noFill/>
          <a:ln/>
        </p:spPr>
        <p:txBody>
          <a:bodyPr wrap="square" lIns="0" tIns="0" rIns="0" bIns="0" rtlCol="0" anchor="ctr"/>
          <a:lstStyle/>
          <a:p>
            <a:pPr marL="0" indent="0">
              <a:buNone/>
            </a:pPr>
            <a:r>
              <a:rPr lang="en-GB" sz="1800" noProof="0" dirty="0">
                <a:solidFill>
                  <a:srgbClr val="23303F"/>
                </a:solidFill>
                <a:latin typeface="Calibri" pitchFamily="34" charset="0"/>
                <a:ea typeface="Calibri" pitchFamily="34" charset="-122"/>
                <a:cs typeface="Calibri" pitchFamily="34" charset="-120"/>
              </a:rPr>
              <a:t>A well woman due for routine screening</a:t>
            </a:r>
            <a:endParaRPr lang="en-GB" sz="1800" noProof="0" dirty="0"/>
          </a:p>
        </p:txBody>
      </p:sp>
      <p:sp>
        <p:nvSpPr>
          <p:cNvPr id="9" name="Text 7"/>
          <p:cNvSpPr txBox="1"/>
          <p:nvPr/>
        </p:nvSpPr>
        <p:spPr>
          <a:xfrm>
            <a:off x="5641848" y="2011680"/>
            <a:ext cx="548640" cy="743610"/>
          </a:xfrm>
          <a:prstGeom prst="rect">
            <a:avLst/>
          </a:prstGeom>
          <a:noFill/>
          <a:ln/>
        </p:spPr>
        <p:txBody>
          <a:bodyPr wrap="square" lIns="0" tIns="0" rIns="0" bIns="0" rtlCol="0" anchor="ctr"/>
          <a:lstStyle/>
          <a:p>
            <a:pPr marL="0" indent="0" algn="ctr">
              <a:buNone/>
            </a:pPr>
            <a:r>
              <a:rPr lang="en-GB" sz="1500" noProof="0" dirty="0">
                <a:solidFill>
                  <a:srgbClr val="000000"/>
                </a:solidFill>
                <a:latin typeface="Calibri" pitchFamily="34" charset="0"/>
                <a:ea typeface="Calibri" pitchFamily="34" charset="-122"/>
                <a:cs typeface="Calibri" pitchFamily="34" charset="-120"/>
              </a:rPr>
              <a:t>➡️</a:t>
            </a:r>
            <a:endParaRPr lang="en-GB" sz="1500" noProof="0" dirty="0"/>
          </a:p>
        </p:txBody>
      </p:sp>
      <p:sp>
        <p:nvSpPr>
          <p:cNvPr id="10" name="Shape 8"/>
          <p:cNvSpPr/>
          <p:nvPr/>
        </p:nvSpPr>
        <p:spPr>
          <a:xfrm>
            <a:off x="6190488" y="2011680"/>
            <a:ext cx="5431536" cy="743610"/>
          </a:xfrm>
          <a:prstGeom prst="roundRect">
            <a:avLst>
              <a:gd name="adj" fmla="val 7378"/>
            </a:avLst>
          </a:prstGeom>
          <a:solidFill>
            <a:srgbClr val="EAF7F0"/>
          </a:solidFill>
          <a:ln w="12700">
            <a:solidFill>
              <a:srgbClr val="C0D4CB"/>
            </a:solidFill>
            <a:prstDash val="solid"/>
          </a:ln>
        </p:spPr>
        <p:txBody>
          <a:bodyPr/>
          <a:lstStyle/>
          <a:p>
            <a:endParaRPr lang="en-GB" noProof="0" dirty="0"/>
          </a:p>
        </p:txBody>
      </p:sp>
      <p:sp>
        <p:nvSpPr>
          <p:cNvPr id="11" name="Text 9"/>
          <p:cNvSpPr txBox="1"/>
          <p:nvPr/>
        </p:nvSpPr>
        <p:spPr>
          <a:xfrm>
            <a:off x="6409944" y="2011680"/>
            <a:ext cx="4992624" cy="743610"/>
          </a:xfrm>
          <a:prstGeom prst="rect">
            <a:avLst/>
          </a:prstGeom>
          <a:noFill/>
          <a:ln/>
        </p:spPr>
        <p:txBody>
          <a:bodyPr wrap="square" lIns="0" tIns="0" rIns="0" bIns="0" rtlCol="0" anchor="ctr"/>
          <a:lstStyle/>
          <a:p>
            <a:pPr marL="0" indent="0">
              <a:buNone/>
            </a:pPr>
            <a:r>
              <a:rPr lang="en-GB" sz="1800" noProof="0" dirty="0">
                <a:solidFill>
                  <a:srgbClr val="23303F"/>
                </a:solidFill>
                <a:latin typeface="Calibri" pitchFamily="34" charset="0"/>
                <a:ea typeface="Calibri" pitchFamily="34" charset="-122"/>
                <a:cs typeface="Calibri" pitchFamily="34" charset="-120"/>
              </a:rPr>
              <a:t>Offer screening and explain what the test can and cannot do</a:t>
            </a:r>
            <a:endParaRPr lang="en-GB" sz="1800" noProof="0" dirty="0"/>
          </a:p>
        </p:txBody>
      </p:sp>
      <p:sp>
        <p:nvSpPr>
          <p:cNvPr id="12" name="Shape 10"/>
          <p:cNvSpPr/>
          <p:nvPr/>
        </p:nvSpPr>
        <p:spPr>
          <a:xfrm>
            <a:off x="566928" y="2859050"/>
            <a:ext cx="5074920" cy="743610"/>
          </a:xfrm>
          <a:prstGeom prst="roundRect">
            <a:avLst>
              <a:gd name="adj" fmla="val 7378"/>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786384" y="2859050"/>
            <a:ext cx="4636008" cy="743610"/>
          </a:xfrm>
          <a:prstGeom prst="rect">
            <a:avLst/>
          </a:prstGeom>
          <a:noFill/>
          <a:ln/>
        </p:spPr>
        <p:txBody>
          <a:bodyPr wrap="square" lIns="0" tIns="0" rIns="0" bIns="0" rtlCol="0" anchor="ctr"/>
          <a:lstStyle/>
          <a:p>
            <a:pPr marL="0" indent="0">
              <a:buNone/>
            </a:pPr>
            <a:r>
              <a:rPr lang="en-GB" sz="1800" noProof="0" dirty="0">
                <a:solidFill>
                  <a:srgbClr val="23303F"/>
                </a:solidFill>
                <a:latin typeface="Calibri" pitchFamily="34" charset="0"/>
                <a:ea typeface="Calibri" pitchFamily="34" charset="-122"/>
                <a:cs typeface="Calibri" pitchFamily="34" charset="-120"/>
              </a:rPr>
              <a:t>Positive HPV test, no symptoms</a:t>
            </a:r>
            <a:endParaRPr lang="en-GB" sz="1800" noProof="0" dirty="0"/>
          </a:p>
        </p:txBody>
      </p:sp>
      <p:sp>
        <p:nvSpPr>
          <p:cNvPr id="14" name="Text 12"/>
          <p:cNvSpPr txBox="1"/>
          <p:nvPr/>
        </p:nvSpPr>
        <p:spPr>
          <a:xfrm>
            <a:off x="5641848" y="2859050"/>
            <a:ext cx="548640" cy="743610"/>
          </a:xfrm>
          <a:prstGeom prst="rect">
            <a:avLst/>
          </a:prstGeom>
          <a:noFill/>
          <a:ln/>
        </p:spPr>
        <p:txBody>
          <a:bodyPr wrap="square" lIns="0" tIns="0" rIns="0" bIns="0" rtlCol="0" anchor="ctr"/>
          <a:lstStyle/>
          <a:p>
            <a:pPr marL="0" indent="0" algn="ctr">
              <a:buNone/>
            </a:pPr>
            <a:r>
              <a:rPr lang="en-GB" sz="1500" noProof="0" dirty="0">
                <a:solidFill>
                  <a:srgbClr val="000000"/>
                </a:solidFill>
                <a:latin typeface="Calibri" pitchFamily="34" charset="0"/>
                <a:ea typeface="Calibri" pitchFamily="34" charset="-122"/>
                <a:cs typeface="Calibri" pitchFamily="34" charset="-120"/>
              </a:rPr>
              <a:t>➡️</a:t>
            </a:r>
            <a:endParaRPr lang="en-GB" sz="1500" noProof="0" dirty="0"/>
          </a:p>
        </p:txBody>
      </p:sp>
      <p:sp>
        <p:nvSpPr>
          <p:cNvPr id="15" name="Shape 13"/>
          <p:cNvSpPr/>
          <p:nvPr/>
        </p:nvSpPr>
        <p:spPr>
          <a:xfrm>
            <a:off x="6190488" y="2859050"/>
            <a:ext cx="5431536" cy="743610"/>
          </a:xfrm>
          <a:prstGeom prst="roundRect">
            <a:avLst>
              <a:gd name="adj" fmla="val 7378"/>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6409944" y="2859050"/>
            <a:ext cx="4992624" cy="743610"/>
          </a:xfrm>
          <a:prstGeom prst="rect">
            <a:avLst/>
          </a:prstGeom>
          <a:noFill/>
          <a:ln/>
        </p:spPr>
        <p:txBody>
          <a:bodyPr wrap="square" lIns="0" tIns="0" rIns="0" bIns="0" rtlCol="0" anchor="ctr"/>
          <a:lstStyle/>
          <a:p>
            <a:pPr marL="0" indent="0">
              <a:buNone/>
            </a:pPr>
            <a:r>
              <a:rPr lang="en-GB" sz="1800" noProof="0" dirty="0">
                <a:solidFill>
                  <a:srgbClr val="23303F"/>
                </a:solidFill>
                <a:latin typeface="Calibri" pitchFamily="34" charset="0"/>
                <a:ea typeface="Calibri" pitchFamily="34" charset="-122"/>
                <a:cs typeface="Calibri" pitchFamily="34" charset="-120"/>
              </a:rPr>
              <a:t>Further assessment of the cervix, explaining that cancer is not confirmed</a:t>
            </a:r>
            <a:endParaRPr lang="en-GB" sz="1800" noProof="0" dirty="0"/>
          </a:p>
        </p:txBody>
      </p:sp>
      <p:sp>
        <p:nvSpPr>
          <p:cNvPr id="17" name="Shape 15"/>
          <p:cNvSpPr/>
          <p:nvPr/>
        </p:nvSpPr>
        <p:spPr>
          <a:xfrm>
            <a:off x="566928" y="3706419"/>
            <a:ext cx="5074920" cy="743610"/>
          </a:xfrm>
          <a:prstGeom prst="roundRect">
            <a:avLst>
              <a:gd name="adj" fmla="val 7378"/>
            </a:avLst>
          </a:prstGeom>
          <a:solidFill>
            <a:srgbClr val="F3F6FB"/>
          </a:solidFill>
          <a:ln w="12700">
            <a:solidFill>
              <a:srgbClr val="E0E3EA"/>
            </a:solidFill>
            <a:prstDash val="solid"/>
          </a:ln>
        </p:spPr>
        <p:txBody>
          <a:bodyPr/>
          <a:lstStyle/>
          <a:p>
            <a:endParaRPr lang="en-GB" noProof="0" dirty="0"/>
          </a:p>
        </p:txBody>
      </p:sp>
      <p:sp>
        <p:nvSpPr>
          <p:cNvPr id="18" name="Text 16"/>
          <p:cNvSpPr txBox="1"/>
          <p:nvPr/>
        </p:nvSpPr>
        <p:spPr>
          <a:xfrm>
            <a:off x="786384" y="3706419"/>
            <a:ext cx="4636008" cy="743610"/>
          </a:xfrm>
          <a:prstGeom prst="rect">
            <a:avLst/>
          </a:prstGeom>
          <a:noFill/>
          <a:ln/>
        </p:spPr>
        <p:txBody>
          <a:bodyPr wrap="square" lIns="0" tIns="0" rIns="0" bIns="0" rtlCol="0" anchor="ctr"/>
          <a:lstStyle/>
          <a:p>
            <a:pPr marL="0" indent="0">
              <a:buNone/>
            </a:pPr>
            <a:r>
              <a:rPr lang="en-GB" sz="1800" noProof="0" dirty="0">
                <a:solidFill>
                  <a:srgbClr val="23303F"/>
                </a:solidFill>
                <a:latin typeface="Calibri" pitchFamily="34" charset="0"/>
                <a:ea typeface="Calibri" pitchFamily="34" charset="-122"/>
                <a:cs typeface="Calibri" pitchFamily="34" charset="-120"/>
              </a:rPr>
              <a:t>Eligible precancerous lesion seen</a:t>
            </a:r>
            <a:endParaRPr lang="en-GB" sz="1800" noProof="0" dirty="0"/>
          </a:p>
        </p:txBody>
      </p:sp>
      <p:sp>
        <p:nvSpPr>
          <p:cNvPr id="19" name="Text 17"/>
          <p:cNvSpPr txBox="1"/>
          <p:nvPr/>
        </p:nvSpPr>
        <p:spPr>
          <a:xfrm>
            <a:off x="5641848" y="3706419"/>
            <a:ext cx="548640" cy="743610"/>
          </a:xfrm>
          <a:prstGeom prst="rect">
            <a:avLst/>
          </a:prstGeom>
          <a:noFill/>
          <a:ln/>
        </p:spPr>
        <p:txBody>
          <a:bodyPr wrap="square" lIns="0" tIns="0" rIns="0" bIns="0" rtlCol="0" anchor="ctr"/>
          <a:lstStyle/>
          <a:p>
            <a:pPr marL="0" indent="0" algn="ctr">
              <a:buNone/>
            </a:pPr>
            <a:r>
              <a:rPr lang="en-GB" sz="1500" noProof="0" dirty="0">
                <a:solidFill>
                  <a:srgbClr val="000000"/>
                </a:solidFill>
                <a:latin typeface="Calibri" pitchFamily="34" charset="0"/>
                <a:ea typeface="Calibri" pitchFamily="34" charset="-122"/>
                <a:cs typeface="Calibri" pitchFamily="34" charset="-120"/>
              </a:rPr>
              <a:t>➡️</a:t>
            </a:r>
            <a:endParaRPr lang="en-GB" sz="1500" noProof="0" dirty="0"/>
          </a:p>
        </p:txBody>
      </p:sp>
      <p:sp>
        <p:nvSpPr>
          <p:cNvPr id="20" name="Shape 18"/>
          <p:cNvSpPr/>
          <p:nvPr/>
        </p:nvSpPr>
        <p:spPr>
          <a:xfrm>
            <a:off x="6190488" y="3706419"/>
            <a:ext cx="5431536" cy="743610"/>
          </a:xfrm>
          <a:prstGeom prst="roundRect">
            <a:avLst>
              <a:gd name="adj" fmla="val 7378"/>
            </a:avLst>
          </a:prstGeom>
          <a:solidFill>
            <a:srgbClr val="EAF7F0"/>
          </a:solidFill>
          <a:ln w="12700">
            <a:solidFill>
              <a:srgbClr val="C0D4CB"/>
            </a:solidFill>
            <a:prstDash val="solid"/>
          </a:ln>
        </p:spPr>
        <p:txBody>
          <a:bodyPr/>
          <a:lstStyle/>
          <a:p>
            <a:endParaRPr lang="en-GB" noProof="0" dirty="0"/>
          </a:p>
        </p:txBody>
      </p:sp>
      <p:sp>
        <p:nvSpPr>
          <p:cNvPr id="21" name="Text 19"/>
          <p:cNvSpPr txBox="1"/>
          <p:nvPr/>
        </p:nvSpPr>
        <p:spPr>
          <a:xfrm>
            <a:off x="6409944" y="3706419"/>
            <a:ext cx="4992624" cy="743610"/>
          </a:xfrm>
          <a:prstGeom prst="rect">
            <a:avLst/>
          </a:prstGeom>
          <a:noFill/>
          <a:ln/>
        </p:spPr>
        <p:txBody>
          <a:bodyPr wrap="square" lIns="0" tIns="0" rIns="0" bIns="0" rtlCol="0" anchor="ctr"/>
          <a:lstStyle/>
          <a:p>
            <a:pPr marL="0" indent="0">
              <a:buNone/>
            </a:pPr>
            <a:r>
              <a:rPr lang="en-GB" sz="1800" noProof="0" dirty="0">
                <a:solidFill>
                  <a:srgbClr val="23303F"/>
                </a:solidFill>
                <a:latin typeface="Calibri" pitchFamily="34" charset="0"/>
                <a:ea typeface="Calibri" pitchFamily="34" charset="-122"/>
                <a:cs typeface="Calibri" pitchFamily="34" charset="-120"/>
              </a:rPr>
              <a:t>Treat the lesion and book the follow-up test</a:t>
            </a:r>
            <a:endParaRPr lang="en-GB" sz="1800" noProof="0" dirty="0"/>
          </a:p>
        </p:txBody>
      </p:sp>
      <p:sp>
        <p:nvSpPr>
          <p:cNvPr id="22" name="Shape 20"/>
          <p:cNvSpPr/>
          <p:nvPr/>
        </p:nvSpPr>
        <p:spPr>
          <a:xfrm>
            <a:off x="566928" y="4553789"/>
            <a:ext cx="5074920" cy="743610"/>
          </a:xfrm>
          <a:prstGeom prst="roundRect">
            <a:avLst>
              <a:gd name="adj" fmla="val 7378"/>
            </a:avLst>
          </a:prstGeom>
          <a:solidFill>
            <a:srgbClr val="F3F6FB"/>
          </a:solidFill>
          <a:ln w="12700">
            <a:solidFill>
              <a:srgbClr val="E0E3EA"/>
            </a:solidFill>
            <a:prstDash val="solid"/>
          </a:ln>
        </p:spPr>
        <p:txBody>
          <a:bodyPr/>
          <a:lstStyle/>
          <a:p>
            <a:endParaRPr lang="en-GB" noProof="0" dirty="0"/>
          </a:p>
        </p:txBody>
      </p:sp>
      <p:sp>
        <p:nvSpPr>
          <p:cNvPr id="23" name="Text 21"/>
          <p:cNvSpPr txBox="1"/>
          <p:nvPr/>
        </p:nvSpPr>
        <p:spPr>
          <a:xfrm>
            <a:off x="786384" y="4553789"/>
            <a:ext cx="4636008" cy="743610"/>
          </a:xfrm>
          <a:prstGeom prst="rect">
            <a:avLst/>
          </a:prstGeom>
          <a:noFill/>
          <a:ln/>
        </p:spPr>
        <p:txBody>
          <a:bodyPr wrap="square" lIns="0" tIns="0" rIns="0" bIns="0" rtlCol="0" anchor="ctr"/>
          <a:lstStyle/>
          <a:p>
            <a:pPr marL="0" indent="0">
              <a:buNone/>
            </a:pPr>
            <a:r>
              <a:rPr lang="en-GB" sz="1800" noProof="0" dirty="0">
                <a:solidFill>
                  <a:srgbClr val="23303F"/>
                </a:solidFill>
                <a:latin typeface="Calibri" pitchFamily="34" charset="0"/>
                <a:ea typeface="Calibri" pitchFamily="34" charset="-122"/>
                <a:cs typeface="Calibri" pitchFamily="34" charset="-120"/>
              </a:rPr>
              <a:t>Lesion extending into the cervical canal</a:t>
            </a:r>
            <a:endParaRPr lang="en-GB" sz="1800" noProof="0" dirty="0"/>
          </a:p>
        </p:txBody>
      </p:sp>
      <p:sp>
        <p:nvSpPr>
          <p:cNvPr id="24" name="Text 22"/>
          <p:cNvSpPr txBox="1"/>
          <p:nvPr/>
        </p:nvSpPr>
        <p:spPr>
          <a:xfrm>
            <a:off x="5641848" y="4553789"/>
            <a:ext cx="548640" cy="743610"/>
          </a:xfrm>
          <a:prstGeom prst="rect">
            <a:avLst/>
          </a:prstGeom>
          <a:noFill/>
          <a:ln/>
        </p:spPr>
        <p:txBody>
          <a:bodyPr wrap="square" lIns="0" tIns="0" rIns="0" bIns="0" rtlCol="0" anchor="ctr"/>
          <a:lstStyle/>
          <a:p>
            <a:pPr marL="0" indent="0" algn="ctr">
              <a:buNone/>
            </a:pPr>
            <a:r>
              <a:rPr lang="en-GB" sz="1500" noProof="0" dirty="0">
                <a:solidFill>
                  <a:srgbClr val="000000"/>
                </a:solidFill>
                <a:latin typeface="Calibri" pitchFamily="34" charset="0"/>
                <a:ea typeface="Calibri" pitchFamily="34" charset="-122"/>
                <a:cs typeface="Calibri" pitchFamily="34" charset="-120"/>
              </a:rPr>
              <a:t>➡️</a:t>
            </a:r>
            <a:endParaRPr lang="en-GB" sz="1500" noProof="0" dirty="0"/>
          </a:p>
        </p:txBody>
      </p:sp>
      <p:sp>
        <p:nvSpPr>
          <p:cNvPr id="25" name="Shape 23"/>
          <p:cNvSpPr/>
          <p:nvPr/>
        </p:nvSpPr>
        <p:spPr>
          <a:xfrm>
            <a:off x="6190488" y="4553789"/>
            <a:ext cx="5431536" cy="743610"/>
          </a:xfrm>
          <a:prstGeom prst="roundRect">
            <a:avLst>
              <a:gd name="adj" fmla="val 7378"/>
            </a:avLst>
          </a:prstGeom>
          <a:solidFill>
            <a:srgbClr val="EAF7F0"/>
          </a:solidFill>
          <a:ln w="12700">
            <a:solidFill>
              <a:srgbClr val="C0D4CB"/>
            </a:solidFill>
            <a:prstDash val="solid"/>
          </a:ln>
        </p:spPr>
        <p:txBody>
          <a:bodyPr/>
          <a:lstStyle/>
          <a:p>
            <a:endParaRPr lang="en-GB" noProof="0" dirty="0"/>
          </a:p>
        </p:txBody>
      </p:sp>
      <p:sp>
        <p:nvSpPr>
          <p:cNvPr id="26" name="Text 24"/>
          <p:cNvSpPr txBox="1"/>
          <p:nvPr/>
        </p:nvSpPr>
        <p:spPr>
          <a:xfrm>
            <a:off x="6409944" y="4553789"/>
            <a:ext cx="4992624" cy="743610"/>
          </a:xfrm>
          <a:prstGeom prst="rect">
            <a:avLst/>
          </a:prstGeom>
          <a:noFill/>
          <a:ln/>
        </p:spPr>
        <p:txBody>
          <a:bodyPr wrap="square" lIns="0" tIns="0" rIns="0" bIns="0" rtlCol="0" anchor="ctr"/>
          <a:lstStyle/>
          <a:p>
            <a:pPr marL="0" indent="0">
              <a:buNone/>
            </a:pPr>
            <a:r>
              <a:rPr lang="en-GB" sz="1800" noProof="0" dirty="0">
                <a:solidFill>
                  <a:srgbClr val="23303F"/>
                </a:solidFill>
                <a:latin typeface="Calibri" pitchFamily="34" charset="0"/>
                <a:ea typeface="Calibri" pitchFamily="34" charset="-122"/>
                <a:cs typeface="Calibri" pitchFamily="34" charset="-120"/>
              </a:rPr>
              <a:t>Refer for excisional treatment or specialist assessment</a:t>
            </a:r>
            <a:endParaRPr lang="en-GB" sz="1800" noProof="0" dirty="0"/>
          </a:p>
        </p:txBody>
      </p:sp>
      <p:sp>
        <p:nvSpPr>
          <p:cNvPr id="27" name="Shape 25"/>
          <p:cNvSpPr/>
          <p:nvPr/>
        </p:nvSpPr>
        <p:spPr>
          <a:xfrm>
            <a:off x="566928" y="5401158"/>
            <a:ext cx="5074920" cy="743610"/>
          </a:xfrm>
          <a:prstGeom prst="roundRect">
            <a:avLst>
              <a:gd name="adj" fmla="val 7378"/>
            </a:avLst>
          </a:prstGeom>
          <a:solidFill>
            <a:srgbClr val="F3F6FB"/>
          </a:solidFill>
          <a:ln w="12700">
            <a:solidFill>
              <a:srgbClr val="E0E3EA"/>
            </a:solidFill>
            <a:prstDash val="solid"/>
          </a:ln>
        </p:spPr>
        <p:txBody>
          <a:bodyPr/>
          <a:lstStyle/>
          <a:p>
            <a:endParaRPr lang="en-GB" noProof="0" dirty="0"/>
          </a:p>
        </p:txBody>
      </p:sp>
      <p:sp>
        <p:nvSpPr>
          <p:cNvPr id="28" name="Text 26"/>
          <p:cNvSpPr txBox="1"/>
          <p:nvPr/>
        </p:nvSpPr>
        <p:spPr>
          <a:xfrm>
            <a:off x="786384" y="5401158"/>
            <a:ext cx="4636008" cy="743610"/>
          </a:xfrm>
          <a:prstGeom prst="rect">
            <a:avLst/>
          </a:prstGeom>
          <a:noFill/>
          <a:ln/>
        </p:spPr>
        <p:txBody>
          <a:bodyPr wrap="square" lIns="0" tIns="0" rIns="0" bIns="0" rtlCol="0" anchor="ctr"/>
          <a:lstStyle/>
          <a:p>
            <a:pPr marL="0" indent="0">
              <a:buNone/>
            </a:pPr>
            <a:r>
              <a:rPr lang="en-GB" sz="1800" noProof="0" dirty="0">
                <a:solidFill>
                  <a:srgbClr val="23303F"/>
                </a:solidFill>
                <a:latin typeface="Calibri" pitchFamily="34" charset="0"/>
                <a:ea typeface="Calibri" pitchFamily="34" charset="-122"/>
                <a:cs typeface="Calibri" pitchFamily="34" charset="-120"/>
              </a:rPr>
              <a:t>Cervix suspicious for invasive cancer</a:t>
            </a:r>
            <a:endParaRPr lang="en-GB" sz="1800" noProof="0" dirty="0"/>
          </a:p>
        </p:txBody>
      </p:sp>
      <p:sp>
        <p:nvSpPr>
          <p:cNvPr id="29" name="Text 27"/>
          <p:cNvSpPr txBox="1"/>
          <p:nvPr/>
        </p:nvSpPr>
        <p:spPr>
          <a:xfrm>
            <a:off x="5641848" y="5401158"/>
            <a:ext cx="548640" cy="743610"/>
          </a:xfrm>
          <a:prstGeom prst="rect">
            <a:avLst/>
          </a:prstGeom>
          <a:noFill/>
          <a:ln/>
        </p:spPr>
        <p:txBody>
          <a:bodyPr wrap="square" lIns="0" tIns="0" rIns="0" bIns="0" rtlCol="0" anchor="ctr"/>
          <a:lstStyle/>
          <a:p>
            <a:pPr marL="0" indent="0" algn="ctr">
              <a:buNone/>
            </a:pPr>
            <a:r>
              <a:rPr lang="en-GB" sz="1500" noProof="0" dirty="0">
                <a:solidFill>
                  <a:srgbClr val="000000"/>
                </a:solidFill>
                <a:latin typeface="Calibri" pitchFamily="34" charset="0"/>
                <a:ea typeface="Calibri" pitchFamily="34" charset="-122"/>
                <a:cs typeface="Calibri" pitchFamily="34" charset="-120"/>
              </a:rPr>
              <a:t>➡️</a:t>
            </a:r>
            <a:endParaRPr lang="en-GB" sz="1500" noProof="0" dirty="0"/>
          </a:p>
        </p:txBody>
      </p:sp>
      <p:sp>
        <p:nvSpPr>
          <p:cNvPr id="30" name="Shape 28"/>
          <p:cNvSpPr/>
          <p:nvPr/>
        </p:nvSpPr>
        <p:spPr>
          <a:xfrm>
            <a:off x="6190488" y="5401158"/>
            <a:ext cx="5431536" cy="743610"/>
          </a:xfrm>
          <a:prstGeom prst="roundRect">
            <a:avLst>
              <a:gd name="adj" fmla="val 7378"/>
            </a:avLst>
          </a:prstGeom>
          <a:solidFill>
            <a:srgbClr val="EAF7F0"/>
          </a:solidFill>
          <a:ln w="12700">
            <a:solidFill>
              <a:srgbClr val="C0D4CB"/>
            </a:solidFill>
            <a:prstDash val="solid"/>
          </a:ln>
        </p:spPr>
        <p:txBody>
          <a:bodyPr/>
          <a:lstStyle/>
          <a:p>
            <a:endParaRPr lang="en-GB" noProof="0" dirty="0"/>
          </a:p>
        </p:txBody>
      </p:sp>
      <p:sp>
        <p:nvSpPr>
          <p:cNvPr id="31" name="Text 29"/>
          <p:cNvSpPr txBox="1"/>
          <p:nvPr/>
        </p:nvSpPr>
        <p:spPr>
          <a:xfrm>
            <a:off x="6409944" y="5401158"/>
            <a:ext cx="4992624" cy="743610"/>
          </a:xfrm>
          <a:prstGeom prst="rect">
            <a:avLst/>
          </a:prstGeom>
          <a:noFill/>
          <a:ln/>
        </p:spPr>
        <p:txBody>
          <a:bodyPr wrap="square" lIns="0" tIns="0" rIns="0" bIns="0" rtlCol="0" anchor="ctr"/>
          <a:lstStyle/>
          <a:p>
            <a:pPr marL="0" indent="0">
              <a:buNone/>
            </a:pPr>
            <a:r>
              <a:rPr lang="en-GB" sz="1800" noProof="0" dirty="0">
                <a:solidFill>
                  <a:srgbClr val="23303F"/>
                </a:solidFill>
                <a:latin typeface="Calibri" pitchFamily="34" charset="0"/>
                <a:ea typeface="Calibri" pitchFamily="34" charset="-122"/>
                <a:cs typeface="Calibri" pitchFamily="34" charset="-120"/>
              </a:rPr>
              <a:t>Refer for diagnostic assessment and biopsy, do not ablate</a:t>
            </a:r>
            <a:endParaRPr lang="en-GB" sz="1800" noProof="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98</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TREATING PRECANCER</a:t>
            </a:r>
            <a:endParaRPr lang="en-GB" sz="1200" noProof="0" dirty="0"/>
          </a:p>
        </p:txBody>
      </p:sp>
      <p:sp>
        <p:nvSpPr>
          <p:cNvPr id="6" name="Shape 4"/>
          <p:cNvSpPr/>
          <p:nvPr/>
        </p:nvSpPr>
        <p:spPr>
          <a:xfrm>
            <a:off x="566928" y="1060704"/>
            <a:ext cx="10966704" cy="4803648"/>
          </a:xfrm>
          <a:prstGeom prst="roundRect">
            <a:avLst>
              <a:gd name="adj" fmla="val 2432"/>
            </a:avLst>
          </a:prstGeom>
          <a:solidFill>
            <a:srgbClr val="ECF3FD"/>
          </a:solidFill>
          <a:ln w="12700">
            <a:solidFill>
              <a:srgbClr val="E0E3EA"/>
            </a:solidFill>
            <a:prstDash val="solid"/>
          </a:ln>
        </p:spPr>
        <p:txBody>
          <a:bodyPr/>
          <a:lstStyle/>
          <a:p>
            <a:endParaRPr lang="en-GB" noProof="0" dirty="0"/>
          </a:p>
        </p:txBody>
      </p:sp>
      <p:sp>
        <p:nvSpPr>
          <p:cNvPr id="8" name="Text 6"/>
          <p:cNvSpPr txBox="1"/>
          <p:nvPr/>
        </p:nvSpPr>
        <p:spPr>
          <a:xfrm>
            <a:off x="812673" y="2129028"/>
            <a:ext cx="4279392" cy="234086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Destroys the abnormal area of the transformation zone.</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Thermal ablation uses heat. It is quick and needs no theatre.</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Appropriate only when defined eligibility criteria are met.</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Provides no tissue specimen and no histology.</a:t>
            </a:r>
            <a:endParaRPr lang="en-GB" sz="1800" noProof="0" dirty="0"/>
          </a:p>
        </p:txBody>
      </p:sp>
      <p:pic>
        <p:nvPicPr>
          <p:cNvPr id="15" name="Imagen 14">
            <a:extLst>
              <a:ext uri="{FF2B5EF4-FFF2-40B4-BE49-F238E27FC236}">
                <a16:creationId xmlns:a16="http://schemas.microsoft.com/office/drawing/2014/main" id="{663FBE5C-8B1E-4160-D3EE-7280BA13DD03}"/>
              </a:ext>
            </a:extLst>
          </p:cNvPr>
          <p:cNvPicPr>
            <a:picLocks noChangeAspect="1"/>
          </p:cNvPicPr>
          <p:nvPr/>
        </p:nvPicPr>
        <p:blipFill>
          <a:blip r:embed="rId3"/>
          <a:stretch>
            <a:fillRect/>
          </a:stretch>
        </p:blipFill>
        <p:spPr>
          <a:xfrm>
            <a:off x="5337810" y="1832610"/>
            <a:ext cx="5976366" cy="3259836"/>
          </a:xfrm>
          <a:prstGeom prst="rect">
            <a:avLst/>
          </a:prstGeom>
        </p:spPr>
      </p:pic>
      <p:sp>
        <p:nvSpPr>
          <p:cNvPr id="5" name="Text 3"/>
          <p:cNvSpPr txBox="1"/>
          <p:nvPr/>
        </p:nvSpPr>
        <p:spPr>
          <a:xfrm>
            <a:off x="812673" y="1012317"/>
            <a:ext cx="11055096" cy="868680"/>
          </a:xfrm>
          <a:prstGeom prst="rect">
            <a:avLst/>
          </a:prstGeom>
          <a:noFill/>
          <a:ln/>
        </p:spPr>
        <p:txBody>
          <a:bodyPr wrap="square" lIns="0" tIns="0" rIns="0" bIns="0" rtlCol="0" anchor="ctr"/>
          <a:lstStyle/>
          <a:p>
            <a:r>
              <a:rPr lang="en-GB" sz="3200" b="1" noProof="0" dirty="0">
                <a:solidFill>
                  <a:srgbClr val="10305A"/>
                </a:solidFill>
                <a:latin typeface="Cambria" pitchFamily="34" charset="0"/>
                <a:ea typeface="Cambria" pitchFamily="34" charset="-122"/>
                <a:cs typeface="Cambria" pitchFamily="34" charset="-120"/>
              </a:rPr>
              <a:t>Ablative treatment</a:t>
            </a:r>
            <a:endParaRPr lang="en-GB" sz="3200" noProof="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1953E11-1552-1E3C-FA26-501068D8B1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E80A113-F48A-0718-9473-DD2901F2DF31}"/>
              </a:ext>
            </a:extLst>
          </p:cNvPr>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a:extLst>
              <a:ext uri="{FF2B5EF4-FFF2-40B4-BE49-F238E27FC236}">
                <a16:creationId xmlns:a16="http://schemas.microsoft.com/office/drawing/2014/main" id="{29AB0992-EB12-A10D-6195-DD1486DACC59}"/>
              </a:ext>
            </a:extLst>
          </p:cNvPr>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99</a:t>
            </a:r>
            <a:endParaRPr lang="en-GB" sz="1100" noProof="0" dirty="0"/>
          </a:p>
        </p:txBody>
      </p:sp>
      <p:sp>
        <p:nvSpPr>
          <p:cNvPr id="4" name="Text 2">
            <a:extLst>
              <a:ext uri="{FF2B5EF4-FFF2-40B4-BE49-F238E27FC236}">
                <a16:creationId xmlns:a16="http://schemas.microsoft.com/office/drawing/2014/main" id="{70DAF96E-CB0A-76DA-E190-662A80EF9461}"/>
              </a:ext>
            </a:extLst>
          </p:cNvPr>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TREATING PRECANCER</a:t>
            </a:r>
            <a:endParaRPr lang="en-GB" sz="1200" noProof="0" dirty="0"/>
          </a:p>
        </p:txBody>
      </p:sp>
      <p:sp>
        <p:nvSpPr>
          <p:cNvPr id="9" name="Shape 7">
            <a:extLst>
              <a:ext uri="{FF2B5EF4-FFF2-40B4-BE49-F238E27FC236}">
                <a16:creationId xmlns:a16="http://schemas.microsoft.com/office/drawing/2014/main" id="{DCA0E89E-9C73-B6A5-23CB-B1D6AB79EE57}"/>
              </a:ext>
            </a:extLst>
          </p:cNvPr>
          <p:cNvSpPr/>
          <p:nvPr/>
        </p:nvSpPr>
        <p:spPr>
          <a:xfrm>
            <a:off x="566928" y="1109472"/>
            <a:ext cx="11055096" cy="3930396"/>
          </a:xfrm>
          <a:prstGeom prst="roundRect">
            <a:avLst>
              <a:gd name="adj" fmla="val 2432"/>
            </a:avLst>
          </a:prstGeom>
          <a:solidFill>
            <a:srgbClr val="F3F6FB"/>
          </a:solidFill>
          <a:ln w="12700">
            <a:solidFill>
              <a:srgbClr val="E0E3EA"/>
            </a:solidFill>
            <a:prstDash val="solid"/>
          </a:ln>
        </p:spPr>
        <p:txBody>
          <a:bodyPr/>
          <a:lstStyle/>
          <a:p>
            <a:endParaRPr lang="en-GB" noProof="0" dirty="0"/>
          </a:p>
        </p:txBody>
      </p:sp>
      <p:sp>
        <p:nvSpPr>
          <p:cNvPr id="11" name="Text 9">
            <a:extLst>
              <a:ext uri="{FF2B5EF4-FFF2-40B4-BE49-F238E27FC236}">
                <a16:creationId xmlns:a16="http://schemas.microsoft.com/office/drawing/2014/main" id="{5EACF799-1BE1-695B-E71F-8B45993B644B}"/>
              </a:ext>
            </a:extLst>
          </p:cNvPr>
          <p:cNvSpPr txBox="1"/>
          <p:nvPr/>
        </p:nvSpPr>
        <p:spPr>
          <a:xfrm>
            <a:off x="783962" y="1842734"/>
            <a:ext cx="4416552" cy="234086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Removes the abnormal transformation zone with a thin electrosurgical wire loop (LEEP, also called LLETZ).</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Used when ablation is not suitable: TZ type 3, a lesion over 75% of the cervix, or a positive test after treatment. Provided at district hospitals.</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Provides tissue for histology, which can identify unsuspected invasive disease.</a:t>
            </a:r>
          </a:p>
        </p:txBody>
      </p:sp>
      <p:sp>
        <p:nvSpPr>
          <p:cNvPr id="12" name="Shape 10">
            <a:extLst>
              <a:ext uri="{FF2B5EF4-FFF2-40B4-BE49-F238E27FC236}">
                <a16:creationId xmlns:a16="http://schemas.microsoft.com/office/drawing/2014/main" id="{3101D677-1EE4-08E0-CB25-0DB44D52B726}"/>
              </a:ext>
            </a:extLst>
          </p:cNvPr>
          <p:cNvSpPr/>
          <p:nvPr/>
        </p:nvSpPr>
        <p:spPr>
          <a:xfrm>
            <a:off x="566928" y="5285232"/>
            <a:ext cx="11055096" cy="786384"/>
          </a:xfrm>
          <a:prstGeom prst="roundRect">
            <a:avLst>
              <a:gd name="adj" fmla="val 8140"/>
            </a:avLst>
          </a:prstGeom>
          <a:solidFill>
            <a:srgbClr val="EAF7F0"/>
          </a:solidFill>
          <a:ln w="12700">
            <a:solidFill>
              <a:srgbClr val="C0D4CB"/>
            </a:solidFill>
            <a:prstDash val="solid"/>
          </a:ln>
        </p:spPr>
        <p:txBody>
          <a:bodyPr/>
          <a:lstStyle/>
          <a:p>
            <a:endParaRPr lang="en-GB" noProof="0" dirty="0"/>
          </a:p>
        </p:txBody>
      </p:sp>
      <p:sp>
        <p:nvSpPr>
          <p:cNvPr id="13" name="Text 11">
            <a:extLst>
              <a:ext uri="{FF2B5EF4-FFF2-40B4-BE49-F238E27FC236}">
                <a16:creationId xmlns:a16="http://schemas.microsoft.com/office/drawing/2014/main" id="{322F7617-2243-EF8C-C9E9-29F71289118A}"/>
              </a:ext>
            </a:extLst>
          </p:cNvPr>
          <p:cNvSpPr txBox="1"/>
          <p:nvPr/>
        </p:nvSpPr>
        <p:spPr>
          <a:xfrm>
            <a:off x="841248" y="5340096"/>
            <a:ext cx="10506456" cy="676656"/>
          </a:xfrm>
          <a:prstGeom prst="rect">
            <a:avLst/>
          </a:prstGeom>
          <a:noFill/>
          <a:ln/>
        </p:spPr>
        <p:txBody>
          <a:bodyPr wrap="square" lIns="0" tIns="0" rIns="0" bIns="0" rtlCol="0" anchor="ctr"/>
          <a:lstStyle/>
          <a:p>
            <a:pPr marL="0" indent="0">
              <a:lnSpc>
                <a:spcPct val="104000"/>
              </a:lnSpc>
              <a:buNone/>
            </a:pPr>
            <a:r>
              <a:rPr lang="en-GB" sz="1800" b="1" noProof="0" dirty="0">
                <a:solidFill>
                  <a:srgbClr val="19543E"/>
                </a:solidFill>
                <a:latin typeface="Calibri" pitchFamily="34" charset="0"/>
                <a:ea typeface="Calibri" pitchFamily="34" charset="-122"/>
                <a:cs typeface="Calibri" pitchFamily="34" charset="-120"/>
              </a:rPr>
              <a:t>✅ Both preserve the uterus:  </a:t>
            </a:r>
            <a:r>
              <a:rPr lang="en-GB" sz="1800" noProof="0" dirty="0">
                <a:solidFill>
                  <a:srgbClr val="23303F"/>
                </a:solidFill>
                <a:latin typeface="Calibri" pitchFamily="34" charset="0"/>
                <a:ea typeface="Calibri" pitchFamily="34" charset="-122"/>
                <a:cs typeface="Calibri" pitchFamily="34" charset="-120"/>
              </a:rPr>
              <a:t>Treatment preserves the uterus and usually preserves fertility. Say this early, because fear of infertility stops many women from returning.</a:t>
            </a:r>
            <a:endParaRPr lang="en-GB" sz="1800" noProof="0" dirty="0"/>
          </a:p>
        </p:txBody>
      </p:sp>
      <p:sp>
        <p:nvSpPr>
          <p:cNvPr id="5" name="Text 3">
            <a:extLst>
              <a:ext uri="{FF2B5EF4-FFF2-40B4-BE49-F238E27FC236}">
                <a16:creationId xmlns:a16="http://schemas.microsoft.com/office/drawing/2014/main" id="{60014616-1A80-19A3-055E-EF3270288823}"/>
              </a:ext>
            </a:extLst>
          </p:cNvPr>
          <p:cNvSpPr txBox="1"/>
          <p:nvPr/>
        </p:nvSpPr>
        <p:spPr>
          <a:xfrm>
            <a:off x="954026" y="1050036"/>
            <a:ext cx="11055096" cy="868680"/>
          </a:xfrm>
          <a:prstGeom prst="rect">
            <a:avLst/>
          </a:prstGeom>
          <a:noFill/>
          <a:ln/>
        </p:spPr>
        <p:txBody>
          <a:bodyPr wrap="square" lIns="0" tIns="0" rIns="0" bIns="0" rtlCol="0" anchor="ctr"/>
          <a:lstStyle/>
          <a:p>
            <a:r>
              <a:rPr lang="en-GB" sz="3200" b="1" noProof="0" dirty="0">
                <a:solidFill>
                  <a:srgbClr val="10305A"/>
                </a:solidFill>
                <a:latin typeface="Cambria" pitchFamily="34" charset="0"/>
                <a:ea typeface="Cambria" pitchFamily="34" charset="-122"/>
                <a:cs typeface="Cambria" pitchFamily="34" charset="-120"/>
              </a:rPr>
              <a:t>Excisional treatment: LEEP</a:t>
            </a:r>
            <a:endParaRPr lang="en-GB" sz="3200" noProof="0" dirty="0"/>
          </a:p>
        </p:txBody>
      </p:sp>
      <p:pic>
        <p:nvPicPr>
          <p:cNvPr id="6" name="Imagen 5">
            <a:extLst>
              <a:ext uri="{FF2B5EF4-FFF2-40B4-BE49-F238E27FC236}">
                <a16:creationId xmlns:a16="http://schemas.microsoft.com/office/drawing/2014/main" id="{22735E07-D60F-406B-BC83-680B0F70E23B}"/>
              </a:ext>
            </a:extLst>
          </p:cNvPr>
          <p:cNvPicPr>
            <a:picLocks noChangeAspect="1"/>
          </p:cNvPicPr>
          <p:nvPr/>
        </p:nvPicPr>
        <p:blipFill>
          <a:blip r:embed="rId3"/>
          <a:srcRect l="40667" t="25435" r="2509" b="40950"/>
          <a:stretch>
            <a:fillRect/>
          </a:stretch>
        </p:blipFill>
        <p:spPr>
          <a:xfrm>
            <a:off x="5420987" y="2064530"/>
            <a:ext cx="5987051" cy="1973254"/>
          </a:xfrm>
          <a:prstGeom prst="rect">
            <a:avLst/>
          </a:prstGeom>
        </p:spPr>
      </p:pic>
    </p:spTree>
    <p:extLst>
      <p:ext uri="{BB962C8B-B14F-4D97-AF65-F5344CB8AC3E}">
        <p14:creationId xmlns:p14="http://schemas.microsoft.com/office/powerpoint/2010/main" val="117912011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2 · TREATING PRECANCER</a:t>
            </a:r>
            <a:endParaRPr lang="en-GB"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Colposcopy: a closer look</a:t>
            </a:r>
          </a:p>
        </p:txBody>
      </p:sp>
      <p:sp>
        <p:nvSpPr>
          <p:cNvPr id="4" name="Shape 4"/>
          <p:cNvSpPr/>
          <p:nvPr/>
        </p:nvSpPr>
        <p:spPr>
          <a:xfrm>
            <a:off x="566928" y="1450000"/>
            <a:ext cx="6600000" cy="85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5" name="Text 5"/>
          <p:cNvSpPr txBox="1"/>
          <p:nvPr/>
        </p:nvSpPr>
        <p:spPr>
          <a:xfrm>
            <a:off x="716928" y="1450000"/>
            <a:ext cx="520000" cy="85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a:t>
            </a:r>
            <a:endParaRPr lang="en-GB" sz="2000" dirty="0"/>
          </a:p>
        </p:txBody>
      </p:sp>
      <p:sp>
        <p:nvSpPr>
          <p:cNvPr id="6" name="Text 6"/>
          <p:cNvSpPr txBox="1"/>
          <p:nvPr/>
        </p:nvSpPr>
        <p:spPr>
          <a:xfrm>
            <a:off x="1316928" y="1450000"/>
            <a:ext cx="5700000" cy="850000"/>
          </a:xfrm>
          <a:prstGeom prst="rect">
            <a:avLst/>
          </a:prstGeom>
          <a:noFill/>
          <a:ln/>
        </p:spPr>
        <p:txBody>
          <a:bodyPr wrap="square" lIns="0" tIns="0" rIns="0" bIns="0" rtlCol="0" anchor="ctr"/>
          <a:lstStyle/>
          <a:p>
            <a:pPr marL="0" indent="0" algn="l">
              <a:buNone/>
            </a:pPr>
            <a:r>
              <a:rPr lang="en-GB" sz="1600" b="1" noProof="0" dirty="0">
                <a:solidFill>
                  <a:srgbClr val="23303F"/>
                </a:solidFill>
                <a:latin typeface="Calibri" pitchFamily="34" charset="0"/>
                <a:ea typeface="Calibri" pitchFamily="34" charset="-122"/>
                <a:cs typeface="Calibri" pitchFamily="34" charset="-120"/>
              </a:rPr>
              <a:t>What it is: </a:t>
            </a:r>
            <a:r>
              <a:rPr lang="en-GB" sz="1600" noProof="0" dirty="0">
                <a:solidFill>
                  <a:srgbClr val="23303F"/>
                </a:solidFill>
                <a:latin typeface="Calibri" pitchFamily="34" charset="0"/>
                <a:ea typeface="Calibri" pitchFamily="34" charset="-122"/>
                <a:cs typeface="Calibri" pitchFamily="34" charset="-120"/>
              </a:rPr>
              <a:t>examination of the cervix under magnification and bright light, after acetic acid, using a colposcope.</a:t>
            </a:r>
            <a:endParaRPr lang="en-GB" sz="1600" dirty="0"/>
          </a:p>
        </p:txBody>
      </p:sp>
      <p:sp>
        <p:nvSpPr>
          <p:cNvPr id="7" name="Shape 7"/>
          <p:cNvSpPr/>
          <p:nvPr/>
        </p:nvSpPr>
        <p:spPr>
          <a:xfrm>
            <a:off x="566928" y="2390000"/>
            <a:ext cx="6600000" cy="85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8" name="Text 8"/>
          <p:cNvSpPr txBox="1"/>
          <p:nvPr/>
        </p:nvSpPr>
        <p:spPr>
          <a:xfrm>
            <a:off x="716928" y="2390000"/>
            <a:ext cx="520000" cy="85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a:t>
            </a:r>
            <a:endParaRPr lang="en-GB" sz="2000" dirty="0"/>
          </a:p>
        </p:txBody>
      </p:sp>
      <p:sp>
        <p:nvSpPr>
          <p:cNvPr id="9" name="Text 9"/>
          <p:cNvSpPr txBox="1"/>
          <p:nvPr/>
        </p:nvSpPr>
        <p:spPr>
          <a:xfrm>
            <a:off x="1316928" y="2390000"/>
            <a:ext cx="5700000" cy="850000"/>
          </a:xfrm>
          <a:prstGeom prst="rect">
            <a:avLst/>
          </a:prstGeom>
          <a:noFill/>
          <a:ln/>
        </p:spPr>
        <p:txBody>
          <a:bodyPr wrap="square" lIns="0" tIns="0" rIns="0" bIns="0" rtlCol="0" anchor="ctr"/>
          <a:lstStyle/>
          <a:p>
            <a:pPr marL="0" indent="0" algn="l">
              <a:buNone/>
            </a:pPr>
            <a:r>
              <a:rPr lang="en-GB" sz="1600" b="1" noProof="0" dirty="0">
                <a:solidFill>
                  <a:srgbClr val="23303F"/>
                </a:solidFill>
                <a:latin typeface="Calibri" pitchFamily="34" charset="0"/>
                <a:ea typeface="Calibri" pitchFamily="34" charset="-122"/>
                <a:cs typeface="Calibri" pitchFamily="34" charset="-120"/>
              </a:rPr>
              <a:t>Why: </a:t>
            </a:r>
            <a:r>
              <a:rPr lang="en-GB" sz="1600" noProof="0" dirty="0">
                <a:solidFill>
                  <a:srgbClr val="23303F"/>
                </a:solidFill>
                <a:latin typeface="Calibri" pitchFamily="34" charset="0"/>
                <a:ea typeface="Calibri" pitchFamily="34" charset="-122"/>
                <a:cs typeface="Calibri" pitchFamily="34" charset="-120"/>
              </a:rPr>
              <a:t>to see the full extent of a lesion, plan treatment and guide a biopsy.</a:t>
            </a:r>
            <a:endParaRPr lang="en-GB" sz="1600" dirty="0"/>
          </a:p>
        </p:txBody>
      </p:sp>
      <p:sp>
        <p:nvSpPr>
          <p:cNvPr id="10" name="Shape 10"/>
          <p:cNvSpPr/>
          <p:nvPr/>
        </p:nvSpPr>
        <p:spPr>
          <a:xfrm>
            <a:off x="566928" y="3330000"/>
            <a:ext cx="6600000" cy="85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1" name="Text 11"/>
          <p:cNvSpPr txBox="1"/>
          <p:nvPr/>
        </p:nvSpPr>
        <p:spPr>
          <a:xfrm>
            <a:off x="716928" y="3330000"/>
            <a:ext cx="520000" cy="85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a:t>
            </a:r>
            <a:endParaRPr lang="en-GB" sz="2000" dirty="0"/>
          </a:p>
        </p:txBody>
      </p:sp>
      <p:sp>
        <p:nvSpPr>
          <p:cNvPr id="12" name="Text 12"/>
          <p:cNvSpPr txBox="1"/>
          <p:nvPr/>
        </p:nvSpPr>
        <p:spPr>
          <a:xfrm>
            <a:off x="1316928" y="3330000"/>
            <a:ext cx="5700000" cy="850000"/>
          </a:xfrm>
          <a:prstGeom prst="rect">
            <a:avLst/>
          </a:prstGeom>
          <a:noFill/>
          <a:ln/>
        </p:spPr>
        <p:txBody>
          <a:bodyPr wrap="square" lIns="0" tIns="0" rIns="0" bIns="0" rtlCol="0" anchor="ctr"/>
          <a:lstStyle/>
          <a:p>
            <a:pPr marL="0" indent="0" algn="l">
              <a:buNone/>
            </a:pPr>
            <a:r>
              <a:rPr lang="en-GB" sz="1600" b="1" noProof="0" dirty="0">
                <a:solidFill>
                  <a:srgbClr val="23303F"/>
                </a:solidFill>
                <a:latin typeface="Calibri" pitchFamily="34" charset="0"/>
                <a:ea typeface="Calibri" pitchFamily="34" charset="-122"/>
                <a:cs typeface="Calibri" pitchFamily="34" charset="-120"/>
              </a:rPr>
              <a:t>Where: </a:t>
            </a:r>
            <a:r>
              <a:rPr lang="en-GB" sz="1600" noProof="0" dirty="0">
                <a:solidFill>
                  <a:srgbClr val="23303F"/>
                </a:solidFill>
                <a:latin typeface="Calibri" pitchFamily="34" charset="0"/>
                <a:ea typeface="Calibri" pitchFamily="34" charset="-122"/>
                <a:cs typeface="Calibri" pitchFamily="34" charset="-120"/>
              </a:rPr>
              <a:t>at the district hospital, on referral.</a:t>
            </a:r>
            <a:endParaRPr lang="en-GB" sz="1600" dirty="0"/>
          </a:p>
        </p:txBody>
      </p:sp>
      <p:sp>
        <p:nvSpPr>
          <p:cNvPr id="13" name="Shape 13"/>
          <p:cNvSpPr/>
          <p:nvPr/>
        </p:nvSpPr>
        <p:spPr>
          <a:xfrm>
            <a:off x="566928" y="4270000"/>
            <a:ext cx="6600000" cy="85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4" name="Text 14"/>
          <p:cNvSpPr txBox="1"/>
          <p:nvPr/>
        </p:nvSpPr>
        <p:spPr>
          <a:xfrm>
            <a:off x="716928" y="4270000"/>
            <a:ext cx="520000" cy="85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a:t>
            </a:r>
            <a:endParaRPr lang="en-GB" sz="2000" dirty="0"/>
          </a:p>
        </p:txBody>
      </p:sp>
      <p:sp>
        <p:nvSpPr>
          <p:cNvPr id="15" name="Text 15"/>
          <p:cNvSpPr txBox="1"/>
          <p:nvPr/>
        </p:nvSpPr>
        <p:spPr>
          <a:xfrm>
            <a:off x="1316928" y="4270000"/>
            <a:ext cx="5700000" cy="850000"/>
          </a:xfrm>
          <a:prstGeom prst="rect">
            <a:avLst/>
          </a:prstGeom>
          <a:noFill/>
          <a:ln/>
        </p:spPr>
        <p:txBody>
          <a:bodyPr wrap="square" lIns="0" tIns="0" rIns="0" bIns="0" rtlCol="0" anchor="ctr"/>
          <a:lstStyle/>
          <a:p>
            <a:pPr marL="0" indent="0" algn="l">
              <a:buNone/>
            </a:pPr>
            <a:r>
              <a:rPr lang="en-GB" sz="1600" b="1" noProof="0" dirty="0">
                <a:solidFill>
                  <a:srgbClr val="23303F"/>
                </a:solidFill>
                <a:latin typeface="Calibri" pitchFamily="34" charset="0"/>
                <a:ea typeface="Calibri" pitchFamily="34" charset="-122"/>
                <a:cs typeface="Calibri" pitchFamily="34" charset="-120"/>
              </a:rPr>
              <a:t>When to refer: </a:t>
            </a:r>
            <a:r>
              <a:rPr lang="en-GB" sz="1600" noProof="0" dirty="0">
                <a:solidFill>
                  <a:srgbClr val="23303F"/>
                </a:solidFill>
                <a:latin typeface="Calibri" pitchFamily="34" charset="0"/>
                <a:ea typeface="Calibri" pitchFamily="34" charset="-122"/>
                <a:cs typeface="Calibri" pitchFamily="34" charset="-120"/>
              </a:rPr>
              <a:t>an abnormal Pap smear, leukoplakia near the SCJ, or a lesion that cannot be fully assessed at VIA.</a:t>
            </a:r>
            <a:endParaRPr lang="en-GB" sz="1600" dirty="0"/>
          </a:p>
        </p:txBody>
      </p:sp>
      <p:pic>
        <p:nvPicPr>
          <p:cNvPr id="16" name="Colposcopy 16"/>
          <p:cNvPicPr>
            <a:picLocks noChangeAspect="1"/>
          </p:cNvPicPr>
          <p:nvPr/>
        </p:nvPicPr>
        <p:blipFill>
          <a:blip r:embed="rId2"/>
          <a:stretch>
            <a:fillRect/>
          </a:stretch>
        </p:blipFill>
        <p:spPr>
          <a:xfrm>
            <a:off x="7416928" y="1700000"/>
            <a:ext cx="4205096" cy="2293688"/>
          </a:xfrm>
          <a:prstGeom prst="rect">
            <a:avLst/>
          </a:prstGeom>
        </p:spPr>
      </p:pic>
      <p:sp>
        <p:nvSpPr>
          <p:cNvPr id="17" name="Shape 17"/>
          <p:cNvSpPr/>
          <p:nvPr/>
        </p:nvSpPr>
        <p:spPr>
          <a:xfrm>
            <a:off x="566928" y="5300000"/>
            <a:ext cx="11055096" cy="880000"/>
          </a:xfrm>
          <a:prstGeom prst="roundRect">
            <a:avLst>
              <a:gd name="adj" fmla="val 3000"/>
            </a:avLst>
          </a:prstGeom>
          <a:solidFill>
            <a:srgbClr val="FFF2DF"/>
          </a:solidFill>
          <a:ln w="12700">
            <a:solidFill>
              <a:srgbClr val="E8DDC7"/>
            </a:solidFill>
          </a:ln>
        </p:spPr>
        <p:txBody>
          <a:bodyPr/>
          <a:lstStyle/>
          <a:p>
            <a:endParaRPr lang="en-GB" sz="1600" dirty="0"/>
          </a:p>
        </p:txBody>
      </p:sp>
      <p:sp>
        <p:nvSpPr>
          <p:cNvPr id="18" name="Text 18"/>
          <p:cNvSpPr txBox="1"/>
          <p:nvPr/>
        </p:nvSpPr>
        <p:spPr>
          <a:xfrm>
            <a:off x="841248" y="5350000"/>
            <a:ext cx="10506456" cy="780000"/>
          </a:xfrm>
          <a:prstGeom prst="rect">
            <a:avLst/>
          </a:prstGeom>
          <a:noFill/>
          <a:ln/>
        </p:spPr>
        <p:txBody>
          <a:bodyPr wrap="square" lIns="0" tIns="0" rIns="0" bIns="0" rtlCol="0" anchor="ctr"/>
          <a:lstStyle/>
          <a:p>
            <a:pPr marL="0" indent="0" algn="l">
              <a:buNone/>
            </a:pPr>
            <a:r>
              <a:rPr lang="en-GB" sz="1600" b="1" noProof="0" dirty="0">
                <a:solidFill>
                  <a:srgbClr val="7B5727"/>
                </a:solidFill>
                <a:latin typeface="Calibri" pitchFamily="34" charset="0"/>
                <a:ea typeface="Calibri" pitchFamily="34" charset="-122"/>
                <a:cs typeface="Calibri" pitchFamily="34" charset="-120"/>
              </a:rPr>
              <a:t>💬 Say it this way:  </a:t>
            </a:r>
            <a:r>
              <a:rPr lang="en-GB" sz="1600" noProof="0" dirty="0">
                <a:solidFill>
                  <a:srgbClr val="23303F"/>
                </a:solidFill>
                <a:latin typeface="Calibri" pitchFamily="34" charset="0"/>
                <a:ea typeface="Calibri" pitchFamily="34" charset="-122"/>
                <a:cs typeface="Calibri" pitchFamily="34" charset="-120"/>
              </a:rPr>
              <a:t>A colposcopy is a closer look at the cervix with a magnifying lamp. It feels much like a speculum examination.</a:t>
            </a:r>
            <a:endParaRPr lang="en-GB" sz="1600" dirty="0"/>
          </a:p>
        </p:txBody>
      </p:sp>
      <p:sp>
        <p:nvSpPr>
          <p:cNvPr id="19" name="Text 19"/>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20" name="Text 20"/>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100</a:t>
            </a:r>
            <a:endParaRPr lang="en-GB" sz="11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101</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TREATING PRECANCER</a:t>
            </a:r>
            <a:endParaRPr lang="en-GB" sz="1200" noProof="0" dirty="0"/>
          </a:p>
        </p:txBody>
      </p:sp>
      <p:sp>
        <p:nvSpPr>
          <p:cNvPr id="5" name="Text 3"/>
          <p:cNvSpPr txBox="1"/>
          <p:nvPr/>
        </p:nvSpPr>
        <p:spPr>
          <a:xfrm>
            <a:off x="566928" y="51816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Two programme strategies</a:t>
            </a:r>
            <a:endParaRPr lang="en-GB" sz="3200" noProof="0" dirty="0"/>
          </a:p>
        </p:txBody>
      </p:sp>
      <p:sp>
        <p:nvSpPr>
          <p:cNvPr id="6" name="Shape 4"/>
          <p:cNvSpPr/>
          <p:nvPr/>
        </p:nvSpPr>
        <p:spPr>
          <a:xfrm>
            <a:off x="566928" y="1243584"/>
            <a:ext cx="5436108" cy="4155560"/>
          </a:xfrm>
          <a:prstGeom prst="roundRect">
            <a:avLst>
              <a:gd name="adj" fmla="val 2432"/>
            </a:avLst>
          </a:prstGeom>
          <a:solidFill>
            <a:srgbClr val="F3F6FB"/>
          </a:solidFill>
          <a:ln w="12700">
            <a:solidFill>
              <a:srgbClr val="E0E3EA"/>
            </a:solidFill>
            <a:prstDash val="solid"/>
          </a:ln>
        </p:spPr>
        <p:txBody>
          <a:bodyPr/>
          <a:lstStyle/>
          <a:p>
            <a:endParaRPr lang="en-GB" sz="1600" noProof="0" dirty="0"/>
          </a:p>
        </p:txBody>
      </p:sp>
      <p:sp>
        <p:nvSpPr>
          <p:cNvPr id="7" name="Text 5"/>
          <p:cNvSpPr txBox="1"/>
          <p:nvPr/>
        </p:nvSpPr>
        <p:spPr>
          <a:xfrm>
            <a:off x="822960" y="1249680"/>
            <a:ext cx="4924044" cy="56692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1️⃣  Screen and treat</a:t>
            </a:r>
            <a:endParaRPr lang="en-GB" noProof="0" dirty="0"/>
          </a:p>
        </p:txBody>
      </p:sp>
      <p:sp>
        <p:nvSpPr>
          <p:cNvPr id="8" name="Text 6"/>
          <p:cNvSpPr txBox="1"/>
          <p:nvPr/>
        </p:nvSpPr>
        <p:spPr>
          <a:xfrm>
            <a:off x="877824" y="1742802"/>
            <a:ext cx="4869180" cy="234086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A woman with a positive screening result may receive treatment at the same visit if assessment confirms that the lesion is eligible for ablative treatment.</a:t>
            </a:r>
          </a:p>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Thermal ablation can be provided at the same visit when eligibility criteria are met.</a:t>
            </a:r>
          </a:p>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Same-visit treatment helps reduce loss to follow-up.</a:t>
            </a:r>
          </a:p>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Do not use this approach when invasive cancer is suspected.</a:t>
            </a:r>
          </a:p>
        </p:txBody>
      </p:sp>
      <p:sp>
        <p:nvSpPr>
          <p:cNvPr id="9" name="Shape 7"/>
          <p:cNvSpPr/>
          <p:nvPr/>
        </p:nvSpPr>
        <p:spPr>
          <a:xfrm>
            <a:off x="6185916" y="1243584"/>
            <a:ext cx="5436108" cy="4155560"/>
          </a:xfrm>
          <a:prstGeom prst="roundRect">
            <a:avLst>
              <a:gd name="adj" fmla="val 2432"/>
            </a:avLst>
          </a:prstGeom>
          <a:solidFill>
            <a:srgbClr val="ECF3FD"/>
          </a:solidFill>
          <a:ln w="12700">
            <a:solidFill>
              <a:srgbClr val="E0E3EA"/>
            </a:solidFill>
            <a:prstDash val="solid"/>
          </a:ln>
        </p:spPr>
        <p:txBody>
          <a:bodyPr/>
          <a:lstStyle/>
          <a:p>
            <a:endParaRPr lang="en-GB" sz="1600" noProof="0" dirty="0"/>
          </a:p>
        </p:txBody>
      </p:sp>
      <p:sp>
        <p:nvSpPr>
          <p:cNvPr id="10" name="Text 8"/>
          <p:cNvSpPr txBox="1"/>
          <p:nvPr/>
        </p:nvSpPr>
        <p:spPr>
          <a:xfrm>
            <a:off x="6441948" y="1249680"/>
            <a:ext cx="4924044" cy="56692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2️⃣  Screen, triage, treat</a:t>
            </a:r>
            <a:endParaRPr lang="en-GB" noProof="0" dirty="0"/>
          </a:p>
        </p:txBody>
      </p:sp>
      <p:sp>
        <p:nvSpPr>
          <p:cNvPr id="11" name="Text 9"/>
          <p:cNvSpPr txBox="1"/>
          <p:nvPr/>
        </p:nvSpPr>
        <p:spPr>
          <a:xfrm>
            <a:off x="6496812" y="1742802"/>
            <a:ext cx="4869180" cy="234086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A positive HPV screening result is followed by triage and assessment, including VIA as indicated.</a:t>
            </a:r>
          </a:p>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Assessment determines whether treatment is needed and which treatment is appropriate.</a:t>
            </a:r>
          </a:p>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Eligible lesions → thermal ablation.</a:t>
            </a:r>
          </a:p>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Lesions not suitable for ablation → LLETZ/LEEP or referral for excisional treatment.</a:t>
            </a:r>
          </a:p>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Suspected invasive cancer → urgent referral for diagnostic assessment and cancer care.</a:t>
            </a:r>
          </a:p>
        </p:txBody>
      </p:sp>
      <p:pic>
        <p:nvPicPr>
          <p:cNvPr id="14" name="Imagen 13">
            <a:extLst>
              <a:ext uri="{FF2B5EF4-FFF2-40B4-BE49-F238E27FC236}">
                <a16:creationId xmlns:a16="http://schemas.microsoft.com/office/drawing/2014/main" id="{FE076C15-2936-DB5C-5893-22242DCB74A7}"/>
              </a:ext>
            </a:extLst>
          </p:cNvPr>
          <p:cNvPicPr>
            <a:picLocks noChangeAspect="1"/>
          </p:cNvPicPr>
          <p:nvPr/>
        </p:nvPicPr>
        <p:blipFill>
          <a:blip r:embed="rId3"/>
          <a:srcRect t="28059" b="30294"/>
          <a:stretch>
            <a:fillRect/>
          </a:stretch>
        </p:blipFill>
        <p:spPr>
          <a:xfrm>
            <a:off x="1649185" y="4401791"/>
            <a:ext cx="3377761" cy="937825"/>
          </a:xfrm>
          <a:prstGeom prst="rect">
            <a:avLst/>
          </a:prstGeom>
        </p:spPr>
      </p:pic>
      <p:pic>
        <p:nvPicPr>
          <p:cNvPr id="15" name="Imagen 14">
            <a:extLst>
              <a:ext uri="{FF2B5EF4-FFF2-40B4-BE49-F238E27FC236}">
                <a16:creationId xmlns:a16="http://schemas.microsoft.com/office/drawing/2014/main" id="{728F47F3-BA4C-E041-0839-2D5B20342CCA}"/>
              </a:ext>
            </a:extLst>
          </p:cNvPr>
          <p:cNvPicPr>
            <a:picLocks noChangeAspect="1"/>
          </p:cNvPicPr>
          <p:nvPr/>
        </p:nvPicPr>
        <p:blipFill>
          <a:blip r:embed="rId4"/>
          <a:srcRect t="23117" b="28177"/>
          <a:stretch>
            <a:fillRect/>
          </a:stretch>
        </p:blipFill>
        <p:spPr>
          <a:xfrm>
            <a:off x="7242799" y="4437184"/>
            <a:ext cx="2962559" cy="961960"/>
          </a:xfrm>
          <a:prstGeom prst="rect">
            <a:avLst/>
          </a:prstGeom>
        </p:spPr>
      </p:pic>
      <p:sp>
        <p:nvSpPr>
          <p:cNvPr id="16" name="Shape 10">
            <a:extLst>
              <a:ext uri="{FF2B5EF4-FFF2-40B4-BE49-F238E27FC236}">
                <a16:creationId xmlns:a16="http://schemas.microsoft.com/office/drawing/2014/main" id="{E3B90957-27EB-FACA-4795-9BE415B6AD31}"/>
              </a:ext>
            </a:extLst>
          </p:cNvPr>
          <p:cNvSpPr/>
          <p:nvPr/>
        </p:nvSpPr>
        <p:spPr>
          <a:xfrm>
            <a:off x="566928" y="5491537"/>
            <a:ext cx="11055096" cy="786384"/>
          </a:xfrm>
          <a:prstGeom prst="roundRect">
            <a:avLst>
              <a:gd name="adj" fmla="val 8140"/>
            </a:avLst>
          </a:prstGeom>
          <a:solidFill>
            <a:srgbClr val="EAF7F0"/>
          </a:solidFill>
          <a:ln w="12700">
            <a:solidFill>
              <a:srgbClr val="C0D4CB"/>
            </a:solidFill>
            <a:prstDash val="solid"/>
          </a:ln>
        </p:spPr>
        <p:txBody>
          <a:bodyPr/>
          <a:lstStyle/>
          <a:p>
            <a:endParaRPr lang="en-GB" sz="1600" noProof="0" dirty="0"/>
          </a:p>
        </p:txBody>
      </p:sp>
      <p:sp>
        <p:nvSpPr>
          <p:cNvPr id="17" name="Text 11">
            <a:extLst>
              <a:ext uri="{FF2B5EF4-FFF2-40B4-BE49-F238E27FC236}">
                <a16:creationId xmlns:a16="http://schemas.microsoft.com/office/drawing/2014/main" id="{F305C5B5-FE4B-145A-AB68-A69CCC32A893}"/>
              </a:ext>
            </a:extLst>
          </p:cNvPr>
          <p:cNvSpPr txBox="1"/>
          <p:nvPr/>
        </p:nvSpPr>
        <p:spPr>
          <a:xfrm>
            <a:off x="841248" y="5546401"/>
            <a:ext cx="10506456" cy="676656"/>
          </a:xfrm>
          <a:prstGeom prst="rect">
            <a:avLst/>
          </a:prstGeom>
          <a:noFill/>
          <a:ln/>
        </p:spPr>
        <p:txBody>
          <a:bodyPr wrap="square" lIns="0" tIns="0" rIns="0" bIns="0" rtlCol="0" anchor="ctr"/>
          <a:lstStyle/>
          <a:p>
            <a:pPr marL="0" indent="0">
              <a:lnSpc>
                <a:spcPct val="104000"/>
              </a:lnSpc>
              <a:buNone/>
            </a:pPr>
            <a:r>
              <a:rPr lang="en-GB" sz="1600" b="1" noProof="0" dirty="0">
                <a:solidFill>
                  <a:srgbClr val="19543E"/>
                </a:solidFill>
                <a:latin typeface="Calibri" pitchFamily="34" charset="0"/>
                <a:ea typeface="Calibri" pitchFamily="34" charset="-122"/>
                <a:cs typeface="Calibri" pitchFamily="34" charset="-120"/>
              </a:rPr>
              <a:t>✅ In Rwanda:  </a:t>
            </a:r>
            <a:r>
              <a:rPr lang="en-GB" sz="1600" noProof="0" dirty="0">
                <a:solidFill>
                  <a:srgbClr val="23303F"/>
                </a:solidFill>
                <a:latin typeface="Calibri" pitchFamily="34" charset="0"/>
                <a:ea typeface="Calibri" pitchFamily="34" charset="-122"/>
                <a:cs typeface="Calibri" pitchFamily="34" charset="-120"/>
              </a:rPr>
              <a:t>Treatment is selected according to the screening and triage findings. Thermal ablation is used for eligible lesions; LLETZ/LEEP is used when excisional treatment is required, and suspected invasive cancer is referred urgently.</a:t>
            </a:r>
            <a:endParaRPr lang="en-GB" sz="1600" noProof="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2 · TREATING PRECANCER</a:t>
            </a:r>
            <a:endParaRPr lang="en-GB"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When ablation is appropriate</a:t>
            </a:r>
          </a:p>
        </p:txBody>
      </p:sp>
      <p:sp>
        <p:nvSpPr>
          <p:cNvPr id="4" name="Shape 4"/>
          <p:cNvSpPr/>
          <p:nvPr/>
        </p:nvSpPr>
        <p:spPr>
          <a:xfrm>
            <a:off x="566928" y="1450000"/>
            <a:ext cx="5436108" cy="3650000"/>
          </a:xfrm>
          <a:prstGeom prst="roundRect">
            <a:avLst>
              <a:gd name="adj" fmla="val 3000"/>
            </a:avLst>
          </a:prstGeom>
          <a:solidFill>
            <a:srgbClr val="EAF7F0"/>
          </a:solidFill>
          <a:ln w="12700">
            <a:solidFill>
              <a:srgbClr val="C0D4CB"/>
            </a:solidFill>
          </a:ln>
        </p:spPr>
        <p:txBody>
          <a:bodyPr/>
          <a:lstStyle/>
          <a:p>
            <a:endParaRPr lang="en-GB" sz="1600" dirty="0"/>
          </a:p>
        </p:txBody>
      </p:sp>
      <p:sp>
        <p:nvSpPr>
          <p:cNvPr id="5" name="Text 5"/>
          <p:cNvSpPr txBox="1"/>
          <p:nvPr/>
        </p:nvSpPr>
        <p:spPr>
          <a:xfrm>
            <a:off x="822960" y="1570000"/>
            <a:ext cx="4924044" cy="520000"/>
          </a:xfrm>
          <a:prstGeom prst="rect">
            <a:avLst/>
          </a:prstGeom>
          <a:noFill/>
          <a:ln/>
        </p:spPr>
        <p:txBody>
          <a:bodyPr wrap="square" lIns="0" tIns="0" rIns="0" bIns="0" rtlCol="0" anchor="ctr"/>
          <a:lstStyle/>
          <a:p>
            <a:pPr marL="0" indent="0" algn="l">
              <a:buNone/>
            </a:pPr>
            <a:r>
              <a:rPr lang="en-GB" sz="1800" b="1" noProof="0" dirty="0">
                <a:solidFill>
                  <a:srgbClr val="19543E"/>
                </a:solidFill>
                <a:latin typeface="Calibri" pitchFamily="34" charset="0"/>
                <a:ea typeface="Calibri" pitchFamily="34" charset="-122"/>
                <a:cs typeface="Calibri" pitchFamily="34" charset="-120"/>
              </a:rPr>
              <a:t>✅  Thermal ablation is appropriate when</a:t>
            </a:r>
            <a:endParaRPr lang="en-GB" sz="1800" dirty="0"/>
          </a:p>
        </p:txBody>
      </p:sp>
      <p:sp>
        <p:nvSpPr>
          <p:cNvPr id="6" name="Text 6"/>
          <p:cNvSpPr txBox="1"/>
          <p:nvPr/>
        </p:nvSpPr>
        <p:spPr>
          <a:xfrm>
            <a:off x="822960" y="2150000"/>
            <a:ext cx="4924044" cy="287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en-GB" sz="1500" noProof="0" dirty="0">
                <a:solidFill>
                  <a:srgbClr val="23303F"/>
                </a:solidFill>
                <a:latin typeface="Calibri" pitchFamily="34" charset="0"/>
                <a:ea typeface="Calibri" pitchFamily="34" charset="-122"/>
                <a:cs typeface="Calibri" pitchFamily="34" charset="-120"/>
              </a:rPr>
              <a:t>VIA is positive; or VIA is negative with HPV 16/18 (HIV-negative) or any high-risk type (living with HIV).</a:t>
            </a:r>
            <a:endParaRPr lang="en-GB" sz="1500" dirty="0"/>
          </a:p>
          <a:p>
            <a:pPr marL="285750" indent="-285750" algn="l">
              <a:lnSpc>
                <a:spcPct val="104000"/>
              </a:lnSpc>
              <a:spcAft>
                <a:spcPts val="600"/>
              </a:spcAft>
              <a:buSzPct val="100000"/>
              <a:buChar char="•"/>
            </a:pPr>
            <a:r>
              <a:rPr lang="en-GB" sz="1500" noProof="0" dirty="0">
                <a:solidFill>
                  <a:srgbClr val="23303F"/>
                </a:solidFill>
                <a:latin typeface="Calibri" pitchFamily="34" charset="0"/>
                <a:ea typeface="Calibri" pitchFamily="34" charset="-122"/>
                <a:cs typeface="Calibri" pitchFamily="34" charset="-120"/>
              </a:rPr>
              <a:t>The whole lesion is visible and does not enter the canal.</a:t>
            </a:r>
            <a:endParaRPr lang="en-GB" sz="1500" dirty="0"/>
          </a:p>
          <a:p>
            <a:pPr marL="285750" indent="-285750" algn="l">
              <a:lnSpc>
                <a:spcPct val="104000"/>
              </a:lnSpc>
              <a:spcAft>
                <a:spcPts val="600"/>
              </a:spcAft>
              <a:buSzPct val="100000"/>
              <a:buChar char="•"/>
            </a:pPr>
            <a:r>
              <a:rPr lang="en-GB" sz="1500" noProof="0" dirty="0">
                <a:solidFill>
                  <a:srgbClr val="23303F"/>
                </a:solidFill>
                <a:latin typeface="Calibri" pitchFamily="34" charset="0"/>
                <a:ea typeface="Calibri" pitchFamily="34" charset="-122"/>
                <a:cs typeface="Calibri" pitchFamily="34" charset="-120"/>
              </a:rPr>
              <a:t>The lesion covers less than 75% of the cervix (TZ type 1 or 2).</a:t>
            </a:r>
            <a:endParaRPr lang="en-GB" sz="1500" dirty="0"/>
          </a:p>
          <a:p>
            <a:pPr marL="285750" indent="-285750" algn="l">
              <a:lnSpc>
                <a:spcPct val="104000"/>
              </a:lnSpc>
              <a:spcAft>
                <a:spcPts val="600"/>
              </a:spcAft>
              <a:buSzPct val="100000"/>
              <a:buChar char="•"/>
            </a:pPr>
            <a:r>
              <a:rPr lang="en-GB" sz="1500" noProof="0" dirty="0">
                <a:solidFill>
                  <a:srgbClr val="23303F"/>
                </a:solidFill>
                <a:latin typeface="Calibri" pitchFamily="34" charset="0"/>
                <a:ea typeface="Calibri" pitchFamily="34" charset="-122"/>
                <a:cs typeface="Calibri" pitchFamily="34" charset="-120"/>
              </a:rPr>
              <a:t>Cancer is not suspected, and no polyp or deformity prevents probe contact.</a:t>
            </a:r>
            <a:endParaRPr lang="en-GB" sz="1500" dirty="0"/>
          </a:p>
          <a:p>
            <a:pPr marL="285750" indent="-285750" algn="l">
              <a:lnSpc>
                <a:spcPct val="104000"/>
              </a:lnSpc>
              <a:spcAft>
                <a:spcPts val="600"/>
              </a:spcAft>
              <a:buSzPct val="100000"/>
              <a:buChar char="•"/>
            </a:pPr>
            <a:r>
              <a:rPr lang="en-GB" sz="1500" noProof="0" dirty="0">
                <a:solidFill>
                  <a:srgbClr val="23303F"/>
                </a:solidFill>
                <a:latin typeface="Calibri" pitchFamily="34" charset="0"/>
                <a:ea typeface="Calibri" pitchFamily="34" charset="-122"/>
                <a:cs typeface="Calibri" pitchFamily="34" charset="-120"/>
              </a:rPr>
              <a:t>She is not pregnant, is over 6 weeks after childbirth, and has no severe cervicitis.</a:t>
            </a:r>
            <a:endParaRPr lang="en-GB" sz="1500" dirty="0"/>
          </a:p>
        </p:txBody>
      </p:sp>
      <p:sp>
        <p:nvSpPr>
          <p:cNvPr id="7" name="Shape 7"/>
          <p:cNvSpPr/>
          <p:nvPr/>
        </p:nvSpPr>
        <p:spPr>
          <a:xfrm>
            <a:off x="6185916" y="1450000"/>
            <a:ext cx="5436108" cy="3650000"/>
          </a:xfrm>
          <a:prstGeom prst="roundRect">
            <a:avLst>
              <a:gd name="adj" fmla="val 3000"/>
            </a:avLst>
          </a:prstGeom>
          <a:solidFill>
            <a:srgbClr val="FFF2DF"/>
          </a:solidFill>
          <a:ln w="12700">
            <a:solidFill>
              <a:srgbClr val="E8DDC7"/>
            </a:solidFill>
          </a:ln>
        </p:spPr>
        <p:txBody>
          <a:bodyPr/>
          <a:lstStyle/>
          <a:p>
            <a:endParaRPr lang="en-GB" sz="1600" dirty="0"/>
          </a:p>
        </p:txBody>
      </p:sp>
      <p:sp>
        <p:nvSpPr>
          <p:cNvPr id="8" name="Text 8"/>
          <p:cNvSpPr txBox="1"/>
          <p:nvPr/>
        </p:nvSpPr>
        <p:spPr>
          <a:xfrm>
            <a:off x="6441948" y="1570000"/>
            <a:ext cx="4924044" cy="520000"/>
          </a:xfrm>
          <a:prstGeom prst="rect">
            <a:avLst/>
          </a:prstGeom>
          <a:noFill/>
          <a:ln/>
        </p:spPr>
        <p:txBody>
          <a:bodyPr wrap="square" lIns="0" tIns="0" rIns="0" bIns="0" rtlCol="0" anchor="ctr"/>
          <a:lstStyle/>
          <a:p>
            <a:pPr marL="0" indent="0" algn="l">
              <a:buNone/>
            </a:pPr>
            <a:r>
              <a:rPr lang="en-GB" sz="1800" b="1" noProof="0" dirty="0">
                <a:solidFill>
                  <a:srgbClr val="7B5727"/>
                </a:solidFill>
                <a:latin typeface="Calibri" pitchFamily="34" charset="0"/>
                <a:ea typeface="Calibri" pitchFamily="34" charset="-122"/>
                <a:cs typeface="Calibri" pitchFamily="34" charset="-120"/>
              </a:rPr>
              <a:t>🏥  Refer for LEEP or biopsy when</a:t>
            </a:r>
            <a:endParaRPr lang="en-GB" sz="1800" dirty="0"/>
          </a:p>
        </p:txBody>
      </p:sp>
      <p:sp>
        <p:nvSpPr>
          <p:cNvPr id="9" name="Text 9"/>
          <p:cNvSpPr txBox="1"/>
          <p:nvPr/>
        </p:nvSpPr>
        <p:spPr>
          <a:xfrm>
            <a:off x="6441948" y="2150000"/>
            <a:ext cx="4924044" cy="287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en-GB" sz="1500" noProof="0" dirty="0">
                <a:solidFill>
                  <a:srgbClr val="23303F"/>
                </a:solidFill>
                <a:latin typeface="Calibri" pitchFamily="34" charset="0"/>
                <a:ea typeface="Calibri" pitchFamily="34" charset="-122"/>
                <a:cs typeface="Calibri" pitchFamily="34" charset="-120"/>
              </a:rPr>
              <a:t>The transformation zone is type 3.</a:t>
            </a:r>
            <a:endParaRPr lang="en-GB" sz="1500" dirty="0"/>
          </a:p>
          <a:p>
            <a:pPr marL="285750" indent="-285750" algn="l">
              <a:lnSpc>
                <a:spcPct val="104000"/>
              </a:lnSpc>
              <a:spcAft>
                <a:spcPts val="600"/>
              </a:spcAft>
              <a:buSzPct val="100000"/>
              <a:buChar char="•"/>
            </a:pPr>
            <a:r>
              <a:rPr lang="en-GB" sz="1500" noProof="0" dirty="0">
                <a:solidFill>
                  <a:srgbClr val="23303F"/>
                </a:solidFill>
                <a:latin typeface="Calibri" pitchFamily="34" charset="0"/>
                <a:ea typeface="Calibri" pitchFamily="34" charset="-122"/>
                <a:cs typeface="Calibri" pitchFamily="34" charset="-120"/>
              </a:rPr>
              <a:t>The lesion covers more than 75% of the cervix, or extends into the canal.</a:t>
            </a:r>
            <a:endParaRPr lang="en-GB" sz="1500" dirty="0"/>
          </a:p>
          <a:p>
            <a:pPr marL="285750" indent="-285750" algn="l">
              <a:lnSpc>
                <a:spcPct val="104000"/>
              </a:lnSpc>
              <a:spcAft>
                <a:spcPts val="600"/>
              </a:spcAft>
              <a:buSzPct val="100000"/>
              <a:buChar char="•"/>
            </a:pPr>
            <a:r>
              <a:rPr lang="en-GB" sz="1500" noProof="0" dirty="0">
                <a:solidFill>
                  <a:srgbClr val="23303F"/>
                </a:solidFill>
                <a:latin typeface="Calibri" pitchFamily="34" charset="0"/>
                <a:ea typeface="Calibri" pitchFamily="34" charset="-122"/>
                <a:cs typeface="Calibri" pitchFamily="34" charset="-120"/>
              </a:rPr>
              <a:t>A glandular abnormality is suspected.</a:t>
            </a:r>
            <a:endParaRPr lang="en-GB" sz="1500" dirty="0"/>
          </a:p>
          <a:p>
            <a:pPr marL="285750" indent="-285750" algn="l">
              <a:lnSpc>
                <a:spcPct val="104000"/>
              </a:lnSpc>
              <a:spcAft>
                <a:spcPts val="600"/>
              </a:spcAft>
              <a:buSzPct val="100000"/>
              <a:buChar char="•"/>
            </a:pPr>
            <a:r>
              <a:rPr lang="en-GB" sz="1500" noProof="0" dirty="0">
                <a:solidFill>
                  <a:srgbClr val="23303F"/>
                </a:solidFill>
                <a:latin typeface="Calibri" pitchFamily="34" charset="0"/>
                <a:ea typeface="Calibri" pitchFamily="34" charset="-122"/>
                <a:cs typeface="Calibri" pitchFamily="34" charset="-120"/>
              </a:rPr>
              <a:t>The follow-up test is positive after previous treatment.</a:t>
            </a:r>
            <a:endParaRPr lang="en-GB" sz="1500" dirty="0"/>
          </a:p>
          <a:p>
            <a:pPr marL="285750" indent="-285750" algn="l">
              <a:lnSpc>
                <a:spcPct val="104000"/>
              </a:lnSpc>
              <a:spcAft>
                <a:spcPts val="600"/>
              </a:spcAft>
              <a:buSzPct val="100000"/>
              <a:buChar char="•"/>
            </a:pPr>
            <a:r>
              <a:rPr lang="en-GB" sz="1500" noProof="0" dirty="0">
                <a:solidFill>
                  <a:srgbClr val="23303F"/>
                </a:solidFill>
                <a:latin typeface="Calibri" pitchFamily="34" charset="0"/>
                <a:ea typeface="Calibri" pitchFamily="34" charset="-122"/>
                <a:cs typeface="Calibri" pitchFamily="34" charset="-120"/>
              </a:rPr>
              <a:t>Invasive cancer is suspected: refer for biopsy, never ablate.</a:t>
            </a:r>
            <a:endParaRPr lang="en-GB" sz="1500" dirty="0"/>
          </a:p>
        </p:txBody>
      </p:sp>
      <p:sp>
        <p:nvSpPr>
          <p:cNvPr id="10" name="Shape 10"/>
          <p:cNvSpPr/>
          <p:nvPr/>
        </p:nvSpPr>
        <p:spPr>
          <a:xfrm>
            <a:off x="566928" y="5250000"/>
            <a:ext cx="11055096" cy="900000"/>
          </a:xfrm>
          <a:prstGeom prst="roundRect">
            <a:avLst>
              <a:gd name="adj" fmla="val 3000"/>
            </a:avLst>
          </a:prstGeom>
          <a:solidFill>
            <a:srgbClr val="EAF7F0"/>
          </a:solidFill>
          <a:ln w="12700">
            <a:solidFill>
              <a:srgbClr val="C0D4CB"/>
            </a:solidFill>
          </a:ln>
        </p:spPr>
        <p:txBody>
          <a:bodyPr/>
          <a:lstStyle/>
          <a:p>
            <a:endParaRPr lang="en-GB" sz="1600" dirty="0"/>
          </a:p>
        </p:txBody>
      </p:sp>
      <p:sp>
        <p:nvSpPr>
          <p:cNvPr id="11" name="Text 11"/>
          <p:cNvSpPr txBox="1"/>
          <p:nvPr/>
        </p:nvSpPr>
        <p:spPr>
          <a:xfrm>
            <a:off x="841248" y="5300000"/>
            <a:ext cx="10506456" cy="800000"/>
          </a:xfrm>
          <a:prstGeom prst="rect">
            <a:avLst/>
          </a:prstGeom>
          <a:noFill/>
          <a:ln/>
        </p:spPr>
        <p:txBody>
          <a:bodyPr wrap="square" lIns="0" tIns="0" rIns="0" bIns="0" rtlCol="0" anchor="ctr"/>
          <a:lstStyle/>
          <a:p>
            <a:pPr marL="0" indent="0" algn="l">
              <a:buNone/>
            </a:pPr>
            <a:r>
              <a:rPr lang="en-GB" sz="1600" b="1" noProof="0" dirty="0">
                <a:solidFill>
                  <a:srgbClr val="19543E"/>
                </a:solidFill>
                <a:latin typeface="Calibri" pitchFamily="34" charset="0"/>
                <a:ea typeface="Calibri" pitchFamily="34" charset="-122"/>
                <a:cs typeface="Calibri" pitchFamily="34" charset="-120"/>
              </a:rPr>
              <a:t>🏥 In Rwanda:  </a:t>
            </a:r>
            <a:r>
              <a:rPr lang="en-GB" sz="1600" noProof="0" dirty="0">
                <a:solidFill>
                  <a:srgbClr val="23303F"/>
                </a:solidFill>
                <a:latin typeface="Calibri" pitchFamily="34" charset="0"/>
                <a:ea typeface="Calibri" pitchFamily="34" charset="-122"/>
                <a:cs typeface="Calibri" pitchFamily="34" charset="-120"/>
              </a:rPr>
              <a:t>Thermal ablation is provided at health centres and hospitals. Colposcopy, LEEP and biopsy are provided at district hospitals.</a:t>
            </a:r>
            <a:endParaRPr lang="en-GB" sz="1600" dirty="0"/>
          </a:p>
        </p:txBody>
      </p:sp>
      <p:sp>
        <p:nvSpPr>
          <p:cNvPr id="12" name="Text 12"/>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13" name="Text 13"/>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102</a:t>
            </a:r>
            <a:endParaRPr lang="en-GB" sz="11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2 · TREATING PRECANCER</a:t>
            </a:r>
            <a:endParaRPr lang="en-GB"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Judging lesion size: the quadrant method</a:t>
            </a:r>
          </a:p>
        </p:txBody>
      </p:sp>
      <p:sp>
        <p:nvSpPr>
          <p:cNvPr id="4" name="Shape 4"/>
          <p:cNvSpPr/>
          <p:nvPr/>
        </p:nvSpPr>
        <p:spPr>
          <a:xfrm>
            <a:off x="566928" y="1450000"/>
            <a:ext cx="6300000" cy="90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5" name="Text 5"/>
          <p:cNvSpPr txBox="1"/>
          <p:nvPr/>
        </p:nvSpPr>
        <p:spPr>
          <a:xfrm>
            <a:off x="716928" y="1450000"/>
            <a:ext cx="520000" cy="90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1️⃣</a:t>
            </a:r>
            <a:endParaRPr lang="en-GB" sz="2000" dirty="0"/>
          </a:p>
        </p:txBody>
      </p:sp>
      <p:sp>
        <p:nvSpPr>
          <p:cNvPr id="6" name="Text 6"/>
          <p:cNvSpPr txBox="1"/>
          <p:nvPr/>
        </p:nvSpPr>
        <p:spPr>
          <a:xfrm>
            <a:off x="1316928" y="1450000"/>
            <a:ext cx="5400000" cy="900000"/>
          </a:xfrm>
          <a:prstGeom prst="rect">
            <a:avLst/>
          </a:prstGeom>
          <a:noFill/>
          <a:ln/>
        </p:spPr>
        <p:txBody>
          <a:bodyPr wrap="square" lIns="0" tIns="0" rIns="0" bIns="0" rtlCol="0" anchor="ctr"/>
          <a:lstStyle/>
          <a:p>
            <a:pPr marL="0" indent="0" algn="l">
              <a:buNone/>
            </a:pPr>
            <a:r>
              <a:rPr lang="en-GB" sz="1700" noProof="0" dirty="0">
                <a:solidFill>
                  <a:srgbClr val="23303F"/>
                </a:solidFill>
                <a:latin typeface="Calibri" pitchFamily="34" charset="0"/>
                <a:ea typeface="Calibri" pitchFamily="34" charset="-122"/>
                <a:cs typeface="Calibri" pitchFamily="34" charset="-120"/>
              </a:rPr>
              <a:t>Imagine the cervix divided into four quadrants around the os.</a:t>
            </a:r>
            <a:endParaRPr lang="en-GB" sz="1700" dirty="0"/>
          </a:p>
        </p:txBody>
      </p:sp>
      <p:sp>
        <p:nvSpPr>
          <p:cNvPr id="7" name="Shape 7"/>
          <p:cNvSpPr/>
          <p:nvPr/>
        </p:nvSpPr>
        <p:spPr>
          <a:xfrm>
            <a:off x="566928" y="2460000"/>
            <a:ext cx="6300000" cy="90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8" name="Text 8"/>
          <p:cNvSpPr txBox="1"/>
          <p:nvPr/>
        </p:nvSpPr>
        <p:spPr>
          <a:xfrm>
            <a:off x="716928" y="2460000"/>
            <a:ext cx="520000" cy="90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2️⃣</a:t>
            </a:r>
            <a:endParaRPr lang="en-GB" sz="2000" dirty="0"/>
          </a:p>
        </p:txBody>
      </p:sp>
      <p:sp>
        <p:nvSpPr>
          <p:cNvPr id="9" name="Text 9"/>
          <p:cNvSpPr txBox="1"/>
          <p:nvPr/>
        </p:nvSpPr>
        <p:spPr>
          <a:xfrm>
            <a:off x="1316928" y="2460000"/>
            <a:ext cx="5400000" cy="900000"/>
          </a:xfrm>
          <a:prstGeom prst="rect">
            <a:avLst/>
          </a:prstGeom>
          <a:noFill/>
          <a:ln/>
        </p:spPr>
        <p:txBody>
          <a:bodyPr wrap="square" lIns="0" tIns="0" rIns="0" bIns="0" rtlCol="0" anchor="ctr"/>
          <a:lstStyle/>
          <a:p>
            <a:pPr marL="0" indent="0" algn="l">
              <a:buNone/>
            </a:pPr>
            <a:r>
              <a:rPr lang="en-GB" sz="1700" noProof="0" dirty="0">
                <a:solidFill>
                  <a:srgbClr val="23303F"/>
                </a:solidFill>
                <a:latin typeface="Calibri" pitchFamily="34" charset="0"/>
                <a:ea typeface="Calibri" pitchFamily="34" charset="-122"/>
                <a:cs typeface="Calibri" pitchFamily="34" charset="-120"/>
              </a:rPr>
              <a:t>Count how many quadrants the acetowhite lesion covers.</a:t>
            </a:r>
            <a:endParaRPr lang="en-GB" sz="1700" dirty="0"/>
          </a:p>
        </p:txBody>
      </p:sp>
      <p:sp>
        <p:nvSpPr>
          <p:cNvPr id="10" name="Shape 10"/>
          <p:cNvSpPr/>
          <p:nvPr/>
        </p:nvSpPr>
        <p:spPr>
          <a:xfrm>
            <a:off x="566928" y="3470000"/>
            <a:ext cx="6300000" cy="90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1" name="Text 11"/>
          <p:cNvSpPr txBox="1"/>
          <p:nvPr/>
        </p:nvSpPr>
        <p:spPr>
          <a:xfrm>
            <a:off x="716928" y="3470000"/>
            <a:ext cx="520000" cy="90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3️⃣</a:t>
            </a:r>
            <a:endParaRPr lang="en-GB" sz="2000" dirty="0"/>
          </a:p>
        </p:txBody>
      </p:sp>
      <p:sp>
        <p:nvSpPr>
          <p:cNvPr id="12" name="Text 12"/>
          <p:cNvSpPr txBox="1"/>
          <p:nvPr/>
        </p:nvSpPr>
        <p:spPr>
          <a:xfrm>
            <a:off x="1316928" y="3470000"/>
            <a:ext cx="5400000" cy="900000"/>
          </a:xfrm>
          <a:prstGeom prst="rect">
            <a:avLst/>
          </a:prstGeom>
          <a:noFill/>
          <a:ln/>
        </p:spPr>
        <p:txBody>
          <a:bodyPr wrap="square" lIns="0" tIns="0" rIns="0" bIns="0" rtlCol="0" anchor="ctr"/>
          <a:lstStyle/>
          <a:p>
            <a:pPr marL="0" indent="0" algn="l">
              <a:buNone/>
            </a:pPr>
            <a:r>
              <a:rPr lang="en-GB" sz="1700" noProof="0" dirty="0">
                <a:solidFill>
                  <a:srgbClr val="23303F"/>
                </a:solidFill>
                <a:latin typeface="Calibri" pitchFamily="34" charset="0"/>
                <a:ea typeface="Calibri" pitchFamily="34" charset="-122"/>
                <a:cs typeface="Calibri" pitchFamily="34" charset="-120"/>
              </a:rPr>
              <a:t>Less than 75%, fully visible, TZ type 1 or 2, and covered by the probe: thermal ablation.</a:t>
            </a:r>
            <a:endParaRPr lang="en-GB" sz="1700" dirty="0"/>
          </a:p>
        </p:txBody>
      </p:sp>
      <p:sp>
        <p:nvSpPr>
          <p:cNvPr id="13" name="Shape 13"/>
          <p:cNvSpPr/>
          <p:nvPr/>
        </p:nvSpPr>
        <p:spPr>
          <a:xfrm>
            <a:off x="566928" y="4480000"/>
            <a:ext cx="6300000" cy="90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4" name="Text 14"/>
          <p:cNvSpPr txBox="1"/>
          <p:nvPr/>
        </p:nvSpPr>
        <p:spPr>
          <a:xfrm>
            <a:off x="716928" y="4480000"/>
            <a:ext cx="520000" cy="90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4️⃣</a:t>
            </a:r>
            <a:endParaRPr lang="en-GB" sz="2000" dirty="0"/>
          </a:p>
        </p:txBody>
      </p:sp>
      <p:sp>
        <p:nvSpPr>
          <p:cNvPr id="15" name="Text 15"/>
          <p:cNvSpPr txBox="1"/>
          <p:nvPr/>
        </p:nvSpPr>
        <p:spPr>
          <a:xfrm>
            <a:off x="1316928" y="4480000"/>
            <a:ext cx="5400000" cy="900000"/>
          </a:xfrm>
          <a:prstGeom prst="rect">
            <a:avLst/>
          </a:prstGeom>
          <a:noFill/>
          <a:ln/>
        </p:spPr>
        <p:txBody>
          <a:bodyPr wrap="square" lIns="0" tIns="0" rIns="0" bIns="0" rtlCol="0" anchor="ctr"/>
          <a:lstStyle/>
          <a:p>
            <a:pPr marL="0" indent="0" algn="l">
              <a:buNone/>
            </a:pPr>
            <a:r>
              <a:rPr lang="en-GB" sz="1700" noProof="0" dirty="0">
                <a:solidFill>
                  <a:srgbClr val="23303F"/>
                </a:solidFill>
                <a:latin typeface="Calibri" pitchFamily="34" charset="0"/>
                <a:ea typeface="Calibri" pitchFamily="34" charset="-122"/>
                <a:cs typeface="Calibri" pitchFamily="34" charset="-120"/>
              </a:rPr>
              <a:t>More than 75%: refer for LEEP at the district hospital.</a:t>
            </a:r>
            <a:endParaRPr lang="en-GB" sz="1700" dirty="0"/>
          </a:p>
        </p:txBody>
      </p:sp>
      <p:sp>
        <p:nvSpPr>
          <p:cNvPr id="16" name="Shape 16"/>
          <p:cNvSpPr/>
          <p:nvPr/>
        </p:nvSpPr>
        <p:spPr>
          <a:xfrm>
            <a:off x="7216928" y="1700000"/>
            <a:ext cx="1900000" cy="1900000"/>
          </a:xfrm>
          <a:prstGeom prst="ellipse">
            <a:avLst/>
          </a:prstGeom>
          <a:solidFill>
            <a:srgbClr val="F8DDE0"/>
          </a:solidFill>
          <a:ln w="19050">
            <a:solidFill>
              <a:srgbClr val="D59AA2"/>
            </a:solidFill>
          </a:ln>
        </p:spPr>
        <p:txBody>
          <a:bodyPr/>
          <a:lstStyle/>
          <a:p>
            <a:endParaRPr lang="en-GB" sz="1600" dirty="0"/>
          </a:p>
        </p:txBody>
      </p:sp>
      <p:sp>
        <p:nvSpPr>
          <p:cNvPr id="17" name="Shape 17"/>
          <p:cNvSpPr/>
          <p:nvPr/>
        </p:nvSpPr>
        <p:spPr>
          <a:xfrm>
            <a:off x="7216928" y="1700000"/>
            <a:ext cx="1900000" cy="1900000"/>
          </a:xfrm>
          <a:prstGeom prst="pie">
            <a:avLst>
              <a:gd name="adj1" fmla="val 10800000"/>
              <a:gd name="adj2" fmla="val 0"/>
            </a:avLst>
          </a:prstGeom>
          <a:solidFill>
            <a:srgbClr val="FFFFFF"/>
          </a:solidFill>
          <a:ln w="12700">
            <a:solidFill>
              <a:srgbClr val="BFBFBF"/>
            </a:solidFill>
          </a:ln>
        </p:spPr>
        <p:txBody>
          <a:bodyPr/>
          <a:lstStyle/>
          <a:p>
            <a:endParaRPr lang="en-GB" sz="1600" dirty="0"/>
          </a:p>
        </p:txBody>
      </p:sp>
      <p:cxnSp>
        <p:nvCxnSpPr>
          <p:cNvPr id="18" name="Connector 18"/>
          <p:cNvCxnSpPr/>
          <p:nvPr/>
        </p:nvCxnSpPr>
        <p:spPr>
          <a:xfrm>
            <a:off x="7216928" y="2650000"/>
            <a:ext cx="1900000" cy="0"/>
          </a:xfrm>
          <a:prstGeom prst="straightConnector1">
            <a:avLst/>
          </a:prstGeom>
          <a:ln w="12700">
            <a:solidFill>
              <a:srgbClr val="6A727F"/>
            </a:solidFill>
          </a:ln>
        </p:spPr>
      </p:cxnSp>
      <p:cxnSp>
        <p:nvCxnSpPr>
          <p:cNvPr id="19" name="Connector 19"/>
          <p:cNvCxnSpPr/>
          <p:nvPr/>
        </p:nvCxnSpPr>
        <p:spPr>
          <a:xfrm>
            <a:off x="8166928" y="1700000"/>
            <a:ext cx="0" cy="1900000"/>
          </a:xfrm>
          <a:prstGeom prst="straightConnector1">
            <a:avLst/>
          </a:prstGeom>
          <a:ln w="12700">
            <a:solidFill>
              <a:srgbClr val="6A727F"/>
            </a:solidFill>
          </a:ln>
        </p:spPr>
      </p:cxnSp>
      <p:sp>
        <p:nvSpPr>
          <p:cNvPr id="20" name="Shape 20"/>
          <p:cNvSpPr/>
          <p:nvPr/>
        </p:nvSpPr>
        <p:spPr>
          <a:xfrm>
            <a:off x="8056928" y="2580000"/>
            <a:ext cx="220000" cy="140000"/>
          </a:xfrm>
          <a:prstGeom prst="ellipse">
            <a:avLst/>
          </a:prstGeom>
          <a:solidFill>
            <a:srgbClr val="7A2E3A"/>
          </a:solidFill>
          <a:ln>
            <a:noFill/>
          </a:ln>
        </p:spPr>
        <p:txBody>
          <a:bodyPr/>
          <a:lstStyle/>
          <a:p>
            <a:endParaRPr lang="en-GB" sz="1600" dirty="0"/>
          </a:p>
        </p:txBody>
      </p:sp>
      <p:sp>
        <p:nvSpPr>
          <p:cNvPr id="21" name="Text 21"/>
          <p:cNvSpPr txBox="1"/>
          <p:nvPr/>
        </p:nvSpPr>
        <p:spPr>
          <a:xfrm>
            <a:off x="7066928" y="3720000"/>
            <a:ext cx="2200000" cy="700000"/>
          </a:xfrm>
          <a:prstGeom prst="rect">
            <a:avLst/>
          </a:prstGeom>
          <a:noFill/>
          <a:ln/>
        </p:spPr>
        <p:txBody>
          <a:bodyPr wrap="square" lIns="0" tIns="0" rIns="0" bIns="0" rtlCol="0" anchor="t"/>
          <a:lstStyle/>
          <a:p>
            <a:pPr marL="0" indent="0" algn="ctr">
              <a:buNone/>
            </a:pPr>
            <a:r>
              <a:rPr lang="en-GB" sz="1500" b="1" noProof="0" dirty="0">
                <a:solidFill>
                  <a:srgbClr val="19543E"/>
                </a:solidFill>
                <a:latin typeface="Calibri" pitchFamily="34" charset="0"/>
                <a:ea typeface="Calibri" pitchFamily="34" charset="-122"/>
                <a:cs typeface="Calibri" pitchFamily="34" charset="-120"/>
              </a:rPr>
              <a:t>Less than 75%</a:t>
            </a:r>
            <a:endParaRPr lang="en-GB" sz="1500" dirty="0"/>
          </a:p>
          <a:p>
            <a:pPr marL="0" indent="0" algn="ctr">
              <a:buNone/>
            </a:pPr>
            <a:r>
              <a:rPr lang="en-GB" sz="1400" noProof="0" dirty="0">
                <a:solidFill>
                  <a:srgbClr val="23303F"/>
                </a:solidFill>
                <a:latin typeface="Calibri" pitchFamily="34" charset="0"/>
                <a:ea typeface="Calibri" pitchFamily="34" charset="-122"/>
                <a:cs typeface="Calibri" pitchFamily="34" charset="-120"/>
              </a:rPr>
              <a:t>Ablation possible</a:t>
            </a:r>
            <a:endParaRPr lang="en-GB" sz="1400" dirty="0"/>
          </a:p>
        </p:txBody>
      </p:sp>
      <p:sp>
        <p:nvSpPr>
          <p:cNvPr id="22" name="Shape 22"/>
          <p:cNvSpPr/>
          <p:nvPr/>
        </p:nvSpPr>
        <p:spPr>
          <a:xfrm>
            <a:off x="9466928" y="1700000"/>
            <a:ext cx="1900000" cy="1900000"/>
          </a:xfrm>
          <a:prstGeom prst="ellipse">
            <a:avLst/>
          </a:prstGeom>
          <a:solidFill>
            <a:srgbClr val="F8DDE0"/>
          </a:solidFill>
          <a:ln w="19050">
            <a:solidFill>
              <a:srgbClr val="D59AA2"/>
            </a:solidFill>
          </a:ln>
        </p:spPr>
        <p:txBody>
          <a:bodyPr/>
          <a:lstStyle/>
          <a:p>
            <a:endParaRPr lang="en-GB" sz="1600" dirty="0"/>
          </a:p>
        </p:txBody>
      </p:sp>
      <p:sp>
        <p:nvSpPr>
          <p:cNvPr id="23" name="Shape 23"/>
          <p:cNvSpPr/>
          <p:nvPr/>
        </p:nvSpPr>
        <p:spPr>
          <a:xfrm>
            <a:off x="9466928" y="1700000"/>
            <a:ext cx="1900000" cy="1900000"/>
          </a:xfrm>
          <a:prstGeom prst="ellipse">
            <a:avLst/>
          </a:prstGeom>
          <a:solidFill>
            <a:srgbClr val="FFFFFF"/>
          </a:solidFill>
          <a:ln w="19050">
            <a:solidFill>
              <a:srgbClr val="BFBFBF"/>
            </a:solidFill>
          </a:ln>
        </p:spPr>
        <p:txBody>
          <a:bodyPr/>
          <a:lstStyle/>
          <a:p>
            <a:endParaRPr lang="en-GB" sz="1600" dirty="0"/>
          </a:p>
        </p:txBody>
      </p:sp>
      <p:cxnSp>
        <p:nvCxnSpPr>
          <p:cNvPr id="24" name="Connector 24"/>
          <p:cNvCxnSpPr/>
          <p:nvPr/>
        </p:nvCxnSpPr>
        <p:spPr>
          <a:xfrm>
            <a:off x="9466928" y="2650000"/>
            <a:ext cx="1900000" cy="0"/>
          </a:xfrm>
          <a:prstGeom prst="straightConnector1">
            <a:avLst/>
          </a:prstGeom>
          <a:ln w="12700">
            <a:solidFill>
              <a:srgbClr val="6A727F"/>
            </a:solidFill>
          </a:ln>
        </p:spPr>
      </p:cxnSp>
      <p:cxnSp>
        <p:nvCxnSpPr>
          <p:cNvPr id="25" name="Connector 25"/>
          <p:cNvCxnSpPr/>
          <p:nvPr/>
        </p:nvCxnSpPr>
        <p:spPr>
          <a:xfrm>
            <a:off x="10416928" y="1700000"/>
            <a:ext cx="0" cy="1900000"/>
          </a:xfrm>
          <a:prstGeom prst="straightConnector1">
            <a:avLst/>
          </a:prstGeom>
          <a:ln w="12700">
            <a:solidFill>
              <a:srgbClr val="6A727F"/>
            </a:solidFill>
          </a:ln>
        </p:spPr>
      </p:cxnSp>
      <p:sp>
        <p:nvSpPr>
          <p:cNvPr id="26" name="Shape 26"/>
          <p:cNvSpPr/>
          <p:nvPr/>
        </p:nvSpPr>
        <p:spPr>
          <a:xfrm>
            <a:off x="10306928" y="2580000"/>
            <a:ext cx="220000" cy="140000"/>
          </a:xfrm>
          <a:prstGeom prst="ellipse">
            <a:avLst/>
          </a:prstGeom>
          <a:solidFill>
            <a:srgbClr val="7A2E3A"/>
          </a:solidFill>
          <a:ln>
            <a:noFill/>
          </a:ln>
        </p:spPr>
        <p:txBody>
          <a:bodyPr/>
          <a:lstStyle/>
          <a:p>
            <a:endParaRPr lang="en-GB" sz="1600" dirty="0"/>
          </a:p>
        </p:txBody>
      </p:sp>
      <p:sp>
        <p:nvSpPr>
          <p:cNvPr id="27" name="Text 27"/>
          <p:cNvSpPr txBox="1"/>
          <p:nvPr/>
        </p:nvSpPr>
        <p:spPr>
          <a:xfrm>
            <a:off x="9316928" y="3720000"/>
            <a:ext cx="2200000" cy="700000"/>
          </a:xfrm>
          <a:prstGeom prst="rect">
            <a:avLst/>
          </a:prstGeom>
          <a:noFill/>
          <a:ln/>
        </p:spPr>
        <p:txBody>
          <a:bodyPr wrap="square" lIns="0" tIns="0" rIns="0" bIns="0" rtlCol="0" anchor="t"/>
          <a:lstStyle/>
          <a:p>
            <a:pPr marL="0" indent="0" algn="ctr">
              <a:buNone/>
            </a:pPr>
            <a:r>
              <a:rPr lang="en-GB" sz="1500" b="1" noProof="0" dirty="0">
                <a:solidFill>
                  <a:srgbClr val="8E2531"/>
                </a:solidFill>
                <a:latin typeface="Calibri" pitchFamily="34" charset="0"/>
                <a:ea typeface="Calibri" pitchFamily="34" charset="-122"/>
                <a:cs typeface="Calibri" pitchFamily="34" charset="-120"/>
              </a:rPr>
              <a:t>More than 75%</a:t>
            </a:r>
            <a:endParaRPr lang="en-GB" sz="1500" dirty="0"/>
          </a:p>
          <a:p>
            <a:pPr marL="0" indent="0" algn="ctr">
              <a:buNone/>
            </a:pPr>
            <a:r>
              <a:rPr lang="en-GB" sz="1400" noProof="0" dirty="0">
                <a:solidFill>
                  <a:srgbClr val="23303F"/>
                </a:solidFill>
                <a:latin typeface="Calibri" pitchFamily="34" charset="0"/>
                <a:ea typeface="Calibri" pitchFamily="34" charset="-122"/>
                <a:cs typeface="Calibri" pitchFamily="34" charset="-120"/>
              </a:rPr>
              <a:t>Refer for LEEP</a:t>
            </a:r>
            <a:endParaRPr lang="en-GB" sz="1400" dirty="0"/>
          </a:p>
        </p:txBody>
      </p:sp>
      <p:sp>
        <p:nvSpPr>
          <p:cNvPr id="28" name="Text 28"/>
          <p:cNvSpPr txBox="1"/>
          <p:nvPr/>
        </p:nvSpPr>
        <p:spPr>
          <a:xfrm>
            <a:off x="7216928" y="4750000"/>
            <a:ext cx="4150000" cy="300000"/>
          </a:xfrm>
          <a:prstGeom prst="rect">
            <a:avLst/>
          </a:prstGeom>
          <a:noFill/>
          <a:ln/>
        </p:spPr>
        <p:txBody>
          <a:bodyPr wrap="square" lIns="0" tIns="0" rIns="0" bIns="0" rtlCol="0" anchor="t"/>
          <a:lstStyle/>
          <a:p>
            <a:pPr marL="0" indent="0" algn="ctr">
              <a:buNone/>
            </a:pPr>
            <a:r>
              <a:rPr lang="en-GB" sz="1200" i="1" noProof="0" dirty="0">
                <a:solidFill>
                  <a:srgbClr val="6A727F"/>
                </a:solidFill>
                <a:latin typeface="Calibri" pitchFamily="34" charset="0"/>
                <a:ea typeface="Calibri" pitchFamily="34" charset="-122"/>
                <a:cs typeface="Calibri" pitchFamily="34" charset="-120"/>
              </a:rPr>
              <a:t>White area = acetowhite lesion</a:t>
            </a:r>
            <a:endParaRPr lang="en-GB" sz="1200" dirty="0"/>
          </a:p>
        </p:txBody>
      </p:sp>
      <p:sp>
        <p:nvSpPr>
          <p:cNvPr id="29" name="Shape 29"/>
          <p:cNvSpPr/>
          <p:nvPr/>
        </p:nvSpPr>
        <p:spPr>
          <a:xfrm>
            <a:off x="566928" y="5550000"/>
            <a:ext cx="11055096" cy="650000"/>
          </a:xfrm>
          <a:prstGeom prst="roundRect">
            <a:avLst>
              <a:gd name="adj" fmla="val 3000"/>
            </a:avLst>
          </a:prstGeom>
          <a:solidFill>
            <a:srgbClr val="FFF2DF"/>
          </a:solidFill>
          <a:ln w="12700">
            <a:solidFill>
              <a:srgbClr val="E8DDC7"/>
            </a:solidFill>
          </a:ln>
        </p:spPr>
        <p:txBody>
          <a:bodyPr/>
          <a:lstStyle/>
          <a:p>
            <a:endParaRPr lang="en-GB" sz="1600" dirty="0"/>
          </a:p>
        </p:txBody>
      </p:sp>
      <p:sp>
        <p:nvSpPr>
          <p:cNvPr id="30" name="Text 30"/>
          <p:cNvSpPr txBox="1"/>
          <p:nvPr/>
        </p:nvSpPr>
        <p:spPr>
          <a:xfrm>
            <a:off x="841248" y="5600000"/>
            <a:ext cx="10506456" cy="550000"/>
          </a:xfrm>
          <a:prstGeom prst="rect">
            <a:avLst/>
          </a:prstGeom>
          <a:noFill/>
          <a:ln/>
        </p:spPr>
        <p:txBody>
          <a:bodyPr wrap="square" lIns="0" tIns="0" rIns="0" bIns="0" rtlCol="0" anchor="ctr"/>
          <a:lstStyle/>
          <a:p>
            <a:pPr marL="0" indent="0" algn="l">
              <a:buNone/>
            </a:pPr>
            <a:r>
              <a:rPr lang="en-GB" sz="1600" b="1" noProof="0" dirty="0">
                <a:solidFill>
                  <a:srgbClr val="7B5727"/>
                </a:solidFill>
                <a:latin typeface="Calibri" pitchFamily="34" charset="0"/>
                <a:ea typeface="Calibri" pitchFamily="34" charset="-122"/>
                <a:cs typeface="Calibri" pitchFamily="34" charset="-120"/>
              </a:rPr>
              <a:t>📌 Remember:  </a:t>
            </a:r>
            <a:r>
              <a:rPr lang="en-GB" sz="1600" noProof="0" dirty="0">
                <a:solidFill>
                  <a:srgbClr val="23303F"/>
                </a:solidFill>
                <a:latin typeface="Calibri" pitchFamily="34" charset="0"/>
                <a:ea typeface="Calibri" pitchFamily="34" charset="-122"/>
                <a:cs typeface="Calibri" pitchFamily="34" charset="-120"/>
              </a:rPr>
              <a:t>Size is only one criterion. The whole lesion must be visible, and there must be no suspicion of cancer.</a:t>
            </a:r>
            <a:endParaRPr lang="en-GB" sz="1600" dirty="0"/>
          </a:p>
        </p:txBody>
      </p:sp>
      <p:sp>
        <p:nvSpPr>
          <p:cNvPr id="31" name="Text 31"/>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32" name="Text 32"/>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103</a:t>
            </a:r>
            <a:endParaRPr lang="en-GB" sz="11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2 · INTERACTIVE</a:t>
            </a:r>
            <a:endParaRPr lang="en-GB"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Eligible for thermal ablation today?</a:t>
            </a:r>
          </a:p>
        </p:txBody>
      </p:sp>
      <p:sp>
        <p:nvSpPr>
          <p:cNvPr id="4" name="Text 4"/>
          <p:cNvSpPr txBox="1"/>
          <p:nvPr/>
        </p:nvSpPr>
        <p:spPr>
          <a:xfrm>
            <a:off x="566928" y="1540000"/>
            <a:ext cx="11055096" cy="600000"/>
          </a:xfrm>
          <a:prstGeom prst="rect">
            <a:avLst/>
          </a:prstGeom>
          <a:noFill/>
          <a:ln/>
        </p:spPr>
        <p:txBody>
          <a:bodyPr wrap="square" lIns="0" tIns="0" rIns="0" bIns="0" rtlCol="0" anchor="ctr"/>
          <a:lstStyle/>
          <a:p>
            <a:pPr marL="0" indent="0" algn="l">
              <a:buNone/>
            </a:pPr>
            <a:r>
              <a:rPr lang="en-GB" sz="1800" b="1" noProof="0" dirty="0">
                <a:solidFill>
                  <a:srgbClr val="23303F"/>
                </a:solidFill>
                <a:latin typeface="Calibri" pitchFamily="34" charset="0"/>
                <a:ea typeface="Calibri" pitchFamily="34" charset="-122"/>
                <a:cs typeface="Calibri" pitchFamily="34" charset="-120"/>
              </a:rPr>
              <a:t>Which of these women can be offered thermal ablation at this visit? Select all that apply.</a:t>
            </a:r>
            <a:endParaRPr lang="en-GB" sz="1800" dirty="0"/>
          </a:p>
        </p:txBody>
      </p:sp>
      <p:sp>
        <p:nvSpPr>
          <p:cNvPr id="5" name="Shape 5"/>
          <p:cNvSpPr/>
          <p:nvPr/>
        </p:nvSpPr>
        <p:spPr>
          <a:xfrm>
            <a:off x="566928" y="2230000"/>
            <a:ext cx="11055096" cy="480000"/>
          </a:xfrm>
          <a:prstGeom prst="roundRect">
            <a:avLst>
              <a:gd name="adj" fmla="val 3000"/>
            </a:avLst>
          </a:prstGeom>
          <a:solidFill>
            <a:srgbClr val="EAF7F0"/>
          </a:solidFill>
          <a:ln w="12700">
            <a:solidFill>
              <a:srgbClr val="C0D4CB"/>
            </a:solidFill>
          </a:ln>
        </p:spPr>
        <p:txBody>
          <a:bodyPr/>
          <a:lstStyle/>
          <a:p>
            <a:endParaRPr lang="en-GB" sz="1600" dirty="0"/>
          </a:p>
        </p:txBody>
      </p:sp>
      <p:sp>
        <p:nvSpPr>
          <p:cNvPr id="6" name="Text 6"/>
          <p:cNvSpPr txBox="1"/>
          <p:nvPr/>
        </p:nvSpPr>
        <p:spPr>
          <a:xfrm>
            <a:off x="841248" y="2230000"/>
            <a:ext cx="10506456" cy="480000"/>
          </a:xfrm>
          <a:prstGeom prst="rect">
            <a:avLst/>
          </a:prstGeom>
          <a:noFill/>
          <a:ln/>
        </p:spPr>
        <p:txBody>
          <a:bodyPr wrap="square" lIns="0" tIns="0" rIns="0" bIns="0" rtlCol="0" anchor="ctr"/>
          <a:lstStyle/>
          <a:p>
            <a:pPr marL="0" indent="0" algn="l">
              <a:buNone/>
            </a:pPr>
            <a:r>
              <a:rPr lang="en-GB" sz="1700" b="1" noProof="0" dirty="0">
                <a:solidFill>
                  <a:srgbClr val="19543E"/>
                </a:solidFill>
                <a:latin typeface="Calibri" pitchFamily="34" charset="0"/>
                <a:ea typeface="Calibri" pitchFamily="34" charset="-122"/>
                <a:cs typeface="Calibri" pitchFamily="34" charset="-120"/>
              </a:rPr>
              <a:t>A   </a:t>
            </a:r>
            <a:r>
              <a:rPr lang="en-GB" sz="1700" noProof="0" dirty="0">
                <a:solidFill>
                  <a:srgbClr val="23303F"/>
                </a:solidFill>
                <a:latin typeface="Calibri" pitchFamily="34" charset="0"/>
                <a:ea typeface="Calibri" pitchFamily="34" charset="-122"/>
                <a:cs typeface="Calibri" pitchFamily="34" charset="-120"/>
              </a:rPr>
              <a:t>HIV-negative, HPV 16 positive, VIA negative, transformation zone type 2   ✅</a:t>
            </a:r>
            <a:endParaRPr lang="en-GB" sz="1700" dirty="0"/>
          </a:p>
        </p:txBody>
      </p:sp>
      <p:sp>
        <p:nvSpPr>
          <p:cNvPr id="7" name="Shape 7"/>
          <p:cNvSpPr/>
          <p:nvPr/>
        </p:nvSpPr>
        <p:spPr>
          <a:xfrm>
            <a:off x="566928" y="2780000"/>
            <a:ext cx="11055096" cy="480000"/>
          </a:xfrm>
          <a:prstGeom prst="roundRect">
            <a:avLst>
              <a:gd name="adj" fmla="val 3000"/>
            </a:avLst>
          </a:prstGeom>
          <a:solidFill>
            <a:srgbClr val="EAF7F0"/>
          </a:solidFill>
          <a:ln w="12700">
            <a:solidFill>
              <a:srgbClr val="C0D4CB"/>
            </a:solidFill>
          </a:ln>
        </p:spPr>
        <p:txBody>
          <a:bodyPr/>
          <a:lstStyle/>
          <a:p>
            <a:endParaRPr lang="en-GB" sz="1600" dirty="0"/>
          </a:p>
        </p:txBody>
      </p:sp>
      <p:sp>
        <p:nvSpPr>
          <p:cNvPr id="8" name="Text 8"/>
          <p:cNvSpPr txBox="1"/>
          <p:nvPr/>
        </p:nvSpPr>
        <p:spPr>
          <a:xfrm>
            <a:off x="841248" y="2780000"/>
            <a:ext cx="10506456" cy="480000"/>
          </a:xfrm>
          <a:prstGeom prst="rect">
            <a:avLst/>
          </a:prstGeom>
          <a:noFill/>
          <a:ln/>
        </p:spPr>
        <p:txBody>
          <a:bodyPr wrap="square" lIns="0" tIns="0" rIns="0" bIns="0" rtlCol="0" anchor="ctr"/>
          <a:lstStyle/>
          <a:p>
            <a:pPr marL="0" indent="0" algn="l">
              <a:buNone/>
            </a:pPr>
            <a:r>
              <a:rPr lang="en-GB" sz="1700" b="1" noProof="0" dirty="0">
                <a:solidFill>
                  <a:srgbClr val="19543E"/>
                </a:solidFill>
                <a:latin typeface="Calibri" pitchFamily="34" charset="0"/>
                <a:ea typeface="Calibri" pitchFamily="34" charset="-122"/>
                <a:cs typeface="Calibri" pitchFamily="34" charset="-120"/>
              </a:rPr>
              <a:t>B   </a:t>
            </a:r>
            <a:r>
              <a:rPr lang="en-GB" sz="1700" noProof="0" dirty="0">
                <a:solidFill>
                  <a:srgbClr val="23303F"/>
                </a:solidFill>
                <a:latin typeface="Calibri" pitchFamily="34" charset="0"/>
                <a:ea typeface="Calibri" pitchFamily="34" charset="-122"/>
                <a:cs typeface="Calibri" pitchFamily="34" charset="-120"/>
              </a:rPr>
              <a:t>VIA-positive lesion covering one quadrant, transformation zone type 1, not pregnant   ✅</a:t>
            </a:r>
            <a:endParaRPr lang="en-GB" sz="1700" dirty="0"/>
          </a:p>
        </p:txBody>
      </p:sp>
      <p:sp>
        <p:nvSpPr>
          <p:cNvPr id="9" name="Shape 9"/>
          <p:cNvSpPr/>
          <p:nvPr/>
        </p:nvSpPr>
        <p:spPr>
          <a:xfrm>
            <a:off x="566928" y="3330000"/>
            <a:ext cx="11055096" cy="48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0" name="Text 10"/>
          <p:cNvSpPr txBox="1"/>
          <p:nvPr/>
        </p:nvSpPr>
        <p:spPr>
          <a:xfrm>
            <a:off x="841248" y="3330000"/>
            <a:ext cx="10506456" cy="480000"/>
          </a:xfrm>
          <a:prstGeom prst="rect">
            <a:avLst/>
          </a:prstGeom>
          <a:noFill/>
          <a:ln/>
        </p:spPr>
        <p:txBody>
          <a:bodyPr wrap="square" lIns="0" tIns="0" rIns="0" bIns="0" rtlCol="0" anchor="ctr"/>
          <a:lstStyle/>
          <a:p>
            <a:pPr marL="0" indent="0" algn="l">
              <a:buNone/>
            </a:pPr>
            <a:r>
              <a:rPr lang="en-GB" sz="1700" b="1" noProof="0" dirty="0">
                <a:solidFill>
                  <a:srgbClr val="1F4E96"/>
                </a:solidFill>
                <a:latin typeface="Calibri" pitchFamily="34" charset="0"/>
                <a:ea typeface="Calibri" pitchFamily="34" charset="-122"/>
                <a:cs typeface="Calibri" pitchFamily="34" charset="-120"/>
              </a:rPr>
              <a:t>C   </a:t>
            </a:r>
            <a:r>
              <a:rPr lang="en-GB" sz="1700" noProof="0" dirty="0">
                <a:solidFill>
                  <a:srgbClr val="23303F"/>
                </a:solidFill>
                <a:latin typeface="Calibri" pitchFamily="34" charset="0"/>
                <a:ea typeface="Calibri" pitchFamily="34" charset="-122"/>
                <a:cs typeface="Calibri" pitchFamily="34" charset="-120"/>
              </a:rPr>
              <a:t>VIA-positive lesion, transformation zone type 3</a:t>
            </a:r>
            <a:endParaRPr lang="en-GB" sz="1700" dirty="0"/>
          </a:p>
        </p:txBody>
      </p:sp>
      <p:sp>
        <p:nvSpPr>
          <p:cNvPr id="11" name="Shape 11"/>
          <p:cNvSpPr/>
          <p:nvPr/>
        </p:nvSpPr>
        <p:spPr>
          <a:xfrm>
            <a:off x="566928" y="3880000"/>
            <a:ext cx="11055096" cy="48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2" name="Text 12"/>
          <p:cNvSpPr txBox="1"/>
          <p:nvPr/>
        </p:nvSpPr>
        <p:spPr>
          <a:xfrm>
            <a:off x="841248" y="3880000"/>
            <a:ext cx="10506456" cy="480000"/>
          </a:xfrm>
          <a:prstGeom prst="rect">
            <a:avLst/>
          </a:prstGeom>
          <a:noFill/>
          <a:ln/>
        </p:spPr>
        <p:txBody>
          <a:bodyPr wrap="square" lIns="0" tIns="0" rIns="0" bIns="0" rtlCol="0" anchor="ctr"/>
          <a:lstStyle/>
          <a:p>
            <a:pPr marL="0" indent="0" algn="l">
              <a:buNone/>
            </a:pPr>
            <a:r>
              <a:rPr lang="en-GB" sz="1700" b="1" noProof="0" dirty="0">
                <a:solidFill>
                  <a:srgbClr val="1F4E96"/>
                </a:solidFill>
                <a:latin typeface="Calibri" pitchFamily="34" charset="0"/>
                <a:ea typeface="Calibri" pitchFamily="34" charset="-122"/>
                <a:cs typeface="Calibri" pitchFamily="34" charset="-120"/>
              </a:rPr>
              <a:t>D   </a:t>
            </a:r>
            <a:r>
              <a:rPr lang="en-GB" sz="1700" noProof="0" dirty="0">
                <a:solidFill>
                  <a:srgbClr val="23303F"/>
                </a:solidFill>
                <a:latin typeface="Calibri" pitchFamily="34" charset="0"/>
                <a:ea typeface="Calibri" pitchFamily="34" charset="-122"/>
                <a:cs typeface="Calibri" pitchFamily="34" charset="-120"/>
              </a:rPr>
              <a:t>A friable growth on the cervix that bleeds on touch</a:t>
            </a:r>
            <a:endParaRPr lang="en-GB" sz="1700" dirty="0"/>
          </a:p>
        </p:txBody>
      </p:sp>
      <p:sp>
        <p:nvSpPr>
          <p:cNvPr id="13" name="Shape 13"/>
          <p:cNvSpPr/>
          <p:nvPr/>
        </p:nvSpPr>
        <p:spPr>
          <a:xfrm>
            <a:off x="566928" y="4490000"/>
            <a:ext cx="11055096" cy="1760000"/>
          </a:xfrm>
          <a:prstGeom prst="roundRect">
            <a:avLst>
              <a:gd name="adj" fmla="val 3000"/>
            </a:avLst>
          </a:prstGeom>
          <a:solidFill>
            <a:srgbClr val="EAF7F0"/>
          </a:solidFill>
          <a:ln w="12700">
            <a:solidFill>
              <a:srgbClr val="C0D4CB"/>
            </a:solidFill>
          </a:ln>
        </p:spPr>
        <p:txBody>
          <a:bodyPr/>
          <a:lstStyle/>
          <a:p>
            <a:endParaRPr lang="en-GB" sz="1600" dirty="0"/>
          </a:p>
        </p:txBody>
      </p:sp>
      <p:sp>
        <p:nvSpPr>
          <p:cNvPr id="14" name="Text 14"/>
          <p:cNvSpPr txBox="1"/>
          <p:nvPr/>
        </p:nvSpPr>
        <p:spPr>
          <a:xfrm>
            <a:off x="841248" y="4540000"/>
            <a:ext cx="10506456" cy="1660000"/>
          </a:xfrm>
          <a:prstGeom prst="rect">
            <a:avLst/>
          </a:prstGeom>
          <a:noFill/>
          <a:ln/>
        </p:spPr>
        <p:txBody>
          <a:bodyPr wrap="square" lIns="0" tIns="0" rIns="0" bIns="0" rtlCol="0" anchor="ctr"/>
          <a:lstStyle/>
          <a:p>
            <a:pPr marL="0" indent="0" algn="l">
              <a:buNone/>
            </a:pPr>
            <a:r>
              <a:rPr lang="en-GB" sz="1600" b="1" noProof="0" dirty="0">
                <a:solidFill>
                  <a:srgbClr val="19543E"/>
                </a:solidFill>
                <a:latin typeface="Calibri" pitchFamily="34" charset="0"/>
                <a:ea typeface="Calibri" pitchFamily="34" charset="-122"/>
                <a:cs typeface="Calibri" pitchFamily="34" charset="-120"/>
              </a:rPr>
              <a:t>Correct answer: A, B</a:t>
            </a:r>
            <a:endParaRPr lang="en-GB" sz="1600" dirty="0"/>
          </a:p>
          <a:p>
            <a:pPr marL="0" indent="0" algn="l">
              <a:buNone/>
            </a:pPr>
            <a:r>
              <a:rPr lang="en-GB" sz="1600" b="1" noProof="0" dirty="0">
                <a:solidFill>
                  <a:srgbClr val="19543E"/>
                </a:solidFill>
                <a:latin typeface="Calibri" pitchFamily="34" charset="0"/>
                <a:ea typeface="Calibri" pitchFamily="34" charset="-122"/>
                <a:cs typeface="Calibri" pitchFamily="34" charset="-120"/>
              </a:rPr>
              <a:t>Feedback: </a:t>
            </a:r>
            <a:r>
              <a:rPr lang="en-GB" sz="1600" noProof="0" dirty="0">
                <a:solidFill>
                  <a:srgbClr val="23303F"/>
                </a:solidFill>
                <a:latin typeface="Calibri" pitchFamily="34" charset="0"/>
                <a:ea typeface="Calibri" pitchFamily="34" charset="-122"/>
                <a:cs typeface="Calibri" pitchFamily="34" charset="-120"/>
              </a:rPr>
              <a:t>A and B meet the criteria: the whole transformation zone is visible, the lesion is small or HPV 16/18 is present, and cancer is not suspected. Type 3 needs LEEP, and a friable growth needs referral for biopsy, never ablation.</a:t>
            </a:r>
            <a:endParaRPr lang="en-GB" sz="1600" dirty="0"/>
          </a:p>
        </p:txBody>
      </p:sp>
      <p:sp>
        <p:nvSpPr>
          <p:cNvPr id="15" name="Text 15"/>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16" name="Text 16"/>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104</a:t>
            </a:r>
            <a:endParaRPr lang="en-GB" sz="11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2 · TREATING PRECANCER</a:t>
            </a:r>
            <a:endParaRPr lang="en-GB"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Thermal ablation: what happens at the visit</a:t>
            </a:r>
          </a:p>
        </p:txBody>
      </p:sp>
      <p:sp>
        <p:nvSpPr>
          <p:cNvPr id="4" name="Shape 4"/>
          <p:cNvSpPr/>
          <p:nvPr/>
        </p:nvSpPr>
        <p:spPr>
          <a:xfrm>
            <a:off x="566928" y="1500000"/>
            <a:ext cx="11055096" cy="78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5" name="Text 5"/>
          <p:cNvSpPr txBox="1"/>
          <p:nvPr/>
        </p:nvSpPr>
        <p:spPr>
          <a:xfrm>
            <a:off x="786384" y="1500000"/>
            <a:ext cx="548640" cy="78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a:t>
            </a:r>
            <a:endParaRPr lang="en-GB" sz="2000" dirty="0"/>
          </a:p>
        </p:txBody>
      </p:sp>
      <p:sp>
        <p:nvSpPr>
          <p:cNvPr id="6" name="Text 6"/>
          <p:cNvSpPr txBox="1"/>
          <p:nvPr/>
        </p:nvSpPr>
        <p:spPr>
          <a:xfrm>
            <a:off x="1463040" y="1500000"/>
            <a:ext cx="9966960" cy="780000"/>
          </a:xfrm>
          <a:prstGeom prst="rect">
            <a:avLst/>
          </a:prstGeom>
          <a:noFill/>
          <a:ln/>
        </p:spPr>
        <p:txBody>
          <a:bodyPr wrap="square" lIns="0" tIns="0" rIns="0" bIns="0" rtlCol="0" anchor="ctr"/>
          <a:lstStyle/>
          <a:p>
            <a:pPr marL="0" indent="0" algn="l">
              <a:buNone/>
            </a:pPr>
            <a:r>
              <a:rPr lang="en-GB" sz="1800" noProof="0" dirty="0">
                <a:solidFill>
                  <a:srgbClr val="23303F"/>
                </a:solidFill>
                <a:latin typeface="Calibri" pitchFamily="34" charset="0"/>
                <a:ea typeface="Calibri" pitchFamily="34" charset="-122"/>
                <a:cs typeface="Calibri" pitchFamily="34" charset="-120"/>
              </a:rPr>
              <a:t>Confirm she is not pregnant, and use VIA to confirm that the lesion is eligible.</a:t>
            </a:r>
            <a:endParaRPr lang="en-GB" sz="1800" dirty="0"/>
          </a:p>
        </p:txBody>
      </p:sp>
      <p:sp>
        <p:nvSpPr>
          <p:cNvPr id="7" name="Shape 7"/>
          <p:cNvSpPr/>
          <p:nvPr/>
        </p:nvSpPr>
        <p:spPr>
          <a:xfrm>
            <a:off x="566928" y="2410000"/>
            <a:ext cx="11055096" cy="78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8" name="Text 8"/>
          <p:cNvSpPr txBox="1"/>
          <p:nvPr/>
        </p:nvSpPr>
        <p:spPr>
          <a:xfrm>
            <a:off x="786384" y="2410000"/>
            <a:ext cx="548640" cy="78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a:t>
            </a:r>
            <a:endParaRPr lang="en-GB" sz="2000" dirty="0"/>
          </a:p>
        </p:txBody>
      </p:sp>
      <p:sp>
        <p:nvSpPr>
          <p:cNvPr id="9" name="Text 9"/>
          <p:cNvSpPr txBox="1"/>
          <p:nvPr/>
        </p:nvSpPr>
        <p:spPr>
          <a:xfrm>
            <a:off x="1463040" y="2410000"/>
            <a:ext cx="9966960" cy="780000"/>
          </a:xfrm>
          <a:prstGeom prst="rect">
            <a:avLst/>
          </a:prstGeom>
          <a:noFill/>
          <a:ln/>
        </p:spPr>
        <p:txBody>
          <a:bodyPr wrap="square" lIns="0" tIns="0" rIns="0" bIns="0" rtlCol="0" anchor="ctr"/>
          <a:lstStyle/>
          <a:p>
            <a:pPr marL="0" indent="0" algn="l">
              <a:buNone/>
            </a:pPr>
            <a:r>
              <a:rPr lang="en-GB" sz="1800" noProof="0" dirty="0">
                <a:solidFill>
                  <a:srgbClr val="23303F"/>
                </a:solidFill>
                <a:latin typeface="Calibri" pitchFamily="34" charset="0"/>
                <a:ea typeface="Calibri" pitchFamily="34" charset="-122"/>
                <a:cs typeface="Calibri" pitchFamily="34" charset="-120"/>
              </a:rPr>
              <a:t>Explain the procedure and obtain informed consent. No anaesthesia is needed.</a:t>
            </a:r>
            <a:endParaRPr lang="en-GB" sz="1800" dirty="0"/>
          </a:p>
        </p:txBody>
      </p:sp>
      <p:sp>
        <p:nvSpPr>
          <p:cNvPr id="10" name="Shape 10"/>
          <p:cNvSpPr/>
          <p:nvPr/>
        </p:nvSpPr>
        <p:spPr>
          <a:xfrm>
            <a:off x="566928" y="3320000"/>
            <a:ext cx="11055096" cy="78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1" name="Text 11"/>
          <p:cNvSpPr txBox="1"/>
          <p:nvPr/>
        </p:nvSpPr>
        <p:spPr>
          <a:xfrm>
            <a:off x="786384" y="3320000"/>
            <a:ext cx="548640" cy="78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a:t>
            </a:r>
            <a:endParaRPr lang="en-GB" sz="2000" dirty="0"/>
          </a:p>
        </p:txBody>
      </p:sp>
      <p:sp>
        <p:nvSpPr>
          <p:cNvPr id="12" name="Text 12"/>
          <p:cNvSpPr txBox="1"/>
          <p:nvPr/>
        </p:nvSpPr>
        <p:spPr>
          <a:xfrm>
            <a:off x="1463040" y="3320000"/>
            <a:ext cx="9966960" cy="780000"/>
          </a:xfrm>
          <a:prstGeom prst="rect">
            <a:avLst/>
          </a:prstGeom>
          <a:noFill/>
          <a:ln/>
        </p:spPr>
        <p:txBody>
          <a:bodyPr wrap="square" lIns="0" tIns="0" rIns="0" bIns="0" rtlCol="0" anchor="ctr"/>
          <a:lstStyle/>
          <a:p>
            <a:pPr marL="0" indent="0" algn="l">
              <a:buNone/>
            </a:pPr>
            <a:r>
              <a:rPr lang="en-GB" sz="1800" noProof="0" dirty="0">
                <a:solidFill>
                  <a:srgbClr val="23303F"/>
                </a:solidFill>
                <a:latin typeface="Calibri" pitchFamily="34" charset="0"/>
                <a:ea typeface="Calibri" pitchFamily="34" charset="-122"/>
                <a:cs typeface="Calibri" pitchFamily="34" charset="-120"/>
              </a:rPr>
              <a:t>The probe is heated to about 100°C, then applied to cover the lesion and the whole transformation zone.</a:t>
            </a:r>
            <a:endParaRPr lang="en-GB" sz="1800" dirty="0"/>
          </a:p>
        </p:txBody>
      </p:sp>
      <p:sp>
        <p:nvSpPr>
          <p:cNvPr id="13" name="Shape 13"/>
          <p:cNvSpPr/>
          <p:nvPr/>
        </p:nvSpPr>
        <p:spPr>
          <a:xfrm>
            <a:off x="566928" y="4230000"/>
            <a:ext cx="11055096" cy="78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4" name="Text 14"/>
          <p:cNvSpPr txBox="1"/>
          <p:nvPr/>
        </p:nvSpPr>
        <p:spPr>
          <a:xfrm>
            <a:off x="786384" y="4230000"/>
            <a:ext cx="548640" cy="78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a:t>
            </a:r>
            <a:endParaRPr lang="en-GB" sz="2000" dirty="0"/>
          </a:p>
        </p:txBody>
      </p:sp>
      <p:sp>
        <p:nvSpPr>
          <p:cNvPr id="15" name="Text 15"/>
          <p:cNvSpPr txBox="1"/>
          <p:nvPr/>
        </p:nvSpPr>
        <p:spPr>
          <a:xfrm>
            <a:off x="1463040" y="4230000"/>
            <a:ext cx="9966960" cy="780000"/>
          </a:xfrm>
          <a:prstGeom prst="rect">
            <a:avLst/>
          </a:prstGeom>
          <a:noFill/>
          <a:ln/>
        </p:spPr>
        <p:txBody>
          <a:bodyPr wrap="square" lIns="0" tIns="0" rIns="0" bIns="0" rtlCol="0" anchor="ctr"/>
          <a:lstStyle/>
          <a:p>
            <a:pPr marL="0" indent="0" algn="l">
              <a:buNone/>
            </a:pPr>
            <a:r>
              <a:rPr lang="en-GB" sz="1800" noProof="0" dirty="0">
                <a:solidFill>
                  <a:srgbClr val="23303F"/>
                </a:solidFill>
                <a:latin typeface="Calibri" pitchFamily="34" charset="0"/>
                <a:ea typeface="Calibri" pitchFamily="34" charset="-122"/>
                <a:cs typeface="Calibri" pitchFamily="34" charset="-120"/>
              </a:rPr>
              <a:t>Applications are repeated and overlapped until the whole area is covered.</a:t>
            </a:r>
            <a:endParaRPr lang="en-GB" sz="1800" dirty="0"/>
          </a:p>
        </p:txBody>
      </p:sp>
      <p:sp>
        <p:nvSpPr>
          <p:cNvPr id="16" name="Shape 16"/>
          <p:cNvSpPr/>
          <p:nvPr/>
        </p:nvSpPr>
        <p:spPr>
          <a:xfrm>
            <a:off x="566928" y="5140000"/>
            <a:ext cx="11055096" cy="78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7" name="Text 17"/>
          <p:cNvSpPr txBox="1"/>
          <p:nvPr/>
        </p:nvSpPr>
        <p:spPr>
          <a:xfrm>
            <a:off x="786384" y="5140000"/>
            <a:ext cx="548640" cy="780000"/>
          </a:xfrm>
          <a:prstGeom prst="rect">
            <a:avLst/>
          </a:prstGeom>
          <a:noFill/>
          <a:ln/>
        </p:spPr>
        <p:txBody>
          <a:bodyPr wrap="square" lIns="0" tIns="0" rIns="0" bIns="0" rtlCol="0" anchor="ctr"/>
          <a:lstStyle/>
          <a:p>
            <a:pPr marL="0" indent="0" algn="l">
              <a:buNone/>
            </a:pPr>
            <a:r>
              <a:rPr lang="en-GB" sz="2000" noProof="0" dirty="0">
                <a:solidFill>
                  <a:srgbClr val="000000"/>
                </a:solidFill>
                <a:latin typeface="Calibri" pitchFamily="34" charset="0"/>
                <a:ea typeface="Calibri" pitchFamily="34" charset="-122"/>
                <a:cs typeface="Calibri" pitchFamily="34" charset="-120"/>
              </a:rPr>
              <a:t>📋</a:t>
            </a:r>
            <a:endParaRPr lang="en-GB" sz="2000" dirty="0"/>
          </a:p>
        </p:txBody>
      </p:sp>
      <p:sp>
        <p:nvSpPr>
          <p:cNvPr id="18" name="Text 18"/>
          <p:cNvSpPr txBox="1"/>
          <p:nvPr/>
        </p:nvSpPr>
        <p:spPr>
          <a:xfrm>
            <a:off x="1463040" y="5140000"/>
            <a:ext cx="9966960" cy="780000"/>
          </a:xfrm>
          <a:prstGeom prst="rect">
            <a:avLst/>
          </a:prstGeom>
          <a:noFill/>
          <a:ln/>
        </p:spPr>
        <p:txBody>
          <a:bodyPr wrap="square" lIns="0" tIns="0" rIns="0" bIns="0" rtlCol="0" anchor="ctr"/>
          <a:lstStyle/>
          <a:p>
            <a:pPr marL="0" indent="0" algn="l">
              <a:buNone/>
            </a:pPr>
            <a:r>
              <a:rPr lang="en-GB" sz="1800" noProof="0" dirty="0">
                <a:solidFill>
                  <a:srgbClr val="23303F"/>
                </a:solidFill>
                <a:latin typeface="Calibri" pitchFamily="34" charset="0"/>
                <a:ea typeface="Calibri" pitchFamily="34" charset="-122"/>
                <a:cs typeface="Calibri" pitchFamily="34" charset="-120"/>
              </a:rPr>
              <a:t>Give post-treatment advice and record the 12-month follow-up date.</a:t>
            </a:r>
            <a:endParaRPr lang="en-GB" sz="1800" dirty="0"/>
          </a:p>
        </p:txBody>
      </p:sp>
      <p:sp>
        <p:nvSpPr>
          <p:cNvPr id="19" name="Text 19"/>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20" name="Text 20"/>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105</a:t>
            </a:r>
            <a:endParaRPr lang="en-GB" sz="11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2 · COUNSELLING</a:t>
            </a:r>
            <a:endParaRPr lang="en-GB"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Counselling before and after thermal ablation</a:t>
            </a:r>
          </a:p>
        </p:txBody>
      </p:sp>
      <p:sp>
        <p:nvSpPr>
          <p:cNvPr id="4" name="Shape 4"/>
          <p:cNvSpPr/>
          <p:nvPr/>
        </p:nvSpPr>
        <p:spPr>
          <a:xfrm>
            <a:off x="566928" y="1450000"/>
            <a:ext cx="3563112" cy="330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5" name="Text 5"/>
          <p:cNvSpPr txBox="1"/>
          <p:nvPr/>
        </p:nvSpPr>
        <p:spPr>
          <a:xfrm>
            <a:off x="822960" y="1570000"/>
            <a:ext cx="3051048" cy="520000"/>
          </a:xfrm>
          <a:prstGeom prst="rect">
            <a:avLst/>
          </a:prstGeom>
          <a:noFill/>
          <a:ln/>
        </p:spPr>
        <p:txBody>
          <a:bodyPr wrap="square" lIns="0" tIns="0" rIns="0" bIns="0" rtlCol="0" anchor="ctr"/>
          <a:lstStyle/>
          <a:p>
            <a:pPr marL="0" indent="0" algn="l">
              <a:buNone/>
            </a:pPr>
            <a:r>
              <a:rPr lang="en-GB" sz="2000" b="1" noProof="0" dirty="0">
                <a:solidFill>
                  <a:srgbClr val="10305A"/>
                </a:solidFill>
                <a:latin typeface="Calibri" pitchFamily="34" charset="0"/>
                <a:ea typeface="Calibri" pitchFamily="34" charset="-122"/>
                <a:cs typeface="Calibri" pitchFamily="34" charset="-120"/>
              </a:rPr>
              <a:t>💬  What she may notice</a:t>
            </a:r>
            <a:endParaRPr lang="en-GB" sz="2000" dirty="0"/>
          </a:p>
        </p:txBody>
      </p:sp>
      <p:sp>
        <p:nvSpPr>
          <p:cNvPr id="6" name="Text 6"/>
          <p:cNvSpPr txBox="1"/>
          <p:nvPr/>
        </p:nvSpPr>
        <p:spPr>
          <a:xfrm>
            <a:off x="822960" y="2150000"/>
            <a:ext cx="3051048" cy="252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en-GB" sz="1700" noProof="0" dirty="0">
                <a:solidFill>
                  <a:srgbClr val="23303F"/>
                </a:solidFill>
                <a:latin typeface="Calibri" pitchFamily="34" charset="0"/>
                <a:ea typeface="Calibri" pitchFamily="34" charset="-122"/>
                <a:cs typeface="Calibri" pitchFamily="34" charset="-120"/>
              </a:rPr>
              <a:t>Cramping, like period pain, during or shortly after treatment.</a:t>
            </a:r>
            <a:endParaRPr lang="en-GB" sz="1700" dirty="0"/>
          </a:p>
          <a:p>
            <a:pPr marL="285750" indent="-285750" algn="l">
              <a:lnSpc>
                <a:spcPct val="104000"/>
              </a:lnSpc>
              <a:spcAft>
                <a:spcPts val="600"/>
              </a:spcAft>
              <a:buSzPct val="100000"/>
              <a:buChar char="•"/>
            </a:pPr>
            <a:r>
              <a:rPr lang="en-GB" sz="1700" noProof="0" dirty="0">
                <a:solidFill>
                  <a:srgbClr val="23303F"/>
                </a:solidFill>
                <a:latin typeface="Calibri" pitchFamily="34" charset="0"/>
                <a:ea typeface="Calibri" pitchFamily="34" charset="-122"/>
                <a:cs typeface="Calibri" pitchFamily="34" charset="-120"/>
              </a:rPr>
              <a:t>Watery discharge and light spotting, settling within about 4 weeks.</a:t>
            </a:r>
            <a:endParaRPr lang="en-GB" sz="1700" dirty="0"/>
          </a:p>
        </p:txBody>
      </p:sp>
      <p:sp>
        <p:nvSpPr>
          <p:cNvPr id="7" name="Shape 7"/>
          <p:cNvSpPr/>
          <p:nvPr/>
        </p:nvSpPr>
        <p:spPr>
          <a:xfrm>
            <a:off x="4312920" y="1450000"/>
            <a:ext cx="3563112" cy="3300000"/>
          </a:xfrm>
          <a:prstGeom prst="roundRect">
            <a:avLst>
              <a:gd name="adj" fmla="val 3000"/>
            </a:avLst>
          </a:prstGeom>
          <a:solidFill>
            <a:srgbClr val="FDE9E8"/>
          </a:solidFill>
          <a:ln w="12700">
            <a:solidFill>
              <a:srgbClr val="F0CFCE"/>
            </a:solidFill>
          </a:ln>
        </p:spPr>
        <p:txBody>
          <a:bodyPr/>
          <a:lstStyle/>
          <a:p>
            <a:endParaRPr lang="en-GB" sz="1600" dirty="0"/>
          </a:p>
        </p:txBody>
      </p:sp>
      <p:sp>
        <p:nvSpPr>
          <p:cNvPr id="8" name="Text 8"/>
          <p:cNvSpPr txBox="1"/>
          <p:nvPr/>
        </p:nvSpPr>
        <p:spPr>
          <a:xfrm>
            <a:off x="4568952" y="1570000"/>
            <a:ext cx="3051048" cy="520000"/>
          </a:xfrm>
          <a:prstGeom prst="rect">
            <a:avLst/>
          </a:prstGeom>
          <a:noFill/>
          <a:ln/>
        </p:spPr>
        <p:txBody>
          <a:bodyPr wrap="square" lIns="0" tIns="0" rIns="0" bIns="0" rtlCol="0" anchor="ctr"/>
          <a:lstStyle/>
          <a:p>
            <a:pPr marL="0" indent="0" algn="l">
              <a:buNone/>
            </a:pPr>
            <a:r>
              <a:rPr lang="en-GB" sz="2000" b="1" noProof="0" dirty="0">
                <a:solidFill>
                  <a:srgbClr val="8E2531"/>
                </a:solidFill>
                <a:latin typeface="Calibri" pitchFamily="34" charset="0"/>
                <a:ea typeface="Calibri" pitchFamily="34" charset="-122"/>
                <a:cs typeface="Calibri" pitchFamily="34" charset="-120"/>
              </a:rPr>
              <a:t>⚠️  Return at once if</a:t>
            </a:r>
            <a:endParaRPr lang="en-GB" sz="2000" dirty="0"/>
          </a:p>
        </p:txBody>
      </p:sp>
      <p:sp>
        <p:nvSpPr>
          <p:cNvPr id="9" name="Text 9"/>
          <p:cNvSpPr txBox="1"/>
          <p:nvPr/>
        </p:nvSpPr>
        <p:spPr>
          <a:xfrm>
            <a:off x="4568952" y="2150000"/>
            <a:ext cx="3051048" cy="252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en-GB" sz="1700" noProof="0" dirty="0">
                <a:solidFill>
                  <a:srgbClr val="23303F"/>
                </a:solidFill>
                <a:latin typeface="Calibri" pitchFamily="34" charset="0"/>
                <a:ea typeface="Calibri" pitchFamily="34" charset="-122"/>
                <a:cs typeface="Calibri" pitchFamily="34" charset="-120"/>
              </a:rPr>
              <a:t>Foul-smelling discharge</a:t>
            </a:r>
            <a:endParaRPr lang="en-GB" sz="1700" dirty="0"/>
          </a:p>
          <a:p>
            <a:pPr marL="285750" indent="-285750" algn="l">
              <a:lnSpc>
                <a:spcPct val="104000"/>
              </a:lnSpc>
              <a:spcAft>
                <a:spcPts val="600"/>
              </a:spcAft>
              <a:buSzPct val="100000"/>
              <a:buChar char="•"/>
            </a:pPr>
            <a:r>
              <a:rPr lang="en-GB" sz="1700" noProof="0" dirty="0">
                <a:solidFill>
                  <a:srgbClr val="23303F"/>
                </a:solidFill>
                <a:latin typeface="Calibri" pitchFamily="34" charset="0"/>
                <a:ea typeface="Calibri" pitchFamily="34" charset="-122"/>
                <a:cs typeface="Calibri" pitchFamily="34" charset="-120"/>
              </a:rPr>
              <a:t>Heavy bleeding</a:t>
            </a:r>
            <a:endParaRPr lang="en-GB" sz="1700" dirty="0"/>
          </a:p>
          <a:p>
            <a:pPr marL="285750" indent="-285750" algn="l">
              <a:lnSpc>
                <a:spcPct val="104000"/>
              </a:lnSpc>
              <a:spcAft>
                <a:spcPts val="600"/>
              </a:spcAft>
              <a:buSzPct val="100000"/>
              <a:buChar char="•"/>
            </a:pPr>
            <a:r>
              <a:rPr lang="en-GB" sz="1700" noProof="0" dirty="0">
                <a:solidFill>
                  <a:srgbClr val="23303F"/>
                </a:solidFill>
                <a:latin typeface="Calibri" pitchFamily="34" charset="0"/>
                <a:ea typeface="Calibri" pitchFamily="34" charset="-122"/>
                <a:cs typeface="Calibri" pitchFamily="34" charset="-120"/>
              </a:rPr>
              <a:t>Fever</a:t>
            </a:r>
            <a:endParaRPr lang="en-GB" sz="1700" dirty="0"/>
          </a:p>
          <a:p>
            <a:pPr marL="285750" indent="-285750" algn="l">
              <a:lnSpc>
                <a:spcPct val="104000"/>
              </a:lnSpc>
              <a:spcAft>
                <a:spcPts val="600"/>
              </a:spcAft>
              <a:buSzPct val="100000"/>
              <a:buChar char="•"/>
            </a:pPr>
            <a:r>
              <a:rPr lang="en-GB" sz="1700" noProof="0" dirty="0">
                <a:solidFill>
                  <a:srgbClr val="23303F"/>
                </a:solidFill>
                <a:latin typeface="Calibri" pitchFamily="34" charset="0"/>
                <a:ea typeface="Calibri" pitchFamily="34" charset="-122"/>
                <a:cs typeface="Calibri" pitchFamily="34" charset="-120"/>
              </a:rPr>
              <a:t>Severe lower abdominal pain</a:t>
            </a:r>
            <a:endParaRPr lang="en-GB" sz="1700" dirty="0"/>
          </a:p>
        </p:txBody>
      </p:sp>
      <p:sp>
        <p:nvSpPr>
          <p:cNvPr id="10" name="Shape 10"/>
          <p:cNvSpPr/>
          <p:nvPr/>
        </p:nvSpPr>
        <p:spPr>
          <a:xfrm>
            <a:off x="8058912" y="1450000"/>
            <a:ext cx="3563112" cy="3300000"/>
          </a:xfrm>
          <a:prstGeom prst="roundRect">
            <a:avLst>
              <a:gd name="adj" fmla="val 3000"/>
            </a:avLst>
          </a:prstGeom>
          <a:solidFill>
            <a:srgbClr val="F3F6FB"/>
          </a:solidFill>
          <a:ln w="12700">
            <a:solidFill>
              <a:srgbClr val="E0E3EA"/>
            </a:solidFill>
          </a:ln>
        </p:spPr>
        <p:txBody>
          <a:bodyPr/>
          <a:lstStyle/>
          <a:p>
            <a:endParaRPr lang="en-GB" sz="1600" dirty="0"/>
          </a:p>
        </p:txBody>
      </p:sp>
      <p:sp>
        <p:nvSpPr>
          <p:cNvPr id="11" name="Text 11"/>
          <p:cNvSpPr txBox="1"/>
          <p:nvPr/>
        </p:nvSpPr>
        <p:spPr>
          <a:xfrm>
            <a:off x="8314944" y="1570000"/>
            <a:ext cx="3051048" cy="520000"/>
          </a:xfrm>
          <a:prstGeom prst="rect">
            <a:avLst/>
          </a:prstGeom>
          <a:noFill/>
          <a:ln/>
        </p:spPr>
        <p:txBody>
          <a:bodyPr wrap="square" lIns="0" tIns="0" rIns="0" bIns="0" rtlCol="0" anchor="ctr"/>
          <a:lstStyle/>
          <a:p>
            <a:pPr marL="0" indent="0" algn="l">
              <a:buNone/>
            </a:pPr>
            <a:r>
              <a:rPr lang="en-GB" sz="2000" b="1" noProof="0" dirty="0">
                <a:solidFill>
                  <a:srgbClr val="10305A"/>
                </a:solidFill>
                <a:latin typeface="Calibri" pitchFamily="34" charset="0"/>
                <a:ea typeface="Calibri" pitchFamily="34" charset="-122"/>
                <a:cs typeface="Calibri" pitchFamily="34" charset="-120"/>
              </a:rPr>
              <a:t>🚫  For the next 6 weeks</a:t>
            </a:r>
            <a:endParaRPr lang="en-GB" sz="2000" dirty="0"/>
          </a:p>
        </p:txBody>
      </p:sp>
      <p:sp>
        <p:nvSpPr>
          <p:cNvPr id="12" name="Text 12"/>
          <p:cNvSpPr txBox="1"/>
          <p:nvPr/>
        </p:nvSpPr>
        <p:spPr>
          <a:xfrm>
            <a:off x="8314944" y="2150000"/>
            <a:ext cx="3051048" cy="252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en-GB" sz="1700" noProof="0" dirty="0">
                <a:solidFill>
                  <a:srgbClr val="23303F"/>
                </a:solidFill>
                <a:latin typeface="Calibri" pitchFamily="34" charset="0"/>
                <a:ea typeface="Calibri" pitchFamily="34" charset="-122"/>
                <a:cs typeface="Calibri" pitchFamily="34" charset="-120"/>
              </a:rPr>
              <a:t>Nothing in the vagina: no sexual intercourse, tampons, douching or herbal preparations.</a:t>
            </a:r>
            <a:endParaRPr lang="en-GB" sz="1700" dirty="0"/>
          </a:p>
          <a:p>
            <a:pPr marL="285750" indent="-285750" algn="l">
              <a:lnSpc>
                <a:spcPct val="104000"/>
              </a:lnSpc>
              <a:spcAft>
                <a:spcPts val="600"/>
              </a:spcAft>
              <a:buSzPct val="100000"/>
              <a:buChar char="•"/>
            </a:pPr>
            <a:r>
              <a:rPr lang="en-GB" sz="1700" noProof="0" dirty="0">
                <a:solidFill>
                  <a:srgbClr val="23303F"/>
                </a:solidFill>
                <a:latin typeface="Calibri" pitchFamily="34" charset="0"/>
                <a:ea typeface="Calibri" pitchFamily="34" charset="-122"/>
                <a:cs typeface="Calibri" pitchFamily="34" charset="-120"/>
              </a:rPr>
              <a:t>This lowers the risk of infection and bleeding.</a:t>
            </a:r>
            <a:endParaRPr lang="en-GB" sz="1700" dirty="0"/>
          </a:p>
        </p:txBody>
      </p:sp>
      <p:sp>
        <p:nvSpPr>
          <p:cNvPr id="13" name="Shape 13"/>
          <p:cNvSpPr/>
          <p:nvPr/>
        </p:nvSpPr>
        <p:spPr>
          <a:xfrm>
            <a:off x="566928" y="4950000"/>
            <a:ext cx="11055096" cy="1000000"/>
          </a:xfrm>
          <a:prstGeom prst="roundRect">
            <a:avLst>
              <a:gd name="adj" fmla="val 3000"/>
            </a:avLst>
          </a:prstGeom>
          <a:solidFill>
            <a:srgbClr val="ECF3FD"/>
          </a:solidFill>
          <a:ln w="12700">
            <a:solidFill>
              <a:srgbClr val="E0E3EA"/>
            </a:solidFill>
          </a:ln>
        </p:spPr>
        <p:txBody>
          <a:bodyPr/>
          <a:lstStyle/>
          <a:p>
            <a:endParaRPr lang="en-GB" sz="1600" dirty="0"/>
          </a:p>
        </p:txBody>
      </p:sp>
      <p:sp>
        <p:nvSpPr>
          <p:cNvPr id="14" name="Text 14"/>
          <p:cNvSpPr txBox="1"/>
          <p:nvPr/>
        </p:nvSpPr>
        <p:spPr>
          <a:xfrm>
            <a:off x="841248" y="5000000"/>
            <a:ext cx="10506456" cy="900000"/>
          </a:xfrm>
          <a:prstGeom prst="rect">
            <a:avLst/>
          </a:prstGeom>
          <a:noFill/>
          <a:ln/>
        </p:spPr>
        <p:txBody>
          <a:bodyPr wrap="square" lIns="0" tIns="0" rIns="0" bIns="0" rtlCol="0" anchor="ctr"/>
          <a:lstStyle/>
          <a:p>
            <a:pPr marL="0" indent="0" algn="l">
              <a:buNone/>
            </a:pPr>
            <a:r>
              <a:rPr lang="en-GB" sz="1600" b="1" noProof="0" dirty="0">
                <a:solidFill>
                  <a:srgbClr val="10305A"/>
                </a:solidFill>
                <a:latin typeface="Calibri" pitchFamily="34" charset="0"/>
                <a:ea typeface="Calibri" pitchFamily="34" charset="-122"/>
                <a:cs typeface="Calibri" pitchFamily="34" charset="-120"/>
              </a:rPr>
              <a:t>📋 Before she leaves:  </a:t>
            </a:r>
            <a:r>
              <a:rPr lang="en-GB" sz="1600" noProof="0" dirty="0">
                <a:solidFill>
                  <a:srgbClr val="23303F"/>
                </a:solidFill>
                <a:latin typeface="Calibri" pitchFamily="34" charset="0"/>
                <a:ea typeface="Calibri" pitchFamily="34" charset="-122"/>
                <a:cs typeface="Calibri" pitchFamily="34" charset="-120"/>
              </a:rPr>
              <a:t>Give the advice verbally, and in writing if possible. Write the 12-month follow-up date on her card.</a:t>
            </a:r>
            <a:endParaRPr lang="en-GB" sz="1600" dirty="0"/>
          </a:p>
        </p:txBody>
      </p:sp>
      <p:sp>
        <p:nvSpPr>
          <p:cNvPr id="15" name="Text 15"/>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16" name="Text 16"/>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106</a:t>
            </a:r>
            <a:endParaRPr lang="en-GB" sz="11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107</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SAFETY RULE</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2700" b="1" noProof="0" dirty="0">
                <a:solidFill>
                  <a:srgbClr val="10305A"/>
                </a:solidFill>
                <a:latin typeface="Cambria" pitchFamily="34" charset="0"/>
                <a:ea typeface="Cambria" pitchFamily="34" charset="-122"/>
                <a:cs typeface="Cambria" pitchFamily="34" charset="-120"/>
              </a:rPr>
              <a:t>Suspected cancer is never treated as routine precancer</a:t>
            </a:r>
            <a:endParaRPr lang="en-GB" sz="2700" noProof="0" dirty="0"/>
          </a:p>
        </p:txBody>
      </p:sp>
      <p:sp>
        <p:nvSpPr>
          <p:cNvPr id="6" name="Shape 4"/>
          <p:cNvSpPr/>
          <p:nvPr/>
        </p:nvSpPr>
        <p:spPr>
          <a:xfrm>
            <a:off x="566928" y="1719072"/>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786384" y="1719072"/>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8" name="Text 6"/>
          <p:cNvSpPr txBox="1"/>
          <p:nvPr/>
        </p:nvSpPr>
        <p:spPr>
          <a:xfrm>
            <a:off x="1463040" y="1773936"/>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If the cervix looks suspicious for invasive cancer, stop the screening pathway.</a:t>
            </a:r>
            <a:endParaRPr lang="en-GB" sz="1800" noProof="0" dirty="0"/>
          </a:p>
        </p:txBody>
      </p:sp>
      <p:sp>
        <p:nvSpPr>
          <p:cNvPr id="9" name="Shape 7"/>
          <p:cNvSpPr/>
          <p:nvPr/>
        </p:nvSpPr>
        <p:spPr>
          <a:xfrm>
            <a:off x="566928" y="2632880"/>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786384" y="2632880"/>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1" name="Text 9"/>
          <p:cNvSpPr txBox="1"/>
          <p:nvPr/>
        </p:nvSpPr>
        <p:spPr>
          <a:xfrm>
            <a:off x="1463040" y="2687744"/>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Do not apply ablative treatment. It destroys the tissue needed for diagnosis and does not treat the disease.</a:t>
            </a:r>
            <a:endParaRPr lang="en-GB" sz="1800" noProof="0" dirty="0"/>
          </a:p>
        </p:txBody>
      </p:sp>
      <p:sp>
        <p:nvSpPr>
          <p:cNvPr id="12" name="Shape 10"/>
          <p:cNvSpPr/>
          <p:nvPr/>
        </p:nvSpPr>
        <p:spPr>
          <a:xfrm>
            <a:off x="566928" y="3546687"/>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786384" y="3546687"/>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4" name="Text 12"/>
          <p:cNvSpPr txBox="1"/>
          <p:nvPr/>
        </p:nvSpPr>
        <p:spPr>
          <a:xfrm>
            <a:off x="1463040" y="3601551"/>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Refer for diagnostic assessment and biopsy instead.</a:t>
            </a:r>
            <a:endParaRPr lang="en-GB" sz="1800" noProof="0" dirty="0"/>
          </a:p>
        </p:txBody>
      </p:sp>
      <p:sp>
        <p:nvSpPr>
          <p:cNvPr id="15" name="Shape 13"/>
          <p:cNvSpPr/>
          <p:nvPr/>
        </p:nvSpPr>
        <p:spPr>
          <a:xfrm>
            <a:off x="566928" y="4460495"/>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6" name="Text 14"/>
          <p:cNvSpPr txBox="1"/>
          <p:nvPr/>
        </p:nvSpPr>
        <p:spPr>
          <a:xfrm>
            <a:off x="786384" y="4460495"/>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7" name="Text 15"/>
          <p:cNvSpPr txBox="1"/>
          <p:nvPr/>
        </p:nvSpPr>
        <p:spPr>
          <a:xfrm>
            <a:off x="1463040" y="4515359"/>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Refer promptly. Do not place her in a routine screening queue.</a:t>
            </a:r>
            <a:endParaRPr lang="en-GB" sz="1800" noProof="0" dirty="0"/>
          </a:p>
        </p:txBody>
      </p:sp>
      <p:sp>
        <p:nvSpPr>
          <p:cNvPr id="18" name="Shape 16"/>
          <p:cNvSpPr/>
          <p:nvPr/>
        </p:nvSpPr>
        <p:spPr>
          <a:xfrm>
            <a:off x="566928" y="5374303"/>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9" name="Text 17"/>
          <p:cNvSpPr txBox="1"/>
          <p:nvPr/>
        </p:nvSpPr>
        <p:spPr>
          <a:xfrm>
            <a:off x="786384" y="5374303"/>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20" name="Text 18"/>
          <p:cNvSpPr txBox="1"/>
          <p:nvPr/>
        </p:nvSpPr>
        <p:spPr>
          <a:xfrm>
            <a:off x="1463040" y="5429167"/>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Explain that the cervix needs to be examined properly, without stating that she has cancer.</a:t>
            </a:r>
            <a:endParaRPr lang="en-GB" sz="1800" noProof="0" dirty="0"/>
          </a:p>
        </p:txBody>
      </p:sp>
      <p:sp>
        <p:nvSpPr>
          <p:cNvPr id="21" name="Shape 19"/>
          <p:cNvSpPr/>
          <p:nvPr/>
        </p:nvSpPr>
        <p:spPr>
          <a:xfrm>
            <a:off x="566928" y="5394960"/>
            <a:ext cx="11055096" cy="786384"/>
          </a:xfrm>
          <a:prstGeom prst="roundRect">
            <a:avLst>
              <a:gd name="adj" fmla="val 8140"/>
            </a:avLst>
          </a:prstGeom>
          <a:solidFill>
            <a:srgbClr val="FDE9E8"/>
          </a:solidFill>
          <a:ln w="12700">
            <a:solidFill>
              <a:srgbClr val="F0CFCE"/>
            </a:solidFill>
            <a:prstDash val="solid"/>
          </a:ln>
        </p:spPr>
        <p:txBody>
          <a:bodyPr/>
          <a:lstStyle/>
          <a:p>
            <a:endParaRPr lang="en-GB" noProof="0" dirty="0"/>
          </a:p>
        </p:txBody>
      </p:sp>
      <p:sp>
        <p:nvSpPr>
          <p:cNvPr id="22" name="Text 20"/>
          <p:cNvSpPr txBox="1"/>
          <p:nvPr/>
        </p:nvSpPr>
        <p:spPr>
          <a:xfrm>
            <a:off x="841248" y="5449824"/>
            <a:ext cx="10506456" cy="676656"/>
          </a:xfrm>
          <a:prstGeom prst="rect">
            <a:avLst/>
          </a:prstGeom>
          <a:noFill/>
          <a:ln/>
        </p:spPr>
        <p:txBody>
          <a:bodyPr wrap="square" lIns="0" tIns="0" rIns="0" bIns="0" rtlCol="0" anchor="ctr"/>
          <a:lstStyle/>
          <a:p>
            <a:pPr marL="0" indent="0">
              <a:lnSpc>
                <a:spcPct val="104000"/>
              </a:lnSpc>
              <a:buNone/>
            </a:pPr>
            <a:r>
              <a:rPr lang="en-GB" sz="1800" b="1" noProof="0" dirty="0">
                <a:solidFill>
                  <a:srgbClr val="8E2531"/>
                </a:solidFill>
                <a:latin typeface="Calibri" pitchFamily="34" charset="0"/>
                <a:ea typeface="Calibri" pitchFamily="34" charset="-122"/>
                <a:cs typeface="Calibri" pitchFamily="34" charset="-120"/>
              </a:rPr>
              <a:t>⚠️ Why this matters:  </a:t>
            </a:r>
            <a:r>
              <a:rPr lang="en-GB" sz="1800" noProof="0" dirty="0">
                <a:solidFill>
                  <a:srgbClr val="23303F"/>
                </a:solidFill>
                <a:latin typeface="Calibri" pitchFamily="34" charset="0"/>
                <a:ea typeface="Calibri" pitchFamily="34" charset="-122"/>
                <a:cs typeface="Calibri" pitchFamily="34" charset="-120"/>
              </a:rPr>
              <a:t>A screen-and-treat algorithm must never override clinical suspicion of invasive cancer.</a:t>
            </a:r>
            <a:endParaRPr lang="en-GB" sz="1800" noProof="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108</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FOLLOW-UP</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Follow-up after an abnormal result</a:t>
            </a:r>
            <a:endParaRPr lang="en-GB" sz="3200" noProof="0" dirty="0"/>
          </a:p>
        </p:txBody>
      </p:sp>
      <p:sp>
        <p:nvSpPr>
          <p:cNvPr id="6" name="Shape 4"/>
          <p:cNvSpPr/>
          <p:nvPr/>
        </p:nvSpPr>
        <p:spPr>
          <a:xfrm>
            <a:off x="566928" y="1719072"/>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786384" y="1719072"/>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1️⃣</a:t>
            </a:r>
            <a:endParaRPr lang="en-GB" sz="2000" noProof="0" dirty="0"/>
          </a:p>
        </p:txBody>
      </p:sp>
      <p:sp>
        <p:nvSpPr>
          <p:cNvPr id="8" name="Text 6"/>
          <p:cNvSpPr txBox="1"/>
          <p:nvPr/>
        </p:nvSpPr>
        <p:spPr>
          <a:xfrm>
            <a:off x="1463040" y="1773936"/>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Say plainly what the result is not: cancer has not been found.</a:t>
            </a:r>
            <a:endParaRPr lang="en-GB" sz="1800" noProof="0" dirty="0"/>
          </a:p>
        </p:txBody>
      </p:sp>
      <p:sp>
        <p:nvSpPr>
          <p:cNvPr id="9" name="Shape 7"/>
          <p:cNvSpPr/>
          <p:nvPr/>
        </p:nvSpPr>
        <p:spPr>
          <a:xfrm>
            <a:off x="566928" y="2632880"/>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786384" y="2632880"/>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2️⃣</a:t>
            </a:r>
            <a:endParaRPr lang="en-GB" sz="2000" noProof="0" dirty="0"/>
          </a:p>
        </p:txBody>
      </p:sp>
      <p:sp>
        <p:nvSpPr>
          <p:cNvPr id="11" name="Text 9"/>
          <p:cNvSpPr txBox="1"/>
          <p:nvPr/>
        </p:nvSpPr>
        <p:spPr>
          <a:xfrm>
            <a:off x="1463040" y="2687744"/>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Explain the next step, what it involves and roughly how long it takes.</a:t>
            </a:r>
            <a:endParaRPr lang="en-GB" sz="1800" noProof="0" dirty="0"/>
          </a:p>
        </p:txBody>
      </p:sp>
      <p:sp>
        <p:nvSpPr>
          <p:cNvPr id="12" name="Shape 10"/>
          <p:cNvSpPr/>
          <p:nvPr/>
        </p:nvSpPr>
        <p:spPr>
          <a:xfrm>
            <a:off x="566928" y="3546687"/>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786384" y="3546687"/>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3️⃣</a:t>
            </a:r>
            <a:endParaRPr lang="en-GB" sz="2000" noProof="0" dirty="0"/>
          </a:p>
        </p:txBody>
      </p:sp>
      <p:sp>
        <p:nvSpPr>
          <p:cNvPr id="14" name="Text 12"/>
          <p:cNvSpPr txBox="1"/>
          <p:nvPr/>
        </p:nvSpPr>
        <p:spPr>
          <a:xfrm>
            <a:off x="1463040" y="3601551"/>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Arrange it before she leaves, and record where and when.</a:t>
            </a:r>
            <a:endParaRPr lang="en-GB" sz="1800" noProof="0" dirty="0"/>
          </a:p>
        </p:txBody>
      </p:sp>
      <p:sp>
        <p:nvSpPr>
          <p:cNvPr id="15" name="Shape 13"/>
          <p:cNvSpPr/>
          <p:nvPr/>
        </p:nvSpPr>
        <p:spPr>
          <a:xfrm>
            <a:off x="566928" y="4460495"/>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6" name="Text 14"/>
          <p:cNvSpPr txBox="1"/>
          <p:nvPr/>
        </p:nvSpPr>
        <p:spPr>
          <a:xfrm>
            <a:off x="786384" y="4460495"/>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4️⃣</a:t>
            </a:r>
            <a:endParaRPr lang="en-GB" sz="2000" noProof="0" dirty="0"/>
          </a:p>
        </p:txBody>
      </p:sp>
      <p:sp>
        <p:nvSpPr>
          <p:cNvPr id="17" name="Text 15"/>
          <p:cNvSpPr txBox="1"/>
          <p:nvPr/>
        </p:nvSpPr>
        <p:spPr>
          <a:xfrm>
            <a:off x="1463040" y="4515359"/>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Ask what would stop her attending, and address transport, cost and time away from work.</a:t>
            </a:r>
            <a:endParaRPr lang="en-GB" sz="1800" noProof="0" dirty="0"/>
          </a:p>
        </p:txBody>
      </p:sp>
      <p:sp>
        <p:nvSpPr>
          <p:cNvPr id="18" name="Shape 16"/>
          <p:cNvSpPr/>
          <p:nvPr/>
        </p:nvSpPr>
        <p:spPr>
          <a:xfrm>
            <a:off x="566928" y="5374303"/>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9" name="Text 17"/>
          <p:cNvSpPr txBox="1"/>
          <p:nvPr/>
        </p:nvSpPr>
        <p:spPr>
          <a:xfrm>
            <a:off x="786384" y="5374303"/>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5️⃣</a:t>
            </a:r>
            <a:endParaRPr lang="en-GB" sz="2000" noProof="0" dirty="0"/>
          </a:p>
        </p:txBody>
      </p:sp>
      <p:sp>
        <p:nvSpPr>
          <p:cNvPr id="20" name="Text 18"/>
          <p:cNvSpPr txBox="1"/>
          <p:nvPr/>
        </p:nvSpPr>
        <p:spPr>
          <a:xfrm>
            <a:off x="1463040" y="5429167"/>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Close the loop. Follow up actively if she does not attend.</a:t>
            </a:r>
            <a:endParaRPr lang="en-GB" sz="1800" noProof="0" dirty="0"/>
          </a:p>
        </p:txBody>
      </p:sp>
      <p:sp>
        <p:nvSpPr>
          <p:cNvPr id="21" name="Shape 19"/>
          <p:cNvSpPr/>
          <p:nvPr/>
        </p:nvSpPr>
        <p:spPr>
          <a:xfrm>
            <a:off x="566928" y="5394960"/>
            <a:ext cx="11055096" cy="786384"/>
          </a:xfrm>
          <a:prstGeom prst="roundRect">
            <a:avLst>
              <a:gd name="adj" fmla="val 8140"/>
            </a:avLst>
          </a:prstGeom>
          <a:solidFill>
            <a:srgbClr val="FFF2DF"/>
          </a:solidFill>
          <a:ln w="12700">
            <a:solidFill>
              <a:srgbClr val="E8DDC7"/>
            </a:solidFill>
            <a:prstDash val="solid"/>
          </a:ln>
        </p:spPr>
        <p:txBody>
          <a:bodyPr/>
          <a:lstStyle/>
          <a:p>
            <a:endParaRPr lang="en-GB" noProof="0" dirty="0"/>
          </a:p>
        </p:txBody>
      </p:sp>
      <p:sp>
        <p:nvSpPr>
          <p:cNvPr id="22" name="Text 20"/>
          <p:cNvSpPr txBox="1"/>
          <p:nvPr/>
        </p:nvSpPr>
        <p:spPr>
          <a:xfrm>
            <a:off x="841248" y="5449824"/>
            <a:ext cx="10506456" cy="676656"/>
          </a:xfrm>
          <a:prstGeom prst="rect">
            <a:avLst/>
          </a:prstGeom>
          <a:noFill/>
          <a:ln/>
        </p:spPr>
        <p:txBody>
          <a:bodyPr wrap="square" lIns="0" tIns="0" rIns="0" bIns="0" rtlCol="0" anchor="ctr"/>
          <a:lstStyle/>
          <a:p>
            <a:pPr marL="0" indent="0">
              <a:lnSpc>
                <a:spcPct val="104000"/>
              </a:lnSpc>
              <a:buNone/>
            </a:pPr>
            <a:r>
              <a:rPr lang="en-GB" sz="1800" b="1" noProof="0" dirty="0">
                <a:solidFill>
                  <a:srgbClr val="7B5727"/>
                </a:solidFill>
                <a:latin typeface="Calibri" pitchFamily="34" charset="0"/>
                <a:ea typeface="Calibri" pitchFamily="34" charset="-122"/>
                <a:cs typeface="Calibri" pitchFamily="34" charset="-120"/>
              </a:rPr>
              <a:t>📌 After treatment of precancer:  </a:t>
            </a:r>
            <a:r>
              <a:rPr lang="en-GB" sz="1800" noProof="0" dirty="0">
                <a:solidFill>
                  <a:srgbClr val="23303F"/>
                </a:solidFill>
                <a:latin typeface="Calibri" pitchFamily="34" charset="0"/>
                <a:ea typeface="Calibri" pitchFamily="34" charset="-122"/>
                <a:cs typeface="Calibri" pitchFamily="34" charset="-120"/>
              </a:rPr>
              <a:t>A treated woman needs a planned follow-up test. Treatment removes the lesion, not the infection.</a:t>
            </a:r>
            <a:endParaRPr lang="en-GB" sz="1800" noProof="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109</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FOLLOW-UP</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Why follow-up after treatment is not optional</a:t>
            </a:r>
            <a:endParaRPr lang="en-GB" sz="3200" noProof="0" dirty="0"/>
          </a:p>
        </p:txBody>
      </p:sp>
      <p:sp>
        <p:nvSpPr>
          <p:cNvPr id="6" name="Shape 4"/>
          <p:cNvSpPr/>
          <p:nvPr/>
        </p:nvSpPr>
        <p:spPr>
          <a:xfrm>
            <a:off x="566928" y="1719071"/>
            <a:ext cx="3563112" cy="3677017"/>
          </a:xfrm>
          <a:prstGeom prst="roundRect">
            <a:avLst>
              <a:gd name="adj" fmla="val 3103"/>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822960" y="1901952"/>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The infection remains</a:t>
            </a:r>
            <a:endParaRPr lang="en-GB" sz="2000" noProof="0" dirty="0"/>
          </a:p>
        </p:txBody>
      </p:sp>
      <p:sp>
        <p:nvSpPr>
          <p:cNvPr id="8" name="Text 6"/>
          <p:cNvSpPr txBox="1"/>
          <p:nvPr/>
        </p:nvSpPr>
        <p:spPr>
          <a:xfrm>
            <a:off x="822960" y="2505456"/>
            <a:ext cx="3051048" cy="168249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Treatment removes or destroys the lesion. It does not clear HPV from the body.</a:t>
            </a:r>
            <a:endParaRPr lang="en-GB" sz="1800" noProof="0" dirty="0"/>
          </a:p>
        </p:txBody>
      </p:sp>
      <p:sp>
        <p:nvSpPr>
          <p:cNvPr id="9" name="Shape 7"/>
          <p:cNvSpPr/>
          <p:nvPr/>
        </p:nvSpPr>
        <p:spPr>
          <a:xfrm>
            <a:off x="4312920" y="1719071"/>
            <a:ext cx="3563112" cy="3677017"/>
          </a:xfrm>
          <a:prstGeom prst="roundRect">
            <a:avLst>
              <a:gd name="adj" fmla="val 3103"/>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4568952" y="1901952"/>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Recurrence is found by testing</a:t>
            </a:r>
            <a:endParaRPr lang="en-GB" sz="2000" noProof="0" dirty="0"/>
          </a:p>
        </p:txBody>
      </p:sp>
      <p:sp>
        <p:nvSpPr>
          <p:cNvPr id="11" name="Text 9"/>
          <p:cNvSpPr txBox="1"/>
          <p:nvPr/>
        </p:nvSpPr>
        <p:spPr>
          <a:xfrm>
            <a:off x="4568952" y="2505456"/>
            <a:ext cx="3051048" cy="168249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A proportion of women have persistent or recurrent disease, and only re-testing detects it.</a:t>
            </a:r>
            <a:endParaRPr lang="en-GB" sz="1800" noProof="0" dirty="0"/>
          </a:p>
        </p:txBody>
      </p:sp>
      <p:sp>
        <p:nvSpPr>
          <p:cNvPr id="12" name="Shape 10"/>
          <p:cNvSpPr/>
          <p:nvPr/>
        </p:nvSpPr>
        <p:spPr>
          <a:xfrm>
            <a:off x="8058912" y="1719071"/>
            <a:ext cx="3563112" cy="3677017"/>
          </a:xfrm>
          <a:prstGeom prst="roundRect">
            <a:avLst>
              <a:gd name="adj" fmla="val 3103"/>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8314944" y="1901952"/>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Record the date</a:t>
            </a:r>
            <a:endParaRPr lang="en-GB" sz="2000" noProof="0" dirty="0"/>
          </a:p>
        </p:txBody>
      </p:sp>
      <p:sp>
        <p:nvSpPr>
          <p:cNvPr id="14" name="Text 12"/>
          <p:cNvSpPr txBox="1"/>
          <p:nvPr/>
        </p:nvSpPr>
        <p:spPr>
          <a:xfrm>
            <a:off x="8314944" y="2505456"/>
            <a:ext cx="3051048" cy="168249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Write the follow-up date on her card and in the register before she leaves.</a:t>
            </a:r>
            <a:endParaRPr lang="en-GB" sz="1800" noProof="0" dirty="0"/>
          </a:p>
        </p:txBody>
      </p:sp>
      <p:sp>
        <p:nvSpPr>
          <p:cNvPr id="15" name="Shape 13"/>
          <p:cNvSpPr/>
          <p:nvPr/>
        </p:nvSpPr>
        <p:spPr>
          <a:xfrm>
            <a:off x="566928" y="5655195"/>
            <a:ext cx="11055096" cy="570629"/>
          </a:xfrm>
          <a:prstGeom prst="roundRect">
            <a:avLst>
              <a:gd name="adj" fmla="val 4667"/>
            </a:avLst>
          </a:prstGeom>
          <a:solidFill>
            <a:srgbClr val="EAF7F0"/>
          </a:solidFill>
          <a:ln w="12700">
            <a:solidFill>
              <a:srgbClr val="C0D4CB"/>
            </a:solidFill>
            <a:prstDash val="solid"/>
          </a:ln>
        </p:spPr>
        <p:txBody>
          <a:bodyPr/>
          <a:lstStyle/>
          <a:p>
            <a:endParaRPr lang="en-GB" sz="1400" noProof="0" dirty="0"/>
          </a:p>
        </p:txBody>
      </p:sp>
      <p:sp>
        <p:nvSpPr>
          <p:cNvPr id="16" name="Text 14"/>
          <p:cNvSpPr txBox="1"/>
          <p:nvPr/>
        </p:nvSpPr>
        <p:spPr>
          <a:xfrm>
            <a:off x="841248" y="5644447"/>
            <a:ext cx="10506456" cy="517370"/>
          </a:xfrm>
          <a:prstGeom prst="rect">
            <a:avLst/>
          </a:prstGeom>
          <a:noFill/>
          <a:ln/>
        </p:spPr>
        <p:txBody>
          <a:bodyPr wrap="square" lIns="0" tIns="0" rIns="0" bIns="0" rtlCol="0" anchor="ctr"/>
          <a:lstStyle/>
          <a:p>
            <a:pPr marL="0" indent="0">
              <a:lnSpc>
                <a:spcPct val="104000"/>
              </a:lnSpc>
              <a:buNone/>
            </a:pPr>
            <a:r>
              <a:rPr lang="en-GB" sz="1400" b="1" noProof="0" dirty="0">
                <a:solidFill>
                  <a:srgbClr val="19543E"/>
                </a:solidFill>
                <a:latin typeface="Calibri" pitchFamily="34" charset="0"/>
                <a:ea typeface="Calibri" pitchFamily="34" charset="-122"/>
                <a:cs typeface="Calibri" pitchFamily="34" charset="-120"/>
              </a:rPr>
              <a:t>🏥 In Rwanda:  </a:t>
            </a:r>
            <a:r>
              <a:rPr lang="en-GB" sz="1400" noProof="0" dirty="0">
                <a:solidFill>
                  <a:srgbClr val="23303F"/>
                </a:solidFill>
                <a:latin typeface="Calibri" pitchFamily="34" charset="0"/>
                <a:ea typeface="Calibri" pitchFamily="34" charset="-122"/>
                <a:cs typeface="Calibri" pitchFamily="34" charset="-120"/>
              </a:rPr>
              <a:t>The follow-up test is done 12 months after thermal ablation or LEEP, with an HPV test (VIA if HPV testing is not available).</a:t>
            </a:r>
            <a:endParaRPr lang="en-GB" sz="1400" noProof="0" dirty="0"/>
          </a:p>
        </p:txBody>
      </p:sp>
      <p:pic>
        <p:nvPicPr>
          <p:cNvPr id="17" name="Imagen 16">
            <a:extLst>
              <a:ext uri="{FF2B5EF4-FFF2-40B4-BE49-F238E27FC236}">
                <a16:creationId xmlns:a16="http://schemas.microsoft.com/office/drawing/2014/main" id="{82A5047A-66BE-5356-D27C-CAAD0F500781}"/>
              </a:ext>
            </a:extLst>
          </p:cNvPr>
          <p:cNvPicPr>
            <a:picLocks noChangeAspect="1"/>
          </p:cNvPicPr>
          <p:nvPr/>
        </p:nvPicPr>
        <p:blipFill>
          <a:blip r:embed="rId3"/>
          <a:srcRect t="17000" b="24715"/>
          <a:stretch>
            <a:fillRect/>
          </a:stretch>
        </p:blipFill>
        <p:spPr>
          <a:xfrm>
            <a:off x="717069" y="3598783"/>
            <a:ext cx="3294663" cy="1280207"/>
          </a:xfrm>
          <a:prstGeom prst="rect">
            <a:avLst/>
          </a:prstGeom>
        </p:spPr>
      </p:pic>
      <p:pic>
        <p:nvPicPr>
          <p:cNvPr id="18" name="Imagen 17">
            <a:extLst>
              <a:ext uri="{FF2B5EF4-FFF2-40B4-BE49-F238E27FC236}">
                <a16:creationId xmlns:a16="http://schemas.microsoft.com/office/drawing/2014/main" id="{79308F9E-700E-2688-F2AF-CE355D7F9498}"/>
              </a:ext>
            </a:extLst>
          </p:cNvPr>
          <p:cNvPicPr>
            <a:picLocks noChangeAspect="1"/>
          </p:cNvPicPr>
          <p:nvPr/>
        </p:nvPicPr>
        <p:blipFill>
          <a:blip r:embed="rId4"/>
          <a:srcRect t="22822" b="22017"/>
          <a:stretch>
            <a:fillRect/>
          </a:stretch>
        </p:blipFill>
        <p:spPr>
          <a:xfrm>
            <a:off x="4354021" y="3603758"/>
            <a:ext cx="3467685" cy="1275232"/>
          </a:xfrm>
          <a:prstGeom prst="rect">
            <a:avLst/>
          </a:prstGeom>
        </p:spPr>
      </p:pic>
      <p:pic>
        <p:nvPicPr>
          <p:cNvPr id="19" name="Imagen 18">
            <a:extLst>
              <a:ext uri="{FF2B5EF4-FFF2-40B4-BE49-F238E27FC236}">
                <a16:creationId xmlns:a16="http://schemas.microsoft.com/office/drawing/2014/main" id="{67006CC1-BA7D-76DA-842D-027BE9FBD17D}"/>
              </a:ext>
            </a:extLst>
          </p:cNvPr>
          <p:cNvPicPr>
            <a:picLocks noChangeAspect="1"/>
          </p:cNvPicPr>
          <p:nvPr/>
        </p:nvPicPr>
        <p:blipFill>
          <a:blip r:embed="rId5"/>
          <a:stretch>
            <a:fillRect/>
          </a:stretch>
        </p:blipFill>
        <p:spPr>
          <a:xfrm>
            <a:off x="8617459" y="3497694"/>
            <a:ext cx="2446017" cy="1630678"/>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29184"/>
            <a:ext cx="11055096" cy="274320"/>
          </a:xfrm>
          <a:prstGeom prst="rect">
            <a:avLst/>
          </a:prstGeom>
          <a:noFill/>
          <a:ln/>
        </p:spPr>
        <p:txBody>
          <a:bodyPr wrap="square" lIns="0" tIns="0" rIns="0" bIns="0" rtlCol="0" anchor="ctr"/>
          <a:lstStyle/>
          <a:p>
            <a:pPr marL="0" indent="0" algn="l">
              <a:buNone/>
            </a:pPr>
            <a:r>
              <a:rPr lang="en-GB" sz="1200" b="1" spc="400" noProof="0" dirty="0">
                <a:solidFill>
                  <a:srgbClr val="31507B"/>
                </a:solidFill>
                <a:latin typeface="Calibri" pitchFamily="34" charset="0"/>
                <a:ea typeface="Calibri" pitchFamily="34" charset="-122"/>
                <a:cs typeface="Calibri" pitchFamily="34" charset="-120"/>
              </a:rPr>
              <a:t>SESSION 2 · FOLLOW-UP</a:t>
            </a:r>
            <a:endParaRPr lang="en-GB" sz="1200" dirty="0"/>
          </a:p>
        </p:txBody>
      </p:sp>
      <p:sp>
        <p:nvSpPr>
          <p:cNvPr id="3"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The 12-month follow-up test: what the result means</a:t>
            </a:r>
          </a:p>
        </p:txBody>
      </p:sp>
      <p:sp>
        <p:nvSpPr>
          <p:cNvPr id="4" name="Shape 4"/>
          <p:cNvSpPr/>
          <p:nvPr/>
        </p:nvSpPr>
        <p:spPr>
          <a:xfrm>
            <a:off x="586928" y="1450000"/>
            <a:ext cx="2560000" cy="560000"/>
          </a:xfrm>
          <a:prstGeom prst="rect">
            <a:avLst/>
          </a:prstGeom>
          <a:solidFill>
            <a:srgbClr val="1F4E96"/>
          </a:solidFill>
          <a:ln w="12700">
            <a:solidFill>
              <a:srgbClr val="1F4E96"/>
            </a:solidFill>
          </a:ln>
        </p:spPr>
        <p:txBody>
          <a:bodyPr wrap="square" lIns="45720" tIns="45720" rIns="45720" bIns="45720" rtlCol="0" anchor="ctr"/>
          <a:lstStyle/>
          <a:p>
            <a:pPr marL="0" indent="0" algn="ctr">
              <a:buNone/>
            </a:pPr>
            <a:r>
              <a:rPr lang="en-GB" sz="1600" b="1" noProof="0" dirty="0">
                <a:solidFill>
                  <a:srgbClr val="FFFFFF"/>
                </a:solidFill>
                <a:latin typeface="Calibri" pitchFamily="34" charset="0"/>
                <a:ea typeface="Calibri" pitchFamily="34" charset="-122"/>
                <a:cs typeface="Calibri" pitchFamily="34" charset="-120"/>
              </a:rPr>
              <a:t>Follow-up result</a:t>
            </a:r>
            <a:endParaRPr lang="en-GB" sz="1600" dirty="0"/>
          </a:p>
        </p:txBody>
      </p:sp>
      <p:sp>
        <p:nvSpPr>
          <p:cNvPr id="5" name="Shape 5"/>
          <p:cNvSpPr/>
          <p:nvPr/>
        </p:nvSpPr>
        <p:spPr>
          <a:xfrm>
            <a:off x="3186928" y="1450000"/>
            <a:ext cx="4187548" cy="560000"/>
          </a:xfrm>
          <a:prstGeom prst="rect">
            <a:avLst/>
          </a:prstGeom>
          <a:solidFill>
            <a:srgbClr val="1F4E96"/>
          </a:solidFill>
          <a:ln w="12700">
            <a:solidFill>
              <a:srgbClr val="1F4E96"/>
            </a:solidFill>
          </a:ln>
        </p:spPr>
        <p:txBody>
          <a:bodyPr wrap="square" lIns="45720" tIns="45720" rIns="45720" bIns="45720" rtlCol="0" anchor="ctr"/>
          <a:lstStyle/>
          <a:p>
            <a:pPr marL="0" indent="0" algn="ctr">
              <a:buNone/>
            </a:pPr>
            <a:r>
              <a:rPr lang="en-GB" sz="1600" b="1" noProof="0" dirty="0">
                <a:solidFill>
                  <a:srgbClr val="FFFFFF"/>
                </a:solidFill>
                <a:latin typeface="Calibri" pitchFamily="34" charset="0"/>
                <a:ea typeface="Calibri" pitchFamily="34" charset="-122"/>
                <a:cs typeface="Calibri" pitchFamily="34" charset="-120"/>
              </a:rPr>
              <a:t>General population</a:t>
            </a:r>
            <a:endParaRPr lang="en-GB" sz="1600" dirty="0"/>
          </a:p>
        </p:txBody>
      </p:sp>
      <p:sp>
        <p:nvSpPr>
          <p:cNvPr id="6" name="Shape 6"/>
          <p:cNvSpPr/>
          <p:nvPr/>
        </p:nvSpPr>
        <p:spPr>
          <a:xfrm>
            <a:off x="7414476" y="1450000"/>
            <a:ext cx="4187548" cy="560000"/>
          </a:xfrm>
          <a:prstGeom prst="rect">
            <a:avLst/>
          </a:prstGeom>
          <a:solidFill>
            <a:srgbClr val="1F4E96"/>
          </a:solidFill>
          <a:ln w="12700">
            <a:solidFill>
              <a:srgbClr val="1F4E96"/>
            </a:solidFill>
          </a:ln>
        </p:spPr>
        <p:txBody>
          <a:bodyPr wrap="square" lIns="45720" tIns="45720" rIns="45720" bIns="45720" rtlCol="0" anchor="ctr"/>
          <a:lstStyle/>
          <a:p>
            <a:pPr marL="0" indent="0" algn="ctr">
              <a:buNone/>
            </a:pPr>
            <a:r>
              <a:rPr lang="en-GB" sz="1600" b="1" noProof="0" dirty="0">
                <a:solidFill>
                  <a:srgbClr val="FFFFFF"/>
                </a:solidFill>
                <a:latin typeface="Calibri" pitchFamily="34" charset="0"/>
                <a:ea typeface="Calibri" pitchFamily="34" charset="-122"/>
                <a:cs typeface="Calibri" pitchFamily="34" charset="-120"/>
              </a:rPr>
              <a:t>Women living with HIV</a:t>
            </a:r>
            <a:endParaRPr lang="en-GB" sz="1600" dirty="0"/>
          </a:p>
        </p:txBody>
      </p:sp>
      <p:sp>
        <p:nvSpPr>
          <p:cNvPr id="7" name="Shape 7"/>
          <p:cNvSpPr/>
          <p:nvPr/>
        </p:nvSpPr>
        <p:spPr>
          <a:xfrm>
            <a:off x="586928" y="2050000"/>
            <a:ext cx="2560000" cy="900000"/>
          </a:xfrm>
          <a:prstGeom prst="rect">
            <a:avLst/>
          </a:prstGeom>
          <a:solidFill>
            <a:srgbClr val="EAF7F0"/>
          </a:solidFill>
          <a:ln w="12700">
            <a:solidFill>
              <a:srgbClr val="C0D4CB"/>
            </a:solidFill>
          </a:ln>
        </p:spPr>
        <p:txBody>
          <a:bodyPr wrap="square" lIns="91440" tIns="91440" rIns="91440" bIns="91440" rtlCol="0" anchor="ctr"/>
          <a:lstStyle/>
          <a:p>
            <a:pPr marL="0" indent="0" algn="l">
              <a:buNone/>
            </a:pPr>
            <a:r>
              <a:rPr lang="en-GB" sz="1700" b="1" noProof="0" dirty="0">
                <a:solidFill>
                  <a:srgbClr val="19543E"/>
                </a:solidFill>
                <a:latin typeface="Calibri" pitchFamily="34" charset="0"/>
                <a:ea typeface="Calibri" pitchFamily="34" charset="-122"/>
                <a:cs typeface="Calibri" pitchFamily="34" charset="-120"/>
              </a:rPr>
              <a:t>🟢  Negative</a:t>
            </a:r>
            <a:endParaRPr lang="en-GB" sz="1700" dirty="0"/>
          </a:p>
        </p:txBody>
      </p:sp>
      <p:sp>
        <p:nvSpPr>
          <p:cNvPr id="8" name="Shape 8"/>
          <p:cNvSpPr/>
          <p:nvPr/>
        </p:nvSpPr>
        <p:spPr>
          <a:xfrm>
            <a:off x="3186928" y="2050000"/>
            <a:ext cx="4187548" cy="900000"/>
          </a:xfrm>
          <a:prstGeom prst="rect">
            <a:avLst/>
          </a:prstGeom>
          <a:solidFill>
            <a:srgbClr val="FFFFFF"/>
          </a:solidFill>
          <a:ln w="12700">
            <a:solidFill>
              <a:srgbClr val="E0E3EA"/>
            </a:solidFill>
          </a:ln>
        </p:spPr>
        <p:txBody>
          <a:bodyPr wrap="square" lIns="91440" tIns="91440" rIns="91440" bIns="91440" rtlCol="0" anchor="ctr"/>
          <a:lstStyle/>
          <a:p>
            <a:pPr marL="0" indent="0" algn="l">
              <a:buNone/>
            </a:pPr>
            <a:r>
              <a:rPr lang="en-GB" sz="1600" noProof="0" dirty="0">
                <a:solidFill>
                  <a:srgbClr val="23303F"/>
                </a:solidFill>
                <a:latin typeface="Calibri" pitchFamily="34" charset="0"/>
                <a:ea typeface="Calibri" pitchFamily="34" charset="-122"/>
                <a:cs typeface="Calibri" pitchFamily="34" charset="-120"/>
              </a:rPr>
              <a:t>Return to routine screening at the usual interval.</a:t>
            </a:r>
            <a:endParaRPr lang="en-GB" sz="1600" dirty="0"/>
          </a:p>
        </p:txBody>
      </p:sp>
      <p:sp>
        <p:nvSpPr>
          <p:cNvPr id="9" name="Shape 9"/>
          <p:cNvSpPr/>
          <p:nvPr/>
        </p:nvSpPr>
        <p:spPr>
          <a:xfrm>
            <a:off x="7414476" y="2050000"/>
            <a:ext cx="4187548" cy="900000"/>
          </a:xfrm>
          <a:prstGeom prst="rect">
            <a:avLst/>
          </a:prstGeom>
          <a:solidFill>
            <a:srgbClr val="FFFFFF"/>
          </a:solidFill>
          <a:ln w="12700">
            <a:solidFill>
              <a:srgbClr val="E0E3EA"/>
            </a:solidFill>
          </a:ln>
        </p:spPr>
        <p:txBody>
          <a:bodyPr wrap="square" lIns="91440" tIns="91440" rIns="91440" bIns="91440" rtlCol="0" anchor="ctr"/>
          <a:lstStyle/>
          <a:p>
            <a:pPr marL="0" indent="0" algn="l">
              <a:buNone/>
            </a:pPr>
            <a:r>
              <a:rPr lang="en-GB" sz="1600" noProof="0" dirty="0">
                <a:solidFill>
                  <a:srgbClr val="23303F"/>
                </a:solidFill>
                <a:latin typeface="Calibri" pitchFamily="34" charset="0"/>
                <a:ea typeface="Calibri" pitchFamily="34" charset="-122"/>
                <a:cs typeface="Calibri" pitchFamily="34" charset="-120"/>
              </a:rPr>
              <a:t>Repeat the test within 12 months. If negative again, return to routine screening every 5 years.</a:t>
            </a:r>
            <a:endParaRPr lang="en-GB" sz="1600" dirty="0"/>
          </a:p>
        </p:txBody>
      </p:sp>
      <p:sp>
        <p:nvSpPr>
          <p:cNvPr id="10" name="Shape 10"/>
          <p:cNvSpPr/>
          <p:nvPr/>
        </p:nvSpPr>
        <p:spPr>
          <a:xfrm>
            <a:off x="586928" y="2990000"/>
            <a:ext cx="2560000" cy="900000"/>
          </a:xfrm>
          <a:prstGeom prst="rect">
            <a:avLst/>
          </a:prstGeom>
          <a:solidFill>
            <a:srgbClr val="FFF2DF"/>
          </a:solidFill>
          <a:ln w="12700">
            <a:solidFill>
              <a:srgbClr val="E8DDC7"/>
            </a:solidFill>
          </a:ln>
        </p:spPr>
        <p:txBody>
          <a:bodyPr wrap="square" lIns="91440" tIns="91440" rIns="91440" bIns="91440" rtlCol="0" anchor="ctr"/>
          <a:lstStyle/>
          <a:p>
            <a:pPr marL="0" indent="0" algn="l">
              <a:buNone/>
            </a:pPr>
            <a:r>
              <a:rPr lang="en-GB" sz="1700" b="1" noProof="0" dirty="0">
                <a:solidFill>
                  <a:srgbClr val="7B5727"/>
                </a:solidFill>
                <a:latin typeface="Calibri" pitchFamily="34" charset="0"/>
                <a:ea typeface="Calibri" pitchFamily="34" charset="-122"/>
                <a:cs typeface="Calibri" pitchFamily="34" charset="-120"/>
              </a:rPr>
              <a:t>🟠  Positive</a:t>
            </a:r>
            <a:endParaRPr lang="en-GB" sz="1700" dirty="0"/>
          </a:p>
        </p:txBody>
      </p:sp>
      <p:sp>
        <p:nvSpPr>
          <p:cNvPr id="11" name="Shape 11"/>
          <p:cNvSpPr/>
          <p:nvPr/>
        </p:nvSpPr>
        <p:spPr>
          <a:xfrm>
            <a:off x="3186928" y="2990000"/>
            <a:ext cx="4187548" cy="900000"/>
          </a:xfrm>
          <a:prstGeom prst="rect">
            <a:avLst/>
          </a:prstGeom>
          <a:solidFill>
            <a:srgbClr val="FFFFFF"/>
          </a:solidFill>
          <a:ln w="12700">
            <a:solidFill>
              <a:srgbClr val="E0E3EA"/>
            </a:solidFill>
          </a:ln>
        </p:spPr>
        <p:txBody>
          <a:bodyPr wrap="square" lIns="91440" tIns="91440" rIns="91440" bIns="91440" rtlCol="0" anchor="ctr"/>
          <a:lstStyle/>
          <a:p>
            <a:pPr marL="0" indent="0" algn="l">
              <a:buNone/>
            </a:pPr>
            <a:r>
              <a:rPr lang="en-GB" sz="1600" noProof="0" dirty="0">
                <a:solidFill>
                  <a:srgbClr val="23303F"/>
                </a:solidFill>
                <a:latin typeface="Calibri" pitchFamily="34" charset="0"/>
                <a:ea typeface="Calibri" pitchFamily="34" charset="-122"/>
                <a:cs typeface="Calibri" pitchFamily="34" charset="-120"/>
              </a:rPr>
              <a:t>Re-treat with LEEP (LLETZ).</a:t>
            </a:r>
            <a:endParaRPr lang="en-GB" sz="1600" dirty="0"/>
          </a:p>
        </p:txBody>
      </p:sp>
      <p:sp>
        <p:nvSpPr>
          <p:cNvPr id="12" name="Shape 12"/>
          <p:cNvSpPr/>
          <p:nvPr/>
        </p:nvSpPr>
        <p:spPr>
          <a:xfrm>
            <a:off x="7414476" y="2990000"/>
            <a:ext cx="4187548" cy="900000"/>
          </a:xfrm>
          <a:prstGeom prst="rect">
            <a:avLst/>
          </a:prstGeom>
          <a:solidFill>
            <a:srgbClr val="FFFFFF"/>
          </a:solidFill>
          <a:ln w="12700">
            <a:solidFill>
              <a:srgbClr val="E0E3EA"/>
            </a:solidFill>
          </a:ln>
        </p:spPr>
        <p:txBody>
          <a:bodyPr wrap="square" lIns="91440" tIns="91440" rIns="91440" bIns="91440" rtlCol="0" anchor="ctr"/>
          <a:lstStyle/>
          <a:p>
            <a:pPr marL="0" indent="0" algn="l">
              <a:buNone/>
            </a:pPr>
            <a:r>
              <a:rPr lang="en-GB" sz="1600" noProof="0" dirty="0">
                <a:solidFill>
                  <a:srgbClr val="23303F"/>
                </a:solidFill>
                <a:latin typeface="Calibri" pitchFamily="34" charset="0"/>
                <a:ea typeface="Calibri" pitchFamily="34" charset="-122"/>
                <a:cs typeface="Calibri" pitchFamily="34" charset="-120"/>
              </a:rPr>
              <a:t>Re-treat with LEEP (LLETZ).</a:t>
            </a:r>
            <a:endParaRPr lang="en-GB" sz="1600" dirty="0"/>
          </a:p>
        </p:txBody>
      </p:sp>
      <p:sp>
        <p:nvSpPr>
          <p:cNvPr id="13" name="Shape 13"/>
          <p:cNvSpPr/>
          <p:nvPr/>
        </p:nvSpPr>
        <p:spPr>
          <a:xfrm>
            <a:off x="586928" y="3930000"/>
            <a:ext cx="2560000" cy="900000"/>
          </a:xfrm>
          <a:prstGeom prst="rect">
            <a:avLst/>
          </a:prstGeom>
          <a:solidFill>
            <a:srgbClr val="FDE9E8"/>
          </a:solidFill>
          <a:ln w="12700">
            <a:solidFill>
              <a:srgbClr val="F0CFCE"/>
            </a:solidFill>
          </a:ln>
        </p:spPr>
        <p:txBody>
          <a:bodyPr wrap="square" lIns="91440" tIns="91440" rIns="91440" bIns="91440" rtlCol="0" anchor="ctr"/>
          <a:lstStyle/>
          <a:p>
            <a:pPr marL="0" indent="0" algn="l">
              <a:buNone/>
            </a:pPr>
            <a:r>
              <a:rPr lang="en-GB" sz="1700" b="1" noProof="0" dirty="0">
                <a:solidFill>
                  <a:srgbClr val="8E2531"/>
                </a:solidFill>
                <a:latin typeface="Calibri" pitchFamily="34" charset="0"/>
                <a:ea typeface="Calibri" pitchFamily="34" charset="-122"/>
                <a:cs typeface="Calibri" pitchFamily="34" charset="-120"/>
              </a:rPr>
              <a:t>🔴  Suspected cancer</a:t>
            </a:r>
            <a:endParaRPr lang="en-GB" sz="1700" dirty="0"/>
          </a:p>
        </p:txBody>
      </p:sp>
      <p:sp>
        <p:nvSpPr>
          <p:cNvPr id="14" name="Shape 14"/>
          <p:cNvSpPr/>
          <p:nvPr/>
        </p:nvSpPr>
        <p:spPr>
          <a:xfrm>
            <a:off x="3186928" y="3930000"/>
            <a:ext cx="4187548" cy="900000"/>
          </a:xfrm>
          <a:prstGeom prst="rect">
            <a:avLst/>
          </a:prstGeom>
          <a:solidFill>
            <a:srgbClr val="FFFFFF"/>
          </a:solidFill>
          <a:ln w="12700">
            <a:solidFill>
              <a:srgbClr val="E0E3EA"/>
            </a:solidFill>
          </a:ln>
        </p:spPr>
        <p:txBody>
          <a:bodyPr wrap="square" lIns="91440" tIns="91440" rIns="91440" bIns="91440" rtlCol="0" anchor="ctr"/>
          <a:lstStyle/>
          <a:p>
            <a:pPr marL="0" indent="0" algn="l">
              <a:buNone/>
            </a:pPr>
            <a:r>
              <a:rPr lang="en-GB" sz="1600" noProof="0" dirty="0">
                <a:solidFill>
                  <a:srgbClr val="23303F"/>
                </a:solidFill>
                <a:latin typeface="Calibri" pitchFamily="34" charset="0"/>
                <a:ea typeface="Calibri" pitchFamily="34" charset="-122"/>
                <a:cs typeface="Calibri" pitchFamily="34" charset="-120"/>
              </a:rPr>
              <a:t>Refer for evaluation, biopsy and further management.</a:t>
            </a:r>
            <a:endParaRPr lang="en-GB" sz="1600" dirty="0"/>
          </a:p>
        </p:txBody>
      </p:sp>
      <p:sp>
        <p:nvSpPr>
          <p:cNvPr id="15" name="Shape 15"/>
          <p:cNvSpPr/>
          <p:nvPr/>
        </p:nvSpPr>
        <p:spPr>
          <a:xfrm>
            <a:off x="7414476" y="3930000"/>
            <a:ext cx="4187548" cy="900000"/>
          </a:xfrm>
          <a:prstGeom prst="rect">
            <a:avLst/>
          </a:prstGeom>
          <a:solidFill>
            <a:srgbClr val="FFFFFF"/>
          </a:solidFill>
          <a:ln w="12700">
            <a:solidFill>
              <a:srgbClr val="E0E3EA"/>
            </a:solidFill>
          </a:ln>
        </p:spPr>
        <p:txBody>
          <a:bodyPr wrap="square" lIns="91440" tIns="91440" rIns="91440" bIns="91440" rtlCol="0" anchor="ctr"/>
          <a:lstStyle/>
          <a:p>
            <a:pPr marL="0" indent="0" algn="l">
              <a:buNone/>
            </a:pPr>
            <a:r>
              <a:rPr lang="en-GB" sz="1600" noProof="0" dirty="0">
                <a:solidFill>
                  <a:srgbClr val="23303F"/>
                </a:solidFill>
                <a:latin typeface="Calibri" pitchFamily="34" charset="0"/>
                <a:ea typeface="Calibri" pitchFamily="34" charset="-122"/>
                <a:cs typeface="Calibri" pitchFamily="34" charset="-120"/>
              </a:rPr>
              <a:t>Refer for evaluation, biopsy and further management.</a:t>
            </a:r>
            <a:endParaRPr lang="en-GB" sz="1600" dirty="0"/>
          </a:p>
        </p:txBody>
      </p:sp>
      <p:sp>
        <p:nvSpPr>
          <p:cNvPr id="16" name="Shape 16"/>
          <p:cNvSpPr/>
          <p:nvPr/>
        </p:nvSpPr>
        <p:spPr>
          <a:xfrm>
            <a:off x="566928" y="5020000"/>
            <a:ext cx="11055096" cy="1180000"/>
          </a:xfrm>
          <a:prstGeom prst="roundRect">
            <a:avLst>
              <a:gd name="adj" fmla="val 3000"/>
            </a:avLst>
          </a:prstGeom>
          <a:solidFill>
            <a:srgbClr val="ECF3FD"/>
          </a:solidFill>
          <a:ln w="12700">
            <a:solidFill>
              <a:srgbClr val="E0E3EA"/>
            </a:solidFill>
          </a:ln>
        </p:spPr>
        <p:txBody>
          <a:bodyPr/>
          <a:lstStyle/>
          <a:p>
            <a:endParaRPr lang="en-GB" sz="1600" dirty="0"/>
          </a:p>
        </p:txBody>
      </p:sp>
      <p:sp>
        <p:nvSpPr>
          <p:cNvPr id="17" name="Text 17"/>
          <p:cNvSpPr txBox="1"/>
          <p:nvPr/>
        </p:nvSpPr>
        <p:spPr>
          <a:xfrm>
            <a:off x="841248" y="5070000"/>
            <a:ext cx="10506456" cy="1080000"/>
          </a:xfrm>
          <a:prstGeom prst="rect">
            <a:avLst/>
          </a:prstGeom>
          <a:noFill/>
          <a:ln/>
        </p:spPr>
        <p:txBody>
          <a:bodyPr wrap="square" lIns="0" tIns="0" rIns="0" bIns="0" rtlCol="0" anchor="ctr"/>
          <a:lstStyle/>
          <a:p>
            <a:pPr marL="0" indent="0" algn="l">
              <a:buNone/>
            </a:pPr>
            <a:r>
              <a:rPr lang="en-GB" sz="1500" b="1" noProof="0" dirty="0">
                <a:solidFill>
                  <a:srgbClr val="10305A"/>
                </a:solidFill>
                <a:latin typeface="Calibri" pitchFamily="34" charset="0"/>
                <a:ea typeface="Calibri" pitchFamily="34" charset="-122"/>
                <a:cs typeface="Calibri" pitchFamily="34" charset="-120"/>
              </a:rPr>
              <a:t>📌 Applies after:  </a:t>
            </a:r>
            <a:r>
              <a:rPr lang="en-GB" sz="1500" noProof="0" dirty="0">
                <a:solidFill>
                  <a:srgbClr val="23303F"/>
                </a:solidFill>
                <a:latin typeface="Calibri" pitchFamily="34" charset="0"/>
                <a:ea typeface="Calibri" pitchFamily="34" charset="-122"/>
                <a:cs typeface="Calibri" pitchFamily="34" charset="-120"/>
              </a:rPr>
              <a:t>Thermal ablation or LEEP without histology results, or treatment based on histology showing CIN 2, CIN 3 or AIS.</a:t>
            </a:r>
            <a:endParaRPr lang="en-GB" sz="1500" dirty="0"/>
          </a:p>
        </p:txBody>
      </p:sp>
      <p:sp>
        <p:nvSpPr>
          <p:cNvPr id="18" name="Text 18"/>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dirty="0"/>
          </a:p>
        </p:txBody>
      </p:sp>
      <p:sp>
        <p:nvSpPr>
          <p:cNvPr id="19" name="Text 19"/>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110</a:t>
            </a:r>
            <a:endParaRPr lang="en-GB" sz="11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111</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CLINICAL CASE</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 Case Progression: Immaculée</a:t>
            </a:r>
            <a:endParaRPr lang="en-GB" sz="3200" noProof="0" dirty="0"/>
          </a:p>
        </p:txBody>
      </p:sp>
      <p:sp>
        <p:nvSpPr>
          <p:cNvPr id="6" name="Shape 4"/>
          <p:cNvSpPr/>
          <p:nvPr/>
        </p:nvSpPr>
        <p:spPr>
          <a:xfrm>
            <a:off x="566928" y="1719072"/>
            <a:ext cx="11055096" cy="3931920"/>
          </a:xfrm>
          <a:prstGeom prst="roundRect">
            <a:avLst>
              <a:gd name="adj" fmla="val 2093"/>
            </a:avLst>
          </a:prstGeom>
          <a:solidFill>
            <a:srgbClr val="FFF8E7"/>
          </a:solidFill>
          <a:ln w="12700">
            <a:solidFill>
              <a:srgbClr val="EADFC3"/>
            </a:solidFill>
            <a:prstDash val="solid"/>
          </a:ln>
        </p:spPr>
        <p:txBody>
          <a:bodyPr/>
          <a:lstStyle/>
          <a:p>
            <a:endParaRPr lang="en-GB" noProof="0" dirty="0"/>
          </a:p>
        </p:txBody>
      </p:sp>
      <p:sp>
        <p:nvSpPr>
          <p:cNvPr id="7" name="Text 5"/>
          <p:cNvSpPr txBox="1"/>
          <p:nvPr/>
        </p:nvSpPr>
        <p:spPr>
          <a:xfrm>
            <a:off x="841248" y="1847088"/>
            <a:ext cx="10506456" cy="457200"/>
          </a:xfrm>
          <a:prstGeom prst="rect">
            <a:avLst/>
          </a:prstGeom>
          <a:noFill/>
          <a:ln/>
        </p:spPr>
        <p:txBody>
          <a:bodyPr wrap="square" lIns="0" tIns="0" rIns="0" bIns="0" rtlCol="0" anchor="ctr"/>
          <a:lstStyle/>
          <a:p>
            <a:pPr marL="0" indent="0">
              <a:buNone/>
            </a:pPr>
            <a:r>
              <a:rPr lang="en-GB" sz="2000" b="1" noProof="0" dirty="0" err="1">
                <a:solidFill>
                  <a:srgbClr val="10305A"/>
                </a:solidFill>
                <a:latin typeface="Cambria" pitchFamily="34" charset="0"/>
                <a:ea typeface="Cambria" pitchFamily="34" charset="-122"/>
                <a:cs typeface="Cambria" pitchFamily="34" charset="-120"/>
              </a:rPr>
              <a:t>Mukamana</a:t>
            </a:r>
            <a:r>
              <a:rPr lang="en-GB" sz="2000" b="1" noProof="0" dirty="0">
                <a:solidFill>
                  <a:srgbClr val="10305A"/>
                </a:solidFill>
                <a:latin typeface="Cambria" pitchFamily="34" charset="0"/>
                <a:ea typeface="Cambria" pitchFamily="34" charset="-122"/>
                <a:cs typeface="Cambria" pitchFamily="34" charset="-120"/>
              </a:rPr>
              <a:t> Immaculée, 38</a:t>
            </a:r>
            <a:endParaRPr lang="en-GB" sz="2000" noProof="0" dirty="0"/>
          </a:p>
        </p:txBody>
      </p:sp>
      <p:sp>
        <p:nvSpPr>
          <p:cNvPr id="8" name="Text 6"/>
          <p:cNvSpPr txBox="1"/>
          <p:nvPr/>
        </p:nvSpPr>
        <p:spPr>
          <a:xfrm>
            <a:off x="841248" y="2359152"/>
            <a:ext cx="10506456" cy="3163824"/>
          </a:xfrm>
          <a:prstGeom prst="rect">
            <a:avLst/>
          </a:prstGeom>
          <a:noFill/>
          <a:ln/>
        </p:spPr>
        <p:txBody>
          <a:bodyPr wrap="square" lIns="0" tIns="0" rIns="0" bIns="0" rtlCol="0" anchor="t"/>
          <a:lstStyle/>
          <a:p>
            <a:pPr marL="0" indent="0">
              <a:lnSpc>
                <a:spcPct val="105000"/>
              </a:lnSpc>
              <a:spcAft>
                <a:spcPts val="800"/>
              </a:spcAft>
              <a:buNone/>
            </a:pPr>
            <a:r>
              <a:rPr lang="en-GB" sz="1800" b="1" noProof="0" dirty="0">
                <a:solidFill>
                  <a:srgbClr val="31507B"/>
                </a:solidFill>
                <a:latin typeface="Calibri" pitchFamily="34" charset="0"/>
                <a:ea typeface="Calibri" pitchFamily="34" charset="-122"/>
                <a:cs typeface="Calibri" pitchFamily="34" charset="-120"/>
              </a:rPr>
              <a:t>What you already know: </a:t>
            </a:r>
            <a:r>
              <a:rPr lang="en-GB" sz="1800" noProof="0" dirty="0">
                <a:solidFill>
                  <a:srgbClr val="23303F"/>
                </a:solidFill>
                <a:latin typeface="Calibri" pitchFamily="34" charset="0"/>
                <a:ea typeface="Calibri" pitchFamily="34" charset="-122"/>
                <a:cs typeface="Calibri" pitchFamily="34" charset="-120"/>
              </a:rPr>
              <a:t>Immaculée attended screening with no symptoms. She has never been screened before and is HIV negative.</a:t>
            </a:r>
            <a:endParaRPr lang="en-GB" sz="1800" noProof="0" dirty="0"/>
          </a:p>
          <a:p>
            <a:pPr marL="0" indent="0">
              <a:lnSpc>
                <a:spcPct val="105000"/>
              </a:lnSpc>
              <a:spcAft>
                <a:spcPts val="800"/>
              </a:spcAft>
              <a:buNone/>
            </a:pPr>
            <a:r>
              <a:rPr lang="en-GB" sz="1800" b="1" noProof="0" dirty="0">
                <a:solidFill>
                  <a:srgbClr val="31507B"/>
                </a:solidFill>
                <a:latin typeface="Calibri" pitchFamily="34" charset="0"/>
                <a:ea typeface="Calibri" pitchFamily="34" charset="-122"/>
                <a:cs typeface="Calibri" pitchFamily="34" charset="-120"/>
              </a:rPr>
              <a:t>New information: </a:t>
            </a:r>
            <a:r>
              <a:rPr lang="en-GB" sz="1800" noProof="0" dirty="0">
                <a:solidFill>
                  <a:srgbClr val="23303F"/>
                </a:solidFill>
                <a:latin typeface="Calibri" pitchFamily="34" charset="0"/>
                <a:ea typeface="Calibri" pitchFamily="34" charset="-122"/>
                <a:cs typeface="Calibri" pitchFamily="34" charset="-120"/>
              </a:rPr>
              <a:t>Her HPV test is positive. On inspection with acetic acid there is an acetowhite area on the anterior cervix. The upper edge of it disappears into the cervical canal and cannot be seen. The cervix is otherwise smooth and does not bleed on contact.</a:t>
            </a:r>
            <a:endParaRPr lang="en-GB" sz="1800" noProof="0" dirty="0"/>
          </a:p>
          <a:p>
            <a:pPr marL="0" indent="0">
              <a:lnSpc>
                <a:spcPct val="105000"/>
              </a:lnSpc>
              <a:spcAft>
                <a:spcPts val="800"/>
              </a:spcAft>
              <a:buNone/>
            </a:pPr>
            <a:r>
              <a:rPr lang="en-GB" sz="1800" b="1" noProof="0" dirty="0">
                <a:solidFill>
                  <a:srgbClr val="31507B"/>
                </a:solidFill>
                <a:latin typeface="Calibri" pitchFamily="34" charset="0"/>
                <a:ea typeface="Calibri" pitchFamily="34" charset="-122"/>
                <a:cs typeface="Calibri" pitchFamily="34" charset="-120"/>
              </a:rPr>
              <a:t>What she says: </a:t>
            </a:r>
            <a:r>
              <a:rPr lang="en-GB" sz="1800" noProof="0" dirty="0">
                <a:solidFill>
                  <a:srgbClr val="23303F"/>
                </a:solidFill>
                <a:latin typeface="Calibri" pitchFamily="34" charset="0"/>
                <a:ea typeface="Calibri" pitchFamily="34" charset="-122"/>
                <a:cs typeface="Calibri" pitchFamily="34" charset="-120"/>
              </a:rPr>
              <a:t>She asks whether this means she has cancer, and whether she will still be able to have another child.</a:t>
            </a:r>
            <a:endParaRPr lang="en-GB" sz="1800" noProof="0" dirty="0"/>
          </a:p>
          <a:p>
            <a:pPr marL="0" indent="0">
              <a:lnSpc>
                <a:spcPct val="105000"/>
              </a:lnSpc>
              <a:spcAft>
                <a:spcPts val="800"/>
              </a:spcAft>
              <a:buNone/>
            </a:pPr>
            <a:r>
              <a:rPr lang="en-GB" sz="1800" b="1" noProof="0" dirty="0">
                <a:solidFill>
                  <a:srgbClr val="31507B"/>
                </a:solidFill>
                <a:latin typeface="Calibri" pitchFamily="34" charset="0"/>
                <a:ea typeface="Calibri" pitchFamily="34" charset="-122"/>
                <a:cs typeface="Calibri" pitchFamily="34" charset="-120"/>
              </a:rPr>
              <a:t>What would you do next?: </a:t>
            </a:r>
            <a:r>
              <a:rPr lang="en-GB" sz="1800" noProof="0" dirty="0">
                <a:solidFill>
                  <a:srgbClr val="23303F"/>
                </a:solidFill>
                <a:latin typeface="Calibri" pitchFamily="34" charset="0"/>
                <a:ea typeface="Calibri" pitchFamily="34" charset="-122"/>
                <a:cs typeface="Calibri" pitchFamily="34" charset="-120"/>
              </a:rPr>
              <a:t>Decide whether she can be treated today, and decide what you will say about her result.</a:t>
            </a:r>
            <a:endParaRPr lang="en-GB" sz="1800" noProof="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112</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CLINICAL CASE</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What is the correct next step for Immaculée?</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The whole lesion and the whole transformation zone cannot be seen. What should happen?</a:t>
            </a:r>
            <a:endParaRPr lang="en-GB" sz="2000" noProof="0" dirty="0"/>
          </a:p>
        </p:txBody>
      </p:sp>
      <p:sp>
        <p:nvSpPr>
          <p:cNvPr id="9" name="Shape 7"/>
          <p:cNvSpPr/>
          <p:nvPr/>
        </p:nvSpPr>
        <p:spPr>
          <a:xfrm>
            <a:off x="566928" y="2322576"/>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Refer for excisional treatment or specialist assessment</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7" name="Shape 5"/>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Ablate the visible part of the lesion today</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Repeat the HPV test in five years</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Reassure her that no action is needed, as she has no symptoms</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A
Feedback: </a:t>
            </a:r>
            <a:r>
              <a:rPr lang="en-GB" sz="1800" noProof="0" dirty="0">
                <a:solidFill>
                  <a:srgbClr val="23303F"/>
                </a:solidFill>
                <a:latin typeface="Calibri" pitchFamily="34" charset="0"/>
                <a:ea typeface="Calibri" pitchFamily="34" charset="-122"/>
                <a:cs typeface="Calibri" pitchFamily="34" charset="-120"/>
              </a:rPr>
              <a:t>Ablation is only appropriate when the whole lesion and the whole transformation zone can be seen. Treating the visible part would leave disease in the canal. She is referred to the district hospital for LEEP. Tell her plainly that this is not cancer and that treatment preserves fertility.</a:t>
            </a:r>
            <a:endParaRPr lang="en-GB" sz="1800" noProof="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113</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KNOWLEDGE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Knowledge check: question 1 of 6</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Screening applies to:</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Women with concerning symptoms</a:t>
            </a:r>
            <a:endParaRPr lang="en-GB" sz="1800" noProof="0" dirty="0"/>
          </a:p>
        </p:txBody>
      </p:sp>
      <p:sp>
        <p:nvSpPr>
          <p:cNvPr id="13" name="Shape 11"/>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Women awaiting surgery</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Women already diagnosed with cancer</a:t>
            </a:r>
            <a:endParaRPr lang="en-GB" sz="1800" noProof="0" dirty="0"/>
          </a:p>
        </p:txBody>
      </p:sp>
      <p:sp>
        <p:nvSpPr>
          <p:cNvPr id="9" name="Shape 7"/>
          <p:cNvSpPr/>
          <p:nvPr/>
        </p:nvSpPr>
        <p:spPr>
          <a:xfrm>
            <a:off x="566928" y="4050792"/>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Eligible women who have no symptoms</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D
Feedback: </a:t>
            </a:r>
            <a:r>
              <a:rPr lang="en-GB" sz="1800" noProof="0" dirty="0">
                <a:solidFill>
                  <a:srgbClr val="23303F"/>
                </a:solidFill>
                <a:latin typeface="Calibri" pitchFamily="34" charset="0"/>
                <a:ea typeface="Calibri" pitchFamily="34" charset="-122"/>
                <a:cs typeface="Calibri" pitchFamily="34" charset="-120"/>
              </a:rPr>
              <a:t>Screening tests eligible women who feel well, in order to find high-risk HPV infection or cervical changes early. A woman with symptoms needs diagnostic assessment instead.</a:t>
            </a:r>
            <a:endParaRPr lang="en-GB" sz="1800" noProof="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114</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KNOWLEDGE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Knowledge check: question 2 of 6</a:t>
            </a:r>
            <a:endParaRPr lang="en-GB" sz="3200" noProof="0" dirty="0"/>
          </a:p>
        </p:txBody>
      </p:sp>
      <p:sp>
        <p:nvSpPr>
          <p:cNvPr id="6" name="Text 4"/>
          <p:cNvSpPr txBox="1"/>
          <p:nvPr/>
        </p:nvSpPr>
        <p:spPr>
          <a:xfrm>
            <a:off x="566928" y="1591056"/>
            <a:ext cx="11055096" cy="768096"/>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A 36 year old woman has a positive HPV test and feels completely well. What should you tell her?</a:t>
            </a:r>
            <a:endParaRPr lang="en-GB" sz="2000" noProof="0" dirty="0"/>
          </a:p>
        </p:txBody>
      </p:sp>
      <p:sp>
        <p:nvSpPr>
          <p:cNvPr id="9" name="Shape 7"/>
          <p:cNvSpPr/>
          <p:nvPr/>
        </p:nvSpPr>
        <p:spPr>
          <a:xfrm>
            <a:off x="566928" y="2432304"/>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2432304"/>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That HPV was detected, that cancer has not been found, and what happens next</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7" name="Shape 5"/>
          <p:cNvSpPr/>
          <p:nvPr/>
        </p:nvSpPr>
        <p:spPr>
          <a:xfrm>
            <a:off x="566928" y="30083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30083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That she has cervical cancer</a:t>
            </a:r>
            <a:endParaRPr lang="en-GB" sz="1800" noProof="0" dirty="0"/>
          </a:p>
        </p:txBody>
      </p:sp>
      <p:sp>
        <p:nvSpPr>
          <p:cNvPr id="11" name="Shape 9"/>
          <p:cNvSpPr/>
          <p:nvPr/>
        </p:nvSpPr>
        <p:spPr>
          <a:xfrm>
            <a:off x="566928" y="35844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5844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That no action is needed</a:t>
            </a:r>
            <a:endParaRPr lang="en-GB" sz="1800" noProof="0" dirty="0"/>
          </a:p>
        </p:txBody>
      </p:sp>
      <p:sp>
        <p:nvSpPr>
          <p:cNvPr id="13" name="Shape 11"/>
          <p:cNvSpPr/>
          <p:nvPr/>
        </p:nvSpPr>
        <p:spPr>
          <a:xfrm>
            <a:off x="566928" y="41605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1605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That she should repeat the test in five years</a:t>
            </a:r>
            <a:endParaRPr lang="en-GB" sz="1800" noProof="0" dirty="0"/>
          </a:p>
        </p:txBody>
      </p:sp>
      <p:sp>
        <p:nvSpPr>
          <p:cNvPr id="15" name="Shape 13"/>
          <p:cNvSpPr/>
          <p:nvPr/>
        </p:nvSpPr>
        <p:spPr>
          <a:xfrm>
            <a:off x="566928" y="4828032"/>
            <a:ext cx="11055096" cy="1408176"/>
          </a:xfrm>
          <a:prstGeom prst="roundRect">
            <a:avLst>
              <a:gd name="adj" fmla="val 4545"/>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919472"/>
            <a:ext cx="10506456" cy="1225296"/>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A
Feedback: </a:t>
            </a:r>
            <a:r>
              <a:rPr lang="en-GB" sz="1800" noProof="0" dirty="0">
                <a:solidFill>
                  <a:srgbClr val="23303F"/>
                </a:solidFill>
                <a:latin typeface="Calibri" pitchFamily="34" charset="0"/>
                <a:ea typeface="Calibri" pitchFamily="34" charset="-122"/>
                <a:cs typeface="Calibri" pitchFamily="34" charset="-120"/>
              </a:rPr>
              <a:t>A positive HPV test means the virus was detected. Most women with a positive test do not have a lesion. Explain what was found, what it does not mean, and arrange the next step in the pathway.</a:t>
            </a:r>
            <a:endParaRPr lang="en-GB" sz="1800" noProof="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115</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KNOWLEDGE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Knowledge check: question 3 of 6</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Which statements about HPV vaccination are accurate? Select all that apply.</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It works best when given before exposure to HPV</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It treats an existing cervical lesion</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It reduces the future risk of cervical precancer and cancer</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It removes the need for cervical screening</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A, C
Feedback: </a:t>
            </a:r>
            <a:r>
              <a:rPr lang="en-GB" sz="1800" noProof="0" dirty="0">
                <a:solidFill>
                  <a:srgbClr val="23303F"/>
                </a:solidFill>
                <a:latin typeface="Calibri" pitchFamily="34" charset="0"/>
                <a:ea typeface="Calibri" pitchFamily="34" charset="-122"/>
                <a:cs typeface="Calibri" pitchFamily="34" charset="-120"/>
              </a:rPr>
              <a:t>The vaccine is preventive, not therapeutic, so timing before exposure is what makes it work. It does not treat existing disease, and vaccinated women still need screening because it does not cover every high-risk type.</a:t>
            </a:r>
            <a:endParaRPr lang="en-GB" sz="1800" noProof="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116</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KNOWLEDGE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Knowledge check: question 4 of 6</a:t>
            </a:r>
            <a:endParaRPr lang="en-GB" sz="3200" noProof="0" dirty="0"/>
          </a:p>
        </p:txBody>
      </p:sp>
      <p:sp>
        <p:nvSpPr>
          <p:cNvPr id="6" name="Text 4"/>
          <p:cNvSpPr txBox="1"/>
          <p:nvPr/>
        </p:nvSpPr>
        <p:spPr>
          <a:xfrm>
            <a:off x="566928" y="1591056"/>
            <a:ext cx="11055096" cy="768096"/>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Which finding means a woman should be referred rather than treated with ablation at the screening visit?</a:t>
            </a:r>
            <a:endParaRPr lang="en-GB" sz="2000" noProof="0" dirty="0"/>
          </a:p>
        </p:txBody>
      </p:sp>
      <p:sp>
        <p:nvSpPr>
          <p:cNvPr id="7" name="Shape 5"/>
          <p:cNvSpPr/>
          <p:nvPr/>
        </p:nvSpPr>
        <p:spPr>
          <a:xfrm>
            <a:off x="566928" y="2432304"/>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432304"/>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A small lesion that is fully visible</a:t>
            </a:r>
            <a:endParaRPr lang="en-GB" sz="1800" noProof="0" dirty="0"/>
          </a:p>
        </p:txBody>
      </p:sp>
      <p:sp>
        <p:nvSpPr>
          <p:cNvPr id="13" name="Shape 11"/>
          <p:cNvSpPr/>
          <p:nvPr/>
        </p:nvSpPr>
        <p:spPr>
          <a:xfrm>
            <a:off x="566928" y="30083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30083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A woman who has had three children</a:t>
            </a:r>
            <a:endParaRPr lang="en-GB" sz="1800" noProof="0" dirty="0"/>
          </a:p>
        </p:txBody>
      </p:sp>
      <p:sp>
        <p:nvSpPr>
          <p:cNvPr id="11" name="Shape 9"/>
          <p:cNvSpPr/>
          <p:nvPr/>
        </p:nvSpPr>
        <p:spPr>
          <a:xfrm>
            <a:off x="566928" y="35844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5844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A woman aged 34</a:t>
            </a:r>
            <a:endParaRPr lang="en-GB" sz="1800" noProof="0" dirty="0"/>
          </a:p>
        </p:txBody>
      </p:sp>
      <p:sp>
        <p:nvSpPr>
          <p:cNvPr id="9" name="Shape 7"/>
          <p:cNvSpPr/>
          <p:nvPr/>
        </p:nvSpPr>
        <p:spPr>
          <a:xfrm>
            <a:off x="566928" y="4160520"/>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4160520"/>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A cervix that looks suspicious for invasive cancer</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5" name="Shape 13"/>
          <p:cNvSpPr/>
          <p:nvPr/>
        </p:nvSpPr>
        <p:spPr>
          <a:xfrm>
            <a:off x="566928" y="4828032"/>
            <a:ext cx="11055096" cy="1408176"/>
          </a:xfrm>
          <a:prstGeom prst="roundRect">
            <a:avLst>
              <a:gd name="adj" fmla="val 4545"/>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919472"/>
            <a:ext cx="10506456" cy="1225296"/>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D
Feedback: </a:t>
            </a:r>
            <a:r>
              <a:rPr lang="en-GB" sz="1800" noProof="0" dirty="0">
                <a:solidFill>
                  <a:srgbClr val="23303F"/>
                </a:solidFill>
                <a:latin typeface="Calibri" pitchFamily="34" charset="0"/>
                <a:ea typeface="Calibri" pitchFamily="34" charset="-122"/>
                <a:cs typeface="Calibri" pitchFamily="34" charset="-120"/>
              </a:rPr>
              <a:t>A cervix suspicious for invasive cancer needs diagnostic assessment and biopsy. Ablation would destroy the tissue needed for diagnosis and would not treat the disease.</a:t>
            </a:r>
            <a:endParaRPr lang="en-GB" sz="1800" noProof="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117</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KNOWLEDGE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Knowledge check: question 5 of 6</a:t>
            </a:r>
            <a:endParaRPr lang="en-GB" sz="3200" noProof="0" dirty="0"/>
          </a:p>
        </p:txBody>
      </p:sp>
      <p:sp>
        <p:nvSpPr>
          <p:cNvPr id="6" name="Text 4"/>
          <p:cNvSpPr txBox="1"/>
          <p:nvPr/>
        </p:nvSpPr>
        <p:spPr>
          <a:xfrm>
            <a:off x="566928" y="1591056"/>
            <a:ext cx="11055096" cy="768096"/>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A woman treated for cervical precancer last year asks whether she still needs screening. The accurate answer is:</a:t>
            </a:r>
            <a:endParaRPr lang="en-GB" sz="2000" noProof="0" dirty="0"/>
          </a:p>
        </p:txBody>
      </p:sp>
      <p:sp>
        <p:nvSpPr>
          <p:cNvPr id="7" name="Shape 5"/>
          <p:cNvSpPr/>
          <p:nvPr/>
        </p:nvSpPr>
        <p:spPr>
          <a:xfrm>
            <a:off x="566928" y="2432304"/>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432304"/>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No, treatment cured the infection</a:t>
            </a:r>
            <a:endParaRPr lang="en-GB" sz="1800" noProof="0" dirty="0"/>
          </a:p>
        </p:txBody>
      </p:sp>
      <p:sp>
        <p:nvSpPr>
          <p:cNvPr id="11" name="Shape 9"/>
          <p:cNvSpPr/>
          <p:nvPr/>
        </p:nvSpPr>
        <p:spPr>
          <a:xfrm>
            <a:off x="566928" y="30083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0083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Only if she develops symptoms</a:t>
            </a:r>
            <a:endParaRPr lang="en-GB" sz="1800" noProof="0" dirty="0"/>
          </a:p>
        </p:txBody>
      </p:sp>
      <p:sp>
        <p:nvSpPr>
          <p:cNvPr id="9" name="Shape 7"/>
          <p:cNvSpPr/>
          <p:nvPr/>
        </p:nvSpPr>
        <p:spPr>
          <a:xfrm>
            <a:off x="566928" y="3584448"/>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3584448"/>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Yes, because treatment removes the lesion, not the infection</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3" name="Shape 11"/>
          <p:cNvSpPr/>
          <p:nvPr/>
        </p:nvSpPr>
        <p:spPr>
          <a:xfrm>
            <a:off x="566928" y="41605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1605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Only if she has another child</a:t>
            </a:r>
            <a:endParaRPr lang="en-GB" sz="1800" noProof="0" dirty="0"/>
          </a:p>
        </p:txBody>
      </p:sp>
      <p:sp>
        <p:nvSpPr>
          <p:cNvPr id="15" name="Shape 13"/>
          <p:cNvSpPr/>
          <p:nvPr/>
        </p:nvSpPr>
        <p:spPr>
          <a:xfrm>
            <a:off x="566928" y="4828032"/>
            <a:ext cx="11055096" cy="1408176"/>
          </a:xfrm>
          <a:prstGeom prst="roundRect">
            <a:avLst>
              <a:gd name="adj" fmla="val 4545"/>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919472"/>
            <a:ext cx="10506456" cy="1225296"/>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C
Feedback: </a:t>
            </a:r>
            <a:r>
              <a:rPr lang="en-GB" sz="1800" noProof="0" dirty="0">
                <a:solidFill>
                  <a:srgbClr val="23303F"/>
                </a:solidFill>
                <a:latin typeface="Calibri" pitchFamily="34" charset="0"/>
                <a:ea typeface="Calibri" pitchFamily="34" charset="-122"/>
                <a:cs typeface="Calibri" pitchFamily="34" charset="-120"/>
              </a:rPr>
              <a:t>Treated women remain at higher risk for years. Persistent or recurrent disease is found only by re-testing, which is why a planned follow-up test is part of treatment, not an optional extra.</a:t>
            </a:r>
            <a:endParaRPr lang="en-GB" sz="1800" noProof="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118</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 · KNOWLEDGE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Knowledge check: question 6 of 6</a:t>
            </a:r>
            <a:endParaRPr lang="en-GB" sz="3200" noProof="0" dirty="0"/>
          </a:p>
        </p:txBody>
      </p:sp>
      <p:sp>
        <p:nvSpPr>
          <p:cNvPr id="6" name="Text 4"/>
          <p:cNvSpPr txBox="1"/>
          <p:nvPr/>
        </p:nvSpPr>
        <p:spPr>
          <a:xfrm>
            <a:off x="566928" y="1591056"/>
            <a:ext cx="11055096" cy="768096"/>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A woman living with HIV asks why she is being screened more often than her neighbour. The best explanation is:</a:t>
            </a:r>
            <a:endParaRPr lang="en-GB" sz="2000" noProof="0" dirty="0"/>
          </a:p>
        </p:txBody>
      </p:sp>
      <p:sp>
        <p:nvSpPr>
          <p:cNvPr id="7" name="Shape 5"/>
          <p:cNvSpPr/>
          <p:nvPr/>
        </p:nvSpPr>
        <p:spPr>
          <a:xfrm>
            <a:off x="566928" y="2432304"/>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432304"/>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Her neighbour does not need screening at all</a:t>
            </a:r>
            <a:endParaRPr lang="en-GB" sz="1800" noProof="0" dirty="0"/>
          </a:p>
        </p:txBody>
      </p:sp>
      <p:sp>
        <p:nvSpPr>
          <p:cNvPr id="13" name="Shape 11"/>
          <p:cNvSpPr/>
          <p:nvPr/>
        </p:nvSpPr>
        <p:spPr>
          <a:xfrm>
            <a:off x="566928" y="30083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30083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She must have done something differently</a:t>
            </a:r>
            <a:endParaRPr lang="en-GB" sz="1800" noProof="0" dirty="0"/>
          </a:p>
        </p:txBody>
      </p:sp>
      <p:sp>
        <p:nvSpPr>
          <p:cNvPr id="11" name="Shape 9"/>
          <p:cNvSpPr/>
          <p:nvPr/>
        </p:nvSpPr>
        <p:spPr>
          <a:xfrm>
            <a:off x="566928" y="35844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5844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There is no real reason</a:t>
            </a:r>
            <a:endParaRPr lang="en-GB" sz="1800" noProof="0" dirty="0"/>
          </a:p>
        </p:txBody>
      </p:sp>
      <p:sp>
        <p:nvSpPr>
          <p:cNvPr id="9" name="Shape 7"/>
          <p:cNvSpPr/>
          <p:nvPr/>
        </p:nvSpPr>
        <p:spPr>
          <a:xfrm>
            <a:off x="566928" y="4160520"/>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4160520"/>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HIV makes HPV more likely to persist, so screening is more frequent</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5" name="Shape 13"/>
          <p:cNvSpPr/>
          <p:nvPr/>
        </p:nvSpPr>
        <p:spPr>
          <a:xfrm>
            <a:off x="566928" y="4828032"/>
            <a:ext cx="11055096" cy="1408176"/>
          </a:xfrm>
          <a:prstGeom prst="roundRect">
            <a:avLst>
              <a:gd name="adj" fmla="val 4545"/>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919472"/>
            <a:ext cx="10506456" cy="1225296"/>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D
Feedback: </a:t>
            </a:r>
            <a:r>
              <a:rPr lang="en-GB" sz="1800" noProof="0" dirty="0">
                <a:solidFill>
                  <a:srgbClr val="23303F"/>
                </a:solidFill>
                <a:latin typeface="Calibri" pitchFamily="34" charset="0"/>
                <a:ea typeface="Calibri" pitchFamily="34" charset="-122"/>
                <a:cs typeface="Calibri" pitchFamily="34" charset="-120"/>
              </a:rPr>
              <a:t>Explain the clinical reason plainly and without blame. Reduced immunity makes persistence and progression more likely, which is why screening starts earlier and is repeated more often.</a:t>
            </a:r>
            <a:endParaRPr lang="en-GB" sz="1800" noProof="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119</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2</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Reflection</a:t>
            </a:r>
            <a:endParaRPr lang="en-GB" sz="3200" noProof="0" dirty="0"/>
          </a:p>
        </p:txBody>
      </p:sp>
      <p:sp>
        <p:nvSpPr>
          <p:cNvPr id="6" name="Text 4"/>
          <p:cNvSpPr txBox="1"/>
          <p:nvPr/>
        </p:nvSpPr>
        <p:spPr>
          <a:xfrm>
            <a:off x="566928" y="1572768"/>
            <a:ext cx="11055096" cy="384048"/>
          </a:xfrm>
          <a:prstGeom prst="rect">
            <a:avLst/>
          </a:prstGeom>
          <a:noFill/>
          <a:ln/>
        </p:spPr>
        <p:txBody>
          <a:bodyPr wrap="square" lIns="0" tIns="0" rIns="0" bIns="0" rtlCol="0" anchor="ctr"/>
          <a:lstStyle/>
          <a:p>
            <a:pPr marL="0" indent="0">
              <a:buNone/>
            </a:pPr>
            <a:r>
              <a:rPr lang="en-GB" sz="1800" i="1" noProof="0" dirty="0">
                <a:solidFill>
                  <a:srgbClr val="31507B"/>
                </a:solidFill>
                <a:latin typeface="Calibri" pitchFamily="34" charset="0"/>
                <a:ea typeface="Calibri" pitchFamily="34" charset="-122"/>
                <a:cs typeface="Calibri" pitchFamily="34" charset="-120"/>
              </a:rPr>
              <a:t>Learner instruction: Enter your response in the text box. These responses are not scored.</a:t>
            </a:r>
            <a:endParaRPr lang="en-GB" sz="1800" noProof="0" dirty="0"/>
          </a:p>
        </p:txBody>
      </p:sp>
      <p:sp>
        <p:nvSpPr>
          <p:cNvPr id="7" name="Shape 5"/>
          <p:cNvSpPr/>
          <p:nvPr/>
        </p:nvSpPr>
        <p:spPr>
          <a:xfrm>
            <a:off x="566928" y="2084832"/>
            <a:ext cx="11055096" cy="905256"/>
          </a:xfrm>
          <a:prstGeom prst="roundRect">
            <a:avLst>
              <a:gd name="adj" fmla="val 7071"/>
            </a:avLst>
          </a:prstGeom>
          <a:solidFill>
            <a:srgbClr val="F3F6FB"/>
          </a:solidFill>
          <a:ln w="12700">
            <a:solidFill>
              <a:srgbClr val="E0E3EA"/>
            </a:solidFill>
            <a:prstDash val="solid"/>
          </a:ln>
        </p:spPr>
        <p:txBody>
          <a:bodyPr/>
          <a:lstStyle/>
          <a:p>
            <a:endParaRPr lang="en-GB" noProof="0" dirty="0"/>
          </a:p>
        </p:txBody>
      </p:sp>
      <p:sp>
        <p:nvSpPr>
          <p:cNvPr id="8" name="Shape 6"/>
          <p:cNvSpPr/>
          <p:nvPr/>
        </p:nvSpPr>
        <p:spPr>
          <a:xfrm>
            <a:off x="841248" y="2308860"/>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9" name="Text 7"/>
          <p:cNvSpPr txBox="1"/>
          <p:nvPr/>
        </p:nvSpPr>
        <p:spPr>
          <a:xfrm>
            <a:off x="841248" y="2308860"/>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mbria" pitchFamily="34" charset="0"/>
                <a:ea typeface="Cambria" pitchFamily="34" charset="-122"/>
                <a:cs typeface="Cambria" pitchFamily="34" charset="-120"/>
              </a:rPr>
              <a:t>1</a:t>
            </a:r>
            <a:endParaRPr lang="en-GB" sz="1500" noProof="0" dirty="0"/>
          </a:p>
        </p:txBody>
      </p:sp>
      <p:sp>
        <p:nvSpPr>
          <p:cNvPr id="10" name="Text 8"/>
          <p:cNvSpPr txBox="1"/>
          <p:nvPr/>
        </p:nvSpPr>
        <p:spPr>
          <a:xfrm>
            <a:off x="1517904" y="2157984"/>
            <a:ext cx="9811512" cy="758952"/>
          </a:xfrm>
          <a:prstGeom prst="rect">
            <a:avLst/>
          </a:prstGeom>
          <a:noFill/>
          <a:ln/>
        </p:spPr>
        <p:txBody>
          <a:bodyPr wrap="square" lIns="0" tIns="0" rIns="0" bIns="0" rtlCol="0" anchor="ctr"/>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What would you tell a woman who believes a positive HPV test means she has cancer?</a:t>
            </a:r>
            <a:endParaRPr lang="en-GB" sz="1800" noProof="0" dirty="0"/>
          </a:p>
        </p:txBody>
      </p:sp>
      <p:sp>
        <p:nvSpPr>
          <p:cNvPr id="11" name="Shape 9"/>
          <p:cNvSpPr/>
          <p:nvPr/>
        </p:nvSpPr>
        <p:spPr>
          <a:xfrm>
            <a:off x="566928" y="3136392"/>
            <a:ext cx="11055096" cy="905256"/>
          </a:xfrm>
          <a:prstGeom prst="roundRect">
            <a:avLst>
              <a:gd name="adj" fmla="val 7071"/>
            </a:avLst>
          </a:prstGeom>
          <a:solidFill>
            <a:srgbClr val="F3F6FB"/>
          </a:solidFill>
          <a:ln w="12700">
            <a:solidFill>
              <a:srgbClr val="E0E3EA"/>
            </a:solidFill>
            <a:prstDash val="solid"/>
          </a:ln>
        </p:spPr>
        <p:txBody>
          <a:bodyPr/>
          <a:lstStyle/>
          <a:p>
            <a:endParaRPr lang="en-GB" noProof="0" dirty="0"/>
          </a:p>
        </p:txBody>
      </p:sp>
      <p:sp>
        <p:nvSpPr>
          <p:cNvPr id="12" name="Shape 10"/>
          <p:cNvSpPr/>
          <p:nvPr/>
        </p:nvSpPr>
        <p:spPr>
          <a:xfrm>
            <a:off x="841248" y="3360420"/>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13" name="Text 11"/>
          <p:cNvSpPr txBox="1"/>
          <p:nvPr/>
        </p:nvSpPr>
        <p:spPr>
          <a:xfrm>
            <a:off x="841248" y="3360420"/>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mbria" pitchFamily="34" charset="0"/>
                <a:ea typeface="Cambria" pitchFamily="34" charset="-122"/>
                <a:cs typeface="Cambria" pitchFamily="34" charset="-120"/>
              </a:rPr>
              <a:t>2</a:t>
            </a:r>
            <a:endParaRPr lang="en-GB" sz="1500" noProof="0" dirty="0"/>
          </a:p>
        </p:txBody>
      </p:sp>
      <p:sp>
        <p:nvSpPr>
          <p:cNvPr id="14" name="Text 12"/>
          <p:cNvSpPr txBox="1"/>
          <p:nvPr/>
        </p:nvSpPr>
        <p:spPr>
          <a:xfrm>
            <a:off x="1517904" y="3209544"/>
            <a:ext cx="9811512" cy="758952"/>
          </a:xfrm>
          <a:prstGeom prst="rect">
            <a:avLst/>
          </a:prstGeom>
          <a:noFill/>
          <a:ln/>
        </p:spPr>
        <p:txBody>
          <a:bodyPr wrap="square" lIns="0" tIns="0" rIns="0" bIns="0" rtlCol="0" anchor="ctr"/>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How would you explain why screening matters to a woman who feels completely healthy?</a:t>
            </a:r>
            <a:endParaRPr lang="en-GB" sz="1800" noProof="0" dirty="0"/>
          </a:p>
        </p:txBody>
      </p:sp>
      <p:sp>
        <p:nvSpPr>
          <p:cNvPr id="15" name="Shape 13"/>
          <p:cNvSpPr/>
          <p:nvPr/>
        </p:nvSpPr>
        <p:spPr>
          <a:xfrm>
            <a:off x="566928" y="4187952"/>
            <a:ext cx="11055096" cy="905256"/>
          </a:xfrm>
          <a:prstGeom prst="roundRect">
            <a:avLst>
              <a:gd name="adj" fmla="val 7071"/>
            </a:avLst>
          </a:prstGeom>
          <a:solidFill>
            <a:srgbClr val="F3F6FB"/>
          </a:solidFill>
          <a:ln w="12700">
            <a:solidFill>
              <a:srgbClr val="E0E3EA"/>
            </a:solidFill>
            <a:prstDash val="solid"/>
          </a:ln>
        </p:spPr>
        <p:txBody>
          <a:bodyPr/>
          <a:lstStyle/>
          <a:p>
            <a:endParaRPr lang="en-GB" noProof="0" dirty="0"/>
          </a:p>
        </p:txBody>
      </p:sp>
      <p:sp>
        <p:nvSpPr>
          <p:cNvPr id="16" name="Shape 14"/>
          <p:cNvSpPr/>
          <p:nvPr/>
        </p:nvSpPr>
        <p:spPr>
          <a:xfrm>
            <a:off x="841248" y="4411980"/>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17" name="Text 15"/>
          <p:cNvSpPr txBox="1"/>
          <p:nvPr/>
        </p:nvSpPr>
        <p:spPr>
          <a:xfrm>
            <a:off x="841248" y="4411980"/>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mbria" pitchFamily="34" charset="0"/>
                <a:ea typeface="Cambria" pitchFamily="34" charset="-122"/>
                <a:cs typeface="Cambria" pitchFamily="34" charset="-120"/>
              </a:rPr>
              <a:t>3</a:t>
            </a:r>
            <a:endParaRPr lang="en-GB" sz="1500" noProof="0" dirty="0"/>
          </a:p>
        </p:txBody>
      </p:sp>
      <p:sp>
        <p:nvSpPr>
          <p:cNvPr id="18" name="Text 16"/>
          <p:cNvSpPr txBox="1"/>
          <p:nvPr/>
        </p:nvSpPr>
        <p:spPr>
          <a:xfrm>
            <a:off x="1517904" y="4261104"/>
            <a:ext cx="9811512" cy="758952"/>
          </a:xfrm>
          <a:prstGeom prst="rect">
            <a:avLst/>
          </a:prstGeom>
          <a:noFill/>
          <a:ln/>
        </p:spPr>
        <p:txBody>
          <a:bodyPr wrap="square" lIns="0" tIns="0" rIns="0" bIns="0" rtlCol="0" anchor="ctr"/>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Which finding would make you refer a woman rather than treat her at the screening visit, and how would you explain that decision to her?</a:t>
            </a:r>
            <a:endParaRPr lang="en-GB" sz="1800" noProof="0" dirty="0"/>
          </a:p>
        </p:txBody>
      </p:sp>
      <p:sp>
        <p:nvSpPr>
          <p:cNvPr id="19" name="Shape 17"/>
          <p:cNvSpPr/>
          <p:nvPr/>
        </p:nvSpPr>
        <p:spPr>
          <a:xfrm>
            <a:off x="566928" y="5239512"/>
            <a:ext cx="11055096" cy="905256"/>
          </a:xfrm>
          <a:prstGeom prst="roundRect">
            <a:avLst>
              <a:gd name="adj" fmla="val 7071"/>
            </a:avLst>
          </a:prstGeom>
          <a:solidFill>
            <a:srgbClr val="F3F6FB"/>
          </a:solidFill>
          <a:ln w="12700">
            <a:solidFill>
              <a:srgbClr val="E0E3EA"/>
            </a:solidFill>
            <a:prstDash val="solid"/>
          </a:ln>
        </p:spPr>
        <p:txBody>
          <a:bodyPr/>
          <a:lstStyle/>
          <a:p>
            <a:endParaRPr lang="en-GB" noProof="0" dirty="0"/>
          </a:p>
        </p:txBody>
      </p:sp>
      <p:sp>
        <p:nvSpPr>
          <p:cNvPr id="20" name="Shape 18"/>
          <p:cNvSpPr/>
          <p:nvPr/>
        </p:nvSpPr>
        <p:spPr>
          <a:xfrm>
            <a:off x="841248" y="5463540"/>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21" name="Text 19"/>
          <p:cNvSpPr txBox="1"/>
          <p:nvPr/>
        </p:nvSpPr>
        <p:spPr>
          <a:xfrm>
            <a:off x="841248" y="5463540"/>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mbria" pitchFamily="34" charset="0"/>
                <a:ea typeface="Cambria" pitchFamily="34" charset="-122"/>
                <a:cs typeface="Cambria" pitchFamily="34" charset="-120"/>
              </a:rPr>
              <a:t>4</a:t>
            </a:r>
            <a:endParaRPr lang="en-GB" sz="1500" noProof="0" dirty="0"/>
          </a:p>
        </p:txBody>
      </p:sp>
      <p:sp>
        <p:nvSpPr>
          <p:cNvPr id="22" name="Text 20"/>
          <p:cNvSpPr txBox="1"/>
          <p:nvPr/>
        </p:nvSpPr>
        <p:spPr>
          <a:xfrm>
            <a:off x="1517904" y="5312664"/>
            <a:ext cx="9811512" cy="758952"/>
          </a:xfrm>
          <a:prstGeom prst="rect">
            <a:avLst/>
          </a:prstGeom>
          <a:noFill/>
          <a:ln/>
        </p:spPr>
        <p:txBody>
          <a:bodyPr wrap="square" lIns="0" tIns="0" rIns="0" bIns="0" rtlCol="0" anchor="ctr"/>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What barrier could prevent a woman in your setting from completing follow-up after an abnormal screening result?</a:t>
            </a:r>
            <a:endParaRPr lang="en-GB" sz="1800" noProof="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94">
    <p:bg>
      <p:bgPr>
        <a:solidFill>
          <a:srgbClr val="0E2F5C"/>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8FA3C2"/>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8FA3C2"/>
                </a:solidFill>
                <a:latin typeface="Calibri" pitchFamily="34" charset="0"/>
                <a:ea typeface="Calibri" pitchFamily="34" charset="-122"/>
                <a:cs typeface="Calibri" pitchFamily="34" charset="-120"/>
              </a:rPr>
              <a:t>Screen 120</a:t>
            </a:r>
            <a:endParaRPr lang="en-GB" sz="1100" noProof="0" dirty="0"/>
          </a:p>
        </p:txBody>
      </p:sp>
      <p:sp>
        <p:nvSpPr>
          <p:cNvPr id="4" name="Text 2"/>
          <p:cNvSpPr txBox="1"/>
          <p:nvPr/>
        </p:nvSpPr>
        <p:spPr>
          <a:xfrm>
            <a:off x="7680960" y="365760"/>
            <a:ext cx="4023360" cy="5852160"/>
          </a:xfrm>
          <a:prstGeom prst="rect">
            <a:avLst/>
          </a:prstGeom>
          <a:noFill/>
          <a:ln/>
        </p:spPr>
        <p:txBody>
          <a:bodyPr wrap="square" lIns="0" tIns="0" rIns="0" bIns="0" rtlCol="0" anchor="ctr"/>
          <a:lstStyle/>
          <a:p>
            <a:pPr marL="0" indent="0" algn="r">
              <a:buNone/>
            </a:pPr>
            <a:r>
              <a:rPr lang="en-GB" sz="30000" b="1" noProof="0" dirty="0">
                <a:solidFill>
                  <a:srgbClr val="16406F"/>
                </a:solidFill>
                <a:latin typeface="Cambria" pitchFamily="34" charset="0"/>
                <a:ea typeface="Cambria" pitchFamily="34" charset="-122"/>
                <a:cs typeface="Cambria" pitchFamily="34" charset="-120"/>
              </a:rPr>
              <a:t>3</a:t>
            </a:r>
            <a:endParaRPr lang="en-GB" sz="30000" noProof="0" dirty="0"/>
          </a:p>
        </p:txBody>
      </p:sp>
      <p:sp>
        <p:nvSpPr>
          <p:cNvPr id="5" name="Text 3"/>
          <p:cNvSpPr txBox="1"/>
          <p:nvPr/>
        </p:nvSpPr>
        <p:spPr>
          <a:xfrm>
            <a:off x="566928" y="1874520"/>
            <a:ext cx="7315200" cy="329184"/>
          </a:xfrm>
          <a:prstGeom prst="rect">
            <a:avLst/>
          </a:prstGeom>
          <a:noFill/>
          <a:ln/>
        </p:spPr>
        <p:txBody>
          <a:bodyPr wrap="square" lIns="0" tIns="0" rIns="0" bIns="0" rtlCol="0" anchor="ctr"/>
          <a:lstStyle/>
          <a:p>
            <a:pPr marL="0" indent="0">
              <a:buNone/>
            </a:pPr>
            <a:r>
              <a:rPr lang="en-GB" sz="1300" b="1" kern="0" spc="300" noProof="0" dirty="0">
                <a:solidFill>
                  <a:srgbClr val="9FB8DA"/>
                </a:solidFill>
                <a:latin typeface="Calibri" pitchFamily="34" charset="0"/>
                <a:ea typeface="Calibri" pitchFamily="34" charset="-122"/>
                <a:cs typeface="Calibri" pitchFamily="34" charset="-120"/>
              </a:rPr>
              <a:t>S E S S I O N   3</a:t>
            </a:r>
            <a:endParaRPr lang="en-GB" sz="1300" noProof="0" dirty="0"/>
          </a:p>
        </p:txBody>
      </p:sp>
      <p:sp>
        <p:nvSpPr>
          <p:cNvPr id="6" name="Text 4"/>
          <p:cNvSpPr txBox="1"/>
          <p:nvPr/>
        </p:nvSpPr>
        <p:spPr>
          <a:xfrm>
            <a:off x="566928" y="2286000"/>
            <a:ext cx="7680960" cy="1371600"/>
          </a:xfrm>
          <a:prstGeom prst="rect">
            <a:avLst/>
          </a:prstGeom>
          <a:noFill/>
          <a:ln/>
        </p:spPr>
        <p:txBody>
          <a:bodyPr wrap="square" lIns="0" tIns="0" rIns="0" bIns="0" rtlCol="0" anchor="ctr"/>
          <a:lstStyle/>
          <a:p>
            <a:pPr marL="0" indent="0">
              <a:buNone/>
            </a:pPr>
            <a:r>
              <a:rPr lang="en-GB" sz="4000" b="1" noProof="0" dirty="0">
                <a:solidFill>
                  <a:srgbClr val="FFFFFF"/>
                </a:solidFill>
                <a:latin typeface="Cambria" pitchFamily="34" charset="0"/>
                <a:ea typeface="Cambria" pitchFamily="34" charset="-122"/>
                <a:cs typeface="Cambria" pitchFamily="34" charset="-120"/>
              </a:rPr>
              <a:t>Referral and counselling</a:t>
            </a:r>
            <a:endParaRPr lang="en-GB" sz="4000" noProof="0" dirty="0"/>
          </a:p>
        </p:txBody>
      </p:sp>
      <p:sp>
        <p:nvSpPr>
          <p:cNvPr id="7" name="Text 5"/>
          <p:cNvSpPr txBox="1"/>
          <p:nvPr/>
        </p:nvSpPr>
        <p:spPr>
          <a:xfrm>
            <a:off x="566928" y="3794760"/>
            <a:ext cx="7040880" cy="1463040"/>
          </a:xfrm>
          <a:prstGeom prst="rect">
            <a:avLst/>
          </a:prstGeom>
          <a:noFill/>
          <a:ln/>
        </p:spPr>
        <p:txBody>
          <a:bodyPr wrap="square" lIns="0" tIns="0" rIns="0" bIns="0" rtlCol="0" anchor="t"/>
          <a:lstStyle/>
          <a:p>
            <a:pPr marL="0" indent="0">
              <a:lnSpc>
                <a:spcPct val="118000"/>
              </a:lnSpc>
              <a:buNone/>
            </a:pPr>
            <a:r>
              <a:rPr lang="en-GB" sz="1800" noProof="0" dirty="0">
                <a:solidFill>
                  <a:srgbClr val="C6D5EA"/>
                </a:solidFill>
                <a:latin typeface="Calibri" pitchFamily="34" charset="0"/>
                <a:ea typeface="Calibri" pitchFamily="34" charset="-122"/>
                <a:cs typeface="Calibri" pitchFamily="34" charset="-120"/>
              </a:rPr>
              <a:t>Turn a finding into the right next step: refer with the right urgency, record what the national registry needs, and communicate without stigma.</a:t>
            </a:r>
            <a:endParaRPr lang="en-GB" sz="1800" noProof="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121</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3</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Learning objectives</a:t>
            </a:r>
            <a:endParaRPr lang="en-GB" sz="3200" noProof="0" dirty="0"/>
          </a:p>
        </p:txBody>
      </p:sp>
      <p:sp>
        <p:nvSpPr>
          <p:cNvPr id="6" name="Text 4"/>
          <p:cNvSpPr txBox="1"/>
          <p:nvPr/>
        </p:nvSpPr>
        <p:spPr>
          <a:xfrm>
            <a:off x="566928" y="1554480"/>
            <a:ext cx="11055096" cy="384048"/>
          </a:xfrm>
          <a:prstGeom prst="rect">
            <a:avLst/>
          </a:prstGeom>
          <a:noFill/>
          <a:ln/>
        </p:spPr>
        <p:txBody>
          <a:bodyPr wrap="square" lIns="0" tIns="0" rIns="0" bIns="0" rtlCol="0" anchor="ctr"/>
          <a:lstStyle/>
          <a:p>
            <a:pPr marL="0" indent="0">
              <a:buNone/>
            </a:pPr>
            <a:r>
              <a:rPr lang="en-GB" sz="1800" noProof="0" dirty="0">
                <a:solidFill>
                  <a:srgbClr val="23303F"/>
                </a:solidFill>
                <a:latin typeface="Calibri" pitchFamily="34" charset="0"/>
                <a:ea typeface="Calibri" pitchFamily="34" charset="-122"/>
                <a:cs typeface="Calibri" pitchFamily="34" charset="-120"/>
              </a:rPr>
              <a:t>By the end of this session you will be able to:</a:t>
            </a:r>
            <a:endParaRPr lang="en-GB" sz="1800" noProof="0" dirty="0"/>
          </a:p>
        </p:txBody>
      </p:sp>
      <p:sp>
        <p:nvSpPr>
          <p:cNvPr id="7" name="Shape 5"/>
          <p:cNvSpPr/>
          <p:nvPr/>
        </p:nvSpPr>
        <p:spPr>
          <a:xfrm>
            <a:off x="566928" y="1975104"/>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8" name="Shape 6"/>
          <p:cNvSpPr/>
          <p:nvPr/>
        </p:nvSpPr>
        <p:spPr>
          <a:xfrm>
            <a:off x="804672" y="2069889"/>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9" name="Text 7"/>
          <p:cNvSpPr txBox="1"/>
          <p:nvPr/>
        </p:nvSpPr>
        <p:spPr>
          <a:xfrm>
            <a:off x="804672" y="2069889"/>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1</a:t>
            </a:r>
            <a:endParaRPr lang="en-GB" sz="1400" noProof="0" dirty="0"/>
          </a:p>
        </p:txBody>
      </p:sp>
      <p:sp>
        <p:nvSpPr>
          <p:cNvPr id="10" name="Text 8"/>
          <p:cNvSpPr txBox="1"/>
          <p:nvPr/>
        </p:nvSpPr>
        <p:spPr>
          <a:xfrm>
            <a:off x="1463040" y="2029968"/>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Describe the levels of the Rwandan health system and where cervical cancer care happens.</a:t>
            </a:r>
            <a:endParaRPr lang="en-GB" sz="1800" noProof="0" dirty="0"/>
          </a:p>
        </p:txBody>
      </p:sp>
      <p:sp>
        <p:nvSpPr>
          <p:cNvPr id="11" name="Shape 9"/>
          <p:cNvSpPr/>
          <p:nvPr/>
        </p:nvSpPr>
        <p:spPr>
          <a:xfrm>
            <a:off x="566928" y="2686998"/>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12" name="Shape 10"/>
          <p:cNvSpPr/>
          <p:nvPr/>
        </p:nvSpPr>
        <p:spPr>
          <a:xfrm>
            <a:off x="804672" y="2781783"/>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13" name="Text 11"/>
          <p:cNvSpPr txBox="1"/>
          <p:nvPr/>
        </p:nvSpPr>
        <p:spPr>
          <a:xfrm>
            <a:off x="804672" y="2781783"/>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2</a:t>
            </a:r>
            <a:endParaRPr lang="en-GB" sz="1400" noProof="0" dirty="0"/>
          </a:p>
        </p:txBody>
      </p:sp>
      <p:sp>
        <p:nvSpPr>
          <p:cNvPr id="14" name="Text 12"/>
          <p:cNvSpPr txBox="1"/>
          <p:nvPr/>
        </p:nvSpPr>
        <p:spPr>
          <a:xfrm>
            <a:off x="1463040" y="2741862"/>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Decide whether a finding needs routine follow-up, prompt referral or emergency assessment.</a:t>
            </a:r>
            <a:endParaRPr lang="en-GB" sz="1800" noProof="0" dirty="0"/>
          </a:p>
        </p:txBody>
      </p:sp>
      <p:sp>
        <p:nvSpPr>
          <p:cNvPr id="15" name="Shape 13"/>
          <p:cNvSpPr/>
          <p:nvPr/>
        </p:nvSpPr>
        <p:spPr>
          <a:xfrm>
            <a:off x="566928" y="3398892"/>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16" name="Shape 14"/>
          <p:cNvSpPr/>
          <p:nvPr/>
        </p:nvSpPr>
        <p:spPr>
          <a:xfrm>
            <a:off x="804672" y="3493677"/>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17" name="Text 15"/>
          <p:cNvSpPr txBox="1"/>
          <p:nvPr/>
        </p:nvSpPr>
        <p:spPr>
          <a:xfrm>
            <a:off x="804672" y="3493677"/>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3</a:t>
            </a:r>
            <a:endParaRPr lang="en-GB" sz="1400" noProof="0" dirty="0"/>
          </a:p>
        </p:txBody>
      </p:sp>
      <p:sp>
        <p:nvSpPr>
          <p:cNvPr id="18" name="Text 16"/>
          <p:cNvSpPr txBox="1"/>
          <p:nvPr/>
        </p:nvSpPr>
        <p:spPr>
          <a:xfrm>
            <a:off x="1463040" y="3453756"/>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Record the information the national cancer registry needs at first contact.</a:t>
            </a:r>
            <a:endParaRPr lang="en-GB" sz="1800" noProof="0" dirty="0"/>
          </a:p>
        </p:txBody>
      </p:sp>
      <p:sp>
        <p:nvSpPr>
          <p:cNvPr id="19" name="Shape 17"/>
          <p:cNvSpPr/>
          <p:nvPr/>
        </p:nvSpPr>
        <p:spPr>
          <a:xfrm>
            <a:off x="566928" y="4110786"/>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20" name="Shape 18"/>
          <p:cNvSpPr/>
          <p:nvPr/>
        </p:nvSpPr>
        <p:spPr>
          <a:xfrm>
            <a:off x="804672" y="4205571"/>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21" name="Text 19"/>
          <p:cNvSpPr txBox="1"/>
          <p:nvPr/>
        </p:nvSpPr>
        <p:spPr>
          <a:xfrm>
            <a:off x="804672" y="4205571"/>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4</a:t>
            </a:r>
            <a:endParaRPr lang="en-GB" sz="1400" noProof="0" dirty="0"/>
          </a:p>
        </p:txBody>
      </p:sp>
      <p:sp>
        <p:nvSpPr>
          <p:cNvPr id="22" name="Text 20"/>
          <p:cNvSpPr txBox="1"/>
          <p:nvPr/>
        </p:nvSpPr>
        <p:spPr>
          <a:xfrm>
            <a:off x="1463040" y="4165650"/>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Counsel a woman about a positive screening result without stating or implying that she has cancer.</a:t>
            </a:r>
            <a:endParaRPr lang="en-GB" sz="1800" noProof="0" dirty="0"/>
          </a:p>
        </p:txBody>
      </p:sp>
      <p:sp>
        <p:nvSpPr>
          <p:cNvPr id="23" name="Shape 21"/>
          <p:cNvSpPr/>
          <p:nvPr/>
        </p:nvSpPr>
        <p:spPr>
          <a:xfrm>
            <a:off x="566928" y="4822679"/>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24" name="Shape 22"/>
          <p:cNvSpPr/>
          <p:nvPr/>
        </p:nvSpPr>
        <p:spPr>
          <a:xfrm>
            <a:off x="804672" y="4917465"/>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25" name="Text 23"/>
          <p:cNvSpPr txBox="1"/>
          <p:nvPr/>
        </p:nvSpPr>
        <p:spPr>
          <a:xfrm>
            <a:off x="804672" y="4917465"/>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5</a:t>
            </a:r>
            <a:endParaRPr lang="en-GB" sz="1400" noProof="0" dirty="0"/>
          </a:p>
        </p:txBody>
      </p:sp>
      <p:sp>
        <p:nvSpPr>
          <p:cNvPr id="26" name="Text 24"/>
          <p:cNvSpPr txBox="1"/>
          <p:nvPr/>
        </p:nvSpPr>
        <p:spPr>
          <a:xfrm>
            <a:off x="1463040" y="4877543"/>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Apply the basics of psychological support and stigma-sensitive communication.</a:t>
            </a:r>
            <a:endParaRPr lang="en-GB" sz="1800" noProof="0" dirty="0"/>
          </a:p>
        </p:txBody>
      </p:sp>
      <p:sp>
        <p:nvSpPr>
          <p:cNvPr id="27" name="Shape 25"/>
          <p:cNvSpPr/>
          <p:nvPr/>
        </p:nvSpPr>
        <p:spPr>
          <a:xfrm>
            <a:off x="566928" y="5534573"/>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28" name="Shape 26"/>
          <p:cNvSpPr/>
          <p:nvPr/>
        </p:nvSpPr>
        <p:spPr>
          <a:xfrm>
            <a:off x="804672" y="5629359"/>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29" name="Text 27"/>
          <p:cNvSpPr txBox="1"/>
          <p:nvPr/>
        </p:nvSpPr>
        <p:spPr>
          <a:xfrm>
            <a:off x="804672" y="5629359"/>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6</a:t>
            </a:r>
            <a:endParaRPr lang="en-GB" sz="1400" noProof="0" dirty="0"/>
          </a:p>
        </p:txBody>
      </p:sp>
      <p:sp>
        <p:nvSpPr>
          <p:cNvPr id="30" name="Text 28"/>
          <p:cNvSpPr txBox="1"/>
          <p:nvPr/>
        </p:nvSpPr>
        <p:spPr>
          <a:xfrm>
            <a:off x="1463040" y="5589437"/>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Support attendance and close the loop when a woman does not attend.</a:t>
            </a:r>
            <a:endParaRPr lang="en-GB" sz="1800" noProof="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122</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3 · REFERRAL SYSTEM</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Where cervical cancer care happens</a:t>
            </a:r>
            <a:endParaRPr lang="en-GB" sz="3200" noProof="0" dirty="0"/>
          </a:p>
        </p:txBody>
      </p:sp>
      <p:sp>
        <p:nvSpPr>
          <p:cNvPr id="6" name="Shape 4"/>
          <p:cNvSpPr/>
          <p:nvPr/>
        </p:nvSpPr>
        <p:spPr>
          <a:xfrm>
            <a:off x="566928" y="1379491"/>
            <a:ext cx="2035454" cy="3928772"/>
          </a:xfrm>
          <a:prstGeom prst="roundRect">
            <a:avLst>
              <a:gd name="adj" fmla="val 3594"/>
            </a:avLst>
          </a:prstGeom>
          <a:solidFill>
            <a:srgbClr val="F3F6FB"/>
          </a:solidFill>
          <a:ln w="12700">
            <a:solidFill>
              <a:srgbClr val="E0E3EA"/>
            </a:solidFill>
            <a:prstDash val="solid"/>
          </a:ln>
        </p:spPr>
        <p:txBody>
          <a:bodyPr/>
          <a:lstStyle/>
          <a:p>
            <a:endParaRPr lang="en-GB" noProof="0" dirty="0"/>
          </a:p>
        </p:txBody>
      </p:sp>
      <p:sp>
        <p:nvSpPr>
          <p:cNvPr id="7" name="Shape 5"/>
          <p:cNvSpPr/>
          <p:nvPr/>
        </p:nvSpPr>
        <p:spPr>
          <a:xfrm>
            <a:off x="1356055" y="1489641"/>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8" name="Text 6"/>
          <p:cNvSpPr txBox="1"/>
          <p:nvPr/>
        </p:nvSpPr>
        <p:spPr>
          <a:xfrm>
            <a:off x="1356055" y="1489641"/>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libri" pitchFamily="34" charset="0"/>
                <a:ea typeface="Calibri" pitchFamily="34" charset="-122"/>
                <a:cs typeface="Calibri" pitchFamily="34" charset="-120"/>
              </a:rPr>
              <a:t>1</a:t>
            </a:r>
            <a:endParaRPr lang="en-GB" sz="1500" noProof="0" dirty="0"/>
          </a:p>
        </p:txBody>
      </p:sp>
      <p:sp>
        <p:nvSpPr>
          <p:cNvPr id="9" name="Text 7"/>
          <p:cNvSpPr txBox="1"/>
          <p:nvPr/>
        </p:nvSpPr>
        <p:spPr>
          <a:xfrm>
            <a:off x="737089" y="2042204"/>
            <a:ext cx="1729711" cy="1368669"/>
          </a:xfrm>
          <a:prstGeom prst="rect">
            <a:avLst/>
          </a:prstGeom>
          <a:noFill/>
          <a:ln/>
        </p:spPr>
        <p:txBody>
          <a:bodyPr wrap="square" lIns="0" tIns="0" rIns="0" bIns="0" rtlCol="0" anchor="t"/>
          <a:lstStyle/>
          <a:p>
            <a:pPr marL="0" indent="0" algn="ctr">
              <a:lnSpc>
                <a:spcPct val="106000"/>
              </a:lnSpc>
              <a:buNone/>
            </a:pPr>
            <a:r>
              <a:rPr lang="en-GB" sz="1800" noProof="0" dirty="0">
                <a:solidFill>
                  <a:srgbClr val="23303F"/>
                </a:solidFill>
                <a:latin typeface="Calibri" pitchFamily="34" charset="0"/>
                <a:ea typeface="Calibri" pitchFamily="34" charset="-122"/>
                <a:cs typeface="Calibri" pitchFamily="34" charset="-120"/>
              </a:rPr>
              <a:t>Community: awareness, education, referral support, and helping women attend screening and follow-up</a:t>
            </a:r>
            <a:endParaRPr lang="en-GB" sz="1800" noProof="0" dirty="0"/>
          </a:p>
        </p:txBody>
      </p:sp>
      <p:sp>
        <p:nvSpPr>
          <p:cNvPr id="10" name="Text 8"/>
          <p:cNvSpPr txBox="1"/>
          <p:nvPr/>
        </p:nvSpPr>
        <p:spPr>
          <a:xfrm>
            <a:off x="2602382" y="1549737"/>
            <a:ext cx="219456" cy="2651760"/>
          </a:xfrm>
          <a:prstGeom prst="rect">
            <a:avLst/>
          </a:prstGeom>
          <a:noFill/>
          <a:ln/>
        </p:spPr>
        <p:txBody>
          <a:bodyPr wrap="square" lIns="0" tIns="0" rIns="0" bIns="0" rtlCol="0" anchor="ctr"/>
          <a:lstStyle/>
          <a:p>
            <a:pPr marL="0" indent="0" algn="ctr">
              <a:buNone/>
            </a:pPr>
            <a:r>
              <a:rPr lang="en-GB" sz="1300" noProof="0" dirty="0">
                <a:solidFill>
                  <a:srgbClr val="000000"/>
                </a:solidFill>
                <a:latin typeface="Calibri" pitchFamily="34" charset="0"/>
                <a:ea typeface="Calibri" pitchFamily="34" charset="-122"/>
                <a:cs typeface="Calibri" pitchFamily="34" charset="-120"/>
              </a:rPr>
              <a:t>➡️</a:t>
            </a:r>
            <a:endParaRPr lang="en-GB" sz="1300" noProof="0" dirty="0"/>
          </a:p>
        </p:txBody>
      </p:sp>
      <p:sp>
        <p:nvSpPr>
          <p:cNvPr id="11" name="Shape 9"/>
          <p:cNvSpPr/>
          <p:nvPr/>
        </p:nvSpPr>
        <p:spPr>
          <a:xfrm>
            <a:off x="2821838" y="1379491"/>
            <a:ext cx="2035454" cy="3928772"/>
          </a:xfrm>
          <a:prstGeom prst="roundRect">
            <a:avLst>
              <a:gd name="adj" fmla="val 3594"/>
            </a:avLst>
          </a:prstGeom>
          <a:solidFill>
            <a:srgbClr val="F3F6FB"/>
          </a:solidFill>
          <a:ln w="12700">
            <a:solidFill>
              <a:srgbClr val="E0E3EA"/>
            </a:solidFill>
            <a:prstDash val="solid"/>
          </a:ln>
        </p:spPr>
        <p:txBody>
          <a:bodyPr/>
          <a:lstStyle/>
          <a:p>
            <a:endParaRPr lang="en-GB" noProof="0" dirty="0"/>
          </a:p>
        </p:txBody>
      </p:sp>
      <p:sp>
        <p:nvSpPr>
          <p:cNvPr id="12" name="Shape 10"/>
          <p:cNvSpPr/>
          <p:nvPr/>
        </p:nvSpPr>
        <p:spPr>
          <a:xfrm>
            <a:off x="3610966" y="1489641"/>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13" name="Text 11"/>
          <p:cNvSpPr txBox="1"/>
          <p:nvPr/>
        </p:nvSpPr>
        <p:spPr>
          <a:xfrm>
            <a:off x="3610966" y="1489641"/>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libri" pitchFamily="34" charset="0"/>
                <a:ea typeface="Calibri" pitchFamily="34" charset="-122"/>
                <a:cs typeface="Calibri" pitchFamily="34" charset="-120"/>
              </a:rPr>
              <a:t>2</a:t>
            </a:r>
            <a:endParaRPr lang="en-GB" sz="1500" noProof="0" dirty="0"/>
          </a:p>
        </p:txBody>
      </p:sp>
      <p:sp>
        <p:nvSpPr>
          <p:cNvPr id="14" name="Text 12"/>
          <p:cNvSpPr txBox="1"/>
          <p:nvPr/>
        </p:nvSpPr>
        <p:spPr>
          <a:xfrm>
            <a:off x="2957419" y="2042204"/>
            <a:ext cx="1789509" cy="1368669"/>
          </a:xfrm>
          <a:prstGeom prst="rect">
            <a:avLst/>
          </a:prstGeom>
          <a:noFill/>
          <a:ln/>
        </p:spPr>
        <p:txBody>
          <a:bodyPr wrap="square" lIns="0" tIns="0" rIns="0" bIns="0" rtlCol="0" anchor="t"/>
          <a:lstStyle/>
          <a:p>
            <a:pPr marL="0" indent="0" algn="ctr">
              <a:lnSpc>
                <a:spcPct val="106000"/>
              </a:lnSpc>
              <a:buNone/>
            </a:pPr>
            <a:r>
              <a:rPr lang="en-GB" sz="1800" noProof="0" dirty="0">
                <a:solidFill>
                  <a:srgbClr val="23303F"/>
                </a:solidFill>
                <a:latin typeface="Calibri" pitchFamily="34" charset="0"/>
                <a:ea typeface="Calibri" pitchFamily="34" charset="-122"/>
                <a:cs typeface="Calibri" pitchFamily="34" charset="-120"/>
              </a:rPr>
              <a:t>Health centre: HPV DNA screening, VIA and thermal ablation of eligible lesions</a:t>
            </a:r>
            <a:endParaRPr lang="en-GB" sz="1800" noProof="0" dirty="0"/>
          </a:p>
        </p:txBody>
      </p:sp>
      <p:sp>
        <p:nvSpPr>
          <p:cNvPr id="15" name="Text 13"/>
          <p:cNvSpPr txBox="1"/>
          <p:nvPr/>
        </p:nvSpPr>
        <p:spPr>
          <a:xfrm>
            <a:off x="4857293" y="1549737"/>
            <a:ext cx="219456" cy="2651760"/>
          </a:xfrm>
          <a:prstGeom prst="rect">
            <a:avLst/>
          </a:prstGeom>
          <a:noFill/>
          <a:ln/>
        </p:spPr>
        <p:txBody>
          <a:bodyPr wrap="square" lIns="0" tIns="0" rIns="0" bIns="0" rtlCol="0" anchor="ctr"/>
          <a:lstStyle/>
          <a:p>
            <a:pPr marL="0" indent="0" algn="ctr">
              <a:buNone/>
            </a:pPr>
            <a:r>
              <a:rPr lang="en-GB" sz="1300" noProof="0" dirty="0">
                <a:solidFill>
                  <a:srgbClr val="000000"/>
                </a:solidFill>
                <a:latin typeface="Calibri" pitchFamily="34" charset="0"/>
                <a:ea typeface="Calibri" pitchFamily="34" charset="-122"/>
                <a:cs typeface="Calibri" pitchFamily="34" charset="-120"/>
              </a:rPr>
              <a:t>➡️</a:t>
            </a:r>
            <a:endParaRPr lang="en-GB" sz="1300" noProof="0" dirty="0"/>
          </a:p>
        </p:txBody>
      </p:sp>
      <p:sp>
        <p:nvSpPr>
          <p:cNvPr id="16" name="Shape 14"/>
          <p:cNvSpPr/>
          <p:nvPr/>
        </p:nvSpPr>
        <p:spPr>
          <a:xfrm>
            <a:off x="5076749" y="1379491"/>
            <a:ext cx="2035454" cy="3928772"/>
          </a:xfrm>
          <a:prstGeom prst="roundRect">
            <a:avLst>
              <a:gd name="adj" fmla="val 3594"/>
            </a:avLst>
          </a:prstGeom>
          <a:solidFill>
            <a:srgbClr val="F3F6FB"/>
          </a:solidFill>
          <a:ln w="12700">
            <a:solidFill>
              <a:srgbClr val="E0E3EA"/>
            </a:solidFill>
            <a:prstDash val="solid"/>
          </a:ln>
        </p:spPr>
        <p:txBody>
          <a:bodyPr/>
          <a:lstStyle/>
          <a:p>
            <a:endParaRPr lang="en-GB" noProof="0" dirty="0"/>
          </a:p>
        </p:txBody>
      </p:sp>
      <p:sp>
        <p:nvSpPr>
          <p:cNvPr id="17" name="Shape 15"/>
          <p:cNvSpPr/>
          <p:nvPr/>
        </p:nvSpPr>
        <p:spPr>
          <a:xfrm>
            <a:off x="5865876" y="1489641"/>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18" name="Text 16"/>
          <p:cNvSpPr txBox="1"/>
          <p:nvPr/>
        </p:nvSpPr>
        <p:spPr>
          <a:xfrm>
            <a:off x="5865876" y="1489641"/>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libri" pitchFamily="34" charset="0"/>
                <a:ea typeface="Calibri" pitchFamily="34" charset="-122"/>
                <a:cs typeface="Calibri" pitchFamily="34" charset="-120"/>
              </a:rPr>
              <a:t>3</a:t>
            </a:r>
            <a:endParaRPr lang="en-GB" sz="1500" noProof="0" dirty="0"/>
          </a:p>
        </p:txBody>
      </p:sp>
      <p:sp>
        <p:nvSpPr>
          <p:cNvPr id="19" name="Text 17"/>
          <p:cNvSpPr txBox="1"/>
          <p:nvPr/>
        </p:nvSpPr>
        <p:spPr>
          <a:xfrm>
            <a:off x="5196564" y="2042204"/>
            <a:ext cx="1852573" cy="1368669"/>
          </a:xfrm>
          <a:prstGeom prst="rect">
            <a:avLst/>
          </a:prstGeom>
          <a:noFill/>
          <a:ln/>
        </p:spPr>
        <p:txBody>
          <a:bodyPr wrap="square" lIns="0" tIns="0" rIns="0" bIns="0" rtlCol="0" anchor="t"/>
          <a:lstStyle/>
          <a:p>
            <a:pPr marL="0" indent="0" algn="ctr">
              <a:lnSpc>
                <a:spcPct val="106000"/>
              </a:lnSpc>
              <a:buNone/>
            </a:pPr>
            <a:r>
              <a:rPr lang="en-GB" sz="1800" noProof="0" dirty="0">
                <a:solidFill>
                  <a:srgbClr val="23303F"/>
                </a:solidFill>
                <a:latin typeface="Calibri" pitchFamily="34" charset="0"/>
                <a:ea typeface="Calibri" pitchFamily="34" charset="-122"/>
                <a:cs typeface="Calibri" pitchFamily="34" charset="-120"/>
              </a:rPr>
              <a:t>District hospital: HPV screening, VIA, colposcopy, LEEP, biopsy and referral</a:t>
            </a:r>
            <a:endParaRPr lang="en-GB" sz="1800" noProof="0" dirty="0"/>
          </a:p>
        </p:txBody>
      </p:sp>
      <p:sp>
        <p:nvSpPr>
          <p:cNvPr id="20" name="Text 18"/>
          <p:cNvSpPr txBox="1"/>
          <p:nvPr/>
        </p:nvSpPr>
        <p:spPr>
          <a:xfrm>
            <a:off x="7112203" y="1549737"/>
            <a:ext cx="219456" cy="2651760"/>
          </a:xfrm>
          <a:prstGeom prst="rect">
            <a:avLst/>
          </a:prstGeom>
          <a:noFill/>
          <a:ln/>
        </p:spPr>
        <p:txBody>
          <a:bodyPr wrap="square" lIns="0" tIns="0" rIns="0" bIns="0" rtlCol="0" anchor="ctr"/>
          <a:lstStyle/>
          <a:p>
            <a:pPr marL="0" indent="0" algn="ctr">
              <a:buNone/>
            </a:pPr>
            <a:r>
              <a:rPr lang="en-GB" sz="1300" noProof="0" dirty="0">
                <a:solidFill>
                  <a:srgbClr val="000000"/>
                </a:solidFill>
                <a:latin typeface="Calibri" pitchFamily="34" charset="0"/>
                <a:ea typeface="Calibri" pitchFamily="34" charset="-122"/>
                <a:cs typeface="Calibri" pitchFamily="34" charset="-120"/>
              </a:rPr>
              <a:t>➡️</a:t>
            </a:r>
            <a:endParaRPr lang="en-GB" sz="1300" noProof="0" dirty="0"/>
          </a:p>
        </p:txBody>
      </p:sp>
      <p:sp>
        <p:nvSpPr>
          <p:cNvPr id="21" name="Shape 19"/>
          <p:cNvSpPr/>
          <p:nvPr/>
        </p:nvSpPr>
        <p:spPr>
          <a:xfrm>
            <a:off x="7331659" y="1379491"/>
            <a:ext cx="2035454" cy="3928772"/>
          </a:xfrm>
          <a:prstGeom prst="roundRect">
            <a:avLst>
              <a:gd name="adj" fmla="val 3594"/>
            </a:avLst>
          </a:prstGeom>
          <a:solidFill>
            <a:srgbClr val="F3F6FB"/>
          </a:solidFill>
          <a:ln w="12700">
            <a:solidFill>
              <a:srgbClr val="E0E3EA"/>
            </a:solidFill>
            <a:prstDash val="solid"/>
          </a:ln>
        </p:spPr>
        <p:txBody>
          <a:bodyPr/>
          <a:lstStyle/>
          <a:p>
            <a:endParaRPr lang="en-GB" noProof="0" dirty="0"/>
          </a:p>
        </p:txBody>
      </p:sp>
      <p:sp>
        <p:nvSpPr>
          <p:cNvPr id="22" name="Shape 20"/>
          <p:cNvSpPr/>
          <p:nvPr/>
        </p:nvSpPr>
        <p:spPr>
          <a:xfrm>
            <a:off x="8120786" y="1489641"/>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23" name="Text 21"/>
          <p:cNvSpPr txBox="1"/>
          <p:nvPr/>
        </p:nvSpPr>
        <p:spPr>
          <a:xfrm>
            <a:off x="8120786" y="1489641"/>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libri" pitchFamily="34" charset="0"/>
                <a:ea typeface="Calibri" pitchFamily="34" charset="-122"/>
                <a:cs typeface="Calibri" pitchFamily="34" charset="-120"/>
              </a:rPr>
              <a:t>4</a:t>
            </a:r>
            <a:endParaRPr lang="en-GB" sz="1500" noProof="0" dirty="0"/>
          </a:p>
        </p:txBody>
      </p:sp>
      <p:sp>
        <p:nvSpPr>
          <p:cNvPr id="24" name="Text 22"/>
          <p:cNvSpPr txBox="1"/>
          <p:nvPr/>
        </p:nvSpPr>
        <p:spPr>
          <a:xfrm>
            <a:off x="7419943" y="2042204"/>
            <a:ext cx="1852574" cy="1368669"/>
          </a:xfrm>
          <a:prstGeom prst="rect">
            <a:avLst/>
          </a:prstGeom>
          <a:noFill/>
          <a:ln/>
        </p:spPr>
        <p:txBody>
          <a:bodyPr wrap="square" lIns="0" tIns="0" rIns="0" bIns="0" rtlCol="0" anchor="t"/>
          <a:lstStyle/>
          <a:p>
            <a:pPr marL="0" indent="0" algn="ctr">
              <a:lnSpc>
                <a:spcPct val="106000"/>
              </a:lnSpc>
              <a:buNone/>
            </a:pPr>
            <a:r>
              <a:rPr lang="en-GB" sz="1800" noProof="0" dirty="0">
                <a:solidFill>
                  <a:srgbClr val="23303F"/>
                </a:solidFill>
                <a:latin typeface="Calibri" pitchFamily="34" charset="0"/>
                <a:ea typeface="Calibri" pitchFamily="34" charset="-122"/>
                <a:cs typeface="Calibri" pitchFamily="34" charset="-120"/>
              </a:rPr>
              <a:t>Referral hospital: excisional treatment, biopsy, histopathology, imaging, surgery and chemotherapy</a:t>
            </a:r>
            <a:endParaRPr lang="en-GB" sz="1800" noProof="0" dirty="0"/>
          </a:p>
        </p:txBody>
      </p:sp>
      <p:sp>
        <p:nvSpPr>
          <p:cNvPr id="25" name="Text 23"/>
          <p:cNvSpPr txBox="1"/>
          <p:nvPr/>
        </p:nvSpPr>
        <p:spPr>
          <a:xfrm>
            <a:off x="9367114" y="1549737"/>
            <a:ext cx="219456" cy="2651760"/>
          </a:xfrm>
          <a:prstGeom prst="rect">
            <a:avLst/>
          </a:prstGeom>
          <a:noFill/>
          <a:ln/>
        </p:spPr>
        <p:txBody>
          <a:bodyPr wrap="square" lIns="0" tIns="0" rIns="0" bIns="0" rtlCol="0" anchor="ctr"/>
          <a:lstStyle/>
          <a:p>
            <a:pPr marL="0" indent="0" algn="ctr">
              <a:buNone/>
            </a:pPr>
            <a:r>
              <a:rPr lang="en-GB" sz="1300" noProof="0" dirty="0">
                <a:solidFill>
                  <a:srgbClr val="000000"/>
                </a:solidFill>
                <a:latin typeface="Calibri" pitchFamily="34" charset="0"/>
                <a:ea typeface="Calibri" pitchFamily="34" charset="-122"/>
                <a:cs typeface="Calibri" pitchFamily="34" charset="-120"/>
              </a:rPr>
              <a:t>➡️</a:t>
            </a:r>
            <a:endParaRPr lang="en-GB" sz="1300" noProof="0" dirty="0"/>
          </a:p>
        </p:txBody>
      </p:sp>
      <p:sp>
        <p:nvSpPr>
          <p:cNvPr id="26" name="Shape 24"/>
          <p:cNvSpPr/>
          <p:nvPr/>
        </p:nvSpPr>
        <p:spPr>
          <a:xfrm>
            <a:off x="9586570" y="1379491"/>
            <a:ext cx="2035454" cy="3928772"/>
          </a:xfrm>
          <a:prstGeom prst="roundRect">
            <a:avLst>
              <a:gd name="adj" fmla="val 3594"/>
            </a:avLst>
          </a:prstGeom>
          <a:solidFill>
            <a:srgbClr val="F3F6FB"/>
          </a:solidFill>
          <a:ln w="12700">
            <a:solidFill>
              <a:srgbClr val="E0E3EA"/>
            </a:solidFill>
            <a:prstDash val="solid"/>
          </a:ln>
        </p:spPr>
        <p:txBody>
          <a:bodyPr/>
          <a:lstStyle/>
          <a:p>
            <a:endParaRPr lang="en-GB" noProof="0" dirty="0"/>
          </a:p>
        </p:txBody>
      </p:sp>
      <p:sp>
        <p:nvSpPr>
          <p:cNvPr id="27" name="Shape 25"/>
          <p:cNvSpPr/>
          <p:nvPr/>
        </p:nvSpPr>
        <p:spPr>
          <a:xfrm>
            <a:off x="10375697" y="1489641"/>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28" name="Text 26"/>
          <p:cNvSpPr txBox="1"/>
          <p:nvPr/>
        </p:nvSpPr>
        <p:spPr>
          <a:xfrm>
            <a:off x="10375697" y="1489641"/>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libri" pitchFamily="34" charset="0"/>
                <a:ea typeface="Calibri" pitchFamily="34" charset="-122"/>
                <a:cs typeface="Calibri" pitchFamily="34" charset="-120"/>
              </a:rPr>
              <a:t>5</a:t>
            </a:r>
            <a:endParaRPr lang="en-GB" sz="1500" noProof="0" dirty="0"/>
          </a:p>
        </p:txBody>
      </p:sp>
      <p:sp>
        <p:nvSpPr>
          <p:cNvPr id="29" name="Text 27"/>
          <p:cNvSpPr txBox="1"/>
          <p:nvPr/>
        </p:nvSpPr>
        <p:spPr>
          <a:xfrm>
            <a:off x="9706386" y="2042204"/>
            <a:ext cx="1834286" cy="1368669"/>
          </a:xfrm>
          <a:prstGeom prst="rect">
            <a:avLst/>
          </a:prstGeom>
          <a:noFill/>
          <a:ln/>
        </p:spPr>
        <p:txBody>
          <a:bodyPr wrap="square" lIns="0" tIns="0" rIns="0" bIns="0" rtlCol="0" anchor="t"/>
          <a:lstStyle/>
          <a:p>
            <a:pPr marL="0" indent="0" algn="ctr">
              <a:lnSpc>
                <a:spcPct val="106000"/>
              </a:lnSpc>
              <a:buNone/>
            </a:pPr>
            <a:r>
              <a:rPr lang="en-GB" sz="1800" noProof="0" dirty="0">
                <a:solidFill>
                  <a:srgbClr val="23303F"/>
                </a:solidFill>
                <a:latin typeface="Calibri" pitchFamily="34" charset="0"/>
                <a:ea typeface="Calibri" pitchFamily="34" charset="-122"/>
                <a:cs typeface="Calibri" pitchFamily="34" charset="-120"/>
              </a:rPr>
              <a:t>National level: radiotherapy, brachytherapy and specialist oncology care</a:t>
            </a:r>
            <a:endParaRPr lang="en-GB" sz="1800" noProof="0" dirty="0"/>
          </a:p>
        </p:txBody>
      </p:sp>
      <p:sp>
        <p:nvSpPr>
          <p:cNvPr id="32" name="Shape 15">
            <a:extLst>
              <a:ext uri="{FF2B5EF4-FFF2-40B4-BE49-F238E27FC236}">
                <a16:creationId xmlns:a16="http://schemas.microsoft.com/office/drawing/2014/main" id="{719CEF03-B13B-D11C-3ADC-EDC993FF4155}"/>
              </a:ext>
            </a:extLst>
          </p:cNvPr>
          <p:cNvSpPr/>
          <p:nvPr/>
        </p:nvSpPr>
        <p:spPr>
          <a:xfrm>
            <a:off x="548640" y="5467751"/>
            <a:ext cx="11055096" cy="868680"/>
          </a:xfrm>
          <a:prstGeom prst="roundRect">
            <a:avLst>
              <a:gd name="adj" fmla="val 8140"/>
            </a:avLst>
          </a:prstGeom>
          <a:solidFill>
            <a:srgbClr val="EAF7F0"/>
          </a:solidFill>
          <a:ln w="12700">
            <a:solidFill>
              <a:srgbClr val="C0D4CB"/>
            </a:solidFill>
            <a:prstDash val="solid"/>
          </a:ln>
        </p:spPr>
        <p:txBody>
          <a:bodyPr/>
          <a:lstStyle/>
          <a:p>
            <a:endParaRPr lang="en-GB" sz="1600" noProof="0" dirty="0"/>
          </a:p>
        </p:txBody>
      </p:sp>
      <p:sp>
        <p:nvSpPr>
          <p:cNvPr id="34" name="Text 16">
            <a:extLst>
              <a:ext uri="{FF2B5EF4-FFF2-40B4-BE49-F238E27FC236}">
                <a16:creationId xmlns:a16="http://schemas.microsoft.com/office/drawing/2014/main" id="{55856140-1DA4-A823-FC64-84E34ACBE36F}"/>
              </a:ext>
            </a:extLst>
          </p:cNvPr>
          <p:cNvSpPr txBox="1"/>
          <p:nvPr/>
        </p:nvSpPr>
        <p:spPr>
          <a:xfrm>
            <a:off x="752856" y="5576280"/>
            <a:ext cx="10850880" cy="676656"/>
          </a:xfrm>
          <a:prstGeom prst="rect">
            <a:avLst/>
          </a:prstGeom>
          <a:noFill/>
          <a:ln/>
        </p:spPr>
        <p:txBody>
          <a:bodyPr wrap="square" lIns="0" tIns="0" rIns="0" bIns="0" rtlCol="0" anchor="ctr"/>
          <a:lstStyle/>
          <a:p>
            <a:pPr>
              <a:lnSpc>
                <a:spcPct val="104000"/>
              </a:lnSpc>
            </a:pPr>
            <a:r>
              <a:rPr lang="en-GB" sz="1600" b="1" noProof="0" dirty="0">
                <a:solidFill>
                  <a:srgbClr val="19543E"/>
                </a:solidFill>
                <a:latin typeface="Calibri" pitchFamily="34" charset="0"/>
                <a:ea typeface="Calibri" pitchFamily="34" charset="-122"/>
                <a:cs typeface="Calibri" pitchFamily="34" charset="-120"/>
              </a:rPr>
              <a:t>🏥 Service availability is evolving:  </a:t>
            </a:r>
            <a:r>
              <a:rPr lang="en-GB" sz="1600" noProof="0" dirty="0">
                <a:solidFill>
                  <a:srgbClr val="23303F"/>
                </a:solidFill>
                <a:latin typeface="Calibri" pitchFamily="34" charset="0"/>
                <a:ea typeface="Calibri" pitchFamily="34" charset="-122"/>
                <a:cs typeface="Calibri" pitchFamily="34" charset="-120"/>
              </a:rPr>
              <a:t>HPV DNA testing and VIA are provided at health centres and district hospitals. LEEP and biopsy are provided at district hospitals; specialist cancer services are concentrated at referral hospitals, with capacity expanding over time.</a:t>
            </a:r>
          </a:p>
        </p:txBody>
      </p:sp>
      <p:pic>
        <p:nvPicPr>
          <p:cNvPr id="39" name="Imagen 38">
            <a:extLst>
              <a:ext uri="{FF2B5EF4-FFF2-40B4-BE49-F238E27FC236}">
                <a16:creationId xmlns:a16="http://schemas.microsoft.com/office/drawing/2014/main" id="{C1BA9C05-F293-F7EA-A68A-7AC6F595AD0A}"/>
              </a:ext>
            </a:extLst>
          </p:cNvPr>
          <p:cNvPicPr>
            <a:picLocks noChangeAspect="1"/>
          </p:cNvPicPr>
          <p:nvPr/>
        </p:nvPicPr>
        <p:blipFill>
          <a:blip r:embed="rId3"/>
          <a:stretch>
            <a:fillRect/>
          </a:stretch>
        </p:blipFill>
        <p:spPr>
          <a:xfrm>
            <a:off x="1009423" y="4111841"/>
            <a:ext cx="1199851" cy="1199851"/>
          </a:xfrm>
          <a:prstGeom prst="rect">
            <a:avLst/>
          </a:prstGeom>
        </p:spPr>
      </p:pic>
      <p:pic>
        <p:nvPicPr>
          <p:cNvPr id="40" name="Imagen 39">
            <a:extLst>
              <a:ext uri="{FF2B5EF4-FFF2-40B4-BE49-F238E27FC236}">
                <a16:creationId xmlns:a16="http://schemas.microsoft.com/office/drawing/2014/main" id="{BEEFFE13-B75F-F040-C862-85029A0AEAEB}"/>
              </a:ext>
            </a:extLst>
          </p:cNvPr>
          <p:cNvPicPr>
            <a:picLocks noChangeAspect="1"/>
          </p:cNvPicPr>
          <p:nvPr/>
        </p:nvPicPr>
        <p:blipFill>
          <a:blip r:embed="rId4"/>
          <a:srcRect/>
          <a:stretch>
            <a:fillRect/>
          </a:stretch>
        </p:blipFill>
        <p:spPr>
          <a:xfrm>
            <a:off x="3214946" y="4056691"/>
            <a:ext cx="1156822" cy="1156822"/>
          </a:xfrm>
          <a:prstGeom prst="rect">
            <a:avLst/>
          </a:prstGeom>
        </p:spPr>
      </p:pic>
      <p:pic>
        <p:nvPicPr>
          <p:cNvPr id="41" name="Imagen 40">
            <a:extLst>
              <a:ext uri="{FF2B5EF4-FFF2-40B4-BE49-F238E27FC236}">
                <a16:creationId xmlns:a16="http://schemas.microsoft.com/office/drawing/2014/main" id="{35CDBC11-DBB9-0FE6-0800-0C03294D9461}"/>
              </a:ext>
            </a:extLst>
          </p:cNvPr>
          <p:cNvPicPr>
            <a:picLocks noChangeAspect="1"/>
          </p:cNvPicPr>
          <p:nvPr/>
        </p:nvPicPr>
        <p:blipFill>
          <a:blip r:embed="rId5"/>
          <a:srcRect/>
          <a:stretch>
            <a:fillRect/>
          </a:stretch>
        </p:blipFill>
        <p:spPr>
          <a:xfrm>
            <a:off x="5508049" y="4056691"/>
            <a:ext cx="1130164" cy="1130164"/>
          </a:xfrm>
          <a:prstGeom prst="rect">
            <a:avLst/>
          </a:prstGeom>
        </p:spPr>
      </p:pic>
      <p:pic>
        <p:nvPicPr>
          <p:cNvPr id="42" name="Imagen 41">
            <a:extLst>
              <a:ext uri="{FF2B5EF4-FFF2-40B4-BE49-F238E27FC236}">
                <a16:creationId xmlns:a16="http://schemas.microsoft.com/office/drawing/2014/main" id="{A2628088-702C-CD83-ACFE-178BD926530E}"/>
              </a:ext>
            </a:extLst>
          </p:cNvPr>
          <p:cNvPicPr>
            <a:picLocks noChangeAspect="1"/>
          </p:cNvPicPr>
          <p:nvPr/>
        </p:nvPicPr>
        <p:blipFill>
          <a:blip r:embed="rId6"/>
          <a:srcRect/>
          <a:stretch>
            <a:fillRect/>
          </a:stretch>
        </p:blipFill>
        <p:spPr>
          <a:xfrm>
            <a:off x="7688081" y="3915517"/>
            <a:ext cx="1193507" cy="1193507"/>
          </a:xfrm>
          <a:prstGeom prst="rect">
            <a:avLst/>
          </a:prstGeom>
        </p:spPr>
      </p:pic>
      <p:pic>
        <p:nvPicPr>
          <p:cNvPr id="43" name="Imagen 42">
            <a:extLst>
              <a:ext uri="{FF2B5EF4-FFF2-40B4-BE49-F238E27FC236}">
                <a16:creationId xmlns:a16="http://schemas.microsoft.com/office/drawing/2014/main" id="{C87E9278-971D-6986-54F6-6DD63C9C07B7}"/>
              </a:ext>
            </a:extLst>
          </p:cNvPr>
          <p:cNvPicPr>
            <a:picLocks noChangeAspect="1"/>
          </p:cNvPicPr>
          <p:nvPr/>
        </p:nvPicPr>
        <p:blipFill>
          <a:blip r:embed="rId7"/>
          <a:srcRect/>
          <a:stretch>
            <a:fillRect/>
          </a:stretch>
        </p:blipFill>
        <p:spPr>
          <a:xfrm>
            <a:off x="10017870" y="3944317"/>
            <a:ext cx="1164707" cy="1164707"/>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123</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3 · REFERRAL</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How urgently to refer</a:t>
            </a:r>
            <a:endParaRPr lang="en-GB" sz="3200" noProof="0" dirty="0"/>
          </a:p>
        </p:txBody>
      </p:sp>
      <p:sp>
        <p:nvSpPr>
          <p:cNvPr id="6" name="Shape 4"/>
          <p:cNvSpPr/>
          <p:nvPr/>
        </p:nvSpPr>
        <p:spPr>
          <a:xfrm>
            <a:off x="566928" y="1719072"/>
            <a:ext cx="3563112" cy="3566160"/>
          </a:xfrm>
          <a:prstGeom prst="roundRect">
            <a:avLst>
              <a:gd name="adj" fmla="val 2310"/>
            </a:avLst>
          </a:prstGeom>
          <a:solidFill>
            <a:srgbClr val="FDE9E8"/>
          </a:solidFill>
          <a:ln w="12700">
            <a:solidFill>
              <a:srgbClr val="F0CFCE"/>
            </a:solidFill>
            <a:prstDash val="solid"/>
          </a:ln>
        </p:spPr>
        <p:txBody>
          <a:bodyPr/>
          <a:lstStyle/>
          <a:p>
            <a:endParaRPr lang="en-GB" noProof="0" dirty="0"/>
          </a:p>
        </p:txBody>
      </p:sp>
      <p:sp>
        <p:nvSpPr>
          <p:cNvPr id="7" name="Text 5"/>
          <p:cNvSpPr txBox="1"/>
          <p:nvPr/>
        </p:nvSpPr>
        <p:spPr>
          <a:xfrm>
            <a:off x="822960" y="1920240"/>
            <a:ext cx="3051048" cy="566928"/>
          </a:xfrm>
          <a:prstGeom prst="rect">
            <a:avLst/>
          </a:prstGeom>
          <a:noFill/>
          <a:ln/>
        </p:spPr>
        <p:txBody>
          <a:bodyPr wrap="square" lIns="0" tIns="0" rIns="0" bIns="0" rtlCol="0" anchor="ctr"/>
          <a:lstStyle/>
          <a:p>
            <a:pPr marL="0" indent="0">
              <a:buNone/>
            </a:pPr>
            <a:r>
              <a:rPr lang="en-GB" sz="2000" b="1" noProof="0" dirty="0">
                <a:solidFill>
                  <a:srgbClr val="8E2531"/>
                </a:solidFill>
                <a:latin typeface="Calibri" pitchFamily="34" charset="0"/>
                <a:ea typeface="Calibri" pitchFamily="34" charset="-122"/>
                <a:cs typeface="Calibri" pitchFamily="34" charset="-120"/>
              </a:rPr>
              <a:t>🔴  Emergency, same day</a:t>
            </a:r>
            <a:endParaRPr lang="en-GB" sz="2000" noProof="0" dirty="0"/>
          </a:p>
        </p:txBody>
      </p:sp>
      <p:sp>
        <p:nvSpPr>
          <p:cNvPr id="8" name="Text 6"/>
          <p:cNvSpPr txBox="1"/>
          <p:nvPr/>
        </p:nvSpPr>
        <p:spPr>
          <a:xfrm>
            <a:off x="877824" y="2560320"/>
            <a:ext cx="2996184" cy="252374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Heavy or continuing bleeding.</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Dizziness or pallor with bleeding.</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Severe symptomatic anaemia.</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Severe pain in an unwell woman.</a:t>
            </a:r>
            <a:endParaRPr lang="en-GB" sz="1800" noProof="0" dirty="0"/>
          </a:p>
        </p:txBody>
      </p:sp>
      <p:sp>
        <p:nvSpPr>
          <p:cNvPr id="9" name="Shape 7"/>
          <p:cNvSpPr/>
          <p:nvPr/>
        </p:nvSpPr>
        <p:spPr>
          <a:xfrm>
            <a:off x="4312920" y="1719072"/>
            <a:ext cx="3563112" cy="3566160"/>
          </a:xfrm>
          <a:prstGeom prst="roundRect">
            <a:avLst>
              <a:gd name="adj" fmla="val 2310"/>
            </a:avLst>
          </a:prstGeom>
          <a:solidFill>
            <a:srgbClr val="FFF2DF"/>
          </a:solidFill>
          <a:ln w="12700">
            <a:solidFill>
              <a:srgbClr val="E8DDC7"/>
            </a:solidFill>
            <a:prstDash val="solid"/>
          </a:ln>
        </p:spPr>
        <p:txBody>
          <a:bodyPr/>
          <a:lstStyle/>
          <a:p>
            <a:endParaRPr lang="en-GB" noProof="0" dirty="0"/>
          </a:p>
        </p:txBody>
      </p:sp>
      <p:sp>
        <p:nvSpPr>
          <p:cNvPr id="10" name="Text 8"/>
          <p:cNvSpPr txBox="1"/>
          <p:nvPr/>
        </p:nvSpPr>
        <p:spPr>
          <a:xfrm>
            <a:off x="4568952" y="1920240"/>
            <a:ext cx="3051048" cy="566928"/>
          </a:xfrm>
          <a:prstGeom prst="rect">
            <a:avLst/>
          </a:prstGeom>
          <a:noFill/>
          <a:ln/>
        </p:spPr>
        <p:txBody>
          <a:bodyPr wrap="square" lIns="0" tIns="0" rIns="0" bIns="0" rtlCol="0" anchor="ctr"/>
          <a:lstStyle/>
          <a:p>
            <a:pPr marL="0" indent="0">
              <a:buNone/>
            </a:pPr>
            <a:r>
              <a:rPr lang="en-GB" sz="2000" b="1" noProof="0" dirty="0">
                <a:solidFill>
                  <a:srgbClr val="7B5727"/>
                </a:solidFill>
                <a:latin typeface="Calibri" pitchFamily="34" charset="0"/>
                <a:ea typeface="Calibri" pitchFamily="34" charset="-122"/>
                <a:cs typeface="Calibri" pitchFamily="34" charset="-120"/>
              </a:rPr>
              <a:t>🟠  Prompt, without waiting</a:t>
            </a:r>
            <a:endParaRPr lang="en-GB" sz="2000" noProof="0" dirty="0"/>
          </a:p>
        </p:txBody>
      </p:sp>
      <p:sp>
        <p:nvSpPr>
          <p:cNvPr id="11" name="Text 9"/>
          <p:cNvSpPr txBox="1"/>
          <p:nvPr/>
        </p:nvSpPr>
        <p:spPr>
          <a:xfrm>
            <a:off x="4623816" y="2560320"/>
            <a:ext cx="2996184" cy="252374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A cervix suspicious for cancer.</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Bleeding after the menopause.</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Bleeding after intercourse.</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Persistent offensive discharge.</a:t>
            </a:r>
            <a:endParaRPr lang="en-GB" sz="1800" noProof="0" dirty="0"/>
          </a:p>
        </p:txBody>
      </p:sp>
      <p:sp>
        <p:nvSpPr>
          <p:cNvPr id="12" name="Shape 10"/>
          <p:cNvSpPr/>
          <p:nvPr/>
        </p:nvSpPr>
        <p:spPr>
          <a:xfrm>
            <a:off x="8058912" y="1719072"/>
            <a:ext cx="3563112" cy="3566160"/>
          </a:xfrm>
          <a:prstGeom prst="roundRect">
            <a:avLst>
              <a:gd name="adj" fmla="val 2310"/>
            </a:avLst>
          </a:prstGeom>
          <a:solidFill>
            <a:srgbClr val="ECF3FD"/>
          </a:solidFill>
          <a:ln w="12700">
            <a:solidFill>
              <a:srgbClr val="E0E3EA"/>
            </a:solidFill>
            <a:prstDash val="solid"/>
          </a:ln>
        </p:spPr>
        <p:txBody>
          <a:bodyPr/>
          <a:lstStyle/>
          <a:p>
            <a:endParaRPr lang="en-GB" noProof="0" dirty="0"/>
          </a:p>
        </p:txBody>
      </p:sp>
      <p:sp>
        <p:nvSpPr>
          <p:cNvPr id="13" name="Text 11"/>
          <p:cNvSpPr txBox="1"/>
          <p:nvPr/>
        </p:nvSpPr>
        <p:spPr>
          <a:xfrm>
            <a:off x="8314944" y="1920240"/>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Routine referral</a:t>
            </a:r>
            <a:endParaRPr lang="en-GB" sz="2000" noProof="0" dirty="0"/>
          </a:p>
        </p:txBody>
      </p:sp>
      <p:sp>
        <p:nvSpPr>
          <p:cNvPr id="14" name="Text 12"/>
          <p:cNvSpPr txBox="1"/>
          <p:nvPr/>
        </p:nvSpPr>
        <p:spPr>
          <a:xfrm>
            <a:off x="8369808" y="2560320"/>
            <a:ext cx="2996184" cy="252374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A lesion needing excision, not suspicious.</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A follow-up test at a higher level.</a:t>
            </a:r>
            <a:endParaRPr lang="en-GB" sz="1800" noProof="0" dirty="0"/>
          </a:p>
          <a:p>
            <a:pPr marL="342900" indent="-342900">
              <a:lnSpc>
                <a:spcPct val="102000"/>
              </a:lnSpc>
              <a:spcAft>
                <a:spcPts val="800"/>
              </a:spcAft>
              <a:buSzPct val="100000"/>
              <a:buChar char="•"/>
            </a:pPr>
            <a:r>
              <a:rPr lang="en-GB" sz="1800" noProof="0" dirty="0">
                <a:solidFill>
                  <a:srgbClr val="23303F"/>
                </a:solidFill>
                <a:latin typeface="Calibri" pitchFamily="34" charset="0"/>
                <a:ea typeface="Calibri" pitchFamily="34" charset="-122"/>
                <a:cs typeface="Calibri" pitchFamily="34" charset="-120"/>
              </a:rPr>
              <a:t>Specialist opinion, no time pressure.</a:t>
            </a:r>
            <a:endParaRPr lang="en-GB" sz="1800" noProof="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hape 9">
            <a:extLst>
              <a:ext uri="{FF2B5EF4-FFF2-40B4-BE49-F238E27FC236}">
                <a16:creationId xmlns:a16="http://schemas.microsoft.com/office/drawing/2014/main" id="{96945A4A-9165-FFBA-A2ED-D1E08F29F3F8}"/>
              </a:ext>
            </a:extLst>
          </p:cNvPr>
          <p:cNvSpPr/>
          <p:nvPr/>
        </p:nvSpPr>
        <p:spPr>
          <a:xfrm>
            <a:off x="548639" y="1225296"/>
            <a:ext cx="7223762" cy="4416552"/>
          </a:xfrm>
          <a:prstGeom prst="roundRect">
            <a:avLst>
              <a:gd name="adj" fmla="val 4167"/>
            </a:avLst>
          </a:prstGeom>
          <a:solidFill>
            <a:srgbClr val="F3F7FC"/>
          </a:solidFill>
          <a:ln w="15875">
            <a:solidFill>
              <a:srgbClr val="C9DCF2"/>
            </a:solidFill>
            <a:prstDash val="solid"/>
          </a:ln>
        </p:spPr>
        <p:txBody>
          <a:bodyPr/>
          <a:lstStyle/>
          <a:p>
            <a:endParaRPr lang="en-GB" noProof="0" dirty="0"/>
          </a:p>
        </p:txBody>
      </p:sp>
      <p:sp>
        <p:nvSpPr>
          <p:cNvPr id="2" name="Text 0"/>
          <p:cNvSpPr/>
          <p:nvPr/>
        </p:nvSpPr>
        <p:spPr>
          <a:xfrm>
            <a:off x="548640" y="310896"/>
            <a:ext cx="11094415" cy="256032"/>
          </a:xfrm>
          <a:prstGeom prst="rect">
            <a:avLst/>
          </a:prstGeom>
          <a:noFill/>
          <a:ln/>
        </p:spPr>
        <p:txBody>
          <a:bodyPr wrap="square" rtlCol="0" anchor="ctr"/>
          <a:lstStyle/>
          <a:p>
            <a:pPr marL="0" indent="0">
              <a:buNone/>
            </a:pPr>
            <a:r>
              <a:rPr lang="en-GB" sz="1200" b="1" kern="0" spc="200" noProof="0" dirty="0">
                <a:solidFill>
                  <a:srgbClr val="1F4E96"/>
                </a:solidFill>
                <a:latin typeface="Calibri" pitchFamily="34" charset="0"/>
                <a:ea typeface="Calibri" pitchFamily="34" charset="-122"/>
                <a:cs typeface="Calibri" pitchFamily="34" charset="-120"/>
              </a:rPr>
              <a:t>SESSION 3</a:t>
            </a:r>
            <a:endParaRPr lang="en-GB"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en-GB" sz="3400" b="1" noProof="0" dirty="0">
                <a:solidFill>
                  <a:srgbClr val="0E2E5C"/>
                </a:solidFill>
                <a:latin typeface="Cambria" pitchFamily="34" charset="0"/>
                <a:ea typeface="Cambria" pitchFamily="34" charset="-122"/>
                <a:cs typeface="Cambria" pitchFamily="34" charset="-120"/>
              </a:rPr>
              <a:t>What to record at first contact</a:t>
            </a:r>
            <a:endParaRPr lang="en-GB"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en-GB" sz="1000" noProof="0" dirty="0">
                <a:solidFill>
                  <a:srgbClr val="5B7195"/>
                </a:solidFill>
                <a:latin typeface="Calibri" pitchFamily="34" charset="0"/>
                <a:ea typeface="Calibri" pitchFamily="34" charset="-122"/>
                <a:cs typeface="Calibri" pitchFamily="34" charset="-120"/>
              </a:rPr>
              <a:t>Colorectal Cancer  |  Frontline HCP  |  Rwanda Biomedical Centre</a:t>
            </a:r>
            <a:endParaRPr lang="en-GB" sz="1000" noProof="0" dirty="0"/>
          </a:p>
        </p:txBody>
      </p:sp>
      <p:sp>
        <p:nvSpPr>
          <p:cNvPr id="7" name="Text 5"/>
          <p:cNvSpPr/>
          <p:nvPr/>
        </p:nvSpPr>
        <p:spPr>
          <a:xfrm>
            <a:off x="745806" y="1457435"/>
            <a:ext cx="6855143" cy="4000391"/>
          </a:xfrm>
          <a:prstGeom prst="rect">
            <a:avLst/>
          </a:prstGeom>
          <a:noFill/>
          <a:ln/>
        </p:spPr>
        <p:txBody>
          <a:bodyPr wrap="square" lIns="0" tIns="0" rIns="0" bIns="0" rtlCol="0" anchor="t"/>
          <a:lstStyle/>
          <a:p>
            <a:pPr marL="0" indent="0">
              <a:lnSpc>
                <a:spcPct val="105000"/>
              </a:lnSpc>
              <a:spcAft>
                <a:spcPts val="600"/>
              </a:spcAft>
              <a:buNone/>
            </a:pPr>
            <a:r>
              <a:rPr lang="en-GB" sz="1800" b="1" noProof="0" dirty="0">
                <a:solidFill>
                  <a:srgbClr val="17325E"/>
                </a:solidFill>
                <a:latin typeface="Calibri" pitchFamily="34" charset="0"/>
                <a:ea typeface="Calibri" pitchFamily="34" charset="-122"/>
                <a:cs typeface="Calibri" pitchFamily="34" charset="-120"/>
              </a:rPr>
              <a:t>Who: </a:t>
            </a:r>
            <a:r>
              <a:rPr lang="en-GB" sz="1800" noProof="0" dirty="0">
                <a:solidFill>
                  <a:srgbClr val="17325E"/>
                </a:solidFill>
                <a:latin typeface="Calibri" pitchFamily="34" charset="0"/>
                <a:ea typeface="Calibri" pitchFamily="34" charset="-122"/>
                <a:cs typeface="Calibri" pitchFamily="34" charset="-120"/>
              </a:rPr>
              <a:t>Full name, age, sex, and residence by village and district, so records can be linked and duplicates avoided.</a:t>
            </a:r>
          </a:p>
          <a:p>
            <a:pPr marL="0" indent="0">
              <a:lnSpc>
                <a:spcPct val="105000"/>
              </a:lnSpc>
              <a:spcAft>
                <a:spcPts val="600"/>
              </a:spcAft>
              <a:buNone/>
            </a:pPr>
            <a:r>
              <a:rPr lang="en-GB" sz="1800" b="1" noProof="0" dirty="0">
                <a:solidFill>
                  <a:srgbClr val="17325E"/>
                </a:solidFill>
                <a:latin typeface="Calibri" pitchFamily="34" charset="0"/>
                <a:ea typeface="Calibri" pitchFamily="34" charset="-122"/>
                <a:cs typeface="Calibri" pitchFamily="34" charset="-120"/>
              </a:rPr>
              <a:t>When: </a:t>
            </a:r>
            <a:r>
              <a:rPr lang="en-GB" sz="1800" noProof="0" dirty="0">
                <a:solidFill>
                  <a:srgbClr val="17325E"/>
                </a:solidFill>
                <a:latin typeface="Calibri" pitchFamily="34" charset="0"/>
                <a:ea typeface="Calibri" pitchFamily="34" charset="-122"/>
                <a:cs typeface="Calibri" pitchFamily="34" charset="-120"/>
              </a:rPr>
              <a:t>Date the symptoms began, as the person reports it, and the date of this consultation. This pair measures diagnostic delay.</a:t>
            </a:r>
          </a:p>
          <a:p>
            <a:pPr marL="0" indent="0">
              <a:lnSpc>
                <a:spcPct val="105000"/>
              </a:lnSpc>
              <a:spcAft>
                <a:spcPts val="600"/>
              </a:spcAft>
              <a:buNone/>
            </a:pPr>
            <a:r>
              <a:rPr lang="en-GB" sz="1800" b="1" noProof="0" dirty="0">
                <a:solidFill>
                  <a:srgbClr val="17325E"/>
                </a:solidFill>
                <a:latin typeface="Calibri" pitchFamily="34" charset="0"/>
                <a:ea typeface="Calibri" pitchFamily="34" charset="-122"/>
                <a:cs typeface="Calibri" pitchFamily="34" charset="-120"/>
              </a:rPr>
              <a:t>What: </a:t>
            </a:r>
            <a:r>
              <a:rPr lang="en-GB" sz="1800" noProof="0" dirty="0">
                <a:solidFill>
                  <a:srgbClr val="17325E"/>
                </a:solidFill>
                <a:latin typeface="Calibri" pitchFamily="34" charset="0"/>
                <a:ea typeface="Calibri" pitchFamily="34" charset="-122"/>
                <a:cs typeface="Calibri" pitchFamily="34" charset="-120"/>
              </a:rPr>
              <a:t>The specific symptom that triggered the referral.</a:t>
            </a:r>
          </a:p>
          <a:p>
            <a:pPr marL="0" indent="0">
              <a:lnSpc>
                <a:spcPct val="105000"/>
              </a:lnSpc>
              <a:spcAft>
                <a:spcPts val="600"/>
              </a:spcAft>
              <a:buNone/>
            </a:pPr>
            <a:r>
              <a:rPr lang="en-GB" sz="1800" b="1" noProof="0" dirty="0">
                <a:solidFill>
                  <a:srgbClr val="17325E"/>
                </a:solidFill>
                <a:latin typeface="Calibri" pitchFamily="34" charset="0"/>
                <a:ea typeface="Calibri" pitchFamily="34" charset="-122"/>
                <a:cs typeface="Calibri" pitchFamily="34" charset="-120"/>
              </a:rPr>
              <a:t>Findings: </a:t>
            </a:r>
            <a:r>
              <a:rPr lang="en-GB" sz="1800" noProof="0" dirty="0">
                <a:solidFill>
                  <a:srgbClr val="17325E"/>
                </a:solidFill>
                <a:latin typeface="Calibri" pitchFamily="34" charset="0"/>
                <a:ea typeface="Calibri" pitchFamily="34" charset="-122"/>
                <a:cs typeface="Calibri" pitchFamily="34" charset="-120"/>
              </a:rPr>
              <a:t>What you actually found on examination, including a normal examination. Record it even when no test was available.</a:t>
            </a:r>
          </a:p>
          <a:p>
            <a:pPr>
              <a:lnSpc>
                <a:spcPct val="105000"/>
              </a:lnSpc>
              <a:spcAft>
                <a:spcPts val="600"/>
              </a:spcAft>
            </a:pPr>
            <a:r>
              <a:rPr lang="en-GB" sz="1800" b="1" noProof="0" dirty="0">
                <a:solidFill>
                  <a:srgbClr val="17325E"/>
                </a:solidFill>
                <a:latin typeface="Calibri" pitchFamily="34" charset="0"/>
                <a:ea typeface="Calibri" pitchFamily="34" charset="-122"/>
                <a:cs typeface="Calibri" pitchFamily="34" charset="-120"/>
              </a:rPr>
              <a:t>Tests: </a:t>
            </a:r>
            <a:r>
              <a:rPr lang="en-GB" sz="1800" noProof="0" dirty="0">
                <a:solidFill>
                  <a:srgbClr val="17325E"/>
                </a:solidFill>
                <a:latin typeface="Calibri" pitchFamily="34" charset="0"/>
                <a:ea typeface="Calibri" pitchFamily="34" charset="-122"/>
                <a:cs typeface="Calibri" pitchFamily="34" charset="-120"/>
              </a:rPr>
              <a:t>Whether a </a:t>
            </a:r>
            <a:r>
              <a:rPr lang="en-GB" noProof="0" dirty="0">
                <a:solidFill>
                  <a:srgbClr val="17325E"/>
                </a:solidFill>
                <a:latin typeface="Calibri" pitchFamily="34" charset="0"/>
                <a:ea typeface="Calibri" pitchFamily="34" charset="-122"/>
                <a:cs typeface="Calibri" pitchFamily="34" charset="-120"/>
              </a:rPr>
              <a:t>screening </a:t>
            </a:r>
            <a:r>
              <a:rPr lang="en-GB" sz="1800" noProof="0" dirty="0">
                <a:solidFill>
                  <a:srgbClr val="17325E"/>
                </a:solidFill>
                <a:latin typeface="Calibri" pitchFamily="34" charset="0"/>
                <a:ea typeface="Calibri" pitchFamily="34" charset="-122"/>
                <a:cs typeface="Calibri" pitchFamily="34" charset="-120"/>
              </a:rPr>
              <a:t>or other test was done, and the result once it is available. Submit the record even if nothing was done yet.</a:t>
            </a:r>
          </a:p>
          <a:p>
            <a:pPr marL="0" indent="0">
              <a:lnSpc>
                <a:spcPct val="105000"/>
              </a:lnSpc>
              <a:spcAft>
                <a:spcPts val="600"/>
              </a:spcAft>
              <a:buNone/>
            </a:pPr>
            <a:r>
              <a:rPr lang="en-GB" sz="1800" b="1" noProof="0" dirty="0">
                <a:solidFill>
                  <a:srgbClr val="17325E"/>
                </a:solidFill>
                <a:latin typeface="Calibri" pitchFamily="34" charset="0"/>
                <a:ea typeface="Calibri" pitchFamily="34" charset="-122"/>
                <a:cs typeface="Calibri" pitchFamily="34" charset="-120"/>
              </a:rPr>
              <a:t>Where to: </a:t>
            </a:r>
            <a:r>
              <a:rPr lang="en-GB" sz="1800" noProof="0" dirty="0">
                <a:solidFill>
                  <a:srgbClr val="17325E"/>
                </a:solidFill>
                <a:latin typeface="Calibri" pitchFamily="34" charset="0"/>
                <a:ea typeface="Calibri" pitchFamily="34" charset="-122"/>
                <a:cs typeface="Calibri" pitchFamily="34" charset="-120"/>
              </a:rPr>
              <a:t>The referral destination and date, and whether the person is known to have arrived. This is how loss to follow-up is measured.</a:t>
            </a:r>
          </a:p>
        </p:txBody>
      </p:sp>
      <p:sp>
        <p:nvSpPr>
          <p:cNvPr id="23" name="Text 21"/>
          <p:cNvSpPr/>
          <p:nvPr/>
        </p:nvSpPr>
        <p:spPr>
          <a:xfrm>
            <a:off x="548640" y="5806440"/>
            <a:ext cx="11094415" cy="411480"/>
          </a:xfrm>
          <a:prstGeom prst="rect">
            <a:avLst/>
          </a:prstGeom>
          <a:noFill/>
          <a:ln/>
        </p:spPr>
        <p:txBody>
          <a:bodyPr wrap="square" rtlCol="0" anchor="ctr"/>
          <a:lstStyle/>
          <a:p>
            <a:pPr marL="0" indent="0">
              <a:buNone/>
            </a:pPr>
            <a:r>
              <a:rPr lang="en-GB" sz="1500" b="1" i="1" noProof="0" dirty="0">
                <a:solidFill>
                  <a:schemeClr val="bg2">
                    <a:lumMod val="50000"/>
                  </a:schemeClr>
                </a:solidFill>
                <a:latin typeface="Calibri" pitchFamily="34" charset="0"/>
                <a:ea typeface="Calibri" pitchFamily="34" charset="-122"/>
                <a:cs typeface="Calibri" pitchFamily="34" charset="-120"/>
              </a:rPr>
              <a:t>Note: </a:t>
            </a:r>
            <a:r>
              <a:rPr lang="en-GB" sz="1500" i="1" noProof="0" dirty="0">
                <a:solidFill>
                  <a:schemeClr val="bg2">
                    <a:lumMod val="50000"/>
                  </a:schemeClr>
                </a:solidFill>
                <a:latin typeface="Calibri" pitchFamily="34" charset="0"/>
                <a:ea typeface="Calibri" pitchFamily="34" charset="-122"/>
                <a:cs typeface="Calibri" pitchFamily="34" charset="-120"/>
              </a:rPr>
              <a:t>In the absence of routine testing, your clinical judgement is the data. A record completed at first suspicion and updated later is far more useful than a blank form waiting for a confirmatory test.</a:t>
            </a:r>
            <a:endParaRPr lang="en-GB" sz="1500" noProof="0" dirty="0">
              <a:solidFill>
                <a:schemeClr val="bg2">
                  <a:lumMod val="50000"/>
                </a:schemeClr>
              </a:solidFill>
            </a:endParaRPr>
          </a:p>
        </p:txBody>
      </p:sp>
      <p:pic>
        <p:nvPicPr>
          <p:cNvPr id="6" name="Imagen 5">
            <a:extLst>
              <a:ext uri="{FF2B5EF4-FFF2-40B4-BE49-F238E27FC236}">
                <a16:creationId xmlns:a16="http://schemas.microsoft.com/office/drawing/2014/main" id="{9C2D5011-62BB-E644-90D2-2B3DB2D63154}"/>
              </a:ext>
            </a:extLst>
          </p:cNvPr>
          <p:cNvPicPr>
            <a:picLocks noChangeAspect="1"/>
          </p:cNvPicPr>
          <p:nvPr/>
        </p:nvPicPr>
        <p:blipFill>
          <a:blip r:embed="rId3"/>
          <a:stretch>
            <a:fillRect/>
          </a:stretch>
        </p:blipFill>
        <p:spPr>
          <a:xfrm>
            <a:off x="8220088" y="1225296"/>
            <a:ext cx="2990706" cy="4486059"/>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125</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3 · REFERRAL</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Before she leaves the room</a:t>
            </a:r>
            <a:endParaRPr lang="en-GB" sz="3200" noProof="0" dirty="0"/>
          </a:p>
        </p:txBody>
      </p:sp>
      <p:sp>
        <p:nvSpPr>
          <p:cNvPr id="6" name="Shape 4"/>
          <p:cNvSpPr/>
          <p:nvPr/>
        </p:nvSpPr>
        <p:spPr>
          <a:xfrm>
            <a:off x="566928" y="1719072"/>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786384" y="1719072"/>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8" name="Text 6"/>
          <p:cNvSpPr txBox="1"/>
          <p:nvPr/>
        </p:nvSpPr>
        <p:spPr>
          <a:xfrm>
            <a:off x="1463040" y="1773936"/>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Name the facility she is going to, and give the referral in writing.</a:t>
            </a:r>
            <a:endParaRPr lang="en-GB" sz="1800" noProof="0" dirty="0"/>
          </a:p>
        </p:txBody>
      </p:sp>
      <p:sp>
        <p:nvSpPr>
          <p:cNvPr id="9" name="Shape 7"/>
          <p:cNvSpPr/>
          <p:nvPr/>
        </p:nvSpPr>
        <p:spPr>
          <a:xfrm>
            <a:off x="566928" y="2632880"/>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786384" y="2632880"/>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1" name="Text 9"/>
          <p:cNvSpPr txBox="1"/>
          <p:nvPr/>
        </p:nvSpPr>
        <p:spPr>
          <a:xfrm>
            <a:off x="1463040" y="2687744"/>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Explain what will happen there, in plain words.</a:t>
            </a:r>
            <a:endParaRPr lang="en-GB" sz="1800" noProof="0" dirty="0"/>
          </a:p>
        </p:txBody>
      </p:sp>
      <p:sp>
        <p:nvSpPr>
          <p:cNvPr id="12" name="Shape 10"/>
          <p:cNvSpPr/>
          <p:nvPr/>
        </p:nvSpPr>
        <p:spPr>
          <a:xfrm>
            <a:off x="566928" y="3546687"/>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786384" y="3546687"/>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4" name="Text 12"/>
          <p:cNvSpPr txBox="1"/>
          <p:nvPr/>
        </p:nvSpPr>
        <p:spPr>
          <a:xfrm>
            <a:off x="1463040" y="3601551"/>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Record the date, and tell her when she is expected.</a:t>
            </a:r>
            <a:endParaRPr lang="en-GB" sz="1800" noProof="0" dirty="0"/>
          </a:p>
        </p:txBody>
      </p:sp>
      <p:sp>
        <p:nvSpPr>
          <p:cNvPr id="15" name="Shape 13"/>
          <p:cNvSpPr/>
          <p:nvPr/>
        </p:nvSpPr>
        <p:spPr>
          <a:xfrm>
            <a:off x="566928" y="4460495"/>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6" name="Text 14"/>
          <p:cNvSpPr txBox="1"/>
          <p:nvPr/>
        </p:nvSpPr>
        <p:spPr>
          <a:xfrm>
            <a:off x="786384" y="4460495"/>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7" name="Text 15"/>
          <p:cNvSpPr txBox="1"/>
          <p:nvPr/>
        </p:nvSpPr>
        <p:spPr>
          <a:xfrm>
            <a:off x="1463040" y="4515359"/>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Ask directly what would stop her going, and solve what you can solve today.</a:t>
            </a:r>
            <a:endParaRPr lang="en-GB" sz="1800" noProof="0" dirty="0"/>
          </a:p>
        </p:txBody>
      </p:sp>
      <p:sp>
        <p:nvSpPr>
          <p:cNvPr id="18" name="Shape 16"/>
          <p:cNvSpPr/>
          <p:nvPr/>
        </p:nvSpPr>
        <p:spPr>
          <a:xfrm>
            <a:off x="566928" y="5374303"/>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9" name="Text 17"/>
          <p:cNvSpPr txBox="1"/>
          <p:nvPr/>
        </p:nvSpPr>
        <p:spPr>
          <a:xfrm>
            <a:off x="786384" y="5374303"/>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20" name="Text 18"/>
          <p:cNvSpPr txBox="1"/>
          <p:nvPr/>
        </p:nvSpPr>
        <p:spPr>
          <a:xfrm>
            <a:off x="1463040" y="5429167"/>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Agree how the result will reach her, and who will follow up if she does not attend.</a:t>
            </a:r>
            <a:endParaRPr lang="en-GB" sz="1800" noProof="0" dirty="0"/>
          </a:p>
        </p:txBody>
      </p:sp>
      <p:sp>
        <p:nvSpPr>
          <p:cNvPr id="21" name="Shape 19"/>
          <p:cNvSpPr/>
          <p:nvPr/>
        </p:nvSpPr>
        <p:spPr>
          <a:xfrm>
            <a:off x="566928" y="5394960"/>
            <a:ext cx="11055096" cy="786384"/>
          </a:xfrm>
          <a:prstGeom prst="roundRect">
            <a:avLst>
              <a:gd name="adj" fmla="val 8140"/>
            </a:avLst>
          </a:prstGeom>
          <a:solidFill>
            <a:srgbClr val="FFF2DF"/>
          </a:solidFill>
          <a:ln w="12700">
            <a:solidFill>
              <a:srgbClr val="E8DDC7"/>
            </a:solidFill>
            <a:prstDash val="solid"/>
          </a:ln>
        </p:spPr>
        <p:txBody>
          <a:bodyPr/>
          <a:lstStyle/>
          <a:p>
            <a:endParaRPr lang="en-GB" noProof="0" dirty="0"/>
          </a:p>
        </p:txBody>
      </p:sp>
      <p:sp>
        <p:nvSpPr>
          <p:cNvPr id="22" name="Text 20"/>
          <p:cNvSpPr txBox="1"/>
          <p:nvPr/>
        </p:nvSpPr>
        <p:spPr>
          <a:xfrm>
            <a:off x="841248" y="5449824"/>
            <a:ext cx="10506456" cy="676656"/>
          </a:xfrm>
          <a:prstGeom prst="rect">
            <a:avLst/>
          </a:prstGeom>
          <a:noFill/>
          <a:ln/>
        </p:spPr>
        <p:txBody>
          <a:bodyPr wrap="square" lIns="0" tIns="0" rIns="0" bIns="0" rtlCol="0" anchor="ctr"/>
          <a:lstStyle/>
          <a:p>
            <a:pPr marL="0" indent="0">
              <a:lnSpc>
                <a:spcPct val="104000"/>
              </a:lnSpc>
              <a:buNone/>
            </a:pPr>
            <a:r>
              <a:rPr lang="en-GB" sz="1800" b="1" noProof="0" dirty="0">
                <a:solidFill>
                  <a:srgbClr val="7B5727"/>
                </a:solidFill>
                <a:latin typeface="Calibri" pitchFamily="34" charset="0"/>
                <a:ea typeface="Calibri" pitchFamily="34" charset="-122"/>
                <a:cs typeface="Calibri" pitchFamily="34" charset="-120"/>
              </a:rPr>
              <a:t>📌 Remember:  </a:t>
            </a:r>
            <a:r>
              <a:rPr lang="en-GB" sz="1800" noProof="0" dirty="0">
                <a:solidFill>
                  <a:srgbClr val="23303F"/>
                </a:solidFill>
                <a:latin typeface="Calibri" pitchFamily="34" charset="0"/>
                <a:ea typeface="Calibri" pitchFamily="34" charset="-122"/>
                <a:cs typeface="Calibri" pitchFamily="34" charset="-120"/>
              </a:rPr>
              <a:t>A referral a woman cannot act on is not a referral. Distance, cost and time away from work decide whether she arrives.</a:t>
            </a:r>
            <a:endParaRPr lang="en-GB" sz="1800" noProof="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126</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3 · COUNSELLING</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Counselling after a positive HPV test</a:t>
            </a:r>
            <a:endParaRPr lang="en-GB" sz="3200" noProof="0" dirty="0"/>
          </a:p>
        </p:txBody>
      </p:sp>
      <p:sp>
        <p:nvSpPr>
          <p:cNvPr id="6" name="Shape 4"/>
          <p:cNvSpPr/>
          <p:nvPr/>
        </p:nvSpPr>
        <p:spPr>
          <a:xfrm>
            <a:off x="566928" y="1719072"/>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786384" y="1719072"/>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1️⃣</a:t>
            </a:r>
            <a:endParaRPr lang="en-GB" sz="2000" noProof="0" dirty="0"/>
          </a:p>
        </p:txBody>
      </p:sp>
      <p:sp>
        <p:nvSpPr>
          <p:cNvPr id="8" name="Text 6"/>
          <p:cNvSpPr txBox="1"/>
          <p:nvPr/>
        </p:nvSpPr>
        <p:spPr>
          <a:xfrm>
            <a:off x="1463040" y="1773936"/>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High-risk HPV has been detected.</a:t>
            </a:r>
            <a:endParaRPr lang="en-GB" sz="1800" noProof="0" dirty="0"/>
          </a:p>
        </p:txBody>
      </p:sp>
      <p:sp>
        <p:nvSpPr>
          <p:cNvPr id="9" name="Shape 7"/>
          <p:cNvSpPr/>
          <p:nvPr/>
        </p:nvSpPr>
        <p:spPr>
          <a:xfrm>
            <a:off x="566928" y="2632880"/>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786384" y="2632880"/>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2️⃣</a:t>
            </a:r>
            <a:endParaRPr lang="en-GB" sz="2000" noProof="0" dirty="0"/>
          </a:p>
        </p:txBody>
      </p:sp>
      <p:sp>
        <p:nvSpPr>
          <p:cNvPr id="11" name="Text 9"/>
          <p:cNvSpPr txBox="1"/>
          <p:nvPr/>
        </p:nvSpPr>
        <p:spPr>
          <a:xfrm>
            <a:off x="1463040" y="2687744"/>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HPV is common, and most infections cause no harm.</a:t>
            </a:r>
            <a:endParaRPr lang="en-GB" sz="1800" noProof="0" dirty="0"/>
          </a:p>
        </p:txBody>
      </p:sp>
      <p:sp>
        <p:nvSpPr>
          <p:cNvPr id="12" name="Shape 10"/>
          <p:cNvSpPr/>
          <p:nvPr/>
        </p:nvSpPr>
        <p:spPr>
          <a:xfrm>
            <a:off x="566928" y="3546687"/>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786384" y="3546687"/>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3️⃣</a:t>
            </a:r>
            <a:endParaRPr lang="en-GB" sz="2000" noProof="0" dirty="0"/>
          </a:p>
        </p:txBody>
      </p:sp>
      <p:sp>
        <p:nvSpPr>
          <p:cNvPr id="14" name="Text 12"/>
          <p:cNvSpPr txBox="1"/>
          <p:nvPr/>
        </p:nvSpPr>
        <p:spPr>
          <a:xfrm>
            <a:off x="1463040" y="3601551"/>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This result does not mean she has cervical cancer.</a:t>
            </a:r>
            <a:endParaRPr lang="en-GB" sz="1800" noProof="0" dirty="0"/>
          </a:p>
        </p:txBody>
      </p:sp>
      <p:sp>
        <p:nvSpPr>
          <p:cNvPr id="15" name="Shape 13"/>
          <p:cNvSpPr/>
          <p:nvPr/>
        </p:nvSpPr>
        <p:spPr>
          <a:xfrm>
            <a:off x="566928" y="4460495"/>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6" name="Text 14"/>
          <p:cNvSpPr txBox="1"/>
          <p:nvPr/>
        </p:nvSpPr>
        <p:spPr>
          <a:xfrm>
            <a:off x="786384" y="4460495"/>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4️⃣</a:t>
            </a:r>
            <a:endParaRPr lang="en-GB" sz="2000" noProof="0" dirty="0"/>
          </a:p>
        </p:txBody>
      </p:sp>
      <p:sp>
        <p:nvSpPr>
          <p:cNvPr id="17" name="Text 15"/>
          <p:cNvSpPr txBox="1"/>
          <p:nvPr/>
        </p:nvSpPr>
        <p:spPr>
          <a:xfrm>
            <a:off x="1463040" y="4515359"/>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Explain what the next step is and why it matters.</a:t>
            </a:r>
            <a:endParaRPr lang="en-GB" sz="1800" noProof="0" dirty="0"/>
          </a:p>
        </p:txBody>
      </p:sp>
      <p:sp>
        <p:nvSpPr>
          <p:cNvPr id="18" name="Shape 16"/>
          <p:cNvSpPr/>
          <p:nvPr/>
        </p:nvSpPr>
        <p:spPr>
          <a:xfrm>
            <a:off x="566928" y="5374303"/>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9" name="Text 17"/>
          <p:cNvSpPr txBox="1"/>
          <p:nvPr/>
        </p:nvSpPr>
        <p:spPr>
          <a:xfrm>
            <a:off x="786384" y="5374303"/>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5️⃣</a:t>
            </a:r>
            <a:endParaRPr lang="en-GB" sz="2000" noProof="0" dirty="0"/>
          </a:p>
        </p:txBody>
      </p:sp>
      <p:sp>
        <p:nvSpPr>
          <p:cNvPr id="20" name="Text 18"/>
          <p:cNvSpPr txBox="1"/>
          <p:nvPr/>
        </p:nvSpPr>
        <p:spPr>
          <a:xfrm>
            <a:off x="1463040" y="5429167"/>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The result says nothing about a partner's behaviour.</a:t>
            </a:r>
            <a:endParaRPr lang="en-GB" sz="1800" noProof="0" dirty="0"/>
          </a:p>
        </p:txBody>
      </p:sp>
      <p:sp>
        <p:nvSpPr>
          <p:cNvPr id="21" name="Shape 19"/>
          <p:cNvSpPr/>
          <p:nvPr/>
        </p:nvSpPr>
        <p:spPr>
          <a:xfrm>
            <a:off x="566928" y="5394960"/>
            <a:ext cx="11055096" cy="786384"/>
          </a:xfrm>
          <a:prstGeom prst="roundRect">
            <a:avLst>
              <a:gd name="adj" fmla="val 8140"/>
            </a:avLst>
          </a:prstGeom>
          <a:solidFill>
            <a:srgbClr val="EAF7F0"/>
          </a:solidFill>
          <a:ln w="12700">
            <a:solidFill>
              <a:srgbClr val="C0D4CB"/>
            </a:solidFill>
            <a:prstDash val="solid"/>
          </a:ln>
        </p:spPr>
        <p:txBody>
          <a:bodyPr/>
          <a:lstStyle/>
          <a:p>
            <a:endParaRPr lang="en-GB" noProof="0" dirty="0"/>
          </a:p>
        </p:txBody>
      </p:sp>
      <p:sp>
        <p:nvSpPr>
          <p:cNvPr id="22" name="Text 20"/>
          <p:cNvSpPr txBox="1"/>
          <p:nvPr/>
        </p:nvSpPr>
        <p:spPr>
          <a:xfrm>
            <a:off x="841248" y="5449824"/>
            <a:ext cx="10506456" cy="676656"/>
          </a:xfrm>
          <a:prstGeom prst="rect">
            <a:avLst/>
          </a:prstGeom>
          <a:noFill/>
          <a:ln/>
        </p:spPr>
        <p:txBody>
          <a:bodyPr wrap="square" lIns="0" tIns="0" rIns="0" bIns="0" rtlCol="0" anchor="ctr"/>
          <a:lstStyle/>
          <a:p>
            <a:pPr marL="0" indent="0">
              <a:lnSpc>
                <a:spcPct val="104000"/>
              </a:lnSpc>
              <a:buNone/>
            </a:pPr>
            <a:r>
              <a:rPr lang="en-GB" sz="1800" b="1" noProof="0" dirty="0">
                <a:solidFill>
                  <a:srgbClr val="19543E"/>
                </a:solidFill>
                <a:latin typeface="Calibri" pitchFamily="34" charset="0"/>
                <a:ea typeface="Calibri" pitchFamily="34" charset="-122"/>
                <a:cs typeface="Calibri" pitchFamily="34" charset="-120"/>
              </a:rPr>
              <a:t>💬 Say it this way:  </a:t>
            </a:r>
            <a:r>
              <a:rPr lang="en-GB" sz="1800" noProof="0" dirty="0">
                <a:solidFill>
                  <a:srgbClr val="23303F"/>
                </a:solidFill>
                <a:latin typeface="Calibri" pitchFamily="34" charset="0"/>
                <a:ea typeface="Calibri" pitchFamily="34" charset="-122"/>
                <a:cs typeface="Calibri" pitchFamily="34" charset="-120"/>
              </a:rPr>
              <a:t>A common virus was found. It is not cancer. The next step is to look at your cervix properly, so that anything that needs treating is treated early.</a:t>
            </a:r>
            <a:endParaRPr lang="en-GB" sz="1800" noProof="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127</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3 · COUNSELLING</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The conversations you will have</a:t>
            </a:r>
            <a:endParaRPr lang="en-GB" sz="3200" noProof="0" dirty="0"/>
          </a:p>
        </p:txBody>
      </p:sp>
      <p:sp>
        <p:nvSpPr>
          <p:cNvPr id="6" name="Shape 4"/>
          <p:cNvSpPr/>
          <p:nvPr/>
        </p:nvSpPr>
        <p:spPr>
          <a:xfrm>
            <a:off x="566928" y="1719072"/>
            <a:ext cx="3563112" cy="2651760"/>
          </a:xfrm>
          <a:prstGeom prst="roundRect">
            <a:avLst>
              <a:gd name="adj" fmla="val 3103"/>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822960" y="1901952"/>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Naming uncertainty</a:t>
            </a:r>
            <a:endParaRPr lang="en-GB" sz="2000" noProof="0" dirty="0"/>
          </a:p>
        </p:txBody>
      </p:sp>
      <p:sp>
        <p:nvSpPr>
          <p:cNvPr id="8" name="Text 6"/>
          <p:cNvSpPr txBox="1"/>
          <p:nvPr/>
        </p:nvSpPr>
        <p:spPr>
          <a:xfrm>
            <a:off x="822960" y="2505456"/>
            <a:ext cx="3051048" cy="168249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Say what is known, what is not known, and what the next test is for. Do not promise a result.</a:t>
            </a:r>
            <a:endParaRPr lang="en-GB" sz="1800" noProof="0" dirty="0"/>
          </a:p>
        </p:txBody>
      </p:sp>
      <p:sp>
        <p:nvSpPr>
          <p:cNvPr id="9" name="Shape 7"/>
          <p:cNvSpPr/>
          <p:nvPr/>
        </p:nvSpPr>
        <p:spPr>
          <a:xfrm>
            <a:off x="4312920" y="1719072"/>
            <a:ext cx="3563112" cy="2651760"/>
          </a:xfrm>
          <a:prstGeom prst="roundRect">
            <a:avLst>
              <a:gd name="adj" fmla="val 3103"/>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4568952" y="1901952"/>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Fertility</a:t>
            </a:r>
            <a:endParaRPr lang="en-GB" sz="2000" noProof="0" dirty="0"/>
          </a:p>
        </p:txBody>
      </p:sp>
      <p:sp>
        <p:nvSpPr>
          <p:cNvPr id="11" name="Text 9"/>
          <p:cNvSpPr txBox="1"/>
          <p:nvPr/>
        </p:nvSpPr>
        <p:spPr>
          <a:xfrm>
            <a:off x="4568952" y="2505456"/>
            <a:ext cx="3051048" cy="168249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Treatment of precancer keeps the uterus and preserves fertility. Say this early and clearly.</a:t>
            </a:r>
            <a:endParaRPr lang="en-GB" sz="1800" noProof="0" dirty="0"/>
          </a:p>
        </p:txBody>
      </p:sp>
      <p:sp>
        <p:nvSpPr>
          <p:cNvPr id="12" name="Shape 10"/>
          <p:cNvSpPr/>
          <p:nvPr/>
        </p:nvSpPr>
        <p:spPr>
          <a:xfrm>
            <a:off x="8058912" y="1719072"/>
            <a:ext cx="3563112" cy="2651760"/>
          </a:xfrm>
          <a:prstGeom prst="roundRect">
            <a:avLst>
              <a:gd name="adj" fmla="val 3103"/>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8314944" y="1901952"/>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What happens next</a:t>
            </a:r>
            <a:endParaRPr lang="en-GB" sz="2000" noProof="0" dirty="0"/>
          </a:p>
        </p:txBody>
      </p:sp>
      <p:sp>
        <p:nvSpPr>
          <p:cNvPr id="14" name="Text 12"/>
          <p:cNvSpPr txBox="1"/>
          <p:nvPr/>
        </p:nvSpPr>
        <p:spPr>
          <a:xfrm>
            <a:off x="8314944" y="2505456"/>
            <a:ext cx="3051048" cy="168249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Describe the examination, the acetic acid, the biopsy, how long it takes and what she will feel.</a:t>
            </a:r>
            <a:endParaRPr lang="en-GB" sz="1800" noProof="0" dirty="0"/>
          </a:p>
        </p:txBody>
      </p:sp>
      <p:sp>
        <p:nvSpPr>
          <p:cNvPr id="15" name="Shape 13"/>
          <p:cNvSpPr/>
          <p:nvPr/>
        </p:nvSpPr>
        <p:spPr>
          <a:xfrm>
            <a:off x="566928" y="4572000"/>
            <a:ext cx="11055096" cy="786384"/>
          </a:xfrm>
          <a:prstGeom prst="roundRect">
            <a:avLst>
              <a:gd name="adj" fmla="val 8140"/>
            </a:avLst>
          </a:prstGeom>
          <a:solidFill>
            <a:srgbClr val="FDE9E8"/>
          </a:solidFill>
          <a:ln w="12700">
            <a:solidFill>
              <a:srgbClr val="F0CFCE"/>
            </a:solidFill>
            <a:prstDash val="solid"/>
          </a:ln>
        </p:spPr>
        <p:txBody>
          <a:bodyPr/>
          <a:lstStyle/>
          <a:p>
            <a:endParaRPr lang="en-GB" noProof="0" dirty="0"/>
          </a:p>
        </p:txBody>
      </p:sp>
      <p:sp>
        <p:nvSpPr>
          <p:cNvPr id="16" name="Text 14"/>
          <p:cNvSpPr txBox="1"/>
          <p:nvPr/>
        </p:nvSpPr>
        <p:spPr>
          <a:xfrm>
            <a:off x="841248" y="4626864"/>
            <a:ext cx="10506456" cy="676656"/>
          </a:xfrm>
          <a:prstGeom prst="rect">
            <a:avLst/>
          </a:prstGeom>
          <a:noFill/>
          <a:ln/>
        </p:spPr>
        <p:txBody>
          <a:bodyPr wrap="square" lIns="0" tIns="0" rIns="0" bIns="0" rtlCol="0" anchor="ctr"/>
          <a:lstStyle/>
          <a:p>
            <a:pPr marL="0" indent="0">
              <a:lnSpc>
                <a:spcPct val="104000"/>
              </a:lnSpc>
              <a:buNone/>
            </a:pPr>
            <a:r>
              <a:rPr lang="en-GB" sz="1800" b="1" noProof="0" dirty="0">
                <a:solidFill>
                  <a:srgbClr val="8E2531"/>
                </a:solidFill>
                <a:latin typeface="Calibri" pitchFamily="34" charset="0"/>
                <a:ea typeface="Calibri" pitchFamily="34" charset="-122"/>
                <a:cs typeface="Calibri" pitchFamily="34" charset="-120"/>
              </a:rPr>
              <a:t>❌ Avoid:  </a:t>
            </a:r>
            <a:r>
              <a:rPr lang="en-GB" sz="1800" noProof="0" dirty="0">
                <a:solidFill>
                  <a:srgbClr val="23303F"/>
                </a:solidFill>
                <a:latin typeface="Calibri" pitchFamily="34" charset="0"/>
                <a:ea typeface="Calibri" pitchFamily="34" charset="-122"/>
                <a:cs typeface="Calibri" pitchFamily="34" charset="-120"/>
              </a:rPr>
              <a:t>Frightening language and false reassurance both stop women coming back, which is the outcome that matters most.</a:t>
            </a:r>
            <a:endParaRPr lang="en-GB" sz="1800" noProof="0" dirty="0"/>
          </a:p>
        </p:txBody>
      </p:sp>
      <p:sp>
        <p:nvSpPr>
          <p:cNvPr id="17" name="Shape 15"/>
          <p:cNvSpPr/>
          <p:nvPr/>
        </p:nvSpPr>
        <p:spPr>
          <a:xfrm>
            <a:off x="566928" y="5449824"/>
            <a:ext cx="11055096" cy="786384"/>
          </a:xfrm>
          <a:prstGeom prst="roundRect">
            <a:avLst>
              <a:gd name="adj" fmla="val 8140"/>
            </a:avLst>
          </a:prstGeom>
          <a:solidFill>
            <a:srgbClr val="EAF7F0"/>
          </a:solidFill>
          <a:ln w="12700">
            <a:solidFill>
              <a:srgbClr val="C0D4CB"/>
            </a:solidFill>
            <a:prstDash val="solid"/>
          </a:ln>
        </p:spPr>
        <p:txBody>
          <a:bodyPr/>
          <a:lstStyle/>
          <a:p>
            <a:endParaRPr lang="en-GB" noProof="0" dirty="0"/>
          </a:p>
        </p:txBody>
      </p:sp>
      <p:sp>
        <p:nvSpPr>
          <p:cNvPr id="18" name="Text 16"/>
          <p:cNvSpPr txBox="1"/>
          <p:nvPr/>
        </p:nvSpPr>
        <p:spPr>
          <a:xfrm>
            <a:off x="841248" y="5504688"/>
            <a:ext cx="10506456" cy="676656"/>
          </a:xfrm>
          <a:prstGeom prst="rect">
            <a:avLst/>
          </a:prstGeom>
          <a:noFill/>
          <a:ln/>
        </p:spPr>
        <p:txBody>
          <a:bodyPr wrap="square" lIns="0" tIns="0" rIns="0" bIns="0" rtlCol="0" anchor="ctr"/>
          <a:lstStyle/>
          <a:p>
            <a:pPr marL="0" indent="0">
              <a:lnSpc>
                <a:spcPct val="104000"/>
              </a:lnSpc>
              <a:buNone/>
            </a:pPr>
            <a:r>
              <a:rPr lang="en-GB" sz="1800" b="1" noProof="0" dirty="0">
                <a:solidFill>
                  <a:srgbClr val="19543E"/>
                </a:solidFill>
                <a:latin typeface="Calibri" pitchFamily="34" charset="0"/>
                <a:ea typeface="Calibri" pitchFamily="34" charset="-122"/>
                <a:cs typeface="Calibri" pitchFamily="34" charset="-120"/>
              </a:rPr>
              <a:t>✅ Instead:  </a:t>
            </a:r>
            <a:r>
              <a:rPr lang="en-GB" sz="1800" noProof="0" dirty="0">
                <a:solidFill>
                  <a:srgbClr val="23303F"/>
                </a:solidFill>
                <a:latin typeface="Calibri" pitchFamily="34" charset="0"/>
                <a:ea typeface="Calibri" pitchFamily="34" charset="-122"/>
                <a:cs typeface="Calibri" pitchFamily="34" charset="-120"/>
              </a:rPr>
              <a:t>Be honest, be specific about the next step, and allow her questions before she leaves.</a:t>
            </a:r>
            <a:endParaRPr lang="en-GB" sz="1800" noProof="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9FE62D1-942D-A794-356E-365BAB1297F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F95800B-FD90-AFCB-3FC9-B57F5445DB85}"/>
              </a:ext>
            </a:extLst>
          </p:cNvPr>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a:extLst>
              <a:ext uri="{FF2B5EF4-FFF2-40B4-BE49-F238E27FC236}">
                <a16:creationId xmlns:a16="http://schemas.microsoft.com/office/drawing/2014/main" id="{1109202D-E769-28DC-DABC-511EA4C05B7E}"/>
              </a:ext>
            </a:extLst>
          </p:cNvPr>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128</a:t>
            </a:r>
            <a:endParaRPr lang="en-GB" sz="1100" noProof="0" dirty="0"/>
          </a:p>
        </p:txBody>
      </p:sp>
      <p:sp>
        <p:nvSpPr>
          <p:cNvPr id="4" name="Text 2">
            <a:extLst>
              <a:ext uri="{FF2B5EF4-FFF2-40B4-BE49-F238E27FC236}">
                <a16:creationId xmlns:a16="http://schemas.microsoft.com/office/drawing/2014/main" id="{9A773148-CB58-E017-C449-C6DCE8BF950A}"/>
              </a:ext>
            </a:extLst>
          </p:cNvPr>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3 · COUNSELLING</a:t>
            </a:r>
            <a:endParaRPr lang="en-GB" sz="1200" noProof="0" dirty="0"/>
          </a:p>
        </p:txBody>
      </p:sp>
      <p:pic>
        <p:nvPicPr>
          <p:cNvPr id="5" name="Imagen 4">
            <a:extLst>
              <a:ext uri="{FF2B5EF4-FFF2-40B4-BE49-F238E27FC236}">
                <a16:creationId xmlns:a16="http://schemas.microsoft.com/office/drawing/2014/main" id="{FB29826F-21EB-4901-4D10-1D19EEED5E36}"/>
              </a:ext>
            </a:extLst>
          </p:cNvPr>
          <p:cNvPicPr>
            <a:picLocks noChangeAspect="1"/>
          </p:cNvPicPr>
          <p:nvPr/>
        </p:nvPicPr>
        <p:blipFill>
          <a:blip r:embed="rId3"/>
          <a:stretch>
            <a:fillRect/>
          </a:stretch>
        </p:blipFill>
        <p:spPr>
          <a:xfrm>
            <a:off x="1389992" y="711655"/>
            <a:ext cx="9953815" cy="5434689"/>
          </a:xfrm>
          <a:prstGeom prst="rect">
            <a:avLst/>
          </a:prstGeom>
        </p:spPr>
      </p:pic>
    </p:spTree>
    <p:extLst>
      <p:ext uri="{BB962C8B-B14F-4D97-AF65-F5344CB8AC3E}">
        <p14:creationId xmlns:p14="http://schemas.microsoft.com/office/powerpoint/2010/main" val="78064279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129</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3 · PSYCHOLOGICAL SUPPORT</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The basics that make the difference</a:t>
            </a:r>
            <a:endParaRPr lang="en-GB" sz="3200" noProof="0" dirty="0"/>
          </a:p>
        </p:txBody>
      </p:sp>
      <p:sp>
        <p:nvSpPr>
          <p:cNvPr id="6" name="Shape 4"/>
          <p:cNvSpPr/>
          <p:nvPr/>
        </p:nvSpPr>
        <p:spPr>
          <a:xfrm>
            <a:off x="566928" y="1515870"/>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786384" y="1515870"/>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8" name="Text 6"/>
          <p:cNvSpPr txBox="1"/>
          <p:nvPr/>
        </p:nvSpPr>
        <p:spPr>
          <a:xfrm>
            <a:off x="1463040" y="1570734"/>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Listen without judgment, and allow questions.</a:t>
            </a:r>
            <a:endParaRPr lang="en-GB" sz="1800" noProof="0" dirty="0"/>
          </a:p>
        </p:txBody>
      </p:sp>
      <p:sp>
        <p:nvSpPr>
          <p:cNvPr id="9" name="Shape 7"/>
          <p:cNvSpPr/>
          <p:nvPr/>
        </p:nvSpPr>
        <p:spPr>
          <a:xfrm>
            <a:off x="566928" y="2429678"/>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786384" y="2429678"/>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1" name="Text 9"/>
          <p:cNvSpPr txBox="1"/>
          <p:nvPr/>
        </p:nvSpPr>
        <p:spPr>
          <a:xfrm>
            <a:off x="1463040" y="2484542"/>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Avoid false reassurance, and avoid blame.</a:t>
            </a:r>
            <a:endParaRPr lang="en-GB" sz="1800" noProof="0" dirty="0"/>
          </a:p>
        </p:txBody>
      </p:sp>
      <p:sp>
        <p:nvSpPr>
          <p:cNvPr id="12" name="Shape 10"/>
          <p:cNvSpPr/>
          <p:nvPr/>
        </p:nvSpPr>
        <p:spPr>
          <a:xfrm>
            <a:off x="566928" y="3343485"/>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786384" y="3343485"/>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4" name="Text 12"/>
          <p:cNvSpPr txBox="1"/>
          <p:nvPr/>
        </p:nvSpPr>
        <p:spPr>
          <a:xfrm>
            <a:off x="1463040" y="3398349"/>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Protect privacy and dignity. Ask what she wants recorded and disclosed.</a:t>
            </a:r>
            <a:endParaRPr lang="en-GB" sz="1800" noProof="0" dirty="0"/>
          </a:p>
        </p:txBody>
      </p:sp>
      <p:sp>
        <p:nvSpPr>
          <p:cNvPr id="15" name="Shape 13"/>
          <p:cNvSpPr/>
          <p:nvPr/>
        </p:nvSpPr>
        <p:spPr>
          <a:xfrm>
            <a:off x="566928" y="4257293"/>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6" name="Text 14"/>
          <p:cNvSpPr txBox="1"/>
          <p:nvPr/>
        </p:nvSpPr>
        <p:spPr>
          <a:xfrm>
            <a:off x="786384" y="4257293"/>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7" name="Text 15"/>
          <p:cNvSpPr txBox="1"/>
          <p:nvPr/>
        </p:nvSpPr>
        <p:spPr>
          <a:xfrm>
            <a:off x="1463040" y="4312157"/>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Support her autonomy, including whom she chooses to tell.</a:t>
            </a:r>
            <a:endParaRPr lang="en-GB" sz="1800" noProof="0" dirty="0"/>
          </a:p>
        </p:txBody>
      </p:sp>
      <p:sp>
        <p:nvSpPr>
          <p:cNvPr id="18" name="Shape 16"/>
          <p:cNvSpPr/>
          <p:nvPr/>
        </p:nvSpPr>
        <p:spPr>
          <a:xfrm>
            <a:off x="566928" y="5171101"/>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9" name="Text 17"/>
          <p:cNvSpPr txBox="1"/>
          <p:nvPr/>
        </p:nvSpPr>
        <p:spPr>
          <a:xfrm>
            <a:off x="786384" y="5171101"/>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20" name="Text 18"/>
          <p:cNvSpPr txBox="1"/>
          <p:nvPr/>
        </p:nvSpPr>
        <p:spPr>
          <a:xfrm>
            <a:off x="1463040" y="5225965"/>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Recognise when fear about cancer, fertility or a relationship needs more support than you can give, and refer.</a:t>
            </a:r>
            <a:endParaRPr lang="en-GB" sz="1800" noProof="0" dirty="0"/>
          </a:p>
        </p:txBody>
      </p:sp>
      <p:sp>
        <p:nvSpPr>
          <p:cNvPr id="21" name="Shape 19"/>
          <p:cNvSpPr/>
          <p:nvPr/>
        </p:nvSpPr>
        <p:spPr>
          <a:xfrm>
            <a:off x="566928" y="5191758"/>
            <a:ext cx="11055096" cy="786384"/>
          </a:xfrm>
          <a:prstGeom prst="roundRect">
            <a:avLst>
              <a:gd name="adj" fmla="val 8140"/>
            </a:avLst>
          </a:prstGeom>
          <a:solidFill>
            <a:srgbClr val="ECF3FD"/>
          </a:solidFill>
          <a:ln w="12700">
            <a:solidFill>
              <a:srgbClr val="E0E3EA"/>
            </a:solidFill>
            <a:prstDash val="solid"/>
          </a:ln>
        </p:spPr>
        <p:txBody>
          <a:bodyPr/>
          <a:lstStyle/>
          <a:p>
            <a:endParaRPr lang="en-GB" noProof="0" dirty="0"/>
          </a:p>
        </p:txBody>
      </p:sp>
      <p:sp>
        <p:nvSpPr>
          <p:cNvPr id="22" name="Text 20"/>
          <p:cNvSpPr txBox="1"/>
          <p:nvPr/>
        </p:nvSpPr>
        <p:spPr>
          <a:xfrm>
            <a:off x="841248" y="5246622"/>
            <a:ext cx="10506456" cy="676656"/>
          </a:xfrm>
          <a:prstGeom prst="rect">
            <a:avLst/>
          </a:prstGeom>
          <a:noFill/>
          <a:ln/>
        </p:spPr>
        <p:txBody>
          <a:bodyPr wrap="square" lIns="0" tIns="0" rIns="0" bIns="0" rtlCol="0" anchor="ctr"/>
          <a:lstStyle/>
          <a:p>
            <a:pPr marL="0" indent="0">
              <a:lnSpc>
                <a:spcPct val="104000"/>
              </a:lnSpc>
              <a:buNone/>
            </a:pPr>
            <a:r>
              <a:rPr lang="en-GB" sz="1800" b="1" noProof="0" dirty="0">
                <a:solidFill>
                  <a:srgbClr val="10305A"/>
                </a:solidFill>
                <a:latin typeface="Calibri" pitchFamily="34" charset="0"/>
                <a:ea typeface="Calibri" pitchFamily="34" charset="-122"/>
                <a:cs typeface="Calibri" pitchFamily="34" charset="-120"/>
              </a:rPr>
              <a:t>🔎 Watch for:  </a:t>
            </a:r>
            <a:r>
              <a:rPr lang="en-GB" sz="1800" noProof="0" dirty="0">
                <a:solidFill>
                  <a:srgbClr val="23303F"/>
                </a:solidFill>
                <a:latin typeface="Calibri" pitchFamily="34" charset="0"/>
                <a:ea typeface="Calibri" pitchFamily="34" charset="-122"/>
                <a:cs typeface="Calibri" pitchFamily="34" charset="-120"/>
              </a:rPr>
              <a:t>Fear of cancer, fear of infertility, fear of a partner's reaction, and the practical fear of losing income. Each has a different answer.</a:t>
            </a:r>
            <a:endParaRPr lang="en-GB" sz="1800" noProof="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130</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3 · INTERACTIVE</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Myth or fact: HPV and stigma</a:t>
            </a:r>
            <a:endParaRPr lang="en-GB" sz="3200" noProof="0" dirty="0"/>
          </a:p>
        </p:txBody>
      </p:sp>
      <p:sp>
        <p:nvSpPr>
          <p:cNvPr id="6" name="Text 4"/>
          <p:cNvSpPr txBox="1"/>
          <p:nvPr/>
        </p:nvSpPr>
        <p:spPr>
          <a:xfrm>
            <a:off x="566928" y="1517904"/>
            <a:ext cx="11055096" cy="365760"/>
          </a:xfrm>
          <a:prstGeom prst="rect">
            <a:avLst/>
          </a:prstGeom>
          <a:noFill/>
          <a:ln/>
        </p:spPr>
        <p:txBody>
          <a:bodyPr wrap="square" lIns="0" tIns="0" rIns="0" bIns="0" rtlCol="0" anchor="ctr"/>
          <a:lstStyle/>
          <a:p>
            <a:pPr marL="0" indent="0">
              <a:buNone/>
            </a:pPr>
            <a:r>
              <a:rPr lang="en-GB" sz="1800" i="1" noProof="0" dirty="0">
                <a:solidFill>
                  <a:srgbClr val="31507B"/>
                </a:solidFill>
                <a:latin typeface="Calibri" pitchFamily="34" charset="0"/>
                <a:ea typeface="Calibri" pitchFamily="34" charset="-122"/>
                <a:cs typeface="Calibri" pitchFamily="34" charset="-120"/>
              </a:rPr>
              <a:t>💬  Select each myth to reveal the accurate response.</a:t>
            </a:r>
            <a:endParaRPr lang="en-GB" sz="1800" noProof="0" dirty="0"/>
          </a:p>
        </p:txBody>
      </p:sp>
      <p:sp>
        <p:nvSpPr>
          <p:cNvPr id="7" name="Shape 5"/>
          <p:cNvSpPr/>
          <p:nvPr/>
        </p:nvSpPr>
        <p:spPr>
          <a:xfrm>
            <a:off x="566928" y="1965960"/>
            <a:ext cx="4572000" cy="937553"/>
          </a:xfrm>
          <a:prstGeom prst="roundRect">
            <a:avLst>
              <a:gd name="adj" fmla="val 6827"/>
            </a:avLst>
          </a:prstGeom>
          <a:solidFill>
            <a:srgbClr val="FDE9E8"/>
          </a:solidFill>
          <a:ln w="12700">
            <a:solidFill>
              <a:srgbClr val="F0CFCE"/>
            </a:solidFill>
            <a:prstDash val="solid"/>
          </a:ln>
        </p:spPr>
        <p:txBody>
          <a:bodyPr/>
          <a:lstStyle/>
          <a:p>
            <a:endParaRPr lang="en-GB" noProof="0" dirty="0"/>
          </a:p>
        </p:txBody>
      </p:sp>
      <p:sp>
        <p:nvSpPr>
          <p:cNvPr id="8" name="Text 6"/>
          <p:cNvSpPr txBox="1"/>
          <p:nvPr/>
        </p:nvSpPr>
        <p:spPr>
          <a:xfrm>
            <a:off x="804672" y="2039112"/>
            <a:ext cx="4096512" cy="791249"/>
          </a:xfrm>
          <a:prstGeom prst="rect">
            <a:avLst/>
          </a:prstGeom>
          <a:noFill/>
          <a:ln/>
        </p:spPr>
        <p:txBody>
          <a:bodyPr wrap="square" lIns="0" tIns="0" rIns="0" bIns="0" rtlCol="0" anchor="ctr"/>
          <a:lstStyle/>
          <a:p>
            <a:pPr marL="0" indent="0">
              <a:lnSpc>
                <a:spcPct val="104000"/>
              </a:lnSpc>
              <a:buNone/>
            </a:pPr>
            <a:r>
              <a:rPr lang="en-GB" sz="1800" b="1" noProof="0" dirty="0">
                <a:solidFill>
                  <a:srgbClr val="8E2531"/>
                </a:solidFill>
                <a:latin typeface="Calibri" pitchFamily="34" charset="0"/>
                <a:ea typeface="Calibri" pitchFamily="34" charset="-122"/>
                <a:cs typeface="Calibri" pitchFamily="34" charset="-120"/>
              </a:rPr>
              <a:t>❌ Myth   </a:t>
            </a:r>
            <a:r>
              <a:rPr lang="en-GB" sz="1800" noProof="0" dirty="0">
                <a:solidFill>
                  <a:srgbClr val="23303F"/>
                </a:solidFill>
                <a:latin typeface="Calibri" pitchFamily="34" charset="0"/>
                <a:ea typeface="Calibri" pitchFamily="34" charset="-122"/>
                <a:cs typeface="Calibri" pitchFamily="34" charset="-120"/>
              </a:rPr>
              <a:t>A positive HPV test proves a partner has been unfaithful.</a:t>
            </a:r>
            <a:endParaRPr lang="en-GB" sz="1800" noProof="0" dirty="0"/>
          </a:p>
        </p:txBody>
      </p:sp>
      <p:sp>
        <p:nvSpPr>
          <p:cNvPr id="9" name="Shape 7"/>
          <p:cNvSpPr/>
          <p:nvPr/>
        </p:nvSpPr>
        <p:spPr>
          <a:xfrm>
            <a:off x="5321808" y="1965960"/>
            <a:ext cx="6300216" cy="937553"/>
          </a:xfrm>
          <a:prstGeom prst="roundRect">
            <a:avLst>
              <a:gd name="adj" fmla="val 6827"/>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5559552" y="2039112"/>
            <a:ext cx="5824728" cy="791249"/>
          </a:xfrm>
          <a:prstGeom prst="rect">
            <a:avLst/>
          </a:prstGeom>
          <a:noFill/>
          <a:ln/>
        </p:spPr>
        <p:txBody>
          <a:bodyPr wrap="square" lIns="0" tIns="0" rIns="0" bIns="0" rtlCol="0" anchor="ctr"/>
          <a:lstStyle/>
          <a:p>
            <a:pPr marL="0" indent="0">
              <a:lnSpc>
                <a:spcPct val="104000"/>
              </a:lnSpc>
              <a:buNone/>
            </a:pPr>
            <a:r>
              <a:rPr lang="en-GB" sz="1800" b="1" noProof="0" dirty="0">
                <a:solidFill>
                  <a:srgbClr val="19543E"/>
                </a:solidFill>
                <a:latin typeface="Calibri" pitchFamily="34" charset="0"/>
                <a:ea typeface="Calibri" pitchFamily="34" charset="-122"/>
                <a:cs typeface="Calibri" pitchFamily="34" charset="-120"/>
              </a:rPr>
              <a:t>✅ Fact   </a:t>
            </a:r>
            <a:r>
              <a:rPr lang="en-GB" sz="1800" noProof="0" dirty="0">
                <a:solidFill>
                  <a:srgbClr val="23303F"/>
                </a:solidFill>
                <a:latin typeface="Calibri" pitchFamily="34" charset="0"/>
                <a:ea typeface="Calibri" pitchFamily="34" charset="-122"/>
                <a:cs typeface="Calibri" pitchFamily="34" charset="-120"/>
              </a:rPr>
              <a:t>HPV is common and can persist silently for years. A result says nothing about when or from whom infection was acquired.</a:t>
            </a:r>
            <a:endParaRPr lang="en-GB" sz="1800" noProof="0" dirty="0"/>
          </a:p>
        </p:txBody>
      </p:sp>
      <p:sp>
        <p:nvSpPr>
          <p:cNvPr id="11" name="Shape 9"/>
          <p:cNvSpPr/>
          <p:nvPr/>
        </p:nvSpPr>
        <p:spPr>
          <a:xfrm>
            <a:off x="566928" y="3046378"/>
            <a:ext cx="4572000" cy="937553"/>
          </a:xfrm>
          <a:prstGeom prst="roundRect">
            <a:avLst>
              <a:gd name="adj" fmla="val 6827"/>
            </a:avLst>
          </a:prstGeom>
          <a:solidFill>
            <a:srgbClr val="FDE9E8"/>
          </a:solidFill>
          <a:ln w="12700">
            <a:solidFill>
              <a:srgbClr val="F0CFCE"/>
            </a:solidFill>
            <a:prstDash val="solid"/>
          </a:ln>
        </p:spPr>
        <p:txBody>
          <a:bodyPr/>
          <a:lstStyle/>
          <a:p>
            <a:endParaRPr lang="en-GB" noProof="0" dirty="0"/>
          </a:p>
        </p:txBody>
      </p:sp>
      <p:sp>
        <p:nvSpPr>
          <p:cNvPr id="12" name="Text 10"/>
          <p:cNvSpPr txBox="1"/>
          <p:nvPr/>
        </p:nvSpPr>
        <p:spPr>
          <a:xfrm>
            <a:off x="804672" y="3119530"/>
            <a:ext cx="4096512" cy="791249"/>
          </a:xfrm>
          <a:prstGeom prst="rect">
            <a:avLst/>
          </a:prstGeom>
          <a:noFill/>
          <a:ln/>
        </p:spPr>
        <p:txBody>
          <a:bodyPr wrap="square" lIns="0" tIns="0" rIns="0" bIns="0" rtlCol="0" anchor="ctr"/>
          <a:lstStyle/>
          <a:p>
            <a:pPr marL="0" indent="0">
              <a:lnSpc>
                <a:spcPct val="104000"/>
              </a:lnSpc>
              <a:buNone/>
            </a:pPr>
            <a:r>
              <a:rPr lang="en-GB" sz="1800" b="1" noProof="0" dirty="0">
                <a:solidFill>
                  <a:srgbClr val="8E2531"/>
                </a:solidFill>
                <a:latin typeface="Calibri" pitchFamily="34" charset="0"/>
                <a:ea typeface="Calibri" pitchFamily="34" charset="-122"/>
                <a:cs typeface="Calibri" pitchFamily="34" charset="-120"/>
              </a:rPr>
              <a:t>❌ Myth   </a:t>
            </a:r>
            <a:r>
              <a:rPr lang="en-GB" sz="1800" noProof="0" dirty="0">
                <a:solidFill>
                  <a:srgbClr val="23303F"/>
                </a:solidFill>
                <a:latin typeface="Calibri" pitchFamily="34" charset="0"/>
                <a:ea typeface="Calibri" pitchFamily="34" charset="-122"/>
                <a:cs typeface="Calibri" pitchFamily="34" charset="-120"/>
              </a:rPr>
              <a:t>Cervical cancer only affects women with many partners.</a:t>
            </a:r>
            <a:endParaRPr lang="en-GB" sz="1800" noProof="0" dirty="0"/>
          </a:p>
        </p:txBody>
      </p:sp>
      <p:sp>
        <p:nvSpPr>
          <p:cNvPr id="13" name="Shape 11"/>
          <p:cNvSpPr/>
          <p:nvPr/>
        </p:nvSpPr>
        <p:spPr>
          <a:xfrm>
            <a:off x="5321808" y="3046378"/>
            <a:ext cx="6300216" cy="937553"/>
          </a:xfrm>
          <a:prstGeom prst="roundRect">
            <a:avLst>
              <a:gd name="adj" fmla="val 6827"/>
            </a:avLst>
          </a:prstGeom>
          <a:solidFill>
            <a:srgbClr val="EAF7F0"/>
          </a:solidFill>
          <a:ln w="12700">
            <a:solidFill>
              <a:srgbClr val="C0D4CB"/>
            </a:solidFill>
            <a:prstDash val="solid"/>
          </a:ln>
        </p:spPr>
        <p:txBody>
          <a:bodyPr/>
          <a:lstStyle/>
          <a:p>
            <a:endParaRPr lang="en-GB" noProof="0" dirty="0"/>
          </a:p>
        </p:txBody>
      </p:sp>
      <p:sp>
        <p:nvSpPr>
          <p:cNvPr id="14" name="Text 12"/>
          <p:cNvSpPr txBox="1"/>
          <p:nvPr/>
        </p:nvSpPr>
        <p:spPr>
          <a:xfrm>
            <a:off x="5559552" y="3119530"/>
            <a:ext cx="5824728" cy="791249"/>
          </a:xfrm>
          <a:prstGeom prst="rect">
            <a:avLst/>
          </a:prstGeom>
          <a:noFill/>
          <a:ln/>
        </p:spPr>
        <p:txBody>
          <a:bodyPr wrap="square" lIns="0" tIns="0" rIns="0" bIns="0" rtlCol="0" anchor="ctr"/>
          <a:lstStyle/>
          <a:p>
            <a:pPr marL="0" indent="0">
              <a:lnSpc>
                <a:spcPct val="104000"/>
              </a:lnSpc>
              <a:buNone/>
            </a:pPr>
            <a:r>
              <a:rPr lang="en-GB" sz="1800" b="1" noProof="0" dirty="0">
                <a:solidFill>
                  <a:srgbClr val="19543E"/>
                </a:solidFill>
                <a:latin typeface="Calibri" pitchFamily="34" charset="0"/>
                <a:ea typeface="Calibri" pitchFamily="34" charset="-122"/>
                <a:cs typeface="Calibri" pitchFamily="34" charset="-120"/>
              </a:rPr>
              <a:t>✅ Fact   </a:t>
            </a:r>
            <a:r>
              <a:rPr lang="en-GB" sz="1800" noProof="0" dirty="0">
                <a:solidFill>
                  <a:srgbClr val="23303F"/>
                </a:solidFill>
                <a:latin typeface="Calibri" pitchFamily="34" charset="0"/>
                <a:ea typeface="Calibri" pitchFamily="34" charset="-122"/>
                <a:cs typeface="Calibri" pitchFamily="34" charset="-120"/>
              </a:rPr>
              <a:t>One lifetime partner is enough to acquire HPV. Framing screening around behaviour drives stigma and keeps women away.</a:t>
            </a:r>
            <a:endParaRPr lang="en-GB" sz="1800" noProof="0" dirty="0"/>
          </a:p>
        </p:txBody>
      </p:sp>
      <p:sp>
        <p:nvSpPr>
          <p:cNvPr id="15" name="Shape 13"/>
          <p:cNvSpPr/>
          <p:nvPr/>
        </p:nvSpPr>
        <p:spPr>
          <a:xfrm>
            <a:off x="566928" y="4126797"/>
            <a:ext cx="4572000" cy="937553"/>
          </a:xfrm>
          <a:prstGeom prst="roundRect">
            <a:avLst>
              <a:gd name="adj" fmla="val 6827"/>
            </a:avLst>
          </a:prstGeom>
          <a:solidFill>
            <a:srgbClr val="FDE9E8"/>
          </a:solidFill>
          <a:ln w="12700">
            <a:solidFill>
              <a:srgbClr val="F0CFCE"/>
            </a:solidFill>
            <a:prstDash val="solid"/>
          </a:ln>
        </p:spPr>
        <p:txBody>
          <a:bodyPr/>
          <a:lstStyle/>
          <a:p>
            <a:endParaRPr lang="en-GB" noProof="0" dirty="0"/>
          </a:p>
        </p:txBody>
      </p:sp>
      <p:sp>
        <p:nvSpPr>
          <p:cNvPr id="16" name="Text 14"/>
          <p:cNvSpPr txBox="1"/>
          <p:nvPr/>
        </p:nvSpPr>
        <p:spPr>
          <a:xfrm>
            <a:off x="804672" y="4199949"/>
            <a:ext cx="4096512" cy="791249"/>
          </a:xfrm>
          <a:prstGeom prst="rect">
            <a:avLst/>
          </a:prstGeom>
          <a:noFill/>
          <a:ln/>
        </p:spPr>
        <p:txBody>
          <a:bodyPr wrap="square" lIns="0" tIns="0" rIns="0" bIns="0" rtlCol="0" anchor="ctr"/>
          <a:lstStyle/>
          <a:p>
            <a:pPr marL="0" indent="0">
              <a:lnSpc>
                <a:spcPct val="104000"/>
              </a:lnSpc>
              <a:buNone/>
            </a:pPr>
            <a:r>
              <a:rPr lang="en-GB" sz="1800" b="1" noProof="0" dirty="0">
                <a:solidFill>
                  <a:srgbClr val="8E2531"/>
                </a:solidFill>
                <a:latin typeface="Calibri" pitchFamily="34" charset="0"/>
                <a:ea typeface="Calibri" pitchFamily="34" charset="-122"/>
                <a:cs typeface="Calibri" pitchFamily="34" charset="-120"/>
              </a:rPr>
              <a:t>❌ Myth   </a:t>
            </a:r>
            <a:r>
              <a:rPr lang="en-GB" sz="1800" noProof="0" dirty="0">
                <a:solidFill>
                  <a:srgbClr val="23303F"/>
                </a:solidFill>
                <a:latin typeface="Calibri" pitchFamily="34" charset="0"/>
                <a:ea typeface="Calibri" pitchFamily="34" charset="-122"/>
                <a:cs typeface="Calibri" pitchFamily="34" charset="-120"/>
              </a:rPr>
              <a:t>A woman with cervical cancer brought it on herself.</a:t>
            </a:r>
            <a:endParaRPr lang="en-GB" sz="1800" noProof="0" dirty="0"/>
          </a:p>
        </p:txBody>
      </p:sp>
      <p:sp>
        <p:nvSpPr>
          <p:cNvPr id="17" name="Shape 15"/>
          <p:cNvSpPr/>
          <p:nvPr/>
        </p:nvSpPr>
        <p:spPr>
          <a:xfrm>
            <a:off x="5321808" y="4126797"/>
            <a:ext cx="6300216" cy="937553"/>
          </a:xfrm>
          <a:prstGeom prst="roundRect">
            <a:avLst>
              <a:gd name="adj" fmla="val 6827"/>
            </a:avLst>
          </a:prstGeom>
          <a:solidFill>
            <a:srgbClr val="EAF7F0"/>
          </a:solidFill>
          <a:ln w="12700">
            <a:solidFill>
              <a:srgbClr val="C0D4CB"/>
            </a:solidFill>
            <a:prstDash val="solid"/>
          </a:ln>
        </p:spPr>
        <p:txBody>
          <a:bodyPr/>
          <a:lstStyle/>
          <a:p>
            <a:endParaRPr lang="en-GB" noProof="0" dirty="0"/>
          </a:p>
        </p:txBody>
      </p:sp>
      <p:sp>
        <p:nvSpPr>
          <p:cNvPr id="18" name="Text 16"/>
          <p:cNvSpPr txBox="1"/>
          <p:nvPr/>
        </p:nvSpPr>
        <p:spPr>
          <a:xfrm>
            <a:off x="5559552" y="4199949"/>
            <a:ext cx="5824728" cy="791249"/>
          </a:xfrm>
          <a:prstGeom prst="rect">
            <a:avLst/>
          </a:prstGeom>
          <a:noFill/>
          <a:ln/>
        </p:spPr>
        <p:txBody>
          <a:bodyPr wrap="square" lIns="0" tIns="0" rIns="0" bIns="0" rtlCol="0" anchor="ctr"/>
          <a:lstStyle/>
          <a:p>
            <a:pPr marL="0" indent="0">
              <a:lnSpc>
                <a:spcPct val="104000"/>
              </a:lnSpc>
              <a:buNone/>
            </a:pPr>
            <a:r>
              <a:rPr lang="en-GB" sz="1800" b="1" noProof="0" dirty="0">
                <a:solidFill>
                  <a:srgbClr val="19543E"/>
                </a:solidFill>
                <a:latin typeface="Calibri" pitchFamily="34" charset="0"/>
                <a:ea typeface="Calibri" pitchFamily="34" charset="-122"/>
                <a:cs typeface="Calibri" pitchFamily="34" charset="-120"/>
              </a:rPr>
              <a:t>✅ Fact   </a:t>
            </a:r>
            <a:r>
              <a:rPr lang="en-GB" sz="1800" noProof="0" dirty="0">
                <a:solidFill>
                  <a:srgbClr val="23303F"/>
                </a:solidFill>
                <a:latin typeface="Calibri" pitchFamily="34" charset="0"/>
                <a:ea typeface="Calibri" pitchFamily="34" charset="-122"/>
                <a:cs typeface="Calibri" pitchFamily="34" charset="-120"/>
              </a:rPr>
              <a:t>Cervical cancer follows a common virus. No woman is to blame for her diagnosis.</a:t>
            </a:r>
            <a:endParaRPr lang="en-GB" sz="1800" noProof="0" dirty="0"/>
          </a:p>
        </p:txBody>
      </p:sp>
      <p:sp>
        <p:nvSpPr>
          <p:cNvPr id="19" name="Shape 17"/>
          <p:cNvSpPr/>
          <p:nvPr/>
        </p:nvSpPr>
        <p:spPr>
          <a:xfrm>
            <a:off x="566928" y="5207215"/>
            <a:ext cx="4572000" cy="937553"/>
          </a:xfrm>
          <a:prstGeom prst="roundRect">
            <a:avLst>
              <a:gd name="adj" fmla="val 6827"/>
            </a:avLst>
          </a:prstGeom>
          <a:solidFill>
            <a:srgbClr val="FDE9E8"/>
          </a:solidFill>
          <a:ln w="12700">
            <a:solidFill>
              <a:srgbClr val="F0CFCE"/>
            </a:solidFill>
            <a:prstDash val="solid"/>
          </a:ln>
        </p:spPr>
        <p:txBody>
          <a:bodyPr/>
          <a:lstStyle/>
          <a:p>
            <a:endParaRPr lang="en-GB" noProof="0" dirty="0"/>
          </a:p>
        </p:txBody>
      </p:sp>
      <p:sp>
        <p:nvSpPr>
          <p:cNvPr id="20" name="Text 18"/>
          <p:cNvSpPr txBox="1"/>
          <p:nvPr/>
        </p:nvSpPr>
        <p:spPr>
          <a:xfrm>
            <a:off x="804672" y="5280367"/>
            <a:ext cx="4096512" cy="791249"/>
          </a:xfrm>
          <a:prstGeom prst="rect">
            <a:avLst/>
          </a:prstGeom>
          <a:noFill/>
          <a:ln/>
        </p:spPr>
        <p:txBody>
          <a:bodyPr wrap="square" lIns="0" tIns="0" rIns="0" bIns="0" rtlCol="0" anchor="ctr"/>
          <a:lstStyle/>
          <a:p>
            <a:pPr marL="0" indent="0">
              <a:lnSpc>
                <a:spcPct val="104000"/>
              </a:lnSpc>
              <a:buNone/>
            </a:pPr>
            <a:r>
              <a:rPr lang="en-GB" sz="1800" b="1" noProof="0" dirty="0">
                <a:solidFill>
                  <a:srgbClr val="8E2531"/>
                </a:solidFill>
                <a:latin typeface="Calibri" pitchFamily="34" charset="0"/>
                <a:ea typeface="Calibri" pitchFamily="34" charset="-122"/>
                <a:cs typeface="Calibri" pitchFamily="34" charset="-120"/>
              </a:rPr>
              <a:t>❌ Myth   </a:t>
            </a:r>
            <a:r>
              <a:rPr lang="en-GB" sz="1800" noProof="0" dirty="0">
                <a:solidFill>
                  <a:srgbClr val="23303F"/>
                </a:solidFill>
                <a:latin typeface="Calibri" pitchFamily="34" charset="0"/>
                <a:ea typeface="Calibri" pitchFamily="34" charset="-122"/>
                <a:cs typeface="Calibri" pitchFamily="34" charset="-120"/>
              </a:rPr>
              <a:t>Screening is embarrassing, so it is better not to raise it.</a:t>
            </a:r>
            <a:endParaRPr lang="en-GB" sz="1800" noProof="0" dirty="0"/>
          </a:p>
        </p:txBody>
      </p:sp>
      <p:sp>
        <p:nvSpPr>
          <p:cNvPr id="21" name="Shape 19"/>
          <p:cNvSpPr/>
          <p:nvPr/>
        </p:nvSpPr>
        <p:spPr>
          <a:xfrm>
            <a:off x="5321808" y="5207215"/>
            <a:ext cx="6300216" cy="937553"/>
          </a:xfrm>
          <a:prstGeom prst="roundRect">
            <a:avLst>
              <a:gd name="adj" fmla="val 6827"/>
            </a:avLst>
          </a:prstGeom>
          <a:solidFill>
            <a:srgbClr val="EAF7F0"/>
          </a:solidFill>
          <a:ln w="12700">
            <a:solidFill>
              <a:srgbClr val="C0D4CB"/>
            </a:solidFill>
            <a:prstDash val="solid"/>
          </a:ln>
        </p:spPr>
        <p:txBody>
          <a:bodyPr/>
          <a:lstStyle/>
          <a:p>
            <a:endParaRPr lang="en-GB" noProof="0" dirty="0"/>
          </a:p>
        </p:txBody>
      </p:sp>
      <p:sp>
        <p:nvSpPr>
          <p:cNvPr id="22" name="Text 20"/>
          <p:cNvSpPr txBox="1"/>
          <p:nvPr/>
        </p:nvSpPr>
        <p:spPr>
          <a:xfrm>
            <a:off x="5559552" y="5280367"/>
            <a:ext cx="5824728" cy="791249"/>
          </a:xfrm>
          <a:prstGeom prst="rect">
            <a:avLst/>
          </a:prstGeom>
          <a:noFill/>
          <a:ln/>
        </p:spPr>
        <p:txBody>
          <a:bodyPr wrap="square" lIns="0" tIns="0" rIns="0" bIns="0" rtlCol="0" anchor="ctr"/>
          <a:lstStyle/>
          <a:p>
            <a:pPr marL="0" indent="0">
              <a:lnSpc>
                <a:spcPct val="104000"/>
              </a:lnSpc>
              <a:buNone/>
            </a:pPr>
            <a:r>
              <a:rPr lang="en-GB" sz="1800" b="1" noProof="0" dirty="0">
                <a:solidFill>
                  <a:srgbClr val="19543E"/>
                </a:solidFill>
                <a:latin typeface="Calibri" pitchFamily="34" charset="0"/>
                <a:ea typeface="Calibri" pitchFamily="34" charset="-122"/>
                <a:cs typeface="Calibri" pitchFamily="34" charset="-120"/>
              </a:rPr>
              <a:t>✅ Fact   </a:t>
            </a:r>
            <a:r>
              <a:rPr lang="en-GB" sz="1800" noProof="0" dirty="0">
                <a:solidFill>
                  <a:srgbClr val="23303F"/>
                </a:solidFill>
                <a:latin typeface="Calibri" pitchFamily="34" charset="0"/>
                <a:ea typeface="Calibri" pitchFamily="34" charset="-122"/>
                <a:cs typeface="Calibri" pitchFamily="34" charset="-120"/>
              </a:rPr>
              <a:t>Raising it calmly and privately is exactly what makes screening possible. Silence is what costs lives.</a:t>
            </a:r>
            <a:endParaRPr lang="en-GB" sz="1800" noProof="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131</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3 · CLINICAL CASE</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 Clinical Case Closure: Immaculée</a:t>
            </a:r>
            <a:endParaRPr lang="en-GB" sz="3200" noProof="0" dirty="0"/>
          </a:p>
        </p:txBody>
      </p:sp>
      <p:sp>
        <p:nvSpPr>
          <p:cNvPr id="6" name="Shape 4"/>
          <p:cNvSpPr/>
          <p:nvPr/>
        </p:nvSpPr>
        <p:spPr>
          <a:xfrm>
            <a:off x="566928" y="1719072"/>
            <a:ext cx="11055096" cy="3931920"/>
          </a:xfrm>
          <a:prstGeom prst="roundRect">
            <a:avLst>
              <a:gd name="adj" fmla="val 2093"/>
            </a:avLst>
          </a:prstGeom>
          <a:solidFill>
            <a:srgbClr val="FFF8E7"/>
          </a:solidFill>
          <a:ln w="12700">
            <a:solidFill>
              <a:srgbClr val="EADFC3"/>
            </a:solidFill>
            <a:prstDash val="solid"/>
          </a:ln>
        </p:spPr>
        <p:txBody>
          <a:bodyPr/>
          <a:lstStyle/>
          <a:p>
            <a:endParaRPr lang="en-GB" noProof="0" dirty="0"/>
          </a:p>
        </p:txBody>
      </p:sp>
      <p:sp>
        <p:nvSpPr>
          <p:cNvPr id="7" name="Text 5"/>
          <p:cNvSpPr txBox="1"/>
          <p:nvPr/>
        </p:nvSpPr>
        <p:spPr>
          <a:xfrm>
            <a:off x="841248" y="1847088"/>
            <a:ext cx="10506456" cy="457200"/>
          </a:xfrm>
          <a:prstGeom prst="rect">
            <a:avLst/>
          </a:prstGeom>
          <a:noFill/>
          <a:ln/>
        </p:spPr>
        <p:txBody>
          <a:bodyPr wrap="square" lIns="0" tIns="0" rIns="0" bIns="0" rtlCol="0" anchor="ctr"/>
          <a:lstStyle/>
          <a:p>
            <a:pPr marL="0" indent="0">
              <a:buNone/>
            </a:pPr>
            <a:r>
              <a:rPr lang="en-GB" sz="2000" b="1" noProof="0" dirty="0" err="1">
                <a:solidFill>
                  <a:srgbClr val="10305A"/>
                </a:solidFill>
                <a:latin typeface="Cambria" pitchFamily="34" charset="0"/>
                <a:ea typeface="Cambria" pitchFamily="34" charset="-122"/>
                <a:cs typeface="Cambria" pitchFamily="34" charset="-120"/>
              </a:rPr>
              <a:t>Mukamana</a:t>
            </a:r>
            <a:r>
              <a:rPr lang="en-GB" sz="2000" b="1" noProof="0" dirty="0">
                <a:solidFill>
                  <a:srgbClr val="10305A"/>
                </a:solidFill>
                <a:latin typeface="Cambria" pitchFamily="34" charset="0"/>
                <a:ea typeface="Cambria" pitchFamily="34" charset="-122"/>
                <a:cs typeface="Cambria" pitchFamily="34" charset="-120"/>
              </a:rPr>
              <a:t> Immaculée, 38</a:t>
            </a:r>
            <a:endParaRPr lang="en-GB" sz="2000" noProof="0" dirty="0"/>
          </a:p>
        </p:txBody>
      </p:sp>
      <p:sp>
        <p:nvSpPr>
          <p:cNvPr id="8" name="Text 6"/>
          <p:cNvSpPr txBox="1"/>
          <p:nvPr/>
        </p:nvSpPr>
        <p:spPr>
          <a:xfrm>
            <a:off x="841248" y="2359152"/>
            <a:ext cx="10506456" cy="3163824"/>
          </a:xfrm>
          <a:prstGeom prst="rect">
            <a:avLst/>
          </a:prstGeom>
          <a:noFill/>
          <a:ln/>
        </p:spPr>
        <p:txBody>
          <a:bodyPr wrap="square" lIns="0" tIns="0" rIns="0" bIns="0" rtlCol="0" anchor="t"/>
          <a:lstStyle/>
          <a:p>
            <a:pPr marL="0" indent="0">
              <a:lnSpc>
                <a:spcPct val="105000"/>
              </a:lnSpc>
              <a:spcAft>
                <a:spcPts val="800"/>
              </a:spcAft>
              <a:buNone/>
            </a:pPr>
            <a:r>
              <a:rPr lang="en-GB" sz="1800" b="1" noProof="0" dirty="0">
                <a:solidFill>
                  <a:srgbClr val="31507B"/>
                </a:solidFill>
                <a:latin typeface="Calibri" pitchFamily="34" charset="0"/>
                <a:ea typeface="Calibri" pitchFamily="34" charset="-122"/>
                <a:cs typeface="Calibri" pitchFamily="34" charset="-120"/>
              </a:rPr>
              <a:t>What happened next: </a:t>
            </a:r>
            <a:r>
              <a:rPr lang="en-GB" sz="1800" noProof="0" dirty="0">
                <a:solidFill>
                  <a:srgbClr val="23303F"/>
                </a:solidFill>
                <a:latin typeface="Calibri" pitchFamily="34" charset="0"/>
                <a:ea typeface="Calibri" pitchFamily="34" charset="-122"/>
                <a:cs typeface="Calibri" pitchFamily="34" charset="-120"/>
              </a:rPr>
              <a:t>She was referred to the district hospital for excisional treatment, with the appointment booked before she left. Transport cost was discussed and a community health worker agreed to accompany her.</a:t>
            </a:r>
            <a:endParaRPr lang="en-GB" sz="1800" noProof="0" dirty="0"/>
          </a:p>
          <a:p>
            <a:pPr marL="0" indent="0">
              <a:lnSpc>
                <a:spcPct val="105000"/>
              </a:lnSpc>
              <a:spcAft>
                <a:spcPts val="800"/>
              </a:spcAft>
              <a:buNone/>
            </a:pPr>
            <a:r>
              <a:rPr lang="en-GB" sz="1800" b="1" noProof="0" dirty="0">
                <a:solidFill>
                  <a:srgbClr val="31507B"/>
                </a:solidFill>
                <a:latin typeface="Calibri" pitchFamily="34" charset="0"/>
                <a:ea typeface="Calibri" pitchFamily="34" charset="-122"/>
                <a:cs typeface="Calibri" pitchFamily="34" charset="-120"/>
              </a:rPr>
              <a:t>Final clinical interpretation: </a:t>
            </a:r>
            <a:r>
              <a:rPr lang="en-GB" sz="1800" noProof="0" dirty="0">
                <a:solidFill>
                  <a:srgbClr val="23303F"/>
                </a:solidFill>
                <a:latin typeface="Calibri" pitchFamily="34" charset="0"/>
                <a:ea typeface="Calibri" pitchFamily="34" charset="-122"/>
                <a:cs typeface="Calibri" pitchFamily="34" charset="-120"/>
              </a:rPr>
              <a:t>Histology from the excised tissue showed a high-grade precancerous lesion with clear margins. There was no invasive cancer.</a:t>
            </a:r>
            <a:endParaRPr lang="en-GB" sz="1800" noProof="0" dirty="0"/>
          </a:p>
          <a:p>
            <a:pPr marL="0" indent="0">
              <a:lnSpc>
                <a:spcPct val="105000"/>
              </a:lnSpc>
              <a:spcAft>
                <a:spcPts val="800"/>
              </a:spcAft>
              <a:buNone/>
            </a:pPr>
            <a:r>
              <a:rPr lang="en-GB" sz="1800" b="1" noProof="0" dirty="0">
                <a:solidFill>
                  <a:srgbClr val="31507B"/>
                </a:solidFill>
                <a:latin typeface="Calibri" pitchFamily="34" charset="0"/>
                <a:ea typeface="Calibri" pitchFamily="34" charset="-122"/>
                <a:cs typeface="Calibri" pitchFamily="34" charset="-120"/>
              </a:rPr>
              <a:t>Key actions: </a:t>
            </a:r>
            <a:r>
              <a:rPr lang="en-GB" sz="1800" noProof="0" dirty="0">
                <a:solidFill>
                  <a:srgbClr val="23303F"/>
                </a:solidFill>
                <a:latin typeface="Calibri" pitchFamily="34" charset="0"/>
                <a:ea typeface="Calibri" pitchFamily="34" charset="-122"/>
                <a:cs typeface="Calibri" pitchFamily="34" charset="-120"/>
              </a:rPr>
              <a:t>Explained that cancer had not been found. Arranged referral rather than ablation, because the lesion was not fully visible. Booked and recorded her follow-up test.</a:t>
            </a:r>
            <a:endParaRPr lang="en-GB" sz="1800" noProof="0" dirty="0"/>
          </a:p>
          <a:p>
            <a:pPr marL="0" indent="0">
              <a:lnSpc>
                <a:spcPct val="105000"/>
              </a:lnSpc>
              <a:spcAft>
                <a:spcPts val="800"/>
              </a:spcAft>
              <a:buNone/>
            </a:pPr>
            <a:r>
              <a:rPr lang="en-GB" sz="1800" b="1" noProof="0" dirty="0">
                <a:solidFill>
                  <a:srgbClr val="31507B"/>
                </a:solidFill>
                <a:latin typeface="Calibri" pitchFamily="34" charset="0"/>
                <a:ea typeface="Calibri" pitchFamily="34" charset="-122"/>
                <a:cs typeface="Calibri" pitchFamily="34" charset="-120"/>
              </a:rPr>
              <a:t>Outcome: </a:t>
            </a:r>
            <a:r>
              <a:rPr lang="en-GB" sz="1800" noProof="0" dirty="0">
                <a:solidFill>
                  <a:srgbClr val="23303F"/>
                </a:solidFill>
                <a:latin typeface="Calibri" pitchFamily="34" charset="0"/>
                <a:ea typeface="Calibri" pitchFamily="34" charset="-122"/>
                <a:cs typeface="Calibri" pitchFamily="34" charset="-120"/>
              </a:rPr>
              <a:t>She recovered quickly, kept her uterus, and attended her follow-up appointment.</a:t>
            </a:r>
            <a:endParaRPr lang="en-GB" sz="1800" noProof="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132</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3 · KNOWLEDGE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Knowledge check: question 1 of 5</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A positive screening result should be explained to a woman as:</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A confirmed cancer</a:t>
            </a:r>
            <a:endParaRPr lang="en-GB" sz="1800" noProof="0" dirty="0"/>
          </a:p>
        </p:txBody>
      </p:sp>
      <p:sp>
        <p:nvSpPr>
          <p:cNvPr id="13" name="Shape 11"/>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A reason to stop investigating</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A normal finding</a:t>
            </a:r>
            <a:endParaRPr lang="en-GB" sz="1800" noProof="0" dirty="0"/>
          </a:p>
        </p:txBody>
      </p:sp>
      <p:sp>
        <p:nvSpPr>
          <p:cNvPr id="9" name="Shape 7"/>
          <p:cNvSpPr/>
          <p:nvPr/>
        </p:nvSpPr>
        <p:spPr>
          <a:xfrm>
            <a:off x="566928" y="4050792"/>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A signal that her cervix needs to be looked at, and that cancer has not been found</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D
Feedback: </a:t>
            </a:r>
            <a:r>
              <a:rPr lang="en-GB" sz="1800" noProof="0" dirty="0">
                <a:solidFill>
                  <a:srgbClr val="23303F"/>
                </a:solidFill>
                <a:latin typeface="Calibri" pitchFamily="34" charset="0"/>
                <a:ea typeface="Calibri" pitchFamily="34" charset="-122"/>
                <a:cs typeface="Calibri" pitchFamily="34" charset="-120"/>
              </a:rPr>
              <a:t>The result means the next step in the pathway is due. Saying plainly that cancer has not been found is what keeps a frightened woman engaged with care.</a:t>
            </a:r>
            <a:endParaRPr lang="en-GB" sz="1800" noProof="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133</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3 · KNOWLEDGE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Knowledge check: question 2 of 5</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Which presentation requires same day emergency assessment?</a:t>
            </a:r>
            <a:endParaRPr lang="en-GB" sz="2000" noProof="0" dirty="0"/>
          </a:p>
        </p:txBody>
      </p:sp>
      <p:sp>
        <p:nvSpPr>
          <p:cNvPr id="9" name="Shape 7"/>
          <p:cNvSpPr/>
          <p:nvPr/>
        </p:nvSpPr>
        <p:spPr>
          <a:xfrm>
            <a:off x="566928" y="2322576"/>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Heavy vaginal bleeding with dizziness and pallor</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7" name="Shape 5"/>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A positive HPV test in a well woman</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Two months of mild discharge</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A woman due for routine screening</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A
Feedback: </a:t>
            </a:r>
            <a:r>
              <a:rPr lang="en-GB" sz="1800" noProof="0" dirty="0">
                <a:solidFill>
                  <a:srgbClr val="23303F"/>
                </a:solidFill>
                <a:latin typeface="Calibri" pitchFamily="34" charset="0"/>
                <a:ea typeface="Calibri" pitchFamily="34" charset="-122"/>
                <a:cs typeface="Calibri" pitchFamily="34" charset="-120"/>
              </a:rPr>
              <a:t>Bleeding with signs of haemodynamic compromise needs resuscitation and immediate transfer. The other findings need prompt or routine management, but not same day emergency care.</a:t>
            </a:r>
            <a:endParaRPr lang="en-GB" sz="1800" noProof="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134</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3 · KNOWLEDGE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Knowledge check: question 3 of 5</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The single most useful item to record for the national cancer registry at first contact is:</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The suspected stage</a:t>
            </a:r>
            <a:endParaRPr lang="en-GB" sz="1800" noProof="0" dirty="0"/>
          </a:p>
        </p:txBody>
      </p:sp>
      <p:sp>
        <p:nvSpPr>
          <p:cNvPr id="11" name="Shape 9"/>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The woman's occupation</a:t>
            </a:r>
            <a:endParaRPr lang="en-GB" sz="1800" noProof="0" dirty="0"/>
          </a:p>
        </p:txBody>
      </p:sp>
      <p:sp>
        <p:nvSpPr>
          <p:cNvPr id="9" name="Shape 7"/>
          <p:cNvSpPr/>
          <p:nvPr/>
        </p:nvSpPr>
        <p:spPr>
          <a:xfrm>
            <a:off x="566928" y="3474720"/>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The date symptoms began and the date of this consultation</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The name of the referring clinician</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C
Feedback: </a:t>
            </a:r>
            <a:r>
              <a:rPr lang="en-GB" sz="1800" noProof="0" dirty="0">
                <a:solidFill>
                  <a:srgbClr val="23303F"/>
                </a:solidFill>
                <a:latin typeface="Calibri" pitchFamily="34" charset="0"/>
                <a:ea typeface="Calibri" pitchFamily="34" charset="-122"/>
                <a:cs typeface="Calibri" pitchFamily="34" charset="-120"/>
              </a:rPr>
              <a:t>Together these two dates measure diagnostic delay, which is the key indicator of how well the pathway is working. Record them even when no test has been done.</a:t>
            </a:r>
            <a:endParaRPr lang="en-GB" sz="1800" noProof="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135</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3 · KNOWLEDGE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Knowledge check: question 4 of 5</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A woman referred six weeks ago has not attended. You should:</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Assume she chose not to go</a:t>
            </a:r>
            <a:endParaRPr lang="en-GB" sz="1800" noProof="0" dirty="0"/>
          </a:p>
        </p:txBody>
      </p:sp>
      <p:sp>
        <p:nvSpPr>
          <p:cNvPr id="9" name="Shape 7"/>
          <p:cNvSpPr/>
          <p:nvPr/>
        </p:nvSpPr>
        <p:spPr>
          <a:xfrm>
            <a:off x="566928" y="2898648"/>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Contact her, find out what prevented attendance, and re-arrange</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Remove her from the register</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Wait for her to return</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B
Feedback: </a:t>
            </a:r>
            <a:r>
              <a:rPr lang="en-GB" sz="1800" noProof="0" dirty="0">
                <a:solidFill>
                  <a:srgbClr val="23303F"/>
                </a:solidFill>
                <a:latin typeface="Calibri" pitchFamily="34" charset="0"/>
                <a:ea typeface="Calibri" pitchFamily="34" charset="-122"/>
                <a:cs typeface="Calibri" pitchFamily="34" charset="-120"/>
              </a:rPr>
              <a:t>Loss to follow-up is one of the largest gaps in the pathway, and the reason is usually practical rather than a refusal of care. Finding out what happened is part of the clinical task.</a:t>
            </a:r>
            <a:endParaRPr lang="en-GB" sz="1800" noProof="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136</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3 · KNOWLEDGE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Knowledge check: question 5 of 5</a:t>
            </a:r>
            <a:endParaRPr lang="en-GB" sz="3200" noProof="0" dirty="0"/>
          </a:p>
        </p:txBody>
      </p:sp>
      <p:sp>
        <p:nvSpPr>
          <p:cNvPr id="6" name="Text 4"/>
          <p:cNvSpPr txBox="1"/>
          <p:nvPr/>
        </p:nvSpPr>
        <p:spPr>
          <a:xfrm>
            <a:off x="566928" y="1591056"/>
            <a:ext cx="11055096" cy="768096"/>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A woman is afraid her husband will accuse her of infidelity if she tells him about her HPV result. The best approach is:</a:t>
            </a:r>
            <a:endParaRPr lang="en-GB" sz="2000" noProof="0" dirty="0"/>
          </a:p>
        </p:txBody>
      </p:sp>
      <p:sp>
        <p:nvSpPr>
          <p:cNvPr id="7" name="Shape 5"/>
          <p:cNvSpPr/>
          <p:nvPr/>
        </p:nvSpPr>
        <p:spPr>
          <a:xfrm>
            <a:off x="566928" y="2432304"/>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432304"/>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Insist that she must tell him</a:t>
            </a:r>
            <a:endParaRPr lang="en-GB" sz="1800" noProof="0" dirty="0"/>
          </a:p>
        </p:txBody>
      </p:sp>
      <p:sp>
        <p:nvSpPr>
          <p:cNvPr id="13" name="Shape 11"/>
          <p:cNvSpPr/>
          <p:nvPr/>
        </p:nvSpPr>
        <p:spPr>
          <a:xfrm>
            <a:off x="566928" y="30083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30083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Avoid the subject</a:t>
            </a:r>
            <a:endParaRPr lang="en-GB" sz="1800" noProof="0" dirty="0"/>
          </a:p>
        </p:txBody>
      </p:sp>
      <p:sp>
        <p:nvSpPr>
          <p:cNvPr id="11" name="Shape 9"/>
          <p:cNvSpPr/>
          <p:nvPr/>
        </p:nvSpPr>
        <p:spPr>
          <a:xfrm>
            <a:off x="566928" y="35844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5844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Tell him yourself</a:t>
            </a:r>
            <a:endParaRPr lang="en-GB" sz="1800" noProof="0" dirty="0"/>
          </a:p>
        </p:txBody>
      </p:sp>
      <p:sp>
        <p:nvSpPr>
          <p:cNvPr id="9" name="Shape 7"/>
          <p:cNvSpPr/>
          <p:nvPr/>
        </p:nvSpPr>
        <p:spPr>
          <a:xfrm>
            <a:off x="566928" y="4160520"/>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4160520"/>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Explain that HPV is common and can persist for years, and help her decide what to say</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5" name="Shape 13"/>
          <p:cNvSpPr/>
          <p:nvPr/>
        </p:nvSpPr>
        <p:spPr>
          <a:xfrm>
            <a:off x="566928" y="4828032"/>
            <a:ext cx="11055096" cy="1408176"/>
          </a:xfrm>
          <a:prstGeom prst="roundRect">
            <a:avLst>
              <a:gd name="adj" fmla="val 4545"/>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919472"/>
            <a:ext cx="10506456" cy="1225296"/>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D
Feedback: </a:t>
            </a:r>
            <a:r>
              <a:rPr lang="en-GB" sz="1800" noProof="0" dirty="0">
                <a:solidFill>
                  <a:srgbClr val="23303F"/>
                </a:solidFill>
                <a:latin typeface="Calibri" pitchFamily="34" charset="0"/>
                <a:ea typeface="Calibri" pitchFamily="34" charset="-122"/>
                <a:cs typeface="Calibri" pitchFamily="34" charset="-120"/>
              </a:rPr>
              <a:t>Accurate information plus a plan she controls protects both her safety and her willingness to continue care. Disclosure is her decision, not yours.</a:t>
            </a:r>
            <a:endParaRPr lang="en-GB" sz="1800" noProof="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137</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3</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Reflection</a:t>
            </a:r>
            <a:endParaRPr lang="en-GB" sz="3200" noProof="0" dirty="0"/>
          </a:p>
        </p:txBody>
      </p:sp>
      <p:sp>
        <p:nvSpPr>
          <p:cNvPr id="6" name="Text 4"/>
          <p:cNvSpPr txBox="1"/>
          <p:nvPr/>
        </p:nvSpPr>
        <p:spPr>
          <a:xfrm>
            <a:off x="566928" y="1572768"/>
            <a:ext cx="11055096" cy="384048"/>
          </a:xfrm>
          <a:prstGeom prst="rect">
            <a:avLst/>
          </a:prstGeom>
          <a:noFill/>
          <a:ln/>
        </p:spPr>
        <p:txBody>
          <a:bodyPr wrap="square" lIns="0" tIns="0" rIns="0" bIns="0" rtlCol="0" anchor="ctr"/>
          <a:lstStyle/>
          <a:p>
            <a:pPr marL="0" indent="0">
              <a:buNone/>
            </a:pPr>
            <a:r>
              <a:rPr lang="en-GB" sz="1800" i="1" noProof="0" dirty="0">
                <a:solidFill>
                  <a:srgbClr val="31507B"/>
                </a:solidFill>
                <a:latin typeface="Calibri" pitchFamily="34" charset="0"/>
                <a:ea typeface="Calibri" pitchFamily="34" charset="-122"/>
                <a:cs typeface="Calibri" pitchFamily="34" charset="-120"/>
              </a:rPr>
              <a:t>Learner instruction: Enter your response in the text box. These responses are not scored.</a:t>
            </a:r>
            <a:endParaRPr lang="en-GB" sz="1800" noProof="0" dirty="0"/>
          </a:p>
        </p:txBody>
      </p:sp>
      <p:sp>
        <p:nvSpPr>
          <p:cNvPr id="7" name="Shape 5"/>
          <p:cNvSpPr/>
          <p:nvPr/>
        </p:nvSpPr>
        <p:spPr>
          <a:xfrm>
            <a:off x="566928" y="2084832"/>
            <a:ext cx="11055096" cy="1255776"/>
          </a:xfrm>
          <a:prstGeom prst="roundRect">
            <a:avLst>
              <a:gd name="adj" fmla="val 5097"/>
            </a:avLst>
          </a:prstGeom>
          <a:solidFill>
            <a:srgbClr val="F3F6FB"/>
          </a:solidFill>
          <a:ln w="12700">
            <a:solidFill>
              <a:srgbClr val="E0E3EA"/>
            </a:solidFill>
            <a:prstDash val="solid"/>
          </a:ln>
        </p:spPr>
        <p:txBody>
          <a:bodyPr/>
          <a:lstStyle/>
          <a:p>
            <a:endParaRPr lang="en-GB" noProof="0" dirty="0"/>
          </a:p>
        </p:txBody>
      </p:sp>
      <p:sp>
        <p:nvSpPr>
          <p:cNvPr id="8" name="Shape 6"/>
          <p:cNvSpPr/>
          <p:nvPr/>
        </p:nvSpPr>
        <p:spPr>
          <a:xfrm>
            <a:off x="841248" y="2484120"/>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9" name="Text 7"/>
          <p:cNvSpPr txBox="1"/>
          <p:nvPr/>
        </p:nvSpPr>
        <p:spPr>
          <a:xfrm>
            <a:off x="841248" y="2484120"/>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mbria" pitchFamily="34" charset="0"/>
                <a:ea typeface="Cambria" pitchFamily="34" charset="-122"/>
                <a:cs typeface="Cambria" pitchFamily="34" charset="-120"/>
              </a:rPr>
              <a:t>1</a:t>
            </a:r>
            <a:endParaRPr lang="en-GB" sz="1500" noProof="0" dirty="0"/>
          </a:p>
        </p:txBody>
      </p:sp>
      <p:sp>
        <p:nvSpPr>
          <p:cNvPr id="10" name="Text 8"/>
          <p:cNvSpPr txBox="1"/>
          <p:nvPr/>
        </p:nvSpPr>
        <p:spPr>
          <a:xfrm>
            <a:off x="1517904" y="2157984"/>
            <a:ext cx="9811512" cy="1109472"/>
          </a:xfrm>
          <a:prstGeom prst="rect">
            <a:avLst/>
          </a:prstGeom>
          <a:noFill/>
          <a:ln/>
        </p:spPr>
        <p:txBody>
          <a:bodyPr wrap="square" lIns="0" tIns="0" rIns="0" bIns="0" rtlCol="0" anchor="ctr"/>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How would you explain to a worried woman that you are referring her, without stating or implying that she has cancer?</a:t>
            </a:r>
            <a:endParaRPr lang="en-GB" sz="1800" noProof="0" dirty="0"/>
          </a:p>
        </p:txBody>
      </p:sp>
      <p:sp>
        <p:nvSpPr>
          <p:cNvPr id="11" name="Shape 9"/>
          <p:cNvSpPr/>
          <p:nvPr/>
        </p:nvSpPr>
        <p:spPr>
          <a:xfrm>
            <a:off x="566928" y="3486912"/>
            <a:ext cx="11055096" cy="1255776"/>
          </a:xfrm>
          <a:prstGeom prst="roundRect">
            <a:avLst>
              <a:gd name="adj" fmla="val 5097"/>
            </a:avLst>
          </a:prstGeom>
          <a:solidFill>
            <a:srgbClr val="F3F6FB"/>
          </a:solidFill>
          <a:ln w="12700">
            <a:solidFill>
              <a:srgbClr val="E0E3EA"/>
            </a:solidFill>
            <a:prstDash val="solid"/>
          </a:ln>
        </p:spPr>
        <p:txBody>
          <a:bodyPr/>
          <a:lstStyle/>
          <a:p>
            <a:endParaRPr lang="en-GB" noProof="0" dirty="0"/>
          </a:p>
        </p:txBody>
      </p:sp>
      <p:sp>
        <p:nvSpPr>
          <p:cNvPr id="12" name="Shape 10"/>
          <p:cNvSpPr/>
          <p:nvPr/>
        </p:nvSpPr>
        <p:spPr>
          <a:xfrm>
            <a:off x="841248" y="3886200"/>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13" name="Text 11"/>
          <p:cNvSpPr txBox="1"/>
          <p:nvPr/>
        </p:nvSpPr>
        <p:spPr>
          <a:xfrm>
            <a:off x="841248" y="3886200"/>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mbria" pitchFamily="34" charset="0"/>
                <a:ea typeface="Cambria" pitchFamily="34" charset="-122"/>
                <a:cs typeface="Cambria" pitchFamily="34" charset="-120"/>
              </a:rPr>
              <a:t>2</a:t>
            </a:r>
            <a:endParaRPr lang="en-GB" sz="1500" noProof="0" dirty="0"/>
          </a:p>
        </p:txBody>
      </p:sp>
      <p:sp>
        <p:nvSpPr>
          <p:cNvPr id="14" name="Text 12"/>
          <p:cNvSpPr txBox="1"/>
          <p:nvPr/>
        </p:nvSpPr>
        <p:spPr>
          <a:xfrm>
            <a:off x="1517904" y="3560064"/>
            <a:ext cx="9811512" cy="1109472"/>
          </a:xfrm>
          <a:prstGeom prst="rect">
            <a:avLst/>
          </a:prstGeom>
          <a:noFill/>
          <a:ln/>
        </p:spPr>
        <p:txBody>
          <a:bodyPr wrap="square" lIns="0" tIns="0" rIns="0" bIns="0" rtlCol="0" anchor="ctr"/>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What most often stops a woman in your setting from completing a referral, and what is one thing you could change about how you refer?</a:t>
            </a:r>
            <a:endParaRPr lang="en-GB" sz="1800" noProof="0" dirty="0"/>
          </a:p>
        </p:txBody>
      </p:sp>
      <p:sp>
        <p:nvSpPr>
          <p:cNvPr id="15" name="Shape 13"/>
          <p:cNvSpPr/>
          <p:nvPr/>
        </p:nvSpPr>
        <p:spPr>
          <a:xfrm>
            <a:off x="566928" y="4888992"/>
            <a:ext cx="11055096" cy="1255776"/>
          </a:xfrm>
          <a:prstGeom prst="roundRect">
            <a:avLst>
              <a:gd name="adj" fmla="val 5097"/>
            </a:avLst>
          </a:prstGeom>
          <a:solidFill>
            <a:srgbClr val="F3F6FB"/>
          </a:solidFill>
          <a:ln w="12700">
            <a:solidFill>
              <a:srgbClr val="E0E3EA"/>
            </a:solidFill>
            <a:prstDash val="solid"/>
          </a:ln>
        </p:spPr>
        <p:txBody>
          <a:bodyPr/>
          <a:lstStyle/>
          <a:p>
            <a:endParaRPr lang="en-GB" noProof="0" dirty="0"/>
          </a:p>
        </p:txBody>
      </p:sp>
      <p:sp>
        <p:nvSpPr>
          <p:cNvPr id="16" name="Shape 14"/>
          <p:cNvSpPr/>
          <p:nvPr/>
        </p:nvSpPr>
        <p:spPr>
          <a:xfrm>
            <a:off x="841248" y="5288280"/>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17" name="Text 15"/>
          <p:cNvSpPr txBox="1"/>
          <p:nvPr/>
        </p:nvSpPr>
        <p:spPr>
          <a:xfrm>
            <a:off x="841248" y="5288280"/>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mbria" pitchFamily="34" charset="0"/>
                <a:ea typeface="Cambria" pitchFamily="34" charset="-122"/>
                <a:cs typeface="Cambria" pitchFamily="34" charset="-120"/>
              </a:rPr>
              <a:t>3</a:t>
            </a:r>
            <a:endParaRPr lang="en-GB" sz="1500" noProof="0" dirty="0"/>
          </a:p>
        </p:txBody>
      </p:sp>
      <p:sp>
        <p:nvSpPr>
          <p:cNvPr id="18" name="Text 16"/>
          <p:cNvSpPr txBox="1"/>
          <p:nvPr/>
        </p:nvSpPr>
        <p:spPr>
          <a:xfrm>
            <a:off x="1517904" y="4962144"/>
            <a:ext cx="9811512" cy="1109472"/>
          </a:xfrm>
          <a:prstGeom prst="rect">
            <a:avLst/>
          </a:prstGeom>
          <a:noFill/>
          <a:ln/>
        </p:spPr>
        <p:txBody>
          <a:bodyPr wrap="square" lIns="0" tIns="0" rIns="0" bIns="0" rtlCol="0" anchor="ctr"/>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How would you raise the subject of bleeding or discharge with a woman who is clearly embarrassed?</a:t>
            </a:r>
            <a:endParaRPr lang="en-GB" sz="1800" noProof="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13">
    <p:bg>
      <p:bgPr>
        <a:solidFill>
          <a:srgbClr val="0E2F5C"/>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8FA3C2"/>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8FA3C2"/>
                </a:solidFill>
                <a:latin typeface="Calibri" pitchFamily="34" charset="0"/>
                <a:ea typeface="Calibri" pitchFamily="34" charset="-122"/>
                <a:cs typeface="Calibri" pitchFamily="34" charset="-120"/>
              </a:rPr>
              <a:t>Screen 138</a:t>
            </a:r>
            <a:endParaRPr lang="en-GB" sz="1100" noProof="0" dirty="0"/>
          </a:p>
        </p:txBody>
      </p:sp>
      <p:sp>
        <p:nvSpPr>
          <p:cNvPr id="4" name="Text 2"/>
          <p:cNvSpPr txBox="1"/>
          <p:nvPr/>
        </p:nvSpPr>
        <p:spPr>
          <a:xfrm>
            <a:off x="7680960" y="365760"/>
            <a:ext cx="4023360" cy="5852160"/>
          </a:xfrm>
          <a:prstGeom prst="rect">
            <a:avLst/>
          </a:prstGeom>
          <a:noFill/>
          <a:ln/>
        </p:spPr>
        <p:txBody>
          <a:bodyPr wrap="square" lIns="0" tIns="0" rIns="0" bIns="0" rtlCol="0" anchor="ctr"/>
          <a:lstStyle/>
          <a:p>
            <a:pPr marL="0" indent="0" algn="r">
              <a:buNone/>
            </a:pPr>
            <a:r>
              <a:rPr lang="en-GB" sz="30000" b="1" noProof="0" dirty="0">
                <a:solidFill>
                  <a:srgbClr val="16406F"/>
                </a:solidFill>
                <a:latin typeface="Cambria" pitchFamily="34" charset="0"/>
                <a:ea typeface="Cambria" pitchFamily="34" charset="-122"/>
                <a:cs typeface="Cambria" pitchFamily="34" charset="-120"/>
              </a:rPr>
              <a:t>4</a:t>
            </a:r>
            <a:endParaRPr lang="en-GB" sz="30000" noProof="0" dirty="0"/>
          </a:p>
        </p:txBody>
      </p:sp>
      <p:sp>
        <p:nvSpPr>
          <p:cNvPr id="5" name="Text 3"/>
          <p:cNvSpPr txBox="1"/>
          <p:nvPr/>
        </p:nvSpPr>
        <p:spPr>
          <a:xfrm>
            <a:off x="566928" y="1874520"/>
            <a:ext cx="7315200" cy="329184"/>
          </a:xfrm>
          <a:prstGeom prst="rect">
            <a:avLst/>
          </a:prstGeom>
          <a:noFill/>
          <a:ln/>
        </p:spPr>
        <p:txBody>
          <a:bodyPr wrap="square" lIns="0" tIns="0" rIns="0" bIns="0" rtlCol="0" anchor="ctr"/>
          <a:lstStyle/>
          <a:p>
            <a:pPr marL="0" indent="0">
              <a:buNone/>
            </a:pPr>
            <a:r>
              <a:rPr lang="en-GB" sz="1300" b="1" kern="0" spc="300" noProof="0" dirty="0">
                <a:solidFill>
                  <a:srgbClr val="9FB8DA"/>
                </a:solidFill>
                <a:latin typeface="Calibri" pitchFamily="34" charset="0"/>
                <a:ea typeface="Calibri" pitchFamily="34" charset="-122"/>
                <a:cs typeface="Calibri" pitchFamily="34" charset="-120"/>
              </a:rPr>
              <a:t>S E S S I O N   4</a:t>
            </a:r>
            <a:endParaRPr lang="en-GB" sz="1300" noProof="0" dirty="0"/>
          </a:p>
        </p:txBody>
      </p:sp>
      <p:sp>
        <p:nvSpPr>
          <p:cNvPr id="6" name="Text 4"/>
          <p:cNvSpPr txBox="1"/>
          <p:nvPr/>
        </p:nvSpPr>
        <p:spPr>
          <a:xfrm>
            <a:off x="566928" y="2286000"/>
            <a:ext cx="7680960" cy="1371600"/>
          </a:xfrm>
          <a:prstGeom prst="rect">
            <a:avLst/>
          </a:prstGeom>
          <a:noFill/>
          <a:ln/>
        </p:spPr>
        <p:txBody>
          <a:bodyPr wrap="square" lIns="0" tIns="0" rIns="0" bIns="0" rtlCol="0" anchor="ctr"/>
          <a:lstStyle/>
          <a:p>
            <a:pPr marL="0" indent="0">
              <a:buNone/>
            </a:pPr>
            <a:r>
              <a:rPr lang="en-GB" sz="4000" b="1" noProof="0" dirty="0">
                <a:solidFill>
                  <a:srgbClr val="FFFFFF"/>
                </a:solidFill>
                <a:latin typeface="Cambria" pitchFamily="34" charset="0"/>
                <a:ea typeface="Cambria" pitchFamily="34" charset="-122"/>
                <a:cs typeface="Cambria" pitchFamily="34" charset="-120"/>
              </a:rPr>
              <a:t>Diagnosis and treatment</a:t>
            </a:r>
            <a:endParaRPr lang="en-GB" sz="4000" noProof="0" dirty="0"/>
          </a:p>
        </p:txBody>
      </p:sp>
      <p:sp>
        <p:nvSpPr>
          <p:cNvPr id="7" name="Text 5"/>
          <p:cNvSpPr txBox="1"/>
          <p:nvPr/>
        </p:nvSpPr>
        <p:spPr>
          <a:xfrm>
            <a:off x="566928" y="3794760"/>
            <a:ext cx="7040880" cy="1463040"/>
          </a:xfrm>
          <a:prstGeom prst="rect">
            <a:avLst/>
          </a:prstGeom>
          <a:noFill/>
          <a:ln/>
        </p:spPr>
        <p:txBody>
          <a:bodyPr wrap="square" lIns="0" tIns="0" rIns="0" bIns="0" rtlCol="0" anchor="t"/>
          <a:lstStyle/>
          <a:p>
            <a:pPr marL="0" indent="0">
              <a:lnSpc>
                <a:spcPct val="118000"/>
              </a:lnSpc>
              <a:buNone/>
            </a:pPr>
            <a:r>
              <a:rPr lang="en-GB" sz="1800" noProof="0" dirty="0">
                <a:solidFill>
                  <a:srgbClr val="C6D5EA"/>
                </a:solidFill>
                <a:latin typeface="Calibri" pitchFamily="34" charset="0"/>
                <a:ea typeface="Calibri" pitchFamily="34" charset="-122"/>
                <a:cs typeface="Calibri" pitchFamily="34" charset="-120"/>
              </a:rPr>
              <a:t>What happens after a suspicious finding: how invasive cervical cancer is confirmed, how it is staged, and what each treatment actually does.</a:t>
            </a:r>
            <a:endParaRPr lang="en-GB" sz="1800" noProof="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139</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4</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Learning objectives</a:t>
            </a:r>
            <a:endParaRPr lang="en-GB" sz="3200" noProof="0" dirty="0"/>
          </a:p>
        </p:txBody>
      </p:sp>
      <p:sp>
        <p:nvSpPr>
          <p:cNvPr id="6" name="Text 4"/>
          <p:cNvSpPr txBox="1"/>
          <p:nvPr/>
        </p:nvSpPr>
        <p:spPr>
          <a:xfrm>
            <a:off x="566928" y="1554480"/>
            <a:ext cx="11055096" cy="384048"/>
          </a:xfrm>
          <a:prstGeom prst="rect">
            <a:avLst/>
          </a:prstGeom>
          <a:noFill/>
          <a:ln/>
        </p:spPr>
        <p:txBody>
          <a:bodyPr wrap="square" lIns="0" tIns="0" rIns="0" bIns="0" rtlCol="0" anchor="ctr"/>
          <a:lstStyle/>
          <a:p>
            <a:pPr marL="0" indent="0">
              <a:buNone/>
            </a:pPr>
            <a:r>
              <a:rPr lang="en-GB" sz="1800" noProof="0" dirty="0">
                <a:solidFill>
                  <a:srgbClr val="23303F"/>
                </a:solidFill>
                <a:latin typeface="Calibri" pitchFamily="34" charset="0"/>
                <a:ea typeface="Calibri" pitchFamily="34" charset="-122"/>
                <a:cs typeface="Calibri" pitchFamily="34" charset="-120"/>
              </a:rPr>
              <a:t>By the end of this session you will be able to:</a:t>
            </a:r>
            <a:endParaRPr lang="en-GB" sz="1800" noProof="0" dirty="0"/>
          </a:p>
        </p:txBody>
      </p:sp>
      <p:sp>
        <p:nvSpPr>
          <p:cNvPr id="7" name="Shape 5"/>
          <p:cNvSpPr/>
          <p:nvPr/>
        </p:nvSpPr>
        <p:spPr>
          <a:xfrm>
            <a:off x="566928" y="1975104"/>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8" name="Shape 6"/>
          <p:cNvSpPr/>
          <p:nvPr/>
        </p:nvSpPr>
        <p:spPr>
          <a:xfrm>
            <a:off x="804672" y="2069889"/>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9" name="Text 7"/>
          <p:cNvSpPr txBox="1"/>
          <p:nvPr/>
        </p:nvSpPr>
        <p:spPr>
          <a:xfrm>
            <a:off x="804672" y="2069889"/>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1</a:t>
            </a:r>
            <a:endParaRPr lang="en-GB" sz="1400" noProof="0" dirty="0"/>
          </a:p>
        </p:txBody>
      </p:sp>
      <p:sp>
        <p:nvSpPr>
          <p:cNvPr id="10" name="Text 8"/>
          <p:cNvSpPr txBox="1"/>
          <p:nvPr/>
        </p:nvSpPr>
        <p:spPr>
          <a:xfrm>
            <a:off x="1463040" y="2029968"/>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Outline the diagnostic pathway from clinical assessment to a confirmed, staged diagnosis.</a:t>
            </a:r>
            <a:endParaRPr lang="en-GB" sz="1800" noProof="0" dirty="0"/>
          </a:p>
        </p:txBody>
      </p:sp>
      <p:sp>
        <p:nvSpPr>
          <p:cNvPr id="11" name="Shape 9"/>
          <p:cNvSpPr/>
          <p:nvPr/>
        </p:nvSpPr>
        <p:spPr>
          <a:xfrm>
            <a:off x="566928" y="2686998"/>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12" name="Shape 10"/>
          <p:cNvSpPr/>
          <p:nvPr/>
        </p:nvSpPr>
        <p:spPr>
          <a:xfrm>
            <a:off x="804672" y="2781783"/>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13" name="Text 11"/>
          <p:cNvSpPr txBox="1"/>
          <p:nvPr/>
        </p:nvSpPr>
        <p:spPr>
          <a:xfrm>
            <a:off x="804672" y="2781783"/>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2</a:t>
            </a:r>
            <a:endParaRPr lang="en-GB" sz="1400" noProof="0" dirty="0"/>
          </a:p>
        </p:txBody>
      </p:sp>
      <p:sp>
        <p:nvSpPr>
          <p:cNvPr id="14" name="Text 12"/>
          <p:cNvSpPr txBox="1"/>
          <p:nvPr/>
        </p:nvSpPr>
        <p:spPr>
          <a:xfrm>
            <a:off x="1463040" y="2741862"/>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Explain the role and the limits of history, examination and imaging.</a:t>
            </a:r>
            <a:endParaRPr lang="en-GB" sz="1800" noProof="0" dirty="0"/>
          </a:p>
        </p:txBody>
      </p:sp>
      <p:sp>
        <p:nvSpPr>
          <p:cNvPr id="15" name="Shape 13"/>
          <p:cNvSpPr/>
          <p:nvPr/>
        </p:nvSpPr>
        <p:spPr>
          <a:xfrm>
            <a:off x="566928" y="3398892"/>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16" name="Shape 14"/>
          <p:cNvSpPr/>
          <p:nvPr/>
        </p:nvSpPr>
        <p:spPr>
          <a:xfrm>
            <a:off x="804672" y="3493677"/>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17" name="Text 15"/>
          <p:cNvSpPr txBox="1"/>
          <p:nvPr/>
        </p:nvSpPr>
        <p:spPr>
          <a:xfrm>
            <a:off x="804672" y="3493677"/>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3</a:t>
            </a:r>
            <a:endParaRPr lang="en-GB" sz="1400" noProof="0" dirty="0"/>
          </a:p>
        </p:txBody>
      </p:sp>
      <p:sp>
        <p:nvSpPr>
          <p:cNvPr id="18" name="Text 16"/>
          <p:cNvSpPr txBox="1"/>
          <p:nvPr/>
        </p:nvSpPr>
        <p:spPr>
          <a:xfrm>
            <a:off x="1463040" y="3453756"/>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Describe colposcopy, biopsy and histopathology well enough to prepare a woman for them.</a:t>
            </a:r>
            <a:endParaRPr lang="en-GB" sz="1800" noProof="0" dirty="0"/>
          </a:p>
        </p:txBody>
      </p:sp>
      <p:sp>
        <p:nvSpPr>
          <p:cNvPr id="19" name="Shape 17"/>
          <p:cNvSpPr/>
          <p:nvPr/>
        </p:nvSpPr>
        <p:spPr>
          <a:xfrm>
            <a:off x="566928" y="4110786"/>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20" name="Shape 18"/>
          <p:cNvSpPr/>
          <p:nvPr/>
        </p:nvSpPr>
        <p:spPr>
          <a:xfrm>
            <a:off x="804672" y="4205571"/>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21" name="Text 19"/>
          <p:cNvSpPr txBox="1"/>
          <p:nvPr/>
        </p:nvSpPr>
        <p:spPr>
          <a:xfrm>
            <a:off x="804672" y="4205571"/>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4</a:t>
            </a:r>
            <a:endParaRPr lang="en-GB" sz="1400" noProof="0" dirty="0"/>
          </a:p>
        </p:txBody>
      </p:sp>
      <p:sp>
        <p:nvSpPr>
          <p:cNvPr id="22" name="Text 20"/>
          <p:cNvSpPr txBox="1"/>
          <p:nvPr/>
        </p:nvSpPr>
        <p:spPr>
          <a:xfrm>
            <a:off x="1463040" y="4165650"/>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Summarise what each treatment does and whether it acts locally or throughout the body.</a:t>
            </a:r>
            <a:endParaRPr lang="en-GB" sz="1800" noProof="0" dirty="0"/>
          </a:p>
        </p:txBody>
      </p:sp>
      <p:sp>
        <p:nvSpPr>
          <p:cNvPr id="23" name="Shape 21"/>
          <p:cNvSpPr/>
          <p:nvPr/>
        </p:nvSpPr>
        <p:spPr>
          <a:xfrm>
            <a:off x="566928" y="4822679"/>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24" name="Shape 22"/>
          <p:cNvSpPr/>
          <p:nvPr/>
        </p:nvSpPr>
        <p:spPr>
          <a:xfrm>
            <a:off x="804672" y="4917465"/>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25" name="Text 23"/>
          <p:cNvSpPr txBox="1"/>
          <p:nvPr/>
        </p:nvSpPr>
        <p:spPr>
          <a:xfrm>
            <a:off x="804672" y="4917465"/>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5</a:t>
            </a:r>
            <a:endParaRPr lang="en-GB" sz="1400" noProof="0" dirty="0"/>
          </a:p>
        </p:txBody>
      </p:sp>
      <p:sp>
        <p:nvSpPr>
          <p:cNvPr id="26" name="Text 24"/>
          <p:cNvSpPr txBox="1"/>
          <p:nvPr/>
        </p:nvSpPr>
        <p:spPr>
          <a:xfrm>
            <a:off x="1463040" y="4877543"/>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Explain why brachytherapy is an important part of curative treatment.</a:t>
            </a:r>
            <a:endParaRPr lang="en-GB" sz="1800" noProof="0" dirty="0"/>
          </a:p>
        </p:txBody>
      </p:sp>
      <p:sp>
        <p:nvSpPr>
          <p:cNvPr id="27" name="Shape 25"/>
          <p:cNvSpPr/>
          <p:nvPr/>
        </p:nvSpPr>
        <p:spPr>
          <a:xfrm>
            <a:off x="566928" y="5534573"/>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28" name="Shape 26"/>
          <p:cNvSpPr/>
          <p:nvPr/>
        </p:nvSpPr>
        <p:spPr>
          <a:xfrm>
            <a:off x="804672" y="5629359"/>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29" name="Text 27"/>
          <p:cNvSpPr txBox="1"/>
          <p:nvPr/>
        </p:nvSpPr>
        <p:spPr>
          <a:xfrm>
            <a:off x="804672" y="5629359"/>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6</a:t>
            </a:r>
            <a:endParaRPr lang="en-GB" sz="1400" noProof="0" dirty="0"/>
          </a:p>
        </p:txBody>
      </p:sp>
      <p:sp>
        <p:nvSpPr>
          <p:cNvPr id="30" name="Text 28"/>
          <p:cNvSpPr txBox="1"/>
          <p:nvPr/>
        </p:nvSpPr>
        <p:spPr>
          <a:xfrm>
            <a:off x="1463040" y="5589437"/>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Correct the misconceptions that most often delay care.</a:t>
            </a:r>
            <a:endParaRPr lang="en-GB" sz="1800" noProof="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140</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4 · DIAGNOSIS</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The diagnostic pathway</a:t>
            </a:r>
            <a:endParaRPr lang="en-GB" sz="3200" noProof="0" dirty="0"/>
          </a:p>
        </p:txBody>
      </p:sp>
      <p:sp>
        <p:nvSpPr>
          <p:cNvPr id="6" name="Shape 4"/>
          <p:cNvSpPr/>
          <p:nvPr/>
        </p:nvSpPr>
        <p:spPr>
          <a:xfrm>
            <a:off x="566928" y="1504581"/>
            <a:ext cx="2035454" cy="3264800"/>
          </a:xfrm>
          <a:prstGeom prst="roundRect">
            <a:avLst>
              <a:gd name="adj" fmla="val 3594"/>
            </a:avLst>
          </a:prstGeom>
          <a:solidFill>
            <a:srgbClr val="F3F6FB"/>
          </a:solidFill>
          <a:ln w="12700">
            <a:solidFill>
              <a:srgbClr val="E0E3EA"/>
            </a:solidFill>
            <a:prstDash val="solid"/>
          </a:ln>
        </p:spPr>
        <p:txBody>
          <a:bodyPr/>
          <a:lstStyle/>
          <a:p>
            <a:endParaRPr lang="en-GB" noProof="0" dirty="0"/>
          </a:p>
        </p:txBody>
      </p:sp>
      <p:sp>
        <p:nvSpPr>
          <p:cNvPr id="7" name="Shape 5"/>
          <p:cNvSpPr/>
          <p:nvPr/>
        </p:nvSpPr>
        <p:spPr>
          <a:xfrm>
            <a:off x="1356055" y="1705749"/>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8" name="Text 6"/>
          <p:cNvSpPr txBox="1"/>
          <p:nvPr/>
        </p:nvSpPr>
        <p:spPr>
          <a:xfrm>
            <a:off x="1356055" y="1705749"/>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libri" pitchFamily="34" charset="0"/>
                <a:ea typeface="Calibri" pitchFamily="34" charset="-122"/>
                <a:cs typeface="Calibri" pitchFamily="34" charset="-120"/>
              </a:rPr>
              <a:t>1</a:t>
            </a:r>
            <a:endParaRPr lang="en-GB" sz="1500" noProof="0" dirty="0"/>
          </a:p>
        </p:txBody>
      </p:sp>
      <p:sp>
        <p:nvSpPr>
          <p:cNvPr id="9" name="Text 7"/>
          <p:cNvSpPr txBox="1"/>
          <p:nvPr/>
        </p:nvSpPr>
        <p:spPr>
          <a:xfrm>
            <a:off x="749808" y="2290965"/>
            <a:ext cx="1669694" cy="1682496"/>
          </a:xfrm>
          <a:prstGeom prst="rect">
            <a:avLst/>
          </a:prstGeom>
          <a:noFill/>
          <a:ln/>
        </p:spPr>
        <p:txBody>
          <a:bodyPr wrap="square" lIns="0" tIns="0" rIns="0" bIns="0" rtlCol="0" anchor="t"/>
          <a:lstStyle/>
          <a:p>
            <a:pPr marL="0" indent="0" algn="ctr">
              <a:lnSpc>
                <a:spcPct val="106000"/>
              </a:lnSpc>
              <a:buNone/>
            </a:pPr>
            <a:r>
              <a:rPr lang="en-GB" sz="1800" noProof="0" dirty="0">
                <a:solidFill>
                  <a:srgbClr val="23303F"/>
                </a:solidFill>
                <a:latin typeface="Calibri" pitchFamily="34" charset="0"/>
                <a:ea typeface="Calibri" pitchFamily="34" charset="-122"/>
                <a:cs typeface="Calibri" pitchFamily="34" charset="-120"/>
              </a:rPr>
              <a:t>Clinical assessment</a:t>
            </a:r>
            <a:endParaRPr lang="en-GB" sz="1800" noProof="0" dirty="0"/>
          </a:p>
        </p:txBody>
      </p:sp>
      <p:sp>
        <p:nvSpPr>
          <p:cNvPr id="10" name="Text 8"/>
          <p:cNvSpPr txBox="1"/>
          <p:nvPr/>
        </p:nvSpPr>
        <p:spPr>
          <a:xfrm>
            <a:off x="2602382" y="1504581"/>
            <a:ext cx="219456" cy="2651760"/>
          </a:xfrm>
          <a:prstGeom prst="rect">
            <a:avLst/>
          </a:prstGeom>
          <a:noFill/>
          <a:ln/>
        </p:spPr>
        <p:txBody>
          <a:bodyPr wrap="square" lIns="0" tIns="0" rIns="0" bIns="0" rtlCol="0" anchor="ctr"/>
          <a:lstStyle/>
          <a:p>
            <a:pPr marL="0" indent="0" algn="ctr">
              <a:buNone/>
            </a:pPr>
            <a:r>
              <a:rPr lang="en-GB" sz="1300" noProof="0" dirty="0">
                <a:solidFill>
                  <a:srgbClr val="000000"/>
                </a:solidFill>
                <a:latin typeface="Calibri" pitchFamily="34" charset="0"/>
                <a:ea typeface="Calibri" pitchFamily="34" charset="-122"/>
                <a:cs typeface="Calibri" pitchFamily="34" charset="-120"/>
              </a:rPr>
              <a:t>➡️</a:t>
            </a:r>
            <a:endParaRPr lang="en-GB" sz="1300" noProof="0" dirty="0"/>
          </a:p>
        </p:txBody>
      </p:sp>
      <p:sp>
        <p:nvSpPr>
          <p:cNvPr id="11" name="Shape 9"/>
          <p:cNvSpPr/>
          <p:nvPr/>
        </p:nvSpPr>
        <p:spPr>
          <a:xfrm>
            <a:off x="2821838" y="1504581"/>
            <a:ext cx="2035454" cy="3264800"/>
          </a:xfrm>
          <a:prstGeom prst="roundRect">
            <a:avLst>
              <a:gd name="adj" fmla="val 3594"/>
            </a:avLst>
          </a:prstGeom>
          <a:solidFill>
            <a:srgbClr val="F3F6FB"/>
          </a:solidFill>
          <a:ln w="12700">
            <a:solidFill>
              <a:srgbClr val="E0E3EA"/>
            </a:solidFill>
            <a:prstDash val="solid"/>
          </a:ln>
        </p:spPr>
        <p:txBody>
          <a:bodyPr/>
          <a:lstStyle/>
          <a:p>
            <a:endParaRPr lang="en-GB" noProof="0" dirty="0"/>
          </a:p>
        </p:txBody>
      </p:sp>
      <p:sp>
        <p:nvSpPr>
          <p:cNvPr id="12" name="Shape 10"/>
          <p:cNvSpPr/>
          <p:nvPr/>
        </p:nvSpPr>
        <p:spPr>
          <a:xfrm>
            <a:off x="3610966" y="1705749"/>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13" name="Text 11"/>
          <p:cNvSpPr txBox="1"/>
          <p:nvPr/>
        </p:nvSpPr>
        <p:spPr>
          <a:xfrm>
            <a:off x="3610966" y="1705749"/>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libri" pitchFamily="34" charset="0"/>
                <a:ea typeface="Calibri" pitchFamily="34" charset="-122"/>
                <a:cs typeface="Calibri" pitchFamily="34" charset="-120"/>
              </a:rPr>
              <a:t>2</a:t>
            </a:r>
            <a:endParaRPr lang="en-GB" sz="1500" noProof="0" dirty="0"/>
          </a:p>
        </p:txBody>
      </p:sp>
      <p:sp>
        <p:nvSpPr>
          <p:cNvPr id="14" name="Text 12"/>
          <p:cNvSpPr txBox="1"/>
          <p:nvPr/>
        </p:nvSpPr>
        <p:spPr>
          <a:xfrm>
            <a:off x="3004718" y="2290965"/>
            <a:ext cx="1669694" cy="1682496"/>
          </a:xfrm>
          <a:prstGeom prst="rect">
            <a:avLst/>
          </a:prstGeom>
          <a:noFill/>
          <a:ln/>
        </p:spPr>
        <p:txBody>
          <a:bodyPr wrap="square" lIns="0" tIns="0" rIns="0" bIns="0" rtlCol="0" anchor="t"/>
          <a:lstStyle/>
          <a:p>
            <a:pPr marL="0" indent="0" algn="ctr">
              <a:lnSpc>
                <a:spcPct val="106000"/>
              </a:lnSpc>
              <a:buNone/>
            </a:pPr>
            <a:r>
              <a:rPr lang="en-GB" sz="1800" noProof="0" dirty="0">
                <a:solidFill>
                  <a:srgbClr val="23303F"/>
                </a:solidFill>
                <a:latin typeface="Calibri" pitchFamily="34" charset="0"/>
                <a:ea typeface="Calibri" pitchFamily="34" charset="-122"/>
                <a:cs typeface="Calibri" pitchFamily="34" charset="-120"/>
              </a:rPr>
              <a:t>Speculum and pelvic examination</a:t>
            </a:r>
            <a:endParaRPr lang="en-GB" sz="1800" noProof="0" dirty="0"/>
          </a:p>
        </p:txBody>
      </p:sp>
      <p:sp>
        <p:nvSpPr>
          <p:cNvPr id="15" name="Text 13"/>
          <p:cNvSpPr txBox="1"/>
          <p:nvPr/>
        </p:nvSpPr>
        <p:spPr>
          <a:xfrm>
            <a:off x="4857293" y="1504581"/>
            <a:ext cx="219456" cy="2651760"/>
          </a:xfrm>
          <a:prstGeom prst="rect">
            <a:avLst/>
          </a:prstGeom>
          <a:noFill/>
          <a:ln/>
        </p:spPr>
        <p:txBody>
          <a:bodyPr wrap="square" lIns="0" tIns="0" rIns="0" bIns="0" rtlCol="0" anchor="ctr"/>
          <a:lstStyle/>
          <a:p>
            <a:pPr marL="0" indent="0" algn="ctr">
              <a:buNone/>
            </a:pPr>
            <a:r>
              <a:rPr lang="en-GB" sz="1300" noProof="0" dirty="0">
                <a:solidFill>
                  <a:srgbClr val="000000"/>
                </a:solidFill>
                <a:latin typeface="Calibri" pitchFamily="34" charset="0"/>
                <a:ea typeface="Calibri" pitchFamily="34" charset="-122"/>
                <a:cs typeface="Calibri" pitchFamily="34" charset="-120"/>
              </a:rPr>
              <a:t>➡️</a:t>
            </a:r>
            <a:endParaRPr lang="en-GB" sz="1300" noProof="0" dirty="0"/>
          </a:p>
        </p:txBody>
      </p:sp>
      <p:sp>
        <p:nvSpPr>
          <p:cNvPr id="16" name="Shape 14"/>
          <p:cNvSpPr/>
          <p:nvPr/>
        </p:nvSpPr>
        <p:spPr>
          <a:xfrm>
            <a:off x="5076749" y="1504581"/>
            <a:ext cx="2035454" cy="3264800"/>
          </a:xfrm>
          <a:prstGeom prst="roundRect">
            <a:avLst>
              <a:gd name="adj" fmla="val 3594"/>
            </a:avLst>
          </a:prstGeom>
          <a:solidFill>
            <a:srgbClr val="F3F6FB"/>
          </a:solidFill>
          <a:ln w="12700">
            <a:solidFill>
              <a:srgbClr val="E0E3EA"/>
            </a:solidFill>
            <a:prstDash val="solid"/>
          </a:ln>
        </p:spPr>
        <p:txBody>
          <a:bodyPr/>
          <a:lstStyle/>
          <a:p>
            <a:endParaRPr lang="en-GB" noProof="0" dirty="0"/>
          </a:p>
        </p:txBody>
      </p:sp>
      <p:sp>
        <p:nvSpPr>
          <p:cNvPr id="17" name="Shape 15"/>
          <p:cNvSpPr/>
          <p:nvPr/>
        </p:nvSpPr>
        <p:spPr>
          <a:xfrm>
            <a:off x="5865876" y="1705749"/>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18" name="Text 16"/>
          <p:cNvSpPr txBox="1"/>
          <p:nvPr/>
        </p:nvSpPr>
        <p:spPr>
          <a:xfrm>
            <a:off x="5865876" y="1705749"/>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libri" pitchFamily="34" charset="0"/>
                <a:ea typeface="Calibri" pitchFamily="34" charset="-122"/>
                <a:cs typeface="Calibri" pitchFamily="34" charset="-120"/>
              </a:rPr>
              <a:t>3</a:t>
            </a:r>
            <a:endParaRPr lang="en-GB" sz="1500" noProof="0" dirty="0"/>
          </a:p>
        </p:txBody>
      </p:sp>
      <p:sp>
        <p:nvSpPr>
          <p:cNvPr id="19" name="Text 17"/>
          <p:cNvSpPr txBox="1"/>
          <p:nvPr/>
        </p:nvSpPr>
        <p:spPr>
          <a:xfrm>
            <a:off x="5259629" y="2290965"/>
            <a:ext cx="1669694" cy="1682496"/>
          </a:xfrm>
          <a:prstGeom prst="rect">
            <a:avLst/>
          </a:prstGeom>
          <a:noFill/>
          <a:ln/>
        </p:spPr>
        <p:txBody>
          <a:bodyPr wrap="square" lIns="0" tIns="0" rIns="0" bIns="0" rtlCol="0" anchor="t"/>
          <a:lstStyle/>
          <a:p>
            <a:pPr marL="0" indent="0" algn="ctr">
              <a:lnSpc>
                <a:spcPct val="106000"/>
              </a:lnSpc>
              <a:buNone/>
            </a:pPr>
            <a:r>
              <a:rPr lang="en-GB" sz="1800" noProof="0" dirty="0">
                <a:solidFill>
                  <a:srgbClr val="23303F"/>
                </a:solidFill>
                <a:latin typeface="Calibri" pitchFamily="34" charset="0"/>
                <a:ea typeface="Calibri" pitchFamily="34" charset="-122"/>
                <a:cs typeface="Calibri" pitchFamily="34" charset="-120"/>
              </a:rPr>
              <a:t>Colposcopy</a:t>
            </a:r>
            <a:endParaRPr lang="en-GB" sz="1800" noProof="0" dirty="0"/>
          </a:p>
        </p:txBody>
      </p:sp>
      <p:sp>
        <p:nvSpPr>
          <p:cNvPr id="20" name="Text 18"/>
          <p:cNvSpPr txBox="1"/>
          <p:nvPr/>
        </p:nvSpPr>
        <p:spPr>
          <a:xfrm>
            <a:off x="7112203" y="1504581"/>
            <a:ext cx="219456" cy="2651760"/>
          </a:xfrm>
          <a:prstGeom prst="rect">
            <a:avLst/>
          </a:prstGeom>
          <a:noFill/>
          <a:ln/>
        </p:spPr>
        <p:txBody>
          <a:bodyPr wrap="square" lIns="0" tIns="0" rIns="0" bIns="0" rtlCol="0" anchor="ctr"/>
          <a:lstStyle/>
          <a:p>
            <a:pPr marL="0" indent="0" algn="ctr">
              <a:buNone/>
            </a:pPr>
            <a:r>
              <a:rPr lang="en-GB" sz="1300" noProof="0" dirty="0">
                <a:solidFill>
                  <a:srgbClr val="000000"/>
                </a:solidFill>
                <a:latin typeface="Calibri" pitchFamily="34" charset="0"/>
                <a:ea typeface="Calibri" pitchFamily="34" charset="-122"/>
                <a:cs typeface="Calibri" pitchFamily="34" charset="-120"/>
              </a:rPr>
              <a:t>➡️</a:t>
            </a:r>
            <a:endParaRPr lang="en-GB" sz="1300" noProof="0" dirty="0"/>
          </a:p>
        </p:txBody>
      </p:sp>
      <p:sp>
        <p:nvSpPr>
          <p:cNvPr id="21" name="Shape 19"/>
          <p:cNvSpPr/>
          <p:nvPr/>
        </p:nvSpPr>
        <p:spPr>
          <a:xfrm>
            <a:off x="7331659" y="1504581"/>
            <a:ext cx="2035454" cy="3264800"/>
          </a:xfrm>
          <a:prstGeom prst="roundRect">
            <a:avLst>
              <a:gd name="adj" fmla="val 3594"/>
            </a:avLst>
          </a:prstGeom>
          <a:solidFill>
            <a:srgbClr val="F3F6FB"/>
          </a:solidFill>
          <a:ln w="12700">
            <a:solidFill>
              <a:srgbClr val="E0E3EA"/>
            </a:solidFill>
            <a:prstDash val="solid"/>
          </a:ln>
        </p:spPr>
        <p:txBody>
          <a:bodyPr/>
          <a:lstStyle/>
          <a:p>
            <a:endParaRPr lang="en-GB" noProof="0" dirty="0"/>
          </a:p>
        </p:txBody>
      </p:sp>
      <p:sp>
        <p:nvSpPr>
          <p:cNvPr id="22" name="Shape 20"/>
          <p:cNvSpPr/>
          <p:nvPr/>
        </p:nvSpPr>
        <p:spPr>
          <a:xfrm>
            <a:off x="8120786" y="1705749"/>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23" name="Text 21"/>
          <p:cNvSpPr txBox="1"/>
          <p:nvPr/>
        </p:nvSpPr>
        <p:spPr>
          <a:xfrm>
            <a:off x="8120786" y="1705749"/>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libri" pitchFamily="34" charset="0"/>
                <a:ea typeface="Calibri" pitchFamily="34" charset="-122"/>
                <a:cs typeface="Calibri" pitchFamily="34" charset="-120"/>
              </a:rPr>
              <a:t>4</a:t>
            </a:r>
            <a:endParaRPr lang="en-GB" sz="1500" noProof="0" dirty="0"/>
          </a:p>
        </p:txBody>
      </p:sp>
      <p:sp>
        <p:nvSpPr>
          <p:cNvPr id="24" name="Text 22"/>
          <p:cNvSpPr txBox="1"/>
          <p:nvPr/>
        </p:nvSpPr>
        <p:spPr>
          <a:xfrm>
            <a:off x="7514539" y="2290965"/>
            <a:ext cx="1669694" cy="1682496"/>
          </a:xfrm>
          <a:prstGeom prst="rect">
            <a:avLst/>
          </a:prstGeom>
          <a:noFill/>
          <a:ln/>
        </p:spPr>
        <p:txBody>
          <a:bodyPr wrap="square" lIns="0" tIns="0" rIns="0" bIns="0" rtlCol="0" anchor="t"/>
          <a:lstStyle/>
          <a:p>
            <a:pPr marL="0" indent="0" algn="ctr">
              <a:lnSpc>
                <a:spcPct val="106000"/>
              </a:lnSpc>
              <a:buNone/>
            </a:pPr>
            <a:r>
              <a:rPr lang="en-GB" sz="1800" noProof="0" dirty="0">
                <a:solidFill>
                  <a:srgbClr val="23303F"/>
                </a:solidFill>
                <a:latin typeface="Calibri" pitchFamily="34" charset="0"/>
                <a:ea typeface="Calibri" pitchFamily="34" charset="-122"/>
                <a:cs typeface="Calibri" pitchFamily="34" charset="-120"/>
              </a:rPr>
              <a:t>Biopsy and histopathology</a:t>
            </a:r>
            <a:endParaRPr lang="en-GB" sz="1800" noProof="0" dirty="0"/>
          </a:p>
        </p:txBody>
      </p:sp>
      <p:sp>
        <p:nvSpPr>
          <p:cNvPr id="25" name="Text 23"/>
          <p:cNvSpPr txBox="1"/>
          <p:nvPr/>
        </p:nvSpPr>
        <p:spPr>
          <a:xfrm>
            <a:off x="9367114" y="1504581"/>
            <a:ext cx="219456" cy="2651760"/>
          </a:xfrm>
          <a:prstGeom prst="rect">
            <a:avLst/>
          </a:prstGeom>
          <a:noFill/>
          <a:ln/>
        </p:spPr>
        <p:txBody>
          <a:bodyPr wrap="square" lIns="0" tIns="0" rIns="0" bIns="0" rtlCol="0" anchor="ctr"/>
          <a:lstStyle/>
          <a:p>
            <a:pPr marL="0" indent="0" algn="ctr">
              <a:buNone/>
            </a:pPr>
            <a:r>
              <a:rPr lang="en-GB" sz="1300" noProof="0" dirty="0">
                <a:solidFill>
                  <a:srgbClr val="000000"/>
                </a:solidFill>
                <a:latin typeface="Calibri" pitchFamily="34" charset="0"/>
                <a:ea typeface="Calibri" pitchFamily="34" charset="-122"/>
                <a:cs typeface="Calibri" pitchFamily="34" charset="-120"/>
              </a:rPr>
              <a:t>➡️</a:t>
            </a:r>
            <a:endParaRPr lang="en-GB" sz="1300" noProof="0" dirty="0"/>
          </a:p>
        </p:txBody>
      </p:sp>
      <p:sp>
        <p:nvSpPr>
          <p:cNvPr id="26" name="Shape 24"/>
          <p:cNvSpPr/>
          <p:nvPr/>
        </p:nvSpPr>
        <p:spPr>
          <a:xfrm>
            <a:off x="9586570" y="1504581"/>
            <a:ext cx="2035454" cy="3264800"/>
          </a:xfrm>
          <a:prstGeom prst="roundRect">
            <a:avLst>
              <a:gd name="adj" fmla="val 3594"/>
            </a:avLst>
          </a:prstGeom>
          <a:solidFill>
            <a:srgbClr val="F3F6FB"/>
          </a:solidFill>
          <a:ln w="12700">
            <a:solidFill>
              <a:srgbClr val="E0E3EA"/>
            </a:solidFill>
            <a:prstDash val="solid"/>
          </a:ln>
        </p:spPr>
        <p:txBody>
          <a:bodyPr/>
          <a:lstStyle/>
          <a:p>
            <a:endParaRPr lang="en-GB" noProof="0" dirty="0"/>
          </a:p>
        </p:txBody>
      </p:sp>
      <p:sp>
        <p:nvSpPr>
          <p:cNvPr id="27" name="Shape 25"/>
          <p:cNvSpPr/>
          <p:nvPr/>
        </p:nvSpPr>
        <p:spPr>
          <a:xfrm>
            <a:off x="10375697" y="1705749"/>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28" name="Text 26"/>
          <p:cNvSpPr txBox="1"/>
          <p:nvPr/>
        </p:nvSpPr>
        <p:spPr>
          <a:xfrm>
            <a:off x="10375697" y="1705749"/>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libri" pitchFamily="34" charset="0"/>
                <a:ea typeface="Calibri" pitchFamily="34" charset="-122"/>
                <a:cs typeface="Calibri" pitchFamily="34" charset="-120"/>
              </a:rPr>
              <a:t>5</a:t>
            </a:r>
            <a:endParaRPr lang="en-GB" sz="1500" noProof="0" dirty="0"/>
          </a:p>
        </p:txBody>
      </p:sp>
      <p:sp>
        <p:nvSpPr>
          <p:cNvPr id="29" name="Text 27"/>
          <p:cNvSpPr txBox="1"/>
          <p:nvPr/>
        </p:nvSpPr>
        <p:spPr>
          <a:xfrm>
            <a:off x="9769450" y="2290965"/>
            <a:ext cx="1669694" cy="1682496"/>
          </a:xfrm>
          <a:prstGeom prst="rect">
            <a:avLst/>
          </a:prstGeom>
          <a:noFill/>
          <a:ln/>
        </p:spPr>
        <p:txBody>
          <a:bodyPr wrap="square" lIns="0" tIns="0" rIns="0" bIns="0" rtlCol="0" anchor="t"/>
          <a:lstStyle/>
          <a:p>
            <a:pPr marL="0" indent="0" algn="ctr">
              <a:lnSpc>
                <a:spcPct val="106000"/>
              </a:lnSpc>
              <a:buNone/>
            </a:pPr>
            <a:r>
              <a:rPr lang="en-GB" sz="1800" noProof="0" dirty="0">
                <a:solidFill>
                  <a:srgbClr val="23303F"/>
                </a:solidFill>
                <a:latin typeface="Calibri" pitchFamily="34" charset="0"/>
                <a:ea typeface="Calibri" pitchFamily="34" charset="-122"/>
                <a:cs typeface="Calibri" pitchFamily="34" charset="-120"/>
              </a:rPr>
              <a:t>Imaging and staging</a:t>
            </a:r>
            <a:endParaRPr lang="en-GB" sz="1800" noProof="0" dirty="0"/>
          </a:p>
        </p:txBody>
      </p:sp>
      <p:sp>
        <p:nvSpPr>
          <p:cNvPr id="30" name="Shape 28"/>
          <p:cNvSpPr/>
          <p:nvPr/>
        </p:nvSpPr>
        <p:spPr>
          <a:xfrm>
            <a:off x="566928" y="4996743"/>
            <a:ext cx="11055096" cy="644429"/>
          </a:xfrm>
          <a:prstGeom prst="roundRect">
            <a:avLst>
              <a:gd name="adj" fmla="val 8140"/>
            </a:avLst>
          </a:prstGeom>
          <a:solidFill>
            <a:srgbClr val="ECF3FD"/>
          </a:solidFill>
          <a:ln w="12700">
            <a:solidFill>
              <a:srgbClr val="E0E3EA"/>
            </a:solidFill>
            <a:prstDash val="solid"/>
          </a:ln>
        </p:spPr>
        <p:txBody>
          <a:bodyPr/>
          <a:lstStyle/>
          <a:p>
            <a:endParaRPr lang="en-GB" sz="1600" noProof="0" dirty="0"/>
          </a:p>
        </p:txBody>
      </p:sp>
      <p:sp>
        <p:nvSpPr>
          <p:cNvPr id="31" name="Text 29"/>
          <p:cNvSpPr txBox="1"/>
          <p:nvPr/>
        </p:nvSpPr>
        <p:spPr>
          <a:xfrm>
            <a:off x="841248" y="4996744"/>
            <a:ext cx="10506456" cy="676656"/>
          </a:xfrm>
          <a:prstGeom prst="rect">
            <a:avLst/>
          </a:prstGeom>
          <a:noFill/>
          <a:ln/>
        </p:spPr>
        <p:txBody>
          <a:bodyPr wrap="square" lIns="0" tIns="0" rIns="0" bIns="0" rtlCol="0" anchor="ctr"/>
          <a:lstStyle/>
          <a:p>
            <a:pPr marL="0" indent="0">
              <a:lnSpc>
                <a:spcPct val="104000"/>
              </a:lnSpc>
              <a:buNone/>
            </a:pPr>
            <a:r>
              <a:rPr lang="en-GB" sz="1600" b="1" noProof="0" dirty="0">
                <a:solidFill>
                  <a:srgbClr val="10305A"/>
                </a:solidFill>
                <a:latin typeface="Calibri" pitchFamily="34" charset="0"/>
                <a:ea typeface="Calibri" pitchFamily="34" charset="-122"/>
                <a:cs typeface="Calibri" pitchFamily="34" charset="-120"/>
              </a:rPr>
              <a:t>📌 The sequence varies:  </a:t>
            </a:r>
            <a:r>
              <a:rPr lang="en-GB" sz="1600" noProof="0" dirty="0">
                <a:solidFill>
                  <a:srgbClr val="23303F"/>
                </a:solidFill>
                <a:latin typeface="Calibri" pitchFamily="34" charset="0"/>
                <a:ea typeface="Calibri" pitchFamily="34" charset="-122"/>
                <a:cs typeface="Calibri" pitchFamily="34" charset="-120"/>
              </a:rPr>
              <a:t>A woman who presents with heavy bleeding may be resuscitated and biopsied the same day. What does not change is that tissue confirms the diagnosis.</a:t>
            </a:r>
            <a:endParaRPr lang="en-GB" sz="1600" noProof="0" dirty="0"/>
          </a:p>
        </p:txBody>
      </p:sp>
      <p:sp>
        <p:nvSpPr>
          <p:cNvPr id="32" name="Shape 30"/>
          <p:cNvSpPr/>
          <p:nvPr/>
        </p:nvSpPr>
        <p:spPr>
          <a:xfrm>
            <a:off x="566928" y="5825066"/>
            <a:ext cx="11055096" cy="447717"/>
          </a:xfrm>
          <a:prstGeom prst="roundRect">
            <a:avLst>
              <a:gd name="adj" fmla="val 8140"/>
            </a:avLst>
          </a:prstGeom>
          <a:solidFill>
            <a:srgbClr val="FFF2DF"/>
          </a:solidFill>
          <a:ln w="12700">
            <a:solidFill>
              <a:srgbClr val="E8DDC7"/>
            </a:solidFill>
            <a:prstDash val="solid"/>
          </a:ln>
        </p:spPr>
        <p:txBody>
          <a:bodyPr/>
          <a:lstStyle/>
          <a:p>
            <a:endParaRPr lang="en-GB" sz="1600" noProof="0" dirty="0"/>
          </a:p>
        </p:txBody>
      </p:sp>
      <p:sp>
        <p:nvSpPr>
          <p:cNvPr id="33" name="Text 31"/>
          <p:cNvSpPr txBox="1"/>
          <p:nvPr/>
        </p:nvSpPr>
        <p:spPr>
          <a:xfrm>
            <a:off x="841248" y="5721888"/>
            <a:ext cx="10506456" cy="676656"/>
          </a:xfrm>
          <a:prstGeom prst="rect">
            <a:avLst/>
          </a:prstGeom>
          <a:noFill/>
          <a:ln/>
        </p:spPr>
        <p:txBody>
          <a:bodyPr wrap="square" lIns="0" tIns="0" rIns="0" bIns="0" rtlCol="0" anchor="ctr"/>
          <a:lstStyle/>
          <a:p>
            <a:pPr marL="0" indent="0">
              <a:lnSpc>
                <a:spcPct val="104000"/>
              </a:lnSpc>
              <a:buNone/>
            </a:pPr>
            <a:r>
              <a:rPr lang="en-GB" sz="1600" b="1" noProof="0" dirty="0">
                <a:solidFill>
                  <a:srgbClr val="7B5727"/>
                </a:solidFill>
                <a:latin typeface="Calibri" pitchFamily="34" charset="0"/>
                <a:ea typeface="Calibri" pitchFamily="34" charset="-122"/>
                <a:cs typeface="Calibri" pitchFamily="34" charset="-120"/>
              </a:rPr>
              <a:t>⚠️ Remember:  </a:t>
            </a:r>
            <a:r>
              <a:rPr lang="en-GB" sz="1600" noProof="0" dirty="0">
                <a:solidFill>
                  <a:srgbClr val="23303F"/>
                </a:solidFill>
                <a:latin typeface="Calibri" pitchFamily="34" charset="0"/>
                <a:ea typeface="Calibri" pitchFamily="34" charset="-122"/>
                <a:cs typeface="Calibri" pitchFamily="34" charset="-120"/>
              </a:rPr>
              <a:t>Screening tests and imaging raise or lower suspicion. Only histopathology confirms invasive cervical cancer.</a:t>
            </a:r>
            <a:endParaRPr lang="en-GB" sz="1600" noProof="0" dirty="0"/>
          </a:p>
        </p:txBody>
      </p:sp>
      <p:pic>
        <p:nvPicPr>
          <p:cNvPr id="35" name="Imagen 34">
            <a:extLst>
              <a:ext uri="{FF2B5EF4-FFF2-40B4-BE49-F238E27FC236}">
                <a16:creationId xmlns:a16="http://schemas.microsoft.com/office/drawing/2014/main" id="{78F0AC5B-3D4D-D181-02BC-41CE5FE7DD96}"/>
              </a:ext>
            </a:extLst>
          </p:cNvPr>
          <p:cNvPicPr>
            <a:picLocks noChangeAspect="1"/>
          </p:cNvPicPr>
          <p:nvPr/>
        </p:nvPicPr>
        <p:blipFill>
          <a:blip r:embed="rId3"/>
          <a:srcRect l="27439" t="9353" r="27478" b="9353"/>
          <a:stretch>
            <a:fillRect/>
          </a:stretch>
        </p:blipFill>
        <p:spPr>
          <a:xfrm>
            <a:off x="813817" y="3215268"/>
            <a:ext cx="1541677" cy="1516388"/>
          </a:xfrm>
          <a:prstGeom prst="rect">
            <a:avLst/>
          </a:prstGeom>
        </p:spPr>
      </p:pic>
      <p:pic>
        <p:nvPicPr>
          <p:cNvPr id="36" name="Imagen 35">
            <a:extLst>
              <a:ext uri="{FF2B5EF4-FFF2-40B4-BE49-F238E27FC236}">
                <a16:creationId xmlns:a16="http://schemas.microsoft.com/office/drawing/2014/main" id="{7758E0B6-9972-D581-C9E2-EDC33A1C362C}"/>
              </a:ext>
            </a:extLst>
          </p:cNvPr>
          <p:cNvPicPr>
            <a:picLocks noChangeAspect="1"/>
          </p:cNvPicPr>
          <p:nvPr/>
        </p:nvPicPr>
        <p:blipFill>
          <a:blip r:embed="rId4"/>
          <a:srcRect l="28063" t="8283" r="27479" b="9352"/>
          <a:stretch>
            <a:fillRect/>
          </a:stretch>
        </p:blipFill>
        <p:spPr>
          <a:xfrm>
            <a:off x="3183512" y="3215267"/>
            <a:ext cx="1467613" cy="1483033"/>
          </a:xfrm>
          <a:prstGeom prst="rect">
            <a:avLst/>
          </a:prstGeom>
        </p:spPr>
      </p:pic>
      <p:pic>
        <p:nvPicPr>
          <p:cNvPr id="37" name="Imagen 36">
            <a:extLst>
              <a:ext uri="{FF2B5EF4-FFF2-40B4-BE49-F238E27FC236}">
                <a16:creationId xmlns:a16="http://schemas.microsoft.com/office/drawing/2014/main" id="{C1BF5A57-F335-CE33-48A8-4DD6166D2640}"/>
              </a:ext>
            </a:extLst>
          </p:cNvPr>
          <p:cNvPicPr>
            <a:picLocks noChangeAspect="1"/>
          </p:cNvPicPr>
          <p:nvPr/>
        </p:nvPicPr>
        <p:blipFill>
          <a:blip r:embed="rId5"/>
          <a:srcRect l="28887" t="10069" r="29666" b="12452"/>
          <a:stretch>
            <a:fillRect/>
          </a:stretch>
        </p:blipFill>
        <p:spPr>
          <a:xfrm>
            <a:off x="5363951" y="3132213"/>
            <a:ext cx="1461049" cy="1489727"/>
          </a:xfrm>
          <a:prstGeom prst="rect">
            <a:avLst/>
          </a:prstGeom>
        </p:spPr>
      </p:pic>
      <p:pic>
        <p:nvPicPr>
          <p:cNvPr id="38" name="Imagen 37">
            <a:extLst>
              <a:ext uri="{FF2B5EF4-FFF2-40B4-BE49-F238E27FC236}">
                <a16:creationId xmlns:a16="http://schemas.microsoft.com/office/drawing/2014/main" id="{8EB2D71D-214E-CD4E-1056-F72AE6E42F7F}"/>
              </a:ext>
            </a:extLst>
          </p:cNvPr>
          <p:cNvPicPr>
            <a:picLocks noChangeAspect="1"/>
          </p:cNvPicPr>
          <p:nvPr/>
        </p:nvPicPr>
        <p:blipFill>
          <a:blip r:embed="rId6"/>
          <a:srcRect l="28886" t="10069" r="29086" b="9352"/>
          <a:stretch>
            <a:fillRect/>
          </a:stretch>
        </p:blipFill>
        <p:spPr>
          <a:xfrm>
            <a:off x="7598960" y="3118634"/>
            <a:ext cx="1510541" cy="1579666"/>
          </a:xfrm>
          <a:prstGeom prst="rect">
            <a:avLst/>
          </a:prstGeom>
        </p:spPr>
      </p:pic>
      <p:pic>
        <p:nvPicPr>
          <p:cNvPr id="39" name="Imagen 38">
            <a:extLst>
              <a:ext uri="{FF2B5EF4-FFF2-40B4-BE49-F238E27FC236}">
                <a16:creationId xmlns:a16="http://schemas.microsoft.com/office/drawing/2014/main" id="{F2D04A7E-6D71-3163-19C6-90924A2A9E20}"/>
              </a:ext>
            </a:extLst>
          </p:cNvPr>
          <p:cNvPicPr>
            <a:picLocks noChangeAspect="1"/>
          </p:cNvPicPr>
          <p:nvPr/>
        </p:nvPicPr>
        <p:blipFill>
          <a:blip r:embed="rId7"/>
          <a:srcRect l="28886" t="10069" r="29085" b="9352"/>
          <a:stretch>
            <a:fillRect/>
          </a:stretch>
        </p:blipFill>
        <p:spPr>
          <a:xfrm>
            <a:off x="9861511" y="3086235"/>
            <a:ext cx="1485572" cy="1553554"/>
          </a:xfrm>
          <a:prstGeom prst="rect">
            <a:avLst/>
          </a:prstGeom>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141</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4 · DIAGNOSIS</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What the history should cover</a:t>
            </a:r>
            <a:endParaRPr lang="en-GB" sz="3200" noProof="0" dirty="0"/>
          </a:p>
        </p:txBody>
      </p:sp>
      <p:sp>
        <p:nvSpPr>
          <p:cNvPr id="6" name="Shape 4"/>
          <p:cNvSpPr/>
          <p:nvPr/>
        </p:nvSpPr>
        <p:spPr>
          <a:xfrm>
            <a:off x="566928" y="1515870"/>
            <a:ext cx="3563112" cy="3925374"/>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822960" y="1698750"/>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Bleeding</a:t>
            </a:r>
            <a:endParaRPr lang="en-GB" sz="2000" noProof="0" dirty="0"/>
          </a:p>
        </p:txBody>
      </p:sp>
      <p:sp>
        <p:nvSpPr>
          <p:cNvPr id="8" name="Text 6"/>
          <p:cNvSpPr txBox="1"/>
          <p:nvPr/>
        </p:nvSpPr>
        <p:spPr>
          <a:xfrm>
            <a:off x="822960" y="2302254"/>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Bleeding after intercourse, between periods, or after the menopause, and how long it has been happening.</a:t>
            </a:r>
            <a:endParaRPr lang="en-GB" sz="1800" noProof="0" dirty="0"/>
          </a:p>
        </p:txBody>
      </p:sp>
      <p:sp>
        <p:nvSpPr>
          <p:cNvPr id="9" name="Shape 7"/>
          <p:cNvSpPr/>
          <p:nvPr/>
        </p:nvSpPr>
        <p:spPr>
          <a:xfrm>
            <a:off x="4312920" y="1515870"/>
            <a:ext cx="3563112" cy="3925374"/>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4568952" y="1698750"/>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Discharge and pain</a:t>
            </a:r>
            <a:endParaRPr lang="en-GB" sz="2000" noProof="0" dirty="0"/>
          </a:p>
        </p:txBody>
      </p:sp>
      <p:sp>
        <p:nvSpPr>
          <p:cNvPr id="11" name="Text 9"/>
          <p:cNvSpPr txBox="1"/>
          <p:nvPr/>
        </p:nvSpPr>
        <p:spPr>
          <a:xfrm>
            <a:off x="4568952" y="2302254"/>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Persistent or offensive discharge, pelvic or back pain, pain during intercourse.</a:t>
            </a:r>
            <a:endParaRPr lang="en-GB" sz="1800" noProof="0" dirty="0"/>
          </a:p>
        </p:txBody>
      </p:sp>
      <p:sp>
        <p:nvSpPr>
          <p:cNvPr id="12" name="Shape 10"/>
          <p:cNvSpPr/>
          <p:nvPr/>
        </p:nvSpPr>
        <p:spPr>
          <a:xfrm>
            <a:off x="8058912" y="1515870"/>
            <a:ext cx="3563112" cy="3925374"/>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8314944" y="1698750"/>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History and context</a:t>
            </a:r>
            <a:endParaRPr lang="en-GB" sz="2000" noProof="0" dirty="0"/>
          </a:p>
        </p:txBody>
      </p:sp>
      <p:sp>
        <p:nvSpPr>
          <p:cNvPr id="14" name="Text 12"/>
          <p:cNvSpPr txBox="1"/>
          <p:nvPr/>
        </p:nvSpPr>
        <p:spPr>
          <a:xfrm>
            <a:off x="8314944" y="2302254"/>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Previous screening, previous treatment of precancer, HIV status, weight loss, urinary or bowel symptoms.</a:t>
            </a:r>
            <a:endParaRPr lang="en-GB" sz="1800" noProof="0" dirty="0"/>
          </a:p>
        </p:txBody>
      </p:sp>
      <p:sp>
        <p:nvSpPr>
          <p:cNvPr id="15" name="Shape 13"/>
          <p:cNvSpPr/>
          <p:nvPr/>
        </p:nvSpPr>
        <p:spPr>
          <a:xfrm>
            <a:off x="566928" y="5666571"/>
            <a:ext cx="11055096" cy="607341"/>
          </a:xfrm>
          <a:prstGeom prst="roundRect">
            <a:avLst>
              <a:gd name="adj" fmla="val 8140"/>
            </a:avLst>
          </a:prstGeom>
          <a:solidFill>
            <a:srgbClr val="ECF3FD"/>
          </a:solidFill>
          <a:ln w="12700">
            <a:solidFill>
              <a:srgbClr val="E0E3EA"/>
            </a:solidFill>
            <a:prstDash val="solid"/>
          </a:ln>
        </p:spPr>
        <p:txBody>
          <a:bodyPr/>
          <a:lstStyle/>
          <a:p>
            <a:endParaRPr lang="en-GB" sz="1600" noProof="0" dirty="0"/>
          </a:p>
        </p:txBody>
      </p:sp>
      <p:sp>
        <p:nvSpPr>
          <p:cNvPr id="16" name="Text 14"/>
          <p:cNvSpPr txBox="1"/>
          <p:nvPr/>
        </p:nvSpPr>
        <p:spPr>
          <a:xfrm>
            <a:off x="841248" y="5666572"/>
            <a:ext cx="10506456" cy="676656"/>
          </a:xfrm>
          <a:prstGeom prst="rect">
            <a:avLst/>
          </a:prstGeom>
          <a:noFill/>
          <a:ln/>
        </p:spPr>
        <p:txBody>
          <a:bodyPr wrap="square" lIns="0" tIns="0" rIns="0" bIns="0" rtlCol="0" anchor="ctr"/>
          <a:lstStyle/>
          <a:p>
            <a:pPr marL="0" indent="0">
              <a:lnSpc>
                <a:spcPct val="104000"/>
              </a:lnSpc>
              <a:buNone/>
            </a:pPr>
            <a:r>
              <a:rPr lang="en-GB" sz="1600" b="1" noProof="0" dirty="0">
                <a:solidFill>
                  <a:srgbClr val="10305A"/>
                </a:solidFill>
                <a:latin typeface="Calibri" pitchFamily="34" charset="0"/>
                <a:ea typeface="Calibri" pitchFamily="34" charset="-122"/>
                <a:cs typeface="Calibri" pitchFamily="34" charset="-120"/>
              </a:rPr>
              <a:t>🔎 Ask directly:  </a:t>
            </a:r>
            <a:r>
              <a:rPr lang="en-GB" sz="1600" noProof="0" dirty="0">
                <a:solidFill>
                  <a:srgbClr val="23303F"/>
                </a:solidFill>
                <a:latin typeface="Calibri" pitchFamily="34" charset="0"/>
                <a:ea typeface="Calibri" pitchFamily="34" charset="-122"/>
                <a:cs typeface="Calibri" pitchFamily="34" charset="-120"/>
              </a:rPr>
              <a:t>Many women do not volunteer bleeding or discharge. Asking calmly and privately is what brings the information out.</a:t>
            </a:r>
            <a:endParaRPr lang="en-GB" sz="1600" noProof="0" dirty="0"/>
          </a:p>
        </p:txBody>
      </p:sp>
      <p:pic>
        <p:nvPicPr>
          <p:cNvPr id="17" name="Imagen 16">
            <a:extLst>
              <a:ext uri="{FF2B5EF4-FFF2-40B4-BE49-F238E27FC236}">
                <a16:creationId xmlns:a16="http://schemas.microsoft.com/office/drawing/2014/main" id="{8E7933D9-9D6F-E164-0E83-A847092507D9}"/>
              </a:ext>
            </a:extLst>
          </p:cNvPr>
          <p:cNvPicPr>
            <a:picLocks noChangeAspect="1"/>
          </p:cNvPicPr>
          <p:nvPr/>
        </p:nvPicPr>
        <p:blipFill>
          <a:blip r:embed="rId3"/>
          <a:srcRect l="2941" t="10021" r="2941" b="11589"/>
          <a:stretch>
            <a:fillRect/>
          </a:stretch>
        </p:blipFill>
        <p:spPr>
          <a:xfrm>
            <a:off x="822960" y="3629399"/>
            <a:ext cx="3124200" cy="1419341"/>
          </a:xfrm>
          <a:prstGeom prst="rect">
            <a:avLst/>
          </a:prstGeom>
        </p:spPr>
      </p:pic>
      <p:pic>
        <p:nvPicPr>
          <p:cNvPr id="18" name="Imagen 17">
            <a:extLst>
              <a:ext uri="{FF2B5EF4-FFF2-40B4-BE49-F238E27FC236}">
                <a16:creationId xmlns:a16="http://schemas.microsoft.com/office/drawing/2014/main" id="{CC4063EF-8D84-11B7-99C7-850464E959EC}"/>
              </a:ext>
            </a:extLst>
          </p:cNvPr>
          <p:cNvPicPr>
            <a:picLocks noChangeAspect="1"/>
          </p:cNvPicPr>
          <p:nvPr/>
        </p:nvPicPr>
        <p:blipFill>
          <a:blip r:embed="rId4"/>
          <a:srcRect l="3346" t="12255" r="3385" b="12409"/>
          <a:stretch>
            <a:fillRect/>
          </a:stretch>
        </p:blipFill>
        <p:spPr>
          <a:xfrm>
            <a:off x="4404360" y="3629399"/>
            <a:ext cx="3398520" cy="1497325"/>
          </a:xfrm>
          <a:prstGeom prst="rect">
            <a:avLst/>
          </a:prstGeom>
        </p:spPr>
      </p:pic>
      <p:pic>
        <p:nvPicPr>
          <p:cNvPr id="20" name="Imagen 19">
            <a:extLst>
              <a:ext uri="{FF2B5EF4-FFF2-40B4-BE49-F238E27FC236}">
                <a16:creationId xmlns:a16="http://schemas.microsoft.com/office/drawing/2014/main" id="{1E2D8E87-E515-DD8C-C96A-736C0A98D2EC}"/>
              </a:ext>
            </a:extLst>
          </p:cNvPr>
          <p:cNvPicPr>
            <a:picLocks noChangeAspect="1"/>
          </p:cNvPicPr>
          <p:nvPr/>
        </p:nvPicPr>
        <p:blipFill>
          <a:blip r:embed="rId5"/>
          <a:stretch>
            <a:fillRect/>
          </a:stretch>
        </p:blipFill>
        <p:spPr>
          <a:xfrm>
            <a:off x="8247888" y="3568194"/>
            <a:ext cx="3252216" cy="1773936"/>
          </a:xfrm>
          <a:prstGeom prst="rect">
            <a:avLst/>
          </a:prstGeom>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142</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4 · DIAGNOSIS</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Examination and its limits</a:t>
            </a:r>
            <a:endParaRPr lang="en-GB" sz="3200" noProof="0" dirty="0"/>
          </a:p>
        </p:txBody>
      </p:sp>
      <p:sp>
        <p:nvSpPr>
          <p:cNvPr id="6" name="Shape 4"/>
          <p:cNvSpPr/>
          <p:nvPr/>
        </p:nvSpPr>
        <p:spPr>
          <a:xfrm>
            <a:off x="566928" y="1348369"/>
            <a:ext cx="3563112" cy="3989750"/>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822960" y="1382965"/>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Look at the cervix</a:t>
            </a:r>
            <a:endParaRPr lang="en-GB" sz="2000" noProof="0" dirty="0"/>
          </a:p>
        </p:txBody>
      </p:sp>
      <p:sp>
        <p:nvSpPr>
          <p:cNvPr id="8" name="Text 6"/>
          <p:cNvSpPr txBox="1"/>
          <p:nvPr/>
        </p:nvSpPr>
        <p:spPr>
          <a:xfrm>
            <a:off x="822960" y="1986469"/>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Describe what you see: a growth, an ulcer, a surface that bleeds on contact, or a cervix that looks normal.</a:t>
            </a:r>
            <a:endParaRPr lang="en-GB" sz="1800" noProof="0" dirty="0"/>
          </a:p>
        </p:txBody>
      </p:sp>
      <p:sp>
        <p:nvSpPr>
          <p:cNvPr id="9" name="Shape 7"/>
          <p:cNvSpPr/>
          <p:nvPr/>
        </p:nvSpPr>
        <p:spPr>
          <a:xfrm>
            <a:off x="4312920" y="1348369"/>
            <a:ext cx="3563112" cy="3989750"/>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4568952" y="1382965"/>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Assess the pelvis</a:t>
            </a:r>
            <a:endParaRPr lang="en-GB" sz="2000" noProof="0" dirty="0"/>
          </a:p>
        </p:txBody>
      </p:sp>
      <p:sp>
        <p:nvSpPr>
          <p:cNvPr id="11" name="Text 9"/>
          <p:cNvSpPr txBox="1"/>
          <p:nvPr/>
        </p:nvSpPr>
        <p:spPr>
          <a:xfrm>
            <a:off x="4568952" y="1986469"/>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Note the size and mobility of the uterus and anything that suggests spread beyond the cervix.</a:t>
            </a:r>
            <a:endParaRPr lang="en-GB" sz="1800" noProof="0" dirty="0"/>
          </a:p>
        </p:txBody>
      </p:sp>
      <p:sp>
        <p:nvSpPr>
          <p:cNvPr id="12" name="Shape 10"/>
          <p:cNvSpPr/>
          <p:nvPr/>
        </p:nvSpPr>
        <p:spPr>
          <a:xfrm>
            <a:off x="8058912" y="1348369"/>
            <a:ext cx="3563112" cy="3989750"/>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8314944" y="1382965"/>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What it cannot do</a:t>
            </a:r>
            <a:endParaRPr lang="en-GB" sz="2000" noProof="0" dirty="0"/>
          </a:p>
        </p:txBody>
      </p:sp>
      <p:sp>
        <p:nvSpPr>
          <p:cNvPr id="14" name="Text 12"/>
          <p:cNvSpPr txBox="1"/>
          <p:nvPr/>
        </p:nvSpPr>
        <p:spPr>
          <a:xfrm>
            <a:off x="8314944" y="1986469"/>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A normal examination does not exclude cervical cancer, and it certainly does not exclude precancer.</a:t>
            </a:r>
            <a:endParaRPr lang="en-GB" sz="1800" noProof="0" dirty="0"/>
          </a:p>
        </p:txBody>
      </p:sp>
      <p:sp>
        <p:nvSpPr>
          <p:cNvPr id="15" name="Shape 13"/>
          <p:cNvSpPr/>
          <p:nvPr/>
        </p:nvSpPr>
        <p:spPr>
          <a:xfrm>
            <a:off x="566928" y="5598482"/>
            <a:ext cx="11055096" cy="691605"/>
          </a:xfrm>
          <a:prstGeom prst="roundRect">
            <a:avLst>
              <a:gd name="adj" fmla="val 8140"/>
            </a:avLst>
          </a:prstGeom>
          <a:solidFill>
            <a:srgbClr val="FFF2DF"/>
          </a:solidFill>
          <a:ln w="12700">
            <a:solidFill>
              <a:srgbClr val="E8DDC7"/>
            </a:solidFill>
            <a:prstDash val="solid"/>
          </a:ln>
        </p:spPr>
        <p:txBody>
          <a:bodyPr/>
          <a:lstStyle/>
          <a:p>
            <a:endParaRPr lang="en-GB" sz="1600" noProof="0" dirty="0"/>
          </a:p>
        </p:txBody>
      </p:sp>
      <p:sp>
        <p:nvSpPr>
          <p:cNvPr id="16" name="Text 14"/>
          <p:cNvSpPr txBox="1"/>
          <p:nvPr/>
        </p:nvSpPr>
        <p:spPr>
          <a:xfrm>
            <a:off x="841248" y="5640122"/>
            <a:ext cx="10506456" cy="595102"/>
          </a:xfrm>
          <a:prstGeom prst="rect">
            <a:avLst/>
          </a:prstGeom>
          <a:noFill/>
          <a:ln/>
        </p:spPr>
        <p:txBody>
          <a:bodyPr wrap="square" lIns="0" tIns="0" rIns="0" bIns="0" rtlCol="0" anchor="ctr"/>
          <a:lstStyle/>
          <a:p>
            <a:pPr marL="0" indent="0">
              <a:lnSpc>
                <a:spcPct val="104000"/>
              </a:lnSpc>
              <a:buNone/>
            </a:pPr>
            <a:r>
              <a:rPr lang="en-GB" sz="1600" b="1" noProof="0" dirty="0">
                <a:solidFill>
                  <a:srgbClr val="7B5727"/>
                </a:solidFill>
                <a:latin typeface="Calibri" pitchFamily="34" charset="0"/>
                <a:ea typeface="Calibri" pitchFamily="34" charset="-122"/>
                <a:cs typeface="Calibri" pitchFamily="34" charset="-120"/>
              </a:rPr>
              <a:t>🧪 No blood test:  </a:t>
            </a:r>
            <a:r>
              <a:rPr lang="en-GB" sz="1600" noProof="0" dirty="0">
                <a:solidFill>
                  <a:srgbClr val="23303F"/>
                </a:solidFill>
                <a:latin typeface="Calibri" pitchFamily="34" charset="0"/>
                <a:ea typeface="Calibri" pitchFamily="34" charset="-122"/>
                <a:cs typeface="Calibri" pitchFamily="34" charset="-120"/>
              </a:rPr>
              <a:t>There is no blood test that confirms or excludes cervical cancer. Findings raise or lower suspicion, and tissue decides.</a:t>
            </a:r>
            <a:endParaRPr lang="en-GB" sz="1600" noProof="0" dirty="0"/>
          </a:p>
        </p:txBody>
      </p:sp>
      <p:pic>
        <p:nvPicPr>
          <p:cNvPr id="18" name="Imagen 17">
            <a:extLst>
              <a:ext uri="{FF2B5EF4-FFF2-40B4-BE49-F238E27FC236}">
                <a16:creationId xmlns:a16="http://schemas.microsoft.com/office/drawing/2014/main" id="{515B1668-6502-22C1-17D9-23B1485A107B}"/>
              </a:ext>
            </a:extLst>
          </p:cNvPr>
          <p:cNvPicPr>
            <a:picLocks noChangeAspect="1"/>
          </p:cNvPicPr>
          <p:nvPr/>
        </p:nvPicPr>
        <p:blipFill>
          <a:blip r:embed="rId3"/>
          <a:srcRect t="28694" b="25476"/>
          <a:stretch>
            <a:fillRect/>
          </a:stretch>
        </p:blipFill>
        <p:spPr>
          <a:xfrm>
            <a:off x="611009" y="3664869"/>
            <a:ext cx="3474949" cy="868680"/>
          </a:xfrm>
          <a:prstGeom prst="rect">
            <a:avLst/>
          </a:prstGeom>
        </p:spPr>
      </p:pic>
      <p:pic>
        <p:nvPicPr>
          <p:cNvPr id="21" name="Imagen 20">
            <a:extLst>
              <a:ext uri="{FF2B5EF4-FFF2-40B4-BE49-F238E27FC236}">
                <a16:creationId xmlns:a16="http://schemas.microsoft.com/office/drawing/2014/main" id="{A8E6DFC1-407E-5DAF-DD3E-C1E7B9080CF5}"/>
              </a:ext>
            </a:extLst>
          </p:cNvPr>
          <p:cNvPicPr>
            <a:picLocks noChangeAspect="1"/>
          </p:cNvPicPr>
          <p:nvPr/>
        </p:nvPicPr>
        <p:blipFill>
          <a:blip r:embed="rId4"/>
          <a:srcRect/>
          <a:stretch>
            <a:fillRect/>
          </a:stretch>
        </p:blipFill>
        <p:spPr>
          <a:xfrm>
            <a:off x="4718442" y="3236513"/>
            <a:ext cx="2661458" cy="1774305"/>
          </a:xfrm>
          <a:prstGeom prst="rect">
            <a:avLst/>
          </a:prstGeom>
        </p:spPr>
      </p:pic>
      <p:pic>
        <p:nvPicPr>
          <p:cNvPr id="22" name="Imagen 21">
            <a:extLst>
              <a:ext uri="{FF2B5EF4-FFF2-40B4-BE49-F238E27FC236}">
                <a16:creationId xmlns:a16="http://schemas.microsoft.com/office/drawing/2014/main" id="{E9E212C4-08D5-8EBF-FA60-BE62BACBFD8B}"/>
              </a:ext>
            </a:extLst>
          </p:cNvPr>
          <p:cNvPicPr>
            <a:picLocks noChangeAspect="1"/>
          </p:cNvPicPr>
          <p:nvPr/>
        </p:nvPicPr>
        <p:blipFill>
          <a:blip r:embed="rId5"/>
          <a:srcRect l="2801" t="10848" r="2521" b="15111"/>
          <a:stretch>
            <a:fillRect/>
          </a:stretch>
        </p:blipFill>
        <p:spPr>
          <a:xfrm>
            <a:off x="8348262" y="3487141"/>
            <a:ext cx="2984412" cy="1273047"/>
          </a:xfrm>
          <a:prstGeom prst="rect">
            <a:avLst/>
          </a:prstGeom>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143</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4 · DIAGNOSIS</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Colposcopy, biopsy and histopathology</a:t>
            </a:r>
            <a:endParaRPr lang="en-GB" sz="3200" noProof="0" dirty="0"/>
          </a:p>
        </p:txBody>
      </p:sp>
      <p:sp>
        <p:nvSpPr>
          <p:cNvPr id="6" name="Shape 4"/>
          <p:cNvSpPr/>
          <p:nvPr/>
        </p:nvSpPr>
        <p:spPr>
          <a:xfrm>
            <a:off x="566928" y="1447217"/>
            <a:ext cx="3563112" cy="4125679"/>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822960" y="1506528"/>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Colposcopy</a:t>
            </a:r>
            <a:endParaRPr lang="en-GB" sz="2000" noProof="0" dirty="0"/>
          </a:p>
        </p:txBody>
      </p:sp>
      <p:sp>
        <p:nvSpPr>
          <p:cNvPr id="8" name="Text 6"/>
          <p:cNvSpPr txBox="1"/>
          <p:nvPr/>
        </p:nvSpPr>
        <p:spPr>
          <a:xfrm>
            <a:off x="822960" y="2110032"/>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The cervix is examined under magnification after acetic acid is applied. It shows where the abnormality is and guides the biopsy.</a:t>
            </a:r>
            <a:endParaRPr lang="en-GB" sz="1800" noProof="0" dirty="0"/>
          </a:p>
        </p:txBody>
      </p:sp>
      <p:sp>
        <p:nvSpPr>
          <p:cNvPr id="9" name="Shape 7"/>
          <p:cNvSpPr/>
          <p:nvPr/>
        </p:nvSpPr>
        <p:spPr>
          <a:xfrm>
            <a:off x="4312920" y="1447217"/>
            <a:ext cx="3563112" cy="4125679"/>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4568952" y="1506528"/>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Biopsy</a:t>
            </a:r>
            <a:endParaRPr lang="en-GB" sz="2000" noProof="0" dirty="0"/>
          </a:p>
        </p:txBody>
      </p:sp>
      <p:sp>
        <p:nvSpPr>
          <p:cNvPr id="11" name="Text 9"/>
          <p:cNvSpPr txBox="1"/>
          <p:nvPr/>
        </p:nvSpPr>
        <p:spPr>
          <a:xfrm>
            <a:off x="4568952" y="2110032"/>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A small piece of tissue is taken from the abnormal area. It causes cramping and some spotting rather than severe pain.</a:t>
            </a:r>
            <a:endParaRPr lang="en-GB" sz="1800" noProof="0" dirty="0"/>
          </a:p>
        </p:txBody>
      </p:sp>
      <p:sp>
        <p:nvSpPr>
          <p:cNvPr id="12" name="Shape 10"/>
          <p:cNvSpPr/>
          <p:nvPr/>
        </p:nvSpPr>
        <p:spPr>
          <a:xfrm>
            <a:off x="8058912" y="1447217"/>
            <a:ext cx="3563112" cy="4125679"/>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8314944" y="1506528"/>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Histopathology</a:t>
            </a:r>
            <a:endParaRPr lang="en-GB" sz="2000" noProof="0" dirty="0"/>
          </a:p>
        </p:txBody>
      </p:sp>
      <p:sp>
        <p:nvSpPr>
          <p:cNvPr id="14" name="Text 12"/>
          <p:cNvSpPr txBox="1"/>
          <p:nvPr/>
        </p:nvSpPr>
        <p:spPr>
          <a:xfrm>
            <a:off x="8220348" y="2110032"/>
            <a:ext cx="3307080"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A pathologist examines the biopsy to confirm whether cancer is present and determine the histological type. Cervical specimens are currently processed mainly at Rwanda’s tertiary hospitals with pathology services.</a:t>
            </a:r>
            <a:endParaRPr lang="en-GB" sz="1800" noProof="0" dirty="0"/>
          </a:p>
        </p:txBody>
      </p:sp>
      <p:pic>
        <p:nvPicPr>
          <p:cNvPr id="17" name="Imagen 16">
            <a:extLst>
              <a:ext uri="{FF2B5EF4-FFF2-40B4-BE49-F238E27FC236}">
                <a16:creationId xmlns:a16="http://schemas.microsoft.com/office/drawing/2014/main" id="{DA0EB07B-2209-0936-A30F-E6616F855894}"/>
              </a:ext>
            </a:extLst>
          </p:cNvPr>
          <p:cNvPicPr>
            <a:picLocks noChangeAspect="1"/>
          </p:cNvPicPr>
          <p:nvPr/>
        </p:nvPicPr>
        <p:blipFill>
          <a:blip r:embed="rId3"/>
          <a:srcRect l="19607" t="18026" r="15826" b="7376"/>
          <a:stretch>
            <a:fillRect/>
          </a:stretch>
        </p:blipFill>
        <p:spPr>
          <a:xfrm>
            <a:off x="4662257" y="3510056"/>
            <a:ext cx="2921925" cy="1841416"/>
          </a:xfrm>
          <a:prstGeom prst="rect">
            <a:avLst/>
          </a:prstGeom>
        </p:spPr>
      </p:pic>
      <p:pic>
        <p:nvPicPr>
          <p:cNvPr id="18" name="Imagen 17">
            <a:extLst>
              <a:ext uri="{FF2B5EF4-FFF2-40B4-BE49-F238E27FC236}">
                <a16:creationId xmlns:a16="http://schemas.microsoft.com/office/drawing/2014/main" id="{2CD3F0C4-A4F4-4AE8-6286-0AFC7C090858}"/>
              </a:ext>
            </a:extLst>
          </p:cNvPr>
          <p:cNvPicPr>
            <a:picLocks noChangeAspect="1"/>
          </p:cNvPicPr>
          <p:nvPr/>
        </p:nvPicPr>
        <p:blipFill>
          <a:blip r:embed="rId4"/>
          <a:srcRect l="16947" t="18026" r="15346" b="21718"/>
          <a:stretch>
            <a:fillRect/>
          </a:stretch>
        </p:blipFill>
        <p:spPr>
          <a:xfrm>
            <a:off x="893610" y="3747330"/>
            <a:ext cx="2909747" cy="1412462"/>
          </a:xfrm>
          <a:prstGeom prst="rect">
            <a:avLst/>
          </a:prstGeom>
        </p:spPr>
      </p:pic>
      <p:pic>
        <p:nvPicPr>
          <p:cNvPr id="19" name="Imagen 18">
            <a:extLst>
              <a:ext uri="{FF2B5EF4-FFF2-40B4-BE49-F238E27FC236}">
                <a16:creationId xmlns:a16="http://schemas.microsoft.com/office/drawing/2014/main" id="{13DA14BE-FF5E-EF2E-E292-F4DE8FB43AC7}"/>
              </a:ext>
            </a:extLst>
          </p:cNvPr>
          <p:cNvPicPr>
            <a:picLocks noChangeAspect="1"/>
          </p:cNvPicPr>
          <p:nvPr/>
        </p:nvPicPr>
        <p:blipFill>
          <a:blip r:embed="rId5"/>
          <a:srcRect l="2811" t="14172" r="2811" b="18026"/>
          <a:stretch>
            <a:fillRect/>
          </a:stretch>
        </p:blipFill>
        <p:spPr>
          <a:xfrm>
            <a:off x="8247888" y="4239029"/>
            <a:ext cx="3085046" cy="1208893"/>
          </a:xfrm>
          <a:prstGeom prst="rect">
            <a:avLst/>
          </a:prstGeom>
        </p:spPr>
      </p:pic>
      <p:sp>
        <p:nvSpPr>
          <p:cNvPr id="20" name="Shape 15">
            <a:extLst>
              <a:ext uri="{FF2B5EF4-FFF2-40B4-BE49-F238E27FC236}">
                <a16:creationId xmlns:a16="http://schemas.microsoft.com/office/drawing/2014/main" id="{786C5D95-0A5D-021F-B693-02B63721CDDF}"/>
              </a:ext>
            </a:extLst>
          </p:cNvPr>
          <p:cNvSpPr/>
          <p:nvPr/>
        </p:nvSpPr>
        <p:spPr>
          <a:xfrm>
            <a:off x="548640" y="5656769"/>
            <a:ext cx="11055096" cy="726959"/>
          </a:xfrm>
          <a:prstGeom prst="roundRect">
            <a:avLst>
              <a:gd name="adj" fmla="val 8140"/>
            </a:avLst>
          </a:prstGeom>
          <a:solidFill>
            <a:srgbClr val="EAF7F0"/>
          </a:solidFill>
          <a:ln w="12700">
            <a:solidFill>
              <a:srgbClr val="C0D4CB"/>
            </a:solidFill>
            <a:prstDash val="solid"/>
          </a:ln>
        </p:spPr>
        <p:txBody>
          <a:bodyPr/>
          <a:lstStyle/>
          <a:p>
            <a:endParaRPr lang="en-GB" sz="1600" noProof="0" dirty="0"/>
          </a:p>
        </p:txBody>
      </p:sp>
      <p:sp>
        <p:nvSpPr>
          <p:cNvPr id="21" name="Text 16">
            <a:extLst>
              <a:ext uri="{FF2B5EF4-FFF2-40B4-BE49-F238E27FC236}">
                <a16:creationId xmlns:a16="http://schemas.microsoft.com/office/drawing/2014/main" id="{B935C2FA-4F4C-F136-177E-B4C3ACEB8F99}"/>
              </a:ext>
            </a:extLst>
          </p:cNvPr>
          <p:cNvSpPr txBox="1"/>
          <p:nvPr/>
        </p:nvSpPr>
        <p:spPr>
          <a:xfrm>
            <a:off x="752856" y="5670876"/>
            <a:ext cx="10850880" cy="676656"/>
          </a:xfrm>
          <a:prstGeom prst="rect">
            <a:avLst/>
          </a:prstGeom>
          <a:noFill/>
          <a:ln/>
        </p:spPr>
        <p:txBody>
          <a:bodyPr wrap="square" lIns="0" tIns="0" rIns="0" bIns="0" rtlCol="0" anchor="ctr"/>
          <a:lstStyle/>
          <a:p>
            <a:pPr>
              <a:lnSpc>
                <a:spcPct val="104000"/>
              </a:lnSpc>
            </a:pPr>
            <a:r>
              <a:rPr lang="en-GB" sz="1600" b="1" noProof="0" dirty="0">
                <a:solidFill>
                  <a:srgbClr val="19543E"/>
                </a:solidFill>
                <a:latin typeface="Calibri" pitchFamily="34" charset="0"/>
                <a:ea typeface="Calibri" pitchFamily="34" charset="-122"/>
                <a:cs typeface="Calibri" pitchFamily="34" charset="-120"/>
              </a:rPr>
              <a:t>🏥 Rwanda pathway:  </a:t>
            </a:r>
            <a:r>
              <a:rPr lang="en-GB" sz="1600" noProof="0" dirty="0">
                <a:solidFill>
                  <a:srgbClr val="23303F"/>
                </a:solidFill>
                <a:latin typeface="Calibri" pitchFamily="34" charset="0"/>
                <a:ea typeface="Calibri" pitchFamily="34" charset="-122"/>
                <a:cs typeface="Calibri" pitchFamily="34" charset="-120"/>
              </a:rPr>
              <a:t>Biopsy specimens are sent to a facility with histopathology capacity. Results are returned to the referring clinical team, increasingly through the national E-</a:t>
            </a:r>
            <a:r>
              <a:rPr lang="en-GB" sz="1600" noProof="0" dirty="0" err="1">
                <a:solidFill>
                  <a:srgbClr val="23303F"/>
                </a:solidFill>
                <a:latin typeface="Calibri" pitchFamily="34" charset="0"/>
                <a:ea typeface="Calibri" pitchFamily="34" charset="-122"/>
                <a:cs typeface="Calibri" pitchFamily="34" charset="-120"/>
              </a:rPr>
              <a:t>Ubuzima</a:t>
            </a:r>
            <a:r>
              <a:rPr lang="en-GB" sz="1600" noProof="0" dirty="0">
                <a:solidFill>
                  <a:srgbClr val="23303F"/>
                </a:solidFill>
                <a:latin typeface="Calibri" pitchFamily="34" charset="0"/>
                <a:ea typeface="Calibri" pitchFamily="34" charset="-122"/>
                <a:cs typeface="Calibri" pitchFamily="34" charset="-120"/>
              </a:rPr>
              <a:t> EMR, so the patient can be contacted and the next step arranged.</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19">
    <p:bg>
      <p:bgPr>
        <a:solidFill>
          <a:srgbClr val="FFFFFF">
            <a:alpha val="70000"/>
          </a:srgbClr>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144</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4 · DIAGNOSIS</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Imaging and staging</a:t>
            </a:r>
            <a:endParaRPr lang="en-GB" sz="3200" noProof="0" dirty="0"/>
          </a:p>
        </p:txBody>
      </p:sp>
      <p:sp>
        <p:nvSpPr>
          <p:cNvPr id="6" name="Shape 4"/>
          <p:cNvSpPr/>
          <p:nvPr/>
        </p:nvSpPr>
        <p:spPr>
          <a:xfrm>
            <a:off x="566928" y="1501218"/>
            <a:ext cx="3212484" cy="3196910"/>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728364" y="1681176"/>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Local extent</a:t>
            </a:r>
            <a:endParaRPr lang="en-GB" sz="2000" noProof="0" dirty="0"/>
          </a:p>
        </p:txBody>
      </p:sp>
      <p:sp>
        <p:nvSpPr>
          <p:cNvPr id="8" name="Text 6"/>
          <p:cNvSpPr txBox="1"/>
          <p:nvPr/>
        </p:nvSpPr>
        <p:spPr>
          <a:xfrm>
            <a:off x="728364" y="2243022"/>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Clinical assessment and imaging help determine tumour size and involvement of nearby tissues, including the parametrium, vagina, bladder and rectum.</a:t>
            </a:r>
            <a:endParaRPr lang="en-GB" sz="1800" noProof="0" dirty="0"/>
          </a:p>
        </p:txBody>
      </p:sp>
      <p:sp>
        <p:nvSpPr>
          <p:cNvPr id="9" name="Shape 7"/>
          <p:cNvSpPr/>
          <p:nvPr/>
        </p:nvSpPr>
        <p:spPr>
          <a:xfrm>
            <a:off x="3940847" y="1501218"/>
            <a:ext cx="3327055" cy="3196910"/>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4095978" y="1681176"/>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Lymph nodes and distant spread</a:t>
            </a:r>
            <a:endParaRPr lang="en-GB" sz="2000" noProof="0" dirty="0"/>
          </a:p>
        </p:txBody>
      </p:sp>
      <p:sp>
        <p:nvSpPr>
          <p:cNvPr id="11" name="Text 9"/>
          <p:cNvSpPr txBox="1"/>
          <p:nvPr/>
        </p:nvSpPr>
        <p:spPr>
          <a:xfrm>
            <a:off x="4105432" y="2395042"/>
            <a:ext cx="286816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Where available, imaging assesses pelvic and para-aortic lymph nodes, distant disease and complications such as urinary tract or kidney obstruction.</a:t>
            </a:r>
            <a:endParaRPr lang="en-GB" sz="1800" noProof="0" dirty="0"/>
          </a:p>
        </p:txBody>
      </p:sp>
      <p:sp>
        <p:nvSpPr>
          <p:cNvPr id="12" name="Shape 10"/>
          <p:cNvSpPr/>
          <p:nvPr/>
        </p:nvSpPr>
        <p:spPr>
          <a:xfrm>
            <a:off x="7432487" y="1501218"/>
            <a:ext cx="4189537" cy="3196910"/>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7664559" y="1681176"/>
            <a:ext cx="3784039"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Imaging depends on availability</a:t>
            </a:r>
            <a:endParaRPr lang="en-GB" sz="2000" noProof="0" dirty="0"/>
          </a:p>
        </p:txBody>
      </p:sp>
      <p:sp>
        <p:nvSpPr>
          <p:cNvPr id="14" name="Text 12"/>
          <p:cNvSpPr txBox="1"/>
          <p:nvPr/>
        </p:nvSpPr>
        <p:spPr>
          <a:xfrm>
            <a:off x="7646271" y="2408055"/>
            <a:ext cx="3784039"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Advanced imaging is concentrated in referral and tertiary hospitals. Patients may need referral for CT or MRI when these are required for staging. Do not delay essential assessment or treatment planning while waiting for imaging that is not immediately available.</a:t>
            </a:r>
            <a:endParaRPr lang="en-GB" sz="1800" noProof="0" dirty="0"/>
          </a:p>
        </p:txBody>
      </p:sp>
      <p:sp>
        <p:nvSpPr>
          <p:cNvPr id="17" name="Shape 15">
            <a:extLst>
              <a:ext uri="{FF2B5EF4-FFF2-40B4-BE49-F238E27FC236}">
                <a16:creationId xmlns:a16="http://schemas.microsoft.com/office/drawing/2014/main" id="{59DC7C82-DB72-2A40-BFA1-4BBAA1728552}"/>
              </a:ext>
            </a:extLst>
          </p:cNvPr>
          <p:cNvSpPr/>
          <p:nvPr/>
        </p:nvSpPr>
        <p:spPr>
          <a:xfrm>
            <a:off x="548640" y="5562173"/>
            <a:ext cx="11055096" cy="726959"/>
          </a:xfrm>
          <a:prstGeom prst="roundRect">
            <a:avLst>
              <a:gd name="adj" fmla="val 8140"/>
            </a:avLst>
          </a:prstGeom>
          <a:solidFill>
            <a:srgbClr val="EAF7F0"/>
          </a:solidFill>
          <a:ln w="12700">
            <a:solidFill>
              <a:srgbClr val="C0D4CB"/>
            </a:solidFill>
            <a:prstDash val="solid"/>
          </a:ln>
        </p:spPr>
        <p:txBody>
          <a:bodyPr/>
          <a:lstStyle/>
          <a:p>
            <a:endParaRPr lang="en-GB" sz="1600" noProof="0" dirty="0"/>
          </a:p>
        </p:txBody>
      </p:sp>
      <p:sp>
        <p:nvSpPr>
          <p:cNvPr id="18" name="Text 16">
            <a:extLst>
              <a:ext uri="{FF2B5EF4-FFF2-40B4-BE49-F238E27FC236}">
                <a16:creationId xmlns:a16="http://schemas.microsoft.com/office/drawing/2014/main" id="{51D9C840-C72B-A85A-2E62-985B51EF0CEB}"/>
              </a:ext>
            </a:extLst>
          </p:cNvPr>
          <p:cNvSpPr txBox="1"/>
          <p:nvPr/>
        </p:nvSpPr>
        <p:spPr>
          <a:xfrm>
            <a:off x="752856" y="5576280"/>
            <a:ext cx="10850880" cy="676656"/>
          </a:xfrm>
          <a:prstGeom prst="rect">
            <a:avLst/>
          </a:prstGeom>
          <a:noFill/>
          <a:ln/>
        </p:spPr>
        <p:txBody>
          <a:bodyPr wrap="square" lIns="0" tIns="0" rIns="0" bIns="0" rtlCol="0" anchor="ctr"/>
          <a:lstStyle/>
          <a:p>
            <a:pPr>
              <a:lnSpc>
                <a:spcPct val="104000"/>
              </a:lnSpc>
            </a:pPr>
            <a:r>
              <a:rPr lang="en-GB" sz="1600" b="1" noProof="0" dirty="0">
                <a:solidFill>
                  <a:srgbClr val="19543E"/>
                </a:solidFill>
                <a:latin typeface="Calibri" pitchFamily="34" charset="0"/>
                <a:ea typeface="Calibri" pitchFamily="34" charset="-122"/>
                <a:cs typeface="Calibri" pitchFamily="34" charset="-120"/>
              </a:rPr>
              <a:t>🏥 In Rwanda:  </a:t>
            </a:r>
            <a:r>
              <a:rPr lang="en-GB" sz="1600" noProof="0" dirty="0">
                <a:solidFill>
                  <a:srgbClr val="23303F"/>
                </a:solidFill>
                <a:latin typeface="Calibri" pitchFamily="34" charset="0"/>
                <a:ea typeface="Calibri" pitchFamily="34" charset="-122"/>
                <a:cs typeface="Calibri" pitchFamily="34" charset="-120"/>
              </a:rPr>
              <a:t>Staging combines clinical assessment with available imaging. Advanced imaging and specialist cancer care are mainly accessed through referral/tertiary hospitals, with referral based on clinical findings and local availability.</a:t>
            </a:r>
          </a:p>
        </p:txBody>
      </p:sp>
      <p:sp>
        <p:nvSpPr>
          <p:cNvPr id="22" name="CuadroTexto 21">
            <a:extLst>
              <a:ext uri="{FF2B5EF4-FFF2-40B4-BE49-F238E27FC236}">
                <a16:creationId xmlns:a16="http://schemas.microsoft.com/office/drawing/2014/main" id="{071B8E92-4A57-0030-A11F-F6B1B6F1777F}"/>
              </a:ext>
            </a:extLst>
          </p:cNvPr>
          <p:cNvSpPr txBox="1"/>
          <p:nvPr/>
        </p:nvSpPr>
        <p:spPr>
          <a:xfrm>
            <a:off x="821165" y="5033623"/>
            <a:ext cx="11055095" cy="307777"/>
          </a:xfrm>
          <a:prstGeom prst="rect">
            <a:avLst/>
          </a:prstGeom>
          <a:noFill/>
        </p:spPr>
        <p:txBody>
          <a:bodyPr wrap="square">
            <a:spAutoFit/>
          </a:bodyPr>
          <a:lstStyle/>
          <a:p>
            <a:pPr>
              <a:buNone/>
            </a:pPr>
            <a:r>
              <a:rPr lang="en-GB" sz="1400" b="1" noProof="0">
                <a:solidFill>
                  <a:schemeClr val="accent1">
                    <a:lumMod val="50000"/>
                  </a:schemeClr>
                </a:solidFill>
              </a:rPr>
              <a:t>Clinical assessment → biopsy/histology → staging assessment → imaging where indicated/available → multidisciplinary treatment plan</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145</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4 · CLINICAL CASE</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What does Béatrice need next?</a:t>
            </a:r>
            <a:endParaRPr lang="en-GB" sz="3200" noProof="0" dirty="0"/>
          </a:p>
        </p:txBody>
      </p:sp>
      <p:sp>
        <p:nvSpPr>
          <p:cNvPr id="6" name="Text 4"/>
          <p:cNvSpPr txBox="1"/>
          <p:nvPr/>
        </p:nvSpPr>
        <p:spPr>
          <a:xfrm>
            <a:off x="566928" y="1591056"/>
            <a:ext cx="11055096" cy="768096"/>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Her cervix is irregular and bleeds on contact, and she has five months of postcoital bleeding. What is the correct next step?</a:t>
            </a:r>
            <a:endParaRPr lang="en-GB" sz="2000" noProof="0" dirty="0"/>
          </a:p>
        </p:txBody>
      </p:sp>
      <p:sp>
        <p:nvSpPr>
          <p:cNvPr id="7" name="Shape 5"/>
          <p:cNvSpPr/>
          <p:nvPr/>
        </p:nvSpPr>
        <p:spPr>
          <a:xfrm>
            <a:off x="566928" y="2432304"/>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432304"/>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Offer a screening test and review the result in a few weeks</a:t>
            </a:r>
            <a:endParaRPr lang="en-GB" sz="1800" noProof="0" dirty="0"/>
          </a:p>
        </p:txBody>
      </p:sp>
      <p:sp>
        <p:nvSpPr>
          <p:cNvPr id="9" name="Shape 7"/>
          <p:cNvSpPr/>
          <p:nvPr/>
        </p:nvSpPr>
        <p:spPr>
          <a:xfrm>
            <a:off x="566928" y="3008376"/>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3008376"/>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Refer promptly for colposcopy and biopsy, explaining that her cervix must be examined</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1" name="Shape 9"/>
          <p:cNvSpPr/>
          <p:nvPr/>
        </p:nvSpPr>
        <p:spPr>
          <a:xfrm>
            <a:off x="566928" y="35844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5844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Treat the cervix with thermal ablation today</a:t>
            </a:r>
            <a:endParaRPr lang="en-GB" sz="1800" noProof="0" dirty="0"/>
          </a:p>
        </p:txBody>
      </p:sp>
      <p:sp>
        <p:nvSpPr>
          <p:cNvPr id="13" name="Shape 11"/>
          <p:cNvSpPr/>
          <p:nvPr/>
        </p:nvSpPr>
        <p:spPr>
          <a:xfrm>
            <a:off x="566928" y="41605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1605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Treat for infection and review in three months</a:t>
            </a:r>
            <a:endParaRPr lang="en-GB" sz="1800" noProof="0" dirty="0"/>
          </a:p>
        </p:txBody>
      </p:sp>
      <p:sp>
        <p:nvSpPr>
          <p:cNvPr id="15" name="Shape 13"/>
          <p:cNvSpPr/>
          <p:nvPr/>
        </p:nvSpPr>
        <p:spPr>
          <a:xfrm>
            <a:off x="566928" y="4828032"/>
            <a:ext cx="11055096" cy="1408176"/>
          </a:xfrm>
          <a:prstGeom prst="roundRect">
            <a:avLst>
              <a:gd name="adj" fmla="val 4545"/>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919472"/>
            <a:ext cx="10506456" cy="1225296"/>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B
Feedback: </a:t>
            </a:r>
            <a:r>
              <a:rPr lang="en-GB" sz="1800" noProof="0" dirty="0">
                <a:solidFill>
                  <a:srgbClr val="23303F"/>
                </a:solidFill>
                <a:latin typeface="Calibri" pitchFamily="34" charset="0"/>
                <a:ea typeface="Calibri" pitchFamily="34" charset="-122"/>
                <a:cs typeface="Calibri" pitchFamily="34" charset="-120"/>
              </a:rPr>
              <a:t>A cervix that is irregular and bleeds on contact is suspicious for invasive cancer. She needs assessment and biopsy, not a screening test and not ablation. Explain that the cervix must be examined, without stating that she has cancer.</a:t>
            </a:r>
            <a:endParaRPr lang="en-GB" sz="1800" noProof="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146</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4 · TREATMENT</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Treatment depends on what was found</a:t>
            </a:r>
            <a:endParaRPr lang="en-GB" sz="3200" noProof="0" dirty="0"/>
          </a:p>
        </p:txBody>
      </p:sp>
      <p:sp>
        <p:nvSpPr>
          <p:cNvPr id="6" name="Shape 4"/>
          <p:cNvSpPr/>
          <p:nvPr/>
        </p:nvSpPr>
        <p:spPr>
          <a:xfrm>
            <a:off x="566928" y="1397792"/>
            <a:ext cx="3563112" cy="3927970"/>
          </a:xfrm>
          <a:prstGeom prst="roundRect">
            <a:avLst>
              <a:gd name="adj" fmla="val 3000"/>
            </a:avLst>
          </a:prstGeom>
          <a:solidFill>
            <a:srgbClr val="EAF7F0"/>
          </a:solidFill>
          <a:ln w="12700">
            <a:solidFill>
              <a:srgbClr val="C0D4CB"/>
            </a:solidFill>
            <a:prstDash val="solid"/>
          </a:ln>
        </p:spPr>
        <p:txBody>
          <a:bodyPr/>
          <a:lstStyle/>
          <a:p>
            <a:endParaRPr lang="en-GB" noProof="0" dirty="0"/>
          </a:p>
        </p:txBody>
      </p:sp>
      <p:sp>
        <p:nvSpPr>
          <p:cNvPr id="7" name="Text 5"/>
          <p:cNvSpPr txBox="1"/>
          <p:nvPr/>
        </p:nvSpPr>
        <p:spPr>
          <a:xfrm>
            <a:off x="822960" y="1432388"/>
            <a:ext cx="3051048" cy="566928"/>
          </a:xfrm>
          <a:prstGeom prst="rect">
            <a:avLst/>
          </a:prstGeom>
          <a:noFill/>
          <a:ln/>
        </p:spPr>
        <p:txBody>
          <a:bodyPr wrap="square" lIns="0" tIns="0" rIns="0" bIns="0" rtlCol="0" anchor="ctr"/>
          <a:lstStyle/>
          <a:p>
            <a:pPr marL="0" indent="0">
              <a:buNone/>
            </a:pPr>
            <a:r>
              <a:rPr lang="en-GB" sz="2000" b="1" noProof="0" dirty="0">
                <a:solidFill>
                  <a:srgbClr val="19543E"/>
                </a:solidFill>
                <a:latin typeface="Calibri" pitchFamily="34" charset="0"/>
                <a:ea typeface="Calibri" pitchFamily="34" charset="-122"/>
                <a:cs typeface="Calibri" pitchFamily="34" charset="-120"/>
              </a:rPr>
              <a:t>🟢  Cervical precancer</a:t>
            </a:r>
            <a:endParaRPr lang="en-GB" sz="2000" noProof="0" dirty="0"/>
          </a:p>
        </p:txBody>
      </p:sp>
      <p:sp>
        <p:nvSpPr>
          <p:cNvPr id="8" name="Text 6"/>
          <p:cNvSpPr txBox="1"/>
          <p:nvPr/>
        </p:nvSpPr>
        <p:spPr>
          <a:xfrm>
            <a:off x="822960" y="2035892"/>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Treated by destroying or removing the abnormal area, in an outpatient or day procedure that keeps the uterus.</a:t>
            </a:r>
            <a:endParaRPr lang="en-GB" sz="1800" noProof="0" dirty="0"/>
          </a:p>
        </p:txBody>
      </p:sp>
      <p:sp>
        <p:nvSpPr>
          <p:cNvPr id="9" name="Shape 7"/>
          <p:cNvSpPr/>
          <p:nvPr/>
        </p:nvSpPr>
        <p:spPr>
          <a:xfrm>
            <a:off x="4312920" y="1397792"/>
            <a:ext cx="3563112" cy="3927970"/>
          </a:xfrm>
          <a:prstGeom prst="roundRect">
            <a:avLst>
              <a:gd name="adj" fmla="val 3000"/>
            </a:avLst>
          </a:prstGeom>
          <a:solidFill>
            <a:srgbClr val="ECF3FD"/>
          </a:solidFill>
          <a:ln w="12700">
            <a:solidFill>
              <a:srgbClr val="E0E3EA"/>
            </a:solidFill>
            <a:prstDash val="solid"/>
          </a:ln>
        </p:spPr>
        <p:txBody>
          <a:bodyPr/>
          <a:lstStyle/>
          <a:p>
            <a:endParaRPr lang="en-GB" noProof="0" dirty="0"/>
          </a:p>
        </p:txBody>
      </p:sp>
      <p:sp>
        <p:nvSpPr>
          <p:cNvPr id="10" name="Text 8"/>
          <p:cNvSpPr txBox="1"/>
          <p:nvPr/>
        </p:nvSpPr>
        <p:spPr>
          <a:xfrm>
            <a:off x="4568952" y="1432388"/>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Early invasive cancer</a:t>
            </a:r>
            <a:endParaRPr lang="en-GB" sz="2000" noProof="0" dirty="0"/>
          </a:p>
        </p:txBody>
      </p:sp>
      <p:sp>
        <p:nvSpPr>
          <p:cNvPr id="11" name="Text 9"/>
          <p:cNvSpPr txBox="1"/>
          <p:nvPr/>
        </p:nvSpPr>
        <p:spPr>
          <a:xfrm>
            <a:off x="4568952" y="2035892"/>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Usually treated with surgery, sometimes with radiotherapy added afterwards, depending on the pathology.</a:t>
            </a:r>
            <a:endParaRPr lang="en-GB" sz="1800" noProof="0" dirty="0"/>
          </a:p>
        </p:txBody>
      </p:sp>
      <p:sp>
        <p:nvSpPr>
          <p:cNvPr id="12" name="Shape 10"/>
          <p:cNvSpPr/>
          <p:nvPr/>
        </p:nvSpPr>
        <p:spPr>
          <a:xfrm>
            <a:off x="8058912" y="1397792"/>
            <a:ext cx="3563112" cy="3927970"/>
          </a:xfrm>
          <a:prstGeom prst="roundRect">
            <a:avLst>
              <a:gd name="adj" fmla="val 3000"/>
            </a:avLst>
          </a:prstGeom>
          <a:solidFill>
            <a:srgbClr val="FFF2DF"/>
          </a:solidFill>
          <a:ln w="12700">
            <a:solidFill>
              <a:srgbClr val="E8DDC7"/>
            </a:solidFill>
            <a:prstDash val="solid"/>
          </a:ln>
        </p:spPr>
        <p:txBody>
          <a:bodyPr/>
          <a:lstStyle/>
          <a:p>
            <a:endParaRPr lang="en-GB" noProof="0" dirty="0"/>
          </a:p>
        </p:txBody>
      </p:sp>
      <p:sp>
        <p:nvSpPr>
          <p:cNvPr id="13" name="Text 11"/>
          <p:cNvSpPr txBox="1"/>
          <p:nvPr/>
        </p:nvSpPr>
        <p:spPr>
          <a:xfrm>
            <a:off x="8314944" y="1432388"/>
            <a:ext cx="3051048" cy="566928"/>
          </a:xfrm>
          <a:prstGeom prst="rect">
            <a:avLst/>
          </a:prstGeom>
          <a:noFill/>
          <a:ln/>
        </p:spPr>
        <p:txBody>
          <a:bodyPr wrap="square" lIns="0" tIns="0" rIns="0" bIns="0" rtlCol="0" anchor="ctr"/>
          <a:lstStyle/>
          <a:p>
            <a:pPr marL="0" indent="0">
              <a:buNone/>
            </a:pPr>
            <a:r>
              <a:rPr lang="en-GB" sz="2000" b="1" noProof="0" dirty="0">
                <a:solidFill>
                  <a:srgbClr val="7B5727"/>
                </a:solidFill>
                <a:latin typeface="Calibri" pitchFamily="34" charset="0"/>
                <a:ea typeface="Calibri" pitchFamily="34" charset="-122"/>
                <a:cs typeface="Calibri" pitchFamily="34" charset="-120"/>
              </a:rPr>
              <a:t>🟠  Locally advanced cancer</a:t>
            </a:r>
            <a:endParaRPr lang="en-GB" sz="2000" noProof="0" dirty="0"/>
          </a:p>
        </p:txBody>
      </p:sp>
      <p:sp>
        <p:nvSpPr>
          <p:cNvPr id="14" name="Text 12"/>
          <p:cNvSpPr txBox="1"/>
          <p:nvPr/>
        </p:nvSpPr>
        <p:spPr>
          <a:xfrm>
            <a:off x="8314944" y="2035892"/>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Treated with radiotherapy and chemotherapy together, followed by brachytherapy.</a:t>
            </a:r>
            <a:endParaRPr lang="en-GB" sz="1800" noProof="0" dirty="0"/>
          </a:p>
        </p:txBody>
      </p:sp>
      <p:sp>
        <p:nvSpPr>
          <p:cNvPr id="15" name="Shape 13"/>
          <p:cNvSpPr/>
          <p:nvPr/>
        </p:nvSpPr>
        <p:spPr>
          <a:xfrm>
            <a:off x="566928" y="5540773"/>
            <a:ext cx="11055096" cy="786384"/>
          </a:xfrm>
          <a:prstGeom prst="roundRect">
            <a:avLst>
              <a:gd name="adj" fmla="val 8140"/>
            </a:avLst>
          </a:prstGeom>
          <a:solidFill>
            <a:srgbClr val="ECF3FD"/>
          </a:solidFill>
          <a:ln w="12700">
            <a:solidFill>
              <a:srgbClr val="E0E3EA"/>
            </a:solidFill>
            <a:prstDash val="solid"/>
          </a:ln>
        </p:spPr>
        <p:txBody>
          <a:bodyPr/>
          <a:lstStyle/>
          <a:p>
            <a:endParaRPr lang="en-GB" noProof="0" dirty="0"/>
          </a:p>
        </p:txBody>
      </p:sp>
      <p:sp>
        <p:nvSpPr>
          <p:cNvPr id="16" name="Text 14"/>
          <p:cNvSpPr txBox="1"/>
          <p:nvPr/>
        </p:nvSpPr>
        <p:spPr>
          <a:xfrm>
            <a:off x="841248" y="5595637"/>
            <a:ext cx="10506456" cy="676656"/>
          </a:xfrm>
          <a:prstGeom prst="rect">
            <a:avLst/>
          </a:prstGeom>
          <a:noFill/>
          <a:ln/>
        </p:spPr>
        <p:txBody>
          <a:bodyPr wrap="square" lIns="0" tIns="0" rIns="0" bIns="0" rtlCol="0" anchor="ctr"/>
          <a:lstStyle/>
          <a:p>
            <a:pPr marL="0" indent="0">
              <a:lnSpc>
                <a:spcPct val="104000"/>
              </a:lnSpc>
              <a:buNone/>
            </a:pPr>
            <a:r>
              <a:rPr lang="en-GB" sz="1800" b="1" noProof="0" dirty="0">
                <a:solidFill>
                  <a:srgbClr val="10305A"/>
                </a:solidFill>
                <a:latin typeface="Calibri" pitchFamily="34" charset="0"/>
                <a:ea typeface="Calibri" pitchFamily="34" charset="-122"/>
                <a:cs typeface="Calibri" pitchFamily="34" charset="-120"/>
              </a:rPr>
              <a:t>📌 Your role:  </a:t>
            </a:r>
            <a:r>
              <a:rPr lang="en-GB" sz="1800" noProof="0" dirty="0">
                <a:solidFill>
                  <a:srgbClr val="23303F"/>
                </a:solidFill>
                <a:latin typeface="Calibri" pitchFamily="34" charset="0"/>
                <a:ea typeface="Calibri" pitchFamily="34" charset="-122"/>
                <a:cs typeface="Calibri" pitchFamily="34" charset="-120"/>
              </a:rPr>
              <a:t>You do not select the treatment. You explain what each one is for, support the woman through it, and recognise when something needs escalating.</a:t>
            </a:r>
            <a:endParaRPr lang="en-GB" sz="1800" noProof="0" dirty="0"/>
          </a:p>
        </p:txBody>
      </p:sp>
      <p:pic>
        <p:nvPicPr>
          <p:cNvPr id="21" name="Imagen 20" descr="gallery/cervical_cancer_treatment.webp">
            <a:extLst>
              <a:ext uri="{FF2B5EF4-FFF2-40B4-BE49-F238E27FC236}">
                <a16:creationId xmlns:a16="http://schemas.microsoft.com/office/drawing/2014/main" id="{5D038D89-FE4F-9229-AF88-CDAC39E3C999}"/>
              </a:ext>
            </a:extLst>
          </p:cNvPr>
          <p:cNvPicPr>
            <a:picLocks noChangeAspect="1"/>
          </p:cNvPicPr>
          <p:nvPr/>
        </p:nvPicPr>
        <p:blipFill>
          <a:blip r:embed="rId3"/>
          <a:stretch>
            <a:fillRect/>
          </a:stretch>
        </p:blipFill>
        <p:spPr>
          <a:xfrm>
            <a:off x="8314944" y="3609769"/>
            <a:ext cx="3086972" cy="958026"/>
          </a:xfrm>
          <a:prstGeom prst="rect">
            <a:avLst/>
          </a:prstGeom>
        </p:spPr>
      </p:pic>
      <p:pic>
        <p:nvPicPr>
          <p:cNvPr id="22" name="Imagen 21">
            <a:extLst>
              <a:ext uri="{FF2B5EF4-FFF2-40B4-BE49-F238E27FC236}">
                <a16:creationId xmlns:a16="http://schemas.microsoft.com/office/drawing/2014/main" id="{9AB1D53A-81EC-78A0-59E3-C66E4256EB59}"/>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53250" y="3645372"/>
            <a:ext cx="3190467" cy="990145"/>
          </a:xfrm>
          <a:prstGeom prst="rect">
            <a:avLst/>
          </a:prstGeom>
        </p:spPr>
      </p:pic>
      <p:pic>
        <p:nvPicPr>
          <p:cNvPr id="23" name="Imagen 22">
            <a:extLst>
              <a:ext uri="{FF2B5EF4-FFF2-40B4-BE49-F238E27FC236}">
                <a16:creationId xmlns:a16="http://schemas.microsoft.com/office/drawing/2014/main" id="{574977EB-52F0-6A3F-2349-0D5D9A48469D}"/>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479036" y="3710483"/>
            <a:ext cx="3233928" cy="1003633"/>
          </a:xfrm>
          <a:prstGeom prst="rect">
            <a:avLst/>
          </a:prstGeom>
        </p:spPr>
      </p:pic>
      <p:pic>
        <p:nvPicPr>
          <p:cNvPr id="24" name="Imagen 23" descr="gallery/cervical_cancer_treatment.webp">
            <a:extLst>
              <a:ext uri="{FF2B5EF4-FFF2-40B4-BE49-F238E27FC236}">
                <a16:creationId xmlns:a16="http://schemas.microsoft.com/office/drawing/2014/main" id="{87D47582-B717-EA5D-1FC8-0F242822B80A}"/>
              </a:ext>
            </a:extLst>
          </p:cNvPr>
          <p:cNvPicPr>
            <a:picLocks noChangeAspect="1"/>
          </p:cNvPicPr>
          <p:nvPr/>
        </p:nvPicPr>
        <p:blipFill>
          <a:blip r:embed="rId3"/>
          <a:stretch>
            <a:fillRect/>
          </a:stretch>
        </p:blipFill>
        <p:spPr>
          <a:xfrm>
            <a:off x="8214022" y="3708056"/>
            <a:ext cx="3241748" cy="1006060"/>
          </a:xfrm>
          <a:prstGeom prst="rect">
            <a:avLst/>
          </a:prstGeom>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147</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4 · TREATMENT</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Surgery</a:t>
            </a:r>
            <a:endParaRPr lang="en-GB" sz="3200" noProof="0" dirty="0"/>
          </a:p>
        </p:txBody>
      </p:sp>
      <p:sp>
        <p:nvSpPr>
          <p:cNvPr id="6" name="Shape 4"/>
          <p:cNvSpPr/>
          <p:nvPr/>
        </p:nvSpPr>
        <p:spPr>
          <a:xfrm>
            <a:off x="566928" y="1393674"/>
            <a:ext cx="5325505" cy="770465"/>
          </a:xfrm>
          <a:prstGeom prst="roundRect">
            <a:avLst>
              <a:gd name="adj" fmla="val 8308"/>
            </a:avLst>
          </a:prstGeom>
          <a:solidFill>
            <a:srgbClr val="F3F6FB"/>
          </a:solidFill>
          <a:ln w="12700">
            <a:solidFill>
              <a:srgbClr val="E0E3EA"/>
            </a:solidFill>
            <a:prstDash val="solid"/>
          </a:ln>
        </p:spPr>
        <p:txBody>
          <a:bodyPr/>
          <a:lstStyle/>
          <a:p>
            <a:endParaRPr lang="en-GB" sz="1600" noProof="0" dirty="0"/>
          </a:p>
        </p:txBody>
      </p:sp>
      <p:sp>
        <p:nvSpPr>
          <p:cNvPr id="7" name="Text 5"/>
          <p:cNvSpPr txBox="1"/>
          <p:nvPr/>
        </p:nvSpPr>
        <p:spPr>
          <a:xfrm>
            <a:off x="687527" y="1393674"/>
            <a:ext cx="264293" cy="770465"/>
          </a:xfrm>
          <a:prstGeom prst="rect">
            <a:avLst/>
          </a:prstGeom>
          <a:noFill/>
          <a:ln/>
        </p:spPr>
        <p:txBody>
          <a:bodyPr wrap="square" lIns="0" tIns="0" rIns="0" bIns="0" rtlCol="0" anchor="ctr"/>
          <a:lstStyle/>
          <a:p>
            <a:pPr marL="0" indent="0" algn="ctr">
              <a:buNone/>
            </a:pPr>
            <a:r>
              <a:rPr lang="en-GB" noProof="0" dirty="0">
                <a:solidFill>
                  <a:srgbClr val="000000"/>
                </a:solidFill>
                <a:latin typeface="Calibri" pitchFamily="34" charset="0"/>
                <a:ea typeface="Calibri" pitchFamily="34" charset="-122"/>
                <a:cs typeface="Calibri" pitchFamily="34" charset="-120"/>
              </a:rPr>
              <a:t>✂️</a:t>
            </a:r>
            <a:endParaRPr lang="en-GB" noProof="0" dirty="0"/>
          </a:p>
        </p:txBody>
      </p:sp>
      <p:sp>
        <p:nvSpPr>
          <p:cNvPr id="8" name="Text 6"/>
          <p:cNvSpPr txBox="1"/>
          <p:nvPr/>
        </p:nvSpPr>
        <p:spPr>
          <a:xfrm>
            <a:off x="1055261" y="1448538"/>
            <a:ext cx="4752871" cy="660737"/>
          </a:xfrm>
          <a:prstGeom prst="rect">
            <a:avLst/>
          </a:prstGeom>
          <a:noFill/>
          <a:ln/>
        </p:spPr>
        <p:txBody>
          <a:bodyPr wrap="square" lIns="0" tIns="0" rIns="0" bIns="0" rtlCol="0" anchor="ctr"/>
          <a:lstStyle/>
          <a:p>
            <a:pPr marL="0" indent="0">
              <a:lnSpc>
                <a:spcPct val="104000"/>
              </a:lnSpc>
              <a:buNone/>
            </a:pPr>
            <a:r>
              <a:rPr lang="en-GB" sz="1600" noProof="0" dirty="0">
                <a:solidFill>
                  <a:srgbClr val="23303F"/>
                </a:solidFill>
                <a:latin typeface="Calibri" pitchFamily="34" charset="0"/>
                <a:ea typeface="Calibri" pitchFamily="34" charset="-122"/>
                <a:cs typeface="Calibri" pitchFamily="34" charset="-120"/>
              </a:rPr>
              <a:t>Surgery removes the cancerous tissue.</a:t>
            </a:r>
            <a:endParaRPr lang="en-GB" sz="1600" noProof="0" dirty="0"/>
          </a:p>
        </p:txBody>
      </p:sp>
      <p:sp>
        <p:nvSpPr>
          <p:cNvPr id="9" name="Shape 7"/>
          <p:cNvSpPr/>
          <p:nvPr/>
        </p:nvSpPr>
        <p:spPr>
          <a:xfrm>
            <a:off x="566928" y="2269525"/>
            <a:ext cx="5325505" cy="982801"/>
          </a:xfrm>
          <a:prstGeom prst="roundRect">
            <a:avLst>
              <a:gd name="adj" fmla="val 8308"/>
            </a:avLst>
          </a:prstGeom>
          <a:solidFill>
            <a:srgbClr val="F3F6FB"/>
          </a:solidFill>
          <a:ln w="12700">
            <a:solidFill>
              <a:srgbClr val="E0E3EA"/>
            </a:solidFill>
            <a:prstDash val="solid"/>
          </a:ln>
        </p:spPr>
        <p:txBody>
          <a:bodyPr/>
          <a:lstStyle/>
          <a:p>
            <a:endParaRPr lang="en-GB" sz="1600" noProof="0" dirty="0"/>
          </a:p>
        </p:txBody>
      </p:sp>
      <p:sp>
        <p:nvSpPr>
          <p:cNvPr id="10" name="Text 8"/>
          <p:cNvSpPr txBox="1"/>
          <p:nvPr/>
        </p:nvSpPr>
        <p:spPr>
          <a:xfrm>
            <a:off x="701594" y="2390969"/>
            <a:ext cx="264293" cy="770465"/>
          </a:xfrm>
          <a:prstGeom prst="rect">
            <a:avLst/>
          </a:prstGeom>
          <a:noFill/>
          <a:ln/>
        </p:spPr>
        <p:txBody>
          <a:bodyPr wrap="square" lIns="0" tIns="0" rIns="0" bIns="0" rtlCol="0" anchor="ctr"/>
          <a:lstStyle/>
          <a:p>
            <a:pPr marL="0" indent="0" algn="ctr">
              <a:buNone/>
            </a:pPr>
            <a:r>
              <a:rPr lang="en-GB" noProof="0" dirty="0">
                <a:solidFill>
                  <a:srgbClr val="000000"/>
                </a:solidFill>
                <a:latin typeface="Calibri" pitchFamily="34" charset="0"/>
                <a:ea typeface="Calibri" pitchFamily="34" charset="-122"/>
                <a:cs typeface="Calibri" pitchFamily="34" charset="-120"/>
              </a:rPr>
              <a:t>🔵</a:t>
            </a:r>
            <a:endParaRPr lang="en-GB" noProof="0" dirty="0"/>
          </a:p>
        </p:txBody>
      </p:sp>
      <p:sp>
        <p:nvSpPr>
          <p:cNvPr id="11" name="Text 9"/>
          <p:cNvSpPr txBox="1"/>
          <p:nvPr/>
        </p:nvSpPr>
        <p:spPr>
          <a:xfrm>
            <a:off x="1055261" y="2544068"/>
            <a:ext cx="4752871" cy="660737"/>
          </a:xfrm>
          <a:prstGeom prst="rect">
            <a:avLst/>
          </a:prstGeom>
          <a:noFill/>
          <a:ln/>
        </p:spPr>
        <p:txBody>
          <a:bodyPr wrap="square" lIns="0" tIns="0" rIns="0" bIns="0" rtlCol="0" anchor="ctr"/>
          <a:lstStyle/>
          <a:p>
            <a:pPr>
              <a:lnSpc>
                <a:spcPct val="104000"/>
              </a:lnSpc>
            </a:pPr>
            <a:r>
              <a:rPr lang="en-GB" sz="1600" noProof="0" dirty="0">
                <a:solidFill>
                  <a:srgbClr val="23303F"/>
                </a:solidFill>
                <a:latin typeface="Calibri" pitchFamily="34" charset="0"/>
                <a:ea typeface="Calibri" pitchFamily="34" charset="-122"/>
                <a:cs typeface="Calibri" pitchFamily="34" charset="-120"/>
              </a:rPr>
              <a:t>It is used mainly for selected early-stage cervical cancers. Specialist assessment decides whether surgery is appropriate.</a:t>
            </a:r>
            <a:endParaRPr lang="en-GB" sz="1600" noProof="0" dirty="0"/>
          </a:p>
          <a:p>
            <a:pPr marL="0" indent="0">
              <a:lnSpc>
                <a:spcPct val="104000"/>
              </a:lnSpc>
              <a:buNone/>
            </a:pPr>
            <a:endParaRPr lang="en-GB" sz="1600" noProof="0" dirty="0"/>
          </a:p>
        </p:txBody>
      </p:sp>
      <p:sp>
        <p:nvSpPr>
          <p:cNvPr id="12" name="Shape 10"/>
          <p:cNvSpPr/>
          <p:nvPr/>
        </p:nvSpPr>
        <p:spPr>
          <a:xfrm>
            <a:off x="6437909" y="1441025"/>
            <a:ext cx="5285629" cy="770465"/>
          </a:xfrm>
          <a:prstGeom prst="roundRect">
            <a:avLst>
              <a:gd name="adj" fmla="val 8308"/>
            </a:avLst>
          </a:prstGeom>
          <a:solidFill>
            <a:srgbClr val="F3F6FB"/>
          </a:solidFill>
          <a:ln w="12700">
            <a:solidFill>
              <a:srgbClr val="E0E3EA"/>
            </a:solidFill>
            <a:prstDash val="solid"/>
          </a:ln>
        </p:spPr>
        <p:txBody>
          <a:bodyPr/>
          <a:lstStyle/>
          <a:p>
            <a:endParaRPr lang="en-GB" sz="1600" noProof="0" dirty="0"/>
          </a:p>
        </p:txBody>
      </p:sp>
      <p:sp>
        <p:nvSpPr>
          <p:cNvPr id="13" name="Text 11"/>
          <p:cNvSpPr txBox="1"/>
          <p:nvPr/>
        </p:nvSpPr>
        <p:spPr>
          <a:xfrm>
            <a:off x="6558509" y="1441025"/>
            <a:ext cx="262314" cy="770465"/>
          </a:xfrm>
          <a:prstGeom prst="rect">
            <a:avLst/>
          </a:prstGeom>
          <a:noFill/>
          <a:ln/>
        </p:spPr>
        <p:txBody>
          <a:bodyPr wrap="square" lIns="0" tIns="0" rIns="0" bIns="0" rtlCol="0" anchor="ctr"/>
          <a:lstStyle/>
          <a:p>
            <a:pPr marL="0" indent="0" algn="ctr">
              <a:buNone/>
            </a:pPr>
            <a:r>
              <a:rPr lang="en-GB" noProof="0" dirty="0">
                <a:solidFill>
                  <a:srgbClr val="000000"/>
                </a:solidFill>
                <a:latin typeface="Calibri" pitchFamily="34" charset="0"/>
                <a:ea typeface="Calibri" pitchFamily="34" charset="-122"/>
                <a:cs typeface="Calibri" pitchFamily="34" charset="-120"/>
              </a:rPr>
              <a:t>📏</a:t>
            </a:r>
            <a:endParaRPr lang="en-GB" noProof="0" dirty="0"/>
          </a:p>
        </p:txBody>
      </p:sp>
      <p:sp>
        <p:nvSpPr>
          <p:cNvPr id="14" name="Text 12"/>
          <p:cNvSpPr txBox="1"/>
          <p:nvPr/>
        </p:nvSpPr>
        <p:spPr>
          <a:xfrm>
            <a:off x="6913886" y="1495889"/>
            <a:ext cx="4717282" cy="660737"/>
          </a:xfrm>
          <a:prstGeom prst="rect">
            <a:avLst/>
          </a:prstGeom>
          <a:noFill/>
          <a:ln/>
        </p:spPr>
        <p:txBody>
          <a:bodyPr wrap="square" lIns="0" tIns="0" rIns="0" bIns="0" rtlCol="0" anchor="ctr"/>
          <a:lstStyle/>
          <a:p>
            <a:pPr marL="0" indent="0">
              <a:lnSpc>
                <a:spcPct val="104000"/>
              </a:lnSpc>
              <a:buNone/>
            </a:pPr>
            <a:r>
              <a:rPr lang="en-GB" sz="1600" noProof="0" dirty="0">
                <a:solidFill>
                  <a:srgbClr val="23303F"/>
                </a:solidFill>
                <a:latin typeface="Calibri" pitchFamily="34" charset="0"/>
                <a:ea typeface="Calibri" pitchFamily="34" charset="-122"/>
                <a:cs typeface="Calibri" pitchFamily="34" charset="-120"/>
              </a:rPr>
              <a:t>How much is removed depends on the stage and the individual situation.</a:t>
            </a:r>
            <a:endParaRPr lang="en-GB" sz="1600" noProof="0" dirty="0"/>
          </a:p>
        </p:txBody>
      </p:sp>
      <p:sp>
        <p:nvSpPr>
          <p:cNvPr id="15" name="Shape 13"/>
          <p:cNvSpPr/>
          <p:nvPr/>
        </p:nvSpPr>
        <p:spPr>
          <a:xfrm>
            <a:off x="6437909" y="2343361"/>
            <a:ext cx="5285629" cy="943464"/>
          </a:xfrm>
          <a:prstGeom prst="roundRect">
            <a:avLst>
              <a:gd name="adj" fmla="val 8308"/>
            </a:avLst>
          </a:prstGeom>
          <a:solidFill>
            <a:srgbClr val="F3F6FB"/>
          </a:solidFill>
          <a:ln w="12700">
            <a:solidFill>
              <a:srgbClr val="E0E3EA"/>
            </a:solidFill>
            <a:prstDash val="solid"/>
          </a:ln>
        </p:spPr>
        <p:txBody>
          <a:bodyPr/>
          <a:lstStyle/>
          <a:p>
            <a:endParaRPr lang="en-GB" sz="1600" noProof="0" dirty="0"/>
          </a:p>
        </p:txBody>
      </p:sp>
      <p:sp>
        <p:nvSpPr>
          <p:cNvPr id="16" name="Text 14"/>
          <p:cNvSpPr txBox="1"/>
          <p:nvPr/>
        </p:nvSpPr>
        <p:spPr>
          <a:xfrm>
            <a:off x="6558509" y="2481861"/>
            <a:ext cx="262314" cy="770465"/>
          </a:xfrm>
          <a:prstGeom prst="rect">
            <a:avLst/>
          </a:prstGeom>
          <a:noFill/>
          <a:ln/>
        </p:spPr>
        <p:txBody>
          <a:bodyPr wrap="square" lIns="0" tIns="0" rIns="0" bIns="0" rtlCol="0" anchor="ctr"/>
          <a:lstStyle/>
          <a:p>
            <a:pPr marL="0" indent="0" algn="ctr">
              <a:buNone/>
            </a:pPr>
            <a:r>
              <a:rPr lang="en-GB" noProof="0" dirty="0">
                <a:solidFill>
                  <a:srgbClr val="000000"/>
                </a:solidFill>
                <a:latin typeface="Calibri" pitchFamily="34" charset="0"/>
                <a:ea typeface="Calibri" pitchFamily="34" charset="-122"/>
                <a:cs typeface="Calibri" pitchFamily="34" charset="-120"/>
              </a:rPr>
              <a:t>👶</a:t>
            </a:r>
            <a:endParaRPr lang="en-GB" noProof="0" dirty="0"/>
          </a:p>
        </p:txBody>
      </p:sp>
      <p:sp>
        <p:nvSpPr>
          <p:cNvPr id="17" name="Text 15"/>
          <p:cNvSpPr txBox="1"/>
          <p:nvPr/>
        </p:nvSpPr>
        <p:spPr>
          <a:xfrm>
            <a:off x="6913886" y="2335557"/>
            <a:ext cx="4717282" cy="943464"/>
          </a:xfrm>
          <a:prstGeom prst="rect">
            <a:avLst/>
          </a:prstGeom>
          <a:noFill/>
          <a:ln/>
        </p:spPr>
        <p:txBody>
          <a:bodyPr wrap="square" lIns="0" tIns="0" rIns="0" bIns="0" rtlCol="0" anchor="ctr"/>
          <a:lstStyle/>
          <a:p>
            <a:pPr marL="0" indent="0">
              <a:lnSpc>
                <a:spcPct val="104000"/>
              </a:lnSpc>
              <a:buNone/>
            </a:pPr>
            <a:r>
              <a:rPr lang="en-GB" sz="1600" noProof="0" dirty="0">
                <a:solidFill>
                  <a:srgbClr val="23303F"/>
                </a:solidFill>
                <a:latin typeface="Calibri" pitchFamily="34" charset="0"/>
                <a:ea typeface="Calibri" pitchFamily="34" charset="-122"/>
                <a:cs typeface="Calibri" pitchFamily="34" charset="-120"/>
              </a:rPr>
              <a:t>Some procedures affect fertility. A woman who wants future pregnancy should say so before treatment is planned.</a:t>
            </a:r>
            <a:endParaRPr lang="en-GB" sz="1600" noProof="0" dirty="0"/>
          </a:p>
        </p:txBody>
      </p:sp>
      <p:sp>
        <p:nvSpPr>
          <p:cNvPr id="18" name="Shape 16"/>
          <p:cNvSpPr/>
          <p:nvPr/>
        </p:nvSpPr>
        <p:spPr>
          <a:xfrm>
            <a:off x="566928" y="5770608"/>
            <a:ext cx="11055096" cy="510087"/>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21" name="Shape 19"/>
          <p:cNvSpPr/>
          <p:nvPr/>
        </p:nvSpPr>
        <p:spPr>
          <a:xfrm>
            <a:off x="566928" y="5656533"/>
            <a:ext cx="11055096" cy="660738"/>
          </a:xfrm>
          <a:prstGeom prst="roundRect">
            <a:avLst>
              <a:gd name="adj" fmla="val 8140"/>
            </a:avLst>
          </a:prstGeom>
          <a:solidFill>
            <a:srgbClr val="EAF7F0"/>
          </a:solidFill>
          <a:ln w="12700">
            <a:solidFill>
              <a:srgbClr val="C0D4CB"/>
            </a:solidFill>
            <a:prstDash val="solid"/>
          </a:ln>
        </p:spPr>
        <p:txBody>
          <a:bodyPr/>
          <a:lstStyle/>
          <a:p>
            <a:endParaRPr lang="en-GB" noProof="0" dirty="0"/>
          </a:p>
        </p:txBody>
      </p:sp>
      <p:sp>
        <p:nvSpPr>
          <p:cNvPr id="22" name="Text 20"/>
          <p:cNvSpPr txBox="1"/>
          <p:nvPr/>
        </p:nvSpPr>
        <p:spPr>
          <a:xfrm>
            <a:off x="841248" y="5777354"/>
            <a:ext cx="10506456" cy="447981"/>
          </a:xfrm>
          <a:prstGeom prst="rect">
            <a:avLst/>
          </a:prstGeom>
          <a:noFill/>
          <a:ln/>
        </p:spPr>
        <p:txBody>
          <a:bodyPr wrap="square" lIns="0" tIns="0" rIns="0" bIns="0" rtlCol="0" anchor="ctr"/>
          <a:lstStyle/>
          <a:p>
            <a:pPr marL="0" indent="0">
              <a:lnSpc>
                <a:spcPct val="104000"/>
              </a:lnSpc>
              <a:buNone/>
            </a:pPr>
            <a:r>
              <a:rPr lang="en-GB" sz="1800" b="1" noProof="0" dirty="0">
                <a:solidFill>
                  <a:srgbClr val="19543E"/>
                </a:solidFill>
                <a:latin typeface="Calibri" pitchFamily="34" charset="0"/>
                <a:ea typeface="Calibri" pitchFamily="34" charset="-122"/>
                <a:cs typeface="Calibri" pitchFamily="34" charset="-120"/>
              </a:rPr>
              <a:t>💬 Say it this way:  </a:t>
            </a:r>
            <a:r>
              <a:rPr lang="en-GB" sz="1800" noProof="0" dirty="0">
                <a:solidFill>
                  <a:srgbClr val="23303F"/>
                </a:solidFill>
                <a:latin typeface="Calibri" pitchFamily="34" charset="0"/>
                <a:ea typeface="Calibri" pitchFamily="34" charset="-122"/>
                <a:cs typeface="Calibri" pitchFamily="34" charset="-120"/>
              </a:rPr>
              <a:t>Early cervical cancer is treated with the intention of cure. Be honest that treatment is demanding and takes time.</a:t>
            </a:r>
            <a:endParaRPr lang="en-GB" sz="1800" noProof="0" dirty="0"/>
          </a:p>
        </p:txBody>
      </p:sp>
      <p:pic>
        <p:nvPicPr>
          <p:cNvPr id="19" name="Imagen 18">
            <a:extLst>
              <a:ext uri="{FF2B5EF4-FFF2-40B4-BE49-F238E27FC236}">
                <a16:creationId xmlns:a16="http://schemas.microsoft.com/office/drawing/2014/main" id="{A501D15C-B01A-CBF8-F5A9-ED3383BE063C}"/>
              </a:ext>
            </a:extLst>
          </p:cNvPr>
          <p:cNvPicPr>
            <a:picLocks noChangeAspect="1"/>
          </p:cNvPicPr>
          <p:nvPr/>
        </p:nvPicPr>
        <p:blipFill>
          <a:blip r:embed="rId3"/>
          <a:stretch>
            <a:fillRect/>
          </a:stretch>
        </p:blipFill>
        <p:spPr>
          <a:xfrm>
            <a:off x="2837792" y="3357712"/>
            <a:ext cx="6735029" cy="2247079"/>
          </a:xfrm>
          <a:prstGeom prst="rect">
            <a:avLst/>
          </a:prstGeom>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148</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4 · TREATMENT</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Radiotherapy</a:t>
            </a:r>
            <a:endParaRPr lang="en-GB" sz="3200" noProof="0" dirty="0"/>
          </a:p>
        </p:txBody>
      </p:sp>
      <p:sp>
        <p:nvSpPr>
          <p:cNvPr id="6" name="Shape 4"/>
          <p:cNvSpPr/>
          <p:nvPr/>
        </p:nvSpPr>
        <p:spPr>
          <a:xfrm>
            <a:off x="566928" y="1445387"/>
            <a:ext cx="3563112" cy="1297452"/>
          </a:xfrm>
          <a:prstGeom prst="roundRect">
            <a:avLst>
              <a:gd name="adj" fmla="val 3000"/>
            </a:avLst>
          </a:prstGeom>
          <a:solidFill>
            <a:srgbClr val="F3F6FB"/>
          </a:solidFill>
          <a:ln w="12700">
            <a:solidFill>
              <a:srgbClr val="E0E3EA"/>
            </a:solidFill>
            <a:prstDash val="solid"/>
          </a:ln>
        </p:spPr>
        <p:txBody>
          <a:bodyPr/>
          <a:lstStyle/>
          <a:p>
            <a:endParaRPr lang="en-GB" sz="1600" noProof="0" dirty="0"/>
          </a:p>
        </p:txBody>
      </p:sp>
      <p:sp>
        <p:nvSpPr>
          <p:cNvPr id="7" name="Text 5"/>
          <p:cNvSpPr txBox="1"/>
          <p:nvPr/>
        </p:nvSpPr>
        <p:spPr>
          <a:xfrm>
            <a:off x="822960" y="1455269"/>
            <a:ext cx="3051048" cy="56692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  What it does</a:t>
            </a:r>
            <a:endParaRPr lang="en-GB" noProof="0" dirty="0"/>
          </a:p>
        </p:txBody>
      </p:sp>
      <p:sp>
        <p:nvSpPr>
          <p:cNvPr id="8" name="Text 6"/>
          <p:cNvSpPr txBox="1"/>
          <p:nvPr/>
        </p:nvSpPr>
        <p:spPr>
          <a:xfrm>
            <a:off x="822960" y="1910489"/>
            <a:ext cx="3051048" cy="832350"/>
          </a:xfrm>
          <a:prstGeom prst="rect">
            <a:avLst/>
          </a:prstGeom>
          <a:noFill/>
          <a:ln/>
        </p:spPr>
        <p:txBody>
          <a:bodyPr wrap="square" lIns="0" tIns="0" rIns="0" bIns="0" rtlCol="0" anchor="t"/>
          <a:lstStyle/>
          <a:p>
            <a:pPr marL="0" indent="0">
              <a:lnSpc>
                <a:spcPct val="106000"/>
              </a:lnSpc>
              <a:buNone/>
            </a:pPr>
            <a:r>
              <a:rPr lang="en-GB" sz="1600" noProof="0" dirty="0">
                <a:solidFill>
                  <a:srgbClr val="23303F"/>
                </a:solidFill>
                <a:latin typeface="Calibri" pitchFamily="34" charset="0"/>
                <a:ea typeface="Calibri" pitchFamily="34" charset="-122"/>
                <a:cs typeface="Calibri" pitchFamily="34" charset="-120"/>
              </a:rPr>
              <a:t>Ionising radiation damages the DNA of cancer cells so that they cannot continue to divide and survive.</a:t>
            </a:r>
            <a:endParaRPr lang="en-GB" sz="1600" noProof="0" dirty="0"/>
          </a:p>
        </p:txBody>
      </p:sp>
      <p:sp>
        <p:nvSpPr>
          <p:cNvPr id="9" name="Shape 7"/>
          <p:cNvSpPr/>
          <p:nvPr/>
        </p:nvSpPr>
        <p:spPr>
          <a:xfrm>
            <a:off x="569869" y="2839683"/>
            <a:ext cx="3563112" cy="1276435"/>
          </a:xfrm>
          <a:prstGeom prst="roundRect">
            <a:avLst>
              <a:gd name="adj" fmla="val 3000"/>
            </a:avLst>
          </a:prstGeom>
          <a:solidFill>
            <a:srgbClr val="F3F6FB"/>
          </a:solidFill>
          <a:ln w="12700">
            <a:solidFill>
              <a:srgbClr val="E0E3EA"/>
            </a:solidFill>
            <a:prstDash val="solid"/>
          </a:ln>
        </p:spPr>
        <p:txBody>
          <a:bodyPr/>
          <a:lstStyle/>
          <a:p>
            <a:endParaRPr lang="en-GB" sz="1600" noProof="0" dirty="0"/>
          </a:p>
        </p:txBody>
      </p:sp>
      <p:sp>
        <p:nvSpPr>
          <p:cNvPr id="10" name="Text 8"/>
          <p:cNvSpPr txBox="1"/>
          <p:nvPr/>
        </p:nvSpPr>
        <p:spPr>
          <a:xfrm>
            <a:off x="825901" y="2849565"/>
            <a:ext cx="3051048" cy="56692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  Where it acts</a:t>
            </a:r>
            <a:endParaRPr lang="en-GB" noProof="0" dirty="0"/>
          </a:p>
        </p:txBody>
      </p:sp>
      <p:sp>
        <p:nvSpPr>
          <p:cNvPr id="11" name="Text 9"/>
          <p:cNvSpPr txBox="1"/>
          <p:nvPr/>
        </p:nvSpPr>
        <p:spPr>
          <a:xfrm>
            <a:off x="825901" y="3304785"/>
            <a:ext cx="3051048" cy="811333"/>
          </a:xfrm>
          <a:prstGeom prst="rect">
            <a:avLst/>
          </a:prstGeom>
          <a:noFill/>
          <a:ln/>
        </p:spPr>
        <p:txBody>
          <a:bodyPr wrap="square" lIns="0" tIns="0" rIns="0" bIns="0" rtlCol="0" anchor="t"/>
          <a:lstStyle/>
          <a:p>
            <a:pPr marL="0" indent="0">
              <a:lnSpc>
                <a:spcPct val="106000"/>
              </a:lnSpc>
              <a:buNone/>
            </a:pPr>
            <a:r>
              <a:rPr lang="en-GB" sz="1600" noProof="0" dirty="0">
                <a:solidFill>
                  <a:srgbClr val="23303F"/>
                </a:solidFill>
                <a:latin typeface="Calibri" pitchFamily="34" charset="0"/>
                <a:ea typeface="Calibri" pitchFamily="34" charset="-122"/>
                <a:cs typeface="Calibri" pitchFamily="34" charset="-120"/>
              </a:rPr>
              <a:t>It acts locally, only where it is aimed. It is not a treatment that travels through the body.</a:t>
            </a:r>
            <a:endParaRPr lang="en-GB" sz="1600" noProof="0" dirty="0"/>
          </a:p>
        </p:txBody>
      </p:sp>
      <p:sp>
        <p:nvSpPr>
          <p:cNvPr id="12" name="Shape 10"/>
          <p:cNvSpPr/>
          <p:nvPr/>
        </p:nvSpPr>
        <p:spPr>
          <a:xfrm>
            <a:off x="566928" y="4227778"/>
            <a:ext cx="3563112" cy="1545178"/>
          </a:xfrm>
          <a:prstGeom prst="roundRect">
            <a:avLst>
              <a:gd name="adj" fmla="val 3000"/>
            </a:avLst>
          </a:prstGeom>
          <a:solidFill>
            <a:srgbClr val="F3F6FB"/>
          </a:solidFill>
          <a:ln w="12700">
            <a:solidFill>
              <a:srgbClr val="E0E3EA"/>
            </a:solidFill>
            <a:prstDash val="solid"/>
          </a:ln>
        </p:spPr>
        <p:txBody>
          <a:bodyPr/>
          <a:lstStyle/>
          <a:p>
            <a:endParaRPr lang="en-GB" sz="1600" noProof="0" dirty="0"/>
          </a:p>
        </p:txBody>
      </p:sp>
      <p:sp>
        <p:nvSpPr>
          <p:cNvPr id="13" name="Text 11"/>
          <p:cNvSpPr txBox="1"/>
          <p:nvPr/>
        </p:nvSpPr>
        <p:spPr>
          <a:xfrm>
            <a:off x="822960" y="4237660"/>
            <a:ext cx="3051048" cy="56692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  Where it fits</a:t>
            </a:r>
            <a:endParaRPr lang="en-GB" noProof="0" dirty="0"/>
          </a:p>
        </p:txBody>
      </p:sp>
      <p:sp>
        <p:nvSpPr>
          <p:cNvPr id="14" name="Text 12"/>
          <p:cNvSpPr txBox="1"/>
          <p:nvPr/>
        </p:nvSpPr>
        <p:spPr>
          <a:xfrm>
            <a:off x="822960" y="4692880"/>
            <a:ext cx="3051048" cy="1040775"/>
          </a:xfrm>
          <a:prstGeom prst="rect">
            <a:avLst/>
          </a:prstGeom>
          <a:noFill/>
          <a:ln/>
        </p:spPr>
        <p:txBody>
          <a:bodyPr wrap="square" lIns="0" tIns="0" rIns="0" bIns="0" rtlCol="0" anchor="t"/>
          <a:lstStyle/>
          <a:p>
            <a:pPr marL="0" indent="0">
              <a:lnSpc>
                <a:spcPct val="106000"/>
              </a:lnSpc>
              <a:buNone/>
            </a:pPr>
            <a:r>
              <a:rPr lang="en-GB" sz="1600" noProof="0" dirty="0">
                <a:solidFill>
                  <a:srgbClr val="23303F"/>
                </a:solidFill>
                <a:latin typeface="Calibri" pitchFamily="34" charset="0"/>
                <a:ea typeface="Calibri" pitchFamily="34" charset="-122"/>
                <a:cs typeface="Calibri" pitchFamily="34" charset="-120"/>
              </a:rPr>
              <a:t>External beam radiotherapy is delivered from outside the body, and is a major part of treatment for many cervical cancers.</a:t>
            </a:r>
            <a:endParaRPr lang="en-GB" sz="1600" noProof="0" dirty="0"/>
          </a:p>
        </p:txBody>
      </p:sp>
      <p:sp>
        <p:nvSpPr>
          <p:cNvPr id="15" name="Shape 13"/>
          <p:cNvSpPr/>
          <p:nvPr/>
        </p:nvSpPr>
        <p:spPr>
          <a:xfrm>
            <a:off x="566928" y="6023290"/>
            <a:ext cx="11055096" cy="353293"/>
          </a:xfrm>
          <a:prstGeom prst="roundRect">
            <a:avLst>
              <a:gd name="adj" fmla="val 8140"/>
            </a:avLst>
          </a:prstGeom>
          <a:solidFill>
            <a:srgbClr val="ECF3FD"/>
          </a:solidFill>
          <a:ln w="12700">
            <a:solidFill>
              <a:srgbClr val="E0E3EA"/>
            </a:solidFill>
            <a:prstDash val="solid"/>
          </a:ln>
        </p:spPr>
        <p:txBody>
          <a:bodyPr/>
          <a:lstStyle/>
          <a:p>
            <a:endParaRPr lang="en-GB" sz="1600" noProof="0" dirty="0"/>
          </a:p>
        </p:txBody>
      </p:sp>
      <p:sp>
        <p:nvSpPr>
          <p:cNvPr id="16" name="Text 14"/>
          <p:cNvSpPr txBox="1"/>
          <p:nvPr/>
        </p:nvSpPr>
        <p:spPr>
          <a:xfrm>
            <a:off x="668252" y="5988338"/>
            <a:ext cx="10962915" cy="477468"/>
          </a:xfrm>
          <a:prstGeom prst="rect">
            <a:avLst/>
          </a:prstGeom>
          <a:noFill/>
          <a:ln/>
        </p:spPr>
        <p:txBody>
          <a:bodyPr wrap="square" lIns="0" tIns="0" rIns="0" bIns="0" rtlCol="0" anchor="ctr"/>
          <a:lstStyle/>
          <a:p>
            <a:pPr marL="0" indent="0">
              <a:lnSpc>
                <a:spcPct val="104000"/>
              </a:lnSpc>
              <a:buNone/>
            </a:pPr>
            <a:r>
              <a:rPr lang="en-GB" sz="1400" b="1" noProof="0" dirty="0">
                <a:solidFill>
                  <a:srgbClr val="10305A"/>
                </a:solidFill>
                <a:latin typeface="Calibri" pitchFamily="34" charset="0"/>
                <a:ea typeface="Calibri" pitchFamily="34" charset="-122"/>
                <a:cs typeface="Calibri" pitchFamily="34" charset="-120"/>
              </a:rPr>
              <a:t>🔎 Also used for symptoms:  </a:t>
            </a:r>
            <a:r>
              <a:rPr lang="en-GB" sz="1400" noProof="0" dirty="0">
                <a:solidFill>
                  <a:srgbClr val="23303F"/>
                </a:solidFill>
                <a:latin typeface="Calibri" pitchFamily="34" charset="0"/>
                <a:ea typeface="Calibri" pitchFamily="34" charset="-122"/>
                <a:cs typeface="Calibri" pitchFamily="34" charset="-120"/>
              </a:rPr>
              <a:t>Radiotherapy is very effective at controlling bleeding from a cervical tumour, even when cure is not the aim.</a:t>
            </a:r>
            <a:endParaRPr lang="en-GB" sz="1400" noProof="0" dirty="0"/>
          </a:p>
        </p:txBody>
      </p:sp>
      <p:pic>
        <p:nvPicPr>
          <p:cNvPr id="17" name="Imagen 16">
            <a:extLst>
              <a:ext uri="{FF2B5EF4-FFF2-40B4-BE49-F238E27FC236}">
                <a16:creationId xmlns:a16="http://schemas.microsoft.com/office/drawing/2014/main" id="{05107BA3-EE4B-79BB-390F-DFC9AC4BC695}"/>
              </a:ext>
            </a:extLst>
          </p:cNvPr>
          <p:cNvPicPr>
            <a:picLocks noChangeAspect="1"/>
          </p:cNvPicPr>
          <p:nvPr/>
        </p:nvPicPr>
        <p:blipFill>
          <a:blip r:embed="rId3"/>
          <a:srcRect/>
          <a:stretch>
            <a:fillRect/>
          </a:stretch>
        </p:blipFill>
        <p:spPr>
          <a:xfrm>
            <a:off x="4639056" y="1455269"/>
            <a:ext cx="6565392" cy="4373465"/>
          </a:xfrm>
          <a:prstGeom prst="rect">
            <a:avLst/>
          </a:prstGeom>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149</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4 · TREATMENT</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Brachytherapy</a:t>
            </a:r>
            <a:endParaRPr lang="en-GB" sz="3200" noProof="0" dirty="0"/>
          </a:p>
        </p:txBody>
      </p:sp>
      <p:sp>
        <p:nvSpPr>
          <p:cNvPr id="6" name="Shape 4"/>
          <p:cNvSpPr/>
          <p:nvPr/>
        </p:nvSpPr>
        <p:spPr>
          <a:xfrm>
            <a:off x="566928" y="1385439"/>
            <a:ext cx="3563112" cy="1319206"/>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822960" y="1382963"/>
            <a:ext cx="3051048" cy="56692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  What it is</a:t>
            </a:r>
            <a:endParaRPr lang="en-GB" noProof="0" dirty="0"/>
          </a:p>
        </p:txBody>
      </p:sp>
      <p:sp>
        <p:nvSpPr>
          <p:cNvPr id="8" name="Text 6"/>
          <p:cNvSpPr txBox="1"/>
          <p:nvPr/>
        </p:nvSpPr>
        <p:spPr>
          <a:xfrm>
            <a:off x="822960" y="1875254"/>
            <a:ext cx="3051048" cy="829390"/>
          </a:xfrm>
          <a:prstGeom prst="rect">
            <a:avLst/>
          </a:prstGeom>
          <a:noFill/>
          <a:ln/>
        </p:spPr>
        <p:txBody>
          <a:bodyPr wrap="square" lIns="0" tIns="0" rIns="0" bIns="0" rtlCol="0" anchor="t"/>
          <a:lstStyle/>
          <a:p>
            <a:pPr marL="0" indent="0">
              <a:lnSpc>
                <a:spcPct val="106000"/>
              </a:lnSpc>
              <a:buNone/>
            </a:pPr>
            <a:r>
              <a:rPr lang="en-GB" sz="1600" noProof="0" dirty="0">
                <a:solidFill>
                  <a:srgbClr val="23303F"/>
                </a:solidFill>
                <a:latin typeface="Calibri" pitchFamily="34" charset="0"/>
                <a:ea typeface="Calibri" pitchFamily="34" charset="-122"/>
                <a:cs typeface="Calibri" pitchFamily="34" charset="-120"/>
              </a:rPr>
              <a:t>Radiation delivered from a source placed close to or within the cervix and the tumour.</a:t>
            </a:r>
            <a:endParaRPr lang="en-GB" sz="1600" noProof="0" dirty="0"/>
          </a:p>
        </p:txBody>
      </p:sp>
      <p:sp>
        <p:nvSpPr>
          <p:cNvPr id="9" name="Shape 7"/>
          <p:cNvSpPr/>
          <p:nvPr/>
        </p:nvSpPr>
        <p:spPr>
          <a:xfrm>
            <a:off x="568452" y="2850699"/>
            <a:ext cx="3563112" cy="1356277"/>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824484" y="2848224"/>
            <a:ext cx="3051048" cy="56692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  Why it matters</a:t>
            </a:r>
            <a:endParaRPr lang="en-GB" noProof="0" dirty="0"/>
          </a:p>
        </p:txBody>
      </p:sp>
      <p:sp>
        <p:nvSpPr>
          <p:cNvPr id="11" name="Text 9"/>
          <p:cNvSpPr txBox="1"/>
          <p:nvPr/>
        </p:nvSpPr>
        <p:spPr>
          <a:xfrm>
            <a:off x="824484" y="3340515"/>
            <a:ext cx="3051048" cy="829390"/>
          </a:xfrm>
          <a:prstGeom prst="rect">
            <a:avLst/>
          </a:prstGeom>
          <a:noFill/>
          <a:ln/>
        </p:spPr>
        <p:txBody>
          <a:bodyPr wrap="square" lIns="0" tIns="0" rIns="0" bIns="0" rtlCol="0" anchor="t"/>
          <a:lstStyle/>
          <a:p>
            <a:pPr marL="0" indent="0">
              <a:lnSpc>
                <a:spcPct val="106000"/>
              </a:lnSpc>
              <a:buNone/>
            </a:pPr>
            <a:r>
              <a:rPr lang="en-GB" sz="1600" noProof="0" dirty="0">
                <a:solidFill>
                  <a:srgbClr val="23303F"/>
                </a:solidFill>
                <a:latin typeface="Calibri" pitchFamily="34" charset="0"/>
                <a:ea typeface="Calibri" pitchFamily="34" charset="-122"/>
                <a:cs typeface="Calibri" pitchFamily="34" charset="-120"/>
              </a:rPr>
              <a:t>It gives a high dose directly to the tumour while limiting the dose to surrounding tissue.</a:t>
            </a:r>
            <a:endParaRPr lang="en-GB" sz="1600" noProof="0" dirty="0"/>
          </a:p>
        </p:txBody>
      </p:sp>
      <p:sp>
        <p:nvSpPr>
          <p:cNvPr id="12" name="Shape 10"/>
          <p:cNvSpPr/>
          <p:nvPr/>
        </p:nvSpPr>
        <p:spPr>
          <a:xfrm>
            <a:off x="585216" y="4367862"/>
            <a:ext cx="3563112" cy="1356277"/>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841248" y="4402458"/>
            <a:ext cx="3051048" cy="56692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  Where it fits</a:t>
            </a:r>
            <a:endParaRPr lang="en-GB" noProof="0" dirty="0"/>
          </a:p>
        </p:txBody>
      </p:sp>
      <p:sp>
        <p:nvSpPr>
          <p:cNvPr id="14" name="Text 12"/>
          <p:cNvSpPr txBox="1"/>
          <p:nvPr/>
        </p:nvSpPr>
        <p:spPr>
          <a:xfrm>
            <a:off x="841248" y="4894749"/>
            <a:ext cx="3051048" cy="829390"/>
          </a:xfrm>
          <a:prstGeom prst="rect">
            <a:avLst/>
          </a:prstGeom>
          <a:noFill/>
          <a:ln/>
        </p:spPr>
        <p:txBody>
          <a:bodyPr wrap="square" lIns="0" tIns="0" rIns="0" bIns="0" rtlCol="0" anchor="t"/>
          <a:lstStyle/>
          <a:p>
            <a:pPr marL="0" indent="0">
              <a:lnSpc>
                <a:spcPct val="106000"/>
              </a:lnSpc>
              <a:buNone/>
            </a:pPr>
            <a:r>
              <a:rPr lang="en-GB" sz="1600" noProof="0" dirty="0">
                <a:solidFill>
                  <a:srgbClr val="23303F"/>
                </a:solidFill>
                <a:latin typeface="Calibri" pitchFamily="34" charset="0"/>
                <a:ea typeface="Calibri" pitchFamily="34" charset="-122"/>
                <a:cs typeface="Calibri" pitchFamily="34" charset="-120"/>
              </a:rPr>
              <a:t>It is an essential part of curative radiotherapy for many women with locally advanced cervical cancer.</a:t>
            </a:r>
            <a:endParaRPr lang="en-GB" sz="1600" noProof="0" dirty="0"/>
          </a:p>
        </p:txBody>
      </p:sp>
      <p:sp>
        <p:nvSpPr>
          <p:cNvPr id="15" name="Shape 13"/>
          <p:cNvSpPr/>
          <p:nvPr/>
        </p:nvSpPr>
        <p:spPr>
          <a:xfrm>
            <a:off x="566928" y="5850671"/>
            <a:ext cx="11055096" cy="476485"/>
          </a:xfrm>
          <a:prstGeom prst="roundRect">
            <a:avLst>
              <a:gd name="adj" fmla="val 8140"/>
            </a:avLst>
          </a:prstGeom>
          <a:solidFill>
            <a:srgbClr val="FDE9E8"/>
          </a:solidFill>
          <a:ln w="12700">
            <a:solidFill>
              <a:srgbClr val="F0CFCE"/>
            </a:solidFill>
            <a:prstDash val="solid"/>
          </a:ln>
        </p:spPr>
        <p:txBody>
          <a:bodyPr/>
          <a:lstStyle/>
          <a:p>
            <a:endParaRPr lang="en-GB" sz="1400" noProof="0" dirty="0"/>
          </a:p>
        </p:txBody>
      </p:sp>
      <p:sp>
        <p:nvSpPr>
          <p:cNvPr id="16" name="Text 14"/>
          <p:cNvSpPr txBox="1"/>
          <p:nvPr/>
        </p:nvSpPr>
        <p:spPr>
          <a:xfrm>
            <a:off x="841248" y="5862293"/>
            <a:ext cx="10506456" cy="409999"/>
          </a:xfrm>
          <a:prstGeom prst="rect">
            <a:avLst/>
          </a:prstGeom>
          <a:noFill/>
          <a:ln/>
        </p:spPr>
        <p:txBody>
          <a:bodyPr wrap="square" lIns="0" tIns="0" rIns="0" bIns="0" rtlCol="0" anchor="ctr"/>
          <a:lstStyle/>
          <a:p>
            <a:pPr marL="0" indent="0">
              <a:lnSpc>
                <a:spcPct val="104000"/>
              </a:lnSpc>
              <a:buNone/>
            </a:pPr>
            <a:r>
              <a:rPr lang="en-GB" sz="1400" b="1" noProof="0" dirty="0">
                <a:solidFill>
                  <a:srgbClr val="8E2531"/>
                </a:solidFill>
                <a:latin typeface="Calibri" pitchFamily="34" charset="0"/>
                <a:ea typeface="Calibri" pitchFamily="34" charset="-122"/>
                <a:cs typeface="Calibri" pitchFamily="34" charset="-120"/>
              </a:rPr>
              <a:t>⚠️ Not optional:  </a:t>
            </a:r>
            <a:r>
              <a:rPr lang="en-GB" sz="1400" noProof="0" dirty="0">
                <a:solidFill>
                  <a:srgbClr val="23303F"/>
                </a:solidFill>
                <a:latin typeface="Calibri" pitchFamily="34" charset="0"/>
                <a:ea typeface="Calibri" pitchFamily="34" charset="-122"/>
                <a:cs typeface="Calibri" pitchFamily="34" charset="-120"/>
              </a:rPr>
              <a:t>Brachytherapy is not something that can be left out because external beam radiotherapy has already been given. Outcomes are substantially worse without it.</a:t>
            </a:r>
            <a:endParaRPr lang="en-GB" sz="1400" noProof="0" dirty="0"/>
          </a:p>
        </p:txBody>
      </p:sp>
      <p:pic>
        <p:nvPicPr>
          <p:cNvPr id="17" name="Imagen 16">
            <a:extLst>
              <a:ext uri="{FF2B5EF4-FFF2-40B4-BE49-F238E27FC236}">
                <a16:creationId xmlns:a16="http://schemas.microsoft.com/office/drawing/2014/main" id="{310ED3A3-0C8C-825E-D087-CF11B7E2E1FC}"/>
              </a:ext>
            </a:extLst>
          </p:cNvPr>
          <p:cNvPicPr>
            <a:picLocks noChangeAspect="1"/>
          </p:cNvPicPr>
          <p:nvPr/>
        </p:nvPicPr>
        <p:blipFill>
          <a:blip r:embed="rId3"/>
          <a:srcRect l="4593" r="3724" b="8990"/>
          <a:stretch>
            <a:fillRect/>
          </a:stretch>
        </p:blipFill>
        <p:spPr>
          <a:xfrm>
            <a:off x="5120535" y="848117"/>
            <a:ext cx="5158582" cy="4925313"/>
          </a:xfrm>
          <a:prstGeom prst="rect">
            <a:avLst/>
          </a:prstGeom>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150</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4 · TREATMENT</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Chemotherapy and chemoradiation</a:t>
            </a:r>
            <a:endParaRPr lang="en-GB" sz="3200" noProof="0" dirty="0"/>
          </a:p>
        </p:txBody>
      </p:sp>
      <p:sp>
        <p:nvSpPr>
          <p:cNvPr id="6" name="Shape 4"/>
          <p:cNvSpPr/>
          <p:nvPr/>
        </p:nvSpPr>
        <p:spPr>
          <a:xfrm>
            <a:off x="566928" y="1385438"/>
            <a:ext cx="5436108" cy="4335740"/>
          </a:xfrm>
          <a:prstGeom prst="roundRect">
            <a:avLst>
              <a:gd name="adj" fmla="val 2368"/>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822960" y="1364180"/>
            <a:ext cx="4924044" cy="56692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  Chemotherapy</a:t>
            </a:r>
            <a:endParaRPr lang="en-GB" noProof="0" dirty="0"/>
          </a:p>
        </p:txBody>
      </p:sp>
      <p:sp>
        <p:nvSpPr>
          <p:cNvPr id="8" name="Text 6"/>
          <p:cNvSpPr txBox="1"/>
          <p:nvPr/>
        </p:nvSpPr>
        <p:spPr>
          <a:xfrm>
            <a:off x="742359" y="2004260"/>
            <a:ext cx="2762843" cy="243230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Cytotoxic medicines that interfere with cancer cell growth and division.</a:t>
            </a:r>
            <a:endParaRPr lang="en-GB" sz="1600" noProof="0" dirty="0"/>
          </a:p>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It acts throughout the body, which is why its effects are felt throughout the body.</a:t>
            </a:r>
            <a:endParaRPr lang="en-GB" sz="1600" noProof="0" dirty="0"/>
          </a:p>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It also affects normal cells that divide quickly.</a:t>
            </a:r>
            <a:endParaRPr lang="en-GB" sz="1600" noProof="0" dirty="0"/>
          </a:p>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Used for recurrent and metastatic disease, and alongside radiotherapy.</a:t>
            </a:r>
            <a:endParaRPr lang="en-GB" sz="1600" noProof="0" dirty="0"/>
          </a:p>
        </p:txBody>
      </p:sp>
      <p:sp>
        <p:nvSpPr>
          <p:cNvPr id="9" name="Shape 7"/>
          <p:cNvSpPr/>
          <p:nvPr/>
        </p:nvSpPr>
        <p:spPr>
          <a:xfrm>
            <a:off x="6185916" y="1385438"/>
            <a:ext cx="5436108" cy="4335740"/>
          </a:xfrm>
          <a:prstGeom prst="roundRect">
            <a:avLst>
              <a:gd name="adj" fmla="val 2368"/>
            </a:avLst>
          </a:prstGeom>
          <a:solidFill>
            <a:srgbClr val="ECF3FD"/>
          </a:solidFill>
          <a:ln w="12700">
            <a:solidFill>
              <a:srgbClr val="E0E3EA"/>
            </a:solidFill>
            <a:prstDash val="solid"/>
          </a:ln>
        </p:spPr>
        <p:txBody>
          <a:bodyPr/>
          <a:lstStyle/>
          <a:p>
            <a:endParaRPr lang="en-GB" noProof="0" dirty="0"/>
          </a:p>
        </p:txBody>
      </p:sp>
      <p:sp>
        <p:nvSpPr>
          <p:cNvPr id="10" name="Text 8"/>
          <p:cNvSpPr txBox="1"/>
          <p:nvPr/>
        </p:nvSpPr>
        <p:spPr>
          <a:xfrm>
            <a:off x="6441948" y="1364180"/>
            <a:ext cx="4924044" cy="56692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  Concurrent chemoradiation</a:t>
            </a:r>
            <a:endParaRPr lang="en-GB" noProof="0" dirty="0"/>
          </a:p>
        </p:txBody>
      </p:sp>
      <p:sp>
        <p:nvSpPr>
          <p:cNvPr id="11" name="Text 9"/>
          <p:cNvSpPr txBox="1"/>
          <p:nvPr/>
        </p:nvSpPr>
        <p:spPr>
          <a:xfrm>
            <a:off x="6446013" y="2004260"/>
            <a:ext cx="2731855" cy="243230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Chemotherapy given during a course of radiotherapy.</a:t>
            </a:r>
            <a:endParaRPr lang="en-GB" sz="1600" noProof="0" dirty="0"/>
          </a:p>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The chemotherapy makes the radiation more effective against the cancer cells.</a:t>
            </a:r>
            <a:endParaRPr lang="en-GB" sz="1600" noProof="0" dirty="0"/>
          </a:p>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It is the standard approach for locally advanced cervical cancer.</a:t>
            </a:r>
            <a:endParaRPr lang="en-GB" sz="1600" noProof="0" dirty="0"/>
          </a:p>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Completing the course on time matters. Long interruptions reduce the chance of cure.</a:t>
            </a:r>
            <a:endParaRPr lang="en-GB" sz="1600" noProof="0" dirty="0"/>
          </a:p>
        </p:txBody>
      </p:sp>
      <p:sp>
        <p:nvSpPr>
          <p:cNvPr id="12" name="Shape 10"/>
          <p:cNvSpPr/>
          <p:nvPr/>
        </p:nvSpPr>
        <p:spPr>
          <a:xfrm>
            <a:off x="566928" y="5875924"/>
            <a:ext cx="11055096" cy="435416"/>
          </a:xfrm>
          <a:prstGeom prst="roundRect">
            <a:avLst>
              <a:gd name="adj" fmla="val 8140"/>
            </a:avLst>
          </a:prstGeom>
          <a:solidFill>
            <a:srgbClr val="EAF7F0"/>
          </a:solidFill>
          <a:ln w="12700">
            <a:solidFill>
              <a:srgbClr val="C0D4CB"/>
            </a:solidFill>
            <a:prstDash val="solid"/>
          </a:ln>
        </p:spPr>
        <p:txBody>
          <a:bodyPr/>
          <a:lstStyle/>
          <a:p>
            <a:endParaRPr lang="en-GB" sz="1400" noProof="0" dirty="0"/>
          </a:p>
        </p:txBody>
      </p:sp>
      <p:sp>
        <p:nvSpPr>
          <p:cNvPr id="13" name="Text 11"/>
          <p:cNvSpPr txBox="1"/>
          <p:nvPr/>
        </p:nvSpPr>
        <p:spPr>
          <a:xfrm>
            <a:off x="841248" y="5881816"/>
            <a:ext cx="10506456" cy="374660"/>
          </a:xfrm>
          <a:prstGeom prst="rect">
            <a:avLst/>
          </a:prstGeom>
          <a:noFill/>
          <a:ln/>
        </p:spPr>
        <p:txBody>
          <a:bodyPr wrap="square" lIns="0" tIns="0" rIns="0" bIns="0" rtlCol="0" anchor="ctr"/>
          <a:lstStyle/>
          <a:p>
            <a:pPr marL="0" indent="0">
              <a:lnSpc>
                <a:spcPct val="104000"/>
              </a:lnSpc>
              <a:buNone/>
            </a:pPr>
            <a:r>
              <a:rPr lang="en-GB" sz="1400" b="1" noProof="0" dirty="0">
                <a:solidFill>
                  <a:srgbClr val="19543E"/>
                </a:solidFill>
                <a:latin typeface="Calibri" pitchFamily="34" charset="0"/>
                <a:ea typeface="Calibri" pitchFamily="34" charset="-122"/>
                <a:cs typeface="Calibri" pitchFamily="34" charset="-120"/>
              </a:rPr>
              <a:t>💡 Key point:  </a:t>
            </a:r>
            <a:r>
              <a:rPr lang="en-GB" sz="1400" noProof="0" dirty="0">
                <a:solidFill>
                  <a:srgbClr val="23303F"/>
                </a:solidFill>
                <a:latin typeface="Calibri" pitchFamily="34" charset="0"/>
                <a:ea typeface="Calibri" pitchFamily="34" charset="-122"/>
                <a:cs typeface="Calibri" pitchFamily="34" charset="-120"/>
              </a:rPr>
              <a:t>Helping a woman complete her treatment course is a clinical intervention, not an administrative one.</a:t>
            </a:r>
            <a:endParaRPr lang="en-GB" sz="1400" noProof="0" dirty="0"/>
          </a:p>
        </p:txBody>
      </p:sp>
      <p:pic>
        <p:nvPicPr>
          <p:cNvPr id="14" name="Imagen 13">
            <a:extLst>
              <a:ext uri="{FF2B5EF4-FFF2-40B4-BE49-F238E27FC236}">
                <a16:creationId xmlns:a16="http://schemas.microsoft.com/office/drawing/2014/main" id="{BC867FEB-352F-E4A4-E646-8FC187589FEF}"/>
              </a:ext>
              <a:ext uri="{C183D7F6-B498-43B3-948B-1728B52AA6E4}">
                <adec:decorative xmlns:adec="http://schemas.microsoft.com/office/drawing/2017/decorative" val="1"/>
              </a:ext>
            </a:extLst>
          </p:cNvPr>
          <p:cNvPicPr>
            <a:picLocks noChangeAspect="1"/>
          </p:cNvPicPr>
          <p:nvPr/>
        </p:nvPicPr>
        <p:blipFill>
          <a:blip r:embed="rId3"/>
          <a:srcRect l="27461" r="27859"/>
          <a:stretch>
            <a:fillRect/>
          </a:stretch>
        </p:blipFill>
        <p:spPr>
          <a:xfrm>
            <a:off x="3486589" y="1933457"/>
            <a:ext cx="2521953" cy="3386708"/>
          </a:xfrm>
          <a:prstGeom prst="rect">
            <a:avLst/>
          </a:prstGeom>
        </p:spPr>
      </p:pic>
      <p:pic>
        <p:nvPicPr>
          <p:cNvPr id="17" name="Imagen 16">
            <a:extLst>
              <a:ext uri="{FF2B5EF4-FFF2-40B4-BE49-F238E27FC236}">
                <a16:creationId xmlns:a16="http://schemas.microsoft.com/office/drawing/2014/main" id="{8ED9FCB7-97D2-4482-2C8F-170887A8EBAE}"/>
              </a:ext>
              <a:ext uri="{C183D7F6-B498-43B3-948B-1728B52AA6E4}">
                <adec:decorative xmlns:adec="http://schemas.microsoft.com/office/drawing/2017/decorative" val="1"/>
              </a:ext>
            </a:extLst>
          </p:cNvPr>
          <p:cNvPicPr>
            <a:picLocks noChangeAspect="1"/>
          </p:cNvPicPr>
          <p:nvPr/>
        </p:nvPicPr>
        <p:blipFill>
          <a:blip r:embed="rId4"/>
          <a:srcRect/>
          <a:stretch>
            <a:fillRect/>
          </a:stretch>
        </p:blipFill>
        <p:spPr>
          <a:xfrm>
            <a:off x="9286895" y="2249833"/>
            <a:ext cx="2163763" cy="2885017"/>
          </a:xfrm>
          <a:prstGeom prst="rect">
            <a:avLst/>
          </a:prstGeom>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151</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4 · TREATMENT</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Targeted therapy and immunotherapy</a:t>
            </a:r>
            <a:endParaRPr lang="en-GB" sz="3200" noProof="0" dirty="0"/>
          </a:p>
        </p:txBody>
      </p:sp>
      <p:sp>
        <p:nvSpPr>
          <p:cNvPr id="6" name="Shape 4"/>
          <p:cNvSpPr/>
          <p:nvPr/>
        </p:nvSpPr>
        <p:spPr>
          <a:xfrm>
            <a:off x="566928" y="1459576"/>
            <a:ext cx="3563112" cy="4125678"/>
          </a:xfrm>
          <a:prstGeom prst="roundRect">
            <a:avLst>
              <a:gd name="adj" fmla="val 3103"/>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822960" y="1444744"/>
            <a:ext cx="3051048" cy="56692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  Targeted therapy</a:t>
            </a:r>
            <a:endParaRPr lang="en-GB" noProof="0" dirty="0"/>
          </a:p>
        </p:txBody>
      </p:sp>
      <p:sp>
        <p:nvSpPr>
          <p:cNvPr id="8" name="Text 6"/>
          <p:cNvSpPr txBox="1"/>
          <p:nvPr/>
        </p:nvSpPr>
        <p:spPr>
          <a:xfrm>
            <a:off x="822960" y="1961749"/>
            <a:ext cx="3051048" cy="1682496"/>
          </a:xfrm>
          <a:prstGeom prst="rect">
            <a:avLst/>
          </a:prstGeom>
          <a:noFill/>
          <a:ln/>
        </p:spPr>
        <p:txBody>
          <a:bodyPr wrap="square" lIns="0" tIns="0" rIns="0" bIns="0" rtlCol="0" anchor="t"/>
          <a:lstStyle/>
          <a:p>
            <a:pPr marL="0" indent="0">
              <a:lnSpc>
                <a:spcPct val="106000"/>
              </a:lnSpc>
              <a:buNone/>
            </a:pPr>
            <a:r>
              <a:rPr lang="en-GB" sz="1600" noProof="0" dirty="0">
                <a:solidFill>
                  <a:srgbClr val="23303F"/>
                </a:solidFill>
                <a:latin typeface="Calibri" pitchFamily="34" charset="0"/>
                <a:ea typeface="Calibri" pitchFamily="34" charset="-122"/>
                <a:cs typeface="Calibri" pitchFamily="34" charset="-120"/>
              </a:rPr>
              <a:t>Acts on a particular biological feature or pathway involved in cancer growth, rather than on dividing cells in general.</a:t>
            </a:r>
            <a:endParaRPr lang="en-GB" sz="1600" noProof="0" dirty="0"/>
          </a:p>
        </p:txBody>
      </p:sp>
      <p:sp>
        <p:nvSpPr>
          <p:cNvPr id="9" name="Shape 7"/>
          <p:cNvSpPr/>
          <p:nvPr/>
        </p:nvSpPr>
        <p:spPr>
          <a:xfrm>
            <a:off x="4312920" y="1459576"/>
            <a:ext cx="3563112" cy="4125678"/>
          </a:xfrm>
          <a:prstGeom prst="roundRect">
            <a:avLst>
              <a:gd name="adj" fmla="val 3103"/>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4568952" y="1444744"/>
            <a:ext cx="3051048" cy="56692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  Immunotherapy</a:t>
            </a:r>
            <a:endParaRPr lang="en-GB" noProof="0" dirty="0"/>
          </a:p>
        </p:txBody>
      </p:sp>
      <p:sp>
        <p:nvSpPr>
          <p:cNvPr id="11" name="Text 9"/>
          <p:cNvSpPr txBox="1"/>
          <p:nvPr/>
        </p:nvSpPr>
        <p:spPr>
          <a:xfrm>
            <a:off x="4568952" y="1961749"/>
            <a:ext cx="3051048" cy="1682496"/>
          </a:xfrm>
          <a:prstGeom prst="rect">
            <a:avLst/>
          </a:prstGeom>
          <a:noFill/>
          <a:ln/>
        </p:spPr>
        <p:txBody>
          <a:bodyPr wrap="square" lIns="0" tIns="0" rIns="0" bIns="0" rtlCol="0" anchor="t"/>
          <a:lstStyle/>
          <a:p>
            <a:pPr marL="0" indent="0">
              <a:lnSpc>
                <a:spcPct val="106000"/>
              </a:lnSpc>
              <a:buNone/>
            </a:pPr>
            <a:r>
              <a:rPr lang="en-GB" sz="1600" noProof="0" dirty="0">
                <a:solidFill>
                  <a:srgbClr val="23303F"/>
                </a:solidFill>
                <a:latin typeface="Calibri" pitchFamily="34" charset="0"/>
                <a:ea typeface="Calibri" pitchFamily="34" charset="-122"/>
                <a:cs typeface="Calibri" pitchFamily="34" charset="-120"/>
              </a:rPr>
              <a:t>Modifies the immune response so that the immune system can better recognise or attack the cancer.</a:t>
            </a:r>
            <a:endParaRPr lang="en-GB" sz="1600" noProof="0" dirty="0"/>
          </a:p>
        </p:txBody>
      </p:sp>
      <p:sp>
        <p:nvSpPr>
          <p:cNvPr id="12" name="Shape 10"/>
          <p:cNvSpPr/>
          <p:nvPr/>
        </p:nvSpPr>
        <p:spPr>
          <a:xfrm>
            <a:off x="8058912" y="1459576"/>
            <a:ext cx="3563112" cy="4125678"/>
          </a:xfrm>
          <a:prstGeom prst="roundRect">
            <a:avLst>
              <a:gd name="adj" fmla="val 3103"/>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8314944" y="1444744"/>
            <a:ext cx="3051048" cy="56692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  Only in selected cases</a:t>
            </a:r>
            <a:endParaRPr lang="en-GB" noProof="0" dirty="0"/>
          </a:p>
        </p:txBody>
      </p:sp>
      <p:sp>
        <p:nvSpPr>
          <p:cNvPr id="14" name="Text 12"/>
          <p:cNvSpPr txBox="1"/>
          <p:nvPr/>
        </p:nvSpPr>
        <p:spPr>
          <a:xfrm>
            <a:off x="8314944" y="1961749"/>
            <a:ext cx="3051048" cy="1682496"/>
          </a:xfrm>
          <a:prstGeom prst="rect">
            <a:avLst/>
          </a:prstGeom>
          <a:noFill/>
          <a:ln/>
        </p:spPr>
        <p:txBody>
          <a:bodyPr wrap="square" lIns="0" tIns="0" rIns="0" bIns="0" rtlCol="0" anchor="t"/>
          <a:lstStyle/>
          <a:p>
            <a:pPr marL="0" indent="0">
              <a:lnSpc>
                <a:spcPct val="106000"/>
              </a:lnSpc>
              <a:buNone/>
            </a:pPr>
            <a:r>
              <a:rPr lang="en-GB" sz="1600" noProof="0" dirty="0">
                <a:solidFill>
                  <a:srgbClr val="23303F"/>
                </a:solidFill>
                <a:latin typeface="Calibri" pitchFamily="34" charset="0"/>
                <a:ea typeface="Calibri" pitchFamily="34" charset="-122"/>
                <a:cs typeface="Calibri" pitchFamily="34" charset="-120"/>
              </a:rPr>
              <a:t>These treatments suit only some cancers. They are not alternatives to surgery or chemoradiation for curable disease.</a:t>
            </a:r>
            <a:endParaRPr lang="en-GB" sz="1600" noProof="0" dirty="0"/>
          </a:p>
        </p:txBody>
      </p:sp>
      <p:pic>
        <p:nvPicPr>
          <p:cNvPr id="21" name="Imagen 20">
            <a:extLst>
              <a:ext uri="{FF2B5EF4-FFF2-40B4-BE49-F238E27FC236}">
                <a16:creationId xmlns:a16="http://schemas.microsoft.com/office/drawing/2014/main" id="{FB8019CE-3F13-4CA3-FC34-F9815CBF40CA}"/>
              </a:ext>
            </a:extLst>
          </p:cNvPr>
          <p:cNvPicPr>
            <a:picLocks noChangeAspect="1"/>
          </p:cNvPicPr>
          <p:nvPr/>
        </p:nvPicPr>
        <p:blipFill>
          <a:blip r:embed="rId3"/>
          <a:srcRect t="16839" b="23047"/>
          <a:stretch>
            <a:fillRect/>
          </a:stretch>
        </p:blipFill>
        <p:spPr>
          <a:xfrm>
            <a:off x="785368" y="3285348"/>
            <a:ext cx="3154426" cy="1896252"/>
          </a:xfrm>
          <a:prstGeom prst="rect">
            <a:avLst/>
          </a:prstGeom>
        </p:spPr>
      </p:pic>
      <p:pic>
        <p:nvPicPr>
          <p:cNvPr id="23" name="Imagen 22">
            <a:extLst>
              <a:ext uri="{FF2B5EF4-FFF2-40B4-BE49-F238E27FC236}">
                <a16:creationId xmlns:a16="http://schemas.microsoft.com/office/drawing/2014/main" id="{2AC5A214-9D39-539C-CDBD-F8FFD8C49AC9}"/>
              </a:ext>
            </a:extLst>
          </p:cNvPr>
          <p:cNvPicPr>
            <a:picLocks noChangeAspect="1"/>
          </p:cNvPicPr>
          <p:nvPr/>
        </p:nvPicPr>
        <p:blipFill>
          <a:blip r:embed="rId4"/>
          <a:srcRect t="37777" b="11954"/>
          <a:stretch>
            <a:fillRect/>
          </a:stretch>
        </p:blipFill>
        <p:spPr>
          <a:xfrm>
            <a:off x="8163223" y="3402462"/>
            <a:ext cx="3374136" cy="1696142"/>
          </a:xfrm>
          <a:prstGeom prst="rect">
            <a:avLst/>
          </a:prstGeom>
        </p:spPr>
      </p:pic>
      <p:pic>
        <p:nvPicPr>
          <p:cNvPr id="24" name="Imagen 23">
            <a:extLst>
              <a:ext uri="{FF2B5EF4-FFF2-40B4-BE49-F238E27FC236}">
                <a16:creationId xmlns:a16="http://schemas.microsoft.com/office/drawing/2014/main" id="{4E3D638C-D5E5-F092-39DF-A4E9C1564F0C}"/>
              </a:ext>
            </a:extLst>
          </p:cNvPr>
          <p:cNvPicPr>
            <a:picLocks noChangeAspect="1"/>
          </p:cNvPicPr>
          <p:nvPr/>
        </p:nvPicPr>
        <p:blipFill>
          <a:blip r:embed="rId5"/>
          <a:srcRect t="33732" b="11954"/>
          <a:stretch>
            <a:fillRect/>
          </a:stretch>
        </p:blipFill>
        <p:spPr>
          <a:xfrm>
            <a:off x="4407407" y="3294314"/>
            <a:ext cx="3321991" cy="1804289"/>
          </a:xfrm>
          <a:prstGeom prst="rect">
            <a:avLst/>
          </a:prstGeom>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152</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4 · INTERACTIVE</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Myth or fact: diagnosis and treatment</a:t>
            </a:r>
            <a:endParaRPr lang="en-GB" sz="3200" noProof="0" dirty="0"/>
          </a:p>
        </p:txBody>
      </p:sp>
      <p:sp>
        <p:nvSpPr>
          <p:cNvPr id="6" name="Text 4"/>
          <p:cNvSpPr txBox="1"/>
          <p:nvPr/>
        </p:nvSpPr>
        <p:spPr>
          <a:xfrm>
            <a:off x="566928" y="1517904"/>
            <a:ext cx="11055096" cy="365760"/>
          </a:xfrm>
          <a:prstGeom prst="rect">
            <a:avLst/>
          </a:prstGeom>
          <a:noFill/>
          <a:ln/>
        </p:spPr>
        <p:txBody>
          <a:bodyPr wrap="square" lIns="0" tIns="0" rIns="0" bIns="0" rtlCol="0" anchor="ctr"/>
          <a:lstStyle/>
          <a:p>
            <a:pPr marL="0" indent="0">
              <a:buNone/>
            </a:pPr>
            <a:r>
              <a:rPr lang="en-GB" sz="1800" i="1" noProof="0" dirty="0">
                <a:solidFill>
                  <a:srgbClr val="31507B"/>
                </a:solidFill>
                <a:latin typeface="Calibri" pitchFamily="34" charset="0"/>
                <a:ea typeface="Calibri" pitchFamily="34" charset="-122"/>
                <a:cs typeface="Calibri" pitchFamily="34" charset="-120"/>
              </a:rPr>
              <a:t>💬  Select each myth to reveal the accurate response.</a:t>
            </a:r>
            <a:endParaRPr lang="en-GB" sz="1800" noProof="0" dirty="0"/>
          </a:p>
        </p:txBody>
      </p:sp>
      <p:sp>
        <p:nvSpPr>
          <p:cNvPr id="7" name="Shape 5"/>
          <p:cNvSpPr/>
          <p:nvPr/>
        </p:nvSpPr>
        <p:spPr>
          <a:xfrm>
            <a:off x="566928" y="1965960"/>
            <a:ext cx="4572000" cy="937553"/>
          </a:xfrm>
          <a:prstGeom prst="roundRect">
            <a:avLst>
              <a:gd name="adj" fmla="val 6827"/>
            </a:avLst>
          </a:prstGeom>
          <a:solidFill>
            <a:srgbClr val="FDE9E8"/>
          </a:solidFill>
          <a:ln w="12700">
            <a:solidFill>
              <a:srgbClr val="F0CFCE"/>
            </a:solidFill>
            <a:prstDash val="solid"/>
          </a:ln>
        </p:spPr>
        <p:txBody>
          <a:bodyPr/>
          <a:lstStyle/>
          <a:p>
            <a:endParaRPr lang="en-GB" noProof="0" dirty="0"/>
          </a:p>
        </p:txBody>
      </p:sp>
      <p:sp>
        <p:nvSpPr>
          <p:cNvPr id="8" name="Text 6"/>
          <p:cNvSpPr txBox="1"/>
          <p:nvPr/>
        </p:nvSpPr>
        <p:spPr>
          <a:xfrm>
            <a:off x="804672" y="2039112"/>
            <a:ext cx="4096512" cy="791249"/>
          </a:xfrm>
          <a:prstGeom prst="rect">
            <a:avLst/>
          </a:prstGeom>
          <a:noFill/>
          <a:ln/>
        </p:spPr>
        <p:txBody>
          <a:bodyPr wrap="square" lIns="0" tIns="0" rIns="0" bIns="0" rtlCol="0" anchor="ctr"/>
          <a:lstStyle/>
          <a:p>
            <a:pPr marL="0" indent="0">
              <a:lnSpc>
                <a:spcPct val="104000"/>
              </a:lnSpc>
              <a:buNone/>
            </a:pPr>
            <a:r>
              <a:rPr lang="en-GB" sz="1800" b="1" noProof="0" dirty="0">
                <a:solidFill>
                  <a:srgbClr val="8E2531"/>
                </a:solidFill>
                <a:latin typeface="Calibri" pitchFamily="34" charset="0"/>
                <a:ea typeface="Calibri" pitchFamily="34" charset="-122"/>
                <a:cs typeface="Calibri" pitchFamily="34" charset="-120"/>
              </a:rPr>
              <a:t>❌ Myth   </a:t>
            </a:r>
            <a:r>
              <a:rPr lang="en-GB" sz="1800" noProof="0" dirty="0">
                <a:solidFill>
                  <a:srgbClr val="23303F"/>
                </a:solidFill>
                <a:latin typeface="Calibri" pitchFamily="34" charset="0"/>
                <a:ea typeface="Calibri" pitchFamily="34" charset="-122"/>
                <a:cs typeface="Calibri" pitchFamily="34" charset="-120"/>
              </a:rPr>
              <a:t>Surgery makes cancer spread.</a:t>
            </a:r>
            <a:endParaRPr lang="en-GB" sz="1800" noProof="0" dirty="0"/>
          </a:p>
        </p:txBody>
      </p:sp>
      <p:sp>
        <p:nvSpPr>
          <p:cNvPr id="9" name="Shape 7"/>
          <p:cNvSpPr/>
          <p:nvPr/>
        </p:nvSpPr>
        <p:spPr>
          <a:xfrm>
            <a:off x="5321808" y="1965960"/>
            <a:ext cx="6300216" cy="937553"/>
          </a:xfrm>
          <a:prstGeom prst="roundRect">
            <a:avLst>
              <a:gd name="adj" fmla="val 6827"/>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5559552" y="2039112"/>
            <a:ext cx="5824728" cy="791249"/>
          </a:xfrm>
          <a:prstGeom prst="rect">
            <a:avLst/>
          </a:prstGeom>
          <a:noFill/>
          <a:ln/>
        </p:spPr>
        <p:txBody>
          <a:bodyPr wrap="square" lIns="0" tIns="0" rIns="0" bIns="0" rtlCol="0" anchor="ctr"/>
          <a:lstStyle/>
          <a:p>
            <a:pPr marL="0" indent="0">
              <a:lnSpc>
                <a:spcPct val="104000"/>
              </a:lnSpc>
              <a:buNone/>
            </a:pPr>
            <a:r>
              <a:rPr lang="en-GB" sz="1800" b="1" noProof="0" dirty="0">
                <a:solidFill>
                  <a:srgbClr val="19543E"/>
                </a:solidFill>
                <a:latin typeface="Calibri" pitchFamily="34" charset="0"/>
                <a:ea typeface="Calibri" pitchFamily="34" charset="-122"/>
                <a:cs typeface="Calibri" pitchFamily="34" charset="-120"/>
              </a:rPr>
              <a:t>✅ Fact   </a:t>
            </a:r>
            <a:r>
              <a:rPr lang="en-GB" sz="1800" noProof="0" dirty="0">
                <a:solidFill>
                  <a:srgbClr val="23303F"/>
                </a:solidFill>
                <a:latin typeface="Calibri" pitchFamily="34" charset="0"/>
                <a:ea typeface="Calibri" pitchFamily="34" charset="-122"/>
                <a:cs typeface="Calibri" pitchFamily="34" charset="-120"/>
              </a:rPr>
              <a:t>Surgery removes cancerous tissue. It does not cause spread. This belief delays treatment that could cure.</a:t>
            </a:r>
            <a:endParaRPr lang="en-GB" sz="1800" noProof="0" dirty="0"/>
          </a:p>
        </p:txBody>
      </p:sp>
      <p:sp>
        <p:nvSpPr>
          <p:cNvPr id="11" name="Shape 9"/>
          <p:cNvSpPr/>
          <p:nvPr/>
        </p:nvSpPr>
        <p:spPr>
          <a:xfrm>
            <a:off x="566928" y="3046378"/>
            <a:ext cx="4572000" cy="937553"/>
          </a:xfrm>
          <a:prstGeom prst="roundRect">
            <a:avLst>
              <a:gd name="adj" fmla="val 6827"/>
            </a:avLst>
          </a:prstGeom>
          <a:solidFill>
            <a:srgbClr val="FDE9E8"/>
          </a:solidFill>
          <a:ln w="12700">
            <a:solidFill>
              <a:srgbClr val="F0CFCE"/>
            </a:solidFill>
            <a:prstDash val="solid"/>
          </a:ln>
        </p:spPr>
        <p:txBody>
          <a:bodyPr/>
          <a:lstStyle/>
          <a:p>
            <a:endParaRPr lang="en-GB" noProof="0" dirty="0"/>
          </a:p>
        </p:txBody>
      </p:sp>
      <p:sp>
        <p:nvSpPr>
          <p:cNvPr id="12" name="Text 10"/>
          <p:cNvSpPr txBox="1"/>
          <p:nvPr/>
        </p:nvSpPr>
        <p:spPr>
          <a:xfrm>
            <a:off x="804672" y="3119530"/>
            <a:ext cx="4096512" cy="791249"/>
          </a:xfrm>
          <a:prstGeom prst="rect">
            <a:avLst/>
          </a:prstGeom>
          <a:noFill/>
          <a:ln/>
        </p:spPr>
        <p:txBody>
          <a:bodyPr wrap="square" lIns="0" tIns="0" rIns="0" bIns="0" rtlCol="0" anchor="ctr"/>
          <a:lstStyle/>
          <a:p>
            <a:pPr marL="0" indent="0">
              <a:lnSpc>
                <a:spcPct val="104000"/>
              </a:lnSpc>
              <a:buNone/>
            </a:pPr>
            <a:r>
              <a:rPr lang="en-GB" sz="1800" b="1" noProof="0" dirty="0">
                <a:solidFill>
                  <a:srgbClr val="8E2531"/>
                </a:solidFill>
                <a:latin typeface="Calibri" pitchFamily="34" charset="0"/>
                <a:ea typeface="Calibri" pitchFamily="34" charset="-122"/>
                <a:cs typeface="Calibri" pitchFamily="34" charset="-120"/>
              </a:rPr>
              <a:t>❌ Myth   </a:t>
            </a:r>
            <a:r>
              <a:rPr lang="en-GB" sz="1800" noProof="0" dirty="0">
                <a:solidFill>
                  <a:srgbClr val="23303F"/>
                </a:solidFill>
                <a:latin typeface="Calibri" pitchFamily="34" charset="0"/>
                <a:ea typeface="Calibri" pitchFamily="34" charset="-122"/>
                <a:cs typeface="Calibri" pitchFamily="34" charset="-120"/>
              </a:rPr>
              <a:t>Treating precancer causes cancer.</a:t>
            </a:r>
            <a:endParaRPr lang="en-GB" sz="1800" noProof="0" dirty="0"/>
          </a:p>
        </p:txBody>
      </p:sp>
      <p:sp>
        <p:nvSpPr>
          <p:cNvPr id="13" name="Shape 11"/>
          <p:cNvSpPr/>
          <p:nvPr/>
        </p:nvSpPr>
        <p:spPr>
          <a:xfrm>
            <a:off x="5321808" y="3046378"/>
            <a:ext cx="6300216" cy="937553"/>
          </a:xfrm>
          <a:prstGeom prst="roundRect">
            <a:avLst>
              <a:gd name="adj" fmla="val 6827"/>
            </a:avLst>
          </a:prstGeom>
          <a:solidFill>
            <a:srgbClr val="EAF7F0"/>
          </a:solidFill>
          <a:ln w="12700">
            <a:solidFill>
              <a:srgbClr val="C0D4CB"/>
            </a:solidFill>
            <a:prstDash val="solid"/>
          </a:ln>
        </p:spPr>
        <p:txBody>
          <a:bodyPr/>
          <a:lstStyle/>
          <a:p>
            <a:endParaRPr lang="en-GB" noProof="0" dirty="0"/>
          </a:p>
        </p:txBody>
      </p:sp>
      <p:sp>
        <p:nvSpPr>
          <p:cNvPr id="14" name="Text 12"/>
          <p:cNvSpPr txBox="1"/>
          <p:nvPr/>
        </p:nvSpPr>
        <p:spPr>
          <a:xfrm>
            <a:off x="5559552" y="3119530"/>
            <a:ext cx="5824728" cy="791249"/>
          </a:xfrm>
          <a:prstGeom prst="rect">
            <a:avLst/>
          </a:prstGeom>
          <a:noFill/>
          <a:ln/>
        </p:spPr>
        <p:txBody>
          <a:bodyPr wrap="square" lIns="0" tIns="0" rIns="0" bIns="0" rtlCol="0" anchor="ctr"/>
          <a:lstStyle/>
          <a:p>
            <a:pPr marL="0" indent="0">
              <a:lnSpc>
                <a:spcPct val="104000"/>
              </a:lnSpc>
              <a:buNone/>
            </a:pPr>
            <a:r>
              <a:rPr lang="en-GB" sz="1800" b="1" noProof="0" dirty="0">
                <a:solidFill>
                  <a:srgbClr val="19543E"/>
                </a:solidFill>
                <a:latin typeface="Calibri" pitchFamily="34" charset="0"/>
                <a:ea typeface="Calibri" pitchFamily="34" charset="-122"/>
                <a:cs typeface="Calibri" pitchFamily="34" charset="-120"/>
              </a:rPr>
              <a:t>✅ Fact   </a:t>
            </a:r>
            <a:r>
              <a:rPr lang="en-GB" sz="1800" noProof="0" dirty="0">
                <a:solidFill>
                  <a:srgbClr val="23303F"/>
                </a:solidFill>
                <a:latin typeface="Calibri" pitchFamily="34" charset="0"/>
                <a:ea typeface="Calibri" pitchFamily="34" charset="-122"/>
                <a:cs typeface="Calibri" pitchFamily="34" charset="-120"/>
              </a:rPr>
              <a:t>Treating precancer removes or destroys abnormal cells and prevents cancer from developing.</a:t>
            </a:r>
            <a:endParaRPr lang="en-GB" sz="1800" noProof="0" dirty="0"/>
          </a:p>
        </p:txBody>
      </p:sp>
      <p:sp>
        <p:nvSpPr>
          <p:cNvPr id="15" name="Shape 13"/>
          <p:cNvSpPr/>
          <p:nvPr/>
        </p:nvSpPr>
        <p:spPr>
          <a:xfrm>
            <a:off x="566928" y="4126797"/>
            <a:ext cx="4572000" cy="937553"/>
          </a:xfrm>
          <a:prstGeom prst="roundRect">
            <a:avLst>
              <a:gd name="adj" fmla="val 6827"/>
            </a:avLst>
          </a:prstGeom>
          <a:solidFill>
            <a:srgbClr val="FDE9E8"/>
          </a:solidFill>
          <a:ln w="12700">
            <a:solidFill>
              <a:srgbClr val="F0CFCE"/>
            </a:solidFill>
            <a:prstDash val="solid"/>
          </a:ln>
        </p:spPr>
        <p:txBody>
          <a:bodyPr/>
          <a:lstStyle/>
          <a:p>
            <a:endParaRPr lang="en-GB" noProof="0" dirty="0"/>
          </a:p>
        </p:txBody>
      </p:sp>
      <p:sp>
        <p:nvSpPr>
          <p:cNvPr id="16" name="Text 14"/>
          <p:cNvSpPr txBox="1"/>
          <p:nvPr/>
        </p:nvSpPr>
        <p:spPr>
          <a:xfrm>
            <a:off x="804672" y="4199949"/>
            <a:ext cx="4096512" cy="791249"/>
          </a:xfrm>
          <a:prstGeom prst="rect">
            <a:avLst/>
          </a:prstGeom>
          <a:noFill/>
          <a:ln/>
        </p:spPr>
        <p:txBody>
          <a:bodyPr wrap="square" lIns="0" tIns="0" rIns="0" bIns="0" rtlCol="0" anchor="ctr"/>
          <a:lstStyle/>
          <a:p>
            <a:pPr marL="0" indent="0">
              <a:lnSpc>
                <a:spcPct val="104000"/>
              </a:lnSpc>
              <a:buNone/>
            </a:pPr>
            <a:r>
              <a:rPr lang="en-GB" sz="1800" b="1" noProof="0" dirty="0">
                <a:solidFill>
                  <a:srgbClr val="8E2531"/>
                </a:solidFill>
                <a:latin typeface="Calibri" pitchFamily="34" charset="0"/>
                <a:ea typeface="Calibri" pitchFamily="34" charset="-122"/>
                <a:cs typeface="Calibri" pitchFamily="34" charset="-120"/>
              </a:rPr>
              <a:t>❌ Myth   </a:t>
            </a:r>
            <a:r>
              <a:rPr lang="en-GB" sz="1800" noProof="0" dirty="0">
                <a:solidFill>
                  <a:srgbClr val="23303F"/>
                </a:solidFill>
                <a:latin typeface="Calibri" pitchFamily="34" charset="0"/>
                <a:ea typeface="Calibri" pitchFamily="34" charset="-122"/>
                <a:cs typeface="Calibri" pitchFamily="34" charset="-120"/>
              </a:rPr>
              <a:t>Once cervical cancer is found, nothing can be done.</a:t>
            </a:r>
            <a:endParaRPr lang="en-GB" sz="1800" noProof="0" dirty="0"/>
          </a:p>
        </p:txBody>
      </p:sp>
      <p:sp>
        <p:nvSpPr>
          <p:cNvPr id="17" name="Shape 15"/>
          <p:cNvSpPr/>
          <p:nvPr/>
        </p:nvSpPr>
        <p:spPr>
          <a:xfrm>
            <a:off x="5321808" y="4126797"/>
            <a:ext cx="6300216" cy="937553"/>
          </a:xfrm>
          <a:prstGeom prst="roundRect">
            <a:avLst>
              <a:gd name="adj" fmla="val 6827"/>
            </a:avLst>
          </a:prstGeom>
          <a:solidFill>
            <a:srgbClr val="EAF7F0"/>
          </a:solidFill>
          <a:ln w="12700">
            <a:solidFill>
              <a:srgbClr val="C0D4CB"/>
            </a:solidFill>
            <a:prstDash val="solid"/>
          </a:ln>
        </p:spPr>
        <p:txBody>
          <a:bodyPr/>
          <a:lstStyle/>
          <a:p>
            <a:endParaRPr lang="en-GB" noProof="0" dirty="0"/>
          </a:p>
        </p:txBody>
      </p:sp>
      <p:sp>
        <p:nvSpPr>
          <p:cNvPr id="18" name="Text 16"/>
          <p:cNvSpPr txBox="1"/>
          <p:nvPr/>
        </p:nvSpPr>
        <p:spPr>
          <a:xfrm>
            <a:off x="5559552" y="4199949"/>
            <a:ext cx="5824728" cy="791249"/>
          </a:xfrm>
          <a:prstGeom prst="rect">
            <a:avLst/>
          </a:prstGeom>
          <a:noFill/>
          <a:ln/>
        </p:spPr>
        <p:txBody>
          <a:bodyPr wrap="square" lIns="0" tIns="0" rIns="0" bIns="0" rtlCol="0" anchor="ctr"/>
          <a:lstStyle/>
          <a:p>
            <a:pPr marL="0" indent="0">
              <a:lnSpc>
                <a:spcPct val="104000"/>
              </a:lnSpc>
              <a:buNone/>
            </a:pPr>
            <a:r>
              <a:rPr lang="en-GB" sz="1800" b="1" noProof="0" dirty="0">
                <a:solidFill>
                  <a:srgbClr val="19543E"/>
                </a:solidFill>
                <a:latin typeface="Calibri" pitchFamily="34" charset="0"/>
                <a:ea typeface="Calibri" pitchFamily="34" charset="-122"/>
                <a:cs typeface="Calibri" pitchFamily="34" charset="-120"/>
              </a:rPr>
              <a:t>✅ Fact   </a:t>
            </a:r>
            <a:r>
              <a:rPr lang="en-GB" sz="1800" noProof="0" dirty="0">
                <a:solidFill>
                  <a:srgbClr val="23303F"/>
                </a:solidFill>
                <a:latin typeface="Calibri" pitchFamily="34" charset="0"/>
                <a:ea typeface="Calibri" pitchFamily="34" charset="-122"/>
                <a:cs typeface="Calibri" pitchFamily="34" charset="-120"/>
              </a:rPr>
              <a:t>Early cervical cancer is treated with the intention of cure, and advanced disease can be treated to control symptoms and extend life.</a:t>
            </a:r>
            <a:endParaRPr lang="en-GB" sz="1800" noProof="0" dirty="0"/>
          </a:p>
        </p:txBody>
      </p:sp>
      <p:sp>
        <p:nvSpPr>
          <p:cNvPr id="19" name="Shape 17"/>
          <p:cNvSpPr/>
          <p:nvPr/>
        </p:nvSpPr>
        <p:spPr>
          <a:xfrm>
            <a:off x="566928" y="5207215"/>
            <a:ext cx="4572000" cy="937553"/>
          </a:xfrm>
          <a:prstGeom prst="roundRect">
            <a:avLst>
              <a:gd name="adj" fmla="val 6827"/>
            </a:avLst>
          </a:prstGeom>
          <a:solidFill>
            <a:srgbClr val="FDE9E8"/>
          </a:solidFill>
          <a:ln w="12700">
            <a:solidFill>
              <a:srgbClr val="F0CFCE"/>
            </a:solidFill>
            <a:prstDash val="solid"/>
          </a:ln>
        </p:spPr>
        <p:txBody>
          <a:bodyPr/>
          <a:lstStyle/>
          <a:p>
            <a:endParaRPr lang="en-GB" noProof="0" dirty="0"/>
          </a:p>
        </p:txBody>
      </p:sp>
      <p:sp>
        <p:nvSpPr>
          <p:cNvPr id="20" name="Text 18"/>
          <p:cNvSpPr txBox="1"/>
          <p:nvPr/>
        </p:nvSpPr>
        <p:spPr>
          <a:xfrm>
            <a:off x="804672" y="5280367"/>
            <a:ext cx="4096512" cy="791249"/>
          </a:xfrm>
          <a:prstGeom prst="rect">
            <a:avLst/>
          </a:prstGeom>
          <a:noFill/>
          <a:ln/>
        </p:spPr>
        <p:txBody>
          <a:bodyPr wrap="square" lIns="0" tIns="0" rIns="0" bIns="0" rtlCol="0" anchor="ctr"/>
          <a:lstStyle/>
          <a:p>
            <a:pPr marL="0" indent="0">
              <a:lnSpc>
                <a:spcPct val="104000"/>
              </a:lnSpc>
              <a:buNone/>
            </a:pPr>
            <a:r>
              <a:rPr lang="en-GB" sz="1800" b="1" noProof="0" dirty="0">
                <a:solidFill>
                  <a:srgbClr val="8E2531"/>
                </a:solidFill>
                <a:latin typeface="Calibri" pitchFamily="34" charset="0"/>
                <a:ea typeface="Calibri" pitchFamily="34" charset="-122"/>
                <a:cs typeface="Calibri" pitchFamily="34" charset="-120"/>
              </a:rPr>
              <a:t>❌ Myth   </a:t>
            </a:r>
            <a:r>
              <a:rPr lang="en-GB" sz="1800" noProof="0" dirty="0">
                <a:solidFill>
                  <a:srgbClr val="23303F"/>
                </a:solidFill>
                <a:latin typeface="Calibri" pitchFamily="34" charset="0"/>
                <a:ea typeface="Calibri" pitchFamily="34" charset="-122"/>
                <a:cs typeface="Calibri" pitchFamily="34" charset="-120"/>
              </a:rPr>
              <a:t>No symptoms means no cancer.</a:t>
            </a:r>
            <a:endParaRPr lang="en-GB" sz="1800" noProof="0" dirty="0"/>
          </a:p>
        </p:txBody>
      </p:sp>
      <p:sp>
        <p:nvSpPr>
          <p:cNvPr id="21" name="Shape 19"/>
          <p:cNvSpPr/>
          <p:nvPr/>
        </p:nvSpPr>
        <p:spPr>
          <a:xfrm>
            <a:off x="5321808" y="5207215"/>
            <a:ext cx="6300216" cy="937553"/>
          </a:xfrm>
          <a:prstGeom prst="roundRect">
            <a:avLst>
              <a:gd name="adj" fmla="val 6827"/>
            </a:avLst>
          </a:prstGeom>
          <a:solidFill>
            <a:srgbClr val="EAF7F0"/>
          </a:solidFill>
          <a:ln w="12700">
            <a:solidFill>
              <a:srgbClr val="C0D4CB"/>
            </a:solidFill>
            <a:prstDash val="solid"/>
          </a:ln>
        </p:spPr>
        <p:txBody>
          <a:bodyPr/>
          <a:lstStyle/>
          <a:p>
            <a:endParaRPr lang="en-GB" noProof="0" dirty="0"/>
          </a:p>
        </p:txBody>
      </p:sp>
      <p:sp>
        <p:nvSpPr>
          <p:cNvPr id="22" name="Text 20"/>
          <p:cNvSpPr txBox="1"/>
          <p:nvPr/>
        </p:nvSpPr>
        <p:spPr>
          <a:xfrm>
            <a:off x="5559552" y="5280367"/>
            <a:ext cx="5824728" cy="791249"/>
          </a:xfrm>
          <a:prstGeom prst="rect">
            <a:avLst/>
          </a:prstGeom>
          <a:noFill/>
          <a:ln/>
        </p:spPr>
        <p:txBody>
          <a:bodyPr wrap="square" lIns="0" tIns="0" rIns="0" bIns="0" rtlCol="0" anchor="ctr"/>
          <a:lstStyle/>
          <a:p>
            <a:pPr marL="0" indent="0">
              <a:lnSpc>
                <a:spcPct val="104000"/>
              </a:lnSpc>
              <a:buNone/>
            </a:pPr>
            <a:r>
              <a:rPr lang="en-GB" sz="1800" b="1" noProof="0" dirty="0">
                <a:solidFill>
                  <a:srgbClr val="19543E"/>
                </a:solidFill>
                <a:latin typeface="Calibri" pitchFamily="34" charset="0"/>
                <a:ea typeface="Calibri" pitchFamily="34" charset="-122"/>
                <a:cs typeface="Calibri" pitchFamily="34" charset="-120"/>
              </a:rPr>
              <a:t>✅ Fact   </a:t>
            </a:r>
            <a:r>
              <a:rPr lang="en-GB" sz="1800" noProof="0" dirty="0">
                <a:solidFill>
                  <a:srgbClr val="23303F"/>
                </a:solidFill>
                <a:latin typeface="Calibri" pitchFamily="34" charset="0"/>
                <a:ea typeface="Calibri" pitchFamily="34" charset="-122"/>
                <a:cs typeface="Calibri" pitchFamily="34" charset="-120"/>
              </a:rPr>
              <a:t>Cervical precancer and early cervical cancer are usually completely silent. That is why screening exists.</a:t>
            </a:r>
            <a:endParaRPr lang="en-GB" sz="1800" noProof="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153</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4 · KNOWLEDGE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Knowledge check: question 1 of 5</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Invasive cervical cancer is confirmed by:</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An HPV test</a:t>
            </a:r>
            <a:endParaRPr lang="en-GB" sz="18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Visual inspection with acetic acid</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Biopsy and histopathology</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Computed tomography</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C
Feedback: </a:t>
            </a:r>
            <a:r>
              <a:rPr lang="en-GB" sz="1800" noProof="0" dirty="0">
                <a:solidFill>
                  <a:srgbClr val="23303F"/>
                </a:solidFill>
                <a:latin typeface="Calibri" pitchFamily="34" charset="0"/>
                <a:ea typeface="Calibri" pitchFamily="34" charset="-122"/>
                <a:cs typeface="Calibri" pitchFamily="34" charset="-120"/>
              </a:rPr>
              <a:t>Tissue examined under the microscope confirms the diagnosis and reports the cancer type. Screening tests and imaging raise or lower suspicion and describe extent, but they do not confirm cancer.</a:t>
            </a:r>
            <a:endParaRPr lang="en-GB" sz="1800" noProof="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154</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4 · KNOWLEDGE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Knowledge check: question 2 of 5</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A woman has five months of postcoital bleeding. Her cervix looks normal. This means:</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Cancer is excluded</a:t>
            </a:r>
            <a:endParaRPr lang="en-GB" sz="1800" noProof="0" dirty="0"/>
          </a:p>
        </p:txBody>
      </p:sp>
      <p:sp>
        <p:nvSpPr>
          <p:cNvPr id="9" name="Shape 7"/>
          <p:cNvSpPr/>
          <p:nvPr/>
        </p:nvSpPr>
        <p:spPr>
          <a:xfrm>
            <a:off x="566928" y="2898648"/>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Cancer is not excluded and assessment must continue</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No referral is needed</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A screening test is now sufficient</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B
Feedback: </a:t>
            </a:r>
            <a:r>
              <a:rPr lang="en-GB" sz="1800" noProof="0" dirty="0">
                <a:solidFill>
                  <a:srgbClr val="23303F"/>
                </a:solidFill>
                <a:latin typeface="Calibri" pitchFamily="34" charset="0"/>
                <a:ea typeface="Calibri" pitchFamily="34" charset="-122"/>
                <a:cs typeface="Calibri" pitchFamily="34" charset="-120"/>
              </a:rPr>
              <a:t>A normal-looking cervix does not exclude cervical cancer, and precancer is invisible to the naked eye. Persistent symptoms are assessed on their own merits.</a:t>
            </a:r>
            <a:endParaRPr lang="en-GB" sz="1800" noProof="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155</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4 · KNOWLEDGE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Knowledge check: question 3 of 5</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Why is brachytherapy important in cervical cancer treatment?</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It replaces surgery in every case</a:t>
            </a:r>
            <a:endParaRPr lang="en-GB" sz="1800" noProof="0" dirty="0"/>
          </a:p>
        </p:txBody>
      </p:sp>
      <p:sp>
        <p:nvSpPr>
          <p:cNvPr id="13" name="Shape 11"/>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It is only used for symptom control</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It is a type of chemotherapy</a:t>
            </a:r>
            <a:endParaRPr lang="en-GB" sz="1800" noProof="0" dirty="0"/>
          </a:p>
        </p:txBody>
      </p:sp>
      <p:sp>
        <p:nvSpPr>
          <p:cNvPr id="9" name="Shape 7"/>
          <p:cNvSpPr/>
          <p:nvPr/>
        </p:nvSpPr>
        <p:spPr>
          <a:xfrm>
            <a:off x="566928" y="4050792"/>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It delivers a high dose close to the tumour and is essential to curative treatment</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D
Feedback: </a:t>
            </a:r>
            <a:r>
              <a:rPr lang="en-GB" sz="1800" noProof="0" dirty="0">
                <a:solidFill>
                  <a:srgbClr val="23303F"/>
                </a:solidFill>
                <a:latin typeface="Calibri" pitchFamily="34" charset="0"/>
                <a:ea typeface="Calibri" pitchFamily="34" charset="-122"/>
                <a:cs typeface="Calibri" pitchFamily="34" charset="-120"/>
              </a:rPr>
              <a:t>Brachytherapy places the radiation source close to or within the cervix, giving a high dose to the tumour while sparing surrounding tissue. Cure rates fall substantially when it is not delivered.</a:t>
            </a:r>
            <a:endParaRPr lang="en-GB" sz="1800" noProof="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156</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4 · KNOWLEDGE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Knowledge check: question 4 of 5</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Chemotherapy differs from surgery and radiotherapy because it:</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Acts only at the tumour site</a:t>
            </a:r>
            <a:endParaRPr lang="en-GB" sz="1800" noProof="0" dirty="0"/>
          </a:p>
        </p:txBody>
      </p:sp>
      <p:sp>
        <p:nvSpPr>
          <p:cNvPr id="9" name="Shape 7"/>
          <p:cNvSpPr/>
          <p:nvPr/>
        </p:nvSpPr>
        <p:spPr>
          <a:xfrm>
            <a:off x="566928" y="2898648"/>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Acts throughout the body</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Requires no monitoring</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Is always given first</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B
Feedback: </a:t>
            </a:r>
            <a:r>
              <a:rPr lang="en-GB" sz="1800" noProof="0" dirty="0">
                <a:solidFill>
                  <a:srgbClr val="23303F"/>
                </a:solidFill>
                <a:latin typeface="Calibri" pitchFamily="34" charset="0"/>
                <a:ea typeface="Calibri" pitchFamily="34" charset="-122"/>
                <a:cs typeface="Calibri" pitchFamily="34" charset="-120"/>
              </a:rPr>
              <a:t>Chemotherapy is systemic. That is why its effects, including fatigue, nausea and low blood counts, are felt throughout the body rather than only at the tumour site.</a:t>
            </a:r>
            <a:endParaRPr lang="en-GB" sz="1800" noProof="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157</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4 · KNOWLEDGE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Knowledge check: question 5 of 5</a:t>
            </a:r>
            <a:endParaRPr lang="en-GB" sz="3200" noProof="0" dirty="0"/>
          </a:p>
        </p:txBody>
      </p:sp>
      <p:sp>
        <p:nvSpPr>
          <p:cNvPr id="6" name="Text 4"/>
          <p:cNvSpPr txBox="1"/>
          <p:nvPr/>
        </p:nvSpPr>
        <p:spPr>
          <a:xfrm>
            <a:off x="566928" y="1591056"/>
            <a:ext cx="11055096" cy="768096"/>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A woman is terrified that treatment will mean she can never have children. The accurate response is:</a:t>
            </a:r>
            <a:endParaRPr lang="en-GB" sz="2000" noProof="0" dirty="0"/>
          </a:p>
        </p:txBody>
      </p:sp>
      <p:sp>
        <p:nvSpPr>
          <p:cNvPr id="7" name="Shape 5"/>
          <p:cNvSpPr/>
          <p:nvPr/>
        </p:nvSpPr>
        <p:spPr>
          <a:xfrm>
            <a:off x="566928" y="2432304"/>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432304"/>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Everyone loses fertility</a:t>
            </a:r>
            <a:endParaRPr lang="en-GB" sz="1800" noProof="0" dirty="0"/>
          </a:p>
        </p:txBody>
      </p:sp>
      <p:sp>
        <p:nvSpPr>
          <p:cNvPr id="11" name="Shape 9"/>
          <p:cNvSpPr/>
          <p:nvPr/>
        </p:nvSpPr>
        <p:spPr>
          <a:xfrm>
            <a:off x="566928" y="30083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0083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Nobody loses fertility</a:t>
            </a:r>
            <a:endParaRPr lang="en-GB" sz="1800" noProof="0" dirty="0"/>
          </a:p>
        </p:txBody>
      </p:sp>
      <p:sp>
        <p:nvSpPr>
          <p:cNvPr id="9" name="Shape 7"/>
          <p:cNvSpPr/>
          <p:nvPr/>
        </p:nvSpPr>
        <p:spPr>
          <a:xfrm>
            <a:off x="566928" y="3584448"/>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3584448"/>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Precancer treatment keeps the uterus; for cancer it depends on stage, so discuss it early</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3" name="Shape 11"/>
          <p:cNvSpPr/>
          <p:nvPr/>
        </p:nvSpPr>
        <p:spPr>
          <a:xfrm>
            <a:off x="566928" y="41605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1605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The specialist decides without discussion</a:t>
            </a:r>
            <a:endParaRPr lang="en-GB" sz="1800" noProof="0" dirty="0"/>
          </a:p>
        </p:txBody>
      </p:sp>
      <p:sp>
        <p:nvSpPr>
          <p:cNvPr id="15" name="Shape 13"/>
          <p:cNvSpPr/>
          <p:nvPr/>
        </p:nvSpPr>
        <p:spPr>
          <a:xfrm>
            <a:off x="566928" y="4828032"/>
            <a:ext cx="11055096" cy="1408176"/>
          </a:xfrm>
          <a:prstGeom prst="roundRect">
            <a:avLst>
              <a:gd name="adj" fmla="val 4545"/>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919472"/>
            <a:ext cx="10506456" cy="1225296"/>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C
Feedback: </a:t>
            </a:r>
            <a:r>
              <a:rPr lang="en-GB" sz="1800" noProof="0" dirty="0">
                <a:solidFill>
                  <a:srgbClr val="23303F"/>
                </a:solidFill>
                <a:latin typeface="Calibri" pitchFamily="34" charset="0"/>
                <a:ea typeface="Calibri" pitchFamily="34" charset="-122"/>
                <a:cs typeface="Calibri" pitchFamily="34" charset="-120"/>
              </a:rPr>
              <a:t>Fear of infertility is one of the commonest reasons women abandon care. Treatment of precancer preserves fertility. For invasive cancer, the honest answer depends on stage and should be raised early, not after treatment starts.</a:t>
            </a:r>
            <a:endParaRPr lang="en-GB" sz="1800" noProof="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158</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4</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Key takeaways</a:t>
            </a:r>
            <a:endParaRPr lang="en-GB" sz="3200" noProof="0" dirty="0"/>
          </a:p>
        </p:txBody>
      </p:sp>
      <p:sp>
        <p:nvSpPr>
          <p:cNvPr id="6" name="Shape 4"/>
          <p:cNvSpPr/>
          <p:nvPr/>
        </p:nvSpPr>
        <p:spPr>
          <a:xfrm>
            <a:off x="566928" y="1719072"/>
            <a:ext cx="11055096" cy="787179"/>
          </a:xfrm>
          <a:prstGeom prst="roundRect">
            <a:avLst>
              <a:gd name="adj" fmla="val 8131"/>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786384" y="1719072"/>
            <a:ext cx="548640" cy="787179"/>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8" name="Text 6"/>
          <p:cNvSpPr txBox="1"/>
          <p:nvPr/>
        </p:nvSpPr>
        <p:spPr>
          <a:xfrm>
            <a:off x="1463040" y="1773936"/>
            <a:ext cx="9866376" cy="677451"/>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Only histopathology confirms invasive cervical cancer. Everything else raises or lowers suspicion.</a:t>
            </a:r>
            <a:endParaRPr lang="en-GB" sz="1800" noProof="0" dirty="0"/>
          </a:p>
        </p:txBody>
      </p:sp>
      <p:sp>
        <p:nvSpPr>
          <p:cNvPr id="9" name="Shape 7"/>
          <p:cNvSpPr/>
          <p:nvPr/>
        </p:nvSpPr>
        <p:spPr>
          <a:xfrm>
            <a:off x="566928" y="2628701"/>
            <a:ext cx="11055096" cy="787179"/>
          </a:xfrm>
          <a:prstGeom prst="roundRect">
            <a:avLst>
              <a:gd name="adj" fmla="val 8131"/>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786384" y="2628701"/>
            <a:ext cx="548640" cy="787179"/>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1" name="Text 9"/>
          <p:cNvSpPr txBox="1"/>
          <p:nvPr/>
        </p:nvSpPr>
        <p:spPr>
          <a:xfrm>
            <a:off x="1463040" y="2683565"/>
            <a:ext cx="9866376" cy="677451"/>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A normal-looking cervix does not exclude cancer in a woman with persistent symptoms.</a:t>
            </a:r>
            <a:endParaRPr lang="en-GB" sz="1800" noProof="0" dirty="0"/>
          </a:p>
        </p:txBody>
      </p:sp>
      <p:sp>
        <p:nvSpPr>
          <p:cNvPr id="12" name="Shape 10"/>
          <p:cNvSpPr/>
          <p:nvPr/>
        </p:nvSpPr>
        <p:spPr>
          <a:xfrm>
            <a:off x="566928" y="3538330"/>
            <a:ext cx="11055096" cy="787179"/>
          </a:xfrm>
          <a:prstGeom prst="roundRect">
            <a:avLst>
              <a:gd name="adj" fmla="val 8131"/>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786384" y="3538330"/>
            <a:ext cx="548640" cy="787179"/>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4" name="Text 12"/>
          <p:cNvSpPr txBox="1"/>
          <p:nvPr/>
        </p:nvSpPr>
        <p:spPr>
          <a:xfrm>
            <a:off x="1463040" y="3593194"/>
            <a:ext cx="9866376" cy="677451"/>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Surgery and radiotherapy act locally. Chemotherapy acts throughout the body.</a:t>
            </a:r>
            <a:endParaRPr lang="en-GB" sz="1800" noProof="0" dirty="0"/>
          </a:p>
        </p:txBody>
      </p:sp>
      <p:sp>
        <p:nvSpPr>
          <p:cNvPr id="15" name="Shape 13"/>
          <p:cNvSpPr/>
          <p:nvPr/>
        </p:nvSpPr>
        <p:spPr>
          <a:xfrm>
            <a:off x="566928" y="4447960"/>
            <a:ext cx="11055096" cy="787179"/>
          </a:xfrm>
          <a:prstGeom prst="roundRect">
            <a:avLst>
              <a:gd name="adj" fmla="val 8131"/>
            </a:avLst>
          </a:prstGeom>
          <a:solidFill>
            <a:srgbClr val="F3F6FB"/>
          </a:solidFill>
          <a:ln w="12700">
            <a:solidFill>
              <a:srgbClr val="E0E3EA"/>
            </a:solidFill>
            <a:prstDash val="solid"/>
          </a:ln>
        </p:spPr>
        <p:txBody>
          <a:bodyPr/>
          <a:lstStyle/>
          <a:p>
            <a:endParaRPr lang="en-GB" noProof="0" dirty="0"/>
          </a:p>
        </p:txBody>
      </p:sp>
      <p:sp>
        <p:nvSpPr>
          <p:cNvPr id="16" name="Text 14"/>
          <p:cNvSpPr txBox="1"/>
          <p:nvPr/>
        </p:nvSpPr>
        <p:spPr>
          <a:xfrm>
            <a:off x="786384" y="4447960"/>
            <a:ext cx="548640" cy="787179"/>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7" name="Text 15"/>
          <p:cNvSpPr txBox="1"/>
          <p:nvPr/>
        </p:nvSpPr>
        <p:spPr>
          <a:xfrm>
            <a:off x="1463040" y="4502824"/>
            <a:ext cx="9866376" cy="677451"/>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Brachytherapy is an essential part of curative radiotherapy for many locally advanced cervical cancers.</a:t>
            </a:r>
            <a:endParaRPr lang="en-GB" sz="1800" noProof="0" dirty="0"/>
          </a:p>
        </p:txBody>
      </p:sp>
      <p:sp>
        <p:nvSpPr>
          <p:cNvPr id="18" name="Shape 16"/>
          <p:cNvSpPr/>
          <p:nvPr/>
        </p:nvSpPr>
        <p:spPr>
          <a:xfrm>
            <a:off x="566928" y="5357589"/>
            <a:ext cx="11055096" cy="787179"/>
          </a:xfrm>
          <a:prstGeom prst="roundRect">
            <a:avLst>
              <a:gd name="adj" fmla="val 8131"/>
            </a:avLst>
          </a:prstGeom>
          <a:solidFill>
            <a:srgbClr val="F3F6FB"/>
          </a:solidFill>
          <a:ln w="12700">
            <a:solidFill>
              <a:srgbClr val="E0E3EA"/>
            </a:solidFill>
            <a:prstDash val="solid"/>
          </a:ln>
        </p:spPr>
        <p:txBody>
          <a:bodyPr/>
          <a:lstStyle/>
          <a:p>
            <a:endParaRPr lang="en-GB" noProof="0" dirty="0"/>
          </a:p>
        </p:txBody>
      </p:sp>
      <p:sp>
        <p:nvSpPr>
          <p:cNvPr id="19" name="Text 17"/>
          <p:cNvSpPr txBox="1"/>
          <p:nvPr/>
        </p:nvSpPr>
        <p:spPr>
          <a:xfrm>
            <a:off x="786384" y="5357589"/>
            <a:ext cx="548640" cy="787179"/>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20" name="Text 18"/>
          <p:cNvSpPr txBox="1"/>
          <p:nvPr/>
        </p:nvSpPr>
        <p:spPr>
          <a:xfrm>
            <a:off x="1463040" y="5412453"/>
            <a:ext cx="9866376" cy="677451"/>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Fertility, cost and travel should be discussed before treatment starts, not after.</a:t>
            </a:r>
            <a:endParaRPr lang="en-GB" sz="1800" noProof="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159</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4</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Reflection</a:t>
            </a:r>
            <a:endParaRPr lang="en-GB" sz="3200" noProof="0" dirty="0"/>
          </a:p>
        </p:txBody>
      </p:sp>
      <p:sp>
        <p:nvSpPr>
          <p:cNvPr id="6" name="Text 4"/>
          <p:cNvSpPr txBox="1"/>
          <p:nvPr/>
        </p:nvSpPr>
        <p:spPr>
          <a:xfrm>
            <a:off x="566928" y="1572768"/>
            <a:ext cx="11055096" cy="384048"/>
          </a:xfrm>
          <a:prstGeom prst="rect">
            <a:avLst/>
          </a:prstGeom>
          <a:noFill/>
          <a:ln/>
        </p:spPr>
        <p:txBody>
          <a:bodyPr wrap="square" lIns="0" tIns="0" rIns="0" bIns="0" rtlCol="0" anchor="ctr"/>
          <a:lstStyle/>
          <a:p>
            <a:pPr marL="0" indent="0">
              <a:buNone/>
            </a:pPr>
            <a:r>
              <a:rPr lang="en-GB" sz="1800" i="1" noProof="0" dirty="0">
                <a:solidFill>
                  <a:srgbClr val="31507B"/>
                </a:solidFill>
                <a:latin typeface="Calibri" pitchFamily="34" charset="0"/>
                <a:ea typeface="Calibri" pitchFamily="34" charset="-122"/>
                <a:cs typeface="Calibri" pitchFamily="34" charset="-120"/>
              </a:rPr>
              <a:t>Learner instruction: Enter your response in the text box. These responses are not scored.</a:t>
            </a:r>
            <a:endParaRPr lang="en-GB" sz="1800" noProof="0" dirty="0"/>
          </a:p>
        </p:txBody>
      </p:sp>
      <p:sp>
        <p:nvSpPr>
          <p:cNvPr id="7" name="Shape 5"/>
          <p:cNvSpPr/>
          <p:nvPr/>
        </p:nvSpPr>
        <p:spPr>
          <a:xfrm>
            <a:off x="566928" y="2084832"/>
            <a:ext cx="11055096" cy="1255776"/>
          </a:xfrm>
          <a:prstGeom prst="roundRect">
            <a:avLst>
              <a:gd name="adj" fmla="val 5097"/>
            </a:avLst>
          </a:prstGeom>
          <a:solidFill>
            <a:srgbClr val="F3F6FB"/>
          </a:solidFill>
          <a:ln w="12700">
            <a:solidFill>
              <a:srgbClr val="E0E3EA"/>
            </a:solidFill>
            <a:prstDash val="solid"/>
          </a:ln>
        </p:spPr>
        <p:txBody>
          <a:bodyPr/>
          <a:lstStyle/>
          <a:p>
            <a:endParaRPr lang="en-GB" noProof="0" dirty="0"/>
          </a:p>
        </p:txBody>
      </p:sp>
      <p:sp>
        <p:nvSpPr>
          <p:cNvPr id="8" name="Shape 6"/>
          <p:cNvSpPr/>
          <p:nvPr/>
        </p:nvSpPr>
        <p:spPr>
          <a:xfrm>
            <a:off x="841248" y="2484120"/>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9" name="Text 7"/>
          <p:cNvSpPr txBox="1"/>
          <p:nvPr/>
        </p:nvSpPr>
        <p:spPr>
          <a:xfrm>
            <a:off x="841248" y="2484120"/>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mbria" pitchFamily="34" charset="0"/>
                <a:ea typeface="Cambria" pitchFamily="34" charset="-122"/>
                <a:cs typeface="Cambria" pitchFamily="34" charset="-120"/>
              </a:rPr>
              <a:t>1</a:t>
            </a:r>
            <a:endParaRPr lang="en-GB" sz="1500" noProof="0" dirty="0"/>
          </a:p>
        </p:txBody>
      </p:sp>
      <p:sp>
        <p:nvSpPr>
          <p:cNvPr id="10" name="Text 8"/>
          <p:cNvSpPr txBox="1"/>
          <p:nvPr/>
        </p:nvSpPr>
        <p:spPr>
          <a:xfrm>
            <a:off x="1517904" y="2157984"/>
            <a:ext cx="9811512" cy="1109472"/>
          </a:xfrm>
          <a:prstGeom prst="rect">
            <a:avLst/>
          </a:prstGeom>
          <a:noFill/>
          <a:ln/>
        </p:spPr>
        <p:txBody>
          <a:bodyPr wrap="square" lIns="0" tIns="0" rIns="0" bIns="0" rtlCol="0" anchor="ctr"/>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How would you explain a colposcopy and a biopsy, in plain words, to a woman who has never heard of either?</a:t>
            </a:r>
            <a:endParaRPr lang="en-GB" sz="1800" noProof="0" dirty="0"/>
          </a:p>
        </p:txBody>
      </p:sp>
      <p:sp>
        <p:nvSpPr>
          <p:cNvPr id="11" name="Shape 9"/>
          <p:cNvSpPr/>
          <p:nvPr/>
        </p:nvSpPr>
        <p:spPr>
          <a:xfrm>
            <a:off x="566928" y="3486912"/>
            <a:ext cx="11055096" cy="1255776"/>
          </a:xfrm>
          <a:prstGeom prst="roundRect">
            <a:avLst>
              <a:gd name="adj" fmla="val 5097"/>
            </a:avLst>
          </a:prstGeom>
          <a:solidFill>
            <a:srgbClr val="F3F6FB"/>
          </a:solidFill>
          <a:ln w="12700">
            <a:solidFill>
              <a:srgbClr val="E0E3EA"/>
            </a:solidFill>
            <a:prstDash val="solid"/>
          </a:ln>
        </p:spPr>
        <p:txBody>
          <a:bodyPr/>
          <a:lstStyle/>
          <a:p>
            <a:endParaRPr lang="en-GB" noProof="0" dirty="0"/>
          </a:p>
        </p:txBody>
      </p:sp>
      <p:sp>
        <p:nvSpPr>
          <p:cNvPr id="12" name="Shape 10"/>
          <p:cNvSpPr/>
          <p:nvPr/>
        </p:nvSpPr>
        <p:spPr>
          <a:xfrm>
            <a:off x="841248" y="3886200"/>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13" name="Text 11"/>
          <p:cNvSpPr txBox="1"/>
          <p:nvPr/>
        </p:nvSpPr>
        <p:spPr>
          <a:xfrm>
            <a:off x="841248" y="3886200"/>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mbria" pitchFamily="34" charset="0"/>
                <a:ea typeface="Cambria" pitchFamily="34" charset="-122"/>
                <a:cs typeface="Cambria" pitchFamily="34" charset="-120"/>
              </a:rPr>
              <a:t>2</a:t>
            </a:r>
            <a:endParaRPr lang="en-GB" sz="1500" noProof="0" dirty="0"/>
          </a:p>
        </p:txBody>
      </p:sp>
      <p:sp>
        <p:nvSpPr>
          <p:cNvPr id="14" name="Text 12"/>
          <p:cNvSpPr txBox="1"/>
          <p:nvPr/>
        </p:nvSpPr>
        <p:spPr>
          <a:xfrm>
            <a:off x="1517904" y="3560064"/>
            <a:ext cx="9811512" cy="1109472"/>
          </a:xfrm>
          <a:prstGeom prst="rect">
            <a:avLst/>
          </a:prstGeom>
          <a:noFill/>
          <a:ln/>
        </p:spPr>
        <p:txBody>
          <a:bodyPr wrap="square" lIns="0" tIns="0" rIns="0" bIns="0" rtlCol="0" anchor="ctr"/>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How would you describe the difference between a treatment that acts locally and one that acts throughout the body?</a:t>
            </a:r>
            <a:endParaRPr lang="en-GB" sz="1800" noProof="0" dirty="0"/>
          </a:p>
        </p:txBody>
      </p:sp>
      <p:sp>
        <p:nvSpPr>
          <p:cNvPr id="15" name="Shape 13"/>
          <p:cNvSpPr/>
          <p:nvPr/>
        </p:nvSpPr>
        <p:spPr>
          <a:xfrm>
            <a:off x="566928" y="4888992"/>
            <a:ext cx="11055096" cy="1255776"/>
          </a:xfrm>
          <a:prstGeom prst="roundRect">
            <a:avLst>
              <a:gd name="adj" fmla="val 5097"/>
            </a:avLst>
          </a:prstGeom>
          <a:solidFill>
            <a:srgbClr val="F3F6FB"/>
          </a:solidFill>
          <a:ln w="12700">
            <a:solidFill>
              <a:srgbClr val="E0E3EA"/>
            </a:solidFill>
            <a:prstDash val="solid"/>
          </a:ln>
        </p:spPr>
        <p:txBody>
          <a:bodyPr/>
          <a:lstStyle/>
          <a:p>
            <a:endParaRPr lang="en-GB" noProof="0" dirty="0"/>
          </a:p>
        </p:txBody>
      </p:sp>
      <p:sp>
        <p:nvSpPr>
          <p:cNvPr id="16" name="Shape 14"/>
          <p:cNvSpPr/>
          <p:nvPr/>
        </p:nvSpPr>
        <p:spPr>
          <a:xfrm>
            <a:off x="841248" y="5288280"/>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17" name="Text 15"/>
          <p:cNvSpPr txBox="1"/>
          <p:nvPr/>
        </p:nvSpPr>
        <p:spPr>
          <a:xfrm>
            <a:off x="841248" y="5288280"/>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mbria" pitchFamily="34" charset="0"/>
                <a:ea typeface="Cambria" pitchFamily="34" charset="-122"/>
                <a:cs typeface="Cambria" pitchFamily="34" charset="-120"/>
              </a:rPr>
              <a:t>3</a:t>
            </a:r>
            <a:endParaRPr lang="en-GB" sz="1500" noProof="0" dirty="0"/>
          </a:p>
        </p:txBody>
      </p:sp>
      <p:sp>
        <p:nvSpPr>
          <p:cNvPr id="18" name="Text 16"/>
          <p:cNvSpPr txBox="1"/>
          <p:nvPr/>
        </p:nvSpPr>
        <p:spPr>
          <a:xfrm>
            <a:off x="1517904" y="4962144"/>
            <a:ext cx="9811512" cy="1109472"/>
          </a:xfrm>
          <a:prstGeom prst="rect">
            <a:avLst/>
          </a:prstGeom>
          <a:noFill/>
          <a:ln/>
        </p:spPr>
        <p:txBody>
          <a:bodyPr wrap="square" lIns="0" tIns="0" rIns="0" bIns="0" rtlCol="0" anchor="ctr"/>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Which misconception about cervical cancer would you most want to correct in your setting, and how would you go about it?</a:t>
            </a:r>
            <a:endParaRPr lang="en-GB" sz="1800" noProof="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38">
    <p:bg>
      <p:bgPr>
        <a:solidFill>
          <a:srgbClr val="0E2F5C"/>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8FA3C2"/>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8FA3C2"/>
                </a:solidFill>
                <a:latin typeface="Calibri" pitchFamily="34" charset="0"/>
                <a:ea typeface="Calibri" pitchFamily="34" charset="-122"/>
                <a:cs typeface="Calibri" pitchFamily="34" charset="-120"/>
              </a:rPr>
              <a:t>Screen 160</a:t>
            </a:r>
            <a:endParaRPr lang="en-GB" sz="1100" noProof="0" dirty="0"/>
          </a:p>
        </p:txBody>
      </p:sp>
      <p:sp>
        <p:nvSpPr>
          <p:cNvPr id="4" name="Text 2"/>
          <p:cNvSpPr txBox="1"/>
          <p:nvPr/>
        </p:nvSpPr>
        <p:spPr>
          <a:xfrm>
            <a:off x="7680960" y="365760"/>
            <a:ext cx="4023360" cy="5852160"/>
          </a:xfrm>
          <a:prstGeom prst="rect">
            <a:avLst/>
          </a:prstGeom>
          <a:noFill/>
          <a:ln/>
        </p:spPr>
        <p:txBody>
          <a:bodyPr wrap="square" lIns="0" tIns="0" rIns="0" bIns="0" rtlCol="0" anchor="ctr"/>
          <a:lstStyle/>
          <a:p>
            <a:pPr marL="0" indent="0" algn="r">
              <a:buNone/>
            </a:pPr>
            <a:r>
              <a:rPr lang="en-GB" sz="30000" b="1" noProof="0" dirty="0">
                <a:solidFill>
                  <a:srgbClr val="16406F"/>
                </a:solidFill>
                <a:latin typeface="Cambria" pitchFamily="34" charset="0"/>
                <a:ea typeface="Cambria" pitchFamily="34" charset="-122"/>
                <a:cs typeface="Cambria" pitchFamily="34" charset="-120"/>
              </a:rPr>
              <a:t>5</a:t>
            </a:r>
            <a:endParaRPr lang="en-GB" sz="30000" noProof="0" dirty="0"/>
          </a:p>
        </p:txBody>
      </p:sp>
      <p:sp>
        <p:nvSpPr>
          <p:cNvPr id="5" name="Text 3"/>
          <p:cNvSpPr txBox="1"/>
          <p:nvPr/>
        </p:nvSpPr>
        <p:spPr>
          <a:xfrm>
            <a:off x="566928" y="1874520"/>
            <a:ext cx="7315200" cy="329184"/>
          </a:xfrm>
          <a:prstGeom prst="rect">
            <a:avLst/>
          </a:prstGeom>
          <a:noFill/>
          <a:ln/>
        </p:spPr>
        <p:txBody>
          <a:bodyPr wrap="square" lIns="0" tIns="0" rIns="0" bIns="0" rtlCol="0" anchor="ctr"/>
          <a:lstStyle/>
          <a:p>
            <a:pPr marL="0" indent="0">
              <a:buNone/>
            </a:pPr>
            <a:r>
              <a:rPr lang="en-GB" sz="1300" b="1" kern="0" spc="300" noProof="0" dirty="0">
                <a:solidFill>
                  <a:srgbClr val="9FB8DA"/>
                </a:solidFill>
                <a:latin typeface="Calibri" pitchFamily="34" charset="0"/>
                <a:ea typeface="Calibri" pitchFamily="34" charset="-122"/>
                <a:cs typeface="Calibri" pitchFamily="34" charset="-120"/>
              </a:rPr>
              <a:t>S E S S I O N   5</a:t>
            </a:r>
            <a:endParaRPr lang="en-GB" sz="1300" noProof="0" dirty="0"/>
          </a:p>
        </p:txBody>
      </p:sp>
      <p:sp>
        <p:nvSpPr>
          <p:cNvPr id="6" name="Text 4"/>
          <p:cNvSpPr txBox="1"/>
          <p:nvPr/>
        </p:nvSpPr>
        <p:spPr>
          <a:xfrm>
            <a:off x="566928" y="2286000"/>
            <a:ext cx="7680960" cy="1371600"/>
          </a:xfrm>
          <a:prstGeom prst="rect">
            <a:avLst/>
          </a:prstGeom>
          <a:noFill/>
          <a:ln/>
        </p:spPr>
        <p:txBody>
          <a:bodyPr wrap="square" lIns="0" tIns="0" rIns="0" bIns="0" rtlCol="0" anchor="ctr"/>
          <a:lstStyle/>
          <a:p>
            <a:pPr marL="0" indent="0">
              <a:buNone/>
            </a:pPr>
            <a:r>
              <a:rPr lang="en-GB" sz="4000" b="1" noProof="0" dirty="0">
                <a:solidFill>
                  <a:srgbClr val="FFFFFF"/>
                </a:solidFill>
                <a:latin typeface="Cambria" pitchFamily="34" charset="0"/>
                <a:ea typeface="Cambria" pitchFamily="34" charset="-122"/>
                <a:cs typeface="Cambria" pitchFamily="34" charset="-120"/>
              </a:rPr>
              <a:t>Supportive treatment</a:t>
            </a:r>
            <a:endParaRPr lang="en-GB" sz="4000" noProof="0" dirty="0"/>
          </a:p>
        </p:txBody>
      </p:sp>
      <p:sp>
        <p:nvSpPr>
          <p:cNvPr id="7" name="Text 5"/>
          <p:cNvSpPr txBox="1"/>
          <p:nvPr/>
        </p:nvSpPr>
        <p:spPr>
          <a:xfrm>
            <a:off x="566928" y="3794760"/>
            <a:ext cx="7040880" cy="1463040"/>
          </a:xfrm>
          <a:prstGeom prst="rect">
            <a:avLst/>
          </a:prstGeom>
          <a:noFill/>
          <a:ln/>
        </p:spPr>
        <p:txBody>
          <a:bodyPr wrap="square" lIns="0" tIns="0" rIns="0" bIns="0" rtlCol="0" anchor="t"/>
          <a:lstStyle/>
          <a:p>
            <a:pPr marL="0" indent="0">
              <a:lnSpc>
                <a:spcPct val="118000"/>
              </a:lnSpc>
              <a:buNone/>
            </a:pPr>
            <a:r>
              <a:rPr lang="en-GB" sz="1800" noProof="0" dirty="0">
                <a:solidFill>
                  <a:srgbClr val="C6D5EA"/>
                </a:solidFill>
                <a:latin typeface="Calibri" pitchFamily="34" charset="0"/>
                <a:ea typeface="Calibri" pitchFamily="34" charset="-122"/>
                <a:cs typeface="Calibri" pitchFamily="34" charset="-120"/>
              </a:rPr>
              <a:t>Support women through treatment and beyond: recognise the effects, know which need urgent care, protect sexual and reproductive wellbeing, and keep dignity at the centre.</a:t>
            </a:r>
            <a:endParaRPr lang="en-GB" sz="1800" noProof="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161</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5</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Learning objectives</a:t>
            </a:r>
            <a:endParaRPr lang="en-GB" sz="3200" noProof="0" dirty="0"/>
          </a:p>
        </p:txBody>
      </p:sp>
      <p:sp>
        <p:nvSpPr>
          <p:cNvPr id="6" name="Text 4"/>
          <p:cNvSpPr txBox="1"/>
          <p:nvPr/>
        </p:nvSpPr>
        <p:spPr>
          <a:xfrm>
            <a:off x="566928" y="1554480"/>
            <a:ext cx="11055096" cy="384048"/>
          </a:xfrm>
          <a:prstGeom prst="rect">
            <a:avLst/>
          </a:prstGeom>
          <a:noFill/>
          <a:ln/>
        </p:spPr>
        <p:txBody>
          <a:bodyPr wrap="square" lIns="0" tIns="0" rIns="0" bIns="0" rtlCol="0" anchor="ctr"/>
          <a:lstStyle/>
          <a:p>
            <a:pPr marL="0" indent="0">
              <a:buNone/>
            </a:pPr>
            <a:r>
              <a:rPr lang="en-GB" sz="1800" noProof="0" dirty="0">
                <a:solidFill>
                  <a:srgbClr val="23303F"/>
                </a:solidFill>
                <a:latin typeface="Calibri" pitchFamily="34" charset="0"/>
                <a:ea typeface="Calibri" pitchFamily="34" charset="-122"/>
                <a:cs typeface="Calibri" pitchFamily="34" charset="-120"/>
              </a:rPr>
              <a:t>By the end of this session you will be able to:</a:t>
            </a:r>
            <a:endParaRPr lang="en-GB" sz="1800" noProof="0" dirty="0"/>
          </a:p>
        </p:txBody>
      </p:sp>
      <p:sp>
        <p:nvSpPr>
          <p:cNvPr id="7" name="Shape 5"/>
          <p:cNvSpPr/>
          <p:nvPr/>
        </p:nvSpPr>
        <p:spPr>
          <a:xfrm>
            <a:off x="566928" y="1975104"/>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8" name="Shape 6"/>
          <p:cNvSpPr/>
          <p:nvPr/>
        </p:nvSpPr>
        <p:spPr>
          <a:xfrm>
            <a:off x="804672" y="2069889"/>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9" name="Text 7"/>
          <p:cNvSpPr txBox="1"/>
          <p:nvPr/>
        </p:nvSpPr>
        <p:spPr>
          <a:xfrm>
            <a:off x="804672" y="2069889"/>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1</a:t>
            </a:r>
            <a:endParaRPr lang="en-GB" sz="1400" noProof="0" dirty="0"/>
          </a:p>
        </p:txBody>
      </p:sp>
      <p:sp>
        <p:nvSpPr>
          <p:cNvPr id="10" name="Text 8"/>
          <p:cNvSpPr txBox="1"/>
          <p:nvPr/>
        </p:nvSpPr>
        <p:spPr>
          <a:xfrm>
            <a:off x="1463040" y="2029968"/>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Recognise the common effects of surgery, radiotherapy, brachytherapy and chemotherapy.</a:t>
            </a:r>
            <a:endParaRPr lang="en-GB" sz="1800" noProof="0" dirty="0"/>
          </a:p>
        </p:txBody>
      </p:sp>
      <p:sp>
        <p:nvSpPr>
          <p:cNvPr id="11" name="Shape 9"/>
          <p:cNvSpPr/>
          <p:nvPr/>
        </p:nvSpPr>
        <p:spPr>
          <a:xfrm>
            <a:off x="566928" y="2686998"/>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12" name="Shape 10"/>
          <p:cNvSpPr/>
          <p:nvPr/>
        </p:nvSpPr>
        <p:spPr>
          <a:xfrm>
            <a:off x="804672" y="2781783"/>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13" name="Text 11"/>
          <p:cNvSpPr txBox="1"/>
          <p:nvPr/>
        </p:nvSpPr>
        <p:spPr>
          <a:xfrm>
            <a:off x="804672" y="2781783"/>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2</a:t>
            </a:r>
            <a:endParaRPr lang="en-GB" sz="1400" noProof="0" dirty="0"/>
          </a:p>
        </p:txBody>
      </p:sp>
      <p:sp>
        <p:nvSpPr>
          <p:cNvPr id="14" name="Text 12"/>
          <p:cNvSpPr txBox="1"/>
          <p:nvPr/>
        </p:nvSpPr>
        <p:spPr>
          <a:xfrm>
            <a:off x="1463040" y="2741862"/>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Sort effects into expected, needing assessment soon, and urgent.</a:t>
            </a:r>
            <a:endParaRPr lang="en-GB" sz="1800" noProof="0" dirty="0"/>
          </a:p>
        </p:txBody>
      </p:sp>
      <p:sp>
        <p:nvSpPr>
          <p:cNvPr id="15" name="Shape 13"/>
          <p:cNvSpPr/>
          <p:nvPr/>
        </p:nvSpPr>
        <p:spPr>
          <a:xfrm>
            <a:off x="566928" y="3398892"/>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16" name="Shape 14"/>
          <p:cNvSpPr/>
          <p:nvPr/>
        </p:nvSpPr>
        <p:spPr>
          <a:xfrm>
            <a:off x="804672" y="3493677"/>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17" name="Text 15"/>
          <p:cNvSpPr txBox="1"/>
          <p:nvPr/>
        </p:nvSpPr>
        <p:spPr>
          <a:xfrm>
            <a:off x="804672" y="3493677"/>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3</a:t>
            </a:r>
            <a:endParaRPr lang="en-GB" sz="1400" noProof="0" dirty="0"/>
          </a:p>
        </p:txBody>
      </p:sp>
      <p:sp>
        <p:nvSpPr>
          <p:cNvPr id="18" name="Text 16"/>
          <p:cNvSpPr txBox="1"/>
          <p:nvPr/>
        </p:nvSpPr>
        <p:spPr>
          <a:xfrm>
            <a:off x="1463040" y="3453756"/>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Discuss sexual and reproductive health after treatment, respectfully and without assumptions.</a:t>
            </a:r>
            <a:endParaRPr lang="en-GB" sz="1800" noProof="0" dirty="0"/>
          </a:p>
        </p:txBody>
      </p:sp>
      <p:sp>
        <p:nvSpPr>
          <p:cNvPr id="19" name="Shape 17"/>
          <p:cNvSpPr/>
          <p:nvPr/>
        </p:nvSpPr>
        <p:spPr>
          <a:xfrm>
            <a:off x="566928" y="4110786"/>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20" name="Shape 18"/>
          <p:cNvSpPr/>
          <p:nvPr/>
        </p:nvSpPr>
        <p:spPr>
          <a:xfrm>
            <a:off x="804672" y="4205571"/>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21" name="Text 19"/>
          <p:cNvSpPr txBox="1"/>
          <p:nvPr/>
        </p:nvSpPr>
        <p:spPr>
          <a:xfrm>
            <a:off x="804672" y="4205571"/>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4</a:t>
            </a:r>
            <a:endParaRPr lang="en-GB" sz="1400" noProof="0" dirty="0"/>
          </a:p>
        </p:txBody>
      </p:sp>
      <p:sp>
        <p:nvSpPr>
          <p:cNvPr id="22" name="Text 20"/>
          <p:cNvSpPr txBox="1"/>
          <p:nvPr/>
        </p:nvSpPr>
        <p:spPr>
          <a:xfrm>
            <a:off x="1463040" y="4165650"/>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Describe what palliative care offers and when it belongs in a woman's care.</a:t>
            </a:r>
            <a:endParaRPr lang="en-GB" sz="1800" noProof="0" dirty="0"/>
          </a:p>
        </p:txBody>
      </p:sp>
      <p:sp>
        <p:nvSpPr>
          <p:cNvPr id="23" name="Shape 21"/>
          <p:cNvSpPr/>
          <p:nvPr/>
        </p:nvSpPr>
        <p:spPr>
          <a:xfrm>
            <a:off x="566928" y="4822679"/>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24" name="Shape 22"/>
          <p:cNvSpPr/>
          <p:nvPr/>
        </p:nvSpPr>
        <p:spPr>
          <a:xfrm>
            <a:off x="804672" y="4917465"/>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25" name="Text 23"/>
          <p:cNvSpPr txBox="1"/>
          <p:nvPr/>
        </p:nvSpPr>
        <p:spPr>
          <a:xfrm>
            <a:off x="804672" y="4917465"/>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5</a:t>
            </a:r>
            <a:endParaRPr lang="en-GB" sz="1400" noProof="0" dirty="0"/>
          </a:p>
        </p:txBody>
      </p:sp>
      <p:sp>
        <p:nvSpPr>
          <p:cNvPr id="26" name="Text 24"/>
          <p:cNvSpPr txBox="1"/>
          <p:nvPr/>
        </p:nvSpPr>
        <p:spPr>
          <a:xfrm>
            <a:off x="1463040" y="4877543"/>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Support quality of life, including nutrition, work, dignity and emotional wellbeing.</a:t>
            </a:r>
            <a:endParaRPr lang="en-GB" sz="1800" noProof="0" dirty="0"/>
          </a:p>
        </p:txBody>
      </p:sp>
      <p:sp>
        <p:nvSpPr>
          <p:cNvPr id="27" name="Shape 25"/>
          <p:cNvSpPr/>
          <p:nvPr/>
        </p:nvSpPr>
        <p:spPr>
          <a:xfrm>
            <a:off x="566928" y="5534573"/>
            <a:ext cx="11055096" cy="610195"/>
          </a:xfrm>
          <a:prstGeom prst="roundRect">
            <a:avLst>
              <a:gd name="adj" fmla="val 10490"/>
            </a:avLst>
          </a:prstGeom>
          <a:solidFill>
            <a:srgbClr val="F3F6FB"/>
          </a:solidFill>
          <a:ln w="12700">
            <a:solidFill>
              <a:srgbClr val="E0E3EA"/>
            </a:solidFill>
            <a:prstDash val="solid"/>
          </a:ln>
        </p:spPr>
        <p:txBody>
          <a:bodyPr/>
          <a:lstStyle/>
          <a:p>
            <a:endParaRPr lang="en-GB" noProof="0" dirty="0"/>
          </a:p>
        </p:txBody>
      </p:sp>
      <p:sp>
        <p:nvSpPr>
          <p:cNvPr id="28" name="Shape 26"/>
          <p:cNvSpPr/>
          <p:nvPr/>
        </p:nvSpPr>
        <p:spPr>
          <a:xfrm>
            <a:off x="804672" y="5629359"/>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29" name="Text 27"/>
          <p:cNvSpPr txBox="1"/>
          <p:nvPr/>
        </p:nvSpPr>
        <p:spPr>
          <a:xfrm>
            <a:off x="804672" y="5629359"/>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6</a:t>
            </a:r>
            <a:endParaRPr lang="en-GB" sz="1400" noProof="0" dirty="0"/>
          </a:p>
        </p:txBody>
      </p:sp>
      <p:sp>
        <p:nvSpPr>
          <p:cNvPr id="30" name="Text 28"/>
          <p:cNvSpPr txBox="1"/>
          <p:nvPr/>
        </p:nvSpPr>
        <p:spPr>
          <a:xfrm>
            <a:off x="1463040" y="5589437"/>
            <a:ext cx="9866376" cy="50046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Explain the purpose of follow-up and encourage prompt reporting of new symptoms.</a:t>
            </a:r>
            <a:endParaRPr lang="en-GB" sz="1800" noProof="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162</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5 · ADVERSE EFFECTS</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Effects to recognise</a:t>
            </a:r>
            <a:endParaRPr lang="en-GB" sz="3200" noProof="0" dirty="0"/>
          </a:p>
        </p:txBody>
      </p:sp>
      <p:sp>
        <p:nvSpPr>
          <p:cNvPr id="6" name="Shape 4"/>
          <p:cNvSpPr/>
          <p:nvPr/>
        </p:nvSpPr>
        <p:spPr>
          <a:xfrm>
            <a:off x="566928" y="1397791"/>
            <a:ext cx="3563112" cy="4261603"/>
          </a:xfrm>
          <a:prstGeom prst="roundRect">
            <a:avLst>
              <a:gd name="adj" fmla="val 2310"/>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822960" y="1376534"/>
            <a:ext cx="3051048" cy="56692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  After surgery</a:t>
            </a:r>
            <a:endParaRPr lang="en-GB" noProof="0" dirty="0"/>
          </a:p>
        </p:txBody>
      </p:sp>
      <p:sp>
        <p:nvSpPr>
          <p:cNvPr id="8" name="Text 6"/>
          <p:cNvSpPr txBox="1"/>
          <p:nvPr/>
        </p:nvSpPr>
        <p:spPr>
          <a:xfrm>
            <a:off x="853442" y="1905401"/>
            <a:ext cx="3051048" cy="261518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Pain and fatigue during recovery.</a:t>
            </a:r>
            <a:endParaRPr lang="en-GB" sz="1600" noProof="0" dirty="0"/>
          </a:p>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Difficulty emptying the bladder.</a:t>
            </a:r>
            <a:endParaRPr lang="en-GB" sz="1600" noProof="0" dirty="0"/>
          </a:p>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Leg swelling after lymph node removal.</a:t>
            </a:r>
            <a:endParaRPr lang="en-GB" sz="1600" noProof="0" dirty="0"/>
          </a:p>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Early menopause if ovaries removed.</a:t>
            </a:r>
            <a:endParaRPr lang="en-GB" sz="1600" noProof="0" dirty="0"/>
          </a:p>
        </p:txBody>
      </p:sp>
      <p:sp>
        <p:nvSpPr>
          <p:cNvPr id="9" name="Shape 7"/>
          <p:cNvSpPr/>
          <p:nvPr/>
        </p:nvSpPr>
        <p:spPr>
          <a:xfrm>
            <a:off x="4312920" y="1397791"/>
            <a:ext cx="3563112" cy="4261603"/>
          </a:xfrm>
          <a:prstGeom prst="roundRect">
            <a:avLst>
              <a:gd name="adj" fmla="val 2310"/>
            </a:avLst>
          </a:prstGeom>
          <a:solidFill>
            <a:srgbClr val="ECF3FD"/>
          </a:solidFill>
          <a:ln w="12700">
            <a:solidFill>
              <a:srgbClr val="E0E3EA"/>
            </a:solidFill>
            <a:prstDash val="solid"/>
          </a:ln>
        </p:spPr>
        <p:txBody>
          <a:bodyPr/>
          <a:lstStyle/>
          <a:p>
            <a:endParaRPr lang="en-GB" noProof="0" dirty="0"/>
          </a:p>
        </p:txBody>
      </p:sp>
      <p:sp>
        <p:nvSpPr>
          <p:cNvPr id="10" name="Text 8"/>
          <p:cNvSpPr txBox="1"/>
          <p:nvPr/>
        </p:nvSpPr>
        <p:spPr>
          <a:xfrm>
            <a:off x="4568952" y="1376534"/>
            <a:ext cx="3051048" cy="56692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  After radiotherapy</a:t>
            </a:r>
            <a:endParaRPr lang="en-GB" noProof="0" dirty="0"/>
          </a:p>
        </p:txBody>
      </p:sp>
      <p:sp>
        <p:nvSpPr>
          <p:cNvPr id="11" name="Text 9"/>
          <p:cNvSpPr txBox="1"/>
          <p:nvPr/>
        </p:nvSpPr>
        <p:spPr>
          <a:xfrm>
            <a:off x="4573016" y="1905401"/>
            <a:ext cx="3101847" cy="261518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Fatigue, diarrhoea, bladder irritation.</a:t>
            </a:r>
            <a:endParaRPr lang="en-GB" sz="1600" noProof="0" dirty="0"/>
          </a:p>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Skin changes in the treated area.</a:t>
            </a:r>
            <a:endParaRPr lang="en-GB" sz="1600" noProof="0" dirty="0"/>
          </a:p>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Vaginal dryness and narrowing later.</a:t>
            </a:r>
            <a:endParaRPr lang="en-GB" sz="1600" noProof="0" dirty="0"/>
          </a:p>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Late bowel and bladder effects.</a:t>
            </a:r>
            <a:endParaRPr lang="en-GB" sz="1600" noProof="0" dirty="0"/>
          </a:p>
        </p:txBody>
      </p:sp>
      <p:sp>
        <p:nvSpPr>
          <p:cNvPr id="12" name="Shape 10"/>
          <p:cNvSpPr/>
          <p:nvPr/>
        </p:nvSpPr>
        <p:spPr>
          <a:xfrm>
            <a:off x="8058912" y="1397791"/>
            <a:ext cx="3563112" cy="4261603"/>
          </a:xfrm>
          <a:prstGeom prst="roundRect">
            <a:avLst>
              <a:gd name="adj" fmla="val 2310"/>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8314944" y="1376534"/>
            <a:ext cx="3051048" cy="566928"/>
          </a:xfrm>
          <a:prstGeom prst="rect">
            <a:avLst/>
          </a:prstGeom>
          <a:noFill/>
          <a:ln/>
        </p:spPr>
        <p:txBody>
          <a:bodyPr wrap="square" lIns="0" tIns="0" rIns="0" bIns="0" rtlCol="0" anchor="ctr"/>
          <a:lstStyle/>
          <a:p>
            <a:pPr marL="0" indent="0">
              <a:buNone/>
            </a:pPr>
            <a:r>
              <a:rPr lang="en-GB" b="1" noProof="0" dirty="0">
                <a:solidFill>
                  <a:srgbClr val="10305A"/>
                </a:solidFill>
                <a:latin typeface="Calibri" pitchFamily="34" charset="0"/>
                <a:ea typeface="Calibri" pitchFamily="34" charset="-122"/>
                <a:cs typeface="Calibri" pitchFamily="34" charset="-120"/>
              </a:rPr>
              <a:t>💊  After chemotherapy</a:t>
            </a:r>
            <a:endParaRPr lang="en-GB" noProof="0" dirty="0"/>
          </a:p>
        </p:txBody>
      </p:sp>
      <p:sp>
        <p:nvSpPr>
          <p:cNvPr id="14" name="Text 12"/>
          <p:cNvSpPr txBox="1"/>
          <p:nvPr/>
        </p:nvSpPr>
        <p:spPr>
          <a:xfrm>
            <a:off x="8200478" y="1905401"/>
            <a:ext cx="3319948" cy="2615184"/>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Fatigue, nausea and vomiting.</a:t>
            </a:r>
            <a:endParaRPr lang="en-GB" sz="1600" noProof="0" dirty="0"/>
          </a:p>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Low blood counts and infection risk.</a:t>
            </a:r>
            <a:endParaRPr lang="en-GB" sz="1600" noProof="0" dirty="0"/>
          </a:p>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Mouth soreness and change in taste.</a:t>
            </a:r>
            <a:endParaRPr lang="en-GB" sz="1600" noProof="0" dirty="0"/>
          </a:p>
          <a:p>
            <a:pPr marL="342900" indent="-342900">
              <a:lnSpc>
                <a:spcPct val="102000"/>
              </a:lnSpc>
              <a:spcAft>
                <a:spcPts val="800"/>
              </a:spcAft>
              <a:buSzPct val="100000"/>
              <a:buChar char="•"/>
            </a:pPr>
            <a:r>
              <a:rPr lang="en-GB" sz="1600" noProof="0" dirty="0">
                <a:solidFill>
                  <a:srgbClr val="23303F"/>
                </a:solidFill>
                <a:latin typeface="Calibri" pitchFamily="34" charset="0"/>
                <a:ea typeface="Calibri" pitchFamily="34" charset="-122"/>
                <a:cs typeface="Calibri" pitchFamily="34" charset="-120"/>
              </a:rPr>
              <a:t>Kidney effects with some medicines.</a:t>
            </a:r>
            <a:endParaRPr lang="en-GB" sz="1600" noProof="0" dirty="0"/>
          </a:p>
        </p:txBody>
      </p:sp>
      <p:sp>
        <p:nvSpPr>
          <p:cNvPr id="15" name="Shape 13"/>
          <p:cNvSpPr/>
          <p:nvPr/>
        </p:nvSpPr>
        <p:spPr>
          <a:xfrm>
            <a:off x="566928" y="5832388"/>
            <a:ext cx="11055096" cy="440395"/>
          </a:xfrm>
          <a:prstGeom prst="roundRect">
            <a:avLst>
              <a:gd name="adj" fmla="val 8140"/>
            </a:avLst>
          </a:prstGeom>
          <a:solidFill>
            <a:srgbClr val="ECF3FD"/>
          </a:solidFill>
          <a:ln w="12700">
            <a:solidFill>
              <a:srgbClr val="E0E3EA"/>
            </a:solidFill>
            <a:prstDash val="solid"/>
          </a:ln>
        </p:spPr>
        <p:txBody>
          <a:bodyPr/>
          <a:lstStyle/>
          <a:p>
            <a:endParaRPr lang="en-GB" noProof="0" dirty="0"/>
          </a:p>
        </p:txBody>
      </p:sp>
      <p:sp>
        <p:nvSpPr>
          <p:cNvPr id="16" name="Text 14"/>
          <p:cNvSpPr txBox="1"/>
          <p:nvPr/>
        </p:nvSpPr>
        <p:spPr>
          <a:xfrm>
            <a:off x="841248" y="5869459"/>
            <a:ext cx="10506456" cy="385531"/>
          </a:xfrm>
          <a:prstGeom prst="rect">
            <a:avLst/>
          </a:prstGeom>
          <a:noFill/>
          <a:ln/>
        </p:spPr>
        <p:txBody>
          <a:bodyPr wrap="square" lIns="0" tIns="0" rIns="0" bIns="0" rtlCol="0" anchor="ctr"/>
          <a:lstStyle/>
          <a:p>
            <a:pPr marL="0" indent="0">
              <a:lnSpc>
                <a:spcPct val="104000"/>
              </a:lnSpc>
              <a:buNone/>
            </a:pPr>
            <a:r>
              <a:rPr lang="en-GB" sz="1800" b="1" noProof="0" dirty="0">
                <a:solidFill>
                  <a:srgbClr val="10305A"/>
                </a:solidFill>
                <a:latin typeface="Calibri" pitchFamily="34" charset="0"/>
                <a:ea typeface="Calibri" pitchFamily="34" charset="-122"/>
                <a:cs typeface="Calibri" pitchFamily="34" charset="-120"/>
              </a:rPr>
              <a:t>📌 Your role:  </a:t>
            </a:r>
            <a:r>
              <a:rPr lang="en-GB" sz="1800" noProof="0" dirty="0">
                <a:solidFill>
                  <a:srgbClr val="23303F"/>
                </a:solidFill>
                <a:latin typeface="Calibri" pitchFamily="34" charset="0"/>
                <a:ea typeface="Calibri" pitchFamily="34" charset="-122"/>
                <a:cs typeface="Calibri" pitchFamily="34" charset="-120"/>
              </a:rPr>
              <a:t>Recognise, explain, monitor, support and escalate. You do not manage the cancer treatment itself.</a:t>
            </a:r>
            <a:endParaRPr lang="en-GB" sz="1800" noProof="0" dirty="0"/>
          </a:p>
        </p:txBody>
      </p:sp>
      <p:pic>
        <p:nvPicPr>
          <p:cNvPr id="17" name="Imagen 16">
            <a:extLst>
              <a:ext uri="{FF2B5EF4-FFF2-40B4-BE49-F238E27FC236}">
                <a16:creationId xmlns:a16="http://schemas.microsoft.com/office/drawing/2014/main" id="{50AA0B85-10DB-F6D1-DCA9-2171815DF5D3}"/>
              </a:ext>
            </a:extLst>
          </p:cNvPr>
          <p:cNvPicPr>
            <a:picLocks noChangeAspect="1"/>
          </p:cNvPicPr>
          <p:nvPr/>
        </p:nvPicPr>
        <p:blipFill>
          <a:blip r:embed="rId3"/>
          <a:srcRect/>
          <a:stretch>
            <a:fillRect/>
          </a:stretch>
        </p:blipFill>
        <p:spPr>
          <a:xfrm>
            <a:off x="1327912" y="3664201"/>
            <a:ext cx="2058755" cy="2058755"/>
          </a:xfrm>
          <a:prstGeom prst="rect">
            <a:avLst/>
          </a:prstGeom>
        </p:spPr>
      </p:pic>
      <p:pic>
        <p:nvPicPr>
          <p:cNvPr id="19" name="Imagen 18">
            <a:extLst>
              <a:ext uri="{FF2B5EF4-FFF2-40B4-BE49-F238E27FC236}">
                <a16:creationId xmlns:a16="http://schemas.microsoft.com/office/drawing/2014/main" id="{3A6AC1B1-09AC-5BE1-4157-304C141878D6}"/>
              </a:ext>
            </a:extLst>
          </p:cNvPr>
          <p:cNvPicPr>
            <a:picLocks noChangeAspect="1"/>
          </p:cNvPicPr>
          <p:nvPr/>
        </p:nvPicPr>
        <p:blipFill>
          <a:blip r:embed="rId4"/>
          <a:srcRect/>
          <a:stretch>
            <a:fillRect/>
          </a:stretch>
        </p:blipFill>
        <p:spPr>
          <a:xfrm>
            <a:off x="8894673" y="3747783"/>
            <a:ext cx="1891589" cy="1891589"/>
          </a:xfrm>
          <a:prstGeom prst="rect">
            <a:avLst/>
          </a:prstGeom>
        </p:spPr>
      </p:pic>
      <p:pic>
        <p:nvPicPr>
          <p:cNvPr id="20" name="Imagen 19">
            <a:extLst>
              <a:ext uri="{FF2B5EF4-FFF2-40B4-BE49-F238E27FC236}">
                <a16:creationId xmlns:a16="http://schemas.microsoft.com/office/drawing/2014/main" id="{0A4E6BDF-9162-5903-24EB-F3E9CD38E923}"/>
              </a:ext>
            </a:extLst>
          </p:cNvPr>
          <p:cNvPicPr>
            <a:picLocks noChangeAspect="1"/>
          </p:cNvPicPr>
          <p:nvPr/>
        </p:nvPicPr>
        <p:blipFill>
          <a:blip r:embed="rId5"/>
          <a:srcRect/>
          <a:stretch>
            <a:fillRect/>
          </a:stretch>
        </p:blipFill>
        <p:spPr>
          <a:xfrm>
            <a:off x="5138726" y="3747783"/>
            <a:ext cx="1914548" cy="1914548"/>
          </a:xfrm>
          <a:prstGeom prst="rect">
            <a:avLst/>
          </a:prstGeom>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163</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5 · INTERACTIVE</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Sort these symptoms by urgency</a:t>
            </a:r>
            <a:endParaRPr lang="en-GB" sz="3200" noProof="0" dirty="0"/>
          </a:p>
        </p:txBody>
      </p:sp>
      <p:sp>
        <p:nvSpPr>
          <p:cNvPr id="6" name="Text 4"/>
          <p:cNvSpPr txBox="1"/>
          <p:nvPr/>
        </p:nvSpPr>
        <p:spPr>
          <a:xfrm>
            <a:off x="566928" y="1517904"/>
            <a:ext cx="11055096" cy="365760"/>
          </a:xfrm>
          <a:prstGeom prst="rect">
            <a:avLst/>
          </a:prstGeom>
          <a:noFill/>
          <a:ln/>
        </p:spPr>
        <p:txBody>
          <a:bodyPr wrap="square" lIns="0" tIns="0" rIns="0" bIns="0" rtlCol="0" anchor="ctr"/>
          <a:lstStyle/>
          <a:p>
            <a:pPr marL="0" indent="0">
              <a:buNone/>
            </a:pPr>
            <a:r>
              <a:rPr lang="en-GB" sz="1800" i="1" noProof="0" dirty="0">
                <a:solidFill>
                  <a:srgbClr val="31507B"/>
                </a:solidFill>
                <a:latin typeface="Calibri" pitchFamily="34" charset="0"/>
                <a:ea typeface="Calibri" pitchFamily="34" charset="-122"/>
                <a:cs typeface="Calibri" pitchFamily="34" charset="-120"/>
              </a:rPr>
              <a:t>💬  Drag each symptom into the correct column, then select Submit.</a:t>
            </a:r>
            <a:endParaRPr lang="en-GB" sz="1800" noProof="0" dirty="0"/>
          </a:p>
        </p:txBody>
      </p:sp>
      <p:sp>
        <p:nvSpPr>
          <p:cNvPr id="7" name="Shape 5"/>
          <p:cNvSpPr/>
          <p:nvPr/>
        </p:nvSpPr>
        <p:spPr>
          <a:xfrm>
            <a:off x="566928" y="1965960"/>
            <a:ext cx="3563112" cy="3291840"/>
          </a:xfrm>
          <a:prstGeom prst="roundRect">
            <a:avLst>
              <a:gd name="adj" fmla="val 2500"/>
            </a:avLst>
          </a:prstGeom>
          <a:solidFill>
            <a:srgbClr val="EAF7F0"/>
          </a:solidFill>
          <a:ln w="12700">
            <a:solidFill>
              <a:srgbClr val="C0D4CB"/>
            </a:solidFill>
            <a:prstDash val="solid"/>
          </a:ln>
        </p:spPr>
        <p:txBody>
          <a:bodyPr/>
          <a:lstStyle/>
          <a:p>
            <a:endParaRPr lang="en-GB" noProof="0" dirty="0"/>
          </a:p>
        </p:txBody>
      </p:sp>
      <p:sp>
        <p:nvSpPr>
          <p:cNvPr id="8" name="Text 6"/>
          <p:cNvSpPr txBox="1"/>
          <p:nvPr/>
        </p:nvSpPr>
        <p:spPr>
          <a:xfrm>
            <a:off x="822960" y="2167128"/>
            <a:ext cx="3051048" cy="566928"/>
          </a:xfrm>
          <a:prstGeom prst="rect">
            <a:avLst/>
          </a:prstGeom>
          <a:noFill/>
          <a:ln/>
        </p:spPr>
        <p:txBody>
          <a:bodyPr wrap="square" lIns="0" tIns="0" rIns="0" bIns="0" rtlCol="0" anchor="ctr"/>
          <a:lstStyle/>
          <a:p>
            <a:pPr marL="0" indent="0">
              <a:buNone/>
            </a:pPr>
            <a:r>
              <a:rPr lang="en-GB" sz="2000" b="1" noProof="0" dirty="0">
                <a:solidFill>
                  <a:srgbClr val="19543E"/>
                </a:solidFill>
                <a:latin typeface="Calibri" pitchFamily="34" charset="0"/>
                <a:ea typeface="Calibri" pitchFamily="34" charset="-122"/>
                <a:cs typeface="Calibri" pitchFamily="34" charset="-120"/>
              </a:rPr>
              <a:t>🟢  Expected: manage and review</a:t>
            </a:r>
            <a:endParaRPr lang="en-GB" sz="2000" noProof="0" dirty="0"/>
          </a:p>
        </p:txBody>
      </p:sp>
      <p:sp>
        <p:nvSpPr>
          <p:cNvPr id="9" name="Text 7"/>
          <p:cNvSpPr txBox="1"/>
          <p:nvPr/>
        </p:nvSpPr>
        <p:spPr>
          <a:xfrm>
            <a:off x="877824" y="2807208"/>
            <a:ext cx="2996184" cy="2249424"/>
          </a:xfrm>
          <a:prstGeom prst="rect">
            <a:avLst/>
          </a:prstGeom>
          <a:noFill/>
          <a:ln/>
        </p:spPr>
        <p:txBody>
          <a:bodyPr wrap="square" lIns="0" tIns="0" rIns="0" bIns="0" rtlCol="0" anchor="t"/>
          <a:lstStyle/>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Mild fatigue during treatment</a:t>
            </a:r>
            <a:endParaRPr lang="en-GB" sz="1800" noProof="0" dirty="0"/>
          </a:p>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Nausea controlled by medicines</a:t>
            </a:r>
            <a:endParaRPr lang="en-GB" sz="1800" noProof="0" dirty="0"/>
          </a:p>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Mild skin dryness</a:t>
            </a:r>
            <a:endParaRPr lang="en-GB" sz="1800" noProof="0" dirty="0"/>
          </a:p>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Discharge after precancer treatment</a:t>
            </a:r>
            <a:endParaRPr lang="en-GB" sz="1800" noProof="0" dirty="0"/>
          </a:p>
        </p:txBody>
      </p:sp>
      <p:sp>
        <p:nvSpPr>
          <p:cNvPr id="10" name="Shape 8"/>
          <p:cNvSpPr/>
          <p:nvPr/>
        </p:nvSpPr>
        <p:spPr>
          <a:xfrm>
            <a:off x="4312920" y="1965960"/>
            <a:ext cx="3563112" cy="3291840"/>
          </a:xfrm>
          <a:prstGeom prst="roundRect">
            <a:avLst>
              <a:gd name="adj" fmla="val 2500"/>
            </a:avLst>
          </a:prstGeom>
          <a:solidFill>
            <a:srgbClr val="FFF2DF"/>
          </a:solidFill>
          <a:ln w="12700">
            <a:solidFill>
              <a:srgbClr val="E8DDC7"/>
            </a:solidFill>
            <a:prstDash val="solid"/>
          </a:ln>
        </p:spPr>
        <p:txBody>
          <a:bodyPr/>
          <a:lstStyle/>
          <a:p>
            <a:endParaRPr lang="en-GB" noProof="0" dirty="0"/>
          </a:p>
        </p:txBody>
      </p:sp>
      <p:sp>
        <p:nvSpPr>
          <p:cNvPr id="11" name="Text 9"/>
          <p:cNvSpPr txBox="1"/>
          <p:nvPr/>
        </p:nvSpPr>
        <p:spPr>
          <a:xfrm>
            <a:off x="4568952" y="2167128"/>
            <a:ext cx="3051048" cy="566928"/>
          </a:xfrm>
          <a:prstGeom prst="rect">
            <a:avLst/>
          </a:prstGeom>
          <a:noFill/>
          <a:ln/>
        </p:spPr>
        <p:txBody>
          <a:bodyPr wrap="square" lIns="0" tIns="0" rIns="0" bIns="0" rtlCol="0" anchor="ctr"/>
          <a:lstStyle/>
          <a:p>
            <a:pPr marL="0" indent="0">
              <a:buNone/>
            </a:pPr>
            <a:r>
              <a:rPr lang="en-GB" sz="2000" b="1" noProof="0" dirty="0">
                <a:solidFill>
                  <a:srgbClr val="7B5727"/>
                </a:solidFill>
                <a:latin typeface="Calibri" pitchFamily="34" charset="0"/>
                <a:ea typeface="Calibri" pitchFamily="34" charset="-122"/>
                <a:cs typeface="Calibri" pitchFamily="34" charset="-120"/>
              </a:rPr>
              <a:t>🟠  Assess soon</a:t>
            </a:r>
            <a:endParaRPr lang="en-GB" sz="2000" noProof="0" dirty="0"/>
          </a:p>
        </p:txBody>
      </p:sp>
      <p:sp>
        <p:nvSpPr>
          <p:cNvPr id="12" name="Text 10"/>
          <p:cNvSpPr txBox="1"/>
          <p:nvPr/>
        </p:nvSpPr>
        <p:spPr>
          <a:xfrm>
            <a:off x="4623816" y="2807208"/>
            <a:ext cx="2996184" cy="2249424"/>
          </a:xfrm>
          <a:prstGeom prst="rect">
            <a:avLst/>
          </a:prstGeom>
          <a:noFill/>
          <a:ln/>
        </p:spPr>
        <p:txBody>
          <a:bodyPr wrap="square" lIns="0" tIns="0" rIns="0" bIns="0" rtlCol="0" anchor="t"/>
          <a:lstStyle/>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Diarrhoea not settling</a:t>
            </a:r>
            <a:endParaRPr lang="en-GB" sz="1800" noProof="0" dirty="0"/>
          </a:p>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Poor eating or weight loss</a:t>
            </a:r>
            <a:endParaRPr lang="en-GB" sz="1800" noProof="0" dirty="0"/>
          </a:p>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Progressive leg swelling</a:t>
            </a:r>
            <a:endParaRPr lang="en-GB" sz="1800" noProof="0" dirty="0"/>
          </a:p>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New vaginal narrowing or pain</a:t>
            </a:r>
            <a:endParaRPr lang="en-GB" sz="1800" noProof="0" dirty="0"/>
          </a:p>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Low mood, or missed appointments</a:t>
            </a:r>
            <a:endParaRPr lang="en-GB" sz="1800" noProof="0" dirty="0"/>
          </a:p>
        </p:txBody>
      </p:sp>
      <p:sp>
        <p:nvSpPr>
          <p:cNvPr id="13" name="Shape 11"/>
          <p:cNvSpPr/>
          <p:nvPr/>
        </p:nvSpPr>
        <p:spPr>
          <a:xfrm>
            <a:off x="8058912" y="1965960"/>
            <a:ext cx="3563112" cy="3291840"/>
          </a:xfrm>
          <a:prstGeom prst="roundRect">
            <a:avLst>
              <a:gd name="adj" fmla="val 2500"/>
            </a:avLst>
          </a:prstGeom>
          <a:solidFill>
            <a:srgbClr val="FDE9E8"/>
          </a:solidFill>
          <a:ln w="12700">
            <a:solidFill>
              <a:srgbClr val="F0CFCE"/>
            </a:solidFill>
            <a:prstDash val="solid"/>
          </a:ln>
        </p:spPr>
        <p:txBody>
          <a:bodyPr/>
          <a:lstStyle/>
          <a:p>
            <a:endParaRPr lang="en-GB" noProof="0" dirty="0"/>
          </a:p>
        </p:txBody>
      </p:sp>
      <p:sp>
        <p:nvSpPr>
          <p:cNvPr id="14" name="Text 12"/>
          <p:cNvSpPr txBox="1"/>
          <p:nvPr/>
        </p:nvSpPr>
        <p:spPr>
          <a:xfrm>
            <a:off x="8314944" y="2167128"/>
            <a:ext cx="3051048" cy="566928"/>
          </a:xfrm>
          <a:prstGeom prst="rect">
            <a:avLst/>
          </a:prstGeom>
          <a:noFill/>
          <a:ln/>
        </p:spPr>
        <p:txBody>
          <a:bodyPr wrap="square" lIns="0" tIns="0" rIns="0" bIns="0" rtlCol="0" anchor="ctr"/>
          <a:lstStyle/>
          <a:p>
            <a:pPr marL="0" indent="0">
              <a:buNone/>
            </a:pPr>
            <a:r>
              <a:rPr lang="en-GB" sz="2000" b="1" noProof="0" dirty="0">
                <a:solidFill>
                  <a:srgbClr val="8E2531"/>
                </a:solidFill>
                <a:latin typeface="Calibri" pitchFamily="34" charset="0"/>
                <a:ea typeface="Calibri" pitchFamily="34" charset="-122"/>
                <a:cs typeface="Calibri" pitchFamily="34" charset="-120"/>
              </a:rPr>
              <a:t>🔴  Urgent: do not wait</a:t>
            </a:r>
            <a:endParaRPr lang="en-GB" sz="2000" noProof="0" dirty="0"/>
          </a:p>
        </p:txBody>
      </p:sp>
      <p:sp>
        <p:nvSpPr>
          <p:cNvPr id="15" name="Text 13"/>
          <p:cNvSpPr txBox="1"/>
          <p:nvPr/>
        </p:nvSpPr>
        <p:spPr>
          <a:xfrm>
            <a:off x="8369808" y="2807208"/>
            <a:ext cx="2996184" cy="2249424"/>
          </a:xfrm>
          <a:prstGeom prst="rect">
            <a:avLst/>
          </a:prstGeom>
          <a:noFill/>
          <a:ln/>
        </p:spPr>
        <p:txBody>
          <a:bodyPr wrap="square" lIns="0" tIns="0" rIns="0" bIns="0" rtlCol="0" anchor="t"/>
          <a:lstStyle/>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Fever during chemotherapy</a:t>
            </a:r>
            <a:endParaRPr lang="en-GB" sz="1800" noProof="0" dirty="0"/>
          </a:p>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Heavy bleeding with dizziness</a:t>
            </a:r>
            <a:endParaRPr lang="en-GB" sz="1800" noProof="0" dirty="0"/>
          </a:p>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Leakage of urine or stool</a:t>
            </a:r>
            <a:endParaRPr lang="en-GB" sz="1800" noProof="0" dirty="0"/>
          </a:p>
          <a:p>
            <a:pPr marL="342900" indent="-342900">
              <a:lnSpc>
                <a:spcPct val="102000"/>
              </a:lnSpc>
              <a:spcAft>
                <a:spcPts val="500"/>
              </a:spcAft>
              <a:buSzPct val="100000"/>
              <a:buChar char="•"/>
            </a:pPr>
            <a:r>
              <a:rPr lang="en-GB" sz="1800" noProof="0" dirty="0">
                <a:solidFill>
                  <a:srgbClr val="23303F"/>
                </a:solidFill>
                <a:latin typeface="Calibri" pitchFamily="34" charset="0"/>
                <a:ea typeface="Calibri" pitchFamily="34" charset="-122"/>
                <a:cs typeface="Calibri" pitchFamily="34" charset="-120"/>
              </a:rPr>
              <a:t>Reduced urine output or flank pain</a:t>
            </a:r>
            <a:endParaRPr lang="en-GB" sz="1800" noProof="0" dirty="0"/>
          </a:p>
        </p:txBody>
      </p:sp>
      <p:sp>
        <p:nvSpPr>
          <p:cNvPr id="16" name="Shape 14"/>
          <p:cNvSpPr/>
          <p:nvPr/>
        </p:nvSpPr>
        <p:spPr>
          <a:xfrm>
            <a:off x="566928" y="5358384"/>
            <a:ext cx="11055096" cy="786384"/>
          </a:xfrm>
          <a:prstGeom prst="roundRect">
            <a:avLst>
              <a:gd name="adj" fmla="val 8140"/>
            </a:avLst>
          </a:prstGeom>
          <a:solidFill>
            <a:srgbClr val="EAF7F0"/>
          </a:solidFill>
          <a:ln w="12700">
            <a:solidFill>
              <a:srgbClr val="C0D4CB"/>
            </a:solidFill>
            <a:prstDash val="solid"/>
          </a:ln>
        </p:spPr>
        <p:txBody>
          <a:bodyPr/>
          <a:lstStyle/>
          <a:p>
            <a:endParaRPr lang="en-GB" noProof="0" dirty="0"/>
          </a:p>
        </p:txBody>
      </p:sp>
      <p:sp>
        <p:nvSpPr>
          <p:cNvPr id="17" name="Text 15"/>
          <p:cNvSpPr txBox="1"/>
          <p:nvPr/>
        </p:nvSpPr>
        <p:spPr>
          <a:xfrm>
            <a:off x="841248" y="5413248"/>
            <a:ext cx="10506456" cy="676656"/>
          </a:xfrm>
          <a:prstGeom prst="rect">
            <a:avLst/>
          </a:prstGeom>
          <a:noFill/>
          <a:ln/>
        </p:spPr>
        <p:txBody>
          <a:bodyPr wrap="square" lIns="0" tIns="0" rIns="0" bIns="0" rtlCol="0" anchor="ctr"/>
          <a:lstStyle/>
          <a:p>
            <a:pPr marL="0" indent="0">
              <a:lnSpc>
                <a:spcPct val="104000"/>
              </a:lnSpc>
              <a:buNone/>
            </a:pPr>
            <a:r>
              <a:rPr lang="en-GB" sz="1800" b="1" noProof="0" dirty="0">
                <a:solidFill>
                  <a:srgbClr val="19543E"/>
                </a:solidFill>
                <a:latin typeface="Calibri" pitchFamily="34" charset="0"/>
                <a:ea typeface="Calibri" pitchFamily="34" charset="-122"/>
                <a:cs typeface="Calibri" pitchFamily="34" charset="-120"/>
              </a:rPr>
              <a:t>✅ Feedback:  </a:t>
            </a:r>
            <a:r>
              <a:rPr lang="en-GB" sz="1800" noProof="0" dirty="0">
                <a:solidFill>
                  <a:srgbClr val="23303F"/>
                </a:solidFill>
                <a:latin typeface="Calibri" pitchFamily="34" charset="0"/>
                <a:ea typeface="Calibri" pitchFamily="34" charset="-122"/>
                <a:cs typeface="Calibri" pitchFamily="34" charset="-120"/>
              </a:rPr>
              <a:t>Fever during chemotherapy is an emergency until proven otherwise. Leakage from the vagina and reduced urine output both need urgent assessment.</a:t>
            </a:r>
            <a:endParaRPr lang="en-GB" sz="1800" noProof="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164</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5 · ADVERSE EFFECTS</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Complications of advanced disease</a:t>
            </a:r>
            <a:endParaRPr lang="en-GB" sz="3200" noProof="0" dirty="0"/>
          </a:p>
        </p:txBody>
      </p:sp>
      <p:sp>
        <p:nvSpPr>
          <p:cNvPr id="6" name="Shape 4"/>
          <p:cNvSpPr/>
          <p:nvPr/>
        </p:nvSpPr>
        <p:spPr>
          <a:xfrm>
            <a:off x="566928" y="1509003"/>
            <a:ext cx="3563112" cy="4026824"/>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822960" y="1531243"/>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Fistula</a:t>
            </a:r>
            <a:endParaRPr lang="en-GB" sz="2000" noProof="0" dirty="0"/>
          </a:p>
        </p:txBody>
      </p:sp>
      <p:sp>
        <p:nvSpPr>
          <p:cNvPr id="8" name="Text 6"/>
          <p:cNvSpPr txBox="1"/>
          <p:nvPr/>
        </p:nvSpPr>
        <p:spPr>
          <a:xfrm>
            <a:off x="822960" y="2134747"/>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Continuous leakage of urine or stool from the vagina. It is distressing and isolating, and it needs specialist referral and careful skin care.</a:t>
            </a:r>
            <a:endParaRPr lang="en-GB" sz="1800" noProof="0" dirty="0"/>
          </a:p>
        </p:txBody>
      </p:sp>
      <p:sp>
        <p:nvSpPr>
          <p:cNvPr id="9" name="Shape 7"/>
          <p:cNvSpPr/>
          <p:nvPr/>
        </p:nvSpPr>
        <p:spPr>
          <a:xfrm>
            <a:off x="4312920" y="1509003"/>
            <a:ext cx="3563112" cy="4026824"/>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4568952" y="1531243"/>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Bleeding</a:t>
            </a:r>
            <a:endParaRPr lang="en-GB" sz="2000" noProof="0" dirty="0"/>
          </a:p>
        </p:txBody>
      </p:sp>
      <p:sp>
        <p:nvSpPr>
          <p:cNvPr id="11" name="Text 9"/>
          <p:cNvSpPr txBox="1"/>
          <p:nvPr/>
        </p:nvSpPr>
        <p:spPr>
          <a:xfrm>
            <a:off x="4568952" y="2134747"/>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Tumour bleeding can be heavy and life threatening. Resuscitate and transfer urgently. Radiotherapy controls it well.</a:t>
            </a:r>
            <a:endParaRPr lang="en-GB" sz="1800" noProof="0" dirty="0"/>
          </a:p>
        </p:txBody>
      </p:sp>
      <p:sp>
        <p:nvSpPr>
          <p:cNvPr id="12" name="Shape 10"/>
          <p:cNvSpPr/>
          <p:nvPr/>
        </p:nvSpPr>
        <p:spPr>
          <a:xfrm>
            <a:off x="8058912" y="1509003"/>
            <a:ext cx="3563112" cy="4026824"/>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8314944" y="1531243"/>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Kidney obstruction</a:t>
            </a:r>
            <a:endParaRPr lang="en-GB" sz="2000" noProof="0" dirty="0"/>
          </a:p>
        </p:txBody>
      </p:sp>
      <p:sp>
        <p:nvSpPr>
          <p:cNvPr id="14" name="Text 12"/>
          <p:cNvSpPr txBox="1"/>
          <p:nvPr/>
        </p:nvSpPr>
        <p:spPr>
          <a:xfrm>
            <a:off x="8314944" y="2134747"/>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Tumour pressing on the ureters causes kidney failure. Reduced urine output or flank pain is an urgent finding.</a:t>
            </a:r>
            <a:endParaRPr lang="en-GB" sz="1800" noProof="0" dirty="0"/>
          </a:p>
        </p:txBody>
      </p:sp>
      <p:sp>
        <p:nvSpPr>
          <p:cNvPr id="15" name="Shape 13"/>
          <p:cNvSpPr/>
          <p:nvPr/>
        </p:nvSpPr>
        <p:spPr>
          <a:xfrm>
            <a:off x="566928" y="5703040"/>
            <a:ext cx="11055096" cy="611760"/>
          </a:xfrm>
          <a:prstGeom prst="roundRect">
            <a:avLst>
              <a:gd name="adj" fmla="val 8140"/>
            </a:avLst>
          </a:prstGeom>
          <a:solidFill>
            <a:srgbClr val="EAF7F0"/>
          </a:solidFill>
          <a:ln w="12700">
            <a:solidFill>
              <a:srgbClr val="C0D4CB"/>
            </a:solidFill>
            <a:prstDash val="solid"/>
          </a:ln>
        </p:spPr>
        <p:txBody>
          <a:bodyPr/>
          <a:lstStyle/>
          <a:p>
            <a:endParaRPr lang="en-GB" sz="1600" noProof="0" dirty="0"/>
          </a:p>
        </p:txBody>
      </p:sp>
      <p:sp>
        <p:nvSpPr>
          <p:cNvPr id="16" name="Text 14"/>
          <p:cNvSpPr txBox="1"/>
          <p:nvPr/>
        </p:nvSpPr>
        <p:spPr>
          <a:xfrm>
            <a:off x="841248" y="5770609"/>
            <a:ext cx="10506456" cy="526398"/>
          </a:xfrm>
          <a:prstGeom prst="rect">
            <a:avLst/>
          </a:prstGeom>
          <a:noFill/>
          <a:ln/>
        </p:spPr>
        <p:txBody>
          <a:bodyPr wrap="square" lIns="0" tIns="0" rIns="0" bIns="0" rtlCol="0" anchor="ctr"/>
          <a:lstStyle/>
          <a:p>
            <a:pPr marL="0" indent="0">
              <a:lnSpc>
                <a:spcPct val="104000"/>
              </a:lnSpc>
              <a:buNone/>
            </a:pPr>
            <a:r>
              <a:rPr lang="en-GB" sz="1600" b="1" noProof="0" dirty="0">
                <a:solidFill>
                  <a:srgbClr val="19543E"/>
                </a:solidFill>
                <a:latin typeface="Calibri" pitchFamily="34" charset="0"/>
                <a:ea typeface="Calibri" pitchFamily="34" charset="-122"/>
                <a:cs typeface="Calibri" pitchFamily="34" charset="-120"/>
              </a:rPr>
              <a:t>💬 Also treatable:  </a:t>
            </a:r>
            <a:r>
              <a:rPr lang="en-GB" sz="1600" noProof="0" dirty="0">
                <a:solidFill>
                  <a:srgbClr val="23303F"/>
                </a:solidFill>
                <a:latin typeface="Calibri" pitchFamily="34" charset="0"/>
                <a:ea typeface="Calibri" pitchFamily="34" charset="-122"/>
                <a:cs typeface="Calibri" pitchFamily="34" charset="-120"/>
              </a:rPr>
              <a:t>An offensive discharge from a tumour is humiliating for the woman and responds well to treatment. Manage it actively and matter of </a:t>
            </a:r>
            <a:r>
              <a:rPr lang="en-GB" sz="1600" noProof="0" dirty="0" err="1">
                <a:solidFill>
                  <a:srgbClr val="23303F"/>
                </a:solidFill>
                <a:latin typeface="Calibri" pitchFamily="34" charset="0"/>
                <a:ea typeface="Calibri" pitchFamily="34" charset="-122"/>
                <a:cs typeface="Calibri" pitchFamily="34" charset="-120"/>
              </a:rPr>
              <a:t>factly</a:t>
            </a:r>
            <a:r>
              <a:rPr lang="en-GB" sz="1600" noProof="0" dirty="0">
                <a:solidFill>
                  <a:srgbClr val="23303F"/>
                </a:solidFill>
                <a:latin typeface="Calibri" pitchFamily="34" charset="0"/>
                <a:ea typeface="Calibri" pitchFamily="34" charset="-122"/>
                <a:cs typeface="Calibri" pitchFamily="34" charset="-120"/>
              </a:rPr>
              <a:t>.</a:t>
            </a:r>
            <a:endParaRPr lang="en-GB" sz="1600" noProof="0" dirty="0"/>
          </a:p>
        </p:txBody>
      </p:sp>
      <p:pic>
        <p:nvPicPr>
          <p:cNvPr id="18" name="Imagen 17">
            <a:extLst>
              <a:ext uri="{FF2B5EF4-FFF2-40B4-BE49-F238E27FC236}">
                <a16:creationId xmlns:a16="http://schemas.microsoft.com/office/drawing/2014/main" id="{25ECD44A-2728-C43F-5B42-5AD8A9AC94DB}"/>
              </a:ext>
            </a:extLst>
          </p:cNvPr>
          <p:cNvPicPr>
            <a:picLocks noChangeAspect="1"/>
          </p:cNvPicPr>
          <p:nvPr/>
        </p:nvPicPr>
        <p:blipFill>
          <a:blip r:embed="rId3"/>
          <a:srcRect/>
          <a:stretch>
            <a:fillRect/>
          </a:stretch>
        </p:blipFill>
        <p:spPr>
          <a:xfrm>
            <a:off x="1360934" y="3583134"/>
            <a:ext cx="1974933" cy="1974933"/>
          </a:xfrm>
          <a:prstGeom prst="rect">
            <a:avLst/>
          </a:prstGeom>
        </p:spPr>
      </p:pic>
      <p:pic>
        <p:nvPicPr>
          <p:cNvPr id="19" name="Imagen 18">
            <a:extLst>
              <a:ext uri="{FF2B5EF4-FFF2-40B4-BE49-F238E27FC236}">
                <a16:creationId xmlns:a16="http://schemas.microsoft.com/office/drawing/2014/main" id="{7D02C55A-D020-4FC6-2E3F-1263F2B283FD}"/>
              </a:ext>
            </a:extLst>
          </p:cNvPr>
          <p:cNvPicPr>
            <a:picLocks noChangeAspect="1"/>
          </p:cNvPicPr>
          <p:nvPr/>
        </p:nvPicPr>
        <p:blipFill>
          <a:blip r:embed="rId4"/>
          <a:srcRect/>
          <a:stretch>
            <a:fillRect/>
          </a:stretch>
        </p:blipFill>
        <p:spPr>
          <a:xfrm>
            <a:off x="5037980" y="3354639"/>
            <a:ext cx="2098170" cy="2098170"/>
          </a:xfrm>
          <a:prstGeom prst="rect">
            <a:avLst/>
          </a:prstGeom>
        </p:spPr>
      </p:pic>
      <p:pic>
        <p:nvPicPr>
          <p:cNvPr id="20" name="Imagen 19">
            <a:extLst>
              <a:ext uri="{FF2B5EF4-FFF2-40B4-BE49-F238E27FC236}">
                <a16:creationId xmlns:a16="http://schemas.microsoft.com/office/drawing/2014/main" id="{5131C500-9FB3-4774-486B-6C5C1E840AE4}"/>
              </a:ext>
            </a:extLst>
          </p:cNvPr>
          <p:cNvPicPr>
            <a:picLocks noChangeAspect="1"/>
          </p:cNvPicPr>
          <p:nvPr/>
        </p:nvPicPr>
        <p:blipFill>
          <a:blip r:embed="rId5"/>
          <a:srcRect t="20490" b="28148"/>
          <a:stretch>
            <a:fillRect/>
          </a:stretch>
        </p:blipFill>
        <p:spPr>
          <a:xfrm>
            <a:off x="8284493" y="3429000"/>
            <a:ext cx="3111949" cy="1598361"/>
          </a:xfrm>
          <a:prstGeom prst="rect">
            <a:avLst/>
          </a:prstGeom>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165</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5 · SEXUAL AND REPRODUCTIVE HEALTH</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Raising it, respectfully</a:t>
            </a:r>
            <a:endParaRPr lang="en-GB" sz="3200" noProof="0" dirty="0"/>
          </a:p>
        </p:txBody>
      </p:sp>
      <p:sp>
        <p:nvSpPr>
          <p:cNvPr id="6" name="Shape 4"/>
          <p:cNvSpPr/>
          <p:nvPr/>
        </p:nvSpPr>
        <p:spPr>
          <a:xfrm>
            <a:off x="566928" y="1746064"/>
            <a:ext cx="3563112" cy="2537805"/>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822960" y="1789386"/>
            <a:ext cx="3051048" cy="623621"/>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Why you must raise it</a:t>
            </a:r>
            <a:endParaRPr lang="en-GB" sz="2000" noProof="0" dirty="0"/>
          </a:p>
        </p:txBody>
      </p:sp>
      <p:sp>
        <p:nvSpPr>
          <p:cNvPr id="8" name="Text 6"/>
          <p:cNvSpPr txBox="1"/>
          <p:nvPr/>
        </p:nvSpPr>
        <p:spPr>
          <a:xfrm>
            <a:off x="822960" y="2332539"/>
            <a:ext cx="3051048" cy="1951330"/>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Women rarely raise these problems themselves. If nobody asks, nothing is offered.</a:t>
            </a:r>
            <a:endParaRPr lang="en-GB" sz="1800" noProof="0" dirty="0"/>
          </a:p>
        </p:txBody>
      </p:sp>
      <p:sp>
        <p:nvSpPr>
          <p:cNvPr id="9" name="Shape 7"/>
          <p:cNvSpPr/>
          <p:nvPr/>
        </p:nvSpPr>
        <p:spPr>
          <a:xfrm>
            <a:off x="4312920" y="1746064"/>
            <a:ext cx="3563112" cy="2537805"/>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4568952" y="1789386"/>
            <a:ext cx="3051048" cy="623621"/>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What to ask about</a:t>
            </a:r>
            <a:endParaRPr lang="en-GB" sz="2000" noProof="0" dirty="0"/>
          </a:p>
        </p:txBody>
      </p:sp>
      <p:sp>
        <p:nvSpPr>
          <p:cNvPr id="11" name="Text 9"/>
          <p:cNvSpPr txBox="1"/>
          <p:nvPr/>
        </p:nvSpPr>
        <p:spPr>
          <a:xfrm>
            <a:off x="4568952" y="2332539"/>
            <a:ext cx="3051048" cy="1951330"/>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Vaginal dryness or narrowing, pain during intercourse, menopausal symptoms, body image and relationships.</a:t>
            </a:r>
            <a:endParaRPr lang="en-GB" sz="1800" noProof="0" dirty="0"/>
          </a:p>
        </p:txBody>
      </p:sp>
      <p:sp>
        <p:nvSpPr>
          <p:cNvPr id="12" name="Shape 10"/>
          <p:cNvSpPr/>
          <p:nvPr/>
        </p:nvSpPr>
        <p:spPr>
          <a:xfrm>
            <a:off x="8058912" y="1746064"/>
            <a:ext cx="3563112" cy="2537805"/>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8314944" y="1789386"/>
            <a:ext cx="3051048" cy="623621"/>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What can help</a:t>
            </a:r>
            <a:endParaRPr lang="en-GB" sz="2000" noProof="0" dirty="0"/>
          </a:p>
        </p:txBody>
      </p:sp>
      <p:sp>
        <p:nvSpPr>
          <p:cNvPr id="14" name="Text 12"/>
          <p:cNvSpPr txBox="1"/>
          <p:nvPr/>
        </p:nvSpPr>
        <p:spPr>
          <a:xfrm>
            <a:off x="8314944" y="2332539"/>
            <a:ext cx="3051048" cy="1951330"/>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Lubricants, vaginal dilators where recommended, treatment of menopausal symptoms, and honest information.</a:t>
            </a:r>
            <a:endParaRPr lang="en-GB" sz="1800" noProof="0" dirty="0"/>
          </a:p>
        </p:txBody>
      </p:sp>
      <p:sp>
        <p:nvSpPr>
          <p:cNvPr id="15" name="Shape 13"/>
          <p:cNvSpPr/>
          <p:nvPr/>
        </p:nvSpPr>
        <p:spPr>
          <a:xfrm>
            <a:off x="585216" y="5048563"/>
            <a:ext cx="11055096" cy="818840"/>
          </a:xfrm>
          <a:prstGeom prst="roundRect">
            <a:avLst>
              <a:gd name="adj" fmla="val 8140"/>
            </a:avLst>
          </a:prstGeom>
          <a:solidFill>
            <a:srgbClr val="FDE9E8"/>
          </a:solidFill>
          <a:ln w="12700">
            <a:solidFill>
              <a:srgbClr val="F0CFCE"/>
            </a:solidFill>
            <a:prstDash val="solid"/>
          </a:ln>
        </p:spPr>
        <p:txBody>
          <a:bodyPr/>
          <a:lstStyle/>
          <a:p>
            <a:endParaRPr lang="en-GB" noProof="0" dirty="0"/>
          </a:p>
        </p:txBody>
      </p:sp>
      <p:sp>
        <p:nvSpPr>
          <p:cNvPr id="16" name="Text 14"/>
          <p:cNvSpPr txBox="1"/>
          <p:nvPr/>
        </p:nvSpPr>
        <p:spPr>
          <a:xfrm>
            <a:off x="859536" y="5145027"/>
            <a:ext cx="10506456" cy="704583"/>
          </a:xfrm>
          <a:prstGeom prst="rect">
            <a:avLst/>
          </a:prstGeom>
          <a:noFill/>
          <a:ln/>
        </p:spPr>
        <p:txBody>
          <a:bodyPr wrap="square" lIns="0" tIns="0" rIns="0" bIns="0" rtlCol="0" anchor="ctr"/>
          <a:lstStyle/>
          <a:p>
            <a:pPr marL="0" indent="0">
              <a:lnSpc>
                <a:spcPct val="104000"/>
              </a:lnSpc>
              <a:buNone/>
            </a:pPr>
            <a:r>
              <a:rPr lang="en-GB" b="1" noProof="0" dirty="0">
                <a:solidFill>
                  <a:srgbClr val="8E2531"/>
                </a:solidFill>
                <a:latin typeface="Calibri" pitchFamily="34" charset="0"/>
                <a:ea typeface="Calibri" pitchFamily="34" charset="-122"/>
                <a:cs typeface="Calibri" pitchFamily="34" charset="-120"/>
              </a:rPr>
              <a:t>❌ Avoid assumptions:  </a:t>
            </a:r>
            <a:r>
              <a:rPr lang="en-GB" noProof="0" dirty="0">
                <a:solidFill>
                  <a:srgbClr val="23303F"/>
                </a:solidFill>
                <a:latin typeface="Calibri" pitchFamily="34" charset="0"/>
                <a:ea typeface="Calibri" pitchFamily="34" charset="-122"/>
                <a:cs typeface="Calibri" pitchFamily="34" charset="-120"/>
              </a:rPr>
              <a:t>Do not assume anything about a woman's sexual activity, marital status, fertility goals or relationships. Ask, and let her answer.</a:t>
            </a:r>
            <a:endParaRPr lang="en-GB" noProof="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166</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5 · SEXUAL AND REPRODUCTIVE HEALTH</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Fertility and menopause</a:t>
            </a:r>
            <a:endParaRPr lang="en-GB" sz="3200" noProof="0" dirty="0"/>
          </a:p>
        </p:txBody>
      </p:sp>
      <p:sp>
        <p:nvSpPr>
          <p:cNvPr id="6" name="Shape 4"/>
          <p:cNvSpPr/>
          <p:nvPr/>
        </p:nvSpPr>
        <p:spPr>
          <a:xfrm>
            <a:off x="566928" y="1632576"/>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786384" y="1632576"/>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8" name="Text 6"/>
          <p:cNvSpPr txBox="1"/>
          <p:nvPr/>
        </p:nvSpPr>
        <p:spPr>
          <a:xfrm>
            <a:off x="1463040" y="1687440"/>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Treatment of cervical precancer preserves the uterus and fertility.</a:t>
            </a:r>
            <a:endParaRPr lang="en-GB" sz="1800" noProof="0" dirty="0"/>
          </a:p>
        </p:txBody>
      </p:sp>
      <p:sp>
        <p:nvSpPr>
          <p:cNvPr id="9" name="Shape 7"/>
          <p:cNvSpPr/>
          <p:nvPr/>
        </p:nvSpPr>
        <p:spPr>
          <a:xfrm>
            <a:off x="566928" y="2546384"/>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786384" y="2546384"/>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1" name="Text 9"/>
          <p:cNvSpPr txBox="1"/>
          <p:nvPr/>
        </p:nvSpPr>
        <p:spPr>
          <a:xfrm>
            <a:off x="1463040" y="2601248"/>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For invasive cancer, the effect on fertility depends on the stage and the treatment.</a:t>
            </a:r>
            <a:endParaRPr lang="en-GB" sz="1800" noProof="0" dirty="0"/>
          </a:p>
        </p:txBody>
      </p:sp>
      <p:sp>
        <p:nvSpPr>
          <p:cNvPr id="12" name="Shape 10"/>
          <p:cNvSpPr/>
          <p:nvPr/>
        </p:nvSpPr>
        <p:spPr>
          <a:xfrm>
            <a:off x="566928" y="3460191"/>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786384" y="3460191"/>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4" name="Text 12"/>
          <p:cNvSpPr txBox="1"/>
          <p:nvPr/>
        </p:nvSpPr>
        <p:spPr>
          <a:xfrm>
            <a:off x="1463040" y="3515055"/>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Raise fertility before treatment is planned, not afterwards.</a:t>
            </a:r>
            <a:endParaRPr lang="en-GB" sz="1800" noProof="0" dirty="0"/>
          </a:p>
        </p:txBody>
      </p:sp>
      <p:sp>
        <p:nvSpPr>
          <p:cNvPr id="15" name="Shape 13"/>
          <p:cNvSpPr/>
          <p:nvPr/>
        </p:nvSpPr>
        <p:spPr>
          <a:xfrm>
            <a:off x="566928" y="4373999"/>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6" name="Text 14"/>
          <p:cNvSpPr txBox="1"/>
          <p:nvPr/>
        </p:nvSpPr>
        <p:spPr>
          <a:xfrm>
            <a:off x="786384" y="4373999"/>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7" name="Text 15"/>
          <p:cNvSpPr txBox="1"/>
          <p:nvPr/>
        </p:nvSpPr>
        <p:spPr>
          <a:xfrm>
            <a:off x="1463040" y="4428863"/>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Loss of ovarian function can cause abrupt menopausal symptoms, sometimes in a young woman.</a:t>
            </a:r>
            <a:endParaRPr lang="en-GB" sz="1800" noProof="0" dirty="0"/>
          </a:p>
        </p:txBody>
      </p:sp>
      <p:sp>
        <p:nvSpPr>
          <p:cNvPr id="18" name="Shape 16"/>
          <p:cNvSpPr/>
          <p:nvPr/>
        </p:nvSpPr>
        <p:spPr>
          <a:xfrm>
            <a:off x="566928" y="5541571"/>
            <a:ext cx="11055096" cy="603197"/>
          </a:xfrm>
          <a:prstGeom prst="roundRect">
            <a:avLst>
              <a:gd name="adj" fmla="val 8308"/>
            </a:avLst>
          </a:prstGeom>
          <a:solidFill>
            <a:srgbClr val="F3F6FB"/>
          </a:solidFill>
          <a:ln w="12700">
            <a:solidFill>
              <a:srgbClr val="E0E3EA"/>
            </a:solidFill>
            <a:prstDash val="solid"/>
          </a:ln>
        </p:spPr>
        <p:txBody>
          <a:bodyPr/>
          <a:lstStyle/>
          <a:p>
            <a:endParaRPr lang="en-GB" sz="1600" noProof="0" dirty="0"/>
          </a:p>
        </p:txBody>
      </p:sp>
      <p:sp>
        <p:nvSpPr>
          <p:cNvPr id="19" name="Text 17"/>
          <p:cNvSpPr txBox="1"/>
          <p:nvPr/>
        </p:nvSpPr>
        <p:spPr>
          <a:xfrm>
            <a:off x="786384" y="5541571"/>
            <a:ext cx="548640" cy="603197"/>
          </a:xfrm>
          <a:prstGeom prst="rect">
            <a:avLst/>
          </a:prstGeom>
          <a:noFill/>
          <a:ln/>
        </p:spPr>
        <p:txBody>
          <a:bodyPr wrap="square" lIns="0" tIns="0" rIns="0" bIns="0" rtlCol="0" anchor="ctr"/>
          <a:lstStyle/>
          <a:p>
            <a:pPr marL="0" indent="0" algn="ctr">
              <a:buNone/>
            </a:pPr>
            <a:r>
              <a:rPr lang="en-GB" noProof="0" dirty="0">
                <a:solidFill>
                  <a:srgbClr val="000000"/>
                </a:solidFill>
                <a:latin typeface="Calibri" pitchFamily="34" charset="0"/>
                <a:ea typeface="Calibri" pitchFamily="34" charset="-122"/>
                <a:cs typeface="Calibri" pitchFamily="34" charset="-120"/>
              </a:rPr>
              <a:t>💬</a:t>
            </a:r>
            <a:endParaRPr lang="en-GB" noProof="0" dirty="0"/>
          </a:p>
        </p:txBody>
      </p:sp>
      <p:sp>
        <p:nvSpPr>
          <p:cNvPr id="20" name="Text 18"/>
          <p:cNvSpPr txBox="1"/>
          <p:nvPr/>
        </p:nvSpPr>
        <p:spPr>
          <a:xfrm>
            <a:off x="1463040" y="5572613"/>
            <a:ext cx="9866376" cy="517291"/>
          </a:xfrm>
          <a:prstGeom prst="rect">
            <a:avLst/>
          </a:prstGeom>
          <a:noFill/>
          <a:ln/>
        </p:spPr>
        <p:txBody>
          <a:bodyPr wrap="square" lIns="0" tIns="0" rIns="0" bIns="0" rtlCol="0" anchor="ctr"/>
          <a:lstStyle/>
          <a:p>
            <a:pPr marL="0" indent="0">
              <a:lnSpc>
                <a:spcPct val="104000"/>
              </a:lnSpc>
              <a:buNone/>
            </a:pPr>
            <a:r>
              <a:rPr lang="en-GB" sz="1600" noProof="0" dirty="0">
                <a:solidFill>
                  <a:srgbClr val="23303F"/>
                </a:solidFill>
                <a:latin typeface="Calibri" pitchFamily="34" charset="0"/>
                <a:ea typeface="Calibri" pitchFamily="34" charset="-122"/>
                <a:cs typeface="Calibri" pitchFamily="34" charset="-120"/>
              </a:rPr>
              <a:t>Loss of fertility is a bereavement. Acknowledge it rather than passing over it.</a:t>
            </a:r>
            <a:endParaRPr lang="en-GB" sz="1600" noProof="0" dirty="0"/>
          </a:p>
        </p:txBody>
      </p:sp>
      <p:sp>
        <p:nvSpPr>
          <p:cNvPr id="21" name="Shape 19"/>
          <p:cNvSpPr/>
          <p:nvPr/>
        </p:nvSpPr>
        <p:spPr>
          <a:xfrm>
            <a:off x="566928" y="5565684"/>
            <a:ext cx="11055096" cy="615660"/>
          </a:xfrm>
          <a:prstGeom prst="roundRect">
            <a:avLst>
              <a:gd name="adj" fmla="val 8140"/>
            </a:avLst>
          </a:prstGeom>
          <a:solidFill>
            <a:srgbClr val="FFF2DF"/>
          </a:solidFill>
          <a:ln w="12700">
            <a:solidFill>
              <a:srgbClr val="E8DDC7"/>
            </a:solidFill>
            <a:prstDash val="solid"/>
          </a:ln>
        </p:spPr>
        <p:txBody>
          <a:bodyPr/>
          <a:lstStyle/>
          <a:p>
            <a:endParaRPr lang="en-GB" sz="1600" noProof="0" dirty="0"/>
          </a:p>
        </p:txBody>
      </p:sp>
      <p:sp>
        <p:nvSpPr>
          <p:cNvPr id="22" name="Text 20"/>
          <p:cNvSpPr txBox="1"/>
          <p:nvPr/>
        </p:nvSpPr>
        <p:spPr>
          <a:xfrm>
            <a:off x="841248" y="5596726"/>
            <a:ext cx="10506456" cy="529754"/>
          </a:xfrm>
          <a:prstGeom prst="rect">
            <a:avLst/>
          </a:prstGeom>
          <a:noFill/>
          <a:ln/>
        </p:spPr>
        <p:txBody>
          <a:bodyPr wrap="square" lIns="0" tIns="0" rIns="0" bIns="0" rtlCol="0" anchor="ctr"/>
          <a:lstStyle/>
          <a:p>
            <a:pPr marL="0" indent="0">
              <a:lnSpc>
                <a:spcPct val="104000"/>
              </a:lnSpc>
              <a:buNone/>
            </a:pPr>
            <a:r>
              <a:rPr lang="en-GB" sz="1600" b="1" noProof="0" dirty="0">
                <a:solidFill>
                  <a:srgbClr val="7B5727"/>
                </a:solidFill>
                <a:latin typeface="Calibri" pitchFamily="34" charset="0"/>
                <a:ea typeface="Calibri" pitchFamily="34" charset="-122"/>
                <a:cs typeface="Calibri" pitchFamily="34" charset="-120"/>
              </a:rPr>
              <a:t>📌 Remember:  </a:t>
            </a:r>
            <a:r>
              <a:rPr lang="en-GB" sz="1600" noProof="0" dirty="0">
                <a:solidFill>
                  <a:srgbClr val="23303F"/>
                </a:solidFill>
                <a:latin typeface="Calibri" pitchFamily="34" charset="0"/>
                <a:ea typeface="Calibri" pitchFamily="34" charset="-122"/>
                <a:cs typeface="Calibri" pitchFamily="34" charset="-120"/>
              </a:rPr>
              <a:t>Fear of infertility is one of the most common reasons women decline or abandon treatment. Answering it early changes attendance.</a:t>
            </a:r>
            <a:endParaRPr lang="en-GB" sz="1600" noProof="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167</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5 · PALLIATIVE CARE</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What palliative care is</a:t>
            </a:r>
            <a:endParaRPr lang="en-GB" sz="3200" noProof="0" dirty="0"/>
          </a:p>
        </p:txBody>
      </p:sp>
      <p:sp>
        <p:nvSpPr>
          <p:cNvPr id="6" name="Shape 4"/>
          <p:cNvSpPr/>
          <p:nvPr/>
        </p:nvSpPr>
        <p:spPr>
          <a:xfrm>
            <a:off x="566928" y="1414277"/>
            <a:ext cx="3563112" cy="4011700"/>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822960" y="1523016"/>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Symptom relief and support</a:t>
            </a:r>
            <a:endParaRPr lang="en-GB" sz="2000" noProof="0" dirty="0"/>
          </a:p>
        </p:txBody>
      </p:sp>
      <p:sp>
        <p:nvSpPr>
          <p:cNvPr id="8" name="Text 6"/>
          <p:cNvSpPr txBox="1"/>
          <p:nvPr/>
        </p:nvSpPr>
        <p:spPr>
          <a:xfrm>
            <a:off x="841248" y="2168226"/>
            <a:ext cx="3051048" cy="1164503"/>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Care that addresses pain, bleeding, discharge, fatigue and distress, for the woman and her family.</a:t>
            </a:r>
            <a:endParaRPr lang="en-GB" sz="1800" noProof="0" dirty="0"/>
          </a:p>
        </p:txBody>
      </p:sp>
      <p:sp>
        <p:nvSpPr>
          <p:cNvPr id="9" name="Shape 7"/>
          <p:cNvSpPr/>
          <p:nvPr/>
        </p:nvSpPr>
        <p:spPr>
          <a:xfrm>
            <a:off x="4312920" y="1414277"/>
            <a:ext cx="3563112" cy="4011700"/>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4568952" y="1461231"/>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Not only end of life</a:t>
            </a:r>
            <a:endParaRPr lang="en-GB" sz="2000" noProof="0" dirty="0"/>
          </a:p>
        </p:txBody>
      </p:sp>
      <p:sp>
        <p:nvSpPr>
          <p:cNvPr id="11" name="Text 9"/>
          <p:cNvSpPr txBox="1"/>
          <p:nvPr/>
        </p:nvSpPr>
        <p:spPr>
          <a:xfrm>
            <a:off x="4568952" y="2064735"/>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It can begin early in the illness, and it can run alongside cancer treatment.</a:t>
            </a:r>
            <a:endParaRPr lang="en-GB" sz="1800" noProof="0" dirty="0"/>
          </a:p>
        </p:txBody>
      </p:sp>
      <p:sp>
        <p:nvSpPr>
          <p:cNvPr id="12" name="Shape 10"/>
          <p:cNvSpPr/>
          <p:nvPr/>
        </p:nvSpPr>
        <p:spPr>
          <a:xfrm>
            <a:off x="8058912" y="1414277"/>
            <a:ext cx="3563112" cy="4011700"/>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8314944" y="1461231"/>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Where it happens</a:t>
            </a:r>
            <a:endParaRPr lang="en-GB" sz="2000" noProof="0" dirty="0"/>
          </a:p>
        </p:txBody>
      </p:sp>
      <p:sp>
        <p:nvSpPr>
          <p:cNvPr id="14" name="Text 12"/>
          <p:cNvSpPr txBox="1"/>
          <p:nvPr/>
        </p:nvSpPr>
        <p:spPr>
          <a:xfrm>
            <a:off x="8314944" y="2064735"/>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Much of it happens at home, supported by district and community services.</a:t>
            </a:r>
            <a:endParaRPr lang="en-GB" sz="1800" noProof="0" dirty="0"/>
          </a:p>
        </p:txBody>
      </p:sp>
      <p:sp>
        <p:nvSpPr>
          <p:cNvPr id="15" name="Shape 13"/>
          <p:cNvSpPr/>
          <p:nvPr/>
        </p:nvSpPr>
        <p:spPr>
          <a:xfrm>
            <a:off x="566928" y="5577468"/>
            <a:ext cx="11055096" cy="626121"/>
          </a:xfrm>
          <a:prstGeom prst="roundRect">
            <a:avLst>
              <a:gd name="adj" fmla="val 8140"/>
            </a:avLst>
          </a:prstGeom>
          <a:solidFill>
            <a:srgbClr val="FDE9E8"/>
          </a:solidFill>
          <a:ln w="12700">
            <a:solidFill>
              <a:srgbClr val="F0CFCE"/>
            </a:solidFill>
            <a:prstDash val="solid"/>
          </a:ln>
        </p:spPr>
        <p:txBody>
          <a:bodyPr/>
          <a:lstStyle/>
          <a:p>
            <a:endParaRPr lang="en-GB" sz="1600" noProof="0" dirty="0"/>
          </a:p>
        </p:txBody>
      </p:sp>
      <p:sp>
        <p:nvSpPr>
          <p:cNvPr id="16" name="Text 14"/>
          <p:cNvSpPr txBox="1"/>
          <p:nvPr/>
        </p:nvSpPr>
        <p:spPr>
          <a:xfrm>
            <a:off x="841248" y="5647041"/>
            <a:ext cx="10506456" cy="538755"/>
          </a:xfrm>
          <a:prstGeom prst="rect">
            <a:avLst/>
          </a:prstGeom>
          <a:noFill/>
          <a:ln/>
        </p:spPr>
        <p:txBody>
          <a:bodyPr wrap="square" lIns="0" tIns="0" rIns="0" bIns="0" rtlCol="0" anchor="ctr"/>
          <a:lstStyle/>
          <a:p>
            <a:pPr marL="0" indent="0">
              <a:lnSpc>
                <a:spcPct val="104000"/>
              </a:lnSpc>
              <a:buNone/>
            </a:pPr>
            <a:r>
              <a:rPr lang="en-GB" sz="1600" b="1" noProof="0" dirty="0">
                <a:solidFill>
                  <a:srgbClr val="8E2531"/>
                </a:solidFill>
                <a:latin typeface="Calibri" pitchFamily="34" charset="0"/>
                <a:ea typeface="Calibri" pitchFamily="34" charset="-122"/>
                <a:cs typeface="Calibri" pitchFamily="34" charset="-120"/>
              </a:rPr>
              <a:t>❌ Never say:  </a:t>
            </a:r>
            <a:r>
              <a:rPr lang="en-GB" sz="1600" noProof="0" dirty="0">
                <a:solidFill>
                  <a:srgbClr val="23303F"/>
                </a:solidFill>
                <a:latin typeface="Calibri" pitchFamily="34" charset="0"/>
                <a:ea typeface="Calibri" pitchFamily="34" charset="-122"/>
                <a:cs typeface="Calibri" pitchFamily="34" charset="-120"/>
              </a:rPr>
              <a:t>Palliative care does not mean that treatment has stopped or that nothing more can be done. Introducing it early prevents that misunderstanding.</a:t>
            </a:r>
            <a:endParaRPr lang="en-GB" sz="1600" noProof="0" dirty="0"/>
          </a:p>
        </p:txBody>
      </p:sp>
      <p:pic>
        <p:nvPicPr>
          <p:cNvPr id="17" name="Imagen 16">
            <a:extLst>
              <a:ext uri="{FF2B5EF4-FFF2-40B4-BE49-F238E27FC236}">
                <a16:creationId xmlns:a16="http://schemas.microsoft.com/office/drawing/2014/main" id="{83080320-C05F-7DF9-61AA-614D6960EB06}"/>
              </a:ext>
            </a:extLst>
          </p:cNvPr>
          <p:cNvPicPr>
            <a:picLocks noChangeAspect="1"/>
          </p:cNvPicPr>
          <p:nvPr/>
        </p:nvPicPr>
        <p:blipFill>
          <a:blip r:embed="rId3"/>
          <a:stretch>
            <a:fillRect/>
          </a:stretch>
        </p:blipFill>
        <p:spPr>
          <a:xfrm>
            <a:off x="1039365" y="3431086"/>
            <a:ext cx="2702899" cy="1801933"/>
          </a:xfrm>
          <a:prstGeom prst="rect">
            <a:avLst/>
          </a:prstGeom>
        </p:spPr>
      </p:pic>
      <p:pic>
        <p:nvPicPr>
          <p:cNvPr id="18" name="Imagen 17">
            <a:extLst>
              <a:ext uri="{FF2B5EF4-FFF2-40B4-BE49-F238E27FC236}">
                <a16:creationId xmlns:a16="http://schemas.microsoft.com/office/drawing/2014/main" id="{9CAB2C1E-73FC-3F32-14FF-99CA281D0186}"/>
              </a:ext>
            </a:extLst>
          </p:cNvPr>
          <p:cNvPicPr>
            <a:picLocks noChangeAspect="1"/>
          </p:cNvPicPr>
          <p:nvPr/>
        </p:nvPicPr>
        <p:blipFill>
          <a:blip r:embed="rId4"/>
          <a:srcRect/>
          <a:stretch>
            <a:fillRect/>
          </a:stretch>
        </p:blipFill>
        <p:spPr>
          <a:xfrm>
            <a:off x="4504436" y="3187780"/>
            <a:ext cx="3183128" cy="2122085"/>
          </a:xfrm>
          <a:prstGeom prst="rect">
            <a:avLst/>
          </a:prstGeom>
        </p:spPr>
      </p:pic>
      <p:pic>
        <p:nvPicPr>
          <p:cNvPr id="19" name="Imagen 18">
            <a:extLst>
              <a:ext uri="{FF2B5EF4-FFF2-40B4-BE49-F238E27FC236}">
                <a16:creationId xmlns:a16="http://schemas.microsoft.com/office/drawing/2014/main" id="{6F407EC3-A317-7652-34B1-D61F09403DC1}"/>
              </a:ext>
            </a:extLst>
          </p:cNvPr>
          <p:cNvPicPr>
            <a:picLocks noChangeAspect="1"/>
          </p:cNvPicPr>
          <p:nvPr/>
        </p:nvPicPr>
        <p:blipFill>
          <a:blip r:embed="rId5"/>
          <a:stretch>
            <a:fillRect/>
          </a:stretch>
        </p:blipFill>
        <p:spPr>
          <a:xfrm>
            <a:off x="8494606" y="3388008"/>
            <a:ext cx="2691723" cy="1794482"/>
          </a:xfrm>
          <a:prstGeom prst="rect">
            <a:avLst/>
          </a:prstGeom>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168</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5 · PALLIATIVE CARE</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What it addresses</a:t>
            </a:r>
            <a:endParaRPr lang="en-GB" sz="3200" noProof="0" dirty="0"/>
          </a:p>
        </p:txBody>
      </p:sp>
      <p:sp>
        <p:nvSpPr>
          <p:cNvPr id="6" name="Shape 4"/>
          <p:cNvSpPr/>
          <p:nvPr/>
        </p:nvSpPr>
        <p:spPr>
          <a:xfrm>
            <a:off x="566928" y="1694358"/>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786384" y="1694358"/>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8" name="Text 6"/>
          <p:cNvSpPr txBox="1"/>
          <p:nvPr/>
        </p:nvSpPr>
        <p:spPr>
          <a:xfrm>
            <a:off x="1463040" y="1749222"/>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Pain. Assess it properly and treat it adequately, including with strong analgesia when indicated.</a:t>
            </a:r>
            <a:endParaRPr lang="en-GB" sz="1800" noProof="0" dirty="0"/>
          </a:p>
        </p:txBody>
      </p:sp>
      <p:sp>
        <p:nvSpPr>
          <p:cNvPr id="9" name="Shape 7"/>
          <p:cNvSpPr/>
          <p:nvPr/>
        </p:nvSpPr>
        <p:spPr>
          <a:xfrm>
            <a:off x="566928" y="2608166"/>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786384" y="2608166"/>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1" name="Text 9"/>
          <p:cNvSpPr txBox="1"/>
          <p:nvPr/>
        </p:nvSpPr>
        <p:spPr>
          <a:xfrm>
            <a:off x="1463040" y="2663030"/>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Bleeding and offensive discharge, both of which have effective treatments.</a:t>
            </a:r>
            <a:endParaRPr lang="en-GB" sz="1800" noProof="0" dirty="0"/>
          </a:p>
        </p:txBody>
      </p:sp>
      <p:sp>
        <p:nvSpPr>
          <p:cNvPr id="12" name="Shape 10"/>
          <p:cNvSpPr/>
          <p:nvPr/>
        </p:nvSpPr>
        <p:spPr>
          <a:xfrm>
            <a:off x="566928" y="3521973"/>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786384" y="3521973"/>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4" name="Text 12"/>
          <p:cNvSpPr txBox="1"/>
          <p:nvPr/>
        </p:nvSpPr>
        <p:spPr>
          <a:xfrm>
            <a:off x="1463040" y="3576837"/>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Urinary and bowel symptoms, including those caused by a fistula.</a:t>
            </a:r>
            <a:endParaRPr lang="en-GB" sz="1800" noProof="0" dirty="0"/>
          </a:p>
        </p:txBody>
      </p:sp>
      <p:sp>
        <p:nvSpPr>
          <p:cNvPr id="15" name="Shape 13"/>
          <p:cNvSpPr/>
          <p:nvPr/>
        </p:nvSpPr>
        <p:spPr>
          <a:xfrm>
            <a:off x="566928" y="4435781"/>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6" name="Text 14"/>
          <p:cNvSpPr txBox="1"/>
          <p:nvPr/>
        </p:nvSpPr>
        <p:spPr>
          <a:xfrm>
            <a:off x="786384" y="4435781"/>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7" name="Text 15"/>
          <p:cNvSpPr txBox="1"/>
          <p:nvPr/>
        </p:nvSpPr>
        <p:spPr>
          <a:xfrm>
            <a:off x="1463040" y="4490645"/>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Nausea, poor appetite and fatigue.</a:t>
            </a:r>
            <a:endParaRPr lang="en-GB" sz="1800" noProof="0" dirty="0"/>
          </a:p>
        </p:txBody>
      </p:sp>
      <p:sp>
        <p:nvSpPr>
          <p:cNvPr id="18" name="Shape 16"/>
          <p:cNvSpPr/>
          <p:nvPr/>
        </p:nvSpPr>
        <p:spPr>
          <a:xfrm>
            <a:off x="566928" y="5317674"/>
            <a:ext cx="11055096" cy="650640"/>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9" name="Text 17"/>
          <p:cNvSpPr txBox="1"/>
          <p:nvPr/>
        </p:nvSpPr>
        <p:spPr>
          <a:xfrm>
            <a:off x="786384" y="5441242"/>
            <a:ext cx="548640" cy="493459"/>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20" name="Text 18"/>
          <p:cNvSpPr txBox="1"/>
          <p:nvPr/>
        </p:nvSpPr>
        <p:spPr>
          <a:xfrm>
            <a:off x="1463040" y="5456656"/>
            <a:ext cx="9866376" cy="423181"/>
          </a:xfrm>
          <a:prstGeom prst="rect">
            <a:avLst/>
          </a:prstGeom>
          <a:noFill/>
          <a:ln/>
        </p:spPr>
        <p:txBody>
          <a:bodyPr wrap="square" lIns="0" tIns="0" rIns="0" bIns="0" rtlCol="0" anchor="ctr"/>
          <a:lstStyle/>
          <a:p>
            <a:pPr marL="0" indent="0">
              <a:lnSpc>
                <a:spcPct val="104000"/>
              </a:lnSpc>
              <a:buNone/>
            </a:pPr>
            <a:r>
              <a:rPr lang="en-GB" noProof="0" dirty="0">
                <a:solidFill>
                  <a:srgbClr val="23303F"/>
                </a:solidFill>
                <a:latin typeface="Calibri" pitchFamily="34" charset="0"/>
                <a:ea typeface="Calibri" pitchFamily="34" charset="-122"/>
                <a:cs typeface="Calibri" pitchFamily="34" charset="-120"/>
              </a:rPr>
              <a:t>Emotional distress, family communication, and a named contact for when things change.</a:t>
            </a:r>
            <a:endParaRPr lang="en-GB" noProof="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169</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5 · QUALITY OF LIFE</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What quality of life depends on</a:t>
            </a:r>
            <a:endParaRPr lang="en-GB" sz="3200" noProof="0" dirty="0"/>
          </a:p>
        </p:txBody>
      </p:sp>
      <p:sp>
        <p:nvSpPr>
          <p:cNvPr id="6" name="Shape 4"/>
          <p:cNvSpPr/>
          <p:nvPr/>
        </p:nvSpPr>
        <p:spPr>
          <a:xfrm>
            <a:off x="566928" y="1719072"/>
            <a:ext cx="11055096" cy="768096"/>
          </a:xfrm>
          <a:prstGeom prst="roundRect">
            <a:avLst>
              <a:gd name="adj" fmla="val 8333"/>
            </a:avLst>
          </a:prstGeom>
          <a:solidFill>
            <a:srgbClr val="F3F6FB"/>
          </a:solidFill>
          <a:ln w="12700">
            <a:solidFill>
              <a:srgbClr val="E0E3EA"/>
            </a:solidFill>
            <a:prstDash val="solid"/>
          </a:ln>
        </p:spPr>
        <p:txBody>
          <a:bodyPr/>
          <a:lstStyle/>
          <a:p>
            <a:endParaRPr lang="en-GB" noProof="0" dirty="0"/>
          </a:p>
        </p:txBody>
      </p:sp>
      <p:sp>
        <p:nvSpPr>
          <p:cNvPr id="7" name="Shape 5"/>
          <p:cNvSpPr/>
          <p:nvPr/>
        </p:nvSpPr>
        <p:spPr>
          <a:xfrm>
            <a:off x="804672" y="1892808"/>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8" name="Text 6"/>
          <p:cNvSpPr txBox="1"/>
          <p:nvPr/>
        </p:nvSpPr>
        <p:spPr>
          <a:xfrm>
            <a:off x="804672" y="1892808"/>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1</a:t>
            </a:r>
            <a:endParaRPr lang="en-GB" sz="1400" noProof="0" dirty="0"/>
          </a:p>
        </p:txBody>
      </p:sp>
      <p:sp>
        <p:nvSpPr>
          <p:cNvPr id="9" name="Text 7"/>
          <p:cNvSpPr txBox="1"/>
          <p:nvPr/>
        </p:nvSpPr>
        <p:spPr>
          <a:xfrm>
            <a:off x="1463040" y="1773936"/>
            <a:ext cx="9866376" cy="658368"/>
          </a:xfrm>
          <a:prstGeom prst="rect">
            <a:avLst/>
          </a:prstGeom>
          <a:noFill/>
          <a:ln/>
        </p:spPr>
        <p:txBody>
          <a:bodyPr wrap="square" lIns="0" tIns="0" rIns="0" bIns="0" rtlCol="0" anchor="ctr"/>
          <a:lstStyle/>
          <a:p>
            <a:pPr marL="0" indent="0">
              <a:lnSpc>
                <a:spcPct val="104000"/>
              </a:lnSpc>
              <a:buNone/>
            </a:pPr>
            <a:r>
              <a:rPr lang="en-GB" sz="1800" b="1" noProof="0" dirty="0">
                <a:solidFill>
                  <a:srgbClr val="10305A"/>
                </a:solidFill>
                <a:latin typeface="Calibri" pitchFamily="34" charset="0"/>
                <a:ea typeface="Calibri" pitchFamily="34" charset="-122"/>
                <a:cs typeface="Calibri" pitchFamily="34" charset="-120"/>
              </a:rPr>
              <a:t>Function.  </a:t>
            </a:r>
            <a:r>
              <a:rPr lang="en-GB" sz="1800" noProof="0" dirty="0">
                <a:solidFill>
                  <a:srgbClr val="23303F"/>
                </a:solidFill>
                <a:latin typeface="Calibri" pitchFamily="34" charset="0"/>
                <a:ea typeface="Calibri" pitchFamily="34" charset="-122"/>
                <a:cs typeface="Calibri" pitchFamily="34" charset="-120"/>
              </a:rPr>
              <a:t>Bladder and bowel control, pain, fatigue and mobility.</a:t>
            </a:r>
            <a:endParaRPr lang="en-GB" sz="1800" noProof="0" dirty="0"/>
          </a:p>
        </p:txBody>
      </p:sp>
      <p:sp>
        <p:nvSpPr>
          <p:cNvPr id="10" name="Shape 8"/>
          <p:cNvSpPr/>
          <p:nvPr/>
        </p:nvSpPr>
        <p:spPr>
          <a:xfrm>
            <a:off x="566928" y="2615184"/>
            <a:ext cx="11055096" cy="768096"/>
          </a:xfrm>
          <a:prstGeom prst="roundRect">
            <a:avLst>
              <a:gd name="adj" fmla="val 8333"/>
            </a:avLst>
          </a:prstGeom>
          <a:solidFill>
            <a:srgbClr val="F3F6FB"/>
          </a:solidFill>
          <a:ln w="12700">
            <a:solidFill>
              <a:srgbClr val="E0E3EA"/>
            </a:solidFill>
            <a:prstDash val="solid"/>
          </a:ln>
        </p:spPr>
        <p:txBody>
          <a:bodyPr/>
          <a:lstStyle/>
          <a:p>
            <a:endParaRPr lang="en-GB" noProof="0" dirty="0"/>
          </a:p>
        </p:txBody>
      </p:sp>
      <p:sp>
        <p:nvSpPr>
          <p:cNvPr id="11" name="Shape 9"/>
          <p:cNvSpPr/>
          <p:nvPr/>
        </p:nvSpPr>
        <p:spPr>
          <a:xfrm>
            <a:off x="804672" y="2788920"/>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12" name="Text 10"/>
          <p:cNvSpPr txBox="1"/>
          <p:nvPr/>
        </p:nvSpPr>
        <p:spPr>
          <a:xfrm>
            <a:off x="804672" y="2788920"/>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2</a:t>
            </a:r>
            <a:endParaRPr lang="en-GB" sz="1400" noProof="0" dirty="0"/>
          </a:p>
        </p:txBody>
      </p:sp>
      <p:sp>
        <p:nvSpPr>
          <p:cNvPr id="13" name="Text 11"/>
          <p:cNvSpPr txBox="1"/>
          <p:nvPr/>
        </p:nvSpPr>
        <p:spPr>
          <a:xfrm>
            <a:off x="1463040" y="2670048"/>
            <a:ext cx="9866376" cy="658368"/>
          </a:xfrm>
          <a:prstGeom prst="rect">
            <a:avLst/>
          </a:prstGeom>
          <a:noFill/>
          <a:ln/>
        </p:spPr>
        <p:txBody>
          <a:bodyPr wrap="square" lIns="0" tIns="0" rIns="0" bIns="0" rtlCol="0" anchor="ctr"/>
          <a:lstStyle/>
          <a:p>
            <a:pPr marL="0" indent="0">
              <a:lnSpc>
                <a:spcPct val="104000"/>
              </a:lnSpc>
              <a:buNone/>
            </a:pPr>
            <a:r>
              <a:rPr lang="en-GB" sz="1800" b="1" noProof="0" dirty="0">
                <a:solidFill>
                  <a:srgbClr val="10305A"/>
                </a:solidFill>
                <a:latin typeface="Calibri" pitchFamily="34" charset="0"/>
                <a:ea typeface="Calibri" pitchFamily="34" charset="-122"/>
                <a:cs typeface="Calibri" pitchFamily="34" charset="-120"/>
              </a:rPr>
              <a:t>Nutrition.  </a:t>
            </a:r>
            <a:r>
              <a:rPr lang="en-GB" sz="1800" noProof="0" dirty="0">
                <a:solidFill>
                  <a:srgbClr val="23303F"/>
                </a:solidFill>
                <a:latin typeface="Calibri" pitchFamily="34" charset="0"/>
                <a:ea typeface="Calibri" pitchFamily="34" charset="-122"/>
                <a:cs typeface="Calibri" pitchFamily="34" charset="-120"/>
              </a:rPr>
              <a:t>Appetite, weight and anaemia, with family involved in practical support.</a:t>
            </a:r>
            <a:endParaRPr lang="en-GB" sz="1800" noProof="0" dirty="0"/>
          </a:p>
        </p:txBody>
      </p:sp>
      <p:sp>
        <p:nvSpPr>
          <p:cNvPr id="14" name="Shape 12"/>
          <p:cNvSpPr/>
          <p:nvPr/>
        </p:nvSpPr>
        <p:spPr>
          <a:xfrm>
            <a:off x="566928" y="3511296"/>
            <a:ext cx="11055096" cy="768096"/>
          </a:xfrm>
          <a:prstGeom prst="roundRect">
            <a:avLst>
              <a:gd name="adj" fmla="val 8333"/>
            </a:avLst>
          </a:prstGeom>
          <a:solidFill>
            <a:srgbClr val="F3F6FB"/>
          </a:solidFill>
          <a:ln w="12700">
            <a:solidFill>
              <a:srgbClr val="E0E3EA"/>
            </a:solidFill>
            <a:prstDash val="solid"/>
          </a:ln>
        </p:spPr>
        <p:txBody>
          <a:bodyPr/>
          <a:lstStyle/>
          <a:p>
            <a:endParaRPr lang="en-GB" noProof="0" dirty="0"/>
          </a:p>
        </p:txBody>
      </p:sp>
      <p:sp>
        <p:nvSpPr>
          <p:cNvPr id="15" name="Shape 13"/>
          <p:cNvSpPr/>
          <p:nvPr/>
        </p:nvSpPr>
        <p:spPr>
          <a:xfrm>
            <a:off x="804672" y="3685032"/>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16" name="Text 14"/>
          <p:cNvSpPr txBox="1"/>
          <p:nvPr/>
        </p:nvSpPr>
        <p:spPr>
          <a:xfrm>
            <a:off x="804672" y="3685032"/>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3</a:t>
            </a:r>
            <a:endParaRPr lang="en-GB" sz="1400" noProof="0" dirty="0"/>
          </a:p>
        </p:txBody>
      </p:sp>
      <p:sp>
        <p:nvSpPr>
          <p:cNvPr id="17" name="Text 15"/>
          <p:cNvSpPr txBox="1"/>
          <p:nvPr/>
        </p:nvSpPr>
        <p:spPr>
          <a:xfrm>
            <a:off x="1463040" y="3566160"/>
            <a:ext cx="9866376" cy="658368"/>
          </a:xfrm>
          <a:prstGeom prst="rect">
            <a:avLst/>
          </a:prstGeom>
          <a:noFill/>
          <a:ln/>
        </p:spPr>
        <p:txBody>
          <a:bodyPr wrap="square" lIns="0" tIns="0" rIns="0" bIns="0" rtlCol="0" anchor="ctr"/>
          <a:lstStyle/>
          <a:p>
            <a:pPr marL="0" indent="0">
              <a:lnSpc>
                <a:spcPct val="104000"/>
              </a:lnSpc>
              <a:buNone/>
            </a:pPr>
            <a:r>
              <a:rPr lang="en-GB" sz="1800" b="1" noProof="0" dirty="0">
                <a:solidFill>
                  <a:srgbClr val="10305A"/>
                </a:solidFill>
                <a:latin typeface="Calibri" pitchFamily="34" charset="0"/>
                <a:ea typeface="Calibri" pitchFamily="34" charset="-122"/>
                <a:cs typeface="Calibri" pitchFamily="34" charset="-120"/>
              </a:rPr>
              <a:t>Wellbeing.  </a:t>
            </a:r>
            <a:r>
              <a:rPr lang="en-GB" sz="1800" noProof="0" dirty="0">
                <a:solidFill>
                  <a:srgbClr val="23303F"/>
                </a:solidFill>
                <a:latin typeface="Calibri" pitchFamily="34" charset="0"/>
                <a:ea typeface="Calibri" pitchFamily="34" charset="-122"/>
                <a:cs typeface="Calibri" pitchFamily="34" charset="-120"/>
              </a:rPr>
              <a:t>Anxiety, low mood, fear of recurrence and body image.</a:t>
            </a:r>
            <a:endParaRPr lang="en-GB" sz="1800" noProof="0" dirty="0"/>
          </a:p>
        </p:txBody>
      </p:sp>
      <p:sp>
        <p:nvSpPr>
          <p:cNvPr id="18" name="Shape 16"/>
          <p:cNvSpPr/>
          <p:nvPr/>
        </p:nvSpPr>
        <p:spPr>
          <a:xfrm>
            <a:off x="566928" y="4407408"/>
            <a:ext cx="11055096" cy="768096"/>
          </a:xfrm>
          <a:prstGeom prst="roundRect">
            <a:avLst>
              <a:gd name="adj" fmla="val 8333"/>
            </a:avLst>
          </a:prstGeom>
          <a:solidFill>
            <a:srgbClr val="F3F6FB"/>
          </a:solidFill>
          <a:ln w="12700">
            <a:solidFill>
              <a:srgbClr val="E0E3EA"/>
            </a:solidFill>
            <a:prstDash val="solid"/>
          </a:ln>
        </p:spPr>
        <p:txBody>
          <a:bodyPr/>
          <a:lstStyle/>
          <a:p>
            <a:endParaRPr lang="en-GB" noProof="0" dirty="0"/>
          </a:p>
        </p:txBody>
      </p:sp>
      <p:sp>
        <p:nvSpPr>
          <p:cNvPr id="19" name="Shape 17"/>
          <p:cNvSpPr/>
          <p:nvPr/>
        </p:nvSpPr>
        <p:spPr>
          <a:xfrm>
            <a:off x="804672" y="4581144"/>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20" name="Text 18"/>
          <p:cNvSpPr txBox="1"/>
          <p:nvPr/>
        </p:nvSpPr>
        <p:spPr>
          <a:xfrm>
            <a:off x="804672" y="4581144"/>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4</a:t>
            </a:r>
            <a:endParaRPr lang="en-GB" sz="1400" noProof="0" dirty="0"/>
          </a:p>
        </p:txBody>
      </p:sp>
      <p:sp>
        <p:nvSpPr>
          <p:cNvPr id="21" name="Text 19"/>
          <p:cNvSpPr txBox="1"/>
          <p:nvPr/>
        </p:nvSpPr>
        <p:spPr>
          <a:xfrm>
            <a:off x="1463040" y="4462272"/>
            <a:ext cx="9866376" cy="658368"/>
          </a:xfrm>
          <a:prstGeom prst="rect">
            <a:avLst/>
          </a:prstGeom>
          <a:noFill/>
          <a:ln/>
        </p:spPr>
        <p:txBody>
          <a:bodyPr wrap="square" lIns="0" tIns="0" rIns="0" bIns="0" rtlCol="0" anchor="ctr"/>
          <a:lstStyle/>
          <a:p>
            <a:pPr marL="0" indent="0">
              <a:lnSpc>
                <a:spcPct val="104000"/>
              </a:lnSpc>
              <a:buNone/>
            </a:pPr>
            <a:r>
              <a:rPr lang="en-GB" sz="1800" b="1" noProof="0" dirty="0">
                <a:solidFill>
                  <a:srgbClr val="10305A"/>
                </a:solidFill>
                <a:latin typeface="Calibri" pitchFamily="34" charset="0"/>
                <a:ea typeface="Calibri" pitchFamily="34" charset="-122"/>
                <a:cs typeface="Calibri" pitchFamily="34" charset="-120"/>
              </a:rPr>
              <a:t>Household.  </a:t>
            </a:r>
            <a:r>
              <a:rPr lang="en-GB" sz="1800" noProof="0" dirty="0">
                <a:solidFill>
                  <a:srgbClr val="23303F"/>
                </a:solidFill>
                <a:latin typeface="Calibri" pitchFamily="34" charset="0"/>
                <a:ea typeface="Calibri" pitchFamily="34" charset="-122"/>
                <a:cs typeface="Calibri" pitchFamily="34" charset="-120"/>
              </a:rPr>
              <a:t>Lost income, transport costs and who is caring for the children.</a:t>
            </a:r>
            <a:endParaRPr lang="en-GB" sz="1800" noProof="0" dirty="0"/>
          </a:p>
        </p:txBody>
      </p:sp>
      <p:sp>
        <p:nvSpPr>
          <p:cNvPr id="22" name="Shape 20"/>
          <p:cNvSpPr/>
          <p:nvPr/>
        </p:nvSpPr>
        <p:spPr>
          <a:xfrm>
            <a:off x="566928" y="5303520"/>
            <a:ext cx="11055096" cy="768096"/>
          </a:xfrm>
          <a:prstGeom prst="roundRect">
            <a:avLst>
              <a:gd name="adj" fmla="val 8333"/>
            </a:avLst>
          </a:prstGeom>
          <a:solidFill>
            <a:srgbClr val="F3F6FB"/>
          </a:solidFill>
          <a:ln w="12700">
            <a:solidFill>
              <a:srgbClr val="E0E3EA"/>
            </a:solidFill>
            <a:prstDash val="solid"/>
          </a:ln>
        </p:spPr>
        <p:txBody>
          <a:bodyPr/>
          <a:lstStyle/>
          <a:p>
            <a:endParaRPr lang="en-GB" noProof="0" dirty="0"/>
          </a:p>
        </p:txBody>
      </p:sp>
      <p:sp>
        <p:nvSpPr>
          <p:cNvPr id="23" name="Shape 21"/>
          <p:cNvSpPr/>
          <p:nvPr/>
        </p:nvSpPr>
        <p:spPr>
          <a:xfrm>
            <a:off x="804672" y="5477256"/>
            <a:ext cx="420624" cy="420624"/>
          </a:xfrm>
          <a:prstGeom prst="ellipse">
            <a:avLst/>
          </a:prstGeom>
          <a:solidFill>
            <a:srgbClr val="1F4E96"/>
          </a:solidFill>
          <a:ln w="12700">
            <a:solidFill>
              <a:srgbClr val="1F4E96"/>
            </a:solidFill>
            <a:prstDash val="solid"/>
          </a:ln>
        </p:spPr>
        <p:txBody>
          <a:bodyPr/>
          <a:lstStyle/>
          <a:p>
            <a:endParaRPr lang="en-GB" noProof="0" dirty="0"/>
          </a:p>
        </p:txBody>
      </p:sp>
      <p:sp>
        <p:nvSpPr>
          <p:cNvPr id="24" name="Text 22"/>
          <p:cNvSpPr txBox="1"/>
          <p:nvPr/>
        </p:nvSpPr>
        <p:spPr>
          <a:xfrm>
            <a:off x="804672" y="5477256"/>
            <a:ext cx="420624" cy="420624"/>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5</a:t>
            </a:r>
            <a:endParaRPr lang="en-GB" sz="1400" noProof="0" dirty="0"/>
          </a:p>
        </p:txBody>
      </p:sp>
      <p:sp>
        <p:nvSpPr>
          <p:cNvPr id="25" name="Text 23"/>
          <p:cNvSpPr txBox="1"/>
          <p:nvPr/>
        </p:nvSpPr>
        <p:spPr>
          <a:xfrm>
            <a:off x="1463040" y="5358384"/>
            <a:ext cx="9866376" cy="658368"/>
          </a:xfrm>
          <a:prstGeom prst="rect">
            <a:avLst/>
          </a:prstGeom>
          <a:noFill/>
          <a:ln/>
        </p:spPr>
        <p:txBody>
          <a:bodyPr wrap="square" lIns="0" tIns="0" rIns="0" bIns="0" rtlCol="0" anchor="ctr"/>
          <a:lstStyle/>
          <a:p>
            <a:pPr marL="0" indent="0">
              <a:lnSpc>
                <a:spcPct val="104000"/>
              </a:lnSpc>
              <a:buNone/>
            </a:pPr>
            <a:r>
              <a:rPr lang="en-GB" sz="1800" b="1" noProof="0" dirty="0">
                <a:solidFill>
                  <a:srgbClr val="10305A"/>
                </a:solidFill>
                <a:latin typeface="Calibri" pitchFamily="34" charset="0"/>
                <a:ea typeface="Calibri" pitchFamily="34" charset="-122"/>
                <a:cs typeface="Calibri" pitchFamily="34" charset="-120"/>
              </a:rPr>
              <a:t>Dignity.  </a:t>
            </a:r>
            <a:r>
              <a:rPr lang="en-GB" sz="1800" noProof="0" dirty="0">
                <a:solidFill>
                  <a:srgbClr val="23303F"/>
                </a:solidFill>
                <a:latin typeface="Calibri" pitchFamily="34" charset="0"/>
                <a:ea typeface="Calibri" pitchFamily="34" charset="-122"/>
                <a:cs typeface="Calibri" pitchFamily="34" charset="-120"/>
              </a:rPr>
              <a:t>Privacy, clear explanation, active management of odour and leakage, and language free of blame.</a:t>
            </a:r>
            <a:endParaRPr lang="en-GB" sz="1800" noProof="0" dirty="0"/>
          </a:p>
        </p:txBody>
      </p:sp>
      <p:sp>
        <p:nvSpPr>
          <p:cNvPr id="26" name="Shape 24"/>
          <p:cNvSpPr/>
          <p:nvPr/>
        </p:nvSpPr>
        <p:spPr>
          <a:xfrm>
            <a:off x="566928" y="5358384"/>
            <a:ext cx="11055096" cy="786384"/>
          </a:xfrm>
          <a:prstGeom prst="roundRect">
            <a:avLst>
              <a:gd name="adj" fmla="val 8140"/>
            </a:avLst>
          </a:prstGeom>
          <a:solidFill>
            <a:srgbClr val="EAF7F0"/>
          </a:solidFill>
          <a:ln w="12700">
            <a:solidFill>
              <a:srgbClr val="C0D4CB"/>
            </a:solidFill>
            <a:prstDash val="solid"/>
          </a:ln>
        </p:spPr>
        <p:txBody>
          <a:bodyPr/>
          <a:lstStyle/>
          <a:p>
            <a:endParaRPr lang="en-GB" noProof="0" dirty="0"/>
          </a:p>
        </p:txBody>
      </p:sp>
      <p:sp>
        <p:nvSpPr>
          <p:cNvPr id="27" name="Text 25"/>
          <p:cNvSpPr txBox="1"/>
          <p:nvPr/>
        </p:nvSpPr>
        <p:spPr>
          <a:xfrm>
            <a:off x="841248" y="5413248"/>
            <a:ext cx="10506456" cy="676656"/>
          </a:xfrm>
          <a:prstGeom prst="rect">
            <a:avLst/>
          </a:prstGeom>
          <a:noFill/>
          <a:ln/>
        </p:spPr>
        <p:txBody>
          <a:bodyPr wrap="square" lIns="0" tIns="0" rIns="0" bIns="0" rtlCol="0" anchor="ctr"/>
          <a:lstStyle/>
          <a:p>
            <a:pPr marL="0" indent="0">
              <a:lnSpc>
                <a:spcPct val="104000"/>
              </a:lnSpc>
              <a:buNone/>
            </a:pPr>
            <a:r>
              <a:rPr lang="en-GB" sz="1800" b="1" noProof="0" dirty="0">
                <a:solidFill>
                  <a:srgbClr val="19543E"/>
                </a:solidFill>
                <a:latin typeface="Calibri" pitchFamily="34" charset="0"/>
                <a:ea typeface="Calibri" pitchFamily="34" charset="-122"/>
                <a:cs typeface="Calibri" pitchFamily="34" charset="-120"/>
              </a:rPr>
              <a:t>💡 Key point:  </a:t>
            </a:r>
            <a:r>
              <a:rPr lang="en-GB" sz="1800" noProof="0" dirty="0">
                <a:solidFill>
                  <a:srgbClr val="23303F"/>
                </a:solidFill>
                <a:latin typeface="Calibri" pitchFamily="34" charset="0"/>
                <a:ea typeface="Calibri" pitchFamily="34" charset="-122"/>
                <a:cs typeface="Calibri" pitchFamily="34" charset="-120"/>
              </a:rPr>
              <a:t>The practical burden on a household is often what decides whether a woman completes her treatment at all.</a:t>
            </a:r>
            <a:endParaRPr lang="en-GB" sz="1800" noProof="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170</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5 · FOLLOW-UP</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Why follow-up matters</a:t>
            </a:r>
            <a:endParaRPr lang="en-GB" sz="3200" noProof="0" dirty="0"/>
          </a:p>
        </p:txBody>
      </p:sp>
      <p:sp>
        <p:nvSpPr>
          <p:cNvPr id="6" name="Shape 4"/>
          <p:cNvSpPr/>
          <p:nvPr/>
        </p:nvSpPr>
        <p:spPr>
          <a:xfrm>
            <a:off x="566928" y="1508761"/>
            <a:ext cx="3563112" cy="4088850"/>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822960" y="1555956"/>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Detect recurrence</a:t>
            </a:r>
            <a:endParaRPr lang="en-GB" sz="2000" noProof="0" dirty="0"/>
          </a:p>
        </p:txBody>
      </p:sp>
      <p:sp>
        <p:nvSpPr>
          <p:cNvPr id="8" name="Text 6"/>
          <p:cNvSpPr txBox="1"/>
          <p:nvPr/>
        </p:nvSpPr>
        <p:spPr>
          <a:xfrm>
            <a:off x="822960" y="2159460"/>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Follow-up aims to find recurrence early, when further treatment may still be possible.</a:t>
            </a:r>
            <a:endParaRPr lang="en-GB" sz="1800" noProof="0" dirty="0"/>
          </a:p>
        </p:txBody>
      </p:sp>
      <p:sp>
        <p:nvSpPr>
          <p:cNvPr id="9" name="Shape 7"/>
          <p:cNvSpPr/>
          <p:nvPr/>
        </p:nvSpPr>
        <p:spPr>
          <a:xfrm>
            <a:off x="4312920" y="1508761"/>
            <a:ext cx="3563112" cy="4088850"/>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4568952" y="1555956"/>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Manage lasting effects</a:t>
            </a:r>
            <a:endParaRPr lang="en-GB" sz="2000" noProof="0" dirty="0"/>
          </a:p>
        </p:txBody>
      </p:sp>
      <p:sp>
        <p:nvSpPr>
          <p:cNvPr id="11" name="Text 9"/>
          <p:cNvSpPr txBox="1"/>
          <p:nvPr/>
        </p:nvSpPr>
        <p:spPr>
          <a:xfrm>
            <a:off x="4568952" y="2159460"/>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Lymphoedema, vaginal narrowing, menopausal symptoms, bowel and bladder change and fatigue all continue to need attention.</a:t>
            </a:r>
            <a:endParaRPr lang="en-GB" sz="1800" noProof="0" dirty="0"/>
          </a:p>
        </p:txBody>
      </p:sp>
      <p:sp>
        <p:nvSpPr>
          <p:cNvPr id="12" name="Shape 10"/>
          <p:cNvSpPr/>
          <p:nvPr/>
        </p:nvSpPr>
        <p:spPr>
          <a:xfrm>
            <a:off x="8058912" y="1508761"/>
            <a:ext cx="3563112" cy="4088850"/>
          </a:xfrm>
          <a:prstGeom prst="roundRect">
            <a:avLst>
              <a:gd name="adj" fmla="val 3000"/>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8314944" y="1555956"/>
            <a:ext cx="3051048" cy="566928"/>
          </a:xfrm>
          <a:prstGeom prst="rect">
            <a:avLst/>
          </a:prstGeom>
          <a:noFill/>
          <a:ln/>
        </p:spPr>
        <p:txBody>
          <a:bodyPr wrap="square" lIns="0" tIns="0" rIns="0" bIns="0" rtlCol="0" anchor="ctr"/>
          <a:lstStyle/>
          <a:p>
            <a:pPr marL="0" indent="0">
              <a:buNone/>
            </a:pPr>
            <a:r>
              <a:rPr lang="en-GB" sz="2000" b="1" noProof="0" dirty="0">
                <a:solidFill>
                  <a:srgbClr val="10305A"/>
                </a:solidFill>
                <a:latin typeface="Calibri" pitchFamily="34" charset="0"/>
                <a:ea typeface="Calibri" pitchFamily="34" charset="-122"/>
                <a:cs typeface="Calibri" pitchFamily="34" charset="-120"/>
              </a:rPr>
              <a:t>📋  Continue surveillance</a:t>
            </a:r>
            <a:endParaRPr lang="en-GB" sz="2000" noProof="0" dirty="0"/>
          </a:p>
        </p:txBody>
      </p:sp>
      <p:sp>
        <p:nvSpPr>
          <p:cNvPr id="14" name="Text 12"/>
          <p:cNvSpPr txBox="1"/>
          <p:nvPr/>
        </p:nvSpPr>
        <p:spPr>
          <a:xfrm>
            <a:off x="8314944" y="2159460"/>
            <a:ext cx="3051048" cy="1773936"/>
          </a:xfrm>
          <a:prstGeom prst="rect">
            <a:avLst/>
          </a:prstGeom>
          <a:noFill/>
          <a:ln/>
        </p:spPr>
        <p:txBody>
          <a:bodyPr wrap="square" lIns="0" tIns="0" rIns="0" bIns="0" rtlCol="0" anchor="t"/>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A woman treated for precancer is not discharged. She needs her planned follow-up test and continued screening.</a:t>
            </a:r>
            <a:endParaRPr lang="en-GB" sz="1800" noProof="0" dirty="0"/>
          </a:p>
        </p:txBody>
      </p:sp>
      <p:pic>
        <p:nvPicPr>
          <p:cNvPr id="17" name="Imagen 16">
            <a:extLst>
              <a:ext uri="{FF2B5EF4-FFF2-40B4-BE49-F238E27FC236}">
                <a16:creationId xmlns:a16="http://schemas.microsoft.com/office/drawing/2014/main" id="{8DCD7BF0-F35F-F790-4EEA-48E59C2FB9C7}"/>
              </a:ext>
            </a:extLst>
          </p:cNvPr>
          <p:cNvPicPr>
            <a:picLocks noChangeAspect="1"/>
          </p:cNvPicPr>
          <p:nvPr/>
        </p:nvPicPr>
        <p:blipFill>
          <a:blip r:embed="rId3"/>
          <a:srcRect/>
          <a:stretch>
            <a:fillRect/>
          </a:stretch>
        </p:blipFill>
        <p:spPr>
          <a:xfrm>
            <a:off x="822960" y="3221736"/>
            <a:ext cx="3051048" cy="2034032"/>
          </a:xfrm>
          <a:prstGeom prst="rect">
            <a:avLst/>
          </a:prstGeom>
        </p:spPr>
      </p:pic>
      <p:pic>
        <p:nvPicPr>
          <p:cNvPr id="18" name="Imagen 17">
            <a:extLst>
              <a:ext uri="{FF2B5EF4-FFF2-40B4-BE49-F238E27FC236}">
                <a16:creationId xmlns:a16="http://schemas.microsoft.com/office/drawing/2014/main" id="{9F610F37-8B92-8C93-5856-37FEF35723F1}"/>
              </a:ext>
            </a:extLst>
          </p:cNvPr>
          <p:cNvPicPr>
            <a:picLocks noChangeAspect="1"/>
          </p:cNvPicPr>
          <p:nvPr/>
        </p:nvPicPr>
        <p:blipFill>
          <a:blip r:embed="rId4"/>
          <a:srcRect/>
          <a:stretch>
            <a:fillRect/>
          </a:stretch>
        </p:blipFill>
        <p:spPr>
          <a:xfrm>
            <a:off x="4770797" y="3726011"/>
            <a:ext cx="2610781" cy="1740521"/>
          </a:xfrm>
          <a:prstGeom prst="rect">
            <a:avLst/>
          </a:prstGeom>
        </p:spPr>
      </p:pic>
      <p:pic>
        <p:nvPicPr>
          <p:cNvPr id="19" name="Imagen 18">
            <a:extLst>
              <a:ext uri="{FF2B5EF4-FFF2-40B4-BE49-F238E27FC236}">
                <a16:creationId xmlns:a16="http://schemas.microsoft.com/office/drawing/2014/main" id="{60AA9D05-C7D3-0191-999B-F841EE57C890}"/>
              </a:ext>
            </a:extLst>
          </p:cNvPr>
          <p:cNvPicPr>
            <a:picLocks noChangeAspect="1"/>
          </p:cNvPicPr>
          <p:nvPr/>
        </p:nvPicPr>
        <p:blipFill>
          <a:blip r:embed="rId5"/>
          <a:srcRect/>
          <a:stretch>
            <a:fillRect/>
          </a:stretch>
        </p:blipFill>
        <p:spPr>
          <a:xfrm>
            <a:off x="8333909" y="3432500"/>
            <a:ext cx="3051048" cy="2034032"/>
          </a:xfrm>
          <a:prstGeom prst="rect">
            <a:avLst/>
          </a:prstGeom>
        </p:spPr>
      </p:pic>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171</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5 · FOLLOW-UP</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What she should report without waiting</a:t>
            </a:r>
            <a:endParaRPr lang="en-GB" sz="3200" noProof="0" dirty="0"/>
          </a:p>
        </p:txBody>
      </p:sp>
      <p:sp>
        <p:nvSpPr>
          <p:cNvPr id="6" name="Shape 4"/>
          <p:cNvSpPr/>
          <p:nvPr/>
        </p:nvSpPr>
        <p:spPr>
          <a:xfrm>
            <a:off x="566928" y="1533717"/>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7" name="Text 5"/>
          <p:cNvSpPr txBox="1"/>
          <p:nvPr/>
        </p:nvSpPr>
        <p:spPr>
          <a:xfrm>
            <a:off x="786384" y="1533717"/>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8" name="Text 6"/>
          <p:cNvSpPr txBox="1"/>
          <p:nvPr/>
        </p:nvSpPr>
        <p:spPr>
          <a:xfrm>
            <a:off x="1463040" y="1588581"/>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New vaginal bleeding, or bleeding that returns after it had stopped.</a:t>
            </a:r>
            <a:endParaRPr lang="en-GB" sz="1800" noProof="0" dirty="0"/>
          </a:p>
        </p:txBody>
      </p:sp>
      <p:sp>
        <p:nvSpPr>
          <p:cNvPr id="9" name="Shape 7"/>
          <p:cNvSpPr/>
          <p:nvPr/>
        </p:nvSpPr>
        <p:spPr>
          <a:xfrm>
            <a:off x="566928" y="2447525"/>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786384" y="2447525"/>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1" name="Text 9"/>
          <p:cNvSpPr txBox="1"/>
          <p:nvPr/>
        </p:nvSpPr>
        <p:spPr>
          <a:xfrm>
            <a:off x="1463040" y="2502389"/>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New or offensive discharge, or any leakage of urine or stool.</a:t>
            </a:r>
            <a:endParaRPr lang="en-GB" sz="1800" noProof="0" dirty="0"/>
          </a:p>
        </p:txBody>
      </p:sp>
      <p:sp>
        <p:nvSpPr>
          <p:cNvPr id="12" name="Shape 10"/>
          <p:cNvSpPr/>
          <p:nvPr/>
        </p:nvSpPr>
        <p:spPr>
          <a:xfrm>
            <a:off x="566928" y="3361332"/>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3" name="Text 11"/>
          <p:cNvSpPr txBox="1"/>
          <p:nvPr/>
        </p:nvSpPr>
        <p:spPr>
          <a:xfrm>
            <a:off x="786384" y="3361332"/>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4" name="Text 12"/>
          <p:cNvSpPr txBox="1"/>
          <p:nvPr/>
        </p:nvSpPr>
        <p:spPr>
          <a:xfrm>
            <a:off x="1463040" y="3416196"/>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New pelvic, back or leg pain that does not settle.</a:t>
            </a:r>
            <a:endParaRPr lang="en-GB" sz="1800" noProof="0" dirty="0"/>
          </a:p>
        </p:txBody>
      </p:sp>
      <p:sp>
        <p:nvSpPr>
          <p:cNvPr id="15" name="Shape 13"/>
          <p:cNvSpPr/>
          <p:nvPr/>
        </p:nvSpPr>
        <p:spPr>
          <a:xfrm>
            <a:off x="566928" y="4275140"/>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6" name="Text 14"/>
          <p:cNvSpPr txBox="1"/>
          <p:nvPr/>
        </p:nvSpPr>
        <p:spPr>
          <a:xfrm>
            <a:off x="786384" y="4275140"/>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17" name="Text 15"/>
          <p:cNvSpPr txBox="1"/>
          <p:nvPr/>
        </p:nvSpPr>
        <p:spPr>
          <a:xfrm>
            <a:off x="1463040" y="4330004"/>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New or worsening leg swelling.</a:t>
            </a:r>
            <a:endParaRPr lang="en-GB" sz="1800" noProof="0" dirty="0"/>
          </a:p>
        </p:txBody>
      </p:sp>
      <p:sp>
        <p:nvSpPr>
          <p:cNvPr id="18" name="Shape 16"/>
          <p:cNvSpPr/>
          <p:nvPr/>
        </p:nvSpPr>
        <p:spPr>
          <a:xfrm>
            <a:off x="566928" y="5374303"/>
            <a:ext cx="11055096" cy="770465"/>
          </a:xfrm>
          <a:prstGeom prst="roundRect">
            <a:avLst>
              <a:gd name="adj" fmla="val 8308"/>
            </a:avLst>
          </a:prstGeom>
          <a:solidFill>
            <a:srgbClr val="F3F6FB"/>
          </a:solidFill>
          <a:ln w="12700">
            <a:solidFill>
              <a:srgbClr val="E0E3EA"/>
            </a:solidFill>
            <a:prstDash val="solid"/>
          </a:ln>
        </p:spPr>
        <p:txBody>
          <a:bodyPr/>
          <a:lstStyle/>
          <a:p>
            <a:endParaRPr lang="en-GB" noProof="0" dirty="0"/>
          </a:p>
        </p:txBody>
      </p:sp>
      <p:sp>
        <p:nvSpPr>
          <p:cNvPr id="19" name="Text 17"/>
          <p:cNvSpPr txBox="1"/>
          <p:nvPr/>
        </p:nvSpPr>
        <p:spPr>
          <a:xfrm>
            <a:off x="786384" y="5374303"/>
            <a:ext cx="548640" cy="770465"/>
          </a:xfrm>
          <a:prstGeom prst="rect">
            <a:avLst/>
          </a:prstGeom>
          <a:noFill/>
          <a:ln/>
        </p:spPr>
        <p:txBody>
          <a:bodyPr wrap="square" lIns="0" tIns="0" rIns="0" bIns="0" rtlCol="0" anchor="ctr"/>
          <a:lstStyle/>
          <a:p>
            <a:pPr marL="0" indent="0" algn="ctr">
              <a:buNone/>
            </a:pPr>
            <a:r>
              <a:rPr lang="en-GB" sz="2000" noProof="0" dirty="0">
                <a:solidFill>
                  <a:srgbClr val="000000"/>
                </a:solidFill>
                <a:latin typeface="Calibri" pitchFamily="34" charset="0"/>
                <a:ea typeface="Calibri" pitchFamily="34" charset="-122"/>
                <a:cs typeface="Calibri" pitchFamily="34" charset="-120"/>
              </a:rPr>
              <a:t>⚖️</a:t>
            </a:r>
            <a:endParaRPr lang="en-GB" sz="2000" noProof="0" dirty="0"/>
          </a:p>
        </p:txBody>
      </p:sp>
      <p:sp>
        <p:nvSpPr>
          <p:cNvPr id="20" name="Text 18"/>
          <p:cNvSpPr txBox="1"/>
          <p:nvPr/>
        </p:nvSpPr>
        <p:spPr>
          <a:xfrm>
            <a:off x="1463040" y="5429167"/>
            <a:ext cx="9866376" cy="660737"/>
          </a:xfrm>
          <a:prstGeom prst="rect">
            <a:avLst/>
          </a:prstGeom>
          <a:noFill/>
          <a:ln/>
        </p:spPr>
        <p:txBody>
          <a:bodyPr wrap="square" lIns="0" tIns="0" rIns="0" bIns="0" rtlCol="0" anchor="ctr"/>
          <a:lstStyle/>
          <a:p>
            <a:pPr marL="0" indent="0">
              <a:lnSpc>
                <a:spcPct val="104000"/>
              </a:lnSpc>
              <a:buNone/>
            </a:pPr>
            <a:r>
              <a:rPr lang="en-GB" sz="1800" noProof="0" dirty="0">
                <a:solidFill>
                  <a:srgbClr val="23303F"/>
                </a:solidFill>
                <a:latin typeface="Calibri" pitchFamily="34" charset="0"/>
                <a:ea typeface="Calibri" pitchFamily="34" charset="-122"/>
                <a:cs typeface="Calibri" pitchFamily="34" charset="-120"/>
              </a:rPr>
              <a:t>Unexplained weight loss, or a general sense of becoming unwell.</a:t>
            </a:r>
            <a:endParaRPr lang="en-GB" sz="1800" noProof="0" dirty="0"/>
          </a:p>
        </p:txBody>
      </p:sp>
      <p:sp>
        <p:nvSpPr>
          <p:cNvPr id="21" name="Shape 19"/>
          <p:cNvSpPr/>
          <p:nvPr/>
        </p:nvSpPr>
        <p:spPr>
          <a:xfrm>
            <a:off x="566928" y="5394960"/>
            <a:ext cx="11055096" cy="786384"/>
          </a:xfrm>
          <a:prstGeom prst="roundRect">
            <a:avLst>
              <a:gd name="adj" fmla="val 8140"/>
            </a:avLst>
          </a:prstGeom>
          <a:solidFill>
            <a:srgbClr val="EAF7F0"/>
          </a:solidFill>
          <a:ln w="12700">
            <a:solidFill>
              <a:srgbClr val="C0D4CB"/>
            </a:solidFill>
            <a:prstDash val="solid"/>
          </a:ln>
        </p:spPr>
        <p:txBody>
          <a:bodyPr/>
          <a:lstStyle/>
          <a:p>
            <a:endParaRPr lang="en-GB" noProof="0" dirty="0"/>
          </a:p>
        </p:txBody>
      </p:sp>
      <p:sp>
        <p:nvSpPr>
          <p:cNvPr id="22" name="Text 20"/>
          <p:cNvSpPr txBox="1"/>
          <p:nvPr/>
        </p:nvSpPr>
        <p:spPr>
          <a:xfrm>
            <a:off x="841248" y="5449824"/>
            <a:ext cx="10506456" cy="676656"/>
          </a:xfrm>
          <a:prstGeom prst="rect">
            <a:avLst/>
          </a:prstGeom>
          <a:noFill/>
          <a:ln/>
        </p:spPr>
        <p:txBody>
          <a:bodyPr wrap="square" lIns="0" tIns="0" rIns="0" bIns="0" rtlCol="0" anchor="ctr"/>
          <a:lstStyle/>
          <a:p>
            <a:pPr marL="0" indent="0">
              <a:lnSpc>
                <a:spcPct val="104000"/>
              </a:lnSpc>
              <a:buNone/>
            </a:pPr>
            <a:r>
              <a:rPr lang="en-GB" sz="1800" b="1" noProof="0" dirty="0">
                <a:solidFill>
                  <a:srgbClr val="19543E"/>
                </a:solidFill>
                <a:latin typeface="Calibri" pitchFamily="34" charset="0"/>
                <a:ea typeface="Calibri" pitchFamily="34" charset="-122"/>
                <a:cs typeface="Calibri" pitchFamily="34" charset="-120"/>
              </a:rPr>
              <a:t>💬 Say it this way:  </a:t>
            </a:r>
            <a:r>
              <a:rPr lang="en-GB" sz="1800" noProof="0" dirty="0">
                <a:solidFill>
                  <a:srgbClr val="23303F"/>
                </a:solidFill>
                <a:latin typeface="Calibri" pitchFamily="34" charset="0"/>
                <a:ea typeface="Calibri" pitchFamily="34" charset="-122"/>
                <a:cs typeface="Calibri" pitchFamily="34" charset="-120"/>
              </a:rPr>
              <a:t>Do not wait for your next appointment. If any of these happen, come back, and we will look at it.</a:t>
            </a:r>
            <a:endParaRPr lang="en-GB" sz="1800" noProof="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5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172</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5 · INTERACTIVE</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What is the priority?</a:t>
            </a:r>
            <a:endParaRPr lang="en-GB" sz="3200" noProof="0" dirty="0"/>
          </a:p>
        </p:txBody>
      </p:sp>
      <p:sp>
        <p:nvSpPr>
          <p:cNvPr id="6" name="Text 4"/>
          <p:cNvSpPr txBox="1"/>
          <p:nvPr/>
        </p:nvSpPr>
        <p:spPr>
          <a:xfrm>
            <a:off x="566928" y="1591056"/>
            <a:ext cx="11055096" cy="768096"/>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A woman ten days into a chemotherapy cycle reports fever, shivering and feeling suddenly much worse. What should happen?</a:t>
            </a:r>
            <a:endParaRPr lang="en-GB" sz="2000" noProof="0" dirty="0"/>
          </a:p>
        </p:txBody>
      </p:sp>
      <p:sp>
        <p:nvSpPr>
          <p:cNvPr id="7" name="Shape 5"/>
          <p:cNvSpPr/>
          <p:nvPr/>
        </p:nvSpPr>
        <p:spPr>
          <a:xfrm>
            <a:off x="566928" y="2432304"/>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432304"/>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Advise paracetamol and review in a week</a:t>
            </a:r>
            <a:endParaRPr lang="en-GB" sz="1800" noProof="0" dirty="0"/>
          </a:p>
        </p:txBody>
      </p:sp>
      <p:sp>
        <p:nvSpPr>
          <p:cNvPr id="11" name="Shape 9"/>
          <p:cNvSpPr/>
          <p:nvPr/>
        </p:nvSpPr>
        <p:spPr>
          <a:xfrm>
            <a:off x="566928" y="30083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0083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Advise rest and increased fluids only</a:t>
            </a:r>
            <a:endParaRPr lang="en-GB" sz="1800" noProof="0" dirty="0"/>
          </a:p>
        </p:txBody>
      </p:sp>
      <p:sp>
        <p:nvSpPr>
          <p:cNvPr id="9" name="Shape 7"/>
          <p:cNvSpPr/>
          <p:nvPr/>
        </p:nvSpPr>
        <p:spPr>
          <a:xfrm>
            <a:off x="566928" y="3584448"/>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3584448"/>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Arrange urgent assessment and contact the treating team the same day</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3" name="Shape 11"/>
          <p:cNvSpPr/>
          <p:nvPr/>
        </p:nvSpPr>
        <p:spPr>
          <a:xfrm>
            <a:off x="566928" y="41605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1605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Stop the chemotherapy and take no other action</a:t>
            </a:r>
            <a:endParaRPr lang="en-GB" sz="1800" noProof="0" dirty="0"/>
          </a:p>
        </p:txBody>
      </p:sp>
      <p:sp>
        <p:nvSpPr>
          <p:cNvPr id="15" name="Shape 13"/>
          <p:cNvSpPr/>
          <p:nvPr/>
        </p:nvSpPr>
        <p:spPr>
          <a:xfrm>
            <a:off x="566928" y="4828032"/>
            <a:ext cx="11055096" cy="1408176"/>
          </a:xfrm>
          <a:prstGeom prst="roundRect">
            <a:avLst>
              <a:gd name="adj" fmla="val 4545"/>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919472"/>
            <a:ext cx="10506456" cy="1225296"/>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C
Feedback: </a:t>
            </a:r>
            <a:r>
              <a:rPr lang="en-GB" sz="1800" noProof="0" dirty="0">
                <a:solidFill>
                  <a:srgbClr val="23303F"/>
                </a:solidFill>
                <a:latin typeface="Calibri" pitchFamily="34" charset="0"/>
                <a:ea typeface="Calibri" pitchFamily="34" charset="-122"/>
                <a:cs typeface="Calibri" pitchFamily="34" charset="-120"/>
              </a:rPr>
              <a:t>Fever during chemotherapy may mean infection with a low neutrophil count, which can deteriorate very quickly. Arrange assessment the same day and do not wait to see whether it settles.</a:t>
            </a:r>
            <a:endParaRPr lang="en-GB" sz="1800" noProof="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5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173</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5 · KNOWLEDGE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Knowledge check: question 1 of 5</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Palliative care is:</a:t>
            </a:r>
            <a:endParaRPr lang="en-GB" sz="2000" noProof="0" dirty="0"/>
          </a:p>
        </p:txBody>
      </p:sp>
      <p:sp>
        <p:nvSpPr>
          <p:cNvPr id="9" name="Shape 7"/>
          <p:cNvSpPr/>
          <p:nvPr/>
        </p:nvSpPr>
        <p:spPr>
          <a:xfrm>
            <a:off x="566928" y="2322576"/>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Symptom relief and quality of life support, which can run alongside cancer treatment</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7" name="Shape 5"/>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Only for the last days of life</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The same as stopping treatment</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Only pain medicine</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A
Feedback: </a:t>
            </a:r>
            <a:r>
              <a:rPr lang="en-GB" sz="1800" noProof="0" dirty="0">
                <a:solidFill>
                  <a:srgbClr val="23303F"/>
                </a:solidFill>
                <a:latin typeface="Calibri" pitchFamily="34" charset="0"/>
                <a:ea typeface="Calibri" pitchFamily="34" charset="-122"/>
                <a:cs typeface="Calibri" pitchFamily="34" charset="-120"/>
              </a:rPr>
              <a:t>Palliative care addresses symptoms, function and support for the woman and her family. It can begin early in the illness and does not mean that cancer treatment has stopped.</a:t>
            </a:r>
            <a:endParaRPr lang="en-GB" sz="1800" noProof="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5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174</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5 · KNOWLEDGE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Knowledge check: question 2 of 5</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Which of these needs urgent assessment?</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Mild fatigue in week two of radiotherapy</a:t>
            </a:r>
            <a:endParaRPr lang="en-GB" sz="1800" noProof="0" dirty="0"/>
          </a:p>
        </p:txBody>
      </p:sp>
      <p:sp>
        <p:nvSpPr>
          <p:cNvPr id="13" name="Shape 11"/>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Mild skin dryness in the treated area</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Slight vaginal dryness</a:t>
            </a:r>
            <a:endParaRPr lang="en-GB" sz="1800" noProof="0" dirty="0"/>
          </a:p>
        </p:txBody>
      </p:sp>
      <p:sp>
        <p:nvSpPr>
          <p:cNvPr id="9" name="Shape 7"/>
          <p:cNvSpPr/>
          <p:nvPr/>
        </p:nvSpPr>
        <p:spPr>
          <a:xfrm>
            <a:off x="566928" y="4050792"/>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Continuous leakage of urine from the vagina with reduced urine output</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D
Feedback: </a:t>
            </a:r>
            <a:r>
              <a:rPr lang="en-GB" sz="1800" noProof="0" dirty="0">
                <a:solidFill>
                  <a:srgbClr val="23303F"/>
                </a:solidFill>
                <a:latin typeface="Calibri" pitchFamily="34" charset="0"/>
                <a:ea typeface="Calibri" pitchFamily="34" charset="-122"/>
                <a:cs typeface="Calibri" pitchFamily="34" charset="-120"/>
              </a:rPr>
              <a:t>This suggests a fistula and possible obstruction of the kidneys. Both need urgent specialist assessment rather than review at the next appointment.</a:t>
            </a:r>
            <a:endParaRPr lang="en-GB" sz="1800" noProof="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5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175</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5 · KNOWLEDGE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Knowledge check: question 3 of 5</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Vaginal narrowing after radiotherapy should be:</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Accepted as unavoidable</a:t>
            </a:r>
            <a:endParaRPr lang="en-GB" sz="1800" noProof="0" dirty="0"/>
          </a:p>
        </p:txBody>
      </p:sp>
      <p:sp>
        <p:nvSpPr>
          <p:cNvPr id="9" name="Shape 7"/>
          <p:cNvSpPr/>
          <p:nvPr/>
        </p:nvSpPr>
        <p:spPr>
          <a:xfrm>
            <a:off x="566928" y="2898648"/>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Prevented and managed actively, and raised by you rather than by her</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Ignored unless she raises it</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Treated with antibiotics</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B
Feedback: </a:t>
            </a:r>
            <a:r>
              <a:rPr lang="en-GB" sz="1800" noProof="0" dirty="0">
                <a:solidFill>
                  <a:srgbClr val="23303F"/>
                </a:solidFill>
                <a:latin typeface="Calibri" pitchFamily="34" charset="0"/>
                <a:ea typeface="Calibri" pitchFamily="34" charset="-122"/>
                <a:cs typeface="Calibri" pitchFamily="34" charset="-120"/>
              </a:rPr>
              <a:t>It is common, largely preventable and it also determines whether future examination is possible. Women rarely raise it themselves, so asking is what makes help possible.</a:t>
            </a:r>
            <a:endParaRPr lang="en-GB" sz="1800" noProof="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5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176</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5 · KNOWLEDGE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Knowledge check: question 4 of 5</a:t>
            </a:r>
            <a:endParaRPr lang="en-GB" sz="3200" noProof="0" dirty="0"/>
          </a:p>
        </p:txBody>
      </p:sp>
      <p:sp>
        <p:nvSpPr>
          <p:cNvPr id="6" name="Text 4"/>
          <p:cNvSpPr txBox="1"/>
          <p:nvPr/>
        </p:nvSpPr>
        <p:spPr>
          <a:xfrm>
            <a:off x="566928" y="1591056"/>
            <a:ext cx="11055096" cy="768096"/>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A woman treated for cervical precancer two years ago now reports new bleeding after intercourse. You should:</a:t>
            </a:r>
            <a:endParaRPr lang="en-GB" sz="2000" noProof="0" dirty="0"/>
          </a:p>
        </p:txBody>
      </p:sp>
      <p:sp>
        <p:nvSpPr>
          <p:cNvPr id="7" name="Shape 5"/>
          <p:cNvSpPr/>
          <p:nvPr/>
        </p:nvSpPr>
        <p:spPr>
          <a:xfrm>
            <a:off x="566928" y="2432304"/>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432304"/>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Reassure her, because she was treated</a:t>
            </a:r>
            <a:endParaRPr lang="en-GB" sz="1800" noProof="0" dirty="0"/>
          </a:p>
        </p:txBody>
      </p:sp>
      <p:sp>
        <p:nvSpPr>
          <p:cNvPr id="11" name="Shape 9"/>
          <p:cNvSpPr/>
          <p:nvPr/>
        </p:nvSpPr>
        <p:spPr>
          <a:xfrm>
            <a:off x="566928" y="30083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0083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Repeat the treatment immediately</a:t>
            </a:r>
            <a:endParaRPr lang="en-GB" sz="1800" noProof="0" dirty="0"/>
          </a:p>
        </p:txBody>
      </p:sp>
      <p:sp>
        <p:nvSpPr>
          <p:cNvPr id="9" name="Shape 7"/>
          <p:cNvSpPr/>
          <p:nvPr/>
        </p:nvSpPr>
        <p:spPr>
          <a:xfrm>
            <a:off x="566928" y="3584448"/>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3584448"/>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Examine and assess her, because new symptoms are assessed on their own merits</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3" name="Shape 11"/>
          <p:cNvSpPr/>
          <p:nvPr/>
        </p:nvSpPr>
        <p:spPr>
          <a:xfrm>
            <a:off x="566928" y="41605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1605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Wait for her next scheduled screening</a:t>
            </a:r>
            <a:endParaRPr lang="en-GB" sz="1800" noProof="0" dirty="0"/>
          </a:p>
        </p:txBody>
      </p:sp>
      <p:sp>
        <p:nvSpPr>
          <p:cNvPr id="15" name="Shape 13"/>
          <p:cNvSpPr/>
          <p:nvPr/>
        </p:nvSpPr>
        <p:spPr>
          <a:xfrm>
            <a:off x="566928" y="4828032"/>
            <a:ext cx="11055096" cy="1408176"/>
          </a:xfrm>
          <a:prstGeom prst="roundRect">
            <a:avLst>
              <a:gd name="adj" fmla="val 4545"/>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919472"/>
            <a:ext cx="10506456" cy="1225296"/>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C
Feedback: </a:t>
            </a:r>
            <a:r>
              <a:rPr lang="en-GB" sz="1800" noProof="0" dirty="0">
                <a:solidFill>
                  <a:srgbClr val="23303F"/>
                </a:solidFill>
                <a:latin typeface="Calibri" pitchFamily="34" charset="0"/>
                <a:ea typeface="Calibri" pitchFamily="34" charset="-122"/>
                <a:cs typeface="Calibri" pitchFamily="34" charset="-120"/>
              </a:rPr>
              <a:t>Previous treatment lowers risk but does not remove it, and a previous result says nothing about a new symptom. She needs assessment now.</a:t>
            </a:r>
            <a:endParaRPr lang="en-GB" sz="1800" noProof="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5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177</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5 · KNOWLEDGE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Knowledge check: question 5 of 5</a:t>
            </a:r>
            <a:endParaRPr lang="en-GB" sz="3200" noProof="0" dirty="0"/>
          </a:p>
        </p:txBody>
      </p:sp>
      <p:sp>
        <p:nvSpPr>
          <p:cNvPr id="6" name="Text 4"/>
          <p:cNvSpPr txBox="1"/>
          <p:nvPr/>
        </p:nvSpPr>
        <p:spPr>
          <a:xfrm>
            <a:off x="566928" y="1591056"/>
            <a:ext cx="11055096" cy="768096"/>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Which statements about supporting a woman through treatment are accurate? Select all that apply.</a:t>
            </a:r>
            <a:endParaRPr lang="en-GB" sz="2000" noProof="0" dirty="0"/>
          </a:p>
        </p:txBody>
      </p:sp>
      <p:sp>
        <p:nvSpPr>
          <p:cNvPr id="7" name="Shape 5"/>
          <p:cNvSpPr/>
          <p:nvPr/>
        </p:nvSpPr>
        <p:spPr>
          <a:xfrm>
            <a:off x="566928" y="2432304"/>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8" name="Text 6"/>
          <p:cNvSpPr txBox="1"/>
          <p:nvPr/>
        </p:nvSpPr>
        <p:spPr>
          <a:xfrm>
            <a:off x="841248" y="2432304"/>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Transport and cost often decide whether she completes treatment</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9" name="Shape 7"/>
          <p:cNvSpPr/>
          <p:nvPr/>
        </p:nvSpPr>
        <p:spPr>
          <a:xfrm>
            <a:off x="566928" y="30083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841248" y="30083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Loss of fertility should be raised only after treatment ends</a:t>
            </a:r>
            <a:endParaRPr lang="en-GB" sz="1800" noProof="0" dirty="0"/>
          </a:p>
        </p:txBody>
      </p:sp>
      <p:sp>
        <p:nvSpPr>
          <p:cNvPr id="11" name="Shape 9"/>
          <p:cNvSpPr/>
          <p:nvPr/>
        </p:nvSpPr>
        <p:spPr>
          <a:xfrm>
            <a:off x="566928" y="3584448"/>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2" name="Text 10"/>
          <p:cNvSpPr txBox="1"/>
          <p:nvPr/>
        </p:nvSpPr>
        <p:spPr>
          <a:xfrm>
            <a:off x="841248" y="3584448"/>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Fever during chemotherapy needs same day assessment</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3" name="Shape 11"/>
          <p:cNvSpPr/>
          <p:nvPr/>
        </p:nvSpPr>
        <p:spPr>
          <a:xfrm>
            <a:off x="566928" y="4160520"/>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4" name="Text 12"/>
          <p:cNvSpPr txBox="1"/>
          <p:nvPr/>
        </p:nvSpPr>
        <p:spPr>
          <a:xfrm>
            <a:off x="841248" y="4160520"/>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Odour from a tumour can be treated effectively</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5" name="Shape 13"/>
          <p:cNvSpPr/>
          <p:nvPr/>
        </p:nvSpPr>
        <p:spPr>
          <a:xfrm>
            <a:off x="566928" y="4828032"/>
            <a:ext cx="11055096" cy="1408176"/>
          </a:xfrm>
          <a:prstGeom prst="roundRect">
            <a:avLst>
              <a:gd name="adj" fmla="val 4545"/>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919472"/>
            <a:ext cx="10506456" cy="1225296"/>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A, C, D
Feedback: </a:t>
            </a:r>
            <a:r>
              <a:rPr lang="en-GB" sz="1800" noProof="0" dirty="0">
                <a:solidFill>
                  <a:srgbClr val="23303F"/>
                </a:solidFill>
                <a:latin typeface="Calibri" pitchFamily="34" charset="0"/>
                <a:ea typeface="Calibri" pitchFamily="34" charset="-122"/>
                <a:cs typeface="Calibri" pitchFamily="34" charset="-120"/>
              </a:rPr>
              <a:t>Practical barriers, urgent recognition of fever and active management of odour all change outcomes. Fertility must be raised before treatment is planned, not afterwards, because the decision may depend on it.</a:t>
            </a:r>
            <a:endParaRPr lang="en-GB" sz="1800" noProof="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5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178</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SESSION 5</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Reflection</a:t>
            </a:r>
            <a:endParaRPr lang="en-GB" sz="3200" noProof="0" dirty="0"/>
          </a:p>
        </p:txBody>
      </p:sp>
      <p:sp>
        <p:nvSpPr>
          <p:cNvPr id="6" name="Text 4"/>
          <p:cNvSpPr txBox="1"/>
          <p:nvPr/>
        </p:nvSpPr>
        <p:spPr>
          <a:xfrm>
            <a:off x="566928" y="1572768"/>
            <a:ext cx="11055096" cy="384048"/>
          </a:xfrm>
          <a:prstGeom prst="rect">
            <a:avLst/>
          </a:prstGeom>
          <a:noFill/>
          <a:ln/>
        </p:spPr>
        <p:txBody>
          <a:bodyPr wrap="square" lIns="0" tIns="0" rIns="0" bIns="0" rtlCol="0" anchor="ctr"/>
          <a:lstStyle/>
          <a:p>
            <a:pPr marL="0" indent="0">
              <a:buNone/>
            </a:pPr>
            <a:r>
              <a:rPr lang="en-GB" sz="1800" i="1" noProof="0" dirty="0">
                <a:solidFill>
                  <a:srgbClr val="31507B"/>
                </a:solidFill>
                <a:latin typeface="Calibri" pitchFamily="34" charset="0"/>
                <a:ea typeface="Calibri" pitchFamily="34" charset="-122"/>
                <a:cs typeface="Calibri" pitchFamily="34" charset="-120"/>
              </a:rPr>
              <a:t>Learner instruction: Enter your response in the text box. These responses are not scored.</a:t>
            </a:r>
            <a:endParaRPr lang="en-GB" sz="1800" noProof="0" dirty="0"/>
          </a:p>
        </p:txBody>
      </p:sp>
      <p:sp>
        <p:nvSpPr>
          <p:cNvPr id="7" name="Shape 5"/>
          <p:cNvSpPr/>
          <p:nvPr/>
        </p:nvSpPr>
        <p:spPr>
          <a:xfrm>
            <a:off x="566928" y="2084832"/>
            <a:ext cx="11055096" cy="1255776"/>
          </a:xfrm>
          <a:prstGeom prst="roundRect">
            <a:avLst>
              <a:gd name="adj" fmla="val 5097"/>
            </a:avLst>
          </a:prstGeom>
          <a:solidFill>
            <a:srgbClr val="F3F6FB"/>
          </a:solidFill>
          <a:ln w="12700">
            <a:solidFill>
              <a:srgbClr val="E0E3EA"/>
            </a:solidFill>
            <a:prstDash val="solid"/>
          </a:ln>
        </p:spPr>
        <p:txBody>
          <a:bodyPr/>
          <a:lstStyle/>
          <a:p>
            <a:endParaRPr lang="en-GB" noProof="0" dirty="0"/>
          </a:p>
        </p:txBody>
      </p:sp>
      <p:sp>
        <p:nvSpPr>
          <p:cNvPr id="8" name="Shape 6"/>
          <p:cNvSpPr/>
          <p:nvPr/>
        </p:nvSpPr>
        <p:spPr>
          <a:xfrm>
            <a:off x="841248" y="2484120"/>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9" name="Text 7"/>
          <p:cNvSpPr txBox="1"/>
          <p:nvPr/>
        </p:nvSpPr>
        <p:spPr>
          <a:xfrm>
            <a:off x="841248" y="2484120"/>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mbria" pitchFamily="34" charset="0"/>
                <a:ea typeface="Cambria" pitchFamily="34" charset="-122"/>
                <a:cs typeface="Cambria" pitchFamily="34" charset="-120"/>
              </a:rPr>
              <a:t>1</a:t>
            </a:r>
            <a:endParaRPr lang="en-GB" sz="1500" noProof="0" dirty="0"/>
          </a:p>
        </p:txBody>
      </p:sp>
      <p:sp>
        <p:nvSpPr>
          <p:cNvPr id="10" name="Text 8"/>
          <p:cNvSpPr txBox="1"/>
          <p:nvPr/>
        </p:nvSpPr>
        <p:spPr>
          <a:xfrm>
            <a:off x="1517904" y="2157984"/>
            <a:ext cx="9811512" cy="1109472"/>
          </a:xfrm>
          <a:prstGeom prst="rect">
            <a:avLst/>
          </a:prstGeom>
          <a:noFill/>
          <a:ln/>
        </p:spPr>
        <p:txBody>
          <a:bodyPr wrap="square" lIns="0" tIns="0" rIns="0" bIns="0" rtlCol="0" anchor="ctr"/>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How would you help a woman and her family decide which symptoms to report urgently and which can wait for the next review?</a:t>
            </a:r>
            <a:endParaRPr lang="en-GB" sz="1800" noProof="0" dirty="0"/>
          </a:p>
        </p:txBody>
      </p:sp>
      <p:sp>
        <p:nvSpPr>
          <p:cNvPr id="11" name="Shape 9"/>
          <p:cNvSpPr/>
          <p:nvPr/>
        </p:nvSpPr>
        <p:spPr>
          <a:xfrm>
            <a:off x="566928" y="3486912"/>
            <a:ext cx="11055096" cy="1255776"/>
          </a:xfrm>
          <a:prstGeom prst="roundRect">
            <a:avLst>
              <a:gd name="adj" fmla="val 5097"/>
            </a:avLst>
          </a:prstGeom>
          <a:solidFill>
            <a:srgbClr val="F3F6FB"/>
          </a:solidFill>
          <a:ln w="12700">
            <a:solidFill>
              <a:srgbClr val="E0E3EA"/>
            </a:solidFill>
            <a:prstDash val="solid"/>
          </a:ln>
        </p:spPr>
        <p:txBody>
          <a:bodyPr/>
          <a:lstStyle/>
          <a:p>
            <a:endParaRPr lang="en-GB" noProof="0" dirty="0"/>
          </a:p>
        </p:txBody>
      </p:sp>
      <p:sp>
        <p:nvSpPr>
          <p:cNvPr id="12" name="Shape 10"/>
          <p:cNvSpPr/>
          <p:nvPr/>
        </p:nvSpPr>
        <p:spPr>
          <a:xfrm>
            <a:off x="841248" y="3886200"/>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13" name="Text 11"/>
          <p:cNvSpPr txBox="1"/>
          <p:nvPr/>
        </p:nvSpPr>
        <p:spPr>
          <a:xfrm>
            <a:off x="841248" y="3886200"/>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mbria" pitchFamily="34" charset="0"/>
                <a:ea typeface="Cambria" pitchFamily="34" charset="-122"/>
                <a:cs typeface="Cambria" pitchFamily="34" charset="-120"/>
              </a:rPr>
              <a:t>2</a:t>
            </a:r>
            <a:endParaRPr lang="en-GB" sz="1500" noProof="0" dirty="0"/>
          </a:p>
        </p:txBody>
      </p:sp>
      <p:sp>
        <p:nvSpPr>
          <p:cNvPr id="14" name="Text 12"/>
          <p:cNvSpPr txBox="1"/>
          <p:nvPr/>
        </p:nvSpPr>
        <p:spPr>
          <a:xfrm>
            <a:off x="1517904" y="3560064"/>
            <a:ext cx="9811512" cy="1109472"/>
          </a:xfrm>
          <a:prstGeom prst="rect">
            <a:avLst/>
          </a:prstGeom>
          <a:noFill/>
          <a:ln/>
        </p:spPr>
        <p:txBody>
          <a:bodyPr wrap="square" lIns="0" tIns="0" rIns="0" bIns="0" rtlCol="0" anchor="ctr"/>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How would you raise sexual health with a woman who has just finished radiotherapy, in a way she would find respectful?</a:t>
            </a:r>
            <a:endParaRPr lang="en-GB" sz="1800" noProof="0" dirty="0"/>
          </a:p>
        </p:txBody>
      </p:sp>
      <p:sp>
        <p:nvSpPr>
          <p:cNvPr id="15" name="Shape 13"/>
          <p:cNvSpPr/>
          <p:nvPr/>
        </p:nvSpPr>
        <p:spPr>
          <a:xfrm>
            <a:off x="566928" y="4888992"/>
            <a:ext cx="11055096" cy="1255776"/>
          </a:xfrm>
          <a:prstGeom prst="roundRect">
            <a:avLst>
              <a:gd name="adj" fmla="val 5097"/>
            </a:avLst>
          </a:prstGeom>
          <a:solidFill>
            <a:srgbClr val="F3F6FB"/>
          </a:solidFill>
          <a:ln w="12700">
            <a:solidFill>
              <a:srgbClr val="E0E3EA"/>
            </a:solidFill>
            <a:prstDash val="solid"/>
          </a:ln>
        </p:spPr>
        <p:txBody>
          <a:bodyPr/>
          <a:lstStyle/>
          <a:p>
            <a:endParaRPr lang="en-GB" noProof="0" dirty="0"/>
          </a:p>
        </p:txBody>
      </p:sp>
      <p:sp>
        <p:nvSpPr>
          <p:cNvPr id="16" name="Shape 14"/>
          <p:cNvSpPr/>
          <p:nvPr/>
        </p:nvSpPr>
        <p:spPr>
          <a:xfrm>
            <a:off x="841248" y="5288280"/>
            <a:ext cx="457200" cy="457200"/>
          </a:xfrm>
          <a:prstGeom prst="ellipse">
            <a:avLst/>
          </a:prstGeom>
          <a:solidFill>
            <a:srgbClr val="1F4E96"/>
          </a:solidFill>
          <a:ln w="12700">
            <a:solidFill>
              <a:srgbClr val="1F4E96"/>
            </a:solidFill>
            <a:prstDash val="solid"/>
          </a:ln>
        </p:spPr>
        <p:txBody>
          <a:bodyPr/>
          <a:lstStyle/>
          <a:p>
            <a:endParaRPr lang="en-GB" noProof="0" dirty="0"/>
          </a:p>
        </p:txBody>
      </p:sp>
      <p:sp>
        <p:nvSpPr>
          <p:cNvPr id="17" name="Text 15"/>
          <p:cNvSpPr txBox="1"/>
          <p:nvPr/>
        </p:nvSpPr>
        <p:spPr>
          <a:xfrm>
            <a:off x="841248" y="5288280"/>
            <a:ext cx="457200" cy="457200"/>
          </a:xfrm>
          <a:prstGeom prst="rect">
            <a:avLst/>
          </a:prstGeom>
          <a:noFill/>
          <a:ln/>
        </p:spPr>
        <p:txBody>
          <a:bodyPr wrap="square" lIns="0" tIns="0" rIns="0" bIns="0" rtlCol="0" anchor="ctr"/>
          <a:lstStyle/>
          <a:p>
            <a:pPr marL="0" indent="0" algn="ctr">
              <a:buNone/>
            </a:pPr>
            <a:r>
              <a:rPr lang="en-GB" sz="1500" b="1" noProof="0" dirty="0">
                <a:solidFill>
                  <a:srgbClr val="FFFFFF"/>
                </a:solidFill>
                <a:latin typeface="Cambria" pitchFamily="34" charset="0"/>
                <a:ea typeface="Cambria" pitchFamily="34" charset="-122"/>
                <a:cs typeface="Cambria" pitchFamily="34" charset="-120"/>
              </a:rPr>
              <a:t>3</a:t>
            </a:r>
            <a:endParaRPr lang="en-GB" sz="1500" noProof="0" dirty="0"/>
          </a:p>
        </p:txBody>
      </p:sp>
      <p:sp>
        <p:nvSpPr>
          <p:cNvPr id="18" name="Text 16"/>
          <p:cNvSpPr txBox="1"/>
          <p:nvPr/>
        </p:nvSpPr>
        <p:spPr>
          <a:xfrm>
            <a:off x="1517904" y="4962144"/>
            <a:ext cx="9811512" cy="1109472"/>
          </a:xfrm>
          <a:prstGeom prst="rect">
            <a:avLst/>
          </a:prstGeom>
          <a:noFill/>
          <a:ln/>
        </p:spPr>
        <p:txBody>
          <a:bodyPr wrap="square" lIns="0" tIns="0" rIns="0" bIns="0" rtlCol="0" anchor="ctr"/>
          <a:lstStyle/>
          <a:p>
            <a:pPr marL="0" indent="0">
              <a:lnSpc>
                <a:spcPct val="106000"/>
              </a:lnSpc>
              <a:buNone/>
            </a:pPr>
            <a:r>
              <a:rPr lang="en-GB" sz="1800" noProof="0" dirty="0">
                <a:solidFill>
                  <a:srgbClr val="23303F"/>
                </a:solidFill>
                <a:latin typeface="Calibri" pitchFamily="34" charset="0"/>
                <a:ea typeface="Calibri" pitchFamily="34" charset="-122"/>
                <a:cs typeface="Calibri" pitchFamily="34" charset="-120"/>
              </a:rPr>
              <a:t>What one practical thing could you change in your setting to help women complete follow-up after treatment?</a:t>
            </a:r>
            <a:endParaRPr lang="en-GB" sz="1800" noProof="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5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179</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FINAL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Post-test: question 1 of 20</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Almost all cervical cancers are caused by:</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A bacterial infection</a:t>
            </a:r>
            <a:endParaRPr lang="en-GB" sz="1800" noProof="0" dirty="0"/>
          </a:p>
        </p:txBody>
      </p:sp>
      <p:sp>
        <p:nvSpPr>
          <p:cNvPr id="9" name="Shape 7"/>
          <p:cNvSpPr/>
          <p:nvPr/>
        </p:nvSpPr>
        <p:spPr>
          <a:xfrm>
            <a:off x="566928" y="2898648"/>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Persistent infection with a high-risk HPV type</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Repeated childbirth on its own</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An inherited gene fault</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B
Feedback: </a:t>
            </a:r>
            <a:r>
              <a:rPr lang="en-GB" sz="1800" noProof="0" dirty="0">
                <a:solidFill>
                  <a:srgbClr val="23303F"/>
                </a:solidFill>
                <a:latin typeface="Calibri" pitchFamily="34" charset="0"/>
                <a:ea typeface="Calibri" pitchFamily="34" charset="-122"/>
                <a:cs typeface="Calibri" pitchFamily="34" charset="-120"/>
              </a:rPr>
              <a:t>Persistent high-risk HPV infection is the central cause. Without it, cervical cancer does not develop.</a:t>
            </a:r>
            <a:endParaRPr lang="en-GB" sz="1800" noProof="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6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180</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FINAL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Post-test: question 2 of 20</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Almost all cervical cancers begin in the:</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Endometrium</a:t>
            </a:r>
            <a:endParaRPr lang="en-GB" sz="1800" noProof="0" dirty="0"/>
          </a:p>
        </p:txBody>
      </p:sp>
      <p:sp>
        <p:nvSpPr>
          <p:cNvPr id="13" name="Shape 11"/>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Vaginal fornix</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Ovary</a:t>
            </a:r>
            <a:endParaRPr lang="en-GB" sz="1800" noProof="0" dirty="0"/>
          </a:p>
        </p:txBody>
      </p:sp>
      <p:sp>
        <p:nvSpPr>
          <p:cNvPr id="9" name="Shape 7"/>
          <p:cNvSpPr/>
          <p:nvPr/>
        </p:nvSpPr>
        <p:spPr>
          <a:xfrm>
            <a:off x="566928" y="4050792"/>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Transformation zone of the cervix</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D
Feedback: </a:t>
            </a:r>
            <a:r>
              <a:rPr lang="en-GB" sz="1800" noProof="0" dirty="0">
                <a:solidFill>
                  <a:srgbClr val="23303F"/>
                </a:solidFill>
                <a:latin typeface="Calibri" pitchFamily="34" charset="0"/>
                <a:ea typeface="Calibri" pitchFamily="34" charset="-122"/>
                <a:cs typeface="Calibri" pitchFamily="34" charset="-120"/>
              </a:rPr>
              <a:t>The transformation zone is where columnar cells are being replaced by squamous cells. These actively changing cells are the ones HPV affects.</a:t>
            </a:r>
            <a:endParaRPr lang="en-GB" sz="1800" noProof="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6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181</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FINAL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Post-test: question 3 of 20</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Treating a cervical precancerous lesion can:</a:t>
            </a:r>
            <a:endParaRPr lang="en-GB" sz="2000" noProof="0" dirty="0"/>
          </a:p>
        </p:txBody>
      </p:sp>
      <p:sp>
        <p:nvSpPr>
          <p:cNvPr id="9" name="Shape 7"/>
          <p:cNvSpPr/>
          <p:nvPr/>
        </p:nvSpPr>
        <p:spPr>
          <a:xfrm>
            <a:off x="566928" y="2322576"/>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Prevent a future cervical cancer</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7" name="Shape 5"/>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Cause the lesion to spread</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Confirm metastasis</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Replace staging</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A
Feedback: </a:t>
            </a:r>
            <a:r>
              <a:rPr lang="en-GB" sz="1800" noProof="0" dirty="0">
                <a:solidFill>
                  <a:srgbClr val="23303F"/>
                </a:solidFill>
                <a:latin typeface="Calibri" pitchFamily="34" charset="0"/>
                <a:ea typeface="Calibri" pitchFamily="34" charset="-122"/>
                <a:cs typeface="Calibri" pitchFamily="34" charset="-120"/>
              </a:rPr>
              <a:t>Destroying or removing the abnormal transformation zone interrupts progression. This is why screening prevents cancer as well as detecting it.</a:t>
            </a:r>
            <a:endParaRPr lang="en-GB" sz="1800" noProof="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6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182</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FINAL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Post-test: question 4 of 20</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A woman with five months of bleeding after intercourse needs:</a:t>
            </a:r>
            <a:endParaRPr lang="en-GB" sz="2000" noProof="0" dirty="0"/>
          </a:p>
        </p:txBody>
      </p:sp>
      <p:sp>
        <p:nvSpPr>
          <p:cNvPr id="9" name="Shape 7"/>
          <p:cNvSpPr/>
          <p:nvPr/>
        </p:nvSpPr>
        <p:spPr>
          <a:xfrm>
            <a:off x="566928" y="2322576"/>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Diagnostic assessment, including examination of the cervix</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7" name="Shape 5"/>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A screening test instead of assessment</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Reassurance only</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A repeat test in five years</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A
Feedback: </a:t>
            </a:r>
            <a:r>
              <a:rPr lang="en-GB" sz="1800" noProof="0" dirty="0">
                <a:solidFill>
                  <a:srgbClr val="23303F"/>
                </a:solidFill>
                <a:latin typeface="Calibri" pitchFamily="34" charset="0"/>
                <a:ea typeface="Calibri" pitchFamily="34" charset="-122"/>
                <a:cs typeface="Calibri" pitchFamily="34" charset="-120"/>
              </a:rPr>
              <a:t>A woman with concerning symptoms needs assessment. A screening test would add delay and a negative result could falsely reassure.</a:t>
            </a:r>
            <a:endParaRPr lang="en-GB" sz="1800" noProof="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6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183</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FINAL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Post-test: question 5 of 20</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An HPV DNA test detects:</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Cancer cells on the cervix</a:t>
            </a:r>
            <a:endParaRPr lang="en-GB" sz="1800" noProof="0" dirty="0"/>
          </a:p>
        </p:txBody>
      </p:sp>
      <p:sp>
        <p:nvSpPr>
          <p:cNvPr id="13" name="Shape 11"/>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Inflammation only</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Bacterial infection</a:t>
            </a:r>
            <a:endParaRPr lang="en-GB" sz="1800" noProof="0" dirty="0"/>
          </a:p>
        </p:txBody>
      </p:sp>
      <p:sp>
        <p:nvSpPr>
          <p:cNvPr id="9" name="Shape 7"/>
          <p:cNvSpPr/>
          <p:nvPr/>
        </p:nvSpPr>
        <p:spPr>
          <a:xfrm>
            <a:off x="566928" y="4050792"/>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High-risk human papillomavirus</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D
Feedback: </a:t>
            </a:r>
            <a:r>
              <a:rPr lang="en-GB" sz="1800" noProof="0" dirty="0">
                <a:solidFill>
                  <a:srgbClr val="23303F"/>
                </a:solidFill>
                <a:latin typeface="Calibri" pitchFamily="34" charset="0"/>
                <a:ea typeface="Calibri" pitchFamily="34" charset="-122"/>
                <a:cs typeface="Calibri" pitchFamily="34" charset="-120"/>
              </a:rPr>
              <a:t>It detects the virus that causes cervical cancer. It does not by itself diagnose precancer or cancer.</a:t>
            </a:r>
            <a:endParaRPr lang="en-GB" sz="1800" noProof="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6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184</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FINAL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Post-test: question 6 of 20</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The correct next step after a positive HPV screening test is:</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Tell the woman she has cancer</a:t>
            </a:r>
            <a:endParaRPr lang="en-GB" sz="1800" noProof="0" dirty="0"/>
          </a:p>
        </p:txBody>
      </p:sp>
      <p:sp>
        <p:nvSpPr>
          <p:cNvPr id="11" name="Shape 9"/>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Repeat the test in five years</a:t>
            </a:r>
            <a:endParaRPr lang="en-GB" sz="1800" noProof="0" dirty="0"/>
          </a:p>
        </p:txBody>
      </p:sp>
      <p:sp>
        <p:nvSpPr>
          <p:cNvPr id="9" name="Shape 7"/>
          <p:cNvSpPr/>
          <p:nvPr/>
        </p:nvSpPr>
        <p:spPr>
          <a:xfrm>
            <a:off x="566928" y="3474720"/>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Move to the next step in the pathway, explaining that cancer has not been found</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Start chemotherapy</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C
Feedback: </a:t>
            </a:r>
            <a:r>
              <a:rPr lang="en-GB" sz="1800" noProof="0" dirty="0">
                <a:solidFill>
                  <a:srgbClr val="23303F"/>
                </a:solidFill>
                <a:latin typeface="Calibri" pitchFamily="34" charset="0"/>
                <a:ea typeface="Calibri" pitchFamily="34" charset="-122"/>
                <a:cs typeface="Calibri" pitchFamily="34" charset="-120"/>
              </a:rPr>
              <a:t>A positive result means the virus was detected. Most women with a positive test have no lesion at all.</a:t>
            </a:r>
            <a:endParaRPr lang="en-GB" sz="1800" noProof="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6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185</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FINAL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Post-test: question 7 of 20</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Which woman needs earlier and more frequent screening?</a:t>
            </a:r>
            <a:endParaRPr lang="en-GB" sz="2000" noProof="0" dirty="0"/>
          </a:p>
        </p:txBody>
      </p:sp>
      <p:sp>
        <p:nvSpPr>
          <p:cNvPr id="9" name="Shape 7"/>
          <p:cNvSpPr/>
          <p:nvPr/>
        </p:nvSpPr>
        <p:spPr>
          <a:xfrm>
            <a:off x="566928" y="2322576"/>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A 27 year old living with HIV</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7" name="Shape 5"/>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A 32 year old with one child</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A 40 year old who exercises</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A 35 year old with mild reflux</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A
Feedback: </a:t>
            </a:r>
            <a:r>
              <a:rPr lang="en-GB" sz="1800" noProof="0" dirty="0">
                <a:solidFill>
                  <a:srgbClr val="23303F"/>
                </a:solidFill>
                <a:latin typeface="Calibri" pitchFamily="34" charset="0"/>
                <a:ea typeface="Calibri" pitchFamily="34" charset="-122"/>
                <a:cs typeface="Calibri" pitchFamily="34" charset="-120"/>
              </a:rPr>
              <a:t>Reduced immunity makes HPV infection more likely to persist and progress, so screening starts earlier and is repeated more often.</a:t>
            </a:r>
            <a:endParaRPr lang="en-GB" sz="1800" noProof="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6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186</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FINAL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Post-test: question 8 of 20</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HPV vaccination is given in early adolescence because:</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It is cheaper then</a:t>
            </a:r>
            <a:endParaRPr lang="en-GB" sz="1800" noProof="0" dirty="0"/>
          </a:p>
        </p:txBody>
      </p:sp>
      <p:sp>
        <p:nvSpPr>
          <p:cNvPr id="11" name="Shape 9"/>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It treats existing lesions</a:t>
            </a:r>
            <a:endParaRPr lang="en-GB" sz="1800" noProof="0" dirty="0"/>
          </a:p>
        </p:txBody>
      </p:sp>
      <p:sp>
        <p:nvSpPr>
          <p:cNvPr id="9" name="Shape 7"/>
          <p:cNvSpPr/>
          <p:nvPr/>
        </p:nvSpPr>
        <p:spPr>
          <a:xfrm>
            <a:off x="566928" y="3474720"/>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It must precede exposure to HPV in order to prevent infection</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Older girls cannot tolerate it</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C
Feedback: </a:t>
            </a:r>
            <a:r>
              <a:rPr lang="en-GB" sz="1800" noProof="0" dirty="0">
                <a:solidFill>
                  <a:srgbClr val="23303F"/>
                </a:solidFill>
                <a:latin typeface="Calibri" pitchFamily="34" charset="0"/>
                <a:ea typeface="Calibri" pitchFamily="34" charset="-122"/>
                <a:cs typeface="Calibri" pitchFamily="34" charset="-120"/>
              </a:rPr>
              <a:t>The vaccine is preventive, not therapeutic. Timing before exposure is what makes it work.</a:t>
            </a:r>
            <a:endParaRPr lang="en-GB" sz="1800" noProof="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6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187</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FINAL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Post-test: question 9 of 20</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In FIGO staging, stage describes:</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How abnormal the cells look</a:t>
            </a:r>
            <a:endParaRPr lang="en-GB" sz="1800" noProof="0" dirty="0"/>
          </a:p>
        </p:txBody>
      </p:sp>
      <p:sp>
        <p:nvSpPr>
          <p:cNvPr id="9" name="Shape 7"/>
          <p:cNvSpPr/>
          <p:nvPr/>
        </p:nvSpPr>
        <p:spPr>
          <a:xfrm>
            <a:off x="566928" y="2898648"/>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How far the cancer has spread</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The HPV type detected</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The treatment chosen</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B
Feedback: </a:t>
            </a:r>
            <a:r>
              <a:rPr lang="en-GB" sz="1800" noProof="0" dirty="0">
                <a:solidFill>
                  <a:srgbClr val="23303F"/>
                </a:solidFill>
                <a:latin typeface="Calibri" pitchFamily="34" charset="0"/>
                <a:ea typeface="Calibri" pitchFamily="34" charset="-122"/>
                <a:cs typeface="Calibri" pitchFamily="34" charset="-120"/>
              </a:rPr>
              <a:t>Stage is extent of disease. Grade is how abnormal the cells look under the microscope.</a:t>
            </a:r>
            <a:endParaRPr lang="en-GB" sz="1800" noProof="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6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188</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FINAL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Post-test: question 10 of 20</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A high-grade cervical precancerous lesion means:</a:t>
            </a:r>
            <a:endParaRPr lang="en-GB" sz="2000" noProof="0" dirty="0"/>
          </a:p>
        </p:txBody>
      </p:sp>
      <p:sp>
        <p:nvSpPr>
          <p:cNvPr id="9" name="Shape 7"/>
          <p:cNvSpPr/>
          <p:nvPr/>
        </p:nvSpPr>
        <p:spPr>
          <a:xfrm>
            <a:off x="566928" y="2322576"/>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Abnormal cells confined to the surface layer, which are not cancer</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7" name="Shape 5"/>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Invasive cancer</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A benign polyp</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A normal finding</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A
Feedback: </a:t>
            </a:r>
            <a:r>
              <a:rPr lang="en-GB" sz="1800" noProof="0" dirty="0">
                <a:solidFill>
                  <a:srgbClr val="23303F"/>
                </a:solidFill>
                <a:latin typeface="Calibri" pitchFamily="34" charset="0"/>
                <a:ea typeface="Calibri" pitchFamily="34" charset="-122"/>
                <a:cs typeface="Calibri" pitchFamily="34" charset="-120"/>
              </a:rPr>
              <a:t>Precancer cannot spread. It is treated because a proportion of high-grade lesions would progress if left untreated.</a:t>
            </a:r>
            <a:endParaRPr lang="en-GB" sz="1800" noProof="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6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189</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FINAL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Post-test: question 11 of 20</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Ablative treatment of a cervical lesion is appropriate only when:</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The lesion extends into the cervical canal</a:t>
            </a:r>
            <a:endParaRPr lang="en-GB" sz="1800" noProof="0" dirty="0"/>
          </a:p>
        </p:txBody>
      </p:sp>
      <p:sp>
        <p:nvSpPr>
          <p:cNvPr id="9" name="Shape 7"/>
          <p:cNvSpPr/>
          <p:nvPr/>
        </p:nvSpPr>
        <p:spPr>
          <a:xfrm>
            <a:off x="566928" y="2898648"/>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The whole lesion and transformation zone are visible and cancer is not suspected</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The cervix bleeds on contact</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A glandular abnormality is suspected</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B
Feedback: </a:t>
            </a:r>
            <a:r>
              <a:rPr lang="en-GB" sz="1800" noProof="0" dirty="0">
                <a:solidFill>
                  <a:srgbClr val="23303F"/>
                </a:solidFill>
                <a:latin typeface="Calibri" pitchFamily="34" charset="0"/>
                <a:ea typeface="Calibri" pitchFamily="34" charset="-122"/>
                <a:cs typeface="Calibri" pitchFamily="34" charset="-120"/>
              </a:rPr>
              <a:t>If you cannot see all of it, or invasive cancer is suspected, excisional treatment or referral is required instead.</a:t>
            </a:r>
            <a:endParaRPr lang="en-GB" sz="1800" noProof="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7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190</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FINAL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Post-test: question 12 of 20</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The main advantage of excisional treatment over ablation is that it:</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Is faster</a:t>
            </a:r>
            <a:endParaRPr lang="en-GB" sz="1800" noProof="0" dirty="0"/>
          </a:p>
        </p:txBody>
      </p:sp>
      <p:sp>
        <p:nvSpPr>
          <p:cNvPr id="13" name="Shape 11"/>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Needs no follow-up</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Removes HPV from the body</a:t>
            </a:r>
            <a:endParaRPr lang="en-GB" sz="1800" noProof="0" dirty="0"/>
          </a:p>
        </p:txBody>
      </p:sp>
      <p:sp>
        <p:nvSpPr>
          <p:cNvPr id="9" name="Shape 7"/>
          <p:cNvSpPr/>
          <p:nvPr/>
        </p:nvSpPr>
        <p:spPr>
          <a:xfrm>
            <a:off x="566928" y="4050792"/>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Provides tissue for histology</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D
Feedback: </a:t>
            </a:r>
            <a:r>
              <a:rPr lang="en-GB" sz="1800" noProof="0" dirty="0">
                <a:solidFill>
                  <a:srgbClr val="23303F"/>
                </a:solidFill>
                <a:latin typeface="Calibri" pitchFamily="34" charset="0"/>
                <a:ea typeface="Calibri" pitchFamily="34" charset="-122"/>
                <a:cs typeface="Calibri" pitchFamily="34" charset="-120"/>
              </a:rPr>
              <a:t>The specimen confirms the grade and can reveal unsuspected invasion. Neither treatment removes HPV from the body.</a:t>
            </a:r>
            <a:endParaRPr lang="en-GB" sz="1800" noProof="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7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191</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FINAL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Post-test: question 13 of 20</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After treatment of a cervical precancerous lesion, a woman needs:</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No further screening</a:t>
            </a:r>
            <a:endParaRPr lang="en-GB" sz="1800" noProof="0" dirty="0"/>
          </a:p>
        </p:txBody>
      </p:sp>
      <p:sp>
        <p:nvSpPr>
          <p:cNvPr id="13" name="Shape 11"/>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A hysterectomy</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Immediate repeat treatment</a:t>
            </a:r>
            <a:endParaRPr lang="en-GB" sz="1800" noProof="0" dirty="0"/>
          </a:p>
        </p:txBody>
      </p:sp>
      <p:sp>
        <p:nvSpPr>
          <p:cNvPr id="9" name="Shape 7"/>
          <p:cNvSpPr/>
          <p:nvPr/>
        </p:nvSpPr>
        <p:spPr>
          <a:xfrm>
            <a:off x="566928" y="4050792"/>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A planned follow-up test</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D
Feedback: </a:t>
            </a:r>
            <a:r>
              <a:rPr lang="en-GB" sz="1800" noProof="0" dirty="0">
                <a:solidFill>
                  <a:srgbClr val="23303F"/>
                </a:solidFill>
                <a:latin typeface="Calibri" pitchFamily="34" charset="0"/>
                <a:ea typeface="Calibri" pitchFamily="34" charset="-122"/>
                <a:cs typeface="Calibri" pitchFamily="34" charset="-120"/>
              </a:rPr>
              <a:t>Treatment removes the lesion, not the infection. Persistent or recurrent disease is found only by re-testing.</a:t>
            </a:r>
            <a:endParaRPr lang="en-GB" sz="1800" noProof="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7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192</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FINAL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Post-test: question 14 of 20</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Which finding needs emergency, same day referral?</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A positive HPV test in a well woman</a:t>
            </a:r>
            <a:endParaRPr lang="en-GB" sz="1800" noProof="0" dirty="0"/>
          </a:p>
        </p:txBody>
      </p:sp>
      <p:sp>
        <p:nvSpPr>
          <p:cNvPr id="11" name="Shape 9"/>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Mild fatigue</a:t>
            </a:r>
            <a:endParaRPr lang="en-GB" sz="1800" noProof="0" dirty="0"/>
          </a:p>
        </p:txBody>
      </p:sp>
      <p:sp>
        <p:nvSpPr>
          <p:cNvPr id="9" name="Shape 7"/>
          <p:cNvSpPr/>
          <p:nvPr/>
        </p:nvSpPr>
        <p:spPr>
          <a:xfrm>
            <a:off x="566928" y="3474720"/>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Heavy vaginal bleeding with dizziness and pallor</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Occasional pelvic cramping</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C
Feedback: </a:t>
            </a:r>
            <a:r>
              <a:rPr lang="en-GB" sz="1800" noProof="0" dirty="0">
                <a:solidFill>
                  <a:srgbClr val="23303F"/>
                </a:solidFill>
                <a:latin typeface="Calibri" pitchFamily="34" charset="0"/>
                <a:ea typeface="Calibri" pitchFamily="34" charset="-122"/>
                <a:cs typeface="Calibri" pitchFamily="34" charset="-120"/>
              </a:rPr>
              <a:t>Bleeding with signs of haemodynamic compromise needs resuscitation and immediate transfer.</a:t>
            </a:r>
            <a:endParaRPr lang="en-GB" sz="1800" noProof="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7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193</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FINAL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Post-test: question 15 of 20</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What should be recorded at first contact for the national cancer registry?</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Only confirmed diagnoses</a:t>
            </a:r>
            <a:endParaRPr lang="en-GB" sz="1800" noProof="0" dirty="0"/>
          </a:p>
        </p:txBody>
      </p:sp>
      <p:sp>
        <p:nvSpPr>
          <p:cNvPr id="9" name="Shape 7"/>
          <p:cNvSpPr/>
          <p:nvPr/>
        </p:nvSpPr>
        <p:spPr>
          <a:xfrm>
            <a:off x="566928" y="2898648"/>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The symptom, both dates, your findings and the referral destination</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Nothing until biopsy results arrive</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Only her name</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B
Feedback: </a:t>
            </a:r>
            <a:r>
              <a:rPr lang="en-GB" sz="1800" noProof="0" dirty="0">
                <a:solidFill>
                  <a:srgbClr val="23303F"/>
                </a:solidFill>
                <a:latin typeface="Calibri" pitchFamily="34" charset="0"/>
                <a:ea typeface="Calibri" pitchFamily="34" charset="-122"/>
                <a:cs typeface="Calibri" pitchFamily="34" charset="-120"/>
              </a:rPr>
              <a:t>A suspected, unconfirmed case recorded well is valuable registry data. Submit at first suspicion and update the record later.</a:t>
            </a:r>
            <a:endParaRPr lang="en-GB" sz="1800" noProof="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7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194</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FINAL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Post-test: question 16 of 20</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Invasive cervical cancer is confirmed by:</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An HPV test</a:t>
            </a:r>
            <a:endParaRPr lang="en-GB" sz="1800" noProof="0" dirty="0"/>
          </a:p>
        </p:txBody>
      </p:sp>
      <p:sp>
        <p:nvSpPr>
          <p:cNvPr id="9" name="Shape 7"/>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Visual inspection with acetic acid</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Biopsy and histopathology</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Ultrasound</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C
Feedback: </a:t>
            </a:r>
            <a:r>
              <a:rPr lang="en-GB" sz="1800" noProof="0" dirty="0">
                <a:solidFill>
                  <a:srgbClr val="23303F"/>
                </a:solidFill>
                <a:latin typeface="Calibri" pitchFamily="34" charset="0"/>
                <a:ea typeface="Calibri" pitchFamily="34" charset="-122"/>
                <a:cs typeface="Calibri" pitchFamily="34" charset="-120"/>
              </a:rPr>
              <a:t>Tissue examined under the microscope confirms the diagnosis and reports the cancer type.</a:t>
            </a:r>
            <a:endParaRPr lang="en-GB" sz="1800" noProof="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7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195</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FINAL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Post-test: question 17 of 20</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Brachytherapy in cervical cancer:</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Has no established role</a:t>
            </a:r>
            <a:endParaRPr lang="en-GB" sz="1800" noProof="0" dirty="0"/>
          </a:p>
        </p:txBody>
      </p:sp>
      <p:sp>
        <p:nvSpPr>
          <p:cNvPr id="11" name="Shape 9"/>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Is a type of chemotherapy</a:t>
            </a:r>
            <a:endParaRPr lang="en-GB" sz="1800" noProof="0" dirty="0"/>
          </a:p>
        </p:txBody>
      </p:sp>
      <p:sp>
        <p:nvSpPr>
          <p:cNvPr id="9" name="Shape 7"/>
          <p:cNvSpPr/>
          <p:nvPr/>
        </p:nvSpPr>
        <p:spPr>
          <a:xfrm>
            <a:off x="566928" y="3474720"/>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Delivers radiation close to the cervix and is essential to curative treatment</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Replaces surgery in every case</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C
Feedback: </a:t>
            </a:r>
            <a:r>
              <a:rPr lang="en-GB" sz="1800" noProof="0" dirty="0">
                <a:solidFill>
                  <a:srgbClr val="23303F"/>
                </a:solidFill>
                <a:latin typeface="Calibri" pitchFamily="34" charset="0"/>
                <a:ea typeface="Calibri" pitchFamily="34" charset="-122"/>
                <a:cs typeface="Calibri" pitchFamily="34" charset="-120"/>
              </a:rPr>
              <a:t>It gives a high dose directly to the tumour while sparing surrounding tissue. Cure rates fall substantially without it.</a:t>
            </a:r>
            <a:endParaRPr lang="en-GB" sz="1800" noProof="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7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196</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FINAL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Post-test: question 18 of 20</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Continuous leakage of urine from the vagina after treatment suggests:</a:t>
            </a:r>
            <a:endParaRPr lang="en-GB" sz="2000" noProof="0" dirty="0"/>
          </a:p>
        </p:txBody>
      </p:sp>
      <p:sp>
        <p:nvSpPr>
          <p:cNvPr id="9" name="Shape 7"/>
          <p:cNvSpPr/>
          <p:nvPr/>
        </p:nvSpPr>
        <p:spPr>
          <a:xfrm>
            <a:off x="566928" y="2322576"/>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A fistula, which needs urgent specialist assessment</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7" name="Shape 5"/>
          <p:cNvSpPr/>
          <p:nvPr/>
        </p:nvSpPr>
        <p:spPr>
          <a:xfrm>
            <a:off x="566928" y="2898648"/>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Normal healing</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An expected effect of ablation</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Dehydration</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A
Feedback: </a:t>
            </a:r>
            <a:r>
              <a:rPr lang="en-GB" sz="1800" noProof="0" dirty="0">
                <a:solidFill>
                  <a:srgbClr val="23303F"/>
                </a:solidFill>
                <a:latin typeface="Calibri" pitchFamily="34" charset="0"/>
                <a:ea typeface="Calibri" pitchFamily="34" charset="-122"/>
                <a:cs typeface="Calibri" pitchFamily="34" charset="-120"/>
              </a:rPr>
              <a:t>A fistula is distressing and isolating. It needs referral, careful skin care and active symptom management.</a:t>
            </a:r>
            <a:endParaRPr lang="en-GB" sz="1800" noProof="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7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197</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FINAL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Post-test: question 19 of 20</a:t>
            </a:r>
            <a:endParaRPr lang="en-GB" sz="3200" noProof="0" dirty="0"/>
          </a:p>
        </p:txBody>
      </p:sp>
      <p:sp>
        <p:nvSpPr>
          <p:cNvPr id="6" name="Text 4"/>
          <p:cNvSpPr txBox="1"/>
          <p:nvPr/>
        </p:nvSpPr>
        <p:spPr>
          <a:xfrm>
            <a:off x="566928" y="1591056"/>
            <a:ext cx="11055096" cy="658368"/>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Follow-up after treatment for cervical cancer aims to:</a:t>
            </a:r>
            <a:endParaRPr lang="en-GB" sz="2000" noProof="0" dirty="0"/>
          </a:p>
        </p:txBody>
      </p:sp>
      <p:sp>
        <p:nvSpPr>
          <p:cNvPr id="7" name="Shape 5"/>
          <p:cNvSpPr/>
          <p:nvPr/>
        </p:nvSpPr>
        <p:spPr>
          <a:xfrm>
            <a:off x="566928" y="23225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8" name="Text 6"/>
          <p:cNvSpPr txBox="1"/>
          <p:nvPr/>
        </p:nvSpPr>
        <p:spPr>
          <a:xfrm>
            <a:off x="841248" y="23225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Prove the cancer will never return</a:t>
            </a:r>
            <a:endParaRPr lang="en-GB" sz="1800" noProof="0" dirty="0"/>
          </a:p>
        </p:txBody>
      </p:sp>
      <p:sp>
        <p:nvSpPr>
          <p:cNvPr id="9" name="Shape 7"/>
          <p:cNvSpPr/>
          <p:nvPr/>
        </p:nvSpPr>
        <p:spPr>
          <a:xfrm>
            <a:off x="566928" y="2898648"/>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0" name="Text 8"/>
          <p:cNvSpPr txBox="1"/>
          <p:nvPr/>
        </p:nvSpPr>
        <p:spPr>
          <a:xfrm>
            <a:off x="841248" y="2898648"/>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Monitor recovery, manage lasting effects and detect recurrence</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1" name="Shape 9"/>
          <p:cNvSpPr/>
          <p:nvPr/>
        </p:nvSpPr>
        <p:spPr>
          <a:xfrm>
            <a:off x="566928" y="3474720"/>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2" name="Text 10"/>
          <p:cNvSpPr txBox="1"/>
          <p:nvPr/>
        </p:nvSpPr>
        <p:spPr>
          <a:xfrm>
            <a:off x="841248" y="3474720"/>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Replace palliative care</a:t>
            </a:r>
            <a:endParaRPr lang="en-GB" sz="1800" noProof="0" dirty="0"/>
          </a:p>
        </p:txBody>
      </p:sp>
      <p:sp>
        <p:nvSpPr>
          <p:cNvPr id="13" name="Shape 11"/>
          <p:cNvSpPr/>
          <p:nvPr/>
        </p:nvSpPr>
        <p:spPr>
          <a:xfrm>
            <a:off x="566928" y="4050792"/>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4" name="Text 12"/>
          <p:cNvSpPr txBox="1"/>
          <p:nvPr/>
        </p:nvSpPr>
        <p:spPr>
          <a:xfrm>
            <a:off x="841248" y="4050792"/>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End all contact with services</a:t>
            </a:r>
            <a:endParaRPr lang="en-GB" sz="1800" noProof="0" dirty="0"/>
          </a:p>
        </p:txBody>
      </p:sp>
      <p:sp>
        <p:nvSpPr>
          <p:cNvPr id="15" name="Shape 13"/>
          <p:cNvSpPr/>
          <p:nvPr/>
        </p:nvSpPr>
        <p:spPr>
          <a:xfrm>
            <a:off x="566928" y="4718304"/>
            <a:ext cx="11055096" cy="1517904"/>
          </a:xfrm>
          <a:prstGeom prst="roundRect">
            <a:avLst>
              <a:gd name="adj" fmla="val 4217"/>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809744"/>
            <a:ext cx="10506456" cy="1335024"/>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B
Feedback: </a:t>
            </a:r>
            <a:r>
              <a:rPr lang="en-GB" sz="1800" noProof="0" dirty="0">
                <a:solidFill>
                  <a:srgbClr val="23303F"/>
                </a:solidFill>
                <a:latin typeface="Calibri" pitchFamily="34" charset="0"/>
                <a:ea typeface="Calibri" pitchFamily="34" charset="-122"/>
                <a:cs typeface="Calibri" pitchFamily="34" charset="-120"/>
              </a:rPr>
              <a:t>Follow-up supports recovery, manages late effects and looks for recurrence at a point when further treatment may still help.</a:t>
            </a:r>
            <a:endParaRPr lang="en-GB" sz="1800" noProof="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7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198</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FINAL CHECK</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Post-test: question 20 of 20</a:t>
            </a:r>
            <a:endParaRPr lang="en-GB" sz="3200" noProof="0" dirty="0"/>
          </a:p>
        </p:txBody>
      </p:sp>
      <p:sp>
        <p:nvSpPr>
          <p:cNvPr id="6" name="Text 4"/>
          <p:cNvSpPr txBox="1"/>
          <p:nvPr/>
        </p:nvSpPr>
        <p:spPr>
          <a:xfrm>
            <a:off x="566928" y="1591056"/>
            <a:ext cx="11055096" cy="768096"/>
          </a:xfrm>
          <a:prstGeom prst="rect">
            <a:avLst/>
          </a:prstGeom>
          <a:noFill/>
          <a:ln/>
        </p:spPr>
        <p:txBody>
          <a:bodyPr wrap="square" lIns="0" tIns="0" rIns="0" bIns="0" rtlCol="0" anchor="ctr"/>
          <a:lstStyle/>
          <a:p>
            <a:pPr marL="0" indent="0">
              <a:buNone/>
            </a:pPr>
            <a:r>
              <a:rPr lang="en-GB" sz="2000" b="1" noProof="0" dirty="0">
                <a:solidFill>
                  <a:srgbClr val="23303F"/>
                </a:solidFill>
                <a:latin typeface="Calibri" pitchFamily="34" charset="0"/>
                <a:ea typeface="Calibri" pitchFamily="34" charset="-122"/>
                <a:cs typeface="Calibri" pitchFamily="34" charset="-120"/>
              </a:rPr>
              <a:t>Which statements about counselling a woman with a positive screening result are accurate? Select all that apply.</a:t>
            </a:r>
            <a:endParaRPr lang="en-GB" sz="2000" noProof="0" dirty="0"/>
          </a:p>
        </p:txBody>
      </p:sp>
      <p:sp>
        <p:nvSpPr>
          <p:cNvPr id="7" name="Shape 5"/>
          <p:cNvSpPr/>
          <p:nvPr/>
        </p:nvSpPr>
        <p:spPr>
          <a:xfrm>
            <a:off x="566928" y="2432304"/>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8" name="Text 6"/>
          <p:cNvSpPr txBox="1"/>
          <p:nvPr/>
        </p:nvSpPr>
        <p:spPr>
          <a:xfrm>
            <a:off x="841248" y="2432304"/>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A   </a:t>
            </a:r>
            <a:r>
              <a:rPr lang="en-GB" sz="1800" noProof="0" dirty="0">
                <a:solidFill>
                  <a:srgbClr val="23303F"/>
                </a:solidFill>
                <a:latin typeface="Calibri" pitchFamily="34" charset="0"/>
                <a:ea typeface="Calibri" pitchFamily="34" charset="-122"/>
                <a:cs typeface="Calibri" pitchFamily="34" charset="-120"/>
              </a:rPr>
              <a:t>Explain that cancer has not been found</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9" name="Shape 7"/>
          <p:cNvSpPr/>
          <p:nvPr/>
        </p:nvSpPr>
        <p:spPr>
          <a:xfrm>
            <a:off x="566928" y="3008376"/>
            <a:ext cx="11055096" cy="512064"/>
          </a:xfrm>
          <a:prstGeom prst="roundRect">
            <a:avLst>
              <a:gd name="adj" fmla="val 10714"/>
            </a:avLst>
          </a:prstGeom>
          <a:solidFill>
            <a:srgbClr val="F3F6FB"/>
          </a:solidFill>
          <a:ln w="12700">
            <a:solidFill>
              <a:srgbClr val="E0E3EA"/>
            </a:solidFill>
            <a:prstDash val="solid"/>
          </a:ln>
        </p:spPr>
        <p:txBody>
          <a:bodyPr/>
          <a:lstStyle/>
          <a:p>
            <a:endParaRPr lang="en-GB" noProof="0" dirty="0"/>
          </a:p>
        </p:txBody>
      </p:sp>
      <p:sp>
        <p:nvSpPr>
          <p:cNvPr id="10" name="Text 8"/>
          <p:cNvSpPr txBox="1"/>
          <p:nvPr/>
        </p:nvSpPr>
        <p:spPr>
          <a:xfrm>
            <a:off x="841248" y="3008376"/>
            <a:ext cx="10506456" cy="512064"/>
          </a:xfrm>
          <a:prstGeom prst="rect">
            <a:avLst/>
          </a:prstGeom>
          <a:noFill/>
          <a:ln/>
        </p:spPr>
        <p:txBody>
          <a:bodyPr wrap="square" lIns="0" tIns="0" rIns="0" bIns="0" rtlCol="0" anchor="ctr"/>
          <a:lstStyle/>
          <a:p>
            <a:pPr marL="0" indent="0">
              <a:buNone/>
            </a:pPr>
            <a:r>
              <a:rPr lang="en-GB" sz="1800" b="1" noProof="0" dirty="0">
                <a:solidFill>
                  <a:srgbClr val="1F4E96"/>
                </a:solidFill>
                <a:latin typeface="Calibri" pitchFamily="34" charset="0"/>
                <a:ea typeface="Calibri" pitchFamily="34" charset="-122"/>
                <a:cs typeface="Calibri" pitchFamily="34" charset="-120"/>
              </a:rPr>
              <a:t>B   </a:t>
            </a:r>
            <a:r>
              <a:rPr lang="en-GB" sz="1800" noProof="0" dirty="0">
                <a:solidFill>
                  <a:srgbClr val="23303F"/>
                </a:solidFill>
                <a:latin typeface="Calibri" pitchFamily="34" charset="0"/>
                <a:ea typeface="Calibri" pitchFamily="34" charset="-122"/>
                <a:cs typeface="Calibri" pitchFamily="34" charset="-120"/>
              </a:rPr>
              <a:t>Tell her the result shows her partner has been unfaithful</a:t>
            </a:r>
            <a:endParaRPr lang="en-GB" sz="1800" noProof="0" dirty="0"/>
          </a:p>
        </p:txBody>
      </p:sp>
      <p:sp>
        <p:nvSpPr>
          <p:cNvPr id="11" name="Shape 9"/>
          <p:cNvSpPr/>
          <p:nvPr/>
        </p:nvSpPr>
        <p:spPr>
          <a:xfrm>
            <a:off x="566928" y="3584448"/>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2" name="Text 10"/>
          <p:cNvSpPr txBox="1"/>
          <p:nvPr/>
        </p:nvSpPr>
        <p:spPr>
          <a:xfrm>
            <a:off x="841248" y="3584448"/>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C   </a:t>
            </a:r>
            <a:r>
              <a:rPr lang="en-GB" sz="1800" noProof="0" dirty="0">
                <a:solidFill>
                  <a:srgbClr val="23303F"/>
                </a:solidFill>
                <a:latin typeface="Calibri" pitchFamily="34" charset="0"/>
                <a:ea typeface="Calibri" pitchFamily="34" charset="-122"/>
                <a:cs typeface="Calibri" pitchFamily="34" charset="-120"/>
              </a:rPr>
              <a:t>Arrange the next step before she leaves</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3" name="Shape 11"/>
          <p:cNvSpPr/>
          <p:nvPr/>
        </p:nvSpPr>
        <p:spPr>
          <a:xfrm>
            <a:off x="566928" y="4160520"/>
            <a:ext cx="11055096" cy="512064"/>
          </a:xfrm>
          <a:prstGeom prst="roundRect">
            <a:avLst>
              <a:gd name="adj" fmla="val 10714"/>
            </a:avLst>
          </a:prstGeom>
          <a:solidFill>
            <a:srgbClr val="EAF7F0"/>
          </a:solidFill>
          <a:ln w="12700">
            <a:solidFill>
              <a:srgbClr val="C0D4CB"/>
            </a:solidFill>
            <a:prstDash val="solid"/>
          </a:ln>
        </p:spPr>
        <p:txBody>
          <a:bodyPr/>
          <a:lstStyle/>
          <a:p>
            <a:endParaRPr lang="en-GB" noProof="0" dirty="0"/>
          </a:p>
        </p:txBody>
      </p:sp>
      <p:sp>
        <p:nvSpPr>
          <p:cNvPr id="14" name="Text 12"/>
          <p:cNvSpPr txBox="1"/>
          <p:nvPr/>
        </p:nvSpPr>
        <p:spPr>
          <a:xfrm>
            <a:off x="841248" y="4160520"/>
            <a:ext cx="10506456" cy="512064"/>
          </a:xfrm>
          <a:prstGeom prst="rect">
            <a:avLst/>
          </a:prstGeom>
          <a:noFill/>
          <a:ln/>
        </p:spPr>
        <p:txBody>
          <a:bodyPr wrap="square" lIns="0" tIns="0" rIns="0" bIns="0" rtlCol="0" anchor="ctr"/>
          <a:lstStyle/>
          <a:p>
            <a:pPr marL="0" indent="0">
              <a:buNone/>
            </a:pPr>
            <a:r>
              <a:rPr lang="en-GB" sz="1800" b="1" noProof="0" dirty="0">
                <a:solidFill>
                  <a:srgbClr val="19543E"/>
                </a:solidFill>
                <a:latin typeface="Calibri" pitchFamily="34" charset="0"/>
                <a:ea typeface="Calibri" pitchFamily="34" charset="-122"/>
                <a:cs typeface="Calibri" pitchFamily="34" charset="-120"/>
              </a:rPr>
              <a:t>D   </a:t>
            </a:r>
            <a:r>
              <a:rPr lang="en-GB" sz="1800" noProof="0" dirty="0">
                <a:solidFill>
                  <a:srgbClr val="23303F"/>
                </a:solidFill>
                <a:latin typeface="Calibri" pitchFamily="34" charset="0"/>
                <a:ea typeface="Calibri" pitchFamily="34" charset="-122"/>
                <a:cs typeface="Calibri" pitchFamily="34" charset="-120"/>
              </a:rPr>
              <a:t>Explain that treatment of precancer preserves fertility</a:t>
            </a:r>
            <a:r>
              <a:rPr lang="en-GB" sz="1800" noProof="0" dirty="0">
                <a:solidFill>
                  <a:srgbClr val="000000"/>
                </a:solidFill>
                <a:latin typeface="Calibri" pitchFamily="34" charset="0"/>
                <a:ea typeface="Calibri" pitchFamily="34" charset="-122"/>
                <a:cs typeface="Calibri" pitchFamily="34" charset="-120"/>
              </a:rPr>
              <a:t>   ✅</a:t>
            </a:r>
            <a:endParaRPr lang="en-GB" sz="1800" noProof="0" dirty="0"/>
          </a:p>
        </p:txBody>
      </p:sp>
      <p:sp>
        <p:nvSpPr>
          <p:cNvPr id="15" name="Shape 13"/>
          <p:cNvSpPr/>
          <p:nvPr/>
        </p:nvSpPr>
        <p:spPr>
          <a:xfrm>
            <a:off x="566928" y="4828032"/>
            <a:ext cx="11055096" cy="1408176"/>
          </a:xfrm>
          <a:prstGeom prst="roundRect">
            <a:avLst>
              <a:gd name="adj" fmla="val 4545"/>
            </a:avLst>
          </a:prstGeom>
          <a:solidFill>
            <a:srgbClr val="EAF7F0"/>
          </a:solidFill>
          <a:ln w="12700">
            <a:solidFill>
              <a:srgbClr val="C0D4CB"/>
            </a:solidFill>
            <a:prstDash val="solid"/>
          </a:ln>
        </p:spPr>
        <p:txBody>
          <a:bodyPr/>
          <a:lstStyle/>
          <a:p>
            <a:endParaRPr lang="en-GB" noProof="0" dirty="0"/>
          </a:p>
        </p:txBody>
      </p:sp>
      <p:sp>
        <p:nvSpPr>
          <p:cNvPr id="16" name="Text 14"/>
          <p:cNvSpPr txBox="1"/>
          <p:nvPr/>
        </p:nvSpPr>
        <p:spPr>
          <a:xfrm>
            <a:off x="841248" y="4919472"/>
            <a:ext cx="10506456" cy="1225296"/>
          </a:xfrm>
          <a:prstGeom prst="rect">
            <a:avLst/>
          </a:prstGeom>
          <a:noFill/>
          <a:ln/>
        </p:spPr>
        <p:txBody>
          <a:bodyPr wrap="square" lIns="0" tIns="0" rIns="0" bIns="0" rtlCol="0" anchor="t"/>
          <a:lstStyle/>
          <a:p>
            <a:pPr marL="0" indent="0">
              <a:lnSpc>
                <a:spcPct val="106000"/>
              </a:lnSpc>
              <a:buNone/>
            </a:pPr>
            <a:r>
              <a:rPr lang="en-GB" sz="1800" b="1" noProof="0" dirty="0">
                <a:solidFill>
                  <a:srgbClr val="19543E"/>
                </a:solidFill>
                <a:latin typeface="Calibri" pitchFamily="34" charset="0"/>
                <a:ea typeface="Calibri" pitchFamily="34" charset="-122"/>
                <a:cs typeface="Calibri" pitchFamily="34" charset="-120"/>
              </a:rPr>
              <a:t>Correct answer: A, C, D
Feedback: </a:t>
            </a:r>
            <a:r>
              <a:rPr lang="en-GB" sz="1800" noProof="0" dirty="0">
                <a:solidFill>
                  <a:srgbClr val="23303F"/>
                </a:solidFill>
                <a:latin typeface="Calibri" pitchFamily="34" charset="0"/>
                <a:ea typeface="Calibri" pitchFamily="34" charset="-122"/>
                <a:cs typeface="Calibri" pitchFamily="34" charset="-120"/>
              </a:rPr>
              <a:t>Say what the result is not, arrange the next step yourself, and answer the fertility question early. HPV can persist silently for years, so a result says nothing about anyone's behaviour.</a:t>
            </a:r>
            <a:endParaRPr lang="en-GB" sz="1800" noProof="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7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199</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ATTRIBUTION AND SOURCES</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References</a:t>
            </a:r>
            <a:endParaRPr lang="en-GB" sz="3200" noProof="0" dirty="0"/>
          </a:p>
        </p:txBody>
      </p:sp>
      <p:sp>
        <p:nvSpPr>
          <p:cNvPr id="7" name="Text 5"/>
          <p:cNvSpPr txBox="1"/>
          <p:nvPr/>
        </p:nvSpPr>
        <p:spPr>
          <a:xfrm>
            <a:off x="853111" y="1490472"/>
            <a:ext cx="4929852" cy="3877056"/>
          </a:xfrm>
          <a:prstGeom prst="rect">
            <a:avLst/>
          </a:prstGeom>
          <a:noFill/>
          <a:ln/>
        </p:spPr>
        <p:txBody>
          <a:bodyPr wrap="square" lIns="0" tIns="0" rIns="0" bIns="0" rtlCol="0" anchor="t"/>
          <a:lstStyle/>
          <a:p>
            <a:pPr marL="0" indent="0">
              <a:lnSpc>
                <a:spcPct val="105000"/>
              </a:lnSpc>
              <a:spcAft>
                <a:spcPts val="1400"/>
              </a:spcAft>
              <a:buNone/>
            </a:pPr>
            <a:r>
              <a:rPr lang="en-GB" sz="1200" noProof="0" dirty="0">
                <a:solidFill>
                  <a:srgbClr val="23303F"/>
                </a:solidFill>
                <a:latin typeface="Calibri" pitchFamily="34" charset="0"/>
                <a:ea typeface="Calibri" pitchFamily="34" charset="-122"/>
                <a:cs typeface="Calibri" pitchFamily="34" charset="-120"/>
              </a:rPr>
              <a:t>1.  International Agency for Research on Cancer. Global Cancer Observatory: Cancer Today. Cervix uteri fact sheet, GLOBOCAN 2024 estimates. Lyon: IARC / World Health Organization. https://</a:t>
            </a:r>
            <a:r>
              <a:rPr lang="en-GB" sz="1200" noProof="0" dirty="0" err="1">
                <a:solidFill>
                  <a:srgbClr val="23303F"/>
                </a:solidFill>
                <a:latin typeface="Calibri" pitchFamily="34" charset="0"/>
                <a:ea typeface="Calibri" pitchFamily="34" charset="-122"/>
                <a:cs typeface="Calibri" pitchFamily="34" charset="-120"/>
              </a:rPr>
              <a:t>gco.iarc.who.int</a:t>
            </a:r>
            <a:r>
              <a:rPr lang="en-GB" sz="1200" noProof="0" dirty="0">
                <a:solidFill>
                  <a:srgbClr val="23303F"/>
                </a:solidFill>
                <a:latin typeface="Calibri" pitchFamily="34" charset="0"/>
                <a:ea typeface="Calibri" pitchFamily="34" charset="-122"/>
                <a:cs typeface="Calibri" pitchFamily="34" charset="-120"/>
              </a:rPr>
              <a:t>/today</a:t>
            </a:r>
            <a:endParaRPr lang="en-GB" sz="1200" noProof="0" dirty="0"/>
          </a:p>
          <a:p>
            <a:pPr marL="0" indent="0">
              <a:lnSpc>
                <a:spcPct val="105000"/>
              </a:lnSpc>
              <a:spcAft>
                <a:spcPts val="1400"/>
              </a:spcAft>
              <a:buNone/>
            </a:pPr>
            <a:r>
              <a:rPr lang="en-GB" sz="1200" noProof="0" dirty="0">
                <a:solidFill>
                  <a:srgbClr val="23303F"/>
                </a:solidFill>
                <a:latin typeface="Calibri" pitchFamily="34" charset="0"/>
                <a:ea typeface="Calibri" pitchFamily="34" charset="-122"/>
                <a:cs typeface="Calibri" pitchFamily="34" charset="-120"/>
              </a:rPr>
              <a:t>2.  International Agency for Research on Cancer. Global Cancer Observatory: Cancer Today. Rwanda fact sheet, GLOBOCAN 2024 estimates. Lyon: IARC / World Health Organization.</a:t>
            </a:r>
            <a:endParaRPr lang="en-GB" sz="1200" noProof="0" dirty="0"/>
          </a:p>
          <a:p>
            <a:pPr marL="0" indent="0">
              <a:lnSpc>
                <a:spcPct val="105000"/>
              </a:lnSpc>
              <a:spcAft>
                <a:spcPts val="1400"/>
              </a:spcAft>
              <a:buNone/>
            </a:pPr>
            <a:r>
              <a:rPr lang="en-GB" sz="1200" noProof="0" dirty="0">
                <a:solidFill>
                  <a:srgbClr val="23303F"/>
                </a:solidFill>
                <a:latin typeface="Calibri" pitchFamily="34" charset="0"/>
                <a:ea typeface="Calibri" pitchFamily="34" charset="-122"/>
                <a:cs typeface="Calibri" pitchFamily="34" charset="-120"/>
              </a:rPr>
              <a:t>3.  International Agency for Research on Cancer. Global Cancer Observatory: Cancer Today. Africa and Eastern Africa fact sheets, GLOBOCAN 2024 estimates. Lyon: IARC / World Health Organization.</a:t>
            </a:r>
            <a:endParaRPr lang="en-GB" sz="1200" noProof="0" dirty="0"/>
          </a:p>
          <a:p>
            <a:pPr marL="0" indent="0">
              <a:lnSpc>
                <a:spcPct val="105000"/>
              </a:lnSpc>
              <a:spcAft>
                <a:spcPts val="1400"/>
              </a:spcAft>
              <a:buNone/>
            </a:pPr>
            <a:r>
              <a:rPr lang="en-GB" sz="1200" noProof="0" dirty="0">
                <a:solidFill>
                  <a:srgbClr val="23303F"/>
                </a:solidFill>
                <a:latin typeface="Calibri" pitchFamily="34" charset="0"/>
                <a:ea typeface="Calibri" pitchFamily="34" charset="-122"/>
                <a:cs typeface="Calibri" pitchFamily="34" charset="-120"/>
              </a:rPr>
              <a:t>4.  International Agency for Research on Cancer. Global Cancer Observatory: Cancer Tomorrow. Projected cancer burden in Rwanda to 2050. Lyon: IARC / World Health Organization. https://</a:t>
            </a:r>
            <a:r>
              <a:rPr lang="en-GB" sz="1200" noProof="0" dirty="0" err="1">
                <a:solidFill>
                  <a:srgbClr val="23303F"/>
                </a:solidFill>
                <a:latin typeface="Calibri" pitchFamily="34" charset="0"/>
                <a:ea typeface="Calibri" pitchFamily="34" charset="-122"/>
                <a:cs typeface="Calibri" pitchFamily="34" charset="-120"/>
              </a:rPr>
              <a:t>gco.iarc.fr</a:t>
            </a:r>
            <a:r>
              <a:rPr lang="en-GB" sz="1200" noProof="0" dirty="0">
                <a:solidFill>
                  <a:srgbClr val="23303F"/>
                </a:solidFill>
                <a:latin typeface="Calibri" pitchFamily="34" charset="0"/>
                <a:ea typeface="Calibri" pitchFamily="34" charset="-122"/>
                <a:cs typeface="Calibri" pitchFamily="34" charset="-120"/>
              </a:rPr>
              <a:t>/tomorrow</a:t>
            </a:r>
            <a:endParaRPr lang="en-GB" sz="1200" noProof="0" dirty="0"/>
          </a:p>
          <a:p>
            <a:pPr marL="0" indent="0">
              <a:lnSpc>
                <a:spcPct val="105000"/>
              </a:lnSpc>
              <a:spcAft>
                <a:spcPts val="1400"/>
              </a:spcAft>
              <a:buNone/>
            </a:pPr>
            <a:r>
              <a:rPr lang="en-GB" sz="1200" noProof="0" dirty="0">
                <a:solidFill>
                  <a:srgbClr val="23303F"/>
                </a:solidFill>
                <a:latin typeface="Calibri" pitchFamily="34" charset="0"/>
                <a:ea typeface="Calibri" pitchFamily="34" charset="-122"/>
                <a:cs typeface="Calibri" pitchFamily="34" charset="-120"/>
              </a:rPr>
              <a:t>5.  Sung H, Filho AM, </a:t>
            </a:r>
            <a:r>
              <a:rPr lang="en-GB" sz="1200" noProof="0" dirty="0" err="1">
                <a:solidFill>
                  <a:srgbClr val="23303F"/>
                </a:solidFill>
                <a:latin typeface="Calibri" pitchFamily="34" charset="0"/>
                <a:ea typeface="Calibri" pitchFamily="34" charset="-122"/>
                <a:cs typeface="Calibri" pitchFamily="34" charset="-120"/>
              </a:rPr>
              <a:t>Laversanne</a:t>
            </a:r>
            <a:r>
              <a:rPr lang="en-GB" sz="1200" noProof="0" dirty="0">
                <a:solidFill>
                  <a:srgbClr val="23303F"/>
                </a:solidFill>
                <a:latin typeface="Calibri" pitchFamily="34" charset="0"/>
                <a:ea typeface="Calibri" pitchFamily="34" charset="-122"/>
                <a:cs typeface="Calibri" pitchFamily="34" charset="-120"/>
              </a:rPr>
              <a:t> M, et al. Global cancer statistics 2024: GLOBOCAN estimates of incidence and mortality worldwide for 34 cancers in 186 countries. CA: A Cancer Journal for Clinicians. 2026. doi:10.3322/caac.70090</a:t>
            </a:r>
            <a:endParaRPr lang="en-GB" sz="1200" noProof="0" dirty="0"/>
          </a:p>
          <a:p>
            <a:pPr marL="0" indent="0">
              <a:lnSpc>
                <a:spcPct val="105000"/>
              </a:lnSpc>
              <a:spcAft>
                <a:spcPts val="1400"/>
              </a:spcAft>
              <a:buNone/>
            </a:pPr>
            <a:r>
              <a:rPr lang="en-GB" sz="1200" noProof="0" dirty="0">
                <a:solidFill>
                  <a:srgbClr val="23303F"/>
                </a:solidFill>
                <a:latin typeface="Calibri" pitchFamily="34" charset="0"/>
                <a:ea typeface="Calibri" pitchFamily="34" charset="-122"/>
                <a:cs typeface="Calibri" pitchFamily="34" charset="-120"/>
              </a:rPr>
              <a:t>6.  Republic of Rwanda, Ministry of Health. National Cancer Control Plan 2025 to 2029. Kigali: Ministry of Health and Rwanda Biomedical Centre.</a:t>
            </a:r>
            <a:endParaRPr lang="en-GB" sz="1200" noProof="0" dirty="0"/>
          </a:p>
        </p:txBody>
      </p:sp>
      <p:sp>
        <p:nvSpPr>
          <p:cNvPr id="8" name="Text 5">
            <a:extLst>
              <a:ext uri="{FF2B5EF4-FFF2-40B4-BE49-F238E27FC236}">
                <a16:creationId xmlns:a16="http://schemas.microsoft.com/office/drawing/2014/main" id="{248F621D-D4C6-9D4B-C1CC-F79A60454DB7}"/>
              </a:ext>
            </a:extLst>
          </p:cNvPr>
          <p:cNvSpPr txBox="1"/>
          <p:nvPr/>
        </p:nvSpPr>
        <p:spPr>
          <a:xfrm>
            <a:off x="6409037" y="1490472"/>
            <a:ext cx="4929852" cy="3877056"/>
          </a:xfrm>
          <a:prstGeom prst="rect">
            <a:avLst/>
          </a:prstGeom>
          <a:noFill/>
          <a:ln/>
        </p:spPr>
        <p:txBody>
          <a:bodyPr wrap="square" lIns="0" tIns="0" rIns="0" bIns="0" rtlCol="0" anchor="t"/>
          <a:lstStyle/>
          <a:p>
            <a:pPr marL="0" indent="0">
              <a:lnSpc>
                <a:spcPct val="105000"/>
              </a:lnSpc>
              <a:spcAft>
                <a:spcPts val="1400"/>
              </a:spcAft>
              <a:buNone/>
            </a:pPr>
            <a:r>
              <a:rPr lang="en-GB" sz="1200" noProof="0" dirty="0">
                <a:solidFill>
                  <a:srgbClr val="23303F"/>
                </a:solidFill>
                <a:latin typeface="Calibri" pitchFamily="34" charset="0"/>
                <a:ea typeface="Calibri" pitchFamily="34" charset="-122"/>
                <a:cs typeface="Calibri" pitchFamily="34" charset="-120"/>
              </a:rPr>
              <a:t>7.  Republic of Rwanda, Ministry of Health. Accelerated Plan for the Elimination of Cervical Cancer in Rwanda 2024 to 2027. Kigali: Ministry of Health.</a:t>
            </a:r>
            <a:endParaRPr lang="en-GB" sz="1200" noProof="0" dirty="0"/>
          </a:p>
          <a:p>
            <a:pPr marL="0" indent="0">
              <a:lnSpc>
                <a:spcPct val="105000"/>
              </a:lnSpc>
              <a:spcAft>
                <a:spcPts val="1400"/>
              </a:spcAft>
              <a:buNone/>
            </a:pPr>
            <a:r>
              <a:rPr lang="en-GB" sz="1200" noProof="0" dirty="0">
                <a:solidFill>
                  <a:srgbClr val="23303F"/>
                </a:solidFill>
                <a:latin typeface="Calibri" pitchFamily="34" charset="0"/>
                <a:ea typeface="Calibri" pitchFamily="34" charset="-122"/>
                <a:cs typeface="Calibri" pitchFamily="34" charset="-120"/>
              </a:rPr>
              <a:t>8.  Rwanda Biomedical Centre. Updates in Cancer Care in Rwanda. Kigali: Ministry of Health, Cancer Programme, June 2026.</a:t>
            </a:r>
            <a:endParaRPr lang="en-GB" sz="1200" noProof="0" dirty="0"/>
          </a:p>
          <a:p>
            <a:pPr marL="0" indent="0">
              <a:lnSpc>
                <a:spcPct val="105000"/>
              </a:lnSpc>
              <a:spcAft>
                <a:spcPts val="1400"/>
              </a:spcAft>
              <a:buNone/>
            </a:pPr>
            <a:r>
              <a:rPr lang="en-GB" sz="1200" noProof="0" dirty="0">
                <a:solidFill>
                  <a:srgbClr val="23303F"/>
                </a:solidFill>
                <a:latin typeface="Calibri" pitchFamily="34" charset="0"/>
                <a:ea typeface="Calibri" pitchFamily="34" charset="-122"/>
                <a:cs typeface="Calibri" pitchFamily="34" charset="-120"/>
              </a:rPr>
              <a:t>9.  World Health Organization. Cervical cancer fact sheet. Geneva: WHO. https://</a:t>
            </a:r>
            <a:r>
              <a:rPr lang="en-GB" sz="1200" noProof="0" dirty="0" err="1">
                <a:solidFill>
                  <a:srgbClr val="23303F"/>
                </a:solidFill>
                <a:latin typeface="Calibri" pitchFamily="34" charset="0"/>
                <a:ea typeface="Calibri" pitchFamily="34" charset="-122"/>
                <a:cs typeface="Calibri" pitchFamily="34" charset="-120"/>
              </a:rPr>
              <a:t>www.who.int</a:t>
            </a:r>
            <a:r>
              <a:rPr lang="en-GB" sz="1200" noProof="0" dirty="0">
                <a:solidFill>
                  <a:srgbClr val="23303F"/>
                </a:solidFill>
                <a:latin typeface="Calibri" pitchFamily="34" charset="0"/>
                <a:ea typeface="Calibri" pitchFamily="34" charset="-122"/>
                <a:cs typeface="Calibri" pitchFamily="34" charset="-120"/>
              </a:rPr>
              <a:t>/news-room/fact-sheets/detail/cervical-cancer</a:t>
            </a:r>
            <a:endParaRPr lang="en-GB" sz="1200" noProof="0" dirty="0"/>
          </a:p>
          <a:p>
            <a:pPr marL="0" indent="0">
              <a:lnSpc>
                <a:spcPct val="105000"/>
              </a:lnSpc>
              <a:spcAft>
                <a:spcPts val="1400"/>
              </a:spcAft>
              <a:buNone/>
            </a:pPr>
            <a:r>
              <a:rPr lang="en-GB" sz="1200" noProof="0" dirty="0">
                <a:solidFill>
                  <a:srgbClr val="23303F"/>
                </a:solidFill>
                <a:latin typeface="Calibri" pitchFamily="34" charset="0"/>
                <a:ea typeface="Calibri" pitchFamily="34" charset="-122"/>
                <a:cs typeface="Calibri" pitchFamily="34" charset="-120"/>
              </a:rPr>
              <a:t>10.  World Health Organization. Global strategy to accelerate the elimination of cervical cancer as a public health problem. Geneva: WHO, 2020.</a:t>
            </a:r>
            <a:endParaRPr lang="en-GB" sz="1200" noProof="0" dirty="0"/>
          </a:p>
          <a:p>
            <a:pPr marL="0" indent="0">
              <a:lnSpc>
                <a:spcPct val="105000"/>
              </a:lnSpc>
              <a:spcAft>
                <a:spcPts val="1400"/>
              </a:spcAft>
              <a:buNone/>
            </a:pPr>
            <a:r>
              <a:rPr lang="en-GB" sz="1200" noProof="0" dirty="0">
                <a:solidFill>
                  <a:srgbClr val="23303F"/>
                </a:solidFill>
                <a:latin typeface="Calibri" pitchFamily="34" charset="0"/>
                <a:ea typeface="Calibri" pitchFamily="34" charset="-122"/>
                <a:cs typeface="Calibri" pitchFamily="34" charset="-120"/>
              </a:rPr>
              <a:t>11.  World Health Organization. WHO guideline for screening and treatment of cervical pre-cancer lesions for cervical cancer prevention, second edition. Geneva: WHO, 2021.</a:t>
            </a:r>
            <a:endParaRPr lang="en-GB" sz="1200" noProof="0" dirty="0"/>
          </a:p>
          <a:p>
            <a:pPr marL="0" indent="0">
              <a:lnSpc>
                <a:spcPct val="105000"/>
              </a:lnSpc>
              <a:spcAft>
                <a:spcPts val="1400"/>
              </a:spcAft>
              <a:buNone/>
            </a:pPr>
            <a:r>
              <a:rPr lang="en-GB" sz="1200" noProof="0" dirty="0">
                <a:solidFill>
                  <a:srgbClr val="23303F"/>
                </a:solidFill>
                <a:latin typeface="Calibri" pitchFamily="34" charset="0"/>
                <a:ea typeface="Calibri" pitchFamily="34" charset="-122"/>
                <a:cs typeface="Calibri" pitchFamily="34" charset="-120"/>
              </a:rPr>
              <a:t>12.  World Health Organization. Comprehensive cervical cancer control: a guide to essential practice, second edition. Geneva: WHO, 2014.</a:t>
            </a:r>
            <a:endParaRPr lang="en-GB" sz="1200" noProof="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18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55080"/>
            <a:ext cx="7680960" cy="274320"/>
          </a:xfrm>
          <a:prstGeom prst="rect">
            <a:avLst/>
          </a:prstGeom>
          <a:noFill/>
          <a:ln/>
        </p:spPr>
        <p:txBody>
          <a:bodyPr wrap="square" lIns="0" tIns="0" rIns="0" bIns="0" rtlCol="0" anchor="ctr"/>
          <a:lstStyle/>
          <a:p>
            <a:pPr marL="0" indent="0" algn="l">
              <a:buNone/>
            </a:pPr>
            <a:r>
              <a:rPr lang="en-GB" sz="1100" noProof="0" dirty="0">
                <a:solidFill>
                  <a:srgbClr val="6A727F"/>
                </a:solidFill>
                <a:latin typeface="Calibri" pitchFamily="34" charset="0"/>
                <a:ea typeface="Calibri" pitchFamily="34" charset="-122"/>
                <a:cs typeface="Calibri" pitchFamily="34" charset="-120"/>
              </a:rPr>
              <a:t>Cervical Cancer  |  Frontline HCP  |  Rwanda Biomedical Centre</a:t>
            </a:r>
            <a:endParaRPr lang="en-GB" sz="1100" noProof="0" dirty="0"/>
          </a:p>
        </p:txBody>
      </p:sp>
      <p:sp>
        <p:nvSpPr>
          <p:cNvPr id="3" name="Text 1"/>
          <p:cNvSpPr txBox="1"/>
          <p:nvPr/>
        </p:nvSpPr>
        <p:spPr>
          <a:xfrm>
            <a:off x="9966960" y="6355080"/>
            <a:ext cx="1664208" cy="274320"/>
          </a:xfrm>
          <a:prstGeom prst="rect">
            <a:avLst/>
          </a:prstGeom>
          <a:noFill/>
          <a:ln/>
        </p:spPr>
        <p:txBody>
          <a:bodyPr wrap="square" lIns="0" tIns="0" rIns="0" bIns="0" rtlCol="0" anchor="ctr"/>
          <a:lstStyle/>
          <a:p>
            <a:pPr marL="0" indent="0" algn="r">
              <a:buNone/>
            </a:pPr>
            <a:r>
              <a:rPr lang="en-GB" sz="1100" noProof="0" dirty="0">
                <a:solidFill>
                  <a:srgbClr val="6A727F"/>
                </a:solidFill>
                <a:latin typeface="Calibri" pitchFamily="34" charset="0"/>
                <a:ea typeface="Calibri" pitchFamily="34" charset="-122"/>
                <a:cs typeface="Calibri" pitchFamily="34" charset="-120"/>
              </a:rPr>
              <a:t>Screen 200</a:t>
            </a:r>
            <a:endParaRPr lang="en-GB" sz="1100" noProof="0" dirty="0"/>
          </a:p>
        </p:txBody>
      </p:sp>
      <p:sp>
        <p:nvSpPr>
          <p:cNvPr id="4" name="Text 2"/>
          <p:cNvSpPr txBox="1"/>
          <p:nvPr/>
        </p:nvSpPr>
        <p:spPr>
          <a:xfrm>
            <a:off x="566928" y="329184"/>
            <a:ext cx="11055096" cy="274320"/>
          </a:xfrm>
          <a:prstGeom prst="rect">
            <a:avLst/>
          </a:prstGeom>
          <a:noFill/>
          <a:ln/>
        </p:spPr>
        <p:txBody>
          <a:bodyPr wrap="square" lIns="0" tIns="0" rIns="0" bIns="0" rtlCol="0" anchor="ctr"/>
          <a:lstStyle/>
          <a:p>
            <a:pPr marL="0" indent="0">
              <a:buNone/>
            </a:pPr>
            <a:r>
              <a:rPr lang="en-GB" sz="1200" b="1" kern="0" spc="400" noProof="0" dirty="0">
                <a:solidFill>
                  <a:srgbClr val="31507B"/>
                </a:solidFill>
                <a:latin typeface="Calibri" pitchFamily="34" charset="0"/>
                <a:ea typeface="Calibri" pitchFamily="34" charset="-122"/>
                <a:cs typeface="Calibri" pitchFamily="34" charset="-120"/>
              </a:rPr>
              <a:t>ATTRIBUTION AND SOURCES</a:t>
            </a:r>
            <a:endParaRPr lang="en-GB" sz="1200" noProof="0" dirty="0"/>
          </a:p>
        </p:txBody>
      </p:sp>
      <p:sp>
        <p:nvSpPr>
          <p:cNvPr id="5" name="Text 3"/>
          <p:cNvSpPr txBox="1"/>
          <p:nvPr/>
        </p:nvSpPr>
        <p:spPr>
          <a:xfrm>
            <a:off x="566928" y="640080"/>
            <a:ext cx="11055096" cy="868680"/>
          </a:xfrm>
          <a:prstGeom prst="rect">
            <a:avLst/>
          </a:prstGeom>
          <a:noFill/>
          <a:ln/>
        </p:spPr>
        <p:txBody>
          <a:bodyPr wrap="square" lIns="0" tIns="0" rIns="0" bIns="0" rtlCol="0" anchor="ctr"/>
          <a:lstStyle/>
          <a:p>
            <a:pPr marL="0" indent="0">
              <a:buNone/>
            </a:pPr>
            <a:r>
              <a:rPr lang="en-GB" sz="3200" b="1" noProof="0" dirty="0">
                <a:solidFill>
                  <a:srgbClr val="10305A"/>
                </a:solidFill>
                <a:latin typeface="Cambria" pitchFamily="34" charset="0"/>
                <a:ea typeface="Cambria" pitchFamily="34" charset="-122"/>
                <a:cs typeface="Cambria" pitchFamily="34" charset="-120"/>
              </a:rPr>
              <a:t>References, continued</a:t>
            </a:r>
            <a:endParaRPr lang="en-GB" sz="3200" noProof="0" dirty="0"/>
          </a:p>
        </p:txBody>
      </p:sp>
      <p:sp>
        <p:nvSpPr>
          <p:cNvPr id="7" name="Text 5"/>
          <p:cNvSpPr txBox="1"/>
          <p:nvPr/>
        </p:nvSpPr>
        <p:spPr>
          <a:xfrm>
            <a:off x="667759" y="1566185"/>
            <a:ext cx="10854000" cy="4650000"/>
          </a:xfrm>
          <a:prstGeom prst="rect">
            <a:avLst/>
          </a:prstGeom>
          <a:noFill/>
          <a:ln/>
        </p:spPr>
        <p:txBody>
          <a:bodyPr wrap="square" lIns="0" tIns="0" rIns="0" bIns="0" rtlCol="0" anchor="t"/>
          <a:lstStyle/>
          <a:p>
            <a:pPr marL="0" indent="0">
              <a:lnSpc>
                <a:spcPct val="105000"/>
              </a:lnSpc>
              <a:spcAft>
                <a:spcPts val="1400"/>
              </a:spcAft>
              <a:buNone/>
            </a:pPr>
            <a:r>
              <a:rPr lang="en-GB" sz="1200" noProof="0" dirty="0">
                <a:solidFill>
                  <a:srgbClr val="23303F"/>
                </a:solidFill>
                <a:latin typeface="Calibri" pitchFamily="34" charset="0"/>
                <a:ea typeface="Calibri" pitchFamily="34" charset="-122"/>
                <a:cs typeface="Calibri" pitchFamily="34" charset="-120"/>
              </a:rPr>
              <a:t>13.  World Health Organization. WHO guideline on the use of thermal ablation for cervical pre-cancer lesions. Geneva: WHO, 2019.</a:t>
            </a:r>
            <a:endParaRPr lang="en-GB" sz="1200" noProof="0" dirty="0"/>
          </a:p>
          <a:p>
            <a:pPr marL="0" indent="0">
              <a:lnSpc>
                <a:spcPct val="105000"/>
              </a:lnSpc>
              <a:spcAft>
                <a:spcPts val="1400"/>
              </a:spcAft>
              <a:buNone/>
            </a:pPr>
            <a:r>
              <a:rPr lang="en-GB" sz="1200" noProof="0" dirty="0">
                <a:solidFill>
                  <a:srgbClr val="23303F"/>
                </a:solidFill>
                <a:latin typeface="Calibri" pitchFamily="34" charset="0"/>
                <a:ea typeface="Calibri" pitchFamily="34" charset="-122"/>
                <a:cs typeface="Calibri" pitchFamily="34" charset="-120"/>
              </a:rPr>
              <a:t>14.  World Health Organization. Guide to cancer early diagnosis. Geneva: WHO, 2017.</a:t>
            </a:r>
            <a:endParaRPr lang="en-GB" sz="1200" noProof="0" dirty="0"/>
          </a:p>
          <a:p>
            <a:pPr marL="0" indent="0">
              <a:lnSpc>
                <a:spcPct val="105000"/>
              </a:lnSpc>
              <a:spcAft>
                <a:spcPts val="1400"/>
              </a:spcAft>
              <a:buNone/>
            </a:pPr>
            <a:r>
              <a:rPr lang="en-GB" sz="1200" noProof="0" dirty="0">
                <a:solidFill>
                  <a:srgbClr val="23303F"/>
                </a:solidFill>
                <a:latin typeface="Calibri" pitchFamily="34" charset="0"/>
                <a:ea typeface="Calibri" pitchFamily="34" charset="-122"/>
                <a:cs typeface="Calibri" pitchFamily="34" charset="-120"/>
              </a:rPr>
              <a:t>15.  </a:t>
            </a:r>
            <a:r>
              <a:rPr lang="en-GB" sz="1200" noProof="0" dirty="0" err="1">
                <a:solidFill>
                  <a:srgbClr val="23303F"/>
                </a:solidFill>
                <a:latin typeface="Calibri" pitchFamily="34" charset="0"/>
                <a:ea typeface="Calibri" pitchFamily="34" charset="-122"/>
                <a:cs typeface="Calibri" pitchFamily="34" charset="-120"/>
              </a:rPr>
              <a:t>Bhatla</a:t>
            </a:r>
            <a:r>
              <a:rPr lang="en-GB" sz="1200" noProof="0" dirty="0">
                <a:solidFill>
                  <a:srgbClr val="23303F"/>
                </a:solidFill>
                <a:latin typeface="Calibri" pitchFamily="34" charset="0"/>
                <a:ea typeface="Calibri" pitchFamily="34" charset="-122"/>
                <a:cs typeface="Calibri" pitchFamily="34" charset="-120"/>
              </a:rPr>
              <a:t> N, Aoki D, Sharma DN, Sankaranarayanan R. Cancer of the cervix uteri: FIGO cancer report, and FIGO staging of cancer of the cervix uteri, 2018 revision. International Journal of </a:t>
            </a:r>
            <a:r>
              <a:rPr lang="en-GB" sz="1200" noProof="0" dirty="0" err="1">
                <a:solidFill>
                  <a:srgbClr val="23303F"/>
                </a:solidFill>
                <a:latin typeface="Calibri" pitchFamily="34" charset="0"/>
                <a:ea typeface="Calibri" pitchFamily="34" charset="-122"/>
                <a:cs typeface="Calibri" pitchFamily="34" charset="-120"/>
              </a:rPr>
              <a:t>Gynecology</a:t>
            </a:r>
            <a:r>
              <a:rPr lang="en-GB" sz="1200" noProof="0" dirty="0">
                <a:solidFill>
                  <a:srgbClr val="23303F"/>
                </a:solidFill>
                <a:latin typeface="Calibri" pitchFamily="34" charset="0"/>
                <a:ea typeface="Calibri" pitchFamily="34" charset="-122"/>
                <a:cs typeface="Calibri" pitchFamily="34" charset="-120"/>
              </a:rPr>
              <a:t> and Obstetrics.</a:t>
            </a:r>
            <a:endParaRPr lang="en-GB" sz="1200" noProof="0" dirty="0"/>
          </a:p>
          <a:p>
            <a:pPr marL="0" indent="0">
              <a:lnSpc>
                <a:spcPct val="105000"/>
              </a:lnSpc>
              <a:spcAft>
                <a:spcPts val="1400"/>
              </a:spcAft>
              <a:buNone/>
            </a:pPr>
            <a:r>
              <a:rPr lang="en-GB" sz="1200" noProof="0" dirty="0">
                <a:solidFill>
                  <a:srgbClr val="23303F"/>
                </a:solidFill>
                <a:latin typeface="Calibri" pitchFamily="34" charset="0"/>
                <a:ea typeface="Calibri" pitchFamily="34" charset="-122"/>
                <a:cs typeface="Calibri" pitchFamily="34" charset="-120"/>
              </a:rPr>
              <a:t>16.  National Comprehensive Cancer Network. NCCN Clinical Practice Guidelines in Oncology: Cervical Cancer. https://</a:t>
            </a:r>
            <a:r>
              <a:rPr lang="en-GB" sz="1200" noProof="0" dirty="0" err="1">
                <a:solidFill>
                  <a:srgbClr val="23303F"/>
                </a:solidFill>
                <a:latin typeface="Calibri" pitchFamily="34" charset="0"/>
                <a:ea typeface="Calibri" pitchFamily="34" charset="-122"/>
                <a:cs typeface="Calibri" pitchFamily="34" charset="-120"/>
              </a:rPr>
              <a:t>www.nccn.org</a:t>
            </a:r>
            <a:endParaRPr lang="en-GB" sz="1200" noProof="0" dirty="0"/>
          </a:p>
          <a:p>
            <a:pPr marL="0" indent="0">
              <a:lnSpc>
                <a:spcPct val="105000"/>
              </a:lnSpc>
              <a:spcAft>
                <a:spcPts val="1400"/>
              </a:spcAft>
              <a:buNone/>
            </a:pPr>
            <a:r>
              <a:rPr lang="en-GB" sz="1200" noProof="0" dirty="0">
                <a:solidFill>
                  <a:srgbClr val="23303F"/>
                </a:solidFill>
                <a:latin typeface="Calibri" pitchFamily="34" charset="0"/>
                <a:ea typeface="Calibri" pitchFamily="34" charset="-122"/>
                <a:cs typeface="Calibri" pitchFamily="34" charset="-120"/>
              </a:rPr>
              <a:t>17.  European Society for Medical Oncology. ESMO Clinical Practice Guidelines: cervical cancer. https://</a:t>
            </a:r>
            <a:r>
              <a:rPr lang="en-GB" sz="1200" noProof="0" dirty="0" err="1">
                <a:solidFill>
                  <a:srgbClr val="23303F"/>
                </a:solidFill>
                <a:latin typeface="Calibri" pitchFamily="34" charset="0"/>
                <a:ea typeface="Calibri" pitchFamily="34" charset="-122"/>
                <a:cs typeface="Calibri" pitchFamily="34" charset="-120"/>
              </a:rPr>
              <a:t>www.esmo.org</a:t>
            </a:r>
            <a:r>
              <a:rPr lang="en-GB" sz="1200" noProof="0" dirty="0">
                <a:solidFill>
                  <a:srgbClr val="23303F"/>
                </a:solidFill>
                <a:latin typeface="Calibri" pitchFamily="34" charset="0"/>
                <a:ea typeface="Calibri" pitchFamily="34" charset="-122"/>
                <a:cs typeface="Calibri" pitchFamily="34" charset="-120"/>
              </a:rPr>
              <a:t>/guidelines</a:t>
            </a:r>
            <a:endParaRPr lang="en-GB" sz="1200" noProof="0" dirty="0"/>
          </a:p>
          <a:p>
            <a:pPr marL="0" indent="0">
              <a:lnSpc>
                <a:spcPct val="105000"/>
              </a:lnSpc>
              <a:spcAft>
                <a:spcPts val="1400"/>
              </a:spcAft>
              <a:buNone/>
            </a:pPr>
            <a:r>
              <a:rPr lang="en-GB" sz="1200" noProof="0" dirty="0">
                <a:solidFill>
                  <a:srgbClr val="23303F"/>
                </a:solidFill>
                <a:latin typeface="Calibri" pitchFamily="34" charset="0"/>
                <a:ea typeface="Calibri" pitchFamily="34" charset="-122"/>
                <a:cs typeface="Calibri" pitchFamily="34" charset="-120"/>
              </a:rPr>
              <a:t>18.  International Agency for Research on Cancer. Planning and developing population-based cancer registration in low and middle income settings. IARC Technical Publication No. 43, 2014.</a:t>
            </a:r>
            <a:endParaRPr lang="en-GB" sz="1200" noProof="0" dirty="0"/>
          </a:p>
          <a:p>
            <a:pPr marL="0" indent="0">
              <a:lnSpc>
                <a:spcPct val="105000"/>
              </a:lnSpc>
              <a:spcAft>
                <a:spcPts val="1400"/>
              </a:spcAft>
              <a:buNone/>
            </a:pPr>
            <a:r>
              <a:rPr lang="en-GB" sz="1200" noProof="0" dirty="0">
                <a:solidFill>
                  <a:srgbClr val="23303F"/>
                </a:solidFill>
                <a:latin typeface="Calibri" pitchFamily="34" charset="0"/>
                <a:ea typeface="Calibri" pitchFamily="34" charset="-122"/>
                <a:cs typeface="Calibri" pitchFamily="34" charset="-120"/>
              </a:rPr>
              <a:t>19.  Rwanda Biomedical Centre. Training of primary health care providers: cervical cancer screening and treatment of precancerous lesions (HPV testing, VIA, VIA results and management, thermal ablation). Kigali: RBC.</a:t>
            </a:r>
            <a:endParaRPr lang="en-GB" sz="1200" noProof="0" dirty="0"/>
          </a:p>
          <a:p>
            <a:pPr marL="0" indent="0">
              <a:lnSpc>
                <a:spcPct val="105000"/>
              </a:lnSpc>
              <a:spcAft>
                <a:spcPts val="1400"/>
              </a:spcAft>
              <a:buNone/>
            </a:pPr>
            <a:r>
              <a:rPr lang="en-GB" sz="1200" noProof="0" dirty="0">
                <a:solidFill>
                  <a:srgbClr val="23303F"/>
                </a:solidFill>
                <a:latin typeface="Calibri" pitchFamily="34" charset="0"/>
                <a:ea typeface="Calibri" pitchFamily="34" charset="-122"/>
                <a:cs typeface="Calibri" pitchFamily="34" charset="-120"/>
              </a:rPr>
              <a:t>20.  Bornstein J, Bentley J, Bösze P, et al. 2011 colposcopic terminology of the International Federation for Cervical Pathology and Colposcopy. Obstetrics and Gynecology. 2012;120(1):166-172.</a:t>
            </a:r>
            <a:endParaRPr lang="en-GB" sz="1200" noProof="0" dirty="0"/>
          </a:p>
          <a:p>
            <a:pPr marL="0" indent="0">
              <a:lnSpc>
                <a:spcPct val="105000"/>
              </a:lnSpc>
              <a:spcAft>
                <a:spcPts val="1400"/>
              </a:spcAft>
              <a:buNone/>
            </a:pPr>
            <a:r>
              <a:rPr lang="en-GB" sz="1200" noProof="0" dirty="0">
                <a:solidFill>
                  <a:srgbClr val="23303F"/>
                </a:solidFill>
                <a:latin typeface="Calibri" pitchFamily="34" charset="0"/>
                <a:ea typeface="Calibri" pitchFamily="34" charset="-122"/>
                <a:cs typeface="Calibri" pitchFamily="34" charset="-120"/>
              </a:rPr>
              <a:t>21.  Burd EM. Human papillomavirus and cervical cancer. Clinical Microbiology Reviews. 2003;16(1):1-17.</a:t>
            </a:r>
            <a:endParaRPr lang="en-GB" sz="1200"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D61ECC46547A045896A1B75675AB43C" ma:contentTypeVersion="12" ma:contentTypeDescription="Create a new document." ma:contentTypeScope="" ma:versionID="b64b65294843640458730aea8e953da7">
  <xsd:schema xmlns:xsd="http://www.w3.org/2001/XMLSchema" xmlns:xs="http://www.w3.org/2001/XMLSchema" xmlns:p="http://schemas.microsoft.com/office/2006/metadata/properties" xmlns:ns1="http://schemas.microsoft.com/sharepoint/v3" xmlns:ns2="17d9841e-3b3a-4c82-8e4d-4f809d4d0b5f" xmlns:ns3="55fd9118-62da-44f2-ad5d-6ee26453d194" targetNamespace="http://schemas.microsoft.com/office/2006/metadata/properties" ma:root="true" ma:fieldsID="0ebed194f83790a6b312e91a81a0e8d9" ns1:_="" ns2:_="" ns3:_="">
    <xsd:import namespace="http://schemas.microsoft.com/sharepoint/v3"/>
    <xsd:import namespace="17d9841e-3b3a-4c82-8e4d-4f809d4d0b5f"/>
    <xsd:import namespace="55fd9118-62da-44f2-ad5d-6ee26453d19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7d9841e-3b3a-4c82-8e4d-4f809d4d0b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3f5e642b-91f5-4888-b018-43334a040d09"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5fd9118-62da-44f2-ad5d-6ee26453d194"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2a656308-58b0-4c85-8062-04ccee44b053}" ma:internalName="TaxCatchAll" ma:showField="CatchAllData" ma:web="55fd9118-62da-44f2-ad5d-6ee26453d19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55fd9118-62da-44f2-ad5d-6ee26453d194" xsi:nil="true"/>
    <_ip_UnifiedCompliancePolicyProperties xmlns="http://schemas.microsoft.com/sharepoint/v3" xsi:nil="true"/>
    <lcf76f155ced4ddcb4097134ff3c332f xmlns="17d9841e-3b3a-4c82-8e4d-4f809d4d0b5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B7AA9A9-9840-46F3-8C27-31983D690839}"/>
</file>

<file path=customXml/itemProps2.xml><?xml version="1.0" encoding="utf-8"?>
<ds:datastoreItem xmlns:ds="http://schemas.openxmlformats.org/officeDocument/2006/customXml" ds:itemID="{ADB165E8-BADC-4C74-911A-37726F5E0AF5}"/>
</file>

<file path=customXml/itemProps3.xml><?xml version="1.0" encoding="utf-8"?>
<ds:datastoreItem xmlns:ds="http://schemas.openxmlformats.org/officeDocument/2006/customXml" ds:itemID="{9EB3B209-156E-48CB-AD4F-A7368B0D4413}"/>
</file>

<file path=docProps/app.xml><?xml version="1.0" encoding="utf-8"?>
<Properties xmlns="http://schemas.openxmlformats.org/officeDocument/2006/extended-properties" xmlns:vt="http://schemas.openxmlformats.org/officeDocument/2006/docPropsVTypes">
  <TotalTime>1915</TotalTime>
  <Words>21621</Words>
  <Application>Microsoft Macintosh PowerPoint</Application>
  <PresentationFormat>Panorámica</PresentationFormat>
  <Paragraphs>2525</Paragraphs>
  <Slides>200</Slides>
  <Notes>169</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200</vt:i4>
      </vt:variant>
    </vt:vector>
  </HeadingPairs>
  <TitlesOfParts>
    <vt:vector size="204"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Rwanda Biomedical Centre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Cervical Cancer, Frontline HCP Module, English</dc:title>
  <dc:subject>PptxGenJS Presentation</dc:subject>
  <dc:creator>Rwanda Biomedical Centre</dc:creator>
  <cp:lastModifiedBy>Diana Alejandra Guarin Castaño</cp:lastModifiedBy>
  <cp:revision>84</cp:revision>
  <dcterms:created xsi:type="dcterms:W3CDTF">2026-09-03T03:25:47Z</dcterms:created>
  <dcterms:modified xsi:type="dcterms:W3CDTF">2026-09-29T17:45:31Z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0x0101007D61ECC46547A045896A1B75675AB43C</vt:lpwstr>
  </property>
</Properties>
</file>