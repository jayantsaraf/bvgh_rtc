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443" r:id="rId33"/>
    <p:sldId id="444" r:id="rId34"/>
    <p:sldId id="445" r:id="rId35"/>
    <p:sldId id="287" r:id="rId36"/>
    <p:sldId id="446" r:id="rId37"/>
    <p:sldId id="447" r:id="rId38"/>
    <p:sldId id="288" r:id="rId39"/>
    <p:sldId id="448" r:id="rId40"/>
    <p:sldId id="290" r:id="rId41"/>
    <p:sldId id="291" r:id="rId42"/>
    <p:sldId id="292" r:id="rId43"/>
    <p:sldId id="449" r:id="rId44"/>
    <p:sldId id="293" r:id="rId45"/>
    <p:sldId id="294" r:id="rId46"/>
    <p:sldId id="295" r:id="rId47"/>
    <p:sldId id="296" r:id="rId48"/>
    <p:sldId id="297" r:id="rId49"/>
    <p:sldId id="298" r:id="rId50"/>
    <p:sldId id="299" r:id="rId51"/>
    <p:sldId id="439" r:id="rId52"/>
    <p:sldId id="300" r:id="rId53"/>
    <p:sldId id="301" r:id="rId54"/>
    <p:sldId id="302" r:id="rId55"/>
    <p:sldId id="303" r:id="rId56"/>
    <p:sldId id="304" r:id="rId57"/>
    <p:sldId id="305" r:id="rId58"/>
    <p:sldId id="307" r:id="rId59"/>
    <p:sldId id="308" r:id="rId60"/>
    <p:sldId id="309" r:id="rId61"/>
    <p:sldId id="310"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8" r:id="rId76"/>
    <p:sldId id="331" r:id="rId77"/>
    <p:sldId id="329" r:id="rId78"/>
    <p:sldId id="450" r:id="rId79"/>
    <p:sldId id="330" r:id="rId80"/>
    <p:sldId id="451" r:id="rId81"/>
    <p:sldId id="452" r:id="rId82"/>
    <p:sldId id="453" r:id="rId83"/>
    <p:sldId id="454" r:id="rId84"/>
    <p:sldId id="455" r:id="rId85"/>
    <p:sldId id="456" r:id="rId86"/>
    <p:sldId id="457" r:id="rId87"/>
    <p:sldId id="458" r:id="rId88"/>
    <p:sldId id="459" r:id="rId89"/>
    <p:sldId id="460" r:id="rId90"/>
    <p:sldId id="461" r:id="rId91"/>
    <p:sldId id="462" r:id="rId92"/>
    <p:sldId id="463" r:id="rId93"/>
    <p:sldId id="464" r:id="rId94"/>
    <p:sldId id="465" r:id="rId95"/>
    <p:sldId id="466" r:id="rId96"/>
    <p:sldId id="467" r:id="rId97"/>
    <p:sldId id="332" r:id="rId98"/>
    <p:sldId id="333" r:id="rId99"/>
    <p:sldId id="440" r:id="rId100"/>
    <p:sldId id="468" r:id="rId101"/>
    <p:sldId id="334" r:id="rId102"/>
    <p:sldId id="335" r:id="rId103"/>
    <p:sldId id="469" r:id="rId104"/>
    <p:sldId id="470" r:id="rId105"/>
    <p:sldId id="471" r:id="rId106"/>
    <p:sldId id="472" r:id="rId107"/>
    <p:sldId id="336" r:id="rId108"/>
    <p:sldId id="337" r:id="rId109"/>
    <p:sldId id="338" r:id="rId110"/>
    <p:sldId id="473" r:id="rId111"/>
    <p:sldId id="339" r:id="rId112"/>
    <p:sldId id="340" r:id="rId113"/>
    <p:sldId id="341" r:id="rId114"/>
    <p:sldId id="342" r:id="rId115"/>
    <p:sldId id="344" r:id="rId116"/>
    <p:sldId id="345" r:id="rId117"/>
    <p:sldId id="346" r:id="rId118"/>
    <p:sldId id="348" r:id="rId119"/>
    <p:sldId id="349" r:id="rId120"/>
    <p:sldId id="350" r:id="rId121"/>
    <p:sldId id="351" r:id="rId122"/>
    <p:sldId id="352" r:id="rId123"/>
    <p:sldId id="442" r:id="rId124"/>
    <p:sldId id="353" r:id="rId125"/>
    <p:sldId id="355" r:id="rId126"/>
    <p:sldId id="356" r:id="rId127"/>
    <p:sldId id="441" r:id="rId128"/>
    <p:sldId id="357" r:id="rId129"/>
    <p:sldId id="358" r:id="rId130"/>
    <p:sldId id="359" r:id="rId131"/>
    <p:sldId id="361" r:id="rId132"/>
    <p:sldId id="362" r:id="rId133"/>
    <p:sldId id="363" r:id="rId134"/>
    <p:sldId id="364" r:id="rId135"/>
    <p:sldId id="365" r:id="rId136"/>
    <p:sldId id="367" r:id="rId137"/>
    <p:sldId id="368" r:id="rId138"/>
    <p:sldId id="369" r:id="rId139"/>
    <p:sldId id="370" r:id="rId140"/>
    <p:sldId id="371" r:id="rId141"/>
    <p:sldId id="372" r:id="rId142"/>
    <p:sldId id="373" r:id="rId143"/>
    <p:sldId id="374" r:id="rId144"/>
    <p:sldId id="376" r:id="rId145"/>
    <p:sldId id="377" r:id="rId146"/>
    <p:sldId id="378" r:id="rId147"/>
    <p:sldId id="379" r:id="rId148"/>
    <p:sldId id="380" r:id="rId149"/>
    <p:sldId id="381" r:id="rId150"/>
    <p:sldId id="382" r:id="rId151"/>
    <p:sldId id="383" r:id="rId152"/>
    <p:sldId id="386" r:id="rId153"/>
    <p:sldId id="387" r:id="rId154"/>
    <p:sldId id="388" r:id="rId155"/>
    <p:sldId id="389" r:id="rId156"/>
    <p:sldId id="390" r:id="rId157"/>
    <p:sldId id="391" r:id="rId158"/>
    <p:sldId id="392" r:id="rId159"/>
    <p:sldId id="393" r:id="rId160"/>
    <p:sldId id="394" r:id="rId161"/>
    <p:sldId id="395" r:id="rId162"/>
    <p:sldId id="396" r:id="rId163"/>
    <p:sldId id="397" r:id="rId164"/>
    <p:sldId id="398" r:id="rId165"/>
    <p:sldId id="399" r:id="rId166"/>
    <p:sldId id="400" r:id="rId167"/>
    <p:sldId id="401" r:id="rId168"/>
    <p:sldId id="402" r:id="rId169"/>
    <p:sldId id="403" r:id="rId170"/>
    <p:sldId id="404" r:id="rId171"/>
    <p:sldId id="405" r:id="rId172"/>
    <p:sldId id="406" r:id="rId173"/>
    <p:sldId id="407" r:id="rId174"/>
    <p:sldId id="408" r:id="rId175"/>
    <p:sldId id="409" r:id="rId176"/>
    <p:sldId id="412" r:id="rId177"/>
    <p:sldId id="414" r:id="rId178"/>
    <p:sldId id="415" r:id="rId179"/>
    <p:sldId id="416" r:id="rId180"/>
    <p:sldId id="417" r:id="rId181"/>
    <p:sldId id="418" r:id="rId182"/>
    <p:sldId id="419" r:id="rId183"/>
    <p:sldId id="420" r:id="rId184"/>
    <p:sldId id="421" r:id="rId185"/>
    <p:sldId id="422" r:id="rId186"/>
    <p:sldId id="423" r:id="rId187"/>
    <p:sldId id="424" r:id="rId188"/>
    <p:sldId id="425" r:id="rId189"/>
    <p:sldId id="426" r:id="rId190"/>
    <p:sldId id="427" r:id="rId191"/>
    <p:sldId id="428" r:id="rId192"/>
    <p:sldId id="429" r:id="rId193"/>
    <p:sldId id="430" r:id="rId194"/>
    <p:sldId id="431" r:id="rId195"/>
    <p:sldId id="432" r:id="rId196"/>
    <p:sldId id="433" r:id="rId197"/>
    <p:sldId id="434" r:id="rId198"/>
    <p:sldId id="436" r:id="rId19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779"/>
    <p:restoredTop sz="94610"/>
  </p:normalViewPr>
  <p:slideViewPr>
    <p:cSldViewPr snapToGrid="0" snapToObjects="1">
      <p:cViewPr varScale="1">
        <p:scale>
          <a:sx n="67" d="100"/>
          <a:sy n="67" d="100"/>
        </p:scale>
        <p:origin x="76" y="2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microsoft.com/office/2016/11/relationships/changesInfo" Target="changesInfos/changesInfo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customXml" Target="../customXml/item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customXml" Target="../customXml/item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theme" Target="theme/theme1.xml"/><Relationship Id="rId208"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arin, Diana" userId="5c522b28-0b9d-4793-9ade-53607ad7acd7" providerId="ADAL" clId="{D0FF5A40-D23B-4F26-B419-8D45EAE8A02C}"/>
    <pc:docChg chg="custSel mod modSld">
      <pc:chgData name="Guarin, Diana" userId="5c522b28-0b9d-4793-9ade-53607ad7acd7" providerId="ADAL" clId="{D0FF5A40-D23B-4F26-B419-8D45EAE8A02C}" dt="2026-09-30T19:32:11.130" v="1" actId="27636"/>
      <pc:docMkLst>
        <pc:docMk/>
      </pc:docMkLst>
      <pc:sldChg chg="modSp mod">
        <pc:chgData name="Guarin, Diana" userId="5c522b28-0b9d-4793-9ade-53607ad7acd7" providerId="ADAL" clId="{D0FF5A40-D23B-4F26-B419-8D45EAE8A02C}" dt="2026-09-30T19:32:11.130" v="1" actId="27636"/>
        <pc:sldMkLst>
          <pc:docMk/>
          <pc:sldMk cId="0" sldId="383"/>
        </pc:sldMkLst>
        <pc:spChg chg="mod">
          <ac:chgData name="Guarin, Diana" userId="5c522b28-0b9d-4793-9ade-53607ad7acd7" providerId="ADAL" clId="{D0FF5A40-D23B-4F26-B419-8D45EAE8A02C}" dt="2026-09-30T19:32:11.130" v="1" actId="27636"/>
          <ac:spMkLst>
            <pc:docMk/>
            <pc:sldMk cId="0" sldId="383"/>
            <ac:spMk id="1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3303F"/>
                </a:solidFill>
                <a:latin typeface="Calibri"/>
              </a:defRPr>
            </a:pPr>
            <a:r>
              <a:rPr lang="fr-FR" sz="1300" b="0" i="0" u="none" strike="noStrike" noProof="0" dirty="0">
                <a:solidFill>
                  <a:srgbClr val="23303F"/>
                </a:solidFill>
                <a:latin typeface="Calibri"/>
              </a:rPr>
              <a:t>Incidence du cancer du col de l'utérus, taux standardisé par âge pour 100 000 femmes, 2024</a:t>
            </a:r>
          </a:p>
        </c:rich>
      </c:tx>
      <c:overlay val="0"/>
    </c:title>
    <c:autoTitleDeleted val="0"/>
    <c:plotArea>
      <c:layout/>
      <c:barChart>
        <c:barDir val="bar"/>
        <c:grouping val="clustered"/>
        <c:varyColors val="0"/>
        <c:ser>
          <c:idx val="0"/>
          <c:order val="0"/>
          <c:tx>
            <c:strRef>
              <c:f>Sheet1!$B$1</c:f>
              <c:strCache>
                <c:ptCount val="1"/>
                <c:pt idx="0">
                  <c:v>ASR pour 100 000</c:v>
                </c:pt>
              </c:strCache>
            </c:strRef>
          </c:tx>
          <c:spPr>
            <a:solidFill>
              <a:srgbClr val="1F4E96"/>
            </a:solidFill>
            <a:effectLst/>
          </c:spPr>
          <c:invertIfNegative val="0"/>
          <c:dPt>
            <c:idx val="0"/>
            <c:invertIfNegative val="0"/>
            <c:bubble3D val="0"/>
            <c:extLst xmlns:c15="http://schemas.microsoft.com/office/drawing/2012/chart" xmlns:c16="http://schemas.microsoft.com/office/drawing/2014/chart">
              <c:ext xmlns:c16="http://schemas.microsoft.com/office/drawing/2014/chart" uri="{C3380CC4-5D6E-409C-BE32-E72D297353CC}">
                <c16:uniqueId val="{00000001-CE65-FC44-907E-B399A72D595A}"/>
              </c:ext>
            </c:extLst>
          </c:dPt>
          <c:dPt>
            <c:idx val="1"/>
            <c:invertIfNegative val="0"/>
            <c:bubble3D val="0"/>
            <c:spPr>
              <a:solidFill>
                <a:srgbClr val="8FA6C6"/>
              </a:solidFill>
              <a:effectLst/>
            </c:spPr>
            <c:extLst xmlns:c15="http://schemas.microsoft.com/office/drawing/2012/chart" xmlns:c16="http://schemas.microsoft.com/office/drawing/2014/chart">
              <c:ext xmlns:c16="http://schemas.microsoft.com/office/drawing/2014/chart" uri="{C3380CC4-5D6E-409C-BE32-E72D297353CC}">
                <c16:uniqueId val="{00000003-CE65-FC44-907E-B399A72D595A}"/>
              </c:ext>
            </c:extLst>
          </c:dPt>
          <c:dPt>
            <c:idx val="2"/>
            <c:invertIfNegative val="0"/>
            <c:bubble3D val="0"/>
            <c:spPr>
              <a:solidFill>
                <a:srgbClr val="9B5807"/>
              </a:solidFill>
              <a:effectLst/>
            </c:spPr>
            <c:extLst xmlns:c15="http://schemas.microsoft.com/office/drawing/2012/chart" xmlns:c16="http://schemas.microsoft.com/office/drawing/2014/chart">
              <c:ext xmlns:c16="http://schemas.microsoft.com/office/drawing/2014/chart" uri="{C3380CC4-5D6E-409C-BE32-E72D297353CC}">
                <c16:uniqueId val="{00000005-CE65-FC44-907E-B399A72D595A}"/>
              </c:ext>
            </c:extLst>
          </c:dPt>
          <c:dPt>
            <c:idx val="3"/>
            <c:invertIfNegative val="0"/>
            <c:bubble3D val="0"/>
            <c:spPr>
              <a:solidFill>
                <a:srgbClr val="5B7294"/>
              </a:solidFill>
              <a:effectLst/>
            </c:spPr>
            <c:extLst xmlns:c15="http://schemas.microsoft.com/office/drawing/2012/chart" xmlns:c16="http://schemas.microsoft.com/office/drawing/2014/chart">
              <c:ext xmlns:c16="http://schemas.microsoft.com/office/drawing/2014/chart" uri="{C3380CC4-5D6E-409C-BE32-E72D297353CC}">
                <c16:uniqueId val="{00000007-CE65-FC44-907E-B399A72D595A}"/>
              </c:ext>
            </c:extLst>
          </c:dPt>
          <c:dLbls>
            <c:numFmt formatCode="0.0" sourceLinked="0"/>
            <c:spPr>
              <a:noFill/>
              <a:ln>
                <a:noFill/>
              </a:ln>
              <a:effectLst/>
            </c:spPr>
            <c:txPr>
              <a:bodyPr/>
              <a:lstStyle/>
              <a:p>
                <a:pPr>
                  <a:defRPr sz="1400" b="0" i="0" u="none" strike="noStrike">
                    <a:solidFill>
                      <a:srgbClr val="23303F"/>
                    </a:solidFill>
                    <a:latin typeface="Calibri"/>
                  </a:defRPr>
                </a:pPr>
                <a:endParaRPr lang="en-US"/>
              </a:p>
            </c:txPr>
            <c:showLegendKey val="0"/>
            <c:showVal val="1"/>
            <c:showCatName val="0"/>
            <c:showSerName val="0"/>
            <c:showPercent val="0"/>
            <c:showBubbleSize val="0"/>
            <c:showLeaderLines val="0"/>
            <c:extLst xmlns:c15="http://schemas.microsoft.com/office/drawing/2012/chart" xmlns:c16="http://schemas.microsoft.com/office/drawing/2014/chart">
              <c:ext xmlns:c15="http://schemas.microsoft.com/office/drawing/2012/chart" uri="{CE6537A1-D6FC-4f65-9D91-7224C49458BB}">
                <c15:showLeaderLines val="0"/>
              </c:ext>
            </c:extLst>
          </c:dLbls>
          <c:cat>
            <c:strRef>
              <c:f>Sheet1!$A$2:$A$5</c:f>
              <c:strCache>
                <c:ptCount val="4"/>
                <c:pt idx="0">
                  <c:v>Monde</c:v>
                </c:pt>
                <c:pt idx="1">
                  <c:v>Afrique</c:v>
                </c:pt>
                <c:pt idx="2">
                  <c:v>Rwanda</c:v>
                </c:pt>
                <c:pt idx="3">
                  <c:v>Afrique de l'Est</c:v>
                </c:pt>
              </c:strCache>
            </c:strRef>
          </c:cat>
          <c:val>
            <c:numRef>
              <c:f>Sheet1!$B$2:$B$5</c:f>
              <c:numCache>
                <c:formatCode>General</c:formatCode>
                <c:ptCount val="4"/>
                <c:pt idx="0">
                  <c:v>12.4</c:v>
                </c:pt>
                <c:pt idx="1">
                  <c:v>17.2</c:v>
                </c:pt>
                <c:pt idx="2">
                  <c:v>30.6</c:v>
                </c:pt>
                <c:pt idx="3">
                  <c:v>33.799999999999997</c:v>
                </c:pt>
              </c:numCache>
            </c:numRef>
          </c:val>
          <c:extLst xmlns:c15="http://schemas.microsoft.com/office/drawing/2012/chart" xmlns:c16="http://schemas.microsoft.com/office/drawing/2014/chart">
            <c:ext xmlns:c16="http://schemas.microsoft.com/office/drawing/2014/chart" uri="{C3380CC4-5D6E-409C-BE32-E72D297353CC}">
              <c16:uniqueId val="{00000008-CE65-FC44-907E-B399A72D595A}"/>
            </c:ext>
          </c:extLst>
        </c:ser>
        <c:dLbls>
          <c:showLegendKey val="0"/>
          <c:showVal val="1"/>
          <c:showCatName val="0"/>
          <c:showSerName val="0"/>
          <c:showPercent val="0"/>
          <c:showBubbleSize val="0"/>
        </c:dLbls>
        <c:gapWidth val="150"/>
        <c:axId val="150521728"/>
        <c:axId val="150529920"/>
      </c:barChart>
      <c:catAx>
        <c:axId val="150521728"/>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3303F"/>
                </a:solidFill>
                <a:latin typeface="Calibri"/>
              </a:defRPr>
            </a:pPr>
            <a:endParaRPr lang="en-US"/>
          </a:p>
        </c:txPr>
        <c:crossAx val="150529920"/>
        <c:crosses val="autoZero"/>
        <c:auto val="1"/>
        <c:lblAlgn val="ctr"/>
        <c:lblOffset val="100"/>
        <c:noMultiLvlLbl val="1"/>
      </c:catAx>
      <c:valAx>
        <c:axId val="150529920"/>
        <c:scaling>
          <c:orientation val="minMax"/>
          <c:max val="40"/>
          <c:min val="0"/>
        </c:scaling>
        <c:delete val="0"/>
        <c:axPos val="b"/>
        <c:majorGridlines>
          <c:spPr>
            <a:ln w="12700" cap="flat">
              <a:solidFill>
                <a:srgbClr val="E7EB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A727F"/>
                </a:solidFill>
                <a:latin typeface="Calibri"/>
              </a:defRPr>
            </a:pPr>
            <a:endParaRPr lang="en-US"/>
          </a:p>
        </c:txPr>
        <c:crossAx val="15052172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3303F"/>
                </a:solidFill>
                <a:latin typeface="Calibri"/>
              </a:defRPr>
            </a:pPr>
            <a:r>
              <a:rPr lang="fr-FR" sz="1300" b="0" i="0" u="none" strike="noStrike" noProof="0" dirty="0">
                <a:solidFill>
                  <a:srgbClr val="23303F"/>
                </a:solidFill>
                <a:latin typeface="Calibri"/>
              </a:rPr>
              <a:t>Cinq cancers les plus fréquents chez les femmes au Rwanda, nouveaux cas estimés, 2024</a:t>
            </a:r>
          </a:p>
        </c:rich>
      </c:tx>
      <c:overlay val="0"/>
    </c:title>
    <c:autoTitleDeleted val="0"/>
    <c:plotArea>
      <c:layout/>
      <c:barChart>
        <c:barDir val="bar"/>
        <c:grouping val="clustered"/>
        <c:varyColors val="0"/>
        <c:ser>
          <c:idx val="0"/>
          <c:order val="0"/>
          <c:tx>
            <c:strRef>
              <c:f>Sheet1!$B$1</c:f>
              <c:strCache>
                <c:ptCount val="1"/>
                <c:pt idx="0">
                  <c:v>Nombre estimé de nouveaux cas</c:v>
                </c:pt>
              </c:strCache>
            </c:strRef>
          </c:tx>
          <c:spPr>
            <a:solidFill>
              <a:srgbClr val="8FA6C6"/>
            </a:solidFill>
            <a:effectLst/>
          </c:spPr>
          <c:invertIfNegative val="0"/>
          <c:dPt>
            <c:idx val="0"/>
            <c:invertIfNegative val="0"/>
            <c:bubble3D val="0"/>
            <c:extLst xmlns:c15="http://schemas.microsoft.com/office/drawing/2012/chart" xmlns:c16="http://schemas.microsoft.com/office/drawing/2014/chart">
              <c:ext xmlns:c16="http://schemas.microsoft.com/office/drawing/2014/chart" uri="{C3380CC4-5D6E-409C-BE32-E72D297353CC}">
                <c16:uniqueId val="{00000001-C46A-A94E-B2FC-BF2234E2D38C}"/>
              </c:ext>
            </c:extLst>
          </c:dPt>
          <c:dPt>
            <c:idx val="1"/>
            <c:invertIfNegative val="0"/>
            <c:bubble3D val="0"/>
            <c:extLst xmlns:c15="http://schemas.microsoft.com/office/drawing/2012/chart" xmlns:c16="http://schemas.microsoft.com/office/drawing/2014/chart">
              <c:ext xmlns:c16="http://schemas.microsoft.com/office/drawing/2014/chart" uri="{C3380CC4-5D6E-409C-BE32-E72D297353CC}">
                <c16:uniqueId val="{00000003-C46A-A94E-B2FC-BF2234E2D38C}"/>
              </c:ext>
            </c:extLst>
          </c:dPt>
          <c:dPt>
            <c:idx val="2"/>
            <c:invertIfNegative val="0"/>
            <c:bubble3D val="0"/>
            <c:extLst xmlns:c15="http://schemas.microsoft.com/office/drawing/2012/chart" xmlns:c16="http://schemas.microsoft.com/office/drawing/2014/chart">
              <c:ext xmlns:c16="http://schemas.microsoft.com/office/drawing/2014/chart" uri="{C3380CC4-5D6E-409C-BE32-E72D297353CC}">
                <c16:uniqueId val="{00000005-C46A-A94E-B2FC-BF2234E2D38C}"/>
              </c:ext>
            </c:extLst>
          </c:dPt>
          <c:dPt>
            <c:idx val="3"/>
            <c:invertIfNegative val="0"/>
            <c:bubble3D val="0"/>
            <c:spPr>
              <a:solidFill>
                <a:srgbClr val="9B5807"/>
              </a:solidFill>
              <a:effectLst/>
            </c:spPr>
            <c:extLst xmlns:c15="http://schemas.microsoft.com/office/drawing/2012/chart" xmlns:c16="http://schemas.microsoft.com/office/drawing/2014/chart">
              <c:ext xmlns:c16="http://schemas.microsoft.com/office/drawing/2014/chart" uri="{C3380CC4-5D6E-409C-BE32-E72D297353CC}">
                <c16:uniqueId val="{00000007-C46A-A94E-B2FC-BF2234E2D38C}"/>
              </c:ext>
            </c:extLst>
          </c:dPt>
          <c:dPt>
            <c:idx val="4"/>
            <c:invertIfNegative val="0"/>
            <c:bubble3D val="0"/>
            <c:spPr>
              <a:solidFill>
                <a:srgbClr val="5B7294"/>
              </a:solidFill>
              <a:effectLst/>
            </c:spPr>
            <c:extLst xmlns:c15="http://schemas.microsoft.com/office/drawing/2012/chart" xmlns:c16="http://schemas.microsoft.com/office/drawing/2014/chart">
              <c:ext xmlns:c16="http://schemas.microsoft.com/office/drawing/2014/chart" uri="{C3380CC4-5D6E-409C-BE32-E72D297353CC}">
                <c16:uniqueId val="{00000009-C46A-A94E-B2FC-BF2234E2D38C}"/>
              </c:ext>
            </c:extLst>
          </c:dPt>
          <c:dLbls>
            <c:numFmt formatCode="#,##0" sourceLinked="0"/>
            <c:spPr>
              <a:noFill/>
              <a:ln>
                <a:noFill/>
              </a:ln>
              <a:effectLst/>
            </c:spPr>
            <c:txPr>
              <a:bodyPr/>
              <a:lstStyle/>
              <a:p>
                <a:pPr>
                  <a:defRPr sz="1400" b="0" i="0" u="none" strike="noStrike">
                    <a:solidFill>
                      <a:srgbClr val="23303F"/>
                    </a:solidFill>
                    <a:latin typeface="Calibri"/>
                  </a:defRPr>
                </a:pPr>
                <a:endParaRPr lang="en-US"/>
              </a:p>
            </c:txPr>
            <c:showLegendKey val="0"/>
            <c:showVal val="1"/>
            <c:showCatName val="0"/>
            <c:showSerName val="0"/>
            <c:showPercent val="0"/>
            <c:showBubbleSize val="0"/>
            <c:showLeaderLines val="0"/>
            <c:extLst xmlns:c15="http://schemas.microsoft.com/office/drawing/2012/chart" xmlns:c16="http://schemas.microsoft.com/office/drawing/2014/chart">
              <c:ext xmlns:c15="http://schemas.microsoft.com/office/drawing/2012/chart" uri="{CE6537A1-D6FC-4f65-9D91-7224C49458BB}">
                <c15:showLeaderLines val="0"/>
              </c:ext>
            </c:extLst>
          </c:dLbls>
          <c:cat>
            <c:strRef>
              <c:f>Sheet1!$A$2:$A$6</c:f>
              <c:strCache>
                <c:ptCount val="5"/>
                <c:pt idx="0">
                  <c:v>Foie</c:v>
                </c:pt>
                <c:pt idx="1">
                  <c:v>Estomac</c:v>
                </c:pt>
                <c:pt idx="2">
                  <c:v>Colorectum</c:v>
                </c:pt>
                <c:pt idx="3">
                  <c:v>Col de l'utérus</c:v>
                </c:pt>
                <c:pt idx="4">
                  <c:v>Sein</c:v>
                </c:pt>
              </c:strCache>
            </c:strRef>
          </c:cat>
          <c:val>
            <c:numRef>
              <c:f>Sheet1!$B$2:$B$6</c:f>
              <c:numCache>
                <c:formatCode>General</c:formatCode>
                <c:ptCount val="5"/>
                <c:pt idx="0">
                  <c:v>362</c:v>
                </c:pt>
                <c:pt idx="1">
                  <c:v>502</c:v>
                </c:pt>
                <c:pt idx="2">
                  <c:v>503</c:v>
                </c:pt>
                <c:pt idx="3">
                  <c:v>1582</c:v>
                </c:pt>
                <c:pt idx="4">
                  <c:v>1684</c:v>
                </c:pt>
              </c:numCache>
            </c:numRef>
          </c:val>
          <c:extLst xmlns:c15="http://schemas.microsoft.com/office/drawing/2012/chart" xmlns:c16="http://schemas.microsoft.com/office/drawing/2014/chart">
            <c:ext xmlns:c16="http://schemas.microsoft.com/office/drawing/2014/chart" uri="{C3380CC4-5D6E-409C-BE32-E72D297353CC}">
              <c16:uniqueId val="{0000000A-C46A-A94E-B2FC-BF2234E2D38C}"/>
            </c:ext>
          </c:extLst>
        </c:ser>
        <c:dLbls>
          <c:showLegendKey val="0"/>
          <c:showVal val="1"/>
          <c:showCatName val="0"/>
          <c:showSerName val="0"/>
          <c:showPercent val="0"/>
          <c:showBubbleSize val="0"/>
        </c:dLbls>
        <c:gapWidth val="150"/>
        <c:axId val="181310208"/>
        <c:axId val="181326208"/>
      </c:barChart>
      <c:catAx>
        <c:axId val="181310208"/>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3303F"/>
                </a:solidFill>
                <a:latin typeface="Calibri"/>
              </a:defRPr>
            </a:pPr>
            <a:endParaRPr lang="en-US"/>
          </a:p>
        </c:txPr>
        <c:crossAx val="181326208"/>
        <c:crosses val="autoZero"/>
        <c:auto val="1"/>
        <c:lblAlgn val="ctr"/>
        <c:lblOffset val="100"/>
        <c:noMultiLvlLbl val="1"/>
      </c:catAx>
      <c:valAx>
        <c:axId val="181326208"/>
        <c:scaling>
          <c:orientation val="minMax"/>
          <c:max val="1900"/>
          <c:min val="0"/>
        </c:scaling>
        <c:delete val="0"/>
        <c:axPos val="b"/>
        <c:majorGridlines>
          <c:spPr>
            <a:ln w="12700" cap="flat">
              <a:solidFill>
                <a:srgbClr val="E7EB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A727F"/>
                </a:solidFill>
                <a:latin typeface="Calibri"/>
              </a:defRPr>
            </a:pPr>
            <a:endParaRPr lang="en-US"/>
          </a:p>
        </c:txPr>
        <c:crossAx val="18131020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3303F"/>
                </a:solidFill>
                <a:latin typeface="Calibri"/>
              </a:defRPr>
            </a:pPr>
            <a:r>
              <a:rPr lang="fr-FR" sz="1300" b="1" i="0" u="none" strike="noStrike" noProof="0" dirty="0">
                <a:solidFill>
                  <a:srgbClr val="23303F"/>
                </a:solidFill>
                <a:latin typeface="Calibri"/>
              </a:rPr>
              <a:t>Tous les cancers </a:t>
            </a:r>
            <a:r>
              <a:rPr lang="fr-FR" sz="1300" b="0" i="0" u="none" strike="noStrike" noProof="0" dirty="0">
                <a:solidFill>
                  <a:srgbClr val="23303F"/>
                </a:solidFill>
                <a:latin typeface="Calibri"/>
              </a:rPr>
              <a:t>au Rwanda : nouveaux cas estimés et projetés par an</a:t>
            </a:r>
          </a:p>
        </c:rich>
      </c:tx>
      <c:overlay val="0"/>
    </c:title>
    <c:autoTitleDeleted val="0"/>
    <c:plotArea>
      <c:layout/>
      <c:barChart>
        <c:barDir val="col"/>
        <c:grouping val="clustered"/>
        <c:varyColors val="0"/>
        <c:ser>
          <c:idx val="0"/>
          <c:order val="0"/>
          <c:tx>
            <c:strRef>
              <c:f>Sheet1!$B$1</c:f>
              <c:strCache>
                <c:ptCount val="1"/>
                <c:pt idx="0">
                  <c:v>Nouveaux cas de cancer par an</c:v>
                </c:pt>
              </c:strCache>
            </c:strRef>
          </c:tx>
          <c:spPr>
            <a:solidFill>
              <a:srgbClr val="5B7294"/>
            </a:solidFill>
            <a:effectLst/>
          </c:spPr>
          <c:invertIfNegative val="0"/>
          <c:dPt>
            <c:idx val="0"/>
            <c:invertIfNegative val="0"/>
            <c:bubble3D val="0"/>
            <c:extLst xmlns:c15="http://schemas.microsoft.com/office/drawing/2012/chart" xmlns:c16="http://schemas.microsoft.com/office/drawing/2014/chart">
              <c:ext xmlns:c16="http://schemas.microsoft.com/office/drawing/2014/chart" uri="{C3380CC4-5D6E-409C-BE32-E72D297353CC}">
                <c16:uniqueId val="{00000001-7B50-384A-8702-51F2879E6527}"/>
              </c:ext>
            </c:extLst>
          </c:dPt>
          <c:dPt>
            <c:idx val="1"/>
            <c:invertIfNegative val="0"/>
            <c:bubble3D val="0"/>
            <c:spPr>
              <a:solidFill>
                <a:srgbClr val="1F4E96"/>
              </a:solidFill>
              <a:effectLst/>
            </c:spPr>
            <c:extLst xmlns:c15="http://schemas.microsoft.com/office/drawing/2012/chart" xmlns:c16="http://schemas.microsoft.com/office/drawing/2014/chart">
              <c:ext xmlns:c16="http://schemas.microsoft.com/office/drawing/2014/chart" uri="{C3380CC4-5D6E-409C-BE32-E72D297353CC}">
                <c16:uniqueId val="{00000003-7B50-384A-8702-51F2879E6527}"/>
              </c:ext>
            </c:extLst>
          </c:dPt>
          <c:dLbls>
            <c:numFmt formatCode="#,##0" sourceLinked="0"/>
            <c:spPr>
              <a:noFill/>
              <a:ln>
                <a:noFill/>
              </a:ln>
              <a:effectLst/>
            </c:spPr>
            <c:txPr>
              <a:bodyPr/>
              <a:lstStyle/>
              <a:p>
                <a:pPr>
                  <a:defRPr sz="1400" b="0" i="0" u="none" strike="noStrike">
                    <a:solidFill>
                      <a:srgbClr val="23303F"/>
                    </a:solidFill>
                    <a:latin typeface="Calibri"/>
                  </a:defRPr>
                </a:pPr>
                <a:endParaRPr lang="en-US"/>
              </a:p>
            </c:txPr>
            <c:showLegendKey val="0"/>
            <c:showVal val="1"/>
            <c:showCatName val="0"/>
            <c:showSerName val="0"/>
            <c:showPercent val="0"/>
            <c:showBubbleSize val="0"/>
            <c:showLeaderLines val="0"/>
            <c:extLst xmlns:c15="http://schemas.microsoft.com/office/drawing/2012/chart" xmlns:c16="http://schemas.microsoft.com/office/drawing/2014/chart">
              <c:ext xmlns:c15="http://schemas.microsoft.com/office/drawing/2012/chart" uri="{CE6537A1-D6FC-4f65-9D91-7224C49458BB}">
                <c15:showLeaderLines val="0"/>
              </c:ext>
            </c:extLst>
          </c:dLbls>
          <c:cat>
            <c:strRef>
              <c:f>Sheet1!$A$2:$A$3</c:f>
              <c:strCache>
                <c:ptCount val="2"/>
                <c:pt idx="0">
                  <c:v>Estimation 2022</c:v>
                </c:pt>
                <c:pt idx="1">
                  <c:v>Projection 2050</c:v>
                </c:pt>
              </c:strCache>
            </c:strRef>
          </c:cat>
          <c:val>
            <c:numRef>
              <c:f>Sheet1!$B$2:$B$3</c:f>
              <c:numCache>
                <c:formatCode>General</c:formatCode>
                <c:ptCount val="2"/>
                <c:pt idx="0">
                  <c:v>7100</c:v>
                </c:pt>
                <c:pt idx="1">
                  <c:v>17500</c:v>
                </c:pt>
              </c:numCache>
            </c:numRef>
          </c:val>
          <c:extLst xmlns:c15="http://schemas.microsoft.com/office/drawing/2012/chart" xmlns:c16="http://schemas.microsoft.com/office/drawing/2014/chart">
            <c:ext xmlns:c16="http://schemas.microsoft.com/office/drawing/2014/chart" uri="{C3380CC4-5D6E-409C-BE32-E72D297353CC}">
              <c16:uniqueId val="{00000004-7B50-384A-8702-51F2879E6527}"/>
            </c:ext>
          </c:extLst>
        </c:ser>
        <c:dLbls>
          <c:showLegendKey val="0"/>
          <c:showVal val="1"/>
          <c:showCatName val="0"/>
          <c:showSerName val="0"/>
          <c:showPercent val="0"/>
          <c:showBubbleSize val="0"/>
        </c:dLbls>
        <c:gapWidth val="150"/>
        <c:axId val="189741696"/>
        <c:axId val="189749120"/>
      </c:barChart>
      <c:catAx>
        <c:axId val="18974169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3303F"/>
                </a:solidFill>
                <a:latin typeface="Calibri"/>
              </a:defRPr>
            </a:pPr>
            <a:endParaRPr lang="en-US"/>
          </a:p>
        </c:txPr>
        <c:crossAx val="189749120"/>
        <c:crosses val="autoZero"/>
        <c:auto val="1"/>
        <c:lblAlgn val="ctr"/>
        <c:lblOffset val="100"/>
        <c:noMultiLvlLbl val="1"/>
      </c:catAx>
      <c:valAx>
        <c:axId val="189749120"/>
        <c:scaling>
          <c:orientation val="minMax"/>
          <c:max val="20000"/>
          <c:min val="0"/>
        </c:scaling>
        <c:delete val="0"/>
        <c:axPos val="l"/>
        <c:majorGridlines>
          <c:spPr>
            <a:ln w="12700" cap="flat">
              <a:solidFill>
                <a:srgbClr val="E7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A727F"/>
                </a:solidFill>
                <a:latin typeface="Calibri"/>
              </a:defRPr>
            </a:pPr>
            <a:endParaRPr lang="en-US"/>
          </a:p>
        </c:txPr>
        <c:crossAx val="18974169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308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E39E-6AA3-1158-049E-351601423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E3205-6684-27D4-EE3E-3831B914DA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BFD40-0FEA-847A-7387-57DDE44CA5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1401AE-65E3-A891-BD17-F276D02D8B09}"/>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9670317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CBF5C-76D6-96CC-AF38-078581594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E689C-5FA0-F51B-2AAF-99D2AC3C8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BCA183-B706-EBB0-ED06-DC2CB0EDFA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C36331-F758-6739-0574-B5D3F9EE53DA}"/>
              </a:ext>
            </a:extLst>
          </p:cNvPr>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28879576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5F044-9EA3-18B2-FD68-88ADBE60D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79529-D105-779A-5230-F7D9DCD5E6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30C01-7932-67B6-498B-BA779955C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B7F436-7FE2-6E8C-0A0C-621233491E54}"/>
              </a:ext>
            </a:extLst>
          </p:cNvPr>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236536538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40.jpg"/><Relationship Id="rId4" Type="http://schemas.openxmlformats.org/officeDocument/2006/relationships/image" Target="../media/image39.jp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9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61.jpeg"/><Relationship Id="rId4" Type="http://schemas.openxmlformats.org/officeDocument/2006/relationships/image" Target="../media/image60.png"/></Relationships>
</file>

<file path=ppt/slides/_rels/slide11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90.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109.xml"/><Relationship Id="rId1" Type="http://schemas.openxmlformats.org/officeDocument/2006/relationships/slideLayout" Target="../slideLayouts/slideLayout1.xml"/><Relationship Id="rId5" Type="http://schemas.openxmlformats.org/officeDocument/2006/relationships/image" Target="../media/image73.jpeg"/><Relationship Id="rId4" Type="http://schemas.openxmlformats.org/officeDocument/2006/relationships/image" Target="../media/image72.jpeg"/></Relationships>
</file>

<file path=ppt/slides/_rels/slide1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0.xml"/><Relationship Id="rId1" Type="http://schemas.openxmlformats.org/officeDocument/2006/relationships/slideLayout" Target="../slideLayouts/slideLayout1.xml"/><Relationship Id="rId5" Type="http://schemas.openxmlformats.org/officeDocument/2006/relationships/image" Target="../media/image76.jpeg"/><Relationship Id="rId4" Type="http://schemas.openxmlformats.org/officeDocument/2006/relationships/image" Target="../media/image75.png"/></Relationships>
</file>

<file path=ppt/slides/_rels/slide142.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11.xml"/><Relationship Id="rId1" Type="http://schemas.openxmlformats.org/officeDocument/2006/relationships/slideLayout" Target="../slideLayouts/slideLayout1.xml"/><Relationship Id="rId5" Type="http://schemas.openxmlformats.org/officeDocument/2006/relationships/image" Target="../media/image79.jpeg"/><Relationship Id="rId4" Type="http://schemas.openxmlformats.org/officeDocument/2006/relationships/image" Target="../media/image78.jpeg"/></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114.xml"/><Relationship Id="rId1" Type="http://schemas.openxmlformats.org/officeDocument/2006/relationships/slideLayout" Target="../slideLayouts/slideLayout1.xml"/><Relationship Id="rId6" Type="http://schemas.openxmlformats.org/officeDocument/2006/relationships/image" Target="../media/image83.jpg"/><Relationship Id="rId5" Type="http://schemas.openxmlformats.org/officeDocument/2006/relationships/image" Target="../media/image82.jpg"/><Relationship Id="rId4" Type="http://schemas.openxmlformats.org/officeDocument/2006/relationships/image" Target="../media/image81.jpg"/></Relationships>
</file>

<file path=ppt/slides/_rels/slide146.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18.xml"/><Relationship Id="rId1" Type="http://schemas.openxmlformats.org/officeDocument/2006/relationships/slideLayout" Target="../slideLayouts/slideLayout1.xml"/><Relationship Id="rId4" Type="http://schemas.openxmlformats.org/officeDocument/2006/relationships/image" Target="../media/image88.png"/></Relationships>
</file>

<file path=ppt/slides/_rels/slide150.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19.xml"/><Relationship Id="rId1" Type="http://schemas.openxmlformats.org/officeDocument/2006/relationships/slideLayout" Target="../slideLayouts/slideLayout1.xml"/><Relationship Id="rId5" Type="http://schemas.openxmlformats.org/officeDocument/2006/relationships/image" Target="../media/image91.jpeg"/><Relationship Id="rId4" Type="http://schemas.openxmlformats.org/officeDocument/2006/relationships/image" Target="../media/image90.jpeg"/></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30.xml"/><Relationship Id="rId1" Type="http://schemas.openxmlformats.org/officeDocument/2006/relationships/slideLayout" Target="../slideLayouts/slideLayout1.xml"/><Relationship Id="rId5" Type="http://schemas.openxmlformats.org/officeDocument/2006/relationships/image" Target="../media/image94.png"/><Relationship Id="rId4" Type="http://schemas.openxmlformats.org/officeDocument/2006/relationships/image" Target="../media/image93.png"/></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32.xml"/><Relationship Id="rId1" Type="http://schemas.openxmlformats.org/officeDocument/2006/relationships/slideLayout" Target="../slideLayouts/slideLayout1.xml"/><Relationship Id="rId5" Type="http://schemas.openxmlformats.org/officeDocument/2006/relationships/image" Target="../media/image97.png"/><Relationship Id="rId4" Type="http://schemas.openxmlformats.org/officeDocument/2006/relationships/image" Target="../media/image96.png"/></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135.xml"/><Relationship Id="rId1" Type="http://schemas.openxmlformats.org/officeDocument/2006/relationships/slideLayout" Target="../slideLayouts/slideLayout1.xml"/><Relationship Id="rId5" Type="http://schemas.openxmlformats.org/officeDocument/2006/relationships/image" Target="../media/image100.jpg"/><Relationship Id="rId4" Type="http://schemas.openxmlformats.org/officeDocument/2006/relationships/image" Target="../media/image99.png"/></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38.xml"/><Relationship Id="rId1" Type="http://schemas.openxmlformats.org/officeDocument/2006/relationships/slideLayout" Target="../slideLayouts/slideLayout1.xml"/><Relationship Id="rId5" Type="http://schemas.openxmlformats.org/officeDocument/2006/relationships/image" Target="../media/image103.png"/><Relationship Id="rId4" Type="http://schemas.openxmlformats.org/officeDocument/2006/relationships/image" Target="../media/image102.png"/></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F5C"/>
        </a:solidFill>
        <a:effectLst/>
      </p:bgPr>
    </p:bg>
    <p:spTree>
      <p:nvGrpSpPr>
        <p:cNvPr id="1" name=""/>
        <p:cNvGrpSpPr/>
        <p:nvPr/>
      </p:nvGrpSpPr>
      <p:grpSpPr>
        <a:xfrm>
          <a:off x="0" y="0"/>
          <a:ext cx="0" cy="0"/>
          <a:chOff x="0" y="0"/>
          <a:chExt cx="0" cy="0"/>
        </a:xfrm>
      </p:grpSpPr>
      <p:sp>
        <p:nvSpPr>
          <p:cNvPr id="2" name="Shape 0"/>
          <p:cNvSpPr/>
          <p:nvPr/>
        </p:nvSpPr>
        <p:spPr>
          <a:xfrm>
            <a:off x="8321040" y="-1371600"/>
            <a:ext cx="6035040" cy="6035040"/>
          </a:xfrm>
          <a:prstGeom prst="ellipse">
            <a:avLst/>
          </a:prstGeom>
          <a:solidFill>
            <a:srgbClr val="12376A"/>
          </a:solidFill>
          <a:ln w="12700">
            <a:solidFill>
              <a:srgbClr val="12376A"/>
            </a:solidFill>
            <a:prstDash val="solid"/>
          </a:ln>
        </p:spPr>
        <p:txBody>
          <a:bodyPr/>
          <a:lstStyle/>
          <a:p>
            <a:endParaRPr lang="fr-FR" noProof="0" dirty="0"/>
          </a:p>
        </p:txBody>
      </p:sp>
      <p:sp>
        <p:nvSpPr>
          <p:cNvPr id="3" name="Shape 1"/>
          <p:cNvSpPr/>
          <p:nvPr/>
        </p:nvSpPr>
        <p:spPr>
          <a:xfrm>
            <a:off x="9692640" y="3108960"/>
            <a:ext cx="3840480" cy="3840480"/>
          </a:xfrm>
          <a:prstGeom prst="ellipse">
            <a:avLst/>
          </a:prstGeom>
          <a:solidFill>
            <a:srgbClr val="16406F"/>
          </a:solidFill>
          <a:ln w="12700">
            <a:solidFill>
              <a:srgbClr val="16406F"/>
            </a:solidFill>
            <a:prstDash val="solid"/>
          </a:ln>
        </p:spPr>
        <p:txBody>
          <a:bodyPr/>
          <a:lstStyle/>
          <a:p>
            <a:endParaRPr lang="fr-FR" noProof="0" dirty="0"/>
          </a:p>
        </p:txBody>
      </p:sp>
      <p:sp>
        <p:nvSpPr>
          <p:cNvPr id="4" name="Text 2"/>
          <p:cNvSpPr txBox="1"/>
          <p:nvPr/>
        </p:nvSpPr>
        <p:spPr>
          <a:xfrm>
            <a:off x="566928" y="1600200"/>
            <a:ext cx="8229600" cy="365760"/>
          </a:xfrm>
          <a:prstGeom prst="rect">
            <a:avLst/>
          </a:prstGeom>
          <a:noFill/>
          <a:ln/>
        </p:spPr>
        <p:txBody>
          <a:bodyPr wrap="square" lIns="0" tIns="0" rIns="0" bIns="0" rtlCol="0" anchor="ctr"/>
          <a:lstStyle/>
          <a:p>
            <a:r>
              <a:rPr lang="fr-FR" sz="1400" b="1" kern="0" spc="200" dirty="0">
                <a:solidFill>
                  <a:srgbClr val="9FB8DA"/>
                </a:solidFill>
                <a:latin typeface="Calibri" pitchFamily="34" charset="0"/>
                <a:ea typeface="Calibri" pitchFamily="34" charset="-122"/>
                <a:cs typeface="Calibri" pitchFamily="34" charset="-120"/>
              </a:rPr>
              <a:t>MODULE POUR LES PROFESSIONNELS DE SANTÉ DE PREMIÈRE LIGNE</a:t>
            </a:r>
            <a:endParaRPr lang="fr-FR" sz="1400" noProof="0" dirty="0">
              <a:solidFill>
                <a:srgbClr val="23303F"/>
              </a:solidFill>
            </a:endParaRPr>
          </a:p>
        </p:txBody>
      </p:sp>
      <p:sp>
        <p:nvSpPr>
          <p:cNvPr id="5" name="Text 3"/>
          <p:cNvSpPr txBox="1"/>
          <p:nvPr/>
        </p:nvSpPr>
        <p:spPr>
          <a:xfrm>
            <a:off x="566928" y="2057400"/>
            <a:ext cx="8595360" cy="1234440"/>
          </a:xfrm>
          <a:prstGeom prst="rect">
            <a:avLst/>
          </a:prstGeom>
          <a:noFill/>
          <a:ln/>
        </p:spPr>
        <p:txBody>
          <a:bodyPr wrap="square" lIns="0" tIns="0" rIns="0" bIns="0" rtlCol="0" anchor="ctr"/>
          <a:lstStyle/>
          <a:p>
            <a:pPr marL="0" indent="0">
              <a:buNone/>
            </a:pPr>
            <a:r>
              <a:rPr lang="fr-FR" sz="6000" b="1" noProof="0" dirty="0">
                <a:solidFill>
                  <a:srgbClr val="FFFFFF"/>
                </a:solidFill>
                <a:latin typeface="Cambria" pitchFamily="34" charset="0"/>
                <a:ea typeface="Cambria" pitchFamily="34" charset="-122"/>
                <a:cs typeface="Cambria" pitchFamily="34" charset="-120"/>
              </a:rPr>
              <a:t>Cancer du col de l'utérus</a:t>
            </a:r>
            <a:endParaRPr lang="fr-FR" sz="6000" noProof="0" dirty="0"/>
          </a:p>
        </p:txBody>
      </p:sp>
      <p:sp>
        <p:nvSpPr>
          <p:cNvPr id="6" name="Text 4"/>
          <p:cNvSpPr txBox="1"/>
          <p:nvPr/>
        </p:nvSpPr>
        <p:spPr>
          <a:xfrm>
            <a:off x="566928" y="3474720"/>
            <a:ext cx="7680960" cy="548640"/>
          </a:xfrm>
          <a:prstGeom prst="rect">
            <a:avLst/>
          </a:prstGeom>
          <a:noFill/>
          <a:ln/>
        </p:spPr>
        <p:txBody>
          <a:bodyPr wrap="square" lIns="0" tIns="0" rIns="0" bIns="0" rtlCol="0" anchor="t"/>
          <a:lstStyle/>
          <a:p>
            <a:r>
              <a:rPr lang="fr-FR" sz="2000" noProof="0" dirty="0">
                <a:solidFill>
                  <a:srgbClr val="C6D5EA"/>
                </a:solidFill>
                <a:latin typeface="Calibri" pitchFamily="34" charset="0"/>
                <a:ea typeface="Calibri" pitchFamily="34" charset="-122"/>
                <a:cs typeface="Calibri" pitchFamily="34" charset="-120"/>
              </a:rPr>
              <a:t>Prévenir. Dépister. </a:t>
            </a:r>
            <a:r>
              <a:rPr lang="fr-FR" sz="2000" dirty="0">
                <a:solidFill>
                  <a:srgbClr val="C6D5EA"/>
                </a:solidFill>
                <a:latin typeface="Calibri" pitchFamily="34" charset="0"/>
                <a:ea typeface="Calibri" pitchFamily="34" charset="-122"/>
                <a:cs typeface="Calibri" pitchFamily="34" charset="-120"/>
              </a:rPr>
              <a:t>Traiter les lésions précancéreuses</a:t>
            </a:r>
            <a:r>
              <a:rPr lang="fr-FR" sz="2000" noProof="0" dirty="0">
                <a:solidFill>
                  <a:srgbClr val="C6D5EA"/>
                </a:solidFill>
                <a:latin typeface="Calibri" pitchFamily="34" charset="0"/>
                <a:ea typeface="Calibri" pitchFamily="34" charset="-122"/>
                <a:cs typeface="Calibri" pitchFamily="34" charset="-120"/>
              </a:rPr>
              <a:t>. Référer. Soutenir.</a:t>
            </a:r>
            <a:endParaRPr lang="fr-FR" sz="2000" noProof="0" dirty="0"/>
          </a:p>
        </p:txBody>
      </p:sp>
      <p:sp>
        <p:nvSpPr>
          <p:cNvPr id="7" name="Text 5"/>
          <p:cNvSpPr txBox="1"/>
          <p:nvPr/>
        </p:nvSpPr>
        <p:spPr>
          <a:xfrm>
            <a:off x="566928" y="4846320"/>
            <a:ext cx="2743200" cy="365760"/>
          </a:xfrm>
          <a:prstGeom prst="rect">
            <a:avLst/>
          </a:prstGeom>
          <a:noFill/>
          <a:ln/>
        </p:spPr>
        <p:txBody>
          <a:bodyPr wrap="square" lIns="0" tIns="0" rIns="0" bIns="0" rtlCol="0" anchor="ctr"/>
          <a:lstStyle/>
          <a:p>
            <a:pPr marL="0" indent="0">
              <a:buNone/>
            </a:pPr>
            <a:r>
              <a:rPr lang="fr-FR" sz="1800" b="1" noProof="0" dirty="0">
                <a:solidFill>
                  <a:srgbClr val="9FB8DA"/>
                </a:solidFill>
                <a:latin typeface="Calibri" pitchFamily="34" charset="0"/>
                <a:ea typeface="Calibri" pitchFamily="34" charset="-122"/>
                <a:cs typeface="Calibri" pitchFamily="34" charset="-120"/>
              </a:rPr>
              <a:t>Français</a:t>
            </a:r>
            <a:endParaRPr lang="fr-FR" sz="1800" noProof="0" dirty="0"/>
          </a:p>
        </p:txBody>
      </p:sp>
      <p:sp>
        <p:nvSpPr>
          <p:cNvPr id="8" name="Text 6"/>
          <p:cNvSpPr txBox="1"/>
          <p:nvPr/>
        </p:nvSpPr>
        <p:spPr>
          <a:xfrm>
            <a:off x="566928" y="5230368"/>
            <a:ext cx="5486400" cy="365760"/>
          </a:xfrm>
          <a:prstGeom prst="rect">
            <a:avLst/>
          </a:prstGeom>
          <a:noFill/>
          <a:ln/>
        </p:spPr>
        <p:txBody>
          <a:bodyPr wrap="square" lIns="0" tIns="0" rIns="0" bIns="0" rtlCol="0" anchor="ctr"/>
          <a:lstStyle/>
          <a:p>
            <a:pPr marL="0" indent="0">
              <a:buNone/>
            </a:pPr>
            <a:r>
              <a:rPr lang="fr-FR" sz="1800" noProof="0" dirty="0">
                <a:solidFill>
                  <a:srgbClr val="C6D5EA"/>
                </a:solidFill>
                <a:latin typeface="Calibri" pitchFamily="34" charset="0"/>
                <a:ea typeface="Calibri" pitchFamily="34" charset="-122"/>
                <a:cs typeface="Calibri" pitchFamily="34" charset="-120"/>
              </a:rPr>
              <a:t>Centre biomédical du Rwanda</a:t>
            </a:r>
            <a:endParaRPr lang="fr-FR" sz="18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PROGRAMME DE MODULES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Ce que ce module couvre</a:t>
            </a:r>
            <a:endParaRPr lang="fr-FR"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Le cancer du col de l'utérus est en grande partie évitable. Ce module suit la voie de prévention d'un bout à l'autre.</a:t>
            </a:r>
            <a:endParaRPr lang="fr-FR" sz="1800" noProof="0" dirty="0"/>
          </a:p>
        </p:txBody>
      </p:sp>
      <p:sp>
        <p:nvSpPr>
          <p:cNvPr id="7" name="Shape 5"/>
          <p:cNvSpPr/>
          <p:nvPr/>
        </p:nvSpPr>
        <p:spPr>
          <a:xfrm>
            <a:off x="566928" y="2194560"/>
            <a:ext cx="2035454" cy="2286000"/>
          </a:xfrm>
          <a:prstGeom prst="roundRect">
            <a:avLst>
              <a:gd name="adj" fmla="val 3594"/>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1356055" y="2395728"/>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1356055" y="2395728"/>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libri" pitchFamily="34" charset="0"/>
                <a:ea typeface="Calibri" pitchFamily="34" charset="-122"/>
                <a:cs typeface="Calibri" pitchFamily="34" charset="-120"/>
              </a:rPr>
              <a:t>1</a:t>
            </a:r>
            <a:endParaRPr lang="fr-FR" sz="1500" noProof="0" dirty="0"/>
          </a:p>
        </p:txBody>
      </p:sp>
      <p:sp>
        <p:nvSpPr>
          <p:cNvPr id="10" name="Text 8"/>
          <p:cNvSpPr txBox="1"/>
          <p:nvPr/>
        </p:nvSpPr>
        <p:spPr>
          <a:xfrm>
            <a:off x="749808" y="2980944"/>
            <a:ext cx="1669694" cy="1316736"/>
          </a:xfrm>
          <a:prstGeom prst="rect">
            <a:avLst/>
          </a:prstGeom>
          <a:noFill/>
          <a:ln/>
        </p:spPr>
        <p:txBody>
          <a:bodyPr wrap="square" lIns="0" tIns="0" rIns="0" bIns="0" rtlCol="0" anchor="t"/>
          <a:lstStyle/>
          <a:p>
            <a:pPr marL="0" indent="0" algn="ctr">
              <a:lnSpc>
                <a:spcPct val="106000"/>
              </a:lnSpc>
              <a:buNone/>
            </a:pPr>
            <a:r>
              <a:rPr lang="fr-FR" sz="1800" noProof="0" dirty="0">
                <a:solidFill>
                  <a:srgbClr val="23303F"/>
                </a:solidFill>
                <a:latin typeface="Calibri" pitchFamily="34" charset="0"/>
                <a:ea typeface="Calibri" pitchFamily="34" charset="-122"/>
                <a:cs typeface="Calibri" pitchFamily="34" charset="-120"/>
              </a:rPr>
              <a:t>Prévenir l'infection par le HPV</a:t>
            </a:r>
            <a:endParaRPr lang="fr-FR" sz="1800" noProof="0" dirty="0"/>
          </a:p>
        </p:txBody>
      </p:sp>
      <p:sp>
        <p:nvSpPr>
          <p:cNvPr id="11" name="Text 9"/>
          <p:cNvSpPr txBox="1"/>
          <p:nvPr/>
        </p:nvSpPr>
        <p:spPr>
          <a:xfrm>
            <a:off x="2602382" y="2194560"/>
            <a:ext cx="219456" cy="2286000"/>
          </a:xfrm>
          <a:prstGeom prst="rect">
            <a:avLst/>
          </a:prstGeom>
          <a:noFill/>
          <a:ln/>
        </p:spPr>
        <p:txBody>
          <a:bodyPr wrap="square" lIns="0" tIns="0" rIns="0" bIns="0" rtlCol="0" anchor="ctr"/>
          <a:lstStyle/>
          <a:p>
            <a:pPr marL="0" indent="0" algn="ctr">
              <a:buNone/>
            </a:pPr>
            <a:r>
              <a:rPr lang="fr-FR" sz="1300" noProof="0" dirty="0">
                <a:solidFill>
                  <a:srgbClr val="000000"/>
                </a:solidFill>
                <a:latin typeface="Calibri" pitchFamily="34" charset="0"/>
                <a:ea typeface="Calibri" pitchFamily="34" charset="-122"/>
                <a:cs typeface="Calibri" pitchFamily="34" charset="-120"/>
              </a:rPr>
              <a:t>➡️</a:t>
            </a:r>
            <a:endParaRPr lang="fr-FR" sz="1300" noProof="0" dirty="0"/>
          </a:p>
        </p:txBody>
      </p:sp>
      <p:sp>
        <p:nvSpPr>
          <p:cNvPr id="12" name="Shape 10"/>
          <p:cNvSpPr/>
          <p:nvPr/>
        </p:nvSpPr>
        <p:spPr>
          <a:xfrm>
            <a:off x="2821838" y="2194560"/>
            <a:ext cx="2035454" cy="2286000"/>
          </a:xfrm>
          <a:prstGeom prst="roundRect">
            <a:avLst>
              <a:gd name="adj" fmla="val 3594"/>
            </a:avLst>
          </a:prstGeom>
          <a:solidFill>
            <a:srgbClr val="F3F6FB"/>
          </a:solidFill>
          <a:ln w="12700">
            <a:solidFill>
              <a:srgbClr val="E0E3EA"/>
            </a:solidFill>
            <a:prstDash val="solid"/>
          </a:ln>
        </p:spPr>
        <p:txBody>
          <a:bodyPr/>
          <a:lstStyle/>
          <a:p>
            <a:endParaRPr lang="fr-FR" noProof="0" dirty="0"/>
          </a:p>
        </p:txBody>
      </p:sp>
      <p:sp>
        <p:nvSpPr>
          <p:cNvPr id="13" name="Shape 11"/>
          <p:cNvSpPr/>
          <p:nvPr/>
        </p:nvSpPr>
        <p:spPr>
          <a:xfrm>
            <a:off x="3610966" y="2395728"/>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4" name="Text 12"/>
          <p:cNvSpPr txBox="1"/>
          <p:nvPr/>
        </p:nvSpPr>
        <p:spPr>
          <a:xfrm>
            <a:off x="3610966" y="2395728"/>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libri" pitchFamily="34" charset="0"/>
                <a:ea typeface="Calibri" pitchFamily="34" charset="-122"/>
                <a:cs typeface="Calibri" pitchFamily="34" charset="-120"/>
              </a:rPr>
              <a:t>2</a:t>
            </a:r>
            <a:endParaRPr lang="fr-FR" sz="1500" noProof="0" dirty="0"/>
          </a:p>
        </p:txBody>
      </p:sp>
      <p:sp>
        <p:nvSpPr>
          <p:cNvPr id="15" name="Text 13"/>
          <p:cNvSpPr txBox="1"/>
          <p:nvPr/>
        </p:nvSpPr>
        <p:spPr>
          <a:xfrm>
            <a:off x="3004718" y="2980944"/>
            <a:ext cx="1669694" cy="1316736"/>
          </a:xfrm>
          <a:prstGeom prst="rect">
            <a:avLst/>
          </a:prstGeom>
          <a:noFill/>
          <a:ln/>
        </p:spPr>
        <p:txBody>
          <a:bodyPr wrap="square" lIns="0" tIns="0" rIns="0" bIns="0" rtlCol="0" anchor="t"/>
          <a:lstStyle/>
          <a:p>
            <a:pPr marL="0" indent="0" algn="ctr">
              <a:lnSpc>
                <a:spcPct val="106000"/>
              </a:lnSpc>
              <a:buNone/>
            </a:pPr>
            <a:r>
              <a:rPr lang="fr-FR" sz="1800" noProof="0" dirty="0">
                <a:solidFill>
                  <a:srgbClr val="23303F"/>
                </a:solidFill>
                <a:latin typeface="Calibri" pitchFamily="34" charset="0"/>
                <a:ea typeface="Calibri" pitchFamily="34" charset="-122"/>
                <a:cs typeface="Calibri" pitchFamily="34" charset="-120"/>
              </a:rPr>
              <a:t>Dépister les femmes éligibles</a:t>
            </a:r>
            <a:endParaRPr lang="fr-FR" sz="1800" noProof="0" dirty="0"/>
          </a:p>
        </p:txBody>
      </p:sp>
      <p:sp>
        <p:nvSpPr>
          <p:cNvPr id="16" name="Text 14"/>
          <p:cNvSpPr txBox="1"/>
          <p:nvPr/>
        </p:nvSpPr>
        <p:spPr>
          <a:xfrm>
            <a:off x="4857293" y="2194560"/>
            <a:ext cx="219456" cy="2286000"/>
          </a:xfrm>
          <a:prstGeom prst="rect">
            <a:avLst/>
          </a:prstGeom>
          <a:noFill/>
          <a:ln/>
        </p:spPr>
        <p:txBody>
          <a:bodyPr wrap="square" lIns="0" tIns="0" rIns="0" bIns="0" rtlCol="0" anchor="ctr"/>
          <a:lstStyle/>
          <a:p>
            <a:pPr marL="0" indent="0" algn="ctr">
              <a:buNone/>
            </a:pPr>
            <a:r>
              <a:rPr lang="fr-FR" sz="1300" noProof="0" dirty="0">
                <a:solidFill>
                  <a:srgbClr val="000000"/>
                </a:solidFill>
                <a:latin typeface="Calibri" pitchFamily="34" charset="0"/>
                <a:ea typeface="Calibri" pitchFamily="34" charset="-122"/>
                <a:cs typeface="Calibri" pitchFamily="34" charset="-120"/>
              </a:rPr>
              <a:t>➡️</a:t>
            </a:r>
            <a:endParaRPr lang="fr-FR" sz="1300" noProof="0" dirty="0"/>
          </a:p>
        </p:txBody>
      </p:sp>
      <p:sp>
        <p:nvSpPr>
          <p:cNvPr id="17" name="Shape 15"/>
          <p:cNvSpPr/>
          <p:nvPr/>
        </p:nvSpPr>
        <p:spPr>
          <a:xfrm>
            <a:off x="5076749" y="2194560"/>
            <a:ext cx="2035454" cy="2286000"/>
          </a:xfrm>
          <a:prstGeom prst="roundRect">
            <a:avLst>
              <a:gd name="adj" fmla="val 3594"/>
            </a:avLst>
          </a:prstGeom>
          <a:solidFill>
            <a:srgbClr val="F3F6FB"/>
          </a:solidFill>
          <a:ln w="12700">
            <a:solidFill>
              <a:srgbClr val="E0E3EA"/>
            </a:solidFill>
            <a:prstDash val="solid"/>
          </a:ln>
        </p:spPr>
        <p:txBody>
          <a:bodyPr/>
          <a:lstStyle/>
          <a:p>
            <a:endParaRPr lang="fr-FR" noProof="0" dirty="0"/>
          </a:p>
        </p:txBody>
      </p:sp>
      <p:sp>
        <p:nvSpPr>
          <p:cNvPr id="18" name="Shape 16"/>
          <p:cNvSpPr/>
          <p:nvPr/>
        </p:nvSpPr>
        <p:spPr>
          <a:xfrm>
            <a:off x="5865876" y="2395728"/>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9" name="Text 17"/>
          <p:cNvSpPr txBox="1"/>
          <p:nvPr/>
        </p:nvSpPr>
        <p:spPr>
          <a:xfrm>
            <a:off x="5865876" y="2395728"/>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libri" pitchFamily="34" charset="0"/>
                <a:ea typeface="Calibri" pitchFamily="34" charset="-122"/>
                <a:cs typeface="Calibri" pitchFamily="34" charset="-120"/>
              </a:rPr>
              <a:t>3</a:t>
            </a:r>
            <a:endParaRPr lang="fr-FR" sz="1500" noProof="0" dirty="0"/>
          </a:p>
        </p:txBody>
      </p:sp>
      <p:sp>
        <p:nvSpPr>
          <p:cNvPr id="20" name="Text 18"/>
          <p:cNvSpPr txBox="1"/>
          <p:nvPr/>
        </p:nvSpPr>
        <p:spPr>
          <a:xfrm>
            <a:off x="5259629" y="2980944"/>
            <a:ext cx="1669694" cy="1316736"/>
          </a:xfrm>
          <a:prstGeom prst="rect">
            <a:avLst/>
          </a:prstGeom>
          <a:noFill/>
          <a:ln/>
        </p:spPr>
        <p:txBody>
          <a:bodyPr wrap="square" lIns="0" tIns="0" rIns="0" bIns="0" rtlCol="0" anchor="t"/>
          <a:lstStyle/>
          <a:p>
            <a:pPr algn="ctr">
              <a:lnSpc>
                <a:spcPct val="106000"/>
              </a:lnSpc>
            </a:pPr>
            <a:r>
              <a:rPr lang="fr-FR" dirty="0">
                <a:solidFill>
                  <a:srgbClr val="23303F"/>
                </a:solidFill>
                <a:latin typeface="Calibri" pitchFamily="34" charset="0"/>
                <a:ea typeface="Calibri" pitchFamily="34" charset="-122"/>
                <a:cs typeface="Calibri" pitchFamily="34" charset="-120"/>
              </a:rPr>
              <a:t>Traiter les lésions précancéreuses </a:t>
            </a:r>
            <a:r>
              <a:rPr lang="fr-FR" sz="1800" noProof="0" dirty="0">
                <a:solidFill>
                  <a:srgbClr val="23303F"/>
                </a:solidFill>
                <a:latin typeface="Calibri" pitchFamily="34" charset="0"/>
                <a:ea typeface="Calibri" pitchFamily="34" charset="-122"/>
                <a:cs typeface="Calibri" pitchFamily="34" charset="-120"/>
              </a:rPr>
              <a:t>du col de l'utérus</a:t>
            </a:r>
            <a:endParaRPr lang="fr-FR" sz="1800" noProof="0" dirty="0"/>
          </a:p>
        </p:txBody>
      </p:sp>
      <p:sp>
        <p:nvSpPr>
          <p:cNvPr id="21" name="Text 19"/>
          <p:cNvSpPr txBox="1"/>
          <p:nvPr/>
        </p:nvSpPr>
        <p:spPr>
          <a:xfrm>
            <a:off x="7112203" y="2194560"/>
            <a:ext cx="219456" cy="2286000"/>
          </a:xfrm>
          <a:prstGeom prst="rect">
            <a:avLst/>
          </a:prstGeom>
          <a:noFill/>
          <a:ln/>
        </p:spPr>
        <p:txBody>
          <a:bodyPr wrap="square" lIns="0" tIns="0" rIns="0" bIns="0" rtlCol="0" anchor="ctr"/>
          <a:lstStyle/>
          <a:p>
            <a:pPr marL="0" indent="0" algn="ctr">
              <a:buNone/>
            </a:pPr>
            <a:r>
              <a:rPr lang="fr-FR" sz="1300" noProof="0" dirty="0">
                <a:solidFill>
                  <a:srgbClr val="000000"/>
                </a:solidFill>
                <a:latin typeface="Calibri" pitchFamily="34" charset="0"/>
                <a:ea typeface="Calibri" pitchFamily="34" charset="-122"/>
                <a:cs typeface="Calibri" pitchFamily="34" charset="-120"/>
              </a:rPr>
              <a:t>➡️</a:t>
            </a:r>
            <a:endParaRPr lang="fr-FR" sz="1300" noProof="0" dirty="0"/>
          </a:p>
        </p:txBody>
      </p:sp>
      <p:sp>
        <p:nvSpPr>
          <p:cNvPr id="22" name="Shape 20"/>
          <p:cNvSpPr/>
          <p:nvPr/>
        </p:nvSpPr>
        <p:spPr>
          <a:xfrm>
            <a:off x="7331659" y="2194560"/>
            <a:ext cx="2035454" cy="2286000"/>
          </a:xfrm>
          <a:prstGeom prst="roundRect">
            <a:avLst>
              <a:gd name="adj" fmla="val 3594"/>
            </a:avLst>
          </a:prstGeom>
          <a:solidFill>
            <a:srgbClr val="F3F6FB"/>
          </a:solidFill>
          <a:ln w="12700">
            <a:solidFill>
              <a:srgbClr val="E0E3EA"/>
            </a:solidFill>
            <a:prstDash val="solid"/>
          </a:ln>
        </p:spPr>
        <p:txBody>
          <a:bodyPr/>
          <a:lstStyle/>
          <a:p>
            <a:endParaRPr lang="fr-FR" noProof="0" dirty="0"/>
          </a:p>
        </p:txBody>
      </p:sp>
      <p:sp>
        <p:nvSpPr>
          <p:cNvPr id="23" name="Shape 21"/>
          <p:cNvSpPr/>
          <p:nvPr/>
        </p:nvSpPr>
        <p:spPr>
          <a:xfrm>
            <a:off x="8120786" y="2395728"/>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24" name="Text 22"/>
          <p:cNvSpPr txBox="1"/>
          <p:nvPr/>
        </p:nvSpPr>
        <p:spPr>
          <a:xfrm>
            <a:off x="8120786" y="2395728"/>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libri" pitchFamily="34" charset="0"/>
                <a:ea typeface="Calibri" pitchFamily="34" charset="-122"/>
                <a:cs typeface="Calibri" pitchFamily="34" charset="-120"/>
              </a:rPr>
              <a:t>4</a:t>
            </a:r>
            <a:endParaRPr lang="fr-FR" sz="1500" noProof="0" dirty="0"/>
          </a:p>
        </p:txBody>
      </p:sp>
      <p:sp>
        <p:nvSpPr>
          <p:cNvPr id="25" name="Text 23"/>
          <p:cNvSpPr txBox="1"/>
          <p:nvPr/>
        </p:nvSpPr>
        <p:spPr>
          <a:xfrm>
            <a:off x="7514539" y="2980944"/>
            <a:ext cx="1669694" cy="1316736"/>
          </a:xfrm>
          <a:prstGeom prst="rect">
            <a:avLst/>
          </a:prstGeom>
          <a:noFill/>
          <a:ln/>
        </p:spPr>
        <p:txBody>
          <a:bodyPr wrap="square" lIns="0" tIns="0" rIns="0" bIns="0" rtlCol="0" anchor="t"/>
          <a:lstStyle/>
          <a:p>
            <a:pPr marL="0" indent="0" algn="ctr">
              <a:lnSpc>
                <a:spcPct val="106000"/>
              </a:lnSpc>
              <a:buNone/>
            </a:pPr>
            <a:r>
              <a:rPr lang="fr-FR" sz="1800" noProof="0" dirty="0">
                <a:solidFill>
                  <a:srgbClr val="23303F"/>
                </a:solidFill>
                <a:latin typeface="Calibri" pitchFamily="34" charset="0"/>
                <a:ea typeface="Calibri" pitchFamily="34" charset="-122"/>
                <a:cs typeface="Calibri" pitchFamily="34" charset="-120"/>
              </a:rPr>
              <a:t>Reconnaître et orienter un cancer suspecté</a:t>
            </a:r>
            <a:endParaRPr lang="fr-FR" sz="1800" noProof="0" dirty="0"/>
          </a:p>
        </p:txBody>
      </p:sp>
      <p:sp>
        <p:nvSpPr>
          <p:cNvPr id="26" name="Text 24"/>
          <p:cNvSpPr txBox="1"/>
          <p:nvPr/>
        </p:nvSpPr>
        <p:spPr>
          <a:xfrm>
            <a:off x="9367114" y="2194560"/>
            <a:ext cx="219456" cy="2286000"/>
          </a:xfrm>
          <a:prstGeom prst="rect">
            <a:avLst/>
          </a:prstGeom>
          <a:noFill/>
          <a:ln/>
        </p:spPr>
        <p:txBody>
          <a:bodyPr wrap="square" lIns="0" tIns="0" rIns="0" bIns="0" rtlCol="0" anchor="ctr"/>
          <a:lstStyle/>
          <a:p>
            <a:pPr marL="0" indent="0" algn="ctr">
              <a:buNone/>
            </a:pPr>
            <a:r>
              <a:rPr lang="fr-FR" sz="1300" noProof="0" dirty="0">
                <a:solidFill>
                  <a:srgbClr val="000000"/>
                </a:solidFill>
                <a:latin typeface="Calibri" pitchFamily="34" charset="0"/>
                <a:ea typeface="Calibri" pitchFamily="34" charset="-122"/>
                <a:cs typeface="Calibri" pitchFamily="34" charset="-120"/>
              </a:rPr>
              <a:t>➡️</a:t>
            </a:r>
            <a:endParaRPr lang="fr-FR" sz="1300" noProof="0" dirty="0"/>
          </a:p>
        </p:txBody>
      </p:sp>
      <p:sp>
        <p:nvSpPr>
          <p:cNvPr id="27" name="Shape 25"/>
          <p:cNvSpPr/>
          <p:nvPr/>
        </p:nvSpPr>
        <p:spPr>
          <a:xfrm>
            <a:off x="9586570" y="2194560"/>
            <a:ext cx="2035454" cy="2286000"/>
          </a:xfrm>
          <a:prstGeom prst="roundRect">
            <a:avLst>
              <a:gd name="adj" fmla="val 3594"/>
            </a:avLst>
          </a:prstGeom>
          <a:solidFill>
            <a:srgbClr val="F3F6FB"/>
          </a:solidFill>
          <a:ln w="12700">
            <a:solidFill>
              <a:srgbClr val="E0E3EA"/>
            </a:solidFill>
            <a:prstDash val="solid"/>
          </a:ln>
        </p:spPr>
        <p:txBody>
          <a:bodyPr/>
          <a:lstStyle/>
          <a:p>
            <a:endParaRPr lang="fr-FR" noProof="0" dirty="0"/>
          </a:p>
        </p:txBody>
      </p:sp>
      <p:sp>
        <p:nvSpPr>
          <p:cNvPr id="28" name="Shape 26"/>
          <p:cNvSpPr/>
          <p:nvPr/>
        </p:nvSpPr>
        <p:spPr>
          <a:xfrm>
            <a:off x="10375697" y="2395728"/>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29" name="Text 27"/>
          <p:cNvSpPr txBox="1"/>
          <p:nvPr/>
        </p:nvSpPr>
        <p:spPr>
          <a:xfrm>
            <a:off x="10375697" y="2395728"/>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libri" pitchFamily="34" charset="0"/>
                <a:ea typeface="Calibri" pitchFamily="34" charset="-122"/>
                <a:cs typeface="Calibri" pitchFamily="34" charset="-120"/>
              </a:rPr>
              <a:t>5</a:t>
            </a:r>
            <a:endParaRPr lang="fr-FR" sz="1500" noProof="0" dirty="0"/>
          </a:p>
        </p:txBody>
      </p:sp>
      <p:sp>
        <p:nvSpPr>
          <p:cNvPr id="30" name="Text 28"/>
          <p:cNvSpPr txBox="1"/>
          <p:nvPr/>
        </p:nvSpPr>
        <p:spPr>
          <a:xfrm>
            <a:off x="9769450" y="2980944"/>
            <a:ext cx="1669694" cy="1316736"/>
          </a:xfrm>
          <a:prstGeom prst="rect">
            <a:avLst/>
          </a:prstGeom>
          <a:noFill/>
          <a:ln/>
        </p:spPr>
        <p:txBody>
          <a:bodyPr wrap="square" lIns="0" tIns="0" rIns="0" bIns="0" rtlCol="0" anchor="t"/>
          <a:lstStyle/>
          <a:p>
            <a:pPr marL="0" indent="0" algn="ctr">
              <a:lnSpc>
                <a:spcPct val="106000"/>
              </a:lnSpc>
              <a:buNone/>
            </a:pPr>
            <a:r>
              <a:rPr lang="fr-FR" sz="1800" noProof="0" dirty="0">
                <a:solidFill>
                  <a:srgbClr val="23303F"/>
                </a:solidFill>
                <a:latin typeface="Calibri" pitchFamily="34" charset="0"/>
                <a:ea typeface="Calibri" pitchFamily="34" charset="-122"/>
                <a:cs typeface="Calibri" pitchFamily="34" charset="-120"/>
              </a:rPr>
              <a:t>Soutenir le diagnostic, le traitement et le suivi</a:t>
            </a:r>
            <a:endParaRPr lang="fr-FR" sz="1800" noProof="0" dirty="0"/>
          </a:p>
        </p:txBody>
      </p:sp>
      <p:sp>
        <p:nvSpPr>
          <p:cNvPr id="31" name="Shape 29"/>
          <p:cNvSpPr/>
          <p:nvPr/>
        </p:nvSpPr>
        <p:spPr>
          <a:xfrm>
            <a:off x="566928" y="4754880"/>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32" name="Text 30"/>
          <p:cNvSpPr txBox="1"/>
          <p:nvPr/>
        </p:nvSpPr>
        <p:spPr>
          <a:xfrm>
            <a:off x="841248" y="4809744"/>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Idée centrale :  </a:t>
            </a:r>
            <a:r>
              <a:rPr lang="fr-FR" sz="1800" noProof="0" dirty="0">
                <a:solidFill>
                  <a:srgbClr val="23303F"/>
                </a:solidFill>
                <a:latin typeface="Calibri" pitchFamily="34" charset="0"/>
                <a:ea typeface="Calibri" pitchFamily="34" charset="-122"/>
                <a:cs typeface="Calibri" pitchFamily="34" charset="-120"/>
              </a:rPr>
              <a:t>La plupart des cancers du col de l'utérus peuvent être prévenus grâce à la vaccination contre le HPV et en trouvant et traitant les </a:t>
            </a:r>
            <a:r>
              <a:rPr lang="fr-FR" sz="1800" noProof="0" dirty="0" err="1">
                <a:solidFill>
                  <a:srgbClr val="23303F"/>
                </a:solidFill>
                <a:latin typeface="Calibri" pitchFamily="34" charset="0"/>
                <a:ea typeface="Calibri" pitchFamily="34" charset="-122"/>
                <a:cs typeface="Calibri" pitchFamily="34" charset="-120"/>
              </a:rPr>
              <a:t>précancers</a:t>
            </a:r>
            <a:r>
              <a:rPr lang="fr-FR" sz="1800" noProof="0" dirty="0">
                <a:solidFill>
                  <a:srgbClr val="23303F"/>
                </a:solidFill>
                <a:latin typeface="Calibri" pitchFamily="34" charset="0"/>
                <a:ea typeface="Calibri" pitchFamily="34" charset="-122"/>
                <a:cs typeface="Calibri" pitchFamily="34" charset="-120"/>
              </a:rPr>
              <a:t> avant le développement d'un cancer invasif.</a:t>
            </a:r>
            <a:endParaRPr lang="fr-FR" sz="18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PROGRAMME DE MODULES</a:t>
            </a:r>
            <a:endParaRPr lang="fr-FR" sz="1200" noProof="0" dirty="0"/>
          </a:p>
        </p:txBody>
      </p:sp>
      <p:sp>
        <p:nvSpPr>
          <p:cNvPr id="5" name="Text 3"/>
          <p:cNvSpPr txBox="1"/>
          <p:nvPr/>
        </p:nvSpPr>
        <p:spPr>
          <a:xfrm>
            <a:off x="566928" y="472596"/>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Comment le module est organisé</a:t>
            </a:r>
            <a:endParaRPr lang="fr-FR" sz="3200" noProof="0" dirty="0"/>
          </a:p>
        </p:txBody>
      </p:sp>
      <p:sp>
        <p:nvSpPr>
          <p:cNvPr id="6" name="Shape 4"/>
          <p:cNvSpPr/>
          <p:nvPr/>
        </p:nvSpPr>
        <p:spPr>
          <a:xfrm>
            <a:off x="566928" y="1177643"/>
            <a:ext cx="11055096" cy="647663"/>
          </a:xfrm>
          <a:prstGeom prst="roundRect">
            <a:avLst>
              <a:gd name="adj" fmla="val 9883"/>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177643"/>
            <a:ext cx="548640" cy="647663"/>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232507"/>
            <a:ext cx="9866376" cy="537935"/>
          </a:xfrm>
          <a:prstGeom prst="rect">
            <a:avLst/>
          </a:prstGeom>
          <a:noFill/>
          <a:ln/>
        </p:spPr>
        <p:txBody>
          <a:bodyPr wrap="square" lIns="0" tIns="0" rIns="0" bIns="0" rtlCol="0" anchor="ctr">
            <a:noAutofit/>
          </a:bodyPr>
          <a:lstStyle/>
          <a:p>
            <a:pPr>
              <a:lnSpc>
                <a:spcPct val="104000"/>
              </a:lnSpc>
            </a:pPr>
            <a:r>
              <a:rPr lang="fr-FR" sz="1674" b="1" dirty="0">
                <a:solidFill>
                  <a:srgbClr val="10305A"/>
                </a:solidFill>
                <a:latin typeface="Calibri" pitchFamily="34" charset="0"/>
                <a:ea typeface="Calibri" pitchFamily="34" charset="-122"/>
                <a:cs typeface="Calibri" pitchFamily="34" charset="-120"/>
              </a:rPr>
              <a:t>Évaluation initiale. </a:t>
            </a:r>
            <a:r>
              <a:rPr lang="fr-FR" sz="1674" b="1" noProof="0" dirty="0">
                <a:solidFill>
                  <a:srgbClr val="10305A"/>
                </a:solidFill>
                <a:latin typeface="Calibri" pitchFamily="34" charset="0"/>
                <a:ea typeface="Calibri" pitchFamily="34" charset="-122"/>
                <a:cs typeface="Calibri" pitchFamily="34" charset="-120"/>
              </a:rPr>
              <a:t>Vingt questions pour évaluer vos connaissances initiales.</a:t>
            </a:r>
            <a:endParaRPr lang="fr-FR" sz="1674" noProof="0" dirty="0"/>
          </a:p>
        </p:txBody>
      </p:sp>
      <p:sp>
        <p:nvSpPr>
          <p:cNvPr id="9" name="Shape 7"/>
          <p:cNvSpPr/>
          <p:nvPr/>
        </p:nvSpPr>
        <p:spPr>
          <a:xfrm>
            <a:off x="566928" y="1933250"/>
            <a:ext cx="11055096" cy="647663"/>
          </a:xfrm>
          <a:prstGeom prst="roundRect">
            <a:avLst>
              <a:gd name="adj" fmla="val 9883"/>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1933250"/>
            <a:ext cx="548640" cy="647663"/>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1988114"/>
            <a:ext cx="9866376" cy="537935"/>
          </a:xfrm>
          <a:prstGeom prst="rect">
            <a:avLst/>
          </a:prstGeom>
          <a:noFill/>
          <a:ln/>
        </p:spPr>
        <p:txBody>
          <a:bodyPr wrap="square" lIns="0" tIns="0" rIns="0" bIns="0" rtlCol="0" anchor="ctr">
            <a:noAutofit/>
          </a:bodyPr>
          <a:lstStyle/>
          <a:p>
            <a:pPr>
              <a:lnSpc>
                <a:spcPct val="104000"/>
              </a:lnSpc>
            </a:pPr>
            <a:r>
              <a:rPr lang="fr-FR" sz="1674" b="1" noProof="0" dirty="0">
                <a:solidFill>
                  <a:srgbClr val="10305A"/>
                </a:solidFill>
                <a:latin typeface="Calibri" pitchFamily="34" charset="0"/>
                <a:ea typeface="Calibri" pitchFamily="34" charset="-122"/>
                <a:cs typeface="Calibri" pitchFamily="34" charset="-120"/>
              </a:rPr>
              <a:t>Session 1. </a:t>
            </a:r>
            <a:r>
              <a:rPr lang="fr-FR" sz="1674" noProof="0" dirty="0">
                <a:solidFill>
                  <a:srgbClr val="23303F"/>
                </a:solidFill>
                <a:latin typeface="Calibri" pitchFamily="34" charset="0"/>
                <a:ea typeface="Calibri" pitchFamily="34" charset="-122"/>
                <a:cs typeface="Calibri" pitchFamily="34" charset="-120"/>
              </a:rPr>
              <a:t>Comprendre le cancer du col de l'utérus : fardeau épidémiologique, anatomie et zone de transformation, HPV, lésions précancéreuses, stadification.</a:t>
            </a:r>
            <a:endParaRPr lang="fr-FR" sz="1674" noProof="0" dirty="0"/>
          </a:p>
        </p:txBody>
      </p:sp>
      <p:sp>
        <p:nvSpPr>
          <p:cNvPr id="12" name="Shape 10"/>
          <p:cNvSpPr/>
          <p:nvPr/>
        </p:nvSpPr>
        <p:spPr>
          <a:xfrm>
            <a:off x="566928" y="2688856"/>
            <a:ext cx="11055096" cy="647663"/>
          </a:xfrm>
          <a:prstGeom prst="roundRect">
            <a:avLst>
              <a:gd name="adj" fmla="val 9883"/>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2688856"/>
            <a:ext cx="548640" cy="647663"/>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2743720"/>
            <a:ext cx="9866376" cy="537935"/>
          </a:xfrm>
          <a:prstGeom prst="rect">
            <a:avLst/>
          </a:prstGeom>
          <a:noFill/>
          <a:ln/>
        </p:spPr>
        <p:txBody>
          <a:bodyPr wrap="square" lIns="0" tIns="0" rIns="0" bIns="0" rtlCol="0" anchor="ctr">
            <a:noAutofit/>
          </a:bodyPr>
          <a:lstStyle/>
          <a:p>
            <a:pPr marL="0" indent="0">
              <a:lnSpc>
                <a:spcPct val="104000"/>
              </a:lnSpc>
              <a:buNone/>
            </a:pPr>
            <a:r>
              <a:rPr lang="fr-FR" sz="1674" b="1" noProof="0" dirty="0">
                <a:solidFill>
                  <a:srgbClr val="10305A"/>
                </a:solidFill>
                <a:latin typeface="Calibri" pitchFamily="34" charset="0"/>
                <a:ea typeface="Calibri" pitchFamily="34" charset="-122"/>
                <a:cs typeface="Calibri" pitchFamily="34" charset="-120"/>
              </a:rPr>
              <a:t>Session 2. </a:t>
            </a:r>
            <a:r>
              <a:rPr lang="fr-FR" sz="1674" noProof="0" dirty="0">
                <a:solidFill>
                  <a:srgbClr val="23303F"/>
                </a:solidFill>
                <a:latin typeface="Calibri" pitchFamily="34" charset="0"/>
                <a:ea typeface="Calibri" pitchFamily="34" charset="-122"/>
                <a:cs typeface="Calibri" pitchFamily="34" charset="-120"/>
              </a:rPr>
              <a:t>Dépistage et prévention : vaccination, risque, symptômes, test HPV et VIA, prise en charge des lésions précancéreuses.</a:t>
            </a:r>
            <a:endParaRPr lang="fr-FR" sz="1674" noProof="0" dirty="0"/>
          </a:p>
        </p:txBody>
      </p:sp>
      <p:sp>
        <p:nvSpPr>
          <p:cNvPr id="15" name="Shape 13"/>
          <p:cNvSpPr/>
          <p:nvPr/>
        </p:nvSpPr>
        <p:spPr>
          <a:xfrm>
            <a:off x="566928" y="3444463"/>
            <a:ext cx="11055096" cy="647663"/>
          </a:xfrm>
          <a:prstGeom prst="roundRect">
            <a:avLst>
              <a:gd name="adj" fmla="val 9883"/>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3444463"/>
            <a:ext cx="548640" cy="647663"/>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3499327"/>
            <a:ext cx="9866376" cy="537935"/>
          </a:xfrm>
          <a:prstGeom prst="rect">
            <a:avLst/>
          </a:prstGeom>
          <a:noFill/>
          <a:ln/>
        </p:spPr>
        <p:txBody>
          <a:bodyPr wrap="square" lIns="0" tIns="0" rIns="0" bIns="0" rtlCol="0" anchor="ctr">
            <a:noAutofit/>
          </a:bodyPr>
          <a:lstStyle/>
          <a:p>
            <a:pPr marL="0" indent="0">
              <a:lnSpc>
                <a:spcPct val="104000"/>
              </a:lnSpc>
              <a:buNone/>
            </a:pPr>
            <a:r>
              <a:rPr lang="fr-FR" sz="1674" b="1" noProof="0" dirty="0">
                <a:solidFill>
                  <a:srgbClr val="10305A"/>
                </a:solidFill>
                <a:latin typeface="Calibri" pitchFamily="34" charset="0"/>
                <a:ea typeface="Calibri" pitchFamily="34" charset="-122"/>
                <a:cs typeface="Calibri" pitchFamily="34" charset="-120"/>
              </a:rPr>
              <a:t>Session 3. </a:t>
            </a:r>
            <a:r>
              <a:rPr lang="fr-FR" sz="1674" noProof="0" dirty="0">
                <a:solidFill>
                  <a:srgbClr val="23303F"/>
                </a:solidFill>
                <a:latin typeface="Calibri" pitchFamily="34" charset="0"/>
                <a:ea typeface="Calibri" pitchFamily="34" charset="-122"/>
                <a:cs typeface="Calibri" pitchFamily="34" charset="-120"/>
              </a:rPr>
              <a:t>Orientation et conseil : urgence, quoi enregistrer, communication sans stigmatisation.</a:t>
            </a:r>
            <a:endParaRPr lang="fr-FR" sz="1674" noProof="0" dirty="0"/>
          </a:p>
        </p:txBody>
      </p:sp>
      <p:sp>
        <p:nvSpPr>
          <p:cNvPr id="18" name="Shape 16"/>
          <p:cNvSpPr/>
          <p:nvPr/>
        </p:nvSpPr>
        <p:spPr>
          <a:xfrm>
            <a:off x="566928" y="4200070"/>
            <a:ext cx="11055096" cy="647663"/>
          </a:xfrm>
          <a:prstGeom prst="roundRect">
            <a:avLst>
              <a:gd name="adj" fmla="val 9883"/>
            </a:avLst>
          </a:prstGeom>
          <a:solidFill>
            <a:srgbClr val="F3F6FB"/>
          </a:solidFill>
          <a:ln w="12700">
            <a:solidFill>
              <a:srgbClr val="E0E3EA"/>
            </a:solidFill>
            <a:prstDash val="solid"/>
          </a:ln>
        </p:spPr>
        <p:txBody>
          <a:bodyPr/>
          <a:lstStyle/>
          <a:p>
            <a:endParaRPr lang="fr-FR" noProof="0" dirty="0"/>
          </a:p>
        </p:txBody>
      </p:sp>
      <p:sp>
        <p:nvSpPr>
          <p:cNvPr id="19" name="Text 17"/>
          <p:cNvSpPr txBox="1"/>
          <p:nvPr/>
        </p:nvSpPr>
        <p:spPr>
          <a:xfrm>
            <a:off x="786384" y="4200070"/>
            <a:ext cx="548640" cy="647663"/>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20" name="Text 18"/>
          <p:cNvSpPr txBox="1"/>
          <p:nvPr/>
        </p:nvSpPr>
        <p:spPr>
          <a:xfrm>
            <a:off x="1463040" y="4254934"/>
            <a:ext cx="9866376" cy="537935"/>
          </a:xfrm>
          <a:prstGeom prst="rect">
            <a:avLst/>
          </a:prstGeom>
          <a:noFill/>
          <a:ln/>
        </p:spPr>
        <p:txBody>
          <a:bodyPr wrap="square" lIns="0" tIns="0" rIns="0" bIns="0" rtlCol="0" anchor="ctr">
            <a:noAutofit/>
          </a:bodyPr>
          <a:lstStyle/>
          <a:p>
            <a:pPr marL="0" indent="0">
              <a:lnSpc>
                <a:spcPct val="104000"/>
              </a:lnSpc>
              <a:buNone/>
            </a:pPr>
            <a:r>
              <a:rPr lang="fr-FR" sz="1674" b="1" noProof="0" dirty="0">
                <a:solidFill>
                  <a:srgbClr val="10305A"/>
                </a:solidFill>
                <a:latin typeface="Calibri" pitchFamily="34" charset="0"/>
                <a:ea typeface="Calibri" pitchFamily="34" charset="-122"/>
                <a:cs typeface="Calibri" pitchFamily="34" charset="-120"/>
              </a:rPr>
              <a:t>Session 4. </a:t>
            </a:r>
            <a:r>
              <a:rPr lang="fr-FR" sz="1674" noProof="0" dirty="0">
                <a:solidFill>
                  <a:srgbClr val="23303F"/>
                </a:solidFill>
                <a:latin typeface="Calibri" pitchFamily="34" charset="0"/>
                <a:ea typeface="Calibri" pitchFamily="34" charset="-122"/>
                <a:cs typeface="Calibri" pitchFamily="34" charset="-120"/>
              </a:rPr>
              <a:t>Diagnostic et traitement : biopsie, stadification, chirurgie, radiothérapie, curiethérapie, chimiothérapie.</a:t>
            </a:r>
            <a:endParaRPr lang="fr-FR" sz="1674" noProof="0" dirty="0"/>
          </a:p>
        </p:txBody>
      </p:sp>
      <p:sp>
        <p:nvSpPr>
          <p:cNvPr id="21" name="Shape 19"/>
          <p:cNvSpPr/>
          <p:nvPr/>
        </p:nvSpPr>
        <p:spPr>
          <a:xfrm>
            <a:off x="566928" y="4955676"/>
            <a:ext cx="11055096" cy="647663"/>
          </a:xfrm>
          <a:prstGeom prst="roundRect">
            <a:avLst>
              <a:gd name="adj" fmla="val 9883"/>
            </a:avLst>
          </a:prstGeom>
          <a:solidFill>
            <a:srgbClr val="F3F6FB"/>
          </a:solidFill>
          <a:ln w="12700">
            <a:solidFill>
              <a:srgbClr val="E0E3EA"/>
            </a:solidFill>
            <a:prstDash val="solid"/>
          </a:ln>
        </p:spPr>
        <p:txBody>
          <a:bodyPr/>
          <a:lstStyle/>
          <a:p>
            <a:endParaRPr lang="fr-FR" noProof="0" dirty="0"/>
          </a:p>
        </p:txBody>
      </p:sp>
      <p:sp>
        <p:nvSpPr>
          <p:cNvPr id="22" name="Text 20"/>
          <p:cNvSpPr txBox="1"/>
          <p:nvPr/>
        </p:nvSpPr>
        <p:spPr>
          <a:xfrm>
            <a:off x="786384" y="4955676"/>
            <a:ext cx="548640" cy="647663"/>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23" name="Text 21"/>
          <p:cNvSpPr txBox="1"/>
          <p:nvPr/>
        </p:nvSpPr>
        <p:spPr>
          <a:xfrm>
            <a:off x="1463040" y="5010540"/>
            <a:ext cx="9866376" cy="537935"/>
          </a:xfrm>
          <a:prstGeom prst="rect">
            <a:avLst/>
          </a:prstGeom>
          <a:noFill/>
          <a:ln/>
        </p:spPr>
        <p:txBody>
          <a:bodyPr wrap="square" lIns="0" tIns="0" rIns="0" bIns="0" rtlCol="0" anchor="ctr">
            <a:noAutofit/>
          </a:bodyPr>
          <a:lstStyle/>
          <a:p>
            <a:pPr marL="0" indent="0">
              <a:lnSpc>
                <a:spcPct val="104000"/>
              </a:lnSpc>
              <a:buNone/>
            </a:pPr>
            <a:r>
              <a:rPr lang="fr-FR" sz="1674" b="1" noProof="0" dirty="0">
                <a:solidFill>
                  <a:srgbClr val="10305A"/>
                </a:solidFill>
                <a:latin typeface="Calibri" pitchFamily="34" charset="0"/>
                <a:ea typeface="Calibri" pitchFamily="34" charset="-122"/>
                <a:cs typeface="Calibri" pitchFamily="34" charset="-120"/>
              </a:rPr>
              <a:t>Session 5. </a:t>
            </a:r>
            <a:r>
              <a:rPr lang="fr-FR" sz="1674" noProof="0" dirty="0">
                <a:solidFill>
                  <a:srgbClr val="23303F"/>
                </a:solidFill>
                <a:latin typeface="Calibri" pitchFamily="34" charset="0"/>
                <a:ea typeface="Calibri" pitchFamily="34" charset="-122"/>
                <a:cs typeface="Calibri" pitchFamily="34" charset="-120"/>
              </a:rPr>
              <a:t>Traitement de soutien : effets indésirables, santé sexuelle, soins palliatifs, suivi.</a:t>
            </a:r>
            <a:endParaRPr lang="fr-FR" sz="1674" noProof="0" dirty="0"/>
          </a:p>
        </p:txBody>
      </p:sp>
      <p:sp>
        <p:nvSpPr>
          <p:cNvPr id="25" name="Shape 4">
            <a:extLst>
              <a:ext uri="{FF2B5EF4-FFF2-40B4-BE49-F238E27FC236}">
                <a16:creationId xmlns:a16="http://schemas.microsoft.com/office/drawing/2014/main" id="{9122ADEA-4900-1FA4-CF90-6EB713AB81B0}"/>
              </a:ext>
            </a:extLst>
          </p:cNvPr>
          <p:cNvSpPr/>
          <p:nvPr/>
        </p:nvSpPr>
        <p:spPr>
          <a:xfrm>
            <a:off x="566928" y="5680357"/>
            <a:ext cx="11055096" cy="647663"/>
          </a:xfrm>
          <a:prstGeom prst="roundRect">
            <a:avLst>
              <a:gd name="adj" fmla="val 9883"/>
            </a:avLst>
          </a:prstGeom>
          <a:solidFill>
            <a:srgbClr val="F3F6FB"/>
          </a:solidFill>
          <a:ln w="12700">
            <a:solidFill>
              <a:srgbClr val="E0E3EA"/>
            </a:solidFill>
            <a:prstDash val="solid"/>
          </a:ln>
        </p:spPr>
        <p:txBody>
          <a:bodyPr/>
          <a:lstStyle/>
          <a:p>
            <a:endParaRPr lang="fr-FR" noProof="0" dirty="0"/>
          </a:p>
        </p:txBody>
      </p:sp>
      <p:sp>
        <p:nvSpPr>
          <p:cNvPr id="26" name="Text 5">
            <a:extLst>
              <a:ext uri="{FF2B5EF4-FFF2-40B4-BE49-F238E27FC236}">
                <a16:creationId xmlns:a16="http://schemas.microsoft.com/office/drawing/2014/main" id="{ED7CF819-B111-206B-C7DC-7C25123E12A3}"/>
              </a:ext>
            </a:extLst>
          </p:cNvPr>
          <p:cNvSpPr txBox="1"/>
          <p:nvPr/>
        </p:nvSpPr>
        <p:spPr>
          <a:xfrm>
            <a:off x="786384" y="5680357"/>
            <a:ext cx="548640" cy="647663"/>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27" name="Text 6">
            <a:extLst>
              <a:ext uri="{FF2B5EF4-FFF2-40B4-BE49-F238E27FC236}">
                <a16:creationId xmlns:a16="http://schemas.microsoft.com/office/drawing/2014/main" id="{76486D3A-F864-4963-B4AE-FFF8255DA38A}"/>
              </a:ext>
            </a:extLst>
          </p:cNvPr>
          <p:cNvSpPr txBox="1"/>
          <p:nvPr/>
        </p:nvSpPr>
        <p:spPr>
          <a:xfrm>
            <a:off x="1463040" y="5735221"/>
            <a:ext cx="9866376" cy="537935"/>
          </a:xfrm>
          <a:prstGeom prst="rect">
            <a:avLst/>
          </a:prstGeom>
          <a:noFill/>
          <a:ln/>
        </p:spPr>
        <p:txBody>
          <a:bodyPr wrap="square" lIns="0" tIns="0" rIns="0" bIns="0" rtlCol="0" anchor="ctr">
            <a:noAutofit/>
          </a:bodyPr>
          <a:lstStyle/>
          <a:p>
            <a:pPr>
              <a:lnSpc>
                <a:spcPct val="104000"/>
              </a:lnSpc>
            </a:pPr>
            <a:r>
              <a:rPr lang="fr-FR" sz="1674" b="1" dirty="0">
                <a:solidFill>
                  <a:srgbClr val="10305A"/>
                </a:solidFill>
                <a:latin typeface="Calibri" pitchFamily="34" charset="0"/>
                <a:ea typeface="Calibri" pitchFamily="34" charset="-122"/>
                <a:cs typeface="Calibri" pitchFamily="34" charset="-120"/>
              </a:rPr>
              <a:t>Évaluation finale</a:t>
            </a:r>
            <a:r>
              <a:rPr lang="fr-FR" sz="1674" b="1" noProof="0" dirty="0">
                <a:solidFill>
                  <a:srgbClr val="10305A"/>
                </a:solidFill>
                <a:latin typeface="Calibri" pitchFamily="34" charset="0"/>
                <a:ea typeface="Calibri" pitchFamily="34" charset="-122"/>
                <a:cs typeface="Calibri" pitchFamily="34" charset="-120"/>
              </a:rPr>
              <a:t>. Vingt questions pour évaluer les connaissances acquises.</a:t>
            </a:r>
            <a:endParaRPr lang="fr-FR" sz="1674"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PROGRAMME DE MODULES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Objectifs du module</a:t>
            </a:r>
            <a:endParaRPr lang="fr-FR" sz="3200" noProof="0" dirty="0"/>
          </a:p>
        </p:txBody>
      </p:sp>
      <p:sp>
        <p:nvSpPr>
          <p:cNvPr id="6" name="Text 4"/>
          <p:cNvSpPr txBox="1"/>
          <p:nvPr/>
        </p:nvSpPr>
        <p:spPr>
          <a:xfrm>
            <a:off x="566928" y="1416170"/>
            <a:ext cx="11055096" cy="384048"/>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À la fin de ce module, vous serez en mesure de :</a:t>
            </a:r>
            <a:endParaRPr lang="fr-FR" sz="1800" noProof="0" dirty="0"/>
          </a:p>
        </p:txBody>
      </p:sp>
      <p:sp>
        <p:nvSpPr>
          <p:cNvPr id="7" name="Shape 5"/>
          <p:cNvSpPr/>
          <p:nvPr/>
        </p:nvSpPr>
        <p:spPr>
          <a:xfrm>
            <a:off x="566928" y="1982800"/>
            <a:ext cx="11055096" cy="585510"/>
          </a:xfrm>
          <a:prstGeom prst="roundRect">
            <a:avLst>
              <a:gd name="adj" fmla="val 10932"/>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04672" y="2065243"/>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04672" y="2065243"/>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1</a:t>
            </a:r>
            <a:endParaRPr lang="fr-FR" sz="1400" noProof="0" dirty="0"/>
          </a:p>
        </p:txBody>
      </p:sp>
      <p:sp>
        <p:nvSpPr>
          <p:cNvPr id="10" name="Text 8"/>
          <p:cNvSpPr txBox="1"/>
          <p:nvPr/>
        </p:nvSpPr>
        <p:spPr>
          <a:xfrm>
            <a:off x="1463040" y="2037664"/>
            <a:ext cx="9866376" cy="475782"/>
          </a:xfrm>
          <a:prstGeom prst="rect">
            <a:avLst/>
          </a:prstGeom>
          <a:noFill/>
          <a:ln/>
        </p:spPr>
        <p:txBody>
          <a:bodyPr wrap="square" lIns="0" tIns="0" rIns="0" bIns="0" rtlCol="0" anchor="ctr">
            <a:noAutofit/>
          </a:bodyPr>
          <a:lstStyle/>
          <a:p>
            <a:pPr marL="0" indent="0">
              <a:lnSpc>
                <a:spcPct val="104000"/>
              </a:lnSpc>
              <a:buNone/>
            </a:pPr>
            <a:r>
              <a:rPr lang="fr-FR" sz="1350" noProof="0" dirty="0">
                <a:solidFill>
                  <a:srgbClr val="23303F"/>
                </a:solidFill>
                <a:latin typeface="Calibri" pitchFamily="34" charset="0"/>
                <a:ea typeface="Calibri" pitchFamily="34" charset="-122"/>
                <a:cs typeface="Calibri" pitchFamily="34" charset="-120"/>
              </a:rPr>
              <a:t>Expliquez comment une infection persistante à haut risque par le HPV conduit au </a:t>
            </a:r>
            <a:r>
              <a:rPr lang="fr-FR" sz="1350" noProof="0" dirty="0" err="1">
                <a:solidFill>
                  <a:srgbClr val="23303F"/>
                </a:solidFill>
                <a:latin typeface="Calibri" pitchFamily="34" charset="0"/>
                <a:ea typeface="Calibri" pitchFamily="34" charset="-122"/>
                <a:cs typeface="Calibri" pitchFamily="34" charset="-120"/>
              </a:rPr>
              <a:t>précancer</a:t>
            </a:r>
            <a:r>
              <a:rPr lang="fr-FR" sz="1350" noProof="0" dirty="0">
                <a:solidFill>
                  <a:srgbClr val="23303F"/>
                </a:solidFill>
                <a:latin typeface="Calibri" pitchFamily="34" charset="0"/>
                <a:ea typeface="Calibri" pitchFamily="34" charset="-122"/>
                <a:cs typeface="Calibri" pitchFamily="34" charset="-120"/>
              </a:rPr>
              <a:t> du col de l'utérus et, chez certaines femmes, à un cancer invasif.</a:t>
            </a:r>
            <a:endParaRPr lang="fr-FR" sz="1350" noProof="0" dirty="0"/>
          </a:p>
        </p:txBody>
      </p:sp>
      <p:sp>
        <p:nvSpPr>
          <p:cNvPr id="11" name="Shape 9"/>
          <p:cNvSpPr/>
          <p:nvPr/>
        </p:nvSpPr>
        <p:spPr>
          <a:xfrm>
            <a:off x="566928" y="2674028"/>
            <a:ext cx="11055096" cy="585510"/>
          </a:xfrm>
          <a:prstGeom prst="roundRect">
            <a:avLst>
              <a:gd name="adj" fmla="val 10932"/>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04672" y="2756471"/>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04672" y="2756471"/>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2</a:t>
            </a:r>
            <a:endParaRPr lang="fr-FR" sz="1400" noProof="0" dirty="0"/>
          </a:p>
        </p:txBody>
      </p:sp>
      <p:sp>
        <p:nvSpPr>
          <p:cNvPr id="14" name="Text 12"/>
          <p:cNvSpPr txBox="1"/>
          <p:nvPr/>
        </p:nvSpPr>
        <p:spPr>
          <a:xfrm>
            <a:off x="1463040" y="2728892"/>
            <a:ext cx="9866376" cy="475782"/>
          </a:xfrm>
          <a:prstGeom prst="rect">
            <a:avLst/>
          </a:prstGeom>
          <a:noFill/>
          <a:ln/>
        </p:spPr>
        <p:txBody>
          <a:bodyPr wrap="square" lIns="0" tIns="0" rIns="0" bIns="0" rtlCol="0" anchor="ctr">
            <a:noAutofit/>
          </a:bodyPr>
          <a:lstStyle/>
          <a:p>
            <a:pPr marL="0" indent="0">
              <a:lnSpc>
                <a:spcPct val="104000"/>
              </a:lnSpc>
              <a:buNone/>
            </a:pPr>
            <a:r>
              <a:rPr lang="fr-FR" sz="1350" noProof="0" dirty="0">
                <a:solidFill>
                  <a:srgbClr val="23303F"/>
                </a:solidFill>
                <a:latin typeface="Calibri" pitchFamily="34" charset="0"/>
                <a:ea typeface="Calibri" pitchFamily="34" charset="-122"/>
                <a:cs typeface="Calibri" pitchFamily="34" charset="-120"/>
              </a:rPr>
              <a:t>Promouvoir la vaccination contre le HPV et répondre aux préoccupations qui réduisent le plus souvent l'adhésion à la vaccination.</a:t>
            </a:r>
            <a:endParaRPr lang="fr-FR" sz="1350" noProof="0" dirty="0"/>
          </a:p>
        </p:txBody>
      </p:sp>
      <p:sp>
        <p:nvSpPr>
          <p:cNvPr id="15" name="Shape 13"/>
          <p:cNvSpPr/>
          <p:nvPr/>
        </p:nvSpPr>
        <p:spPr>
          <a:xfrm>
            <a:off x="566928" y="3365255"/>
            <a:ext cx="11055096" cy="585510"/>
          </a:xfrm>
          <a:prstGeom prst="roundRect">
            <a:avLst>
              <a:gd name="adj" fmla="val 10932"/>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04672" y="3447698"/>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04672" y="3447698"/>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3</a:t>
            </a:r>
            <a:endParaRPr lang="fr-FR" sz="1400" noProof="0" dirty="0"/>
          </a:p>
        </p:txBody>
      </p:sp>
      <p:sp>
        <p:nvSpPr>
          <p:cNvPr id="18" name="Text 16"/>
          <p:cNvSpPr txBox="1"/>
          <p:nvPr/>
        </p:nvSpPr>
        <p:spPr>
          <a:xfrm>
            <a:off x="1463040" y="3420119"/>
            <a:ext cx="9866376" cy="475782"/>
          </a:xfrm>
          <a:prstGeom prst="rect">
            <a:avLst/>
          </a:prstGeom>
          <a:noFill/>
          <a:ln/>
        </p:spPr>
        <p:txBody>
          <a:bodyPr wrap="square" lIns="0" tIns="0" rIns="0" bIns="0" rtlCol="0" anchor="ctr">
            <a:noAutofit/>
          </a:bodyPr>
          <a:lstStyle/>
          <a:p>
            <a:pPr marL="0" indent="0">
              <a:lnSpc>
                <a:spcPct val="104000"/>
              </a:lnSpc>
              <a:buNone/>
            </a:pPr>
            <a:r>
              <a:rPr lang="fr-FR" sz="1350" noProof="0" dirty="0">
                <a:solidFill>
                  <a:srgbClr val="23303F"/>
                </a:solidFill>
                <a:latin typeface="Calibri" pitchFamily="34" charset="0"/>
                <a:ea typeface="Calibri" pitchFamily="34" charset="-122"/>
                <a:cs typeface="Calibri" pitchFamily="34" charset="-120"/>
              </a:rPr>
              <a:t>Distinguez le dépistage d'une femme en bonne santé de l'évaluation d'une femme présentant des symptômes.</a:t>
            </a:r>
            <a:endParaRPr lang="fr-FR" sz="1350" noProof="0" dirty="0"/>
          </a:p>
        </p:txBody>
      </p:sp>
      <p:sp>
        <p:nvSpPr>
          <p:cNvPr id="19" name="Shape 17"/>
          <p:cNvSpPr/>
          <p:nvPr/>
        </p:nvSpPr>
        <p:spPr>
          <a:xfrm>
            <a:off x="566928" y="4056483"/>
            <a:ext cx="11055096" cy="585510"/>
          </a:xfrm>
          <a:prstGeom prst="roundRect">
            <a:avLst>
              <a:gd name="adj" fmla="val 10932"/>
            </a:avLst>
          </a:prstGeom>
          <a:solidFill>
            <a:srgbClr val="F3F6FB"/>
          </a:solidFill>
          <a:ln w="12700">
            <a:solidFill>
              <a:srgbClr val="E0E3EA"/>
            </a:solidFill>
            <a:prstDash val="solid"/>
          </a:ln>
        </p:spPr>
        <p:txBody>
          <a:bodyPr/>
          <a:lstStyle/>
          <a:p>
            <a:endParaRPr lang="fr-FR" noProof="0" dirty="0"/>
          </a:p>
        </p:txBody>
      </p:sp>
      <p:sp>
        <p:nvSpPr>
          <p:cNvPr id="20" name="Shape 18"/>
          <p:cNvSpPr/>
          <p:nvPr/>
        </p:nvSpPr>
        <p:spPr>
          <a:xfrm>
            <a:off x="804672" y="4138926"/>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1" name="Text 19"/>
          <p:cNvSpPr txBox="1"/>
          <p:nvPr/>
        </p:nvSpPr>
        <p:spPr>
          <a:xfrm>
            <a:off x="804672" y="4138926"/>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4</a:t>
            </a:r>
            <a:endParaRPr lang="fr-FR" sz="1400" noProof="0" dirty="0"/>
          </a:p>
        </p:txBody>
      </p:sp>
      <p:sp>
        <p:nvSpPr>
          <p:cNvPr id="22" name="Text 20"/>
          <p:cNvSpPr txBox="1"/>
          <p:nvPr/>
        </p:nvSpPr>
        <p:spPr>
          <a:xfrm>
            <a:off x="1463040" y="4111347"/>
            <a:ext cx="9866376" cy="475782"/>
          </a:xfrm>
          <a:prstGeom prst="rect">
            <a:avLst/>
          </a:prstGeom>
          <a:noFill/>
          <a:ln/>
        </p:spPr>
        <p:txBody>
          <a:bodyPr wrap="square" lIns="0" tIns="0" rIns="0" bIns="0" rtlCol="0" anchor="ctr">
            <a:noAutofit/>
          </a:bodyPr>
          <a:lstStyle/>
          <a:p>
            <a:pPr marL="0" indent="0">
              <a:lnSpc>
                <a:spcPct val="104000"/>
              </a:lnSpc>
              <a:buNone/>
            </a:pPr>
            <a:r>
              <a:rPr lang="fr-FR" sz="1350" noProof="0" dirty="0">
                <a:solidFill>
                  <a:srgbClr val="23303F"/>
                </a:solidFill>
                <a:latin typeface="Calibri" pitchFamily="34" charset="0"/>
                <a:ea typeface="Calibri" pitchFamily="34" charset="-122"/>
                <a:cs typeface="Calibri" pitchFamily="34" charset="-120"/>
              </a:rPr>
              <a:t>Interprétez un résultat de dépistage et énoncez la bonne étape suivante pour cette femme.</a:t>
            </a:r>
            <a:endParaRPr lang="fr-FR" sz="1350" noProof="0" dirty="0"/>
          </a:p>
        </p:txBody>
      </p:sp>
      <p:sp>
        <p:nvSpPr>
          <p:cNvPr id="23" name="Shape 21"/>
          <p:cNvSpPr/>
          <p:nvPr/>
        </p:nvSpPr>
        <p:spPr>
          <a:xfrm>
            <a:off x="566928" y="4747710"/>
            <a:ext cx="11055096" cy="585510"/>
          </a:xfrm>
          <a:prstGeom prst="roundRect">
            <a:avLst>
              <a:gd name="adj" fmla="val 10932"/>
            </a:avLst>
          </a:prstGeom>
          <a:solidFill>
            <a:srgbClr val="F3F6FB"/>
          </a:solidFill>
          <a:ln w="12700">
            <a:solidFill>
              <a:srgbClr val="E0E3EA"/>
            </a:solidFill>
            <a:prstDash val="solid"/>
          </a:ln>
        </p:spPr>
        <p:txBody>
          <a:bodyPr/>
          <a:lstStyle/>
          <a:p>
            <a:endParaRPr lang="fr-FR" noProof="0" dirty="0"/>
          </a:p>
        </p:txBody>
      </p:sp>
      <p:sp>
        <p:nvSpPr>
          <p:cNvPr id="24" name="Shape 22"/>
          <p:cNvSpPr/>
          <p:nvPr/>
        </p:nvSpPr>
        <p:spPr>
          <a:xfrm>
            <a:off x="804672" y="4830153"/>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5" name="Text 23"/>
          <p:cNvSpPr txBox="1"/>
          <p:nvPr/>
        </p:nvSpPr>
        <p:spPr>
          <a:xfrm>
            <a:off x="804672" y="4830153"/>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5</a:t>
            </a:r>
            <a:endParaRPr lang="fr-FR" sz="1400" noProof="0" dirty="0"/>
          </a:p>
        </p:txBody>
      </p:sp>
      <p:sp>
        <p:nvSpPr>
          <p:cNvPr id="26" name="Text 24"/>
          <p:cNvSpPr txBox="1"/>
          <p:nvPr/>
        </p:nvSpPr>
        <p:spPr>
          <a:xfrm>
            <a:off x="1463040" y="4802574"/>
            <a:ext cx="9866376" cy="475782"/>
          </a:xfrm>
          <a:prstGeom prst="rect">
            <a:avLst/>
          </a:prstGeom>
          <a:noFill/>
          <a:ln/>
        </p:spPr>
        <p:txBody>
          <a:bodyPr wrap="square" lIns="0" tIns="0" rIns="0" bIns="0" rtlCol="0" anchor="ctr">
            <a:noAutofit/>
          </a:bodyPr>
          <a:lstStyle/>
          <a:p>
            <a:pPr marL="0" indent="0">
              <a:lnSpc>
                <a:spcPct val="104000"/>
              </a:lnSpc>
              <a:buNone/>
            </a:pPr>
            <a:r>
              <a:rPr lang="fr-FR" sz="1350" noProof="0" dirty="0">
                <a:solidFill>
                  <a:srgbClr val="23303F"/>
                </a:solidFill>
                <a:latin typeface="Calibri" pitchFamily="34" charset="0"/>
                <a:ea typeface="Calibri" pitchFamily="34" charset="-122"/>
                <a:cs typeface="Calibri" pitchFamily="34" charset="-120"/>
              </a:rPr>
              <a:t>Orientez avec le degré d'urgence approprié, conseillez sans stigmatisation, et consignez les informations nécessaires au registre national du cancer.</a:t>
            </a:r>
            <a:endParaRPr lang="fr-FR" sz="1350" noProof="0" dirty="0"/>
          </a:p>
        </p:txBody>
      </p:sp>
      <p:sp>
        <p:nvSpPr>
          <p:cNvPr id="27" name="Shape 25"/>
          <p:cNvSpPr/>
          <p:nvPr/>
        </p:nvSpPr>
        <p:spPr>
          <a:xfrm>
            <a:off x="566928" y="5438938"/>
            <a:ext cx="11055096" cy="585510"/>
          </a:xfrm>
          <a:prstGeom prst="roundRect">
            <a:avLst>
              <a:gd name="adj" fmla="val 10932"/>
            </a:avLst>
          </a:prstGeom>
          <a:solidFill>
            <a:srgbClr val="F3F6FB"/>
          </a:solidFill>
          <a:ln w="12700">
            <a:solidFill>
              <a:srgbClr val="E0E3EA"/>
            </a:solidFill>
            <a:prstDash val="solid"/>
          </a:ln>
        </p:spPr>
        <p:txBody>
          <a:bodyPr/>
          <a:lstStyle/>
          <a:p>
            <a:endParaRPr lang="fr-FR" noProof="0" dirty="0"/>
          </a:p>
        </p:txBody>
      </p:sp>
      <p:sp>
        <p:nvSpPr>
          <p:cNvPr id="28" name="Shape 26"/>
          <p:cNvSpPr/>
          <p:nvPr/>
        </p:nvSpPr>
        <p:spPr>
          <a:xfrm>
            <a:off x="804672" y="5521381"/>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9" name="Text 27"/>
          <p:cNvSpPr txBox="1"/>
          <p:nvPr/>
        </p:nvSpPr>
        <p:spPr>
          <a:xfrm>
            <a:off x="804672" y="5521381"/>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6</a:t>
            </a:r>
            <a:endParaRPr lang="fr-FR" sz="1400" noProof="0" dirty="0"/>
          </a:p>
        </p:txBody>
      </p:sp>
      <p:sp>
        <p:nvSpPr>
          <p:cNvPr id="30" name="Text 28"/>
          <p:cNvSpPr txBox="1"/>
          <p:nvPr/>
        </p:nvSpPr>
        <p:spPr>
          <a:xfrm>
            <a:off x="1463040" y="5493802"/>
            <a:ext cx="9866376" cy="475782"/>
          </a:xfrm>
          <a:prstGeom prst="rect">
            <a:avLst/>
          </a:prstGeom>
          <a:noFill/>
          <a:ln/>
        </p:spPr>
        <p:txBody>
          <a:bodyPr wrap="square" lIns="0" tIns="0" rIns="0" bIns="0" rtlCol="0" anchor="ctr">
            <a:noAutofit/>
          </a:bodyPr>
          <a:lstStyle/>
          <a:p>
            <a:pPr marL="0" indent="0">
              <a:lnSpc>
                <a:spcPct val="104000"/>
              </a:lnSpc>
              <a:buNone/>
            </a:pPr>
            <a:r>
              <a:rPr lang="fr-FR" sz="1350" noProof="0" dirty="0">
                <a:solidFill>
                  <a:srgbClr val="23303F"/>
                </a:solidFill>
                <a:latin typeface="Calibri" pitchFamily="34" charset="0"/>
                <a:ea typeface="Calibri" pitchFamily="34" charset="-122"/>
                <a:cs typeface="Calibri" pitchFamily="34" charset="-120"/>
              </a:rPr>
              <a:t>Soutenir les femmes dans le traitement, le suivi, les soins palliatifs et leur qualité de vie.</a:t>
            </a:r>
            <a:endParaRPr lang="fr-FR" sz="135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endParaRPr lang="fr-FR"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Vingt questions pour vérifier ce que vous savez déjà avant de commencer.</a:t>
            </a:r>
            <a:endParaRPr lang="fr-FR" sz="1800" noProof="0" dirty="0"/>
          </a:p>
        </p:txBody>
      </p:sp>
      <p:sp>
        <p:nvSpPr>
          <p:cNvPr id="7" name="Shape 5"/>
          <p:cNvSpPr/>
          <p:nvPr/>
        </p:nvSpPr>
        <p:spPr>
          <a:xfrm>
            <a:off x="566928" y="2194560"/>
            <a:ext cx="3563112" cy="2377440"/>
          </a:xfrm>
          <a:prstGeom prst="roundRect">
            <a:avLst>
              <a:gd name="adj" fmla="val 3462"/>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22960" y="2377440"/>
            <a:ext cx="3051048" cy="566928"/>
          </a:xfrm>
          <a:prstGeom prst="rect">
            <a:avLst/>
          </a:prstGeom>
          <a:noFill/>
          <a:ln/>
        </p:spPr>
        <p:txBody>
          <a:bodyPr wrap="square" lIns="0" tIns="0" rIns="0" bIns="0" rtlCol="0" anchor="ctr">
            <a:normAutofit fontScale="955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Vingt questions</a:t>
            </a:r>
            <a:endParaRPr lang="fr-FR" sz="2000" noProof="0" dirty="0"/>
          </a:p>
        </p:txBody>
      </p:sp>
      <p:sp>
        <p:nvSpPr>
          <p:cNvPr id="9" name="Text 7"/>
          <p:cNvSpPr txBox="1"/>
          <p:nvPr/>
        </p:nvSpPr>
        <p:spPr>
          <a:xfrm>
            <a:off x="822960" y="2980944"/>
            <a:ext cx="3051048" cy="140817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Une question à chaque écran, avec quatre options de réponse.</a:t>
            </a:r>
            <a:endParaRPr lang="fr-FR" sz="1800" noProof="0" dirty="0"/>
          </a:p>
        </p:txBody>
      </p:sp>
      <p:sp>
        <p:nvSpPr>
          <p:cNvPr id="10" name="Shape 8"/>
          <p:cNvSpPr/>
          <p:nvPr/>
        </p:nvSpPr>
        <p:spPr>
          <a:xfrm>
            <a:off x="4312920" y="2194560"/>
            <a:ext cx="3563112" cy="2377440"/>
          </a:xfrm>
          <a:prstGeom prst="roundRect">
            <a:avLst>
              <a:gd name="adj" fmla="val 3462"/>
            </a:avLst>
          </a:prstGeom>
          <a:solidFill>
            <a:srgbClr val="F3F6FB"/>
          </a:solidFill>
          <a:ln w="12700">
            <a:solidFill>
              <a:srgbClr val="E0E3EA"/>
            </a:solidFill>
            <a:prstDash val="solid"/>
          </a:ln>
        </p:spPr>
        <p:txBody>
          <a:bodyPr/>
          <a:lstStyle/>
          <a:p>
            <a:endParaRPr lang="fr-FR" noProof="0" dirty="0"/>
          </a:p>
        </p:txBody>
      </p:sp>
      <p:sp>
        <p:nvSpPr>
          <p:cNvPr id="11" name="Text 9"/>
          <p:cNvSpPr txBox="1"/>
          <p:nvPr/>
        </p:nvSpPr>
        <p:spPr>
          <a:xfrm>
            <a:off x="4568952" y="2377440"/>
            <a:ext cx="3051048" cy="566928"/>
          </a:xfrm>
          <a:prstGeom prst="rect">
            <a:avLst/>
          </a:prstGeom>
          <a:noFill/>
          <a:ln/>
        </p:spPr>
        <p:txBody>
          <a:bodyPr wrap="square" lIns="0" tIns="0" rIns="0" bIns="0" rtlCol="0" anchor="ctr">
            <a:normAutofit fontScale="955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Non noté</a:t>
            </a:r>
            <a:endParaRPr lang="fr-FR" sz="2000" noProof="0" dirty="0"/>
          </a:p>
        </p:txBody>
      </p:sp>
      <p:sp>
        <p:nvSpPr>
          <p:cNvPr id="12" name="Text 10"/>
          <p:cNvSpPr txBox="1"/>
          <p:nvPr/>
        </p:nvSpPr>
        <p:spPr>
          <a:xfrm>
            <a:off x="4568952" y="2980944"/>
            <a:ext cx="3051048" cy="140817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Vos réponses fixent votre point de départ. Elles n'affectent pas votre résultat.</a:t>
            </a:r>
            <a:endParaRPr lang="fr-FR" sz="1800" noProof="0" dirty="0"/>
          </a:p>
        </p:txBody>
      </p:sp>
      <p:sp>
        <p:nvSpPr>
          <p:cNvPr id="13" name="Shape 11"/>
          <p:cNvSpPr/>
          <p:nvPr/>
        </p:nvSpPr>
        <p:spPr>
          <a:xfrm>
            <a:off x="8058912" y="2194560"/>
            <a:ext cx="3563112" cy="2377440"/>
          </a:xfrm>
          <a:prstGeom prst="roundRect">
            <a:avLst>
              <a:gd name="adj" fmla="val 3462"/>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314944" y="2377440"/>
            <a:ext cx="3051048" cy="566928"/>
          </a:xfrm>
          <a:prstGeom prst="rect">
            <a:avLst/>
          </a:prstGeom>
          <a:noFill/>
          <a:ln/>
        </p:spPr>
        <p:txBody>
          <a:bodyPr wrap="square" lIns="0" tIns="0" rIns="0" bIns="0" rtlCol="0" anchor="ctr">
            <a:normAutofit fontScale="95500" lnSpcReduction="100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Vous rencontrerez à nouveau ces idées</a:t>
            </a:r>
            <a:endParaRPr lang="fr-FR" sz="2000" noProof="0" dirty="0"/>
          </a:p>
        </p:txBody>
      </p:sp>
      <p:sp>
        <p:nvSpPr>
          <p:cNvPr id="15" name="Text 13"/>
          <p:cNvSpPr txBox="1"/>
          <p:nvPr/>
        </p:nvSpPr>
        <p:spPr>
          <a:xfrm>
            <a:off x="8314944" y="2980944"/>
            <a:ext cx="3051048" cy="1408176"/>
          </a:xfrm>
          <a:prstGeom prst="rect">
            <a:avLst/>
          </a:prstGeom>
          <a:noFill/>
          <a:ln/>
        </p:spPr>
        <p:txBody>
          <a:bodyPr wrap="square" lIns="0" tIns="0" rIns="0" bIns="0" rtlCol="0" anchor="t"/>
          <a:lstStyle/>
          <a:p>
            <a:pPr>
              <a:lnSpc>
                <a:spcPct val="106000"/>
              </a:lnSpc>
            </a:pPr>
            <a:r>
              <a:rPr lang="fr-FR" sz="1800" noProof="0" dirty="0">
                <a:solidFill>
                  <a:srgbClr val="23303F"/>
                </a:solidFill>
                <a:latin typeface="Calibri" pitchFamily="34" charset="0"/>
                <a:ea typeface="Calibri" pitchFamily="34" charset="-122"/>
                <a:cs typeface="Calibri" pitchFamily="34" charset="-120"/>
              </a:rPr>
              <a:t>L’</a:t>
            </a:r>
            <a:r>
              <a:rPr lang="fr-FR" dirty="0">
                <a:solidFill>
                  <a:srgbClr val="23303F"/>
                </a:solidFill>
                <a:latin typeface="Calibri" pitchFamily="34" charset="0"/>
                <a:ea typeface="Calibri" pitchFamily="34" charset="-122"/>
                <a:cs typeface="Calibri" pitchFamily="34" charset="-120"/>
              </a:rPr>
              <a:t>évaluation finale</a:t>
            </a:r>
            <a:r>
              <a:rPr lang="fr-FR" sz="1800" noProof="0" dirty="0">
                <a:solidFill>
                  <a:srgbClr val="23303F"/>
                </a:solidFill>
                <a:latin typeface="Calibri" pitchFamily="34" charset="0"/>
                <a:ea typeface="Calibri" pitchFamily="34" charset="-122"/>
                <a:cs typeface="Calibri" pitchFamily="34" charset="-120"/>
              </a:rPr>
              <a:t> à la fin aborde les mêmes concepts, avec réponses et commentaires explicatifs.</a:t>
            </a:r>
            <a:endParaRPr lang="fr-FR" sz="18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Presque tous les cancers du col de l'utérus sont causés par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Une infection bactérienne</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Infection persistante avec un type de HPV à haut risque</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Un défaut génétique hérité</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Mauvaise alimentation</a:t>
            </a:r>
            <a:endParaRPr lang="fr-FR" sz="18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2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La plupart des cancers du col de l'utérus sont de quel type de tumeur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 sarcome</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Mélanome</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Lymphome</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Carcinome épidermoïde</a:t>
            </a:r>
            <a:endParaRPr lang="fr-FR" sz="18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3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cancer du col de l'utérus se développe généralement à partir de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Changements précancéreux dans la zone de transformation</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Fibromes utérins</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Kystes ovariens</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Candidose non traitée</a:t>
            </a:r>
            <a:endParaRPr lang="fr-FR" sz="18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4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cancer précoce du col de l'utérus et le </a:t>
            </a:r>
            <a:r>
              <a:rPr lang="fr-FR" sz="2000" b="1" noProof="0" dirty="0" err="1">
                <a:solidFill>
                  <a:srgbClr val="23303F"/>
                </a:solidFill>
                <a:latin typeface="Calibri" pitchFamily="34" charset="0"/>
                <a:ea typeface="Calibri" pitchFamily="34" charset="-122"/>
                <a:cs typeface="Calibri" pitchFamily="34" charset="-120"/>
              </a:rPr>
              <a:t>précancer</a:t>
            </a:r>
            <a:r>
              <a:rPr lang="fr-FR" sz="2000" b="1" noProof="0" dirty="0">
                <a:solidFill>
                  <a:srgbClr val="23303F"/>
                </a:solidFill>
                <a:latin typeface="Calibri" pitchFamily="34" charset="0"/>
                <a:ea typeface="Calibri" pitchFamily="34" charset="-122"/>
                <a:cs typeface="Calibri" pitchFamily="34" charset="-120"/>
              </a:rPr>
              <a:t> du col de l'utérus provoquent généralement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Une douleur pelvienne intense</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Saignement abondant immédiat</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Souvent aucun symptôme du tout</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Fièvre élevée</a:t>
            </a:r>
            <a:endParaRPr lang="fr-FR" sz="18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5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vaccin contre le HPV fonctionne mieux lorsqu'il est administré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Avant l'exposition au HPV, à partir de l'âge de 9 ans</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Après le début de l'activité sexuelle</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Seulement après l'âge de 30 ans</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Pendant la grossesse</a:t>
            </a:r>
            <a:endParaRPr lang="fr-FR" sz="18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6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 test HPV positif signifie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Le cancer du col de l'utérus est confirmé</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Le HPV à haut risque a été détecté et l'étape suivante dans la voie de dépistage est nécessaire</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Aucune action n'est nécessaire</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 traitement antibiotique doit être commencé</a:t>
            </a:r>
            <a:endParaRPr lang="fr-FR" sz="18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7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dépistage s'applique à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Femmes présentant des symptômes inquiétants</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Femmes éligibles sans symptômes</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Femmes déjà diagnostiquées avec un cancer</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Personne</a:t>
            </a:r>
            <a:endParaRPr lang="fr-FR" sz="18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8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Comparées à d'autres femmes, les femmes vivant avec le VIH ont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Le même risque de cancer du col de l'utérus</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Pas besoin de dépistage</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Risque moindre</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 risque accru d'infection persistante par le HPV, de précancer et de cancer du col de l'utérus</a:t>
            </a:r>
            <a:endParaRPr lang="fr-FR" sz="18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9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L'ablation thermique est utilisée pour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Traiter une lésion précancéreuse éligible du col de l'utérus</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Retirer un cancer invasif</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Confirmer un diagnostic</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Remplacer le test du HPV</a:t>
            </a:r>
            <a:endParaRPr lang="fr-FR" sz="18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10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cancer du col de l'utérus invasif est confirmé par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 test HPV seul</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Inspection visuelle avec l'acide acétique seul</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Biopsie et examen histopathologique</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Échographie seule</a:t>
            </a:r>
            <a:endParaRPr lang="fr-FR" sz="18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11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Les saignements après un rapport sexuel chez une femme adulte doivent être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Considéré comme normal</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Traité uniquement avec des antibiotiques</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Ignoré si c'est indolore</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Faire l'objet d'une évaluation appropriée, car plusieurs causes sont possibles</a:t>
            </a:r>
            <a:endParaRPr lang="fr-FR" sz="18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12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zone </a:t>
            </a:r>
            <a:r>
              <a:rPr lang="fr-FR" sz="2000" b="1" noProof="0" dirty="0" err="1">
                <a:solidFill>
                  <a:srgbClr val="23303F"/>
                </a:solidFill>
                <a:latin typeface="Calibri" pitchFamily="34" charset="0"/>
                <a:ea typeface="Calibri" pitchFamily="34" charset="-122"/>
                <a:cs typeface="Calibri" pitchFamily="34" charset="-120"/>
              </a:rPr>
              <a:t>acétoblanche</a:t>
            </a:r>
            <a:r>
              <a:rPr lang="fr-FR" sz="2000" b="1" noProof="0" dirty="0">
                <a:solidFill>
                  <a:srgbClr val="23303F"/>
                </a:solidFill>
                <a:latin typeface="Calibri" pitchFamily="34" charset="0"/>
                <a:ea typeface="Calibri" pitchFamily="34" charset="-122"/>
                <a:cs typeface="Calibri" pitchFamily="34" charset="-120"/>
              </a:rPr>
              <a:t> observée lors de l'inspection visuelle à l'acide acétique observée à l'inspection visuelle avec de l'acide acétique signifie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 cancer du col de l'utérus est confirmé</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La femme a une infection</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Rien du tout</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Modification cervicale qui nécessite une prise en charge ou une évaluation complémentaire</a:t>
            </a:r>
            <a:endParaRPr lang="fr-FR" sz="180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13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cancer du col de l'utérus invasif est </a:t>
            </a:r>
            <a:r>
              <a:rPr lang="fr-FR" sz="2000" b="1" noProof="0" dirty="0" err="1">
                <a:solidFill>
                  <a:srgbClr val="23303F"/>
                </a:solidFill>
                <a:latin typeface="Calibri" pitchFamily="34" charset="0"/>
                <a:ea typeface="Calibri" pitchFamily="34" charset="-122"/>
                <a:cs typeface="Calibri" pitchFamily="34" charset="-120"/>
              </a:rPr>
              <a:t>stadé</a:t>
            </a:r>
            <a:r>
              <a:rPr lang="fr-FR" sz="2000" b="1" noProof="0" dirty="0">
                <a:solidFill>
                  <a:srgbClr val="23303F"/>
                </a:solidFill>
                <a:latin typeface="Calibri" pitchFamily="34" charset="0"/>
                <a:ea typeface="Calibri" pitchFamily="34" charset="-122"/>
                <a:cs typeface="Calibri" pitchFamily="34" charset="-120"/>
              </a:rPr>
              <a:t> à l'aide de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Le système FIGO</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Le score de Gleason</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Le système Bethesda</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Classification des Dukes</a:t>
            </a:r>
            <a:endParaRPr lang="fr-FR" sz="180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14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Quelle découverte nécessite une évaluation urgente le jour même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Saignements vaginaux abondants avec vertiges et pâleur</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Des pertes vaginales légères</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Douleurs occasionnelles au dos</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Légères démangeaisons vulvaires</a:t>
            </a:r>
            <a:endParaRPr lang="fr-FR" sz="180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15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stade décrit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L'aspect anormal des cellules au microscope</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Le type de HPV détecté</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Jusqu'où le cancer s'est propagé</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Le traitement choisi</a:t>
            </a:r>
            <a:endParaRPr lang="fr-FR" sz="18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16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lésion précancéreuse cervicale de haut grade est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 cancer invasif</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Ce n'est pas un cancer, mais une lésion qui peut progresser si elle n'est pas traitée</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Jamais important</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 type de fibrome</a:t>
            </a:r>
            <a:endParaRPr lang="fr-FR" sz="18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17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Curiethérapie dans le cancer du col de l'utérus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noAutofit/>
          </a:bodyP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N'a pas de rôle établi</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noAutofit/>
          </a:bodyP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Administre une radiothérapie au plus près du col de l'utérus et constitue une composante importante du traitement curatif de nombreux cancers localement avancés</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noAutofit/>
          </a:bodyP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Remplace la chirurgie dans tous les cas</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noAutofit/>
          </a:bodyP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Est un type de chimiothérapie</a:t>
            </a:r>
            <a:endParaRPr lang="fr-FR" sz="180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18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Après le traitement d'une lésion précancéreuse du col de l'utérus, une femme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Ne nécessite pas de contrôle supplémentaire</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Devient immunisée contre le HPV</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Nécessite un test de suivi planifié</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Doit renoncer à avoir d'autres enfants</a:t>
            </a:r>
            <a:endParaRPr lang="fr-FR" sz="18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19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Les soins palliatifs sont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Seulement pour les derniers jours de sa vie</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C'est la même chose que d'arrêter les soins</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Soulagement des symptômes et soutien de la qualité de vie, parallèlement au traitement anticancéreux lorsque cela est approprié</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Seulement des médicaments contre la douleur</a:t>
            </a:r>
            <a:endParaRPr lang="fr-FR" sz="1800"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VÉRIFICATION DE BASE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initiale </a:t>
            </a:r>
            <a:r>
              <a:rPr lang="fr-FR" sz="3200" b="1" noProof="0" dirty="0">
                <a:solidFill>
                  <a:srgbClr val="10305A"/>
                </a:solidFill>
                <a:latin typeface="Cambria" pitchFamily="34" charset="0"/>
                <a:ea typeface="Cambria" pitchFamily="34" charset="-122"/>
                <a:cs typeface="Cambria" pitchFamily="34" charset="-120"/>
              </a:rPr>
              <a:t> : question 20 sur 20</a:t>
            </a:r>
            <a:endParaRPr lang="fr-FR"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dont le col de l'utérus semble suspect pour un cancer invasif devrait :</a:t>
            </a:r>
            <a:endParaRPr lang="fr-FR"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Recevoir une ablation thermique lors de la même visite</a:t>
            </a:r>
            <a:endParaRPr lang="fr-FR"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Refaire le test HPV</a:t>
            </a:r>
            <a:endParaRPr lang="fr-FR"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Être rassurée et revue dans un an</a:t>
            </a:r>
            <a:endParaRPr lang="fr-FR"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Être orientée pour une évaluation diagnostique et une biopsie</a:t>
            </a:r>
            <a:endParaRPr lang="fr-FR" sz="1800"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2F5C"/>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8FA3C2"/>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8FA3C2"/>
                </a:solidFill>
                <a:latin typeface="Calibri" pitchFamily="34" charset="0"/>
                <a:ea typeface="Calibri" pitchFamily="34" charset="-122"/>
                <a:cs typeface="Calibri" pitchFamily="34" charset="-120"/>
              </a:rPr>
              <a:t>Écran 26</a:t>
            </a:r>
            <a:endParaRPr lang="fr-FR" sz="1100" noProof="0" dirty="0"/>
          </a:p>
        </p:txBody>
      </p:sp>
      <p:sp>
        <p:nvSpPr>
          <p:cNvPr id="4" name="Text 2"/>
          <p:cNvSpPr txBox="1"/>
          <p:nvPr/>
        </p:nvSpPr>
        <p:spPr>
          <a:xfrm>
            <a:off x="7680960" y="365760"/>
            <a:ext cx="4023360" cy="5852160"/>
          </a:xfrm>
          <a:prstGeom prst="rect">
            <a:avLst/>
          </a:prstGeom>
          <a:noFill/>
          <a:ln/>
        </p:spPr>
        <p:txBody>
          <a:bodyPr wrap="square" lIns="0" tIns="0" rIns="0" bIns="0" rtlCol="0" anchor="ctr"/>
          <a:lstStyle/>
          <a:p>
            <a:pPr marL="0" indent="0" algn="r">
              <a:buNone/>
            </a:pPr>
            <a:r>
              <a:rPr lang="fr-FR" sz="30000" b="1" noProof="0" dirty="0">
                <a:solidFill>
                  <a:srgbClr val="16406F"/>
                </a:solidFill>
                <a:latin typeface="Cambria" pitchFamily="34" charset="0"/>
                <a:ea typeface="Cambria" pitchFamily="34" charset="-122"/>
                <a:cs typeface="Cambria" pitchFamily="34" charset="-120"/>
              </a:rPr>
              <a:t>1</a:t>
            </a:r>
            <a:endParaRPr lang="fr-FR" sz="30000" noProof="0" dirty="0"/>
          </a:p>
        </p:txBody>
      </p:sp>
      <p:sp>
        <p:nvSpPr>
          <p:cNvPr id="5" name="Text 3"/>
          <p:cNvSpPr txBox="1"/>
          <p:nvPr/>
        </p:nvSpPr>
        <p:spPr>
          <a:xfrm>
            <a:off x="566928" y="1874520"/>
            <a:ext cx="7315200" cy="329184"/>
          </a:xfrm>
          <a:prstGeom prst="rect">
            <a:avLst/>
          </a:prstGeom>
          <a:noFill/>
          <a:ln/>
        </p:spPr>
        <p:txBody>
          <a:bodyPr wrap="square" lIns="0" tIns="0" rIns="0" bIns="0" rtlCol="0" anchor="ctr"/>
          <a:lstStyle/>
          <a:p>
            <a:pPr marL="0" indent="0">
              <a:buNone/>
            </a:pPr>
            <a:r>
              <a:rPr lang="fr-FR" sz="1300" b="1" kern="0" spc="300" noProof="0" dirty="0">
                <a:solidFill>
                  <a:srgbClr val="9FB8DA"/>
                </a:solidFill>
                <a:latin typeface="Calibri" pitchFamily="34" charset="0"/>
                <a:ea typeface="Calibri" pitchFamily="34" charset="-122"/>
                <a:cs typeface="Calibri" pitchFamily="34" charset="-120"/>
              </a:rPr>
              <a:t>S E S S I O N 1</a:t>
            </a:r>
            <a:endParaRPr lang="fr-FR" sz="1300" noProof="0" dirty="0">
              <a:solidFill>
                <a:srgbClr val="23303F"/>
              </a:solidFill>
            </a:endParaRPr>
          </a:p>
        </p:txBody>
      </p:sp>
      <p:sp>
        <p:nvSpPr>
          <p:cNvPr id="6" name="Text 4"/>
          <p:cNvSpPr txBox="1"/>
          <p:nvPr/>
        </p:nvSpPr>
        <p:spPr>
          <a:xfrm>
            <a:off x="566928" y="2286000"/>
            <a:ext cx="7680960" cy="1371600"/>
          </a:xfrm>
          <a:prstGeom prst="rect">
            <a:avLst/>
          </a:prstGeom>
          <a:noFill/>
          <a:ln/>
        </p:spPr>
        <p:txBody>
          <a:bodyPr wrap="square" lIns="0" tIns="0" rIns="0" bIns="0" rtlCol="0" anchor="ctr"/>
          <a:lstStyle/>
          <a:p>
            <a:pPr marL="0" indent="0">
              <a:buNone/>
            </a:pPr>
            <a:r>
              <a:rPr lang="fr-FR" sz="4000" b="1" noProof="0" dirty="0">
                <a:solidFill>
                  <a:srgbClr val="FFFFFF"/>
                </a:solidFill>
                <a:latin typeface="Cambria" pitchFamily="34" charset="0"/>
                <a:ea typeface="Cambria" pitchFamily="34" charset="-122"/>
                <a:cs typeface="Cambria" pitchFamily="34" charset="-120"/>
              </a:rPr>
              <a:t>Comprendre le cancer du col de l'utérus</a:t>
            </a:r>
            <a:endParaRPr lang="fr-FR" sz="4000" noProof="0" dirty="0"/>
          </a:p>
        </p:txBody>
      </p:sp>
      <p:sp>
        <p:nvSpPr>
          <p:cNvPr id="7" name="Text 5"/>
          <p:cNvSpPr txBox="1"/>
          <p:nvPr/>
        </p:nvSpPr>
        <p:spPr>
          <a:xfrm>
            <a:off x="566928" y="3794760"/>
            <a:ext cx="7040880" cy="1463040"/>
          </a:xfrm>
          <a:prstGeom prst="rect">
            <a:avLst/>
          </a:prstGeom>
          <a:noFill/>
          <a:ln/>
        </p:spPr>
        <p:txBody>
          <a:bodyPr wrap="square" lIns="0" tIns="0" rIns="0" bIns="0" rtlCol="0" anchor="t"/>
          <a:lstStyle/>
          <a:p>
            <a:pPr>
              <a:lnSpc>
                <a:spcPct val="118000"/>
              </a:lnSpc>
            </a:pPr>
            <a:r>
              <a:rPr lang="fr-FR" sz="1800" noProof="0" dirty="0">
                <a:solidFill>
                  <a:srgbClr val="C6D5EA"/>
                </a:solidFill>
                <a:latin typeface="Calibri" pitchFamily="34" charset="0"/>
                <a:ea typeface="Calibri" pitchFamily="34" charset="-122"/>
                <a:cs typeface="Calibri" pitchFamily="34" charset="-120"/>
              </a:rPr>
              <a:t>Qu'est-ce qu'est le cancer du col de l'utérus, où il se développe, comment un virus courant le cause, quelle est l'ampleur du </a:t>
            </a:r>
            <a:r>
              <a:rPr lang="fr-FR" dirty="0">
                <a:solidFill>
                  <a:srgbClr val="C6D5EA"/>
                </a:solidFill>
                <a:latin typeface="Calibri" pitchFamily="34" charset="0"/>
                <a:ea typeface="Calibri" pitchFamily="34" charset="-122"/>
                <a:cs typeface="Calibri" pitchFamily="34" charset="-120"/>
              </a:rPr>
              <a:t>fardeau épidémiologique</a:t>
            </a:r>
            <a:r>
              <a:rPr lang="fr-FR" sz="1800" noProof="0" dirty="0">
                <a:solidFill>
                  <a:srgbClr val="C6D5EA"/>
                </a:solidFill>
                <a:latin typeface="Calibri" pitchFamily="34" charset="0"/>
                <a:ea typeface="Calibri" pitchFamily="34" charset="-122"/>
                <a:cs typeface="Calibri" pitchFamily="34" charset="-120"/>
              </a:rPr>
              <a:t> au Rwanda, et ce que signifient le stade et le grade.</a:t>
            </a:r>
            <a:endParaRPr lang="fr-FR" sz="1800"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Objectifs d'apprentissage</a:t>
            </a:r>
            <a:endParaRPr lang="fr-FR" sz="3200" noProof="0" dirty="0"/>
          </a:p>
        </p:txBody>
      </p:sp>
      <p:sp>
        <p:nvSpPr>
          <p:cNvPr id="6" name="Text 4"/>
          <p:cNvSpPr txBox="1"/>
          <p:nvPr/>
        </p:nvSpPr>
        <p:spPr>
          <a:xfrm>
            <a:off x="566928" y="1554480"/>
            <a:ext cx="11055096" cy="384048"/>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À la fin de cette session, vous serez en mesure de :</a:t>
            </a:r>
            <a:endParaRPr lang="fr-FR" sz="1800" noProof="0" dirty="0"/>
          </a:p>
        </p:txBody>
      </p:sp>
      <p:sp>
        <p:nvSpPr>
          <p:cNvPr id="7" name="Shape 5"/>
          <p:cNvSpPr/>
          <p:nvPr/>
        </p:nvSpPr>
        <p:spPr>
          <a:xfrm>
            <a:off x="566928" y="1975104"/>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04672" y="2069889"/>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04672" y="2069889"/>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1</a:t>
            </a:r>
            <a:endParaRPr lang="fr-FR" sz="1400" noProof="0" dirty="0"/>
          </a:p>
        </p:txBody>
      </p:sp>
      <p:sp>
        <p:nvSpPr>
          <p:cNvPr id="10" name="Text 8"/>
          <p:cNvSpPr txBox="1"/>
          <p:nvPr/>
        </p:nvSpPr>
        <p:spPr>
          <a:xfrm>
            <a:off x="1463040" y="2029968"/>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Décrivez ce qu'est le cancer du col de l'utérus et où il se développe dans le col de l'utérus.</a:t>
            </a:r>
            <a:endParaRPr lang="fr-FR" sz="1710" noProof="0" dirty="0"/>
          </a:p>
        </p:txBody>
      </p:sp>
      <p:sp>
        <p:nvSpPr>
          <p:cNvPr id="11" name="Shape 9"/>
          <p:cNvSpPr/>
          <p:nvPr/>
        </p:nvSpPr>
        <p:spPr>
          <a:xfrm>
            <a:off x="566928" y="2686998"/>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04672" y="2781783"/>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04672" y="2781783"/>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2</a:t>
            </a:r>
            <a:endParaRPr lang="fr-FR" sz="1400" noProof="0" dirty="0"/>
          </a:p>
        </p:txBody>
      </p:sp>
      <p:sp>
        <p:nvSpPr>
          <p:cNvPr id="14" name="Text 12"/>
          <p:cNvSpPr txBox="1"/>
          <p:nvPr/>
        </p:nvSpPr>
        <p:spPr>
          <a:xfrm>
            <a:off x="1463040" y="2741862"/>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Expliquez l'anatomie du col de l'utérus, la jonction </a:t>
            </a:r>
            <a:r>
              <a:rPr lang="fr-FR" sz="1710" noProof="0" dirty="0" err="1">
                <a:solidFill>
                  <a:srgbClr val="23303F"/>
                </a:solidFill>
                <a:latin typeface="Calibri" pitchFamily="34" charset="0"/>
                <a:ea typeface="Calibri" pitchFamily="34" charset="-122"/>
                <a:cs typeface="Calibri" pitchFamily="34" charset="-120"/>
              </a:rPr>
              <a:t>squamocylindrique</a:t>
            </a:r>
            <a:r>
              <a:rPr lang="fr-FR" sz="1710" noProof="0" dirty="0">
                <a:solidFill>
                  <a:srgbClr val="23303F"/>
                </a:solidFill>
                <a:latin typeface="Calibri" pitchFamily="34" charset="0"/>
                <a:ea typeface="Calibri" pitchFamily="34" charset="-122"/>
                <a:cs typeface="Calibri" pitchFamily="34" charset="-120"/>
              </a:rPr>
              <a:t> et pourquoi la zone de transformation est importante.</a:t>
            </a:r>
            <a:endParaRPr lang="fr-FR" sz="1710" noProof="0" dirty="0"/>
          </a:p>
        </p:txBody>
      </p:sp>
      <p:sp>
        <p:nvSpPr>
          <p:cNvPr id="15" name="Shape 13"/>
          <p:cNvSpPr/>
          <p:nvPr/>
        </p:nvSpPr>
        <p:spPr>
          <a:xfrm>
            <a:off x="566928" y="3398892"/>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04672" y="3493677"/>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04672" y="3493677"/>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3</a:t>
            </a:r>
            <a:endParaRPr lang="fr-FR" sz="1400" noProof="0" dirty="0"/>
          </a:p>
        </p:txBody>
      </p:sp>
      <p:sp>
        <p:nvSpPr>
          <p:cNvPr id="18" name="Text 16"/>
          <p:cNvSpPr txBox="1"/>
          <p:nvPr/>
        </p:nvSpPr>
        <p:spPr>
          <a:xfrm>
            <a:off x="1463040" y="3453756"/>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Expliquez comment une infection persistante à haut risque par le HPV conduit à un </a:t>
            </a:r>
            <a:r>
              <a:rPr lang="fr-FR" sz="1710" noProof="0" dirty="0" err="1">
                <a:solidFill>
                  <a:srgbClr val="23303F"/>
                </a:solidFill>
                <a:latin typeface="Calibri" pitchFamily="34" charset="0"/>
                <a:ea typeface="Calibri" pitchFamily="34" charset="-122"/>
                <a:cs typeface="Calibri" pitchFamily="34" charset="-120"/>
              </a:rPr>
              <a:t>précancer</a:t>
            </a:r>
            <a:r>
              <a:rPr lang="fr-FR" sz="1710" noProof="0" dirty="0">
                <a:solidFill>
                  <a:srgbClr val="23303F"/>
                </a:solidFill>
                <a:latin typeface="Calibri" pitchFamily="34" charset="0"/>
                <a:ea typeface="Calibri" pitchFamily="34" charset="-122"/>
                <a:cs typeface="Calibri" pitchFamily="34" charset="-120"/>
              </a:rPr>
              <a:t> du col de l'utérus.</a:t>
            </a:r>
            <a:endParaRPr lang="fr-FR" sz="1710" noProof="0" dirty="0"/>
          </a:p>
        </p:txBody>
      </p:sp>
      <p:sp>
        <p:nvSpPr>
          <p:cNvPr id="19" name="Shape 17"/>
          <p:cNvSpPr/>
          <p:nvPr/>
        </p:nvSpPr>
        <p:spPr>
          <a:xfrm>
            <a:off x="566928" y="4110786"/>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0" name="Shape 18"/>
          <p:cNvSpPr/>
          <p:nvPr/>
        </p:nvSpPr>
        <p:spPr>
          <a:xfrm>
            <a:off x="804672" y="4205571"/>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1" name="Text 19"/>
          <p:cNvSpPr txBox="1"/>
          <p:nvPr/>
        </p:nvSpPr>
        <p:spPr>
          <a:xfrm>
            <a:off x="804672" y="4205571"/>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4</a:t>
            </a:r>
            <a:endParaRPr lang="fr-FR" sz="1400" noProof="0" dirty="0"/>
          </a:p>
        </p:txBody>
      </p:sp>
      <p:sp>
        <p:nvSpPr>
          <p:cNvPr id="22" name="Text 20"/>
          <p:cNvSpPr txBox="1"/>
          <p:nvPr/>
        </p:nvSpPr>
        <p:spPr>
          <a:xfrm>
            <a:off x="1463040" y="4165650"/>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Identifier les lésions précancéreuses du col de l'utérus et les distinguer du cancer invasif.</a:t>
            </a:r>
            <a:endParaRPr lang="fr-FR" sz="1710" noProof="0" dirty="0"/>
          </a:p>
        </p:txBody>
      </p:sp>
      <p:sp>
        <p:nvSpPr>
          <p:cNvPr id="23" name="Shape 21"/>
          <p:cNvSpPr/>
          <p:nvPr/>
        </p:nvSpPr>
        <p:spPr>
          <a:xfrm>
            <a:off x="566928" y="4822679"/>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4" name="Shape 22"/>
          <p:cNvSpPr/>
          <p:nvPr/>
        </p:nvSpPr>
        <p:spPr>
          <a:xfrm>
            <a:off x="804672" y="4917465"/>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5" name="Text 23"/>
          <p:cNvSpPr txBox="1"/>
          <p:nvPr/>
        </p:nvSpPr>
        <p:spPr>
          <a:xfrm>
            <a:off x="804672" y="4917465"/>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5</a:t>
            </a:r>
            <a:endParaRPr lang="fr-FR" sz="1400" noProof="0" dirty="0"/>
          </a:p>
        </p:txBody>
      </p:sp>
      <p:sp>
        <p:nvSpPr>
          <p:cNvPr id="26" name="Text 24"/>
          <p:cNvSpPr txBox="1"/>
          <p:nvPr/>
        </p:nvSpPr>
        <p:spPr>
          <a:xfrm>
            <a:off x="1463040" y="4877543"/>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Interprétez la charge mondiale, régionale et rwandaise du cancer du col de l'utérus.</a:t>
            </a:r>
            <a:endParaRPr lang="fr-FR" sz="1710" noProof="0" dirty="0"/>
          </a:p>
        </p:txBody>
      </p:sp>
      <p:sp>
        <p:nvSpPr>
          <p:cNvPr id="27" name="Shape 25"/>
          <p:cNvSpPr/>
          <p:nvPr/>
        </p:nvSpPr>
        <p:spPr>
          <a:xfrm>
            <a:off x="566928" y="5534573"/>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8" name="Shape 26"/>
          <p:cNvSpPr/>
          <p:nvPr/>
        </p:nvSpPr>
        <p:spPr>
          <a:xfrm>
            <a:off x="804672" y="5629359"/>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9" name="Text 27"/>
          <p:cNvSpPr txBox="1"/>
          <p:nvPr/>
        </p:nvSpPr>
        <p:spPr>
          <a:xfrm>
            <a:off x="804672" y="5629359"/>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6</a:t>
            </a:r>
            <a:endParaRPr lang="fr-FR" sz="1400" noProof="0" dirty="0"/>
          </a:p>
        </p:txBody>
      </p:sp>
      <p:sp>
        <p:nvSpPr>
          <p:cNvPr id="30" name="Text 28"/>
          <p:cNvSpPr txBox="1"/>
          <p:nvPr/>
        </p:nvSpPr>
        <p:spPr>
          <a:xfrm>
            <a:off x="1463040" y="5589437"/>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Expliquer la stadification FIGO et distinguer le stade du grade.</a:t>
            </a:r>
            <a:endParaRPr lang="fr-FR" sz="1710" noProof="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BRÈVE DESCRIPTION</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Qu'est-ce que le cancer du col de l'utérus ?</a:t>
            </a:r>
            <a:endParaRPr lang="fr-FR" sz="3200" noProof="0" dirty="0"/>
          </a:p>
        </p:txBody>
      </p:sp>
      <p:sp>
        <p:nvSpPr>
          <p:cNvPr id="6" name="Shape 4"/>
          <p:cNvSpPr/>
          <p:nvPr/>
        </p:nvSpPr>
        <p:spPr>
          <a:xfrm>
            <a:off x="566928" y="1533096"/>
            <a:ext cx="3563112" cy="367541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715976"/>
            <a:ext cx="3051048" cy="566928"/>
          </a:xfrm>
          <a:prstGeom prst="rect">
            <a:avLst/>
          </a:prstGeom>
          <a:noFill/>
          <a:ln/>
        </p:spPr>
        <p:txBody>
          <a:bodyPr wrap="square" lIns="0" tIns="0" rIns="0" bIns="0" rtlCol="0" anchor="ctr">
            <a:normAutofit fontScale="960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Le col de l'utérus</a:t>
            </a:r>
            <a:endParaRPr lang="fr-FR" sz="2000" noProof="0" dirty="0"/>
          </a:p>
        </p:txBody>
      </p:sp>
      <p:sp>
        <p:nvSpPr>
          <p:cNvPr id="8" name="Text 6"/>
          <p:cNvSpPr txBox="1"/>
          <p:nvPr/>
        </p:nvSpPr>
        <p:spPr>
          <a:xfrm>
            <a:off x="822960" y="2319480"/>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Le col de l'utérus est la partie inférieure de l'utérus. Il s'ouvre dans le vagin et peut être vu directement avec un spéculum.</a:t>
            </a:r>
            <a:endParaRPr lang="fr-FR" sz="1800" noProof="0" dirty="0"/>
          </a:p>
        </p:txBody>
      </p:sp>
      <p:sp>
        <p:nvSpPr>
          <p:cNvPr id="9" name="Shape 7"/>
          <p:cNvSpPr/>
          <p:nvPr/>
        </p:nvSpPr>
        <p:spPr>
          <a:xfrm>
            <a:off x="4312920" y="1533096"/>
            <a:ext cx="3563112" cy="367541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715976"/>
            <a:ext cx="3051048" cy="566928"/>
          </a:xfrm>
          <a:prstGeom prst="rect">
            <a:avLst/>
          </a:prstGeom>
          <a:noFill/>
          <a:ln/>
        </p:spPr>
        <p:txBody>
          <a:bodyPr wrap="square" lIns="0" tIns="0" rIns="0" bIns="0" rtlCol="0" anchor="ctr">
            <a:normAutofit fontScale="960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Là où tout commence</a:t>
            </a:r>
            <a:endParaRPr lang="fr-FR" sz="2000" noProof="0" dirty="0"/>
          </a:p>
        </p:txBody>
      </p:sp>
      <p:sp>
        <p:nvSpPr>
          <p:cNvPr id="11" name="Text 9"/>
          <p:cNvSpPr txBox="1"/>
          <p:nvPr/>
        </p:nvSpPr>
        <p:spPr>
          <a:xfrm>
            <a:off x="4568952" y="2319480"/>
            <a:ext cx="3051048" cy="1773936"/>
          </a:xfrm>
          <a:prstGeom prst="rect">
            <a:avLst/>
          </a:prstGeom>
          <a:noFill/>
          <a:ln/>
        </p:spPr>
        <p:txBody>
          <a:bodyPr wrap="square" lIns="0" tIns="0" rIns="0" bIns="0" rtlCol="0" anchor="t">
            <a:noAutofit/>
          </a:bodyPr>
          <a:lstStyle/>
          <a:p>
            <a:pPr marL="0" indent="0">
              <a:lnSpc>
                <a:spcPct val="106000"/>
              </a:lnSpc>
              <a:buNone/>
            </a:pPr>
            <a:r>
              <a:rPr lang="fr-FR" sz="1728" noProof="0" dirty="0">
                <a:solidFill>
                  <a:srgbClr val="23303F"/>
                </a:solidFill>
                <a:latin typeface="Calibri" pitchFamily="34" charset="0"/>
                <a:ea typeface="Calibri" pitchFamily="34" charset="-122"/>
                <a:cs typeface="Calibri" pitchFamily="34" charset="-120"/>
              </a:rPr>
              <a:t>Le cancer du col de l'utérus se développe à partir de cellules anormales du col de l'utérus, le plus souvent un carcinome à cellules squameuses, moins souvent un adénocarcinome.</a:t>
            </a:r>
            <a:endParaRPr lang="fr-FR" sz="1728" noProof="0" dirty="0"/>
          </a:p>
        </p:txBody>
      </p:sp>
      <p:sp>
        <p:nvSpPr>
          <p:cNvPr id="12" name="Shape 10"/>
          <p:cNvSpPr/>
          <p:nvPr/>
        </p:nvSpPr>
        <p:spPr>
          <a:xfrm>
            <a:off x="8058912" y="1533096"/>
            <a:ext cx="3563112" cy="367541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715976"/>
            <a:ext cx="3051048" cy="566928"/>
          </a:xfrm>
          <a:prstGeom prst="rect">
            <a:avLst/>
          </a:prstGeom>
          <a:noFill/>
          <a:ln/>
        </p:spPr>
        <p:txBody>
          <a:bodyPr wrap="square" lIns="0" tIns="0" rIns="0" bIns="0" rtlCol="0" anchor="ctr">
            <a:normAutofit fontScale="96000" lnSpcReduction="100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Qu'est-ce qui en est la cause</a:t>
            </a:r>
            <a:endParaRPr lang="fr-FR" sz="2000" noProof="0" dirty="0"/>
          </a:p>
        </p:txBody>
      </p:sp>
      <p:sp>
        <p:nvSpPr>
          <p:cNvPr id="14" name="Text 12"/>
          <p:cNvSpPr txBox="1"/>
          <p:nvPr/>
        </p:nvSpPr>
        <p:spPr>
          <a:xfrm>
            <a:off x="8314944" y="2319480"/>
            <a:ext cx="3051048" cy="1773936"/>
          </a:xfrm>
          <a:prstGeom prst="rect">
            <a:avLst/>
          </a:prstGeom>
          <a:noFill/>
          <a:ln/>
        </p:spPr>
        <p:txBody>
          <a:bodyPr wrap="square" lIns="0" tIns="0" rIns="0" bIns="0" rtlCol="0" anchor="t">
            <a:noAutofit/>
          </a:bodyPr>
          <a:lstStyle/>
          <a:p>
            <a:pPr marL="0" indent="0">
              <a:lnSpc>
                <a:spcPct val="106000"/>
              </a:lnSpc>
              <a:buNone/>
            </a:pPr>
            <a:r>
              <a:rPr lang="fr-FR" sz="1620" noProof="0" dirty="0">
                <a:solidFill>
                  <a:srgbClr val="23303F"/>
                </a:solidFill>
                <a:latin typeface="Calibri" pitchFamily="34" charset="0"/>
                <a:ea typeface="Calibri" pitchFamily="34" charset="-122"/>
                <a:cs typeface="Calibri" pitchFamily="34" charset="-120"/>
              </a:rPr>
              <a:t>L'infection persistante par des types à haut risque de papillomavirus humain (HPV) est la principale cause du cancer du col de l'utérus.</a:t>
            </a:r>
            <a:endParaRPr lang="fr-FR" sz="1620" noProof="0" dirty="0"/>
          </a:p>
        </p:txBody>
      </p:sp>
      <p:sp>
        <p:nvSpPr>
          <p:cNvPr id="15" name="Shape 13"/>
          <p:cNvSpPr/>
          <p:nvPr/>
        </p:nvSpPr>
        <p:spPr>
          <a:xfrm>
            <a:off x="566928" y="5481589"/>
            <a:ext cx="11055096" cy="786384"/>
          </a:xfrm>
          <a:prstGeom prst="roundRect">
            <a:avLst>
              <a:gd name="adj" fmla="val 8140"/>
            </a:avLst>
          </a:prstGeom>
          <a:solidFill>
            <a:srgbClr val="ECF3FD"/>
          </a:solidFill>
          <a:ln w="12700">
            <a:solidFill>
              <a:srgbClr val="E0E3EA"/>
            </a:solidFill>
            <a:prstDash val="solid"/>
          </a:ln>
        </p:spPr>
        <p:txBody>
          <a:bodyPr/>
          <a:lstStyle/>
          <a:p>
            <a:endParaRPr lang="fr-FR" noProof="0" dirty="0"/>
          </a:p>
        </p:txBody>
      </p:sp>
      <p:sp>
        <p:nvSpPr>
          <p:cNvPr id="16" name="Text 14"/>
          <p:cNvSpPr txBox="1"/>
          <p:nvPr/>
        </p:nvSpPr>
        <p:spPr>
          <a:xfrm>
            <a:off x="841248" y="5536453"/>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0305A"/>
                </a:solidFill>
                <a:latin typeface="Calibri" pitchFamily="34" charset="0"/>
                <a:ea typeface="Calibri" pitchFamily="34" charset="-122"/>
                <a:cs typeface="Calibri" pitchFamily="34" charset="-120"/>
              </a:rPr>
              <a:t>📌 Rappelez-vous :  </a:t>
            </a:r>
            <a:r>
              <a:rPr lang="fr-FR" sz="1800" noProof="0" dirty="0">
                <a:solidFill>
                  <a:srgbClr val="23303F"/>
                </a:solidFill>
                <a:latin typeface="Calibri" pitchFamily="34" charset="0"/>
                <a:ea typeface="Calibri" pitchFamily="34" charset="-122"/>
                <a:cs typeface="Calibri" pitchFamily="34" charset="-120"/>
              </a:rPr>
              <a:t>le cancer du col de l'utérus n'est pas la même chose que le cancer du corps utérin ou de l'ovaire. Il a une cause différente, une voie de dépistage différente et un traitement différent.</a:t>
            </a:r>
            <a:endParaRPr lang="fr-FR" sz="1800" noProof="0" dirty="0"/>
          </a:p>
        </p:txBody>
      </p:sp>
      <p:pic>
        <p:nvPicPr>
          <p:cNvPr id="19" name="Imagen 18">
            <a:extLst>
              <a:ext uri="{FF2B5EF4-FFF2-40B4-BE49-F238E27FC236}">
                <a16:creationId xmlns:a16="http://schemas.microsoft.com/office/drawing/2014/main" id="{BA6A4420-8090-1D4F-990A-ECA9F4B5EB59}"/>
              </a:ext>
            </a:extLst>
          </p:cNvPr>
          <p:cNvPicPr>
            <a:picLocks noChangeAspect="1"/>
          </p:cNvPicPr>
          <p:nvPr/>
        </p:nvPicPr>
        <p:blipFill>
          <a:blip r:embed="rId3"/>
          <a:srcRect/>
          <a:stretch>
            <a:fillRect/>
          </a:stretch>
        </p:blipFill>
        <p:spPr>
          <a:xfrm>
            <a:off x="1679841" y="3584413"/>
            <a:ext cx="1002399" cy="1438629"/>
          </a:xfrm>
          <a:prstGeom prst="rect">
            <a:avLst/>
          </a:prstGeom>
        </p:spPr>
      </p:pic>
      <p:pic>
        <p:nvPicPr>
          <p:cNvPr id="17" name="Imagen 16">
            <a:extLst>
              <a:ext uri="{FF2B5EF4-FFF2-40B4-BE49-F238E27FC236}">
                <a16:creationId xmlns:a16="http://schemas.microsoft.com/office/drawing/2014/main" id="{D09DBC7D-6860-EBC1-14D6-F51450153C0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8991015" y="3502644"/>
            <a:ext cx="1362383" cy="1378753"/>
          </a:xfrm>
          <a:prstGeom prst="rect">
            <a:avLst/>
          </a:prstGeom>
        </p:spPr>
      </p:pic>
      <p:pic>
        <p:nvPicPr>
          <p:cNvPr id="21" name="Imagen 20">
            <a:extLst>
              <a:ext uri="{FF2B5EF4-FFF2-40B4-BE49-F238E27FC236}">
                <a16:creationId xmlns:a16="http://schemas.microsoft.com/office/drawing/2014/main" id="{D251B037-B89E-908A-9E34-12986BA2BBAB}"/>
              </a:ext>
            </a:extLst>
          </p:cNvPr>
          <p:cNvPicPr>
            <a:picLocks noChangeAspect="1"/>
          </p:cNvPicPr>
          <p:nvPr/>
        </p:nvPicPr>
        <p:blipFill>
          <a:blip r:embed="rId5" cstate="screen">
            <a:extLst>
              <a:ext uri="{28A0092B-C50C-407E-A947-70E740481C1C}">
                <a14:useLocalDpi xmlns:a14="http://schemas.microsoft.com/office/drawing/2010/main"/>
              </a:ext>
            </a:extLst>
          </a:blip>
          <a:srcRect t="12822" b="18708"/>
          <a:stretch>
            <a:fillRect/>
          </a:stretch>
        </p:blipFill>
        <p:spPr>
          <a:xfrm>
            <a:off x="4435704" y="4136091"/>
            <a:ext cx="3317543" cy="7571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BRÈVE DESCRIPTION</a:t>
            </a:r>
            <a:endParaRPr lang="fr-FR" sz="1200" noProof="0" dirty="0"/>
          </a:p>
        </p:txBody>
      </p:sp>
      <p:sp>
        <p:nvSpPr>
          <p:cNvPr id="5" name="Text 3"/>
          <p:cNvSpPr txBox="1"/>
          <p:nvPr/>
        </p:nvSpPr>
        <p:spPr>
          <a:xfrm>
            <a:off x="566928" y="427803"/>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Pourquoi le cancer du col de l'utérus est différent</a:t>
            </a:r>
            <a:endParaRPr lang="fr-FR" sz="3200" noProof="0" dirty="0"/>
          </a:p>
        </p:txBody>
      </p:sp>
      <p:sp>
        <p:nvSpPr>
          <p:cNvPr id="15" name="Shape 13"/>
          <p:cNvSpPr/>
          <p:nvPr/>
        </p:nvSpPr>
        <p:spPr>
          <a:xfrm>
            <a:off x="566928" y="5694693"/>
            <a:ext cx="11055096" cy="607536"/>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5694693"/>
            <a:ext cx="10506456" cy="676656"/>
          </a:xfrm>
          <a:prstGeom prst="rect">
            <a:avLst/>
          </a:prstGeom>
          <a:noFill/>
          <a:ln/>
        </p:spPr>
        <p:txBody>
          <a:bodyPr wrap="square" lIns="0" tIns="0" rIns="0" bIns="0" rtlCol="0" anchor="ctr"/>
          <a:lstStyle/>
          <a:p>
            <a:pPr>
              <a:lnSpc>
                <a:spcPct val="104000"/>
              </a:lnSpc>
            </a:pPr>
            <a:r>
              <a:rPr lang="fr-FR" sz="1600" b="1" noProof="0" dirty="0">
                <a:solidFill>
                  <a:srgbClr val="19543E"/>
                </a:solidFill>
                <a:latin typeface="Calibri" pitchFamily="34" charset="0"/>
                <a:ea typeface="Calibri" pitchFamily="34" charset="-122"/>
                <a:cs typeface="Calibri" pitchFamily="34" charset="-120"/>
              </a:rPr>
              <a:t>💡 Point clé :  </a:t>
            </a:r>
            <a:r>
              <a:rPr lang="fr-FR" sz="1600" noProof="0" dirty="0">
                <a:solidFill>
                  <a:srgbClr val="23303F"/>
                </a:solidFill>
                <a:latin typeface="Calibri" pitchFamily="34" charset="0"/>
                <a:ea typeface="Calibri" pitchFamily="34" charset="-122"/>
                <a:cs typeface="Calibri" pitchFamily="34" charset="-120"/>
              </a:rPr>
              <a:t>Détecter et </a:t>
            </a:r>
            <a:r>
              <a:rPr lang="fr-FR" sz="1600" noProof="0" dirty="0" err="1">
                <a:solidFill>
                  <a:srgbClr val="23303F"/>
                </a:solidFill>
                <a:latin typeface="Calibri" pitchFamily="34" charset="0"/>
                <a:ea typeface="Calibri" pitchFamily="34" charset="-122"/>
                <a:cs typeface="Calibri" pitchFamily="34" charset="-120"/>
              </a:rPr>
              <a:t>t</a:t>
            </a:r>
            <a:r>
              <a:rPr lang="fr-FR" sz="1600" dirty="0" err="1">
                <a:solidFill>
                  <a:srgbClr val="23303F"/>
                </a:solidFill>
                <a:latin typeface="Calibri" pitchFamily="34" charset="0"/>
                <a:ea typeface="Calibri" pitchFamily="34" charset="-122"/>
                <a:cs typeface="Calibri" pitchFamily="34" charset="-120"/>
              </a:rPr>
              <a:t>raiter</a:t>
            </a:r>
            <a:r>
              <a:rPr lang="fr-FR" sz="1600" dirty="0">
                <a:solidFill>
                  <a:srgbClr val="23303F"/>
                </a:solidFill>
                <a:latin typeface="Calibri" pitchFamily="34" charset="0"/>
                <a:ea typeface="Calibri" pitchFamily="34" charset="-122"/>
                <a:cs typeface="Calibri" pitchFamily="34" charset="-120"/>
              </a:rPr>
              <a:t> les </a:t>
            </a:r>
            <a:r>
              <a:rPr lang="fr-FR" sz="1600" dirty="0">
                <a:solidFill>
                  <a:srgbClr val="19543E"/>
                </a:solidFill>
                <a:latin typeface="Calibri" pitchFamily="34" charset="0"/>
                <a:ea typeface="Calibri" pitchFamily="34" charset="-122"/>
                <a:cs typeface="Calibri" pitchFamily="34" charset="-120"/>
              </a:rPr>
              <a:t>lésions précancéreuses </a:t>
            </a:r>
            <a:r>
              <a:rPr lang="fr-FR" sz="1600" noProof="0" dirty="0">
                <a:solidFill>
                  <a:srgbClr val="23303F"/>
                </a:solidFill>
                <a:latin typeface="Calibri" pitchFamily="34" charset="0"/>
                <a:ea typeface="Calibri" pitchFamily="34" charset="-122"/>
                <a:cs typeface="Calibri" pitchFamily="34" charset="-120"/>
              </a:rPr>
              <a:t>du col de l'utérus prévient de nombreux cancers du col de l'utérus. Le dépistage ne détecte pas seulement le cancer plus tôt, il empêche aussi le développement du cancer.</a:t>
            </a:r>
            <a:endParaRPr lang="fr-FR" sz="1600" noProof="0" dirty="0"/>
          </a:p>
        </p:txBody>
      </p:sp>
      <p:grpSp>
        <p:nvGrpSpPr>
          <p:cNvPr id="20" name="Grupo 19">
            <a:extLst>
              <a:ext uri="{FF2B5EF4-FFF2-40B4-BE49-F238E27FC236}">
                <a16:creationId xmlns:a16="http://schemas.microsoft.com/office/drawing/2014/main" id="{DC3E51CB-E338-84F4-B10A-8BCABE5FE1F3}"/>
              </a:ext>
            </a:extLst>
          </p:cNvPr>
          <p:cNvGrpSpPr/>
          <p:nvPr/>
        </p:nvGrpSpPr>
        <p:grpSpPr>
          <a:xfrm>
            <a:off x="566928" y="1258824"/>
            <a:ext cx="10706026" cy="1362868"/>
            <a:chOff x="566928" y="1258824"/>
            <a:chExt cx="10706026" cy="1362868"/>
          </a:xfrm>
        </p:grpSpPr>
        <p:sp>
          <p:nvSpPr>
            <p:cNvPr id="6" name="Shape 4"/>
            <p:cNvSpPr/>
            <p:nvPr/>
          </p:nvSpPr>
          <p:spPr>
            <a:xfrm>
              <a:off x="566928" y="1258824"/>
              <a:ext cx="10706026" cy="1362868"/>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7" name="Text 5"/>
            <p:cNvSpPr txBox="1"/>
            <p:nvPr/>
          </p:nvSpPr>
          <p:spPr>
            <a:xfrm>
              <a:off x="822959" y="1271225"/>
              <a:ext cx="4734475" cy="566928"/>
            </a:xfrm>
            <a:prstGeom prst="rect">
              <a:avLst/>
            </a:prstGeom>
            <a:noFill/>
            <a:ln/>
          </p:spPr>
          <p:txBody>
            <a:bodyPr wrap="square" lIns="0" tIns="0" rIns="0" bIns="0" rtlCol="0" anchor="ctr">
              <a:noAutofit/>
            </a:bodyPr>
            <a:lstStyle/>
            <a:p>
              <a:pPr marL="0" indent="0">
                <a:buNone/>
              </a:pPr>
              <a:r>
                <a:rPr lang="fr-FR" sz="1674" b="1" noProof="0" dirty="0">
                  <a:solidFill>
                    <a:srgbClr val="10305A"/>
                  </a:solidFill>
                  <a:latin typeface="Calibri" pitchFamily="34" charset="0"/>
                  <a:ea typeface="Calibri" pitchFamily="34" charset="-122"/>
                  <a:cs typeface="Calibri" pitchFamily="34" charset="-120"/>
                </a:rPr>
                <a:t>⏱️ Il se développe lentement</a:t>
              </a:r>
              <a:endParaRPr lang="fr-FR" noProof="0" dirty="0"/>
            </a:p>
          </p:txBody>
        </p:sp>
        <p:sp>
          <p:nvSpPr>
            <p:cNvPr id="8" name="Text 6"/>
            <p:cNvSpPr txBox="1"/>
            <p:nvPr/>
          </p:nvSpPr>
          <p:spPr>
            <a:xfrm>
              <a:off x="822959" y="1797239"/>
              <a:ext cx="5143888" cy="566929"/>
            </a:xfrm>
            <a:prstGeom prst="rect">
              <a:avLst/>
            </a:prstGeom>
            <a:noFill/>
            <a:ln/>
          </p:spPr>
          <p:txBody>
            <a:bodyPr wrap="square" lIns="0" tIns="0" rIns="0" bIns="0" rtlCol="0" anchor="t">
              <a:noAutofit/>
            </a:bodyPr>
            <a:lstStyle/>
            <a:p>
              <a:pPr marL="0" indent="0">
                <a:lnSpc>
                  <a:spcPct val="106000"/>
                </a:lnSpc>
                <a:buNone/>
              </a:pPr>
              <a:r>
                <a:rPr lang="fr-FR" sz="1600" noProof="0" dirty="0">
                  <a:solidFill>
                    <a:srgbClr val="23303F"/>
                  </a:solidFill>
                  <a:latin typeface="Calibri" pitchFamily="34" charset="0"/>
                  <a:ea typeface="Calibri" pitchFamily="34" charset="-122"/>
                  <a:cs typeface="Calibri" pitchFamily="34" charset="-120"/>
                </a:rPr>
                <a:t>Les cellules anormales traversent généralement des stades précancéreux avant le développement d'un cancer invasif, généralement sur de nombreuses années.</a:t>
              </a:r>
              <a:endParaRPr lang="fr-FR" sz="1600" noProof="0" dirty="0"/>
            </a:p>
          </p:txBody>
        </p:sp>
        <p:pic>
          <p:nvPicPr>
            <p:cNvPr id="17" name="Imagen 16">
              <a:extLst>
                <a:ext uri="{FF2B5EF4-FFF2-40B4-BE49-F238E27FC236}">
                  <a16:creationId xmlns:a16="http://schemas.microsoft.com/office/drawing/2014/main" id="{64D26BAA-939A-6FCD-F4E6-26DA064DEA75}"/>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961288" y="1322542"/>
              <a:ext cx="3837776" cy="1048664"/>
            </a:xfrm>
            <a:prstGeom prst="rect">
              <a:avLst/>
            </a:prstGeom>
          </p:spPr>
        </p:pic>
      </p:grpSp>
      <p:grpSp>
        <p:nvGrpSpPr>
          <p:cNvPr id="22" name="Grupo 21">
            <a:extLst>
              <a:ext uri="{FF2B5EF4-FFF2-40B4-BE49-F238E27FC236}">
                <a16:creationId xmlns:a16="http://schemas.microsoft.com/office/drawing/2014/main" id="{F86A3A91-C6CD-4804-7A84-66E9A72341BC}"/>
              </a:ext>
            </a:extLst>
          </p:cNvPr>
          <p:cNvGrpSpPr/>
          <p:nvPr/>
        </p:nvGrpSpPr>
        <p:grpSpPr>
          <a:xfrm>
            <a:off x="566927" y="4184854"/>
            <a:ext cx="10706025" cy="1414322"/>
            <a:chOff x="566927" y="4184854"/>
            <a:chExt cx="10706025" cy="1414322"/>
          </a:xfrm>
        </p:grpSpPr>
        <p:sp>
          <p:nvSpPr>
            <p:cNvPr id="12" name="Shape 10"/>
            <p:cNvSpPr/>
            <p:nvPr/>
          </p:nvSpPr>
          <p:spPr>
            <a:xfrm>
              <a:off x="566927" y="4184854"/>
              <a:ext cx="10706025" cy="1414322"/>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13" name="Text 11"/>
            <p:cNvSpPr txBox="1"/>
            <p:nvPr/>
          </p:nvSpPr>
          <p:spPr>
            <a:xfrm>
              <a:off x="822960" y="4418383"/>
              <a:ext cx="4734474" cy="233578"/>
            </a:xfrm>
            <a:prstGeom prst="rect">
              <a:avLst/>
            </a:prstGeom>
            <a:noFill/>
            <a:ln/>
          </p:spPr>
          <p:txBody>
            <a:bodyPr wrap="square" lIns="0" tIns="0" rIns="0" bIns="0" rtlCol="0" anchor="ctr">
              <a:noAutofit/>
            </a:bodyPr>
            <a:lstStyle/>
            <a:p>
              <a:pPr marL="0" indent="0">
                <a:buNone/>
              </a:pPr>
              <a:r>
                <a:rPr lang="fr-FR" sz="1674" b="1" noProof="0" dirty="0">
                  <a:solidFill>
                    <a:srgbClr val="10305A"/>
                  </a:solidFill>
                  <a:latin typeface="Calibri" pitchFamily="34" charset="0"/>
                  <a:ea typeface="Calibri" pitchFamily="34" charset="-122"/>
                  <a:cs typeface="Calibri" pitchFamily="34" charset="-120"/>
                </a:rPr>
                <a:t>🔎 Il est souvent asymptomatique aux stades précoces</a:t>
              </a:r>
              <a:endParaRPr lang="fr-FR" noProof="0" dirty="0"/>
            </a:p>
          </p:txBody>
        </p:sp>
        <p:sp>
          <p:nvSpPr>
            <p:cNvPr id="14" name="Text 12"/>
            <p:cNvSpPr txBox="1"/>
            <p:nvPr/>
          </p:nvSpPr>
          <p:spPr>
            <a:xfrm>
              <a:off x="822959" y="4742921"/>
              <a:ext cx="5143887" cy="730872"/>
            </a:xfrm>
            <a:prstGeom prst="rect">
              <a:avLst/>
            </a:prstGeom>
            <a:noFill/>
            <a:ln/>
          </p:spPr>
          <p:txBody>
            <a:bodyPr wrap="square" lIns="0" tIns="0" rIns="0" bIns="0" rtlCol="0" anchor="t">
              <a:noAutofit/>
            </a:bodyPr>
            <a:lstStyle/>
            <a:p>
              <a:pPr marL="0" indent="0">
                <a:lnSpc>
                  <a:spcPct val="106000"/>
                </a:lnSpc>
                <a:buNone/>
              </a:pPr>
              <a:r>
                <a:rPr lang="fr-FR" sz="1600" noProof="0" dirty="0">
                  <a:solidFill>
                    <a:srgbClr val="23303F"/>
                  </a:solidFill>
                  <a:latin typeface="Calibri" pitchFamily="34" charset="0"/>
                  <a:ea typeface="Calibri" pitchFamily="34" charset="-122"/>
                  <a:cs typeface="Calibri" pitchFamily="34" charset="-120"/>
                </a:rPr>
                <a:t>Le </a:t>
              </a:r>
              <a:r>
                <a:rPr lang="fr-FR" sz="1600" noProof="0" dirty="0" err="1">
                  <a:solidFill>
                    <a:srgbClr val="23303F"/>
                  </a:solidFill>
                  <a:latin typeface="Calibri" pitchFamily="34" charset="0"/>
                  <a:ea typeface="Calibri" pitchFamily="34" charset="-122"/>
                  <a:cs typeface="Calibri" pitchFamily="34" charset="-120"/>
                </a:rPr>
                <a:t>précancer</a:t>
              </a:r>
              <a:r>
                <a:rPr lang="fr-FR" sz="1600" noProof="0" dirty="0">
                  <a:solidFill>
                    <a:srgbClr val="23303F"/>
                  </a:solidFill>
                  <a:latin typeface="Calibri" pitchFamily="34" charset="0"/>
                  <a:ea typeface="Calibri" pitchFamily="34" charset="-122"/>
                  <a:cs typeface="Calibri" pitchFamily="34" charset="-120"/>
                </a:rPr>
                <a:t> du col de l'utérus et le cancer précoce du col de l'utérus ne provoquent généralement aucun symptôme. Attendre les symptômes signifie un diagnostic plus tardif.</a:t>
              </a:r>
              <a:endParaRPr lang="fr-FR" sz="1600" noProof="0" dirty="0"/>
            </a:p>
          </p:txBody>
        </p:sp>
        <p:pic>
          <p:nvPicPr>
            <p:cNvPr id="18" name="Imagen 17">
              <a:extLst>
                <a:ext uri="{FF2B5EF4-FFF2-40B4-BE49-F238E27FC236}">
                  <a16:creationId xmlns:a16="http://schemas.microsoft.com/office/drawing/2014/main" id="{77DE44A1-617B-F0E0-2828-EEE0D610575F}"/>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6961288" y="4332715"/>
              <a:ext cx="3837776" cy="1190391"/>
            </a:xfrm>
            <a:prstGeom prst="rect">
              <a:avLst/>
            </a:prstGeom>
          </p:spPr>
        </p:pic>
      </p:grpSp>
      <p:grpSp>
        <p:nvGrpSpPr>
          <p:cNvPr id="21" name="Grupo 20">
            <a:extLst>
              <a:ext uri="{FF2B5EF4-FFF2-40B4-BE49-F238E27FC236}">
                <a16:creationId xmlns:a16="http://schemas.microsoft.com/office/drawing/2014/main" id="{656DAC32-2A3E-69B2-4753-42A5ED1853FF}"/>
              </a:ext>
            </a:extLst>
          </p:cNvPr>
          <p:cNvGrpSpPr/>
          <p:nvPr/>
        </p:nvGrpSpPr>
        <p:grpSpPr>
          <a:xfrm>
            <a:off x="566927" y="2767254"/>
            <a:ext cx="10706025" cy="1288367"/>
            <a:chOff x="566927" y="2767254"/>
            <a:chExt cx="10706025" cy="1288367"/>
          </a:xfrm>
        </p:grpSpPr>
        <p:sp>
          <p:nvSpPr>
            <p:cNvPr id="9" name="Shape 7"/>
            <p:cNvSpPr/>
            <p:nvPr/>
          </p:nvSpPr>
          <p:spPr>
            <a:xfrm>
              <a:off x="566927" y="2767254"/>
              <a:ext cx="10706025" cy="1288367"/>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10" name="Text 8"/>
            <p:cNvSpPr txBox="1"/>
            <p:nvPr/>
          </p:nvSpPr>
          <p:spPr>
            <a:xfrm>
              <a:off x="822959" y="2779656"/>
              <a:ext cx="4734475" cy="566928"/>
            </a:xfrm>
            <a:prstGeom prst="rect">
              <a:avLst/>
            </a:prstGeom>
            <a:noFill/>
            <a:ln/>
          </p:spPr>
          <p:txBody>
            <a:bodyPr wrap="square" lIns="0" tIns="0" rIns="0" bIns="0" rtlCol="0" anchor="ctr">
              <a:noAutofit/>
            </a:bodyPr>
            <a:lstStyle/>
            <a:p>
              <a:pPr marL="0" indent="0">
                <a:buNone/>
              </a:pPr>
              <a:r>
                <a:rPr lang="fr-FR" sz="1674" b="1" noProof="0" dirty="0">
                  <a:solidFill>
                    <a:srgbClr val="10305A"/>
                  </a:solidFill>
                  <a:latin typeface="Calibri" pitchFamily="34" charset="0"/>
                  <a:ea typeface="Calibri" pitchFamily="34" charset="-122"/>
                  <a:cs typeface="Calibri" pitchFamily="34" charset="-120"/>
                </a:rPr>
                <a:t>✅ Il peut être prévenu</a:t>
              </a:r>
              <a:endParaRPr lang="fr-FR" noProof="0" dirty="0"/>
            </a:p>
          </p:txBody>
        </p:sp>
        <p:sp>
          <p:nvSpPr>
            <p:cNvPr id="11" name="Text 9"/>
            <p:cNvSpPr txBox="1"/>
            <p:nvPr/>
          </p:nvSpPr>
          <p:spPr>
            <a:xfrm>
              <a:off x="822959" y="3259176"/>
              <a:ext cx="5143888" cy="668115"/>
            </a:xfrm>
            <a:prstGeom prst="rect">
              <a:avLst/>
            </a:prstGeom>
            <a:noFill/>
            <a:ln/>
          </p:spPr>
          <p:txBody>
            <a:bodyPr wrap="square" lIns="0" tIns="0" rIns="0" bIns="0" rtlCol="0" anchor="t">
              <a:noAutofit/>
            </a:bodyPr>
            <a:lstStyle/>
            <a:p>
              <a:pPr marL="0" indent="0">
                <a:lnSpc>
                  <a:spcPct val="106000"/>
                </a:lnSpc>
                <a:buNone/>
              </a:pPr>
              <a:r>
                <a:rPr lang="fr-FR" sz="1600" noProof="0" dirty="0">
                  <a:solidFill>
                    <a:srgbClr val="23303F"/>
                  </a:solidFill>
                  <a:latin typeface="Calibri" pitchFamily="34" charset="0"/>
                  <a:ea typeface="Calibri" pitchFamily="34" charset="-122"/>
                  <a:cs typeface="Calibri" pitchFamily="34" charset="-120"/>
                </a:rPr>
                <a:t>La vaccination prévient l'infection du HPV à haut risque. Le dépistage détecte et traite le </a:t>
              </a:r>
              <a:r>
                <a:rPr lang="fr-FR" sz="1600" noProof="0" dirty="0" err="1">
                  <a:solidFill>
                    <a:srgbClr val="23303F"/>
                  </a:solidFill>
                  <a:latin typeface="Calibri" pitchFamily="34" charset="0"/>
                  <a:ea typeface="Calibri" pitchFamily="34" charset="-122"/>
                  <a:cs typeface="Calibri" pitchFamily="34" charset="-120"/>
                </a:rPr>
                <a:t>précancer</a:t>
              </a:r>
              <a:r>
                <a:rPr lang="fr-FR" sz="1600" noProof="0" dirty="0">
                  <a:solidFill>
                    <a:srgbClr val="23303F"/>
                  </a:solidFill>
                  <a:latin typeface="Calibri" pitchFamily="34" charset="0"/>
                  <a:ea typeface="Calibri" pitchFamily="34" charset="-122"/>
                  <a:cs typeface="Calibri" pitchFamily="34" charset="-120"/>
                </a:rPr>
                <a:t> avant le développement du cancer.</a:t>
              </a:r>
              <a:endParaRPr lang="fr-FR" sz="1600" noProof="0" dirty="0"/>
            </a:p>
          </p:txBody>
        </p:sp>
        <p:pic>
          <p:nvPicPr>
            <p:cNvPr id="19" name="Imagen 18">
              <a:extLst>
                <a:ext uri="{FF2B5EF4-FFF2-40B4-BE49-F238E27FC236}">
                  <a16:creationId xmlns:a16="http://schemas.microsoft.com/office/drawing/2014/main" id="{8FDB4A66-4533-02E8-AA84-527C6736A62C}"/>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6961288" y="2883972"/>
              <a:ext cx="3837776" cy="1048664"/>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30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ANATOMIE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 col de l'utérus : là où il se trouve</a:t>
            </a:r>
            <a:endParaRPr lang="fr-FR" sz="3200" noProof="0" dirty="0"/>
          </a:p>
        </p:txBody>
      </p:sp>
      <p:pic>
        <p:nvPicPr>
          <p:cNvPr id="7" name="Imagen 6">
            <a:extLst>
              <a:ext uri="{FF2B5EF4-FFF2-40B4-BE49-F238E27FC236}">
                <a16:creationId xmlns:a16="http://schemas.microsoft.com/office/drawing/2014/main" id="{CC14ECEB-839F-9835-5423-C5F869B5345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6928" y="1508760"/>
            <a:ext cx="11064240" cy="473027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31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ANATOMIE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Deux muqueuses se rejoignent au niveau du col de l'utérus</a:t>
            </a:r>
            <a:endParaRPr lang="fr-FR" sz="3200" noProof="0" dirty="0"/>
          </a:p>
        </p:txBody>
      </p:sp>
      <p:sp>
        <p:nvSpPr>
          <p:cNvPr id="6" name="Shape 4"/>
          <p:cNvSpPr/>
          <p:nvPr/>
        </p:nvSpPr>
        <p:spPr>
          <a:xfrm>
            <a:off x="566928" y="1451448"/>
            <a:ext cx="3563112" cy="1262593"/>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7" name="Text 5"/>
          <p:cNvSpPr txBox="1"/>
          <p:nvPr/>
        </p:nvSpPr>
        <p:spPr>
          <a:xfrm>
            <a:off x="689148" y="1422459"/>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1️⃣ L'</a:t>
            </a:r>
            <a:r>
              <a:rPr lang="fr-FR" b="1" noProof="0" dirty="0" err="1">
                <a:solidFill>
                  <a:srgbClr val="10305A"/>
                </a:solidFill>
                <a:latin typeface="Calibri" pitchFamily="34" charset="0"/>
                <a:ea typeface="Calibri" pitchFamily="34" charset="-122"/>
                <a:cs typeface="Calibri" pitchFamily="34" charset="-120"/>
              </a:rPr>
              <a:t>ectocol</a:t>
            </a:r>
            <a:endParaRPr lang="fr-FR" noProof="0" dirty="0"/>
          </a:p>
        </p:txBody>
      </p:sp>
      <p:sp>
        <p:nvSpPr>
          <p:cNvPr id="8" name="Text 6"/>
          <p:cNvSpPr txBox="1"/>
          <p:nvPr/>
        </p:nvSpPr>
        <p:spPr>
          <a:xfrm>
            <a:off x="716505" y="1846176"/>
            <a:ext cx="3334287" cy="906814"/>
          </a:xfrm>
          <a:prstGeom prst="rect">
            <a:avLst/>
          </a:prstGeom>
          <a:noFill/>
          <a:ln/>
        </p:spPr>
        <p:txBody>
          <a:bodyPr wrap="square" lIns="0" tIns="0" rIns="0" bIns="0" rtlCol="0" anchor="t">
            <a:noAutofit/>
          </a:bodyPr>
          <a:lstStyle/>
          <a:p>
            <a:pPr marL="0" indent="0">
              <a:lnSpc>
                <a:spcPct val="106000"/>
              </a:lnSpc>
              <a:buNone/>
            </a:pPr>
            <a:r>
              <a:rPr lang="fr-FR" sz="1552" noProof="0" dirty="0">
                <a:solidFill>
                  <a:srgbClr val="23303F"/>
                </a:solidFill>
                <a:latin typeface="Calibri" pitchFamily="34" charset="0"/>
                <a:ea typeface="Calibri" pitchFamily="34" charset="-122"/>
                <a:cs typeface="Calibri" pitchFamily="34" charset="-120"/>
              </a:rPr>
              <a:t>La surface externe du col de l'utérus, orientée vers le vagin. Elle est recouverte de cellules squameuses plates.</a:t>
            </a:r>
            <a:endParaRPr lang="fr-FR" sz="1552" noProof="0" dirty="0"/>
          </a:p>
        </p:txBody>
      </p:sp>
      <p:sp>
        <p:nvSpPr>
          <p:cNvPr id="9" name="Shape 7"/>
          <p:cNvSpPr/>
          <p:nvPr/>
        </p:nvSpPr>
        <p:spPr>
          <a:xfrm>
            <a:off x="557189" y="2850715"/>
            <a:ext cx="3563112" cy="1264065"/>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10" name="Text 8"/>
          <p:cNvSpPr txBox="1"/>
          <p:nvPr/>
        </p:nvSpPr>
        <p:spPr>
          <a:xfrm>
            <a:off x="679409" y="2821725"/>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2️⃣ L'endocol</a:t>
            </a:r>
            <a:endParaRPr lang="fr-FR" noProof="0" dirty="0"/>
          </a:p>
        </p:txBody>
      </p:sp>
      <p:sp>
        <p:nvSpPr>
          <p:cNvPr id="11" name="Text 9"/>
          <p:cNvSpPr txBox="1"/>
          <p:nvPr/>
        </p:nvSpPr>
        <p:spPr>
          <a:xfrm>
            <a:off x="695615" y="3269115"/>
            <a:ext cx="3300612" cy="737981"/>
          </a:xfrm>
          <a:prstGeom prst="rect">
            <a:avLst/>
          </a:prstGeom>
          <a:noFill/>
          <a:ln/>
        </p:spPr>
        <p:txBody>
          <a:bodyPr wrap="square" lIns="0" tIns="0" rIns="0" bIns="0" rtlCol="0" anchor="t"/>
          <a:lstStyle/>
          <a:p>
            <a:pPr marL="0" indent="0">
              <a:lnSpc>
                <a:spcPct val="106000"/>
              </a:lnSpc>
              <a:buNone/>
            </a:pPr>
            <a:r>
              <a:rPr lang="fr-FR" sz="1600" noProof="0" dirty="0">
                <a:solidFill>
                  <a:srgbClr val="23303F"/>
                </a:solidFill>
                <a:latin typeface="Calibri" pitchFamily="34" charset="0"/>
                <a:ea typeface="Calibri" pitchFamily="34" charset="-122"/>
                <a:cs typeface="Calibri" pitchFamily="34" charset="-120"/>
              </a:rPr>
              <a:t>Le canal remontant vers l'utérus. Il est tapissé de cellules cylindriques qui produisent du mucus.</a:t>
            </a:r>
            <a:endParaRPr lang="fr-FR" sz="1600" noProof="0" dirty="0"/>
          </a:p>
        </p:txBody>
      </p:sp>
      <p:sp>
        <p:nvSpPr>
          <p:cNvPr id="12" name="Shape 10"/>
          <p:cNvSpPr/>
          <p:nvPr/>
        </p:nvSpPr>
        <p:spPr>
          <a:xfrm>
            <a:off x="566928" y="4245234"/>
            <a:ext cx="3553373" cy="1431331"/>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13" name="Text 11"/>
          <p:cNvSpPr txBox="1"/>
          <p:nvPr/>
        </p:nvSpPr>
        <p:spPr>
          <a:xfrm>
            <a:off x="689148" y="4238547"/>
            <a:ext cx="3307079"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3️⃣ La jonction </a:t>
            </a:r>
            <a:r>
              <a:rPr lang="fr-FR" b="1" noProof="0" dirty="0" err="1">
                <a:solidFill>
                  <a:srgbClr val="10305A"/>
                </a:solidFill>
                <a:latin typeface="Calibri" pitchFamily="34" charset="0"/>
                <a:ea typeface="Calibri" pitchFamily="34" charset="-122"/>
                <a:cs typeface="Calibri" pitchFamily="34" charset="-120"/>
              </a:rPr>
              <a:t>squamocylindrique</a:t>
            </a:r>
            <a:endParaRPr lang="fr-FR" noProof="0" dirty="0">
              <a:solidFill>
                <a:srgbClr val="10305A"/>
              </a:solidFill>
            </a:endParaRPr>
          </a:p>
        </p:txBody>
      </p:sp>
      <p:sp>
        <p:nvSpPr>
          <p:cNvPr id="14" name="Text 12"/>
          <p:cNvSpPr txBox="1"/>
          <p:nvPr/>
        </p:nvSpPr>
        <p:spPr>
          <a:xfrm>
            <a:off x="711451" y="4752843"/>
            <a:ext cx="3158022" cy="868680"/>
          </a:xfrm>
          <a:prstGeom prst="rect">
            <a:avLst/>
          </a:prstGeom>
          <a:noFill/>
          <a:ln/>
        </p:spPr>
        <p:txBody>
          <a:bodyPr wrap="square" lIns="0" tIns="0" rIns="0" bIns="0" rtlCol="0" anchor="t">
            <a:noAutofit/>
          </a:bodyPr>
          <a:lstStyle/>
          <a:p>
            <a:pPr marL="0" indent="0">
              <a:lnSpc>
                <a:spcPct val="106000"/>
              </a:lnSpc>
              <a:buNone/>
            </a:pPr>
            <a:r>
              <a:rPr lang="fr-FR" sz="1392" noProof="0" dirty="0">
                <a:solidFill>
                  <a:srgbClr val="23303F"/>
                </a:solidFill>
                <a:latin typeface="Calibri" pitchFamily="34" charset="0"/>
                <a:ea typeface="Calibri" pitchFamily="34" charset="-122"/>
                <a:cs typeface="Calibri" pitchFamily="34" charset="-120"/>
              </a:rPr>
              <a:t>La ligne où les deux muqueuses se rencontrent. Sa position évolue avec l'âge, la puberté, l'accouchement et la ménopause.</a:t>
            </a:r>
            <a:endParaRPr lang="fr-FR" sz="1392" noProof="0" dirty="0"/>
          </a:p>
        </p:txBody>
      </p:sp>
      <p:sp>
        <p:nvSpPr>
          <p:cNvPr id="15" name="Shape 13"/>
          <p:cNvSpPr/>
          <p:nvPr/>
        </p:nvSpPr>
        <p:spPr>
          <a:xfrm>
            <a:off x="560832" y="5792508"/>
            <a:ext cx="11055096" cy="562572"/>
          </a:xfrm>
          <a:prstGeom prst="roundRect">
            <a:avLst>
              <a:gd name="adj" fmla="val 8140"/>
            </a:avLst>
          </a:prstGeom>
          <a:solidFill>
            <a:srgbClr val="ECF3FD"/>
          </a:solidFill>
          <a:ln w="12700">
            <a:solidFill>
              <a:srgbClr val="E0E3EA"/>
            </a:solidFill>
            <a:prstDash val="solid"/>
          </a:ln>
        </p:spPr>
        <p:txBody>
          <a:bodyPr/>
          <a:lstStyle/>
          <a:p>
            <a:endParaRPr lang="fr-FR" noProof="0" dirty="0"/>
          </a:p>
        </p:txBody>
      </p:sp>
      <p:sp>
        <p:nvSpPr>
          <p:cNvPr id="16" name="Text 14"/>
          <p:cNvSpPr txBox="1"/>
          <p:nvPr/>
        </p:nvSpPr>
        <p:spPr>
          <a:xfrm>
            <a:off x="723642" y="5835429"/>
            <a:ext cx="10796016" cy="505152"/>
          </a:xfrm>
          <a:prstGeom prst="rect">
            <a:avLst/>
          </a:prstGeom>
          <a:noFill/>
          <a:ln/>
        </p:spPr>
        <p:txBody>
          <a:bodyPr wrap="square" lIns="0" tIns="0" rIns="0" bIns="0" rtlCol="0" anchor="ctr">
            <a:noAutofit/>
          </a:bodyPr>
          <a:lstStyle/>
          <a:p>
            <a:pPr marL="0" indent="0">
              <a:lnSpc>
                <a:spcPct val="104000"/>
              </a:lnSpc>
              <a:buNone/>
            </a:pPr>
            <a:r>
              <a:rPr lang="fr-FR" sz="1328" b="1" noProof="0" dirty="0">
                <a:solidFill>
                  <a:srgbClr val="10305A"/>
                </a:solidFill>
                <a:latin typeface="Calibri" pitchFamily="34" charset="0"/>
                <a:ea typeface="Calibri" pitchFamily="34" charset="-122"/>
                <a:cs typeface="Calibri" pitchFamily="34" charset="-120"/>
              </a:rPr>
              <a:t>🔎 Pourquoi cela importe : La jonction est visible à l'ouverture cervicale chez les jeunes femmes. Après la ménopause, elle remonte généralement à l'intérieur du canal cervical.</a:t>
            </a:r>
            <a:endParaRPr lang="fr-FR" sz="1328" noProof="0" dirty="0"/>
          </a:p>
        </p:txBody>
      </p:sp>
      <p:pic>
        <p:nvPicPr>
          <p:cNvPr id="17" name="Imagen 16">
            <a:extLst>
              <a:ext uri="{FF2B5EF4-FFF2-40B4-BE49-F238E27FC236}">
                <a16:creationId xmlns:a16="http://schemas.microsoft.com/office/drawing/2014/main" id="{CBCF8D76-20C9-C704-A7F8-8BE5EA47109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61626" y="1451449"/>
            <a:ext cx="6876509" cy="4306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1 · ANATOMIE</a:t>
            </a:r>
            <a:endParaRPr lang="fr-FR" sz="1200" dirty="0"/>
          </a:p>
        </p:txBody>
      </p:sp>
      <p:sp>
        <p:nvSpPr>
          <p:cNvPr id="3" name="Text 3"/>
          <p:cNvSpPr txBox="1"/>
          <p:nvPr/>
        </p:nvSpPr>
        <p:spPr>
          <a:xfrm>
            <a:off x="566928" y="373308"/>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Deux épithéliums, vus au microscope</a:t>
            </a:r>
          </a:p>
        </p:txBody>
      </p:sp>
      <p:sp>
        <p:nvSpPr>
          <p:cNvPr id="11" name="Shape 11"/>
          <p:cNvSpPr/>
          <p:nvPr/>
        </p:nvSpPr>
        <p:spPr>
          <a:xfrm>
            <a:off x="566928" y="6134100"/>
            <a:ext cx="11055096" cy="596600"/>
          </a:xfrm>
          <a:prstGeom prst="roundRect">
            <a:avLst>
              <a:gd name="adj" fmla="val 3000"/>
            </a:avLst>
          </a:prstGeom>
          <a:solidFill>
            <a:srgbClr val="ECF3FD"/>
          </a:solidFill>
          <a:ln w="12700">
            <a:solidFill>
              <a:srgbClr val="E0E3EA"/>
            </a:solidFill>
          </a:ln>
        </p:spPr>
        <p:txBody>
          <a:bodyPr/>
          <a:lstStyle/>
          <a:p>
            <a:endParaRPr lang="fr-FR" sz="1600" dirty="0"/>
          </a:p>
        </p:txBody>
      </p:sp>
      <p:sp>
        <p:nvSpPr>
          <p:cNvPr id="12" name="Text 12"/>
          <p:cNvSpPr txBox="1"/>
          <p:nvPr/>
        </p:nvSpPr>
        <p:spPr>
          <a:xfrm>
            <a:off x="566928" y="6248400"/>
            <a:ext cx="10780776" cy="432300"/>
          </a:xfrm>
          <a:prstGeom prst="rect">
            <a:avLst/>
          </a:prstGeom>
          <a:noFill/>
          <a:ln/>
        </p:spPr>
        <p:txBody>
          <a:bodyPr wrap="square" lIns="0" tIns="0" rIns="0" bIns="0" rtlCol="0" anchor="ctr"/>
          <a:lstStyle/>
          <a:p>
            <a:pPr marL="0" indent="0" algn="l">
              <a:buNone/>
            </a:pPr>
            <a:r>
              <a:rPr lang="fr-FR" sz="1400" b="1" noProof="0" dirty="0">
                <a:solidFill>
                  <a:srgbClr val="10305A"/>
                </a:solidFill>
                <a:latin typeface="Calibri" pitchFamily="34" charset="0"/>
                <a:ea typeface="Calibri" pitchFamily="34" charset="-122"/>
                <a:cs typeface="Calibri" pitchFamily="34" charset="-120"/>
              </a:rPr>
              <a:t>🔎 Pourquoi cela importe :  </a:t>
            </a:r>
            <a:r>
              <a:rPr lang="fr-FR" sz="1400" noProof="0" dirty="0">
                <a:solidFill>
                  <a:srgbClr val="23303F"/>
                </a:solidFill>
                <a:latin typeface="Calibri" pitchFamily="34" charset="0"/>
                <a:ea typeface="Calibri" pitchFamily="34" charset="-122"/>
                <a:cs typeface="Calibri" pitchFamily="34" charset="-120"/>
              </a:rPr>
              <a:t>Les deux épithéliums ont un aspect différent au spéculum : un ectocol rose pâle et une zone rouge et veloutée autour de l'orifice du canal.</a:t>
            </a:r>
            <a:endParaRPr lang="fr-FR" sz="1400" dirty="0"/>
          </a:p>
        </p:txBody>
      </p:sp>
      <p:grpSp>
        <p:nvGrpSpPr>
          <p:cNvPr id="14" name="Grupo 13">
            <a:extLst>
              <a:ext uri="{FF2B5EF4-FFF2-40B4-BE49-F238E27FC236}">
                <a16:creationId xmlns:a16="http://schemas.microsoft.com/office/drawing/2014/main" id="{BEE8883A-6284-6896-555B-DA17141E20C9}"/>
              </a:ext>
            </a:extLst>
          </p:cNvPr>
          <p:cNvGrpSpPr/>
          <p:nvPr/>
        </p:nvGrpSpPr>
        <p:grpSpPr>
          <a:xfrm>
            <a:off x="566928" y="1122956"/>
            <a:ext cx="5436108" cy="4961144"/>
            <a:chOff x="566928" y="1122956"/>
            <a:chExt cx="5436108" cy="4961144"/>
          </a:xfrm>
        </p:grpSpPr>
        <p:sp>
          <p:nvSpPr>
            <p:cNvPr id="4" name="Shape 4"/>
            <p:cNvSpPr/>
            <p:nvPr/>
          </p:nvSpPr>
          <p:spPr>
            <a:xfrm>
              <a:off x="566928" y="1122956"/>
              <a:ext cx="5436108" cy="4961144"/>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822960" y="1122956"/>
              <a:ext cx="4924044"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Épithélium squameux (ectocol)</a:t>
              </a:r>
              <a:endParaRPr lang="fr-FR" sz="2000" dirty="0"/>
            </a:p>
          </p:txBody>
        </p:sp>
        <p:sp>
          <p:nvSpPr>
            <p:cNvPr id="6" name="Text 6"/>
            <p:cNvSpPr txBox="1"/>
            <p:nvPr/>
          </p:nvSpPr>
          <p:spPr>
            <a:xfrm>
              <a:off x="822960" y="1568085"/>
              <a:ext cx="4924044" cy="20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Plusieurs couches de cellules plates (15 à 20), reposant sur une membrane basale.</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Quatre couches : basale, parabasale, intermédiaire et superficielle.</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Couches supérieures riches en glycogène. Maturation dépendante des œstrogènes.</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Aspect rose pâle à l'examen.</a:t>
              </a:r>
              <a:endParaRPr lang="fr-FR" sz="1500" dirty="0"/>
            </a:p>
          </p:txBody>
        </p:sp>
        <p:pic>
          <p:nvPicPr>
            <p:cNvPr id="10" name="Imagen 9">
              <a:extLst>
                <a:ext uri="{FF2B5EF4-FFF2-40B4-BE49-F238E27FC236}">
                  <a16:creationId xmlns:a16="http://schemas.microsoft.com/office/drawing/2014/main" id="{E0D6CD6B-D124-4EAE-87CA-6D0D1EFC0DD8}"/>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701111" y="3539098"/>
              <a:ext cx="2903547" cy="2451063"/>
            </a:xfrm>
            <a:prstGeom prst="rect">
              <a:avLst/>
            </a:prstGeom>
          </p:spPr>
        </p:pic>
      </p:grpSp>
      <p:grpSp>
        <p:nvGrpSpPr>
          <p:cNvPr id="15" name="Grupo 14">
            <a:extLst>
              <a:ext uri="{FF2B5EF4-FFF2-40B4-BE49-F238E27FC236}">
                <a16:creationId xmlns:a16="http://schemas.microsoft.com/office/drawing/2014/main" id="{5BFAC373-D8D5-1D74-850C-BF3E570571A0}"/>
              </a:ext>
            </a:extLst>
          </p:cNvPr>
          <p:cNvGrpSpPr/>
          <p:nvPr/>
        </p:nvGrpSpPr>
        <p:grpSpPr>
          <a:xfrm>
            <a:off x="6185916" y="1122955"/>
            <a:ext cx="5436108" cy="4961143"/>
            <a:chOff x="6185916" y="1122955"/>
            <a:chExt cx="5436108" cy="4961143"/>
          </a:xfrm>
        </p:grpSpPr>
        <p:sp>
          <p:nvSpPr>
            <p:cNvPr id="7" name="Shape 7"/>
            <p:cNvSpPr/>
            <p:nvPr/>
          </p:nvSpPr>
          <p:spPr>
            <a:xfrm>
              <a:off x="6185916" y="1122955"/>
              <a:ext cx="5436108" cy="4961143"/>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6423660" y="1122956"/>
              <a:ext cx="4924044"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Épithélium cylindrique (endocol)</a:t>
              </a:r>
              <a:endParaRPr lang="fr-FR" sz="2000" dirty="0"/>
            </a:p>
          </p:txBody>
        </p:sp>
        <p:sp>
          <p:nvSpPr>
            <p:cNvPr id="9" name="Text 9"/>
            <p:cNvSpPr txBox="1"/>
            <p:nvPr/>
          </p:nvSpPr>
          <p:spPr>
            <a:xfrm>
              <a:off x="6441948" y="1568085"/>
              <a:ext cx="4924044" cy="20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Une seule couche de hautes cellules sécrétant du mucus.</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Se replie dans le stroma pour former des cryptes d'environ 5 à 8 mm de profondeur.</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Ne contient pas de glycogène.</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Aspect rouge et velouté à l'examen.</a:t>
              </a:r>
              <a:endParaRPr lang="fr-FR" sz="1500" dirty="0"/>
            </a:p>
          </p:txBody>
        </p:sp>
        <p:pic>
          <p:nvPicPr>
            <p:cNvPr id="13" name="Imagen 12">
              <a:extLst>
                <a:ext uri="{FF2B5EF4-FFF2-40B4-BE49-F238E27FC236}">
                  <a16:creationId xmlns:a16="http://schemas.microsoft.com/office/drawing/2014/main" id="{EFC0103C-E8E5-21E6-CD49-0910C2451EA8}"/>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378545" y="3429000"/>
              <a:ext cx="3014274" cy="2558143"/>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1 · ANATOMIE</a:t>
            </a:r>
            <a:endParaRPr lang="fr-FR" sz="1200" dirty="0"/>
          </a:p>
        </p:txBody>
      </p:sp>
      <p:sp>
        <p:nvSpPr>
          <p:cNvPr id="3" name="Text 3"/>
          <p:cNvSpPr txBox="1"/>
          <p:nvPr/>
        </p:nvSpPr>
        <p:spPr>
          <a:xfrm>
            <a:off x="566928" y="309880"/>
            <a:ext cx="11055096" cy="868680"/>
          </a:xfrm>
          <a:prstGeom prst="rect">
            <a:avLst/>
          </a:prstGeom>
          <a:noFill/>
          <a:ln/>
        </p:spPr>
        <p:txBody>
          <a:bodyPr wrap="square" lIns="0" tIns="0" rIns="0" bIns="0" rtlCol="0" anchor="ctr"/>
          <a:lstStyle/>
          <a:p>
            <a:pPr marL="0" indent="0">
              <a:buNone/>
            </a:pPr>
            <a:r>
              <a:rPr lang="fr-FR" sz="2800" b="1" noProof="0" dirty="0">
                <a:solidFill>
                  <a:srgbClr val="10305A"/>
                </a:solidFill>
                <a:latin typeface="Cambria" pitchFamily="34" charset="0"/>
                <a:ea typeface="Cambria" pitchFamily="34" charset="-122"/>
                <a:cs typeface="Cambria" pitchFamily="34" charset="-120"/>
              </a:rPr>
              <a:t>La jonction squamocylindrique se déplace au cours de la vie</a:t>
            </a:r>
          </a:p>
        </p:txBody>
      </p:sp>
      <p:sp>
        <p:nvSpPr>
          <p:cNvPr id="4" name="Text 4"/>
          <p:cNvSpPr txBox="1"/>
          <p:nvPr/>
        </p:nvSpPr>
        <p:spPr>
          <a:xfrm>
            <a:off x="566928" y="1109800"/>
            <a:ext cx="11055096" cy="365760"/>
          </a:xfrm>
          <a:prstGeom prst="rect">
            <a:avLst/>
          </a:prstGeom>
          <a:noFill/>
          <a:ln/>
        </p:spPr>
        <p:txBody>
          <a:bodyPr wrap="square" lIns="0" tIns="0" rIns="0" bIns="0" rtlCol="0" anchor="ctr"/>
          <a:lstStyle/>
          <a:p>
            <a:pPr marL="0" indent="0" algn="l">
              <a:buNone/>
            </a:pPr>
            <a:r>
              <a:rPr lang="fr-FR" sz="1800" noProof="0" dirty="0">
                <a:solidFill>
                  <a:srgbClr val="31507B"/>
                </a:solidFill>
                <a:latin typeface="Calibri" pitchFamily="34" charset="0"/>
                <a:ea typeface="Calibri" pitchFamily="34" charset="-122"/>
                <a:cs typeface="Calibri" pitchFamily="34" charset="-120"/>
              </a:rPr>
              <a:t>La position de la JSC change avec l'âge, les hormones, la grossesse et l'accouchement.</a:t>
            </a:r>
            <a:endParaRPr lang="fr-FR" sz="1800" dirty="0"/>
          </a:p>
        </p:txBody>
      </p:sp>
      <p:sp>
        <p:nvSpPr>
          <p:cNvPr id="5" name="Shape 5"/>
          <p:cNvSpPr/>
          <p:nvPr/>
        </p:nvSpPr>
        <p:spPr>
          <a:xfrm>
            <a:off x="566928" y="1589800"/>
            <a:ext cx="3563112" cy="40363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6" name="Text 6"/>
          <p:cNvSpPr txBox="1"/>
          <p:nvPr/>
        </p:nvSpPr>
        <p:spPr>
          <a:xfrm>
            <a:off x="822960" y="1557400"/>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Avant la puberté</a:t>
            </a:r>
            <a:endParaRPr lang="fr-FR" sz="2000" dirty="0"/>
          </a:p>
        </p:txBody>
      </p:sp>
      <p:sp>
        <p:nvSpPr>
          <p:cNvPr id="7" name="Text 7"/>
          <p:cNvSpPr txBox="1"/>
          <p:nvPr/>
        </p:nvSpPr>
        <p:spPr>
          <a:xfrm>
            <a:off x="822960" y="2137400"/>
            <a:ext cx="3051048" cy="178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La JSC se trouve au niveau de l'orifice externe, ou très près.</a:t>
            </a:r>
            <a:endParaRPr lang="fr-FR" sz="1500" dirty="0"/>
          </a:p>
        </p:txBody>
      </p:sp>
      <p:sp>
        <p:nvSpPr>
          <p:cNvPr id="8" name="Shape 8"/>
          <p:cNvSpPr/>
          <p:nvPr/>
        </p:nvSpPr>
        <p:spPr>
          <a:xfrm>
            <a:off x="4312920" y="1589800"/>
            <a:ext cx="3563112" cy="40363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9" name="Text 9"/>
          <p:cNvSpPr txBox="1"/>
          <p:nvPr/>
        </p:nvSpPr>
        <p:spPr>
          <a:xfrm>
            <a:off x="4568952" y="1557400"/>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Puberté et grossesse</a:t>
            </a:r>
            <a:endParaRPr lang="fr-FR" sz="2000" dirty="0"/>
          </a:p>
        </p:txBody>
      </p:sp>
      <p:sp>
        <p:nvSpPr>
          <p:cNvPr id="10" name="Text 10"/>
          <p:cNvSpPr txBox="1"/>
          <p:nvPr/>
        </p:nvSpPr>
        <p:spPr>
          <a:xfrm>
            <a:off x="4568952" y="2137400"/>
            <a:ext cx="3051048" cy="178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Sous l'effet des œstrogènes, le col grossit et l'épithélium cylindrique s'extériorise sur l'ectocol (ectropion). La JSC s'éloigne de l'orifice. La contraception hormonale peut avoir le même effet.</a:t>
            </a:r>
            <a:endParaRPr lang="fr-FR" sz="1500" dirty="0"/>
          </a:p>
        </p:txBody>
      </p:sp>
      <p:sp>
        <p:nvSpPr>
          <p:cNvPr id="11" name="Shape 11"/>
          <p:cNvSpPr/>
          <p:nvPr/>
        </p:nvSpPr>
        <p:spPr>
          <a:xfrm>
            <a:off x="8058912" y="1589800"/>
            <a:ext cx="3563112" cy="40363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2" name="Text 12"/>
          <p:cNvSpPr txBox="1"/>
          <p:nvPr/>
        </p:nvSpPr>
        <p:spPr>
          <a:xfrm>
            <a:off x="8314944" y="1557400"/>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Après la ménopause</a:t>
            </a:r>
            <a:endParaRPr lang="fr-FR" sz="2000" dirty="0"/>
          </a:p>
        </p:txBody>
      </p:sp>
      <p:sp>
        <p:nvSpPr>
          <p:cNvPr id="13" name="Text 13"/>
          <p:cNvSpPr txBox="1"/>
          <p:nvPr/>
        </p:nvSpPr>
        <p:spPr>
          <a:xfrm>
            <a:off x="8314944" y="2137400"/>
            <a:ext cx="3051048" cy="178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Avec moins d'œstrogènes, le col diminue de volume. La JSC remonte dans le canal et n'est souvent plus visible.</a:t>
            </a:r>
            <a:endParaRPr lang="fr-FR" sz="1500" dirty="0"/>
          </a:p>
        </p:txBody>
      </p:sp>
      <p:sp>
        <p:nvSpPr>
          <p:cNvPr id="15" name="Shape 15"/>
          <p:cNvSpPr/>
          <p:nvPr/>
        </p:nvSpPr>
        <p:spPr>
          <a:xfrm>
            <a:off x="566928" y="5791200"/>
            <a:ext cx="11055096" cy="5812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16" name="Text 16"/>
          <p:cNvSpPr txBox="1"/>
          <p:nvPr/>
        </p:nvSpPr>
        <p:spPr>
          <a:xfrm>
            <a:off x="841248" y="5900600"/>
            <a:ext cx="10506456" cy="421800"/>
          </a:xfrm>
          <a:prstGeom prst="rect">
            <a:avLst/>
          </a:prstGeom>
          <a:noFill/>
          <a:ln/>
        </p:spPr>
        <p:txBody>
          <a:bodyPr wrap="square" lIns="0" tIns="0" rIns="0" bIns="0" rtlCol="0" anchor="ctr"/>
          <a:lstStyle/>
          <a:p>
            <a:pPr marL="0" indent="0" algn="l">
              <a:buNone/>
            </a:pPr>
            <a:r>
              <a:rPr lang="fr-FR" sz="1500" b="1" noProof="0" dirty="0">
                <a:solidFill>
                  <a:srgbClr val="7B5727"/>
                </a:solidFill>
                <a:latin typeface="Calibri" pitchFamily="34" charset="0"/>
                <a:ea typeface="Calibri" pitchFamily="34" charset="-122"/>
                <a:cs typeface="Calibri" pitchFamily="34" charset="-120"/>
              </a:rPr>
              <a:t>📌 Rappelez-vous :  </a:t>
            </a:r>
            <a:r>
              <a:rPr lang="fr-FR" sz="1500" noProof="0" dirty="0">
                <a:solidFill>
                  <a:srgbClr val="23303F"/>
                </a:solidFill>
                <a:latin typeface="Calibri" pitchFamily="34" charset="0"/>
                <a:ea typeface="Calibri" pitchFamily="34" charset="-122"/>
                <a:cs typeface="Calibri" pitchFamily="34" charset="-120"/>
              </a:rPr>
              <a:t>Lorsque la JSC est dans le canal, la zone de transformation ne peut pas être vue en entier. C'est fréquent après la ménopause.</a:t>
            </a:r>
            <a:endParaRPr lang="fr-FR" sz="1500" dirty="0"/>
          </a:p>
        </p:txBody>
      </p:sp>
      <p:sp>
        <p:nvSpPr>
          <p:cNvPr id="17" name="Text 17"/>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8" name="Text 18"/>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33</a:t>
            </a:r>
            <a:endParaRPr lang="fr-FR" sz="1100" dirty="0"/>
          </a:p>
        </p:txBody>
      </p:sp>
      <p:pic>
        <p:nvPicPr>
          <p:cNvPr id="14" name="Imagen 13">
            <a:extLst>
              <a:ext uri="{FF2B5EF4-FFF2-40B4-BE49-F238E27FC236}">
                <a16:creationId xmlns:a16="http://schemas.microsoft.com/office/drawing/2014/main" id="{E8C59B46-02B3-3385-041B-B632399F5123}"/>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635000" y="3644900"/>
            <a:ext cx="3444875" cy="1677133"/>
          </a:xfrm>
          <a:prstGeom prst="rect">
            <a:avLst/>
          </a:prstGeom>
        </p:spPr>
      </p:pic>
      <p:pic>
        <p:nvPicPr>
          <p:cNvPr id="19" name="Imagen 18">
            <a:extLst>
              <a:ext uri="{FF2B5EF4-FFF2-40B4-BE49-F238E27FC236}">
                <a16:creationId xmlns:a16="http://schemas.microsoft.com/office/drawing/2014/main" id="{4F33E8C8-A5CE-DA38-3486-051E55765C39}"/>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410075" y="3622675"/>
            <a:ext cx="3392806" cy="1677925"/>
          </a:xfrm>
          <a:prstGeom prst="rect">
            <a:avLst/>
          </a:prstGeom>
        </p:spPr>
      </p:pic>
      <p:pic>
        <p:nvPicPr>
          <p:cNvPr id="23" name="Imagen 22">
            <a:extLst>
              <a:ext uri="{FF2B5EF4-FFF2-40B4-BE49-F238E27FC236}">
                <a16:creationId xmlns:a16="http://schemas.microsoft.com/office/drawing/2014/main" id="{5CFE362D-9961-E3E5-1B42-24330C03298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32065" y="3610266"/>
            <a:ext cx="3424936" cy="171053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1 · ANATOMIE</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2800" b="1" noProof="0" dirty="0">
                <a:solidFill>
                  <a:srgbClr val="10305A"/>
                </a:solidFill>
                <a:latin typeface="Cambria" pitchFamily="34" charset="0"/>
                <a:ea typeface="Cambria" pitchFamily="34" charset="-122"/>
                <a:cs typeface="Cambria" pitchFamily="34" charset="-120"/>
              </a:rPr>
              <a:t>Métaplasie squameuse : JSC originelle et nouvelle JSC</a:t>
            </a:r>
          </a:p>
        </p:txBody>
      </p:sp>
      <p:sp>
        <p:nvSpPr>
          <p:cNvPr id="4" name="Shape 4"/>
          <p:cNvSpPr/>
          <p:nvPr/>
        </p:nvSpPr>
        <p:spPr>
          <a:xfrm>
            <a:off x="566928" y="1450000"/>
            <a:ext cx="4630714" cy="84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716928" y="1450000"/>
            <a:ext cx="520000" cy="84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1️⃣</a:t>
            </a:r>
            <a:endParaRPr lang="fr-FR" sz="2000" dirty="0"/>
          </a:p>
        </p:txBody>
      </p:sp>
      <p:sp>
        <p:nvSpPr>
          <p:cNvPr id="6" name="Text 6"/>
          <p:cNvSpPr txBox="1"/>
          <p:nvPr/>
        </p:nvSpPr>
        <p:spPr>
          <a:xfrm>
            <a:off x="1316928" y="1450000"/>
            <a:ext cx="3880714" cy="84000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L'épithélium cylindrique extériorisé est exposé à l'acidité du vagin.</a:t>
            </a:r>
            <a:endParaRPr lang="fr-FR" sz="1600" dirty="0"/>
          </a:p>
        </p:txBody>
      </p:sp>
      <p:sp>
        <p:nvSpPr>
          <p:cNvPr id="7" name="Shape 7"/>
          <p:cNvSpPr/>
          <p:nvPr/>
        </p:nvSpPr>
        <p:spPr>
          <a:xfrm>
            <a:off x="566928" y="2400000"/>
            <a:ext cx="4630714" cy="84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716928" y="2400000"/>
            <a:ext cx="520000" cy="84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2️⃣</a:t>
            </a:r>
            <a:endParaRPr lang="fr-FR" sz="2000" dirty="0"/>
          </a:p>
        </p:txBody>
      </p:sp>
      <p:sp>
        <p:nvSpPr>
          <p:cNvPr id="9" name="Text 9"/>
          <p:cNvSpPr txBox="1"/>
          <p:nvPr/>
        </p:nvSpPr>
        <p:spPr>
          <a:xfrm>
            <a:off x="1316928" y="2400000"/>
            <a:ext cx="3880714" cy="84000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Il est remplacé progressivement par un nouvel épithélium squameux. Ce processus normal s'appelle la métaplasie squameuse.</a:t>
            </a:r>
            <a:endParaRPr lang="fr-FR" sz="1600" dirty="0"/>
          </a:p>
        </p:txBody>
      </p:sp>
      <p:sp>
        <p:nvSpPr>
          <p:cNvPr id="10" name="Shape 10"/>
          <p:cNvSpPr/>
          <p:nvPr/>
        </p:nvSpPr>
        <p:spPr>
          <a:xfrm>
            <a:off x="566928" y="3350000"/>
            <a:ext cx="4630714" cy="84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1" name="Text 11"/>
          <p:cNvSpPr txBox="1"/>
          <p:nvPr/>
        </p:nvSpPr>
        <p:spPr>
          <a:xfrm>
            <a:off x="716928" y="3350000"/>
            <a:ext cx="520000" cy="84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3️⃣</a:t>
            </a:r>
            <a:endParaRPr lang="fr-FR" sz="2000" dirty="0"/>
          </a:p>
        </p:txBody>
      </p:sp>
      <p:sp>
        <p:nvSpPr>
          <p:cNvPr id="12" name="Text 12"/>
          <p:cNvSpPr txBox="1"/>
          <p:nvPr/>
        </p:nvSpPr>
        <p:spPr>
          <a:xfrm>
            <a:off x="1316928" y="3350000"/>
            <a:ext cx="3880714" cy="84000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La métaplasie commence à la JSC originelle et progresse vers l'intérieur, vers l'orifice externe.</a:t>
            </a:r>
            <a:endParaRPr lang="fr-FR" sz="1600" dirty="0"/>
          </a:p>
        </p:txBody>
      </p:sp>
      <p:sp>
        <p:nvSpPr>
          <p:cNvPr id="13" name="Shape 13"/>
          <p:cNvSpPr/>
          <p:nvPr/>
        </p:nvSpPr>
        <p:spPr>
          <a:xfrm>
            <a:off x="566928" y="4300000"/>
            <a:ext cx="4630714" cy="84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4" name="Text 14"/>
          <p:cNvSpPr txBox="1"/>
          <p:nvPr/>
        </p:nvSpPr>
        <p:spPr>
          <a:xfrm>
            <a:off x="716928" y="4300000"/>
            <a:ext cx="520000" cy="84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4️⃣</a:t>
            </a:r>
            <a:endParaRPr lang="fr-FR" sz="2000" dirty="0"/>
          </a:p>
        </p:txBody>
      </p:sp>
      <p:sp>
        <p:nvSpPr>
          <p:cNvPr id="15" name="Text 15"/>
          <p:cNvSpPr txBox="1"/>
          <p:nvPr/>
        </p:nvSpPr>
        <p:spPr>
          <a:xfrm>
            <a:off x="1316928" y="4300000"/>
            <a:ext cx="3880714" cy="84000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Une nouvelle JSC se forme là où le nouvel épithélium squameux rejoint l'épithélium cylindrique.</a:t>
            </a:r>
            <a:endParaRPr lang="fr-FR" sz="1600" dirty="0"/>
          </a:p>
        </p:txBody>
      </p:sp>
      <p:sp>
        <p:nvSpPr>
          <p:cNvPr id="17" name="Shape 17"/>
          <p:cNvSpPr/>
          <p:nvPr/>
        </p:nvSpPr>
        <p:spPr>
          <a:xfrm>
            <a:off x="566928" y="5330000"/>
            <a:ext cx="11055096" cy="88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8" name="Text 18"/>
          <p:cNvSpPr txBox="1"/>
          <p:nvPr/>
        </p:nvSpPr>
        <p:spPr>
          <a:xfrm>
            <a:off x="841248" y="5380000"/>
            <a:ext cx="10506456" cy="780000"/>
          </a:xfrm>
          <a:prstGeom prst="rect">
            <a:avLst/>
          </a:prstGeom>
          <a:noFill/>
          <a:ln/>
        </p:spPr>
        <p:txBody>
          <a:bodyPr wrap="square" lIns="0" tIns="0" rIns="0" bIns="0" rtlCol="0" anchor="ctr"/>
          <a:lstStyle/>
          <a:p>
            <a:pPr marL="0" indent="0" algn="l">
              <a:buNone/>
            </a:pPr>
            <a:r>
              <a:rPr lang="fr-FR" sz="1500" b="1" noProof="0" dirty="0">
                <a:solidFill>
                  <a:srgbClr val="19543E"/>
                </a:solidFill>
                <a:latin typeface="Calibri" pitchFamily="34" charset="0"/>
                <a:ea typeface="Calibri" pitchFamily="34" charset="-122"/>
                <a:cs typeface="Calibri" pitchFamily="34" charset="-120"/>
              </a:rPr>
              <a:t>✅ Normal, pas une maladie :  </a:t>
            </a:r>
            <a:r>
              <a:rPr lang="fr-FR" sz="1500" noProof="0" dirty="0">
                <a:solidFill>
                  <a:srgbClr val="23303F"/>
                </a:solidFill>
                <a:latin typeface="Calibri" pitchFamily="34" charset="0"/>
                <a:ea typeface="Calibri" pitchFamily="34" charset="-122"/>
                <a:cs typeface="Calibri" pitchFamily="34" charset="-120"/>
              </a:rPr>
              <a:t>La métaplasie squameuse est un changement physiologique. Elle compte parce que ces cellules en transformation active sont les plus vulnérables au HPV à haut risque.</a:t>
            </a:r>
            <a:endParaRPr lang="fr-FR" sz="1500" dirty="0"/>
          </a:p>
        </p:txBody>
      </p:sp>
      <p:sp>
        <p:nvSpPr>
          <p:cNvPr id="19" name="Text 1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20" name="Text 2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34</a:t>
            </a:r>
            <a:endParaRPr lang="fr-FR" sz="1100" dirty="0"/>
          </a:p>
        </p:txBody>
      </p:sp>
      <p:pic>
        <p:nvPicPr>
          <p:cNvPr id="21" name="Imagen 20">
            <a:extLst>
              <a:ext uri="{FF2B5EF4-FFF2-40B4-BE49-F238E27FC236}">
                <a16:creationId xmlns:a16="http://schemas.microsoft.com/office/drawing/2014/main" id="{78E64F99-ADE3-621C-E6A2-3BF480ED0AB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77642" y="1466545"/>
            <a:ext cx="6070062" cy="370690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0D32006A-6220-A58A-CDAE-0E192224D34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69715" y="3006198"/>
            <a:ext cx="6852569" cy="2929669"/>
          </a:xfrm>
          <a:prstGeom prst="rect">
            <a:avLst/>
          </a:prstGeom>
        </p:spPr>
      </p:pic>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35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ANATOMIE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La zone de transformation</a:t>
            </a:r>
            <a:endParaRPr lang="fr-FR" sz="3200" noProof="0" dirty="0"/>
          </a:p>
        </p:txBody>
      </p:sp>
      <p:sp>
        <p:nvSpPr>
          <p:cNvPr id="6" name="Shape 4"/>
          <p:cNvSpPr/>
          <p:nvPr/>
        </p:nvSpPr>
        <p:spPr>
          <a:xfrm>
            <a:off x="566928" y="1381615"/>
            <a:ext cx="3563112" cy="1683557"/>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7" name="Text 5"/>
          <p:cNvSpPr txBox="1"/>
          <p:nvPr/>
        </p:nvSpPr>
        <p:spPr>
          <a:xfrm>
            <a:off x="822960" y="1390321"/>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Ce que c'est</a:t>
            </a:r>
            <a:endParaRPr lang="fr-FR" noProof="0" dirty="0"/>
          </a:p>
        </p:txBody>
      </p:sp>
      <p:sp>
        <p:nvSpPr>
          <p:cNvPr id="8" name="Text 6"/>
          <p:cNvSpPr txBox="1"/>
          <p:nvPr/>
        </p:nvSpPr>
        <p:spPr>
          <a:xfrm>
            <a:off x="822960" y="1895856"/>
            <a:ext cx="3051048" cy="1075944"/>
          </a:xfrm>
          <a:prstGeom prst="rect">
            <a:avLst/>
          </a:prstGeom>
          <a:noFill/>
          <a:ln/>
        </p:spPr>
        <p:txBody>
          <a:bodyPr wrap="square" lIns="0" tIns="0" rIns="0" bIns="0" rtlCol="0" anchor="t">
            <a:noAutofit/>
          </a:bodyPr>
          <a:lstStyle/>
          <a:p>
            <a:pPr marL="0" indent="0">
              <a:lnSpc>
                <a:spcPct val="106000"/>
              </a:lnSpc>
              <a:buNone/>
            </a:pPr>
            <a:r>
              <a:rPr lang="fr-FR" sz="1600" noProof="0" dirty="0">
                <a:solidFill>
                  <a:srgbClr val="23303F"/>
                </a:solidFill>
                <a:latin typeface="Calibri" pitchFamily="34" charset="0"/>
                <a:ea typeface="Calibri" pitchFamily="34" charset="-122"/>
                <a:cs typeface="Calibri" pitchFamily="34" charset="-120"/>
              </a:rPr>
              <a:t>La zone située entre la JSC originelle et la nouvelle JSC, où la métaplasie squameuse s'est produite.</a:t>
            </a:r>
            <a:endParaRPr lang="fr-FR" sz="1600" noProof="0" dirty="0"/>
          </a:p>
        </p:txBody>
      </p:sp>
      <p:sp>
        <p:nvSpPr>
          <p:cNvPr id="9" name="Shape 7"/>
          <p:cNvSpPr/>
          <p:nvPr/>
        </p:nvSpPr>
        <p:spPr>
          <a:xfrm>
            <a:off x="4312920" y="1381615"/>
            <a:ext cx="3563112" cy="1590185"/>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10" name="Text 8"/>
          <p:cNvSpPr txBox="1"/>
          <p:nvPr/>
        </p:nvSpPr>
        <p:spPr>
          <a:xfrm>
            <a:off x="4568952" y="1390321"/>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Pourquoi cela compte</a:t>
            </a:r>
            <a:endParaRPr lang="fr-FR" noProof="0" dirty="0"/>
          </a:p>
        </p:txBody>
      </p:sp>
      <p:sp>
        <p:nvSpPr>
          <p:cNvPr id="11" name="Text 9"/>
          <p:cNvSpPr txBox="1"/>
          <p:nvPr/>
        </p:nvSpPr>
        <p:spPr>
          <a:xfrm>
            <a:off x="4568952" y="1895856"/>
            <a:ext cx="3051048" cy="1773936"/>
          </a:xfrm>
          <a:prstGeom prst="rect">
            <a:avLst/>
          </a:prstGeom>
          <a:noFill/>
          <a:ln/>
        </p:spPr>
        <p:txBody>
          <a:bodyPr wrap="square" lIns="0" tIns="0" rIns="0" bIns="0" rtlCol="0" anchor="t">
            <a:noAutofit/>
          </a:bodyPr>
          <a:lstStyle/>
          <a:p>
            <a:pPr marL="0" indent="0">
              <a:lnSpc>
                <a:spcPct val="106000"/>
              </a:lnSpc>
              <a:buNone/>
            </a:pPr>
            <a:r>
              <a:rPr lang="fr-FR" sz="1472" noProof="0" dirty="0">
                <a:solidFill>
                  <a:srgbClr val="23303F"/>
                </a:solidFill>
                <a:latin typeface="Calibri" pitchFamily="34" charset="0"/>
                <a:ea typeface="Calibri" pitchFamily="34" charset="-122"/>
                <a:cs typeface="Calibri" pitchFamily="34" charset="-120"/>
              </a:rPr>
              <a:t>Presque tous les cancers du col de l'utérus commencent ici, car ce sont ces cellules en transformation active que le HPV affecte.</a:t>
            </a:r>
            <a:endParaRPr lang="fr-FR" sz="1472" noProof="0" dirty="0"/>
          </a:p>
        </p:txBody>
      </p:sp>
      <p:sp>
        <p:nvSpPr>
          <p:cNvPr id="12" name="Shape 10"/>
          <p:cNvSpPr/>
          <p:nvPr/>
        </p:nvSpPr>
        <p:spPr>
          <a:xfrm>
            <a:off x="8058912" y="1381615"/>
            <a:ext cx="3563112" cy="1590185"/>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13" name="Text 11"/>
          <p:cNvSpPr txBox="1"/>
          <p:nvPr/>
        </p:nvSpPr>
        <p:spPr>
          <a:xfrm>
            <a:off x="8314944" y="1390321"/>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Ce que cela change pour vous</a:t>
            </a:r>
            <a:endParaRPr lang="fr-FR" noProof="0" dirty="0"/>
          </a:p>
        </p:txBody>
      </p:sp>
      <p:sp>
        <p:nvSpPr>
          <p:cNvPr id="14" name="Text 12"/>
          <p:cNvSpPr txBox="1"/>
          <p:nvPr/>
        </p:nvSpPr>
        <p:spPr>
          <a:xfrm>
            <a:off x="8314944" y="1895856"/>
            <a:ext cx="3051048" cy="1773936"/>
          </a:xfrm>
          <a:prstGeom prst="rect">
            <a:avLst/>
          </a:prstGeom>
          <a:noFill/>
          <a:ln/>
        </p:spPr>
        <p:txBody>
          <a:bodyPr wrap="square" lIns="0" tIns="0" rIns="0" bIns="0" rtlCol="0" anchor="t">
            <a:noAutofit/>
          </a:bodyPr>
          <a:lstStyle/>
          <a:p>
            <a:pPr marL="0" indent="0">
              <a:lnSpc>
                <a:spcPct val="106000"/>
              </a:lnSpc>
              <a:buNone/>
            </a:pPr>
            <a:r>
              <a:rPr lang="fr-FR" sz="1472" noProof="0" dirty="0">
                <a:solidFill>
                  <a:srgbClr val="23303F"/>
                </a:solidFill>
                <a:latin typeface="Calibri" pitchFamily="34" charset="0"/>
                <a:ea typeface="Calibri" pitchFamily="34" charset="-122"/>
                <a:cs typeface="Calibri" pitchFamily="34" charset="-120"/>
              </a:rPr>
              <a:t>Le dépistage et le traitement du </a:t>
            </a:r>
            <a:r>
              <a:rPr lang="fr-FR" sz="1472" noProof="0" dirty="0" err="1">
                <a:solidFill>
                  <a:srgbClr val="23303F"/>
                </a:solidFill>
                <a:latin typeface="Calibri" pitchFamily="34" charset="0"/>
                <a:ea typeface="Calibri" pitchFamily="34" charset="-122"/>
                <a:cs typeface="Calibri" pitchFamily="34" charset="-120"/>
              </a:rPr>
              <a:t>précancer</a:t>
            </a:r>
            <a:r>
              <a:rPr lang="fr-FR" sz="1472" noProof="0" dirty="0">
                <a:solidFill>
                  <a:srgbClr val="23303F"/>
                </a:solidFill>
                <a:latin typeface="Calibri" pitchFamily="34" charset="0"/>
                <a:ea typeface="Calibri" pitchFamily="34" charset="-122"/>
                <a:cs typeface="Calibri" pitchFamily="34" charset="-120"/>
              </a:rPr>
              <a:t> dépendent tous deux de la visibilité de cette zone.</a:t>
            </a:r>
            <a:endParaRPr lang="fr-FR" sz="1472" noProof="0" dirty="0"/>
          </a:p>
        </p:txBody>
      </p:sp>
      <p:sp>
        <p:nvSpPr>
          <p:cNvPr id="15" name="Shape 13"/>
          <p:cNvSpPr/>
          <p:nvPr/>
        </p:nvSpPr>
        <p:spPr>
          <a:xfrm>
            <a:off x="566928" y="5687136"/>
            <a:ext cx="11055096" cy="633546"/>
          </a:xfrm>
          <a:prstGeom prst="roundRect">
            <a:avLst>
              <a:gd name="adj" fmla="val 8140"/>
            </a:avLst>
          </a:prstGeom>
          <a:solidFill>
            <a:srgbClr val="FFF2DF"/>
          </a:solidFill>
          <a:ln w="12700">
            <a:solidFill>
              <a:srgbClr val="E8DDC7"/>
            </a:solidFill>
            <a:prstDash val="solid"/>
          </a:ln>
        </p:spPr>
        <p:txBody>
          <a:bodyPr/>
          <a:lstStyle/>
          <a:p>
            <a:endParaRPr lang="fr-FR" sz="1600" noProof="0" dirty="0"/>
          </a:p>
        </p:txBody>
      </p:sp>
      <p:sp>
        <p:nvSpPr>
          <p:cNvPr id="16" name="Text 14"/>
          <p:cNvSpPr txBox="1"/>
          <p:nvPr/>
        </p:nvSpPr>
        <p:spPr>
          <a:xfrm>
            <a:off x="841248" y="5687136"/>
            <a:ext cx="10506456" cy="676656"/>
          </a:xfrm>
          <a:prstGeom prst="rect">
            <a:avLst/>
          </a:prstGeom>
          <a:noFill/>
          <a:ln/>
        </p:spPr>
        <p:txBody>
          <a:bodyPr wrap="square" lIns="0" tIns="0" rIns="0" bIns="0" rtlCol="0" anchor="ctr"/>
          <a:lstStyle/>
          <a:p>
            <a:pPr marL="0" indent="0">
              <a:lnSpc>
                <a:spcPct val="104000"/>
              </a:lnSpc>
              <a:buNone/>
            </a:pPr>
            <a:r>
              <a:rPr lang="fr-FR" sz="1600" b="1" noProof="0" dirty="0">
                <a:solidFill>
                  <a:srgbClr val="7B5727"/>
                </a:solidFill>
                <a:latin typeface="Calibri" pitchFamily="34" charset="0"/>
                <a:ea typeface="Calibri" pitchFamily="34" charset="-122"/>
                <a:cs typeface="Calibri" pitchFamily="34" charset="-120"/>
              </a:rPr>
              <a:t>📌 Rappelez-vous :  </a:t>
            </a:r>
            <a:r>
              <a:rPr lang="fr-FR" sz="1600" noProof="0" dirty="0">
                <a:solidFill>
                  <a:srgbClr val="23303F"/>
                </a:solidFill>
                <a:latin typeface="Calibri" pitchFamily="34" charset="0"/>
                <a:ea typeface="Calibri" pitchFamily="34" charset="-122"/>
                <a:cs typeface="Calibri" pitchFamily="34" charset="-120"/>
              </a:rPr>
              <a:t>lorsque la zone de transformation ne peut pas être entièrement vue, l'inspection visuelle est peu fiable et le traitement ablatif d'une lésion n'est pas approprié.</a:t>
            </a:r>
            <a:endParaRPr lang="fr-FR" sz="1600" noProof="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1 · ANATOMIE</a:t>
            </a:r>
            <a:endParaRPr lang="fr-FR" sz="1200" dirty="0"/>
          </a:p>
        </p:txBody>
      </p:sp>
      <p:sp>
        <p:nvSpPr>
          <p:cNvPr id="3" name="Text 3"/>
          <p:cNvSpPr txBox="1"/>
          <p:nvPr/>
        </p:nvSpPr>
        <p:spPr>
          <a:xfrm>
            <a:off x="566928" y="348249"/>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Trois types de zone de transformation</a:t>
            </a:r>
          </a:p>
        </p:txBody>
      </p:sp>
      <p:sp>
        <p:nvSpPr>
          <p:cNvPr id="4" name="Text 4"/>
          <p:cNvSpPr txBox="1"/>
          <p:nvPr/>
        </p:nvSpPr>
        <p:spPr>
          <a:xfrm>
            <a:off x="566928" y="973070"/>
            <a:ext cx="11055096" cy="365760"/>
          </a:xfrm>
          <a:prstGeom prst="rect">
            <a:avLst/>
          </a:prstGeom>
          <a:noFill/>
          <a:ln/>
        </p:spPr>
        <p:txBody>
          <a:bodyPr wrap="square" lIns="0" tIns="0" rIns="0" bIns="0" rtlCol="0" anchor="ctr"/>
          <a:lstStyle/>
          <a:p>
            <a:pPr marL="0" indent="0" algn="l">
              <a:buNone/>
            </a:pPr>
            <a:r>
              <a:rPr lang="fr-FR" sz="1600" i="1" noProof="0" dirty="0">
                <a:solidFill>
                  <a:srgbClr val="31507B"/>
                </a:solidFill>
                <a:latin typeface="Calibri" pitchFamily="34" charset="0"/>
                <a:ea typeface="Calibri" pitchFamily="34" charset="-122"/>
                <a:cs typeface="Calibri" pitchFamily="34" charset="-120"/>
              </a:rPr>
              <a:t>Le type dépend de la position de la JSC et de la possibilité de la voir en entier.</a:t>
            </a:r>
            <a:endParaRPr lang="fr-FR" sz="1600" i="1" dirty="0"/>
          </a:p>
        </p:txBody>
      </p:sp>
      <p:sp>
        <p:nvSpPr>
          <p:cNvPr id="5" name="Shape 5"/>
          <p:cNvSpPr/>
          <p:nvPr/>
        </p:nvSpPr>
        <p:spPr>
          <a:xfrm>
            <a:off x="566928" y="1394706"/>
            <a:ext cx="3563112" cy="3990214"/>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6" name="Text 6"/>
          <p:cNvSpPr txBox="1"/>
          <p:nvPr/>
        </p:nvSpPr>
        <p:spPr>
          <a:xfrm>
            <a:off x="822960" y="1378521"/>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1️⃣  Type 1</a:t>
            </a:r>
            <a:endParaRPr lang="fr-FR" sz="2000" dirty="0"/>
          </a:p>
        </p:txBody>
      </p:sp>
      <p:sp>
        <p:nvSpPr>
          <p:cNvPr id="7" name="Text 7"/>
          <p:cNvSpPr txBox="1"/>
          <p:nvPr/>
        </p:nvSpPr>
        <p:spPr>
          <a:xfrm>
            <a:off x="822960" y="1958521"/>
            <a:ext cx="3051048" cy="178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Entièrement sur l'ectocol. Toute la JSC est visible.</a:t>
            </a:r>
            <a:endParaRPr lang="fr-FR" sz="1500" dirty="0"/>
          </a:p>
        </p:txBody>
      </p:sp>
      <p:sp>
        <p:nvSpPr>
          <p:cNvPr id="8" name="Text 8"/>
          <p:cNvSpPr txBox="1"/>
          <p:nvPr/>
        </p:nvSpPr>
        <p:spPr>
          <a:xfrm>
            <a:off x="822960" y="2560506"/>
            <a:ext cx="3051048" cy="750000"/>
          </a:xfrm>
          <a:prstGeom prst="rect">
            <a:avLst/>
          </a:prstGeom>
          <a:noFill/>
          <a:ln/>
        </p:spPr>
        <p:txBody>
          <a:bodyPr wrap="square" lIns="0" tIns="0" rIns="0" bIns="0" rtlCol="0" anchor="ctr"/>
          <a:lstStyle/>
          <a:p>
            <a:pPr marL="0" indent="0" algn="l">
              <a:buNone/>
            </a:pPr>
            <a:r>
              <a:rPr lang="fr-FR" sz="1500" b="1" noProof="0" dirty="0">
                <a:solidFill>
                  <a:srgbClr val="19543E"/>
                </a:solidFill>
                <a:latin typeface="Calibri" pitchFamily="34" charset="0"/>
                <a:ea typeface="Calibri" pitchFamily="34" charset="-122"/>
                <a:cs typeface="Calibri" pitchFamily="34" charset="-120"/>
              </a:rPr>
              <a:t>✅ Ablation possible si les autres critères sont remplis.</a:t>
            </a:r>
            <a:endParaRPr lang="fr-FR" sz="1500" dirty="0"/>
          </a:p>
        </p:txBody>
      </p:sp>
      <p:sp>
        <p:nvSpPr>
          <p:cNvPr id="9" name="Shape 9"/>
          <p:cNvSpPr/>
          <p:nvPr/>
        </p:nvSpPr>
        <p:spPr>
          <a:xfrm>
            <a:off x="4312920" y="1394706"/>
            <a:ext cx="3563112" cy="3990214"/>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0" name="Text 10"/>
          <p:cNvSpPr txBox="1"/>
          <p:nvPr/>
        </p:nvSpPr>
        <p:spPr>
          <a:xfrm>
            <a:off x="4568952" y="1378521"/>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2️⃣  Type 2</a:t>
            </a:r>
            <a:endParaRPr lang="fr-FR" sz="2000" dirty="0"/>
          </a:p>
        </p:txBody>
      </p:sp>
      <p:sp>
        <p:nvSpPr>
          <p:cNvPr id="11" name="Text 11"/>
          <p:cNvSpPr txBox="1"/>
          <p:nvPr/>
        </p:nvSpPr>
        <p:spPr>
          <a:xfrm>
            <a:off x="4568952" y="1958521"/>
            <a:ext cx="3051048" cy="178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S'étend dans le canal, mais toute la JSC reste visible, avec ou sans spéculum endocervical.</a:t>
            </a:r>
            <a:endParaRPr lang="fr-FR" sz="1500" dirty="0"/>
          </a:p>
        </p:txBody>
      </p:sp>
      <p:sp>
        <p:nvSpPr>
          <p:cNvPr id="12" name="Text 12"/>
          <p:cNvSpPr txBox="1"/>
          <p:nvPr/>
        </p:nvSpPr>
        <p:spPr>
          <a:xfrm>
            <a:off x="4568952" y="2560506"/>
            <a:ext cx="3051048" cy="750000"/>
          </a:xfrm>
          <a:prstGeom prst="rect">
            <a:avLst/>
          </a:prstGeom>
          <a:noFill/>
          <a:ln/>
        </p:spPr>
        <p:txBody>
          <a:bodyPr wrap="square" lIns="0" tIns="0" rIns="0" bIns="0" rtlCol="0" anchor="ctr"/>
          <a:lstStyle/>
          <a:p>
            <a:pPr marL="0" indent="0" algn="l">
              <a:buNone/>
            </a:pPr>
            <a:r>
              <a:rPr lang="fr-FR" sz="1500" b="1" noProof="0" dirty="0">
                <a:solidFill>
                  <a:srgbClr val="19543E"/>
                </a:solidFill>
                <a:latin typeface="Calibri" pitchFamily="34" charset="0"/>
                <a:ea typeface="Calibri" pitchFamily="34" charset="-122"/>
                <a:cs typeface="Calibri" pitchFamily="34" charset="-120"/>
              </a:rPr>
              <a:t>✅ Ablation possible si les autres critères sont remplis.</a:t>
            </a:r>
            <a:endParaRPr lang="fr-FR" sz="1500" dirty="0"/>
          </a:p>
        </p:txBody>
      </p:sp>
      <p:sp>
        <p:nvSpPr>
          <p:cNvPr id="13" name="Shape 13"/>
          <p:cNvSpPr/>
          <p:nvPr/>
        </p:nvSpPr>
        <p:spPr>
          <a:xfrm>
            <a:off x="8058912" y="1394706"/>
            <a:ext cx="3563112" cy="3990214"/>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4" name="Text 14"/>
          <p:cNvSpPr txBox="1"/>
          <p:nvPr/>
        </p:nvSpPr>
        <p:spPr>
          <a:xfrm>
            <a:off x="8314944" y="1378521"/>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3️⃣  Type 3</a:t>
            </a:r>
            <a:endParaRPr lang="fr-FR" sz="2000" dirty="0"/>
          </a:p>
        </p:txBody>
      </p:sp>
      <p:sp>
        <p:nvSpPr>
          <p:cNvPr id="15" name="Text 15"/>
          <p:cNvSpPr txBox="1"/>
          <p:nvPr/>
        </p:nvSpPr>
        <p:spPr>
          <a:xfrm>
            <a:off x="8314944" y="1958521"/>
            <a:ext cx="3051048" cy="178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S'étend dans le canal, et la JSC ne peut pas être vue en entier.</a:t>
            </a:r>
            <a:endParaRPr lang="fr-FR" sz="1500" dirty="0"/>
          </a:p>
        </p:txBody>
      </p:sp>
      <p:sp>
        <p:nvSpPr>
          <p:cNvPr id="16" name="Text 16"/>
          <p:cNvSpPr txBox="1"/>
          <p:nvPr/>
        </p:nvSpPr>
        <p:spPr>
          <a:xfrm>
            <a:off x="8314944" y="2560506"/>
            <a:ext cx="3051048" cy="750000"/>
          </a:xfrm>
          <a:prstGeom prst="rect">
            <a:avLst/>
          </a:prstGeom>
          <a:noFill/>
          <a:ln/>
        </p:spPr>
        <p:txBody>
          <a:bodyPr wrap="square" lIns="0" tIns="0" rIns="0" bIns="0" rtlCol="0" anchor="ctr"/>
          <a:lstStyle/>
          <a:p>
            <a:pPr marL="0" indent="0" algn="l">
              <a:buNone/>
            </a:pPr>
            <a:r>
              <a:rPr lang="fr-FR" sz="1500" b="1" noProof="0" dirty="0">
                <a:solidFill>
                  <a:srgbClr val="8E2531"/>
                </a:solidFill>
                <a:latin typeface="Calibri" pitchFamily="34" charset="0"/>
                <a:ea typeface="Calibri" pitchFamily="34" charset="-122"/>
                <a:cs typeface="Calibri" pitchFamily="34" charset="-120"/>
              </a:rPr>
              <a:t>❌ Ne convient pas à l'ablation : orienter pour une LEEP.</a:t>
            </a:r>
            <a:endParaRPr lang="fr-FR" sz="1500" dirty="0"/>
          </a:p>
        </p:txBody>
      </p:sp>
      <p:sp>
        <p:nvSpPr>
          <p:cNvPr id="18" name="Shape 18"/>
          <p:cNvSpPr/>
          <p:nvPr/>
        </p:nvSpPr>
        <p:spPr>
          <a:xfrm>
            <a:off x="566928" y="5520000"/>
            <a:ext cx="11055096" cy="70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9" name="Text 19"/>
          <p:cNvSpPr txBox="1"/>
          <p:nvPr/>
        </p:nvSpPr>
        <p:spPr>
          <a:xfrm>
            <a:off x="841248" y="5570000"/>
            <a:ext cx="10506456" cy="600000"/>
          </a:xfrm>
          <a:prstGeom prst="rect">
            <a:avLst/>
          </a:prstGeom>
          <a:noFill/>
          <a:ln/>
        </p:spPr>
        <p:txBody>
          <a:bodyPr wrap="square" lIns="0" tIns="0" rIns="0" bIns="0" rtlCol="0" anchor="ctr"/>
          <a:lstStyle/>
          <a:p>
            <a:pPr marL="0" indent="0" algn="l">
              <a:buNone/>
            </a:pPr>
            <a:r>
              <a:rPr lang="fr-FR" sz="1500" b="1" noProof="0" dirty="0">
                <a:solidFill>
                  <a:srgbClr val="19543E"/>
                </a:solidFill>
                <a:latin typeface="Calibri" pitchFamily="34" charset="0"/>
                <a:ea typeface="Calibri" pitchFamily="34" charset="-122"/>
                <a:cs typeface="Calibri" pitchFamily="34" charset="-120"/>
              </a:rPr>
              <a:t>🏥 Au Rwanda :  </a:t>
            </a:r>
            <a:r>
              <a:rPr lang="fr-FR" sz="1500" noProof="0" dirty="0">
                <a:solidFill>
                  <a:srgbClr val="23303F"/>
                </a:solidFill>
                <a:latin typeface="Calibri" pitchFamily="34" charset="0"/>
                <a:ea typeface="Calibri" pitchFamily="34" charset="-122"/>
                <a:cs typeface="Calibri" pitchFamily="34" charset="-120"/>
              </a:rPr>
              <a:t>Zone de transformation de type 1 ou 2 avec une lésion éligible : ablation thermique. Type 3 : LEEP à l'hôpital de district.</a:t>
            </a:r>
            <a:endParaRPr lang="fr-FR" sz="1500" dirty="0"/>
          </a:p>
        </p:txBody>
      </p:sp>
      <p:sp>
        <p:nvSpPr>
          <p:cNvPr id="20" name="Text 2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21" name="Text 2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36</a:t>
            </a:r>
            <a:endParaRPr lang="fr-FR" sz="1100" dirty="0"/>
          </a:p>
        </p:txBody>
      </p:sp>
      <p:pic>
        <p:nvPicPr>
          <p:cNvPr id="17" name="Imagen 16">
            <a:extLst>
              <a:ext uri="{FF2B5EF4-FFF2-40B4-BE49-F238E27FC236}">
                <a16:creationId xmlns:a16="http://schemas.microsoft.com/office/drawing/2014/main" id="{C372F913-9A18-4EEA-3175-ECDB65242BB2}"/>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619990" y="3310506"/>
            <a:ext cx="3463361" cy="1961887"/>
          </a:xfrm>
          <a:prstGeom prst="rect">
            <a:avLst/>
          </a:prstGeom>
        </p:spPr>
      </p:pic>
      <p:pic>
        <p:nvPicPr>
          <p:cNvPr id="23" name="Imagen 22">
            <a:extLst>
              <a:ext uri="{FF2B5EF4-FFF2-40B4-BE49-F238E27FC236}">
                <a16:creationId xmlns:a16="http://schemas.microsoft.com/office/drawing/2014/main" id="{E4749638-912A-7F6B-66A0-BA41108D0299}"/>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390505" y="3321398"/>
            <a:ext cx="3422955" cy="1950995"/>
          </a:xfrm>
          <a:prstGeom prst="rect">
            <a:avLst/>
          </a:prstGeom>
        </p:spPr>
      </p:pic>
      <p:pic>
        <p:nvPicPr>
          <p:cNvPr id="26" name="Imagen 25">
            <a:extLst>
              <a:ext uri="{FF2B5EF4-FFF2-40B4-BE49-F238E27FC236}">
                <a16:creationId xmlns:a16="http://schemas.microsoft.com/office/drawing/2014/main" id="{107E4615-994F-2FBF-D856-4DBC6396763B}"/>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8132064" y="3310506"/>
            <a:ext cx="3439946" cy="192149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1 · INTERACTIF</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Quel type de zone de transformation ?</a:t>
            </a:r>
          </a:p>
        </p:txBody>
      </p:sp>
      <p:sp>
        <p:nvSpPr>
          <p:cNvPr id="4" name="Text 4"/>
          <p:cNvSpPr txBox="1"/>
          <p:nvPr/>
        </p:nvSpPr>
        <p:spPr>
          <a:xfrm>
            <a:off x="566928" y="1540000"/>
            <a:ext cx="11055096" cy="900000"/>
          </a:xfrm>
          <a:prstGeom prst="rect">
            <a:avLst/>
          </a:prstGeom>
          <a:noFill/>
          <a:ln/>
        </p:spPr>
        <p:txBody>
          <a:bodyPr wrap="square" lIns="0" tIns="0" rIns="0" bIns="0" rtlCol="0" anchor="ctr"/>
          <a:lstStyle/>
          <a:p>
            <a:pPr marL="0" indent="0" algn="l">
              <a:buNone/>
            </a:pPr>
            <a:r>
              <a:rPr lang="fr-FR" sz="1800" b="1" noProof="0" dirty="0">
                <a:solidFill>
                  <a:srgbClr val="23303F"/>
                </a:solidFill>
                <a:latin typeface="Calibri" pitchFamily="34" charset="0"/>
                <a:ea typeface="Calibri" pitchFamily="34" charset="-122"/>
                <a:cs typeface="Calibri" pitchFamily="34" charset="-120"/>
              </a:rPr>
              <a:t>Nyiraneza Josée, 52 ans, a un test HPV positif. À la VIA, la JSC se trouve dans le canal et ne peut pas être vue en entier, même avec un spéculum endocervical. Quel est le type de zone de transformation, et qu'est-ce que cela implique ?</a:t>
            </a:r>
            <a:endParaRPr lang="fr-FR" sz="1800" dirty="0"/>
          </a:p>
        </p:txBody>
      </p:sp>
      <p:sp>
        <p:nvSpPr>
          <p:cNvPr id="5" name="Shape 5"/>
          <p:cNvSpPr/>
          <p:nvPr/>
        </p:nvSpPr>
        <p:spPr>
          <a:xfrm>
            <a:off x="566928" y="2530000"/>
            <a:ext cx="11055096" cy="4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6" name="Text 6"/>
          <p:cNvSpPr txBox="1"/>
          <p:nvPr/>
        </p:nvSpPr>
        <p:spPr>
          <a:xfrm>
            <a:off x="841248" y="2530000"/>
            <a:ext cx="10506456" cy="480000"/>
          </a:xfrm>
          <a:prstGeom prst="rect">
            <a:avLst/>
          </a:prstGeom>
          <a:noFill/>
          <a:ln/>
        </p:spPr>
        <p:txBody>
          <a:bodyPr wrap="square" lIns="0" tIns="0" rIns="0" bIns="0" rtlCol="0" anchor="ctr"/>
          <a:lstStyle/>
          <a:p>
            <a:pPr marL="0" indent="0">
              <a:buNone/>
            </a:pPr>
            <a:r>
              <a:rPr lang="fr-FR" sz="1700" b="1" noProof="0" dirty="0">
                <a:solidFill>
                  <a:srgbClr val="1F4E96"/>
                </a:solidFill>
                <a:latin typeface="Calibri" pitchFamily="34" charset="0"/>
                <a:ea typeface="Calibri" pitchFamily="34" charset="-122"/>
                <a:cs typeface="Calibri" pitchFamily="34" charset="-120"/>
              </a:rPr>
              <a:t>A   </a:t>
            </a:r>
            <a:r>
              <a:rPr lang="fr-FR" sz="1700" noProof="0" dirty="0">
                <a:solidFill>
                  <a:srgbClr val="23303F"/>
                </a:solidFill>
                <a:latin typeface="Calibri" pitchFamily="34" charset="0"/>
                <a:ea typeface="Calibri" pitchFamily="34" charset="-122"/>
                <a:cs typeface="Calibri" pitchFamily="34" charset="-120"/>
              </a:rPr>
              <a:t>Type 1 : l'ablation peut être proposée aujourd'hui</a:t>
            </a:r>
            <a:endParaRPr lang="fr-FR" sz="1700" noProof="0" dirty="0"/>
          </a:p>
        </p:txBody>
      </p:sp>
      <p:sp>
        <p:nvSpPr>
          <p:cNvPr id="7" name="Shape 7"/>
          <p:cNvSpPr/>
          <p:nvPr/>
        </p:nvSpPr>
        <p:spPr>
          <a:xfrm>
            <a:off x="566928" y="3080000"/>
            <a:ext cx="11055096" cy="4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841248" y="3080000"/>
            <a:ext cx="10506456" cy="480000"/>
          </a:xfrm>
          <a:prstGeom prst="rect">
            <a:avLst/>
          </a:prstGeom>
          <a:noFill/>
          <a:ln/>
        </p:spPr>
        <p:txBody>
          <a:bodyPr wrap="square" lIns="0" tIns="0" rIns="0" bIns="0" rtlCol="0" anchor="ctr"/>
          <a:lstStyle/>
          <a:p>
            <a:pPr marL="0" indent="0">
              <a:buNone/>
            </a:pPr>
            <a:r>
              <a:rPr lang="fr-FR" sz="1700" b="1" noProof="0" dirty="0">
                <a:solidFill>
                  <a:srgbClr val="1F4E96"/>
                </a:solidFill>
                <a:latin typeface="Calibri" pitchFamily="34" charset="0"/>
                <a:ea typeface="Calibri" pitchFamily="34" charset="-122"/>
                <a:cs typeface="Calibri" pitchFamily="34" charset="-120"/>
              </a:rPr>
              <a:t>B   </a:t>
            </a:r>
            <a:r>
              <a:rPr lang="fr-FR" sz="1700" noProof="0" dirty="0">
                <a:solidFill>
                  <a:srgbClr val="23303F"/>
                </a:solidFill>
                <a:latin typeface="Calibri" pitchFamily="34" charset="0"/>
                <a:ea typeface="Calibri" pitchFamily="34" charset="-122"/>
                <a:cs typeface="Calibri" pitchFamily="34" charset="-120"/>
              </a:rPr>
              <a:t>Type 2 : toute lésion peut être traitée par ablation</a:t>
            </a:r>
            <a:endParaRPr lang="fr-FR" sz="1700" noProof="0" dirty="0"/>
          </a:p>
        </p:txBody>
      </p:sp>
      <p:sp>
        <p:nvSpPr>
          <p:cNvPr id="9" name="Shape 9"/>
          <p:cNvSpPr/>
          <p:nvPr/>
        </p:nvSpPr>
        <p:spPr>
          <a:xfrm>
            <a:off x="566928" y="3630000"/>
            <a:ext cx="11055096" cy="48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0" name="Text 10"/>
          <p:cNvSpPr txBox="1"/>
          <p:nvPr/>
        </p:nvSpPr>
        <p:spPr>
          <a:xfrm>
            <a:off x="841248" y="3630000"/>
            <a:ext cx="10506456" cy="480000"/>
          </a:xfrm>
          <a:prstGeom prst="rect">
            <a:avLst/>
          </a:prstGeom>
          <a:noFill/>
          <a:ln/>
        </p:spPr>
        <p:txBody>
          <a:bodyPr wrap="square" lIns="0" tIns="0" rIns="0" bIns="0" rtlCol="0" anchor="ctr"/>
          <a:lstStyle/>
          <a:p>
            <a:pPr marL="0" indent="0">
              <a:buNone/>
            </a:pPr>
            <a:r>
              <a:rPr lang="fr-FR" sz="1700" b="1" noProof="0" dirty="0">
                <a:solidFill>
                  <a:srgbClr val="19543E"/>
                </a:solidFill>
                <a:latin typeface="Calibri" pitchFamily="34" charset="0"/>
                <a:ea typeface="Calibri" pitchFamily="34" charset="-122"/>
                <a:cs typeface="Calibri" pitchFamily="34" charset="-120"/>
              </a:rPr>
              <a:t>C   </a:t>
            </a:r>
            <a:r>
              <a:rPr lang="fr-FR" sz="1700" noProof="0" dirty="0">
                <a:solidFill>
                  <a:srgbClr val="23303F"/>
                </a:solidFill>
                <a:latin typeface="Calibri" pitchFamily="34" charset="0"/>
                <a:ea typeface="Calibri" pitchFamily="34" charset="-122"/>
                <a:cs typeface="Calibri" pitchFamily="34" charset="-120"/>
              </a:rPr>
              <a:t>Type 3 : l'ablation ne convient pas, elle est orientée pour une LEEP</a:t>
            </a:r>
            <a:r>
              <a:rPr lang="fr-FR" sz="1700" noProof="0" dirty="0">
                <a:solidFill>
                  <a:srgbClr val="000000"/>
                </a:solidFill>
                <a:latin typeface="Calibri" pitchFamily="34" charset="0"/>
                <a:ea typeface="Calibri" pitchFamily="34" charset="-122"/>
                <a:cs typeface="Calibri" pitchFamily="34" charset="-120"/>
              </a:rPr>
              <a:t>   ✅</a:t>
            </a:r>
            <a:endParaRPr lang="fr-FR" sz="1700" noProof="0" dirty="0"/>
          </a:p>
        </p:txBody>
      </p:sp>
      <p:sp>
        <p:nvSpPr>
          <p:cNvPr id="11" name="Shape 11"/>
          <p:cNvSpPr/>
          <p:nvPr/>
        </p:nvSpPr>
        <p:spPr>
          <a:xfrm>
            <a:off x="566928" y="4180000"/>
            <a:ext cx="11055096" cy="4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2" name="Text 12"/>
          <p:cNvSpPr txBox="1"/>
          <p:nvPr/>
        </p:nvSpPr>
        <p:spPr>
          <a:xfrm>
            <a:off x="841248" y="4180000"/>
            <a:ext cx="10506456" cy="480000"/>
          </a:xfrm>
          <a:prstGeom prst="rect">
            <a:avLst/>
          </a:prstGeom>
          <a:noFill/>
          <a:ln/>
        </p:spPr>
        <p:txBody>
          <a:bodyPr wrap="square" lIns="0" tIns="0" rIns="0" bIns="0" rtlCol="0" anchor="ctr"/>
          <a:lstStyle/>
          <a:p>
            <a:pPr marL="0" indent="0">
              <a:buNone/>
            </a:pPr>
            <a:r>
              <a:rPr lang="fr-FR" sz="1700" b="1" noProof="0" dirty="0">
                <a:solidFill>
                  <a:srgbClr val="1F4E96"/>
                </a:solidFill>
                <a:latin typeface="Calibri" pitchFamily="34" charset="0"/>
                <a:ea typeface="Calibri" pitchFamily="34" charset="-122"/>
                <a:cs typeface="Calibri" pitchFamily="34" charset="-120"/>
              </a:rPr>
              <a:t>D   </a:t>
            </a:r>
            <a:r>
              <a:rPr lang="fr-FR" sz="1700" noProof="0" dirty="0">
                <a:solidFill>
                  <a:srgbClr val="23303F"/>
                </a:solidFill>
                <a:latin typeface="Calibri" pitchFamily="34" charset="0"/>
                <a:ea typeface="Calibri" pitchFamily="34" charset="-122"/>
                <a:cs typeface="Calibri" pitchFamily="34" charset="-120"/>
              </a:rPr>
              <a:t>Le type n'influence pas la décision de traitement</a:t>
            </a:r>
            <a:endParaRPr lang="fr-FR" sz="1700" noProof="0" dirty="0"/>
          </a:p>
        </p:txBody>
      </p:sp>
      <p:sp>
        <p:nvSpPr>
          <p:cNvPr id="13" name="Shape 13"/>
          <p:cNvSpPr/>
          <p:nvPr/>
        </p:nvSpPr>
        <p:spPr>
          <a:xfrm>
            <a:off x="566928" y="4790000"/>
            <a:ext cx="11055096" cy="146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4" name="Text 14"/>
          <p:cNvSpPr txBox="1"/>
          <p:nvPr/>
        </p:nvSpPr>
        <p:spPr>
          <a:xfrm>
            <a:off x="841248" y="4840000"/>
            <a:ext cx="10506456" cy="1360000"/>
          </a:xfrm>
          <a:prstGeom prst="rect">
            <a:avLst/>
          </a:prstGeom>
          <a:noFill/>
          <a:ln/>
        </p:spPr>
        <p:txBody>
          <a:bodyPr wrap="square" lIns="0" tIns="0" rIns="0" bIns="0" rtlCol="0" anchor="ctr"/>
          <a:lstStyle/>
          <a:p>
            <a:pPr marL="0" indent="0" algn="l">
              <a:buNone/>
            </a:pPr>
            <a:r>
              <a:rPr lang="fr-FR" sz="1600" b="1" noProof="0" dirty="0">
                <a:solidFill>
                  <a:srgbClr val="19543E"/>
                </a:solidFill>
                <a:latin typeface="Calibri" pitchFamily="34" charset="0"/>
                <a:ea typeface="Calibri" pitchFamily="34" charset="-122"/>
                <a:cs typeface="Calibri" pitchFamily="34" charset="-120"/>
              </a:rPr>
              <a:t>Bonne réponse : C</a:t>
            </a:r>
            <a:endParaRPr lang="fr-FR" sz="1600" dirty="0"/>
          </a:p>
          <a:p>
            <a:pPr marL="0" indent="0" algn="l">
              <a:buNone/>
            </a:pPr>
            <a:r>
              <a:rPr lang="fr-FR" sz="1600" b="1" noProof="0" dirty="0">
                <a:solidFill>
                  <a:srgbClr val="19543E"/>
                </a:solidFill>
                <a:latin typeface="Calibri" pitchFamily="34" charset="0"/>
                <a:ea typeface="Calibri" pitchFamily="34" charset="-122"/>
                <a:cs typeface="Calibri" pitchFamily="34" charset="-120"/>
              </a:rPr>
              <a:t>Retour : </a:t>
            </a:r>
            <a:r>
              <a:rPr lang="fr-FR" sz="1600" noProof="0" dirty="0">
                <a:solidFill>
                  <a:srgbClr val="23303F"/>
                </a:solidFill>
                <a:latin typeface="Calibri" pitchFamily="34" charset="0"/>
                <a:ea typeface="Calibri" pitchFamily="34" charset="-122"/>
                <a:cs typeface="Calibri" pitchFamily="34" charset="-120"/>
              </a:rPr>
              <a:t>Quand la JSC ne peut pas être vue en entier, la zone de transformation est de type 3. Une lésion peut se prolonger hors de vue, et l'ablation risquerait de laisser de la maladie. Elle est orientée pour un traitement excisionnel (LEEP).</a:t>
            </a:r>
            <a:endParaRPr lang="fr-FR" sz="16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37</a:t>
            </a:r>
            <a:endParaRPr lang="fr-FR"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38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noAutofit/>
          </a:bodyPr>
          <a:lstStyle/>
          <a:p>
            <a:pPr marL="0" indent="0">
              <a:buNone/>
            </a:pPr>
            <a:r>
              <a:rPr lang="fr-FR" sz="1128" b="1" kern="0" spc="400" noProof="0" dirty="0">
                <a:solidFill>
                  <a:srgbClr val="31507B"/>
                </a:solidFill>
                <a:latin typeface="Calibri" pitchFamily="34" charset="0"/>
                <a:ea typeface="Calibri" pitchFamily="34" charset="-122"/>
                <a:cs typeface="Calibri" pitchFamily="34" charset="-120"/>
              </a:rPr>
              <a:t>SESSION 1 · HPV</a:t>
            </a:r>
            <a:endParaRPr lang="fr-FR" sz="1128" noProof="0" dirty="0"/>
          </a:p>
        </p:txBody>
      </p:sp>
      <p:sp>
        <p:nvSpPr>
          <p:cNvPr id="5" name="Text 3"/>
          <p:cNvSpPr txBox="1"/>
          <p:nvPr/>
        </p:nvSpPr>
        <p:spPr>
          <a:xfrm>
            <a:off x="566928" y="542107"/>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Papillomavirus humain</a:t>
            </a:r>
            <a:endParaRPr lang="fr-FR" sz="3200" noProof="0" dirty="0"/>
          </a:p>
        </p:txBody>
      </p:sp>
      <p:sp>
        <p:nvSpPr>
          <p:cNvPr id="6" name="Shape 4"/>
          <p:cNvSpPr/>
          <p:nvPr/>
        </p:nvSpPr>
        <p:spPr>
          <a:xfrm>
            <a:off x="566928" y="1348955"/>
            <a:ext cx="3563112" cy="4198842"/>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7" name="Text 5"/>
          <p:cNvSpPr txBox="1"/>
          <p:nvPr/>
        </p:nvSpPr>
        <p:spPr>
          <a:xfrm>
            <a:off x="822960" y="1335894"/>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Un virus très courant</a:t>
            </a:r>
            <a:endParaRPr lang="fr-FR" noProof="0" dirty="0"/>
          </a:p>
        </p:txBody>
      </p:sp>
      <p:sp>
        <p:nvSpPr>
          <p:cNvPr id="8" name="Text 6"/>
          <p:cNvSpPr txBox="1"/>
          <p:nvPr/>
        </p:nvSpPr>
        <p:spPr>
          <a:xfrm>
            <a:off x="822960" y="1830537"/>
            <a:ext cx="3051048" cy="1130377"/>
          </a:xfrm>
          <a:prstGeom prst="rect">
            <a:avLst/>
          </a:prstGeom>
          <a:noFill/>
          <a:ln/>
        </p:spPr>
        <p:txBody>
          <a:bodyPr wrap="square" lIns="0" tIns="0" rIns="0" bIns="0" rtlCol="0" anchor="t">
            <a:normAutofit fontScale="82000" lnSpcReduction="20000"/>
          </a:bodyPr>
          <a:lstStyle/>
          <a:p>
            <a:pPr marL="0" indent="0">
              <a:lnSpc>
                <a:spcPct val="106000"/>
              </a:lnSpc>
              <a:buNone/>
            </a:pPr>
            <a:r>
              <a:rPr lang="fr-FR" sz="1600" noProof="0" dirty="0">
                <a:solidFill>
                  <a:srgbClr val="23303F"/>
                </a:solidFill>
                <a:latin typeface="Calibri" pitchFamily="34" charset="0"/>
                <a:ea typeface="Calibri" pitchFamily="34" charset="-122"/>
                <a:cs typeface="Calibri" pitchFamily="34" charset="-120"/>
              </a:rPr>
              <a:t>Le HPV est un grand groupe de virus transmis par contact direct de la peau ou de la muqueuse génitale. La plupart des personnes sexuellement actives contractent une infection par le HPV à un moment de leur vie.</a:t>
            </a:r>
            <a:endParaRPr lang="fr-FR" sz="1600" noProof="0" dirty="0"/>
          </a:p>
        </p:txBody>
      </p:sp>
      <p:sp>
        <p:nvSpPr>
          <p:cNvPr id="9" name="Shape 7"/>
          <p:cNvSpPr/>
          <p:nvPr/>
        </p:nvSpPr>
        <p:spPr>
          <a:xfrm>
            <a:off x="4312920" y="1348955"/>
            <a:ext cx="3563112" cy="4198842"/>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10" name="Text 8"/>
          <p:cNvSpPr txBox="1"/>
          <p:nvPr/>
        </p:nvSpPr>
        <p:spPr>
          <a:xfrm>
            <a:off x="4568952" y="1335894"/>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Types à haut risque</a:t>
            </a:r>
            <a:endParaRPr lang="fr-FR" noProof="0" dirty="0"/>
          </a:p>
        </p:txBody>
      </p:sp>
      <p:sp>
        <p:nvSpPr>
          <p:cNvPr id="11" name="Text 9"/>
          <p:cNvSpPr txBox="1"/>
          <p:nvPr/>
        </p:nvSpPr>
        <p:spPr>
          <a:xfrm>
            <a:off x="4568952" y="1830537"/>
            <a:ext cx="3051048" cy="1130377"/>
          </a:xfrm>
          <a:prstGeom prst="rect">
            <a:avLst/>
          </a:prstGeom>
          <a:noFill/>
          <a:ln/>
        </p:spPr>
        <p:txBody>
          <a:bodyPr wrap="square" lIns="0" tIns="0" rIns="0" bIns="0" rtlCol="0" anchor="t">
            <a:noAutofit/>
          </a:bodyPr>
          <a:lstStyle/>
          <a:p>
            <a:pPr marL="0" indent="0">
              <a:lnSpc>
                <a:spcPct val="106000"/>
              </a:lnSpc>
              <a:buNone/>
            </a:pPr>
            <a:r>
              <a:rPr lang="fr-FR" sz="1483" noProof="0" dirty="0">
                <a:solidFill>
                  <a:srgbClr val="23303F"/>
                </a:solidFill>
                <a:latin typeface="Calibri" pitchFamily="34" charset="0"/>
                <a:ea typeface="Calibri" pitchFamily="34" charset="-122"/>
                <a:cs typeface="Calibri" pitchFamily="34" charset="-120"/>
              </a:rPr>
              <a:t>Un petit nombre de types de HPV sont liés au cancer. Les types 16 et 18 sont responsables de la plupart des cancers du col de l'utérus dans le monde.</a:t>
            </a:r>
            <a:endParaRPr lang="fr-FR" sz="1483" noProof="0" dirty="0"/>
          </a:p>
        </p:txBody>
      </p:sp>
      <p:sp>
        <p:nvSpPr>
          <p:cNvPr id="12" name="Shape 10"/>
          <p:cNvSpPr/>
          <p:nvPr/>
        </p:nvSpPr>
        <p:spPr>
          <a:xfrm>
            <a:off x="8058912" y="1348955"/>
            <a:ext cx="3563112" cy="4198842"/>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13" name="Text 11"/>
          <p:cNvSpPr txBox="1"/>
          <p:nvPr/>
        </p:nvSpPr>
        <p:spPr>
          <a:xfrm>
            <a:off x="8314944" y="1335894"/>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Infection persistante</a:t>
            </a:r>
            <a:endParaRPr lang="fr-FR" noProof="0" dirty="0"/>
          </a:p>
        </p:txBody>
      </p:sp>
      <p:sp>
        <p:nvSpPr>
          <p:cNvPr id="14" name="Text 12"/>
          <p:cNvSpPr txBox="1"/>
          <p:nvPr/>
        </p:nvSpPr>
        <p:spPr>
          <a:xfrm>
            <a:off x="8314944" y="1830537"/>
            <a:ext cx="3051048" cy="1130377"/>
          </a:xfrm>
          <a:prstGeom prst="rect">
            <a:avLst/>
          </a:prstGeom>
          <a:noFill/>
          <a:ln/>
        </p:spPr>
        <p:txBody>
          <a:bodyPr wrap="square" lIns="0" tIns="0" rIns="0" bIns="0" rtlCol="0" anchor="t">
            <a:noAutofit/>
          </a:bodyPr>
          <a:lstStyle/>
          <a:p>
            <a:pPr marL="0" indent="0">
              <a:lnSpc>
                <a:spcPct val="106000"/>
              </a:lnSpc>
              <a:buNone/>
            </a:pPr>
            <a:r>
              <a:rPr lang="fr-FR" sz="1312" noProof="0" dirty="0">
                <a:solidFill>
                  <a:srgbClr val="23303F"/>
                </a:solidFill>
                <a:latin typeface="Calibri" pitchFamily="34" charset="0"/>
                <a:ea typeface="Calibri" pitchFamily="34" charset="-122"/>
                <a:cs typeface="Calibri" pitchFamily="34" charset="-120"/>
              </a:rPr>
              <a:t>Une infection à haut risque qui persiste dans le temps est ce qui augmente le risque de </a:t>
            </a:r>
            <a:r>
              <a:rPr lang="fr-FR" sz="1312" noProof="0" dirty="0" err="1">
                <a:solidFill>
                  <a:srgbClr val="23303F"/>
                </a:solidFill>
                <a:latin typeface="Calibri" pitchFamily="34" charset="0"/>
                <a:ea typeface="Calibri" pitchFamily="34" charset="-122"/>
                <a:cs typeface="Calibri" pitchFamily="34" charset="-120"/>
              </a:rPr>
              <a:t>précancer</a:t>
            </a:r>
            <a:r>
              <a:rPr lang="fr-FR" sz="1312" noProof="0" dirty="0">
                <a:solidFill>
                  <a:srgbClr val="23303F"/>
                </a:solidFill>
                <a:latin typeface="Calibri" pitchFamily="34" charset="0"/>
                <a:ea typeface="Calibri" pitchFamily="34" charset="-122"/>
                <a:cs typeface="Calibri" pitchFamily="34" charset="-120"/>
              </a:rPr>
              <a:t> du col de l'utérus. La plupart des infections disparaissent d'elles-mêmes.</a:t>
            </a:r>
            <a:endParaRPr lang="fr-FR" sz="1312" noProof="0" dirty="0"/>
          </a:p>
        </p:txBody>
      </p:sp>
      <p:sp>
        <p:nvSpPr>
          <p:cNvPr id="15" name="Shape 13"/>
          <p:cNvSpPr/>
          <p:nvPr/>
        </p:nvSpPr>
        <p:spPr>
          <a:xfrm>
            <a:off x="566928" y="5698022"/>
            <a:ext cx="11055096" cy="633546"/>
          </a:xfrm>
          <a:prstGeom prst="roundRect">
            <a:avLst>
              <a:gd name="adj" fmla="val 8140"/>
            </a:avLst>
          </a:prstGeom>
          <a:solidFill>
            <a:srgbClr val="EAF7F0"/>
          </a:solidFill>
          <a:ln w="12700">
            <a:solidFill>
              <a:srgbClr val="C0D4CB"/>
            </a:solidFill>
            <a:prstDash val="solid"/>
          </a:ln>
        </p:spPr>
        <p:txBody>
          <a:bodyPr/>
          <a:lstStyle/>
          <a:p>
            <a:endParaRPr lang="fr-FR" sz="1600" noProof="0" dirty="0"/>
          </a:p>
        </p:txBody>
      </p:sp>
      <p:sp>
        <p:nvSpPr>
          <p:cNvPr id="16" name="Text 14"/>
          <p:cNvSpPr txBox="1"/>
          <p:nvPr/>
        </p:nvSpPr>
        <p:spPr>
          <a:xfrm>
            <a:off x="841248" y="5698022"/>
            <a:ext cx="10506456" cy="676656"/>
          </a:xfrm>
          <a:prstGeom prst="rect">
            <a:avLst/>
          </a:prstGeom>
          <a:noFill/>
          <a:ln/>
        </p:spPr>
        <p:txBody>
          <a:bodyPr wrap="square" lIns="0" tIns="0" rIns="0" bIns="0" rtlCol="0" anchor="ctr"/>
          <a:lstStyle/>
          <a:p>
            <a:pPr marL="0" indent="0">
              <a:lnSpc>
                <a:spcPct val="104000"/>
              </a:lnSpc>
              <a:buNone/>
            </a:pPr>
            <a:r>
              <a:rPr lang="fr-FR" sz="1600" b="1" noProof="0" dirty="0">
                <a:solidFill>
                  <a:srgbClr val="19543E"/>
                </a:solidFill>
                <a:latin typeface="Calibri" pitchFamily="34" charset="0"/>
                <a:ea typeface="Calibri" pitchFamily="34" charset="-122"/>
                <a:cs typeface="Calibri" pitchFamily="34" charset="-120"/>
              </a:rPr>
              <a:t>💬 Dis-le ainsi :  </a:t>
            </a:r>
            <a:r>
              <a:rPr lang="fr-FR" sz="1600" noProof="0" dirty="0">
                <a:solidFill>
                  <a:srgbClr val="23303F"/>
                </a:solidFill>
                <a:latin typeface="Calibri" pitchFamily="34" charset="0"/>
                <a:ea typeface="Calibri" pitchFamily="34" charset="-122"/>
                <a:cs typeface="Calibri" pitchFamily="34" charset="-120"/>
              </a:rPr>
              <a:t>le HPV est courant, il ne cause généralement aucun symptôme, et il peut rester silencieux pendant des années. Un test positif ne dit rien sur le comportement de qui que ce soit.</a:t>
            </a:r>
            <a:endParaRPr lang="fr-FR" sz="1600" noProof="0" dirty="0"/>
          </a:p>
        </p:txBody>
      </p:sp>
      <p:pic>
        <p:nvPicPr>
          <p:cNvPr id="20" name="Imagen 19">
            <a:extLst>
              <a:ext uri="{FF2B5EF4-FFF2-40B4-BE49-F238E27FC236}">
                <a16:creationId xmlns:a16="http://schemas.microsoft.com/office/drawing/2014/main" id="{30296DAD-10E6-B8FA-23AA-9EA4F6B01512}"/>
              </a:ext>
            </a:extLst>
          </p:cNvPr>
          <p:cNvPicPr>
            <a:picLocks noChangeAspect="1"/>
          </p:cNvPicPr>
          <p:nvPr/>
        </p:nvPicPr>
        <p:blipFill>
          <a:blip r:embed="rId3"/>
          <a:srcRect/>
          <a:stretch>
            <a:fillRect/>
          </a:stretch>
        </p:blipFill>
        <p:spPr>
          <a:xfrm>
            <a:off x="602404" y="3053647"/>
            <a:ext cx="3604978" cy="2401417"/>
          </a:xfrm>
          <a:prstGeom prst="rect">
            <a:avLst/>
          </a:prstGeom>
        </p:spPr>
      </p:pic>
      <p:pic>
        <p:nvPicPr>
          <p:cNvPr id="21" name="Imagen 20">
            <a:extLst>
              <a:ext uri="{FF2B5EF4-FFF2-40B4-BE49-F238E27FC236}">
                <a16:creationId xmlns:a16="http://schemas.microsoft.com/office/drawing/2014/main" id="{B580EF6B-A48E-32F5-7663-47BBA28BE9E5}"/>
              </a:ext>
            </a:extLst>
          </p:cNvPr>
          <p:cNvPicPr>
            <a:picLocks noChangeAspect="1"/>
          </p:cNvPicPr>
          <p:nvPr/>
        </p:nvPicPr>
        <p:blipFill>
          <a:blip r:embed="rId4"/>
          <a:srcRect/>
          <a:stretch>
            <a:fillRect/>
          </a:stretch>
        </p:blipFill>
        <p:spPr>
          <a:xfrm>
            <a:off x="8046885" y="2835730"/>
            <a:ext cx="3567791" cy="2378527"/>
          </a:xfrm>
          <a:prstGeom prst="rect">
            <a:avLst/>
          </a:prstGeom>
        </p:spPr>
      </p:pic>
      <p:pic>
        <p:nvPicPr>
          <p:cNvPr id="18" name="Imagen 17">
            <a:extLst>
              <a:ext uri="{FF2B5EF4-FFF2-40B4-BE49-F238E27FC236}">
                <a16:creationId xmlns:a16="http://schemas.microsoft.com/office/drawing/2014/main" id="{5339E67F-0C1A-54F9-56ED-FE60FE6BA575}"/>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4392240" y="3041883"/>
            <a:ext cx="3404557" cy="226970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1 · HPV</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Types de HPV et facteurs de persistance</a:t>
            </a:r>
          </a:p>
        </p:txBody>
      </p:sp>
      <p:sp>
        <p:nvSpPr>
          <p:cNvPr id="13" name="Shape 13"/>
          <p:cNvSpPr/>
          <p:nvPr/>
        </p:nvSpPr>
        <p:spPr>
          <a:xfrm>
            <a:off x="6666928" y="1450000"/>
            <a:ext cx="4955096" cy="365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4" name="Text 14"/>
          <p:cNvSpPr txBox="1"/>
          <p:nvPr/>
        </p:nvSpPr>
        <p:spPr>
          <a:xfrm>
            <a:off x="6922960" y="1570000"/>
            <a:ext cx="4443032" cy="700000"/>
          </a:xfrm>
          <a:prstGeom prst="rect">
            <a:avLst/>
          </a:prstGeom>
          <a:noFill/>
          <a:ln/>
        </p:spPr>
        <p:txBody>
          <a:bodyPr wrap="square" lIns="0" tIns="0" rIns="0" bIns="0" rtlCol="0" anchor="ctr"/>
          <a:lstStyle/>
          <a:p>
            <a:pPr marL="0" indent="0" algn="l">
              <a:buNone/>
            </a:pPr>
            <a:r>
              <a:rPr lang="fr-FR" sz="1700" b="1" noProof="0" dirty="0">
                <a:solidFill>
                  <a:srgbClr val="10305A"/>
                </a:solidFill>
                <a:latin typeface="Calibri" pitchFamily="34" charset="0"/>
                <a:ea typeface="Calibri" pitchFamily="34" charset="-122"/>
                <a:cs typeface="Calibri" pitchFamily="34" charset="-120"/>
              </a:rPr>
              <a:t>⚠️  Cofacteurs de persistance ou de progression</a:t>
            </a:r>
            <a:endParaRPr lang="fr-FR" sz="1700" dirty="0"/>
          </a:p>
        </p:txBody>
      </p:sp>
      <p:sp>
        <p:nvSpPr>
          <p:cNvPr id="15" name="Text 15"/>
          <p:cNvSpPr txBox="1"/>
          <p:nvPr/>
        </p:nvSpPr>
        <p:spPr>
          <a:xfrm>
            <a:off x="6922960" y="2330000"/>
            <a:ext cx="4443032" cy="269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Infection à VIH ou autre baisse de l'immunité</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Consommation de tabac</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Grossesses menées à terme nombreuses, surtout à un jeune âge</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Premiers rapports sexuels précoces (exposition plus précoce au HPV)</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Autres infections génitales, comme la chlamydia</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N'avoir jamais été dépistée</a:t>
            </a:r>
            <a:endParaRPr lang="fr-FR" sz="1500" dirty="0"/>
          </a:p>
        </p:txBody>
      </p:sp>
      <p:sp>
        <p:nvSpPr>
          <p:cNvPr id="16" name="Shape 16"/>
          <p:cNvSpPr/>
          <p:nvPr/>
        </p:nvSpPr>
        <p:spPr>
          <a:xfrm>
            <a:off x="566928" y="5270000"/>
            <a:ext cx="11055096" cy="90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17" name="Text 17"/>
          <p:cNvSpPr txBox="1"/>
          <p:nvPr/>
        </p:nvSpPr>
        <p:spPr>
          <a:xfrm>
            <a:off x="841248" y="5320000"/>
            <a:ext cx="10506456" cy="800000"/>
          </a:xfrm>
          <a:prstGeom prst="rect">
            <a:avLst/>
          </a:prstGeom>
          <a:noFill/>
          <a:ln/>
        </p:spPr>
        <p:txBody>
          <a:bodyPr wrap="square" lIns="0" tIns="0" rIns="0" bIns="0" rtlCol="0" anchor="ctr"/>
          <a:lstStyle/>
          <a:p>
            <a:pPr marL="0" indent="0" algn="l">
              <a:buNone/>
            </a:pPr>
            <a:r>
              <a:rPr lang="fr-FR" sz="1500" b="1" noProof="0" dirty="0">
                <a:solidFill>
                  <a:srgbClr val="7B5727"/>
                </a:solidFill>
                <a:latin typeface="Calibri" pitchFamily="34" charset="0"/>
                <a:ea typeface="Calibri" pitchFamily="34" charset="-122"/>
                <a:cs typeface="Calibri" pitchFamily="34" charset="-120"/>
              </a:rPr>
              <a:t>💬 Dites-le ainsi :  </a:t>
            </a:r>
            <a:r>
              <a:rPr lang="fr-FR" sz="1500" noProof="0" dirty="0">
                <a:solidFill>
                  <a:srgbClr val="23303F"/>
                </a:solidFill>
                <a:latin typeface="Calibri" pitchFamily="34" charset="0"/>
                <a:ea typeface="Calibri" pitchFamily="34" charset="-122"/>
                <a:cs typeface="Calibri" pitchFamily="34" charset="-120"/>
              </a:rPr>
              <a:t>Les cofacteurs décrivent un risque à l'échelle des populations. Ils n'expliquent jamais le diagnostic d'une femme en particulier et ne justifient jamais un reproche.</a:t>
            </a:r>
            <a:endParaRPr lang="fr-FR" sz="1500" dirty="0"/>
          </a:p>
        </p:txBody>
      </p:sp>
      <p:sp>
        <p:nvSpPr>
          <p:cNvPr id="18" name="Text 18"/>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9" name="Text 19"/>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39</a:t>
            </a:r>
            <a:endParaRPr lang="fr-FR" sz="1100" dirty="0"/>
          </a:p>
        </p:txBody>
      </p:sp>
      <p:pic>
        <p:nvPicPr>
          <p:cNvPr id="20" name="Imagen 19">
            <a:extLst>
              <a:ext uri="{FF2B5EF4-FFF2-40B4-BE49-F238E27FC236}">
                <a16:creationId xmlns:a16="http://schemas.microsoft.com/office/drawing/2014/main" id="{E2629F3E-0D1B-970E-90E0-79EC2929DBA6}"/>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704088" y="1386214"/>
            <a:ext cx="5825680" cy="388378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PATHOPHYSIOLOGIE</a:t>
            </a:r>
            <a:endParaRPr lang="fr-FR" sz="1200" noProof="0" dirty="0"/>
          </a:p>
        </p:txBody>
      </p:sp>
      <p:sp>
        <p:nvSpPr>
          <p:cNvPr id="5" name="Text 3"/>
          <p:cNvSpPr txBox="1"/>
          <p:nvPr/>
        </p:nvSpPr>
        <p:spPr>
          <a:xfrm>
            <a:off x="566928" y="438436"/>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 parcours illustré</a:t>
            </a:r>
            <a:endParaRPr lang="fr-FR" sz="3200" noProof="0" dirty="0"/>
          </a:p>
        </p:txBody>
      </p:sp>
      <p:sp>
        <p:nvSpPr>
          <p:cNvPr id="6" name="Shape 28">
            <a:extLst>
              <a:ext uri="{FF2B5EF4-FFF2-40B4-BE49-F238E27FC236}">
                <a16:creationId xmlns:a16="http://schemas.microsoft.com/office/drawing/2014/main" id="{941116D4-A0D5-7FB5-17B4-036212707948}"/>
              </a:ext>
            </a:extLst>
          </p:cNvPr>
          <p:cNvSpPr/>
          <p:nvPr/>
        </p:nvSpPr>
        <p:spPr>
          <a:xfrm>
            <a:off x="543652" y="5855275"/>
            <a:ext cx="11055096" cy="524920"/>
          </a:xfrm>
          <a:prstGeom prst="roundRect">
            <a:avLst>
              <a:gd name="adj" fmla="val 8140"/>
            </a:avLst>
          </a:prstGeom>
          <a:solidFill>
            <a:srgbClr val="FFF2DF"/>
          </a:solidFill>
          <a:ln w="12700">
            <a:solidFill>
              <a:srgbClr val="E8DDC7"/>
            </a:solidFill>
            <a:prstDash val="solid"/>
          </a:ln>
        </p:spPr>
        <p:txBody>
          <a:bodyPr/>
          <a:lstStyle/>
          <a:p>
            <a:endParaRPr lang="fr-FR" sz="1400" noProof="0" dirty="0"/>
          </a:p>
        </p:txBody>
      </p:sp>
      <p:sp>
        <p:nvSpPr>
          <p:cNvPr id="7" name="Text 29">
            <a:extLst>
              <a:ext uri="{FF2B5EF4-FFF2-40B4-BE49-F238E27FC236}">
                <a16:creationId xmlns:a16="http://schemas.microsoft.com/office/drawing/2014/main" id="{970C31E2-F9D5-E6E0-7A58-537770AB97B9}"/>
              </a:ext>
            </a:extLst>
          </p:cNvPr>
          <p:cNvSpPr txBox="1"/>
          <p:nvPr/>
        </p:nvSpPr>
        <p:spPr>
          <a:xfrm>
            <a:off x="817972" y="5873655"/>
            <a:ext cx="10506456" cy="451675"/>
          </a:xfrm>
          <a:prstGeom prst="rect">
            <a:avLst/>
          </a:prstGeom>
          <a:noFill/>
          <a:ln/>
        </p:spPr>
        <p:txBody>
          <a:bodyPr wrap="square" lIns="0" tIns="0" rIns="0" bIns="0" rtlCol="0" anchor="ctr">
            <a:noAutofit/>
          </a:bodyPr>
          <a:lstStyle/>
          <a:p>
            <a:pPr marL="0" indent="0">
              <a:lnSpc>
                <a:spcPct val="104000"/>
              </a:lnSpc>
              <a:buNone/>
            </a:pPr>
            <a:r>
              <a:rPr lang="fr-FR" sz="1288" b="1" noProof="0" dirty="0">
                <a:solidFill>
                  <a:srgbClr val="7B5727"/>
                </a:solidFill>
                <a:latin typeface="Calibri" pitchFamily="34" charset="0"/>
                <a:ea typeface="Calibri" pitchFamily="34" charset="-122"/>
                <a:cs typeface="Calibri" pitchFamily="34" charset="-120"/>
              </a:rPr>
              <a:t>⚠️ Ne simplifiez pas à l'excès :  </a:t>
            </a:r>
            <a:r>
              <a:rPr lang="fr-FR" sz="1288" noProof="0" dirty="0">
                <a:solidFill>
                  <a:srgbClr val="23303F"/>
                </a:solidFill>
                <a:latin typeface="Calibri" pitchFamily="34" charset="0"/>
                <a:ea typeface="Calibri" pitchFamily="34" charset="-122"/>
                <a:cs typeface="Calibri" pitchFamily="34" charset="-120"/>
              </a:rPr>
              <a:t>l'infection par le HPV n'est pas la même chose que le cancer du col de l'utérus, et toutes les infections persistantes ne progressent pas. La progression est possible, pas inévitable.</a:t>
            </a:r>
            <a:endParaRPr lang="fr-FR" sz="1288" noProof="0" dirty="0"/>
          </a:p>
        </p:txBody>
      </p:sp>
      <p:pic>
        <p:nvPicPr>
          <p:cNvPr id="8" name="Imagen 7">
            <a:extLst>
              <a:ext uri="{FF2B5EF4-FFF2-40B4-BE49-F238E27FC236}">
                <a16:creationId xmlns:a16="http://schemas.microsoft.com/office/drawing/2014/main" id="{B8C6661E-61B8-D176-83F7-652FDBD6DA1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63580" y="1103309"/>
            <a:ext cx="9819068" cy="470881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INTERACTIF</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Mettez les étapes du parcours dans le bon ordre</a:t>
            </a:r>
            <a:endParaRPr lang="fr-FR" sz="3200" noProof="0" dirty="0"/>
          </a:p>
        </p:txBody>
      </p:sp>
      <p:sp>
        <p:nvSpPr>
          <p:cNvPr id="7" name="Text 5"/>
          <p:cNvSpPr txBox="1"/>
          <p:nvPr/>
        </p:nvSpPr>
        <p:spPr>
          <a:xfrm>
            <a:off x="566928" y="1431036"/>
            <a:ext cx="11055096" cy="658368"/>
          </a:xfrm>
          <a:prstGeom prst="rect">
            <a:avLst/>
          </a:prstGeom>
          <a:noFill/>
          <a:ln/>
        </p:spPr>
        <p:txBody>
          <a:bodyPr wrap="square" lIns="0" tIns="0" rIns="0" bIns="0" rtlCol="0" anchor="ctr"/>
          <a:lstStyle/>
          <a:p>
            <a:pPr marL="0" indent="0">
              <a:buNone/>
            </a:pPr>
            <a:r>
              <a:rPr lang="fr-FR" sz="2000" noProof="0" dirty="0">
                <a:solidFill>
                  <a:srgbClr val="23303F"/>
                </a:solidFill>
                <a:latin typeface="Calibri" pitchFamily="34" charset="0"/>
                <a:ea typeface="Calibri" pitchFamily="34" charset="-122"/>
                <a:cs typeface="Calibri" pitchFamily="34" charset="-120"/>
              </a:rPr>
              <a:t>Quel ordre décrit correctement la façon dont presque tous les cancers du col de l'utérus se développent?</a:t>
            </a:r>
            <a:endParaRPr lang="fr-FR" sz="2000" noProof="0" dirty="0"/>
          </a:p>
        </p:txBody>
      </p:sp>
      <p:sp>
        <p:nvSpPr>
          <p:cNvPr id="8" name="Shape 6"/>
          <p:cNvSpPr/>
          <p:nvPr/>
        </p:nvSpPr>
        <p:spPr>
          <a:xfrm>
            <a:off x="566928" y="2450592"/>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9" name="Text 7"/>
          <p:cNvSpPr txBox="1"/>
          <p:nvPr/>
        </p:nvSpPr>
        <p:spPr>
          <a:xfrm>
            <a:off x="841248" y="2450592"/>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Infection par le HPV → infection persistante → précancer → cancer invasif</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0" name="Shape 8"/>
          <p:cNvSpPr/>
          <p:nvPr/>
        </p:nvSpPr>
        <p:spPr>
          <a:xfrm>
            <a:off x="566928" y="3026664"/>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1" name="Text 9"/>
          <p:cNvSpPr txBox="1"/>
          <p:nvPr/>
        </p:nvSpPr>
        <p:spPr>
          <a:xfrm>
            <a:off x="841248" y="3026664"/>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Un cancer invasif, puis une infection persistante par le HPV, puis un précancer</a:t>
            </a:r>
            <a:endParaRPr lang="fr-FR" sz="1800" noProof="0" dirty="0"/>
          </a:p>
        </p:txBody>
      </p:sp>
      <p:sp>
        <p:nvSpPr>
          <p:cNvPr id="12" name="Shape 10"/>
          <p:cNvSpPr/>
          <p:nvPr/>
        </p:nvSpPr>
        <p:spPr>
          <a:xfrm>
            <a:off x="566928" y="360273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41248" y="360273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Précancer, infection au HPV, cancer invasif, infection persistante</a:t>
            </a:r>
            <a:endParaRPr lang="fr-FR" sz="1800" noProof="0" dirty="0"/>
          </a:p>
        </p:txBody>
      </p:sp>
      <p:sp>
        <p:nvSpPr>
          <p:cNvPr id="14" name="Shape 12"/>
          <p:cNvSpPr/>
          <p:nvPr/>
        </p:nvSpPr>
        <p:spPr>
          <a:xfrm>
            <a:off x="566928" y="417880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5" name="Text 13"/>
          <p:cNvSpPr txBox="1"/>
          <p:nvPr/>
        </p:nvSpPr>
        <p:spPr>
          <a:xfrm>
            <a:off x="841248" y="417880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Les symptômes apparaissent d'abord, puis l'infection au HPV, puis le cancer</a:t>
            </a:r>
            <a:endParaRPr lang="fr-FR" sz="1800" noProof="0" dirty="0"/>
          </a:p>
        </p:txBody>
      </p:sp>
      <p:sp>
        <p:nvSpPr>
          <p:cNvPr id="16" name="Shape 14"/>
          <p:cNvSpPr/>
          <p:nvPr/>
        </p:nvSpPr>
        <p:spPr>
          <a:xfrm>
            <a:off x="566928" y="4846320"/>
            <a:ext cx="11055096" cy="1389888"/>
          </a:xfrm>
          <a:prstGeom prst="roundRect">
            <a:avLst>
              <a:gd name="adj" fmla="val 4605"/>
            </a:avLst>
          </a:prstGeom>
          <a:solidFill>
            <a:srgbClr val="EAF7F0"/>
          </a:solidFill>
          <a:ln w="12700">
            <a:solidFill>
              <a:srgbClr val="C0D4CB"/>
            </a:solidFill>
            <a:prstDash val="solid"/>
          </a:ln>
        </p:spPr>
        <p:txBody>
          <a:bodyPr/>
          <a:lstStyle/>
          <a:p>
            <a:endParaRPr lang="fr-FR" noProof="0" dirty="0"/>
          </a:p>
        </p:txBody>
      </p:sp>
      <p:sp>
        <p:nvSpPr>
          <p:cNvPr id="17" name="Text 15"/>
          <p:cNvSpPr txBox="1"/>
          <p:nvPr/>
        </p:nvSpPr>
        <p:spPr>
          <a:xfrm>
            <a:off x="841248" y="4937760"/>
            <a:ext cx="10506456" cy="1207008"/>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a:t>
            </a:r>
            <a:r>
              <a:rPr lang="fr-FR" sz="1800" noProof="0" dirty="0">
                <a:solidFill>
                  <a:srgbClr val="23303F"/>
                </a:solidFill>
                <a:latin typeface="Calibri" pitchFamily="34" charset="0"/>
                <a:ea typeface="Calibri" pitchFamily="34" charset="-122"/>
                <a:cs typeface="Calibri" pitchFamily="34" charset="-120"/>
              </a:rPr>
              <a:t>le HPV infecte la zone de transformation. La plupart des infections disparaissent. Une infection persistante peut entraîner un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et une minorité de lésions non traitées deviennent cancéreuses.</a:t>
            </a:r>
            <a:endParaRPr lang="fr-FR" sz="1800" noProof="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LÉSIONS PRÉCANCÉREUSES</a:t>
            </a:r>
            <a:endParaRPr lang="fr-FR" sz="1200" noProof="0" dirty="0">
              <a:solidFill>
                <a:srgbClr val="31507B"/>
              </a:solidFill>
            </a:endParaRPr>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Qu'est-ce qu'est le </a:t>
            </a:r>
            <a:r>
              <a:rPr lang="fr-FR" sz="3200" b="1" noProof="0" dirty="0" err="1">
                <a:solidFill>
                  <a:srgbClr val="10305A"/>
                </a:solidFill>
                <a:latin typeface="Cambria" pitchFamily="34" charset="0"/>
                <a:ea typeface="Cambria" pitchFamily="34" charset="-122"/>
                <a:cs typeface="Cambria" pitchFamily="34" charset="-120"/>
              </a:rPr>
              <a:t>précancer</a:t>
            </a:r>
            <a:r>
              <a:rPr lang="fr-FR" sz="3200" b="1" noProof="0" dirty="0">
                <a:solidFill>
                  <a:srgbClr val="10305A"/>
                </a:solidFill>
                <a:latin typeface="Cambria" pitchFamily="34" charset="0"/>
                <a:ea typeface="Cambria" pitchFamily="34" charset="-122"/>
                <a:cs typeface="Cambria" pitchFamily="34" charset="-120"/>
              </a:rPr>
              <a:t> du col de l'utérus</a:t>
            </a:r>
            <a:endParaRPr lang="fr-FR" sz="3200" noProof="0" dirty="0"/>
          </a:p>
        </p:txBody>
      </p:sp>
      <p:sp>
        <p:nvSpPr>
          <p:cNvPr id="6" name="Shape 4"/>
          <p:cNvSpPr/>
          <p:nvPr/>
        </p:nvSpPr>
        <p:spPr>
          <a:xfrm>
            <a:off x="566928" y="1386564"/>
            <a:ext cx="3563112" cy="3901992"/>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569444"/>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Anormal, pas invasif</a:t>
            </a:r>
            <a:endParaRPr lang="fr-FR" sz="2000" noProof="0" dirty="0"/>
          </a:p>
        </p:txBody>
      </p:sp>
      <p:sp>
        <p:nvSpPr>
          <p:cNvPr id="8" name="Text 6"/>
          <p:cNvSpPr txBox="1"/>
          <p:nvPr/>
        </p:nvSpPr>
        <p:spPr>
          <a:xfrm>
            <a:off x="822960" y="2172948"/>
            <a:ext cx="3051048" cy="1773936"/>
          </a:xfrm>
          <a:prstGeom prst="rect">
            <a:avLst/>
          </a:prstGeom>
          <a:noFill/>
          <a:ln/>
        </p:spPr>
        <p:txBody>
          <a:bodyPr wrap="square" lIns="0" tIns="0" rIns="0" bIns="0" rtlCol="0" anchor="t">
            <a:noAutofit/>
          </a:bodyPr>
          <a:lstStyle/>
          <a:p>
            <a:pPr marL="0" indent="0">
              <a:lnSpc>
                <a:spcPct val="106000"/>
              </a:lnSpc>
              <a:buNone/>
            </a:pPr>
            <a:r>
              <a:rPr lang="fr-FR" sz="1494" noProof="0" dirty="0">
                <a:solidFill>
                  <a:srgbClr val="23303F"/>
                </a:solidFill>
                <a:latin typeface="Calibri" pitchFamily="34" charset="0"/>
                <a:ea typeface="Calibri" pitchFamily="34" charset="-122"/>
                <a:cs typeface="Calibri" pitchFamily="34" charset="-120"/>
              </a:rPr>
              <a:t>Le </a:t>
            </a:r>
            <a:r>
              <a:rPr lang="fr-FR" sz="1494" noProof="0" dirty="0" err="1">
                <a:solidFill>
                  <a:srgbClr val="23303F"/>
                </a:solidFill>
                <a:latin typeface="Calibri" pitchFamily="34" charset="0"/>
                <a:ea typeface="Calibri" pitchFamily="34" charset="-122"/>
                <a:cs typeface="Calibri" pitchFamily="34" charset="-120"/>
              </a:rPr>
              <a:t>précancer</a:t>
            </a:r>
            <a:r>
              <a:rPr lang="fr-FR" sz="1494" noProof="0" dirty="0">
                <a:solidFill>
                  <a:srgbClr val="23303F"/>
                </a:solidFill>
                <a:latin typeface="Calibri" pitchFamily="34" charset="0"/>
                <a:ea typeface="Calibri" pitchFamily="34" charset="-122"/>
                <a:cs typeface="Calibri" pitchFamily="34" charset="-120"/>
              </a:rPr>
              <a:t> correspond à des cellules anormales dans la couche superficielle du col de l'utérus qui n'ont pas envahi les tissus plus profonds.</a:t>
            </a:r>
            <a:endParaRPr lang="fr-FR" sz="1494" noProof="0" dirty="0"/>
          </a:p>
        </p:txBody>
      </p:sp>
      <p:sp>
        <p:nvSpPr>
          <p:cNvPr id="9" name="Shape 7"/>
          <p:cNvSpPr/>
          <p:nvPr/>
        </p:nvSpPr>
        <p:spPr>
          <a:xfrm>
            <a:off x="4312920" y="1386564"/>
            <a:ext cx="3563112" cy="3901992"/>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569444"/>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Bas grade</a:t>
            </a:r>
            <a:endParaRPr lang="fr-FR" sz="2000" noProof="0" dirty="0"/>
          </a:p>
        </p:txBody>
      </p:sp>
      <p:sp>
        <p:nvSpPr>
          <p:cNvPr id="11" name="Text 9"/>
          <p:cNvSpPr txBox="1"/>
          <p:nvPr/>
        </p:nvSpPr>
        <p:spPr>
          <a:xfrm>
            <a:off x="4568952" y="2172948"/>
            <a:ext cx="3051048" cy="1773936"/>
          </a:xfrm>
          <a:prstGeom prst="rect">
            <a:avLst/>
          </a:prstGeom>
          <a:noFill/>
          <a:ln/>
        </p:spPr>
        <p:txBody>
          <a:bodyPr wrap="square" lIns="0" tIns="0" rIns="0" bIns="0" rtlCol="0" anchor="t">
            <a:noAutofit/>
          </a:bodyPr>
          <a:lstStyle/>
          <a:p>
            <a:pPr marL="0" indent="0">
              <a:lnSpc>
                <a:spcPct val="106000"/>
              </a:lnSpc>
              <a:buNone/>
            </a:pPr>
            <a:r>
              <a:rPr lang="fr-FR" sz="1494" noProof="0" dirty="0">
                <a:solidFill>
                  <a:srgbClr val="23303F"/>
                </a:solidFill>
                <a:latin typeface="Calibri" pitchFamily="34" charset="0"/>
                <a:ea typeface="Calibri" pitchFamily="34" charset="-122"/>
                <a:cs typeface="Calibri" pitchFamily="34" charset="-120"/>
              </a:rPr>
              <a:t>Les changements n'affectent que la partie inférieure de la couche de surface. Beaucoup de ces changements régressent d'eux-mêmes.</a:t>
            </a:r>
            <a:endParaRPr lang="fr-FR" sz="1494" noProof="0" dirty="0"/>
          </a:p>
        </p:txBody>
      </p:sp>
      <p:sp>
        <p:nvSpPr>
          <p:cNvPr id="12" name="Shape 10"/>
          <p:cNvSpPr/>
          <p:nvPr/>
        </p:nvSpPr>
        <p:spPr>
          <a:xfrm>
            <a:off x="8058912" y="1386564"/>
            <a:ext cx="3563112" cy="3901992"/>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569444"/>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Haut grade</a:t>
            </a:r>
            <a:endParaRPr lang="fr-FR" sz="2000" noProof="0" dirty="0"/>
          </a:p>
        </p:txBody>
      </p:sp>
      <p:sp>
        <p:nvSpPr>
          <p:cNvPr id="14" name="Text 12"/>
          <p:cNvSpPr txBox="1"/>
          <p:nvPr/>
        </p:nvSpPr>
        <p:spPr>
          <a:xfrm>
            <a:off x="8314944" y="2172948"/>
            <a:ext cx="3051048" cy="1773936"/>
          </a:xfrm>
          <a:prstGeom prst="rect">
            <a:avLst/>
          </a:prstGeom>
          <a:noFill/>
          <a:ln/>
        </p:spPr>
        <p:txBody>
          <a:bodyPr wrap="square" lIns="0" tIns="0" rIns="0" bIns="0" rtlCol="0" anchor="t">
            <a:noAutofit/>
          </a:bodyPr>
          <a:lstStyle/>
          <a:p>
            <a:pPr marL="0" indent="0">
              <a:lnSpc>
                <a:spcPct val="106000"/>
              </a:lnSpc>
              <a:buNone/>
            </a:pPr>
            <a:r>
              <a:rPr lang="fr-FR" sz="1494" noProof="0" dirty="0">
                <a:solidFill>
                  <a:srgbClr val="23303F"/>
                </a:solidFill>
                <a:latin typeface="Calibri" pitchFamily="34" charset="0"/>
                <a:ea typeface="Calibri" pitchFamily="34" charset="-122"/>
                <a:cs typeface="Calibri" pitchFamily="34" charset="-120"/>
              </a:rPr>
              <a:t>Des changements plus importants comportent un risque plus élevé de progression. Ceux-ci sont traités.</a:t>
            </a:r>
            <a:endParaRPr lang="fr-FR" sz="1494" noProof="0" dirty="0"/>
          </a:p>
        </p:txBody>
      </p:sp>
      <p:sp>
        <p:nvSpPr>
          <p:cNvPr id="15" name="Shape 13"/>
          <p:cNvSpPr/>
          <p:nvPr/>
        </p:nvSpPr>
        <p:spPr>
          <a:xfrm>
            <a:off x="566928" y="5542217"/>
            <a:ext cx="11055096" cy="786384"/>
          </a:xfrm>
          <a:prstGeom prst="roundRect">
            <a:avLst>
              <a:gd name="adj" fmla="val 8140"/>
            </a:avLst>
          </a:prstGeom>
          <a:solidFill>
            <a:srgbClr val="ECF3FD"/>
          </a:solidFill>
          <a:ln w="12700">
            <a:solidFill>
              <a:srgbClr val="E0E3EA"/>
            </a:solidFill>
            <a:prstDash val="solid"/>
          </a:ln>
        </p:spPr>
        <p:txBody>
          <a:bodyPr/>
          <a:lstStyle/>
          <a:p>
            <a:endParaRPr lang="fr-FR" noProof="0" dirty="0"/>
          </a:p>
        </p:txBody>
      </p:sp>
      <p:sp>
        <p:nvSpPr>
          <p:cNvPr id="16" name="Text 14"/>
          <p:cNvSpPr txBox="1"/>
          <p:nvPr/>
        </p:nvSpPr>
        <p:spPr>
          <a:xfrm>
            <a:off x="841248" y="5597081"/>
            <a:ext cx="10506456" cy="676656"/>
          </a:xfrm>
          <a:prstGeom prst="rect">
            <a:avLst/>
          </a:prstGeom>
          <a:noFill/>
          <a:ln/>
        </p:spPr>
        <p:txBody>
          <a:bodyPr wrap="square" lIns="0" tIns="0" rIns="0" bIns="0" rtlCol="0" anchor="ctr">
            <a:noAutofit/>
          </a:bodyPr>
          <a:lstStyle/>
          <a:p>
            <a:pPr marL="0" indent="0">
              <a:lnSpc>
                <a:spcPct val="104000"/>
              </a:lnSpc>
              <a:buNone/>
            </a:pPr>
            <a:r>
              <a:rPr lang="fr-FR" sz="1674" b="1" noProof="0" dirty="0">
                <a:solidFill>
                  <a:srgbClr val="10305A"/>
                </a:solidFill>
                <a:latin typeface="Calibri" pitchFamily="34" charset="0"/>
                <a:ea typeface="Calibri" pitchFamily="34" charset="-122"/>
                <a:cs typeface="Calibri" pitchFamily="34" charset="-120"/>
              </a:rPr>
              <a:t>📌 Deux vocabulaires :  </a:t>
            </a:r>
            <a:r>
              <a:rPr lang="fr-FR" sz="1674" noProof="0" dirty="0">
                <a:solidFill>
                  <a:srgbClr val="23303F"/>
                </a:solidFill>
                <a:latin typeface="Calibri" pitchFamily="34" charset="0"/>
                <a:ea typeface="Calibri" pitchFamily="34" charset="-122"/>
                <a:cs typeface="Calibri" pitchFamily="34" charset="-120"/>
              </a:rPr>
              <a:t>Un rapport de biopsie peut décrire une néoplasie intraépithéliale cervicale, ou CIN. Un rapport de cytologie peut décrire une lésion intraépithéliale squameuse de bas ou haut grade. Les deux décrivent le même spectre.</a:t>
            </a:r>
            <a:endParaRPr lang="fr-FR" sz="1674" noProof="0" dirty="0"/>
          </a:p>
        </p:txBody>
      </p:sp>
      <p:pic>
        <p:nvPicPr>
          <p:cNvPr id="17" name="Imagen 16">
            <a:extLst>
              <a:ext uri="{FF2B5EF4-FFF2-40B4-BE49-F238E27FC236}">
                <a16:creationId xmlns:a16="http://schemas.microsoft.com/office/drawing/2014/main" id="{89FAB3B0-2647-31F2-99F4-113F4F600D60}"/>
              </a:ext>
            </a:extLst>
          </p:cNvPr>
          <p:cNvPicPr>
            <a:picLocks noChangeAspect="1"/>
          </p:cNvPicPr>
          <p:nvPr/>
        </p:nvPicPr>
        <p:blipFill>
          <a:blip r:embed="rId3"/>
          <a:srcRect/>
          <a:stretch>
            <a:fillRect/>
          </a:stretch>
        </p:blipFill>
        <p:spPr>
          <a:xfrm>
            <a:off x="822960" y="3337560"/>
            <a:ext cx="3051048" cy="2034032"/>
          </a:xfrm>
          <a:prstGeom prst="rect">
            <a:avLst/>
          </a:prstGeom>
        </p:spPr>
      </p:pic>
      <p:pic>
        <p:nvPicPr>
          <p:cNvPr id="19" name="Imagen 18">
            <a:extLst>
              <a:ext uri="{FF2B5EF4-FFF2-40B4-BE49-F238E27FC236}">
                <a16:creationId xmlns:a16="http://schemas.microsoft.com/office/drawing/2014/main" id="{DA754DC3-B2AC-1B7B-71E8-6D4B2750FEF5}"/>
              </a:ext>
            </a:extLst>
          </p:cNvPr>
          <p:cNvPicPr>
            <a:picLocks noChangeAspect="1"/>
          </p:cNvPicPr>
          <p:nvPr/>
        </p:nvPicPr>
        <p:blipFill>
          <a:blip r:embed="rId4"/>
          <a:srcRect/>
          <a:stretch>
            <a:fillRect/>
          </a:stretch>
        </p:blipFill>
        <p:spPr>
          <a:xfrm>
            <a:off x="4628368" y="3223139"/>
            <a:ext cx="2932216" cy="1954811"/>
          </a:xfrm>
          <a:prstGeom prst="rect">
            <a:avLst/>
          </a:prstGeom>
        </p:spPr>
      </p:pic>
      <p:pic>
        <p:nvPicPr>
          <p:cNvPr id="20" name="Imagen 19">
            <a:extLst>
              <a:ext uri="{FF2B5EF4-FFF2-40B4-BE49-F238E27FC236}">
                <a16:creationId xmlns:a16="http://schemas.microsoft.com/office/drawing/2014/main" id="{A2C2555C-98CF-46C1-D7A6-63BF83919311}"/>
              </a:ext>
            </a:extLst>
          </p:cNvPr>
          <p:cNvPicPr>
            <a:picLocks noChangeAspect="1"/>
          </p:cNvPicPr>
          <p:nvPr/>
        </p:nvPicPr>
        <p:blipFill>
          <a:blip r:embed="rId5"/>
          <a:srcRect/>
          <a:stretch>
            <a:fillRect/>
          </a:stretch>
        </p:blipFill>
        <p:spPr>
          <a:xfrm>
            <a:off x="8326819" y="3222145"/>
            <a:ext cx="2933710" cy="195580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1 · LÉSIONS PRÉCANCÉREUSES</a:t>
            </a:r>
            <a:endParaRPr lang="fr-FR" sz="1200" dirty="0"/>
          </a:p>
        </p:txBody>
      </p:sp>
      <p:sp>
        <p:nvSpPr>
          <p:cNvPr id="3" name="Text 3"/>
          <p:cNvSpPr txBox="1"/>
          <p:nvPr/>
        </p:nvSpPr>
        <p:spPr>
          <a:xfrm>
            <a:off x="566928" y="478716"/>
            <a:ext cx="11055096" cy="868680"/>
          </a:xfrm>
          <a:prstGeom prst="rect">
            <a:avLst/>
          </a:prstGeom>
          <a:noFill/>
          <a:ln/>
        </p:spPr>
        <p:txBody>
          <a:bodyPr wrap="square" lIns="0" tIns="0" rIns="0" bIns="0" rtlCol="0" anchor="ctr"/>
          <a:lstStyle/>
          <a:p>
            <a:pPr marL="0" indent="0">
              <a:buNone/>
            </a:pPr>
            <a:r>
              <a:rPr lang="fr-FR" sz="2800" b="1" noProof="0" dirty="0">
                <a:solidFill>
                  <a:srgbClr val="10305A"/>
                </a:solidFill>
                <a:latin typeface="Cambria" pitchFamily="34" charset="0"/>
                <a:ea typeface="Cambria" pitchFamily="34" charset="-122"/>
                <a:cs typeface="Cambria" pitchFamily="34" charset="-120"/>
              </a:rPr>
              <a:t>Grades CIN : quelle part de l'épithélium est anormale</a:t>
            </a:r>
          </a:p>
        </p:txBody>
      </p:sp>
      <p:sp>
        <p:nvSpPr>
          <p:cNvPr id="22" name="Shape 22"/>
          <p:cNvSpPr/>
          <p:nvPr/>
        </p:nvSpPr>
        <p:spPr>
          <a:xfrm>
            <a:off x="566928" y="4380000"/>
            <a:ext cx="11055096" cy="800000"/>
          </a:xfrm>
          <a:prstGeom prst="roundRect">
            <a:avLst>
              <a:gd name="adj" fmla="val 3000"/>
            </a:avLst>
          </a:prstGeom>
          <a:solidFill>
            <a:srgbClr val="ECF3FD"/>
          </a:solidFill>
          <a:ln w="12700">
            <a:solidFill>
              <a:srgbClr val="E0E3EA"/>
            </a:solidFill>
          </a:ln>
        </p:spPr>
        <p:txBody>
          <a:bodyPr/>
          <a:lstStyle/>
          <a:p>
            <a:endParaRPr lang="fr-FR" sz="1600" dirty="0"/>
          </a:p>
        </p:txBody>
      </p:sp>
      <p:sp>
        <p:nvSpPr>
          <p:cNvPr id="23" name="Text 23"/>
          <p:cNvSpPr txBox="1"/>
          <p:nvPr/>
        </p:nvSpPr>
        <p:spPr>
          <a:xfrm>
            <a:off x="841248" y="4430000"/>
            <a:ext cx="10506456" cy="700000"/>
          </a:xfrm>
          <a:prstGeom prst="rect">
            <a:avLst/>
          </a:prstGeom>
          <a:noFill/>
          <a:ln/>
        </p:spPr>
        <p:txBody>
          <a:bodyPr wrap="square" lIns="0" tIns="0" rIns="0" bIns="0" rtlCol="0" anchor="ctr"/>
          <a:lstStyle/>
          <a:p>
            <a:pPr marL="0" indent="0" algn="l">
              <a:buNone/>
            </a:pPr>
            <a:r>
              <a:rPr lang="fr-FR" sz="1500" b="1" noProof="0" dirty="0">
                <a:solidFill>
                  <a:srgbClr val="10305A"/>
                </a:solidFill>
                <a:latin typeface="Calibri" pitchFamily="34" charset="0"/>
                <a:ea typeface="Calibri" pitchFamily="34" charset="-122"/>
                <a:cs typeface="Calibri" pitchFamily="34" charset="-120"/>
              </a:rPr>
              <a:t>⏱️ Histoire naturelle :  </a:t>
            </a:r>
            <a:r>
              <a:rPr lang="fr-FR" sz="1500" noProof="0" dirty="0">
                <a:solidFill>
                  <a:srgbClr val="23303F"/>
                </a:solidFill>
                <a:latin typeface="Calibri" pitchFamily="34" charset="0"/>
                <a:ea typeface="Calibri" pitchFamily="34" charset="-122"/>
                <a:cs typeface="Calibri" pitchFamily="34" charset="-120"/>
              </a:rPr>
              <a:t>La plupart des CIN 1 régressent en 1 à 2 ans. Les CIN 2 et CIN 3 présentent un risque réel de progression, généralement sur de nombreuses années, et sont traitées.</a:t>
            </a:r>
            <a:endParaRPr lang="fr-FR" sz="1500" dirty="0"/>
          </a:p>
        </p:txBody>
      </p:sp>
      <p:sp>
        <p:nvSpPr>
          <p:cNvPr id="24" name="Shape 24"/>
          <p:cNvSpPr/>
          <p:nvPr/>
        </p:nvSpPr>
        <p:spPr>
          <a:xfrm>
            <a:off x="566928" y="5320000"/>
            <a:ext cx="11055096" cy="85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25" name="Text 25"/>
          <p:cNvSpPr txBox="1"/>
          <p:nvPr/>
        </p:nvSpPr>
        <p:spPr>
          <a:xfrm>
            <a:off x="841248" y="5370000"/>
            <a:ext cx="10506456" cy="750000"/>
          </a:xfrm>
          <a:prstGeom prst="rect">
            <a:avLst/>
          </a:prstGeom>
          <a:noFill/>
          <a:ln/>
        </p:spPr>
        <p:txBody>
          <a:bodyPr wrap="square" lIns="0" tIns="0" rIns="0" bIns="0" rtlCol="0" anchor="ctr"/>
          <a:lstStyle/>
          <a:p>
            <a:pPr marL="0" indent="0" algn="l">
              <a:buNone/>
            </a:pPr>
            <a:r>
              <a:rPr lang="fr-FR" sz="1500" b="1" noProof="0" dirty="0">
                <a:solidFill>
                  <a:srgbClr val="7B5727"/>
                </a:solidFill>
                <a:latin typeface="Calibri" pitchFamily="34" charset="0"/>
                <a:ea typeface="Calibri" pitchFamily="34" charset="-122"/>
                <a:cs typeface="Calibri" pitchFamily="34" charset="-120"/>
              </a:rPr>
              <a:t>🧠 Précurseur glandulaire :  </a:t>
            </a:r>
            <a:r>
              <a:rPr lang="fr-FR" sz="1500" noProof="0" dirty="0">
                <a:solidFill>
                  <a:srgbClr val="23303F"/>
                </a:solidFill>
                <a:latin typeface="Calibri" pitchFamily="34" charset="0"/>
                <a:ea typeface="Calibri" pitchFamily="34" charset="-122"/>
                <a:cs typeface="Calibri" pitchFamily="34" charset="-120"/>
              </a:rPr>
              <a:t>L'adénocarcinome in situ (AIS) naît de l'épithélium cylindrique du canal. Il est plus difficile à voir à la VIA et nécessite une orientation pour excision.</a:t>
            </a:r>
            <a:endParaRPr lang="fr-FR" sz="1500" dirty="0"/>
          </a:p>
        </p:txBody>
      </p:sp>
      <p:sp>
        <p:nvSpPr>
          <p:cNvPr id="26" name="Text 26"/>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27" name="Text 27"/>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43</a:t>
            </a:r>
            <a:endParaRPr lang="fr-FR" sz="1100" dirty="0"/>
          </a:p>
        </p:txBody>
      </p:sp>
      <p:pic>
        <p:nvPicPr>
          <p:cNvPr id="46" name="Imagen 45">
            <a:extLst>
              <a:ext uri="{FF2B5EF4-FFF2-40B4-BE49-F238E27FC236}">
                <a16:creationId xmlns:a16="http://schemas.microsoft.com/office/drawing/2014/main" id="{5A60F220-65A0-B73F-E1E8-B770D982F59A}"/>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306512" y="1336034"/>
            <a:ext cx="9276319" cy="301721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LÉSIONS PRÉCANCÉREUSES</a:t>
            </a:r>
            <a:endParaRPr lang="fr-FR" sz="1200" noProof="0" dirty="0">
              <a:solidFill>
                <a:srgbClr val="31507B"/>
              </a:solidFill>
            </a:endParaRPr>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 </a:t>
            </a:r>
            <a:r>
              <a:rPr lang="fr-FR" sz="3200" b="1" noProof="0" dirty="0" err="1">
                <a:solidFill>
                  <a:srgbClr val="10305A"/>
                </a:solidFill>
                <a:latin typeface="Cambria" pitchFamily="34" charset="0"/>
                <a:ea typeface="Cambria" pitchFamily="34" charset="-122"/>
                <a:cs typeface="Cambria" pitchFamily="34" charset="-120"/>
              </a:rPr>
              <a:t>précancer</a:t>
            </a:r>
            <a:r>
              <a:rPr lang="fr-FR" sz="3200" b="1" noProof="0" dirty="0">
                <a:solidFill>
                  <a:srgbClr val="10305A"/>
                </a:solidFill>
                <a:latin typeface="Cambria" pitchFamily="34" charset="0"/>
                <a:ea typeface="Cambria" pitchFamily="34" charset="-122"/>
                <a:cs typeface="Cambria" pitchFamily="34" charset="-120"/>
              </a:rPr>
              <a:t> n'est pas un cancer</a:t>
            </a:r>
            <a:endParaRPr lang="fr-FR" sz="3200" noProof="0" dirty="0"/>
          </a:p>
        </p:txBody>
      </p:sp>
      <p:sp>
        <p:nvSpPr>
          <p:cNvPr id="6" name="Shape 4"/>
          <p:cNvSpPr/>
          <p:nvPr/>
        </p:nvSpPr>
        <p:spPr>
          <a:xfrm>
            <a:off x="566928" y="1469691"/>
            <a:ext cx="5436108" cy="3474720"/>
          </a:xfrm>
          <a:prstGeom prst="roundRect">
            <a:avLst>
              <a:gd name="adj" fmla="val 2368"/>
            </a:avLst>
          </a:prstGeom>
          <a:solidFill>
            <a:srgbClr val="EAF7F0"/>
          </a:solidFill>
          <a:ln w="12700">
            <a:solidFill>
              <a:srgbClr val="C0D4CB"/>
            </a:solidFill>
            <a:prstDash val="solid"/>
          </a:ln>
        </p:spPr>
        <p:txBody>
          <a:bodyPr/>
          <a:lstStyle/>
          <a:p>
            <a:endParaRPr lang="fr-FR" noProof="0" dirty="0"/>
          </a:p>
        </p:txBody>
      </p:sp>
      <p:sp>
        <p:nvSpPr>
          <p:cNvPr id="7" name="Text 5"/>
          <p:cNvSpPr txBox="1"/>
          <p:nvPr/>
        </p:nvSpPr>
        <p:spPr>
          <a:xfrm>
            <a:off x="822960" y="1670859"/>
            <a:ext cx="4924044" cy="566928"/>
          </a:xfrm>
          <a:prstGeom prst="rect">
            <a:avLst/>
          </a:prstGeom>
          <a:noFill/>
          <a:ln/>
        </p:spPr>
        <p:txBody>
          <a:bodyPr wrap="square" lIns="0" tIns="0" rIns="0" bIns="0" rtlCol="0" anchor="ctr"/>
          <a:lstStyle/>
          <a:p>
            <a:pPr marL="0" indent="0">
              <a:buNone/>
            </a:pPr>
            <a:r>
              <a:rPr lang="fr-FR" sz="2000" b="1" noProof="0" dirty="0">
                <a:solidFill>
                  <a:srgbClr val="19543E"/>
                </a:solidFill>
                <a:latin typeface="Calibri" pitchFamily="34" charset="0"/>
                <a:ea typeface="Calibri" pitchFamily="34" charset="-122"/>
                <a:cs typeface="Calibri" pitchFamily="34" charset="-120"/>
              </a:rPr>
              <a:t>🟢 Lésion précancéreuse</a:t>
            </a:r>
            <a:endParaRPr lang="fr-FR" sz="2000" noProof="0" dirty="0"/>
          </a:p>
        </p:txBody>
      </p:sp>
      <p:sp>
        <p:nvSpPr>
          <p:cNvPr id="8" name="Text 6"/>
          <p:cNvSpPr txBox="1"/>
          <p:nvPr/>
        </p:nvSpPr>
        <p:spPr>
          <a:xfrm>
            <a:off x="877824" y="2310939"/>
            <a:ext cx="4869180" cy="2432304"/>
          </a:xfrm>
          <a:prstGeom prst="rect">
            <a:avLst/>
          </a:prstGeom>
          <a:noFill/>
          <a:ln/>
        </p:spPr>
        <p:txBody>
          <a:bodyPr wrap="square" lIns="0" tIns="0" rIns="0" bIns="0" rtlCol="0" anchor="t">
            <a:normAutofit fontScale="95000" lnSpcReduction="10000"/>
          </a:bodyPr>
          <a:lstStyle/>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Cellules anormales uniquement dans la couche de surface.</a:t>
            </a:r>
            <a:endParaRPr lang="fr-FR" sz="1800" noProof="0" dirty="0"/>
          </a:p>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Ne peut pas se propager aux ganglions lymphatiques ou à d'autres organes.</a:t>
            </a:r>
            <a:endParaRPr lang="fr-FR" sz="1800" noProof="0" dirty="0"/>
          </a:p>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En général, il ne cause aucun symptôme.</a:t>
            </a:r>
            <a:endParaRPr lang="fr-FR" sz="1800" noProof="0" dirty="0"/>
          </a:p>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Traité par une courte procédure qui maintient l'utérus.</a:t>
            </a:r>
            <a:endParaRPr lang="fr-FR" sz="1800" noProof="0" dirty="0"/>
          </a:p>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Le traitement empêche le développement d'un cancer.</a:t>
            </a:r>
            <a:endParaRPr lang="fr-FR" sz="1800" noProof="0" dirty="0"/>
          </a:p>
        </p:txBody>
      </p:sp>
      <p:sp>
        <p:nvSpPr>
          <p:cNvPr id="9" name="Shape 7"/>
          <p:cNvSpPr/>
          <p:nvPr/>
        </p:nvSpPr>
        <p:spPr>
          <a:xfrm>
            <a:off x="6185916" y="1469691"/>
            <a:ext cx="5436108" cy="3474720"/>
          </a:xfrm>
          <a:prstGeom prst="roundRect">
            <a:avLst>
              <a:gd name="adj" fmla="val 2368"/>
            </a:avLst>
          </a:prstGeom>
          <a:solidFill>
            <a:srgbClr val="FDE9E8"/>
          </a:solidFill>
          <a:ln w="12700">
            <a:solidFill>
              <a:srgbClr val="F0CFCE"/>
            </a:solidFill>
            <a:prstDash val="solid"/>
          </a:ln>
        </p:spPr>
        <p:txBody>
          <a:bodyPr/>
          <a:lstStyle/>
          <a:p>
            <a:endParaRPr lang="fr-FR" noProof="0" dirty="0"/>
          </a:p>
        </p:txBody>
      </p:sp>
      <p:sp>
        <p:nvSpPr>
          <p:cNvPr id="10" name="Text 8"/>
          <p:cNvSpPr txBox="1"/>
          <p:nvPr/>
        </p:nvSpPr>
        <p:spPr>
          <a:xfrm>
            <a:off x="6441948" y="1670859"/>
            <a:ext cx="4924044" cy="566928"/>
          </a:xfrm>
          <a:prstGeom prst="rect">
            <a:avLst/>
          </a:prstGeom>
          <a:noFill/>
          <a:ln/>
        </p:spPr>
        <p:txBody>
          <a:bodyPr wrap="square" lIns="0" tIns="0" rIns="0" bIns="0" rtlCol="0" anchor="ctr"/>
          <a:lstStyle/>
          <a:p>
            <a:pPr marL="0" indent="0">
              <a:buNone/>
            </a:pPr>
            <a:r>
              <a:rPr lang="fr-FR" sz="2000" b="1" noProof="0" dirty="0">
                <a:solidFill>
                  <a:srgbClr val="8E2531"/>
                </a:solidFill>
                <a:latin typeface="Calibri" pitchFamily="34" charset="0"/>
                <a:ea typeface="Calibri" pitchFamily="34" charset="-122"/>
                <a:cs typeface="Calibri" pitchFamily="34" charset="-120"/>
              </a:rPr>
              <a:t>🔴 Cancer du col de l'utérus invasif</a:t>
            </a:r>
            <a:endParaRPr lang="fr-FR" sz="2000" noProof="0" dirty="0"/>
          </a:p>
        </p:txBody>
      </p:sp>
      <p:sp>
        <p:nvSpPr>
          <p:cNvPr id="11" name="Text 9"/>
          <p:cNvSpPr txBox="1"/>
          <p:nvPr/>
        </p:nvSpPr>
        <p:spPr>
          <a:xfrm>
            <a:off x="6496812" y="2310939"/>
            <a:ext cx="4869180" cy="2432304"/>
          </a:xfrm>
          <a:prstGeom prst="rect">
            <a:avLst/>
          </a:prstGeom>
          <a:noFill/>
          <a:ln/>
        </p:spPr>
        <p:txBody>
          <a:bodyPr wrap="square" lIns="0" tIns="0" rIns="0" bIns="0" rtlCol="0" anchor="t">
            <a:noAutofit/>
          </a:bodyPr>
          <a:lstStyle/>
          <a:p>
            <a:pPr marL="342900" indent="-342900">
              <a:lnSpc>
                <a:spcPct val="102000"/>
              </a:lnSpc>
              <a:spcAft>
                <a:spcPts val="500"/>
              </a:spcAft>
              <a:buSzPct val="100000"/>
              <a:buChar char="•"/>
            </a:pPr>
            <a:r>
              <a:rPr lang="fr-FR" sz="1710" noProof="0" dirty="0">
                <a:solidFill>
                  <a:srgbClr val="23303F"/>
                </a:solidFill>
                <a:latin typeface="Calibri" pitchFamily="34" charset="0"/>
                <a:ea typeface="Calibri" pitchFamily="34" charset="-122"/>
                <a:cs typeface="Calibri" pitchFamily="34" charset="-120"/>
              </a:rPr>
              <a:t>Les cellules cancéreuses ont envahi les tissus plus profonds du col de l'utérus.</a:t>
            </a:r>
            <a:endParaRPr lang="fr-FR" sz="1710" noProof="0" dirty="0"/>
          </a:p>
          <a:p>
            <a:pPr marL="342900" indent="-342900">
              <a:lnSpc>
                <a:spcPct val="102000"/>
              </a:lnSpc>
              <a:spcAft>
                <a:spcPts val="500"/>
              </a:spcAft>
              <a:buSzPct val="100000"/>
              <a:buChar char="•"/>
            </a:pPr>
            <a:r>
              <a:rPr lang="fr-FR" sz="1710" noProof="0" dirty="0">
                <a:solidFill>
                  <a:srgbClr val="23303F"/>
                </a:solidFill>
                <a:latin typeface="Calibri" pitchFamily="34" charset="0"/>
                <a:ea typeface="Calibri" pitchFamily="34" charset="-122"/>
                <a:cs typeface="Calibri" pitchFamily="34" charset="-120"/>
              </a:rPr>
              <a:t>Peut se propager localement, aux ganglions lymphatiques et aux organes éloignés.</a:t>
            </a:r>
            <a:endParaRPr lang="fr-FR" sz="1710" noProof="0" dirty="0"/>
          </a:p>
          <a:p>
            <a:pPr marL="342900" indent="-342900">
              <a:lnSpc>
                <a:spcPct val="102000"/>
              </a:lnSpc>
              <a:spcAft>
                <a:spcPts val="500"/>
              </a:spcAft>
              <a:buSzPct val="100000"/>
              <a:buChar char="•"/>
            </a:pPr>
            <a:r>
              <a:rPr lang="fr-FR" sz="1710" noProof="0" dirty="0">
                <a:solidFill>
                  <a:srgbClr val="23303F"/>
                </a:solidFill>
                <a:latin typeface="Calibri" pitchFamily="34" charset="0"/>
                <a:ea typeface="Calibri" pitchFamily="34" charset="-122"/>
                <a:cs typeface="Calibri" pitchFamily="34" charset="-120"/>
              </a:rPr>
              <a:t>Peut provoquer des saignements, des écoulements ou des douleurs, généralement plus tard.</a:t>
            </a:r>
            <a:endParaRPr lang="fr-FR" sz="1710" noProof="0" dirty="0"/>
          </a:p>
          <a:p>
            <a:pPr marL="342900" indent="-342900">
              <a:lnSpc>
                <a:spcPct val="102000"/>
              </a:lnSpc>
              <a:spcAft>
                <a:spcPts val="500"/>
              </a:spcAft>
              <a:buSzPct val="100000"/>
              <a:buChar char="•"/>
            </a:pPr>
            <a:r>
              <a:rPr lang="fr-FR" sz="1710" noProof="0" dirty="0">
                <a:solidFill>
                  <a:srgbClr val="23303F"/>
                </a:solidFill>
                <a:latin typeface="Calibri" pitchFamily="34" charset="0"/>
                <a:ea typeface="Calibri" pitchFamily="34" charset="-122"/>
                <a:cs typeface="Calibri" pitchFamily="34" charset="-120"/>
              </a:rPr>
              <a:t>Nécessite une stadification et un traitement spécialisé.</a:t>
            </a:r>
            <a:endParaRPr lang="fr-FR" sz="1710" noProof="0" dirty="0"/>
          </a:p>
          <a:p>
            <a:pPr marL="342900" indent="-342900">
              <a:lnSpc>
                <a:spcPct val="102000"/>
              </a:lnSpc>
              <a:spcAft>
                <a:spcPts val="500"/>
              </a:spcAft>
              <a:buSzPct val="100000"/>
              <a:buChar char="•"/>
            </a:pPr>
            <a:r>
              <a:rPr lang="fr-FR" sz="1710" noProof="0" dirty="0">
                <a:solidFill>
                  <a:srgbClr val="23303F"/>
                </a:solidFill>
                <a:latin typeface="Calibri" pitchFamily="34" charset="0"/>
                <a:ea typeface="Calibri" pitchFamily="34" charset="-122"/>
                <a:cs typeface="Calibri" pitchFamily="34" charset="-120"/>
              </a:rPr>
              <a:t>Confirmé uniquement par biopsie.</a:t>
            </a:r>
            <a:endParaRPr lang="fr-FR" sz="1710" noProof="0" dirty="0"/>
          </a:p>
        </p:txBody>
      </p:sp>
      <p:sp>
        <p:nvSpPr>
          <p:cNvPr id="12" name="Shape 10"/>
          <p:cNvSpPr/>
          <p:nvPr/>
        </p:nvSpPr>
        <p:spPr>
          <a:xfrm>
            <a:off x="566928" y="5340096"/>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13" name="Text 11"/>
          <p:cNvSpPr txBox="1"/>
          <p:nvPr/>
        </p:nvSpPr>
        <p:spPr>
          <a:xfrm>
            <a:off x="841248" y="5394960"/>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Dis-le ainsi :  </a:t>
            </a:r>
            <a:r>
              <a:rPr lang="fr-FR" sz="1800" noProof="0" dirty="0">
                <a:solidFill>
                  <a:srgbClr val="23303F"/>
                </a:solidFill>
                <a:latin typeface="Calibri" pitchFamily="34" charset="0"/>
                <a:ea typeface="Calibri" pitchFamily="34" charset="-122"/>
                <a:cs typeface="Calibri" pitchFamily="34" charset="-120"/>
              </a:rPr>
              <a:t>le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n'est pas un cancer. C'est un changement qui pourrait devenir un cancer à l'avenir. Le traiter maintenant prévient le cancer.</a:t>
            </a:r>
            <a:endParaRPr lang="fr-FR" sz="1800" noProof="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ÉPIDÉMIOLOGIE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noProof="0" dirty="0">
                <a:solidFill>
                  <a:srgbClr val="10305A"/>
                </a:solidFill>
                <a:latin typeface="Cambria" pitchFamily="34" charset="0"/>
                <a:ea typeface="Cambria" pitchFamily="34" charset="-122"/>
                <a:cs typeface="Cambria" pitchFamily="34" charset="-120"/>
              </a:rPr>
              <a:t>Le </a:t>
            </a:r>
            <a:r>
              <a:rPr lang="fr-FR" sz="3200" b="1" dirty="0">
                <a:solidFill>
                  <a:srgbClr val="10305A"/>
                </a:solidFill>
                <a:latin typeface="Cambria" pitchFamily="34" charset="0"/>
                <a:ea typeface="Cambria" pitchFamily="34" charset="-122"/>
                <a:cs typeface="Cambria" pitchFamily="34" charset="-120"/>
              </a:rPr>
              <a:t>fardeau épidémiologique</a:t>
            </a:r>
            <a:r>
              <a:rPr lang="fr-FR" sz="3200" b="1" noProof="0" dirty="0">
                <a:solidFill>
                  <a:srgbClr val="10305A"/>
                </a:solidFill>
                <a:latin typeface="Cambria" pitchFamily="34" charset="0"/>
                <a:ea typeface="Cambria" pitchFamily="34" charset="-122"/>
                <a:cs typeface="Cambria" pitchFamily="34" charset="-120"/>
              </a:rPr>
              <a:t> mondial</a:t>
            </a:r>
            <a:endParaRPr lang="fr-FR"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Le cancer du col de l'utérus reste l'un des cancers les plus courants touchant les femmes dans le monde entier.</a:t>
            </a:r>
            <a:endParaRPr lang="fr-FR" sz="1800" noProof="0" dirty="0"/>
          </a:p>
        </p:txBody>
      </p:sp>
      <p:sp>
        <p:nvSpPr>
          <p:cNvPr id="7" name="Shape 5"/>
          <p:cNvSpPr/>
          <p:nvPr/>
        </p:nvSpPr>
        <p:spPr>
          <a:xfrm>
            <a:off x="566928" y="2148839"/>
            <a:ext cx="2626614" cy="2228991"/>
          </a:xfrm>
          <a:prstGeom prst="roundRect">
            <a:avLst>
              <a:gd name="adj" fmla="val 4091"/>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792797" y="2432187"/>
            <a:ext cx="2151126" cy="658368"/>
          </a:xfrm>
          <a:prstGeom prst="rect">
            <a:avLst/>
          </a:prstGeom>
          <a:noFill/>
          <a:ln/>
        </p:spPr>
        <p:txBody>
          <a:bodyPr wrap="square" lIns="0" tIns="0" rIns="0" bIns="0" rtlCol="0" anchor="ctr"/>
          <a:lstStyle/>
          <a:p>
            <a:pPr marL="0" indent="0">
              <a:buNone/>
            </a:pPr>
            <a:r>
              <a:rPr lang="fr-FR" sz="3000" b="1" noProof="0" dirty="0">
                <a:solidFill>
                  <a:srgbClr val="10305A"/>
                </a:solidFill>
                <a:latin typeface="Cambria" pitchFamily="34" charset="0"/>
                <a:ea typeface="Cambria" pitchFamily="34" charset="-122"/>
                <a:cs typeface="Cambria" pitchFamily="34" charset="-120"/>
              </a:rPr>
              <a:t>660,000</a:t>
            </a:r>
            <a:endParaRPr lang="fr-FR" sz="3000" noProof="0" dirty="0"/>
          </a:p>
        </p:txBody>
      </p:sp>
      <p:sp>
        <p:nvSpPr>
          <p:cNvPr id="9" name="Text 7"/>
          <p:cNvSpPr txBox="1"/>
          <p:nvPr/>
        </p:nvSpPr>
        <p:spPr>
          <a:xfrm>
            <a:off x="792797" y="3127131"/>
            <a:ext cx="2151126" cy="987552"/>
          </a:xfrm>
          <a:prstGeom prst="rect">
            <a:avLst/>
          </a:prstGeom>
          <a:noFill/>
          <a:ln/>
        </p:spPr>
        <p:txBody>
          <a:bodyPr wrap="square" lIns="0" tIns="0" rIns="0" bIns="0" rtlCol="0" anchor="t"/>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Nouveaux cas estimés dans le monde</a:t>
            </a:r>
            <a:endParaRPr lang="fr-FR" sz="1800" noProof="0" dirty="0"/>
          </a:p>
        </p:txBody>
      </p:sp>
      <p:sp>
        <p:nvSpPr>
          <p:cNvPr id="10" name="Shape 8"/>
          <p:cNvSpPr/>
          <p:nvPr/>
        </p:nvSpPr>
        <p:spPr>
          <a:xfrm>
            <a:off x="3376422" y="2148839"/>
            <a:ext cx="2626614" cy="2228991"/>
          </a:xfrm>
          <a:prstGeom prst="roundRect">
            <a:avLst>
              <a:gd name="adj" fmla="val 4091"/>
            </a:avLst>
          </a:prstGeom>
          <a:solidFill>
            <a:srgbClr val="F3F6FB"/>
          </a:solidFill>
          <a:ln w="12700">
            <a:solidFill>
              <a:srgbClr val="E0E3EA"/>
            </a:solidFill>
            <a:prstDash val="solid"/>
          </a:ln>
        </p:spPr>
        <p:txBody>
          <a:bodyPr/>
          <a:lstStyle/>
          <a:p>
            <a:endParaRPr lang="fr-FR" noProof="0" dirty="0"/>
          </a:p>
        </p:txBody>
      </p:sp>
      <p:sp>
        <p:nvSpPr>
          <p:cNvPr id="11" name="Text 9"/>
          <p:cNvSpPr txBox="1"/>
          <p:nvPr/>
        </p:nvSpPr>
        <p:spPr>
          <a:xfrm>
            <a:off x="3602291" y="2432187"/>
            <a:ext cx="2151126" cy="658368"/>
          </a:xfrm>
          <a:prstGeom prst="rect">
            <a:avLst/>
          </a:prstGeom>
          <a:noFill/>
          <a:ln/>
        </p:spPr>
        <p:txBody>
          <a:bodyPr wrap="square" lIns="0" tIns="0" rIns="0" bIns="0" rtlCol="0" anchor="ctr"/>
          <a:lstStyle/>
          <a:p>
            <a:pPr marL="0" indent="0">
              <a:buNone/>
            </a:pPr>
            <a:r>
              <a:rPr lang="fr-FR" sz="3000" b="1" noProof="0" dirty="0">
                <a:solidFill>
                  <a:srgbClr val="10305A"/>
                </a:solidFill>
                <a:latin typeface="Cambria" pitchFamily="34" charset="0"/>
                <a:ea typeface="Cambria" pitchFamily="34" charset="-122"/>
                <a:cs typeface="Cambria" pitchFamily="34" charset="-120"/>
              </a:rPr>
              <a:t>350,000</a:t>
            </a:r>
            <a:endParaRPr lang="fr-FR" sz="3000" noProof="0" dirty="0"/>
          </a:p>
        </p:txBody>
      </p:sp>
      <p:sp>
        <p:nvSpPr>
          <p:cNvPr id="12" name="Text 10"/>
          <p:cNvSpPr txBox="1"/>
          <p:nvPr/>
        </p:nvSpPr>
        <p:spPr>
          <a:xfrm>
            <a:off x="3602291" y="3127131"/>
            <a:ext cx="2151126" cy="987552"/>
          </a:xfrm>
          <a:prstGeom prst="rect">
            <a:avLst/>
          </a:prstGeom>
          <a:noFill/>
          <a:ln/>
        </p:spPr>
        <p:txBody>
          <a:bodyPr wrap="square" lIns="0" tIns="0" rIns="0" bIns="0" rtlCol="0" anchor="t"/>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Décès estimés dans le monde</a:t>
            </a:r>
            <a:endParaRPr lang="fr-FR" sz="1800" noProof="0" dirty="0"/>
          </a:p>
        </p:txBody>
      </p:sp>
      <p:sp>
        <p:nvSpPr>
          <p:cNvPr id="13" name="Shape 11"/>
          <p:cNvSpPr/>
          <p:nvPr/>
        </p:nvSpPr>
        <p:spPr>
          <a:xfrm>
            <a:off x="6185916" y="2148839"/>
            <a:ext cx="2626614" cy="2228991"/>
          </a:xfrm>
          <a:prstGeom prst="roundRect">
            <a:avLst>
              <a:gd name="adj" fmla="val 4091"/>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6423660" y="2313432"/>
            <a:ext cx="2151126" cy="658368"/>
          </a:xfrm>
          <a:prstGeom prst="rect">
            <a:avLst/>
          </a:prstGeom>
          <a:noFill/>
          <a:ln/>
        </p:spPr>
        <p:txBody>
          <a:bodyPr wrap="square" lIns="0" tIns="0" rIns="0" bIns="0" rtlCol="0" anchor="ctr"/>
          <a:lstStyle/>
          <a:p>
            <a:pPr marL="0" indent="0">
              <a:buNone/>
            </a:pPr>
            <a:r>
              <a:rPr lang="fr-FR" sz="3400" b="1" noProof="0" dirty="0">
                <a:solidFill>
                  <a:srgbClr val="10305A"/>
                </a:solidFill>
                <a:latin typeface="Cambria" pitchFamily="34" charset="0"/>
                <a:ea typeface="Cambria" pitchFamily="34" charset="-122"/>
                <a:cs typeface="Cambria" pitchFamily="34" charset="-120"/>
              </a:rPr>
              <a:t>5e</a:t>
            </a:r>
            <a:endParaRPr lang="fr-FR" sz="3400" noProof="0" dirty="0"/>
          </a:p>
        </p:txBody>
      </p:sp>
      <p:sp>
        <p:nvSpPr>
          <p:cNvPr id="15" name="Text 13"/>
          <p:cNvSpPr txBox="1"/>
          <p:nvPr/>
        </p:nvSpPr>
        <p:spPr>
          <a:xfrm>
            <a:off x="6423660" y="3008376"/>
            <a:ext cx="2151126" cy="987552"/>
          </a:xfrm>
          <a:prstGeom prst="rect">
            <a:avLst/>
          </a:prstGeom>
          <a:noFill/>
          <a:ln/>
        </p:spPr>
        <p:txBody>
          <a:bodyPr wrap="square" lIns="0" tIns="0" rIns="0" bIns="0" rtlCol="0" anchor="t"/>
          <a:lstStyle/>
          <a:p>
            <a:pPr>
              <a:lnSpc>
                <a:spcPct val="104000"/>
              </a:lnSpc>
            </a:pPr>
            <a:r>
              <a:rPr lang="fr-FR" sz="1800" noProof="0" dirty="0">
                <a:solidFill>
                  <a:srgbClr val="23303F"/>
                </a:solidFill>
                <a:latin typeface="Calibri" pitchFamily="34" charset="0"/>
                <a:ea typeface="Calibri" pitchFamily="34" charset="-122"/>
                <a:cs typeface="Calibri" pitchFamily="34" charset="-120"/>
              </a:rPr>
              <a:t>cancer le plus fréquemment diagnostiqué chez les femmes*</a:t>
            </a:r>
          </a:p>
        </p:txBody>
      </p:sp>
      <p:sp>
        <p:nvSpPr>
          <p:cNvPr id="16" name="Shape 14"/>
          <p:cNvSpPr/>
          <p:nvPr/>
        </p:nvSpPr>
        <p:spPr>
          <a:xfrm>
            <a:off x="8995410" y="2148839"/>
            <a:ext cx="2626614" cy="2228991"/>
          </a:xfrm>
          <a:prstGeom prst="roundRect">
            <a:avLst>
              <a:gd name="adj" fmla="val 4091"/>
            </a:avLst>
          </a:prstGeom>
          <a:solidFill>
            <a:srgbClr val="F3F6FB"/>
          </a:solidFill>
          <a:ln w="12700">
            <a:solidFill>
              <a:srgbClr val="E0E3EA"/>
            </a:solidFill>
            <a:prstDash val="solid"/>
          </a:ln>
        </p:spPr>
        <p:txBody>
          <a:bodyPr/>
          <a:lstStyle/>
          <a:p>
            <a:endParaRPr lang="fr-FR" noProof="0" dirty="0"/>
          </a:p>
        </p:txBody>
      </p:sp>
      <p:sp>
        <p:nvSpPr>
          <p:cNvPr id="17" name="Text 15"/>
          <p:cNvSpPr txBox="1"/>
          <p:nvPr/>
        </p:nvSpPr>
        <p:spPr>
          <a:xfrm>
            <a:off x="9233154" y="2313432"/>
            <a:ext cx="2151126" cy="658368"/>
          </a:xfrm>
          <a:prstGeom prst="rect">
            <a:avLst/>
          </a:prstGeom>
          <a:noFill/>
          <a:ln/>
        </p:spPr>
        <p:txBody>
          <a:bodyPr wrap="square" lIns="0" tIns="0" rIns="0" bIns="0" rtlCol="0" anchor="ctr"/>
          <a:lstStyle/>
          <a:p>
            <a:pPr marL="0" indent="0">
              <a:buNone/>
            </a:pPr>
            <a:r>
              <a:rPr lang="fr-FR" sz="3400" b="1" noProof="0" dirty="0">
                <a:solidFill>
                  <a:srgbClr val="10305A"/>
                </a:solidFill>
                <a:latin typeface="Cambria" pitchFamily="34" charset="0"/>
                <a:ea typeface="Cambria" pitchFamily="34" charset="-122"/>
                <a:cs typeface="Cambria" pitchFamily="34" charset="-120"/>
              </a:rPr>
              <a:t>2e</a:t>
            </a:r>
            <a:endParaRPr lang="fr-FR" sz="3400" noProof="0" dirty="0"/>
          </a:p>
        </p:txBody>
      </p:sp>
      <p:sp>
        <p:nvSpPr>
          <p:cNvPr id="18" name="Text 16"/>
          <p:cNvSpPr txBox="1"/>
          <p:nvPr/>
        </p:nvSpPr>
        <p:spPr>
          <a:xfrm>
            <a:off x="9233154" y="3008376"/>
            <a:ext cx="2151126" cy="987552"/>
          </a:xfrm>
          <a:prstGeom prst="rect">
            <a:avLst/>
          </a:prstGeom>
          <a:noFill/>
          <a:ln/>
        </p:spPr>
        <p:txBody>
          <a:bodyPr wrap="square" lIns="0" tIns="0" rIns="0" bIns="0" rtlCol="0" anchor="t"/>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cancer le plus fréquemment diagnostiqué chez les femmes africaines</a:t>
            </a:r>
            <a:endParaRPr lang="fr-FR" sz="1800" noProof="0" dirty="0"/>
          </a:p>
        </p:txBody>
      </p:sp>
      <p:sp>
        <p:nvSpPr>
          <p:cNvPr id="19" name="Text 17"/>
          <p:cNvSpPr txBox="1"/>
          <p:nvPr/>
        </p:nvSpPr>
        <p:spPr>
          <a:xfrm>
            <a:off x="550403" y="5566270"/>
            <a:ext cx="11055096" cy="457200"/>
          </a:xfrm>
          <a:prstGeom prst="rect">
            <a:avLst/>
          </a:prstGeom>
          <a:noFill/>
          <a:ln/>
        </p:spPr>
        <p:txBody>
          <a:bodyPr wrap="square" lIns="0" tIns="0" rIns="0" bIns="0" rtlCol="0" anchor="t">
            <a:noAutofit/>
          </a:bodyPr>
          <a:lstStyle/>
          <a:p>
            <a:pPr marL="0" indent="0">
              <a:buNone/>
            </a:pPr>
            <a:r>
              <a:rPr lang="fr-FR" sz="1316" noProof="0" dirty="0">
                <a:solidFill>
                  <a:srgbClr val="6A727F"/>
                </a:solidFill>
                <a:latin typeface="Calibri" pitchFamily="34" charset="0"/>
                <a:ea typeface="Calibri" pitchFamily="34" charset="-122"/>
                <a:cs typeface="Calibri" pitchFamily="34" charset="-120"/>
              </a:rPr>
              <a:t>Population : monde, femmes, tous âges. Année : estimations 2024. Source : IARC Global Cancer </a:t>
            </a:r>
            <a:r>
              <a:rPr lang="fr-FR" sz="1316" noProof="0" dirty="0" err="1">
                <a:solidFill>
                  <a:srgbClr val="6A727F"/>
                </a:solidFill>
                <a:latin typeface="Calibri" pitchFamily="34" charset="0"/>
                <a:ea typeface="Calibri" pitchFamily="34" charset="-122"/>
                <a:cs typeface="Calibri" pitchFamily="34" charset="-120"/>
              </a:rPr>
              <a:t>Observatory</a:t>
            </a:r>
            <a:r>
              <a:rPr lang="fr-FR" sz="1316" noProof="0" dirty="0">
                <a:solidFill>
                  <a:srgbClr val="6A727F"/>
                </a:solidFill>
                <a:latin typeface="Calibri" pitchFamily="34" charset="0"/>
                <a:ea typeface="Calibri" pitchFamily="34" charset="-122"/>
                <a:cs typeface="Calibri" pitchFamily="34" charset="-120"/>
              </a:rPr>
              <a:t>, GLOBOCAN 2024. Ce sont des estimations modélisées, et non des décomptes confirmés par le registre.</a:t>
            </a:r>
            <a:endParaRPr lang="fr-FR" sz="1316" noProof="0" dirty="0"/>
          </a:p>
        </p:txBody>
      </p:sp>
      <p:sp>
        <p:nvSpPr>
          <p:cNvPr id="20" name="Shape 18"/>
          <p:cNvSpPr/>
          <p:nvPr/>
        </p:nvSpPr>
        <p:spPr>
          <a:xfrm>
            <a:off x="550403" y="4648934"/>
            <a:ext cx="11055096" cy="786384"/>
          </a:xfrm>
          <a:prstGeom prst="roundRect">
            <a:avLst>
              <a:gd name="adj" fmla="val 8140"/>
            </a:avLst>
          </a:prstGeom>
          <a:solidFill>
            <a:srgbClr val="ECF3FD"/>
          </a:solidFill>
          <a:ln w="12700">
            <a:solidFill>
              <a:srgbClr val="E0E3EA"/>
            </a:solidFill>
            <a:prstDash val="solid"/>
          </a:ln>
        </p:spPr>
        <p:txBody>
          <a:bodyPr/>
          <a:lstStyle/>
          <a:p>
            <a:endParaRPr lang="fr-FR" noProof="0" dirty="0"/>
          </a:p>
        </p:txBody>
      </p:sp>
      <p:sp>
        <p:nvSpPr>
          <p:cNvPr id="21" name="Text 19"/>
          <p:cNvSpPr txBox="1"/>
          <p:nvPr/>
        </p:nvSpPr>
        <p:spPr>
          <a:xfrm>
            <a:off x="824723" y="4703798"/>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0305A"/>
                </a:solidFill>
                <a:latin typeface="Calibri" pitchFamily="34" charset="0"/>
                <a:ea typeface="Calibri" pitchFamily="34" charset="-122"/>
                <a:cs typeface="Calibri" pitchFamily="34" charset="-120"/>
              </a:rPr>
              <a:t>🔎 Ce que cela montre :  </a:t>
            </a:r>
            <a:r>
              <a:rPr lang="fr-FR" sz="1800" noProof="0" dirty="0">
                <a:solidFill>
                  <a:srgbClr val="23303F"/>
                </a:solidFill>
                <a:latin typeface="Calibri" pitchFamily="34" charset="0"/>
                <a:ea typeface="Calibri" pitchFamily="34" charset="-122"/>
                <a:cs typeface="Calibri" pitchFamily="34" charset="-120"/>
              </a:rPr>
              <a:t>La charge incombe principalement aux pays ayant un accès limité à la vaccination, au dépistage et au traitement.</a:t>
            </a:r>
            <a:endParaRPr lang="fr-FR" sz="1800" noProof="0" dirty="0"/>
          </a:p>
        </p:txBody>
      </p:sp>
      <p:sp>
        <p:nvSpPr>
          <p:cNvPr id="22" name="CuadroTexto 21">
            <a:extLst>
              <a:ext uri="{FF2B5EF4-FFF2-40B4-BE49-F238E27FC236}">
                <a16:creationId xmlns:a16="http://schemas.microsoft.com/office/drawing/2014/main" id="{6DAD3368-0F11-279F-49BA-2CA230D0B26B}"/>
              </a:ext>
            </a:extLst>
          </p:cNvPr>
          <p:cNvSpPr txBox="1"/>
          <p:nvPr/>
        </p:nvSpPr>
        <p:spPr>
          <a:xfrm>
            <a:off x="550403" y="6016526"/>
            <a:ext cx="6178294" cy="338554"/>
          </a:xfrm>
          <a:prstGeom prst="rect">
            <a:avLst/>
          </a:prstGeom>
          <a:noFill/>
        </p:spPr>
        <p:txBody>
          <a:bodyPr wrap="none" rtlCol="0">
            <a:spAutoFit/>
          </a:bodyPr>
          <a:lstStyle/>
          <a:p>
            <a:r>
              <a:rPr lang="fr-FR" sz="1600" i="1" noProof="0" dirty="0">
                <a:solidFill>
                  <a:schemeClr val="accent1">
                    <a:lumMod val="50000"/>
                  </a:schemeClr>
                </a:solidFill>
                <a:latin typeface="Calibri" pitchFamily="34" charset="0"/>
                <a:ea typeface="Calibri" pitchFamily="34" charset="-122"/>
                <a:cs typeface="Calibri" pitchFamily="34" charset="-120"/>
              </a:rPr>
              <a:t>* Après les cancers du sein, du poumon, du colorectal et du corps utérin</a:t>
            </a:r>
            <a:endParaRPr lang="fr-FR" sz="1600" i="1" noProof="0" dirty="0">
              <a:solidFill>
                <a:schemeClr val="accent1">
                  <a:lumMod val="50000"/>
                </a:schemeClr>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ÉPIDÉMIOLOGIE</a:t>
            </a:r>
            <a:endParaRPr lang="fr-FR" sz="1200" noProof="0" dirty="0"/>
          </a:p>
        </p:txBody>
      </p:sp>
      <p:sp>
        <p:nvSpPr>
          <p:cNvPr id="5" name="Text 3"/>
          <p:cNvSpPr txBox="1"/>
          <p:nvPr/>
        </p:nvSpPr>
        <p:spPr>
          <a:xfrm>
            <a:off x="566928" y="424928"/>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 Rwanda comparé à la région</a:t>
            </a:r>
            <a:endParaRPr lang="fr-FR" sz="3200" noProof="0" dirty="0"/>
          </a:p>
        </p:txBody>
      </p:sp>
      <p:graphicFrame>
        <p:nvGraphicFramePr>
          <p:cNvPr id="6" name="Chart 0" descr="Chart"/>
          <p:cNvGraphicFramePr/>
          <p:nvPr>
            <p:extLst>
              <p:ext uri="{D42A27DB-BD31-4B8C-83A1-F6EECF244321}">
                <p14:modId xmlns:p14="http://schemas.microsoft.com/office/powerpoint/2010/main" val="2067682373"/>
              </p:ext>
            </p:extLst>
          </p:nvPr>
        </p:nvGraphicFramePr>
        <p:xfrm>
          <a:off x="566928" y="1266715"/>
          <a:ext cx="66751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52360" y="3108956"/>
            <a:ext cx="4169664" cy="2088591"/>
          </a:xfrm>
          <a:prstGeom prst="roundRect">
            <a:avLst>
              <a:gd name="adj" fmla="val 2093"/>
            </a:avLst>
          </a:prstGeom>
          <a:solidFill>
            <a:srgbClr val="F3F6FB"/>
          </a:solidFill>
          <a:ln w="12700">
            <a:solidFill>
              <a:srgbClr val="E0E3EA"/>
            </a:solidFill>
            <a:prstDash val="solid"/>
          </a:ln>
        </p:spPr>
        <p:txBody>
          <a:bodyPr/>
          <a:lstStyle/>
          <a:p>
            <a:endParaRPr lang="fr-FR" sz="1400" noProof="0" dirty="0"/>
          </a:p>
        </p:txBody>
      </p:sp>
      <p:sp>
        <p:nvSpPr>
          <p:cNvPr id="8" name="Text 5"/>
          <p:cNvSpPr txBox="1"/>
          <p:nvPr/>
        </p:nvSpPr>
        <p:spPr>
          <a:xfrm>
            <a:off x="7690104" y="3273548"/>
            <a:ext cx="3694176" cy="402336"/>
          </a:xfrm>
          <a:prstGeom prst="rect">
            <a:avLst/>
          </a:prstGeom>
          <a:noFill/>
          <a:ln/>
        </p:spPr>
        <p:txBody>
          <a:bodyPr wrap="square" lIns="0" tIns="0" rIns="0" bIns="0" rtlCol="0" anchor="ctr">
            <a:noAutofit/>
          </a:bodyPr>
          <a:lstStyle/>
          <a:p>
            <a:pPr marL="0" indent="0">
              <a:buNone/>
            </a:pPr>
            <a:r>
              <a:rPr lang="fr-FR" sz="1400" b="1" noProof="0" dirty="0">
                <a:solidFill>
                  <a:srgbClr val="31507B"/>
                </a:solidFill>
                <a:latin typeface="Calibri" pitchFamily="34" charset="0"/>
                <a:ea typeface="Calibri" pitchFamily="34" charset="-122"/>
                <a:cs typeface="Calibri" pitchFamily="34" charset="-120"/>
              </a:rPr>
              <a:t>Population : </a:t>
            </a:r>
            <a:r>
              <a:rPr lang="fr-FR" sz="1400" noProof="0" dirty="0">
                <a:solidFill>
                  <a:srgbClr val="23303F"/>
                </a:solidFill>
                <a:latin typeface="Calibri" pitchFamily="34" charset="0"/>
                <a:ea typeface="Calibri" pitchFamily="34" charset="-122"/>
                <a:cs typeface="Calibri" pitchFamily="34" charset="-120"/>
              </a:rPr>
              <a:t>Femmes, tous âges</a:t>
            </a:r>
            <a:endParaRPr lang="fr-FR" sz="1400" noProof="0" dirty="0"/>
          </a:p>
        </p:txBody>
      </p:sp>
      <p:sp>
        <p:nvSpPr>
          <p:cNvPr id="9" name="Text 6"/>
          <p:cNvSpPr txBox="1"/>
          <p:nvPr/>
        </p:nvSpPr>
        <p:spPr>
          <a:xfrm>
            <a:off x="7690104" y="3694172"/>
            <a:ext cx="3694176" cy="402336"/>
          </a:xfrm>
          <a:prstGeom prst="rect">
            <a:avLst/>
          </a:prstGeom>
          <a:noFill/>
          <a:ln/>
        </p:spPr>
        <p:txBody>
          <a:bodyPr wrap="square" lIns="0" tIns="0" rIns="0" bIns="0" rtlCol="0" anchor="ctr">
            <a:noAutofit/>
          </a:bodyPr>
          <a:lstStyle/>
          <a:p>
            <a:pPr marL="0" indent="0">
              <a:buNone/>
            </a:pPr>
            <a:r>
              <a:rPr lang="fr-FR" sz="1400" b="1" noProof="0" dirty="0">
                <a:solidFill>
                  <a:srgbClr val="31507B"/>
                </a:solidFill>
                <a:latin typeface="Calibri" pitchFamily="34" charset="0"/>
                <a:ea typeface="Calibri" pitchFamily="34" charset="-122"/>
                <a:cs typeface="Calibri" pitchFamily="34" charset="-120"/>
              </a:rPr>
              <a:t>Année : </a:t>
            </a:r>
            <a:r>
              <a:rPr lang="fr-FR" sz="1400" noProof="0" dirty="0">
                <a:solidFill>
                  <a:srgbClr val="23303F"/>
                </a:solidFill>
                <a:latin typeface="Calibri" pitchFamily="34" charset="0"/>
                <a:ea typeface="Calibri" pitchFamily="34" charset="-122"/>
                <a:cs typeface="Calibri" pitchFamily="34" charset="-120"/>
              </a:rPr>
              <a:t>estimations 2024</a:t>
            </a:r>
            <a:endParaRPr lang="fr-FR" sz="1400" noProof="0" dirty="0"/>
          </a:p>
        </p:txBody>
      </p:sp>
      <p:sp>
        <p:nvSpPr>
          <p:cNvPr id="10" name="Text 7"/>
          <p:cNvSpPr txBox="1"/>
          <p:nvPr/>
        </p:nvSpPr>
        <p:spPr>
          <a:xfrm>
            <a:off x="7690104" y="4114796"/>
            <a:ext cx="3694176" cy="402336"/>
          </a:xfrm>
          <a:prstGeom prst="rect">
            <a:avLst/>
          </a:prstGeom>
          <a:noFill/>
          <a:ln/>
        </p:spPr>
        <p:txBody>
          <a:bodyPr wrap="square" lIns="0" tIns="0" rIns="0" bIns="0" rtlCol="0" anchor="ctr">
            <a:noAutofit/>
          </a:bodyPr>
          <a:lstStyle/>
          <a:p>
            <a:pPr marL="0" indent="0">
              <a:buNone/>
            </a:pPr>
            <a:r>
              <a:rPr lang="fr-FR" sz="1400" b="1" noProof="0" dirty="0">
                <a:solidFill>
                  <a:srgbClr val="31507B"/>
                </a:solidFill>
                <a:latin typeface="Calibri" pitchFamily="34" charset="0"/>
                <a:ea typeface="Calibri" pitchFamily="34" charset="-122"/>
                <a:cs typeface="Calibri" pitchFamily="34" charset="-120"/>
              </a:rPr>
              <a:t>Mesure : </a:t>
            </a:r>
            <a:r>
              <a:rPr lang="fr-FR" sz="1400" dirty="0">
                <a:solidFill>
                  <a:srgbClr val="23303F"/>
                </a:solidFill>
                <a:latin typeface="Calibri" pitchFamily="34" charset="0"/>
                <a:cs typeface="Calibri" pitchFamily="34" charset="-120"/>
              </a:rPr>
              <a:t>taux d'incidence standardisé selon l'âge pour 100 000 femmes</a:t>
            </a:r>
          </a:p>
        </p:txBody>
      </p:sp>
      <p:sp>
        <p:nvSpPr>
          <p:cNvPr id="11" name="Text 8"/>
          <p:cNvSpPr txBox="1"/>
          <p:nvPr/>
        </p:nvSpPr>
        <p:spPr>
          <a:xfrm>
            <a:off x="7690104" y="4631161"/>
            <a:ext cx="3694176" cy="402336"/>
          </a:xfrm>
          <a:prstGeom prst="rect">
            <a:avLst/>
          </a:prstGeom>
          <a:noFill/>
          <a:ln/>
        </p:spPr>
        <p:txBody>
          <a:bodyPr wrap="square" lIns="0" tIns="0" rIns="0" bIns="0" rtlCol="0" anchor="ctr">
            <a:noAutofit/>
          </a:bodyPr>
          <a:lstStyle/>
          <a:p>
            <a:pPr marL="0" indent="0">
              <a:buNone/>
            </a:pPr>
            <a:r>
              <a:rPr lang="fr-FR" sz="1400" b="1" noProof="0" dirty="0">
                <a:solidFill>
                  <a:srgbClr val="31507B"/>
                </a:solidFill>
                <a:latin typeface="Calibri" pitchFamily="34" charset="0"/>
                <a:ea typeface="Calibri" pitchFamily="34" charset="-122"/>
                <a:cs typeface="Calibri" pitchFamily="34" charset="-120"/>
              </a:rPr>
              <a:t>Source : </a:t>
            </a:r>
            <a:r>
              <a:rPr lang="fr-FR" sz="1400" noProof="0" dirty="0">
                <a:solidFill>
                  <a:srgbClr val="23303F"/>
                </a:solidFill>
                <a:latin typeface="Calibri" pitchFamily="34" charset="0"/>
                <a:ea typeface="Calibri" pitchFamily="34" charset="-122"/>
                <a:cs typeface="Calibri" pitchFamily="34" charset="-120"/>
              </a:rPr>
              <a:t>IARC Global Cancer </a:t>
            </a:r>
            <a:r>
              <a:rPr lang="fr-FR" sz="1400" noProof="0" dirty="0" err="1">
                <a:solidFill>
                  <a:srgbClr val="23303F"/>
                </a:solidFill>
                <a:latin typeface="Calibri" pitchFamily="34" charset="0"/>
                <a:ea typeface="Calibri" pitchFamily="34" charset="-122"/>
                <a:cs typeface="Calibri" pitchFamily="34" charset="-120"/>
              </a:rPr>
              <a:t>Observatory</a:t>
            </a:r>
            <a:r>
              <a:rPr lang="fr-FR" sz="1400" noProof="0" dirty="0">
                <a:solidFill>
                  <a:srgbClr val="23303F"/>
                </a:solidFill>
                <a:latin typeface="Calibri" pitchFamily="34" charset="0"/>
                <a:ea typeface="Calibri" pitchFamily="34" charset="-122"/>
                <a:cs typeface="Calibri" pitchFamily="34" charset="-120"/>
              </a:rPr>
              <a:t>, GLOBOCAN 2024</a:t>
            </a:r>
            <a:endParaRPr lang="fr-FR" sz="1400" noProof="0" dirty="0"/>
          </a:p>
        </p:txBody>
      </p:sp>
      <p:sp>
        <p:nvSpPr>
          <p:cNvPr id="13" name="Shape 14">
            <a:extLst>
              <a:ext uri="{FF2B5EF4-FFF2-40B4-BE49-F238E27FC236}">
                <a16:creationId xmlns:a16="http://schemas.microsoft.com/office/drawing/2014/main" id="{DE167E2F-F2A8-644B-5D86-E58483CEEBA6}"/>
              </a:ext>
            </a:extLst>
          </p:cNvPr>
          <p:cNvSpPr/>
          <p:nvPr/>
        </p:nvSpPr>
        <p:spPr>
          <a:xfrm>
            <a:off x="568452" y="5426693"/>
            <a:ext cx="11055096" cy="786384"/>
          </a:xfrm>
          <a:prstGeom prst="roundRect">
            <a:avLst>
              <a:gd name="adj" fmla="val 8140"/>
            </a:avLst>
          </a:prstGeom>
          <a:solidFill>
            <a:srgbClr val="FFF2DF"/>
          </a:solidFill>
          <a:ln w="12700">
            <a:solidFill>
              <a:srgbClr val="E8DDC7"/>
            </a:solidFill>
            <a:prstDash val="solid"/>
          </a:ln>
        </p:spPr>
        <p:txBody>
          <a:bodyPr/>
          <a:lstStyle/>
          <a:p>
            <a:endParaRPr lang="fr-FR" noProof="0" dirty="0"/>
          </a:p>
        </p:txBody>
      </p:sp>
      <p:sp>
        <p:nvSpPr>
          <p:cNvPr id="14" name="Text 15">
            <a:extLst>
              <a:ext uri="{FF2B5EF4-FFF2-40B4-BE49-F238E27FC236}">
                <a16:creationId xmlns:a16="http://schemas.microsoft.com/office/drawing/2014/main" id="{3E66CAF6-2204-E4F1-3848-3643814C548D}"/>
              </a:ext>
            </a:extLst>
          </p:cNvPr>
          <p:cNvSpPr txBox="1"/>
          <p:nvPr/>
        </p:nvSpPr>
        <p:spPr>
          <a:xfrm>
            <a:off x="842772" y="5481557"/>
            <a:ext cx="10506456" cy="676656"/>
          </a:xfrm>
          <a:prstGeom prst="rect">
            <a:avLst/>
          </a:prstGeom>
          <a:noFill/>
          <a:ln/>
        </p:spPr>
        <p:txBody>
          <a:bodyPr wrap="square" lIns="0" tIns="0" rIns="0" bIns="0" rtlCol="0" anchor="ctr"/>
          <a:lstStyle/>
          <a:p>
            <a:pPr>
              <a:lnSpc>
                <a:spcPct val="104000"/>
              </a:lnSpc>
            </a:pPr>
            <a:r>
              <a:rPr lang="fr-FR" sz="1800" b="1" noProof="0" dirty="0">
                <a:solidFill>
                  <a:srgbClr val="7B5727"/>
                </a:solidFill>
                <a:latin typeface="Calibri" pitchFamily="34" charset="0"/>
                <a:ea typeface="Calibri" pitchFamily="34" charset="-122"/>
                <a:cs typeface="Calibri" pitchFamily="34" charset="-120"/>
              </a:rPr>
              <a:t>🔎 Ce que cela montre : </a:t>
            </a:r>
            <a:r>
              <a:rPr lang="fr-FR" dirty="0">
                <a:solidFill>
                  <a:srgbClr val="23303F"/>
                </a:solidFill>
                <a:latin typeface="Calibri" pitchFamily="34" charset="0"/>
                <a:ea typeface="Calibri" pitchFamily="34" charset="-122"/>
                <a:cs typeface="Calibri" pitchFamily="34" charset="-120"/>
              </a:rPr>
              <a:t>Les taux sont standardisés par âge afin de comparer les populations. Le taux estimé au Rwanda est environ deux fois et demie le niveau mondial, proche de la moyenne de l'Afrique de l'Est.</a:t>
            </a:r>
            <a:endParaRPr lang="fr-FR" sz="1800" noProof="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ÉPIDÉMIOLOGIE</a:t>
            </a:r>
            <a:endParaRPr lang="fr-FR" sz="1200" noProof="0" dirty="0"/>
          </a:p>
        </p:txBody>
      </p:sp>
      <p:sp>
        <p:nvSpPr>
          <p:cNvPr id="5" name="Text 3"/>
          <p:cNvSpPr txBox="1"/>
          <p:nvPr/>
        </p:nvSpPr>
        <p:spPr>
          <a:xfrm>
            <a:off x="566928" y="37114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Là où se situe le cancer du col de l'utérus au Rwanda</a:t>
            </a:r>
            <a:endParaRPr lang="fr-FR" sz="3200" noProof="0" dirty="0"/>
          </a:p>
        </p:txBody>
      </p:sp>
      <p:graphicFrame>
        <p:nvGraphicFramePr>
          <p:cNvPr id="6" name="Chart 0" descr="Chart"/>
          <p:cNvGraphicFramePr/>
          <p:nvPr>
            <p:extLst>
              <p:ext uri="{D42A27DB-BD31-4B8C-83A1-F6EECF244321}">
                <p14:modId xmlns:p14="http://schemas.microsoft.com/office/powerpoint/2010/main" val="1672472774"/>
              </p:ext>
            </p:extLst>
          </p:nvPr>
        </p:nvGraphicFramePr>
        <p:xfrm>
          <a:off x="566928" y="1468420"/>
          <a:ext cx="66751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25376" y="3338640"/>
            <a:ext cx="4169664" cy="1995002"/>
          </a:xfrm>
          <a:prstGeom prst="roundRect">
            <a:avLst>
              <a:gd name="adj" fmla="val 2093"/>
            </a:avLst>
          </a:prstGeom>
          <a:solidFill>
            <a:srgbClr val="F3F6FB"/>
          </a:solidFill>
          <a:ln w="12700">
            <a:solidFill>
              <a:srgbClr val="E0E3EA"/>
            </a:solidFill>
            <a:prstDash val="solid"/>
          </a:ln>
        </p:spPr>
        <p:txBody>
          <a:bodyPr/>
          <a:lstStyle/>
          <a:p>
            <a:endParaRPr lang="fr-FR" sz="1400" noProof="0" dirty="0"/>
          </a:p>
        </p:txBody>
      </p:sp>
      <p:sp>
        <p:nvSpPr>
          <p:cNvPr id="8" name="Text 5"/>
          <p:cNvSpPr txBox="1"/>
          <p:nvPr/>
        </p:nvSpPr>
        <p:spPr>
          <a:xfrm>
            <a:off x="7663120" y="3503232"/>
            <a:ext cx="3694176" cy="402336"/>
          </a:xfrm>
          <a:prstGeom prst="rect">
            <a:avLst/>
          </a:prstGeom>
          <a:noFill/>
          <a:ln/>
        </p:spPr>
        <p:txBody>
          <a:bodyPr wrap="square" lIns="0" tIns="0" rIns="0" bIns="0" rtlCol="0" anchor="ctr"/>
          <a:lstStyle/>
          <a:p>
            <a:pPr marL="0" indent="0">
              <a:buNone/>
            </a:pPr>
            <a:r>
              <a:rPr lang="fr-FR" sz="1400" b="1" noProof="0" dirty="0">
                <a:solidFill>
                  <a:srgbClr val="31507B"/>
                </a:solidFill>
                <a:latin typeface="Calibri" pitchFamily="34" charset="0"/>
                <a:ea typeface="Calibri" pitchFamily="34" charset="-122"/>
                <a:cs typeface="Calibri" pitchFamily="34" charset="-120"/>
              </a:rPr>
              <a:t>Population : </a:t>
            </a:r>
            <a:r>
              <a:rPr lang="fr-FR" sz="1400" noProof="0" dirty="0">
                <a:solidFill>
                  <a:srgbClr val="23303F"/>
                </a:solidFill>
                <a:latin typeface="Calibri" pitchFamily="34" charset="0"/>
                <a:ea typeface="Calibri" pitchFamily="34" charset="-122"/>
                <a:cs typeface="Calibri" pitchFamily="34" charset="-120"/>
              </a:rPr>
              <a:t>Femmes au Rwanda, tous âges</a:t>
            </a:r>
            <a:endParaRPr lang="fr-FR" sz="1400" noProof="0" dirty="0"/>
          </a:p>
        </p:txBody>
      </p:sp>
      <p:sp>
        <p:nvSpPr>
          <p:cNvPr id="9" name="Text 6"/>
          <p:cNvSpPr txBox="1"/>
          <p:nvPr/>
        </p:nvSpPr>
        <p:spPr>
          <a:xfrm>
            <a:off x="7663120" y="3923856"/>
            <a:ext cx="3694176" cy="402336"/>
          </a:xfrm>
          <a:prstGeom prst="rect">
            <a:avLst/>
          </a:prstGeom>
          <a:noFill/>
          <a:ln/>
        </p:spPr>
        <p:txBody>
          <a:bodyPr wrap="square" lIns="0" tIns="0" rIns="0" bIns="0" rtlCol="0" anchor="ctr"/>
          <a:lstStyle/>
          <a:p>
            <a:pPr marL="0" indent="0">
              <a:buNone/>
            </a:pPr>
            <a:r>
              <a:rPr lang="fr-FR" sz="1400" b="1" noProof="0" dirty="0">
                <a:solidFill>
                  <a:srgbClr val="31507B"/>
                </a:solidFill>
                <a:latin typeface="Calibri" pitchFamily="34" charset="0"/>
                <a:ea typeface="Calibri" pitchFamily="34" charset="-122"/>
                <a:cs typeface="Calibri" pitchFamily="34" charset="-120"/>
              </a:rPr>
              <a:t>Année : </a:t>
            </a:r>
            <a:r>
              <a:rPr lang="fr-FR" sz="1400" noProof="0" dirty="0">
                <a:solidFill>
                  <a:srgbClr val="23303F"/>
                </a:solidFill>
                <a:latin typeface="Calibri" pitchFamily="34" charset="0"/>
                <a:ea typeface="Calibri" pitchFamily="34" charset="-122"/>
                <a:cs typeface="Calibri" pitchFamily="34" charset="-120"/>
              </a:rPr>
              <a:t>estimations 2024</a:t>
            </a:r>
            <a:endParaRPr lang="fr-FR" sz="1400" noProof="0" dirty="0"/>
          </a:p>
        </p:txBody>
      </p:sp>
      <p:sp>
        <p:nvSpPr>
          <p:cNvPr id="10" name="Text 7"/>
          <p:cNvSpPr txBox="1"/>
          <p:nvPr/>
        </p:nvSpPr>
        <p:spPr>
          <a:xfrm>
            <a:off x="7663120" y="4344480"/>
            <a:ext cx="3694176" cy="402336"/>
          </a:xfrm>
          <a:prstGeom prst="rect">
            <a:avLst/>
          </a:prstGeom>
          <a:noFill/>
          <a:ln/>
        </p:spPr>
        <p:txBody>
          <a:bodyPr wrap="square" lIns="0" tIns="0" rIns="0" bIns="0" rtlCol="0" anchor="ctr"/>
          <a:lstStyle/>
          <a:p>
            <a:pPr marL="0" indent="0">
              <a:buNone/>
            </a:pPr>
            <a:r>
              <a:rPr lang="fr-FR" sz="1400" b="1" noProof="0" dirty="0">
                <a:solidFill>
                  <a:srgbClr val="31507B"/>
                </a:solidFill>
                <a:latin typeface="Calibri" pitchFamily="34" charset="0"/>
                <a:ea typeface="Calibri" pitchFamily="34" charset="-122"/>
                <a:cs typeface="Calibri" pitchFamily="34" charset="-120"/>
              </a:rPr>
              <a:t>Mesure : </a:t>
            </a:r>
            <a:r>
              <a:rPr lang="fr-FR" sz="1400" noProof="0" dirty="0">
                <a:solidFill>
                  <a:srgbClr val="23303F"/>
                </a:solidFill>
                <a:latin typeface="Calibri" pitchFamily="34" charset="0"/>
                <a:ea typeface="Calibri" pitchFamily="34" charset="-122"/>
                <a:cs typeface="Calibri" pitchFamily="34" charset="-120"/>
              </a:rPr>
              <a:t>Nombre estimé de nouveaux cas</a:t>
            </a:r>
            <a:endParaRPr lang="fr-FR" sz="1400" noProof="0" dirty="0"/>
          </a:p>
        </p:txBody>
      </p:sp>
      <p:sp>
        <p:nvSpPr>
          <p:cNvPr id="11" name="Text 8"/>
          <p:cNvSpPr txBox="1"/>
          <p:nvPr/>
        </p:nvSpPr>
        <p:spPr>
          <a:xfrm>
            <a:off x="7663120" y="4765104"/>
            <a:ext cx="3694176" cy="402336"/>
          </a:xfrm>
          <a:prstGeom prst="rect">
            <a:avLst/>
          </a:prstGeom>
          <a:noFill/>
          <a:ln/>
        </p:spPr>
        <p:txBody>
          <a:bodyPr wrap="square" lIns="0" tIns="0" rIns="0" bIns="0" rtlCol="0" anchor="ctr"/>
          <a:lstStyle/>
          <a:p>
            <a:pPr marL="0" indent="0">
              <a:buNone/>
            </a:pPr>
            <a:r>
              <a:rPr lang="fr-FR" sz="1400" b="1" noProof="0" dirty="0">
                <a:solidFill>
                  <a:srgbClr val="31507B"/>
                </a:solidFill>
                <a:latin typeface="Calibri" pitchFamily="34" charset="0"/>
                <a:ea typeface="Calibri" pitchFamily="34" charset="-122"/>
                <a:cs typeface="Calibri" pitchFamily="34" charset="-120"/>
              </a:rPr>
              <a:t>Source : </a:t>
            </a:r>
            <a:r>
              <a:rPr lang="fr-FR" sz="1400" noProof="0" dirty="0">
                <a:solidFill>
                  <a:srgbClr val="23303F"/>
                </a:solidFill>
                <a:latin typeface="Calibri" pitchFamily="34" charset="0"/>
                <a:ea typeface="Calibri" pitchFamily="34" charset="-122"/>
                <a:cs typeface="Calibri" pitchFamily="34" charset="-120"/>
              </a:rPr>
              <a:t>IARC Global Cancer </a:t>
            </a:r>
            <a:r>
              <a:rPr lang="fr-FR" sz="1400" noProof="0" dirty="0" err="1">
                <a:solidFill>
                  <a:srgbClr val="23303F"/>
                </a:solidFill>
                <a:latin typeface="Calibri" pitchFamily="34" charset="0"/>
                <a:ea typeface="Calibri" pitchFamily="34" charset="-122"/>
                <a:cs typeface="Calibri" pitchFamily="34" charset="-120"/>
              </a:rPr>
              <a:t>Observatory</a:t>
            </a:r>
            <a:r>
              <a:rPr lang="fr-FR" sz="1400" noProof="0" dirty="0">
                <a:solidFill>
                  <a:srgbClr val="23303F"/>
                </a:solidFill>
                <a:latin typeface="Calibri" pitchFamily="34" charset="0"/>
                <a:ea typeface="Calibri" pitchFamily="34" charset="-122"/>
                <a:cs typeface="Calibri" pitchFamily="34" charset="-120"/>
              </a:rPr>
              <a:t>, GLOBOCAN 2024</a:t>
            </a:r>
            <a:endParaRPr lang="fr-FR" sz="1400" noProof="0" dirty="0"/>
          </a:p>
        </p:txBody>
      </p:sp>
      <p:sp>
        <p:nvSpPr>
          <p:cNvPr id="13" name="Shape 14">
            <a:extLst>
              <a:ext uri="{FF2B5EF4-FFF2-40B4-BE49-F238E27FC236}">
                <a16:creationId xmlns:a16="http://schemas.microsoft.com/office/drawing/2014/main" id="{D2E87C37-2F1A-E6E8-0135-DA20685205E8}"/>
              </a:ext>
            </a:extLst>
          </p:cNvPr>
          <p:cNvSpPr/>
          <p:nvPr/>
        </p:nvSpPr>
        <p:spPr>
          <a:xfrm>
            <a:off x="568452" y="5520822"/>
            <a:ext cx="11055096" cy="786384"/>
          </a:xfrm>
          <a:prstGeom prst="roundRect">
            <a:avLst>
              <a:gd name="adj" fmla="val 8140"/>
            </a:avLst>
          </a:prstGeom>
          <a:solidFill>
            <a:srgbClr val="FFF2DF"/>
          </a:solidFill>
          <a:ln w="12700">
            <a:solidFill>
              <a:srgbClr val="E8DDC7"/>
            </a:solidFill>
            <a:prstDash val="solid"/>
          </a:ln>
        </p:spPr>
        <p:txBody>
          <a:bodyPr/>
          <a:lstStyle/>
          <a:p>
            <a:endParaRPr lang="fr-FR" noProof="0" dirty="0"/>
          </a:p>
        </p:txBody>
      </p:sp>
      <p:sp>
        <p:nvSpPr>
          <p:cNvPr id="14" name="Text 15">
            <a:extLst>
              <a:ext uri="{FF2B5EF4-FFF2-40B4-BE49-F238E27FC236}">
                <a16:creationId xmlns:a16="http://schemas.microsoft.com/office/drawing/2014/main" id="{807E4914-48D0-AE55-9F18-C6C1B810C26D}"/>
              </a:ext>
            </a:extLst>
          </p:cNvPr>
          <p:cNvSpPr txBox="1"/>
          <p:nvPr/>
        </p:nvSpPr>
        <p:spPr>
          <a:xfrm>
            <a:off x="842772" y="5575686"/>
            <a:ext cx="10506456" cy="676656"/>
          </a:xfrm>
          <a:prstGeom prst="rect">
            <a:avLst/>
          </a:prstGeom>
          <a:noFill/>
          <a:ln/>
        </p:spPr>
        <p:txBody>
          <a:bodyPr wrap="square" lIns="0" tIns="0" rIns="0" bIns="0" rtlCol="0" anchor="ctr"/>
          <a:lstStyle/>
          <a:p>
            <a:pPr>
              <a:lnSpc>
                <a:spcPct val="104000"/>
              </a:lnSpc>
            </a:pPr>
            <a:r>
              <a:rPr lang="fr-FR" sz="1800" b="1" noProof="0" dirty="0">
                <a:solidFill>
                  <a:srgbClr val="7B5727"/>
                </a:solidFill>
                <a:latin typeface="Calibri" pitchFamily="34" charset="0"/>
                <a:ea typeface="Calibri" pitchFamily="34" charset="-122"/>
                <a:cs typeface="Calibri" pitchFamily="34" charset="-120"/>
              </a:rPr>
              <a:t>🔎 Ce que cela montre : </a:t>
            </a:r>
            <a:r>
              <a:rPr lang="fr-FR" dirty="0">
                <a:solidFill>
                  <a:srgbClr val="10305A"/>
                </a:solidFill>
                <a:latin typeface="Calibri" pitchFamily="34" charset="0"/>
                <a:ea typeface="Calibri" pitchFamily="34" charset="-122"/>
                <a:cs typeface="Calibri" pitchFamily="34" charset="-120"/>
              </a:rPr>
              <a:t>Le cancer du col de l'utérus est le deuxième cancer le plus fréquent chez les femmes au Rwanda, juste derrière le cancer du sein, et il constitue la principale cause de décès par cancer chez les femmes.</a:t>
            </a:r>
            <a:endParaRPr lang="fr-FR" sz="1800" noProof="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ÉPIDÉMIOLOGIE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noProof="0" dirty="0">
                <a:solidFill>
                  <a:srgbClr val="10305A"/>
                </a:solidFill>
                <a:latin typeface="Cambria" pitchFamily="34" charset="0"/>
                <a:ea typeface="Cambria" pitchFamily="34" charset="-122"/>
                <a:cs typeface="Cambria" pitchFamily="34" charset="-120"/>
              </a:rPr>
              <a:t>Le </a:t>
            </a:r>
            <a:r>
              <a:rPr lang="fr-FR" sz="3200" b="1" dirty="0">
                <a:solidFill>
                  <a:srgbClr val="10305A"/>
                </a:solidFill>
                <a:latin typeface="Cambria" pitchFamily="34" charset="0"/>
                <a:ea typeface="Cambria" pitchFamily="34" charset="-122"/>
                <a:cs typeface="Cambria" pitchFamily="34" charset="-120"/>
              </a:rPr>
              <a:t>fardeau épidémiologique </a:t>
            </a:r>
            <a:r>
              <a:rPr lang="fr-FR" sz="3200" b="1" noProof="0" dirty="0">
                <a:solidFill>
                  <a:srgbClr val="10305A"/>
                </a:solidFill>
                <a:latin typeface="Cambria" pitchFamily="34" charset="0"/>
                <a:ea typeface="Cambria" pitchFamily="34" charset="-122"/>
                <a:cs typeface="Cambria" pitchFamily="34" charset="-120"/>
              </a:rPr>
              <a:t>au Rwanda aujourd'hui</a:t>
            </a:r>
            <a:endParaRPr lang="fr-FR" sz="3200" noProof="0" dirty="0"/>
          </a:p>
        </p:txBody>
      </p:sp>
      <p:sp>
        <p:nvSpPr>
          <p:cNvPr id="6" name="Shape 4"/>
          <p:cNvSpPr/>
          <p:nvPr/>
        </p:nvSpPr>
        <p:spPr>
          <a:xfrm>
            <a:off x="566928" y="1719072"/>
            <a:ext cx="3563112" cy="2103120"/>
          </a:xfrm>
          <a:prstGeom prst="roundRect">
            <a:avLst>
              <a:gd name="adj" fmla="val 3913"/>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04672" y="1883664"/>
            <a:ext cx="3087624" cy="658368"/>
          </a:xfrm>
          <a:prstGeom prst="rect">
            <a:avLst/>
          </a:prstGeom>
          <a:noFill/>
          <a:ln/>
        </p:spPr>
        <p:txBody>
          <a:bodyPr wrap="square" lIns="0" tIns="0" rIns="0" bIns="0" rtlCol="0" anchor="ctr"/>
          <a:lstStyle/>
          <a:p>
            <a:pPr marL="0" indent="0">
              <a:buNone/>
            </a:pPr>
            <a:r>
              <a:rPr lang="fr-FR" sz="3400" b="1" noProof="0" dirty="0">
                <a:solidFill>
                  <a:srgbClr val="10305A"/>
                </a:solidFill>
                <a:latin typeface="Cambria" pitchFamily="34" charset="0"/>
                <a:ea typeface="Cambria" pitchFamily="34" charset="-122"/>
                <a:cs typeface="Cambria" pitchFamily="34" charset="-120"/>
              </a:rPr>
              <a:t>1,582</a:t>
            </a:r>
            <a:endParaRPr lang="fr-FR" sz="3400" noProof="0" dirty="0"/>
          </a:p>
        </p:txBody>
      </p:sp>
      <p:sp>
        <p:nvSpPr>
          <p:cNvPr id="8" name="Text 6"/>
          <p:cNvSpPr txBox="1"/>
          <p:nvPr/>
        </p:nvSpPr>
        <p:spPr>
          <a:xfrm>
            <a:off x="804672" y="2578608"/>
            <a:ext cx="3087624" cy="1078992"/>
          </a:xfrm>
          <a:prstGeom prst="rect">
            <a:avLst/>
          </a:prstGeom>
          <a:noFill/>
          <a:ln/>
        </p:spPr>
        <p:txBody>
          <a:bodyPr wrap="square" lIns="0" tIns="0" rIns="0" bIns="0" rtlCol="0" anchor="t"/>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Nombre estimé de nouveaux cas de cancer du col de l'utérus au Rwanda</a:t>
            </a:r>
            <a:endParaRPr lang="fr-FR" sz="1800" noProof="0" dirty="0"/>
          </a:p>
        </p:txBody>
      </p:sp>
      <p:sp>
        <p:nvSpPr>
          <p:cNvPr id="9" name="Shape 7"/>
          <p:cNvSpPr/>
          <p:nvPr/>
        </p:nvSpPr>
        <p:spPr>
          <a:xfrm>
            <a:off x="4312920" y="1719072"/>
            <a:ext cx="3563112" cy="2103120"/>
          </a:xfrm>
          <a:prstGeom prst="roundRect">
            <a:avLst>
              <a:gd name="adj" fmla="val 3913"/>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50664" y="1883664"/>
            <a:ext cx="3087624" cy="658368"/>
          </a:xfrm>
          <a:prstGeom prst="rect">
            <a:avLst/>
          </a:prstGeom>
          <a:noFill/>
          <a:ln/>
        </p:spPr>
        <p:txBody>
          <a:bodyPr wrap="square" lIns="0" tIns="0" rIns="0" bIns="0" rtlCol="0" anchor="ctr"/>
          <a:lstStyle/>
          <a:p>
            <a:pPr marL="0" indent="0">
              <a:buNone/>
            </a:pPr>
            <a:r>
              <a:rPr lang="fr-FR" sz="3400" b="1" noProof="0" dirty="0">
                <a:solidFill>
                  <a:srgbClr val="8E2531"/>
                </a:solidFill>
                <a:latin typeface="Cambria" pitchFamily="34" charset="0"/>
                <a:ea typeface="Cambria" pitchFamily="34" charset="-122"/>
                <a:cs typeface="Cambria" pitchFamily="34" charset="-120"/>
              </a:rPr>
              <a:t>965</a:t>
            </a:r>
            <a:endParaRPr lang="fr-FR" sz="3400" noProof="0" dirty="0"/>
          </a:p>
        </p:txBody>
      </p:sp>
      <p:sp>
        <p:nvSpPr>
          <p:cNvPr id="11" name="Text 9"/>
          <p:cNvSpPr txBox="1"/>
          <p:nvPr/>
        </p:nvSpPr>
        <p:spPr>
          <a:xfrm>
            <a:off x="4550664" y="2578608"/>
            <a:ext cx="3087624" cy="1078992"/>
          </a:xfrm>
          <a:prstGeom prst="rect">
            <a:avLst/>
          </a:prstGeom>
          <a:noFill/>
          <a:ln/>
        </p:spPr>
        <p:txBody>
          <a:bodyPr wrap="square" lIns="0" tIns="0" rIns="0" bIns="0" rtlCol="0" anchor="t"/>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Décès estimés par cancer du col de l'utérus au Rwanda</a:t>
            </a:r>
            <a:endParaRPr lang="fr-FR" sz="1800" noProof="0" dirty="0"/>
          </a:p>
        </p:txBody>
      </p:sp>
      <p:sp>
        <p:nvSpPr>
          <p:cNvPr id="12" name="Shape 10"/>
          <p:cNvSpPr/>
          <p:nvPr/>
        </p:nvSpPr>
        <p:spPr>
          <a:xfrm>
            <a:off x="8058912" y="1719072"/>
            <a:ext cx="3563112" cy="2103120"/>
          </a:xfrm>
          <a:prstGeom prst="roundRect">
            <a:avLst>
              <a:gd name="adj" fmla="val 3913"/>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296656" y="1883664"/>
            <a:ext cx="3087624" cy="658368"/>
          </a:xfrm>
          <a:prstGeom prst="rect">
            <a:avLst/>
          </a:prstGeom>
          <a:noFill/>
          <a:ln/>
        </p:spPr>
        <p:txBody>
          <a:bodyPr wrap="square" lIns="0" tIns="0" rIns="0" bIns="0" rtlCol="0" anchor="ctr"/>
          <a:lstStyle/>
          <a:p>
            <a:pPr marL="0" indent="0">
              <a:buNone/>
            </a:pPr>
            <a:r>
              <a:rPr lang="fr-FR" sz="3400" b="1" noProof="0" dirty="0">
                <a:solidFill>
                  <a:srgbClr val="10305A"/>
                </a:solidFill>
                <a:latin typeface="Cambria" pitchFamily="34" charset="0"/>
                <a:ea typeface="Cambria" pitchFamily="34" charset="-122"/>
                <a:cs typeface="Cambria" pitchFamily="34" charset="-120"/>
              </a:rPr>
              <a:t>30.6</a:t>
            </a:r>
            <a:endParaRPr lang="fr-FR" sz="3400" noProof="0" dirty="0"/>
          </a:p>
        </p:txBody>
      </p:sp>
      <p:sp>
        <p:nvSpPr>
          <p:cNvPr id="14" name="Text 12"/>
          <p:cNvSpPr txBox="1"/>
          <p:nvPr/>
        </p:nvSpPr>
        <p:spPr>
          <a:xfrm>
            <a:off x="8296656" y="2578608"/>
            <a:ext cx="3087624" cy="1078992"/>
          </a:xfrm>
          <a:prstGeom prst="rect">
            <a:avLst/>
          </a:prstGeom>
          <a:noFill/>
          <a:ln/>
        </p:spPr>
        <p:txBody>
          <a:bodyPr wrap="square" lIns="0" tIns="0" rIns="0" bIns="0" rtlCol="0" anchor="t"/>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Incidence standardisée par âge pour 100 000 femmes</a:t>
            </a:r>
            <a:endParaRPr lang="fr-FR" sz="1800" noProof="0" dirty="0"/>
          </a:p>
        </p:txBody>
      </p:sp>
      <p:sp>
        <p:nvSpPr>
          <p:cNvPr id="15" name="Text 13"/>
          <p:cNvSpPr txBox="1"/>
          <p:nvPr/>
        </p:nvSpPr>
        <p:spPr>
          <a:xfrm>
            <a:off x="566928" y="4023360"/>
            <a:ext cx="11055096" cy="548640"/>
          </a:xfrm>
          <a:prstGeom prst="rect">
            <a:avLst/>
          </a:prstGeom>
          <a:noFill/>
          <a:ln/>
        </p:spPr>
        <p:txBody>
          <a:bodyPr wrap="square" lIns="0" tIns="0" rIns="0" bIns="0" rtlCol="0" anchor="t"/>
          <a:lstStyle/>
          <a:p>
            <a:pPr marL="0" indent="0">
              <a:buNone/>
            </a:pPr>
            <a:r>
              <a:rPr lang="fr-FR" sz="1400" noProof="0" dirty="0">
                <a:solidFill>
                  <a:srgbClr val="6A727F"/>
                </a:solidFill>
                <a:latin typeface="Calibri" pitchFamily="34" charset="0"/>
                <a:ea typeface="Calibri" pitchFamily="34" charset="-122"/>
                <a:cs typeface="Calibri" pitchFamily="34" charset="-120"/>
              </a:rPr>
              <a:t>Population : Rwanda, femmes, tous âges. Année : estimations 2024. Mesure : cas, décès et taux d'incidence standardisé par âge. Source : IARC Global Cancer </a:t>
            </a:r>
            <a:r>
              <a:rPr lang="fr-FR" sz="1400" noProof="0" dirty="0" err="1">
                <a:solidFill>
                  <a:srgbClr val="6A727F"/>
                </a:solidFill>
                <a:latin typeface="Calibri" pitchFamily="34" charset="0"/>
                <a:ea typeface="Calibri" pitchFamily="34" charset="-122"/>
                <a:cs typeface="Calibri" pitchFamily="34" charset="-120"/>
              </a:rPr>
              <a:t>Observatory</a:t>
            </a:r>
            <a:r>
              <a:rPr lang="fr-FR" sz="1400" noProof="0" dirty="0">
                <a:solidFill>
                  <a:srgbClr val="6A727F"/>
                </a:solidFill>
                <a:latin typeface="Calibri" pitchFamily="34" charset="0"/>
                <a:ea typeface="Calibri" pitchFamily="34" charset="-122"/>
                <a:cs typeface="Calibri" pitchFamily="34" charset="-120"/>
              </a:rPr>
              <a:t>, GLOBOCAN 2024. Ce sont des estimations modélisées, pas des décomptes confirmés par le registre.</a:t>
            </a:r>
            <a:endParaRPr lang="fr-FR" sz="1400" noProof="0" dirty="0"/>
          </a:p>
        </p:txBody>
      </p:sp>
      <p:sp>
        <p:nvSpPr>
          <p:cNvPr id="16" name="Shape 14"/>
          <p:cNvSpPr/>
          <p:nvPr/>
        </p:nvSpPr>
        <p:spPr>
          <a:xfrm>
            <a:off x="566928" y="4709160"/>
            <a:ext cx="11055096" cy="786384"/>
          </a:xfrm>
          <a:prstGeom prst="roundRect">
            <a:avLst>
              <a:gd name="adj" fmla="val 8140"/>
            </a:avLst>
          </a:prstGeom>
          <a:solidFill>
            <a:srgbClr val="FFF2DF"/>
          </a:solidFill>
          <a:ln w="12700">
            <a:solidFill>
              <a:srgbClr val="E8DDC7"/>
            </a:solidFill>
            <a:prstDash val="solid"/>
          </a:ln>
        </p:spPr>
        <p:txBody>
          <a:bodyPr/>
          <a:lstStyle/>
          <a:p>
            <a:endParaRPr lang="fr-FR" noProof="0" dirty="0"/>
          </a:p>
        </p:txBody>
      </p:sp>
      <p:sp>
        <p:nvSpPr>
          <p:cNvPr id="17" name="Text 15"/>
          <p:cNvSpPr txBox="1"/>
          <p:nvPr/>
        </p:nvSpPr>
        <p:spPr>
          <a:xfrm>
            <a:off x="841248" y="4764024"/>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7B5727"/>
                </a:solidFill>
                <a:latin typeface="Calibri" pitchFamily="34" charset="0"/>
                <a:ea typeface="Calibri" pitchFamily="34" charset="-122"/>
                <a:cs typeface="Calibri" pitchFamily="34" charset="-120"/>
              </a:rPr>
              <a:t>🔎 Ce que cela montre :  </a:t>
            </a:r>
            <a:r>
              <a:rPr lang="fr-FR" sz="1800" noProof="0" dirty="0">
                <a:solidFill>
                  <a:srgbClr val="23303F"/>
                </a:solidFill>
                <a:latin typeface="Calibri" pitchFamily="34" charset="0"/>
                <a:ea typeface="Calibri" pitchFamily="34" charset="-122"/>
                <a:cs typeface="Calibri" pitchFamily="34" charset="-120"/>
              </a:rPr>
              <a:t>plus de femmes au Rwanda meurent d'un cancer du col de l'utérus que de tout autre cancer, et presque tous ces cancers auraient pu être évités.</a:t>
            </a:r>
            <a:endParaRPr lang="fr-FR" sz="1800" noProof="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49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ÉPIDÉMIOLOGIE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Quelles sont les projections à venir</a:t>
            </a:r>
            <a:endParaRPr lang="fr-FR" sz="3200" noProof="0" dirty="0"/>
          </a:p>
        </p:txBody>
      </p:sp>
      <p:graphicFrame>
        <p:nvGraphicFramePr>
          <p:cNvPr id="6" name="Chart 0"/>
          <p:cNvGraphicFramePr/>
          <p:nvPr>
            <p:extLst>
              <p:ext uri="{D42A27DB-BD31-4B8C-83A1-F6EECF244321}">
                <p14:modId xmlns:p14="http://schemas.microsoft.com/office/powerpoint/2010/main" val="3227969792"/>
              </p:ext>
            </p:extLst>
          </p:nvPr>
        </p:nvGraphicFramePr>
        <p:xfrm>
          <a:off x="566928" y="1487246"/>
          <a:ext cx="594360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720840" y="3235357"/>
            <a:ext cx="4901184" cy="1941754"/>
          </a:xfrm>
          <a:prstGeom prst="roundRect">
            <a:avLst>
              <a:gd name="adj" fmla="val 2195"/>
            </a:avLst>
          </a:prstGeom>
          <a:solidFill>
            <a:srgbClr val="F3F6FB"/>
          </a:solidFill>
          <a:ln w="12700">
            <a:solidFill>
              <a:srgbClr val="E0E3EA"/>
            </a:solidFill>
            <a:prstDash val="solid"/>
          </a:ln>
        </p:spPr>
        <p:txBody>
          <a:bodyPr/>
          <a:lstStyle/>
          <a:p>
            <a:endParaRPr lang="fr-FR" sz="1400" noProof="0" dirty="0"/>
          </a:p>
        </p:txBody>
      </p:sp>
      <p:sp>
        <p:nvSpPr>
          <p:cNvPr id="8" name="Text 5"/>
          <p:cNvSpPr txBox="1"/>
          <p:nvPr/>
        </p:nvSpPr>
        <p:spPr>
          <a:xfrm>
            <a:off x="6958584" y="3399949"/>
            <a:ext cx="4425696" cy="402336"/>
          </a:xfrm>
          <a:prstGeom prst="rect">
            <a:avLst/>
          </a:prstGeom>
          <a:noFill/>
          <a:ln/>
        </p:spPr>
        <p:txBody>
          <a:bodyPr wrap="square" lIns="0" tIns="0" rIns="0" bIns="0" rtlCol="0" anchor="ctr"/>
          <a:lstStyle/>
          <a:p>
            <a:pPr marL="0" indent="0">
              <a:buNone/>
            </a:pPr>
            <a:r>
              <a:rPr lang="fr-FR" sz="1400" b="1" noProof="0" dirty="0">
                <a:solidFill>
                  <a:srgbClr val="31507B"/>
                </a:solidFill>
                <a:latin typeface="Calibri" pitchFamily="34" charset="0"/>
                <a:ea typeface="Calibri" pitchFamily="34" charset="-122"/>
                <a:cs typeface="Calibri" pitchFamily="34" charset="-120"/>
              </a:rPr>
              <a:t>Population : </a:t>
            </a:r>
            <a:r>
              <a:rPr lang="fr-FR" sz="1400" noProof="0" dirty="0">
                <a:solidFill>
                  <a:srgbClr val="23303F"/>
                </a:solidFill>
                <a:latin typeface="Calibri" pitchFamily="34" charset="0"/>
                <a:ea typeface="Calibri" pitchFamily="34" charset="-122"/>
                <a:cs typeface="Calibri" pitchFamily="34" charset="-120"/>
              </a:rPr>
              <a:t>Rwanda, des deux sexes, tous les cancers</a:t>
            </a:r>
            <a:endParaRPr lang="fr-FR" sz="1400" noProof="0" dirty="0"/>
          </a:p>
        </p:txBody>
      </p:sp>
      <p:sp>
        <p:nvSpPr>
          <p:cNvPr id="9" name="Text 6"/>
          <p:cNvSpPr txBox="1"/>
          <p:nvPr/>
        </p:nvSpPr>
        <p:spPr>
          <a:xfrm>
            <a:off x="6958584" y="3820573"/>
            <a:ext cx="4425696" cy="402336"/>
          </a:xfrm>
          <a:prstGeom prst="rect">
            <a:avLst/>
          </a:prstGeom>
          <a:noFill/>
          <a:ln/>
        </p:spPr>
        <p:txBody>
          <a:bodyPr wrap="square" lIns="0" tIns="0" rIns="0" bIns="0" rtlCol="0" anchor="ctr"/>
          <a:lstStyle/>
          <a:p>
            <a:pPr marL="0" indent="0">
              <a:buNone/>
            </a:pPr>
            <a:r>
              <a:rPr lang="fr-FR" sz="1400" b="1" noProof="0" dirty="0">
                <a:solidFill>
                  <a:srgbClr val="31507B"/>
                </a:solidFill>
                <a:latin typeface="Calibri" pitchFamily="34" charset="0"/>
                <a:ea typeface="Calibri" pitchFamily="34" charset="-122"/>
                <a:cs typeface="Calibri" pitchFamily="34" charset="-120"/>
              </a:rPr>
              <a:t>Année : </a:t>
            </a:r>
            <a:r>
              <a:rPr lang="fr-FR" sz="1400" noProof="0" dirty="0">
                <a:solidFill>
                  <a:srgbClr val="23303F"/>
                </a:solidFill>
                <a:latin typeface="Calibri" pitchFamily="34" charset="0"/>
                <a:ea typeface="Calibri" pitchFamily="34" charset="-122"/>
                <a:cs typeface="Calibri" pitchFamily="34" charset="-120"/>
              </a:rPr>
              <a:t>estimation 2022 et projection 2050</a:t>
            </a:r>
            <a:endParaRPr lang="fr-FR" sz="1400" noProof="0" dirty="0"/>
          </a:p>
        </p:txBody>
      </p:sp>
      <p:sp>
        <p:nvSpPr>
          <p:cNvPr id="10" name="Text 7"/>
          <p:cNvSpPr txBox="1"/>
          <p:nvPr/>
        </p:nvSpPr>
        <p:spPr>
          <a:xfrm>
            <a:off x="6958584" y="4241197"/>
            <a:ext cx="4425696" cy="402336"/>
          </a:xfrm>
          <a:prstGeom prst="rect">
            <a:avLst/>
          </a:prstGeom>
          <a:noFill/>
          <a:ln/>
        </p:spPr>
        <p:txBody>
          <a:bodyPr wrap="square" lIns="0" tIns="0" rIns="0" bIns="0" rtlCol="0" anchor="ctr"/>
          <a:lstStyle/>
          <a:p>
            <a:pPr marL="0" indent="0">
              <a:buNone/>
            </a:pPr>
            <a:r>
              <a:rPr lang="fr-FR" sz="1400" b="1" noProof="0" dirty="0">
                <a:solidFill>
                  <a:srgbClr val="31507B"/>
                </a:solidFill>
                <a:latin typeface="Calibri" pitchFamily="34" charset="0"/>
                <a:ea typeface="Calibri" pitchFamily="34" charset="-122"/>
                <a:cs typeface="Calibri" pitchFamily="34" charset="-120"/>
              </a:rPr>
              <a:t>Mesure : </a:t>
            </a:r>
            <a:r>
              <a:rPr lang="fr-FR" sz="1400" noProof="0" dirty="0">
                <a:solidFill>
                  <a:srgbClr val="23303F"/>
                </a:solidFill>
                <a:latin typeface="Calibri" pitchFamily="34" charset="0"/>
                <a:ea typeface="Calibri" pitchFamily="34" charset="-122"/>
                <a:cs typeface="Calibri" pitchFamily="34" charset="-120"/>
              </a:rPr>
              <a:t>Cas nouveaux estimés et projetés par an</a:t>
            </a:r>
            <a:endParaRPr lang="fr-FR" sz="1400" noProof="0" dirty="0"/>
          </a:p>
        </p:txBody>
      </p:sp>
      <p:sp>
        <p:nvSpPr>
          <p:cNvPr id="11" name="Text 8"/>
          <p:cNvSpPr txBox="1"/>
          <p:nvPr/>
        </p:nvSpPr>
        <p:spPr>
          <a:xfrm>
            <a:off x="6958584" y="4661821"/>
            <a:ext cx="4425696" cy="402336"/>
          </a:xfrm>
          <a:prstGeom prst="rect">
            <a:avLst/>
          </a:prstGeom>
          <a:noFill/>
          <a:ln/>
        </p:spPr>
        <p:txBody>
          <a:bodyPr wrap="square" lIns="0" tIns="0" rIns="0" bIns="0" rtlCol="0" anchor="ctr"/>
          <a:lstStyle/>
          <a:p>
            <a:pPr marL="0" indent="0">
              <a:buNone/>
            </a:pPr>
            <a:r>
              <a:rPr lang="fr-FR" sz="1400" b="1" noProof="0" dirty="0">
                <a:solidFill>
                  <a:srgbClr val="31507B"/>
                </a:solidFill>
                <a:latin typeface="Calibri" pitchFamily="34" charset="0"/>
                <a:ea typeface="Calibri" pitchFamily="34" charset="-122"/>
                <a:cs typeface="Calibri" pitchFamily="34" charset="-120"/>
              </a:rPr>
              <a:t>Source : </a:t>
            </a:r>
            <a:r>
              <a:rPr lang="fr-FR" sz="1400" noProof="0" dirty="0">
                <a:solidFill>
                  <a:srgbClr val="23303F"/>
                </a:solidFill>
                <a:latin typeface="Calibri" pitchFamily="34" charset="0"/>
                <a:ea typeface="Calibri" pitchFamily="34" charset="-122"/>
                <a:cs typeface="Calibri" pitchFamily="34" charset="-120"/>
              </a:rPr>
              <a:t>IARC Global Cancer </a:t>
            </a:r>
            <a:r>
              <a:rPr lang="fr-FR" sz="1400" noProof="0" dirty="0" err="1">
                <a:solidFill>
                  <a:srgbClr val="23303F"/>
                </a:solidFill>
                <a:latin typeface="Calibri" pitchFamily="34" charset="0"/>
                <a:ea typeface="Calibri" pitchFamily="34" charset="-122"/>
                <a:cs typeface="Calibri" pitchFamily="34" charset="-120"/>
              </a:rPr>
              <a:t>Observatory</a:t>
            </a:r>
            <a:r>
              <a:rPr lang="fr-FR" sz="1400" noProof="0" dirty="0">
                <a:solidFill>
                  <a:srgbClr val="23303F"/>
                </a:solidFill>
                <a:latin typeface="Calibri" pitchFamily="34" charset="0"/>
                <a:ea typeface="Calibri" pitchFamily="34" charset="-122"/>
                <a:cs typeface="Calibri" pitchFamily="34" charset="-120"/>
              </a:rPr>
              <a:t>, Cancer Tomorrow</a:t>
            </a:r>
            <a:endParaRPr lang="fr-FR" sz="1400" noProof="0" dirty="0"/>
          </a:p>
        </p:txBody>
      </p:sp>
      <p:sp>
        <p:nvSpPr>
          <p:cNvPr id="13" name="Shape 14">
            <a:extLst>
              <a:ext uri="{FF2B5EF4-FFF2-40B4-BE49-F238E27FC236}">
                <a16:creationId xmlns:a16="http://schemas.microsoft.com/office/drawing/2014/main" id="{6741814E-0683-C316-B149-51676B825CDF}"/>
              </a:ext>
            </a:extLst>
          </p:cNvPr>
          <p:cNvSpPr/>
          <p:nvPr/>
        </p:nvSpPr>
        <p:spPr>
          <a:xfrm>
            <a:off x="566928" y="5408404"/>
            <a:ext cx="11055096" cy="946676"/>
          </a:xfrm>
          <a:prstGeom prst="roundRect">
            <a:avLst>
              <a:gd name="adj" fmla="val 8140"/>
            </a:avLst>
          </a:prstGeom>
          <a:solidFill>
            <a:srgbClr val="FFF2DF"/>
          </a:solidFill>
          <a:ln w="12700">
            <a:solidFill>
              <a:srgbClr val="E8DDC7"/>
            </a:solidFill>
            <a:prstDash val="solid"/>
          </a:ln>
        </p:spPr>
        <p:txBody>
          <a:bodyPr/>
          <a:lstStyle/>
          <a:p>
            <a:endParaRPr lang="fr-FR" noProof="0" dirty="0"/>
          </a:p>
        </p:txBody>
      </p:sp>
      <p:sp>
        <p:nvSpPr>
          <p:cNvPr id="14" name="Text 15">
            <a:extLst>
              <a:ext uri="{FF2B5EF4-FFF2-40B4-BE49-F238E27FC236}">
                <a16:creationId xmlns:a16="http://schemas.microsoft.com/office/drawing/2014/main" id="{4BB84C78-D1DD-CA69-341F-4592BE721EF7}"/>
              </a:ext>
            </a:extLst>
          </p:cNvPr>
          <p:cNvSpPr txBox="1"/>
          <p:nvPr/>
        </p:nvSpPr>
        <p:spPr>
          <a:xfrm>
            <a:off x="841248" y="5570844"/>
            <a:ext cx="10506456" cy="676656"/>
          </a:xfrm>
          <a:prstGeom prst="rect">
            <a:avLst/>
          </a:prstGeom>
          <a:noFill/>
          <a:ln/>
        </p:spPr>
        <p:txBody>
          <a:bodyPr wrap="square" lIns="0" tIns="0" rIns="0" bIns="0" rtlCol="0" anchor="ctr"/>
          <a:lstStyle/>
          <a:p>
            <a:pPr>
              <a:lnSpc>
                <a:spcPct val="104000"/>
              </a:lnSpc>
            </a:pPr>
            <a:r>
              <a:rPr lang="fr-FR" sz="1800" b="1" noProof="0" dirty="0">
                <a:solidFill>
                  <a:srgbClr val="7B5727"/>
                </a:solidFill>
                <a:latin typeface="Calibri" pitchFamily="34" charset="0"/>
                <a:ea typeface="Calibri" pitchFamily="34" charset="-122"/>
                <a:cs typeface="Calibri" pitchFamily="34" charset="-120"/>
              </a:rPr>
              <a:t>🔎 Ce que cela montre : </a:t>
            </a:r>
            <a:r>
              <a:rPr lang="fr-FR" dirty="0">
                <a:solidFill>
                  <a:srgbClr val="23303F"/>
                </a:solidFill>
                <a:latin typeface="Calibri" pitchFamily="34" charset="0"/>
                <a:ea typeface="Calibri" pitchFamily="34" charset="-122"/>
                <a:cs typeface="Calibri" pitchFamily="34" charset="-120"/>
              </a:rPr>
              <a:t>Une projection décrit ce qui pourrait se produire si les schémas actuels se poursuivent. Ce n'est pas un résultat garanti. Le cancer du col de l'utérus est le seul cancer majeur où la prévention peut modifier directement la projection.</a:t>
            </a:r>
            <a:endParaRPr lang="fr-FR" sz="1800" noProof="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50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MISE en SCÈNE</a:t>
            </a:r>
            <a:endParaRPr lang="fr-FR" sz="1200" noProof="0" dirty="0"/>
          </a:p>
        </p:txBody>
      </p:sp>
      <p:sp>
        <p:nvSpPr>
          <p:cNvPr id="5" name="Text 3"/>
          <p:cNvSpPr txBox="1"/>
          <p:nvPr/>
        </p:nvSpPr>
        <p:spPr>
          <a:xfrm>
            <a:off x="566928" y="383604"/>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Stadification FIGO du cancer invasif du col de l'utérus</a:t>
            </a:r>
            <a:endParaRPr lang="fr-FR" sz="3200" noProof="0" dirty="0"/>
          </a:p>
        </p:txBody>
      </p:sp>
      <p:sp>
        <p:nvSpPr>
          <p:cNvPr id="18" name="Shape 16"/>
          <p:cNvSpPr/>
          <p:nvPr/>
        </p:nvSpPr>
        <p:spPr>
          <a:xfrm>
            <a:off x="376922" y="5863561"/>
            <a:ext cx="11367773" cy="518951"/>
          </a:xfrm>
          <a:prstGeom prst="roundRect">
            <a:avLst>
              <a:gd name="adj" fmla="val 8140"/>
            </a:avLst>
          </a:prstGeom>
          <a:solidFill>
            <a:srgbClr val="ECF3FD"/>
          </a:solidFill>
          <a:ln w="12700">
            <a:solidFill>
              <a:srgbClr val="E0E3EA"/>
            </a:solidFill>
            <a:prstDash val="solid"/>
          </a:ln>
        </p:spPr>
        <p:txBody>
          <a:bodyPr/>
          <a:lstStyle/>
          <a:p>
            <a:endParaRPr lang="fr-FR" noProof="0" dirty="0"/>
          </a:p>
        </p:txBody>
      </p:sp>
      <p:sp>
        <p:nvSpPr>
          <p:cNvPr id="19" name="Text 17"/>
          <p:cNvSpPr txBox="1"/>
          <p:nvPr/>
        </p:nvSpPr>
        <p:spPr>
          <a:xfrm>
            <a:off x="447305" y="5801868"/>
            <a:ext cx="11247832" cy="676656"/>
          </a:xfrm>
          <a:prstGeom prst="rect">
            <a:avLst/>
          </a:prstGeom>
          <a:noFill/>
          <a:ln/>
        </p:spPr>
        <p:txBody>
          <a:bodyPr wrap="square" lIns="0" tIns="0" rIns="0" bIns="0" rtlCol="0" anchor="ctr"/>
          <a:lstStyle/>
          <a:p>
            <a:pPr marL="0" indent="0">
              <a:lnSpc>
                <a:spcPct val="104000"/>
              </a:lnSpc>
              <a:buNone/>
            </a:pPr>
            <a:r>
              <a:rPr lang="fr-FR" sz="1600" noProof="0" dirty="0">
                <a:solidFill>
                  <a:srgbClr val="10305A"/>
                </a:solidFill>
                <a:latin typeface="Calibri" pitchFamily="34" charset="0"/>
                <a:ea typeface="Calibri" pitchFamily="34" charset="-122"/>
                <a:cs typeface="Calibri" pitchFamily="34" charset="-120"/>
              </a:rPr>
              <a:t>📌 Votre rôle : Vous n'attribuez pas le stade. Vous l'utilisez pour comprendre ce que l'équipe de spécialistes prépare et pour l'expliquer à la femme.</a:t>
            </a:r>
            <a:endParaRPr lang="fr-FR" sz="1600" noProof="0" dirty="0"/>
          </a:p>
        </p:txBody>
      </p:sp>
      <p:pic>
        <p:nvPicPr>
          <p:cNvPr id="7" name="Imagen 6">
            <a:extLst>
              <a:ext uri="{FF2B5EF4-FFF2-40B4-BE49-F238E27FC236}">
                <a16:creationId xmlns:a16="http://schemas.microsoft.com/office/drawing/2014/main" id="{6E5C567A-5803-9D41-AF97-451DC723145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10678" y="995083"/>
            <a:ext cx="9276319" cy="484679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C640B15-295E-3690-0F4D-0038A001108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72FF982-3461-FD2A-497F-8BE1EA8A0871}"/>
              </a:ext>
            </a:extLst>
          </p:cNvPr>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a:extLst>
              <a:ext uri="{FF2B5EF4-FFF2-40B4-BE49-F238E27FC236}">
                <a16:creationId xmlns:a16="http://schemas.microsoft.com/office/drawing/2014/main" id="{06C0581B-543B-8E19-C262-ECE2F3B0C604}"/>
              </a:ext>
            </a:extLst>
          </p:cNvPr>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51</a:t>
            </a:r>
            <a:endParaRPr lang="fr-FR" sz="1100" noProof="0" dirty="0"/>
          </a:p>
        </p:txBody>
      </p:sp>
      <p:sp>
        <p:nvSpPr>
          <p:cNvPr id="4" name="Text 2">
            <a:extLst>
              <a:ext uri="{FF2B5EF4-FFF2-40B4-BE49-F238E27FC236}">
                <a16:creationId xmlns:a16="http://schemas.microsoft.com/office/drawing/2014/main" id="{29A308DE-B3CA-84DC-0C68-7CCF2E4F1DF1}"/>
              </a:ext>
            </a:extLst>
          </p:cNvPr>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GRADATION / GRADE HISTOLOGIQUE</a:t>
            </a:r>
            <a:endParaRPr lang="fr-FR" sz="1200" noProof="0" dirty="0"/>
          </a:p>
        </p:txBody>
      </p:sp>
      <p:sp>
        <p:nvSpPr>
          <p:cNvPr id="5" name="Text 3">
            <a:extLst>
              <a:ext uri="{FF2B5EF4-FFF2-40B4-BE49-F238E27FC236}">
                <a16:creationId xmlns:a16="http://schemas.microsoft.com/office/drawing/2014/main" id="{0FFD89B2-AD72-96A3-AEEC-24A62869AA39}"/>
              </a:ext>
            </a:extLst>
          </p:cNvPr>
          <p:cNvSpPr txBox="1"/>
          <p:nvPr/>
        </p:nvSpPr>
        <p:spPr>
          <a:xfrm>
            <a:off x="576072" y="466344"/>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Grade histologique du cancer du col de l'utérus</a:t>
            </a:r>
            <a:endParaRPr lang="fr-FR" sz="3200" noProof="0" dirty="0"/>
          </a:p>
        </p:txBody>
      </p:sp>
      <p:pic>
        <p:nvPicPr>
          <p:cNvPr id="6" name="Imagen 5">
            <a:extLst>
              <a:ext uri="{FF2B5EF4-FFF2-40B4-BE49-F238E27FC236}">
                <a16:creationId xmlns:a16="http://schemas.microsoft.com/office/drawing/2014/main" id="{C62A4162-6E27-3679-EEEC-2292D5C9C2F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6072" y="1161640"/>
            <a:ext cx="10412916" cy="5230016"/>
          </a:xfrm>
          <a:prstGeom prst="rect">
            <a:avLst/>
          </a:prstGeom>
        </p:spPr>
      </p:pic>
    </p:spTree>
    <p:extLst>
      <p:ext uri="{BB962C8B-B14F-4D97-AF65-F5344CB8AC3E}">
        <p14:creationId xmlns:p14="http://schemas.microsoft.com/office/powerpoint/2010/main" val="2111935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52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STADIFICATION ET NOTATION</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 stade et le grade sont différents</a:t>
            </a:r>
            <a:endParaRPr lang="fr-FR" sz="3200" noProof="0" dirty="0"/>
          </a:p>
        </p:txBody>
      </p:sp>
      <p:sp>
        <p:nvSpPr>
          <p:cNvPr id="6" name="Shape 4"/>
          <p:cNvSpPr/>
          <p:nvPr/>
        </p:nvSpPr>
        <p:spPr>
          <a:xfrm>
            <a:off x="566928" y="1384538"/>
            <a:ext cx="5436108" cy="4704028"/>
          </a:xfrm>
          <a:prstGeom prst="roundRect">
            <a:avLst>
              <a:gd name="adj" fmla="val 2093"/>
            </a:avLst>
          </a:prstGeom>
          <a:solidFill>
            <a:srgbClr val="ECF3FD"/>
          </a:solidFill>
          <a:ln w="12700">
            <a:solidFill>
              <a:srgbClr val="E0E3EA"/>
            </a:solidFill>
            <a:prstDash val="solid"/>
          </a:ln>
        </p:spPr>
        <p:txBody>
          <a:bodyPr/>
          <a:lstStyle/>
          <a:p>
            <a:endParaRPr lang="fr-FR" noProof="0" dirty="0"/>
          </a:p>
        </p:txBody>
      </p:sp>
      <p:sp>
        <p:nvSpPr>
          <p:cNvPr id="7" name="Text 5"/>
          <p:cNvSpPr txBox="1"/>
          <p:nvPr/>
        </p:nvSpPr>
        <p:spPr>
          <a:xfrm>
            <a:off x="822960" y="1585706"/>
            <a:ext cx="4924044"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Stade</a:t>
            </a:r>
            <a:endParaRPr lang="fr-FR" sz="2000" noProof="0" dirty="0"/>
          </a:p>
        </p:txBody>
      </p:sp>
      <p:sp>
        <p:nvSpPr>
          <p:cNvPr id="8" name="Text 6"/>
          <p:cNvSpPr txBox="1"/>
          <p:nvPr/>
        </p:nvSpPr>
        <p:spPr>
          <a:xfrm>
            <a:off x="877824" y="2225786"/>
            <a:ext cx="3537925" cy="2889504"/>
          </a:xfrm>
          <a:prstGeom prst="rect">
            <a:avLst/>
          </a:prstGeom>
          <a:noFill/>
          <a:ln/>
        </p:spPr>
        <p:txBody>
          <a:bodyPr wrap="square" lIns="0" tIns="0" rIns="0" bIns="0" rtlCol="0" anchor="t">
            <a:noAutofit/>
          </a:bodyPr>
          <a:lstStyle/>
          <a:p>
            <a:pPr marL="342900" indent="-342900">
              <a:lnSpc>
                <a:spcPct val="102000"/>
              </a:lnSpc>
              <a:spcAft>
                <a:spcPts val="500"/>
              </a:spcAft>
              <a:buSzPct val="100000"/>
              <a:buChar char="•"/>
            </a:pPr>
            <a:r>
              <a:rPr lang="fr-FR" noProof="0" dirty="0">
                <a:solidFill>
                  <a:srgbClr val="23303F"/>
                </a:solidFill>
                <a:latin typeface="Calibri" pitchFamily="34" charset="0"/>
                <a:ea typeface="Calibri" pitchFamily="34" charset="-122"/>
                <a:cs typeface="Calibri" pitchFamily="34" charset="-120"/>
              </a:rPr>
              <a:t>Jusqu'où le cancer s'est-il propagé.</a:t>
            </a:r>
            <a:endParaRPr lang="fr-FR" noProof="0" dirty="0"/>
          </a:p>
          <a:p>
            <a:pPr marL="342900" indent="-342900">
              <a:lnSpc>
                <a:spcPct val="102000"/>
              </a:lnSpc>
              <a:spcAft>
                <a:spcPts val="500"/>
              </a:spcAft>
              <a:buSzPct val="100000"/>
              <a:buChar char="•"/>
            </a:pPr>
            <a:r>
              <a:rPr lang="fr-FR" noProof="0" dirty="0">
                <a:solidFill>
                  <a:srgbClr val="23303F"/>
                </a:solidFill>
                <a:latin typeface="Calibri" pitchFamily="34" charset="0"/>
                <a:ea typeface="Calibri" pitchFamily="34" charset="-122"/>
                <a:cs typeface="Calibri" pitchFamily="34" charset="-120"/>
              </a:rPr>
              <a:t>Décrit à l'aide du système FIGO, du stade I au stade IV.</a:t>
            </a:r>
            <a:endParaRPr lang="fr-FR" noProof="0" dirty="0"/>
          </a:p>
          <a:p>
            <a:pPr marL="342900" indent="-342900">
              <a:lnSpc>
                <a:spcPct val="102000"/>
              </a:lnSpc>
              <a:spcAft>
                <a:spcPts val="500"/>
              </a:spcAft>
              <a:buSzPct val="100000"/>
              <a:buChar char="•"/>
            </a:pPr>
            <a:r>
              <a:rPr lang="fr-FR" noProof="0" dirty="0">
                <a:solidFill>
                  <a:srgbClr val="23303F"/>
                </a:solidFill>
                <a:latin typeface="Calibri" pitchFamily="34" charset="0"/>
                <a:ea typeface="Calibri" pitchFamily="34" charset="-122"/>
                <a:cs typeface="Calibri" pitchFamily="34" charset="-120"/>
              </a:rPr>
              <a:t>Basé sur l'examen, ainsi que sur l'imagerie et la pathologie lorsque ceux-ci sont disponibles.</a:t>
            </a:r>
            <a:endParaRPr lang="fr-FR" noProof="0" dirty="0"/>
          </a:p>
          <a:p>
            <a:pPr marL="342900" indent="-342900">
              <a:lnSpc>
                <a:spcPct val="102000"/>
              </a:lnSpc>
              <a:spcAft>
                <a:spcPts val="500"/>
              </a:spcAft>
              <a:buSzPct val="100000"/>
              <a:buChar char="•"/>
            </a:pPr>
            <a:r>
              <a:rPr lang="fr-FR" noProof="0" dirty="0">
                <a:solidFill>
                  <a:srgbClr val="23303F"/>
                </a:solidFill>
                <a:latin typeface="Calibri" pitchFamily="34" charset="0"/>
                <a:ea typeface="Calibri" pitchFamily="34" charset="-122"/>
                <a:cs typeface="Calibri" pitchFamily="34" charset="-120"/>
              </a:rPr>
              <a:t>Attribué par l'équipe spécialisée.</a:t>
            </a:r>
            <a:endParaRPr lang="fr-FR" noProof="0" dirty="0"/>
          </a:p>
          <a:p>
            <a:pPr marL="342900" indent="-342900">
              <a:lnSpc>
                <a:spcPct val="102000"/>
              </a:lnSpc>
              <a:spcAft>
                <a:spcPts val="500"/>
              </a:spcAft>
              <a:buSzPct val="100000"/>
              <a:buChar char="•"/>
            </a:pPr>
            <a:r>
              <a:rPr lang="fr-FR" noProof="0" dirty="0">
                <a:solidFill>
                  <a:srgbClr val="23303F"/>
                </a:solidFill>
                <a:latin typeface="Calibri" pitchFamily="34" charset="0"/>
                <a:ea typeface="Calibri" pitchFamily="34" charset="-122"/>
                <a:cs typeface="Calibri" pitchFamily="34" charset="-120"/>
              </a:rPr>
              <a:t>C'est le meilleur indicateur du résultat.</a:t>
            </a:r>
            <a:endParaRPr lang="fr-FR" noProof="0" dirty="0"/>
          </a:p>
        </p:txBody>
      </p:sp>
      <p:sp>
        <p:nvSpPr>
          <p:cNvPr id="9" name="Shape 7"/>
          <p:cNvSpPr/>
          <p:nvPr/>
        </p:nvSpPr>
        <p:spPr>
          <a:xfrm>
            <a:off x="6185916" y="1384538"/>
            <a:ext cx="5436108" cy="4704028"/>
          </a:xfrm>
          <a:prstGeom prst="roundRect">
            <a:avLst>
              <a:gd name="adj" fmla="val 2093"/>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6441948" y="1585706"/>
            <a:ext cx="4924044"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Grade</a:t>
            </a:r>
            <a:endParaRPr lang="fr-FR" sz="2000" noProof="0" dirty="0"/>
          </a:p>
        </p:txBody>
      </p:sp>
      <p:sp>
        <p:nvSpPr>
          <p:cNvPr id="11" name="Text 9"/>
          <p:cNvSpPr txBox="1"/>
          <p:nvPr/>
        </p:nvSpPr>
        <p:spPr>
          <a:xfrm>
            <a:off x="6496811" y="2152634"/>
            <a:ext cx="3571451" cy="2889504"/>
          </a:xfrm>
          <a:prstGeom prst="rect">
            <a:avLst/>
          </a:prstGeom>
          <a:noFill/>
          <a:ln/>
        </p:spPr>
        <p:txBody>
          <a:bodyPr wrap="square" lIns="0" tIns="0" rIns="0" bIns="0" rtlCol="0" anchor="t">
            <a:noAutofit/>
          </a:bodyPr>
          <a:lstStyle/>
          <a:p>
            <a:pPr marL="342900" indent="-342900">
              <a:lnSpc>
                <a:spcPct val="102000"/>
              </a:lnSpc>
              <a:spcAft>
                <a:spcPts val="500"/>
              </a:spcAft>
              <a:buSzPct val="100000"/>
              <a:buChar char="•"/>
            </a:pPr>
            <a:r>
              <a:rPr lang="fr-FR" noProof="0" dirty="0">
                <a:solidFill>
                  <a:srgbClr val="23303F"/>
                </a:solidFill>
                <a:latin typeface="Calibri" pitchFamily="34" charset="0"/>
                <a:ea typeface="Calibri" pitchFamily="34" charset="-122"/>
                <a:cs typeface="Calibri" pitchFamily="34" charset="-120"/>
              </a:rPr>
              <a:t>À quel point les cellules cancéreuses paraissent anormales au microscope.</a:t>
            </a:r>
            <a:endParaRPr lang="fr-FR" noProof="0" dirty="0"/>
          </a:p>
          <a:p>
            <a:pPr marL="342900" indent="-342900">
              <a:lnSpc>
                <a:spcPct val="102000"/>
              </a:lnSpc>
              <a:spcAft>
                <a:spcPts val="500"/>
              </a:spcAft>
              <a:buSzPct val="100000"/>
              <a:buChar char="•"/>
            </a:pPr>
            <a:r>
              <a:rPr lang="fr-FR" noProof="0" dirty="0">
                <a:solidFill>
                  <a:srgbClr val="23303F"/>
                </a:solidFill>
                <a:latin typeface="Calibri" pitchFamily="34" charset="0"/>
                <a:ea typeface="Calibri" pitchFamily="34" charset="-122"/>
                <a:cs typeface="Calibri" pitchFamily="34" charset="-120"/>
              </a:rPr>
              <a:t>Rapporté par le pathologiste lors de la biopsie.</a:t>
            </a:r>
            <a:endParaRPr lang="fr-FR" noProof="0" dirty="0"/>
          </a:p>
          <a:p>
            <a:pPr marL="342900" indent="-342900">
              <a:lnSpc>
                <a:spcPct val="102000"/>
              </a:lnSpc>
              <a:spcAft>
                <a:spcPts val="500"/>
              </a:spcAft>
              <a:buSzPct val="100000"/>
              <a:buChar char="•"/>
            </a:pPr>
            <a:r>
              <a:rPr lang="fr-FR" noProof="0" dirty="0">
                <a:solidFill>
                  <a:srgbClr val="23303F"/>
                </a:solidFill>
                <a:latin typeface="Calibri" pitchFamily="34" charset="0"/>
                <a:ea typeface="Calibri" pitchFamily="34" charset="-122"/>
                <a:cs typeface="Calibri" pitchFamily="34" charset="-120"/>
              </a:rPr>
              <a:t>Décrit l'apparence, pas l'étendue.</a:t>
            </a:r>
            <a:endParaRPr lang="fr-FR" noProof="0" dirty="0"/>
          </a:p>
          <a:p>
            <a:pPr marL="342900" indent="-342900">
              <a:lnSpc>
                <a:spcPct val="102000"/>
              </a:lnSpc>
              <a:spcAft>
                <a:spcPts val="500"/>
              </a:spcAft>
              <a:buSzPct val="100000"/>
              <a:buChar char="•"/>
            </a:pPr>
            <a:r>
              <a:rPr lang="fr-FR" noProof="0" dirty="0">
                <a:solidFill>
                  <a:srgbClr val="23303F"/>
                </a:solidFill>
                <a:latin typeface="Calibri" pitchFamily="34" charset="0"/>
                <a:ea typeface="Calibri" pitchFamily="34" charset="-122"/>
                <a:cs typeface="Calibri" pitchFamily="34" charset="-120"/>
              </a:rPr>
              <a:t>Ne le confondez pas avec le grade d'une lésion précancéreuse, qui n'est pas du tout un cancer.</a:t>
            </a:r>
            <a:endParaRPr lang="fr-FR" noProof="0" dirty="0"/>
          </a:p>
          <a:p>
            <a:pPr marL="342900" indent="-342900">
              <a:lnSpc>
                <a:spcPct val="102000"/>
              </a:lnSpc>
              <a:spcAft>
                <a:spcPts val="500"/>
              </a:spcAft>
              <a:buSzPct val="100000"/>
              <a:buChar char="•"/>
            </a:pPr>
            <a:r>
              <a:rPr lang="fr-FR" noProof="0" dirty="0">
                <a:solidFill>
                  <a:srgbClr val="23303F"/>
                </a:solidFill>
                <a:latin typeface="Calibri" pitchFamily="34" charset="0"/>
                <a:ea typeface="Calibri" pitchFamily="34" charset="-122"/>
                <a:cs typeface="Calibri" pitchFamily="34" charset="-120"/>
              </a:rPr>
              <a:t>C'est un facteur parmi plusieurs dans la planification des traitements.</a:t>
            </a:r>
            <a:endParaRPr lang="fr-FR" noProof="0" dirty="0"/>
          </a:p>
        </p:txBody>
      </p:sp>
      <p:pic>
        <p:nvPicPr>
          <p:cNvPr id="12" name="Imagen 11">
            <a:extLst>
              <a:ext uri="{FF2B5EF4-FFF2-40B4-BE49-F238E27FC236}">
                <a16:creationId xmlns:a16="http://schemas.microsoft.com/office/drawing/2014/main" id="{8FF32EF2-683C-DF6A-BEBE-86DA2CCBD31B}"/>
              </a:ext>
            </a:extLst>
          </p:cNvPr>
          <p:cNvPicPr>
            <a:picLocks noChangeAspect="1"/>
          </p:cNvPicPr>
          <p:nvPr/>
        </p:nvPicPr>
        <p:blipFill>
          <a:blip r:embed="rId3"/>
          <a:srcRect/>
          <a:stretch>
            <a:fillRect/>
          </a:stretch>
        </p:blipFill>
        <p:spPr>
          <a:xfrm>
            <a:off x="4290859" y="4414687"/>
            <a:ext cx="1547510" cy="1547510"/>
          </a:xfrm>
          <a:prstGeom prst="rect">
            <a:avLst/>
          </a:prstGeom>
        </p:spPr>
      </p:pic>
      <p:pic>
        <p:nvPicPr>
          <p:cNvPr id="14" name="Imagen 13">
            <a:extLst>
              <a:ext uri="{FF2B5EF4-FFF2-40B4-BE49-F238E27FC236}">
                <a16:creationId xmlns:a16="http://schemas.microsoft.com/office/drawing/2014/main" id="{F858CC26-E064-A80B-F38F-8AFF9A761B7F}"/>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0068262" y="4537188"/>
            <a:ext cx="1443317" cy="1443317"/>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53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1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Presque tous les cancers du col de l'utérus sont causés par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Une infection bactérienne du col de l'utérus</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Infection persistante avec un type HPV à haut risque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L'accouchement répété seul</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 défaut génétique hérité</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Explication : L'infection persistante à haut risque de HPV est la cause centrale. D'autres facteurs influencent la persistance de l'infection et la progression des changements, mais ils ne provoquent pas de cancer du col de l'utérus en eux-mêmes.</a:t>
            </a:r>
            <a:endParaRPr lang="fr-FR" sz="1800" noProof="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54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2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Dans quelle partie du col de l'utérus presque tous les cancers du col commencent-ils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La zone de transformation</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La cavité endométriale</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Le fundus utérin</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Le fornix vaginal</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La zone de transformation est celle où les cellules cylindriques sont remplacées par des cellules squameuses. Ce sont ces cellules en transformation active qui sont celles affectées par le HPV, ce qui explique pourquoi presque tous les cancers du col de l'utérus commencent ici.</a:t>
            </a:r>
            <a:endParaRPr lang="fr-FR" sz="1800" noProof="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55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3 sur 5</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On dit à une femme qu'elle a une lésion précancéreuse du col de l'utérus de haut grade. L'explication précise est la suivante :</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Elle a des cellules de surface anormales qui ne sont pas cancéreuses, et les traiter prévient le cancer</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Elle a un cancer du col de l'utérus</a:t>
            </a:r>
            <a:endParaRPr lang="fr-FR"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Il n'est pas nécessaire de faire quoi que ce soit</a:t>
            </a:r>
            <a:endParaRPr lang="fr-FR"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Elle a elle-même causé ça</a:t>
            </a:r>
            <a:endParaRPr lang="fr-FR"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a:t>
            </a:r>
            <a:r>
              <a:rPr lang="fr-FR" sz="1800" noProof="0" dirty="0">
                <a:solidFill>
                  <a:srgbClr val="23303F"/>
                </a:solidFill>
                <a:latin typeface="Calibri" pitchFamily="34" charset="0"/>
                <a:ea typeface="Calibri" pitchFamily="34" charset="-122"/>
                <a:cs typeface="Calibri" pitchFamily="34" charset="-120"/>
              </a:rPr>
              <a:t>Un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de haut grade signifie des cellules anormales confinées à la couche superficielle. Ce n'est pas un cancer et il ne peut pas se propager. Dire cela clairement réduit la peur et rend beaucoup plus probable qu'elle revienne pour un traitement.</a:t>
            </a:r>
            <a:endParaRPr lang="fr-FR" sz="1800" noProof="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56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4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stade et le grade diffèrent parce que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Ils veulent dire la même chose</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Le grade correspond à l'étendue du cancer</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Le stade décrit l’étendue de la propagation du cancer et le grade décrit l’aspect anormal des cellules</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Le stade concerne uniquement la taille de la tumeur</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d'information : </a:t>
            </a:r>
            <a:r>
              <a:rPr lang="fr-FR" sz="1800" noProof="0" dirty="0">
                <a:solidFill>
                  <a:srgbClr val="23303F"/>
                </a:solidFill>
                <a:latin typeface="Calibri" pitchFamily="34" charset="0"/>
                <a:ea typeface="Calibri" pitchFamily="34" charset="-122"/>
                <a:cs typeface="Calibri" pitchFamily="34" charset="-120"/>
              </a:rPr>
              <a:t>Le stade décrit l'étendue de la maladie et est assigné par l'équipe spécialiste à l'aide du système FIGO. Le grade décrit l'apparence microscopique et est rapporté par le pathologiste.</a:t>
            </a:r>
            <a:endParaRPr lang="fr-FR" sz="1800" noProof="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57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5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Quelle affirmation concernant l'infection par le HPV est exacte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Chaque infection par le HPV conduit à un cancer du col de l'utérus</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La plupart des infections au HPV disparaissent sans provoquer de cancer</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Une infection par le HPV prouve une exposition sexuelle récente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L'infection par le HPV provoque toujours des symptômes</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La plupart des infections disparaissent en un à deux ans. Seule une infection persistante à haut risque présente un réel risque, et la progression est rare et lente. Le HPV peut persister silencieusement pendant des années, donc un résultat ne dit rien sur le moment où l'infection a été acquise.</a:t>
            </a:r>
            <a:endParaRPr lang="fr-FR" sz="1800" noProof="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58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1</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Réflexion</a:t>
            </a:r>
            <a:endParaRPr lang="fr-FR" sz="3200" noProof="0" dirty="0"/>
          </a:p>
        </p:txBody>
      </p:sp>
      <p:sp>
        <p:nvSpPr>
          <p:cNvPr id="6" name="Text 4"/>
          <p:cNvSpPr txBox="1"/>
          <p:nvPr/>
        </p:nvSpPr>
        <p:spPr>
          <a:xfrm>
            <a:off x="576072" y="1408853"/>
            <a:ext cx="11055096" cy="384048"/>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Instruction de l'apprenant : Saisissez votre réponse dans la boîte de texte. Ces réponses ne sont pas notées.</a:t>
            </a:r>
            <a:endParaRPr lang="fr-FR" sz="1800" noProof="0" dirty="0"/>
          </a:p>
        </p:txBody>
      </p:sp>
      <p:sp>
        <p:nvSpPr>
          <p:cNvPr id="7" name="Shape 5"/>
          <p:cNvSpPr/>
          <p:nvPr/>
        </p:nvSpPr>
        <p:spPr>
          <a:xfrm>
            <a:off x="576072" y="1920917"/>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50392" y="2320205"/>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50392" y="2320205"/>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1</a:t>
            </a:r>
            <a:endParaRPr lang="fr-FR" sz="1500" noProof="0" dirty="0"/>
          </a:p>
        </p:txBody>
      </p:sp>
      <p:sp>
        <p:nvSpPr>
          <p:cNvPr id="10" name="Text 8"/>
          <p:cNvSpPr txBox="1"/>
          <p:nvPr/>
        </p:nvSpPr>
        <p:spPr>
          <a:xfrm>
            <a:off x="1527048" y="1994069"/>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Comment expliqueriez-vous à une femme la relation entre l'infection au HPV et le cancer du col de l'utérus, sans augmenter la stigmatisation ?</a:t>
            </a:r>
            <a:endParaRPr lang="fr-FR" sz="1800" noProof="0" dirty="0"/>
          </a:p>
        </p:txBody>
      </p:sp>
      <p:sp>
        <p:nvSpPr>
          <p:cNvPr id="11" name="Shape 9"/>
          <p:cNvSpPr/>
          <p:nvPr/>
        </p:nvSpPr>
        <p:spPr>
          <a:xfrm>
            <a:off x="576072" y="3322997"/>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50392" y="3722285"/>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50392" y="3722285"/>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2</a:t>
            </a:r>
            <a:endParaRPr lang="fr-FR" sz="1500" noProof="0" dirty="0"/>
          </a:p>
        </p:txBody>
      </p:sp>
      <p:sp>
        <p:nvSpPr>
          <p:cNvPr id="14" name="Text 12"/>
          <p:cNvSpPr txBox="1"/>
          <p:nvPr/>
        </p:nvSpPr>
        <p:spPr>
          <a:xfrm>
            <a:off x="1527048" y="3396149"/>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Comment expliqueriez-vous à une femme qu'une lésion précancéreuse de haut grade n'est pas un cancer, et que le traiter maintenant permet d'éviter qu'un cancer ne se développe ?</a:t>
            </a:r>
            <a:endParaRPr lang="fr-FR" sz="1800" noProof="0" dirty="0"/>
          </a:p>
        </p:txBody>
      </p:sp>
      <p:sp>
        <p:nvSpPr>
          <p:cNvPr id="15" name="Shape 13"/>
          <p:cNvSpPr/>
          <p:nvPr/>
        </p:nvSpPr>
        <p:spPr>
          <a:xfrm>
            <a:off x="576072" y="4725077"/>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50392" y="5124365"/>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50392" y="5124365"/>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3</a:t>
            </a:r>
            <a:endParaRPr lang="fr-FR" sz="1500" noProof="0" dirty="0"/>
          </a:p>
        </p:txBody>
      </p:sp>
      <p:sp>
        <p:nvSpPr>
          <p:cNvPr id="18" name="Text 16"/>
          <p:cNvSpPr txBox="1"/>
          <p:nvPr/>
        </p:nvSpPr>
        <p:spPr>
          <a:xfrm>
            <a:off x="1527048" y="4798229"/>
            <a:ext cx="9811512" cy="1109472"/>
          </a:xfrm>
          <a:prstGeom prst="rect">
            <a:avLst/>
          </a:prstGeom>
          <a:noFill/>
          <a:ln/>
        </p:spPr>
        <p:txBody>
          <a:bodyPr wrap="square" lIns="0" tIns="0" rIns="0" bIns="0" rtlCol="0" anchor="ctr"/>
          <a:lstStyle/>
          <a:p>
            <a:pPr>
              <a:lnSpc>
                <a:spcPct val="106000"/>
              </a:lnSpc>
            </a:pPr>
            <a:r>
              <a:rPr lang="fr-FR" sz="1800" noProof="0" dirty="0">
                <a:solidFill>
                  <a:srgbClr val="23303F"/>
                </a:solidFill>
                <a:latin typeface="Calibri" pitchFamily="34" charset="0"/>
                <a:ea typeface="Calibri" pitchFamily="34" charset="-122"/>
                <a:cs typeface="Calibri" pitchFamily="34" charset="-120"/>
              </a:rPr>
              <a:t>Quel seul fait sur le </a:t>
            </a:r>
            <a:r>
              <a:rPr lang="fr-FR" dirty="0">
                <a:solidFill>
                  <a:srgbClr val="23303F"/>
                </a:solidFill>
                <a:latin typeface="Calibri" pitchFamily="34" charset="0"/>
                <a:ea typeface="Calibri" pitchFamily="34" charset="-122"/>
                <a:cs typeface="Calibri" pitchFamily="34" charset="-120"/>
              </a:rPr>
              <a:t>fardeau épidémiologique</a:t>
            </a:r>
            <a:r>
              <a:rPr lang="fr-FR" sz="1800" noProof="0" dirty="0">
                <a:solidFill>
                  <a:srgbClr val="23303F"/>
                </a:solidFill>
                <a:latin typeface="Calibri" pitchFamily="34" charset="0"/>
                <a:ea typeface="Calibri" pitchFamily="34" charset="-122"/>
                <a:cs typeface="Calibri" pitchFamily="34" charset="-120"/>
              </a:rPr>
              <a:t> du cancer du col de l'utérus au Rwanda aimeriez-vous le plus que les membres de la communauté comprennent, et pourquoi ?</a:t>
            </a:r>
            <a:endParaRPr lang="fr-FR" sz="1800" noProof="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3">
    <p:bg>
      <p:bgPr>
        <a:solidFill>
          <a:srgbClr val="0E2F5C"/>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8FA3C2"/>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8FA3C2"/>
                </a:solidFill>
                <a:latin typeface="Calibri" pitchFamily="34" charset="0"/>
                <a:ea typeface="Calibri" pitchFamily="34" charset="-122"/>
                <a:cs typeface="Calibri" pitchFamily="34" charset="-120"/>
              </a:rPr>
              <a:t>Écran 59</a:t>
            </a:r>
            <a:endParaRPr lang="fr-FR" sz="1100" noProof="0" dirty="0"/>
          </a:p>
        </p:txBody>
      </p:sp>
      <p:sp>
        <p:nvSpPr>
          <p:cNvPr id="4" name="Text 2"/>
          <p:cNvSpPr txBox="1"/>
          <p:nvPr/>
        </p:nvSpPr>
        <p:spPr>
          <a:xfrm>
            <a:off x="7680960" y="365760"/>
            <a:ext cx="4023360" cy="5852160"/>
          </a:xfrm>
          <a:prstGeom prst="rect">
            <a:avLst/>
          </a:prstGeom>
          <a:noFill/>
          <a:ln/>
        </p:spPr>
        <p:txBody>
          <a:bodyPr wrap="square" lIns="0" tIns="0" rIns="0" bIns="0" rtlCol="0" anchor="ctr"/>
          <a:lstStyle/>
          <a:p>
            <a:pPr marL="0" indent="0" algn="r">
              <a:buNone/>
            </a:pPr>
            <a:r>
              <a:rPr lang="fr-FR" sz="30000" b="1" noProof="0" dirty="0">
                <a:solidFill>
                  <a:srgbClr val="16406F"/>
                </a:solidFill>
                <a:latin typeface="Cambria" pitchFamily="34" charset="0"/>
                <a:ea typeface="Cambria" pitchFamily="34" charset="-122"/>
                <a:cs typeface="Cambria" pitchFamily="34" charset="-120"/>
              </a:rPr>
              <a:t>2</a:t>
            </a:r>
            <a:endParaRPr lang="fr-FR" sz="30000" noProof="0" dirty="0"/>
          </a:p>
        </p:txBody>
      </p:sp>
      <p:sp>
        <p:nvSpPr>
          <p:cNvPr id="5" name="Text 3"/>
          <p:cNvSpPr txBox="1"/>
          <p:nvPr/>
        </p:nvSpPr>
        <p:spPr>
          <a:xfrm>
            <a:off x="566928" y="1874520"/>
            <a:ext cx="7315200" cy="329184"/>
          </a:xfrm>
          <a:prstGeom prst="rect">
            <a:avLst/>
          </a:prstGeom>
          <a:noFill/>
          <a:ln/>
        </p:spPr>
        <p:txBody>
          <a:bodyPr wrap="square" lIns="0" tIns="0" rIns="0" bIns="0" rtlCol="0" anchor="ctr"/>
          <a:lstStyle/>
          <a:p>
            <a:pPr marL="0" indent="0">
              <a:buNone/>
            </a:pPr>
            <a:r>
              <a:rPr lang="fr-FR" sz="1300" b="1" kern="0" spc="300" noProof="0" dirty="0">
                <a:solidFill>
                  <a:srgbClr val="9FB8DA"/>
                </a:solidFill>
                <a:latin typeface="Calibri" pitchFamily="34" charset="0"/>
                <a:ea typeface="Calibri" pitchFamily="34" charset="-122"/>
                <a:cs typeface="Calibri" pitchFamily="34" charset="-120"/>
              </a:rPr>
              <a:t>S E S S I O N 2</a:t>
            </a:r>
            <a:endParaRPr lang="fr-FR" sz="1300" noProof="0" dirty="0"/>
          </a:p>
        </p:txBody>
      </p:sp>
      <p:sp>
        <p:nvSpPr>
          <p:cNvPr id="6" name="Text 4"/>
          <p:cNvSpPr txBox="1"/>
          <p:nvPr/>
        </p:nvSpPr>
        <p:spPr>
          <a:xfrm>
            <a:off x="566928" y="2286000"/>
            <a:ext cx="7680960" cy="1371600"/>
          </a:xfrm>
          <a:prstGeom prst="rect">
            <a:avLst/>
          </a:prstGeom>
          <a:noFill/>
          <a:ln/>
        </p:spPr>
        <p:txBody>
          <a:bodyPr wrap="square" lIns="0" tIns="0" rIns="0" bIns="0" rtlCol="0" anchor="ctr"/>
          <a:lstStyle/>
          <a:p>
            <a:pPr marL="0" indent="0">
              <a:buNone/>
            </a:pPr>
            <a:r>
              <a:rPr lang="fr-FR" sz="4000" b="1" noProof="0" dirty="0">
                <a:solidFill>
                  <a:srgbClr val="FFFFFF"/>
                </a:solidFill>
                <a:latin typeface="Cambria" pitchFamily="34" charset="0"/>
                <a:ea typeface="Cambria" pitchFamily="34" charset="-122"/>
                <a:cs typeface="Cambria" pitchFamily="34" charset="-120"/>
              </a:rPr>
              <a:t>Dépistage et prévention</a:t>
            </a:r>
            <a:endParaRPr lang="fr-FR" sz="4000" noProof="0" dirty="0"/>
          </a:p>
        </p:txBody>
      </p:sp>
      <p:sp>
        <p:nvSpPr>
          <p:cNvPr id="7" name="Text 5"/>
          <p:cNvSpPr txBox="1"/>
          <p:nvPr/>
        </p:nvSpPr>
        <p:spPr>
          <a:xfrm>
            <a:off x="566928" y="3794760"/>
            <a:ext cx="7040880" cy="1463040"/>
          </a:xfrm>
          <a:prstGeom prst="rect">
            <a:avLst/>
          </a:prstGeom>
          <a:noFill/>
          <a:ln/>
        </p:spPr>
        <p:txBody>
          <a:bodyPr wrap="square" lIns="0" tIns="0" rIns="0" bIns="0" rtlCol="0" anchor="t"/>
          <a:lstStyle/>
          <a:p>
            <a:pPr>
              <a:lnSpc>
                <a:spcPct val="118000"/>
              </a:lnSpc>
            </a:pPr>
            <a:r>
              <a:rPr lang="fr-FR" sz="1800" noProof="0" dirty="0">
                <a:solidFill>
                  <a:srgbClr val="C6D5EA"/>
                </a:solidFill>
                <a:latin typeface="Calibri" pitchFamily="34" charset="0"/>
                <a:ea typeface="Calibri" pitchFamily="34" charset="-122"/>
                <a:cs typeface="Calibri" pitchFamily="34" charset="-120"/>
              </a:rPr>
              <a:t>Suivez Immaculée lors d'une visite de dépistage pendant que vous travaillez sur la vaccination, les risques, les symptômes, les tests de dépistage, ce que signifie un résultat et comment </a:t>
            </a:r>
            <a:r>
              <a:rPr lang="fr-FR" dirty="0">
                <a:solidFill>
                  <a:srgbClr val="C6D5EA"/>
                </a:solidFill>
                <a:latin typeface="Calibri" pitchFamily="34" charset="0"/>
                <a:ea typeface="Calibri" pitchFamily="34" charset="-122"/>
                <a:cs typeface="Calibri" pitchFamily="34" charset="-120"/>
              </a:rPr>
              <a:t>une lésion précancéreuse  </a:t>
            </a:r>
            <a:r>
              <a:rPr lang="fr-FR" sz="1800" noProof="0" dirty="0">
                <a:solidFill>
                  <a:srgbClr val="C6D5EA"/>
                </a:solidFill>
                <a:latin typeface="Calibri" pitchFamily="34" charset="0"/>
                <a:ea typeface="Calibri" pitchFamily="34" charset="-122"/>
                <a:cs typeface="Calibri" pitchFamily="34" charset="-120"/>
              </a:rPr>
              <a:t>du col de l'utérus est traitée.</a:t>
            </a:r>
            <a:endParaRPr lang="fr-FR" sz="1800" noProof="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60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Objectifs d'apprentissage</a:t>
            </a:r>
            <a:endParaRPr lang="fr-FR" sz="3200" noProof="0" dirty="0"/>
          </a:p>
        </p:txBody>
      </p:sp>
      <p:sp>
        <p:nvSpPr>
          <p:cNvPr id="6" name="Text 4"/>
          <p:cNvSpPr txBox="1"/>
          <p:nvPr/>
        </p:nvSpPr>
        <p:spPr>
          <a:xfrm>
            <a:off x="566928" y="1554480"/>
            <a:ext cx="11055096" cy="384048"/>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À la fin de cette session, vous serez en mesure de :</a:t>
            </a:r>
            <a:endParaRPr lang="fr-FR" sz="1800" noProof="0" dirty="0"/>
          </a:p>
        </p:txBody>
      </p:sp>
      <p:sp>
        <p:nvSpPr>
          <p:cNvPr id="7" name="Shape 5"/>
          <p:cNvSpPr/>
          <p:nvPr/>
        </p:nvSpPr>
        <p:spPr>
          <a:xfrm>
            <a:off x="566928" y="1975104"/>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04672" y="2069889"/>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04672" y="2069889"/>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1</a:t>
            </a:r>
            <a:endParaRPr lang="fr-FR" sz="1400" noProof="0" dirty="0"/>
          </a:p>
        </p:txBody>
      </p:sp>
      <p:sp>
        <p:nvSpPr>
          <p:cNvPr id="10" name="Text 8"/>
          <p:cNvSpPr txBox="1"/>
          <p:nvPr/>
        </p:nvSpPr>
        <p:spPr>
          <a:xfrm>
            <a:off x="1463040" y="2029968"/>
            <a:ext cx="9866376" cy="500467"/>
          </a:xfrm>
          <a:prstGeom prst="rect">
            <a:avLst/>
          </a:prstGeom>
          <a:noFill/>
          <a:ln/>
        </p:spPr>
        <p:txBody>
          <a:bodyPr wrap="square" lIns="0" tIns="0" rIns="0" bIns="0" rtlCol="0" anchor="ctr">
            <a:noAutofit/>
          </a:bodyPr>
          <a:lstStyle/>
          <a:p>
            <a:pPr marL="0" indent="0">
              <a:lnSpc>
                <a:spcPct val="104000"/>
              </a:lnSpc>
              <a:buNone/>
            </a:pPr>
            <a:r>
              <a:rPr lang="fr-FR" sz="1476" noProof="0" dirty="0">
                <a:solidFill>
                  <a:srgbClr val="23303F"/>
                </a:solidFill>
                <a:latin typeface="Calibri" pitchFamily="34" charset="0"/>
                <a:ea typeface="Calibri" pitchFamily="34" charset="-122"/>
                <a:cs typeface="Calibri" pitchFamily="34" charset="-120"/>
              </a:rPr>
              <a:t>Distinguez le dépistage d'une femme en bonne santé de l'évaluation d'une femme présentant des symptômes.</a:t>
            </a:r>
            <a:endParaRPr lang="fr-FR" sz="1476" noProof="0" dirty="0"/>
          </a:p>
        </p:txBody>
      </p:sp>
      <p:sp>
        <p:nvSpPr>
          <p:cNvPr id="11" name="Shape 9"/>
          <p:cNvSpPr/>
          <p:nvPr/>
        </p:nvSpPr>
        <p:spPr>
          <a:xfrm>
            <a:off x="566928" y="2686998"/>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04672" y="2781783"/>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04672" y="2781783"/>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2</a:t>
            </a:r>
            <a:endParaRPr lang="fr-FR" sz="1400" noProof="0" dirty="0"/>
          </a:p>
        </p:txBody>
      </p:sp>
      <p:sp>
        <p:nvSpPr>
          <p:cNvPr id="14" name="Text 12"/>
          <p:cNvSpPr txBox="1"/>
          <p:nvPr/>
        </p:nvSpPr>
        <p:spPr>
          <a:xfrm>
            <a:off x="1463040" y="2741862"/>
            <a:ext cx="9866376" cy="500467"/>
          </a:xfrm>
          <a:prstGeom prst="rect">
            <a:avLst/>
          </a:prstGeom>
          <a:noFill/>
          <a:ln/>
        </p:spPr>
        <p:txBody>
          <a:bodyPr wrap="square" lIns="0" tIns="0" rIns="0" bIns="0" rtlCol="0" anchor="ctr">
            <a:noAutofit/>
          </a:bodyPr>
          <a:lstStyle/>
          <a:p>
            <a:pPr marL="0" indent="0">
              <a:lnSpc>
                <a:spcPct val="104000"/>
              </a:lnSpc>
              <a:buNone/>
            </a:pPr>
            <a:r>
              <a:rPr lang="fr-FR" sz="1476" noProof="0" dirty="0">
                <a:solidFill>
                  <a:srgbClr val="23303F"/>
                </a:solidFill>
                <a:latin typeface="Calibri" pitchFamily="34" charset="0"/>
                <a:ea typeface="Calibri" pitchFamily="34" charset="-122"/>
                <a:cs typeface="Calibri" pitchFamily="34" charset="-120"/>
              </a:rPr>
              <a:t>Expliquez comment la vaccination contre le HPV prévient le cancer du col de l'utérus et répondez aux préoccupations courantes.</a:t>
            </a:r>
            <a:endParaRPr lang="fr-FR" sz="1476" noProof="0" dirty="0"/>
          </a:p>
        </p:txBody>
      </p:sp>
      <p:sp>
        <p:nvSpPr>
          <p:cNvPr id="15" name="Shape 13"/>
          <p:cNvSpPr/>
          <p:nvPr/>
        </p:nvSpPr>
        <p:spPr>
          <a:xfrm>
            <a:off x="566928" y="3398892"/>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04672" y="3493677"/>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04672" y="3493677"/>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3</a:t>
            </a:r>
            <a:endParaRPr lang="fr-FR" sz="1400" noProof="0" dirty="0"/>
          </a:p>
        </p:txBody>
      </p:sp>
      <p:sp>
        <p:nvSpPr>
          <p:cNvPr id="18" name="Text 16"/>
          <p:cNvSpPr txBox="1"/>
          <p:nvPr/>
        </p:nvSpPr>
        <p:spPr>
          <a:xfrm>
            <a:off x="1463040" y="3453756"/>
            <a:ext cx="9866376" cy="500467"/>
          </a:xfrm>
          <a:prstGeom prst="rect">
            <a:avLst/>
          </a:prstGeom>
          <a:noFill/>
          <a:ln/>
        </p:spPr>
        <p:txBody>
          <a:bodyPr wrap="square" lIns="0" tIns="0" rIns="0" bIns="0" rtlCol="0" anchor="ctr">
            <a:noAutofit/>
          </a:bodyPr>
          <a:lstStyle/>
          <a:p>
            <a:pPr marL="0" indent="0">
              <a:lnSpc>
                <a:spcPct val="104000"/>
              </a:lnSpc>
              <a:buNone/>
            </a:pPr>
            <a:r>
              <a:rPr lang="fr-FR" sz="1476" noProof="0" dirty="0">
                <a:solidFill>
                  <a:srgbClr val="23303F"/>
                </a:solidFill>
                <a:latin typeface="Calibri" pitchFamily="34" charset="0"/>
                <a:ea typeface="Calibri" pitchFamily="34" charset="-122"/>
                <a:cs typeface="Calibri" pitchFamily="34" charset="-120"/>
              </a:rPr>
              <a:t>Identifiez les facteurs de risque, les symptômes et les signaux d'alerte nécessitant une évaluation urgente.</a:t>
            </a:r>
            <a:endParaRPr lang="fr-FR" sz="1476" noProof="0" dirty="0"/>
          </a:p>
        </p:txBody>
      </p:sp>
      <p:sp>
        <p:nvSpPr>
          <p:cNvPr id="19" name="Shape 17"/>
          <p:cNvSpPr/>
          <p:nvPr/>
        </p:nvSpPr>
        <p:spPr>
          <a:xfrm>
            <a:off x="566928" y="4110786"/>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0" name="Shape 18"/>
          <p:cNvSpPr/>
          <p:nvPr/>
        </p:nvSpPr>
        <p:spPr>
          <a:xfrm>
            <a:off x="804672" y="4205571"/>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1" name="Text 19"/>
          <p:cNvSpPr txBox="1"/>
          <p:nvPr/>
        </p:nvSpPr>
        <p:spPr>
          <a:xfrm>
            <a:off x="804672" y="4205571"/>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4</a:t>
            </a:r>
            <a:endParaRPr lang="fr-FR" sz="1400" noProof="0" dirty="0"/>
          </a:p>
        </p:txBody>
      </p:sp>
      <p:sp>
        <p:nvSpPr>
          <p:cNvPr id="22" name="Text 20"/>
          <p:cNvSpPr txBox="1"/>
          <p:nvPr/>
        </p:nvSpPr>
        <p:spPr>
          <a:xfrm>
            <a:off x="1463040" y="4165650"/>
            <a:ext cx="9866376" cy="500467"/>
          </a:xfrm>
          <a:prstGeom prst="rect">
            <a:avLst/>
          </a:prstGeom>
          <a:noFill/>
          <a:ln/>
        </p:spPr>
        <p:txBody>
          <a:bodyPr wrap="square" lIns="0" tIns="0" rIns="0" bIns="0" rtlCol="0" anchor="ctr">
            <a:noAutofit/>
          </a:bodyPr>
          <a:lstStyle/>
          <a:p>
            <a:pPr marL="0" indent="0">
              <a:lnSpc>
                <a:spcPct val="104000"/>
              </a:lnSpc>
              <a:buNone/>
            </a:pPr>
            <a:r>
              <a:rPr lang="fr-FR" sz="1476" noProof="0" dirty="0">
                <a:solidFill>
                  <a:srgbClr val="23303F"/>
                </a:solidFill>
                <a:latin typeface="Calibri" pitchFamily="34" charset="0"/>
                <a:ea typeface="Calibri" pitchFamily="34" charset="-122"/>
                <a:cs typeface="Calibri" pitchFamily="34" charset="-120"/>
              </a:rPr>
              <a:t>Comparez le test HPV, la VIA et la cytologie, et décrivez la réalisation de chacun.</a:t>
            </a:r>
            <a:endParaRPr lang="fr-FR" sz="1476" noProof="0" dirty="0"/>
          </a:p>
        </p:txBody>
      </p:sp>
      <p:sp>
        <p:nvSpPr>
          <p:cNvPr id="23" name="Shape 21"/>
          <p:cNvSpPr/>
          <p:nvPr/>
        </p:nvSpPr>
        <p:spPr>
          <a:xfrm>
            <a:off x="566928" y="4822679"/>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4" name="Shape 22"/>
          <p:cNvSpPr/>
          <p:nvPr/>
        </p:nvSpPr>
        <p:spPr>
          <a:xfrm>
            <a:off x="804672" y="4917465"/>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5" name="Text 23"/>
          <p:cNvSpPr txBox="1"/>
          <p:nvPr/>
        </p:nvSpPr>
        <p:spPr>
          <a:xfrm>
            <a:off x="804672" y="4917465"/>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5</a:t>
            </a:r>
            <a:endParaRPr lang="fr-FR" sz="1400" noProof="0" dirty="0"/>
          </a:p>
        </p:txBody>
      </p:sp>
      <p:sp>
        <p:nvSpPr>
          <p:cNvPr id="26" name="Text 24"/>
          <p:cNvSpPr txBox="1"/>
          <p:nvPr/>
        </p:nvSpPr>
        <p:spPr>
          <a:xfrm>
            <a:off x="1463040" y="4877543"/>
            <a:ext cx="9866376" cy="500467"/>
          </a:xfrm>
          <a:prstGeom prst="rect">
            <a:avLst/>
          </a:prstGeom>
          <a:noFill/>
          <a:ln/>
        </p:spPr>
        <p:txBody>
          <a:bodyPr wrap="square" lIns="0" tIns="0" rIns="0" bIns="0" rtlCol="0" anchor="ctr">
            <a:noAutofit/>
          </a:bodyPr>
          <a:lstStyle/>
          <a:p>
            <a:pPr marL="0" indent="0">
              <a:lnSpc>
                <a:spcPct val="104000"/>
              </a:lnSpc>
              <a:buNone/>
            </a:pPr>
            <a:r>
              <a:rPr lang="fr-FR" sz="1476" noProof="0" dirty="0">
                <a:solidFill>
                  <a:srgbClr val="23303F"/>
                </a:solidFill>
                <a:latin typeface="Calibri" pitchFamily="34" charset="0"/>
                <a:ea typeface="Calibri" pitchFamily="34" charset="-122"/>
                <a:cs typeface="Calibri" pitchFamily="34" charset="-120"/>
              </a:rPr>
              <a:t>Interprétez un résultat de dépistage et énoncez la bonne étape suivante.</a:t>
            </a:r>
            <a:endParaRPr lang="fr-FR" sz="1476" noProof="0" dirty="0"/>
          </a:p>
        </p:txBody>
      </p:sp>
      <p:sp>
        <p:nvSpPr>
          <p:cNvPr id="27" name="Shape 25"/>
          <p:cNvSpPr/>
          <p:nvPr/>
        </p:nvSpPr>
        <p:spPr>
          <a:xfrm>
            <a:off x="566928" y="5534573"/>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8" name="Shape 26"/>
          <p:cNvSpPr/>
          <p:nvPr/>
        </p:nvSpPr>
        <p:spPr>
          <a:xfrm>
            <a:off x="804672" y="5629359"/>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9" name="Text 27"/>
          <p:cNvSpPr txBox="1"/>
          <p:nvPr/>
        </p:nvSpPr>
        <p:spPr>
          <a:xfrm>
            <a:off x="804672" y="5629359"/>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6</a:t>
            </a:r>
            <a:endParaRPr lang="fr-FR" sz="1400" noProof="0" dirty="0"/>
          </a:p>
        </p:txBody>
      </p:sp>
      <p:sp>
        <p:nvSpPr>
          <p:cNvPr id="30" name="Text 28"/>
          <p:cNvSpPr txBox="1"/>
          <p:nvPr/>
        </p:nvSpPr>
        <p:spPr>
          <a:xfrm>
            <a:off x="1463040" y="5589437"/>
            <a:ext cx="9866376" cy="500467"/>
          </a:xfrm>
          <a:prstGeom prst="rect">
            <a:avLst/>
          </a:prstGeom>
          <a:noFill/>
          <a:ln/>
        </p:spPr>
        <p:txBody>
          <a:bodyPr wrap="square" lIns="0" tIns="0" rIns="0" bIns="0" rtlCol="0" anchor="ctr">
            <a:noAutofit/>
          </a:bodyPr>
          <a:lstStyle/>
          <a:p>
            <a:pPr marL="0" indent="0">
              <a:lnSpc>
                <a:spcPct val="104000"/>
              </a:lnSpc>
              <a:buNone/>
            </a:pPr>
            <a:r>
              <a:rPr lang="fr-FR" sz="1476" noProof="0" dirty="0">
                <a:solidFill>
                  <a:srgbClr val="23303F"/>
                </a:solidFill>
                <a:latin typeface="Calibri" pitchFamily="34" charset="0"/>
                <a:ea typeface="Calibri" pitchFamily="34" charset="-122"/>
                <a:cs typeface="Calibri" pitchFamily="34" charset="-120"/>
              </a:rPr>
              <a:t>Prenez en charge une femme HPV positive selon l'algorithme rwandais, y compris le traitement, l'orientation et le suivi.</a:t>
            </a:r>
            <a:endParaRPr lang="fr-FR" sz="1476" noProof="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CAS CLINIQUE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Voici Immaculée</a:t>
            </a:r>
            <a:endParaRPr lang="fr-FR" sz="3200" noProof="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62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CAS CLINIQUE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Pour quel type de consultation Immaculée vient-elle ?</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Immaculée se sent bien et ne présente aucun symptôme. Quelle description correspond à sa visite aujourd'hui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noAutofit/>
          </a:bodyPr>
          <a:lstStyle/>
          <a:p>
            <a:pPr marL="0" indent="0">
              <a:buNone/>
            </a:pPr>
            <a:r>
              <a:rPr lang="fr-FR" sz="1700" b="1" noProof="0" dirty="0">
                <a:solidFill>
                  <a:srgbClr val="1F4E96"/>
                </a:solidFill>
                <a:latin typeface="Calibri" pitchFamily="34" charset="0"/>
                <a:ea typeface="Calibri" pitchFamily="34" charset="-122"/>
                <a:cs typeface="Calibri" pitchFamily="34" charset="-120"/>
              </a:rPr>
              <a:t>A   </a:t>
            </a:r>
            <a:r>
              <a:rPr lang="fr-FR" sz="1700" noProof="0" dirty="0">
                <a:solidFill>
                  <a:srgbClr val="23303F"/>
                </a:solidFill>
                <a:latin typeface="Calibri" pitchFamily="34" charset="0"/>
                <a:ea typeface="Calibri" pitchFamily="34" charset="-122"/>
                <a:cs typeface="Calibri" pitchFamily="34" charset="-120"/>
              </a:rPr>
              <a:t>Une évaluation diagnostique, car chaque femme a besoin d'un examen de son col de l'utérus</a:t>
            </a:r>
            <a:endParaRPr lang="fr-FR" sz="17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noAutofit/>
          </a:bodyPr>
          <a:lstStyle/>
          <a:p>
            <a:pPr marL="0" indent="0">
              <a:buNone/>
            </a:pPr>
            <a:r>
              <a:rPr lang="fr-FR" sz="1700" b="1" noProof="0" dirty="0">
                <a:solidFill>
                  <a:srgbClr val="19543E"/>
                </a:solidFill>
                <a:latin typeface="Calibri" pitchFamily="34" charset="0"/>
                <a:ea typeface="Calibri" pitchFamily="34" charset="-122"/>
                <a:cs typeface="Calibri" pitchFamily="34" charset="-120"/>
              </a:rPr>
              <a:t>B   </a:t>
            </a:r>
            <a:r>
              <a:rPr lang="fr-FR" sz="1700" noProof="0" dirty="0">
                <a:solidFill>
                  <a:srgbClr val="23303F"/>
                </a:solidFill>
                <a:latin typeface="Calibri" pitchFamily="34" charset="0"/>
                <a:ea typeface="Calibri" pitchFamily="34" charset="-122"/>
                <a:cs typeface="Calibri" pitchFamily="34" charset="-120"/>
              </a:rPr>
              <a:t>Dépistage, car elle ne présente aucun symptôme et est testée afin de détecter précocement d'éventuelles anomalies</a:t>
            </a:r>
            <a:r>
              <a:rPr lang="fr-FR" sz="1700" noProof="0" dirty="0">
                <a:solidFill>
                  <a:srgbClr val="000000"/>
                </a:solidFill>
                <a:latin typeface="Calibri" pitchFamily="34" charset="0"/>
                <a:ea typeface="Calibri" pitchFamily="34" charset="-122"/>
                <a:cs typeface="Calibri" pitchFamily="34" charset="-120"/>
              </a:rPr>
              <a:t>   ✅</a:t>
            </a:r>
            <a:endParaRPr lang="fr-FR" sz="17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noAutofit/>
          </a:bodyPr>
          <a:lstStyle/>
          <a:p>
            <a:pPr marL="0" indent="0">
              <a:buNone/>
            </a:pPr>
            <a:r>
              <a:rPr lang="fr-FR" sz="1700" b="1" noProof="0" dirty="0">
                <a:solidFill>
                  <a:srgbClr val="1F4E96"/>
                </a:solidFill>
                <a:latin typeface="Calibri" pitchFamily="34" charset="0"/>
                <a:ea typeface="Calibri" pitchFamily="34" charset="-122"/>
                <a:cs typeface="Calibri" pitchFamily="34" charset="-120"/>
              </a:rPr>
              <a:t>C   </a:t>
            </a:r>
            <a:r>
              <a:rPr lang="fr-FR" sz="1700" noProof="0" dirty="0">
                <a:solidFill>
                  <a:srgbClr val="23303F"/>
                </a:solidFill>
                <a:latin typeface="Calibri" pitchFamily="34" charset="0"/>
                <a:ea typeface="Calibri" pitchFamily="34" charset="-122"/>
                <a:cs typeface="Calibri" pitchFamily="34" charset="-120"/>
              </a:rPr>
              <a:t>Surveillance, car elle a déjà été soignée</a:t>
            </a:r>
            <a:endParaRPr lang="fr-FR" sz="17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noAutofit/>
          </a:bodyPr>
          <a:lstStyle/>
          <a:p>
            <a:pPr marL="0" indent="0">
              <a:buNone/>
            </a:pPr>
            <a:r>
              <a:rPr lang="fr-FR" sz="1700" b="1" noProof="0" dirty="0">
                <a:solidFill>
                  <a:srgbClr val="1F4E96"/>
                </a:solidFill>
                <a:latin typeface="Calibri" pitchFamily="34" charset="0"/>
                <a:ea typeface="Calibri" pitchFamily="34" charset="-122"/>
                <a:cs typeface="Calibri" pitchFamily="34" charset="-120"/>
              </a:rPr>
              <a:t>D   </a:t>
            </a:r>
            <a:r>
              <a:rPr lang="fr-FR" sz="1700" noProof="0" dirty="0">
                <a:solidFill>
                  <a:srgbClr val="23303F"/>
                </a:solidFill>
                <a:latin typeface="Calibri" pitchFamily="34" charset="0"/>
                <a:ea typeface="Calibri" pitchFamily="34" charset="-122"/>
                <a:cs typeface="Calibri" pitchFamily="34" charset="-120"/>
              </a:rPr>
              <a:t>Aucun test n'est nécessaire, car elle se sent bien</a:t>
            </a:r>
            <a:endParaRPr lang="fr-FR" sz="17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normAutofit fontScale="97500"/>
          </a:bodyPr>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Le dépistage signifie tester une femme éligible qui n'a aucun symptôme. Immaculée n'a aucun symptôme, elle est donc en train de faire un dépistage. Une femme avec des symptômes inquiétants aurait besoin d'une évaluation diagnostique, qui est une voie différente.</a:t>
            </a:r>
            <a:endParaRPr lang="fr-FR" sz="1800" noProof="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63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PRÉVENTION</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 continuum de la prévention</a:t>
            </a:r>
            <a:endParaRPr lang="fr-FR" sz="3200" noProof="0" dirty="0"/>
          </a:p>
        </p:txBody>
      </p:sp>
      <p:sp>
        <p:nvSpPr>
          <p:cNvPr id="6" name="Shape 4"/>
          <p:cNvSpPr/>
          <p:nvPr/>
        </p:nvSpPr>
        <p:spPr>
          <a:xfrm>
            <a:off x="566928" y="1719071"/>
            <a:ext cx="3563112" cy="3597995"/>
          </a:xfrm>
          <a:prstGeom prst="roundRect">
            <a:avLst>
              <a:gd name="adj" fmla="val 3000"/>
            </a:avLst>
          </a:prstGeom>
          <a:solidFill>
            <a:srgbClr val="EAF7F0"/>
          </a:solidFill>
          <a:ln w="12700">
            <a:solidFill>
              <a:srgbClr val="C0D4CB"/>
            </a:solidFill>
            <a:prstDash val="solid"/>
          </a:ln>
        </p:spPr>
        <p:txBody>
          <a:bodyPr/>
          <a:lstStyle/>
          <a:p>
            <a:endParaRPr lang="fr-FR" noProof="0" dirty="0"/>
          </a:p>
        </p:txBody>
      </p:sp>
      <p:sp>
        <p:nvSpPr>
          <p:cNvPr id="7" name="Text 5"/>
          <p:cNvSpPr txBox="1"/>
          <p:nvPr/>
        </p:nvSpPr>
        <p:spPr>
          <a:xfrm>
            <a:off x="822960" y="1901952"/>
            <a:ext cx="3051048" cy="566928"/>
          </a:xfrm>
          <a:prstGeom prst="rect">
            <a:avLst/>
          </a:prstGeom>
          <a:noFill/>
          <a:ln/>
        </p:spPr>
        <p:txBody>
          <a:bodyPr wrap="square" lIns="0" tIns="0" rIns="0" bIns="0" rtlCol="0" anchor="ctr"/>
          <a:lstStyle/>
          <a:p>
            <a:pPr marL="0" indent="0">
              <a:buNone/>
            </a:pPr>
            <a:r>
              <a:rPr lang="fr-FR" sz="2000" b="1" noProof="0" dirty="0">
                <a:solidFill>
                  <a:srgbClr val="19543E"/>
                </a:solidFill>
                <a:latin typeface="Calibri" pitchFamily="34" charset="0"/>
                <a:ea typeface="Calibri" pitchFamily="34" charset="-122"/>
                <a:cs typeface="Calibri" pitchFamily="34" charset="-120"/>
              </a:rPr>
              <a:t>1️⃣ Prévention primaire</a:t>
            </a:r>
            <a:endParaRPr lang="fr-FR" sz="2000" noProof="0" dirty="0"/>
          </a:p>
        </p:txBody>
      </p:sp>
      <p:sp>
        <p:nvSpPr>
          <p:cNvPr id="8" name="Text 6"/>
          <p:cNvSpPr txBox="1"/>
          <p:nvPr/>
        </p:nvSpPr>
        <p:spPr>
          <a:xfrm>
            <a:off x="822960" y="2505456"/>
            <a:ext cx="3051048" cy="1773936"/>
          </a:xfrm>
          <a:prstGeom prst="rect">
            <a:avLst/>
          </a:prstGeom>
          <a:noFill/>
          <a:ln/>
        </p:spPr>
        <p:txBody>
          <a:bodyPr wrap="square" lIns="0" tIns="0" rIns="0" bIns="0" rtlCol="0" anchor="t">
            <a:noAutofit/>
          </a:bodyPr>
          <a:lstStyle/>
          <a:p>
            <a:pPr marL="0" indent="0">
              <a:lnSpc>
                <a:spcPct val="106000"/>
              </a:lnSpc>
              <a:buNone/>
            </a:pPr>
            <a:r>
              <a:rPr lang="fr-FR" sz="1764" noProof="0" dirty="0">
                <a:solidFill>
                  <a:srgbClr val="23303F"/>
                </a:solidFill>
                <a:latin typeface="Calibri" pitchFamily="34" charset="0"/>
                <a:ea typeface="Calibri" pitchFamily="34" charset="-122"/>
                <a:cs typeface="Calibri" pitchFamily="34" charset="-120"/>
              </a:rPr>
              <a:t>Prévenir l'infection par le HPV, principalement par la vaccination contre le HPV, avant l'exposition.</a:t>
            </a:r>
            <a:endParaRPr lang="fr-FR" sz="1764" noProof="0" dirty="0"/>
          </a:p>
        </p:txBody>
      </p:sp>
      <p:sp>
        <p:nvSpPr>
          <p:cNvPr id="9" name="Shape 7"/>
          <p:cNvSpPr/>
          <p:nvPr/>
        </p:nvSpPr>
        <p:spPr>
          <a:xfrm>
            <a:off x="4312920" y="1719071"/>
            <a:ext cx="3563112" cy="3597995"/>
          </a:xfrm>
          <a:prstGeom prst="roundRect">
            <a:avLst>
              <a:gd name="adj" fmla="val 3000"/>
            </a:avLst>
          </a:prstGeom>
          <a:solidFill>
            <a:srgbClr val="ECF3FD"/>
          </a:solidFill>
          <a:ln w="12700">
            <a:solidFill>
              <a:srgbClr val="E0E3EA"/>
            </a:solidFill>
            <a:prstDash val="solid"/>
          </a:ln>
        </p:spPr>
        <p:txBody>
          <a:bodyPr/>
          <a:lstStyle/>
          <a:p>
            <a:endParaRPr lang="fr-FR" noProof="0" dirty="0"/>
          </a:p>
        </p:txBody>
      </p:sp>
      <p:sp>
        <p:nvSpPr>
          <p:cNvPr id="10" name="Text 8"/>
          <p:cNvSpPr txBox="1"/>
          <p:nvPr/>
        </p:nvSpPr>
        <p:spPr>
          <a:xfrm>
            <a:off x="4568952" y="1901952"/>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2️⃣ Prévention secondaire</a:t>
            </a:r>
            <a:endParaRPr lang="fr-FR" sz="2000" noProof="0" dirty="0"/>
          </a:p>
        </p:txBody>
      </p:sp>
      <p:sp>
        <p:nvSpPr>
          <p:cNvPr id="11" name="Text 9"/>
          <p:cNvSpPr txBox="1"/>
          <p:nvPr/>
        </p:nvSpPr>
        <p:spPr>
          <a:xfrm>
            <a:off x="4568952" y="2505456"/>
            <a:ext cx="3051048" cy="1773936"/>
          </a:xfrm>
          <a:prstGeom prst="rect">
            <a:avLst/>
          </a:prstGeom>
          <a:noFill/>
          <a:ln/>
        </p:spPr>
        <p:txBody>
          <a:bodyPr wrap="square" lIns="0" tIns="0" rIns="0" bIns="0" rtlCol="0" anchor="t">
            <a:noAutofit/>
          </a:bodyPr>
          <a:lstStyle/>
          <a:p>
            <a:pPr>
              <a:lnSpc>
                <a:spcPct val="106000"/>
              </a:lnSpc>
            </a:pPr>
            <a:r>
              <a:rPr lang="fr-FR" sz="1584" noProof="0" dirty="0">
                <a:solidFill>
                  <a:srgbClr val="23303F"/>
                </a:solidFill>
                <a:latin typeface="Calibri" pitchFamily="34" charset="0"/>
                <a:ea typeface="Calibri" pitchFamily="34" charset="-122"/>
                <a:cs typeface="Calibri" pitchFamily="34" charset="-120"/>
              </a:rPr>
              <a:t>Détecter et </a:t>
            </a:r>
            <a:r>
              <a:rPr lang="fr-FR" sz="1584" noProof="0" dirty="0" err="1">
                <a:solidFill>
                  <a:srgbClr val="23303F"/>
                </a:solidFill>
                <a:latin typeface="Calibri" pitchFamily="34" charset="0"/>
                <a:ea typeface="Calibri" pitchFamily="34" charset="-122"/>
                <a:cs typeface="Calibri" pitchFamily="34" charset="-120"/>
              </a:rPr>
              <a:t>t</a:t>
            </a:r>
            <a:r>
              <a:rPr lang="fr-FR" sz="1584" dirty="0" err="1">
                <a:solidFill>
                  <a:srgbClr val="23303F"/>
                </a:solidFill>
                <a:latin typeface="Calibri" pitchFamily="34" charset="0"/>
                <a:ea typeface="Calibri" pitchFamily="34" charset="-122"/>
                <a:cs typeface="Calibri" pitchFamily="34" charset="-120"/>
              </a:rPr>
              <a:t>raiter</a:t>
            </a:r>
            <a:r>
              <a:rPr lang="fr-FR" sz="1584" dirty="0">
                <a:solidFill>
                  <a:srgbClr val="23303F"/>
                </a:solidFill>
                <a:latin typeface="Calibri" pitchFamily="34" charset="0"/>
                <a:ea typeface="Calibri" pitchFamily="34" charset="-122"/>
                <a:cs typeface="Calibri" pitchFamily="34" charset="-120"/>
              </a:rPr>
              <a:t> les lésions précancéreuses </a:t>
            </a:r>
            <a:r>
              <a:rPr lang="fr-FR" sz="1584" noProof="0" dirty="0">
                <a:solidFill>
                  <a:srgbClr val="23303F"/>
                </a:solidFill>
                <a:latin typeface="Calibri" pitchFamily="34" charset="0"/>
                <a:ea typeface="Calibri" pitchFamily="34" charset="-122"/>
                <a:cs typeface="Calibri" pitchFamily="34" charset="-120"/>
              </a:rPr>
              <a:t>du col de l'utérus par un dépistage, avant le développement d'un cancer invasif.</a:t>
            </a:r>
            <a:endParaRPr lang="fr-FR" sz="1584" noProof="0" dirty="0"/>
          </a:p>
        </p:txBody>
      </p:sp>
      <p:sp>
        <p:nvSpPr>
          <p:cNvPr id="12" name="Shape 10"/>
          <p:cNvSpPr/>
          <p:nvPr/>
        </p:nvSpPr>
        <p:spPr>
          <a:xfrm>
            <a:off x="8058912" y="1719071"/>
            <a:ext cx="3563112" cy="3597995"/>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901952"/>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3️⃣ Soins tertiaires</a:t>
            </a:r>
            <a:endParaRPr lang="fr-FR" sz="2000" noProof="0" dirty="0"/>
          </a:p>
        </p:txBody>
      </p:sp>
      <p:sp>
        <p:nvSpPr>
          <p:cNvPr id="14" name="Text 12"/>
          <p:cNvSpPr txBox="1"/>
          <p:nvPr/>
        </p:nvSpPr>
        <p:spPr>
          <a:xfrm>
            <a:off x="8314944" y="2505456"/>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Diagnostiquer et traiter le cancer invasif, et fournir des soins de soutien et palliatifs.</a:t>
            </a:r>
            <a:endParaRPr lang="fr-FR" sz="1800" noProof="0" dirty="0"/>
          </a:p>
        </p:txBody>
      </p:sp>
      <p:sp>
        <p:nvSpPr>
          <p:cNvPr id="15" name="Shape 13"/>
          <p:cNvSpPr/>
          <p:nvPr/>
        </p:nvSpPr>
        <p:spPr>
          <a:xfrm>
            <a:off x="566928" y="5543973"/>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5598837"/>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Point clé :  </a:t>
            </a:r>
            <a:r>
              <a:rPr lang="fr-FR" sz="1800" noProof="0" dirty="0">
                <a:solidFill>
                  <a:srgbClr val="23303F"/>
                </a:solidFill>
                <a:latin typeface="Calibri" pitchFamily="34" charset="0"/>
                <a:ea typeface="Calibri" pitchFamily="34" charset="-122"/>
                <a:cs typeface="Calibri" pitchFamily="34" charset="-120"/>
              </a:rPr>
              <a:t>la vaccination et le dépistage sont complémentaires. Aucun ne remplace l'autre, et un pays a besoin des deux pour éliminer le cancer du col de l'utérus.</a:t>
            </a:r>
            <a:endParaRPr lang="fr-FR" sz="1800" noProof="0" dirty="0"/>
          </a:p>
        </p:txBody>
      </p:sp>
      <p:pic>
        <p:nvPicPr>
          <p:cNvPr id="18" name="Imagen 17">
            <a:extLst>
              <a:ext uri="{FF2B5EF4-FFF2-40B4-BE49-F238E27FC236}">
                <a16:creationId xmlns:a16="http://schemas.microsoft.com/office/drawing/2014/main" id="{7D06E25B-DAEB-33A6-0930-E9575B62BF2B}"/>
              </a:ext>
            </a:extLst>
          </p:cNvPr>
          <p:cNvPicPr>
            <a:picLocks noChangeAspect="1"/>
          </p:cNvPicPr>
          <p:nvPr/>
        </p:nvPicPr>
        <p:blipFill>
          <a:blip r:embed="rId3"/>
          <a:srcRect/>
          <a:stretch>
            <a:fillRect/>
          </a:stretch>
        </p:blipFill>
        <p:spPr>
          <a:xfrm>
            <a:off x="5209032" y="3491653"/>
            <a:ext cx="1773936" cy="1773936"/>
          </a:xfrm>
          <a:prstGeom prst="rect">
            <a:avLst/>
          </a:prstGeom>
        </p:spPr>
      </p:pic>
      <p:pic>
        <p:nvPicPr>
          <p:cNvPr id="19" name="Imagen 18">
            <a:extLst>
              <a:ext uri="{FF2B5EF4-FFF2-40B4-BE49-F238E27FC236}">
                <a16:creationId xmlns:a16="http://schemas.microsoft.com/office/drawing/2014/main" id="{F19BC0D4-A57F-F121-11D9-955CE68EF781}"/>
              </a:ext>
            </a:extLst>
          </p:cNvPr>
          <p:cNvPicPr>
            <a:picLocks noChangeAspect="1"/>
          </p:cNvPicPr>
          <p:nvPr/>
        </p:nvPicPr>
        <p:blipFill>
          <a:blip r:embed="rId4"/>
          <a:srcRect/>
          <a:stretch>
            <a:fillRect/>
          </a:stretch>
        </p:blipFill>
        <p:spPr>
          <a:xfrm>
            <a:off x="8958410" y="3491653"/>
            <a:ext cx="1730078" cy="1730078"/>
          </a:xfrm>
          <a:prstGeom prst="rect">
            <a:avLst/>
          </a:prstGeom>
        </p:spPr>
      </p:pic>
      <p:pic>
        <p:nvPicPr>
          <p:cNvPr id="20" name="Imagen 19">
            <a:extLst>
              <a:ext uri="{FF2B5EF4-FFF2-40B4-BE49-F238E27FC236}">
                <a16:creationId xmlns:a16="http://schemas.microsoft.com/office/drawing/2014/main" id="{A97F483E-5526-EEFE-E9FC-0544F4720941}"/>
              </a:ext>
            </a:extLst>
          </p:cNvPr>
          <p:cNvPicPr>
            <a:picLocks noChangeAspect="1"/>
          </p:cNvPicPr>
          <p:nvPr/>
        </p:nvPicPr>
        <p:blipFill>
          <a:blip r:embed="rId5"/>
          <a:srcRect/>
          <a:stretch>
            <a:fillRect/>
          </a:stretch>
        </p:blipFill>
        <p:spPr>
          <a:xfrm>
            <a:off x="1458298" y="3447287"/>
            <a:ext cx="1773937" cy="1773937"/>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64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PRÉVENTION</a:t>
            </a:r>
            <a:endParaRPr lang="fr-FR" sz="1200" noProof="0" dirty="0"/>
          </a:p>
        </p:txBody>
      </p:sp>
      <p:sp>
        <p:nvSpPr>
          <p:cNvPr id="5" name="Text 3"/>
          <p:cNvSpPr txBox="1"/>
          <p:nvPr/>
        </p:nvSpPr>
        <p:spPr>
          <a:xfrm>
            <a:off x="566928" y="868684"/>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Les objectifs du Rwanda pour l'élimination du cancer du col de l'utérus</a:t>
            </a:r>
            <a:endParaRPr lang="fr-FR" sz="3200" noProof="0" dirty="0"/>
          </a:p>
        </p:txBody>
      </p:sp>
      <p:sp>
        <p:nvSpPr>
          <p:cNvPr id="6" name="Shape 4"/>
          <p:cNvSpPr/>
          <p:nvPr/>
        </p:nvSpPr>
        <p:spPr>
          <a:xfrm>
            <a:off x="566928" y="2094636"/>
            <a:ext cx="3563112" cy="2243329"/>
          </a:xfrm>
          <a:prstGeom prst="roundRect">
            <a:avLst>
              <a:gd name="adj" fmla="val 36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04672" y="2259229"/>
            <a:ext cx="3087624" cy="658368"/>
          </a:xfrm>
          <a:prstGeom prst="rect">
            <a:avLst/>
          </a:prstGeom>
          <a:noFill/>
          <a:ln/>
        </p:spPr>
        <p:txBody>
          <a:bodyPr wrap="square" lIns="0" tIns="0" rIns="0" bIns="0" rtlCol="0" anchor="ctr"/>
          <a:lstStyle/>
          <a:p>
            <a:pPr marL="0" indent="0">
              <a:buNone/>
            </a:pPr>
            <a:r>
              <a:rPr lang="fr-FR" sz="3400" b="1" noProof="0" dirty="0">
                <a:solidFill>
                  <a:srgbClr val="10305A"/>
                </a:solidFill>
                <a:latin typeface="Cambria" pitchFamily="34" charset="0"/>
                <a:ea typeface="Cambria" pitchFamily="34" charset="-122"/>
                <a:cs typeface="Cambria" pitchFamily="34" charset="-120"/>
              </a:rPr>
              <a:t>90%</a:t>
            </a:r>
            <a:endParaRPr lang="fr-FR" sz="3400" noProof="0" dirty="0"/>
          </a:p>
        </p:txBody>
      </p:sp>
      <p:sp>
        <p:nvSpPr>
          <p:cNvPr id="8" name="Text 6"/>
          <p:cNvSpPr txBox="1"/>
          <p:nvPr/>
        </p:nvSpPr>
        <p:spPr>
          <a:xfrm>
            <a:off x="804672" y="2954173"/>
            <a:ext cx="3087624" cy="1261872"/>
          </a:xfrm>
          <a:prstGeom prst="rect">
            <a:avLst/>
          </a:prstGeom>
          <a:noFill/>
          <a:ln/>
        </p:spPr>
        <p:txBody>
          <a:bodyPr wrap="square" lIns="0" tIns="0" rIns="0" bIns="0" rtlCol="0" anchor="t"/>
          <a:lstStyle/>
          <a:p>
            <a:pPr marL="0" indent="0">
              <a:lnSpc>
                <a:spcPct val="104000"/>
              </a:lnSpc>
              <a:buNone/>
            </a:pPr>
            <a:r>
              <a:rPr lang="fr-FR" sz="2000" noProof="0" dirty="0">
                <a:solidFill>
                  <a:srgbClr val="23303F"/>
                </a:solidFill>
                <a:latin typeface="Calibri" pitchFamily="34" charset="0"/>
                <a:ea typeface="Calibri" pitchFamily="34" charset="-122"/>
                <a:cs typeface="Calibri" pitchFamily="34" charset="-120"/>
              </a:rPr>
              <a:t>Des filles entièrement vaccinées contre le HPV avant l'âge de 15 ans</a:t>
            </a:r>
            <a:endParaRPr lang="fr-FR" sz="2000" noProof="0" dirty="0"/>
          </a:p>
        </p:txBody>
      </p:sp>
      <p:sp>
        <p:nvSpPr>
          <p:cNvPr id="9" name="Shape 7"/>
          <p:cNvSpPr/>
          <p:nvPr/>
        </p:nvSpPr>
        <p:spPr>
          <a:xfrm>
            <a:off x="4312920" y="2094636"/>
            <a:ext cx="3563112" cy="2243329"/>
          </a:xfrm>
          <a:prstGeom prst="roundRect">
            <a:avLst>
              <a:gd name="adj" fmla="val 36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50664" y="2259229"/>
            <a:ext cx="3087624" cy="658368"/>
          </a:xfrm>
          <a:prstGeom prst="rect">
            <a:avLst/>
          </a:prstGeom>
          <a:noFill/>
          <a:ln/>
        </p:spPr>
        <p:txBody>
          <a:bodyPr wrap="square" lIns="0" tIns="0" rIns="0" bIns="0" rtlCol="0" anchor="ctr"/>
          <a:lstStyle/>
          <a:p>
            <a:pPr marL="0" indent="0">
              <a:buNone/>
            </a:pPr>
            <a:r>
              <a:rPr lang="fr-FR" sz="3400" b="1" noProof="0" dirty="0">
                <a:solidFill>
                  <a:srgbClr val="10305A"/>
                </a:solidFill>
                <a:latin typeface="Cambria" pitchFamily="34" charset="0"/>
                <a:ea typeface="Cambria" pitchFamily="34" charset="-122"/>
                <a:cs typeface="Cambria" pitchFamily="34" charset="-120"/>
              </a:rPr>
              <a:t>70%</a:t>
            </a:r>
            <a:endParaRPr lang="fr-FR" sz="3400" noProof="0" dirty="0"/>
          </a:p>
        </p:txBody>
      </p:sp>
      <p:sp>
        <p:nvSpPr>
          <p:cNvPr id="11" name="Text 9"/>
          <p:cNvSpPr txBox="1"/>
          <p:nvPr/>
        </p:nvSpPr>
        <p:spPr>
          <a:xfrm>
            <a:off x="4550664" y="2954173"/>
            <a:ext cx="3087624" cy="1261872"/>
          </a:xfrm>
          <a:prstGeom prst="rect">
            <a:avLst/>
          </a:prstGeom>
          <a:noFill/>
          <a:ln/>
        </p:spPr>
        <p:txBody>
          <a:bodyPr wrap="square" lIns="0" tIns="0" rIns="0" bIns="0" rtlCol="0" anchor="t"/>
          <a:lstStyle/>
          <a:p>
            <a:pPr marL="0" indent="0">
              <a:lnSpc>
                <a:spcPct val="104000"/>
              </a:lnSpc>
              <a:buNone/>
            </a:pPr>
            <a:r>
              <a:rPr lang="fr-FR" sz="2000" noProof="0" dirty="0">
                <a:solidFill>
                  <a:srgbClr val="23303F"/>
                </a:solidFill>
                <a:latin typeface="Calibri" pitchFamily="34" charset="0"/>
                <a:ea typeface="Calibri" pitchFamily="34" charset="-122"/>
                <a:cs typeface="Calibri" pitchFamily="34" charset="-120"/>
              </a:rPr>
              <a:t>Des femmes âgées de 30 à 49 ans ont été dépistées à l'aide de tests de haute précision basés sur l'ADN du HPV</a:t>
            </a:r>
            <a:endParaRPr lang="fr-FR" sz="2000" noProof="0" dirty="0"/>
          </a:p>
        </p:txBody>
      </p:sp>
      <p:sp>
        <p:nvSpPr>
          <p:cNvPr id="12" name="Shape 10"/>
          <p:cNvSpPr/>
          <p:nvPr/>
        </p:nvSpPr>
        <p:spPr>
          <a:xfrm>
            <a:off x="8058912" y="2094636"/>
            <a:ext cx="3563112" cy="2243329"/>
          </a:xfrm>
          <a:prstGeom prst="roundRect">
            <a:avLst>
              <a:gd name="adj" fmla="val 36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296656" y="2259229"/>
            <a:ext cx="3087624" cy="658368"/>
          </a:xfrm>
          <a:prstGeom prst="rect">
            <a:avLst/>
          </a:prstGeom>
          <a:noFill/>
          <a:ln/>
        </p:spPr>
        <p:txBody>
          <a:bodyPr wrap="square" lIns="0" tIns="0" rIns="0" bIns="0" rtlCol="0" anchor="ctr"/>
          <a:lstStyle/>
          <a:p>
            <a:pPr marL="0" indent="0">
              <a:buNone/>
            </a:pPr>
            <a:r>
              <a:rPr lang="fr-FR" sz="3400" b="1" noProof="0" dirty="0">
                <a:solidFill>
                  <a:srgbClr val="10305A"/>
                </a:solidFill>
                <a:latin typeface="Cambria" pitchFamily="34" charset="0"/>
                <a:ea typeface="Cambria" pitchFamily="34" charset="-122"/>
                <a:cs typeface="Cambria" pitchFamily="34" charset="-120"/>
              </a:rPr>
              <a:t>90%</a:t>
            </a:r>
            <a:endParaRPr lang="fr-FR" sz="3400" noProof="0" dirty="0"/>
          </a:p>
        </p:txBody>
      </p:sp>
      <p:sp>
        <p:nvSpPr>
          <p:cNvPr id="14" name="Text 12"/>
          <p:cNvSpPr txBox="1"/>
          <p:nvPr/>
        </p:nvSpPr>
        <p:spPr>
          <a:xfrm>
            <a:off x="8296656" y="2954173"/>
            <a:ext cx="3087624" cy="1261872"/>
          </a:xfrm>
          <a:prstGeom prst="rect">
            <a:avLst/>
          </a:prstGeom>
          <a:noFill/>
          <a:ln/>
        </p:spPr>
        <p:txBody>
          <a:bodyPr wrap="square" lIns="0" tIns="0" rIns="0" bIns="0" rtlCol="0" anchor="t"/>
          <a:lstStyle/>
          <a:p>
            <a:pPr>
              <a:lnSpc>
                <a:spcPct val="104000"/>
              </a:lnSpc>
            </a:pPr>
            <a:r>
              <a:rPr lang="fr-FR" sz="2000" noProof="0" dirty="0">
                <a:solidFill>
                  <a:srgbClr val="23303F"/>
                </a:solidFill>
                <a:latin typeface="Calibri" pitchFamily="34" charset="0"/>
                <a:ea typeface="Calibri" pitchFamily="34" charset="-122"/>
                <a:cs typeface="Calibri" pitchFamily="34" charset="-120"/>
              </a:rPr>
              <a:t>Des femmes atteintes de </a:t>
            </a:r>
            <a:r>
              <a:rPr lang="fr-FR" sz="2000" dirty="0">
                <a:solidFill>
                  <a:srgbClr val="23303F"/>
                </a:solidFill>
                <a:latin typeface="Calibri" pitchFamily="34" charset="0"/>
                <a:ea typeface="Calibri" pitchFamily="34" charset="-122"/>
                <a:cs typeface="Calibri" pitchFamily="34" charset="-120"/>
              </a:rPr>
              <a:t>lésions précancéreuses </a:t>
            </a:r>
            <a:r>
              <a:rPr lang="fr-FR" sz="2000" noProof="0" dirty="0">
                <a:solidFill>
                  <a:srgbClr val="23303F"/>
                </a:solidFill>
                <a:latin typeface="Calibri" pitchFamily="34" charset="0"/>
                <a:ea typeface="Calibri" pitchFamily="34" charset="-122"/>
                <a:cs typeface="Calibri" pitchFamily="34" charset="-120"/>
              </a:rPr>
              <a:t> ou atteintes de cancer recevant un traitement</a:t>
            </a:r>
            <a:endParaRPr lang="fr-FR" sz="2000" noProof="0" dirty="0"/>
          </a:p>
        </p:txBody>
      </p:sp>
      <p:sp>
        <p:nvSpPr>
          <p:cNvPr id="17" name="Shape 15"/>
          <p:cNvSpPr/>
          <p:nvPr/>
        </p:nvSpPr>
        <p:spPr>
          <a:xfrm>
            <a:off x="566928" y="4927104"/>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18" name="Text 16"/>
          <p:cNvSpPr txBox="1"/>
          <p:nvPr/>
        </p:nvSpPr>
        <p:spPr>
          <a:xfrm>
            <a:off x="841248" y="4981968"/>
            <a:ext cx="10506456" cy="676656"/>
          </a:xfrm>
          <a:prstGeom prst="rect">
            <a:avLst/>
          </a:prstGeom>
          <a:noFill/>
          <a:ln/>
        </p:spPr>
        <p:txBody>
          <a:bodyPr wrap="square" lIns="0" tIns="0" rIns="0" bIns="0" rtlCol="0" anchor="ctr">
            <a:noAutofit/>
          </a:bodyPr>
          <a:lstStyle/>
          <a:p>
            <a:pPr marL="0" indent="0">
              <a:lnSpc>
                <a:spcPct val="104000"/>
              </a:lnSpc>
              <a:buNone/>
            </a:pPr>
            <a:r>
              <a:rPr lang="fr-FR" sz="1600" b="1" noProof="0" dirty="0">
                <a:solidFill>
                  <a:srgbClr val="19543E"/>
                </a:solidFill>
                <a:latin typeface="Calibri" pitchFamily="34" charset="0"/>
                <a:ea typeface="Calibri" pitchFamily="34" charset="-122"/>
                <a:cs typeface="Calibri" pitchFamily="34" charset="-120"/>
              </a:rPr>
              <a:t>🏥 Au Rwanda :  </a:t>
            </a:r>
            <a:r>
              <a:rPr lang="fr-FR" sz="1600" noProof="0" dirty="0">
                <a:solidFill>
                  <a:srgbClr val="23303F"/>
                </a:solidFill>
                <a:latin typeface="Calibri" pitchFamily="34" charset="0"/>
                <a:ea typeface="Calibri" pitchFamily="34" charset="-122"/>
                <a:cs typeface="Calibri" pitchFamily="34" charset="-120"/>
              </a:rPr>
              <a:t>le Rwanda s'est engagé à atteindre les objectifs d'élimination 90–70–90 pour le cancer du col de l'utérus d'ici 2027 (Mission 2027), tels qu'énoncés dans le plan national d'élimination du cancer du col de l'utérus.</a:t>
            </a:r>
            <a:endParaRPr lang="fr-FR" sz="1600" noProof="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65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VACCINATION CONTRE LE VH</a:t>
            </a:r>
            <a:endParaRPr lang="fr-FR" sz="1200" noProof="0" dirty="0"/>
          </a:p>
        </p:txBody>
      </p:sp>
      <p:sp>
        <p:nvSpPr>
          <p:cNvPr id="5" name="Text 3"/>
          <p:cNvSpPr txBox="1"/>
          <p:nvPr/>
        </p:nvSpPr>
        <p:spPr>
          <a:xfrm>
            <a:off x="566928" y="80941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Fonctionnement de la vaccination contre le HPV</a:t>
            </a:r>
            <a:endParaRPr lang="fr-FR" sz="3200" noProof="0" dirty="0"/>
          </a:p>
        </p:txBody>
      </p:sp>
      <p:sp>
        <p:nvSpPr>
          <p:cNvPr id="6" name="Shape 4"/>
          <p:cNvSpPr/>
          <p:nvPr/>
        </p:nvSpPr>
        <p:spPr>
          <a:xfrm>
            <a:off x="566928" y="1888402"/>
            <a:ext cx="3563112" cy="274320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2071282"/>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Ce contre quoi il protège</a:t>
            </a:r>
            <a:endParaRPr lang="fr-FR" sz="2000" noProof="0" dirty="0"/>
          </a:p>
        </p:txBody>
      </p:sp>
      <p:sp>
        <p:nvSpPr>
          <p:cNvPr id="8" name="Text 6"/>
          <p:cNvSpPr txBox="1"/>
          <p:nvPr/>
        </p:nvSpPr>
        <p:spPr>
          <a:xfrm>
            <a:off x="822960" y="2674786"/>
            <a:ext cx="3051048" cy="1773936"/>
          </a:xfrm>
          <a:prstGeom prst="rect">
            <a:avLst/>
          </a:prstGeom>
          <a:noFill/>
          <a:ln/>
        </p:spPr>
        <p:txBody>
          <a:bodyPr wrap="square" lIns="0" tIns="0" rIns="0" bIns="0" rtlCol="0" anchor="t"/>
          <a:lstStyle/>
          <a:p>
            <a:pPr marL="0" indent="0">
              <a:lnSpc>
                <a:spcPct val="106000"/>
              </a:lnSpc>
              <a:buNone/>
            </a:pPr>
            <a:r>
              <a:rPr lang="fr-FR" noProof="0" dirty="0">
                <a:solidFill>
                  <a:srgbClr val="23303F"/>
                </a:solidFill>
                <a:latin typeface="Calibri" pitchFamily="34" charset="0"/>
                <a:ea typeface="Calibri" pitchFamily="34" charset="-122"/>
                <a:cs typeface="Calibri" pitchFamily="34" charset="-120"/>
              </a:rPr>
              <a:t>Les vaccins protègent contre les types de HPV à haut risque (oncogènes) responsables de la plupart des cancers du col de l'utérus.</a:t>
            </a:r>
            <a:endParaRPr lang="fr-FR" sz="1800" noProof="0" dirty="0"/>
          </a:p>
        </p:txBody>
      </p:sp>
      <p:sp>
        <p:nvSpPr>
          <p:cNvPr id="9" name="Shape 7"/>
          <p:cNvSpPr/>
          <p:nvPr/>
        </p:nvSpPr>
        <p:spPr>
          <a:xfrm>
            <a:off x="4312920" y="1888402"/>
            <a:ext cx="3563112" cy="274320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2071282"/>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Quand ça marche le mieux</a:t>
            </a:r>
            <a:endParaRPr lang="fr-FR" sz="2000" noProof="0" dirty="0"/>
          </a:p>
        </p:txBody>
      </p:sp>
      <p:sp>
        <p:nvSpPr>
          <p:cNvPr id="11" name="Text 9"/>
          <p:cNvSpPr txBox="1"/>
          <p:nvPr/>
        </p:nvSpPr>
        <p:spPr>
          <a:xfrm>
            <a:off x="4568952" y="2674786"/>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Le vaccin prévient l'infection, il est donc administré avant l'exposition au HPV, au début de l'adolescence.</a:t>
            </a:r>
            <a:endParaRPr lang="fr-FR" sz="1800" noProof="0" dirty="0"/>
          </a:p>
        </p:txBody>
      </p:sp>
      <p:sp>
        <p:nvSpPr>
          <p:cNvPr id="12" name="Shape 10"/>
          <p:cNvSpPr/>
          <p:nvPr/>
        </p:nvSpPr>
        <p:spPr>
          <a:xfrm>
            <a:off x="8058912" y="1888402"/>
            <a:ext cx="3563112" cy="274320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2071282"/>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Ce qu'il accomplit</a:t>
            </a:r>
            <a:endParaRPr lang="fr-FR" sz="2000" noProof="0" dirty="0"/>
          </a:p>
        </p:txBody>
      </p:sp>
      <p:sp>
        <p:nvSpPr>
          <p:cNvPr id="14" name="Text 12"/>
          <p:cNvSpPr txBox="1"/>
          <p:nvPr/>
        </p:nvSpPr>
        <p:spPr>
          <a:xfrm>
            <a:off x="8314944" y="2674786"/>
            <a:ext cx="3051048" cy="1773936"/>
          </a:xfrm>
          <a:prstGeom prst="rect">
            <a:avLst/>
          </a:prstGeom>
          <a:noFill/>
          <a:ln/>
        </p:spPr>
        <p:txBody>
          <a:bodyPr wrap="square" lIns="0" tIns="0" rIns="0" bIns="0" rtlCol="0" anchor="t"/>
          <a:lstStyle/>
          <a:p>
            <a:pPr>
              <a:lnSpc>
                <a:spcPct val="106000"/>
              </a:lnSpc>
            </a:pPr>
            <a:r>
              <a:rPr lang="fr-FR" sz="1800" noProof="0" dirty="0">
                <a:solidFill>
                  <a:srgbClr val="23303F"/>
                </a:solidFill>
                <a:latin typeface="Calibri" pitchFamily="34" charset="0"/>
                <a:ea typeface="Calibri" pitchFamily="34" charset="-122"/>
                <a:cs typeface="Calibri" pitchFamily="34" charset="-120"/>
              </a:rPr>
              <a:t>Il réduit considérablement le risque futur de </a:t>
            </a:r>
            <a:r>
              <a:rPr lang="fr-FR" dirty="0">
                <a:solidFill>
                  <a:srgbClr val="23303F"/>
                </a:solidFill>
                <a:latin typeface="Calibri" pitchFamily="34" charset="0"/>
                <a:ea typeface="Calibri" pitchFamily="34" charset="-122"/>
                <a:cs typeface="Calibri" pitchFamily="34" charset="-120"/>
              </a:rPr>
              <a:t>lésions précancéreuses</a:t>
            </a:r>
            <a:r>
              <a:rPr lang="fr-FR" sz="1800" noProof="0" dirty="0">
                <a:solidFill>
                  <a:srgbClr val="23303F"/>
                </a:solidFill>
                <a:latin typeface="Calibri" pitchFamily="34" charset="0"/>
                <a:ea typeface="Calibri" pitchFamily="34" charset="-122"/>
                <a:cs typeface="Calibri" pitchFamily="34" charset="-120"/>
              </a:rPr>
              <a:t> du col de l'utérus et de cancer du col de l'utérus.</a:t>
            </a:r>
            <a:endParaRPr lang="fr-FR" sz="1800" noProof="0" dirty="0"/>
          </a:p>
        </p:txBody>
      </p:sp>
      <p:sp>
        <p:nvSpPr>
          <p:cNvPr id="15" name="Shape 13"/>
          <p:cNvSpPr/>
          <p:nvPr/>
        </p:nvSpPr>
        <p:spPr>
          <a:xfrm>
            <a:off x="566928" y="5086772"/>
            <a:ext cx="11055096" cy="786384"/>
          </a:xfrm>
          <a:prstGeom prst="roundRect">
            <a:avLst>
              <a:gd name="adj" fmla="val 8140"/>
            </a:avLst>
          </a:prstGeom>
          <a:solidFill>
            <a:srgbClr val="FFF2DF"/>
          </a:solidFill>
          <a:ln w="12700">
            <a:solidFill>
              <a:srgbClr val="E8DDC7"/>
            </a:solidFill>
            <a:prstDash val="solid"/>
          </a:ln>
        </p:spPr>
        <p:txBody>
          <a:bodyPr/>
          <a:lstStyle/>
          <a:p>
            <a:endParaRPr lang="fr-FR" noProof="0" dirty="0"/>
          </a:p>
        </p:txBody>
      </p:sp>
      <p:sp>
        <p:nvSpPr>
          <p:cNvPr id="16" name="Text 14"/>
          <p:cNvSpPr txBox="1"/>
          <p:nvPr/>
        </p:nvSpPr>
        <p:spPr>
          <a:xfrm>
            <a:off x="841248" y="5141636"/>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7B5727"/>
                </a:solidFill>
                <a:latin typeface="Calibri" pitchFamily="34" charset="0"/>
                <a:ea typeface="Calibri" pitchFamily="34" charset="-122"/>
                <a:cs typeface="Calibri" pitchFamily="34" charset="-120"/>
              </a:rPr>
              <a:t>📌 Rappelez-vous :  </a:t>
            </a:r>
            <a:r>
              <a:rPr lang="fr-FR" sz="1800" noProof="0" dirty="0">
                <a:solidFill>
                  <a:srgbClr val="23303F"/>
                </a:solidFill>
                <a:latin typeface="Calibri" pitchFamily="34" charset="0"/>
                <a:ea typeface="Calibri" pitchFamily="34" charset="-122"/>
                <a:cs typeface="Calibri" pitchFamily="34" charset="-120"/>
              </a:rPr>
              <a:t>la vaccination contre le HPV ne traite pas une infection existante, une lésion existante ou un cancer existant. Elle prévient une nouvelle infection.</a:t>
            </a:r>
            <a:endParaRPr lang="fr-FR" sz="1800" noProof="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66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VACCINATION CONTRE LE HPV</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Que dire aux gens à propos du vaccin</a:t>
            </a:r>
            <a:endParaRPr lang="fr-FR" sz="32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Le vaccin protège contre les types de HPV responsables de la plupart des cancers du col de l'utérus.</a:t>
            </a:r>
            <a:endParaRPr lang="fr-FR"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Il fonctionne mieux lorsqu'il est administré avant une activité sexuelle et avant l'exposition au HPV.</a:t>
            </a:r>
            <a:endParaRPr lang="fr-FR"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Son profil de sécurité est parmi les mieux documentés de tous les vaccins utilisés.</a:t>
            </a:r>
            <a:endParaRPr lang="fr-FR"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Il ne traite pas une infection ou une lésion déjà présente.</a:t>
            </a:r>
            <a:endParaRPr lang="fr-FR" sz="1800" noProof="0" dirty="0"/>
          </a:p>
        </p:txBody>
      </p:sp>
      <p:sp>
        <p:nvSpPr>
          <p:cNvPr id="23" name="Shape 15">
            <a:extLst>
              <a:ext uri="{FF2B5EF4-FFF2-40B4-BE49-F238E27FC236}">
                <a16:creationId xmlns:a16="http://schemas.microsoft.com/office/drawing/2014/main" id="{C54334F3-A393-D6B3-FEC7-4744595C6641}"/>
              </a:ext>
            </a:extLst>
          </p:cNvPr>
          <p:cNvSpPr/>
          <p:nvPr/>
        </p:nvSpPr>
        <p:spPr>
          <a:xfrm>
            <a:off x="548640" y="5331544"/>
            <a:ext cx="11055096" cy="786384"/>
          </a:xfrm>
          <a:prstGeom prst="roundRect">
            <a:avLst>
              <a:gd name="adj" fmla="val 8140"/>
            </a:avLst>
          </a:prstGeom>
          <a:solidFill>
            <a:srgbClr val="EAF7F0"/>
          </a:solidFill>
          <a:ln w="12700">
            <a:solidFill>
              <a:srgbClr val="C0D4CB"/>
            </a:solidFill>
            <a:prstDash val="solid"/>
          </a:ln>
        </p:spPr>
        <p:txBody>
          <a:bodyPr/>
          <a:lstStyle/>
          <a:p>
            <a:endParaRPr lang="fr-FR" sz="1600" noProof="0" dirty="0"/>
          </a:p>
        </p:txBody>
      </p:sp>
      <p:sp>
        <p:nvSpPr>
          <p:cNvPr id="24" name="Text 16">
            <a:extLst>
              <a:ext uri="{FF2B5EF4-FFF2-40B4-BE49-F238E27FC236}">
                <a16:creationId xmlns:a16="http://schemas.microsoft.com/office/drawing/2014/main" id="{F9B662A5-BFCA-5785-4123-AC4BFB5EA2D1}"/>
              </a:ext>
            </a:extLst>
          </p:cNvPr>
          <p:cNvSpPr txBox="1"/>
          <p:nvPr/>
        </p:nvSpPr>
        <p:spPr>
          <a:xfrm>
            <a:off x="822960" y="5386408"/>
            <a:ext cx="10506456" cy="676656"/>
          </a:xfrm>
          <a:prstGeom prst="rect">
            <a:avLst/>
          </a:prstGeom>
          <a:noFill/>
          <a:ln/>
        </p:spPr>
        <p:txBody>
          <a:bodyPr wrap="square" lIns="0" tIns="0" rIns="0" bIns="0" rtlCol="0" anchor="ctr">
            <a:noAutofit/>
          </a:bodyPr>
          <a:lstStyle/>
          <a:p>
            <a:pPr>
              <a:lnSpc>
                <a:spcPct val="104000"/>
              </a:lnSpc>
            </a:pPr>
            <a:r>
              <a:rPr lang="fr-FR" sz="1746" b="1" noProof="0" dirty="0">
                <a:solidFill>
                  <a:srgbClr val="19543E"/>
                </a:solidFill>
                <a:latin typeface="Calibri" pitchFamily="34" charset="0"/>
                <a:ea typeface="Calibri" pitchFamily="34" charset="-122"/>
                <a:cs typeface="Calibri" pitchFamily="34" charset="-120"/>
              </a:rPr>
              <a:t>🏥 Au Rwanda :  </a:t>
            </a:r>
            <a:r>
              <a:rPr lang="fr-FR" sz="1746" noProof="0" dirty="0">
                <a:solidFill>
                  <a:srgbClr val="23303F"/>
                </a:solidFill>
                <a:latin typeface="Calibri" pitchFamily="34" charset="0"/>
                <a:ea typeface="Calibri" pitchFamily="34" charset="-122"/>
                <a:cs typeface="Calibri" pitchFamily="34" charset="-120"/>
              </a:rPr>
              <a:t>La vaccination contre le HPV est régulièrement proposée aux filles d'environ 12 ans, principalement via des programmes de vaccination à l'école. Le programme a traditionnellement utilisé un calendrier de 2 doses.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67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INTERACTIF</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Mythe ou fait : vaccin contre le HPV</a:t>
            </a:r>
            <a:endParaRPr lang="fr-FR"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 Sélectionnez chaque mythe pour révéler la réponse exacte.</a:t>
            </a:r>
            <a:endParaRPr lang="fr-FR" sz="1800" noProof="0" dirty="0"/>
          </a:p>
        </p:txBody>
      </p:sp>
      <p:sp>
        <p:nvSpPr>
          <p:cNvPr id="7" name="Shape 5"/>
          <p:cNvSpPr/>
          <p:nvPr/>
        </p:nvSpPr>
        <p:spPr>
          <a:xfrm>
            <a:off x="566928" y="1965960"/>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8" name="Text 6"/>
          <p:cNvSpPr txBox="1"/>
          <p:nvPr/>
        </p:nvSpPr>
        <p:spPr>
          <a:xfrm>
            <a:off x="804672" y="2039112"/>
            <a:ext cx="4096512" cy="791249"/>
          </a:xfrm>
          <a:prstGeom prst="rect">
            <a:avLst/>
          </a:prstGeom>
          <a:noFill/>
          <a:ln/>
        </p:spPr>
        <p:txBody>
          <a:bodyPr wrap="square" lIns="0" tIns="0" rIns="0" bIns="0" rtlCol="0" anchor="ct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a:t>
            </a:r>
            <a:r>
              <a:rPr lang="fr-FR" sz="1800" noProof="0" dirty="0">
                <a:solidFill>
                  <a:srgbClr val="23303F"/>
                </a:solidFill>
                <a:latin typeface="Calibri" pitchFamily="34" charset="0"/>
                <a:ea typeface="Calibri" pitchFamily="34" charset="-122"/>
                <a:cs typeface="Calibri" pitchFamily="34" charset="-120"/>
              </a:rPr>
              <a:t>: Le vaccin provoque l'infertilité.</a:t>
            </a:r>
            <a:endParaRPr lang="fr-FR" sz="1800" noProof="0" dirty="0"/>
          </a:p>
        </p:txBody>
      </p:sp>
      <p:sp>
        <p:nvSpPr>
          <p:cNvPr id="9" name="Shape 7"/>
          <p:cNvSpPr/>
          <p:nvPr/>
        </p:nvSpPr>
        <p:spPr>
          <a:xfrm>
            <a:off x="5321808" y="1965960"/>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5559552" y="2039112"/>
            <a:ext cx="5824728" cy="791249"/>
          </a:xfrm>
          <a:prstGeom prst="rect">
            <a:avLst/>
          </a:prstGeom>
          <a:noFill/>
          <a:ln/>
        </p:spPr>
        <p:txBody>
          <a:bodyPr wrap="square" lIns="0" tIns="0" rIns="0" bIns="0" rtlCol="0" anchor="ctr">
            <a:normAutofit fontScale="94500" lnSpcReduction="100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a:t>
            </a:r>
            <a:r>
              <a:rPr lang="fr-FR" sz="1800" noProof="0" dirty="0">
                <a:solidFill>
                  <a:srgbClr val="23303F"/>
                </a:solidFill>
                <a:latin typeface="Calibri" pitchFamily="34" charset="0"/>
                <a:ea typeface="Calibri" pitchFamily="34" charset="-122"/>
                <a:cs typeface="Calibri" pitchFamily="34" charset="-120"/>
              </a:rPr>
              <a:t>: De très grandes études de sécurité ne montrent aucun effet sur la fertilité. Le cancer du col de l'utérus, en revanche, met fin à la fertilité.</a:t>
            </a:r>
            <a:endParaRPr lang="fr-FR" sz="1800" noProof="0" dirty="0"/>
          </a:p>
        </p:txBody>
      </p:sp>
      <p:sp>
        <p:nvSpPr>
          <p:cNvPr id="11" name="Shape 9"/>
          <p:cNvSpPr/>
          <p:nvPr/>
        </p:nvSpPr>
        <p:spPr>
          <a:xfrm>
            <a:off x="566928" y="3046378"/>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12" name="Text 10"/>
          <p:cNvSpPr txBox="1"/>
          <p:nvPr/>
        </p:nvSpPr>
        <p:spPr>
          <a:xfrm>
            <a:off x="804672" y="3119530"/>
            <a:ext cx="4096512" cy="791249"/>
          </a:xfrm>
          <a:prstGeom prst="rect">
            <a:avLst/>
          </a:prstGeom>
          <a:noFill/>
          <a:ln/>
        </p:spPr>
        <p:txBody>
          <a:bodyPr wrap="square" lIns="0" tIns="0" rIns="0" bIns="0" rtlCol="0" anchor="ct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 </a:t>
            </a:r>
            <a:r>
              <a:rPr lang="fr-FR" sz="1800" noProof="0" dirty="0">
                <a:solidFill>
                  <a:srgbClr val="23303F"/>
                </a:solidFill>
                <a:latin typeface="Calibri" pitchFamily="34" charset="0"/>
                <a:ea typeface="Calibri" pitchFamily="34" charset="-122"/>
                <a:cs typeface="Calibri" pitchFamily="34" charset="-120"/>
              </a:rPr>
              <a:t>Il encourage une activité sexuelle plus précoce.</a:t>
            </a:r>
            <a:endParaRPr lang="fr-FR" sz="1800" noProof="0" dirty="0"/>
          </a:p>
        </p:txBody>
      </p:sp>
      <p:sp>
        <p:nvSpPr>
          <p:cNvPr id="13" name="Shape 11"/>
          <p:cNvSpPr/>
          <p:nvPr/>
        </p:nvSpPr>
        <p:spPr>
          <a:xfrm>
            <a:off x="5321808" y="3046378"/>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5559552" y="3119530"/>
            <a:ext cx="5824728" cy="791249"/>
          </a:xfrm>
          <a:prstGeom prst="rect">
            <a:avLst/>
          </a:prstGeom>
          <a:noFill/>
          <a:ln/>
        </p:spPr>
        <p:txBody>
          <a:bodyPr wrap="square" lIns="0" tIns="0" rIns="0" bIns="0" rtlCol="0" anchor="ctr">
            <a:normAutofit fontScale="94500" lnSpcReduction="100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 Les études comparant des adolescents vaccinés et non vaccinés ne constatent aucune différence dans le comportement sexuel.</a:t>
            </a:r>
            <a:endParaRPr lang="fr-FR" sz="1800" noProof="0" dirty="0"/>
          </a:p>
        </p:txBody>
      </p:sp>
      <p:sp>
        <p:nvSpPr>
          <p:cNvPr id="15" name="Shape 13"/>
          <p:cNvSpPr/>
          <p:nvPr/>
        </p:nvSpPr>
        <p:spPr>
          <a:xfrm>
            <a:off x="566928" y="4126797"/>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16" name="Text 14"/>
          <p:cNvSpPr txBox="1"/>
          <p:nvPr/>
        </p:nvSpPr>
        <p:spPr>
          <a:xfrm>
            <a:off x="804672" y="4199949"/>
            <a:ext cx="4096512" cy="791249"/>
          </a:xfrm>
          <a:prstGeom prst="rect">
            <a:avLst/>
          </a:prstGeom>
          <a:noFill/>
          <a:ln/>
        </p:spPr>
        <p:txBody>
          <a:bodyPr wrap="square" lIns="0" tIns="0" rIns="0" bIns="0" rtlCol="0" anchor="ct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 </a:t>
            </a:r>
            <a:r>
              <a:rPr lang="fr-FR" sz="1800" noProof="0" dirty="0">
                <a:solidFill>
                  <a:srgbClr val="23303F"/>
                </a:solidFill>
                <a:latin typeface="Calibri" pitchFamily="34" charset="0"/>
                <a:ea typeface="Calibri" pitchFamily="34" charset="-122"/>
                <a:cs typeface="Calibri" pitchFamily="34" charset="-120"/>
              </a:rPr>
              <a:t>Je suis vacciné, donc je n'ai jamais besoin de dépistage.</a:t>
            </a:r>
            <a:endParaRPr lang="fr-FR" sz="1800" noProof="0" dirty="0"/>
          </a:p>
        </p:txBody>
      </p:sp>
      <p:sp>
        <p:nvSpPr>
          <p:cNvPr id="17" name="Shape 15"/>
          <p:cNvSpPr/>
          <p:nvPr/>
        </p:nvSpPr>
        <p:spPr>
          <a:xfrm>
            <a:off x="5321808" y="4126797"/>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18" name="Text 16"/>
          <p:cNvSpPr txBox="1"/>
          <p:nvPr/>
        </p:nvSpPr>
        <p:spPr>
          <a:xfrm>
            <a:off x="5559552" y="4199949"/>
            <a:ext cx="5824728" cy="791249"/>
          </a:xfrm>
          <a:prstGeom prst="rect">
            <a:avLst/>
          </a:prstGeom>
          <a:noFill/>
          <a:ln/>
        </p:spPr>
        <p:txBody>
          <a:bodyPr wrap="square" lIns="0" tIns="0" rIns="0" bIns="0" rtlCol="0" anchor="ctr">
            <a:normAutofit fontScale="945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Le   </a:t>
            </a:r>
            <a:r>
              <a:rPr lang="fr-FR" sz="1800" noProof="0" dirty="0">
                <a:solidFill>
                  <a:srgbClr val="23303F"/>
                </a:solidFill>
                <a:latin typeface="Calibri" pitchFamily="34" charset="0"/>
                <a:ea typeface="Calibri" pitchFamily="34" charset="-122"/>
                <a:cs typeface="Calibri" pitchFamily="34" charset="-120"/>
              </a:rPr>
              <a:t>vaccin ne couvre pas tous les types à haut risque, donc les femmes éligibles doivent tout de même se faire dépister.</a:t>
            </a:r>
            <a:endParaRPr lang="fr-FR" sz="1800" noProof="0" dirty="0"/>
          </a:p>
        </p:txBody>
      </p:sp>
      <p:sp>
        <p:nvSpPr>
          <p:cNvPr id="19" name="Shape 17"/>
          <p:cNvSpPr/>
          <p:nvPr/>
        </p:nvSpPr>
        <p:spPr>
          <a:xfrm>
            <a:off x="566928" y="5207215"/>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20" name="Text 18"/>
          <p:cNvSpPr txBox="1"/>
          <p:nvPr/>
        </p:nvSpPr>
        <p:spPr>
          <a:xfrm>
            <a:off x="804672" y="5280367"/>
            <a:ext cx="4096512" cy="791249"/>
          </a:xfrm>
          <a:prstGeom prst="rect">
            <a:avLst/>
          </a:prstGeom>
          <a:noFill/>
          <a:ln/>
        </p:spPr>
        <p:txBody>
          <a:bodyPr wrap="square" lIns="0" tIns="0" rIns="0" bIns="0" rtlCol="0" anchor="ct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 </a:t>
            </a:r>
            <a:r>
              <a:rPr lang="fr-FR" sz="1800" noProof="0" dirty="0">
                <a:solidFill>
                  <a:srgbClr val="23303F"/>
                </a:solidFill>
                <a:latin typeface="Calibri" pitchFamily="34" charset="0"/>
                <a:ea typeface="Calibri" pitchFamily="34" charset="-122"/>
                <a:cs typeface="Calibri" pitchFamily="34" charset="-120"/>
              </a:rPr>
              <a:t>Le vaccin peut provoquer une infection au HPV.</a:t>
            </a:r>
            <a:endParaRPr lang="fr-FR" sz="1800" noProof="0" dirty="0"/>
          </a:p>
        </p:txBody>
      </p:sp>
      <p:sp>
        <p:nvSpPr>
          <p:cNvPr id="21" name="Shape 19"/>
          <p:cNvSpPr/>
          <p:nvPr/>
        </p:nvSpPr>
        <p:spPr>
          <a:xfrm>
            <a:off x="5321808" y="5207215"/>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22" name="Text 20"/>
          <p:cNvSpPr txBox="1"/>
          <p:nvPr/>
        </p:nvSpPr>
        <p:spPr>
          <a:xfrm>
            <a:off x="5559552" y="5280367"/>
            <a:ext cx="5824728" cy="791249"/>
          </a:xfrm>
          <a:prstGeom prst="rect">
            <a:avLst/>
          </a:prstGeom>
          <a:noFill/>
          <a:ln/>
        </p:spPr>
        <p:txBody>
          <a:bodyPr wrap="square" lIns="0" tIns="0" rIns="0" bIns="0" rtlCol="0" anchor="ctr">
            <a:normAutofit fontScale="945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   </a:t>
            </a:r>
            <a:r>
              <a:rPr lang="fr-FR" sz="1800" noProof="0" dirty="0">
                <a:solidFill>
                  <a:srgbClr val="23303F"/>
                </a:solidFill>
                <a:latin typeface="Calibri" pitchFamily="34" charset="0"/>
                <a:ea typeface="Calibri" pitchFamily="34" charset="-122"/>
                <a:cs typeface="Calibri" pitchFamily="34" charset="-120"/>
              </a:rPr>
              <a:t>Le vaccin ne contient aucun virus vivant et ne peut pas provoquer d'infection par le HPV.</a:t>
            </a:r>
            <a:endParaRPr lang="fr-FR" sz="1800" noProof="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68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FACTEURS DE RISQUE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Cause, risque et historique de dépistage</a:t>
            </a:r>
            <a:endParaRPr lang="fr-FR" sz="3200" noProof="0" dirty="0"/>
          </a:p>
        </p:txBody>
      </p:sp>
      <p:sp>
        <p:nvSpPr>
          <p:cNvPr id="6" name="Shape 4"/>
          <p:cNvSpPr/>
          <p:nvPr/>
        </p:nvSpPr>
        <p:spPr>
          <a:xfrm>
            <a:off x="566928" y="1515876"/>
            <a:ext cx="3563112" cy="3566160"/>
          </a:xfrm>
          <a:prstGeom prst="roundRect">
            <a:avLst>
              <a:gd name="adj" fmla="val 2310"/>
            </a:avLst>
          </a:prstGeom>
          <a:solidFill>
            <a:srgbClr val="EAF7F0"/>
          </a:solidFill>
          <a:ln w="12700">
            <a:solidFill>
              <a:srgbClr val="C0D4CB"/>
            </a:solidFill>
            <a:prstDash val="solid"/>
          </a:ln>
        </p:spPr>
        <p:txBody>
          <a:bodyPr/>
          <a:lstStyle/>
          <a:p>
            <a:endParaRPr lang="fr-FR" noProof="0" dirty="0"/>
          </a:p>
        </p:txBody>
      </p:sp>
      <p:sp>
        <p:nvSpPr>
          <p:cNvPr id="7" name="Text 5"/>
          <p:cNvSpPr txBox="1"/>
          <p:nvPr/>
        </p:nvSpPr>
        <p:spPr>
          <a:xfrm>
            <a:off x="822960" y="1717044"/>
            <a:ext cx="3051048" cy="566928"/>
          </a:xfrm>
          <a:prstGeom prst="rect">
            <a:avLst/>
          </a:prstGeom>
          <a:noFill/>
          <a:ln/>
        </p:spPr>
        <p:txBody>
          <a:bodyPr wrap="square" lIns="0" tIns="0" rIns="0" bIns="0" rtlCol="0" anchor="ctr">
            <a:normAutofit fontScale="94000"/>
          </a:bodyPr>
          <a:lstStyle/>
          <a:p>
            <a:pPr marL="0" indent="0">
              <a:buNone/>
            </a:pPr>
            <a:r>
              <a:rPr lang="fr-FR" sz="2000" b="1" noProof="0" dirty="0">
                <a:solidFill>
                  <a:srgbClr val="19543E"/>
                </a:solidFill>
                <a:latin typeface="Calibri" pitchFamily="34" charset="0"/>
                <a:ea typeface="Calibri" pitchFamily="34" charset="-122"/>
                <a:cs typeface="Calibri" pitchFamily="34" charset="-120"/>
              </a:rPr>
              <a:t>🧪 La cause</a:t>
            </a:r>
            <a:endParaRPr lang="fr-FR" sz="2000" noProof="0" dirty="0"/>
          </a:p>
        </p:txBody>
      </p:sp>
      <p:sp>
        <p:nvSpPr>
          <p:cNvPr id="8" name="Text 6"/>
          <p:cNvSpPr txBox="1"/>
          <p:nvPr/>
        </p:nvSpPr>
        <p:spPr>
          <a:xfrm>
            <a:off x="877824" y="2357124"/>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Infection persistante avec un type HPV à haut risque.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Sans cela, le cancer du col de l'utérus ne se développe pas.</a:t>
            </a:r>
            <a:endParaRPr lang="fr-FR" sz="1800" noProof="0" dirty="0"/>
          </a:p>
        </p:txBody>
      </p:sp>
      <p:sp>
        <p:nvSpPr>
          <p:cNvPr id="9" name="Shape 7"/>
          <p:cNvSpPr/>
          <p:nvPr/>
        </p:nvSpPr>
        <p:spPr>
          <a:xfrm>
            <a:off x="4312920" y="1515876"/>
            <a:ext cx="3563112" cy="3566160"/>
          </a:xfrm>
          <a:prstGeom prst="roundRect">
            <a:avLst>
              <a:gd name="adj" fmla="val 2310"/>
            </a:avLst>
          </a:prstGeom>
          <a:solidFill>
            <a:srgbClr val="FFF2DF"/>
          </a:solidFill>
          <a:ln w="12700">
            <a:solidFill>
              <a:srgbClr val="E8DDC7"/>
            </a:solidFill>
            <a:prstDash val="solid"/>
          </a:ln>
        </p:spPr>
        <p:txBody>
          <a:bodyPr/>
          <a:lstStyle/>
          <a:p>
            <a:endParaRPr lang="fr-FR" noProof="0" dirty="0"/>
          </a:p>
        </p:txBody>
      </p:sp>
      <p:sp>
        <p:nvSpPr>
          <p:cNvPr id="10" name="Text 8"/>
          <p:cNvSpPr txBox="1"/>
          <p:nvPr/>
        </p:nvSpPr>
        <p:spPr>
          <a:xfrm>
            <a:off x="4568952" y="1717044"/>
            <a:ext cx="3051048" cy="566928"/>
          </a:xfrm>
          <a:prstGeom prst="rect">
            <a:avLst/>
          </a:prstGeom>
          <a:noFill/>
          <a:ln/>
        </p:spPr>
        <p:txBody>
          <a:bodyPr wrap="square" lIns="0" tIns="0" rIns="0" bIns="0" rtlCol="0" anchor="ctr">
            <a:normAutofit fontScale="94000"/>
          </a:bodyPr>
          <a:lstStyle/>
          <a:p>
            <a:pPr marL="0" indent="0">
              <a:buNone/>
            </a:pPr>
            <a:r>
              <a:rPr lang="fr-FR" sz="2000" b="1" noProof="0" dirty="0">
                <a:solidFill>
                  <a:srgbClr val="7B5727"/>
                </a:solidFill>
                <a:latin typeface="Calibri" pitchFamily="34" charset="0"/>
                <a:ea typeface="Calibri" pitchFamily="34" charset="-122"/>
                <a:cs typeface="Calibri" pitchFamily="34" charset="-120"/>
              </a:rPr>
              <a:t>⚠️ Augmente le risque</a:t>
            </a:r>
            <a:endParaRPr lang="fr-FR" sz="2000" noProof="0" dirty="0"/>
          </a:p>
        </p:txBody>
      </p:sp>
      <p:sp>
        <p:nvSpPr>
          <p:cNvPr id="11" name="Text 9"/>
          <p:cNvSpPr txBox="1"/>
          <p:nvPr/>
        </p:nvSpPr>
        <p:spPr>
          <a:xfrm>
            <a:off x="4623816" y="2357124"/>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Vivre avec le VIH, ou d'autres causes d'immunité réduite.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Consommation de tabac.</a:t>
            </a:r>
            <a:endParaRPr lang="fr-FR" sz="1800" noProof="0" dirty="0"/>
          </a:p>
          <a:p>
            <a:pPr marL="342900" indent="-342900">
              <a:lnSpc>
                <a:spcPct val="102000"/>
              </a:lnSpc>
              <a:spcAft>
                <a:spcPts val="800"/>
              </a:spcAft>
              <a:buSzPct val="100000"/>
              <a:buChar char="•"/>
            </a:pPr>
            <a:r>
              <a:rPr lang="fr-FR" dirty="0">
                <a:solidFill>
                  <a:srgbClr val="23303F"/>
                </a:solidFill>
                <a:latin typeface="Calibri" pitchFamily="34" charset="0"/>
                <a:ea typeface="Calibri" pitchFamily="34" charset="-122"/>
                <a:cs typeface="Calibri" pitchFamily="34" charset="-120"/>
              </a:rPr>
              <a:t>Lésion précancéreuse </a:t>
            </a:r>
            <a:r>
              <a:rPr lang="fr-FR" sz="1800" noProof="0" dirty="0">
                <a:solidFill>
                  <a:srgbClr val="23303F"/>
                </a:solidFill>
                <a:latin typeface="Calibri" pitchFamily="34" charset="0"/>
                <a:ea typeface="Calibri" pitchFamily="34" charset="-122"/>
                <a:cs typeface="Calibri" pitchFamily="34" charset="-120"/>
              </a:rPr>
              <a:t>du col de l'utérus antérieur.</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Facteurs qui rendent une infection par le HPV plus susceptible de persister.</a:t>
            </a:r>
            <a:endParaRPr lang="fr-FR" sz="1800" noProof="0" dirty="0"/>
          </a:p>
        </p:txBody>
      </p:sp>
      <p:sp>
        <p:nvSpPr>
          <p:cNvPr id="12" name="Shape 10"/>
          <p:cNvSpPr/>
          <p:nvPr/>
        </p:nvSpPr>
        <p:spPr>
          <a:xfrm>
            <a:off x="8058912" y="1515876"/>
            <a:ext cx="3563112" cy="3566160"/>
          </a:xfrm>
          <a:prstGeom prst="roundRect">
            <a:avLst>
              <a:gd name="adj" fmla="val 231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717044"/>
            <a:ext cx="3051048" cy="566928"/>
          </a:xfrm>
          <a:prstGeom prst="rect">
            <a:avLst/>
          </a:prstGeom>
          <a:noFill/>
          <a:ln/>
        </p:spPr>
        <p:txBody>
          <a:bodyPr wrap="square" lIns="0" tIns="0" rIns="0" bIns="0" rtlCol="0" anchor="ctr">
            <a:normAutofit fontScale="71500" lnSpcReduction="200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L'historique de dépistage influence le risque de diagnostic tardif</a:t>
            </a:r>
            <a:endParaRPr lang="fr-FR" sz="2000" noProof="0" dirty="0"/>
          </a:p>
        </p:txBody>
      </p:sp>
      <p:sp>
        <p:nvSpPr>
          <p:cNvPr id="14" name="Text 12"/>
          <p:cNvSpPr txBox="1"/>
          <p:nvPr/>
        </p:nvSpPr>
        <p:spPr>
          <a:xfrm>
            <a:off x="8369808" y="2357124"/>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Ne jamais avoir été dépistée.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Un résultat anormal qui n'a jamais fait l'objet d'un suivi.</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La plupart des femmes qui développent un cancer du col de l'utérus au Rwanda n'ont jamais été dépistées.</a:t>
            </a:r>
            <a:endParaRPr lang="fr-FR" sz="1800" noProof="0" dirty="0"/>
          </a:p>
        </p:txBody>
      </p:sp>
      <p:sp>
        <p:nvSpPr>
          <p:cNvPr id="15" name="Shape 13"/>
          <p:cNvSpPr/>
          <p:nvPr/>
        </p:nvSpPr>
        <p:spPr>
          <a:xfrm>
            <a:off x="566928" y="5449824"/>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5504688"/>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Dis-le ainsi :  </a:t>
            </a:r>
            <a:r>
              <a:rPr lang="fr-FR" sz="1800" noProof="0" dirty="0">
                <a:solidFill>
                  <a:srgbClr val="23303F"/>
                </a:solidFill>
                <a:latin typeface="Calibri" pitchFamily="34" charset="0"/>
                <a:ea typeface="Calibri" pitchFamily="34" charset="-122"/>
                <a:cs typeface="Calibri" pitchFamily="34" charset="-120"/>
              </a:rPr>
              <a:t>aucune femme n'est responsable de son diagnostic. Un langage qui implique la faute retarde les soins et éloigne les femmes des services.</a:t>
            </a:r>
            <a:endParaRPr lang="fr-FR" sz="1800" noProof="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69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FACTEURS DE RISQUE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VIH et cancer du col de l'utérus</a:t>
            </a:r>
            <a:endParaRPr lang="fr-FR" sz="3200" noProof="0" dirty="0"/>
          </a:p>
        </p:txBody>
      </p:sp>
      <p:sp>
        <p:nvSpPr>
          <p:cNvPr id="6" name="Shape 4"/>
          <p:cNvSpPr/>
          <p:nvPr/>
        </p:nvSpPr>
        <p:spPr>
          <a:xfrm>
            <a:off x="566928" y="1457810"/>
            <a:ext cx="3563112" cy="4760109"/>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640691"/>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Risque plus élevé</a:t>
            </a:r>
            <a:endParaRPr lang="fr-FR" sz="2000" noProof="0" dirty="0"/>
          </a:p>
        </p:txBody>
      </p:sp>
      <p:sp>
        <p:nvSpPr>
          <p:cNvPr id="8" name="Text 6"/>
          <p:cNvSpPr txBox="1"/>
          <p:nvPr/>
        </p:nvSpPr>
        <p:spPr>
          <a:xfrm>
            <a:off x="822960" y="2244195"/>
            <a:ext cx="3051048" cy="1682496"/>
          </a:xfrm>
          <a:prstGeom prst="rect">
            <a:avLst/>
          </a:prstGeom>
          <a:noFill/>
          <a:ln/>
        </p:spPr>
        <p:txBody>
          <a:bodyPr wrap="square" lIns="0" tIns="0" rIns="0" bIns="0" rtlCol="0" anchor="t">
            <a:noAutofit/>
          </a:bodyPr>
          <a:lstStyle/>
          <a:p>
            <a:pPr>
              <a:lnSpc>
                <a:spcPct val="106000"/>
              </a:lnSpc>
            </a:pPr>
            <a:r>
              <a:rPr lang="fr-FR" sz="1350" noProof="0" dirty="0">
                <a:solidFill>
                  <a:schemeClr val="accent1">
                    <a:lumMod val="50000"/>
                  </a:schemeClr>
                </a:solidFill>
                <a:latin typeface="Calibri" pitchFamily="34" charset="0"/>
                <a:ea typeface="Calibri" pitchFamily="34" charset="-122"/>
                <a:cs typeface="Calibri" pitchFamily="34" charset="-120"/>
              </a:rPr>
              <a:t>Les femmes vivant avec le VIH sont plus susceptibles d'avoir une infection persistante à haut risque par le HPV, </a:t>
            </a:r>
            <a:r>
              <a:rPr lang="fr-FR" sz="1350" dirty="0">
                <a:solidFill>
                  <a:schemeClr val="accent1">
                    <a:lumMod val="50000"/>
                  </a:schemeClr>
                </a:solidFill>
                <a:latin typeface="Calibri" pitchFamily="34" charset="0"/>
                <a:ea typeface="Calibri" pitchFamily="34" charset="-122"/>
                <a:cs typeface="Calibri" pitchFamily="34" charset="-120"/>
              </a:rPr>
              <a:t>une </a:t>
            </a:r>
            <a:r>
              <a:rPr lang="fr-FR" sz="1350" dirty="0">
                <a:solidFill>
                  <a:srgbClr val="23303F"/>
                </a:solidFill>
                <a:latin typeface="Calibri" pitchFamily="34" charset="0"/>
                <a:ea typeface="Calibri" pitchFamily="34" charset="-122"/>
                <a:cs typeface="Calibri" pitchFamily="34" charset="-120"/>
              </a:rPr>
              <a:t>lésion précancéreuse </a:t>
            </a:r>
            <a:r>
              <a:rPr lang="fr-FR" sz="1350" noProof="0" dirty="0">
                <a:solidFill>
                  <a:schemeClr val="accent1">
                    <a:lumMod val="50000"/>
                  </a:schemeClr>
                </a:solidFill>
                <a:latin typeface="Calibri" pitchFamily="34" charset="0"/>
                <a:ea typeface="Calibri" pitchFamily="34" charset="-122"/>
                <a:cs typeface="Calibri" pitchFamily="34" charset="-120"/>
              </a:rPr>
              <a:t>du col de l'utérus et un cancer du col de l'utérus.</a:t>
            </a:r>
            <a:endParaRPr lang="fr-FR" sz="1350" noProof="0" dirty="0">
              <a:solidFill>
                <a:schemeClr val="accent1">
                  <a:lumMod val="50000"/>
                </a:schemeClr>
              </a:solidFill>
            </a:endParaRPr>
          </a:p>
        </p:txBody>
      </p:sp>
      <p:sp>
        <p:nvSpPr>
          <p:cNvPr id="9" name="Shape 7"/>
          <p:cNvSpPr/>
          <p:nvPr/>
        </p:nvSpPr>
        <p:spPr>
          <a:xfrm>
            <a:off x="4312920" y="1457810"/>
            <a:ext cx="3563112" cy="4760109"/>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640691"/>
            <a:ext cx="3307080" cy="566928"/>
          </a:xfrm>
          <a:prstGeom prst="rect">
            <a:avLst/>
          </a:prstGeom>
          <a:noFill/>
          <a:ln/>
        </p:spPr>
        <p:txBody>
          <a:bodyPr wrap="square" lIns="0" tIns="0" rIns="0" bIns="0" rtlCol="0" anchor="ctr">
            <a:noAutofit/>
          </a:bodyPr>
          <a:lstStyle/>
          <a:p>
            <a:r>
              <a:rPr lang="fr-FR" sz="1960" b="1" noProof="0" dirty="0">
                <a:solidFill>
                  <a:srgbClr val="10305A"/>
                </a:solidFill>
                <a:latin typeface="Calibri" pitchFamily="34" charset="0"/>
                <a:ea typeface="Calibri" pitchFamily="34" charset="-122"/>
                <a:cs typeface="Calibri" pitchFamily="34" charset="-120"/>
              </a:rPr>
              <a:t>🔎 Dépistage plus précoce et plus fréquent</a:t>
            </a:r>
          </a:p>
        </p:txBody>
      </p:sp>
      <p:sp>
        <p:nvSpPr>
          <p:cNvPr id="11" name="Text 9"/>
          <p:cNvSpPr txBox="1"/>
          <p:nvPr/>
        </p:nvSpPr>
        <p:spPr>
          <a:xfrm>
            <a:off x="4568952" y="2297420"/>
            <a:ext cx="3051048" cy="1682496"/>
          </a:xfrm>
          <a:prstGeom prst="rect">
            <a:avLst/>
          </a:prstGeom>
          <a:noFill/>
          <a:ln/>
        </p:spPr>
        <p:txBody>
          <a:bodyPr wrap="square" lIns="0" tIns="0" rIns="0" bIns="0" rtlCol="0" anchor="t">
            <a:noAutofit/>
          </a:bodyPr>
          <a:lstStyle/>
          <a:p>
            <a:pPr marL="285750" indent="-285750">
              <a:lnSpc>
                <a:spcPct val="106000"/>
              </a:lnSpc>
              <a:buFont typeface="Arial" panose="020B0604020202020204" pitchFamily="34" charset="0"/>
              <a:buChar char="•"/>
            </a:pPr>
            <a:r>
              <a:rPr lang="fr-FR" sz="1728" b="1" noProof="0" dirty="0">
                <a:solidFill>
                  <a:schemeClr val="accent1">
                    <a:lumMod val="50000"/>
                  </a:schemeClr>
                </a:solidFill>
                <a:latin typeface="Calibri" pitchFamily="34" charset="0"/>
                <a:ea typeface="Calibri" pitchFamily="34" charset="-122"/>
                <a:cs typeface="Calibri" pitchFamily="34" charset="-120"/>
              </a:rPr>
              <a:t>Femmes vivant avec le VIH : </a:t>
            </a:r>
            <a:r>
              <a:rPr lang="fr-FR" sz="1728" noProof="0" dirty="0">
                <a:solidFill>
                  <a:schemeClr val="accent1">
                    <a:lumMod val="50000"/>
                  </a:schemeClr>
                </a:solidFill>
                <a:latin typeface="Calibri" pitchFamily="34" charset="0"/>
                <a:ea typeface="Calibri" pitchFamily="34" charset="-122"/>
                <a:cs typeface="Calibri" pitchFamily="34" charset="-120"/>
              </a:rPr>
              <a:t>âge prioritaire 25 à 49 ans, test HPV tous les 5 ans.</a:t>
            </a:r>
          </a:p>
          <a:p>
            <a:pPr marL="285750" indent="-285750">
              <a:lnSpc>
                <a:spcPct val="106000"/>
              </a:lnSpc>
              <a:buFont typeface="Arial" panose="020B0604020202020204" pitchFamily="34" charset="0"/>
              <a:buChar char="•"/>
            </a:pPr>
            <a:r>
              <a:rPr lang="fr-FR" sz="1728" b="1" noProof="0" dirty="0">
                <a:solidFill>
                  <a:schemeClr val="accent1">
                    <a:lumMod val="50000"/>
                  </a:schemeClr>
                </a:solidFill>
                <a:latin typeface="Calibri" pitchFamily="34" charset="0"/>
                <a:ea typeface="Calibri" pitchFamily="34" charset="-122"/>
                <a:cs typeface="Calibri" pitchFamily="34" charset="-120"/>
              </a:rPr>
              <a:t>Population générale : </a:t>
            </a:r>
            <a:r>
              <a:rPr lang="fr-FR" sz="1728" noProof="0" dirty="0">
                <a:solidFill>
                  <a:schemeClr val="accent1">
                    <a:lumMod val="50000"/>
                  </a:schemeClr>
                </a:solidFill>
                <a:latin typeface="Calibri" pitchFamily="34" charset="0"/>
                <a:ea typeface="Calibri" pitchFamily="34" charset="-122"/>
                <a:cs typeface="Calibri" pitchFamily="34" charset="-120"/>
              </a:rPr>
              <a:t>âge prioritaire 30 à 49 ans, test HPV tous les 10 ans.</a:t>
            </a:r>
          </a:p>
          <a:p>
            <a:pPr marL="285750" indent="-285750">
              <a:lnSpc>
                <a:spcPct val="106000"/>
              </a:lnSpc>
              <a:buFont typeface="Arial" panose="020B0604020202020204" pitchFamily="34" charset="0"/>
              <a:buChar char="•"/>
            </a:pPr>
            <a:r>
              <a:rPr lang="fr-FR" sz="1728" noProof="0" dirty="0">
                <a:solidFill>
                  <a:schemeClr val="accent1">
                    <a:lumMod val="50000"/>
                  </a:schemeClr>
                </a:solidFill>
              </a:rPr>
              <a:t>50 à 65 ans, jamais dépistée : frottis, ou VIA si le frottis n'est pas disponible.</a:t>
            </a:r>
          </a:p>
        </p:txBody>
      </p:sp>
      <p:sp>
        <p:nvSpPr>
          <p:cNvPr id="12" name="Shape 10"/>
          <p:cNvSpPr/>
          <p:nvPr/>
        </p:nvSpPr>
        <p:spPr>
          <a:xfrm>
            <a:off x="8058912" y="1457810"/>
            <a:ext cx="3563112" cy="4760109"/>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640691"/>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Sans stigmatisation</a:t>
            </a:r>
            <a:endParaRPr lang="fr-FR" sz="2000" noProof="0" dirty="0"/>
          </a:p>
        </p:txBody>
      </p:sp>
      <p:sp>
        <p:nvSpPr>
          <p:cNvPr id="14" name="Text 12"/>
          <p:cNvSpPr txBox="1"/>
          <p:nvPr/>
        </p:nvSpPr>
        <p:spPr>
          <a:xfrm>
            <a:off x="8314944" y="2244195"/>
            <a:ext cx="3051048" cy="1682496"/>
          </a:xfrm>
          <a:prstGeom prst="rect">
            <a:avLst/>
          </a:prstGeom>
          <a:noFill/>
          <a:ln/>
        </p:spPr>
        <p:txBody>
          <a:bodyPr wrap="square" lIns="0" tIns="0" rIns="0" bIns="0" rtlCol="0" anchor="t">
            <a:noAutofit/>
          </a:bodyPr>
          <a:lstStyle/>
          <a:p>
            <a:pPr marL="0" indent="0">
              <a:lnSpc>
                <a:spcPct val="106000"/>
              </a:lnSpc>
              <a:buNone/>
            </a:pPr>
            <a:r>
              <a:rPr lang="fr-FR" sz="1350" noProof="0" dirty="0">
                <a:solidFill>
                  <a:schemeClr val="accent1">
                    <a:lumMod val="50000"/>
                  </a:schemeClr>
                </a:solidFill>
                <a:latin typeface="Calibri" pitchFamily="34" charset="0"/>
                <a:ea typeface="Calibri" pitchFamily="34" charset="-122"/>
                <a:cs typeface="Calibri" pitchFamily="34" charset="-120"/>
              </a:rPr>
              <a:t>Expliquez la raison du dépistage plus approfondi comme un fait clinique. N'utilisez jamais un langage qui isole ou blâme.</a:t>
            </a:r>
            <a:endParaRPr lang="fr-FR" sz="1350" noProof="0" dirty="0">
              <a:solidFill>
                <a:schemeClr val="accent1">
                  <a:lumMod val="50000"/>
                </a:schemeClr>
              </a:solidFill>
            </a:endParaRPr>
          </a:p>
        </p:txBody>
      </p:sp>
      <p:pic>
        <p:nvPicPr>
          <p:cNvPr id="17" name="Imagen 16">
            <a:extLst>
              <a:ext uri="{FF2B5EF4-FFF2-40B4-BE49-F238E27FC236}">
                <a16:creationId xmlns:a16="http://schemas.microsoft.com/office/drawing/2014/main" id="{E9FB145C-D925-DFE1-1952-501B7027ACC3}"/>
              </a:ext>
            </a:extLst>
          </p:cNvPr>
          <p:cNvPicPr>
            <a:picLocks noChangeAspect="1"/>
          </p:cNvPicPr>
          <p:nvPr/>
        </p:nvPicPr>
        <p:blipFill>
          <a:blip r:embed="rId3" cstate="screen">
            <a:extLst>
              <a:ext uri="{28A0092B-C50C-407E-A947-70E740481C1C}">
                <a14:useLocalDpi xmlns:a14="http://schemas.microsoft.com/office/drawing/2010/main"/>
              </a:ext>
            </a:extLst>
          </a:blip>
          <a:srcRect t="16176" b="21732"/>
          <a:stretch>
            <a:fillRect/>
          </a:stretch>
        </p:blipFill>
        <p:spPr>
          <a:xfrm>
            <a:off x="659553" y="3428738"/>
            <a:ext cx="3377861" cy="1398243"/>
          </a:xfrm>
          <a:prstGeom prst="rect">
            <a:avLst/>
          </a:prstGeom>
        </p:spPr>
      </p:pic>
      <p:pic>
        <p:nvPicPr>
          <p:cNvPr id="18" name="Imagen 17">
            <a:extLst>
              <a:ext uri="{FF2B5EF4-FFF2-40B4-BE49-F238E27FC236}">
                <a16:creationId xmlns:a16="http://schemas.microsoft.com/office/drawing/2014/main" id="{7F8B8443-2763-C684-F0DD-62F545B5B726}"/>
              </a:ext>
            </a:extLst>
          </p:cNvPr>
          <p:cNvPicPr>
            <a:picLocks noChangeAspect="1"/>
          </p:cNvPicPr>
          <p:nvPr/>
        </p:nvPicPr>
        <p:blipFill>
          <a:blip r:embed="rId4" cstate="screen">
            <a:extLst>
              <a:ext uri="{28A0092B-C50C-407E-A947-70E740481C1C}">
                <a14:useLocalDpi xmlns:a14="http://schemas.microsoft.com/office/drawing/2010/main"/>
              </a:ext>
            </a:extLst>
          </a:blip>
          <a:srcRect t="51927" b="17978"/>
          <a:stretch>
            <a:fillRect/>
          </a:stretch>
        </p:blipFill>
        <p:spPr>
          <a:xfrm>
            <a:off x="4759186" y="5547360"/>
            <a:ext cx="2673628" cy="536410"/>
          </a:xfrm>
          <a:prstGeom prst="rect">
            <a:avLst/>
          </a:prstGeom>
        </p:spPr>
      </p:pic>
      <p:pic>
        <p:nvPicPr>
          <p:cNvPr id="19" name="Imagen 18">
            <a:extLst>
              <a:ext uri="{FF2B5EF4-FFF2-40B4-BE49-F238E27FC236}">
                <a16:creationId xmlns:a16="http://schemas.microsoft.com/office/drawing/2014/main" id="{61FC75C1-D7B9-828F-46F6-0E761D2B7CF6}"/>
              </a:ext>
            </a:extLst>
          </p:cNvPr>
          <p:cNvPicPr>
            <a:picLocks noChangeAspect="1"/>
          </p:cNvPicPr>
          <p:nvPr/>
        </p:nvPicPr>
        <p:blipFill>
          <a:blip r:embed="rId5" cstate="screen">
            <a:extLst>
              <a:ext uri="{28A0092B-C50C-407E-A947-70E740481C1C}">
                <a14:useLocalDpi xmlns:a14="http://schemas.microsoft.com/office/drawing/2010/main"/>
              </a:ext>
            </a:extLst>
          </a:blip>
          <a:srcRect t="6373" b="10039"/>
          <a:stretch>
            <a:fillRect/>
          </a:stretch>
        </p:blipFill>
        <p:spPr>
          <a:xfrm>
            <a:off x="8613478" y="3444113"/>
            <a:ext cx="2453979" cy="1367491"/>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DÉPISTAGE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 dépistage n'est pas une évaluation des symptômes</a:t>
            </a:r>
            <a:endParaRPr lang="fr-FR" sz="3200" noProof="0" dirty="0"/>
          </a:p>
        </p:txBody>
      </p:sp>
      <p:sp>
        <p:nvSpPr>
          <p:cNvPr id="6" name="Shape 4"/>
          <p:cNvSpPr/>
          <p:nvPr/>
        </p:nvSpPr>
        <p:spPr>
          <a:xfrm>
            <a:off x="566928" y="1719072"/>
            <a:ext cx="5436108" cy="3566160"/>
          </a:xfrm>
          <a:prstGeom prst="roundRect">
            <a:avLst>
              <a:gd name="adj" fmla="val 2308"/>
            </a:avLst>
          </a:prstGeom>
          <a:solidFill>
            <a:srgbClr val="EAF7F0"/>
          </a:solidFill>
          <a:ln w="12700">
            <a:solidFill>
              <a:srgbClr val="C0D4CB"/>
            </a:solidFill>
            <a:prstDash val="solid"/>
          </a:ln>
        </p:spPr>
        <p:txBody>
          <a:bodyPr/>
          <a:lstStyle/>
          <a:p>
            <a:endParaRPr lang="fr-FR" noProof="0" dirty="0"/>
          </a:p>
        </p:txBody>
      </p:sp>
      <p:sp>
        <p:nvSpPr>
          <p:cNvPr id="7" name="Text 5"/>
          <p:cNvSpPr txBox="1"/>
          <p:nvPr/>
        </p:nvSpPr>
        <p:spPr>
          <a:xfrm>
            <a:off x="822960" y="1920240"/>
            <a:ext cx="4924044" cy="566928"/>
          </a:xfrm>
          <a:prstGeom prst="rect">
            <a:avLst/>
          </a:prstGeom>
          <a:noFill/>
          <a:ln/>
        </p:spPr>
        <p:txBody>
          <a:bodyPr wrap="square" lIns="0" tIns="0" rIns="0" bIns="0" rtlCol="0" anchor="ctr"/>
          <a:lstStyle/>
          <a:p>
            <a:pPr marL="0" indent="0">
              <a:buNone/>
            </a:pPr>
            <a:r>
              <a:rPr lang="fr-FR" sz="2000" b="1" noProof="0" dirty="0">
                <a:solidFill>
                  <a:srgbClr val="19543E"/>
                </a:solidFill>
                <a:latin typeface="Calibri" pitchFamily="34" charset="0"/>
                <a:ea typeface="Calibri" pitchFamily="34" charset="-122"/>
                <a:cs typeface="Calibri" pitchFamily="34" charset="-120"/>
              </a:rPr>
              <a:t>🔎 Dépistage</a:t>
            </a:r>
            <a:endParaRPr lang="fr-FR" sz="2000" noProof="0" dirty="0"/>
          </a:p>
        </p:txBody>
      </p:sp>
      <p:sp>
        <p:nvSpPr>
          <p:cNvPr id="8" name="Text 6"/>
          <p:cNvSpPr txBox="1"/>
          <p:nvPr/>
        </p:nvSpPr>
        <p:spPr>
          <a:xfrm>
            <a:off x="877824" y="2560320"/>
            <a:ext cx="4869180"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Tester les femmes éligibles qui ne présentent aucun symptôme.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Vise à détecter précocement les infections à haut risque de HPV ou les modifications cervicales.</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Suit un chemin de programme défini avec un intervalle fixe.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Cela peut prévenir le cancer, car le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peut être traité.</a:t>
            </a:r>
            <a:endParaRPr lang="fr-FR" sz="1800" noProof="0" dirty="0"/>
          </a:p>
        </p:txBody>
      </p:sp>
      <p:sp>
        <p:nvSpPr>
          <p:cNvPr id="9" name="Shape 7"/>
          <p:cNvSpPr/>
          <p:nvPr/>
        </p:nvSpPr>
        <p:spPr>
          <a:xfrm>
            <a:off x="6185916" y="1719072"/>
            <a:ext cx="5436108" cy="3566160"/>
          </a:xfrm>
          <a:prstGeom prst="roundRect">
            <a:avLst>
              <a:gd name="adj" fmla="val 2308"/>
            </a:avLst>
          </a:prstGeom>
          <a:solidFill>
            <a:srgbClr val="FFF2DF"/>
          </a:solidFill>
          <a:ln w="12700">
            <a:solidFill>
              <a:srgbClr val="E8DDC7"/>
            </a:solidFill>
            <a:prstDash val="solid"/>
          </a:ln>
        </p:spPr>
        <p:txBody>
          <a:bodyPr/>
          <a:lstStyle/>
          <a:p>
            <a:endParaRPr lang="fr-FR" noProof="0" dirty="0"/>
          </a:p>
        </p:txBody>
      </p:sp>
      <p:sp>
        <p:nvSpPr>
          <p:cNvPr id="10" name="Text 8"/>
          <p:cNvSpPr txBox="1"/>
          <p:nvPr/>
        </p:nvSpPr>
        <p:spPr>
          <a:xfrm>
            <a:off x="6441948" y="1920240"/>
            <a:ext cx="4924044" cy="566928"/>
          </a:xfrm>
          <a:prstGeom prst="rect">
            <a:avLst/>
          </a:prstGeom>
          <a:noFill/>
          <a:ln/>
        </p:spPr>
        <p:txBody>
          <a:bodyPr wrap="square" lIns="0" tIns="0" rIns="0" bIns="0" rtlCol="0" anchor="ctr"/>
          <a:lstStyle/>
          <a:p>
            <a:pPr marL="0" indent="0">
              <a:buNone/>
            </a:pPr>
            <a:r>
              <a:rPr lang="fr-FR" sz="2000" b="1" noProof="0" dirty="0">
                <a:solidFill>
                  <a:srgbClr val="7B5727"/>
                </a:solidFill>
                <a:latin typeface="Calibri" pitchFamily="34" charset="0"/>
                <a:ea typeface="Calibri" pitchFamily="34" charset="-122"/>
                <a:cs typeface="Calibri" pitchFamily="34" charset="-120"/>
              </a:rPr>
              <a:t>🩺 Évaluation diagnostique</a:t>
            </a:r>
            <a:endParaRPr lang="fr-FR" sz="2000" noProof="0" dirty="0"/>
          </a:p>
        </p:txBody>
      </p:sp>
      <p:sp>
        <p:nvSpPr>
          <p:cNvPr id="11" name="Text 9"/>
          <p:cNvSpPr txBox="1"/>
          <p:nvPr/>
        </p:nvSpPr>
        <p:spPr>
          <a:xfrm>
            <a:off x="6496812" y="2560320"/>
            <a:ext cx="4869180"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Évaluer une femme présentant des symptômes préoccupants.</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Utilisé aussi pour un col suspect ou un résultat de dépistage nécessitant une évaluation.</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Il vise à découvrir ce qui cause le problème.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Un test de dépistage ne remplace pas cela.</a:t>
            </a:r>
            <a:endParaRPr lang="fr-FR" sz="1800" noProof="0" dirty="0"/>
          </a:p>
        </p:txBody>
      </p:sp>
      <p:sp>
        <p:nvSpPr>
          <p:cNvPr id="12" name="Shape 10"/>
          <p:cNvSpPr/>
          <p:nvPr/>
        </p:nvSpPr>
        <p:spPr>
          <a:xfrm>
            <a:off x="566928" y="5449824"/>
            <a:ext cx="11055096" cy="786384"/>
          </a:xfrm>
          <a:prstGeom prst="roundRect">
            <a:avLst>
              <a:gd name="adj" fmla="val 8140"/>
            </a:avLst>
          </a:prstGeom>
          <a:solidFill>
            <a:srgbClr val="FDE9E8"/>
          </a:solidFill>
          <a:ln w="12700">
            <a:solidFill>
              <a:srgbClr val="F0CFCE"/>
            </a:solidFill>
            <a:prstDash val="solid"/>
          </a:ln>
        </p:spPr>
        <p:txBody>
          <a:bodyPr/>
          <a:lstStyle/>
          <a:p>
            <a:endParaRPr lang="fr-FR" noProof="0" dirty="0"/>
          </a:p>
        </p:txBody>
      </p:sp>
      <p:sp>
        <p:nvSpPr>
          <p:cNvPr id="13" name="Text 11"/>
          <p:cNvSpPr txBox="1"/>
          <p:nvPr/>
        </p:nvSpPr>
        <p:spPr>
          <a:xfrm>
            <a:off x="841248" y="5504688"/>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Distinction essentielle : Une femme présentant des saignements vaginaux anormaux importants doit faire l'objet d'une évaluation diagnostique, et non d'un dépistage de routine.</a:t>
            </a:r>
            <a:endParaRPr lang="fr-FR" sz="1800" noProof="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INTERACTIF</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Dépistage ou évaluation ?</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de 44 ans décrit quatre mois de saignements après un rapport sexuel. De quoi a-t-elle besoin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 test de dépistage de routine, dont le résultat sera examiné dans quelques semaines</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Traitement d'une infection vaginale, avec révision dans trois mois</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Réassurance, car un saignement après un rapport est normal</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Évaluation diagnostique, incluant l'examen du col de l'utérus</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Elle présente un symptôme inquiétant, elle doit donc bénéficier d'une évaluation du col de l'utérus sans attendre. Proposer un test de dépistage à la place ajouterait un retard, et un résultat négatif pourrait faussement vous rassurer tous les deux.</a:t>
            </a:r>
            <a:endParaRPr lang="fr-FR" sz="1800" noProof="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SÉANCE 2 · SIGNES ET SYMPTÔMES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Symptômes du cancer du col de l'utérus invasif</a:t>
            </a:r>
            <a:endParaRPr lang="fr-FR" sz="3200" noProof="0" dirty="0"/>
          </a:p>
        </p:txBody>
      </p:sp>
      <p:sp>
        <p:nvSpPr>
          <p:cNvPr id="6" name="Shape 4"/>
          <p:cNvSpPr/>
          <p:nvPr/>
        </p:nvSpPr>
        <p:spPr>
          <a:xfrm>
            <a:off x="566928" y="1397345"/>
            <a:ext cx="3563112" cy="3377168"/>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427828"/>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Saignement anormal</a:t>
            </a:r>
            <a:endParaRPr lang="fr-FR" sz="2000" noProof="0" dirty="0"/>
          </a:p>
        </p:txBody>
      </p:sp>
      <p:sp>
        <p:nvSpPr>
          <p:cNvPr id="8" name="Text 6"/>
          <p:cNvSpPr txBox="1"/>
          <p:nvPr/>
        </p:nvSpPr>
        <p:spPr>
          <a:xfrm>
            <a:off x="822960" y="2031332"/>
            <a:ext cx="3051048" cy="1682496"/>
          </a:xfrm>
          <a:prstGeom prst="rect">
            <a:avLst/>
          </a:prstGeom>
          <a:noFill/>
          <a:ln/>
        </p:spPr>
        <p:txBody>
          <a:bodyPr wrap="square" lIns="0" tIns="0" rIns="0" bIns="0" rtlCol="0" anchor="t">
            <a:noAutofit/>
          </a:bodyPr>
          <a:lstStyle/>
          <a:p>
            <a:pPr marL="0" indent="0">
              <a:lnSpc>
                <a:spcPct val="106000"/>
              </a:lnSpc>
              <a:buNone/>
            </a:pPr>
            <a:r>
              <a:rPr lang="fr-FR" sz="1710" noProof="0" dirty="0">
                <a:solidFill>
                  <a:srgbClr val="23303F"/>
                </a:solidFill>
                <a:latin typeface="Calibri" pitchFamily="34" charset="0"/>
                <a:ea typeface="Calibri" pitchFamily="34" charset="-122"/>
                <a:cs typeface="Calibri" pitchFamily="34" charset="-120"/>
              </a:rPr>
              <a:t>Saignements après les rapports, entre les règles, ou tout saignement après la ménopause.</a:t>
            </a:r>
            <a:endParaRPr lang="fr-FR" sz="1710" noProof="0" dirty="0"/>
          </a:p>
        </p:txBody>
      </p:sp>
      <p:sp>
        <p:nvSpPr>
          <p:cNvPr id="9" name="Shape 7"/>
          <p:cNvSpPr/>
          <p:nvPr/>
        </p:nvSpPr>
        <p:spPr>
          <a:xfrm>
            <a:off x="4312920" y="1397345"/>
            <a:ext cx="3563112" cy="3377168"/>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427828"/>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Écoulement anormal</a:t>
            </a:r>
            <a:endParaRPr lang="fr-FR" sz="2000" noProof="0" dirty="0"/>
          </a:p>
        </p:txBody>
      </p:sp>
      <p:sp>
        <p:nvSpPr>
          <p:cNvPr id="11" name="Text 9"/>
          <p:cNvSpPr txBox="1"/>
          <p:nvPr/>
        </p:nvSpPr>
        <p:spPr>
          <a:xfrm>
            <a:off x="4568952" y="2031332"/>
            <a:ext cx="3051048" cy="1682496"/>
          </a:xfrm>
          <a:prstGeom prst="rect">
            <a:avLst/>
          </a:prstGeom>
          <a:noFill/>
          <a:ln/>
        </p:spPr>
        <p:txBody>
          <a:bodyPr wrap="square" lIns="0" tIns="0" rIns="0" bIns="0" rtlCol="0" anchor="t">
            <a:noAutofit/>
          </a:bodyPr>
          <a:lstStyle/>
          <a:p>
            <a:pPr marL="0" indent="0">
              <a:lnSpc>
                <a:spcPct val="106000"/>
              </a:lnSpc>
              <a:buNone/>
            </a:pPr>
            <a:r>
              <a:rPr lang="fr-FR" sz="1710" noProof="0" dirty="0">
                <a:solidFill>
                  <a:srgbClr val="23303F"/>
                </a:solidFill>
                <a:latin typeface="Calibri" pitchFamily="34" charset="0"/>
                <a:ea typeface="Calibri" pitchFamily="34" charset="-122"/>
                <a:cs typeface="Calibri" pitchFamily="34" charset="-120"/>
              </a:rPr>
              <a:t>Des pertes persistantes, aqueuses, teintées de sang ou malodorantes, qui ne disparaissent pas.</a:t>
            </a:r>
            <a:endParaRPr lang="fr-FR" sz="1710" noProof="0" dirty="0"/>
          </a:p>
        </p:txBody>
      </p:sp>
      <p:sp>
        <p:nvSpPr>
          <p:cNvPr id="12" name="Shape 10"/>
          <p:cNvSpPr/>
          <p:nvPr/>
        </p:nvSpPr>
        <p:spPr>
          <a:xfrm>
            <a:off x="8058912" y="1397345"/>
            <a:ext cx="3563112" cy="3377168"/>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427828"/>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Douleur</a:t>
            </a:r>
            <a:endParaRPr lang="fr-FR" sz="2000" noProof="0" dirty="0"/>
          </a:p>
        </p:txBody>
      </p:sp>
      <p:sp>
        <p:nvSpPr>
          <p:cNvPr id="14" name="Text 12"/>
          <p:cNvSpPr txBox="1"/>
          <p:nvPr/>
        </p:nvSpPr>
        <p:spPr>
          <a:xfrm>
            <a:off x="8314944" y="2031332"/>
            <a:ext cx="3051048" cy="1682496"/>
          </a:xfrm>
          <a:prstGeom prst="rect">
            <a:avLst/>
          </a:prstGeom>
          <a:noFill/>
          <a:ln/>
        </p:spPr>
        <p:txBody>
          <a:bodyPr wrap="square" lIns="0" tIns="0" rIns="0" bIns="0" rtlCol="0" anchor="t">
            <a:noAutofit/>
          </a:bodyPr>
          <a:lstStyle/>
          <a:p>
            <a:pPr marL="0" indent="0">
              <a:lnSpc>
                <a:spcPct val="106000"/>
              </a:lnSpc>
              <a:buNone/>
            </a:pPr>
            <a:r>
              <a:rPr lang="fr-FR" sz="1710" noProof="0" dirty="0">
                <a:solidFill>
                  <a:srgbClr val="23303F"/>
                </a:solidFill>
                <a:latin typeface="Calibri" pitchFamily="34" charset="0"/>
                <a:ea typeface="Calibri" pitchFamily="34" charset="-122"/>
                <a:cs typeface="Calibri" pitchFamily="34" charset="-120"/>
              </a:rPr>
              <a:t>Douleurs pelviennes persistantes, au bas du dos ou aux jambes, ou douleurs lors des rapports sexuels.</a:t>
            </a:r>
            <a:endParaRPr lang="fr-FR" sz="1710" noProof="0" dirty="0"/>
          </a:p>
        </p:txBody>
      </p:sp>
      <p:sp>
        <p:nvSpPr>
          <p:cNvPr id="15" name="Shape 13"/>
          <p:cNvSpPr/>
          <p:nvPr/>
        </p:nvSpPr>
        <p:spPr>
          <a:xfrm>
            <a:off x="566928" y="4893385"/>
            <a:ext cx="11055096" cy="651261"/>
          </a:xfrm>
          <a:prstGeom prst="roundRect">
            <a:avLst>
              <a:gd name="adj" fmla="val 8140"/>
            </a:avLst>
          </a:prstGeom>
          <a:solidFill>
            <a:srgbClr val="ECF3FD"/>
          </a:solidFill>
          <a:ln w="12700">
            <a:solidFill>
              <a:srgbClr val="E0E3EA"/>
            </a:solidFill>
            <a:prstDash val="solid"/>
          </a:ln>
        </p:spPr>
        <p:txBody>
          <a:bodyPr/>
          <a:lstStyle/>
          <a:p>
            <a:endParaRPr lang="fr-FR" sz="1600" noProof="0" dirty="0"/>
          </a:p>
        </p:txBody>
      </p:sp>
      <p:sp>
        <p:nvSpPr>
          <p:cNvPr id="16" name="Text 14"/>
          <p:cNvSpPr txBox="1"/>
          <p:nvPr/>
        </p:nvSpPr>
        <p:spPr>
          <a:xfrm>
            <a:off x="841248" y="4931658"/>
            <a:ext cx="10506456" cy="676656"/>
          </a:xfrm>
          <a:prstGeom prst="rect">
            <a:avLst/>
          </a:prstGeom>
          <a:noFill/>
          <a:ln/>
        </p:spPr>
        <p:txBody>
          <a:bodyPr wrap="square" lIns="0" tIns="0" rIns="0" bIns="0" rtlCol="0" anchor="ctr"/>
          <a:lstStyle/>
          <a:p>
            <a:pPr>
              <a:lnSpc>
                <a:spcPct val="104000"/>
              </a:lnSpc>
            </a:pPr>
            <a:r>
              <a:rPr lang="fr-FR" sz="1600" b="1" noProof="0" dirty="0">
                <a:solidFill>
                  <a:srgbClr val="10305A"/>
                </a:solidFill>
                <a:latin typeface="Calibri" pitchFamily="34" charset="0"/>
                <a:ea typeface="Calibri" pitchFamily="34" charset="-122"/>
                <a:cs typeface="Calibri" pitchFamily="34" charset="-120"/>
              </a:rPr>
              <a:t>📌 Rappelez-vous :  </a:t>
            </a:r>
            <a:r>
              <a:rPr lang="fr-FR" sz="1600" dirty="0">
                <a:solidFill>
                  <a:srgbClr val="23303F"/>
                </a:solidFill>
                <a:latin typeface="Calibri" pitchFamily="34" charset="0"/>
                <a:ea typeface="Calibri" pitchFamily="34" charset="-122"/>
                <a:cs typeface="Calibri" pitchFamily="34" charset="-120"/>
              </a:rPr>
              <a:t>une </a:t>
            </a:r>
            <a:r>
              <a:rPr lang="fr-FR" sz="1600" dirty="0">
                <a:solidFill>
                  <a:srgbClr val="10305A"/>
                </a:solidFill>
                <a:latin typeface="Calibri" pitchFamily="34" charset="0"/>
                <a:ea typeface="Calibri" pitchFamily="34" charset="-122"/>
                <a:cs typeface="Calibri" pitchFamily="34" charset="-120"/>
              </a:rPr>
              <a:t>lésion précancéreuse </a:t>
            </a:r>
            <a:r>
              <a:rPr lang="fr-FR" sz="1600" noProof="0" dirty="0">
                <a:solidFill>
                  <a:srgbClr val="23303F"/>
                </a:solidFill>
                <a:latin typeface="Calibri" pitchFamily="34" charset="0"/>
                <a:ea typeface="Calibri" pitchFamily="34" charset="-122"/>
                <a:cs typeface="Calibri" pitchFamily="34" charset="-120"/>
              </a:rPr>
              <a:t>du col de l'utérus et le cancer précoce du col de l'utérus ne provoquent généralement aucun symptôme. Ces symptômes ont d'autres causes plus courantes, ils ne confirment donc pas le cancer.</a:t>
            </a:r>
            <a:endParaRPr lang="fr-FR" sz="1600" noProof="0" dirty="0"/>
          </a:p>
        </p:txBody>
      </p:sp>
      <p:sp>
        <p:nvSpPr>
          <p:cNvPr id="17" name="Shape 15"/>
          <p:cNvSpPr/>
          <p:nvPr/>
        </p:nvSpPr>
        <p:spPr>
          <a:xfrm>
            <a:off x="566928" y="5640152"/>
            <a:ext cx="11055096" cy="596056"/>
          </a:xfrm>
          <a:prstGeom prst="roundRect">
            <a:avLst>
              <a:gd name="adj" fmla="val 8140"/>
            </a:avLst>
          </a:prstGeom>
          <a:solidFill>
            <a:srgbClr val="FFF2DF"/>
          </a:solidFill>
          <a:ln w="12700">
            <a:solidFill>
              <a:srgbClr val="E8DDC7"/>
            </a:solidFill>
            <a:prstDash val="solid"/>
          </a:ln>
        </p:spPr>
        <p:txBody>
          <a:bodyPr/>
          <a:lstStyle/>
          <a:p>
            <a:endParaRPr lang="fr-FR" sz="1600" noProof="0" dirty="0"/>
          </a:p>
        </p:txBody>
      </p:sp>
      <p:sp>
        <p:nvSpPr>
          <p:cNvPr id="18" name="Text 16"/>
          <p:cNvSpPr txBox="1"/>
          <p:nvPr/>
        </p:nvSpPr>
        <p:spPr>
          <a:xfrm>
            <a:off x="841248" y="5640152"/>
            <a:ext cx="10506456" cy="676656"/>
          </a:xfrm>
          <a:prstGeom prst="rect">
            <a:avLst/>
          </a:prstGeom>
          <a:noFill/>
          <a:ln/>
        </p:spPr>
        <p:txBody>
          <a:bodyPr wrap="square" lIns="0" tIns="0" rIns="0" bIns="0" rtlCol="0" anchor="ctr"/>
          <a:lstStyle/>
          <a:p>
            <a:pPr marL="0" indent="0">
              <a:lnSpc>
                <a:spcPct val="104000"/>
              </a:lnSpc>
              <a:buNone/>
            </a:pPr>
            <a:r>
              <a:rPr lang="fr-FR" sz="1600" b="1" noProof="0" dirty="0">
                <a:solidFill>
                  <a:srgbClr val="7B5727"/>
                </a:solidFill>
                <a:latin typeface="Calibri" pitchFamily="34" charset="0"/>
                <a:ea typeface="Calibri" pitchFamily="34" charset="-122"/>
                <a:cs typeface="Calibri" pitchFamily="34" charset="-120"/>
              </a:rPr>
              <a:t>🔎 Ce qui compte :  </a:t>
            </a:r>
            <a:r>
              <a:rPr lang="fr-FR" sz="1600" noProof="0" dirty="0">
                <a:solidFill>
                  <a:srgbClr val="23303F"/>
                </a:solidFill>
                <a:latin typeface="Calibri" pitchFamily="34" charset="0"/>
                <a:ea typeface="Calibri" pitchFamily="34" charset="-122"/>
                <a:cs typeface="Calibri" pitchFamily="34" charset="-120"/>
              </a:rPr>
              <a:t>Un symptôme persistant, inexpliqué ou nouveau pour cette femme doit être évalué, peu importe le reste que vous trouvez.</a:t>
            </a:r>
            <a:endParaRPr lang="fr-FR" sz="1600" noProof="0" dirty="0"/>
          </a:p>
        </p:txBody>
      </p:sp>
      <p:pic>
        <p:nvPicPr>
          <p:cNvPr id="19" name="Imagen 18">
            <a:extLst>
              <a:ext uri="{FF2B5EF4-FFF2-40B4-BE49-F238E27FC236}">
                <a16:creationId xmlns:a16="http://schemas.microsoft.com/office/drawing/2014/main" id="{1C0126C9-DEE0-2A92-4A95-EB34F0997658}"/>
              </a:ext>
            </a:extLst>
          </p:cNvPr>
          <p:cNvPicPr>
            <a:picLocks noChangeAspect="1"/>
          </p:cNvPicPr>
          <p:nvPr/>
        </p:nvPicPr>
        <p:blipFill>
          <a:blip r:embed="rId3"/>
          <a:stretch>
            <a:fillRect/>
          </a:stretch>
        </p:blipFill>
        <p:spPr>
          <a:xfrm>
            <a:off x="1168908" y="3076969"/>
            <a:ext cx="2359152" cy="1572768"/>
          </a:xfrm>
          <a:prstGeom prst="rect">
            <a:avLst/>
          </a:prstGeom>
        </p:spPr>
      </p:pic>
      <p:pic>
        <p:nvPicPr>
          <p:cNvPr id="20" name="Imagen 19">
            <a:extLst>
              <a:ext uri="{FF2B5EF4-FFF2-40B4-BE49-F238E27FC236}">
                <a16:creationId xmlns:a16="http://schemas.microsoft.com/office/drawing/2014/main" id="{CEB65E09-7319-C8C2-8198-21DA35CE6007}"/>
              </a:ext>
            </a:extLst>
          </p:cNvPr>
          <p:cNvPicPr>
            <a:picLocks noChangeAspect="1"/>
          </p:cNvPicPr>
          <p:nvPr/>
        </p:nvPicPr>
        <p:blipFill>
          <a:blip r:embed="rId4"/>
          <a:stretch>
            <a:fillRect/>
          </a:stretch>
        </p:blipFill>
        <p:spPr>
          <a:xfrm>
            <a:off x="4914900" y="3076969"/>
            <a:ext cx="2359152" cy="1572768"/>
          </a:xfrm>
          <a:prstGeom prst="rect">
            <a:avLst/>
          </a:prstGeom>
        </p:spPr>
      </p:pic>
      <p:pic>
        <p:nvPicPr>
          <p:cNvPr id="21" name="Imagen 20">
            <a:extLst>
              <a:ext uri="{FF2B5EF4-FFF2-40B4-BE49-F238E27FC236}">
                <a16:creationId xmlns:a16="http://schemas.microsoft.com/office/drawing/2014/main" id="{ABCE1333-4C9D-DA18-F155-2A2AC82B3FFE}"/>
              </a:ext>
            </a:extLst>
          </p:cNvPr>
          <p:cNvPicPr>
            <a:picLocks noChangeAspect="1"/>
          </p:cNvPicPr>
          <p:nvPr/>
        </p:nvPicPr>
        <p:blipFill>
          <a:blip r:embed="rId5"/>
          <a:stretch>
            <a:fillRect/>
          </a:stretch>
        </p:blipFill>
        <p:spPr>
          <a:xfrm>
            <a:off x="8787384" y="3093375"/>
            <a:ext cx="2359152" cy="1572768"/>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INTERACTIF</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Triez ces résultats par urgence</a:t>
            </a:r>
            <a:endParaRPr lang="fr-FR"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 Glissez chaque découverte dans la colonne d'urgence correcte, puis sélectionnez Envoyer.</a:t>
            </a:r>
            <a:endParaRPr lang="fr-FR" sz="1800" noProof="0" dirty="0"/>
          </a:p>
        </p:txBody>
      </p:sp>
      <p:sp>
        <p:nvSpPr>
          <p:cNvPr id="7" name="Shape 5"/>
          <p:cNvSpPr/>
          <p:nvPr/>
        </p:nvSpPr>
        <p:spPr>
          <a:xfrm>
            <a:off x="566928" y="1965960"/>
            <a:ext cx="3563112" cy="3291840"/>
          </a:xfrm>
          <a:prstGeom prst="roundRect">
            <a:avLst>
              <a:gd name="adj" fmla="val 2500"/>
            </a:avLst>
          </a:prstGeom>
          <a:solidFill>
            <a:srgbClr val="FDE9E8"/>
          </a:solidFill>
          <a:ln w="12700">
            <a:solidFill>
              <a:srgbClr val="F0CFCE"/>
            </a:solidFill>
            <a:prstDash val="solid"/>
          </a:ln>
        </p:spPr>
        <p:txBody>
          <a:bodyPr/>
          <a:lstStyle/>
          <a:p>
            <a:endParaRPr lang="fr-FR" noProof="0" dirty="0"/>
          </a:p>
        </p:txBody>
      </p:sp>
      <p:sp>
        <p:nvSpPr>
          <p:cNvPr id="8" name="Text 6"/>
          <p:cNvSpPr txBox="1"/>
          <p:nvPr/>
        </p:nvSpPr>
        <p:spPr>
          <a:xfrm>
            <a:off x="822960" y="2167128"/>
            <a:ext cx="3051048" cy="566928"/>
          </a:xfrm>
          <a:prstGeom prst="rect">
            <a:avLst/>
          </a:prstGeom>
          <a:noFill/>
          <a:ln/>
        </p:spPr>
        <p:txBody>
          <a:bodyPr wrap="square" lIns="0" tIns="0" rIns="0" bIns="0" rtlCol="0" anchor="ctr"/>
          <a:lstStyle/>
          <a:p>
            <a:pPr marL="0" indent="0">
              <a:buNone/>
            </a:pPr>
            <a:r>
              <a:rPr lang="fr-FR" sz="2000" b="1" noProof="0" dirty="0">
                <a:solidFill>
                  <a:srgbClr val="8E2531"/>
                </a:solidFill>
                <a:latin typeface="Calibri" pitchFamily="34" charset="0"/>
                <a:ea typeface="Calibri" pitchFamily="34" charset="-122"/>
                <a:cs typeface="Calibri" pitchFamily="34" charset="-120"/>
              </a:rPr>
              <a:t>🔴 Urgent, même jour</a:t>
            </a:r>
            <a:endParaRPr lang="fr-FR" sz="2000" noProof="0" dirty="0"/>
          </a:p>
        </p:txBody>
      </p:sp>
      <p:sp>
        <p:nvSpPr>
          <p:cNvPr id="9" name="Text 7"/>
          <p:cNvSpPr txBox="1"/>
          <p:nvPr/>
        </p:nvSpPr>
        <p:spPr>
          <a:xfrm>
            <a:off x="877824" y="2807208"/>
            <a:ext cx="2996184" cy="224942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Saignements abondants avec vertiges</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Anémie symptomatique sévère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Douleur intense chez une femme malade</a:t>
            </a:r>
            <a:endParaRPr lang="fr-FR" sz="1800" noProof="0" dirty="0"/>
          </a:p>
        </p:txBody>
      </p:sp>
      <p:sp>
        <p:nvSpPr>
          <p:cNvPr id="10" name="Shape 8"/>
          <p:cNvSpPr/>
          <p:nvPr/>
        </p:nvSpPr>
        <p:spPr>
          <a:xfrm>
            <a:off x="4312920" y="1965960"/>
            <a:ext cx="3563112" cy="3291840"/>
          </a:xfrm>
          <a:prstGeom prst="roundRect">
            <a:avLst>
              <a:gd name="adj" fmla="val 2500"/>
            </a:avLst>
          </a:prstGeom>
          <a:solidFill>
            <a:srgbClr val="FFF2DF"/>
          </a:solidFill>
          <a:ln w="12700">
            <a:solidFill>
              <a:srgbClr val="E8DDC7"/>
            </a:solidFill>
            <a:prstDash val="solid"/>
          </a:ln>
        </p:spPr>
        <p:txBody>
          <a:bodyPr/>
          <a:lstStyle/>
          <a:p>
            <a:endParaRPr lang="fr-FR" noProof="0" dirty="0"/>
          </a:p>
        </p:txBody>
      </p:sp>
      <p:sp>
        <p:nvSpPr>
          <p:cNvPr id="11" name="Text 9"/>
          <p:cNvSpPr txBox="1"/>
          <p:nvPr/>
        </p:nvSpPr>
        <p:spPr>
          <a:xfrm>
            <a:off x="4568952" y="2167128"/>
            <a:ext cx="3051048" cy="566928"/>
          </a:xfrm>
          <a:prstGeom prst="rect">
            <a:avLst/>
          </a:prstGeom>
          <a:noFill/>
          <a:ln/>
        </p:spPr>
        <p:txBody>
          <a:bodyPr wrap="square" lIns="0" tIns="0" rIns="0" bIns="0" rtlCol="0" anchor="ctr"/>
          <a:lstStyle/>
          <a:p>
            <a:pPr marL="0" indent="0">
              <a:buNone/>
            </a:pPr>
            <a:r>
              <a:rPr lang="fr-FR" sz="2000" b="1" noProof="0" dirty="0">
                <a:solidFill>
                  <a:srgbClr val="7B5727"/>
                </a:solidFill>
                <a:latin typeface="Calibri" pitchFamily="34" charset="0"/>
                <a:ea typeface="Calibri" pitchFamily="34" charset="-122"/>
                <a:cs typeface="Calibri" pitchFamily="34" charset="-120"/>
              </a:rPr>
              <a:t>🟠 Rapidement, sans attendre</a:t>
            </a:r>
            <a:endParaRPr lang="fr-FR" sz="2000" noProof="0" dirty="0"/>
          </a:p>
        </p:txBody>
      </p:sp>
      <p:sp>
        <p:nvSpPr>
          <p:cNvPr id="12" name="Text 10"/>
          <p:cNvSpPr txBox="1"/>
          <p:nvPr/>
        </p:nvSpPr>
        <p:spPr>
          <a:xfrm>
            <a:off x="4623816" y="2807208"/>
            <a:ext cx="2996184" cy="224942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Saignements après la ménopause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Saignements après un rapport sexuel</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Un col de l'utérus à l'apparence anormale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Pertes malodorantes</a:t>
            </a:r>
            <a:endParaRPr lang="fr-FR" sz="1800" noProof="0" dirty="0">
              <a:solidFill>
                <a:srgbClr val="23303F"/>
              </a:solidFill>
            </a:endParaRPr>
          </a:p>
        </p:txBody>
      </p:sp>
      <p:sp>
        <p:nvSpPr>
          <p:cNvPr id="13" name="Shape 11"/>
          <p:cNvSpPr/>
          <p:nvPr/>
        </p:nvSpPr>
        <p:spPr>
          <a:xfrm>
            <a:off x="8058912" y="1965960"/>
            <a:ext cx="3563112" cy="3291840"/>
          </a:xfrm>
          <a:prstGeom prst="roundRect">
            <a:avLst>
              <a:gd name="adj" fmla="val 2500"/>
            </a:avLst>
          </a:prstGeom>
          <a:solidFill>
            <a:srgbClr val="ECF3FD"/>
          </a:solidFill>
          <a:ln w="12700">
            <a:solidFill>
              <a:srgbClr val="E0E3EA"/>
            </a:solidFill>
            <a:prstDash val="solid"/>
          </a:ln>
        </p:spPr>
        <p:txBody>
          <a:bodyPr/>
          <a:lstStyle/>
          <a:p>
            <a:endParaRPr lang="fr-FR" noProof="0" dirty="0"/>
          </a:p>
        </p:txBody>
      </p:sp>
      <p:sp>
        <p:nvSpPr>
          <p:cNvPr id="14" name="Text 12"/>
          <p:cNvSpPr txBox="1"/>
          <p:nvPr/>
        </p:nvSpPr>
        <p:spPr>
          <a:xfrm>
            <a:off x="8314944" y="2167128"/>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Parcours de routine</a:t>
            </a:r>
            <a:endParaRPr lang="fr-FR" sz="2000" noProof="0" dirty="0"/>
          </a:p>
        </p:txBody>
      </p:sp>
      <p:sp>
        <p:nvSpPr>
          <p:cNvPr id="15" name="Text 13"/>
          <p:cNvSpPr txBox="1"/>
          <p:nvPr/>
        </p:nvSpPr>
        <p:spPr>
          <a:xfrm>
            <a:off x="8369808" y="2807208"/>
            <a:ext cx="2996184" cy="224942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Une femme asymptomatique devant bénéficier d'un dépistage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Une femme asymptomatique ayant un résultat de dépistage positif</a:t>
            </a:r>
            <a:endParaRPr lang="fr-FR" sz="1800" noProof="0" dirty="0"/>
          </a:p>
        </p:txBody>
      </p:sp>
      <p:sp>
        <p:nvSpPr>
          <p:cNvPr id="16" name="Shape 14"/>
          <p:cNvSpPr/>
          <p:nvPr/>
        </p:nvSpPr>
        <p:spPr>
          <a:xfrm>
            <a:off x="566928" y="5358384"/>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17" name="Text 15"/>
          <p:cNvSpPr txBox="1"/>
          <p:nvPr/>
        </p:nvSpPr>
        <p:spPr>
          <a:xfrm>
            <a:off x="841248" y="5413248"/>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Retour :  </a:t>
            </a:r>
            <a:r>
              <a:rPr lang="fr-FR" sz="1800" noProof="0" dirty="0">
                <a:solidFill>
                  <a:srgbClr val="23303F"/>
                </a:solidFill>
                <a:latin typeface="Calibri" pitchFamily="34" charset="0"/>
                <a:ea typeface="Calibri" pitchFamily="34" charset="-122"/>
                <a:cs typeface="Calibri" pitchFamily="34" charset="-120"/>
              </a:rPr>
              <a:t>Les saignements avec compromission hémodynamique ne peuvent pas attendre. Les saignements post-ménopausiques et post-coïtaux nécessitent une évaluation rapide, pas la file d'attente habituelle.</a:t>
            </a:r>
            <a:endParaRPr lang="fr-FR" sz="1800" noProof="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MÉTHODES DE DÉPISTAGE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Les trois tests de dépistage</a:t>
            </a:r>
            <a:endParaRPr lang="fr-FR" sz="3200" noProof="0" dirty="0"/>
          </a:p>
        </p:txBody>
      </p:sp>
      <p:sp>
        <p:nvSpPr>
          <p:cNvPr id="6" name="Shape 4"/>
          <p:cNvSpPr/>
          <p:nvPr/>
        </p:nvSpPr>
        <p:spPr>
          <a:xfrm>
            <a:off x="566928" y="1380751"/>
            <a:ext cx="3563112" cy="4078859"/>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591719"/>
            <a:ext cx="3051048" cy="566928"/>
          </a:xfrm>
          <a:prstGeom prst="rect">
            <a:avLst/>
          </a:prstGeom>
          <a:noFill/>
          <a:ln/>
        </p:spPr>
        <p:txBody>
          <a:bodyPr wrap="square" lIns="0" tIns="0" rIns="0" bIns="0" rtlCol="0" anchor="ctr">
            <a:normAutofit fontScale="955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Test ADN du HPV</a:t>
            </a:r>
            <a:endParaRPr lang="fr-FR" sz="2000" noProof="0" dirty="0"/>
          </a:p>
        </p:txBody>
      </p:sp>
      <p:sp>
        <p:nvSpPr>
          <p:cNvPr id="8" name="Text 6"/>
          <p:cNvSpPr txBox="1"/>
          <p:nvPr/>
        </p:nvSpPr>
        <p:spPr>
          <a:xfrm>
            <a:off x="822960" y="2195223"/>
            <a:ext cx="3051048" cy="1773936"/>
          </a:xfrm>
          <a:prstGeom prst="rect">
            <a:avLst/>
          </a:prstGeom>
          <a:noFill/>
          <a:ln/>
        </p:spPr>
        <p:txBody>
          <a:bodyPr wrap="square" lIns="0" tIns="0" rIns="0" bIns="0" rtlCol="0" anchor="t">
            <a:noAutofit/>
          </a:bodyPr>
          <a:lstStyle/>
          <a:p>
            <a:pPr marL="0" indent="0">
              <a:lnSpc>
                <a:spcPct val="106000"/>
              </a:lnSpc>
              <a:buNone/>
            </a:pPr>
            <a:r>
              <a:rPr lang="fr-FR" sz="1206" noProof="0" dirty="0">
                <a:solidFill>
                  <a:srgbClr val="23303F"/>
                </a:solidFill>
                <a:latin typeface="Calibri" pitchFamily="34" charset="0"/>
                <a:ea typeface="Calibri" pitchFamily="34" charset="-122"/>
                <a:cs typeface="Calibri" pitchFamily="34" charset="-120"/>
              </a:rPr>
              <a:t>Détecte le HPV à haut risque dans un échantillon cervical ou vaginal. Utilisé comme test principal de dépistage.</a:t>
            </a:r>
            <a:endParaRPr lang="fr-FR" sz="1206" noProof="0" dirty="0"/>
          </a:p>
        </p:txBody>
      </p:sp>
      <p:sp>
        <p:nvSpPr>
          <p:cNvPr id="9" name="Shape 7"/>
          <p:cNvSpPr/>
          <p:nvPr/>
        </p:nvSpPr>
        <p:spPr>
          <a:xfrm>
            <a:off x="4312920" y="1380751"/>
            <a:ext cx="3563112" cy="4078859"/>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710585"/>
            <a:ext cx="3051048" cy="566928"/>
          </a:xfrm>
          <a:prstGeom prst="rect">
            <a:avLst/>
          </a:prstGeom>
          <a:noFill/>
          <a:ln/>
        </p:spPr>
        <p:txBody>
          <a:bodyPr wrap="square" lIns="0" tIns="0" rIns="0" bIns="0" rtlCol="0" anchor="ctr">
            <a:normAutofit fontScale="95500" lnSpcReduction="100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Inspection visuelle avec acide acétique (VIA)</a:t>
            </a:r>
            <a:endParaRPr lang="fr-FR" sz="2000" noProof="0" dirty="0"/>
          </a:p>
        </p:txBody>
      </p:sp>
      <p:sp>
        <p:nvSpPr>
          <p:cNvPr id="11" name="Text 9"/>
          <p:cNvSpPr txBox="1"/>
          <p:nvPr/>
        </p:nvSpPr>
        <p:spPr>
          <a:xfrm>
            <a:off x="4568952" y="2342198"/>
            <a:ext cx="3051048" cy="1186005"/>
          </a:xfrm>
          <a:prstGeom prst="rect">
            <a:avLst/>
          </a:prstGeom>
          <a:noFill/>
          <a:ln/>
        </p:spPr>
        <p:txBody>
          <a:bodyPr wrap="square" lIns="0" tIns="0" rIns="0" bIns="0" rtlCol="0" anchor="t">
            <a:noAutofit/>
          </a:bodyPr>
          <a:lstStyle/>
          <a:p>
            <a:pPr marL="0" indent="0">
              <a:lnSpc>
                <a:spcPct val="106000"/>
              </a:lnSpc>
              <a:buNone/>
            </a:pPr>
            <a:r>
              <a:rPr lang="fr-FR" sz="1206" noProof="0" dirty="0">
                <a:solidFill>
                  <a:srgbClr val="23303F"/>
                </a:solidFill>
                <a:latin typeface="Calibri" pitchFamily="34" charset="0"/>
                <a:ea typeface="Calibri" pitchFamily="34" charset="-122"/>
                <a:cs typeface="Calibri" pitchFamily="34" charset="-120"/>
              </a:rPr>
              <a:t>L'acide acétique est appliqué et le col inspecté à la recherche de zones </a:t>
            </a:r>
            <a:r>
              <a:rPr lang="fr-FR" sz="1206" noProof="0" dirty="0" err="1">
                <a:solidFill>
                  <a:srgbClr val="23303F"/>
                </a:solidFill>
                <a:latin typeface="Calibri" pitchFamily="34" charset="0"/>
                <a:ea typeface="Calibri" pitchFamily="34" charset="-122"/>
                <a:cs typeface="Calibri" pitchFamily="34" charset="-120"/>
              </a:rPr>
              <a:t>acétoblanches</a:t>
            </a:r>
            <a:r>
              <a:rPr lang="fr-FR" sz="1206" noProof="0" dirty="0">
                <a:solidFill>
                  <a:srgbClr val="23303F"/>
                </a:solidFill>
                <a:latin typeface="Calibri" pitchFamily="34" charset="0"/>
                <a:ea typeface="Calibri" pitchFamily="34" charset="-122"/>
                <a:cs typeface="Calibri" pitchFamily="34" charset="-120"/>
              </a:rPr>
              <a:t>. Utilisée pour le triage des femmes HPV positives.</a:t>
            </a:r>
            <a:endParaRPr lang="fr-FR" sz="1206" noProof="0" dirty="0"/>
          </a:p>
        </p:txBody>
      </p:sp>
      <p:sp>
        <p:nvSpPr>
          <p:cNvPr id="12" name="Shape 10"/>
          <p:cNvSpPr/>
          <p:nvPr/>
        </p:nvSpPr>
        <p:spPr>
          <a:xfrm>
            <a:off x="8058912" y="1380751"/>
            <a:ext cx="3563112" cy="4078859"/>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591719"/>
            <a:ext cx="3051048" cy="566928"/>
          </a:xfrm>
          <a:prstGeom prst="rect">
            <a:avLst/>
          </a:prstGeom>
          <a:noFill/>
          <a:ln/>
        </p:spPr>
        <p:txBody>
          <a:bodyPr wrap="square" lIns="0" tIns="0" rIns="0" bIns="0" rtlCol="0" anchor="ctr">
            <a:normAutofit fontScale="95500" lnSpcReduction="10000"/>
          </a:bodyPr>
          <a:lstStyle/>
          <a:p>
            <a:r>
              <a:rPr lang="fr-FR" sz="2000" b="1" noProof="0" dirty="0">
                <a:solidFill>
                  <a:srgbClr val="10305A"/>
                </a:solidFill>
                <a:latin typeface="Calibri" pitchFamily="34" charset="0"/>
                <a:ea typeface="Calibri" pitchFamily="34" charset="-122"/>
                <a:cs typeface="Calibri" pitchFamily="34" charset="-120"/>
              </a:rPr>
              <a:t>🔬 Cytologie (Papanicolaou ou frottis/test Pap)</a:t>
            </a:r>
            <a:endParaRPr lang="fr-FR" sz="2000" noProof="0" dirty="0"/>
          </a:p>
        </p:txBody>
      </p:sp>
      <p:sp>
        <p:nvSpPr>
          <p:cNvPr id="14" name="Text 12"/>
          <p:cNvSpPr txBox="1"/>
          <p:nvPr/>
        </p:nvSpPr>
        <p:spPr>
          <a:xfrm>
            <a:off x="8314944" y="2195223"/>
            <a:ext cx="3051048" cy="1773936"/>
          </a:xfrm>
          <a:prstGeom prst="rect">
            <a:avLst/>
          </a:prstGeom>
          <a:noFill/>
          <a:ln/>
        </p:spPr>
        <p:txBody>
          <a:bodyPr wrap="square" lIns="0" tIns="0" rIns="0" bIns="0" rtlCol="0" anchor="t">
            <a:normAutofit fontScale="97000"/>
          </a:bodyPr>
          <a:lstStyle/>
          <a:p>
            <a:pPr marL="0" indent="0">
              <a:lnSpc>
                <a:spcPct val="106000"/>
              </a:lnSpc>
              <a:buNone/>
            </a:pPr>
            <a:r>
              <a:rPr lang="fr-FR" sz="1600" noProof="0" dirty="0">
                <a:solidFill>
                  <a:srgbClr val="23303F"/>
                </a:solidFill>
                <a:latin typeface="Calibri" pitchFamily="34" charset="0"/>
                <a:ea typeface="Calibri" pitchFamily="34" charset="-122"/>
                <a:cs typeface="Calibri" pitchFamily="34" charset="-120"/>
              </a:rPr>
              <a:t>Les cellules cervicales sont examinées pour détecter des anomalies. Au Rwanda : femmes de 50 à 65 ans jamais dépistées.</a:t>
            </a:r>
            <a:endParaRPr lang="fr-FR" sz="1600" noProof="0" dirty="0"/>
          </a:p>
        </p:txBody>
      </p:sp>
      <p:sp>
        <p:nvSpPr>
          <p:cNvPr id="15" name="Shape 13"/>
          <p:cNvSpPr/>
          <p:nvPr/>
        </p:nvSpPr>
        <p:spPr>
          <a:xfrm>
            <a:off x="566928" y="5577833"/>
            <a:ext cx="11055096" cy="786384"/>
          </a:xfrm>
          <a:prstGeom prst="roundRect">
            <a:avLst>
              <a:gd name="adj" fmla="val 8140"/>
            </a:avLst>
          </a:prstGeom>
          <a:solidFill>
            <a:srgbClr val="ECF3FD"/>
          </a:solidFill>
          <a:ln w="12700">
            <a:solidFill>
              <a:srgbClr val="E0E3EA"/>
            </a:solidFill>
            <a:prstDash val="solid"/>
          </a:ln>
        </p:spPr>
        <p:txBody>
          <a:bodyPr/>
          <a:lstStyle/>
          <a:p>
            <a:endParaRPr lang="fr-FR" noProof="0" dirty="0"/>
          </a:p>
        </p:txBody>
      </p:sp>
      <p:sp>
        <p:nvSpPr>
          <p:cNvPr id="16" name="Text 14"/>
          <p:cNvSpPr txBox="1"/>
          <p:nvPr/>
        </p:nvSpPr>
        <p:spPr>
          <a:xfrm>
            <a:off x="841248" y="5632697"/>
            <a:ext cx="10506456" cy="676656"/>
          </a:xfrm>
          <a:prstGeom prst="rect">
            <a:avLst/>
          </a:prstGeom>
          <a:noFill/>
          <a:ln/>
        </p:spPr>
        <p:txBody>
          <a:bodyPr wrap="square" lIns="0" tIns="0" rIns="0" bIns="0" rtlCol="0" anchor="ctr">
            <a:noAutofit/>
          </a:bodyPr>
          <a:lstStyle/>
          <a:p>
            <a:pPr marL="0" indent="0">
              <a:lnSpc>
                <a:spcPct val="104000"/>
              </a:lnSpc>
              <a:buNone/>
            </a:pPr>
            <a:r>
              <a:rPr lang="fr-FR" sz="1674" b="1" noProof="0" dirty="0">
                <a:solidFill>
                  <a:srgbClr val="10305A"/>
                </a:solidFill>
                <a:latin typeface="Calibri" pitchFamily="34" charset="0"/>
                <a:ea typeface="Calibri" pitchFamily="34" charset="-122"/>
                <a:cs typeface="Calibri" pitchFamily="34" charset="-120"/>
              </a:rPr>
              <a:t>📌 Trois tâches différentes :  </a:t>
            </a:r>
            <a:r>
              <a:rPr lang="fr-FR" sz="1674" noProof="0" dirty="0">
                <a:solidFill>
                  <a:srgbClr val="23303F"/>
                </a:solidFill>
                <a:latin typeface="Calibri" pitchFamily="34" charset="0"/>
                <a:ea typeface="Calibri" pitchFamily="34" charset="-122"/>
                <a:cs typeface="Calibri" pitchFamily="34" charset="-120"/>
              </a:rPr>
              <a:t>un test de dépistage primaire identifie qui a besoin d'un examen plus approfondi. Un test de triage détermine qui doit être traité. Une procédure diagnostique permet de déterminer ce qu'est réellement la lésion.</a:t>
            </a:r>
            <a:endParaRPr lang="fr-FR" sz="1674" noProof="0" dirty="0"/>
          </a:p>
        </p:txBody>
      </p:sp>
      <p:pic>
        <p:nvPicPr>
          <p:cNvPr id="17" name="Imagen 16">
            <a:extLst>
              <a:ext uri="{FF2B5EF4-FFF2-40B4-BE49-F238E27FC236}">
                <a16:creationId xmlns:a16="http://schemas.microsoft.com/office/drawing/2014/main" id="{107B82FB-FE77-8219-F1C5-1BE826643D2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2083" y="3152767"/>
            <a:ext cx="3254816" cy="1931297"/>
          </a:xfrm>
          <a:prstGeom prst="rect">
            <a:avLst/>
          </a:prstGeom>
        </p:spPr>
      </p:pic>
      <p:pic>
        <p:nvPicPr>
          <p:cNvPr id="19" name="Imagen 18">
            <a:extLst>
              <a:ext uri="{FF2B5EF4-FFF2-40B4-BE49-F238E27FC236}">
                <a16:creationId xmlns:a16="http://schemas.microsoft.com/office/drawing/2014/main" id="{A0E63869-CEF8-AEEB-774B-F03DBD73F304}"/>
              </a:ext>
            </a:extLst>
          </p:cNvPr>
          <p:cNvPicPr>
            <a:picLocks noChangeAspect="1"/>
          </p:cNvPicPr>
          <p:nvPr/>
        </p:nvPicPr>
        <p:blipFill>
          <a:blip r:embed="rId4" cstate="screen">
            <a:extLst>
              <a:ext uri="{28A0092B-C50C-407E-A947-70E740481C1C}">
                <a14:useLocalDpi xmlns:a14="http://schemas.microsoft.com/office/drawing/2010/main"/>
              </a:ext>
            </a:extLst>
          </a:blip>
          <a:srcRect r="56186"/>
          <a:stretch>
            <a:fillRect/>
          </a:stretch>
        </p:blipFill>
        <p:spPr>
          <a:xfrm>
            <a:off x="4908804" y="3175210"/>
            <a:ext cx="2272284" cy="2187328"/>
          </a:xfrm>
          <a:prstGeom prst="rect">
            <a:avLst/>
          </a:prstGeom>
        </p:spPr>
      </p:pic>
      <p:pic>
        <p:nvPicPr>
          <p:cNvPr id="20" name="Imagen 19">
            <a:extLst>
              <a:ext uri="{FF2B5EF4-FFF2-40B4-BE49-F238E27FC236}">
                <a16:creationId xmlns:a16="http://schemas.microsoft.com/office/drawing/2014/main" id="{655ECB4E-2EC1-9BF1-B69A-A8485C50FD53}"/>
              </a:ext>
            </a:extLst>
          </p:cNvPr>
          <p:cNvPicPr>
            <a:picLocks noChangeAspect="1"/>
          </p:cNvPicPr>
          <p:nvPr/>
        </p:nvPicPr>
        <p:blipFill>
          <a:blip r:embed="rId4" cstate="screen">
            <a:extLst>
              <a:ext uri="{28A0092B-C50C-407E-A947-70E740481C1C}">
                <a14:useLocalDpi xmlns:a14="http://schemas.microsoft.com/office/drawing/2010/main"/>
              </a:ext>
            </a:extLst>
          </a:blip>
          <a:srcRect l="63165"/>
          <a:stretch>
            <a:fillRect/>
          </a:stretch>
        </p:blipFill>
        <p:spPr>
          <a:xfrm>
            <a:off x="8628507" y="3363073"/>
            <a:ext cx="1910334" cy="2187328"/>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RECOMMANDATIONS</a:t>
            </a:r>
            <a:endParaRPr lang="fr-FR" sz="1200" noProof="0" dirty="0"/>
          </a:p>
        </p:txBody>
      </p:sp>
      <p:sp>
        <p:nvSpPr>
          <p:cNvPr id="5" name="Text 3"/>
          <p:cNvSpPr txBox="1"/>
          <p:nvPr/>
        </p:nvSpPr>
        <p:spPr>
          <a:xfrm>
            <a:off x="566928" y="317352"/>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Sur quoi reposent les recommandations mondiales</a:t>
            </a:r>
            <a:endParaRPr lang="fr-FR" sz="3200" noProof="0" dirty="0"/>
          </a:p>
        </p:txBody>
      </p:sp>
      <p:sp>
        <p:nvSpPr>
          <p:cNvPr id="6" name="Shape 4"/>
          <p:cNvSpPr/>
          <p:nvPr/>
        </p:nvSpPr>
        <p:spPr>
          <a:xfrm>
            <a:off x="566928" y="1100510"/>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100510"/>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155374"/>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L'âge, car le risque et la valeur des tests évoluent au cours de la vie d'une femme.</a:t>
            </a:r>
            <a:endParaRPr lang="fr-FR" sz="1800" noProof="0" dirty="0"/>
          </a:p>
        </p:txBody>
      </p:sp>
      <p:sp>
        <p:nvSpPr>
          <p:cNvPr id="9" name="Shape 7"/>
          <p:cNvSpPr/>
          <p:nvPr/>
        </p:nvSpPr>
        <p:spPr>
          <a:xfrm>
            <a:off x="566928" y="2014318"/>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014318"/>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2069182"/>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L'état immunitaire, y compris le VIH, qui modifie la fréquence à laquelle le dépistage est répété.</a:t>
            </a:r>
            <a:endParaRPr lang="fr-FR" sz="1800" noProof="0" dirty="0"/>
          </a:p>
        </p:txBody>
      </p:sp>
      <p:sp>
        <p:nvSpPr>
          <p:cNvPr id="12" name="Shape 10"/>
          <p:cNvSpPr/>
          <p:nvPr/>
        </p:nvSpPr>
        <p:spPr>
          <a:xfrm>
            <a:off x="566928" y="2928125"/>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2928125"/>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2982989"/>
            <a:ext cx="9866376" cy="660737"/>
          </a:xfrm>
          <a:prstGeom prst="rect">
            <a:avLst/>
          </a:prstGeom>
          <a:noFill/>
          <a:ln/>
        </p:spPr>
        <p:txBody>
          <a:bodyPr wrap="square" lIns="0" tIns="0" rIns="0" bIns="0" rtlCol="0" anchor="ctr"/>
          <a:lstStyle/>
          <a:p>
            <a:pPr>
              <a:lnSpc>
                <a:spcPct val="104000"/>
              </a:lnSpc>
            </a:pPr>
            <a:r>
              <a:rPr lang="fr-FR" sz="1800" noProof="0" dirty="0">
                <a:solidFill>
                  <a:srgbClr val="23303F"/>
                </a:solidFill>
                <a:latin typeface="Calibri" pitchFamily="34" charset="0"/>
                <a:ea typeface="Calibri" pitchFamily="34" charset="-122"/>
                <a:cs typeface="Calibri" pitchFamily="34" charset="-120"/>
              </a:rPr>
              <a:t>Résultats antérieurs, et traitements antérieurs pour </a:t>
            </a:r>
            <a:r>
              <a:rPr lang="fr-FR" dirty="0">
                <a:solidFill>
                  <a:srgbClr val="23303F"/>
                </a:solidFill>
                <a:latin typeface="Calibri" pitchFamily="34" charset="0"/>
                <a:ea typeface="Calibri" pitchFamily="34" charset="-122"/>
                <a:cs typeface="Calibri" pitchFamily="34" charset="-120"/>
              </a:rPr>
              <a:t>une lésion précancéreuse </a:t>
            </a:r>
            <a:r>
              <a:rPr lang="fr-FR" sz="1800" noProof="0" dirty="0">
                <a:solidFill>
                  <a:srgbClr val="23303F"/>
                </a:solidFill>
                <a:latin typeface="Calibri" pitchFamily="34" charset="0"/>
                <a:ea typeface="Calibri" pitchFamily="34" charset="-122"/>
                <a:cs typeface="Calibri" pitchFamily="34" charset="-120"/>
              </a:rPr>
              <a:t> du col de l'utérus.</a:t>
            </a:r>
            <a:endParaRPr lang="fr-FR" sz="1800" noProof="0" dirty="0"/>
          </a:p>
        </p:txBody>
      </p:sp>
      <p:sp>
        <p:nvSpPr>
          <p:cNvPr id="15" name="Shape 13"/>
          <p:cNvSpPr/>
          <p:nvPr/>
        </p:nvSpPr>
        <p:spPr>
          <a:xfrm>
            <a:off x="566928" y="3841933"/>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3841933"/>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3896797"/>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Quel test de dépistage le système de santé peut fournir de manière fiable.</a:t>
            </a:r>
            <a:endParaRPr lang="fr-FR" sz="1800" noProof="0" dirty="0"/>
          </a:p>
        </p:txBody>
      </p:sp>
      <p:sp>
        <p:nvSpPr>
          <p:cNvPr id="18" name="Shape 16"/>
          <p:cNvSpPr/>
          <p:nvPr/>
        </p:nvSpPr>
        <p:spPr>
          <a:xfrm>
            <a:off x="566928" y="4701953"/>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9" name="Text 17"/>
          <p:cNvSpPr txBox="1"/>
          <p:nvPr/>
        </p:nvSpPr>
        <p:spPr>
          <a:xfrm>
            <a:off x="786384" y="4701953"/>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20" name="Text 18"/>
          <p:cNvSpPr txBox="1"/>
          <p:nvPr/>
        </p:nvSpPr>
        <p:spPr>
          <a:xfrm>
            <a:off x="1463040" y="4756817"/>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Que le triage, le traitement et le suivi soient réellement disponibles après un résultat positif.</a:t>
            </a:r>
            <a:endParaRPr lang="fr-FR" sz="1800" noProof="0" dirty="0"/>
          </a:p>
        </p:txBody>
      </p:sp>
      <p:sp>
        <p:nvSpPr>
          <p:cNvPr id="21" name="Shape 19"/>
          <p:cNvSpPr/>
          <p:nvPr/>
        </p:nvSpPr>
        <p:spPr>
          <a:xfrm>
            <a:off x="566928" y="5584293"/>
            <a:ext cx="11055096" cy="637391"/>
          </a:xfrm>
          <a:prstGeom prst="roundRect">
            <a:avLst>
              <a:gd name="adj" fmla="val 8140"/>
            </a:avLst>
          </a:prstGeom>
          <a:solidFill>
            <a:srgbClr val="ECF3FD"/>
          </a:solidFill>
          <a:ln w="12700">
            <a:solidFill>
              <a:srgbClr val="E0E3EA"/>
            </a:solidFill>
            <a:prstDash val="solid"/>
          </a:ln>
        </p:spPr>
        <p:txBody>
          <a:bodyPr/>
          <a:lstStyle/>
          <a:p>
            <a:endParaRPr lang="fr-FR" noProof="0" dirty="0"/>
          </a:p>
        </p:txBody>
      </p:sp>
      <p:sp>
        <p:nvSpPr>
          <p:cNvPr id="22" name="Text 20"/>
          <p:cNvSpPr txBox="1"/>
          <p:nvPr/>
        </p:nvSpPr>
        <p:spPr>
          <a:xfrm>
            <a:off x="841248" y="5584294"/>
            <a:ext cx="10506456" cy="676656"/>
          </a:xfrm>
          <a:prstGeom prst="rect">
            <a:avLst/>
          </a:prstGeom>
          <a:noFill/>
          <a:ln/>
        </p:spPr>
        <p:txBody>
          <a:bodyPr wrap="square" lIns="0" tIns="0" rIns="0" bIns="0" rtlCol="0" anchor="ctr"/>
          <a:lstStyle/>
          <a:p>
            <a:pPr marL="0" indent="0">
              <a:lnSpc>
                <a:spcPct val="104000"/>
              </a:lnSpc>
              <a:buNone/>
            </a:pPr>
            <a:r>
              <a:rPr lang="fr-FR" sz="1600" b="1" noProof="0" dirty="0">
                <a:solidFill>
                  <a:srgbClr val="10305A"/>
                </a:solidFill>
                <a:latin typeface="Calibri" pitchFamily="34" charset="0"/>
                <a:ea typeface="Calibri" pitchFamily="34" charset="-122"/>
                <a:cs typeface="Calibri" pitchFamily="34" charset="-120"/>
              </a:rPr>
              <a:t>📌 Principe fondamental :  </a:t>
            </a:r>
            <a:r>
              <a:rPr lang="fr-FR" sz="1600" noProof="0" dirty="0">
                <a:solidFill>
                  <a:srgbClr val="23303F"/>
                </a:solidFill>
                <a:latin typeface="Calibri" pitchFamily="34" charset="0"/>
                <a:ea typeface="Calibri" pitchFamily="34" charset="-122"/>
                <a:cs typeface="Calibri" pitchFamily="34" charset="-120"/>
              </a:rPr>
              <a:t>Un programme de dépistage nécessite la bonne population, un test disponible, un intervalle défini et un suivi garanti. Un test sans suivi ne sauve pas de vies.</a:t>
            </a:r>
            <a:endParaRPr lang="fr-FR" sz="1600" noProof="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RÉSULTATS DU DÉPISTAGE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Ce que signifie un résultat de dépistage</a:t>
            </a:r>
            <a:endParaRPr lang="fr-FR" sz="3200" noProof="0" dirty="0"/>
          </a:p>
        </p:txBody>
      </p:sp>
      <p:sp>
        <p:nvSpPr>
          <p:cNvPr id="6" name="Shape 4"/>
          <p:cNvSpPr/>
          <p:nvPr/>
        </p:nvSpPr>
        <p:spPr>
          <a:xfrm>
            <a:off x="566928" y="1828800"/>
            <a:ext cx="3563112" cy="274320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2011680"/>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Test HPV positif</a:t>
            </a:r>
            <a:endParaRPr lang="fr-FR" sz="2000" noProof="0" dirty="0"/>
          </a:p>
        </p:txBody>
      </p:sp>
      <p:sp>
        <p:nvSpPr>
          <p:cNvPr id="8" name="Text 6"/>
          <p:cNvSpPr txBox="1"/>
          <p:nvPr/>
        </p:nvSpPr>
        <p:spPr>
          <a:xfrm>
            <a:off x="822960" y="2615184"/>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Le HPV à haut risque a été détecté. Cela ne signifie pas qu'il s'agit d'un cancer ni qu'une lésion est présente.</a:t>
            </a:r>
            <a:endParaRPr lang="fr-FR" sz="1800" noProof="0" dirty="0"/>
          </a:p>
        </p:txBody>
      </p:sp>
      <p:sp>
        <p:nvSpPr>
          <p:cNvPr id="9" name="Shape 7"/>
          <p:cNvSpPr/>
          <p:nvPr/>
        </p:nvSpPr>
        <p:spPr>
          <a:xfrm>
            <a:off x="4312920" y="1828800"/>
            <a:ext cx="3563112" cy="274320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2011680"/>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Inspection visuelle positive</a:t>
            </a:r>
            <a:endParaRPr lang="fr-FR" sz="2000" noProof="0" dirty="0"/>
          </a:p>
        </p:txBody>
      </p:sp>
      <p:sp>
        <p:nvSpPr>
          <p:cNvPr id="11" name="Text 9"/>
          <p:cNvSpPr txBox="1"/>
          <p:nvPr/>
        </p:nvSpPr>
        <p:spPr>
          <a:xfrm>
            <a:off x="4568952" y="2615184"/>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Un changement du col de l'utérus a été observé. Il nécessite une prise en charge ou une évaluation supplémentaire, et il n'est pas confirmé que c'est un cancer.</a:t>
            </a:r>
            <a:endParaRPr lang="fr-FR" sz="1800" noProof="0" dirty="0"/>
          </a:p>
        </p:txBody>
      </p:sp>
      <p:sp>
        <p:nvSpPr>
          <p:cNvPr id="12" name="Shape 10"/>
          <p:cNvSpPr/>
          <p:nvPr/>
        </p:nvSpPr>
        <p:spPr>
          <a:xfrm>
            <a:off x="8058912" y="1828800"/>
            <a:ext cx="3563112" cy="274320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2011680"/>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Cytologie anormale</a:t>
            </a:r>
            <a:endParaRPr lang="fr-FR" sz="2000" noProof="0" dirty="0"/>
          </a:p>
        </p:txBody>
      </p:sp>
      <p:sp>
        <p:nvSpPr>
          <p:cNvPr id="14" name="Text 12"/>
          <p:cNvSpPr txBox="1"/>
          <p:nvPr/>
        </p:nvSpPr>
        <p:spPr>
          <a:xfrm>
            <a:off x="8314944" y="2615184"/>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Des cellules anormales ont été observées. L'étape suivante dépend du résultat et de la voie du programme.</a:t>
            </a:r>
            <a:endParaRPr lang="fr-FR" sz="1800" noProof="0" dirty="0"/>
          </a:p>
        </p:txBody>
      </p:sp>
      <p:sp>
        <p:nvSpPr>
          <p:cNvPr id="15" name="Shape 13"/>
          <p:cNvSpPr/>
          <p:nvPr/>
        </p:nvSpPr>
        <p:spPr>
          <a:xfrm>
            <a:off x="566928" y="5017008"/>
            <a:ext cx="11055096" cy="786384"/>
          </a:xfrm>
          <a:prstGeom prst="roundRect">
            <a:avLst>
              <a:gd name="adj" fmla="val 8140"/>
            </a:avLst>
          </a:prstGeom>
          <a:solidFill>
            <a:srgbClr val="FDE9E8"/>
          </a:solidFill>
          <a:ln w="12700">
            <a:solidFill>
              <a:srgbClr val="F0CFCE"/>
            </a:solidFill>
            <a:prstDash val="solid"/>
          </a:ln>
        </p:spPr>
        <p:txBody>
          <a:bodyPr/>
          <a:lstStyle/>
          <a:p>
            <a:endParaRPr lang="fr-FR" noProof="0" dirty="0"/>
          </a:p>
        </p:txBody>
      </p:sp>
      <p:sp>
        <p:nvSpPr>
          <p:cNvPr id="16" name="Text 14"/>
          <p:cNvSpPr txBox="1"/>
          <p:nvPr/>
        </p:nvSpPr>
        <p:spPr>
          <a:xfrm>
            <a:off x="841248" y="5071872"/>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La règle qui compte :  </a:t>
            </a:r>
            <a:r>
              <a:rPr lang="fr-FR" sz="1800" noProof="0" dirty="0">
                <a:solidFill>
                  <a:srgbClr val="23303F"/>
                </a:solidFill>
                <a:latin typeface="Calibri" pitchFamily="34" charset="0"/>
                <a:ea typeface="Calibri" pitchFamily="34" charset="-122"/>
                <a:cs typeface="Calibri" pitchFamily="34" charset="-120"/>
              </a:rPr>
              <a:t>un résultat de dépistage anormal signifie que la femme doit passer à l'étape suivante de la voie. Cela ne signifie jamais, en soi, qu'elle a un cancer du col de l'utérus.</a:t>
            </a:r>
            <a:endParaRPr lang="fr-FR" sz="1800" noProof="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RECOMMANDATIONS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La voie du dépistage au Rwanda</a:t>
            </a:r>
            <a:endParaRPr lang="fr-FR" sz="3200" noProof="0" dirty="0"/>
          </a:p>
        </p:txBody>
      </p:sp>
      <p:sp>
        <p:nvSpPr>
          <p:cNvPr id="6" name="Shape 4"/>
          <p:cNvSpPr/>
          <p:nvPr/>
        </p:nvSpPr>
        <p:spPr>
          <a:xfrm>
            <a:off x="566928" y="1719072"/>
            <a:ext cx="11055096" cy="676656"/>
          </a:xfrm>
          <a:prstGeom prst="roundRect">
            <a:avLst>
              <a:gd name="adj" fmla="val 9459"/>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719072"/>
            <a:ext cx="548640" cy="676656"/>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773936"/>
            <a:ext cx="9866376" cy="566928"/>
          </a:xfrm>
          <a:prstGeom prst="rect">
            <a:avLst/>
          </a:prstGeom>
          <a:noFill/>
          <a:ln/>
        </p:spPr>
        <p:txBody>
          <a:bodyPr wrap="square" lIns="0" tIns="0" rIns="0" bIns="0" rtlCol="0" anchor="ctr">
            <a:noAutofit/>
          </a:bodyPr>
          <a:lstStyle/>
          <a:p>
            <a:pPr marL="0" indent="0">
              <a:lnSpc>
                <a:spcPct val="104000"/>
              </a:lnSpc>
              <a:buNone/>
            </a:pPr>
            <a:r>
              <a:rPr lang="fr-FR" sz="1638" noProof="0" dirty="0">
                <a:solidFill>
                  <a:srgbClr val="23303F"/>
                </a:solidFill>
                <a:latin typeface="Calibri" pitchFamily="34" charset="0"/>
                <a:ea typeface="Calibri" pitchFamily="34" charset="-122"/>
                <a:cs typeface="Calibri" pitchFamily="34" charset="-120"/>
              </a:rPr>
              <a:t>Le test ADN du HPV est le test principal pour les femmes de 30 à 49 ans, et de 25 à 49 ans si elles vivent avec le VIH. Prélèvement par le clinicien ou auto-prélèvement.</a:t>
            </a:r>
            <a:endParaRPr lang="fr-FR" sz="1638" noProof="0" dirty="0"/>
          </a:p>
        </p:txBody>
      </p:sp>
      <p:sp>
        <p:nvSpPr>
          <p:cNvPr id="9" name="Shape 7"/>
          <p:cNvSpPr/>
          <p:nvPr/>
        </p:nvSpPr>
        <p:spPr>
          <a:xfrm>
            <a:off x="566928" y="2523744"/>
            <a:ext cx="11055096" cy="676656"/>
          </a:xfrm>
          <a:prstGeom prst="roundRect">
            <a:avLst>
              <a:gd name="adj" fmla="val 9459"/>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523744"/>
            <a:ext cx="548640" cy="676656"/>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2578608"/>
            <a:ext cx="9866376" cy="566928"/>
          </a:xfrm>
          <a:prstGeom prst="rect">
            <a:avLst/>
          </a:prstGeom>
          <a:noFill/>
          <a:ln/>
        </p:spPr>
        <p:txBody>
          <a:bodyPr wrap="square" lIns="0" tIns="0" rIns="0" bIns="0" rtlCol="0" anchor="ctr">
            <a:noAutofit/>
          </a:bodyPr>
          <a:lstStyle/>
          <a:p>
            <a:pPr marL="0" indent="0">
              <a:lnSpc>
                <a:spcPct val="104000"/>
              </a:lnSpc>
              <a:buNone/>
            </a:pPr>
            <a:r>
              <a:rPr lang="fr-FR" sz="1638" noProof="0" dirty="0">
                <a:solidFill>
                  <a:srgbClr val="23303F"/>
                </a:solidFill>
                <a:latin typeface="Calibri" pitchFamily="34" charset="0"/>
                <a:ea typeface="Calibri" pitchFamily="34" charset="-122"/>
                <a:cs typeface="Calibri" pitchFamily="34" charset="-120"/>
              </a:rPr>
              <a:t>Les femmes testées positives au HPV subissent une évaluation complémentaire, incluant le génotypage du HPV16/18 et le triage VIA, afin d'orienter le traitement.</a:t>
            </a:r>
            <a:endParaRPr lang="fr-FR" sz="1638" noProof="0" dirty="0"/>
          </a:p>
        </p:txBody>
      </p:sp>
      <p:sp>
        <p:nvSpPr>
          <p:cNvPr id="12" name="Shape 10"/>
          <p:cNvSpPr/>
          <p:nvPr/>
        </p:nvSpPr>
        <p:spPr>
          <a:xfrm>
            <a:off x="566928" y="3328416"/>
            <a:ext cx="11055096" cy="676656"/>
          </a:xfrm>
          <a:prstGeom prst="roundRect">
            <a:avLst>
              <a:gd name="adj" fmla="val 9459"/>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328416"/>
            <a:ext cx="548640" cy="676656"/>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3383280"/>
            <a:ext cx="9866376" cy="566928"/>
          </a:xfrm>
          <a:prstGeom prst="rect">
            <a:avLst/>
          </a:prstGeom>
          <a:noFill/>
          <a:ln/>
        </p:spPr>
        <p:txBody>
          <a:bodyPr wrap="square" lIns="0" tIns="0" rIns="0" bIns="0" rtlCol="0" anchor="ctr">
            <a:noAutofit/>
          </a:bodyPr>
          <a:lstStyle/>
          <a:p>
            <a:pPr marL="0" indent="0">
              <a:lnSpc>
                <a:spcPct val="104000"/>
              </a:lnSpc>
              <a:buNone/>
            </a:pPr>
            <a:r>
              <a:rPr lang="fr-FR" sz="1638" noProof="0" dirty="0">
                <a:solidFill>
                  <a:srgbClr val="23303F"/>
                </a:solidFill>
                <a:latin typeface="Calibri" pitchFamily="34" charset="0"/>
                <a:ea typeface="Calibri" pitchFamily="34" charset="-122"/>
                <a:cs typeface="Calibri" pitchFamily="34" charset="-120"/>
              </a:rPr>
              <a:t>Les lésions précancéreuses éligibles sont traitées rapidement ; les femmes non éligibles à un traitement local sont orientées vers des soins appropriés.</a:t>
            </a:r>
            <a:endParaRPr lang="fr-FR" sz="1638" noProof="0" dirty="0"/>
          </a:p>
        </p:txBody>
      </p:sp>
      <p:sp>
        <p:nvSpPr>
          <p:cNvPr id="15" name="Shape 13"/>
          <p:cNvSpPr/>
          <p:nvPr/>
        </p:nvSpPr>
        <p:spPr>
          <a:xfrm>
            <a:off x="566928" y="4133088"/>
            <a:ext cx="11055096" cy="676656"/>
          </a:xfrm>
          <a:prstGeom prst="roundRect">
            <a:avLst>
              <a:gd name="adj" fmla="val 9459"/>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4133088"/>
            <a:ext cx="548640" cy="676656"/>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4187952"/>
            <a:ext cx="9866376" cy="566928"/>
          </a:xfrm>
          <a:prstGeom prst="rect">
            <a:avLst/>
          </a:prstGeom>
          <a:noFill/>
          <a:ln/>
        </p:spPr>
        <p:txBody>
          <a:bodyPr wrap="square" lIns="0" tIns="0" rIns="0" bIns="0" rtlCol="0" anchor="ctr">
            <a:noAutofit/>
          </a:bodyPr>
          <a:lstStyle/>
          <a:p>
            <a:pPr marL="0" indent="0">
              <a:lnSpc>
                <a:spcPct val="104000"/>
              </a:lnSpc>
              <a:buNone/>
            </a:pPr>
            <a:r>
              <a:rPr lang="fr-FR" sz="1638" noProof="0" dirty="0">
                <a:solidFill>
                  <a:srgbClr val="23303F"/>
                </a:solidFill>
                <a:latin typeface="Calibri" pitchFamily="34" charset="0"/>
                <a:ea typeface="Calibri" pitchFamily="34" charset="-122"/>
                <a:cs typeface="Calibri" pitchFamily="34" charset="-120"/>
              </a:rPr>
              <a:t>Un col de l'utérus suspect d'un cancer invasif est orienté pour une évaluation diagnostique.</a:t>
            </a:r>
            <a:endParaRPr lang="fr-FR" sz="1638" noProof="0" dirty="0"/>
          </a:p>
        </p:txBody>
      </p:sp>
      <p:sp>
        <p:nvSpPr>
          <p:cNvPr id="20" name="Shape 15">
            <a:extLst>
              <a:ext uri="{FF2B5EF4-FFF2-40B4-BE49-F238E27FC236}">
                <a16:creationId xmlns:a16="http://schemas.microsoft.com/office/drawing/2014/main" id="{02803E58-C989-7004-4AB5-E37408C06CD9}"/>
              </a:ext>
            </a:extLst>
          </p:cNvPr>
          <p:cNvSpPr/>
          <p:nvPr/>
        </p:nvSpPr>
        <p:spPr>
          <a:xfrm>
            <a:off x="548640" y="5199734"/>
            <a:ext cx="11055096" cy="1016168"/>
          </a:xfrm>
          <a:prstGeom prst="roundRect">
            <a:avLst>
              <a:gd name="adj" fmla="val 8140"/>
            </a:avLst>
          </a:prstGeom>
          <a:solidFill>
            <a:srgbClr val="EAF7F0"/>
          </a:solidFill>
          <a:ln w="12700">
            <a:solidFill>
              <a:srgbClr val="C0D4CB"/>
            </a:solidFill>
            <a:prstDash val="solid"/>
          </a:ln>
        </p:spPr>
        <p:txBody>
          <a:bodyPr/>
          <a:lstStyle/>
          <a:p>
            <a:endParaRPr lang="fr-FR" sz="1600" noProof="0" dirty="0"/>
          </a:p>
        </p:txBody>
      </p:sp>
      <p:sp>
        <p:nvSpPr>
          <p:cNvPr id="21" name="Text 16">
            <a:extLst>
              <a:ext uri="{FF2B5EF4-FFF2-40B4-BE49-F238E27FC236}">
                <a16:creationId xmlns:a16="http://schemas.microsoft.com/office/drawing/2014/main" id="{4B1F7B69-512E-47DE-1DFE-8A0BCD45D2ED}"/>
              </a:ext>
            </a:extLst>
          </p:cNvPr>
          <p:cNvSpPr txBox="1"/>
          <p:nvPr/>
        </p:nvSpPr>
        <p:spPr>
          <a:xfrm>
            <a:off x="822960" y="5386408"/>
            <a:ext cx="10506456" cy="676656"/>
          </a:xfrm>
          <a:prstGeom prst="rect">
            <a:avLst/>
          </a:prstGeom>
          <a:noFill/>
          <a:ln/>
        </p:spPr>
        <p:txBody>
          <a:bodyPr wrap="square" lIns="0" tIns="0" rIns="0" bIns="0" rtlCol="0" anchor="ctr">
            <a:normAutofit fontScale="91500" lnSpcReduction="20000"/>
          </a:bodyPr>
          <a:lstStyle/>
          <a:p>
            <a:pPr>
              <a:lnSpc>
                <a:spcPct val="104000"/>
              </a:lnSpc>
            </a:pPr>
            <a:r>
              <a:rPr lang="fr-FR" b="1" noProof="0" dirty="0">
                <a:solidFill>
                  <a:srgbClr val="19543E"/>
                </a:solidFill>
                <a:latin typeface="Calibri" pitchFamily="34" charset="0"/>
                <a:ea typeface="Calibri" pitchFamily="34" charset="-122"/>
                <a:cs typeface="Calibri" pitchFamily="34" charset="-120"/>
              </a:rPr>
              <a:t>🏥 Parcours rwandais : test ADN du HPV → HPV positif : génotypage + triage via → </a:t>
            </a:r>
            <a:r>
              <a:rPr lang="fr-FR" b="1" dirty="0">
                <a:solidFill>
                  <a:srgbClr val="19543E"/>
                </a:solidFill>
                <a:latin typeface="Calibri" pitchFamily="34" charset="0"/>
                <a:ea typeface="Calibri" pitchFamily="34" charset="-122"/>
                <a:cs typeface="Calibri" pitchFamily="34" charset="-120"/>
              </a:rPr>
              <a:t>Traiter les lésions précancéreuses </a:t>
            </a:r>
            <a:r>
              <a:rPr lang="fr-FR" b="1" noProof="0" dirty="0">
                <a:solidFill>
                  <a:srgbClr val="19543E"/>
                </a:solidFill>
                <a:latin typeface="Calibri" pitchFamily="34" charset="0"/>
                <a:ea typeface="Calibri" pitchFamily="34" charset="-122"/>
                <a:cs typeface="Calibri" pitchFamily="34" charset="-120"/>
              </a:rPr>
              <a:t>éligibles / orienter si nécessaire.</a:t>
            </a:r>
          </a:p>
          <a:p>
            <a:pPr>
              <a:lnSpc>
                <a:spcPct val="104000"/>
              </a:lnSpc>
            </a:pPr>
            <a:r>
              <a:rPr lang="fr-FR" noProof="0" dirty="0">
                <a:solidFill>
                  <a:srgbClr val="23303F"/>
                </a:solidFill>
                <a:latin typeface="Calibri" pitchFamily="34" charset="0"/>
                <a:ea typeface="Calibri" pitchFamily="34" charset="-122"/>
                <a:cs typeface="Calibri" pitchFamily="34" charset="-120"/>
              </a:rPr>
              <a:t>Femmes de 50 à 65 ans jamais dépistées : frottis, ou VIA si le frottis n'est pas disponible.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RECOMMANDATIONS</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Qui est dépisté au Rwanda, et avec quel test</a:t>
            </a:r>
          </a:p>
        </p:txBody>
      </p:sp>
      <p:sp>
        <p:nvSpPr>
          <p:cNvPr id="20" name="Shape 20"/>
          <p:cNvSpPr/>
          <p:nvPr/>
        </p:nvSpPr>
        <p:spPr>
          <a:xfrm>
            <a:off x="566928" y="5350000"/>
            <a:ext cx="11055096" cy="82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21" name="Text 21"/>
          <p:cNvSpPr txBox="1"/>
          <p:nvPr/>
        </p:nvSpPr>
        <p:spPr>
          <a:xfrm>
            <a:off x="841248" y="5400000"/>
            <a:ext cx="10506456" cy="720000"/>
          </a:xfrm>
          <a:prstGeom prst="rect">
            <a:avLst/>
          </a:prstGeom>
          <a:noFill/>
          <a:ln/>
        </p:spPr>
        <p:txBody>
          <a:bodyPr wrap="square" lIns="0" tIns="0" rIns="0" bIns="0" rtlCol="0" anchor="ctr"/>
          <a:lstStyle/>
          <a:p>
            <a:pPr marL="0" indent="0" algn="l">
              <a:buNone/>
            </a:pPr>
            <a:r>
              <a:rPr lang="fr-FR" sz="1500" b="1" noProof="0" dirty="0">
                <a:solidFill>
                  <a:srgbClr val="7B5727"/>
                </a:solidFill>
                <a:latin typeface="Calibri" pitchFamily="34" charset="0"/>
                <a:ea typeface="Calibri" pitchFamily="34" charset="-122"/>
                <a:cs typeface="Calibri" pitchFamily="34" charset="-120"/>
              </a:rPr>
              <a:t>📌 Rappelez-vous :  </a:t>
            </a:r>
            <a:r>
              <a:rPr lang="fr-FR" sz="1500" noProof="0" dirty="0">
                <a:solidFill>
                  <a:srgbClr val="23303F"/>
                </a:solidFill>
                <a:latin typeface="Calibri" pitchFamily="34" charset="0"/>
                <a:ea typeface="Calibri" pitchFamily="34" charset="-122"/>
                <a:cs typeface="Calibri" pitchFamily="34" charset="-120"/>
              </a:rPr>
              <a:t>Le test HPV est utilisé pour les âges prioritaires. Les femmes de 50 à 65 ans qui n'ont pas été dépistées sont quand même invitées, avec un frottis ou une VIA.</a:t>
            </a:r>
            <a:endParaRPr lang="fr-FR" sz="1500" dirty="0"/>
          </a:p>
        </p:txBody>
      </p:sp>
      <p:sp>
        <p:nvSpPr>
          <p:cNvPr id="22" name="Text 22"/>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23" name="Text 23"/>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78</a:t>
            </a:r>
            <a:endParaRPr lang="fr-FR" sz="1100" dirty="0"/>
          </a:p>
        </p:txBody>
      </p:sp>
      <p:pic>
        <p:nvPicPr>
          <p:cNvPr id="24" name="Imagen 23">
            <a:extLst>
              <a:ext uri="{FF2B5EF4-FFF2-40B4-BE49-F238E27FC236}">
                <a16:creationId xmlns:a16="http://schemas.microsoft.com/office/drawing/2014/main" id="{2BF30998-51FF-DE3E-66E6-185122852FE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1208" y="1401958"/>
            <a:ext cx="11109960" cy="3786076"/>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79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RECOMMANDATIONS</a:t>
            </a:r>
            <a:endParaRPr lang="fr-FR" sz="1200" noProof="0" dirty="0"/>
          </a:p>
        </p:txBody>
      </p:sp>
      <p:sp>
        <p:nvSpPr>
          <p:cNvPr id="5" name="Text 3"/>
          <p:cNvSpPr txBox="1"/>
          <p:nvPr/>
        </p:nvSpPr>
        <p:spPr>
          <a:xfrm>
            <a:off x="566928" y="406486"/>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 chemin</a:t>
            </a:r>
            <a:endParaRPr lang="fr-FR" sz="3200" noProof="0" dirty="0"/>
          </a:p>
        </p:txBody>
      </p:sp>
      <p:pic>
        <p:nvPicPr>
          <p:cNvPr id="7" name="Imagen 6">
            <a:extLst>
              <a:ext uri="{FF2B5EF4-FFF2-40B4-BE49-F238E27FC236}">
                <a16:creationId xmlns:a16="http://schemas.microsoft.com/office/drawing/2014/main" id="{181F0C18-EB20-DC9B-8EBE-304BFCC3607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8952" y="1061371"/>
            <a:ext cx="10543032" cy="526557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TEST HPV</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Avant de prélever un échantillon HPV</a:t>
            </a:r>
          </a:p>
        </p:txBody>
      </p:sp>
      <p:sp>
        <p:nvSpPr>
          <p:cNvPr id="4" name="Shape 4"/>
          <p:cNvSpPr/>
          <p:nvPr/>
        </p:nvSpPr>
        <p:spPr>
          <a:xfrm>
            <a:off x="566928" y="1450000"/>
            <a:ext cx="5436108" cy="315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5" name="Text 5"/>
          <p:cNvSpPr txBox="1"/>
          <p:nvPr/>
        </p:nvSpPr>
        <p:spPr>
          <a:xfrm>
            <a:off x="822960" y="1570000"/>
            <a:ext cx="4924044" cy="520000"/>
          </a:xfrm>
          <a:prstGeom prst="rect">
            <a:avLst/>
          </a:prstGeom>
          <a:noFill/>
          <a:ln/>
        </p:spPr>
        <p:txBody>
          <a:bodyPr wrap="square" lIns="0" tIns="0" rIns="0" bIns="0" rtlCol="0" anchor="ctr"/>
          <a:lstStyle/>
          <a:p>
            <a:pPr marL="0" indent="0" algn="l">
              <a:buNone/>
            </a:pPr>
            <a:r>
              <a:rPr lang="fr-FR" sz="2000" b="1" noProof="0" dirty="0">
                <a:solidFill>
                  <a:srgbClr val="19543E"/>
                </a:solidFill>
                <a:latin typeface="Calibri" pitchFamily="34" charset="0"/>
                <a:ea typeface="Calibri" pitchFamily="34" charset="-122"/>
                <a:cs typeface="Calibri" pitchFamily="34" charset="-120"/>
              </a:rPr>
              <a:t>✅  Proposer le test HPV aux</a:t>
            </a:r>
            <a:endParaRPr lang="fr-FR" sz="2000" dirty="0"/>
          </a:p>
        </p:txBody>
      </p:sp>
      <p:sp>
        <p:nvSpPr>
          <p:cNvPr id="6" name="Text 6"/>
          <p:cNvSpPr txBox="1"/>
          <p:nvPr/>
        </p:nvSpPr>
        <p:spPr>
          <a:xfrm>
            <a:off x="822960" y="2150000"/>
            <a:ext cx="4924044" cy="23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Femmes des âges prioritaires : 30 à 49 ans, ou 25 à 49 ans si elles vivent avec le VIH.</a:t>
            </a:r>
            <a:endParaRPr lang="fr-FR" sz="1600" dirty="0"/>
          </a:p>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Femmes à dépister qui n'ont pas de symptômes.</a:t>
            </a:r>
            <a:endParaRPr lang="fr-FR" sz="1600" dirty="0"/>
          </a:p>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Femmes qui ont donné leur accord après le counseling.</a:t>
            </a:r>
            <a:endParaRPr lang="fr-FR" sz="1600" dirty="0"/>
          </a:p>
        </p:txBody>
      </p:sp>
      <p:sp>
        <p:nvSpPr>
          <p:cNvPr id="7" name="Shape 7"/>
          <p:cNvSpPr/>
          <p:nvPr/>
        </p:nvSpPr>
        <p:spPr>
          <a:xfrm>
            <a:off x="6185916" y="1450000"/>
            <a:ext cx="5436108" cy="315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8" name="Text 8"/>
          <p:cNvSpPr txBox="1"/>
          <p:nvPr/>
        </p:nvSpPr>
        <p:spPr>
          <a:xfrm>
            <a:off x="6441948" y="1570000"/>
            <a:ext cx="4924044" cy="520000"/>
          </a:xfrm>
          <a:prstGeom prst="rect">
            <a:avLst/>
          </a:prstGeom>
          <a:noFill/>
          <a:ln/>
        </p:spPr>
        <p:txBody>
          <a:bodyPr wrap="square" lIns="0" tIns="0" rIns="0" bIns="0" rtlCol="0" anchor="ctr"/>
          <a:lstStyle/>
          <a:p>
            <a:pPr marL="0" indent="0" algn="l">
              <a:buNone/>
            </a:pPr>
            <a:r>
              <a:rPr lang="fr-FR" sz="2000" b="1" noProof="0" dirty="0">
                <a:solidFill>
                  <a:srgbClr val="7B5727"/>
                </a:solidFill>
                <a:latin typeface="Calibri" pitchFamily="34" charset="0"/>
                <a:ea typeface="Calibri" pitchFamily="34" charset="-122"/>
                <a:cs typeface="Calibri" pitchFamily="34" charset="-120"/>
              </a:rPr>
              <a:t>⏸️  Ne pas prélever</a:t>
            </a:r>
            <a:endParaRPr lang="fr-FR" sz="2000" dirty="0"/>
          </a:p>
        </p:txBody>
      </p:sp>
      <p:sp>
        <p:nvSpPr>
          <p:cNvPr id="9" name="Text 9"/>
          <p:cNvSpPr txBox="1"/>
          <p:nvPr/>
        </p:nvSpPr>
        <p:spPr>
          <a:xfrm>
            <a:off x="6441948" y="2150000"/>
            <a:ext cx="4924044" cy="23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Pendant les règles.</a:t>
            </a:r>
            <a:endParaRPr lang="fr-FR" sz="1600" dirty="0"/>
          </a:p>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Pendant la grossesse, ou dans les 6 semaines après l'accouchement.</a:t>
            </a:r>
            <a:endParaRPr lang="fr-FR" sz="1600" dirty="0"/>
          </a:p>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Après une hystérectomie totale.</a:t>
            </a:r>
            <a:endParaRPr lang="fr-FR" sz="1600" dirty="0"/>
          </a:p>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En présence de symptômes : elle a besoin d'une évaluation diagnostique.</a:t>
            </a:r>
            <a:endParaRPr lang="fr-FR" sz="1600" dirty="0"/>
          </a:p>
        </p:txBody>
      </p:sp>
      <p:sp>
        <p:nvSpPr>
          <p:cNvPr id="10" name="Shape 10"/>
          <p:cNvSpPr/>
          <p:nvPr/>
        </p:nvSpPr>
        <p:spPr>
          <a:xfrm>
            <a:off x="566928" y="4800000"/>
            <a:ext cx="11055096" cy="1000000"/>
          </a:xfrm>
          <a:prstGeom prst="roundRect">
            <a:avLst>
              <a:gd name="adj" fmla="val 3000"/>
            </a:avLst>
          </a:prstGeom>
          <a:solidFill>
            <a:srgbClr val="ECF3FD"/>
          </a:solidFill>
          <a:ln w="12700">
            <a:solidFill>
              <a:srgbClr val="E0E3EA"/>
            </a:solidFill>
          </a:ln>
        </p:spPr>
        <p:txBody>
          <a:bodyPr/>
          <a:lstStyle/>
          <a:p>
            <a:endParaRPr lang="fr-FR" sz="1600" dirty="0"/>
          </a:p>
        </p:txBody>
      </p:sp>
      <p:sp>
        <p:nvSpPr>
          <p:cNvPr id="11" name="Text 11"/>
          <p:cNvSpPr txBox="1"/>
          <p:nvPr/>
        </p:nvSpPr>
        <p:spPr>
          <a:xfrm>
            <a:off x="841248" y="4850000"/>
            <a:ext cx="10506456" cy="900000"/>
          </a:xfrm>
          <a:prstGeom prst="rect">
            <a:avLst/>
          </a:prstGeom>
          <a:noFill/>
          <a:ln/>
        </p:spPr>
        <p:txBody>
          <a:bodyPr wrap="square" lIns="0" tIns="0" rIns="0" bIns="0" rtlCol="0" anchor="ctr"/>
          <a:lstStyle/>
          <a:p>
            <a:pPr marL="0" indent="0" algn="l">
              <a:buNone/>
            </a:pPr>
            <a:r>
              <a:rPr lang="fr-FR" sz="1500" b="1" noProof="0" dirty="0">
                <a:solidFill>
                  <a:srgbClr val="10305A"/>
                </a:solidFill>
                <a:latin typeface="Calibri" pitchFamily="34" charset="0"/>
                <a:ea typeface="Calibri" pitchFamily="34" charset="-122"/>
                <a:cs typeface="Calibri" pitchFamily="34" charset="-120"/>
              </a:rPr>
              <a:t>📋 Avant de commencer :  </a:t>
            </a:r>
            <a:r>
              <a:rPr lang="fr-FR" sz="1500" noProof="0" dirty="0">
                <a:solidFill>
                  <a:srgbClr val="23303F"/>
                </a:solidFill>
                <a:latin typeface="Calibri" pitchFamily="34" charset="0"/>
                <a:ea typeface="Calibri" pitchFamily="34" charset="-122"/>
                <a:cs typeface="Calibri" pitchFamily="34" charset="-120"/>
              </a:rPr>
              <a:t>Étiquetez le tube avec son nom, son numéro de dépistage et la date, et remplissez la demande de laboratoire dans le DME (mUzima ou OpenMRS).</a:t>
            </a:r>
            <a:endParaRPr lang="fr-FR" sz="1500" dirty="0"/>
          </a:p>
        </p:txBody>
      </p:sp>
      <p:sp>
        <p:nvSpPr>
          <p:cNvPr id="12" name="Text 12"/>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3" name="Text 13"/>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80</a:t>
            </a:r>
            <a:endParaRPr lang="fr-FR"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TEST HPV</a:t>
            </a:r>
            <a:endParaRPr lang="fr-FR" sz="1200" dirty="0"/>
          </a:p>
        </p:txBody>
      </p:sp>
      <p:sp>
        <p:nvSpPr>
          <p:cNvPr id="3" name="Text 3"/>
          <p:cNvSpPr txBox="1"/>
          <p:nvPr/>
        </p:nvSpPr>
        <p:spPr>
          <a:xfrm>
            <a:off x="566928" y="416148"/>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Deux façons de prélever l'échantillon</a:t>
            </a:r>
          </a:p>
        </p:txBody>
      </p:sp>
      <p:sp>
        <p:nvSpPr>
          <p:cNvPr id="4" name="Shape 4"/>
          <p:cNvSpPr/>
          <p:nvPr/>
        </p:nvSpPr>
        <p:spPr>
          <a:xfrm>
            <a:off x="566928" y="1151424"/>
            <a:ext cx="5436108" cy="4435152"/>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822960" y="1271424"/>
            <a:ext cx="4924044"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Auto-prélèvement</a:t>
            </a:r>
            <a:endParaRPr lang="fr-FR" sz="2000" dirty="0"/>
          </a:p>
        </p:txBody>
      </p:sp>
      <p:sp>
        <p:nvSpPr>
          <p:cNvPr id="6" name="Text 6"/>
          <p:cNvSpPr txBox="1"/>
          <p:nvPr/>
        </p:nvSpPr>
        <p:spPr>
          <a:xfrm>
            <a:off x="822960" y="1851424"/>
            <a:ext cx="4924044" cy="21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Expliquez les étapes avec l'affiche d'instructions et laissez-lui de l'intimité.</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Elle introduit l'écouvillon dans le vagin aussi loin que c'est confortable, le tourne, puis le place dans le tube.</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Retirez la pipette du kit avant de le lui remettre.</a:t>
            </a:r>
            <a:endParaRPr lang="fr-FR" sz="1500" dirty="0"/>
          </a:p>
        </p:txBody>
      </p:sp>
      <p:sp>
        <p:nvSpPr>
          <p:cNvPr id="7" name="Shape 7"/>
          <p:cNvSpPr/>
          <p:nvPr/>
        </p:nvSpPr>
        <p:spPr>
          <a:xfrm>
            <a:off x="6185916" y="1151424"/>
            <a:ext cx="5436108" cy="4435152"/>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6441948" y="1271424"/>
            <a:ext cx="4924044"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Prélèvement par le clinicien</a:t>
            </a:r>
            <a:endParaRPr lang="fr-FR" sz="2000" dirty="0"/>
          </a:p>
        </p:txBody>
      </p:sp>
      <p:sp>
        <p:nvSpPr>
          <p:cNvPr id="9" name="Text 9"/>
          <p:cNvSpPr txBox="1"/>
          <p:nvPr/>
        </p:nvSpPr>
        <p:spPr>
          <a:xfrm>
            <a:off x="6441948" y="1851424"/>
            <a:ext cx="4924044" cy="21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Introduisez un spéculum humidifié à l'eau, sans gel, et visualisez tout le col.</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Introduisez la brosse dans l'orifice jusqu'à ce que les soies externes touchent l'ectocol, puis tournez 3 à 5 fois dans le sens horaire.</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Rincez la brosse dans le milieu de transport et fermez bien le tube.</a:t>
            </a:r>
            <a:endParaRPr lang="fr-FR" sz="1500" dirty="0"/>
          </a:p>
        </p:txBody>
      </p:sp>
      <p:sp>
        <p:nvSpPr>
          <p:cNvPr id="11" name="Shape 11"/>
          <p:cNvSpPr/>
          <p:nvPr/>
        </p:nvSpPr>
        <p:spPr>
          <a:xfrm>
            <a:off x="566928" y="5773186"/>
            <a:ext cx="11055096" cy="613424"/>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2" name="Text 12"/>
          <p:cNvSpPr txBox="1"/>
          <p:nvPr/>
        </p:nvSpPr>
        <p:spPr>
          <a:xfrm>
            <a:off x="841248" y="5893186"/>
            <a:ext cx="10506456" cy="443424"/>
          </a:xfrm>
          <a:prstGeom prst="rect">
            <a:avLst/>
          </a:prstGeom>
          <a:noFill/>
          <a:ln/>
        </p:spPr>
        <p:txBody>
          <a:bodyPr wrap="square" lIns="0" tIns="0" rIns="0" bIns="0" rtlCol="0" anchor="ctr"/>
          <a:lstStyle/>
          <a:p>
            <a:pPr marL="0" indent="0" algn="l">
              <a:buNone/>
            </a:pPr>
            <a:r>
              <a:rPr lang="fr-FR" sz="1500" b="1" noProof="0" dirty="0">
                <a:solidFill>
                  <a:srgbClr val="19543E"/>
                </a:solidFill>
                <a:latin typeface="Calibri" pitchFamily="34" charset="0"/>
                <a:ea typeface="Calibri" pitchFamily="34" charset="-122"/>
                <a:cs typeface="Calibri" pitchFamily="34" charset="-120"/>
              </a:rPr>
              <a:t>✅ Les deux sont valables :  </a:t>
            </a:r>
            <a:r>
              <a:rPr lang="fr-FR" sz="1500" noProof="0" dirty="0">
                <a:solidFill>
                  <a:srgbClr val="23303F"/>
                </a:solidFill>
                <a:latin typeface="Calibri" pitchFamily="34" charset="0"/>
                <a:ea typeface="Calibri" pitchFamily="34" charset="-122"/>
                <a:cs typeface="Calibri" pitchFamily="34" charset="-120"/>
              </a:rPr>
              <a:t>L'auto-prélèvement et le prélèvement par le clinicien sont tous deux utilisés au Rwanda. L'auto-prélèvement élargit l'accès.</a:t>
            </a:r>
            <a:endParaRPr lang="fr-FR" sz="1500" dirty="0"/>
          </a:p>
        </p:txBody>
      </p:sp>
      <p:sp>
        <p:nvSpPr>
          <p:cNvPr id="13" name="Text 13"/>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4" name="Text 14"/>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81</a:t>
            </a:r>
            <a:endParaRPr lang="fr-FR" sz="1100" dirty="0"/>
          </a:p>
        </p:txBody>
      </p:sp>
      <p:pic>
        <p:nvPicPr>
          <p:cNvPr id="15" name="Imagen 14">
            <a:extLst>
              <a:ext uri="{FF2B5EF4-FFF2-40B4-BE49-F238E27FC236}">
                <a16:creationId xmlns:a16="http://schemas.microsoft.com/office/drawing/2014/main" id="{3A9D66FD-52D1-2FAE-0792-2888FC1694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36031" y="3495159"/>
            <a:ext cx="2345629" cy="1952984"/>
          </a:xfrm>
          <a:prstGeom prst="rect">
            <a:avLst/>
          </a:prstGeom>
        </p:spPr>
      </p:pic>
      <p:pic>
        <p:nvPicPr>
          <p:cNvPr id="16" name="Imagen 15">
            <a:extLst>
              <a:ext uri="{FF2B5EF4-FFF2-40B4-BE49-F238E27FC236}">
                <a16:creationId xmlns:a16="http://schemas.microsoft.com/office/drawing/2014/main" id="{DF171D0D-3C37-71B9-94E8-CEF4A7036AA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472139" y="3478076"/>
            <a:ext cx="2829688" cy="21085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INTERACTIF</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Remettez les étapes du prélèvement dans l'ordre</a:t>
            </a:r>
          </a:p>
        </p:txBody>
      </p:sp>
      <p:sp>
        <p:nvSpPr>
          <p:cNvPr id="4" name="Text 4"/>
          <p:cNvSpPr txBox="1"/>
          <p:nvPr/>
        </p:nvSpPr>
        <p:spPr>
          <a:xfrm>
            <a:off x="566928" y="1517904"/>
            <a:ext cx="11055096" cy="365760"/>
          </a:xfrm>
          <a:prstGeom prst="rect">
            <a:avLst/>
          </a:prstGeom>
          <a:noFill/>
          <a:ln/>
        </p:spPr>
        <p:txBody>
          <a:bodyPr wrap="square" lIns="0" tIns="0" rIns="0" bIns="0" rtlCol="0" anchor="ctr"/>
          <a:lstStyle/>
          <a:p>
            <a:pPr marL="0" indent="0" algn="l">
              <a:buNone/>
            </a:pPr>
            <a:r>
              <a:rPr lang="fr-FR" sz="1600" noProof="0" dirty="0">
                <a:solidFill>
                  <a:srgbClr val="31507B"/>
                </a:solidFill>
                <a:latin typeface="Calibri" pitchFamily="34" charset="0"/>
                <a:ea typeface="Calibri" pitchFamily="34" charset="-122"/>
                <a:cs typeface="Calibri" pitchFamily="34" charset="-120"/>
              </a:rPr>
              <a:t>💬  Faites glisser les étapes dans le bon ordre pour un prélèvement HPV par le clinicien, puis sélectionnez Valider.</a:t>
            </a:r>
            <a:endParaRPr lang="fr-FR" sz="1600" dirty="0"/>
          </a:p>
        </p:txBody>
      </p:sp>
      <p:sp>
        <p:nvSpPr>
          <p:cNvPr id="5" name="Shape 5"/>
          <p:cNvSpPr/>
          <p:nvPr/>
        </p:nvSpPr>
        <p:spPr>
          <a:xfrm>
            <a:off x="566928" y="2000000"/>
            <a:ext cx="5436108" cy="62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6" name="Text 6"/>
          <p:cNvSpPr txBox="1"/>
          <p:nvPr/>
        </p:nvSpPr>
        <p:spPr>
          <a:xfrm>
            <a:off x="786928" y="2000000"/>
            <a:ext cx="5036108" cy="620000"/>
          </a:xfrm>
          <a:prstGeom prst="rect">
            <a:avLst/>
          </a:prstGeom>
          <a:noFill/>
          <a:ln/>
        </p:spPr>
        <p:txBody>
          <a:bodyPr wrap="square" lIns="0" tIns="0" rIns="0" bIns="0" rtlCol="0" anchor="ctr"/>
          <a:lstStyle/>
          <a:p>
            <a:pPr marL="0" indent="0" algn="l">
              <a:buNone/>
            </a:pPr>
            <a:r>
              <a:rPr lang="fr-FR" sz="1600" b="1" noProof="0" dirty="0">
                <a:solidFill>
                  <a:srgbClr val="1F4E96"/>
                </a:solidFill>
                <a:latin typeface="Calibri" pitchFamily="34" charset="0"/>
                <a:ea typeface="Calibri" pitchFamily="34" charset="-122"/>
                <a:cs typeface="Calibri" pitchFamily="34" charset="-120"/>
              </a:rPr>
              <a:t>A   </a:t>
            </a:r>
            <a:r>
              <a:rPr lang="fr-FR" sz="1600" noProof="0" dirty="0">
                <a:solidFill>
                  <a:srgbClr val="23303F"/>
                </a:solidFill>
                <a:latin typeface="Calibri" pitchFamily="34" charset="0"/>
                <a:ea typeface="Calibri" pitchFamily="34" charset="-122"/>
                <a:cs typeface="Calibri" pitchFamily="34" charset="-120"/>
              </a:rPr>
              <a:t>Tourner la brosse 3 à 5 fois dans le sens horaire</a:t>
            </a:r>
            <a:endParaRPr lang="fr-FR" sz="1600" dirty="0"/>
          </a:p>
        </p:txBody>
      </p:sp>
      <p:sp>
        <p:nvSpPr>
          <p:cNvPr id="7" name="Shape 7"/>
          <p:cNvSpPr/>
          <p:nvPr/>
        </p:nvSpPr>
        <p:spPr>
          <a:xfrm>
            <a:off x="6185916" y="2000000"/>
            <a:ext cx="5436108" cy="62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6405916" y="2000000"/>
            <a:ext cx="5036108" cy="620000"/>
          </a:xfrm>
          <a:prstGeom prst="rect">
            <a:avLst/>
          </a:prstGeom>
          <a:noFill/>
          <a:ln/>
        </p:spPr>
        <p:txBody>
          <a:bodyPr wrap="square" lIns="0" tIns="0" rIns="0" bIns="0" rtlCol="0" anchor="ctr"/>
          <a:lstStyle/>
          <a:p>
            <a:pPr marL="0" indent="0" algn="l">
              <a:buNone/>
            </a:pPr>
            <a:r>
              <a:rPr lang="fr-FR" sz="1600" b="1" noProof="0" dirty="0">
                <a:solidFill>
                  <a:srgbClr val="1F4E96"/>
                </a:solidFill>
                <a:latin typeface="Calibri" pitchFamily="34" charset="0"/>
                <a:ea typeface="Calibri" pitchFamily="34" charset="-122"/>
                <a:cs typeface="Calibri" pitchFamily="34" charset="-120"/>
              </a:rPr>
              <a:t>B   </a:t>
            </a:r>
            <a:r>
              <a:rPr lang="fr-FR" sz="1600" noProof="0" dirty="0">
                <a:solidFill>
                  <a:srgbClr val="23303F"/>
                </a:solidFill>
                <a:latin typeface="Calibri" pitchFamily="34" charset="0"/>
                <a:ea typeface="Calibri" pitchFamily="34" charset="-122"/>
                <a:cs typeface="Calibri" pitchFamily="34" charset="-120"/>
              </a:rPr>
              <a:t>Introduire le spéculum et visualiser tout le col</a:t>
            </a:r>
            <a:endParaRPr lang="fr-FR" sz="1600" dirty="0"/>
          </a:p>
        </p:txBody>
      </p:sp>
      <p:sp>
        <p:nvSpPr>
          <p:cNvPr id="9" name="Shape 9"/>
          <p:cNvSpPr/>
          <p:nvPr/>
        </p:nvSpPr>
        <p:spPr>
          <a:xfrm>
            <a:off x="566928" y="2720000"/>
            <a:ext cx="5436108" cy="62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0" name="Text 10"/>
          <p:cNvSpPr txBox="1"/>
          <p:nvPr/>
        </p:nvSpPr>
        <p:spPr>
          <a:xfrm>
            <a:off x="786928" y="2720000"/>
            <a:ext cx="5036108" cy="620000"/>
          </a:xfrm>
          <a:prstGeom prst="rect">
            <a:avLst/>
          </a:prstGeom>
          <a:noFill/>
          <a:ln/>
        </p:spPr>
        <p:txBody>
          <a:bodyPr wrap="square" lIns="0" tIns="0" rIns="0" bIns="0" rtlCol="0" anchor="ctr"/>
          <a:lstStyle/>
          <a:p>
            <a:pPr marL="0" indent="0" algn="l">
              <a:buNone/>
            </a:pPr>
            <a:r>
              <a:rPr lang="fr-FR" sz="1600" b="1" noProof="0" dirty="0">
                <a:solidFill>
                  <a:srgbClr val="1F4E96"/>
                </a:solidFill>
                <a:latin typeface="Calibri" pitchFamily="34" charset="0"/>
                <a:ea typeface="Calibri" pitchFamily="34" charset="-122"/>
                <a:cs typeface="Calibri" pitchFamily="34" charset="-120"/>
              </a:rPr>
              <a:t>C   </a:t>
            </a:r>
            <a:r>
              <a:rPr lang="fr-FR" sz="1600" noProof="0" dirty="0">
                <a:solidFill>
                  <a:srgbClr val="23303F"/>
                </a:solidFill>
                <a:latin typeface="Calibri" pitchFamily="34" charset="0"/>
                <a:ea typeface="Calibri" pitchFamily="34" charset="-122"/>
                <a:cs typeface="Calibri" pitchFamily="34" charset="-120"/>
              </a:rPr>
              <a:t>Étiqueter le tube et remplir la demande</a:t>
            </a:r>
            <a:endParaRPr lang="fr-FR" sz="1600" dirty="0"/>
          </a:p>
        </p:txBody>
      </p:sp>
      <p:sp>
        <p:nvSpPr>
          <p:cNvPr id="11" name="Shape 11"/>
          <p:cNvSpPr/>
          <p:nvPr/>
        </p:nvSpPr>
        <p:spPr>
          <a:xfrm>
            <a:off x="6185916" y="2720000"/>
            <a:ext cx="5436108" cy="62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2" name="Text 12"/>
          <p:cNvSpPr txBox="1"/>
          <p:nvPr/>
        </p:nvSpPr>
        <p:spPr>
          <a:xfrm>
            <a:off x="6405916" y="2720000"/>
            <a:ext cx="5036108" cy="620000"/>
          </a:xfrm>
          <a:prstGeom prst="rect">
            <a:avLst/>
          </a:prstGeom>
          <a:noFill/>
          <a:ln/>
        </p:spPr>
        <p:txBody>
          <a:bodyPr wrap="square" lIns="0" tIns="0" rIns="0" bIns="0" rtlCol="0" anchor="ctr"/>
          <a:lstStyle/>
          <a:p>
            <a:pPr marL="0" indent="0" algn="l">
              <a:buNone/>
            </a:pPr>
            <a:r>
              <a:rPr lang="fr-FR" sz="1600" b="1" noProof="0" dirty="0">
                <a:solidFill>
                  <a:srgbClr val="1F4E96"/>
                </a:solidFill>
                <a:latin typeface="Calibri" pitchFamily="34" charset="0"/>
                <a:ea typeface="Calibri" pitchFamily="34" charset="-122"/>
                <a:cs typeface="Calibri" pitchFamily="34" charset="-120"/>
              </a:rPr>
              <a:t>D   </a:t>
            </a:r>
            <a:r>
              <a:rPr lang="fr-FR" sz="1600" noProof="0" dirty="0">
                <a:solidFill>
                  <a:srgbClr val="23303F"/>
                </a:solidFill>
                <a:latin typeface="Calibri" pitchFamily="34" charset="0"/>
                <a:ea typeface="Calibri" pitchFamily="34" charset="-122"/>
                <a:cs typeface="Calibri" pitchFamily="34" charset="-120"/>
              </a:rPr>
              <a:t>Rincer la brosse dans le milieu et fermer le tube</a:t>
            </a:r>
            <a:endParaRPr lang="fr-FR" sz="1600" dirty="0"/>
          </a:p>
        </p:txBody>
      </p:sp>
      <p:sp>
        <p:nvSpPr>
          <p:cNvPr id="13" name="Shape 13"/>
          <p:cNvSpPr/>
          <p:nvPr/>
        </p:nvSpPr>
        <p:spPr>
          <a:xfrm>
            <a:off x="566928" y="3440000"/>
            <a:ext cx="5436108" cy="62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4" name="Text 14"/>
          <p:cNvSpPr txBox="1"/>
          <p:nvPr/>
        </p:nvSpPr>
        <p:spPr>
          <a:xfrm>
            <a:off x="786928" y="3440000"/>
            <a:ext cx="5036108" cy="620000"/>
          </a:xfrm>
          <a:prstGeom prst="rect">
            <a:avLst/>
          </a:prstGeom>
          <a:noFill/>
          <a:ln/>
        </p:spPr>
        <p:txBody>
          <a:bodyPr wrap="square" lIns="0" tIns="0" rIns="0" bIns="0" rtlCol="0" anchor="ctr"/>
          <a:lstStyle/>
          <a:p>
            <a:pPr marL="0" indent="0" algn="l">
              <a:buNone/>
            </a:pPr>
            <a:r>
              <a:rPr lang="fr-FR" sz="1600" b="1" noProof="0" dirty="0">
                <a:solidFill>
                  <a:srgbClr val="1F4E96"/>
                </a:solidFill>
                <a:latin typeface="Calibri" pitchFamily="34" charset="0"/>
                <a:ea typeface="Calibri" pitchFamily="34" charset="-122"/>
                <a:cs typeface="Calibri" pitchFamily="34" charset="-120"/>
              </a:rPr>
              <a:t>E   </a:t>
            </a:r>
            <a:r>
              <a:rPr lang="fr-FR" sz="1600" noProof="0" dirty="0">
                <a:solidFill>
                  <a:srgbClr val="23303F"/>
                </a:solidFill>
                <a:latin typeface="Calibri" pitchFamily="34" charset="0"/>
                <a:ea typeface="Calibri" pitchFamily="34" charset="-122"/>
                <a:cs typeface="Calibri" pitchFamily="34" charset="-120"/>
              </a:rPr>
              <a:t>Introduire la brosse dans l'orifice externe</a:t>
            </a:r>
            <a:endParaRPr lang="fr-FR" sz="1600" dirty="0"/>
          </a:p>
        </p:txBody>
      </p:sp>
      <p:sp>
        <p:nvSpPr>
          <p:cNvPr id="15" name="Shape 15"/>
          <p:cNvSpPr/>
          <p:nvPr/>
        </p:nvSpPr>
        <p:spPr>
          <a:xfrm>
            <a:off x="6185916" y="3440000"/>
            <a:ext cx="5436108" cy="62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6" name="Text 16"/>
          <p:cNvSpPr txBox="1"/>
          <p:nvPr/>
        </p:nvSpPr>
        <p:spPr>
          <a:xfrm>
            <a:off x="6405916" y="3440000"/>
            <a:ext cx="5036108" cy="620000"/>
          </a:xfrm>
          <a:prstGeom prst="rect">
            <a:avLst/>
          </a:prstGeom>
          <a:noFill/>
          <a:ln/>
        </p:spPr>
        <p:txBody>
          <a:bodyPr wrap="square" lIns="0" tIns="0" rIns="0" bIns="0" rtlCol="0" anchor="ctr"/>
          <a:lstStyle/>
          <a:p>
            <a:pPr marL="0" indent="0" algn="l">
              <a:buNone/>
            </a:pPr>
            <a:r>
              <a:rPr lang="fr-FR" sz="1600" b="1" noProof="0" dirty="0">
                <a:solidFill>
                  <a:srgbClr val="1F4E96"/>
                </a:solidFill>
                <a:latin typeface="Calibri" pitchFamily="34" charset="0"/>
                <a:ea typeface="Calibri" pitchFamily="34" charset="-122"/>
                <a:cs typeface="Calibri" pitchFamily="34" charset="-120"/>
              </a:rPr>
              <a:t>F   </a:t>
            </a:r>
            <a:r>
              <a:rPr lang="fr-FR" sz="1600" noProof="0" dirty="0">
                <a:solidFill>
                  <a:srgbClr val="23303F"/>
                </a:solidFill>
                <a:latin typeface="Calibri" pitchFamily="34" charset="0"/>
                <a:ea typeface="Calibri" pitchFamily="34" charset="-122"/>
                <a:cs typeface="Calibri" pitchFamily="34" charset="-120"/>
              </a:rPr>
              <a:t>Placer le spéculum dans une solution chlorée à 0,5 %</a:t>
            </a:r>
            <a:endParaRPr lang="fr-FR" sz="1600" dirty="0"/>
          </a:p>
        </p:txBody>
      </p:sp>
      <p:sp>
        <p:nvSpPr>
          <p:cNvPr id="17" name="Shape 17"/>
          <p:cNvSpPr/>
          <p:nvPr/>
        </p:nvSpPr>
        <p:spPr>
          <a:xfrm>
            <a:off x="566928" y="4300000"/>
            <a:ext cx="11055096" cy="185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8" name="Text 18"/>
          <p:cNvSpPr txBox="1"/>
          <p:nvPr/>
        </p:nvSpPr>
        <p:spPr>
          <a:xfrm>
            <a:off x="841248" y="4350000"/>
            <a:ext cx="10506456" cy="1750000"/>
          </a:xfrm>
          <a:prstGeom prst="rect">
            <a:avLst/>
          </a:prstGeom>
          <a:noFill/>
          <a:ln/>
        </p:spPr>
        <p:txBody>
          <a:bodyPr wrap="square" lIns="0" tIns="0" rIns="0" bIns="0" rtlCol="0" anchor="ctr"/>
          <a:lstStyle/>
          <a:p>
            <a:pPr marL="0" indent="0" algn="l">
              <a:spcAft>
                <a:spcPts val="600"/>
              </a:spcAft>
              <a:buNone/>
            </a:pPr>
            <a:r>
              <a:rPr lang="fr-FR" sz="1600" b="1" noProof="0" dirty="0">
                <a:solidFill>
                  <a:srgbClr val="19543E"/>
                </a:solidFill>
                <a:latin typeface="Calibri" pitchFamily="34" charset="0"/>
                <a:ea typeface="Calibri" pitchFamily="34" charset="-122"/>
                <a:cs typeface="Calibri" pitchFamily="34" charset="-120"/>
              </a:rPr>
              <a:t>Ordre correct : C → B → E → A → D → F</a:t>
            </a:r>
            <a:endParaRPr lang="fr-FR" sz="1600" dirty="0"/>
          </a:p>
          <a:p>
            <a:pPr marL="0" indent="0" algn="l">
              <a:buNone/>
            </a:pPr>
            <a:r>
              <a:rPr lang="fr-FR" sz="1600" b="1" noProof="0" dirty="0">
                <a:solidFill>
                  <a:srgbClr val="19543E"/>
                </a:solidFill>
                <a:latin typeface="Calibri" pitchFamily="34" charset="0"/>
                <a:ea typeface="Calibri" pitchFamily="34" charset="-122"/>
                <a:cs typeface="Calibri" pitchFamily="34" charset="-120"/>
              </a:rPr>
              <a:t>Retour : </a:t>
            </a:r>
            <a:r>
              <a:rPr lang="fr-FR" sz="1600" noProof="0" dirty="0">
                <a:solidFill>
                  <a:srgbClr val="23303F"/>
                </a:solidFill>
                <a:latin typeface="Calibri" pitchFamily="34" charset="0"/>
                <a:ea typeface="Calibri" pitchFamily="34" charset="-122"/>
                <a:cs typeface="Calibri" pitchFamily="34" charset="-120"/>
              </a:rPr>
              <a:t>Étiquetez d'abord, pour éviter toute confusion d'échantillon. Visualisez ensuite tout le col, prélevez à l'orifice, tournez, puis placez la brosse dans le milieu de transport. Décontaminez les instruments en dernier.</a:t>
            </a:r>
            <a:endParaRPr lang="fr-FR" sz="1600" dirty="0"/>
          </a:p>
        </p:txBody>
      </p:sp>
      <p:sp>
        <p:nvSpPr>
          <p:cNvPr id="19" name="Text 1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20" name="Text 2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82</a:t>
            </a:r>
            <a:endParaRPr lang="fr-FR"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TEST HPV</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2600" b="1" noProof="0" dirty="0">
                <a:solidFill>
                  <a:srgbClr val="10305A"/>
                </a:solidFill>
                <a:latin typeface="Cambria" pitchFamily="34" charset="0"/>
                <a:ea typeface="Cambria" pitchFamily="34" charset="-122"/>
                <a:cs typeface="Cambria" pitchFamily="34" charset="-120"/>
              </a:rPr>
              <a:t>Après le prélèvement : conserver et envoyer l'échantillon en sécurité</a:t>
            </a:r>
          </a:p>
        </p:txBody>
      </p:sp>
      <p:sp>
        <p:nvSpPr>
          <p:cNvPr id="4" name="Shape 4"/>
          <p:cNvSpPr/>
          <p:nvPr/>
        </p:nvSpPr>
        <p:spPr>
          <a:xfrm>
            <a:off x="566928" y="1500000"/>
            <a:ext cx="11055096" cy="7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786384" y="1500000"/>
            <a:ext cx="548640" cy="78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6" name="Text 6"/>
          <p:cNvSpPr txBox="1"/>
          <p:nvPr/>
        </p:nvSpPr>
        <p:spPr>
          <a:xfrm>
            <a:off x="1463040" y="1500000"/>
            <a:ext cx="9966960" cy="780000"/>
          </a:xfrm>
          <a:prstGeom prst="rect">
            <a:avLst/>
          </a:prstGeom>
          <a:noFill/>
          <a:ln/>
        </p:spPr>
        <p:txBody>
          <a:bodyPr wrap="square" lIns="0" tIns="0" rIns="0" bIns="0" rtlCol="0" anchor="ctr"/>
          <a:lstStyle/>
          <a:p>
            <a:pPr marL="0" indent="0" algn="l">
              <a:buNone/>
            </a:pPr>
            <a:r>
              <a:rPr lang="fr-FR" sz="1700" noProof="0" dirty="0">
                <a:solidFill>
                  <a:srgbClr val="23303F"/>
                </a:solidFill>
                <a:latin typeface="Calibri" pitchFamily="34" charset="0"/>
                <a:ea typeface="Calibri" pitchFamily="34" charset="-122"/>
                <a:cs typeface="Calibri" pitchFamily="34" charset="-120"/>
              </a:rPr>
              <a:t>Vérifiez l'étiquette et la demande dans le DME avant que l'échantillon ne quitte la salle.</a:t>
            </a:r>
            <a:endParaRPr lang="fr-FR" sz="1700" dirty="0"/>
          </a:p>
        </p:txBody>
      </p:sp>
      <p:sp>
        <p:nvSpPr>
          <p:cNvPr id="7" name="Shape 7"/>
          <p:cNvSpPr/>
          <p:nvPr/>
        </p:nvSpPr>
        <p:spPr>
          <a:xfrm>
            <a:off x="566928" y="2410000"/>
            <a:ext cx="11055096" cy="7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786384" y="2410000"/>
            <a:ext cx="548640" cy="78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9" name="Text 9"/>
          <p:cNvSpPr txBox="1"/>
          <p:nvPr/>
        </p:nvSpPr>
        <p:spPr>
          <a:xfrm>
            <a:off x="1463040" y="2410000"/>
            <a:ext cx="9966960" cy="780000"/>
          </a:xfrm>
          <a:prstGeom prst="rect">
            <a:avLst/>
          </a:prstGeom>
          <a:noFill/>
          <a:ln/>
        </p:spPr>
        <p:txBody>
          <a:bodyPr wrap="square" lIns="0" tIns="0" rIns="0" bIns="0" rtlCol="0" anchor="ctr"/>
          <a:lstStyle/>
          <a:p>
            <a:pPr marL="0" indent="0" algn="l">
              <a:buNone/>
            </a:pPr>
            <a:r>
              <a:rPr lang="fr-FR" sz="1700" noProof="0" dirty="0">
                <a:solidFill>
                  <a:srgbClr val="23303F"/>
                </a:solidFill>
                <a:latin typeface="Calibri" pitchFamily="34" charset="0"/>
                <a:ea typeface="Calibri" pitchFamily="34" charset="-122"/>
                <a:cs typeface="Calibri" pitchFamily="34" charset="-120"/>
              </a:rPr>
              <a:t>Conservez à température ambiante jusqu'à 14 jours, selon les instructions du kit.</a:t>
            </a:r>
            <a:endParaRPr lang="fr-FR" sz="1700" dirty="0"/>
          </a:p>
        </p:txBody>
      </p:sp>
      <p:sp>
        <p:nvSpPr>
          <p:cNvPr id="10" name="Shape 10"/>
          <p:cNvSpPr/>
          <p:nvPr/>
        </p:nvSpPr>
        <p:spPr>
          <a:xfrm>
            <a:off x="566928" y="3320000"/>
            <a:ext cx="11055096" cy="7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1" name="Text 11"/>
          <p:cNvSpPr txBox="1"/>
          <p:nvPr/>
        </p:nvSpPr>
        <p:spPr>
          <a:xfrm>
            <a:off x="786384" y="3320000"/>
            <a:ext cx="548640" cy="78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12" name="Text 12"/>
          <p:cNvSpPr txBox="1"/>
          <p:nvPr/>
        </p:nvSpPr>
        <p:spPr>
          <a:xfrm>
            <a:off x="1463040" y="3320000"/>
            <a:ext cx="9966960" cy="780000"/>
          </a:xfrm>
          <a:prstGeom prst="rect">
            <a:avLst/>
          </a:prstGeom>
          <a:noFill/>
          <a:ln/>
        </p:spPr>
        <p:txBody>
          <a:bodyPr wrap="square" lIns="0" tIns="0" rIns="0" bIns="0" rtlCol="0" anchor="ctr"/>
          <a:lstStyle/>
          <a:p>
            <a:pPr marL="0" indent="0" algn="l">
              <a:buNone/>
            </a:pPr>
            <a:r>
              <a:rPr lang="fr-FR" sz="1700" noProof="0" dirty="0">
                <a:solidFill>
                  <a:srgbClr val="23303F"/>
                </a:solidFill>
                <a:latin typeface="Calibri" pitchFamily="34" charset="0"/>
                <a:ea typeface="Calibri" pitchFamily="34" charset="-122"/>
                <a:cs typeface="Calibri" pitchFamily="34" charset="-120"/>
              </a:rPr>
              <a:t>Si la pièce dépasse 30 °C, gardez les échantillons dans une glacière ou un réfrigérateur, jamais au congélateur.</a:t>
            </a:r>
            <a:endParaRPr lang="fr-FR" sz="1700" dirty="0"/>
          </a:p>
        </p:txBody>
      </p:sp>
      <p:sp>
        <p:nvSpPr>
          <p:cNvPr id="13" name="Shape 13"/>
          <p:cNvSpPr/>
          <p:nvPr/>
        </p:nvSpPr>
        <p:spPr>
          <a:xfrm>
            <a:off x="566928" y="4230000"/>
            <a:ext cx="11055096" cy="7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4" name="Text 14"/>
          <p:cNvSpPr txBox="1"/>
          <p:nvPr/>
        </p:nvSpPr>
        <p:spPr>
          <a:xfrm>
            <a:off x="786384" y="4230000"/>
            <a:ext cx="548640" cy="78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15" name="Text 15"/>
          <p:cNvSpPr txBox="1"/>
          <p:nvPr/>
        </p:nvSpPr>
        <p:spPr>
          <a:xfrm>
            <a:off x="1463040" y="4230000"/>
            <a:ext cx="9966960" cy="780000"/>
          </a:xfrm>
          <a:prstGeom prst="rect">
            <a:avLst/>
          </a:prstGeom>
          <a:noFill/>
          <a:ln/>
        </p:spPr>
        <p:txBody>
          <a:bodyPr wrap="square" lIns="0" tIns="0" rIns="0" bIns="0" rtlCol="0" anchor="ctr"/>
          <a:lstStyle/>
          <a:p>
            <a:pPr marL="0" indent="0" algn="l">
              <a:buNone/>
            </a:pPr>
            <a:r>
              <a:rPr lang="fr-FR" sz="1700" noProof="0" dirty="0">
                <a:solidFill>
                  <a:srgbClr val="23303F"/>
                </a:solidFill>
                <a:latin typeface="Calibri" pitchFamily="34" charset="0"/>
                <a:ea typeface="Calibri" pitchFamily="34" charset="-122"/>
                <a:cs typeface="Calibri" pitchFamily="34" charset="-120"/>
              </a:rPr>
              <a:t>Transportez à température ambiante, ou dans une glacière fermée ou un porte-vaccins quand il fait chaud.</a:t>
            </a:r>
            <a:endParaRPr lang="fr-FR" sz="1700" dirty="0"/>
          </a:p>
        </p:txBody>
      </p:sp>
      <p:sp>
        <p:nvSpPr>
          <p:cNvPr id="16" name="Shape 16"/>
          <p:cNvSpPr/>
          <p:nvPr/>
        </p:nvSpPr>
        <p:spPr>
          <a:xfrm>
            <a:off x="566928" y="5140000"/>
            <a:ext cx="11055096" cy="7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7" name="Text 17"/>
          <p:cNvSpPr txBox="1"/>
          <p:nvPr/>
        </p:nvSpPr>
        <p:spPr>
          <a:xfrm>
            <a:off x="786384" y="5140000"/>
            <a:ext cx="548640" cy="78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18" name="Text 18"/>
          <p:cNvSpPr txBox="1"/>
          <p:nvPr/>
        </p:nvSpPr>
        <p:spPr>
          <a:xfrm>
            <a:off x="1463040" y="5140000"/>
            <a:ext cx="9966960" cy="780000"/>
          </a:xfrm>
          <a:prstGeom prst="rect">
            <a:avLst/>
          </a:prstGeom>
          <a:noFill/>
          <a:ln/>
        </p:spPr>
        <p:txBody>
          <a:bodyPr wrap="square" lIns="0" tIns="0" rIns="0" bIns="0" rtlCol="0" anchor="ctr"/>
          <a:lstStyle/>
          <a:p>
            <a:pPr marL="0" indent="0" algn="l">
              <a:buNone/>
            </a:pPr>
            <a:r>
              <a:rPr lang="fr-FR" sz="1700" noProof="0" dirty="0">
                <a:solidFill>
                  <a:srgbClr val="23303F"/>
                </a:solidFill>
                <a:latin typeface="Calibri" pitchFamily="34" charset="0"/>
                <a:ea typeface="Calibri" pitchFamily="34" charset="-122"/>
                <a:cs typeface="Calibri" pitchFamily="34" charset="-120"/>
              </a:rPr>
              <a:t>Placez les instruments utilisés dans une solution chlorée à 0,5 %, et éliminez écouvillons et gants de façon sûre.</a:t>
            </a:r>
            <a:endParaRPr lang="fr-FR" sz="1700" dirty="0"/>
          </a:p>
        </p:txBody>
      </p:sp>
      <p:sp>
        <p:nvSpPr>
          <p:cNvPr id="19" name="Text 1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20" name="Text 2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83</a:t>
            </a:r>
            <a:endParaRPr lang="fr-FR"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TEST HPV</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Lire le résultat d'un test HPV</a:t>
            </a:r>
          </a:p>
        </p:txBody>
      </p:sp>
      <p:sp>
        <p:nvSpPr>
          <p:cNvPr id="4" name="Shape 4"/>
          <p:cNvSpPr/>
          <p:nvPr/>
        </p:nvSpPr>
        <p:spPr>
          <a:xfrm>
            <a:off x="566928" y="1450000"/>
            <a:ext cx="3563112" cy="350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5" name="Text 5"/>
          <p:cNvSpPr txBox="1"/>
          <p:nvPr/>
        </p:nvSpPr>
        <p:spPr>
          <a:xfrm>
            <a:off x="822960" y="1570000"/>
            <a:ext cx="3051048" cy="700000"/>
          </a:xfrm>
          <a:prstGeom prst="rect">
            <a:avLst/>
          </a:prstGeom>
          <a:noFill/>
          <a:ln/>
        </p:spPr>
        <p:txBody>
          <a:bodyPr wrap="square" lIns="0" tIns="0" rIns="0" bIns="0" rtlCol="0" anchor="ctr"/>
          <a:lstStyle/>
          <a:p>
            <a:pPr marL="0" indent="0" algn="l">
              <a:buNone/>
            </a:pPr>
            <a:r>
              <a:rPr lang="fr-FR" sz="1800" b="1" noProof="0" dirty="0">
                <a:solidFill>
                  <a:srgbClr val="19543E"/>
                </a:solidFill>
                <a:latin typeface="Calibri" pitchFamily="34" charset="0"/>
                <a:ea typeface="Calibri" pitchFamily="34" charset="-122"/>
                <a:cs typeface="Calibri" pitchFamily="34" charset="-120"/>
              </a:rPr>
              <a:t>🟢  HPV négatif</a:t>
            </a:r>
            <a:endParaRPr lang="fr-FR" sz="1800" dirty="0"/>
          </a:p>
        </p:txBody>
      </p:sp>
      <p:sp>
        <p:nvSpPr>
          <p:cNvPr id="6" name="Text 6"/>
          <p:cNvSpPr txBox="1"/>
          <p:nvPr/>
        </p:nvSpPr>
        <p:spPr>
          <a:xfrm>
            <a:off x="822960" y="2330000"/>
            <a:ext cx="3051048" cy="2540000"/>
          </a:xfrm>
          <a:prstGeom prst="rect">
            <a:avLst/>
          </a:prstGeom>
          <a:noFill/>
          <a:ln/>
        </p:spPr>
        <p:txBody>
          <a:bodyPr wrap="square" lIns="0" tIns="0" rIns="0" bIns="0" rtlCol="0" anchor="t"/>
          <a:lstStyle/>
          <a:p>
            <a:pPr marL="0" indent="0" algn="l">
              <a:lnSpc>
                <a:spcPct val="104000"/>
              </a:lnSpc>
              <a:spcAft>
                <a:spcPts val="600"/>
              </a:spcAft>
              <a:buNone/>
            </a:pPr>
            <a:r>
              <a:rPr lang="fr-FR" sz="1700" noProof="0" dirty="0">
                <a:solidFill>
                  <a:srgbClr val="23303F"/>
                </a:solidFill>
                <a:latin typeface="Calibri" pitchFamily="34" charset="0"/>
                <a:ea typeface="Calibri" pitchFamily="34" charset="-122"/>
                <a:cs typeface="Calibri" pitchFamily="34" charset="-120"/>
              </a:rPr>
              <a:t>Aucun HPV à haut risque détecté. Nouveau dépistage après 10 ans, ou après 5 ans pour les femmes vivant avec le VIH.</a:t>
            </a:r>
            <a:endParaRPr lang="fr-FR" sz="1700" dirty="0"/>
          </a:p>
        </p:txBody>
      </p:sp>
      <p:sp>
        <p:nvSpPr>
          <p:cNvPr id="7" name="Shape 7"/>
          <p:cNvSpPr/>
          <p:nvPr/>
        </p:nvSpPr>
        <p:spPr>
          <a:xfrm>
            <a:off x="4312920" y="1450000"/>
            <a:ext cx="3563112" cy="350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8" name="Text 8"/>
          <p:cNvSpPr txBox="1"/>
          <p:nvPr/>
        </p:nvSpPr>
        <p:spPr>
          <a:xfrm>
            <a:off x="4568952" y="1570000"/>
            <a:ext cx="3051048" cy="700000"/>
          </a:xfrm>
          <a:prstGeom prst="rect">
            <a:avLst/>
          </a:prstGeom>
          <a:noFill/>
          <a:ln/>
        </p:spPr>
        <p:txBody>
          <a:bodyPr wrap="square" lIns="0" tIns="0" rIns="0" bIns="0" rtlCol="0" anchor="ctr"/>
          <a:lstStyle/>
          <a:p>
            <a:pPr marL="0" indent="0" algn="l">
              <a:buNone/>
            </a:pPr>
            <a:r>
              <a:rPr lang="fr-FR" sz="1800" b="1" noProof="0" dirty="0">
                <a:solidFill>
                  <a:srgbClr val="7B5727"/>
                </a:solidFill>
                <a:latin typeface="Calibri" pitchFamily="34" charset="0"/>
                <a:ea typeface="Calibri" pitchFamily="34" charset="-122"/>
                <a:cs typeface="Calibri" pitchFamily="34" charset="-120"/>
              </a:rPr>
              <a:t>🟠  Positif : HPV 16 ou 18</a:t>
            </a:r>
            <a:endParaRPr lang="fr-FR" sz="1800" dirty="0"/>
          </a:p>
        </p:txBody>
      </p:sp>
      <p:sp>
        <p:nvSpPr>
          <p:cNvPr id="9" name="Text 9"/>
          <p:cNvSpPr txBox="1"/>
          <p:nvPr/>
        </p:nvSpPr>
        <p:spPr>
          <a:xfrm>
            <a:off x="4568952" y="2330000"/>
            <a:ext cx="3051048" cy="2540000"/>
          </a:xfrm>
          <a:prstGeom prst="rect">
            <a:avLst/>
          </a:prstGeom>
          <a:noFill/>
          <a:ln/>
        </p:spPr>
        <p:txBody>
          <a:bodyPr wrap="square" lIns="0" tIns="0" rIns="0" bIns="0" rtlCol="0" anchor="t"/>
          <a:lstStyle/>
          <a:p>
            <a:pPr marL="0" indent="0" algn="l">
              <a:lnSpc>
                <a:spcPct val="104000"/>
              </a:lnSpc>
              <a:spcAft>
                <a:spcPts val="600"/>
              </a:spcAft>
              <a:buNone/>
            </a:pPr>
            <a:r>
              <a:rPr lang="fr-FR" sz="1700" noProof="0" dirty="0">
                <a:solidFill>
                  <a:srgbClr val="23303F"/>
                </a:solidFill>
                <a:latin typeface="Calibri" pitchFamily="34" charset="0"/>
                <a:ea typeface="Calibri" pitchFamily="34" charset="-122"/>
                <a:cs typeface="Calibri" pitchFamily="34" charset="-120"/>
              </a:rPr>
              <a:t>Les types au risque le plus élevé. Elle a besoin d'une VIA pour décider du traitement.</a:t>
            </a:r>
            <a:endParaRPr lang="fr-FR" sz="1700" dirty="0"/>
          </a:p>
        </p:txBody>
      </p:sp>
      <p:sp>
        <p:nvSpPr>
          <p:cNvPr id="10" name="Shape 10"/>
          <p:cNvSpPr/>
          <p:nvPr/>
        </p:nvSpPr>
        <p:spPr>
          <a:xfrm>
            <a:off x="8058912" y="1450000"/>
            <a:ext cx="3563112" cy="350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11" name="Text 11"/>
          <p:cNvSpPr txBox="1"/>
          <p:nvPr/>
        </p:nvSpPr>
        <p:spPr>
          <a:xfrm>
            <a:off x="8314944" y="1570000"/>
            <a:ext cx="3051048" cy="700000"/>
          </a:xfrm>
          <a:prstGeom prst="rect">
            <a:avLst/>
          </a:prstGeom>
          <a:noFill/>
          <a:ln/>
        </p:spPr>
        <p:txBody>
          <a:bodyPr wrap="square" lIns="0" tIns="0" rIns="0" bIns="0" rtlCol="0" anchor="ctr"/>
          <a:lstStyle/>
          <a:p>
            <a:pPr marL="0" indent="0" algn="l">
              <a:buNone/>
            </a:pPr>
            <a:r>
              <a:rPr lang="fr-FR" sz="1800" b="1" noProof="0" dirty="0">
                <a:solidFill>
                  <a:srgbClr val="7B5727"/>
                </a:solidFill>
                <a:latin typeface="Calibri" pitchFamily="34" charset="0"/>
                <a:ea typeface="Calibri" pitchFamily="34" charset="-122"/>
                <a:cs typeface="Calibri" pitchFamily="34" charset="-120"/>
              </a:rPr>
              <a:t>🟠  Positif : autre type à haut risque</a:t>
            </a:r>
            <a:endParaRPr lang="fr-FR" sz="1800" dirty="0"/>
          </a:p>
        </p:txBody>
      </p:sp>
      <p:sp>
        <p:nvSpPr>
          <p:cNvPr id="12" name="Text 12"/>
          <p:cNvSpPr txBox="1"/>
          <p:nvPr/>
        </p:nvSpPr>
        <p:spPr>
          <a:xfrm>
            <a:off x="8314944" y="2330000"/>
            <a:ext cx="3051048" cy="2540000"/>
          </a:xfrm>
          <a:prstGeom prst="rect">
            <a:avLst/>
          </a:prstGeom>
          <a:noFill/>
          <a:ln/>
        </p:spPr>
        <p:txBody>
          <a:bodyPr wrap="square" lIns="0" tIns="0" rIns="0" bIns="0" rtlCol="0" anchor="t"/>
          <a:lstStyle/>
          <a:p>
            <a:pPr marL="0" indent="0" algn="l">
              <a:lnSpc>
                <a:spcPct val="104000"/>
              </a:lnSpc>
              <a:spcAft>
                <a:spcPts val="600"/>
              </a:spcAft>
              <a:buNone/>
            </a:pPr>
            <a:r>
              <a:rPr lang="fr-FR" sz="1700" noProof="0" dirty="0">
                <a:solidFill>
                  <a:srgbClr val="23303F"/>
                </a:solidFill>
                <a:latin typeface="Calibri" pitchFamily="34" charset="0"/>
                <a:ea typeface="Calibri" pitchFamily="34" charset="-122"/>
                <a:cs typeface="Calibri" pitchFamily="34" charset="-120"/>
              </a:rPr>
              <a:t>Elle a besoin d'une VIA pour décider de la suite. La conduite après une VIA négative dépend de son statut VIH.</a:t>
            </a:r>
            <a:endParaRPr lang="fr-FR" sz="1700" dirty="0"/>
          </a:p>
        </p:txBody>
      </p:sp>
      <p:sp>
        <p:nvSpPr>
          <p:cNvPr id="13" name="Shape 13"/>
          <p:cNvSpPr/>
          <p:nvPr/>
        </p:nvSpPr>
        <p:spPr>
          <a:xfrm>
            <a:off x="566928" y="5150000"/>
            <a:ext cx="11055096" cy="100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14" name="Text 14"/>
          <p:cNvSpPr txBox="1"/>
          <p:nvPr/>
        </p:nvSpPr>
        <p:spPr>
          <a:xfrm>
            <a:off x="841248" y="5200000"/>
            <a:ext cx="10506456" cy="900000"/>
          </a:xfrm>
          <a:prstGeom prst="rect">
            <a:avLst/>
          </a:prstGeom>
          <a:noFill/>
          <a:ln/>
        </p:spPr>
        <p:txBody>
          <a:bodyPr wrap="square" lIns="0" tIns="0" rIns="0" bIns="0" rtlCol="0" anchor="ctr"/>
          <a:lstStyle/>
          <a:p>
            <a:pPr marL="0" indent="0" algn="l">
              <a:buNone/>
            </a:pPr>
            <a:r>
              <a:rPr lang="fr-FR" sz="1500" b="1" noProof="0" dirty="0">
                <a:solidFill>
                  <a:srgbClr val="7B5727"/>
                </a:solidFill>
                <a:latin typeface="Calibri" pitchFamily="34" charset="0"/>
                <a:ea typeface="Calibri" pitchFamily="34" charset="-122"/>
                <a:cs typeface="Calibri" pitchFamily="34" charset="-120"/>
              </a:rPr>
              <a:t>💬 Dites-le ainsi :  </a:t>
            </a:r>
            <a:r>
              <a:rPr lang="fr-FR" sz="1500" noProof="0" dirty="0">
                <a:solidFill>
                  <a:srgbClr val="23303F"/>
                </a:solidFill>
                <a:latin typeface="Calibri" pitchFamily="34" charset="0"/>
                <a:ea typeface="Calibri" pitchFamily="34" charset="-122"/>
                <a:cs typeface="Calibri" pitchFamily="34" charset="-120"/>
              </a:rPr>
              <a:t>Un résultat positif signifie que le virus a été trouvé. Cela ne veut pas dire qu'elle a un cancer, et cela ne dit rien du comportement de quiconque.</a:t>
            </a:r>
            <a:endParaRPr lang="fr-FR" sz="15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84</a:t>
            </a:r>
            <a:endParaRPr lang="fr-FR"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VIA</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2800" b="1" noProof="0" dirty="0">
                <a:solidFill>
                  <a:srgbClr val="10305A"/>
                </a:solidFill>
                <a:latin typeface="Cambria" pitchFamily="34" charset="0"/>
                <a:ea typeface="Cambria" pitchFamily="34" charset="-122"/>
                <a:cs typeface="Cambria" pitchFamily="34" charset="-120"/>
              </a:rPr>
              <a:t>Comment fonctionne l'inspection visuelle à l'acide acétique</a:t>
            </a:r>
          </a:p>
        </p:txBody>
      </p:sp>
      <p:sp>
        <p:nvSpPr>
          <p:cNvPr id="4" name="Shape 4"/>
          <p:cNvSpPr/>
          <p:nvPr/>
        </p:nvSpPr>
        <p:spPr>
          <a:xfrm>
            <a:off x="566928" y="1450000"/>
            <a:ext cx="3563112" cy="295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822960" y="1570000"/>
            <a:ext cx="3051048" cy="700000"/>
          </a:xfrm>
          <a:prstGeom prst="rect">
            <a:avLst/>
          </a:prstGeom>
          <a:noFill/>
          <a:ln/>
        </p:spPr>
        <p:txBody>
          <a:bodyPr wrap="square" lIns="0" tIns="0" rIns="0" bIns="0" rtlCol="0" anchor="ctr"/>
          <a:lstStyle/>
          <a:p>
            <a:pPr marL="0" indent="0" algn="l">
              <a:buNone/>
            </a:pPr>
            <a:r>
              <a:rPr lang="fr-FR" sz="1800" b="1" noProof="0" dirty="0">
                <a:solidFill>
                  <a:srgbClr val="10305A"/>
                </a:solidFill>
                <a:latin typeface="Calibri" pitchFamily="34" charset="0"/>
                <a:ea typeface="Calibri" pitchFamily="34" charset="-122"/>
                <a:cs typeface="Calibri" pitchFamily="34" charset="-120"/>
              </a:rPr>
              <a:t>👁️  Ce que c'est</a:t>
            </a:r>
            <a:endParaRPr lang="fr-FR" sz="1800" dirty="0"/>
          </a:p>
        </p:txBody>
      </p:sp>
      <p:sp>
        <p:nvSpPr>
          <p:cNvPr id="6" name="Text 6"/>
          <p:cNvSpPr txBox="1"/>
          <p:nvPr/>
        </p:nvSpPr>
        <p:spPr>
          <a:xfrm>
            <a:off x="822960" y="2330000"/>
            <a:ext cx="3051048" cy="199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Examen du col à l'œil nu, sous une lumière vive, après application d'acide acétique dilué (3 à 5 %, vinaigre).</a:t>
            </a:r>
            <a:endParaRPr lang="fr-FR" sz="1500" dirty="0"/>
          </a:p>
        </p:txBody>
      </p:sp>
      <p:sp>
        <p:nvSpPr>
          <p:cNvPr id="7" name="Shape 7"/>
          <p:cNvSpPr/>
          <p:nvPr/>
        </p:nvSpPr>
        <p:spPr>
          <a:xfrm>
            <a:off x="4312920" y="1450000"/>
            <a:ext cx="3563112" cy="295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4568952" y="1570000"/>
            <a:ext cx="3051048" cy="700000"/>
          </a:xfrm>
          <a:prstGeom prst="rect">
            <a:avLst/>
          </a:prstGeom>
          <a:noFill/>
          <a:ln/>
        </p:spPr>
        <p:txBody>
          <a:bodyPr wrap="square" lIns="0" tIns="0" rIns="0" bIns="0" rtlCol="0" anchor="ctr"/>
          <a:lstStyle/>
          <a:p>
            <a:pPr marL="0" indent="0" algn="l">
              <a:buNone/>
            </a:pPr>
            <a:r>
              <a:rPr lang="fr-FR" sz="1800" b="1" noProof="0" dirty="0">
                <a:solidFill>
                  <a:srgbClr val="10305A"/>
                </a:solidFill>
                <a:latin typeface="Calibri" pitchFamily="34" charset="0"/>
                <a:ea typeface="Calibri" pitchFamily="34" charset="-122"/>
                <a:cs typeface="Calibri" pitchFamily="34" charset="-120"/>
              </a:rPr>
              <a:t>🧪  Pourquoi les lésions blanchissent</a:t>
            </a:r>
            <a:endParaRPr lang="fr-FR" sz="1800" dirty="0"/>
          </a:p>
        </p:txBody>
      </p:sp>
      <p:sp>
        <p:nvSpPr>
          <p:cNvPr id="9" name="Text 9"/>
          <p:cNvSpPr txBox="1"/>
          <p:nvPr/>
        </p:nvSpPr>
        <p:spPr>
          <a:xfrm>
            <a:off x="4568952" y="2330000"/>
            <a:ext cx="3051048" cy="199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L'acide acétique coagule les protéines des cellules de surface. Les cellules précancéreuses en contiennent davantage et deviennent blanches (acétoblanches). Les hauts grades paraissent plus denses.</a:t>
            </a:r>
            <a:endParaRPr lang="fr-FR" sz="1500" dirty="0"/>
          </a:p>
        </p:txBody>
      </p:sp>
      <p:sp>
        <p:nvSpPr>
          <p:cNvPr id="10" name="Shape 10"/>
          <p:cNvSpPr/>
          <p:nvPr/>
        </p:nvSpPr>
        <p:spPr>
          <a:xfrm>
            <a:off x="8058912" y="1450000"/>
            <a:ext cx="3563112" cy="295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1" name="Text 11"/>
          <p:cNvSpPr txBox="1"/>
          <p:nvPr/>
        </p:nvSpPr>
        <p:spPr>
          <a:xfrm>
            <a:off x="8314944" y="1570000"/>
            <a:ext cx="3051048" cy="700000"/>
          </a:xfrm>
          <a:prstGeom prst="rect">
            <a:avLst/>
          </a:prstGeom>
          <a:noFill/>
          <a:ln/>
        </p:spPr>
        <p:txBody>
          <a:bodyPr wrap="square" lIns="0" tIns="0" rIns="0" bIns="0" rtlCol="0" anchor="ctr"/>
          <a:lstStyle/>
          <a:p>
            <a:pPr marL="0" indent="0" algn="l">
              <a:buNone/>
            </a:pPr>
            <a:r>
              <a:rPr lang="fr-FR" sz="1800" b="1" noProof="0" dirty="0">
                <a:solidFill>
                  <a:srgbClr val="10305A"/>
                </a:solidFill>
                <a:latin typeface="Calibri" pitchFamily="34" charset="0"/>
                <a:ea typeface="Calibri" pitchFamily="34" charset="-122"/>
                <a:cs typeface="Calibri" pitchFamily="34" charset="-120"/>
              </a:rPr>
              <a:t>⚠️  Ses limites</a:t>
            </a:r>
            <a:endParaRPr lang="fr-FR" sz="1800" dirty="0"/>
          </a:p>
        </p:txBody>
      </p:sp>
      <p:sp>
        <p:nvSpPr>
          <p:cNvPr id="12" name="Text 12"/>
          <p:cNvSpPr txBox="1"/>
          <p:nvPr/>
        </p:nvSpPr>
        <p:spPr>
          <a:xfrm>
            <a:off x="8314944" y="2330000"/>
            <a:ext cx="3051048" cy="199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La lecture de la VIA exige une formation et peut manquer des lésions. Demandez un deuxième avis en cas de doute. Un cancer peut apparaître comme une masse plutôt qu'une zone blanche.</a:t>
            </a:r>
            <a:endParaRPr lang="fr-FR" sz="1500" dirty="0"/>
          </a:p>
        </p:txBody>
      </p:sp>
      <p:sp>
        <p:nvSpPr>
          <p:cNvPr id="14" name="Text 14"/>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5" name="Text 15"/>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85</a:t>
            </a:r>
            <a:endParaRPr lang="fr-FR"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VIA</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Qui doit bénéficier de la VIA</a:t>
            </a:r>
          </a:p>
        </p:txBody>
      </p:sp>
      <p:sp>
        <p:nvSpPr>
          <p:cNvPr id="4" name="Shape 4"/>
          <p:cNvSpPr/>
          <p:nvPr/>
        </p:nvSpPr>
        <p:spPr>
          <a:xfrm>
            <a:off x="566928" y="1450000"/>
            <a:ext cx="5436108" cy="330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5" name="Text 5"/>
          <p:cNvSpPr txBox="1"/>
          <p:nvPr/>
        </p:nvSpPr>
        <p:spPr>
          <a:xfrm>
            <a:off x="822960" y="1570000"/>
            <a:ext cx="4924044" cy="520000"/>
          </a:xfrm>
          <a:prstGeom prst="rect">
            <a:avLst/>
          </a:prstGeom>
          <a:noFill/>
          <a:ln/>
        </p:spPr>
        <p:txBody>
          <a:bodyPr wrap="square" lIns="0" tIns="0" rIns="0" bIns="0" rtlCol="0" anchor="ctr"/>
          <a:lstStyle/>
          <a:p>
            <a:pPr marL="0" indent="0" algn="l">
              <a:buNone/>
            </a:pPr>
            <a:r>
              <a:rPr lang="fr-FR" sz="2000" b="1" noProof="0" dirty="0">
                <a:solidFill>
                  <a:srgbClr val="19543E"/>
                </a:solidFill>
                <a:latin typeface="Calibri" pitchFamily="34" charset="0"/>
                <a:ea typeface="Calibri" pitchFamily="34" charset="-122"/>
                <a:cs typeface="Calibri" pitchFamily="34" charset="-120"/>
              </a:rPr>
              <a:t>✅  Réaliser une VIA pour</a:t>
            </a:r>
            <a:endParaRPr lang="fr-FR" sz="2000" dirty="0"/>
          </a:p>
        </p:txBody>
      </p:sp>
      <p:sp>
        <p:nvSpPr>
          <p:cNvPr id="6" name="Text 6"/>
          <p:cNvSpPr txBox="1"/>
          <p:nvPr/>
        </p:nvSpPr>
        <p:spPr>
          <a:xfrm>
            <a:off x="822960" y="2150000"/>
            <a:ext cx="4924044" cy="25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Les femmes HPV positives, pour décider du traitement.</a:t>
            </a:r>
            <a:endParaRPr lang="fr-FR" sz="1600" dirty="0"/>
          </a:p>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Les femmes de 30 à 49 ans (25 à 49 ans si elles vivent avec le VIH) quand le test HPV n'est pas disponible.</a:t>
            </a:r>
            <a:endParaRPr lang="fr-FR" sz="1600" dirty="0"/>
          </a:p>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Les femmes de 50 à 65 ans jamais dépistées, quand le frottis n'est pas disponible.</a:t>
            </a:r>
            <a:endParaRPr lang="fr-FR" sz="1600" dirty="0"/>
          </a:p>
        </p:txBody>
      </p:sp>
      <p:sp>
        <p:nvSpPr>
          <p:cNvPr id="7" name="Shape 7"/>
          <p:cNvSpPr/>
          <p:nvPr/>
        </p:nvSpPr>
        <p:spPr>
          <a:xfrm>
            <a:off x="6185916" y="1450000"/>
            <a:ext cx="5436108" cy="330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8" name="Text 8"/>
          <p:cNvSpPr txBox="1"/>
          <p:nvPr/>
        </p:nvSpPr>
        <p:spPr>
          <a:xfrm>
            <a:off x="6441948" y="1570000"/>
            <a:ext cx="4924044" cy="520000"/>
          </a:xfrm>
          <a:prstGeom prst="rect">
            <a:avLst/>
          </a:prstGeom>
          <a:noFill/>
          <a:ln/>
        </p:spPr>
        <p:txBody>
          <a:bodyPr wrap="square" lIns="0" tIns="0" rIns="0" bIns="0" rtlCol="0" anchor="ctr"/>
          <a:lstStyle/>
          <a:p>
            <a:pPr marL="0" indent="0" algn="l">
              <a:buNone/>
            </a:pPr>
            <a:r>
              <a:rPr lang="fr-FR" sz="2000" b="1" noProof="0" dirty="0">
                <a:solidFill>
                  <a:srgbClr val="7B5727"/>
                </a:solidFill>
                <a:latin typeface="Calibri" pitchFamily="34" charset="0"/>
                <a:ea typeface="Calibri" pitchFamily="34" charset="-122"/>
                <a:cs typeface="Calibri" pitchFamily="34" charset="-120"/>
              </a:rPr>
              <a:t>❌  Ne pas réaliser de VIA</a:t>
            </a:r>
            <a:endParaRPr lang="fr-FR" sz="2000" dirty="0"/>
          </a:p>
        </p:txBody>
      </p:sp>
      <p:sp>
        <p:nvSpPr>
          <p:cNvPr id="9" name="Text 9"/>
          <p:cNvSpPr txBox="1"/>
          <p:nvPr/>
        </p:nvSpPr>
        <p:spPr>
          <a:xfrm>
            <a:off x="6441948" y="2150000"/>
            <a:ext cx="4924044" cy="25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Chez les femmes HPV négatives.</a:t>
            </a:r>
            <a:endParaRPr lang="fr-FR" sz="1600" dirty="0"/>
          </a:p>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Pendant la grossesse, ou dans les 6 semaines après l'accouchement.</a:t>
            </a:r>
            <a:endParaRPr lang="fr-FR" sz="1600" dirty="0"/>
          </a:p>
          <a:p>
            <a:pPr marL="285750" indent="-285750" algn="l">
              <a:lnSpc>
                <a:spcPct val="104000"/>
              </a:lnSpc>
              <a:spcAft>
                <a:spcPts val="600"/>
              </a:spcAft>
              <a:buSzPct val="100000"/>
              <a:buChar char="•"/>
            </a:pPr>
            <a:r>
              <a:rPr lang="fr-FR" sz="1600" noProof="0" dirty="0">
                <a:solidFill>
                  <a:srgbClr val="23303F"/>
                </a:solidFill>
                <a:latin typeface="Calibri" pitchFamily="34" charset="0"/>
                <a:ea typeface="Calibri" pitchFamily="34" charset="-122"/>
                <a:cs typeface="Calibri" pitchFamily="34" charset="-120"/>
              </a:rPr>
              <a:t>Après une hystérectomie totale.</a:t>
            </a:r>
            <a:endParaRPr lang="fr-FR" sz="1600" dirty="0"/>
          </a:p>
        </p:txBody>
      </p:sp>
      <p:sp>
        <p:nvSpPr>
          <p:cNvPr id="10" name="Shape 10"/>
          <p:cNvSpPr/>
          <p:nvPr/>
        </p:nvSpPr>
        <p:spPr>
          <a:xfrm>
            <a:off x="566928" y="4950000"/>
            <a:ext cx="11055096" cy="850000"/>
          </a:xfrm>
          <a:prstGeom prst="roundRect">
            <a:avLst>
              <a:gd name="adj" fmla="val 3000"/>
            </a:avLst>
          </a:prstGeom>
          <a:solidFill>
            <a:srgbClr val="ECF3FD"/>
          </a:solidFill>
          <a:ln w="12700">
            <a:solidFill>
              <a:srgbClr val="E0E3EA"/>
            </a:solidFill>
          </a:ln>
        </p:spPr>
        <p:txBody>
          <a:bodyPr/>
          <a:lstStyle/>
          <a:p>
            <a:endParaRPr lang="fr-FR" sz="1600" dirty="0"/>
          </a:p>
        </p:txBody>
      </p:sp>
      <p:sp>
        <p:nvSpPr>
          <p:cNvPr id="11" name="Text 11"/>
          <p:cNvSpPr txBox="1"/>
          <p:nvPr/>
        </p:nvSpPr>
        <p:spPr>
          <a:xfrm>
            <a:off x="841248" y="5000000"/>
            <a:ext cx="10506456" cy="750000"/>
          </a:xfrm>
          <a:prstGeom prst="rect">
            <a:avLst/>
          </a:prstGeom>
          <a:noFill/>
          <a:ln/>
        </p:spPr>
        <p:txBody>
          <a:bodyPr wrap="square" lIns="0" tIns="0" rIns="0" bIns="0" rtlCol="0" anchor="ctr"/>
          <a:lstStyle/>
          <a:p>
            <a:pPr marL="0" indent="0" algn="l">
              <a:buNone/>
            </a:pPr>
            <a:r>
              <a:rPr lang="fr-FR" sz="1500" b="1" noProof="0" dirty="0">
                <a:solidFill>
                  <a:srgbClr val="10305A"/>
                </a:solidFill>
                <a:latin typeface="Calibri" pitchFamily="34" charset="0"/>
                <a:ea typeface="Calibri" pitchFamily="34" charset="-122"/>
                <a:cs typeface="Calibri" pitchFamily="34" charset="-120"/>
              </a:rPr>
              <a:t>📌 Règles :  </a:t>
            </a:r>
            <a:r>
              <a:rPr lang="fr-FR" sz="1500" noProof="0" dirty="0">
                <a:solidFill>
                  <a:srgbClr val="23303F"/>
                </a:solidFill>
                <a:latin typeface="Calibri" pitchFamily="34" charset="0"/>
                <a:ea typeface="Calibri" pitchFamily="34" charset="-122"/>
                <a:cs typeface="Calibri" pitchFamily="34" charset="-120"/>
              </a:rPr>
              <a:t>La VIA peut quand même être réalisée pendant les règles si le saignement n'est pas abondant.</a:t>
            </a:r>
            <a:endParaRPr lang="fr-FR" sz="1500" dirty="0"/>
          </a:p>
        </p:txBody>
      </p:sp>
      <p:sp>
        <p:nvSpPr>
          <p:cNvPr id="12" name="Text 12"/>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3" name="Text 13"/>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86</a:t>
            </a:r>
            <a:endParaRPr lang="fr-FR"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VIA</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La VIA étape par étape</a:t>
            </a:r>
          </a:p>
        </p:txBody>
      </p:sp>
      <p:sp>
        <p:nvSpPr>
          <p:cNvPr id="4" name="Shape 4"/>
          <p:cNvSpPr/>
          <p:nvPr/>
        </p:nvSpPr>
        <p:spPr>
          <a:xfrm>
            <a:off x="566928" y="1450000"/>
            <a:ext cx="11055096" cy="69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786384" y="1450000"/>
            <a:ext cx="548640" cy="69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1️⃣</a:t>
            </a:r>
            <a:endParaRPr lang="fr-FR" sz="2000" dirty="0"/>
          </a:p>
        </p:txBody>
      </p:sp>
      <p:sp>
        <p:nvSpPr>
          <p:cNvPr id="6" name="Text 6"/>
          <p:cNvSpPr txBox="1"/>
          <p:nvPr/>
        </p:nvSpPr>
        <p:spPr>
          <a:xfrm>
            <a:off x="1463040" y="1450000"/>
            <a:ext cx="9966960" cy="690000"/>
          </a:xfrm>
          <a:prstGeom prst="rect">
            <a:avLst/>
          </a:prstGeom>
          <a:noFill/>
          <a:ln/>
        </p:spPr>
        <p:txBody>
          <a:bodyPr wrap="square" lIns="0" tIns="0" rIns="0" bIns="0" rtlCol="0" anchor="ctr"/>
          <a:lstStyle/>
          <a:p>
            <a:pPr marL="0" indent="0" algn="l">
              <a:buNone/>
            </a:pPr>
            <a:r>
              <a:rPr lang="fr-FR" sz="1500" noProof="0" dirty="0">
                <a:solidFill>
                  <a:srgbClr val="23303F"/>
                </a:solidFill>
                <a:latin typeface="Calibri" pitchFamily="34" charset="0"/>
                <a:ea typeface="Calibri" pitchFamily="34" charset="-122"/>
                <a:cs typeface="Calibri" pitchFamily="34" charset="-120"/>
              </a:rPr>
              <a:t>Préparez de l'acide acétique à 3 à 5 % fraîchement versé, une lampe focalisée puissante, un spéculum et des tampons. Examinez assise.</a:t>
            </a:r>
            <a:endParaRPr lang="fr-FR" sz="1500" dirty="0"/>
          </a:p>
        </p:txBody>
      </p:sp>
      <p:sp>
        <p:nvSpPr>
          <p:cNvPr id="7" name="Shape 7"/>
          <p:cNvSpPr/>
          <p:nvPr/>
        </p:nvSpPr>
        <p:spPr>
          <a:xfrm>
            <a:off x="566928" y="2240000"/>
            <a:ext cx="11055096" cy="69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786384" y="2240000"/>
            <a:ext cx="548640" cy="69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2️⃣</a:t>
            </a:r>
            <a:endParaRPr lang="fr-FR" sz="2000" dirty="0"/>
          </a:p>
        </p:txBody>
      </p:sp>
      <p:sp>
        <p:nvSpPr>
          <p:cNvPr id="9" name="Text 9"/>
          <p:cNvSpPr txBox="1"/>
          <p:nvPr/>
        </p:nvSpPr>
        <p:spPr>
          <a:xfrm>
            <a:off x="1463040" y="2240000"/>
            <a:ext cx="9966960" cy="690000"/>
          </a:xfrm>
          <a:prstGeom prst="rect">
            <a:avLst/>
          </a:prstGeom>
          <a:noFill/>
          <a:ln/>
        </p:spPr>
        <p:txBody>
          <a:bodyPr wrap="square" lIns="0" tIns="0" rIns="0" bIns="0" rtlCol="0" anchor="ctr"/>
          <a:lstStyle/>
          <a:p>
            <a:pPr marL="0" indent="0" algn="l">
              <a:buNone/>
            </a:pPr>
            <a:r>
              <a:rPr lang="fr-FR" sz="1500" noProof="0" dirty="0">
                <a:solidFill>
                  <a:srgbClr val="23303F"/>
                </a:solidFill>
                <a:latin typeface="Calibri" pitchFamily="34" charset="0"/>
                <a:ea typeface="Calibri" pitchFamily="34" charset="-122"/>
                <a:cs typeface="Calibri" pitchFamily="34" charset="-120"/>
              </a:rPr>
              <a:t>Introduisez le spéculum et visualisez tout le col. Avant l'acide, recherchez une masse, un ulcère, une plage blanche ou des signes d'infection.</a:t>
            </a:r>
            <a:endParaRPr lang="fr-FR" sz="1500" dirty="0"/>
          </a:p>
        </p:txBody>
      </p:sp>
      <p:sp>
        <p:nvSpPr>
          <p:cNvPr id="10" name="Shape 10"/>
          <p:cNvSpPr/>
          <p:nvPr/>
        </p:nvSpPr>
        <p:spPr>
          <a:xfrm>
            <a:off x="566928" y="3030000"/>
            <a:ext cx="11055096" cy="69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1" name="Text 11"/>
          <p:cNvSpPr txBox="1"/>
          <p:nvPr/>
        </p:nvSpPr>
        <p:spPr>
          <a:xfrm>
            <a:off x="786384" y="3030000"/>
            <a:ext cx="548640" cy="69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3️⃣</a:t>
            </a:r>
            <a:endParaRPr lang="fr-FR" sz="2000" dirty="0"/>
          </a:p>
        </p:txBody>
      </p:sp>
      <p:sp>
        <p:nvSpPr>
          <p:cNvPr id="12" name="Text 12"/>
          <p:cNvSpPr txBox="1"/>
          <p:nvPr/>
        </p:nvSpPr>
        <p:spPr>
          <a:xfrm>
            <a:off x="1463040" y="3030000"/>
            <a:ext cx="9966960" cy="690000"/>
          </a:xfrm>
          <a:prstGeom prst="rect">
            <a:avLst/>
          </a:prstGeom>
          <a:noFill/>
          <a:ln/>
        </p:spPr>
        <p:txBody>
          <a:bodyPr wrap="square" lIns="0" tIns="0" rIns="0" bIns="0" rtlCol="0" anchor="ctr"/>
          <a:lstStyle/>
          <a:p>
            <a:pPr marL="0" indent="0" algn="l">
              <a:buNone/>
            </a:pPr>
            <a:r>
              <a:rPr lang="fr-FR" sz="1500" noProof="0" dirty="0">
                <a:solidFill>
                  <a:srgbClr val="23303F"/>
                </a:solidFill>
                <a:latin typeface="Calibri" pitchFamily="34" charset="0"/>
                <a:ea typeface="Calibri" pitchFamily="34" charset="-122"/>
                <a:cs typeface="Calibri" pitchFamily="34" charset="-120"/>
              </a:rPr>
              <a:t>Repérez l'orifice externe et la JSC.</a:t>
            </a:r>
            <a:endParaRPr lang="fr-FR" sz="1500" dirty="0"/>
          </a:p>
        </p:txBody>
      </p:sp>
      <p:sp>
        <p:nvSpPr>
          <p:cNvPr id="13" name="Shape 13"/>
          <p:cNvSpPr/>
          <p:nvPr/>
        </p:nvSpPr>
        <p:spPr>
          <a:xfrm>
            <a:off x="566928" y="3820000"/>
            <a:ext cx="11055096" cy="69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4" name="Text 14"/>
          <p:cNvSpPr txBox="1"/>
          <p:nvPr/>
        </p:nvSpPr>
        <p:spPr>
          <a:xfrm>
            <a:off x="786384" y="3820000"/>
            <a:ext cx="548640" cy="69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4️⃣</a:t>
            </a:r>
            <a:endParaRPr lang="fr-FR" sz="2000" dirty="0"/>
          </a:p>
        </p:txBody>
      </p:sp>
      <p:sp>
        <p:nvSpPr>
          <p:cNvPr id="15" name="Text 15"/>
          <p:cNvSpPr txBox="1"/>
          <p:nvPr/>
        </p:nvSpPr>
        <p:spPr>
          <a:xfrm>
            <a:off x="1463040" y="3820000"/>
            <a:ext cx="9966960" cy="690000"/>
          </a:xfrm>
          <a:prstGeom prst="rect">
            <a:avLst/>
          </a:prstGeom>
          <a:noFill/>
          <a:ln/>
        </p:spPr>
        <p:txBody>
          <a:bodyPr wrap="square" lIns="0" tIns="0" rIns="0" bIns="0" rtlCol="0" anchor="ctr"/>
          <a:lstStyle/>
          <a:p>
            <a:pPr marL="0" indent="0" algn="l">
              <a:buNone/>
            </a:pPr>
            <a:r>
              <a:rPr lang="fr-FR" sz="1500" noProof="0" dirty="0">
                <a:solidFill>
                  <a:srgbClr val="23303F"/>
                </a:solidFill>
                <a:latin typeface="Calibri" pitchFamily="34" charset="0"/>
                <a:ea typeface="Calibri" pitchFamily="34" charset="-122"/>
                <a:cs typeface="Calibri" pitchFamily="34" charset="-120"/>
              </a:rPr>
              <a:t>Appliquez des tampons imbibés d'acide acétique sur le col, puis attendez 2 minutes.</a:t>
            </a:r>
            <a:endParaRPr lang="fr-FR" sz="1500" dirty="0"/>
          </a:p>
        </p:txBody>
      </p:sp>
      <p:sp>
        <p:nvSpPr>
          <p:cNvPr id="16" name="Shape 16"/>
          <p:cNvSpPr/>
          <p:nvPr/>
        </p:nvSpPr>
        <p:spPr>
          <a:xfrm>
            <a:off x="566928" y="4610000"/>
            <a:ext cx="11055096" cy="69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7" name="Text 17"/>
          <p:cNvSpPr txBox="1"/>
          <p:nvPr/>
        </p:nvSpPr>
        <p:spPr>
          <a:xfrm>
            <a:off x="786384" y="4610000"/>
            <a:ext cx="548640" cy="69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5️⃣</a:t>
            </a:r>
            <a:endParaRPr lang="fr-FR" sz="2000" dirty="0"/>
          </a:p>
        </p:txBody>
      </p:sp>
      <p:sp>
        <p:nvSpPr>
          <p:cNvPr id="18" name="Text 18"/>
          <p:cNvSpPr txBox="1"/>
          <p:nvPr/>
        </p:nvSpPr>
        <p:spPr>
          <a:xfrm>
            <a:off x="1463040" y="4610000"/>
            <a:ext cx="9966960" cy="690000"/>
          </a:xfrm>
          <a:prstGeom prst="rect">
            <a:avLst/>
          </a:prstGeom>
          <a:noFill/>
          <a:ln/>
        </p:spPr>
        <p:txBody>
          <a:bodyPr wrap="square" lIns="0" tIns="0" rIns="0" bIns="0" rtlCol="0" anchor="ctr"/>
          <a:lstStyle/>
          <a:p>
            <a:pPr marL="0" indent="0" algn="l">
              <a:buNone/>
            </a:pPr>
            <a:r>
              <a:rPr lang="fr-FR" sz="1500" noProof="0" dirty="0">
                <a:solidFill>
                  <a:srgbClr val="23303F"/>
                </a:solidFill>
                <a:latin typeface="Calibri" pitchFamily="34" charset="0"/>
                <a:ea typeface="Calibri" pitchFamily="34" charset="-122"/>
                <a:cs typeface="Calibri" pitchFamily="34" charset="-120"/>
              </a:rPr>
              <a:t>Inspectez la zone de transformation à la recherche de zones acétoblanches bien délimitées, proches de la JSC.</a:t>
            </a:r>
            <a:endParaRPr lang="fr-FR" sz="1500" dirty="0"/>
          </a:p>
        </p:txBody>
      </p:sp>
      <p:sp>
        <p:nvSpPr>
          <p:cNvPr id="19" name="Shape 19"/>
          <p:cNvSpPr/>
          <p:nvPr/>
        </p:nvSpPr>
        <p:spPr>
          <a:xfrm>
            <a:off x="566928" y="5400000"/>
            <a:ext cx="11055096" cy="69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20" name="Text 20"/>
          <p:cNvSpPr txBox="1"/>
          <p:nvPr/>
        </p:nvSpPr>
        <p:spPr>
          <a:xfrm>
            <a:off x="786384" y="5400000"/>
            <a:ext cx="548640" cy="69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6️⃣</a:t>
            </a:r>
            <a:endParaRPr lang="fr-FR" sz="2000" dirty="0"/>
          </a:p>
        </p:txBody>
      </p:sp>
      <p:sp>
        <p:nvSpPr>
          <p:cNvPr id="21" name="Text 21"/>
          <p:cNvSpPr txBox="1"/>
          <p:nvPr/>
        </p:nvSpPr>
        <p:spPr>
          <a:xfrm>
            <a:off x="1463040" y="5400000"/>
            <a:ext cx="9966960" cy="690000"/>
          </a:xfrm>
          <a:prstGeom prst="rect">
            <a:avLst/>
          </a:prstGeom>
          <a:noFill/>
          <a:ln/>
        </p:spPr>
        <p:txBody>
          <a:bodyPr wrap="square" lIns="0" tIns="0" rIns="0" bIns="0" rtlCol="0" anchor="ctr"/>
          <a:lstStyle/>
          <a:p>
            <a:pPr marL="0" indent="0" algn="l">
              <a:buNone/>
            </a:pPr>
            <a:r>
              <a:rPr lang="fr-FR" sz="1500" noProof="0" dirty="0">
                <a:solidFill>
                  <a:srgbClr val="23303F"/>
                </a:solidFill>
                <a:latin typeface="Calibri" pitchFamily="34" charset="0"/>
                <a:ea typeface="Calibri" pitchFamily="34" charset="-122"/>
                <a:cs typeface="Calibri" pitchFamily="34" charset="-120"/>
              </a:rPr>
              <a:t>Notez le résultat, expliquez-le-lui et convenez de la suite avant son départ.</a:t>
            </a:r>
            <a:endParaRPr lang="fr-FR" sz="1500" dirty="0"/>
          </a:p>
        </p:txBody>
      </p:sp>
      <p:sp>
        <p:nvSpPr>
          <p:cNvPr id="22" name="Text 22"/>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23" name="Text 23"/>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87</a:t>
            </a:r>
            <a:endParaRPr lang="fr-FR"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VIA</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Quatre questions à se poser à chaque VIA</a:t>
            </a:r>
          </a:p>
        </p:txBody>
      </p:sp>
      <p:sp>
        <p:nvSpPr>
          <p:cNvPr id="4" name="Shape 4"/>
          <p:cNvSpPr/>
          <p:nvPr/>
        </p:nvSpPr>
        <p:spPr>
          <a:xfrm>
            <a:off x="566928" y="1450000"/>
            <a:ext cx="2600000" cy="330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746928" y="1570000"/>
            <a:ext cx="2240000" cy="950000"/>
          </a:xfrm>
          <a:prstGeom prst="rect">
            <a:avLst/>
          </a:prstGeom>
          <a:noFill/>
          <a:ln/>
        </p:spPr>
        <p:txBody>
          <a:bodyPr wrap="square" lIns="0" tIns="0" rIns="0" bIns="0" rtlCol="0" anchor="ctr"/>
          <a:lstStyle/>
          <a:p>
            <a:pPr marL="0" indent="0" algn="l">
              <a:buNone/>
            </a:pPr>
            <a:r>
              <a:rPr lang="fr-FR" sz="1600" b="1" noProof="0" dirty="0">
                <a:solidFill>
                  <a:srgbClr val="10305A"/>
                </a:solidFill>
                <a:latin typeface="Calibri" pitchFamily="34" charset="0"/>
                <a:ea typeface="Calibri" pitchFamily="34" charset="-122"/>
                <a:cs typeface="Calibri" pitchFamily="34" charset="-120"/>
              </a:rPr>
              <a:t>1️⃣  Est-ce que je vois toute la JSC ?</a:t>
            </a:r>
            <a:endParaRPr lang="fr-FR" sz="1600" dirty="0"/>
          </a:p>
        </p:txBody>
      </p:sp>
      <p:sp>
        <p:nvSpPr>
          <p:cNvPr id="6" name="Text 6"/>
          <p:cNvSpPr txBox="1"/>
          <p:nvPr/>
        </p:nvSpPr>
        <p:spPr>
          <a:xfrm>
            <a:off x="746928" y="2580000"/>
            <a:ext cx="2240000" cy="209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Oui : zone de transformation de type 1 ou 2. Une partie cachée dans le canal : type 3.</a:t>
            </a:r>
            <a:endParaRPr lang="fr-FR" sz="1500" dirty="0"/>
          </a:p>
        </p:txBody>
      </p:sp>
      <p:sp>
        <p:nvSpPr>
          <p:cNvPr id="7" name="Shape 7"/>
          <p:cNvSpPr/>
          <p:nvPr/>
        </p:nvSpPr>
        <p:spPr>
          <a:xfrm>
            <a:off x="3385293" y="1450000"/>
            <a:ext cx="2600000" cy="330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3565293" y="1570000"/>
            <a:ext cx="2240000" cy="950000"/>
          </a:xfrm>
          <a:prstGeom prst="rect">
            <a:avLst/>
          </a:prstGeom>
          <a:noFill/>
          <a:ln/>
        </p:spPr>
        <p:txBody>
          <a:bodyPr wrap="square" lIns="0" tIns="0" rIns="0" bIns="0" rtlCol="0" anchor="ctr"/>
          <a:lstStyle/>
          <a:p>
            <a:pPr marL="0" indent="0" algn="l">
              <a:buNone/>
            </a:pPr>
            <a:r>
              <a:rPr lang="fr-FR" sz="1600" b="1" noProof="0" dirty="0">
                <a:solidFill>
                  <a:srgbClr val="10305A"/>
                </a:solidFill>
                <a:latin typeface="Calibri" pitchFamily="34" charset="0"/>
                <a:ea typeface="Calibri" pitchFamily="34" charset="-122"/>
                <a:cs typeface="Calibri" pitchFamily="34" charset="-120"/>
              </a:rPr>
              <a:t>2️⃣  Y a-t-il une lésion acétoblanche ?</a:t>
            </a:r>
            <a:endParaRPr lang="fr-FR" sz="1600" dirty="0"/>
          </a:p>
        </p:txBody>
      </p:sp>
      <p:sp>
        <p:nvSpPr>
          <p:cNvPr id="9" name="Text 9"/>
          <p:cNvSpPr txBox="1"/>
          <p:nvPr/>
        </p:nvSpPr>
        <p:spPr>
          <a:xfrm>
            <a:off x="3565293" y="2580000"/>
            <a:ext cx="2240000" cy="209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Est-elle dense, bien délimitée, au contact de la JSC ? Est-ce que je la vois en entier ?</a:t>
            </a:r>
            <a:endParaRPr lang="fr-FR" sz="1500" dirty="0"/>
          </a:p>
        </p:txBody>
      </p:sp>
      <p:sp>
        <p:nvSpPr>
          <p:cNvPr id="10" name="Shape 10"/>
          <p:cNvSpPr/>
          <p:nvPr/>
        </p:nvSpPr>
        <p:spPr>
          <a:xfrm>
            <a:off x="6203658" y="1450000"/>
            <a:ext cx="2600000" cy="330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1" name="Text 11"/>
          <p:cNvSpPr txBox="1"/>
          <p:nvPr/>
        </p:nvSpPr>
        <p:spPr>
          <a:xfrm>
            <a:off x="6383658" y="1570000"/>
            <a:ext cx="2240000" cy="950000"/>
          </a:xfrm>
          <a:prstGeom prst="rect">
            <a:avLst/>
          </a:prstGeom>
          <a:noFill/>
          <a:ln/>
        </p:spPr>
        <p:txBody>
          <a:bodyPr wrap="square" lIns="0" tIns="0" rIns="0" bIns="0" rtlCol="0" anchor="ctr"/>
          <a:lstStyle/>
          <a:p>
            <a:pPr marL="0" indent="0" algn="l">
              <a:buNone/>
            </a:pPr>
            <a:r>
              <a:rPr lang="fr-FR" sz="1600" b="1" noProof="0" dirty="0">
                <a:solidFill>
                  <a:srgbClr val="10305A"/>
                </a:solidFill>
                <a:latin typeface="Calibri" pitchFamily="34" charset="0"/>
                <a:ea typeface="Calibri" pitchFamily="34" charset="-122"/>
                <a:cs typeface="Calibri" pitchFamily="34" charset="-120"/>
              </a:rPr>
              <a:t>3️⃣  Quelle surface couvre-t-elle ?</a:t>
            </a:r>
            <a:endParaRPr lang="fr-FR" sz="1600" dirty="0"/>
          </a:p>
        </p:txBody>
      </p:sp>
      <p:sp>
        <p:nvSpPr>
          <p:cNvPr id="12" name="Text 12"/>
          <p:cNvSpPr txBox="1"/>
          <p:nvPr/>
        </p:nvSpPr>
        <p:spPr>
          <a:xfrm>
            <a:off x="6383658" y="2580000"/>
            <a:ext cx="2240000" cy="209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Divisez le col en quatre quadrants. Moins de 75 %, ou plus de 75 % ?</a:t>
            </a:r>
            <a:endParaRPr lang="fr-FR" sz="1500" dirty="0"/>
          </a:p>
        </p:txBody>
      </p:sp>
      <p:sp>
        <p:nvSpPr>
          <p:cNvPr id="13" name="Shape 13"/>
          <p:cNvSpPr/>
          <p:nvPr/>
        </p:nvSpPr>
        <p:spPr>
          <a:xfrm>
            <a:off x="9022024" y="1450000"/>
            <a:ext cx="2600000" cy="3300000"/>
          </a:xfrm>
          <a:prstGeom prst="roundRect">
            <a:avLst>
              <a:gd name="adj" fmla="val 3000"/>
            </a:avLst>
          </a:prstGeom>
          <a:solidFill>
            <a:srgbClr val="FDE9E8"/>
          </a:solidFill>
          <a:ln w="12700">
            <a:solidFill>
              <a:srgbClr val="F0CFCE"/>
            </a:solidFill>
          </a:ln>
        </p:spPr>
        <p:txBody>
          <a:bodyPr/>
          <a:lstStyle/>
          <a:p>
            <a:endParaRPr lang="fr-FR" sz="1600" dirty="0"/>
          </a:p>
        </p:txBody>
      </p:sp>
      <p:sp>
        <p:nvSpPr>
          <p:cNvPr id="14" name="Text 14"/>
          <p:cNvSpPr txBox="1"/>
          <p:nvPr/>
        </p:nvSpPr>
        <p:spPr>
          <a:xfrm>
            <a:off x="9202024" y="1570000"/>
            <a:ext cx="2240000" cy="950000"/>
          </a:xfrm>
          <a:prstGeom prst="rect">
            <a:avLst/>
          </a:prstGeom>
          <a:noFill/>
          <a:ln/>
        </p:spPr>
        <p:txBody>
          <a:bodyPr wrap="square" lIns="0" tIns="0" rIns="0" bIns="0" rtlCol="0" anchor="ctr"/>
          <a:lstStyle/>
          <a:p>
            <a:pPr marL="0" indent="0" algn="l">
              <a:buNone/>
            </a:pPr>
            <a:r>
              <a:rPr lang="fr-FR" sz="1600" b="1" noProof="0" dirty="0">
                <a:solidFill>
                  <a:srgbClr val="8E2531"/>
                </a:solidFill>
                <a:latin typeface="Calibri" pitchFamily="34" charset="0"/>
                <a:ea typeface="Calibri" pitchFamily="34" charset="-122"/>
                <a:cs typeface="Calibri" pitchFamily="34" charset="-120"/>
              </a:rPr>
              <a:t>4️⃣  Pourrait-il s'agir d'un cancer ?</a:t>
            </a:r>
            <a:endParaRPr lang="fr-FR" sz="1600" dirty="0"/>
          </a:p>
        </p:txBody>
      </p:sp>
      <p:sp>
        <p:nvSpPr>
          <p:cNvPr id="15" name="Text 15"/>
          <p:cNvSpPr txBox="1"/>
          <p:nvPr/>
        </p:nvSpPr>
        <p:spPr>
          <a:xfrm>
            <a:off x="9202024" y="2580000"/>
            <a:ext cx="2240000" cy="2090000"/>
          </a:xfrm>
          <a:prstGeom prst="rect">
            <a:avLst/>
          </a:prstGeom>
          <a:noFill/>
          <a:ln/>
        </p:spPr>
        <p:txBody>
          <a:bodyPr wrap="square" lIns="0" tIns="0" rIns="0" bIns="0" rtlCol="0" anchor="t"/>
          <a:lstStyle/>
          <a:p>
            <a:pPr marL="0" indent="0" algn="l">
              <a:lnSpc>
                <a:spcPct val="104000"/>
              </a:lnSpc>
              <a:spcAft>
                <a:spcPts val="600"/>
              </a:spcAft>
              <a:buNone/>
            </a:pPr>
            <a:r>
              <a:rPr lang="fr-FR" sz="1500" noProof="0" dirty="0">
                <a:solidFill>
                  <a:srgbClr val="23303F"/>
                </a:solidFill>
                <a:latin typeface="Calibri" pitchFamily="34" charset="0"/>
                <a:ea typeface="Calibri" pitchFamily="34" charset="-122"/>
                <a:cs typeface="Calibri" pitchFamily="34" charset="-120"/>
              </a:rPr>
              <a:t>Une masse, un ulcère ou une zone friable qui saigne au contact : arrêtez et orientez.</a:t>
            </a:r>
            <a:endParaRPr lang="fr-FR" sz="1500" dirty="0"/>
          </a:p>
        </p:txBody>
      </p:sp>
      <p:sp>
        <p:nvSpPr>
          <p:cNvPr id="16" name="Shape 16"/>
          <p:cNvSpPr/>
          <p:nvPr/>
        </p:nvSpPr>
        <p:spPr>
          <a:xfrm>
            <a:off x="566928" y="4950000"/>
            <a:ext cx="11055096" cy="115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17" name="Text 17"/>
          <p:cNvSpPr txBox="1"/>
          <p:nvPr/>
        </p:nvSpPr>
        <p:spPr>
          <a:xfrm>
            <a:off x="841248" y="5000000"/>
            <a:ext cx="10506456" cy="1050000"/>
          </a:xfrm>
          <a:prstGeom prst="rect">
            <a:avLst/>
          </a:prstGeom>
          <a:noFill/>
          <a:ln/>
        </p:spPr>
        <p:txBody>
          <a:bodyPr wrap="square" lIns="0" tIns="0" rIns="0" bIns="0" rtlCol="0" anchor="ctr"/>
          <a:lstStyle/>
          <a:p>
            <a:pPr marL="0" indent="0" algn="l">
              <a:buNone/>
            </a:pPr>
            <a:r>
              <a:rPr lang="fr-FR" sz="1500" b="1" noProof="0" dirty="0">
                <a:solidFill>
                  <a:srgbClr val="7B5727"/>
                </a:solidFill>
                <a:latin typeface="Calibri" pitchFamily="34" charset="0"/>
                <a:ea typeface="Calibri" pitchFamily="34" charset="-122"/>
                <a:cs typeface="Calibri" pitchFamily="34" charset="-120"/>
              </a:rPr>
              <a:t>📌 Rappelez-vous :  </a:t>
            </a:r>
            <a:r>
              <a:rPr lang="fr-FR" sz="1500" noProof="0" dirty="0">
                <a:solidFill>
                  <a:srgbClr val="23303F"/>
                </a:solidFill>
                <a:latin typeface="Calibri" pitchFamily="34" charset="0"/>
                <a:ea typeface="Calibri" pitchFamily="34" charset="-122"/>
                <a:cs typeface="Calibri" pitchFamily="34" charset="-120"/>
              </a:rPr>
              <a:t>Gardez le flacon d'acide acétique fermé et versez une quantité fraîche pour chaque femme. Attendez les 2 minutes complètes et utilisez une lampe focalisée : la lumière du jour ou un plafonnier ne suffisent pas.</a:t>
            </a:r>
            <a:endParaRPr lang="fr-FR" sz="1500" dirty="0"/>
          </a:p>
        </p:txBody>
      </p:sp>
      <p:sp>
        <p:nvSpPr>
          <p:cNvPr id="18" name="Text 18"/>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9" name="Text 19"/>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88</a:t>
            </a:r>
            <a:endParaRPr lang="fr-FR"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VIA</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Classer le résultat de la VIA</a:t>
            </a:r>
          </a:p>
        </p:txBody>
      </p:sp>
      <p:sp>
        <p:nvSpPr>
          <p:cNvPr id="4" name="Shape 4"/>
          <p:cNvSpPr/>
          <p:nvPr/>
        </p:nvSpPr>
        <p:spPr>
          <a:xfrm>
            <a:off x="566928" y="1450000"/>
            <a:ext cx="3563112" cy="470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6" name="Text 6"/>
          <p:cNvSpPr txBox="1"/>
          <p:nvPr/>
        </p:nvSpPr>
        <p:spPr>
          <a:xfrm>
            <a:off x="786928" y="1531700"/>
            <a:ext cx="3123112" cy="500000"/>
          </a:xfrm>
          <a:prstGeom prst="rect">
            <a:avLst/>
          </a:prstGeom>
          <a:noFill/>
          <a:ln/>
        </p:spPr>
        <p:txBody>
          <a:bodyPr wrap="square" lIns="0" tIns="0" rIns="0" bIns="0" rtlCol="0" anchor="ctr"/>
          <a:lstStyle/>
          <a:p>
            <a:pPr marL="0" indent="0" algn="l">
              <a:buNone/>
            </a:pPr>
            <a:r>
              <a:rPr lang="fr-FR" sz="1900" b="1" noProof="0" dirty="0">
                <a:solidFill>
                  <a:srgbClr val="19543E"/>
                </a:solidFill>
                <a:latin typeface="Calibri" pitchFamily="34" charset="0"/>
                <a:ea typeface="Calibri" pitchFamily="34" charset="-122"/>
                <a:cs typeface="Calibri" pitchFamily="34" charset="-120"/>
              </a:rPr>
              <a:t>🟢  VIA négative</a:t>
            </a:r>
            <a:endParaRPr lang="fr-FR" sz="1900" dirty="0"/>
          </a:p>
        </p:txBody>
      </p:sp>
      <p:sp>
        <p:nvSpPr>
          <p:cNvPr id="7" name="Text 7"/>
          <p:cNvSpPr txBox="1"/>
          <p:nvPr/>
        </p:nvSpPr>
        <p:spPr>
          <a:xfrm>
            <a:off x="786928" y="2081700"/>
            <a:ext cx="3123112" cy="2350000"/>
          </a:xfrm>
          <a:prstGeom prst="rect">
            <a:avLst/>
          </a:prstGeom>
          <a:noFill/>
          <a:ln/>
        </p:spPr>
        <p:txBody>
          <a:bodyPr wrap="square" lIns="0" tIns="0" rIns="0" bIns="0" rtlCol="0" anchor="t"/>
          <a:lstStyle/>
          <a:p>
            <a:pPr marL="0" indent="0" algn="l">
              <a:lnSpc>
                <a:spcPct val="104000"/>
              </a:lnSpc>
              <a:buNone/>
            </a:pPr>
            <a:r>
              <a:rPr lang="fr-FR" sz="1500" noProof="0" dirty="0">
                <a:solidFill>
                  <a:srgbClr val="23303F"/>
                </a:solidFill>
                <a:latin typeface="Calibri" pitchFamily="34" charset="0"/>
                <a:ea typeface="Calibri" pitchFamily="34" charset="-122"/>
                <a:cs typeface="Calibri" pitchFamily="34" charset="-120"/>
              </a:rPr>
              <a:t>Aucune zone acétoblanche, ou seulement des zones pâles et irrégulières sans limites nettes. Les zones éloignées de la zone de transformation, les kystes de Naboth et une fine ligne à la JSC sont aussi négatifs.</a:t>
            </a:r>
            <a:endParaRPr lang="fr-FR" sz="1500" dirty="0"/>
          </a:p>
        </p:txBody>
      </p:sp>
      <p:sp>
        <p:nvSpPr>
          <p:cNvPr id="8" name="Shape 8"/>
          <p:cNvSpPr/>
          <p:nvPr/>
        </p:nvSpPr>
        <p:spPr>
          <a:xfrm>
            <a:off x="4312920" y="1450000"/>
            <a:ext cx="3563112" cy="470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10" name="Text 10"/>
          <p:cNvSpPr txBox="1"/>
          <p:nvPr/>
        </p:nvSpPr>
        <p:spPr>
          <a:xfrm>
            <a:off x="4532920" y="1531700"/>
            <a:ext cx="3123112" cy="500000"/>
          </a:xfrm>
          <a:prstGeom prst="rect">
            <a:avLst/>
          </a:prstGeom>
          <a:noFill/>
          <a:ln/>
        </p:spPr>
        <p:txBody>
          <a:bodyPr wrap="square" lIns="0" tIns="0" rIns="0" bIns="0" rtlCol="0" anchor="ctr"/>
          <a:lstStyle/>
          <a:p>
            <a:pPr marL="0" indent="0" algn="l">
              <a:buNone/>
            </a:pPr>
            <a:r>
              <a:rPr lang="fr-FR" sz="1900" b="1" noProof="0" dirty="0">
                <a:solidFill>
                  <a:srgbClr val="7B5727"/>
                </a:solidFill>
                <a:latin typeface="Calibri" pitchFamily="34" charset="0"/>
                <a:ea typeface="Calibri" pitchFamily="34" charset="-122"/>
                <a:cs typeface="Calibri" pitchFamily="34" charset="-120"/>
              </a:rPr>
              <a:t>🟠  VIA positive</a:t>
            </a:r>
            <a:endParaRPr lang="fr-FR" sz="1900" dirty="0"/>
          </a:p>
        </p:txBody>
      </p:sp>
      <p:sp>
        <p:nvSpPr>
          <p:cNvPr id="11" name="Text 11"/>
          <p:cNvSpPr txBox="1"/>
          <p:nvPr/>
        </p:nvSpPr>
        <p:spPr>
          <a:xfrm>
            <a:off x="4532920" y="2081700"/>
            <a:ext cx="3123112" cy="2350000"/>
          </a:xfrm>
          <a:prstGeom prst="rect">
            <a:avLst/>
          </a:prstGeom>
          <a:noFill/>
          <a:ln/>
        </p:spPr>
        <p:txBody>
          <a:bodyPr wrap="square" lIns="0" tIns="0" rIns="0" bIns="0" rtlCol="0" anchor="t"/>
          <a:lstStyle/>
          <a:p>
            <a:pPr marL="0" indent="0" algn="l">
              <a:lnSpc>
                <a:spcPct val="104000"/>
              </a:lnSpc>
              <a:buNone/>
            </a:pPr>
            <a:r>
              <a:rPr lang="fr-FR" sz="1500" noProof="0" dirty="0">
                <a:solidFill>
                  <a:srgbClr val="23303F"/>
                </a:solidFill>
                <a:latin typeface="Calibri" pitchFamily="34" charset="0"/>
                <a:ea typeface="Calibri" pitchFamily="34" charset="-122"/>
                <a:cs typeface="Calibri" pitchFamily="34" charset="-120"/>
              </a:rPr>
              <a:t>Une zone acétoblanche nette et opaque, aux bords bien délimités, dans la zone de transformation et au contact de la JSC.</a:t>
            </a:r>
            <a:endParaRPr lang="fr-FR" sz="1500" dirty="0"/>
          </a:p>
        </p:txBody>
      </p:sp>
      <p:sp>
        <p:nvSpPr>
          <p:cNvPr id="12" name="Shape 12"/>
          <p:cNvSpPr/>
          <p:nvPr/>
        </p:nvSpPr>
        <p:spPr>
          <a:xfrm>
            <a:off x="8058912" y="1450000"/>
            <a:ext cx="3563112" cy="4700000"/>
          </a:xfrm>
          <a:prstGeom prst="roundRect">
            <a:avLst>
              <a:gd name="adj" fmla="val 3000"/>
            </a:avLst>
          </a:prstGeom>
          <a:solidFill>
            <a:srgbClr val="FDE9E8"/>
          </a:solidFill>
          <a:ln w="12700">
            <a:solidFill>
              <a:srgbClr val="F0CFCE"/>
            </a:solidFill>
          </a:ln>
        </p:spPr>
        <p:txBody>
          <a:bodyPr/>
          <a:lstStyle/>
          <a:p>
            <a:endParaRPr lang="fr-FR" sz="1600" dirty="0"/>
          </a:p>
        </p:txBody>
      </p:sp>
      <p:sp>
        <p:nvSpPr>
          <p:cNvPr id="14" name="Text 14"/>
          <p:cNvSpPr txBox="1"/>
          <p:nvPr/>
        </p:nvSpPr>
        <p:spPr>
          <a:xfrm>
            <a:off x="8278912" y="1531700"/>
            <a:ext cx="3123112" cy="500000"/>
          </a:xfrm>
          <a:prstGeom prst="rect">
            <a:avLst/>
          </a:prstGeom>
          <a:noFill/>
          <a:ln/>
        </p:spPr>
        <p:txBody>
          <a:bodyPr wrap="square" lIns="0" tIns="0" rIns="0" bIns="0" rtlCol="0" anchor="ctr"/>
          <a:lstStyle/>
          <a:p>
            <a:pPr marL="0" indent="0" algn="l">
              <a:buNone/>
            </a:pPr>
            <a:r>
              <a:rPr lang="fr-FR" sz="1900" b="1" noProof="0" dirty="0">
                <a:solidFill>
                  <a:srgbClr val="8E2531"/>
                </a:solidFill>
                <a:latin typeface="Calibri" pitchFamily="34" charset="0"/>
                <a:ea typeface="Calibri" pitchFamily="34" charset="-122"/>
                <a:cs typeface="Calibri" pitchFamily="34" charset="-120"/>
              </a:rPr>
              <a:t>🔴  Suspicion de cancer</a:t>
            </a:r>
            <a:endParaRPr lang="fr-FR" sz="1900" dirty="0"/>
          </a:p>
        </p:txBody>
      </p:sp>
      <p:sp>
        <p:nvSpPr>
          <p:cNvPr id="15" name="Text 15"/>
          <p:cNvSpPr txBox="1"/>
          <p:nvPr/>
        </p:nvSpPr>
        <p:spPr>
          <a:xfrm>
            <a:off x="8278912" y="2081700"/>
            <a:ext cx="3123112" cy="2350000"/>
          </a:xfrm>
          <a:prstGeom prst="rect">
            <a:avLst/>
          </a:prstGeom>
          <a:noFill/>
          <a:ln/>
        </p:spPr>
        <p:txBody>
          <a:bodyPr wrap="square" lIns="0" tIns="0" rIns="0" bIns="0" rtlCol="0" anchor="t"/>
          <a:lstStyle/>
          <a:p>
            <a:pPr marL="0" indent="0" algn="l">
              <a:lnSpc>
                <a:spcPct val="104000"/>
              </a:lnSpc>
              <a:buNone/>
            </a:pPr>
            <a:r>
              <a:rPr lang="fr-FR" sz="1500" noProof="0" dirty="0">
                <a:solidFill>
                  <a:srgbClr val="23303F"/>
                </a:solidFill>
                <a:latin typeface="Calibri" pitchFamily="34" charset="0"/>
                <a:ea typeface="Calibri" pitchFamily="34" charset="-122"/>
                <a:cs typeface="Calibri" pitchFamily="34" charset="-120"/>
              </a:rPr>
              <a:t>Une masse en chou-fleur, une tumeur bourgeonnante ou un ulcère. Elle peut saigner au contact, si bien qu'un blanchiment peut ne pas être visible.</a:t>
            </a:r>
            <a:endParaRPr lang="fr-FR" sz="1500" dirty="0"/>
          </a:p>
        </p:txBody>
      </p:sp>
      <p:sp>
        <p:nvSpPr>
          <p:cNvPr id="16" name="Text 16"/>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7" name="Text 17"/>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89</a:t>
            </a:r>
            <a:endParaRPr lang="fr-FR" sz="1100" dirty="0"/>
          </a:p>
        </p:txBody>
      </p:sp>
      <p:pic>
        <p:nvPicPr>
          <p:cNvPr id="18" name="Imagen 17">
            <a:extLst>
              <a:ext uri="{FF2B5EF4-FFF2-40B4-BE49-F238E27FC236}">
                <a16:creationId xmlns:a16="http://schemas.microsoft.com/office/drawing/2014/main" id="{71D0C3DB-FACB-F4E6-C058-4E728B29E7D5}"/>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078253" y="3755904"/>
            <a:ext cx="2356089" cy="2227965"/>
          </a:xfrm>
          <a:prstGeom prst="rect">
            <a:avLst/>
          </a:prstGeom>
        </p:spPr>
      </p:pic>
      <p:pic>
        <p:nvPicPr>
          <p:cNvPr id="19" name="Imagen 18">
            <a:extLst>
              <a:ext uri="{FF2B5EF4-FFF2-40B4-BE49-F238E27FC236}">
                <a16:creationId xmlns:a16="http://schemas.microsoft.com/office/drawing/2014/main" id="{099FE035-D378-E0F0-3126-584AC390140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911852" y="3735230"/>
            <a:ext cx="2286000" cy="2269314"/>
          </a:xfrm>
          <a:prstGeom prst="rect">
            <a:avLst/>
          </a:prstGeom>
        </p:spPr>
      </p:pic>
      <p:pic>
        <p:nvPicPr>
          <p:cNvPr id="20" name="Imagen 19">
            <a:extLst>
              <a:ext uri="{FF2B5EF4-FFF2-40B4-BE49-F238E27FC236}">
                <a16:creationId xmlns:a16="http://schemas.microsoft.com/office/drawing/2014/main" id="{41FBD585-C9FE-3C21-4E71-BDDCDB3519AB}"/>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8754717" y="3668732"/>
            <a:ext cx="2424486" cy="2315137"/>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6785EEB4-708A-AF96-E612-18D4FF72375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19849" y="3663142"/>
            <a:ext cx="8147111" cy="2103919"/>
          </a:xfrm>
          <a:prstGeom prst="rect">
            <a:avLst/>
          </a:prstGeom>
        </p:spPr>
      </p:pic>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VIA</a:t>
            </a:r>
            <a:endParaRPr lang="fr-FR" sz="1200" dirty="0"/>
          </a:p>
        </p:txBody>
      </p:sp>
      <p:sp>
        <p:nvSpPr>
          <p:cNvPr id="3" name="Text 3"/>
          <p:cNvSpPr txBox="1"/>
          <p:nvPr/>
        </p:nvSpPr>
        <p:spPr>
          <a:xfrm>
            <a:off x="566928" y="322843"/>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Toute zone blanche n'est pas une VIA positive</a:t>
            </a:r>
          </a:p>
        </p:txBody>
      </p:sp>
      <p:sp>
        <p:nvSpPr>
          <p:cNvPr id="4" name="Shape 4"/>
          <p:cNvSpPr/>
          <p:nvPr/>
        </p:nvSpPr>
        <p:spPr>
          <a:xfrm>
            <a:off x="566928" y="1020797"/>
            <a:ext cx="5436108" cy="2522345"/>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822960" y="1140797"/>
            <a:ext cx="4924044"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Blanchiments sans signification</a:t>
            </a:r>
            <a:endParaRPr lang="fr-FR" sz="2000" dirty="0"/>
          </a:p>
        </p:txBody>
      </p:sp>
      <p:sp>
        <p:nvSpPr>
          <p:cNvPr id="6" name="Text 6"/>
          <p:cNvSpPr txBox="1"/>
          <p:nvPr/>
        </p:nvSpPr>
        <p:spPr>
          <a:xfrm>
            <a:off x="822960" y="1720797"/>
            <a:ext cx="4924044" cy="21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Une fine ligne au bord du canal</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Des zones pâles sans contour net</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Des zones éloignées de la JSC</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Des zones pâles en points ou en traînées</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Des kystes de Naboth</a:t>
            </a:r>
            <a:endParaRPr lang="fr-FR" sz="1500" dirty="0"/>
          </a:p>
        </p:txBody>
      </p:sp>
      <p:sp>
        <p:nvSpPr>
          <p:cNvPr id="7" name="Shape 7"/>
          <p:cNvSpPr/>
          <p:nvPr/>
        </p:nvSpPr>
        <p:spPr>
          <a:xfrm>
            <a:off x="6185916" y="1020797"/>
            <a:ext cx="5436108" cy="2522345"/>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6441948" y="1140797"/>
            <a:ext cx="4924044"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Affections bénignes possibles</a:t>
            </a:r>
            <a:endParaRPr lang="fr-FR" sz="2000" dirty="0"/>
          </a:p>
        </p:txBody>
      </p:sp>
      <p:sp>
        <p:nvSpPr>
          <p:cNvPr id="9" name="Text 9"/>
          <p:cNvSpPr txBox="1"/>
          <p:nvPr/>
        </p:nvSpPr>
        <p:spPr>
          <a:xfrm>
            <a:off x="6441948" y="1720797"/>
            <a:ext cx="4924044" cy="21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Cervicite : rougeur diffuse et pertes.</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Condylomes génitaux : surtout dus aux HPV 6 et 11.</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Polypes : petites masses rouges et molles sortant de l'orifice. Déplacez-les pour voir la JSC.</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Leucoplasie : plage blanche visible avant l'acide. Près de la JSC, orientez pour une colposcopie.</a:t>
            </a:r>
            <a:endParaRPr lang="fr-FR" sz="1500" dirty="0"/>
          </a:p>
        </p:txBody>
      </p:sp>
      <p:sp>
        <p:nvSpPr>
          <p:cNvPr id="11" name="Shape 11"/>
          <p:cNvSpPr/>
          <p:nvPr/>
        </p:nvSpPr>
        <p:spPr>
          <a:xfrm>
            <a:off x="566928" y="5903812"/>
            <a:ext cx="11055096" cy="482798"/>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12" name="Text 12"/>
          <p:cNvSpPr txBox="1"/>
          <p:nvPr/>
        </p:nvSpPr>
        <p:spPr>
          <a:xfrm>
            <a:off x="841248" y="5903812"/>
            <a:ext cx="10506456" cy="432797"/>
          </a:xfrm>
          <a:prstGeom prst="rect">
            <a:avLst/>
          </a:prstGeom>
          <a:noFill/>
          <a:ln/>
        </p:spPr>
        <p:txBody>
          <a:bodyPr wrap="square" lIns="0" tIns="0" rIns="0" bIns="0" rtlCol="0" anchor="ctr"/>
          <a:lstStyle/>
          <a:p>
            <a:pPr marL="0" indent="0" algn="l">
              <a:buNone/>
            </a:pPr>
            <a:r>
              <a:rPr lang="fr-FR" sz="1500" b="1" noProof="0" dirty="0">
                <a:solidFill>
                  <a:srgbClr val="7B5727"/>
                </a:solidFill>
                <a:latin typeface="Calibri" pitchFamily="34" charset="0"/>
                <a:ea typeface="Calibri" pitchFamily="34" charset="-122"/>
                <a:cs typeface="Calibri" pitchFamily="34" charset="-120"/>
              </a:rPr>
              <a:t>📌 En cas de doute :  </a:t>
            </a:r>
            <a:r>
              <a:rPr lang="fr-FR" sz="1500" noProof="0" dirty="0">
                <a:solidFill>
                  <a:srgbClr val="23303F"/>
                </a:solidFill>
                <a:latin typeface="Calibri" pitchFamily="34" charset="0"/>
                <a:ea typeface="Calibri" pitchFamily="34" charset="-122"/>
                <a:cs typeface="Calibri" pitchFamily="34" charset="-120"/>
              </a:rPr>
              <a:t>La VIA peut être difficile à lire au début. Demandez un deuxième avis plutôt que de manquer une lésion.</a:t>
            </a:r>
            <a:endParaRPr lang="fr-FR" sz="1500" dirty="0"/>
          </a:p>
        </p:txBody>
      </p:sp>
      <p:sp>
        <p:nvSpPr>
          <p:cNvPr id="13" name="Text 13"/>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4" name="Text 14"/>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90</a:t>
            </a:r>
            <a:endParaRPr lang="fr-FR"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INTERACTIF</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Classez chaque observation de VIA</a:t>
            </a:r>
          </a:p>
        </p:txBody>
      </p:sp>
      <p:sp>
        <p:nvSpPr>
          <p:cNvPr id="4" name="Text 4"/>
          <p:cNvSpPr txBox="1"/>
          <p:nvPr/>
        </p:nvSpPr>
        <p:spPr>
          <a:xfrm>
            <a:off x="566928" y="1517904"/>
            <a:ext cx="11055096" cy="365760"/>
          </a:xfrm>
          <a:prstGeom prst="rect">
            <a:avLst/>
          </a:prstGeom>
          <a:noFill/>
          <a:ln/>
        </p:spPr>
        <p:txBody>
          <a:bodyPr wrap="square" lIns="0" tIns="0" rIns="0" bIns="0" rtlCol="0" anchor="ctr"/>
          <a:lstStyle/>
          <a:p>
            <a:pPr marL="0" indent="0" algn="l">
              <a:buNone/>
            </a:pPr>
            <a:r>
              <a:rPr lang="fr-FR" sz="1800" noProof="0" dirty="0">
                <a:solidFill>
                  <a:srgbClr val="31507B"/>
                </a:solidFill>
                <a:latin typeface="Calibri" pitchFamily="34" charset="0"/>
                <a:ea typeface="Calibri" pitchFamily="34" charset="-122"/>
                <a:cs typeface="Calibri" pitchFamily="34" charset="-120"/>
              </a:rPr>
              <a:t>💬  Faites glisser chaque observation dans la bonne colonne, puis sélectionnez Valider.</a:t>
            </a:r>
            <a:endParaRPr lang="fr-FR" sz="1800" dirty="0"/>
          </a:p>
        </p:txBody>
      </p:sp>
      <p:sp>
        <p:nvSpPr>
          <p:cNvPr id="5" name="Shape 5"/>
          <p:cNvSpPr/>
          <p:nvPr/>
        </p:nvSpPr>
        <p:spPr>
          <a:xfrm>
            <a:off x="566928" y="1965960"/>
            <a:ext cx="3563112" cy="329184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6" name="Text 6"/>
          <p:cNvSpPr txBox="1"/>
          <p:nvPr/>
        </p:nvSpPr>
        <p:spPr>
          <a:xfrm>
            <a:off x="822960" y="2100000"/>
            <a:ext cx="3051048" cy="520000"/>
          </a:xfrm>
          <a:prstGeom prst="rect">
            <a:avLst/>
          </a:prstGeom>
          <a:noFill/>
          <a:ln/>
        </p:spPr>
        <p:txBody>
          <a:bodyPr wrap="square" lIns="0" tIns="0" rIns="0" bIns="0" rtlCol="0" anchor="ctr"/>
          <a:lstStyle/>
          <a:p>
            <a:pPr marL="0" indent="0" algn="l">
              <a:buNone/>
            </a:pPr>
            <a:r>
              <a:rPr lang="fr-FR" sz="1900" b="1" noProof="0" dirty="0">
                <a:solidFill>
                  <a:srgbClr val="19543E"/>
                </a:solidFill>
                <a:latin typeface="Calibri" pitchFamily="34" charset="0"/>
                <a:ea typeface="Calibri" pitchFamily="34" charset="-122"/>
                <a:cs typeface="Calibri" pitchFamily="34" charset="-120"/>
              </a:rPr>
              <a:t>🟢  VIA négative</a:t>
            </a:r>
            <a:endParaRPr lang="fr-FR" sz="1900" dirty="0"/>
          </a:p>
        </p:txBody>
      </p:sp>
      <p:sp>
        <p:nvSpPr>
          <p:cNvPr id="7" name="Text 7"/>
          <p:cNvSpPr txBox="1"/>
          <p:nvPr/>
        </p:nvSpPr>
        <p:spPr>
          <a:xfrm>
            <a:off x="822960" y="2700000"/>
            <a:ext cx="3051048" cy="2500000"/>
          </a:xfrm>
          <a:prstGeom prst="rect">
            <a:avLst/>
          </a:prstGeom>
          <a:noFill/>
          <a:ln/>
        </p:spPr>
        <p:txBody>
          <a:bodyPr wrap="square" lIns="0" tIns="0" rIns="0" bIns="0" rtlCol="0" anchor="t"/>
          <a:lstStyle/>
          <a:p>
            <a:pPr marL="285750" indent="-285750" algn="l">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Blanchiment pâle et irrégulier sans limites nettes</a:t>
            </a:r>
            <a:endParaRPr lang="fr-FR" sz="1600" dirty="0"/>
          </a:p>
          <a:p>
            <a:pPr marL="285750" indent="-285750" algn="l">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Fine ligne blanche à la JSC</a:t>
            </a:r>
            <a:endParaRPr lang="fr-FR" sz="1600" dirty="0"/>
          </a:p>
          <a:p>
            <a:pPr marL="285750" indent="-285750" algn="l">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Zone blanche éloignée de la zone de transformation</a:t>
            </a:r>
            <a:endParaRPr lang="fr-FR" sz="1600" dirty="0"/>
          </a:p>
        </p:txBody>
      </p:sp>
      <p:sp>
        <p:nvSpPr>
          <p:cNvPr id="8" name="Shape 8"/>
          <p:cNvSpPr/>
          <p:nvPr/>
        </p:nvSpPr>
        <p:spPr>
          <a:xfrm>
            <a:off x="4312920" y="1965960"/>
            <a:ext cx="3563112" cy="329184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9" name="Text 9"/>
          <p:cNvSpPr txBox="1"/>
          <p:nvPr/>
        </p:nvSpPr>
        <p:spPr>
          <a:xfrm>
            <a:off x="4568952" y="2100000"/>
            <a:ext cx="3051048" cy="520000"/>
          </a:xfrm>
          <a:prstGeom prst="rect">
            <a:avLst/>
          </a:prstGeom>
          <a:noFill/>
          <a:ln/>
        </p:spPr>
        <p:txBody>
          <a:bodyPr wrap="square" lIns="0" tIns="0" rIns="0" bIns="0" rtlCol="0" anchor="ctr"/>
          <a:lstStyle/>
          <a:p>
            <a:pPr marL="0" indent="0" algn="l">
              <a:buNone/>
            </a:pPr>
            <a:r>
              <a:rPr lang="fr-FR" sz="1900" b="1" noProof="0" dirty="0">
                <a:solidFill>
                  <a:srgbClr val="7B5727"/>
                </a:solidFill>
                <a:latin typeface="Calibri" pitchFamily="34" charset="0"/>
                <a:ea typeface="Calibri" pitchFamily="34" charset="-122"/>
                <a:cs typeface="Calibri" pitchFamily="34" charset="-120"/>
              </a:rPr>
              <a:t>🟠  VIA positive</a:t>
            </a:r>
            <a:endParaRPr lang="fr-FR" sz="1900" dirty="0"/>
          </a:p>
        </p:txBody>
      </p:sp>
      <p:sp>
        <p:nvSpPr>
          <p:cNvPr id="10" name="Text 10"/>
          <p:cNvSpPr txBox="1"/>
          <p:nvPr/>
        </p:nvSpPr>
        <p:spPr>
          <a:xfrm>
            <a:off x="4568952" y="2700000"/>
            <a:ext cx="3051048" cy="2500000"/>
          </a:xfrm>
          <a:prstGeom prst="rect">
            <a:avLst/>
          </a:prstGeom>
          <a:noFill/>
          <a:ln/>
        </p:spPr>
        <p:txBody>
          <a:bodyPr wrap="square" lIns="0" tIns="0" rIns="0" bIns="0" rtlCol="0" anchor="t"/>
          <a:lstStyle/>
          <a:p>
            <a:pPr marL="285750" indent="-285750" algn="l">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Zone blanche dense aux bords nets, au contact de la JSC</a:t>
            </a:r>
            <a:endParaRPr lang="fr-FR" sz="1600" dirty="0"/>
          </a:p>
          <a:p>
            <a:pPr marL="285750" indent="-285750" algn="l">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Lésion acétoblanche opaque couvrant un quadrant</a:t>
            </a:r>
            <a:endParaRPr lang="fr-FR" sz="1600" dirty="0"/>
          </a:p>
        </p:txBody>
      </p:sp>
      <p:sp>
        <p:nvSpPr>
          <p:cNvPr id="11" name="Shape 11"/>
          <p:cNvSpPr/>
          <p:nvPr/>
        </p:nvSpPr>
        <p:spPr>
          <a:xfrm>
            <a:off x="8058912" y="1965960"/>
            <a:ext cx="3563112" cy="3291840"/>
          </a:xfrm>
          <a:prstGeom prst="roundRect">
            <a:avLst>
              <a:gd name="adj" fmla="val 3000"/>
            </a:avLst>
          </a:prstGeom>
          <a:solidFill>
            <a:srgbClr val="FDE9E8"/>
          </a:solidFill>
          <a:ln w="12700">
            <a:solidFill>
              <a:srgbClr val="F0CFCE"/>
            </a:solidFill>
          </a:ln>
        </p:spPr>
        <p:txBody>
          <a:bodyPr/>
          <a:lstStyle/>
          <a:p>
            <a:endParaRPr lang="fr-FR" sz="1600" dirty="0"/>
          </a:p>
        </p:txBody>
      </p:sp>
      <p:sp>
        <p:nvSpPr>
          <p:cNvPr id="12" name="Text 12"/>
          <p:cNvSpPr txBox="1"/>
          <p:nvPr/>
        </p:nvSpPr>
        <p:spPr>
          <a:xfrm>
            <a:off x="8314944" y="2100000"/>
            <a:ext cx="3051048" cy="520000"/>
          </a:xfrm>
          <a:prstGeom prst="rect">
            <a:avLst/>
          </a:prstGeom>
          <a:noFill/>
          <a:ln/>
        </p:spPr>
        <p:txBody>
          <a:bodyPr wrap="square" lIns="0" tIns="0" rIns="0" bIns="0" rtlCol="0" anchor="ctr"/>
          <a:lstStyle/>
          <a:p>
            <a:pPr marL="0" indent="0" algn="l">
              <a:buNone/>
            </a:pPr>
            <a:r>
              <a:rPr lang="fr-FR" sz="1900" b="1" noProof="0" dirty="0">
                <a:solidFill>
                  <a:srgbClr val="8E2531"/>
                </a:solidFill>
                <a:latin typeface="Calibri" pitchFamily="34" charset="0"/>
                <a:ea typeface="Calibri" pitchFamily="34" charset="-122"/>
                <a:cs typeface="Calibri" pitchFamily="34" charset="-120"/>
              </a:rPr>
              <a:t>🔴  Suspicion de cancer</a:t>
            </a:r>
            <a:endParaRPr lang="fr-FR" sz="1900" dirty="0"/>
          </a:p>
        </p:txBody>
      </p:sp>
      <p:sp>
        <p:nvSpPr>
          <p:cNvPr id="13" name="Text 13"/>
          <p:cNvSpPr txBox="1"/>
          <p:nvPr/>
        </p:nvSpPr>
        <p:spPr>
          <a:xfrm>
            <a:off x="8314944" y="2700000"/>
            <a:ext cx="3051048" cy="2500000"/>
          </a:xfrm>
          <a:prstGeom prst="rect">
            <a:avLst/>
          </a:prstGeom>
          <a:noFill/>
          <a:ln/>
        </p:spPr>
        <p:txBody>
          <a:bodyPr wrap="square" lIns="0" tIns="0" rIns="0" bIns="0" rtlCol="0" anchor="t"/>
          <a:lstStyle/>
          <a:p>
            <a:pPr marL="285750" indent="-285750" algn="l">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Masse friable qui saigne au contact</a:t>
            </a:r>
            <a:endParaRPr lang="fr-FR" sz="1600" dirty="0"/>
          </a:p>
          <a:p>
            <a:pPr marL="285750" indent="-285750" algn="l">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Masse en chou-fleur remplaçant le col</a:t>
            </a:r>
            <a:endParaRPr lang="fr-FR" sz="1600" dirty="0"/>
          </a:p>
        </p:txBody>
      </p:sp>
      <p:sp>
        <p:nvSpPr>
          <p:cNvPr id="14" name="Shape 14"/>
          <p:cNvSpPr/>
          <p:nvPr/>
        </p:nvSpPr>
        <p:spPr>
          <a:xfrm>
            <a:off x="566928" y="5358384"/>
            <a:ext cx="11055096" cy="85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5" name="Text 15"/>
          <p:cNvSpPr txBox="1"/>
          <p:nvPr/>
        </p:nvSpPr>
        <p:spPr>
          <a:xfrm>
            <a:off x="841248" y="5408384"/>
            <a:ext cx="10506456" cy="750000"/>
          </a:xfrm>
          <a:prstGeom prst="rect">
            <a:avLst/>
          </a:prstGeom>
          <a:noFill/>
          <a:ln/>
        </p:spPr>
        <p:txBody>
          <a:bodyPr wrap="square" lIns="0" tIns="0" rIns="0" bIns="0" rtlCol="0" anchor="ctr"/>
          <a:lstStyle/>
          <a:p>
            <a:pPr marL="0" indent="0" algn="l">
              <a:buNone/>
            </a:pPr>
            <a:r>
              <a:rPr lang="fr-FR" sz="1500" b="1" noProof="0" dirty="0">
                <a:solidFill>
                  <a:srgbClr val="19543E"/>
                </a:solidFill>
                <a:latin typeface="Calibri" pitchFamily="34" charset="0"/>
                <a:ea typeface="Calibri" pitchFamily="34" charset="-122"/>
                <a:cs typeface="Calibri" pitchFamily="34" charset="-120"/>
              </a:rPr>
              <a:t>✅ Retour :  </a:t>
            </a:r>
            <a:r>
              <a:rPr lang="fr-FR" sz="1500" noProof="0" dirty="0">
                <a:solidFill>
                  <a:srgbClr val="23303F"/>
                </a:solidFill>
                <a:latin typeface="Calibri" pitchFamily="34" charset="0"/>
                <a:ea typeface="Calibri" pitchFamily="34" charset="-122"/>
                <a:cs typeface="Calibri" pitchFamily="34" charset="-120"/>
              </a:rPr>
              <a:t>Seule une zone acétoblanche nette et bien délimitée dans la zone de transformation, au contact de la JSC, est une VIA positive. Une masse ou un ulcère fait suspecter un cancer, quelle que soit sa couleur.</a:t>
            </a:r>
            <a:endParaRPr lang="fr-FR" sz="1500" dirty="0"/>
          </a:p>
        </p:txBody>
      </p:sp>
      <p:sp>
        <p:nvSpPr>
          <p:cNvPr id="16" name="Text 16"/>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7" name="Text 17"/>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91</a:t>
            </a:r>
            <a:endParaRPr lang="fr-FR"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CONDUITE À TENIR</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2600" b="1" noProof="0" dirty="0">
                <a:solidFill>
                  <a:srgbClr val="10305A"/>
                </a:solidFill>
                <a:latin typeface="Cambria" pitchFamily="34" charset="0"/>
                <a:ea typeface="Cambria" pitchFamily="34" charset="-122"/>
                <a:cs typeface="Cambria" pitchFamily="34" charset="-120"/>
              </a:rPr>
              <a:t>Conduite à tenir : population générale (VIH négatif)</a:t>
            </a:r>
          </a:p>
        </p:txBody>
      </p:sp>
      <p:sp>
        <p:nvSpPr>
          <p:cNvPr id="31" name="Shape 31"/>
          <p:cNvSpPr/>
          <p:nvPr/>
        </p:nvSpPr>
        <p:spPr>
          <a:xfrm>
            <a:off x="566928" y="5420000"/>
            <a:ext cx="11055096" cy="78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32" name="Text 32"/>
          <p:cNvSpPr txBox="1"/>
          <p:nvPr/>
        </p:nvSpPr>
        <p:spPr>
          <a:xfrm>
            <a:off x="841248" y="5470000"/>
            <a:ext cx="10506456" cy="680000"/>
          </a:xfrm>
          <a:prstGeom prst="rect">
            <a:avLst/>
          </a:prstGeom>
          <a:noFill/>
          <a:ln/>
        </p:spPr>
        <p:txBody>
          <a:bodyPr wrap="square" lIns="0" tIns="0" rIns="0" bIns="0" rtlCol="0" anchor="ctr"/>
          <a:lstStyle/>
          <a:p>
            <a:pPr marL="0" indent="0" algn="l">
              <a:buNone/>
            </a:pPr>
            <a:r>
              <a:rPr lang="fr-FR" sz="1400" b="1" noProof="0" dirty="0">
                <a:solidFill>
                  <a:srgbClr val="19543E"/>
                </a:solidFill>
                <a:latin typeface="Calibri" pitchFamily="34" charset="0"/>
                <a:ea typeface="Calibri" pitchFamily="34" charset="-122"/>
                <a:cs typeface="Calibri" pitchFamily="34" charset="-120"/>
              </a:rPr>
              <a:t>📋 Après ablation thermique ou LEEP :  </a:t>
            </a:r>
            <a:r>
              <a:rPr lang="fr-FR" sz="1400" noProof="0" dirty="0">
                <a:solidFill>
                  <a:srgbClr val="23303F"/>
                </a:solidFill>
                <a:latin typeface="Calibri" pitchFamily="34" charset="0"/>
                <a:ea typeface="Calibri" pitchFamily="34" charset="-122"/>
                <a:cs typeface="Calibri" pitchFamily="34" charset="-120"/>
              </a:rPr>
              <a:t>test de suivi à 12 mois, avec un test HPV (VIA si le test HPV n'est pas disponible).</a:t>
            </a:r>
            <a:endParaRPr lang="fr-FR" sz="1400" dirty="0"/>
          </a:p>
        </p:txBody>
      </p:sp>
      <p:sp>
        <p:nvSpPr>
          <p:cNvPr id="33" name="Text 33"/>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34" name="Text 34"/>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92</a:t>
            </a:r>
            <a:endParaRPr lang="fr-FR" sz="1100" dirty="0"/>
          </a:p>
        </p:txBody>
      </p:sp>
      <p:pic>
        <p:nvPicPr>
          <p:cNvPr id="35" name="Imagen 34">
            <a:extLst>
              <a:ext uri="{FF2B5EF4-FFF2-40B4-BE49-F238E27FC236}">
                <a16:creationId xmlns:a16="http://schemas.microsoft.com/office/drawing/2014/main" id="{CADCDA77-ADE2-C90B-B4C1-DF6CFA75AD87}"/>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970338" y="1304393"/>
            <a:ext cx="10325190" cy="4090738"/>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CONDUITE À TENIR</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2600" b="1" noProof="0" dirty="0">
                <a:solidFill>
                  <a:srgbClr val="10305A"/>
                </a:solidFill>
                <a:latin typeface="Cambria" pitchFamily="34" charset="0"/>
                <a:ea typeface="Cambria" pitchFamily="34" charset="-122"/>
                <a:cs typeface="Cambria" pitchFamily="34" charset="-120"/>
              </a:rPr>
              <a:t>Conduite à tenir : femmes vivant avec le VIH</a:t>
            </a:r>
          </a:p>
        </p:txBody>
      </p:sp>
      <p:sp>
        <p:nvSpPr>
          <p:cNvPr id="27" name="Shape 27"/>
          <p:cNvSpPr/>
          <p:nvPr/>
        </p:nvSpPr>
        <p:spPr>
          <a:xfrm>
            <a:off x="566928" y="5420000"/>
            <a:ext cx="11055096" cy="78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28" name="Text 28"/>
          <p:cNvSpPr txBox="1"/>
          <p:nvPr/>
        </p:nvSpPr>
        <p:spPr>
          <a:xfrm>
            <a:off x="841248" y="5470000"/>
            <a:ext cx="10506456" cy="680000"/>
          </a:xfrm>
          <a:prstGeom prst="rect">
            <a:avLst/>
          </a:prstGeom>
          <a:noFill/>
          <a:ln/>
        </p:spPr>
        <p:txBody>
          <a:bodyPr wrap="square" lIns="0" tIns="0" rIns="0" bIns="0" rtlCol="0" anchor="ctr"/>
          <a:lstStyle/>
          <a:p>
            <a:pPr marL="0" indent="0" algn="l">
              <a:buNone/>
            </a:pPr>
            <a:r>
              <a:rPr lang="fr-FR" sz="1400" b="1" noProof="0" dirty="0">
                <a:solidFill>
                  <a:srgbClr val="19543E"/>
                </a:solidFill>
                <a:latin typeface="Calibri" pitchFamily="34" charset="0"/>
                <a:ea typeface="Calibri" pitchFamily="34" charset="-122"/>
                <a:cs typeface="Calibri" pitchFamily="34" charset="-120"/>
              </a:rPr>
              <a:t>📋 Après ablation thermique ou LEEP :  </a:t>
            </a:r>
            <a:r>
              <a:rPr lang="fr-FR" sz="1400" noProof="0" dirty="0">
                <a:solidFill>
                  <a:srgbClr val="23303F"/>
                </a:solidFill>
                <a:latin typeface="Calibri" pitchFamily="34" charset="0"/>
                <a:ea typeface="Calibri" pitchFamily="34" charset="-122"/>
                <a:cs typeface="Calibri" pitchFamily="34" charset="-120"/>
              </a:rPr>
              <a:t>test de suivi à 12 mois, avec un test HPV (VIA si le test HPV n'est pas disponible).</a:t>
            </a:r>
            <a:endParaRPr lang="fr-FR" sz="1400" dirty="0"/>
          </a:p>
        </p:txBody>
      </p:sp>
      <p:sp>
        <p:nvSpPr>
          <p:cNvPr id="29" name="Text 2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30" name="Text 3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93</a:t>
            </a:r>
            <a:endParaRPr lang="fr-FR" sz="1100" dirty="0"/>
          </a:p>
        </p:txBody>
      </p:sp>
      <p:pic>
        <p:nvPicPr>
          <p:cNvPr id="31" name="Imagen 30">
            <a:extLst>
              <a:ext uri="{FF2B5EF4-FFF2-40B4-BE49-F238E27FC236}">
                <a16:creationId xmlns:a16="http://schemas.microsoft.com/office/drawing/2014/main" id="{0F8BC34E-C5B3-29C5-170D-2F87F0FC4654}"/>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521208" y="1397296"/>
            <a:ext cx="11106904" cy="3820161"/>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CONDUITE À TENIR</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Femmes de 50 à 65 ans jamais dépistées</a:t>
            </a:r>
          </a:p>
        </p:txBody>
      </p:sp>
      <p:sp>
        <p:nvSpPr>
          <p:cNvPr id="4" name="Shape 4"/>
          <p:cNvSpPr/>
          <p:nvPr/>
        </p:nvSpPr>
        <p:spPr>
          <a:xfrm>
            <a:off x="566928" y="1450000"/>
            <a:ext cx="3563112" cy="320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822960" y="1570000"/>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Qui</a:t>
            </a:r>
            <a:endParaRPr lang="fr-FR" sz="2000" dirty="0"/>
          </a:p>
        </p:txBody>
      </p:sp>
      <p:sp>
        <p:nvSpPr>
          <p:cNvPr id="6" name="Text 6"/>
          <p:cNvSpPr txBox="1"/>
          <p:nvPr/>
        </p:nvSpPr>
        <p:spPr>
          <a:xfrm>
            <a:off x="822960" y="2150000"/>
            <a:ext cx="3051048" cy="2420000"/>
          </a:xfrm>
          <a:prstGeom prst="rect">
            <a:avLst/>
          </a:prstGeom>
          <a:noFill/>
          <a:ln/>
        </p:spPr>
        <p:txBody>
          <a:bodyPr wrap="square" lIns="0" tIns="0" rIns="0" bIns="0" rtlCol="0" anchor="t"/>
          <a:lstStyle/>
          <a:p>
            <a:pPr marL="0" indent="0" algn="l">
              <a:lnSpc>
                <a:spcPct val="104000"/>
              </a:lnSpc>
              <a:spcAft>
                <a:spcPts val="600"/>
              </a:spcAft>
              <a:buNone/>
            </a:pPr>
            <a:r>
              <a:rPr lang="fr-FR" sz="1700" noProof="0" dirty="0">
                <a:solidFill>
                  <a:srgbClr val="23303F"/>
                </a:solidFill>
                <a:latin typeface="Calibri" pitchFamily="34" charset="0"/>
                <a:ea typeface="Calibri" pitchFamily="34" charset="-122"/>
                <a:cs typeface="Calibri" pitchFamily="34" charset="-120"/>
              </a:rPr>
              <a:t>Les femmes de 50 à 65 ans jamais dépistées, ou sans résultat négatif documenté aux âges prioritaires.</a:t>
            </a:r>
            <a:endParaRPr lang="fr-FR" sz="1700" dirty="0"/>
          </a:p>
        </p:txBody>
      </p:sp>
      <p:sp>
        <p:nvSpPr>
          <p:cNvPr id="7" name="Shape 7"/>
          <p:cNvSpPr/>
          <p:nvPr/>
        </p:nvSpPr>
        <p:spPr>
          <a:xfrm>
            <a:off x="4312920" y="1450000"/>
            <a:ext cx="3563112" cy="320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4568952" y="1570000"/>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Quel test</a:t>
            </a:r>
            <a:endParaRPr lang="fr-FR" sz="2000" dirty="0"/>
          </a:p>
        </p:txBody>
      </p:sp>
      <p:sp>
        <p:nvSpPr>
          <p:cNvPr id="9" name="Text 9"/>
          <p:cNvSpPr txBox="1"/>
          <p:nvPr/>
        </p:nvSpPr>
        <p:spPr>
          <a:xfrm>
            <a:off x="4568952" y="2150000"/>
            <a:ext cx="3051048" cy="2420000"/>
          </a:xfrm>
          <a:prstGeom prst="rect">
            <a:avLst/>
          </a:prstGeom>
          <a:noFill/>
          <a:ln/>
        </p:spPr>
        <p:txBody>
          <a:bodyPr wrap="square" lIns="0" tIns="0" rIns="0" bIns="0" rtlCol="0" anchor="t"/>
          <a:lstStyle/>
          <a:p>
            <a:pPr marL="0" indent="0" algn="l">
              <a:lnSpc>
                <a:spcPct val="104000"/>
              </a:lnSpc>
              <a:spcAft>
                <a:spcPts val="600"/>
              </a:spcAft>
              <a:buNone/>
            </a:pPr>
            <a:r>
              <a:rPr lang="fr-FR" sz="1700" noProof="0" dirty="0">
                <a:solidFill>
                  <a:srgbClr val="23303F"/>
                </a:solidFill>
                <a:latin typeface="Calibri" pitchFamily="34" charset="0"/>
                <a:ea typeface="Calibri" pitchFamily="34" charset="-122"/>
                <a:cs typeface="Calibri" pitchFamily="34" charset="-120"/>
              </a:rPr>
              <a:t>Frottis (cytologie). Si le frottis n'est pas disponible, utiliser la VIA.</a:t>
            </a:r>
            <a:endParaRPr lang="fr-FR" sz="1700" dirty="0"/>
          </a:p>
        </p:txBody>
      </p:sp>
      <p:sp>
        <p:nvSpPr>
          <p:cNvPr id="10" name="Shape 10"/>
          <p:cNvSpPr/>
          <p:nvPr/>
        </p:nvSpPr>
        <p:spPr>
          <a:xfrm>
            <a:off x="8058912" y="1450000"/>
            <a:ext cx="3563112" cy="320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1" name="Text 11"/>
          <p:cNvSpPr txBox="1"/>
          <p:nvPr/>
        </p:nvSpPr>
        <p:spPr>
          <a:xfrm>
            <a:off x="8314944" y="1570000"/>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À quoi s'attendre</a:t>
            </a:r>
            <a:endParaRPr lang="fr-FR" sz="2000" dirty="0"/>
          </a:p>
        </p:txBody>
      </p:sp>
      <p:sp>
        <p:nvSpPr>
          <p:cNvPr id="12" name="Text 12"/>
          <p:cNvSpPr txBox="1"/>
          <p:nvPr/>
        </p:nvSpPr>
        <p:spPr>
          <a:xfrm>
            <a:off x="8314944" y="2150000"/>
            <a:ext cx="3051048" cy="2420000"/>
          </a:xfrm>
          <a:prstGeom prst="rect">
            <a:avLst/>
          </a:prstGeom>
          <a:noFill/>
          <a:ln/>
        </p:spPr>
        <p:txBody>
          <a:bodyPr wrap="square" lIns="0" tIns="0" rIns="0" bIns="0" rtlCol="0" anchor="t"/>
          <a:lstStyle/>
          <a:p>
            <a:pPr marL="0" indent="0" algn="l">
              <a:lnSpc>
                <a:spcPct val="104000"/>
              </a:lnSpc>
              <a:spcAft>
                <a:spcPts val="600"/>
              </a:spcAft>
              <a:buNone/>
            </a:pPr>
            <a:r>
              <a:rPr lang="fr-FR" sz="1700" noProof="0" dirty="0">
                <a:solidFill>
                  <a:srgbClr val="23303F"/>
                </a:solidFill>
                <a:latin typeface="Calibri" pitchFamily="34" charset="0"/>
                <a:ea typeface="Calibri" pitchFamily="34" charset="-122"/>
                <a:cs typeface="Calibri" pitchFamily="34" charset="-120"/>
              </a:rPr>
              <a:t>Après la ménopause, la JSC est souvent dans le canal (type 3) : la VIA est moins fiable et l'ablation souvent inadaptée.</a:t>
            </a:r>
            <a:endParaRPr lang="fr-FR" sz="17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94</a:t>
            </a:r>
            <a:endParaRPr lang="fr-FR"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INTERACTIF</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Associez chaque femme à la bonne étape</a:t>
            </a:r>
          </a:p>
        </p:txBody>
      </p:sp>
      <p:sp>
        <p:nvSpPr>
          <p:cNvPr id="4" name="Text 4"/>
          <p:cNvSpPr txBox="1"/>
          <p:nvPr/>
        </p:nvSpPr>
        <p:spPr>
          <a:xfrm>
            <a:off x="566928" y="1517904"/>
            <a:ext cx="11055096" cy="365760"/>
          </a:xfrm>
          <a:prstGeom prst="rect">
            <a:avLst/>
          </a:prstGeom>
          <a:noFill/>
          <a:ln/>
        </p:spPr>
        <p:txBody>
          <a:bodyPr wrap="square" lIns="0" tIns="0" rIns="0" bIns="0" rtlCol="0" anchor="ctr"/>
          <a:lstStyle/>
          <a:p>
            <a:pPr marL="0" indent="0" algn="l">
              <a:buNone/>
            </a:pPr>
            <a:r>
              <a:rPr lang="fr-FR" sz="1800" noProof="0" dirty="0">
                <a:solidFill>
                  <a:srgbClr val="31507B"/>
                </a:solidFill>
                <a:latin typeface="Calibri" pitchFamily="34" charset="0"/>
                <a:ea typeface="Calibri" pitchFamily="34" charset="-122"/>
                <a:cs typeface="Calibri" pitchFamily="34" charset="-120"/>
              </a:rPr>
              <a:t>💬  Associez chaque résultat à gauche à la bonne étape à droite, puis sélectionnez Valider.</a:t>
            </a:r>
            <a:endParaRPr lang="fr-FR" sz="1800" dirty="0"/>
          </a:p>
        </p:txBody>
      </p:sp>
      <p:sp>
        <p:nvSpPr>
          <p:cNvPr id="5" name="Shape 5"/>
          <p:cNvSpPr/>
          <p:nvPr/>
        </p:nvSpPr>
        <p:spPr>
          <a:xfrm>
            <a:off x="566928" y="2011680"/>
            <a:ext cx="5074920" cy="74361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6" name="Text 6"/>
          <p:cNvSpPr txBox="1"/>
          <p:nvPr/>
        </p:nvSpPr>
        <p:spPr>
          <a:xfrm>
            <a:off x="786384" y="2011680"/>
            <a:ext cx="4636008" cy="74361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VIH négatif, HPV négatif</a:t>
            </a:r>
            <a:endParaRPr lang="fr-FR" sz="1600" dirty="0"/>
          </a:p>
        </p:txBody>
      </p:sp>
      <p:sp>
        <p:nvSpPr>
          <p:cNvPr id="7" name="Text 7"/>
          <p:cNvSpPr txBox="1"/>
          <p:nvPr/>
        </p:nvSpPr>
        <p:spPr>
          <a:xfrm>
            <a:off x="5641848" y="2011680"/>
            <a:ext cx="548640" cy="743610"/>
          </a:xfrm>
          <a:prstGeom prst="rect">
            <a:avLst/>
          </a:prstGeom>
          <a:noFill/>
          <a:ln/>
        </p:spPr>
        <p:txBody>
          <a:bodyPr wrap="square" lIns="0" tIns="0" rIns="0" bIns="0" rtlCol="0" anchor="ctr"/>
          <a:lstStyle/>
          <a:p>
            <a:pPr marL="0" indent="0" algn="l">
              <a:buNone/>
            </a:pPr>
            <a:r>
              <a:rPr lang="fr-FR" sz="1500" noProof="0" dirty="0">
                <a:solidFill>
                  <a:srgbClr val="000000"/>
                </a:solidFill>
                <a:latin typeface="Calibri" pitchFamily="34" charset="0"/>
                <a:ea typeface="Calibri" pitchFamily="34" charset="-122"/>
                <a:cs typeface="Calibri" pitchFamily="34" charset="-120"/>
              </a:rPr>
              <a:t>➡️</a:t>
            </a:r>
            <a:endParaRPr lang="fr-FR" sz="1500" dirty="0"/>
          </a:p>
        </p:txBody>
      </p:sp>
      <p:sp>
        <p:nvSpPr>
          <p:cNvPr id="8" name="Shape 8"/>
          <p:cNvSpPr/>
          <p:nvPr/>
        </p:nvSpPr>
        <p:spPr>
          <a:xfrm>
            <a:off x="6190488" y="2011680"/>
            <a:ext cx="5431536" cy="74361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9" name="Text 9"/>
          <p:cNvSpPr txBox="1"/>
          <p:nvPr/>
        </p:nvSpPr>
        <p:spPr>
          <a:xfrm>
            <a:off x="6409944" y="2011680"/>
            <a:ext cx="4992624" cy="74361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Nouveau test HPV après 10 ans</a:t>
            </a:r>
            <a:endParaRPr lang="fr-FR" sz="1600" dirty="0"/>
          </a:p>
        </p:txBody>
      </p:sp>
      <p:sp>
        <p:nvSpPr>
          <p:cNvPr id="10" name="Shape 10"/>
          <p:cNvSpPr/>
          <p:nvPr/>
        </p:nvSpPr>
        <p:spPr>
          <a:xfrm>
            <a:off x="566928" y="2859049"/>
            <a:ext cx="5074920" cy="74361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1" name="Text 11"/>
          <p:cNvSpPr txBox="1"/>
          <p:nvPr/>
        </p:nvSpPr>
        <p:spPr>
          <a:xfrm>
            <a:off x="786384" y="2859049"/>
            <a:ext cx="4636008" cy="74361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Vivant avec le VIH, HPV négatif</a:t>
            </a:r>
            <a:endParaRPr lang="fr-FR" sz="1600" dirty="0"/>
          </a:p>
        </p:txBody>
      </p:sp>
      <p:sp>
        <p:nvSpPr>
          <p:cNvPr id="12" name="Text 12"/>
          <p:cNvSpPr txBox="1"/>
          <p:nvPr/>
        </p:nvSpPr>
        <p:spPr>
          <a:xfrm>
            <a:off x="5641848" y="2859049"/>
            <a:ext cx="548640" cy="743610"/>
          </a:xfrm>
          <a:prstGeom prst="rect">
            <a:avLst/>
          </a:prstGeom>
          <a:noFill/>
          <a:ln/>
        </p:spPr>
        <p:txBody>
          <a:bodyPr wrap="square" lIns="0" tIns="0" rIns="0" bIns="0" rtlCol="0" anchor="ctr"/>
          <a:lstStyle/>
          <a:p>
            <a:pPr marL="0" indent="0" algn="l">
              <a:buNone/>
            </a:pPr>
            <a:r>
              <a:rPr lang="fr-FR" sz="1500" noProof="0" dirty="0">
                <a:solidFill>
                  <a:srgbClr val="000000"/>
                </a:solidFill>
                <a:latin typeface="Calibri" pitchFamily="34" charset="0"/>
                <a:ea typeface="Calibri" pitchFamily="34" charset="-122"/>
                <a:cs typeface="Calibri" pitchFamily="34" charset="-120"/>
              </a:rPr>
              <a:t>➡️</a:t>
            </a:r>
            <a:endParaRPr lang="fr-FR" sz="1500" dirty="0"/>
          </a:p>
        </p:txBody>
      </p:sp>
      <p:sp>
        <p:nvSpPr>
          <p:cNvPr id="13" name="Shape 13"/>
          <p:cNvSpPr/>
          <p:nvPr/>
        </p:nvSpPr>
        <p:spPr>
          <a:xfrm>
            <a:off x="6190488" y="2859049"/>
            <a:ext cx="5431536" cy="74361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4" name="Text 14"/>
          <p:cNvSpPr txBox="1"/>
          <p:nvPr/>
        </p:nvSpPr>
        <p:spPr>
          <a:xfrm>
            <a:off x="6409944" y="2859049"/>
            <a:ext cx="4992624" cy="74361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Nouveau test HPV après 5 ans</a:t>
            </a:r>
            <a:endParaRPr lang="fr-FR" sz="1600" dirty="0"/>
          </a:p>
        </p:txBody>
      </p:sp>
      <p:sp>
        <p:nvSpPr>
          <p:cNvPr id="15" name="Shape 15"/>
          <p:cNvSpPr/>
          <p:nvPr/>
        </p:nvSpPr>
        <p:spPr>
          <a:xfrm>
            <a:off x="566928" y="3706418"/>
            <a:ext cx="5074920" cy="74361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6" name="Text 16"/>
          <p:cNvSpPr txBox="1"/>
          <p:nvPr/>
        </p:nvSpPr>
        <p:spPr>
          <a:xfrm>
            <a:off x="786384" y="3706418"/>
            <a:ext cx="4636008" cy="74361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VIH négatif, autre type à haut risque, VIA négative</a:t>
            </a:r>
            <a:endParaRPr lang="fr-FR" sz="1600" dirty="0"/>
          </a:p>
        </p:txBody>
      </p:sp>
      <p:sp>
        <p:nvSpPr>
          <p:cNvPr id="17" name="Text 17"/>
          <p:cNvSpPr txBox="1"/>
          <p:nvPr/>
        </p:nvSpPr>
        <p:spPr>
          <a:xfrm>
            <a:off x="5641848" y="3706418"/>
            <a:ext cx="548640" cy="743610"/>
          </a:xfrm>
          <a:prstGeom prst="rect">
            <a:avLst/>
          </a:prstGeom>
          <a:noFill/>
          <a:ln/>
        </p:spPr>
        <p:txBody>
          <a:bodyPr wrap="square" lIns="0" tIns="0" rIns="0" bIns="0" rtlCol="0" anchor="ctr"/>
          <a:lstStyle/>
          <a:p>
            <a:pPr marL="0" indent="0" algn="l">
              <a:buNone/>
            </a:pPr>
            <a:r>
              <a:rPr lang="fr-FR" sz="1500" noProof="0" dirty="0">
                <a:solidFill>
                  <a:srgbClr val="000000"/>
                </a:solidFill>
                <a:latin typeface="Calibri" pitchFamily="34" charset="0"/>
                <a:ea typeface="Calibri" pitchFamily="34" charset="-122"/>
                <a:cs typeface="Calibri" pitchFamily="34" charset="-120"/>
              </a:rPr>
              <a:t>➡️</a:t>
            </a:r>
            <a:endParaRPr lang="fr-FR" sz="1500" dirty="0"/>
          </a:p>
        </p:txBody>
      </p:sp>
      <p:sp>
        <p:nvSpPr>
          <p:cNvPr id="18" name="Shape 18"/>
          <p:cNvSpPr/>
          <p:nvPr/>
        </p:nvSpPr>
        <p:spPr>
          <a:xfrm>
            <a:off x="6190488" y="3706418"/>
            <a:ext cx="5431536" cy="74361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9" name="Text 19"/>
          <p:cNvSpPr txBox="1"/>
          <p:nvPr/>
        </p:nvSpPr>
        <p:spPr>
          <a:xfrm>
            <a:off x="6409944" y="3706418"/>
            <a:ext cx="4992624" cy="74361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Nouveau test HPV après 2 ans</a:t>
            </a:r>
            <a:endParaRPr lang="fr-FR" sz="1600" dirty="0"/>
          </a:p>
        </p:txBody>
      </p:sp>
      <p:sp>
        <p:nvSpPr>
          <p:cNvPr id="20" name="Shape 20"/>
          <p:cNvSpPr/>
          <p:nvPr/>
        </p:nvSpPr>
        <p:spPr>
          <a:xfrm>
            <a:off x="566928" y="4553787"/>
            <a:ext cx="5074920" cy="74361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21" name="Text 21"/>
          <p:cNvSpPr txBox="1"/>
          <p:nvPr/>
        </p:nvSpPr>
        <p:spPr>
          <a:xfrm>
            <a:off x="786384" y="4553787"/>
            <a:ext cx="4636008" cy="74361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VIH négatif, HPV 16, VIA négative, ZT de type 1</a:t>
            </a:r>
            <a:endParaRPr lang="fr-FR" sz="1600" dirty="0"/>
          </a:p>
        </p:txBody>
      </p:sp>
      <p:sp>
        <p:nvSpPr>
          <p:cNvPr id="22" name="Text 22"/>
          <p:cNvSpPr txBox="1"/>
          <p:nvPr/>
        </p:nvSpPr>
        <p:spPr>
          <a:xfrm>
            <a:off x="5641848" y="4553787"/>
            <a:ext cx="548640" cy="743610"/>
          </a:xfrm>
          <a:prstGeom prst="rect">
            <a:avLst/>
          </a:prstGeom>
          <a:noFill/>
          <a:ln/>
        </p:spPr>
        <p:txBody>
          <a:bodyPr wrap="square" lIns="0" tIns="0" rIns="0" bIns="0" rtlCol="0" anchor="ctr"/>
          <a:lstStyle/>
          <a:p>
            <a:pPr marL="0" indent="0" algn="l">
              <a:buNone/>
            </a:pPr>
            <a:r>
              <a:rPr lang="fr-FR" sz="1500" noProof="0" dirty="0">
                <a:solidFill>
                  <a:srgbClr val="000000"/>
                </a:solidFill>
                <a:latin typeface="Calibri" pitchFamily="34" charset="0"/>
                <a:ea typeface="Calibri" pitchFamily="34" charset="-122"/>
                <a:cs typeface="Calibri" pitchFamily="34" charset="-120"/>
              </a:rPr>
              <a:t>➡️</a:t>
            </a:r>
            <a:endParaRPr lang="fr-FR" sz="1500" dirty="0"/>
          </a:p>
        </p:txBody>
      </p:sp>
      <p:sp>
        <p:nvSpPr>
          <p:cNvPr id="23" name="Shape 23"/>
          <p:cNvSpPr/>
          <p:nvPr/>
        </p:nvSpPr>
        <p:spPr>
          <a:xfrm>
            <a:off x="6190488" y="4553787"/>
            <a:ext cx="5431536" cy="74361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24" name="Text 24"/>
          <p:cNvSpPr txBox="1"/>
          <p:nvPr/>
        </p:nvSpPr>
        <p:spPr>
          <a:xfrm>
            <a:off x="6409944" y="4553787"/>
            <a:ext cx="4992624" cy="74361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Ablation thermique, si les autres critères sont remplis</a:t>
            </a:r>
            <a:endParaRPr lang="fr-FR" sz="1600" dirty="0"/>
          </a:p>
        </p:txBody>
      </p:sp>
      <p:sp>
        <p:nvSpPr>
          <p:cNvPr id="25" name="Shape 25"/>
          <p:cNvSpPr/>
          <p:nvPr/>
        </p:nvSpPr>
        <p:spPr>
          <a:xfrm>
            <a:off x="566928" y="5401156"/>
            <a:ext cx="5074920" cy="74361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26" name="Text 26"/>
          <p:cNvSpPr txBox="1"/>
          <p:nvPr/>
        </p:nvSpPr>
        <p:spPr>
          <a:xfrm>
            <a:off x="786384" y="5401156"/>
            <a:ext cx="4636008" cy="74361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VIA positive, lésion couvrant plus de 75 %</a:t>
            </a:r>
            <a:endParaRPr lang="fr-FR" sz="1600" dirty="0"/>
          </a:p>
        </p:txBody>
      </p:sp>
      <p:sp>
        <p:nvSpPr>
          <p:cNvPr id="27" name="Text 27"/>
          <p:cNvSpPr txBox="1"/>
          <p:nvPr/>
        </p:nvSpPr>
        <p:spPr>
          <a:xfrm>
            <a:off x="5641848" y="5401156"/>
            <a:ext cx="548640" cy="743610"/>
          </a:xfrm>
          <a:prstGeom prst="rect">
            <a:avLst/>
          </a:prstGeom>
          <a:noFill/>
          <a:ln/>
        </p:spPr>
        <p:txBody>
          <a:bodyPr wrap="square" lIns="0" tIns="0" rIns="0" bIns="0" rtlCol="0" anchor="ctr"/>
          <a:lstStyle/>
          <a:p>
            <a:pPr marL="0" indent="0" algn="l">
              <a:buNone/>
            </a:pPr>
            <a:r>
              <a:rPr lang="fr-FR" sz="1500" noProof="0" dirty="0">
                <a:solidFill>
                  <a:srgbClr val="000000"/>
                </a:solidFill>
                <a:latin typeface="Calibri" pitchFamily="34" charset="0"/>
                <a:ea typeface="Calibri" pitchFamily="34" charset="-122"/>
                <a:cs typeface="Calibri" pitchFamily="34" charset="-120"/>
              </a:rPr>
              <a:t>➡️</a:t>
            </a:r>
            <a:endParaRPr lang="fr-FR" sz="1500" dirty="0"/>
          </a:p>
        </p:txBody>
      </p:sp>
      <p:sp>
        <p:nvSpPr>
          <p:cNvPr id="28" name="Shape 28"/>
          <p:cNvSpPr/>
          <p:nvPr/>
        </p:nvSpPr>
        <p:spPr>
          <a:xfrm>
            <a:off x="6190488" y="5401156"/>
            <a:ext cx="5431536" cy="74361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29" name="Text 29"/>
          <p:cNvSpPr txBox="1"/>
          <p:nvPr/>
        </p:nvSpPr>
        <p:spPr>
          <a:xfrm>
            <a:off x="6409944" y="5401156"/>
            <a:ext cx="4992624" cy="743610"/>
          </a:xfrm>
          <a:prstGeom prst="rect">
            <a:avLst/>
          </a:prstGeom>
          <a:noFill/>
          <a:ln/>
        </p:spPr>
        <p:txBody>
          <a:bodyPr wrap="square" lIns="0" tIns="0" rIns="0" bIns="0" rtlCol="0" anchor="ctr"/>
          <a:lstStyle/>
          <a:p>
            <a:pPr marL="0" indent="0" algn="l">
              <a:buNone/>
            </a:pPr>
            <a:r>
              <a:rPr lang="fr-FR" sz="1600" noProof="0" dirty="0">
                <a:solidFill>
                  <a:srgbClr val="23303F"/>
                </a:solidFill>
                <a:latin typeface="Calibri" pitchFamily="34" charset="0"/>
                <a:ea typeface="Calibri" pitchFamily="34" charset="-122"/>
                <a:cs typeface="Calibri" pitchFamily="34" charset="-120"/>
              </a:rPr>
              <a:t>Orienter pour une LEEP à l'hôpital de district</a:t>
            </a:r>
            <a:endParaRPr lang="fr-FR" sz="1600" dirty="0"/>
          </a:p>
        </p:txBody>
      </p:sp>
      <p:sp>
        <p:nvSpPr>
          <p:cNvPr id="30" name="Text 3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31" name="Text 3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95</a:t>
            </a:r>
            <a:endParaRPr lang="fr-FR"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INTERACTIF</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Quelle suite pour Aline ?</a:t>
            </a:r>
          </a:p>
        </p:txBody>
      </p:sp>
      <p:sp>
        <p:nvSpPr>
          <p:cNvPr id="4" name="Text 4"/>
          <p:cNvSpPr txBox="1"/>
          <p:nvPr/>
        </p:nvSpPr>
        <p:spPr>
          <a:xfrm>
            <a:off x="566928" y="1540000"/>
            <a:ext cx="11055096" cy="900000"/>
          </a:xfrm>
          <a:prstGeom prst="rect">
            <a:avLst/>
          </a:prstGeom>
          <a:noFill/>
          <a:ln/>
        </p:spPr>
        <p:txBody>
          <a:bodyPr wrap="square" lIns="0" tIns="0" rIns="0" bIns="0" rtlCol="0" anchor="ctr"/>
          <a:lstStyle/>
          <a:p>
            <a:pPr marL="0" indent="0" algn="l">
              <a:buNone/>
            </a:pPr>
            <a:r>
              <a:rPr lang="fr-FR" sz="1800" b="1" noProof="0" dirty="0">
                <a:solidFill>
                  <a:srgbClr val="23303F"/>
                </a:solidFill>
                <a:latin typeface="Calibri" pitchFamily="34" charset="0"/>
                <a:ea typeface="Calibri" pitchFamily="34" charset="-122"/>
                <a:cs typeface="Calibri" pitchFamily="34" charset="-120"/>
              </a:rPr>
              <a:t>Mukeshimana Aline a 34 ans et vit avec le VIH. Son test HPV montre un type à haut risque autre que 16 ou 18. La VIA est négative et la zone de transformation est de type 1. Quelle est l'étape suivante ?</a:t>
            </a:r>
            <a:endParaRPr lang="fr-FR" sz="1800" dirty="0"/>
          </a:p>
        </p:txBody>
      </p:sp>
      <p:sp>
        <p:nvSpPr>
          <p:cNvPr id="5" name="Shape 5"/>
          <p:cNvSpPr/>
          <p:nvPr/>
        </p:nvSpPr>
        <p:spPr>
          <a:xfrm>
            <a:off x="566928" y="2530000"/>
            <a:ext cx="11055096" cy="48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6" name="Text 6"/>
          <p:cNvSpPr txBox="1"/>
          <p:nvPr/>
        </p:nvSpPr>
        <p:spPr>
          <a:xfrm>
            <a:off x="841248" y="2530000"/>
            <a:ext cx="10506456" cy="480000"/>
          </a:xfrm>
          <a:prstGeom prst="rect">
            <a:avLst/>
          </a:prstGeom>
          <a:noFill/>
          <a:ln/>
        </p:spPr>
        <p:txBody>
          <a:bodyPr wrap="square" lIns="0" tIns="0" rIns="0" bIns="0" rtlCol="0" anchor="ctr"/>
          <a:lstStyle/>
          <a:p>
            <a:pPr marL="0" indent="0">
              <a:buNone/>
            </a:pPr>
            <a:r>
              <a:rPr lang="fr-FR" sz="1700" b="1" noProof="0" dirty="0">
                <a:solidFill>
                  <a:srgbClr val="19543E"/>
                </a:solidFill>
                <a:latin typeface="Calibri" pitchFamily="34" charset="0"/>
                <a:ea typeface="Calibri" pitchFamily="34" charset="-122"/>
                <a:cs typeface="Calibri" pitchFamily="34" charset="-120"/>
              </a:rPr>
              <a:t>A   </a:t>
            </a:r>
            <a:r>
              <a:rPr lang="fr-FR" sz="1700" noProof="0" dirty="0">
                <a:solidFill>
                  <a:srgbClr val="23303F"/>
                </a:solidFill>
                <a:latin typeface="Calibri" pitchFamily="34" charset="0"/>
                <a:ea typeface="Calibri" pitchFamily="34" charset="-122"/>
                <a:cs typeface="Calibri" pitchFamily="34" charset="-120"/>
              </a:rPr>
              <a:t>Proposer une ablation thermique, si les autres critères d'éligibilité sont remplis</a:t>
            </a:r>
            <a:r>
              <a:rPr lang="fr-FR" sz="1700" noProof="0" dirty="0">
                <a:solidFill>
                  <a:srgbClr val="000000"/>
                </a:solidFill>
                <a:latin typeface="Calibri" pitchFamily="34" charset="0"/>
                <a:ea typeface="Calibri" pitchFamily="34" charset="-122"/>
                <a:cs typeface="Calibri" pitchFamily="34" charset="-120"/>
              </a:rPr>
              <a:t>   ✅</a:t>
            </a:r>
            <a:endParaRPr lang="fr-FR" sz="1700" noProof="0" dirty="0"/>
          </a:p>
        </p:txBody>
      </p:sp>
      <p:sp>
        <p:nvSpPr>
          <p:cNvPr id="7" name="Shape 7"/>
          <p:cNvSpPr/>
          <p:nvPr/>
        </p:nvSpPr>
        <p:spPr>
          <a:xfrm>
            <a:off x="566928" y="3080000"/>
            <a:ext cx="11055096" cy="4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841248" y="3080000"/>
            <a:ext cx="10506456" cy="480000"/>
          </a:xfrm>
          <a:prstGeom prst="rect">
            <a:avLst/>
          </a:prstGeom>
          <a:noFill/>
          <a:ln/>
        </p:spPr>
        <p:txBody>
          <a:bodyPr wrap="square" lIns="0" tIns="0" rIns="0" bIns="0" rtlCol="0" anchor="ctr"/>
          <a:lstStyle/>
          <a:p>
            <a:pPr marL="0" indent="0">
              <a:buNone/>
            </a:pPr>
            <a:r>
              <a:rPr lang="fr-FR" sz="1700" b="1" noProof="0" dirty="0">
                <a:solidFill>
                  <a:srgbClr val="1F4E96"/>
                </a:solidFill>
                <a:latin typeface="Calibri" pitchFamily="34" charset="0"/>
                <a:ea typeface="Calibri" pitchFamily="34" charset="-122"/>
                <a:cs typeface="Calibri" pitchFamily="34" charset="-120"/>
              </a:rPr>
              <a:t>B   </a:t>
            </a:r>
            <a:r>
              <a:rPr lang="fr-FR" sz="1700" noProof="0" dirty="0">
                <a:solidFill>
                  <a:srgbClr val="23303F"/>
                </a:solidFill>
                <a:latin typeface="Calibri" pitchFamily="34" charset="0"/>
                <a:ea typeface="Calibri" pitchFamily="34" charset="-122"/>
                <a:cs typeface="Calibri" pitchFamily="34" charset="-120"/>
              </a:rPr>
              <a:t>Nouveau test HPV dans 2 ans</a:t>
            </a:r>
            <a:endParaRPr lang="fr-FR" sz="1700" noProof="0" dirty="0"/>
          </a:p>
        </p:txBody>
      </p:sp>
      <p:sp>
        <p:nvSpPr>
          <p:cNvPr id="9" name="Shape 9"/>
          <p:cNvSpPr/>
          <p:nvPr/>
        </p:nvSpPr>
        <p:spPr>
          <a:xfrm>
            <a:off x="566928" y="3630000"/>
            <a:ext cx="11055096" cy="4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0" name="Text 10"/>
          <p:cNvSpPr txBox="1"/>
          <p:nvPr/>
        </p:nvSpPr>
        <p:spPr>
          <a:xfrm>
            <a:off x="841248" y="3630000"/>
            <a:ext cx="10506456" cy="480000"/>
          </a:xfrm>
          <a:prstGeom prst="rect">
            <a:avLst/>
          </a:prstGeom>
          <a:noFill/>
          <a:ln/>
        </p:spPr>
        <p:txBody>
          <a:bodyPr wrap="square" lIns="0" tIns="0" rIns="0" bIns="0" rtlCol="0" anchor="ctr"/>
          <a:lstStyle/>
          <a:p>
            <a:pPr marL="0" indent="0">
              <a:buNone/>
            </a:pPr>
            <a:r>
              <a:rPr lang="fr-FR" sz="1700" b="1" noProof="0" dirty="0">
                <a:solidFill>
                  <a:srgbClr val="1F4E96"/>
                </a:solidFill>
                <a:latin typeface="Calibri" pitchFamily="34" charset="0"/>
                <a:ea typeface="Calibri" pitchFamily="34" charset="-122"/>
                <a:cs typeface="Calibri" pitchFamily="34" charset="-120"/>
              </a:rPr>
              <a:t>C   </a:t>
            </a:r>
            <a:r>
              <a:rPr lang="fr-FR" sz="1700" noProof="0" dirty="0">
                <a:solidFill>
                  <a:srgbClr val="23303F"/>
                </a:solidFill>
                <a:latin typeface="Calibri" pitchFamily="34" charset="0"/>
                <a:ea typeface="Calibri" pitchFamily="34" charset="-122"/>
                <a:cs typeface="Calibri" pitchFamily="34" charset="-120"/>
              </a:rPr>
              <a:t>Orienter pour une LEEP</a:t>
            </a:r>
            <a:endParaRPr lang="fr-FR" sz="1700" noProof="0" dirty="0"/>
          </a:p>
        </p:txBody>
      </p:sp>
      <p:sp>
        <p:nvSpPr>
          <p:cNvPr id="11" name="Shape 11"/>
          <p:cNvSpPr/>
          <p:nvPr/>
        </p:nvSpPr>
        <p:spPr>
          <a:xfrm>
            <a:off x="566928" y="4180000"/>
            <a:ext cx="11055096" cy="4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2" name="Text 12"/>
          <p:cNvSpPr txBox="1"/>
          <p:nvPr/>
        </p:nvSpPr>
        <p:spPr>
          <a:xfrm>
            <a:off x="841248" y="4180000"/>
            <a:ext cx="10506456" cy="480000"/>
          </a:xfrm>
          <a:prstGeom prst="rect">
            <a:avLst/>
          </a:prstGeom>
          <a:noFill/>
          <a:ln/>
        </p:spPr>
        <p:txBody>
          <a:bodyPr wrap="square" lIns="0" tIns="0" rIns="0" bIns="0" rtlCol="0" anchor="ctr"/>
          <a:lstStyle/>
          <a:p>
            <a:pPr marL="0" indent="0">
              <a:buNone/>
            </a:pPr>
            <a:r>
              <a:rPr lang="fr-FR" sz="1700" b="1" noProof="0" dirty="0">
                <a:solidFill>
                  <a:srgbClr val="1F4E96"/>
                </a:solidFill>
                <a:latin typeface="Calibri" pitchFamily="34" charset="0"/>
                <a:ea typeface="Calibri" pitchFamily="34" charset="-122"/>
                <a:cs typeface="Calibri" pitchFamily="34" charset="-120"/>
              </a:rPr>
              <a:t>D   </a:t>
            </a:r>
            <a:r>
              <a:rPr lang="fr-FR" sz="1700" noProof="0" dirty="0">
                <a:solidFill>
                  <a:srgbClr val="23303F"/>
                </a:solidFill>
                <a:latin typeface="Calibri" pitchFamily="34" charset="0"/>
                <a:ea typeface="Calibri" pitchFamily="34" charset="-122"/>
                <a:cs typeface="Calibri" pitchFamily="34" charset="-120"/>
              </a:rPr>
              <a:t>La rassurer et refaire le dépistage dans 5 ans</a:t>
            </a:r>
            <a:endParaRPr lang="fr-FR" sz="1700" noProof="0" dirty="0"/>
          </a:p>
        </p:txBody>
      </p:sp>
      <p:sp>
        <p:nvSpPr>
          <p:cNvPr id="13" name="Shape 13"/>
          <p:cNvSpPr/>
          <p:nvPr/>
        </p:nvSpPr>
        <p:spPr>
          <a:xfrm>
            <a:off x="566928" y="4790000"/>
            <a:ext cx="11055096" cy="146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4" name="Text 14"/>
          <p:cNvSpPr txBox="1"/>
          <p:nvPr/>
        </p:nvSpPr>
        <p:spPr>
          <a:xfrm>
            <a:off x="841248" y="4840000"/>
            <a:ext cx="10506456" cy="1360000"/>
          </a:xfrm>
          <a:prstGeom prst="rect">
            <a:avLst/>
          </a:prstGeom>
          <a:noFill/>
          <a:ln/>
        </p:spPr>
        <p:txBody>
          <a:bodyPr wrap="square" lIns="0" tIns="0" rIns="0" bIns="0" rtlCol="0" anchor="ctr"/>
          <a:lstStyle/>
          <a:p>
            <a:pPr marL="0" indent="0" algn="l">
              <a:buNone/>
            </a:pPr>
            <a:r>
              <a:rPr lang="fr-FR" sz="1600" b="1" noProof="0" dirty="0">
                <a:solidFill>
                  <a:srgbClr val="19543E"/>
                </a:solidFill>
                <a:latin typeface="Calibri" pitchFamily="34" charset="0"/>
                <a:ea typeface="Calibri" pitchFamily="34" charset="-122"/>
                <a:cs typeface="Calibri" pitchFamily="34" charset="-120"/>
              </a:rPr>
              <a:t>Bonne réponse : A</a:t>
            </a:r>
            <a:endParaRPr lang="fr-FR" sz="1600" dirty="0"/>
          </a:p>
          <a:p>
            <a:pPr marL="0" indent="0" algn="l">
              <a:buNone/>
            </a:pPr>
            <a:r>
              <a:rPr lang="fr-FR" sz="1600" b="1" noProof="0" dirty="0">
                <a:solidFill>
                  <a:srgbClr val="19543E"/>
                </a:solidFill>
                <a:latin typeface="Calibri" pitchFamily="34" charset="0"/>
                <a:ea typeface="Calibri" pitchFamily="34" charset="-122"/>
                <a:cs typeface="Calibri" pitchFamily="34" charset="-120"/>
              </a:rPr>
              <a:t>Retour : </a:t>
            </a:r>
            <a:r>
              <a:rPr lang="fr-FR" sz="1600" noProof="0" dirty="0">
                <a:solidFill>
                  <a:srgbClr val="23303F"/>
                </a:solidFill>
                <a:latin typeface="Calibri" pitchFamily="34" charset="0"/>
                <a:ea typeface="Calibri" pitchFamily="34" charset="-122"/>
                <a:cs typeface="Calibri" pitchFamily="34" charset="-120"/>
              </a:rPr>
              <a:t>Chez les femmes vivant avec le VIH, un HPV à haut risque positif est traité même si la VIA est négative, car la persistance et la progression sont plus probables. Avec une zone de transformation de type 1, l'ablation thermique est appropriée. Le nouveau test à 2 ans ne concerne que les femmes VIH négatives avec d'autres types à haut risque.</a:t>
            </a:r>
            <a:endParaRPr lang="fr-FR" sz="16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96</a:t>
            </a:r>
            <a:endParaRPr lang="fr-FR"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INTERACTIF</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Associez la découverte à l'étape suivante</a:t>
            </a:r>
            <a:endParaRPr lang="fr-FR"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 Associez chaque découverte à gauche à la bonne étape suivante à droite, puis sélectionnez Envoyer.</a:t>
            </a:r>
            <a:endParaRPr lang="fr-FR" sz="1800" noProof="0" dirty="0"/>
          </a:p>
        </p:txBody>
      </p:sp>
      <p:sp>
        <p:nvSpPr>
          <p:cNvPr id="7" name="Shape 5"/>
          <p:cNvSpPr/>
          <p:nvPr/>
        </p:nvSpPr>
        <p:spPr>
          <a:xfrm>
            <a:off x="566928" y="2011680"/>
            <a:ext cx="5074920" cy="743610"/>
          </a:xfrm>
          <a:prstGeom prst="roundRect">
            <a:avLst>
              <a:gd name="adj" fmla="val 7378"/>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786384" y="2011680"/>
            <a:ext cx="4636008" cy="743610"/>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Une femme en bonne santé devant un dépistage de routine</a:t>
            </a:r>
            <a:endParaRPr lang="fr-FR" sz="1800" noProof="0" dirty="0"/>
          </a:p>
        </p:txBody>
      </p:sp>
      <p:sp>
        <p:nvSpPr>
          <p:cNvPr id="9" name="Text 7"/>
          <p:cNvSpPr txBox="1"/>
          <p:nvPr/>
        </p:nvSpPr>
        <p:spPr>
          <a:xfrm>
            <a:off x="5641848" y="2011680"/>
            <a:ext cx="548640" cy="743610"/>
          </a:xfrm>
          <a:prstGeom prst="rect">
            <a:avLst/>
          </a:prstGeom>
          <a:noFill/>
          <a:ln/>
        </p:spPr>
        <p:txBody>
          <a:bodyPr wrap="square" lIns="0" tIns="0" rIns="0" bIns="0" rtlCol="0" anchor="ctr"/>
          <a:lstStyle/>
          <a:p>
            <a:pPr marL="0" indent="0" algn="ctr">
              <a:buNone/>
            </a:pPr>
            <a:r>
              <a:rPr lang="fr-FR" sz="1500" noProof="0" dirty="0">
                <a:solidFill>
                  <a:srgbClr val="000000"/>
                </a:solidFill>
                <a:latin typeface="Calibri" pitchFamily="34" charset="0"/>
                <a:ea typeface="Calibri" pitchFamily="34" charset="-122"/>
                <a:cs typeface="Calibri" pitchFamily="34" charset="-120"/>
              </a:rPr>
              <a:t>➡️</a:t>
            </a:r>
            <a:endParaRPr lang="fr-FR" sz="1500" noProof="0" dirty="0"/>
          </a:p>
        </p:txBody>
      </p:sp>
      <p:sp>
        <p:nvSpPr>
          <p:cNvPr id="10" name="Shape 8"/>
          <p:cNvSpPr/>
          <p:nvPr/>
        </p:nvSpPr>
        <p:spPr>
          <a:xfrm>
            <a:off x="6190488" y="2011680"/>
            <a:ext cx="5431536" cy="743610"/>
          </a:xfrm>
          <a:prstGeom prst="roundRect">
            <a:avLst>
              <a:gd name="adj" fmla="val 7378"/>
            </a:avLst>
          </a:prstGeom>
          <a:solidFill>
            <a:srgbClr val="EAF7F0"/>
          </a:solidFill>
          <a:ln w="12700">
            <a:solidFill>
              <a:srgbClr val="C0D4CB"/>
            </a:solidFill>
            <a:prstDash val="solid"/>
          </a:ln>
        </p:spPr>
        <p:txBody>
          <a:bodyPr/>
          <a:lstStyle/>
          <a:p>
            <a:endParaRPr lang="fr-FR" noProof="0" dirty="0"/>
          </a:p>
        </p:txBody>
      </p:sp>
      <p:sp>
        <p:nvSpPr>
          <p:cNvPr id="11" name="Text 9"/>
          <p:cNvSpPr txBox="1"/>
          <p:nvPr/>
        </p:nvSpPr>
        <p:spPr>
          <a:xfrm>
            <a:off x="6409944" y="2011680"/>
            <a:ext cx="4992624" cy="743610"/>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Proposez un dépistage et expliquez ce que le test peut ou ne peut pas faire</a:t>
            </a:r>
            <a:endParaRPr lang="fr-FR" sz="1800" noProof="0" dirty="0"/>
          </a:p>
        </p:txBody>
      </p:sp>
      <p:sp>
        <p:nvSpPr>
          <p:cNvPr id="12" name="Shape 10"/>
          <p:cNvSpPr/>
          <p:nvPr/>
        </p:nvSpPr>
        <p:spPr>
          <a:xfrm>
            <a:off x="566928" y="2859050"/>
            <a:ext cx="5074920" cy="743610"/>
          </a:xfrm>
          <a:prstGeom prst="roundRect">
            <a:avLst>
              <a:gd name="adj" fmla="val 737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2859050"/>
            <a:ext cx="4636008" cy="743610"/>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Test HPV positif, aucun symptôme</a:t>
            </a:r>
            <a:endParaRPr lang="fr-FR" sz="1800" noProof="0" dirty="0"/>
          </a:p>
        </p:txBody>
      </p:sp>
      <p:sp>
        <p:nvSpPr>
          <p:cNvPr id="14" name="Text 12"/>
          <p:cNvSpPr txBox="1"/>
          <p:nvPr/>
        </p:nvSpPr>
        <p:spPr>
          <a:xfrm>
            <a:off x="5641848" y="2859050"/>
            <a:ext cx="548640" cy="743610"/>
          </a:xfrm>
          <a:prstGeom prst="rect">
            <a:avLst/>
          </a:prstGeom>
          <a:noFill/>
          <a:ln/>
        </p:spPr>
        <p:txBody>
          <a:bodyPr wrap="square" lIns="0" tIns="0" rIns="0" bIns="0" rtlCol="0" anchor="ctr"/>
          <a:lstStyle/>
          <a:p>
            <a:pPr marL="0" indent="0" algn="ctr">
              <a:buNone/>
            </a:pPr>
            <a:r>
              <a:rPr lang="fr-FR" sz="1500" noProof="0" dirty="0">
                <a:solidFill>
                  <a:srgbClr val="000000"/>
                </a:solidFill>
                <a:latin typeface="Calibri" pitchFamily="34" charset="0"/>
                <a:ea typeface="Calibri" pitchFamily="34" charset="-122"/>
                <a:cs typeface="Calibri" pitchFamily="34" charset="-120"/>
              </a:rPr>
              <a:t>➡️</a:t>
            </a:r>
            <a:endParaRPr lang="fr-FR" sz="1500" noProof="0" dirty="0"/>
          </a:p>
        </p:txBody>
      </p:sp>
      <p:sp>
        <p:nvSpPr>
          <p:cNvPr id="15" name="Shape 13"/>
          <p:cNvSpPr/>
          <p:nvPr/>
        </p:nvSpPr>
        <p:spPr>
          <a:xfrm>
            <a:off x="6190488" y="2859050"/>
            <a:ext cx="5431536" cy="743610"/>
          </a:xfrm>
          <a:prstGeom prst="roundRect">
            <a:avLst>
              <a:gd name="adj" fmla="val 7378"/>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6409944" y="2859050"/>
            <a:ext cx="4992624" cy="743610"/>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Évaluation complémentaire du col de l'utérus, expliquant que le cancer n'est pas confirmé</a:t>
            </a:r>
            <a:endParaRPr lang="fr-FR" sz="1800" noProof="0" dirty="0"/>
          </a:p>
        </p:txBody>
      </p:sp>
      <p:sp>
        <p:nvSpPr>
          <p:cNvPr id="17" name="Shape 15"/>
          <p:cNvSpPr/>
          <p:nvPr/>
        </p:nvSpPr>
        <p:spPr>
          <a:xfrm>
            <a:off x="566928" y="3706419"/>
            <a:ext cx="5074920" cy="743610"/>
          </a:xfrm>
          <a:prstGeom prst="roundRect">
            <a:avLst>
              <a:gd name="adj" fmla="val 7378"/>
            </a:avLst>
          </a:prstGeom>
          <a:solidFill>
            <a:srgbClr val="F3F6FB"/>
          </a:solidFill>
          <a:ln w="12700">
            <a:solidFill>
              <a:srgbClr val="E0E3EA"/>
            </a:solidFill>
            <a:prstDash val="solid"/>
          </a:ln>
        </p:spPr>
        <p:txBody>
          <a:bodyPr/>
          <a:lstStyle/>
          <a:p>
            <a:endParaRPr lang="fr-FR" noProof="0" dirty="0"/>
          </a:p>
        </p:txBody>
      </p:sp>
      <p:sp>
        <p:nvSpPr>
          <p:cNvPr id="18" name="Text 16"/>
          <p:cNvSpPr txBox="1"/>
          <p:nvPr/>
        </p:nvSpPr>
        <p:spPr>
          <a:xfrm>
            <a:off x="786384" y="3706419"/>
            <a:ext cx="4636008" cy="743610"/>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Lésion précancéreuse éligible observée</a:t>
            </a:r>
            <a:endParaRPr lang="fr-FR" sz="1800" noProof="0" dirty="0"/>
          </a:p>
        </p:txBody>
      </p:sp>
      <p:sp>
        <p:nvSpPr>
          <p:cNvPr id="19" name="Text 17"/>
          <p:cNvSpPr txBox="1"/>
          <p:nvPr/>
        </p:nvSpPr>
        <p:spPr>
          <a:xfrm>
            <a:off x="5641848" y="3706419"/>
            <a:ext cx="548640" cy="743610"/>
          </a:xfrm>
          <a:prstGeom prst="rect">
            <a:avLst/>
          </a:prstGeom>
          <a:noFill/>
          <a:ln/>
        </p:spPr>
        <p:txBody>
          <a:bodyPr wrap="square" lIns="0" tIns="0" rIns="0" bIns="0" rtlCol="0" anchor="ctr"/>
          <a:lstStyle/>
          <a:p>
            <a:pPr marL="0" indent="0" algn="ctr">
              <a:buNone/>
            </a:pPr>
            <a:r>
              <a:rPr lang="fr-FR" sz="1500" noProof="0" dirty="0">
                <a:solidFill>
                  <a:srgbClr val="000000"/>
                </a:solidFill>
                <a:latin typeface="Calibri" pitchFamily="34" charset="0"/>
                <a:ea typeface="Calibri" pitchFamily="34" charset="-122"/>
                <a:cs typeface="Calibri" pitchFamily="34" charset="-120"/>
              </a:rPr>
              <a:t>➡️</a:t>
            </a:r>
            <a:endParaRPr lang="fr-FR" sz="1500" noProof="0" dirty="0"/>
          </a:p>
        </p:txBody>
      </p:sp>
      <p:sp>
        <p:nvSpPr>
          <p:cNvPr id="20" name="Shape 18"/>
          <p:cNvSpPr/>
          <p:nvPr/>
        </p:nvSpPr>
        <p:spPr>
          <a:xfrm>
            <a:off x="6190488" y="3706419"/>
            <a:ext cx="5431536" cy="743610"/>
          </a:xfrm>
          <a:prstGeom prst="roundRect">
            <a:avLst>
              <a:gd name="adj" fmla="val 7378"/>
            </a:avLst>
          </a:prstGeom>
          <a:solidFill>
            <a:srgbClr val="EAF7F0"/>
          </a:solidFill>
          <a:ln w="12700">
            <a:solidFill>
              <a:srgbClr val="C0D4CB"/>
            </a:solidFill>
            <a:prstDash val="solid"/>
          </a:ln>
        </p:spPr>
        <p:txBody>
          <a:bodyPr/>
          <a:lstStyle/>
          <a:p>
            <a:endParaRPr lang="fr-FR" noProof="0" dirty="0"/>
          </a:p>
        </p:txBody>
      </p:sp>
      <p:sp>
        <p:nvSpPr>
          <p:cNvPr id="21" name="Text 19"/>
          <p:cNvSpPr txBox="1"/>
          <p:nvPr/>
        </p:nvSpPr>
        <p:spPr>
          <a:xfrm>
            <a:off x="6409944" y="3706419"/>
            <a:ext cx="4992624" cy="743610"/>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Traitez la lésion et prenez rendez-vous pour un test de suivi</a:t>
            </a:r>
            <a:endParaRPr lang="fr-FR" sz="1800" noProof="0" dirty="0"/>
          </a:p>
        </p:txBody>
      </p:sp>
      <p:sp>
        <p:nvSpPr>
          <p:cNvPr id="22" name="Shape 20"/>
          <p:cNvSpPr/>
          <p:nvPr/>
        </p:nvSpPr>
        <p:spPr>
          <a:xfrm>
            <a:off x="566928" y="4553789"/>
            <a:ext cx="5074920" cy="743610"/>
          </a:xfrm>
          <a:prstGeom prst="roundRect">
            <a:avLst>
              <a:gd name="adj" fmla="val 7378"/>
            </a:avLst>
          </a:prstGeom>
          <a:solidFill>
            <a:srgbClr val="F3F6FB"/>
          </a:solidFill>
          <a:ln w="12700">
            <a:solidFill>
              <a:srgbClr val="E0E3EA"/>
            </a:solidFill>
            <a:prstDash val="solid"/>
          </a:ln>
        </p:spPr>
        <p:txBody>
          <a:bodyPr/>
          <a:lstStyle/>
          <a:p>
            <a:endParaRPr lang="fr-FR" noProof="0" dirty="0"/>
          </a:p>
        </p:txBody>
      </p:sp>
      <p:sp>
        <p:nvSpPr>
          <p:cNvPr id="23" name="Text 21"/>
          <p:cNvSpPr txBox="1"/>
          <p:nvPr/>
        </p:nvSpPr>
        <p:spPr>
          <a:xfrm>
            <a:off x="786384" y="4553789"/>
            <a:ext cx="4636008" cy="743610"/>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Lésion s'étendant dans le canal cervical</a:t>
            </a:r>
            <a:endParaRPr lang="fr-FR" sz="1800" noProof="0" dirty="0"/>
          </a:p>
        </p:txBody>
      </p:sp>
      <p:sp>
        <p:nvSpPr>
          <p:cNvPr id="24" name="Text 22"/>
          <p:cNvSpPr txBox="1"/>
          <p:nvPr/>
        </p:nvSpPr>
        <p:spPr>
          <a:xfrm>
            <a:off x="5641848" y="4553789"/>
            <a:ext cx="548640" cy="743610"/>
          </a:xfrm>
          <a:prstGeom prst="rect">
            <a:avLst/>
          </a:prstGeom>
          <a:noFill/>
          <a:ln/>
        </p:spPr>
        <p:txBody>
          <a:bodyPr wrap="square" lIns="0" tIns="0" rIns="0" bIns="0" rtlCol="0" anchor="ctr"/>
          <a:lstStyle/>
          <a:p>
            <a:pPr marL="0" indent="0" algn="ctr">
              <a:buNone/>
            </a:pPr>
            <a:r>
              <a:rPr lang="fr-FR" sz="1500" noProof="0" dirty="0">
                <a:solidFill>
                  <a:srgbClr val="000000"/>
                </a:solidFill>
                <a:latin typeface="Calibri" pitchFamily="34" charset="0"/>
                <a:ea typeface="Calibri" pitchFamily="34" charset="-122"/>
                <a:cs typeface="Calibri" pitchFamily="34" charset="-120"/>
              </a:rPr>
              <a:t>➡️</a:t>
            </a:r>
            <a:endParaRPr lang="fr-FR" sz="1500" noProof="0" dirty="0"/>
          </a:p>
        </p:txBody>
      </p:sp>
      <p:sp>
        <p:nvSpPr>
          <p:cNvPr id="25" name="Shape 23"/>
          <p:cNvSpPr/>
          <p:nvPr/>
        </p:nvSpPr>
        <p:spPr>
          <a:xfrm>
            <a:off x="6190488" y="4553789"/>
            <a:ext cx="5431536" cy="743610"/>
          </a:xfrm>
          <a:prstGeom prst="roundRect">
            <a:avLst>
              <a:gd name="adj" fmla="val 7378"/>
            </a:avLst>
          </a:prstGeom>
          <a:solidFill>
            <a:srgbClr val="EAF7F0"/>
          </a:solidFill>
          <a:ln w="12700">
            <a:solidFill>
              <a:srgbClr val="C0D4CB"/>
            </a:solidFill>
            <a:prstDash val="solid"/>
          </a:ln>
        </p:spPr>
        <p:txBody>
          <a:bodyPr/>
          <a:lstStyle/>
          <a:p>
            <a:endParaRPr lang="fr-FR" noProof="0" dirty="0"/>
          </a:p>
        </p:txBody>
      </p:sp>
      <p:sp>
        <p:nvSpPr>
          <p:cNvPr id="26" name="Text 24"/>
          <p:cNvSpPr txBox="1"/>
          <p:nvPr/>
        </p:nvSpPr>
        <p:spPr>
          <a:xfrm>
            <a:off x="6409944" y="4553789"/>
            <a:ext cx="4992624" cy="743610"/>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Orientez-la vers un traitement </a:t>
            </a:r>
            <a:r>
              <a:rPr lang="fr-FR" sz="1800" noProof="0" dirty="0" err="1">
                <a:solidFill>
                  <a:srgbClr val="23303F"/>
                </a:solidFill>
                <a:latin typeface="Calibri" pitchFamily="34" charset="0"/>
                <a:ea typeface="Calibri" pitchFamily="34" charset="-122"/>
                <a:cs typeface="Calibri" pitchFamily="34" charset="-120"/>
              </a:rPr>
              <a:t>excisionnel</a:t>
            </a:r>
            <a:r>
              <a:rPr lang="fr-FR" sz="1800" noProof="0" dirty="0">
                <a:solidFill>
                  <a:srgbClr val="23303F"/>
                </a:solidFill>
                <a:latin typeface="Calibri" pitchFamily="34" charset="0"/>
                <a:ea typeface="Calibri" pitchFamily="34" charset="-122"/>
                <a:cs typeface="Calibri" pitchFamily="34" charset="-120"/>
              </a:rPr>
              <a:t> ou une évaluation spécialisée</a:t>
            </a:r>
            <a:endParaRPr lang="fr-FR" sz="1800" noProof="0" dirty="0"/>
          </a:p>
        </p:txBody>
      </p:sp>
      <p:sp>
        <p:nvSpPr>
          <p:cNvPr id="27" name="Shape 25"/>
          <p:cNvSpPr/>
          <p:nvPr/>
        </p:nvSpPr>
        <p:spPr>
          <a:xfrm>
            <a:off x="566928" y="5401158"/>
            <a:ext cx="5074920" cy="743610"/>
          </a:xfrm>
          <a:prstGeom prst="roundRect">
            <a:avLst>
              <a:gd name="adj" fmla="val 7378"/>
            </a:avLst>
          </a:prstGeom>
          <a:solidFill>
            <a:srgbClr val="F3F6FB"/>
          </a:solidFill>
          <a:ln w="12700">
            <a:solidFill>
              <a:srgbClr val="E0E3EA"/>
            </a:solidFill>
            <a:prstDash val="solid"/>
          </a:ln>
        </p:spPr>
        <p:txBody>
          <a:bodyPr/>
          <a:lstStyle/>
          <a:p>
            <a:endParaRPr lang="fr-FR" noProof="0" dirty="0"/>
          </a:p>
        </p:txBody>
      </p:sp>
      <p:sp>
        <p:nvSpPr>
          <p:cNvPr id="28" name="Text 26"/>
          <p:cNvSpPr txBox="1"/>
          <p:nvPr/>
        </p:nvSpPr>
        <p:spPr>
          <a:xfrm>
            <a:off x="786384" y="5401158"/>
            <a:ext cx="4636008" cy="743610"/>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Col de l'utérus suspect d'un cancer invasif</a:t>
            </a:r>
            <a:endParaRPr lang="fr-FR" sz="1800" noProof="0" dirty="0"/>
          </a:p>
        </p:txBody>
      </p:sp>
      <p:sp>
        <p:nvSpPr>
          <p:cNvPr id="29" name="Text 27"/>
          <p:cNvSpPr txBox="1"/>
          <p:nvPr/>
        </p:nvSpPr>
        <p:spPr>
          <a:xfrm>
            <a:off x="5641848" y="5401158"/>
            <a:ext cx="548640" cy="743610"/>
          </a:xfrm>
          <a:prstGeom prst="rect">
            <a:avLst/>
          </a:prstGeom>
          <a:noFill/>
          <a:ln/>
        </p:spPr>
        <p:txBody>
          <a:bodyPr wrap="square" lIns="0" tIns="0" rIns="0" bIns="0" rtlCol="0" anchor="ctr"/>
          <a:lstStyle/>
          <a:p>
            <a:pPr marL="0" indent="0" algn="ctr">
              <a:buNone/>
            </a:pPr>
            <a:r>
              <a:rPr lang="fr-FR" sz="1500" noProof="0" dirty="0">
                <a:solidFill>
                  <a:srgbClr val="000000"/>
                </a:solidFill>
                <a:latin typeface="Calibri" pitchFamily="34" charset="0"/>
                <a:ea typeface="Calibri" pitchFamily="34" charset="-122"/>
                <a:cs typeface="Calibri" pitchFamily="34" charset="-120"/>
              </a:rPr>
              <a:t>➡️</a:t>
            </a:r>
            <a:endParaRPr lang="fr-FR" sz="1500" noProof="0" dirty="0"/>
          </a:p>
        </p:txBody>
      </p:sp>
      <p:sp>
        <p:nvSpPr>
          <p:cNvPr id="30" name="Shape 28"/>
          <p:cNvSpPr/>
          <p:nvPr/>
        </p:nvSpPr>
        <p:spPr>
          <a:xfrm>
            <a:off x="6190488" y="5401158"/>
            <a:ext cx="5431536" cy="743610"/>
          </a:xfrm>
          <a:prstGeom prst="roundRect">
            <a:avLst>
              <a:gd name="adj" fmla="val 7378"/>
            </a:avLst>
          </a:prstGeom>
          <a:solidFill>
            <a:srgbClr val="EAF7F0"/>
          </a:solidFill>
          <a:ln w="12700">
            <a:solidFill>
              <a:srgbClr val="C0D4CB"/>
            </a:solidFill>
            <a:prstDash val="solid"/>
          </a:ln>
        </p:spPr>
        <p:txBody>
          <a:bodyPr/>
          <a:lstStyle/>
          <a:p>
            <a:endParaRPr lang="fr-FR" noProof="0" dirty="0"/>
          </a:p>
        </p:txBody>
      </p:sp>
      <p:sp>
        <p:nvSpPr>
          <p:cNvPr id="31" name="Text 29"/>
          <p:cNvSpPr txBox="1"/>
          <p:nvPr/>
        </p:nvSpPr>
        <p:spPr>
          <a:xfrm>
            <a:off x="6409944" y="5401158"/>
            <a:ext cx="4992624" cy="743610"/>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Orientez-la pour une évaluation diagnostique et une biopsie ; ne réalisez pas d'ablation</a:t>
            </a:r>
            <a:endParaRPr lang="fr-FR" sz="1800" noProof="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98</a:t>
            </a:r>
            <a:endParaRPr lang="fr-FR" sz="1100" noProof="0" dirty="0"/>
          </a:p>
        </p:txBody>
      </p:sp>
      <p:sp>
        <p:nvSpPr>
          <p:cNvPr id="4" name="Text 2"/>
          <p:cNvSpPr txBox="1"/>
          <p:nvPr/>
        </p:nvSpPr>
        <p:spPr>
          <a:xfrm>
            <a:off x="812673" y="329184"/>
            <a:ext cx="11055096" cy="274320"/>
          </a:xfrm>
          <a:prstGeom prst="rect">
            <a:avLst/>
          </a:prstGeom>
          <a:noFill/>
          <a:ln/>
        </p:spPr>
        <p:txBody>
          <a:bodyPr wrap="square" lIns="0" tIns="0" rIns="0" bIns="0" rtlCol="0" anchor="ctr"/>
          <a:lstStyle/>
          <a:p>
            <a:r>
              <a:rPr lang="fr-FR" sz="1200" b="1" kern="0" spc="400" noProof="0" dirty="0">
                <a:solidFill>
                  <a:srgbClr val="31507B"/>
                </a:solidFill>
                <a:latin typeface="Calibri" pitchFamily="34" charset="0"/>
                <a:ea typeface="Calibri" pitchFamily="34" charset="-122"/>
                <a:cs typeface="Calibri" pitchFamily="34" charset="-120"/>
              </a:rPr>
              <a:t>SESSION 2 · </a:t>
            </a:r>
            <a:r>
              <a:rPr lang="fr-FR" sz="1200" b="1" kern="0" spc="400" dirty="0">
                <a:solidFill>
                  <a:srgbClr val="31507B"/>
                </a:solidFill>
                <a:latin typeface="Calibri" pitchFamily="34" charset="0"/>
                <a:ea typeface="Calibri" pitchFamily="34" charset="-122"/>
                <a:cs typeface="Calibri" pitchFamily="34" charset="-120"/>
              </a:rPr>
              <a:t>TRAITEMENT DES LÉSIONS PRÉCANCÉREUSES</a:t>
            </a:r>
            <a:endParaRPr lang="fr-FR" sz="1200" noProof="0" dirty="0">
              <a:solidFill>
                <a:srgbClr val="31507B"/>
              </a:solidFill>
            </a:endParaRPr>
          </a:p>
        </p:txBody>
      </p:sp>
      <p:sp>
        <p:nvSpPr>
          <p:cNvPr id="5" name="Text 3"/>
          <p:cNvSpPr txBox="1"/>
          <p:nvPr/>
        </p:nvSpPr>
        <p:spPr>
          <a:xfrm>
            <a:off x="812673" y="1293335"/>
            <a:ext cx="11055096" cy="868680"/>
          </a:xfrm>
          <a:prstGeom prst="rect">
            <a:avLst/>
          </a:prstGeom>
          <a:noFill/>
          <a:ln/>
        </p:spPr>
        <p:txBody>
          <a:bodyPr wrap="square" lIns="0" tIns="0" rIns="0" bIns="0" rtlCol="0" anchor="ctr"/>
          <a:lstStyle/>
          <a:p>
            <a:r>
              <a:rPr lang="fr-FR" sz="3200" b="1" noProof="0" dirty="0">
                <a:solidFill>
                  <a:srgbClr val="10305A"/>
                </a:solidFill>
                <a:latin typeface="Cambria" pitchFamily="34" charset="0"/>
                <a:ea typeface="Cambria" pitchFamily="34" charset="-122"/>
                <a:cs typeface="Cambria" pitchFamily="34" charset="-120"/>
              </a:rPr>
              <a:t>Traitement ablatif</a:t>
            </a:r>
            <a:endParaRPr lang="fr-FR" sz="3200" noProof="0" dirty="0"/>
          </a:p>
        </p:txBody>
      </p:sp>
      <p:pic>
        <p:nvPicPr>
          <p:cNvPr id="10" name="Imagen 9">
            <a:extLst>
              <a:ext uri="{FF2B5EF4-FFF2-40B4-BE49-F238E27FC236}">
                <a16:creationId xmlns:a16="http://schemas.microsoft.com/office/drawing/2014/main" id="{A24F9318-A616-4E16-B6C0-D65D50CA9F0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9011" y="1004497"/>
            <a:ext cx="11340500" cy="4831525"/>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953E11-1552-1E3C-FA26-501068D8B1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80A113-F48A-0718-9473-DD2901F2DF31}"/>
              </a:ext>
            </a:extLst>
          </p:cNvPr>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a:extLst>
              <a:ext uri="{FF2B5EF4-FFF2-40B4-BE49-F238E27FC236}">
                <a16:creationId xmlns:a16="http://schemas.microsoft.com/office/drawing/2014/main" id="{29AB0992-EB12-A10D-6195-DD1486DACC59}"/>
              </a:ext>
            </a:extLst>
          </p:cNvPr>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99</a:t>
            </a:r>
            <a:endParaRPr lang="fr-FR" sz="1100" noProof="0" dirty="0"/>
          </a:p>
        </p:txBody>
      </p:sp>
      <p:sp>
        <p:nvSpPr>
          <p:cNvPr id="4" name="Text 2">
            <a:extLst>
              <a:ext uri="{FF2B5EF4-FFF2-40B4-BE49-F238E27FC236}">
                <a16:creationId xmlns:a16="http://schemas.microsoft.com/office/drawing/2014/main" id="{70DAF96E-CB0A-76DA-E190-662A80EF9461}"/>
              </a:ext>
            </a:extLst>
          </p:cNvPr>
          <p:cNvSpPr txBox="1"/>
          <p:nvPr/>
        </p:nvSpPr>
        <p:spPr>
          <a:xfrm>
            <a:off x="566928" y="329184"/>
            <a:ext cx="11055096" cy="274320"/>
          </a:xfrm>
          <a:prstGeom prst="rect">
            <a:avLst/>
          </a:prstGeom>
          <a:noFill/>
          <a:ln/>
        </p:spPr>
        <p:txBody>
          <a:bodyPr wrap="square" lIns="0" tIns="0" rIns="0" bIns="0" rtlCol="0" anchor="ctr"/>
          <a:lstStyle/>
          <a:p>
            <a:r>
              <a:rPr lang="fr-FR" sz="1200" b="1" kern="0" spc="400" noProof="0" dirty="0">
                <a:solidFill>
                  <a:srgbClr val="31507B"/>
                </a:solidFill>
                <a:latin typeface="Calibri" pitchFamily="34" charset="0"/>
                <a:ea typeface="Calibri" pitchFamily="34" charset="-122"/>
                <a:cs typeface="Calibri" pitchFamily="34" charset="-120"/>
              </a:rPr>
              <a:t>SESSION 2 · </a:t>
            </a:r>
            <a:r>
              <a:rPr lang="fr-FR" sz="1200" b="1" kern="0" spc="400" dirty="0">
                <a:solidFill>
                  <a:srgbClr val="31507B"/>
                </a:solidFill>
                <a:latin typeface="Calibri" pitchFamily="34" charset="0"/>
                <a:ea typeface="Calibri" pitchFamily="34" charset="-122"/>
                <a:cs typeface="Calibri" pitchFamily="34" charset="-120"/>
              </a:rPr>
              <a:t>TRAITEMENT DES LÉSIONS PRÉCANCÉREUSES</a:t>
            </a:r>
          </a:p>
          <a:p>
            <a:pPr marL="0" indent="0">
              <a:buNone/>
            </a:pPr>
            <a:endParaRPr lang="fr-FR" sz="1200" noProof="0" dirty="0"/>
          </a:p>
        </p:txBody>
      </p:sp>
      <p:sp>
        <p:nvSpPr>
          <p:cNvPr id="12" name="Shape 10">
            <a:extLst>
              <a:ext uri="{FF2B5EF4-FFF2-40B4-BE49-F238E27FC236}">
                <a16:creationId xmlns:a16="http://schemas.microsoft.com/office/drawing/2014/main" id="{3101D677-1EE4-08E0-CB25-0DB44D52B726}"/>
              </a:ext>
            </a:extLst>
          </p:cNvPr>
          <p:cNvSpPr/>
          <p:nvPr/>
        </p:nvSpPr>
        <p:spPr>
          <a:xfrm>
            <a:off x="566928" y="5527278"/>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13" name="Text 11">
            <a:extLst>
              <a:ext uri="{FF2B5EF4-FFF2-40B4-BE49-F238E27FC236}">
                <a16:creationId xmlns:a16="http://schemas.microsoft.com/office/drawing/2014/main" id="{322F7617-2243-EF8C-C9E9-29F71289118A}"/>
              </a:ext>
            </a:extLst>
          </p:cNvPr>
          <p:cNvSpPr txBox="1"/>
          <p:nvPr/>
        </p:nvSpPr>
        <p:spPr>
          <a:xfrm>
            <a:off x="841248" y="5582142"/>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Les deux préservent l'utérus :  </a:t>
            </a:r>
            <a:r>
              <a:rPr lang="fr-FR" sz="1800" noProof="0" dirty="0">
                <a:solidFill>
                  <a:srgbClr val="23303F"/>
                </a:solidFill>
                <a:latin typeface="Calibri" pitchFamily="34" charset="0"/>
                <a:ea typeface="Calibri" pitchFamily="34" charset="-122"/>
                <a:cs typeface="Calibri" pitchFamily="34" charset="-120"/>
              </a:rPr>
              <a:t>le traitement préserve l'utérus et préserve généralement la fertilité. Dites cela tôt, car la peur de l'infertilité empêche de nombreuses femmes de revenir.</a:t>
            </a:r>
            <a:endParaRPr lang="fr-FR" sz="1800" noProof="0" dirty="0"/>
          </a:p>
        </p:txBody>
      </p:sp>
      <p:sp>
        <p:nvSpPr>
          <p:cNvPr id="5" name="Text 3">
            <a:extLst>
              <a:ext uri="{FF2B5EF4-FFF2-40B4-BE49-F238E27FC236}">
                <a16:creationId xmlns:a16="http://schemas.microsoft.com/office/drawing/2014/main" id="{60014616-1A80-19A3-055E-EF3270288823}"/>
              </a:ext>
            </a:extLst>
          </p:cNvPr>
          <p:cNvSpPr txBox="1"/>
          <p:nvPr/>
        </p:nvSpPr>
        <p:spPr>
          <a:xfrm>
            <a:off x="576072" y="786384"/>
            <a:ext cx="11055096" cy="868680"/>
          </a:xfrm>
          <a:prstGeom prst="rect">
            <a:avLst/>
          </a:prstGeom>
          <a:noFill/>
          <a:ln/>
        </p:spPr>
        <p:txBody>
          <a:bodyPr wrap="square" lIns="0" tIns="0" rIns="0" bIns="0" rtlCol="0" anchor="ctr"/>
          <a:lstStyle/>
          <a:p>
            <a:r>
              <a:rPr lang="fr-FR" sz="3200" b="1" noProof="0" dirty="0">
                <a:solidFill>
                  <a:srgbClr val="10305A"/>
                </a:solidFill>
                <a:latin typeface="Cambria" pitchFamily="34" charset="0"/>
                <a:ea typeface="Cambria" pitchFamily="34" charset="-122"/>
                <a:cs typeface="Cambria" pitchFamily="34" charset="-120"/>
              </a:rPr>
              <a:t>Traitement </a:t>
            </a:r>
            <a:r>
              <a:rPr lang="fr-FR" sz="3200" b="1" noProof="0" dirty="0" err="1">
                <a:solidFill>
                  <a:srgbClr val="10305A"/>
                </a:solidFill>
                <a:latin typeface="Cambria" pitchFamily="34" charset="0"/>
                <a:ea typeface="Cambria" pitchFamily="34" charset="-122"/>
                <a:cs typeface="Cambria" pitchFamily="34" charset="-120"/>
              </a:rPr>
              <a:t>excisionnel</a:t>
            </a:r>
            <a:r>
              <a:rPr lang="fr-FR" sz="3200" b="1" noProof="0" dirty="0">
                <a:solidFill>
                  <a:srgbClr val="10305A"/>
                </a:solidFill>
                <a:latin typeface="Cambria" pitchFamily="34" charset="0"/>
                <a:ea typeface="Cambria" pitchFamily="34" charset="-122"/>
                <a:cs typeface="Cambria" pitchFamily="34" charset="-120"/>
              </a:rPr>
              <a:t> : LEEP</a:t>
            </a:r>
            <a:endParaRPr lang="fr-FR" sz="3200" noProof="0" dirty="0"/>
          </a:p>
        </p:txBody>
      </p:sp>
      <p:pic>
        <p:nvPicPr>
          <p:cNvPr id="6" name="Imagen 5">
            <a:extLst>
              <a:ext uri="{FF2B5EF4-FFF2-40B4-BE49-F238E27FC236}">
                <a16:creationId xmlns:a16="http://schemas.microsoft.com/office/drawing/2014/main" id="{CD8E8D93-A95A-46F7-FA65-3152603D84B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4464" y="658367"/>
            <a:ext cx="11276703" cy="4804345"/>
          </a:xfrm>
          <a:prstGeom prst="rect">
            <a:avLst/>
          </a:prstGeom>
        </p:spPr>
      </p:pic>
    </p:spTree>
    <p:extLst>
      <p:ext uri="{BB962C8B-B14F-4D97-AF65-F5344CB8AC3E}">
        <p14:creationId xmlns:p14="http://schemas.microsoft.com/office/powerpoint/2010/main" val="11791201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TRAITEMENT DES LÉSIONS PRÉCANCÉREUSES</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La colposcopie : un examen plus précis</a:t>
            </a:r>
          </a:p>
        </p:txBody>
      </p:sp>
      <p:sp>
        <p:nvSpPr>
          <p:cNvPr id="4" name="Shape 4"/>
          <p:cNvSpPr/>
          <p:nvPr/>
        </p:nvSpPr>
        <p:spPr>
          <a:xfrm>
            <a:off x="566928" y="1450000"/>
            <a:ext cx="5322884" cy="85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716928" y="1450000"/>
            <a:ext cx="520000" cy="85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6" name="Text 6"/>
          <p:cNvSpPr txBox="1"/>
          <p:nvPr/>
        </p:nvSpPr>
        <p:spPr>
          <a:xfrm>
            <a:off x="1128670" y="1450000"/>
            <a:ext cx="4667012" cy="850000"/>
          </a:xfrm>
          <a:prstGeom prst="rect">
            <a:avLst/>
          </a:prstGeom>
          <a:noFill/>
          <a:ln/>
        </p:spPr>
        <p:txBody>
          <a:bodyPr wrap="square" lIns="0" tIns="0" rIns="0" bIns="0" rtlCol="0" anchor="ctr"/>
          <a:lstStyle/>
          <a:p>
            <a:pPr marL="0" indent="0" algn="l">
              <a:buNone/>
            </a:pPr>
            <a:r>
              <a:rPr lang="fr-FR" sz="1500" b="1" noProof="0" dirty="0">
                <a:solidFill>
                  <a:srgbClr val="23303F"/>
                </a:solidFill>
                <a:latin typeface="Calibri" pitchFamily="34" charset="0"/>
                <a:ea typeface="Calibri" pitchFamily="34" charset="-122"/>
                <a:cs typeface="Calibri" pitchFamily="34" charset="-120"/>
              </a:rPr>
              <a:t>Ce que c'est : </a:t>
            </a:r>
            <a:r>
              <a:rPr lang="fr-FR" sz="1500" noProof="0" dirty="0">
                <a:solidFill>
                  <a:srgbClr val="23303F"/>
                </a:solidFill>
                <a:latin typeface="Calibri" pitchFamily="34" charset="0"/>
                <a:ea typeface="Calibri" pitchFamily="34" charset="-122"/>
                <a:cs typeface="Calibri" pitchFamily="34" charset="-120"/>
              </a:rPr>
              <a:t>examen du col sous grossissement et lumière vive, après acide acétique, à l'aide d'un colposcope.</a:t>
            </a:r>
            <a:endParaRPr lang="fr-FR" sz="1500" dirty="0"/>
          </a:p>
        </p:txBody>
      </p:sp>
      <p:sp>
        <p:nvSpPr>
          <p:cNvPr id="7" name="Shape 7"/>
          <p:cNvSpPr/>
          <p:nvPr/>
        </p:nvSpPr>
        <p:spPr>
          <a:xfrm>
            <a:off x="566928" y="2390000"/>
            <a:ext cx="5322884" cy="85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716928" y="2390000"/>
            <a:ext cx="520000" cy="85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9" name="Text 9"/>
          <p:cNvSpPr txBox="1"/>
          <p:nvPr/>
        </p:nvSpPr>
        <p:spPr>
          <a:xfrm>
            <a:off x="1128670" y="2390000"/>
            <a:ext cx="4667012" cy="850000"/>
          </a:xfrm>
          <a:prstGeom prst="rect">
            <a:avLst/>
          </a:prstGeom>
          <a:noFill/>
          <a:ln/>
        </p:spPr>
        <p:txBody>
          <a:bodyPr wrap="square" lIns="0" tIns="0" rIns="0" bIns="0" rtlCol="0" anchor="ctr"/>
          <a:lstStyle/>
          <a:p>
            <a:pPr marL="0" indent="0" algn="l">
              <a:buNone/>
            </a:pPr>
            <a:r>
              <a:rPr lang="fr-FR" sz="1500" b="1" noProof="0" dirty="0">
                <a:solidFill>
                  <a:srgbClr val="23303F"/>
                </a:solidFill>
                <a:latin typeface="Calibri" pitchFamily="34" charset="0"/>
                <a:ea typeface="Calibri" pitchFamily="34" charset="-122"/>
                <a:cs typeface="Calibri" pitchFamily="34" charset="-120"/>
              </a:rPr>
              <a:t>Pourquoi : </a:t>
            </a:r>
            <a:r>
              <a:rPr lang="fr-FR" sz="1500" noProof="0" dirty="0">
                <a:solidFill>
                  <a:srgbClr val="23303F"/>
                </a:solidFill>
                <a:latin typeface="Calibri" pitchFamily="34" charset="0"/>
                <a:ea typeface="Calibri" pitchFamily="34" charset="-122"/>
                <a:cs typeface="Calibri" pitchFamily="34" charset="-120"/>
              </a:rPr>
              <a:t>voir toute l'étendue d'une lésion, planifier le traitement et guider une biopsie.</a:t>
            </a:r>
            <a:endParaRPr lang="fr-FR" sz="1500" dirty="0"/>
          </a:p>
        </p:txBody>
      </p:sp>
      <p:sp>
        <p:nvSpPr>
          <p:cNvPr id="10" name="Shape 10"/>
          <p:cNvSpPr/>
          <p:nvPr/>
        </p:nvSpPr>
        <p:spPr>
          <a:xfrm>
            <a:off x="566928" y="3330000"/>
            <a:ext cx="5322884" cy="85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1" name="Text 11"/>
          <p:cNvSpPr txBox="1"/>
          <p:nvPr/>
        </p:nvSpPr>
        <p:spPr>
          <a:xfrm>
            <a:off x="716928" y="3330000"/>
            <a:ext cx="520000" cy="85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12" name="Text 12"/>
          <p:cNvSpPr txBox="1"/>
          <p:nvPr/>
        </p:nvSpPr>
        <p:spPr>
          <a:xfrm>
            <a:off x="1128670" y="3330000"/>
            <a:ext cx="4667012" cy="850000"/>
          </a:xfrm>
          <a:prstGeom prst="rect">
            <a:avLst/>
          </a:prstGeom>
          <a:noFill/>
          <a:ln/>
        </p:spPr>
        <p:txBody>
          <a:bodyPr wrap="square" lIns="0" tIns="0" rIns="0" bIns="0" rtlCol="0" anchor="ctr"/>
          <a:lstStyle/>
          <a:p>
            <a:pPr marL="0" indent="0" algn="l">
              <a:buNone/>
            </a:pPr>
            <a:r>
              <a:rPr lang="fr-FR" sz="1500" b="1" noProof="0" dirty="0">
                <a:solidFill>
                  <a:srgbClr val="23303F"/>
                </a:solidFill>
                <a:latin typeface="Calibri" pitchFamily="34" charset="0"/>
                <a:ea typeface="Calibri" pitchFamily="34" charset="-122"/>
                <a:cs typeface="Calibri" pitchFamily="34" charset="-120"/>
              </a:rPr>
              <a:t>Où : </a:t>
            </a:r>
            <a:r>
              <a:rPr lang="fr-FR" sz="1500" noProof="0" dirty="0">
                <a:solidFill>
                  <a:srgbClr val="23303F"/>
                </a:solidFill>
                <a:latin typeface="Calibri" pitchFamily="34" charset="0"/>
                <a:ea typeface="Calibri" pitchFamily="34" charset="-122"/>
                <a:cs typeface="Calibri" pitchFamily="34" charset="-120"/>
              </a:rPr>
              <a:t>à l'hôpital de district, sur orientation.</a:t>
            </a:r>
            <a:endParaRPr lang="fr-FR" sz="1500" dirty="0"/>
          </a:p>
        </p:txBody>
      </p:sp>
      <p:sp>
        <p:nvSpPr>
          <p:cNvPr id="13" name="Shape 13"/>
          <p:cNvSpPr/>
          <p:nvPr/>
        </p:nvSpPr>
        <p:spPr>
          <a:xfrm>
            <a:off x="566928" y="4270000"/>
            <a:ext cx="5322884" cy="85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4" name="Text 14"/>
          <p:cNvSpPr txBox="1"/>
          <p:nvPr/>
        </p:nvSpPr>
        <p:spPr>
          <a:xfrm>
            <a:off x="716928" y="4270000"/>
            <a:ext cx="520000" cy="85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15" name="Text 15"/>
          <p:cNvSpPr txBox="1"/>
          <p:nvPr/>
        </p:nvSpPr>
        <p:spPr>
          <a:xfrm>
            <a:off x="1128670" y="4270000"/>
            <a:ext cx="4667012" cy="850000"/>
          </a:xfrm>
          <a:prstGeom prst="rect">
            <a:avLst/>
          </a:prstGeom>
          <a:noFill/>
          <a:ln/>
        </p:spPr>
        <p:txBody>
          <a:bodyPr wrap="square" lIns="0" tIns="0" rIns="0" bIns="0" rtlCol="0" anchor="ctr"/>
          <a:lstStyle/>
          <a:p>
            <a:pPr marL="0" indent="0" algn="l">
              <a:buNone/>
            </a:pPr>
            <a:r>
              <a:rPr lang="fr-FR" sz="1500" b="1" noProof="0" dirty="0">
                <a:solidFill>
                  <a:srgbClr val="23303F"/>
                </a:solidFill>
                <a:latin typeface="Calibri" pitchFamily="34" charset="0"/>
                <a:ea typeface="Calibri" pitchFamily="34" charset="-122"/>
                <a:cs typeface="Calibri" pitchFamily="34" charset="-120"/>
              </a:rPr>
              <a:t>Quand orienter : </a:t>
            </a:r>
            <a:r>
              <a:rPr lang="fr-FR" sz="1500" noProof="0" dirty="0">
                <a:solidFill>
                  <a:srgbClr val="23303F"/>
                </a:solidFill>
                <a:latin typeface="Calibri" pitchFamily="34" charset="0"/>
                <a:ea typeface="Calibri" pitchFamily="34" charset="-122"/>
                <a:cs typeface="Calibri" pitchFamily="34" charset="-120"/>
              </a:rPr>
              <a:t>frottis anormal, leucoplasie près de la JSC, ou lésion qui ne peut pas être entièrement évaluée à la VIA.</a:t>
            </a:r>
            <a:endParaRPr lang="fr-FR" sz="1500" dirty="0"/>
          </a:p>
        </p:txBody>
      </p:sp>
      <p:sp>
        <p:nvSpPr>
          <p:cNvPr id="17" name="Shape 17"/>
          <p:cNvSpPr/>
          <p:nvPr/>
        </p:nvSpPr>
        <p:spPr>
          <a:xfrm>
            <a:off x="566928" y="5300000"/>
            <a:ext cx="11055096" cy="88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18" name="Text 18"/>
          <p:cNvSpPr txBox="1"/>
          <p:nvPr/>
        </p:nvSpPr>
        <p:spPr>
          <a:xfrm>
            <a:off x="841248" y="5350000"/>
            <a:ext cx="10506456" cy="780000"/>
          </a:xfrm>
          <a:prstGeom prst="rect">
            <a:avLst/>
          </a:prstGeom>
          <a:noFill/>
          <a:ln/>
        </p:spPr>
        <p:txBody>
          <a:bodyPr wrap="square" lIns="0" tIns="0" rIns="0" bIns="0" rtlCol="0" anchor="ctr"/>
          <a:lstStyle/>
          <a:p>
            <a:pPr marL="0" indent="0" algn="l">
              <a:buNone/>
            </a:pPr>
            <a:r>
              <a:rPr lang="fr-FR" sz="1500" b="1" noProof="0" dirty="0">
                <a:solidFill>
                  <a:srgbClr val="7B5727"/>
                </a:solidFill>
                <a:latin typeface="Calibri" pitchFamily="34" charset="0"/>
                <a:ea typeface="Calibri" pitchFamily="34" charset="-122"/>
                <a:cs typeface="Calibri" pitchFamily="34" charset="-120"/>
              </a:rPr>
              <a:t>💬 Dites-le ainsi :  </a:t>
            </a:r>
            <a:r>
              <a:rPr lang="fr-FR" sz="1500" noProof="0" dirty="0">
                <a:solidFill>
                  <a:srgbClr val="23303F"/>
                </a:solidFill>
                <a:latin typeface="Calibri" pitchFamily="34" charset="0"/>
                <a:ea typeface="Calibri" pitchFamily="34" charset="-122"/>
                <a:cs typeface="Calibri" pitchFamily="34" charset="-120"/>
              </a:rPr>
              <a:t>Une colposcopie est un examen plus précis du col avec une lampe grossissante. Elle ressemble beaucoup à un examen au spéculum.</a:t>
            </a:r>
            <a:endParaRPr lang="fr-FR" sz="1500" dirty="0"/>
          </a:p>
        </p:txBody>
      </p:sp>
      <p:sp>
        <p:nvSpPr>
          <p:cNvPr id="19" name="Text 1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20" name="Text 2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100</a:t>
            </a:r>
            <a:endParaRPr lang="fr-FR" sz="1100" dirty="0"/>
          </a:p>
        </p:txBody>
      </p:sp>
      <p:pic>
        <p:nvPicPr>
          <p:cNvPr id="21" name="Imagen 20">
            <a:extLst>
              <a:ext uri="{FF2B5EF4-FFF2-40B4-BE49-F238E27FC236}">
                <a16:creationId xmlns:a16="http://schemas.microsoft.com/office/drawing/2014/main" id="{0B71CDC9-BD35-AF9B-09BA-10E8943539B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151871" y="1534985"/>
            <a:ext cx="5335440" cy="355696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noAutofit/>
          </a:bodyPr>
          <a:lstStyle/>
          <a:p>
            <a:r>
              <a:rPr lang="fr-FR" sz="960" b="1" kern="0" spc="400" noProof="0" dirty="0">
                <a:solidFill>
                  <a:srgbClr val="31507B"/>
                </a:solidFill>
                <a:latin typeface="Calibri" pitchFamily="34" charset="0"/>
                <a:ea typeface="Calibri" pitchFamily="34" charset="-122"/>
                <a:cs typeface="Calibri" pitchFamily="34" charset="-120"/>
              </a:rPr>
              <a:t>SESSION 2 · </a:t>
            </a:r>
            <a:r>
              <a:rPr lang="fr-FR" sz="960" b="1" kern="0" spc="400" dirty="0">
                <a:solidFill>
                  <a:srgbClr val="31507B"/>
                </a:solidFill>
                <a:latin typeface="Calibri" pitchFamily="34" charset="0"/>
                <a:ea typeface="Calibri" pitchFamily="34" charset="-122"/>
                <a:cs typeface="Calibri" pitchFamily="34" charset="-120"/>
              </a:rPr>
              <a:t>TRAITEMENT DES LÉSIONS PRÉCANCÉREUSES</a:t>
            </a:r>
          </a:p>
          <a:p>
            <a:pPr marL="0" indent="0">
              <a:buNone/>
            </a:pPr>
            <a:endParaRPr lang="fr-FR" sz="960" noProof="0" dirty="0"/>
          </a:p>
        </p:txBody>
      </p:sp>
      <p:sp>
        <p:nvSpPr>
          <p:cNvPr id="5" name="Text 3"/>
          <p:cNvSpPr txBox="1"/>
          <p:nvPr/>
        </p:nvSpPr>
        <p:spPr>
          <a:xfrm>
            <a:off x="566928" y="51816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Deux stratégies de programme</a:t>
            </a:r>
            <a:endParaRPr lang="fr-FR" sz="3200" noProof="0" dirty="0"/>
          </a:p>
        </p:txBody>
      </p:sp>
      <p:sp>
        <p:nvSpPr>
          <p:cNvPr id="6" name="Shape 4"/>
          <p:cNvSpPr/>
          <p:nvPr/>
        </p:nvSpPr>
        <p:spPr>
          <a:xfrm>
            <a:off x="566928" y="1243584"/>
            <a:ext cx="5436108" cy="4155560"/>
          </a:xfrm>
          <a:prstGeom prst="roundRect">
            <a:avLst>
              <a:gd name="adj" fmla="val 2432"/>
            </a:avLst>
          </a:prstGeom>
          <a:solidFill>
            <a:srgbClr val="F3F6FB"/>
          </a:solidFill>
          <a:ln w="12700">
            <a:solidFill>
              <a:srgbClr val="E0E3EA"/>
            </a:solidFill>
            <a:prstDash val="solid"/>
          </a:ln>
        </p:spPr>
        <p:txBody>
          <a:bodyPr/>
          <a:lstStyle/>
          <a:p>
            <a:endParaRPr lang="fr-FR" sz="1600" noProof="0" dirty="0"/>
          </a:p>
        </p:txBody>
      </p:sp>
      <p:sp>
        <p:nvSpPr>
          <p:cNvPr id="7" name="Text 5"/>
          <p:cNvSpPr txBox="1"/>
          <p:nvPr/>
        </p:nvSpPr>
        <p:spPr>
          <a:xfrm>
            <a:off x="822960" y="1249680"/>
            <a:ext cx="4924044"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1️⃣ Dépister et traiter</a:t>
            </a:r>
            <a:endParaRPr lang="fr-FR" noProof="0" dirty="0"/>
          </a:p>
        </p:txBody>
      </p:sp>
      <p:sp>
        <p:nvSpPr>
          <p:cNvPr id="8" name="Text 6"/>
          <p:cNvSpPr txBox="1"/>
          <p:nvPr/>
        </p:nvSpPr>
        <p:spPr>
          <a:xfrm>
            <a:off x="877824" y="1742802"/>
            <a:ext cx="4869180" cy="2340864"/>
          </a:xfrm>
          <a:prstGeom prst="rect">
            <a:avLst/>
          </a:prstGeom>
          <a:noFill/>
          <a:ln/>
        </p:spPr>
        <p:txBody>
          <a:bodyPr wrap="square" lIns="0" tIns="0" rIns="0" bIns="0" rtlCol="0" anchor="t">
            <a:normAutofit fontScale="92000" lnSpcReduction="20000"/>
          </a:bodyPr>
          <a:lstStyle/>
          <a:p>
            <a:pPr marL="342900" indent="-342900">
              <a:lnSpc>
                <a:spcPct val="102000"/>
              </a:lnSpc>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Une femme avec un résultat positif au dépistage peut recevoir un traitement lors de la même visite si l'évaluation confirme que la lésion est éligible à un traitement ablatif.</a:t>
            </a:r>
          </a:p>
          <a:p>
            <a:pPr marL="342900" indent="-342900">
              <a:lnSpc>
                <a:spcPct val="102000"/>
              </a:lnSpc>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L'ablation thermique peut être réalisée lors de la même visite lorsque les critères d'éligibilité sont remplis.</a:t>
            </a:r>
          </a:p>
          <a:p>
            <a:pPr marL="342900" indent="-342900">
              <a:lnSpc>
                <a:spcPct val="102000"/>
              </a:lnSpc>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Le traitement lors de la même visite aide à réduire les pertes de vue au suivi.</a:t>
            </a:r>
          </a:p>
          <a:p>
            <a:pPr marL="342900" indent="-342900">
              <a:lnSpc>
                <a:spcPct val="102000"/>
              </a:lnSpc>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N'utilisez pas cette approche lorsque le cancer est suspecté.</a:t>
            </a:r>
          </a:p>
        </p:txBody>
      </p:sp>
      <p:sp>
        <p:nvSpPr>
          <p:cNvPr id="9" name="Shape 7"/>
          <p:cNvSpPr/>
          <p:nvPr/>
        </p:nvSpPr>
        <p:spPr>
          <a:xfrm>
            <a:off x="6185916" y="1243584"/>
            <a:ext cx="5436108" cy="4155560"/>
          </a:xfrm>
          <a:prstGeom prst="roundRect">
            <a:avLst>
              <a:gd name="adj" fmla="val 2432"/>
            </a:avLst>
          </a:prstGeom>
          <a:solidFill>
            <a:srgbClr val="ECF3FD"/>
          </a:solidFill>
          <a:ln w="12700">
            <a:solidFill>
              <a:srgbClr val="E0E3EA"/>
            </a:solidFill>
            <a:prstDash val="solid"/>
          </a:ln>
        </p:spPr>
        <p:txBody>
          <a:bodyPr/>
          <a:lstStyle/>
          <a:p>
            <a:endParaRPr lang="fr-FR" sz="1600" noProof="0" dirty="0"/>
          </a:p>
        </p:txBody>
      </p:sp>
      <p:sp>
        <p:nvSpPr>
          <p:cNvPr id="10" name="Text 8"/>
          <p:cNvSpPr txBox="1"/>
          <p:nvPr/>
        </p:nvSpPr>
        <p:spPr>
          <a:xfrm>
            <a:off x="6441948" y="1249680"/>
            <a:ext cx="4924044"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2️⃣ Dépister, trier, traiter</a:t>
            </a:r>
            <a:endParaRPr lang="fr-FR" noProof="0" dirty="0"/>
          </a:p>
        </p:txBody>
      </p:sp>
      <p:sp>
        <p:nvSpPr>
          <p:cNvPr id="11" name="Text 9"/>
          <p:cNvSpPr txBox="1"/>
          <p:nvPr/>
        </p:nvSpPr>
        <p:spPr>
          <a:xfrm>
            <a:off x="6496812" y="1742802"/>
            <a:ext cx="4869180" cy="2340864"/>
          </a:xfrm>
          <a:prstGeom prst="rect">
            <a:avLst/>
          </a:prstGeom>
          <a:noFill/>
          <a:ln/>
        </p:spPr>
        <p:txBody>
          <a:bodyPr wrap="square" lIns="0" tIns="0" rIns="0" bIns="0" rtlCol="0" anchor="t">
            <a:noAutofit/>
          </a:bodyPr>
          <a:lstStyle/>
          <a:p>
            <a:pPr marL="342900" indent="-342900">
              <a:lnSpc>
                <a:spcPct val="102000"/>
              </a:lnSpc>
              <a:spcAft>
                <a:spcPts val="800"/>
              </a:spcAft>
              <a:buSzPct val="100000"/>
              <a:buChar char="•"/>
            </a:pPr>
            <a:r>
              <a:rPr lang="fr-FR" sz="1472" noProof="0" dirty="0">
                <a:solidFill>
                  <a:srgbClr val="23303F"/>
                </a:solidFill>
                <a:latin typeface="Calibri" pitchFamily="34" charset="0"/>
                <a:ea typeface="Calibri" pitchFamily="34" charset="-122"/>
                <a:cs typeface="Calibri" pitchFamily="34" charset="-120"/>
              </a:rPr>
              <a:t>Un résultat positif du dépistage du HPV est suivi d'un triage et d'une évaluation, incluant l'AVI selon les indications.</a:t>
            </a:r>
          </a:p>
          <a:p>
            <a:pPr marL="342900" indent="-342900">
              <a:lnSpc>
                <a:spcPct val="102000"/>
              </a:lnSpc>
              <a:spcAft>
                <a:spcPts val="800"/>
              </a:spcAft>
              <a:buSzPct val="100000"/>
              <a:buChar char="•"/>
            </a:pPr>
            <a:r>
              <a:rPr lang="fr-FR" sz="1472" noProof="0" dirty="0">
                <a:solidFill>
                  <a:srgbClr val="23303F"/>
                </a:solidFill>
                <a:latin typeface="Calibri" pitchFamily="34" charset="0"/>
                <a:ea typeface="Calibri" pitchFamily="34" charset="-122"/>
                <a:cs typeface="Calibri" pitchFamily="34" charset="-120"/>
              </a:rPr>
              <a:t>L'évaluation détermine si un traitement est nécessaire et quel traitement est approprié.</a:t>
            </a:r>
          </a:p>
          <a:p>
            <a:pPr marL="342900" indent="-342900">
              <a:lnSpc>
                <a:spcPct val="102000"/>
              </a:lnSpc>
              <a:spcAft>
                <a:spcPts val="800"/>
              </a:spcAft>
              <a:buSzPct val="100000"/>
              <a:buChar char="•"/>
            </a:pPr>
            <a:r>
              <a:rPr lang="fr-FR" sz="1472" noProof="0" dirty="0">
                <a:solidFill>
                  <a:srgbClr val="23303F"/>
                </a:solidFill>
                <a:latin typeface="Calibri" pitchFamily="34" charset="0"/>
                <a:ea typeface="Calibri" pitchFamily="34" charset="-122"/>
                <a:cs typeface="Calibri" pitchFamily="34" charset="-120"/>
              </a:rPr>
              <a:t>Les lésions éligibles → l'ablation thermique.</a:t>
            </a:r>
          </a:p>
          <a:p>
            <a:pPr marL="342900" indent="-342900">
              <a:lnSpc>
                <a:spcPct val="102000"/>
              </a:lnSpc>
              <a:spcAft>
                <a:spcPts val="800"/>
              </a:spcAft>
              <a:buSzPct val="100000"/>
              <a:buChar char="•"/>
            </a:pPr>
            <a:r>
              <a:rPr lang="fr-FR" sz="1472" noProof="0" dirty="0">
                <a:solidFill>
                  <a:srgbClr val="23303F"/>
                </a:solidFill>
                <a:latin typeface="Calibri" pitchFamily="34" charset="0"/>
                <a:ea typeface="Calibri" pitchFamily="34" charset="-122"/>
                <a:cs typeface="Calibri" pitchFamily="34" charset="-120"/>
              </a:rPr>
              <a:t>Lésions non adaptées à l'ablation → à LLETZ/LEEP ou à l'orientation pour un traitement </a:t>
            </a:r>
            <a:r>
              <a:rPr lang="fr-FR" sz="1472" noProof="0" dirty="0" err="1">
                <a:solidFill>
                  <a:srgbClr val="23303F"/>
                </a:solidFill>
                <a:latin typeface="Calibri" pitchFamily="34" charset="0"/>
                <a:ea typeface="Calibri" pitchFamily="34" charset="-122"/>
                <a:cs typeface="Calibri" pitchFamily="34" charset="-120"/>
              </a:rPr>
              <a:t>excisionnel</a:t>
            </a:r>
            <a:r>
              <a:rPr lang="fr-FR" sz="1472" noProof="0" dirty="0">
                <a:solidFill>
                  <a:srgbClr val="23303F"/>
                </a:solidFill>
                <a:latin typeface="Calibri" pitchFamily="34" charset="0"/>
                <a:ea typeface="Calibri" pitchFamily="34" charset="-122"/>
                <a:cs typeface="Calibri" pitchFamily="34" charset="-120"/>
              </a:rPr>
              <a:t>.</a:t>
            </a:r>
          </a:p>
          <a:p>
            <a:pPr marL="342900" indent="-342900">
              <a:lnSpc>
                <a:spcPct val="102000"/>
              </a:lnSpc>
              <a:spcAft>
                <a:spcPts val="800"/>
              </a:spcAft>
              <a:buSzPct val="100000"/>
              <a:buChar char="•"/>
            </a:pPr>
            <a:r>
              <a:rPr lang="fr-FR" sz="1472" noProof="0" dirty="0">
                <a:solidFill>
                  <a:srgbClr val="23303F"/>
                </a:solidFill>
                <a:latin typeface="Calibri" pitchFamily="34" charset="0"/>
                <a:ea typeface="Calibri" pitchFamily="34" charset="-122"/>
                <a:cs typeface="Calibri" pitchFamily="34" charset="-120"/>
              </a:rPr>
              <a:t>Un cancer invasif suspecté → une orientation urgente pour une évaluation diagnostique et des soins contre le cancer.</a:t>
            </a:r>
          </a:p>
        </p:txBody>
      </p:sp>
      <p:pic>
        <p:nvPicPr>
          <p:cNvPr id="14" name="Imagen 13">
            <a:extLst>
              <a:ext uri="{FF2B5EF4-FFF2-40B4-BE49-F238E27FC236}">
                <a16:creationId xmlns:a16="http://schemas.microsoft.com/office/drawing/2014/main" id="{FE076C15-2936-DB5C-5893-22242DCB74A7}"/>
              </a:ext>
            </a:extLst>
          </p:cNvPr>
          <p:cNvPicPr>
            <a:picLocks noChangeAspect="1"/>
          </p:cNvPicPr>
          <p:nvPr/>
        </p:nvPicPr>
        <p:blipFill>
          <a:blip r:embed="rId3" cstate="screen">
            <a:extLst>
              <a:ext uri="{28A0092B-C50C-407E-A947-70E740481C1C}">
                <a14:useLocalDpi xmlns:a14="http://schemas.microsoft.com/office/drawing/2010/main"/>
              </a:ext>
            </a:extLst>
          </a:blip>
          <a:srcRect t="28059" b="30294"/>
          <a:stretch>
            <a:fillRect/>
          </a:stretch>
        </p:blipFill>
        <p:spPr>
          <a:xfrm>
            <a:off x="1649185" y="4401791"/>
            <a:ext cx="3377761" cy="937825"/>
          </a:xfrm>
          <a:prstGeom prst="rect">
            <a:avLst/>
          </a:prstGeom>
        </p:spPr>
      </p:pic>
      <p:pic>
        <p:nvPicPr>
          <p:cNvPr id="15" name="Imagen 14">
            <a:extLst>
              <a:ext uri="{FF2B5EF4-FFF2-40B4-BE49-F238E27FC236}">
                <a16:creationId xmlns:a16="http://schemas.microsoft.com/office/drawing/2014/main" id="{728F47F3-BA4C-E041-0839-2D5B20342CCA}"/>
              </a:ext>
            </a:extLst>
          </p:cNvPr>
          <p:cNvPicPr>
            <a:picLocks noChangeAspect="1"/>
          </p:cNvPicPr>
          <p:nvPr/>
        </p:nvPicPr>
        <p:blipFill>
          <a:blip r:embed="rId4" cstate="screen">
            <a:extLst>
              <a:ext uri="{28A0092B-C50C-407E-A947-70E740481C1C}">
                <a14:useLocalDpi xmlns:a14="http://schemas.microsoft.com/office/drawing/2010/main"/>
              </a:ext>
            </a:extLst>
          </a:blip>
          <a:srcRect t="23117" b="28177"/>
          <a:stretch>
            <a:fillRect/>
          </a:stretch>
        </p:blipFill>
        <p:spPr>
          <a:xfrm>
            <a:off x="7242799" y="4437184"/>
            <a:ext cx="2962559" cy="961960"/>
          </a:xfrm>
          <a:prstGeom prst="rect">
            <a:avLst/>
          </a:prstGeom>
        </p:spPr>
      </p:pic>
      <p:sp>
        <p:nvSpPr>
          <p:cNvPr id="16" name="Shape 10">
            <a:extLst>
              <a:ext uri="{FF2B5EF4-FFF2-40B4-BE49-F238E27FC236}">
                <a16:creationId xmlns:a16="http://schemas.microsoft.com/office/drawing/2014/main" id="{E3B90957-27EB-FACA-4795-9BE415B6AD31}"/>
              </a:ext>
            </a:extLst>
          </p:cNvPr>
          <p:cNvSpPr/>
          <p:nvPr/>
        </p:nvSpPr>
        <p:spPr>
          <a:xfrm>
            <a:off x="566928" y="5491537"/>
            <a:ext cx="11055096" cy="786384"/>
          </a:xfrm>
          <a:prstGeom prst="roundRect">
            <a:avLst>
              <a:gd name="adj" fmla="val 8140"/>
            </a:avLst>
          </a:prstGeom>
          <a:solidFill>
            <a:srgbClr val="EAF7F0"/>
          </a:solidFill>
          <a:ln w="12700">
            <a:solidFill>
              <a:srgbClr val="C0D4CB"/>
            </a:solidFill>
            <a:prstDash val="solid"/>
          </a:ln>
        </p:spPr>
        <p:txBody>
          <a:bodyPr/>
          <a:lstStyle/>
          <a:p>
            <a:endParaRPr lang="fr-FR" sz="1600" noProof="0" dirty="0"/>
          </a:p>
        </p:txBody>
      </p:sp>
      <p:sp>
        <p:nvSpPr>
          <p:cNvPr id="17" name="Text 11">
            <a:extLst>
              <a:ext uri="{FF2B5EF4-FFF2-40B4-BE49-F238E27FC236}">
                <a16:creationId xmlns:a16="http://schemas.microsoft.com/office/drawing/2014/main" id="{F305C5B5-FE4B-145A-AB68-A69CCC32A893}"/>
              </a:ext>
            </a:extLst>
          </p:cNvPr>
          <p:cNvSpPr txBox="1"/>
          <p:nvPr/>
        </p:nvSpPr>
        <p:spPr>
          <a:xfrm>
            <a:off x="841248" y="5546401"/>
            <a:ext cx="10506456" cy="676656"/>
          </a:xfrm>
          <a:prstGeom prst="rect">
            <a:avLst/>
          </a:prstGeom>
          <a:noFill/>
          <a:ln/>
        </p:spPr>
        <p:txBody>
          <a:bodyPr wrap="square" lIns="0" tIns="0" rIns="0" bIns="0" rtlCol="0" anchor="ctr">
            <a:noAutofit/>
          </a:bodyPr>
          <a:lstStyle/>
          <a:p>
            <a:pPr marL="0" indent="0">
              <a:lnSpc>
                <a:spcPct val="104000"/>
              </a:lnSpc>
              <a:buNone/>
            </a:pPr>
            <a:r>
              <a:rPr lang="fr-FR" sz="1456" b="1" noProof="0" dirty="0">
                <a:solidFill>
                  <a:srgbClr val="19543E"/>
                </a:solidFill>
                <a:latin typeface="Calibri" pitchFamily="34" charset="0"/>
                <a:ea typeface="Calibri" pitchFamily="34" charset="-122"/>
                <a:cs typeface="Calibri" pitchFamily="34" charset="-120"/>
              </a:rPr>
              <a:t>✅ Au Rwanda :  </a:t>
            </a:r>
            <a:r>
              <a:rPr lang="fr-FR" sz="1456" noProof="0" dirty="0">
                <a:solidFill>
                  <a:srgbClr val="23303F"/>
                </a:solidFill>
                <a:latin typeface="Calibri" pitchFamily="34" charset="0"/>
                <a:ea typeface="Calibri" pitchFamily="34" charset="-122"/>
                <a:cs typeface="Calibri" pitchFamily="34" charset="-120"/>
              </a:rPr>
              <a:t>Le traitement est choisi en fonction des résultats de dépistage et de triage. L'ablation thermique est utilisée pour les lésions éligibles ; LLETZ/LEEP est utilisé lorsque un traitement </a:t>
            </a:r>
            <a:r>
              <a:rPr lang="fr-FR" sz="1456" noProof="0" dirty="0" err="1">
                <a:solidFill>
                  <a:srgbClr val="23303F"/>
                </a:solidFill>
                <a:latin typeface="Calibri" pitchFamily="34" charset="0"/>
                <a:ea typeface="Calibri" pitchFamily="34" charset="-122"/>
                <a:cs typeface="Calibri" pitchFamily="34" charset="-120"/>
              </a:rPr>
              <a:t>excisionnel</a:t>
            </a:r>
            <a:r>
              <a:rPr lang="fr-FR" sz="1456" noProof="0" dirty="0">
                <a:solidFill>
                  <a:srgbClr val="23303F"/>
                </a:solidFill>
                <a:latin typeface="Calibri" pitchFamily="34" charset="0"/>
                <a:ea typeface="Calibri" pitchFamily="34" charset="-122"/>
                <a:cs typeface="Calibri" pitchFamily="34" charset="-120"/>
              </a:rPr>
              <a:t> est nécessaire et qu'un cancer invasif suspecté est orienté en urgence.</a:t>
            </a:r>
            <a:endParaRPr lang="fr-FR" sz="1456" noProof="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TRAITEMENT DES LÉSIONS PRÉCANCÉREUSES</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Lorsque l'ablation est appropriée</a:t>
            </a:r>
          </a:p>
        </p:txBody>
      </p:sp>
      <p:sp>
        <p:nvSpPr>
          <p:cNvPr id="4" name="Shape 4"/>
          <p:cNvSpPr/>
          <p:nvPr/>
        </p:nvSpPr>
        <p:spPr>
          <a:xfrm>
            <a:off x="566928" y="1450000"/>
            <a:ext cx="5436108" cy="365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5" name="Text 5"/>
          <p:cNvSpPr txBox="1"/>
          <p:nvPr/>
        </p:nvSpPr>
        <p:spPr>
          <a:xfrm>
            <a:off x="822960" y="1570000"/>
            <a:ext cx="4924044" cy="520000"/>
          </a:xfrm>
          <a:prstGeom prst="rect">
            <a:avLst/>
          </a:prstGeom>
          <a:noFill/>
          <a:ln/>
        </p:spPr>
        <p:txBody>
          <a:bodyPr wrap="square" lIns="0" tIns="0" rIns="0" bIns="0" rtlCol="0" anchor="ctr"/>
          <a:lstStyle/>
          <a:p>
            <a:pPr marL="0" indent="0" algn="l">
              <a:buNone/>
            </a:pPr>
            <a:r>
              <a:rPr lang="fr-FR" sz="1700" b="1" noProof="0" dirty="0">
                <a:solidFill>
                  <a:srgbClr val="19543E"/>
                </a:solidFill>
                <a:latin typeface="Calibri" pitchFamily="34" charset="0"/>
                <a:ea typeface="Calibri" pitchFamily="34" charset="-122"/>
                <a:cs typeface="Calibri" pitchFamily="34" charset="-120"/>
              </a:rPr>
              <a:t>✅  L'ablation thermique est appropriée lorsque</a:t>
            </a:r>
            <a:endParaRPr lang="fr-FR" sz="1700" dirty="0"/>
          </a:p>
        </p:txBody>
      </p:sp>
      <p:sp>
        <p:nvSpPr>
          <p:cNvPr id="6" name="Text 6"/>
          <p:cNvSpPr txBox="1"/>
          <p:nvPr/>
        </p:nvSpPr>
        <p:spPr>
          <a:xfrm>
            <a:off x="822960" y="2150000"/>
            <a:ext cx="4924044" cy="28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400" noProof="0" dirty="0">
                <a:solidFill>
                  <a:srgbClr val="23303F"/>
                </a:solidFill>
                <a:latin typeface="Calibri" pitchFamily="34" charset="0"/>
                <a:ea typeface="Calibri" pitchFamily="34" charset="-122"/>
                <a:cs typeface="Calibri" pitchFamily="34" charset="-120"/>
              </a:rPr>
              <a:t>La VIA est positive ; ou la VIA est négative avec HPV 16/18 (VIH négatif) ou tout type à haut risque (vivant avec le VIH).</a:t>
            </a:r>
            <a:endParaRPr lang="fr-FR" sz="1400" dirty="0"/>
          </a:p>
          <a:p>
            <a:pPr marL="285750" indent="-285750" algn="l">
              <a:lnSpc>
                <a:spcPct val="104000"/>
              </a:lnSpc>
              <a:spcAft>
                <a:spcPts val="600"/>
              </a:spcAft>
              <a:buSzPct val="100000"/>
              <a:buChar char="•"/>
            </a:pPr>
            <a:r>
              <a:rPr lang="fr-FR" sz="1400" noProof="0" dirty="0">
                <a:solidFill>
                  <a:srgbClr val="23303F"/>
                </a:solidFill>
                <a:latin typeface="Calibri" pitchFamily="34" charset="0"/>
                <a:ea typeface="Calibri" pitchFamily="34" charset="-122"/>
                <a:cs typeface="Calibri" pitchFamily="34" charset="-120"/>
              </a:rPr>
              <a:t>Toute la lésion est visible et n'entre pas dans le canal.</a:t>
            </a:r>
            <a:endParaRPr lang="fr-FR" sz="1400" dirty="0"/>
          </a:p>
          <a:p>
            <a:pPr marL="285750" indent="-285750" algn="l">
              <a:lnSpc>
                <a:spcPct val="104000"/>
              </a:lnSpc>
              <a:spcAft>
                <a:spcPts val="600"/>
              </a:spcAft>
              <a:buSzPct val="100000"/>
              <a:buChar char="•"/>
            </a:pPr>
            <a:r>
              <a:rPr lang="fr-FR" sz="1400" noProof="0" dirty="0">
                <a:solidFill>
                  <a:srgbClr val="23303F"/>
                </a:solidFill>
                <a:latin typeface="Calibri" pitchFamily="34" charset="0"/>
                <a:ea typeface="Calibri" pitchFamily="34" charset="-122"/>
                <a:cs typeface="Calibri" pitchFamily="34" charset="-120"/>
              </a:rPr>
              <a:t>La lésion couvre moins de 75 % du col (ZT de type 1 ou 2).</a:t>
            </a:r>
            <a:endParaRPr lang="fr-FR" sz="1400" dirty="0"/>
          </a:p>
          <a:p>
            <a:pPr marL="285750" indent="-285750" algn="l">
              <a:lnSpc>
                <a:spcPct val="104000"/>
              </a:lnSpc>
              <a:spcAft>
                <a:spcPts val="600"/>
              </a:spcAft>
              <a:buSzPct val="100000"/>
              <a:buChar char="•"/>
            </a:pPr>
            <a:r>
              <a:rPr lang="fr-FR" sz="1400" noProof="0" dirty="0">
                <a:solidFill>
                  <a:srgbClr val="23303F"/>
                </a:solidFill>
                <a:latin typeface="Calibri" pitchFamily="34" charset="0"/>
                <a:ea typeface="Calibri" pitchFamily="34" charset="-122"/>
                <a:cs typeface="Calibri" pitchFamily="34" charset="-120"/>
              </a:rPr>
              <a:t>Aucun cancer n'est suspecté, et aucun polype ou déformation n'empêche le contact de la sonde.</a:t>
            </a:r>
            <a:endParaRPr lang="fr-FR" sz="1400" dirty="0"/>
          </a:p>
          <a:p>
            <a:pPr marL="285750" indent="-285750" algn="l">
              <a:lnSpc>
                <a:spcPct val="104000"/>
              </a:lnSpc>
              <a:spcAft>
                <a:spcPts val="600"/>
              </a:spcAft>
              <a:buSzPct val="100000"/>
              <a:buChar char="•"/>
            </a:pPr>
            <a:r>
              <a:rPr lang="fr-FR" sz="1400" noProof="0" dirty="0">
                <a:solidFill>
                  <a:srgbClr val="23303F"/>
                </a:solidFill>
                <a:latin typeface="Calibri" pitchFamily="34" charset="0"/>
                <a:ea typeface="Calibri" pitchFamily="34" charset="-122"/>
                <a:cs typeface="Calibri" pitchFamily="34" charset="-120"/>
              </a:rPr>
              <a:t>Elle n'est pas enceinte, a accouché il y a plus de 6 semaines et n'a pas de cervicite sévère.</a:t>
            </a:r>
            <a:endParaRPr lang="fr-FR" sz="1400" dirty="0"/>
          </a:p>
        </p:txBody>
      </p:sp>
      <p:sp>
        <p:nvSpPr>
          <p:cNvPr id="7" name="Shape 7"/>
          <p:cNvSpPr/>
          <p:nvPr/>
        </p:nvSpPr>
        <p:spPr>
          <a:xfrm>
            <a:off x="6185916" y="1450000"/>
            <a:ext cx="5436108" cy="365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8" name="Text 8"/>
          <p:cNvSpPr txBox="1"/>
          <p:nvPr/>
        </p:nvSpPr>
        <p:spPr>
          <a:xfrm>
            <a:off x="6441948" y="1570000"/>
            <a:ext cx="4924044" cy="520000"/>
          </a:xfrm>
          <a:prstGeom prst="rect">
            <a:avLst/>
          </a:prstGeom>
          <a:noFill/>
          <a:ln/>
        </p:spPr>
        <p:txBody>
          <a:bodyPr wrap="square" lIns="0" tIns="0" rIns="0" bIns="0" rtlCol="0" anchor="ctr"/>
          <a:lstStyle/>
          <a:p>
            <a:pPr marL="0" indent="0" algn="l">
              <a:buNone/>
            </a:pPr>
            <a:r>
              <a:rPr lang="fr-FR" sz="1700" b="1" noProof="0" dirty="0">
                <a:solidFill>
                  <a:srgbClr val="7B5727"/>
                </a:solidFill>
                <a:latin typeface="Calibri" pitchFamily="34" charset="0"/>
                <a:ea typeface="Calibri" pitchFamily="34" charset="-122"/>
                <a:cs typeface="Calibri" pitchFamily="34" charset="-120"/>
              </a:rPr>
              <a:t>🏥  Orienter pour LEEP ou biopsie lorsque</a:t>
            </a:r>
            <a:endParaRPr lang="fr-FR" sz="1700" dirty="0"/>
          </a:p>
        </p:txBody>
      </p:sp>
      <p:sp>
        <p:nvSpPr>
          <p:cNvPr id="9" name="Text 9"/>
          <p:cNvSpPr txBox="1"/>
          <p:nvPr/>
        </p:nvSpPr>
        <p:spPr>
          <a:xfrm>
            <a:off x="6441948" y="2150000"/>
            <a:ext cx="4924044" cy="28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400" noProof="0" dirty="0">
                <a:solidFill>
                  <a:srgbClr val="23303F"/>
                </a:solidFill>
                <a:latin typeface="Calibri" pitchFamily="34" charset="0"/>
                <a:ea typeface="Calibri" pitchFamily="34" charset="-122"/>
                <a:cs typeface="Calibri" pitchFamily="34" charset="-120"/>
              </a:rPr>
              <a:t>La zone de transformation est de type 3.</a:t>
            </a:r>
            <a:endParaRPr lang="fr-FR" sz="1400" dirty="0"/>
          </a:p>
          <a:p>
            <a:pPr marL="285750" indent="-285750" algn="l">
              <a:lnSpc>
                <a:spcPct val="104000"/>
              </a:lnSpc>
              <a:spcAft>
                <a:spcPts val="600"/>
              </a:spcAft>
              <a:buSzPct val="100000"/>
              <a:buChar char="•"/>
            </a:pPr>
            <a:r>
              <a:rPr lang="fr-FR" sz="1400" noProof="0" dirty="0">
                <a:solidFill>
                  <a:srgbClr val="23303F"/>
                </a:solidFill>
                <a:latin typeface="Calibri" pitchFamily="34" charset="0"/>
                <a:ea typeface="Calibri" pitchFamily="34" charset="-122"/>
                <a:cs typeface="Calibri" pitchFamily="34" charset="-120"/>
              </a:rPr>
              <a:t>La lésion couvre plus de 75 % du col, ou s'étend dans le canal.</a:t>
            </a:r>
            <a:endParaRPr lang="fr-FR" sz="1400" dirty="0"/>
          </a:p>
          <a:p>
            <a:pPr marL="285750" indent="-285750" algn="l">
              <a:lnSpc>
                <a:spcPct val="104000"/>
              </a:lnSpc>
              <a:spcAft>
                <a:spcPts val="600"/>
              </a:spcAft>
              <a:buSzPct val="100000"/>
              <a:buChar char="•"/>
            </a:pPr>
            <a:r>
              <a:rPr lang="fr-FR" sz="1400" noProof="0" dirty="0">
                <a:solidFill>
                  <a:srgbClr val="23303F"/>
                </a:solidFill>
                <a:latin typeface="Calibri" pitchFamily="34" charset="0"/>
                <a:ea typeface="Calibri" pitchFamily="34" charset="-122"/>
                <a:cs typeface="Calibri" pitchFamily="34" charset="-120"/>
              </a:rPr>
              <a:t>Une anomalie glandulaire est suspectée.</a:t>
            </a:r>
            <a:endParaRPr lang="fr-FR" sz="1400" dirty="0"/>
          </a:p>
          <a:p>
            <a:pPr marL="285750" indent="-285750" algn="l">
              <a:lnSpc>
                <a:spcPct val="104000"/>
              </a:lnSpc>
              <a:spcAft>
                <a:spcPts val="600"/>
              </a:spcAft>
              <a:buSzPct val="100000"/>
              <a:buChar char="•"/>
            </a:pPr>
            <a:r>
              <a:rPr lang="fr-FR" sz="1400" noProof="0" dirty="0">
                <a:solidFill>
                  <a:srgbClr val="23303F"/>
                </a:solidFill>
                <a:latin typeface="Calibri" pitchFamily="34" charset="0"/>
                <a:ea typeface="Calibri" pitchFamily="34" charset="-122"/>
                <a:cs typeface="Calibri" pitchFamily="34" charset="-120"/>
              </a:rPr>
              <a:t>Le test de suivi est positif après un traitement antérieur.</a:t>
            </a:r>
            <a:endParaRPr lang="fr-FR" sz="1400" dirty="0"/>
          </a:p>
          <a:p>
            <a:pPr marL="285750" indent="-285750" algn="l">
              <a:lnSpc>
                <a:spcPct val="104000"/>
              </a:lnSpc>
              <a:spcAft>
                <a:spcPts val="600"/>
              </a:spcAft>
              <a:buSzPct val="100000"/>
              <a:buChar char="•"/>
            </a:pPr>
            <a:r>
              <a:rPr lang="fr-FR" sz="1400" noProof="0" dirty="0">
                <a:solidFill>
                  <a:srgbClr val="23303F"/>
                </a:solidFill>
                <a:latin typeface="Calibri" pitchFamily="34" charset="0"/>
                <a:ea typeface="Calibri" pitchFamily="34" charset="-122"/>
                <a:cs typeface="Calibri" pitchFamily="34" charset="-120"/>
              </a:rPr>
              <a:t>Un cancer invasif est suspecté : orienter pour biopsie, ne jamais faire d'ablation.</a:t>
            </a:r>
            <a:endParaRPr lang="fr-FR" sz="1400" dirty="0"/>
          </a:p>
        </p:txBody>
      </p:sp>
      <p:sp>
        <p:nvSpPr>
          <p:cNvPr id="10" name="Shape 10"/>
          <p:cNvSpPr/>
          <p:nvPr/>
        </p:nvSpPr>
        <p:spPr>
          <a:xfrm>
            <a:off x="566928" y="5250000"/>
            <a:ext cx="11055096" cy="90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1" name="Text 11"/>
          <p:cNvSpPr txBox="1"/>
          <p:nvPr/>
        </p:nvSpPr>
        <p:spPr>
          <a:xfrm>
            <a:off x="841248" y="5300000"/>
            <a:ext cx="10506456" cy="800000"/>
          </a:xfrm>
          <a:prstGeom prst="rect">
            <a:avLst/>
          </a:prstGeom>
          <a:noFill/>
          <a:ln/>
        </p:spPr>
        <p:txBody>
          <a:bodyPr wrap="square" lIns="0" tIns="0" rIns="0" bIns="0" rtlCol="0" anchor="ctr"/>
          <a:lstStyle/>
          <a:p>
            <a:pPr marL="0" indent="0" algn="l">
              <a:buNone/>
            </a:pPr>
            <a:r>
              <a:rPr lang="fr-FR" sz="1500" b="1" noProof="0" dirty="0">
                <a:solidFill>
                  <a:srgbClr val="19543E"/>
                </a:solidFill>
                <a:latin typeface="Calibri" pitchFamily="34" charset="0"/>
                <a:ea typeface="Calibri" pitchFamily="34" charset="-122"/>
                <a:cs typeface="Calibri" pitchFamily="34" charset="-120"/>
              </a:rPr>
              <a:t>🏥 Au Rwanda :  </a:t>
            </a:r>
            <a:r>
              <a:rPr lang="fr-FR" sz="1500" noProof="0" dirty="0">
                <a:solidFill>
                  <a:srgbClr val="23303F"/>
                </a:solidFill>
                <a:latin typeface="Calibri" pitchFamily="34" charset="0"/>
                <a:ea typeface="Calibri" pitchFamily="34" charset="-122"/>
                <a:cs typeface="Calibri" pitchFamily="34" charset="-120"/>
              </a:rPr>
              <a:t>L'ablation thermique est réalisée dans les centres de santé et les hôpitaux. La colposcopie, la LEEP et la biopsie sont réalisées dans les hôpitaux de district.</a:t>
            </a:r>
            <a:endParaRPr lang="fr-FR" sz="1500" dirty="0"/>
          </a:p>
        </p:txBody>
      </p:sp>
      <p:sp>
        <p:nvSpPr>
          <p:cNvPr id="12" name="Text 12"/>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3" name="Text 13"/>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102</a:t>
            </a:r>
            <a:endParaRPr lang="fr-FR" sz="11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3" name="Imagen 32">
            <a:extLst>
              <a:ext uri="{FF2B5EF4-FFF2-40B4-BE49-F238E27FC236}">
                <a16:creationId xmlns:a16="http://schemas.microsoft.com/office/drawing/2014/main" id="{E43CC44A-059E-D6D8-3B6A-15FC2389BF1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811662" y="1328946"/>
            <a:ext cx="10282159" cy="4364351"/>
          </a:xfrm>
          <a:prstGeom prst="rect">
            <a:avLst/>
          </a:prstGeom>
        </p:spPr>
      </p:pic>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TRAITEMENT DES LÉSIONS PRÉCANCÉREUSES</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2800" b="1" noProof="0" dirty="0">
                <a:solidFill>
                  <a:srgbClr val="10305A"/>
                </a:solidFill>
                <a:latin typeface="Cambria" pitchFamily="34" charset="0"/>
                <a:ea typeface="Cambria" pitchFamily="34" charset="-122"/>
                <a:cs typeface="Cambria" pitchFamily="34" charset="-120"/>
              </a:rPr>
              <a:t>Évaluer la taille de la lésion : la méthode des quadrants</a:t>
            </a:r>
          </a:p>
        </p:txBody>
      </p:sp>
      <p:sp>
        <p:nvSpPr>
          <p:cNvPr id="29" name="Shape 29"/>
          <p:cNvSpPr/>
          <p:nvPr/>
        </p:nvSpPr>
        <p:spPr>
          <a:xfrm>
            <a:off x="566928" y="5550000"/>
            <a:ext cx="11055096" cy="650000"/>
          </a:xfrm>
          <a:prstGeom prst="roundRect">
            <a:avLst>
              <a:gd name="adj" fmla="val 3000"/>
            </a:avLst>
          </a:prstGeom>
          <a:solidFill>
            <a:srgbClr val="FFF2DF"/>
          </a:solidFill>
          <a:ln w="12700">
            <a:solidFill>
              <a:srgbClr val="E8DDC7"/>
            </a:solidFill>
          </a:ln>
        </p:spPr>
        <p:txBody>
          <a:bodyPr/>
          <a:lstStyle/>
          <a:p>
            <a:endParaRPr lang="fr-FR" sz="1600" dirty="0"/>
          </a:p>
        </p:txBody>
      </p:sp>
      <p:sp>
        <p:nvSpPr>
          <p:cNvPr id="30" name="Text 30"/>
          <p:cNvSpPr txBox="1"/>
          <p:nvPr/>
        </p:nvSpPr>
        <p:spPr>
          <a:xfrm>
            <a:off x="841248" y="5600000"/>
            <a:ext cx="10506456" cy="550000"/>
          </a:xfrm>
          <a:prstGeom prst="rect">
            <a:avLst/>
          </a:prstGeom>
          <a:noFill/>
          <a:ln/>
        </p:spPr>
        <p:txBody>
          <a:bodyPr wrap="square" lIns="0" tIns="0" rIns="0" bIns="0" rtlCol="0" anchor="ctr"/>
          <a:lstStyle/>
          <a:p>
            <a:pPr marL="0" indent="0" algn="l">
              <a:buNone/>
            </a:pPr>
            <a:r>
              <a:rPr lang="fr-FR" sz="1500" b="1" noProof="0" dirty="0">
                <a:solidFill>
                  <a:srgbClr val="7B5727"/>
                </a:solidFill>
                <a:latin typeface="Calibri" pitchFamily="34" charset="0"/>
                <a:ea typeface="Calibri" pitchFamily="34" charset="-122"/>
                <a:cs typeface="Calibri" pitchFamily="34" charset="-120"/>
              </a:rPr>
              <a:t>📌 Rappelez-vous :  </a:t>
            </a:r>
            <a:r>
              <a:rPr lang="fr-FR" sz="1500" noProof="0" dirty="0">
                <a:solidFill>
                  <a:srgbClr val="23303F"/>
                </a:solidFill>
                <a:latin typeface="Calibri" pitchFamily="34" charset="0"/>
                <a:ea typeface="Calibri" pitchFamily="34" charset="-122"/>
                <a:cs typeface="Calibri" pitchFamily="34" charset="-120"/>
              </a:rPr>
              <a:t>La taille n'est qu'un critère. Toute la lésion doit être visible, et aucun cancer ne doit être suspecté.</a:t>
            </a:r>
            <a:endParaRPr lang="fr-FR" sz="1500" dirty="0"/>
          </a:p>
        </p:txBody>
      </p:sp>
      <p:sp>
        <p:nvSpPr>
          <p:cNvPr id="31" name="Text 31"/>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32" name="Text 32"/>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103</a:t>
            </a:r>
            <a:endParaRPr lang="fr-FR"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INTERACTIF</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Éligible à l'ablation thermique aujourd'hui ?</a:t>
            </a:r>
          </a:p>
        </p:txBody>
      </p:sp>
      <p:sp>
        <p:nvSpPr>
          <p:cNvPr id="4" name="Text 4"/>
          <p:cNvSpPr txBox="1"/>
          <p:nvPr/>
        </p:nvSpPr>
        <p:spPr>
          <a:xfrm>
            <a:off x="566928" y="1540000"/>
            <a:ext cx="11055096" cy="700000"/>
          </a:xfrm>
          <a:prstGeom prst="rect">
            <a:avLst/>
          </a:prstGeom>
          <a:noFill/>
          <a:ln/>
        </p:spPr>
        <p:txBody>
          <a:bodyPr wrap="square" lIns="0" tIns="0" rIns="0" bIns="0" rtlCol="0" anchor="ctr"/>
          <a:lstStyle/>
          <a:p>
            <a:pPr marL="0" indent="0" algn="l">
              <a:buNone/>
            </a:pPr>
            <a:r>
              <a:rPr lang="fr-FR" sz="1800" b="1" noProof="0" dirty="0">
                <a:solidFill>
                  <a:srgbClr val="23303F"/>
                </a:solidFill>
                <a:latin typeface="Calibri" pitchFamily="34" charset="0"/>
                <a:ea typeface="Calibri" pitchFamily="34" charset="-122"/>
                <a:cs typeface="Calibri" pitchFamily="34" charset="-120"/>
              </a:rPr>
              <a:t>Laquelle ou lesquelles de ces femmes peuvent recevoir une ablation thermique lors de cette visite ? Sélectionnez toutes les réponses correctes.</a:t>
            </a:r>
            <a:endParaRPr lang="fr-FR" sz="1800" dirty="0"/>
          </a:p>
        </p:txBody>
      </p:sp>
      <p:sp>
        <p:nvSpPr>
          <p:cNvPr id="5" name="Shape 5"/>
          <p:cNvSpPr/>
          <p:nvPr/>
        </p:nvSpPr>
        <p:spPr>
          <a:xfrm>
            <a:off x="566928" y="2330000"/>
            <a:ext cx="11055096" cy="48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6" name="Text 6"/>
          <p:cNvSpPr txBox="1"/>
          <p:nvPr/>
        </p:nvSpPr>
        <p:spPr>
          <a:xfrm>
            <a:off x="841248" y="2330000"/>
            <a:ext cx="10506456" cy="480000"/>
          </a:xfrm>
          <a:prstGeom prst="rect">
            <a:avLst/>
          </a:prstGeom>
          <a:noFill/>
          <a:ln/>
        </p:spPr>
        <p:txBody>
          <a:bodyPr wrap="square" lIns="0" tIns="0" rIns="0" bIns="0" rtlCol="0" anchor="ctr"/>
          <a:lstStyle/>
          <a:p>
            <a:pPr marL="0" indent="0">
              <a:buNone/>
            </a:pPr>
            <a:r>
              <a:rPr lang="fr-FR" sz="1700" b="1" noProof="0" dirty="0">
                <a:solidFill>
                  <a:srgbClr val="19543E"/>
                </a:solidFill>
                <a:latin typeface="Calibri" pitchFamily="34" charset="0"/>
                <a:ea typeface="Calibri" pitchFamily="34" charset="-122"/>
                <a:cs typeface="Calibri" pitchFamily="34" charset="-120"/>
              </a:rPr>
              <a:t>A   </a:t>
            </a:r>
            <a:r>
              <a:rPr lang="fr-FR" sz="1700" noProof="0" dirty="0">
                <a:solidFill>
                  <a:srgbClr val="23303F"/>
                </a:solidFill>
                <a:latin typeface="Calibri" pitchFamily="34" charset="0"/>
                <a:ea typeface="Calibri" pitchFamily="34" charset="-122"/>
                <a:cs typeface="Calibri" pitchFamily="34" charset="-120"/>
              </a:rPr>
              <a:t>VIH négatif, HPV 16 positif, VIA négative, zone de transformation de type 2</a:t>
            </a:r>
            <a:r>
              <a:rPr lang="fr-FR" sz="1700" noProof="0" dirty="0">
                <a:solidFill>
                  <a:srgbClr val="000000"/>
                </a:solidFill>
                <a:latin typeface="Calibri" pitchFamily="34" charset="0"/>
                <a:ea typeface="Calibri" pitchFamily="34" charset="-122"/>
                <a:cs typeface="Calibri" pitchFamily="34" charset="-120"/>
              </a:rPr>
              <a:t>   ✅</a:t>
            </a:r>
            <a:endParaRPr lang="fr-FR" sz="1700" noProof="0" dirty="0"/>
          </a:p>
        </p:txBody>
      </p:sp>
      <p:sp>
        <p:nvSpPr>
          <p:cNvPr id="7" name="Shape 7"/>
          <p:cNvSpPr/>
          <p:nvPr/>
        </p:nvSpPr>
        <p:spPr>
          <a:xfrm>
            <a:off x="566928" y="2880000"/>
            <a:ext cx="11055096" cy="48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8" name="Text 8"/>
          <p:cNvSpPr txBox="1"/>
          <p:nvPr/>
        </p:nvSpPr>
        <p:spPr>
          <a:xfrm>
            <a:off x="841248" y="2880000"/>
            <a:ext cx="10506456" cy="480000"/>
          </a:xfrm>
          <a:prstGeom prst="rect">
            <a:avLst/>
          </a:prstGeom>
          <a:noFill/>
          <a:ln/>
        </p:spPr>
        <p:txBody>
          <a:bodyPr wrap="square" lIns="0" tIns="0" rIns="0" bIns="0" rtlCol="0" anchor="ctr"/>
          <a:lstStyle/>
          <a:p>
            <a:pPr marL="0" indent="0">
              <a:buNone/>
            </a:pPr>
            <a:r>
              <a:rPr lang="fr-FR" sz="1700" b="1" noProof="0" dirty="0">
                <a:solidFill>
                  <a:srgbClr val="19543E"/>
                </a:solidFill>
                <a:latin typeface="Calibri" pitchFamily="34" charset="0"/>
                <a:ea typeface="Calibri" pitchFamily="34" charset="-122"/>
                <a:cs typeface="Calibri" pitchFamily="34" charset="-120"/>
              </a:rPr>
              <a:t>B   </a:t>
            </a:r>
            <a:r>
              <a:rPr lang="fr-FR" sz="1700" noProof="0" dirty="0">
                <a:solidFill>
                  <a:srgbClr val="23303F"/>
                </a:solidFill>
                <a:latin typeface="Calibri" pitchFamily="34" charset="0"/>
                <a:ea typeface="Calibri" pitchFamily="34" charset="-122"/>
                <a:cs typeface="Calibri" pitchFamily="34" charset="-120"/>
              </a:rPr>
              <a:t>Lésion VIA positive couvrant un quadrant, zone de transformation de type 1, pas enceinte</a:t>
            </a:r>
            <a:r>
              <a:rPr lang="fr-FR" sz="1700" noProof="0" dirty="0">
                <a:solidFill>
                  <a:srgbClr val="000000"/>
                </a:solidFill>
                <a:latin typeface="Calibri" pitchFamily="34" charset="0"/>
                <a:ea typeface="Calibri" pitchFamily="34" charset="-122"/>
                <a:cs typeface="Calibri" pitchFamily="34" charset="-120"/>
              </a:rPr>
              <a:t>   ✅</a:t>
            </a:r>
            <a:endParaRPr lang="fr-FR" sz="1700" noProof="0" dirty="0"/>
          </a:p>
        </p:txBody>
      </p:sp>
      <p:sp>
        <p:nvSpPr>
          <p:cNvPr id="9" name="Shape 9"/>
          <p:cNvSpPr/>
          <p:nvPr/>
        </p:nvSpPr>
        <p:spPr>
          <a:xfrm>
            <a:off x="566928" y="3430000"/>
            <a:ext cx="11055096" cy="4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0" name="Text 10"/>
          <p:cNvSpPr txBox="1"/>
          <p:nvPr/>
        </p:nvSpPr>
        <p:spPr>
          <a:xfrm>
            <a:off x="841248" y="3430000"/>
            <a:ext cx="10506456" cy="480000"/>
          </a:xfrm>
          <a:prstGeom prst="rect">
            <a:avLst/>
          </a:prstGeom>
          <a:noFill/>
          <a:ln/>
        </p:spPr>
        <p:txBody>
          <a:bodyPr wrap="square" lIns="0" tIns="0" rIns="0" bIns="0" rtlCol="0" anchor="ctr"/>
          <a:lstStyle/>
          <a:p>
            <a:pPr marL="0" indent="0">
              <a:buNone/>
            </a:pPr>
            <a:r>
              <a:rPr lang="fr-FR" sz="1700" b="1" noProof="0" dirty="0">
                <a:solidFill>
                  <a:srgbClr val="1F4E96"/>
                </a:solidFill>
                <a:latin typeface="Calibri" pitchFamily="34" charset="0"/>
                <a:ea typeface="Calibri" pitchFamily="34" charset="-122"/>
                <a:cs typeface="Calibri" pitchFamily="34" charset="-120"/>
              </a:rPr>
              <a:t>C   </a:t>
            </a:r>
            <a:r>
              <a:rPr lang="fr-FR" sz="1700" noProof="0" dirty="0">
                <a:solidFill>
                  <a:srgbClr val="23303F"/>
                </a:solidFill>
                <a:latin typeface="Calibri" pitchFamily="34" charset="0"/>
                <a:ea typeface="Calibri" pitchFamily="34" charset="-122"/>
                <a:cs typeface="Calibri" pitchFamily="34" charset="-120"/>
              </a:rPr>
              <a:t>Lésion VIA positive, zone de transformation de type 3</a:t>
            </a:r>
            <a:endParaRPr lang="fr-FR" sz="1700" noProof="0" dirty="0"/>
          </a:p>
        </p:txBody>
      </p:sp>
      <p:sp>
        <p:nvSpPr>
          <p:cNvPr id="11" name="Shape 11"/>
          <p:cNvSpPr/>
          <p:nvPr/>
        </p:nvSpPr>
        <p:spPr>
          <a:xfrm>
            <a:off x="566928" y="3980000"/>
            <a:ext cx="11055096" cy="4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2" name="Text 12"/>
          <p:cNvSpPr txBox="1"/>
          <p:nvPr/>
        </p:nvSpPr>
        <p:spPr>
          <a:xfrm>
            <a:off x="841248" y="3980000"/>
            <a:ext cx="10506456" cy="480000"/>
          </a:xfrm>
          <a:prstGeom prst="rect">
            <a:avLst/>
          </a:prstGeom>
          <a:noFill/>
          <a:ln/>
        </p:spPr>
        <p:txBody>
          <a:bodyPr wrap="square" lIns="0" tIns="0" rIns="0" bIns="0" rtlCol="0" anchor="ctr"/>
          <a:lstStyle/>
          <a:p>
            <a:pPr marL="0" indent="0">
              <a:buNone/>
            </a:pPr>
            <a:r>
              <a:rPr lang="fr-FR" sz="1700" b="1" noProof="0" dirty="0">
                <a:solidFill>
                  <a:srgbClr val="1F4E96"/>
                </a:solidFill>
                <a:latin typeface="Calibri" pitchFamily="34" charset="0"/>
                <a:ea typeface="Calibri" pitchFamily="34" charset="-122"/>
                <a:cs typeface="Calibri" pitchFamily="34" charset="-120"/>
              </a:rPr>
              <a:t>D   </a:t>
            </a:r>
            <a:r>
              <a:rPr lang="fr-FR" sz="1700" noProof="0" dirty="0">
                <a:solidFill>
                  <a:srgbClr val="23303F"/>
                </a:solidFill>
                <a:latin typeface="Calibri" pitchFamily="34" charset="0"/>
                <a:ea typeface="Calibri" pitchFamily="34" charset="-122"/>
                <a:cs typeface="Calibri" pitchFamily="34" charset="-120"/>
              </a:rPr>
              <a:t>Masse friable sur le col qui saigne au contact</a:t>
            </a:r>
            <a:endParaRPr lang="fr-FR" sz="1700" noProof="0" dirty="0"/>
          </a:p>
        </p:txBody>
      </p:sp>
      <p:sp>
        <p:nvSpPr>
          <p:cNvPr id="13" name="Shape 13"/>
          <p:cNvSpPr/>
          <p:nvPr/>
        </p:nvSpPr>
        <p:spPr>
          <a:xfrm>
            <a:off x="566928" y="4590000"/>
            <a:ext cx="11055096" cy="1660000"/>
          </a:xfrm>
          <a:prstGeom prst="roundRect">
            <a:avLst>
              <a:gd name="adj" fmla="val 3000"/>
            </a:avLst>
          </a:prstGeom>
          <a:solidFill>
            <a:srgbClr val="EAF7F0"/>
          </a:solidFill>
          <a:ln w="12700">
            <a:solidFill>
              <a:srgbClr val="C0D4CB"/>
            </a:solidFill>
          </a:ln>
        </p:spPr>
        <p:txBody>
          <a:bodyPr/>
          <a:lstStyle/>
          <a:p>
            <a:endParaRPr lang="fr-FR" sz="1600" dirty="0"/>
          </a:p>
        </p:txBody>
      </p:sp>
      <p:sp>
        <p:nvSpPr>
          <p:cNvPr id="14" name="Text 14"/>
          <p:cNvSpPr txBox="1"/>
          <p:nvPr/>
        </p:nvSpPr>
        <p:spPr>
          <a:xfrm>
            <a:off x="841248" y="4640000"/>
            <a:ext cx="10506456" cy="1560000"/>
          </a:xfrm>
          <a:prstGeom prst="rect">
            <a:avLst/>
          </a:prstGeom>
          <a:noFill/>
          <a:ln/>
        </p:spPr>
        <p:txBody>
          <a:bodyPr wrap="square" lIns="0" tIns="0" rIns="0" bIns="0" rtlCol="0" anchor="ctr"/>
          <a:lstStyle/>
          <a:p>
            <a:pPr marL="0" indent="0" algn="l">
              <a:buNone/>
            </a:pPr>
            <a:r>
              <a:rPr lang="fr-FR" sz="1600" b="1" noProof="0" dirty="0">
                <a:solidFill>
                  <a:srgbClr val="19543E"/>
                </a:solidFill>
                <a:latin typeface="Calibri" pitchFamily="34" charset="0"/>
                <a:ea typeface="Calibri" pitchFamily="34" charset="-122"/>
                <a:cs typeface="Calibri" pitchFamily="34" charset="-120"/>
              </a:rPr>
              <a:t>Bonne réponse : A, B</a:t>
            </a:r>
            <a:endParaRPr lang="fr-FR" sz="1600" dirty="0"/>
          </a:p>
          <a:p>
            <a:pPr marL="0" indent="0" algn="l">
              <a:buNone/>
            </a:pPr>
            <a:r>
              <a:rPr lang="fr-FR" sz="1600" b="1" noProof="0" dirty="0">
                <a:solidFill>
                  <a:srgbClr val="19543E"/>
                </a:solidFill>
                <a:latin typeface="Calibri" pitchFamily="34" charset="0"/>
                <a:ea typeface="Calibri" pitchFamily="34" charset="-122"/>
                <a:cs typeface="Calibri" pitchFamily="34" charset="-120"/>
              </a:rPr>
              <a:t>Retour : </a:t>
            </a:r>
            <a:r>
              <a:rPr lang="fr-FR" sz="1600" noProof="0" dirty="0">
                <a:solidFill>
                  <a:srgbClr val="23303F"/>
                </a:solidFill>
                <a:latin typeface="Calibri" pitchFamily="34" charset="0"/>
                <a:ea typeface="Calibri" pitchFamily="34" charset="-122"/>
                <a:cs typeface="Calibri" pitchFamily="34" charset="-120"/>
              </a:rPr>
              <a:t>A et B remplissent les critères : toute la zone de transformation est visible, la lésion est petite ou un HPV 16/18 est présent, et aucun cancer n'est suspecté. Le type 3 nécessite une LEEP, et une masse friable nécessite une orientation pour biopsie, jamais une ablation.</a:t>
            </a:r>
            <a:endParaRPr lang="fr-FR" sz="16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104</a:t>
            </a:r>
            <a:endParaRPr lang="fr-FR"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TRAITEMENT DES LÉSIONS PRÉCANCÉREUSES</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Ablation thermique : déroulement de la visite</a:t>
            </a:r>
          </a:p>
        </p:txBody>
      </p:sp>
      <p:sp>
        <p:nvSpPr>
          <p:cNvPr id="4" name="Shape 4"/>
          <p:cNvSpPr/>
          <p:nvPr/>
        </p:nvSpPr>
        <p:spPr>
          <a:xfrm>
            <a:off x="566928" y="1500000"/>
            <a:ext cx="11055096" cy="7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786384" y="1500000"/>
            <a:ext cx="548640" cy="78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6" name="Text 6"/>
          <p:cNvSpPr txBox="1"/>
          <p:nvPr/>
        </p:nvSpPr>
        <p:spPr>
          <a:xfrm>
            <a:off x="1463040" y="1500000"/>
            <a:ext cx="9966960" cy="780000"/>
          </a:xfrm>
          <a:prstGeom prst="rect">
            <a:avLst/>
          </a:prstGeom>
          <a:noFill/>
          <a:ln/>
        </p:spPr>
        <p:txBody>
          <a:bodyPr wrap="square" lIns="0" tIns="0" rIns="0" bIns="0" rtlCol="0" anchor="ctr"/>
          <a:lstStyle/>
          <a:p>
            <a:pPr marL="0" indent="0" algn="l">
              <a:buNone/>
            </a:pPr>
            <a:r>
              <a:rPr lang="fr-FR" sz="1700" noProof="0" dirty="0">
                <a:solidFill>
                  <a:srgbClr val="23303F"/>
                </a:solidFill>
                <a:latin typeface="Calibri" pitchFamily="34" charset="0"/>
                <a:ea typeface="Calibri" pitchFamily="34" charset="-122"/>
                <a:cs typeface="Calibri" pitchFamily="34" charset="-120"/>
              </a:rPr>
              <a:t>Vérifiez qu'elle n'est pas enceinte, et confirmez par la VIA que la lésion est éligible.</a:t>
            </a:r>
            <a:endParaRPr lang="fr-FR" sz="1700" dirty="0"/>
          </a:p>
        </p:txBody>
      </p:sp>
      <p:sp>
        <p:nvSpPr>
          <p:cNvPr id="7" name="Shape 7"/>
          <p:cNvSpPr/>
          <p:nvPr/>
        </p:nvSpPr>
        <p:spPr>
          <a:xfrm>
            <a:off x="566928" y="2410000"/>
            <a:ext cx="11055096" cy="7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8" name="Text 8"/>
          <p:cNvSpPr txBox="1"/>
          <p:nvPr/>
        </p:nvSpPr>
        <p:spPr>
          <a:xfrm>
            <a:off x="786384" y="2410000"/>
            <a:ext cx="548640" cy="78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9" name="Text 9"/>
          <p:cNvSpPr txBox="1"/>
          <p:nvPr/>
        </p:nvSpPr>
        <p:spPr>
          <a:xfrm>
            <a:off x="1463040" y="2410000"/>
            <a:ext cx="9966960" cy="780000"/>
          </a:xfrm>
          <a:prstGeom prst="rect">
            <a:avLst/>
          </a:prstGeom>
          <a:noFill/>
          <a:ln/>
        </p:spPr>
        <p:txBody>
          <a:bodyPr wrap="square" lIns="0" tIns="0" rIns="0" bIns="0" rtlCol="0" anchor="ctr"/>
          <a:lstStyle/>
          <a:p>
            <a:pPr marL="0" indent="0" algn="l">
              <a:buNone/>
            </a:pPr>
            <a:r>
              <a:rPr lang="fr-FR" sz="1700" noProof="0" dirty="0">
                <a:solidFill>
                  <a:srgbClr val="23303F"/>
                </a:solidFill>
                <a:latin typeface="Calibri" pitchFamily="34" charset="0"/>
                <a:ea typeface="Calibri" pitchFamily="34" charset="-122"/>
                <a:cs typeface="Calibri" pitchFamily="34" charset="-120"/>
              </a:rPr>
              <a:t>Expliquez la procédure et obtenez un consentement éclairé. Aucune anesthésie n'est nécessaire.</a:t>
            </a:r>
            <a:endParaRPr lang="fr-FR" sz="1700" dirty="0"/>
          </a:p>
        </p:txBody>
      </p:sp>
      <p:sp>
        <p:nvSpPr>
          <p:cNvPr id="10" name="Shape 10"/>
          <p:cNvSpPr/>
          <p:nvPr/>
        </p:nvSpPr>
        <p:spPr>
          <a:xfrm>
            <a:off x="566928" y="3320000"/>
            <a:ext cx="11055096" cy="7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1" name="Text 11"/>
          <p:cNvSpPr txBox="1"/>
          <p:nvPr/>
        </p:nvSpPr>
        <p:spPr>
          <a:xfrm>
            <a:off x="786384" y="3320000"/>
            <a:ext cx="548640" cy="78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12" name="Text 12"/>
          <p:cNvSpPr txBox="1"/>
          <p:nvPr/>
        </p:nvSpPr>
        <p:spPr>
          <a:xfrm>
            <a:off x="1463040" y="3320000"/>
            <a:ext cx="9966960" cy="780000"/>
          </a:xfrm>
          <a:prstGeom prst="rect">
            <a:avLst/>
          </a:prstGeom>
          <a:noFill/>
          <a:ln/>
        </p:spPr>
        <p:txBody>
          <a:bodyPr wrap="square" lIns="0" tIns="0" rIns="0" bIns="0" rtlCol="0" anchor="ctr"/>
          <a:lstStyle/>
          <a:p>
            <a:pPr marL="0" indent="0" algn="l">
              <a:buNone/>
            </a:pPr>
            <a:r>
              <a:rPr lang="fr-FR" sz="1700" noProof="0" dirty="0">
                <a:solidFill>
                  <a:srgbClr val="23303F"/>
                </a:solidFill>
                <a:latin typeface="Calibri" pitchFamily="34" charset="0"/>
                <a:ea typeface="Calibri" pitchFamily="34" charset="-122"/>
                <a:cs typeface="Calibri" pitchFamily="34" charset="-120"/>
              </a:rPr>
              <a:t>La sonde est chauffée à environ 100 °C, puis appliquée pour couvrir la lésion et toute la zone de transformation.</a:t>
            </a:r>
            <a:endParaRPr lang="fr-FR" sz="1700" dirty="0"/>
          </a:p>
        </p:txBody>
      </p:sp>
      <p:sp>
        <p:nvSpPr>
          <p:cNvPr id="13" name="Shape 13"/>
          <p:cNvSpPr/>
          <p:nvPr/>
        </p:nvSpPr>
        <p:spPr>
          <a:xfrm>
            <a:off x="566928" y="4230000"/>
            <a:ext cx="11055096" cy="7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4" name="Text 14"/>
          <p:cNvSpPr txBox="1"/>
          <p:nvPr/>
        </p:nvSpPr>
        <p:spPr>
          <a:xfrm>
            <a:off x="786384" y="4230000"/>
            <a:ext cx="548640" cy="78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15" name="Text 15"/>
          <p:cNvSpPr txBox="1"/>
          <p:nvPr/>
        </p:nvSpPr>
        <p:spPr>
          <a:xfrm>
            <a:off x="1463040" y="4230000"/>
            <a:ext cx="9966960" cy="780000"/>
          </a:xfrm>
          <a:prstGeom prst="rect">
            <a:avLst/>
          </a:prstGeom>
          <a:noFill/>
          <a:ln/>
        </p:spPr>
        <p:txBody>
          <a:bodyPr wrap="square" lIns="0" tIns="0" rIns="0" bIns="0" rtlCol="0" anchor="ctr"/>
          <a:lstStyle/>
          <a:p>
            <a:pPr marL="0" indent="0" algn="l">
              <a:buNone/>
            </a:pPr>
            <a:r>
              <a:rPr lang="fr-FR" sz="1700" noProof="0" dirty="0">
                <a:solidFill>
                  <a:srgbClr val="23303F"/>
                </a:solidFill>
                <a:latin typeface="Calibri" pitchFamily="34" charset="0"/>
                <a:ea typeface="Calibri" pitchFamily="34" charset="-122"/>
                <a:cs typeface="Calibri" pitchFamily="34" charset="-120"/>
              </a:rPr>
              <a:t>Les applications sont répétées et se chevauchent jusqu'à couvrir toute la zone.</a:t>
            </a:r>
            <a:endParaRPr lang="fr-FR" sz="1700" dirty="0"/>
          </a:p>
        </p:txBody>
      </p:sp>
      <p:sp>
        <p:nvSpPr>
          <p:cNvPr id="16" name="Shape 16"/>
          <p:cNvSpPr/>
          <p:nvPr/>
        </p:nvSpPr>
        <p:spPr>
          <a:xfrm>
            <a:off x="566928" y="5140000"/>
            <a:ext cx="11055096" cy="78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7" name="Text 17"/>
          <p:cNvSpPr txBox="1"/>
          <p:nvPr/>
        </p:nvSpPr>
        <p:spPr>
          <a:xfrm>
            <a:off x="786384" y="5140000"/>
            <a:ext cx="548640" cy="780000"/>
          </a:xfrm>
          <a:prstGeom prst="rect">
            <a:avLst/>
          </a:prstGeom>
          <a:noFill/>
          <a:ln/>
        </p:spPr>
        <p:txBody>
          <a:bodyPr wrap="square" lIns="0" tIns="0" rIns="0" bIns="0" rtlCol="0" anchor="ctr"/>
          <a:lstStyle/>
          <a:p>
            <a:pPr marL="0" indent="0" algn="l">
              <a:buNone/>
            </a:pPr>
            <a:r>
              <a:rPr lang="fr-FR" sz="2000" noProof="0" dirty="0">
                <a:solidFill>
                  <a:srgbClr val="000000"/>
                </a:solidFill>
                <a:latin typeface="Calibri" pitchFamily="34" charset="0"/>
                <a:ea typeface="Calibri" pitchFamily="34" charset="-122"/>
                <a:cs typeface="Calibri" pitchFamily="34" charset="-120"/>
              </a:rPr>
              <a:t>📋</a:t>
            </a:r>
            <a:endParaRPr lang="fr-FR" sz="2000" dirty="0"/>
          </a:p>
        </p:txBody>
      </p:sp>
      <p:sp>
        <p:nvSpPr>
          <p:cNvPr id="18" name="Text 18"/>
          <p:cNvSpPr txBox="1"/>
          <p:nvPr/>
        </p:nvSpPr>
        <p:spPr>
          <a:xfrm>
            <a:off x="1463040" y="5140000"/>
            <a:ext cx="9966960" cy="780000"/>
          </a:xfrm>
          <a:prstGeom prst="rect">
            <a:avLst/>
          </a:prstGeom>
          <a:noFill/>
          <a:ln/>
        </p:spPr>
        <p:txBody>
          <a:bodyPr wrap="square" lIns="0" tIns="0" rIns="0" bIns="0" rtlCol="0" anchor="ctr"/>
          <a:lstStyle/>
          <a:p>
            <a:pPr marL="0" indent="0" algn="l">
              <a:buNone/>
            </a:pPr>
            <a:r>
              <a:rPr lang="fr-FR" sz="1700" noProof="0" dirty="0">
                <a:solidFill>
                  <a:srgbClr val="23303F"/>
                </a:solidFill>
                <a:latin typeface="Calibri" pitchFamily="34" charset="0"/>
                <a:ea typeface="Calibri" pitchFamily="34" charset="-122"/>
                <a:cs typeface="Calibri" pitchFamily="34" charset="-120"/>
              </a:rPr>
              <a:t>Donnez les conseils post-traitement et notez la date du suivi à 12 mois.</a:t>
            </a:r>
            <a:endParaRPr lang="fr-FR" sz="1700" dirty="0"/>
          </a:p>
        </p:txBody>
      </p:sp>
      <p:sp>
        <p:nvSpPr>
          <p:cNvPr id="19" name="Text 1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20" name="Text 2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105</a:t>
            </a:r>
            <a:endParaRPr lang="fr-FR"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COUNSELING</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Counseling avant et après l'ablation thermique</a:t>
            </a:r>
          </a:p>
        </p:txBody>
      </p:sp>
      <p:sp>
        <p:nvSpPr>
          <p:cNvPr id="4" name="Shape 4"/>
          <p:cNvSpPr/>
          <p:nvPr/>
        </p:nvSpPr>
        <p:spPr>
          <a:xfrm>
            <a:off x="566928" y="1450000"/>
            <a:ext cx="3563112" cy="330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5" name="Text 5"/>
          <p:cNvSpPr txBox="1"/>
          <p:nvPr/>
        </p:nvSpPr>
        <p:spPr>
          <a:xfrm>
            <a:off x="822960" y="1570000"/>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Ce qu'elle peut ressentir</a:t>
            </a:r>
            <a:endParaRPr lang="fr-FR" sz="2000" dirty="0"/>
          </a:p>
        </p:txBody>
      </p:sp>
      <p:sp>
        <p:nvSpPr>
          <p:cNvPr id="6" name="Text 6"/>
          <p:cNvSpPr txBox="1"/>
          <p:nvPr/>
        </p:nvSpPr>
        <p:spPr>
          <a:xfrm>
            <a:off x="822960" y="2150000"/>
            <a:ext cx="3051048" cy="25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Des crampes, comme des douleurs de règles, pendant ou peu après le traitement.</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Des pertes aqueuses et de légers saignements, qui cessent en 4 semaines environ.</a:t>
            </a:r>
            <a:endParaRPr lang="fr-FR" sz="1500" dirty="0"/>
          </a:p>
        </p:txBody>
      </p:sp>
      <p:sp>
        <p:nvSpPr>
          <p:cNvPr id="7" name="Shape 7"/>
          <p:cNvSpPr/>
          <p:nvPr/>
        </p:nvSpPr>
        <p:spPr>
          <a:xfrm>
            <a:off x="4312920" y="1450000"/>
            <a:ext cx="3563112" cy="3300000"/>
          </a:xfrm>
          <a:prstGeom prst="roundRect">
            <a:avLst>
              <a:gd name="adj" fmla="val 3000"/>
            </a:avLst>
          </a:prstGeom>
          <a:solidFill>
            <a:srgbClr val="FDE9E8"/>
          </a:solidFill>
          <a:ln w="12700">
            <a:solidFill>
              <a:srgbClr val="F0CFCE"/>
            </a:solidFill>
          </a:ln>
        </p:spPr>
        <p:txBody>
          <a:bodyPr/>
          <a:lstStyle/>
          <a:p>
            <a:endParaRPr lang="fr-FR" sz="1600" dirty="0"/>
          </a:p>
        </p:txBody>
      </p:sp>
      <p:sp>
        <p:nvSpPr>
          <p:cNvPr id="8" name="Text 8"/>
          <p:cNvSpPr txBox="1"/>
          <p:nvPr/>
        </p:nvSpPr>
        <p:spPr>
          <a:xfrm>
            <a:off x="4568952" y="1570000"/>
            <a:ext cx="3051048" cy="520000"/>
          </a:xfrm>
          <a:prstGeom prst="rect">
            <a:avLst/>
          </a:prstGeom>
          <a:noFill/>
          <a:ln/>
        </p:spPr>
        <p:txBody>
          <a:bodyPr wrap="square" lIns="0" tIns="0" rIns="0" bIns="0" rtlCol="0" anchor="ctr"/>
          <a:lstStyle/>
          <a:p>
            <a:pPr marL="0" indent="0" algn="l">
              <a:buNone/>
            </a:pPr>
            <a:r>
              <a:rPr lang="fr-FR" sz="2000" b="1" noProof="0" dirty="0">
                <a:solidFill>
                  <a:srgbClr val="8E2531"/>
                </a:solidFill>
                <a:latin typeface="Calibri" pitchFamily="34" charset="0"/>
                <a:ea typeface="Calibri" pitchFamily="34" charset="-122"/>
                <a:cs typeface="Calibri" pitchFamily="34" charset="-120"/>
              </a:rPr>
              <a:t>⚠️  Revenir d'urgence si</a:t>
            </a:r>
            <a:endParaRPr lang="fr-FR" sz="2000" dirty="0"/>
          </a:p>
        </p:txBody>
      </p:sp>
      <p:sp>
        <p:nvSpPr>
          <p:cNvPr id="9" name="Text 9"/>
          <p:cNvSpPr txBox="1"/>
          <p:nvPr/>
        </p:nvSpPr>
        <p:spPr>
          <a:xfrm>
            <a:off x="4568952" y="2150000"/>
            <a:ext cx="3051048" cy="25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Pertes malodorantes</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Saignement abondant</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Fièvre</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Douleur intense du bas-ventre</a:t>
            </a:r>
            <a:endParaRPr lang="fr-FR" sz="1500" dirty="0"/>
          </a:p>
        </p:txBody>
      </p:sp>
      <p:sp>
        <p:nvSpPr>
          <p:cNvPr id="10" name="Shape 10"/>
          <p:cNvSpPr/>
          <p:nvPr/>
        </p:nvSpPr>
        <p:spPr>
          <a:xfrm>
            <a:off x="8058912" y="1450000"/>
            <a:ext cx="3563112" cy="3300000"/>
          </a:xfrm>
          <a:prstGeom prst="roundRect">
            <a:avLst>
              <a:gd name="adj" fmla="val 3000"/>
            </a:avLst>
          </a:prstGeom>
          <a:solidFill>
            <a:srgbClr val="F3F6FB"/>
          </a:solidFill>
          <a:ln w="12700">
            <a:solidFill>
              <a:srgbClr val="E0E3EA"/>
            </a:solidFill>
          </a:ln>
        </p:spPr>
        <p:txBody>
          <a:bodyPr/>
          <a:lstStyle/>
          <a:p>
            <a:endParaRPr lang="fr-FR" sz="1600" dirty="0"/>
          </a:p>
        </p:txBody>
      </p:sp>
      <p:sp>
        <p:nvSpPr>
          <p:cNvPr id="11" name="Text 11"/>
          <p:cNvSpPr txBox="1"/>
          <p:nvPr/>
        </p:nvSpPr>
        <p:spPr>
          <a:xfrm>
            <a:off x="8314944" y="1570000"/>
            <a:ext cx="3051048" cy="520000"/>
          </a:xfrm>
          <a:prstGeom prst="rect">
            <a:avLst/>
          </a:prstGeom>
          <a:noFill/>
          <a:ln/>
        </p:spPr>
        <p:txBody>
          <a:bodyPr wrap="square" lIns="0" tIns="0" rIns="0" bIns="0" rtlCol="0" anchor="ctr"/>
          <a:lstStyle/>
          <a:p>
            <a:pPr marL="0" indent="0" algn="l">
              <a:buNone/>
            </a:pPr>
            <a:r>
              <a:rPr lang="fr-FR" sz="2000" b="1" noProof="0" dirty="0">
                <a:solidFill>
                  <a:srgbClr val="10305A"/>
                </a:solidFill>
                <a:latin typeface="Calibri" pitchFamily="34" charset="0"/>
                <a:ea typeface="Calibri" pitchFamily="34" charset="-122"/>
                <a:cs typeface="Calibri" pitchFamily="34" charset="-120"/>
              </a:rPr>
              <a:t>🚫  Pendant 6 semaines</a:t>
            </a:r>
            <a:endParaRPr lang="fr-FR" sz="2000" dirty="0"/>
          </a:p>
        </p:txBody>
      </p:sp>
      <p:sp>
        <p:nvSpPr>
          <p:cNvPr id="12" name="Text 12"/>
          <p:cNvSpPr txBox="1"/>
          <p:nvPr/>
        </p:nvSpPr>
        <p:spPr>
          <a:xfrm>
            <a:off x="8314944" y="2150000"/>
            <a:ext cx="3051048" cy="25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Rien dans le vagin : pas de rapports sexuels, de tampons, de douches vaginales ni de préparations à base de plantes.</a:t>
            </a:r>
            <a:endParaRPr lang="fr-FR" sz="1500" dirty="0"/>
          </a:p>
          <a:p>
            <a:pPr marL="285750" indent="-285750" algn="l">
              <a:lnSpc>
                <a:spcPct val="104000"/>
              </a:lnSpc>
              <a:spcAft>
                <a:spcPts val="600"/>
              </a:spcAft>
              <a:buSzPct val="100000"/>
              <a:buChar char="•"/>
            </a:pPr>
            <a:r>
              <a:rPr lang="fr-FR" sz="1500" noProof="0" dirty="0">
                <a:solidFill>
                  <a:srgbClr val="23303F"/>
                </a:solidFill>
                <a:latin typeface="Calibri" pitchFamily="34" charset="0"/>
                <a:ea typeface="Calibri" pitchFamily="34" charset="-122"/>
                <a:cs typeface="Calibri" pitchFamily="34" charset="-120"/>
              </a:rPr>
              <a:t>Cela réduit le risque d'infection et de saignement.</a:t>
            </a:r>
            <a:endParaRPr lang="fr-FR" sz="1500" dirty="0"/>
          </a:p>
        </p:txBody>
      </p:sp>
      <p:sp>
        <p:nvSpPr>
          <p:cNvPr id="13" name="Shape 13"/>
          <p:cNvSpPr/>
          <p:nvPr/>
        </p:nvSpPr>
        <p:spPr>
          <a:xfrm>
            <a:off x="566928" y="4950000"/>
            <a:ext cx="11055096" cy="1000000"/>
          </a:xfrm>
          <a:prstGeom prst="roundRect">
            <a:avLst>
              <a:gd name="adj" fmla="val 3000"/>
            </a:avLst>
          </a:prstGeom>
          <a:solidFill>
            <a:srgbClr val="ECF3FD"/>
          </a:solidFill>
          <a:ln w="12700">
            <a:solidFill>
              <a:srgbClr val="E0E3EA"/>
            </a:solidFill>
          </a:ln>
        </p:spPr>
        <p:txBody>
          <a:bodyPr/>
          <a:lstStyle/>
          <a:p>
            <a:endParaRPr lang="fr-FR" sz="1600" dirty="0"/>
          </a:p>
        </p:txBody>
      </p:sp>
      <p:sp>
        <p:nvSpPr>
          <p:cNvPr id="14" name="Text 14"/>
          <p:cNvSpPr txBox="1"/>
          <p:nvPr/>
        </p:nvSpPr>
        <p:spPr>
          <a:xfrm>
            <a:off x="841248" y="5000000"/>
            <a:ext cx="10506456" cy="900000"/>
          </a:xfrm>
          <a:prstGeom prst="rect">
            <a:avLst/>
          </a:prstGeom>
          <a:noFill/>
          <a:ln/>
        </p:spPr>
        <p:txBody>
          <a:bodyPr wrap="square" lIns="0" tIns="0" rIns="0" bIns="0" rtlCol="0" anchor="ctr"/>
          <a:lstStyle/>
          <a:p>
            <a:pPr marL="0" indent="0" algn="l">
              <a:buNone/>
            </a:pPr>
            <a:r>
              <a:rPr lang="fr-FR" sz="1500" b="1" noProof="0" dirty="0">
                <a:solidFill>
                  <a:srgbClr val="10305A"/>
                </a:solidFill>
                <a:latin typeface="Calibri" pitchFamily="34" charset="0"/>
                <a:ea typeface="Calibri" pitchFamily="34" charset="-122"/>
                <a:cs typeface="Calibri" pitchFamily="34" charset="-120"/>
              </a:rPr>
              <a:t>📋 Avant son départ :  </a:t>
            </a:r>
            <a:r>
              <a:rPr lang="fr-FR" sz="1500" noProof="0" dirty="0">
                <a:solidFill>
                  <a:srgbClr val="23303F"/>
                </a:solidFill>
                <a:latin typeface="Calibri" pitchFamily="34" charset="0"/>
                <a:ea typeface="Calibri" pitchFamily="34" charset="-122"/>
                <a:cs typeface="Calibri" pitchFamily="34" charset="-120"/>
              </a:rPr>
              <a:t>Donnez les conseils oralement, et par écrit si possible. Inscrivez la date du suivi à 12 mois sur sa carte.</a:t>
            </a:r>
            <a:endParaRPr lang="fr-FR" sz="15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106</a:t>
            </a:r>
            <a:endParaRPr lang="fr-FR" sz="11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RÈGLE DE SÉCURITÉ</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2700" b="1" noProof="0" dirty="0">
                <a:solidFill>
                  <a:srgbClr val="10305A"/>
                </a:solidFill>
                <a:latin typeface="Cambria" pitchFamily="34" charset="0"/>
                <a:ea typeface="Cambria" pitchFamily="34" charset="-122"/>
                <a:cs typeface="Cambria" pitchFamily="34" charset="-120"/>
              </a:rPr>
              <a:t>Le cancer suspecté n'est jamais traité comme un </a:t>
            </a:r>
            <a:r>
              <a:rPr lang="fr-FR" sz="2700" b="1" noProof="0" dirty="0" err="1">
                <a:solidFill>
                  <a:srgbClr val="10305A"/>
                </a:solidFill>
                <a:latin typeface="Cambria" pitchFamily="34" charset="0"/>
                <a:ea typeface="Cambria" pitchFamily="34" charset="-122"/>
                <a:cs typeface="Cambria" pitchFamily="34" charset="-120"/>
              </a:rPr>
              <a:t>précancer</a:t>
            </a:r>
            <a:r>
              <a:rPr lang="fr-FR" sz="2700" b="1" noProof="0" dirty="0">
                <a:solidFill>
                  <a:srgbClr val="10305A"/>
                </a:solidFill>
                <a:latin typeface="Cambria" pitchFamily="34" charset="0"/>
                <a:ea typeface="Cambria" pitchFamily="34" charset="-122"/>
                <a:cs typeface="Cambria" pitchFamily="34" charset="-120"/>
              </a:rPr>
              <a:t> courant</a:t>
            </a:r>
            <a:endParaRPr lang="fr-FR" sz="27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Si le col de l'utérus semble suspect d'un cancer invasif, arrêtez la voie de dépistage.</a:t>
            </a:r>
            <a:endParaRPr lang="fr-FR"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Ne pas appliquer de traitement ablatif. Il détruit les tissus nécessaires au diagnostic et ne traite pas la maladie.</a:t>
            </a:r>
            <a:endParaRPr lang="fr-FR"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Orientez-la plutôt vers une évaluation diagnostique et une biopsie.</a:t>
            </a:r>
            <a:endParaRPr lang="fr-FR"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Référez-la rapidement. Ne la placez pas dans une file d'attente de dépistage de routine.</a:t>
            </a:r>
            <a:endParaRPr lang="fr-FR" sz="1800" noProof="0" dirty="0"/>
          </a:p>
        </p:txBody>
      </p:sp>
      <p:sp>
        <p:nvSpPr>
          <p:cNvPr id="18" name="Shape 16"/>
          <p:cNvSpPr/>
          <p:nvPr/>
        </p:nvSpPr>
        <p:spPr>
          <a:xfrm>
            <a:off x="566928" y="5374303"/>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9" name="Text 17"/>
          <p:cNvSpPr txBox="1"/>
          <p:nvPr/>
        </p:nvSpPr>
        <p:spPr>
          <a:xfrm>
            <a:off x="786384" y="5374303"/>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20" name="Text 18"/>
          <p:cNvSpPr txBox="1"/>
          <p:nvPr/>
        </p:nvSpPr>
        <p:spPr>
          <a:xfrm>
            <a:off x="1463040" y="5429167"/>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Expliquez que le col doit être examiné correctement, sans préciser qu'elle a un cancer.</a:t>
            </a:r>
            <a:endParaRPr lang="fr-FR" sz="1800" noProof="0" dirty="0"/>
          </a:p>
        </p:txBody>
      </p:sp>
      <p:sp>
        <p:nvSpPr>
          <p:cNvPr id="21" name="Shape 19"/>
          <p:cNvSpPr/>
          <p:nvPr/>
        </p:nvSpPr>
        <p:spPr>
          <a:xfrm>
            <a:off x="566928" y="5394960"/>
            <a:ext cx="11055096" cy="786384"/>
          </a:xfrm>
          <a:prstGeom prst="roundRect">
            <a:avLst>
              <a:gd name="adj" fmla="val 8140"/>
            </a:avLst>
          </a:prstGeom>
          <a:solidFill>
            <a:srgbClr val="FDE9E8"/>
          </a:solidFill>
          <a:ln w="12700">
            <a:solidFill>
              <a:srgbClr val="F0CFCE"/>
            </a:solidFill>
            <a:prstDash val="solid"/>
          </a:ln>
        </p:spPr>
        <p:txBody>
          <a:bodyPr/>
          <a:lstStyle/>
          <a:p>
            <a:endParaRPr lang="fr-FR" noProof="0" dirty="0"/>
          </a:p>
        </p:txBody>
      </p:sp>
      <p:sp>
        <p:nvSpPr>
          <p:cNvPr id="22" name="Text 20"/>
          <p:cNvSpPr txBox="1"/>
          <p:nvPr/>
        </p:nvSpPr>
        <p:spPr>
          <a:xfrm>
            <a:off x="841248" y="5449824"/>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Pourquoi cela importe :  </a:t>
            </a:r>
            <a:r>
              <a:rPr lang="fr-FR" sz="1800" noProof="0" dirty="0">
                <a:solidFill>
                  <a:srgbClr val="23303F"/>
                </a:solidFill>
                <a:latin typeface="Calibri" pitchFamily="34" charset="0"/>
                <a:ea typeface="Calibri" pitchFamily="34" charset="-122"/>
                <a:cs typeface="Calibri" pitchFamily="34" charset="-120"/>
              </a:rPr>
              <a:t>Un algorithme de dépistage et traitement ne doit jamais passer outre le soupçon clinique d'un cancer invasif.</a:t>
            </a:r>
            <a:endParaRPr lang="fr-FR" sz="1800" noProof="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SUIVI</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Suivi après un résultat anormal</a:t>
            </a:r>
            <a:endParaRPr lang="fr-FR" sz="32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1️⃣</a:t>
            </a:r>
            <a:endParaRPr lang="fr-FR"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Dites clairement ce que le résultat n'est pas : le cancer n'a pas été trouvé.</a:t>
            </a:r>
            <a:endParaRPr lang="fr-FR"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2️⃣</a:t>
            </a:r>
            <a:endParaRPr lang="fr-FR"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Expliquez l'étape suivante, ce que cela implique et à peu près combien de temps cela prend.</a:t>
            </a:r>
            <a:endParaRPr lang="fr-FR"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3️⃣</a:t>
            </a:r>
            <a:endParaRPr lang="fr-FR"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Organisez-le avant qu'elle parte, et notez où et quand.</a:t>
            </a:r>
            <a:endParaRPr lang="fr-FR"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4️⃣</a:t>
            </a:r>
            <a:endParaRPr lang="fr-FR"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Demandez-lui ce qui pourrait l'empêcher de se rendre au rendez-vous, et abordez le transport, le coût et le temps que vous absentez du travail.</a:t>
            </a:r>
            <a:endParaRPr lang="fr-FR" sz="1800" noProof="0" dirty="0"/>
          </a:p>
        </p:txBody>
      </p:sp>
      <p:sp>
        <p:nvSpPr>
          <p:cNvPr id="18" name="Shape 16"/>
          <p:cNvSpPr/>
          <p:nvPr/>
        </p:nvSpPr>
        <p:spPr>
          <a:xfrm>
            <a:off x="566928" y="5374303"/>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9" name="Text 17"/>
          <p:cNvSpPr txBox="1"/>
          <p:nvPr/>
        </p:nvSpPr>
        <p:spPr>
          <a:xfrm>
            <a:off x="786384" y="5374303"/>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5️⃣</a:t>
            </a:r>
            <a:endParaRPr lang="fr-FR" sz="2000" noProof="0" dirty="0"/>
          </a:p>
        </p:txBody>
      </p:sp>
      <p:sp>
        <p:nvSpPr>
          <p:cNvPr id="20" name="Text 18"/>
          <p:cNvSpPr txBox="1"/>
          <p:nvPr/>
        </p:nvSpPr>
        <p:spPr>
          <a:xfrm>
            <a:off x="1463040" y="5429167"/>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Assurez la continuité du suivi. Faites un suivi actif si elle ne se présente pas.</a:t>
            </a:r>
            <a:endParaRPr lang="fr-FR" sz="1800" noProof="0" dirty="0"/>
          </a:p>
        </p:txBody>
      </p:sp>
      <p:sp>
        <p:nvSpPr>
          <p:cNvPr id="21" name="Shape 19"/>
          <p:cNvSpPr/>
          <p:nvPr/>
        </p:nvSpPr>
        <p:spPr>
          <a:xfrm>
            <a:off x="566928" y="5394960"/>
            <a:ext cx="11055096" cy="786384"/>
          </a:xfrm>
          <a:prstGeom prst="roundRect">
            <a:avLst>
              <a:gd name="adj" fmla="val 8140"/>
            </a:avLst>
          </a:prstGeom>
          <a:solidFill>
            <a:srgbClr val="FFF2DF"/>
          </a:solidFill>
          <a:ln w="12700">
            <a:solidFill>
              <a:srgbClr val="E8DDC7"/>
            </a:solidFill>
            <a:prstDash val="solid"/>
          </a:ln>
        </p:spPr>
        <p:txBody>
          <a:bodyPr/>
          <a:lstStyle/>
          <a:p>
            <a:endParaRPr lang="fr-FR" noProof="0" dirty="0"/>
          </a:p>
        </p:txBody>
      </p:sp>
      <p:sp>
        <p:nvSpPr>
          <p:cNvPr id="22" name="Text 20"/>
          <p:cNvSpPr txBox="1"/>
          <p:nvPr/>
        </p:nvSpPr>
        <p:spPr>
          <a:xfrm>
            <a:off x="841248" y="5449824"/>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7B5727"/>
                </a:solidFill>
                <a:latin typeface="Calibri" pitchFamily="34" charset="0"/>
                <a:ea typeface="Calibri" pitchFamily="34" charset="-122"/>
                <a:cs typeface="Calibri" pitchFamily="34" charset="-120"/>
              </a:rPr>
              <a:t>📌 Après le traitement du </a:t>
            </a:r>
            <a:r>
              <a:rPr lang="fr-FR" sz="1800" b="1" noProof="0" dirty="0" err="1">
                <a:solidFill>
                  <a:srgbClr val="7B5727"/>
                </a:solidFill>
                <a:latin typeface="Calibri" pitchFamily="34" charset="0"/>
                <a:ea typeface="Calibri" pitchFamily="34" charset="-122"/>
                <a:cs typeface="Calibri" pitchFamily="34" charset="-120"/>
              </a:rPr>
              <a:t>précancer</a:t>
            </a:r>
            <a:r>
              <a:rPr lang="fr-FR" sz="1800" b="1" noProof="0" dirty="0">
                <a:solidFill>
                  <a:srgbClr val="7B5727"/>
                </a:solidFill>
                <a:latin typeface="Calibri" pitchFamily="34" charset="0"/>
                <a:ea typeface="Calibri" pitchFamily="34" charset="-122"/>
                <a:cs typeface="Calibri" pitchFamily="34" charset="-120"/>
              </a:rPr>
              <a:t> :  </a:t>
            </a:r>
            <a:r>
              <a:rPr lang="fr-FR" sz="1800" noProof="0" dirty="0">
                <a:solidFill>
                  <a:srgbClr val="23303F"/>
                </a:solidFill>
                <a:latin typeface="Calibri" pitchFamily="34" charset="0"/>
                <a:ea typeface="Calibri" pitchFamily="34" charset="-122"/>
                <a:cs typeface="Calibri" pitchFamily="34" charset="-120"/>
              </a:rPr>
              <a:t>une femme traitée doit effectuer un suivi programmé. Le traitement élimine la lésion, pas l'infection.</a:t>
            </a:r>
            <a:endParaRPr lang="fr-FR" sz="1800" noProof="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109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SUIVI</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Pourquoi le suivi après le traitement n'est-il pas optionnel</a:t>
            </a:r>
            <a:endParaRPr lang="fr-FR" sz="3200" noProof="0" dirty="0"/>
          </a:p>
        </p:txBody>
      </p:sp>
      <p:sp>
        <p:nvSpPr>
          <p:cNvPr id="6" name="Shape 4"/>
          <p:cNvSpPr/>
          <p:nvPr/>
        </p:nvSpPr>
        <p:spPr>
          <a:xfrm>
            <a:off x="566928" y="1719071"/>
            <a:ext cx="3563112" cy="3677017"/>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901952"/>
            <a:ext cx="3051048" cy="566928"/>
          </a:xfrm>
          <a:prstGeom prst="rect">
            <a:avLst/>
          </a:prstGeom>
          <a:noFill/>
          <a:ln/>
        </p:spPr>
        <p:txBody>
          <a:bodyPr wrap="square" lIns="0" tIns="0" rIns="0" bIns="0" rtlCol="0" anchor="ctr">
            <a:normAutofit fontScale="955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L'infection persiste</a:t>
            </a:r>
            <a:endParaRPr lang="fr-FR" sz="2000" noProof="0" dirty="0"/>
          </a:p>
        </p:txBody>
      </p:sp>
      <p:sp>
        <p:nvSpPr>
          <p:cNvPr id="8" name="Text 6"/>
          <p:cNvSpPr txBox="1"/>
          <p:nvPr/>
        </p:nvSpPr>
        <p:spPr>
          <a:xfrm>
            <a:off x="822960" y="2505456"/>
            <a:ext cx="3051048" cy="1682496"/>
          </a:xfrm>
          <a:prstGeom prst="rect">
            <a:avLst/>
          </a:prstGeom>
          <a:noFill/>
          <a:ln/>
        </p:spPr>
        <p:txBody>
          <a:bodyPr wrap="square" lIns="0" tIns="0" rIns="0" bIns="0" rtlCol="0" anchor="t">
            <a:noAutofit/>
          </a:bodyPr>
          <a:lstStyle/>
          <a:p>
            <a:pPr marL="0" indent="0">
              <a:lnSpc>
                <a:spcPct val="106000"/>
              </a:lnSpc>
              <a:buNone/>
            </a:pPr>
            <a:r>
              <a:rPr lang="fr-FR" sz="1548" noProof="0" dirty="0">
                <a:solidFill>
                  <a:srgbClr val="23303F"/>
                </a:solidFill>
                <a:latin typeface="Calibri" pitchFamily="34" charset="0"/>
                <a:ea typeface="Calibri" pitchFamily="34" charset="-122"/>
                <a:cs typeface="Calibri" pitchFamily="34" charset="-120"/>
              </a:rPr>
              <a:t>Le traitement supprime ou détruit la lésion. Il n'élimine pas le HPV du corps.</a:t>
            </a:r>
            <a:endParaRPr lang="fr-FR" sz="1548" noProof="0" dirty="0"/>
          </a:p>
        </p:txBody>
      </p:sp>
      <p:sp>
        <p:nvSpPr>
          <p:cNvPr id="9" name="Shape 7"/>
          <p:cNvSpPr/>
          <p:nvPr/>
        </p:nvSpPr>
        <p:spPr>
          <a:xfrm>
            <a:off x="4312920" y="1719071"/>
            <a:ext cx="3563112" cy="3677017"/>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901952"/>
            <a:ext cx="3051048" cy="566928"/>
          </a:xfrm>
          <a:prstGeom prst="rect">
            <a:avLst/>
          </a:prstGeom>
          <a:noFill/>
          <a:ln/>
        </p:spPr>
        <p:txBody>
          <a:bodyPr wrap="square" lIns="0" tIns="0" rIns="0" bIns="0" rtlCol="0" anchor="ctr">
            <a:normAutofit fontScale="95500" lnSpcReduction="100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La récidive est détectée par des tests</a:t>
            </a:r>
            <a:endParaRPr lang="fr-FR" sz="2000" noProof="0" dirty="0"/>
          </a:p>
        </p:txBody>
      </p:sp>
      <p:sp>
        <p:nvSpPr>
          <p:cNvPr id="11" name="Text 9"/>
          <p:cNvSpPr txBox="1"/>
          <p:nvPr/>
        </p:nvSpPr>
        <p:spPr>
          <a:xfrm>
            <a:off x="4568952" y="2505456"/>
            <a:ext cx="3051048" cy="1682496"/>
          </a:xfrm>
          <a:prstGeom prst="rect">
            <a:avLst/>
          </a:prstGeom>
          <a:noFill/>
          <a:ln/>
        </p:spPr>
        <p:txBody>
          <a:bodyPr wrap="square" lIns="0" tIns="0" rIns="0" bIns="0" rtlCol="0" anchor="t">
            <a:noAutofit/>
          </a:bodyPr>
          <a:lstStyle/>
          <a:p>
            <a:pPr marL="0" indent="0">
              <a:lnSpc>
                <a:spcPct val="106000"/>
              </a:lnSpc>
              <a:buNone/>
            </a:pPr>
            <a:r>
              <a:rPr lang="fr-FR" sz="1548" noProof="0" dirty="0">
                <a:solidFill>
                  <a:srgbClr val="23303F"/>
                </a:solidFill>
                <a:latin typeface="Calibri" pitchFamily="34" charset="0"/>
                <a:ea typeface="Calibri" pitchFamily="34" charset="-122"/>
                <a:cs typeface="Calibri" pitchFamily="34" charset="-120"/>
              </a:rPr>
              <a:t>Une proportion de femmes souffre de maladie persistante ou récidivante, et seule une nouvelle analyse la détecte.</a:t>
            </a:r>
            <a:endParaRPr lang="fr-FR" sz="1548" noProof="0" dirty="0"/>
          </a:p>
        </p:txBody>
      </p:sp>
      <p:sp>
        <p:nvSpPr>
          <p:cNvPr id="12" name="Shape 10"/>
          <p:cNvSpPr/>
          <p:nvPr/>
        </p:nvSpPr>
        <p:spPr>
          <a:xfrm>
            <a:off x="8058912" y="1719071"/>
            <a:ext cx="3563112" cy="3677017"/>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901952"/>
            <a:ext cx="3051048" cy="566928"/>
          </a:xfrm>
          <a:prstGeom prst="rect">
            <a:avLst/>
          </a:prstGeom>
          <a:noFill/>
          <a:ln/>
        </p:spPr>
        <p:txBody>
          <a:bodyPr wrap="square" lIns="0" tIns="0" rIns="0" bIns="0" rtlCol="0" anchor="ctr">
            <a:normAutofit fontScale="955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Notez la date</a:t>
            </a:r>
            <a:endParaRPr lang="fr-FR" sz="2000" noProof="0" dirty="0"/>
          </a:p>
        </p:txBody>
      </p:sp>
      <p:sp>
        <p:nvSpPr>
          <p:cNvPr id="14" name="Text 12"/>
          <p:cNvSpPr txBox="1"/>
          <p:nvPr/>
        </p:nvSpPr>
        <p:spPr>
          <a:xfrm>
            <a:off x="8314944" y="2505456"/>
            <a:ext cx="3051048" cy="1682496"/>
          </a:xfrm>
          <a:prstGeom prst="rect">
            <a:avLst/>
          </a:prstGeom>
          <a:noFill/>
          <a:ln/>
        </p:spPr>
        <p:txBody>
          <a:bodyPr wrap="square" lIns="0" tIns="0" rIns="0" bIns="0" rtlCol="0" anchor="t">
            <a:noAutofit/>
          </a:bodyPr>
          <a:lstStyle/>
          <a:p>
            <a:pPr marL="0" indent="0">
              <a:lnSpc>
                <a:spcPct val="106000"/>
              </a:lnSpc>
              <a:buNone/>
            </a:pPr>
            <a:r>
              <a:rPr lang="fr-FR" sz="1548" noProof="0" dirty="0">
                <a:solidFill>
                  <a:srgbClr val="23303F"/>
                </a:solidFill>
                <a:latin typeface="Calibri" pitchFamily="34" charset="0"/>
                <a:ea typeface="Calibri" pitchFamily="34" charset="-122"/>
                <a:cs typeface="Calibri" pitchFamily="34" charset="-120"/>
              </a:rPr>
              <a:t>Inscrivez la date de suivi sur sa carte et dans le registre avant son départ.</a:t>
            </a:r>
            <a:endParaRPr lang="fr-FR" sz="1548" noProof="0" dirty="0"/>
          </a:p>
        </p:txBody>
      </p:sp>
      <p:sp>
        <p:nvSpPr>
          <p:cNvPr id="15" name="Shape 13"/>
          <p:cNvSpPr/>
          <p:nvPr/>
        </p:nvSpPr>
        <p:spPr>
          <a:xfrm>
            <a:off x="566928" y="5655195"/>
            <a:ext cx="11055096" cy="570629"/>
          </a:xfrm>
          <a:prstGeom prst="roundRect">
            <a:avLst>
              <a:gd name="adj" fmla="val 4667"/>
            </a:avLst>
          </a:prstGeom>
          <a:solidFill>
            <a:srgbClr val="EAF7F0"/>
          </a:solidFill>
          <a:ln w="12700">
            <a:solidFill>
              <a:srgbClr val="C0D4CB"/>
            </a:solidFill>
            <a:prstDash val="solid"/>
          </a:ln>
        </p:spPr>
        <p:txBody>
          <a:bodyPr/>
          <a:lstStyle/>
          <a:p>
            <a:endParaRPr lang="fr-FR" sz="1400" noProof="0" dirty="0"/>
          </a:p>
        </p:txBody>
      </p:sp>
      <p:sp>
        <p:nvSpPr>
          <p:cNvPr id="16" name="Text 14"/>
          <p:cNvSpPr txBox="1"/>
          <p:nvPr/>
        </p:nvSpPr>
        <p:spPr>
          <a:xfrm>
            <a:off x="841248" y="5644447"/>
            <a:ext cx="10506456" cy="517370"/>
          </a:xfrm>
          <a:prstGeom prst="rect">
            <a:avLst/>
          </a:prstGeom>
          <a:noFill/>
          <a:ln/>
        </p:spPr>
        <p:txBody>
          <a:bodyPr wrap="square" lIns="0" tIns="0" rIns="0" bIns="0" rtlCol="0" anchor="ctr"/>
          <a:lstStyle/>
          <a:p>
            <a:pPr marL="0" indent="0">
              <a:lnSpc>
                <a:spcPct val="104000"/>
              </a:lnSpc>
              <a:buNone/>
            </a:pPr>
            <a:r>
              <a:rPr lang="fr-FR" sz="1400" b="1" noProof="0" dirty="0">
                <a:solidFill>
                  <a:srgbClr val="19543E"/>
                </a:solidFill>
                <a:latin typeface="Calibri" pitchFamily="34" charset="0"/>
                <a:ea typeface="Calibri" pitchFamily="34" charset="-122"/>
                <a:cs typeface="Calibri" pitchFamily="34" charset="-120"/>
              </a:rPr>
              <a:t>🏥 Au Rwanda :  </a:t>
            </a:r>
            <a:r>
              <a:rPr lang="fr-FR" sz="1400" noProof="0" dirty="0">
                <a:solidFill>
                  <a:srgbClr val="23303F"/>
                </a:solidFill>
                <a:latin typeface="Calibri" pitchFamily="34" charset="0"/>
                <a:ea typeface="Calibri" pitchFamily="34" charset="-122"/>
                <a:cs typeface="Calibri" pitchFamily="34" charset="-120"/>
              </a:rPr>
              <a:t>le test de suivi est réalisé 12 mois après l'ablation thermique ou la LEEP, avec un test HPV (VIA si le test HPV n'est pas disponible).</a:t>
            </a:r>
            <a:endParaRPr lang="fr-FR" sz="1400" noProof="0" dirty="0"/>
          </a:p>
        </p:txBody>
      </p:sp>
      <p:pic>
        <p:nvPicPr>
          <p:cNvPr id="17" name="Imagen 16">
            <a:extLst>
              <a:ext uri="{FF2B5EF4-FFF2-40B4-BE49-F238E27FC236}">
                <a16:creationId xmlns:a16="http://schemas.microsoft.com/office/drawing/2014/main" id="{82A5047A-66BE-5356-D27C-CAAD0F500781}"/>
              </a:ext>
            </a:extLst>
          </p:cNvPr>
          <p:cNvPicPr>
            <a:picLocks noChangeAspect="1"/>
          </p:cNvPicPr>
          <p:nvPr/>
        </p:nvPicPr>
        <p:blipFill>
          <a:blip r:embed="rId3" cstate="screen">
            <a:extLst>
              <a:ext uri="{28A0092B-C50C-407E-A947-70E740481C1C}">
                <a14:useLocalDpi xmlns:a14="http://schemas.microsoft.com/office/drawing/2010/main"/>
              </a:ext>
            </a:extLst>
          </a:blip>
          <a:srcRect t="17000" b="24715"/>
          <a:stretch>
            <a:fillRect/>
          </a:stretch>
        </p:blipFill>
        <p:spPr>
          <a:xfrm>
            <a:off x="717069" y="3598783"/>
            <a:ext cx="3294663" cy="1280207"/>
          </a:xfrm>
          <a:prstGeom prst="rect">
            <a:avLst/>
          </a:prstGeom>
        </p:spPr>
      </p:pic>
      <p:pic>
        <p:nvPicPr>
          <p:cNvPr id="18" name="Imagen 17">
            <a:extLst>
              <a:ext uri="{FF2B5EF4-FFF2-40B4-BE49-F238E27FC236}">
                <a16:creationId xmlns:a16="http://schemas.microsoft.com/office/drawing/2014/main" id="{79308F9E-700E-2688-F2AF-CE355D7F9498}"/>
              </a:ext>
            </a:extLst>
          </p:cNvPr>
          <p:cNvPicPr>
            <a:picLocks noChangeAspect="1"/>
          </p:cNvPicPr>
          <p:nvPr/>
        </p:nvPicPr>
        <p:blipFill>
          <a:blip r:embed="rId4" cstate="screen">
            <a:extLst>
              <a:ext uri="{28A0092B-C50C-407E-A947-70E740481C1C}">
                <a14:useLocalDpi xmlns:a14="http://schemas.microsoft.com/office/drawing/2010/main"/>
              </a:ext>
            </a:extLst>
          </a:blip>
          <a:srcRect t="22822" b="22017"/>
          <a:stretch>
            <a:fillRect/>
          </a:stretch>
        </p:blipFill>
        <p:spPr>
          <a:xfrm>
            <a:off x="4354021" y="3603758"/>
            <a:ext cx="3467685" cy="1275232"/>
          </a:xfrm>
          <a:prstGeom prst="rect">
            <a:avLst/>
          </a:prstGeom>
        </p:spPr>
      </p:pic>
      <p:pic>
        <p:nvPicPr>
          <p:cNvPr id="20" name="Imagen 19">
            <a:extLst>
              <a:ext uri="{FF2B5EF4-FFF2-40B4-BE49-F238E27FC236}">
                <a16:creationId xmlns:a16="http://schemas.microsoft.com/office/drawing/2014/main" id="{BA2488B7-8027-792A-0D23-11DD0EDD31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604188" y="3438837"/>
            <a:ext cx="2472559" cy="1648373"/>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fr-FR" sz="1200" b="1" spc="400" noProof="0" dirty="0">
                <a:solidFill>
                  <a:srgbClr val="31507B"/>
                </a:solidFill>
                <a:latin typeface="Calibri" pitchFamily="34" charset="0"/>
                <a:ea typeface="Calibri" pitchFamily="34" charset="-122"/>
                <a:cs typeface="Calibri" pitchFamily="34" charset="-120"/>
              </a:rPr>
              <a:t>SESSION 2 · SUIVI</a:t>
            </a:r>
            <a:endParaRPr lang="fr-FR"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2800" b="1" noProof="0" dirty="0">
                <a:solidFill>
                  <a:srgbClr val="10305A"/>
                </a:solidFill>
                <a:latin typeface="Cambria" pitchFamily="34" charset="0"/>
                <a:ea typeface="Cambria" pitchFamily="34" charset="-122"/>
                <a:cs typeface="Cambria" pitchFamily="34" charset="-120"/>
              </a:rPr>
              <a:t>Le test de suivi à 12 mois : ce que signifie le résultat</a:t>
            </a:r>
          </a:p>
        </p:txBody>
      </p:sp>
      <p:sp>
        <p:nvSpPr>
          <p:cNvPr id="16" name="Shape 16"/>
          <p:cNvSpPr/>
          <p:nvPr/>
        </p:nvSpPr>
        <p:spPr>
          <a:xfrm>
            <a:off x="566928" y="5797657"/>
            <a:ext cx="11055096" cy="560000"/>
          </a:xfrm>
          <a:prstGeom prst="roundRect">
            <a:avLst>
              <a:gd name="adj" fmla="val 3000"/>
            </a:avLst>
          </a:prstGeom>
          <a:solidFill>
            <a:srgbClr val="ECF3FD"/>
          </a:solidFill>
          <a:ln w="12700">
            <a:solidFill>
              <a:srgbClr val="E0E3EA"/>
            </a:solidFill>
          </a:ln>
        </p:spPr>
        <p:txBody>
          <a:bodyPr/>
          <a:lstStyle/>
          <a:p>
            <a:endParaRPr lang="fr-FR" sz="1600" dirty="0"/>
          </a:p>
        </p:txBody>
      </p:sp>
      <p:sp>
        <p:nvSpPr>
          <p:cNvPr id="17" name="Text 17"/>
          <p:cNvSpPr txBox="1"/>
          <p:nvPr/>
        </p:nvSpPr>
        <p:spPr>
          <a:xfrm>
            <a:off x="841248" y="5817477"/>
            <a:ext cx="10506456" cy="490179"/>
          </a:xfrm>
          <a:prstGeom prst="rect">
            <a:avLst/>
          </a:prstGeom>
          <a:noFill/>
          <a:ln/>
        </p:spPr>
        <p:txBody>
          <a:bodyPr wrap="square" lIns="0" tIns="0" rIns="0" bIns="0" rtlCol="0" anchor="ctr"/>
          <a:lstStyle/>
          <a:p>
            <a:pPr marL="0" indent="0" algn="l">
              <a:buNone/>
            </a:pPr>
            <a:r>
              <a:rPr lang="fr-FR" sz="1400" b="1" noProof="0" dirty="0">
                <a:solidFill>
                  <a:srgbClr val="10305A"/>
                </a:solidFill>
                <a:latin typeface="Calibri" pitchFamily="34" charset="0"/>
                <a:ea typeface="Calibri" pitchFamily="34" charset="-122"/>
                <a:cs typeface="Calibri" pitchFamily="34" charset="-120"/>
              </a:rPr>
              <a:t>📌 S'applique après :  </a:t>
            </a:r>
            <a:r>
              <a:rPr lang="fr-FR" sz="1400" noProof="0" dirty="0">
                <a:solidFill>
                  <a:srgbClr val="23303F"/>
                </a:solidFill>
                <a:latin typeface="Calibri" pitchFamily="34" charset="0"/>
                <a:ea typeface="Calibri" pitchFamily="34" charset="-122"/>
                <a:cs typeface="Calibri" pitchFamily="34" charset="-120"/>
              </a:rPr>
              <a:t>une ablation thermique ou une LEEP sans résultat histologique, ou un traitement fondé sur une histologie montrant une CIN 2, une CIN 3 ou un AIS.</a:t>
            </a:r>
            <a:endParaRPr lang="fr-FR" sz="1400" dirty="0"/>
          </a:p>
        </p:txBody>
      </p:sp>
      <p:sp>
        <p:nvSpPr>
          <p:cNvPr id="18" name="Text 18"/>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dirty="0"/>
          </a:p>
        </p:txBody>
      </p:sp>
      <p:sp>
        <p:nvSpPr>
          <p:cNvPr id="19" name="Text 19"/>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110</a:t>
            </a:r>
            <a:endParaRPr lang="fr-FR" sz="1100" dirty="0"/>
          </a:p>
        </p:txBody>
      </p:sp>
      <p:pic>
        <p:nvPicPr>
          <p:cNvPr id="20" name="Imagen 19">
            <a:extLst>
              <a:ext uri="{FF2B5EF4-FFF2-40B4-BE49-F238E27FC236}">
                <a16:creationId xmlns:a16="http://schemas.microsoft.com/office/drawing/2014/main" id="{908C181F-0640-CE26-49D4-5FA59FA9ED1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1208" y="1416754"/>
            <a:ext cx="11109960" cy="4166235"/>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111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CAS CLINIQUE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 Évolution du cas : Immaculée</a:t>
            </a:r>
            <a:endParaRPr lang="fr-FR" sz="3200" noProof="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112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CAS CLINIQUE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Quelle est la bonne étape suivante pour Immaculée ?</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Toute la lésion et toute la zone de transformation ne peuvent pas être vues. Que doit-il se passer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Orienter vers un traitement excisionnel ou une évaluation spécialisée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Pratiquer l'ablation de la partie visible de la lésion aujourd'hui</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Répéter le test HPV dans cinq ans</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La rassurer en lui disant qu'aucune action n'est nécessaire, car elle n'a aucun symptôme</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600" b="1" noProof="0" dirty="0">
                <a:solidFill>
                  <a:srgbClr val="19543E"/>
                </a:solidFill>
                <a:latin typeface="Calibri" pitchFamily="34" charset="0"/>
                <a:ea typeface="Calibri" pitchFamily="34" charset="-122"/>
                <a:cs typeface="Calibri" pitchFamily="34" charset="-120"/>
              </a:rPr>
              <a:t>Bonne réponse : A
Retour : L'ablation n'est appropriée que lorsque la lésion entière et toute la zone de transformation sont visibles. Traiter la partie visible laisserait la maladie dans le canal. Elle est orientée vers l'hôpital de district pour une LEEP. Dites-lui clairement que ce n'est pas un cancer et que le traitement préserve généralement la fertilité.</a:t>
            </a:r>
            <a:endParaRPr lang="fr-FR" sz="1600" noProof="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113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1 sur 6</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dépistage s'applique à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Femmes présentant des symptômes inquiétants</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Femmes en attente d'une chirurgie</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Femmes déjà diagnostiquées avec un cancer</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Femmes éligibles sans symptômes</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a:t>
            </a:r>
            <a:r>
              <a:rPr lang="fr-FR" sz="1800" noProof="0" dirty="0">
                <a:solidFill>
                  <a:srgbClr val="23303F"/>
                </a:solidFill>
                <a:latin typeface="Calibri" pitchFamily="34" charset="0"/>
                <a:ea typeface="Calibri" pitchFamily="34" charset="-122"/>
                <a:cs typeface="Calibri" pitchFamily="34" charset="-120"/>
              </a:rPr>
              <a:t>Dépistage des tests pour les femmes éligibles qui se sentent bien, afin de détecter précocement une infection à haut risque par le HPV ou des modifications cervicales. Une femme présentant des symptômes doit plutôt évaluer le diagnostic.</a:t>
            </a:r>
            <a:endParaRPr lang="fr-FR" sz="1800" noProof="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114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Vérification des connaissances : question 2 sur 6</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de 36 ans a un test HPV positif et se sent parfaitement bien. Que devriez-vous lui dire ?</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Que le HPV a été détecté, que le cancer n'a pas été trouvé, et que se passe-t-il ensuite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Qu'elle a un cancer du col de l'utérus</a:t>
            </a:r>
            <a:endParaRPr lang="fr-FR"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Qu'aucune action n'est nécessaire</a:t>
            </a:r>
            <a:endParaRPr lang="fr-FR"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Qu'elle devrait refaire le test dans cinq ans</a:t>
            </a:r>
            <a:endParaRPr lang="fr-FR"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a:t>
            </a:r>
            <a:r>
              <a:rPr lang="fr-FR" sz="1800" noProof="0" dirty="0">
                <a:solidFill>
                  <a:srgbClr val="23303F"/>
                </a:solidFill>
                <a:latin typeface="Calibri" pitchFamily="34" charset="0"/>
                <a:ea typeface="Calibri" pitchFamily="34" charset="-122"/>
                <a:cs typeface="Calibri" pitchFamily="34" charset="-120"/>
              </a:rPr>
              <a:t>Un test HPV positif signifie que le virus a été détecté. La plupart des femmes ayant un test positif n'ont pas de lésion. Expliquez ce qui a été découvert, ce que cela ne signifie pas, et organisez l'étape suivante dans la voie.</a:t>
            </a:r>
            <a:endParaRPr lang="fr-FR" sz="1800" noProof="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116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3 sur 5</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Quel constat signifie qu'une femme devrait être orientée plutôt que traitée par une ablation lors de la visite de dépistage ?</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Une petite lésion entièrement visible</a:t>
            </a:r>
            <a:endParaRPr lang="fr-FR"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Une femme qui a eu trois enfants</a:t>
            </a:r>
            <a:endParaRPr lang="fr-FR"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Une femme de 34 ans</a:t>
            </a:r>
            <a:endParaRPr lang="fr-FR" sz="1800" noProof="0" dirty="0"/>
          </a:p>
        </p:txBody>
      </p:sp>
      <p:sp>
        <p:nvSpPr>
          <p:cNvPr id="13" name="Shape 11"/>
          <p:cNvSpPr/>
          <p:nvPr/>
        </p:nvSpPr>
        <p:spPr>
          <a:xfrm>
            <a:off x="566928" y="41605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 col de l'utérus qui semble suspect pour un cancer invasif</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a:t>
            </a:r>
            <a:r>
              <a:rPr lang="fr-FR" sz="1800" noProof="0" dirty="0">
                <a:solidFill>
                  <a:srgbClr val="23303F"/>
                </a:solidFill>
                <a:latin typeface="Calibri" pitchFamily="34" charset="0"/>
                <a:ea typeface="Calibri" pitchFamily="34" charset="-122"/>
                <a:cs typeface="Calibri" pitchFamily="34" charset="-120"/>
              </a:rPr>
              <a:t>Un col de l'utérus suspect de cancer invasif nécessite une évaluation diagnostique et une biopsie. L'ablation détruirait le tissu nécessaire au diagnostic et ne traiterait pas la maladie.</a:t>
            </a:r>
            <a:endParaRPr lang="fr-FR" sz="1800" noProof="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117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4 sur 5</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traitée l'année dernière pour un </a:t>
            </a:r>
            <a:r>
              <a:rPr lang="fr-FR" sz="2000" b="1" noProof="0" dirty="0" err="1">
                <a:solidFill>
                  <a:srgbClr val="23303F"/>
                </a:solidFill>
                <a:latin typeface="Calibri" pitchFamily="34" charset="0"/>
                <a:ea typeface="Calibri" pitchFamily="34" charset="-122"/>
                <a:cs typeface="Calibri" pitchFamily="34" charset="-120"/>
              </a:rPr>
              <a:t>précancer</a:t>
            </a:r>
            <a:r>
              <a:rPr lang="fr-FR" sz="2000" b="1" noProof="0" dirty="0">
                <a:solidFill>
                  <a:srgbClr val="23303F"/>
                </a:solidFill>
                <a:latin typeface="Calibri" pitchFamily="34" charset="0"/>
                <a:ea typeface="Calibri" pitchFamily="34" charset="-122"/>
                <a:cs typeface="Calibri" pitchFamily="34" charset="-120"/>
              </a:rPr>
              <a:t> du col de l'utérus demande si elle a encore besoin d'un dépistage. La réponse précise est :</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Non, le traitement a guéri l'infection</a:t>
            </a:r>
            <a:endParaRPr lang="fr-FR"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Seulement si elle développe des symptômes</a:t>
            </a:r>
            <a:endParaRPr lang="fr-FR" sz="1800" noProof="0" dirty="0"/>
          </a:p>
        </p:txBody>
      </p:sp>
      <p:sp>
        <p:nvSpPr>
          <p:cNvPr id="11" name="Shape 9"/>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Oui, parce que le traitement supprime la lésion, pas l'infection</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Seulement si elle a un autre enfant</a:t>
            </a:r>
            <a:endParaRPr lang="fr-FR"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 </a:t>
            </a:r>
            <a:r>
              <a:rPr lang="fr-FR" sz="1800" noProof="0" dirty="0">
                <a:solidFill>
                  <a:srgbClr val="23303F"/>
                </a:solidFill>
                <a:latin typeface="Calibri" pitchFamily="34" charset="0"/>
                <a:ea typeface="Calibri" pitchFamily="34" charset="-122"/>
                <a:cs typeface="Calibri" pitchFamily="34" charset="-120"/>
              </a:rPr>
              <a:t>Les femmes traitées restent à risque plus élevé pendant des années. La maladie persistante ou récurrente n'est détectée qu'en refaisant le test, c'est pourquoi un test de suivi prévu fait partie du traitement, et non un supplément optionnel.</a:t>
            </a:r>
            <a:endParaRPr lang="fr-FR" sz="1800" noProof="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118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5 sur 5</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vivant avec le VIH demande pourquoi elle est dépistée plus souvent que sa voisine. La meilleure explication est la suivante :</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Son voisin n'a pas besoin de contrôle du tout</a:t>
            </a:r>
            <a:endParaRPr lang="fr-FR"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Elle a dû faire quelque chose de différent</a:t>
            </a:r>
            <a:endParaRPr lang="fr-FR"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Il n'y a pas vraiment de raison</a:t>
            </a:r>
            <a:endParaRPr lang="fr-FR" sz="1800" noProof="0" dirty="0"/>
          </a:p>
        </p:txBody>
      </p:sp>
      <p:sp>
        <p:nvSpPr>
          <p:cNvPr id="13" name="Shape 11"/>
          <p:cNvSpPr/>
          <p:nvPr/>
        </p:nvSpPr>
        <p:spPr>
          <a:xfrm>
            <a:off x="566928" y="41605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Le VIH augmente la probabilité de persistance du HPV, donc le dépistage est plus fréquent</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a:t>
            </a:r>
            <a:r>
              <a:rPr lang="fr-FR" sz="1800" noProof="0" dirty="0">
                <a:solidFill>
                  <a:srgbClr val="23303F"/>
                </a:solidFill>
                <a:latin typeface="Calibri" pitchFamily="34" charset="0"/>
                <a:ea typeface="Calibri" pitchFamily="34" charset="-122"/>
                <a:cs typeface="Calibri" pitchFamily="34" charset="-120"/>
              </a:rPr>
              <a:t>Expliquez la raison clinique clairement et sans blâme. Une immunité réduite augmente la persistance et la progression, c'est pourquoi le dépistage commence plus tôt et se répète plus souvent.</a:t>
            </a:r>
            <a:endParaRPr lang="fr-FR" sz="1800" noProof="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119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2</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Réflexion</a:t>
            </a:r>
            <a:endParaRPr lang="fr-FR"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Instruction de l'apprenant : Saisissez votre réponse dans la boîte de texte. Ces réponses ne sont pas notées.</a:t>
            </a:r>
            <a:endParaRPr lang="fr-FR" sz="1800" noProof="0" dirty="0"/>
          </a:p>
        </p:txBody>
      </p:sp>
      <p:sp>
        <p:nvSpPr>
          <p:cNvPr id="7" name="Shape 5"/>
          <p:cNvSpPr/>
          <p:nvPr/>
        </p:nvSpPr>
        <p:spPr>
          <a:xfrm>
            <a:off x="566928" y="2084832"/>
            <a:ext cx="11055096" cy="905256"/>
          </a:xfrm>
          <a:prstGeom prst="roundRect">
            <a:avLst>
              <a:gd name="adj" fmla="val 7071"/>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41248" y="230886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41248" y="230886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1</a:t>
            </a:r>
            <a:endParaRPr lang="fr-FR" sz="1500" noProof="0" dirty="0"/>
          </a:p>
        </p:txBody>
      </p:sp>
      <p:sp>
        <p:nvSpPr>
          <p:cNvPr id="10" name="Text 8"/>
          <p:cNvSpPr txBox="1"/>
          <p:nvPr/>
        </p:nvSpPr>
        <p:spPr>
          <a:xfrm>
            <a:off x="1517904" y="2157984"/>
            <a:ext cx="9811512" cy="75895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Que diriez-vous à une femme qui pense qu'un test positif au HPV signifie qu'elle a un cancer ?</a:t>
            </a:r>
            <a:endParaRPr lang="fr-FR" sz="1800" noProof="0" dirty="0"/>
          </a:p>
        </p:txBody>
      </p:sp>
      <p:sp>
        <p:nvSpPr>
          <p:cNvPr id="11" name="Shape 9"/>
          <p:cNvSpPr/>
          <p:nvPr/>
        </p:nvSpPr>
        <p:spPr>
          <a:xfrm>
            <a:off x="566928" y="3136392"/>
            <a:ext cx="11055096" cy="905256"/>
          </a:xfrm>
          <a:prstGeom prst="roundRect">
            <a:avLst>
              <a:gd name="adj" fmla="val 7071"/>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41248" y="336042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41248" y="336042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2</a:t>
            </a:r>
            <a:endParaRPr lang="fr-FR" sz="1500" noProof="0" dirty="0"/>
          </a:p>
        </p:txBody>
      </p:sp>
      <p:sp>
        <p:nvSpPr>
          <p:cNvPr id="14" name="Text 12"/>
          <p:cNvSpPr txBox="1"/>
          <p:nvPr/>
        </p:nvSpPr>
        <p:spPr>
          <a:xfrm>
            <a:off x="1517904" y="3209544"/>
            <a:ext cx="9811512" cy="75895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Comment expliqueriez-vous pourquoi le dépistage est important pour une femme qui se sent en parfaite santé ?</a:t>
            </a:r>
            <a:endParaRPr lang="fr-FR" sz="1800" noProof="0" dirty="0"/>
          </a:p>
        </p:txBody>
      </p:sp>
      <p:sp>
        <p:nvSpPr>
          <p:cNvPr id="15" name="Shape 13"/>
          <p:cNvSpPr/>
          <p:nvPr/>
        </p:nvSpPr>
        <p:spPr>
          <a:xfrm>
            <a:off x="566928" y="4187952"/>
            <a:ext cx="11055096" cy="905256"/>
          </a:xfrm>
          <a:prstGeom prst="roundRect">
            <a:avLst>
              <a:gd name="adj" fmla="val 7071"/>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41248" y="441198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41248" y="441198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3</a:t>
            </a:r>
            <a:endParaRPr lang="fr-FR" sz="1500" noProof="0" dirty="0"/>
          </a:p>
        </p:txBody>
      </p:sp>
      <p:sp>
        <p:nvSpPr>
          <p:cNvPr id="18" name="Text 16"/>
          <p:cNvSpPr txBox="1"/>
          <p:nvPr/>
        </p:nvSpPr>
        <p:spPr>
          <a:xfrm>
            <a:off x="1517904" y="4261104"/>
            <a:ext cx="9811512" cy="75895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Quelle conclusion vous ferait référer une femme plutôt que de la traiter lors de la visite de dépistage, et comment expliqueriez-vous cette décision à elle ?</a:t>
            </a:r>
            <a:endParaRPr lang="fr-FR" sz="1800" noProof="0" dirty="0"/>
          </a:p>
        </p:txBody>
      </p:sp>
      <p:sp>
        <p:nvSpPr>
          <p:cNvPr id="19" name="Shape 17"/>
          <p:cNvSpPr/>
          <p:nvPr/>
        </p:nvSpPr>
        <p:spPr>
          <a:xfrm>
            <a:off x="566928" y="5239512"/>
            <a:ext cx="11055096" cy="905256"/>
          </a:xfrm>
          <a:prstGeom prst="roundRect">
            <a:avLst>
              <a:gd name="adj" fmla="val 7071"/>
            </a:avLst>
          </a:prstGeom>
          <a:solidFill>
            <a:srgbClr val="F3F6FB"/>
          </a:solidFill>
          <a:ln w="12700">
            <a:solidFill>
              <a:srgbClr val="E0E3EA"/>
            </a:solidFill>
            <a:prstDash val="solid"/>
          </a:ln>
        </p:spPr>
        <p:txBody>
          <a:bodyPr/>
          <a:lstStyle/>
          <a:p>
            <a:endParaRPr lang="fr-FR" noProof="0" dirty="0"/>
          </a:p>
        </p:txBody>
      </p:sp>
      <p:sp>
        <p:nvSpPr>
          <p:cNvPr id="20" name="Shape 18"/>
          <p:cNvSpPr/>
          <p:nvPr/>
        </p:nvSpPr>
        <p:spPr>
          <a:xfrm>
            <a:off x="841248" y="546354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21" name="Text 19"/>
          <p:cNvSpPr txBox="1"/>
          <p:nvPr/>
        </p:nvSpPr>
        <p:spPr>
          <a:xfrm>
            <a:off x="841248" y="546354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4</a:t>
            </a:r>
            <a:endParaRPr lang="fr-FR" sz="1500" noProof="0" dirty="0"/>
          </a:p>
        </p:txBody>
      </p:sp>
      <p:sp>
        <p:nvSpPr>
          <p:cNvPr id="22" name="Text 20"/>
          <p:cNvSpPr txBox="1"/>
          <p:nvPr/>
        </p:nvSpPr>
        <p:spPr>
          <a:xfrm>
            <a:off x="1517904" y="5312664"/>
            <a:ext cx="9811512" cy="75895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Quelle barrière pourrait empêcher une femme de votre établissement de terminer un suivi après un résultat de dépistage anormal ?</a:t>
            </a:r>
            <a:endParaRPr lang="fr-FR" sz="1800" noProof="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94">
    <p:bg>
      <p:bgPr>
        <a:solidFill>
          <a:srgbClr val="0E2F5C"/>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8FA3C2"/>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8FA3C2"/>
                </a:solidFill>
                <a:latin typeface="Calibri" pitchFamily="34" charset="0"/>
                <a:ea typeface="Calibri" pitchFamily="34" charset="-122"/>
                <a:cs typeface="Calibri" pitchFamily="34" charset="-120"/>
              </a:rPr>
              <a:t>Écran 120</a:t>
            </a:r>
            <a:endParaRPr lang="fr-FR" sz="1100" noProof="0" dirty="0"/>
          </a:p>
        </p:txBody>
      </p:sp>
      <p:sp>
        <p:nvSpPr>
          <p:cNvPr id="4" name="Text 2"/>
          <p:cNvSpPr txBox="1"/>
          <p:nvPr/>
        </p:nvSpPr>
        <p:spPr>
          <a:xfrm>
            <a:off x="7680960" y="365760"/>
            <a:ext cx="4023360" cy="5852160"/>
          </a:xfrm>
          <a:prstGeom prst="rect">
            <a:avLst/>
          </a:prstGeom>
          <a:noFill/>
          <a:ln/>
        </p:spPr>
        <p:txBody>
          <a:bodyPr wrap="square" lIns="0" tIns="0" rIns="0" bIns="0" rtlCol="0" anchor="ctr"/>
          <a:lstStyle/>
          <a:p>
            <a:pPr marL="0" indent="0" algn="r">
              <a:buNone/>
            </a:pPr>
            <a:r>
              <a:rPr lang="fr-FR" sz="30000" b="1" noProof="0" dirty="0">
                <a:solidFill>
                  <a:srgbClr val="16406F"/>
                </a:solidFill>
                <a:latin typeface="Cambria" pitchFamily="34" charset="0"/>
                <a:ea typeface="Cambria" pitchFamily="34" charset="-122"/>
                <a:cs typeface="Cambria" pitchFamily="34" charset="-120"/>
              </a:rPr>
              <a:t>3</a:t>
            </a:r>
            <a:endParaRPr lang="fr-FR" sz="30000" noProof="0" dirty="0"/>
          </a:p>
        </p:txBody>
      </p:sp>
      <p:sp>
        <p:nvSpPr>
          <p:cNvPr id="5" name="Text 3"/>
          <p:cNvSpPr txBox="1"/>
          <p:nvPr/>
        </p:nvSpPr>
        <p:spPr>
          <a:xfrm>
            <a:off x="566928" y="1874520"/>
            <a:ext cx="7315200" cy="329184"/>
          </a:xfrm>
          <a:prstGeom prst="rect">
            <a:avLst/>
          </a:prstGeom>
          <a:noFill/>
          <a:ln/>
        </p:spPr>
        <p:txBody>
          <a:bodyPr wrap="square" lIns="0" tIns="0" rIns="0" bIns="0" rtlCol="0" anchor="ctr"/>
          <a:lstStyle/>
          <a:p>
            <a:pPr marL="0" indent="0">
              <a:buNone/>
            </a:pPr>
            <a:r>
              <a:rPr lang="fr-FR" sz="1300" b="1" kern="0" spc="300" noProof="0" dirty="0">
                <a:solidFill>
                  <a:srgbClr val="9FB8DA"/>
                </a:solidFill>
                <a:latin typeface="Calibri" pitchFamily="34" charset="0"/>
                <a:ea typeface="Calibri" pitchFamily="34" charset="-122"/>
                <a:cs typeface="Calibri" pitchFamily="34" charset="-120"/>
              </a:rPr>
              <a:t>S E S S I O N 3</a:t>
            </a:r>
            <a:endParaRPr lang="fr-FR" sz="1300" noProof="0" dirty="0"/>
          </a:p>
        </p:txBody>
      </p:sp>
      <p:sp>
        <p:nvSpPr>
          <p:cNvPr id="6" name="Text 4"/>
          <p:cNvSpPr txBox="1"/>
          <p:nvPr/>
        </p:nvSpPr>
        <p:spPr>
          <a:xfrm>
            <a:off x="566928" y="2286000"/>
            <a:ext cx="7680960" cy="1371600"/>
          </a:xfrm>
          <a:prstGeom prst="rect">
            <a:avLst/>
          </a:prstGeom>
          <a:noFill/>
          <a:ln/>
        </p:spPr>
        <p:txBody>
          <a:bodyPr wrap="square" lIns="0" tIns="0" rIns="0" bIns="0" rtlCol="0" anchor="ctr"/>
          <a:lstStyle/>
          <a:p>
            <a:pPr marL="0" indent="0">
              <a:buNone/>
            </a:pPr>
            <a:r>
              <a:rPr lang="fr-FR" sz="4000" b="1" noProof="0" dirty="0">
                <a:solidFill>
                  <a:srgbClr val="FFFFFF"/>
                </a:solidFill>
                <a:latin typeface="Cambria" pitchFamily="34" charset="0"/>
                <a:ea typeface="Cambria" pitchFamily="34" charset="-122"/>
                <a:cs typeface="Cambria" pitchFamily="34" charset="-120"/>
              </a:rPr>
              <a:t>Orientation et accompagnement</a:t>
            </a:r>
            <a:endParaRPr lang="fr-FR" sz="4000" noProof="0" dirty="0"/>
          </a:p>
        </p:txBody>
      </p:sp>
      <p:sp>
        <p:nvSpPr>
          <p:cNvPr id="7" name="Text 5"/>
          <p:cNvSpPr txBox="1"/>
          <p:nvPr/>
        </p:nvSpPr>
        <p:spPr>
          <a:xfrm>
            <a:off x="566928" y="3794760"/>
            <a:ext cx="7040880" cy="1463040"/>
          </a:xfrm>
          <a:prstGeom prst="rect">
            <a:avLst/>
          </a:prstGeom>
          <a:noFill/>
          <a:ln/>
        </p:spPr>
        <p:txBody>
          <a:bodyPr wrap="square" lIns="0" tIns="0" rIns="0" bIns="0" rtlCol="0" anchor="t"/>
          <a:lstStyle/>
          <a:p>
            <a:pPr marL="0" indent="0">
              <a:lnSpc>
                <a:spcPct val="118000"/>
              </a:lnSpc>
              <a:buNone/>
            </a:pPr>
            <a:r>
              <a:rPr lang="fr-FR" sz="1800" noProof="0" dirty="0">
                <a:solidFill>
                  <a:srgbClr val="C6D5EA"/>
                </a:solidFill>
                <a:latin typeface="Calibri" pitchFamily="34" charset="0"/>
                <a:ea typeface="Calibri" pitchFamily="34" charset="-122"/>
                <a:cs typeface="Calibri" pitchFamily="34" charset="-120"/>
              </a:rPr>
              <a:t>Transformez une conclusion en la bonne étape suivante : référez avec la bonne urgence, consignez les informations nécessaires au registre national du cancer, et communiquez sans stigmatisation.</a:t>
            </a:r>
            <a:endParaRPr lang="fr-FR" sz="1800" noProof="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121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Objectifs d'apprentissage</a:t>
            </a:r>
            <a:endParaRPr lang="fr-FR" sz="3200" noProof="0" dirty="0"/>
          </a:p>
        </p:txBody>
      </p:sp>
      <p:sp>
        <p:nvSpPr>
          <p:cNvPr id="6" name="Text 4"/>
          <p:cNvSpPr txBox="1"/>
          <p:nvPr/>
        </p:nvSpPr>
        <p:spPr>
          <a:xfrm>
            <a:off x="566928" y="1554480"/>
            <a:ext cx="11055096" cy="384048"/>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À la fin de cette session, vous serez en mesure de :</a:t>
            </a:r>
            <a:endParaRPr lang="fr-FR" sz="1800" noProof="0" dirty="0"/>
          </a:p>
        </p:txBody>
      </p:sp>
      <p:sp>
        <p:nvSpPr>
          <p:cNvPr id="7" name="Shape 5"/>
          <p:cNvSpPr/>
          <p:nvPr/>
        </p:nvSpPr>
        <p:spPr>
          <a:xfrm>
            <a:off x="566928" y="1975104"/>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04672" y="2069889"/>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04672" y="2069889"/>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1</a:t>
            </a:r>
            <a:endParaRPr lang="fr-FR" sz="1400" noProof="0" dirty="0"/>
          </a:p>
        </p:txBody>
      </p:sp>
      <p:sp>
        <p:nvSpPr>
          <p:cNvPr id="10" name="Text 8"/>
          <p:cNvSpPr txBox="1"/>
          <p:nvPr/>
        </p:nvSpPr>
        <p:spPr>
          <a:xfrm>
            <a:off x="1463040" y="2029968"/>
            <a:ext cx="9866376" cy="500467"/>
          </a:xfrm>
          <a:prstGeom prst="rect">
            <a:avLst/>
          </a:prstGeom>
          <a:noFill/>
          <a:ln/>
        </p:spPr>
        <p:txBody>
          <a:bodyPr wrap="square" lIns="0" tIns="0" rIns="0" bIns="0" rtlCol="0" anchor="ctr">
            <a:noAutofit/>
          </a:bodyPr>
          <a:lstStyle/>
          <a:p>
            <a:pPr marL="0" indent="0">
              <a:lnSpc>
                <a:spcPct val="104000"/>
              </a:lnSpc>
              <a:buNone/>
            </a:pPr>
            <a:r>
              <a:rPr lang="fr-FR" sz="1548" noProof="0" dirty="0">
                <a:solidFill>
                  <a:srgbClr val="23303F"/>
                </a:solidFill>
                <a:latin typeface="Calibri" pitchFamily="34" charset="0"/>
                <a:ea typeface="Calibri" pitchFamily="34" charset="-122"/>
                <a:cs typeface="Calibri" pitchFamily="34" charset="-120"/>
              </a:rPr>
              <a:t>Décrivez les niveaux du système de santé rwandais et les lieux où se déroulent les soins contre le cancer du col de l'utérus.</a:t>
            </a:r>
            <a:endParaRPr lang="fr-FR" sz="1548" noProof="0" dirty="0"/>
          </a:p>
        </p:txBody>
      </p:sp>
      <p:sp>
        <p:nvSpPr>
          <p:cNvPr id="11" name="Shape 9"/>
          <p:cNvSpPr/>
          <p:nvPr/>
        </p:nvSpPr>
        <p:spPr>
          <a:xfrm>
            <a:off x="566928" y="2686998"/>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04672" y="2781783"/>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04672" y="2781783"/>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2</a:t>
            </a:r>
            <a:endParaRPr lang="fr-FR" sz="1400" noProof="0" dirty="0"/>
          </a:p>
        </p:txBody>
      </p:sp>
      <p:sp>
        <p:nvSpPr>
          <p:cNvPr id="14" name="Text 12"/>
          <p:cNvSpPr txBox="1"/>
          <p:nvPr/>
        </p:nvSpPr>
        <p:spPr>
          <a:xfrm>
            <a:off x="1463040" y="2741862"/>
            <a:ext cx="9866376" cy="500467"/>
          </a:xfrm>
          <a:prstGeom prst="rect">
            <a:avLst/>
          </a:prstGeom>
          <a:noFill/>
          <a:ln/>
        </p:spPr>
        <p:txBody>
          <a:bodyPr wrap="square" lIns="0" tIns="0" rIns="0" bIns="0" rtlCol="0" anchor="ctr">
            <a:noAutofit/>
          </a:bodyPr>
          <a:lstStyle/>
          <a:p>
            <a:pPr marL="0" indent="0">
              <a:lnSpc>
                <a:spcPct val="104000"/>
              </a:lnSpc>
              <a:buNone/>
            </a:pPr>
            <a:r>
              <a:rPr lang="fr-FR" sz="1548" noProof="0" dirty="0">
                <a:solidFill>
                  <a:srgbClr val="23303F"/>
                </a:solidFill>
                <a:latin typeface="Calibri" pitchFamily="34" charset="0"/>
                <a:ea typeface="Calibri" pitchFamily="34" charset="-122"/>
                <a:cs typeface="Calibri" pitchFamily="34" charset="-120"/>
              </a:rPr>
              <a:t>Décidez si une constatation nécessite un suivi régulier, une orientation rapide ou une évaluation d'urgence.</a:t>
            </a:r>
            <a:endParaRPr lang="fr-FR" sz="1548" noProof="0" dirty="0"/>
          </a:p>
        </p:txBody>
      </p:sp>
      <p:sp>
        <p:nvSpPr>
          <p:cNvPr id="15" name="Shape 13"/>
          <p:cNvSpPr/>
          <p:nvPr/>
        </p:nvSpPr>
        <p:spPr>
          <a:xfrm>
            <a:off x="566928" y="3398892"/>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04672" y="3493677"/>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04672" y="3493677"/>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3</a:t>
            </a:r>
            <a:endParaRPr lang="fr-FR" sz="1400" noProof="0" dirty="0"/>
          </a:p>
        </p:txBody>
      </p:sp>
      <p:sp>
        <p:nvSpPr>
          <p:cNvPr id="18" name="Text 16"/>
          <p:cNvSpPr txBox="1"/>
          <p:nvPr/>
        </p:nvSpPr>
        <p:spPr>
          <a:xfrm>
            <a:off x="1463040" y="3453756"/>
            <a:ext cx="9866376" cy="500467"/>
          </a:xfrm>
          <a:prstGeom prst="rect">
            <a:avLst/>
          </a:prstGeom>
          <a:noFill/>
          <a:ln/>
        </p:spPr>
        <p:txBody>
          <a:bodyPr wrap="square" lIns="0" tIns="0" rIns="0" bIns="0" rtlCol="0" anchor="ctr">
            <a:noAutofit/>
          </a:bodyPr>
          <a:lstStyle/>
          <a:p>
            <a:pPr marL="0" indent="0">
              <a:lnSpc>
                <a:spcPct val="104000"/>
              </a:lnSpc>
              <a:buNone/>
            </a:pPr>
            <a:r>
              <a:rPr lang="fr-FR" sz="1548" noProof="0" dirty="0">
                <a:solidFill>
                  <a:srgbClr val="23303F"/>
                </a:solidFill>
                <a:latin typeface="Calibri" pitchFamily="34" charset="0"/>
                <a:ea typeface="Calibri" pitchFamily="34" charset="-122"/>
                <a:cs typeface="Calibri" pitchFamily="34" charset="-120"/>
              </a:rPr>
              <a:t>Consignez les informations nécessaires au registre national du cancer au premier contact.</a:t>
            </a:r>
            <a:endParaRPr lang="fr-FR" sz="1548" noProof="0" dirty="0"/>
          </a:p>
        </p:txBody>
      </p:sp>
      <p:sp>
        <p:nvSpPr>
          <p:cNvPr id="19" name="Shape 17"/>
          <p:cNvSpPr/>
          <p:nvPr/>
        </p:nvSpPr>
        <p:spPr>
          <a:xfrm>
            <a:off x="566928" y="4110786"/>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0" name="Shape 18"/>
          <p:cNvSpPr/>
          <p:nvPr/>
        </p:nvSpPr>
        <p:spPr>
          <a:xfrm>
            <a:off x="804672" y="4205571"/>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1" name="Text 19"/>
          <p:cNvSpPr txBox="1"/>
          <p:nvPr/>
        </p:nvSpPr>
        <p:spPr>
          <a:xfrm>
            <a:off x="804672" y="4205571"/>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4</a:t>
            </a:r>
            <a:endParaRPr lang="fr-FR" sz="1400" noProof="0" dirty="0"/>
          </a:p>
        </p:txBody>
      </p:sp>
      <p:sp>
        <p:nvSpPr>
          <p:cNvPr id="22" name="Text 20"/>
          <p:cNvSpPr txBox="1"/>
          <p:nvPr/>
        </p:nvSpPr>
        <p:spPr>
          <a:xfrm>
            <a:off x="1463040" y="4165650"/>
            <a:ext cx="9866376" cy="500467"/>
          </a:xfrm>
          <a:prstGeom prst="rect">
            <a:avLst/>
          </a:prstGeom>
          <a:noFill/>
          <a:ln/>
        </p:spPr>
        <p:txBody>
          <a:bodyPr wrap="square" lIns="0" tIns="0" rIns="0" bIns="0" rtlCol="0" anchor="ctr">
            <a:noAutofit/>
          </a:bodyPr>
          <a:lstStyle/>
          <a:p>
            <a:pPr marL="0" indent="0">
              <a:lnSpc>
                <a:spcPct val="104000"/>
              </a:lnSpc>
              <a:buNone/>
            </a:pPr>
            <a:r>
              <a:rPr lang="fr-FR" sz="1548" noProof="0" dirty="0">
                <a:solidFill>
                  <a:srgbClr val="23303F"/>
                </a:solidFill>
                <a:latin typeface="Calibri" pitchFamily="34" charset="0"/>
                <a:ea typeface="Calibri" pitchFamily="34" charset="-122"/>
                <a:cs typeface="Calibri" pitchFamily="34" charset="-120"/>
              </a:rPr>
              <a:t>Conseillez une femme sur un résultat de dépistage positif sans affirmer ou insinuer qu'elle a un cancer.</a:t>
            </a:r>
            <a:endParaRPr lang="fr-FR" sz="1548" noProof="0" dirty="0"/>
          </a:p>
        </p:txBody>
      </p:sp>
      <p:sp>
        <p:nvSpPr>
          <p:cNvPr id="23" name="Shape 21"/>
          <p:cNvSpPr/>
          <p:nvPr/>
        </p:nvSpPr>
        <p:spPr>
          <a:xfrm>
            <a:off x="566928" y="4822679"/>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4" name="Shape 22"/>
          <p:cNvSpPr/>
          <p:nvPr/>
        </p:nvSpPr>
        <p:spPr>
          <a:xfrm>
            <a:off x="804672" y="4917465"/>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5" name="Text 23"/>
          <p:cNvSpPr txBox="1"/>
          <p:nvPr/>
        </p:nvSpPr>
        <p:spPr>
          <a:xfrm>
            <a:off x="804672" y="4917465"/>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5</a:t>
            </a:r>
            <a:endParaRPr lang="fr-FR" sz="1400" noProof="0" dirty="0"/>
          </a:p>
        </p:txBody>
      </p:sp>
      <p:sp>
        <p:nvSpPr>
          <p:cNvPr id="26" name="Text 24"/>
          <p:cNvSpPr txBox="1"/>
          <p:nvPr/>
        </p:nvSpPr>
        <p:spPr>
          <a:xfrm>
            <a:off x="1463040" y="4877543"/>
            <a:ext cx="9866376" cy="500467"/>
          </a:xfrm>
          <a:prstGeom prst="rect">
            <a:avLst/>
          </a:prstGeom>
          <a:noFill/>
          <a:ln/>
        </p:spPr>
        <p:txBody>
          <a:bodyPr wrap="square" lIns="0" tIns="0" rIns="0" bIns="0" rtlCol="0" anchor="ctr">
            <a:noAutofit/>
          </a:bodyPr>
          <a:lstStyle/>
          <a:p>
            <a:pPr marL="0" indent="0">
              <a:lnSpc>
                <a:spcPct val="104000"/>
              </a:lnSpc>
              <a:buNone/>
            </a:pPr>
            <a:r>
              <a:rPr lang="fr-FR" sz="1548" noProof="0" dirty="0">
                <a:solidFill>
                  <a:srgbClr val="23303F"/>
                </a:solidFill>
                <a:latin typeface="Calibri" pitchFamily="34" charset="0"/>
                <a:ea typeface="Calibri" pitchFamily="34" charset="-122"/>
                <a:cs typeface="Calibri" pitchFamily="34" charset="-120"/>
              </a:rPr>
              <a:t>Appliquez les bases du soutien psychologique et de la communication sensible à la stigmatisation.</a:t>
            </a:r>
            <a:endParaRPr lang="fr-FR" sz="1548" noProof="0" dirty="0"/>
          </a:p>
        </p:txBody>
      </p:sp>
      <p:sp>
        <p:nvSpPr>
          <p:cNvPr id="27" name="Shape 25"/>
          <p:cNvSpPr/>
          <p:nvPr/>
        </p:nvSpPr>
        <p:spPr>
          <a:xfrm>
            <a:off x="566928" y="5534573"/>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8" name="Shape 26"/>
          <p:cNvSpPr/>
          <p:nvPr/>
        </p:nvSpPr>
        <p:spPr>
          <a:xfrm>
            <a:off x="804672" y="5629359"/>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9" name="Text 27"/>
          <p:cNvSpPr txBox="1"/>
          <p:nvPr/>
        </p:nvSpPr>
        <p:spPr>
          <a:xfrm>
            <a:off x="804672" y="5629359"/>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6</a:t>
            </a:r>
            <a:endParaRPr lang="fr-FR" sz="1400" noProof="0" dirty="0"/>
          </a:p>
        </p:txBody>
      </p:sp>
      <p:sp>
        <p:nvSpPr>
          <p:cNvPr id="30" name="Text 28"/>
          <p:cNvSpPr txBox="1"/>
          <p:nvPr/>
        </p:nvSpPr>
        <p:spPr>
          <a:xfrm>
            <a:off x="1463040" y="5589437"/>
            <a:ext cx="9866376" cy="500467"/>
          </a:xfrm>
          <a:prstGeom prst="rect">
            <a:avLst/>
          </a:prstGeom>
          <a:noFill/>
          <a:ln/>
        </p:spPr>
        <p:txBody>
          <a:bodyPr wrap="square" lIns="0" tIns="0" rIns="0" bIns="0" rtlCol="0" anchor="ctr">
            <a:noAutofit/>
          </a:bodyPr>
          <a:lstStyle/>
          <a:p>
            <a:pPr marL="0" indent="0">
              <a:lnSpc>
                <a:spcPct val="104000"/>
              </a:lnSpc>
              <a:buNone/>
            </a:pPr>
            <a:r>
              <a:rPr lang="fr-FR" sz="1548" noProof="0" dirty="0">
                <a:solidFill>
                  <a:srgbClr val="23303F"/>
                </a:solidFill>
                <a:latin typeface="Calibri" pitchFamily="34" charset="0"/>
                <a:ea typeface="Calibri" pitchFamily="34" charset="-122"/>
                <a:cs typeface="Calibri" pitchFamily="34" charset="-120"/>
              </a:rPr>
              <a:t>Soutenez la présence et fermez la boucle lorsqu'une femme ne participe pas.</a:t>
            </a:r>
            <a:endParaRPr lang="fr-FR" sz="1548" noProof="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122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SYSTÈME DE RÉFÉRENCE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Là où se font les soins contre le cancer du col de l'utérus</a:t>
            </a:r>
            <a:endParaRPr lang="fr-FR" sz="3200" noProof="0" dirty="0"/>
          </a:p>
        </p:txBody>
      </p:sp>
      <p:sp>
        <p:nvSpPr>
          <p:cNvPr id="6" name="Shape 4"/>
          <p:cNvSpPr/>
          <p:nvPr/>
        </p:nvSpPr>
        <p:spPr>
          <a:xfrm>
            <a:off x="566928" y="1379491"/>
            <a:ext cx="2035454" cy="3928772"/>
          </a:xfrm>
          <a:prstGeom prst="roundRect">
            <a:avLst>
              <a:gd name="adj" fmla="val 3594"/>
            </a:avLst>
          </a:prstGeom>
          <a:solidFill>
            <a:srgbClr val="F3F6FB"/>
          </a:solidFill>
          <a:ln w="12700">
            <a:solidFill>
              <a:srgbClr val="E0E3EA"/>
            </a:solidFill>
            <a:prstDash val="solid"/>
          </a:ln>
        </p:spPr>
        <p:txBody>
          <a:bodyPr/>
          <a:lstStyle/>
          <a:p>
            <a:endParaRPr lang="fr-FR" noProof="0" dirty="0"/>
          </a:p>
        </p:txBody>
      </p:sp>
      <p:sp>
        <p:nvSpPr>
          <p:cNvPr id="7" name="Shape 5"/>
          <p:cNvSpPr/>
          <p:nvPr/>
        </p:nvSpPr>
        <p:spPr>
          <a:xfrm>
            <a:off x="1356055" y="1489641"/>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8" name="Text 6"/>
          <p:cNvSpPr txBox="1"/>
          <p:nvPr/>
        </p:nvSpPr>
        <p:spPr>
          <a:xfrm>
            <a:off x="1356055" y="1489641"/>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libri" pitchFamily="34" charset="0"/>
                <a:ea typeface="Calibri" pitchFamily="34" charset="-122"/>
                <a:cs typeface="Calibri" pitchFamily="34" charset="-120"/>
              </a:rPr>
              <a:t>1</a:t>
            </a:r>
            <a:endParaRPr lang="fr-FR" sz="1500" noProof="0" dirty="0"/>
          </a:p>
        </p:txBody>
      </p:sp>
      <p:sp>
        <p:nvSpPr>
          <p:cNvPr id="9" name="Text 7"/>
          <p:cNvSpPr txBox="1"/>
          <p:nvPr/>
        </p:nvSpPr>
        <p:spPr>
          <a:xfrm>
            <a:off x="737089" y="2042204"/>
            <a:ext cx="1729711" cy="1368669"/>
          </a:xfrm>
          <a:prstGeom prst="rect">
            <a:avLst/>
          </a:prstGeom>
          <a:noFill/>
          <a:ln/>
        </p:spPr>
        <p:txBody>
          <a:bodyPr wrap="square" lIns="0" tIns="0" rIns="0" bIns="0" rtlCol="0" anchor="t">
            <a:noAutofit/>
          </a:bodyPr>
          <a:lstStyle/>
          <a:p>
            <a:pPr marL="0" indent="0" algn="ctr">
              <a:lnSpc>
                <a:spcPct val="106000"/>
              </a:lnSpc>
              <a:buNone/>
            </a:pPr>
            <a:r>
              <a:rPr lang="fr-FR" sz="1494" noProof="0" dirty="0">
                <a:solidFill>
                  <a:srgbClr val="23303F"/>
                </a:solidFill>
                <a:latin typeface="Calibri" pitchFamily="34" charset="0"/>
                <a:ea typeface="Calibri" pitchFamily="34" charset="-122"/>
                <a:cs typeface="Calibri" pitchFamily="34" charset="-120"/>
              </a:rPr>
              <a:t>Communauté : sensibilisation, éducation, accompagnement en orientation et aide pour les femmes à participer au dépistage et au suivi</a:t>
            </a:r>
            <a:endParaRPr lang="fr-FR" sz="1494" noProof="0" dirty="0"/>
          </a:p>
        </p:txBody>
      </p:sp>
      <p:sp>
        <p:nvSpPr>
          <p:cNvPr id="10" name="Text 8"/>
          <p:cNvSpPr txBox="1"/>
          <p:nvPr/>
        </p:nvSpPr>
        <p:spPr>
          <a:xfrm>
            <a:off x="2602382" y="1549737"/>
            <a:ext cx="219456" cy="2651760"/>
          </a:xfrm>
          <a:prstGeom prst="rect">
            <a:avLst/>
          </a:prstGeom>
          <a:noFill/>
          <a:ln/>
        </p:spPr>
        <p:txBody>
          <a:bodyPr wrap="square" lIns="0" tIns="0" rIns="0" bIns="0" rtlCol="0" anchor="ctr"/>
          <a:lstStyle/>
          <a:p>
            <a:pPr marL="0" indent="0" algn="ctr">
              <a:buNone/>
            </a:pPr>
            <a:r>
              <a:rPr lang="fr-FR" sz="1300" noProof="0" dirty="0">
                <a:solidFill>
                  <a:srgbClr val="000000"/>
                </a:solidFill>
                <a:latin typeface="Calibri" pitchFamily="34" charset="0"/>
                <a:ea typeface="Calibri" pitchFamily="34" charset="-122"/>
                <a:cs typeface="Calibri" pitchFamily="34" charset="-120"/>
              </a:rPr>
              <a:t>➡️</a:t>
            </a:r>
            <a:endParaRPr lang="fr-FR" sz="1300" noProof="0" dirty="0"/>
          </a:p>
        </p:txBody>
      </p:sp>
      <p:sp>
        <p:nvSpPr>
          <p:cNvPr id="11" name="Shape 9"/>
          <p:cNvSpPr/>
          <p:nvPr/>
        </p:nvSpPr>
        <p:spPr>
          <a:xfrm>
            <a:off x="2821838" y="1379491"/>
            <a:ext cx="2035454" cy="3928772"/>
          </a:xfrm>
          <a:prstGeom prst="roundRect">
            <a:avLst>
              <a:gd name="adj" fmla="val 3594"/>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3610966" y="1489641"/>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3610966" y="1489641"/>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libri" pitchFamily="34" charset="0"/>
                <a:ea typeface="Calibri" pitchFamily="34" charset="-122"/>
                <a:cs typeface="Calibri" pitchFamily="34" charset="-120"/>
              </a:rPr>
              <a:t>2</a:t>
            </a:r>
            <a:endParaRPr lang="fr-FR" sz="1500" noProof="0" dirty="0"/>
          </a:p>
        </p:txBody>
      </p:sp>
      <p:sp>
        <p:nvSpPr>
          <p:cNvPr id="14" name="Text 12"/>
          <p:cNvSpPr txBox="1"/>
          <p:nvPr/>
        </p:nvSpPr>
        <p:spPr>
          <a:xfrm>
            <a:off x="2957419" y="2042204"/>
            <a:ext cx="1789509" cy="1368669"/>
          </a:xfrm>
          <a:prstGeom prst="rect">
            <a:avLst/>
          </a:prstGeom>
          <a:noFill/>
          <a:ln/>
        </p:spPr>
        <p:txBody>
          <a:bodyPr wrap="square" lIns="0" tIns="0" rIns="0" bIns="0" rtlCol="0" anchor="t">
            <a:noAutofit/>
          </a:bodyPr>
          <a:lstStyle/>
          <a:p>
            <a:pPr marL="0" indent="0" algn="ctr">
              <a:lnSpc>
                <a:spcPct val="106000"/>
              </a:lnSpc>
              <a:buNone/>
            </a:pPr>
            <a:r>
              <a:rPr lang="fr-FR" sz="1494" noProof="0" dirty="0">
                <a:solidFill>
                  <a:srgbClr val="23303F"/>
                </a:solidFill>
                <a:latin typeface="Calibri" pitchFamily="34" charset="0"/>
                <a:ea typeface="Calibri" pitchFamily="34" charset="-122"/>
                <a:cs typeface="Calibri" pitchFamily="34" charset="-120"/>
              </a:rPr>
              <a:t>Centre de santé : dépistage HPV, VIA et ablation thermique des lésions éligibles</a:t>
            </a:r>
            <a:endParaRPr lang="fr-FR" sz="1494" noProof="0" dirty="0"/>
          </a:p>
        </p:txBody>
      </p:sp>
      <p:sp>
        <p:nvSpPr>
          <p:cNvPr id="15" name="Text 13"/>
          <p:cNvSpPr txBox="1"/>
          <p:nvPr/>
        </p:nvSpPr>
        <p:spPr>
          <a:xfrm>
            <a:off x="4857293" y="1549737"/>
            <a:ext cx="219456" cy="2651760"/>
          </a:xfrm>
          <a:prstGeom prst="rect">
            <a:avLst/>
          </a:prstGeom>
          <a:noFill/>
          <a:ln/>
        </p:spPr>
        <p:txBody>
          <a:bodyPr wrap="square" lIns="0" tIns="0" rIns="0" bIns="0" rtlCol="0" anchor="ctr"/>
          <a:lstStyle/>
          <a:p>
            <a:pPr marL="0" indent="0" algn="ctr">
              <a:buNone/>
            </a:pPr>
            <a:r>
              <a:rPr lang="fr-FR" sz="1300" noProof="0" dirty="0">
                <a:solidFill>
                  <a:srgbClr val="000000"/>
                </a:solidFill>
                <a:latin typeface="Calibri" pitchFamily="34" charset="0"/>
                <a:ea typeface="Calibri" pitchFamily="34" charset="-122"/>
                <a:cs typeface="Calibri" pitchFamily="34" charset="-120"/>
              </a:rPr>
              <a:t>➡️</a:t>
            </a:r>
            <a:endParaRPr lang="fr-FR" sz="1300" noProof="0" dirty="0"/>
          </a:p>
        </p:txBody>
      </p:sp>
      <p:sp>
        <p:nvSpPr>
          <p:cNvPr id="16" name="Shape 14"/>
          <p:cNvSpPr/>
          <p:nvPr/>
        </p:nvSpPr>
        <p:spPr>
          <a:xfrm>
            <a:off x="5076749" y="1379491"/>
            <a:ext cx="2035454" cy="3928772"/>
          </a:xfrm>
          <a:prstGeom prst="roundRect">
            <a:avLst>
              <a:gd name="adj" fmla="val 3594"/>
            </a:avLst>
          </a:prstGeom>
          <a:solidFill>
            <a:srgbClr val="F3F6FB"/>
          </a:solidFill>
          <a:ln w="12700">
            <a:solidFill>
              <a:srgbClr val="E0E3EA"/>
            </a:solidFill>
            <a:prstDash val="solid"/>
          </a:ln>
        </p:spPr>
        <p:txBody>
          <a:bodyPr/>
          <a:lstStyle/>
          <a:p>
            <a:endParaRPr lang="fr-FR" noProof="0" dirty="0"/>
          </a:p>
        </p:txBody>
      </p:sp>
      <p:sp>
        <p:nvSpPr>
          <p:cNvPr id="17" name="Shape 15"/>
          <p:cNvSpPr/>
          <p:nvPr/>
        </p:nvSpPr>
        <p:spPr>
          <a:xfrm>
            <a:off x="5865876" y="1489641"/>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8" name="Text 16"/>
          <p:cNvSpPr txBox="1"/>
          <p:nvPr/>
        </p:nvSpPr>
        <p:spPr>
          <a:xfrm>
            <a:off x="5865876" y="1489641"/>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libri" pitchFamily="34" charset="0"/>
                <a:ea typeface="Calibri" pitchFamily="34" charset="-122"/>
                <a:cs typeface="Calibri" pitchFamily="34" charset="-120"/>
              </a:rPr>
              <a:t>3</a:t>
            </a:r>
            <a:endParaRPr lang="fr-FR" sz="1500" noProof="0" dirty="0"/>
          </a:p>
        </p:txBody>
      </p:sp>
      <p:sp>
        <p:nvSpPr>
          <p:cNvPr id="19" name="Text 17"/>
          <p:cNvSpPr txBox="1"/>
          <p:nvPr/>
        </p:nvSpPr>
        <p:spPr>
          <a:xfrm>
            <a:off x="5196564" y="2042204"/>
            <a:ext cx="1852573" cy="1368669"/>
          </a:xfrm>
          <a:prstGeom prst="rect">
            <a:avLst/>
          </a:prstGeom>
          <a:noFill/>
          <a:ln/>
        </p:spPr>
        <p:txBody>
          <a:bodyPr wrap="square" lIns="0" tIns="0" rIns="0" bIns="0" rtlCol="0" anchor="t">
            <a:noAutofit/>
          </a:bodyPr>
          <a:lstStyle/>
          <a:p>
            <a:pPr marL="0" indent="0" algn="ctr">
              <a:lnSpc>
                <a:spcPct val="106000"/>
              </a:lnSpc>
              <a:buNone/>
            </a:pPr>
            <a:r>
              <a:rPr lang="fr-FR" sz="1458" noProof="0" dirty="0">
                <a:solidFill>
                  <a:srgbClr val="23303F"/>
                </a:solidFill>
                <a:latin typeface="Calibri" pitchFamily="34" charset="0"/>
                <a:ea typeface="Calibri" pitchFamily="34" charset="-122"/>
                <a:cs typeface="Calibri" pitchFamily="34" charset="-120"/>
              </a:rPr>
              <a:t>Hôpital de district : dépistage HPV, VIA, colposcopie, LEEP, biopsie et orientation</a:t>
            </a:r>
            <a:endParaRPr lang="fr-FR" sz="1458" noProof="0" dirty="0"/>
          </a:p>
        </p:txBody>
      </p:sp>
      <p:sp>
        <p:nvSpPr>
          <p:cNvPr id="20" name="Text 18"/>
          <p:cNvSpPr txBox="1"/>
          <p:nvPr/>
        </p:nvSpPr>
        <p:spPr>
          <a:xfrm>
            <a:off x="7112203" y="1549737"/>
            <a:ext cx="219456" cy="2651760"/>
          </a:xfrm>
          <a:prstGeom prst="rect">
            <a:avLst/>
          </a:prstGeom>
          <a:noFill/>
          <a:ln/>
        </p:spPr>
        <p:txBody>
          <a:bodyPr wrap="square" lIns="0" tIns="0" rIns="0" bIns="0" rtlCol="0" anchor="ctr"/>
          <a:lstStyle/>
          <a:p>
            <a:pPr marL="0" indent="0" algn="ctr">
              <a:buNone/>
            </a:pPr>
            <a:r>
              <a:rPr lang="fr-FR" sz="1300" noProof="0" dirty="0">
                <a:solidFill>
                  <a:srgbClr val="000000"/>
                </a:solidFill>
                <a:latin typeface="Calibri" pitchFamily="34" charset="0"/>
                <a:ea typeface="Calibri" pitchFamily="34" charset="-122"/>
                <a:cs typeface="Calibri" pitchFamily="34" charset="-120"/>
              </a:rPr>
              <a:t>➡️</a:t>
            </a:r>
            <a:endParaRPr lang="fr-FR" sz="1300" noProof="0" dirty="0"/>
          </a:p>
        </p:txBody>
      </p:sp>
      <p:sp>
        <p:nvSpPr>
          <p:cNvPr id="21" name="Shape 19"/>
          <p:cNvSpPr/>
          <p:nvPr/>
        </p:nvSpPr>
        <p:spPr>
          <a:xfrm>
            <a:off x="7331659" y="1379491"/>
            <a:ext cx="2035454" cy="3928772"/>
          </a:xfrm>
          <a:prstGeom prst="roundRect">
            <a:avLst>
              <a:gd name="adj" fmla="val 3594"/>
            </a:avLst>
          </a:prstGeom>
          <a:solidFill>
            <a:srgbClr val="F3F6FB"/>
          </a:solidFill>
          <a:ln w="12700">
            <a:solidFill>
              <a:srgbClr val="E0E3EA"/>
            </a:solidFill>
            <a:prstDash val="solid"/>
          </a:ln>
        </p:spPr>
        <p:txBody>
          <a:bodyPr/>
          <a:lstStyle/>
          <a:p>
            <a:endParaRPr lang="fr-FR" noProof="0" dirty="0"/>
          </a:p>
        </p:txBody>
      </p:sp>
      <p:sp>
        <p:nvSpPr>
          <p:cNvPr id="22" name="Shape 20"/>
          <p:cNvSpPr/>
          <p:nvPr/>
        </p:nvSpPr>
        <p:spPr>
          <a:xfrm>
            <a:off x="8120786" y="1489641"/>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23" name="Text 21"/>
          <p:cNvSpPr txBox="1"/>
          <p:nvPr/>
        </p:nvSpPr>
        <p:spPr>
          <a:xfrm>
            <a:off x="8120786" y="1489641"/>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libri" pitchFamily="34" charset="0"/>
                <a:ea typeface="Calibri" pitchFamily="34" charset="-122"/>
                <a:cs typeface="Calibri" pitchFamily="34" charset="-120"/>
              </a:rPr>
              <a:t>4</a:t>
            </a:r>
            <a:endParaRPr lang="fr-FR" sz="1500" noProof="0" dirty="0"/>
          </a:p>
        </p:txBody>
      </p:sp>
      <p:sp>
        <p:nvSpPr>
          <p:cNvPr id="24" name="Text 22"/>
          <p:cNvSpPr txBox="1"/>
          <p:nvPr/>
        </p:nvSpPr>
        <p:spPr>
          <a:xfrm>
            <a:off x="7419943" y="2042204"/>
            <a:ext cx="1852574" cy="1368669"/>
          </a:xfrm>
          <a:prstGeom prst="rect">
            <a:avLst/>
          </a:prstGeom>
          <a:noFill/>
          <a:ln/>
        </p:spPr>
        <p:txBody>
          <a:bodyPr wrap="square" lIns="0" tIns="0" rIns="0" bIns="0" rtlCol="0" anchor="t">
            <a:normAutofit fontScale="88500" lnSpcReduction="20000"/>
          </a:bodyPr>
          <a:lstStyle/>
          <a:p>
            <a:pPr marL="0" indent="0" algn="ctr">
              <a:lnSpc>
                <a:spcPct val="106000"/>
              </a:lnSpc>
              <a:buNone/>
            </a:pPr>
            <a:r>
              <a:rPr lang="fr-FR" sz="1800" noProof="0" dirty="0">
                <a:solidFill>
                  <a:srgbClr val="23303F"/>
                </a:solidFill>
                <a:latin typeface="Calibri" pitchFamily="34" charset="0"/>
                <a:ea typeface="Calibri" pitchFamily="34" charset="-122"/>
                <a:cs typeface="Calibri" pitchFamily="34" charset="-120"/>
              </a:rPr>
              <a:t>Hôpital de référence : traitement </a:t>
            </a:r>
            <a:r>
              <a:rPr lang="fr-FR" sz="1800" noProof="0" dirty="0" err="1">
                <a:solidFill>
                  <a:srgbClr val="23303F"/>
                </a:solidFill>
                <a:latin typeface="Calibri" pitchFamily="34" charset="0"/>
                <a:ea typeface="Calibri" pitchFamily="34" charset="-122"/>
                <a:cs typeface="Calibri" pitchFamily="34" charset="-120"/>
              </a:rPr>
              <a:t>excisionnel</a:t>
            </a:r>
            <a:r>
              <a:rPr lang="fr-FR" sz="1800" noProof="0" dirty="0">
                <a:solidFill>
                  <a:srgbClr val="23303F"/>
                </a:solidFill>
                <a:latin typeface="Calibri" pitchFamily="34" charset="0"/>
                <a:ea typeface="Calibri" pitchFamily="34" charset="-122"/>
                <a:cs typeface="Calibri" pitchFamily="34" charset="-120"/>
              </a:rPr>
              <a:t>, biopsie, histopathologie, imagerie, chirurgie et chimiothérapie</a:t>
            </a:r>
            <a:endParaRPr lang="fr-FR" sz="1800" noProof="0" dirty="0"/>
          </a:p>
        </p:txBody>
      </p:sp>
      <p:sp>
        <p:nvSpPr>
          <p:cNvPr id="25" name="Text 23"/>
          <p:cNvSpPr txBox="1"/>
          <p:nvPr/>
        </p:nvSpPr>
        <p:spPr>
          <a:xfrm>
            <a:off x="9367114" y="1549737"/>
            <a:ext cx="219456" cy="2651760"/>
          </a:xfrm>
          <a:prstGeom prst="rect">
            <a:avLst/>
          </a:prstGeom>
          <a:noFill/>
          <a:ln/>
        </p:spPr>
        <p:txBody>
          <a:bodyPr wrap="square" lIns="0" tIns="0" rIns="0" bIns="0" rtlCol="0" anchor="ctr"/>
          <a:lstStyle/>
          <a:p>
            <a:pPr marL="0" indent="0" algn="ctr">
              <a:buNone/>
            </a:pPr>
            <a:r>
              <a:rPr lang="fr-FR" sz="1300" noProof="0" dirty="0">
                <a:solidFill>
                  <a:srgbClr val="000000"/>
                </a:solidFill>
                <a:latin typeface="Calibri" pitchFamily="34" charset="0"/>
                <a:ea typeface="Calibri" pitchFamily="34" charset="-122"/>
                <a:cs typeface="Calibri" pitchFamily="34" charset="-120"/>
              </a:rPr>
              <a:t>➡️</a:t>
            </a:r>
            <a:endParaRPr lang="fr-FR" sz="1300" noProof="0" dirty="0"/>
          </a:p>
        </p:txBody>
      </p:sp>
      <p:sp>
        <p:nvSpPr>
          <p:cNvPr id="26" name="Shape 24"/>
          <p:cNvSpPr/>
          <p:nvPr/>
        </p:nvSpPr>
        <p:spPr>
          <a:xfrm>
            <a:off x="9586570" y="1379491"/>
            <a:ext cx="2035454" cy="3928772"/>
          </a:xfrm>
          <a:prstGeom prst="roundRect">
            <a:avLst>
              <a:gd name="adj" fmla="val 3594"/>
            </a:avLst>
          </a:prstGeom>
          <a:solidFill>
            <a:srgbClr val="F3F6FB"/>
          </a:solidFill>
          <a:ln w="12700">
            <a:solidFill>
              <a:srgbClr val="E0E3EA"/>
            </a:solidFill>
            <a:prstDash val="solid"/>
          </a:ln>
        </p:spPr>
        <p:txBody>
          <a:bodyPr/>
          <a:lstStyle/>
          <a:p>
            <a:endParaRPr lang="fr-FR" noProof="0" dirty="0"/>
          </a:p>
        </p:txBody>
      </p:sp>
      <p:sp>
        <p:nvSpPr>
          <p:cNvPr id="27" name="Shape 25"/>
          <p:cNvSpPr/>
          <p:nvPr/>
        </p:nvSpPr>
        <p:spPr>
          <a:xfrm>
            <a:off x="10375697" y="1489641"/>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28" name="Text 26"/>
          <p:cNvSpPr txBox="1"/>
          <p:nvPr/>
        </p:nvSpPr>
        <p:spPr>
          <a:xfrm>
            <a:off x="10375697" y="1489641"/>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libri" pitchFamily="34" charset="0"/>
                <a:ea typeface="Calibri" pitchFamily="34" charset="-122"/>
                <a:cs typeface="Calibri" pitchFamily="34" charset="-120"/>
              </a:rPr>
              <a:t>5</a:t>
            </a:r>
            <a:endParaRPr lang="fr-FR" sz="1500" noProof="0" dirty="0"/>
          </a:p>
        </p:txBody>
      </p:sp>
      <p:sp>
        <p:nvSpPr>
          <p:cNvPr id="29" name="Text 27"/>
          <p:cNvSpPr txBox="1"/>
          <p:nvPr/>
        </p:nvSpPr>
        <p:spPr>
          <a:xfrm>
            <a:off x="9706386" y="2042204"/>
            <a:ext cx="1834286" cy="1368669"/>
          </a:xfrm>
          <a:prstGeom prst="rect">
            <a:avLst/>
          </a:prstGeom>
          <a:noFill/>
          <a:ln/>
        </p:spPr>
        <p:txBody>
          <a:bodyPr wrap="square" lIns="0" tIns="0" rIns="0" bIns="0" rtlCol="0" anchor="t">
            <a:normAutofit fontScale="96000"/>
          </a:bodyPr>
          <a:lstStyle/>
          <a:p>
            <a:pPr marL="0" indent="0" algn="ctr">
              <a:lnSpc>
                <a:spcPct val="106000"/>
              </a:lnSpc>
              <a:buNone/>
            </a:pPr>
            <a:r>
              <a:rPr lang="fr-FR" sz="1800" noProof="0" dirty="0">
                <a:solidFill>
                  <a:srgbClr val="23303F"/>
                </a:solidFill>
                <a:latin typeface="Calibri" pitchFamily="34" charset="0"/>
                <a:ea typeface="Calibri" pitchFamily="34" charset="-122"/>
                <a:cs typeface="Calibri" pitchFamily="34" charset="-120"/>
              </a:rPr>
              <a:t>Niveau national : radiothérapie, </a:t>
            </a:r>
            <a:r>
              <a:rPr lang="fr-FR" sz="1800" noProof="0" dirty="0" err="1">
                <a:solidFill>
                  <a:srgbClr val="23303F"/>
                </a:solidFill>
                <a:latin typeface="Calibri" pitchFamily="34" charset="0"/>
                <a:ea typeface="Calibri" pitchFamily="34" charset="-122"/>
                <a:cs typeface="Calibri" pitchFamily="34" charset="-120"/>
              </a:rPr>
              <a:t>brahythérapie</a:t>
            </a:r>
            <a:r>
              <a:rPr lang="fr-FR" sz="1800" noProof="0" dirty="0">
                <a:solidFill>
                  <a:srgbClr val="23303F"/>
                </a:solidFill>
                <a:latin typeface="Calibri" pitchFamily="34" charset="0"/>
                <a:ea typeface="Calibri" pitchFamily="34" charset="-122"/>
                <a:cs typeface="Calibri" pitchFamily="34" charset="-120"/>
              </a:rPr>
              <a:t> et soins oncologiques spécialisés</a:t>
            </a:r>
            <a:endParaRPr lang="fr-FR" sz="1800" noProof="0" dirty="0"/>
          </a:p>
        </p:txBody>
      </p:sp>
      <p:sp>
        <p:nvSpPr>
          <p:cNvPr id="32" name="Shape 15">
            <a:extLst>
              <a:ext uri="{FF2B5EF4-FFF2-40B4-BE49-F238E27FC236}">
                <a16:creationId xmlns:a16="http://schemas.microsoft.com/office/drawing/2014/main" id="{719CEF03-B13B-D11C-3ADC-EDC993FF4155}"/>
              </a:ext>
            </a:extLst>
          </p:cNvPr>
          <p:cNvSpPr/>
          <p:nvPr/>
        </p:nvSpPr>
        <p:spPr>
          <a:xfrm>
            <a:off x="548640" y="5467751"/>
            <a:ext cx="11055096" cy="868680"/>
          </a:xfrm>
          <a:prstGeom prst="roundRect">
            <a:avLst>
              <a:gd name="adj" fmla="val 8140"/>
            </a:avLst>
          </a:prstGeom>
          <a:solidFill>
            <a:srgbClr val="EAF7F0"/>
          </a:solidFill>
          <a:ln w="12700">
            <a:solidFill>
              <a:srgbClr val="C0D4CB"/>
            </a:solidFill>
            <a:prstDash val="solid"/>
          </a:ln>
        </p:spPr>
        <p:txBody>
          <a:bodyPr/>
          <a:lstStyle/>
          <a:p>
            <a:endParaRPr lang="fr-FR" sz="1600" noProof="0" dirty="0"/>
          </a:p>
        </p:txBody>
      </p:sp>
      <p:sp>
        <p:nvSpPr>
          <p:cNvPr id="34" name="Text 16">
            <a:extLst>
              <a:ext uri="{FF2B5EF4-FFF2-40B4-BE49-F238E27FC236}">
                <a16:creationId xmlns:a16="http://schemas.microsoft.com/office/drawing/2014/main" id="{55856140-1DA4-A823-FC64-84E34ACBE36F}"/>
              </a:ext>
            </a:extLst>
          </p:cNvPr>
          <p:cNvSpPr txBox="1"/>
          <p:nvPr/>
        </p:nvSpPr>
        <p:spPr>
          <a:xfrm>
            <a:off x="752856" y="5576280"/>
            <a:ext cx="10850880" cy="676656"/>
          </a:xfrm>
          <a:prstGeom prst="rect">
            <a:avLst/>
          </a:prstGeom>
          <a:noFill/>
          <a:ln/>
        </p:spPr>
        <p:txBody>
          <a:bodyPr wrap="square" lIns="0" tIns="0" rIns="0" bIns="0" rtlCol="0" anchor="ctr">
            <a:noAutofit/>
          </a:bodyPr>
          <a:lstStyle/>
          <a:p>
            <a:pPr>
              <a:lnSpc>
                <a:spcPct val="104000"/>
              </a:lnSpc>
            </a:pPr>
            <a:r>
              <a:rPr lang="fr-FR" sz="1360" b="1" noProof="0" dirty="0">
                <a:solidFill>
                  <a:srgbClr val="19543E"/>
                </a:solidFill>
                <a:latin typeface="Calibri" pitchFamily="34" charset="0"/>
                <a:ea typeface="Calibri" pitchFamily="34" charset="-122"/>
                <a:cs typeface="Calibri" pitchFamily="34" charset="-120"/>
              </a:rPr>
              <a:t>🏥 La disponibilité des services évolue :  </a:t>
            </a:r>
            <a:r>
              <a:rPr lang="fr-FR" sz="1360" noProof="0" dirty="0">
                <a:solidFill>
                  <a:srgbClr val="23303F"/>
                </a:solidFill>
                <a:latin typeface="Calibri" pitchFamily="34" charset="0"/>
                <a:ea typeface="Calibri" pitchFamily="34" charset="-122"/>
                <a:cs typeface="Calibri" pitchFamily="34" charset="-120"/>
              </a:rPr>
              <a:t>le test ADN du HPV et la VIA sont proposés dans les centres de santé et les hôpitaux de district. La LEEP et la biopsie sont réalisées dans les hôpitaux de district ; les services spécialisés en oncologie sont concentrés dans les hôpitaux de référence, avec une capacité qui s'élargit.</a:t>
            </a:r>
          </a:p>
        </p:txBody>
      </p:sp>
      <p:pic>
        <p:nvPicPr>
          <p:cNvPr id="39" name="Imagen 38">
            <a:extLst>
              <a:ext uri="{FF2B5EF4-FFF2-40B4-BE49-F238E27FC236}">
                <a16:creationId xmlns:a16="http://schemas.microsoft.com/office/drawing/2014/main" id="{C1BA9C05-F293-F7EA-A68A-7AC6F595AD0A}"/>
              </a:ext>
            </a:extLst>
          </p:cNvPr>
          <p:cNvPicPr>
            <a:picLocks noChangeAspect="1"/>
          </p:cNvPicPr>
          <p:nvPr/>
        </p:nvPicPr>
        <p:blipFill>
          <a:blip r:embed="rId3"/>
          <a:stretch>
            <a:fillRect/>
          </a:stretch>
        </p:blipFill>
        <p:spPr>
          <a:xfrm>
            <a:off x="1009423" y="4111841"/>
            <a:ext cx="1199851" cy="1199851"/>
          </a:xfrm>
          <a:prstGeom prst="rect">
            <a:avLst/>
          </a:prstGeom>
        </p:spPr>
      </p:pic>
      <p:pic>
        <p:nvPicPr>
          <p:cNvPr id="40" name="Imagen 39">
            <a:extLst>
              <a:ext uri="{FF2B5EF4-FFF2-40B4-BE49-F238E27FC236}">
                <a16:creationId xmlns:a16="http://schemas.microsoft.com/office/drawing/2014/main" id="{BEEFFE13-B75F-F040-C862-85029A0AEAEB}"/>
              </a:ext>
            </a:extLst>
          </p:cNvPr>
          <p:cNvPicPr>
            <a:picLocks noChangeAspect="1"/>
          </p:cNvPicPr>
          <p:nvPr/>
        </p:nvPicPr>
        <p:blipFill>
          <a:blip r:embed="rId4"/>
          <a:srcRect/>
          <a:stretch>
            <a:fillRect/>
          </a:stretch>
        </p:blipFill>
        <p:spPr>
          <a:xfrm>
            <a:off x="3214946" y="4056691"/>
            <a:ext cx="1156822" cy="1156822"/>
          </a:xfrm>
          <a:prstGeom prst="rect">
            <a:avLst/>
          </a:prstGeom>
        </p:spPr>
      </p:pic>
      <p:pic>
        <p:nvPicPr>
          <p:cNvPr id="41" name="Imagen 40">
            <a:extLst>
              <a:ext uri="{FF2B5EF4-FFF2-40B4-BE49-F238E27FC236}">
                <a16:creationId xmlns:a16="http://schemas.microsoft.com/office/drawing/2014/main" id="{35CDBC11-DBB9-0FE6-0800-0C03294D9461}"/>
              </a:ext>
            </a:extLst>
          </p:cNvPr>
          <p:cNvPicPr>
            <a:picLocks noChangeAspect="1"/>
          </p:cNvPicPr>
          <p:nvPr/>
        </p:nvPicPr>
        <p:blipFill>
          <a:blip r:embed="rId5"/>
          <a:srcRect/>
          <a:stretch>
            <a:fillRect/>
          </a:stretch>
        </p:blipFill>
        <p:spPr>
          <a:xfrm>
            <a:off x="5508049" y="4056691"/>
            <a:ext cx="1130164" cy="1130164"/>
          </a:xfrm>
          <a:prstGeom prst="rect">
            <a:avLst/>
          </a:prstGeom>
        </p:spPr>
      </p:pic>
      <p:pic>
        <p:nvPicPr>
          <p:cNvPr id="42" name="Imagen 41">
            <a:extLst>
              <a:ext uri="{FF2B5EF4-FFF2-40B4-BE49-F238E27FC236}">
                <a16:creationId xmlns:a16="http://schemas.microsoft.com/office/drawing/2014/main" id="{A2628088-702C-CD83-ACFE-178BD926530E}"/>
              </a:ext>
            </a:extLst>
          </p:cNvPr>
          <p:cNvPicPr>
            <a:picLocks noChangeAspect="1"/>
          </p:cNvPicPr>
          <p:nvPr/>
        </p:nvPicPr>
        <p:blipFill>
          <a:blip r:embed="rId6"/>
          <a:srcRect/>
          <a:stretch>
            <a:fillRect/>
          </a:stretch>
        </p:blipFill>
        <p:spPr>
          <a:xfrm>
            <a:off x="7688081" y="3915517"/>
            <a:ext cx="1193507" cy="1193507"/>
          </a:xfrm>
          <a:prstGeom prst="rect">
            <a:avLst/>
          </a:prstGeom>
        </p:spPr>
      </p:pic>
      <p:pic>
        <p:nvPicPr>
          <p:cNvPr id="43" name="Imagen 42">
            <a:extLst>
              <a:ext uri="{FF2B5EF4-FFF2-40B4-BE49-F238E27FC236}">
                <a16:creationId xmlns:a16="http://schemas.microsoft.com/office/drawing/2014/main" id="{C87E9278-971D-6986-54F6-6DD63C9C07B7}"/>
              </a:ext>
            </a:extLst>
          </p:cNvPr>
          <p:cNvPicPr>
            <a:picLocks noChangeAspect="1"/>
          </p:cNvPicPr>
          <p:nvPr/>
        </p:nvPicPr>
        <p:blipFill>
          <a:blip r:embed="rId7"/>
          <a:srcRect/>
          <a:stretch>
            <a:fillRect/>
          </a:stretch>
        </p:blipFill>
        <p:spPr>
          <a:xfrm>
            <a:off x="10017870" y="3944317"/>
            <a:ext cx="1164707" cy="1164707"/>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123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ORIENTATION</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Avec quel degré d’urgence orienter</a:t>
            </a:r>
            <a:endParaRPr lang="fr-FR" sz="3200" noProof="0" dirty="0"/>
          </a:p>
        </p:txBody>
      </p:sp>
      <p:sp>
        <p:nvSpPr>
          <p:cNvPr id="6" name="Shape 4"/>
          <p:cNvSpPr/>
          <p:nvPr/>
        </p:nvSpPr>
        <p:spPr>
          <a:xfrm>
            <a:off x="566928" y="1719072"/>
            <a:ext cx="3563112" cy="3566160"/>
          </a:xfrm>
          <a:prstGeom prst="roundRect">
            <a:avLst>
              <a:gd name="adj" fmla="val 2310"/>
            </a:avLst>
          </a:prstGeom>
          <a:solidFill>
            <a:srgbClr val="FDE9E8"/>
          </a:solidFill>
          <a:ln w="12700">
            <a:solidFill>
              <a:srgbClr val="F0CFCE"/>
            </a:solidFill>
            <a:prstDash val="solid"/>
          </a:ln>
        </p:spPr>
        <p:txBody>
          <a:bodyPr/>
          <a:lstStyle/>
          <a:p>
            <a:endParaRPr lang="fr-FR" noProof="0" dirty="0"/>
          </a:p>
        </p:txBody>
      </p:sp>
      <p:sp>
        <p:nvSpPr>
          <p:cNvPr id="7" name="Text 5"/>
          <p:cNvSpPr txBox="1"/>
          <p:nvPr/>
        </p:nvSpPr>
        <p:spPr>
          <a:xfrm>
            <a:off x="822960" y="1920240"/>
            <a:ext cx="3051048" cy="566928"/>
          </a:xfrm>
          <a:prstGeom prst="rect">
            <a:avLst/>
          </a:prstGeom>
          <a:noFill/>
          <a:ln/>
        </p:spPr>
        <p:txBody>
          <a:bodyPr wrap="square" lIns="0" tIns="0" rIns="0" bIns="0" rtlCol="0" anchor="ctr"/>
          <a:lstStyle/>
          <a:p>
            <a:pPr marL="0" indent="0">
              <a:buNone/>
            </a:pPr>
            <a:r>
              <a:rPr lang="fr-FR" sz="2000" b="1" noProof="0" dirty="0">
                <a:solidFill>
                  <a:srgbClr val="8E2531"/>
                </a:solidFill>
                <a:latin typeface="Calibri" pitchFamily="34" charset="0"/>
                <a:ea typeface="Calibri" pitchFamily="34" charset="-122"/>
                <a:cs typeface="Calibri" pitchFamily="34" charset="-120"/>
              </a:rPr>
              <a:t>🔴 Urgence, même jour</a:t>
            </a:r>
            <a:endParaRPr lang="fr-FR" sz="2000" noProof="0" dirty="0"/>
          </a:p>
        </p:txBody>
      </p:sp>
      <p:sp>
        <p:nvSpPr>
          <p:cNvPr id="8" name="Text 6"/>
          <p:cNvSpPr txBox="1"/>
          <p:nvPr/>
        </p:nvSpPr>
        <p:spPr>
          <a:xfrm>
            <a:off x="877824" y="2560320"/>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Saignements abondants ou persistants.</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Vertiges ou pâleur avec saignement.</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Anémie symptomatique sévère.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Douleur intense chez une femme malade.</a:t>
            </a:r>
            <a:endParaRPr lang="fr-FR" sz="1800" noProof="0" dirty="0"/>
          </a:p>
        </p:txBody>
      </p:sp>
      <p:sp>
        <p:nvSpPr>
          <p:cNvPr id="9" name="Shape 7"/>
          <p:cNvSpPr/>
          <p:nvPr/>
        </p:nvSpPr>
        <p:spPr>
          <a:xfrm>
            <a:off x="4312920" y="1719072"/>
            <a:ext cx="3563112" cy="3566160"/>
          </a:xfrm>
          <a:prstGeom prst="roundRect">
            <a:avLst>
              <a:gd name="adj" fmla="val 2310"/>
            </a:avLst>
          </a:prstGeom>
          <a:solidFill>
            <a:srgbClr val="FFF2DF"/>
          </a:solidFill>
          <a:ln w="12700">
            <a:solidFill>
              <a:srgbClr val="E8DDC7"/>
            </a:solidFill>
            <a:prstDash val="solid"/>
          </a:ln>
        </p:spPr>
        <p:txBody>
          <a:bodyPr/>
          <a:lstStyle/>
          <a:p>
            <a:endParaRPr lang="fr-FR" noProof="0" dirty="0"/>
          </a:p>
        </p:txBody>
      </p:sp>
      <p:sp>
        <p:nvSpPr>
          <p:cNvPr id="10" name="Text 8"/>
          <p:cNvSpPr txBox="1"/>
          <p:nvPr/>
        </p:nvSpPr>
        <p:spPr>
          <a:xfrm>
            <a:off x="4568952" y="1920240"/>
            <a:ext cx="3051048" cy="566928"/>
          </a:xfrm>
          <a:prstGeom prst="rect">
            <a:avLst/>
          </a:prstGeom>
          <a:noFill/>
          <a:ln/>
        </p:spPr>
        <p:txBody>
          <a:bodyPr wrap="square" lIns="0" tIns="0" rIns="0" bIns="0" rtlCol="0" anchor="ctr"/>
          <a:lstStyle/>
          <a:p>
            <a:pPr marL="0" indent="0">
              <a:buNone/>
            </a:pPr>
            <a:r>
              <a:rPr lang="fr-FR" sz="2000" b="1" noProof="0" dirty="0">
                <a:solidFill>
                  <a:srgbClr val="7B5727"/>
                </a:solidFill>
                <a:latin typeface="Calibri" pitchFamily="34" charset="0"/>
                <a:ea typeface="Calibri" pitchFamily="34" charset="-122"/>
                <a:cs typeface="Calibri" pitchFamily="34" charset="-120"/>
              </a:rPr>
              <a:t>🟠 Rapidement, sans attendre</a:t>
            </a:r>
            <a:endParaRPr lang="fr-FR" sz="2000" noProof="0" dirty="0"/>
          </a:p>
        </p:txBody>
      </p:sp>
      <p:sp>
        <p:nvSpPr>
          <p:cNvPr id="11" name="Text 9"/>
          <p:cNvSpPr txBox="1"/>
          <p:nvPr/>
        </p:nvSpPr>
        <p:spPr>
          <a:xfrm>
            <a:off x="4623816" y="2560320"/>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Un col de l'utérus suspect d'être un cancer.</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Saignements après la ménopause.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Saignements après un rapport sexuel.</a:t>
            </a:r>
            <a:endParaRPr lang="fr-FR" sz="1800" noProof="0" dirty="0"/>
          </a:p>
          <a:p>
            <a:pPr marL="342900" indent="-342900">
              <a:lnSpc>
                <a:spcPct val="102000"/>
              </a:lnSpc>
              <a:spcAft>
                <a:spcPts val="800"/>
              </a:spcAft>
              <a:buSzPct val="100000"/>
              <a:buChar char="•"/>
            </a:pPr>
            <a:r>
              <a:rPr lang="fr-FR" dirty="0">
                <a:solidFill>
                  <a:srgbClr val="23303F"/>
                </a:solidFill>
                <a:latin typeface="Calibri" pitchFamily="34" charset="0"/>
                <a:ea typeface="Calibri" pitchFamily="34" charset="-122"/>
                <a:cs typeface="Calibri" pitchFamily="34" charset="-120"/>
              </a:rPr>
              <a:t>Pertes malodorantes persistantes</a:t>
            </a:r>
            <a:r>
              <a:rPr lang="fr-FR" sz="1800" noProof="0" dirty="0">
                <a:solidFill>
                  <a:srgbClr val="23303F"/>
                </a:solidFill>
                <a:latin typeface="Calibri" pitchFamily="34" charset="0"/>
                <a:ea typeface="Calibri" pitchFamily="34" charset="-122"/>
                <a:cs typeface="Calibri" pitchFamily="34" charset="-120"/>
              </a:rPr>
              <a:t>.</a:t>
            </a:r>
            <a:endParaRPr lang="fr-FR" sz="1800" noProof="0" dirty="0"/>
          </a:p>
        </p:txBody>
      </p:sp>
      <p:sp>
        <p:nvSpPr>
          <p:cNvPr id="12" name="Shape 10"/>
          <p:cNvSpPr/>
          <p:nvPr/>
        </p:nvSpPr>
        <p:spPr>
          <a:xfrm>
            <a:off x="8058912" y="1719072"/>
            <a:ext cx="3563112" cy="3566160"/>
          </a:xfrm>
          <a:prstGeom prst="roundRect">
            <a:avLst>
              <a:gd name="adj" fmla="val 2310"/>
            </a:avLst>
          </a:prstGeom>
          <a:solidFill>
            <a:srgbClr val="ECF3FD"/>
          </a:solidFill>
          <a:ln w="12700">
            <a:solidFill>
              <a:srgbClr val="E0E3EA"/>
            </a:solidFill>
            <a:prstDash val="solid"/>
          </a:ln>
        </p:spPr>
        <p:txBody>
          <a:bodyPr/>
          <a:lstStyle/>
          <a:p>
            <a:endParaRPr lang="fr-FR" noProof="0" dirty="0"/>
          </a:p>
        </p:txBody>
      </p:sp>
      <p:sp>
        <p:nvSpPr>
          <p:cNvPr id="13" name="Text 11"/>
          <p:cNvSpPr txBox="1"/>
          <p:nvPr/>
        </p:nvSpPr>
        <p:spPr>
          <a:xfrm>
            <a:off x="8314944" y="1920240"/>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Orientation de routine</a:t>
            </a:r>
            <a:endParaRPr lang="fr-FR" sz="2000" noProof="0" dirty="0"/>
          </a:p>
        </p:txBody>
      </p:sp>
      <p:sp>
        <p:nvSpPr>
          <p:cNvPr id="14" name="Text 12"/>
          <p:cNvSpPr txBox="1"/>
          <p:nvPr/>
        </p:nvSpPr>
        <p:spPr>
          <a:xfrm>
            <a:off x="8369808" y="2560320"/>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Une lésion nécessitant une excision, pas suspecte.</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Un test de suivi à un niveau supérieur.</a:t>
            </a:r>
            <a:endParaRPr lang="fr-FR" sz="1800" noProof="0" dirty="0"/>
          </a:p>
          <a:p>
            <a:pPr marL="342900" indent="-342900">
              <a:lnSpc>
                <a:spcPct val="102000"/>
              </a:lnSpc>
              <a:spcAft>
                <a:spcPts val="800"/>
              </a:spcAft>
              <a:buSzPct val="100000"/>
              <a:buChar char="•"/>
            </a:pPr>
            <a:r>
              <a:rPr lang="fr-FR" sz="1800" noProof="0" dirty="0">
                <a:solidFill>
                  <a:srgbClr val="23303F"/>
                </a:solidFill>
                <a:latin typeface="Calibri" pitchFamily="34" charset="0"/>
                <a:ea typeface="Calibri" pitchFamily="34" charset="-122"/>
                <a:cs typeface="Calibri" pitchFamily="34" charset="-120"/>
              </a:rPr>
              <a:t>Avis de spécialiste, pas de pression sur le temps.</a:t>
            </a:r>
            <a:endParaRPr lang="fr-FR" sz="1800" noProof="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FR" sz="1200" b="1" kern="0" spc="200" noProof="0" dirty="0">
                <a:solidFill>
                  <a:srgbClr val="1F4E96"/>
                </a:solidFill>
                <a:latin typeface="Calibri" pitchFamily="34" charset="0"/>
                <a:ea typeface="Calibri" pitchFamily="34" charset="-122"/>
                <a:cs typeface="Calibri" pitchFamily="34" charset="-120"/>
              </a:rPr>
              <a:t>SESSION 3</a:t>
            </a:r>
            <a:endParaRPr lang="fr-FR"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FR" sz="3400" b="1" noProof="0" dirty="0">
                <a:solidFill>
                  <a:srgbClr val="0E2E5C"/>
                </a:solidFill>
                <a:latin typeface="Cambria" pitchFamily="34" charset="0"/>
                <a:ea typeface="Cambria" pitchFamily="34" charset="-122"/>
                <a:cs typeface="Cambria" pitchFamily="34" charset="-120"/>
              </a:rPr>
              <a:t>Que noter au premier contact</a:t>
            </a:r>
            <a:endParaRPr lang="fr-FR" sz="3400" noProof="0" dirty="0"/>
          </a:p>
        </p:txBody>
      </p:sp>
      <p:sp>
        <p:nvSpPr>
          <p:cNvPr id="4" name="Text 2"/>
          <p:cNvSpPr/>
          <p:nvPr/>
        </p:nvSpPr>
        <p:spPr>
          <a:xfrm>
            <a:off x="548640" y="6382512"/>
            <a:ext cx="11094415" cy="274320"/>
          </a:xfrm>
          <a:prstGeom prst="rect">
            <a:avLst/>
          </a:prstGeom>
          <a:noFill/>
          <a:ln/>
        </p:spPr>
        <p:txBody>
          <a:bodyPr wrap="square" rtlCol="0" anchor="ctr"/>
          <a:lstStyle/>
          <a:p>
            <a:r>
              <a:rPr lang="fr-FR" sz="1000" dirty="0">
                <a:solidFill>
                  <a:srgbClr val="5B7195"/>
                </a:solidFill>
                <a:latin typeface="Calibri" pitchFamily="34" charset="0"/>
                <a:ea typeface="Calibri" pitchFamily="34" charset="-122"/>
                <a:cs typeface="Calibri" pitchFamily="34" charset="-120"/>
              </a:rPr>
              <a:t>Cancer du col de l'utérus</a:t>
            </a:r>
            <a:r>
              <a:rPr lang="fr-FR" sz="1000" noProof="0" dirty="0">
                <a:solidFill>
                  <a:srgbClr val="5B7195"/>
                </a:solidFill>
                <a:latin typeface="Calibri" pitchFamily="34" charset="0"/>
                <a:ea typeface="Calibri" pitchFamily="34" charset="-122"/>
                <a:cs typeface="Calibri" pitchFamily="34" charset="-120"/>
              </a:rPr>
              <a:t>| Première ligne de santé santé | Centre biomédical du Rwanda</a:t>
            </a:r>
            <a:endParaRPr lang="fr-FR" sz="1000" noProof="0" dirty="0"/>
          </a:p>
        </p:txBody>
      </p:sp>
      <p:sp>
        <p:nvSpPr>
          <p:cNvPr id="23" name="Text 21"/>
          <p:cNvSpPr/>
          <p:nvPr/>
        </p:nvSpPr>
        <p:spPr>
          <a:xfrm>
            <a:off x="548640" y="5806440"/>
            <a:ext cx="11094415" cy="411480"/>
          </a:xfrm>
          <a:prstGeom prst="rect">
            <a:avLst/>
          </a:prstGeom>
          <a:noFill/>
          <a:ln/>
        </p:spPr>
        <p:txBody>
          <a:bodyPr wrap="square" rtlCol="0" anchor="ctr">
            <a:noAutofit/>
          </a:bodyPr>
          <a:lstStyle/>
          <a:p>
            <a:pPr marL="0" indent="0">
              <a:buNone/>
            </a:pPr>
            <a:r>
              <a:rPr lang="fr-FR" sz="1395" b="1" i="1" noProof="0" dirty="0">
                <a:solidFill>
                  <a:schemeClr val="bg2">
                    <a:lumMod val="50000"/>
                  </a:schemeClr>
                </a:solidFill>
                <a:latin typeface="Calibri" pitchFamily="34" charset="0"/>
                <a:ea typeface="Calibri" pitchFamily="34" charset="-122"/>
                <a:cs typeface="Calibri" pitchFamily="34" charset="-120"/>
              </a:rPr>
              <a:t>Note : </a:t>
            </a:r>
            <a:r>
              <a:rPr lang="fr-FR" sz="1395" i="1" noProof="0" dirty="0">
                <a:solidFill>
                  <a:schemeClr val="bg2">
                    <a:lumMod val="50000"/>
                  </a:schemeClr>
                </a:solidFill>
                <a:latin typeface="Calibri" pitchFamily="34" charset="0"/>
                <a:ea typeface="Calibri" pitchFamily="34" charset="-122"/>
                <a:cs typeface="Calibri" pitchFamily="34" charset="-120"/>
              </a:rPr>
              <a:t>En l'absence de tests de routine, votre jugement clinique est la base des données. Un dossier complété au premier soupçon puis mis à jour plus tard est bien plus utile qu'un formulaire vierge en attente d'un test de confirmation.</a:t>
            </a:r>
            <a:endParaRPr lang="fr-FR" sz="1395" noProof="0" dirty="0">
              <a:solidFill>
                <a:schemeClr val="bg2">
                  <a:lumMod val="50000"/>
                </a:schemeClr>
              </a:solidFill>
            </a:endParaRPr>
          </a:p>
        </p:txBody>
      </p:sp>
      <p:pic>
        <p:nvPicPr>
          <p:cNvPr id="6" name="Imagen 5">
            <a:extLst>
              <a:ext uri="{FF2B5EF4-FFF2-40B4-BE49-F238E27FC236}">
                <a16:creationId xmlns:a16="http://schemas.microsoft.com/office/drawing/2014/main" id="{D12BFB5E-CAB7-949A-1E54-EAC670235CB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30109" y="1360760"/>
            <a:ext cx="11411712" cy="3803904"/>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125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ORIENTATION</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Avant qu’elle quitte la salle de consultation</a:t>
            </a:r>
            <a:endParaRPr lang="fr-FR" sz="32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Nomme l'établissement où elle va aller et donne la recommandation par écrit.</a:t>
            </a:r>
            <a:endParaRPr lang="fr-FR"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Expliquez ce qui va s'y passer, en termes simples.</a:t>
            </a:r>
            <a:endParaRPr lang="fr-FR"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Notez la date et dites-lui quand elle est attendue.</a:t>
            </a:r>
            <a:endParaRPr lang="fr-FR"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Demandez-lui directement ce qui l'arrêterait, et résolvez ce que vous pouvez résoudre aujourd'hui.</a:t>
            </a:r>
            <a:endParaRPr lang="fr-FR" sz="1800" noProof="0" dirty="0"/>
          </a:p>
        </p:txBody>
      </p:sp>
      <p:sp>
        <p:nvSpPr>
          <p:cNvPr id="18" name="Shape 16"/>
          <p:cNvSpPr/>
          <p:nvPr/>
        </p:nvSpPr>
        <p:spPr>
          <a:xfrm>
            <a:off x="566928" y="5374303"/>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9" name="Text 17"/>
          <p:cNvSpPr txBox="1"/>
          <p:nvPr/>
        </p:nvSpPr>
        <p:spPr>
          <a:xfrm>
            <a:off x="786384" y="5374303"/>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20" name="Text 18"/>
          <p:cNvSpPr txBox="1"/>
          <p:nvPr/>
        </p:nvSpPr>
        <p:spPr>
          <a:xfrm>
            <a:off x="1463040" y="5429167"/>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Convenez de la manière dont le résultat lui parviendra, et qui fera un suivi si elle ne participe pas.</a:t>
            </a:r>
            <a:endParaRPr lang="fr-FR" sz="1800" noProof="0" dirty="0"/>
          </a:p>
        </p:txBody>
      </p:sp>
      <p:sp>
        <p:nvSpPr>
          <p:cNvPr id="21" name="Shape 19"/>
          <p:cNvSpPr/>
          <p:nvPr/>
        </p:nvSpPr>
        <p:spPr>
          <a:xfrm>
            <a:off x="566928" y="5394960"/>
            <a:ext cx="11055096" cy="786384"/>
          </a:xfrm>
          <a:prstGeom prst="roundRect">
            <a:avLst>
              <a:gd name="adj" fmla="val 8140"/>
            </a:avLst>
          </a:prstGeom>
          <a:solidFill>
            <a:srgbClr val="FFF2DF"/>
          </a:solidFill>
          <a:ln w="12700">
            <a:solidFill>
              <a:srgbClr val="E8DDC7"/>
            </a:solidFill>
            <a:prstDash val="solid"/>
          </a:ln>
        </p:spPr>
        <p:txBody>
          <a:bodyPr/>
          <a:lstStyle/>
          <a:p>
            <a:endParaRPr lang="fr-FR" noProof="0" dirty="0"/>
          </a:p>
        </p:txBody>
      </p:sp>
      <p:sp>
        <p:nvSpPr>
          <p:cNvPr id="22" name="Text 20"/>
          <p:cNvSpPr txBox="1"/>
          <p:nvPr/>
        </p:nvSpPr>
        <p:spPr>
          <a:xfrm>
            <a:off x="841248" y="5449824"/>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7B5727"/>
                </a:solidFill>
                <a:latin typeface="Calibri" pitchFamily="34" charset="0"/>
                <a:ea typeface="Calibri" pitchFamily="34" charset="-122"/>
                <a:cs typeface="Calibri" pitchFamily="34" charset="-120"/>
              </a:rPr>
              <a:t>📌 Rappelez-vous :  </a:t>
            </a:r>
            <a:r>
              <a:rPr lang="fr-FR" sz="1800" noProof="0" dirty="0">
                <a:solidFill>
                  <a:srgbClr val="23303F"/>
                </a:solidFill>
                <a:latin typeface="Calibri" pitchFamily="34" charset="0"/>
                <a:ea typeface="Calibri" pitchFamily="34" charset="-122"/>
                <a:cs typeface="Calibri" pitchFamily="34" charset="-120"/>
              </a:rPr>
              <a:t>une recommandation sur laquelle une femme ne peut pas agir n'est pas une recommandation. La distance, le coût et le temps passé hors du travail décident si elle arrive.</a:t>
            </a:r>
            <a:endParaRPr lang="fr-FR" sz="1800" noProof="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126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SÉANCE 3 · CONSEIL</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Accompagnement après un test HPV positif</a:t>
            </a:r>
            <a:endParaRPr lang="fr-FR" sz="32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1️⃣</a:t>
            </a:r>
            <a:endParaRPr lang="fr-FR"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Un HPV à haut risque a été détecté.</a:t>
            </a:r>
            <a:endParaRPr lang="fr-FR"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2️⃣</a:t>
            </a:r>
            <a:endParaRPr lang="fr-FR"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Le HPV est fréquent, et la plupart des infections ne causent aucun dommage.</a:t>
            </a:r>
            <a:endParaRPr lang="fr-FR"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3️⃣</a:t>
            </a:r>
            <a:endParaRPr lang="fr-FR"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Ce résultat ne signifie pas qu'elle a un cancer du col de l'utérus.</a:t>
            </a:r>
            <a:endParaRPr lang="fr-FR"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4️⃣</a:t>
            </a:r>
            <a:endParaRPr lang="fr-FR"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Expliquez quelle est la prochaine étape et pourquoi elle est importante.</a:t>
            </a:r>
            <a:endParaRPr lang="fr-FR" sz="1800" noProof="0" dirty="0"/>
          </a:p>
        </p:txBody>
      </p:sp>
      <p:sp>
        <p:nvSpPr>
          <p:cNvPr id="18" name="Shape 16"/>
          <p:cNvSpPr/>
          <p:nvPr/>
        </p:nvSpPr>
        <p:spPr>
          <a:xfrm>
            <a:off x="566928" y="5374303"/>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9" name="Text 17"/>
          <p:cNvSpPr txBox="1"/>
          <p:nvPr/>
        </p:nvSpPr>
        <p:spPr>
          <a:xfrm>
            <a:off x="786384" y="5374303"/>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5️⃣</a:t>
            </a:r>
            <a:endParaRPr lang="fr-FR" sz="2000" noProof="0" dirty="0"/>
          </a:p>
        </p:txBody>
      </p:sp>
      <p:sp>
        <p:nvSpPr>
          <p:cNvPr id="20" name="Text 18"/>
          <p:cNvSpPr txBox="1"/>
          <p:nvPr/>
        </p:nvSpPr>
        <p:spPr>
          <a:xfrm>
            <a:off x="1463040" y="5429167"/>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Le résultat ne dit rien sur le comportement d'un partenaire.</a:t>
            </a:r>
            <a:endParaRPr lang="fr-FR" sz="1800" noProof="0" dirty="0"/>
          </a:p>
        </p:txBody>
      </p:sp>
      <p:sp>
        <p:nvSpPr>
          <p:cNvPr id="21" name="Shape 19"/>
          <p:cNvSpPr/>
          <p:nvPr/>
        </p:nvSpPr>
        <p:spPr>
          <a:xfrm>
            <a:off x="566928" y="5394960"/>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22" name="Text 20"/>
          <p:cNvSpPr txBox="1"/>
          <p:nvPr/>
        </p:nvSpPr>
        <p:spPr>
          <a:xfrm>
            <a:off x="841248" y="5449824"/>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Dis-le ainsi :  </a:t>
            </a:r>
            <a:r>
              <a:rPr lang="fr-FR" sz="1800" noProof="0" dirty="0">
                <a:solidFill>
                  <a:srgbClr val="23303F"/>
                </a:solidFill>
                <a:latin typeface="Calibri" pitchFamily="34" charset="0"/>
                <a:ea typeface="Calibri" pitchFamily="34" charset="-122"/>
                <a:cs typeface="Calibri" pitchFamily="34" charset="-120"/>
              </a:rPr>
              <a:t>un virus courant a été trouvé. Ce n'est pas un cancer. L'étape suivante consiste à examiner correctement votre col de l'utérus, afin que tout ce qui nécessite un traitement soit traité tôt.</a:t>
            </a:r>
            <a:endParaRPr lang="fr-FR" sz="1800" noProof="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127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SÉANCE 3 · CONSEIL</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Les conversations que vous aurez</a:t>
            </a:r>
            <a:endParaRPr lang="fr-FR" sz="3200" noProof="0" dirty="0"/>
          </a:p>
        </p:txBody>
      </p:sp>
      <p:sp>
        <p:nvSpPr>
          <p:cNvPr id="6" name="Shape 4"/>
          <p:cNvSpPr/>
          <p:nvPr/>
        </p:nvSpPr>
        <p:spPr>
          <a:xfrm>
            <a:off x="566928" y="1719072"/>
            <a:ext cx="3563112" cy="2651760"/>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901952"/>
            <a:ext cx="3051048" cy="566928"/>
          </a:xfrm>
          <a:prstGeom prst="rect">
            <a:avLst/>
          </a:prstGeom>
          <a:noFill/>
          <a:ln/>
        </p:spPr>
        <p:txBody>
          <a:bodyPr wrap="square" lIns="0" tIns="0" rIns="0" bIns="0" rtlCol="0" anchor="ctr">
            <a:normAutofit fontScale="95500" lnSpcReduction="100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Incertitude de la dénomination</a:t>
            </a:r>
            <a:endParaRPr lang="fr-FR" sz="2000" noProof="0" dirty="0"/>
          </a:p>
        </p:txBody>
      </p:sp>
      <p:sp>
        <p:nvSpPr>
          <p:cNvPr id="8" name="Text 6"/>
          <p:cNvSpPr txBox="1"/>
          <p:nvPr/>
        </p:nvSpPr>
        <p:spPr>
          <a:xfrm>
            <a:off x="822960" y="2505456"/>
            <a:ext cx="3051048" cy="168249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Dites ce qui est connu, ce qui n'est pas connu, et à quoi sert le prochain test. Ne promettez pas de résultat.</a:t>
            </a:r>
            <a:endParaRPr lang="fr-FR" sz="1800" noProof="0" dirty="0"/>
          </a:p>
        </p:txBody>
      </p:sp>
      <p:sp>
        <p:nvSpPr>
          <p:cNvPr id="9" name="Shape 7"/>
          <p:cNvSpPr/>
          <p:nvPr/>
        </p:nvSpPr>
        <p:spPr>
          <a:xfrm>
            <a:off x="4312920" y="1719072"/>
            <a:ext cx="3563112" cy="2651760"/>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901952"/>
            <a:ext cx="3051048" cy="566928"/>
          </a:xfrm>
          <a:prstGeom prst="rect">
            <a:avLst/>
          </a:prstGeom>
          <a:noFill/>
          <a:ln/>
        </p:spPr>
        <p:txBody>
          <a:bodyPr wrap="square" lIns="0" tIns="0" rIns="0" bIns="0" rtlCol="0" anchor="ctr">
            <a:normAutofit fontScale="955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Fertilité</a:t>
            </a:r>
            <a:endParaRPr lang="fr-FR" sz="2000" noProof="0" dirty="0"/>
          </a:p>
        </p:txBody>
      </p:sp>
      <p:sp>
        <p:nvSpPr>
          <p:cNvPr id="11" name="Text 9"/>
          <p:cNvSpPr txBox="1"/>
          <p:nvPr/>
        </p:nvSpPr>
        <p:spPr>
          <a:xfrm>
            <a:off x="4568952" y="2505456"/>
            <a:ext cx="3051048" cy="168249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Le traitement du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maintient l'utérus et préserve la fertilité. Dites-le tôt et clairement.</a:t>
            </a:r>
            <a:endParaRPr lang="fr-FR" sz="1800" noProof="0" dirty="0"/>
          </a:p>
        </p:txBody>
      </p:sp>
      <p:sp>
        <p:nvSpPr>
          <p:cNvPr id="12" name="Shape 10"/>
          <p:cNvSpPr/>
          <p:nvPr/>
        </p:nvSpPr>
        <p:spPr>
          <a:xfrm>
            <a:off x="8058912" y="1719072"/>
            <a:ext cx="3563112" cy="2651760"/>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901952"/>
            <a:ext cx="3051048" cy="566928"/>
          </a:xfrm>
          <a:prstGeom prst="rect">
            <a:avLst/>
          </a:prstGeom>
          <a:noFill/>
          <a:ln/>
        </p:spPr>
        <p:txBody>
          <a:bodyPr wrap="square" lIns="0" tIns="0" rIns="0" bIns="0" rtlCol="0" anchor="ctr">
            <a:normAutofit fontScale="955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Que se passe-t-il ensuite</a:t>
            </a:r>
            <a:endParaRPr lang="fr-FR" sz="2000" noProof="0" dirty="0"/>
          </a:p>
        </p:txBody>
      </p:sp>
      <p:sp>
        <p:nvSpPr>
          <p:cNvPr id="14" name="Text 12"/>
          <p:cNvSpPr txBox="1"/>
          <p:nvPr/>
        </p:nvSpPr>
        <p:spPr>
          <a:xfrm>
            <a:off x="8314944" y="2505456"/>
            <a:ext cx="3051048" cy="168249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Décrivez l'examen, l'acide acétique, la biopsie, le temps nécessaire et ce qu'elle ressentira.</a:t>
            </a:r>
            <a:endParaRPr lang="fr-FR" sz="1800" noProof="0" dirty="0"/>
          </a:p>
        </p:txBody>
      </p:sp>
      <p:sp>
        <p:nvSpPr>
          <p:cNvPr id="15" name="Shape 13"/>
          <p:cNvSpPr/>
          <p:nvPr/>
        </p:nvSpPr>
        <p:spPr>
          <a:xfrm>
            <a:off x="566928" y="4572000"/>
            <a:ext cx="11055096" cy="786384"/>
          </a:xfrm>
          <a:prstGeom prst="roundRect">
            <a:avLst>
              <a:gd name="adj" fmla="val 8140"/>
            </a:avLst>
          </a:prstGeom>
          <a:solidFill>
            <a:srgbClr val="FDE9E8"/>
          </a:solidFill>
          <a:ln w="12700">
            <a:solidFill>
              <a:srgbClr val="F0CFCE"/>
            </a:solidFill>
            <a:prstDash val="solid"/>
          </a:ln>
        </p:spPr>
        <p:txBody>
          <a:bodyPr/>
          <a:lstStyle/>
          <a:p>
            <a:endParaRPr lang="fr-FR" noProof="0" dirty="0"/>
          </a:p>
        </p:txBody>
      </p:sp>
      <p:sp>
        <p:nvSpPr>
          <p:cNvPr id="16" name="Text 14"/>
          <p:cNvSpPr txBox="1"/>
          <p:nvPr/>
        </p:nvSpPr>
        <p:spPr>
          <a:xfrm>
            <a:off x="841248" y="4626864"/>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Éviter :  </a:t>
            </a:r>
            <a:r>
              <a:rPr lang="fr-FR" sz="1800" noProof="0" dirty="0">
                <a:solidFill>
                  <a:srgbClr val="23303F"/>
                </a:solidFill>
                <a:latin typeface="Calibri" pitchFamily="34" charset="0"/>
                <a:ea typeface="Calibri" pitchFamily="34" charset="-122"/>
                <a:cs typeface="Calibri" pitchFamily="34" charset="-120"/>
              </a:rPr>
              <a:t>Un langage effrayant et de fausses assurances empêchent les femmes de revenir, ce qui est le résultat qui compte le plus.</a:t>
            </a:r>
            <a:endParaRPr lang="fr-FR" sz="1800" noProof="0" dirty="0"/>
          </a:p>
        </p:txBody>
      </p:sp>
      <p:sp>
        <p:nvSpPr>
          <p:cNvPr id="17" name="Shape 15"/>
          <p:cNvSpPr/>
          <p:nvPr/>
        </p:nvSpPr>
        <p:spPr>
          <a:xfrm>
            <a:off x="566928" y="5449824"/>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18" name="Text 16"/>
          <p:cNvSpPr txBox="1"/>
          <p:nvPr/>
        </p:nvSpPr>
        <p:spPr>
          <a:xfrm>
            <a:off x="841248" y="5504688"/>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Au contraire :  </a:t>
            </a:r>
            <a:r>
              <a:rPr lang="fr-FR" sz="1800" noProof="0" dirty="0">
                <a:solidFill>
                  <a:srgbClr val="23303F"/>
                </a:solidFill>
                <a:latin typeface="Calibri" pitchFamily="34" charset="0"/>
                <a:ea typeface="Calibri" pitchFamily="34" charset="-122"/>
                <a:cs typeface="Calibri" pitchFamily="34" charset="-120"/>
              </a:rPr>
              <a:t>soyez honnête, soyez précis sur la prochaine étape, et laissez-lui poser des questions avant qu'elle parte.</a:t>
            </a:r>
            <a:endParaRPr lang="fr-FR" sz="1800" noProof="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FE62D1-942D-A794-356E-365BAB1297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95800B-FD90-AFCB-3FC9-B57F5445DB85}"/>
              </a:ext>
            </a:extLst>
          </p:cNvPr>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a:extLst>
              <a:ext uri="{FF2B5EF4-FFF2-40B4-BE49-F238E27FC236}">
                <a16:creationId xmlns:a16="http://schemas.microsoft.com/office/drawing/2014/main" id="{1109202D-E769-28DC-DABC-511EA4C05B7E}"/>
              </a:ext>
            </a:extLst>
          </p:cNvPr>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128</a:t>
            </a:r>
            <a:endParaRPr lang="fr-FR" sz="1100" noProof="0" dirty="0"/>
          </a:p>
        </p:txBody>
      </p:sp>
      <p:sp>
        <p:nvSpPr>
          <p:cNvPr id="4" name="Text 2">
            <a:extLst>
              <a:ext uri="{FF2B5EF4-FFF2-40B4-BE49-F238E27FC236}">
                <a16:creationId xmlns:a16="http://schemas.microsoft.com/office/drawing/2014/main" id="{9A773148-CB58-E017-C449-C6DCE8BF950A}"/>
              </a:ext>
            </a:extLst>
          </p:cNvPr>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SÉANCE 3 · CONSEIL</a:t>
            </a:r>
            <a:endParaRPr lang="fr-FR" sz="1200" noProof="0" dirty="0"/>
          </a:p>
        </p:txBody>
      </p:sp>
      <p:pic>
        <p:nvPicPr>
          <p:cNvPr id="6" name="Imagen 5">
            <a:extLst>
              <a:ext uri="{FF2B5EF4-FFF2-40B4-BE49-F238E27FC236}">
                <a16:creationId xmlns:a16="http://schemas.microsoft.com/office/drawing/2014/main" id="{CE0BAF75-F22C-5019-6D61-8929A5739B6C}"/>
              </a:ext>
            </a:extLst>
          </p:cNvPr>
          <p:cNvPicPr>
            <a:picLocks noChangeAspect="1"/>
          </p:cNvPicPr>
          <p:nvPr/>
        </p:nvPicPr>
        <p:blipFill>
          <a:blip r:embed="rId3"/>
          <a:stretch>
            <a:fillRect/>
          </a:stretch>
        </p:blipFill>
        <p:spPr>
          <a:xfrm>
            <a:off x="566928" y="603503"/>
            <a:ext cx="10491216" cy="5721357"/>
          </a:xfrm>
          <a:prstGeom prst="rect">
            <a:avLst/>
          </a:prstGeom>
        </p:spPr>
      </p:pic>
    </p:spTree>
    <p:extLst>
      <p:ext uri="{BB962C8B-B14F-4D97-AF65-F5344CB8AC3E}">
        <p14:creationId xmlns:p14="http://schemas.microsoft.com/office/powerpoint/2010/main" val="78064279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129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SOUTIEN PSYCHOLOGIQUE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Les bases qui font la différence</a:t>
            </a:r>
            <a:endParaRPr lang="fr-FR" sz="3200" noProof="0" dirty="0"/>
          </a:p>
        </p:txBody>
      </p:sp>
      <p:sp>
        <p:nvSpPr>
          <p:cNvPr id="6" name="Shape 4"/>
          <p:cNvSpPr/>
          <p:nvPr/>
        </p:nvSpPr>
        <p:spPr>
          <a:xfrm>
            <a:off x="566928" y="1515870"/>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515870"/>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570734"/>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Écoutez sans jugement, et laissez passer les questions.</a:t>
            </a:r>
            <a:endParaRPr lang="fr-FR" sz="1800" noProof="0" dirty="0"/>
          </a:p>
        </p:txBody>
      </p:sp>
      <p:sp>
        <p:nvSpPr>
          <p:cNvPr id="9" name="Shape 7"/>
          <p:cNvSpPr/>
          <p:nvPr/>
        </p:nvSpPr>
        <p:spPr>
          <a:xfrm>
            <a:off x="566928" y="2429678"/>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429678"/>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2484542"/>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Évitez les fausses assurances, et évitez les blâmes.</a:t>
            </a:r>
            <a:endParaRPr lang="fr-FR" sz="1800" noProof="0" dirty="0"/>
          </a:p>
        </p:txBody>
      </p:sp>
      <p:sp>
        <p:nvSpPr>
          <p:cNvPr id="12" name="Shape 10"/>
          <p:cNvSpPr/>
          <p:nvPr/>
        </p:nvSpPr>
        <p:spPr>
          <a:xfrm>
            <a:off x="566928" y="3343485"/>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343485"/>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3398349"/>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Protéger la vie privée et la dignité. Demander ce qu'elle veut voir enregistré et divulgué.</a:t>
            </a:r>
            <a:endParaRPr lang="fr-FR" sz="1800" noProof="0" dirty="0"/>
          </a:p>
        </p:txBody>
      </p:sp>
      <p:sp>
        <p:nvSpPr>
          <p:cNvPr id="15" name="Shape 13"/>
          <p:cNvSpPr/>
          <p:nvPr/>
        </p:nvSpPr>
        <p:spPr>
          <a:xfrm>
            <a:off x="566928" y="4257293"/>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4257293"/>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4312157"/>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Soutenez-la en autonomie, y compris à qui elle choisit de le dire.</a:t>
            </a:r>
            <a:endParaRPr lang="fr-FR" sz="1800" noProof="0" dirty="0"/>
          </a:p>
        </p:txBody>
      </p:sp>
      <p:sp>
        <p:nvSpPr>
          <p:cNvPr id="18" name="Shape 16"/>
          <p:cNvSpPr/>
          <p:nvPr/>
        </p:nvSpPr>
        <p:spPr>
          <a:xfrm>
            <a:off x="566928" y="5171101"/>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9" name="Text 17"/>
          <p:cNvSpPr txBox="1"/>
          <p:nvPr/>
        </p:nvSpPr>
        <p:spPr>
          <a:xfrm>
            <a:off x="786384" y="5171101"/>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20" name="Text 18"/>
          <p:cNvSpPr txBox="1"/>
          <p:nvPr/>
        </p:nvSpPr>
        <p:spPr>
          <a:xfrm>
            <a:off x="1463040" y="5225965"/>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Reconnaître quand la peur du cancer, de la fertilité ou d'une relation a besoin de plus de soutien que ce que vous pouvez offrir, et orientez-vous.</a:t>
            </a:r>
            <a:endParaRPr lang="fr-FR" sz="1800" noProof="0" dirty="0"/>
          </a:p>
        </p:txBody>
      </p:sp>
      <p:sp>
        <p:nvSpPr>
          <p:cNvPr id="21" name="Shape 19"/>
          <p:cNvSpPr/>
          <p:nvPr/>
        </p:nvSpPr>
        <p:spPr>
          <a:xfrm>
            <a:off x="566928" y="5191758"/>
            <a:ext cx="11055096" cy="786384"/>
          </a:xfrm>
          <a:prstGeom prst="roundRect">
            <a:avLst>
              <a:gd name="adj" fmla="val 8140"/>
            </a:avLst>
          </a:prstGeom>
          <a:solidFill>
            <a:srgbClr val="ECF3FD"/>
          </a:solidFill>
          <a:ln w="12700">
            <a:solidFill>
              <a:srgbClr val="E0E3EA"/>
            </a:solidFill>
            <a:prstDash val="solid"/>
          </a:ln>
        </p:spPr>
        <p:txBody>
          <a:bodyPr/>
          <a:lstStyle/>
          <a:p>
            <a:endParaRPr lang="fr-FR" noProof="0" dirty="0"/>
          </a:p>
        </p:txBody>
      </p:sp>
      <p:sp>
        <p:nvSpPr>
          <p:cNvPr id="22" name="Text 20"/>
          <p:cNvSpPr txBox="1"/>
          <p:nvPr/>
        </p:nvSpPr>
        <p:spPr>
          <a:xfrm>
            <a:off x="841248" y="5246622"/>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0305A"/>
                </a:solidFill>
                <a:latin typeface="Calibri" pitchFamily="34" charset="0"/>
                <a:ea typeface="Calibri" pitchFamily="34" charset="-122"/>
                <a:cs typeface="Calibri" pitchFamily="34" charset="-120"/>
              </a:rPr>
              <a:t>🔎 Attention :  </a:t>
            </a:r>
            <a:r>
              <a:rPr lang="fr-FR" sz="1800" noProof="0" dirty="0">
                <a:solidFill>
                  <a:srgbClr val="23303F"/>
                </a:solidFill>
                <a:latin typeface="Calibri" pitchFamily="34" charset="0"/>
                <a:ea typeface="Calibri" pitchFamily="34" charset="-122"/>
                <a:cs typeface="Calibri" pitchFamily="34" charset="-120"/>
              </a:rPr>
              <a:t>peur du cancer, peur de l'infertilité, peur de la réaction de son partenaire, et la peur pratique de perdre des revenus. Chacun a une réponse différente.</a:t>
            </a:r>
            <a:endParaRPr lang="fr-FR" sz="1800" noProof="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130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INTERACTIF</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Mythe ou réalité : HPV et stigmatisation</a:t>
            </a:r>
            <a:endParaRPr lang="fr-FR"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 Sélectionnez chaque mythe pour révéler la réponse exacte.</a:t>
            </a:r>
            <a:endParaRPr lang="fr-FR" sz="1800" noProof="0" dirty="0"/>
          </a:p>
        </p:txBody>
      </p:sp>
      <p:sp>
        <p:nvSpPr>
          <p:cNvPr id="7" name="Shape 5"/>
          <p:cNvSpPr/>
          <p:nvPr/>
        </p:nvSpPr>
        <p:spPr>
          <a:xfrm>
            <a:off x="566928" y="1965960"/>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8" name="Text 6"/>
          <p:cNvSpPr txBox="1"/>
          <p:nvPr/>
        </p:nvSpPr>
        <p:spPr>
          <a:xfrm>
            <a:off x="804672" y="2039112"/>
            <a:ext cx="4096512" cy="791249"/>
          </a:xfrm>
          <a:prstGeom prst="rect">
            <a:avLst/>
          </a:prstGeom>
          <a:noFill/>
          <a:ln/>
        </p:spPr>
        <p:txBody>
          <a:bodyPr wrap="square" lIns="0" tIns="0" rIns="0" bIns="0" rtlCol="0" anchor="ctr">
            <a:normAutofit fontScale="97500"/>
          </a:bodyP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a:t>
            </a:r>
            <a:r>
              <a:rPr lang="fr-FR" sz="1800" noProof="0" dirty="0">
                <a:solidFill>
                  <a:srgbClr val="23303F"/>
                </a:solidFill>
                <a:latin typeface="Calibri" pitchFamily="34" charset="0"/>
                <a:ea typeface="Calibri" pitchFamily="34" charset="-122"/>
                <a:cs typeface="Calibri" pitchFamily="34" charset="-120"/>
              </a:rPr>
              <a:t>Un test positif au HPV prouve qu'un partenaire a été infidèle.</a:t>
            </a:r>
            <a:endParaRPr lang="fr-FR" sz="1800" noProof="0" dirty="0"/>
          </a:p>
        </p:txBody>
      </p:sp>
      <p:sp>
        <p:nvSpPr>
          <p:cNvPr id="9" name="Shape 7"/>
          <p:cNvSpPr/>
          <p:nvPr/>
        </p:nvSpPr>
        <p:spPr>
          <a:xfrm>
            <a:off x="5321808" y="1965960"/>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5559552" y="2039112"/>
            <a:ext cx="5824728" cy="791249"/>
          </a:xfrm>
          <a:prstGeom prst="rect">
            <a:avLst/>
          </a:prstGeom>
          <a:noFill/>
          <a:ln/>
        </p:spPr>
        <p:txBody>
          <a:bodyPr wrap="square" lIns="0" tIns="0" rIns="0" bIns="0" rtlCol="0" anchor="ctr">
            <a:normAutofit fontScale="94500" lnSpcReduction="100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a:t>
            </a:r>
            <a:r>
              <a:rPr lang="fr-FR" sz="1800" noProof="0" dirty="0">
                <a:solidFill>
                  <a:srgbClr val="23303F"/>
                </a:solidFill>
                <a:latin typeface="Calibri" pitchFamily="34" charset="0"/>
                <a:ea typeface="Calibri" pitchFamily="34" charset="-122"/>
                <a:cs typeface="Calibri" pitchFamily="34" charset="-120"/>
              </a:rPr>
              <a:t>: le HPV est courant et peut persister silencieusement pendant des années. Un résultat ne dit rien sur le moment ni auprès de qui l'infection a été contractée.</a:t>
            </a:r>
            <a:endParaRPr lang="fr-FR" sz="1800" noProof="0" dirty="0"/>
          </a:p>
        </p:txBody>
      </p:sp>
      <p:sp>
        <p:nvSpPr>
          <p:cNvPr id="11" name="Shape 9"/>
          <p:cNvSpPr/>
          <p:nvPr/>
        </p:nvSpPr>
        <p:spPr>
          <a:xfrm>
            <a:off x="566928" y="3046378"/>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12" name="Text 10"/>
          <p:cNvSpPr txBox="1"/>
          <p:nvPr/>
        </p:nvSpPr>
        <p:spPr>
          <a:xfrm>
            <a:off x="804672" y="3119530"/>
            <a:ext cx="4096512" cy="791249"/>
          </a:xfrm>
          <a:prstGeom prst="rect">
            <a:avLst/>
          </a:prstGeom>
          <a:noFill/>
          <a:ln/>
        </p:spPr>
        <p:txBody>
          <a:bodyPr wrap="square" lIns="0" tIns="0" rIns="0" bIns="0" rtlCol="0" anchor="ctr">
            <a:normAutofit fontScale="97500" lnSpcReduction="10000"/>
          </a:bodyP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a:t>
            </a:r>
            <a:r>
              <a:rPr lang="fr-FR" sz="1800" noProof="0" dirty="0">
                <a:solidFill>
                  <a:srgbClr val="23303F"/>
                </a:solidFill>
                <a:latin typeface="Calibri" pitchFamily="34" charset="0"/>
                <a:ea typeface="Calibri" pitchFamily="34" charset="-122"/>
                <a:cs typeface="Calibri" pitchFamily="34" charset="-120"/>
              </a:rPr>
              <a:t>Le cancer du col de l'utérus ne touche que les femmes ayant plusieurs partenaires.</a:t>
            </a:r>
            <a:endParaRPr lang="fr-FR" sz="1800" noProof="0" dirty="0"/>
          </a:p>
        </p:txBody>
      </p:sp>
      <p:sp>
        <p:nvSpPr>
          <p:cNvPr id="13" name="Shape 11"/>
          <p:cNvSpPr/>
          <p:nvPr/>
        </p:nvSpPr>
        <p:spPr>
          <a:xfrm>
            <a:off x="5321808" y="3046378"/>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5559552" y="3119530"/>
            <a:ext cx="5824728" cy="791249"/>
          </a:xfrm>
          <a:prstGeom prst="rect">
            <a:avLst/>
          </a:prstGeom>
          <a:noFill/>
          <a:ln/>
        </p:spPr>
        <p:txBody>
          <a:bodyPr wrap="square" lIns="0" tIns="0" rIns="0" bIns="0" rtlCol="0" anchor="ctr">
            <a:normAutofit fontScale="94500" lnSpcReduction="100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   </a:t>
            </a:r>
            <a:r>
              <a:rPr lang="fr-FR" sz="1800" noProof="0" dirty="0">
                <a:solidFill>
                  <a:srgbClr val="23303F"/>
                </a:solidFill>
                <a:latin typeface="Calibri" pitchFamily="34" charset="0"/>
                <a:ea typeface="Calibri" pitchFamily="34" charset="-122"/>
                <a:cs typeface="Calibri" pitchFamily="34" charset="-120"/>
              </a:rPr>
              <a:t>Un partenaire de vie suffit à contracter le HPV. Encadrer le dépistage autour du comportement alimente la stigmatisation et éloigne les femmes.</a:t>
            </a:r>
            <a:endParaRPr lang="fr-FR" sz="1800" noProof="0" dirty="0"/>
          </a:p>
        </p:txBody>
      </p:sp>
      <p:sp>
        <p:nvSpPr>
          <p:cNvPr id="15" name="Shape 13"/>
          <p:cNvSpPr/>
          <p:nvPr/>
        </p:nvSpPr>
        <p:spPr>
          <a:xfrm>
            <a:off x="566928" y="4126797"/>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16" name="Text 14"/>
          <p:cNvSpPr txBox="1"/>
          <p:nvPr/>
        </p:nvSpPr>
        <p:spPr>
          <a:xfrm>
            <a:off x="804672" y="4199949"/>
            <a:ext cx="4096512" cy="791249"/>
          </a:xfrm>
          <a:prstGeom prst="rect">
            <a:avLst/>
          </a:prstGeom>
          <a:noFill/>
          <a:ln/>
        </p:spPr>
        <p:txBody>
          <a:bodyPr wrap="square" lIns="0" tIns="0" rIns="0" bIns="0" rtlCol="0" anchor="ctr">
            <a:normAutofit fontScale="97500" lnSpcReduction="10000"/>
          </a:bodyP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a:t>
            </a:r>
            <a:r>
              <a:rPr lang="fr-FR" sz="1800" noProof="0" dirty="0">
                <a:solidFill>
                  <a:srgbClr val="23303F"/>
                </a:solidFill>
                <a:latin typeface="Calibri" pitchFamily="34" charset="0"/>
                <a:ea typeface="Calibri" pitchFamily="34" charset="-122"/>
                <a:cs typeface="Calibri" pitchFamily="34" charset="-120"/>
              </a:rPr>
              <a:t>: Une femme atteinte d'un cancer du col de l'utérus s'est causée elle-même.</a:t>
            </a:r>
            <a:endParaRPr lang="fr-FR" sz="1800" noProof="0" dirty="0"/>
          </a:p>
        </p:txBody>
      </p:sp>
      <p:sp>
        <p:nvSpPr>
          <p:cNvPr id="17" name="Shape 15"/>
          <p:cNvSpPr/>
          <p:nvPr/>
        </p:nvSpPr>
        <p:spPr>
          <a:xfrm>
            <a:off x="5321808" y="4126797"/>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18" name="Text 16"/>
          <p:cNvSpPr txBox="1"/>
          <p:nvPr/>
        </p:nvSpPr>
        <p:spPr>
          <a:xfrm>
            <a:off x="5559552" y="4199949"/>
            <a:ext cx="5824728" cy="791249"/>
          </a:xfrm>
          <a:prstGeom prst="rect">
            <a:avLst/>
          </a:prstGeom>
          <a:noFill/>
          <a:ln/>
        </p:spPr>
        <p:txBody>
          <a:bodyPr wrap="square" lIns="0" tIns="0" rIns="0" bIns="0" rtlCol="0" anchor="ctr">
            <a:normAutofit fontScale="945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a:t>
            </a:r>
            <a:r>
              <a:rPr lang="fr-FR" sz="1800" noProof="0" dirty="0">
                <a:solidFill>
                  <a:srgbClr val="23303F"/>
                </a:solidFill>
                <a:latin typeface="Calibri" pitchFamily="34" charset="0"/>
                <a:ea typeface="Calibri" pitchFamily="34" charset="-122"/>
                <a:cs typeface="Calibri" pitchFamily="34" charset="-120"/>
              </a:rPr>
              <a:t>: Le cancer du col de l'utérus suit un virus courant. Aucune femme n'est responsable de son diagnostic.</a:t>
            </a:r>
            <a:endParaRPr lang="fr-FR" sz="1800" noProof="0" dirty="0"/>
          </a:p>
        </p:txBody>
      </p:sp>
      <p:sp>
        <p:nvSpPr>
          <p:cNvPr id="19" name="Shape 17"/>
          <p:cNvSpPr/>
          <p:nvPr/>
        </p:nvSpPr>
        <p:spPr>
          <a:xfrm>
            <a:off x="566928" y="5207215"/>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20" name="Text 18"/>
          <p:cNvSpPr txBox="1"/>
          <p:nvPr/>
        </p:nvSpPr>
        <p:spPr>
          <a:xfrm>
            <a:off x="804672" y="5280367"/>
            <a:ext cx="4096512" cy="791249"/>
          </a:xfrm>
          <a:prstGeom prst="rect">
            <a:avLst/>
          </a:prstGeom>
          <a:noFill/>
          <a:ln/>
        </p:spPr>
        <p:txBody>
          <a:bodyPr wrap="square" lIns="0" tIns="0" rIns="0" bIns="0" rtlCol="0" anchor="ctr">
            <a:normAutofit fontScale="97500" lnSpcReduction="10000"/>
          </a:bodyP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Le dépistage des   </a:t>
            </a:r>
            <a:r>
              <a:rPr lang="fr-FR" sz="1800" noProof="0" dirty="0">
                <a:solidFill>
                  <a:srgbClr val="23303F"/>
                </a:solidFill>
                <a:latin typeface="Calibri" pitchFamily="34" charset="0"/>
                <a:ea typeface="Calibri" pitchFamily="34" charset="-122"/>
                <a:cs typeface="Calibri" pitchFamily="34" charset="-120"/>
              </a:rPr>
              <a:t>mythes est embarrassant, il vaut donc mieux ne pas en parler.</a:t>
            </a:r>
            <a:endParaRPr lang="fr-FR" sz="1800" noProof="0" dirty="0"/>
          </a:p>
        </p:txBody>
      </p:sp>
      <p:sp>
        <p:nvSpPr>
          <p:cNvPr id="21" name="Shape 19"/>
          <p:cNvSpPr/>
          <p:nvPr/>
        </p:nvSpPr>
        <p:spPr>
          <a:xfrm>
            <a:off x="5321808" y="5207215"/>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22" name="Text 20"/>
          <p:cNvSpPr txBox="1"/>
          <p:nvPr/>
        </p:nvSpPr>
        <p:spPr>
          <a:xfrm>
            <a:off x="5559552" y="5280367"/>
            <a:ext cx="5824728" cy="791249"/>
          </a:xfrm>
          <a:prstGeom prst="rect">
            <a:avLst/>
          </a:prstGeom>
          <a:noFill/>
          <a:ln/>
        </p:spPr>
        <p:txBody>
          <a:bodyPr wrap="square" lIns="0" tIns="0" rIns="0" bIns="0" rtlCol="0" anchor="ctr">
            <a:normAutofit fontScale="94500" lnSpcReduction="100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a:t>
            </a:r>
            <a:r>
              <a:rPr lang="fr-FR" sz="1800" noProof="0" dirty="0">
                <a:solidFill>
                  <a:srgbClr val="23303F"/>
                </a:solidFill>
                <a:latin typeface="Calibri" pitchFamily="34" charset="0"/>
                <a:ea typeface="Calibri" pitchFamily="34" charset="-122"/>
                <a:cs typeface="Calibri" pitchFamily="34" charset="-120"/>
              </a:rPr>
              <a:t>: Élever la question calmement et en privé est précisément ce qui rend le dépistage possible. Le silence coûte des vies.</a:t>
            </a:r>
            <a:endParaRPr lang="fr-FR" sz="1800" noProof="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131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CAS CLINIQUE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 Clôture du cas clinique : Immaculée</a:t>
            </a:r>
            <a:endParaRPr lang="fr-FR" sz="3200" noProof="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132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1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 résultat positif au dépistage doit être expliqué à une femme comme suit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 cancer confirmé</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Une raison d'arrêter d'enquêter</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Une constatation normale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 signal indiquant que son col doit être examiné, et non que le cancer a été trouvé</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a:t>
            </a:r>
            <a:r>
              <a:rPr lang="fr-FR" sz="1800" noProof="0" dirty="0">
                <a:solidFill>
                  <a:srgbClr val="23303F"/>
                </a:solidFill>
                <a:latin typeface="Calibri" pitchFamily="34" charset="0"/>
                <a:ea typeface="Calibri" pitchFamily="34" charset="-122"/>
                <a:cs typeface="Calibri" pitchFamily="34" charset="-120"/>
              </a:rPr>
              <a:t>Le résultat signifie que la prochaine étape de la voie est imminente. Dire clairement que le cancer n'a pas été trouvé est ce qui maintient une femme effrayée engagée dans les soins.</a:t>
            </a:r>
            <a:endParaRPr lang="fr-FR" sz="1800" noProof="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133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2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Quelle présentation nécessite une évaluation d'urgence le jour même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Saignements vaginaux abondants avec vertiges et pâleur</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Un test HPV positif chez une femme en bonne santé</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Deux mois d'écoulements légers</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Une femme devant un dépistage de routine</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a:t>
            </a:r>
            <a:r>
              <a:rPr lang="fr-FR" sz="1800" noProof="0" dirty="0">
                <a:solidFill>
                  <a:srgbClr val="23303F"/>
                </a:solidFill>
                <a:latin typeface="Calibri" pitchFamily="34" charset="0"/>
                <a:ea typeface="Calibri" pitchFamily="34" charset="-122"/>
                <a:cs typeface="Calibri" pitchFamily="34" charset="-120"/>
              </a:rPr>
              <a:t>Les saignements présentant des signes de compromission hémodynamique nécessitent une réanimation et un transfert immédiat. Les autres constats nécessitent une prise en charge rapide ou régulière, mais pas des soins d'urgence le jour même.</a:t>
            </a:r>
            <a:endParaRPr lang="fr-FR" sz="1800" noProof="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134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3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L'élément le plus utile à enregistrer pour le registre national du cancer au premier contact est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Le stade suspecté</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La profession de la femme</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La date d'apparition des symptômes et la date de cette consultation</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Le nom du clinicien référent</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 </a:t>
            </a:r>
            <a:r>
              <a:rPr lang="fr-FR" sz="1800" noProof="0" dirty="0">
                <a:solidFill>
                  <a:srgbClr val="23303F"/>
                </a:solidFill>
                <a:latin typeface="Calibri" pitchFamily="34" charset="0"/>
                <a:ea typeface="Calibri" pitchFamily="34" charset="-122"/>
                <a:cs typeface="Calibri" pitchFamily="34" charset="-120"/>
              </a:rPr>
              <a:t>Ensemble, ces deux dates mesurent le délai diagnostique, qui est l'indicateur clé du bon fonctionnement de la voie. Enregistrez-les même lorsqu'aucun test n'a été effectué.</a:t>
            </a:r>
            <a:endParaRPr lang="fr-FR" sz="1800" noProof="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135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4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orientée il y a six semaines n'a pas assisté. Vous devriez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Supposer qu'elle a choisi de ne pas y aller</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La contacter, découvrir ce qui l'a empêchée de venir, et réorganiser le rendez-vous</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La retirer du registre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Attendre son retour</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La perte de suivi est l'une des plus grandes lacunes dans la voie, et la raison est généralement pratique plutôt qu'un refus de soins. Découvrir ce qui s'est passé fait partie de la tâche clinique.</a:t>
            </a:r>
            <a:endParaRPr lang="fr-FR" sz="1800" noProof="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136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5 sur 5</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a peur que son mari l'accuse d'infidélité si elle lui parle de son résultat de HPV. La meilleure approche est la suivante :</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Insister pour qu'elle le lui dise</a:t>
            </a:r>
            <a:endParaRPr lang="fr-FR"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Éviter le sujet</a:t>
            </a:r>
            <a:endParaRPr lang="fr-FR"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Le lui dire vous-même</a:t>
            </a:r>
            <a:endParaRPr lang="fr-FR" sz="1800" noProof="0" dirty="0"/>
          </a:p>
        </p:txBody>
      </p:sp>
      <p:sp>
        <p:nvSpPr>
          <p:cNvPr id="13" name="Shape 11"/>
          <p:cNvSpPr/>
          <p:nvPr/>
        </p:nvSpPr>
        <p:spPr>
          <a:xfrm>
            <a:off x="566928" y="41605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Expliquer que le HPV est courant et peut persister pendant des années, et aide-la à décider quoi dire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a:t>
            </a:r>
            <a:r>
              <a:rPr lang="fr-FR" sz="1800" noProof="0" dirty="0">
                <a:solidFill>
                  <a:srgbClr val="23303F"/>
                </a:solidFill>
                <a:latin typeface="Calibri" pitchFamily="34" charset="0"/>
                <a:ea typeface="Calibri" pitchFamily="34" charset="-122"/>
                <a:cs typeface="Calibri" pitchFamily="34" charset="-120"/>
              </a:rPr>
              <a:t>Des informations exactes ainsi qu'un plan qu'elle contrôle protègent à la fois sa sécurité et sa volonté de poursuivre les soins en soins. La divulgation est sa décision, pas la vôtre.</a:t>
            </a:r>
            <a:endParaRPr lang="fr-FR" sz="1800" noProof="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137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3</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Réflexion</a:t>
            </a:r>
            <a:endParaRPr lang="fr-FR"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Instruction de l'apprenant : Saisissez votre réponse dans la boîte de texte. Ces réponses ne sont pas notées.</a:t>
            </a:r>
            <a:endParaRPr lang="fr-FR" sz="1800" noProof="0" dirty="0"/>
          </a:p>
        </p:txBody>
      </p:sp>
      <p:sp>
        <p:nvSpPr>
          <p:cNvPr id="7" name="Shape 5"/>
          <p:cNvSpPr/>
          <p:nvPr/>
        </p:nvSpPr>
        <p:spPr>
          <a:xfrm>
            <a:off x="566928" y="2084832"/>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41248" y="248412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41248" y="248412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1</a:t>
            </a:r>
            <a:endParaRPr lang="fr-FR" sz="1500" noProof="0" dirty="0"/>
          </a:p>
        </p:txBody>
      </p:sp>
      <p:sp>
        <p:nvSpPr>
          <p:cNvPr id="10" name="Text 8"/>
          <p:cNvSpPr txBox="1"/>
          <p:nvPr/>
        </p:nvSpPr>
        <p:spPr>
          <a:xfrm>
            <a:off x="1517904" y="2157984"/>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Comment expliqueriez-vous à une femme inquiète que vous la référez, sans dire ni sous-entendre qu'elle a un cancer ?</a:t>
            </a:r>
            <a:endParaRPr lang="fr-FR" sz="1800" noProof="0" dirty="0"/>
          </a:p>
        </p:txBody>
      </p:sp>
      <p:sp>
        <p:nvSpPr>
          <p:cNvPr id="11" name="Shape 9"/>
          <p:cNvSpPr/>
          <p:nvPr/>
        </p:nvSpPr>
        <p:spPr>
          <a:xfrm>
            <a:off x="566928" y="3486912"/>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41248" y="388620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41248" y="388620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2</a:t>
            </a:r>
            <a:endParaRPr lang="fr-FR" sz="1500" noProof="0" dirty="0"/>
          </a:p>
        </p:txBody>
      </p:sp>
      <p:sp>
        <p:nvSpPr>
          <p:cNvPr id="14" name="Text 12"/>
          <p:cNvSpPr txBox="1"/>
          <p:nvPr/>
        </p:nvSpPr>
        <p:spPr>
          <a:xfrm>
            <a:off x="1517904" y="3560064"/>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Qu'est-ce qui empêche le plus souvent une femme dans votre milieu de remplir une recommandation, et quelle est une chose que vous pourriez changer dans votre façon de référer ?</a:t>
            </a:r>
            <a:endParaRPr lang="fr-FR" sz="1800" noProof="0" dirty="0"/>
          </a:p>
        </p:txBody>
      </p:sp>
      <p:sp>
        <p:nvSpPr>
          <p:cNvPr id="15" name="Shape 13"/>
          <p:cNvSpPr/>
          <p:nvPr/>
        </p:nvSpPr>
        <p:spPr>
          <a:xfrm>
            <a:off x="566928" y="4888992"/>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41248" y="528828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41248" y="528828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3</a:t>
            </a:r>
            <a:endParaRPr lang="fr-FR" sz="1500" noProof="0" dirty="0"/>
          </a:p>
        </p:txBody>
      </p:sp>
      <p:sp>
        <p:nvSpPr>
          <p:cNvPr id="18" name="Text 16"/>
          <p:cNvSpPr txBox="1"/>
          <p:nvPr/>
        </p:nvSpPr>
        <p:spPr>
          <a:xfrm>
            <a:off x="1517904" y="4962144"/>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Comment aborderiez-vous le sujet des saignements ou des pertes avec une femme manifestement embarrassée ?</a:t>
            </a:r>
            <a:endParaRPr lang="fr-FR" sz="1800" noProof="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13">
    <p:bg>
      <p:bgPr>
        <a:solidFill>
          <a:srgbClr val="0E2F5C"/>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8FA3C2"/>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8FA3C2"/>
                </a:solidFill>
                <a:latin typeface="Calibri" pitchFamily="34" charset="0"/>
                <a:ea typeface="Calibri" pitchFamily="34" charset="-122"/>
                <a:cs typeface="Calibri" pitchFamily="34" charset="-120"/>
              </a:rPr>
              <a:t>Écran 138</a:t>
            </a:r>
            <a:endParaRPr lang="fr-FR" sz="1100" noProof="0" dirty="0"/>
          </a:p>
        </p:txBody>
      </p:sp>
      <p:sp>
        <p:nvSpPr>
          <p:cNvPr id="4" name="Text 2"/>
          <p:cNvSpPr txBox="1"/>
          <p:nvPr/>
        </p:nvSpPr>
        <p:spPr>
          <a:xfrm>
            <a:off x="7680960" y="365760"/>
            <a:ext cx="4023360" cy="5852160"/>
          </a:xfrm>
          <a:prstGeom prst="rect">
            <a:avLst/>
          </a:prstGeom>
          <a:noFill/>
          <a:ln/>
        </p:spPr>
        <p:txBody>
          <a:bodyPr wrap="square" lIns="0" tIns="0" rIns="0" bIns="0" rtlCol="0" anchor="ctr"/>
          <a:lstStyle/>
          <a:p>
            <a:pPr marL="0" indent="0" algn="r">
              <a:buNone/>
            </a:pPr>
            <a:r>
              <a:rPr lang="fr-FR" sz="30000" b="1" noProof="0" dirty="0">
                <a:solidFill>
                  <a:srgbClr val="16406F"/>
                </a:solidFill>
                <a:latin typeface="Cambria" pitchFamily="34" charset="0"/>
                <a:ea typeface="Cambria" pitchFamily="34" charset="-122"/>
                <a:cs typeface="Cambria" pitchFamily="34" charset="-120"/>
              </a:rPr>
              <a:t>4</a:t>
            </a:r>
            <a:endParaRPr lang="fr-FR" sz="30000" noProof="0" dirty="0"/>
          </a:p>
        </p:txBody>
      </p:sp>
      <p:sp>
        <p:nvSpPr>
          <p:cNvPr id="5" name="Text 3"/>
          <p:cNvSpPr txBox="1"/>
          <p:nvPr/>
        </p:nvSpPr>
        <p:spPr>
          <a:xfrm>
            <a:off x="566928" y="1874520"/>
            <a:ext cx="7315200" cy="329184"/>
          </a:xfrm>
          <a:prstGeom prst="rect">
            <a:avLst/>
          </a:prstGeom>
          <a:noFill/>
          <a:ln/>
        </p:spPr>
        <p:txBody>
          <a:bodyPr wrap="square" lIns="0" tIns="0" rIns="0" bIns="0" rtlCol="0" anchor="ctr"/>
          <a:lstStyle/>
          <a:p>
            <a:pPr marL="0" indent="0">
              <a:buNone/>
            </a:pPr>
            <a:r>
              <a:rPr lang="fr-FR" sz="1300" b="1" kern="0" spc="300" noProof="0" dirty="0">
                <a:solidFill>
                  <a:srgbClr val="9FB8DA"/>
                </a:solidFill>
                <a:latin typeface="Calibri" pitchFamily="34" charset="0"/>
                <a:ea typeface="Calibri" pitchFamily="34" charset="-122"/>
                <a:cs typeface="Calibri" pitchFamily="34" charset="-120"/>
              </a:rPr>
              <a:t>S E S S I O N 4</a:t>
            </a:r>
            <a:endParaRPr lang="fr-FR" sz="1300" noProof="0" dirty="0"/>
          </a:p>
        </p:txBody>
      </p:sp>
      <p:sp>
        <p:nvSpPr>
          <p:cNvPr id="6" name="Text 4"/>
          <p:cNvSpPr txBox="1"/>
          <p:nvPr/>
        </p:nvSpPr>
        <p:spPr>
          <a:xfrm>
            <a:off x="566928" y="2286000"/>
            <a:ext cx="7680960" cy="1371600"/>
          </a:xfrm>
          <a:prstGeom prst="rect">
            <a:avLst/>
          </a:prstGeom>
          <a:noFill/>
          <a:ln/>
        </p:spPr>
        <p:txBody>
          <a:bodyPr wrap="square" lIns="0" tIns="0" rIns="0" bIns="0" rtlCol="0" anchor="ctr"/>
          <a:lstStyle/>
          <a:p>
            <a:pPr marL="0" indent="0">
              <a:buNone/>
            </a:pPr>
            <a:r>
              <a:rPr lang="fr-FR" sz="4000" b="1" noProof="0" dirty="0">
                <a:solidFill>
                  <a:srgbClr val="FFFFFF"/>
                </a:solidFill>
                <a:latin typeface="Cambria" pitchFamily="34" charset="0"/>
                <a:ea typeface="Cambria" pitchFamily="34" charset="-122"/>
                <a:cs typeface="Cambria" pitchFamily="34" charset="-120"/>
              </a:rPr>
              <a:t>Diagnostic et traitement</a:t>
            </a:r>
            <a:endParaRPr lang="fr-FR" sz="4000" noProof="0" dirty="0"/>
          </a:p>
        </p:txBody>
      </p:sp>
      <p:sp>
        <p:nvSpPr>
          <p:cNvPr id="7" name="Text 5"/>
          <p:cNvSpPr txBox="1"/>
          <p:nvPr/>
        </p:nvSpPr>
        <p:spPr>
          <a:xfrm>
            <a:off x="566928" y="3794760"/>
            <a:ext cx="7040880" cy="1463040"/>
          </a:xfrm>
          <a:prstGeom prst="rect">
            <a:avLst/>
          </a:prstGeom>
          <a:noFill/>
          <a:ln/>
        </p:spPr>
        <p:txBody>
          <a:bodyPr wrap="square" lIns="0" tIns="0" rIns="0" bIns="0" rtlCol="0" anchor="t"/>
          <a:lstStyle/>
          <a:p>
            <a:pPr marL="0" indent="0">
              <a:lnSpc>
                <a:spcPct val="118000"/>
              </a:lnSpc>
              <a:buNone/>
            </a:pPr>
            <a:r>
              <a:rPr lang="fr-FR" sz="1800" noProof="0" dirty="0">
                <a:solidFill>
                  <a:srgbClr val="C6D5EA"/>
                </a:solidFill>
                <a:latin typeface="Calibri" pitchFamily="34" charset="0"/>
                <a:ea typeface="Calibri" pitchFamily="34" charset="-122"/>
                <a:cs typeface="Calibri" pitchFamily="34" charset="-120"/>
              </a:rPr>
              <a:t>Ce qui se passe après une découverte suspecte : comment le cancer du col de l'utérus est confirmé invasif, comment il est </a:t>
            </a:r>
            <a:r>
              <a:rPr lang="fr-FR" sz="1800" noProof="0" dirty="0" err="1">
                <a:solidFill>
                  <a:srgbClr val="C6D5EA"/>
                </a:solidFill>
                <a:latin typeface="Calibri" pitchFamily="34" charset="0"/>
                <a:ea typeface="Calibri" pitchFamily="34" charset="-122"/>
                <a:cs typeface="Calibri" pitchFamily="34" charset="-120"/>
              </a:rPr>
              <a:t>stadé</a:t>
            </a:r>
            <a:r>
              <a:rPr lang="fr-FR" sz="1800" noProof="0" dirty="0">
                <a:solidFill>
                  <a:srgbClr val="C6D5EA"/>
                </a:solidFill>
                <a:latin typeface="Calibri" pitchFamily="34" charset="0"/>
                <a:ea typeface="Calibri" pitchFamily="34" charset="-122"/>
                <a:cs typeface="Calibri" pitchFamily="34" charset="-120"/>
              </a:rPr>
              <a:t>, et ce que chaque traitement fait réellement.</a:t>
            </a:r>
            <a:endParaRPr lang="fr-FR" sz="1800" noProof="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139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Objectifs d'apprentissage</a:t>
            </a:r>
            <a:endParaRPr lang="fr-FR" sz="3200" noProof="0" dirty="0"/>
          </a:p>
        </p:txBody>
      </p:sp>
      <p:sp>
        <p:nvSpPr>
          <p:cNvPr id="6" name="Text 4"/>
          <p:cNvSpPr txBox="1"/>
          <p:nvPr/>
        </p:nvSpPr>
        <p:spPr>
          <a:xfrm>
            <a:off x="566928" y="1554480"/>
            <a:ext cx="11055096" cy="384048"/>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À la fin de cette session, vous serez en mesure de :</a:t>
            </a:r>
            <a:endParaRPr lang="fr-FR" sz="1800" noProof="0" dirty="0"/>
          </a:p>
        </p:txBody>
      </p:sp>
      <p:sp>
        <p:nvSpPr>
          <p:cNvPr id="7" name="Shape 5"/>
          <p:cNvSpPr/>
          <p:nvPr/>
        </p:nvSpPr>
        <p:spPr>
          <a:xfrm>
            <a:off x="566928" y="1975104"/>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04672" y="2069889"/>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04672" y="2069889"/>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1</a:t>
            </a:r>
            <a:endParaRPr lang="fr-FR" sz="1400" noProof="0" dirty="0"/>
          </a:p>
        </p:txBody>
      </p:sp>
      <p:sp>
        <p:nvSpPr>
          <p:cNvPr id="10" name="Text 8"/>
          <p:cNvSpPr txBox="1"/>
          <p:nvPr/>
        </p:nvSpPr>
        <p:spPr>
          <a:xfrm>
            <a:off x="1463040" y="2029968"/>
            <a:ext cx="9866376" cy="500467"/>
          </a:xfrm>
          <a:prstGeom prst="rect">
            <a:avLst/>
          </a:prstGeom>
          <a:noFill/>
          <a:ln/>
        </p:spPr>
        <p:txBody>
          <a:bodyPr wrap="square" lIns="0" tIns="0" rIns="0" bIns="0" rtlCol="0" anchor="ctr">
            <a:noAutofit/>
          </a:bodyPr>
          <a:lstStyle/>
          <a:p>
            <a:pPr marL="0" indent="0">
              <a:lnSpc>
                <a:spcPct val="104000"/>
              </a:lnSpc>
              <a:buNone/>
            </a:pPr>
            <a:r>
              <a:rPr lang="fr-FR" sz="1746" noProof="0" dirty="0">
                <a:solidFill>
                  <a:srgbClr val="23303F"/>
                </a:solidFill>
                <a:latin typeface="Calibri" pitchFamily="34" charset="0"/>
                <a:ea typeface="Calibri" pitchFamily="34" charset="-122"/>
                <a:cs typeface="Calibri" pitchFamily="34" charset="-120"/>
              </a:rPr>
              <a:t>Décrivez le parcours diagnostique depuis l'évaluation clinique jusqu'à un diagnostic confirmé et par étapes.</a:t>
            </a:r>
            <a:endParaRPr lang="fr-FR" sz="1746" noProof="0" dirty="0"/>
          </a:p>
        </p:txBody>
      </p:sp>
      <p:sp>
        <p:nvSpPr>
          <p:cNvPr id="11" name="Shape 9"/>
          <p:cNvSpPr/>
          <p:nvPr/>
        </p:nvSpPr>
        <p:spPr>
          <a:xfrm>
            <a:off x="566928" y="2686998"/>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04672" y="2781783"/>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04672" y="2781783"/>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2</a:t>
            </a:r>
            <a:endParaRPr lang="fr-FR" sz="1400" noProof="0" dirty="0"/>
          </a:p>
        </p:txBody>
      </p:sp>
      <p:sp>
        <p:nvSpPr>
          <p:cNvPr id="14" name="Text 12"/>
          <p:cNvSpPr txBox="1"/>
          <p:nvPr/>
        </p:nvSpPr>
        <p:spPr>
          <a:xfrm>
            <a:off x="1463040" y="2741862"/>
            <a:ext cx="9866376" cy="500467"/>
          </a:xfrm>
          <a:prstGeom prst="rect">
            <a:avLst/>
          </a:prstGeom>
          <a:noFill/>
          <a:ln/>
        </p:spPr>
        <p:txBody>
          <a:bodyPr wrap="square" lIns="0" tIns="0" rIns="0" bIns="0" rtlCol="0" anchor="ctr">
            <a:noAutofit/>
          </a:bodyPr>
          <a:lstStyle/>
          <a:p>
            <a:pPr marL="0" indent="0">
              <a:lnSpc>
                <a:spcPct val="104000"/>
              </a:lnSpc>
              <a:buNone/>
            </a:pPr>
            <a:r>
              <a:rPr lang="fr-FR" sz="1746" noProof="0" dirty="0">
                <a:solidFill>
                  <a:srgbClr val="23303F"/>
                </a:solidFill>
                <a:latin typeface="Calibri" pitchFamily="34" charset="0"/>
                <a:ea typeface="Calibri" pitchFamily="34" charset="-122"/>
                <a:cs typeface="Calibri" pitchFamily="34" charset="-120"/>
              </a:rPr>
              <a:t>Expliquez le rôle et les limites de l'histoire, de l'examen et de l'imagerie.</a:t>
            </a:r>
            <a:endParaRPr lang="fr-FR" sz="1746" noProof="0" dirty="0"/>
          </a:p>
        </p:txBody>
      </p:sp>
      <p:sp>
        <p:nvSpPr>
          <p:cNvPr id="15" name="Shape 13"/>
          <p:cNvSpPr/>
          <p:nvPr/>
        </p:nvSpPr>
        <p:spPr>
          <a:xfrm>
            <a:off x="566928" y="3398892"/>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04672" y="3493677"/>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04672" y="3493677"/>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3</a:t>
            </a:r>
            <a:endParaRPr lang="fr-FR" sz="1400" noProof="0" dirty="0"/>
          </a:p>
        </p:txBody>
      </p:sp>
      <p:sp>
        <p:nvSpPr>
          <p:cNvPr id="18" name="Text 16"/>
          <p:cNvSpPr txBox="1"/>
          <p:nvPr/>
        </p:nvSpPr>
        <p:spPr>
          <a:xfrm>
            <a:off x="1463040" y="3453756"/>
            <a:ext cx="9866376" cy="500467"/>
          </a:xfrm>
          <a:prstGeom prst="rect">
            <a:avLst/>
          </a:prstGeom>
          <a:noFill/>
          <a:ln/>
        </p:spPr>
        <p:txBody>
          <a:bodyPr wrap="square" lIns="0" tIns="0" rIns="0" bIns="0" rtlCol="0" anchor="ctr">
            <a:noAutofit/>
          </a:bodyPr>
          <a:lstStyle/>
          <a:p>
            <a:pPr marL="0" indent="0">
              <a:lnSpc>
                <a:spcPct val="104000"/>
              </a:lnSpc>
              <a:buNone/>
            </a:pPr>
            <a:r>
              <a:rPr lang="fr-FR" sz="1746" noProof="0" dirty="0">
                <a:solidFill>
                  <a:srgbClr val="23303F"/>
                </a:solidFill>
                <a:latin typeface="Calibri" pitchFamily="34" charset="0"/>
                <a:ea typeface="Calibri" pitchFamily="34" charset="-122"/>
                <a:cs typeface="Calibri" pitchFamily="34" charset="-120"/>
              </a:rPr>
              <a:t>Décrivez suffisamment bien la colposcopie, la biopsie et l'histopathologie pour préparer une femme à ces cas.</a:t>
            </a:r>
            <a:endParaRPr lang="fr-FR" sz="1746" noProof="0" dirty="0"/>
          </a:p>
        </p:txBody>
      </p:sp>
      <p:sp>
        <p:nvSpPr>
          <p:cNvPr id="19" name="Shape 17"/>
          <p:cNvSpPr/>
          <p:nvPr/>
        </p:nvSpPr>
        <p:spPr>
          <a:xfrm>
            <a:off x="566928" y="4110786"/>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0" name="Shape 18"/>
          <p:cNvSpPr/>
          <p:nvPr/>
        </p:nvSpPr>
        <p:spPr>
          <a:xfrm>
            <a:off x="804672" y="4205571"/>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1" name="Text 19"/>
          <p:cNvSpPr txBox="1"/>
          <p:nvPr/>
        </p:nvSpPr>
        <p:spPr>
          <a:xfrm>
            <a:off x="804672" y="4205571"/>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4</a:t>
            </a:r>
            <a:endParaRPr lang="fr-FR" sz="1400" noProof="0" dirty="0"/>
          </a:p>
        </p:txBody>
      </p:sp>
      <p:sp>
        <p:nvSpPr>
          <p:cNvPr id="22" name="Text 20"/>
          <p:cNvSpPr txBox="1"/>
          <p:nvPr/>
        </p:nvSpPr>
        <p:spPr>
          <a:xfrm>
            <a:off x="1463040" y="4165650"/>
            <a:ext cx="9866376" cy="500467"/>
          </a:xfrm>
          <a:prstGeom prst="rect">
            <a:avLst/>
          </a:prstGeom>
          <a:noFill/>
          <a:ln/>
        </p:spPr>
        <p:txBody>
          <a:bodyPr wrap="square" lIns="0" tIns="0" rIns="0" bIns="0" rtlCol="0" anchor="ctr">
            <a:noAutofit/>
          </a:bodyPr>
          <a:lstStyle/>
          <a:p>
            <a:pPr marL="0" indent="0">
              <a:lnSpc>
                <a:spcPct val="104000"/>
              </a:lnSpc>
              <a:buNone/>
            </a:pPr>
            <a:r>
              <a:rPr lang="fr-FR" sz="1746" noProof="0" dirty="0">
                <a:solidFill>
                  <a:srgbClr val="23303F"/>
                </a:solidFill>
                <a:latin typeface="Calibri" pitchFamily="34" charset="0"/>
                <a:ea typeface="Calibri" pitchFamily="34" charset="-122"/>
                <a:cs typeface="Calibri" pitchFamily="34" charset="-120"/>
              </a:rPr>
              <a:t>Résumez ce que fait chaque traitement et s'il agit localement ou dans tout le corps.</a:t>
            </a:r>
            <a:endParaRPr lang="fr-FR" sz="1746" noProof="0" dirty="0"/>
          </a:p>
        </p:txBody>
      </p:sp>
      <p:sp>
        <p:nvSpPr>
          <p:cNvPr id="23" name="Shape 21"/>
          <p:cNvSpPr/>
          <p:nvPr/>
        </p:nvSpPr>
        <p:spPr>
          <a:xfrm>
            <a:off x="566928" y="4822679"/>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4" name="Shape 22"/>
          <p:cNvSpPr/>
          <p:nvPr/>
        </p:nvSpPr>
        <p:spPr>
          <a:xfrm>
            <a:off x="804672" y="4917465"/>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5" name="Text 23"/>
          <p:cNvSpPr txBox="1"/>
          <p:nvPr/>
        </p:nvSpPr>
        <p:spPr>
          <a:xfrm>
            <a:off x="804672" y="4917465"/>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5</a:t>
            </a:r>
            <a:endParaRPr lang="fr-FR" sz="1400" noProof="0" dirty="0"/>
          </a:p>
        </p:txBody>
      </p:sp>
      <p:sp>
        <p:nvSpPr>
          <p:cNvPr id="26" name="Text 24"/>
          <p:cNvSpPr txBox="1"/>
          <p:nvPr/>
        </p:nvSpPr>
        <p:spPr>
          <a:xfrm>
            <a:off x="1463040" y="4877543"/>
            <a:ext cx="9866376" cy="500467"/>
          </a:xfrm>
          <a:prstGeom prst="rect">
            <a:avLst/>
          </a:prstGeom>
          <a:noFill/>
          <a:ln/>
        </p:spPr>
        <p:txBody>
          <a:bodyPr wrap="square" lIns="0" tIns="0" rIns="0" bIns="0" rtlCol="0" anchor="ctr">
            <a:noAutofit/>
          </a:bodyPr>
          <a:lstStyle/>
          <a:p>
            <a:pPr marL="0" indent="0">
              <a:lnSpc>
                <a:spcPct val="104000"/>
              </a:lnSpc>
              <a:buNone/>
            </a:pPr>
            <a:r>
              <a:rPr lang="fr-FR" sz="1746" noProof="0" dirty="0">
                <a:solidFill>
                  <a:srgbClr val="23303F"/>
                </a:solidFill>
                <a:latin typeface="Calibri" pitchFamily="34" charset="0"/>
                <a:ea typeface="Calibri" pitchFamily="34" charset="-122"/>
                <a:cs typeface="Calibri" pitchFamily="34" charset="-120"/>
              </a:rPr>
              <a:t>Expliquez pourquoi la </a:t>
            </a:r>
            <a:r>
              <a:rPr lang="fr-FR" sz="1746" noProof="0" dirty="0" err="1">
                <a:solidFill>
                  <a:srgbClr val="23303F"/>
                </a:solidFill>
                <a:latin typeface="Calibri" pitchFamily="34" charset="0"/>
                <a:ea typeface="Calibri" pitchFamily="34" charset="-122"/>
                <a:cs typeface="Calibri" pitchFamily="34" charset="-120"/>
              </a:rPr>
              <a:t>curhythérapie</a:t>
            </a:r>
            <a:r>
              <a:rPr lang="fr-FR" sz="1746" noProof="0" dirty="0">
                <a:solidFill>
                  <a:srgbClr val="23303F"/>
                </a:solidFill>
                <a:latin typeface="Calibri" pitchFamily="34" charset="0"/>
                <a:ea typeface="Calibri" pitchFamily="34" charset="-122"/>
                <a:cs typeface="Calibri" pitchFamily="34" charset="-120"/>
              </a:rPr>
              <a:t> est une partie importante du traitement curatif.</a:t>
            </a:r>
            <a:endParaRPr lang="fr-FR" sz="1746" noProof="0" dirty="0"/>
          </a:p>
        </p:txBody>
      </p:sp>
      <p:sp>
        <p:nvSpPr>
          <p:cNvPr id="27" name="Shape 25"/>
          <p:cNvSpPr/>
          <p:nvPr/>
        </p:nvSpPr>
        <p:spPr>
          <a:xfrm>
            <a:off x="566928" y="5534573"/>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8" name="Shape 26"/>
          <p:cNvSpPr/>
          <p:nvPr/>
        </p:nvSpPr>
        <p:spPr>
          <a:xfrm>
            <a:off x="804672" y="5629359"/>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9" name="Text 27"/>
          <p:cNvSpPr txBox="1"/>
          <p:nvPr/>
        </p:nvSpPr>
        <p:spPr>
          <a:xfrm>
            <a:off x="804672" y="5629359"/>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6</a:t>
            </a:r>
            <a:endParaRPr lang="fr-FR" sz="1400" noProof="0" dirty="0"/>
          </a:p>
        </p:txBody>
      </p:sp>
      <p:sp>
        <p:nvSpPr>
          <p:cNvPr id="30" name="Text 28"/>
          <p:cNvSpPr txBox="1"/>
          <p:nvPr/>
        </p:nvSpPr>
        <p:spPr>
          <a:xfrm>
            <a:off x="1463040" y="5589437"/>
            <a:ext cx="9866376" cy="500467"/>
          </a:xfrm>
          <a:prstGeom prst="rect">
            <a:avLst/>
          </a:prstGeom>
          <a:noFill/>
          <a:ln/>
        </p:spPr>
        <p:txBody>
          <a:bodyPr wrap="square" lIns="0" tIns="0" rIns="0" bIns="0" rtlCol="0" anchor="ctr">
            <a:noAutofit/>
          </a:bodyPr>
          <a:lstStyle/>
          <a:p>
            <a:pPr marL="0" indent="0">
              <a:lnSpc>
                <a:spcPct val="104000"/>
              </a:lnSpc>
              <a:buNone/>
            </a:pPr>
            <a:r>
              <a:rPr lang="fr-FR" sz="1746" noProof="0" dirty="0">
                <a:solidFill>
                  <a:srgbClr val="23303F"/>
                </a:solidFill>
                <a:latin typeface="Calibri" pitchFamily="34" charset="0"/>
                <a:ea typeface="Calibri" pitchFamily="34" charset="-122"/>
                <a:cs typeface="Calibri" pitchFamily="34" charset="-120"/>
              </a:rPr>
              <a:t>Corrigez les idées fausses qui retardent le plus souvent les soins.</a:t>
            </a:r>
            <a:endParaRPr lang="fr-FR" sz="1746" noProof="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DIAGNOSTIC</a:t>
            </a:r>
            <a:endParaRPr lang="fr-FR" sz="1200" noProof="0" dirty="0"/>
          </a:p>
        </p:txBody>
      </p:sp>
      <p:sp>
        <p:nvSpPr>
          <p:cNvPr id="5" name="Text 3"/>
          <p:cNvSpPr txBox="1"/>
          <p:nvPr/>
        </p:nvSpPr>
        <p:spPr>
          <a:xfrm>
            <a:off x="566928" y="39624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La voie diagnostique</a:t>
            </a:r>
            <a:endParaRPr lang="fr-FR" sz="3200" noProof="0" dirty="0"/>
          </a:p>
        </p:txBody>
      </p:sp>
      <p:sp>
        <p:nvSpPr>
          <p:cNvPr id="30" name="Shape 28"/>
          <p:cNvSpPr/>
          <p:nvPr/>
        </p:nvSpPr>
        <p:spPr>
          <a:xfrm>
            <a:off x="566928" y="4996743"/>
            <a:ext cx="11055096" cy="644429"/>
          </a:xfrm>
          <a:prstGeom prst="roundRect">
            <a:avLst>
              <a:gd name="adj" fmla="val 8140"/>
            </a:avLst>
          </a:prstGeom>
          <a:solidFill>
            <a:srgbClr val="ECF3FD"/>
          </a:solidFill>
          <a:ln w="12700">
            <a:solidFill>
              <a:srgbClr val="E0E3EA"/>
            </a:solidFill>
            <a:prstDash val="solid"/>
          </a:ln>
        </p:spPr>
        <p:txBody>
          <a:bodyPr/>
          <a:lstStyle/>
          <a:p>
            <a:endParaRPr lang="fr-FR" sz="1600" noProof="0" dirty="0"/>
          </a:p>
        </p:txBody>
      </p:sp>
      <p:sp>
        <p:nvSpPr>
          <p:cNvPr id="31" name="Text 29"/>
          <p:cNvSpPr txBox="1"/>
          <p:nvPr/>
        </p:nvSpPr>
        <p:spPr>
          <a:xfrm>
            <a:off x="841248" y="4996744"/>
            <a:ext cx="10506456" cy="676656"/>
          </a:xfrm>
          <a:prstGeom prst="rect">
            <a:avLst/>
          </a:prstGeom>
          <a:noFill/>
          <a:ln/>
        </p:spPr>
        <p:txBody>
          <a:bodyPr wrap="square" lIns="0" tIns="0" rIns="0" bIns="0" rtlCol="0" anchor="ctr"/>
          <a:lstStyle/>
          <a:p>
            <a:pPr marL="0" indent="0">
              <a:lnSpc>
                <a:spcPct val="104000"/>
              </a:lnSpc>
              <a:buNone/>
            </a:pPr>
            <a:r>
              <a:rPr lang="fr-FR" sz="1500" b="1" noProof="0" dirty="0">
                <a:solidFill>
                  <a:srgbClr val="10305A"/>
                </a:solidFill>
                <a:latin typeface="Calibri" pitchFamily="34" charset="0"/>
                <a:ea typeface="Calibri" pitchFamily="34" charset="-122"/>
                <a:cs typeface="Calibri" pitchFamily="34" charset="-120"/>
              </a:rPr>
              <a:t>📌 La séquence varie :  </a:t>
            </a:r>
            <a:r>
              <a:rPr lang="fr-FR" sz="1500" noProof="0" dirty="0">
                <a:solidFill>
                  <a:srgbClr val="23303F"/>
                </a:solidFill>
                <a:latin typeface="Calibri" pitchFamily="34" charset="0"/>
                <a:ea typeface="Calibri" pitchFamily="34" charset="-122"/>
                <a:cs typeface="Calibri" pitchFamily="34" charset="-120"/>
              </a:rPr>
              <a:t>une femme présentant des saignements abondants peut être réanimée et biopsiée le jour même. Ce qui ne change pas, c'est que les tissus confirment le diagnostic.</a:t>
            </a:r>
            <a:endParaRPr lang="fr-FR" sz="1500" noProof="0" dirty="0"/>
          </a:p>
        </p:txBody>
      </p:sp>
      <p:sp>
        <p:nvSpPr>
          <p:cNvPr id="32" name="Shape 30"/>
          <p:cNvSpPr/>
          <p:nvPr/>
        </p:nvSpPr>
        <p:spPr>
          <a:xfrm>
            <a:off x="566928" y="5825066"/>
            <a:ext cx="11055096" cy="447717"/>
          </a:xfrm>
          <a:prstGeom prst="roundRect">
            <a:avLst>
              <a:gd name="adj" fmla="val 8140"/>
            </a:avLst>
          </a:prstGeom>
          <a:solidFill>
            <a:srgbClr val="FFF2DF"/>
          </a:solidFill>
          <a:ln w="12700">
            <a:solidFill>
              <a:srgbClr val="E8DDC7"/>
            </a:solidFill>
            <a:prstDash val="solid"/>
          </a:ln>
        </p:spPr>
        <p:txBody>
          <a:bodyPr/>
          <a:lstStyle/>
          <a:p>
            <a:endParaRPr lang="fr-FR" sz="1600" noProof="0" dirty="0"/>
          </a:p>
        </p:txBody>
      </p:sp>
      <p:sp>
        <p:nvSpPr>
          <p:cNvPr id="33" name="Text 31"/>
          <p:cNvSpPr txBox="1"/>
          <p:nvPr/>
        </p:nvSpPr>
        <p:spPr>
          <a:xfrm>
            <a:off x="841248" y="5721888"/>
            <a:ext cx="10506456" cy="676656"/>
          </a:xfrm>
          <a:prstGeom prst="rect">
            <a:avLst/>
          </a:prstGeom>
          <a:noFill/>
          <a:ln/>
        </p:spPr>
        <p:txBody>
          <a:bodyPr wrap="square" lIns="0" tIns="0" rIns="0" bIns="0" rtlCol="0" anchor="ctr"/>
          <a:lstStyle/>
          <a:p>
            <a:pPr marL="0" indent="0">
              <a:lnSpc>
                <a:spcPct val="104000"/>
              </a:lnSpc>
              <a:buNone/>
            </a:pPr>
            <a:r>
              <a:rPr lang="fr-FR" sz="1500" b="1" noProof="0" dirty="0">
                <a:solidFill>
                  <a:srgbClr val="7B5727"/>
                </a:solidFill>
                <a:latin typeface="Calibri" pitchFamily="34" charset="0"/>
                <a:ea typeface="Calibri" pitchFamily="34" charset="-122"/>
                <a:cs typeface="Calibri" pitchFamily="34" charset="-120"/>
              </a:rPr>
              <a:t>⚠️ N'oubliez pas :  </a:t>
            </a:r>
            <a:r>
              <a:rPr lang="fr-FR" sz="1500" noProof="0" dirty="0">
                <a:solidFill>
                  <a:srgbClr val="23303F"/>
                </a:solidFill>
                <a:latin typeface="Calibri" pitchFamily="34" charset="0"/>
                <a:ea typeface="Calibri" pitchFamily="34" charset="-122"/>
                <a:cs typeface="Calibri" pitchFamily="34" charset="-120"/>
              </a:rPr>
              <a:t>les tests de dépistage et l'imagerie augmentent ou diminuent les soupçons. Seule l'histopathologie confirme un cancer du col de l'utérus invasif.</a:t>
            </a:r>
            <a:endParaRPr lang="fr-FR" sz="1500" noProof="0" dirty="0"/>
          </a:p>
        </p:txBody>
      </p:sp>
      <p:pic>
        <p:nvPicPr>
          <p:cNvPr id="34" name="Imagen 33" descr="A generated image">
            <a:extLst>
              <a:ext uri="{FF2B5EF4-FFF2-40B4-BE49-F238E27FC236}">
                <a16:creationId xmlns:a16="http://schemas.microsoft.com/office/drawing/2014/main" id="{DF8D3404-F307-6BA0-C248-58719B79597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781773" y="1089051"/>
            <a:ext cx="8472569" cy="3885802"/>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DIAGNOSTIC</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Ce que l'histoire devrait couvrir</a:t>
            </a:r>
            <a:endParaRPr lang="fr-FR" sz="3200" noProof="0" dirty="0"/>
          </a:p>
        </p:txBody>
      </p:sp>
      <p:sp>
        <p:nvSpPr>
          <p:cNvPr id="6" name="Shape 4"/>
          <p:cNvSpPr/>
          <p:nvPr/>
        </p:nvSpPr>
        <p:spPr>
          <a:xfrm>
            <a:off x="566928" y="1515870"/>
            <a:ext cx="3563112" cy="3925374"/>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698750"/>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Saignement</a:t>
            </a:r>
            <a:endParaRPr lang="fr-FR" sz="2000" noProof="0" dirty="0"/>
          </a:p>
        </p:txBody>
      </p:sp>
      <p:sp>
        <p:nvSpPr>
          <p:cNvPr id="8" name="Text 6"/>
          <p:cNvSpPr txBox="1"/>
          <p:nvPr/>
        </p:nvSpPr>
        <p:spPr>
          <a:xfrm>
            <a:off x="822960" y="2302254"/>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Saignements après les rapports, entre les règles, ou après la ménopause, et depuis combien de temps cela dure.</a:t>
            </a:r>
            <a:endParaRPr lang="fr-FR" sz="1800" noProof="0" dirty="0"/>
          </a:p>
        </p:txBody>
      </p:sp>
      <p:sp>
        <p:nvSpPr>
          <p:cNvPr id="9" name="Shape 7"/>
          <p:cNvSpPr/>
          <p:nvPr/>
        </p:nvSpPr>
        <p:spPr>
          <a:xfrm>
            <a:off x="4312920" y="1515870"/>
            <a:ext cx="3563112" cy="3925374"/>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698750"/>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Écoulement et douleur</a:t>
            </a:r>
            <a:endParaRPr lang="fr-FR" sz="2000" noProof="0" dirty="0"/>
          </a:p>
        </p:txBody>
      </p:sp>
      <p:sp>
        <p:nvSpPr>
          <p:cNvPr id="11" name="Text 9"/>
          <p:cNvSpPr txBox="1"/>
          <p:nvPr/>
        </p:nvSpPr>
        <p:spPr>
          <a:xfrm>
            <a:off x="4568952" y="2302254"/>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Écoulement persistant ou malodorant, douleurs pelviennes ou dorsales, douleurs pendant les rapports sexuels.</a:t>
            </a:r>
            <a:endParaRPr lang="fr-FR" sz="1800" noProof="0" dirty="0"/>
          </a:p>
        </p:txBody>
      </p:sp>
      <p:sp>
        <p:nvSpPr>
          <p:cNvPr id="12" name="Shape 10"/>
          <p:cNvSpPr/>
          <p:nvPr/>
        </p:nvSpPr>
        <p:spPr>
          <a:xfrm>
            <a:off x="8058912" y="1515870"/>
            <a:ext cx="3563112" cy="3925374"/>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698750"/>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Histoire et contexte</a:t>
            </a:r>
            <a:endParaRPr lang="fr-FR" sz="2000" noProof="0" dirty="0"/>
          </a:p>
        </p:txBody>
      </p:sp>
      <p:sp>
        <p:nvSpPr>
          <p:cNvPr id="14" name="Text 12"/>
          <p:cNvSpPr txBox="1"/>
          <p:nvPr/>
        </p:nvSpPr>
        <p:spPr>
          <a:xfrm>
            <a:off x="8314944" y="2302254"/>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Dépistage antérieur, traitement préalable du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statut VIH, perte de poids, symptômes urinaires ou intestinaux.</a:t>
            </a:r>
            <a:endParaRPr lang="fr-FR" sz="1800" noProof="0" dirty="0"/>
          </a:p>
        </p:txBody>
      </p:sp>
      <p:sp>
        <p:nvSpPr>
          <p:cNvPr id="15" name="Shape 13"/>
          <p:cNvSpPr/>
          <p:nvPr/>
        </p:nvSpPr>
        <p:spPr>
          <a:xfrm>
            <a:off x="566928" y="5666571"/>
            <a:ext cx="11055096" cy="607341"/>
          </a:xfrm>
          <a:prstGeom prst="roundRect">
            <a:avLst>
              <a:gd name="adj" fmla="val 8140"/>
            </a:avLst>
          </a:prstGeom>
          <a:solidFill>
            <a:srgbClr val="ECF3FD"/>
          </a:solidFill>
          <a:ln w="12700">
            <a:solidFill>
              <a:srgbClr val="E0E3EA"/>
            </a:solidFill>
            <a:prstDash val="solid"/>
          </a:ln>
        </p:spPr>
        <p:txBody>
          <a:bodyPr/>
          <a:lstStyle/>
          <a:p>
            <a:endParaRPr lang="fr-FR" sz="1600" noProof="0" dirty="0"/>
          </a:p>
        </p:txBody>
      </p:sp>
      <p:sp>
        <p:nvSpPr>
          <p:cNvPr id="16" name="Text 14"/>
          <p:cNvSpPr txBox="1"/>
          <p:nvPr/>
        </p:nvSpPr>
        <p:spPr>
          <a:xfrm>
            <a:off x="841248" y="5666572"/>
            <a:ext cx="10506456" cy="676656"/>
          </a:xfrm>
          <a:prstGeom prst="rect">
            <a:avLst/>
          </a:prstGeom>
          <a:noFill/>
          <a:ln/>
        </p:spPr>
        <p:txBody>
          <a:bodyPr wrap="square" lIns="0" tIns="0" rIns="0" bIns="0" rtlCol="0" anchor="ctr"/>
          <a:lstStyle/>
          <a:p>
            <a:pPr marL="0" indent="0">
              <a:lnSpc>
                <a:spcPct val="104000"/>
              </a:lnSpc>
              <a:buNone/>
            </a:pPr>
            <a:r>
              <a:rPr lang="fr-FR" sz="1600" b="1" noProof="0" dirty="0">
                <a:solidFill>
                  <a:srgbClr val="10305A"/>
                </a:solidFill>
                <a:latin typeface="Calibri" pitchFamily="34" charset="0"/>
                <a:ea typeface="Calibri" pitchFamily="34" charset="-122"/>
                <a:cs typeface="Calibri" pitchFamily="34" charset="-120"/>
              </a:rPr>
              <a:t>🔎 Demandez directement :  </a:t>
            </a:r>
            <a:r>
              <a:rPr lang="fr-FR" sz="1600" noProof="0" dirty="0">
                <a:solidFill>
                  <a:srgbClr val="23303F"/>
                </a:solidFill>
                <a:latin typeface="Calibri" pitchFamily="34" charset="0"/>
                <a:ea typeface="Calibri" pitchFamily="34" charset="-122"/>
                <a:cs typeface="Calibri" pitchFamily="34" charset="-120"/>
              </a:rPr>
              <a:t>Beaucoup de femmes ne font pas de saignements ou de pertes volontaires. Demander calmement et en privé est ce qui fait ressortir l'information.</a:t>
            </a:r>
            <a:endParaRPr lang="fr-FR" sz="1600" noProof="0" dirty="0"/>
          </a:p>
        </p:txBody>
      </p:sp>
      <p:pic>
        <p:nvPicPr>
          <p:cNvPr id="17" name="Imagen 16">
            <a:extLst>
              <a:ext uri="{FF2B5EF4-FFF2-40B4-BE49-F238E27FC236}">
                <a16:creationId xmlns:a16="http://schemas.microsoft.com/office/drawing/2014/main" id="{8E7933D9-9D6F-E164-0E83-A847092507D9}"/>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822960" y="3629399"/>
            <a:ext cx="3124200" cy="1419341"/>
          </a:xfrm>
          <a:prstGeom prst="rect">
            <a:avLst/>
          </a:prstGeom>
        </p:spPr>
      </p:pic>
      <p:pic>
        <p:nvPicPr>
          <p:cNvPr id="18" name="Imagen 17">
            <a:extLst>
              <a:ext uri="{FF2B5EF4-FFF2-40B4-BE49-F238E27FC236}">
                <a16:creationId xmlns:a16="http://schemas.microsoft.com/office/drawing/2014/main" id="{CC4063EF-8D84-11B7-99C7-850464E959EC}"/>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404360" y="3629399"/>
            <a:ext cx="3398520" cy="1497325"/>
          </a:xfrm>
          <a:prstGeom prst="rect">
            <a:avLst/>
          </a:prstGeom>
        </p:spPr>
      </p:pic>
      <p:pic>
        <p:nvPicPr>
          <p:cNvPr id="19" name="Imagen 18">
            <a:extLst>
              <a:ext uri="{FF2B5EF4-FFF2-40B4-BE49-F238E27FC236}">
                <a16:creationId xmlns:a16="http://schemas.microsoft.com/office/drawing/2014/main" id="{B50B5FA4-B98D-BB24-B597-AF78E20709E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247888" y="3559776"/>
            <a:ext cx="3273552" cy="1785223"/>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DIAGNOSTIC</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Examen et ses limites</a:t>
            </a:r>
            <a:endParaRPr lang="fr-FR" sz="3200" noProof="0" dirty="0"/>
          </a:p>
        </p:txBody>
      </p:sp>
      <p:sp>
        <p:nvSpPr>
          <p:cNvPr id="6" name="Shape 4"/>
          <p:cNvSpPr/>
          <p:nvPr/>
        </p:nvSpPr>
        <p:spPr>
          <a:xfrm>
            <a:off x="566928" y="1348369"/>
            <a:ext cx="3563112" cy="398975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382965"/>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Regarde le col de l'utérus</a:t>
            </a:r>
            <a:endParaRPr lang="fr-FR" sz="2000" noProof="0" dirty="0"/>
          </a:p>
        </p:txBody>
      </p:sp>
      <p:sp>
        <p:nvSpPr>
          <p:cNvPr id="8" name="Text 6"/>
          <p:cNvSpPr txBox="1"/>
          <p:nvPr/>
        </p:nvSpPr>
        <p:spPr>
          <a:xfrm>
            <a:off x="822960" y="1986469"/>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Décrivez ce que vous voyez : une excroissance, un ulcère, une surface qui saigne au contact, ou un col de l'utérus qui semble normal.</a:t>
            </a:r>
            <a:endParaRPr lang="fr-FR" sz="1800" noProof="0" dirty="0"/>
          </a:p>
        </p:txBody>
      </p:sp>
      <p:sp>
        <p:nvSpPr>
          <p:cNvPr id="9" name="Shape 7"/>
          <p:cNvSpPr/>
          <p:nvPr/>
        </p:nvSpPr>
        <p:spPr>
          <a:xfrm>
            <a:off x="4312920" y="1348369"/>
            <a:ext cx="3563112" cy="398975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382965"/>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Évaluez le bassin</a:t>
            </a:r>
            <a:endParaRPr lang="fr-FR" sz="2000" noProof="0" dirty="0"/>
          </a:p>
        </p:txBody>
      </p:sp>
      <p:sp>
        <p:nvSpPr>
          <p:cNvPr id="11" name="Text 9"/>
          <p:cNvSpPr txBox="1"/>
          <p:nvPr/>
        </p:nvSpPr>
        <p:spPr>
          <a:xfrm>
            <a:off x="4568952" y="1986469"/>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Notez la taille et la mobilité de l'utérus ainsi que tout ce qui suggère une propagation au-delà du col de l'utérus.</a:t>
            </a:r>
            <a:endParaRPr lang="fr-FR" sz="1800" noProof="0" dirty="0"/>
          </a:p>
        </p:txBody>
      </p:sp>
      <p:sp>
        <p:nvSpPr>
          <p:cNvPr id="12" name="Shape 10"/>
          <p:cNvSpPr/>
          <p:nvPr/>
        </p:nvSpPr>
        <p:spPr>
          <a:xfrm>
            <a:off x="8058912" y="1348369"/>
            <a:ext cx="3563112" cy="398975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382965"/>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Ce qu'il ne peut pas faire</a:t>
            </a:r>
            <a:endParaRPr lang="fr-FR" sz="2000" noProof="0" dirty="0"/>
          </a:p>
        </p:txBody>
      </p:sp>
      <p:sp>
        <p:nvSpPr>
          <p:cNvPr id="14" name="Text 12"/>
          <p:cNvSpPr txBox="1"/>
          <p:nvPr/>
        </p:nvSpPr>
        <p:spPr>
          <a:xfrm>
            <a:off x="8314944" y="1986469"/>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Un examen normal n'exclut pas le cancer du col de l'utérus, et il n'exclut certainement pas le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a:t>
            </a:r>
            <a:endParaRPr lang="fr-FR" sz="1800" noProof="0" dirty="0"/>
          </a:p>
        </p:txBody>
      </p:sp>
      <p:sp>
        <p:nvSpPr>
          <p:cNvPr id="15" name="Shape 13"/>
          <p:cNvSpPr/>
          <p:nvPr/>
        </p:nvSpPr>
        <p:spPr>
          <a:xfrm>
            <a:off x="566928" y="5598482"/>
            <a:ext cx="11055096" cy="691605"/>
          </a:xfrm>
          <a:prstGeom prst="roundRect">
            <a:avLst>
              <a:gd name="adj" fmla="val 8140"/>
            </a:avLst>
          </a:prstGeom>
          <a:solidFill>
            <a:srgbClr val="FFF2DF"/>
          </a:solidFill>
          <a:ln w="12700">
            <a:solidFill>
              <a:srgbClr val="E8DDC7"/>
            </a:solidFill>
            <a:prstDash val="solid"/>
          </a:ln>
        </p:spPr>
        <p:txBody>
          <a:bodyPr/>
          <a:lstStyle/>
          <a:p>
            <a:endParaRPr lang="fr-FR" sz="1600" noProof="0" dirty="0"/>
          </a:p>
        </p:txBody>
      </p:sp>
      <p:sp>
        <p:nvSpPr>
          <p:cNvPr id="16" name="Text 14"/>
          <p:cNvSpPr txBox="1"/>
          <p:nvPr/>
        </p:nvSpPr>
        <p:spPr>
          <a:xfrm>
            <a:off x="841248" y="5640122"/>
            <a:ext cx="10506456" cy="595102"/>
          </a:xfrm>
          <a:prstGeom prst="rect">
            <a:avLst/>
          </a:prstGeom>
          <a:noFill/>
          <a:ln/>
        </p:spPr>
        <p:txBody>
          <a:bodyPr wrap="square" lIns="0" tIns="0" rIns="0" bIns="0" rtlCol="0" anchor="ctr"/>
          <a:lstStyle/>
          <a:p>
            <a:pPr marL="0" indent="0">
              <a:lnSpc>
                <a:spcPct val="104000"/>
              </a:lnSpc>
              <a:buNone/>
            </a:pPr>
            <a:r>
              <a:rPr lang="fr-FR" sz="1600" b="1" noProof="0" dirty="0">
                <a:solidFill>
                  <a:srgbClr val="7B5727"/>
                </a:solidFill>
                <a:latin typeface="Calibri" pitchFamily="34" charset="0"/>
                <a:ea typeface="Calibri" pitchFamily="34" charset="-122"/>
                <a:cs typeface="Calibri" pitchFamily="34" charset="-120"/>
              </a:rPr>
              <a:t>🧪 Pas de prise de sang :  </a:t>
            </a:r>
            <a:r>
              <a:rPr lang="fr-FR" sz="1600" noProof="0" dirty="0">
                <a:solidFill>
                  <a:srgbClr val="23303F"/>
                </a:solidFill>
                <a:latin typeface="Calibri" pitchFamily="34" charset="0"/>
                <a:ea typeface="Calibri" pitchFamily="34" charset="-122"/>
                <a:cs typeface="Calibri" pitchFamily="34" charset="-120"/>
              </a:rPr>
              <a:t>Il n'existe pas de prise de sang qui confirme ou exclut le cancer du col de l'utérus. Les résultats augmentent ou diminuent les soupçons, et les tissus décident.</a:t>
            </a:r>
            <a:endParaRPr lang="fr-FR" sz="1600" noProof="0" dirty="0"/>
          </a:p>
        </p:txBody>
      </p:sp>
      <p:pic>
        <p:nvPicPr>
          <p:cNvPr id="18" name="Imagen 17">
            <a:extLst>
              <a:ext uri="{FF2B5EF4-FFF2-40B4-BE49-F238E27FC236}">
                <a16:creationId xmlns:a16="http://schemas.microsoft.com/office/drawing/2014/main" id="{515B1668-6502-22C1-17D9-23B1485A107B}"/>
              </a:ext>
            </a:extLst>
          </p:cNvPr>
          <p:cNvPicPr>
            <a:picLocks noChangeAspect="1"/>
          </p:cNvPicPr>
          <p:nvPr/>
        </p:nvPicPr>
        <p:blipFill>
          <a:blip r:embed="rId3" cstate="screen">
            <a:extLst>
              <a:ext uri="{28A0092B-C50C-407E-A947-70E740481C1C}">
                <a14:useLocalDpi xmlns:a14="http://schemas.microsoft.com/office/drawing/2010/main"/>
              </a:ext>
            </a:extLst>
          </a:blip>
          <a:srcRect t="28694" b="25476"/>
          <a:stretch>
            <a:fillRect/>
          </a:stretch>
        </p:blipFill>
        <p:spPr>
          <a:xfrm>
            <a:off x="611009" y="3664869"/>
            <a:ext cx="3474949" cy="868680"/>
          </a:xfrm>
          <a:prstGeom prst="rect">
            <a:avLst/>
          </a:prstGeom>
        </p:spPr>
      </p:pic>
      <p:pic>
        <p:nvPicPr>
          <p:cNvPr id="21" name="Imagen 20">
            <a:extLst>
              <a:ext uri="{FF2B5EF4-FFF2-40B4-BE49-F238E27FC236}">
                <a16:creationId xmlns:a16="http://schemas.microsoft.com/office/drawing/2014/main" id="{A8E6DFC1-407E-5DAF-DD3E-C1E7B9080CF5}"/>
              </a:ext>
            </a:extLst>
          </p:cNvPr>
          <p:cNvPicPr>
            <a:picLocks noChangeAspect="1"/>
          </p:cNvPicPr>
          <p:nvPr/>
        </p:nvPicPr>
        <p:blipFill>
          <a:blip r:embed="rId4"/>
          <a:srcRect/>
          <a:stretch>
            <a:fillRect/>
          </a:stretch>
        </p:blipFill>
        <p:spPr>
          <a:xfrm>
            <a:off x="4718442" y="3236513"/>
            <a:ext cx="2661458" cy="1774305"/>
          </a:xfrm>
          <a:prstGeom prst="rect">
            <a:avLst/>
          </a:prstGeom>
        </p:spPr>
      </p:pic>
      <p:pic>
        <p:nvPicPr>
          <p:cNvPr id="22" name="Imagen 21">
            <a:extLst>
              <a:ext uri="{FF2B5EF4-FFF2-40B4-BE49-F238E27FC236}">
                <a16:creationId xmlns:a16="http://schemas.microsoft.com/office/drawing/2014/main" id="{E9E212C4-08D5-8EBF-FA60-BE62BACBFD8B}"/>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348262" y="3487141"/>
            <a:ext cx="2984412" cy="1273047"/>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DIAGNOSTIC</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Colposcopie, biopsie et histopathologie</a:t>
            </a:r>
            <a:endParaRPr lang="fr-FR" sz="3200" noProof="0" dirty="0"/>
          </a:p>
        </p:txBody>
      </p:sp>
      <p:sp>
        <p:nvSpPr>
          <p:cNvPr id="6" name="Shape 4"/>
          <p:cNvSpPr/>
          <p:nvPr/>
        </p:nvSpPr>
        <p:spPr>
          <a:xfrm>
            <a:off x="566928" y="1447217"/>
            <a:ext cx="3563112" cy="4125679"/>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506528"/>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Colposcopie</a:t>
            </a:r>
            <a:endParaRPr lang="fr-FR" sz="2000" noProof="0" dirty="0"/>
          </a:p>
        </p:txBody>
      </p:sp>
      <p:sp>
        <p:nvSpPr>
          <p:cNvPr id="8" name="Text 6"/>
          <p:cNvSpPr txBox="1"/>
          <p:nvPr/>
        </p:nvSpPr>
        <p:spPr>
          <a:xfrm>
            <a:off x="822960" y="2110032"/>
            <a:ext cx="3051048" cy="1773936"/>
          </a:xfrm>
          <a:prstGeom prst="rect">
            <a:avLst/>
          </a:prstGeom>
          <a:noFill/>
          <a:ln/>
        </p:spPr>
        <p:txBody>
          <a:bodyPr wrap="square" lIns="0" tIns="0" rIns="0" bIns="0" rtlCol="0" anchor="t">
            <a:noAutofit/>
          </a:bodyPr>
          <a:lstStyle/>
          <a:p>
            <a:pPr marL="0" indent="0">
              <a:lnSpc>
                <a:spcPct val="106000"/>
              </a:lnSpc>
              <a:buNone/>
            </a:pPr>
            <a:r>
              <a:rPr lang="fr-FR" sz="1602" noProof="0" dirty="0">
                <a:solidFill>
                  <a:srgbClr val="23303F"/>
                </a:solidFill>
                <a:latin typeface="Calibri" pitchFamily="34" charset="0"/>
                <a:ea typeface="Calibri" pitchFamily="34" charset="-122"/>
                <a:cs typeface="Calibri" pitchFamily="34" charset="-120"/>
              </a:rPr>
              <a:t>Le col est examiné sous grossissement après l'application de l'acide acétique. Il indique où se situe l'anomalie et guide la biopsie.</a:t>
            </a:r>
            <a:endParaRPr lang="fr-FR" sz="1602" noProof="0" dirty="0"/>
          </a:p>
        </p:txBody>
      </p:sp>
      <p:sp>
        <p:nvSpPr>
          <p:cNvPr id="9" name="Shape 7"/>
          <p:cNvSpPr/>
          <p:nvPr/>
        </p:nvSpPr>
        <p:spPr>
          <a:xfrm>
            <a:off x="4312920" y="1447217"/>
            <a:ext cx="3563112" cy="4125679"/>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506528"/>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Biopsie</a:t>
            </a:r>
            <a:endParaRPr lang="fr-FR" sz="2000" noProof="0" dirty="0"/>
          </a:p>
        </p:txBody>
      </p:sp>
      <p:sp>
        <p:nvSpPr>
          <p:cNvPr id="11" name="Text 9"/>
          <p:cNvSpPr txBox="1"/>
          <p:nvPr/>
        </p:nvSpPr>
        <p:spPr>
          <a:xfrm>
            <a:off x="4568952" y="2110032"/>
            <a:ext cx="3051048" cy="1773936"/>
          </a:xfrm>
          <a:prstGeom prst="rect">
            <a:avLst/>
          </a:prstGeom>
          <a:noFill/>
          <a:ln/>
        </p:spPr>
        <p:txBody>
          <a:bodyPr wrap="square" lIns="0" tIns="0" rIns="0" bIns="0" rtlCol="0" anchor="t">
            <a:noAutofit/>
          </a:bodyPr>
          <a:lstStyle/>
          <a:p>
            <a:pPr marL="0" indent="0">
              <a:lnSpc>
                <a:spcPct val="106000"/>
              </a:lnSpc>
              <a:buNone/>
            </a:pPr>
            <a:r>
              <a:rPr lang="fr-FR" sz="1602" noProof="0" dirty="0">
                <a:solidFill>
                  <a:srgbClr val="23303F"/>
                </a:solidFill>
                <a:latin typeface="Calibri" pitchFamily="34" charset="0"/>
                <a:ea typeface="Calibri" pitchFamily="34" charset="-122"/>
                <a:cs typeface="Calibri" pitchFamily="34" charset="-120"/>
              </a:rPr>
              <a:t>Un petit morceau de tissu est prélevé dans la zone anormale. Cela provoque des crampes et quelques saignements plutôt qu'une douleur intense.</a:t>
            </a:r>
            <a:endParaRPr lang="fr-FR" sz="1602" noProof="0" dirty="0"/>
          </a:p>
        </p:txBody>
      </p:sp>
      <p:sp>
        <p:nvSpPr>
          <p:cNvPr id="12" name="Shape 10"/>
          <p:cNvSpPr/>
          <p:nvPr/>
        </p:nvSpPr>
        <p:spPr>
          <a:xfrm>
            <a:off x="8058912" y="1447217"/>
            <a:ext cx="3563112" cy="4125679"/>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506528"/>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Histopathologie</a:t>
            </a:r>
            <a:endParaRPr lang="fr-FR" sz="2000" noProof="0" dirty="0"/>
          </a:p>
        </p:txBody>
      </p:sp>
      <p:sp>
        <p:nvSpPr>
          <p:cNvPr id="14" name="Text 12"/>
          <p:cNvSpPr txBox="1"/>
          <p:nvPr/>
        </p:nvSpPr>
        <p:spPr>
          <a:xfrm>
            <a:off x="8220348" y="2110032"/>
            <a:ext cx="3307080" cy="1773936"/>
          </a:xfrm>
          <a:prstGeom prst="rect">
            <a:avLst/>
          </a:prstGeom>
          <a:noFill/>
          <a:ln/>
        </p:spPr>
        <p:txBody>
          <a:bodyPr wrap="square" lIns="0" tIns="0" rIns="0" bIns="0" rtlCol="0" anchor="t">
            <a:noAutofit/>
          </a:bodyPr>
          <a:lstStyle/>
          <a:p>
            <a:pPr marL="0" indent="0">
              <a:lnSpc>
                <a:spcPct val="106000"/>
              </a:lnSpc>
              <a:buNone/>
            </a:pPr>
            <a:r>
              <a:rPr lang="fr-FR" sz="1620" noProof="0" dirty="0">
                <a:solidFill>
                  <a:srgbClr val="23303F"/>
                </a:solidFill>
                <a:latin typeface="Calibri" pitchFamily="34" charset="0"/>
                <a:ea typeface="Calibri" pitchFamily="34" charset="-122"/>
                <a:cs typeface="Calibri" pitchFamily="34" charset="-120"/>
              </a:rPr>
              <a:t>Un pathologiste examine la biopsie pour confirmer la présence d'un cancer et déterminer le type histologique. Les échantillons du col de l'utérus sont actuellement principalement traités dans les hôpitaux tertiaires rwandais disposant de services de pathologie.</a:t>
            </a:r>
            <a:endParaRPr lang="fr-FR" sz="1620" noProof="0" dirty="0"/>
          </a:p>
        </p:txBody>
      </p:sp>
      <p:pic>
        <p:nvPicPr>
          <p:cNvPr id="17" name="Imagen 16">
            <a:extLst>
              <a:ext uri="{FF2B5EF4-FFF2-40B4-BE49-F238E27FC236}">
                <a16:creationId xmlns:a16="http://schemas.microsoft.com/office/drawing/2014/main" id="{DA0EB07B-2209-0936-A30F-E6616F855894}"/>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4662257" y="3510056"/>
            <a:ext cx="2921925" cy="1841416"/>
          </a:xfrm>
          <a:prstGeom prst="rect">
            <a:avLst/>
          </a:prstGeom>
        </p:spPr>
      </p:pic>
      <p:pic>
        <p:nvPicPr>
          <p:cNvPr id="18" name="Imagen 17">
            <a:extLst>
              <a:ext uri="{FF2B5EF4-FFF2-40B4-BE49-F238E27FC236}">
                <a16:creationId xmlns:a16="http://schemas.microsoft.com/office/drawing/2014/main" id="{2CD3F0C4-A4F4-4AE8-6286-0AFC7C090858}"/>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893610" y="3747330"/>
            <a:ext cx="2909747" cy="1412462"/>
          </a:xfrm>
          <a:prstGeom prst="rect">
            <a:avLst/>
          </a:prstGeom>
        </p:spPr>
      </p:pic>
      <p:pic>
        <p:nvPicPr>
          <p:cNvPr id="19" name="Imagen 18">
            <a:extLst>
              <a:ext uri="{FF2B5EF4-FFF2-40B4-BE49-F238E27FC236}">
                <a16:creationId xmlns:a16="http://schemas.microsoft.com/office/drawing/2014/main" id="{13DA14BE-FF5E-EF2E-E292-F4DE8FB43AC7}"/>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247888" y="4239029"/>
            <a:ext cx="3085046" cy="1208893"/>
          </a:xfrm>
          <a:prstGeom prst="rect">
            <a:avLst/>
          </a:prstGeom>
        </p:spPr>
      </p:pic>
      <p:sp>
        <p:nvSpPr>
          <p:cNvPr id="20" name="Shape 15">
            <a:extLst>
              <a:ext uri="{FF2B5EF4-FFF2-40B4-BE49-F238E27FC236}">
                <a16:creationId xmlns:a16="http://schemas.microsoft.com/office/drawing/2014/main" id="{786C5D95-0A5D-021F-B693-02B63721CDDF}"/>
              </a:ext>
            </a:extLst>
          </p:cNvPr>
          <p:cNvSpPr/>
          <p:nvPr/>
        </p:nvSpPr>
        <p:spPr>
          <a:xfrm>
            <a:off x="548640" y="5656769"/>
            <a:ext cx="11055096" cy="726959"/>
          </a:xfrm>
          <a:prstGeom prst="roundRect">
            <a:avLst>
              <a:gd name="adj" fmla="val 8140"/>
            </a:avLst>
          </a:prstGeom>
          <a:solidFill>
            <a:srgbClr val="EAF7F0"/>
          </a:solidFill>
          <a:ln w="12700">
            <a:solidFill>
              <a:srgbClr val="C0D4CB"/>
            </a:solidFill>
            <a:prstDash val="solid"/>
          </a:ln>
        </p:spPr>
        <p:txBody>
          <a:bodyPr/>
          <a:lstStyle/>
          <a:p>
            <a:endParaRPr lang="fr-FR" sz="1600" noProof="0" dirty="0"/>
          </a:p>
        </p:txBody>
      </p:sp>
      <p:sp>
        <p:nvSpPr>
          <p:cNvPr id="21" name="Text 16">
            <a:extLst>
              <a:ext uri="{FF2B5EF4-FFF2-40B4-BE49-F238E27FC236}">
                <a16:creationId xmlns:a16="http://schemas.microsoft.com/office/drawing/2014/main" id="{B935C2FA-4F4C-F136-177E-B4C3ACEB8F99}"/>
              </a:ext>
            </a:extLst>
          </p:cNvPr>
          <p:cNvSpPr txBox="1"/>
          <p:nvPr/>
        </p:nvSpPr>
        <p:spPr>
          <a:xfrm>
            <a:off x="752856" y="5670876"/>
            <a:ext cx="10850880" cy="676656"/>
          </a:xfrm>
          <a:prstGeom prst="rect">
            <a:avLst/>
          </a:prstGeom>
          <a:noFill/>
          <a:ln/>
        </p:spPr>
        <p:txBody>
          <a:bodyPr wrap="square" lIns="0" tIns="0" rIns="0" bIns="0" rtlCol="0" anchor="ctr">
            <a:noAutofit/>
          </a:bodyPr>
          <a:lstStyle/>
          <a:p>
            <a:pPr>
              <a:lnSpc>
                <a:spcPct val="104000"/>
              </a:lnSpc>
            </a:pPr>
            <a:r>
              <a:rPr lang="fr-FR" sz="1360" b="1" noProof="0" dirty="0">
                <a:solidFill>
                  <a:srgbClr val="19543E"/>
                </a:solidFill>
                <a:latin typeface="Calibri" pitchFamily="34" charset="0"/>
                <a:ea typeface="Calibri" pitchFamily="34" charset="-122"/>
                <a:cs typeface="Calibri" pitchFamily="34" charset="-120"/>
              </a:rPr>
              <a:t>🏥 Voie </a:t>
            </a:r>
            <a:r>
              <a:rPr lang="fr-FR" sz="1360" b="1" noProof="0" dirty="0" err="1">
                <a:solidFill>
                  <a:srgbClr val="19543E"/>
                </a:solidFill>
                <a:latin typeface="Calibri" pitchFamily="34" charset="0"/>
                <a:ea typeface="Calibri" pitchFamily="34" charset="-122"/>
                <a:cs typeface="Calibri" pitchFamily="34" charset="-120"/>
              </a:rPr>
              <a:t>rwandase</a:t>
            </a:r>
            <a:r>
              <a:rPr lang="fr-FR" sz="1360" b="1" noProof="0" dirty="0">
                <a:solidFill>
                  <a:srgbClr val="19543E"/>
                </a:solidFill>
                <a:latin typeface="Calibri" pitchFamily="34" charset="0"/>
                <a:ea typeface="Calibri" pitchFamily="34" charset="-122"/>
                <a:cs typeface="Calibri" pitchFamily="34" charset="-120"/>
              </a:rPr>
              <a:t> :  </a:t>
            </a:r>
            <a:r>
              <a:rPr lang="fr-FR" sz="1360" noProof="0" dirty="0">
                <a:solidFill>
                  <a:srgbClr val="23303F"/>
                </a:solidFill>
                <a:latin typeface="Calibri" pitchFamily="34" charset="0"/>
                <a:ea typeface="Calibri" pitchFamily="34" charset="-122"/>
                <a:cs typeface="Calibri" pitchFamily="34" charset="-120"/>
              </a:rPr>
              <a:t>Les échantillons de biopsie sont envoyés à un établissement doté d'une capacité histopathologique. Les résultats sont retournés à l'équipe clinique référente, de plus en plus via le DME national E-</a:t>
            </a:r>
            <a:r>
              <a:rPr lang="fr-FR" sz="1360" noProof="0" dirty="0" err="1">
                <a:solidFill>
                  <a:srgbClr val="23303F"/>
                </a:solidFill>
                <a:latin typeface="Calibri" pitchFamily="34" charset="0"/>
                <a:ea typeface="Calibri" pitchFamily="34" charset="-122"/>
                <a:cs typeface="Calibri" pitchFamily="34" charset="-120"/>
              </a:rPr>
              <a:t>Ubuzima</a:t>
            </a:r>
            <a:r>
              <a:rPr lang="fr-FR" sz="1360" noProof="0" dirty="0">
                <a:solidFill>
                  <a:srgbClr val="23303F"/>
                </a:solidFill>
                <a:latin typeface="Calibri" pitchFamily="34" charset="0"/>
                <a:ea typeface="Calibri" pitchFamily="34" charset="-122"/>
                <a:cs typeface="Calibri" pitchFamily="34" charset="-120"/>
              </a:rPr>
              <a:t> (DME), afin que le patient puisse être contacté et la prochaine étape organisée.</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19">
    <p:bg>
      <p:bgPr>
        <a:solidFill>
          <a:srgbClr val="FFFFFF">
            <a:alpha val="70000"/>
          </a:srgbClr>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DIAGNOSTIC</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Imagerie et stadification</a:t>
            </a:r>
            <a:endParaRPr lang="fr-FR" sz="3200" noProof="0" dirty="0"/>
          </a:p>
        </p:txBody>
      </p:sp>
      <p:sp>
        <p:nvSpPr>
          <p:cNvPr id="6" name="Shape 4"/>
          <p:cNvSpPr/>
          <p:nvPr/>
        </p:nvSpPr>
        <p:spPr>
          <a:xfrm>
            <a:off x="566928" y="1501218"/>
            <a:ext cx="3212484" cy="319691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28364" y="1681176"/>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Étendue locale</a:t>
            </a:r>
            <a:endParaRPr lang="fr-FR" sz="2000" noProof="0" dirty="0"/>
          </a:p>
        </p:txBody>
      </p:sp>
      <p:sp>
        <p:nvSpPr>
          <p:cNvPr id="8" name="Text 6"/>
          <p:cNvSpPr txBox="1"/>
          <p:nvPr/>
        </p:nvSpPr>
        <p:spPr>
          <a:xfrm>
            <a:off x="728364" y="2243022"/>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L'évaluation clinique et l'imagerie aident à déterminer la taille de la tumeur et l'atteinte des tissus voisins, y compris le </a:t>
            </a:r>
            <a:r>
              <a:rPr lang="fr-FR" sz="1800" noProof="0" dirty="0" err="1">
                <a:solidFill>
                  <a:srgbClr val="23303F"/>
                </a:solidFill>
                <a:latin typeface="Calibri" pitchFamily="34" charset="0"/>
                <a:ea typeface="Calibri" pitchFamily="34" charset="-122"/>
                <a:cs typeface="Calibri" pitchFamily="34" charset="-120"/>
              </a:rPr>
              <a:t>paramétrium</a:t>
            </a:r>
            <a:r>
              <a:rPr lang="fr-FR" sz="1800" noProof="0" dirty="0">
                <a:solidFill>
                  <a:srgbClr val="23303F"/>
                </a:solidFill>
                <a:latin typeface="Calibri" pitchFamily="34" charset="0"/>
                <a:ea typeface="Calibri" pitchFamily="34" charset="-122"/>
                <a:cs typeface="Calibri" pitchFamily="34" charset="-120"/>
              </a:rPr>
              <a:t>, le vagin, la vessie et le rectum.</a:t>
            </a:r>
            <a:endParaRPr lang="fr-FR" sz="1800" noProof="0" dirty="0"/>
          </a:p>
        </p:txBody>
      </p:sp>
      <p:sp>
        <p:nvSpPr>
          <p:cNvPr id="9" name="Shape 7"/>
          <p:cNvSpPr/>
          <p:nvPr/>
        </p:nvSpPr>
        <p:spPr>
          <a:xfrm>
            <a:off x="3940847" y="1501218"/>
            <a:ext cx="3327055" cy="319691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095978" y="1681176"/>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Ganglions lymphatiques et propagation à distance</a:t>
            </a:r>
            <a:endParaRPr lang="fr-FR" sz="2000" noProof="0" dirty="0"/>
          </a:p>
        </p:txBody>
      </p:sp>
      <p:sp>
        <p:nvSpPr>
          <p:cNvPr id="11" name="Text 9"/>
          <p:cNvSpPr txBox="1"/>
          <p:nvPr/>
        </p:nvSpPr>
        <p:spPr>
          <a:xfrm>
            <a:off x="4105432" y="2395042"/>
            <a:ext cx="286816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Lorsque cela est possible, l'imagerie évalue les ganglions lymphatiques pelviens et para-aortiques, les maladies à distance et les complications telles que l'obstruction des voies urinaires ou rénale.</a:t>
            </a:r>
            <a:endParaRPr lang="fr-FR" sz="1800" noProof="0" dirty="0"/>
          </a:p>
        </p:txBody>
      </p:sp>
      <p:sp>
        <p:nvSpPr>
          <p:cNvPr id="12" name="Shape 10"/>
          <p:cNvSpPr/>
          <p:nvPr/>
        </p:nvSpPr>
        <p:spPr>
          <a:xfrm>
            <a:off x="7432487" y="1501218"/>
            <a:ext cx="4189537" cy="319691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664559" y="1681176"/>
            <a:ext cx="3784039"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L'imagerie dépend de la disponibilité</a:t>
            </a:r>
            <a:endParaRPr lang="fr-FR" sz="2000" noProof="0" dirty="0"/>
          </a:p>
        </p:txBody>
      </p:sp>
      <p:sp>
        <p:nvSpPr>
          <p:cNvPr id="14" name="Text 12"/>
          <p:cNvSpPr txBox="1"/>
          <p:nvPr/>
        </p:nvSpPr>
        <p:spPr>
          <a:xfrm>
            <a:off x="7646271" y="2408055"/>
            <a:ext cx="3784039" cy="1773936"/>
          </a:xfrm>
          <a:prstGeom prst="rect">
            <a:avLst/>
          </a:prstGeom>
          <a:noFill/>
          <a:ln/>
        </p:spPr>
        <p:txBody>
          <a:bodyPr wrap="square" lIns="0" tIns="0" rIns="0" bIns="0" rtlCol="0" anchor="t">
            <a:noAutofit/>
          </a:bodyPr>
          <a:lstStyle/>
          <a:p>
            <a:pPr marL="0" indent="0">
              <a:lnSpc>
                <a:spcPct val="106000"/>
              </a:lnSpc>
              <a:buNone/>
            </a:pPr>
            <a:r>
              <a:rPr lang="fr-FR" sz="1548" noProof="0" dirty="0">
                <a:solidFill>
                  <a:srgbClr val="23303F"/>
                </a:solidFill>
                <a:latin typeface="Calibri" pitchFamily="34" charset="0"/>
                <a:ea typeface="Calibri" pitchFamily="34" charset="-122"/>
                <a:cs typeface="Calibri" pitchFamily="34" charset="-120"/>
              </a:rPr>
              <a:t>L'imagerie avancée est concentrée dans les hôpitaux de référence et tertiaires. Les patients peuvent avoir besoin d'une orientation pour un scanner ou une IRM lorsque celles-ci sont nécessaires pour la stadification. Ne retardez pas l'évaluation essentielle ou la planification du traitement en attendant une imagerie qui n'est pas immédiatement disponible.</a:t>
            </a:r>
            <a:endParaRPr lang="fr-FR" sz="1548" noProof="0" dirty="0"/>
          </a:p>
        </p:txBody>
      </p:sp>
      <p:sp>
        <p:nvSpPr>
          <p:cNvPr id="17" name="Shape 15">
            <a:extLst>
              <a:ext uri="{FF2B5EF4-FFF2-40B4-BE49-F238E27FC236}">
                <a16:creationId xmlns:a16="http://schemas.microsoft.com/office/drawing/2014/main" id="{59DC7C82-DB72-2A40-BFA1-4BBAA1728552}"/>
              </a:ext>
            </a:extLst>
          </p:cNvPr>
          <p:cNvSpPr/>
          <p:nvPr/>
        </p:nvSpPr>
        <p:spPr>
          <a:xfrm>
            <a:off x="548640" y="5562173"/>
            <a:ext cx="11055096" cy="726959"/>
          </a:xfrm>
          <a:prstGeom prst="roundRect">
            <a:avLst>
              <a:gd name="adj" fmla="val 8140"/>
            </a:avLst>
          </a:prstGeom>
          <a:solidFill>
            <a:srgbClr val="EAF7F0"/>
          </a:solidFill>
          <a:ln w="12700">
            <a:solidFill>
              <a:srgbClr val="C0D4CB"/>
            </a:solidFill>
            <a:prstDash val="solid"/>
          </a:ln>
        </p:spPr>
        <p:txBody>
          <a:bodyPr/>
          <a:lstStyle/>
          <a:p>
            <a:endParaRPr lang="fr-FR" sz="1600" noProof="0" dirty="0"/>
          </a:p>
        </p:txBody>
      </p:sp>
      <p:sp>
        <p:nvSpPr>
          <p:cNvPr id="18" name="Text 16">
            <a:extLst>
              <a:ext uri="{FF2B5EF4-FFF2-40B4-BE49-F238E27FC236}">
                <a16:creationId xmlns:a16="http://schemas.microsoft.com/office/drawing/2014/main" id="{51D9C840-C72B-A85A-2E62-985B51EF0CEB}"/>
              </a:ext>
            </a:extLst>
          </p:cNvPr>
          <p:cNvSpPr txBox="1"/>
          <p:nvPr/>
        </p:nvSpPr>
        <p:spPr>
          <a:xfrm>
            <a:off x="752856" y="5576280"/>
            <a:ext cx="10850880" cy="676656"/>
          </a:xfrm>
          <a:prstGeom prst="rect">
            <a:avLst/>
          </a:prstGeom>
          <a:noFill/>
          <a:ln/>
        </p:spPr>
        <p:txBody>
          <a:bodyPr wrap="square" lIns="0" tIns="0" rIns="0" bIns="0" rtlCol="0" anchor="ctr">
            <a:noAutofit/>
          </a:bodyPr>
          <a:lstStyle/>
          <a:p>
            <a:pPr>
              <a:lnSpc>
                <a:spcPct val="104000"/>
              </a:lnSpc>
            </a:pPr>
            <a:r>
              <a:rPr lang="fr-FR" sz="1408" b="1" noProof="0" dirty="0">
                <a:solidFill>
                  <a:srgbClr val="19543E"/>
                </a:solidFill>
                <a:latin typeface="Calibri" pitchFamily="34" charset="0"/>
                <a:ea typeface="Calibri" pitchFamily="34" charset="-122"/>
                <a:cs typeface="Calibri" pitchFamily="34" charset="-120"/>
              </a:rPr>
              <a:t>🏥 Au Rwanda :  </a:t>
            </a:r>
            <a:r>
              <a:rPr lang="fr-FR" sz="1408" noProof="0" dirty="0">
                <a:solidFill>
                  <a:srgbClr val="23303F"/>
                </a:solidFill>
                <a:latin typeface="Calibri" pitchFamily="34" charset="0"/>
                <a:ea typeface="Calibri" pitchFamily="34" charset="-122"/>
                <a:cs typeface="Calibri" pitchFamily="34" charset="-120"/>
              </a:rPr>
              <a:t>la stadification combine l'évaluation clinique avec l'imagerie disponible. L'imagerie avancée et les soins spécialisés en oncologie sont principalement accessibles via des hôpitaux de référence/tertiaires, avec une orientation basée sur les résultats cliniques et la disponibilité locale.</a:t>
            </a:r>
          </a:p>
        </p:txBody>
      </p:sp>
      <p:sp>
        <p:nvSpPr>
          <p:cNvPr id="22" name="CuadroTexto 21">
            <a:extLst>
              <a:ext uri="{FF2B5EF4-FFF2-40B4-BE49-F238E27FC236}">
                <a16:creationId xmlns:a16="http://schemas.microsoft.com/office/drawing/2014/main" id="{071B8E92-4A57-0030-A11F-F6B1B6F1777F}"/>
              </a:ext>
            </a:extLst>
          </p:cNvPr>
          <p:cNvSpPr txBox="1"/>
          <p:nvPr/>
        </p:nvSpPr>
        <p:spPr>
          <a:xfrm>
            <a:off x="821165" y="5033623"/>
            <a:ext cx="11055095" cy="523220"/>
          </a:xfrm>
          <a:prstGeom prst="rect">
            <a:avLst/>
          </a:prstGeom>
          <a:noFill/>
        </p:spPr>
        <p:txBody>
          <a:bodyPr wrap="square">
            <a:spAutoFit/>
          </a:bodyPr>
          <a:lstStyle/>
          <a:p>
            <a:pPr>
              <a:buNone/>
            </a:pPr>
            <a:r>
              <a:rPr lang="fr-FR" sz="1400" b="1" noProof="0" dirty="0">
                <a:solidFill>
                  <a:schemeClr val="accent1">
                    <a:lumMod val="50000"/>
                  </a:schemeClr>
                </a:solidFill>
              </a:rPr>
              <a:t>Évaluation clinique → biopsie/histologie → évaluation de la stadification → imagerie lorsque cela est indiqué ou disponible → plan de traitement multidisciplinaire</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CAS CLINIQUE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De quoi Béatrice a-t-elle besoin ensuite ?</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Son col est irrégulier et saigne au contact, et elle a cinq mois de saignements post-</a:t>
            </a:r>
            <a:r>
              <a:rPr lang="fr-FR" sz="2000" b="1" noProof="0" dirty="0" err="1">
                <a:solidFill>
                  <a:srgbClr val="23303F"/>
                </a:solidFill>
                <a:latin typeface="Calibri" pitchFamily="34" charset="0"/>
                <a:ea typeface="Calibri" pitchFamily="34" charset="-122"/>
                <a:cs typeface="Calibri" pitchFamily="34" charset="-120"/>
              </a:rPr>
              <a:t>coïtals</a:t>
            </a:r>
            <a:r>
              <a:rPr lang="fr-FR" sz="2000" b="1" noProof="0" dirty="0">
                <a:solidFill>
                  <a:srgbClr val="23303F"/>
                </a:solidFill>
                <a:latin typeface="Calibri" pitchFamily="34" charset="0"/>
                <a:ea typeface="Calibri" pitchFamily="34" charset="-122"/>
                <a:cs typeface="Calibri" pitchFamily="34" charset="-120"/>
              </a:rPr>
              <a:t>. Quelle est la bonne étape à suivre ?</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noAutofit/>
          </a:bodyPr>
          <a:lstStyle/>
          <a:p>
            <a:pPr marL="0" indent="0">
              <a:buNone/>
            </a:pPr>
            <a:r>
              <a:rPr lang="fr-FR" sz="1782" b="1" noProof="0" dirty="0">
                <a:solidFill>
                  <a:srgbClr val="1F4E96"/>
                </a:solidFill>
                <a:latin typeface="Calibri" pitchFamily="34" charset="0"/>
                <a:ea typeface="Calibri" pitchFamily="34" charset="-122"/>
                <a:cs typeface="Calibri" pitchFamily="34" charset="-120"/>
              </a:rPr>
              <a:t>A   </a:t>
            </a:r>
            <a:r>
              <a:rPr lang="fr-FR" sz="1782" noProof="0" dirty="0">
                <a:solidFill>
                  <a:srgbClr val="23303F"/>
                </a:solidFill>
                <a:latin typeface="Calibri" pitchFamily="34" charset="0"/>
                <a:ea typeface="Calibri" pitchFamily="34" charset="-122"/>
                <a:cs typeface="Calibri" pitchFamily="34" charset="-120"/>
              </a:rPr>
              <a:t>Proposer un test de dépistage et examiner le résultat dans quelques semaines</a:t>
            </a:r>
            <a:endParaRPr lang="fr-FR" sz="1782" noProof="0" dirty="0"/>
          </a:p>
        </p:txBody>
      </p:sp>
      <p:sp>
        <p:nvSpPr>
          <p:cNvPr id="9" name="Shape 7"/>
          <p:cNvSpPr/>
          <p:nvPr/>
        </p:nvSpPr>
        <p:spPr>
          <a:xfrm>
            <a:off x="566928" y="3008376"/>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noAutofit/>
          </a:bodyPr>
          <a:lstStyle/>
          <a:p>
            <a:pPr marL="0" indent="0">
              <a:buNone/>
            </a:pPr>
            <a:r>
              <a:rPr lang="fr-FR" sz="1782" b="1" noProof="0" dirty="0">
                <a:solidFill>
                  <a:srgbClr val="19543E"/>
                </a:solidFill>
                <a:latin typeface="Calibri" pitchFamily="34" charset="0"/>
                <a:ea typeface="Calibri" pitchFamily="34" charset="-122"/>
                <a:cs typeface="Calibri" pitchFamily="34" charset="-120"/>
              </a:rPr>
              <a:t>B   </a:t>
            </a:r>
            <a:r>
              <a:rPr lang="fr-FR" sz="1782" noProof="0" dirty="0">
                <a:solidFill>
                  <a:srgbClr val="23303F"/>
                </a:solidFill>
                <a:latin typeface="Calibri" pitchFamily="34" charset="0"/>
                <a:ea typeface="Calibri" pitchFamily="34" charset="-122"/>
                <a:cs typeface="Calibri" pitchFamily="34" charset="-120"/>
              </a:rPr>
              <a:t>L'orienter rapidement pour une colposcopie et une biopsie, en expliquant que son col doit être examiné</a:t>
            </a:r>
            <a:r>
              <a:rPr lang="fr-FR" sz="1782" noProof="0" dirty="0">
                <a:solidFill>
                  <a:srgbClr val="000000"/>
                </a:solidFill>
                <a:latin typeface="Calibri" pitchFamily="34" charset="0"/>
                <a:ea typeface="Calibri" pitchFamily="34" charset="-122"/>
                <a:cs typeface="Calibri" pitchFamily="34" charset="-120"/>
              </a:rPr>
              <a:t>   ✅</a:t>
            </a:r>
            <a:endParaRPr lang="fr-FR" sz="1782"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noAutofit/>
          </a:bodyPr>
          <a:lstStyle/>
          <a:p>
            <a:pPr marL="0" indent="0">
              <a:buNone/>
            </a:pPr>
            <a:r>
              <a:rPr lang="fr-FR" sz="1782" b="1" noProof="0" dirty="0">
                <a:solidFill>
                  <a:srgbClr val="1F4E96"/>
                </a:solidFill>
                <a:latin typeface="Calibri" pitchFamily="34" charset="0"/>
                <a:ea typeface="Calibri" pitchFamily="34" charset="-122"/>
                <a:cs typeface="Calibri" pitchFamily="34" charset="-120"/>
              </a:rPr>
              <a:t>C   </a:t>
            </a:r>
            <a:r>
              <a:rPr lang="fr-FR" sz="1782" noProof="0" dirty="0">
                <a:solidFill>
                  <a:srgbClr val="23303F"/>
                </a:solidFill>
                <a:latin typeface="Calibri" pitchFamily="34" charset="0"/>
                <a:ea typeface="Calibri" pitchFamily="34" charset="-122"/>
                <a:cs typeface="Calibri" pitchFamily="34" charset="-120"/>
              </a:rPr>
              <a:t>Traiter le col de l'utérus par une ablation thermique aujourd'hui</a:t>
            </a:r>
            <a:endParaRPr lang="fr-FR" sz="1782"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noAutofit/>
          </a:bodyPr>
          <a:lstStyle/>
          <a:p>
            <a:pPr marL="0" indent="0">
              <a:buNone/>
            </a:pPr>
            <a:r>
              <a:rPr lang="fr-FR" sz="1782" b="1" noProof="0" dirty="0">
                <a:solidFill>
                  <a:srgbClr val="1F4E96"/>
                </a:solidFill>
                <a:latin typeface="Calibri" pitchFamily="34" charset="0"/>
                <a:ea typeface="Calibri" pitchFamily="34" charset="-122"/>
                <a:cs typeface="Calibri" pitchFamily="34" charset="-120"/>
              </a:rPr>
              <a:t>D   </a:t>
            </a:r>
            <a:r>
              <a:rPr lang="fr-FR" sz="1782" noProof="0" dirty="0">
                <a:solidFill>
                  <a:srgbClr val="23303F"/>
                </a:solidFill>
                <a:latin typeface="Calibri" pitchFamily="34" charset="0"/>
                <a:ea typeface="Calibri" pitchFamily="34" charset="-122"/>
                <a:cs typeface="Calibri" pitchFamily="34" charset="-120"/>
              </a:rPr>
              <a:t>Traiter l'infection et revoir dans trois mois</a:t>
            </a:r>
            <a:endParaRPr lang="fr-FR" sz="1782"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normAutofit fontScale="99000"/>
          </a:bodyPr>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Un col de l'utérus irrégulier qui saigne au contact est suspect pour un cancer invasif. Elle a besoin d'une évaluation et d'une biopsie, pas d'un test de dépistage ni d'une ablation. Expliquez que le col doit être examiné, sans préciser qu'elle a un cancer.</a:t>
            </a:r>
            <a:endParaRPr lang="fr-FR" sz="1800" noProof="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SÉANCE 4 · TRAITEMENT</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Le traitement dépend de ce qui a été trouvé</a:t>
            </a:r>
            <a:endParaRPr lang="fr-FR" sz="3200" noProof="0" dirty="0"/>
          </a:p>
        </p:txBody>
      </p:sp>
      <p:sp>
        <p:nvSpPr>
          <p:cNvPr id="6" name="Shape 4"/>
          <p:cNvSpPr/>
          <p:nvPr/>
        </p:nvSpPr>
        <p:spPr>
          <a:xfrm>
            <a:off x="566928" y="1397792"/>
            <a:ext cx="3563112" cy="3927970"/>
          </a:xfrm>
          <a:prstGeom prst="roundRect">
            <a:avLst>
              <a:gd name="adj" fmla="val 3000"/>
            </a:avLst>
          </a:prstGeom>
          <a:solidFill>
            <a:srgbClr val="EAF7F0"/>
          </a:solidFill>
          <a:ln w="12700">
            <a:solidFill>
              <a:srgbClr val="C0D4CB"/>
            </a:solidFill>
            <a:prstDash val="solid"/>
          </a:ln>
        </p:spPr>
        <p:txBody>
          <a:bodyPr/>
          <a:lstStyle/>
          <a:p>
            <a:endParaRPr lang="fr-FR" noProof="0" dirty="0"/>
          </a:p>
        </p:txBody>
      </p:sp>
      <p:sp>
        <p:nvSpPr>
          <p:cNvPr id="7" name="Text 5"/>
          <p:cNvSpPr txBox="1"/>
          <p:nvPr/>
        </p:nvSpPr>
        <p:spPr>
          <a:xfrm>
            <a:off x="822960" y="1432388"/>
            <a:ext cx="3051048" cy="566928"/>
          </a:xfrm>
          <a:prstGeom prst="rect">
            <a:avLst/>
          </a:prstGeom>
          <a:noFill/>
          <a:ln/>
        </p:spPr>
        <p:txBody>
          <a:bodyPr wrap="square" lIns="0" tIns="0" rIns="0" bIns="0" rtlCol="0" anchor="ctr">
            <a:normAutofit fontScale="98000" lnSpcReduction="10000"/>
          </a:bodyPr>
          <a:lstStyle/>
          <a:p>
            <a:pPr marL="0" indent="0">
              <a:buNone/>
            </a:pPr>
            <a:r>
              <a:rPr lang="fr-FR" sz="2000" b="1" noProof="0" dirty="0">
                <a:solidFill>
                  <a:srgbClr val="19543E"/>
                </a:solidFill>
                <a:latin typeface="Calibri" pitchFamily="34" charset="0"/>
                <a:ea typeface="Calibri" pitchFamily="34" charset="-122"/>
                <a:cs typeface="Calibri" pitchFamily="34" charset="-120"/>
              </a:rPr>
              <a:t>🟢 </a:t>
            </a:r>
            <a:r>
              <a:rPr lang="fr-FR" sz="2000" b="1" noProof="0" dirty="0" err="1">
                <a:solidFill>
                  <a:srgbClr val="19543E"/>
                </a:solidFill>
                <a:latin typeface="Calibri" pitchFamily="34" charset="0"/>
                <a:ea typeface="Calibri" pitchFamily="34" charset="-122"/>
                <a:cs typeface="Calibri" pitchFamily="34" charset="-120"/>
              </a:rPr>
              <a:t>Précancer</a:t>
            </a:r>
            <a:r>
              <a:rPr lang="fr-FR" sz="2000" b="1" noProof="0" dirty="0">
                <a:solidFill>
                  <a:srgbClr val="19543E"/>
                </a:solidFill>
                <a:latin typeface="Calibri" pitchFamily="34" charset="0"/>
                <a:ea typeface="Calibri" pitchFamily="34" charset="-122"/>
                <a:cs typeface="Calibri" pitchFamily="34" charset="-120"/>
              </a:rPr>
              <a:t> du col de l'utérus</a:t>
            </a:r>
            <a:endParaRPr lang="fr-FR" sz="2000" noProof="0" dirty="0"/>
          </a:p>
        </p:txBody>
      </p:sp>
      <p:sp>
        <p:nvSpPr>
          <p:cNvPr id="8" name="Text 6"/>
          <p:cNvSpPr txBox="1"/>
          <p:nvPr/>
        </p:nvSpPr>
        <p:spPr>
          <a:xfrm>
            <a:off x="822960" y="2035892"/>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Traité en détruisant ou en retirant la zone anormale, en ambulatoire ou en journée qui maintient l'utérus.</a:t>
            </a:r>
            <a:endParaRPr lang="fr-FR" sz="1800" noProof="0" dirty="0"/>
          </a:p>
        </p:txBody>
      </p:sp>
      <p:sp>
        <p:nvSpPr>
          <p:cNvPr id="9" name="Shape 7"/>
          <p:cNvSpPr/>
          <p:nvPr/>
        </p:nvSpPr>
        <p:spPr>
          <a:xfrm>
            <a:off x="4312920" y="1397792"/>
            <a:ext cx="3563112" cy="3927970"/>
          </a:xfrm>
          <a:prstGeom prst="roundRect">
            <a:avLst>
              <a:gd name="adj" fmla="val 3000"/>
            </a:avLst>
          </a:prstGeom>
          <a:solidFill>
            <a:srgbClr val="ECF3FD"/>
          </a:solidFill>
          <a:ln w="12700">
            <a:solidFill>
              <a:srgbClr val="E0E3EA"/>
            </a:solidFill>
            <a:prstDash val="solid"/>
          </a:ln>
        </p:spPr>
        <p:txBody>
          <a:bodyPr/>
          <a:lstStyle/>
          <a:p>
            <a:endParaRPr lang="fr-FR" noProof="0" dirty="0"/>
          </a:p>
        </p:txBody>
      </p:sp>
      <p:sp>
        <p:nvSpPr>
          <p:cNvPr id="10" name="Text 8"/>
          <p:cNvSpPr txBox="1"/>
          <p:nvPr/>
        </p:nvSpPr>
        <p:spPr>
          <a:xfrm>
            <a:off x="4568952" y="1432388"/>
            <a:ext cx="3051048" cy="566928"/>
          </a:xfrm>
          <a:prstGeom prst="rect">
            <a:avLst/>
          </a:prstGeom>
          <a:noFill/>
          <a:ln/>
        </p:spPr>
        <p:txBody>
          <a:bodyPr wrap="square" lIns="0" tIns="0" rIns="0" bIns="0" rtlCol="0" anchor="ctr">
            <a:normAutofit fontScale="98000"/>
          </a:bodyPr>
          <a:lstStyle/>
          <a:p>
            <a:pPr marL="0" indent="0">
              <a:buNone/>
            </a:pPr>
            <a:r>
              <a:rPr lang="fr-FR" sz="2000" b="1" noProof="0" dirty="0">
                <a:solidFill>
                  <a:srgbClr val="10305A"/>
                </a:solidFill>
                <a:latin typeface="Calibri" pitchFamily="34" charset="0"/>
                <a:ea typeface="Calibri" pitchFamily="34" charset="-122"/>
                <a:cs typeface="Calibri" pitchFamily="34" charset="-120"/>
              </a:rPr>
              <a:t>🔵 Cancer invasif précoce</a:t>
            </a:r>
            <a:endParaRPr lang="fr-FR" sz="2000" noProof="0" dirty="0"/>
          </a:p>
        </p:txBody>
      </p:sp>
      <p:sp>
        <p:nvSpPr>
          <p:cNvPr id="11" name="Text 9"/>
          <p:cNvSpPr txBox="1"/>
          <p:nvPr/>
        </p:nvSpPr>
        <p:spPr>
          <a:xfrm>
            <a:off x="4568952" y="2035892"/>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Généralement traité par chirurgie, parfois par radiothérapie ajoutée par la suite, selon la pathologie.</a:t>
            </a:r>
            <a:endParaRPr lang="fr-FR" sz="1800" noProof="0" dirty="0"/>
          </a:p>
        </p:txBody>
      </p:sp>
      <p:sp>
        <p:nvSpPr>
          <p:cNvPr id="12" name="Shape 10"/>
          <p:cNvSpPr/>
          <p:nvPr/>
        </p:nvSpPr>
        <p:spPr>
          <a:xfrm>
            <a:off x="8058912" y="1397792"/>
            <a:ext cx="3563112" cy="3927970"/>
          </a:xfrm>
          <a:prstGeom prst="roundRect">
            <a:avLst>
              <a:gd name="adj" fmla="val 3000"/>
            </a:avLst>
          </a:prstGeom>
          <a:solidFill>
            <a:srgbClr val="FFF2DF"/>
          </a:solidFill>
          <a:ln w="12700">
            <a:solidFill>
              <a:srgbClr val="E8DDC7"/>
            </a:solidFill>
            <a:prstDash val="solid"/>
          </a:ln>
        </p:spPr>
        <p:txBody>
          <a:bodyPr/>
          <a:lstStyle/>
          <a:p>
            <a:endParaRPr lang="fr-FR" noProof="0" dirty="0"/>
          </a:p>
        </p:txBody>
      </p:sp>
      <p:sp>
        <p:nvSpPr>
          <p:cNvPr id="13" name="Text 11"/>
          <p:cNvSpPr txBox="1"/>
          <p:nvPr/>
        </p:nvSpPr>
        <p:spPr>
          <a:xfrm>
            <a:off x="8314944" y="1432388"/>
            <a:ext cx="3051048" cy="566928"/>
          </a:xfrm>
          <a:prstGeom prst="rect">
            <a:avLst/>
          </a:prstGeom>
          <a:noFill/>
          <a:ln/>
        </p:spPr>
        <p:txBody>
          <a:bodyPr wrap="square" lIns="0" tIns="0" rIns="0" bIns="0" rtlCol="0" anchor="ctr">
            <a:normAutofit fontScale="98000" lnSpcReduction="10000"/>
          </a:bodyPr>
          <a:lstStyle/>
          <a:p>
            <a:pPr marL="0" indent="0">
              <a:buNone/>
            </a:pPr>
            <a:r>
              <a:rPr lang="fr-FR" sz="2000" b="1" noProof="0" dirty="0">
                <a:solidFill>
                  <a:srgbClr val="7B5727"/>
                </a:solidFill>
                <a:latin typeface="Calibri" pitchFamily="34" charset="0"/>
                <a:ea typeface="Calibri" pitchFamily="34" charset="-122"/>
                <a:cs typeface="Calibri" pitchFamily="34" charset="-120"/>
              </a:rPr>
              <a:t>🟠 Cancer localement avancé</a:t>
            </a:r>
            <a:endParaRPr lang="fr-FR" sz="2000" noProof="0" dirty="0"/>
          </a:p>
        </p:txBody>
      </p:sp>
      <p:sp>
        <p:nvSpPr>
          <p:cNvPr id="14" name="Text 12"/>
          <p:cNvSpPr txBox="1"/>
          <p:nvPr/>
        </p:nvSpPr>
        <p:spPr>
          <a:xfrm>
            <a:off x="8314944" y="2035892"/>
            <a:ext cx="3051048" cy="1773936"/>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Traité conjointement par radiothérapie et chimiothérapie, suivi de curiethérapie.</a:t>
            </a:r>
            <a:endParaRPr lang="fr-FR" sz="1800" noProof="0" dirty="0"/>
          </a:p>
        </p:txBody>
      </p:sp>
      <p:sp>
        <p:nvSpPr>
          <p:cNvPr id="15" name="Shape 13"/>
          <p:cNvSpPr/>
          <p:nvPr/>
        </p:nvSpPr>
        <p:spPr>
          <a:xfrm>
            <a:off x="566928" y="5540773"/>
            <a:ext cx="11055096" cy="786384"/>
          </a:xfrm>
          <a:prstGeom prst="roundRect">
            <a:avLst>
              <a:gd name="adj" fmla="val 8140"/>
            </a:avLst>
          </a:prstGeom>
          <a:solidFill>
            <a:srgbClr val="ECF3FD"/>
          </a:solidFill>
          <a:ln w="12700">
            <a:solidFill>
              <a:srgbClr val="E0E3EA"/>
            </a:solidFill>
            <a:prstDash val="solid"/>
          </a:ln>
        </p:spPr>
        <p:txBody>
          <a:bodyPr/>
          <a:lstStyle/>
          <a:p>
            <a:endParaRPr lang="fr-FR" noProof="0" dirty="0"/>
          </a:p>
        </p:txBody>
      </p:sp>
      <p:sp>
        <p:nvSpPr>
          <p:cNvPr id="16" name="Text 14"/>
          <p:cNvSpPr txBox="1"/>
          <p:nvPr/>
        </p:nvSpPr>
        <p:spPr>
          <a:xfrm>
            <a:off x="841248" y="5595637"/>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0305A"/>
                </a:solidFill>
                <a:latin typeface="Calibri" pitchFamily="34" charset="0"/>
                <a:ea typeface="Calibri" pitchFamily="34" charset="-122"/>
                <a:cs typeface="Calibri" pitchFamily="34" charset="-120"/>
              </a:rPr>
              <a:t>📌 Votre rôle :  </a:t>
            </a:r>
            <a:r>
              <a:rPr lang="fr-FR" sz="1800" noProof="0" dirty="0">
                <a:solidFill>
                  <a:srgbClr val="23303F"/>
                </a:solidFill>
                <a:latin typeface="Calibri" pitchFamily="34" charset="0"/>
                <a:ea typeface="Calibri" pitchFamily="34" charset="-122"/>
                <a:cs typeface="Calibri" pitchFamily="34" charset="-120"/>
              </a:rPr>
              <a:t>Vous ne choisissez pas le traitement. Vous expliquez à quoi sert chacun, soutenez la femme tout au long de ce processus, et reconnaissez quand quelque chose doit être escaladé.</a:t>
            </a:r>
            <a:endParaRPr lang="fr-FR" sz="1800" noProof="0" dirty="0"/>
          </a:p>
        </p:txBody>
      </p:sp>
      <p:pic>
        <p:nvPicPr>
          <p:cNvPr id="21" name="Imagen 20" descr="galerie/cervical_cancer_treatment.webp">
            <a:extLst>
              <a:ext uri="{FF2B5EF4-FFF2-40B4-BE49-F238E27FC236}">
                <a16:creationId xmlns:a16="http://schemas.microsoft.com/office/drawing/2014/main" id="{5D038D89-FE4F-9229-AF88-CDAC39E3C9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14944" y="3609769"/>
            <a:ext cx="3086972" cy="958026"/>
          </a:xfrm>
          <a:prstGeom prst="rect">
            <a:avLst/>
          </a:prstGeom>
        </p:spPr>
      </p:pic>
      <p:pic>
        <p:nvPicPr>
          <p:cNvPr id="22" name="Imagen 21">
            <a:extLst>
              <a:ext uri="{FF2B5EF4-FFF2-40B4-BE49-F238E27FC236}">
                <a16:creationId xmlns:a16="http://schemas.microsoft.com/office/drawing/2014/main" id="{9AB1D53A-81EC-78A0-59E3-C66E4256EB5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53250" y="3645372"/>
            <a:ext cx="3190467" cy="990145"/>
          </a:xfrm>
          <a:prstGeom prst="rect">
            <a:avLst/>
          </a:prstGeom>
        </p:spPr>
      </p:pic>
      <p:pic>
        <p:nvPicPr>
          <p:cNvPr id="23" name="Imagen 22">
            <a:extLst>
              <a:ext uri="{FF2B5EF4-FFF2-40B4-BE49-F238E27FC236}">
                <a16:creationId xmlns:a16="http://schemas.microsoft.com/office/drawing/2014/main" id="{574977EB-52F0-6A3F-2349-0D5D9A48469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479036" y="3710483"/>
            <a:ext cx="3233928" cy="1003633"/>
          </a:xfrm>
          <a:prstGeom prst="rect">
            <a:avLst/>
          </a:prstGeom>
        </p:spPr>
      </p:pic>
      <p:pic>
        <p:nvPicPr>
          <p:cNvPr id="24" name="Imagen 23" descr="galerie/cervical_cancer_treatment.webp">
            <a:extLst>
              <a:ext uri="{FF2B5EF4-FFF2-40B4-BE49-F238E27FC236}">
                <a16:creationId xmlns:a16="http://schemas.microsoft.com/office/drawing/2014/main" id="{87D47582-B717-EA5D-1FC8-0F242822B80A}"/>
              </a:ext>
            </a:extLst>
          </p:cNvPr>
          <p:cNvPicPr>
            <a:picLocks noChangeAspect="1"/>
          </p:cNvPicPr>
          <p:nvPr/>
        </p:nvPicPr>
        <p:blipFill>
          <a:blip r:embed="rId6"/>
          <a:stretch>
            <a:fillRect/>
          </a:stretch>
        </p:blipFill>
        <p:spPr>
          <a:xfrm>
            <a:off x="8214022" y="3708056"/>
            <a:ext cx="3241748" cy="100606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SÉANCE 4 · TRAITEMENT</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Chirurgie</a:t>
            </a:r>
            <a:endParaRPr lang="fr-FR" sz="3200" noProof="0" dirty="0"/>
          </a:p>
        </p:txBody>
      </p:sp>
      <p:sp>
        <p:nvSpPr>
          <p:cNvPr id="6" name="Shape 4"/>
          <p:cNvSpPr/>
          <p:nvPr/>
        </p:nvSpPr>
        <p:spPr>
          <a:xfrm>
            <a:off x="566928" y="1393674"/>
            <a:ext cx="11055096" cy="1908678"/>
          </a:xfrm>
          <a:prstGeom prst="roundRect">
            <a:avLst>
              <a:gd name="adj" fmla="val 8308"/>
            </a:avLst>
          </a:prstGeom>
          <a:solidFill>
            <a:srgbClr val="F3F6FB"/>
          </a:solidFill>
          <a:ln w="12700">
            <a:solidFill>
              <a:srgbClr val="E0E3EA"/>
            </a:solidFill>
            <a:prstDash val="solid"/>
          </a:ln>
        </p:spPr>
        <p:txBody>
          <a:bodyPr/>
          <a:lstStyle/>
          <a:p>
            <a:endParaRPr lang="fr-FR" sz="1600" noProof="0" dirty="0"/>
          </a:p>
        </p:txBody>
      </p:sp>
      <p:sp>
        <p:nvSpPr>
          <p:cNvPr id="18" name="Shape 16"/>
          <p:cNvSpPr/>
          <p:nvPr/>
        </p:nvSpPr>
        <p:spPr>
          <a:xfrm>
            <a:off x="566928" y="5770608"/>
            <a:ext cx="11055096" cy="510087"/>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21" name="Shape 19"/>
          <p:cNvSpPr/>
          <p:nvPr/>
        </p:nvSpPr>
        <p:spPr>
          <a:xfrm>
            <a:off x="566928" y="5656533"/>
            <a:ext cx="11055096" cy="660738"/>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22" name="Text 20"/>
          <p:cNvSpPr txBox="1"/>
          <p:nvPr/>
        </p:nvSpPr>
        <p:spPr>
          <a:xfrm>
            <a:off x="841248" y="5777354"/>
            <a:ext cx="10506456" cy="447981"/>
          </a:xfrm>
          <a:prstGeom prst="rect">
            <a:avLst/>
          </a:prstGeom>
          <a:noFill/>
          <a:ln/>
        </p:spPr>
        <p:txBody>
          <a:bodyPr wrap="square" lIns="0" tIns="0" rIns="0" bIns="0" rtlCol="0" anchor="ctr">
            <a:noAutofit/>
          </a:bodyPr>
          <a:lstStyle/>
          <a:p>
            <a:pPr marL="0" indent="0">
              <a:lnSpc>
                <a:spcPct val="104000"/>
              </a:lnSpc>
              <a:buNone/>
            </a:pPr>
            <a:r>
              <a:rPr lang="fr-FR" sz="1350" b="1" noProof="0" dirty="0">
                <a:solidFill>
                  <a:srgbClr val="19543E"/>
                </a:solidFill>
                <a:latin typeface="Calibri" pitchFamily="34" charset="0"/>
                <a:ea typeface="Calibri" pitchFamily="34" charset="-122"/>
                <a:cs typeface="Calibri" pitchFamily="34" charset="-120"/>
              </a:rPr>
              <a:t>💬 Dis-le ainsi :  </a:t>
            </a:r>
            <a:r>
              <a:rPr lang="fr-FR" sz="1350" noProof="0" dirty="0">
                <a:solidFill>
                  <a:srgbClr val="23303F"/>
                </a:solidFill>
                <a:latin typeface="Calibri" pitchFamily="34" charset="0"/>
                <a:ea typeface="Calibri" pitchFamily="34" charset="-122"/>
                <a:cs typeface="Calibri" pitchFamily="34" charset="-120"/>
              </a:rPr>
              <a:t>le cancer du col de l'utérus précoce est traité avec l'intention de guérir. Soyez honnête : le traitement est exigeant et prend du temps.</a:t>
            </a:r>
            <a:endParaRPr lang="fr-FR" sz="1350" noProof="0" dirty="0"/>
          </a:p>
        </p:txBody>
      </p:sp>
      <p:pic>
        <p:nvPicPr>
          <p:cNvPr id="19" name="Imagen 18">
            <a:extLst>
              <a:ext uri="{FF2B5EF4-FFF2-40B4-BE49-F238E27FC236}">
                <a16:creationId xmlns:a16="http://schemas.microsoft.com/office/drawing/2014/main" id="{A501D15C-B01A-CBF8-F5A9-ED3383BE063C}"/>
              </a:ext>
            </a:extLst>
          </p:cNvPr>
          <p:cNvPicPr>
            <a:picLocks noChangeAspect="1"/>
          </p:cNvPicPr>
          <p:nvPr/>
        </p:nvPicPr>
        <p:blipFill>
          <a:blip r:embed="rId3"/>
          <a:stretch>
            <a:fillRect/>
          </a:stretch>
        </p:blipFill>
        <p:spPr>
          <a:xfrm>
            <a:off x="2837792" y="3357712"/>
            <a:ext cx="6735029" cy="2247079"/>
          </a:xfrm>
          <a:prstGeom prst="rect">
            <a:avLst/>
          </a:prstGeom>
        </p:spPr>
      </p:pic>
      <p:sp>
        <p:nvSpPr>
          <p:cNvPr id="20" name="Text 6">
            <a:extLst>
              <a:ext uri="{FF2B5EF4-FFF2-40B4-BE49-F238E27FC236}">
                <a16:creationId xmlns:a16="http://schemas.microsoft.com/office/drawing/2014/main" id="{2B62C6F5-36FF-9672-17ED-F9E2A8F1C501}"/>
              </a:ext>
            </a:extLst>
          </p:cNvPr>
          <p:cNvSpPr txBox="1"/>
          <p:nvPr/>
        </p:nvSpPr>
        <p:spPr>
          <a:xfrm>
            <a:off x="1189402" y="2162872"/>
            <a:ext cx="10566763" cy="660737"/>
          </a:xfrm>
          <a:prstGeom prst="rect">
            <a:avLst/>
          </a:prstGeom>
          <a:noFill/>
          <a:ln/>
        </p:spPr>
        <p:txBody>
          <a:bodyPr wrap="square" lIns="0" tIns="0" rIns="0" bIns="0" rtlCol="0" anchor="ctr"/>
          <a:lstStyle/>
          <a:p>
            <a:pPr marL="285750" indent="-285750">
              <a:lnSpc>
                <a:spcPct val="104000"/>
              </a:lnSpc>
              <a:buFont typeface="Arial" panose="020B0604020202020204" pitchFamily="34" charset="0"/>
              <a:buChar char="•"/>
            </a:pPr>
            <a:r>
              <a:rPr lang="en-GB" dirty="0">
                <a:solidFill>
                  <a:srgbClr val="000000"/>
                </a:solidFill>
                <a:latin typeface="Calibri" pitchFamily="34" charset="0"/>
                <a:ea typeface="Calibri" pitchFamily="34" charset="-122"/>
                <a:cs typeface="Calibri" pitchFamily="34" charset="-120"/>
              </a:rPr>
              <a:t>✂️  </a:t>
            </a:r>
            <a:r>
              <a:rPr lang="fr-FR" dirty="0">
                <a:solidFill>
                  <a:srgbClr val="23303F"/>
                </a:solidFill>
                <a:latin typeface="Calibri" pitchFamily="34" charset="0"/>
                <a:ea typeface="Calibri" pitchFamily="34" charset="-122"/>
                <a:cs typeface="Calibri" pitchFamily="34" charset="-120"/>
              </a:rPr>
              <a:t>La chirurgie retire le tissu cancéreux.</a:t>
            </a:r>
            <a:endParaRPr lang="en-GB" noProof="0" dirty="0">
              <a:solidFill>
                <a:srgbClr val="23303F"/>
              </a:solidFill>
              <a:latin typeface="Calibri" pitchFamily="34" charset="0"/>
              <a:ea typeface="Calibri" pitchFamily="34" charset="-122"/>
              <a:cs typeface="Calibri" pitchFamily="34" charset="-120"/>
            </a:endParaRPr>
          </a:p>
          <a:p>
            <a:pPr marL="285750" indent="-285750">
              <a:lnSpc>
                <a:spcPct val="104000"/>
              </a:lnSpc>
              <a:buFont typeface="Arial" panose="020B0604020202020204" pitchFamily="34" charset="0"/>
              <a:buChar char="•"/>
            </a:pPr>
            <a:r>
              <a:rPr lang="en-GB" dirty="0">
                <a:solidFill>
                  <a:srgbClr val="000000"/>
                </a:solidFill>
                <a:latin typeface="Calibri" pitchFamily="34" charset="0"/>
                <a:ea typeface="Calibri" pitchFamily="34" charset="-122"/>
                <a:cs typeface="Calibri" pitchFamily="34" charset="-120"/>
              </a:rPr>
              <a:t>🔵 </a:t>
            </a:r>
            <a:r>
              <a:rPr lang="fr-FR" dirty="0">
                <a:solidFill>
                  <a:srgbClr val="23303F"/>
                </a:solidFill>
                <a:latin typeface="Calibri" pitchFamily="34" charset="0"/>
                <a:ea typeface="Calibri" pitchFamily="34" charset="-122"/>
                <a:cs typeface="Calibri" pitchFamily="34" charset="-120"/>
              </a:rPr>
              <a:t>Il est principalement utilisé pour certains cancers du col de l'utérus à un stade précoce. L'évaluation spécialisée décide si la chirurgie est appropriée</a:t>
            </a:r>
          </a:p>
          <a:p>
            <a:pPr marL="285750" indent="-285750">
              <a:lnSpc>
                <a:spcPct val="104000"/>
              </a:lnSpc>
              <a:buFont typeface="Arial" panose="020B0604020202020204" pitchFamily="34" charset="0"/>
              <a:buChar char="•"/>
            </a:pPr>
            <a:r>
              <a:rPr lang="en-GB" dirty="0">
                <a:solidFill>
                  <a:srgbClr val="000000"/>
                </a:solidFill>
                <a:latin typeface="Calibri" pitchFamily="34" charset="0"/>
                <a:ea typeface="Calibri" pitchFamily="34" charset="-122"/>
                <a:cs typeface="Calibri" pitchFamily="34" charset="-120"/>
              </a:rPr>
              <a:t>📏  </a:t>
            </a:r>
            <a:r>
              <a:rPr lang="fr-FR" dirty="0">
                <a:solidFill>
                  <a:srgbClr val="23303F"/>
                </a:solidFill>
                <a:latin typeface="Calibri" pitchFamily="34" charset="0"/>
                <a:ea typeface="Calibri" pitchFamily="34" charset="-122"/>
                <a:cs typeface="Calibri" pitchFamily="34" charset="-120"/>
              </a:rPr>
              <a:t>L'étendue de l'intervention dépend du stade et de la situation individuelle.</a:t>
            </a:r>
            <a:endParaRPr lang="fr-FR" dirty="0">
              <a:solidFill>
                <a:srgbClr val="23303F"/>
              </a:solidFill>
            </a:endParaRPr>
          </a:p>
          <a:p>
            <a:pPr marL="285750" indent="-285750">
              <a:lnSpc>
                <a:spcPct val="104000"/>
              </a:lnSpc>
              <a:buFont typeface="Arial" panose="020B0604020202020204" pitchFamily="34" charset="0"/>
              <a:buChar char="•"/>
            </a:pPr>
            <a:r>
              <a:rPr lang="en-GB" dirty="0">
                <a:solidFill>
                  <a:srgbClr val="23303F"/>
                </a:solidFill>
                <a:latin typeface="Calibri" pitchFamily="34" charset="0"/>
                <a:ea typeface="Calibri" pitchFamily="34" charset="-122"/>
                <a:cs typeface="Calibri" pitchFamily="34" charset="-120"/>
              </a:rPr>
              <a:t>👶🏾 </a:t>
            </a:r>
            <a:r>
              <a:rPr lang="fr-FR" dirty="0">
                <a:solidFill>
                  <a:srgbClr val="23303F"/>
                </a:solidFill>
                <a:latin typeface="Calibri" pitchFamily="34" charset="0"/>
                <a:ea typeface="Calibri" pitchFamily="34" charset="-122"/>
                <a:cs typeface="Calibri" pitchFamily="34" charset="-120"/>
              </a:rPr>
              <a:t>Certaines interventions affectent la fertilité. Une femme souhaitant une future grossesse doit le dire avant que le traitement ne soit prévu.</a:t>
            </a:r>
            <a:endParaRPr lang="en-GB" dirty="0"/>
          </a:p>
          <a:p>
            <a:pPr marL="285750" indent="-285750">
              <a:lnSpc>
                <a:spcPct val="104000"/>
              </a:lnSpc>
              <a:buFont typeface="Arial" panose="020B0604020202020204" pitchFamily="34" charset="0"/>
              <a:buChar char="•"/>
            </a:pPr>
            <a:endParaRPr lang="en-GB" noProof="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SÉANCE 4 · TRAITEMENT</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Radiothérapie</a:t>
            </a:r>
            <a:endParaRPr lang="fr-FR" sz="3200" noProof="0" dirty="0"/>
          </a:p>
        </p:txBody>
      </p:sp>
      <p:sp>
        <p:nvSpPr>
          <p:cNvPr id="6" name="Shape 4"/>
          <p:cNvSpPr/>
          <p:nvPr/>
        </p:nvSpPr>
        <p:spPr>
          <a:xfrm>
            <a:off x="566928" y="1445387"/>
            <a:ext cx="3563112" cy="1297452"/>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7" name="Text 5"/>
          <p:cNvSpPr txBox="1"/>
          <p:nvPr/>
        </p:nvSpPr>
        <p:spPr>
          <a:xfrm>
            <a:off x="822960" y="1455269"/>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Ce que ça fait</a:t>
            </a:r>
            <a:endParaRPr lang="fr-FR" noProof="0" dirty="0"/>
          </a:p>
        </p:txBody>
      </p:sp>
      <p:sp>
        <p:nvSpPr>
          <p:cNvPr id="8" name="Text 6"/>
          <p:cNvSpPr txBox="1"/>
          <p:nvPr/>
        </p:nvSpPr>
        <p:spPr>
          <a:xfrm>
            <a:off x="822960" y="1910489"/>
            <a:ext cx="3051048" cy="832350"/>
          </a:xfrm>
          <a:prstGeom prst="rect">
            <a:avLst/>
          </a:prstGeom>
          <a:noFill/>
          <a:ln/>
        </p:spPr>
        <p:txBody>
          <a:bodyPr wrap="square" lIns="0" tIns="0" rIns="0" bIns="0" rtlCol="0" anchor="t">
            <a:noAutofit/>
          </a:bodyPr>
          <a:lstStyle/>
          <a:p>
            <a:pPr marL="0" indent="0">
              <a:lnSpc>
                <a:spcPct val="106000"/>
              </a:lnSpc>
              <a:buNone/>
            </a:pPr>
            <a:r>
              <a:rPr lang="fr-FR" sz="1200" noProof="0" dirty="0">
                <a:solidFill>
                  <a:srgbClr val="23303F"/>
                </a:solidFill>
                <a:latin typeface="Calibri" pitchFamily="34" charset="0"/>
                <a:ea typeface="Calibri" pitchFamily="34" charset="-122"/>
                <a:cs typeface="Calibri" pitchFamily="34" charset="-120"/>
              </a:rPr>
              <a:t>Les radiations ionisantes endommagent l'ADN des cellules cancéreuses afin qu'elles ne puissent plus continuer à se diviser et à survivre.</a:t>
            </a:r>
            <a:endParaRPr lang="fr-FR" sz="1200" noProof="0" dirty="0"/>
          </a:p>
        </p:txBody>
      </p:sp>
      <p:sp>
        <p:nvSpPr>
          <p:cNvPr id="9" name="Shape 7"/>
          <p:cNvSpPr/>
          <p:nvPr/>
        </p:nvSpPr>
        <p:spPr>
          <a:xfrm>
            <a:off x="569869" y="2839683"/>
            <a:ext cx="3563112" cy="1276435"/>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10" name="Text 8"/>
          <p:cNvSpPr txBox="1"/>
          <p:nvPr/>
        </p:nvSpPr>
        <p:spPr>
          <a:xfrm>
            <a:off x="825901" y="2849565"/>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Là où il agit</a:t>
            </a:r>
            <a:endParaRPr lang="fr-FR" noProof="0" dirty="0"/>
          </a:p>
        </p:txBody>
      </p:sp>
      <p:sp>
        <p:nvSpPr>
          <p:cNvPr id="11" name="Text 9"/>
          <p:cNvSpPr txBox="1"/>
          <p:nvPr/>
        </p:nvSpPr>
        <p:spPr>
          <a:xfrm>
            <a:off x="825901" y="3304785"/>
            <a:ext cx="3051048" cy="811333"/>
          </a:xfrm>
          <a:prstGeom prst="rect">
            <a:avLst/>
          </a:prstGeom>
          <a:noFill/>
          <a:ln/>
        </p:spPr>
        <p:txBody>
          <a:bodyPr wrap="square" lIns="0" tIns="0" rIns="0" bIns="0" rtlCol="0" anchor="t">
            <a:noAutofit/>
          </a:bodyPr>
          <a:lstStyle/>
          <a:p>
            <a:pPr marL="0" indent="0">
              <a:lnSpc>
                <a:spcPct val="106000"/>
              </a:lnSpc>
              <a:buNone/>
            </a:pPr>
            <a:r>
              <a:rPr lang="fr-FR" sz="1200" noProof="0" dirty="0">
                <a:solidFill>
                  <a:srgbClr val="23303F"/>
                </a:solidFill>
                <a:latin typeface="Calibri" pitchFamily="34" charset="0"/>
                <a:ea typeface="Calibri" pitchFamily="34" charset="-122"/>
                <a:cs typeface="Calibri" pitchFamily="34" charset="-120"/>
              </a:rPr>
              <a:t>Il agit localement, uniquement là où il est dirigé. Ce n'est pas un traitement qui se propage dans le corps.</a:t>
            </a:r>
            <a:endParaRPr lang="fr-FR" sz="1200" noProof="0" dirty="0"/>
          </a:p>
        </p:txBody>
      </p:sp>
      <p:sp>
        <p:nvSpPr>
          <p:cNvPr id="12" name="Shape 10"/>
          <p:cNvSpPr/>
          <p:nvPr/>
        </p:nvSpPr>
        <p:spPr>
          <a:xfrm>
            <a:off x="566928" y="4227778"/>
            <a:ext cx="3563112" cy="1545178"/>
          </a:xfrm>
          <a:prstGeom prst="roundRect">
            <a:avLst>
              <a:gd name="adj" fmla="val 3000"/>
            </a:avLst>
          </a:prstGeom>
          <a:solidFill>
            <a:srgbClr val="F3F6FB"/>
          </a:solidFill>
          <a:ln w="12700">
            <a:solidFill>
              <a:srgbClr val="E0E3EA"/>
            </a:solidFill>
            <a:prstDash val="solid"/>
          </a:ln>
        </p:spPr>
        <p:txBody>
          <a:bodyPr/>
          <a:lstStyle/>
          <a:p>
            <a:endParaRPr lang="fr-FR" sz="1600" noProof="0" dirty="0"/>
          </a:p>
        </p:txBody>
      </p:sp>
      <p:sp>
        <p:nvSpPr>
          <p:cNvPr id="13" name="Text 11"/>
          <p:cNvSpPr txBox="1"/>
          <p:nvPr/>
        </p:nvSpPr>
        <p:spPr>
          <a:xfrm>
            <a:off x="822960" y="4237660"/>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Où cela s'inscrit</a:t>
            </a:r>
            <a:endParaRPr lang="fr-FR" noProof="0" dirty="0"/>
          </a:p>
        </p:txBody>
      </p:sp>
      <p:sp>
        <p:nvSpPr>
          <p:cNvPr id="14" name="Text 12"/>
          <p:cNvSpPr txBox="1"/>
          <p:nvPr/>
        </p:nvSpPr>
        <p:spPr>
          <a:xfrm>
            <a:off x="822960" y="4692880"/>
            <a:ext cx="3051048" cy="1040775"/>
          </a:xfrm>
          <a:prstGeom prst="rect">
            <a:avLst/>
          </a:prstGeom>
          <a:noFill/>
          <a:ln/>
        </p:spPr>
        <p:txBody>
          <a:bodyPr wrap="square" lIns="0" tIns="0" rIns="0" bIns="0" rtlCol="0" anchor="t">
            <a:noAutofit/>
          </a:bodyPr>
          <a:lstStyle/>
          <a:p>
            <a:pPr marL="0" indent="0">
              <a:lnSpc>
                <a:spcPct val="106000"/>
              </a:lnSpc>
              <a:buNone/>
            </a:pPr>
            <a:r>
              <a:rPr lang="fr-FR" sz="1200" noProof="0" dirty="0">
                <a:solidFill>
                  <a:srgbClr val="23303F"/>
                </a:solidFill>
                <a:latin typeface="Calibri" pitchFamily="34" charset="0"/>
                <a:ea typeface="Calibri" pitchFamily="34" charset="-122"/>
                <a:cs typeface="Calibri" pitchFamily="34" charset="-120"/>
              </a:rPr>
              <a:t>La radiothérapie par faisceau externe est administrée depuis l'extérieur du corps et constitue une part majeure du traitement de nombreux cancers du col de l'utérus.</a:t>
            </a:r>
            <a:endParaRPr lang="fr-FR" sz="1200" noProof="0" dirty="0"/>
          </a:p>
        </p:txBody>
      </p:sp>
      <p:sp>
        <p:nvSpPr>
          <p:cNvPr id="15" name="Shape 13"/>
          <p:cNvSpPr/>
          <p:nvPr/>
        </p:nvSpPr>
        <p:spPr>
          <a:xfrm>
            <a:off x="566928" y="6023290"/>
            <a:ext cx="11055096" cy="353293"/>
          </a:xfrm>
          <a:prstGeom prst="roundRect">
            <a:avLst>
              <a:gd name="adj" fmla="val 8140"/>
            </a:avLst>
          </a:prstGeom>
          <a:solidFill>
            <a:srgbClr val="ECF3FD"/>
          </a:solidFill>
          <a:ln w="12700">
            <a:solidFill>
              <a:srgbClr val="E0E3EA"/>
            </a:solidFill>
            <a:prstDash val="solid"/>
          </a:ln>
        </p:spPr>
        <p:txBody>
          <a:bodyPr/>
          <a:lstStyle/>
          <a:p>
            <a:endParaRPr lang="fr-FR" sz="1600" noProof="0" dirty="0"/>
          </a:p>
        </p:txBody>
      </p:sp>
      <p:sp>
        <p:nvSpPr>
          <p:cNvPr id="16" name="Text 14"/>
          <p:cNvSpPr txBox="1"/>
          <p:nvPr/>
        </p:nvSpPr>
        <p:spPr>
          <a:xfrm>
            <a:off x="668252" y="5988338"/>
            <a:ext cx="10962915" cy="477468"/>
          </a:xfrm>
          <a:prstGeom prst="rect">
            <a:avLst/>
          </a:prstGeom>
          <a:noFill/>
          <a:ln/>
        </p:spPr>
        <p:txBody>
          <a:bodyPr wrap="square" lIns="0" tIns="0" rIns="0" bIns="0" rtlCol="0" anchor="ctr">
            <a:noAutofit/>
          </a:bodyPr>
          <a:lstStyle/>
          <a:p>
            <a:pPr marL="0" indent="0">
              <a:lnSpc>
                <a:spcPct val="104000"/>
              </a:lnSpc>
              <a:buNone/>
            </a:pPr>
            <a:r>
              <a:rPr lang="fr-FR" sz="1148" b="1" noProof="0" dirty="0">
                <a:solidFill>
                  <a:srgbClr val="10305A"/>
                </a:solidFill>
                <a:latin typeface="Calibri" pitchFamily="34" charset="0"/>
                <a:ea typeface="Calibri" pitchFamily="34" charset="-122"/>
                <a:cs typeface="Calibri" pitchFamily="34" charset="-120"/>
              </a:rPr>
              <a:t>🔎 Également utilisée pour les symptômes :  </a:t>
            </a:r>
            <a:r>
              <a:rPr lang="fr-FR" sz="1148" noProof="0" dirty="0">
                <a:solidFill>
                  <a:srgbClr val="23303F"/>
                </a:solidFill>
                <a:latin typeface="Calibri" pitchFamily="34" charset="0"/>
                <a:ea typeface="Calibri" pitchFamily="34" charset="-122"/>
                <a:cs typeface="Calibri" pitchFamily="34" charset="-120"/>
              </a:rPr>
              <a:t>La radiothérapie est très efficace pour contrôler les saignements dus à une tumeur cervicale, même lorsque la guérison n'est pas l'objectif.</a:t>
            </a:r>
            <a:endParaRPr lang="fr-FR" sz="1148" noProof="0" dirty="0"/>
          </a:p>
        </p:txBody>
      </p:sp>
      <p:pic>
        <p:nvPicPr>
          <p:cNvPr id="18" name="Imagen 17">
            <a:extLst>
              <a:ext uri="{FF2B5EF4-FFF2-40B4-BE49-F238E27FC236}">
                <a16:creationId xmlns:a16="http://schemas.microsoft.com/office/drawing/2014/main" id="{6480F200-8127-1E11-75AB-5257F404532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98492" y="1455269"/>
            <a:ext cx="6519672" cy="4343009"/>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149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SÉANCE 4 · TRAITEMENT</a:t>
            </a:r>
            <a:endParaRPr lang="fr-FR" sz="1200" noProof="0" dirty="0"/>
          </a:p>
        </p:txBody>
      </p:sp>
      <p:sp>
        <p:nvSpPr>
          <p:cNvPr id="5" name="Text 3"/>
          <p:cNvSpPr txBox="1"/>
          <p:nvPr/>
        </p:nvSpPr>
        <p:spPr>
          <a:xfrm>
            <a:off x="566928" y="640080"/>
            <a:ext cx="4502807"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Curiethérapie</a:t>
            </a:r>
            <a:endParaRPr lang="fr-FR" sz="3200" noProof="0" dirty="0"/>
          </a:p>
        </p:txBody>
      </p:sp>
      <p:sp>
        <p:nvSpPr>
          <p:cNvPr id="6" name="Shape 4"/>
          <p:cNvSpPr/>
          <p:nvPr/>
        </p:nvSpPr>
        <p:spPr>
          <a:xfrm>
            <a:off x="566928" y="1385439"/>
            <a:ext cx="3563112" cy="1319206"/>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382963"/>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Ce que c'est</a:t>
            </a:r>
            <a:endParaRPr lang="fr-FR" noProof="0" dirty="0"/>
          </a:p>
        </p:txBody>
      </p:sp>
      <p:sp>
        <p:nvSpPr>
          <p:cNvPr id="8" name="Text 6"/>
          <p:cNvSpPr txBox="1"/>
          <p:nvPr/>
        </p:nvSpPr>
        <p:spPr>
          <a:xfrm>
            <a:off x="822960" y="1875254"/>
            <a:ext cx="3051048" cy="829390"/>
          </a:xfrm>
          <a:prstGeom prst="rect">
            <a:avLst/>
          </a:prstGeom>
          <a:noFill/>
          <a:ln/>
        </p:spPr>
        <p:txBody>
          <a:bodyPr wrap="square" lIns="0" tIns="0" rIns="0" bIns="0" rtlCol="0" anchor="t">
            <a:noAutofit/>
          </a:bodyPr>
          <a:lstStyle/>
          <a:p>
            <a:pPr marL="0" indent="0">
              <a:lnSpc>
                <a:spcPct val="106000"/>
              </a:lnSpc>
              <a:buNone/>
            </a:pPr>
            <a:r>
              <a:rPr lang="fr-FR" sz="1200" noProof="0" dirty="0">
                <a:solidFill>
                  <a:srgbClr val="23303F"/>
                </a:solidFill>
                <a:latin typeface="Calibri" pitchFamily="34" charset="0"/>
                <a:ea typeface="Calibri" pitchFamily="34" charset="-122"/>
                <a:cs typeface="Calibri" pitchFamily="34" charset="-120"/>
              </a:rPr>
              <a:t>Radiothérapie délivrée par une source située près ou à l'intérieur du col de l'utérus et de la tumeur.</a:t>
            </a:r>
            <a:endParaRPr lang="fr-FR" sz="1200" noProof="0" dirty="0"/>
          </a:p>
        </p:txBody>
      </p:sp>
      <p:sp>
        <p:nvSpPr>
          <p:cNvPr id="9" name="Shape 7"/>
          <p:cNvSpPr/>
          <p:nvPr/>
        </p:nvSpPr>
        <p:spPr>
          <a:xfrm>
            <a:off x="568452" y="2850699"/>
            <a:ext cx="3563112" cy="1356277"/>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24484" y="2848224"/>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Pourquoi cela compte</a:t>
            </a:r>
            <a:endParaRPr lang="fr-FR" noProof="0" dirty="0"/>
          </a:p>
        </p:txBody>
      </p:sp>
      <p:sp>
        <p:nvSpPr>
          <p:cNvPr id="11" name="Text 9"/>
          <p:cNvSpPr txBox="1"/>
          <p:nvPr/>
        </p:nvSpPr>
        <p:spPr>
          <a:xfrm>
            <a:off x="824484" y="3340515"/>
            <a:ext cx="3051048" cy="829390"/>
          </a:xfrm>
          <a:prstGeom prst="rect">
            <a:avLst/>
          </a:prstGeom>
          <a:noFill/>
          <a:ln/>
        </p:spPr>
        <p:txBody>
          <a:bodyPr wrap="square" lIns="0" tIns="0" rIns="0" bIns="0" rtlCol="0" anchor="t">
            <a:noAutofit/>
          </a:bodyPr>
          <a:lstStyle/>
          <a:p>
            <a:pPr marL="0" indent="0">
              <a:lnSpc>
                <a:spcPct val="106000"/>
              </a:lnSpc>
              <a:buNone/>
            </a:pPr>
            <a:r>
              <a:rPr lang="fr-FR" sz="1200" noProof="0" dirty="0">
                <a:solidFill>
                  <a:srgbClr val="23303F"/>
                </a:solidFill>
                <a:latin typeface="Calibri" pitchFamily="34" charset="0"/>
                <a:ea typeface="Calibri" pitchFamily="34" charset="-122"/>
                <a:cs typeface="Calibri" pitchFamily="34" charset="-120"/>
              </a:rPr>
              <a:t>Elle délivre une dose élevée directement à la tumeur tout en limitant la dose aux tissus environnants.</a:t>
            </a:r>
            <a:endParaRPr lang="fr-FR" sz="1200" noProof="0" dirty="0"/>
          </a:p>
        </p:txBody>
      </p:sp>
      <p:sp>
        <p:nvSpPr>
          <p:cNvPr id="12" name="Shape 10"/>
          <p:cNvSpPr/>
          <p:nvPr/>
        </p:nvSpPr>
        <p:spPr>
          <a:xfrm>
            <a:off x="585216" y="4367862"/>
            <a:ext cx="3563112" cy="1356277"/>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41248" y="4402458"/>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Où cela s'inscrit</a:t>
            </a:r>
            <a:endParaRPr lang="fr-FR" noProof="0" dirty="0"/>
          </a:p>
        </p:txBody>
      </p:sp>
      <p:sp>
        <p:nvSpPr>
          <p:cNvPr id="14" name="Text 12"/>
          <p:cNvSpPr txBox="1"/>
          <p:nvPr/>
        </p:nvSpPr>
        <p:spPr>
          <a:xfrm>
            <a:off x="841248" y="4894749"/>
            <a:ext cx="3051048" cy="829390"/>
          </a:xfrm>
          <a:prstGeom prst="rect">
            <a:avLst/>
          </a:prstGeom>
          <a:noFill/>
          <a:ln/>
        </p:spPr>
        <p:txBody>
          <a:bodyPr wrap="square" lIns="0" tIns="0" rIns="0" bIns="0" rtlCol="0" anchor="t">
            <a:noAutofit/>
          </a:bodyPr>
          <a:lstStyle/>
          <a:p>
            <a:pPr marL="0" indent="0">
              <a:lnSpc>
                <a:spcPct val="106000"/>
              </a:lnSpc>
              <a:buNone/>
            </a:pPr>
            <a:r>
              <a:rPr lang="fr-FR" sz="1200" noProof="0" dirty="0">
                <a:solidFill>
                  <a:srgbClr val="23303F"/>
                </a:solidFill>
                <a:latin typeface="Calibri" pitchFamily="34" charset="0"/>
                <a:ea typeface="Calibri" pitchFamily="34" charset="-122"/>
                <a:cs typeface="Calibri" pitchFamily="34" charset="-120"/>
              </a:rPr>
              <a:t>C'est une partie essentielle de la radiothérapie curative pour de nombreuses femmes atteintes d'un cancer du col de l'utérus localement avancé.</a:t>
            </a:r>
            <a:endParaRPr lang="fr-FR" sz="1200" noProof="0" dirty="0"/>
          </a:p>
        </p:txBody>
      </p:sp>
      <p:sp>
        <p:nvSpPr>
          <p:cNvPr id="15" name="Shape 13"/>
          <p:cNvSpPr/>
          <p:nvPr/>
        </p:nvSpPr>
        <p:spPr>
          <a:xfrm>
            <a:off x="566928" y="5850671"/>
            <a:ext cx="11055096" cy="476485"/>
          </a:xfrm>
          <a:prstGeom prst="roundRect">
            <a:avLst>
              <a:gd name="adj" fmla="val 8140"/>
            </a:avLst>
          </a:prstGeom>
          <a:solidFill>
            <a:srgbClr val="FDE9E8"/>
          </a:solidFill>
          <a:ln w="12700">
            <a:solidFill>
              <a:srgbClr val="F0CFCE"/>
            </a:solidFill>
            <a:prstDash val="solid"/>
          </a:ln>
        </p:spPr>
        <p:txBody>
          <a:bodyPr/>
          <a:lstStyle/>
          <a:p>
            <a:endParaRPr lang="fr-FR" sz="1400" noProof="0" dirty="0"/>
          </a:p>
        </p:txBody>
      </p:sp>
      <p:sp>
        <p:nvSpPr>
          <p:cNvPr id="16" name="Text 14"/>
          <p:cNvSpPr txBox="1"/>
          <p:nvPr/>
        </p:nvSpPr>
        <p:spPr>
          <a:xfrm>
            <a:off x="841248" y="5862293"/>
            <a:ext cx="10506456" cy="409999"/>
          </a:xfrm>
          <a:prstGeom prst="rect">
            <a:avLst/>
          </a:prstGeom>
          <a:noFill/>
          <a:ln/>
        </p:spPr>
        <p:txBody>
          <a:bodyPr wrap="square" lIns="0" tIns="0" rIns="0" bIns="0" rtlCol="0" anchor="ctr">
            <a:noAutofit/>
          </a:bodyPr>
          <a:lstStyle/>
          <a:p>
            <a:pPr marL="0" indent="0">
              <a:lnSpc>
                <a:spcPct val="104000"/>
              </a:lnSpc>
              <a:buNone/>
            </a:pPr>
            <a:r>
              <a:rPr lang="fr-FR" sz="1162" b="1" noProof="0" dirty="0">
                <a:solidFill>
                  <a:srgbClr val="8E2531"/>
                </a:solidFill>
                <a:latin typeface="Calibri" pitchFamily="34" charset="0"/>
                <a:ea typeface="Calibri" pitchFamily="34" charset="-122"/>
                <a:cs typeface="Calibri" pitchFamily="34" charset="-120"/>
              </a:rPr>
              <a:t>⚠️ Ce n'est pas optionnel : la curiethérapie est une composante essentielle du traitement et ne doit pas être omise au seul motif qu'une radiothérapie externe a déjà été administrée. Les résultats sont nettement pires sans elle.</a:t>
            </a:r>
            <a:endParaRPr lang="fr-FR" sz="1162" noProof="0" dirty="0"/>
          </a:p>
        </p:txBody>
      </p:sp>
      <p:pic>
        <p:nvPicPr>
          <p:cNvPr id="18" name="Imagen 17">
            <a:extLst>
              <a:ext uri="{FF2B5EF4-FFF2-40B4-BE49-F238E27FC236}">
                <a16:creationId xmlns:a16="http://schemas.microsoft.com/office/drawing/2014/main" id="{5DA4BBD0-DB80-92B8-29AD-CFA9E768EBD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16039" y="1023123"/>
            <a:ext cx="4997824" cy="4764282"/>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SÉANCE 4 · TRAITEMENT</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Chimiothérapie et </a:t>
            </a:r>
            <a:r>
              <a:rPr lang="fr-FR" sz="3200" b="1" noProof="0" dirty="0" err="1">
                <a:solidFill>
                  <a:srgbClr val="10305A"/>
                </a:solidFill>
                <a:latin typeface="Cambria" pitchFamily="34" charset="0"/>
                <a:ea typeface="Cambria" pitchFamily="34" charset="-122"/>
                <a:cs typeface="Cambria" pitchFamily="34" charset="-120"/>
              </a:rPr>
              <a:t>chimioradiothérapie</a:t>
            </a:r>
            <a:endParaRPr lang="fr-FR" sz="3200" noProof="0" dirty="0"/>
          </a:p>
        </p:txBody>
      </p:sp>
      <p:sp>
        <p:nvSpPr>
          <p:cNvPr id="6" name="Shape 4"/>
          <p:cNvSpPr/>
          <p:nvPr/>
        </p:nvSpPr>
        <p:spPr>
          <a:xfrm>
            <a:off x="566928" y="1385438"/>
            <a:ext cx="5436108" cy="4335740"/>
          </a:xfrm>
          <a:prstGeom prst="roundRect">
            <a:avLst>
              <a:gd name="adj" fmla="val 236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364180"/>
            <a:ext cx="4924044"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Chimiothérapie</a:t>
            </a:r>
            <a:endParaRPr lang="fr-FR" noProof="0" dirty="0"/>
          </a:p>
        </p:txBody>
      </p:sp>
      <p:sp>
        <p:nvSpPr>
          <p:cNvPr id="8" name="Text 6"/>
          <p:cNvSpPr txBox="1"/>
          <p:nvPr/>
        </p:nvSpPr>
        <p:spPr>
          <a:xfrm>
            <a:off x="742359" y="2004260"/>
            <a:ext cx="2693430" cy="2432304"/>
          </a:xfrm>
          <a:prstGeom prst="rect">
            <a:avLst/>
          </a:prstGeom>
          <a:noFill/>
          <a:ln/>
        </p:spPr>
        <p:txBody>
          <a:bodyPr wrap="square" lIns="0" tIns="0" rIns="0" bIns="0" rtlCol="0" anchor="t">
            <a:noAutofit/>
          </a:bodyPr>
          <a:lstStyle/>
          <a:p>
            <a:pPr marL="342900" indent="-342900">
              <a:lnSpc>
                <a:spcPct val="102000"/>
              </a:lnSpc>
              <a:spcAft>
                <a:spcPts val="800"/>
              </a:spcAft>
              <a:buSzPct val="100000"/>
              <a:buChar char="•"/>
            </a:pPr>
            <a:r>
              <a:rPr lang="fr-FR" sz="1520" noProof="0" dirty="0">
                <a:solidFill>
                  <a:srgbClr val="23303F"/>
                </a:solidFill>
                <a:latin typeface="Calibri" pitchFamily="34" charset="0"/>
                <a:ea typeface="Calibri" pitchFamily="34" charset="-122"/>
                <a:cs typeface="Calibri" pitchFamily="34" charset="-120"/>
              </a:rPr>
              <a:t>Médicaments cytotoxiques qui interfèrent avec la croissance et la division des cellules cancéreuses.</a:t>
            </a:r>
            <a:endParaRPr lang="fr-FR" sz="1520" noProof="0" dirty="0"/>
          </a:p>
          <a:p>
            <a:pPr marL="342900" indent="-342900">
              <a:lnSpc>
                <a:spcPct val="102000"/>
              </a:lnSpc>
              <a:spcAft>
                <a:spcPts val="800"/>
              </a:spcAft>
              <a:buSzPct val="100000"/>
              <a:buChar char="•"/>
            </a:pPr>
            <a:r>
              <a:rPr lang="fr-FR" sz="1520" noProof="0" dirty="0">
                <a:solidFill>
                  <a:srgbClr val="23303F"/>
                </a:solidFill>
                <a:latin typeface="Calibri" pitchFamily="34" charset="0"/>
                <a:ea typeface="Calibri" pitchFamily="34" charset="-122"/>
                <a:cs typeface="Calibri" pitchFamily="34" charset="-120"/>
              </a:rPr>
              <a:t>Elle agit dans tout le corps, c'est pourquoi ses effets se font sentir dans tout le corps.</a:t>
            </a:r>
            <a:endParaRPr lang="fr-FR" sz="1520" noProof="0" dirty="0"/>
          </a:p>
          <a:p>
            <a:pPr marL="342900" indent="-342900">
              <a:lnSpc>
                <a:spcPct val="102000"/>
              </a:lnSpc>
              <a:spcAft>
                <a:spcPts val="800"/>
              </a:spcAft>
              <a:buSzPct val="100000"/>
              <a:buChar char="•"/>
            </a:pPr>
            <a:r>
              <a:rPr lang="fr-FR" sz="1520" noProof="0" dirty="0">
                <a:solidFill>
                  <a:srgbClr val="23303F"/>
                </a:solidFill>
                <a:latin typeface="Calibri" pitchFamily="34" charset="0"/>
                <a:ea typeface="Calibri" pitchFamily="34" charset="-122"/>
                <a:cs typeface="Calibri" pitchFamily="34" charset="-120"/>
              </a:rPr>
              <a:t>Elle affecte également les cellules normales qui se divisent rapidement.</a:t>
            </a:r>
            <a:endParaRPr lang="fr-FR" sz="1520" noProof="0" dirty="0"/>
          </a:p>
          <a:p>
            <a:pPr marL="342900" indent="-342900">
              <a:lnSpc>
                <a:spcPct val="102000"/>
              </a:lnSpc>
              <a:spcAft>
                <a:spcPts val="800"/>
              </a:spcAft>
              <a:buSzPct val="100000"/>
              <a:buChar char="•"/>
            </a:pPr>
            <a:r>
              <a:rPr lang="fr-FR" sz="1520" noProof="0" dirty="0">
                <a:solidFill>
                  <a:srgbClr val="23303F"/>
                </a:solidFill>
                <a:latin typeface="Calibri" pitchFamily="34" charset="0"/>
                <a:ea typeface="Calibri" pitchFamily="34" charset="-122"/>
                <a:cs typeface="Calibri" pitchFamily="34" charset="-120"/>
              </a:rPr>
              <a:t>Utilisé pour les maladies récurrentes et métastatiques, ainsi qu'en association avec la radiothérapie.</a:t>
            </a:r>
            <a:endParaRPr lang="fr-FR" sz="1520" noProof="0" dirty="0"/>
          </a:p>
        </p:txBody>
      </p:sp>
      <p:sp>
        <p:nvSpPr>
          <p:cNvPr id="9" name="Shape 7"/>
          <p:cNvSpPr/>
          <p:nvPr/>
        </p:nvSpPr>
        <p:spPr>
          <a:xfrm>
            <a:off x="6185916" y="1385438"/>
            <a:ext cx="5436108" cy="4335740"/>
          </a:xfrm>
          <a:prstGeom prst="roundRect">
            <a:avLst>
              <a:gd name="adj" fmla="val 2368"/>
            </a:avLst>
          </a:prstGeom>
          <a:solidFill>
            <a:srgbClr val="ECF3FD"/>
          </a:solidFill>
          <a:ln w="12700">
            <a:solidFill>
              <a:srgbClr val="E0E3EA"/>
            </a:solidFill>
            <a:prstDash val="solid"/>
          </a:ln>
        </p:spPr>
        <p:txBody>
          <a:bodyPr/>
          <a:lstStyle/>
          <a:p>
            <a:endParaRPr lang="fr-FR" noProof="0" dirty="0"/>
          </a:p>
        </p:txBody>
      </p:sp>
      <p:sp>
        <p:nvSpPr>
          <p:cNvPr id="10" name="Text 8"/>
          <p:cNvSpPr txBox="1"/>
          <p:nvPr/>
        </p:nvSpPr>
        <p:spPr>
          <a:xfrm>
            <a:off x="6441948" y="1364180"/>
            <a:ext cx="4924044"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a:t>
            </a:r>
            <a:r>
              <a:rPr lang="fr-FR" b="1" noProof="0" dirty="0" err="1">
                <a:solidFill>
                  <a:srgbClr val="10305A"/>
                </a:solidFill>
                <a:latin typeface="Calibri" pitchFamily="34" charset="0"/>
                <a:ea typeface="Calibri" pitchFamily="34" charset="-122"/>
                <a:cs typeface="Calibri" pitchFamily="34" charset="-120"/>
              </a:rPr>
              <a:t>Chimioradiothérapie</a:t>
            </a:r>
            <a:r>
              <a:rPr lang="fr-FR" b="1" noProof="0" dirty="0">
                <a:solidFill>
                  <a:srgbClr val="10305A"/>
                </a:solidFill>
                <a:latin typeface="Calibri" pitchFamily="34" charset="0"/>
                <a:ea typeface="Calibri" pitchFamily="34" charset="-122"/>
                <a:cs typeface="Calibri" pitchFamily="34" charset="-120"/>
              </a:rPr>
              <a:t> concomitante</a:t>
            </a:r>
            <a:endParaRPr lang="fr-FR" noProof="0" dirty="0"/>
          </a:p>
        </p:txBody>
      </p:sp>
      <p:sp>
        <p:nvSpPr>
          <p:cNvPr id="11" name="Text 9"/>
          <p:cNvSpPr txBox="1"/>
          <p:nvPr/>
        </p:nvSpPr>
        <p:spPr>
          <a:xfrm>
            <a:off x="6446013" y="2004260"/>
            <a:ext cx="2731855" cy="243230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Une chimiothérapie administrée lors d'une période de radiothérapie.</a:t>
            </a:r>
            <a:endParaRPr lang="fr-FR" sz="1600" noProof="0" dirty="0"/>
          </a:p>
          <a:p>
            <a:pPr marL="342900" indent="-342900">
              <a:lnSpc>
                <a:spcPct val="102000"/>
              </a:lnSpc>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La chimiothérapie rend la radiothérapie plus efficace contre les cellules cancéreuses.</a:t>
            </a:r>
            <a:endParaRPr lang="fr-FR" sz="1600" noProof="0" dirty="0"/>
          </a:p>
          <a:p>
            <a:pPr marL="342900" indent="-342900">
              <a:lnSpc>
                <a:spcPct val="102000"/>
              </a:lnSpc>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C'est l'approche standard pour le cancer du col de l'utérus localement avancé.</a:t>
            </a:r>
            <a:endParaRPr lang="fr-FR" sz="1600" noProof="0" dirty="0"/>
          </a:p>
          <a:p>
            <a:pPr marL="342900" indent="-342900">
              <a:lnSpc>
                <a:spcPct val="102000"/>
              </a:lnSpc>
              <a:spcAft>
                <a:spcPts val="800"/>
              </a:spcAft>
              <a:buSzPct val="100000"/>
              <a:buChar char="•"/>
            </a:pPr>
            <a:r>
              <a:rPr lang="fr-FR" sz="1600" noProof="0" dirty="0">
                <a:solidFill>
                  <a:srgbClr val="23303F"/>
                </a:solidFill>
                <a:latin typeface="Calibri" pitchFamily="34" charset="0"/>
                <a:ea typeface="Calibri" pitchFamily="34" charset="-122"/>
                <a:cs typeface="Calibri" pitchFamily="34" charset="-120"/>
              </a:rPr>
              <a:t>Terminer le cours dans les délais compte. De longues interruptions réduisent les chances de guérison.</a:t>
            </a:r>
            <a:endParaRPr lang="fr-FR" sz="1600" noProof="0" dirty="0"/>
          </a:p>
        </p:txBody>
      </p:sp>
      <p:sp>
        <p:nvSpPr>
          <p:cNvPr id="12" name="Shape 10"/>
          <p:cNvSpPr/>
          <p:nvPr/>
        </p:nvSpPr>
        <p:spPr>
          <a:xfrm>
            <a:off x="566928" y="5875924"/>
            <a:ext cx="11055096" cy="435416"/>
          </a:xfrm>
          <a:prstGeom prst="roundRect">
            <a:avLst>
              <a:gd name="adj" fmla="val 8140"/>
            </a:avLst>
          </a:prstGeom>
          <a:solidFill>
            <a:srgbClr val="EAF7F0"/>
          </a:solidFill>
          <a:ln w="12700">
            <a:solidFill>
              <a:srgbClr val="C0D4CB"/>
            </a:solidFill>
            <a:prstDash val="solid"/>
          </a:ln>
        </p:spPr>
        <p:txBody>
          <a:bodyPr/>
          <a:lstStyle/>
          <a:p>
            <a:endParaRPr lang="fr-FR" sz="1400" noProof="0" dirty="0"/>
          </a:p>
        </p:txBody>
      </p:sp>
      <p:sp>
        <p:nvSpPr>
          <p:cNvPr id="13" name="Text 11"/>
          <p:cNvSpPr txBox="1"/>
          <p:nvPr/>
        </p:nvSpPr>
        <p:spPr>
          <a:xfrm>
            <a:off x="841248" y="5881816"/>
            <a:ext cx="10506456" cy="374660"/>
          </a:xfrm>
          <a:prstGeom prst="rect">
            <a:avLst/>
          </a:prstGeom>
          <a:noFill/>
          <a:ln/>
        </p:spPr>
        <p:txBody>
          <a:bodyPr wrap="square" lIns="0" tIns="0" rIns="0" bIns="0" rtlCol="0" anchor="ctr"/>
          <a:lstStyle/>
          <a:p>
            <a:pPr marL="0" indent="0">
              <a:lnSpc>
                <a:spcPct val="104000"/>
              </a:lnSpc>
              <a:buNone/>
            </a:pPr>
            <a:r>
              <a:rPr lang="fr-FR" sz="1400" b="1" noProof="0" dirty="0">
                <a:solidFill>
                  <a:srgbClr val="19543E"/>
                </a:solidFill>
                <a:latin typeface="Calibri" pitchFamily="34" charset="0"/>
                <a:ea typeface="Calibri" pitchFamily="34" charset="-122"/>
                <a:cs typeface="Calibri" pitchFamily="34" charset="-120"/>
              </a:rPr>
              <a:t>💡 Point clé :  </a:t>
            </a:r>
            <a:r>
              <a:rPr lang="fr-FR" sz="1400" noProof="0" dirty="0">
                <a:solidFill>
                  <a:srgbClr val="23303F"/>
                </a:solidFill>
                <a:latin typeface="Calibri" pitchFamily="34" charset="0"/>
                <a:ea typeface="Calibri" pitchFamily="34" charset="-122"/>
                <a:cs typeface="Calibri" pitchFamily="34" charset="-120"/>
              </a:rPr>
              <a:t>Aider une femme à terminer son traitement est une intervention clinique, pas administrative.</a:t>
            </a:r>
            <a:endParaRPr lang="fr-FR" sz="1400" noProof="0" dirty="0"/>
          </a:p>
        </p:txBody>
      </p:sp>
      <p:pic>
        <p:nvPicPr>
          <p:cNvPr id="14" name="Imagen 13">
            <a:extLst>
              <a:ext uri="{FF2B5EF4-FFF2-40B4-BE49-F238E27FC236}">
                <a16:creationId xmlns:a16="http://schemas.microsoft.com/office/drawing/2014/main" id="{BC867FEB-352F-E4A4-E646-8FC187589FEF}"/>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l="27461" r="27859"/>
          <a:stretch>
            <a:fillRect/>
          </a:stretch>
        </p:blipFill>
        <p:spPr>
          <a:xfrm>
            <a:off x="3486589" y="1933457"/>
            <a:ext cx="2521953" cy="3386708"/>
          </a:xfrm>
          <a:prstGeom prst="rect">
            <a:avLst/>
          </a:prstGeom>
        </p:spPr>
      </p:pic>
      <p:pic>
        <p:nvPicPr>
          <p:cNvPr id="17" name="Imagen 16">
            <a:extLst>
              <a:ext uri="{FF2B5EF4-FFF2-40B4-BE49-F238E27FC236}">
                <a16:creationId xmlns:a16="http://schemas.microsoft.com/office/drawing/2014/main" id="{8ED9FCB7-97D2-4482-2C8F-170887A8EBAE}"/>
              </a:ext>
              <a:ext uri="{C183D7F6-B498-43B3-948B-1728B52AA6E4}">
                <adec:decorative xmlns:adec="http://schemas.microsoft.com/office/drawing/2017/decorative" val="1"/>
              </a:ext>
            </a:extLst>
          </p:cNvPr>
          <p:cNvPicPr>
            <a:picLocks noChangeAspect="1"/>
          </p:cNvPicPr>
          <p:nvPr/>
        </p:nvPicPr>
        <p:blipFill>
          <a:blip r:embed="rId4"/>
          <a:srcRect/>
          <a:stretch>
            <a:fillRect/>
          </a:stretch>
        </p:blipFill>
        <p:spPr>
          <a:xfrm>
            <a:off x="9286895" y="2249833"/>
            <a:ext cx="2163763" cy="2885017"/>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SÉANCE 4 · TRAITEMENT</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Thérapie ciblée et immunothérapie</a:t>
            </a:r>
            <a:endParaRPr lang="fr-FR" sz="3200" noProof="0" dirty="0"/>
          </a:p>
        </p:txBody>
      </p:sp>
      <p:sp>
        <p:nvSpPr>
          <p:cNvPr id="6" name="Shape 4"/>
          <p:cNvSpPr/>
          <p:nvPr/>
        </p:nvSpPr>
        <p:spPr>
          <a:xfrm>
            <a:off x="566928" y="1459576"/>
            <a:ext cx="3563112" cy="4125678"/>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444744"/>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Thérapie ciblée</a:t>
            </a:r>
            <a:endParaRPr lang="fr-FR" noProof="0" dirty="0"/>
          </a:p>
        </p:txBody>
      </p:sp>
      <p:sp>
        <p:nvSpPr>
          <p:cNvPr id="8" name="Text 6"/>
          <p:cNvSpPr txBox="1"/>
          <p:nvPr/>
        </p:nvSpPr>
        <p:spPr>
          <a:xfrm>
            <a:off x="822960" y="1961749"/>
            <a:ext cx="3051048" cy="1682496"/>
          </a:xfrm>
          <a:prstGeom prst="rect">
            <a:avLst/>
          </a:prstGeom>
          <a:noFill/>
          <a:ln/>
        </p:spPr>
        <p:txBody>
          <a:bodyPr wrap="square" lIns="0" tIns="0" rIns="0" bIns="0" rtlCol="0" anchor="t">
            <a:noAutofit/>
          </a:bodyPr>
          <a:lstStyle/>
          <a:p>
            <a:pPr marL="0" indent="0">
              <a:lnSpc>
                <a:spcPct val="106000"/>
              </a:lnSpc>
              <a:buNone/>
            </a:pPr>
            <a:r>
              <a:rPr lang="fr-FR" sz="1536" noProof="0" dirty="0">
                <a:solidFill>
                  <a:srgbClr val="23303F"/>
                </a:solidFill>
                <a:latin typeface="Calibri" pitchFamily="34" charset="0"/>
                <a:ea typeface="Calibri" pitchFamily="34" charset="-122"/>
                <a:cs typeface="Calibri" pitchFamily="34" charset="-120"/>
              </a:rPr>
              <a:t>Agit sur une caractéristique biologique particulière ou une voie impliquée dans la croissance du cancer, plutôt que sur les cellules en division en général.</a:t>
            </a:r>
            <a:endParaRPr lang="fr-FR" sz="1536" noProof="0" dirty="0"/>
          </a:p>
        </p:txBody>
      </p:sp>
      <p:sp>
        <p:nvSpPr>
          <p:cNvPr id="9" name="Shape 7"/>
          <p:cNvSpPr/>
          <p:nvPr/>
        </p:nvSpPr>
        <p:spPr>
          <a:xfrm>
            <a:off x="4312920" y="1459576"/>
            <a:ext cx="3563112" cy="4125678"/>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444744"/>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Immunothérapie</a:t>
            </a:r>
            <a:endParaRPr lang="fr-FR" noProof="0" dirty="0"/>
          </a:p>
        </p:txBody>
      </p:sp>
      <p:sp>
        <p:nvSpPr>
          <p:cNvPr id="11" name="Text 9"/>
          <p:cNvSpPr txBox="1"/>
          <p:nvPr/>
        </p:nvSpPr>
        <p:spPr>
          <a:xfrm>
            <a:off x="4568952" y="1961749"/>
            <a:ext cx="3051048" cy="1682496"/>
          </a:xfrm>
          <a:prstGeom prst="rect">
            <a:avLst/>
          </a:prstGeom>
          <a:noFill/>
          <a:ln/>
        </p:spPr>
        <p:txBody>
          <a:bodyPr wrap="square" lIns="0" tIns="0" rIns="0" bIns="0" rtlCol="0" anchor="t"/>
          <a:lstStyle/>
          <a:p>
            <a:pPr marL="0" indent="0">
              <a:lnSpc>
                <a:spcPct val="106000"/>
              </a:lnSpc>
              <a:buNone/>
            </a:pPr>
            <a:r>
              <a:rPr lang="fr-FR" sz="1600" noProof="0" dirty="0">
                <a:solidFill>
                  <a:srgbClr val="23303F"/>
                </a:solidFill>
                <a:latin typeface="Calibri" pitchFamily="34" charset="0"/>
                <a:ea typeface="Calibri" pitchFamily="34" charset="-122"/>
                <a:cs typeface="Calibri" pitchFamily="34" charset="-120"/>
              </a:rPr>
              <a:t>Modifie la réponse immunitaire afin que le système immunitaire puisse mieux reconnaître ou attaquer le cancer.</a:t>
            </a:r>
            <a:endParaRPr lang="fr-FR" sz="1600" noProof="0" dirty="0"/>
          </a:p>
        </p:txBody>
      </p:sp>
      <p:sp>
        <p:nvSpPr>
          <p:cNvPr id="12" name="Shape 10"/>
          <p:cNvSpPr/>
          <p:nvPr/>
        </p:nvSpPr>
        <p:spPr>
          <a:xfrm>
            <a:off x="8058912" y="1459576"/>
            <a:ext cx="3563112" cy="4125678"/>
          </a:xfrm>
          <a:prstGeom prst="roundRect">
            <a:avLst>
              <a:gd name="adj" fmla="val 3103"/>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444744"/>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Seulement dans certains cas</a:t>
            </a:r>
            <a:endParaRPr lang="fr-FR" noProof="0" dirty="0"/>
          </a:p>
        </p:txBody>
      </p:sp>
      <p:sp>
        <p:nvSpPr>
          <p:cNvPr id="14" name="Text 12"/>
          <p:cNvSpPr txBox="1"/>
          <p:nvPr/>
        </p:nvSpPr>
        <p:spPr>
          <a:xfrm>
            <a:off x="8314944" y="1961749"/>
            <a:ext cx="3051048" cy="1682496"/>
          </a:xfrm>
          <a:prstGeom prst="rect">
            <a:avLst/>
          </a:prstGeom>
          <a:noFill/>
          <a:ln/>
        </p:spPr>
        <p:txBody>
          <a:bodyPr wrap="square" lIns="0" tIns="0" rIns="0" bIns="0" rtlCol="0" anchor="t"/>
          <a:lstStyle/>
          <a:p>
            <a:pPr marL="0" indent="0">
              <a:lnSpc>
                <a:spcPct val="106000"/>
              </a:lnSpc>
              <a:buNone/>
            </a:pPr>
            <a:r>
              <a:rPr lang="fr-FR" sz="1600" noProof="0" dirty="0">
                <a:solidFill>
                  <a:srgbClr val="23303F"/>
                </a:solidFill>
                <a:latin typeface="Calibri" pitchFamily="34" charset="0"/>
                <a:ea typeface="Calibri" pitchFamily="34" charset="-122"/>
                <a:cs typeface="Calibri" pitchFamily="34" charset="-120"/>
              </a:rPr>
              <a:t>Ces traitements ne conviennent qu'à certains cancers. Ils ne sont pas des alternatives à la chirurgie ou à la chimiothérapie pour des maladies curables.</a:t>
            </a:r>
            <a:endParaRPr lang="fr-FR" sz="1600" noProof="0" dirty="0"/>
          </a:p>
        </p:txBody>
      </p:sp>
      <p:pic>
        <p:nvPicPr>
          <p:cNvPr id="17" name="Imagen 16">
            <a:extLst>
              <a:ext uri="{FF2B5EF4-FFF2-40B4-BE49-F238E27FC236}">
                <a16:creationId xmlns:a16="http://schemas.microsoft.com/office/drawing/2014/main" id="{1FC73BE5-B805-1612-9EF4-3F4D57501665}"/>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021842" y="3315812"/>
            <a:ext cx="2653284" cy="1969424"/>
          </a:xfrm>
          <a:prstGeom prst="rect">
            <a:avLst/>
          </a:prstGeom>
        </p:spPr>
      </p:pic>
      <p:pic>
        <p:nvPicPr>
          <p:cNvPr id="18" name="Imagen 17">
            <a:extLst>
              <a:ext uri="{FF2B5EF4-FFF2-40B4-BE49-F238E27FC236}">
                <a16:creationId xmlns:a16="http://schemas.microsoft.com/office/drawing/2014/main" id="{E090BFD3-B8FF-6B9D-DCD8-3AC1EFA7B66A}"/>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8541874" y="3308143"/>
            <a:ext cx="2597187" cy="1984256"/>
          </a:xfrm>
          <a:prstGeom prst="rect">
            <a:avLst/>
          </a:prstGeom>
        </p:spPr>
      </p:pic>
      <p:pic>
        <p:nvPicPr>
          <p:cNvPr id="19" name="Imagen 18">
            <a:extLst>
              <a:ext uri="{FF2B5EF4-FFF2-40B4-BE49-F238E27FC236}">
                <a16:creationId xmlns:a16="http://schemas.microsoft.com/office/drawing/2014/main" id="{FEE97E73-F24C-EEA0-1978-356B1CA76388}"/>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4825849" y="3315812"/>
            <a:ext cx="2537254" cy="1960606"/>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INTERACTIF</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Mythe ou fait : diagnostic et traitement</a:t>
            </a:r>
            <a:endParaRPr lang="fr-FR"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 Sélectionnez chaque mythe pour révéler la réponse exacte.</a:t>
            </a:r>
            <a:endParaRPr lang="fr-FR" sz="1800" noProof="0" dirty="0"/>
          </a:p>
        </p:txBody>
      </p:sp>
      <p:sp>
        <p:nvSpPr>
          <p:cNvPr id="7" name="Shape 5"/>
          <p:cNvSpPr/>
          <p:nvPr/>
        </p:nvSpPr>
        <p:spPr>
          <a:xfrm>
            <a:off x="566928" y="1965960"/>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8" name="Text 6"/>
          <p:cNvSpPr txBox="1"/>
          <p:nvPr/>
        </p:nvSpPr>
        <p:spPr>
          <a:xfrm>
            <a:off x="804672" y="2039112"/>
            <a:ext cx="4096512" cy="791249"/>
          </a:xfrm>
          <a:prstGeom prst="rect">
            <a:avLst/>
          </a:prstGeom>
          <a:noFill/>
          <a:ln/>
        </p:spPr>
        <p:txBody>
          <a:bodyPr wrap="square" lIns="0" tIns="0" rIns="0" bIns="0" rtlCol="0" anchor="ctr">
            <a:normAutofit fontScale="97000"/>
          </a:bodyP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a:t>
            </a:r>
            <a:r>
              <a:rPr lang="fr-FR" sz="1800" noProof="0" dirty="0">
                <a:solidFill>
                  <a:srgbClr val="23303F"/>
                </a:solidFill>
                <a:latin typeface="Calibri" pitchFamily="34" charset="0"/>
                <a:ea typeface="Calibri" pitchFamily="34" charset="-122"/>
                <a:cs typeface="Calibri" pitchFamily="34" charset="-120"/>
              </a:rPr>
              <a:t>: La chirurgie propage le cancer.</a:t>
            </a:r>
            <a:endParaRPr lang="fr-FR" sz="1800" noProof="0" dirty="0"/>
          </a:p>
        </p:txBody>
      </p:sp>
      <p:sp>
        <p:nvSpPr>
          <p:cNvPr id="9" name="Shape 7"/>
          <p:cNvSpPr/>
          <p:nvPr/>
        </p:nvSpPr>
        <p:spPr>
          <a:xfrm>
            <a:off x="5321808" y="1965960"/>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5559552" y="2039112"/>
            <a:ext cx="5824728" cy="791249"/>
          </a:xfrm>
          <a:prstGeom prst="rect">
            <a:avLst/>
          </a:prstGeom>
          <a:noFill/>
          <a:ln/>
        </p:spPr>
        <p:txBody>
          <a:bodyPr wrap="square" lIns="0" tIns="0" rIns="0" bIns="0" rtlCol="0" anchor="ctr">
            <a:normAutofit fontScale="94500" lnSpcReduction="100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a:t>
            </a:r>
            <a:r>
              <a:rPr lang="fr-FR" sz="1800" noProof="0" dirty="0">
                <a:solidFill>
                  <a:srgbClr val="23303F"/>
                </a:solidFill>
                <a:latin typeface="Calibri" pitchFamily="34" charset="0"/>
                <a:ea typeface="Calibri" pitchFamily="34" charset="-122"/>
                <a:cs typeface="Calibri" pitchFamily="34" charset="-120"/>
              </a:rPr>
              <a:t>: la chirurgie enlève les tissus cancéreux. Elle ne provoque pas la propagation. Cette croyance retarde un traitement qui pourrait guérir.</a:t>
            </a:r>
            <a:endParaRPr lang="fr-FR" sz="1800" noProof="0" dirty="0"/>
          </a:p>
        </p:txBody>
      </p:sp>
      <p:sp>
        <p:nvSpPr>
          <p:cNvPr id="11" name="Shape 9"/>
          <p:cNvSpPr/>
          <p:nvPr/>
        </p:nvSpPr>
        <p:spPr>
          <a:xfrm>
            <a:off x="566928" y="3046378"/>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12" name="Text 10"/>
          <p:cNvSpPr txBox="1"/>
          <p:nvPr/>
        </p:nvSpPr>
        <p:spPr>
          <a:xfrm>
            <a:off x="804672" y="3119530"/>
            <a:ext cx="4096512" cy="791249"/>
          </a:xfrm>
          <a:prstGeom prst="rect">
            <a:avLst/>
          </a:prstGeom>
          <a:noFill/>
          <a:ln/>
        </p:spPr>
        <p:txBody>
          <a:bodyPr wrap="square" lIns="0" tIns="0" rIns="0" bIns="0" rtlCol="0" anchor="ctr">
            <a:normAutofit fontScale="97000"/>
          </a:bodyP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a:t>
            </a:r>
            <a:r>
              <a:rPr lang="fr-FR" sz="1800" noProof="0" dirty="0">
                <a:solidFill>
                  <a:srgbClr val="23303F"/>
                </a:solidFill>
                <a:latin typeface="Calibri" pitchFamily="34" charset="0"/>
                <a:ea typeface="Calibri" pitchFamily="34" charset="-122"/>
                <a:cs typeface="Calibri" pitchFamily="34" charset="-120"/>
              </a:rPr>
              <a:t>Le traitement du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cause le cancer.</a:t>
            </a:r>
            <a:endParaRPr lang="fr-FR" sz="1800" noProof="0" dirty="0"/>
          </a:p>
        </p:txBody>
      </p:sp>
      <p:sp>
        <p:nvSpPr>
          <p:cNvPr id="13" name="Shape 11"/>
          <p:cNvSpPr/>
          <p:nvPr/>
        </p:nvSpPr>
        <p:spPr>
          <a:xfrm>
            <a:off x="5321808" y="3046378"/>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5559552" y="3119530"/>
            <a:ext cx="5824728" cy="791249"/>
          </a:xfrm>
          <a:prstGeom prst="rect">
            <a:avLst/>
          </a:prstGeom>
          <a:noFill/>
          <a:ln/>
        </p:spPr>
        <p:txBody>
          <a:bodyPr wrap="square" lIns="0" tIns="0" rIns="0" bIns="0" rtlCol="0" anchor="ctr">
            <a:normAutofit fontScale="945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a:t>
            </a:r>
            <a:r>
              <a:rPr lang="fr-FR" sz="1800" noProof="0" dirty="0">
                <a:solidFill>
                  <a:srgbClr val="23303F"/>
                </a:solidFill>
                <a:latin typeface="Calibri" pitchFamily="34" charset="0"/>
                <a:ea typeface="Calibri" pitchFamily="34" charset="-122"/>
                <a:cs typeface="Calibri" pitchFamily="34" charset="-120"/>
              </a:rPr>
              <a:t>: Traiter le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élimine ou détruit les cellules anormales et empêche le développement du cancer.</a:t>
            </a:r>
            <a:endParaRPr lang="fr-FR" sz="1800" noProof="0" dirty="0"/>
          </a:p>
        </p:txBody>
      </p:sp>
      <p:sp>
        <p:nvSpPr>
          <p:cNvPr id="15" name="Shape 13"/>
          <p:cNvSpPr/>
          <p:nvPr/>
        </p:nvSpPr>
        <p:spPr>
          <a:xfrm>
            <a:off x="566928" y="4126797"/>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16" name="Text 14"/>
          <p:cNvSpPr txBox="1"/>
          <p:nvPr/>
        </p:nvSpPr>
        <p:spPr>
          <a:xfrm>
            <a:off x="804672" y="4199949"/>
            <a:ext cx="4096512" cy="791249"/>
          </a:xfrm>
          <a:prstGeom prst="rect">
            <a:avLst/>
          </a:prstGeom>
          <a:noFill/>
          <a:ln/>
        </p:spPr>
        <p:txBody>
          <a:bodyPr wrap="square" lIns="0" tIns="0" rIns="0" bIns="0" rtlCol="0" anchor="ctr">
            <a:normAutofit fontScale="97000" lnSpcReduction="10000"/>
          </a:bodyP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Une fois le cancer du col de l'utérus diagnostiqué, on ne peut plus rien faire.</a:t>
            </a:r>
            <a:endParaRPr lang="fr-FR" sz="1800" noProof="0" dirty="0"/>
          </a:p>
        </p:txBody>
      </p:sp>
      <p:sp>
        <p:nvSpPr>
          <p:cNvPr id="17" name="Shape 15"/>
          <p:cNvSpPr/>
          <p:nvPr/>
        </p:nvSpPr>
        <p:spPr>
          <a:xfrm>
            <a:off x="5321808" y="4126797"/>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18" name="Text 16"/>
          <p:cNvSpPr txBox="1"/>
          <p:nvPr/>
        </p:nvSpPr>
        <p:spPr>
          <a:xfrm>
            <a:off x="5559552" y="4199949"/>
            <a:ext cx="5824728" cy="791249"/>
          </a:xfrm>
          <a:prstGeom prst="rect">
            <a:avLst/>
          </a:prstGeom>
          <a:noFill/>
          <a:ln/>
        </p:spPr>
        <p:txBody>
          <a:bodyPr wrap="square" lIns="0" tIns="0" rIns="0" bIns="0" rtlCol="0" anchor="ctr">
            <a:normAutofit fontScale="94500" lnSpcReduction="100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a:t>
            </a:r>
            <a:r>
              <a:rPr lang="fr-FR" sz="1800" noProof="0" dirty="0">
                <a:solidFill>
                  <a:srgbClr val="23303F"/>
                </a:solidFill>
                <a:latin typeface="Calibri" pitchFamily="34" charset="0"/>
                <a:ea typeface="Calibri" pitchFamily="34" charset="-122"/>
                <a:cs typeface="Calibri" pitchFamily="34" charset="-120"/>
              </a:rPr>
              <a:t>: Le cancer du col de l'utérus précoce est traité avec l'intention de guérir, et les maladies avancées peuvent être traitées pour contrôler les symptômes et prolonger la vie.</a:t>
            </a:r>
            <a:endParaRPr lang="fr-FR" sz="1800" noProof="0" dirty="0"/>
          </a:p>
        </p:txBody>
      </p:sp>
      <p:sp>
        <p:nvSpPr>
          <p:cNvPr id="19" name="Shape 17"/>
          <p:cNvSpPr/>
          <p:nvPr/>
        </p:nvSpPr>
        <p:spPr>
          <a:xfrm>
            <a:off x="566928" y="5207215"/>
            <a:ext cx="4572000" cy="937553"/>
          </a:xfrm>
          <a:prstGeom prst="roundRect">
            <a:avLst>
              <a:gd name="adj" fmla="val 6827"/>
            </a:avLst>
          </a:prstGeom>
          <a:solidFill>
            <a:srgbClr val="FDE9E8"/>
          </a:solidFill>
          <a:ln w="12700">
            <a:solidFill>
              <a:srgbClr val="F0CFCE"/>
            </a:solidFill>
            <a:prstDash val="solid"/>
          </a:ln>
        </p:spPr>
        <p:txBody>
          <a:bodyPr/>
          <a:lstStyle/>
          <a:p>
            <a:endParaRPr lang="fr-FR" noProof="0" dirty="0"/>
          </a:p>
        </p:txBody>
      </p:sp>
      <p:sp>
        <p:nvSpPr>
          <p:cNvPr id="20" name="Text 18"/>
          <p:cNvSpPr txBox="1"/>
          <p:nvPr/>
        </p:nvSpPr>
        <p:spPr>
          <a:xfrm>
            <a:off x="804672" y="5280367"/>
            <a:ext cx="4096512" cy="791249"/>
          </a:xfrm>
          <a:prstGeom prst="rect">
            <a:avLst/>
          </a:prstGeom>
          <a:noFill/>
          <a:ln/>
        </p:spPr>
        <p:txBody>
          <a:bodyPr wrap="square" lIns="0" tIns="0" rIns="0" bIns="0" rtlCol="0" anchor="ctr">
            <a:normAutofit fontScale="97000"/>
          </a:bodyPr>
          <a:lstStyle/>
          <a:p>
            <a:pPr marL="0" indent="0">
              <a:lnSpc>
                <a:spcPct val="104000"/>
              </a:lnSpc>
              <a:buNone/>
            </a:pPr>
            <a:r>
              <a:rPr lang="fr-FR" sz="1800" b="1" noProof="0" dirty="0">
                <a:solidFill>
                  <a:srgbClr val="8E2531"/>
                </a:solidFill>
                <a:latin typeface="Calibri" pitchFamily="34" charset="0"/>
                <a:ea typeface="Calibri" pitchFamily="34" charset="-122"/>
                <a:cs typeface="Calibri" pitchFamily="34" charset="-120"/>
              </a:rPr>
              <a:t>❌ Mythe  : </a:t>
            </a:r>
            <a:r>
              <a:rPr lang="fr-FR" sz="1800" noProof="0" dirty="0">
                <a:solidFill>
                  <a:srgbClr val="23303F"/>
                </a:solidFill>
                <a:latin typeface="Calibri" pitchFamily="34" charset="0"/>
                <a:ea typeface="Calibri" pitchFamily="34" charset="-122"/>
                <a:cs typeface="Calibri" pitchFamily="34" charset="-120"/>
              </a:rPr>
              <a:t>Pas de symptômes signifie pas de cancer.</a:t>
            </a:r>
            <a:endParaRPr lang="fr-FR" sz="1800" noProof="0" dirty="0"/>
          </a:p>
        </p:txBody>
      </p:sp>
      <p:sp>
        <p:nvSpPr>
          <p:cNvPr id="21" name="Shape 19"/>
          <p:cNvSpPr/>
          <p:nvPr/>
        </p:nvSpPr>
        <p:spPr>
          <a:xfrm>
            <a:off x="5321808" y="5207215"/>
            <a:ext cx="6300216" cy="937553"/>
          </a:xfrm>
          <a:prstGeom prst="roundRect">
            <a:avLst>
              <a:gd name="adj" fmla="val 6827"/>
            </a:avLst>
          </a:prstGeom>
          <a:solidFill>
            <a:srgbClr val="EAF7F0"/>
          </a:solidFill>
          <a:ln w="12700">
            <a:solidFill>
              <a:srgbClr val="C0D4CB"/>
            </a:solidFill>
            <a:prstDash val="solid"/>
          </a:ln>
        </p:spPr>
        <p:txBody>
          <a:bodyPr/>
          <a:lstStyle/>
          <a:p>
            <a:endParaRPr lang="fr-FR" noProof="0" dirty="0"/>
          </a:p>
        </p:txBody>
      </p:sp>
      <p:sp>
        <p:nvSpPr>
          <p:cNvPr id="22" name="Text 20"/>
          <p:cNvSpPr txBox="1"/>
          <p:nvPr/>
        </p:nvSpPr>
        <p:spPr>
          <a:xfrm>
            <a:off x="5559552" y="5280367"/>
            <a:ext cx="5824728" cy="791249"/>
          </a:xfrm>
          <a:prstGeom prst="rect">
            <a:avLst/>
          </a:prstGeom>
          <a:noFill/>
          <a:ln/>
        </p:spPr>
        <p:txBody>
          <a:bodyPr wrap="square" lIns="0" tIns="0" rIns="0" bIns="0" rtlCol="0" anchor="ctr">
            <a:normAutofit fontScale="94500" lnSpcReduction="10000"/>
          </a:bodyP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Fait   </a:t>
            </a:r>
            <a:r>
              <a:rPr lang="fr-FR" sz="1800" noProof="0" dirty="0">
                <a:solidFill>
                  <a:srgbClr val="23303F"/>
                </a:solidFill>
                <a:latin typeface="Calibri" pitchFamily="34" charset="0"/>
                <a:ea typeface="Calibri" pitchFamily="34" charset="-122"/>
                <a:cs typeface="Calibri" pitchFamily="34" charset="-120"/>
              </a:rPr>
              <a:t>: Le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du col de l'utérus et le cancer précoce du col de l'utérus sont généralement complètement silencieux. C'est pourquoi le dépistage existe.</a:t>
            </a:r>
            <a:endParaRPr lang="fr-FR" sz="1800" noProof="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1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cancer du col de l'utérus invasif est confirmé par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 test HPV</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Inspection visuelle avec acide acétique</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Biopsie et histopathologie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Tomographie par ordinateur</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 </a:t>
            </a:r>
            <a:r>
              <a:rPr lang="fr-FR" sz="1800" noProof="0" dirty="0">
                <a:solidFill>
                  <a:srgbClr val="23303F"/>
                </a:solidFill>
                <a:latin typeface="Calibri" pitchFamily="34" charset="0"/>
                <a:ea typeface="Calibri" pitchFamily="34" charset="-122"/>
                <a:cs typeface="Calibri" pitchFamily="34" charset="-120"/>
              </a:rPr>
              <a:t>Les tissus examinés au microscope confirment le diagnostic et indiquent le type de cancer. Les tests de dépistage et l'imagerie augmentent ou réduisent les soupçons et décrivent l'étendue, mais ne confirment pas le cancer.</a:t>
            </a:r>
            <a:endParaRPr lang="fr-FR" sz="1800" noProof="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2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a cinq mois de saignements post-</a:t>
            </a:r>
            <a:r>
              <a:rPr lang="fr-FR" sz="2000" b="1" noProof="0" dirty="0" err="1">
                <a:solidFill>
                  <a:srgbClr val="23303F"/>
                </a:solidFill>
                <a:latin typeface="Calibri" pitchFamily="34" charset="0"/>
                <a:ea typeface="Calibri" pitchFamily="34" charset="-122"/>
                <a:cs typeface="Calibri" pitchFamily="34" charset="-120"/>
              </a:rPr>
              <a:t>coïtals</a:t>
            </a:r>
            <a:r>
              <a:rPr lang="fr-FR" sz="2000" b="1" noProof="0" dirty="0">
                <a:solidFill>
                  <a:srgbClr val="23303F"/>
                </a:solidFill>
                <a:latin typeface="Calibri" pitchFamily="34" charset="0"/>
                <a:ea typeface="Calibri" pitchFamily="34" charset="-122"/>
                <a:cs typeface="Calibri" pitchFamily="34" charset="-120"/>
              </a:rPr>
              <a:t>. Son col de l'utérus semble normal. Cela signifie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Le cancer est exclu</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Le cancer n'est pas exclu et l'évaluation doit se poursuivre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Aucune orientation n'est nécessaire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Le test de dépistage est désormais suffisant</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Un col de l'utérus à l'apparence normale n'exclut pas le cancer du col de l'utérus, et le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est invisible à l'œil nu. Les symptômes persistants sont évalués selon leurs propres mérites.</a:t>
            </a:r>
            <a:endParaRPr lang="fr-FR" sz="1800" noProof="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3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Pourquoi la curiethérapie est-elle importante dans le traitement du cancer du col de l'utérus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Il remplace la chirurgie dans tous les cas</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Il est uniquement utilisé pour le contrôle des symptômes</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C'est un type de chimiothérapie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Il administre une dose élevée près de la tumeur et est essentiel au traitement curatif</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a:t>
            </a:r>
            <a:r>
              <a:rPr lang="fr-FR" sz="1800" noProof="0" dirty="0">
                <a:solidFill>
                  <a:srgbClr val="23303F"/>
                </a:solidFill>
                <a:latin typeface="Calibri" pitchFamily="34" charset="0"/>
                <a:ea typeface="Calibri" pitchFamily="34" charset="-122"/>
                <a:cs typeface="Calibri" pitchFamily="34" charset="-120"/>
              </a:rPr>
              <a:t>La curiethérapie place la source de radiation près ou à l'intérieur du col de l'utérus, administrant une dose élevée à la tumeur tout en épargnant les tissus environnants. Les taux de guérison diminuent considérablement lorsqu'elle n'est pas délivrée.</a:t>
            </a:r>
            <a:endParaRPr lang="fr-FR" sz="1800" noProof="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4 sur 5</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La chimiothérapie diffère de la chirurgie et de la radiothérapie car elle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Agit uniquement au site de la tumeur</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Agit dans tout le corps</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Ne nécessite aucune surveillance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Est toujours administrée en premier</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La chimiothérapie est systémique. C'est pourquoi ses effets, notamment la fatigue, les nausées et les faibles taux de globules sanguins, se font sentir dans tout le corps et non seulement au site tumeur.</a:t>
            </a:r>
            <a:endParaRPr lang="fr-FR" sz="1800" noProof="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5 sur 5</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a peur qu'un traitement signifie qu'elle ne pourra jamais avoir d'enfants. La réponse exacte est :</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Tout le monde perd la fertilité</a:t>
            </a:r>
            <a:endParaRPr lang="fr-FR"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Personne ne perd sa fertilité</a:t>
            </a:r>
            <a:endParaRPr lang="fr-FR" sz="1800" noProof="0" dirty="0"/>
          </a:p>
        </p:txBody>
      </p:sp>
      <p:sp>
        <p:nvSpPr>
          <p:cNvPr id="11" name="Shape 9"/>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Le traitement précancéreux conserve l'utérus ; pour le cancer, cela dépend du stade, donc discutez-en tôt</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Le spécialiste décide sans discuter</a:t>
            </a:r>
            <a:endParaRPr lang="fr-FR"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 </a:t>
            </a:r>
            <a:r>
              <a:rPr lang="fr-FR" sz="1800" noProof="0" dirty="0">
                <a:solidFill>
                  <a:srgbClr val="23303F"/>
                </a:solidFill>
                <a:latin typeface="Calibri" pitchFamily="34" charset="0"/>
                <a:ea typeface="Calibri" pitchFamily="34" charset="-122"/>
                <a:cs typeface="Calibri" pitchFamily="34" charset="-120"/>
              </a:rPr>
              <a:t>La peur de l'infertilité est l'une des raisons les plus fréquentes pour lesquelles les femmes abandonnent les soins. Le traitement du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préserve la fertilité. Pour le cancer invasif, la réponse honnête dépend du stade et doit être évaluée tôt, pas après le début du traitement.</a:t>
            </a:r>
            <a:endParaRPr lang="fr-FR" sz="1800" noProof="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Points clés</a:t>
            </a:r>
            <a:endParaRPr lang="fr-FR" sz="3200" noProof="0" dirty="0"/>
          </a:p>
        </p:txBody>
      </p:sp>
      <p:sp>
        <p:nvSpPr>
          <p:cNvPr id="6" name="Shape 4"/>
          <p:cNvSpPr/>
          <p:nvPr/>
        </p:nvSpPr>
        <p:spPr>
          <a:xfrm>
            <a:off x="566928" y="1719072"/>
            <a:ext cx="11055096" cy="787179"/>
          </a:xfrm>
          <a:prstGeom prst="roundRect">
            <a:avLst>
              <a:gd name="adj" fmla="val 8131"/>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719072"/>
            <a:ext cx="548640" cy="787179"/>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773936"/>
            <a:ext cx="9866376" cy="677451"/>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Seule l'histopathologie confirme un cancer du col de l'utérus invasif. Tout le reste suscite ou diminue les soupçons.</a:t>
            </a:r>
            <a:endParaRPr lang="fr-FR" sz="1800" noProof="0" dirty="0"/>
          </a:p>
        </p:txBody>
      </p:sp>
      <p:sp>
        <p:nvSpPr>
          <p:cNvPr id="9" name="Shape 7"/>
          <p:cNvSpPr/>
          <p:nvPr/>
        </p:nvSpPr>
        <p:spPr>
          <a:xfrm>
            <a:off x="566928" y="2628701"/>
            <a:ext cx="11055096" cy="787179"/>
          </a:xfrm>
          <a:prstGeom prst="roundRect">
            <a:avLst>
              <a:gd name="adj" fmla="val 8131"/>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628701"/>
            <a:ext cx="548640" cy="787179"/>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2683565"/>
            <a:ext cx="9866376" cy="677451"/>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Un col de l'utérus d'apparence normale n'exclut pas le cancer chez une femme présentant des symptômes persistants.</a:t>
            </a:r>
            <a:endParaRPr lang="fr-FR" sz="1800" noProof="0" dirty="0"/>
          </a:p>
        </p:txBody>
      </p:sp>
      <p:sp>
        <p:nvSpPr>
          <p:cNvPr id="12" name="Shape 10"/>
          <p:cNvSpPr/>
          <p:nvPr/>
        </p:nvSpPr>
        <p:spPr>
          <a:xfrm>
            <a:off x="566928" y="3538330"/>
            <a:ext cx="11055096" cy="787179"/>
          </a:xfrm>
          <a:prstGeom prst="roundRect">
            <a:avLst>
              <a:gd name="adj" fmla="val 8131"/>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538330"/>
            <a:ext cx="548640" cy="787179"/>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3593194"/>
            <a:ext cx="9866376" cy="677451"/>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La chirurgie et la radiothérapie agissent localement. La chimiothérapie agit dans tout le corps.</a:t>
            </a:r>
            <a:endParaRPr lang="fr-FR" sz="1800" noProof="0" dirty="0"/>
          </a:p>
        </p:txBody>
      </p:sp>
      <p:sp>
        <p:nvSpPr>
          <p:cNvPr id="15" name="Shape 13"/>
          <p:cNvSpPr/>
          <p:nvPr/>
        </p:nvSpPr>
        <p:spPr>
          <a:xfrm>
            <a:off x="566928" y="4447960"/>
            <a:ext cx="11055096" cy="787179"/>
          </a:xfrm>
          <a:prstGeom prst="roundRect">
            <a:avLst>
              <a:gd name="adj" fmla="val 8131"/>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4447960"/>
            <a:ext cx="548640" cy="787179"/>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4502824"/>
            <a:ext cx="9866376" cy="677451"/>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La Curiethérapie est une composante essentielle de la radiothérapie curative pour de nombreux cancers du col de l'utérus localement avancés.</a:t>
            </a:r>
            <a:endParaRPr lang="fr-FR" sz="1800" noProof="0" dirty="0"/>
          </a:p>
        </p:txBody>
      </p:sp>
      <p:sp>
        <p:nvSpPr>
          <p:cNvPr id="18" name="Shape 16"/>
          <p:cNvSpPr/>
          <p:nvPr/>
        </p:nvSpPr>
        <p:spPr>
          <a:xfrm>
            <a:off x="566928" y="5357589"/>
            <a:ext cx="11055096" cy="787179"/>
          </a:xfrm>
          <a:prstGeom prst="roundRect">
            <a:avLst>
              <a:gd name="adj" fmla="val 8131"/>
            </a:avLst>
          </a:prstGeom>
          <a:solidFill>
            <a:srgbClr val="F3F6FB"/>
          </a:solidFill>
          <a:ln w="12700">
            <a:solidFill>
              <a:srgbClr val="E0E3EA"/>
            </a:solidFill>
            <a:prstDash val="solid"/>
          </a:ln>
        </p:spPr>
        <p:txBody>
          <a:bodyPr/>
          <a:lstStyle/>
          <a:p>
            <a:endParaRPr lang="fr-FR" noProof="0" dirty="0"/>
          </a:p>
        </p:txBody>
      </p:sp>
      <p:sp>
        <p:nvSpPr>
          <p:cNvPr id="19" name="Text 17"/>
          <p:cNvSpPr txBox="1"/>
          <p:nvPr/>
        </p:nvSpPr>
        <p:spPr>
          <a:xfrm>
            <a:off x="786384" y="5357589"/>
            <a:ext cx="548640" cy="787179"/>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20" name="Text 18"/>
          <p:cNvSpPr txBox="1"/>
          <p:nvPr/>
        </p:nvSpPr>
        <p:spPr>
          <a:xfrm>
            <a:off x="1463040" y="5412453"/>
            <a:ext cx="9866376" cy="677451"/>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La fertilité, le coût et les déplacements doivent être discutés avant le début du traitement, pas après.</a:t>
            </a:r>
            <a:endParaRPr lang="fr-FR" sz="1800" noProof="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159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4</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Réflexion</a:t>
            </a:r>
            <a:endParaRPr lang="fr-FR"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Instruction de l'apprenant : Saisissez votre réponse dans la boîte de texte. Ces réponses ne sont pas notées.</a:t>
            </a:r>
            <a:endParaRPr lang="fr-FR" sz="1800" noProof="0" dirty="0"/>
          </a:p>
        </p:txBody>
      </p:sp>
      <p:sp>
        <p:nvSpPr>
          <p:cNvPr id="7" name="Shape 5"/>
          <p:cNvSpPr/>
          <p:nvPr/>
        </p:nvSpPr>
        <p:spPr>
          <a:xfrm>
            <a:off x="566928" y="2084832"/>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41248" y="248412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41248" y="248412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1</a:t>
            </a:r>
            <a:endParaRPr lang="fr-FR" sz="1500" noProof="0" dirty="0"/>
          </a:p>
        </p:txBody>
      </p:sp>
      <p:sp>
        <p:nvSpPr>
          <p:cNvPr id="10" name="Text 8"/>
          <p:cNvSpPr txBox="1"/>
          <p:nvPr/>
        </p:nvSpPr>
        <p:spPr>
          <a:xfrm>
            <a:off x="1517904" y="2157984"/>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Comment expliqueriez-vous une colposcopie et une biopsie, en termes simples, à une femme qui n'a jamais entendu parler de l'un ou l'autre ?</a:t>
            </a:r>
            <a:endParaRPr lang="fr-FR" sz="1800" noProof="0" dirty="0"/>
          </a:p>
        </p:txBody>
      </p:sp>
      <p:sp>
        <p:nvSpPr>
          <p:cNvPr id="11" name="Shape 9"/>
          <p:cNvSpPr/>
          <p:nvPr/>
        </p:nvSpPr>
        <p:spPr>
          <a:xfrm>
            <a:off x="566928" y="3486912"/>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41248" y="388620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41248" y="388620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2</a:t>
            </a:r>
            <a:endParaRPr lang="fr-FR" sz="1500" noProof="0" dirty="0"/>
          </a:p>
        </p:txBody>
      </p:sp>
      <p:sp>
        <p:nvSpPr>
          <p:cNvPr id="14" name="Text 12"/>
          <p:cNvSpPr txBox="1"/>
          <p:nvPr/>
        </p:nvSpPr>
        <p:spPr>
          <a:xfrm>
            <a:off x="1517904" y="3560064"/>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Comment décririez-vous la différence entre un traitement qui agit localement et un traitement qui agit dans tout le corps ?</a:t>
            </a:r>
            <a:endParaRPr lang="fr-FR" sz="1800" noProof="0" dirty="0"/>
          </a:p>
        </p:txBody>
      </p:sp>
      <p:sp>
        <p:nvSpPr>
          <p:cNvPr id="15" name="Shape 13"/>
          <p:cNvSpPr/>
          <p:nvPr/>
        </p:nvSpPr>
        <p:spPr>
          <a:xfrm>
            <a:off x="566928" y="4888992"/>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41248" y="528828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41248" y="528828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3</a:t>
            </a:r>
            <a:endParaRPr lang="fr-FR" sz="1500" noProof="0" dirty="0"/>
          </a:p>
        </p:txBody>
      </p:sp>
      <p:sp>
        <p:nvSpPr>
          <p:cNvPr id="18" name="Text 16"/>
          <p:cNvSpPr txBox="1"/>
          <p:nvPr/>
        </p:nvSpPr>
        <p:spPr>
          <a:xfrm>
            <a:off x="1517904" y="4962144"/>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Quelle idée reçue sur le cancer du col de l'utérus voudriez-vous le plus corriger dans votre contexte, et comment vous y prendriez-vous ?</a:t>
            </a:r>
            <a:endParaRPr lang="fr-FR" sz="1800" noProof="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38">
    <p:bg>
      <p:bgPr>
        <a:solidFill>
          <a:srgbClr val="0E2F5C"/>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8FA3C2"/>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8FA3C2"/>
                </a:solidFill>
                <a:latin typeface="Calibri" pitchFamily="34" charset="0"/>
                <a:ea typeface="Calibri" pitchFamily="34" charset="-122"/>
                <a:cs typeface="Calibri" pitchFamily="34" charset="-120"/>
              </a:rPr>
              <a:t>Écran 160</a:t>
            </a:r>
            <a:endParaRPr lang="fr-FR" sz="1100" noProof="0" dirty="0"/>
          </a:p>
        </p:txBody>
      </p:sp>
      <p:sp>
        <p:nvSpPr>
          <p:cNvPr id="4" name="Text 2"/>
          <p:cNvSpPr txBox="1"/>
          <p:nvPr/>
        </p:nvSpPr>
        <p:spPr>
          <a:xfrm>
            <a:off x="7680960" y="365760"/>
            <a:ext cx="4023360" cy="5852160"/>
          </a:xfrm>
          <a:prstGeom prst="rect">
            <a:avLst/>
          </a:prstGeom>
          <a:noFill/>
          <a:ln/>
        </p:spPr>
        <p:txBody>
          <a:bodyPr wrap="square" lIns="0" tIns="0" rIns="0" bIns="0" rtlCol="0" anchor="ctr"/>
          <a:lstStyle/>
          <a:p>
            <a:pPr marL="0" indent="0" algn="r">
              <a:buNone/>
            </a:pPr>
            <a:r>
              <a:rPr lang="fr-FR" sz="30000" b="1" noProof="0" dirty="0">
                <a:solidFill>
                  <a:srgbClr val="16406F"/>
                </a:solidFill>
                <a:latin typeface="Cambria" pitchFamily="34" charset="0"/>
                <a:ea typeface="Cambria" pitchFamily="34" charset="-122"/>
                <a:cs typeface="Cambria" pitchFamily="34" charset="-120"/>
              </a:rPr>
              <a:t>5</a:t>
            </a:r>
            <a:endParaRPr lang="fr-FR" sz="30000" noProof="0" dirty="0"/>
          </a:p>
        </p:txBody>
      </p:sp>
      <p:sp>
        <p:nvSpPr>
          <p:cNvPr id="5" name="Text 3"/>
          <p:cNvSpPr txBox="1"/>
          <p:nvPr/>
        </p:nvSpPr>
        <p:spPr>
          <a:xfrm>
            <a:off x="566928" y="1874520"/>
            <a:ext cx="7315200" cy="329184"/>
          </a:xfrm>
          <a:prstGeom prst="rect">
            <a:avLst/>
          </a:prstGeom>
          <a:noFill/>
          <a:ln/>
        </p:spPr>
        <p:txBody>
          <a:bodyPr wrap="square" lIns="0" tIns="0" rIns="0" bIns="0" rtlCol="0" anchor="ctr"/>
          <a:lstStyle/>
          <a:p>
            <a:pPr marL="0" indent="0">
              <a:buNone/>
            </a:pPr>
            <a:r>
              <a:rPr lang="fr-FR" sz="1300" b="1" kern="0" spc="300" noProof="0" dirty="0">
                <a:solidFill>
                  <a:srgbClr val="9FB8DA"/>
                </a:solidFill>
                <a:latin typeface="Calibri" pitchFamily="34" charset="0"/>
                <a:ea typeface="Calibri" pitchFamily="34" charset="-122"/>
                <a:cs typeface="Calibri" pitchFamily="34" charset="-120"/>
              </a:rPr>
              <a:t>S E S S I O N 5</a:t>
            </a:r>
            <a:endParaRPr lang="fr-FR" sz="1300" noProof="0" dirty="0"/>
          </a:p>
        </p:txBody>
      </p:sp>
      <p:sp>
        <p:nvSpPr>
          <p:cNvPr id="6" name="Text 4"/>
          <p:cNvSpPr txBox="1"/>
          <p:nvPr/>
        </p:nvSpPr>
        <p:spPr>
          <a:xfrm>
            <a:off x="566928" y="2286000"/>
            <a:ext cx="7680960" cy="1371600"/>
          </a:xfrm>
          <a:prstGeom prst="rect">
            <a:avLst/>
          </a:prstGeom>
          <a:noFill/>
          <a:ln/>
        </p:spPr>
        <p:txBody>
          <a:bodyPr wrap="square" lIns="0" tIns="0" rIns="0" bIns="0" rtlCol="0" anchor="ctr"/>
          <a:lstStyle/>
          <a:p>
            <a:pPr marL="0" indent="0">
              <a:buNone/>
            </a:pPr>
            <a:r>
              <a:rPr lang="fr-FR" sz="4000" b="1" noProof="0" dirty="0">
                <a:solidFill>
                  <a:srgbClr val="FFFFFF"/>
                </a:solidFill>
                <a:latin typeface="Cambria" pitchFamily="34" charset="0"/>
                <a:ea typeface="Cambria" pitchFamily="34" charset="-122"/>
                <a:cs typeface="Cambria" pitchFamily="34" charset="-120"/>
              </a:rPr>
              <a:t>Traitement de soutien</a:t>
            </a:r>
            <a:endParaRPr lang="fr-FR" sz="4000" noProof="0" dirty="0"/>
          </a:p>
        </p:txBody>
      </p:sp>
      <p:sp>
        <p:nvSpPr>
          <p:cNvPr id="7" name="Text 5"/>
          <p:cNvSpPr txBox="1"/>
          <p:nvPr/>
        </p:nvSpPr>
        <p:spPr>
          <a:xfrm>
            <a:off x="566928" y="3794760"/>
            <a:ext cx="7040880" cy="1463040"/>
          </a:xfrm>
          <a:prstGeom prst="rect">
            <a:avLst/>
          </a:prstGeom>
          <a:noFill/>
          <a:ln/>
        </p:spPr>
        <p:txBody>
          <a:bodyPr wrap="square" lIns="0" tIns="0" rIns="0" bIns="0" rtlCol="0" anchor="t"/>
          <a:lstStyle/>
          <a:p>
            <a:pPr marL="0" indent="0">
              <a:lnSpc>
                <a:spcPct val="118000"/>
              </a:lnSpc>
              <a:buNone/>
            </a:pPr>
            <a:r>
              <a:rPr lang="fr-FR" sz="1800" noProof="0" dirty="0">
                <a:solidFill>
                  <a:srgbClr val="C6D5EA"/>
                </a:solidFill>
                <a:latin typeface="Calibri" pitchFamily="34" charset="0"/>
                <a:ea typeface="Calibri" pitchFamily="34" charset="-122"/>
                <a:cs typeface="Calibri" pitchFamily="34" charset="-120"/>
              </a:rPr>
              <a:t>Soutenez les femmes tout au long du traitement et au-delà : reconnaissez les effets, sachez quels nécessitent des soins urgents, protégez le bien-être sexuel et reproductif, et maintenez la dignité au centre.</a:t>
            </a:r>
            <a:endParaRPr lang="fr-FR" sz="1800" noProof="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161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Objectifs d'apprentissage</a:t>
            </a:r>
            <a:endParaRPr lang="fr-FR" sz="3200" noProof="0" dirty="0"/>
          </a:p>
        </p:txBody>
      </p:sp>
      <p:sp>
        <p:nvSpPr>
          <p:cNvPr id="6" name="Text 4"/>
          <p:cNvSpPr txBox="1"/>
          <p:nvPr/>
        </p:nvSpPr>
        <p:spPr>
          <a:xfrm>
            <a:off x="566928" y="1554480"/>
            <a:ext cx="11055096" cy="384048"/>
          </a:xfrm>
          <a:prstGeom prst="rect">
            <a:avLst/>
          </a:prstGeom>
          <a:noFill/>
          <a:ln/>
        </p:spPr>
        <p:txBody>
          <a:bodyPr wrap="square" lIns="0" tIns="0" rIns="0" bIns="0" rtlCol="0" anchor="ctr"/>
          <a:lstStyle/>
          <a:p>
            <a:pPr marL="0" indent="0">
              <a:buNone/>
            </a:pPr>
            <a:r>
              <a:rPr lang="fr-FR" sz="1800" noProof="0" dirty="0">
                <a:solidFill>
                  <a:srgbClr val="23303F"/>
                </a:solidFill>
                <a:latin typeface="Calibri" pitchFamily="34" charset="0"/>
                <a:ea typeface="Calibri" pitchFamily="34" charset="-122"/>
                <a:cs typeface="Calibri" pitchFamily="34" charset="-120"/>
              </a:rPr>
              <a:t>À la fin de cette session, vous serez en mesure de :</a:t>
            </a:r>
            <a:endParaRPr lang="fr-FR" sz="1800" noProof="0" dirty="0"/>
          </a:p>
        </p:txBody>
      </p:sp>
      <p:sp>
        <p:nvSpPr>
          <p:cNvPr id="7" name="Shape 5"/>
          <p:cNvSpPr/>
          <p:nvPr/>
        </p:nvSpPr>
        <p:spPr>
          <a:xfrm>
            <a:off x="566928" y="1975104"/>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04672" y="2069889"/>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04672" y="2069889"/>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1</a:t>
            </a:r>
            <a:endParaRPr lang="fr-FR" sz="1400" noProof="0" dirty="0"/>
          </a:p>
        </p:txBody>
      </p:sp>
      <p:sp>
        <p:nvSpPr>
          <p:cNvPr id="10" name="Text 8"/>
          <p:cNvSpPr txBox="1"/>
          <p:nvPr/>
        </p:nvSpPr>
        <p:spPr>
          <a:xfrm>
            <a:off x="1463040" y="2029968"/>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Reconnaître les effets communs de la chirurgie, de la radiothérapie, de la curiethérapie et de la chimiothérapie.</a:t>
            </a:r>
            <a:endParaRPr lang="fr-FR" sz="1710" noProof="0" dirty="0"/>
          </a:p>
        </p:txBody>
      </p:sp>
      <p:sp>
        <p:nvSpPr>
          <p:cNvPr id="11" name="Shape 9"/>
          <p:cNvSpPr/>
          <p:nvPr/>
        </p:nvSpPr>
        <p:spPr>
          <a:xfrm>
            <a:off x="566928" y="2686998"/>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04672" y="2781783"/>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04672" y="2781783"/>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2</a:t>
            </a:r>
            <a:endParaRPr lang="fr-FR" sz="1400" noProof="0" dirty="0"/>
          </a:p>
        </p:txBody>
      </p:sp>
      <p:sp>
        <p:nvSpPr>
          <p:cNvPr id="14" name="Text 12"/>
          <p:cNvSpPr txBox="1"/>
          <p:nvPr/>
        </p:nvSpPr>
        <p:spPr>
          <a:xfrm>
            <a:off x="1463040" y="2741862"/>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Classer les effets en trois catégories : attendus, à évaluer rapidement et urgents.</a:t>
            </a:r>
            <a:endParaRPr lang="fr-FR" sz="1710" noProof="0" dirty="0"/>
          </a:p>
        </p:txBody>
      </p:sp>
      <p:sp>
        <p:nvSpPr>
          <p:cNvPr id="15" name="Shape 13"/>
          <p:cNvSpPr/>
          <p:nvPr/>
        </p:nvSpPr>
        <p:spPr>
          <a:xfrm>
            <a:off x="566928" y="3398892"/>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04672" y="3493677"/>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04672" y="3493677"/>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3</a:t>
            </a:r>
            <a:endParaRPr lang="fr-FR" sz="1400" noProof="0" dirty="0"/>
          </a:p>
        </p:txBody>
      </p:sp>
      <p:sp>
        <p:nvSpPr>
          <p:cNvPr id="18" name="Text 16"/>
          <p:cNvSpPr txBox="1"/>
          <p:nvPr/>
        </p:nvSpPr>
        <p:spPr>
          <a:xfrm>
            <a:off x="1463040" y="3453756"/>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Discutez de la santé sexuelle et reproductive après le traitement, avec respect et sans préjugés.</a:t>
            </a:r>
            <a:endParaRPr lang="fr-FR" sz="1710" noProof="0" dirty="0"/>
          </a:p>
        </p:txBody>
      </p:sp>
      <p:sp>
        <p:nvSpPr>
          <p:cNvPr id="19" name="Shape 17"/>
          <p:cNvSpPr/>
          <p:nvPr/>
        </p:nvSpPr>
        <p:spPr>
          <a:xfrm>
            <a:off x="566928" y="4110786"/>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0" name="Shape 18"/>
          <p:cNvSpPr/>
          <p:nvPr/>
        </p:nvSpPr>
        <p:spPr>
          <a:xfrm>
            <a:off x="804672" y="4205571"/>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1" name="Text 19"/>
          <p:cNvSpPr txBox="1"/>
          <p:nvPr/>
        </p:nvSpPr>
        <p:spPr>
          <a:xfrm>
            <a:off x="804672" y="4205571"/>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4</a:t>
            </a:r>
            <a:endParaRPr lang="fr-FR" sz="1400" noProof="0" dirty="0"/>
          </a:p>
        </p:txBody>
      </p:sp>
      <p:sp>
        <p:nvSpPr>
          <p:cNvPr id="22" name="Text 20"/>
          <p:cNvSpPr txBox="1"/>
          <p:nvPr/>
        </p:nvSpPr>
        <p:spPr>
          <a:xfrm>
            <a:off x="1463040" y="4165650"/>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Décrivez ce que les soins palliatifs offrent et quand ils doivent être proposés à une femme.</a:t>
            </a:r>
            <a:endParaRPr lang="fr-FR" sz="1710" noProof="0" dirty="0"/>
          </a:p>
        </p:txBody>
      </p:sp>
      <p:sp>
        <p:nvSpPr>
          <p:cNvPr id="23" name="Shape 21"/>
          <p:cNvSpPr/>
          <p:nvPr/>
        </p:nvSpPr>
        <p:spPr>
          <a:xfrm>
            <a:off x="566928" y="4822679"/>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4" name="Shape 22"/>
          <p:cNvSpPr/>
          <p:nvPr/>
        </p:nvSpPr>
        <p:spPr>
          <a:xfrm>
            <a:off x="804672" y="4917465"/>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5" name="Text 23"/>
          <p:cNvSpPr txBox="1"/>
          <p:nvPr/>
        </p:nvSpPr>
        <p:spPr>
          <a:xfrm>
            <a:off x="804672" y="4917465"/>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5</a:t>
            </a:r>
            <a:endParaRPr lang="fr-FR" sz="1400" noProof="0" dirty="0"/>
          </a:p>
        </p:txBody>
      </p:sp>
      <p:sp>
        <p:nvSpPr>
          <p:cNvPr id="26" name="Text 24"/>
          <p:cNvSpPr txBox="1"/>
          <p:nvPr/>
        </p:nvSpPr>
        <p:spPr>
          <a:xfrm>
            <a:off x="1463040" y="4877543"/>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Soutenir la qualité de vie, y compris la nutrition, le travail, la dignité et le bien-être émotionnel.</a:t>
            </a:r>
            <a:endParaRPr lang="fr-FR" sz="1710" noProof="0" dirty="0"/>
          </a:p>
        </p:txBody>
      </p:sp>
      <p:sp>
        <p:nvSpPr>
          <p:cNvPr id="27" name="Shape 25"/>
          <p:cNvSpPr/>
          <p:nvPr/>
        </p:nvSpPr>
        <p:spPr>
          <a:xfrm>
            <a:off x="566928" y="5534573"/>
            <a:ext cx="11055096" cy="610195"/>
          </a:xfrm>
          <a:prstGeom prst="roundRect">
            <a:avLst>
              <a:gd name="adj" fmla="val 10490"/>
            </a:avLst>
          </a:prstGeom>
          <a:solidFill>
            <a:srgbClr val="F3F6FB"/>
          </a:solidFill>
          <a:ln w="12700">
            <a:solidFill>
              <a:srgbClr val="E0E3EA"/>
            </a:solidFill>
            <a:prstDash val="solid"/>
          </a:ln>
        </p:spPr>
        <p:txBody>
          <a:bodyPr/>
          <a:lstStyle/>
          <a:p>
            <a:endParaRPr lang="fr-FR" noProof="0" dirty="0"/>
          </a:p>
        </p:txBody>
      </p:sp>
      <p:sp>
        <p:nvSpPr>
          <p:cNvPr id="28" name="Shape 26"/>
          <p:cNvSpPr/>
          <p:nvPr/>
        </p:nvSpPr>
        <p:spPr>
          <a:xfrm>
            <a:off x="804672" y="5629359"/>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9" name="Text 27"/>
          <p:cNvSpPr txBox="1"/>
          <p:nvPr/>
        </p:nvSpPr>
        <p:spPr>
          <a:xfrm>
            <a:off x="804672" y="5629359"/>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6</a:t>
            </a:r>
            <a:endParaRPr lang="fr-FR" sz="1400" noProof="0" dirty="0"/>
          </a:p>
        </p:txBody>
      </p:sp>
      <p:sp>
        <p:nvSpPr>
          <p:cNvPr id="30" name="Text 28"/>
          <p:cNvSpPr txBox="1"/>
          <p:nvPr/>
        </p:nvSpPr>
        <p:spPr>
          <a:xfrm>
            <a:off x="1463040" y="5589437"/>
            <a:ext cx="9866376" cy="500467"/>
          </a:xfrm>
          <a:prstGeom prst="rect">
            <a:avLst/>
          </a:prstGeom>
          <a:noFill/>
          <a:ln/>
        </p:spPr>
        <p:txBody>
          <a:bodyPr wrap="square" lIns="0" tIns="0" rIns="0" bIns="0" rtlCol="0" anchor="ctr">
            <a:noAutofit/>
          </a:bodyPr>
          <a:lstStyle/>
          <a:p>
            <a:pPr marL="0" indent="0">
              <a:lnSpc>
                <a:spcPct val="104000"/>
              </a:lnSpc>
              <a:buNone/>
            </a:pPr>
            <a:r>
              <a:rPr lang="fr-FR" sz="1710" noProof="0" dirty="0">
                <a:solidFill>
                  <a:srgbClr val="23303F"/>
                </a:solidFill>
                <a:latin typeface="Calibri" pitchFamily="34" charset="0"/>
                <a:ea typeface="Calibri" pitchFamily="34" charset="-122"/>
                <a:cs typeface="Calibri" pitchFamily="34" charset="-120"/>
              </a:rPr>
              <a:t>Expliquez l'objectif du suivi et encouragez un signalement rapide des nouveaux symptômes.</a:t>
            </a:r>
            <a:endParaRPr lang="fr-FR" sz="1710" noProof="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162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EFFETS INDÉSIRABLES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Effets à reconnaître</a:t>
            </a:r>
            <a:endParaRPr lang="fr-FR" sz="3200" noProof="0" dirty="0"/>
          </a:p>
        </p:txBody>
      </p:sp>
      <p:sp>
        <p:nvSpPr>
          <p:cNvPr id="6" name="Shape 4"/>
          <p:cNvSpPr/>
          <p:nvPr/>
        </p:nvSpPr>
        <p:spPr>
          <a:xfrm>
            <a:off x="566928" y="1397791"/>
            <a:ext cx="3563112" cy="4261603"/>
          </a:xfrm>
          <a:prstGeom prst="roundRect">
            <a:avLst>
              <a:gd name="adj" fmla="val 231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376534"/>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Après l'opération</a:t>
            </a:r>
            <a:endParaRPr lang="fr-FR" noProof="0" dirty="0"/>
          </a:p>
        </p:txBody>
      </p:sp>
      <p:sp>
        <p:nvSpPr>
          <p:cNvPr id="8" name="Text 6"/>
          <p:cNvSpPr txBox="1"/>
          <p:nvPr/>
        </p:nvSpPr>
        <p:spPr>
          <a:xfrm>
            <a:off x="853442" y="1905401"/>
            <a:ext cx="3051048" cy="2615184"/>
          </a:xfrm>
          <a:prstGeom prst="rect">
            <a:avLst/>
          </a:prstGeom>
          <a:noFill/>
          <a:ln/>
        </p:spPr>
        <p:txBody>
          <a:bodyPr wrap="square" lIns="0" tIns="0" rIns="0" bIns="0" rtlCol="0" anchor="t">
            <a:noAutofit/>
          </a:bodyPr>
          <a:lstStyle/>
          <a:p>
            <a:pPr marL="342900" indent="-342900">
              <a:lnSpc>
                <a:spcPct val="102000"/>
              </a:lnSpc>
              <a:spcAft>
                <a:spcPts val="800"/>
              </a:spcAft>
              <a:buSzPct val="100000"/>
              <a:buChar char="•"/>
            </a:pPr>
            <a:r>
              <a:rPr lang="fr-FR" sz="1360" noProof="0" dirty="0">
                <a:solidFill>
                  <a:srgbClr val="23303F"/>
                </a:solidFill>
                <a:latin typeface="Calibri" pitchFamily="34" charset="0"/>
                <a:ea typeface="Calibri" pitchFamily="34" charset="-122"/>
                <a:cs typeface="Calibri" pitchFamily="34" charset="-120"/>
              </a:rPr>
              <a:t>Douleur et fatigue pendant la récupération.</a:t>
            </a:r>
            <a:endParaRPr lang="fr-FR" sz="1360" noProof="0" dirty="0"/>
          </a:p>
          <a:p>
            <a:pPr marL="342900" indent="-342900">
              <a:lnSpc>
                <a:spcPct val="102000"/>
              </a:lnSpc>
              <a:spcAft>
                <a:spcPts val="800"/>
              </a:spcAft>
              <a:buSzPct val="100000"/>
              <a:buChar char="•"/>
            </a:pPr>
            <a:r>
              <a:rPr lang="fr-FR" sz="1360" noProof="0" dirty="0">
                <a:solidFill>
                  <a:srgbClr val="23303F"/>
                </a:solidFill>
                <a:latin typeface="Calibri" pitchFamily="34" charset="0"/>
                <a:ea typeface="Calibri" pitchFamily="34" charset="-122"/>
                <a:cs typeface="Calibri" pitchFamily="34" charset="-120"/>
              </a:rPr>
              <a:t>Difficulté à vider la vessie.</a:t>
            </a:r>
            <a:endParaRPr lang="fr-FR" sz="1360" noProof="0" dirty="0"/>
          </a:p>
          <a:p>
            <a:pPr marL="342900" indent="-342900">
              <a:lnSpc>
                <a:spcPct val="102000"/>
              </a:lnSpc>
              <a:spcAft>
                <a:spcPts val="800"/>
              </a:spcAft>
              <a:buSzPct val="100000"/>
              <a:buChar char="•"/>
            </a:pPr>
            <a:r>
              <a:rPr lang="fr-FR" sz="1360" noProof="0" dirty="0">
                <a:solidFill>
                  <a:srgbClr val="23303F"/>
                </a:solidFill>
                <a:latin typeface="Calibri" pitchFamily="34" charset="0"/>
                <a:ea typeface="Calibri" pitchFamily="34" charset="-122"/>
                <a:cs typeface="Calibri" pitchFamily="34" charset="-120"/>
              </a:rPr>
              <a:t>Gonflement de la jambe après l'ablation des ganglions lymphatiques.</a:t>
            </a:r>
            <a:endParaRPr lang="fr-FR" sz="1360" noProof="0" dirty="0"/>
          </a:p>
          <a:p>
            <a:pPr marL="342900" indent="-342900">
              <a:lnSpc>
                <a:spcPct val="102000"/>
              </a:lnSpc>
              <a:spcAft>
                <a:spcPts val="800"/>
              </a:spcAft>
              <a:buSzPct val="100000"/>
              <a:buChar char="•"/>
            </a:pPr>
            <a:r>
              <a:rPr lang="fr-FR" sz="1360" noProof="0" dirty="0">
                <a:solidFill>
                  <a:srgbClr val="23303F"/>
                </a:solidFill>
                <a:latin typeface="Calibri" pitchFamily="34" charset="0"/>
                <a:ea typeface="Calibri" pitchFamily="34" charset="-122"/>
                <a:cs typeface="Calibri" pitchFamily="34" charset="-120"/>
              </a:rPr>
              <a:t>Ménopause précoce si on a retiré les ovaires.</a:t>
            </a:r>
            <a:endParaRPr lang="fr-FR" sz="1360" noProof="0" dirty="0"/>
          </a:p>
        </p:txBody>
      </p:sp>
      <p:sp>
        <p:nvSpPr>
          <p:cNvPr id="9" name="Shape 7"/>
          <p:cNvSpPr/>
          <p:nvPr/>
        </p:nvSpPr>
        <p:spPr>
          <a:xfrm>
            <a:off x="4312920" y="1397791"/>
            <a:ext cx="3563112" cy="4261603"/>
          </a:xfrm>
          <a:prstGeom prst="roundRect">
            <a:avLst>
              <a:gd name="adj" fmla="val 2310"/>
            </a:avLst>
          </a:prstGeom>
          <a:solidFill>
            <a:srgbClr val="ECF3FD"/>
          </a:solidFill>
          <a:ln w="12700">
            <a:solidFill>
              <a:srgbClr val="E0E3EA"/>
            </a:solidFill>
            <a:prstDash val="solid"/>
          </a:ln>
        </p:spPr>
        <p:txBody>
          <a:bodyPr/>
          <a:lstStyle/>
          <a:p>
            <a:endParaRPr lang="fr-FR" noProof="0" dirty="0"/>
          </a:p>
        </p:txBody>
      </p:sp>
      <p:sp>
        <p:nvSpPr>
          <p:cNvPr id="10" name="Text 8"/>
          <p:cNvSpPr txBox="1"/>
          <p:nvPr/>
        </p:nvSpPr>
        <p:spPr>
          <a:xfrm>
            <a:off x="4568952" y="1376534"/>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Après la radiothérapie</a:t>
            </a:r>
            <a:endParaRPr lang="fr-FR" noProof="0" dirty="0"/>
          </a:p>
        </p:txBody>
      </p:sp>
      <p:sp>
        <p:nvSpPr>
          <p:cNvPr id="11" name="Text 9"/>
          <p:cNvSpPr txBox="1"/>
          <p:nvPr/>
        </p:nvSpPr>
        <p:spPr>
          <a:xfrm>
            <a:off x="4573016" y="1905401"/>
            <a:ext cx="3101847" cy="2615184"/>
          </a:xfrm>
          <a:prstGeom prst="rect">
            <a:avLst/>
          </a:prstGeom>
          <a:noFill/>
          <a:ln/>
        </p:spPr>
        <p:txBody>
          <a:bodyPr wrap="square" lIns="0" tIns="0" rIns="0" bIns="0" rtlCol="0" anchor="t">
            <a:noAutofit/>
          </a:bodyPr>
          <a:lstStyle/>
          <a:p>
            <a:pPr marL="342900" indent="-342900">
              <a:lnSpc>
                <a:spcPct val="102000"/>
              </a:lnSpc>
              <a:spcAft>
                <a:spcPts val="800"/>
              </a:spcAft>
              <a:buSzPct val="100000"/>
              <a:buChar char="•"/>
            </a:pPr>
            <a:r>
              <a:rPr lang="fr-FR" sz="1440" noProof="0" dirty="0">
                <a:solidFill>
                  <a:srgbClr val="23303F"/>
                </a:solidFill>
                <a:latin typeface="Calibri" pitchFamily="34" charset="0"/>
                <a:ea typeface="Calibri" pitchFamily="34" charset="-122"/>
                <a:cs typeface="Calibri" pitchFamily="34" charset="-120"/>
              </a:rPr>
              <a:t>Fatigue, diarrhée, irritation de la vessie.</a:t>
            </a:r>
            <a:endParaRPr lang="fr-FR" sz="1440" noProof="0" dirty="0"/>
          </a:p>
          <a:p>
            <a:pPr marL="342900" indent="-342900">
              <a:lnSpc>
                <a:spcPct val="102000"/>
              </a:lnSpc>
              <a:spcAft>
                <a:spcPts val="800"/>
              </a:spcAft>
              <a:buSzPct val="100000"/>
              <a:buChar char="•"/>
            </a:pPr>
            <a:r>
              <a:rPr lang="fr-FR" sz="1440" noProof="0" dirty="0">
                <a:solidFill>
                  <a:srgbClr val="23303F"/>
                </a:solidFill>
                <a:latin typeface="Calibri" pitchFamily="34" charset="0"/>
                <a:ea typeface="Calibri" pitchFamily="34" charset="-122"/>
                <a:cs typeface="Calibri" pitchFamily="34" charset="-120"/>
              </a:rPr>
              <a:t>Des modifications de la peau dans la zone traitée.</a:t>
            </a:r>
            <a:endParaRPr lang="fr-FR" sz="1440" noProof="0" dirty="0"/>
          </a:p>
          <a:p>
            <a:pPr marL="342900" indent="-342900">
              <a:lnSpc>
                <a:spcPct val="102000"/>
              </a:lnSpc>
              <a:spcAft>
                <a:spcPts val="800"/>
              </a:spcAft>
              <a:buSzPct val="100000"/>
              <a:buChar char="•"/>
            </a:pPr>
            <a:r>
              <a:rPr lang="fr-FR" sz="1440" noProof="0" dirty="0">
                <a:solidFill>
                  <a:srgbClr val="23303F"/>
                </a:solidFill>
                <a:latin typeface="Calibri" pitchFamily="34" charset="0"/>
                <a:ea typeface="Calibri" pitchFamily="34" charset="-122"/>
                <a:cs typeface="Calibri" pitchFamily="34" charset="-120"/>
              </a:rPr>
              <a:t>Sécheresse vaginale et rétrécissement plus tard.</a:t>
            </a:r>
            <a:endParaRPr lang="fr-FR" sz="1440" noProof="0" dirty="0"/>
          </a:p>
          <a:p>
            <a:pPr marL="342900" indent="-342900">
              <a:lnSpc>
                <a:spcPct val="102000"/>
              </a:lnSpc>
              <a:spcAft>
                <a:spcPts val="800"/>
              </a:spcAft>
              <a:buSzPct val="100000"/>
              <a:buChar char="•"/>
            </a:pPr>
            <a:r>
              <a:rPr lang="fr-FR" sz="1440" noProof="0" dirty="0">
                <a:solidFill>
                  <a:srgbClr val="23303F"/>
                </a:solidFill>
                <a:latin typeface="Calibri" pitchFamily="34" charset="0"/>
                <a:ea typeface="Calibri" pitchFamily="34" charset="-122"/>
                <a:cs typeface="Calibri" pitchFamily="34" charset="-120"/>
              </a:rPr>
              <a:t>Effets tardifs intestinaux et vésicaux.</a:t>
            </a:r>
            <a:endParaRPr lang="fr-FR" sz="1440" noProof="0" dirty="0"/>
          </a:p>
        </p:txBody>
      </p:sp>
      <p:sp>
        <p:nvSpPr>
          <p:cNvPr id="12" name="Shape 10"/>
          <p:cNvSpPr/>
          <p:nvPr/>
        </p:nvSpPr>
        <p:spPr>
          <a:xfrm>
            <a:off x="8058912" y="1397791"/>
            <a:ext cx="3563112" cy="4261603"/>
          </a:xfrm>
          <a:prstGeom prst="roundRect">
            <a:avLst>
              <a:gd name="adj" fmla="val 231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376534"/>
            <a:ext cx="3051048" cy="566928"/>
          </a:xfrm>
          <a:prstGeom prst="rect">
            <a:avLst/>
          </a:prstGeom>
          <a:noFill/>
          <a:ln/>
        </p:spPr>
        <p:txBody>
          <a:bodyPr wrap="square" lIns="0" tIns="0" rIns="0" bIns="0" rtlCol="0" anchor="ctr"/>
          <a:lstStyle/>
          <a:p>
            <a:pPr marL="0" indent="0">
              <a:buNone/>
            </a:pPr>
            <a:r>
              <a:rPr lang="fr-FR" b="1" noProof="0" dirty="0">
                <a:solidFill>
                  <a:srgbClr val="10305A"/>
                </a:solidFill>
                <a:latin typeface="Calibri" pitchFamily="34" charset="0"/>
                <a:ea typeface="Calibri" pitchFamily="34" charset="-122"/>
                <a:cs typeface="Calibri" pitchFamily="34" charset="-120"/>
              </a:rPr>
              <a:t>💊 Après chimiothérapie</a:t>
            </a:r>
            <a:endParaRPr lang="fr-FR" noProof="0" dirty="0"/>
          </a:p>
        </p:txBody>
      </p:sp>
      <p:sp>
        <p:nvSpPr>
          <p:cNvPr id="14" name="Text 12"/>
          <p:cNvSpPr txBox="1"/>
          <p:nvPr/>
        </p:nvSpPr>
        <p:spPr>
          <a:xfrm>
            <a:off x="8200478" y="1905401"/>
            <a:ext cx="3319948" cy="2615184"/>
          </a:xfrm>
          <a:prstGeom prst="rect">
            <a:avLst/>
          </a:prstGeom>
          <a:noFill/>
          <a:ln/>
        </p:spPr>
        <p:txBody>
          <a:bodyPr wrap="square" lIns="0" tIns="0" rIns="0" bIns="0" rtlCol="0" anchor="t">
            <a:noAutofit/>
          </a:bodyPr>
          <a:lstStyle/>
          <a:p>
            <a:pPr marL="342900" indent="-342900">
              <a:lnSpc>
                <a:spcPct val="102000"/>
              </a:lnSpc>
              <a:spcAft>
                <a:spcPts val="800"/>
              </a:spcAft>
              <a:buSzPct val="100000"/>
              <a:buChar char="•"/>
            </a:pPr>
            <a:r>
              <a:rPr lang="fr-FR" sz="1472" noProof="0" dirty="0">
                <a:solidFill>
                  <a:srgbClr val="23303F"/>
                </a:solidFill>
                <a:latin typeface="Calibri" pitchFamily="34" charset="0"/>
                <a:ea typeface="Calibri" pitchFamily="34" charset="-122"/>
                <a:cs typeface="Calibri" pitchFamily="34" charset="-120"/>
              </a:rPr>
              <a:t>Fatigue, nausées et vomissements.</a:t>
            </a:r>
            <a:endParaRPr lang="fr-FR" sz="1472" noProof="0" dirty="0"/>
          </a:p>
          <a:p>
            <a:pPr marL="342900" indent="-342900">
              <a:lnSpc>
                <a:spcPct val="102000"/>
              </a:lnSpc>
              <a:spcAft>
                <a:spcPts val="800"/>
              </a:spcAft>
              <a:buSzPct val="100000"/>
              <a:buChar char="•"/>
            </a:pPr>
            <a:r>
              <a:rPr lang="fr-FR" sz="1472" noProof="0" dirty="0">
                <a:solidFill>
                  <a:srgbClr val="23303F"/>
                </a:solidFill>
                <a:latin typeface="Calibri" pitchFamily="34" charset="0"/>
                <a:ea typeface="Calibri" pitchFamily="34" charset="-122"/>
                <a:cs typeface="Calibri" pitchFamily="34" charset="-120"/>
              </a:rPr>
              <a:t>Faible numération sanguine et risque d'infection.</a:t>
            </a:r>
            <a:endParaRPr lang="fr-FR" sz="1472" noProof="0" dirty="0"/>
          </a:p>
          <a:p>
            <a:pPr marL="342900" indent="-342900">
              <a:lnSpc>
                <a:spcPct val="102000"/>
              </a:lnSpc>
              <a:spcAft>
                <a:spcPts val="800"/>
              </a:spcAft>
              <a:buSzPct val="100000"/>
              <a:buChar char="•"/>
            </a:pPr>
            <a:r>
              <a:rPr lang="fr-FR" sz="1472" noProof="0" dirty="0">
                <a:solidFill>
                  <a:srgbClr val="23303F"/>
                </a:solidFill>
                <a:latin typeface="Calibri" pitchFamily="34" charset="0"/>
                <a:ea typeface="Calibri" pitchFamily="34" charset="-122"/>
                <a:cs typeface="Calibri" pitchFamily="34" charset="-120"/>
              </a:rPr>
              <a:t>Douleurs dans la bouche et changement de goût.</a:t>
            </a:r>
            <a:endParaRPr lang="fr-FR" sz="1472" noProof="0" dirty="0"/>
          </a:p>
          <a:p>
            <a:pPr marL="342900" indent="-342900">
              <a:lnSpc>
                <a:spcPct val="102000"/>
              </a:lnSpc>
              <a:spcAft>
                <a:spcPts val="800"/>
              </a:spcAft>
              <a:buSzPct val="100000"/>
              <a:buChar char="•"/>
            </a:pPr>
            <a:r>
              <a:rPr lang="fr-FR" sz="1472" noProof="0" dirty="0">
                <a:solidFill>
                  <a:srgbClr val="23303F"/>
                </a:solidFill>
                <a:latin typeface="Calibri" pitchFamily="34" charset="0"/>
                <a:ea typeface="Calibri" pitchFamily="34" charset="-122"/>
                <a:cs typeface="Calibri" pitchFamily="34" charset="-120"/>
              </a:rPr>
              <a:t>Effets rénaux avec certains médicaments.</a:t>
            </a:r>
            <a:endParaRPr lang="fr-FR" sz="1472" noProof="0" dirty="0"/>
          </a:p>
        </p:txBody>
      </p:sp>
      <p:sp>
        <p:nvSpPr>
          <p:cNvPr id="15" name="Shape 13"/>
          <p:cNvSpPr/>
          <p:nvPr/>
        </p:nvSpPr>
        <p:spPr>
          <a:xfrm>
            <a:off x="566928" y="5832388"/>
            <a:ext cx="11055096" cy="440395"/>
          </a:xfrm>
          <a:prstGeom prst="roundRect">
            <a:avLst>
              <a:gd name="adj" fmla="val 8140"/>
            </a:avLst>
          </a:prstGeom>
          <a:solidFill>
            <a:srgbClr val="ECF3FD"/>
          </a:solidFill>
          <a:ln w="12700">
            <a:solidFill>
              <a:srgbClr val="E0E3EA"/>
            </a:solidFill>
            <a:prstDash val="solid"/>
          </a:ln>
        </p:spPr>
        <p:txBody>
          <a:bodyPr/>
          <a:lstStyle/>
          <a:p>
            <a:endParaRPr lang="fr-FR" noProof="0" dirty="0"/>
          </a:p>
        </p:txBody>
      </p:sp>
      <p:sp>
        <p:nvSpPr>
          <p:cNvPr id="16" name="Text 14"/>
          <p:cNvSpPr txBox="1"/>
          <p:nvPr/>
        </p:nvSpPr>
        <p:spPr>
          <a:xfrm>
            <a:off x="841248" y="5869459"/>
            <a:ext cx="10506456" cy="385531"/>
          </a:xfrm>
          <a:prstGeom prst="rect">
            <a:avLst/>
          </a:prstGeom>
          <a:noFill/>
          <a:ln/>
        </p:spPr>
        <p:txBody>
          <a:bodyPr wrap="square" lIns="0" tIns="0" rIns="0" bIns="0" rtlCol="0" anchor="ctr">
            <a:noAutofit/>
          </a:bodyPr>
          <a:lstStyle/>
          <a:p>
            <a:pPr marL="0" indent="0">
              <a:lnSpc>
                <a:spcPct val="104000"/>
              </a:lnSpc>
              <a:buNone/>
            </a:pPr>
            <a:r>
              <a:rPr lang="fr-FR" sz="1206" b="1" noProof="0" dirty="0">
                <a:solidFill>
                  <a:srgbClr val="10305A"/>
                </a:solidFill>
                <a:latin typeface="Calibri" pitchFamily="34" charset="0"/>
                <a:ea typeface="Calibri" pitchFamily="34" charset="-122"/>
                <a:cs typeface="Calibri" pitchFamily="34" charset="-120"/>
              </a:rPr>
              <a:t>📌 Votre rôle : Reconnaître, expliquer, surveiller, soutenir et intensifier la prise en charge/orienter si nécessaire. Vous ne gérez pas le traitement du cancer lui-même.</a:t>
            </a:r>
            <a:endParaRPr lang="fr-FR" sz="1206" noProof="0" dirty="0"/>
          </a:p>
        </p:txBody>
      </p:sp>
      <p:pic>
        <p:nvPicPr>
          <p:cNvPr id="17" name="Imagen 16">
            <a:extLst>
              <a:ext uri="{FF2B5EF4-FFF2-40B4-BE49-F238E27FC236}">
                <a16:creationId xmlns:a16="http://schemas.microsoft.com/office/drawing/2014/main" id="{50AA0B85-10DB-F6D1-DCA9-2171815DF5D3}"/>
              </a:ext>
            </a:extLst>
          </p:cNvPr>
          <p:cNvPicPr>
            <a:picLocks noChangeAspect="1"/>
          </p:cNvPicPr>
          <p:nvPr/>
        </p:nvPicPr>
        <p:blipFill>
          <a:blip r:embed="rId3"/>
          <a:srcRect/>
          <a:stretch>
            <a:fillRect/>
          </a:stretch>
        </p:blipFill>
        <p:spPr>
          <a:xfrm>
            <a:off x="1327912" y="3664201"/>
            <a:ext cx="2058755" cy="2058755"/>
          </a:xfrm>
          <a:prstGeom prst="rect">
            <a:avLst/>
          </a:prstGeom>
        </p:spPr>
      </p:pic>
      <p:pic>
        <p:nvPicPr>
          <p:cNvPr id="19" name="Imagen 18">
            <a:extLst>
              <a:ext uri="{FF2B5EF4-FFF2-40B4-BE49-F238E27FC236}">
                <a16:creationId xmlns:a16="http://schemas.microsoft.com/office/drawing/2014/main" id="{3A6AC1B1-09AC-5BE1-4157-304C141878D6}"/>
              </a:ext>
            </a:extLst>
          </p:cNvPr>
          <p:cNvPicPr>
            <a:picLocks noChangeAspect="1"/>
          </p:cNvPicPr>
          <p:nvPr/>
        </p:nvPicPr>
        <p:blipFill>
          <a:blip r:embed="rId4"/>
          <a:srcRect/>
          <a:stretch>
            <a:fillRect/>
          </a:stretch>
        </p:blipFill>
        <p:spPr>
          <a:xfrm>
            <a:off x="8894673" y="3747783"/>
            <a:ext cx="1891589" cy="1891589"/>
          </a:xfrm>
          <a:prstGeom prst="rect">
            <a:avLst/>
          </a:prstGeom>
        </p:spPr>
      </p:pic>
      <p:pic>
        <p:nvPicPr>
          <p:cNvPr id="20" name="Imagen 19">
            <a:extLst>
              <a:ext uri="{FF2B5EF4-FFF2-40B4-BE49-F238E27FC236}">
                <a16:creationId xmlns:a16="http://schemas.microsoft.com/office/drawing/2014/main" id="{0A4E6BDF-9162-5903-24EB-F3E9CD38E923}"/>
              </a:ext>
            </a:extLst>
          </p:cNvPr>
          <p:cNvPicPr>
            <a:picLocks noChangeAspect="1"/>
          </p:cNvPicPr>
          <p:nvPr/>
        </p:nvPicPr>
        <p:blipFill>
          <a:blip r:embed="rId5"/>
          <a:srcRect/>
          <a:stretch>
            <a:fillRect/>
          </a:stretch>
        </p:blipFill>
        <p:spPr>
          <a:xfrm>
            <a:off x="5138726" y="3747783"/>
            <a:ext cx="1914548" cy="1914548"/>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163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INTERACTIF</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Triez ces symptômes par urgence</a:t>
            </a:r>
            <a:endParaRPr lang="fr-FR"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 Glissez chaque symptôme dans la bonne colonne, puis sélectionnez Soumettre.</a:t>
            </a:r>
            <a:endParaRPr lang="fr-FR" sz="1800" noProof="0" dirty="0"/>
          </a:p>
        </p:txBody>
      </p:sp>
      <p:sp>
        <p:nvSpPr>
          <p:cNvPr id="7" name="Shape 5"/>
          <p:cNvSpPr/>
          <p:nvPr/>
        </p:nvSpPr>
        <p:spPr>
          <a:xfrm>
            <a:off x="566928" y="1965960"/>
            <a:ext cx="3563112" cy="3291840"/>
          </a:xfrm>
          <a:prstGeom prst="roundRect">
            <a:avLst>
              <a:gd name="adj" fmla="val 2500"/>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22960" y="2167128"/>
            <a:ext cx="3051048" cy="566928"/>
          </a:xfrm>
          <a:prstGeom prst="rect">
            <a:avLst/>
          </a:prstGeom>
          <a:noFill/>
          <a:ln/>
        </p:spPr>
        <p:txBody>
          <a:bodyPr wrap="square" lIns="0" tIns="0" rIns="0" bIns="0" rtlCol="0" anchor="ctr">
            <a:noAutofit/>
          </a:bodyPr>
          <a:lstStyle/>
          <a:p>
            <a:pPr marL="0" indent="0">
              <a:buNone/>
            </a:pPr>
            <a:r>
              <a:rPr lang="fr-FR" sz="1920" b="1" noProof="0" dirty="0">
                <a:solidFill>
                  <a:srgbClr val="19543E"/>
                </a:solidFill>
                <a:latin typeface="Calibri" pitchFamily="34" charset="0"/>
                <a:ea typeface="Calibri" pitchFamily="34" charset="-122"/>
                <a:cs typeface="Calibri" pitchFamily="34" charset="-120"/>
              </a:rPr>
              <a:t>🟢 Attendus : prendre en charge et réévaluer</a:t>
            </a:r>
            <a:endParaRPr lang="fr-FR" sz="1920" noProof="0" dirty="0"/>
          </a:p>
        </p:txBody>
      </p:sp>
      <p:sp>
        <p:nvSpPr>
          <p:cNvPr id="9" name="Text 7"/>
          <p:cNvSpPr txBox="1"/>
          <p:nvPr/>
        </p:nvSpPr>
        <p:spPr>
          <a:xfrm>
            <a:off x="877824" y="2807208"/>
            <a:ext cx="2996184" cy="2249424"/>
          </a:xfrm>
          <a:prstGeom prst="rect">
            <a:avLst/>
          </a:prstGeom>
          <a:noFill/>
          <a:ln/>
        </p:spPr>
        <p:txBody>
          <a:bodyPr wrap="square" lIns="0" tIns="0" rIns="0" bIns="0" rtlCol="0" anchor="t">
            <a:normAutofit fontScale="95500"/>
          </a:bodyPr>
          <a:lstStyle/>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Fatigue légère pendant le traitement</a:t>
            </a:r>
            <a:endParaRPr lang="fr-FR" sz="1800" noProof="0" dirty="0"/>
          </a:p>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Nausées contrôlées par des médicaments</a:t>
            </a:r>
            <a:endParaRPr lang="fr-FR" sz="1800" noProof="0" dirty="0"/>
          </a:p>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Légère sécheresse de la peau</a:t>
            </a:r>
            <a:endParaRPr lang="fr-FR" sz="1800" noProof="0" dirty="0"/>
          </a:p>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Sortie après un traitement précancéreux</a:t>
            </a:r>
            <a:endParaRPr lang="fr-FR" sz="1800" noProof="0" dirty="0"/>
          </a:p>
        </p:txBody>
      </p:sp>
      <p:sp>
        <p:nvSpPr>
          <p:cNvPr id="10" name="Shape 8"/>
          <p:cNvSpPr/>
          <p:nvPr/>
        </p:nvSpPr>
        <p:spPr>
          <a:xfrm>
            <a:off x="4312920" y="1965960"/>
            <a:ext cx="3563112" cy="3291840"/>
          </a:xfrm>
          <a:prstGeom prst="roundRect">
            <a:avLst>
              <a:gd name="adj" fmla="val 2500"/>
            </a:avLst>
          </a:prstGeom>
          <a:solidFill>
            <a:srgbClr val="FFF2DF"/>
          </a:solidFill>
          <a:ln w="12700">
            <a:solidFill>
              <a:srgbClr val="E8DDC7"/>
            </a:solidFill>
            <a:prstDash val="solid"/>
          </a:ln>
        </p:spPr>
        <p:txBody>
          <a:bodyPr/>
          <a:lstStyle/>
          <a:p>
            <a:endParaRPr lang="fr-FR" noProof="0" dirty="0"/>
          </a:p>
        </p:txBody>
      </p:sp>
      <p:sp>
        <p:nvSpPr>
          <p:cNvPr id="11" name="Text 9"/>
          <p:cNvSpPr txBox="1"/>
          <p:nvPr/>
        </p:nvSpPr>
        <p:spPr>
          <a:xfrm>
            <a:off x="4568952" y="2167128"/>
            <a:ext cx="3051048" cy="566928"/>
          </a:xfrm>
          <a:prstGeom prst="rect">
            <a:avLst/>
          </a:prstGeom>
          <a:noFill/>
          <a:ln/>
        </p:spPr>
        <p:txBody>
          <a:bodyPr wrap="square" lIns="0" tIns="0" rIns="0" bIns="0" rtlCol="0" anchor="ctr"/>
          <a:lstStyle/>
          <a:p>
            <a:pPr marL="0" indent="0">
              <a:buNone/>
            </a:pPr>
            <a:r>
              <a:rPr lang="fr-FR" sz="2000" b="1" noProof="0" dirty="0">
                <a:solidFill>
                  <a:srgbClr val="7B5727"/>
                </a:solidFill>
                <a:latin typeface="Calibri" pitchFamily="34" charset="0"/>
                <a:ea typeface="Calibri" pitchFamily="34" charset="-122"/>
                <a:cs typeface="Calibri" pitchFamily="34" charset="-120"/>
              </a:rPr>
              <a:t>🟠 Évaluer rapidement</a:t>
            </a:r>
            <a:endParaRPr lang="fr-FR" sz="2000" noProof="0" dirty="0"/>
          </a:p>
        </p:txBody>
      </p:sp>
      <p:sp>
        <p:nvSpPr>
          <p:cNvPr id="12" name="Text 10"/>
          <p:cNvSpPr txBox="1"/>
          <p:nvPr/>
        </p:nvSpPr>
        <p:spPr>
          <a:xfrm>
            <a:off x="4623816" y="2807208"/>
            <a:ext cx="2996184" cy="2249424"/>
          </a:xfrm>
          <a:prstGeom prst="rect">
            <a:avLst/>
          </a:prstGeom>
          <a:noFill/>
          <a:ln/>
        </p:spPr>
        <p:txBody>
          <a:bodyPr wrap="square" lIns="0" tIns="0" rIns="0" bIns="0" rtlCol="0" anchor="t">
            <a:noAutofit/>
          </a:bodyPr>
          <a:lstStyle/>
          <a:p>
            <a:pPr marL="342900" indent="-342900">
              <a:lnSpc>
                <a:spcPct val="102000"/>
              </a:lnSpc>
              <a:spcAft>
                <a:spcPts val="500"/>
              </a:spcAft>
              <a:buSzPct val="100000"/>
              <a:buChar char="•"/>
            </a:pPr>
            <a:r>
              <a:rPr lang="fr-FR" sz="1584" noProof="0" dirty="0">
                <a:solidFill>
                  <a:srgbClr val="23303F"/>
                </a:solidFill>
                <a:latin typeface="Calibri" pitchFamily="34" charset="0"/>
                <a:ea typeface="Calibri" pitchFamily="34" charset="-122"/>
                <a:cs typeface="Calibri" pitchFamily="34" charset="-120"/>
              </a:rPr>
              <a:t>Diarrhée persistante</a:t>
            </a:r>
            <a:endParaRPr lang="fr-FR" sz="1584" noProof="0" dirty="0"/>
          </a:p>
          <a:p>
            <a:pPr marL="342900" indent="-342900">
              <a:lnSpc>
                <a:spcPct val="102000"/>
              </a:lnSpc>
              <a:spcAft>
                <a:spcPts val="500"/>
              </a:spcAft>
              <a:buSzPct val="100000"/>
              <a:buChar char="•"/>
            </a:pPr>
            <a:r>
              <a:rPr lang="fr-FR" sz="1584" noProof="0" dirty="0">
                <a:solidFill>
                  <a:srgbClr val="23303F"/>
                </a:solidFill>
                <a:latin typeface="Calibri" pitchFamily="34" charset="0"/>
                <a:ea typeface="Calibri" pitchFamily="34" charset="-122"/>
                <a:cs typeface="Calibri" pitchFamily="34" charset="-120"/>
              </a:rPr>
              <a:t>Apports alimentaires insuffisants ou perte de poids</a:t>
            </a:r>
            <a:endParaRPr lang="fr-FR" sz="1584" noProof="0" dirty="0"/>
          </a:p>
          <a:p>
            <a:pPr marL="342900" indent="-342900">
              <a:lnSpc>
                <a:spcPct val="102000"/>
              </a:lnSpc>
              <a:spcAft>
                <a:spcPts val="500"/>
              </a:spcAft>
              <a:buSzPct val="100000"/>
              <a:buChar char="•"/>
            </a:pPr>
            <a:r>
              <a:rPr lang="fr-FR" sz="1584" noProof="0" dirty="0">
                <a:solidFill>
                  <a:srgbClr val="23303F"/>
                </a:solidFill>
                <a:latin typeface="Calibri" pitchFamily="34" charset="0"/>
                <a:ea typeface="Calibri" pitchFamily="34" charset="-122"/>
                <a:cs typeface="Calibri" pitchFamily="34" charset="-120"/>
              </a:rPr>
              <a:t>Gonflement progressif de la jambe</a:t>
            </a:r>
            <a:endParaRPr lang="fr-FR" sz="1584" noProof="0" dirty="0"/>
          </a:p>
          <a:p>
            <a:pPr marL="342900" indent="-342900">
              <a:lnSpc>
                <a:spcPct val="102000"/>
              </a:lnSpc>
              <a:spcAft>
                <a:spcPts val="500"/>
              </a:spcAft>
              <a:buSzPct val="100000"/>
              <a:buChar char="•"/>
            </a:pPr>
            <a:r>
              <a:rPr lang="fr-FR" sz="1584" noProof="0" dirty="0">
                <a:solidFill>
                  <a:srgbClr val="23303F"/>
                </a:solidFill>
                <a:latin typeface="Calibri" pitchFamily="34" charset="0"/>
                <a:ea typeface="Calibri" pitchFamily="34" charset="-122"/>
                <a:cs typeface="Calibri" pitchFamily="34" charset="-120"/>
              </a:rPr>
              <a:t>Nouveau rétrécissement vaginal ou douleur vaginale</a:t>
            </a:r>
            <a:endParaRPr lang="fr-FR" sz="1584" noProof="0" dirty="0"/>
          </a:p>
          <a:p>
            <a:pPr marL="342900" indent="-342900">
              <a:lnSpc>
                <a:spcPct val="102000"/>
              </a:lnSpc>
              <a:spcAft>
                <a:spcPts val="500"/>
              </a:spcAft>
              <a:buSzPct val="100000"/>
              <a:buChar char="•"/>
            </a:pPr>
            <a:r>
              <a:rPr lang="fr-FR" sz="1584" noProof="0" dirty="0">
                <a:solidFill>
                  <a:srgbClr val="23303F"/>
                </a:solidFill>
                <a:latin typeface="Calibri" pitchFamily="34" charset="0"/>
                <a:ea typeface="Calibri" pitchFamily="34" charset="-122"/>
                <a:cs typeface="Calibri" pitchFamily="34" charset="-120"/>
              </a:rPr>
              <a:t>Humeur déprimée ou rendez-vous manqués</a:t>
            </a:r>
            <a:endParaRPr lang="fr-FR" sz="1584" noProof="0" dirty="0"/>
          </a:p>
        </p:txBody>
      </p:sp>
      <p:sp>
        <p:nvSpPr>
          <p:cNvPr id="13" name="Shape 11"/>
          <p:cNvSpPr/>
          <p:nvPr/>
        </p:nvSpPr>
        <p:spPr>
          <a:xfrm>
            <a:off x="8058912" y="1965960"/>
            <a:ext cx="3563112" cy="3291840"/>
          </a:xfrm>
          <a:prstGeom prst="roundRect">
            <a:avLst>
              <a:gd name="adj" fmla="val 2500"/>
            </a:avLst>
          </a:prstGeom>
          <a:solidFill>
            <a:srgbClr val="FDE9E8"/>
          </a:solidFill>
          <a:ln w="12700">
            <a:solidFill>
              <a:srgbClr val="F0CFCE"/>
            </a:solidFill>
            <a:prstDash val="solid"/>
          </a:ln>
        </p:spPr>
        <p:txBody>
          <a:bodyPr/>
          <a:lstStyle/>
          <a:p>
            <a:endParaRPr lang="fr-FR" noProof="0" dirty="0"/>
          </a:p>
        </p:txBody>
      </p:sp>
      <p:sp>
        <p:nvSpPr>
          <p:cNvPr id="14" name="Text 12"/>
          <p:cNvSpPr txBox="1"/>
          <p:nvPr/>
        </p:nvSpPr>
        <p:spPr>
          <a:xfrm>
            <a:off x="8314944" y="2167128"/>
            <a:ext cx="3051048" cy="566928"/>
          </a:xfrm>
          <a:prstGeom prst="rect">
            <a:avLst/>
          </a:prstGeom>
          <a:noFill/>
          <a:ln/>
        </p:spPr>
        <p:txBody>
          <a:bodyPr wrap="square" lIns="0" tIns="0" rIns="0" bIns="0" rtlCol="0" anchor="ctr"/>
          <a:lstStyle/>
          <a:p>
            <a:pPr marL="0" indent="0">
              <a:buNone/>
            </a:pPr>
            <a:r>
              <a:rPr lang="fr-FR" sz="2000" b="1" noProof="0" dirty="0">
                <a:solidFill>
                  <a:srgbClr val="8E2531"/>
                </a:solidFill>
                <a:latin typeface="Calibri" pitchFamily="34" charset="0"/>
                <a:ea typeface="Calibri" pitchFamily="34" charset="-122"/>
                <a:cs typeface="Calibri" pitchFamily="34" charset="-120"/>
              </a:rPr>
              <a:t>🔴 Urgent : n'attendez pas</a:t>
            </a:r>
            <a:endParaRPr lang="fr-FR" sz="2000" noProof="0" dirty="0"/>
          </a:p>
        </p:txBody>
      </p:sp>
      <p:sp>
        <p:nvSpPr>
          <p:cNvPr id="15" name="Text 13"/>
          <p:cNvSpPr txBox="1"/>
          <p:nvPr/>
        </p:nvSpPr>
        <p:spPr>
          <a:xfrm>
            <a:off x="8369808" y="2807208"/>
            <a:ext cx="2996184" cy="2249424"/>
          </a:xfrm>
          <a:prstGeom prst="rect">
            <a:avLst/>
          </a:prstGeom>
          <a:noFill/>
          <a:ln/>
        </p:spPr>
        <p:txBody>
          <a:bodyPr wrap="square" lIns="0" tIns="0" rIns="0" bIns="0" rtlCol="0" anchor="t">
            <a:normAutofit fontScale="95500"/>
          </a:bodyPr>
          <a:lstStyle/>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Fièvre pendant la chimiothérapie</a:t>
            </a:r>
            <a:endParaRPr lang="fr-FR" sz="1800" noProof="0" dirty="0"/>
          </a:p>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Saignements abondants avec vertiges</a:t>
            </a:r>
            <a:endParaRPr lang="fr-FR" sz="1800" noProof="0" dirty="0"/>
          </a:p>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Fuite d'urine ou de selles</a:t>
            </a:r>
            <a:endParaRPr lang="fr-FR" sz="1800" noProof="0" dirty="0"/>
          </a:p>
          <a:p>
            <a:pPr marL="342900" indent="-342900">
              <a:lnSpc>
                <a:spcPct val="102000"/>
              </a:lnSpc>
              <a:spcAft>
                <a:spcPts val="500"/>
              </a:spcAft>
              <a:buSzPct val="100000"/>
              <a:buChar char="•"/>
            </a:pPr>
            <a:r>
              <a:rPr lang="fr-FR" sz="1800" noProof="0" dirty="0">
                <a:solidFill>
                  <a:srgbClr val="23303F"/>
                </a:solidFill>
                <a:latin typeface="Calibri" pitchFamily="34" charset="0"/>
                <a:ea typeface="Calibri" pitchFamily="34" charset="-122"/>
                <a:cs typeface="Calibri" pitchFamily="34" charset="-120"/>
              </a:rPr>
              <a:t>Diminution du volume des urines ou douleur au flanc</a:t>
            </a:r>
            <a:endParaRPr lang="fr-FR" sz="1800" noProof="0" dirty="0"/>
          </a:p>
        </p:txBody>
      </p:sp>
      <p:sp>
        <p:nvSpPr>
          <p:cNvPr id="16" name="Shape 14"/>
          <p:cNvSpPr/>
          <p:nvPr/>
        </p:nvSpPr>
        <p:spPr>
          <a:xfrm>
            <a:off x="566928" y="5358384"/>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17" name="Text 15"/>
          <p:cNvSpPr txBox="1"/>
          <p:nvPr/>
        </p:nvSpPr>
        <p:spPr>
          <a:xfrm>
            <a:off x="841248" y="5413248"/>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Retour :  </a:t>
            </a:r>
            <a:r>
              <a:rPr lang="fr-FR" sz="1800" noProof="0" dirty="0">
                <a:solidFill>
                  <a:srgbClr val="23303F"/>
                </a:solidFill>
                <a:latin typeface="Calibri" pitchFamily="34" charset="0"/>
                <a:ea typeface="Calibri" pitchFamily="34" charset="-122"/>
                <a:cs typeface="Calibri" pitchFamily="34" charset="-120"/>
              </a:rPr>
              <a:t>La fièvre pendant la chimiothérapie est une urgence jusqu'à preuve du contraire. Les fuites vaginales et la diminution de la production urinaire nécessitent toutes deux une évaluation urgente.</a:t>
            </a:r>
            <a:endParaRPr lang="fr-FR" sz="1800" noProof="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164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EFFETS INDÉSIRABLES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Complications d'une maladie avancée</a:t>
            </a:r>
            <a:endParaRPr lang="fr-FR" sz="3200" noProof="0" dirty="0"/>
          </a:p>
        </p:txBody>
      </p:sp>
      <p:sp>
        <p:nvSpPr>
          <p:cNvPr id="6" name="Shape 4"/>
          <p:cNvSpPr/>
          <p:nvPr/>
        </p:nvSpPr>
        <p:spPr>
          <a:xfrm>
            <a:off x="566928" y="1509003"/>
            <a:ext cx="3563112" cy="4026824"/>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531243"/>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Fistule</a:t>
            </a:r>
            <a:endParaRPr lang="fr-FR" sz="2000" noProof="0" dirty="0"/>
          </a:p>
        </p:txBody>
      </p:sp>
      <p:sp>
        <p:nvSpPr>
          <p:cNvPr id="8" name="Text 6"/>
          <p:cNvSpPr txBox="1"/>
          <p:nvPr/>
        </p:nvSpPr>
        <p:spPr>
          <a:xfrm>
            <a:off x="822960" y="2134747"/>
            <a:ext cx="3051048" cy="1773936"/>
          </a:xfrm>
          <a:prstGeom prst="rect">
            <a:avLst/>
          </a:prstGeom>
          <a:noFill/>
          <a:ln/>
        </p:spPr>
        <p:txBody>
          <a:bodyPr wrap="square" lIns="0" tIns="0" rIns="0" bIns="0" rtlCol="0" anchor="t">
            <a:noAutofit/>
          </a:bodyPr>
          <a:lstStyle/>
          <a:p>
            <a:pPr marL="0" indent="0">
              <a:lnSpc>
                <a:spcPct val="106000"/>
              </a:lnSpc>
              <a:buNone/>
            </a:pPr>
            <a:r>
              <a:rPr lang="fr-FR" sz="1458" noProof="0" dirty="0">
                <a:solidFill>
                  <a:srgbClr val="23303F"/>
                </a:solidFill>
                <a:latin typeface="Calibri" pitchFamily="34" charset="0"/>
                <a:ea typeface="Calibri" pitchFamily="34" charset="-122"/>
                <a:cs typeface="Calibri" pitchFamily="34" charset="-120"/>
              </a:rPr>
              <a:t>Fuite continue d'urine ou de selles du vagin. C'est pénible et isolant, et cela nécessite une orientation vers un spécialiste et des soins de la peau attentifs.</a:t>
            </a:r>
            <a:endParaRPr lang="fr-FR" sz="1458" noProof="0" dirty="0"/>
          </a:p>
        </p:txBody>
      </p:sp>
      <p:sp>
        <p:nvSpPr>
          <p:cNvPr id="9" name="Shape 7"/>
          <p:cNvSpPr/>
          <p:nvPr/>
        </p:nvSpPr>
        <p:spPr>
          <a:xfrm>
            <a:off x="4312920" y="1509003"/>
            <a:ext cx="3563112" cy="4026824"/>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531243"/>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Saignement</a:t>
            </a:r>
            <a:endParaRPr lang="fr-FR" sz="2000" noProof="0" dirty="0"/>
          </a:p>
        </p:txBody>
      </p:sp>
      <p:sp>
        <p:nvSpPr>
          <p:cNvPr id="11" name="Text 9"/>
          <p:cNvSpPr txBox="1"/>
          <p:nvPr/>
        </p:nvSpPr>
        <p:spPr>
          <a:xfrm>
            <a:off x="4568952" y="2134747"/>
            <a:ext cx="3051048" cy="1773936"/>
          </a:xfrm>
          <a:prstGeom prst="rect">
            <a:avLst/>
          </a:prstGeom>
          <a:noFill/>
          <a:ln/>
        </p:spPr>
        <p:txBody>
          <a:bodyPr wrap="square" lIns="0" tIns="0" rIns="0" bIns="0" rtlCol="0" anchor="t">
            <a:noAutofit/>
          </a:bodyPr>
          <a:lstStyle/>
          <a:p>
            <a:pPr marL="0" indent="0">
              <a:lnSpc>
                <a:spcPct val="106000"/>
              </a:lnSpc>
              <a:buNone/>
            </a:pPr>
            <a:r>
              <a:rPr lang="fr-FR" sz="1458" noProof="0" dirty="0">
                <a:solidFill>
                  <a:srgbClr val="23303F"/>
                </a:solidFill>
                <a:latin typeface="Calibri" pitchFamily="34" charset="0"/>
                <a:ea typeface="Calibri" pitchFamily="34" charset="-122"/>
                <a:cs typeface="Calibri" pitchFamily="34" charset="-120"/>
              </a:rPr>
              <a:t>Les saignements tumoraux peuvent être abondants et potentiellement mortels. Réanimez et transférez en urgence. La radiothérapie contrôle bien cela.</a:t>
            </a:r>
            <a:endParaRPr lang="fr-FR" sz="1458" noProof="0" dirty="0"/>
          </a:p>
        </p:txBody>
      </p:sp>
      <p:sp>
        <p:nvSpPr>
          <p:cNvPr id="12" name="Shape 10"/>
          <p:cNvSpPr/>
          <p:nvPr/>
        </p:nvSpPr>
        <p:spPr>
          <a:xfrm>
            <a:off x="8058912" y="1509003"/>
            <a:ext cx="3563112" cy="4026824"/>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531243"/>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Obstruction rénale</a:t>
            </a:r>
            <a:endParaRPr lang="fr-FR" sz="2000" noProof="0" dirty="0"/>
          </a:p>
        </p:txBody>
      </p:sp>
      <p:sp>
        <p:nvSpPr>
          <p:cNvPr id="14" name="Text 12"/>
          <p:cNvSpPr txBox="1"/>
          <p:nvPr/>
        </p:nvSpPr>
        <p:spPr>
          <a:xfrm>
            <a:off x="8314944" y="2134747"/>
            <a:ext cx="3051048" cy="1773936"/>
          </a:xfrm>
          <a:prstGeom prst="rect">
            <a:avLst/>
          </a:prstGeom>
          <a:noFill/>
          <a:ln/>
        </p:spPr>
        <p:txBody>
          <a:bodyPr wrap="square" lIns="0" tIns="0" rIns="0" bIns="0" rtlCol="0" anchor="t">
            <a:noAutofit/>
          </a:bodyPr>
          <a:lstStyle/>
          <a:p>
            <a:pPr marL="0" indent="0">
              <a:lnSpc>
                <a:spcPct val="106000"/>
              </a:lnSpc>
              <a:buNone/>
            </a:pPr>
            <a:r>
              <a:rPr lang="fr-FR" sz="1458" noProof="0" dirty="0">
                <a:solidFill>
                  <a:srgbClr val="23303F"/>
                </a:solidFill>
                <a:latin typeface="Calibri" pitchFamily="34" charset="0"/>
                <a:ea typeface="Calibri" pitchFamily="34" charset="-122"/>
                <a:cs typeface="Calibri" pitchFamily="34" charset="-120"/>
              </a:rPr>
              <a:t>La pression tumorale sur les uretères provoque une insuffisance rénale. Une diminution de la production urinaire ou une douleur au flanc est une constatation urgente.</a:t>
            </a:r>
            <a:endParaRPr lang="fr-FR" sz="1458" noProof="0" dirty="0"/>
          </a:p>
        </p:txBody>
      </p:sp>
      <p:sp>
        <p:nvSpPr>
          <p:cNvPr id="15" name="Shape 13"/>
          <p:cNvSpPr/>
          <p:nvPr/>
        </p:nvSpPr>
        <p:spPr>
          <a:xfrm>
            <a:off x="566928" y="5703040"/>
            <a:ext cx="11055096" cy="611760"/>
          </a:xfrm>
          <a:prstGeom prst="roundRect">
            <a:avLst>
              <a:gd name="adj" fmla="val 8140"/>
            </a:avLst>
          </a:prstGeom>
          <a:solidFill>
            <a:srgbClr val="EAF7F0"/>
          </a:solidFill>
          <a:ln w="12700">
            <a:solidFill>
              <a:srgbClr val="C0D4CB"/>
            </a:solidFill>
            <a:prstDash val="solid"/>
          </a:ln>
        </p:spPr>
        <p:txBody>
          <a:bodyPr/>
          <a:lstStyle/>
          <a:p>
            <a:endParaRPr lang="fr-FR" sz="1600" noProof="0" dirty="0"/>
          </a:p>
        </p:txBody>
      </p:sp>
      <p:sp>
        <p:nvSpPr>
          <p:cNvPr id="16" name="Text 14"/>
          <p:cNvSpPr txBox="1"/>
          <p:nvPr/>
        </p:nvSpPr>
        <p:spPr>
          <a:xfrm>
            <a:off x="841248" y="5770609"/>
            <a:ext cx="10506456" cy="526398"/>
          </a:xfrm>
          <a:prstGeom prst="rect">
            <a:avLst/>
          </a:prstGeom>
          <a:noFill/>
          <a:ln/>
        </p:spPr>
        <p:txBody>
          <a:bodyPr wrap="square" lIns="0" tIns="0" rIns="0" bIns="0" rtlCol="0" anchor="ctr">
            <a:noAutofit/>
          </a:bodyPr>
          <a:lstStyle/>
          <a:p>
            <a:pPr marL="0" indent="0">
              <a:lnSpc>
                <a:spcPct val="104000"/>
              </a:lnSpc>
              <a:buNone/>
            </a:pPr>
            <a:r>
              <a:rPr lang="fr-FR" sz="1408" b="1" noProof="0" dirty="0">
                <a:solidFill>
                  <a:srgbClr val="19543E"/>
                </a:solidFill>
                <a:latin typeface="Calibri" pitchFamily="34" charset="0"/>
                <a:ea typeface="Calibri" pitchFamily="34" charset="-122"/>
                <a:cs typeface="Calibri" pitchFamily="34" charset="-120"/>
              </a:rPr>
              <a:t>💬 Autre traitement : Un écoulement malodorant d'une tumeur est humiliant pour la femme et peut être efficacement pris en charge. Gérez-le activement et de manière factuelle.</a:t>
            </a:r>
            <a:endParaRPr lang="fr-FR" sz="1408" noProof="0" dirty="0"/>
          </a:p>
        </p:txBody>
      </p:sp>
      <p:pic>
        <p:nvPicPr>
          <p:cNvPr id="18" name="Imagen 17">
            <a:extLst>
              <a:ext uri="{FF2B5EF4-FFF2-40B4-BE49-F238E27FC236}">
                <a16:creationId xmlns:a16="http://schemas.microsoft.com/office/drawing/2014/main" id="{25ECD44A-2728-C43F-5B42-5AD8A9AC94DB}"/>
              </a:ext>
            </a:extLst>
          </p:cNvPr>
          <p:cNvPicPr>
            <a:picLocks noChangeAspect="1"/>
          </p:cNvPicPr>
          <p:nvPr/>
        </p:nvPicPr>
        <p:blipFill>
          <a:blip r:embed="rId3"/>
          <a:srcRect/>
          <a:stretch>
            <a:fillRect/>
          </a:stretch>
        </p:blipFill>
        <p:spPr>
          <a:xfrm>
            <a:off x="1360934" y="3583134"/>
            <a:ext cx="1974933" cy="1974933"/>
          </a:xfrm>
          <a:prstGeom prst="rect">
            <a:avLst/>
          </a:prstGeom>
        </p:spPr>
      </p:pic>
      <p:pic>
        <p:nvPicPr>
          <p:cNvPr id="19" name="Imagen 18">
            <a:extLst>
              <a:ext uri="{FF2B5EF4-FFF2-40B4-BE49-F238E27FC236}">
                <a16:creationId xmlns:a16="http://schemas.microsoft.com/office/drawing/2014/main" id="{7D02C55A-D020-4FC6-2E3F-1263F2B283FD}"/>
              </a:ext>
            </a:extLst>
          </p:cNvPr>
          <p:cNvPicPr>
            <a:picLocks noChangeAspect="1"/>
          </p:cNvPicPr>
          <p:nvPr/>
        </p:nvPicPr>
        <p:blipFill>
          <a:blip r:embed="rId4"/>
          <a:srcRect/>
          <a:stretch>
            <a:fillRect/>
          </a:stretch>
        </p:blipFill>
        <p:spPr>
          <a:xfrm>
            <a:off x="5037980" y="3354639"/>
            <a:ext cx="2098170" cy="2098170"/>
          </a:xfrm>
          <a:prstGeom prst="rect">
            <a:avLst/>
          </a:prstGeom>
        </p:spPr>
      </p:pic>
      <p:pic>
        <p:nvPicPr>
          <p:cNvPr id="20" name="Imagen 19">
            <a:extLst>
              <a:ext uri="{FF2B5EF4-FFF2-40B4-BE49-F238E27FC236}">
                <a16:creationId xmlns:a16="http://schemas.microsoft.com/office/drawing/2014/main" id="{5131C500-9FB3-4774-486B-6C5C1E840AE4}"/>
              </a:ext>
            </a:extLst>
          </p:cNvPr>
          <p:cNvPicPr>
            <a:picLocks noChangeAspect="1"/>
          </p:cNvPicPr>
          <p:nvPr/>
        </p:nvPicPr>
        <p:blipFill>
          <a:blip r:embed="rId5" cstate="screen">
            <a:extLst>
              <a:ext uri="{28A0092B-C50C-407E-A947-70E740481C1C}">
                <a14:useLocalDpi xmlns:a14="http://schemas.microsoft.com/office/drawing/2010/main"/>
              </a:ext>
            </a:extLst>
          </a:blip>
          <a:srcRect t="20490" b="28148"/>
          <a:stretch>
            <a:fillRect/>
          </a:stretch>
        </p:blipFill>
        <p:spPr>
          <a:xfrm>
            <a:off x="8284493" y="3429000"/>
            <a:ext cx="3111949" cy="1598361"/>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165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SANTÉ SEXUELLE ET REPRODUCTIVE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J'aborde le sujet avec respect</a:t>
            </a:r>
            <a:endParaRPr lang="fr-FR" sz="3200" noProof="0" dirty="0"/>
          </a:p>
        </p:txBody>
      </p:sp>
      <p:sp>
        <p:nvSpPr>
          <p:cNvPr id="6" name="Shape 4"/>
          <p:cNvSpPr/>
          <p:nvPr/>
        </p:nvSpPr>
        <p:spPr>
          <a:xfrm>
            <a:off x="566928" y="1746064"/>
            <a:ext cx="3563112" cy="2537805"/>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789386"/>
            <a:ext cx="3051048" cy="623621"/>
          </a:xfrm>
          <a:prstGeom prst="rect">
            <a:avLst/>
          </a:prstGeom>
          <a:noFill/>
          <a:ln/>
        </p:spPr>
        <p:txBody>
          <a:bodyPr wrap="square" lIns="0" tIns="0" rIns="0" bIns="0" rtlCol="0" anchor="ctr">
            <a:noAutofit/>
          </a:bodyPr>
          <a:lstStyle/>
          <a:p>
            <a:pPr marL="0" indent="0">
              <a:buNone/>
            </a:pPr>
            <a:r>
              <a:rPr lang="fr-FR" sz="1580" b="1" noProof="0" dirty="0">
                <a:solidFill>
                  <a:srgbClr val="10305A"/>
                </a:solidFill>
                <a:latin typeface="Calibri" pitchFamily="34" charset="0"/>
                <a:ea typeface="Calibri" pitchFamily="34" charset="-122"/>
                <a:cs typeface="Calibri" pitchFamily="34" charset="-120"/>
              </a:rPr>
              <a:t>💬 Pourquoi vous devez aborder le sujet</a:t>
            </a:r>
            <a:endParaRPr lang="fr-FR" sz="1580" noProof="0" dirty="0"/>
          </a:p>
        </p:txBody>
      </p:sp>
      <p:sp>
        <p:nvSpPr>
          <p:cNvPr id="8" name="Text 6"/>
          <p:cNvSpPr txBox="1"/>
          <p:nvPr/>
        </p:nvSpPr>
        <p:spPr>
          <a:xfrm>
            <a:off x="822960" y="2332539"/>
            <a:ext cx="3051048" cy="1951330"/>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Les femmes soulèvent rarement ces problèmes elles-mêmes. Si personne ne demande, rien n'est proposé.</a:t>
            </a:r>
            <a:endParaRPr lang="fr-FR" sz="1800" noProof="0" dirty="0"/>
          </a:p>
        </p:txBody>
      </p:sp>
      <p:sp>
        <p:nvSpPr>
          <p:cNvPr id="9" name="Shape 7"/>
          <p:cNvSpPr/>
          <p:nvPr/>
        </p:nvSpPr>
        <p:spPr>
          <a:xfrm>
            <a:off x="4312920" y="1746064"/>
            <a:ext cx="3563112" cy="2537805"/>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789386"/>
            <a:ext cx="3051048" cy="623621"/>
          </a:xfrm>
          <a:prstGeom prst="rect">
            <a:avLst/>
          </a:prstGeom>
          <a:noFill/>
          <a:ln/>
        </p:spPr>
        <p:txBody>
          <a:bodyPr wrap="square" lIns="0" tIns="0" rIns="0" bIns="0" rtlCol="0" anchor="ctr">
            <a:noAutofit/>
          </a:bodyPr>
          <a:lstStyle/>
          <a:p>
            <a:pPr marL="0" indent="0">
              <a:buNone/>
            </a:pPr>
            <a:r>
              <a:rPr lang="fr-FR" sz="1580" b="1" noProof="0" dirty="0">
                <a:solidFill>
                  <a:srgbClr val="10305A"/>
                </a:solidFill>
                <a:latin typeface="Calibri" pitchFamily="34" charset="0"/>
                <a:ea typeface="Calibri" pitchFamily="34" charset="-122"/>
                <a:cs typeface="Calibri" pitchFamily="34" charset="-120"/>
              </a:rPr>
              <a:t>🩺 Sur quoi demander</a:t>
            </a:r>
            <a:endParaRPr lang="fr-FR" sz="1580" noProof="0" dirty="0"/>
          </a:p>
        </p:txBody>
      </p:sp>
      <p:sp>
        <p:nvSpPr>
          <p:cNvPr id="11" name="Text 9"/>
          <p:cNvSpPr txBox="1"/>
          <p:nvPr/>
        </p:nvSpPr>
        <p:spPr>
          <a:xfrm>
            <a:off x="4568952" y="2332539"/>
            <a:ext cx="3051048" cy="1951330"/>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Sécheresse ou rétrécissement vaginal, douleurs lors des rapports sexuels, symptômes de la ménopause, image corporelle et relations.</a:t>
            </a:r>
            <a:endParaRPr lang="fr-FR" sz="1800" noProof="0" dirty="0"/>
          </a:p>
        </p:txBody>
      </p:sp>
      <p:sp>
        <p:nvSpPr>
          <p:cNvPr id="12" name="Shape 10"/>
          <p:cNvSpPr/>
          <p:nvPr/>
        </p:nvSpPr>
        <p:spPr>
          <a:xfrm>
            <a:off x="8058912" y="1746064"/>
            <a:ext cx="3563112" cy="2537805"/>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789386"/>
            <a:ext cx="3051048" cy="623621"/>
          </a:xfrm>
          <a:prstGeom prst="rect">
            <a:avLst/>
          </a:prstGeom>
          <a:noFill/>
          <a:ln/>
        </p:spPr>
        <p:txBody>
          <a:bodyPr wrap="square" lIns="0" tIns="0" rIns="0" bIns="0" rtlCol="0" anchor="ctr">
            <a:noAutofit/>
          </a:bodyPr>
          <a:lstStyle/>
          <a:p>
            <a:pPr marL="0" indent="0">
              <a:buNone/>
            </a:pPr>
            <a:r>
              <a:rPr lang="fr-FR" sz="1580" b="1" noProof="0" dirty="0">
                <a:solidFill>
                  <a:srgbClr val="10305A"/>
                </a:solidFill>
                <a:latin typeface="Calibri" pitchFamily="34" charset="0"/>
                <a:ea typeface="Calibri" pitchFamily="34" charset="-122"/>
                <a:cs typeface="Calibri" pitchFamily="34" charset="-120"/>
              </a:rPr>
              <a:t>✅ Qu'est-ce qui peut aider</a:t>
            </a:r>
            <a:endParaRPr lang="fr-FR" sz="1580" noProof="0" dirty="0"/>
          </a:p>
        </p:txBody>
      </p:sp>
      <p:sp>
        <p:nvSpPr>
          <p:cNvPr id="14" name="Text 12"/>
          <p:cNvSpPr txBox="1"/>
          <p:nvPr/>
        </p:nvSpPr>
        <p:spPr>
          <a:xfrm>
            <a:off x="8314944" y="2332539"/>
            <a:ext cx="3051048" cy="1951330"/>
          </a:xfrm>
          <a:prstGeom prst="rect">
            <a:avLst/>
          </a:prstGeom>
          <a:noFill/>
          <a:ln/>
        </p:spPr>
        <p:txBody>
          <a:bodyPr wrap="square" lIns="0" tIns="0" rIns="0" bIns="0" rtlCol="0" anchor="t"/>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Lubrifiants, dilatateurs vaginaux quand recommandé, traitement des symptômes de la ménopause, et informations honnêtes.</a:t>
            </a:r>
            <a:endParaRPr lang="fr-FR" sz="1800" noProof="0" dirty="0"/>
          </a:p>
        </p:txBody>
      </p:sp>
      <p:sp>
        <p:nvSpPr>
          <p:cNvPr id="15" name="Shape 13"/>
          <p:cNvSpPr/>
          <p:nvPr/>
        </p:nvSpPr>
        <p:spPr>
          <a:xfrm>
            <a:off x="585216" y="5048563"/>
            <a:ext cx="11055096" cy="818840"/>
          </a:xfrm>
          <a:prstGeom prst="roundRect">
            <a:avLst>
              <a:gd name="adj" fmla="val 8140"/>
            </a:avLst>
          </a:prstGeom>
          <a:solidFill>
            <a:srgbClr val="FDE9E8"/>
          </a:solidFill>
          <a:ln w="12700">
            <a:solidFill>
              <a:srgbClr val="F0CFCE"/>
            </a:solidFill>
            <a:prstDash val="solid"/>
          </a:ln>
        </p:spPr>
        <p:txBody>
          <a:bodyPr/>
          <a:lstStyle/>
          <a:p>
            <a:endParaRPr lang="fr-FR" noProof="0" dirty="0"/>
          </a:p>
        </p:txBody>
      </p:sp>
      <p:sp>
        <p:nvSpPr>
          <p:cNvPr id="16" name="Text 14"/>
          <p:cNvSpPr txBox="1"/>
          <p:nvPr/>
        </p:nvSpPr>
        <p:spPr>
          <a:xfrm>
            <a:off x="859536" y="5145027"/>
            <a:ext cx="10506456" cy="704583"/>
          </a:xfrm>
          <a:prstGeom prst="rect">
            <a:avLst/>
          </a:prstGeom>
          <a:noFill/>
          <a:ln/>
        </p:spPr>
        <p:txBody>
          <a:bodyPr wrap="square" lIns="0" tIns="0" rIns="0" bIns="0" rtlCol="0" anchor="ctr"/>
          <a:lstStyle/>
          <a:p>
            <a:pPr marL="0" indent="0">
              <a:lnSpc>
                <a:spcPct val="104000"/>
              </a:lnSpc>
              <a:buNone/>
            </a:pPr>
            <a:r>
              <a:rPr lang="fr-FR" b="1" noProof="0" dirty="0">
                <a:solidFill>
                  <a:srgbClr val="8E2531"/>
                </a:solidFill>
                <a:latin typeface="Calibri" pitchFamily="34" charset="0"/>
                <a:ea typeface="Calibri" pitchFamily="34" charset="-122"/>
                <a:cs typeface="Calibri" pitchFamily="34" charset="-120"/>
              </a:rPr>
              <a:t>❌ Évitez les suppositions :  </a:t>
            </a:r>
            <a:r>
              <a:rPr lang="fr-FR" noProof="0" dirty="0">
                <a:solidFill>
                  <a:srgbClr val="23303F"/>
                </a:solidFill>
                <a:latin typeface="Calibri" pitchFamily="34" charset="0"/>
                <a:ea typeface="Calibri" pitchFamily="34" charset="-122"/>
                <a:cs typeface="Calibri" pitchFamily="34" charset="-120"/>
              </a:rPr>
              <a:t>ne supposez rien concernant l'activité sexuelle, l'état civil, les objectifs de fertilité ou les relations d'une femme. Demandez, et laissez-la répondre.</a:t>
            </a:r>
            <a:endParaRPr lang="fr-FR" noProof="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166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SANTÉ SEXUELLE ET REPRODUCTIVE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Fertilité et ménopause</a:t>
            </a:r>
            <a:endParaRPr lang="fr-FR" sz="3200" noProof="0" dirty="0"/>
          </a:p>
        </p:txBody>
      </p:sp>
      <p:sp>
        <p:nvSpPr>
          <p:cNvPr id="6" name="Shape 4"/>
          <p:cNvSpPr/>
          <p:nvPr/>
        </p:nvSpPr>
        <p:spPr>
          <a:xfrm>
            <a:off x="566928" y="1632576"/>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632576"/>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687440"/>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Le traitement du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du col de l'utérus préserve l'utérus et la fertilité.</a:t>
            </a:r>
            <a:endParaRPr lang="fr-FR" sz="1800" noProof="0" dirty="0"/>
          </a:p>
        </p:txBody>
      </p:sp>
      <p:sp>
        <p:nvSpPr>
          <p:cNvPr id="9" name="Shape 7"/>
          <p:cNvSpPr/>
          <p:nvPr/>
        </p:nvSpPr>
        <p:spPr>
          <a:xfrm>
            <a:off x="566928" y="2546384"/>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546384"/>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2601248"/>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Pour le cancer invasif, l'effet sur la fertilité dépend du stade et du traitement.</a:t>
            </a:r>
            <a:endParaRPr lang="fr-FR" sz="1800" noProof="0" dirty="0"/>
          </a:p>
        </p:txBody>
      </p:sp>
      <p:sp>
        <p:nvSpPr>
          <p:cNvPr id="12" name="Shape 10"/>
          <p:cNvSpPr/>
          <p:nvPr/>
        </p:nvSpPr>
        <p:spPr>
          <a:xfrm>
            <a:off x="566928" y="3460191"/>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460191"/>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3515055"/>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Abordez la question de la fertilité avant de planifier le traitement, et non après.</a:t>
            </a:r>
            <a:endParaRPr lang="fr-FR" sz="1800" noProof="0" dirty="0"/>
          </a:p>
        </p:txBody>
      </p:sp>
      <p:sp>
        <p:nvSpPr>
          <p:cNvPr id="15" name="Shape 13"/>
          <p:cNvSpPr/>
          <p:nvPr/>
        </p:nvSpPr>
        <p:spPr>
          <a:xfrm>
            <a:off x="566928" y="4373999"/>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4373999"/>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4428863"/>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La perte de fonction ovarienne peut provoquer des symptômes soudains de ménopause, parfois chez une jeune femme.</a:t>
            </a:r>
            <a:endParaRPr lang="fr-FR" sz="1800" noProof="0" dirty="0"/>
          </a:p>
        </p:txBody>
      </p:sp>
      <p:sp>
        <p:nvSpPr>
          <p:cNvPr id="18" name="Shape 16"/>
          <p:cNvSpPr/>
          <p:nvPr/>
        </p:nvSpPr>
        <p:spPr>
          <a:xfrm>
            <a:off x="566928" y="5541571"/>
            <a:ext cx="11055096" cy="603197"/>
          </a:xfrm>
          <a:prstGeom prst="roundRect">
            <a:avLst>
              <a:gd name="adj" fmla="val 8308"/>
            </a:avLst>
          </a:prstGeom>
          <a:solidFill>
            <a:srgbClr val="F3F6FB"/>
          </a:solidFill>
          <a:ln w="12700">
            <a:solidFill>
              <a:srgbClr val="E0E3EA"/>
            </a:solidFill>
            <a:prstDash val="solid"/>
          </a:ln>
        </p:spPr>
        <p:txBody>
          <a:bodyPr/>
          <a:lstStyle/>
          <a:p>
            <a:endParaRPr lang="fr-FR" sz="1600" noProof="0" dirty="0"/>
          </a:p>
        </p:txBody>
      </p:sp>
      <p:sp>
        <p:nvSpPr>
          <p:cNvPr id="19" name="Text 17"/>
          <p:cNvSpPr txBox="1"/>
          <p:nvPr/>
        </p:nvSpPr>
        <p:spPr>
          <a:xfrm>
            <a:off x="786384" y="5541571"/>
            <a:ext cx="548640" cy="603197"/>
          </a:xfrm>
          <a:prstGeom prst="rect">
            <a:avLst/>
          </a:prstGeom>
          <a:noFill/>
          <a:ln/>
        </p:spPr>
        <p:txBody>
          <a:bodyPr wrap="square" lIns="0" tIns="0" rIns="0" bIns="0" rtlCol="0" anchor="ctr"/>
          <a:lstStyle/>
          <a:p>
            <a:pPr marL="0" indent="0" algn="ctr">
              <a:buNone/>
            </a:pPr>
            <a:r>
              <a:rPr lang="fr-FR" noProof="0" dirty="0">
                <a:solidFill>
                  <a:srgbClr val="000000"/>
                </a:solidFill>
                <a:latin typeface="Calibri" pitchFamily="34" charset="0"/>
                <a:ea typeface="Calibri" pitchFamily="34" charset="-122"/>
                <a:cs typeface="Calibri" pitchFamily="34" charset="-120"/>
              </a:rPr>
              <a:t>💬</a:t>
            </a:r>
            <a:endParaRPr lang="fr-FR" noProof="0" dirty="0"/>
          </a:p>
        </p:txBody>
      </p:sp>
      <p:sp>
        <p:nvSpPr>
          <p:cNvPr id="20" name="Text 18"/>
          <p:cNvSpPr txBox="1"/>
          <p:nvPr/>
        </p:nvSpPr>
        <p:spPr>
          <a:xfrm>
            <a:off x="1463040" y="5572613"/>
            <a:ext cx="9866376" cy="517291"/>
          </a:xfrm>
          <a:prstGeom prst="rect">
            <a:avLst/>
          </a:prstGeom>
          <a:noFill/>
          <a:ln/>
        </p:spPr>
        <p:txBody>
          <a:bodyPr wrap="square" lIns="0" tIns="0" rIns="0" bIns="0" rtlCol="0" anchor="ctr"/>
          <a:lstStyle/>
          <a:p>
            <a:pPr marL="0" indent="0">
              <a:lnSpc>
                <a:spcPct val="104000"/>
              </a:lnSpc>
              <a:buNone/>
            </a:pPr>
            <a:r>
              <a:rPr lang="fr-FR" sz="1600" noProof="0" dirty="0">
                <a:solidFill>
                  <a:srgbClr val="23303F"/>
                </a:solidFill>
                <a:latin typeface="Calibri" pitchFamily="34" charset="0"/>
                <a:ea typeface="Calibri" pitchFamily="34" charset="-122"/>
                <a:cs typeface="Calibri" pitchFamily="34" charset="-120"/>
              </a:rPr>
              <a:t>La perte de fertilité est un deuil. Reconnaissez cette perte et laissez à la femme la possibilité d'en parler.</a:t>
            </a:r>
            <a:endParaRPr lang="fr-FR" sz="1600" noProof="0" dirty="0"/>
          </a:p>
        </p:txBody>
      </p:sp>
      <p:sp>
        <p:nvSpPr>
          <p:cNvPr id="21" name="Shape 19"/>
          <p:cNvSpPr/>
          <p:nvPr/>
        </p:nvSpPr>
        <p:spPr>
          <a:xfrm>
            <a:off x="566928" y="5565684"/>
            <a:ext cx="11055096" cy="615660"/>
          </a:xfrm>
          <a:prstGeom prst="roundRect">
            <a:avLst>
              <a:gd name="adj" fmla="val 8140"/>
            </a:avLst>
          </a:prstGeom>
          <a:solidFill>
            <a:srgbClr val="FFF2DF"/>
          </a:solidFill>
          <a:ln w="12700">
            <a:solidFill>
              <a:srgbClr val="E8DDC7"/>
            </a:solidFill>
            <a:prstDash val="solid"/>
          </a:ln>
        </p:spPr>
        <p:txBody>
          <a:bodyPr/>
          <a:lstStyle/>
          <a:p>
            <a:endParaRPr lang="fr-FR" sz="1600" noProof="0" dirty="0"/>
          </a:p>
        </p:txBody>
      </p:sp>
      <p:sp>
        <p:nvSpPr>
          <p:cNvPr id="22" name="Text 20"/>
          <p:cNvSpPr txBox="1"/>
          <p:nvPr/>
        </p:nvSpPr>
        <p:spPr>
          <a:xfrm>
            <a:off x="841248" y="5596726"/>
            <a:ext cx="10506456" cy="529754"/>
          </a:xfrm>
          <a:prstGeom prst="rect">
            <a:avLst/>
          </a:prstGeom>
          <a:noFill/>
          <a:ln/>
        </p:spPr>
        <p:txBody>
          <a:bodyPr wrap="square" lIns="0" tIns="0" rIns="0" bIns="0" rtlCol="0" anchor="ctr">
            <a:noAutofit/>
          </a:bodyPr>
          <a:lstStyle/>
          <a:p>
            <a:pPr marL="0" indent="0">
              <a:lnSpc>
                <a:spcPct val="104000"/>
              </a:lnSpc>
              <a:buNone/>
            </a:pPr>
            <a:r>
              <a:rPr lang="fr-FR" sz="1408" b="1" noProof="0" dirty="0">
                <a:solidFill>
                  <a:srgbClr val="7B5727"/>
                </a:solidFill>
                <a:latin typeface="Calibri" pitchFamily="34" charset="0"/>
                <a:ea typeface="Calibri" pitchFamily="34" charset="-122"/>
                <a:cs typeface="Calibri" pitchFamily="34" charset="-120"/>
              </a:rPr>
              <a:t>📌 Rappelez-vous : la peur de l'infertilité est l'une des raisons les plus courantes pour lesquelles les femmes déclinent ou abandonnent le traitement. Aborder cette question tôt favorise l'adhésion au traitement.</a:t>
            </a:r>
            <a:endParaRPr lang="fr-FR" sz="1408" noProof="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167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SOINS PALLIATIFS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Ce que sont les soins palliatifs</a:t>
            </a:r>
            <a:endParaRPr lang="fr-FR" sz="3200" noProof="0" dirty="0"/>
          </a:p>
        </p:txBody>
      </p:sp>
      <p:sp>
        <p:nvSpPr>
          <p:cNvPr id="6" name="Shape 4"/>
          <p:cNvSpPr/>
          <p:nvPr/>
        </p:nvSpPr>
        <p:spPr>
          <a:xfrm>
            <a:off x="566928" y="1414277"/>
            <a:ext cx="3563112" cy="401170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523016"/>
            <a:ext cx="3051048" cy="566928"/>
          </a:xfrm>
          <a:prstGeom prst="rect">
            <a:avLst/>
          </a:prstGeom>
          <a:noFill/>
          <a:ln/>
        </p:spPr>
        <p:txBody>
          <a:bodyPr wrap="square" lIns="0" tIns="0" rIns="0" bIns="0" rtlCol="0" anchor="ctr">
            <a:noAutofit/>
          </a:bodyPr>
          <a:lstStyle/>
          <a:p>
            <a:pPr marL="0" indent="0">
              <a:buNone/>
            </a:pPr>
            <a:r>
              <a:rPr lang="fr-FR" sz="1920" b="1" noProof="0" dirty="0">
                <a:solidFill>
                  <a:srgbClr val="10305A"/>
                </a:solidFill>
                <a:latin typeface="Calibri" pitchFamily="34" charset="0"/>
                <a:ea typeface="Calibri" pitchFamily="34" charset="-122"/>
                <a:cs typeface="Calibri" pitchFamily="34" charset="-120"/>
              </a:rPr>
              <a:t>🤝 Soulagement des symptômes et soutien</a:t>
            </a:r>
            <a:endParaRPr lang="fr-FR" sz="1920" noProof="0" dirty="0"/>
          </a:p>
        </p:txBody>
      </p:sp>
      <p:sp>
        <p:nvSpPr>
          <p:cNvPr id="8" name="Text 6"/>
          <p:cNvSpPr txBox="1"/>
          <p:nvPr/>
        </p:nvSpPr>
        <p:spPr>
          <a:xfrm>
            <a:off x="841248" y="2168226"/>
            <a:ext cx="3051048" cy="1164503"/>
          </a:xfrm>
          <a:prstGeom prst="rect">
            <a:avLst/>
          </a:prstGeom>
          <a:noFill/>
          <a:ln/>
        </p:spPr>
        <p:txBody>
          <a:bodyPr wrap="square" lIns="0" tIns="0" rIns="0" bIns="0" rtlCol="0" anchor="t">
            <a:normAutofit fontScale="95500"/>
          </a:bodyP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Des soins qui traitent la douleur, les saignements, les pertes, la fatigue et la détresse, pour la femme et sa famille.</a:t>
            </a:r>
            <a:endParaRPr lang="fr-FR" sz="1800" noProof="0" dirty="0"/>
          </a:p>
        </p:txBody>
      </p:sp>
      <p:sp>
        <p:nvSpPr>
          <p:cNvPr id="9" name="Shape 7"/>
          <p:cNvSpPr/>
          <p:nvPr/>
        </p:nvSpPr>
        <p:spPr>
          <a:xfrm>
            <a:off x="4312920" y="1414277"/>
            <a:ext cx="3563112" cy="401170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461231"/>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Pas seulement la fin de vie</a:t>
            </a:r>
            <a:endParaRPr lang="fr-FR" sz="2000" noProof="0" dirty="0"/>
          </a:p>
        </p:txBody>
      </p:sp>
      <p:sp>
        <p:nvSpPr>
          <p:cNvPr id="11" name="Text 9"/>
          <p:cNvSpPr txBox="1"/>
          <p:nvPr/>
        </p:nvSpPr>
        <p:spPr>
          <a:xfrm>
            <a:off x="4568952" y="2064735"/>
            <a:ext cx="3051048" cy="1773936"/>
          </a:xfrm>
          <a:prstGeom prst="rect">
            <a:avLst/>
          </a:prstGeom>
          <a:noFill/>
          <a:ln/>
        </p:spPr>
        <p:txBody>
          <a:bodyPr wrap="square" lIns="0" tIns="0" rIns="0" bIns="0" rtlCol="0" anchor="t">
            <a:noAutofit/>
          </a:bodyPr>
          <a:lstStyle/>
          <a:p>
            <a:pPr marL="0" indent="0">
              <a:lnSpc>
                <a:spcPct val="106000"/>
              </a:lnSpc>
              <a:buNone/>
            </a:pPr>
            <a:r>
              <a:rPr lang="fr-FR" sz="1584" noProof="0" dirty="0">
                <a:solidFill>
                  <a:srgbClr val="23303F"/>
                </a:solidFill>
                <a:latin typeface="Calibri" pitchFamily="34" charset="0"/>
                <a:ea typeface="Calibri" pitchFamily="34" charset="-122"/>
                <a:cs typeface="Calibri" pitchFamily="34" charset="-120"/>
              </a:rPr>
              <a:t>Les soins palliatifs peuvent commencer tôt dans l'évolution de la maladie, et peut s'accompagner d'un traitement contre le cancer.</a:t>
            </a:r>
            <a:endParaRPr lang="fr-FR" sz="1584" noProof="0" dirty="0"/>
          </a:p>
        </p:txBody>
      </p:sp>
      <p:sp>
        <p:nvSpPr>
          <p:cNvPr id="12" name="Shape 10"/>
          <p:cNvSpPr/>
          <p:nvPr/>
        </p:nvSpPr>
        <p:spPr>
          <a:xfrm>
            <a:off x="8058912" y="1414277"/>
            <a:ext cx="3563112" cy="401170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461231"/>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Là où ça se passe</a:t>
            </a:r>
            <a:endParaRPr lang="fr-FR" sz="2000" noProof="0" dirty="0"/>
          </a:p>
        </p:txBody>
      </p:sp>
      <p:sp>
        <p:nvSpPr>
          <p:cNvPr id="14" name="Text 12"/>
          <p:cNvSpPr txBox="1"/>
          <p:nvPr/>
        </p:nvSpPr>
        <p:spPr>
          <a:xfrm>
            <a:off x="8314944" y="2064735"/>
            <a:ext cx="3051048" cy="1773936"/>
          </a:xfrm>
          <a:prstGeom prst="rect">
            <a:avLst/>
          </a:prstGeom>
          <a:noFill/>
          <a:ln/>
        </p:spPr>
        <p:txBody>
          <a:bodyPr wrap="square" lIns="0" tIns="0" rIns="0" bIns="0" rtlCol="0" anchor="t">
            <a:noAutofit/>
          </a:bodyPr>
          <a:lstStyle/>
          <a:p>
            <a:pPr marL="0" indent="0">
              <a:lnSpc>
                <a:spcPct val="106000"/>
              </a:lnSpc>
              <a:buNone/>
            </a:pPr>
            <a:r>
              <a:rPr lang="fr-FR" sz="1584" noProof="0" dirty="0">
                <a:solidFill>
                  <a:srgbClr val="23303F"/>
                </a:solidFill>
                <a:latin typeface="Calibri" pitchFamily="34" charset="0"/>
                <a:ea typeface="Calibri" pitchFamily="34" charset="-122"/>
                <a:cs typeface="Calibri" pitchFamily="34" charset="-120"/>
              </a:rPr>
              <a:t>Une grande partie se fait à la maison, soutenue par des services du district et des services communautaires.</a:t>
            </a:r>
            <a:endParaRPr lang="fr-FR" sz="1584" noProof="0" dirty="0"/>
          </a:p>
        </p:txBody>
      </p:sp>
      <p:sp>
        <p:nvSpPr>
          <p:cNvPr id="15" name="Shape 13"/>
          <p:cNvSpPr/>
          <p:nvPr/>
        </p:nvSpPr>
        <p:spPr>
          <a:xfrm>
            <a:off x="566928" y="5577468"/>
            <a:ext cx="11055096" cy="626121"/>
          </a:xfrm>
          <a:prstGeom prst="roundRect">
            <a:avLst>
              <a:gd name="adj" fmla="val 8140"/>
            </a:avLst>
          </a:prstGeom>
          <a:solidFill>
            <a:srgbClr val="FDE9E8"/>
          </a:solidFill>
          <a:ln w="12700">
            <a:solidFill>
              <a:srgbClr val="F0CFCE"/>
            </a:solidFill>
            <a:prstDash val="solid"/>
          </a:ln>
        </p:spPr>
        <p:txBody>
          <a:bodyPr/>
          <a:lstStyle/>
          <a:p>
            <a:endParaRPr lang="fr-FR" sz="1600" noProof="0" dirty="0"/>
          </a:p>
        </p:txBody>
      </p:sp>
      <p:sp>
        <p:nvSpPr>
          <p:cNvPr id="16" name="Text 14"/>
          <p:cNvSpPr txBox="1"/>
          <p:nvPr/>
        </p:nvSpPr>
        <p:spPr>
          <a:xfrm>
            <a:off x="841248" y="5647041"/>
            <a:ext cx="10506456" cy="538755"/>
          </a:xfrm>
          <a:prstGeom prst="rect">
            <a:avLst/>
          </a:prstGeom>
          <a:noFill/>
          <a:ln/>
        </p:spPr>
        <p:txBody>
          <a:bodyPr wrap="square" lIns="0" tIns="0" rIns="0" bIns="0" rtlCol="0" anchor="ctr">
            <a:noAutofit/>
          </a:bodyPr>
          <a:lstStyle/>
          <a:p>
            <a:pPr marL="0" indent="0">
              <a:lnSpc>
                <a:spcPct val="104000"/>
              </a:lnSpc>
              <a:buNone/>
            </a:pPr>
            <a:r>
              <a:rPr lang="fr-FR" sz="1440" b="1" noProof="0" dirty="0">
                <a:solidFill>
                  <a:srgbClr val="8E2531"/>
                </a:solidFill>
                <a:latin typeface="Calibri" pitchFamily="34" charset="0"/>
                <a:ea typeface="Calibri" pitchFamily="34" charset="-122"/>
                <a:cs typeface="Calibri" pitchFamily="34" charset="-120"/>
              </a:rPr>
              <a:t>❌ Ne laissez jamais entendre que les soins palliatifs signifient l'arrêt du traitement ou qu'il n'y a plus rien à faire. Les introduire tôt évite ce malentendu.</a:t>
            </a:r>
            <a:endParaRPr lang="fr-FR" sz="1440" noProof="0" dirty="0"/>
          </a:p>
        </p:txBody>
      </p:sp>
      <p:pic>
        <p:nvPicPr>
          <p:cNvPr id="17" name="Imagen 16">
            <a:extLst>
              <a:ext uri="{FF2B5EF4-FFF2-40B4-BE49-F238E27FC236}">
                <a16:creationId xmlns:a16="http://schemas.microsoft.com/office/drawing/2014/main" id="{83080320-C05F-7DF9-61AA-614D6960EB06}"/>
              </a:ext>
            </a:extLst>
          </p:cNvPr>
          <p:cNvPicPr>
            <a:picLocks noChangeAspect="1"/>
          </p:cNvPicPr>
          <p:nvPr/>
        </p:nvPicPr>
        <p:blipFill>
          <a:blip r:embed="rId3"/>
          <a:stretch>
            <a:fillRect/>
          </a:stretch>
        </p:blipFill>
        <p:spPr>
          <a:xfrm>
            <a:off x="1039365" y="3431086"/>
            <a:ext cx="2702899" cy="1801933"/>
          </a:xfrm>
          <a:prstGeom prst="rect">
            <a:avLst/>
          </a:prstGeom>
        </p:spPr>
      </p:pic>
      <p:pic>
        <p:nvPicPr>
          <p:cNvPr id="18" name="Imagen 17">
            <a:extLst>
              <a:ext uri="{FF2B5EF4-FFF2-40B4-BE49-F238E27FC236}">
                <a16:creationId xmlns:a16="http://schemas.microsoft.com/office/drawing/2014/main" id="{9CAB2C1E-73FC-3F32-14FF-99CA281D0186}"/>
              </a:ext>
            </a:extLst>
          </p:cNvPr>
          <p:cNvPicPr>
            <a:picLocks noChangeAspect="1"/>
          </p:cNvPicPr>
          <p:nvPr/>
        </p:nvPicPr>
        <p:blipFill>
          <a:blip r:embed="rId4"/>
          <a:srcRect/>
          <a:stretch>
            <a:fillRect/>
          </a:stretch>
        </p:blipFill>
        <p:spPr>
          <a:xfrm>
            <a:off x="4504436" y="3187780"/>
            <a:ext cx="3183128" cy="2122085"/>
          </a:xfrm>
          <a:prstGeom prst="rect">
            <a:avLst/>
          </a:prstGeom>
        </p:spPr>
      </p:pic>
      <p:pic>
        <p:nvPicPr>
          <p:cNvPr id="19" name="Imagen 18">
            <a:extLst>
              <a:ext uri="{FF2B5EF4-FFF2-40B4-BE49-F238E27FC236}">
                <a16:creationId xmlns:a16="http://schemas.microsoft.com/office/drawing/2014/main" id="{6F407EC3-A317-7652-34B1-D61F09403DC1}"/>
              </a:ext>
            </a:extLst>
          </p:cNvPr>
          <p:cNvPicPr>
            <a:picLocks noChangeAspect="1"/>
          </p:cNvPicPr>
          <p:nvPr/>
        </p:nvPicPr>
        <p:blipFill>
          <a:blip r:embed="rId5"/>
          <a:stretch>
            <a:fillRect/>
          </a:stretch>
        </p:blipFill>
        <p:spPr>
          <a:xfrm>
            <a:off x="8494606" y="3388008"/>
            <a:ext cx="2691723" cy="1794482"/>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168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SOINS PALLIATIFS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Ce que cela aborde</a:t>
            </a:r>
            <a:endParaRPr lang="fr-FR" sz="3200" noProof="0" dirty="0"/>
          </a:p>
        </p:txBody>
      </p:sp>
      <p:sp>
        <p:nvSpPr>
          <p:cNvPr id="6" name="Shape 4"/>
          <p:cNvSpPr/>
          <p:nvPr/>
        </p:nvSpPr>
        <p:spPr>
          <a:xfrm>
            <a:off x="566928" y="1694358"/>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694358"/>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749222"/>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Douleur. Évaluez-la correctement et traitez-la correctement, y compris avec des antalgiques puissants lorsque cela est nécessaire.</a:t>
            </a:r>
            <a:endParaRPr lang="fr-FR" sz="1800" noProof="0" dirty="0"/>
          </a:p>
        </p:txBody>
      </p:sp>
      <p:sp>
        <p:nvSpPr>
          <p:cNvPr id="9" name="Shape 7"/>
          <p:cNvSpPr/>
          <p:nvPr/>
        </p:nvSpPr>
        <p:spPr>
          <a:xfrm>
            <a:off x="566928" y="2608166"/>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608166"/>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2663030"/>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Les saignements et les pertes malodorantes peuvent tous deux être pris en charge efficacement.</a:t>
            </a:r>
            <a:endParaRPr lang="fr-FR" sz="1800" noProof="0" dirty="0"/>
          </a:p>
        </p:txBody>
      </p:sp>
      <p:sp>
        <p:nvSpPr>
          <p:cNvPr id="12" name="Shape 10"/>
          <p:cNvSpPr/>
          <p:nvPr/>
        </p:nvSpPr>
        <p:spPr>
          <a:xfrm>
            <a:off x="566928" y="3521973"/>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521973"/>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3576837"/>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Symptômes urinaires et intestinaux, y compris ceux causés par une fistule.</a:t>
            </a:r>
            <a:endParaRPr lang="fr-FR" sz="1800" noProof="0" dirty="0"/>
          </a:p>
        </p:txBody>
      </p:sp>
      <p:sp>
        <p:nvSpPr>
          <p:cNvPr id="15" name="Shape 13"/>
          <p:cNvSpPr/>
          <p:nvPr/>
        </p:nvSpPr>
        <p:spPr>
          <a:xfrm>
            <a:off x="566928" y="4435781"/>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4435781"/>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4490645"/>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Nausées, manque d'appétit et fatigue.</a:t>
            </a:r>
            <a:endParaRPr lang="fr-FR" sz="1800" noProof="0" dirty="0"/>
          </a:p>
        </p:txBody>
      </p:sp>
      <p:sp>
        <p:nvSpPr>
          <p:cNvPr id="18" name="Shape 16"/>
          <p:cNvSpPr/>
          <p:nvPr/>
        </p:nvSpPr>
        <p:spPr>
          <a:xfrm>
            <a:off x="566928" y="5348225"/>
            <a:ext cx="11055096" cy="694944"/>
          </a:xfrm>
          <a:prstGeom prst="roundRect">
            <a:avLst>
              <a:gd name="adj" fmla="val 8308"/>
            </a:avLst>
          </a:prstGeom>
          <a:solidFill>
            <a:srgbClr val="F3F6FB"/>
          </a:solidFill>
          <a:ln w="12700">
            <a:solidFill>
              <a:srgbClr val="E0E3EA"/>
            </a:solidFill>
            <a:prstDash val="solid"/>
          </a:ln>
        </p:spPr>
        <p:txBody>
          <a:bodyPr/>
          <a:lstStyle/>
          <a:p>
            <a:endParaRPr lang="fr-FR" sz="1400" noProof="0" dirty="0"/>
          </a:p>
        </p:txBody>
      </p:sp>
      <p:sp>
        <p:nvSpPr>
          <p:cNvPr id="19" name="Text 17"/>
          <p:cNvSpPr txBox="1"/>
          <p:nvPr/>
        </p:nvSpPr>
        <p:spPr>
          <a:xfrm>
            <a:off x="786384" y="5448967"/>
            <a:ext cx="548640" cy="493459"/>
          </a:xfrm>
          <a:prstGeom prst="rect">
            <a:avLst/>
          </a:prstGeom>
          <a:noFill/>
          <a:ln/>
        </p:spPr>
        <p:txBody>
          <a:bodyPr wrap="square" lIns="0" tIns="0" rIns="0" bIns="0" rtlCol="0" anchor="ctr"/>
          <a:lstStyle/>
          <a:p>
            <a:pPr marL="0" indent="0" algn="ctr">
              <a:buNone/>
            </a:pPr>
            <a:r>
              <a:rPr lang="fr-FR" sz="1600" noProof="0" dirty="0">
                <a:solidFill>
                  <a:srgbClr val="000000"/>
                </a:solidFill>
                <a:latin typeface="Calibri" pitchFamily="34" charset="0"/>
                <a:ea typeface="Calibri" pitchFamily="34" charset="-122"/>
                <a:cs typeface="Calibri" pitchFamily="34" charset="-120"/>
              </a:rPr>
              <a:t>💬</a:t>
            </a:r>
            <a:endParaRPr lang="fr-FR" sz="1600" noProof="0" dirty="0"/>
          </a:p>
        </p:txBody>
      </p:sp>
      <p:sp>
        <p:nvSpPr>
          <p:cNvPr id="20" name="Text 18"/>
          <p:cNvSpPr txBox="1"/>
          <p:nvPr/>
        </p:nvSpPr>
        <p:spPr>
          <a:xfrm>
            <a:off x="1463040" y="5501623"/>
            <a:ext cx="9866376" cy="423181"/>
          </a:xfrm>
          <a:prstGeom prst="rect">
            <a:avLst/>
          </a:prstGeom>
          <a:noFill/>
          <a:ln/>
        </p:spPr>
        <p:txBody>
          <a:bodyPr wrap="square" lIns="0" tIns="0" rIns="0" bIns="0" rtlCol="0" anchor="ctr"/>
          <a:lstStyle/>
          <a:p>
            <a:pPr marL="0" indent="0">
              <a:lnSpc>
                <a:spcPct val="104000"/>
              </a:lnSpc>
              <a:buNone/>
            </a:pPr>
            <a:r>
              <a:rPr lang="fr-FR" noProof="0" dirty="0">
                <a:solidFill>
                  <a:srgbClr val="23303F"/>
                </a:solidFill>
                <a:latin typeface="Calibri" pitchFamily="34" charset="0"/>
                <a:ea typeface="Calibri" pitchFamily="34" charset="-122"/>
                <a:cs typeface="Calibri" pitchFamily="34" charset="-120"/>
              </a:rPr>
              <a:t>Détresse émotionnelle, communication familiale, et un contact nommé pour les changements de situation.</a:t>
            </a:r>
            <a:endParaRPr lang="fr-FR" noProof="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169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QUALITÉ DE VIE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De quoi dépend la qualité de vie</a:t>
            </a:r>
            <a:endParaRPr lang="fr-FR" sz="3200" noProof="0" dirty="0"/>
          </a:p>
        </p:txBody>
      </p:sp>
      <p:sp>
        <p:nvSpPr>
          <p:cNvPr id="6" name="Shape 4"/>
          <p:cNvSpPr/>
          <p:nvPr/>
        </p:nvSpPr>
        <p:spPr>
          <a:xfrm>
            <a:off x="566928" y="1719072"/>
            <a:ext cx="11055096" cy="768096"/>
          </a:xfrm>
          <a:prstGeom prst="roundRect">
            <a:avLst>
              <a:gd name="adj" fmla="val 8333"/>
            </a:avLst>
          </a:prstGeom>
          <a:solidFill>
            <a:srgbClr val="F3F6FB"/>
          </a:solidFill>
          <a:ln w="12700">
            <a:solidFill>
              <a:srgbClr val="E0E3EA"/>
            </a:solidFill>
            <a:prstDash val="solid"/>
          </a:ln>
        </p:spPr>
        <p:txBody>
          <a:bodyPr/>
          <a:lstStyle/>
          <a:p>
            <a:endParaRPr lang="fr-FR" noProof="0" dirty="0"/>
          </a:p>
        </p:txBody>
      </p:sp>
      <p:sp>
        <p:nvSpPr>
          <p:cNvPr id="7" name="Shape 5"/>
          <p:cNvSpPr/>
          <p:nvPr/>
        </p:nvSpPr>
        <p:spPr>
          <a:xfrm>
            <a:off x="804672" y="1892808"/>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8" name="Text 6"/>
          <p:cNvSpPr txBox="1"/>
          <p:nvPr/>
        </p:nvSpPr>
        <p:spPr>
          <a:xfrm>
            <a:off x="804672" y="1892808"/>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1</a:t>
            </a:r>
            <a:endParaRPr lang="fr-FR" sz="1400" noProof="0" dirty="0"/>
          </a:p>
        </p:txBody>
      </p:sp>
      <p:sp>
        <p:nvSpPr>
          <p:cNvPr id="9" name="Text 7"/>
          <p:cNvSpPr txBox="1"/>
          <p:nvPr/>
        </p:nvSpPr>
        <p:spPr>
          <a:xfrm>
            <a:off x="1463040" y="1773936"/>
            <a:ext cx="9866376" cy="658368"/>
          </a:xfrm>
          <a:prstGeom prst="rect">
            <a:avLst/>
          </a:prstGeom>
          <a:noFill/>
          <a:ln/>
        </p:spPr>
        <p:txBody>
          <a:bodyPr wrap="square" lIns="0" tIns="0" rIns="0" bIns="0" rtlCol="0" anchor="ctr"/>
          <a:lstStyle/>
          <a:p>
            <a:pPr marL="0" indent="0">
              <a:lnSpc>
                <a:spcPct val="104000"/>
              </a:lnSpc>
              <a:buNone/>
            </a:pPr>
            <a:r>
              <a:rPr lang="fr-FR" sz="1800" b="1" noProof="0" dirty="0">
                <a:solidFill>
                  <a:srgbClr val="10305A"/>
                </a:solidFill>
                <a:latin typeface="Calibri" pitchFamily="34" charset="0"/>
                <a:ea typeface="Calibri" pitchFamily="34" charset="-122"/>
                <a:cs typeface="Calibri" pitchFamily="34" charset="-120"/>
              </a:rPr>
              <a:t>Fonction. </a:t>
            </a:r>
            <a:r>
              <a:rPr lang="fr-FR" sz="1800" noProof="0" dirty="0">
                <a:solidFill>
                  <a:srgbClr val="23303F"/>
                </a:solidFill>
                <a:latin typeface="Calibri" pitchFamily="34" charset="0"/>
                <a:ea typeface="Calibri" pitchFamily="34" charset="-122"/>
                <a:cs typeface="Calibri" pitchFamily="34" charset="-120"/>
              </a:rPr>
              <a:t>Contrôle de la vessie et de l'intestin, douleur, fatigue et mobilité.</a:t>
            </a:r>
            <a:endParaRPr lang="fr-FR" sz="1800" noProof="0" dirty="0"/>
          </a:p>
        </p:txBody>
      </p:sp>
      <p:sp>
        <p:nvSpPr>
          <p:cNvPr id="10" name="Shape 8"/>
          <p:cNvSpPr/>
          <p:nvPr/>
        </p:nvSpPr>
        <p:spPr>
          <a:xfrm>
            <a:off x="566928" y="2615184"/>
            <a:ext cx="11055096" cy="768096"/>
          </a:xfrm>
          <a:prstGeom prst="roundRect">
            <a:avLst>
              <a:gd name="adj" fmla="val 8333"/>
            </a:avLst>
          </a:prstGeom>
          <a:solidFill>
            <a:srgbClr val="F3F6FB"/>
          </a:solidFill>
          <a:ln w="12700">
            <a:solidFill>
              <a:srgbClr val="E0E3EA"/>
            </a:solidFill>
            <a:prstDash val="solid"/>
          </a:ln>
        </p:spPr>
        <p:txBody>
          <a:bodyPr/>
          <a:lstStyle/>
          <a:p>
            <a:endParaRPr lang="fr-FR" noProof="0" dirty="0"/>
          </a:p>
        </p:txBody>
      </p:sp>
      <p:sp>
        <p:nvSpPr>
          <p:cNvPr id="11" name="Shape 9"/>
          <p:cNvSpPr/>
          <p:nvPr/>
        </p:nvSpPr>
        <p:spPr>
          <a:xfrm>
            <a:off x="804672" y="2788920"/>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2" name="Text 10"/>
          <p:cNvSpPr txBox="1"/>
          <p:nvPr/>
        </p:nvSpPr>
        <p:spPr>
          <a:xfrm>
            <a:off x="804672" y="2788920"/>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2</a:t>
            </a:r>
            <a:endParaRPr lang="fr-FR" sz="1400" noProof="0" dirty="0"/>
          </a:p>
        </p:txBody>
      </p:sp>
      <p:sp>
        <p:nvSpPr>
          <p:cNvPr id="13" name="Text 11"/>
          <p:cNvSpPr txBox="1"/>
          <p:nvPr/>
        </p:nvSpPr>
        <p:spPr>
          <a:xfrm>
            <a:off x="1463040" y="2670048"/>
            <a:ext cx="9866376" cy="658368"/>
          </a:xfrm>
          <a:prstGeom prst="rect">
            <a:avLst/>
          </a:prstGeom>
          <a:noFill/>
          <a:ln/>
        </p:spPr>
        <p:txBody>
          <a:bodyPr wrap="square" lIns="0" tIns="0" rIns="0" bIns="0" rtlCol="0" anchor="ctr"/>
          <a:lstStyle/>
          <a:p>
            <a:pPr marL="0" indent="0">
              <a:lnSpc>
                <a:spcPct val="104000"/>
              </a:lnSpc>
              <a:buNone/>
            </a:pPr>
            <a:r>
              <a:rPr lang="fr-FR" sz="1800" b="1" noProof="0" dirty="0">
                <a:solidFill>
                  <a:srgbClr val="10305A"/>
                </a:solidFill>
                <a:latin typeface="Calibri" pitchFamily="34" charset="0"/>
                <a:ea typeface="Calibri" pitchFamily="34" charset="-122"/>
                <a:cs typeface="Calibri" pitchFamily="34" charset="-120"/>
              </a:rPr>
              <a:t>Nutrition. </a:t>
            </a:r>
            <a:r>
              <a:rPr lang="fr-FR" sz="1800" noProof="0" dirty="0">
                <a:solidFill>
                  <a:srgbClr val="23303F"/>
                </a:solidFill>
                <a:latin typeface="Calibri" pitchFamily="34" charset="0"/>
                <a:ea typeface="Calibri" pitchFamily="34" charset="-122"/>
                <a:cs typeface="Calibri" pitchFamily="34" charset="-120"/>
              </a:rPr>
              <a:t>Appétit, poids et anémie, avec la famille impliquée dans un soutien pratique.</a:t>
            </a:r>
            <a:endParaRPr lang="fr-FR" sz="1800" noProof="0" dirty="0"/>
          </a:p>
        </p:txBody>
      </p:sp>
      <p:sp>
        <p:nvSpPr>
          <p:cNvPr id="14" name="Shape 12"/>
          <p:cNvSpPr/>
          <p:nvPr/>
        </p:nvSpPr>
        <p:spPr>
          <a:xfrm>
            <a:off x="566928" y="3511296"/>
            <a:ext cx="11055096" cy="768096"/>
          </a:xfrm>
          <a:prstGeom prst="roundRect">
            <a:avLst>
              <a:gd name="adj" fmla="val 8333"/>
            </a:avLst>
          </a:prstGeom>
          <a:solidFill>
            <a:srgbClr val="F3F6FB"/>
          </a:solidFill>
          <a:ln w="12700">
            <a:solidFill>
              <a:srgbClr val="E0E3EA"/>
            </a:solidFill>
            <a:prstDash val="solid"/>
          </a:ln>
        </p:spPr>
        <p:txBody>
          <a:bodyPr/>
          <a:lstStyle/>
          <a:p>
            <a:endParaRPr lang="fr-FR" noProof="0" dirty="0"/>
          </a:p>
        </p:txBody>
      </p:sp>
      <p:sp>
        <p:nvSpPr>
          <p:cNvPr id="15" name="Shape 13"/>
          <p:cNvSpPr/>
          <p:nvPr/>
        </p:nvSpPr>
        <p:spPr>
          <a:xfrm>
            <a:off x="804672" y="3685032"/>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16" name="Text 14"/>
          <p:cNvSpPr txBox="1"/>
          <p:nvPr/>
        </p:nvSpPr>
        <p:spPr>
          <a:xfrm>
            <a:off x="804672" y="3685032"/>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3</a:t>
            </a:r>
            <a:endParaRPr lang="fr-FR" sz="1400" noProof="0" dirty="0"/>
          </a:p>
        </p:txBody>
      </p:sp>
      <p:sp>
        <p:nvSpPr>
          <p:cNvPr id="17" name="Text 15"/>
          <p:cNvSpPr txBox="1"/>
          <p:nvPr/>
        </p:nvSpPr>
        <p:spPr>
          <a:xfrm>
            <a:off x="1463040" y="3566160"/>
            <a:ext cx="9866376" cy="658368"/>
          </a:xfrm>
          <a:prstGeom prst="rect">
            <a:avLst/>
          </a:prstGeom>
          <a:noFill/>
          <a:ln/>
        </p:spPr>
        <p:txBody>
          <a:bodyPr wrap="square" lIns="0" tIns="0" rIns="0" bIns="0" rtlCol="0" anchor="ctr"/>
          <a:lstStyle/>
          <a:p>
            <a:pPr marL="0" indent="0">
              <a:lnSpc>
                <a:spcPct val="104000"/>
              </a:lnSpc>
              <a:buNone/>
            </a:pPr>
            <a:r>
              <a:rPr lang="fr-FR" sz="1800" b="1" noProof="0" dirty="0">
                <a:solidFill>
                  <a:srgbClr val="10305A"/>
                </a:solidFill>
                <a:latin typeface="Calibri" pitchFamily="34" charset="0"/>
                <a:ea typeface="Calibri" pitchFamily="34" charset="-122"/>
                <a:cs typeface="Calibri" pitchFamily="34" charset="-120"/>
              </a:rPr>
              <a:t>Bien-être. </a:t>
            </a:r>
            <a:r>
              <a:rPr lang="fr-FR" sz="1800" noProof="0" dirty="0">
                <a:solidFill>
                  <a:srgbClr val="23303F"/>
                </a:solidFill>
                <a:latin typeface="Calibri" pitchFamily="34" charset="0"/>
                <a:ea typeface="Calibri" pitchFamily="34" charset="-122"/>
                <a:cs typeface="Calibri" pitchFamily="34" charset="-120"/>
              </a:rPr>
              <a:t>Anxiété, humeur déprimée, peur de la récidive et image corporelle.</a:t>
            </a:r>
            <a:endParaRPr lang="fr-FR" sz="1800" noProof="0" dirty="0"/>
          </a:p>
        </p:txBody>
      </p:sp>
      <p:sp>
        <p:nvSpPr>
          <p:cNvPr id="18" name="Shape 16"/>
          <p:cNvSpPr/>
          <p:nvPr/>
        </p:nvSpPr>
        <p:spPr>
          <a:xfrm>
            <a:off x="566928" y="4407408"/>
            <a:ext cx="11055096" cy="768096"/>
          </a:xfrm>
          <a:prstGeom prst="roundRect">
            <a:avLst>
              <a:gd name="adj" fmla="val 8333"/>
            </a:avLst>
          </a:prstGeom>
          <a:solidFill>
            <a:srgbClr val="F3F6FB"/>
          </a:solidFill>
          <a:ln w="12700">
            <a:solidFill>
              <a:srgbClr val="E0E3EA"/>
            </a:solidFill>
            <a:prstDash val="solid"/>
          </a:ln>
        </p:spPr>
        <p:txBody>
          <a:bodyPr/>
          <a:lstStyle/>
          <a:p>
            <a:endParaRPr lang="fr-FR" noProof="0" dirty="0"/>
          </a:p>
        </p:txBody>
      </p:sp>
      <p:sp>
        <p:nvSpPr>
          <p:cNvPr id="19" name="Shape 17"/>
          <p:cNvSpPr/>
          <p:nvPr/>
        </p:nvSpPr>
        <p:spPr>
          <a:xfrm>
            <a:off x="804672" y="4581144"/>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0" name="Text 18"/>
          <p:cNvSpPr txBox="1"/>
          <p:nvPr/>
        </p:nvSpPr>
        <p:spPr>
          <a:xfrm>
            <a:off x="804672" y="4581144"/>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4</a:t>
            </a:r>
            <a:endParaRPr lang="fr-FR" sz="1400" noProof="0" dirty="0"/>
          </a:p>
        </p:txBody>
      </p:sp>
      <p:sp>
        <p:nvSpPr>
          <p:cNvPr id="21" name="Text 19"/>
          <p:cNvSpPr txBox="1"/>
          <p:nvPr/>
        </p:nvSpPr>
        <p:spPr>
          <a:xfrm>
            <a:off x="1463040" y="4462272"/>
            <a:ext cx="9866376" cy="658368"/>
          </a:xfrm>
          <a:prstGeom prst="rect">
            <a:avLst/>
          </a:prstGeom>
          <a:noFill/>
          <a:ln/>
        </p:spPr>
        <p:txBody>
          <a:bodyPr wrap="square" lIns="0" tIns="0" rIns="0" bIns="0" rtlCol="0" anchor="ctr"/>
          <a:lstStyle/>
          <a:p>
            <a:pPr marL="0" indent="0">
              <a:lnSpc>
                <a:spcPct val="104000"/>
              </a:lnSpc>
              <a:buNone/>
            </a:pPr>
            <a:r>
              <a:rPr lang="fr-FR" sz="1800" b="1" noProof="0" dirty="0">
                <a:solidFill>
                  <a:srgbClr val="10305A"/>
                </a:solidFill>
                <a:latin typeface="Calibri" pitchFamily="34" charset="0"/>
                <a:ea typeface="Calibri" pitchFamily="34" charset="-122"/>
                <a:cs typeface="Calibri" pitchFamily="34" charset="-120"/>
              </a:rPr>
              <a:t>Famille. </a:t>
            </a:r>
            <a:r>
              <a:rPr lang="fr-FR" sz="1800" noProof="0" dirty="0">
                <a:solidFill>
                  <a:srgbClr val="23303F"/>
                </a:solidFill>
                <a:latin typeface="Calibri" pitchFamily="34" charset="0"/>
                <a:ea typeface="Calibri" pitchFamily="34" charset="-122"/>
                <a:cs typeface="Calibri" pitchFamily="34" charset="-120"/>
              </a:rPr>
              <a:t>Perte de revenus, coûts de transport et qui s'occupe des enfants.</a:t>
            </a:r>
            <a:endParaRPr lang="fr-FR" sz="1800" noProof="0" dirty="0"/>
          </a:p>
        </p:txBody>
      </p:sp>
      <p:sp>
        <p:nvSpPr>
          <p:cNvPr id="22" name="Shape 20"/>
          <p:cNvSpPr/>
          <p:nvPr/>
        </p:nvSpPr>
        <p:spPr>
          <a:xfrm>
            <a:off x="566928" y="5303520"/>
            <a:ext cx="11055096" cy="768096"/>
          </a:xfrm>
          <a:prstGeom prst="roundRect">
            <a:avLst>
              <a:gd name="adj" fmla="val 8333"/>
            </a:avLst>
          </a:prstGeom>
          <a:solidFill>
            <a:srgbClr val="F3F6FB"/>
          </a:solidFill>
          <a:ln w="12700">
            <a:solidFill>
              <a:srgbClr val="E0E3EA"/>
            </a:solidFill>
            <a:prstDash val="solid"/>
          </a:ln>
        </p:spPr>
        <p:txBody>
          <a:bodyPr/>
          <a:lstStyle/>
          <a:p>
            <a:endParaRPr lang="fr-FR" noProof="0" dirty="0"/>
          </a:p>
        </p:txBody>
      </p:sp>
      <p:sp>
        <p:nvSpPr>
          <p:cNvPr id="23" name="Shape 21"/>
          <p:cNvSpPr/>
          <p:nvPr/>
        </p:nvSpPr>
        <p:spPr>
          <a:xfrm>
            <a:off x="804672" y="5477256"/>
            <a:ext cx="420624" cy="420624"/>
          </a:xfrm>
          <a:prstGeom prst="ellipse">
            <a:avLst/>
          </a:prstGeom>
          <a:solidFill>
            <a:srgbClr val="1F4E96"/>
          </a:solidFill>
          <a:ln w="12700">
            <a:solidFill>
              <a:srgbClr val="1F4E96"/>
            </a:solidFill>
            <a:prstDash val="solid"/>
          </a:ln>
        </p:spPr>
        <p:txBody>
          <a:bodyPr/>
          <a:lstStyle/>
          <a:p>
            <a:endParaRPr lang="fr-FR" noProof="0" dirty="0"/>
          </a:p>
        </p:txBody>
      </p:sp>
      <p:sp>
        <p:nvSpPr>
          <p:cNvPr id="24" name="Text 22"/>
          <p:cNvSpPr txBox="1"/>
          <p:nvPr/>
        </p:nvSpPr>
        <p:spPr>
          <a:xfrm>
            <a:off x="804672" y="5477256"/>
            <a:ext cx="420624" cy="420624"/>
          </a:xfrm>
          <a:prstGeom prst="rect">
            <a:avLst/>
          </a:prstGeom>
          <a:noFill/>
          <a:ln/>
        </p:spPr>
        <p:txBody>
          <a:bodyPr wrap="square" lIns="0" tIns="0" rIns="0" bIns="0" rtlCol="0" anchor="ctr"/>
          <a:lstStyle/>
          <a:p>
            <a:pPr marL="0" indent="0" algn="ctr">
              <a:buNone/>
            </a:pPr>
            <a:r>
              <a:rPr lang="fr-FR" sz="1400" b="1" noProof="0" dirty="0">
                <a:solidFill>
                  <a:srgbClr val="FFFFFF"/>
                </a:solidFill>
                <a:latin typeface="Calibri" pitchFamily="34" charset="0"/>
                <a:ea typeface="Calibri" pitchFamily="34" charset="-122"/>
                <a:cs typeface="Calibri" pitchFamily="34" charset="-120"/>
              </a:rPr>
              <a:t>5</a:t>
            </a:r>
            <a:endParaRPr lang="fr-FR" sz="1400" noProof="0" dirty="0"/>
          </a:p>
        </p:txBody>
      </p:sp>
      <p:sp>
        <p:nvSpPr>
          <p:cNvPr id="25" name="Text 23"/>
          <p:cNvSpPr txBox="1"/>
          <p:nvPr/>
        </p:nvSpPr>
        <p:spPr>
          <a:xfrm>
            <a:off x="1463040" y="5358384"/>
            <a:ext cx="9866376" cy="658368"/>
          </a:xfrm>
          <a:prstGeom prst="rect">
            <a:avLst/>
          </a:prstGeom>
          <a:noFill/>
          <a:ln/>
        </p:spPr>
        <p:txBody>
          <a:bodyPr wrap="square" lIns="0" tIns="0" rIns="0" bIns="0" rtlCol="0" anchor="ctr"/>
          <a:lstStyle/>
          <a:p>
            <a:pPr marL="0" indent="0">
              <a:lnSpc>
                <a:spcPct val="104000"/>
              </a:lnSpc>
              <a:buNone/>
            </a:pPr>
            <a:r>
              <a:rPr lang="fr-FR" sz="1800" b="1" noProof="0" dirty="0">
                <a:solidFill>
                  <a:srgbClr val="10305A"/>
                </a:solidFill>
                <a:latin typeface="Calibri" pitchFamily="34" charset="0"/>
                <a:ea typeface="Calibri" pitchFamily="34" charset="-122"/>
                <a:cs typeface="Calibri" pitchFamily="34" charset="-120"/>
              </a:rPr>
              <a:t>Dignité. </a:t>
            </a:r>
            <a:r>
              <a:rPr lang="fr-FR" sz="1800" noProof="0" dirty="0">
                <a:solidFill>
                  <a:srgbClr val="23303F"/>
                </a:solidFill>
                <a:latin typeface="Calibri" pitchFamily="34" charset="0"/>
                <a:ea typeface="Calibri" pitchFamily="34" charset="-122"/>
                <a:cs typeface="Calibri" pitchFamily="34" charset="-120"/>
              </a:rPr>
              <a:t>Vie privée, explication claire, gestion active de l'odeur et des fuites, et langage exempt de blâme.</a:t>
            </a:r>
            <a:endParaRPr lang="fr-FR" sz="1800" noProof="0" dirty="0"/>
          </a:p>
        </p:txBody>
      </p:sp>
      <p:sp>
        <p:nvSpPr>
          <p:cNvPr id="26" name="Shape 24"/>
          <p:cNvSpPr/>
          <p:nvPr/>
        </p:nvSpPr>
        <p:spPr>
          <a:xfrm>
            <a:off x="566928" y="5358384"/>
            <a:ext cx="11055096" cy="786384"/>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27" name="Text 25"/>
          <p:cNvSpPr txBox="1"/>
          <p:nvPr/>
        </p:nvSpPr>
        <p:spPr>
          <a:xfrm>
            <a:off x="841248" y="5413248"/>
            <a:ext cx="10506456" cy="676656"/>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Point clé :  </a:t>
            </a:r>
            <a:r>
              <a:rPr lang="fr-FR" sz="1800" noProof="0" dirty="0">
                <a:solidFill>
                  <a:srgbClr val="23303F"/>
                </a:solidFill>
                <a:latin typeface="Calibri" pitchFamily="34" charset="0"/>
                <a:ea typeface="Calibri" pitchFamily="34" charset="-122"/>
                <a:cs typeface="Calibri" pitchFamily="34" charset="-120"/>
              </a:rPr>
              <a:t>C'est souvent la charge pratique qui pèse sur un foyer qui décide si une femme termine son traitement.</a:t>
            </a:r>
            <a:endParaRPr lang="fr-FR" sz="1800" noProof="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170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SUIVI</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Pourquoi le suivi est important</a:t>
            </a:r>
            <a:endParaRPr lang="fr-FR" sz="3200" noProof="0" dirty="0"/>
          </a:p>
        </p:txBody>
      </p:sp>
      <p:sp>
        <p:nvSpPr>
          <p:cNvPr id="6" name="Shape 4"/>
          <p:cNvSpPr/>
          <p:nvPr/>
        </p:nvSpPr>
        <p:spPr>
          <a:xfrm>
            <a:off x="566928" y="1508761"/>
            <a:ext cx="3563112" cy="408885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822960" y="1555956"/>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Détecter la récurrence</a:t>
            </a:r>
            <a:endParaRPr lang="fr-FR" sz="2000" noProof="0" dirty="0"/>
          </a:p>
        </p:txBody>
      </p:sp>
      <p:sp>
        <p:nvSpPr>
          <p:cNvPr id="8" name="Text 6"/>
          <p:cNvSpPr txBox="1"/>
          <p:nvPr/>
        </p:nvSpPr>
        <p:spPr>
          <a:xfrm>
            <a:off x="822960" y="2159460"/>
            <a:ext cx="3051048" cy="1773936"/>
          </a:xfrm>
          <a:prstGeom prst="rect">
            <a:avLst/>
          </a:prstGeom>
          <a:noFill/>
          <a:ln/>
        </p:spPr>
        <p:txBody>
          <a:bodyPr wrap="square" lIns="0" tIns="0" rIns="0" bIns="0" rtlCol="0" anchor="t">
            <a:noAutofit/>
          </a:bodyPr>
          <a:lstStyle/>
          <a:p>
            <a:pPr marL="0" indent="0">
              <a:lnSpc>
                <a:spcPct val="106000"/>
              </a:lnSpc>
              <a:buNone/>
            </a:pPr>
            <a:r>
              <a:rPr lang="fr-FR" sz="1494" noProof="0" dirty="0">
                <a:solidFill>
                  <a:srgbClr val="23303F"/>
                </a:solidFill>
                <a:latin typeface="Calibri" pitchFamily="34" charset="0"/>
                <a:ea typeface="Calibri" pitchFamily="34" charset="-122"/>
                <a:cs typeface="Calibri" pitchFamily="34" charset="-120"/>
              </a:rPr>
              <a:t>Le suivi vise à détecter la récidive précoce, lorsque le traitement supplémentaire peut encore être possible.</a:t>
            </a:r>
            <a:endParaRPr lang="fr-FR" sz="1494" noProof="0" dirty="0"/>
          </a:p>
        </p:txBody>
      </p:sp>
      <p:sp>
        <p:nvSpPr>
          <p:cNvPr id="9" name="Shape 7"/>
          <p:cNvSpPr/>
          <p:nvPr/>
        </p:nvSpPr>
        <p:spPr>
          <a:xfrm>
            <a:off x="4312920" y="1508761"/>
            <a:ext cx="3563112" cy="408885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4568952" y="1555956"/>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Gérer les effets durables</a:t>
            </a:r>
            <a:endParaRPr lang="fr-FR" sz="2000" noProof="0" dirty="0"/>
          </a:p>
        </p:txBody>
      </p:sp>
      <p:sp>
        <p:nvSpPr>
          <p:cNvPr id="11" name="Text 9"/>
          <p:cNvSpPr txBox="1"/>
          <p:nvPr/>
        </p:nvSpPr>
        <p:spPr>
          <a:xfrm>
            <a:off x="4568952" y="2159460"/>
            <a:ext cx="3051048" cy="1773936"/>
          </a:xfrm>
          <a:prstGeom prst="rect">
            <a:avLst/>
          </a:prstGeom>
          <a:noFill/>
          <a:ln/>
        </p:spPr>
        <p:txBody>
          <a:bodyPr wrap="square" lIns="0" tIns="0" rIns="0" bIns="0" rtlCol="0" anchor="t">
            <a:noAutofit/>
          </a:bodyPr>
          <a:lstStyle/>
          <a:p>
            <a:pPr marL="0" indent="0">
              <a:lnSpc>
                <a:spcPct val="106000"/>
              </a:lnSpc>
              <a:buNone/>
            </a:pPr>
            <a:r>
              <a:rPr lang="fr-FR" sz="1494" noProof="0" dirty="0">
                <a:solidFill>
                  <a:srgbClr val="23303F"/>
                </a:solidFill>
                <a:latin typeface="Calibri" pitchFamily="34" charset="0"/>
                <a:ea typeface="Calibri" pitchFamily="34" charset="-122"/>
                <a:cs typeface="Calibri" pitchFamily="34" charset="-120"/>
              </a:rPr>
              <a:t>Le lymphœdème, le rétrécissement vaginal, les symptômes de la ménopause, les changements intestinaux et </a:t>
            </a:r>
            <a:r>
              <a:rPr lang="fr-FR" sz="1494" noProof="0" dirty="0" err="1">
                <a:solidFill>
                  <a:srgbClr val="23303F"/>
                </a:solidFill>
                <a:latin typeface="Calibri" pitchFamily="34" charset="0"/>
                <a:ea typeface="Calibri" pitchFamily="34" charset="-122"/>
                <a:cs typeface="Calibri" pitchFamily="34" charset="-120"/>
              </a:rPr>
              <a:t>vessicaux</a:t>
            </a:r>
            <a:r>
              <a:rPr lang="fr-FR" sz="1494" noProof="0" dirty="0">
                <a:solidFill>
                  <a:srgbClr val="23303F"/>
                </a:solidFill>
                <a:latin typeface="Calibri" pitchFamily="34" charset="0"/>
                <a:ea typeface="Calibri" pitchFamily="34" charset="-122"/>
                <a:cs typeface="Calibri" pitchFamily="34" charset="-120"/>
              </a:rPr>
              <a:t> ainsi que la fatigue continuent tous à nécessiter une attention particulière.</a:t>
            </a:r>
            <a:endParaRPr lang="fr-FR" sz="1494" noProof="0" dirty="0"/>
          </a:p>
        </p:txBody>
      </p:sp>
      <p:sp>
        <p:nvSpPr>
          <p:cNvPr id="12" name="Shape 10"/>
          <p:cNvSpPr/>
          <p:nvPr/>
        </p:nvSpPr>
        <p:spPr>
          <a:xfrm>
            <a:off x="8058912" y="1508761"/>
            <a:ext cx="3563112" cy="4088850"/>
          </a:xfrm>
          <a:prstGeom prst="roundRect">
            <a:avLst>
              <a:gd name="adj" fmla="val 3000"/>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8314944" y="1555956"/>
            <a:ext cx="3051048" cy="566928"/>
          </a:xfrm>
          <a:prstGeom prst="rect">
            <a:avLst/>
          </a:prstGeom>
          <a:noFill/>
          <a:ln/>
        </p:spPr>
        <p:txBody>
          <a:bodyPr wrap="square" lIns="0" tIns="0" rIns="0" bIns="0" rtlCol="0" anchor="ctr"/>
          <a:lstStyle/>
          <a:p>
            <a:pPr marL="0" indent="0">
              <a:buNone/>
            </a:pPr>
            <a:r>
              <a:rPr lang="fr-FR" sz="2000" b="1" noProof="0" dirty="0">
                <a:solidFill>
                  <a:srgbClr val="10305A"/>
                </a:solidFill>
                <a:latin typeface="Calibri" pitchFamily="34" charset="0"/>
                <a:ea typeface="Calibri" pitchFamily="34" charset="-122"/>
                <a:cs typeface="Calibri" pitchFamily="34" charset="-120"/>
              </a:rPr>
              <a:t>📋 Surveillance continue</a:t>
            </a:r>
            <a:endParaRPr lang="fr-FR" sz="2000" noProof="0" dirty="0"/>
          </a:p>
        </p:txBody>
      </p:sp>
      <p:sp>
        <p:nvSpPr>
          <p:cNvPr id="14" name="Text 12"/>
          <p:cNvSpPr txBox="1"/>
          <p:nvPr/>
        </p:nvSpPr>
        <p:spPr>
          <a:xfrm>
            <a:off x="8314944" y="2159460"/>
            <a:ext cx="3051048" cy="1773936"/>
          </a:xfrm>
          <a:prstGeom prst="rect">
            <a:avLst/>
          </a:prstGeom>
          <a:noFill/>
          <a:ln/>
        </p:spPr>
        <p:txBody>
          <a:bodyPr wrap="square" lIns="0" tIns="0" rIns="0" bIns="0" rtlCol="0" anchor="t">
            <a:noAutofit/>
          </a:bodyPr>
          <a:lstStyle/>
          <a:p>
            <a:pPr marL="0" indent="0">
              <a:lnSpc>
                <a:spcPct val="106000"/>
              </a:lnSpc>
              <a:buNone/>
            </a:pPr>
            <a:r>
              <a:rPr lang="fr-FR" sz="1494" noProof="0" dirty="0">
                <a:solidFill>
                  <a:srgbClr val="23303F"/>
                </a:solidFill>
                <a:latin typeface="Calibri" pitchFamily="34" charset="0"/>
                <a:ea typeface="Calibri" pitchFamily="34" charset="-122"/>
                <a:cs typeface="Calibri" pitchFamily="34" charset="-120"/>
              </a:rPr>
              <a:t>Une femme traitée pour un </a:t>
            </a:r>
            <a:r>
              <a:rPr lang="fr-FR" sz="1494" noProof="0" dirty="0" err="1">
                <a:solidFill>
                  <a:srgbClr val="23303F"/>
                </a:solidFill>
                <a:latin typeface="Calibri" pitchFamily="34" charset="0"/>
                <a:ea typeface="Calibri" pitchFamily="34" charset="-122"/>
                <a:cs typeface="Calibri" pitchFamily="34" charset="-120"/>
              </a:rPr>
              <a:t>précancer</a:t>
            </a:r>
            <a:r>
              <a:rPr lang="fr-FR" sz="1494" noProof="0" dirty="0">
                <a:solidFill>
                  <a:srgbClr val="23303F"/>
                </a:solidFill>
                <a:latin typeface="Calibri" pitchFamily="34" charset="0"/>
                <a:ea typeface="Calibri" pitchFamily="34" charset="-122"/>
                <a:cs typeface="Calibri" pitchFamily="34" charset="-120"/>
              </a:rPr>
              <a:t> ne doit pas être perdue de vue. Elle a besoin de son test de suivi prévu et d'un dépistage continu.</a:t>
            </a:r>
            <a:endParaRPr lang="fr-FR" sz="1494" noProof="0" dirty="0"/>
          </a:p>
        </p:txBody>
      </p:sp>
      <p:pic>
        <p:nvPicPr>
          <p:cNvPr id="17" name="Imagen 16">
            <a:extLst>
              <a:ext uri="{FF2B5EF4-FFF2-40B4-BE49-F238E27FC236}">
                <a16:creationId xmlns:a16="http://schemas.microsoft.com/office/drawing/2014/main" id="{8DCD7BF0-F35F-F790-4EEA-48E59C2FB9C7}"/>
              </a:ext>
            </a:extLst>
          </p:cNvPr>
          <p:cNvPicPr>
            <a:picLocks noChangeAspect="1"/>
          </p:cNvPicPr>
          <p:nvPr/>
        </p:nvPicPr>
        <p:blipFill>
          <a:blip r:embed="rId3"/>
          <a:srcRect/>
          <a:stretch>
            <a:fillRect/>
          </a:stretch>
        </p:blipFill>
        <p:spPr>
          <a:xfrm>
            <a:off x="822960" y="3221736"/>
            <a:ext cx="3051048" cy="2034032"/>
          </a:xfrm>
          <a:prstGeom prst="rect">
            <a:avLst/>
          </a:prstGeom>
        </p:spPr>
      </p:pic>
      <p:pic>
        <p:nvPicPr>
          <p:cNvPr id="18" name="Imagen 17">
            <a:extLst>
              <a:ext uri="{FF2B5EF4-FFF2-40B4-BE49-F238E27FC236}">
                <a16:creationId xmlns:a16="http://schemas.microsoft.com/office/drawing/2014/main" id="{9F610F37-8B92-8C93-5856-37FEF35723F1}"/>
              </a:ext>
            </a:extLst>
          </p:cNvPr>
          <p:cNvPicPr>
            <a:picLocks noChangeAspect="1"/>
          </p:cNvPicPr>
          <p:nvPr/>
        </p:nvPicPr>
        <p:blipFill>
          <a:blip r:embed="rId4"/>
          <a:srcRect/>
          <a:stretch>
            <a:fillRect/>
          </a:stretch>
        </p:blipFill>
        <p:spPr>
          <a:xfrm>
            <a:off x="4770797" y="3726011"/>
            <a:ext cx="2610781" cy="1740521"/>
          </a:xfrm>
          <a:prstGeom prst="rect">
            <a:avLst/>
          </a:prstGeom>
        </p:spPr>
      </p:pic>
      <p:pic>
        <p:nvPicPr>
          <p:cNvPr id="19" name="Imagen 18">
            <a:extLst>
              <a:ext uri="{FF2B5EF4-FFF2-40B4-BE49-F238E27FC236}">
                <a16:creationId xmlns:a16="http://schemas.microsoft.com/office/drawing/2014/main" id="{60AA9D05-C7D3-0191-999B-F841EE57C890}"/>
              </a:ext>
            </a:extLst>
          </p:cNvPr>
          <p:cNvPicPr>
            <a:picLocks noChangeAspect="1"/>
          </p:cNvPicPr>
          <p:nvPr/>
        </p:nvPicPr>
        <p:blipFill>
          <a:blip r:embed="rId5"/>
          <a:srcRect/>
          <a:stretch>
            <a:fillRect/>
          </a:stretch>
        </p:blipFill>
        <p:spPr>
          <a:xfrm>
            <a:off x="8333909" y="3432500"/>
            <a:ext cx="3051048" cy="2034032"/>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171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SUIVI</a:t>
            </a:r>
            <a:endParaRPr lang="fr-FR" sz="1200" noProof="0" dirty="0"/>
          </a:p>
        </p:txBody>
      </p:sp>
      <p:sp>
        <p:nvSpPr>
          <p:cNvPr id="5" name="Text 3"/>
          <p:cNvSpPr txBox="1"/>
          <p:nvPr/>
        </p:nvSpPr>
        <p:spPr>
          <a:xfrm>
            <a:off x="566928" y="397188"/>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Ce qu'elle devait rapporter sans attendre</a:t>
            </a:r>
            <a:endParaRPr lang="fr-FR" sz="3200" noProof="0" dirty="0"/>
          </a:p>
        </p:txBody>
      </p:sp>
      <p:sp>
        <p:nvSpPr>
          <p:cNvPr id="6" name="Shape 4"/>
          <p:cNvSpPr/>
          <p:nvPr/>
        </p:nvSpPr>
        <p:spPr>
          <a:xfrm>
            <a:off x="566928" y="1219386"/>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7" name="Text 5"/>
          <p:cNvSpPr txBox="1"/>
          <p:nvPr/>
        </p:nvSpPr>
        <p:spPr>
          <a:xfrm>
            <a:off x="786384" y="1219386"/>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8" name="Text 6"/>
          <p:cNvSpPr txBox="1"/>
          <p:nvPr/>
        </p:nvSpPr>
        <p:spPr>
          <a:xfrm>
            <a:off x="1463040" y="1274250"/>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Nouveau saignement vaginal, ou saignement qui revient après l'arrêt.</a:t>
            </a:r>
            <a:endParaRPr lang="fr-FR" sz="1800" noProof="0" dirty="0"/>
          </a:p>
        </p:txBody>
      </p:sp>
      <p:sp>
        <p:nvSpPr>
          <p:cNvPr id="9" name="Shape 7"/>
          <p:cNvSpPr/>
          <p:nvPr/>
        </p:nvSpPr>
        <p:spPr>
          <a:xfrm>
            <a:off x="566928" y="2133194"/>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786384" y="2133194"/>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1" name="Text 9"/>
          <p:cNvSpPr txBox="1"/>
          <p:nvPr/>
        </p:nvSpPr>
        <p:spPr>
          <a:xfrm>
            <a:off x="1463040" y="2188058"/>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Un écoulement neuf ou gênant, ou toute fuite d'urine ou de selles.</a:t>
            </a:r>
            <a:endParaRPr lang="fr-FR" sz="1800" noProof="0" dirty="0"/>
          </a:p>
        </p:txBody>
      </p:sp>
      <p:sp>
        <p:nvSpPr>
          <p:cNvPr id="12" name="Shape 10"/>
          <p:cNvSpPr/>
          <p:nvPr/>
        </p:nvSpPr>
        <p:spPr>
          <a:xfrm>
            <a:off x="566928" y="3047001"/>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3" name="Text 11"/>
          <p:cNvSpPr txBox="1"/>
          <p:nvPr/>
        </p:nvSpPr>
        <p:spPr>
          <a:xfrm>
            <a:off x="786384" y="3047001"/>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4" name="Text 12"/>
          <p:cNvSpPr txBox="1"/>
          <p:nvPr/>
        </p:nvSpPr>
        <p:spPr>
          <a:xfrm>
            <a:off x="1463040" y="3101865"/>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Nouvelle douleur pelvienne, au dos ou aux jambes qui ne se calme pas.</a:t>
            </a:r>
            <a:endParaRPr lang="fr-FR" sz="1800" noProof="0" dirty="0"/>
          </a:p>
        </p:txBody>
      </p:sp>
      <p:sp>
        <p:nvSpPr>
          <p:cNvPr id="15" name="Shape 13"/>
          <p:cNvSpPr/>
          <p:nvPr/>
        </p:nvSpPr>
        <p:spPr>
          <a:xfrm>
            <a:off x="566928" y="3960809"/>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6" name="Text 14"/>
          <p:cNvSpPr txBox="1"/>
          <p:nvPr/>
        </p:nvSpPr>
        <p:spPr>
          <a:xfrm>
            <a:off x="786384" y="3960809"/>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17" name="Text 15"/>
          <p:cNvSpPr txBox="1"/>
          <p:nvPr/>
        </p:nvSpPr>
        <p:spPr>
          <a:xfrm>
            <a:off x="1463040" y="4015673"/>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Un gonflement de jambe nouveau ou aggravé.</a:t>
            </a:r>
            <a:endParaRPr lang="fr-FR" sz="1800" noProof="0" dirty="0"/>
          </a:p>
        </p:txBody>
      </p:sp>
      <p:sp>
        <p:nvSpPr>
          <p:cNvPr id="18" name="Shape 16"/>
          <p:cNvSpPr/>
          <p:nvPr/>
        </p:nvSpPr>
        <p:spPr>
          <a:xfrm>
            <a:off x="566928" y="4859941"/>
            <a:ext cx="11055096" cy="770465"/>
          </a:xfrm>
          <a:prstGeom prst="roundRect">
            <a:avLst>
              <a:gd name="adj" fmla="val 8308"/>
            </a:avLst>
          </a:prstGeom>
          <a:solidFill>
            <a:srgbClr val="F3F6FB"/>
          </a:solidFill>
          <a:ln w="12700">
            <a:solidFill>
              <a:srgbClr val="E0E3EA"/>
            </a:solidFill>
            <a:prstDash val="solid"/>
          </a:ln>
        </p:spPr>
        <p:txBody>
          <a:bodyPr/>
          <a:lstStyle/>
          <a:p>
            <a:endParaRPr lang="fr-FR" noProof="0" dirty="0"/>
          </a:p>
        </p:txBody>
      </p:sp>
      <p:sp>
        <p:nvSpPr>
          <p:cNvPr id="19" name="Text 17"/>
          <p:cNvSpPr txBox="1"/>
          <p:nvPr/>
        </p:nvSpPr>
        <p:spPr>
          <a:xfrm>
            <a:off x="786384" y="4859941"/>
            <a:ext cx="548640" cy="770465"/>
          </a:xfrm>
          <a:prstGeom prst="rect">
            <a:avLst/>
          </a:prstGeom>
          <a:noFill/>
          <a:ln/>
        </p:spPr>
        <p:txBody>
          <a:bodyPr wrap="square" lIns="0" tIns="0" rIns="0" bIns="0" rtlCol="0" anchor="ctr"/>
          <a:lstStyle/>
          <a:p>
            <a:pPr marL="0" indent="0" algn="ctr">
              <a:buNone/>
            </a:pPr>
            <a:r>
              <a:rPr lang="fr-FR" sz="2000" noProof="0" dirty="0">
                <a:solidFill>
                  <a:srgbClr val="000000"/>
                </a:solidFill>
                <a:latin typeface="Calibri" pitchFamily="34" charset="0"/>
                <a:ea typeface="Calibri" pitchFamily="34" charset="-122"/>
                <a:cs typeface="Calibri" pitchFamily="34" charset="-120"/>
              </a:rPr>
              <a:t>⚖️</a:t>
            </a:r>
            <a:endParaRPr lang="fr-FR" sz="2000" noProof="0" dirty="0"/>
          </a:p>
        </p:txBody>
      </p:sp>
      <p:sp>
        <p:nvSpPr>
          <p:cNvPr id="20" name="Text 18"/>
          <p:cNvSpPr txBox="1"/>
          <p:nvPr/>
        </p:nvSpPr>
        <p:spPr>
          <a:xfrm>
            <a:off x="1463040" y="4914805"/>
            <a:ext cx="9866376" cy="660737"/>
          </a:xfrm>
          <a:prstGeom prst="rect">
            <a:avLst/>
          </a:prstGeom>
          <a:noFill/>
          <a:ln/>
        </p:spPr>
        <p:txBody>
          <a:bodyPr wrap="square" lIns="0" tIns="0" rIns="0" bIns="0" rtlCol="0" anchor="ctr"/>
          <a:lstStyle/>
          <a:p>
            <a:pPr marL="0" indent="0">
              <a:lnSpc>
                <a:spcPct val="104000"/>
              </a:lnSpc>
              <a:buNone/>
            </a:pPr>
            <a:r>
              <a:rPr lang="fr-FR" sz="1800" noProof="0" dirty="0">
                <a:solidFill>
                  <a:srgbClr val="23303F"/>
                </a:solidFill>
                <a:latin typeface="Calibri" pitchFamily="34" charset="0"/>
                <a:ea typeface="Calibri" pitchFamily="34" charset="-122"/>
                <a:cs typeface="Calibri" pitchFamily="34" charset="-120"/>
              </a:rPr>
              <a:t>Perte de poids inexpliquée, ou un sentiment général de mal à l'aise.</a:t>
            </a:r>
            <a:endParaRPr lang="fr-FR" sz="1800" noProof="0" dirty="0"/>
          </a:p>
        </p:txBody>
      </p:sp>
      <p:sp>
        <p:nvSpPr>
          <p:cNvPr id="21" name="Shape 19"/>
          <p:cNvSpPr/>
          <p:nvPr/>
        </p:nvSpPr>
        <p:spPr>
          <a:xfrm>
            <a:off x="566928" y="5692716"/>
            <a:ext cx="11055096" cy="488628"/>
          </a:xfrm>
          <a:prstGeom prst="roundRect">
            <a:avLst>
              <a:gd name="adj" fmla="val 8140"/>
            </a:avLst>
          </a:prstGeom>
          <a:solidFill>
            <a:srgbClr val="EAF7F0"/>
          </a:solidFill>
          <a:ln w="12700">
            <a:solidFill>
              <a:srgbClr val="C0D4CB"/>
            </a:solidFill>
            <a:prstDash val="solid"/>
          </a:ln>
        </p:spPr>
        <p:txBody>
          <a:bodyPr/>
          <a:lstStyle/>
          <a:p>
            <a:endParaRPr lang="fr-FR" noProof="0" dirty="0"/>
          </a:p>
        </p:txBody>
      </p:sp>
      <p:sp>
        <p:nvSpPr>
          <p:cNvPr id="22" name="Text 20"/>
          <p:cNvSpPr txBox="1"/>
          <p:nvPr/>
        </p:nvSpPr>
        <p:spPr>
          <a:xfrm>
            <a:off x="841248" y="5800724"/>
            <a:ext cx="10506456" cy="325755"/>
          </a:xfrm>
          <a:prstGeom prst="rect">
            <a:avLst/>
          </a:prstGeom>
          <a:noFill/>
          <a:ln/>
        </p:spPr>
        <p:txBody>
          <a:bodyPr wrap="square" lIns="0" tIns="0" rIns="0" bIns="0" rtlCol="0" anchor="ctr"/>
          <a:lstStyle/>
          <a:p>
            <a:pPr marL="0" indent="0">
              <a:lnSpc>
                <a:spcPct val="104000"/>
              </a:lnSpc>
              <a:buNone/>
            </a:pPr>
            <a:r>
              <a:rPr lang="fr-FR" sz="1800" b="1" noProof="0" dirty="0">
                <a:solidFill>
                  <a:srgbClr val="19543E"/>
                </a:solidFill>
                <a:latin typeface="Calibri" pitchFamily="34" charset="0"/>
                <a:ea typeface="Calibri" pitchFamily="34" charset="-122"/>
                <a:cs typeface="Calibri" pitchFamily="34" charset="-120"/>
              </a:rPr>
              <a:t>💬 Dis-le ainsi :  </a:t>
            </a:r>
            <a:r>
              <a:rPr lang="fr-FR" sz="1800" noProof="0" dirty="0">
                <a:solidFill>
                  <a:srgbClr val="23303F"/>
                </a:solidFill>
                <a:latin typeface="Calibri" pitchFamily="34" charset="0"/>
                <a:ea typeface="Calibri" pitchFamily="34" charset="-122"/>
                <a:cs typeface="Calibri" pitchFamily="34" charset="-120"/>
              </a:rPr>
              <a:t>N'attends pas ton prochain rendez-vous. Si l'un de ces cas arrive, reviens, et nous y examinerons.</a:t>
            </a:r>
            <a:endParaRPr lang="fr-FR" sz="1800" noProof="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172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INTERACTIF</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Quelle est la priorité ?</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après dix jours de chimiothérapie rapporte de la fièvre, des frissons et une aggravation brutale de l'état général. Que devrait-il se passer ?</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Conseiller du paracétamol et revoir dans une semaine</a:t>
            </a:r>
            <a:endParaRPr lang="fr-FR"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Conseiller uniquement le repos et une hydratation accrue</a:t>
            </a:r>
            <a:endParaRPr lang="fr-FR" sz="1800" noProof="0" dirty="0"/>
          </a:p>
        </p:txBody>
      </p:sp>
      <p:sp>
        <p:nvSpPr>
          <p:cNvPr id="11" name="Shape 9"/>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Organiser une évaluation urgente et contacter l'équipe soignante le jour même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Arrêter la chimiothérapie et ne pas prendre d'autre mesure</a:t>
            </a:r>
            <a:endParaRPr lang="fr-FR"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 </a:t>
            </a:r>
            <a:r>
              <a:rPr lang="fr-FR" sz="1800" noProof="0" dirty="0">
                <a:solidFill>
                  <a:srgbClr val="23303F"/>
                </a:solidFill>
                <a:latin typeface="Calibri" pitchFamily="34" charset="0"/>
                <a:ea typeface="Calibri" pitchFamily="34" charset="-122"/>
                <a:cs typeface="Calibri" pitchFamily="34" charset="-120"/>
              </a:rPr>
              <a:t>La fièvre pendant la chimiothérapie peut indiquer une infection avec un faible taux de neutrophiles, qui peut se détériorer très rapidement. Planifiez une évaluation le jour même et n'attendez pas de voir si elle se calme.</a:t>
            </a:r>
            <a:endParaRPr lang="fr-FR" sz="1800" noProof="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173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1 sur 4</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Les soins palliatifs sont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noAutofit/>
          </a:bodyPr>
          <a:lstStyle/>
          <a:p>
            <a:pPr marL="0" indent="0">
              <a:buNone/>
            </a:pPr>
            <a:r>
              <a:rPr lang="fr-FR" sz="1728" b="1" noProof="0" dirty="0">
                <a:solidFill>
                  <a:srgbClr val="19543E"/>
                </a:solidFill>
                <a:latin typeface="Calibri" pitchFamily="34" charset="0"/>
                <a:ea typeface="Calibri" pitchFamily="34" charset="-122"/>
                <a:cs typeface="Calibri" pitchFamily="34" charset="-120"/>
              </a:rPr>
              <a:t>A   </a:t>
            </a:r>
            <a:r>
              <a:rPr lang="fr-FR" sz="1728" noProof="0" dirty="0">
                <a:solidFill>
                  <a:srgbClr val="23303F"/>
                </a:solidFill>
                <a:latin typeface="Calibri" pitchFamily="34" charset="0"/>
                <a:ea typeface="Calibri" pitchFamily="34" charset="-122"/>
                <a:cs typeface="Calibri" pitchFamily="34" charset="-120"/>
              </a:rPr>
              <a:t>Soulagement des symptômes et maintien de la qualité de vie, qui peuvent accompagner le traitement du cancer</a:t>
            </a:r>
            <a:r>
              <a:rPr lang="fr-FR" sz="1728" noProof="0" dirty="0">
                <a:solidFill>
                  <a:srgbClr val="000000"/>
                </a:solidFill>
                <a:latin typeface="Calibri" pitchFamily="34" charset="0"/>
                <a:ea typeface="Calibri" pitchFamily="34" charset="-122"/>
                <a:cs typeface="Calibri" pitchFamily="34" charset="-120"/>
              </a:rPr>
              <a:t>   ✅</a:t>
            </a:r>
            <a:endParaRPr lang="fr-FR" sz="1728"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noAutofit/>
          </a:bodyPr>
          <a:lstStyle/>
          <a:p>
            <a:pPr marL="0" indent="0">
              <a:buNone/>
            </a:pPr>
            <a:r>
              <a:rPr lang="fr-FR" sz="1728" b="1" noProof="0" dirty="0">
                <a:solidFill>
                  <a:srgbClr val="1F4E96"/>
                </a:solidFill>
                <a:latin typeface="Calibri" pitchFamily="34" charset="0"/>
                <a:ea typeface="Calibri" pitchFamily="34" charset="-122"/>
                <a:cs typeface="Calibri" pitchFamily="34" charset="-120"/>
              </a:rPr>
              <a:t>B   </a:t>
            </a:r>
            <a:r>
              <a:rPr lang="fr-FR" sz="1728" noProof="0" dirty="0">
                <a:solidFill>
                  <a:srgbClr val="23303F"/>
                </a:solidFill>
                <a:latin typeface="Calibri" pitchFamily="34" charset="0"/>
                <a:ea typeface="Calibri" pitchFamily="34" charset="-122"/>
                <a:cs typeface="Calibri" pitchFamily="34" charset="-120"/>
              </a:rPr>
              <a:t>Seulement pour les derniers jours de sa vie</a:t>
            </a:r>
            <a:endParaRPr lang="fr-FR" sz="1728"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noAutofit/>
          </a:bodyPr>
          <a:lstStyle/>
          <a:p>
            <a:pPr marL="0" indent="0">
              <a:buNone/>
            </a:pPr>
            <a:r>
              <a:rPr lang="fr-FR" sz="1728" b="1" noProof="0" dirty="0">
                <a:solidFill>
                  <a:srgbClr val="1F4E96"/>
                </a:solidFill>
                <a:latin typeface="Calibri" pitchFamily="34" charset="0"/>
                <a:ea typeface="Calibri" pitchFamily="34" charset="-122"/>
                <a:cs typeface="Calibri" pitchFamily="34" charset="-120"/>
              </a:rPr>
              <a:t>C   </a:t>
            </a:r>
            <a:r>
              <a:rPr lang="fr-FR" sz="1728" noProof="0" dirty="0">
                <a:solidFill>
                  <a:srgbClr val="23303F"/>
                </a:solidFill>
                <a:latin typeface="Calibri" pitchFamily="34" charset="0"/>
                <a:ea typeface="Calibri" pitchFamily="34" charset="-122"/>
                <a:cs typeface="Calibri" pitchFamily="34" charset="-120"/>
              </a:rPr>
              <a:t>C'est la même chose que d'arrêter le traitement</a:t>
            </a:r>
            <a:endParaRPr lang="fr-FR" sz="1728"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noAutofit/>
          </a:bodyPr>
          <a:lstStyle/>
          <a:p>
            <a:pPr marL="0" indent="0">
              <a:buNone/>
            </a:pPr>
            <a:r>
              <a:rPr lang="fr-FR" sz="1728" b="1" noProof="0" dirty="0">
                <a:solidFill>
                  <a:srgbClr val="1F4E96"/>
                </a:solidFill>
                <a:latin typeface="Calibri" pitchFamily="34" charset="0"/>
                <a:ea typeface="Calibri" pitchFamily="34" charset="-122"/>
                <a:cs typeface="Calibri" pitchFamily="34" charset="-120"/>
              </a:rPr>
              <a:t>D   </a:t>
            </a:r>
            <a:r>
              <a:rPr lang="fr-FR" sz="1728" noProof="0" dirty="0">
                <a:solidFill>
                  <a:srgbClr val="23303F"/>
                </a:solidFill>
                <a:latin typeface="Calibri" pitchFamily="34" charset="0"/>
                <a:ea typeface="Calibri" pitchFamily="34" charset="-122"/>
                <a:cs typeface="Calibri" pitchFamily="34" charset="-120"/>
              </a:rPr>
              <a:t>Seulement des médicaments contre la douleur</a:t>
            </a:r>
            <a:endParaRPr lang="fr-FR" sz="1728"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normAutofit fontScale="96000"/>
          </a:bodyPr>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a:t>
            </a:r>
            <a:r>
              <a:rPr lang="fr-FR" sz="1800" noProof="0" dirty="0">
                <a:solidFill>
                  <a:srgbClr val="23303F"/>
                </a:solidFill>
                <a:latin typeface="Calibri" pitchFamily="34" charset="0"/>
                <a:ea typeface="Calibri" pitchFamily="34" charset="-122"/>
                <a:cs typeface="Calibri" pitchFamily="34" charset="-120"/>
              </a:rPr>
              <a:t>Les soins palliatifs prennent en compte les symptômes, la fonction et le soutien de la femme et de sa famille. Ils peuvent commencer tôt dans la maladie et ne signifient pas que le traitement contre le cancer a cessé.</a:t>
            </a:r>
            <a:endParaRPr lang="fr-FR" sz="1800" noProof="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174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2 sur 4</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Lequel d'entre eux nécessite une évaluation urgente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Une légère fatigue lors de la deuxième semaine de radiothérapie</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Légère sécheresse de la peau dans la zone traitée</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Légère sécheresse vaginale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Fuite continue d'urine depuis le vagin avec une diminution de la sortie urinaire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a:t>
            </a:r>
            <a:r>
              <a:rPr lang="fr-FR" sz="1800" noProof="0" dirty="0">
                <a:solidFill>
                  <a:srgbClr val="23303F"/>
                </a:solidFill>
                <a:latin typeface="Calibri" pitchFamily="34" charset="0"/>
                <a:ea typeface="Calibri" pitchFamily="34" charset="-122"/>
                <a:cs typeface="Calibri" pitchFamily="34" charset="-120"/>
              </a:rPr>
              <a:t>Cela suggère une fistule et une possible obstruction des reins. Les deux nécessitent une évaluation urgente d'un spécialiste plutôt qu'une évaluation lors du prochain rendez-vous.</a:t>
            </a:r>
            <a:endParaRPr lang="fr-FR" sz="1800" noProof="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175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3 sur 4</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rétrécissement vaginal après radiothérapie doit être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Acceptée comme inévitable</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Prévenue et gérée activement, et abordée par vous plutôt que d'attendre qu'elle en parle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Ignorée à moins qu'elle ne l'évoque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Traitée avec des antibiotiques</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C'est courant, en grande partie évitable et cela détermine aussi si un examen futur est possible. Les femmes en parlent rarement elles-mêmes, donc c'est la question qui rend l'aide possible.</a:t>
            </a:r>
            <a:endParaRPr lang="fr-FR" sz="1800" noProof="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176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 · VÉRIFICATION DES CONNAISSANCES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Test de connaissances : question 4 sur 4</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traitée pour un </a:t>
            </a:r>
            <a:r>
              <a:rPr lang="fr-FR" sz="2000" b="1" noProof="0" dirty="0" err="1">
                <a:solidFill>
                  <a:srgbClr val="23303F"/>
                </a:solidFill>
                <a:latin typeface="Calibri" pitchFamily="34" charset="0"/>
                <a:ea typeface="Calibri" pitchFamily="34" charset="-122"/>
                <a:cs typeface="Calibri" pitchFamily="34" charset="-120"/>
              </a:rPr>
              <a:t>précancer</a:t>
            </a:r>
            <a:r>
              <a:rPr lang="fr-FR" sz="2000" b="1" noProof="0" dirty="0">
                <a:solidFill>
                  <a:srgbClr val="23303F"/>
                </a:solidFill>
                <a:latin typeface="Calibri" pitchFamily="34" charset="0"/>
                <a:ea typeface="Calibri" pitchFamily="34" charset="-122"/>
                <a:cs typeface="Calibri" pitchFamily="34" charset="-120"/>
              </a:rPr>
              <a:t> du col de l'utérus il y a deux ans signale maintenant de nouveaux saignements après un rapport sexuel. Vous devriez :</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La rassurer, parce qu'elle a été soignée</a:t>
            </a:r>
            <a:endParaRPr lang="fr-FR"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Répéter le traitement immédiatement</a:t>
            </a:r>
            <a:endParaRPr lang="fr-FR" sz="1800" noProof="0" dirty="0"/>
          </a:p>
        </p:txBody>
      </p:sp>
      <p:sp>
        <p:nvSpPr>
          <p:cNvPr id="11" name="Shape 9"/>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L'examiner et l'évaluer, car les nouveaux symptômes sont évalués selon leurs propres mérites</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Attendre son prochain dépistage programmé</a:t>
            </a:r>
            <a:endParaRPr lang="fr-FR"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 </a:t>
            </a:r>
            <a:r>
              <a:rPr lang="fr-FR" sz="1800" noProof="0" dirty="0">
                <a:solidFill>
                  <a:srgbClr val="23303F"/>
                </a:solidFill>
                <a:latin typeface="Calibri" pitchFamily="34" charset="0"/>
                <a:ea typeface="Calibri" pitchFamily="34" charset="-122"/>
                <a:cs typeface="Calibri" pitchFamily="34" charset="-120"/>
              </a:rPr>
              <a:t>Le traitement précédent réduit le risque mais ne le supprime pas, et un résultat précédent ne dit rien sur un nouveau symptôme. Elle a besoin d'une évaluation maintenant.</a:t>
            </a:r>
            <a:endParaRPr lang="fr-FR" sz="1800" noProof="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178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SESSION 5</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Réflexion</a:t>
            </a:r>
            <a:endParaRPr lang="fr-FR"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fr-FR" sz="1800" i="1" noProof="0" dirty="0">
                <a:solidFill>
                  <a:srgbClr val="31507B"/>
                </a:solidFill>
                <a:latin typeface="Calibri" pitchFamily="34" charset="0"/>
                <a:ea typeface="Calibri" pitchFamily="34" charset="-122"/>
                <a:cs typeface="Calibri" pitchFamily="34" charset="-120"/>
              </a:rPr>
              <a:t>Instruction de l'apprenant : Saisissez votre réponse dans la boîte de texte. Ces réponses ne sont pas notées.</a:t>
            </a:r>
            <a:endParaRPr lang="fr-FR" sz="1800" noProof="0" dirty="0"/>
          </a:p>
        </p:txBody>
      </p:sp>
      <p:sp>
        <p:nvSpPr>
          <p:cNvPr id="7" name="Shape 5"/>
          <p:cNvSpPr/>
          <p:nvPr/>
        </p:nvSpPr>
        <p:spPr>
          <a:xfrm>
            <a:off x="566928" y="2084832"/>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8" name="Shape 6"/>
          <p:cNvSpPr/>
          <p:nvPr/>
        </p:nvSpPr>
        <p:spPr>
          <a:xfrm>
            <a:off x="841248" y="248412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9" name="Text 7"/>
          <p:cNvSpPr txBox="1"/>
          <p:nvPr/>
        </p:nvSpPr>
        <p:spPr>
          <a:xfrm>
            <a:off x="841248" y="248412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1</a:t>
            </a:r>
            <a:endParaRPr lang="fr-FR" sz="1500" noProof="0" dirty="0"/>
          </a:p>
        </p:txBody>
      </p:sp>
      <p:sp>
        <p:nvSpPr>
          <p:cNvPr id="10" name="Text 8"/>
          <p:cNvSpPr txBox="1"/>
          <p:nvPr/>
        </p:nvSpPr>
        <p:spPr>
          <a:xfrm>
            <a:off x="1517904" y="2157984"/>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Comment aideriez-vous une femme et sa famille à décider quels symptômes signaler en urgence et lesquels peuvent attendre la prochaine évaluation ?</a:t>
            </a:r>
            <a:endParaRPr lang="fr-FR" sz="1800" noProof="0" dirty="0"/>
          </a:p>
        </p:txBody>
      </p:sp>
      <p:sp>
        <p:nvSpPr>
          <p:cNvPr id="11" name="Shape 9"/>
          <p:cNvSpPr/>
          <p:nvPr/>
        </p:nvSpPr>
        <p:spPr>
          <a:xfrm>
            <a:off x="566928" y="3486912"/>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12" name="Shape 10"/>
          <p:cNvSpPr/>
          <p:nvPr/>
        </p:nvSpPr>
        <p:spPr>
          <a:xfrm>
            <a:off x="841248" y="388620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3" name="Text 11"/>
          <p:cNvSpPr txBox="1"/>
          <p:nvPr/>
        </p:nvSpPr>
        <p:spPr>
          <a:xfrm>
            <a:off x="841248" y="388620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2</a:t>
            </a:r>
            <a:endParaRPr lang="fr-FR" sz="1500" noProof="0" dirty="0"/>
          </a:p>
        </p:txBody>
      </p:sp>
      <p:sp>
        <p:nvSpPr>
          <p:cNvPr id="14" name="Text 12"/>
          <p:cNvSpPr txBox="1"/>
          <p:nvPr/>
        </p:nvSpPr>
        <p:spPr>
          <a:xfrm>
            <a:off x="1517904" y="3560064"/>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Comment aborderiez-vous la santé sexuelle d'une femme qui vient de terminer la radiothérapie, d'une manière qu'elle trouverait respectueuse ?</a:t>
            </a:r>
            <a:endParaRPr lang="fr-FR" sz="1800" noProof="0" dirty="0"/>
          </a:p>
        </p:txBody>
      </p:sp>
      <p:sp>
        <p:nvSpPr>
          <p:cNvPr id="15" name="Shape 13"/>
          <p:cNvSpPr/>
          <p:nvPr/>
        </p:nvSpPr>
        <p:spPr>
          <a:xfrm>
            <a:off x="566928" y="4888992"/>
            <a:ext cx="11055096" cy="1255776"/>
          </a:xfrm>
          <a:prstGeom prst="roundRect">
            <a:avLst>
              <a:gd name="adj" fmla="val 5097"/>
            </a:avLst>
          </a:prstGeom>
          <a:solidFill>
            <a:srgbClr val="F3F6FB"/>
          </a:solidFill>
          <a:ln w="12700">
            <a:solidFill>
              <a:srgbClr val="E0E3EA"/>
            </a:solidFill>
            <a:prstDash val="solid"/>
          </a:ln>
        </p:spPr>
        <p:txBody>
          <a:bodyPr/>
          <a:lstStyle/>
          <a:p>
            <a:endParaRPr lang="fr-FR" noProof="0" dirty="0"/>
          </a:p>
        </p:txBody>
      </p:sp>
      <p:sp>
        <p:nvSpPr>
          <p:cNvPr id="16" name="Shape 14"/>
          <p:cNvSpPr/>
          <p:nvPr/>
        </p:nvSpPr>
        <p:spPr>
          <a:xfrm>
            <a:off x="841248" y="5288280"/>
            <a:ext cx="457200" cy="457200"/>
          </a:xfrm>
          <a:prstGeom prst="ellipse">
            <a:avLst/>
          </a:prstGeom>
          <a:solidFill>
            <a:srgbClr val="1F4E96"/>
          </a:solidFill>
          <a:ln w="12700">
            <a:solidFill>
              <a:srgbClr val="1F4E96"/>
            </a:solidFill>
            <a:prstDash val="solid"/>
          </a:ln>
        </p:spPr>
        <p:txBody>
          <a:bodyPr/>
          <a:lstStyle/>
          <a:p>
            <a:endParaRPr lang="fr-FR" noProof="0" dirty="0"/>
          </a:p>
        </p:txBody>
      </p:sp>
      <p:sp>
        <p:nvSpPr>
          <p:cNvPr id="17" name="Text 15"/>
          <p:cNvSpPr txBox="1"/>
          <p:nvPr/>
        </p:nvSpPr>
        <p:spPr>
          <a:xfrm>
            <a:off x="841248" y="5288280"/>
            <a:ext cx="457200" cy="457200"/>
          </a:xfrm>
          <a:prstGeom prst="rect">
            <a:avLst/>
          </a:prstGeom>
          <a:noFill/>
          <a:ln/>
        </p:spPr>
        <p:txBody>
          <a:bodyPr wrap="square" lIns="0" tIns="0" rIns="0" bIns="0" rtlCol="0" anchor="ctr"/>
          <a:lstStyle/>
          <a:p>
            <a:pPr marL="0" indent="0" algn="ctr">
              <a:buNone/>
            </a:pPr>
            <a:r>
              <a:rPr lang="fr-FR" sz="1500" b="1" noProof="0" dirty="0">
                <a:solidFill>
                  <a:srgbClr val="FFFFFF"/>
                </a:solidFill>
                <a:latin typeface="Cambria" pitchFamily="34" charset="0"/>
                <a:ea typeface="Cambria" pitchFamily="34" charset="-122"/>
                <a:cs typeface="Cambria" pitchFamily="34" charset="-120"/>
              </a:rPr>
              <a:t>3</a:t>
            </a:r>
            <a:endParaRPr lang="fr-FR" sz="1500" noProof="0" dirty="0"/>
          </a:p>
        </p:txBody>
      </p:sp>
      <p:sp>
        <p:nvSpPr>
          <p:cNvPr id="18" name="Text 16"/>
          <p:cNvSpPr txBox="1"/>
          <p:nvPr/>
        </p:nvSpPr>
        <p:spPr>
          <a:xfrm>
            <a:off x="1517904" y="4962144"/>
            <a:ext cx="9811512" cy="1109472"/>
          </a:xfrm>
          <a:prstGeom prst="rect">
            <a:avLst/>
          </a:prstGeom>
          <a:noFill/>
          <a:ln/>
        </p:spPr>
        <p:txBody>
          <a:bodyPr wrap="square" lIns="0" tIns="0" rIns="0" bIns="0" rtlCol="0" anchor="ctr"/>
          <a:lstStyle/>
          <a:p>
            <a:pPr marL="0" indent="0">
              <a:lnSpc>
                <a:spcPct val="106000"/>
              </a:lnSpc>
              <a:buNone/>
            </a:pPr>
            <a:r>
              <a:rPr lang="fr-FR" sz="1800" noProof="0" dirty="0">
                <a:solidFill>
                  <a:srgbClr val="23303F"/>
                </a:solidFill>
                <a:latin typeface="Calibri" pitchFamily="34" charset="0"/>
                <a:ea typeface="Calibri" pitchFamily="34" charset="-122"/>
                <a:cs typeface="Calibri" pitchFamily="34" charset="-120"/>
              </a:rPr>
              <a:t>Quelle chose concrète pourriez-vous changer dans votre environnement pour aider les femmes à effectuer un suivi après le traitement ?</a:t>
            </a:r>
            <a:endParaRPr lang="fr-FR" sz="1800" noProof="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179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Presque tous les cancers du col de l'utérus sont causés par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Une infection bactérienne</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Infection persistante avec un type HPV à haut risque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L'accouchement répété seul</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 défaut génétique hérité</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L'infection persistante à haut risque de HPV est la cause centrale. Sans cela, le cancer du col de l'utérus ne se développe pas.</a:t>
            </a:r>
            <a:endParaRPr lang="fr-FR" sz="1800" noProof="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2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Presque tous les cancers du col de l'utérus commencent dans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L'endomètre</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Fornix vaginal</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Ovaire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Zone de transformation du col de l'utérus</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d'information : </a:t>
            </a:r>
            <a:r>
              <a:rPr lang="fr-FR" sz="1800" noProof="0" dirty="0">
                <a:solidFill>
                  <a:srgbClr val="23303F"/>
                </a:solidFill>
                <a:latin typeface="Calibri" pitchFamily="34" charset="0"/>
                <a:ea typeface="Calibri" pitchFamily="34" charset="-122"/>
                <a:cs typeface="Calibri" pitchFamily="34" charset="-120"/>
              </a:rPr>
              <a:t>La zone de transformation est celle où les cellules </a:t>
            </a:r>
            <a:r>
              <a:rPr lang="fr-FR" sz="1800" noProof="0" dirty="0" err="1">
                <a:solidFill>
                  <a:srgbClr val="23303F"/>
                </a:solidFill>
                <a:latin typeface="Calibri" pitchFamily="34" charset="0"/>
                <a:ea typeface="Calibri" pitchFamily="34" charset="-122"/>
                <a:cs typeface="Calibri" pitchFamily="34" charset="-120"/>
              </a:rPr>
              <a:t>colonnarles</a:t>
            </a:r>
            <a:r>
              <a:rPr lang="fr-FR" sz="1800" noProof="0" dirty="0">
                <a:solidFill>
                  <a:srgbClr val="23303F"/>
                </a:solidFill>
                <a:latin typeface="Calibri" pitchFamily="34" charset="0"/>
                <a:ea typeface="Calibri" pitchFamily="34" charset="-122"/>
                <a:cs typeface="Calibri" pitchFamily="34" charset="-120"/>
              </a:rPr>
              <a:t> sont remplacées par des cellules squameuses. Ce sont ces cellules en mutation active que le HPV affecte.</a:t>
            </a:r>
            <a:endParaRPr lang="fr-FR" sz="1800" noProof="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3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traitement d'une lésion précancéreuse du col de l'utérus peut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Prévenir un futur cancer du col de l'utérus</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Provoquer la propagation de la lésion</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Confirmer la métastase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Remplacer la stadification</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a:t>
            </a:r>
            <a:r>
              <a:rPr lang="fr-FR" sz="1800" noProof="0" dirty="0">
                <a:solidFill>
                  <a:srgbClr val="23303F"/>
                </a:solidFill>
                <a:latin typeface="Calibri" pitchFamily="34" charset="0"/>
                <a:ea typeface="Calibri" pitchFamily="34" charset="-122"/>
                <a:cs typeface="Calibri" pitchFamily="34" charset="-120"/>
              </a:rPr>
              <a:t>Détruire ou retirer la zone de transformation anormale interrompt la progression. C'est pourquoi le dépistage prévient le cancer ainsi que le détecte.</a:t>
            </a:r>
            <a:endParaRPr lang="fr-FR" sz="1800" noProof="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4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femme ayant eu cinq mois de saignement après un rapport sexuel a besoin de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Évaluation diagnostique, incluant l'examen du col de l'utérus</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Un test de dépistage au lieu d'une évaluation</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La rassurer uniquement</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 test répété dans cinq ans</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a:t>
            </a:r>
            <a:r>
              <a:rPr lang="fr-FR" sz="1800" noProof="0" dirty="0">
                <a:solidFill>
                  <a:srgbClr val="23303F"/>
                </a:solidFill>
                <a:latin typeface="Calibri" pitchFamily="34" charset="0"/>
                <a:ea typeface="Calibri" pitchFamily="34" charset="-122"/>
                <a:cs typeface="Calibri" pitchFamily="34" charset="-120"/>
              </a:rPr>
              <a:t>Une femme présentant des symptômes préoccupants doit être évaluée. Un test de dépistage ajouterait un délai et un résultat négatif pourrait faussement rassurer.</a:t>
            </a:r>
            <a:endParaRPr lang="fr-FR" sz="1800" noProof="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5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 test ADN du HPV détecte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Cellules cancéreuses sur le col de l'utérus</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Inflammation uniquement</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Infection bactérienne</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Papillomavirus humain à haut risque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a:t>
            </a:r>
            <a:r>
              <a:rPr lang="fr-FR" sz="1800" noProof="0" dirty="0">
                <a:solidFill>
                  <a:srgbClr val="23303F"/>
                </a:solidFill>
                <a:latin typeface="Calibri" pitchFamily="34" charset="0"/>
                <a:ea typeface="Calibri" pitchFamily="34" charset="-122"/>
                <a:cs typeface="Calibri" pitchFamily="34" charset="-120"/>
              </a:rPr>
              <a:t>Il détecte le virus qui cause le cancer du col de l'utérus. Il ne diagnostique pas en lui-même le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ou le cancer.</a:t>
            </a:r>
            <a:endParaRPr lang="fr-FR" sz="1800" noProof="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6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La bonne étape suivante après un test de dépistage positif au HPV est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Dire à la femme qu'elle a un cancer</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Répéter le test dans cinq ans</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Passer à l'étape suivante du parcours, en expliquant que le cancer n'a pas été détecté</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Commencer la chimiothérapie</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 </a:t>
            </a:r>
            <a:r>
              <a:rPr lang="fr-FR" sz="1800" noProof="0" dirty="0">
                <a:solidFill>
                  <a:srgbClr val="23303F"/>
                </a:solidFill>
                <a:latin typeface="Calibri" pitchFamily="34" charset="0"/>
                <a:ea typeface="Calibri" pitchFamily="34" charset="-122"/>
                <a:cs typeface="Calibri" pitchFamily="34" charset="-120"/>
              </a:rPr>
              <a:t>Un résultat positif signifie que le virus a été détecté. La plupart des femmes ayant un test positif n'ont aucune lésion.</a:t>
            </a:r>
            <a:endParaRPr lang="fr-FR" sz="1800" noProof="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7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Quelle femme a besoin d'un dépistage plus précoce et plus fréquent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Une femme de 27 ans vivant avec le VIH</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Une femme de 32 ans avec un enfant</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Une femme de 40 ans qui fait du sport</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Une femme de 35 ans avec un reflux léger</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a:t>
            </a:r>
            <a:r>
              <a:rPr lang="fr-FR" sz="1800" noProof="0" dirty="0">
                <a:solidFill>
                  <a:srgbClr val="23303F"/>
                </a:solidFill>
                <a:latin typeface="Calibri" pitchFamily="34" charset="0"/>
                <a:ea typeface="Calibri" pitchFamily="34" charset="-122"/>
                <a:cs typeface="Calibri" pitchFamily="34" charset="-120"/>
              </a:rPr>
              <a:t>Une immunité réduite augmente la persistance et la progression de l'infection par le HPV, donc le dépistage commence plus tôt et se répète plus souvent.</a:t>
            </a:r>
            <a:endParaRPr lang="fr-FR" sz="1800" noProof="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8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La vaccination contre le HPV est administrée au début de l'adolescence parce que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C'est moins cher alors</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Il traite les lésions existantes</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Il doit précéder l'exposition au HPV afin de prévenir l'infection</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Les filles plus âgées ne peuvent pas le tolérer</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 </a:t>
            </a:r>
            <a:r>
              <a:rPr lang="fr-FR" sz="1800" noProof="0" dirty="0">
                <a:solidFill>
                  <a:srgbClr val="23303F"/>
                </a:solidFill>
                <a:latin typeface="Calibri" pitchFamily="34" charset="0"/>
                <a:ea typeface="Calibri" pitchFamily="34" charset="-122"/>
                <a:cs typeface="Calibri" pitchFamily="34" charset="-120"/>
              </a:rPr>
              <a:t>Le vaccin est préventif, pas thérapeutique. Le moment avant l'exposition est ce qui le rend efficace.</a:t>
            </a:r>
            <a:endParaRPr lang="fr-FR" sz="1800" noProof="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9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Dans la stadification FIGO, le stade décrit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À quel point les cellules paraissent anormales</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Jusqu'où le cancer s'est propagé</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Le type de HPV détecté</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Le traitement choisi</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Le stade correspond à l'étendue de la maladie. Le grade correspond à l'aspect anormal des cellules au microscope.</a:t>
            </a:r>
            <a:endParaRPr lang="fr-FR" sz="1800" noProof="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10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lésion précancéreuse du col de l'utérus de haut grade signifie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Cellules anormales confinées à la couche de surface, qui ne sont pas cancéreuses</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Un cancer invasif</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Un polype bénin</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Une découverte normale</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a:t>
            </a:r>
            <a:r>
              <a:rPr lang="fr-FR" sz="1800" noProof="0" dirty="0">
                <a:solidFill>
                  <a:srgbClr val="23303F"/>
                </a:solidFill>
                <a:latin typeface="Calibri" pitchFamily="34" charset="0"/>
                <a:ea typeface="Calibri" pitchFamily="34" charset="-122"/>
                <a:cs typeface="Calibri" pitchFamily="34" charset="-120"/>
              </a:rPr>
              <a:t>Le </a:t>
            </a:r>
            <a:r>
              <a:rPr lang="fr-FR" sz="1800" noProof="0" dirty="0" err="1">
                <a:solidFill>
                  <a:srgbClr val="23303F"/>
                </a:solidFill>
                <a:latin typeface="Calibri" pitchFamily="34" charset="0"/>
                <a:ea typeface="Calibri" pitchFamily="34" charset="-122"/>
                <a:cs typeface="Calibri" pitchFamily="34" charset="-120"/>
              </a:rPr>
              <a:t>précancer</a:t>
            </a:r>
            <a:r>
              <a:rPr lang="fr-FR" sz="1800" noProof="0" dirty="0">
                <a:solidFill>
                  <a:srgbClr val="23303F"/>
                </a:solidFill>
                <a:latin typeface="Calibri" pitchFamily="34" charset="0"/>
                <a:ea typeface="Calibri" pitchFamily="34" charset="-122"/>
                <a:cs typeface="Calibri" pitchFamily="34" charset="-120"/>
              </a:rPr>
              <a:t> ne peut pas se propager. Il est traité parce qu'une proportion des lésions de haut grade progresserait si elle n'était pas traitée.</a:t>
            </a:r>
            <a:endParaRPr lang="fr-FR" sz="1800" noProof="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189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11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traitement ablatif d'une lésion cervicale n'est approprié que lorsque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La lésion s'étend dans le canal cervical</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L'ensemble de la lésion et la zone de transformation sont visibles et aucun cancer n'est suspecté</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Le col saigne au contact</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Une anomalie glandulaire est suspectée</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Si vous ne pouvez pas voir l'intégralité ou si un cancer invasif est suspecté, un traitement </a:t>
            </a:r>
            <a:r>
              <a:rPr lang="fr-FR" sz="1800" noProof="0" dirty="0" err="1">
                <a:solidFill>
                  <a:srgbClr val="23303F"/>
                </a:solidFill>
                <a:latin typeface="Calibri" pitchFamily="34" charset="0"/>
                <a:ea typeface="Calibri" pitchFamily="34" charset="-122"/>
                <a:cs typeface="Calibri" pitchFamily="34" charset="-120"/>
              </a:rPr>
              <a:t>excisionnel</a:t>
            </a:r>
            <a:r>
              <a:rPr lang="fr-FR" sz="1800" noProof="0" dirty="0">
                <a:solidFill>
                  <a:srgbClr val="23303F"/>
                </a:solidFill>
                <a:latin typeface="Calibri" pitchFamily="34" charset="0"/>
                <a:ea typeface="Calibri" pitchFamily="34" charset="-122"/>
                <a:cs typeface="Calibri" pitchFamily="34" charset="-120"/>
              </a:rPr>
              <a:t> ou une orientation est nécessaire.</a:t>
            </a:r>
            <a:endParaRPr lang="fr-FR" sz="1800" noProof="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12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principal avantage du traitement </a:t>
            </a:r>
            <a:r>
              <a:rPr lang="fr-FR" sz="2000" b="1" noProof="0" dirty="0" err="1">
                <a:solidFill>
                  <a:srgbClr val="23303F"/>
                </a:solidFill>
                <a:latin typeface="Calibri" pitchFamily="34" charset="0"/>
                <a:ea typeface="Calibri" pitchFamily="34" charset="-122"/>
                <a:cs typeface="Calibri" pitchFamily="34" charset="-120"/>
              </a:rPr>
              <a:t>excisionnel</a:t>
            </a:r>
            <a:r>
              <a:rPr lang="fr-FR" sz="2000" b="1" noProof="0" dirty="0">
                <a:solidFill>
                  <a:srgbClr val="23303F"/>
                </a:solidFill>
                <a:latin typeface="Calibri" pitchFamily="34" charset="0"/>
                <a:ea typeface="Calibri" pitchFamily="34" charset="-122"/>
                <a:cs typeface="Calibri" pitchFamily="34" charset="-120"/>
              </a:rPr>
              <a:t> par rapport à l'ablation est qu'il suit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Est plus rapide</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Ne nécessite pas de suivi</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Élimine le HPV du corps</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Fournit des tissus pour l'histologie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a:t>
            </a:r>
            <a:r>
              <a:rPr lang="fr-FR" sz="1800" noProof="0" dirty="0">
                <a:solidFill>
                  <a:srgbClr val="23303F"/>
                </a:solidFill>
                <a:latin typeface="Calibri" pitchFamily="34" charset="0"/>
                <a:ea typeface="Calibri" pitchFamily="34" charset="-122"/>
                <a:cs typeface="Calibri" pitchFamily="34" charset="-120"/>
              </a:rPr>
              <a:t>L'échantillon confirme le grade et peut révéler une invasion insoupçonnée. Aucun traitement ne permet d'éliminer le HPV du corps.</a:t>
            </a:r>
            <a:endParaRPr lang="fr-FR" sz="1800" noProof="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191</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13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Après le traitement d'une lésion précancéreuse du col de l'utérus, une femme doit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Aucun dépistage supplémentaire</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Une hystérectomie</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Traitement répété immédiat</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Un test de suivi prévu</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D
Retour : </a:t>
            </a:r>
            <a:r>
              <a:rPr lang="fr-FR" sz="1800" noProof="0" dirty="0">
                <a:solidFill>
                  <a:srgbClr val="23303F"/>
                </a:solidFill>
                <a:latin typeface="Calibri" pitchFamily="34" charset="0"/>
                <a:ea typeface="Calibri" pitchFamily="34" charset="-122"/>
                <a:cs typeface="Calibri" pitchFamily="34" charset="-120"/>
              </a:rPr>
              <a:t>Le traitement élimine la lésion, pas l'infection. La maladie persistante ou récurrente n'est détectée qu'en refaisant des tests.</a:t>
            </a:r>
            <a:endParaRPr lang="fr-FR" sz="1800" noProof="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192</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14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Quelle conclusion nécessite une orientation d'urgence le jour même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 test HPV positif chez une femme en bonne santé</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Fatigue légère</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Saignements vaginaux abondants avec vertiges et pâleur</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Crampes pelviennes occasionnelles</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 </a:t>
            </a:r>
            <a:r>
              <a:rPr lang="fr-FR" sz="1800" noProof="0" dirty="0">
                <a:solidFill>
                  <a:srgbClr val="23303F"/>
                </a:solidFill>
                <a:latin typeface="Calibri" pitchFamily="34" charset="0"/>
                <a:ea typeface="Calibri" pitchFamily="34" charset="-122"/>
                <a:cs typeface="Calibri" pitchFamily="34" charset="-120"/>
              </a:rPr>
              <a:t>Un saignement avec signes de compromission hémodynamique nécessite une réanimation et un transfert immédiat.</a:t>
            </a:r>
            <a:endParaRPr lang="fr-FR" sz="1800" noProof="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193</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15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Qu'est-ce qui doit être enregistré au premier contact pour le registre national du cancer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Seuls diagnostics confirmés</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Le symptôme, les deux dates, vos résultats et la destination de la référence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Rien jusqu'à ce que les résultats de la biopsie arrivent</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Seulement son nom</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Un cas suspecté et non confirmé bien enregistré est une donnée précieuse du registre. Soumettez au premier soupçon et mettez à jour le dossier plus tard.</a:t>
            </a:r>
            <a:endParaRPr lang="fr-FR" sz="1800" noProof="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194</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16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cancer du col de l'utérus invasif est confirmé par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Un test HPV</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Inspection visuelle avec acide acétique</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Biopsie et histopathologie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Échographie</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 : </a:t>
            </a:r>
            <a:r>
              <a:rPr lang="fr-FR" sz="1800" noProof="0" dirty="0">
                <a:solidFill>
                  <a:srgbClr val="23303F"/>
                </a:solidFill>
                <a:latin typeface="Calibri" pitchFamily="34" charset="0"/>
                <a:ea typeface="Calibri" pitchFamily="34" charset="-122"/>
                <a:cs typeface="Calibri" pitchFamily="34" charset="-120"/>
              </a:rPr>
              <a:t>Les tissus examinés au microscope confirment le diagnostic et indiquent le type de cancer.</a:t>
            </a:r>
            <a:endParaRPr lang="fr-FR" sz="1800" noProof="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195</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17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Curiethérapie dans le cancer du col de l'utérus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noAutofit/>
          </a:bodyPr>
          <a:lstStyle/>
          <a:p>
            <a:pPr marL="0" indent="0">
              <a:buNone/>
            </a:pPr>
            <a:r>
              <a:rPr lang="fr-FR" sz="1600" b="1" noProof="0" dirty="0">
                <a:solidFill>
                  <a:srgbClr val="1F4E96"/>
                </a:solidFill>
                <a:latin typeface="Calibri" pitchFamily="34" charset="0"/>
                <a:ea typeface="Calibri" pitchFamily="34" charset="-122"/>
                <a:cs typeface="Calibri" pitchFamily="34" charset="-120"/>
              </a:rPr>
              <a:t>A   </a:t>
            </a:r>
            <a:r>
              <a:rPr lang="fr-FR" sz="1600" noProof="0" dirty="0">
                <a:solidFill>
                  <a:srgbClr val="23303F"/>
                </a:solidFill>
                <a:latin typeface="Calibri" pitchFamily="34" charset="0"/>
                <a:ea typeface="Calibri" pitchFamily="34" charset="-122"/>
                <a:cs typeface="Calibri" pitchFamily="34" charset="-120"/>
              </a:rPr>
              <a:t>N'a pas de rôle établi</a:t>
            </a:r>
            <a:endParaRPr lang="fr-FR" sz="16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noAutofit/>
          </a:bodyPr>
          <a:lstStyle/>
          <a:p>
            <a:pPr marL="0" indent="0">
              <a:buNone/>
            </a:pPr>
            <a:r>
              <a:rPr lang="fr-FR" sz="1600" b="1" noProof="0" dirty="0">
                <a:solidFill>
                  <a:srgbClr val="1F4E96"/>
                </a:solidFill>
                <a:latin typeface="Calibri" pitchFamily="34" charset="0"/>
                <a:ea typeface="Calibri" pitchFamily="34" charset="-122"/>
                <a:cs typeface="Calibri" pitchFamily="34" charset="-120"/>
              </a:rPr>
              <a:t>B   </a:t>
            </a:r>
            <a:r>
              <a:rPr lang="fr-FR" sz="1600" noProof="0" dirty="0">
                <a:solidFill>
                  <a:srgbClr val="23303F"/>
                </a:solidFill>
                <a:latin typeface="Calibri" pitchFamily="34" charset="0"/>
                <a:ea typeface="Calibri" pitchFamily="34" charset="-122"/>
                <a:cs typeface="Calibri" pitchFamily="34" charset="-120"/>
              </a:rPr>
              <a:t>Est un type de chimiothérapie</a:t>
            </a:r>
            <a:endParaRPr lang="fr-FR" sz="16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noAutofit/>
          </a:bodyPr>
          <a:lstStyle/>
          <a:p>
            <a:pPr marL="0" indent="0">
              <a:buNone/>
            </a:pPr>
            <a:r>
              <a:rPr lang="fr-FR" sz="1600" b="1" noProof="0" dirty="0">
                <a:solidFill>
                  <a:srgbClr val="19543E"/>
                </a:solidFill>
                <a:latin typeface="Calibri" pitchFamily="34" charset="0"/>
                <a:ea typeface="Calibri" pitchFamily="34" charset="-122"/>
                <a:cs typeface="Calibri" pitchFamily="34" charset="-120"/>
              </a:rPr>
              <a:t>C   </a:t>
            </a:r>
            <a:r>
              <a:rPr lang="fr-FR" sz="1600" noProof="0" dirty="0">
                <a:solidFill>
                  <a:srgbClr val="23303F"/>
                </a:solidFill>
                <a:latin typeface="Calibri" pitchFamily="34" charset="0"/>
                <a:ea typeface="Calibri" pitchFamily="34" charset="-122"/>
                <a:cs typeface="Calibri" pitchFamily="34" charset="-120"/>
              </a:rPr>
              <a:t>Délivre une radiothérapie au plus près du col de l'utérus et constitue une composante essentielle du traitement curatif</a:t>
            </a:r>
            <a:r>
              <a:rPr lang="fr-FR" sz="1600" noProof="0" dirty="0">
                <a:solidFill>
                  <a:srgbClr val="000000"/>
                </a:solidFill>
                <a:latin typeface="Calibri" pitchFamily="34" charset="0"/>
                <a:ea typeface="Calibri" pitchFamily="34" charset="-122"/>
                <a:cs typeface="Calibri" pitchFamily="34" charset="-120"/>
              </a:rPr>
              <a:t>   ✅</a:t>
            </a:r>
            <a:endParaRPr lang="fr-FR" sz="16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noAutofit/>
          </a:bodyPr>
          <a:lstStyle/>
          <a:p>
            <a:pPr marL="0" indent="0">
              <a:buNone/>
            </a:pPr>
            <a:r>
              <a:rPr lang="fr-FR" sz="1600" b="1" noProof="0" dirty="0">
                <a:solidFill>
                  <a:srgbClr val="1F4E96"/>
                </a:solidFill>
                <a:latin typeface="Calibri" pitchFamily="34" charset="0"/>
                <a:ea typeface="Calibri" pitchFamily="34" charset="-122"/>
                <a:cs typeface="Calibri" pitchFamily="34" charset="-120"/>
              </a:rPr>
              <a:t>D   </a:t>
            </a:r>
            <a:r>
              <a:rPr lang="fr-FR" sz="1600" noProof="0" dirty="0">
                <a:solidFill>
                  <a:srgbClr val="23303F"/>
                </a:solidFill>
                <a:latin typeface="Calibri" pitchFamily="34" charset="0"/>
                <a:ea typeface="Calibri" pitchFamily="34" charset="-122"/>
                <a:cs typeface="Calibri" pitchFamily="34" charset="-120"/>
              </a:rPr>
              <a:t>Remplace la chirurgie dans tous les cas</a:t>
            </a:r>
            <a:endParaRPr lang="fr-FR" sz="16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normAutofit fontScale="97500"/>
          </a:bodyPr>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C
Retours : </a:t>
            </a:r>
            <a:r>
              <a:rPr lang="fr-FR" sz="1800" noProof="0" dirty="0">
                <a:solidFill>
                  <a:srgbClr val="23303F"/>
                </a:solidFill>
                <a:latin typeface="Calibri" pitchFamily="34" charset="0"/>
                <a:ea typeface="Calibri" pitchFamily="34" charset="-122"/>
                <a:cs typeface="Calibri" pitchFamily="34" charset="-120"/>
              </a:rPr>
              <a:t>Il administre une dose élevée directement à la tumeur tout en préservant les tissus environnants. Les taux de guérison diminuent considérablement sans ce traitement.</a:t>
            </a:r>
            <a:endParaRPr lang="fr-FR" sz="1800" noProof="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196</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18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Une fuite continue d'urine du vagin après le traitement suggère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Fistule qui nécessite une évaluation urgente d'un spécialiste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Une guérison normale</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Un effet attendu de l'ablation</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Déshydratation</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Retour : </a:t>
            </a:r>
            <a:r>
              <a:rPr lang="fr-FR" sz="1800" noProof="0" dirty="0">
                <a:solidFill>
                  <a:srgbClr val="23303F"/>
                </a:solidFill>
                <a:latin typeface="Calibri" pitchFamily="34" charset="0"/>
                <a:ea typeface="Calibri" pitchFamily="34" charset="-122"/>
                <a:cs typeface="Calibri" pitchFamily="34" charset="-120"/>
              </a:rPr>
              <a:t>Une fistule est pénible et isolante. Elle nécessite une orientation, un soin attentif de la peau et une gestion active des symptômes.</a:t>
            </a:r>
            <a:endParaRPr lang="fr-FR" sz="1800" noProof="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197</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19 sur 20</a:t>
            </a:r>
            <a:endParaRPr lang="fr-FR"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Le suivi après le traitement du cancer du col de l'utérus vise à :</a:t>
            </a:r>
            <a:endParaRPr lang="fr-FR"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Prouve que le cancer ne reviendra jamais</a:t>
            </a:r>
            <a:endParaRPr lang="fr-FR"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Surveille la récupération, gère les effets durables et détecte la récidive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Remplacer les soins palliatifs</a:t>
            </a:r>
            <a:endParaRPr lang="fr-FR"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Mettre fin à tout contact avec les services</a:t>
            </a:r>
            <a:endParaRPr lang="fr-FR"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B
Retour : </a:t>
            </a:r>
            <a:r>
              <a:rPr lang="fr-FR" sz="1800" noProof="0" dirty="0">
                <a:solidFill>
                  <a:srgbClr val="23303F"/>
                </a:solidFill>
                <a:latin typeface="Calibri" pitchFamily="34" charset="0"/>
                <a:ea typeface="Calibri" pitchFamily="34" charset="-122"/>
                <a:cs typeface="Calibri" pitchFamily="34" charset="-120"/>
              </a:rPr>
              <a:t>Le suivi soutient la récupération, gère les effets tardifs et cherche une récidive à un moment où un traitement supplémentaire peut encore aider.</a:t>
            </a:r>
            <a:endParaRPr lang="fr-FR" sz="1800" noProof="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198</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DERNIER CONTRÔLE</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r>
              <a:rPr lang="fr-FR" sz="3200" b="1" dirty="0">
                <a:solidFill>
                  <a:srgbClr val="10305A"/>
                </a:solidFill>
                <a:latin typeface="Cambria" pitchFamily="34" charset="0"/>
                <a:ea typeface="Cambria" pitchFamily="34" charset="-122"/>
                <a:cs typeface="Cambria" pitchFamily="34" charset="-120"/>
              </a:rPr>
              <a:t>Évaluation finale</a:t>
            </a:r>
            <a:r>
              <a:rPr lang="fr-FR" sz="3200" b="1" noProof="0" dirty="0">
                <a:solidFill>
                  <a:srgbClr val="10305A"/>
                </a:solidFill>
                <a:latin typeface="Cambria" pitchFamily="34" charset="0"/>
                <a:ea typeface="Cambria" pitchFamily="34" charset="-122"/>
                <a:cs typeface="Cambria" pitchFamily="34" charset="-120"/>
              </a:rPr>
              <a:t> : question 20 sur 20</a:t>
            </a:r>
            <a:endParaRPr lang="fr-FR"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fr-FR" sz="2000" b="1" noProof="0" dirty="0">
                <a:solidFill>
                  <a:srgbClr val="23303F"/>
                </a:solidFill>
                <a:latin typeface="Calibri" pitchFamily="34" charset="0"/>
                <a:ea typeface="Calibri" pitchFamily="34" charset="-122"/>
                <a:cs typeface="Calibri" pitchFamily="34" charset="-120"/>
              </a:rPr>
              <a:t>Quelles affirmations concernant le conseil à une femme avec un résultat de dépistage positif sont exactes ? Sélectionnez toutes celles qui s'appliquent.</a:t>
            </a:r>
            <a:endParaRPr lang="fr-FR" sz="2000" noProof="0" dirty="0"/>
          </a:p>
        </p:txBody>
      </p:sp>
      <p:sp>
        <p:nvSpPr>
          <p:cNvPr id="7" name="Shape 5"/>
          <p:cNvSpPr/>
          <p:nvPr/>
        </p:nvSpPr>
        <p:spPr>
          <a:xfrm>
            <a:off x="566928" y="2432304"/>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A   </a:t>
            </a:r>
            <a:r>
              <a:rPr lang="fr-FR" sz="1800" noProof="0" dirty="0">
                <a:solidFill>
                  <a:srgbClr val="23303F"/>
                </a:solidFill>
                <a:latin typeface="Calibri" pitchFamily="34" charset="0"/>
                <a:ea typeface="Calibri" pitchFamily="34" charset="-122"/>
                <a:cs typeface="Calibri" pitchFamily="34" charset="-120"/>
              </a:rPr>
              <a:t>Expliquer que le cancer n'a pas été détecté</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fr-FR"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fr-FR" sz="1800" b="1" noProof="0" dirty="0">
                <a:solidFill>
                  <a:srgbClr val="1F4E96"/>
                </a:solidFill>
                <a:latin typeface="Calibri" pitchFamily="34" charset="0"/>
                <a:ea typeface="Calibri" pitchFamily="34" charset="-122"/>
                <a:cs typeface="Calibri" pitchFamily="34" charset="-120"/>
              </a:rPr>
              <a:t>B   </a:t>
            </a:r>
            <a:r>
              <a:rPr lang="fr-FR" sz="1800" noProof="0" dirty="0">
                <a:solidFill>
                  <a:srgbClr val="23303F"/>
                </a:solidFill>
                <a:latin typeface="Calibri" pitchFamily="34" charset="0"/>
                <a:ea typeface="Calibri" pitchFamily="34" charset="-122"/>
                <a:cs typeface="Calibri" pitchFamily="34" charset="-120"/>
              </a:rPr>
              <a:t>Lui dire que le résultat montre que son partenaire a été infidèle</a:t>
            </a:r>
            <a:endParaRPr lang="fr-FR" sz="1800" noProof="0" dirty="0"/>
          </a:p>
        </p:txBody>
      </p:sp>
      <p:sp>
        <p:nvSpPr>
          <p:cNvPr id="11" name="Shape 9"/>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C   </a:t>
            </a:r>
            <a:r>
              <a:rPr lang="fr-FR" sz="1800" noProof="0" dirty="0">
                <a:solidFill>
                  <a:srgbClr val="23303F"/>
                </a:solidFill>
                <a:latin typeface="Calibri" pitchFamily="34" charset="0"/>
                <a:ea typeface="Calibri" pitchFamily="34" charset="-122"/>
                <a:cs typeface="Calibri" pitchFamily="34" charset="-120"/>
              </a:rPr>
              <a:t>Organiser l'étape suivante avant qu'elle ne parte</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3" name="Shape 11"/>
          <p:cNvSpPr/>
          <p:nvPr/>
        </p:nvSpPr>
        <p:spPr>
          <a:xfrm>
            <a:off x="566928" y="4160520"/>
            <a:ext cx="11055096" cy="512064"/>
          </a:xfrm>
          <a:prstGeom prst="roundRect">
            <a:avLst>
              <a:gd name="adj" fmla="val 10714"/>
            </a:avLst>
          </a:prstGeom>
          <a:solidFill>
            <a:srgbClr val="EAF7F0"/>
          </a:solidFill>
          <a:ln w="12700">
            <a:solidFill>
              <a:srgbClr val="C0D4CB"/>
            </a:solidFill>
            <a:prstDash val="solid"/>
          </a:ln>
        </p:spPr>
        <p:txBody>
          <a:bodyPr/>
          <a:lstStyle/>
          <a:p>
            <a:endParaRPr lang="fr-FR"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fr-FR" sz="1800" b="1" noProof="0" dirty="0">
                <a:solidFill>
                  <a:srgbClr val="19543E"/>
                </a:solidFill>
                <a:latin typeface="Calibri" pitchFamily="34" charset="0"/>
                <a:ea typeface="Calibri" pitchFamily="34" charset="-122"/>
                <a:cs typeface="Calibri" pitchFamily="34" charset="-120"/>
              </a:rPr>
              <a:t>D   </a:t>
            </a:r>
            <a:r>
              <a:rPr lang="fr-FR" sz="1800" noProof="0" dirty="0">
                <a:solidFill>
                  <a:srgbClr val="23303F"/>
                </a:solidFill>
                <a:latin typeface="Calibri" pitchFamily="34" charset="0"/>
                <a:ea typeface="Calibri" pitchFamily="34" charset="-122"/>
                <a:cs typeface="Calibri" pitchFamily="34" charset="-120"/>
              </a:rPr>
              <a:t>Expliquer que le traitement du précancer préserve la fertilité</a:t>
            </a:r>
            <a:r>
              <a:rPr lang="fr-FR" sz="1800" noProof="0" dirty="0">
                <a:solidFill>
                  <a:srgbClr val="000000"/>
                </a:solidFill>
                <a:latin typeface="Calibri" pitchFamily="34" charset="0"/>
                <a:ea typeface="Calibri" pitchFamily="34" charset="-122"/>
                <a:cs typeface="Calibri" pitchFamily="34" charset="-120"/>
              </a:rPr>
              <a:t>   ✅</a:t>
            </a:r>
            <a:endParaRPr lang="fr-FR"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fr-FR"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fr-FR" sz="1800" b="1" noProof="0" dirty="0">
                <a:solidFill>
                  <a:srgbClr val="19543E"/>
                </a:solidFill>
                <a:latin typeface="Calibri" pitchFamily="34" charset="0"/>
                <a:ea typeface="Calibri" pitchFamily="34" charset="-122"/>
                <a:cs typeface="Calibri" pitchFamily="34" charset="-120"/>
              </a:rPr>
              <a:t>Bonne réponse : A, C, D
Retour : </a:t>
            </a:r>
            <a:r>
              <a:rPr lang="fr-FR" sz="1800" noProof="0" dirty="0">
                <a:solidFill>
                  <a:srgbClr val="23303F"/>
                </a:solidFill>
                <a:latin typeface="Calibri" pitchFamily="34" charset="0"/>
                <a:ea typeface="Calibri" pitchFamily="34" charset="-122"/>
                <a:cs typeface="Calibri" pitchFamily="34" charset="-120"/>
              </a:rPr>
              <a:t>Dites ce que le résultat n'est pas, organisez vous-même l'étape suivante et répondez tôt à la question de la fertilité. Le HPV peut persister silencieusement pendant des années, donc un résultat ne dit rien sur le comportement de qui que ce soit.</a:t>
            </a:r>
            <a:endParaRPr lang="fr-FR" sz="1800" noProof="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199</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ATTRIBUTION ET SOURCES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Références</a:t>
            </a:r>
            <a:endParaRPr lang="fr-FR" sz="3200" noProof="0" dirty="0"/>
          </a:p>
        </p:txBody>
      </p:sp>
      <p:sp>
        <p:nvSpPr>
          <p:cNvPr id="6" name="Text 5">
            <a:extLst>
              <a:ext uri="{FF2B5EF4-FFF2-40B4-BE49-F238E27FC236}">
                <a16:creationId xmlns:a16="http://schemas.microsoft.com/office/drawing/2014/main" id="{A77AFA9E-890F-7345-9307-3C47658FE3F5}"/>
              </a:ext>
            </a:extLst>
          </p:cNvPr>
          <p:cNvSpPr txBox="1"/>
          <p:nvPr/>
        </p:nvSpPr>
        <p:spPr>
          <a:xfrm>
            <a:off x="853111" y="1490472"/>
            <a:ext cx="4929852" cy="3877056"/>
          </a:xfrm>
          <a:prstGeom prst="rect">
            <a:avLst/>
          </a:prstGeom>
          <a:noFill/>
          <a:ln/>
        </p:spPr>
        <p:txBody>
          <a:bodyPr wrap="square" lIns="0" tIns="0" rIns="0" bIns="0" rtlCol="0" anchor="t"/>
          <a:lstStyle/>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  International Agency for </a:t>
            </a:r>
            <a:r>
              <a:rPr lang="fr-FR" sz="1200" noProof="0" dirty="0" err="1">
                <a:solidFill>
                  <a:srgbClr val="23303F"/>
                </a:solidFill>
                <a:latin typeface="Calibri" pitchFamily="34" charset="0"/>
                <a:ea typeface="Calibri" pitchFamily="34" charset="-122"/>
                <a:cs typeface="Calibri" pitchFamily="34" charset="-120"/>
              </a:rPr>
              <a:t>Research</a:t>
            </a:r>
            <a:r>
              <a:rPr lang="fr-FR" sz="1200" noProof="0" dirty="0">
                <a:solidFill>
                  <a:srgbClr val="23303F"/>
                </a:solidFill>
                <a:latin typeface="Calibri" pitchFamily="34" charset="0"/>
                <a:ea typeface="Calibri" pitchFamily="34" charset="-122"/>
                <a:cs typeface="Calibri" pitchFamily="34" charset="-120"/>
              </a:rPr>
              <a:t> on Cancer. Global Cancer </a:t>
            </a:r>
            <a:r>
              <a:rPr lang="fr-FR" sz="1200" noProof="0" dirty="0" err="1">
                <a:solidFill>
                  <a:srgbClr val="23303F"/>
                </a:solidFill>
                <a:latin typeface="Calibri" pitchFamily="34" charset="0"/>
                <a:ea typeface="Calibri" pitchFamily="34" charset="-122"/>
                <a:cs typeface="Calibri" pitchFamily="34" charset="-120"/>
              </a:rPr>
              <a:t>Observatory</a:t>
            </a:r>
            <a:r>
              <a:rPr lang="fr-FR" sz="1200" noProof="0" dirty="0">
                <a:solidFill>
                  <a:srgbClr val="23303F"/>
                </a:solidFill>
                <a:latin typeface="Calibri" pitchFamily="34" charset="0"/>
                <a:ea typeface="Calibri" pitchFamily="34" charset="-122"/>
                <a:cs typeface="Calibri" pitchFamily="34" charset="-120"/>
              </a:rPr>
              <a:t>: Cancer Today. Cervix </a:t>
            </a:r>
            <a:r>
              <a:rPr lang="fr-FR" sz="1200" noProof="0" dirty="0" err="1">
                <a:solidFill>
                  <a:srgbClr val="23303F"/>
                </a:solidFill>
                <a:latin typeface="Calibri" pitchFamily="34" charset="0"/>
                <a:ea typeface="Calibri" pitchFamily="34" charset="-122"/>
                <a:cs typeface="Calibri" pitchFamily="34" charset="-120"/>
              </a:rPr>
              <a:t>uteri</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fact</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sheet</a:t>
            </a:r>
            <a:r>
              <a:rPr lang="fr-FR" sz="1200" noProof="0" dirty="0">
                <a:solidFill>
                  <a:srgbClr val="23303F"/>
                </a:solidFill>
                <a:latin typeface="Calibri" pitchFamily="34" charset="0"/>
                <a:ea typeface="Calibri" pitchFamily="34" charset="-122"/>
                <a:cs typeface="Calibri" pitchFamily="34" charset="-120"/>
              </a:rPr>
              <a:t>, GLOBOCAN 2024 </a:t>
            </a:r>
            <a:r>
              <a:rPr lang="fr-FR" sz="1200" noProof="0" dirty="0" err="1">
                <a:solidFill>
                  <a:srgbClr val="23303F"/>
                </a:solidFill>
                <a:latin typeface="Calibri" pitchFamily="34" charset="0"/>
                <a:ea typeface="Calibri" pitchFamily="34" charset="-122"/>
                <a:cs typeface="Calibri" pitchFamily="34" charset="-120"/>
              </a:rPr>
              <a:t>estimates</a:t>
            </a:r>
            <a:r>
              <a:rPr lang="fr-FR" sz="1200" noProof="0" dirty="0">
                <a:solidFill>
                  <a:srgbClr val="23303F"/>
                </a:solidFill>
                <a:latin typeface="Calibri" pitchFamily="34" charset="0"/>
                <a:ea typeface="Calibri" pitchFamily="34" charset="-122"/>
                <a:cs typeface="Calibri" pitchFamily="34" charset="-120"/>
              </a:rPr>
              <a:t>. Lyon: IARC / World Health </a:t>
            </a:r>
            <a:r>
              <a:rPr lang="fr-FR" sz="1200" noProof="0" dirty="0" err="1">
                <a:solidFill>
                  <a:srgbClr val="23303F"/>
                </a:solidFill>
                <a:latin typeface="Calibri" pitchFamily="34" charset="0"/>
                <a:ea typeface="Calibri" pitchFamily="34" charset="-122"/>
                <a:cs typeface="Calibri" pitchFamily="34" charset="-120"/>
              </a:rPr>
              <a:t>Organization</a:t>
            </a:r>
            <a:r>
              <a:rPr lang="fr-FR" sz="1200" noProof="0" dirty="0">
                <a:solidFill>
                  <a:srgbClr val="23303F"/>
                </a:solidFill>
                <a:latin typeface="Calibri" pitchFamily="34" charset="0"/>
                <a:ea typeface="Calibri" pitchFamily="34" charset="-122"/>
                <a:cs typeface="Calibri" pitchFamily="34" charset="-120"/>
              </a:rPr>
              <a:t>. https://</a:t>
            </a:r>
            <a:r>
              <a:rPr lang="fr-FR" sz="1200" noProof="0" dirty="0" err="1">
                <a:solidFill>
                  <a:srgbClr val="23303F"/>
                </a:solidFill>
                <a:latin typeface="Calibri" pitchFamily="34" charset="0"/>
                <a:ea typeface="Calibri" pitchFamily="34" charset="-122"/>
                <a:cs typeface="Calibri" pitchFamily="34" charset="-120"/>
              </a:rPr>
              <a:t>gco.iarc.who.int</a:t>
            </a:r>
            <a:r>
              <a:rPr lang="fr-FR" sz="1200" noProof="0" dirty="0">
                <a:solidFill>
                  <a:srgbClr val="23303F"/>
                </a:solidFill>
                <a:latin typeface="Calibri" pitchFamily="34" charset="0"/>
                <a:ea typeface="Calibri" pitchFamily="34" charset="-122"/>
                <a:cs typeface="Calibri" pitchFamily="34" charset="-120"/>
              </a:rPr>
              <a:t>/</a:t>
            </a:r>
            <a:r>
              <a:rPr lang="fr-FR" sz="1200" noProof="0" dirty="0" err="1">
                <a:solidFill>
                  <a:srgbClr val="23303F"/>
                </a:solidFill>
                <a:latin typeface="Calibri" pitchFamily="34" charset="0"/>
                <a:ea typeface="Calibri" pitchFamily="34" charset="-122"/>
                <a:cs typeface="Calibri" pitchFamily="34" charset="-120"/>
              </a:rPr>
              <a:t>today</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2.  International Agency for </a:t>
            </a:r>
            <a:r>
              <a:rPr lang="fr-FR" sz="1200" noProof="0" dirty="0" err="1">
                <a:solidFill>
                  <a:srgbClr val="23303F"/>
                </a:solidFill>
                <a:latin typeface="Calibri" pitchFamily="34" charset="0"/>
                <a:ea typeface="Calibri" pitchFamily="34" charset="-122"/>
                <a:cs typeface="Calibri" pitchFamily="34" charset="-120"/>
              </a:rPr>
              <a:t>Research</a:t>
            </a:r>
            <a:r>
              <a:rPr lang="fr-FR" sz="1200" noProof="0" dirty="0">
                <a:solidFill>
                  <a:srgbClr val="23303F"/>
                </a:solidFill>
                <a:latin typeface="Calibri" pitchFamily="34" charset="0"/>
                <a:ea typeface="Calibri" pitchFamily="34" charset="-122"/>
                <a:cs typeface="Calibri" pitchFamily="34" charset="-120"/>
              </a:rPr>
              <a:t> on Cancer. Global Cancer </a:t>
            </a:r>
            <a:r>
              <a:rPr lang="fr-FR" sz="1200" noProof="0" dirty="0" err="1">
                <a:solidFill>
                  <a:srgbClr val="23303F"/>
                </a:solidFill>
                <a:latin typeface="Calibri" pitchFamily="34" charset="0"/>
                <a:ea typeface="Calibri" pitchFamily="34" charset="-122"/>
                <a:cs typeface="Calibri" pitchFamily="34" charset="-120"/>
              </a:rPr>
              <a:t>Observatory</a:t>
            </a:r>
            <a:r>
              <a:rPr lang="fr-FR" sz="1200" noProof="0" dirty="0">
                <a:solidFill>
                  <a:srgbClr val="23303F"/>
                </a:solidFill>
                <a:latin typeface="Calibri" pitchFamily="34" charset="0"/>
                <a:ea typeface="Calibri" pitchFamily="34" charset="-122"/>
                <a:cs typeface="Calibri" pitchFamily="34" charset="-120"/>
              </a:rPr>
              <a:t>: Cancer Today. Rwanda </a:t>
            </a:r>
            <a:r>
              <a:rPr lang="fr-FR" sz="1200" noProof="0" dirty="0" err="1">
                <a:solidFill>
                  <a:srgbClr val="23303F"/>
                </a:solidFill>
                <a:latin typeface="Calibri" pitchFamily="34" charset="0"/>
                <a:ea typeface="Calibri" pitchFamily="34" charset="-122"/>
                <a:cs typeface="Calibri" pitchFamily="34" charset="-120"/>
              </a:rPr>
              <a:t>fact</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sheet</a:t>
            </a:r>
            <a:r>
              <a:rPr lang="fr-FR" sz="1200" noProof="0" dirty="0">
                <a:solidFill>
                  <a:srgbClr val="23303F"/>
                </a:solidFill>
                <a:latin typeface="Calibri" pitchFamily="34" charset="0"/>
                <a:ea typeface="Calibri" pitchFamily="34" charset="-122"/>
                <a:cs typeface="Calibri" pitchFamily="34" charset="-120"/>
              </a:rPr>
              <a:t>, GLOBOCAN 2024 </a:t>
            </a:r>
            <a:r>
              <a:rPr lang="fr-FR" sz="1200" noProof="0" dirty="0" err="1">
                <a:solidFill>
                  <a:srgbClr val="23303F"/>
                </a:solidFill>
                <a:latin typeface="Calibri" pitchFamily="34" charset="0"/>
                <a:ea typeface="Calibri" pitchFamily="34" charset="-122"/>
                <a:cs typeface="Calibri" pitchFamily="34" charset="-120"/>
              </a:rPr>
              <a:t>estimates</a:t>
            </a:r>
            <a:r>
              <a:rPr lang="fr-FR" sz="1200" noProof="0" dirty="0">
                <a:solidFill>
                  <a:srgbClr val="23303F"/>
                </a:solidFill>
                <a:latin typeface="Calibri" pitchFamily="34" charset="0"/>
                <a:ea typeface="Calibri" pitchFamily="34" charset="-122"/>
                <a:cs typeface="Calibri" pitchFamily="34" charset="-120"/>
              </a:rPr>
              <a:t>. Lyon: IARC / World Health </a:t>
            </a:r>
            <a:r>
              <a:rPr lang="fr-FR" sz="1200" noProof="0" dirty="0" err="1">
                <a:solidFill>
                  <a:srgbClr val="23303F"/>
                </a:solidFill>
                <a:latin typeface="Calibri" pitchFamily="34" charset="0"/>
                <a:ea typeface="Calibri" pitchFamily="34" charset="-122"/>
                <a:cs typeface="Calibri" pitchFamily="34" charset="-120"/>
              </a:rPr>
              <a:t>Organization</a:t>
            </a:r>
            <a:r>
              <a:rPr lang="fr-FR" sz="1200" noProof="0" dirty="0">
                <a:solidFill>
                  <a:srgbClr val="23303F"/>
                </a:solidFill>
                <a:latin typeface="Calibri" pitchFamily="34" charset="0"/>
                <a:ea typeface="Calibri" pitchFamily="34" charset="-122"/>
                <a:cs typeface="Calibri" pitchFamily="34" charset="-120"/>
              </a:rPr>
              <a:t>.</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3.  International Agency for </a:t>
            </a:r>
            <a:r>
              <a:rPr lang="fr-FR" sz="1200" noProof="0" dirty="0" err="1">
                <a:solidFill>
                  <a:srgbClr val="23303F"/>
                </a:solidFill>
                <a:latin typeface="Calibri" pitchFamily="34" charset="0"/>
                <a:ea typeface="Calibri" pitchFamily="34" charset="-122"/>
                <a:cs typeface="Calibri" pitchFamily="34" charset="-120"/>
              </a:rPr>
              <a:t>Research</a:t>
            </a:r>
            <a:r>
              <a:rPr lang="fr-FR" sz="1200" noProof="0" dirty="0">
                <a:solidFill>
                  <a:srgbClr val="23303F"/>
                </a:solidFill>
                <a:latin typeface="Calibri" pitchFamily="34" charset="0"/>
                <a:ea typeface="Calibri" pitchFamily="34" charset="-122"/>
                <a:cs typeface="Calibri" pitchFamily="34" charset="-120"/>
              </a:rPr>
              <a:t> on Cancer. Global Cancer </a:t>
            </a:r>
            <a:r>
              <a:rPr lang="fr-FR" sz="1200" noProof="0" dirty="0" err="1">
                <a:solidFill>
                  <a:srgbClr val="23303F"/>
                </a:solidFill>
                <a:latin typeface="Calibri" pitchFamily="34" charset="0"/>
                <a:ea typeface="Calibri" pitchFamily="34" charset="-122"/>
                <a:cs typeface="Calibri" pitchFamily="34" charset="-120"/>
              </a:rPr>
              <a:t>Observatory</a:t>
            </a:r>
            <a:r>
              <a:rPr lang="fr-FR" sz="1200" noProof="0" dirty="0">
                <a:solidFill>
                  <a:srgbClr val="23303F"/>
                </a:solidFill>
                <a:latin typeface="Calibri" pitchFamily="34" charset="0"/>
                <a:ea typeface="Calibri" pitchFamily="34" charset="-122"/>
                <a:cs typeface="Calibri" pitchFamily="34" charset="-120"/>
              </a:rPr>
              <a:t>: Cancer Today. </a:t>
            </a:r>
            <a:r>
              <a:rPr lang="fr-FR" sz="1200" noProof="0" dirty="0" err="1">
                <a:solidFill>
                  <a:srgbClr val="23303F"/>
                </a:solidFill>
                <a:latin typeface="Calibri" pitchFamily="34" charset="0"/>
                <a:ea typeface="Calibri" pitchFamily="34" charset="-122"/>
                <a:cs typeface="Calibri" pitchFamily="34" charset="-120"/>
              </a:rPr>
              <a:t>Africa</a:t>
            </a:r>
            <a:r>
              <a:rPr lang="fr-FR" sz="1200" noProof="0" dirty="0">
                <a:solidFill>
                  <a:srgbClr val="23303F"/>
                </a:solidFill>
                <a:latin typeface="Calibri" pitchFamily="34" charset="0"/>
                <a:ea typeface="Calibri" pitchFamily="34" charset="-122"/>
                <a:cs typeface="Calibri" pitchFamily="34" charset="-120"/>
              </a:rPr>
              <a:t> and Eastern </a:t>
            </a:r>
            <a:r>
              <a:rPr lang="fr-FR" sz="1200" noProof="0" dirty="0" err="1">
                <a:solidFill>
                  <a:srgbClr val="23303F"/>
                </a:solidFill>
                <a:latin typeface="Calibri" pitchFamily="34" charset="0"/>
                <a:ea typeface="Calibri" pitchFamily="34" charset="-122"/>
                <a:cs typeface="Calibri" pitchFamily="34" charset="-120"/>
              </a:rPr>
              <a:t>Africa</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fact</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sheets</a:t>
            </a:r>
            <a:r>
              <a:rPr lang="fr-FR" sz="1200" noProof="0" dirty="0">
                <a:solidFill>
                  <a:srgbClr val="23303F"/>
                </a:solidFill>
                <a:latin typeface="Calibri" pitchFamily="34" charset="0"/>
                <a:ea typeface="Calibri" pitchFamily="34" charset="-122"/>
                <a:cs typeface="Calibri" pitchFamily="34" charset="-120"/>
              </a:rPr>
              <a:t>, GLOBOCAN 2024 </a:t>
            </a:r>
            <a:r>
              <a:rPr lang="fr-FR" sz="1200" noProof="0" dirty="0" err="1">
                <a:solidFill>
                  <a:srgbClr val="23303F"/>
                </a:solidFill>
                <a:latin typeface="Calibri" pitchFamily="34" charset="0"/>
                <a:ea typeface="Calibri" pitchFamily="34" charset="-122"/>
                <a:cs typeface="Calibri" pitchFamily="34" charset="-120"/>
              </a:rPr>
              <a:t>estimates</a:t>
            </a:r>
            <a:r>
              <a:rPr lang="fr-FR" sz="1200" noProof="0" dirty="0">
                <a:solidFill>
                  <a:srgbClr val="23303F"/>
                </a:solidFill>
                <a:latin typeface="Calibri" pitchFamily="34" charset="0"/>
                <a:ea typeface="Calibri" pitchFamily="34" charset="-122"/>
                <a:cs typeface="Calibri" pitchFamily="34" charset="-120"/>
              </a:rPr>
              <a:t>. Lyon: IARC / World Health </a:t>
            </a:r>
            <a:r>
              <a:rPr lang="fr-FR" sz="1200" noProof="0" dirty="0" err="1">
                <a:solidFill>
                  <a:srgbClr val="23303F"/>
                </a:solidFill>
                <a:latin typeface="Calibri" pitchFamily="34" charset="0"/>
                <a:ea typeface="Calibri" pitchFamily="34" charset="-122"/>
                <a:cs typeface="Calibri" pitchFamily="34" charset="-120"/>
              </a:rPr>
              <a:t>Organization</a:t>
            </a:r>
            <a:r>
              <a:rPr lang="fr-FR" sz="1200" noProof="0" dirty="0">
                <a:solidFill>
                  <a:srgbClr val="23303F"/>
                </a:solidFill>
                <a:latin typeface="Calibri" pitchFamily="34" charset="0"/>
                <a:ea typeface="Calibri" pitchFamily="34" charset="-122"/>
                <a:cs typeface="Calibri" pitchFamily="34" charset="-120"/>
              </a:rPr>
              <a:t>.</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4.  International Agency for </a:t>
            </a:r>
            <a:r>
              <a:rPr lang="fr-FR" sz="1200" noProof="0" dirty="0" err="1">
                <a:solidFill>
                  <a:srgbClr val="23303F"/>
                </a:solidFill>
                <a:latin typeface="Calibri" pitchFamily="34" charset="0"/>
                <a:ea typeface="Calibri" pitchFamily="34" charset="-122"/>
                <a:cs typeface="Calibri" pitchFamily="34" charset="-120"/>
              </a:rPr>
              <a:t>Research</a:t>
            </a:r>
            <a:r>
              <a:rPr lang="fr-FR" sz="1200" noProof="0" dirty="0">
                <a:solidFill>
                  <a:srgbClr val="23303F"/>
                </a:solidFill>
                <a:latin typeface="Calibri" pitchFamily="34" charset="0"/>
                <a:ea typeface="Calibri" pitchFamily="34" charset="-122"/>
                <a:cs typeface="Calibri" pitchFamily="34" charset="-120"/>
              </a:rPr>
              <a:t> on Cancer. Global Cancer </a:t>
            </a:r>
            <a:r>
              <a:rPr lang="fr-FR" sz="1200" noProof="0" dirty="0" err="1">
                <a:solidFill>
                  <a:srgbClr val="23303F"/>
                </a:solidFill>
                <a:latin typeface="Calibri" pitchFamily="34" charset="0"/>
                <a:ea typeface="Calibri" pitchFamily="34" charset="-122"/>
                <a:cs typeface="Calibri" pitchFamily="34" charset="-120"/>
              </a:rPr>
              <a:t>Observatory</a:t>
            </a:r>
            <a:r>
              <a:rPr lang="fr-FR" sz="1200" noProof="0" dirty="0">
                <a:solidFill>
                  <a:srgbClr val="23303F"/>
                </a:solidFill>
                <a:latin typeface="Calibri" pitchFamily="34" charset="0"/>
                <a:ea typeface="Calibri" pitchFamily="34" charset="-122"/>
                <a:cs typeface="Calibri" pitchFamily="34" charset="-120"/>
              </a:rPr>
              <a:t>: Cancer Tomorrow. </a:t>
            </a:r>
            <a:r>
              <a:rPr lang="fr-FR" sz="1200" noProof="0" dirty="0" err="1">
                <a:solidFill>
                  <a:srgbClr val="23303F"/>
                </a:solidFill>
                <a:latin typeface="Calibri" pitchFamily="34" charset="0"/>
                <a:ea typeface="Calibri" pitchFamily="34" charset="-122"/>
                <a:cs typeface="Calibri" pitchFamily="34" charset="-120"/>
              </a:rPr>
              <a:t>Projected</a:t>
            </a:r>
            <a:r>
              <a:rPr lang="fr-FR" sz="1200" noProof="0" dirty="0">
                <a:solidFill>
                  <a:srgbClr val="23303F"/>
                </a:solidFill>
                <a:latin typeface="Calibri" pitchFamily="34" charset="0"/>
                <a:ea typeface="Calibri" pitchFamily="34" charset="-122"/>
                <a:cs typeface="Calibri" pitchFamily="34" charset="-120"/>
              </a:rPr>
              <a:t> cancer </a:t>
            </a:r>
            <a:r>
              <a:rPr lang="fr-FR" sz="1200" noProof="0" dirty="0" err="1">
                <a:solidFill>
                  <a:srgbClr val="23303F"/>
                </a:solidFill>
                <a:latin typeface="Calibri" pitchFamily="34" charset="0"/>
                <a:ea typeface="Calibri" pitchFamily="34" charset="-122"/>
                <a:cs typeface="Calibri" pitchFamily="34" charset="-120"/>
              </a:rPr>
              <a:t>burden</a:t>
            </a:r>
            <a:r>
              <a:rPr lang="fr-FR" sz="1200" noProof="0" dirty="0">
                <a:solidFill>
                  <a:srgbClr val="23303F"/>
                </a:solidFill>
                <a:latin typeface="Calibri" pitchFamily="34" charset="0"/>
                <a:ea typeface="Calibri" pitchFamily="34" charset="-122"/>
                <a:cs typeface="Calibri" pitchFamily="34" charset="-120"/>
              </a:rPr>
              <a:t> in Rwanda to 2050. Lyon: IARC / World Health </a:t>
            </a:r>
            <a:r>
              <a:rPr lang="fr-FR" sz="1200" noProof="0" dirty="0" err="1">
                <a:solidFill>
                  <a:srgbClr val="23303F"/>
                </a:solidFill>
                <a:latin typeface="Calibri" pitchFamily="34" charset="0"/>
                <a:ea typeface="Calibri" pitchFamily="34" charset="-122"/>
                <a:cs typeface="Calibri" pitchFamily="34" charset="-120"/>
              </a:rPr>
              <a:t>Organization</a:t>
            </a:r>
            <a:r>
              <a:rPr lang="fr-FR" sz="1200" noProof="0" dirty="0">
                <a:solidFill>
                  <a:srgbClr val="23303F"/>
                </a:solidFill>
                <a:latin typeface="Calibri" pitchFamily="34" charset="0"/>
                <a:ea typeface="Calibri" pitchFamily="34" charset="-122"/>
                <a:cs typeface="Calibri" pitchFamily="34" charset="-120"/>
              </a:rPr>
              <a:t>. https://</a:t>
            </a:r>
            <a:r>
              <a:rPr lang="fr-FR" sz="1200" noProof="0" dirty="0" err="1">
                <a:solidFill>
                  <a:srgbClr val="23303F"/>
                </a:solidFill>
                <a:latin typeface="Calibri" pitchFamily="34" charset="0"/>
                <a:ea typeface="Calibri" pitchFamily="34" charset="-122"/>
                <a:cs typeface="Calibri" pitchFamily="34" charset="-120"/>
              </a:rPr>
              <a:t>gco.iarc.fr</a:t>
            </a:r>
            <a:r>
              <a:rPr lang="fr-FR" sz="1200" noProof="0" dirty="0">
                <a:solidFill>
                  <a:srgbClr val="23303F"/>
                </a:solidFill>
                <a:latin typeface="Calibri" pitchFamily="34" charset="0"/>
                <a:ea typeface="Calibri" pitchFamily="34" charset="-122"/>
                <a:cs typeface="Calibri" pitchFamily="34" charset="-120"/>
              </a:rPr>
              <a:t>/</a:t>
            </a:r>
            <a:r>
              <a:rPr lang="fr-FR" sz="1200" noProof="0" dirty="0" err="1">
                <a:solidFill>
                  <a:srgbClr val="23303F"/>
                </a:solidFill>
                <a:latin typeface="Calibri" pitchFamily="34" charset="0"/>
                <a:ea typeface="Calibri" pitchFamily="34" charset="-122"/>
                <a:cs typeface="Calibri" pitchFamily="34" charset="-120"/>
              </a:rPr>
              <a:t>tomorrow</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5.  Sung H, Filho AM, </a:t>
            </a:r>
            <a:r>
              <a:rPr lang="fr-FR" sz="1200" noProof="0" dirty="0" err="1">
                <a:solidFill>
                  <a:srgbClr val="23303F"/>
                </a:solidFill>
                <a:latin typeface="Calibri" pitchFamily="34" charset="0"/>
                <a:ea typeface="Calibri" pitchFamily="34" charset="-122"/>
                <a:cs typeface="Calibri" pitchFamily="34" charset="-120"/>
              </a:rPr>
              <a:t>Laversanne</a:t>
            </a:r>
            <a:r>
              <a:rPr lang="fr-FR" sz="1200" noProof="0" dirty="0">
                <a:solidFill>
                  <a:srgbClr val="23303F"/>
                </a:solidFill>
                <a:latin typeface="Calibri" pitchFamily="34" charset="0"/>
                <a:ea typeface="Calibri" pitchFamily="34" charset="-122"/>
                <a:cs typeface="Calibri" pitchFamily="34" charset="-120"/>
              </a:rPr>
              <a:t> M, et al. Global cancer </a:t>
            </a:r>
            <a:r>
              <a:rPr lang="fr-FR" sz="1200" noProof="0" dirty="0" err="1">
                <a:solidFill>
                  <a:srgbClr val="23303F"/>
                </a:solidFill>
                <a:latin typeface="Calibri" pitchFamily="34" charset="0"/>
                <a:ea typeface="Calibri" pitchFamily="34" charset="-122"/>
                <a:cs typeface="Calibri" pitchFamily="34" charset="-120"/>
              </a:rPr>
              <a:t>statistics</a:t>
            </a:r>
            <a:r>
              <a:rPr lang="fr-FR" sz="1200" noProof="0" dirty="0">
                <a:solidFill>
                  <a:srgbClr val="23303F"/>
                </a:solidFill>
                <a:latin typeface="Calibri" pitchFamily="34" charset="0"/>
                <a:ea typeface="Calibri" pitchFamily="34" charset="-122"/>
                <a:cs typeface="Calibri" pitchFamily="34" charset="-120"/>
              </a:rPr>
              <a:t> 2024: GLOBOCAN </a:t>
            </a:r>
            <a:r>
              <a:rPr lang="fr-FR" sz="1200" noProof="0" dirty="0" err="1">
                <a:solidFill>
                  <a:srgbClr val="23303F"/>
                </a:solidFill>
                <a:latin typeface="Calibri" pitchFamily="34" charset="0"/>
                <a:ea typeface="Calibri" pitchFamily="34" charset="-122"/>
                <a:cs typeface="Calibri" pitchFamily="34" charset="-120"/>
              </a:rPr>
              <a:t>estimates</a:t>
            </a:r>
            <a:r>
              <a:rPr lang="fr-FR" sz="1200" noProof="0" dirty="0">
                <a:solidFill>
                  <a:srgbClr val="23303F"/>
                </a:solidFill>
                <a:latin typeface="Calibri" pitchFamily="34" charset="0"/>
                <a:ea typeface="Calibri" pitchFamily="34" charset="-122"/>
                <a:cs typeface="Calibri" pitchFamily="34" charset="-120"/>
              </a:rPr>
              <a:t> of incidence and </a:t>
            </a:r>
            <a:r>
              <a:rPr lang="fr-FR" sz="1200" noProof="0" dirty="0" err="1">
                <a:solidFill>
                  <a:srgbClr val="23303F"/>
                </a:solidFill>
                <a:latin typeface="Calibri" pitchFamily="34" charset="0"/>
                <a:ea typeface="Calibri" pitchFamily="34" charset="-122"/>
                <a:cs typeface="Calibri" pitchFamily="34" charset="-120"/>
              </a:rPr>
              <a:t>mortality</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worldwide</a:t>
            </a:r>
            <a:r>
              <a:rPr lang="fr-FR" sz="1200" noProof="0" dirty="0">
                <a:solidFill>
                  <a:srgbClr val="23303F"/>
                </a:solidFill>
                <a:latin typeface="Calibri" pitchFamily="34" charset="0"/>
                <a:ea typeface="Calibri" pitchFamily="34" charset="-122"/>
                <a:cs typeface="Calibri" pitchFamily="34" charset="-120"/>
              </a:rPr>
              <a:t> for 34 cancers in 186 countries. CA: A Cancer Journal for </a:t>
            </a:r>
            <a:r>
              <a:rPr lang="fr-FR" sz="1200" noProof="0" dirty="0" err="1">
                <a:solidFill>
                  <a:srgbClr val="23303F"/>
                </a:solidFill>
                <a:latin typeface="Calibri" pitchFamily="34" charset="0"/>
                <a:ea typeface="Calibri" pitchFamily="34" charset="-122"/>
                <a:cs typeface="Calibri" pitchFamily="34" charset="-120"/>
              </a:rPr>
              <a:t>Clinicians</a:t>
            </a:r>
            <a:r>
              <a:rPr lang="fr-FR" sz="1200" noProof="0" dirty="0">
                <a:solidFill>
                  <a:srgbClr val="23303F"/>
                </a:solidFill>
                <a:latin typeface="Calibri" pitchFamily="34" charset="0"/>
                <a:ea typeface="Calibri" pitchFamily="34" charset="-122"/>
                <a:cs typeface="Calibri" pitchFamily="34" charset="-120"/>
              </a:rPr>
              <a:t>. 2026. doi:10.3322/caac.70090</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6.  Republic of Rwanda, Ministry of Health. National Cancer Control Plan 2025 to 2029. Kigali: Ministry of Health and Rwanda </a:t>
            </a:r>
            <a:r>
              <a:rPr lang="fr-FR" sz="1200" noProof="0" dirty="0" err="1">
                <a:solidFill>
                  <a:srgbClr val="23303F"/>
                </a:solidFill>
                <a:latin typeface="Calibri" pitchFamily="34" charset="0"/>
                <a:ea typeface="Calibri" pitchFamily="34" charset="-122"/>
                <a:cs typeface="Calibri" pitchFamily="34" charset="-120"/>
              </a:rPr>
              <a:t>Biomedical</a:t>
            </a:r>
            <a:r>
              <a:rPr lang="fr-FR" sz="1200" noProof="0" dirty="0">
                <a:solidFill>
                  <a:srgbClr val="23303F"/>
                </a:solidFill>
                <a:latin typeface="Calibri" pitchFamily="34" charset="0"/>
                <a:ea typeface="Calibri" pitchFamily="34" charset="-122"/>
                <a:cs typeface="Calibri" pitchFamily="34" charset="-120"/>
              </a:rPr>
              <a:t> Centre.</a:t>
            </a:r>
            <a:endParaRPr lang="fr-FR" sz="1200" noProof="0" dirty="0"/>
          </a:p>
        </p:txBody>
      </p:sp>
      <p:sp>
        <p:nvSpPr>
          <p:cNvPr id="9" name="Text 5">
            <a:extLst>
              <a:ext uri="{FF2B5EF4-FFF2-40B4-BE49-F238E27FC236}">
                <a16:creationId xmlns:a16="http://schemas.microsoft.com/office/drawing/2014/main" id="{A55B7EFC-3158-6398-F4DC-A6D2EBDA089C}"/>
              </a:ext>
            </a:extLst>
          </p:cNvPr>
          <p:cNvSpPr txBox="1"/>
          <p:nvPr/>
        </p:nvSpPr>
        <p:spPr>
          <a:xfrm>
            <a:off x="6409037" y="1490472"/>
            <a:ext cx="4929852" cy="3877056"/>
          </a:xfrm>
          <a:prstGeom prst="rect">
            <a:avLst/>
          </a:prstGeom>
          <a:noFill/>
          <a:ln/>
        </p:spPr>
        <p:txBody>
          <a:bodyPr wrap="square" lIns="0" tIns="0" rIns="0" bIns="0" rtlCol="0" anchor="t"/>
          <a:lstStyle/>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7.  Republic of Rwanda, Ministry of Health. </a:t>
            </a:r>
            <a:r>
              <a:rPr lang="fr-FR" sz="1200" noProof="0" dirty="0" err="1">
                <a:solidFill>
                  <a:srgbClr val="23303F"/>
                </a:solidFill>
                <a:latin typeface="Calibri" pitchFamily="34" charset="0"/>
                <a:ea typeface="Calibri" pitchFamily="34" charset="-122"/>
                <a:cs typeface="Calibri" pitchFamily="34" charset="-120"/>
              </a:rPr>
              <a:t>Accelerated</a:t>
            </a:r>
            <a:r>
              <a:rPr lang="fr-FR" sz="1200" noProof="0" dirty="0">
                <a:solidFill>
                  <a:srgbClr val="23303F"/>
                </a:solidFill>
                <a:latin typeface="Calibri" pitchFamily="34" charset="0"/>
                <a:ea typeface="Calibri" pitchFamily="34" charset="-122"/>
                <a:cs typeface="Calibri" pitchFamily="34" charset="-120"/>
              </a:rPr>
              <a:t> Plan for the Elimination of Cervical Cancer in Rwanda 2024 to 2027. Kigali: Ministry of Health.</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8.  Rwanda </a:t>
            </a:r>
            <a:r>
              <a:rPr lang="fr-FR" sz="1200" noProof="0" dirty="0" err="1">
                <a:solidFill>
                  <a:srgbClr val="23303F"/>
                </a:solidFill>
                <a:latin typeface="Calibri" pitchFamily="34" charset="0"/>
                <a:ea typeface="Calibri" pitchFamily="34" charset="-122"/>
                <a:cs typeface="Calibri" pitchFamily="34" charset="-120"/>
              </a:rPr>
              <a:t>Biomedical</a:t>
            </a:r>
            <a:r>
              <a:rPr lang="fr-FR" sz="1200" noProof="0" dirty="0">
                <a:solidFill>
                  <a:srgbClr val="23303F"/>
                </a:solidFill>
                <a:latin typeface="Calibri" pitchFamily="34" charset="0"/>
                <a:ea typeface="Calibri" pitchFamily="34" charset="-122"/>
                <a:cs typeface="Calibri" pitchFamily="34" charset="-120"/>
              </a:rPr>
              <a:t> Centre. Updates in Cancer Care in Rwanda. Kigali: Ministry of Health, Cancer Programme, June 2026.</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9.  World Health </a:t>
            </a:r>
            <a:r>
              <a:rPr lang="fr-FR" sz="1200" noProof="0" dirty="0" err="1">
                <a:solidFill>
                  <a:srgbClr val="23303F"/>
                </a:solidFill>
                <a:latin typeface="Calibri" pitchFamily="34" charset="0"/>
                <a:ea typeface="Calibri" pitchFamily="34" charset="-122"/>
                <a:cs typeface="Calibri" pitchFamily="34" charset="-120"/>
              </a:rPr>
              <a:t>Organization</a:t>
            </a:r>
            <a:r>
              <a:rPr lang="fr-FR" sz="1200" noProof="0" dirty="0">
                <a:solidFill>
                  <a:srgbClr val="23303F"/>
                </a:solidFill>
                <a:latin typeface="Calibri" pitchFamily="34" charset="0"/>
                <a:ea typeface="Calibri" pitchFamily="34" charset="-122"/>
                <a:cs typeface="Calibri" pitchFamily="34" charset="-120"/>
              </a:rPr>
              <a:t>. Cervical cancer </a:t>
            </a:r>
            <a:r>
              <a:rPr lang="fr-FR" sz="1200" noProof="0" dirty="0" err="1">
                <a:solidFill>
                  <a:srgbClr val="23303F"/>
                </a:solidFill>
                <a:latin typeface="Calibri" pitchFamily="34" charset="0"/>
                <a:ea typeface="Calibri" pitchFamily="34" charset="-122"/>
                <a:cs typeface="Calibri" pitchFamily="34" charset="-120"/>
              </a:rPr>
              <a:t>fact</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sheet</a:t>
            </a:r>
            <a:r>
              <a:rPr lang="fr-FR" sz="1200" noProof="0" dirty="0">
                <a:solidFill>
                  <a:srgbClr val="23303F"/>
                </a:solidFill>
                <a:latin typeface="Calibri" pitchFamily="34" charset="0"/>
                <a:ea typeface="Calibri" pitchFamily="34" charset="-122"/>
                <a:cs typeface="Calibri" pitchFamily="34" charset="-120"/>
              </a:rPr>
              <a:t>. Geneva: WHO. https://</a:t>
            </a:r>
            <a:r>
              <a:rPr lang="fr-FR" sz="1200" noProof="0" dirty="0" err="1">
                <a:solidFill>
                  <a:srgbClr val="23303F"/>
                </a:solidFill>
                <a:latin typeface="Calibri" pitchFamily="34" charset="0"/>
                <a:ea typeface="Calibri" pitchFamily="34" charset="-122"/>
                <a:cs typeface="Calibri" pitchFamily="34" charset="-120"/>
              </a:rPr>
              <a:t>www.who.int</a:t>
            </a:r>
            <a:r>
              <a:rPr lang="fr-FR" sz="1200" noProof="0" dirty="0">
                <a:solidFill>
                  <a:srgbClr val="23303F"/>
                </a:solidFill>
                <a:latin typeface="Calibri" pitchFamily="34" charset="0"/>
                <a:ea typeface="Calibri" pitchFamily="34" charset="-122"/>
                <a:cs typeface="Calibri" pitchFamily="34" charset="-120"/>
              </a:rPr>
              <a:t>/news-room/</a:t>
            </a:r>
            <a:r>
              <a:rPr lang="fr-FR" sz="1200" noProof="0" dirty="0" err="1">
                <a:solidFill>
                  <a:srgbClr val="23303F"/>
                </a:solidFill>
                <a:latin typeface="Calibri" pitchFamily="34" charset="0"/>
                <a:ea typeface="Calibri" pitchFamily="34" charset="-122"/>
                <a:cs typeface="Calibri" pitchFamily="34" charset="-120"/>
              </a:rPr>
              <a:t>fact-sheets</a:t>
            </a:r>
            <a:r>
              <a:rPr lang="fr-FR" sz="1200" noProof="0" dirty="0">
                <a:solidFill>
                  <a:srgbClr val="23303F"/>
                </a:solidFill>
                <a:latin typeface="Calibri" pitchFamily="34" charset="0"/>
                <a:ea typeface="Calibri" pitchFamily="34" charset="-122"/>
                <a:cs typeface="Calibri" pitchFamily="34" charset="-120"/>
              </a:rPr>
              <a:t>/</a:t>
            </a:r>
            <a:r>
              <a:rPr lang="fr-FR" sz="1200" noProof="0" dirty="0" err="1">
                <a:solidFill>
                  <a:srgbClr val="23303F"/>
                </a:solidFill>
                <a:latin typeface="Calibri" pitchFamily="34" charset="0"/>
                <a:ea typeface="Calibri" pitchFamily="34" charset="-122"/>
                <a:cs typeface="Calibri" pitchFamily="34" charset="-120"/>
              </a:rPr>
              <a:t>detail</a:t>
            </a:r>
            <a:r>
              <a:rPr lang="fr-FR" sz="1200" noProof="0" dirty="0">
                <a:solidFill>
                  <a:srgbClr val="23303F"/>
                </a:solidFill>
                <a:latin typeface="Calibri" pitchFamily="34" charset="0"/>
                <a:ea typeface="Calibri" pitchFamily="34" charset="-122"/>
                <a:cs typeface="Calibri" pitchFamily="34" charset="-120"/>
              </a:rPr>
              <a:t>/cervical-cancer</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10.  World Health </a:t>
            </a:r>
            <a:r>
              <a:rPr lang="fr-FR" sz="1200" noProof="0" dirty="0" err="1">
                <a:solidFill>
                  <a:srgbClr val="23303F"/>
                </a:solidFill>
                <a:latin typeface="Calibri" pitchFamily="34" charset="0"/>
                <a:ea typeface="Calibri" pitchFamily="34" charset="-122"/>
                <a:cs typeface="Calibri" pitchFamily="34" charset="-120"/>
              </a:rPr>
              <a:t>Organization</a:t>
            </a:r>
            <a:r>
              <a:rPr lang="fr-FR" sz="1200" noProof="0" dirty="0">
                <a:solidFill>
                  <a:srgbClr val="23303F"/>
                </a:solidFill>
                <a:latin typeface="Calibri" pitchFamily="34" charset="0"/>
                <a:ea typeface="Calibri" pitchFamily="34" charset="-122"/>
                <a:cs typeface="Calibri" pitchFamily="34" charset="-120"/>
              </a:rPr>
              <a:t>. Global </a:t>
            </a:r>
            <a:r>
              <a:rPr lang="fr-FR" sz="1200" noProof="0" dirty="0" err="1">
                <a:solidFill>
                  <a:srgbClr val="23303F"/>
                </a:solidFill>
                <a:latin typeface="Calibri" pitchFamily="34" charset="0"/>
                <a:ea typeface="Calibri" pitchFamily="34" charset="-122"/>
                <a:cs typeface="Calibri" pitchFamily="34" charset="-120"/>
              </a:rPr>
              <a:t>strategy</a:t>
            </a:r>
            <a:r>
              <a:rPr lang="fr-FR" sz="1200" noProof="0" dirty="0">
                <a:solidFill>
                  <a:srgbClr val="23303F"/>
                </a:solidFill>
                <a:latin typeface="Calibri" pitchFamily="34" charset="0"/>
                <a:ea typeface="Calibri" pitchFamily="34" charset="-122"/>
                <a:cs typeface="Calibri" pitchFamily="34" charset="-120"/>
              </a:rPr>
              <a:t> to </a:t>
            </a:r>
            <a:r>
              <a:rPr lang="fr-FR" sz="1200" noProof="0" dirty="0" err="1">
                <a:solidFill>
                  <a:srgbClr val="23303F"/>
                </a:solidFill>
                <a:latin typeface="Calibri" pitchFamily="34" charset="0"/>
                <a:ea typeface="Calibri" pitchFamily="34" charset="-122"/>
                <a:cs typeface="Calibri" pitchFamily="34" charset="-120"/>
              </a:rPr>
              <a:t>accelerate</a:t>
            </a:r>
            <a:r>
              <a:rPr lang="fr-FR" sz="1200" noProof="0" dirty="0">
                <a:solidFill>
                  <a:srgbClr val="23303F"/>
                </a:solidFill>
                <a:latin typeface="Calibri" pitchFamily="34" charset="0"/>
                <a:ea typeface="Calibri" pitchFamily="34" charset="-122"/>
                <a:cs typeface="Calibri" pitchFamily="34" charset="-120"/>
              </a:rPr>
              <a:t> the </a:t>
            </a:r>
            <a:r>
              <a:rPr lang="fr-FR" sz="1200" noProof="0" dirty="0" err="1">
                <a:solidFill>
                  <a:srgbClr val="23303F"/>
                </a:solidFill>
                <a:latin typeface="Calibri" pitchFamily="34" charset="0"/>
                <a:ea typeface="Calibri" pitchFamily="34" charset="-122"/>
                <a:cs typeface="Calibri" pitchFamily="34" charset="-120"/>
              </a:rPr>
              <a:t>elimination</a:t>
            </a:r>
            <a:r>
              <a:rPr lang="fr-FR" sz="1200" noProof="0" dirty="0">
                <a:solidFill>
                  <a:srgbClr val="23303F"/>
                </a:solidFill>
                <a:latin typeface="Calibri" pitchFamily="34" charset="0"/>
                <a:ea typeface="Calibri" pitchFamily="34" charset="-122"/>
                <a:cs typeface="Calibri" pitchFamily="34" charset="-120"/>
              </a:rPr>
              <a:t> of cervical cancer as a public </a:t>
            </a:r>
            <a:r>
              <a:rPr lang="fr-FR" sz="1200" noProof="0" dirty="0" err="1">
                <a:solidFill>
                  <a:srgbClr val="23303F"/>
                </a:solidFill>
                <a:latin typeface="Calibri" pitchFamily="34" charset="0"/>
                <a:ea typeface="Calibri" pitchFamily="34" charset="-122"/>
                <a:cs typeface="Calibri" pitchFamily="34" charset="-120"/>
              </a:rPr>
              <a:t>health</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problem</a:t>
            </a:r>
            <a:r>
              <a:rPr lang="fr-FR" sz="1200" noProof="0" dirty="0">
                <a:solidFill>
                  <a:srgbClr val="23303F"/>
                </a:solidFill>
                <a:latin typeface="Calibri" pitchFamily="34" charset="0"/>
                <a:ea typeface="Calibri" pitchFamily="34" charset="-122"/>
                <a:cs typeface="Calibri" pitchFamily="34" charset="-120"/>
              </a:rPr>
              <a:t>. Geneva: WHO, 2020.</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11.  World Health </a:t>
            </a:r>
            <a:r>
              <a:rPr lang="fr-FR" sz="1200" noProof="0" dirty="0" err="1">
                <a:solidFill>
                  <a:srgbClr val="23303F"/>
                </a:solidFill>
                <a:latin typeface="Calibri" pitchFamily="34" charset="0"/>
                <a:ea typeface="Calibri" pitchFamily="34" charset="-122"/>
                <a:cs typeface="Calibri" pitchFamily="34" charset="-120"/>
              </a:rPr>
              <a:t>Organization</a:t>
            </a:r>
            <a:r>
              <a:rPr lang="fr-FR" sz="1200" noProof="0" dirty="0">
                <a:solidFill>
                  <a:srgbClr val="23303F"/>
                </a:solidFill>
                <a:latin typeface="Calibri" pitchFamily="34" charset="0"/>
                <a:ea typeface="Calibri" pitchFamily="34" charset="-122"/>
                <a:cs typeface="Calibri" pitchFamily="34" charset="-120"/>
              </a:rPr>
              <a:t>. WHO guideline for screening and </a:t>
            </a:r>
            <a:r>
              <a:rPr lang="fr-FR" sz="1200" noProof="0" dirty="0" err="1">
                <a:solidFill>
                  <a:srgbClr val="23303F"/>
                </a:solidFill>
                <a:latin typeface="Calibri" pitchFamily="34" charset="0"/>
                <a:ea typeface="Calibri" pitchFamily="34" charset="-122"/>
                <a:cs typeface="Calibri" pitchFamily="34" charset="-120"/>
              </a:rPr>
              <a:t>treatment</a:t>
            </a:r>
            <a:r>
              <a:rPr lang="fr-FR" sz="1200" noProof="0" dirty="0">
                <a:solidFill>
                  <a:srgbClr val="23303F"/>
                </a:solidFill>
                <a:latin typeface="Calibri" pitchFamily="34" charset="0"/>
                <a:ea typeface="Calibri" pitchFamily="34" charset="-122"/>
                <a:cs typeface="Calibri" pitchFamily="34" charset="-120"/>
              </a:rPr>
              <a:t> of cervical </a:t>
            </a:r>
            <a:r>
              <a:rPr lang="fr-FR" sz="1200" noProof="0" dirty="0" err="1">
                <a:solidFill>
                  <a:srgbClr val="23303F"/>
                </a:solidFill>
                <a:latin typeface="Calibri" pitchFamily="34" charset="0"/>
                <a:ea typeface="Calibri" pitchFamily="34" charset="-122"/>
                <a:cs typeface="Calibri" pitchFamily="34" charset="-120"/>
              </a:rPr>
              <a:t>pre</a:t>
            </a:r>
            <a:r>
              <a:rPr lang="fr-FR" sz="1200" noProof="0" dirty="0">
                <a:solidFill>
                  <a:srgbClr val="23303F"/>
                </a:solidFill>
                <a:latin typeface="Calibri" pitchFamily="34" charset="0"/>
                <a:ea typeface="Calibri" pitchFamily="34" charset="-122"/>
                <a:cs typeface="Calibri" pitchFamily="34" charset="-120"/>
              </a:rPr>
              <a:t>-cancer </a:t>
            </a:r>
            <a:r>
              <a:rPr lang="fr-FR" sz="1200" noProof="0" dirty="0" err="1">
                <a:solidFill>
                  <a:srgbClr val="23303F"/>
                </a:solidFill>
                <a:latin typeface="Calibri" pitchFamily="34" charset="0"/>
                <a:ea typeface="Calibri" pitchFamily="34" charset="-122"/>
                <a:cs typeface="Calibri" pitchFamily="34" charset="-120"/>
              </a:rPr>
              <a:t>lesions</a:t>
            </a:r>
            <a:r>
              <a:rPr lang="fr-FR" sz="1200" noProof="0" dirty="0">
                <a:solidFill>
                  <a:srgbClr val="23303F"/>
                </a:solidFill>
                <a:latin typeface="Calibri" pitchFamily="34" charset="0"/>
                <a:ea typeface="Calibri" pitchFamily="34" charset="-122"/>
                <a:cs typeface="Calibri" pitchFamily="34" charset="-120"/>
              </a:rPr>
              <a:t> for cervical cancer </a:t>
            </a:r>
            <a:r>
              <a:rPr lang="fr-FR" sz="1200" noProof="0" dirty="0" err="1">
                <a:solidFill>
                  <a:srgbClr val="23303F"/>
                </a:solidFill>
                <a:latin typeface="Calibri" pitchFamily="34" charset="0"/>
                <a:ea typeface="Calibri" pitchFamily="34" charset="-122"/>
                <a:cs typeface="Calibri" pitchFamily="34" charset="-120"/>
              </a:rPr>
              <a:t>prevention</a:t>
            </a:r>
            <a:r>
              <a:rPr lang="fr-FR" sz="1200" noProof="0" dirty="0">
                <a:solidFill>
                  <a:srgbClr val="23303F"/>
                </a:solidFill>
                <a:latin typeface="Calibri" pitchFamily="34" charset="0"/>
                <a:ea typeface="Calibri" pitchFamily="34" charset="-122"/>
                <a:cs typeface="Calibri" pitchFamily="34" charset="-120"/>
              </a:rPr>
              <a:t>, second </a:t>
            </a:r>
            <a:r>
              <a:rPr lang="fr-FR" sz="1200" noProof="0" dirty="0" err="1">
                <a:solidFill>
                  <a:srgbClr val="23303F"/>
                </a:solidFill>
                <a:latin typeface="Calibri" pitchFamily="34" charset="0"/>
                <a:ea typeface="Calibri" pitchFamily="34" charset="-122"/>
                <a:cs typeface="Calibri" pitchFamily="34" charset="-120"/>
              </a:rPr>
              <a:t>edition</a:t>
            </a:r>
            <a:r>
              <a:rPr lang="fr-FR" sz="1200" noProof="0" dirty="0">
                <a:solidFill>
                  <a:srgbClr val="23303F"/>
                </a:solidFill>
                <a:latin typeface="Calibri" pitchFamily="34" charset="0"/>
                <a:ea typeface="Calibri" pitchFamily="34" charset="-122"/>
                <a:cs typeface="Calibri" pitchFamily="34" charset="-120"/>
              </a:rPr>
              <a:t>. Geneva: WHO, 2021.</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12.  World Health </a:t>
            </a:r>
            <a:r>
              <a:rPr lang="fr-FR" sz="1200" noProof="0" dirty="0" err="1">
                <a:solidFill>
                  <a:srgbClr val="23303F"/>
                </a:solidFill>
                <a:latin typeface="Calibri" pitchFamily="34" charset="0"/>
                <a:ea typeface="Calibri" pitchFamily="34" charset="-122"/>
                <a:cs typeface="Calibri" pitchFamily="34" charset="-120"/>
              </a:rPr>
              <a:t>Organization</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Comprehensive</a:t>
            </a:r>
            <a:r>
              <a:rPr lang="fr-FR" sz="1200" noProof="0" dirty="0">
                <a:solidFill>
                  <a:srgbClr val="23303F"/>
                </a:solidFill>
                <a:latin typeface="Calibri" pitchFamily="34" charset="0"/>
                <a:ea typeface="Calibri" pitchFamily="34" charset="-122"/>
                <a:cs typeface="Calibri" pitchFamily="34" charset="-120"/>
              </a:rPr>
              <a:t> cervical cancer control: a guide to essential practice, second </a:t>
            </a:r>
            <a:r>
              <a:rPr lang="fr-FR" sz="1200" noProof="0" dirty="0" err="1">
                <a:solidFill>
                  <a:srgbClr val="23303F"/>
                </a:solidFill>
                <a:latin typeface="Calibri" pitchFamily="34" charset="0"/>
                <a:ea typeface="Calibri" pitchFamily="34" charset="-122"/>
                <a:cs typeface="Calibri" pitchFamily="34" charset="-120"/>
              </a:rPr>
              <a:t>edition</a:t>
            </a:r>
            <a:r>
              <a:rPr lang="fr-FR" sz="1200" noProof="0" dirty="0">
                <a:solidFill>
                  <a:srgbClr val="23303F"/>
                </a:solidFill>
                <a:latin typeface="Calibri" pitchFamily="34" charset="0"/>
                <a:ea typeface="Calibri" pitchFamily="34" charset="-122"/>
                <a:cs typeface="Calibri" pitchFamily="34" charset="-120"/>
              </a:rPr>
              <a:t>. Geneva: WHO, 2014.</a:t>
            </a:r>
            <a:endParaRPr lang="fr-FR" sz="1200" noProof="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fr-FR" sz="1100" noProof="0" dirty="0">
                <a:solidFill>
                  <a:srgbClr val="6A727F"/>
                </a:solidFill>
                <a:latin typeface="Calibri" pitchFamily="34" charset="0"/>
                <a:ea typeface="Calibri" pitchFamily="34" charset="-122"/>
                <a:cs typeface="Calibri" pitchFamily="34" charset="-120"/>
              </a:rPr>
              <a:t>Cancer du col de l'utérus | Première ligne de soins de santé | Centre biomédical du Rwanda</a:t>
            </a:r>
            <a:endParaRPr lang="fr-FR"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fr-FR" sz="1100" noProof="0" dirty="0">
                <a:solidFill>
                  <a:srgbClr val="6A727F"/>
                </a:solidFill>
                <a:latin typeface="Calibri" pitchFamily="34" charset="0"/>
                <a:ea typeface="Calibri" pitchFamily="34" charset="-122"/>
                <a:cs typeface="Calibri" pitchFamily="34" charset="-120"/>
              </a:rPr>
              <a:t>Écran 200</a:t>
            </a:r>
            <a:endParaRPr lang="fr-FR"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fr-FR" sz="1200" b="1" kern="0" spc="400" noProof="0" dirty="0">
                <a:solidFill>
                  <a:srgbClr val="31507B"/>
                </a:solidFill>
                <a:latin typeface="Calibri" pitchFamily="34" charset="0"/>
                <a:ea typeface="Calibri" pitchFamily="34" charset="-122"/>
                <a:cs typeface="Calibri" pitchFamily="34" charset="-120"/>
              </a:rPr>
              <a:t>ATTRIBUTION ET SOURCES</a:t>
            </a:r>
            <a:endParaRPr lang="fr-FR"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fr-FR" sz="3200" b="1" noProof="0" dirty="0">
                <a:solidFill>
                  <a:srgbClr val="10305A"/>
                </a:solidFill>
                <a:latin typeface="Cambria" pitchFamily="34" charset="0"/>
                <a:ea typeface="Cambria" pitchFamily="34" charset="-122"/>
                <a:cs typeface="Cambria" pitchFamily="34" charset="-120"/>
              </a:rPr>
              <a:t>Références, suite</a:t>
            </a:r>
            <a:endParaRPr lang="fr-FR" sz="3200" noProof="0" dirty="0"/>
          </a:p>
        </p:txBody>
      </p:sp>
      <p:sp>
        <p:nvSpPr>
          <p:cNvPr id="6" name="Text 5">
            <a:extLst>
              <a:ext uri="{FF2B5EF4-FFF2-40B4-BE49-F238E27FC236}">
                <a16:creationId xmlns:a16="http://schemas.microsoft.com/office/drawing/2014/main" id="{3028014E-EC2E-513D-B1C0-18F3D50F102B}"/>
              </a:ext>
            </a:extLst>
          </p:cNvPr>
          <p:cNvSpPr txBox="1"/>
          <p:nvPr/>
        </p:nvSpPr>
        <p:spPr>
          <a:xfrm>
            <a:off x="667759" y="1566185"/>
            <a:ext cx="10854000" cy="4650000"/>
          </a:xfrm>
          <a:prstGeom prst="rect">
            <a:avLst/>
          </a:prstGeom>
          <a:noFill/>
          <a:ln/>
        </p:spPr>
        <p:txBody>
          <a:bodyPr wrap="square" lIns="0" tIns="0" rIns="0" bIns="0" rtlCol="0" anchor="t"/>
          <a:lstStyle/>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13.  World Health </a:t>
            </a:r>
            <a:r>
              <a:rPr lang="fr-FR" sz="1200" noProof="0" dirty="0" err="1">
                <a:solidFill>
                  <a:srgbClr val="23303F"/>
                </a:solidFill>
                <a:latin typeface="Calibri" pitchFamily="34" charset="0"/>
                <a:ea typeface="Calibri" pitchFamily="34" charset="-122"/>
                <a:cs typeface="Calibri" pitchFamily="34" charset="-120"/>
              </a:rPr>
              <a:t>Organization</a:t>
            </a:r>
            <a:r>
              <a:rPr lang="fr-FR" sz="1200" noProof="0" dirty="0">
                <a:solidFill>
                  <a:srgbClr val="23303F"/>
                </a:solidFill>
                <a:latin typeface="Calibri" pitchFamily="34" charset="0"/>
                <a:ea typeface="Calibri" pitchFamily="34" charset="-122"/>
                <a:cs typeface="Calibri" pitchFamily="34" charset="-120"/>
              </a:rPr>
              <a:t>. WHO guideline on the use of thermal ablation for cervical </a:t>
            </a:r>
            <a:r>
              <a:rPr lang="fr-FR" sz="1200" noProof="0" dirty="0" err="1">
                <a:solidFill>
                  <a:srgbClr val="23303F"/>
                </a:solidFill>
                <a:latin typeface="Calibri" pitchFamily="34" charset="0"/>
                <a:ea typeface="Calibri" pitchFamily="34" charset="-122"/>
                <a:cs typeface="Calibri" pitchFamily="34" charset="-120"/>
              </a:rPr>
              <a:t>pre</a:t>
            </a:r>
            <a:r>
              <a:rPr lang="fr-FR" sz="1200" noProof="0" dirty="0">
                <a:solidFill>
                  <a:srgbClr val="23303F"/>
                </a:solidFill>
                <a:latin typeface="Calibri" pitchFamily="34" charset="0"/>
                <a:ea typeface="Calibri" pitchFamily="34" charset="-122"/>
                <a:cs typeface="Calibri" pitchFamily="34" charset="-120"/>
              </a:rPr>
              <a:t>-cancer </a:t>
            </a:r>
            <a:r>
              <a:rPr lang="fr-FR" sz="1200" noProof="0" dirty="0" err="1">
                <a:solidFill>
                  <a:srgbClr val="23303F"/>
                </a:solidFill>
                <a:latin typeface="Calibri" pitchFamily="34" charset="0"/>
                <a:ea typeface="Calibri" pitchFamily="34" charset="-122"/>
                <a:cs typeface="Calibri" pitchFamily="34" charset="-120"/>
              </a:rPr>
              <a:t>lesions</a:t>
            </a:r>
            <a:r>
              <a:rPr lang="fr-FR" sz="1200" noProof="0" dirty="0">
                <a:solidFill>
                  <a:srgbClr val="23303F"/>
                </a:solidFill>
                <a:latin typeface="Calibri" pitchFamily="34" charset="0"/>
                <a:ea typeface="Calibri" pitchFamily="34" charset="-122"/>
                <a:cs typeface="Calibri" pitchFamily="34" charset="-120"/>
              </a:rPr>
              <a:t>. Geneva: WHO, 2019.</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14.  World Health </a:t>
            </a:r>
            <a:r>
              <a:rPr lang="fr-FR" sz="1200" noProof="0" dirty="0" err="1">
                <a:solidFill>
                  <a:srgbClr val="23303F"/>
                </a:solidFill>
                <a:latin typeface="Calibri" pitchFamily="34" charset="0"/>
                <a:ea typeface="Calibri" pitchFamily="34" charset="-122"/>
                <a:cs typeface="Calibri" pitchFamily="34" charset="-120"/>
              </a:rPr>
              <a:t>Organization</a:t>
            </a:r>
            <a:r>
              <a:rPr lang="fr-FR" sz="1200" noProof="0" dirty="0">
                <a:solidFill>
                  <a:srgbClr val="23303F"/>
                </a:solidFill>
                <a:latin typeface="Calibri" pitchFamily="34" charset="0"/>
                <a:ea typeface="Calibri" pitchFamily="34" charset="-122"/>
                <a:cs typeface="Calibri" pitchFamily="34" charset="-120"/>
              </a:rPr>
              <a:t>. Guide to cancer </a:t>
            </a:r>
            <a:r>
              <a:rPr lang="fr-FR" sz="1200" noProof="0" dirty="0" err="1">
                <a:solidFill>
                  <a:srgbClr val="23303F"/>
                </a:solidFill>
                <a:latin typeface="Calibri" pitchFamily="34" charset="0"/>
                <a:ea typeface="Calibri" pitchFamily="34" charset="-122"/>
                <a:cs typeface="Calibri" pitchFamily="34" charset="-120"/>
              </a:rPr>
              <a:t>early</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diagnosis</a:t>
            </a:r>
            <a:r>
              <a:rPr lang="fr-FR" sz="1200" noProof="0" dirty="0">
                <a:solidFill>
                  <a:srgbClr val="23303F"/>
                </a:solidFill>
                <a:latin typeface="Calibri" pitchFamily="34" charset="0"/>
                <a:ea typeface="Calibri" pitchFamily="34" charset="-122"/>
                <a:cs typeface="Calibri" pitchFamily="34" charset="-120"/>
              </a:rPr>
              <a:t>. Geneva: WHO, 2017.</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15.  Bhatla N, Aoki D, Sharma DN, Sankaranarayanan R. Cancer of the cervix </a:t>
            </a:r>
            <a:r>
              <a:rPr lang="fr-FR" sz="1200" noProof="0" dirty="0" err="1">
                <a:solidFill>
                  <a:srgbClr val="23303F"/>
                </a:solidFill>
                <a:latin typeface="Calibri" pitchFamily="34" charset="0"/>
                <a:ea typeface="Calibri" pitchFamily="34" charset="-122"/>
                <a:cs typeface="Calibri" pitchFamily="34" charset="-120"/>
              </a:rPr>
              <a:t>uteri</a:t>
            </a:r>
            <a:r>
              <a:rPr lang="fr-FR" sz="1200" noProof="0" dirty="0">
                <a:solidFill>
                  <a:srgbClr val="23303F"/>
                </a:solidFill>
                <a:latin typeface="Calibri" pitchFamily="34" charset="0"/>
                <a:ea typeface="Calibri" pitchFamily="34" charset="-122"/>
                <a:cs typeface="Calibri" pitchFamily="34" charset="-120"/>
              </a:rPr>
              <a:t>: FIGO cancer report, and FIGO </a:t>
            </a:r>
            <a:r>
              <a:rPr lang="fr-FR" sz="1200" noProof="0" dirty="0" err="1">
                <a:solidFill>
                  <a:srgbClr val="23303F"/>
                </a:solidFill>
                <a:latin typeface="Calibri" pitchFamily="34" charset="0"/>
                <a:ea typeface="Calibri" pitchFamily="34" charset="-122"/>
                <a:cs typeface="Calibri" pitchFamily="34" charset="-120"/>
              </a:rPr>
              <a:t>staging</a:t>
            </a:r>
            <a:r>
              <a:rPr lang="fr-FR" sz="1200" noProof="0" dirty="0">
                <a:solidFill>
                  <a:srgbClr val="23303F"/>
                </a:solidFill>
                <a:latin typeface="Calibri" pitchFamily="34" charset="0"/>
                <a:ea typeface="Calibri" pitchFamily="34" charset="-122"/>
                <a:cs typeface="Calibri" pitchFamily="34" charset="-120"/>
              </a:rPr>
              <a:t> of cancer of the cervix </a:t>
            </a:r>
            <a:r>
              <a:rPr lang="fr-FR" sz="1200" noProof="0" dirty="0" err="1">
                <a:solidFill>
                  <a:srgbClr val="23303F"/>
                </a:solidFill>
                <a:latin typeface="Calibri" pitchFamily="34" charset="0"/>
                <a:ea typeface="Calibri" pitchFamily="34" charset="-122"/>
                <a:cs typeface="Calibri" pitchFamily="34" charset="-120"/>
              </a:rPr>
              <a:t>uteri</a:t>
            </a:r>
            <a:r>
              <a:rPr lang="fr-FR" sz="1200" noProof="0" dirty="0">
                <a:solidFill>
                  <a:srgbClr val="23303F"/>
                </a:solidFill>
                <a:latin typeface="Calibri" pitchFamily="34" charset="0"/>
                <a:ea typeface="Calibri" pitchFamily="34" charset="-122"/>
                <a:cs typeface="Calibri" pitchFamily="34" charset="-120"/>
              </a:rPr>
              <a:t>, 2018 </a:t>
            </a:r>
            <a:r>
              <a:rPr lang="fr-FR" sz="1200" noProof="0" dirty="0" err="1">
                <a:solidFill>
                  <a:srgbClr val="23303F"/>
                </a:solidFill>
                <a:latin typeface="Calibri" pitchFamily="34" charset="0"/>
                <a:ea typeface="Calibri" pitchFamily="34" charset="-122"/>
                <a:cs typeface="Calibri" pitchFamily="34" charset="-120"/>
              </a:rPr>
              <a:t>revision</a:t>
            </a:r>
            <a:r>
              <a:rPr lang="fr-FR" sz="1200" noProof="0" dirty="0">
                <a:solidFill>
                  <a:srgbClr val="23303F"/>
                </a:solidFill>
                <a:latin typeface="Calibri" pitchFamily="34" charset="0"/>
                <a:ea typeface="Calibri" pitchFamily="34" charset="-122"/>
                <a:cs typeface="Calibri" pitchFamily="34" charset="-120"/>
              </a:rPr>
              <a:t>. International Journal of </a:t>
            </a:r>
            <a:r>
              <a:rPr lang="fr-FR" sz="1200" noProof="0" dirty="0" err="1">
                <a:solidFill>
                  <a:srgbClr val="23303F"/>
                </a:solidFill>
                <a:latin typeface="Calibri" pitchFamily="34" charset="0"/>
                <a:ea typeface="Calibri" pitchFamily="34" charset="-122"/>
                <a:cs typeface="Calibri" pitchFamily="34" charset="-120"/>
              </a:rPr>
              <a:t>Gynecology</a:t>
            </a:r>
            <a:r>
              <a:rPr lang="fr-FR" sz="1200" noProof="0" dirty="0">
                <a:solidFill>
                  <a:srgbClr val="23303F"/>
                </a:solidFill>
                <a:latin typeface="Calibri" pitchFamily="34" charset="0"/>
                <a:ea typeface="Calibri" pitchFamily="34" charset="-122"/>
                <a:cs typeface="Calibri" pitchFamily="34" charset="-120"/>
              </a:rPr>
              <a:t> and </a:t>
            </a:r>
            <a:r>
              <a:rPr lang="fr-FR" sz="1200" noProof="0" dirty="0" err="1">
                <a:solidFill>
                  <a:srgbClr val="23303F"/>
                </a:solidFill>
                <a:latin typeface="Calibri" pitchFamily="34" charset="0"/>
                <a:ea typeface="Calibri" pitchFamily="34" charset="-122"/>
                <a:cs typeface="Calibri" pitchFamily="34" charset="-120"/>
              </a:rPr>
              <a:t>Obstetrics</a:t>
            </a:r>
            <a:r>
              <a:rPr lang="fr-FR" sz="1200" noProof="0" dirty="0">
                <a:solidFill>
                  <a:srgbClr val="23303F"/>
                </a:solidFill>
                <a:latin typeface="Calibri" pitchFamily="34" charset="0"/>
                <a:ea typeface="Calibri" pitchFamily="34" charset="-122"/>
                <a:cs typeface="Calibri" pitchFamily="34" charset="-120"/>
              </a:rPr>
              <a:t>.</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16.  National </a:t>
            </a:r>
            <a:r>
              <a:rPr lang="fr-FR" sz="1200" noProof="0" dirty="0" err="1">
                <a:solidFill>
                  <a:srgbClr val="23303F"/>
                </a:solidFill>
                <a:latin typeface="Calibri" pitchFamily="34" charset="0"/>
                <a:ea typeface="Calibri" pitchFamily="34" charset="-122"/>
                <a:cs typeface="Calibri" pitchFamily="34" charset="-120"/>
              </a:rPr>
              <a:t>Comprehensive</a:t>
            </a:r>
            <a:r>
              <a:rPr lang="fr-FR" sz="1200" noProof="0" dirty="0">
                <a:solidFill>
                  <a:srgbClr val="23303F"/>
                </a:solidFill>
                <a:latin typeface="Calibri" pitchFamily="34" charset="0"/>
                <a:ea typeface="Calibri" pitchFamily="34" charset="-122"/>
                <a:cs typeface="Calibri" pitchFamily="34" charset="-120"/>
              </a:rPr>
              <a:t> Cancer Network. NCCN </a:t>
            </a:r>
            <a:r>
              <a:rPr lang="fr-FR" sz="1200" noProof="0" dirty="0" err="1">
                <a:solidFill>
                  <a:srgbClr val="23303F"/>
                </a:solidFill>
                <a:latin typeface="Calibri" pitchFamily="34" charset="0"/>
                <a:ea typeface="Calibri" pitchFamily="34" charset="-122"/>
                <a:cs typeface="Calibri" pitchFamily="34" charset="-120"/>
              </a:rPr>
              <a:t>Clinical</a:t>
            </a:r>
            <a:r>
              <a:rPr lang="fr-FR" sz="1200" noProof="0" dirty="0">
                <a:solidFill>
                  <a:srgbClr val="23303F"/>
                </a:solidFill>
                <a:latin typeface="Calibri" pitchFamily="34" charset="0"/>
                <a:ea typeface="Calibri" pitchFamily="34" charset="-122"/>
                <a:cs typeface="Calibri" pitchFamily="34" charset="-120"/>
              </a:rPr>
              <a:t> Practice Guidelines in </a:t>
            </a:r>
            <a:r>
              <a:rPr lang="fr-FR" sz="1200" noProof="0" dirty="0" err="1">
                <a:solidFill>
                  <a:srgbClr val="23303F"/>
                </a:solidFill>
                <a:latin typeface="Calibri" pitchFamily="34" charset="0"/>
                <a:ea typeface="Calibri" pitchFamily="34" charset="-122"/>
                <a:cs typeface="Calibri" pitchFamily="34" charset="-120"/>
              </a:rPr>
              <a:t>Oncology</a:t>
            </a:r>
            <a:r>
              <a:rPr lang="fr-FR" sz="1200" noProof="0" dirty="0">
                <a:solidFill>
                  <a:srgbClr val="23303F"/>
                </a:solidFill>
                <a:latin typeface="Calibri" pitchFamily="34" charset="0"/>
                <a:ea typeface="Calibri" pitchFamily="34" charset="-122"/>
                <a:cs typeface="Calibri" pitchFamily="34" charset="-120"/>
              </a:rPr>
              <a:t>: Cervical Cancer. https://</a:t>
            </a:r>
            <a:r>
              <a:rPr lang="fr-FR" sz="1200" noProof="0" dirty="0" err="1">
                <a:solidFill>
                  <a:srgbClr val="23303F"/>
                </a:solidFill>
                <a:latin typeface="Calibri" pitchFamily="34" charset="0"/>
                <a:ea typeface="Calibri" pitchFamily="34" charset="-122"/>
                <a:cs typeface="Calibri" pitchFamily="34" charset="-120"/>
              </a:rPr>
              <a:t>www.nccn.org</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17.  </a:t>
            </a:r>
            <a:r>
              <a:rPr lang="fr-FR" sz="1200" noProof="0" dirty="0" err="1">
                <a:solidFill>
                  <a:srgbClr val="23303F"/>
                </a:solidFill>
                <a:latin typeface="Calibri" pitchFamily="34" charset="0"/>
                <a:ea typeface="Calibri" pitchFamily="34" charset="-122"/>
                <a:cs typeface="Calibri" pitchFamily="34" charset="-120"/>
              </a:rPr>
              <a:t>European</a:t>
            </a:r>
            <a:r>
              <a:rPr lang="fr-FR" sz="1200" noProof="0" dirty="0">
                <a:solidFill>
                  <a:srgbClr val="23303F"/>
                </a:solidFill>
                <a:latin typeface="Calibri" pitchFamily="34" charset="0"/>
                <a:ea typeface="Calibri" pitchFamily="34" charset="-122"/>
                <a:cs typeface="Calibri" pitchFamily="34" charset="-120"/>
              </a:rPr>
              <a:t> Society for </a:t>
            </a:r>
            <a:r>
              <a:rPr lang="fr-FR" sz="1200" noProof="0" dirty="0" err="1">
                <a:solidFill>
                  <a:srgbClr val="23303F"/>
                </a:solidFill>
                <a:latin typeface="Calibri" pitchFamily="34" charset="0"/>
                <a:ea typeface="Calibri" pitchFamily="34" charset="-122"/>
                <a:cs typeface="Calibri" pitchFamily="34" charset="-120"/>
              </a:rPr>
              <a:t>Medical</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Oncology</a:t>
            </a:r>
            <a:r>
              <a:rPr lang="fr-FR" sz="1200" noProof="0" dirty="0">
                <a:solidFill>
                  <a:srgbClr val="23303F"/>
                </a:solidFill>
                <a:latin typeface="Calibri" pitchFamily="34" charset="0"/>
                <a:ea typeface="Calibri" pitchFamily="34" charset="-122"/>
                <a:cs typeface="Calibri" pitchFamily="34" charset="-120"/>
              </a:rPr>
              <a:t>. ESMO </a:t>
            </a:r>
            <a:r>
              <a:rPr lang="fr-FR" sz="1200" noProof="0" dirty="0" err="1">
                <a:solidFill>
                  <a:srgbClr val="23303F"/>
                </a:solidFill>
                <a:latin typeface="Calibri" pitchFamily="34" charset="0"/>
                <a:ea typeface="Calibri" pitchFamily="34" charset="-122"/>
                <a:cs typeface="Calibri" pitchFamily="34" charset="-120"/>
              </a:rPr>
              <a:t>Clinical</a:t>
            </a:r>
            <a:r>
              <a:rPr lang="fr-FR" sz="1200" noProof="0" dirty="0">
                <a:solidFill>
                  <a:srgbClr val="23303F"/>
                </a:solidFill>
                <a:latin typeface="Calibri" pitchFamily="34" charset="0"/>
                <a:ea typeface="Calibri" pitchFamily="34" charset="-122"/>
                <a:cs typeface="Calibri" pitchFamily="34" charset="-120"/>
              </a:rPr>
              <a:t> Practice Guidelines: cervical cancer. https://</a:t>
            </a:r>
            <a:r>
              <a:rPr lang="fr-FR" sz="1200" noProof="0" dirty="0" err="1">
                <a:solidFill>
                  <a:srgbClr val="23303F"/>
                </a:solidFill>
                <a:latin typeface="Calibri" pitchFamily="34" charset="0"/>
                <a:ea typeface="Calibri" pitchFamily="34" charset="-122"/>
                <a:cs typeface="Calibri" pitchFamily="34" charset="-120"/>
              </a:rPr>
              <a:t>www.esmo.org</a:t>
            </a:r>
            <a:r>
              <a:rPr lang="fr-FR" sz="1200" noProof="0" dirty="0">
                <a:solidFill>
                  <a:srgbClr val="23303F"/>
                </a:solidFill>
                <a:latin typeface="Calibri" pitchFamily="34" charset="0"/>
                <a:ea typeface="Calibri" pitchFamily="34" charset="-122"/>
                <a:cs typeface="Calibri" pitchFamily="34" charset="-120"/>
              </a:rPr>
              <a:t>/guidelines</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18.  International Agency for </a:t>
            </a:r>
            <a:r>
              <a:rPr lang="fr-FR" sz="1200" noProof="0" dirty="0" err="1">
                <a:solidFill>
                  <a:srgbClr val="23303F"/>
                </a:solidFill>
                <a:latin typeface="Calibri" pitchFamily="34" charset="0"/>
                <a:ea typeface="Calibri" pitchFamily="34" charset="-122"/>
                <a:cs typeface="Calibri" pitchFamily="34" charset="-120"/>
              </a:rPr>
              <a:t>Research</a:t>
            </a:r>
            <a:r>
              <a:rPr lang="fr-FR" sz="1200" noProof="0" dirty="0">
                <a:solidFill>
                  <a:srgbClr val="23303F"/>
                </a:solidFill>
                <a:latin typeface="Calibri" pitchFamily="34" charset="0"/>
                <a:ea typeface="Calibri" pitchFamily="34" charset="-122"/>
                <a:cs typeface="Calibri" pitchFamily="34" charset="-120"/>
              </a:rPr>
              <a:t> on Cancer. Planning and </a:t>
            </a:r>
            <a:r>
              <a:rPr lang="fr-FR" sz="1200" noProof="0" dirty="0" err="1">
                <a:solidFill>
                  <a:srgbClr val="23303F"/>
                </a:solidFill>
                <a:latin typeface="Calibri" pitchFamily="34" charset="0"/>
                <a:ea typeface="Calibri" pitchFamily="34" charset="-122"/>
                <a:cs typeface="Calibri" pitchFamily="34" charset="-120"/>
              </a:rPr>
              <a:t>developing</a:t>
            </a:r>
            <a:r>
              <a:rPr lang="fr-FR" sz="1200" noProof="0" dirty="0">
                <a:solidFill>
                  <a:srgbClr val="23303F"/>
                </a:solidFill>
                <a:latin typeface="Calibri" pitchFamily="34" charset="0"/>
                <a:ea typeface="Calibri" pitchFamily="34" charset="-122"/>
                <a:cs typeface="Calibri" pitchFamily="34" charset="-120"/>
              </a:rPr>
              <a:t> population-</a:t>
            </a:r>
            <a:r>
              <a:rPr lang="fr-FR" sz="1200" noProof="0" dirty="0" err="1">
                <a:solidFill>
                  <a:srgbClr val="23303F"/>
                </a:solidFill>
                <a:latin typeface="Calibri" pitchFamily="34" charset="0"/>
                <a:ea typeface="Calibri" pitchFamily="34" charset="-122"/>
                <a:cs typeface="Calibri" pitchFamily="34" charset="-120"/>
              </a:rPr>
              <a:t>based</a:t>
            </a:r>
            <a:r>
              <a:rPr lang="fr-FR" sz="1200" noProof="0" dirty="0">
                <a:solidFill>
                  <a:srgbClr val="23303F"/>
                </a:solidFill>
                <a:latin typeface="Calibri" pitchFamily="34" charset="0"/>
                <a:ea typeface="Calibri" pitchFamily="34" charset="-122"/>
                <a:cs typeface="Calibri" pitchFamily="34" charset="-120"/>
              </a:rPr>
              <a:t> cancer registration in </a:t>
            </a:r>
            <a:r>
              <a:rPr lang="fr-FR" sz="1200" noProof="0" dirty="0" err="1">
                <a:solidFill>
                  <a:srgbClr val="23303F"/>
                </a:solidFill>
                <a:latin typeface="Calibri" pitchFamily="34" charset="0"/>
                <a:ea typeface="Calibri" pitchFamily="34" charset="-122"/>
                <a:cs typeface="Calibri" pitchFamily="34" charset="-120"/>
              </a:rPr>
              <a:t>low</a:t>
            </a:r>
            <a:r>
              <a:rPr lang="fr-FR" sz="1200" noProof="0" dirty="0">
                <a:solidFill>
                  <a:srgbClr val="23303F"/>
                </a:solidFill>
                <a:latin typeface="Calibri" pitchFamily="34" charset="0"/>
                <a:ea typeface="Calibri" pitchFamily="34" charset="-122"/>
                <a:cs typeface="Calibri" pitchFamily="34" charset="-120"/>
              </a:rPr>
              <a:t> and middle </a:t>
            </a:r>
            <a:r>
              <a:rPr lang="fr-FR" sz="1200" noProof="0" dirty="0" err="1">
                <a:solidFill>
                  <a:srgbClr val="23303F"/>
                </a:solidFill>
                <a:latin typeface="Calibri" pitchFamily="34" charset="0"/>
                <a:ea typeface="Calibri" pitchFamily="34" charset="-122"/>
                <a:cs typeface="Calibri" pitchFamily="34" charset="-120"/>
              </a:rPr>
              <a:t>income</a:t>
            </a:r>
            <a:r>
              <a:rPr lang="fr-FR" sz="1200" noProof="0" dirty="0">
                <a:solidFill>
                  <a:srgbClr val="23303F"/>
                </a:solidFill>
                <a:latin typeface="Calibri" pitchFamily="34" charset="0"/>
                <a:ea typeface="Calibri" pitchFamily="34" charset="-122"/>
                <a:cs typeface="Calibri" pitchFamily="34" charset="-120"/>
              </a:rPr>
              <a:t> settings. IARC </a:t>
            </a:r>
            <a:r>
              <a:rPr lang="fr-FR" sz="1200" noProof="0" dirty="0" err="1">
                <a:solidFill>
                  <a:srgbClr val="23303F"/>
                </a:solidFill>
                <a:latin typeface="Calibri" pitchFamily="34" charset="0"/>
                <a:ea typeface="Calibri" pitchFamily="34" charset="-122"/>
                <a:cs typeface="Calibri" pitchFamily="34" charset="-120"/>
              </a:rPr>
              <a:t>Technical</a:t>
            </a:r>
            <a:r>
              <a:rPr lang="fr-FR" sz="1200" noProof="0" dirty="0">
                <a:solidFill>
                  <a:srgbClr val="23303F"/>
                </a:solidFill>
                <a:latin typeface="Calibri" pitchFamily="34" charset="0"/>
                <a:ea typeface="Calibri" pitchFamily="34" charset="-122"/>
                <a:cs typeface="Calibri" pitchFamily="34" charset="-120"/>
              </a:rPr>
              <a:t> Publication No. 43, 2014.</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19.  Rwanda </a:t>
            </a:r>
            <a:r>
              <a:rPr lang="fr-FR" sz="1200" noProof="0" dirty="0" err="1">
                <a:solidFill>
                  <a:srgbClr val="23303F"/>
                </a:solidFill>
                <a:latin typeface="Calibri" pitchFamily="34" charset="0"/>
                <a:ea typeface="Calibri" pitchFamily="34" charset="-122"/>
                <a:cs typeface="Calibri" pitchFamily="34" charset="-120"/>
              </a:rPr>
              <a:t>Biomedical</a:t>
            </a:r>
            <a:r>
              <a:rPr lang="fr-FR" sz="1200" noProof="0" dirty="0">
                <a:solidFill>
                  <a:srgbClr val="23303F"/>
                </a:solidFill>
                <a:latin typeface="Calibri" pitchFamily="34" charset="0"/>
                <a:ea typeface="Calibri" pitchFamily="34" charset="-122"/>
                <a:cs typeface="Calibri" pitchFamily="34" charset="-120"/>
              </a:rPr>
              <a:t> Centre. Training of </a:t>
            </a:r>
            <a:r>
              <a:rPr lang="fr-FR" sz="1200" noProof="0" dirty="0" err="1">
                <a:solidFill>
                  <a:srgbClr val="23303F"/>
                </a:solidFill>
                <a:latin typeface="Calibri" pitchFamily="34" charset="0"/>
                <a:ea typeface="Calibri" pitchFamily="34" charset="-122"/>
                <a:cs typeface="Calibri" pitchFamily="34" charset="-120"/>
              </a:rPr>
              <a:t>primary</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health</a:t>
            </a:r>
            <a:r>
              <a:rPr lang="fr-FR" sz="1200" noProof="0" dirty="0">
                <a:solidFill>
                  <a:srgbClr val="23303F"/>
                </a:solidFill>
                <a:latin typeface="Calibri" pitchFamily="34" charset="0"/>
                <a:ea typeface="Calibri" pitchFamily="34" charset="-122"/>
                <a:cs typeface="Calibri" pitchFamily="34" charset="-120"/>
              </a:rPr>
              <a:t> care providers: cervical cancer screening and </a:t>
            </a:r>
            <a:r>
              <a:rPr lang="fr-FR" sz="1200" noProof="0" dirty="0" err="1">
                <a:solidFill>
                  <a:srgbClr val="23303F"/>
                </a:solidFill>
                <a:latin typeface="Calibri" pitchFamily="34" charset="0"/>
                <a:ea typeface="Calibri" pitchFamily="34" charset="-122"/>
                <a:cs typeface="Calibri" pitchFamily="34" charset="-120"/>
              </a:rPr>
              <a:t>treatment</a:t>
            </a:r>
            <a:r>
              <a:rPr lang="fr-FR" sz="1200" noProof="0" dirty="0">
                <a:solidFill>
                  <a:srgbClr val="23303F"/>
                </a:solidFill>
                <a:latin typeface="Calibri" pitchFamily="34" charset="0"/>
                <a:ea typeface="Calibri" pitchFamily="34" charset="-122"/>
                <a:cs typeface="Calibri" pitchFamily="34" charset="-120"/>
              </a:rPr>
              <a:t> of </a:t>
            </a:r>
            <a:r>
              <a:rPr lang="fr-FR" sz="1200" noProof="0" dirty="0" err="1">
                <a:solidFill>
                  <a:srgbClr val="23303F"/>
                </a:solidFill>
                <a:latin typeface="Calibri" pitchFamily="34" charset="0"/>
                <a:ea typeface="Calibri" pitchFamily="34" charset="-122"/>
                <a:cs typeface="Calibri" pitchFamily="34" charset="-120"/>
              </a:rPr>
              <a:t>precancerous</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lesions</a:t>
            </a:r>
            <a:r>
              <a:rPr lang="fr-FR" sz="1200" noProof="0" dirty="0">
                <a:solidFill>
                  <a:srgbClr val="23303F"/>
                </a:solidFill>
                <a:latin typeface="Calibri" pitchFamily="34" charset="0"/>
                <a:ea typeface="Calibri" pitchFamily="34" charset="-122"/>
                <a:cs typeface="Calibri" pitchFamily="34" charset="-120"/>
              </a:rPr>
              <a:t> (HPV testing, VIA, VIA </a:t>
            </a:r>
            <a:r>
              <a:rPr lang="fr-FR" sz="1200" noProof="0" dirty="0" err="1">
                <a:solidFill>
                  <a:srgbClr val="23303F"/>
                </a:solidFill>
                <a:latin typeface="Calibri" pitchFamily="34" charset="0"/>
                <a:ea typeface="Calibri" pitchFamily="34" charset="-122"/>
                <a:cs typeface="Calibri" pitchFamily="34" charset="-120"/>
              </a:rPr>
              <a:t>results</a:t>
            </a:r>
            <a:r>
              <a:rPr lang="fr-FR" sz="1200" noProof="0" dirty="0">
                <a:solidFill>
                  <a:srgbClr val="23303F"/>
                </a:solidFill>
                <a:latin typeface="Calibri" pitchFamily="34" charset="0"/>
                <a:ea typeface="Calibri" pitchFamily="34" charset="-122"/>
                <a:cs typeface="Calibri" pitchFamily="34" charset="-120"/>
              </a:rPr>
              <a:t> and management, thermal ablation). Kigali: RBC.</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20.  Bornstein J, Bentley J, </a:t>
            </a:r>
            <a:r>
              <a:rPr lang="fr-FR" sz="1200" noProof="0" dirty="0" err="1">
                <a:solidFill>
                  <a:srgbClr val="23303F"/>
                </a:solidFill>
                <a:latin typeface="Calibri" pitchFamily="34" charset="0"/>
                <a:ea typeface="Calibri" pitchFamily="34" charset="-122"/>
                <a:cs typeface="Calibri" pitchFamily="34" charset="-120"/>
              </a:rPr>
              <a:t>Bösze</a:t>
            </a:r>
            <a:r>
              <a:rPr lang="fr-FR" sz="1200" noProof="0" dirty="0">
                <a:solidFill>
                  <a:srgbClr val="23303F"/>
                </a:solidFill>
                <a:latin typeface="Calibri" pitchFamily="34" charset="0"/>
                <a:ea typeface="Calibri" pitchFamily="34" charset="-122"/>
                <a:cs typeface="Calibri" pitchFamily="34" charset="-120"/>
              </a:rPr>
              <a:t> P, et al. 2011 </a:t>
            </a:r>
            <a:r>
              <a:rPr lang="fr-FR" sz="1200" noProof="0" dirty="0" err="1">
                <a:solidFill>
                  <a:srgbClr val="23303F"/>
                </a:solidFill>
                <a:latin typeface="Calibri" pitchFamily="34" charset="0"/>
                <a:ea typeface="Calibri" pitchFamily="34" charset="-122"/>
                <a:cs typeface="Calibri" pitchFamily="34" charset="-120"/>
              </a:rPr>
              <a:t>colposcopic</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terminology</a:t>
            </a:r>
            <a:r>
              <a:rPr lang="fr-FR" sz="1200" noProof="0" dirty="0">
                <a:solidFill>
                  <a:srgbClr val="23303F"/>
                </a:solidFill>
                <a:latin typeface="Calibri" pitchFamily="34" charset="0"/>
                <a:ea typeface="Calibri" pitchFamily="34" charset="-122"/>
                <a:cs typeface="Calibri" pitchFamily="34" charset="-120"/>
              </a:rPr>
              <a:t> of the International </a:t>
            </a:r>
            <a:r>
              <a:rPr lang="fr-FR" sz="1200" noProof="0" dirty="0" err="1">
                <a:solidFill>
                  <a:srgbClr val="23303F"/>
                </a:solidFill>
                <a:latin typeface="Calibri" pitchFamily="34" charset="0"/>
                <a:ea typeface="Calibri" pitchFamily="34" charset="-122"/>
                <a:cs typeface="Calibri" pitchFamily="34" charset="-120"/>
              </a:rPr>
              <a:t>Federation</a:t>
            </a:r>
            <a:r>
              <a:rPr lang="fr-FR" sz="1200" noProof="0" dirty="0">
                <a:solidFill>
                  <a:srgbClr val="23303F"/>
                </a:solidFill>
                <a:latin typeface="Calibri" pitchFamily="34" charset="0"/>
                <a:ea typeface="Calibri" pitchFamily="34" charset="-122"/>
                <a:cs typeface="Calibri" pitchFamily="34" charset="-120"/>
              </a:rPr>
              <a:t> for Cervical </a:t>
            </a:r>
            <a:r>
              <a:rPr lang="fr-FR" sz="1200" noProof="0" dirty="0" err="1">
                <a:solidFill>
                  <a:srgbClr val="23303F"/>
                </a:solidFill>
                <a:latin typeface="Calibri" pitchFamily="34" charset="0"/>
                <a:ea typeface="Calibri" pitchFamily="34" charset="-122"/>
                <a:cs typeface="Calibri" pitchFamily="34" charset="-120"/>
              </a:rPr>
              <a:t>Pathology</a:t>
            </a:r>
            <a:r>
              <a:rPr lang="fr-FR" sz="1200" noProof="0" dirty="0">
                <a:solidFill>
                  <a:srgbClr val="23303F"/>
                </a:solidFill>
                <a:latin typeface="Calibri" pitchFamily="34" charset="0"/>
                <a:ea typeface="Calibri" pitchFamily="34" charset="-122"/>
                <a:cs typeface="Calibri" pitchFamily="34" charset="-120"/>
              </a:rPr>
              <a:t> and </a:t>
            </a:r>
            <a:r>
              <a:rPr lang="fr-FR" sz="1200" noProof="0" dirty="0" err="1">
                <a:solidFill>
                  <a:srgbClr val="23303F"/>
                </a:solidFill>
                <a:latin typeface="Calibri" pitchFamily="34" charset="0"/>
                <a:ea typeface="Calibri" pitchFamily="34" charset="-122"/>
                <a:cs typeface="Calibri" pitchFamily="34" charset="-120"/>
              </a:rPr>
              <a:t>Colposcopy</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Obstetrics</a:t>
            </a:r>
            <a:r>
              <a:rPr lang="fr-FR" sz="1200" noProof="0" dirty="0">
                <a:solidFill>
                  <a:srgbClr val="23303F"/>
                </a:solidFill>
                <a:latin typeface="Calibri" pitchFamily="34" charset="0"/>
                <a:ea typeface="Calibri" pitchFamily="34" charset="-122"/>
                <a:cs typeface="Calibri" pitchFamily="34" charset="-120"/>
              </a:rPr>
              <a:t> and </a:t>
            </a:r>
            <a:r>
              <a:rPr lang="fr-FR" sz="1200" noProof="0" dirty="0" err="1">
                <a:solidFill>
                  <a:srgbClr val="23303F"/>
                </a:solidFill>
                <a:latin typeface="Calibri" pitchFamily="34" charset="0"/>
                <a:ea typeface="Calibri" pitchFamily="34" charset="-122"/>
                <a:cs typeface="Calibri" pitchFamily="34" charset="-120"/>
              </a:rPr>
              <a:t>Gynecology</a:t>
            </a:r>
            <a:r>
              <a:rPr lang="fr-FR" sz="1200" noProof="0" dirty="0">
                <a:solidFill>
                  <a:srgbClr val="23303F"/>
                </a:solidFill>
                <a:latin typeface="Calibri" pitchFamily="34" charset="0"/>
                <a:ea typeface="Calibri" pitchFamily="34" charset="-122"/>
                <a:cs typeface="Calibri" pitchFamily="34" charset="-120"/>
              </a:rPr>
              <a:t>. 2012;120(1):166-172.</a:t>
            </a:r>
            <a:endParaRPr lang="fr-FR" sz="1200" noProof="0" dirty="0"/>
          </a:p>
          <a:p>
            <a:pPr marL="0" indent="0">
              <a:lnSpc>
                <a:spcPct val="105000"/>
              </a:lnSpc>
              <a:spcAft>
                <a:spcPts val="1400"/>
              </a:spcAft>
              <a:buNone/>
            </a:pPr>
            <a:r>
              <a:rPr lang="fr-FR" sz="1200" noProof="0" dirty="0">
                <a:solidFill>
                  <a:srgbClr val="23303F"/>
                </a:solidFill>
                <a:latin typeface="Calibri" pitchFamily="34" charset="0"/>
                <a:ea typeface="Calibri" pitchFamily="34" charset="-122"/>
                <a:cs typeface="Calibri" pitchFamily="34" charset="-120"/>
              </a:rPr>
              <a:t>21.  Burd EM. Human papillomavirus and cervical cancer. </a:t>
            </a:r>
            <a:r>
              <a:rPr lang="fr-FR" sz="1200" noProof="0" dirty="0" err="1">
                <a:solidFill>
                  <a:srgbClr val="23303F"/>
                </a:solidFill>
                <a:latin typeface="Calibri" pitchFamily="34" charset="0"/>
                <a:ea typeface="Calibri" pitchFamily="34" charset="-122"/>
                <a:cs typeface="Calibri" pitchFamily="34" charset="-120"/>
              </a:rPr>
              <a:t>Clinical</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Microbiology</a:t>
            </a:r>
            <a:r>
              <a:rPr lang="fr-FR" sz="1200" noProof="0" dirty="0">
                <a:solidFill>
                  <a:srgbClr val="23303F"/>
                </a:solidFill>
                <a:latin typeface="Calibri" pitchFamily="34" charset="0"/>
                <a:ea typeface="Calibri" pitchFamily="34" charset="-122"/>
                <a:cs typeface="Calibri" pitchFamily="34" charset="-120"/>
              </a:rPr>
              <a:t> </a:t>
            </a:r>
            <a:r>
              <a:rPr lang="fr-FR" sz="1200" noProof="0" dirty="0" err="1">
                <a:solidFill>
                  <a:srgbClr val="23303F"/>
                </a:solidFill>
                <a:latin typeface="Calibri" pitchFamily="34" charset="0"/>
                <a:ea typeface="Calibri" pitchFamily="34" charset="-122"/>
                <a:cs typeface="Calibri" pitchFamily="34" charset="-120"/>
              </a:rPr>
              <a:t>Reviews</a:t>
            </a:r>
            <a:r>
              <a:rPr lang="fr-FR" sz="1200" noProof="0" dirty="0">
                <a:solidFill>
                  <a:srgbClr val="23303F"/>
                </a:solidFill>
                <a:latin typeface="Calibri" pitchFamily="34" charset="0"/>
                <a:ea typeface="Calibri" pitchFamily="34" charset="-122"/>
                <a:cs typeface="Calibri" pitchFamily="34" charset="-120"/>
              </a:rPr>
              <a:t>. 2003;16(1):1-17.</a:t>
            </a:r>
            <a:endParaRPr lang="fr-FR" sz="120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1ECC46547A045896A1B75675AB43C" ma:contentTypeVersion="12" ma:contentTypeDescription="Create a new document." ma:contentTypeScope="" ma:versionID="b64b65294843640458730aea8e953da7">
  <xsd:schema xmlns:xsd="http://www.w3.org/2001/XMLSchema" xmlns:xs="http://www.w3.org/2001/XMLSchema" xmlns:p="http://schemas.microsoft.com/office/2006/metadata/properties" xmlns:ns1="http://schemas.microsoft.com/sharepoint/v3" xmlns:ns2="17d9841e-3b3a-4c82-8e4d-4f809d4d0b5f" xmlns:ns3="55fd9118-62da-44f2-ad5d-6ee26453d194" targetNamespace="http://schemas.microsoft.com/office/2006/metadata/properties" ma:root="true" ma:fieldsID="0ebed194f83790a6b312e91a81a0e8d9" ns1:_="" ns2:_="" ns3:_="">
    <xsd:import namespace="http://schemas.microsoft.com/sharepoint/v3"/>
    <xsd:import namespace="17d9841e-3b3a-4c82-8e4d-4f809d4d0b5f"/>
    <xsd:import namespace="55fd9118-62da-44f2-ad5d-6ee26453d1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d9841e-3b3a-4c82-8e4d-4f809d4d0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5e642b-91f5-4888-b018-43334a040d0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fd9118-62da-44f2-ad5d-6ee26453d1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a656308-58b0-4c85-8062-04ccee44b053}" ma:internalName="TaxCatchAll" ma:showField="CatchAllData" ma:web="55fd9118-62da-44f2-ad5d-6ee26453d1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5fd9118-62da-44f2-ad5d-6ee26453d194" xsi:nil="true"/>
    <_ip_UnifiedCompliancePolicyProperties xmlns="http://schemas.microsoft.com/sharepoint/v3" xsi:nil="true"/>
    <lcf76f155ced4ddcb4097134ff3c332f xmlns="17d9841e-3b3a-4c82-8e4d-4f809d4d0b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B6055F8-C15A-4459-A572-DD31F2FCD5F1}"/>
</file>

<file path=customXml/itemProps2.xml><?xml version="1.0" encoding="utf-8"?>
<ds:datastoreItem xmlns:ds="http://schemas.openxmlformats.org/officeDocument/2006/customXml" ds:itemID="{0328CEBC-FE46-49BF-B471-986C2D0BB4F3}"/>
</file>

<file path=customXml/itemProps3.xml><?xml version="1.0" encoding="utf-8"?>
<ds:datastoreItem xmlns:ds="http://schemas.openxmlformats.org/officeDocument/2006/customXml" ds:itemID="{762FD7F9-C543-4821-8449-014F43014B87}"/>
</file>

<file path=docProps/app.xml><?xml version="1.0" encoding="utf-8"?>
<Properties xmlns="http://schemas.openxmlformats.org/officeDocument/2006/extended-properties" xmlns:vt="http://schemas.openxmlformats.org/officeDocument/2006/docPropsVTypes">
  <TotalTime>2429</TotalTime>
  <Words>24426</Words>
  <Application>Microsoft Office PowerPoint</Application>
  <PresentationFormat>Widescreen</PresentationFormat>
  <Paragraphs>2359</Paragraphs>
  <Slides>198</Slides>
  <Notes>167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198</vt:i4>
      </vt:variant>
    </vt:vector>
  </HeadingPairs>
  <TitlesOfParts>
    <vt:vector size="20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Rwanda Biomedical Centre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Cervical Cancer, Frontline HCP Module, English</dc:title>
  <dc:subject>PptxGenJS Presentation</dc:subject>
  <dc:creator>Rwanda Biomedical Centre</dc:creator>
  <cp:lastModifiedBy>Guarin, Diana</cp:lastModifiedBy>
  <cp:revision>159</cp:revision>
  <dcterms:created xsi:type="dcterms:W3CDTF">2026-09-03T03:25:47Z</dcterms:created>
  <dcterms:modified xsi:type="dcterms:W3CDTF">2026-09-30T19:32:16Z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1acc0d-dcc4-4dc9-a2c5-be70b05a2fe6_Enabled">
    <vt:lpwstr>true</vt:lpwstr>
  </property>
  <property fmtid="{D5CDD505-2E9C-101B-9397-08002B2CF9AE}" pid="3" name="MSIP_Label_e81acc0d-dcc4-4dc9-a2c5-be70b05a2fe6_SetDate">
    <vt:lpwstr>2026-09-30T19:31:37Z</vt:lpwstr>
  </property>
  <property fmtid="{D5CDD505-2E9C-101B-9397-08002B2CF9AE}" pid="4" name="MSIP_Label_e81acc0d-dcc4-4dc9-a2c5-be70b05a2fe6_Method">
    <vt:lpwstr>Privileged</vt:lpwstr>
  </property>
  <property fmtid="{D5CDD505-2E9C-101B-9397-08002B2CF9AE}" pid="5" name="MSIP_Label_e81acc0d-dcc4-4dc9-a2c5-be70b05a2fe6_Name">
    <vt:lpwstr>e81acc0d-dcc4-4dc9-a2c5-be70b05a2fe6</vt:lpwstr>
  </property>
  <property fmtid="{D5CDD505-2E9C-101B-9397-08002B2CF9AE}" pid="6" name="MSIP_Label_e81acc0d-dcc4-4dc9-a2c5-be70b05a2fe6_SiteId">
    <vt:lpwstr>a00de4ec-48a8-43a6-be74-e31274e2060d</vt:lpwstr>
  </property>
  <property fmtid="{D5CDD505-2E9C-101B-9397-08002B2CF9AE}" pid="7" name="MSIP_Label_e81acc0d-dcc4-4dc9-a2c5-be70b05a2fe6_ActionId">
    <vt:lpwstr>9cda4aa8-2362-45fc-8f5e-e6819718d06d</vt:lpwstr>
  </property>
  <property fmtid="{D5CDD505-2E9C-101B-9397-08002B2CF9AE}" pid="8" name="MSIP_Label_e81acc0d-dcc4-4dc9-a2c5-be70b05a2fe6_ContentBits">
    <vt:lpwstr>0</vt:lpwstr>
  </property>
  <property fmtid="{D5CDD505-2E9C-101B-9397-08002B2CF9AE}" pid="9" name="MSIP_Label_e81acc0d-dcc4-4dc9-a2c5-be70b05a2fe6_Tag">
    <vt:lpwstr>10, 0, 1, 1</vt:lpwstr>
  </property>
  <property fmtid="{D5CDD505-2E9C-101B-9397-08002B2CF9AE}" pid="10" name="ContentTypeId">
    <vt:lpwstr>0x0101007D61ECC46547A045896A1B75675AB43C</vt:lpwstr>
  </property>
</Properties>
</file>