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bleStyles.xml" ContentType="application/vnd.openxmlformats-officedocument.presentationml.tableStyl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slides/slide118.xml" ContentType="application/vnd.openxmlformats-officedocument.presentationml.slide+xml"/>
  <Override PartName="/ppt/slides/slide57.xml" ContentType="application/vnd.openxmlformats-officedocument.presentationml.slide+xml"/>
  <Override PartName="/ppt/slides/slide30.xml" ContentType="application/vnd.openxmlformats-officedocument.presentationml.slide+xml"/>
  <Override PartName="/ppt/slides/slide126.xml" ContentType="application/vnd.openxmlformats-officedocument.presentationml.slide+xml"/>
  <Override PartName="/ppt/slides/slide40.xml" ContentType="application/vnd.openxmlformats-officedocument.presentationml.slide+xml"/>
  <Override PartName="/ppt/slides/slide10.xml" ContentType="application/vnd.openxmlformats-officedocument.presentationml.slide+xml"/>
  <Override PartName="/ppt/slides/slide41.xml" ContentType="application/vnd.openxmlformats-officedocument.presentationml.slide+xml"/>
  <Override PartName="/ppt/slides/slide47.xml" ContentType="application/vnd.openxmlformats-officedocument.presentationml.slide+xml"/>
  <Override PartName="/ppt/slides/slide66.xml" ContentType="application/vnd.openxmlformats-officedocument.presentationml.slide+xml"/>
  <Override PartName="/ppt/slides/slide5.xml" ContentType="application/vnd.openxmlformats-officedocument.presentationml.slide+xml"/>
  <Override PartName="/ppt/slides/slide45.xml" ContentType="application/vnd.openxmlformats-officedocument.presentationml.slide+xml"/>
  <Override PartName="/ppt/slides/slide110.xml" ContentType="application/vnd.openxmlformats-officedocument.presentationml.slide+xml"/>
  <Override PartName="/ppt/slides/slide42.xml" ContentType="application/vnd.openxmlformats-officedocument.presentationml.slide+xml"/>
  <Override PartName="/ppt/slides/slide23.xml" ContentType="application/vnd.openxmlformats-officedocument.presentationml.slide+xml"/>
  <Override PartName="/ppt/slides/slide160.xml" ContentType="application/vnd.openxmlformats-officedocument.presentationml.slide+xml"/>
  <Override PartName="/ppt/slides/slide159.xml" ContentType="application/vnd.openxmlformats-officedocument.presentationml.slide+xml"/>
  <Override PartName="/ppt/slides/slide114.xml" ContentType="application/vnd.openxmlformats-officedocument.presentationml.slide+xml"/>
  <Override PartName="/ppt/slides/slide44.xml" ContentType="application/vnd.openxmlformats-officedocument.presentationml.slide+xml"/>
  <Override PartName="/ppt/slides/slide90.xml" ContentType="application/vnd.openxmlformats-officedocument.presentationml.slide+xml"/>
  <Override PartName="/ppt/slides/slide7.xml" ContentType="application/vnd.openxmlformats-officedocument.presentationml.slide+xml"/>
  <Override PartName="/ppt/slides/slide143.xml" ContentType="application/vnd.openxmlformats-officedocument.presentationml.slide+xml"/>
  <Override PartName="/ppt/slides/slide106.xml" ContentType="application/vnd.openxmlformats-officedocument.presentationml.slide+xml"/>
  <Override PartName="/ppt/slides/slide140.xml" ContentType="application/vnd.openxmlformats-officedocument.presentationml.slide+xml"/>
  <Override PartName="/ppt/slides/slide129.xml" ContentType="application/vnd.openxmlformats-officedocument.presentationml.slide+xml"/>
  <Override PartName="/ppt/slides/slide27.xml" ContentType="application/vnd.openxmlformats-officedocument.presentationml.slide+xml"/>
  <Override PartName="/ppt/slides/slide122.xml" ContentType="application/vnd.openxmlformats-officedocument.presentationml.slide+xml"/>
  <Override PartName="/ppt/slides/slide32.xml" ContentType="application/vnd.openxmlformats-officedocument.presentationml.slide+xml"/>
  <Override PartName="/ppt/slides/slide55.xml" ContentType="application/vnd.openxmlformats-officedocument.presentationml.slide+xml"/>
  <Override PartName="/ppt/slides/slide151.xml" ContentType="application/vnd.openxmlformats-officedocument.presentationml.slide+xml"/>
  <Override PartName="/ppt/slides/slide135.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53.xml" ContentType="application/vnd.openxmlformats-officedocument.presentationml.slide+xml"/>
  <Override PartName="/ppt/slides/slide76.xml" ContentType="application/vnd.openxmlformats-officedocument.presentationml.slide+xml"/>
  <Override PartName="/ppt/slides/slide6.xml" ContentType="application/vnd.openxmlformats-officedocument.presentationml.slide+xml"/>
  <Override PartName="/ppt/slides/slide74.xml" ContentType="application/vnd.openxmlformats-officedocument.presentationml.slide+xml"/>
  <Override PartName="/ppt/slides/slide141.xml" ContentType="application/vnd.openxmlformats-officedocument.presentationml.slide+xml"/>
  <Override PartName="/ppt/slides/slide96.xml" ContentType="application/vnd.openxmlformats-officedocument.presentationml.slide+xml"/>
  <Override PartName="/ppt/slides/slide61.xml" ContentType="application/vnd.openxmlformats-officedocument.presentationml.slide+xml"/>
  <Override PartName="/ppt/slides/slide12.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18.xml" ContentType="application/vnd.openxmlformats-officedocument.presentationml.slide+xml"/>
  <Override PartName="/ppt/slides/slide113.xml" ContentType="application/vnd.openxmlformats-officedocument.presentationml.slide+xml"/>
  <Override PartName="/ppt/slides/slide138.xml" ContentType="application/vnd.openxmlformats-officedocument.presentationml.slide+xml"/>
  <Override PartName="/ppt/slides/slide59.xml" ContentType="application/vnd.openxmlformats-officedocument.presentationml.slide+xml"/>
  <Override PartName="/ppt/slides/slide3.xml" ContentType="application/vnd.openxmlformats-officedocument.presentationml.slide+xml"/>
  <Override PartName="/ppt/slides/slide51.xml" ContentType="application/vnd.openxmlformats-officedocument.presentationml.slide+xml"/>
  <Override PartName="/ppt/slides/slide109.xml" ContentType="application/vnd.openxmlformats-officedocument.presentationml.slide+xml"/>
  <Override PartName="/ppt/slides/slide157.xml" ContentType="application/vnd.openxmlformats-officedocument.presentationml.slide+xml"/>
  <Override PartName="/ppt/slides/slide137.xml" ContentType="application/vnd.openxmlformats-officedocument.presentationml.slide+xml"/>
  <Override PartName="/ppt/slides/slide145.xml" ContentType="application/vnd.openxmlformats-officedocument.presentationml.slide+xml"/>
  <Override PartName="/ppt/slides/slide1.xml" ContentType="application/vnd.openxmlformats-officedocument.presentationml.slide+xml"/>
  <Override PartName="/ppt/slides/slide115.xml" ContentType="application/vnd.openxmlformats-officedocument.presentationml.slide+xml"/>
  <Override PartName="/ppt/slides/slide111.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34.xml" ContentType="application/vnd.openxmlformats-officedocument.presentationml.slide+xml"/>
  <Override PartName="/ppt/slides/slide124.xml" ContentType="application/vnd.openxmlformats-officedocument.presentationml.slide+xml"/>
  <Override PartName="/ppt/slides/slide156.xml" ContentType="application/vnd.openxmlformats-officedocument.presentationml.slide+xml"/>
  <Override PartName="/ppt/slides/slide54.xml" ContentType="application/vnd.openxmlformats-officedocument.presentationml.slide+xml"/>
  <Override PartName="/ppt/slides/slide14.xml" ContentType="application/vnd.openxmlformats-officedocument.presentationml.slide+xml"/>
  <Override PartName="/ppt/slides/slide56.xml" ContentType="application/vnd.openxmlformats-officedocument.presentationml.slide+xml"/>
  <Override PartName="/ppt/slides/slide73.xml" ContentType="application/vnd.openxmlformats-officedocument.presentationml.slide+xml"/>
  <Override PartName="/ppt/slides/slide86.xml" ContentType="application/vnd.openxmlformats-officedocument.presentationml.slide+xml"/>
  <Override PartName="/ppt/slides/slide154.xml" ContentType="application/vnd.openxmlformats-officedocument.presentationml.slide+xml"/>
  <Override PartName="/ppt/slides/slide38.xml" ContentType="application/vnd.openxmlformats-officedocument.presentationml.slide+xml"/>
  <Override PartName="/ppt/slides/slide99.xml" ContentType="application/vnd.openxmlformats-officedocument.presentationml.slide+xml"/>
  <Override PartName="/ppt/slides/slide15.xml" ContentType="application/vnd.openxmlformats-officedocument.presentationml.slide+xml"/>
  <Override PartName="/ppt/slides/slide70.xml" ContentType="application/vnd.openxmlformats-officedocument.presentationml.slide+xml"/>
  <Override PartName="/ppt/slides/slide155.xml" ContentType="application/vnd.openxmlformats-officedocument.presentationml.slide+xml"/>
  <Override PartName="/ppt/slides/slide116.xml" ContentType="application/vnd.openxmlformats-officedocument.presentationml.slide+xml"/>
  <Override PartName="/ppt/slides/slide13.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s/slide43.xml" ContentType="application/vnd.openxmlformats-officedocument.presentationml.slide+xml"/>
  <Override PartName="/ppt/slides/slide127.xml" ContentType="application/vnd.openxmlformats-officedocument.presentationml.slide+xml"/>
  <Override PartName="/ppt/slides/slide97.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161.xml" ContentType="application/vnd.openxmlformats-officedocument.presentationml.slide+xml"/>
  <Override PartName="/ppt/slides/slide89.xml" ContentType="application/vnd.openxmlformats-officedocument.presentationml.slide+xml"/>
  <Override PartName="/ppt/slides/slide37.xml" ContentType="application/vnd.openxmlformats-officedocument.presentationml.slide+xml"/>
  <Override PartName="/ppt/slides/slide78.xml" ContentType="application/vnd.openxmlformats-officedocument.presentationml.slide+xml"/>
  <Override PartName="/ppt/slides/slide64.xml" ContentType="application/vnd.openxmlformats-officedocument.presentationml.slide+xml"/>
  <Override PartName="/ppt/slides/slide19.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128.xml" ContentType="application/vnd.openxmlformats-officedocument.presentationml.slide+xml"/>
  <Override PartName="/ppt/slides/slide77.xml" ContentType="application/vnd.openxmlformats-officedocument.presentationml.slide+xml"/>
  <Override PartName="/ppt/slides/slide132.xml" ContentType="application/vnd.openxmlformats-officedocument.presentationml.slide+xml"/>
  <Override PartName="/ppt/slides/slide85.xml" ContentType="application/vnd.openxmlformats-officedocument.presentationml.slide+xml"/>
  <Override PartName="/ppt/slides/slide35.xml" ContentType="application/vnd.openxmlformats-officedocument.presentationml.slide+xml"/>
  <Override PartName="/ppt/slides/slide25.xml" ContentType="application/vnd.openxmlformats-officedocument.presentationml.slide+xml"/>
  <Override PartName="/ppt/slides/slide103.xml" ContentType="application/vnd.openxmlformats-officedocument.presentationml.slide+xml"/>
  <Override PartName="/ppt/slides/slide139.xml" ContentType="application/vnd.openxmlformats-officedocument.presentationml.slide+xml"/>
  <Override PartName="/ppt/slides/slide46.xml" ContentType="application/vnd.openxmlformats-officedocument.presentationml.slide+xml"/>
  <Override PartName="/ppt/slides/slide39.xml" ContentType="application/vnd.openxmlformats-officedocument.presentationml.slide+xml"/>
  <Override PartName="/ppt/slides/slide29.xml" ContentType="application/vnd.openxmlformats-officedocument.presentationml.slide+xml"/>
  <Override PartName="/ppt/slides/slide98.xml" ContentType="application/vnd.openxmlformats-officedocument.presentationml.slide+xml"/>
  <Override PartName="/ppt/slides/slide4.xml" ContentType="application/vnd.openxmlformats-officedocument.presentationml.slide+xml"/>
  <Override PartName="/ppt/slides/slide150.xml" ContentType="application/vnd.openxmlformats-officedocument.presentationml.slide+xml"/>
  <Override PartName="/ppt/slides/slide142.xml" ContentType="application/vnd.openxmlformats-officedocument.presentationml.slide+xml"/>
  <Override PartName="/ppt/slides/slide119.xml" ContentType="application/vnd.openxmlformats-officedocument.presentationml.slide+xml"/>
  <Override PartName="/ppt/slides/slide65.xml" ContentType="application/vnd.openxmlformats-officedocument.presentationml.slide+xml"/>
  <Override PartName="/ppt/slides/slide136.xml" ContentType="application/vnd.openxmlformats-officedocument.presentationml.slide+xml"/>
  <Override PartName="/ppt/slides/slide104.xml" ContentType="application/vnd.openxmlformats-officedocument.presentationml.slide+xml"/>
  <Override PartName="/ppt/slides/slide123.xml" ContentType="application/vnd.openxmlformats-officedocument.presentationml.slide+xml"/>
  <Override PartName="/ppt/slides/slide162.xml" ContentType="application/vnd.openxmlformats-officedocument.presentationml.slide+xml"/>
  <Override PartName="/ppt/slides/slide148.xml" ContentType="application/vnd.openxmlformats-officedocument.presentationml.slide+xml"/>
  <Override PartName="/ppt/slides/slide153.xml" ContentType="application/vnd.openxmlformats-officedocument.presentationml.slide+xml"/>
  <Override PartName="/ppt/slides/slide101.xml" ContentType="application/vnd.openxmlformats-officedocument.presentationml.slide+xml"/>
  <Override PartName="/ppt/slides/slide134.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72.xml" ContentType="application/vnd.openxmlformats-officedocument.presentationml.slide+xml"/>
  <Override PartName="/ppt/slides/slide152.xml" ContentType="application/vnd.openxmlformats-officedocument.presentationml.slide+xml"/>
  <Override PartName="/ppt/slides/slide130.xml" ContentType="application/vnd.openxmlformats-officedocument.presentationml.slide+xml"/>
  <Override PartName="/ppt/slides/slide21.xml" ContentType="application/vnd.openxmlformats-officedocument.presentationml.slide+xml"/>
  <Override PartName="/ppt/slides/slide94.xml" ContentType="application/vnd.openxmlformats-officedocument.presentationml.slide+xml"/>
  <Override PartName="/ppt/slides/slide20.xml" ContentType="application/vnd.openxmlformats-officedocument.presentationml.slide+xml"/>
  <Override PartName="/ppt/slides/slide120.xml" ContentType="application/vnd.openxmlformats-officedocument.presentationml.slide+xml"/>
  <Override PartName="/ppt/slides/slide100.xml" ContentType="application/vnd.openxmlformats-officedocument.presentationml.slide+xml"/>
  <Override PartName="/ppt/slides/slide9.xml" ContentType="application/vnd.openxmlformats-officedocument.presentationml.slide+xml"/>
  <Override PartName="/ppt/slides/slide82.xml" ContentType="application/vnd.openxmlformats-officedocument.presentationml.slide+xml"/>
  <Override PartName="/ppt/slides/slide84.xml" ContentType="application/vnd.openxmlformats-officedocument.presentationml.slide+xml"/>
  <Override PartName="/ppt/slides/slide87.xml" ContentType="application/vnd.openxmlformats-officedocument.presentationml.slide+xml"/>
  <Override PartName="/ppt/slides/slide149.xml" ContentType="application/vnd.openxmlformats-officedocument.presentationml.slide+xml"/>
  <Override PartName="/ppt/slides/slide117.xml" ContentType="application/vnd.openxmlformats-officedocument.presentationml.slide+xml"/>
  <Override PartName="/ppt/slides/slide11.xml" ContentType="application/vnd.openxmlformats-officedocument.presentationml.slide+xml"/>
  <Override PartName="/ppt/slides/slide62.xml" ContentType="application/vnd.openxmlformats-officedocument.presentationml.slide+xml"/>
  <Override PartName="/ppt/slides/slide50.xml" ContentType="application/vnd.openxmlformats-officedocument.presentationml.slide+xml"/>
  <Override PartName="/ppt/slides/slide146.xml" ContentType="application/vnd.openxmlformats-officedocument.presentationml.slide+xml"/>
  <Override PartName="/ppt/slides/slide131.xml" ContentType="application/vnd.openxmlformats-officedocument.presentationml.slide+xml"/>
  <Override PartName="/ppt/slides/slide49.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5.xml" ContentType="application/vnd.openxmlformats-officedocument.presentationml.slide+xml"/>
  <Override PartName="/ppt/slides/slide28.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83.xml" ContentType="application/vnd.openxmlformats-officedocument.presentationml.slide+xml"/>
  <Override PartName="/ppt/slides/slide112.xml" ContentType="application/vnd.openxmlformats-officedocument.presentationml.slide+xml"/>
  <Override PartName="/ppt/slides/slide36.xml" ContentType="application/vnd.openxmlformats-officedocument.presentationml.slide+xml"/>
  <Override PartName="/ppt/slides/slide26.xml" ContentType="application/vnd.openxmlformats-officedocument.presentationml.slide+xml"/>
  <Override PartName="/ppt/slides/slide60.xml" ContentType="application/vnd.openxmlformats-officedocument.presentationml.slide+xml"/>
  <Override PartName="/ppt/slides/slide107.xml" ContentType="application/vnd.openxmlformats-officedocument.presentationml.slide+xml"/>
  <Override PartName="/ppt/slides/slide144.xml" ContentType="application/vnd.openxmlformats-officedocument.presentationml.slide+xml"/>
  <Override PartName="/ppt/slides/slide102.xml" ContentType="application/vnd.openxmlformats-officedocument.presentationml.slide+xml"/>
  <Override PartName="/ppt/slides/slide88.xml" ContentType="application/vnd.openxmlformats-officedocument.presentationml.slide+xml"/>
  <Override PartName="/ppt/slides/slide91.xml" ContentType="application/vnd.openxmlformats-officedocument.presentationml.slide+xml"/>
  <Override PartName="/ppt/slides/slide71.xml" ContentType="application/vnd.openxmlformats-officedocument.presentationml.slide+xml"/>
  <Override PartName="/ppt/slides/slide121.xml" ContentType="application/vnd.openxmlformats-officedocument.presentationml.slide+xml"/>
  <Override PartName="/ppt/slides/slide125.xml" ContentType="application/vnd.openxmlformats-officedocument.presentationml.slide+xml"/>
  <Override PartName="/ppt/slides/slide79.xml" ContentType="application/vnd.openxmlformats-officedocument.presentationml.slide+xml"/>
  <Override PartName="/ppt/slides/slide48.xml" ContentType="application/vnd.openxmlformats-officedocument.presentationml.slide+xml"/>
  <Override PartName="/ppt/slides/slide75.xml" ContentType="application/vnd.openxmlformats-officedocument.presentationml.slide+xml"/>
  <Override PartName="/ppt/slides/slide105.xml" ContentType="application/vnd.openxmlformats-officedocument.presentationml.slide+xml"/>
  <Override PartName="/ppt/slides/slide108.xml" ContentType="application/vnd.openxmlformats-officedocument.presentationml.slide+xml"/>
  <Override PartName="/ppt/slides/slide133.xml" ContentType="application/vnd.openxmlformats-officedocument.presentationml.slide+xml"/>
  <Override PartName="/ppt/slides/slide52.xml" ContentType="application/vnd.openxmlformats-officedocument.presentationml.slide+xml"/>
  <Override PartName="/ppt/viewProps.xml" ContentType="application/vnd.openxmlformats-officedocument.presentationml.viewProps+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4"/>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420" r:id="rId28"/>
    <p:sldId id="283" r:id="rId29"/>
    <p:sldId id="284" r:id="rId30"/>
    <p:sldId id="286" r:id="rId31"/>
    <p:sldId id="287" r:id="rId32"/>
    <p:sldId id="288" r:id="rId33"/>
    <p:sldId id="290" r:id="rId34"/>
    <p:sldId id="291" r:id="rId35"/>
    <p:sldId id="418" r:id="rId36"/>
    <p:sldId id="292" r:id="rId37"/>
    <p:sldId id="293" r:id="rId38"/>
    <p:sldId id="294" r:id="rId39"/>
    <p:sldId id="295" r:id="rId40"/>
    <p:sldId id="41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421" r:id="rId58"/>
    <p:sldId id="313" r:id="rId59"/>
    <p:sldId id="314" r:id="rId60"/>
    <p:sldId id="315" r:id="rId61"/>
    <p:sldId id="419" r:id="rId62"/>
    <p:sldId id="422"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423" r:id="rId83"/>
    <p:sldId id="424" r:id="rId84"/>
    <p:sldId id="425" r:id="rId85"/>
    <p:sldId id="426" r:id="rId86"/>
    <p:sldId id="427"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417" r:id="rId110"/>
    <p:sldId id="359" r:id="rId111"/>
    <p:sldId id="360" r:id="rId112"/>
    <p:sldId id="361" r:id="rId113"/>
    <p:sldId id="428" r:id="rId114"/>
    <p:sldId id="362" r:id="rId115"/>
    <p:sldId id="363" r:id="rId116"/>
    <p:sldId id="365"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009"/>
    <p:restoredTop sz="94646"/>
  </p:normalViewPr>
  <p:slideViewPr>
    <p:cSldViewPr snapToGrid="0" snapToObjects="1">
      <p:cViewPr varScale="1">
        <p:scale>
          <a:sx n="94" d="100"/>
          <a:sy n="94" d="100"/>
        </p:scale>
        <p:origin x="48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customXml" Target="../customXml/item2.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customXml" Target="../customXml/item3.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notesMaster" Target="notesMasters/notesMaster1.xml"/><Relationship Id="rId16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r>
              <a:rPr lang="en-GB" sz="1200" b="0" dirty="0">
                <a:solidFill>
                  <a:srgbClr val="1A1A1A"/>
                </a:solidFill>
                <a:latin typeface="Calibri"/>
              </a:rPr>
              <a:t>Kanseri eshanu zikunze kwibasira abagore mu Rwanda, abarwayi bashya bagereranijwe, 2024</a:t>
            </a:r>
          </a:p>
        </c:rich>
      </c:tx>
      <c:overlay val="0"/>
    </c:title>
    <c:autoTitleDeleted val="0"/>
    <c:plotArea>
      <c:layout/>
      <c:barChart>
        <c:barDir val="bar"/>
        <c:grouping val="clustered"/>
        <c:varyColors val="1"/>
        <c:ser>
          <c:idx val="0"/>
          <c:order val="0"/>
          <c:tx>
            <c:strRef>
              <c:f>Sheet1!$B$1</c:f>
              <c:strCache>
                <c:ptCount val="1"/>
                <c:pt idx="0">
                  <c:v>Abarwayi bashya bagereranijwe</c:v>
                </c:pt>
              </c:strCache>
            </c:strRef>
          </c:tx>
          <c:invertIfNegative val="1"/>
          <c:dPt>
            <c:idx val="0"/>
            <c:invertIfNegative val="1"/>
            <c:bubble3D val="0"/>
            <c:spPr>
              <a:solidFill>
                <a:srgbClr val="6B81A6"/>
              </a:solidFill>
            </c:spPr>
            <c:extLst>
              <c:ext xmlns:c16="http://schemas.microsoft.com/office/drawing/2014/chart" uri="{C3380CC4-5D6E-409C-BE32-E72D297353CC}">
                <c16:uniqueId val="{00000001-71AC-1D4B-96CE-8A1E042B8987}"/>
              </c:ext>
            </c:extLst>
          </c:dPt>
          <c:dPt>
            <c:idx val="1"/>
            <c:invertIfNegative val="1"/>
            <c:bubble3D val="0"/>
            <c:spPr>
              <a:solidFill>
                <a:srgbClr val="6B81A6"/>
              </a:solidFill>
            </c:spPr>
            <c:extLst>
              <c:ext xmlns:c16="http://schemas.microsoft.com/office/drawing/2014/chart" uri="{C3380CC4-5D6E-409C-BE32-E72D297353CC}">
                <c16:uniqueId val="{00000003-71AC-1D4B-96CE-8A1E042B8987}"/>
              </c:ext>
            </c:extLst>
          </c:dPt>
          <c:dPt>
            <c:idx val="2"/>
            <c:invertIfNegative val="1"/>
            <c:bubble3D val="0"/>
            <c:spPr>
              <a:solidFill>
                <a:srgbClr val="6B81A6"/>
              </a:solidFill>
            </c:spPr>
            <c:extLst>
              <c:ext xmlns:c16="http://schemas.microsoft.com/office/drawing/2014/chart" uri="{C3380CC4-5D6E-409C-BE32-E72D297353CC}">
                <c16:uniqueId val="{00000005-71AC-1D4B-96CE-8A1E042B8987}"/>
              </c:ext>
            </c:extLst>
          </c:dPt>
          <c:dPt>
            <c:idx val="3"/>
            <c:invertIfNegative val="1"/>
            <c:bubble3D val="0"/>
            <c:spPr>
              <a:solidFill>
                <a:srgbClr val="B5510B"/>
              </a:solidFill>
            </c:spPr>
            <c:extLst>
              <c:ext xmlns:c16="http://schemas.microsoft.com/office/drawing/2014/chart" uri="{C3380CC4-5D6E-409C-BE32-E72D297353CC}">
                <c16:uniqueId val="{00000007-71AC-1D4B-96CE-8A1E042B8987}"/>
              </c:ext>
            </c:extLst>
          </c:dPt>
          <c:dPt>
            <c:idx val="4"/>
            <c:invertIfNegative val="1"/>
            <c:bubble3D val="0"/>
            <c:spPr>
              <a:solidFill>
                <a:srgbClr val="6B81A6"/>
              </a:solidFill>
            </c:spPr>
            <c:extLst>
              <c:ext xmlns:c16="http://schemas.microsoft.com/office/drawing/2014/chart" uri="{C3380CC4-5D6E-409C-BE32-E72D297353CC}">
                <c16:uniqueId val="{00000009-71AC-1D4B-96CE-8A1E042B8987}"/>
              </c:ext>
            </c:extLst>
          </c:dPt>
          <c:dLbls>
            <c:numFmt formatCode="#,##0" sourceLinked="0"/>
            <c:spPr>
              <a:noFill/>
              <a:ln>
                <a:noFill/>
              </a:ln>
              <a:effectLst/>
            </c:spPr>
            <c:txPr>
              <a:bodyPr/>
              <a:lstStyle/>
              <a:p>
                <a:pPr>
                  <a:defRPr sz="1100">
                    <a:solidFill>
                      <a:srgbClr val="1A1A1A"/>
                    </a:solidFill>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Umwijima</c:v>
                </c:pt>
                <c:pt idx="1">
                  <c:v>Igifu</c:v>
                </c:pt>
                <c:pt idx="2">
                  <c:v>Urura runini n'urura rwa nyuma</c:v>
                </c:pt>
                <c:pt idx="3">
                  <c:v>Inkondo y'umura</c:v>
                </c:pt>
                <c:pt idx="4">
                  <c:v>Ibere</c:v>
                </c:pt>
              </c:strCache>
            </c:strRef>
          </c:cat>
          <c:val>
            <c:numRef>
              <c:f>Sheet1!$B$2:$B$6</c:f>
              <c:numCache>
                <c:formatCode>General</c:formatCode>
                <c:ptCount val="5"/>
                <c:pt idx="0">
                  <c:v>362</c:v>
                </c:pt>
                <c:pt idx="1">
                  <c:v>502</c:v>
                </c:pt>
                <c:pt idx="2">
                  <c:v>503</c:v>
                </c:pt>
                <c:pt idx="3">
                  <c:v>1582</c:v>
                </c:pt>
                <c:pt idx="4">
                  <c:v>1684</c:v>
                </c:pt>
              </c:numCache>
            </c:numRef>
          </c:val>
          <c:extLst>
            <c:ext xmlns:c16="http://schemas.microsoft.com/office/drawing/2014/chart" uri="{C3380CC4-5D6E-409C-BE32-E72D297353CC}">
              <c16:uniqueId val="{0000000A-71AC-1D4B-96CE-8A1E042B8987}"/>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solidFill>
                  <a:srgbClr val="1A1A1A"/>
                </a:solidFill>
                <a:latin typeface="Calibri"/>
              </a:defRPr>
            </a:pPr>
            <a:endParaRPr lang="es-CO"/>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1100">
                <a:solidFill>
                  <a:srgbClr val="1A1A1A"/>
                </a:solidFill>
                <a:latin typeface="Calibri"/>
              </a:defRPr>
            </a:pPr>
            <a:endParaRPr lang="es-CO"/>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FF3E40-6989-8040-A790-F3D51805C4A0}" type="datetimeFigureOut">
              <a:rPr lang="es-CO" smtClean="0"/>
              <a:t>29/09/26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8C3392-323D-0B47-9CC3-53A88C417ABB}" type="slidenum">
              <a:rPr lang="es-CO" smtClean="0"/>
              <a:t>‹Nº›</a:t>
            </a:fld>
            <a:endParaRPr lang="es-CO"/>
          </a:p>
        </p:txBody>
      </p:sp>
    </p:spTree>
    <p:extLst>
      <p:ext uri="{BB962C8B-B14F-4D97-AF65-F5344CB8AC3E}">
        <p14:creationId xmlns:p14="http://schemas.microsoft.com/office/powerpoint/2010/main" val="2211146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1385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7.xml"/><Relationship Id="rId4" Type="http://schemas.openxmlformats.org/officeDocument/2006/relationships/image" Target="../media/image32.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7.xml"/><Relationship Id="rId4" Type="http://schemas.openxmlformats.org/officeDocument/2006/relationships/image" Target="../media/image35.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0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jp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E2F5C"/>
          </a:solidFill>
          <a:ln>
            <a:noFill/>
          </a:ln>
          <a:effectLst/>
        </p:spPr>
        <p:txBody>
          <a:bodyPr rtlCol="0" anchor="ctr"/>
          <a:lstStyle/>
          <a:p>
            <a:pPr algn="ctr"/>
            <a:endParaRPr lang="en-GB" dirty="0"/>
          </a:p>
        </p:txBody>
      </p:sp>
      <p:sp>
        <p:nvSpPr>
          <p:cNvPr id="3" name="Oval 2"/>
          <p:cNvSpPr/>
          <p:nvPr/>
        </p:nvSpPr>
        <p:spPr>
          <a:xfrm>
            <a:off x="8138160" y="-1005840"/>
            <a:ext cx="5669280" cy="5669280"/>
          </a:xfrm>
          <a:prstGeom prst="ellipse">
            <a:avLst/>
          </a:prstGeom>
          <a:solidFill>
            <a:srgbClr val="163C70"/>
          </a:solidFill>
          <a:ln>
            <a:noFill/>
          </a:ln>
          <a:effectLst/>
        </p:spPr>
        <p:txBody>
          <a:bodyPr rtlCol="0" anchor="ctr"/>
          <a:lstStyle/>
          <a:p>
            <a:pPr algn="ctr"/>
            <a:endParaRPr lang="en-GB" dirty="0"/>
          </a:p>
        </p:txBody>
      </p:sp>
      <p:sp>
        <p:nvSpPr>
          <p:cNvPr id="4" name="Oval 3"/>
          <p:cNvSpPr/>
          <p:nvPr/>
        </p:nvSpPr>
        <p:spPr>
          <a:xfrm>
            <a:off x="9509760" y="3108960"/>
            <a:ext cx="4206240" cy="4206240"/>
          </a:xfrm>
          <a:prstGeom prst="ellipse">
            <a:avLst/>
          </a:prstGeom>
          <a:solidFill>
            <a:srgbClr val="1B4780"/>
          </a:solidFill>
          <a:ln>
            <a:noFill/>
          </a:ln>
          <a:effectLst/>
        </p:spPr>
        <p:txBody>
          <a:bodyPr rtlCol="0" anchor="ctr"/>
          <a:lstStyle/>
          <a:p>
            <a:pPr algn="ctr"/>
            <a:endParaRPr lang="en-GB" dirty="0"/>
          </a:p>
        </p:txBody>
      </p:sp>
      <p:sp>
        <p:nvSpPr>
          <p:cNvPr id="5" name="TextBox 4"/>
          <p:cNvSpPr txBox="1"/>
          <p:nvPr/>
        </p:nvSpPr>
        <p:spPr>
          <a:xfrm>
            <a:off x="566928" y="1691640"/>
            <a:ext cx="7680960" cy="365760"/>
          </a:xfrm>
          <a:prstGeom prst="rect">
            <a:avLst/>
          </a:prstGeom>
          <a:noFill/>
        </p:spPr>
        <p:txBody>
          <a:bodyPr wrap="square" lIns="0" tIns="0" rIns="0" bIns="0">
            <a:spAutoFit/>
          </a:bodyPr>
          <a:lstStyle/>
          <a:p>
            <a:r>
              <a:rPr lang="en-GB" sz="1150" b="1" i="0" dirty="0">
                <a:solidFill>
                  <a:srgbClr val="B9CAE4"/>
                </a:solidFill>
                <a:latin typeface="Calibri"/>
              </a:rPr>
              <a:t>I S O M O   R Y ' U M U J Y A N A M A   W ' U B U Z I M A</a:t>
            </a:r>
          </a:p>
        </p:txBody>
      </p:sp>
      <p:sp>
        <p:nvSpPr>
          <p:cNvPr id="6" name="TextBox 5"/>
          <p:cNvSpPr txBox="1"/>
          <p:nvPr/>
        </p:nvSpPr>
        <p:spPr>
          <a:xfrm>
            <a:off x="566928" y="2148840"/>
            <a:ext cx="7863840" cy="1097280"/>
          </a:xfrm>
          <a:prstGeom prst="rect">
            <a:avLst/>
          </a:prstGeom>
          <a:noFill/>
        </p:spPr>
        <p:txBody>
          <a:bodyPr wrap="square" lIns="0" tIns="0" rIns="0" bIns="0">
            <a:spAutoFit/>
          </a:bodyPr>
          <a:lstStyle/>
          <a:p>
            <a:r>
              <a:rPr lang="en-GB" sz="3750" b="1" i="0" dirty="0">
                <a:solidFill>
                  <a:srgbClr val="FFFFFF"/>
                </a:solidFill>
                <a:latin typeface="Cambria"/>
              </a:rPr>
              <a:t>Kanseri y'inkondo y'umura</a:t>
            </a:r>
          </a:p>
        </p:txBody>
      </p:sp>
      <p:sp>
        <p:nvSpPr>
          <p:cNvPr id="7" name="TextBox 6"/>
          <p:cNvSpPr txBox="1"/>
          <p:nvPr/>
        </p:nvSpPr>
        <p:spPr>
          <a:xfrm>
            <a:off x="566928" y="3429000"/>
            <a:ext cx="7863840" cy="457200"/>
          </a:xfrm>
          <a:prstGeom prst="rect">
            <a:avLst/>
          </a:prstGeom>
          <a:noFill/>
        </p:spPr>
        <p:txBody>
          <a:bodyPr wrap="square" lIns="0" tIns="0" rIns="0" bIns="0">
            <a:spAutoFit/>
          </a:bodyPr>
          <a:lstStyle/>
          <a:p>
            <a:r>
              <a:rPr lang="en-GB" sz="1350" b="0" i="0" dirty="0">
                <a:solidFill>
                  <a:srgbClr val="B9CAE4"/>
                </a:solidFill>
                <a:latin typeface="Calibri"/>
              </a:rPr>
              <a:t>Kwirinda. Gushishikariza kwisuzumisha. Kumenya ibimenyetso. Kohereza. Gufasha.</a:t>
            </a:r>
          </a:p>
        </p:txBody>
      </p:sp>
      <p:sp>
        <p:nvSpPr>
          <p:cNvPr id="8" name="TextBox 7"/>
          <p:cNvSpPr txBox="1"/>
          <p:nvPr/>
        </p:nvSpPr>
        <p:spPr>
          <a:xfrm>
            <a:off x="566928" y="4846320"/>
            <a:ext cx="7863840" cy="822960"/>
          </a:xfrm>
          <a:prstGeom prst="rect">
            <a:avLst/>
          </a:prstGeom>
          <a:noFill/>
        </p:spPr>
        <p:txBody>
          <a:bodyPr wrap="square" lIns="0" tIns="0" rIns="0" bIns="0">
            <a:spAutoFit/>
          </a:bodyPr>
          <a:lstStyle/>
          <a:p>
            <a:pPr>
              <a:lnSpc>
                <a:spcPct val="130000"/>
              </a:lnSpc>
            </a:pPr>
            <a:r>
              <a:rPr lang="en-GB" sz="1600" b="1" i="0" dirty="0">
                <a:solidFill>
                  <a:srgbClr val="B9CAE4"/>
                </a:solidFill>
                <a:latin typeface="Calibri"/>
              </a:rPr>
              <a:t>Ikinyarwanda</a:t>
            </a:r>
          </a:p>
          <a:p>
            <a:pPr>
              <a:lnSpc>
                <a:spcPct val="130000"/>
              </a:lnSpc>
            </a:pPr>
            <a:r>
              <a:rPr lang="en-GB" sz="1600" b="0" i="0" dirty="0">
                <a:solidFill>
                  <a:srgbClr val="FFFFFF"/>
                </a:solidFill>
                <a:latin typeface="Calibri"/>
              </a:rPr>
              <a:t>Ikigo cy'Igihugu Gishinzwe Ubuzima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B I K U B I Y E   M U   I S O M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Ibikubiye muri iri somo</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Kanseri nyinshi z'inkondo y'umura zishobora gukumirwa mbere y'uko zitangira. Iri somo rikurikirana urugendo rwose, kuva ku kwirinda kugeza ku gufasha umurwayi.</a:t>
            </a:r>
          </a:p>
        </p:txBody>
      </p:sp>
      <p:sp>
        <p:nvSpPr>
          <p:cNvPr id="5" name="Rounded Rectangle 4"/>
          <p:cNvSpPr/>
          <p:nvPr/>
        </p:nvSpPr>
        <p:spPr>
          <a:xfrm>
            <a:off x="566928" y="2560319"/>
            <a:ext cx="1904384" cy="211894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640080" y="2761486"/>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1</a:t>
            </a:r>
          </a:p>
        </p:txBody>
      </p:sp>
      <p:sp>
        <p:nvSpPr>
          <p:cNvPr id="7" name="TextBox 6"/>
          <p:cNvSpPr txBox="1"/>
          <p:nvPr/>
        </p:nvSpPr>
        <p:spPr>
          <a:xfrm>
            <a:off x="713232" y="3474719"/>
            <a:ext cx="1611776" cy="603820"/>
          </a:xfrm>
          <a:prstGeom prst="rect">
            <a:avLst/>
          </a:prstGeom>
          <a:noFill/>
        </p:spPr>
        <p:txBody>
          <a:bodyPr wrap="square" lIns="0" tIns="0" rIns="0" bIns="0">
            <a:spAutoFit/>
          </a:bodyPr>
          <a:lstStyle/>
          <a:p>
            <a:pPr algn="ctr">
              <a:lnSpc>
                <a:spcPct val="112000"/>
              </a:lnSpc>
            </a:pPr>
            <a:r>
              <a:rPr lang="en-GB" sz="1150" b="0" i="0" dirty="0">
                <a:solidFill>
                  <a:srgbClr val="1A1A1A"/>
                </a:solidFill>
                <a:latin typeface="Calibri"/>
              </a:rPr>
              <a:t>Kwirinda kwandura hakoreshejwe urukingo rwa HPV</a:t>
            </a:r>
          </a:p>
        </p:txBody>
      </p:sp>
      <p:sp>
        <p:nvSpPr>
          <p:cNvPr id="8" name="Rounded Rectangle 7"/>
          <p:cNvSpPr/>
          <p:nvPr/>
        </p:nvSpPr>
        <p:spPr>
          <a:xfrm>
            <a:off x="2526176" y="3493007"/>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9" name="Rounded Rectangle 8"/>
          <p:cNvSpPr/>
          <p:nvPr/>
        </p:nvSpPr>
        <p:spPr>
          <a:xfrm>
            <a:off x="2855360" y="2560319"/>
            <a:ext cx="1904384" cy="211894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Oval 9"/>
          <p:cNvSpPr/>
          <p:nvPr/>
        </p:nvSpPr>
        <p:spPr>
          <a:xfrm>
            <a:off x="2984592" y="2798062"/>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2</a:t>
            </a:r>
          </a:p>
        </p:txBody>
      </p:sp>
      <p:sp>
        <p:nvSpPr>
          <p:cNvPr id="11" name="TextBox 10"/>
          <p:cNvSpPr txBox="1"/>
          <p:nvPr/>
        </p:nvSpPr>
        <p:spPr>
          <a:xfrm>
            <a:off x="3001664" y="3474719"/>
            <a:ext cx="1611776" cy="1051560"/>
          </a:xfrm>
          <a:prstGeom prst="rect">
            <a:avLst/>
          </a:prstGeom>
          <a:noFill/>
        </p:spPr>
        <p:txBody>
          <a:bodyPr wrap="square" lIns="0" tIns="0" rIns="0" bIns="0">
            <a:spAutoFit/>
          </a:bodyPr>
          <a:lstStyle/>
          <a:p>
            <a:pPr algn="ctr">
              <a:lnSpc>
                <a:spcPct val="112000"/>
              </a:lnSpc>
            </a:pPr>
            <a:r>
              <a:rPr lang="en-GB" sz="1800" b="0" i="0" dirty="0">
                <a:solidFill>
                  <a:srgbClr val="1A1A1A"/>
                </a:solidFill>
                <a:latin typeface="Calibri"/>
              </a:rPr>
              <a:t>Gushishikariza abagore kwisuzumisha</a:t>
            </a:r>
          </a:p>
        </p:txBody>
      </p:sp>
      <p:sp>
        <p:nvSpPr>
          <p:cNvPr id="12" name="Rounded Rectangle 11"/>
          <p:cNvSpPr/>
          <p:nvPr/>
        </p:nvSpPr>
        <p:spPr>
          <a:xfrm>
            <a:off x="4814608" y="3493007"/>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13" name="Rounded Rectangle 12"/>
          <p:cNvSpPr/>
          <p:nvPr/>
        </p:nvSpPr>
        <p:spPr>
          <a:xfrm>
            <a:off x="5143792" y="2560319"/>
            <a:ext cx="1904384" cy="211894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Oval 13"/>
          <p:cNvSpPr/>
          <p:nvPr/>
        </p:nvSpPr>
        <p:spPr>
          <a:xfrm>
            <a:off x="5282168" y="2798062"/>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3</a:t>
            </a:r>
          </a:p>
        </p:txBody>
      </p:sp>
      <p:sp>
        <p:nvSpPr>
          <p:cNvPr id="15" name="TextBox 14"/>
          <p:cNvSpPr txBox="1"/>
          <p:nvPr/>
        </p:nvSpPr>
        <p:spPr>
          <a:xfrm>
            <a:off x="5290096" y="3474719"/>
            <a:ext cx="1611776" cy="1051560"/>
          </a:xfrm>
          <a:prstGeom prst="rect">
            <a:avLst/>
          </a:prstGeom>
          <a:noFill/>
        </p:spPr>
        <p:txBody>
          <a:bodyPr wrap="square" lIns="0" tIns="0" rIns="0" bIns="0">
            <a:spAutoFit/>
          </a:bodyPr>
          <a:lstStyle/>
          <a:p>
            <a:pPr algn="ctr">
              <a:lnSpc>
                <a:spcPct val="112000"/>
              </a:lnSpc>
            </a:pPr>
            <a:r>
              <a:rPr lang="en-GB" sz="1350" b="0" i="0" dirty="0">
                <a:solidFill>
                  <a:srgbClr val="1A1A1A"/>
                </a:solidFill>
                <a:latin typeface="Calibri"/>
              </a:rPr>
              <a:t>Kuvura hakiri kare impinduka zo ku nkondo y'umura</a:t>
            </a:r>
          </a:p>
        </p:txBody>
      </p:sp>
      <p:sp>
        <p:nvSpPr>
          <p:cNvPr id="16" name="Rounded Rectangle 15"/>
          <p:cNvSpPr/>
          <p:nvPr/>
        </p:nvSpPr>
        <p:spPr>
          <a:xfrm>
            <a:off x="7103040" y="3493007"/>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17" name="Rounded Rectangle 16"/>
          <p:cNvSpPr/>
          <p:nvPr/>
        </p:nvSpPr>
        <p:spPr>
          <a:xfrm>
            <a:off x="7432223" y="2560319"/>
            <a:ext cx="1959249" cy="21189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8" name="Oval 17"/>
          <p:cNvSpPr/>
          <p:nvPr/>
        </p:nvSpPr>
        <p:spPr>
          <a:xfrm>
            <a:off x="7568752" y="2743198"/>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4</a:t>
            </a:r>
          </a:p>
        </p:txBody>
      </p:sp>
      <p:sp>
        <p:nvSpPr>
          <p:cNvPr id="19" name="TextBox 18"/>
          <p:cNvSpPr txBox="1"/>
          <p:nvPr/>
        </p:nvSpPr>
        <p:spPr>
          <a:xfrm>
            <a:off x="7578528" y="3474719"/>
            <a:ext cx="1611776" cy="1051560"/>
          </a:xfrm>
          <a:prstGeom prst="rect">
            <a:avLst/>
          </a:prstGeom>
          <a:noFill/>
        </p:spPr>
        <p:txBody>
          <a:bodyPr wrap="square" lIns="0" tIns="0" rIns="0" bIns="0">
            <a:spAutoFit/>
          </a:bodyPr>
          <a:lstStyle/>
          <a:p>
            <a:pPr algn="ctr">
              <a:lnSpc>
                <a:spcPct val="112000"/>
              </a:lnSpc>
            </a:pPr>
            <a:r>
              <a:rPr lang="en-GB" sz="1050" b="0" i="0" dirty="0">
                <a:solidFill>
                  <a:srgbClr val="1A1A1A"/>
                </a:solidFill>
                <a:latin typeface="Calibri"/>
              </a:rPr>
              <a:t>Kumenya ibimenyetso mpuruza no kohereza umurwayi ku ivuriro</a:t>
            </a:r>
          </a:p>
        </p:txBody>
      </p:sp>
      <p:sp>
        <p:nvSpPr>
          <p:cNvPr id="20" name="Rounded Rectangle 19"/>
          <p:cNvSpPr/>
          <p:nvPr/>
        </p:nvSpPr>
        <p:spPr>
          <a:xfrm>
            <a:off x="9391473" y="3493007"/>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21" name="Rounded Rectangle 20"/>
          <p:cNvSpPr/>
          <p:nvPr/>
        </p:nvSpPr>
        <p:spPr>
          <a:xfrm>
            <a:off x="9720657" y="2560319"/>
            <a:ext cx="1904384" cy="203143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22" name="Oval 21"/>
          <p:cNvSpPr/>
          <p:nvPr/>
        </p:nvSpPr>
        <p:spPr>
          <a:xfrm>
            <a:off x="9787108" y="2779775"/>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5</a:t>
            </a:r>
          </a:p>
        </p:txBody>
      </p:sp>
      <p:sp>
        <p:nvSpPr>
          <p:cNvPr id="23" name="TextBox 22"/>
          <p:cNvSpPr txBox="1"/>
          <p:nvPr/>
        </p:nvSpPr>
        <p:spPr>
          <a:xfrm>
            <a:off x="9786466" y="3399778"/>
            <a:ext cx="1611776" cy="1051560"/>
          </a:xfrm>
          <a:prstGeom prst="rect">
            <a:avLst/>
          </a:prstGeom>
          <a:noFill/>
        </p:spPr>
        <p:txBody>
          <a:bodyPr wrap="square" lIns="0" tIns="0" rIns="0" bIns="0">
            <a:spAutoFit/>
          </a:bodyPr>
          <a:lstStyle/>
          <a:p>
            <a:pPr algn="ctr">
              <a:lnSpc>
                <a:spcPct val="112000"/>
              </a:lnSpc>
            </a:pPr>
            <a:r>
              <a:rPr lang="en-GB" sz="1150" b="0" i="0" dirty="0">
                <a:solidFill>
                  <a:srgbClr val="1A1A1A"/>
                </a:solidFill>
                <a:latin typeface="Calibri"/>
              </a:rPr>
              <a:t>Gufasha mu buvuzi no gukurikirana umurwayi</a:t>
            </a:r>
          </a:p>
        </p:txBody>
      </p:sp>
      <p:sp>
        <p:nvSpPr>
          <p:cNvPr id="24" name="Rounded Rectangle 23"/>
          <p:cNvSpPr/>
          <p:nvPr/>
        </p:nvSpPr>
        <p:spPr>
          <a:xfrm>
            <a:off x="566928" y="5376671"/>
            <a:ext cx="11058113" cy="932688"/>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25" name="TextBox 24"/>
          <p:cNvSpPr txBox="1"/>
          <p:nvPr/>
        </p:nvSpPr>
        <p:spPr>
          <a:xfrm>
            <a:off x="743096" y="5568696"/>
            <a:ext cx="10582625" cy="658368"/>
          </a:xfrm>
          <a:prstGeom prst="rect">
            <a:avLst/>
          </a:prstGeom>
          <a:noFill/>
        </p:spPr>
        <p:txBody>
          <a:bodyPr wrap="square" lIns="0" tIns="0" rIns="0" bIns="0">
            <a:spAutoFit/>
          </a:bodyPr>
          <a:lstStyle/>
          <a:p>
            <a:pPr>
              <a:lnSpc>
                <a:spcPct val="112000"/>
              </a:lnSpc>
            </a:pPr>
            <a:r>
              <a:rPr lang="en-GB" sz="1800" b="1" i="0" dirty="0">
                <a:solidFill>
                  <a:srgbClr val="1C6B3F"/>
                </a:solidFill>
                <a:latin typeface="Calibri"/>
              </a:rPr>
              <a:t>📌 Igitekerezo cy'ingenzi:  </a:t>
            </a:r>
            <a:r>
              <a:rPr lang="en-GB" sz="1800" b="0" i="0" dirty="0">
                <a:solidFill>
                  <a:srgbClr val="1A1A1A"/>
                </a:solidFill>
                <a:latin typeface="Calibri"/>
              </a:rPr>
              <a:t>Kanseri y'inkondo y'umura iririndwa. Urukingo rurinda kwandura, naho kwisuzumisha bigaragaza impinduka zishobora kuvurwa mbere y'uko ziba kanseri.</a:t>
            </a:r>
          </a:p>
        </p:txBody>
      </p:sp>
      <p:sp>
        <p:nvSpPr>
          <p:cNvPr id="26" name="TextBox 2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7" name="TextBox 2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2</a:t>
            </a:r>
          </a:p>
        </p:txBody>
      </p:sp>
      <p:sp>
        <p:nvSpPr>
          <p:cNvPr id="36" name="TextBox 35">
            <a:extLst>
              <a:ext uri="{FF2B5EF4-FFF2-40B4-BE49-F238E27FC236}">
                <a16:creationId xmlns:a16="http://schemas.microsoft.com/office/drawing/2014/main" id="{B985ACE1-1377-971F-1B47-BAB7C93850A1}"/>
              </a:ext>
            </a:extLst>
          </p:cNvPr>
          <p:cNvSpPr txBox="1"/>
          <p:nvPr/>
        </p:nvSpPr>
        <p:spPr>
          <a:xfrm>
            <a:off x="951873" y="2851428"/>
            <a:ext cx="1499617" cy="293607"/>
          </a:xfrm>
          <a:prstGeom prst="rect">
            <a:avLst/>
          </a:prstGeom>
          <a:noFill/>
        </p:spPr>
        <p:txBody>
          <a:bodyPr wrap="square" lIns="0" tIns="0" rIns="0" bIns="0">
            <a:spAutoFit/>
          </a:bodyPr>
          <a:lstStyle/>
          <a:p>
            <a:pPr algn="ctr">
              <a:lnSpc>
                <a:spcPct val="112000"/>
              </a:lnSpc>
            </a:pPr>
            <a:r>
              <a:rPr lang="en-GB" sz="1800" b="1" i="0" dirty="0">
                <a:solidFill>
                  <a:srgbClr val="1A1A1A"/>
                </a:solidFill>
                <a:latin typeface="Calibri"/>
              </a:rPr>
              <a:t>Kwirinda</a:t>
            </a:r>
          </a:p>
        </p:txBody>
      </p:sp>
      <p:sp>
        <p:nvSpPr>
          <p:cNvPr id="38" name="TextBox 37">
            <a:extLst>
              <a:ext uri="{FF2B5EF4-FFF2-40B4-BE49-F238E27FC236}">
                <a16:creationId xmlns:a16="http://schemas.microsoft.com/office/drawing/2014/main" id="{BE63B18A-1090-DF67-50A6-49A5E63ECA91}"/>
              </a:ext>
            </a:extLst>
          </p:cNvPr>
          <p:cNvSpPr txBox="1"/>
          <p:nvPr/>
        </p:nvSpPr>
        <p:spPr>
          <a:xfrm>
            <a:off x="7649216" y="2814851"/>
            <a:ext cx="1499617" cy="293607"/>
          </a:xfrm>
          <a:prstGeom prst="rect">
            <a:avLst/>
          </a:prstGeom>
          <a:noFill/>
        </p:spPr>
        <p:txBody>
          <a:bodyPr wrap="square" lIns="0" tIns="0" rIns="0" bIns="0">
            <a:spAutoFit/>
          </a:bodyPr>
          <a:lstStyle/>
          <a:p>
            <a:pPr algn="ctr">
              <a:lnSpc>
                <a:spcPct val="112000"/>
              </a:lnSpc>
            </a:pPr>
            <a:r>
              <a:rPr lang="en-GB" sz="1050" b="1" i="0" dirty="0">
                <a:solidFill>
                  <a:srgbClr val="1A1A1A"/>
                </a:solidFill>
                <a:latin typeface="Calibri"/>
              </a:rPr>
              <a:t>Kohereza</a:t>
            </a:r>
          </a:p>
        </p:txBody>
      </p:sp>
      <p:sp>
        <p:nvSpPr>
          <p:cNvPr id="40" name="TextBox 39">
            <a:extLst>
              <a:ext uri="{FF2B5EF4-FFF2-40B4-BE49-F238E27FC236}">
                <a16:creationId xmlns:a16="http://schemas.microsoft.com/office/drawing/2014/main" id="{D85F4E90-62CB-8EE4-BB64-0D5112D373D5}"/>
              </a:ext>
            </a:extLst>
          </p:cNvPr>
          <p:cNvSpPr txBox="1"/>
          <p:nvPr/>
        </p:nvSpPr>
        <p:spPr>
          <a:xfrm>
            <a:off x="5519912" y="2743198"/>
            <a:ext cx="1499617" cy="603820"/>
          </a:xfrm>
          <a:prstGeom prst="rect">
            <a:avLst/>
          </a:prstGeom>
          <a:noFill/>
        </p:spPr>
        <p:txBody>
          <a:bodyPr wrap="square" lIns="0" tIns="0" rIns="0" bIns="0">
            <a:spAutoFit/>
          </a:bodyPr>
          <a:lstStyle/>
          <a:p>
            <a:pPr algn="ctr">
              <a:lnSpc>
                <a:spcPct val="112000"/>
              </a:lnSpc>
            </a:pPr>
            <a:r>
              <a:rPr lang="en-GB" sz="1250" b="1" i="0" dirty="0">
                <a:solidFill>
                  <a:srgbClr val="1A1A1A"/>
                </a:solidFill>
                <a:latin typeface="Calibri"/>
              </a:rPr>
              <a:t>Kuvurwa </a:t>
            </a:r>
          </a:p>
          <a:p>
            <a:pPr algn="ctr">
              <a:lnSpc>
                <a:spcPct val="112000"/>
              </a:lnSpc>
            </a:pPr>
            <a:r>
              <a:rPr lang="en-GB" sz="1250" b="1" i="0" dirty="0">
                <a:solidFill>
                  <a:srgbClr val="1A1A1A"/>
                </a:solidFill>
                <a:latin typeface="Calibri"/>
              </a:rPr>
              <a:t>hakiri kare</a:t>
            </a:r>
          </a:p>
        </p:txBody>
      </p:sp>
      <p:sp>
        <p:nvSpPr>
          <p:cNvPr id="42" name="TextBox 41">
            <a:extLst>
              <a:ext uri="{FF2B5EF4-FFF2-40B4-BE49-F238E27FC236}">
                <a16:creationId xmlns:a16="http://schemas.microsoft.com/office/drawing/2014/main" id="{9080F596-8F5D-2F5C-6946-7D9F5A79A99B}"/>
              </a:ext>
            </a:extLst>
          </p:cNvPr>
          <p:cNvSpPr txBox="1"/>
          <p:nvPr/>
        </p:nvSpPr>
        <p:spPr>
          <a:xfrm>
            <a:off x="3270486" y="2826962"/>
            <a:ext cx="1499617" cy="293607"/>
          </a:xfrm>
          <a:prstGeom prst="rect">
            <a:avLst/>
          </a:prstGeom>
          <a:noFill/>
        </p:spPr>
        <p:txBody>
          <a:bodyPr wrap="square" lIns="0" tIns="0" rIns="0" bIns="0">
            <a:spAutoFit/>
          </a:bodyPr>
          <a:lstStyle/>
          <a:p>
            <a:pPr algn="ctr">
              <a:lnSpc>
                <a:spcPct val="112000"/>
              </a:lnSpc>
            </a:pPr>
            <a:r>
              <a:rPr lang="en-GB" sz="1200" b="1" i="0" dirty="0">
                <a:solidFill>
                  <a:srgbClr val="1A1A1A"/>
                </a:solidFill>
                <a:latin typeface="Calibri"/>
              </a:rPr>
              <a:t>Kwisuzumisha</a:t>
            </a:r>
          </a:p>
        </p:txBody>
      </p:sp>
      <p:sp>
        <p:nvSpPr>
          <p:cNvPr id="44" name="TextBox 43">
            <a:extLst>
              <a:ext uri="{FF2B5EF4-FFF2-40B4-BE49-F238E27FC236}">
                <a16:creationId xmlns:a16="http://schemas.microsoft.com/office/drawing/2014/main" id="{6DDE2A66-5D51-A11C-B9C3-F4B25217A383}"/>
              </a:ext>
            </a:extLst>
          </p:cNvPr>
          <p:cNvSpPr txBox="1"/>
          <p:nvPr/>
        </p:nvSpPr>
        <p:spPr>
          <a:xfrm>
            <a:off x="10125424" y="2851429"/>
            <a:ext cx="1499617" cy="293607"/>
          </a:xfrm>
          <a:prstGeom prst="rect">
            <a:avLst/>
          </a:prstGeom>
          <a:noFill/>
        </p:spPr>
        <p:txBody>
          <a:bodyPr wrap="square" lIns="0" tIns="0" rIns="0" bIns="0">
            <a:spAutoFit/>
          </a:bodyPr>
          <a:lstStyle/>
          <a:p>
            <a:pPr algn="ctr">
              <a:lnSpc>
                <a:spcPct val="112000"/>
              </a:lnSpc>
            </a:pPr>
            <a:r>
              <a:rPr lang="en-GB" sz="1200" b="1" i="0" dirty="0">
                <a:solidFill>
                  <a:srgbClr val="1A1A1A"/>
                </a:solidFill>
                <a:latin typeface="Calibri"/>
              </a:rPr>
              <a:t>Gukurikirana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B I K U B I Y E   M U   I S O M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Uko isomo riteguye</a:t>
            </a:r>
          </a:p>
        </p:txBody>
      </p:sp>
      <p:sp>
        <p:nvSpPr>
          <p:cNvPr id="4" name="Rounded Rectangle 3"/>
          <p:cNvSpPr/>
          <p:nvPr/>
        </p:nvSpPr>
        <p:spPr>
          <a:xfrm>
            <a:off x="566928" y="1554480"/>
            <a:ext cx="11058113" cy="63245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1526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486155"/>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Isuzuma ry'ibanze.  </a:t>
            </a:r>
            <a:r>
              <a:rPr lang="en-GB" sz="1800" b="0" i="0" dirty="0">
                <a:solidFill>
                  <a:srgbClr val="1A1A1A"/>
                </a:solidFill>
                <a:latin typeface="Calibri"/>
              </a:rPr>
              <a:t>Ibibazo makumyabiri bigamije kumenya ibyo usanzwe uzi.</a:t>
            </a:r>
          </a:p>
        </p:txBody>
      </p:sp>
      <p:sp>
        <p:nvSpPr>
          <p:cNvPr id="7" name="Rounded Rectangle 6"/>
          <p:cNvSpPr/>
          <p:nvPr/>
        </p:nvSpPr>
        <p:spPr>
          <a:xfrm>
            <a:off x="566928" y="2314955"/>
            <a:ext cx="11058113" cy="63245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475737"/>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406395"/>
            <a:ext cx="9960833" cy="486155"/>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Igice cya 1.  </a:t>
            </a:r>
            <a:r>
              <a:rPr lang="en-GB" sz="1800" b="0" i="0" dirty="0">
                <a:solidFill>
                  <a:srgbClr val="1A1A1A"/>
                </a:solidFill>
                <a:latin typeface="Calibri"/>
              </a:rPr>
              <a:t>Kanseri y'inkondo y'umura icyo ari cyo, aho itangirira, n'uko ikunze kugaragara mu Rwanda.</a:t>
            </a:r>
          </a:p>
        </p:txBody>
      </p:sp>
      <p:sp>
        <p:nvSpPr>
          <p:cNvPr id="10" name="Rounded Rectangle 9"/>
          <p:cNvSpPr/>
          <p:nvPr/>
        </p:nvSpPr>
        <p:spPr>
          <a:xfrm>
            <a:off x="566928" y="3075432"/>
            <a:ext cx="11058113" cy="63245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23621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166872"/>
            <a:ext cx="9960833" cy="486155"/>
          </a:xfrm>
          <a:prstGeom prst="rect">
            <a:avLst/>
          </a:prstGeom>
          <a:noFill/>
        </p:spPr>
        <p:txBody>
          <a:bodyPr wrap="square" lIns="0" tIns="0" rIns="0" bIns="0" anchor="ctr">
            <a:spAutoFit/>
          </a:bodyPr>
          <a:lstStyle/>
          <a:p>
            <a:pPr>
              <a:lnSpc>
                <a:spcPct val="110000"/>
              </a:lnSpc>
            </a:pPr>
            <a:r>
              <a:rPr lang="en-GB" sz="1650" b="1" i="0" dirty="0">
                <a:solidFill>
                  <a:srgbClr val="10305A"/>
                </a:solidFill>
                <a:latin typeface="Calibri"/>
              </a:rPr>
              <a:t>Igice cya 2.  </a:t>
            </a:r>
            <a:r>
              <a:rPr lang="en-GB" sz="1650" b="0" i="0" dirty="0">
                <a:solidFill>
                  <a:srgbClr val="1A1A1A"/>
                </a:solidFill>
                <a:latin typeface="Calibri"/>
              </a:rPr>
              <a:t>Kwirinda, gukingira, kwisuzumisha, ibimenyetso n'ibimenyetso mpuruza.</a:t>
            </a:r>
          </a:p>
        </p:txBody>
      </p:sp>
      <p:sp>
        <p:nvSpPr>
          <p:cNvPr id="13" name="Rounded Rectangle 12"/>
          <p:cNvSpPr/>
          <p:nvPr/>
        </p:nvSpPr>
        <p:spPr>
          <a:xfrm>
            <a:off x="566928" y="3835907"/>
            <a:ext cx="11058113" cy="63245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3996689"/>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3927347"/>
            <a:ext cx="9960833" cy="486155"/>
          </a:xfrm>
          <a:prstGeom prst="rect">
            <a:avLst/>
          </a:prstGeom>
          <a:noFill/>
        </p:spPr>
        <p:txBody>
          <a:bodyPr wrap="square" lIns="0" tIns="0" rIns="0" bIns="0" anchor="ctr">
            <a:spAutoFit/>
          </a:bodyPr>
          <a:lstStyle/>
          <a:p>
            <a:pPr>
              <a:lnSpc>
                <a:spcPct val="110000"/>
              </a:lnSpc>
            </a:pPr>
            <a:r>
              <a:rPr lang="en-GB" sz="1650" b="1" i="0" dirty="0">
                <a:solidFill>
                  <a:srgbClr val="10305A"/>
                </a:solidFill>
                <a:latin typeface="Calibri"/>
              </a:rPr>
              <a:t>Igice cya 3.  </a:t>
            </a:r>
            <a:r>
              <a:rPr lang="en-GB" sz="1650" b="0" i="0" dirty="0">
                <a:solidFill>
                  <a:srgbClr val="1A1A1A"/>
                </a:solidFill>
                <a:latin typeface="Calibri"/>
              </a:rPr>
              <a:t>Kohereza umurwayi, kuganira n'abantu, no kugabanya ubwoba n'ipfunwe.</a:t>
            </a:r>
          </a:p>
        </p:txBody>
      </p:sp>
      <p:sp>
        <p:nvSpPr>
          <p:cNvPr id="16" name="Rounded Rectangle 15"/>
          <p:cNvSpPr/>
          <p:nvPr/>
        </p:nvSpPr>
        <p:spPr>
          <a:xfrm>
            <a:off x="566928" y="4596384"/>
            <a:ext cx="11058113" cy="63245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TextBox 16"/>
          <p:cNvSpPr txBox="1"/>
          <p:nvPr/>
        </p:nvSpPr>
        <p:spPr>
          <a:xfrm>
            <a:off x="822960" y="475716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8" name="TextBox 17"/>
          <p:cNvSpPr txBox="1"/>
          <p:nvPr/>
        </p:nvSpPr>
        <p:spPr>
          <a:xfrm>
            <a:off x="1389888" y="4687823"/>
            <a:ext cx="9960833" cy="486155"/>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Igice cya 4.  </a:t>
            </a:r>
            <a:r>
              <a:rPr lang="en-GB" sz="1800" b="0" i="0" dirty="0">
                <a:solidFill>
                  <a:srgbClr val="1A1A1A"/>
                </a:solidFill>
                <a:latin typeface="Calibri"/>
              </a:rPr>
              <a:t>Uko kanseri yemezwa n'uko ivurwa.</a:t>
            </a:r>
          </a:p>
        </p:txBody>
      </p:sp>
      <p:sp>
        <p:nvSpPr>
          <p:cNvPr id="19" name="Rounded Rectangle 18"/>
          <p:cNvSpPr/>
          <p:nvPr/>
        </p:nvSpPr>
        <p:spPr>
          <a:xfrm>
            <a:off x="566928" y="5356860"/>
            <a:ext cx="11058113" cy="63245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20" name="TextBox 19"/>
          <p:cNvSpPr txBox="1"/>
          <p:nvPr/>
        </p:nvSpPr>
        <p:spPr>
          <a:xfrm>
            <a:off x="822960" y="551764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21" name="TextBox 20"/>
          <p:cNvSpPr txBox="1"/>
          <p:nvPr/>
        </p:nvSpPr>
        <p:spPr>
          <a:xfrm>
            <a:off x="1389888" y="5448300"/>
            <a:ext cx="9960833" cy="486155"/>
          </a:xfrm>
          <a:prstGeom prst="rect">
            <a:avLst/>
          </a:prstGeom>
          <a:noFill/>
        </p:spPr>
        <p:txBody>
          <a:bodyPr wrap="square" lIns="0" tIns="0" rIns="0" bIns="0" anchor="ctr">
            <a:spAutoFit/>
          </a:bodyPr>
          <a:lstStyle/>
          <a:p>
            <a:pPr>
              <a:lnSpc>
                <a:spcPct val="110000"/>
              </a:lnSpc>
            </a:pPr>
            <a:r>
              <a:rPr lang="en-GB" sz="1450" b="1" i="0" dirty="0">
                <a:solidFill>
                  <a:srgbClr val="10305A"/>
                </a:solidFill>
                <a:latin typeface="Calibri"/>
              </a:rPr>
              <a:t>Igice cya 5.  </a:t>
            </a:r>
            <a:r>
              <a:rPr lang="en-GB" sz="1450" b="0" i="0" dirty="0">
                <a:solidFill>
                  <a:srgbClr val="1A1A1A"/>
                </a:solidFill>
                <a:latin typeface="Calibri"/>
              </a:rPr>
              <a:t>Ingaruka z'imiti, guhumuriza umurwayi, imibereho myiza n'ubufasha bw'umuryango.</a:t>
            </a:r>
          </a:p>
        </p:txBody>
      </p:sp>
      <p:sp>
        <p:nvSpPr>
          <p:cNvPr id="22" name="TextBox 2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3" name="TextBox 2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B I K U B I Y E   M U   I S O M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Intego z'iri somo</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Mu mpera z'iri somo, uzaba ushobora:</a:t>
            </a:r>
          </a:p>
        </p:txBody>
      </p:sp>
      <p:sp>
        <p:nvSpPr>
          <p:cNvPr id="5" name="Rounded Rectangle 4"/>
          <p:cNvSpPr/>
          <p:nvPr/>
        </p:nvSpPr>
        <p:spPr>
          <a:xfrm>
            <a:off x="566928" y="2029968"/>
            <a:ext cx="11058113" cy="55321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123694"/>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121408"/>
            <a:ext cx="9960833" cy="406907"/>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Gusobanura mu magambo yoroheje kanseri y'inkondo y'umura icyo ari cyo n'aho itangirira.</a:t>
            </a:r>
          </a:p>
        </p:txBody>
      </p:sp>
      <p:sp>
        <p:nvSpPr>
          <p:cNvPr id="8" name="Rounded Rectangle 7"/>
          <p:cNvSpPr/>
          <p:nvPr/>
        </p:nvSpPr>
        <p:spPr>
          <a:xfrm>
            <a:off x="566928" y="2711196"/>
            <a:ext cx="11058113" cy="55321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280492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2802636"/>
            <a:ext cx="9960833" cy="406907"/>
          </a:xfrm>
          <a:prstGeom prst="rect">
            <a:avLst/>
          </a:prstGeom>
          <a:noFill/>
        </p:spPr>
        <p:txBody>
          <a:bodyPr wrap="square" lIns="0" tIns="0" rIns="0" bIns="0" anchor="ctr">
            <a:spAutoFit/>
          </a:bodyPr>
          <a:lstStyle/>
          <a:p>
            <a:pPr>
              <a:lnSpc>
                <a:spcPct val="110000"/>
              </a:lnSpc>
            </a:pPr>
            <a:r>
              <a:rPr lang="en-GB" sz="1450" b="0" i="0" dirty="0">
                <a:solidFill>
                  <a:srgbClr val="1A1A1A"/>
                </a:solidFill>
                <a:latin typeface="Calibri"/>
              </a:rPr>
              <a:t>Gusobanura isano iri hagati ya HPV na kanseri y'inkondo y'umura, nta muntu n'umwe ushinjwa.</a:t>
            </a:r>
          </a:p>
        </p:txBody>
      </p:sp>
      <p:sp>
        <p:nvSpPr>
          <p:cNvPr id="11" name="Rounded Rectangle 10"/>
          <p:cNvSpPr/>
          <p:nvPr/>
        </p:nvSpPr>
        <p:spPr>
          <a:xfrm>
            <a:off x="566928" y="3392424"/>
            <a:ext cx="11058113" cy="55321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3486150"/>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3483864"/>
            <a:ext cx="9960833" cy="406907"/>
          </a:xfrm>
          <a:prstGeom prst="rect">
            <a:avLst/>
          </a:prstGeom>
          <a:noFill/>
        </p:spPr>
        <p:txBody>
          <a:bodyPr wrap="square" lIns="0" tIns="0" rIns="0" bIns="0" anchor="ctr">
            <a:spAutoFit/>
          </a:bodyPr>
          <a:lstStyle/>
          <a:p>
            <a:pPr>
              <a:lnSpc>
                <a:spcPct val="110000"/>
              </a:lnSpc>
            </a:pPr>
            <a:r>
              <a:rPr lang="en-GB" sz="1300" b="0" i="0" dirty="0">
                <a:solidFill>
                  <a:srgbClr val="1A1A1A"/>
                </a:solidFill>
                <a:latin typeface="Calibri"/>
              </a:rPr>
              <a:t>Gushishikariza abo mu gace utuyemo gufata urukingo rwa HPV no kwisuzumisha kanseri y'inkondo y'umura.</a:t>
            </a:r>
          </a:p>
        </p:txBody>
      </p:sp>
      <p:sp>
        <p:nvSpPr>
          <p:cNvPr id="14" name="Rounded Rectangle 13"/>
          <p:cNvSpPr/>
          <p:nvPr/>
        </p:nvSpPr>
        <p:spPr>
          <a:xfrm>
            <a:off x="566928" y="4073652"/>
            <a:ext cx="11058113" cy="55321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Oval 14"/>
          <p:cNvSpPr/>
          <p:nvPr/>
        </p:nvSpPr>
        <p:spPr>
          <a:xfrm>
            <a:off x="804672" y="4167378"/>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6" name="TextBox 15"/>
          <p:cNvSpPr txBox="1"/>
          <p:nvPr/>
        </p:nvSpPr>
        <p:spPr>
          <a:xfrm>
            <a:off x="1389888" y="4165091"/>
            <a:ext cx="9960833" cy="406907"/>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Kumenya ibimenyetso n'ibimenyetso mpuruza bisaba kwitabwaho n'abaganga.</a:t>
            </a:r>
          </a:p>
        </p:txBody>
      </p:sp>
      <p:sp>
        <p:nvSpPr>
          <p:cNvPr id="17" name="Rounded Rectangle 16"/>
          <p:cNvSpPr/>
          <p:nvPr/>
        </p:nvSpPr>
        <p:spPr>
          <a:xfrm>
            <a:off x="566928" y="4754880"/>
            <a:ext cx="11058113" cy="55321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8" name="Oval 17"/>
          <p:cNvSpPr/>
          <p:nvPr/>
        </p:nvSpPr>
        <p:spPr>
          <a:xfrm>
            <a:off x="804672" y="484860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5</a:t>
            </a:r>
          </a:p>
        </p:txBody>
      </p:sp>
      <p:sp>
        <p:nvSpPr>
          <p:cNvPr id="19" name="TextBox 18"/>
          <p:cNvSpPr txBox="1"/>
          <p:nvPr/>
        </p:nvSpPr>
        <p:spPr>
          <a:xfrm>
            <a:off x="1389888" y="4905054"/>
            <a:ext cx="9960833" cy="289438"/>
          </a:xfrm>
          <a:prstGeom prst="rect">
            <a:avLst/>
          </a:prstGeom>
          <a:noFill/>
        </p:spPr>
        <p:txBody>
          <a:bodyPr wrap="square" lIns="0" tIns="0" rIns="0" bIns="0" anchor="ctr">
            <a:spAutoFit/>
          </a:bodyPr>
          <a:lstStyle/>
          <a:p>
            <a:pPr>
              <a:lnSpc>
                <a:spcPct val="110000"/>
              </a:lnSpc>
            </a:pPr>
            <a:r>
              <a:rPr lang="en-GB" sz="1550" b="0" i="0" dirty="0">
                <a:solidFill>
                  <a:srgbClr val="1A1A1A"/>
                </a:solidFill>
                <a:latin typeface="Calibri"/>
              </a:rPr>
              <a:t>Kohereza abagore kwa muganga no kubashyigikira binyuze mu kubasura no kubakurikirana.</a:t>
            </a:r>
          </a:p>
        </p:txBody>
      </p:sp>
      <p:sp>
        <p:nvSpPr>
          <p:cNvPr id="20" name="Rounded Rectangle 19"/>
          <p:cNvSpPr/>
          <p:nvPr/>
        </p:nvSpPr>
        <p:spPr>
          <a:xfrm>
            <a:off x="566928" y="5436108"/>
            <a:ext cx="11058113" cy="55321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21" name="Oval 20"/>
          <p:cNvSpPr/>
          <p:nvPr/>
        </p:nvSpPr>
        <p:spPr>
          <a:xfrm>
            <a:off x="804672" y="5529834"/>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6</a:t>
            </a:r>
          </a:p>
        </p:txBody>
      </p:sp>
      <p:sp>
        <p:nvSpPr>
          <p:cNvPr id="22" name="TextBox 21"/>
          <p:cNvSpPr txBox="1"/>
          <p:nvPr/>
        </p:nvSpPr>
        <p:spPr>
          <a:xfrm>
            <a:off x="1389888" y="5527548"/>
            <a:ext cx="9960833" cy="406907"/>
          </a:xfrm>
          <a:prstGeom prst="rect">
            <a:avLst/>
          </a:prstGeom>
          <a:noFill/>
        </p:spPr>
        <p:txBody>
          <a:bodyPr wrap="square" lIns="0" tIns="0" rIns="0" bIns="0" anchor="ctr">
            <a:spAutoFit/>
          </a:bodyPr>
          <a:lstStyle/>
          <a:p>
            <a:pPr>
              <a:lnSpc>
                <a:spcPct val="110000"/>
              </a:lnSpc>
            </a:pPr>
            <a:r>
              <a:rPr lang="en-GB" sz="1400" b="0" i="0" dirty="0">
                <a:solidFill>
                  <a:srgbClr val="1A1A1A"/>
                </a:solidFill>
                <a:latin typeface="Calibri"/>
              </a:rPr>
              <a:t>Gushyigikira abagore n'imiryango yabo mu gihe cy'ubuvuzi, ubahiriza ibanga ryabo kandi ububaha.</a:t>
            </a:r>
          </a:p>
        </p:txBody>
      </p:sp>
      <p:sp>
        <p:nvSpPr>
          <p:cNvPr id="23" name="TextBox 2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4" name="TextBox 2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Kanseri y'inkondo y'umura itangirira:</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Mu ibere</a:t>
            </a:r>
          </a:p>
        </p:txBody>
      </p:sp>
      <p:sp>
        <p:nvSpPr>
          <p:cNvPr id="9" name="Rounded Rectangle 8"/>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Mu gifu</a:t>
            </a:r>
          </a:p>
        </p:txBody>
      </p:sp>
      <p:sp>
        <p:nvSpPr>
          <p:cNvPr id="7" name="Rounded Rectangle 6"/>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 nkondo y'umura, igice cyo hasi cya nyababyeyi</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Mu ruhago</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2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Hafi ya kanseri zose z'inkondo y'umura ziterwa na:</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Ubwandu bumara igihe kirekire bw'amoko amwe ya virusi isanzwe yitwa HPV</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Kunywa amazi adasukuye</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Kurya umunyu mwinshi</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Ikibazo gikomoka mu muryango (kiva ku babyeyi kijya ku bana)</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3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Ubwandu bwinshi bwa virusi ya HPV:</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Buri gihe buhinduka kanseri</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Bushira ubwabwo nta ngaruka buteje</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Butera ububabare bukabije ako kanya</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Bushobora kugaragara inyuma ku mubiri</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4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wumva ameze neza rwose:</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Ntakeneye kwisuzumisha</a:t>
            </a:r>
          </a:p>
        </p:txBody>
      </p:sp>
      <p:sp>
        <p:nvSpPr>
          <p:cNvPr id="11" name="Rounded Rectangle 10"/>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Agomba gutegereza kugeza ibimenyetso bigaragaye</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Akeneye kwisuzumisha gusa iyo afite ububabare</a:t>
            </a:r>
          </a:p>
        </p:txBody>
      </p:sp>
      <p:sp>
        <p:nvSpPr>
          <p:cNvPr id="7" name="Rounded Rectangle 6"/>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Ashobora kuba agikeneye kwisuzumisha</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5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Urukingo rwa HPV rukora neza cyane iyo rutanzwe:</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 myaka yagenwe, mbere y'uko umuntu ahura n'iyo virusi</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Nyuma y'uko umugore amaze kubyara</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Gusa nyuma y'uko ibisubizo by'isuzuma bigaragaje ikibazo</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 myaka iyo ari yo yose, kandi rukagira akamaro kangana</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6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Iyo igisubizo cy'isuzuma ry'inkondo y'umura kigaragaje ikibazo, bisobanura ko:</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Uwo mugore arwaye kanseri nta gushidikanya</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600" b="1" i="0" dirty="0">
                <a:solidFill>
                  <a:srgbClr val="1F4E96"/>
                </a:solidFill>
                <a:latin typeface="Calibri"/>
              </a:rPr>
              <a:t>B   </a:t>
            </a:r>
            <a:r>
              <a:rPr lang="en-GB" sz="1600" b="0" i="0" dirty="0">
                <a:solidFill>
                  <a:srgbClr val="1A1A1A"/>
                </a:solidFill>
                <a:latin typeface="Calibri"/>
              </a:rPr>
              <a:t>Hari impinduka zagaragaye, kandi akeneye gutera intambwe ikurikira mu kwitabwaho</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Nta kintu na kimwe gikeneye gukorwa</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Agomba guhagarika akazi</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7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Kanseri y'inkondo y'umura mu Rwanda:</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Iboneka gake cyane</a:t>
            </a:r>
          </a:p>
        </p:txBody>
      </p:sp>
      <p:sp>
        <p:nvSpPr>
          <p:cNvPr id="9" name="Rounded Rectangle 8"/>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Iboneka gusa ku bagore bakuze</a:t>
            </a:r>
          </a:p>
        </p:txBody>
      </p:sp>
      <p:sp>
        <p:nvSpPr>
          <p:cNvPr id="7" name="Rounded Rectangle 6"/>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Ni imwe muri kanseri zibasira abagore cyane, kandi ahanini iririndwa</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Ntibishoboka kuyirinda</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8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Iyo umugore mukuru avuye amaraso nyuma y'imibonano mpuzabitsina, bigomba:</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Kwirengagizwa niba nta bubabare afite</a:t>
            </a:r>
          </a:p>
        </p:txBody>
      </p:sp>
      <p:sp>
        <p:nvSpPr>
          <p:cNvPr id="11" name="Rounded Rectangle 10"/>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Gufatwa nk'ikimenyetso cyemeza ko ari kanseri</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Kuvurwa n'imiti gakondo mu rugo</a:t>
            </a:r>
          </a:p>
        </p:txBody>
      </p:sp>
      <p:sp>
        <p:nvSpPr>
          <p:cNvPr id="7" name="Rounded Rectangle 6"/>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Gusuzumirwa ku ivuriro</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9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Ni ikihe kibazo gikeneye kwitabwaho uwo munsi?</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Umugore uva amaraso menshi, wumva isereri kandi afite intege nke</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Umugore ugomba kwisuzumisha bisanzwe ukwezi gutaha</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Umugore ufite inkovu yakize</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Umugore utaritabiriye gahunda imwe yo kwa muganga</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10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Urukingo rwa HPV no kwisuzumisha kanseri y'inkondo y'umura:</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Urukingo rukuraho burundu gukenera kwisuzumisha mu gihe kizaza</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Kwisuzumisha bikuraho gukenera urukingo</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Byombi birakenewe, kuko birinda mu buryo butandukanye</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Nta na kimwe muri byo gifite akamaro</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11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Iyo umugore avuze ikimenyetso giteye impungenge, Umujyanama w'Ubuzima agomba:</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Kumuha imiti mu rugo</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Kumubwira gutegereza akareba</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Kumufasha kugera ku ivuriro no kumushyigikira ngo ajyeyo</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Kubanza kubiganiraho n'abaturanyi</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12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Kanseri y'inkondo y'umura yemezwa na:</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Kubaza ibimenyetso gusa</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Agace gato k'inyama gasuzumwa muri laboratwari</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Kureba umugore inyuma gusa</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Ikizamini kimwe cy'amaraso gikorewe ku ivuriro ry'ibanze</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13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850" b="1" i="0" dirty="0">
                <a:solidFill>
                  <a:srgbClr val="0F1C2E"/>
                </a:solidFill>
                <a:latin typeface="Calibri"/>
              </a:rPr>
              <a:t>Uturemangingo tudasanzwe two ku nkondo y'umura tubonetse mbere y'uko kanseri iza:</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Ntidushobora kuvurwa</a:t>
            </a:r>
          </a:p>
        </p:txBody>
      </p:sp>
      <p:sp>
        <p:nvSpPr>
          <p:cNvPr id="11" name="Rounded Rectangle 10"/>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Tugomba gukurikiranwa gusa mu gihe cy'imyaka myinshi</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Bisobanura ko kanseri yamaze gukwirakwira</a:t>
            </a:r>
          </a:p>
        </p:txBody>
      </p:sp>
      <p:sp>
        <p:nvSpPr>
          <p:cNvPr id="7" name="Rounded Rectangle 6"/>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Dushobora kuvurwa, ku buryo kanseri itazigera iza</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14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Ibyo umugore abwira Umujyanama w'Ubuzima ku buzima bwe bigomba:</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Kubwirwa abaturanyi be</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Kugirwa ibanga</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Gutangarizwa mu nama y'abaturage</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Kubwirwa umuntu wese ubibajije</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15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avuga ko kuba ibisubizo byerekanye ko afite HPV bigaragaza ko uwo bashakanye yamuciye inyuma. Igisubizo nyacyo ni:</a:t>
            </a:r>
          </a:p>
        </p:txBody>
      </p:sp>
      <p:sp>
        <p:nvSpPr>
          <p:cNvPr id="5" name="Rounded Rectangle 4"/>
          <p:cNvSpPr/>
          <p:nvPr/>
        </p:nvSpPr>
        <p:spPr>
          <a:xfrm>
            <a:off x="566928" y="2304288"/>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Aravuga ukuri, ibisubizo birabigaragaza</a:t>
            </a:r>
          </a:p>
        </p:txBody>
      </p:sp>
      <p:sp>
        <p:nvSpPr>
          <p:cNvPr id="11" name="Rounded Rectangle 10"/>
          <p:cNvSpPr/>
          <p:nvPr/>
        </p:nvSpPr>
        <p:spPr>
          <a:xfrm>
            <a:off x="566928" y="2953512"/>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008376"/>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Ikizamini kigomba kuba cyakozwe nabi</a:t>
            </a:r>
          </a:p>
        </p:txBody>
      </p:sp>
      <p:sp>
        <p:nvSpPr>
          <p:cNvPr id="9" name="Rounded Rectangle 8"/>
          <p:cNvSpPr/>
          <p:nvPr/>
        </p:nvSpPr>
        <p:spPr>
          <a:xfrm>
            <a:off x="566928" y="3602736"/>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657600"/>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Agomba gutandukana n'uwo bashakanye</a:t>
            </a:r>
          </a:p>
        </p:txBody>
      </p:sp>
      <p:sp>
        <p:nvSpPr>
          <p:cNvPr id="7" name="Rounded Rectangle 6"/>
          <p:cNvSpPr/>
          <p:nvPr/>
        </p:nvSpPr>
        <p:spPr>
          <a:xfrm>
            <a:off x="566928" y="4251960"/>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4306824"/>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HPV irasanzwe kandi ishobora kumara imyaka myinshi itigaragaza, bityo igisubizo nta cyo kivuga ku myitwarire y'umuntu uwo ari we wese</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16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Ni ikihe muri ibi bikurikira kigomba guhora kimenyeshwa ivuriro?</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Kuva amaraso nyuma yo gucura</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Imihango isanzwe y'ukwezi kumwe</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Umunaniro muke nyuma y'umunsi muremure</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Igikomere cyakize</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17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uri kuvurwa kanseri ananiwe cyane kandi arya bike. Umujyanama w'Ubuzima agomba:</a:t>
            </a:r>
          </a:p>
        </p:txBody>
      </p:sp>
      <p:sp>
        <p:nvSpPr>
          <p:cNvPr id="7" name="Rounded Rectangle 6"/>
          <p:cNvSpPr/>
          <p:nvPr/>
        </p:nvSpPr>
        <p:spPr>
          <a:xfrm>
            <a:off x="566928" y="1993391"/>
            <a:ext cx="11058113" cy="82295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048255"/>
            <a:ext cx="10006553" cy="71323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Kumutega amatwi, kumugira inama yo kurya bike kenshi no kunywa amazi n'ibindi binyobwa, no kumenyesha ikibazo ivuriro</a:t>
            </a:r>
          </a:p>
        </p:txBody>
      </p:sp>
      <p:sp>
        <p:nvSpPr>
          <p:cNvPr id="5" name="Rounded Rectangle 4"/>
          <p:cNvSpPr/>
          <p:nvPr/>
        </p:nvSpPr>
        <p:spPr>
          <a:xfrm>
            <a:off x="566928" y="2916934"/>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971798"/>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Kumubwira ko ari ibisanzwe, ntagire icyo akora</a:t>
            </a:r>
          </a:p>
        </p:txBody>
      </p:sp>
      <p:sp>
        <p:nvSpPr>
          <p:cNvPr id="9" name="Rounded Rectangle 8"/>
          <p:cNvSpPr/>
          <p:nvPr/>
        </p:nvSpPr>
        <p:spPr>
          <a:xfrm>
            <a:off x="566928" y="3566158"/>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621022"/>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Kumugira inama yo guhagarika ubuvuzi</a:t>
            </a:r>
          </a:p>
        </p:txBody>
      </p:sp>
      <p:sp>
        <p:nvSpPr>
          <p:cNvPr id="11" name="Rounded Rectangle 10"/>
          <p:cNvSpPr/>
          <p:nvPr/>
        </p:nvSpPr>
        <p:spPr>
          <a:xfrm>
            <a:off x="566928" y="4215382"/>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4270246"/>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Kubwira umuryango we kubigira ibanga</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18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Nyuma yo kuvura uturemangingo tudasanzwe two ku nkondo y'umura, gukurikiranwa:</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Ntibiba bigikenewe iyo yumva ameze neza</a:t>
            </a:r>
          </a:p>
        </p:txBody>
      </p:sp>
      <p:sp>
        <p:nvSpPr>
          <p:cNvPr id="7" name="Rounded Rectangle 6"/>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Ni ingenzi, kandi agomba kwitabira nk'uko yabigiriwemo inama</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Ni iby'abagore bafite ibimenyetso gusa</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Ni iby'abagore bakuze gusa</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19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Hari abavuga ko nta cyakorwa kuri kanseri y'inkondo y'umura. Igisubizo nyacyo ni:</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Ni ukuri</a:t>
            </a:r>
          </a:p>
        </p:txBody>
      </p:sp>
      <p:sp>
        <p:nvSpPr>
          <p:cNvPr id="9" name="Rounded Rectangle 8"/>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Isengesho ryonyine ni ryo rifasha</a:t>
            </a:r>
          </a:p>
        </p:txBody>
      </p:sp>
      <p:sp>
        <p:nvSpPr>
          <p:cNvPr id="7" name="Rounded Rectangle 6"/>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400" b="1" i="0" dirty="0">
                <a:solidFill>
                  <a:srgbClr val="1F4E96"/>
                </a:solidFill>
                <a:latin typeface="Calibri"/>
              </a:rPr>
              <a:t>C   </a:t>
            </a:r>
            <a:r>
              <a:rPr lang="en-GB" sz="1400" b="0" i="0" dirty="0">
                <a:solidFill>
                  <a:srgbClr val="1A1A1A"/>
                </a:solidFill>
                <a:latin typeface="Calibri"/>
              </a:rPr>
              <a:t>Ubuvuzi burahari, kandi umusaruro wabwo uba mwiza cyane iyo indwara imenyekanye hakiri kare</a:t>
            </a:r>
          </a:p>
        </p:txBody>
      </p:sp>
      <p:sp>
        <p:nvSpPr>
          <p:cNvPr id="11" name="Rounded Rectangle 10"/>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Ubuvuzi buhora bunanirwa</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Y ' I B A N Z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ry'ibanze: ikibazo cya 20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Impamvu nyamukuru yo gushishikariza abantu kwisuzumisha ni uko:</a:t>
            </a:r>
          </a:p>
        </p:txBody>
      </p:sp>
      <p:sp>
        <p:nvSpPr>
          <p:cNvPr id="5" name="Rounded Rectangle 4"/>
          <p:cNvSpPr/>
          <p:nvPr/>
        </p:nvSpPr>
        <p:spPr>
          <a:xfrm>
            <a:off x="566928" y="1993391"/>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Bikiza kanseri ako kanya</a:t>
            </a:r>
          </a:p>
        </p:txBody>
      </p:sp>
      <p:sp>
        <p:nvSpPr>
          <p:cNvPr id="11" name="Rounded Rectangle 10"/>
          <p:cNvSpPr/>
          <p:nvPr/>
        </p:nvSpPr>
        <p:spPr>
          <a:xfrm>
            <a:off x="566928" y="2642615"/>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2697479"/>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Bifitiye akamaro abagore bafite ibimenyetso gusa</a:t>
            </a:r>
          </a:p>
        </p:txBody>
      </p:sp>
      <p:sp>
        <p:nvSpPr>
          <p:cNvPr id="9" name="Rounded Rectangle 8"/>
          <p:cNvSpPr/>
          <p:nvPr/>
        </p:nvSpPr>
        <p:spPr>
          <a:xfrm>
            <a:off x="566928" y="3291839"/>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41247" y="3346703"/>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Bisimbura ubundi buvuzi bwose</a:t>
            </a:r>
          </a:p>
        </p:txBody>
      </p:sp>
      <p:sp>
        <p:nvSpPr>
          <p:cNvPr id="7" name="Rounded Rectangle 6"/>
          <p:cNvSpPr/>
          <p:nvPr/>
        </p:nvSpPr>
        <p:spPr>
          <a:xfrm>
            <a:off x="566928" y="3941063"/>
            <a:ext cx="11058113" cy="548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3995927"/>
            <a:ext cx="10006553" cy="43891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Bigaragaza impinduka mbere y'uko ziba kanseri, bityo zikavurwa</a:t>
            </a:r>
          </a:p>
        </p:txBody>
      </p:sp>
      <p:sp>
        <p:nvSpPr>
          <p:cNvPr id="13" name="TextBox 12"/>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4" name="TextBox 13"/>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E2F5C"/>
          </a:solidFill>
          <a:ln>
            <a:noFill/>
          </a:ln>
          <a:effectLst/>
        </p:spPr>
        <p:txBody>
          <a:bodyPr rtlCol="0" anchor="ctr"/>
          <a:lstStyle/>
          <a:p>
            <a:pPr algn="ctr"/>
            <a:endParaRPr lang="en-GB" dirty="0"/>
          </a:p>
        </p:txBody>
      </p:sp>
      <p:sp>
        <p:nvSpPr>
          <p:cNvPr id="3" name="TextBox 2"/>
          <p:cNvSpPr txBox="1"/>
          <p:nvPr/>
        </p:nvSpPr>
        <p:spPr>
          <a:xfrm>
            <a:off x="9144000" y="1417320"/>
            <a:ext cx="2743200" cy="3291840"/>
          </a:xfrm>
          <a:prstGeom prst="rect">
            <a:avLst/>
          </a:prstGeom>
          <a:noFill/>
        </p:spPr>
        <p:txBody>
          <a:bodyPr wrap="square" lIns="0" tIns="0" rIns="0" bIns="0">
            <a:spAutoFit/>
          </a:bodyPr>
          <a:lstStyle/>
          <a:p>
            <a:pPr algn="ctr"/>
            <a:r>
              <a:rPr lang="en-GB" sz="20000" b="1" i="0" dirty="0">
                <a:solidFill>
                  <a:srgbClr val="1B4780"/>
                </a:solidFill>
                <a:latin typeface="Cambria"/>
              </a:rPr>
              <a:t>1</a:t>
            </a:r>
          </a:p>
        </p:txBody>
      </p:sp>
      <p:sp>
        <p:nvSpPr>
          <p:cNvPr id="4" name="TextBox 3"/>
          <p:cNvSpPr txBox="1"/>
          <p:nvPr/>
        </p:nvSpPr>
        <p:spPr>
          <a:xfrm>
            <a:off x="566928" y="1920240"/>
            <a:ext cx="8138160" cy="365760"/>
          </a:xfrm>
          <a:prstGeom prst="rect">
            <a:avLst/>
          </a:prstGeom>
          <a:noFill/>
        </p:spPr>
        <p:txBody>
          <a:bodyPr wrap="square" lIns="0" tIns="0" rIns="0" bIns="0">
            <a:spAutoFit/>
          </a:bodyPr>
          <a:lstStyle/>
          <a:p>
            <a:r>
              <a:rPr lang="en-GB" sz="1150" b="1" i="0" dirty="0">
                <a:solidFill>
                  <a:srgbClr val="B9CAE4"/>
                </a:solidFill>
                <a:latin typeface="Calibri"/>
              </a:rPr>
              <a:t>I G I C E   C Y A   1</a:t>
            </a:r>
          </a:p>
        </p:txBody>
      </p:sp>
      <p:sp>
        <p:nvSpPr>
          <p:cNvPr id="5" name="TextBox 4"/>
          <p:cNvSpPr txBox="1"/>
          <p:nvPr/>
        </p:nvSpPr>
        <p:spPr>
          <a:xfrm>
            <a:off x="566928" y="2377440"/>
            <a:ext cx="8138160" cy="1280160"/>
          </a:xfrm>
          <a:prstGeom prst="rect">
            <a:avLst/>
          </a:prstGeom>
          <a:noFill/>
        </p:spPr>
        <p:txBody>
          <a:bodyPr wrap="square" lIns="0" tIns="0" rIns="0" bIns="0">
            <a:spAutoFit/>
          </a:bodyPr>
          <a:lstStyle/>
          <a:p>
            <a:pPr>
              <a:lnSpc>
                <a:spcPct val="105000"/>
              </a:lnSpc>
            </a:pPr>
            <a:r>
              <a:rPr lang="en-GB" sz="2900" b="1" i="0" dirty="0">
                <a:solidFill>
                  <a:srgbClr val="FFFFFF"/>
                </a:solidFill>
                <a:latin typeface="Cambria"/>
              </a:rPr>
              <a:t>Kanseri y'inkondo y'umura ni iki?</a:t>
            </a:r>
          </a:p>
        </p:txBody>
      </p:sp>
      <p:sp>
        <p:nvSpPr>
          <p:cNvPr id="6" name="TextBox 5"/>
          <p:cNvSpPr txBox="1"/>
          <p:nvPr/>
        </p:nvSpPr>
        <p:spPr>
          <a:xfrm>
            <a:off x="566928" y="3886200"/>
            <a:ext cx="8138160" cy="914400"/>
          </a:xfrm>
          <a:prstGeom prst="rect">
            <a:avLst/>
          </a:prstGeom>
          <a:noFill/>
        </p:spPr>
        <p:txBody>
          <a:bodyPr wrap="square" lIns="0" tIns="0" rIns="0" bIns="0">
            <a:spAutoFit/>
          </a:bodyPr>
          <a:lstStyle/>
          <a:p>
            <a:pPr>
              <a:lnSpc>
                <a:spcPct val="120000"/>
              </a:lnSpc>
            </a:pPr>
            <a:r>
              <a:rPr lang="en-GB" sz="1800" b="0" i="0" dirty="0">
                <a:solidFill>
                  <a:srgbClr val="B9CAE4"/>
                </a:solidFill>
                <a:latin typeface="Calibri"/>
              </a:rPr>
              <a:t>Aho itangirira, virusi iyitera, uko ikunze kugaragara mu Rwanda, n'impamvu igice kinini cyayo gishobora kwirindwa.</a:t>
            </a:r>
          </a:p>
        </p:txBody>
      </p:sp>
      <p:sp>
        <p:nvSpPr>
          <p:cNvPr id="7" name="TextBox 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8" name="TextBox 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Intego z'iri somo</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Mu mpera z'iri somo, uzaba ushobora:</a:t>
            </a:r>
          </a:p>
        </p:txBody>
      </p:sp>
      <p:sp>
        <p:nvSpPr>
          <p:cNvPr id="5" name="Rounded Rectangle 4"/>
          <p:cNvSpPr/>
          <p:nvPr/>
        </p:nvSpPr>
        <p:spPr>
          <a:xfrm>
            <a:off x="566928" y="202996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19181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121408"/>
            <a:ext cx="9960833" cy="543153"/>
          </a:xfrm>
          <a:prstGeom prst="rect">
            <a:avLst/>
          </a:prstGeom>
          <a:noFill/>
        </p:spPr>
        <p:txBody>
          <a:bodyPr wrap="square" lIns="0" tIns="0" rIns="0" bIns="0" anchor="ctr">
            <a:spAutoFit/>
          </a:bodyPr>
          <a:lstStyle/>
          <a:p>
            <a:pPr>
              <a:lnSpc>
                <a:spcPct val="110000"/>
              </a:lnSpc>
            </a:pPr>
            <a:r>
              <a:rPr lang="en-GB" sz="1450" b="0" i="0" dirty="0">
                <a:solidFill>
                  <a:srgbClr val="1A1A1A"/>
                </a:solidFill>
                <a:latin typeface="Calibri"/>
              </a:rPr>
              <a:t>Kwerekana aho inkondo y'umura iherereye no gusobanura kanseri y'inkondo y'umura icyo ari cyo.</a:t>
            </a:r>
          </a:p>
        </p:txBody>
      </p:sp>
      <p:sp>
        <p:nvSpPr>
          <p:cNvPr id="8" name="Rounded Rectangle 7"/>
          <p:cNvSpPr/>
          <p:nvPr/>
        </p:nvSpPr>
        <p:spPr>
          <a:xfrm>
            <a:off x="566928" y="2847441"/>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009290"/>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2938881"/>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Gusobanura HPV icyo ari cyo, mu magambo umuturanyi wawe yakumva.</a:t>
            </a:r>
          </a:p>
        </p:txBody>
      </p:sp>
      <p:sp>
        <p:nvSpPr>
          <p:cNvPr id="11" name="Rounded Rectangle 10"/>
          <p:cNvSpPr/>
          <p:nvPr/>
        </p:nvSpPr>
        <p:spPr>
          <a:xfrm>
            <a:off x="566928" y="3664915"/>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3826763"/>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3756355"/>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Gusobanura impamvu kwandura HPV bitavuze ko umugore afite kanseri.</a:t>
            </a:r>
          </a:p>
        </p:txBody>
      </p:sp>
      <p:sp>
        <p:nvSpPr>
          <p:cNvPr id="14" name="Rounded Rectangle 13"/>
          <p:cNvSpPr/>
          <p:nvPr/>
        </p:nvSpPr>
        <p:spPr>
          <a:xfrm>
            <a:off x="566928" y="448238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Oval 14"/>
          <p:cNvSpPr/>
          <p:nvPr/>
        </p:nvSpPr>
        <p:spPr>
          <a:xfrm>
            <a:off x="804672" y="464423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6" name="TextBox 15"/>
          <p:cNvSpPr txBox="1"/>
          <p:nvPr/>
        </p:nvSpPr>
        <p:spPr>
          <a:xfrm>
            <a:off x="1389888" y="4573828"/>
            <a:ext cx="9960833" cy="543153"/>
          </a:xfrm>
          <a:prstGeom prst="rect">
            <a:avLst/>
          </a:prstGeom>
          <a:noFill/>
        </p:spPr>
        <p:txBody>
          <a:bodyPr wrap="square" lIns="0" tIns="0" rIns="0" bIns="0" anchor="ctr">
            <a:spAutoFit/>
          </a:bodyPr>
          <a:lstStyle/>
          <a:p>
            <a:pPr>
              <a:lnSpc>
                <a:spcPct val="110000"/>
              </a:lnSpc>
            </a:pPr>
            <a:r>
              <a:rPr lang="en-GB" sz="1650" b="0" i="0" dirty="0">
                <a:solidFill>
                  <a:srgbClr val="1A1A1A"/>
                </a:solidFill>
                <a:latin typeface="Calibri"/>
              </a:rPr>
              <a:t>Gusobanura uko kanseri y'inkondo y'umura ikunze kugaragara mu bagore bo mu Rwanda.</a:t>
            </a:r>
          </a:p>
        </p:txBody>
      </p:sp>
      <p:sp>
        <p:nvSpPr>
          <p:cNvPr id="17" name="Rounded Rectangle 16"/>
          <p:cNvSpPr/>
          <p:nvPr/>
        </p:nvSpPr>
        <p:spPr>
          <a:xfrm>
            <a:off x="566928" y="5299862"/>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8" name="Oval 17"/>
          <p:cNvSpPr/>
          <p:nvPr/>
        </p:nvSpPr>
        <p:spPr>
          <a:xfrm>
            <a:off x="804672" y="546171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5</a:t>
            </a:r>
          </a:p>
        </p:txBody>
      </p:sp>
      <p:sp>
        <p:nvSpPr>
          <p:cNvPr id="19" name="TextBox 18"/>
          <p:cNvSpPr txBox="1"/>
          <p:nvPr/>
        </p:nvSpPr>
        <p:spPr>
          <a:xfrm>
            <a:off x="1389888" y="5391302"/>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Gutanga ubutumwa bwo kwirinda mu buryo bwumvikana kandi nta muntu ushinjwa.</a:t>
            </a:r>
          </a:p>
        </p:txBody>
      </p:sp>
      <p:sp>
        <p:nvSpPr>
          <p:cNvPr id="20" name="TextBox 19"/>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1" name="TextBox 20"/>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65760"/>
            <a:ext cx="11058113" cy="161583"/>
          </a:xfrm>
          <a:prstGeom prst="rect">
            <a:avLst/>
          </a:prstGeom>
          <a:noFill/>
          <a:ln/>
        </p:spPr>
        <p:txBody>
          <a:bodyPr wrap="square" lIns="0" tIns="0" rIns="0" bIns="0" rtlCol="0" anchor="ctr"/>
          <a:lstStyle/>
          <a:p>
            <a:pPr marL="0" indent="0" algn="l">
              <a:buNone/>
            </a:pPr>
            <a:r>
              <a:rPr lang="rw-RW" sz="1050" b="1" noProof="0" dirty="0">
                <a:solidFill>
                  <a:srgbClr val="1F4E96"/>
                </a:solidFill>
                <a:latin typeface="Calibri" pitchFamily="34" charset="0"/>
                <a:ea typeface="Calibri" pitchFamily="34" charset="-122"/>
                <a:cs typeface="Calibri" pitchFamily="34" charset="-120"/>
              </a:rPr>
              <a:t>I G I C E   C Y A   1   ·   I C Y O   A R I   C Y O</a:t>
            </a:r>
            <a:endParaRPr lang="rw-RW" sz="1050" dirty="0"/>
          </a:p>
        </p:txBody>
      </p:sp>
      <p:sp>
        <p:nvSpPr>
          <p:cNvPr id="3" name="Text 3"/>
          <p:cNvSpPr txBox="1"/>
          <p:nvPr/>
        </p:nvSpPr>
        <p:spPr>
          <a:xfrm>
            <a:off x="566928" y="372034"/>
            <a:ext cx="11058113" cy="777240"/>
          </a:xfrm>
          <a:prstGeom prst="rect">
            <a:avLst/>
          </a:prstGeom>
          <a:noFill/>
          <a:ln/>
        </p:spPr>
        <p:txBody>
          <a:bodyPr wrap="square" lIns="0" tIns="0" rIns="0" bIns="0" rtlCol="0" anchor="ctr"/>
          <a:lstStyle/>
          <a:p>
            <a:pPr marL="0" indent="0">
              <a:buNone/>
            </a:pPr>
            <a:r>
              <a:rPr lang="rw-RW" sz="3400" b="1" noProof="0" dirty="0">
                <a:solidFill>
                  <a:srgbClr val="10305A"/>
                </a:solidFill>
                <a:latin typeface="Cambria" pitchFamily="34" charset="0"/>
                <a:ea typeface="Cambria" pitchFamily="34" charset="-122"/>
                <a:cs typeface="Cambria" pitchFamily="34" charset="-120"/>
              </a:rPr>
              <a:t>Kanseri ni iki?</a:t>
            </a:r>
          </a:p>
        </p:txBody>
      </p:sp>
      <p:sp>
        <p:nvSpPr>
          <p:cNvPr id="4" name="Shape 4"/>
          <p:cNvSpPr/>
          <p:nvPr/>
        </p:nvSpPr>
        <p:spPr>
          <a:xfrm>
            <a:off x="566928" y="1258802"/>
            <a:ext cx="3563112" cy="2030332"/>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5" name="Text 5"/>
          <p:cNvSpPr txBox="1"/>
          <p:nvPr/>
        </p:nvSpPr>
        <p:spPr>
          <a:xfrm>
            <a:off x="822960" y="1269618"/>
            <a:ext cx="3051048" cy="520000"/>
          </a:xfrm>
          <a:prstGeom prst="rect">
            <a:avLst/>
          </a:prstGeom>
          <a:noFill/>
          <a:ln/>
        </p:spPr>
        <p:txBody>
          <a:bodyPr wrap="square" lIns="0" tIns="0" rIns="0" bIns="0" rtlCol="0" anchor="ctr"/>
          <a:lstStyle/>
          <a:p>
            <a:pPr marL="0" indent="0" algn="l">
              <a:buNone/>
            </a:pPr>
            <a:r>
              <a:rPr lang="rw-RW" sz="1900" b="1" noProof="0" dirty="0">
                <a:solidFill>
                  <a:srgbClr val="10305A"/>
                </a:solidFill>
                <a:latin typeface="Calibri" pitchFamily="34" charset="0"/>
                <a:ea typeface="Calibri" pitchFamily="34" charset="-122"/>
                <a:cs typeface="Calibri" pitchFamily="34" charset="-120"/>
              </a:rPr>
              <a:t>🧬  Uturemangingo</a:t>
            </a:r>
            <a:endParaRPr lang="rw-RW" sz="1900" dirty="0"/>
          </a:p>
        </p:txBody>
      </p:sp>
      <p:sp>
        <p:nvSpPr>
          <p:cNvPr id="6" name="Text 6"/>
          <p:cNvSpPr txBox="1"/>
          <p:nvPr/>
        </p:nvSpPr>
        <p:spPr>
          <a:xfrm>
            <a:off x="822960" y="1849618"/>
            <a:ext cx="3051048" cy="1248424"/>
          </a:xfrm>
          <a:prstGeom prst="rect">
            <a:avLst/>
          </a:prstGeom>
          <a:noFill/>
          <a:ln/>
        </p:spPr>
        <p:txBody>
          <a:bodyPr wrap="square" lIns="0" tIns="0" rIns="0" bIns="0" rtlCol="0" anchor="t"/>
          <a:lstStyle/>
          <a:p>
            <a:pPr marL="0" indent="0" algn="l">
              <a:lnSpc>
                <a:spcPct val="104000"/>
              </a:lnSpc>
              <a:spcAft>
                <a:spcPts val="600"/>
              </a:spcAft>
              <a:buNone/>
            </a:pPr>
            <a:r>
              <a:rPr lang="rw-RW" sz="1700" noProof="0" dirty="0">
                <a:solidFill>
                  <a:srgbClr val="1A1A1A"/>
                </a:solidFill>
                <a:latin typeface="Calibri" pitchFamily="34" charset="0"/>
                <a:ea typeface="Calibri" pitchFamily="34" charset="-122"/>
                <a:cs typeface="Calibri" pitchFamily="34" charset="-120"/>
              </a:rPr>
              <a:t>Umubiri wacu ugizwe n'uturemangingo duto cyane. Mu buzima busanzwe, uturemangingo dukura kandi tugasimburwa n'utundi mu buryo bugenzuwe.</a:t>
            </a:r>
            <a:endParaRPr lang="rw-RW" sz="1700" dirty="0"/>
          </a:p>
        </p:txBody>
      </p:sp>
      <p:sp>
        <p:nvSpPr>
          <p:cNvPr id="7" name="Shape 7"/>
          <p:cNvSpPr/>
          <p:nvPr/>
        </p:nvSpPr>
        <p:spPr>
          <a:xfrm>
            <a:off x="4312920" y="1258802"/>
            <a:ext cx="3563112" cy="2030332"/>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8" name="Text 8"/>
          <p:cNvSpPr txBox="1"/>
          <p:nvPr/>
        </p:nvSpPr>
        <p:spPr>
          <a:xfrm>
            <a:off x="4568952" y="1269618"/>
            <a:ext cx="3051048" cy="520000"/>
          </a:xfrm>
          <a:prstGeom prst="rect">
            <a:avLst/>
          </a:prstGeom>
          <a:noFill/>
          <a:ln/>
        </p:spPr>
        <p:txBody>
          <a:bodyPr wrap="square" lIns="0" tIns="0" rIns="0" bIns="0" rtlCol="0" anchor="ctr"/>
          <a:lstStyle/>
          <a:p>
            <a:pPr marL="0" indent="0" algn="l">
              <a:buNone/>
            </a:pPr>
            <a:r>
              <a:rPr lang="rw-RW" sz="1900" b="1" noProof="0" dirty="0">
                <a:solidFill>
                  <a:srgbClr val="10305A"/>
                </a:solidFill>
                <a:latin typeface="Calibri" pitchFamily="34" charset="0"/>
                <a:ea typeface="Calibri" pitchFamily="34" charset="-122"/>
                <a:cs typeface="Calibri" pitchFamily="34" charset="-120"/>
              </a:rPr>
              <a:t>⚠️  Iyo habaye kanseri</a:t>
            </a:r>
            <a:endParaRPr lang="rw-RW" sz="1900" dirty="0"/>
          </a:p>
        </p:txBody>
      </p:sp>
      <p:sp>
        <p:nvSpPr>
          <p:cNvPr id="9" name="Text 9"/>
          <p:cNvSpPr txBox="1"/>
          <p:nvPr/>
        </p:nvSpPr>
        <p:spPr>
          <a:xfrm>
            <a:off x="4568952" y="1849618"/>
            <a:ext cx="3051048" cy="1248424"/>
          </a:xfrm>
          <a:prstGeom prst="rect">
            <a:avLst/>
          </a:prstGeom>
          <a:noFill/>
          <a:ln/>
        </p:spPr>
        <p:txBody>
          <a:bodyPr wrap="square" lIns="0" tIns="0" rIns="0" bIns="0" rtlCol="0" anchor="t"/>
          <a:lstStyle/>
          <a:p>
            <a:pPr marL="0" indent="0" algn="l">
              <a:lnSpc>
                <a:spcPct val="104000"/>
              </a:lnSpc>
              <a:spcAft>
                <a:spcPts val="600"/>
              </a:spcAft>
              <a:buNone/>
            </a:pPr>
            <a:r>
              <a:rPr lang="rw-RW" sz="1700" noProof="0" dirty="0">
                <a:solidFill>
                  <a:srgbClr val="1A1A1A"/>
                </a:solidFill>
                <a:latin typeface="Calibri" pitchFamily="34" charset="0"/>
                <a:ea typeface="Calibri" pitchFamily="34" charset="-122"/>
                <a:cs typeface="Calibri" pitchFamily="34" charset="-120"/>
              </a:rPr>
              <a:t>Kanseri ni indwara ituma uturemangingo tumwe tw'umubiri dutangira gukura mu buryo budasanzwe kandi budagenzurwa.</a:t>
            </a:r>
            <a:endParaRPr lang="rw-RW" sz="1700" dirty="0"/>
          </a:p>
        </p:txBody>
      </p:sp>
      <p:sp>
        <p:nvSpPr>
          <p:cNvPr id="10" name="Shape 10"/>
          <p:cNvSpPr/>
          <p:nvPr/>
        </p:nvSpPr>
        <p:spPr>
          <a:xfrm>
            <a:off x="8058912" y="1258802"/>
            <a:ext cx="3563112" cy="2030332"/>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1" name="Text 11"/>
          <p:cNvSpPr txBox="1"/>
          <p:nvPr/>
        </p:nvSpPr>
        <p:spPr>
          <a:xfrm>
            <a:off x="8314944" y="1269618"/>
            <a:ext cx="3051048" cy="520000"/>
          </a:xfrm>
          <a:prstGeom prst="rect">
            <a:avLst/>
          </a:prstGeom>
          <a:noFill/>
          <a:ln/>
        </p:spPr>
        <p:txBody>
          <a:bodyPr wrap="square" lIns="0" tIns="0" rIns="0" bIns="0" rtlCol="0" anchor="ctr"/>
          <a:lstStyle/>
          <a:p>
            <a:pPr marL="0" indent="0" algn="l">
              <a:buNone/>
            </a:pPr>
            <a:r>
              <a:rPr lang="rw-RW" sz="1900" b="1" noProof="0" dirty="0">
                <a:solidFill>
                  <a:srgbClr val="10305A"/>
                </a:solidFill>
                <a:latin typeface="Calibri" pitchFamily="34" charset="0"/>
                <a:ea typeface="Calibri" pitchFamily="34" charset="-122"/>
                <a:cs typeface="Calibri" pitchFamily="34" charset="-120"/>
              </a:rPr>
              <a:t>📍  Aho itangirira</a:t>
            </a:r>
            <a:endParaRPr lang="rw-RW" sz="1900" dirty="0"/>
          </a:p>
        </p:txBody>
      </p:sp>
      <p:sp>
        <p:nvSpPr>
          <p:cNvPr id="12" name="Text 12"/>
          <p:cNvSpPr txBox="1"/>
          <p:nvPr/>
        </p:nvSpPr>
        <p:spPr>
          <a:xfrm>
            <a:off x="8314944" y="1849618"/>
            <a:ext cx="3051048" cy="1248424"/>
          </a:xfrm>
          <a:prstGeom prst="rect">
            <a:avLst/>
          </a:prstGeom>
          <a:noFill/>
          <a:ln/>
        </p:spPr>
        <p:txBody>
          <a:bodyPr wrap="square" lIns="0" tIns="0" rIns="0" bIns="0" rtlCol="0" anchor="t"/>
          <a:lstStyle/>
          <a:p>
            <a:pPr marL="0" indent="0" algn="l">
              <a:lnSpc>
                <a:spcPct val="104000"/>
              </a:lnSpc>
              <a:spcAft>
                <a:spcPts val="600"/>
              </a:spcAft>
              <a:buNone/>
            </a:pPr>
            <a:r>
              <a:rPr lang="rw-RW" sz="1700" noProof="0" dirty="0">
                <a:solidFill>
                  <a:srgbClr val="1A1A1A"/>
                </a:solidFill>
                <a:latin typeface="Calibri" pitchFamily="34" charset="0"/>
                <a:ea typeface="Calibri" pitchFamily="34" charset="-122"/>
                <a:cs typeface="Calibri" pitchFamily="34" charset="-120"/>
              </a:rPr>
              <a:t>Kanseri yitirirwa igice cy'umubiri itangiriramo. Kanseri y'inkondo y'umura itangirira mu nkondo y'umura.</a:t>
            </a:r>
            <a:endParaRPr lang="rw-RW" sz="1700" dirty="0"/>
          </a:p>
        </p:txBody>
      </p:sp>
      <p:sp>
        <p:nvSpPr>
          <p:cNvPr id="14" name="Shape 14"/>
          <p:cNvSpPr/>
          <p:nvPr/>
        </p:nvSpPr>
        <p:spPr>
          <a:xfrm>
            <a:off x="566928" y="6018662"/>
            <a:ext cx="11055096" cy="375110"/>
          </a:xfrm>
          <a:prstGeom prst="roundRect">
            <a:avLst>
              <a:gd name="adj" fmla="val 3000"/>
            </a:avLst>
          </a:prstGeom>
          <a:solidFill>
            <a:srgbClr val="FFF2DF"/>
          </a:solidFill>
          <a:ln w="12700">
            <a:solidFill>
              <a:srgbClr val="E8DDC7"/>
            </a:solidFill>
          </a:ln>
        </p:spPr>
        <p:txBody>
          <a:bodyPr/>
          <a:lstStyle/>
          <a:p>
            <a:endParaRPr lang="rw-RW" sz="1600" dirty="0"/>
          </a:p>
        </p:txBody>
      </p:sp>
      <p:sp>
        <p:nvSpPr>
          <p:cNvPr id="15" name="Text 15"/>
          <p:cNvSpPr txBox="1"/>
          <p:nvPr/>
        </p:nvSpPr>
        <p:spPr>
          <a:xfrm>
            <a:off x="841248" y="6018662"/>
            <a:ext cx="10506456" cy="325110"/>
          </a:xfrm>
          <a:prstGeom prst="rect">
            <a:avLst/>
          </a:prstGeom>
          <a:noFill/>
          <a:ln/>
        </p:spPr>
        <p:txBody>
          <a:bodyPr wrap="square" lIns="0" tIns="0" rIns="0" bIns="0" rtlCol="0" anchor="ctr"/>
          <a:lstStyle/>
          <a:p>
            <a:pPr marL="0" indent="0" algn="l">
              <a:buNone/>
            </a:pPr>
            <a:r>
              <a:rPr lang="rw-RW" sz="1400" b="1" noProof="0" dirty="0">
                <a:solidFill>
                  <a:srgbClr val="94600B"/>
                </a:solidFill>
                <a:latin typeface="Calibri" pitchFamily="34" charset="0"/>
                <a:ea typeface="Calibri" pitchFamily="34" charset="-122"/>
                <a:cs typeface="Calibri" pitchFamily="34" charset="-120"/>
              </a:rPr>
              <a:t>📌 Wibuke:  </a:t>
            </a:r>
            <a:r>
              <a:rPr lang="rw-RW" sz="1400" noProof="0" dirty="0">
                <a:solidFill>
                  <a:srgbClr val="1A1A1A"/>
                </a:solidFill>
                <a:latin typeface="Calibri" pitchFamily="34" charset="0"/>
                <a:ea typeface="Calibri" pitchFamily="34" charset="-122"/>
                <a:cs typeface="Calibri" pitchFamily="34" charset="-120"/>
              </a:rPr>
              <a:t>Kanseri y'inkondo y'umura ntiyandura. Umuntu ntayanduza undi kubera ko babana cyangwa basangira.</a:t>
            </a:r>
            <a:endParaRPr lang="rw-RW" sz="1400" dirty="0"/>
          </a:p>
        </p:txBody>
      </p:sp>
      <p:sp>
        <p:nvSpPr>
          <p:cNvPr id="16" name="Text 16"/>
          <p:cNvSpPr txBox="1"/>
          <p:nvPr/>
        </p:nvSpPr>
        <p:spPr>
          <a:xfrm>
            <a:off x="566928" y="6345936"/>
            <a:ext cx="7315200" cy="274320"/>
          </a:xfrm>
          <a:prstGeom prst="rect">
            <a:avLst/>
          </a:prstGeom>
          <a:noFill/>
          <a:ln/>
        </p:spPr>
        <p:txBody>
          <a:bodyPr wrap="square" lIns="0" tIns="0" rIns="0" bIns="0" rtlCol="0" anchor="ctr"/>
          <a:lstStyle/>
          <a:p>
            <a:pPr marL="0" indent="0" algn="l">
              <a:buNone/>
            </a:pPr>
            <a:r>
              <a:rPr lang="rw-RW" sz="900" noProof="0" dirty="0">
                <a:solidFill>
                  <a:srgbClr val="777D86"/>
                </a:solidFill>
                <a:latin typeface="Calibri" pitchFamily="34" charset="0"/>
                <a:ea typeface="Calibri" pitchFamily="34" charset="-122"/>
                <a:cs typeface="Calibri" pitchFamily="34" charset="-120"/>
              </a:rPr>
              <a:t>Kanseri y'inkondo y'umura  |  Umujyanama w'Ubuzima  |  Ikigo cy'Igihugu Gishinzwe Ubuzima</a:t>
            </a:r>
            <a:endParaRPr lang="rw-RW" sz="900" dirty="0"/>
          </a:p>
        </p:txBody>
      </p:sp>
      <p:sp>
        <p:nvSpPr>
          <p:cNvPr id="17" name="Text 17"/>
          <p:cNvSpPr txBox="1"/>
          <p:nvPr/>
        </p:nvSpPr>
        <p:spPr>
          <a:xfrm>
            <a:off x="8881841" y="6345936"/>
            <a:ext cx="2743200" cy="274320"/>
          </a:xfrm>
          <a:prstGeom prst="rect">
            <a:avLst/>
          </a:prstGeom>
          <a:noFill/>
          <a:ln/>
        </p:spPr>
        <p:txBody>
          <a:bodyPr wrap="square" lIns="0" tIns="0" rIns="0" bIns="0" rtlCol="0" anchor="ctr"/>
          <a:lstStyle/>
          <a:p>
            <a:pPr marL="0" indent="0" algn="r">
              <a:buNone/>
            </a:pPr>
            <a:r>
              <a:rPr lang="rw-RW" sz="900" noProof="0" dirty="0">
                <a:solidFill>
                  <a:srgbClr val="777D86"/>
                </a:solidFill>
                <a:latin typeface="Calibri" pitchFamily="34" charset="0"/>
                <a:ea typeface="Calibri" pitchFamily="34" charset="-122"/>
                <a:cs typeface="Calibri" pitchFamily="34" charset="-120"/>
              </a:rPr>
              <a:t>Urupapuro rwa 27</a:t>
            </a:r>
            <a:endParaRPr lang="rw-RW" sz="900" dirty="0"/>
          </a:p>
        </p:txBody>
      </p:sp>
      <p:pic>
        <p:nvPicPr>
          <p:cNvPr id="18" name="Imagen 17">
            <a:extLst>
              <a:ext uri="{FF2B5EF4-FFF2-40B4-BE49-F238E27FC236}">
                <a16:creationId xmlns:a16="http://schemas.microsoft.com/office/drawing/2014/main" id="{A52B2763-9243-B24A-6BCE-29DFC2255D81}"/>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1329904" y="3299950"/>
            <a:ext cx="9324388" cy="266871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C Y O   A R I   C Y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Kanseri y'inkondo y'umura mu magambo yoroheje</a:t>
            </a:r>
          </a:p>
        </p:txBody>
      </p:sp>
      <p:sp>
        <p:nvSpPr>
          <p:cNvPr id="4" name="Rounded Rectangle 3"/>
          <p:cNvSpPr/>
          <p:nvPr/>
        </p:nvSpPr>
        <p:spPr>
          <a:xfrm>
            <a:off x="566928" y="1554480"/>
            <a:ext cx="3503157" cy="339242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786384" y="1755648"/>
            <a:ext cx="3064245" cy="2011680"/>
          </a:xfrm>
          <a:prstGeom prst="rect">
            <a:avLst/>
          </a:prstGeom>
          <a:noFill/>
        </p:spPr>
        <p:txBody>
          <a:bodyPr wrap="square" lIns="0" tIns="0" rIns="0" bIns="0">
            <a:spAutoFit/>
          </a:bodyPr>
          <a:lstStyle/>
          <a:p>
            <a:pPr>
              <a:lnSpc>
                <a:spcPct val="114000"/>
              </a:lnSpc>
              <a:spcAft>
                <a:spcPts val="700"/>
              </a:spcAft>
            </a:pPr>
            <a:r>
              <a:rPr lang="en-GB" sz="1250" b="0" i="0" dirty="0">
                <a:solidFill>
                  <a:srgbClr val="1A1A1A"/>
                </a:solidFill>
                <a:latin typeface="Calibri"/>
              </a:rPr>
              <a:t>👩  </a:t>
            </a:r>
            <a:r>
              <a:rPr lang="en-GB" sz="1350" b="1" i="0" dirty="0">
                <a:solidFill>
                  <a:srgbClr val="10305A"/>
                </a:solidFill>
                <a:latin typeface="Calibri"/>
              </a:rPr>
              <a:t>Inkondo y'umura</a:t>
            </a:r>
          </a:p>
          <a:p>
            <a:pPr>
              <a:lnSpc>
                <a:spcPct val="114000"/>
              </a:lnSpc>
              <a:spcAft>
                <a:spcPts val="700"/>
              </a:spcAft>
            </a:pPr>
            <a:r>
              <a:rPr lang="en-GB" sz="1350" b="0" i="0" dirty="0">
                <a:solidFill>
                  <a:srgbClr val="1A1A1A"/>
                </a:solidFill>
                <a:latin typeface="Calibri"/>
              </a:rPr>
              <a:t>Inkondo y'umura ni igice cyo hasi cya nyababyeyi. Ihuza nyababyeyi n'inzira umwana anyuramo avuka.</a:t>
            </a:r>
          </a:p>
        </p:txBody>
      </p:sp>
      <p:sp>
        <p:nvSpPr>
          <p:cNvPr id="6" name="Rounded Rectangle 5"/>
          <p:cNvSpPr/>
          <p:nvPr/>
        </p:nvSpPr>
        <p:spPr>
          <a:xfrm>
            <a:off x="4344405" y="1554480"/>
            <a:ext cx="2083827" cy="339242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4563861" y="1755648"/>
            <a:ext cx="1532139" cy="2913875"/>
          </a:xfrm>
          <a:prstGeom prst="rect">
            <a:avLst/>
          </a:prstGeom>
          <a:noFill/>
        </p:spPr>
        <p:txBody>
          <a:bodyPr wrap="square" lIns="0" tIns="0" rIns="0" bIns="0">
            <a:spAutoFit/>
          </a:bodyPr>
          <a:lstStyle/>
          <a:p>
            <a:pPr>
              <a:lnSpc>
                <a:spcPct val="114000"/>
              </a:lnSpc>
              <a:spcAft>
                <a:spcPts val="700"/>
              </a:spcAft>
            </a:pPr>
            <a:r>
              <a:rPr lang="en-GB" sz="1250" b="0" i="0" dirty="0">
                <a:solidFill>
                  <a:srgbClr val="1A1A1A"/>
                </a:solidFill>
                <a:latin typeface="Calibri"/>
              </a:rPr>
              <a:t>🧠  </a:t>
            </a:r>
            <a:r>
              <a:rPr lang="en-GB" sz="1300" b="1" i="0" dirty="0">
                <a:solidFill>
                  <a:srgbClr val="10305A"/>
                </a:solidFill>
                <a:latin typeface="Calibri"/>
              </a:rPr>
              <a:t>Aho itangirira</a:t>
            </a:r>
          </a:p>
          <a:p>
            <a:pPr>
              <a:lnSpc>
                <a:spcPct val="114000"/>
              </a:lnSpc>
              <a:spcAft>
                <a:spcPts val="700"/>
              </a:spcAft>
            </a:pPr>
            <a:r>
              <a:rPr lang="en-GB" sz="1300" b="0" i="0" dirty="0">
                <a:solidFill>
                  <a:srgbClr val="1A1A1A"/>
                </a:solidFill>
                <a:latin typeface="Calibri"/>
              </a:rPr>
              <a:t>Kanseri y'inkondo y'umura itangirira ku nkondo y'umura. Ntitangirira mu ibere, mu dusabo tw'intanga ngore cyangwa mu gifu.</a:t>
            </a:r>
          </a:p>
        </p:txBody>
      </p:sp>
      <p:sp>
        <p:nvSpPr>
          <p:cNvPr id="8" name="Rounded Rectangle 7"/>
          <p:cNvSpPr/>
          <p:nvPr/>
        </p:nvSpPr>
        <p:spPr>
          <a:xfrm>
            <a:off x="6647688" y="1554479"/>
            <a:ext cx="4977353" cy="3392425"/>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6876288" y="1755648"/>
            <a:ext cx="4529297" cy="1019125"/>
          </a:xfrm>
          <a:prstGeom prst="rect">
            <a:avLst/>
          </a:prstGeom>
          <a:noFill/>
        </p:spPr>
        <p:txBody>
          <a:bodyPr wrap="square" lIns="0" tIns="0" rIns="0" bIns="0">
            <a:spAutoFit/>
          </a:bodyPr>
          <a:lstStyle/>
          <a:p>
            <a:pPr>
              <a:lnSpc>
                <a:spcPct val="114000"/>
              </a:lnSpc>
              <a:spcAft>
                <a:spcPts val="700"/>
              </a:spcAft>
            </a:pPr>
            <a:r>
              <a:rPr lang="en-GB" sz="1700" b="0" i="0" dirty="0">
                <a:solidFill>
                  <a:srgbClr val="1A1A1A"/>
                </a:solidFill>
                <a:latin typeface="Calibri"/>
              </a:rPr>
              <a:t>🧪  </a:t>
            </a:r>
            <a:r>
              <a:rPr lang="en-GB" sz="1800" b="1" i="0" dirty="0">
                <a:solidFill>
                  <a:srgbClr val="10305A"/>
                </a:solidFill>
                <a:latin typeface="Calibri"/>
              </a:rPr>
              <a:t>Icyo iterwa na cyo</a:t>
            </a:r>
          </a:p>
          <a:p>
            <a:pPr>
              <a:lnSpc>
                <a:spcPct val="114000"/>
              </a:lnSpc>
              <a:spcAft>
                <a:spcPts val="700"/>
              </a:spcAft>
            </a:pPr>
            <a:r>
              <a:rPr lang="en-GB" sz="1800" b="0" i="0" dirty="0">
                <a:solidFill>
                  <a:srgbClr val="1A1A1A"/>
                </a:solidFill>
                <a:latin typeface="Calibri"/>
              </a:rPr>
              <a:t>Iterwa na virusi isanzwe yitwa HPV, iyo ubwandu bwayo bumaze imyaka myinshi mu mubiri.</a:t>
            </a:r>
          </a:p>
        </p:txBody>
      </p:sp>
      <p:sp>
        <p:nvSpPr>
          <p:cNvPr id="10" name="Rounded Rectangle 9"/>
          <p:cNvSpPr/>
          <p:nvPr/>
        </p:nvSpPr>
        <p:spPr>
          <a:xfrm>
            <a:off x="566926" y="5285232"/>
            <a:ext cx="11058113" cy="932688"/>
          </a:xfrm>
          <a:prstGeom prst="roundRect">
            <a:avLst>
              <a:gd name="adj" fmla="val 4500"/>
            </a:avLst>
          </a:prstGeom>
          <a:solidFill>
            <a:srgbClr val="ECF2FB"/>
          </a:solidFill>
          <a:ln w="12700">
            <a:solidFill>
              <a:srgbClr val="D3E0F2"/>
            </a:solidFill>
          </a:ln>
          <a:effectLst/>
        </p:spPr>
        <p:txBody>
          <a:bodyPr wrap="square" rtlCol="0" anchor="ctr"/>
          <a:lstStyle/>
          <a:p>
            <a:pPr algn="ctr"/>
            <a:endParaRPr lang="en-GB" dirty="0"/>
          </a:p>
        </p:txBody>
      </p:sp>
      <p:sp>
        <p:nvSpPr>
          <p:cNvPr id="11" name="TextBox 10"/>
          <p:cNvSpPr txBox="1"/>
          <p:nvPr/>
        </p:nvSpPr>
        <p:spPr>
          <a:xfrm>
            <a:off x="630936" y="5495544"/>
            <a:ext cx="10582625" cy="658368"/>
          </a:xfrm>
          <a:prstGeom prst="rect">
            <a:avLst/>
          </a:prstGeom>
          <a:noFill/>
        </p:spPr>
        <p:txBody>
          <a:bodyPr wrap="square" lIns="0" tIns="0" rIns="0" bIns="0">
            <a:spAutoFit/>
          </a:bodyPr>
          <a:lstStyle/>
          <a:p>
            <a:pPr>
              <a:lnSpc>
                <a:spcPct val="112000"/>
              </a:lnSpc>
            </a:pPr>
            <a:r>
              <a:rPr lang="en-GB" sz="1650" b="1" i="0" dirty="0">
                <a:solidFill>
                  <a:srgbClr val="1F4E96"/>
                </a:solidFill>
                <a:latin typeface="Calibri"/>
              </a:rPr>
              <a:t>📌 Wibuke:  </a:t>
            </a:r>
            <a:r>
              <a:rPr lang="en-GB" sz="1650" b="0" i="0" dirty="0">
                <a:solidFill>
                  <a:srgbClr val="1A1A1A"/>
                </a:solidFill>
                <a:latin typeface="Calibri"/>
              </a:rPr>
              <a:t>Kanseri y'inkondo y'umura yibasira inkondo y'umura gusa. Ni indwara itandukanye n'izindi kanseri zo mu nda, kandi yirindwa mu buryo butandukanye n'uko izo zirindwa.</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28</a:t>
            </a:r>
          </a:p>
        </p:txBody>
      </p:sp>
      <p:pic>
        <p:nvPicPr>
          <p:cNvPr id="14" name="Imagen 13">
            <a:extLst>
              <a:ext uri="{FF2B5EF4-FFF2-40B4-BE49-F238E27FC236}">
                <a16:creationId xmlns:a16="http://schemas.microsoft.com/office/drawing/2014/main" id="{C40A8ECD-E204-B643-B7E8-D8FC1DA6BFDB}"/>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1036667" y="3113936"/>
            <a:ext cx="2563678" cy="1709119"/>
          </a:xfrm>
          <a:prstGeom prst="rect">
            <a:avLst/>
          </a:prstGeom>
        </p:spPr>
      </p:pic>
      <p:pic>
        <p:nvPicPr>
          <p:cNvPr id="15" name="Imagen 14">
            <a:extLst>
              <a:ext uri="{FF2B5EF4-FFF2-40B4-BE49-F238E27FC236}">
                <a16:creationId xmlns:a16="http://schemas.microsoft.com/office/drawing/2014/main" id="{41A624EF-F6CE-FEFA-CE29-DB03D36FD4E4}"/>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663379" y="2832049"/>
            <a:ext cx="2945969" cy="196397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M I T E R E R E   Y ' U M U B I R I</a:t>
            </a:r>
          </a:p>
        </p:txBody>
      </p:sp>
      <p:sp>
        <p:nvSpPr>
          <p:cNvPr id="3" name="TextBox 2"/>
          <p:cNvSpPr txBox="1"/>
          <p:nvPr/>
        </p:nvSpPr>
        <p:spPr>
          <a:xfrm>
            <a:off x="566928" y="713232"/>
            <a:ext cx="11058113" cy="523220"/>
          </a:xfrm>
          <a:prstGeom prst="rect">
            <a:avLst/>
          </a:prstGeom>
          <a:noFill/>
        </p:spPr>
        <p:txBody>
          <a:bodyPr wrap="square" lIns="0" tIns="0" rIns="0" bIns="0">
            <a:spAutoFit/>
          </a:bodyPr>
          <a:lstStyle/>
          <a:p>
            <a:r>
              <a:rPr lang="en-GB" sz="2450" b="1" i="0" dirty="0">
                <a:solidFill>
                  <a:srgbClr val="10305A"/>
                </a:solidFill>
                <a:latin typeface="Cambria"/>
              </a:rPr>
              <a:t>Aho inkondo y'umura iherereye n'ibice bitatu </a:t>
            </a:r>
            <a:r>
              <a:rPr lang="en-GB" sz="2450" b="1" dirty="0">
                <a:solidFill>
                  <a:srgbClr val="10305A"/>
                </a:solidFill>
                <a:latin typeface="Cambria"/>
              </a:rPr>
              <a:t>byo kumenya</a:t>
            </a:r>
          </a:p>
        </p:txBody>
      </p:sp>
      <p:sp>
        <p:nvSpPr>
          <p:cNvPr id="6" name="TextBox 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7" name="TextBox 6"/>
          <p:cNvSpPr txBox="1"/>
          <p:nvPr/>
        </p:nvSpPr>
        <p:spPr>
          <a:xfrm>
            <a:off x="8881841" y="5897362"/>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29</a:t>
            </a:r>
          </a:p>
        </p:txBody>
      </p:sp>
      <p:pic>
        <p:nvPicPr>
          <p:cNvPr id="13" name="Picture 12">
            <a:extLst>
              <a:ext uri="{FF2B5EF4-FFF2-40B4-BE49-F238E27FC236}">
                <a16:creationId xmlns:a16="http://schemas.microsoft.com/office/drawing/2014/main" id="{BFFBF1C2-0397-87F9-5A72-A63D29170CB8}"/>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4840119" y="1468215"/>
            <a:ext cx="6487959" cy="3932829"/>
          </a:xfrm>
          <a:prstGeom prst="rect">
            <a:avLst/>
          </a:prstGeom>
        </p:spPr>
      </p:pic>
      <p:sp>
        <p:nvSpPr>
          <p:cNvPr id="5" name="Rounded Rectangle 3">
            <a:extLst>
              <a:ext uri="{FF2B5EF4-FFF2-40B4-BE49-F238E27FC236}">
                <a16:creationId xmlns:a16="http://schemas.microsoft.com/office/drawing/2014/main" id="{461A6BDB-00AA-3126-CD2A-3FF22937D751}"/>
              </a:ext>
            </a:extLst>
          </p:cNvPr>
          <p:cNvSpPr/>
          <p:nvPr/>
        </p:nvSpPr>
        <p:spPr>
          <a:xfrm>
            <a:off x="566928" y="1468215"/>
            <a:ext cx="3503157" cy="135567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4">
            <a:extLst>
              <a:ext uri="{FF2B5EF4-FFF2-40B4-BE49-F238E27FC236}">
                <a16:creationId xmlns:a16="http://schemas.microsoft.com/office/drawing/2014/main" id="{7EC0B22D-6BAF-BBB0-E2D0-054F7871663B}"/>
              </a:ext>
            </a:extLst>
          </p:cNvPr>
          <p:cNvSpPr txBox="1"/>
          <p:nvPr/>
        </p:nvSpPr>
        <p:spPr>
          <a:xfrm>
            <a:off x="786384" y="2120661"/>
            <a:ext cx="3064245" cy="613566"/>
          </a:xfrm>
          <a:prstGeom prst="rect">
            <a:avLst/>
          </a:prstGeom>
          <a:noFill/>
        </p:spPr>
        <p:txBody>
          <a:bodyPr wrap="square" lIns="0" tIns="0" rIns="0" bIns="0">
            <a:spAutoFit/>
          </a:bodyPr>
          <a:lstStyle/>
          <a:p>
            <a:pPr>
              <a:lnSpc>
                <a:spcPct val="114000"/>
              </a:lnSpc>
              <a:spcAft>
                <a:spcPts val="700"/>
              </a:spcAft>
            </a:pPr>
            <a:r>
              <a:rPr lang="en-GB" sz="1350" b="0" i="0" dirty="0">
                <a:solidFill>
                  <a:srgbClr val="1A1A1A"/>
                </a:solidFill>
                <a:latin typeface="Calibri"/>
              </a:rPr>
              <a:t>Urugingo ruri mu nda yo hasi, aho umwana akurira mu gihe cyo gutwita.</a:t>
            </a:r>
          </a:p>
        </p:txBody>
      </p:sp>
      <p:sp>
        <p:nvSpPr>
          <p:cNvPr id="9" name="Rounded Rectangle 5">
            <a:extLst>
              <a:ext uri="{FF2B5EF4-FFF2-40B4-BE49-F238E27FC236}">
                <a16:creationId xmlns:a16="http://schemas.microsoft.com/office/drawing/2014/main" id="{5F65DEC0-E7EF-0BE1-F4F5-6E8A588AE7ED}"/>
              </a:ext>
            </a:extLst>
          </p:cNvPr>
          <p:cNvSpPr/>
          <p:nvPr/>
        </p:nvSpPr>
        <p:spPr>
          <a:xfrm>
            <a:off x="564513" y="3092395"/>
            <a:ext cx="3503157" cy="150343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6">
            <a:extLst>
              <a:ext uri="{FF2B5EF4-FFF2-40B4-BE49-F238E27FC236}">
                <a16:creationId xmlns:a16="http://schemas.microsoft.com/office/drawing/2014/main" id="{18765497-3A96-9C7B-2337-193CD04241F1}"/>
              </a:ext>
            </a:extLst>
          </p:cNvPr>
          <p:cNvSpPr txBox="1"/>
          <p:nvPr/>
        </p:nvSpPr>
        <p:spPr>
          <a:xfrm>
            <a:off x="786384" y="3666476"/>
            <a:ext cx="3464084" cy="929357"/>
          </a:xfrm>
          <a:prstGeom prst="rect">
            <a:avLst/>
          </a:prstGeom>
          <a:noFill/>
        </p:spPr>
        <p:txBody>
          <a:bodyPr wrap="square" lIns="0" tIns="0" rIns="0" bIns="0">
            <a:spAutoFit/>
          </a:bodyPr>
          <a:lstStyle/>
          <a:p>
            <a:pPr>
              <a:lnSpc>
                <a:spcPct val="114000"/>
              </a:lnSpc>
              <a:spcAft>
                <a:spcPts val="700"/>
              </a:spcAft>
            </a:pPr>
            <a:r>
              <a:rPr lang="en-GB" sz="1550" b="0" i="0" dirty="0">
                <a:solidFill>
                  <a:srgbClr val="1A1A1A"/>
                </a:solidFill>
                <a:latin typeface="Calibri"/>
              </a:rPr>
              <a:t>Igice cyo hasi cya nyababyeyi. Ni gito, kandi umukozi w'ubuzima wabihuguriwe ashobora kukibona mu gihe cy'isuzuma.</a:t>
            </a:r>
          </a:p>
        </p:txBody>
      </p:sp>
      <p:sp>
        <p:nvSpPr>
          <p:cNvPr id="11" name="Rounded Rectangle 7">
            <a:extLst>
              <a:ext uri="{FF2B5EF4-FFF2-40B4-BE49-F238E27FC236}">
                <a16:creationId xmlns:a16="http://schemas.microsoft.com/office/drawing/2014/main" id="{C4DB66B6-BD2D-D543-D0D5-3BCBCDE484E2}"/>
              </a:ext>
            </a:extLst>
          </p:cNvPr>
          <p:cNvSpPr/>
          <p:nvPr/>
        </p:nvSpPr>
        <p:spPr>
          <a:xfrm>
            <a:off x="564513" y="4828719"/>
            <a:ext cx="3503156" cy="123496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8">
            <a:extLst>
              <a:ext uri="{FF2B5EF4-FFF2-40B4-BE49-F238E27FC236}">
                <a16:creationId xmlns:a16="http://schemas.microsoft.com/office/drawing/2014/main" id="{A97BCCCF-26D5-0677-9F8A-721CF623F4A8}"/>
              </a:ext>
            </a:extLst>
          </p:cNvPr>
          <p:cNvSpPr txBox="1"/>
          <p:nvPr/>
        </p:nvSpPr>
        <p:spPr>
          <a:xfrm>
            <a:off x="767693" y="5398437"/>
            <a:ext cx="2972805" cy="613566"/>
          </a:xfrm>
          <a:prstGeom prst="rect">
            <a:avLst/>
          </a:prstGeom>
          <a:noFill/>
        </p:spPr>
        <p:txBody>
          <a:bodyPr wrap="square" lIns="0" tIns="0" rIns="0" bIns="0">
            <a:spAutoFit/>
          </a:bodyPr>
          <a:lstStyle/>
          <a:p>
            <a:pPr>
              <a:lnSpc>
                <a:spcPct val="114000"/>
              </a:lnSpc>
              <a:spcAft>
                <a:spcPts val="700"/>
              </a:spcAft>
            </a:pPr>
            <a:r>
              <a:rPr lang="en-GB" sz="1600" b="0" i="0" dirty="0">
                <a:solidFill>
                  <a:srgbClr val="1A1A1A"/>
                </a:solidFill>
                <a:latin typeface="Calibri"/>
              </a:rPr>
              <a:t>Inzira iri munsi y'inkondo y'umura, igana hanze y'umubiri.</a:t>
            </a:r>
          </a:p>
        </p:txBody>
      </p:sp>
      <p:sp>
        <p:nvSpPr>
          <p:cNvPr id="14" name="Oval 18">
            <a:extLst>
              <a:ext uri="{FF2B5EF4-FFF2-40B4-BE49-F238E27FC236}">
                <a16:creationId xmlns:a16="http://schemas.microsoft.com/office/drawing/2014/main" id="{172A0252-66D5-14C0-FBD6-A43A2178A47E}"/>
              </a:ext>
            </a:extLst>
          </p:cNvPr>
          <p:cNvSpPr/>
          <p:nvPr/>
        </p:nvSpPr>
        <p:spPr>
          <a:xfrm>
            <a:off x="742690" y="1545506"/>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1</a:t>
            </a:r>
          </a:p>
        </p:txBody>
      </p:sp>
      <p:sp>
        <p:nvSpPr>
          <p:cNvPr id="15" name="Oval 20">
            <a:extLst>
              <a:ext uri="{FF2B5EF4-FFF2-40B4-BE49-F238E27FC236}">
                <a16:creationId xmlns:a16="http://schemas.microsoft.com/office/drawing/2014/main" id="{EBABCDCF-B11C-C72E-7AE0-90C95418792B}"/>
              </a:ext>
            </a:extLst>
          </p:cNvPr>
          <p:cNvSpPr/>
          <p:nvPr/>
        </p:nvSpPr>
        <p:spPr>
          <a:xfrm>
            <a:off x="661515" y="3114822"/>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2</a:t>
            </a:r>
          </a:p>
        </p:txBody>
      </p:sp>
      <p:sp>
        <p:nvSpPr>
          <p:cNvPr id="16" name="Oval 22">
            <a:extLst>
              <a:ext uri="{FF2B5EF4-FFF2-40B4-BE49-F238E27FC236}">
                <a16:creationId xmlns:a16="http://schemas.microsoft.com/office/drawing/2014/main" id="{93B0BD76-3F1F-3993-3849-5483764DA97C}"/>
              </a:ext>
            </a:extLst>
          </p:cNvPr>
          <p:cNvSpPr/>
          <p:nvPr/>
        </p:nvSpPr>
        <p:spPr>
          <a:xfrm>
            <a:off x="685396" y="4882719"/>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3</a:t>
            </a:r>
          </a:p>
        </p:txBody>
      </p:sp>
      <p:sp>
        <p:nvSpPr>
          <p:cNvPr id="17" name="TextBox 24">
            <a:extLst>
              <a:ext uri="{FF2B5EF4-FFF2-40B4-BE49-F238E27FC236}">
                <a16:creationId xmlns:a16="http://schemas.microsoft.com/office/drawing/2014/main" id="{D0DF3D99-9738-E8F2-8DDA-CE5B0209328C}"/>
              </a:ext>
            </a:extLst>
          </p:cNvPr>
          <p:cNvSpPr txBox="1"/>
          <p:nvPr/>
        </p:nvSpPr>
        <p:spPr>
          <a:xfrm>
            <a:off x="1140585" y="3215407"/>
            <a:ext cx="1175523" cy="297774"/>
          </a:xfrm>
          <a:prstGeom prst="rect">
            <a:avLst/>
          </a:prstGeom>
          <a:noFill/>
        </p:spPr>
        <p:txBody>
          <a:bodyPr wrap="square" lIns="0" tIns="0" rIns="0" bIns="0">
            <a:spAutoFit/>
          </a:bodyPr>
          <a:lstStyle/>
          <a:p>
            <a:pPr>
              <a:lnSpc>
                <a:spcPct val="114000"/>
              </a:lnSpc>
              <a:spcAft>
                <a:spcPts val="700"/>
              </a:spcAft>
            </a:pPr>
            <a:r>
              <a:rPr lang="en-GB" sz="1050" b="0" i="0" dirty="0">
                <a:solidFill>
                  <a:srgbClr val="1A1A1A"/>
                </a:solidFill>
                <a:latin typeface="Calibri"/>
              </a:rPr>
              <a:t>  </a:t>
            </a:r>
            <a:r>
              <a:rPr lang="en-GB" sz="1100" b="1" i="0" dirty="0">
                <a:solidFill>
                  <a:srgbClr val="10305A"/>
                </a:solidFill>
                <a:latin typeface="Calibri"/>
              </a:rPr>
              <a:t>Inkondo y'umura</a:t>
            </a:r>
          </a:p>
        </p:txBody>
      </p:sp>
      <p:sp>
        <p:nvSpPr>
          <p:cNvPr id="18" name="TextBox 26">
            <a:extLst>
              <a:ext uri="{FF2B5EF4-FFF2-40B4-BE49-F238E27FC236}">
                <a16:creationId xmlns:a16="http://schemas.microsoft.com/office/drawing/2014/main" id="{390E3D2D-B32E-7F4B-0D40-75BF1508DC52}"/>
              </a:ext>
            </a:extLst>
          </p:cNvPr>
          <p:cNvSpPr txBox="1"/>
          <p:nvPr/>
        </p:nvSpPr>
        <p:spPr>
          <a:xfrm>
            <a:off x="1305046" y="1643043"/>
            <a:ext cx="2087378" cy="297774"/>
          </a:xfrm>
          <a:prstGeom prst="rect">
            <a:avLst/>
          </a:prstGeom>
          <a:noFill/>
        </p:spPr>
        <p:txBody>
          <a:bodyPr wrap="square" lIns="0" tIns="0" rIns="0" bIns="0">
            <a:spAutoFit/>
          </a:bodyPr>
          <a:lstStyle/>
          <a:p>
            <a:pPr>
              <a:lnSpc>
                <a:spcPct val="114000"/>
              </a:lnSpc>
              <a:spcAft>
                <a:spcPts val="700"/>
              </a:spcAft>
            </a:pPr>
            <a:r>
              <a:rPr lang="en-GB" sz="1350" b="0" i="0" dirty="0">
                <a:solidFill>
                  <a:srgbClr val="1A1A1A"/>
                </a:solidFill>
                <a:latin typeface="Calibri"/>
              </a:rPr>
              <a:t>  </a:t>
            </a:r>
            <a:r>
              <a:rPr lang="en-GB" sz="1450" b="1" i="0" dirty="0">
                <a:solidFill>
                  <a:srgbClr val="10305A"/>
                </a:solidFill>
                <a:latin typeface="Calibri"/>
              </a:rPr>
              <a:t>Nyababyeyi (uterus)</a:t>
            </a:r>
          </a:p>
        </p:txBody>
      </p:sp>
      <p:sp>
        <p:nvSpPr>
          <p:cNvPr id="19" name="TextBox 28">
            <a:extLst>
              <a:ext uri="{FF2B5EF4-FFF2-40B4-BE49-F238E27FC236}">
                <a16:creationId xmlns:a16="http://schemas.microsoft.com/office/drawing/2014/main" id="{FEF978EA-7290-07E7-3740-A9285E890F33}"/>
              </a:ext>
            </a:extLst>
          </p:cNvPr>
          <p:cNvSpPr txBox="1"/>
          <p:nvPr/>
        </p:nvSpPr>
        <p:spPr>
          <a:xfrm>
            <a:off x="1160884" y="4981169"/>
            <a:ext cx="2073930" cy="297774"/>
          </a:xfrm>
          <a:prstGeom prst="rect">
            <a:avLst/>
          </a:prstGeom>
          <a:noFill/>
        </p:spPr>
        <p:txBody>
          <a:bodyPr wrap="square" lIns="0" tIns="0" rIns="0" bIns="0">
            <a:spAutoFit/>
          </a:bodyPr>
          <a:lstStyle/>
          <a:p>
            <a:pPr>
              <a:lnSpc>
                <a:spcPct val="114000"/>
              </a:lnSpc>
              <a:spcAft>
                <a:spcPts val="700"/>
              </a:spcAft>
            </a:pPr>
            <a:r>
              <a:rPr lang="en-GB" sz="1000" b="0" i="0" dirty="0">
                <a:solidFill>
                  <a:srgbClr val="1A1A1A"/>
                </a:solidFill>
                <a:latin typeface="Calibri"/>
              </a:rPr>
              <a:t>  </a:t>
            </a:r>
            <a:r>
              <a:rPr lang="en-GB" sz="1050" b="1" i="0" dirty="0">
                <a:solidFill>
                  <a:srgbClr val="10305A"/>
                </a:solidFill>
                <a:latin typeface="Calibri"/>
              </a:rPr>
              <a:t>Inzira umwana anyuramo avuka</a:t>
            </a:r>
          </a:p>
        </p:txBody>
      </p:sp>
      <p:sp>
        <p:nvSpPr>
          <p:cNvPr id="20" name="Rounded Rectangle 9">
            <a:extLst>
              <a:ext uri="{FF2B5EF4-FFF2-40B4-BE49-F238E27FC236}">
                <a16:creationId xmlns:a16="http://schemas.microsoft.com/office/drawing/2014/main" id="{C1EC4845-DD25-D629-8CCA-A95C9E088923}"/>
              </a:ext>
            </a:extLst>
          </p:cNvPr>
          <p:cNvSpPr/>
          <p:nvPr/>
        </p:nvSpPr>
        <p:spPr>
          <a:xfrm>
            <a:off x="4543157" y="5513704"/>
            <a:ext cx="7081884" cy="993393"/>
          </a:xfrm>
          <a:prstGeom prst="roundRect">
            <a:avLst>
              <a:gd name="adj" fmla="val 4500"/>
            </a:avLst>
          </a:prstGeom>
          <a:solidFill>
            <a:srgbClr val="ECF2FB"/>
          </a:solidFill>
          <a:ln w="12700">
            <a:solidFill>
              <a:srgbClr val="D3E0F2"/>
            </a:solidFill>
          </a:ln>
          <a:effectLst/>
        </p:spPr>
        <p:txBody>
          <a:bodyPr wrap="square" rtlCol="0" anchor="ctr"/>
          <a:lstStyle/>
          <a:p>
            <a:pPr algn="ctr"/>
            <a:endParaRPr lang="en-GB" dirty="0"/>
          </a:p>
        </p:txBody>
      </p:sp>
      <p:sp>
        <p:nvSpPr>
          <p:cNvPr id="21" name="TextBox 10">
            <a:extLst>
              <a:ext uri="{FF2B5EF4-FFF2-40B4-BE49-F238E27FC236}">
                <a16:creationId xmlns:a16="http://schemas.microsoft.com/office/drawing/2014/main" id="{3D8C82AB-A4D8-E632-DC6D-E3420158E955}"/>
              </a:ext>
            </a:extLst>
          </p:cNvPr>
          <p:cNvSpPr txBox="1"/>
          <p:nvPr/>
        </p:nvSpPr>
        <p:spPr>
          <a:xfrm>
            <a:off x="4726068" y="5593065"/>
            <a:ext cx="6777370" cy="914033"/>
          </a:xfrm>
          <a:prstGeom prst="rect">
            <a:avLst/>
          </a:prstGeom>
          <a:noFill/>
        </p:spPr>
        <p:txBody>
          <a:bodyPr wrap="square" lIns="0" tIns="0" rIns="0" bIns="0">
            <a:spAutoFit/>
          </a:bodyPr>
          <a:lstStyle/>
          <a:p>
            <a:pPr>
              <a:lnSpc>
                <a:spcPct val="112000"/>
              </a:lnSpc>
            </a:pPr>
            <a:r>
              <a:rPr lang="en-GB" sz="1650" b="1" i="0" dirty="0">
                <a:solidFill>
                  <a:srgbClr val="1F4E96"/>
                </a:solidFill>
                <a:latin typeface="Calibri"/>
              </a:rPr>
              <a:t>🔎 Impamvu ibi ari ingenzi:  </a:t>
            </a:r>
            <a:r>
              <a:rPr lang="en-GB" sz="1650" b="0" i="0" dirty="0">
                <a:solidFill>
                  <a:srgbClr val="1A1A1A"/>
                </a:solidFill>
                <a:latin typeface="Calibri"/>
              </a:rPr>
              <a:t>Kubera ko inkondo y'umura ishobora kubonwa no kugerwaho mu gihe cy'isuzuma, impinduka zishobora kuboneka hakiri kare zikavurwa. Ubu ni bumwe mu buryo bwo kwirinda kanseri y'inkondo y'umura.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Itangirira he?</a:t>
            </a:r>
          </a:p>
        </p:txBody>
      </p:sp>
      <p:sp>
        <p:nvSpPr>
          <p:cNvPr id="4" name="TextBox 3"/>
          <p:cNvSpPr txBox="1"/>
          <p:nvPr/>
        </p:nvSpPr>
        <p:spPr>
          <a:xfrm>
            <a:off x="566928" y="1517904"/>
            <a:ext cx="11058113" cy="320040"/>
          </a:xfrm>
          <a:prstGeom prst="rect">
            <a:avLst/>
          </a:prstGeom>
          <a:noFill/>
        </p:spPr>
        <p:txBody>
          <a:bodyPr wrap="square" lIns="0" tIns="0" rIns="0" bIns="0">
            <a:spAutoFit/>
          </a:bodyPr>
          <a:lstStyle/>
          <a:p>
            <a:r>
              <a:rPr lang="en-GB" sz="1700" b="0" i="1" dirty="0">
                <a:solidFill>
                  <a:srgbClr val="1F4E96"/>
                </a:solidFill>
                <a:latin typeface="Calibri"/>
              </a:rPr>
              <a:t>Hitamo igisubizo waha umugore mu nama y'abaturage.</a:t>
            </a:r>
          </a:p>
        </p:txBody>
      </p:sp>
      <p:sp>
        <p:nvSpPr>
          <p:cNvPr id="5" name="TextBox 4"/>
          <p:cNvSpPr txBox="1"/>
          <p:nvPr/>
        </p:nvSpPr>
        <p:spPr>
          <a:xfrm>
            <a:off x="566928" y="1920240"/>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akubajije igice cy'umubiri kanseri y'inkondo y'umura yibasira. Wamubwira iki?</a:t>
            </a:r>
          </a:p>
        </p:txBody>
      </p:sp>
      <p:sp>
        <p:nvSpPr>
          <p:cNvPr id="6" name="Rounded Rectangle 5"/>
          <p:cNvSpPr/>
          <p:nvPr/>
        </p:nvSpPr>
        <p:spPr>
          <a:xfrm>
            <a:off x="566928" y="239572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841247" y="245059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Mu ibere</a:t>
            </a:r>
          </a:p>
        </p:txBody>
      </p:sp>
      <p:sp>
        <p:nvSpPr>
          <p:cNvPr id="13" name="Rounded Rectangle 12"/>
          <p:cNvSpPr/>
          <p:nvPr/>
        </p:nvSpPr>
        <p:spPr>
          <a:xfrm>
            <a:off x="566928" y="29900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41247" y="30449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Impyiko</a:t>
            </a:r>
          </a:p>
        </p:txBody>
      </p:sp>
      <p:sp>
        <p:nvSpPr>
          <p:cNvPr id="11" name="Rounded Rectangle 10"/>
          <p:cNvSpPr/>
          <p:nvPr/>
        </p:nvSpPr>
        <p:spPr>
          <a:xfrm>
            <a:off x="566928" y="35844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6393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Inda yose icyarimwe</a:t>
            </a:r>
          </a:p>
        </p:txBody>
      </p:sp>
      <p:sp>
        <p:nvSpPr>
          <p:cNvPr id="8" name="Rounded Rectangle 7"/>
          <p:cNvSpPr/>
          <p:nvPr/>
        </p:nvSpPr>
        <p:spPr>
          <a:xfrm>
            <a:off x="566928" y="417880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9" name="TextBox 8"/>
          <p:cNvSpPr txBox="1"/>
          <p:nvPr/>
        </p:nvSpPr>
        <p:spPr>
          <a:xfrm>
            <a:off x="841247" y="42336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Inkondo y'umura, ari cyo gice cyo hasi cya nyababyeyi</a:t>
            </a:r>
          </a:p>
        </p:txBody>
      </p:sp>
      <p:sp>
        <p:nvSpPr>
          <p:cNvPr id="15" name="Rounded Rectangle 14"/>
          <p:cNvSpPr/>
          <p:nvPr/>
        </p:nvSpPr>
        <p:spPr>
          <a:xfrm>
            <a:off x="566928" y="4782312"/>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6" name="TextBox 15"/>
          <p:cNvSpPr txBox="1"/>
          <p:nvPr/>
        </p:nvSpPr>
        <p:spPr>
          <a:xfrm>
            <a:off x="822960" y="4910328"/>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D</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Kanseri y'inkondo y'umura itangirira ku nkondo y'umura, igice cyo hasi cya nyababyeyi. Kubisobanura mu buryo bworoshye bifasha abagore kumva impamvu isuzuma rikorerwa aho rikorerwa, n'impamvu iyi kanseri itandukanye n'izindi.</a:t>
            </a:r>
          </a:p>
        </p:txBody>
      </p:sp>
      <p:sp>
        <p:nvSpPr>
          <p:cNvPr id="17" name="TextBox 1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8" name="TextBox 1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30</a:t>
            </a:r>
          </a:p>
        </p:txBody>
      </p:sp>
      <p:sp>
        <p:nvSpPr>
          <p:cNvPr id="10" name="TextBox 9"/>
          <p:cNvSpPr txBox="1"/>
          <p:nvPr/>
        </p:nvSpPr>
        <p:spPr>
          <a:xfrm>
            <a:off x="11094689" y="428853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H P V</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HPV: virusi ikunze kugaragara cyane</a:t>
            </a:r>
          </a:p>
        </p:txBody>
      </p:sp>
      <p:sp>
        <p:nvSpPr>
          <p:cNvPr id="4" name="Rounded Rectangle 3"/>
          <p:cNvSpPr/>
          <p:nvPr/>
        </p:nvSpPr>
        <p:spPr>
          <a:xfrm>
            <a:off x="566928" y="1554480"/>
            <a:ext cx="3140099" cy="332841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786385" y="1755648"/>
            <a:ext cx="3007140" cy="1334917"/>
          </a:xfrm>
          <a:prstGeom prst="rect">
            <a:avLst/>
          </a:prstGeom>
          <a:noFill/>
        </p:spPr>
        <p:txBody>
          <a:bodyPr wrap="square" lIns="0" tIns="0" rIns="0" bIns="0">
            <a:spAutoFit/>
          </a:bodyPr>
          <a:lstStyle/>
          <a:p>
            <a:pPr>
              <a:lnSpc>
                <a:spcPct val="114000"/>
              </a:lnSpc>
              <a:spcAft>
                <a:spcPts val="700"/>
              </a:spcAft>
            </a:pPr>
            <a:r>
              <a:rPr lang="en-GB" sz="1300" b="0" i="0" dirty="0">
                <a:solidFill>
                  <a:srgbClr val="1A1A1A"/>
                </a:solidFill>
                <a:latin typeface="Calibri"/>
              </a:rPr>
              <a:t>🧪  </a:t>
            </a:r>
            <a:r>
              <a:rPr lang="en-GB" sz="1350" b="1" i="0" dirty="0">
                <a:solidFill>
                  <a:srgbClr val="10305A"/>
                </a:solidFill>
                <a:latin typeface="Calibri"/>
              </a:rPr>
              <a:t>Irasanzwe</a:t>
            </a:r>
          </a:p>
          <a:p>
            <a:pPr>
              <a:lnSpc>
                <a:spcPct val="114000"/>
              </a:lnSpc>
              <a:spcAft>
                <a:spcPts val="700"/>
              </a:spcAft>
            </a:pPr>
            <a:r>
              <a:rPr lang="en-GB" sz="1350" b="0" i="0" dirty="0">
                <a:solidFill>
                  <a:srgbClr val="1A1A1A"/>
                </a:solidFill>
                <a:latin typeface="Calibri"/>
              </a:rPr>
              <a:t>HPV ni virusi ikunze kugaragara cyane. Abantu bakuru benshi bahura na yo igihe runaka mu buzima bwabo.</a:t>
            </a:r>
          </a:p>
        </p:txBody>
      </p:sp>
      <p:sp>
        <p:nvSpPr>
          <p:cNvPr id="6" name="Rounded Rectangle 5"/>
          <p:cNvSpPr/>
          <p:nvPr/>
        </p:nvSpPr>
        <p:spPr>
          <a:xfrm>
            <a:off x="4004017" y="1554480"/>
            <a:ext cx="3354876" cy="332841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4217868" y="1755648"/>
            <a:ext cx="3064245" cy="2011680"/>
          </a:xfrm>
          <a:prstGeom prst="rect">
            <a:avLst/>
          </a:prstGeom>
          <a:noFill/>
        </p:spPr>
        <p:txBody>
          <a:bodyPr wrap="square" lIns="0" tIns="0" rIns="0" bIns="0">
            <a:spAutoFit/>
          </a:bodyPr>
          <a:lstStyle/>
          <a:p>
            <a:pPr>
              <a:lnSpc>
                <a:spcPct val="114000"/>
              </a:lnSpc>
              <a:spcAft>
                <a:spcPts val="700"/>
              </a:spcAft>
            </a:pPr>
            <a:r>
              <a:rPr lang="en-GB" sz="1050" b="0" i="0" dirty="0">
                <a:solidFill>
                  <a:srgbClr val="1A1A1A"/>
                </a:solidFill>
                <a:latin typeface="Calibri"/>
              </a:rPr>
              <a:t>🔇  </a:t>
            </a:r>
            <a:r>
              <a:rPr lang="en-GB" sz="1100" b="1" i="0" dirty="0">
                <a:solidFill>
                  <a:srgbClr val="10305A"/>
                </a:solidFill>
                <a:latin typeface="Calibri"/>
              </a:rPr>
              <a:t>Ntigaragaza ibimenyetso</a:t>
            </a:r>
          </a:p>
          <a:p>
            <a:pPr>
              <a:lnSpc>
                <a:spcPct val="114000"/>
              </a:lnSpc>
              <a:spcAft>
                <a:spcPts val="700"/>
              </a:spcAft>
            </a:pPr>
            <a:r>
              <a:rPr lang="en-GB" sz="1100" b="0" i="0" dirty="0">
                <a:solidFill>
                  <a:srgbClr val="1A1A1A"/>
                </a:solidFill>
                <a:latin typeface="Calibri"/>
              </a:rPr>
              <a:t>HPV ntitera ububabare, ntitera uduheri ku ruhu, kandi ntitera ibisohoka mu gitsina. Umuntu ntashobora kuyumva cyangwa ngo ayibone.</a:t>
            </a:r>
          </a:p>
        </p:txBody>
      </p:sp>
      <p:sp>
        <p:nvSpPr>
          <p:cNvPr id="8" name="Rounded Rectangle 7"/>
          <p:cNvSpPr/>
          <p:nvPr/>
        </p:nvSpPr>
        <p:spPr>
          <a:xfrm>
            <a:off x="7655883" y="1554480"/>
            <a:ext cx="3969158" cy="332841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7883024" y="1755648"/>
            <a:ext cx="3533135" cy="1334917"/>
          </a:xfrm>
          <a:prstGeom prst="rect">
            <a:avLst/>
          </a:prstGeom>
          <a:noFill/>
        </p:spPr>
        <p:txBody>
          <a:bodyPr wrap="square" lIns="0" tIns="0" rIns="0" bIns="0">
            <a:spAutoFit/>
          </a:bodyPr>
          <a:lstStyle/>
          <a:p>
            <a:pPr>
              <a:lnSpc>
                <a:spcPct val="114000"/>
              </a:lnSpc>
              <a:spcAft>
                <a:spcPts val="700"/>
              </a:spcAft>
            </a:pPr>
            <a:r>
              <a:rPr lang="en-GB" sz="1500" b="0" i="0" dirty="0">
                <a:solidFill>
                  <a:srgbClr val="1A1A1A"/>
                </a:solidFill>
                <a:latin typeface="Calibri"/>
              </a:rPr>
              <a:t>⏱  </a:t>
            </a:r>
            <a:r>
              <a:rPr lang="en-GB" sz="1600" b="1" i="0" dirty="0">
                <a:solidFill>
                  <a:srgbClr val="10305A"/>
                </a:solidFill>
                <a:latin typeface="Calibri"/>
              </a:rPr>
              <a:t>Igihe ni cyo cy'ingenzi</a:t>
            </a:r>
          </a:p>
          <a:p>
            <a:pPr>
              <a:lnSpc>
                <a:spcPct val="114000"/>
              </a:lnSpc>
              <a:spcAft>
                <a:spcPts val="700"/>
              </a:spcAft>
            </a:pPr>
            <a:r>
              <a:rPr lang="en-GB" sz="1600" b="0" i="0" dirty="0">
                <a:solidFill>
                  <a:srgbClr val="1A1A1A"/>
                </a:solidFill>
                <a:latin typeface="Calibri"/>
              </a:rPr>
              <a:t>Ubwandu bwinshi bushira mu mubiri ubwabwo. Ubwandu bumara imyaka myinshi gusa ni bwo bushobora gutera ingaruka mbi.</a:t>
            </a:r>
          </a:p>
        </p:txBody>
      </p:sp>
      <p:sp>
        <p:nvSpPr>
          <p:cNvPr id="10" name="Rounded Rectangle 9"/>
          <p:cNvSpPr/>
          <p:nvPr/>
        </p:nvSpPr>
        <p:spPr>
          <a:xfrm>
            <a:off x="566928" y="5102352"/>
            <a:ext cx="11058113" cy="932688"/>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1" name="TextBox 10"/>
          <p:cNvSpPr txBox="1"/>
          <p:nvPr/>
        </p:nvSpPr>
        <p:spPr>
          <a:xfrm>
            <a:off x="804672" y="5248656"/>
            <a:ext cx="10582625" cy="658368"/>
          </a:xfrm>
          <a:prstGeom prst="rect">
            <a:avLst/>
          </a:prstGeom>
          <a:noFill/>
        </p:spPr>
        <p:txBody>
          <a:bodyPr wrap="square" lIns="0" tIns="0" rIns="0" bIns="0">
            <a:spAutoFit/>
          </a:bodyPr>
          <a:lstStyle/>
          <a:p>
            <a:pPr>
              <a:lnSpc>
                <a:spcPct val="112000"/>
              </a:lnSpc>
            </a:pPr>
            <a:r>
              <a:rPr lang="en-GB" sz="1800" b="1" i="0" dirty="0">
                <a:solidFill>
                  <a:srgbClr val="1C6B3F"/>
                </a:solidFill>
                <a:latin typeface="Calibri"/>
              </a:rPr>
              <a:t>💬 Bivuge utya:  </a:t>
            </a:r>
            <a:r>
              <a:rPr lang="en-GB" sz="1800" b="0" i="0" dirty="0">
                <a:solidFill>
                  <a:srgbClr val="1A1A1A"/>
                </a:solidFill>
                <a:latin typeface="Calibri"/>
              </a:rPr>
              <a:t>HPV ni virusi isanzwe. Hafi ya buri wese ahura na yo. Ku bantu benshi ishira ubwayo, kandi nta cyo ivuga ku buryo umuntu yabayeho.</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31</a:t>
            </a:r>
          </a:p>
        </p:txBody>
      </p:sp>
      <p:pic>
        <p:nvPicPr>
          <p:cNvPr id="21" name="Picture 20">
            <a:extLst>
              <a:ext uri="{FF2B5EF4-FFF2-40B4-BE49-F238E27FC236}">
                <a16:creationId xmlns:a16="http://schemas.microsoft.com/office/drawing/2014/main" id="{CAA112A9-1BC2-C002-FAB7-293209456B0F}"/>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1144638" y="3168289"/>
            <a:ext cx="2056049" cy="1636883"/>
          </a:xfrm>
          <a:prstGeom prst="rect">
            <a:avLst/>
          </a:prstGeom>
        </p:spPr>
      </p:pic>
      <p:pic>
        <p:nvPicPr>
          <p:cNvPr id="23" name="Picture 22">
            <a:extLst>
              <a:ext uri="{FF2B5EF4-FFF2-40B4-BE49-F238E27FC236}">
                <a16:creationId xmlns:a16="http://schemas.microsoft.com/office/drawing/2014/main" id="{A08CFE4C-87DF-7BF4-0DA8-011B11483E40}"/>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5055932" y="3191180"/>
            <a:ext cx="1251045" cy="1554632"/>
          </a:xfrm>
          <a:prstGeom prst="rect">
            <a:avLst/>
          </a:prstGeom>
        </p:spPr>
      </p:pic>
      <p:pic>
        <p:nvPicPr>
          <p:cNvPr id="14" name="Imagen 13">
            <a:extLst>
              <a:ext uri="{FF2B5EF4-FFF2-40B4-BE49-F238E27FC236}">
                <a16:creationId xmlns:a16="http://schemas.microsoft.com/office/drawing/2014/main" id="{A0A4399C-2EC6-DABB-A491-AC1C630AA01B}"/>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8120177" y="3079984"/>
            <a:ext cx="2827283" cy="853374"/>
          </a:xfrm>
          <a:prstGeom prst="rect">
            <a:avLst/>
          </a:prstGeom>
        </p:spPr>
      </p:pic>
      <p:pic>
        <p:nvPicPr>
          <p:cNvPr id="15" name="Imagen 14">
            <a:extLst>
              <a:ext uri="{FF2B5EF4-FFF2-40B4-BE49-F238E27FC236}">
                <a16:creationId xmlns:a16="http://schemas.microsoft.com/office/drawing/2014/main" id="{F5B12269-1A50-E0EB-1EC8-B37FB1843CF4}"/>
              </a:ext>
            </a:extLst>
          </p:cNvPr>
          <p:cNvPicPr>
            <a:picLocks noChangeAspect="1"/>
          </p:cNvPicPr>
          <p:nvPr/>
        </p:nvPicPr>
        <p:blipFill>
          <a:blip r:embed="rId5" cstate="hqprint">
            <a:extLst>
              <a:ext uri="{28A0092B-C50C-407E-A947-70E740481C1C}">
                <a14:useLocalDpi xmlns:a14="http://schemas.microsoft.com/office/drawing/2010/main"/>
              </a:ext>
            </a:extLst>
          </a:blip>
          <a:srcRect l="9229" t="56219" r="1961"/>
          <a:stretch>
            <a:fillRect/>
          </a:stretch>
        </p:blipFill>
        <p:spPr>
          <a:xfrm>
            <a:off x="7903148" y="3941808"/>
            <a:ext cx="3468414" cy="93263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H P V</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600" b="1" i="0" dirty="0">
                <a:solidFill>
                  <a:srgbClr val="10305A"/>
                </a:solidFill>
                <a:latin typeface="Cambria"/>
              </a:rPr>
              <a:t>Ibikunze kubaho nyuma yo kwandura HPV</a:t>
            </a:r>
          </a:p>
        </p:txBody>
      </p:sp>
      <p:sp>
        <p:nvSpPr>
          <p:cNvPr id="4" name="Rounded Rectangle 3"/>
          <p:cNvSpPr/>
          <p:nvPr/>
        </p:nvSpPr>
        <p:spPr>
          <a:xfrm>
            <a:off x="566928" y="1325880"/>
            <a:ext cx="2476492" cy="419709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Oval 4"/>
          <p:cNvSpPr/>
          <p:nvPr/>
        </p:nvSpPr>
        <p:spPr>
          <a:xfrm>
            <a:off x="643886" y="1547622"/>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1</a:t>
            </a:r>
          </a:p>
        </p:txBody>
      </p:sp>
      <p:sp>
        <p:nvSpPr>
          <p:cNvPr id="6" name="TextBox 5"/>
          <p:cNvSpPr txBox="1"/>
          <p:nvPr/>
        </p:nvSpPr>
        <p:spPr>
          <a:xfrm>
            <a:off x="566928" y="2697480"/>
            <a:ext cx="2464284" cy="914033"/>
          </a:xfrm>
          <a:prstGeom prst="rect">
            <a:avLst/>
          </a:prstGeom>
          <a:noFill/>
        </p:spPr>
        <p:txBody>
          <a:bodyPr wrap="square" lIns="0" tIns="0" rIns="0" bIns="0">
            <a:spAutoFit/>
          </a:bodyPr>
          <a:lstStyle/>
          <a:p>
            <a:pPr algn="ctr">
              <a:lnSpc>
                <a:spcPct val="112000"/>
              </a:lnSpc>
            </a:pPr>
            <a:r>
              <a:rPr lang="en-GB" sz="1500" b="0" i="0" dirty="0">
                <a:solidFill>
                  <a:srgbClr val="1A1A1A"/>
                </a:solidFill>
                <a:latin typeface="Calibri"/>
              </a:rPr>
              <a:t>Umuntu yandura virusi ya HPV. Nta bimenyetso bigaragara.</a:t>
            </a:r>
          </a:p>
        </p:txBody>
      </p:sp>
      <p:sp>
        <p:nvSpPr>
          <p:cNvPr id="7" name="Rounded Rectangle 6"/>
          <p:cNvSpPr/>
          <p:nvPr/>
        </p:nvSpPr>
        <p:spPr>
          <a:xfrm>
            <a:off x="3098284" y="2281428"/>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8" name="Rounded Rectangle 7"/>
          <p:cNvSpPr/>
          <p:nvPr/>
        </p:nvSpPr>
        <p:spPr>
          <a:xfrm>
            <a:off x="3427468" y="1325880"/>
            <a:ext cx="3267826" cy="419709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3551710" y="1489236"/>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2</a:t>
            </a:r>
          </a:p>
        </p:txBody>
      </p:sp>
      <p:sp>
        <p:nvSpPr>
          <p:cNvPr id="10" name="TextBox 9"/>
          <p:cNvSpPr txBox="1"/>
          <p:nvPr/>
        </p:nvSpPr>
        <p:spPr>
          <a:xfrm>
            <a:off x="3537228" y="2642616"/>
            <a:ext cx="2787324" cy="914033"/>
          </a:xfrm>
          <a:prstGeom prst="rect">
            <a:avLst/>
          </a:prstGeom>
          <a:noFill/>
        </p:spPr>
        <p:txBody>
          <a:bodyPr wrap="square" lIns="0" tIns="0" rIns="0" bIns="0">
            <a:spAutoFit/>
          </a:bodyPr>
          <a:lstStyle/>
          <a:p>
            <a:pPr algn="ctr">
              <a:lnSpc>
                <a:spcPct val="112000"/>
              </a:lnSpc>
            </a:pPr>
            <a:r>
              <a:rPr lang="en-GB" sz="1400" b="0" i="0" dirty="0">
                <a:solidFill>
                  <a:srgbClr val="1A1A1A"/>
                </a:solidFill>
                <a:latin typeface="Calibri"/>
              </a:rPr>
              <a:t>Ku bantu benshi, umubiri ukuraho HPV mu gihe cy'umwaka </a:t>
            </a:r>
            <a:r>
              <a:rPr lang="en-GB" sz="1400" dirty="0">
                <a:solidFill>
                  <a:srgbClr val="1A1A1A"/>
                </a:solidFill>
                <a:latin typeface="Calibri"/>
              </a:rPr>
              <a:t>1</a:t>
            </a:r>
            <a:r>
              <a:rPr lang="en-GB" sz="1400" b="0" i="0" dirty="0">
                <a:solidFill>
                  <a:srgbClr val="1A1A1A"/>
                </a:solidFill>
                <a:latin typeface="Calibri"/>
              </a:rPr>
              <a:t> cyangwa </a:t>
            </a:r>
            <a:r>
              <a:rPr lang="en-GB" sz="1400" dirty="0">
                <a:solidFill>
                  <a:srgbClr val="1A1A1A"/>
                </a:solidFill>
                <a:latin typeface="Calibri"/>
              </a:rPr>
              <a:t>2</a:t>
            </a:r>
            <a:r>
              <a:rPr lang="en-GB" sz="1400" b="0" i="0" dirty="0">
                <a:solidFill>
                  <a:srgbClr val="1A1A1A"/>
                </a:solidFill>
                <a:latin typeface="Calibri"/>
              </a:rPr>
              <a:t>.</a:t>
            </a:r>
          </a:p>
        </p:txBody>
      </p:sp>
      <p:sp>
        <p:nvSpPr>
          <p:cNvPr id="11" name="Rounded Rectangle 10"/>
          <p:cNvSpPr/>
          <p:nvPr/>
        </p:nvSpPr>
        <p:spPr>
          <a:xfrm>
            <a:off x="6836648" y="2281428"/>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12" name="Rounded Rectangle 11"/>
          <p:cNvSpPr/>
          <p:nvPr/>
        </p:nvSpPr>
        <p:spPr>
          <a:xfrm>
            <a:off x="7288510" y="1325880"/>
            <a:ext cx="4190258" cy="419709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Oval 12"/>
          <p:cNvSpPr/>
          <p:nvPr/>
        </p:nvSpPr>
        <p:spPr>
          <a:xfrm>
            <a:off x="7425670" y="1391348"/>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3</a:t>
            </a:r>
          </a:p>
        </p:txBody>
      </p:sp>
      <p:sp>
        <p:nvSpPr>
          <p:cNvPr id="14" name="TextBox 13"/>
          <p:cNvSpPr txBox="1"/>
          <p:nvPr/>
        </p:nvSpPr>
        <p:spPr>
          <a:xfrm>
            <a:off x="7360920" y="2240280"/>
            <a:ext cx="3953224" cy="914033"/>
          </a:xfrm>
          <a:prstGeom prst="rect">
            <a:avLst/>
          </a:prstGeom>
          <a:noFill/>
        </p:spPr>
        <p:txBody>
          <a:bodyPr wrap="square" lIns="0" tIns="0" rIns="0" bIns="0">
            <a:spAutoFit/>
          </a:bodyPr>
          <a:lstStyle/>
          <a:p>
            <a:pPr algn="ctr">
              <a:lnSpc>
                <a:spcPct val="112000"/>
              </a:lnSpc>
            </a:pPr>
            <a:r>
              <a:rPr lang="en-GB" sz="1700" b="0" i="0" dirty="0">
                <a:solidFill>
                  <a:srgbClr val="1A1A1A"/>
                </a:solidFill>
                <a:latin typeface="Calibri"/>
              </a:rPr>
              <a:t>Ku bantu bake, virusi ya HPV imara imyaka myinshi mu mubiri, hanyuma igatangira guhindura uturemangingo no gutera ibibazo.</a:t>
            </a:r>
          </a:p>
        </p:txBody>
      </p:sp>
      <p:sp>
        <p:nvSpPr>
          <p:cNvPr id="21" name="TextBox 20"/>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2" name="TextBox 21"/>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32</a:t>
            </a:r>
          </a:p>
        </p:txBody>
      </p:sp>
      <p:sp>
        <p:nvSpPr>
          <p:cNvPr id="30" name="TextBox 29">
            <a:extLst>
              <a:ext uri="{FF2B5EF4-FFF2-40B4-BE49-F238E27FC236}">
                <a16:creationId xmlns:a16="http://schemas.microsoft.com/office/drawing/2014/main" id="{31A8C95F-46E3-DA81-939A-FAC6E7E55BBB}"/>
              </a:ext>
            </a:extLst>
          </p:cNvPr>
          <p:cNvSpPr txBox="1"/>
          <p:nvPr/>
        </p:nvSpPr>
        <p:spPr>
          <a:xfrm>
            <a:off x="3992122" y="1481170"/>
            <a:ext cx="2134342" cy="603820"/>
          </a:xfrm>
          <a:prstGeom prst="rect">
            <a:avLst/>
          </a:prstGeom>
          <a:noFill/>
        </p:spPr>
        <p:txBody>
          <a:bodyPr wrap="square" lIns="0" tIns="0" rIns="0" bIns="0">
            <a:spAutoFit/>
          </a:bodyPr>
          <a:lstStyle/>
          <a:p>
            <a:pPr algn="ctr">
              <a:lnSpc>
                <a:spcPct val="112000"/>
              </a:lnSpc>
            </a:pPr>
            <a:r>
              <a:rPr lang="en-GB" sz="1550" b="1" i="0" dirty="0">
                <a:solidFill>
                  <a:srgbClr val="1A1A1A"/>
                </a:solidFill>
                <a:latin typeface="Calibri"/>
              </a:rPr>
              <a:t>Abantu benshi ntibigera bagira ikibazo</a:t>
            </a:r>
          </a:p>
        </p:txBody>
      </p:sp>
      <p:sp>
        <p:nvSpPr>
          <p:cNvPr id="32" name="TextBox 31">
            <a:extLst>
              <a:ext uri="{FF2B5EF4-FFF2-40B4-BE49-F238E27FC236}">
                <a16:creationId xmlns:a16="http://schemas.microsoft.com/office/drawing/2014/main" id="{60F072C0-ED52-052E-80DB-7FD1D6E37481}"/>
              </a:ext>
            </a:extLst>
          </p:cNvPr>
          <p:cNvSpPr txBox="1"/>
          <p:nvPr/>
        </p:nvSpPr>
        <p:spPr>
          <a:xfrm>
            <a:off x="1007728" y="1499457"/>
            <a:ext cx="1767776" cy="603820"/>
          </a:xfrm>
          <a:prstGeom prst="rect">
            <a:avLst/>
          </a:prstGeom>
          <a:noFill/>
        </p:spPr>
        <p:txBody>
          <a:bodyPr wrap="square" lIns="0" tIns="0" rIns="0" bIns="0">
            <a:spAutoFit/>
          </a:bodyPr>
          <a:lstStyle/>
          <a:p>
            <a:pPr algn="ctr">
              <a:lnSpc>
                <a:spcPct val="112000"/>
              </a:lnSpc>
            </a:pPr>
            <a:r>
              <a:rPr lang="en-GB" sz="1800" b="1" i="0" dirty="0">
                <a:solidFill>
                  <a:srgbClr val="1A1A1A"/>
                </a:solidFill>
                <a:latin typeface="Calibri"/>
              </a:rPr>
              <a:t>Kwandura </a:t>
            </a:r>
          </a:p>
          <a:p>
            <a:pPr algn="ctr">
              <a:lnSpc>
                <a:spcPct val="112000"/>
              </a:lnSpc>
            </a:pPr>
            <a:r>
              <a:rPr lang="en-GB" b="1" dirty="0">
                <a:solidFill>
                  <a:srgbClr val="1A1A1A"/>
                </a:solidFill>
                <a:latin typeface="Calibri"/>
              </a:rPr>
              <a:t>v</a:t>
            </a:r>
            <a:r>
              <a:rPr lang="en-GB" sz="1800" b="1" i="0" dirty="0">
                <a:solidFill>
                  <a:srgbClr val="1A1A1A"/>
                </a:solidFill>
                <a:latin typeface="Calibri"/>
              </a:rPr>
              <a:t>irusi</a:t>
            </a:r>
          </a:p>
        </p:txBody>
      </p:sp>
      <p:sp>
        <p:nvSpPr>
          <p:cNvPr id="34" name="TextBox 33">
            <a:extLst>
              <a:ext uri="{FF2B5EF4-FFF2-40B4-BE49-F238E27FC236}">
                <a16:creationId xmlns:a16="http://schemas.microsoft.com/office/drawing/2014/main" id="{82ECBF71-E0A2-8672-CF04-07382E223D0E}"/>
              </a:ext>
            </a:extLst>
          </p:cNvPr>
          <p:cNvSpPr txBox="1"/>
          <p:nvPr/>
        </p:nvSpPr>
        <p:spPr>
          <a:xfrm>
            <a:off x="7763998" y="1482288"/>
            <a:ext cx="3121554" cy="603820"/>
          </a:xfrm>
          <a:prstGeom prst="rect">
            <a:avLst/>
          </a:prstGeom>
          <a:noFill/>
        </p:spPr>
        <p:txBody>
          <a:bodyPr wrap="square" lIns="0" tIns="0" rIns="0" bIns="0">
            <a:spAutoFit/>
          </a:bodyPr>
          <a:lstStyle/>
          <a:p>
            <a:pPr algn="ctr">
              <a:lnSpc>
                <a:spcPct val="112000"/>
              </a:lnSpc>
            </a:pPr>
            <a:r>
              <a:rPr lang="en-GB" b="1" dirty="0">
                <a:solidFill>
                  <a:srgbClr val="1A1A1A"/>
                </a:solidFill>
              </a:rPr>
              <a:t>Virusi iguma mu bantu bake</a:t>
            </a:r>
            <a:endParaRPr lang="en-GB" sz="1800" b="1" i="0" dirty="0">
              <a:solidFill>
                <a:srgbClr val="1A1A1A"/>
              </a:solidFill>
              <a:latin typeface="Calibri"/>
            </a:endParaRPr>
          </a:p>
        </p:txBody>
      </p:sp>
      <p:pic>
        <p:nvPicPr>
          <p:cNvPr id="15" name="Imagen 14">
            <a:extLst>
              <a:ext uri="{FF2B5EF4-FFF2-40B4-BE49-F238E27FC236}">
                <a16:creationId xmlns:a16="http://schemas.microsoft.com/office/drawing/2014/main" id="{F6386493-27DD-1300-0FA3-CB3051F32EE4}"/>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34252" y="3737532"/>
            <a:ext cx="2121020" cy="1414013"/>
          </a:xfrm>
          <a:prstGeom prst="rect">
            <a:avLst/>
          </a:prstGeom>
        </p:spPr>
      </p:pic>
      <p:pic>
        <p:nvPicPr>
          <p:cNvPr id="16" name="Imagen 15">
            <a:extLst>
              <a:ext uri="{FF2B5EF4-FFF2-40B4-BE49-F238E27FC236}">
                <a16:creationId xmlns:a16="http://schemas.microsoft.com/office/drawing/2014/main" id="{3C42B82B-E727-4024-4371-BEDF31F6931D}"/>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861108" y="3291876"/>
            <a:ext cx="3267825" cy="2178550"/>
          </a:xfrm>
          <a:prstGeom prst="rect">
            <a:avLst/>
          </a:prstGeom>
        </p:spPr>
      </p:pic>
      <p:pic>
        <p:nvPicPr>
          <p:cNvPr id="17" name="Imagen 16">
            <a:extLst>
              <a:ext uri="{FF2B5EF4-FFF2-40B4-BE49-F238E27FC236}">
                <a16:creationId xmlns:a16="http://schemas.microsoft.com/office/drawing/2014/main" id="{7F8D3989-AEDE-DE08-F86E-AC9580D6073E}"/>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3642328" y="3562693"/>
            <a:ext cx="2863572" cy="1909048"/>
          </a:xfrm>
          <a:prstGeom prst="rect">
            <a:avLst/>
          </a:prstGeom>
        </p:spPr>
      </p:pic>
      <p:sp>
        <p:nvSpPr>
          <p:cNvPr id="18" name="Rounded Rectangle 18">
            <a:extLst>
              <a:ext uri="{FF2B5EF4-FFF2-40B4-BE49-F238E27FC236}">
                <a16:creationId xmlns:a16="http://schemas.microsoft.com/office/drawing/2014/main" id="{2CA60C0B-4DE2-E823-64B5-DE20C5A00745}"/>
              </a:ext>
            </a:extLst>
          </p:cNvPr>
          <p:cNvSpPr/>
          <p:nvPr/>
        </p:nvSpPr>
        <p:spPr>
          <a:xfrm>
            <a:off x="566928" y="5723044"/>
            <a:ext cx="10984991" cy="792055"/>
          </a:xfrm>
          <a:prstGeom prst="roundRect">
            <a:avLst>
              <a:gd name="adj" fmla="val 4500"/>
            </a:avLst>
          </a:prstGeom>
          <a:solidFill>
            <a:srgbClr val="FFF2DF"/>
          </a:solidFill>
          <a:ln w="12700">
            <a:solidFill>
              <a:srgbClr val="F3D9AE"/>
            </a:solidFill>
          </a:ln>
          <a:effectLst/>
        </p:spPr>
        <p:txBody>
          <a:bodyPr wrap="square" rtlCol="0" anchor="ctr"/>
          <a:lstStyle/>
          <a:p>
            <a:pPr algn="ctr"/>
            <a:endParaRPr lang="en-GB" dirty="0"/>
          </a:p>
        </p:txBody>
      </p:sp>
      <p:sp>
        <p:nvSpPr>
          <p:cNvPr id="19" name="TextBox 12">
            <a:extLst>
              <a:ext uri="{FF2B5EF4-FFF2-40B4-BE49-F238E27FC236}">
                <a16:creationId xmlns:a16="http://schemas.microsoft.com/office/drawing/2014/main" id="{D7ABCD72-77CE-8511-3C2D-E45B006CC3FC}"/>
              </a:ext>
            </a:extLst>
          </p:cNvPr>
          <p:cNvSpPr txBox="1"/>
          <p:nvPr/>
        </p:nvSpPr>
        <p:spPr>
          <a:xfrm>
            <a:off x="756773" y="5815955"/>
            <a:ext cx="10739382" cy="603820"/>
          </a:xfrm>
          <a:prstGeom prst="rect">
            <a:avLst/>
          </a:prstGeom>
          <a:noFill/>
        </p:spPr>
        <p:txBody>
          <a:bodyPr wrap="square" lIns="0" tIns="0" rIns="0" bIns="0">
            <a:spAutoFit/>
          </a:bodyPr>
          <a:lstStyle/>
          <a:p>
            <a:pPr>
              <a:lnSpc>
                <a:spcPct val="112000"/>
              </a:lnSpc>
            </a:pPr>
            <a:r>
              <a:rPr lang="en-GB" sz="1800" b="1" i="0" dirty="0">
                <a:solidFill>
                  <a:srgbClr val="94600B"/>
                </a:solidFill>
                <a:latin typeface="Calibri"/>
              </a:rPr>
              <a:t>⚠ Witondere uko ubivuga:  </a:t>
            </a:r>
          </a:p>
          <a:p>
            <a:pPr>
              <a:lnSpc>
                <a:spcPct val="112000"/>
              </a:lnSpc>
            </a:pPr>
            <a:r>
              <a:rPr lang="en-GB" sz="1800" b="0" i="0" dirty="0">
                <a:solidFill>
                  <a:srgbClr val="1A1A1A"/>
                </a:solidFill>
                <a:latin typeface="Calibri"/>
              </a:rPr>
              <a:t>Kugira HPV ntibivuze ko ufite kanseri. Abantu benshi bandura iyi virusi ntibigera bagira ikibazo na gito.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Imyumvire ku bijyanye na HPV</a:t>
            </a:r>
          </a:p>
        </p:txBody>
      </p:sp>
      <p:sp>
        <p:nvSpPr>
          <p:cNvPr id="4" name="TextBox 3"/>
          <p:cNvSpPr txBox="1"/>
          <p:nvPr/>
        </p:nvSpPr>
        <p:spPr>
          <a:xfrm>
            <a:off x="566928" y="1572768"/>
            <a:ext cx="11058113" cy="320040"/>
          </a:xfrm>
          <a:prstGeom prst="rect">
            <a:avLst/>
          </a:prstGeom>
          <a:noFill/>
        </p:spPr>
        <p:txBody>
          <a:bodyPr wrap="square" lIns="0" tIns="0" rIns="0" bIns="0">
            <a:spAutoFit/>
          </a:bodyPr>
          <a:lstStyle/>
          <a:p>
            <a:r>
              <a:rPr lang="en-GB" sz="1700" b="0" i="1" dirty="0">
                <a:solidFill>
                  <a:srgbClr val="1F4E96"/>
                </a:solidFill>
                <a:latin typeface="Calibri"/>
              </a:rPr>
              <a:t>Hitamo buri myumvire kugira ngo ubone igisubizo nyacyo.</a:t>
            </a:r>
          </a:p>
        </p:txBody>
      </p:sp>
      <p:sp>
        <p:nvSpPr>
          <p:cNvPr id="5" name="Rounded Rectangle 4"/>
          <p:cNvSpPr/>
          <p:nvPr/>
        </p:nvSpPr>
        <p:spPr>
          <a:xfrm>
            <a:off x="566928" y="2029967"/>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6" name="TextBox 5"/>
          <p:cNvSpPr txBox="1"/>
          <p:nvPr/>
        </p:nvSpPr>
        <p:spPr>
          <a:xfrm>
            <a:off x="786384" y="2148839"/>
            <a:ext cx="4205495" cy="653796"/>
          </a:xfrm>
          <a:prstGeom prst="rect">
            <a:avLst/>
          </a:prstGeom>
          <a:noFill/>
        </p:spPr>
        <p:txBody>
          <a:bodyPr wrap="square" lIns="0" tIns="0" rIns="0" bIns="0" anchor="ctr">
            <a:spAutoFit/>
          </a:bodyPr>
          <a:lstStyle/>
          <a:p>
            <a:pPr>
              <a:lnSpc>
                <a:spcPct val="110000"/>
              </a:lnSpc>
            </a:pPr>
            <a:r>
              <a:rPr lang="en-GB" sz="1450" b="0" i="0" dirty="0">
                <a:solidFill>
                  <a:srgbClr val="1A1A1A"/>
                </a:solidFill>
                <a:latin typeface="Calibri"/>
              </a:rPr>
              <a:t>❌ </a:t>
            </a:r>
            <a:r>
              <a:rPr lang="en-GB" sz="1750" b="1" i="0" dirty="0">
                <a:solidFill>
                  <a:srgbClr val="A31D1D"/>
                </a:solidFill>
                <a:latin typeface="Calibri"/>
              </a:rPr>
              <a:t>Imyumvire mibi:   </a:t>
            </a:r>
            <a:r>
              <a:rPr lang="en-GB" sz="1750" b="0" i="0" dirty="0">
                <a:solidFill>
                  <a:srgbClr val="1A1A1A"/>
                </a:solidFill>
                <a:latin typeface="Calibri"/>
              </a:rPr>
              <a:t>HPV bivuze ko umuntu asanzwe arwaye kanseri.</a:t>
            </a:r>
          </a:p>
        </p:txBody>
      </p:sp>
      <p:sp>
        <p:nvSpPr>
          <p:cNvPr id="7" name="Rounded Rectangle 6"/>
          <p:cNvSpPr/>
          <p:nvPr/>
        </p:nvSpPr>
        <p:spPr>
          <a:xfrm>
            <a:off x="5467367" y="2029967"/>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5686823" y="2148839"/>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HPV ni virusi isanzwe. Ku bantu benshi nta ngaruka mbi na nke itera.</a:t>
            </a:r>
          </a:p>
        </p:txBody>
      </p:sp>
      <p:sp>
        <p:nvSpPr>
          <p:cNvPr id="9" name="Rounded Rectangle 8"/>
          <p:cNvSpPr/>
          <p:nvPr/>
        </p:nvSpPr>
        <p:spPr>
          <a:xfrm>
            <a:off x="566928" y="3067811"/>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0" name="TextBox 9"/>
          <p:cNvSpPr txBox="1"/>
          <p:nvPr/>
        </p:nvSpPr>
        <p:spPr>
          <a:xfrm>
            <a:off x="786384" y="3186683"/>
            <a:ext cx="4205495" cy="653796"/>
          </a:xfrm>
          <a:prstGeom prst="rect">
            <a:avLst/>
          </a:prstGeom>
          <a:noFill/>
        </p:spPr>
        <p:txBody>
          <a:bodyPr wrap="square" lIns="0" tIns="0" rIns="0" bIns="0" anchor="ctr">
            <a:spAutoFit/>
          </a:bodyPr>
          <a:lstStyle/>
          <a:p>
            <a:pPr>
              <a:lnSpc>
                <a:spcPct val="110000"/>
              </a:lnSpc>
            </a:pPr>
            <a:r>
              <a:rPr lang="en-GB" sz="1300" b="0" i="0" dirty="0">
                <a:solidFill>
                  <a:srgbClr val="1A1A1A"/>
                </a:solidFill>
                <a:latin typeface="Calibri"/>
              </a:rPr>
              <a:t>❌ </a:t>
            </a:r>
            <a:r>
              <a:rPr lang="en-GB" sz="1600" b="1" i="0" dirty="0">
                <a:solidFill>
                  <a:srgbClr val="A31D1D"/>
                </a:solidFill>
                <a:latin typeface="Calibri"/>
              </a:rPr>
              <a:t>Imyumvire mibi:   </a:t>
            </a:r>
            <a:r>
              <a:rPr lang="en-GB" sz="1600" b="0" i="0" dirty="0">
                <a:solidFill>
                  <a:srgbClr val="1A1A1A"/>
                </a:solidFill>
                <a:latin typeface="Calibri"/>
              </a:rPr>
              <a:t>HPV igaragaza ko uwo mwashakanye yaguciye inyuma.</a:t>
            </a:r>
          </a:p>
        </p:txBody>
      </p:sp>
      <p:sp>
        <p:nvSpPr>
          <p:cNvPr id="11" name="Rounded Rectangle 10"/>
          <p:cNvSpPr/>
          <p:nvPr/>
        </p:nvSpPr>
        <p:spPr>
          <a:xfrm>
            <a:off x="5467367" y="3067811"/>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2" name="TextBox 11"/>
          <p:cNvSpPr txBox="1"/>
          <p:nvPr/>
        </p:nvSpPr>
        <p:spPr>
          <a:xfrm>
            <a:off x="5686823" y="3186683"/>
            <a:ext cx="5718761" cy="653796"/>
          </a:xfrm>
          <a:prstGeom prst="rect">
            <a:avLst/>
          </a:prstGeom>
          <a:noFill/>
        </p:spPr>
        <p:txBody>
          <a:bodyPr wrap="square" lIns="0" tIns="0" rIns="0" bIns="0" anchor="ctr">
            <a:spAutoFit/>
          </a:bodyPr>
          <a:lstStyle/>
          <a:p>
            <a:pPr>
              <a:lnSpc>
                <a:spcPct val="110000"/>
              </a:lnSpc>
            </a:pPr>
            <a:r>
              <a:rPr lang="en-GB" sz="1400" b="0" i="0" dirty="0">
                <a:solidFill>
                  <a:srgbClr val="1A1A1A"/>
                </a:solidFill>
                <a:latin typeface="Calibri"/>
              </a:rPr>
              <a:t>✅ </a:t>
            </a:r>
            <a:r>
              <a:rPr lang="en-GB" sz="1650" b="1" i="0" dirty="0">
                <a:solidFill>
                  <a:srgbClr val="1C6B3F"/>
                </a:solidFill>
                <a:latin typeface="Calibri"/>
              </a:rPr>
              <a:t>Mu by'ukuri:   </a:t>
            </a:r>
            <a:r>
              <a:rPr lang="en-GB" sz="1650" b="0" i="0" dirty="0">
                <a:solidFill>
                  <a:srgbClr val="1A1A1A"/>
                </a:solidFill>
                <a:latin typeface="Calibri"/>
              </a:rPr>
              <a:t>Virusi ishobora kumara imyaka myinshi itigaragaza, bityo igisubizo nta cyo kivuga ku myitwarire y'umuntu uwo ari we wese.</a:t>
            </a:r>
          </a:p>
        </p:txBody>
      </p:sp>
      <p:sp>
        <p:nvSpPr>
          <p:cNvPr id="13" name="Rounded Rectangle 12"/>
          <p:cNvSpPr/>
          <p:nvPr/>
        </p:nvSpPr>
        <p:spPr>
          <a:xfrm>
            <a:off x="566928" y="4105656"/>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4" name="TextBox 13"/>
          <p:cNvSpPr txBox="1"/>
          <p:nvPr/>
        </p:nvSpPr>
        <p:spPr>
          <a:xfrm>
            <a:off x="786384" y="4224528"/>
            <a:ext cx="4205495" cy="653796"/>
          </a:xfrm>
          <a:prstGeom prst="rect">
            <a:avLst/>
          </a:prstGeom>
          <a:noFill/>
        </p:spPr>
        <p:txBody>
          <a:bodyPr wrap="square" lIns="0" tIns="0" rIns="0" bIns="0" anchor="ctr">
            <a:spAutoFit/>
          </a:bodyPr>
          <a:lstStyle/>
          <a:p>
            <a:pPr>
              <a:lnSpc>
                <a:spcPct val="110000"/>
              </a:lnSpc>
            </a:pPr>
            <a:r>
              <a:rPr lang="en-GB" sz="1000" b="0" i="0" dirty="0">
                <a:solidFill>
                  <a:srgbClr val="1A1A1A"/>
                </a:solidFill>
                <a:latin typeface="Calibri"/>
              </a:rPr>
              <a:t>❌ </a:t>
            </a:r>
            <a:r>
              <a:rPr lang="en-GB" sz="1200" b="1" i="0" dirty="0">
                <a:solidFill>
                  <a:srgbClr val="A31D1D"/>
                </a:solidFill>
                <a:latin typeface="Calibri"/>
              </a:rPr>
              <a:t>Imyumvire mibi:   </a:t>
            </a:r>
            <a:r>
              <a:rPr lang="en-GB" sz="1200" b="0" i="0" dirty="0">
                <a:solidFill>
                  <a:srgbClr val="1A1A1A"/>
                </a:solidFill>
                <a:latin typeface="Calibri"/>
              </a:rPr>
              <a:t>Abagore bafite abo baryamana benshi ni bo bonyine barwara kanseri y'inkondo y'umura.</a:t>
            </a:r>
          </a:p>
        </p:txBody>
      </p:sp>
      <p:sp>
        <p:nvSpPr>
          <p:cNvPr id="15" name="Rounded Rectangle 14"/>
          <p:cNvSpPr/>
          <p:nvPr/>
        </p:nvSpPr>
        <p:spPr>
          <a:xfrm>
            <a:off x="5467367" y="4105656"/>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6" name="TextBox 15"/>
          <p:cNvSpPr txBox="1"/>
          <p:nvPr/>
        </p:nvSpPr>
        <p:spPr>
          <a:xfrm>
            <a:off x="5686823" y="4224528"/>
            <a:ext cx="5718761" cy="653796"/>
          </a:xfrm>
          <a:prstGeom prst="rect">
            <a:avLst/>
          </a:prstGeom>
          <a:noFill/>
        </p:spPr>
        <p:txBody>
          <a:bodyPr wrap="square" lIns="0" tIns="0" rIns="0" bIns="0" anchor="ctr">
            <a:spAutoFit/>
          </a:bodyPr>
          <a:lstStyle/>
          <a:p>
            <a:pPr>
              <a:lnSpc>
                <a:spcPct val="110000"/>
              </a:lnSpc>
            </a:pPr>
            <a:r>
              <a:rPr lang="en-GB" sz="1000" b="0" i="0" dirty="0">
                <a:solidFill>
                  <a:srgbClr val="1A1A1A"/>
                </a:solidFill>
                <a:latin typeface="Calibri"/>
              </a:rPr>
              <a:t>✅ </a:t>
            </a:r>
            <a:r>
              <a:rPr lang="en-GB" sz="1200" b="1" i="0" dirty="0">
                <a:solidFill>
                  <a:srgbClr val="1C6B3F"/>
                </a:solidFill>
                <a:latin typeface="Calibri"/>
              </a:rPr>
              <a:t>Mu by'ukuri:   </a:t>
            </a:r>
            <a:r>
              <a:rPr lang="en-GB" sz="1200" b="0" i="0" dirty="0">
                <a:solidFill>
                  <a:srgbClr val="1A1A1A"/>
                </a:solidFill>
                <a:latin typeface="Calibri"/>
              </a:rPr>
              <a:t>Kugira uwo muryamana umwe mu buzima bwawe bwose birahagije kugira ngo wandure HPV. Umugore uwo ari we wese ashobora kuyirwara.</a:t>
            </a:r>
          </a:p>
        </p:txBody>
      </p:sp>
      <p:sp>
        <p:nvSpPr>
          <p:cNvPr id="17" name="Rounded Rectangle 16"/>
          <p:cNvSpPr/>
          <p:nvPr/>
        </p:nvSpPr>
        <p:spPr>
          <a:xfrm>
            <a:off x="566928" y="5143500"/>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8" name="TextBox 17"/>
          <p:cNvSpPr txBox="1"/>
          <p:nvPr/>
        </p:nvSpPr>
        <p:spPr>
          <a:xfrm>
            <a:off x="786384" y="5262372"/>
            <a:ext cx="4205495" cy="653796"/>
          </a:xfrm>
          <a:prstGeom prst="rect">
            <a:avLst/>
          </a:prstGeom>
          <a:noFill/>
        </p:spPr>
        <p:txBody>
          <a:bodyPr wrap="square" lIns="0" tIns="0" rIns="0" bIns="0" anchor="ctr">
            <a:spAutoFit/>
          </a:bodyPr>
          <a:lstStyle/>
          <a:p>
            <a:pPr>
              <a:lnSpc>
                <a:spcPct val="110000"/>
              </a:lnSpc>
            </a:pPr>
            <a:r>
              <a:rPr lang="en-GB" sz="1200" b="0" i="0" dirty="0">
                <a:solidFill>
                  <a:srgbClr val="1A1A1A"/>
                </a:solidFill>
                <a:latin typeface="Calibri"/>
              </a:rPr>
              <a:t>❌ </a:t>
            </a:r>
            <a:r>
              <a:rPr lang="en-GB" sz="1450" b="1" i="0" dirty="0">
                <a:solidFill>
                  <a:srgbClr val="A31D1D"/>
                </a:solidFill>
                <a:latin typeface="Calibri"/>
              </a:rPr>
              <a:t>Imyumvire mibi:   </a:t>
            </a:r>
            <a:r>
              <a:rPr lang="en-GB" sz="1450" b="0" i="0" dirty="0">
                <a:solidFill>
                  <a:srgbClr val="1A1A1A"/>
                </a:solidFill>
                <a:latin typeface="Calibri"/>
              </a:rPr>
              <a:t>Umugore urwaye kanseri y'inkondo y'umura ni we wayiteje.</a:t>
            </a:r>
          </a:p>
        </p:txBody>
      </p:sp>
      <p:sp>
        <p:nvSpPr>
          <p:cNvPr id="19" name="Rounded Rectangle 18"/>
          <p:cNvSpPr/>
          <p:nvPr/>
        </p:nvSpPr>
        <p:spPr>
          <a:xfrm>
            <a:off x="5467367" y="5143500"/>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20" name="TextBox 19"/>
          <p:cNvSpPr txBox="1"/>
          <p:nvPr/>
        </p:nvSpPr>
        <p:spPr>
          <a:xfrm>
            <a:off x="5686823" y="5262372"/>
            <a:ext cx="5718761" cy="653796"/>
          </a:xfrm>
          <a:prstGeom prst="rect">
            <a:avLst/>
          </a:prstGeom>
          <a:noFill/>
        </p:spPr>
        <p:txBody>
          <a:bodyPr wrap="square" lIns="0" tIns="0" rIns="0" bIns="0" anchor="ctr">
            <a:spAutoFit/>
          </a:bodyPr>
          <a:lstStyle/>
          <a:p>
            <a:pPr>
              <a:lnSpc>
                <a:spcPct val="110000"/>
              </a:lnSpc>
            </a:pPr>
            <a:r>
              <a:rPr lang="en-GB" sz="1450" b="0" i="0" dirty="0">
                <a:solidFill>
                  <a:srgbClr val="1A1A1A"/>
                </a:solidFill>
                <a:latin typeface="Calibri"/>
              </a:rPr>
              <a:t>✅ </a:t>
            </a:r>
            <a:r>
              <a:rPr lang="en-GB" sz="1750" b="1" i="0" dirty="0">
                <a:solidFill>
                  <a:srgbClr val="1C6B3F"/>
                </a:solidFill>
                <a:latin typeface="Calibri"/>
              </a:rPr>
              <a:t>Mu by'ukuri:   </a:t>
            </a:r>
            <a:r>
              <a:rPr lang="en-GB" sz="1750" b="0" i="0" dirty="0">
                <a:solidFill>
                  <a:srgbClr val="1A1A1A"/>
                </a:solidFill>
                <a:latin typeface="Calibri"/>
              </a:rPr>
              <a:t>Nta mugore ukwiye kubishinjwa. Kanseri y'inkondo y'umura ituruka kuri virusi isanzwe hafi ya buri wese ahura na yo.</a:t>
            </a:r>
          </a:p>
        </p:txBody>
      </p:sp>
      <p:sp>
        <p:nvSpPr>
          <p:cNvPr id="21" name="TextBox 20"/>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2" name="TextBox 21"/>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M P I N D U K A   Z ' U T U R E M A N G I N G O</a:t>
            </a:r>
          </a:p>
        </p:txBody>
      </p:sp>
      <p:sp>
        <p:nvSpPr>
          <p:cNvPr id="3" name="TextBox 2"/>
          <p:cNvSpPr txBox="1"/>
          <p:nvPr/>
        </p:nvSpPr>
        <p:spPr>
          <a:xfrm>
            <a:off x="566928" y="713232"/>
            <a:ext cx="11058113" cy="523220"/>
          </a:xfrm>
          <a:prstGeom prst="rect">
            <a:avLst/>
          </a:prstGeom>
          <a:noFill/>
        </p:spPr>
        <p:txBody>
          <a:bodyPr wrap="square" lIns="0" tIns="0" rIns="0" bIns="0">
            <a:spAutoFit/>
          </a:bodyPr>
          <a:lstStyle/>
          <a:p>
            <a:r>
              <a:rPr lang="en-GB" sz="2350" b="1" i="0" dirty="0">
                <a:solidFill>
                  <a:srgbClr val="10305A"/>
                </a:solidFill>
                <a:latin typeface="Cambria"/>
              </a:rPr>
              <a:t>Impinduka zibanziriza kanseri si kanseri</a:t>
            </a:r>
          </a:p>
        </p:txBody>
      </p:sp>
      <p:sp>
        <p:nvSpPr>
          <p:cNvPr id="4" name="Rounded Rectangle 3"/>
          <p:cNvSpPr/>
          <p:nvPr/>
        </p:nvSpPr>
        <p:spPr>
          <a:xfrm>
            <a:off x="566928" y="1554479"/>
            <a:ext cx="10533888" cy="3197079"/>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5" name="TextBox 4"/>
          <p:cNvSpPr txBox="1"/>
          <p:nvPr/>
        </p:nvSpPr>
        <p:spPr>
          <a:xfrm>
            <a:off x="822960" y="1773936"/>
            <a:ext cx="4870688" cy="292388"/>
          </a:xfrm>
          <a:prstGeom prst="rect">
            <a:avLst/>
          </a:prstGeom>
          <a:noFill/>
        </p:spPr>
        <p:txBody>
          <a:bodyPr wrap="square" lIns="0" tIns="0" rIns="0" bIns="0">
            <a:spAutoFit/>
          </a:bodyPr>
          <a:lstStyle/>
          <a:p>
            <a:r>
              <a:rPr lang="en-GB" sz="1200" b="1" i="0" dirty="0">
                <a:solidFill>
                  <a:srgbClr val="1C6B3F"/>
                </a:solidFill>
                <a:latin typeface="Calibri"/>
              </a:rPr>
              <a:t>🟢  Impinduka zibanziriza kanseri zabonetse hakiri kare</a:t>
            </a:r>
          </a:p>
        </p:txBody>
      </p:sp>
      <p:sp>
        <p:nvSpPr>
          <p:cNvPr id="6" name="TextBox 5"/>
          <p:cNvSpPr txBox="1"/>
          <p:nvPr/>
        </p:nvSpPr>
        <p:spPr>
          <a:xfrm>
            <a:off x="822960" y="2267712"/>
            <a:ext cx="4870688" cy="2103120"/>
          </a:xfrm>
          <a:prstGeom prst="rect">
            <a:avLst/>
          </a:prstGeom>
          <a:noFill/>
        </p:spPr>
        <p:txBody>
          <a:bodyPr wrap="square" lIns="0" tIns="0" rIns="0" bIns="0">
            <a:spAutoFit/>
          </a:bodyPr>
          <a:lstStyle/>
          <a:p>
            <a:pPr>
              <a:lnSpc>
                <a:spcPct val="112000"/>
              </a:lnSpc>
              <a:spcAft>
                <a:spcPts val="800"/>
              </a:spcAft>
            </a:pPr>
            <a:r>
              <a:rPr lang="en-GB" sz="1800" b="0" i="0" dirty="0">
                <a:solidFill>
                  <a:srgbClr val="1A1A1A"/>
                </a:solidFill>
                <a:latin typeface="Calibri"/>
              </a:rPr>
              <a:t>•   Igice cyo hejuru cy'inkondo y'umura ni cyo cyonyine kiba cyafashwe.</a:t>
            </a:r>
          </a:p>
          <a:p>
            <a:pPr>
              <a:lnSpc>
                <a:spcPct val="112000"/>
              </a:lnSpc>
              <a:spcAft>
                <a:spcPts val="800"/>
              </a:spcAft>
            </a:pPr>
            <a:r>
              <a:rPr lang="en-GB" sz="1800" b="0" i="0" dirty="0">
                <a:solidFill>
                  <a:srgbClr val="1A1A1A"/>
                </a:solidFill>
                <a:latin typeface="Calibri"/>
              </a:rPr>
              <a:t>•   Si kanseri kandi ntishobora gukwirakwira.</a:t>
            </a:r>
          </a:p>
          <a:p>
            <a:pPr>
              <a:lnSpc>
                <a:spcPct val="112000"/>
              </a:lnSpc>
              <a:spcAft>
                <a:spcPts val="800"/>
              </a:spcAft>
            </a:pPr>
            <a:r>
              <a:rPr lang="en-GB" sz="1800" b="0" i="0" dirty="0">
                <a:solidFill>
                  <a:srgbClr val="1A1A1A"/>
                </a:solidFill>
                <a:latin typeface="Calibri"/>
              </a:rPr>
              <a:t>•   Nta bimenyetso na bimwe itera.</a:t>
            </a:r>
          </a:p>
          <a:p>
            <a:pPr>
              <a:lnSpc>
                <a:spcPct val="112000"/>
              </a:lnSpc>
              <a:spcAft>
                <a:spcPts val="800"/>
              </a:spcAft>
            </a:pPr>
            <a:r>
              <a:rPr lang="en-GB" sz="1800" b="0" i="0" dirty="0">
                <a:solidFill>
                  <a:srgbClr val="1A1A1A"/>
                </a:solidFill>
                <a:latin typeface="Calibri"/>
              </a:rPr>
              <a:t>•   Ivurwa mu gihe gito, umuntu agiye kwa muganga rimwe gusa.</a:t>
            </a:r>
          </a:p>
          <a:p>
            <a:pPr>
              <a:lnSpc>
                <a:spcPct val="112000"/>
              </a:lnSpc>
              <a:spcAft>
                <a:spcPts val="800"/>
              </a:spcAft>
            </a:pPr>
            <a:r>
              <a:rPr lang="en-GB" sz="1800" b="0" i="0" dirty="0">
                <a:solidFill>
                  <a:srgbClr val="1A1A1A"/>
                </a:solidFill>
                <a:latin typeface="Calibri"/>
              </a:rPr>
              <a:t>•   Kuyivura bituma kanseri itazigera iba.</a:t>
            </a:r>
          </a:p>
        </p:txBody>
      </p:sp>
      <p:sp>
        <p:nvSpPr>
          <p:cNvPr id="10" name="Rounded Rectangle 9"/>
          <p:cNvSpPr/>
          <p:nvPr/>
        </p:nvSpPr>
        <p:spPr>
          <a:xfrm>
            <a:off x="420623" y="5257800"/>
            <a:ext cx="11058113" cy="932688"/>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1" name="TextBox 10"/>
          <p:cNvSpPr txBox="1"/>
          <p:nvPr/>
        </p:nvSpPr>
        <p:spPr>
          <a:xfrm>
            <a:off x="658367" y="5404104"/>
            <a:ext cx="10582625" cy="658368"/>
          </a:xfrm>
          <a:prstGeom prst="rect">
            <a:avLst/>
          </a:prstGeom>
          <a:noFill/>
        </p:spPr>
        <p:txBody>
          <a:bodyPr wrap="square" lIns="0" tIns="0" rIns="0" bIns="0">
            <a:spAutoFit/>
          </a:bodyPr>
          <a:lstStyle/>
          <a:p>
            <a:pPr>
              <a:lnSpc>
                <a:spcPct val="112000"/>
              </a:lnSpc>
            </a:pPr>
            <a:r>
              <a:rPr lang="en-GB" sz="1800" b="1" i="0" dirty="0">
                <a:solidFill>
                  <a:srgbClr val="1C6B3F"/>
                </a:solidFill>
                <a:latin typeface="Calibri"/>
              </a:rPr>
              <a:t>💬 Bivuge utya:  </a:t>
            </a:r>
            <a:r>
              <a:rPr lang="en-GB" sz="1800" b="0" i="0" dirty="0">
                <a:solidFill>
                  <a:srgbClr val="1A1A1A"/>
                </a:solidFill>
                <a:latin typeface="Calibri"/>
              </a:rPr>
              <a:t>Iyi si kanseri. Ni impinduka ishobora kuzavamo kanseri mu myaka iri imbere, kandi kuyivura ubu bituma itazavamo kanseri.</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34</a:t>
            </a:r>
          </a:p>
        </p:txBody>
      </p:sp>
      <p:pic>
        <p:nvPicPr>
          <p:cNvPr id="15" name="Picture 14">
            <a:extLst>
              <a:ext uri="{FF2B5EF4-FFF2-40B4-BE49-F238E27FC236}">
                <a16:creationId xmlns:a16="http://schemas.microsoft.com/office/drawing/2014/main" id="{3AA7D603-6C54-7EEE-FE66-FAF108CFE629}"/>
              </a:ext>
            </a:extLst>
          </p:cNvPr>
          <p:cNvPicPr>
            <a:picLocks noChangeAspect="1"/>
          </p:cNvPicPr>
          <p:nvPr/>
        </p:nvPicPr>
        <p:blipFill>
          <a:blip r:embed="rId2"/>
          <a:stretch>
            <a:fillRect/>
          </a:stretch>
        </p:blipFill>
        <p:spPr>
          <a:xfrm>
            <a:off x="5480304" y="1758142"/>
            <a:ext cx="5114544" cy="278975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D2825-ED68-246A-516B-9F82AFB1A21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B9C39C-94A7-7F5E-F948-88A1D2D2AD51}"/>
              </a:ext>
            </a:extLst>
          </p:cNvPr>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M P I N D U K A   Z ' U T U R E M A N G I N G O</a:t>
            </a:r>
          </a:p>
        </p:txBody>
      </p:sp>
      <p:sp>
        <p:nvSpPr>
          <p:cNvPr id="3" name="TextBox 2">
            <a:extLst>
              <a:ext uri="{FF2B5EF4-FFF2-40B4-BE49-F238E27FC236}">
                <a16:creationId xmlns:a16="http://schemas.microsoft.com/office/drawing/2014/main" id="{ED214874-A38B-2BB2-D981-3751F62B7388}"/>
              </a:ext>
            </a:extLst>
          </p:cNvPr>
          <p:cNvSpPr txBox="1"/>
          <p:nvPr/>
        </p:nvSpPr>
        <p:spPr>
          <a:xfrm>
            <a:off x="566928" y="713232"/>
            <a:ext cx="11058113" cy="523220"/>
          </a:xfrm>
          <a:prstGeom prst="rect">
            <a:avLst/>
          </a:prstGeom>
          <a:noFill/>
        </p:spPr>
        <p:txBody>
          <a:bodyPr wrap="square" lIns="0" tIns="0" rIns="0" bIns="0">
            <a:spAutoFit/>
          </a:bodyPr>
          <a:lstStyle/>
          <a:p>
            <a:r>
              <a:rPr lang="en-GB" sz="2350" b="1" i="0" dirty="0">
                <a:solidFill>
                  <a:srgbClr val="10305A"/>
                </a:solidFill>
                <a:latin typeface="Cambria"/>
              </a:rPr>
              <a:t>Impinduka z'uturemangingo zabaye kanseri</a:t>
            </a:r>
          </a:p>
        </p:txBody>
      </p:sp>
      <p:sp>
        <p:nvSpPr>
          <p:cNvPr id="7" name="Rounded Rectangle 6">
            <a:extLst>
              <a:ext uri="{FF2B5EF4-FFF2-40B4-BE49-F238E27FC236}">
                <a16:creationId xmlns:a16="http://schemas.microsoft.com/office/drawing/2014/main" id="{B82CA637-8AB2-BFF4-F74B-6D995B161A6F}"/>
              </a:ext>
            </a:extLst>
          </p:cNvPr>
          <p:cNvSpPr/>
          <p:nvPr/>
        </p:nvSpPr>
        <p:spPr>
          <a:xfrm>
            <a:off x="518144" y="1470172"/>
            <a:ext cx="10722848" cy="3888212"/>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8" name="TextBox 7">
            <a:extLst>
              <a:ext uri="{FF2B5EF4-FFF2-40B4-BE49-F238E27FC236}">
                <a16:creationId xmlns:a16="http://schemas.microsoft.com/office/drawing/2014/main" id="{0A0F8231-21A7-CB22-8A13-6FD96B7DFB48}"/>
              </a:ext>
            </a:extLst>
          </p:cNvPr>
          <p:cNvSpPr txBox="1"/>
          <p:nvPr/>
        </p:nvSpPr>
        <p:spPr>
          <a:xfrm>
            <a:off x="774176" y="1773936"/>
            <a:ext cx="4870688" cy="365760"/>
          </a:xfrm>
          <a:prstGeom prst="rect">
            <a:avLst/>
          </a:prstGeom>
          <a:noFill/>
        </p:spPr>
        <p:txBody>
          <a:bodyPr wrap="square" lIns="0" tIns="0" rIns="0" bIns="0">
            <a:spAutoFit/>
          </a:bodyPr>
          <a:lstStyle/>
          <a:p>
            <a:r>
              <a:rPr lang="en-GB" sz="1900" b="1" i="0" dirty="0">
                <a:solidFill>
                  <a:srgbClr val="A31D1D"/>
                </a:solidFill>
                <a:latin typeface="Calibri"/>
              </a:rPr>
              <a:t>🔴  Kanseri y'inkondo y'umura</a:t>
            </a:r>
          </a:p>
        </p:txBody>
      </p:sp>
      <p:sp>
        <p:nvSpPr>
          <p:cNvPr id="9" name="TextBox 8">
            <a:extLst>
              <a:ext uri="{FF2B5EF4-FFF2-40B4-BE49-F238E27FC236}">
                <a16:creationId xmlns:a16="http://schemas.microsoft.com/office/drawing/2014/main" id="{1B091788-A4D0-4B06-6E40-3DBBCA5FE95A}"/>
              </a:ext>
            </a:extLst>
          </p:cNvPr>
          <p:cNvSpPr txBox="1"/>
          <p:nvPr/>
        </p:nvSpPr>
        <p:spPr>
          <a:xfrm>
            <a:off x="774176" y="2613462"/>
            <a:ext cx="4870688" cy="2103120"/>
          </a:xfrm>
          <a:prstGeom prst="rect">
            <a:avLst/>
          </a:prstGeom>
          <a:noFill/>
        </p:spPr>
        <p:txBody>
          <a:bodyPr wrap="square" lIns="0" tIns="0" rIns="0" bIns="0">
            <a:spAutoFit/>
          </a:bodyPr>
          <a:lstStyle/>
          <a:p>
            <a:pPr>
              <a:lnSpc>
                <a:spcPct val="112000"/>
              </a:lnSpc>
              <a:spcAft>
                <a:spcPts val="800"/>
              </a:spcAft>
            </a:pPr>
            <a:r>
              <a:rPr lang="en-GB" sz="1800" b="0" i="0" dirty="0">
                <a:solidFill>
                  <a:srgbClr val="1A1A1A"/>
                </a:solidFill>
                <a:latin typeface="Calibri"/>
              </a:rPr>
              <a:t>•   Indwara yamaze kugera imbere cyane mu nkondo y'umura.</a:t>
            </a:r>
          </a:p>
          <a:p>
            <a:pPr>
              <a:lnSpc>
                <a:spcPct val="112000"/>
              </a:lnSpc>
              <a:spcAft>
                <a:spcPts val="800"/>
              </a:spcAft>
            </a:pPr>
            <a:r>
              <a:rPr lang="en-GB" sz="1800" b="0" i="0" dirty="0">
                <a:solidFill>
                  <a:srgbClr val="1A1A1A"/>
                </a:solidFill>
                <a:latin typeface="Calibri"/>
              </a:rPr>
              <a:t>•   Ishobora gukwirakwira no mu bindi bice by'umubiri.</a:t>
            </a:r>
          </a:p>
          <a:p>
            <a:pPr>
              <a:lnSpc>
                <a:spcPct val="112000"/>
              </a:lnSpc>
              <a:spcAft>
                <a:spcPts val="800"/>
              </a:spcAft>
            </a:pPr>
            <a:r>
              <a:rPr lang="en-GB" sz="1800" b="0" i="0" dirty="0">
                <a:solidFill>
                  <a:srgbClr val="1A1A1A"/>
                </a:solidFill>
                <a:latin typeface="Calibri"/>
              </a:rPr>
              <a:t>•   Ishobora gutera kuva amaraso, ibisohoka mu gitsina cyangwa ububabare.</a:t>
            </a:r>
          </a:p>
          <a:p>
            <a:pPr>
              <a:lnSpc>
                <a:spcPct val="112000"/>
              </a:lnSpc>
              <a:spcAft>
                <a:spcPts val="800"/>
              </a:spcAft>
            </a:pPr>
            <a:r>
              <a:rPr lang="en-GB" sz="1800" b="0" i="0" dirty="0">
                <a:solidFill>
                  <a:srgbClr val="1A1A1A"/>
                </a:solidFill>
                <a:latin typeface="Calibri"/>
              </a:rPr>
              <a:t>•   Isaba kuvurirwa mu bitaro.</a:t>
            </a:r>
          </a:p>
          <a:p>
            <a:pPr>
              <a:lnSpc>
                <a:spcPct val="112000"/>
              </a:lnSpc>
              <a:spcAft>
                <a:spcPts val="800"/>
              </a:spcAft>
            </a:pPr>
            <a:r>
              <a:rPr lang="en-GB" sz="1800" b="0" i="0" dirty="0">
                <a:solidFill>
                  <a:srgbClr val="1A1A1A"/>
                </a:solidFill>
                <a:latin typeface="Calibri"/>
              </a:rPr>
              <a:t>•   Yemezwa gusa n'ikizamini cya laboratwari.</a:t>
            </a:r>
          </a:p>
        </p:txBody>
      </p:sp>
      <p:sp>
        <p:nvSpPr>
          <p:cNvPr id="12" name="TextBox 11">
            <a:extLst>
              <a:ext uri="{FF2B5EF4-FFF2-40B4-BE49-F238E27FC236}">
                <a16:creationId xmlns:a16="http://schemas.microsoft.com/office/drawing/2014/main" id="{ABC6C59E-9D16-61C5-03A5-57E8B878B76C}"/>
              </a:ext>
            </a:extLst>
          </p:cNvPr>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a:extLst>
              <a:ext uri="{FF2B5EF4-FFF2-40B4-BE49-F238E27FC236}">
                <a16:creationId xmlns:a16="http://schemas.microsoft.com/office/drawing/2014/main" id="{64AF5325-D1F6-4B7E-3085-EBBDFCAB508F}"/>
              </a:ext>
            </a:extLst>
          </p:cNvPr>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35</a:t>
            </a:r>
          </a:p>
        </p:txBody>
      </p:sp>
      <p:pic>
        <p:nvPicPr>
          <p:cNvPr id="17" name="Picture 16">
            <a:extLst>
              <a:ext uri="{FF2B5EF4-FFF2-40B4-BE49-F238E27FC236}">
                <a16:creationId xmlns:a16="http://schemas.microsoft.com/office/drawing/2014/main" id="{FDF9CA07-BC0D-DCED-FFC4-9743127FE1A2}"/>
              </a:ext>
            </a:extLst>
          </p:cNvPr>
          <p:cNvPicPr>
            <a:picLocks noChangeAspect="1"/>
          </p:cNvPicPr>
          <p:nvPr/>
        </p:nvPicPr>
        <p:blipFill>
          <a:blip r:embed="rId2"/>
          <a:stretch>
            <a:fillRect/>
          </a:stretch>
        </p:blipFill>
        <p:spPr>
          <a:xfrm>
            <a:off x="5552967" y="1970952"/>
            <a:ext cx="5437849" cy="2966100"/>
          </a:xfrm>
          <a:prstGeom prst="rect">
            <a:avLst/>
          </a:prstGeom>
        </p:spPr>
      </p:pic>
    </p:spTree>
    <p:extLst>
      <p:ext uri="{BB962C8B-B14F-4D97-AF65-F5344CB8AC3E}">
        <p14:creationId xmlns:p14="http://schemas.microsoft.com/office/powerpoint/2010/main" val="893615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Wamubwira iki?</a:t>
            </a:r>
          </a:p>
        </p:txBody>
      </p:sp>
      <p:sp>
        <p:nvSpPr>
          <p:cNvPr id="4" name="TextBox 3"/>
          <p:cNvSpPr txBox="1"/>
          <p:nvPr/>
        </p:nvSpPr>
        <p:spPr>
          <a:xfrm>
            <a:off x="566928" y="1517904"/>
            <a:ext cx="11058113" cy="320040"/>
          </a:xfrm>
          <a:prstGeom prst="rect">
            <a:avLst/>
          </a:prstGeom>
          <a:noFill/>
        </p:spPr>
        <p:txBody>
          <a:bodyPr wrap="square" lIns="0" tIns="0" rIns="0" bIns="0">
            <a:spAutoFit/>
          </a:bodyPr>
          <a:lstStyle/>
          <a:p>
            <a:r>
              <a:rPr lang="en-GB" sz="1700" b="0" i="1" dirty="0">
                <a:solidFill>
                  <a:srgbClr val="1F4E96"/>
                </a:solidFill>
                <a:latin typeface="Calibri"/>
              </a:rPr>
              <a:t>Hitamo igisubizo cy'ukuri kandi kirimo ineza.</a:t>
            </a:r>
          </a:p>
        </p:txBody>
      </p:sp>
      <p:sp>
        <p:nvSpPr>
          <p:cNvPr id="5" name="TextBox 4"/>
          <p:cNvSpPr txBox="1"/>
          <p:nvPr/>
        </p:nvSpPr>
        <p:spPr>
          <a:xfrm>
            <a:off x="566928" y="1920240"/>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yabwiwe ko habonetse impinduka ku nkondo y'umura we, kandi ko atari kanseri. Afite ubwoba. Wamubwira iki?</a:t>
            </a:r>
          </a:p>
        </p:txBody>
      </p:sp>
      <p:sp>
        <p:nvSpPr>
          <p:cNvPr id="6" name="Rounded Rectangle 5"/>
          <p:cNvSpPr/>
          <p:nvPr/>
        </p:nvSpPr>
        <p:spPr>
          <a:xfrm>
            <a:off x="566928" y="2706624"/>
            <a:ext cx="11058113" cy="41477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841247" y="2761488"/>
            <a:ext cx="10006553" cy="305043"/>
          </a:xfrm>
          <a:prstGeom prst="rect">
            <a:avLst/>
          </a:prstGeom>
          <a:noFill/>
        </p:spPr>
        <p:txBody>
          <a:bodyPr wrap="square" lIns="0" tIns="0" rIns="0" bIns="0" anchor="ctr">
            <a:spAutoFit/>
          </a:bodyPr>
          <a:lstStyle/>
          <a:p>
            <a:pPr>
              <a:lnSpc>
                <a:spcPct val="108000"/>
              </a:lnSpc>
            </a:pPr>
            <a:r>
              <a:rPr lang="en-GB" sz="1450" b="1" i="0" dirty="0">
                <a:solidFill>
                  <a:srgbClr val="1F4E96"/>
                </a:solidFill>
                <a:latin typeface="Calibri"/>
              </a:rPr>
              <a:t>A   </a:t>
            </a:r>
            <a:r>
              <a:rPr lang="en-GB" sz="1450" b="0" i="0" dirty="0">
                <a:solidFill>
                  <a:srgbClr val="1A1A1A"/>
                </a:solidFill>
                <a:latin typeface="Calibri"/>
              </a:rPr>
              <a:t>Ko umukozi w'ubuzima ashobora kuba yamuhumurizaga gusa, kandi ko mu by'ukuri ari kanseri</a:t>
            </a:r>
          </a:p>
        </p:txBody>
      </p:sp>
      <p:sp>
        <p:nvSpPr>
          <p:cNvPr id="11" name="Rounded Rectangle 10"/>
          <p:cNvSpPr/>
          <p:nvPr/>
        </p:nvSpPr>
        <p:spPr>
          <a:xfrm>
            <a:off x="566928" y="3221979"/>
            <a:ext cx="11058113" cy="41477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276843"/>
            <a:ext cx="10006553" cy="305043"/>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Ko akwiye gutegereza akareba niba hari ibimenyetso bizagaragara</a:t>
            </a:r>
          </a:p>
        </p:txBody>
      </p:sp>
      <p:sp>
        <p:nvSpPr>
          <p:cNvPr id="8" name="Rounded Rectangle 7"/>
          <p:cNvSpPr/>
          <p:nvPr/>
        </p:nvSpPr>
        <p:spPr>
          <a:xfrm>
            <a:off x="566928" y="3737334"/>
            <a:ext cx="11058113" cy="64520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9" name="TextBox 8"/>
          <p:cNvSpPr txBox="1"/>
          <p:nvPr/>
        </p:nvSpPr>
        <p:spPr>
          <a:xfrm>
            <a:off x="841247" y="3792198"/>
            <a:ext cx="10006553" cy="535472"/>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Ko izo mpinduka atari kanseri, ko zivurwa mu gihe gito agiye kwa muganga, kandi ko kuzivura ubu bituma kanseri itazigera ikura</a:t>
            </a:r>
          </a:p>
        </p:txBody>
      </p:sp>
      <p:sp>
        <p:nvSpPr>
          <p:cNvPr id="13" name="Rounded Rectangle 12"/>
          <p:cNvSpPr/>
          <p:nvPr/>
        </p:nvSpPr>
        <p:spPr>
          <a:xfrm>
            <a:off x="566928" y="4483118"/>
            <a:ext cx="11058113" cy="41477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41247" y="4537982"/>
            <a:ext cx="10006553" cy="305043"/>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Ko atagomba kubibwira undi muntu kandi ko agomba kuguma mu rugo</a:t>
            </a:r>
          </a:p>
        </p:txBody>
      </p:sp>
      <p:sp>
        <p:nvSpPr>
          <p:cNvPr id="15" name="Rounded Rectangle 14"/>
          <p:cNvSpPr/>
          <p:nvPr/>
        </p:nvSpPr>
        <p:spPr>
          <a:xfrm>
            <a:off x="566928" y="5007620"/>
            <a:ext cx="11058113" cy="1265163"/>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6" name="TextBox 15"/>
          <p:cNvSpPr txBox="1"/>
          <p:nvPr/>
        </p:nvSpPr>
        <p:spPr>
          <a:xfrm>
            <a:off x="822960" y="5135636"/>
            <a:ext cx="10546049" cy="1009131"/>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Impinduka ziri ku gice cyo hejuru cy'inkondo y'umura si kanseri kandi ntizishobora gukwirakwira. Kubivuga mu buryo bweruye bigabanya ubwoba, kandi umugore udafite ubwoba agira amahirwe menshi yo kugaruka kuvurwa.</a:t>
            </a:r>
          </a:p>
        </p:txBody>
      </p:sp>
      <p:sp>
        <p:nvSpPr>
          <p:cNvPr id="17" name="TextBox 1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8" name="TextBox 1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36</a:t>
            </a:r>
          </a:p>
        </p:txBody>
      </p:sp>
      <p:sp>
        <p:nvSpPr>
          <p:cNvPr id="10" name="TextBox 9"/>
          <p:cNvSpPr txBox="1"/>
          <p:nvPr/>
        </p:nvSpPr>
        <p:spPr>
          <a:xfrm>
            <a:off x="11094689" y="3922775"/>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R W A N D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Kanseri y'inkondo y'umura mu Rwanda</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Iyi ni imibare y'ikigereranyo y'umwaka umwe mu Rwanda.</a:t>
            </a:r>
          </a:p>
        </p:txBody>
      </p:sp>
      <p:sp>
        <p:nvSpPr>
          <p:cNvPr id="5" name="Rounded Rectangle 4"/>
          <p:cNvSpPr/>
          <p:nvPr/>
        </p:nvSpPr>
        <p:spPr>
          <a:xfrm>
            <a:off x="566928" y="2029968"/>
            <a:ext cx="3503157" cy="178308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04672" y="2267712"/>
            <a:ext cx="3045957" cy="685800"/>
          </a:xfrm>
          <a:prstGeom prst="rect">
            <a:avLst/>
          </a:prstGeom>
          <a:noFill/>
        </p:spPr>
        <p:txBody>
          <a:bodyPr wrap="square" lIns="0" tIns="0" rIns="0" bIns="0">
            <a:spAutoFit/>
          </a:bodyPr>
          <a:lstStyle/>
          <a:p>
            <a:r>
              <a:rPr lang="en-GB" sz="4000" b="1" i="0" dirty="0">
                <a:solidFill>
                  <a:srgbClr val="10305A"/>
                </a:solidFill>
                <a:latin typeface="Cambria"/>
              </a:rPr>
              <a:t>1,582</a:t>
            </a:r>
          </a:p>
        </p:txBody>
      </p:sp>
      <p:sp>
        <p:nvSpPr>
          <p:cNvPr id="7" name="TextBox 6"/>
          <p:cNvSpPr txBox="1"/>
          <p:nvPr/>
        </p:nvSpPr>
        <p:spPr>
          <a:xfrm>
            <a:off x="804672" y="2999232"/>
            <a:ext cx="3045957" cy="731520"/>
          </a:xfrm>
          <a:prstGeom prst="rect">
            <a:avLst/>
          </a:prstGeom>
          <a:noFill/>
        </p:spPr>
        <p:txBody>
          <a:bodyPr wrap="square" lIns="0" tIns="0" rIns="0" bIns="0">
            <a:spAutoFit/>
          </a:bodyPr>
          <a:lstStyle/>
          <a:p>
            <a:pPr>
              <a:lnSpc>
                <a:spcPct val="112000"/>
              </a:lnSpc>
            </a:pPr>
            <a:r>
              <a:rPr lang="en-GB" sz="1100" b="0" i="0" dirty="0">
                <a:solidFill>
                  <a:srgbClr val="1A1A1A"/>
                </a:solidFill>
                <a:latin typeface="Calibri"/>
              </a:rPr>
              <a:t>Abarwayi bashya ba kanseri y'inkondo y'umura mu bagore bo mu Rwanda (ikigereranyo)</a:t>
            </a:r>
          </a:p>
        </p:txBody>
      </p:sp>
      <p:sp>
        <p:nvSpPr>
          <p:cNvPr id="8" name="Rounded Rectangle 7"/>
          <p:cNvSpPr/>
          <p:nvPr/>
        </p:nvSpPr>
        <p:spPr>
          <a:xfrm>
            <a:off x="4344405" y="2029968"/>
            <a:ext cx="3503157" cy="178308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4582149" y="2267712"/>
            <a:ext cx="3045957" cy="685800"/>
          </a:xfrm>
          <a:prstGeom prst="rect">
            <a:avLst/>
          </a:prstGeom>
          <a:noFill/>
        </p:spPr>
        <p:txBody>
          <a:bodyPr wrap="square" lIns="0" tIns="0" rIns="0" bIns="0">
            <a:spAutoFit/>
          </a:bodyPr>
          <a:lstStyle/>
          <a:p>
            <a:r>
              <a:rPr lang="en-GB" sz="4000" b="1" i="0" dirty="0">
                <a:solidFill>
                  <a:srgbClr val="A31D1D"/>
                </a:solidFill>
                <a:latin typeface="Cambria"/>
              </a:rPr>
              <a:t>965</a:t>
            </a:r>
          </a:p>
        </p:txBody>
      </p:sp>
      <p:sp>
        <p:nvSpPr>
          <p:cNvPr id="10" name="TextBox 9"/>
          <p:cNvSpPr txBox="1"/>
          <p:nvPr/>
        </p:nvSpPr>
        <p:spPr>
          <a:xfrm>
            <a:off x="4582149" y="2999232"/>
            <a:ext cx="3045957" cy="731520"/>
          </a:xfrm>
          <a:prstGeom prst="rect">
            <a:avLst/>
          </a:prstGeom>
          <a:noFill/>
        </p:spPr>
        <p:txBody>
          <a:bodyPr wrap="square" lIns="0" tIns="0" rIns="0" bIns="0">
            <a:spAutoFit/>
          </a:bodyPr>
          <a:lstStyle/>
          <a:p>
            <a:pPr>
              <a:lnSpc>
                <a:spcPct val="112000"/>
              </a:lnSpc>
            </a:pPr>
            <a:r>
              <a:rPr lang="en-GB" sz="1250" b="0" i="0" dirty="0">
                <a:solidFill>
                  <a:srgbClr val="1A1A1A"/>
                </a:solidFill>
                <a:latin typeface="Calibri"/>
              </a:rPr>
              <a:t>Abahitanwa na kanseri y'inkondo y'umura mu Rwanda (ikigereranyo)</a:t>
            </a:r>
          </a:p>
        </p:txBody>
      </p:sp>
      <p:sp>
        <p:nvSpPr>
          <p:cNvPr id="11" name="Rounded Rectangle 10"/>
          <p:cNvSpPr/>
          <p:nvPr/>
        </p:nvSpPr>
        <p:spPr>
          <a:xfrm>
            <a:off x="8121883" y="2029968"/>
            <a:ext cx="3503157" cy="178308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359627" y="2267712"/>
            <a:ext cx="3045957" cy="685800"/>
          </a:xfrm>
          <a:prstGeom prst="rect">
            <a:avLst/>
          </a:prstGeom>
          <a:noFill/>
        </p:spPr>
        <p:txBody>
          <a:bodyPr wrap="square" lIns="0" tIns="0" rIns="0" bIns="0">
            <a:spAutoFit/>
          </a:bodyPr>
          <a:lstStyle/>
          <a:p>
            <a:r>
              <a:rPr lang="en-GB" sz="4000" b="1" i="0" dirty="0">
                <a:solidFill>
                  <a:srgbClr val="10305A"/>
                </a:solidFill>
                <a:latin typeface="Cambria"/>
              </a:rPr>
              <a:t>Iya 2</a:t>
            </a:r>
          </a:p>
        </p:txBody>
      </p:sp>
      <p:sp>
        <p:nvSpPr>
          <p:cNvPr id="13" name="TextBox 12"/>
          <p:cNvSpPr txBox="1"/>
          <p:nvPr/>
        </p:nvSpPr>
        <p:spPr>
          <a:xfrm>
            <a:off x="8359627" y="2999232"/>
            <a:ext cx="3045957" cy="731520"/>
          </a:xfrm>
          <a:prstGeom prst="rect">
            <a:avLst/>
          </a:prstGeom>
          <a:noFill/>
        </p:spPr>
        <p:txBody>
          <a:bodyPr wrap="square" lIns="0" tIns="0" rIns="0" bIns="0">
            <a:spAutoFit/>
          </a:bodyPr>
          <a:lstStyle/>
          <a:p>
            <a:pPr>
              <a:lnSpc>
                <a:spcPct val="112000"/>
              </a:lnSpc>
            </a:pPr>
            <a:r>
              <a:rPr lang="en-GB" sz="1500" b="0" i="0" dirty="0">
                <a:solidFill>
                  <a:srgbClr val="1A1A1A"/>
                </a:solidFill>
                <a:latin typeface="Calibri"/>
              </a:rPr>
              <a:t>Kanseri ikunze kwibasira abagore mu Rwanda, nyuma ya kanseri y'ibere</a:t>
            </a:r>
          </a:p>
        </p:txBody>
      </p:sp>
      <p:sp>
        <p:nvSpPr>
          <p:cNvPr id="14" name="TextBox 13"/>
          <p:cNvSpPr txBox="1"/>
          <p:nvPr/>
        </p:nvSpPr>
        <p:spPr>
          <a:xfrm>
            <a:off x="566928" y="3959352"/>
            <a:ext cx="11058113" cy="457200"/>
          </a:xfrm>
          <a:prstGeom prst="rect">
            <a:avLst/>
          </a:prstGeom>
          <a:noFill/>
        </p:spPr>
        <p:txBody>
          <a:bodyPr wrap="square" lIns="0" tIns="0" rIns="0" bIns="0">
            <a:spAutoFit/>
          </a:bodyPr>
          <a:lstStyle/>
          <a:p>
            <a:pPr>
              <a:lnSpc>
                <a:spcPct val="112000"/>
              </a:lnSpc>
            </a:pPr>
            <a:r>
              <a:rPr lang="en-GB" sz="1100" b="0" i="0" dirty="0">
                <a:solidFill>
                  <a:srgbClr val="777D86"/>
                </a:solidFill>
                <a:latin typeface="Calibri"/>
              </a:rPr>
              <a:t>Abaturage: Rwanda, abagore, imyaka yose.  Umwaka: imibare y'ikigereranyo ya 2024.  Inkomoko: IARC Global Cancer Observatory, GLOBOCAN 2024. Iyi ni imibare y'ikigereranyo, si imibare yavuye mu ibarura.</a:t>
            </a:r>
          </a:p>
        </p:txBody>
      </p:sp>
      <p:sp>
        <p:nvSpPr>
          <p:cNvPr id="15" name="Rounded Rectangle 14"/>
          <p:cNvSpPr/>
          <p:nvPr/>
        </p:nvSpPr>
        <p:spPr>
          <a:xfrm>
            <a:off x="566928" y="4462272"/>
            <a:ext cx="11058113" cy="932688"/>
          </a:xfrm>
          <a:prstGeom prst="roundRect">
            <a:avLst>
              <a:gd name="adj" fmla="val 4500"/>
            </a:avLst>
          </a:prstGeom>
          <a:solidFill>
            <a:srgbClr val="FFF2DF"/>
          </a:solidFill>
          <a:ln w="12700">
            <a:solidFill>
              <a:srgbClr val="F3D9AE"/>
            </a:solidFill>
          </a:ln>
          <a:effectLst/>
        </p:spPr>
        <p:txBody>
          <a:bodyPr wrap="square" rtlCol="0" anchor="ctr"/>
          <a:lstStyle/>
          <a:p>
            <a:pPr algn="ctr"/>
            <a:endParaRPr lang="en-GB" dirty="0"/>
          </a:p>
        </p:txBody>
      </p:sp>
      <p:sp>
        <p:nvSpPr>
          <p:cNvPr id="16" name="TextBox 15"/>
          <p:cNvSpPr txBox="1"/>
          <p:nvPr/>
        </p:nvSpPr>
        <p:spPr>
          <a:xfrm>
            <a:off x="804672" y="4608576"/>
            <a:ext cx="10582625" cy="658368"/>
          </a:xfrm>
          <a:prstGeom prst="rect">
            <a:avLst/>
          </a:prstGeom>
          <a:noFill/>
        </p:spPr>
        <p:txBody>
          <a:bodyPr wrap="square" lIns="0" tIns="0" rIns="0" bIns="0">
            <a:spAutoFit/>
          </a:bodyPr>
          <a:lstStyle/>
          <a:p>
            <a:pPr>
              <a:lnSpc>
                <a:spcPct val="112000"/>
              </a:lnSpc>
            </a:pPr>
            <a:r>
              <a:rPr lang="en-GB" sz="1650" b="1" i="0" dirty="0">
                <a:solidFill>
                  <a:srgbClr val="94600B"/>
                </a:solidFill>
                <a:latin typeface="Calibri"/>
              </a:rPr>
              <a:t>🔎 Icyo ibi byerekana:  </a:t>
            </a:r>
            <a:r>
              <a:rPr lang="en-GB" sz="1650" b="0" i="0" dirty="0">
                <a:solidFill>
                  <a:srgbClr val="1A1A1A"/>
                </a:solidFill>
                <a:latin typeface="Calibri"/>
              </a:rPr>
              <a:t>Mu Rwanda, abagore bapfa bazize kanseri y'inkondo y'umura baruta abazize indi kanseri iyo ari yo yose, kandi hafi y'izo mpfu zose zashoboraga kwirindwa.</a:t>
            </a:r>
          </a:p>
        </p:txBody>
      </p:sp>
      <p:sp>
        <p:nvSpPr>
          <p:cNvPr id="17" name="TextBox 1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8" name="TextBox 1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R W A N D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Kanseri zikunze kwibasira abagore</a:t>
            </a:r>
          </a:p>
        </p:txBody>
      </p:sp>
      <p:graphicFrame>
        <p:nvGraphicFramePr>
          <p:cNvPr id="4" name="Chart 3"/>
          <p:cNvGraphicFramePr>
            <a:graphicFrameLocks noGrp="1"/>
          </p:cNvGraphicFramePr>
          <p:nvPr>
            <p:extLst>
              <p:ext uri="{D42A27DB-BD31-4B8C-83A1-F6EECF244321}">
                <p14:modId xmlns:p14="http://schemas.microsoft.com/office/powerpoint/2010/main" val="599603710"/>
              </p:ext>
            </p:extLst>
          </p:nvPr>
        </p:nvGraphicFramePr>
        <p:xfrm>
          <a:off x="521207" y="1572768"/>
          <a:ext cx="6537960" cy="3977639"/>
        </p:xfrm>
        <a:graphic>
          <a:graphicData uri="http://schemas.openxmlformats.org/drawingml/2006/chart">
            <c:chart xmlns:c="http://schemas.openxmlformats.org/drawingml/2006/chart" xmlns:r="http://schemas.openxmlformats.org/officeDocument/2006/relationships" r:id="rId2"/>
          </a:graphicData>
        </a:graphic>
      </p:graphicFrame>
      <p:sp>
        <p:nvSpPr>
          <p:cNvPr id="5" name="Rounded Rectangle 4"/>
          <p:cNvSpPr/>
          <p:nvPr/>
        </p:nvSpPr>
        <p:spPr>
          <a:xfrm>
            <a:off x="7287768" y="1572768"/>
            <a:ext cx="4337273" cy="3977639"/>
          </a:xfrm>
          <a:prstGeom prst="roundRect">
            <a:avLst>
              <a:gd name="adj" fmla="val 4500"/>
            </a:avLst>
          </a:prstGeom>
          <a:solidFill>
            <a:srgbClr val="ECF2FB"/>
          </a:solidFill>
          <a:ln w="12700">
            <a:solidFill>
              <a:srgbClr val="D3E0F2"/>
            </a:solidFill>
          </a:ln>
          <a:effectLst/>
        </p:spPr>
        <p:txBody>
          <a:bodyPr wrap="square" rtlCol="0" anchor="ctr"/>
          <a:lstStyle/>
          <a:p>
            <a:pPr algn="ctr"/>
            <a:endParaRPr lang="en-GB" dirty="0"/>
          </a:p>
        </p:txBody>
      </p:sp>
      <p:sp>
        <p:nvSpPr>
          <p:cNvPr id="6" name="TextBox 5"/>
          <p:cNvSpPr txBox="1"/>
          <p:nvPr/>
        </p:nvSpPr>
        <p:spPr>
          <a:xfrm>
            <a:off x="7525512" y="1810512"/>
            <a:ext cx="3861785" cy="3520440"/>
          </a:xfrm>
          <a:prstGeom prst="rect">
            <a:avLst/>
          </a:prstGeom>
          <a:noFill/>
        </p:spPr>
        <p:txBody>
          <a:bodyPr wrap="square" lIns="0" tIns="0" rIns="0" bIns="0">
            <a:spAutoFit/>
          </a:bodyPr>
          <a:lstStyle/>
          <a:p>
            <a:pPr>
              <a:lnSpc>
                <a:spcPct val="113000"/>
              </a:lnSpc>
              <a:spcAft>
                <a:spcPts val="800"/>
              </a:spcAft>
            </a:pPr>
            <a:r>
              <a:rPr lang="en-GB" sz="1300" b="1" i="0" dirty="0">
                <a:solidFill>
                  <a:srgbClr val="1F4E96"/>
                </a:solidFill>
                <a:latin typeface="Calibri"/>
              </a:rPr>
              <a:t>Abaturage: </a:t>
            </a:r>
            <a:r>
              <a:rPr lang="en-GB" sz="1300" b="0" i="0" dirty="0">
                <a:solidFill>
                  <a:srgbClr val="1A1A1A"/>
                </a:solidFill>
                <a:latin typeface="Calibri"/>
              </a:rPr>
              <a:t>Abagore bo mu Rwanda, imyaka yose</a:t>
            </a:r>
          </a:p>
          <a:p>
            <a:pPr>
              <a:lnSpc>
                <a:spcPct val="113000"/>
              </a:lnSpc>
              <a:spcAft>
                <a:spcPts val="800"/>
              </a:spcAft>
            </a:pPr>
            <a:r>
              <a:rPr lang="en-GB" sz="1300" b="1" i="0" dirty="0">
                <a:solidFill>
                  <a:srgbClr val="1F4E96"/>
                </a:solidFill>
                <a:latin typeface="Calibri"/>
              </a:rPr>
              <a:t>Umwaka: </a:t>
            </a:r>
            <a:r>
              <a:rPr lang="en-GB" sz="1300" b="0" i="0" dirty="0">
                <a:solidFill>
                  <a:srgbClr val="1A1A1A"/>
                </a:solidFill>
                <a:latin typeface="Calibri"/>
              </a:rPr>
              <a:t>Imibare y'ikigereranyo ya 2024</a:t>
            </a:r>
          </a:p>
          <a:p>
            <a:pPr>
              <a:lnSpc>
                <a:spcPct val="113000"/>
              </a:lnSpc>
              <a:spcAft>
                <a:spcPts val="800"/>
              </a:spcAft>
            </a:pPr>
            <a:r>
              <a:rPr lang="en-GB" sz="1300" b="1" i="0" dirty="0">
                <a:solidFill>
                  <a:srgbClr val="1F4E96"/>
                </a:solidFill>
                <a:latin typeface="Calibri"/>
              </a:rPr>
              <a:t>Igipimo: </a:t>
            </a:r>
            <a:r>
              <a:rPr lang="en-GB" sz="1300" b="0" i="0" dirty="0">
                <a:solidFill>
                  <a:srgbClr val="1A1A1A"/>
                </a:solidFill>
                <a:latin typeface="Calibri"/>
              </a:rPr>
              <a:t>Abarwayi bashya b'ikigereranyo mu mwaka umwe</a:t>
            </a:r>
          </a:p>
          <a:p>
            <a:pPr>
              <a:lnSpc>
                <a:spcPct val="113000"/>
              </a:lnSpc>
              <a:spcAft>
                <a:spcPts val="800"/>
              </a:spcAft>
            </a:pPr>
            <a:r>
              <a:rPr lang="en-GB" sz="1300" b="1" i="0" dirty="0">
                <a:solidFill>
                  <a:srgbClr val="1F4E96"/>
                </a:solidFill>
                <a:latin typeface="Calibri"/>
              </a:rPr>
              <a:t>Isoko: </a:t>
            </a:r>
            <a:r>
              <a:rPr lang="en-GB" sz="1300" b="0" i="0" dirty="0">
                <a:solidFill>
                  <a:srgbClr val="1A1A1A"/>
                </a:solidFill>
                <a:latin typeface="Calibri"/>
              </a:rPr>
              <a:t>IARC Global Cancer Observatory, GLOBOCAN 2024</a:t>
            </a:r>
          </a:p>
          <a:p>
            <a:pPr>
              <a:lnSpc>
                <a:spcPct val="113000"/>
              </a:lnSpc>
              <a:spcAft>
                <a:spcPts val="800"/>
              </a:spcAft>
            </a:pPr>
            <a:r>
              <a:rPr lang="en-GB" sz="1700" b="1" i="0" dirty="0">
                <a:solidFill>
                  <a:srgbClr val="10305A"/>
                </a:solidFill>
                <a:latin typeface="Calibri"/>
              </a:rPr>
              <a:t>Icyo ibi byerekana: </a:t>
            </a:r>
            <a:r>
              <a:rPr lang="en-GB" sz="1700" b="0" i="0" dirty="0">
                <a:solidFill>
                  <a:srgbClr val="1A1A1A"/>
                </a:solidFill>
                <a:latin typeface="Calibri"/>
              </a:rPr>
              <a:t>Kanseri y'inkondo y'umura ni iya kabiri mu zikunze kwibasira abagore mu Rwanda, ikurikira hafi cyane kanseri y'ibere, kandi ni yo yica abagore benshi kurusha izindi kanseri zose.</a:t>
            </a:r>
          </a:p>
        </p:txBody>
      </p:sp>
      <p:sp>
        <p:nvSpPr>
          <p:cNvPr id="7" name="TextBox 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8" name="TextBox 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R W A N D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Icyo iyi mibare isobanuye ku kazi kawe</a:t>
            </a:r>
          </a:p>
        </p:txBody>
      </p:sp>
      <p:sp>
        <p:nvSpPr>
          <p:cNvPr id="4" name="Rounded Rectangle 3"/>
          <p:cNvSpPr/>
          <p:nvPr/>
        </p:nvSpPr>
        <p:spPr>
          <a:xfrm>
            <a:off x="566928" y="1554480"/>
            <a:ext cx="11058113" cy="73152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6479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585216"/>
          </a:xfrm>
          <a:prstGeom prst="rect">
            <a:avLst/>
          </a:prstGeom>
          <a:noFill/>
        </p:spPr>
        <p:txBody>
          <a:bodyPr wrap="square" lIns="0" tIns="0" rIns="0" bIns="0" anchor="ctr">
            <a:spAutoFit/>
          </a:bodyPr>
          <a:lstStyle/>
          <a:p>
            <a:pPr>
              <a:lnSpc>
                <a:spcPct val="110000"/>
              </a:lnSpc>
            </a:pPr>
            <a:r>
              <a:rPr lang="en-GB" sz="1550" b="1" i="0" dirty="0">
                <a:solidFill>
                  <a:srgbClr val="10305A"/>
                </a:solidFill>
                <a:latin typeface="Calibri"/>
              </a:rPr>
              <a:t>Irakunze kugaragara.  </a:t>
            </a:r>
            <a:r>
              <a:rPr lang="en-GB" sz="1550" b="0" i="0" dirty="0">
                <a:solidFill>
                  <a:srgbClr val="1A1A1A"/>
                </a:solidFill>
                <a:latin typeface="Calibri"/>
              </a:rPr>
              <a:t>Kanseri y'inkondo y'umura ifata abagore benshi mu Rwanda buri mwaka.</a:t>
            </a:r>
          </a:p>
        </p:txBody>
      </p:sp>
      <p:sp>
        <p:nvSpPr>
          <p:cNvPr id="7" name="Rounded Rectangle 6"/>
          <p:cNvSpPr/>
          <p:nvPr/>
        </p:nvSpPr>
        <p:spPr>
          <a:xfrm>
            <a:off x="566928" y="2589863"/>
            <a:ext cx="11058113" cy="73152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800175"/>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681303"/>
            <a:ext cx="9960833" cy="585216"/>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Irakomeye.  </a:t>
            </a:r>
            <a:r>
              <a:rPr lang="en-GB" sz="1800" b="0" i="0" dirty="0">
                <a:solidFill>
                  <a:srgbClr val="1A1A1A"/>
                </a:solidFill>
                <a:latin typeface="Calibri"/>
              </a:rPr>
              <a:t>Abagore bararemba cyane kandi benshi barapfa, akenshi kubera ko yamenyekanye itinze.</a:t>
            </a:r>
          </a:p>
        </p:txBody>
      </p:sp>
      <p:sp>
        <p:nvSpPr>
          <p:cNvPr id="10" name="Rounded Rectangle 9"/>
          <p:cNvSpPr/>
          <p:nvPr/>
        </p:nvSpPr>
        <p:spPr>
          <a:xfrm>
            <a:off x="566928" y="3642829"/>
            <a:ext cx="11058113" cy="73152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853141"/>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734269"/>
            <a:ext cx="9960833" cy="585216"/>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Irashobora kwirindwa.  </a:t>
            </a:r>
            <a:r>
              <a:rPr lang="en-GB" sz="1800" b="0" i="0" dirty="0">
                <a:solidFill>
                  <a:srgbClr val="1A1A1A"/>
                </a:solidFill>
                <a:latin typeface="Calibri"/>
              </a:rPr>
              <a:t>Urukingo, kwisuzumisha no kuvurwa hakiri kare bishobora gukumira izi kanseri nyinshi.</a:t>
            </a:r>
          </a:p>
        </p:txBody>
      </p:sp>
      <p:sp>
        <p:nvSpPr>
          <p:cNvPr id="13" name="Rounded Rectangle 12"/>
          <p:cNvSpPr/>
          <p:nvPr/>
        </p:nvSpPr>
        <p:spPr>
          <a:xfrm>
            <a:off x="566928" y="4660629"/>
            <a:ext cx="11058113" cy="73152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870941"/>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752069"/>
            <a:ext cx="9960833" cy="585216"/>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Gukora hakiri kare bihindura iherezo.  </a:t>
            </a:r>
            <a:r>
              <a:rPr lang="en-GB" sz="1800" b="0" i="0" dirty="0">
                <a:solidFill>
                  <a:srgbClr val="1A1A1A"/>
                </a:solidFill>
                <a:latin typeface="Calibri"/>
              </a:rPr>
              <a:t>Buri mugore witabira isuzuma ku gihe aba ari umwe mu batazamenyekana indwara yarakabije.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558B9-53E0-CDE7-B513-0BF91FD0A67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6F1E05-2331-0BAA-62F1-8421D7E95475}"/>
              </a:ext>
            </a:extLst>
          </p:cNvPr>
          <p:cNvSpPr txBox="1"/>
          <p:nvPr/>
        </p:nvSpPr>
        <p:spPr>
          <a:xfrm>
            <a:off x="566928" y="365760"/>
            <a:ext cx="11058113" cy="27432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1F4E96"/>
                </a:solidFill>
                <a:effectLst/>
                <a:uLnTx/>
                <a:uFillTx/>
                <a:latin typeface="Calibri"/>
                <a:ea typeface="+mn-ea"/>
                <a:cs typeface="+mn-cs"/>
              </a:rPr>
              <a:t>I G I C E   C Y A   1   ·   K W I R I N D A</a:t>
            </a:r>
          </a:p>
        </p:txBody>
      </p:sp>
      <p:sp>
        <p:nvSpPr>
          <p:cNvPr id="3" name="TextBox 2">
            <a:extLst>
              <a:ext uri="{FF2B5EF4-FFF2-40B4-BE49-F238E27FC236}">
                <a16:creationId xmlns:a16="http://schemas.microsoft.com/office/drawing/2014/main" id="{FD27D59E-A20D-9E66-E700-240D8498DB2A}"/>
              </a:ext>
            </a:extLst>
          </p:cNvPr>
          <p:cNvSpPr txBox="1"/>
          <p:nvPr/>
        </p:nvSpPr>
        <p:spPr>
          <a:xfrm>
            <a:off x="566928" y="713232"/>
            <a:ext cx="11058113" cy="77724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750" b="1" i="0" u="none" strike="noStrike" kern="1200" cap="none" spc="0" normalizeH="0" baseline="0" noProof="0" dirty="0">
                <a:ln>
                  <a:noFill/>
                </a:ln>
                <a:solidFill>
                  <a:srgbClr val="10305A"/>
                </a:solidFill>
                <a:effectLst/>
                <a:uLnTx/>
                <a:uFillTx/>
                <a:latin typeface="Cambria"/>
                <a:ea typeface="+mn-ea"/>
                <a:cs typeface="+mn-cs"/>
              </a:rPr>
              <a:t>Uko kanseri y'inkondo y'umura yirindwa</a:t>
            </a:r>
          </a:p>
        </p:txBody>
      </p:sp>
      <p:sp>
        <p:nvSpPr>
          <p:cNvPr id="4" name="Rounded Rectangle 3">
            <a:extLst>
              <a:ext uri="{FF2B5EF4-FFF2-40B4-BE49-F238E27FC236}">
                <a16:creationId xmlns:a16="http://schemas.microsoft.com/office/drawing/2014/main" id="{3827ADAA-1681-AE7F-FAA4-299ED83D98B0}"/>
              </a:ext>
            </a:extLst>
          </p:cNvPr>
          <p:cNvSpPr/>
          <p:nvPr/>
        </p:nvSpPr>
        <p:spPr>
          <a:xfrm>
            <a:off x="566926" y="1554481"/>
            <a:ext cx="5044209" cy="1874520"/>
          </a:xfrm>
          <a:prstGeom prst="roundRect">
            <a:avLst>
              <a:gd name="adj" fmla="val 4500"/>
            </a:avLst>
          </a:prstGeom>
          <a:solidFill>
            <a:srgbClr val="F3F6FB"/>
          </a:solidFill>
          <a:ln w="12700">
            <a:solidFill>
              <a:srgbClr val="E0E3EA"/>
            </a:solidFill>
          </a:ln>
          <a:effectLst/>
        </p:spPr>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Oval 4">
            <a:extLst>
              <a:ext uri="{FF2B5EF4-FFF2-40B4-BE49-F238E27FC236}">
                <a16:creationId xmlns:a16="http://schemas.microsoft.com/office/drawing/2014/main" id="{3ADE886C-E947-445D-3E1A-A38D6D4E3A9B}"/>
              </a:ext>
            </a:extLst>
          </p:cNvPr>
          <p:cNvSpPr/>
          <p:nvPr/>
        </p:nvSpPr>
        <p:spPr>
          <a:xfrm>
            <a:off x="740663" y="1869724"/>
            <a:ext cx="475488" cy="475488"/>
          </a:xfrm>
          <a:prstGeom prst="ellipse">
            <a:avLst/>
          </a:prstGeom>
          <a:solidFill>
            <a:srgbClr val="1F4E96"/>
          </a:solidFill>
          <a:ln>
            <a:noFill/>
          </a:ln>
          <a:effectLst/>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700" b="1" i="0" u="none" strike="noStrike" kern="1200" cap="none" spc="0" normalizeH="0" baseline="0" noProof="0" dirty="0">
                <a:ln>
                  <a:noFill/>
                </a:ln>
                <a:solidFill>
                  <a:srgbClr val="FFFFFF"/>
                </a:solidFill>
                <a:effectLst/>
                <a:uLnTx/>
                <a:uFillTx/>
                <a:latin typeface="Calibri"/>
                <a:ea typeface="+mn-ea"/>
                <a:cs typeface="+mn-cs"/>
              </a:rPr>
              <a:t>1</a:t>
            </a:r>
          </a:p>
        </p:txBody>
      </p:sp>
      <p:sp>
        <p:nvSpPr>
          <p:cNvPr id="6" name="TextBox 5">
            <a:extLst>
              <a:ext uri="{FF2B5EF4-FFF2-40B4-BE49-F238E27FC236}">
                <a16:creationId xmlns:a16="http://schemas.microsoft.com/office/drawing/2014/main" id="{E68568C4-4E45-5127-ABFD-8DD70B8628E3}"/>
              </a:ext>
            </a:extLst>
          </p:cNvPr>
          <p:cNvSpPr txBox="1"/>
          <p:nvPr/>
        </p:nvSpPr>
        <p:spPr>
          <a:xfrm>
            <a:off x="1389888" y="1727185"/>
            <a:ext cx="1370897" cy="1224246"/>
          </a:xfrm>
          <a:prstGeom prst="rect">
            <a:avLst/>
          </a:prstGeom>
          <a:noFill/>
        </p:spPr>
        <p:txBody>
          <a:bodyPr wrap="square" lIns="0" tIns="0" rIns="0" bIns="0">
            <a:sp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lang="en-GB" sz="1500" b="0" i="0" u="none" strike="noStrike" kern="1200" cap="none" spc="0" normalizeH="0" baseline="0" noProof="0" dirty="0">
                <a:ln>
                  <a:noFill/>
                </a:ln>
                <a:solidFill>
                  <a:srgbClr val="1A1A1A"/>
                </a:solidFill>
                <a:effectLst/>
                <a:uLnTx/>
                <a:uFillTx/>
                <a:latin typeface="Calibri"/>
                <a:ea typeface="+mn-ea"/>
                <a:cs typeface="+mn-cs"/>
              </a:rPr>
              <a:t>Urukingo </a:t>
            </a:r>
            <a:r>
              <a:rPr kumimoji="0" lang="en-GB" sz="1500" b="1" i="0" u="none" strike="noStrike" kern="1200" cap="none" spc="0" normalizeH="0" baseline="0" noProof="0" dirty="0">
                <a:ln>
                  <a:noFill/>
                </a:ln>
                <a:solidFill>
                  <a:srgbClr val="1A1A1A"/>
                </a:solidFill>
                <a:effectLst/>
                <a:uLnTx/>
                <a:uFillTx/>
                <a:latin typeface="Calibri"/>
                <a:ea typeface="+mn-ea"/>
                <a:cs typeface="+mn-cs"/>
              </a:rPr>
              <a:t>rwa HPV rurinda </a:t>
            </a:r>
            <a:r>
              <a:rPr kumimoji="0" lang="en-GB" sz="1500" b="0" i="0" u="none" strike="noStrike" kern="1200" cap="none" spc="0" normalizeH="0" baseline="0" noProof="0" dirty="0">
                <a:ln>
                  <a:noFill/>
                </a:ln>
                <a:solidFill>
                  <a:srgbClr val="1A1A1A"/>
                </a:solidFill>
                <a:effectLst/>
                <a:uLnTx/>
                <a:uFillTx/>
                <a:latin typeface="Calibri"/>
                <a:ea typeface="+mn-ea"/>
                <a:cs typeface="+mn-cs"/>
              </a:rPr>
              <a:t>kwandura mbere y'uko bitangira</a:t>
            </a:r>
          </a:p>
        </p:txBody>
      </p:sp>
      <p:sp>
        <p:nvSpPr>
          <p:cNvPr id="8" name="Rounded Rectangle 7">
            <a:extLst>
              <a:ext uri="{FF2B5EF4-FFF2-40B4-BE49-F238E27FC236}">
                <a16:creationId xmlns:a16="http://schemas.microsoft.com/office/drawing/2014/main" id="{0B557A94-8CA4-52DE-3A40-336705BB31A9}"/>
              </a:ext>
            </a:extLst>
          </p:cNvPr>
          <p:cNvSpPr/>
          <p:nvPr/>
        </p:nvSpPr>
        <p:spPr>
          <a:xfrm>
            <a:off x="6106083" y="1490472"/>
            <a:ext cx="5218409" cy="1914824"/>
          </a:xfrm>
          <a:prstGeom prst="roundRect">
            <a:avLst>
              <a:gd name="adj" fmla="val 4500"/>
            </a:avLst>
          </a:prstGeom>
          <a:solidFill>
            <a:srgbClr val="F3F6FB"/>
          </a:solidFill>
          <a:ln w="12700">
            <a:solidFill>
              <a:srgbClr val="E0E3EA"/>
            </a:solidFill>
          </a:ln>
          <a:effectLst/>
        </p:spPr>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Oval 8">
            <a:extLst>
              <a:ext uri="{FF2B5EF4-FFF2-40B4-BE49-F238E27FC236}">
                <a16:creationId xmlns:a16="http://schemas.microsoft.com/office/drawing/2014/main" id="{AE765680-0C9A-17CE-9E0E-533B2F8DEE30}"/>
              </a:ext>
            </a:extLst>
          </p:cNvPr>
          <p:cNvSpPr/>
          <p:nvPr/>
        </p:nvSpPr>
        <p:spPr>
          <a:xfrm>
            <a:off x="6252388" y="1822650"/>
            <a:ext cx="475488" cy="475488"/>
          </a:xfrm>
          <a:prstGeom prst="ellipse">
            <a:avLst/>
          </a:prstGeom>
          <a:solidFill>
            <a:srgbClr val="1F4E96"/>
          </a:solidFill>
          <a:ln>
            <a:noFill/>
          </a:ln>
          <a:effectLst/>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700" b="1" i="0" u="none" strike="noStrike" kern="1200" cap="none" spc="0" normalizeH="0" baseline="0" noProof="0" dirty="0">
                <a:ln>
                  <a:noFill/>
                </a:ln>
                <a:solidFill>
                  <a:srgbClr val="FFFFFF"/>
                </a:solidFill>
                <a:effectLst/>
                <a:uLnTx/>
                <a:uFillTx/>
                <a:latin typeface="Calibri"/>
                <a:ea typeface="+mn-ea"/>
                <a:cs typeface="+mn-cs"/>
              </a:rPr>
              <a:t>2</a:t>
            </a:r>
          </a:p>
        </p:txBody>
      </p:sp>
      <p:sp>
        <p:nvSpPr>
          <p:cNvPr id="10" name="TextBox 9">
            <a:extLst>
              <a:ext uri="{FF2B5EF4-FFF2-40B4-BE49-F238E27FC236}">
                <a16:creationId xmlns:a16="http://schemas.microsoft.com/office/drawing/2014/main" id="{B2FD0EC1-8D31-3A57-CDD1-05691D82747B}"/>
              </a:ext>
            </a:extLst>
          </p:cNvPr>
          <p:cNvSpPr txBox="1"/>
          <p:nvPr/>
        </p:nvSpPr>
        <p:spPr>
          <a:xfrm>
            <a:off x="6831160" y="1766633"/>
            <a:ext cx="1609456" cy="1224246"/>
          </a:xfrm>
          <a:prstGeom prst="rect">
            <a:avLst/>
          </a:prstGeom>
          <a:noFill/>
        </p:spPr>
        <p:txBody>
          <a:bodyPr wrap="square" lIns="0" tIns="0" rIns="0" bIns="0">
            <a:sp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1A1A1A"/>
                </a:solidFill>
                <a:effectLst/>
                <a:uLnTx/>
                <a:uFillTx/>
                <a:latin typeface="Calibri"/>
                <a:ea typeface="+mn-ea"/>
                <a:cs typeface="+mn-cs"/>
              </a:rPr>
              <a:t>Kwisuzumisha bigaragaza impinduka hakiri kare</a:t>
            </a:r>
            <a:r>
              <a:rPr kumimoji="0" lang="en-GB" sz="1050" b="0" i="0" u="none" strike="noStrike" kern="1200" cap="none" spc="0" normalizeH="0" baseline="0" noProof="0" dirty="0">
                <a:ln>
                  <a:noFill/>
                </a:ln>
                <a:solidFill>
                  <a:srgbClr val="1A1A1A"/>
                </a:solidFill>
                <a:effectLst/>
                <a:uLnTx/>
                <a:uFillTx/>
                <a:latin typeface="Calibri"/>
                <a:ea typeface="+mn-ea"/>
                <a:cs typeface="+mn-cs"/>
              </a:rPr>
              <a:t>, mbere y'uko ibimenyetso bigaragara</a:t>
            </a:r>
          </a:p>
        </p:txBody>
      </p:sp>
      <p:sp>
        <p:nvSpPr>
          <p:cNvPr id="12" name="Rounded Rectangle 11">
            <a:extLst>
              <a:ext uri="{FF2B5EF4-FFF2-40B4-BE49-F238E27FC236}">
                <a16:creationId xmlns:a16="http://schemas.microsoft.com/office/drawing/2014/main" id="{EF45DCCB-B91E-A9A8-DF96-6A70D5839987}"/>
              </a:ext>
            </a:extLst>
          </p:cNvPr>
          <p:cNvSpPr/>
          <p:nvPr/>
        </p:nvSpPr>
        <p:spPr>
          <a:xfrm>
            <a:off x="552789" y="3642098"/>
            <a:ext cx="5058346" cy="1728480"/>
          </a:xfrm>
          <a:prstGeom prst="roundRect">
            <a:avLst>
              <a:gd name="adj" fmla="val 4500"/>
            </a:avLst>
          </a:prstGeom>
          <a:solidFill>
            <a:srgbClr val="F3F6FB"/>
          </a:solidFill>
          <a:ln w="12700">
            <a:solidFill>
              <a:srgbClr val="E0E3EA"/>
            </a:solidFill>
          </a:ln>
          <a:effectLst/>
        </p:spPr>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Oval 12">
            <a:extLst>
              <a:ext uri="{FF2B5EF4-FFF2-40B4-BE49-F238E27FC236}">
                <a16:creationId xmlns:a16="http://schemas.microsoft.com/office/drawing/2014/main" id="{E8FD869C-EDFE-620F-E944-D6E0DDA1F040}"/>
              </a:ext>
            </a:extLst>
          </p:cNvPr>
          <p:cNvSpPr/>
          <p:nvPr/>
        </p:nvSpPr>
        <p:spPr>
          <a:xfrm>
            <a:off x="683996" y="3932692"/>
            <a:ext cx="475488" cy="475488"/>
          </a:xfrm>
          <a:prstGeom prst="ellipse">
            <a:avLst/>
          </a:prstGeom>
          <a:solidFill>
            <a:srgbClr val="1F4E96"/>
          </a:solidFill>
          <a:ln>
            <a:noFill/>
          </a:ln>
          <a:effectLst/>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700" b="1" i="0" u="none" strike="noStrike" kern="1200" cap="none" spc="0" normalizeH="0" baseline="0" noProof="0" dirty="0">
                <a:ln>
                  <a:noFill/>
                </a:ln>
                <a:solidFill>
                  <a:srgbClr val="FFFFFF"/>
                </a:solidFill>
                <a:effectLst/>
                <a:uLnTx/>
                <a:uFillTx/>
                <a:latin typeface="Calibri"/>
                <a:ea typeface="+mn-ea"/>
                <a:cs typeface="+mn-cs"/>
              </a:rPr>
              <a:t>3</a:t>
            </a:r>
          </a:p>
        </p:txBody>
      </p:sp>
      <p:sp>
        <p:nvSpPr>
          <p:cNvPr id="14" name="TextBox 13">
            <a:extLst>
              <a:ext uri="{FF2B5EF4-FFF2-40B4-BE49-F238E27FC236}">
                <a16:creationId xmlns:a16="http://schemas.microsoft.com/office/drawing/2014/main" id="{01574171-F4E5-D654-231E-45526CF6A516}"/>
              </a:ext>
            </a:extLst>
          </p:cNvPr>
          <p:cNvSpPr txBox="1"/>
          <p:nvPr/>
        </p:nvSpPr>
        <p:spPr>
          <a:xfrm>
            <a:off x="1294622" y="3800468"/>
            <a:ext cx="1466163" cy="1224246"/>
          </a:xfrm>
          <a:prstGeom prst="rect">
            <a:avLst/>
          </a:prstGeom>
          <a:noFill/>
        </p:spPr>
        <p:txBody>
          <a:bodyPr wrap="square" lIns="0" tIns="0" rIns="0" bIns="0">
            <a:sp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1A1A1A"/>
                </a:solidFill>
                <a:effectLst/>
                <a:uLnTx/>
                <a:uFillTx/>
                <a:latin typeface="Calibri"/>
                <a:ea typeface="+mn-ea"/>
                <a:cs typeface="+mn-cs"/>
              </a:rPr>
              <a:t>Impinduka zabonetse hakiri kare zivurwa mu gihe gito, umuntu agiye kwa muganga rimwe</a:t>
            </a:r>
          </a:p>
        </p:txBody>
      </p:sp>
      <p:sp>
        <p:nvSpPr>
          <p:cNvPr id="16" name="Rounded Rectangle 15">
            <a:extLst>
              <a:ext uri="{FF2B5EF4-FFF2-40B4-BE49-F238E27FC236}">
                <a16:creationId xmlns:a16="http://schemas.microsoft.com/office/drawing/2014/main" id="{EB20D2A6-0BCD-EF0F-9A35-9F5532FDB4BE}"/>
              </a:ext>
            </a:extLst>
          </p:cNvPr>
          <p:cNvSpPr/>
          <p:nvPr/>
        </p:nvSpPr>
        <p:spPr>
          <a:xfrm>
            <a:off x="6106083" y="3642097"/>
            <a:ext cx="5218409" cy="1728479"/>
          </a:xfrm>
          <a:prstGeom prst="roundRect">
            <a:avLst>
              <a:gd name="adj" fmla="val 4500"/>
            </a:avLst>
          </a:prstGeom>
          <a:solidFill>
            <a:srgbClr val="F3F6FB"/>
          </a:solidFill>
          <a:ln w="12700">
            <a:solidFill>
              <a:srgbClr val="E0E3EA"/>
            </a:solidFill>
          </a:ln>
          <a:effectLst/>
        </p:spPr>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Oval 16">
            <a:extLst>
              <a:ext uri="{FF2B5EF4-FFF2-40B4-BE49-F238E27FC236}">
                <a16:creationId xmlns:a16="http://schemas.microsoft.com/office/drawing/2014/main" id="{A72DEE13-7AB3-5EF5-E125-5F9D3CB66166}"/>
              </a:ext>
            </a:extLst>
          </p:cNvPr>
          <p:cNvSpPr/>
          <p:nvPr/>
        </p:nvSpPr>
        <p:spPr>
          <a:xfrm>
            <a:off x="6263230" y="3902255"/>
            <a:ext cx="475488" cy="475488"/>
          </a:xfrm>
          <a:prstGeom prst="ellipse">
            <a:avLst/>
          </a:prstGeom>
          <a:solidFill>
            <a:srgbClr val="1F4E96"/>
          </a:solidFill>
          <a:ln>
            <a:noFill/>
          </a:ln>
          <a:effectLst/>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700" b="1" i="0" u="none" strike="noStrike" kern="1200" cap="none" spc="0" normalizeH="0" baseline="0" noProof="0" dirty="0">
                <a:ln>
                  <a:noFill/>
                </a:ln>
                <a:solidFill>
                  <a:srgbClr val="FFFFFF"/>
                </a:solidFill>
                <a:effectLst/>
                <a:uLnTx/>
                <a:uFillTx/>
                <a:latin typeface="Calibri"/>
                <a:ea typeface="+mn-ea"/>
                <a:cs typeface="+mn-cs"/>
              </a:rPr>
              <a:t>4</a:t>
            </a:r>
          </a:p>
        </p:txBody>
      </p:sp>
      <p:sp>
        <p:nvSpPr>
          <p:cNvPr id="18" name="TextBox 17">
            <a:extLst>
              <a:ext uri="{FF2B5EF4-FFF2-40B4-BE49-F238E27FC236}">
                <a16:creationId xmlns:a16="http://schemas.microsoft.com/office/drawing/2014/main" id="{5A05E9ED-C70B-6CBA-72F9-62811450AE45}"/>
              </a:ext>
            </a:extLst>
          </p:cNvPr>
          <p:cNvSpPr txBox="1"/>
          <p:nvPr/>
        </p:nvSpPr>
        <p:spPr>
          <a:xfrm>
            <a:off x="6943183" y="3978273"/>
            <a:ext cx="1497433" cy="603820"/>
          </a:xfrm>
          <a:prstGeom prst="rect">
            <a:avLst/>
          </a:prstGeom>
          <a:noFill/>
        </p:spPr>
        <p:txBody>
          <a:bodyPr wrap="square" lIns="0" tIns="0" rIns="0" bIns="0">
            <a:sp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1A1A1A"/>
                </a:solidFill>
                <a:effectLst/>
                <a:uLnTx/>
                <a:uFillTx/>
                <a:latin typeface="Calibri"/>
                <a:ea typeface="+mn-ea"/>
                <a:cs typeface="+mn-cs"/>
              </a:rPr>
              <a:t>Kanseri ntizigera iza</a:t>
            </a:r>
          </a:p>
        </p:txBody>
      </p:sp>
      <p:sp>
        <p:nvSpPr>
          <p:cNvPr id="19" name="Rounded Rectangle 18">
            <a:extLst>
              <a:ext uri="{FF2B5EF4-FFF2-40B4-BE49-F238E27FC236}">
                <a16:creationId xmlns:a16="http://schemas.microsoft.com/office/drawing/2014/main" id="{FEA5CBF5-5C8C-57FB-5EB2-F2C16DD48B74}"/>
              </a:ext>
            </a:extLst>
          </p:cNvPr>
          <p:cNvSpPr/>
          <p:nvPr/>
        </p:nvSpPr>
        <p:spPr>
          <a:xfrm>
            <a:off x="536590" y="5469614"/>
            <a:ext cx="10787901" cy="712758"/>
          </a:xfrm>
          <a:prstGeom prst="roundRect">
            <a:avLst>
              <a:gd name="adj" fmla="val 4500"/>
            </a:avLst>
          </a:prstGeom>
          <a:solidFill>
            <a:srgbClr val="EAF7F0"/>
          </a:solidFill>
          <a:ln w="12700">
            <a:solidFill>
              <a:srgbClr val="C7E6D5"/>
            </a:solidFill>
          </a:ln>
          <a:effectLst/>
        </p:spPr>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 name="TextBox 19">
            <a:extLst>
              <a:ext uri="{FF2B5EF4-FFF2-40B4-BE49-F238E27FC236}">
                <a16:creationId xmlns:a16="http://schemas.microsoft.com/office/drawing/2014/main" id="{07A72AF5-2B3C-519A-EB64-A5CC3F7C1A4E}"/>
              </a:ext>
            </a:extLst>
          </p:cNvPr>
          <p:cNvSpPr txBox="1"/>
          <p:nvPr/>
        </p:nvSpPr>
        <p:spPr>
          <a:xfrm>
            <a:off x="606930" y="5524110"/>
            <a:ext cx="10787901" cy="603820"/>
          </a:xfrm>
          <a:prstGeom prst="rect">
            <a:avLst/>
          </a:prstGeom>
          <a:noFill/>
        </p:spPr>
        <p:txBody>
          <a:bodyPr wrap="square" lIns="0" tIns="0" rIns="0" bIns="0">
            <a:sp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1C6B3F"/>
                </a:solidFill>
                <a:effectLst/>
                <a:uLnTx/>
                <a:uFillTx/>
                <a:latin typeface="Calibri"/>
                <a:ea typeface="+mn-ea"/>
                <a:cs typeface="+mn-cs"/>
              </a:rPr>
              <a:t>💡 Ingingo y'ingenzi:  </a:t>
            </a:r>
            <a:r>
              <a:rPr kumimoji="0" lang="en-GB" sz="1800" b="0" i="0" u="none" strike="noStrike" kern="1200" cap="none" spc="0" normalizeH="0" baseline="0" noProof="0" dirty="0">
                <a:ln>
                  <a:noFill/>
                </a:ln>
                <a:solidFill>
                  <a:srgbClr val="1A1A1A"/>
                </a:solidFill>
                <a:effectLst/>
                <a:uLnTx/>
                <a:uFillTx/>
                <a:latin typeface="Calibri"/>
                <a:ea typeface="+mn-ea"/>
                <a:cs typeface="+mn-cs"/>
              </a:rPr>
              <a:t>Urukingo n'isuzuma birinda mu buryo bubiri butandukanye. Umugore wakingiwe agomba no kwisuzumisha igihe agejeje igihe cyo kwisuzumisha.</a:t>
            </a:r>
          </a:p>
        </p:txBody>
      </p:sp>
      <p:sp>
        <p:nvSpPr>
          <p:cNvPr id="21" name="TextBox 20">
            <a:extLst>
              <a:ext uri="{FF2B5EF4-FFF2-40B4-BE49-F238E27FC236}">
                <a16:creationId xmlns:a16="http://schemas.microsoft.com/office/drawing/2014/main" id="{97E7473F-BCB2-CE08-9FF7-3605F05D7ED5}"/>
              </a:ext>
            </a:extLst>
          </p:cNvPr>
          <p:cNvSpPr txBox="1"/>
          <p:nvPr/>
        </p:nvSpPr>
        <p:spPr>
          <a:xfrm>
            <a:off x="566928" y="6345936"/>
            <a:ext cx="7315200" cy="27432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777D86"/>
                </a:solidFill>
                <a:effectLst/>
                <a:uLnTx/>
                <a:uFillTx/>
                <a:latin typeface="Calibri"/>
                <a:ea typeface="+mn-ea"/>
                <a:cs typeface="+mn-cs"/>
              </a:rPr>
              <a:t>Kanseri y'inkondo y'umura  |  Umujyanama w'Ubuzima  |  Ikigo cy'Igihugu Gishinzwe Ubuzima</a:t>
            </a:r>
          </a:p>
        </p:txBody>
      </p:sp>
      <p:sp>
        <p:nvSpPr>
          <p:cNvPr id="22" name="TextBox 21">
            <a:extLst>
              <a:ext uri="{FF2B5EF4-FFF2-40B4-BE49-F238E27FC236}">
                <a16:creationId xmlns:a16="http://schemas.microsoft.com/office/drawing/2014/main" id="{01273D37-BDC7-EA1B-F820-8E584C4BBB96}"/>
              </a:ext>
            </a:extLst>
          </p:cNvPr>
          <p:cNvSpPr txBox="1"/>
          <p:nvPr/>
        </p:nvSpPr>
        <p:spPr>
          <a:xfrm>
            <a:off x="8881841" y="6345936"/>
            <a:ext cx="2743200" cy="274320"/>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777D86"/>
                </a:solidFill>
                <a:effectLst/>
                <a:uLnTx/>
                <a:uFillTx/>
                <a:latin typeface="Calibri"/>
                <a:ea typeface="+mn-ea"/>
                <a:cs typeface="+mn-cs"/>
              </a:rPr>
              <a:t>Urupapuro rwa 40</a:t>
            </a:r>
          </a:p>
        </p:txBody>
      </p:sp>
      <p:pic>
        <p:nvPicPr>
          <p:cNvPr id="7" name="Imagen 6">
            <a:extLst>
              <a:ext uri="{FF2B5EF4-FFF2-40B4-BE49-F238E27FC236}">
                <a16:creationId xmlns:a16="http://schemas.microsoft.com/office/drawing/2014/main" id="{444ECEF7-67D2-0F6B-2492-02E87C19BF1A}"/>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944302" y="1727185"/>
            <a:ext cx="2271821" cy="1514547"/>
          </a:xfrm>
          <a:prstGeom prst="rect">
            <a:avLst/>
          </a:prstGeom>
        </p:spPr>
      </p:pic>
      <p:pic>
        <p:nvPicPr>
          <p:cNvPr id="11" name="Imagen 10">
            <a:extLst>
              <a:ext uri="{FF2B5EF4-FFF2-40B4-BE49-F238E27FC236}">
                <a16:creationId xmlns:a16="http://schemas.microsoft.com/office/drawing/2014/main" id="{5D63BFF6-F310-29A4-9A7C-3B756F5141A8}"/>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674431" y="1727185"/>
            <a:ext cx="2421443" cy="1514547"/>
          </a:xfrm>
          <a:prstGeom prst="rect">
            <a:avLst/>
          </a:prstGeom>
        </p:spPr>
      </p:pic>
      <p:pic>
        <p:nvPicPr>
          <p:cNvPr id="15" name="Imagen 14">
            <a:extLst>
              <a:ext uri="{FF2B5EF4-FFF2-40B4-BE49-F238E27FC236}">
                <a16:creationId xmlns:a16="http://schemas.microsoft.com/office/drawing/2014/main" id="{E909617E-0FE9-9395-78B6-9A1E232934C4}"/>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3192879" y="3830191"/>
            <a:ext cx="2023244" cy="1348829"/>
          </a:xfrm>
          <a:prstGeom prst="rect">
            <a:avLst/>
          </a:prstGeom>
        </p:spPr>
      </p:pic>
      <p:pic>
        <p:nvPicPr>
          <p:cNvPr id="23" name="Imagen 22">
            <a:extLst>
              <a:ext uri="{FF2B5EF4-FFF2-40B4-BE49-F238E27FC236}">
                <a16:creationId xmlns:a16="http://schemas.microsoft.com/office/drawing/2014/main" id="{192DDED2-020D-C2E6-CE3B-126AA5FA6B5B}"/>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917011" y="3830191"/>
            <a:ext cx="2090027" cy="1393351"/>
          </a:xfrm>
          <a:prstGeom prst="rect">
            <a:avLst/>
          </a:prstGeom>
        </p:spPr>
      </p:pic>
    </p:spTree>
    <p:extLst>
      <p:ext uri="{BB962C8B-B14F-4D97-AF65-F5344CB8AC3E}">
        <p14:creationId xmlns:p14="http://schemas.microsoft.com/office/powerpoint/2010/main" val="24542786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900" b="1" i="0" dirty="0">
                <a:solidFill>
                  <a:srgbClr val="10305A"/>
                </a:solidFill>
                <a:latin typeface="Cambria"/>
              </a:rPr>
              <a:t>Ni ikihe gikorwa kirinda kanseri?</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Ni ikihe muri ibi gikumira koko kanseri y'inkondo y'umura ntize?</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700" b="1" i="0" dirty="0">
                <a:solidFill>
                  <a:srgbClr val="1F4E96"/>
                </a:solidFill>
                <a:latin typeface="Calibri"/>
              </a:rPr>
              <a:t>A   </a:t>
            </a:r>
            <a:r>
              <a:rPr lang="en-GB" sz="1700" b="0" i="0" dirty="0">
                <a:solidFill>
                  <a:srgbClr val="1A1A1A"/>
                </a:solidFill>
                <a:latin typeface="Calibri"/>
              </a:rPr>
              <a:t>Gutegereza kugeza ibimenyetso bigaragaye hanyuma ukajya ku kigo nderabuzima</a:t>
            </a:r>
          </a:p>
        </p:txBody>
      </p:sp>
      <p:sp>
        <p:nvSpPr>
          <p:cNvPr id="12" name="Rounded Rectangle 11"/>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64261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Kwirinda amazi akonje n'imirimo ivunanye</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Gufatira imiti igabanya ububabare mu rugo</a:t>
            </a:r>
          </a:p>
        </p:txBody>
      </p:sp>
      <p:sp>
        <p:nvSpPr>
          <p:cNvPr id="7" name="Rounded Rectangle 6"/>
          <p:cNvSpPr/>
          <p:nvPr/>
        </p:nvSpPr>
        <p:spPr>
          <a:xfrm>
            <a:off x="566928" y="377647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400" b="1" i="0" dirty="0">
                <a:solidFill>
                  <a:srgbClr val="1F4E96"/>
                </a:solidFill>
                <a:latin typeface="Calibri"/>
              </a:rPr>
              <a:t>D   </a:t>
            </a:r>
            <a:r>
              <a:rPr lang="en-GB" sz="1400" b="0" i="0" dirty="0">
                <a:solidFill>
                  <a:srgbClr val="1A1A1A"/>
                </a:solidFill>
                <a:latin typeface="Calibri"/>
              </a:rPr>
              <a:t>Gushakisha no kuvura impinduka ku nkondo y'umura mbere y'uko ikimenyetso na kimwe kigaragara</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650" b="1" i="0" dirty="0">
                <a:solidFill>
                  <a:srgbClr val="1C6B3F"/>
                </a:solidFill>
                <a:latin typeface="Calibri"/>
              </a:rPr>
              <a:t>Igisubizo cy'ukuri: D</a:t>
            </a:r>
          </a:p>
          <a:p>
            <a:pPr>
              <a:lnSpc>
                <a:spcPct val="110000"/>
              </a:lnSpc>
              <a:spcAft>
                <a:spcPts val="100"/>
              </a:spcAft>
            </a:pPr>
            <a:r>
              <a:rPr lang="en-GB" sz="1650" b="1" i="0" dirty="0">
                <a:solidFill>
                  <a:srgbClr val="1C6B3F"/>
                </a:solidFill>
                <a:latin typeface="Calibri"/>
              </a:rPr>
              <a:t>Inyunganizi: </a:t>
            </a:r>
            <a:r>
              <a:rPr lang="en-GB" sz="1650" b="0" i="0" dirty="0">
                <a:solidFill>
                  <a:srgbClr val="1A1A1A"/>
                </a:solidFill>
                <a:latin typeface="Calibri"/>
              </a:rPr>
              <a:t>Kwisuzumisha ntibigarukira ku kubona kanseri hakiri kare. Bigaragaza impinduka mbere y'uko kanseri ibaho na gato, kandi izo mpinduka zivurwa mu gihe gito, bityo kanseri ntizigere ikura. Gutegereza ibimenyetso bisobanura kumenya indwara itinze.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41</a:t>
            </a:r>
          </a:p>
        </p:txBody>
      </p:sp>
      <p:sp>
        <p:nvSpPr>
          <p:cNvPr id="9" name="TextBox 8"/>
          <p:cNvSpPr txBox="1"/>
          <p:nvPr/>
        </p:nvSpPr>
        <p:spPr>
          <a:xfrm>
            <a:off x="11094689" y="388619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1 muri 4</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Kanseri y'inkondo y'umura itangirira mu kihe gice cy'umubiri?</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Mu ibere</a:t>
            </a:r>
          </a:p>
        </p:txBody>
      </p:sp>
      <p:sp>
        <p:nvSpPr>
          <p:cNvPr id="10" name="Rounded Rectangle 9"/>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Impyiko</a:t>
            </a:r>
          </a:p>
        </p:txBody>
      </p:sp>
      <p:sp>
        <p:nvSpPr>
          <p:cNvPr id="7" name="Rounded Rectangle 6"/>
          <p:cNvSpPr/>
          <p:nvPr/>
        </p:nvSpPr>
        <p:spPr>
          <a:xfrm>
            <a:off x="566928" y="318211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Igice cyo hasi cya nyababyeyi, cyitwa inkondo y'umura</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Igice cyo hasi cy'umugongo</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Inkondo y'umura ni igice cyo hasi cya nyababyeyi, gihuza nyababyeyi n'inzira umwana anyuramo avuka. Kubera ko ishobora kugerwaho mu gihe cy'isuzuma, impinduka zishobora kuboneka zikavurwa mbere y'uko kanseri iza.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42</a:t>
            </a:r>
          </a:p>
        </p:txBody>
      </p:sp>
      <p:sp>
        <p:nvSpPr>
          <p:cNvPr id="9" name="TextBox 8"/>
          <p:cNvSpPr txBox="1"/>
          <p:nvPr/>
        </p:nvSpPr>
        <p:spPr>
          <a:xfrm>
            <a:off x="11094689" y="329183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2 muri 4</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850" b="1" i="0" dirty="0">
                <a:solidFill>
                  <a:srgbClr val="0F1C2E"/>
                </a:solidFill>
                <a:latin typeface="Calibri"/>
              </a:rPr>
              <a:t>Umugore arabaza niba kugira HPV bisobanura ko arwaye kanseri. Igisubizo nyacyo ni:</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Yego, HPV na kanseri ni kimwe</a:t>
            </a:r>
          </a:p>
        </p:txBody>
      </p:sp>
      <p:sp>
        <p:nvSpPr>
          <p:cNvPr id="7" name="Rounded Rectangle 6"/>
          <p:cNvSpPr/>
          <p:nvPr/>
        </p:nvSpPr>
        <p:spPr>
          <a:xfrm>
            <a:off x="566928" y="258775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650" b="1" i="0" dirty="0">
                <a:solidFill>
                  <a:srgbClr val="1F4E96"/>
                </a:solidFill>
                <a:latin typeface="Calibri"/>
              </a:rPr>
              <a:t>B   </a:t>
            </a:r>
            <a:r>
              <a:rPr lang="en-GB" sz="1650" b="0" i="0" dirty="0">
                <a:solidFill>
                  <a:srgbClr val="1A1A1A"/>
                </a:solidFill>
                <a:latin typeface="Calibri"/>
              </a:rPr>
              <a:t>Oya, HPV ni virusi isanzwe, akenshi ishira ubwayo kandi nta ngaruka mbi itera</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Gusa niba afite ububabare</a:t>
            </a:r>
          </a:p>
        </p:txBody>
      </p:sp>
      <p:sp>
        <p:nvSpPr>
          <p:cNvPr id="12" name="Rounded Rectangle 11"/>
          <p:cNvSpPr/>
          <p:nvPr/>
        </p:nvSpPr>
        <p:spPr>
          <a:xfrm>
            <a:off x="566928" y="3776472"/>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Gusa niba arengeje imyaka 50</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650" b="1" i="0" dirty="0">
                <a:solidFill>
                  <a:srgbClr val="1C6B3F"/>
                </a:solidFill>
                <a:latin typeface="Calibri"/>
              </a:rPr>
              <a:t>Igisubizo cy'ukuri: B</a:t>
            </a:r>
          </a:p>
          <a:p>
            <a:pPr>
              <a:lnSpc>
                <a:spcPct val="110000"/>
              </a:lnSpc>
              <a:spcAft>
                <a:spcPts val="100"/>
              </a:spcAft>
            </a:pPr>
            <a:r>
              <a:rPr lang="en-GB" sz="1650" b="1" i="0" dirty="0">
                <a:solidFill>
                  <a:srgbClr val="1C6B3F"/>
                </a:solidFill>
                <a:latin typeface="Calibri"/>
              </a:rPr>
              <a:t>Inyunganizi: </a:t>
            </a:r>
            <a:r>
              <a:rPr lang="en-GB" sz="1650" b="0" i="0" dirty="0">
                <a:solidFill>
                  <a:srgbClr val="1A1A1A"/>
                </a:solidFill>
                <a:latin typeface="Calibri"/>
              </a:rPr>
              <a:t>HPV irasanzwe kandi ntigaragaza ibimenyetso. Ku bantu benshi umubiri urayikuraho. Ubwandu bumara imyaka myinshi gusa ni bwo bushobora guhindura buhoro buhoro uturemangingo tw'inkondo y'umura, kandi n'icyo gihe kuvura bishobora kubuhagarika.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43</a:t>
            </a:r>
          </a:p>
        </p:txBody>
      </p:sp>
      <p:sp>
        <p:nvSpPr>
          <p:cNvPr id="9" name="TextBox 8"/>
          <p:cNvSpPr txBox="1"/>
          <p:nvPr/>
        </p:nvSpPr>
        <p:spPr>
          <a:xfrm>
            <a:off x="11094689" y="269747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3 muri 4</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850" b="1" i="0" dirty="0">
                <a:solidFill>
                  <a:srgbClr val="0F1C2E"/>
                </a:solidFill>
                <a:latin typeface="Calibri"/>
              </a:rPr>
              <a:t>Kanseri y'inkondo y'umura ihagaze ite mu zindi kanseri zibasira abagore mu Rwanda?</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Iboneka gake cyane</a:t>
            </a:r>
          </a:p>
        </p:txBody>
      </p:sp>
      <p:sp>
        <p:nvSpPr>
          <p:cNvPr id="12" name="Rounded Rectangle 11"/>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64261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Yibasira abagabo n'abagore ku rugero rumwe</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Yibasira gusa abagore barengeje imyaka 70</a:t>
            </a:r>
          </a:p>
        </p:txBody>
      </p:sp>
      <p:sp>
        <p:nvSpPr>
          <p:cNvPr id="7" name="Rounded Rectangle 6"/>
          <p:cNvSpPr/>
          <p:nvPr/>
        </p:nvSpPr>
        <p:spPr>
          <a:xfrm>
            <a:off x="566928" y="377647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Ni imwe muri kanseri zibasira abagore cyane, kandi ni yo ya mbere mu guhitana abagore muri kanseri zose</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650" b="1" i="0" dirty="0">
                <a:solidFill>
                  <a:srgbClr val="1C6B3F"/>
                </a:solidFill>
                <a:latin typeface="Calibri"/>
              </a:rPr>
              <a:t>Igisubizo cy'ukuri: D</a:t>
            </a:r>
          </a:p>
          <a:p>
            <a:pPr>
              <a:lnSpc>
                <a:spcPct val="110000"/>
              </a:lnSpc>
              <a:spcAft>
                <a:spcPts val="100"/>
              </a:spcAft>
            </a:pPr>
            <a:r>
              <a:rPr lang="en-GB" sz="1650" b="1" i="0" dirty="0">
                <a:solidFill>
                  <a:srgbClr val="1C6B3F"/>
                </a:solidFill>
                <a:latin typeface="Calibri"/>
              </a:rPr>
              <a:t>Inyunganizi: </a:t>
            </a:r>
            <a:r>
              <a:rPr lang="en-GB" sz="1650" b="0" i="0" dirty="0">
                <a:solidFill>
                  <a:srgbClr val="1A1A1A"/>
                </a:solidFill>
                <a:latin typeface="Calibri"/>
              </a:rPr>
              <a:t>Kanseri y'inkondo y'umura ni iya kabiri mu zikunze kwibasira abagore mu Rwanda, kandi ni yo yica abagore benshi kurusha izindi kanseri zose. Hafi yayo yose ishobora kwirindwa, ari na yo mpamvu ibikorwa byo mu baturage bifite akamaro kanini.</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44</a:t>
            </a:r>
          </a:p>
        </p:txBody>
      </p:sp>
      <p:sp>
        <p:nvSpPr>
          <p:cNvPr id="9" name="TextBox 8"/>
          <p:cNvSpPr txBox="1"/>
          <p:nvPr/>
        </p:nvSpPr>
        <p:spPr>
          <a:xfrm>
            <a:off x="11094689" y="388619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4 muri 4</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yabwiwe ko afite impinduka ku nkondo y'umura zitari kanseri. Ni iki cy'ukuri?</a:t>
            </a:r>
          </a:p>
        </p:txBody>
      </p:sp>
      <p:sp>
        <p:nvSpPr>
          <p:cNvPr id="5" name="Rounded Rectangle 4"/>
          <p:cNvSpPr/>
          <p:nvPr/>
        </p:nvSpPr>
        <p:spPr>
          <a:xfrm>
            <a:off x="566928" y="199339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Izo mpinduka zishobora kuvurwa ku buryo kanseri itazigera iba</a:t>
            </a:r>
          </a:p>
        </p:txBody>
      </p:sp>
      <p:sp>
        <p:nvSpPr>
          <p:cNvPr id="8" name="Rounded Rectangle 7"/>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Asanzwe arwaye kanseri iri gukwirakwira</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Nta kintu na kimwe cyamukorerwa</a:t>
            </a:r>
          </a:p>
        </p:txBody>
      </p:sp>
      <p:sp>
        <p:nvSpPr>
          <p:cNvPr id="12" name="Rounded Rectangle 11"/>
          <p:cNvSpPr/>
          <p:nvPr/>
        </p:nvSpPr>
        <p:spPr>
          <a:xfrm>
            <a:off x="566928" y="3776472"/>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Akwiye kureka akazi akaguma mu rugo</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Impinduka ziri ku gice cyo hejuru cy'inkondo y'umura si kanseri kandi ntizishobora gukwirakwira. Zivurwa mu gihe gito, nyababyeyi igasigara, kandi kuzivura birinda kanseri yashoboraga kuzikurikira.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45</a:t>
            </a:r>
          </a:p>
        </p:txBody>
      </p:sp>
      <p:sp>
        <p:nvSpPr>
          <p:cNvPr id="7" name="TextBox 6"/>
          <p:cNvSpPr txBox="1"/>
          <p:nvPr/>
        </p:nvSpPr>
        <p:spPr>
          <a:xfrm>
            <a:off x="11094689" y="2103120"/>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450" b="1" i="0" dirty="0">
                <a:solidFill>
                  <a:srgbClr val="10305A"/>
                </a:solidFill>
                <a:latin typeface="Cambria"/>
              </a:rPr>
              <a:t>Ingingo z'ingenzi</a:t>
            </a:r>
          </a:p>
        </p:txBody>
      </p:sp>
      <p:sp>
        <p:nvSpPr>
          <p:cNvPr id="4" name="Rounded Rectangle 3"/>
          <p:cNvSpPr/>
          <p:nvPr/>
        </p:nvSpPr>
        <p:spPr>
          <a:xfrm>
            <a:off x="566928" y="1554480"/>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5564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566928"/>
          </a:xfrm>
          <a:prstGeom prst="rect">
            <a:avLst/>
          </a:prstGeom>
          <a:noFill/>
        </p:spPr>
        <p:txBody>
          <a:bodyPr wrap="square" lIns="0" tIns="0" rIns="0" bIns="0" anchor="ctr">
            <a:spAutoFit/>
          </a:bodyPr>
          <a:lstStyle/>
          <a:p>
            <a:pPr>
              <a:lnSpc>
                <a:spcPct val="110000"/>
              </a:lnSpc>
            </a:pPr>
            <a:r>
              <a:rPr lang="en-GB" sz="1550" b="0" i="0" dirty="0">
                <a:solidFill>
                  <a:srgbClr val="1A1A1A"/>
                </a:solidFill>
                <a:latin typeface="Calibri"/>
              </a:rPr>
              <a:t>Kanseri y'inkondo y'umura itangirira ku nkondo y'umura, igice cyo hasi cya nyababyeyi.</a:t>
            </a:r>
          </a:p>
        </p:txBody>
      </p:sp>
      <p:sp>
        <p:nvSpPr>
          <p:cNvPr id="7" name="Rounded Rectangle 6"/>
          <p:cNvSpPr/>
          <p:nvPr/>
        </p:nvSpPr>
        <p:spPr>
          <a:xfrm>
            <a:off x="566928" y="2395728"/>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59689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487168"/>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Iterwa na virusi isanzwe yitwa HPV imara imyaka myinshi mu mubiri.</a:t>
            </a:r>
          </a:p>
        </p:txBody>
      </p:sp>
      <p:sp>
        <p:nvSpPr>
          <p:cNvPr id="10" name="Rounded Rectangle 9"/>
          <p:cNvSpPr/>
          <p:nvPr/>
        </p:nvSpPr>
        <p:spPr>
          <a:xfrm>
            <a:off x="566928" y="3236976"/>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43814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328416"/>
            <a:ext cx="9960833" cy="566928"/>
          </a:xfrm>
          <a:prstGeom prst="rect">
            <a:avLst/>
          </a:prstGeom>
          <a:noFill/>
        </p:spPr>
        <p:txBody>
          <a:bodyPr wrap="square" lIns="0" tIns="0" rIns="0" bIns="0" anchor="ctr">
            <a:spAutoFit/>
          </a:bodyPr>
          <a:lstStyle/>
          <a:p>
            <a:pPr>
              <a:lnSpc>
                <a:spcPct val="110000"/>
              </a:lnSpc>
            </a:pPr>
            <a:r>
              <a:rPr lang="en-GB" sz="1600" b="0" i="0" dirty="0">
                <a:solidFill>
                  <a:srgbClr val="1A1A1A"/>
                </a:solidFill>
                <a:latin typeface="Calibri"/>
              </a:rPr>
              <a:t>Ubwandu bwinshi bwa HPV bushira ubwabwo, bityo kugira HPV ntibivuze kurwara kanseri.</a:t>
            </a:r>
          </a:p>
        </p:txBody>
      </p:sp>
      <p:sp>
        <p:nvSpPr>
          <p:cNvPr id="13" name="Rounded Rectangle 12"/>
          <p:cNvSpPr/>
          <p:nvPr/>
        </p:nvSpPr>
        <p:spPr>
          <a:xfrm>
            <a:off x="566928" y="4078224"/>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27939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169663"/>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Impinduka zibonetse mbere ya kanseri si kanseri, kandi kuzivura birinda kanseri.</a:t>
            </a:r>
          </a:p>
        </p:txBody>
      </p:sp>
      <p:sp>
        <p:nvSpPr>
          <p:cNvPr id="16" name="Rounded Rectangle 15"/>
          <p:cNvSpPr/>
          <p:nvPr/>
        </p:nvSpPr>
        <p:spPr>
          <a:xfrm>
            <a:off x="566928" y="4919472"/>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TextBox 16"/>
          <p:cNvSpPr txBox="1"/>
          <p:nvPr/>
        </p:nvSpPr>
        <p:spPr>
          <a:xfrm>
            <a:off x="822960" y="512064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8" name="TextBox 17"/>
          <p:cNvSpPr txBox="1"/>
          <p:nvPr/>
        </p:nvSpPr>
        <p:spPr>
          <a:xfrm>
            <a:off x="1389888" y="5010912"/>
            <a:ext cx="9960833" cy="566928"/>
          </a:xfrm>
          <a:prstGeom prst="rect">
            <a:avLst/>
          </a:prstGeom>
          <a:noFill/>
        </p:spPr>
        <p:txBody>
          <a:bodyPr wrap="square" lIns="0" tIns="0" rIns="0" bIns="0" anchor="ctr">
            <a:spAutoFit/>
          </a:bodyPr>
          <a:lstStyle/>
          <a:p>
            <a:pPr>
              <a:lnSpc>
                <a:spcPct val="110000"/>
              </a:lnSpc>
            </a:pPr>
            <a:r>
              <a:rPr lang="en-GB" sz="1550" b="0" i="0" dirty="0">
                <a:solidFill>
                  <a:srgbClr val="1A1A1A"/>
                </a:solidFill>
                <a:latin typeface="Calibri"/>
              </a:rPr>
              <a:t>Ikunze kugaragara mu Rwanda, irakomeye, kandi igice kinini cyayo gishobora kwirindwa.</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1   ·   I S U B I R A M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Isubiramo</a:t>
            </a:r>
          </a:p>
        </p:txBody>
      </p:sp>
      <p:sp>
        <p:nvSpPr>
          <p:cNvPr id="4" name="TextBox 3"/>
          <p:cNvSpPr txBox="1"/>
          <p:nvPr/>
        </p:nvSpPr>
        <p:spPr>
          <a:xfrm>
            <a:off x="566928" y="1554480"/>
            <a:ext cx="11058113" cy="365760"/>
          </a:xfrm>
          <a:prstGeom prst="rect">
            <a:avLst/>
          </a:prstGeom>
          <a:noFill/>
        </p:spPr>
        <p:txBody>
          <a:bodyPr wrap="square" lIns="0" tIns="0" rIns="0" bIns="0">
            <a:spAutoFit/>
          </a:bodyPr>
          <a:lstStyle/>
          <a:p>
            <a:r>
              <a:rPr lang="en-GB" sz="1800" b="1" i="0" dirty="0">
                <a:solidFill>
                  <a:srgbClr val="10305A"/>
                </a:solidFill>
                <a:latin typeface="Calibri"/>
              </a:rPr>
              <a:t>Amabwiriza ku wiga:  </a:t>
            </a:r>
            <a:r>
              <a:rPr lang="en-GB" sz="1800" b="0" i="0" dirty="0">
                <a:solidFill>
                  <a:srgbClr val="1A1A1A"/>
                </a:solidFill>
                <a:latin typeface="Calibri"/>
              </a:rPr>
              <a:t>Andika igisubizo cyawe mu gasanduku kabigenewe.</a:t>
            </a:r>
          </a:p>
        </p:txBody>
      </p:sp>
      <p:sp>
        <p:nvSpPr>
          <p:cNvPr id="5" name="Rounded Rectangle 4"/>
          <p:cNvSpPr/>
          <p:nvPr/>
        </p:nvSpPr>
        <p:spPr>
          <a:xfrm>
            <a:off x="566928" y="2121408"/>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39572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212848"/>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Wasobanurira ute kanseri y'inkondo y'umura umuntu utarigeze ayumva?</a:t>
            </a:r>
          </a:p>
        </p:txBody>
      </p:sp>
      <p:sp>
        <p:nvSpPr>
          <p:cNvPr id="8" name="Rounded Rectangle 7"/>
          <p:cNvSpPr/>
          <p:nvPr/>
        </p:nvSpPr>
        <p:spPr>
          <a:xfrm>
            <a:off x="566928" y="3182111"/>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45643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3273551"/>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Wabwira iki umuntu utekereza ko kugira HPV bivuze ko umuntu yitwaye nabi?</a:t>
            </a:r>
          </a:p>
        </p:txBody>
      </p:sp>
      <p:sp>
        <p:nvSpPr>
          <p:cNvPr id="11" name="Rounded Rectangle 10"/>
          <p:cNvSpPr/>
          <p:nvPr/>
        </p:nvSpPr>
        <p:spPr>
          <a:xfrm>
            <a:off x="566928" y="4242816"/>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451713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4334255"/>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Mu gace utuyemo, ni iki abantu basanzwe bizera kuri iyi ndwara?</a:t>
            </a:r>
          </a:p>
        </p:txBody>
      </p:sp>
      <p:sp>
        <p:nvSpPr>
          <p:cNvPr id="14" name="TextBox 13"/>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5" name="TextBox 14"/>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E2F5C"/>
          </a:solidFill>
          <a:ln>
            <a:noFill/>
          </a:ln>
          <a:effectLst/>
        </p:spPr>
        <p:txBody>
          <a:bodyPr rtlCol="0" anchor="ctr"/>
          <a:lstStyle/>
          <a:p>
            <a:pPr algn="ctr"/>
            <a:endParaRPr lang="en-GB" dirty="0"/>
          </a:p>
        </p:txBody>
      </p:sp>
      <p:sp>
        <p:nvSpPr>
          <p:cNvPr id="3" name="TextBox 2"/>
          <p:cNvSpPr txBox="1"/>
          <p:nvPr/>
        </p:nvSpPr>
        <p:spPr>
          <a:xfrm>
            <a:off x="9144000" y="1417320"/>
            <a:ext cx="2743200" cy="3291840"/>
          </a:xfrm>
          <a:prstGeom prst="rect">
            <a:avLst/>
          </a:prstGeom>
          <a:noFill/>
        </p:spPr>
        <p:txBody>
          <a:bodyPr wrap="square" lIns="0" tIns="0" rIns="0" bIns="0">
            <a:spAutoFit/>
          </a:bodyPr>
          <a:lstStyle/>
          <a:p>
            <a:pPr algn="ctr"/>
            <a:r>
              <a:rPr lang="en-GB" sz="20000" b="1" i="0" dirty="0">
                <a:solidFill>
                  <a:srgbClr val="1B4780"/>
                </a:solidFill>
                <a:latin typeface="Cambria"/>
              </a:rPr>
              <a:t>2</a:t>
            </a:r>
          </a:p>
        </p:txBody>
      </p:sp>
      <p:sp>
        <p:nvSpPr>
          <p:cNvPr id="4" name="TextBox 3"/>
          <p:cNvSpPr txBox="1"/>
          <p:nvPr/>
        </p:nvSpPr>
        <p:spPr>
          <a:xfrm>
            <a:off x="566928" y="1920240"/>
            <a:ext cx="8138160" cy="365760"/>
          </a:xfrm>
          <a:prstGeom prst="rect">
            <a:avLst/>
          </a:prstGeom>
          <a:noFill/>
        </p:spPr>
        <p:txBody>
          <a:bodyPr wrap="square" lIns="0" tIns="0" rIns="0" bIns="0">
            <a:spAutoFit/>
          </a:bodyPr>
          <a:lstStyle/>
          <a:p>
            <a:r>
              <a:rPr lang="en-GB" sz="1150" b="1" i="0" dirty="0">
                <a:solidFill>
                  <a:srgbClr val="B9CAE4"/>
                </a:solidFill>
                <a:latin typeface="Calibri"/>
              </a:rPr>
              <a:t>I G I C E   C Y A   2</a:t>
            </a:r>
          </a:p>
        </p:txBody>
      </p:sp>
      <p:sp>
        <p:nvSpPr>
          <p:cNvPr id="5" name="TextBox 4"/>
          <p:cNvSpPr txBox="1"/>
          <p:nvPr/>
        </p:nvSpPr>
        <p:spPr>
          <a:xfrm>
            <a:off x="566928" y="2377440"/>
            <a:ext cx="8138160" cy="1280160"/>
          </a:xfrm>
          <a:prstGeom prst="rect">
            <a:avLst/>
          </a:prstGeom>
          <a:noFill/>
        </p:spPr>
        <p:txBody>
          <a:bodyPr wrap="square" lIns="0" tIns="0" rIns="0" bIns="0">
            <a:spAutoFit/>
          </a:bodyPr>
          <a:lstStyle/>
          <a:p>
            <a:pPr>
              <a:lnSpc>
                <a:spcPct val="105000"/>
              </a:lnSpc>
            </a:pPr>
            <a:r>
              <a:rPr lang="en-GB" sz="3700" b="1" i="0" dirty="0">
                <a:solidFill>
                  <a:srgbClr val="FFFFFF"/>
                </a:solidFill>
                <a:latin typeface="Cambria"/>
              </a:rPr>
              <a:t>Kwirinda kanseri y'inkondo y'umura no kumenya ibyo kwitondera</a:t>
            </a:r>
          </a:p>
        </p:txBody>
      </p:sp>
      <p:sp>
        <p:nvSpPr>
          <p:cNvPr id="6" name="TextBox 5"/>
          <p:cNvSpPr txBox="1"/>
          <p:nvPr/>
        </p:nvSpPr>
        <p:spPr>
          <a:xfrm>
            <a:off x="566928" y="3886200"/>
            <a:ext cx="8138160" cy="914400"/>
          </a:xfrm>
          <a:prstGeom prst="rect">
            <a:avLst/>
          </a:prstGeom>
          <a:noFill/>
        </p:spPr>
        <p:txBody>
          <a:bodyPr wrap="square" lIns="0" tIns="0" rIns="0" bIns="0">
            <a:spAutoFit/>
          </a:bodyPr>
          <a:lstStyle/>
          <a:p>
            <a:pPr>
              <a:lnSpc>
                <a:spcPct val="120000"/>
              </a:lnSpc>
            </a:pPr>
            <a:r>
              <a:rPr lang="en-GB" sz="1800" b="0" i="0" dirty="0">
                <a:solidFill>
                  <a:srgbClr val="B9CAE4"/>
                </a:solidFill>
                <a:latin typeface="Calibri"/>
              </a:rPr>
              <a:t>Gukingira, kwisuzumisha, ibyongera ibyago, ibimenyetso byo kwitondera, n'ibimenyetso mpuruza bisaba kwitabwaho uwo munsi.</a:t>
            </a:r>
          </a:p>
        </p:txBody>
      </p:sp>
      <p:sp>
        <p:nvSpPr>
          <p:cNvPr id="7" name="TextBox 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8" name="TextBox 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Intego z'iri somo</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Mu mpera z'iri somo, uzaba ushobora:</a:t>
            </a:r>
          </a:p>
        </p:txBody>
      </p:sp>
      <p:sp>
        <p:nvSpPr>
          <p:cNvPr id="5" name="Rounded Rectangle 4"/>
          <p:cNvSpPr/>
          <p:nvPr/>
        </p:nvSpPr>
        <p:spPr>
          <a:xfrm>
            <a:off x="566928" y="202996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19181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121408"/>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Gusobanura urukingo rwa HPV no gusubiza impungenge zituma imiryango itarwemera.</a:t>
            </a:r>
          </a:p>
        </p:txBody>
      </p:sp>
      <p:sp>
        <p:nvSpPr>
          <p:cNvPr id="8" name="Rounded Rectangle 7"/>
          <p:cNvSpPr/>
          <p:nvPr/>
        </p:nvSpPr>
        <p:spPr>
          <a:xfrm>
            <a:off x="566928" y="2847441"/>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009290"/>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2938881"/>
            <a:ext cx="9960833" cy="543153"/>
          </a:xfrm>
          <a:prstGeom prst="rect">
            <a:avLst/>
          </a:prstGeom>
          <a:noFill/>
        </p:spPr>
        <p:txBody>
          <a:bodyPr wrap="square" lIns="0" tIns="0" rIns="0" bIns="0" anchor="ctr">
            <a:spAutoFit/>
          </a:bodyPr>
          <a:lstStyle/>
          <a:p>
            <a:pPr>
              <a:lnSpc>
                <a:spcPct val="110000"/>
              </a:lnSpc>
            </a:pPr>
            <a:r>
              <a:rPr lang="en-GB" sz="1650" b="0" i="0" dirty="0">
                <a:solidFill>
                  <a:srgbClr val="1A1A1A"/>
                </a:solidFill>
                <a:latin typeface="Calibri"/>
              </a:rPr>
              <a:t>Gusobanura impamvu kwisuzumisha ari ngombwa n'iyo umugore yumva ameze neza rwose.</a:t>
            </a:r>
          </a:p>
        </p:txBody>
      </p:sp>
      <p:sp>
        <p:nvSpPr>
          <p:cNvPr id="11" name="Rounded Rectangle 10"/>
          <p:cNvSpPr/>
          <p:nvPr/>
        </p:nvSpPr>
        <p:spPr>
          <a:xfrm>
            <a:off x="566928" y="3664915"/>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3826763"/>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3756355"/>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Gusobanura icyo igisubizo cy'isuzuma gisobanura, nta muntu utewe ubwoba.</a:t>
            </a:r>
          </a:p>
        </p:txBody>
      </p:sp>
      <p:sp>
        <p:nvSpPr>
          <p:cNvPr id="14" name="Rounded Rectangle 13"/>
          <p:cNvSpPr/>
          <p:nvPr/>
        </p:nvSpPr>
        <p:spPr>
          <a:xfrm>
            <a:off x="566928" y="448238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Oval 14"/>
          <p:cNvSpPr/>
          <p:nvPr/>
        </p:nvSpPr>
        <p:spPr>
          <a:xfrm>
            <a:off x="804672" y="464423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6" name="TextBox 15"/>
          <p:cNvSpPr txBox="1"/>
          <p:nvPr/>
        </p:nvSpPr>
        <p:spPr>
          <a:xfrm>
            <a:off x="1389888" y="4573828"/>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Kumenya ibimenyetso bigomba gusuzumirwa ku ivuriro.</a:t>
            </a:r>
          </a:p>
        </p:txBody>
      </p:sp>
      <p:sp>
        <p:nvSpPr>
          <p:cNvPr id="17" name="Rounded Rectangle 16"/>
          <p:cNvSpPr/>
          <p:nvPr/>
        </p:nvSpPr>
        <p:spPr>
          <a:xfrm>
            <a:off x="566928" y="5299862"/>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8" name="Oval 17"/>
          <p:cNvSpPr/>
          <p:nvPr/>
        </p:nvSpPr>
        <p:spPr>
          <a:xfrm>
            <a:off x="804672" y="546171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5</a:t>
            </a:r>
          </a:p>
        </p:txBody>
      </p:sp>
      <p:sp>
        <p:nvSpPr>
          <p:cNvPr id="19" name="TextBox 18"/>
          <p:cNvSpPr txBox="1"/>
          <p:nvPr/>
        </p:nvSpPr>
        <p:spPr>
          <a:xfrm>
            <a:off x="1389888" y="5391302"/>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Kumenya ibimenyetso mpuruza bisaba kwitabwaho uwo munsi.</a:t>
            </a:r>
          </a:p>
        </p:txBody>
      </p:sp>
      <p:sp>
        <p:nvSpPr>
          <p:cNvPr id="20" name="TextBox 19"/>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1" name="TextBox 20"/>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U R U G E R O   R W O   M U   B A T U R A G E</a:t>
            </a:r>
          </a:p>
        </p:txBody>
      </p:sp>
      <p:sp>
        <p:nvSpPr>
          <p:cNvPr id="3" name="TextBox 2"/>
          <p:cNvSpPr txBox="1"/>
          <p:nvPr/>
        </p:nvSpPr>
        <p:spPr>
          <a:xfrm>
            <a:off x="566928" y="694944"/>
            <a:ext cx="11058113" cy="523220"/>
          </a:xfrm>
          <a:prstGeom prst="rect">
            <a:avLst/>
          </a:prstGeom>
          <a:noFill/>
        </p:spPr>
        <p:txBody>
          <a:bodyPr wrap="square" lIns="0" tIns="0" rIns="0" bIns="0">
            <a:spAutoFit/>
          </a:bodyPr>
          <a:lstStyle/>
          <a:p>
            <a:r>
              <a:rPr lang="en-GB" sz="3400" b="1" i="0" dirty="0">
                <a:solidFill>
                  <a:srgbClr val="10305A"/>
                </a:solidFill>
                <a:latin typeface="Cambria"/>
              </a:rPr>
              <a:t>🩺  Urugero rwo mu baturage: Claudine </a:t>
            </a:r>
            <a:r>
              <a:rPr lang="en-GB" sz="3400" b="1" i="0" dirty="0">
                <a:solidFill>
                  <a:srgbClr val="FF0000"/>
                </a:solidFill>
                <a:latin typeface="Cambria"/>
              </a:rPr>
              <a:t>(Videwo)</a:t>
            </a:r>
          </a:p>
        </p:txBody>
      </p:sp>
      <p:sp>
        <p:nvSpPr>
          <p:cNvPr id="4" name="Rounded Rectangle 3"/>
          <p:cNvSpPr/>
          <p:nvPr/>
        </p:nvSpPr>
        <p:spPr>
          <a:xfrm>
            <a:off x="566928" y="1554480"/>
            <a:ext cx="11058113" cy="4343400"/>
          </a:xfrm>
          <a:prstGeom prst="roundRect">
            <a:avLst>
              <a:gd name="adj" fmla="val 4500"/>
            </a:avLst>
          </a:prstGeom>
          <a:solidFill>
            <a:srgbClr val="FFF8E7"/>
          </a:solidFill>
          <a:ln w="12700">
            <a:solidFill>
              <a:srgbClr val="E8D9AE"/>
            </a:solidFill>
          </a:ln>
          <a:effectLst/>
        </p:spPr>
        <p:txBody>
          <a:bodyPr wrap="square" rtlCol="0" anchor="ctr"/>
          <a:lstStyle/>
          <a:p>
            <a:pPr algn="ctr"/>
            <a:endParaRPr lang="en-GB" dirty="0"/>
          </a:p>
        </p:txBody>
      </p:sp>
      <p:sp>
        <p:nvSpPr>
          <p:cNvPr id="5" name="TextBox 4"/>
          <p:cNvSpPr txBox="1"/>
          <p:nvPr/>
        </p:nvSpPr>
        <p:spPr>
          <a:xfrm>
            <a:off x="859536" y="1773936"/>
            <a:ext cx="10472897" cy="3904487"/>
          </a:xfrm>
          <a:prstGeom prst="rect">
            <a:avLst/>
          </a:prstGeom>
          <a:noFill/>
        </p:spPr>
        <p:txBody>
          <a:bodyPr wrap="square" lIns="0" tIns="0" rIns="0" bIns="0">
            <a:spAutoFit/>
          </a:bodyPr>
          <a:lstStyle/>
          <a:p>
            <a:pPr>
              <a:lnSpc>
                <a:spcPct val="114000"/>
              </a:lnSpc>
              <a:spcAft>
                <a:spcPts val="1100"/>
              </a:spcAft>
            </a:pPr>
            <a:r>
              <a:rPr lang="en-GB" sz="2000" b="1" i="0" dirty="0" err="1">
                <a:solidFill>
                  <a:srgbClr val="10305A"/>
                </a:solidFill>
                <a:latin typeface="Calibri"/>
              </a:rPr>
              <a:t>Uwase Claudine, imyaka 36</a:t>
            </a:r>
          </a:p>
          <a:p>
            <a:pPr>
              <a:lnSpc>
                <a:spcPct val="114000"/>
              </a:lnSpc>
              <a:spcAft>
                <a:spcPts val="1100"/>
              </a:spcAft>
            </a:pPr>
            <a:r>
              <a:rPr lang="en-GB" sz="1800" b="1" i="0" dirty="0">
                <a:solidFill>
                  <a:srgbClr val="10305A"/>
                </a:solidFill>
                <a:latin typeface="Calibri"/>
              </a:rPr>
              <a:t>Umuntu: </a:t>
            </a:r>
            <a:r>
              <a:rPr lang="en-GB" sz="1800" b="0" i="0" dirty="0">
                <a:solidFill>
                  <a:srgbClr val="1A1A1A"/>
                </a:solidFill>
                <a:latin typeface="Calibri"/>
              </a:rPr>
              <a:t>Umugore w'imyaka 36 utuye mu mudugudu wawe, ucuruza imboga ku isoko. Afite abana batatu kandi yumva ameze neza rwose.</a:t>
            </a:r>
          </a:p>
          <a:p>
            <a:pPr>
              <a:lnSpc>
                <a:spcPct val="114000"/>
              </a:lnSpc>
              <a:spcAft>
                <a:spcPts val="1100"/>
              </a:spcAft>
            </a:pPr>
            <a:r>
              <a:rPr lang="en-GB" sz="1800" b="1" i="0" dirty="0">
                <a:solidFill>
                  <a:srgbClr val="10305A"/>
                </a:solidFill>
                <a:latin typeface="Calibri"/>
              </a:rPr>
              <a:t>Aho biri: </a:t>
            </a:r>
            <a:r>
              <a:rPr lang="en-GB" sz="1800" b="0" i="0" dirty="0">
                <a:solidFill>
                  <a:srgbClr val="1A1A1A"/>
                </a:solidFill>
                <a:latin typeface="Calibri"/>
              </a:rPr>
              <a:t>Mu nama y'abaturage uyoboye hafi y'ivuriro ry'ibanze.</a:t>
            </a:r>
          </a:p>
          <a:p>
            <a:pPr>
              <a:lnSpc>
                <a:spcPct val="114000"/>
              </a:lnSpc>
              <a:spcAft>
                <a:spcPts val="1100"/>
              </a:spcAft>
            </a:pPr>
            <a:r>
              <a:rPr lang="en-GB" sz="1800" b="1" i="0" dirty="0">
                <a:solidFill>
                  <a:srgbClr val="10305A"/>
                </a:solidFill>
                <a:latin typeface="Calibri"/>
              </a:rPr>
              <a:t>Uko bimeze: </a:t>
            </a:r>
            <a:r>
              <a:rPr lang="en-GB" sz="1800" b="0" i="0" dirty="0">
                <a:solidFill>
                  <a:srgbClr val="1A1A1A"/>
                </a:solidFill>
                <a:latin typeface="Calibri"/>
              </a:rPr>
              <a:t>Uvuze ko abagore bari gutumirwa kwisuzumisha kanseri y'inkondo y'umura ku kigo nderabuzima.</a:t>
            </a:r>
          </a:p>
          <a:p>
            <a:pPr>
              <a:lnSpc>
                <a:spcPct val="114000"/>
              </a:lnSpc>
              <a:spcAft>
                <a:spcPts val="1100"/>
              </a:spcAft>
            </a:pPr>
            <a:r>
              <a:rPr lang="en-GB" sz="1800" b="1" i="0" dirty="0">
                <a:solidFill>
                  <a:srgbClr val="10305A"/>
                </a:solidFill>
                <a:latin typeface="Calibri"/>
              </a:rPr>
              <a:t>Ibyo uzi kugeza ubu: </a:t>
            </a:r>
            <a:r>
              <a:rPr lang="en-GB" sz="1800" b="0" i="0" dirty="0">
                <a:solidFill>
                  <a:srgbClr val="1A1A1A"/>
                </a:solidFill>
                <a:latin typeface="Calibri"/>
              </a:rPr>
              <a:t>Claudine avuga ko nta bubabare, nta maraso ava, kandi nta kibazo na kimwe afite. Avuga ko kwisuzumisha ari iby'abarwayi, ko kugera ku kigo nderabuzima bifata igihe kirekire, kandi ko adashobora gutakaza umunsi w'isoko.</a:t>
            </a:r>
          </a:p>
          <a:p>
            <a:pPr>
              <a:lnSpc>
                <a:spcPct val="114000"/>
              </a:lnSpc>
              <a:spcAft>
                <a:spcPts val="1100"/>
              </a:spcAft>
            </a:pPr>
            <a:r>
              <a:rPr lang="en-GB" sz="1800" b="1" i="0" dirty="0">
                <a:solidFill>
                  <a:srgbClr val="10305A"/>
                </a:solidFill>
                <a:latin typeface="Calibri"/>
              </a:rPr>
              <a:t>Icyo usabwa: </a:t>
            </a:r>
            <a:r>
              <a:rPr lang="en-GB" sz="1800" b="0" i="0" dirty="0">
                <a:solidFill>
                  <a:srgbClr val="1A1A1A"/>
                </a:solidFill>
                <a:latin typeface="Calibri"/>
              </a:rPr>
              <a:t>Hitamo icyo uri bumubwire ubutaha.</a:t>
            </a:r>
          </a:p>
        </p:txBody>
      </p:sp>
      <p:sp>
        <p:nvSpPr>
          <p:cNvPr id="6" name="TextBox 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7" name="TextBox 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U R U G E R O   R W O   M U   B A T U R A G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Wabwira iki Claudine?</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Claudine yumva ameze neza rwose kandi ntabona impamvu yakwisuzumisha. Ni ikihe gisubizo cyiza kurusha ibindi?</a:t>
            </a:r>
          </a:p>
        </p:txBody>
      </p:sp>
      <p:sp>
        <p:nvSpPr>
          <p:cNvPr id="5" name="Rounded Rectangle 4"/>
          <p:cNvSpPr/>
          <p:nvPr/>
        </p:nvSpPr>
        <p:spPr>
          <a:xfrm>
            <a:off x="566928" y="2304288"/>
            <a:ext cx="11058113" cy="42352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13795"/>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Kumwemerera, kuko kwisuzumisha ari iby'abagore bafite ibimenyetso</a:t>
            </a:r>
          </a:p>
        </p:txBody>
      </p:sp>
      <p:sp>
        <p:nvSpPr>
          <p:cNvPr id="12" name="Rounded Rectangle 11"/>
          <p:cNvSpPr/>
          <p:nvPr/>
        </p:nvSpPr>
        <p:spPr>
          <a:xfrm>
            <a:off x="566928" y="2828395"/>
            <a:ext cx="11058113" cy="42352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883259"/>
            <a:ext cx="10006553" cy="313795"/>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Kutagira icyo uvuga ugakomereza ku wundi muryango</a:t>
            </a:r>
          </a:p>
        </p:txBody>
      </p:sp>
      <p:sp>
        <p:nvSpPr>
          <p:cNvPr id="10" name="Rounded Rectangle 9"/>
          <p:cNvSpPr/>
          <p:nvPr/>
        </p:nvSpPr>
        <p:spPr>
          <a:xfrm>
            <a:off x="566928" y="3352502"/>
            <a:ext cx="11058113" cy="42352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407366"/>
            <a:ext cx="10006553" cy="313795"/>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Kumubwira ko azarwara kanseri naramuka yanze</a:t>
            </a:r>
          </a:p>
        </p:txBody>
      </p:sp>
      <p:sp>
        <p:nvSpPr>
          <p:cNvPr id="7" name="Rounded Rectangle 6"/>
          <p:cNvSpPr/>
          <p:nvPr/>
        </p:nvSpPr>
        <p:spPr>
          <a:xfrm>
            <a:off x="566928" y="3876609"/>
            <a:ext cx="11058113" cy="658814"/>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931473"/>
            <a:ext cx="10006553" cy="549086"/>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Kumusobanurira ko kwisuzumisha ari iby'abagore bumva bameze neza, kuko bigaragaza impinduka mbere y'uko ibimenyetso bigaragara, hanyuma ukamufasha guhitamo umunsi utamubuza kujya ku isoko</a:t>
            </a:r>
          </a:p>
        </p:txBody>
      </p:sp>
      <p:sp>
        <p:nvSpPr>
          <p:cNvPr id="14" name="Rounded Rectangle 13"/>
          <p:cNvSpPr/>
          <p:nvPr/>
        </p:nvSpPr>
        <p:spPr>
          <a:xfrm>
            <a:off x="566928" y="4645152"/>
            <a:ext cx="11058113" cy="1627631"/>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773168"/>
            <a:ext cx="10546049" cy="137159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D</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Kwisuzumisha byagenewe abagore bumva bameze neza. Gutera umuntu ubwoba ntibikunze kumuzana ku kigo nderabuzima, naho kwemeranya na we ko atabikeneye bimusiga nta burinzi. Kuvuga imbogamizi nyayo, ari yo gutakaza umunsi w'isoko, no kuyikemura ni byo bituma ikiganiro kivamo kwitabira.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51</a:t>
            </a:r>
          </a:p>
        </p:txBody>
      </p:sp>
      <p:sp>
        <p:nvSpPr>
          <p:cNvPr id="9" name="TextBox 8"/>
          <p:cNvSpPr txBox="1"/>
          <p:nvPr/>
        </p:nvSpPr>
        <p:spPr>
          <a:xfrm>
            <a:off x="11094689" y="406885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G U K I N G I R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100" b="1" i="0" dirty="0">
                <a:solidFill>
                  <a:srgbClr val="10305A"/>
                </a:solidFill>
                <a:latin typeface="Cambria"/>
              </a:rPr>
              <a:t>Urukingo rwa HPV</a:t>
            </a:r>
          </a:p>
        </p:txBody>
      </p:sp>
      <p:sp>
        <p:nvSpPr>
          <p:cNvPr id="4" name="Rounded Rectangle 3"/>
          <p:cNvSpPr/>
          <p:nvPr/>
        </p:nvSpPr>
        <p:spPr>
          <a:xfrm>
            <a:off x="566928" y="1325875"/>
            <a:ext cx="3503157" cy="393132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786384" y="1527044"/>
            <a:ext cx="3064245" cy="1334917"/>
          </a:xfrm>
          <a:prstGeom prst="rect">
            <a:avLst/>
          </a:prstGeom>
          <a:noFill/>
        </p:spPr>
        <p:txBody>
          <a:bodyPr wrap="square" lIns="0" tIns="0" rIns="0" bIns="0">
            <a:spAutoFit/>
          </a:bodyPr>
          <a:lstStyle/>
          <a:p>
            <a:pPr>
              <a:lnSpc>
                <a:spcPct val="114000"/>
              </a:lnSpc>
              <a:spcAft>
                <a:spcPts val="700"/>
              </a:spcAft>
            </a:pPr>
            <a:r>
              <a:rPr lang="en-GB" sz="1700" b="0" i="0" dirty="0">
                <a:solidFill>
                  <a:srgbClr val="1A1A1A"/>
                </a:solidFill>
                <a:latin typeface="Calibri"/>
              </a:rPr>
              <a:t>💉  </a:t>
            </a:r>
            <a:r>
              <a:rPr lang="en-GB" sz="1800" b="1" i="0" dirty="0">
                <a:solidFill>
                  <a:srgbClr val="10305A"/>
                </a:solidFill>
                <a:latin typeface="Calibri"/>
              </a:rPr>
              <a:t>Icyo rukora</a:t>
            </a:r>
          </a:p>
          <a:p>
            <a:pPr>
              <a:lnSpc>
                <a:spcPct val="114000"/>
              </a:lnSpc>
              <a:spcAft>
                <a:spcPts val="700"/>
              </a:spcAft>
            </a:pPr>
            <a:r>
              <a:rPr lang="en-GB" sz="1800" b="0" i="0" dirty="0">
                <a:solidFill>
                  <a:srgbClr val="1A1A1A"/>
                </a:solidFill>
                <a:latin typeface="Calibri"/>
              </a:rPr>
              <a:t>Urukingo rwa HPV rurinda amoko ya HPV atera kanseri nyinshi z'inkondo y'umura.</a:t>
            </a:r>
          </a:p>
        </p:txBody>
      </p:sp>
      <p:sp>
        <p:nvSpPr>
          <p:cNvPr id="6" name="Rounded Rectangle 5"/>
          <p:cNvSpPr/>
          <p:nvPr/>
        </p:nvSpPr>
        <p:spPr>
          <a:xfrm>
            <a:off x="4344405" y="1325875"/>
            <a:ext cx="3503157" cy="393132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4563861" y="1527044"/>
            <a:ext cx="3064245" cy="1334917"/>
          </a:xfrm>
          <a:prstGeom prst="rect">
            <a:avLst/>
          </a:prstGeom>
          <a:noFill/>
        </p:spPr>
        <p:txBody>
          <a:bodyPr wrap="square" lIns="0" tIns="0" rIns="0" bIns="0">
            <a:spAutoFit/>
          </a:bodyPr>
          <a:lstStyle/>
          <a:p>
            <a:pPr>
              <a:lnSpc>
                <a:spcPct val="114000"/>
              </a:lnSpc>
              <a:spcAft>
                <a:spcPts val="700"/>
              </a:spcAft>
            </a:pPr>
            <a:r>
              <a:rPr lang="en-GB" sz="1250" b="0" i="0" dirty="0">
                <a:solidFill>
                  <a:srgbClr val="1A1A1A"/>
                </a:solidFill>
                <a:latin typeface="Calibri"/>
              </a:rPr>
              <a:t>⏱  </a:t>
            </a:r>
            <a:r>
              <a:rPr lang="en-GB" sz="1300" b="1" i="0" dirty="0">
                <a:solidFill>
                  <a:srgbClr val="10305A"/>
                </a:solidFill>
                <a:latin typeface="Calibri"/>
              </a:rPr>
              <a:t>Igihe rukora neza cyane</a:t>
            </a:r>
          </a:p>
          <a:p>
            <a:pPr>
              <a:lnSpc>
                <a:spcPct val="114000"/>
              </a:lnSpc>
              <a:spcAft>
                <a:spcPts val="700"/>
              </a:spcAft>
            </a:pPr>
            <a:r>
              <a:rPr lang="en-GB" sz="1300" b="0" i="0" dirty="0">
                <a:solidFill>
                  <a:srgbClr val="1A1A1A"/>
                </a:solidFill>
                <a:latin typeface="Calibri"/>
              </a:rPr>
              <a:t>Rukora neza cyane iyo rutanzwe mbere yo gutangira imibonano mpuzabitsina na mbere yo guhura na HPV.</a:t>
            </a:r>
          </a:p>
        </p:txBody>
      </p:sp>
      <p:sp>
        <p:nvSpPr>
          <p:cNvPr id="8" name="Rounded Rectangle 7"/>
          <p:cNvSpPr/>
          <p:nvPr/>
        </p:nvSpPr>
        <p:spPr>
          <a:xfrm>
            <a:off x="8121883" y="1325874"/>
            <a:ext cx="3503157" cy="393132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341339" y="1527044"/>
            <a:ext cx="3064245" cy="1334917"/>
          </a:xfrm>
          <a:prstGeom prst="rect">
            <a:avLst/>
          </a:prstGeom>
          <a:noFill/>
        </p:spPr>
        <p:txBody>
          <a:bodyPr wrap="square" lIns="0" tIns="0" rIns="0" bIns="0">
            <a:spAutoFit/>
          </a:bodyPr>
          <a:lstStyle/>
          <a:p>
            <a:pPr>
              <a:lnSpc>
                <a:spcPct val="114000"/>
              </a:lnSpc>
              <a:spcAft>
                <a:spcPts val="700"/>
              </a:spcAft>
            </a:pPr>
            <a:r>
              <a:rPr lang="en-GB" sz="1350" b="0" i="0" dirty="0">
                <a:solidFill>
                  <a:srgbClr val="1A1A1A"/>
                </a:solidFill>
                <a:latin typeface="Calibri"/>
              </a:rPr>
              <a:t>✅  </a:t>
            </a:r>
            <a:r>
              <a:rPr lang="en-GB" sz="1400" b="1" i="0" dirty="0">
                <a:solidFill>
                  <a:srgbClr val="10305A"/>
                </a:solidFill>
                <a:latin typeface="Calibri"/>
              </a:rPr>
              <a:t>Icyo bimara nyuma</a:t>
            </a:r>
          </a:p>
          <a:p>
            <a:pPr>
              <a:lnSpc>
                <a:spcPct val="114000"/>
              </a:lnSpc>
              <a:spcAft>
                <a:spcPts val="700"/>
              </a:spcAft>
            </a:pPr>
            <a:r>
              <a:rPr lang="en-GB" sz="1400" b="0" i="0" dirty="0">
                <a:solidFill>
                  <a:srgbClr val="1A1A1A"/>
                </a:solidFill>
                <a:latin typeface="Calibri"/>
              </a:rPr>
              <a:t>Umukobwa wakingiwe afite ibyago bike cyane byo kurwara kanseri y'inkondo y'umura amaze kuba mukuru.</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52</a:t>
            </a:r>
          </a:p>
        </p:txBody>
      </p:sp>
      <p:pic>
        <p:nvPicPr>
          <p:cNvPr id="16" name="Imagen 15">
            <a:extLst>
              <a:ext uri="{FF2B5EF4-FFF2-40B4-BE49-F238E27FC236}">
                <a16:creationId xmlns:a16="http://schemas.microsoft.com/office/drawing/2014/main" id="{4C498661-02CC-3CD3-5D48-99BFC52465D3}"/>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4586604" y="2991154"/>
            <a:ext cx="3064245" cy="2042830"/>
          </a:xfrm>
          <a:prstGeom prst="rect">
            <a:avLst/>
          </a:prstGeom>
        </p:spPr>
      </p:pic>
      <p:pic>
        <p:nvPicPr>
          <p:cNvPr id="18" name="Imagen 17">
            <a:extLst>
              <a:ext uri="{FF2B5EF4-FFF2-40B4-BE49-F238E27FC236}">
                <a16:creationId xmlns:a16="http://schemas.microsoft.com/office/drawing/2014/main" id="{22B4061F-FB0F-DF78-056A-2FD7E57F8051}"/>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8440817" y="3107716"/>
            <a:ext cx="2893675" cy="1929116"/>
          </a:xfrm>
          <a:prstGeom prst="rect">
            <a:avLst/>
          </a:prstGeom>
        </p:spPr>
      </p:pic>
      <p:sp>
        <p:nvSpPr>
          <p:cNvPr id="15" name="Rounded Rectangle 12">
            <a:extLst>
              <a:ext uri="{FF2B5EF4-FFF2-40B4-BE49-F238E27FC236}">
                <a16:creationId xmlns:a16="http://schemas.microsoft.com/office/drawing/2014/main" id="{1F1EF1FF-8280-16F7-437E-23BE30A78FAB}"/>
              </a:ext>
            </a:extLst>
          </p:cNvPr>
          <p:cNvSpPr/>
          <p:nvPr/>
        </p:nvSpPr>
        <p:spPr>
          <a:xfrm>
            <a:off x="566943" y="5386390"/>
            <a:ext cx="11058113" cy="877254"/>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7" name="TextBox 13">
            <a:extLst>
              <a:ext uri="{FF2B5EF4-FFF2-40B4-BE49-F238E27FC236}">
                <a16:creationId xmlns:a16="http://schemas.microsoft.com/office/drawing/2014/main" id="{B22D3FE6-266E-B4DA-5E83-FF089BB9542D}"/>
              </a:ext>
            </a:extLst>
          </p:cNvPr>
          <p:cNvSpPr txBox="1"/>
          <p:nvPr/>
        </p:nvSpPr>
        <p:spPr>
          <a:xfrm>
            <a:off x="804687" y="5464008"/>
            <a:ext cx="10582625" cy="1032270"/>
          </a:xfrm>
          <a:prstGeom prst="rect">
            <a:avLst/>
          </a:prstGeom>
          <a:noFill/>
        </p:spPr>
        <p:txBody>
          <a:bodyPr wrap="square" lIns="0" tIns="0" rIns="0" bIns="0">
            <a:spAutoFit/>
          </a:bodyPr>
          <a:lstStyle/>
          <a:p>
            <a:pPr>
              <a:lnSpc>
                <a:spcPct val="100000"/>
              </a:lnSpc>
            </a:pPr>
            <a:r>
              <a:rPr lang="en-GB" sz="1600" b="1" i="0" dirty="0">
                <a:solidFill>
                  <a:srgbClr val="1C6B3F"/>
                </a:solidFill>
                <a:latin typeface="Calibri"/>
              </a:rPr>
              <a:t>💬 Mu Rwanda:  </a:t>
            </a:r>
            <a:r>
              <a:rPr lang="en-GB" sz="1600" b="0" i="0" dirty="0">
                <a:solidFill>
                  <a:srgbClr val="1A1A1A"/>
                </a:solidFill>
                <a:latin typeface="Calibri"/>
              </a:rPr>
              <a:t>Mu Rwanda, urukingo rwa HPV ruhabwa abakobwa bafite imyaka 12, ahanini binyuze muri gahunda zikorerwa mu mashuri. </a:t>
            </a:r>
            <a:r>
              <a:rPr lang="en-GB" sz="1600" dirty="0"/>
              <a:t>Urukingo rwa HPV nta ngaruka mbi rugira, rurinda kwandura amoko ya HPV atera kanseri nyinshi z'inkondo y'umura, kandi rukora neza cyane iyo rutanzwe ku myaka yagenwe mbere yo guhura na HPV.</a:t>
            </a:r>
          </a:p>
          <a:p>
            <a:pPr>
              <a:lnSpc>
                <a:spcPct val="112000"/>
              </a:lnSpc>
            </a:pPr>
            <a:endParaRPr lang="en-GB" sz="1600" b="0" i="0" dirty="0">
              <a:solidFill>
                <a:srgbClr val="1A1A1A"/>
              </a:solidFill>
              <a:latin typeface="Calibri"/>
            </a:endParaRPr>
          </a:p>
        </p:txBody>
      </p:sp>
      <p:pic>
        <p:nvPicPr>
          <p:cNvPr id="19" name="Imagen 18">
            <a:extLst>
              <a:ext uri="{FF2B5EF4-FFF2-40B4-BE49-F238E27FC236}">
                <a16:creationId xmlns:a16="http://schemas.microsoft.com/office/drawing/2014/main" id="{2F7DE1C1-84F1-27DE-6E76-1DC2D4FD5418}"/>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786383" y="2991153"/>
            <a:ext cx="3064246" cy="2042831"/>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G U K I N G I R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Ibintu bitatu urukingo rudakora</a:t>
            </a:r>
          </a:p>
        </p:txBody>
      </p:sp>
      <p:sp>
        <p:nvSpPr>
          <p:cNvPr id="4" name="Rounded Rectangle 3"/>
          <p:cNvSpPr/>
          <p:nvPr/>
        </p:nvSpPr>
        <p:spPr>
          <a:xfrm>
            <a:off x="566928" y="1554480"/>
            <a:ext cx="11058113" cy="78638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9222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640080"/>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Ntirutera kanseri.  </a:t>
            </a:r>
            <a:r>
              <a:rPr lang="en-GB" sz="1800" b="0" i="0" dirty="0">
                <a:solidFill>
                  <a:srgbClr val="1A1A1A"/>
                </a:solidFill>
                <a:latin typeface="Calibri"/>
              </a:rPr>
              <a:t>Urukingo ntirushobora kwanduza umuntu HPV kandi ntirushobora gutera kanseri y'inkondo y'umura.</a:t>
            </a:r>
          </a:p>
        </p:txBody>
      </p:sp>
      <p:sp>
        <p:nvSpPr>
          <p:cNvPr id="7" name="Rounded Rectangle 6"/>
          <p:cNvSpPr/>
          <p:nvPr/>
        </p:nvSpPr>
        <p:spPr>
          <a:xfrm>
            <a:off x="566928" y="2468880"/>
            <a:ext cx="11058113" cy="78638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70662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560320"/>
            <a:ext cx="9960833" cy="640080"/>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Ntiruvura kanseri isanzwe ihari.  </a:t>
            </a:r>
            <a:r>
              <a:rPr lang="en-GB" sz="1800" b="0" i="0" dirty="0">
                <a:solidFill>
                  <a:srgbClr val="1A1A1A"/>
                </a:solidFill>
                <a:latin typeface="Calibri"/>
              </a:rPr>
              <a:t>Rurinda kwandura. Ntabwo ari umuti w'umuntu usanzwe arwaye.</a:t>
            </a:r>
          </a:p>
        </p:txBody>
      </p:sp>
      <p:sp>
        <p:nvSpPr>
          <p:cNvPr id="10" name="Rounded Rectangle 9"/>
          <p:cNvSpPr/>
          <p:nvPr/>
        </p:nvSpPr>
        <p:spPr>
          <a:xfrm>
            <a:off x="566928" y="3383280"/>
            <a:ext cx="11058113" cy="78638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62102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474720"/>
            <a:ext cx="9960833" cy="640080"/>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Ntirukuraho gukenera kwisuzumisha.  </a:t>
            </a:r>
            <a:r>
              <a:rPr lang="en-GB" sz="1800" b="0" i="0" dirty="0">
                <a:solidFill>
                  <a:srgbClr val="1A1A1A"/>
                </a:solidFill>
                <a:latin typeface="Calibri"/>
              </a:rPr>
              <a:t>Umugore wakingiwe agomba kwisuzumisha igihe agejeje igihe cyo kwisuzumisha.</a:t>
            </a:r>
          </a:p>
        </p:txBody>
      </p:sp>
      <p:sp>
        <p:nvSpPr>
          <p:cNvPr id="13" name="Rounded Rectangle 12"/>
          <p:cNvSpPr/>
          <p:nvPr/>
        </p:nvSpPr>
        <p:spPr>
          <a:xfrm>
            <a:off x="566928" y="4389120"/>
            <a:ext cx="11058113" cy="932688"/>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4" name="TextBox 13"/>
          <p:cNvSpPr txBox="1"/>
          <p:nvPr/>
        </p:nvSpPr>
        <p:spPr>
          <a:xfrm>
            <a:off x="804672" y="4535424"/>
            <a:ext cx="10582625" cy="658368"/>
          </a:xfrm>
          <a:prstGeom prst="rect">
            <a:avLst/>
          </a:prstGeom>
          <a:noFill/>
        </p:spPr>
        <p:txBody>
          <a:bodyPr wrap="square" lIns="0" tIns="0" rIns="0" bIns="0">
            <a:spAutoFit/>
          </a:bodyPr>
          <a:lstStyle/>
          <a:p>
            <a:pPr>
              <a:lnSpc>
                <a:spcPct val="112000"/>
              </a:lnSpc>
            </a:pPr>
            <a:r>
              <a:rPr lang="en-GB" sz="1800" b="1" i="0" dirty="0">
                <a:solidFill>
                  <a:srgbClr val="1C6B3F"/>
                </a:solidFill>
                <a:latin typeface="Calibri"/>
              </a:rPr>
              <a:t>💬 Bivuge utya:  </a:t>
            </a:r>
            <a:r>
              <a:rPr lang="en-GB" sz="1800" b="0" i="0" dirty="0">
                <a:solidFill>
                  <a:srgbClr val="1A1A1A"/>
                </a:solidFill>
                <a:latin typeface="Calibri"/>
              </a:rPr>
              <a:t>Urukingo rurinda umukobwa wawe mu gihe kizaza. Namara kuba umugore mukuru, azakomeza kwisuzumisha, kuko byombi birinda mu buryo butandukanye.</a:t>
            </a:r>
          </a:p>
        </p:txBody>
      </p:sp>
      <p:sp>
        <p:nvSpPr>
          <p:cNvPr id="15" name="TextBox 14"/>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6" name="TextBox 15"/>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Imyumvire ku bijyanye n'urukingo</a:t>
            </a:r>
          </a:p>
        </p:txBody>
      </p:sp>
      <p:sp>
        <p:nvSpPr>
          <p:cNvPr id="4" name="TextBox 3"/>
          <p:cNvSpPr txBox="1"/>
          <p:nvPr/>
        </p:nvSpPr>
        <p:spPr>
          <a:xfrm>
            <a:off x="566928" y="1572768"/>
            <a:ext cx="11058113" cy="320040"/>
          </a:xfrm>
          <a:prstGeom prst="rect">
            <a:avLst/>
          </a:prstGeom>
          <a:noFill/>
        </p:spPr>
        <p:txBody>
          <a:bodyPr wrap="square" lIns="0" tIns="0" rIns="0" bIns="0">
            <a:spAutoFit/>
          </a:bodyPr>
          <a:lstStyle/>
          <a:p>
            <a:r>
              <a:rPr lang="en-GB" sz="1700" b="0" i="1" dirty="0">
                <a:solidFill>
                  <a:srgbClr val="1F4E96"/>
                </a:solidFill>
                <a:latin typeface="Calibri"/>
              </a:rPr>
              <a:t>Hitamo buri myumvire kugira ngo ubone igisubizo nyacyo.</a:t>
            </a:r>
          </a:p>
        </p:txBody>
      </p:sp>
      <p:sp>
        <p:nvSpPr>
          <p:cNvPr id="5" name="Rounded Rectangle 4"/>
          <p:cNvSpPr/>
          <p:nvPr/>
        </p:nvSpPr>
        <p:spPr>
          <a:xfrm>
            <a:off x="566928" y="2029967"/>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6" name="TextBox 5"/>
          <p:cNvSpPr txBox="1"/>
          <p:nvPr/>
        </p:nvSpPr>
        <p:spPr>
          <a:xfrm>
            <a:off x="786384" y="2148839"/>
            <a:ext cx="4205495"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A31D1D"/>
                </a:solidFill>
                <a:latin typeface="Calibri"/>
              </a:rPr>
              <a:t>Imyumvire mibi:   </a:t>
            </a:r>
            <a:r>
              <a:rPr lang="en-GB" sz="1800" b="0" i="0" dirty="0">
                <a:solidFill>
                  <a:srgbClr val="1A1A1A"/>
                </a:solidFill>
                <a:latin typeface="Calibri"/>
              </a:rPr>
              <a:t>Urukingo ruzatuma umukobwa wanjye atabyara.</a:t>
            </a:r>
          </a:p>
        </p:txBody>
      </p:sp>
      <p:sp>
        <p:nvSpPr>
          <p:cNvPr id="7" name="Rounded Rectangle 6"/>
          <p:cNvSpPr/>
          <p:nvPr/>
        </p:nvSpPr>
        <p:spPr>
          <a:xfrm>
            <a:off x="5467367" y="2029967"/>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5686823" y="2148839"/>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Urukingo ntirugira ingaruka ku kubyara. Rumurinda virusi itera kanseri.</a:t>
            </a:r>
          </a:p>
        </p:txBody>
      </p:sp>
      <p:sp>
        <p:nvSpPr>
          <p:cNvPr id="9" name="Rounded Rectangle 8"/>
          <p:cNvSpPr/>
          <p:nvPr/>
        </p:nvSpPr>
        <p:spPr>
          <a:xfrm>
            <a:off x="566928" y="3067811"/>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0" name="TextBox 9"/>
          <p:cNvSpPr txBox="1"/>
          <p:nvPr/>
        </p:nvSpPr>
        <p:spPr>
          <a:xfrm>
            <a:off x="786384" y="3186683"/>
            <a:ext cx="4205495" cy="653796"/>
          </a:xfrm>
          <a:prstGeom prst="rect">
            <a:avLst/>
          </a:prstGeom>
          <a:noFill/>
        </p:spPr>
        <p:txBody>
          <a:bodyPr wrap="square" lIns="0" tIns="0" rIns="0" bIns="0" anchor="ctr">
            <a:spAutoFit/>
          </a:bodyPr>
          <a:lstStyle/>
          <a:p>
            <a:pPr>
              <a:lnSpc>
                <a:spcPct val="110000"/>
              </a:lnSpc>
            </a:pPr>
            <a:r>
              <a:rPr lang="en-GB" sz="1450" b="0" i="0" dirty="0">
                <a:solidFill>
                  <a:srgbClr val="1A1A1A"/>
                </a:solidFill>
                <a:latin typeface="Calibri"/>
              </a:rPr>
              <a:t>❌ </a:t>
            </a:r>
            <a:r>
              <a:rPr lang="en-GB" sz="1750" b="1" i="0" dirty="0">
                <a:solidFill>
                  <a:srgbClr val="A31D1D"/>
                </a:solidFill>
                <a:latin typeface="Calibri"/>
              </a:rPr>
              <a:t>Imyumvire mibi:   </a:t>
            </a:r>
            <a:r>
              <a:rPr lang="en-GB" sz="1750" b="0" i="0" dirty="0">
                <a:solidFill>
                  <a:srgbClr val="1A1A1A"/>
                </a:solidFill>
                <a:latin typeface="Calibri"/>
              </a:rPr>
              <a:t>Gutanga urukingo bishishikariza urubyiruko gutangira imibonano mpuzabitsina.</a:t>
            </a:r>
          </a:p>
        </p:txBody>
      </p:sp>
      <p:sp>
        <p:nvSpPr>
          <p:cNvPr id="11" name="Rounded Rectangle 10"/>
          <p:cNvSpPr/>
          <p:nvPr/>
        </p:nvSpPr>
        <p:spPr>
          <a:xfrm>
            <a:off x="5467367" y="3067811"/>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2" name="TextBox 11"/>
          <p:cNvSpPr txBox="1"/>
          <p:nvPr/>
        </p:nvSpPr>
        <p:spPr>
          <a:xfrm>
            <a:off x="5686823" y="3186683"/>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Urukingo rutangwa kare gusa kubera ko rukora neza cyane mbere y'uko umuntu ahura na virusi.</a:t>
            </a:r>
          </a:p>
        </p:txBody>
      </p:sp>
      <p:sp>
        <p:nvSpPr>
          <p:cNvPr id="13" name="Rounded Rectangle 12"/>
          <p:cNvSpPr/>
          <p:nvPr/>
        </p:nvSpPr>
        <p:spPr>
          <a:xfrm>
            <a:off x="566928" y="4105656"/>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4" name="TextBox 13"/>
          <p:cNvSpPr txBox="1"/>
          <p:nvPr/>
        </p:nvSpPr>
        <p:spPr>
          <a:xfrm>
            <a:off x="786384" y="4224528"/>
            <a:ext cx="4205495" cy="653796"/>
          </a:xfrm>
          <a:prstGeom prst="rect">
            <a:avLst/>
          </a:prstGeom>
          <a:noFill/>
        </p:spPr>
        <p:txBody>
          <a:bodyPr wrap="square" lIns="0" tIns="0" rIns="0" bIns="0" anchor="ctr">
            <a:spAutoFit/>
          </a:bodyPr>
          <a:lstStyle/>
          <a:p>
            <a:pPr>
              <a:lnSpc>
                <a:spcPct val="110000"/>
              </a:lnSpc>
            </a:pPr>
            <a:r>
              <a:rPr lang="en-GB" sz="1300" b="0" i="0" dirty="0">
                <a:solidFill>
                  <a:srgbClr val="1A1A1A"/>
                </a:solidFill>
                <a:latin typeface="Calibri"/>
              </a:rPr>
              <a:t>❌ </a:t>
            </a:r>
            <a:r>
              <a:rPr lang="en-GB" sz="1600" b="1" i="0" dirty="0">
                <a:solidFill>
                  <a:srgbClr val="A31D1D"/>
                </a:solidFill>
                <a:latin typeface="Calibri"/>
              </a:rPr>
              <a:t>Imyumvire mibi:   </a:t>
            </a:r>
            <a:r>
              <a:rPr lang="en-GB" sz="1600" b="0" i="0" dirty="0">
                <a:solidFill>
                  <a:srgbClr val="1A1A1A"/>
                </a:solidFill>
                <a:latin typeface="Calibri"/>
              </a:rPr>
              <a:t>Niba yarakingiwe, ntazigera akenera kwisuzumisha.</a:t>
            </a:r>
          </a:p>
        </p:txBody>
      </p:sp>
      <p:sp>
        <p:nvSpPr>
          <p:cNvPr id="15" name="Rounded Rectangle 14"/>
          <p:cNvSpPr/>
          <p:nvPr/>
        </p:nvSpPr>
        <p:spPr>
          <a:xfrm>
            <a:off x="5467367" y="4105656"/>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6" name="TextBox 15"/>
          <p:cNvSpPr txBox="1"/>
          <p:nvPr/>
        </p:nvSpPr>
        <p:spPr>
          <a:xfrm>
            <a:off x="5686823" y="4224528"/>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Azakomeza gukenera kwisuzumisha amaze kuba mukuru. Byombi byuzuzanya.</a:t>
            </a:r>
          </a:p>
        </p:txBody>
      </p:sp>
      <p:sp>
        <p:nvSpPr>
          <p:cNvPr id="17" name="Rounded Rectangle 16"/>
          <p:cNvSpPr/>
          <p:nvPr/>
        </p:nvSpPr>
        <p:spPr>
          <a:xfrm>
            <a:off x="566928" y="5143500"/>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8" name="TextBox 17"/>
          <p:cNvSpPr txBox="1"/>
          <p:nvPr/>
        </p:nvSpPr>
        <p:spPr>
          <a:xfrm>
            <a:off x="786384" y="5262372"/>
            <a:ext cx="4205495" cy="653796"/>
          </a:xfrm>
          <a:prstGeom prst="rect">
            <a:avLst/>
          </a:prstGeom>
          <a:noFill/>
        </p:spPr>
        <p:txBody>
          <a:bodyPr wrap="square" lIns="0" tIns="0" rIns="0" bIns="0" anchor="ctr">
            <a:spAutoFit/>
          </a:bodyPr>
          <a:lstStyle/>
          <a:p>
            <a:pPr>
              <a:lnSpc>
                <a:spcPct val="110000"/>
              </a:lnSpc>
            </a:pPr>
            <a:r>
              <a:rPr lang="en-GB" sz="1100" b="0" i="0" dirty="0">
                <a:solidFill>
                  <a:srgbClr val="1A1A1A"/>
                </a:solidFill>
                <a:latin typeface="Calibri"/>
              </a:rPr>
              <a:t>❌ </a:t>
            </a:r>
            <a:r>
              <a:rPr lang="en-GB" sz="1350" b="1" i="0" dirty="0">
                <a:solidFill>
                  <a:srgbClr val="A31D1D"/>
                </a:solidFill>
                <a:latin typeface="Calibri"/>
              </a:rPr>
              <a:t>Imyumvire mibi:   </a:t>
            </a:r>
            <a:r>
              <a:rPr lang="en-GB" sz="1350" b="0" i="0" dirty="0">
                <a:solidFill>
                  <a:srgbClr val="1A1A1A"/>
                </a:solidFill>
                <a:latin typeface="Calibri"/>
              </a:rPr>
              <a:t>Abakobwa bo mu miryango ifite ibyago ni bo bonyine barukeneye.</a:t>
            </a:r>
          </a:p>
        </p:txBody>
      </p:sp>
      <p:sp>
        <p:nvSpPr>
          <p:cNvPr id="19" name="Rounded Rectangle 18"/>
          <p:cNvSpPr/>
          <p:nvPr/>
        </p:nvSpPr>
        <p:spPr>
          <a:xfrm>
            <a:off x="5467367" y="5143500"/>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20" name="TextBox 19"/>
          <p:cNvSpPr txBox="1"/>
          <p:nvPr/>
        </p:nvSpPr>
        <p:spPr>
          <a:xfrm>
            <a:off x="5686823" y="5262372"/>
            <a:ext cx="5718761" cy="653796"/>
          </a:xfrm>
          <a:prstGeom prst="rect">
            <a:avLst/>
          </a:prstGeom>
          <a:noFill/>
        </p:spPr>
        <p:txBody>
          <a:bodyPr wrap="square" lIns="0" tIns="0" rIns="0" bIns="0" anchor="ctr">
            <a:spAutoFit/>
          </a:bodyPr>
          <a:lstStyle/>
          <a:p>
            <a:pPr>
              <a:lnSpc>
                <a:spcPct val="110000"/>
              </a:lnSpc>
            </a:pPr>
            <a:r>
              <a:rPr lang="en-GB" sz="1450" b="0" i="0" dirty="0">
                <a:solidFill>
                  <a:srgbClr val="1A1A1A"/>
                </a:solidFill>
                <a:latin typeface="Calibri"/>
              </a:rPr>
              <a:t>✅ </a:t>
            </a:r>
            <a:r>
              <a:rPr lang="en-GB" sz="1750" b="1" i="0" dirty="0">
                <a:solidFill>
                  <a:srgbClr val="1C6B3F"/>
                </a:solidFill>
                <a:latin typeface="Calibri"/>
              </a:rPr>
              <a:t>Mu by'ukuri:   </a:t>
            </a:r>
            <a:r>
              <a:rPr lang="en-GB" sz="1750" b="0" i="0" dirty="0">
                <a:solidFill>
                  <a:srgbClr val="1A1A1A"/>
                </a:solidFill>
                <a:latin typeface="Calibri"/>
              </a:rPr>
              <a:t>Umugore uwo ari we wese ashobora guhura na HPV. Urukingo rutangwa kugira ngo rurinde buri mukobwa wujuje ibisabwa.</a:t>
            </a:r>
          </a:p>
        </p:txBody>
      </p:sp>
      <p:sp>
        <p:nvSpPr>
          <p:cNvPr id="21" name="TextBox 20"/>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2" name="TextBox 21"/>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Ikibazo cy'umubyeyi</a:t>
            </a:r>
          </a:p>
        </p:txBody>
      </p:sp>
      <p:sp>
        <p:nvSpPr>
          <p:cNvPr id="4" name="TextBox 3"/>
          <p:cNvSpPr txBox="1"/>
          <p:nvPr/>
        </p:nvSpPr>
        <p:spPr>
          <a:xfrm>
            <a:off x="566928" y="1517904"/>
            <a:ext cx="11058113" cy="320040"/>
          </a:xfrm>
          <a:prstGeom prst="rect">
            <a:avLst/>
          </a:prstGeom>
          <a:noFill/>
        </p:spPr>
        <p:txBody>
          <a:bodyPr wrap="square" lIns="0" tIns="0" rIns="0" bIns="0">
            <a:spAutoFit/>
          </a:bodyPr>
          <a:lstStyle/>
          <a:p>
            <a:r>
              <a:rPr lang="en-GB" sz="1700" b="0" i="1" dirty="0">
                <a:solidFill>
                  <a:srgbClr val="1F4E96"/>
                </a:solidFill>
                <a:latin typeface="Calibri"/>
              </a:rPr>
              <a:t>Hitamo igisubizo cy'ukuri kandi kirimo icyubahiro.</a:t>
            </a:r>
          </a:p>
        </p:txBody>
      </p:sp>
      <p:sp>
        <p:nvSpPr>
          <p:cNvPr id="5" name="TextBox 4"/>
          <p:cNvSpPr txBox="1"/>
          <p:nvPr/>
        </p:nvSpPr>
        <p:spPr>
          <a:xfrm>
            <a:off x="566928" y="1920240"/>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Umubyeyi w'umugabo avuga ko adashaka ko umukobwa we akingirwa kuko yumvise ko ruzamubuza kubyara mu gihe kizaza. Wamusubiza iki?</a:t>
            </a:r>
          </a:p>
        </p:txBody>
      </p:sp>
      <p:sp>
        <p:nvSpPr>
          <p:cNvPr id="6" name="Rounded Rectangle 5"/>
          <p:cNvSpPr/>
          <p:nvPr/>
        </p:nvSpPr>
        <p:spPr>
          <a:xfrm>
            <a:off x="566928" y="2706624"/>
            <a:ext cx="11058113" cy="41477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841247" y="2761488"/>
            <a:ext cx="10006553" cy="305043"/>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Kumubwira ko yibeshye ugasoza ikiganiro</a:t>
            </a:r>
          </a:p>
        </p:txBody>
      </p:sp>
      <p:sp>
        <p:nvSpPr>
          <p:cNvPr id="8" name="Rounded Rectangle 7"/>
          <p:cNvSpPr/>
          <p:nvPr/>
        </p:nvSpPr>
        <p:spPr>
          <a:xfrm>
            <a:off x="566928" y="3221979"/>
            <a:ext cx="11058113" cy="41477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41247" y="3276843"/>
            <a:ext cx="10006553" cy="305043"/>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Kwemera ko ibyo byago bihari ariko ari bike</a:t>
            </a:r>
          </a:p>
        </p:txBody>
      </p:sp>
      <p:sp>
        <p:nvSpPr>
          <p:cNvPr id="10" name="Rounded Rectangle 9"/>
          <p:cNvSpPr/>
          <p:nvPr/>
        </p:nvSpPr>
        <p:spPr>
          <a:xfrm>
            <a:off x="566928" y="3737335"/>
            <a:ext cx="11058113" cy="875629"/>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1" name="TextBox 10"/>
          <p:cNvSpPr txBox="1"/>
          <p:nvPr/>
        </p:nvSpPr>
        <p:spPr>
          <a:xfrm>
            <a:off x="841247" y="3792199"/>
            <a:ext cx="10006553" cy="76590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Kumusobanurira utuje ko urukingo rutagira ingaruka ku bushobozi bwe bwo kubyara, ko rumurinda virusi itera kanseri, no kumusaba ko mwajyana ku kigo nderabuzima akahabariza ibibazo bye</a:t>
            </a:r>
          </a:p>
        </p:txBody>
      </p:sp>
      <p:sp>
        <p:nvSpPr>
          <p:cNvPr id="13" name="Rounded Rectangle 12"/>
          <p:cNvSpPr/>
          <p:nvPr/>
        </p:nvSpPr>
        <p:spPr>
          <a:xfrm>
            <a:off x="566928" y="4713549"/>
            <a:ext cx="11058113" cy="41477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41247" y="4768413"/>
            <a:ext cx="10006553" cy="305043"/>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Kumubwira ko urukingo ari itegeko</a:t>
            </a:r>
          </a:p>
        </p:txBody>
      </p:sp>
      <p:sp>
        <p:nvSpPr>
          <p:cNvPr id="15" name="Rounded Rectangle 14"/>
          <p:cNvSpPr/>
          <p:nvPr/>
        </p:nvSpPr>
        <p:spPr>
          <a:xfrm>
            <a:off x="566928" y="5238048"/>
            <a:ext cx="11058113" cy="1034735"/>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6" name="TextBox 15"/>
          <p:cNvSpPr txBox="1"/>
          <p:nvPr/>
        </p:nvSpPr>
        <p:spPr>
          <a:xfrm>
            <a:off x="822960" y="5366064"/>
            <a:ext cx="10546049" cy="778703"/>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Kwirengagiza umubyeyi bisoza ikiganiro, naho kwemera ibyago bitari ukuri bituma bikomeza gukwirakwira. Gusubiza impungenge nyazo, hanyuma ukamusaba ko mwajyana ikibazo ku kigo nderabuzima, bituma umuryango ukomeza kubigiramo uruhare kandi byubaha uruhare rw'umubyeyi.</a:t>
            </a:r>
          </a:p>
        </p:txBody>
      </p:sp>
      <p:sp>
        <p:nvSpPr>
          <p:cNvPr id="17" name="TextBox 1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8" name="TextBox 1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55</a:t>
            </a:r>
          </a:p>
        </p:txBody>
      </p:sp>
      <p:sp>
        <p:nvSpPr>
          <p:cNvPr id="12" name="TextBox 11"/>
          <p:cNvSpPr txBox="1"/>
          <p:nvPr/>
        </p:nvSpPr>
        <p:spPr>
          <a:xfrm>
            <a:off x="11094689" y="4037990"/>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B Y A G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Ibyongera ibyago</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Impamvu nyamukuru ni ubwandu bwa HPV bumara igihe kirekire mu mubiri. Hari ibintu bike bituma ibyo birushaho kubaho.</a:t>
            </a:r>
          </a:p>
        </p:txBody>
      </p:sp>
      <p:sp>
        <p:nvSpPr>
          <p:cNvPr id="5" name="Rounded Rectangle 4"/>
          <p:cNvSpPr/>
          <p:nvPr/>
        </p:nvSpPr>
        <p:spPr>
          <a:xfrm>
            <a:off x="566928" y="2331720"/>
            <a:ext cx="11058113" cy="47548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22960" y="2414015"/>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7" name="TextBox 6"/>
          <p:cNvSpPr txBox="1"/>
          <p:nvPr/>
        </p:nvSpPr>
        <p:spPr>
          <a:xfrm>
            <a:off x="1389888" y="2423160"/>
            <a:ext cx="9960833" cy="329184"/>
          </a:xfrm>
          <a:prstGeom prst="rect">
            <a:avLst/>
          </a:prstGeom>
          <a:noFill/>
        </p:spPr>
        <p:txBody>
          <a:bodyPr wrap="square" lIns="0" tIns="0" rIns="0" bIns="0" anchor="ctr">
            <a:spAutoFit/>
          </a:bodyPr>
          <a:lstStyle/>
          <a:p>
            <a:pPr>
              <a:lnSpc>
                <a:spcPct val="110000"/>
              </a:lnSpc>
            </a:pPr>
            <a:r>
              <a:rPr lang="en-GB" sz="1350" b="1" i="0" dirty="0">
                <a:solidFill>
                  <a:srgbClr val="10305A"/>
                </a:solidFill>
                <a:latin typeface="Calibri"/>
              </a:rPr>
              <a:t>Ubwandu bwa HPV bumara igihe kirekire.  </a:t>
            </a:r>
            <a:r>
              <a:rPr lang="en-GB" sz="1350" b="0" i="0" dirty="0">
                <a:solidFill>
                  <a:srgbClr val="1A1A1A"/>
                </a:solidFill>
                <a:latin typeface="Calibri"/>
              </a:rPr>
              <a:t>Iyi ni yo ntandaro nyamukuru ya kanseri y'inkondo y'umura.</a:t>
            </a:r>
          </a:p>
        </p:txBody>
      </p:sp>
      <p:sp>
        <p:nvSpPr>
          <p:cNvPr id="8" name="Rounded Rectangle 7"/>
          <p:cNvSpPr/>
          <p:nvPr/>
        </p:nvSpPr>
        <p:spPr>
          <a:xfrm>
            <a:off x="566928" y="2935224"/>
            <a:ext cx="11058113" cy="47548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22960" y="301752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0" name="TextBox 9"/>
          <p:cNvSpPr txBox="1"/>
          <p:nvPr/>
        </p:nvSpPr>
        <p:spPr>
          <a:xfrm>
            <a:off x="1389888" y="3026664"/>
            <a:ext cx="9960833" cy="329184"/>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Ubudahangarwa bw'umubiri bucogoye.  </a:t>
            </a:r>
            <a:r>
              <a:rPr lang="en-GB" sz="1800" b="0" i="0" dirty="0">
                <a:solidFill>
                  <a:srgbClr val="1A1A1A"/>
                </a:solidFill>
                <a:latin typeface="Calibri"/>
              </a:rPr>
              <a:t>Abantu bafite ubudahangarwa bucogoye bagorwa no gukuraho virusi.</a:t>
            </a:r>
          </a:p>
        </p:txBody>
      </p:sp>
      <p:sp>
        <p:nvSpPr>
          <p:cNvPr id="11" name="Rounded Rectangle 10"/>
          <p:cNvSpPr/>
          <p:nvPr/>
        </p:nvSpPr>
        <p:spPr>
          <a:xfrm>
            <a:off x="566928" y="3538728"/>
            <a:ext cx="11058113" cy="47548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22960" y="362102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3" name="TextBox 12"/>
          <p:cNvSpPr txBox="1"/>
          <p:nvPr/>
        </p:nvSpPr>
        <p:spPr>
          <a:xfrm>
            <a:off x="1389888" y="3630168"/>
            <a:ext cx="9960833" cy="329184"/>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Kunywa itabi.  </a:t>
            </a:r>
            <a:r>
              <a:rPr lang="en-GB" sz="1800" b="0" i="0" dirty="0">
                <a:solidFill>
                  <a:srgbClr val="1A1A1A"/>
                </a:solidFill>
                <a:latin typeface="Calibri"/>
              </a:rPr>
              <a:t>Kunywa itabi bituma umubiri ugorwa no gukuraho ubwandu.</a:t>
            </a:r>
          </a:p>
        </p:txBody>
      </p:sp>
      <p:sp>
        <p:nvSpPr>
          <p:cNvPr id="14" name="Rounded Rectangle 13"/>
          <p:cNvSpPr/>
          <p:nvPr/>
        </p:nvSpPr>
        <p:spPr>
          <a:xfrm>
            <a:off x="566928" y="4142231"/>
            <a:ext cx="11058113" cy="47548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TextBox 14"/>
          <p:cNvSpPr txBox="1"/>
          <p:nvPr/>
        </p:nvSpPr>
        <p:spPr>
          <a:xfrm>
            <a:off x="822960" y="4224527"/>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6" name="TextBox 15"/>
          <p:cNvSpPr txBox="1"/>
          <p:nvPr/>
        </p:nvSpPr>
        <p:spPr>
          <a:xfrm>
            <a:off x="1389888" y="4233671"/>
            <a:ext cx="9960833" cy="329184"/>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Kuba atarigeze yisuzumisha.  </a:t>
            </a:r>
            <a:r>
              <a:rPr lang="en-GB" sz="1800" b="0" i="0" dirty="0">
                <a:solidFill>
                  <a:srgbClr val="1A1A1A"/>
                </a:solidFill>
                <a:latin typeface="Calibri"/>
              </a:rPr>
              <a:t>Umugore utarigeze yisuzumisha ntiyigeze agira amahirwe yo kubona impinduka hakiri kare.</a:t>
            </a:r>
          </a:p>
        </p:txBody>
      </p:sp>
      <p:sp>
        <p:nvSpPr>
          <p:cNvPr id="17" name="Rounded Rectangle 16"/>
          <p:cNvSpPr/>
          <p:nvPr/>
        </p:nvSpPr>
        <p:spPr>
          <a:xfrm>
            <a:off x="566928" y="4837175"/>
            <a:ext cx="11058113" cy="932688"/>
          </a:xfrm>
          <a:prstGeom prst="roundRect">
            <a:avLst>
              <a:gd name="adj" fmla="val 4500"/>
            </a:avLst>
          </a:prstGeom>
          <a:solidFill>
            <a:srgbClr val="FFF2DF"/>
          </a:solidFill>
          <a:ln w="12700">
            <a:solidFill>
              <a:srgbClr val="F3D9AE"/>
            </a:solidFill>
          </a:ln>
          <a:effectLst/>
        </p:spPr>
        <p:txBody>
          <a:bodyPr wrap="square" rtlCol="0" anchor="ctr"/>
          <a:lstStyle/>
          <a:p>
            <a:pPr algn="ctr"/>
            <a:endParaRPr lang="en-GB" dirty="0"/>
          </a:p>
        </p:txBody>
      </p:sp>
      <p:sp>
        <p:nvSpPr>
          <p:cNvPr id="18" name="TextBox 17"/>
          <p:cNvSpPr txBox="1"/>
          <p:nvPr/>
        </p:nvSpPr>
        <p:spPr>
          <a:xfrm>
            <a:off x="804672" y="4983479"/>
            <a:ext cx="10582625" cy="658368"/>
          </a:xfrm>
          <a:prstGeom prst="rect">
            <a:avLst/>
          </a:prstGeom>
          <a:noFill/>
        </p:spPr>
        <p:txBody>
          <a:bodyPr wrap="square" lIns="0" tIns="0" rIns="0" bIns="0">
            <a:spAutoFit/>
          </a:bodyPr>
          <a:lstStyle/>
          <a:p>
            <a:pPr>
              <a:lnSpc>
                <a:spcPct val="112000"/>
              </a:lnSpc>
            </a:pPr>
            <a:r>
              <a:rPr lang="en-GB" sz="1700" b="1" i="0" dirty="0">
                <a:solidFill>
                  <a:srgbClr val="94600B"/>
                </a:solidFill>
                <a:latin typeface="Calibri"/>
              </a:rPr>
              <a:t>⚠ Bikoreshe witonze:  </a:t>
            </a:r>
            <a:r>
              <a:rPr lang="en-GB" sz="1700" b="0" i="0" dirty="0">
                <a:solidFill>
                  <a:srgbClr val="1A1A1A"/>
                </a:solidFill>
                <a:latin typeface="Calibri"/>
              </a:rPr>
              <a:t>Amakuru ku byago agamije gushishikariza abantu gukingirwa no kwisuzumisha. Ntabwo na rimwe ari impamvu yo gucira urubanza uburyo umugore yabayeho.</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65760"/>
            <a:ext cx="11058113" cy="161583"/>
          </a:xfrm>
          <a:prstGeom prst="rect">
            <a:avLst/>
          </a:prstGeom>
          <a:noFill/>
          <a:ln/>
        </p:spPr>
        <p:txBody>
          <a:bodyPr wrap="square" lIns="0" tIns="0" rIns="0" bIns="0" rtlCol="0" anchor="ctr"/>
          <a:lstStyle/>
          <a:p>
            <a:pPr marL="0" indent="0" algn="l">
              <a:buNone/>
            </a:pPr>
            <a:r>
              <a:rPr lang="rw-RW" sz="1050" b="1" noProof="0" dirty="0">
                <a:solidFill>
                  <a:srgbClr val="1F4E96"/>
                </a:solidFill>
                <a:latin typeface="Calibri" pitchFamily="34" charset="0"/>
                <a:ea typeface="Calibri" pitchFamily="34" charset="-122"/>
                <a:cs typeface="Calibri" pitchFamily="34" charset="-120"/>
              </a:rPr>
              <a:t>I G I C E   C Y A   2   ·   I B Y A G O</a:t>
            </a:r>
            <a:endParaRPr lang="rw-RW" sz="1050" dirty="0"/>
          </a:p>
        </p:txBody>
      </p:sp>
      <p:sp>
        <p:nvSpPr>
          <p:cNvPr id="3" name="Text 3"/>
          <p:cNvSpPr txBox="1"/>
          <p:nvPr/>
        </p:nvSpPr>
        <p:spPr>
          <a:xfrm>
            <a:off x="566928" y="713232"/>
            <a:ext cx="11058113" cy="777240"/>
          </a:xfrm>
          <a:prstGeom prst="rect">
            <a:avLst/>
          </a:prstGeom>
          <a:noFill/>
          <a:ln/>
        </p:spPr>
        <p:txBody>
          <a:bodyPr wrap="square" lIns="0" tIns="0" rIns="0" bIns="0" rtlCol="0" anchor="ctr"/>
          <a:lstStyle/>
          <a:p>
            <a:pPr marL="0" indent="0">
              <a:buNone/>
            </a:pPr>
            <a:r>
              <a:rPr lang="rw-RW" sz="3400" b="1" noProof="0" dirty="0">
                <a:solidFill>
                  <a:srgbClr val="10305A"/>
                </a:solidFill>
                <a:latin typeface="Cambria" pitchFamily="34" charset="0"/>
                <a:ea typeface="Cambria" pitchFamily="34" charset="-122"/>
                <a:cs typeface="Cambria" pitchFamily="34" charset="-120"/>
              </a:rPr>
              <a:t>Ibindi bishobora kongera ibyago</a:t>
            </a:r>
          </a:p>
        </p:txBody>
      </p:sp>
      <p:sp>
        <p:nvSpPr>
          <p:cNvPr id="4" name="Text 4"/>
          <p:cNvSpPr txBox="1"/>
          <p:nvPr/>
        </p:nvSpPr>
        <p:spPr>
          <a:xfrm>
            <a:off x="566928" y="1480000"/>
            <a:ext cx="11055096" cy="365760"/>
          </a:xfrm>
          <a:prstGeom prst="rect">
            <a:avLst/>
          </a:prstGeom>
          <a:noFill/>
          <a:ln/>
        </p:spPr>
        <p:txBody>
          <a:bodyPr wrap="square" lIns="0" tIns="0" rIns="0" bIns="0" rtlCol="0" anchor="ctr"/>
          <a:lstStyle/>
          <a:p>
            <a:pPr marL="0" indent="0" algn="l">
              <a:buNone/>
            </a:pPr>
            <a:r>
              <a:rPr lang="rw-RW" sz="1600" noProof="0" dirty="0">
                <a:solidFill>
                  <a:srgbClr val="31507B"/>
                </a:solidFill>
                <a:latin typeface="Calibri" pitchFamily="34" charset="0"/>
                <a:ea typeface="Calibri" pitchFamily="34" charset="-122"/>
                <a:cs typeface="Calibri" pitchFamily="34" charset="-120"/>
              </a:rPr>
              <a:t>Ibi bintu bishobora kongera ibyago byo kurwara kanseri y'inkondo y'umura. Ntibivuze ko umugore azarwara.</a:t>
            </a:r>
            <a:endParaRPr lang="rw-RW" sz="1600" dirty="0"/>
          </a:p>
        </p:txBody>
      </p:sp>
      <p:sp>
        <p:nvSpPr>
          <p:cNvPr id="5" name="Shape 5"/>
          <p:cNvSpPr/>
          <p:nvPr/>
        </p:nvSpPr>
        <p:spPr>
          <a:xfrm>
            <a:off x="566928" y="1950000"/>
            <a:ext cx="2600000" cy="14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6" name="Text 6"/>
          <p:cNvSpPr txBox="1"/>
          <p:nvPr/>
        </p:nvSpPr>
        <p:spPr>
          <a:xfrm>
            <a:off x="716928" y="2030000"/>
            <a:ext cx="2300000" cy="420000"/>
          </a:xfrm>
          <a:prstGeom prst="rect">
            <a:avLst/>
          </a:prstGeom>
          <a:noFill/>
          <a:ln/>
        </p:spPr>
        <p:txBody>
          <a:bodyPr wrap="square" lIns="0" tIns="0" rIns="0" bIns="0" rtlCol="0" anchor="ctr"/>
          <a:lstStyle/>
          <a:p>
            <a:pPr marL="0" indent="0" algn="ctr">
              <a:buNone/>
            </a:pPr>
            <a:r>
              <a:rPr lang="rw-RW" sz="2000" noProof="0" dirty="0">
                <a:solidFill>
                  <a:srgbClr val="000000"/>
                </a:solidFill>
                <a:latin typeface="Calibri" pitchFamily="34" charset="0"/>
                <a:ea typeface="Calibri" pitchFamily="34" charset="-122"/>
                <a:cs typeface="Calibri" pitchFamily="34" charset="-120"/>
              </a:rPr>
              <a:t>💑</a:t>
            </a:r>
            <a:endParaRPr lang="rw-RW" sz="2000" dirty="0"/>
          </a:p>
        </p:txBody>
      </p:sp>
      <p:sp>
        <p:nvSpPr>
          <p:cNvPr id="7" name="Text 7"/>
          <p:cNvSpPr txBox="1"/>
          <p:nvPr/>
        </p:nvSpPr>
        <p:spPr>
          <a:xfrm>
            <a:off x="716928" y="2470000"/>
            <a:ext cx="2300000" cy="850000"/>
          </a:xfrm>
          <a:prstGeom prst="rect">
            <a:avLst/>
          </a:prstGeom>
          <a:noFill/>
          <a:ln/>
        </p:spPr>
        <p:txBody>
          <a:bodyPr wrap="square" lIns="0" tIns="0" rIns="0" bIns="0" rtlCol="0" anchor="t"/>
          <a:lstStyle/>
          <a:p>
            <a:pPr marL="0" indent="0" algn="ctr">
              <a:buNone/>
            </a:pPr>
            <a:r>
              <a:rPr lang="rw-RW" sz="1500" noProof="0" dirty="0">
                <a:solidFill>
                  <a:srgbClr val="1A1A1A"/>
                </a:solidFill>
                <a:latin typeface="Calibri" pitchFamily="34" charset="0"/>
                <a:ea typeface="Calibri" pitchFamily="34" charset="-122"/>
                <a:cs typeface="Calibri" pitchFamily="34" charset="-120"/>
              </a:rPr>
              <a:t>Gutangira imibonano mpuzabitsina ukiri muto cyane</a:t>
            </a:r>
            <a:endParaRPr lang="rw-RW" sz="1500" dirty="0"/>
          </a:p>
        </p:txBody>
      </p:sp>
      <p:sp>
        <p:nvSpPr>
          <p:cNvPr id="8" name="Shape 8"/>
          <p:cNvSpPr/>
          <p:nvPr/>
        </p:nvSpPr>
        <p:spPr>
          <a:xfrm>
            <a:off x="3385293" y="1950000"/>
            <a:ext cx="2600000" cy="14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9" name="Text 9"/>
          <p:cNvSpPr txBox="1"/>
          <p:nvPr/>
        </p:nvSpPr>
        <p:spPr>
          <a:xfrm>
            <a:off x="3535293" y="2030000"/>
            <a:ext cx="2300000" cy="420000"/>
          </a:xfrm>
          <a:prstGeom prst="rect">
            <a:avLst/>
          </a:prstGeom>
          <a:noFill/>
          <a:ln/>
        </p:spPr>
        <p:txBody>
          <a:bodyPr wrap="square" lIns="0" tIns="0" rIns="0" bIns="0" rtlCol="0" anchor="ctr"/>
          <a:lstStyle/>
          <a:p>
            <a:pPr marL="0" indent="0" algn="ctr">
              <a:buNone/>
            </a:pPr>
            <a:r>
              <a:rPr lang="rw-RW" sz="2000" noProof="0" dirty="0">
                <a:solidFill>
                  <a:srgbClr val="000000"/>
                </a:solidFill>
                <a:latin typeface="Calibri" pitchFamily="34" charset="0"/>
                <a:ea typeface="Calibri" pitchFamily="34" charset="-122"/>
                <a:cs typeface="Calibri" pitchFamily="34" charset="-120"/>
              </a:rPr>
              <a:t>👥</a:t>
            </a:r>
            <a:endParaRPr lang="rw-RW" sz="2000" dirty="0"/>
          </a:p>
        </p:txBody>
      </p:sp>
      <p:sp>
        <p:nvSpPr>
          <p:cNvPr id="10" name="Text 10"/>
          <p:cNvSpPr txBox="1"/>
          <p:nvPr/>
        </p:nvSpPr>
        <p:spPr>
          <a:xfrm>
            <a:off x="3535293" y="2470000"/>
            <a:ext cx="2300000" cy="850000"/>
          </a:xfrm>
          <a:prstGeom prst="rect">
            <a:avLst/>
          </a:prstGeom>
          <a:noFill/>
          <a:ln/>
        </p:spPr>
        <p:txBody>
          <a:bodyPr wrap="square" lIns="0" tIns="0" rIns="0" bIns="0" rtlCol="0" anchor="t"/>
          <a:lstStyle/>
          <a:p>
            <a:pPr marL="0" indent="0" algn="ctr">
              <a:buNone/>
            </a:pPr>
            <a:r>
              <a:rPr lang="rw-RW" sz="1500" noProof="0" dirty="0">
                <a:solidFill>
                  <a:srgbClr val="1A1A1A"/>
                </a:solidFill>
                <a:latin typeface="Calibri" pitchFamily="34" charset="0"/>
                <a:ea typeface="Calibri" pitchFamily="34" charset="-122"/>
                <a:cs typeface="Calibri" pitchFamily="34" charset="-120"/>
              </a:rPr>
              <a:t>Kugira abo mukorana imibonano mpuzabitsina benshi, cyangwa uwo mubana akagira benshi</a:t>
            </a:r>
            <a:endParaRPr lang="rw-RW" sz="1500" dirty="0"/>
          </a:p>
        </p:txBody>
      </p:sp>
      <p:sp>
        <p:nvSpPr>
          <p:cNvPr id="11" name="Shape 11"/>
          <p:cNvSpPr/>
          <p:nvPr/>
        </p:nvSpPr>
        <p:spPr>
          <a:xfrm>
            <a:off x="6203658" y="1950000"/>
            <a:ext cx="2600000" cy="14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2" name="Text 12"/>
          <p:cNvSpPr txBox="1"/>
          <p:nvPr/>
        </p:nvSpPr>
        <p:spPr>
          <a:xfrm>
            <a:off x="6353658" y="2030000"/>
            <a:ext cx="2300000" cy="420000"/>
          </a:xfrm>
          <a:prstGeom prst="rect">
            <a:avLst/>
          </a:prstGeom>
          <a:noFill/>
          <a:ln/>
        </p:spPr>
        <p:txBody>
          <a:bodyPr wrap="square" lIns="0" tIns="0" rIns="0" bIns="0" rtlCol="0" anchor="ctr"/>
          <a:lstStyle/>
          <a:p>
            <a:pPr marL="0" indent="0" algn="ctr">
              <a:buNone/>
            </a:pPr>
            <a:r>
              <a:rPr lang="rw-RW" sz="2000" noProof="0" dirty="0">
                <a:solidFill>
                  <a:srgbClr val="000000"/>
                </a:solidFill>
                <a:latin typeface="Calibri" pitchFamily="34" charset="0"/>
                <a:ea typeface="Calibri" pitchFamily="34" charset="-122"/>
                <a:cs typeface="Calibri" pitchFamily="34" charset="-120"/>
              </a:rPr>
              <a:t>👶</a:t>
            </a:r>
            <a:endParaRPr lang="rw-RW" sz="2000" dirty="0"/>
          </a:p>
        </p:txBody>
      </p:sp>
      <p:sp>
        <p:nvSpPr>
          <p:cNvPr id="13" name="Text 13"/>
          <p:cNvSpPr txBox="1"/>
          <p:nvPr/>
        </p:nvSpPr>
        <p:spPr>
          <a:xfrm>
            <a:off x="6353658" y="2470000"/>
            <a:ext cx="2300000" cy="850000"/>
          </a:xfrm>
          <a:prstGeom prst="rect">
            <a:avLst/>
          </a:prstGeom>
          <a:noFill/>
          <a:ln/>
        </p:spPr>
        <p:txBody>
          <a:bodyPr wrap="square" lIns="0" tIns="0" rIns="0" bIns="0" rtlCol="0" anchor="t"/>
          <a:lstStyle/>
          <a:p>
            <a:pPr marL="0" indent="0" algn="ctr">
              <a:buNone/>
            </a:pPr>
            <a:r>
              <a:rPr lang="rw-RW" sz="1500" noProof="0" dirty="0">
                <a:solidFill>
                  <a:srgbClr val="1A1A1A"/>
                </a:solidFill>
                <a:latin typeface="Calibri" pitchFamily="34" charset="0"/>
                <a:ea typeface="Calibri" pitchFamily="34" charset="-122"/>
                <a:cs typeface="Calibri" pitchFamily="34" charset="-120"/>
              </a:rPr>
              <a:t>Kubyara abana benshi, cyane cyane ukiri muto</a:t>
            </a:r>
            <a:endParaRPr lang="rw-RW" sz="1500" dirty="0"/>
          </a:p>
        </p:txBody>
      </p:sp>
      <p:sp>
        <p:nvSpPr>
          <p:cNvPr id="14" name="Shape 14"/>
          <p:cNvSpPr/>
          <p:nvPr/>
        </p:nvSpPr>
        <p:spPr>
          <a:xfrm>
            <a:off x="9022024" y="1950000"/>
            <a:ext cx="2600000" cy="14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5" name="Text 15"/>
          <p:cNvSpPr txBox="1"/>
          <p:nvPr/>
        </p:nvSpPr>
        <p:spPr>
          <a:xfrm>
            <a:off x="9172024" y="2030000"/>
            <a:ext cx="2300000" cy="420000"/>
          </a:xfrm>
          <a:prstGeom prst="rect">
            <a:avLst/>
          </a:prstGeom>
          <a:noFill/>
          <a:ln/>
        </p:spPr>
        <p:txBody>
          <a:bodyPr wrap="square" lIns="0" tIns="0" rIns="0" bIns="0" rtlCol="0" anchor="ctr"/>
          <a:lstStyle/>
          <a:p>
            <a:pPr marL="0" indent="0" algn="ctr">
              <a:buNone/>
            </a:pPr>
            <a:r>
              <a:rPr lang="rw-RW" sz="2000" noProof="0" dirty="0">
                <a:solidFill>
                  <a:srgbClr val="000000"/>
                </a:solidFill>
                <a:latin typeface="Calibri" pitchFamily="34" charset="0"/>
                <a:ea typeface="Calibri" pitchFamily="34" charset="-122"/>
                <a:cs typeface="Calibri" pitchFamily="34" charset="-120"/>
              </a:rPr>
              <a:t>🏠</a:t>
            </a:r>
            <a:endParaRPr lang="rw-RW" sz="2000" dirty="0"/>
          </a:p>
        </p:txBody>
      </p:sp>
      <p:sp>
        <p:nvSpPr>
          <p:cNvPr id="16" name="Text 16"/>
          <p:cNvSpPr txBox="1"/>
          <p:nvPr/>
        </p:nvSpPr>
        <p:spPr>
          <a:xfrm>
            <a:off x="9172024" y="2470000"/>
            <a:ext cx="2300000" cy="850000"/>
          </a:xfrm>
          <a:prstGeom prst="rect">
            <a:avLst/>
          </a:prstGeom>
          <a:noFill/>
          <a:ln/>
        </p:spPr>
        <p:txBody>
          <a:bodyPr wrap="square" lIns="0" tIns="0" rIns="0" bIns="0" rtlCol="0" anchor="t"/>
          <a:lstStyle/>
          <a:p>
            <a:pPr marL="0" indent="0" algn="ctr">
              <a:buNone/>
            </a:pPr>
            <a:r>
              <a:rPr lang="rw-RW" sz="1500" noProof="0" dirty="0">
                <a:solidFill>
                  <a:srgbClr val="1A1A1A"/>
                </a:solidFill>
                <a:latin typeface="Calibri" pitchFamily="34" charset="0"/>
                <a:ea typeface="Calibri" pitchFamily="34" charset="-122"/>
                <a:cs typeface="Calibri" pitchFamily="34" charset="-120"/>
              </a:rPr>
              <a:t>Ubuzima bugoye n'ubukene</a:t>
            </a:r>
            <a:endParaRPr lang="rw-RW" sz="1500" dirty="0"/>
          </a:p>
        </p:txBody>
      </p:sp>
      <p:sp>
        <p:nvSpPr>
          <p:cNvPr id="17" name="Shape 17"/>
          <p:cNvSpPr/>
          <p:nvPr/>
        </p:nvSpPr>
        <p:spPr>
          <a:xfrm>
            <a:off x="566928" y="3520000"/>
            <a:ext cx="2600000" cy="14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8" name="Text 18"/>
          <p:cNvSpPr txBox="1"/>
          <p:nvPr/>
        </p:nvSpPr>
        <p:spPr>
          <a:xfrm>
            <a:off x="716928" y="3600000"/>
            <a:ext cx="2300000" cy="420000"/>
          </a:xfrm>
          <a:prstGeom prst="rect">
            <a:avLst/>
          </a:prstGeom>
          <a:noFill/>
          <a:ln/>
        </p:spPr>
        <p:txBody>
          <a:bodyPr wrap="square" lIns="0" tIns="0" rIns="0" bIns="0" rtlCol="0" anchor="ctr"/>
          <a:lstStyle/>
          <a:p>
            <a:pPr marL="0" indent="0" algn="ctr">
              <a:buNone/>
            </a:pPr>
            <a:r>
              <a:rPr lang="rw-RW" sz="2000" noProof="0" dirty="0">
                <a:solidFill>
                  <a:srgbClr val="000000"/>
                </a:solidFill>
                <a:latin typeface="Calibri" pitchFamily="34" charset="0"/>
                <a:ea typeface="Calibri" pitchFamily="34" charset="-122"/>
                <a:cs typeface="Calibri" pitchFamily="34" charset="-120"/>
              </a:rPr>
              <a:t>🚬</a:t>
            </a:r>
            <a:endParaRPr lang="rw-RW" sz="2000" dirty="0"/>
          </a:p>
        </p:txBody>
      </p:sp>
      <p:sp>
        <p:nvSpPr>
          <p:cNvPr id="19" name="Text 19"/>
          <p:cNvSpPr txBox="1"/>
          <p:nvPr/>
        </p:nvSpPr>
        <p:spPr>
          <a:xfrm>
            <a:off x="716928" y="4040000"/>
            <a:ext cx="2300000" cy="850000"/>
          </a:xfrm>
          <a:prstGeom prst="rect">
            <a:avLst/>
          </a:prstGeom>
          <a:noFill/>
          <a:ln/>
        </p:spPr>
        <p:txBody>
          <a:bodyPr wrap="square" lIns="0" tIns="0" rIns="0" bIns="0" rtlCol="0" anchor="t"/>
          <a:lstStyle/>
          <a:p>
            <a:pPr marL="0" indent="0" algn="ctr">
              <a:buNone/>
            </a:pPr>
            <a:r>
              <a:rPr lang="rw-RW" sz="1500" noProof="0" dirty="0">
                <a:solidFill>
                  <a:srgbClr val="1A1A1A"/>
                </a:solidFill>
                <a:latin typeface="Calibri" pitchFamily="34" charset="0"/>
                <a:ea typeface="Calibri" pitchFamily="34" charset="-122"/>
                <a:cs typeface="Calibri" pitchFamily="34" charset="-120"/>
              </a:rPr>
              <a:t>Kunywa itabi</a:t>
            </a:r>
            <a:endParaRPr lang="rw-RW" sz="1500" dirty="0"/>
          </a:p>
        </p:txBody>
      </p:sp>
      <p:sp>
        <p:nvSpPr>
          <p:cNvPr id="20" name="Shape 20"/>
          <p:cNvSpPr/>
          <p:nvPr/>
        </p:nvSpPr>
        <p:spPr>
          <a:xfrm>
            <a:off x="3385293" y="3520000"/>
            <a:ext cx="2600000" cy="14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21" name="Text 21"/>
          <p:cNvSpPr txBox="1"/>
          <p:nvPr/>
        </p:nvSpPr>
        <p:spPr>
          <a:xfrm>
            <a:off x="3535293" y="3600000"/>
            <a:ext cx="2300000" cy="420000"/>
          </a:xfrm>
          <a:prstGeom prst="rect">
            <a:avLst/>
          </a:prstGeom>
          <a:noFill/>
          <a:ln/>
        </p:spPr>
        <p:txBody>
          <a:bodyPr wrap="square" lIns="0" tIns="0" rIns="0" bIns="0" rtlCol="0" anchor="ctr"/>
          <a:lstStyle/>
          <a:p>
            <a:pPr marL="0" indent="0" algn="ctr">
              <a:buNone/>
            </a:pPr>
            <a:r>
              <a:rPr lang="rw-RW" sz="2000" noProof="0" dirty="0">
                <a:solidFill>
                  <a:srgbClr val="000000"/>
                </a:solidFill>
                <a:latin typeface="Calibri" pitchFamily="34" charset="0"/>
                <a:ea typeface="Calibri" pitchFamily="34" charset="-122"/>
                <a:cs typeface="Calibri" pitchFamily="34" charset="-120"/>
              </a:rPr>
              <a:t>🦠</a:t>
            </a:r>
            <a:endParaRPr lang="rw-RW" sz="2000" dirty="0"/>
          </a:p>
        </p:txBody>
      </p:sp>
      <p:sp>
        <p:nvSpPr>
          <p:cNvPr id="22" name="Text 22"/>
          <p:cNvSpPr txBox="1"/>
          <p:nvPr/>
        </p:nvSpPr>
        <p:spPr>
          <a:xfrm>
            <a:off x="3535293" y="4040000"/>
            <a:ext cx="2300000" cy="850000"/>
          </a:xfrm>
          <a:prstGeom prst="rect">
            <a:avLst/>
          </a:prstGeom>
          <a:noFill/>
          <a:ln/>
        </p:spPr>
        <p:txBody>
          <a:bodyPr wrap="square" lIns="0" tIns="0" rIns="0" bIns="0" rtlCol="0" anchor="t"/>
          <a:lstStyle/>
          <a:p>
            <a:pPr marL="0" indent="0" algn="ctr">
              <a:buNone/>
            </a:pPr>
            <a:r>
              <a:rPr lang="rw-RW" sz="1500" noProof="0" dirty="0">
                <a:solidFill>
                  <a:srgbClr val="1A1A1A"/>
                </a:solidFill>
                <a:latin typeface="Calibri" pitchFamily="34" charset="0"/>
                <a:ea typeface="Calibri" pitchFamily="34" charset="-122"/>
                <a:cs typeface="Calibri" pitchFamily="34" charset="-120"/>
              </a:rPr>
              <a:t>Indwara ya chlamydia (yandurira mu mibonano mpuzabitsina)</a:t>
            </a:r>
            <a:endParaRPr lang="rw-RW" sz="1500" dirty="0"/>
          </a:p>
        </p:txBody>
      </p:sp>
      <p:sp>
        <p:nvSpPr>
          <p:cNvPr id="23" name="Shape 23"/>
          <p:cNvSpPr/>
          <p:nvPr/>
        </p:nvSpPr>
        <p:spPr>
          <a:xfrm>
            <a:off x="6203658" y="3520000"/>
            <a:ext cx="2600000" cy="14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24" name="Text 24"/>
          <p:cNvSpPr txBox="1"/>
          <p:nvPr/>
        </p:nvSpPr>
        <p:spPr>
          <a:xfrm>
            <a:off x="6353658" y="3600000"/>
            <a:ext cx="2300000" cy="420000"/>
          </a:xfrm>
          <a:prstGeom prst="rect">
            <a:avLst/>
          </a:prstGeom>
          <a:noFill/>
          <a:ln/>
        </p:spPr>
        <p:txBody>
          <a:bodyPr wrap="square" lIns="0" tIns="0" rIns="0" bIns="0" rtlCol="0" anchor="ctr"/>
          <a:lstStyle/>
          <a:p>
            <a:pPr marL="0" indent="0" algn="ctr">
              <a:buNone/>
            </a:pPr>
            <a:r>
              <a:rPr lang="rw-RW" sz="2000" noProof="0" dirty="0">
                <a:solidFill>
                  <a:srgbClr val="000000"/>
                </a:solidFill>
                <a:latin typeface="Calibri" pitchFamily="34" charset="0"/>
                <a:ea typeface="Calibri" pitchFamily="34" charset="-122"/>
                <a:cs typeface="Calibri" pitchFamily="34" charset="-120"/>
              </a:rPr>
              <a:t>🛡</a:t>
            </a:r>
            <a:endParaRPr lang="rw-RW" sz="2000" dirty="0"/>
          </a:p>
        </p:txBody>
      </p:sp>
      <p:sp>
        <p:nvSpPr>
          <p:cNvPr id="25" name="Text 25"/>
          <p:cNvSpPr txBox="1"/>
          <p:nvPr/>
        </p:nvSpPr>
        <p:spPr>
          <a:xfrm>
            <a:off x="6353658" y="4040000"/>
            <a:ext cx="2300000" cy="850000"/>
          </a:xfrm>
          <a:prstGeom prst="rect">
            <a:avLst/>
          </a:prstGeom>
          <a:noFill/>
          <a:ln/>
        </p:spPr>
        <p:txBody>
          <a:bodyPr wrap="square" lIns="0" tIns="0" rIns="0" bIns="0" rtlCol="0" anchor="t"/>
          <a:lstStyle/>
          <a:p>
            <a:pPr marL="0" indent="0" algn="ctr">
              <a:buNone/>
            </a:pPr>
            <a:r>
              <a:rPr lang="rw-RW" sz="1500" noProof="0" dirty="0">
                <a:solidFill>
                  <a:srgbClr val="1A1A1A"/>
                </a:solidFill>
                <a:latin typeface="Calibri" pitchFamily="34" charset="0"/>
                <a:ea typeface="Calibri" pitchFamily="34" charset="-122"/>
                <a:cs typeface="Calibri" pitchFamily="34" charset="-120"/>
              </a:rPr>
              <a:t>Ubwandu bwa virusi itera SIDA cyangwa ubwirinzi bw'umubiri buke</a:t>
            </a:r>
            <a:endParaRPr lang="rw-RW" sz="1500" dirty="0"/>
          </a:p>
        </p:txBody>
      </p:sp>
      <p:sp>
        <p:nvSpPr>
          <p:cNvPr id="26" name="Shape 26"/>
          <p:cNvSpPr/>
          <p:nvPr/>
        </p:nvSpPr>
        <p:spPr>
          <a:xfrm>
            <a:off x="9022024" y="3520000"/>
            <a:ext cx="2600000" cy="14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27" name="Text 27"/>
          <p:cNvSpPr txBox="1"/>
          <p:nvPr/>
        </p:nvSpPr>
        <p:spPr>
          <a:xfrm>
            <a:off x="9172024" y="3600000"/>
            <a:ext cx="2300000" cy="420000"/>
          </a:xfrm>
          <a:prstGeom prst="rect">
            <a:avLst/>
          </a:prstGeom>
          <a:noFill/>
          <a:ln/>
        </p:spPr>
        <p:txBody>
          <a:bodyPr wrap="square" lIns="0" tIns="0" rIns="0" bIns="0" rtlCol="0" anchor="ctr"/>
          <a:lstStyle/>
          <a:p>
            <a:pPr marL="0" indent="0" algn="ctr">
              <a:buNone/>
            </a:pPr>
            <a:r>
              <a:rPr lang="rw-RW" sz="2000" noProof="0" dirty="0">
                <a:solidFill>
                  <a:srgbClr val="000000"/>
                </a:solidFill>
                <a:latin typeface="Calibri" pitchFamily="34" charset="0"/>
                <a:ea typeface="Calibri" pitchFamily="34" charset="-122"/>
                <a:cs typeface="Calibri" pitchFamily="34" charset="-120"/>
              </a:rPr>
              <a:t>📅</a:t>
            </a:r>
            <a:endParaRPr lang="rw-RW" sz="2000" dirty="0"/>
          </a:p>
        </p:txBody>
      </p:sp>
      <p:sp>
        <p:nvSpPr>
          <p:cNvPr id="28" name="Text 28"/>
          <p:cNvSpPr txBox="1"/>
          <p:nvPr/>
        </p:nvSpPr>
        <p:spPr>
          <a:xfrm>
            <a:off x="9172024" y="4040000"/>
            <a:ext cx="2300000" cy="850000"/>
          </a:xfrm>
          <a:prstGeom prst="rect">
            <a:avLst/>
          </a:prstGeom>
          <a:noFill/>
          <a:ln/>
        </p:spPr>
        <p:txBody>
          <a:bodyPr wrap="square" lIns="0" tIns="0" rIns="0" bIns="0" rtlCol="0" anchor="t"/>
          <a:lstStyle/>
          <a:p>
            <a:pPr marL="0" indent="0" algn="ctr">
              <a:buNone/>
            </a:pPr>
            <a:r>
              <a:rPr lang="rw-RW" sz="1500" noProof="0" dirty="0">
                <a:solidFill>
                  <a:srgbClr val="1A1A1A"/>
                </a:solidFill>
                <a:latin typeface="Calibri" pitchFamily="34" charset="0"/>
                <a:ea typeface="Calibri" pitchFamily="34" charset="-122"/>
                <a:cs typeface="Calibri" pitchFamily="34" charset="-120"/>
              </a:rPr>
              <a:t>Kurenza imyaka 40, ukaba warigeze gukora imibonano mpuzabitsina</a:t>
            </a:r>
            <a:endParaRPr lang="rw-RW" sz="1500" dirty="0"/>
          </a:p>
        </p:txBody>
      </p:sp>
      <p:sp>
        <p:nvSpPr>
          <p:cNvPr id="29" name="Shape 29"/>
          <p:cNvSpPr/>
          <p:nvPr/>
        </p:nvSpPr>
        <p:spPr>
          <a:xfrm>
            <a:off x="566928" y="5220000"/>
            <a:ext cx="11055096" cy="950000"/>
          </a:xfrm>
          <a:prstGeom prst="roundRect">
            <a:avLst>
              <a:gd name="adj" fmla="val 3000"/>
            </a:avLst>
          </a:prstGeom>
          <a:solidFill>
            <a:srgbClr val="FFF2DF"/>
          </a:solidFill>
          <a:ln w="12700">
            <a:solidFill>
              <a:srgbClr val="E8DDC7"/>
            </a:solidFill>
          </a:ln>
        </p:spPr>
        <p:txBody>
          <a:bodyPr/>
          <a:lstStyle/>
          <a:p>
            <a:endParaRPr lang="rw-RW" sz="1600" dirty="0"/>
          </a:p>
        </p:txBody>
      </p:sp>
      <p:sp>
        <p:nvSpPr>
          <p:cNvPr id="30" name="Text 30"/>
          <p:cNvSpPr txBox="1"/>
          <p:nvPr/>
        </p:nvSpPr>
        <p:spPr>
          <a:xfrm>
            <a:off x="841248" y="5270000"/>
            <a:ext cx="10506456" cy="850000"/>
          </a:xfrm>
          <a:prstGeom prst="rect">
            <a:avLst/>
          </a:prstGeom>
          <a:noFill/>
          <a:ln/>
        </p:spPr>
        <p:txBody>
          <a:bodyPr wrap="square" lIns="0" tIns="0" rIns="0" bIns="0" rtlCol="0" anchor="ctr"/>
          <a:lstStyle/>
          <a:p>
            <a:pPr marL="0" indent="0" algn="l">
              <a:buNone/>
            </a:pPr>
            <a:r>
              <a:rPr lang="rw-RW" sz="1600" b="1" noProof="0" dirty="0">
                <a:solidFill>
                  <a:srgbClr val="94600B"/>
                </a:solidFill>
                <a:latin typeface="Calibri" pitchFamily="34" charset="0"/>
                <a:ea typeface="Calibri" pitchFamily="34" charset="-122"/>
                <a:cs typeface="Calibri" pitchFamily="34" charset="-120"/>
              </a:rPr>
              <a:t>⚠ Koresha ibi witonze:  </a:t>
            </a:r>
            <a:r>
              <a:rPr lang="rw-RW" sz="1600" noProof="0" dirty="0">
                <a:solidFill>
                  <a:srgbClr val="1A1A1A"/>
                </a:solidFill>
                <a:latin typeface="Calibri" pitchFamily="34" charset="0"/>
                <a:ea typeface="Calibri" pitchFamily="34" charset="-122"/>
                <a:cs typeface="Calibri" pitchFamily="34" charset="-120"/>
              </a:rPr>
              <a:t>Ibi si ibyo gushinja cyangwa gucira urubanza umugore. Abakobwa bagomba gukingirwa bakiri bato, naho abagore bageze ku myaka yo kwisuzumisha bagomba kwisuzumisha.</a:t>
            </a:r>
            <a:endParaRPr lang="rw-RW" sz="1600" dirty="0"/>
          </a:p>
        </p:txBody>
      </p:sp>
      <p:sp>
        <p:nvSpPr>
          <p:cNvPr id="31" name="Text 31"/>
          <p:cNvSpPr txBox="1"/>
          <p:nvPr/>
        </p:nvSpPr>
        <p:spPr>
          <a:xfrm>
            <a:off x="566928" y="6345936"/>
            <a:ext cx="7315200" cy="274320"/>
          </a:xfrm>
          <a:prstGeom prst="rect">
            <a:avLst/>
          </a:prstGeom>
          <a:noFill/>
          <a:ln/>
        </p:spPr>
        <p:txBody>
          <a:bodyPr wrap="square" lIns="0" tIns="0" rIns="0" bIns="0" rtlCol="0" anchor="ctr"/>
          <a:lstStyle/>
          <a:p>
            <a:pPr marL="0" indent="0" algn="l">
              <a:buNone/>
            </a:pPr>
            <a:r>
              <a:rPr lang="rw-RW" sz="900" noProof="0" dirty="0">
                <a:solidFill>
                  <a:srgbClr val="777D86"/>
                </a:solidFill>
                <a:latin typeface="Calibri" pitchFamily="34" charset="0"/>
                <a:ea typeface="Calibri" pitchFamily="34" charset="-122"/>
                <a:cs typeface="Calibri" pitchFamily="34" charset="-120"/>
              </a:rPr>
              <a:t>Kanseri y'inkondo y'umura  |  Umujyanama w'Ubuzima  |  Ikigo cy'Igihugu Gishinzwe Ubuzima</a:t>
            </a:r>
            <a:endParaRPr lang="rw-RW" sz="900" dirty="0"/>
          </a:p>
        </p:txBody>
      </p:sp>
      <p:sp>
        <p:nvSpPr>
          <p:cNvPr id="32" name="Text 32"/>
          <p:cNvSpPr txBox="1"/>
          <p:nvPr/>
        </p:nvSpPr>
        <p:spPr>
          <a:xfrm>
            <a:off x="8881841" y="6345936"/>
            <a:ext cx="2743200" cy="274320"/>
          </a:xfrm>
          <a:prstGeom prst="rect">
            <a:avLst/>
          </a:prstGeom>
          <a:noFill/>
          <a:ln/>
        </p:spPr>
        <p:txBody>
          <a:bodyPr wrap="square" lIns="0" tIns="0" rIns="0" bIns="0" rtlCol="0" anchor="ctr"/>
          <a:lstStyle/>
          <a:p>
            <a:pPr marL="0" indent="0" algn="r">
              <a:buNone/>
            </a:pPr>
            <a:r>
              <a:rPr lang="rw-RW" sz="900" noProof="0" dirty="0">
                <a:solidFill>
                  <a:srgbClr val="777D86"/>
                </a:solidFill>
                <a:latin typeface="Calibri" pitchFamily="34" charset="0"/>
                <a:ea typeface="Calibri" pitchFamily="34" charset="-122"/>
                <a:cs typeface="Calibri" pitchFamily="34" charset="-120"/>
              </a:rPr>
              <a:t>Urupapuro rwa 57</a:t>
            </a:r>
            <a:endParaRPr lang="rw-RW"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V I R U S I   I T E R A   S I D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Abagore babana na virusi itera SIDA</a:t>
            </a:r>
          </a:p>
        </p:txBody>
      </p:sp>
      <p:sp>
        <p:nvSpPr>
          <p:cNvPr id="4" name="Rounded Rectangle 3"/>
          <p:cNvSpPr/>
          <p:nvPr/>
        </p:nvSpPr>
        <p:spPr>
          <a:xfrm>
            <a:off x="566928" y="1434560"/>
            <a:ext cx="3503157" cy="428064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786384" y="1635728"/>
            <a:ext cx="3064245" cy="1650708"/>
          </a:xfrm>
          <a:prstGeom prst="rect">
            <a:avLst/>
          </a:prstGeom>
          <a:noFill/>
        </p:spPr>
        <p:txBody>
          <a:bodyPr wrap="square" lIns="0" tIns="0" rIns="0" bIns="0">
            <a:spAutoFit/>
          </a:bodyPr>
          <a:lstStyle/>
          <a:p>
            <a:pPr>
              <a:lnSpc>
                <a:spcPct val="114000"/>
              </a:lnSpc>
              <a:spcAft>
                <a:spcPts val="700"/>
              </a:spcAft>
            </a:pPr>
            <a:r>
              <a:rPr lang="en-GB" sz="1250" b="0" i="0" dirty="0">
                <a:solidFill>
                  <a:srgbClr val="1A1A1A"/>
                </a:solidFill>
                <a:latin typeface="Calibri"/>
              </a:rPr>
              <a:t>🛡  </a:t>
            </a:r>
            <a:r>
              <a:rPr lang="en-GB" sz="1300" b="1" i="0" dirty="0">
                <a:solidFill>
                  <a:srgbClr val="10305A"/>
                </a:solidFill>
                <a:latin typeface="Calibri"/>
              </a:rPr>
              <a:t>Impamvu ibyago biba byinshi</a:t>
            </a:r>
          </a:p>
          <a:p>
            <a:pPr>
              <a:lnSpc>
                <a:spcPct val="114000"/>
              </a:lnSpc>
              <a:spcAft>
                <a:spcPts val="700"/>
              </a:spcAft>
            </a:pPr>
            <a:r>
              <a:rPr lang="en-GB" sz="1300" b="0" i="0" dirty="0">
                <a:solidFill>
                  <a:srgbClr val="1A1A1A"/>
                </a:solidFill>
                <a:latin typeface="Calibri"/>
              </a:rPr>
              <a:t>Abagore babana na virusi itera SIDA bafite ibyago byinshi byo kugira ubwandu bwa HPV buguma mu mubiri kandi bushobora gutera impinduka ku nkondo y'umura.</a:t>
            </a:r>
          </a:p>
        </p:txBody>
      </p:sp>
      <p:sp>
        <p:nvSpPr>
          <p:cNvPr id="6" name="Rounded Rectangle 5"/>
          <p:cNvSpPr/>
          <p:nvPr/>
        </p:nvSpPr>
        <p:spPr>
          <a:xfrm>
            <a:off x="4344405" y="1434559"/>
            <a:ext cx="3503157" cy="428064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4454132" y="1635728"/>
            <a:ext cx="3283701" cy="2056269"/>
          </a:xfrm>
          <a:prstGeom prst="rect">
            <a:avLst/>
          </a:prstGeom>
          <a:noFill/>
        </p:spPr>
        <p:txBody>
          <a:bodyPr wrap="square" lIns="0" tIns="0" rIns="0" bIns="0">
            <a:spAutoFit/>
          </a:bodyPr>
          <a:lstStyle/>
          <a:p>
            <a:pPr>
              <a:lnSpc>
                <a:spcPct val="114000"/>
              </a:lnSpc>
              <a:spcAft>
                <a:spcPts val="700"/>
              </a:spcAft>
            </a:pPr>
            <a:r>
              <a:rPr lang="en-GB" sz="1200" b="0" i="0" dirty="0">
                <a:solidFill>
                  <a:srgbClr val="1A1A1A"/>
                </a:solidFill>
                <a:latin typeface="Calibri"/>
              </a:rPr>
              <a:t>🔎  </a:t>
            </a:r>
            <a:r>
              <a:rPr lang="en-GB" sz="1300" b="1" i="0" dirty="0">
                <a:solidFill>
                  <a:srgbClr val="10305A"/>
                </a:solidFill>
                <a:latin typeface="Calibri"/>
              </a:rPr>
              <a:t>Icyo ibi bisobanura</a:t>
            </a:r>
          </a:p>
          <a:p>
            <a:pPr>
              <a:lnSpc>
                <a:spcPct val="114000"/>
              </a:lnSpc>
              <a:spcAft>
                <a:spcPts val="700"/>
              </a:spcAft>
            </a:pPr>
            <a:r>
              <a:rPr lang="en-GB" sz="1300" b="0" i="0" dirty="0">
                <a:solidFill>
                  <a:srgbClr val="1A1A1A"/>
                </a:solidFill>
                <a:latin typeface="Calibri"/>
              </a:rPr>
              <a:t>Abagore babana na virusi itera SIDA bagomba gutangira kwisuzumisha kanseri y'inkondo y'umura bafite imyaka 25, bakisuzumisha buri myaka 5.</a:t>
            </a:r>
          </a:p>
          <a:p>
            <a:pPr>
              <a:lnSpc>
                <a:spcPct val="114000"/>
              </a:lnSpc>
              <a:spcAft>
                <a:spcPts val="700"/>
              </a:spcAft>
            </a:pPr>
            <a:r>
              <a:rPr lang="en-GB" sz="1300" b="0" i="0" dirty="0">
                <a:solidFill>
                  <a:srgbClr val="1A1A1A"/>
                </a:solidFill>
                <a:latin typeface="Calibri"/>
              </a:rPr>
              <a:t>Isuzuma ritangirana n'ikizamini cya HPV, gikurikirwa na VIA igihe bibaye ngombwa.</a:t>
            </a:r>
          </a:p>
        </p:txBody>
      </p:sp>
      <p:sp>
        <p:nvSpPr>
          <p:cNvPr id="8" name="Rounded Rectangle 7"/>
          <p:cNvSpPr/>
          <p:nvPr/>
        </p:nvSpPr>
        <p:spPr>
          <a:xfrm>
            <a:off x="8121883" y="1434560"/>
            <a:ext cx="3503157" cy="428064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252515" y="1635728"/>
            <a:ext cx="3283733" cy="2913875"/>
          </a:xfrm>
          <a:prstGeom prst="rect">
            <a:avLst/>
          </a:prstGeom>
          <a:noFill/>
        </p:spPr>
        <p:txBody>
          <a:bodyPr wrap="square" lIns="0" tIns="0" rIns="0" bIns="0">
            <a:spAutoFit/>
          </a:bodyPr>
          <a:lstStyle/>
          <a:p>
            <a:pPr>
              <a:lnSpc>
                <a:spcPct val="114000"/>
              </a:lnSpc>
              <a:spcAft>
                <a:spcPts val="700"/>
              </a:spcAft>
            </a:pPr>
            <a:r>
              <a:rPr lang="en-GB" sz="1500" b="0" i="0" dirty="0">
                <a:solidFill>
                  <a:srgbClr val="1A1A1A"/>
                </a:solidFill>
                <a:latin typeface="Calibri"/>
              </a:rPr>
              <a:t>💬  </a:t>
            </a:r>
            <a:r>
              <a:rPr lang="en-GB" sz="1550" b="1" i="0" dirty="0">
                <a:solidFill>
                  <a:srgbClr val="10305A"/>
                </a:solidFill>
                <a:latin typeface="Calibri"/>
              </a:rPr>
              <a:t>Uko wafasha abagore</a:t>
            </a:r>
          </a:p>
          <a:p>
            <a:pPr>
              <a:lnSpc>
                <a:spcPct val="114000"/>
              </a:lnSpc>
              <a:spcAft>
                <a:spcPts val="700"/>
              </a:spcAft>
            </a:pPr>
            <a:r>
              <a:rPr lang="en-GB" sz="1550" b="0" i="0" dirty="0">
                <a:solidFill>
                  <a:srgbClr val="1A1A1A"/>
                </a:solidFill>
                <a:latin typeface="Calibri"/>
              </a:rPr>
              <a:t>Sobanura ko kwisuzumisha kenshi bisabwa kubera ibyago byinshi; shishikariza abagore kwitabira isuzuma no gukurikiranwa; gira ibanga ku bijyanye no kuba umuntu afite virusi itera SIDA n'ibisubizo by'isuzuma; kandi ntuzigere ushinja umugore cyangwa ngo umuhe akato.</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58</a:t>
            </a:r>
          </a:p>
        </p:txBody>
      </p:sp>
      <p:pic>
        <p:nvPicPr>
          <p:cNvPr id="14" name="Imagen 13">
            <a:extLst>
              <a:ext uri="{FF2B5EF4-FFF2-40B4-BE49-F238E27FC236}">
                <a16:creationId xmlns:a16="http://schemas.microsoft.com/office/drawing/2014/main" id="{B9A2275F-F9C3-8B12-7854-013A9E7FB077}"/>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1050253" y="3385325"/>
            <a:ext cx="2697412" cy="1798275"/>
          </a:xfrm>
          <a:prstGeom prst="rect">
            <a:avLst/>
          </a:prstGeom>
        </p:spPr>
      </p:pic>
      <p:pic>
        <p:nvPicPr>
          <p:cNvPr id="16" name="Imagen 15">
            <a:extLst>
              <a:ext uri="{FF2B5EF4-FFF2-40B4-BE49-F238E27FC236}">
                <a16:creationId xmlns:a16="http://schemas.microsoft.com/office/drawing/2014/main" id="{63C67AEE-F041-603B-DF6D-02F4B6F59660}"/>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4553410" y="4113415"/>
            <a:ext cx="3015076" cy="1348553"/>
          </a:xfrm>
          <a:prstGeom prst="rect">
            <a:avLst/>
          </a:prstGeom>
        </p:spPr>
      </p:pic>
      <p:pic>
        <p:nvPicPr>
          <p:cNvPr id="18" name="Imagen 17">
            <a:extLst>
              <a:ext uri="{FF2B5EF4-FFF2-40B4-BE49-F238E27FC236}">
                <a16:creationId xmlns:a16="http://schemas.microsoft.com/office/drawing/2014/main" id="{F4F2684D-D716-F29A-1E2F-FC390B330854}"/>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9151746" y="4527831"/>
            <a:ext cx="1157025" cy="1140688"/>
          </a:xfrm>
          <a:prstGeom prst="rect">
            <a:avLst/>
          </a:prstGeom>
        </p:spPr>
      </p:pic>
      <p:sp>
        <p:nvSpPr>
          <p:cNvPr id="15" name="Rounded Rectangle 12">
            <a:extLst>
              <a:ext uri="{FF2B5EF4-FFF2-40B4-BE49-F238E27FC236}">
                <a16:creationId xmlns:a16="http://schemas.microsoft.com/office/drawing/2014/main" id="{468D08DF-2A65-9460-BEEC-59901B852C1E}"/>
              </a:ext>
            </a:extLst>
          </p:cNvPr>
          <p:cNvSpPr/>
          <p:nvPr/>
        </p:nvSpPr>
        <p:spPr>
          <a:xfrm>
            <a:off x="566927" y="5919608"/>
            <a:ext cx="11058113" cy="34184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sz="1600" dirty="0"/>
          </a:p>
        </p:txBody>
      </p:sp>
      <p:sp>
        <p:nvSpPr>
          <p:cNvPr id="17" name="TextBox 13">
            <a:extLst>
              <a:ext uri="{FF2B5EF4-FFF2-40B4-BE49-F238E27FC236}">
                <a16:creationId xmlns:a16="http://schemas.microsoft.com/office/drawing/2014/main" id="{0C76BAFD-BBE0-D012-350B-782B0CBE8D4A}"/>
              </a:ext>
            </a:extLst>
          </p:cNvPr>
          <p:cNvSpPr txBox="1"/>
          <p:nvPr/>
        </p:nvSpPr>
        <p:spPr>
          <a:xfrm>
            <a:off x="804669" y="5919608"/>
            <a:ext cx="10582625" cy="264431"/>
          </a:xfrm>
          <a:prstGeom prst="rect">
            <a:avLst/>
          </a:prstGeom>
          <a:noFill/>
        </p:spPr>
        <p:txBody>
          <a:bodyPr wrap="square" lIns="0" tIns="0" rIns="0" bIns="0">
            <a:spAutoFit/>
          </a:bodyPr>
          <a:lstStyle/>
          <a:p>
            <a:pPr>
              <a:lnSpc>
                <a:spcPct val="112000"/>
              </a:lnSpc>
            </a:pPr>
            <a:r>
              <a:rPr lang="en-GB" sz="1600" b="1" i="0" dirty="0">
                <a:solidFill>
                  <a:srgbClr val="1C6B3F"/>
                </a:solidFill>
                <a:latin typeface="Calibri"/>
              </a:rPr>
              <a:t>💬 </a:t>
            </a:r>
            <a:r>
              <a:rPr lang="en-GB" sz="1600" i="0" dirty="0">
                <a:solidFill>
                  <a:schemeClr val="accent1">
                    <a:lumMod val="50000"/>
                  </a:schemeClr>
                </a:solidFill>
                <a:latin typeface="Calibri"/>
              </a:rPr>
              <a:t>Abagore babana na virusi itera SIDA bakeneye kwisuzumisha kanseri y'inkondo y'umura kare kandi kenshi: gutangira ku myaka 25 no gusubiramo buri myaka 5</a:t>
            </a:r>
            <a:endParaRPr lang="en-GB" sz="1600" b="0" i="0" dirty="0">
              <a:solidFill>
                <a:srgbClr val="1A1A1A"/>
              </a:solidFill>
              <a:latin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K W I S U Z U M I S H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Kwisuzumisha icyo ari cyo</a:t>
            </a:r>
          </a:p>
        </p:txBody>
      </p:sp>
      <p:sp>
        <p:nvSpPr>
          <p:cNvPr id="4" name="Rounded Rectangle 3"/>
          <p:cNvSpPr/>
          <p:nvPr/>
        </p:nvSpPr>
        <p:spPr>
          <a:xfrm>
            <a:off x="566928" y="1308290"/>
            <a:ext cx="3503157" cy="414576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786384" y="1509458"/>
            <a:ext cx="3064245" cy="1966500"/>
          </a:xfrm>
          <a:prstGeom prst="rect">
            <a:avLst/>
          </a:prstGeom>
          <a:noFill/>
        </p:spPr>
        <p:txBody>
          <a:bodyPr wrap="square" lIns="0" tIns="0" rIns="0" bIns="0">
            <a:spAutoFit/>
          </a:bodyPr>
          <a:lstStyle/>
          <a:p>
            <a:pPr>
              <a:lnSpc>
                <a:spcPct val="114000"/>
              </a:lnSpc>
              <a:spcAft>
                <a:spcPts val="700"/>
              </a:spcAft>
            </a:pPr>
            <a:r>
              <a:rPr lang="en-GB" sz="1100" b="0" i="0" dirty="0">
                <a:solidFill>
                  <a:srgbClr val="1A1A1A"/>
                </a:solidFill>
                <a:latin typeface="Calibri"/>
              </a:rPr>
              <a:t>🔎  </a:t>
            </a:r>
            <a:r>
              <a:rPr lang="en-GB" sz="1200" b="1" i="0" dirty="0">
                <a:solidFill>
                  <a:srgbClr val="10305A"/>
                </a:solidFill>
                <a:latin typeface="Calibri"/>
              </a:rPr>
              <a:t>Isuzuma ry'abagore badafite ibimenyetso</a:t>
            </a:r>
          </a:p>
          <a:p>
            <a:pPr>
              <a:lnSpc>
                <a:spcPct val="114000"/>
              </a:lnSpc>
              <a:spcAft>
                <a:spcPts val="700"/>
              </a:spcAft>
            </a:pPr>
            <a:r>
              <a:rPr lang="en-GB" sz="1200" b="0" i="0" dirty="0">
                <a:solidFill>
                  <a:srgbClr val="1A1A1A"/>
                </a:solidFill>
                <a:latin typeface="Calibri"/>
              </a:rPr>
              <a:t>Kwisuzumisha ni isuzuma rigenewe abagore bumva bameze neza kandi badafite ibimenyetso, kugira ngo impinduka ku nkondo y'umura zimenyekane hakiri kare.</a:t>
            </a:r>
          </a:p>
        </p:txBody>
      </p:sp>
      <p:sp>
        <p:nvSpPr>
          <p:cNvPr id="6" name="Rounded Rectangle 5"/>
          <p:cNvSpPr/>
          <p:nvPr/>
        </p:nvSpPr>
        <p:spPr>
          <a:xfrm>
            <a:off x="4344405" y="1308289"/>
            <a:ext cx="3503157" cy="409192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4563861" y="1509458"/>
            <a:ext cx="3064245" cy="1966500"/>
          </a:xfrm>
          <a:prstGeom prst="rect">
            <a:avLst/>
          </a:prstGeom>
          <a:noFill/>
        </p:spPr>
        <p:txBody>
          <a:bodyPr wrap="square" lIns="0" tIns="0" rIns="0" bIns="0">
            <a:spAutoFit/>
          </a:bodyPr>
          <a:lstStyle/>
          <a:p>
            <a:pPr>
              <a:lnSpc>
                <a:spcPct val="114000"/>
              </a:lnSpc>
              <a:spcAft>
                <a:spcPts val="700"/>
              </a:spcAft>
            </a:pPr>
            <a:r>
              <a:rPr lang="en-GB" sz="1350" b="0" i="0" dirty="0">
                <a:solidFill>
                  <a:srgbClr val="1A1A1A"/>
                </a:solidFill>
                <a:latin typeface="Calibri"/>
              </a:rPr>
              <a:t>⏱  </a:t>
            </a:r>
            <a:r>
              <a:rPr lang="en-GB" sz="1450" b="1" i="0" dirty="0">
                <a:solidFill>
                  <a:srgbClr val="10305A"/>
                </a:solidFill>
                <a:latin typeface="Calibri"/>
              </a:rPr>
              <a:t>Bigaragaza impinduka hakiri kare</a:t>
            </a:r>
          </a:p>
          <a:p>
            <a:pPr>
              <a:lnSpc>
                <a:spcPct val="114000"/>
              </a:lnSpc>
              <a:spcAft>
                <a:spcPts val="700"/>
              </a:spcAft>
            </a:pPr>
            <a:r>
              <a:rPr lang="en-GB" sz="1450" b="0" i="0" dirty="0">
                <a:solidFill>
                  <a:srgbClr val="1A1A1A"/>
                </a:solidFill>
                <a:latin typeface="Calibri"/>
              </a:rPr>
              <a:t>Mu Rwanda, isuzuma ry'inkondo y'umura ritangirana n'ikizamini cya HPV. Icyitegererezo gishobora gufatwa n'umukozi w'ubuzima cyangwa, aho bishoboka, n'umugore ubwe.</a:t>
            </a:r>
          </a:p>
        </p:txBody>
      </p:sp>
      <p:sp>
        <p:nvSpPr>
          <p:cNvPr id="8" name="Rounded Rectangle 7"/>
          <p:cNvSpPr/>
          <p:nvPr/>
        </p:nvSpPr>
        <p:spPr>
          <a:xfrm>
            <a:off x="8121883" y="1308289"/>
            <a:ext cx="3503157" cy="409192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341339" y="1509458"/>
            <a:ext cx="3064245" cy="2282291"/>
          </a:xfrm>
          <a:prstGeom prst="rect">
            <a:avLst/>
          </a:prstGeom>
          <a:noFill/>
        </p:spPr>
        <p:txBody>
          <a:bodyPr wrap="square" lIns="0" tIns="0" rIns="0" bIns="0">
            <a:spAutoFit/>
          </a:bodyPr>
          <a:lstStyle/>
          <a:p>
            <a:pPr>
              <a:lnSpc>
                <a:spcPct val="114000"/>
              </a:lnSpc>
              <a:spcAft>
                <a:spcPts val="700"/>
              </a:spcAft>
            </a:pPr>
            <a:r>
              <a:rPr lang="en-GB" sz="1400" b="0" i="0" dirty="0">
                <a:solidFill>
                  <a:srgbClr val="1A1A1A"/>
                </a:solidFill>
                <a:latin typeface="Calibri"/>
              </a:rPr>
              <a:t>✅  </a:t>
            </a:r>
            <a:r>
              <a:rPr lang="en-GB" sz="1500" b="1" i="0" dirty="0">
                <a:solidFill>
                  <a:srgbClr val="10305A"/>
                </a:solidFill>
                <a:latin typeface="Calibri"/>
              </a:rPr>
              <a:t>Bituma hafatwa ingamba</a:t>
            </a:r>
          </a:p>
          <a:p>
            <a:pPr>
              <a:lnSpc>
                <a:spcPct val="114000"/>
              </a:lnSpc>
              <a:spcAft>
                <a:spcPts val="700"/>
              </a:spcAft>
            </a:pPr>
            <a:r>
              <a:rPr lang="en-GB" sz="1500" b="0" i="0" dirty="0">
                <a:solidFill>
                  <a:srgbClr val="1A1A1A"/>
                </a:solidFill>
                <a:latin typeface="Calibri"/>
              </a:rPr>
              <a:t>Iyo ikizamini cya HPV kigaragaje ubwandu, umugore ashobora gukenera irindi suzuma, nka VIA. Impinduka zikeneye kuvurwa akenshi zishobora kuvurwa mbere y'uko ziba kanseri.</a:t>
            </a:r>
          </a:p>
        </p:txBody>
      </p:sp>
      <p:sp>
        <p:nvSpPr>
          <p:cNvPr id="10" name="Rounded Rectangle 9"/>
          <p:cNvSpPr/>
          <p:nvPr/>
        </p:nvSpPr>
        <p:spPr>
          <a:xfrm>
            <a:off x="566926" y="5549710"/>
            <a:ext cx="11058113" cy="700568"/>
          </a:xfrm>
          <a:prstGeom prst="roundRect">
            <a:avLst>
              <a:gd name="adj" fmla="val 4500"/>
            </a:avLst>
          </a:prstGeom>
          <a:solidFill>
            <a:srgbClr val="FFF2DF"/>
          </a:solidFill>
          <a:ln w="12700">
            <a:solidFill>
              <a:srgbClr val="F3D9AE"/>
            </a:solidFill>
          </a:ln>
          <a:effectLst/>
        </p:spPr>
        <p:txBody>
          <a:bodyPr wrap="square" rtlCol="0" anchor="ctr"/>
          <a:lstStyle/>
          <a:p>
            <a:pPr algn="ctr"/>
            <a:endParaRPr lang="en-GB" dirty="0"/>
          </a:p>
        </p:txBody>
      </p:sp>
      <p:sp>
        <p:nvSpPr>
          <p:cNvPr id="11" name="TextBox 10"/>
          <p:cNvSpPr txBox="1"/>
          <p:nvPr/>
        </p:nvSpPr>
        <p:spPr>
          <a:xfrm>
            <a:off x="736565" y="5595430"/>
            <a:ext cx="10582625" cy="603820"/>
          </a:xfrm>
          <a:prstGeom prst="rect">
            <a:avLst/>
          </a:prstGeom>
          <a:noFill/>
        </p:spPr>
        <p:txBody>
          <a:bodyPr wrap="square" lIns="0" tIns="0" rIns="0" bIns="0">
            <a:spAutoFit/>
          </a:bodyPr>
          <a:lstStyle/>
          <a:p>
            <a:pPr>
              <a:lnSpc>
                <a:spcPct val="112000"/>
              </a:lnSpc>
            </a:pPr>
            <a:r>
              <a:rPr lang="en-GB" sz="1450" b="1" i="0" dirty="0">
                <a:solidFill>
                  <a:srgbClr val="94600B"/>
                </a:solidFill>
                <a:latin typeface="Calibri"/>
              </a:rPr>
              <a:t>⚠ Ni nde ukwiye kwisuzumisha mu Rwanda? </a:t>
            </a:r>
            <a:r>
              <a:rPr lang="en-GB" sz="1450" dirty="0">
                <a:solidFill>
                  <a:schemeClr val="accent1">
                    <a:lumMod val="50000"/>
                  </a:schemeClr>
                </a:solidFill>
                <a:latin typeface="Calibri"/>
              </a:rPr>
              <a:t>A</a:t>
            </a:r>
            <a:r>
              <a:rPr lang="en-GB" sz="1450" i="0" dirty="0">
                <a:solidFill>
                  <a:schemeClr val="accent1">
                    <a:lumMod val="50000"/>
                  </a:schemeClr>
                </a:solidFill>
                <a:latin typeface="Calibri"/>
              </a:rPr>
              <a:t>bagore bafite imyaka 30 kuzamura, bakisuzumisha buri myaka 10, n'abagore babana na virusi itera SIDA bafite imyaka 25 kuzamura, bakisuzumisha buri myaka 5.</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59</a:t>
            </a:r>
          </a:p>
        </p:txBody>
      </p:sp>
      <p:pic>
        <p:nvPicPr>
          <p:cNvPr id="14" name="Imagen 13">
            <a:extLst>
              <a:ext uri="{FF2B5EF4-FFF2-40B4-BE49-F238E27FC236}">
                <a16:creationId xmlns:a16="http://schemas.microsoft.com/office/drawing/2014/main" id="{6AB69DDB-8E7C-95C2-FD1A-B5D9F997A070}"/>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920343" y="3690682"/>
            <a:ext cx="2359420" cy="1572947"/>
          </a:xfrm>
          <a:prstGeom prst="rect">
            <a:avLst/>
          </a:prstGeom>
        </p:spPr>
      </p:pic>
      <p:pic>
        <p:nvPicPr>
          <p:cNvPr id="15" name="Imagen 14">
            <a:extLst>
              <a:ext uri="{FF2B5EF4-FFF2-40B4-BE49-F238E27FC236}">
                <a16:creationId xmlns:a16="http://schemas.microsoft.com/office/drawing/2014/main" id="{79D72F30-39AF-D980-DFD3-4D475F1981A2}"/>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8341338" y="3609758"/>
            <a:ext cx="3017520" cy="2011680"/>
          </a:xfrm>
          <a:prstGeom prst="rect">
            <a:avLst/>
          </a:prstGeom>
        </p:spPr>
      </p:pic>
      <p:pic>
        <p:nvPicPr>
          <p:cNvPr id="16" name="Imagen 15">
            <a:extLst>
              <a:ext uri="{FF2B5EF4-FFF2-40B4-BE49-F238E27FC236}">
                <a16:creationId xmlns:a16="http://schemas.microsoft.com/office/drawing/2014/main" id="{E822228A-B681-6CC0-5362-D3595414C022}"/>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045028" y="3625458"/>
            <a:ext cx="2457258" cy="1638171"/>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K W I S U Z U M I S H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Impamvu wakwisuzumisha n'iyo wumva umeze neza</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Ibi ni ibisubizo bikunze guhindura imyumvire y'umugore.</a:t>
            </a:r>
          </a:p>
        </p:txBody>
      </p:sp>
      <p:sp>
        <p:nvSpPr>
          <p:cNvPr id="5" name="Rounded Rectangle 4"/>
          <p:cNvSpPr/>
          <p:nvPr/>
        </p:nvSpPr>
        <p:spPr>
          <a:xfrm>
            <a:off x="566928" y="2029968"/>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22199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121408"/>
            <a:ext cx="9960833" cy="60350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Impinduka za mbere ntizitera ububabare, ntizitera kuva amaraso cyangwa ibisohoka mu gitsina. Kumva umeze neza nta cyo byemeza.</a:t>
            </a:r>
          </a:p>
        </p:txBody>
      </p:sp>
      <p:sp>
        <p:nvSpPr>
          <p:cNvPr id="8" name="Rounded Rectangle 7"/>
          <p:cNvSpPr/>
          <p:nvPr/>
        </p:nvSpPr>
        <p:spPr>
          <a:xfrm>
            <a:off x="566928" y="2907792"/>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09981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2999232"/>
            <a:ext cx="9960833" cy="60350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Iyo ibimenyetso bigaragaye, akenshi indwara iba yaramaze gutera imbere kandi kuyivura bikagorana.</a:t>
            </a:r>
          </a:p>
        </p:txBody>
      </p:sp>
      <p:sp>
        <p:nvSpPr>
          <p:cNvPr id="11" name="Rounded Rectangle 10"/>
          <p:cNvSpPr/>
          <p:nvPr/>
        </p:nvSpPr>
        <p:spPr>
          <a:xfrm>
            <a:off x="566928" y="3785616"/>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3977640"/>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3877056"/>
            <a:ext cx="9960833" cy="60350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Abagore benshi bitabira isuzuma babwirwa ko nta cyabonetse, bagataha batuje.</a:t>
            </a:r>
          </a:p>
        </p:txBody>
      </p:sp>
      <p:sp>
        <p:nvSpPr>
          <p:cNvPr id="14" name="Rounded Rectangle 13"/>
          <p:cNvSpPr/>
          <p:nvPr/>
        </p:nvSpPr>
        <p:spPr>
          <a:xfrm>
            <a:off x="566928" y="4663440"/>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Oval 14"/>
          <p:cNvSpPr/>
          <p:nvPr/>
        </p:nvSpPr>
        <p:spPr>
          <a:xfrm>
            <a:off x="804672" y="4855464"/>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6" name="TextBox 15"/>
          <p:cNvSpPr txBox="1"/>
          <p:nvPr/>
        </p:nvSpPr>
        <p:spPr>
          <a:xfrm>
            <a:off x="1389888" y="4754879"/>
            <a:ext cx="9960833" cy="60350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Iyo hari ikibonetse, akenshi ni impinduka ivurwa mu gihe gito, umuntu agiye kwa muganga rimwe.</a:t>
            </a:r>
          </a:p>
        </p:txBody>
      </p:sp>
      <p:sp>
        <p:nvSpPr>
          <p:cNvPr id="17" name="TextBox 1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8" name="TextBox 1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60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566928"/>
            <a:ext cx="10771632" cy="365760"/>
          </a:xfrm>
          <a:prstGeom prst="rect">
            <a:avLst/>
          </a:prstGeom>
          <a:noFill/>
          <a:ln/>
        </p:spPr>
        <p:txBody>
          <a:bodyPr wrap="square" lIns="508" tIns="508" rIns="508" bIns="508" rtlCol="0" anchor="t">
            <a:noAutofit/>
          </a:bodyPr>
          <a:lstStyle/>
          <a:p>
            <a:pPr marL="0" indent="0" algn="l">
              <a:buNone/>
            </a:pPr>
            <a:r>
              <a:rPr lang="en-US" sz="2350" b="1" dirty="0">
                <a:solidFill>
                  <a:srgbClr val="0B2F5B"/>
                </a:solidFill>
                <a:latin typeface="Cambria" panose="02040503050406030204" pitchFamily="18" charset="0"/>
                <a:ea typeface="Georgia" pitchFamily="34" charset="-122"/>
                <a:cs typeface="Georgia" pitchFamily="34" charset="-120"/>
              </a:rPr>
              <a:t>Kwisuzumisha mu Rwanda: ibyo abajyanama b'ubuzima bagomba gusobanura</a:t>
            </a:r>
            <a:endParaRPr lang="en-US" sz="2350" dirty="0">
              <a:latin typeface="Cambria" panose="02040503050406030204" pitchFamily="18" charset="0"/>
            </a:endParaRPr>
          </a:p>
        </p:txBody>
      </p:sp>
      <p:sp>
        <p:nvSpPr>
          <p:cNvPr id="4" name="Text 2"/>
          <p:cNvSpPr/>
          <p:nvPr/>
        </p:nvSpPr>
        <p:spPr>
          <a:xfrm>
            <a:off x="548640" y="1042416"/>
            <a:ext cx="9966960" cy="292608"/>
          </a:xfrm>
          <a:prstGeom prst="rect">
            <a:avLst/>
          </a:prstGeom>
          <a:noFill/>
          <a:ln/>
        </p:spPr>
        <p:txBody>
          <a:bodyPr wrap="square" lIns="508" tIns="508" rIns="508" bIns="508" rtlCol="0" anchor="t">
            <a:normAutofit/>
          </a:bodyPr>
          <a:lstStyle/>
          <a:p>
            <a:pPr marL="0" indent="0" algn="l">
              <a:buNone/>
            </a:pPr>
            <a:r>
              <a:rPr lang="en-US" sz="1600" dirty="0">
                <a:solidFill>
                  <a:schemeClr val="accent1">
                    <a:lumMod val="50000"/>
                  </a:schemeClr>
                </a:solidFill>
                <a:latin typeface="Calibri" panose="020F0502020204030204" pitchFamily="34" charset="0"/>
                <a:ea typeface="Aptos" pitchFamily="34" charset="-122"/>
                <a:cs typeface="Calibri" panose="020F0502020204030204" pitchFamily="34" charset="0"/>
              </a:rPr>
              <a:t>Ibanda ku batumirwa, ikizamini cya HPV DNA, aho abagore bajya, n'ibibera kwa muganga.</a:t>
            </a:r>
            <a:endParaRPr lang="en-US" sz="1600" dirty="0">
              <a:solidFill>
                <a:schemeClr val="accent1">
                  <a:lumMod val="50000"/>
                </a:schemeClr>
              </a:solidFill>
              <a:latin typeface="Calibri" panose="020F0502020204030204" pitchFamily="34" charset="0"/>
              <a:cs typeface="Calibri" panose="020F0502020204030204" pitchFamily="34" charset="0"/>
            </a:endParaRPr>
          </a:p>
        </p:txBody>
      </p:sp>
      <p:sp>
        <p:nvSpPr>
          <p:cNvPr id="5" name="Shape 3"/>
          <p:cNvSpPr/>
          <p:nvPr/>
        </p:nvSpPr>
        <p:spPr>
          <a:xfrm>
            <a:off x="502920" y="1508760"/>
            <a:ext cx="3429000" cy="1298448"/>
          </a:xfrm>
          <a:prstGeom prst="roundRect">
            <a:avLst>
              <a:gd name="adj" fmla="val 5634"/>
            </a:avLst>
          </a:prstGeom>
          <a:solidFill>
            <a:srgbClr val="EEF4FA"/>
          </a:solidFill>
          <a:ln w="12700">
            <a:solidFill>
              <a:srgbClr val="D4DEE8"/>
            </a:solidFill>
            <a:prstDash val="solid"/>
          </a:ln>
        </p:spPr>
        <p:txBody>
          <a:bodyPr/>
          <a:lstStyle/>
          <a:p>
            <a:endParaRPr lang="es-CO">
              <a:latin typeface="Calibri" panose="020F0502020204030204" pitchFamily="34" charset="0"/>
              <a:cs typeface="Calibri" panose="020F0502020204030204" pitchFamily="34" charset="0"/>
            </a:endParaRPr>
          </a:p>
        </p:txBody>
      </p:sp>
      <p:sp>
        <p:nvSpPr>
          <p:cNvPr id="6" name="Text 4"/>
          <p:cNvSpPr/>
          <p:nvPr/>
        </p:nvSpPr>
        <p:spPr>
          <a:xfrm>
            <a:off x="749808" y="1645920"/>
            <a:ext cx="2651760" cy="256032"/>
          </a:xfrm>
          <a:prstGeom prst="rect">
            <a:avLst/>
          </a:prstGeom>
          <a:noFill/>
          <a:ln/>
        </p:spPr>
        <p:txBody>
          <a:bodyPr wrap="square" lIns="508" tIns="508" rIns="508" bIns="508" rtlCol="0" anchor="t">
            <a:normAutofit/>
          </a:bodyPr>
          <a:lstStyle/>
          <a:p>
            <a:pPr marL="0" indent="0" algn="l">
              <a:buNone/>
            </a:pPr>
            <a:r>
              <a:rPr lang="en-US" sz="1600" b="1" dirty="0">
                <a:solidFill>
                  <a:srgbClr val="0B2F5B"/>
                </a:solidFill>
                <a:latin typeface="Calibri" panose="020F0502020204030204" pitchFamily="34" charset="0"/>
                <a:ea typeface="Aptos" pitchFamily="34" charset="-122"/>
                <a:cs typeface="Calibri" panose="020F0502020204030204" pitchFamily="34" charset="0"/>
              </a:rPr>
              <a:t>1  Abatumirwa</a:t>
            </a:r>
            <a:endParaRPr lang="en-US" sz="1600" dirty="0">
              <a:latin typeface="Calibri" panose="020F0502020204030204" pitchFamily="34" charset="0"/>
              <a:cs typeface="Calibri" panose="020F0502020204030204" pitchFamily="34" charset="0"/>
            </a:endParaRPr>
          </a:p>
        </p:txBody>
      </p:sp>
      <p:sp>
        <p:nvSpPr>
          <p:cNvPr id="7" name="Text 5"/>
          <p:cNvSpPr/>
          <p:nvPr/>
        </p:nvSpPr>
        <p:spPr>
          <a:xfrm>
            <a:off x="749808" y="1993392"/>
            <a:ext cx="2743200" cy="493776"/>
          </a:xfrm>
          <a:prstGeom prst="rect">
            <a:avLst/>
          </a:prstGeom>
          <a:noFill/>
          <a:ln/>
        </p:spPr>
        <p:txBody>
          <a:bodyPr wrap="square" lIns="508" tIns="508" rIns="508" bIns="508" rtlCol="0" anchor="t">
            <a:normAutofit/>
          </a:bodyPr>
          <a:lstStyle/>
          <a:p>
            <a:pPr marL="0" indent="0" algn="l">
              <a:buNone/>
            </a:pPr>
            <a:r>
              <a:rPr lang="en-US" sz="800" b="1" dirty="0">
                <a:solidFill>
                  <a:schemeClr val="accent1">
                    <a:lumMod val="50000"/>
                  </a:schemeClr>
                </a:solidFill>
                <a:latin typeface="Calibri" panose="020F0502020204030204" pitchFamily="34" charset="0"/>
                <a:ea typeface="Aptos" pitchFamily="34" charset="-122"/>
                <a:cs typeface="Calibri" panose="020F0502020204030204" pitchFamily="34" charset="0"/>
              </a:rPr>
              <a:t>Abagore benshi: </a:t>
            </a:r>
            <a:r>
              <a:rPr lang="en-US" sz="800" dirty="0">
                <a:solidFill>
                  <a:schemeClr val="accent1">
                    <a:lumMod val="50000"/>
                  </a:schemeClr>
                </a:solidFill>
                <a:latin typeface="Calibri" panose="020F0502020204030204" pitchFamily="34" charset="0"/>
                <a:ea typeface="Aptos" pitchFamily="34" charset="-122"/>
                <a:cs typeface="Calibri" panose="020F0502020204030204" pitchFamily="34" charset="0"/>
              </a:rPr>
              <a:t>bafite imyaka 30 kugeza 49</a:t>
            </a:r>
            <a:endParaRPr lang="en-US" sz="800" dirty="0">
              <a:solidFill>
                <a:schemeClr val="accent1">
                  <a:lumMod val="50000"/>
                </a:schemeClr>
              </a:solidFill>
              <a:latin typeface="Calibri" panose="020F0502020204030204" pitchFamily="34" charset="0"/>
              <a:cs typeface="Calibri" panose="020F0502020204030204" pitchFamily="34" charset="0"/>
            </a:endParaRPr>
          </a:p>
          <a:p>
            <a:pPr marL="0" indent="0" algn="l">
              <a:buNone/>
            </a:pPr>
            <a:r>
              <a:rPr lang="en-US" sz="800" b="1" dirty="0">
                <a:solidFill>
                  <a:schemeClr val="accent1">
                    <a:lumMod val="50000"/>
                  </a:schemeClr>
                </a:solidFill>
                <a:latin typeface="Calibri" panose="020F0502020204030204" pitchFamily="34" charset="0"/>
                <a:ea typeface="Aptos" pitchFamily="34" charset="-122"/>
                <a:cs typeface="Calibri" panose="020F0502020204030204" pitchFamily="34" charset="0"/>
              </a:rPr>
              <a:t>Abagore babana na virusi itera SIDA: </a:t>
            </a:r>
            <a:r>
              <a:rPr lang="en-US" sz="800" dirty="0">
                <a:solidFill>
                  <a:schemeClr val="accent1">
                    <a:lumMod val="50000"/>
                  </a:schemeClr>
                </a:solidFill>
                <a:latin typeface="Calibri" panose="020F0502020204030204" pitchFamily="34" charset="0"/>
                <a:ea typeface="Aptos" pitchFamily="34" charset="-122"/>
                <a:cs typeface="Calibri" panose="020F0502020204030204" pitchFamily="34" charset="0"/>
              </a:rPr>
              <a:t>bafite imyaka 25 kugeza 49</a:t>
            </a:r>
            <a:endParaRPr lang="en-US" sz="800" dirty="0">
              <a:solidFill>
                <a:schemeClr val="accent1">
                  <a:lumMod val="50000"/>
                </a:schemeClr>
              </a:solidFill>
              <a:latin typeface="Calibri" panose="020F0502020204030204" pitchFamily="34" charset="0"/>
              <a:cs typeface="Calibri" panose="020F0502020204030204" pitchFamily="34" charset="0"/>
            </a:endParaRPr>
          </a:p>
          <a:p>
            <a:pPr marL="0" indent="0" algn="l">
              <a:buNone/>
            </a:pPr>
            <a:r>
              <a:rPr lang="en-US" sz="800" b="1" dirty="0">
                <a:solidFill>
                  <a:schemeClr val="accent1">
                    <a:lumMod val="50000"/>
                  </a:schemeClr>
                </a:solidFill>
                <a:latin typeface="Calibri" panose="020F0502020204030204" pitchFamily="34" charset="0"/>
                <a:ea typeface="Aptos" pitchFamily="34" charset="-122"/>
                <a:cs typeface="Calibri" panose="020F0502020204030204" pitchFamily="34" charset="0"/>
              </a:rPr>
              <a:t>Abagore batarigeze bisuzumisha: </a:t>
            </a:r>
            <a:r>
              <a:rPr lang="en-US" sz="800" dirty="0">
                <a:solidFill>
                  <a:schemeClr val="accent1">
                    <a:lumMod val="50000"/>
                  </a:schemeClr>
                </a:solidFill>
                <a:latin typeface="Calibri" panose="020F0502020204030204" pitchFamily="34" charset="0"/>
                <a:ea typeface="Aptos" pitchFamily="34" charset="-122"/>
                <a:cs typeface="Calibri" panose="020F0502020204030204" pitchFamily="34" charset="0"/>
              </a:rPr>
              <a:t>bafite imyaka 50 kugeza 65</a:t>
            </a:r>
            <a:endParaRPr lang="en-US" sz="800" dirty="0">
              <a:solidFill>
                <a:schemeClr val="accent1">
                  <a:lumMod val="50000"/>
                </a:schemeClr>
              </a:solidFill>
              <a:latin typeface="Calibri" panose="020F0502020204030204" pitchFamily="34" charset="0"/>
              <a:cs typeface="Calibri" panose="020F0502020204030204" pitchFamily="34" charset="0"/>
            </a:endParaRPr>
          </a:p>
        </p:txBody>
      </p:sp>
      <p:sp>
        <p:nvSpPr>
          <p:cNvPr id="8" name="Shape 6"/>
          <p:cNvSpPr/>
          <p:nvPr/>
        </p:nvSpPr>
        <p:spPr>
          <a:xfrm>
            <a:off x="4370832" y="1508760"/>
            <a:ext cx="3429000" cy="1298448"/>
          </a:xfrm>
          <a:prstGeom prst="roundRect">
            <a:avLst>
              <a:gd name="adj" fmla="val 5634"/>
            </a:avLst>
          </a:prstGeom>
          <a:solidFill>
            <a:srgbClr val="EEF4FA"/>
          </a:solidFill>
          <a:ln w="12700">
            <a:solidFill>
              <a:srgbClr val="D4DEE8"/>
            </a:solidFill>
            <a:prstDash val="solid"/>
          </a:ln>
        </p:spPr>
        <p:txBody>
          <a:bodyPr/>
          <a:lstStyle/>
          <a:p>
            <a:endParaRPr lang="es-CO">
              <a:latin typeface="Calibri" panose="020F0502020204030204" pitchFamily="34" charset="0"/>
              <a:cs typeface="Calibri" panose="020F0502020204030204" pitchFamily="34" charset="0"/>
            </a:endParaRPr>
          </a:p>
        </p:txBody>
      </p:sp>
      <p:sp>
        <p:nvSpPr>
          <p:cNvPr id="9" name="Text 7"/>
          <p:cNvSpPr/>
          <p:nvPr/>
        </p:nvSpPr>
        <p:spPr>
          <a:xfrm>
            <a:off x="4617720" y="1645920"/>
            <a:ext cx="2651760" cy="256032"/>
          </a:xfrm>
          <a:prstGeom prst="rect">
            <a:avLst/>
          </a:prstGeom>
          <a:noFill/>
          <a:ln/>
        </p:spPr>
        <p:txBody>
          <a:bodyPr wrap="square" lIns="508" tIns="508" rIns="508" bIns="508" rtlCol="0" anchor="t">
            <a:normAutofit/>
          </a:bodyPr>
          <a:lstStyle/>
          <a:p>
            <a:pPr marL="0" indent="0" algn="l">
              <a:buNone/>
            </a:pPr>
            <a:r>
              <a:rPr lang="en-US" sz="1600" b="1" dirty="0">
                <a:solidFill>
                  <a:srgbClr val="0B2F5B"/>
                </a:solidFill>
                <a:latin typeface="Calibri" panose="020F0502020204030204" pitchFamily="34" charset="0"/>
                <a:ea typeface="Aptos" pitchFamily="34" charset="-122"/>
                <a:cs typeface="Calibri" panose="020F0502020204030204" pitchFamily="34" charset="0"/>
              </a:rPr>
              <a:t>2  Aho bajya</a:t>
            </a:r>
            <a:endParaRPr lang="en-US" sz="1600" dirty="0">
              <a:latin typeface="Calibri" panose="020F0502020204030204" pitchFamily="34" charset="0"/>
              <a:cs typeface="Calibri" panose="020F0502020204030204" pitchFamily="34" charset="0"/>
            </a:endParaRPr>
          </a:p>
        </p:txBody>
      </p:sp>
      <p:sp>
        <p:nvSpPr>
          <p:cNvPr id="10" name="Text 8"/>
          <p:cNvSpPr/>
          <p:nvPr/>
        </p:nvSpPr>
        <p:spPr>
          <a:xfrm>
            <a:off x="4617720" y="1993392"/>
            <a:ext cx="2743200" cy="502920"/>
          </a:xfrm>
          <a:prstGeom prst="rect">
            <a:avLst/>
          </a:prstGeom>
          <a:noFill/>
          <a:ln/>
        </p:spPr>
        <p:txBody>
          <a:bodyPr wrap="square" lIns="508" tIns="508" rIns="508" bIns="508" rtlCol="0" anchor="t">
            <a:noAutofit/>
          </a:bodyPr>
          <a:lstStyle/>
          <a:p>
            <a:pPr marL="0" indent="0" algn="l">
              <a:buNone/>
            </a:pPr>
            <a:r>
              <a:rPr lang="en-US" sz="1000" dirty="0">
                <a:solidFill>
                  <a:schemeClr val="accent1">
                    <a:lumMod val="50000"/>
                  </a:schemeClr>
                </a:solidFill>
                <a:latin typeface="Calibri" panose="020F0502020204030204" pitchFamily="34" charset="0"/>
                <a:ea typeface="Aptos" pitchFamily="34" charset="-122"/>
                <a:cs typeface="Calibri" panose="020F0502020204030204" pitchFamily="34" charset="0"/>
              </a:rPr>
              <a:t>Ikigo nderabuzima cyangwa irindi vuriro ritanga isuzuma rya kanseri y'inkondo y'umura mu gace atuyemo.</a:t>
            </a:r>
            <a:endParaRPr lang="en-US" sz="1000" dirty="0">
              <a:solidFill>
                <a:schemeClr val="accent1">
                  <a:lumMod val="50000"/>
                </a:schemeClr>
              </a:solidFill>
              <a:latin typeface="Calibri" panose="020F0502020204030204" pitchFamily="34" charset="0"/>
              <a:cs typeface="Calibri" panose="020F0502020204030204" pitchFamily="34" charset="0"/>
            </a:endParaRPr>
          </a:p>
        </p:txBody>
      </p:sp>
      <p:sp>
        <p:nvSpPr>
          <p:cNvPr id="11" name="Shape 9"/>
          <p:cNvSpPr/>
          <p:nvPr/>
        </p:nvSpPr>
        <p:spPr>
          <a:xfrm>
            <a:off x="8238744" y="1508760"/>
            <a:ext cx="3429000" cy="1298448"/>
          </a:xfrm>
          <a:prstGeom prst="roundRect">
            <a:avLst>
              <a:gd name="adj" fmla="val 5634"/>
            </a:avLst>
          </a:prstGeom>
          <a:solidFill>
            <a:srgbClr val="EEF4FA"/>
          </a:solidFill>
          <a:ln w="12700">
            <a:solidFill>
              <a:srgbClr val="D4DEE8"/>
            </a:solidFill>
            <a:prstDash val="solid"/>
          </a:ln>
        </p:spPr>
        <p:txBody>
          <a:bodyPr/>
          <a:lstStyle/>
          <a:p>
            <a:endParaRPr lang="es-CO">
              <a:latin typeface="Calibri" panose="020F0502020204030204" pitchFamily="34" charset="0"/>
              <a:cs typeface="Calibri" panose="020F0502020204030204" pitchFamily="34" charset="0"/>
            </a:endParaRPr>
          </a:p>
        </p:txBody>
      </p:sp>
      <p:sp>
        <p:nvSpPr>
          <p:cNvPr id="12" name="Text 10"/>
          <p:cNvSpPr/>
          <p:nvPr/>
        </p:nvSpPr>
        <p:spPr>
          <a:xfrm>
            <a:off x="8485632" y="1645920"/>
            <a:ext cx="2651760" cy="256032"/>
          </a:xfrm>
          <a:prstGeom prst="rect">
            <a:avLst/>
          </a:prstGeom>
          <a:noFill/>
          <a:ln/>
        </p:spPr>
        <p:txBody>
          <a:bodyPr wrap="square" lIns="508" tIns="508" rIns="508" bIns="508" rtlCol="0" anchor="t">
            <a:normAutofit/>
          </a:bodyPr>
          <a:lstStyle/>
          <a:p>
            <a:pPr marL="0" indent="0" algn="l">
              <a:buNone/>
            </a:pPr>
            <a:r>
              <a:rPr lang="en-US" sz="1600" b="1" dirty="0">
                <a:solidFill>
                  <a:srgbClr val="0B2F5B"/>
                </a:solidFill>
                <a:latin typeface="Calibri" panose="020F0502020204030204" pitchFamily="34" charset="0"/>
                <a:ea typeface="Aptos" pitchFamily="34" charset="-122"/>
                <a:cs typeface="Calibri" panose="020F0502020204030204" pitchFamily="34" charset="0"/>
              </a:rPr>
              <a:t>3  Inshuro</a:t>
            </a:r>
            <a:endParaRPr lang="en-US" sz="1600" dirty="0">
              <a:latin typeface="Calibri" panose="020F0502020204030204" pitchFamily="34" charset="0"/>
              <a:cs typeface="Calibri" panose="020F0502020204030204" pitchFamily="34" charset="0"/>
            </a:endParaRPr>
          </a:p>
        </p:txBody>
      </p:sp>
      <p:sp>
        <p:nvSpPr>
          <p:cNvPr id="13" name="Text 11"/>
          <p:cNvSpPr/>
          <p:nvPr/>
        </p:nvSpPr>
        <p:spPr>
          <a:xfrm>
            <a:off x="8485632" y="1993392"/>
            <a:ext cx="2834640" cy="493776"/>
          </a:xfrm>
          <a:prstGeom prst="rect">
            <a:avLst/>
          </a:prstGeom>
          <a:noFill/>
          <a:ln/>
        </p:spPr>
        <p:txBody>
          <a:bodyPr wrap="square" lIns="508" tIns="508" rIns="508" bIns="508" rtlCol="0" anchor="t">
            <a:normAutofit/>
          </a:bodyPr>
          <a:lstStyle/>
          <a:p>
            <a:pPr marL="0" indent="0" algn="l">
              <a:buNone/>
            </a:pPr>
            <a:r>
              <a:rPr lang="en-US" sz="1050" b="1" dirty="0">
                <a:solidFill>
                  <a:schemeClr val="accent1">
                    <a:lumMod val="50000"/>
                  </a:schemeClr>
                </a:solidFill>
                <a:latin typeface="Calibri" panose="020F0502020204030204" pitchFamily="34" charset="0"/>
                <a:ea typeface="Aptos" pitchFamily="34" charset="-122"/>
                <a:cs typeface="Calibri" panose="020F0502020204030204" pitchFamily="34" charset="0"/>
              </a:rPr>
              <a:t>Abagore benshi: </a:t>
            </a:r>
            <a:r>
              <a:rPr lang="en-US" sz="1050" dirty="0">
                <a:solidFill>
                  <a:schemeClr val="accent1">
                    <a:lumMod val="50000"/>
                  </a:schemeClr>
                </a:solidFill>
                <a:latin typeface="Calibri" panose="020F0502020204030204" pitchFamily="34" charset="0"/>
                <a:ea typeface="Aptos" pitchFamily="34" charset="-122"/>
                <a:cs typeface="Calibri" panose="020F0502020204030204" pitchFamily="34" charset="0"/>
              </a:rPr>
              <a:t>buri myaka 10</a:t>
            </a:r>
            <a:endParaRPr lang="en-US" sz="1050" dirty="0">
              <a:solidFill>
                <a:schemeClr val="accent1">
                  <a:lumMod val="50000"/>
                </a:schemeClr>
              </a:solidFill>
              <a:latin typeface="Calibri" panose="020F0502020204030204" pitchFamily="34" charset="0"/>
              <a:cs typeface="Calibri" panose="020F0502020204030204" pitchFamily="34" charset="0"/>
            </a:endParaRPr>
          </a:p>
          <a:p>
            <a:pPr marL="0" indent="0" algn="l">
              <a:buNone/>
            </a:pPr>
            <a:r>
              <a:rPr lang="en-US" sz="1050" b="1" dirty="0">
                <a:solidFill>
                  <a:schemeClr val="accent1">
                    <a:lumMod val="50000"/>
                  </a:schemeClr>
                </a:solidFill>
                <a:latin typeface="Calibri" panose="020F0502020204030204" pitchFamily="34" charset="0"/>
                <a:ea typeface="Aptos" pitchFamily="34" charset="-122"/>
                <a:cs typeface="Calibri" panose="020F0502020204030204" pitchFamily="34" charset="0"/>
              </a:rPr>
              <a:t>Abagore babana na virusi itera SIDA: </a:t>
            </a:r>
            <a:r>
              <a:rPr lang="en-US" sz="1050" dirty="0">
                <a:solidFill>
                  <a:schemeClr val="accent1">
                    <a:lumMod val="50000"/>
                  </a:schemeClr>
                </a:solidFill>
                <a:latin typeface="Calibri" panose="020F0502020204030204" pitchFamily="34" charset="0"/>
                <a:ea typeface="Aptos" pitchFamily="34" charset="-122"/>
                <a:cs typeface="Calibri" panose="020F0502020204030204" pitchFamily="34" charset="0"/>
              </a:rPr>
              <a:t>buri myaka 5</a:t>
            </a:r>
            <a:endParaRPr lang="en-US" sz="1050" dirty="0">
              <a:solidFill>
                <a:schemeClr val="accent1">
                  <a:lumMod val="50000"/>
                </a:schemeClr>
              </a:solidFill>
              <a:latin typeface="Calibri" panose="020F0502020204030204" pitchFamily="34" charset="0"/>
              <a:cs typeface="Calibri" panose="020F0502020204030204" pitchFamily="34" charset="0"/>
            </a:endParaRPr>
          </a:p>
        </p:txBody>
      </p:sp>
      <p:sp>
        <p:nvSpPr>
          <p:cNvPr id="14" name="Shape 12"/>
          <p:cNvSpPr/>
          <p:nvPr/>
        </p:nvSpPr>
        <p:spPr>
          <a:xfrm>
            <a:off x="502920" y="3063240"/>
            <a:ext cx="11155680" cy="1993392"/>
          </a:xfrm>
          <a:prstGeom prst="roundRect">
            <a:avLst>
              <a:gd name="adj" fmla="val 3670"/>
            </a:avLst>
          </a:prstGeom>
          <a:solidFill>
            <a:srgbClr val="F7FBFF"/>
          </a:solidFill>
          <a:ln w="12700">
            <a:solidFill>
              <a:srgbClr val="D4DEE8"/>
            </a:solidFill>
            <a:prstDash val="solid"/>
          </a:ln>
        </p:spPr>
        <p:txBody>
          <a:bodyPr/>
          <a:lstStyle/>
          <a:p>
            <a:endParaRPr lang="es-CO">
              <a:latin typeface="Calibri" panose="020F0502020204030204" pitchFamily="34" charset="0"/>
              <a:cs typeface="Calibri" panose="020F0502020204030204" pitchFamily="34" charset="0"/>
            </a:endParaRPr>
          </a:p>
        </p:txBody>
      </p:sp>
      <p:sp>
        <p:nvSpPr>
          <p:cNvPr id="15" name="Text 13"/>
          <p:cNvSpPr/>
          <p:nvPr/>
        </p:nvSpPr>
        <p:spPr>
          <a:xfrm>
            <a:off x="749808" y="3227832"/>
            <a:ext cx="2834640" cy="256032"/>
          </a:xfrm>
          <a:prstGeom prst="rect">
            <a:avLst/>
          </a:prstGeom>
          <a:noFill/>
          <a:ln/>
        </p:spPr>
        <p:txBody>
          <a:bodyPr wrap="square" lIns="508" tIns="508" rIns="508" bIns="508" rtlCol="0" anchor="t">
            <a:normAutofit/>
          </a:bodyPr>
          <a:lstStyle/>
          <a:p>
            <a:pPr marL="0" indent="0" algn="l">
              <a:buNone/>
            </a:pPr>
            <a:r>
              <a:rPr lang="en-US" sz="1100" b="1" dirty="0">
                <a:solidFill>
                  <a:srgbClr val="0B2F5B"/>
                </a:solidFill>
                <a:latin typeface="Calibri" panose="020F0502020204030204" pitchFamily="34" charset="0"/>
                <a:ea typeface="Aptos" pitchFamily="34" charset="-122"/>
                <a:cs typeface="Calibri" panose="020F0502020204030204" pitchFamily="34" charset="0"/>
              </a:rPr>
              <a:t>Ibizamini by'ingenzi by'isuzuma</a:t>
            </a:r>
            <a:endParaRPr lang="en-US" sz="1100" dirty="0">
              <a:latin typeface="Calibri" panose="020F0502020204030204" pitchFamily="34" charset="0"/>
              <a:cs typeface="Calibri" panose="020F0502020204030204" pitchFamily="34" charset="0"/>
            </a:endParaRPr>
          </a:p>
        </p:txBody>
      </p:sp>
      <p:sp>
        <p:nvSpPr>
          <p:cNvPr id="16" name="Shape 14"/>
          <p:cNvSpPr/>
          <p:nvPr/>
        </p:nvSpPr>
        <p:spPr>
          <a:xfrm>
            <a:off x="4224528" y="3502152"/>
            <a:ext cx="0" cy="1261872"/>
          </a:xfrm>
          <a:prstGeom prst="line">
            <a:avLst/>
          </a:prstGeom>
          <a:noFill/>
          <a:ln w="12700">
            <a:solidFill>
              <a:srgbClr val="D4DEE8"/>
            </a:solidFill>
            <a:prstDash val="solid"/>
          </a:ln>
        </p:spPr>
        <p:txBody>
          <a:bodyPr/>
          <a:lstStyle/>
          <a:p>
            <a:endParaRPr lang="es-CO">
              <a:latin typeface="Calibri" panose="020F0502020204030204" pitchFamily="34" charset="0"/>
              <a:cs typeface="Calibri" panose="020F0502020204030204" pitchFamily="34" charset="0"/>
            </a:endParaRPr>
          </a:p>
        </p:txBody>
      </p:sp>
      <p:sp>
        <p:nvSpPr>
          <p:cNvPr id="17" name="Shape 15"/>
          <p:cNvSpPr/>
          <p:nvPr/>
        </p:nvSpPr>
        <p:spPr>
          <a:xfrm>
            <a:off x="8558784" y="3502152"/>
            <a:ext cx="0" cy="1261872"/>
          </a:xfrm>
          <a:prstGeom prst="line">
            <a:avLst/>
          </a:prstGeom>
          <a:noFill/>
          <a:ln w="12700">
            <a:solidFill>
              <a:srgbClr val="D4DEE8"/>
            </a:solidFill>
            <a:prstDash val="solid"/>
          </a:ln>
        </p:spPr>
        <p:txBody>
          <a:bodyPr/>
          <a:lstStyle/>
          <a:p>
            <a:endParaRPr lang="es-CO">
              <a:latin typeface="Calibri" panose="020F0502020204030204" pitchFamily="34" charset="0"/>
              <a:cs typeface="Calibri" panose="020F0502020204030204" pitchFamily="34" charset="0"/>
            </a:endParaRPr>
          </a:p>
        </p:txBody>
      </p:sp>
      <p:sp>
        <p:nvSpPr>
          <p:cNvPr id="18" name="Text 16"/>
          <p:cNvSpPr/>
          <p:nvPr/>
        </p:nvSpPr>
        <p:spPr>
          <a:xfrm>
            <a:off x="868680" y="3611880"/>
            <a:ext cx="1828800" cy="256032"/>
          </a:xfrm>
          <a:prstGeom prst="rect">
            <a:avLst/>
          </a:prstGeom>
          <a:noFill/>
          <a:ln/>
        </p:spPr>
        <p:txBody>
          <a:bodyPr wrap="square" lIns="508" tIns="508" rIns="508" bIns="508" rtlCol="0" anchor="t">
            <a:normAutofit/>
          </a:bodyPr>
          <a:lstStyle/>
          <a:p>
            <a:pPr marL="0" indent="0" algn="l">
              <a:buNone/>
            </a:pPr>
            <a:r>
              <a:rPr lang="en-US" sz="900" b="1" dirty="0">
                <a:solidFill>
                  <a:srgbClr val="1B7A3A"/>
                </a:solidFill>
                <a:latin typeface="Calibri" panose="020F0502020204030204" pitchFamily="34" charset="0"/>
                <a:ea typeface="Aptos" pitchFamily="34" charset="-122"/>
                <a:cs typeface="Calibri" panose="020F0502020204030204" pitchFamily="34" charset="0"/>
              </a:rPr>
              <a:t>Ikizamini cya HPV DNA</a:t>
            </a:r>
            <a:endParaRPr lang="en-US" sz="900" dirty="0">
              <a:latin typeface="Calibri" panose="020F0502020204030204" pitchFamily="34" charset="0"/>
              <a:cs typeface="Calibri" panose="020F0502020204030204" pitchFamily="34" charset="0"/>
            </a:endParaRPr>
          </a:p>
        </p:txBody>
      </p:sp>
      <p:sp>
        <p:nvSpPr>
          <p:cNvPr id="19" name="Text 17"/>
          <p:cNvSpPr/>
          <p:nvPr/>
        </p:nvSpPr>
        <p:spPr>
          <a:xfrm>
            <a:off x="868680" y="3941064"/>
            <a:ext cx="2971800" cy="585216"/>
          </a:xfrm>
          <a:prstGeom prst="rect">
            <a:avLst/>
          </a:prstGeom>
          <a:noFill/>
          <a:ln/>
        </p:spPr>
        <p:txBody>
          <a:bodyPr wrap="square" lIns="508" tIns="508" rIns="508" bIns="508" rtlCol="0" anchor="t">
            <a:noAutofit/>
          </a:bodyPr>
          <a:lstStyle/>
          <a:p>
            <a:pPr marL="0" indent="0" algn="l">
              <a:buNone/>
            </a:pPr>
            <a:r>
              <a:rPr lang="en-US" sz="900" dirty="0">
                <a:solidFill>
                  <a:schemeClr val="accent1">
                    <a:lumMod val="50000"/>
                  </a:schemeClr>
                </a:solidFill>
                <a:latin typeface="Calibri" panose="020F0502020204030204" pitchFamily="34" charset="0"/>
                <a:ea typeface="Aptos" pitchFamily="34" charset="-122"/>
                <a:cs typeface="Calibri" panose="020F0502020204030204" pitchFamily="34" charset="0"/>
              </a:rPr>
              <a:t>Ni cyo kizamini cya mbere gikoreshwa mu isuzuma mu Rwanda. Icyitegererezo gishobora gufatwa n'umukozi w'ubuzima, cyangwa umugore akacyifatira aho ubwo buryo butangwa.</a:t>
            </a:r>
            <a:endParaRPr lang="en-US" sz="900" dirty="0">
              <a:solidFill>
                <a:schemeClr val="accent1">
                  <a:lumMod val="50000"/>
                </a:schemeClr>
              </a:solidFill>
              <a:latin typeface="Calibri" panose="020F0502020204030204" pitchFamily="34" charset="0"/>
              <a:cs typeface="Calibri" panose="020F0502020204030204" pitchFamily="34" charset="0"/>
            </a:endParaRPr>
          </a:p>
        </p:txBody>
      </p:sp>
      <p:sp>
        <p:nvSpPr>
          <p:cNvPr id="20" name="Shape 18"/>
          <p:cNvSpPr/>
          <p:nvPr/>
        </p:nvSpPr>
        <p:spPr>
          <a:xfrm>
            <a:off x="3913632" y="4206240"/>
            <a:ext cx="640080" cy="0"/>
          </a:xfrm>
          <a:prstGeom prst="line">
            <a:avLst/>
          </a:prstGeom>
          <a:noFill/>
          <a:ln w="25400">
            <a:solidFill>
              <a:srgbClr val="1F5EA8"/>
            </a:solidFill>
            <a:prstDash val="solid"/>
            <a:tailEnd type="triangle"/>
          </a:ln>
        </p:spPr>
        <p:txBody>
          <a:bodyPr/>
          <a:lstStyle/>
          <a:p>
            <a:endParaRPr lang="es-CO">
              <a:latin typeface="Calibri" panose="020F0502020204030204" pitchFamily="34" charset="0"/>
              <a:cs typeface="Calibri" panose="020F0502020204030204" pitchFamily="34" charset="0"/>
            </a:endParaRPr>
          </a:p>
        </p:txBody>
      </p:sp>
      <p:sp>
        <p:nvSpPr>
          <p:cNvPr id="21" name="Text 19"/>
          <p:cNvSpPr/>
          <p:nvPr/>
        </p:nvSpPr>
        <p:spPr>
          <a:xfrm>
            <a:off x="4709160" y="3611880"/>
            <a:ext cx="2377440" cy="256032"/>
          </a:xfrm>
          <a:prstGeom prst="rect">
            <a:avLst/>
          </a:prstGeom>
          <a:noFill/>
          <a:ln/>
        </p:spPr>
        <p:txBody>
          <a:bodyPr wrap="square" lIns="508" tIns="508" rIns="508" bIns="508" rtlCol="0" anchor="t">
            <a:normAutofit/>
          </a:bodyPr>
          <a:lstStyle/>
          <a:p>
            <a:pPr marL="0" indent="0" algn="l">
              <a:buNone/>
            </a:pPr>
            <a:r>
              <a:rPr lang="en-US" sz="950" b="1" dirty="0">
                <a:solidFill>
                  <a:srgbClr val="9A6800"/>
                </a:solidFill>
                <a:latin typeface="Calibri" panose="020F0502020204030204" pitchFamily="34" charset="0"/>
                <a:ea typeface="Aptos" pitchFamily="34" charset="-122"/>
                <a:cs typeface="Calibri" panose="020F0502020204030204" pitchFamily="34" charset="0"/>
              </a:rPr>
              <a:t>Igisubizo kigena intambwe ikurikira</a:t>
            </a:r>
            <a:endParaRPr lang="en-US" sz="950" dirty="0">
              <a:latin typeface="Calibri" panose="020F0502020204030204" pitchFamily="34" charset="0"/>
              <a:cs typeface="Calibri" panose="020F0502020204030204" pitchFamily="34" charset="0"/>
            </a:endParaRPr>
          </a:p>
        </p:txBody>
      </p:sp>
      <p:sp>
        <p:nvSpPr>
          <p:cNvPr id="22" name="Text 20"/>
          <p:cNvSpPr/>
          <p:nvPr/>
        </p:nvSpPr>
        <p:spPr>
          <a:xfrm>
            <a:off x="4709160" y="3941064"/>
            <a:ext cx="3108960" cy="585216"/>
          </a:xfrm>
          <a:prstGeom prst="rect">
            <a:avLst/>
          </a:prstGeom>
          <a:noFill/>
          <a:ln/>
        </p:spPr>
        <p:txBody>
          <a:bodyPr wrap="square" lIns="508" tIns="508" rIns="508" bIns="508" rtlCol="0" anchor="t">
            <a:noAutofit/>
          </a:bodyPr>
          <a:lstStyle/>
          <a:p>
            <a:pPr marL="0" indent="0" algn="l">
              <a:buNone/>
            </a:pPr>
            <a:r>
              <a:rPr lang="en-US" sz="1250" b="1" dirty="0">
                <a:solidFill>
                  <a:schemeClr val="accent1">
                    <a:lumMod val="50000"/>
                  </a:schemeClr>
                </a:solidFill>
                <a:latin typeface="Calibri" panose="020F0502020204030204" pitchFamily="34" charset="0"/>
                <a:ea typeface="Aptos" pitchFamily="34" charset="-122"/>
                <a:cs typeface="Calibri" panose="020F0502020204030204" pitchFamily="34" charset="0"/>
              </a:rPr>
              <a:t>Nta HPV yabonetse: </a:t>
            </a:r>
            <a:r>
              <a:rPr lang="en-US" sz="1250" dirty="0">
                <a:solidFill>
                  <a:schemeClr val="accent1">
                    <a:lumMod val="50000"/>
                  </a:schemeClr>
                </a:solidFill>
                <a:latin typeface="Calibri" panose="020F0502020204030204" pitchFamily="34" charset="0"/>
                <a:ea typeface="Aptos" pitchFamily="34" charset="-122"/>
                <a:cs typeface="Calibri" panose="020F0502020204030204" pitchFamily="34" charset="0"/>
              </a:rPr>
              <a:t>agaruka igihe gisanzwe cyagenwe.</a:t>
            </a:r>
            <a:endParaRPr lang="en-US" sz="1250" dirty="0">
              <a:solidFill>
                <a:schemeClr val="accent1">
                  <a:lumMod val="50000"/>
                </a:schemeClr>
              </a:solidFill>
              <a:latin typeface="Calibri" panose="020F0502020204030204" pitchFamily="34" charset="0"/>
              <a:cs typeface="Calibri" panose="020F0502020204030204" pitchFamily="34" charset="0"/>
            </a:endParaRPr>
          </a:p>
          <a:p>
            <a:pPr marL="0" indent="0" algn="l">
              <a:buNone/>
            </a:pPr>
            <a:r>
              <a:rPr lang="en-US" sz="1250" b="1" dirty="0">
                <a:solidFill>
                  <a:schemeClr val="accent1">
                    <a:lumMod val="50000"/>
                  </a:schemeClr>
                </a:solidFill>
                <a:latin typeface="Calibri" panose="020F0502020204030204" pitchFamily="34" charset="0"/>
                <a:ea typeface="Aptos" pitchFamily="34" charset="-122"/>
                <a:cs typeface="Calibri" panose="020F0502020204030204" pitchFamily="34" charset="0"/>
              </a:rPr>
              <a:t>HPV yabonetse: </a:t>
            </a:r>
            <a:r>
              <a:rPr lang="en-US" sz="1250" dirty="0">
                <a:solidFill>
                  <a:schemeClr val="accent1">
                    <a:lumMod val="50000"/>
                  </a:schemeClr>
                </a:solidFill>
                <a:latin typeface="Calibri" panose="020F0502020204030204" pitchFamily="34" charset="0"/>
                <a:ea typeface="Aptos" pitchFamily="34" charset="-122"/>
                <a:cs typeface="Calibri" panose="020F0502020204030204" pitchFamily="34" charset="0"/>
              </a:rPr>
              <a:t>hakenewe irindi suzuma.</a:t>
            </a:r>
            <a:endParaRPr lang="en-US" sz="1250" dirty="0">
              <a:solidFill>
                <a:schemeClr val="accent1">
                  <a:lumMod val="50000"/>
                </a:schemeClr>
              </a:solidFill>
              <a:latin typeface="Calibri" panose="020F0502020204030204" pitchFamily="34" charset="0"/>
              <a:cs typeface="Calibri" panose="020F0502020204030204" pitchFamily="34" charset="0"/>
            </a:endParaRPr>
          </a:p>
        </p:txBody>
      </p:sp>
      <p:sp>
        <p:nvSpPr>
          <p:cNvPr id="23" name="Shape 21"/>
          <p:cNvSpPr/>
          <p:nvPr/>
        </p:nvSpPr>
        <p:spPr>
          <a:xfrm>
            <a:off x="8339328" y="4206240"/>
            <a:ext cx="640080" cy="0"/>
          </a:xfrm>
          <a:prstGeom prst="line">
            <a:avLst/>
          </a:prstGeom>
          <a:noFill/>
          <a:ln w="25400">
            <a:solidFill>
              <a:srgbClr val="1F5EA8"/>
            </a:solidFill>
            <a:prstDash val="solid"/>
            <a:tailEnd type="triangle"/>
          </a:ln>
        </p:spPr>
        <p:txBody>
          <a:bodyPr/>
          <a:lstStyle/>
          <a:p>
            <a:endParaRPr lang="es-CO">
              <a:latin typeface="Calibri" panose="020F0502020204030204" pitchFamily="34" charset="0"/>
              <a:cs typeface="Calibri" panose="020F0502020204030204" pitchFamily="34" charset="0"/>
            </a:endParaRPr>
          </a:p>
        </p:txBody>
      </p:sp>
      <p:sp>
        <p:nvSpPr>
          <p:cNvPr id="24" name="Text 22"/>
          <p:cNvSpPr/>
          <p:nvPr/>
        </p:nvSpPr>
        <p:spPr>
          <a:xfrm>
            <a:off x="9144000" y="3611880"/>
            <a:ext cx="1828800" cy="256032"/>
          </a:xfrm>
          <a:prstGeom prst="rect">
            <a:avLst/>
          </a:prstGeom>
          <a:noFill/>
          <a:ln/>
        </p:spPr>
        <p:txBody>
          <a:bodyPr wrap="square" lIns="508" tIns="508" rIns="508" bIns="508" rtlCol="0" anchor="t">
            <a:normAutofit/>
          </a:bodyPr>
          <a:lstStyle/>
          <a:p>
            <a:pPr marL="0" indent="0" algn="l">
              <a:buNone/>
            </a:pPr>
            <a:r>
              <a:rPr lang="en-US" sz="950" b="1" dirty="0">
                <a:solidFill>
                  <a:srgbClr val="0B2F5B"/>
                </a:solidFill>
                <a:latin typeface="Calibri" panose="020F0502020204030204" pitchFamily="34" charset="0"/>
                <a:ea typeface="Aptos" pitchFamily="34" charset="-122"/>
                <a:cs typeface="Calibri" panose="020F0502020204030204" pitchFamily="34" charset="0"/>
              </a:rPr>
              <a:t>VIA igihe bibaye ngombwa</a:t>
            </a:r>
            <a:endParaRPr lang="en-US" sz="950" dirty="0">
              <a:latin typeface="Calibri" panose="020F0502020204030204" pitchFamily="34" charset="0"/>
              <a:cs typeface="Calibri" panose="020F0502020204030204" pitchFamily="34" charset="0"/>
            </a:endParaRPr>
          </a:p>
        </p:txBody>
      </p:sp>
      <p:sp>
        <p:nvSpPr>
          <p:cNvPr id="25" name="Text 23"/>
          <p:cNvSpPr/>
          <p:nvPr/>
        </p:nvSpPr>
        <p:spPr>
          <a:xfrm>
            <a:off x="9143999" y="3941064"/>
            <a:ext cx="2313709" cy="640080"/>
          </a:xfrm>
          <a:prstGeom prst="rect">
            <a:avLst/>
          </a:prstGeom>
          <a:noFill/>
          <a:ln/>
        </p:spPr>
        <p:txBody>
          <a:bodyPr wrap="square" lIns="508" tIns="508" rIns="508" bIns="508" rtlCol="0" anchor="t">
            <a:noAutofit/>
          </a:bodyPr>
          <a:lstStyle/>
          <a:p>
            <a:pPr marL="0" indent="0" algn="l">
              <a:buNone/>
            </a:pPr>
            <a:r>
              <a:rPr lang="en-US" sz="800" dirty="0">
                <a:solidFill>
                  <a:schemeClr val="accent1">
                    <a:lumMod val="50000"/>
                  </a:schemeClr>
                </a:solidFill>
                <a:latin typeface="Calibri" panose="020F0502020204030204" pitchFamily="34" charset="0"/>
                <a:ea typeface="Aptos" pitchFamily="34" charset="-122"/>
                <a:cs typeface="Calibri" panose="020F0502020204030204" pitchFamily="34" charset="0"/>
              </a:rPr>
              <a:t>Umukozi w'ubuzima wabihuguriwe areba inkondo y'umura kugira ngo afate icyemezo cyo kuvura cyangwa kohereza umurwayi. Abajyanama b'ubuzima bafasha abagore kwitabira no gukurikiranwa.</a:t>
            </a:r>
            <a:endParaRPr lang="en-US" sz="800" dirty="0">
              <a:solidFill>
                <a:schemeClr val="accent1">
                  <a:lumMod val="50000"/>
                </a:schemeClr>
              </a:solidFill>
              <a:latin typeface="Calibri" panose="020F0502020204030204" pitchFamily="34" charset="0"/>
              <a:cs typeface="Calibri" panose="020F0502020204030204" pitchFamily="34" charset="0"/>
            </a:endParaRPr>
          </a:p>
        </p:txBody>
      </p:sp>
      <p:sp>
        <p:nvSpPr>
          <p:cNvPr id="26" name="Shape 24"/>
          <p:cNvSpPr/>
          <p:nvPr/>
        </p:nvSpPr>
        <p:spPr>
          <a:xfrm>
            <a:off x="502920" y="5349240"/>
            <a:ext cx="5577840" cy="777240"/>
          </a:xfrm>
          <a:prstGeom prst="roundRect">
            <a:avLst>
              <a:gd name="adj" fmla="val 9412"/>
            </a:avLst>
          </a:prstGeom>
          <a:solidFill>
            <a:srgbClr val="E7F5ED"/>
          </a:solidFill>
          <a:ln w="12700">
            <a:solidFill>
              <a:srgbClr val="B8E2C9"/>
            </a:solidFill>
            <a:prstDash val="solid"/>
          </a:ln>
        </p:spPr>
        <p:txBody>
          <a:bodyPr/>
          <a:lstStyle/>
          <a:p>
            <a:endParaRPr lang="es-CO">
              <a:latin typeface="Calibri" panose="020F0502020204030204" pitchFamily="34" charset="0"/>
              <a:cs typeface="Calibri" panose="020F0502020204030204" pitchFamily="34" charset="0"/>
            </a:endParaRPr>
          </a:p>
        </p:txBody>
      </p:sp>
      <p:sp>
        <p:nvSpPr>
          <p:cNvPr id="27" name="Text 25"/>
          <p:cNvSpPr/>
          <p:nvPr/>
        </p:nvSpPr>
        <p:spPr>
          <a:xfrm>
            <a:off x="749808" y="5504688"/>
            <a:ext cx="1051560" cy="201168"/>
          </a:xfrm>
          <a:prstGeom prst="rect">
            <a:avLst/>
          </a:prstGeom>
          <a:noFill/>
          <a:ln/>
        </p:spPr>
        <p:txBody>
          <a:bodyPr wrap="square" lIns="508" tIns="508" rIns="508" bIns="508" rtlCol="0" anchor="t">
            <a:normAutofit fontScale="92500" lnSpcReduction="10000"/>
          </a:bodyPr>
          <a:lstStyle/>
          <a:p>
            <a:pPr marL="0" indent="0" algn="l">
              <a:buNone/>
            </a:pPr>
            <a:r>
              <a:rPr lang="en-US" sz="1500" b="1" dirty="0">
                <a:solidFill>
                  <a:srgbClr val="1B7A3A"/>
                </a:solidFill>
                <a:latin typeface="Calibri" panose="020F0502020204030204" pitchFamily="34" charset="0"/>
                <a:ea typeface="Aptos" pitchFamily="34" charset="-122"/>
                <a:cs typeface="Calibri" panose="020F0502020204030204" pitchFamily="34" charset="0"/>
              </a:rPr>
              <a:t>Kwa muganga</a:t>
            </a:r>
            <a:endParaRPr lang="en-US" sz="1500" dirty="0">
              <a:latin typeface="Calibri" panose="020F0502020204030204" pitchFamily="34" charset="0"/>
              <a:cs typeface="Calibri" panose="020F0502020204030204" pitchFamily="34" charset="0"/>
            </a:endParaRPr>
          </a:p>
        </p:txBody>
      </p:sp>
      <p:sp>
        <p:nvSpPr>
          <p:cNvPr id="28" name="Text 26"/>
          <p:cNvSpPr/>
          <p:nvPr/>
        </p:nvSpPr>
        <p:spPr>
          <a:xfrm>
            <a:off x="1947671" y="5504688"/>
            <a:ext cx="3984777" cy="365760"/>
          </a:xfrm>
          <a:prstGeom prst="rect">
            <a:avLst/>
          </a:prstGeom>
          <a:noFill/>
          <a:ln/>
        </p:spPr>
        <p:txBody>
          <a:bodyPr wrap="square" lIns="508" tIns="508" rIns="508" bIns="508" rtlCol="0" anchor="t">
            <a:noAutofit/>
          </a:bodyPr>
          <a:lstStyle/>
          <a:p>
            <a:pPr marL="0" indent="0" algn="l">
              <a:buNone/>
            </a:pPr>
            <a:r>
              <a:rPr lang="en-US" sz="1050" dirty="0">
                <a:solidFill>
                  <a:schemeClr val="accent1">
                    <a:lumMod val="50000"/>
                  </a:schemeClr>
                </a:solidFill>
                <a:latin typeface="Calibri" panose="020F0502020204030204" pitchFamily="34" charset="0"/>
                <a:ea typeface="Aptos" pitchFamily="34" charset="-122"/>
                <a:cs typeface="Calibri" panose="020F0502020204030204" pitchFamily="34" charset="0"/>
              </a:rPr>
              <a:t>Kwakirwa mu ibanga → gusubizwa ibibazo → gufatwa icyitegererezo cyangwa kurebwa inkondo y'umura → gusobanurirwa igisubizo → gutegurirwa intambwe ikurikira.</a:t>
            </a:r>
            <a:endParaRPr lang="en-US" sz="1050" dirty="0">
              <a:solidFill>
                <a:schemeClr val="accent1">
                  <a:lumMod val="50000"/>
                </a:schemeClr>
              </a:solidFill>
              <a:latin typeface="Calibri" panose="020F0502020204030204" pitchFamily="34" charset="0"/>
              <a:cs typeface="Calibri" panose="020F0502020204030204" pitchFamily="34" charset="0"/>
            </a:endParaRPr>
          </a:p>
        </p:txBody>
      </p:sp>
      <p:sp>
        <p:nvSpPr>
          <p:cNvPr id="29" name="Shape 27"/>
          <p:cNvSpPr/>
          <p:nvPr/>
        </p:nvSpPr>
        <p:spPr>
          <a:xfrm>
            <a:off x="6327648" y="5349240"/>
            <a:ext cx="5330952" cy="777240"/>
          </a:xfrm>
          <a:prstGeom prst="roundRect">
            <a:avLst>
              <a:gd name="adj" fmla="val 9412"/>
            </a:avLst>
          </a:prstGeom>
          <a:solidFill>
            <a:srgbClr val="FFF3D9"/>
          </a:solidFill>
          <a:ln w="12700">
            <a:solidFill>
              <a:srgbClr val="E6C884"/>
            </a:solidFill>
            <a:prstDash val="solid"/>
          </a:ln>
        </p:spPr>
        <p:txBody>
          <a:bodyPr/>
          <a:lstStyle/>
          <a:p>
            <a:endParaRPr lang="es-CO">
              <a:latin typeface="Calibri" panose="020F0502020204030204" pitchFamily="34" charset="0"/>
              <a:cs typeface="Calibri" panose="020F0502020204030204" pitchFamily="34" charset="0"/>
            </a:endParaRPr>
          </a:p>
        </p:txBody>
      </p:sp>
      <p:sp>
        <p:nvSpPr>
          <p:cNvPr id="30" name="Text 28"/>
          <p:cNvSpPr/>
          <p:nvPr/>
        </p:nvSpPr>
        <p:spPr>
          <a:xfrm>
            <a:off x="6565392" y="5504688"/>
            <a:ext cx="1737360" cy="201168"/>
          </a:xfrm>
          <a:prstGeom prst="rect">
            <a:avLst/>
          </a:prstGeom>
          <a:noFill/>
          <a:ln/>
        </p:spPr>
        <p:txBody>
          <a:bodyPr wrap="square" lIns="508" tIns="508" rIns="508" bIns="508" rtlCol="0" anchor="t">
            <a:normAutofit/>
          </a:bodyPr>
          <a:lstStyle/>
          <a:p>
            <a:pPr marL="0" indent="0" algn="l">
              <a:buNone/>
            </a:pPr>
            <a:r>
              <a:rPr lang="en-US" sz="1100" b="1" dirty="0">
                <a:solidFill>
                  <a:srgbClr val="9A6800"/>
                </a:solidFill>
                <a:latin typeface="Calibri" panose="020F0502020204030204" pitchFamily="34" charset="0"/>
                <a:ea typeface="Aptos" pitchFamily="34" charset="-122"/>
                <a:cs typeface="Calibri" panose="020F0502020204030204" pitchFamily="34" charset="0"/>
              </a:rPr>
              <a:t>Ibimenyetso ni ikindi kintu</a:t>
            </a:r>
            <a:endParaRPr lang="en-US" sz="1100" dirty="0">
              <a:latin typeface="Calibri" panose="020F0502020204030204" pitchFamily="34" charset="0"/>
              <a:cs typeface="Calibri" panose="020F0502020204030204" pitchFamily="34" charset="0"/>
            </a:endParaRPr>
          </a:p>
        </p:txBody>
      </p:sp>
      <p:sp>
        <p:nvSpPr>
          <p:cNvPr id="31" name="Text 29"/>
          <p:cNvSpPr/>
          <p:nvPr/>
        </p:nvSpPr>
        <p:spPr>
          <a:xfrm>
            <a:off x="8481060" y="5422392"/>
            <a:ext cx="2880360" cy="365760"/>
          </a:xfrm>
          <a:prstGeom prst="rect">
            <a:avLst/>
          </a:prstGeom>
          <a:noFill/>
          <a:ln/>
        </p:spPr>
        <p:txBody>
          <a:bodyPr wrap="square" lIns="508" tIns="508" rIns="508" bIns="508" rtlCol="0" anchor="t">
            <a:noAutofit/>
          </a:bodyPr>
          <a:lstStyle/>
          <a:p>
            <a:pPr marL="0" indent="0" algn="l">
              <a:buNone/>
            </a:pPr>
            <a:r>
              <a:rPr lang="en-US" sz="1100" dirty="0">
                <a:solidFill>
                  <a:schemeClr val="accent1">
                    <a:lumMod val="50000"/>
                  </a:schemeClr>
                </a:solidFill>
                <a:latin typeface="Calibri" panose="020F0502020204030204" pitchFamily="34" charset="0"/>
                <a:ea typeface="Aptos" pitchFamily="34" charset="-122"/>
                <a:cs typeface="Calibri" panose="020F0502020204030204" pitchFamily="34" charset="0"/>
              </a:rPr>
              <a:t>Kuva amaraso, ububabare cyangwa ibisohoka mu gitsina bidasanzwe bisaba gusuzumirwa ku ivuriro, si isuzuma risanzwe.</a:t>
            </a:r>
            <a:endParaRPr lang="en-US" sz="1100" dirty="0">
              <a:solidFill>
                <a:schemeClr val="accent1">
                  <a:lumMod val="50000"/>
                </a:schemeClr>
              </a:solidFill>
              <a:latin typeface="Calibri" panose="020F0502020204030204" pitchFamily="34" charset="0"/>
              <a:cs typeface="Calibri" panose="020F0502020204030204" pitchFamily="34" charset="0"/>
            </a:endParaRPr>
          </a:p>
        </p:txBody>
      </p:sp>
      <p:sp>
        <p:nvSpPr>
          <p:cNvPr id="32" name="Shape 30"/>
          <p:cNvSpPr/>
          <p:nvPr/>
        </p:nvSpPr>
        <p:spPr>
          <a:xfrm>
            <a:off x="502920" y="6473952"/>
            <a:ext cx="11155680" cy="0"/>
          </a:xfrm>
          <a:prstGeom prst="line">
            <a:avLst/>
          </a:prstGeom>
          <a:noFill/>
          <a:ln w="12700">
            <a:solidFill>
              <a:srgbClr val="D6DEE8"/>
            </a:solidFill>
            <a:prstDash val="solid"/>
          </a:ln>
        </p:spPr>
        <p:txBody>
          <a:bodyPr/>
          <a:lstStyle/>
          <a:p>
            <a:endParaRPr lang="es-CO"/>
          </a:p>
        </p:txBody>
      </p:sp>
      <p:sp>
        <p:nvSpPr>
          <p:cNvPr id="33" name="Text 31"/>
          <p:cNvSpPr/>
          <p:nvPr/>
        </p:nvSpPr>
        <p:spPr>
          <a:xfrm>
            <a:off x="548640" y="6519672"/>
            <a:ext cx="6400800" cy="182880"/>
          </a:xfrm>
          <a:prstGeom prst="rect">
            <a:avLst/>
          </a:prstGeom>
          <a:noFill/>
          <a:ln/>
        </p:spPr>
        <p:txBody>
          <a:bodyPr wrap="square" lIns="508" tIns="508" rIns="508" bIns="508" rtlCol="0" anchor="t">
            <a:normAutofit/>
          </a:bodyPr>
          <a:lstStyle/>
          <a:p>
            <a:pPr marL="0" indent="0" algn="l">
              <a:buNone/>
            </a:pPr>
            <a:r>
              <a:rPr lang="en-US" sz="700" dirty="0">
                <a:solidFill>
                  <a:srgbClr val="5B6470"/>
                </a:solidFill>
                <a:latin typeface="Aptos" pitchFamily="34" charset="0"/>
                <a:ea typeface="Aptos" pitchFamily="34" charset="-122"/>
                <a:cs typeface="Aptos" pitchFamily="34" charset="-120"/>
              </a:rPr>
              <a:t>Kanseri y'inkondo y'umura  |  Umujyanama w'Ubuzima  |  Ikigo cy'Igihugu Gishinzwe Ubuzima</a:t>
            </a:r>
            <a:endParaRPr lang="en-US" sz="700" dirty="0"/>
          </a:p>
        </p:txBody>
      </p:sp>
      <p:sp>
        <p:nvSpPr>
          <p:cNvPr id="34" name="Text 32"/>
          <p:cNvSpPr/>
          <p:nvPr/>
        </p:nvSpPr>
        <p:spPr>
          <a:xfrm>
            <a:off x="8229600" y="6519672"/>
            <a:ext cx="3383280" cy="182880"/>
          </a:xfrm>
          <a:prstGeom prst="rect">
            <a:avLst/>
          </a:prstGeom>
          <a:noFill/>
          <a:ln/>
        </p:spPr>
        <p:txBody>
          <a:bodyPr wrap="square" lIns="508" tIns="508" rIns="508" bIns="508" rtlCol="0" anchor="t">
            <a:normAutofit/>
          </a:bodyPr>
          <a:lstStyle/>
          <a:p>
            <a:pPr marL="0" indent="0" algn="r">
              <a:buNone/>
            </a:pPr>
            <a:r>
              <a:rPr lang="en-US" sz="900" dirty="0">
                <a:solidFill>
                  <a:srgbClr val="5B6470"/>
                </a:solidFill>
                <a:latin typeface="Aptos" pitchFamily="34" charset="0"/>
                <a:ea typeface="Aptos" pitchFamily="34" charset="-122"/>
                <a:cs typeface="Aptos" pitchFamily="34" charset="-120"/>
              </a:rPr>
              <a:t>Urupapuro rwa 61</a:t>
            </a:r>
            <a:endParaRPr lang="en-US" sz="900" dirty="0"/>
          </a:p>
        </p:txBody>
      </p:sp>
      <p:sp>
        <p:nvSpPr>
          <p:cNvPr id="35" name="TextBox 1">
            <a:extLst>
              <a:ext uri="{FF2B5EF4-FFF2-40B4-BE49-F238E27FC236}">
                <a16:creationId xmlns:a16="http://schemas.microsoft.com/office/drawing/2014/main" id="{FC30A760-50A5-9E54-D454-BE9B3BB1CFA6}"/>
              </a:ext>
            </a:extLst>
          </p:cNvPr>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K W I S U Z U M I S H A</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65760"/>
            <a:ext cx="11058113" cy="161583"/>
          </a:xfrm>
          <a:prstGeom prst="rect">
            <a:avLst/>
          </a:prstGeom>
          <a:noFill/>
          <a:ln/>
        </p:spPr>
        <p:txBody>
          <a:bodyPr wrap="square" lIns="0" tIns="0" rIns="0" bIns="0" rtlCol="0" anchor="ctr"/>
          <a:lstStyle/>
          <a:p>
            <a:pPr marL="0" indent="0" algn="l">
              <a:buNone/>
            </a:pPr>
            <a:r>
              <a:rPr lang="rw-RW" sz="1050" b="1" noProof="0" dirty="0">
                <a:solidFill>
                  <a:srgbClr val="1F4E96"/>
                </a:solidFill>
                <a:latin typeface="Calibri" pitchFamily="34" charset="0"/>
                <a:ea typeface="Calibri" pitchFamily="34" charset="-122"/>
                <a:cs typeface="Calibri" pitchFamily="34" charset="-120"/>
              </a:rPr>
              <a:t>I G I C E   C Y A   2   ·   K W I S U Z U M I S H A</a:t>
            </a:r>
            <a:endParaRPr lang="rw-RW" sz="1050" dirty="0"/>
          </a:p>
        </p:txBody>
      </p:sp>
      <p:sp>
        <p:nvSpPr>
          <p:cNvPr id="3" name="Text 3"/>
          <p:cNvSpPr txBox="1"/>
          <p:nvPr/>
        </p:nvSpPr>
        <p:spPr>
          <a:xfrm>
            <a:off x="566928" y="713232"/>
            <a:ext cx="11058113" cy="777240"/>
          </a:xfrm>
          <a:prstGeom prst="rect">
            <a:avLst/>
          </a:prstGeom>
          <a:noFill/>
          <a:ln/>
        </p:spPr>
        <p:txBody>
          <a:bodyPr wrap="square" lIns="0" tIns="0" rIns="0" bIns="0" rtlCol="0" anchor="ctr"/>
          <a:lstStyle/>
          <a:p>
            <a:pPr marL="0" indent="0">
              <a:buNone/>
            </a:pPr>
            <a:r>
              <a:rPr lang="rw-RW" sz="3400" b="1" noProof="0" dirty="0">
                <a:solidFill>
                  <a:srgbClr val="10305A"/>
                </a:solidFill>
                <a:latin typeface="Cambria" pitchFamily="34" charset="0"/>
                <a:ea typeface="Cambria" pitchFamily="34" charset="-122"/>
                <a:cs typeface="Cambria" pitchFamily="34" charset="-120"/>
              </a:rPr>
              <a:t>Ni nde ukwiye kwisuzumisha mu Rwanda?</a:t>
            </a:r>
          </a:p>
        </p:txBody>
      </p:sp>
      <p:sp>
        <p:nvSpPr>
          <p:cNvPr id="4" name="Shape 4"/>
          <p:cNvSpPr/>
          <p:nvPr/>
        </p:nvSpPr>
        <p:spPr>
          <a:xfrm>
            <a:off x="566928" y="1550000"/>
            <a:ext cx="3563112" cy="34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5" name="Text 5"/>
          <p:cNvSpPr txBox="1"/>
          <p:nvPr/>
        </p:nvSpPr>
        <p:spPr>
          <a:xfrm>
            <a:off x="766928" y="1680000"/>
            <a:ext cx="3163112" cy="850000"/>
          </a:xfrm>
          <a:prstGeom prst="rect">
            <a:avLst/>
          </a:prstGeom>
          <a:noFill/>
          <a:ln/>
        </p:spPr>
        <p:txBody>
          <a:bodyPr wrap="square" lIns="0" tIns="0" rIns="0" bIns="0" rtlCol="0" anchor="ctr"/>
          <a:lstStyle/>
          <a:p>
            <a:pPr marL="0" indent="0" algn="ctr">
              <a:buNone/>
            </a:pPr>
            <a:r>
              <a:rPr lang="rw-RW" sz="4000" b="1" noProof="0" dirty="0">
                <a:solidFill>
                  <a:srgbClr val="1F4E96"/>
                </a:solidFill>
                <a:latin typeface="Calibri" pitchFamily="34" charset="0"/>
                <a:ea typeface="Calibri" pitchFamily="34" charset="-122"/>
                <a:cs typeface="Calibri" pitchFamily="34" charset="-120"/>
              </a:rPr>
              <a:t>30 - 49</a:t>
            </a:r>
            <a:endParaRPr lang="rw-RW" sz="4000" dirty="0"/>
          </a:p>
        </p:txBody>
      </p:sp>
      <p:sp>
        <p:nvSpPr>
          <p:cNvPr id="6" name="Text 6"/>
          <p:cNvSpPr txBox="1"/>
          <p:nvPr/>
        </p:nvSpPr>
        <p:spPr>
          <a:xfrm>
            <a:off x="766928" y="2600000"/>
            <a:ext cx="3163112" cy="800000"/>
          </a:xfrm>
          <a:prstGeom prst="rect">
            <a:avLst/>
          </a:prstGeom>
          <a:noFill/>
          <a:ln/>
        </p:spPr>
        <p:txBody>
          <a:bodyPr wrap="square" lIns="0" tIns="0" rIns="0" bIns="0" rtlCol="0" anchor="t"/>
          <a:lstStyle/>
          <a:p>
            <a:pPr marL="0" indent="0" algn="ctr">
              <a:buNone/>
            </a:pPr>
            <a:r>
              <a:rPr lang="rw-RW" sz="1800" b="1" noProof="0" dirty="0">
                <a:solidFill>
                  <a:srgbClr val="10305A"/>
                </a:solidFill>
                <a:latin typeface="Calibri" pitchFamily="34" charset="0"/>
                <a:ea typeface="Calibri" pitchFamily="34" charset="-122"/>
                <a:cs typeface="Calibri" pitchFamily="34" charset="-120"/>
              </a:rPr>
              <a:t>Abagore bose</a:t>
            </a:r>
            <a:endParaRPr lang="rw-RW" sz="1800" dirty="0"/>
          </a:p>
        </p:txBody>
      </p:sp>
      <p:sp>
        <p:nvSpPr>
          <p:cNvPr id="7" name="Text 7"/>
          <p:cNvSpPr txBox="1"/>
          <p:nvPr/>
        </p:nvSpPr>
        <p:spPr>
          <a:xfrm>
            <a:off x="766928" y="3450000"/>
            <a:ext cx="3163112" cy="1450000"/>
          </a:xfrm>
          <a:prstGeom prst="rect">
            <a:avLst/>
          </a:prstGeom>
          <a:noFill/>
          <a:ln/>
        </p:spPr>
        <p:txBody>
          <a:bodyPr wrap="square" lIns="0" tIns="0" rIns="0" bIns="0" rtlCol="0" anchor="t"/>
          <a:lstStyle/>
          <a:p>
            <a:pPr marL="0" indent="0" algn="ctr">
              <a:buNone/>
            </a:pPr>
            <a:r>
              <a:rPr lang="rw-RW" sz="1700" noProof="0" dirty="0">
                <a:solidFill>
                  <a:srgbClr val="1A1A1A"/>
                </a:solidFill>
                <a:latin typeface="Calibri" pitchFamily="34" charset="0"/>
                <a:ea typeface="Calibri" pitchFamily="34" charset="-122"/>
                <a:cs typeface="Calibri" pitchFamily="34" charset="-120"/>
              </a:rPr>
              <a:t>Ikizamini cya HPV. Iyo nta HPV ibonetse, azagaruka nyuma y'imyaka 10.</a:t>
            </a:r>
            <a:endParaRPr lang="rw-RW" sz="1700" dirty="0"/>
          </a:p>
        </p:txBody>
      </p:sp>
      <p:sp>
        <p:nvSpPr>
          <p:cNvPr id="8" name="Shape 8"/>
          <p:cNvSpPr/>
          <p:nvPr/>
        </p:nvSpPr>
        <p:spPr>
          <a:xfrm>
            <a:off x="4312920" y="1550000"/>
            <a:ext cx="3563112" cy="34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9" name="Text 9"/>
          <p:cNvSpPr txBox="1"/>
          <p:nvPr/>
        </p:nvSpPr>
        <p:spPr>
          <a:xfrm>
            <a:off x="4512920" y="1680000"/>
            <a:ext cx="3163112" cy="850000"/>
          </a:xfrm>
          <a:prstGeom prst="rect">
            <a:avLst/>
          </a:prstGeom>
          <a:noFill/>
          <a:ln/>
        </p:spPr>
        <p:txBody>
          <a:bodyPr wrap="square" lIns="0" tIns="0" rIns="0" bIns="0" rtlCol="0" anchor="ctr"/>
          <a:lstStyle/>
          <a:p>
            <a:pPr marL="0" indent="0" algn="ctr">
              <a:buNone/>
            </a:pPr>
            <a:r>
              <a:rPr lang="rw-RW" sz="4000" b="1" noProof="0" dirty="0">
                <a:solidFill>
                  <a:srgbClr val="1F4E96"/>
                </a:solidFill>
                <a:latin typeface="Calibri" pitchFamily="34" charset="0"/>
                <a:ea typeface="Calibri" pitchFamily="34" charset="-122"/>
                <a:cs typeface="Calibri" pitchFamily="34" charset="-120"/>
              </a:rPr>
              <a:t>25 - 49</a:t>
            </a:r>
            <a:endParaRPr lang="rw-RW" sz="4000" dirty="0"/>
          </a:p>
        </p:txBody>
      </p:sp>
      <p:sp>
        <p:nvSpPr>
          <p:cNvPr id="10" name="Text 10"/>
          <p:cNvSpPr txBox="1"/>
          <p:nvPr/>
        </p:nvSpPr>
        <p:spPr>
          <a:xfrm>
            <a:off x="4512920" y="2600000"/>
            <a:ext cx="3163112" cy="800000"/>
          </a:xfrm>
          <a:prstGeom prst="rect">
            <a:avLst/>
          </a:prstGeom>
          <a:noFill/>
          <a:ln/>
        </p:spPr>
        <p:txBody>
          <a:bodyPr wrap="square" lIns="0" tIns="0" rIns="0" bIns="0" rtlCol="0" anchor="t"/>
          <a:lstStyle/>
          <a:p>
            <a:pPr marL="0" indent="0" algn="ctr">
              <a:buNone/>
            </a:pPr>
            <a:r>
              <a:rPr lang="rw-RW" sz="1800" b="1" noProof="0" dirty="0">
                <a:solidFill>
                  <a:srgbClr val="10305A"/>
                </a:solidFill>
                <a:latin typeface="Calibri" pitchFamily="34" charset="0"/>
                <a:ea typeface="Calibri" pitchFamily="34" charset="-122"/>
                <a:cs typeface="Calibri" pitchFamily="34" charset="-120"/>
              </a:rPr>
              <a:t>Abagore babana na virusi itera SIDA</a:t>
            </a:r>
            <a:endParaRPr lang="rw-RW" sz="1800" dirty="0"/>
          </a:p>
        </p:txBody>
      </p:sp>
      <p:sp>
        <p:nvSpPr>
          <p:cNvPr id="11" name="Text 11"/>
          <p:cNvSpPr txBox="1"/>
          <p:nvPr/>
        </p:nvSpPr>
        <p:spPr>
          <a:xfrm>
            <a:off x="4512920" y="3450000"/>
            <a:ext cx="3163112" cy="1450000"/>
          </a:xfrm>
          <a:prstGeom prst="rect">
            <a:avLst/>
          </a:prstGeom>
          <a:noFill/>
          <a:ln/>
        </p:spPr>
        <p:txBody>
          <a:bodyPr wrap="square" lIns="0" tIns="0" rIns="0" bIns="0" rtlCol="0" anchor="t"/>
          <a:lstStyle/>
          <a:p>
            <a:pPr marL="0" indent="0" algn="ctr">
              <a:buNone/>
            </a:pPr>
            <a:r>
              <a:rPr lang="rw-RW" sz="1700" noProof="0" dirty="0">
                <a:solidFill>
                  <a:srgbClr val="1A1A1A"/>
                </a:solidFill>
                <a:latin typeface="Calibri" pitchFamily="34" charset="0"/>
                <a:ea typeface="Calibri" pitchFamily="34" charset="-122"/>
                <a:cs typeface="Calibri" pitchFamily="34" charset="-120"/>
              </a:rPr>
              <a:t>Ikizamini cya HPV. Iyo nta HPV ibonetse, azagaruka nyuma y'imyaka 5.</a:t>
            </a:r>
            <a:endParaRPr lang="rw-RW" sz="1700" dirty="0"/>
          </a:p>
        </p:txBody>
      </p:sp>
      <p:sp>
        <p:nvSpPr>
          <p:cNvPr id="12" name="Shape 12"/>
          <p:cNvSpPr/>
          <p:nvPr/>
        </p:nvSpPr>
        <p:spPr>
          <a:xfrm>
            <a:off x="8058912" y="1550000"/>
            <a:ext cx="3563112" cy="3450000"/>
          </a:xfrm>
          <a:prstGeom prst="roundRect">
            <a:avLst>
              <a:gd name="adj" fmla="val 3000"/>
            </a:avLst>
          </a:prstGeom>
          <a:solidFill>
            <a:srgbClr val="FFF2DF"/>
          </a:solidFill>
          <a:ln w="12700">
            <a:solidFill>
              <a:srgbClr val="E8DDC7"/>
            </a:solidFill>
          </a:ln>
        </p:spPr>
        <p:txBody>
          <a:bodyPr/>
          <a:lstStyle/>
          <a:p>
            <a:endParaRPr lang="rw-RW" sz="1600" dirty="0"/>
          </a:p>
        </p:txBody>
      </p:sp>
      <p:sp>
        <p:nvSpPr>
          <p:cNvPr id="13" name="Text 13"/>
          <p:cNvSpPr txBox="1"/>
          <p:nvPr/>
        </p:nvSpPr>
        <p:spPr>
          <a:xfrm>
            <a:off x="8258912" y="1680000"/>
            <a:ext cx="3163112" cy="850000"/>
          </a:xfrm>
          <a:prstGeom prst="rect">
            <a:avLst/>
          </a:prstGeom>
          <a:noFill/>
          <a:ln/>
        </p:spPr>
        <p:txBody>
          <a:bodyPr wrap="square" lIns="0" tIns="0" rIns="0" bIns="0" rtlCol="0" anchor="ctr"/>
          <a:lstStyle/>
          <a:p>
            <a:pPr marL="0" indent="0" algn="ctr">
              <a:buNone/>
            </a:pPr>
            <a:r>
              <a:rPr lang="rw-RW" sz="4000" b="1" noProof="0" dirty="0">
                <a:solidFill>
                  <a:srgbClr val="1F4E96"/>
                </a:solidFill>
                <a:latin typeface="Calibri" pitchFamily="34" charset="0"/>
                <a:ea typeface="Calibri" pitchFamily="34" charset="-122"/>
                <a:cs typeface="Calibri" pitchFamily="34" charset="-120"/>
              </a:rPr>
              <a:t>50 - 65</a:t>
            </a:r>
            <a:endParaRPr lang="rw-RW" sz="4000" dirty="0"/>
          </a:p>
        </p:txBody>
      </p:sp>
      <p:sp>
        <p:nvSpPr>
          <p:cNvPr id="14" name="Text 14"/>
          <p:cNvSpPr txBox="1"/>
          <p:nvPr/>
        </p:nvSpPr>
        <p:spPr>
          <a:xfrm>
            <a:off x="8258912" y="2600000"/>
            <a:ext cx="3163112" cy="800000"/>
          </a:xfrm>
          <a:prstGeom prst="rect">
            <a:avLst/>
          </a:prstGeom>
          <a:noFill/>
          <a:ln/>
        </p:spPr>
        <p:txBody>
          <a:bodyPr wrap="square" lIns="0" tIns="0" rIns="0" bIns="0" rtlCol="0" anchor="t"/>
          <a:lstStyle/>
          <a:p>
            <a:pPr marL="0" indent="0" algn="ctr">
              <a:buNone/>
            </a:pPr>
            <a:r>
              <a:rPr lang="rw-RW" sz="1800" b="1" noProof="0" dirty="0">
                <a:solidFill>
                  <a:srgbClr val="10305A"/>
                </a:solidFill>
                <a:latin typeface="Calibri" pitchFamily="34" charset="0"/>
                <a:ea typeface="Calibri" pitchFamily="34" charset="-122"/>
                <a:cs typeface="Calibri" pitchFamily="34" charset="-120"/>
              </a:rPr>
              <a:t>Abagore batarigeze bisuzumisha</a:t>
            </a:r>
            <a:endParaRPr lang="rw-RW" sz="1800" dirty="0"/>
          </a:p>
        </p:txBody>
      </p:sp>
      <p:sp>
        <p:nvSpPr>
          <p:cNvPr id="15" name="Text 15"/>
          <p:cNvSpPr txBox="1"/>
          <p:nvPr/>
        </p:nvSpPr>
        <p:spPr>
          <a:xfrm>
            <a:off x="8258912" y="3450000"/>
            <a:ext cx="3163112" cy="1450000"/>
          </a:xfrm>
          <a:prstGeom prst="rect">
            <a:avLst/>
          </a:prstGeom>
          <a:noFill/>
          <a:ln/>
        </p:spPr>
        <p:txBody>
          <a:bodyPr wrap="square" lIns="0" tIns="0" rIns="0" bIns="0" rtlCol="0" anchor="t"/>
          <a:lstStyle/>
          <a:p>
            <a:pPr marL="0" indent="0" algn="ctr">
              <a:buNone/>
            </a:pPr>
            <a:r>
              <a:rPr lang="rw-RW" sz="1700" noProof="0" dirty="0">
                <a:solidFill>
                  <a:srgbClr val="1A1A1A"/>
                </a:solidFill>
                <a:latin typeface="Calibri" pitchFamily="34" charset="0"/>
                <a:ea typeface="Calibri" pitchFamily="34" charset="-122"/>
                <a:cs typeface="Calibri" pitchFamily="34" charset="-120"/>
              </a:rPr>
              <a:t>Na bo barisuzumisha. Ikigo nderabuzima kizahitamo ikizamini gikwiye.</a:t>
            </a:r>
            <a:endParaRPr lang="rw-RW" sz="1700" dirty="0"/>
          </a:p>
        </p:txBody>
      </p:sp>
      <p:sp>
        <p:nvSpPr>
          <p:cNvPr id="16" name="Shape 16"/>
          <p:cNvSpPr/>
          <p:nvPr/>
        </p:nvSpPr>
        <p:spPr>
          <a:xfrm>
            <a:off x="566928" y="5200000"/>
            <a:ext cx="11055096" cy="950000"/>
          </a:xfrm>
          <a:prstGeom prst="roundRect">
            <a:avLst>
              <a:gd name="adj" fmla="val 3000"/>
            </a:avLst>
          </a:prstGeom>
          <a:solidFill>
            <a:srgbClr val="EAF7F0"/>
          </a:solidFill>
          <a:ln w="12700">
            <a:solidFill>
              <a:srgbClr val="C0D4CB"/>
            </a:solidFill>
          </a:ln>
        </p:spPr>
        <p:txBody>
          <a:bodyPr/>
          <a:lstStyle/>
          <a:p>
            <a:endParaRPr lang="rw-RW" sz="1600" dirty="0"/>
          </a:p>
        </p:txBody>
      </p:sp>
      <p:sp>
        <p:nvSpPr>
          <p:cNvPr id="17" name="Text 17"/>
          <p:cNvSpPr txBox="1"/>
          <p:nvPr/>
        </p:nvSpPr>
        <p:spPr>
          <a:xfrm>
            <a:off x="841248" y="5250000"/>
            <a:ext cx="10506456" cy="850000"/>
          </a:xfrm>
          <a:prstGeom prst="rect">
            <a:avLst/>
          </a:prstGeom>
          <a:noFill/>
          <a:ln/>
        </p:spPr>
        <p:txBody>
          <a:bodyPr wrap="square" lIns="0" tIns="0" rIns="0" bIns="0" rtlCol="0" anchor="ctr"/>
          <a:lstStyle/>
          <a:p>
            <a:pPr marL="0" indent="0" algn="l">
              <a:buNone/>
            </a:pPr>
            <a:r>
              <a:rPr lang="rw-RW" sz="1600" b="1" noProof="0" dirty="0">
                <a:solidFill>
                  <a:srgbClr val="1C6B3F"/>
                </a:solidFill>
                <a:latin typeface="Calibri" pitchFamily="34" charset="0"/>
                <a:ea typeface="Calibri" pitchFamily="34" charset="-122"/>
                <a:cs typeface="Calibri" pitchFamily="34" charset="-120"/>
              </a:rPr>
              <a:t>💬 Uruhare rwawe:  </a:t>
            </a:r>
            <a:r>
              <a:rPr lang="rw-RW" sz="1600" noProof="0" dirty="0">
                <a:solidFill>
                  <a:srgbClr val="1A1A1A"/>
                </a:solidFill>
                <a:latin typeface="Calibri" pitchFamily="34" charset="0"/>
                <a:ea typeface="Calibri" pitchFamily="34" charset="-122"/>
                <a:cs typeface="Calibri" pitchFamily="34" charset="-120"/>
              </a:rPr>
              <a:t>Shishikariza abagore bo mu byiciro byavuzwe kujya kwisuzumisha, harimo n'abafite imyaka 50 kugeza 65 batarigeze bisuzumisha.</a:t>
            </a:r>
            <a:endParaRPr lang="rw-RW" sz="1600" dirty="0"/>
          </a:p>
        </p:txBody>
      </p:sp>
      <p:sp>
        <p:nvSpPr>
          <p:cNvPr id="18" name="Text 18"/>
          <p:cNvSpPr txBox="1"/>
          <p:nvPr/>
        </p:nvSpPr>
        <p:spPr>
          <a:xfrm>
            <a:off x="566928" y="6345936"/>
            <a:ext cx="7315200" cy="274320"/>
          </a:xfrm>
          <a:prstGeom prst="rect">
            <a:avLst/>
          </a:prstGeom>
          <a:noFill/>
          <a:ln/>
        </p:spPr>
        <p:txBody>
          <a:bodyPr wrap="square" lIns="0" tIns="0" rIns="0" bIns="0" rtlCol="0" anchor="ctr"/>
          <a:lstStyle/>
          <a:p>
            <a:pPr marL="0" indent="0" algn="l">
              <a:buNone/>
            </a:pPr>
            <a:r>
              <a:rPr lang="rw-RW" sz="900" noProof="0" dirty="0">
                <a:solidFill>
                  <a:srgbClr val="777D86"/>
                </a:solidFill>
                <a:latin typeface="Calibri" pitchFamily="34" charset="0"/>
                <a:ea typeface="Calibri" pitchFamily="34" charset="-122"/>
                <a:cs typeface="Calibri" pitchFamily="34" charset="-120"/>
              </a:rPr>
              <a:t>Kanseri y'inkondo y'umura  |  Umujyanama w'Ubuzima  |  Ikigo cy'Igihugu Gishinzwe Ubuzima</a:t>
            </a:r>
            <a:endParaRPr lang="rw-RW" sz="900" dirty="0"/>
          </a:p>
        </p:txBody>
      </p:sp>
      <p:sp>
        <p:nvSpPr>
          <p:cNvPr id="19" name="Text 19"/>
          <p:cNvSpPr txBox="1"/>
          <p:nvPr/>
        </p:nvSpPr>
        <p:spPr>
          <a:xfrm>
            <a:off x="8881841" y="6345936"/>
            <a:ext cx="2743200" cy="274320"/>
          </a:xfrm>
          <a:prstGeom prst="rect">
            <a:avLst/>
          </a:prstGeom>
          <a:noFill/>
          <a:ln/>
        </p:spPr>
        <p:txBody>
          <a:bodyPr wrap="square" lIns="0" tIns="0" rIns="0" bIns="0" rtlCol="0" anchor="ctr"/>
          <a:lstStyle/>
          <a:p>
            <a:pPr marL="0" indent="0" algn="r">
              <a:buNone/>
            </a:pPr>
            <a:r>
              <a:rPr lang="rw-RW" sz="900" noProof="0" dirty="0">
                <a:solidFill>
                  <a:srgbClr val="777D86"/>
                </a:solidFill>
                <a:latin typeface="Calibri" pitchFamily="34" charset="0"/>
                <a:ea typeface="Calibri" pitchFamily="34" charset="-122"/>
                <a:cs typeface="Calibri" pitchFamily="34" charset="-120"/>
              </a:rPr>
              <a:t>Urupapuro rwa 62</a:t>
            </a:r>
            <a:endParaRPr lang="rw-RW"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B I S U B I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Icyo igisubizo gishobora gusobanura</a:t>
            </a:r>
          </a:p>
        </p:txBody>
      </p:sp>
      <p:sp>
        <p:nvSpPr>
          <p:cNvPr id="4" name="Rounded Rectangle 3"/>
          <p:cNvSpPr/>
          <p:nvPr/>
        </p:nvSpPr>
        <p:spPr>
          <a:xfrm>
            <a:off x="566929" y="1554479"/>
            <a:ext cx="3064245" cy="445291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5" name="TextBox 4"/>
          <p:cNvSpPr txBox="1"/>
          <p:nvPr/>
        </p:nvSpPr>
        <p:spPr>
          <a:xfrm>
            <a:off x="786385" y="1755648"/>
            <a:ext cx="2844790" cy="1334917"/>
          </a:xfrm>
          <a:prstGeom prst="rect">
            <a:avLst/>
          </a:prstGeom>
          <a:noFill/>
        </p:spPr>
        <p:txBody>
          <a:bodyPr wrap="square" lIns="0" tIns="0" rIns="0" bIns="0">
            <a:spAutoFit/>
          </a:bodyPr>
          <a:lstStyle/>
          <a:p>
            <a:pPr>
              <a:lnSpc>
                <a:spcPct val="114000"/>
              </a:lnSpc>
              <a:spcAft>
                <a:spcPts val="700"/>
              </a:spcAft>
            </a:pPr>
            <a:r>
              <a:rPr lang="en-GB" sz="1700" b="0" i="0" dirty="0">
                <a:solidFill>
                  <a:srgbClr val="1A1A1A"/>
                </a:solidFill>
                <a:latin typeface="Calibri"/>
              </a:rPr>
              <a:t>✅  </a:t>
            </a:r>
            <a:r>
              <a:rPr lang="en-GB" sz="1800" b="1" i="0" dirty="0">
                <a:solidFill>
                  <a:srgbClr val="1C6B3F"/>
                </a:solidFill>
                <a:latin typeface="Calibri"/>
              </a:rPr>
              <a:t>Nta cyabonetse</a:t>
            </a:r>
          </a:p>
          <a:p>
            <a:pPr>
              <a:lnSpc>
                <a:spcPct val="114000"/>
              </a:lnSpc>
              <a:spcAft>
                <a:spcPts val="700"/>
              </a:spcAft>
            </a:pPr>
            <a:r>
              <a:rPr lang="en-GB" sz="1800" b="0" i="0" dirty="0">
                <a:solidFill>
                  <a:srgbClr val="1A1A1A"/>
                </a:solidFill>
                <a:latin typeface="Calibri"/>
              </a:rPr>
              <a:t>Nta mpinduka zabonetse. Azagaruka igihe yagiriwemo inama.</a:t>
            </a:r>
          </a:p>
        </p:txBody>
      </p:sp>
      <p:sp>
        <p:nvSpPr>
          <p:cNvPr id="6" name="Rounded Rectangle 5"/>
          <p:cNvSpPr/>
          <p:nvPr/>
        </p:nvSpPr>
        <p:spPr>
          <a:xfrm>
            <a:off x="3897831" y="1554479"/>
            <a:ext cx="2928272" cy="4452915"/>
          </a:xfrm>
          <a:prstGeom prst="roundRect">
            <a:avLst>
              <a:gd name="adj" fmla="val 4500"/>
            </a:avLst>
          </a:prstGeom>
          <a:solidFill>
            <a:srgbClr val="FFF2DF"/>
          </a:solidFill>
          <a:ln w="12700">
            <a:solidFill>
              <a:srgbClr val="F3D9AE"/>
            </a:solidFill>
          </a:ln>
          <a:effectLst/>
        </p:spPr>
        <p:txBody>
          <a:bodyPr wrap="square" rtlCol="0" anchor="ctr"/>
          <a:lstStyle/>
          <a:p>
            <a:pPr algn="ctr"/>
            <a:endParaRPr lang="en-GB" dirty="0"/>
          </a:p>
        </p:txBody>
      </p:sp>
      <p:sp>
        <p:nvSpPr>
          <p:cNvPr id="7" name="TextBox 6"/>
          <p:cNvSpPr txBox="1"/>
          <p:nvPr/>
        </p:nvSpPr>
        <p:spPr>
          <a:xfrm>
            <a:off x="4117287" y="1755648"/>
            <a:ext cx="2462184" cy="1650708"/>
          </a:xfrm>
          <a:prstGeom prst="rect">
            <a:avLst/>
          </a:prstGeom>
          <a:noFill/>
        </p:spPr>
        <p:txBody>
          <a:bodyPr wrap="square" lIns="0" tIns="0" rIns="0" bIns="0">
            <a:spAutoFit/>
          </a:bodyPr>
          <a:lstStyle/>
          <a:p>
            <a:pPr>
              <a:lnSpc>
                <a:spcPct val="114000"/>
              </a:lnSpc>
              <a:spcAft>
                <a:spcPts val="700"/>
              </a:spcAft>
            </a:pPr>
            <a:r>
              <a:rPr lang="en-GB" sz="1500" b="0" i="0" dirty="0">
                <a:solidFill>
                  <a:srgbClr val="1A1A1A"/>
                </a:solidFill>
                <a:latin typeface="Calibri"/>
              </a:rPr>
              <a:t>🟠  </a:t>
            </a:r>
            <a:r>
              <a:rPr lang="en-GB" sz="1600" b="1" i="0" dirty="0">
                <a:solidFill>
                  <a:srgbClr val="94600B"/>
                </a:solidFill>
                <a:latin typeface="Calibri"/>
              </a:rPr>
              <a:t>Habonetse impinduka</a:t>
            </a:r>
          </a:p>
          <a:p>
            <a:pPr>
              <a:lnSpc>
                <a:spcPct val="114000"/>
              </a:lnSpc>
              <a:spcAft>
                <a:spcPts val="700"/>
              </a:spcAft>
            </a:pPr>
            <a:r>
              <a:rPr lang="en-GB" sz="1600" b="0" i="0" dirty="0">
                <a:solidFill>
                  <a:srgbClr val="1A1A1A"/>
                </a:solidFill>
                <a:latin typeface="Calibri"/>
              </a:rPr>
              <a:t>Habonetse impinduka. Si kanseri. Akeneye intambwe ikurikira, ishobora kuba kuvura iyo mpinduka.</a:t>
            </a:r>
          </a:p>
        </p:txBody>
      </p:sp>
      <p:sp>
        <p:nvSpPr>
          <p:cNvPr id="8" name="Rounded Rectangle 7"/>
          <p:cNvSpPr/>
          <p:nvPr/>
        </p:nvSpPr>
        <p:spPr>
          <a:xfrm>
            <a:off x="7090522" y="1554480"/>
            <a:ext cx="2840287" cy="4452914"/>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9" name="TextBox 8"/>
          <p:cNvSpPr txBox="1"/>
          <p:nvPr/>
        </p:nvSpPr>
        <p:spPr>
          <a:xfrm>
            <a:off x="7309978" y="1755648"/>
            <a:ext cx="2493241" cy="1966500"/>
          </a:xfrm>
          <a:prstGeom prst="rect">
            <a:avLst/>
          </a:prstGeom>
          <a:noFill/>
        </p:spPr>
        <p:txBody>
          <a:bodyPr wrap="square" lIns="0" tIns="0" rIns="0" bIns="0">
            <a:spAutoFit/>
          </a:bodyPr>
          <a:lstStyle/>
          <a:p>
            <a:pPr>
              <a:lnSpc>
                <a:spcPct val="114000"/>
              </a:lnSpc>
              <a:spcAft>
                <a:spcPts val="700"/>
              </a:spcAft>
            </a:pPr>
            <a:r>
              <a:rPr lang="en-GB" sz="1300" b="0" i="0" dirty="0">
                <a:solidFill>
                  <a:srgbClr val="1A1A1A"/>
                </a:solidFill>
                <a:latin typeface="Calibri"/>
              </a:rPr>
              <a:t>🔴  </a:t>
            </a:r>
            <a:r>
              <a:rPr lang="en-GB" sz="1350" b="1" i="0" dirty="0">
                <a:solidFill>
                  <a:srgbClr val="A31D1D"/>
                </a:solidFill>
                <a:latin typeface="Calibri"/>
              </a:rPr>
              <a:t>Bikeneye gusuzumwa neza kurushaho</a:t>
            </a:r>
          </a:p>
          <a:p>
            <a:pPr>
              <a:lnSpc>
                <a:spcPct val="114000"/>
              </a:lnSpc>
              <a:spcAft>
                <a:spcPts val="700"/>
              </a:spcAft>
            </a:pPr>
            <a:r>
              <a:rPr lang="en-GB" sz="1350" b="0" i="0" dirty="0">
                <a:solidFill>
                  <a:srgbClr val="1A1A1A"/>
                </a:solidFill>
                <a:latin typeface="Calibri"/>
              </a:rPr>
              <a:t>Hari ikintu cyabonetse kigomba gusuzumwa neza kurushaho </a:t>
            </a:r>
            <a:r>
              <a:rPr lang="en-GB" sz="1350" dirty="0">
                <a:solidFill>
                  <a:srgbClr val="1A1A1A"/>
                </a:solidFill>
                <a:latin typeface="Calibri"/>
              </a:rPr>
              <a:t>mu bitaro byoherezwamo abarwayi</a:t>
            </a:r>
            <a:r>
              <a:rPr lang="en-GB" sz="1350" b="0" i="0" dirty="0">
                <a:solidFill>
                  <a:srgbClr val="1A1A1A"/>
                </a:solidFill>
                <a:latin typeface="Calibri"/>
              </a:rPr>
              <a:t>. Ibi ntibisobanura ko ari kanseri.</a:t>
            </a:r>
          </a:p>
        </p:txBody>
      </p:sp>
      <p:sp>
        <p:nvSpPr>
          <p:cNvPr id="10" name="Rounded Rectangle 9"/>
          <p:cNvSpPr/>
          <p:nvPr/>
        </p:nvSpPr>
        <p:spPr>
          <a:xfrm>
            <a:off x="10195228" y="1563624"/>
            <a:ext cx="1798298" cy="4443770"/>
          </a:xfrm>
          <a:prstGeom prst="roundRect">
            <a:avLst>
              <a:gd name="adj" fmla="val 4500"/>
            </a:avLst>
          </a:prstGeom>
          <a:solidFill>
            <a:srgbClr val="ECF2FB"/>
          </a:solidFill>
          <a:ln w="12700">
            <a:solidFill>
              <a:srgbClr val="D3E0F2"/>
            </a:solidFill>
          </a:ln>
          <a:effectLst/>
        </p:spPr>
        <p:txBody>
          <a:bodyPr wrap="square" rtlCol="0" anchor="ctr"/>
          <a:lstStyle/>
          <a:p>
            <a:pPr algn="ctr"/>
            <a:endParaRPr lang="en-GB" dirty="0"/>
          </a:p>
        </p:txBody>
      </p:sp>
      <p:sp>
        <p:nvSpPr>
          <p:cNvPr id="11" name="TextBox 10"/>
          <p:cNvSpPr txBox="1"/>
          <p:nvPr/>
        </p:nvSpPr>
        <p:spPr>
          <a:xfrm>
            <a:off x="10320241" y="1862993"/>
            <a:ext cx="1572873" cy="3705951"/>
          </a:xfrm>
          <a:prstGeom prst="rect">
            <a:avLst/>
          </a:prstGeom>
          <a:noFill/>
        </p:spPr>
        <p:txBody>
          <a:bodyPr wrap="square" lIns="0" tIns="0" rIns="0" bIns="0">
            <a:spAutoFit/>
          </a:bodyPr>
          <a:lstStyle/>
          <a:p>
            <a:pPr>
              <a:lnSpc>
                <a:spcPct val="112000"/>
              </a:lnSpc>
            </a:pPr>
            <a:r>
              <a:rPr lang="en-GB" sz="1400" b="1" i="0" dirty="0">
                <a:solidFill>
                  <a:srgbClr val="1F4E96"/>
                </a:solidFill>
                <a:latin typeface="Calibri"/>
              </a:rPr>
              <a:t>📌 Wibuke  </a:t>
            </a:r>
          </a:p>
          <a:p>
            <a:pPr>
              <a:lnSpc>
                <a:spcPct val="112000"/>
              </a:lnSpc>
            </a:pPr>
            <a:endParaRPr lang="en-GB" sz="1400" b="0" i="0" dirty="0">
              <a:solidFill>
                <a:srgbClr val="1A1A1A"/>
              </a:solidFill>
              <a:latin typeface="Calibri"/>
            </a:endParaRPr>
          </a:p>
          <a:p>
            <a:pPr>
              <a:lnSpc>
                <a:spcPct val="112000"/>
              </a:lnSpc>
            </a:pPr>
            <a:r>
              <a:rPr lang="en-GB" sz="1400" b="0" i="0" dirty="0">
                <a:solidFill>
                  <a:srgbClr val="1A1A1A"/>
                </a:solidFill>
                <a:latin typeface="Calibri"/>
              </a:rPr>
              <a:t>Igisubizo kigaragaza ubwandu cyangwa ikibazo si icyemezo cya kanseri. Bisobanura ko umugore akeneye kurangiza intambwe ikurikira yo kwitabwaho.</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63</a:t>
            </a:r>
          </a:p>
        </p:txBody>
      </p:sp>
      <p:pic>
        <p:nvPicPr>
          <p:cNvPr id="15" name="Picture 14">
            <a:extLst>
              <a:ext uri="{FF2B5EF4-FFF2-40B4-BE49-F238E27FC236}">
                <a16:creationId xmlns:a16="http://schemas.microsoft.com/office/drawing/2014/main" id="{2B14A15C-FE4A-773C-7991-C98FF57FA75F}"/>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810420" y="3202086"/>
            <a:ext cx="2273021" cy="2708238"/>
          </a:xfrm>
          <a:prstGeom prst="rect">
            <a:avLst/>
          </a:prstGeom>
        </p:spPr>
      </p:pic>
      <p:pic>
        <p:nvPicPr>
          <p:cNvPr id="17" name="Picture 16">
            <a:extLst>
              <a:ext uri="{FF2B5EF4-FFF2-40B4-BE49-F238E27FC236}">
                <a16:creationId xmlns:a16="http://schemas.microsoft.com/office/drawing/2014/main" id="{C48B3E48-90A8-4673-7C3B-A1E8F422473C}"/>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301467" y="3406356"/>
            <a:ext cx="2048612" cy="2444772"/>
          </a:xfrm>
          <a:prstGeom prst="rect">
            <a:avLst/>
          </a:prstGeom>
        </p:spPr>
      </p:pic>
      <p:pic>
        <p:nvPicPr>
          <p:cNvPr id="19" name="Picture 18">
            <a:extLst>
              <a:ext uri="{FF2B5EF4-FFF2-40B4-BE49-F238E27FC236}">
                <a16:creationId xmlns:a16="http://schemas.microsoft.com/office/drawing/2014/main" id="{923C8BC7-339E-A781-F69E-E6D25762458C}"/>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7565158" y="3786156"/>
            <a:ext cx="1759595" cy="210323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600" b="1" i="0" dirty="0">
                <a:solidFill>
                  <a:srgbClr val="10305A"/>
                </a:solidFill>
                <a:latin typeface="Cambria"/>
              </a:rPr>
              <a:t>Gusobanura igisubizo</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aje kukureba ahangayitse cyane. Igisubizo cy'isuzuma rye cyagaragaje ubwandu, kandi yibwira ko agiye gupfa. Ni iki cy'ukuri?</a:t>
            </a:r>
          </a:p>
        </p:txBody>
      </p:sp>
      <p:sp>
        <p:nvSpPr>
          <p:cNvPr id="5" name="Rounded Rectangle 4"/>
          <p:cNvSpPr/>
          <p:nvPr/>
        </p:nvSpPr>
        <p:spPr>
          <a:xfrm>
            <a:off x="566928" y="2304288"/>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Arwaye kanseri kandi agomba gutegura umuryango we</a:t>
            </a:r>
          </a:p>
        </p:txBody>
      </p:sp>
      <p:sp>
        <p:nvSpPr>
          <p:cNvPr id="7" name="Rounded Rectangle 6"/>
          <p:cNvSpPr/>
          <p:nvPr/>
        </p:nvSpPr>
        <p:spPr>
          <a:xfrm>
            <a:off x="566928" y="2888611"/>
            <a:ext cx="11058113" cy="752484"/>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943475"/>
            <a:ext cx="10006553" cy="642756"/>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Igisubizo kigaragaza ubwandu bisobanura ko habonetse impinduka kandi hakenewe intambwe ikurikira yo kwitabwaho, ntibisobanura ko arwaye kanseri</a:t>
            </a:r>
          </a:p>
        </p:txBody>
      </p:sp>
      <p:sp>
        <p:nvSpPr>
          <p:cNvPr id="10" name="Rounded Rectangle 9"/>
          <p:cNvSpPr/>
          <p:nvPr/>
        </p:nvSpPr>
        <p:spPr>
          <a:xfrm>
            <a:off x="566928" y="3741680"/>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796544"/>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Ikizamini gikunze kwibeshya, ashobora kucyirengagiza</a:t>
            </a:r>
          </a:p>
        </p:txBody>
      </p:sp>
      <p:sp>
        <p:nvSpPr>
          <p:cNvPr id="12" name="Rounded Rectangle 11"/>
          <p:cNvSpPr/>
          <p:nvPr/>
        </p:nvSpPr>
        <p:spPr>
          <a:xfrm>
            <a:off x="566928" y="4326004"/>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380868"/>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Agomba gutegereza ibimenyetso mbere yo kugira icyo akora</a:t>
            </a:r>
          </a:p>
        </p:txBody>
      </p:sp>
      <p:sp>
        <p:nvSpPr>
          <p:cNvPr id="14" name="Rounded Rectangle 13"/>
          <p:cNvSpPr/>
          <p:nvPr/>
        </p:nvSpPr>
        <p:spPr>
          <a:xfrm>
            <a:off x="566928" y="4919471"/>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5047487"/>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Igisubizo cy'isuzuma kigaragaza ubwandu kigaragaza umugore ukeneye intambwe ikurikira, si umugore urwaye kanseri. Kumubwira ko ikizamini gishobora kwirengagizwa ni ukumushyira mu kaga, naho kumubwira ko arwaye kanseri si ukuri. Musobanurire intambwe ikurikira kandi umufashe kuyigeraho.</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64</a:t>
            </a:r>
          </a:p>
        </p:txBody>
      </p:sp>
      <p:sp>
        <p:nvSpPr>
          <p:cNvPr id="9" name="TextBox 8"/>
          <p:cNvSpPr txBox="1"/>
          <p:nvPr/>
        </p:nvSpPr>
        <p:spPr>
          <a:xfrm>
            <a:off x="11094689" y="3127694"/>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B I M E N Y E T S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Indwara igitangira ntigaragaza ibimenyetso</a:t>
            </a:r>
          </a:p>
        </p:txBody>
      </p:sp>
      <p:sp>
        <p:nvSpPr>
          <p:cNvPr id="4" name="Rounded Rectangle 3"/>
          <p:cNvSpPr/>
          <p:nvPr/>
        </p:nvSpPr>
        <p:spPr>
          <a:xfrm>
            <a:off x="566928" y="1554480"/>
            <a:ext cx="3657600" cy="360826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786384" y="2074603"/>
            <a:ext cx="3206161" cy="929357"/>
          </a:xfrm>
          <a:prstGeom prst="rect">
            <a:avLst/>
          </a:prstGeom>
          <a:noFill/>
        </p:spPr>
        <p:txBody>
          <a:bodyPr wrap="square" lIns="0" tIns="0" rIns="0" bIns="0">
            <a:spAutoFit/>
          </a:bodyPr>
          <a:lstStyle/>
          <a:p>
            <a:pPr>
              <a:lnSpc>
                <a:spcPct val="114000"/>
              </a:lnSpc>
              <a:spcAft>
                <a:spcPts val="700"/>
              </a:spcAft>
            </a:pPr>
            <a:r>
              <a:rPr lang="en-GB" sz="1350" b="0" i="0" dirty="0">
                <a:solidFill>
                  <a:srgbClr val="1A1A1A"/>
                </a:solidFill>
                <a:latin typeface="Calibri"/>
              </a:rPr>
              <a:t>Impinduka za mbere na kanseri y'inkondo y'umura igitangira akenshi nta kintu bitera umugore yakwiyumvamo.</a:t>
            </a:r>
          </a:p>
        </p:txBody>
      </p:sp>
      <p:sp>
        <p:nvSpPr>
          <p:cNvPr id="6" name="Rounded Rectangle 5"/>
          <p:cNvSpPr/>
          <p:nvPr/>
        </p:nvSpPr>
        <p:spPr>
          <a:xfrm>
            <a:off x="4378971" y="1554480"/>
            <a:ext cx="3503157" cy="360826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4563861" y="1755648"/>
            <a:ext cx="3064245" cy="2011680"/>
          </a:xfrm>
          <a:prstGeom prst="rect">
            <a:avLst/>
          </a:prstGeom>
          <a:noFill/>
        </p:spPr>
        <p:txBody>
          <a:bodyPr wrap="square" lIns="0" tIns="0" rIns="0" bIns="0">
            <a:spAutoFit/>
          </a:bodyPr>
          <a:lstStyle/>
          <a:p>
            <a:pPr>
              <a:lnSpc>
                <a:spcPct val="114000"/>
              </a:lnSpc>
              <a:spcAft>
                <a:spcPts val="700"/>
              </a:spcAft>
            </a:pPr>
            <a:r>
              <a:rPr lang="en-GB" sz="1500" b="0" i="0" dirty="0">
                <a:solidFill>
                  <a:srgbClr val="1A1A1A"/>
                </a:solidFill>
                <a:latin typeface="Calibri"/>
              </a:rPr>
              <a:t>⏱  </a:t>
            </a:r>
            <a:r>
              <a:rPr lang="en-GB" sz="1600" b="1" i="0" dirty="0">
                <a:solidFill>
                  <a:srgbClr val="10305A"/>
                </a:solidFill>
                <a:latin typeface="Calibri"/>
              </a:rPr>
              <a:t>Ibimenyetso biza nyuma</a:t>
            </a:r>
          </a:p>
          <a:p>
            <a:pPr>
              <a:lnSpc>
                <a:spcPct val="114000"/>
              </a:lnSpc>
              <a:spcAft>
                <a:spcPts val="700"/>
              </a:spcAft>
            </a:pPr>
            <a:r>
              <a:rPr lang="en-GB" sz="1600" b="0" i="0" dirty="0">
                <a:solidFill>
                  <a:srgbClr val="1A1A1A"/>
                </a:solidFill>
                <a:latin typeface="Calibri"/>
              </a:rPr>
              <a:t>Iyo ibimenyetso bigaragaye, akenshi indwara iba imaze igihe kirekire ikura.</a:t>
            </a:r>
          </a:p>
        </p:txBody>
      </p:sp>
      <p:sp>
        <p:nvSpPr>
          <p:cNvPr id="8" name="Rounded Rectangle 7"/>
          <p:cNvSpPr/>
          <p:nvPr/>
        </p:nvSpPr>
        <p:spPr>
          <a:xfrm>
            <a:off x="8121883" y="1554479"/>
            <a:ext cx="3503157" cy="364484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341339" y="1755648"/>
            <a:ext cx="3064245" cy="2011680"/>
          </a:xfrm>
          <a:prstGeom prst="rect">
            <a:avLst/>
          </a:prstGeom>
          <a:noFill/>
        </p:spPr>
        <p:txBody>
          <a:bodyPr wrap="square" lIns="0" tIns="0" rIns="0" bIns="0">
            <a:spAutoFit/>
          </a:bodyPr>
          <a:lstStyle/>
          <a:p>
            <a:pPr>
              <a:lnSpc>
                <a:spcPct val="114000"/>
              </a:lnSpc>
              <a:spcAft>
                <a:spcPts val="700"/>
              </a:spcAft>
            </a:pPr>
            <a:r>
              <a:rPr lang="en-GB" sz="1450" b="0" i="0" dirty="0">
                <a:solidFill>
                  <a:srgbClr val="1A1A1A"/>
                </a:solidFill>
                <a:latin typeface="Calibri"/>
              </a:rPr>
              <a:t>🔎  </a:t>
            </a:r>
            <a:r>
              <a:rPr lang="en-GB" sz="1500" b="1" i="0" dirty="0">
                <a:solidFill>
                  <a:srgbClr val="10305A"/>
                </a:solidFill>
                <a:latin typeface="Calibri"/>
              </a:rPr>
              <a:t>Ntugategereze rero</a:t>
            </a:r>
          </a:p>
          <a:p>
            <a:pPr>
              <a:lnSpc>
                <a:spcPct val="114000"/>
              </a:lnSpc>
              <a:spcAft>
                <a:spcPts val="700"/>
              </a:spcAft>
            </a:pPr>
            <a:r>
              <a:rPr lang="en-GB" sz="1500" b="0" i="0" dirty="0">
                <a:solidFill>
                  <a:srgbClr val="1A1A1A"/>
                </a:solidFill>
                <a:latin typeface="Calibri"/>
              </a:rPr>
              <a:t>Iyi ni yo mpamvu nyayo kwisuzumisha ari ingenzi. Gutegereza ibimenyetso ni ugutegereza igihe kirekire cyane.</a:t>
            </a:r>
          </a:p>
        </p:txBody>
      </p:sp>
      <p:sp>
        <p:nvSpPr>
          <p:cNvPr id="10" name="Rounded Rectangle 9"/>
          <p:cNvSpPr/>
          <p:nvPr/>
        </p:nvSpPr>
        <p:spPr>
          <a:xfrm>
            <a:off x="566928" y="5290762"/>
            <a:ext cx="11058113" cy="932688"/>
          </a:xfrm>
          <a:prstGeom prst="roundRect">
            <a:avLst>
              <a:gd name="adj" fmla="val 4500"/>
            </a:avLst>
          </a:prstGeom>
          <a:solidFill>
            <a:srgbClr val="FFF2DF"/>
          </a:solidFill>
          <a:ln w="12700">
            <a:solidFill>
              <a:srgbClr val="F3D9AE"/>
            </a:solidFill>
          </a:ln>
          <a:effectLst/>
        </p:spPr>
        <p:txBody>
          <a:bodyPr wrap="square" rtlCol="0" anchor="ctr"/>
          <a:lstStyle/>
          <a:p>
            <a:pPr algn="ctr"/>
            <a:endParaRPr lang="en-GB" dirty="0"/>
          </a:p>
        </p:txBody>
      </p:sp>
      <p:sp>
        <p:nvSpPr>
          <p:cNvPr id="11" name="TextBox 10"/>
          <p:cNvSpPr txBox="1"/>
          <p:nvPr/>
        </p:nvSpPr>
        <p:spPr>
          <a:xfrm>
            <a:off x="804672" y="5437066"/>
            <a:ext cx="10582625" cy="658368"/>
          </a:xfrm>
          <a:prstGeom prst="rect">
            <a:avLst/>
          </a:prstGeom>
          <a:noFill/>
        </p:spPr>
        <p:txBody>
          <a:bodyPr wrap="square" lIns="0" tIns="0" rIns="0" bIns="0">
            <a:spAutoFit/>
          </a:bodyPr>
          <a:lstStyle/>
          <a:p>
            <a:pPr>
              <a:lnSpc>
                <a:spcPct val="112000"/>
              </a:lnSpc>
            </a:pPr>
            <a:r>
              <a:rPr lang="en-GB" sz="1800" b="1" i="0" dirty="0">
                <a:solidFill>
                  <a:srgbClr val="94600B"/>
                </a:solidFill>
                <a:latin typeface="Calibri"/>
              </a:rPr>
              <a:t>⚠ Ni ingenzi:  </a:t>
            </a:r>
            <a:r>
              <a:rPr lang="en-GB" sz="1800" b="0" i="0" dirty="0">
                <a:solidFill>
                  <a:srgbClr val="1A1A1A"/>
                </a:solidFill>
                <a:latin typeface="Calibri"/>
              </a:rPr>
              <a:t>Ntuzigere ubwira umugore ko adakeneye kwisuzumisha kubera ko nta bimenyetso afite. Kutagira ibimenyetso ni ibisanzwe.</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65</a:t>
            </a:r>
          </a:p>
        </p:txBody>
      </p:sp>
      <p:pic>
        <p:nvPicPr>
          <p:cNvPr id="15" name="Picture 14">
            <a:extLst>
              <a:ext uri="{FF2B5EF4-FFF2-40B4-BE49-F238E27FC236}">
                <a16:creationId xmlns:a16="http://schemas.microsoft.com/office/drawing/2014/main" id="{FA4F8A2D-E720-DA2D-13B1-21C21EF9B909}"/>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593176" y="3095400"/>
            <a:ext cx="1674235" cy="1994802"/>
          </a:xfrm>
          <a:prstGeom prst="rect">
            <a:avLst/>
          </a:prstGeom>
        </p:spPr>
      </p:pic>
      <p:pic>
        <p:nvPicPr>
          <p:cNvPr id="17" name="Picture 16">
            <a:extLst>
              <a:ext uri="{FF2B5EF4-FFF2-40B4-BE49-F238E27FC236}">
                <a16:creationId xmlns:a16="http://schemas.microsoft.com/office/drawing/2014/main" id="{828279F5-49F3-465F-6B77-BC282289C48C}"/>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4534886" y="3306726"/>
            <a:ext cx="3107289" cy="1678589"/>
          </a:xfrm>
          <a:prstGeom prst="rect">
            <a:avLst/>
          </a:prstGeom>
        </p:spPr>
      </p:pic>
      <p:pic>
        <p:nvPicPr>
          <p:cNvPr id="19" name="Picture 18">
            <a:extLst>
              <a:ext uri="{FF2B5EF4-FFF2-40B4-BE49-F238E27FC236}">
                <a16:creationId xmlns:a16="http://schemas.microsoft.com/office/drawing/2014/main" id="{7185A086-A62D-A633-1EA7-D102F4D021E3}"/>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506046" y="3266557"/>
            <a:ext cx="2732568" cy="1821713"/>
          </a:xfrm>
          <a:prstGeom prst="rect">
            <a:avLst/>
          </a:prstGeom>
        </p:spPr>
      </p:pic>
      <p:sp>
        <p:nvSpPr>
          <p:cNvPr id="23" name="TextBox 22">
            <a:extLst>
              <a:ext uri="{FF2B5EF4-FFF2-40B4-BE49-F238E27FC236}">
                <a16:creationId xmlns:a16="http://schemas.microsoft.com/office/drawing/2014/main" id="{7B826C1E-C94D-28BB-E57C-ED8E2341E695}"/>
              </a:ext>
            </a:extLst>
          </p:cNvPr>
          <p:cNvSpPr txBox="1"/>
          <p:nvPr/>
        </p:nvSpPr>
        <p:spPr>
          <a:xfrm>
            <a:off x="804673" y="1651723"/>
            <a:ext cx="3147102" cy="297774"/>
          </a:xfrm>
          <a:prstGeom prst="rect">
            <a:avLst/>
          </a:prstGeom>
          <a:noFill/>
        </p:spPr>
        <p:txBody>
          <a:bodyPr wrap="square" lIns="0" tIns="0" rIns="0" bIns="0">
            <a:spAutoFit/>
          </a:bodyPr>
          <a:lstStyle/>
          <a:p>
            <a:pPr>
              <a:lnSpc>
                <a:spcPct val="114000"/>
              </a:lnSpc>
              <a:spcAft>
                <a:spcPts val="700"/>
              </a:spcAft>
            </a:pPr>
            <a:r>
              <a:rPr lang="en-GB" sz="1350" b="0" i="0" dirty="0">
                <a:solidFill>
                  <a:srgbClr val="1A1A1A"/>
                </a:solidFill>
                <a:latin typeface="Calibri"/>
              </a:rPr>
              <a:t>🔇  </a:t>
            </a:r>
            <a:r>
              <a:rPr lang="en-GB" sz="1450" b="1" i="0" dirty="0">
                <a:solidFill>
                  <a:srgbClr val="10305A"/>
                </a:solidFill>
                <a:latin typeface="Calibri"/>
              </a:rPr>
              <a:t>Nta bimenyetso na busa</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B I M E N Y E T S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Ibimenyetso bigomba gusuzumwa</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Ibi bimenyetso bishobora guterwa n'impamvu nyinshi. Nta na kimwe cyemeza kanseri. Byose bigomba gusuzumirwa ku ivuriro.</a:t>
            </a:r>
          </a:p>
        </p:txBody>
      </p:sp>
      <p:sp>
        <p:nvSpPr>
          <p:cNvPr id="5" name="Rounded Rectangle 4"/>
          <p:cNvSpPr/>
          <p:nvPr/>
        </p:nvSpPr>
        <p:spPr>
          <a:xfrm>
            <a:off x="566928" y="2331720"/>
            <a:ext cx="11058113" cy="62910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22960" y="2490825"/>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7" name="TextBox 6"/>
          <p:cNvSpPr txBox="1"/>
          <p:nvPr/>
        </p:nvSpPr>
        <p:spPr>
          <a:xfrm>
            <a:off x="1389888" y="2423160"/>
            <a:ext cx="9960833" cy="482803"/>
          </a:xfrm>
          <a:prstGeom prst="rect">
            <a:avLst/>
          </a:prstGeom>
          <a:noFill/>
        </p:spPr>
        <p:txBody>
          <a:bodyPr wrap="square" lIns="0" tIns="0" rIns="0" bIns="0" anchor="ctr">
            <a:spAutoFit/>
          </a:bodyPr>
          <a:lstStyle/>
          <a:p>
            <a:pPr>
              <a:lnSpc>
                <a:spcPct val="110000"/>
              </a:lnSpc>
            </a:pPr>
            <a:r>
              <a:rPr lang="en-GB" sz="1500" b="1" i="0" dirty="0">
                <a:solidFill>
                  <a:srgbClr val="10305A"/>
                </a:solidFill>
                <a:latin typeface="Calibri"/>
              </a:rPr>
              <a:t>Kuva amaraso nyuma y'imibonano mpuzabitsina.  </a:t>
            </a:r>
            <a:r>
              <a:rPr lang="en-GB" sz="1500" b="0" i="0" dirty="0">
                <a:solidFill>
                  <a:srgbClr val="1A1A1A"/>
                </a:solidFill>
                <a:latin typeface="Calibri"/>
              </a:rPr>
              <a:t>Ku myaka iyo ari yo yose, bigomba gusuzumwa.</a:t>
            </a:r>
          </a:p>
        </p:txBody>
      </p:sp>
      <p:sp>
        <p:nvSpPr>
          <p:cNvPr id="8" name="Rounded Rectangle 7"/>
          <p:cNvSpPr/>
          <p:nvPr/>
        </p:nvSpPr>
        <p:spPr>
          <a:xfrm>
            <a:off x="566928" y="3088843"/>
            <a:ext cx="11058113" cy="62910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22960" y="324794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0" name="TextBox 9"/>
          <p:cNvSpPr txBox="1"/>
          <p:nvPr/>
        </p:nvSpPr>
        <p:spPr>
          <a:xfrm>
            <a:off x="1389888" y="3180283"/>
            <a:ext cx="9960833" cy="4828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Kuva amaraso hagati y'imihango.  </a:t>
            </a:r>
            <a:r>
              <a:rPr lang="en-GB" sz="1800" b="0" i="0" dirty="0">
                <a:solidFill>
                  <a:srgbClr val="1A1A1A"/>
                </a:solidFill>
                <a:latin typeface="Calibri"/>
              </a:rPr>
              <a:t>Cyane cyane iyo bibaye inshuro irenze imwe.</a:t>
            </a:r>
          </a:p>
        </p:txBody>
      </p:sp>
      <p:sp>
        <p:nvSpPr>
          <p:cNvPr id="11" name="Rounded Rectangle 10"/>
          <p:cNvSpPr/>
          <p:nvPr/>
        </p:nvSpPr>
        <p:spPr>
          <a:xfrm>
            <a:off x="566928" y="3845966"/>
            <a:ext cx="11058113" cy="62910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22960" y="400507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3" name="TextBox 12"/>
          <p:cNvSpPr txBox="1"/>
          <p:nvPr/>
        </p:nvSpPr>
        <p:spPr>
          <a:xfrm>
            <a:off x="1389888" y="3937406"/>
            <a:ext cx="9960833" cy="4828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Kuva amaraso ako ari ko kose nyuma y'uko imihango ihagaze.  </a:t>
            </a:r>
            <a:r>
              <a:rPr lang="en-GB" sz="1800" b="0" i="0" dirty="0">
                <a:solidFill>
                  <a:srgbClr val="1A1A1A"/>
                </a:solidFill>
                <a:latin typeface="Calibri"/>
              </a:rPr>
              <a:t>Kuva amaraso nyuma yo gucura buri gihe bigomba gusuzumwa.</a:t>
            </a:r>
          </a:p>
        </p:txBody>
      </p:sp>
      <p:sp>
        <p:nvSpPr>
          <p:cNvPr id="14" name="Rounded Rectangle 13"/>
          <p:cNvSpPr/>
          <p:nvPr/>
        </p:nvSpPr>
        <p:spPr>
          <a:xfrm>
            <a:off x="566928" y="4603089"/>
            <a:ext cx="11058113" cy="62910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TextBox 14"/>
          <p:cNvSpPr txBox="1"/>
          <p:nvPr/>
        </p:nvSpPr>
        <p:spPr>
          <a:xfrm>
            <a:off x="822960" y="4762195"/>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6" name="TextBox 15"/>
          <p:cNvSpPr txBox="1"/>
          <p:nvPr/>
        </p:nvSpPr>
        <p:spPr>
          <a:xfrm>
            <a:off x="1389888" y="4694529"/>
            <a:ext cx="9960833" cy="4828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Ibisohoka mu gitsina bidasanzwe kandi bidashira.  </a:t>
            </a:r>
            <a:r>
              <a:rPr lang="en-GB" sz="1800" b="0" i="0" dirty="0">
                <a:solidFill>
                  <a:srgbClr val="1A1A1A"/>
                </a:solidFill>
                <a:latin typeface="Calibri"/>
              </a:rPr>
              <a:t>Cyane cyane ibinuka nabi.</a:t>
            </a:r>
          </a:p>
        </p:txBody>
      </p:sp>
      <p:sp>
        <p:nvSpPr>
          <p:cNvPr id="17" name="Rounded Rectangle 16"/>
          <p:cNvSpPr/>
          <p:nvPr/>
        </p:nvSpPr>
        <p:spPr>
          <a:xfrm>
            <a:off x="566928" y="5360212"/>
            <a:ext cx="11058113" cy="62910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8" name="TextBox 17"/>
          <p:cNvSpPr txBox="1"/>
          <p:nvPr/>
        </p:nvSpPr>
        <p:spPr>
          <a:xfrm>
            <a:off x="822960" y="551931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9" name="TextBox 18"/>
          <p:cNvSpPr txBox="1"/>
          <p:nvPr/>
        </p:nvSpPr>
        <p:spPr>
          <a:xfrm>
            <a:off x="1389888" y="5451652"/>
            <a:ext cx="9960833" cy="4828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Ububabare budashira mu nda yo hasi, cyangwa ububabare mu gihe cy'imibonano mpuzabitsina.  </a:t>
            </a:r>
            <a:r>
              <a:rPr lang="en-GB" sz="1800" b="0" i="0" dirty="0">
                <a:solidFill>
                  <a:srgbClr val="1A1A1A"/>
                </a:solidFill>
                <a:latin typeface="Calibri"/>
              </a:rPr>
              <a:t>Ububabare budashira bugomba gusuzumwa.</a:t>
            </a:r>
          </a:p>
        </p:txBody>
      </p:sp>
      <p:sp>
        <p:nvSpPr>
          <p:cNvPr id="20" name="TextBox 19"/>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1" name="TextBox 20"/>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66</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Ni nde wafatira ingamba?</a:t>
            </a:r>
          </a:p>
        </p:txBody>
      </p:sp>
      <p:sp>
        <p:nvSpPr>
          <p:cNvPr id="4" name="TextBox 3"/>
          <p:cNvSpPr txBox="1"/>
          <p:nvPr/>
        </p:nvSpPr>
        <p:spPr>
          <a:xfrm>
            <a:off x="566928" y="1517904"/>
            <a:ext cx="11058113" cy="320040"/>
          </a:xfrm>
          <a:prstGeom prst="rect">
            <a:avLst/>
          </a:prstGeom>
          <a:noFill/>
        </p:spPr>
        <p:txBody>
          <a:bodyPr wrap="square" lIns="0" tIns="0" rIns="0" bIns="0">
            <a:spAutoFit/>
          </a:bodyPr>
          <a:lstStyle/>
          <a:p>
            <a:r>
              <a:rPr lang="en-GB" sz="1700" b="0" i="1" dirty="0">
                <a:solidFill>
                  <a:srgbClr val="1F4E96"/>
                </a:solidFill>
                <a:latin typeface="Calibri"/>
              </a:rPr>
              <a:t>Hitamo ugomba koherezwa gusuzumwa uyu munsi.</a:t>
            </a:r>
          </a:p>
        </p:txBody>
      </p:sp>
      <p:sp>
        <p:nvSpPr>
          <p:cNvPr id="5" name="TextBox 4"/>
          <p:cNvSpPr txBox="1"/>
          <p:nvPr/>
        </p:nvSpPr>
        <p:spPr>
          <a:xfrm>
            <a:off x="566928" y="1920240"/>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Abagore bane bakuganirije mu nama y'abaturage. Ni nde ukeneye gusuzumirwa ku ivuriro?</a:t>
            </a:r>
          </a:p>
        </p:txBody>
      </p:sp>
      <p:sp>
        <p:nvSpPr>
          <p:cNvPr id="6" name="Rounded Rectangle 5"/>
          <p:cNvSpPr/>
          <p:nvPr/>
        </p:nvSpPr>
        <p:spPr>
          <a:xfrm>
            <a:off x="566928" y="2706624"/>
            <a:ext cx="11058113" cy="45034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841247" y="2761488"/>
            <a:ext cx="10006553" cy="340614"/>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Umugore wabonye imihango ku gihe gisanzwe, ikamara iminsi itatu</a:t>
            </a:r>
          </a:p>
        </p:txBody>
      </p:sp>
      <p:sp>
        <p:nvSpPr>
          <p:cNvPr id="8" name="Rounded Rectangle 7"/>
          <p:cNvSpPr/>
          <p:nvPr/>
        </p:nvSpPr>
        <p:spPr>
          <a:xfrm>
            <a:off x="566928" y="3257550"/>
            <a:ext cx="11058113" cy="45034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9" name="TextBox 8"/>
          <p:cNvSpPr txBox="1"/>
          <p:nvPr/>
        </p:nvSpPr>
        <p:spPr>
          <a:xfrm>
            <a:off x="841247" y="3312414"/>
            <a:ext cx="10006553" cy="340614"/>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Umugore w'imyaka 58 wacuze mu myaka itandatu ishize, akaba amaze kuva amaraso kabiri muri uku kwezi</a:t>
            </a:r>
          </a:p>
        </p:txBody>
      </p:sp>
      <p:sp>
        <p:nvSpPr>
          <p:cNvPr id="11" name="Rounded Rectangle 10"/>
          <p:cNvSpPr/>
          <p:nvPr/>
        </p:nvSpPr>
        <p:spPr>
          <a:xfrm>
            <a:off x="566928" y="3808476"/>
            <a:ext cx="11058113" cy="45034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3863339"/>
            <a:ext cx="10006553" cy="340614"/>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Umugore wumvise ananiwe nyuma y'umunsi muremure w'akazi</a:t>
            </a:r>
          </a:p>
        </p:txBody>
      </p:sp>
      <p:sp>
        <p:nvSpPr>
          <p:cNvPr id="13" name="Rounded Rectangle 12"/>
          <p:cNvSpPr/>
          <p:nvPr/>
        </p:nvSpPr>
        <p:spPr>
          <a:xfrm>
            <a:off x="566928" y="4359402"/>
            <a:ext cx="11058113" cy="45034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41247" y="4414266"/>
            <a:ext cx="10006553" cy="340614"/>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Umugore ufite umwana ukorora</a:t>
            </a:r>
          </a:p>
        </p:txBody>
      </p:sp>
      <p:sp>
        <p:nvSpPr>
          <p:cNvPr id="15" name="Rounded Rectangle 14"/>
          <p:cNvSpPr/>
          <p:nvPr/>
        </p:nvSpPr>
        <p:spPr>
          <a:xfrm>
            <a:off x="566928" y="4919472"/>
            <a:ext cx="11058113" cy="1353311"/>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6" name="TextBox 15"/>
          <p:cNvSpPr txBox="1"/>
          <p:nvPr/>
        </p:nvSpPr>
        <p:spPr>
          <a:xfrm>
            <a:off x="822960" y="5047488"/>
            <a:ext cx="10546049" cy="109727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Kuva amaraso nyuma y'uko imihango ihagaze ntibijya biba ibisanzwe, kandi buri gihe bigomba gusuzumwa. Bishobora guterwa n'impamvu nyinshi kandi ntibyemeza kanseri, ariko bigomba gusuzumwa neza, ntibirekwe.</a:t>
            </a:r>
          </a:p>
        </p:txBody>
      </p:sp>
      <p:sp>
        <p:nvSpPr>
          <p:cNvPr id="17" name="TextBox 1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8" name="TextBox 1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67</a:t>
            </a:r>
          </a:p>
        </p:txBody>
      </p:sp>
      <p:sp>
        <p:nvSpPr>
          <p:cNvPr id="10" name="TextBox 9"/>
          <p:cNvSpPr txBox="1"/>
          <p:nvPr/>
        </p:nvSpPr>
        <p:spPr>
          <a:xfrm>
            <a:off x="11094689" y="3345561"/>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B I M E N Y E T S O   M P U R U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750" b="1" i="0" dirty="0">
                <a:solidFill>
                  <a:srgbClr val="10305A"/>
                </a:solidFill>
                <a:latin typeface="Cambria"/>
              </a:rPr>
              <a:t>Ibimenyetso bisaba kwitabwaho uwo munsi</a:t>
            </a:r>
          </a:p>
        </p:txBody>
      </p:sp>
      <p:sp>
        <p:nvSpPr>
          <p:cNvPr id="4" name="Rounded Rectangle 3"/>
          <p:cNvSpPr/>
          <p:nvPr/>
        </p:nvSpPr>
        <p:spPr>
          <a:xfrm>
            <a:off x="566928" y="1554480"/>
            <a:ext cx="3503157" cy="3629532"/>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5" name="TextBox 4"/>
          <p:cNvSpPr txBox="1"/>
          <p:nvPr/>
        </p:nvSpPr>
        <p:spPr>
          <a:xfrm>
            <a:off x="786384" y="1755648"/>
            <a:ext cx="3283700" cy="1019125"/>
          </a:xfrm>
          <a:prstGeom prst="rect">
            <a:avLst/>
          </a:prstGeom>
          <a:noFill/>
        </p:spPr>
        <p:txBody>
          <a:bodyPr wrap="square" lIns="0" tIns="0" rIns="0" bIns="0">
            <a:spAutoFit/>
          </a:bodyPr>
          <a:lstStyle/>
          <a:p>
            <a:pPr>
              <a:lnSpc>
                <a:spcPct val="114000"/>
              </a:lnSpc>
              <a:spcAft>
                <a:spcPts val="700"/>
              </a:spcAft>
            </a:pPr>
            <a:r>
              <a:rPr lang="en-GB" sz="1700" b="0" i="0" dirty="0">
                <a:solidFill>
                  <a:srgbClr val="1A1A1A"/>
                </a:solidFill>
                <a:latin typeface="Calibri"/>
              </a:rPr>
              <a:t>🔴  </a:t>
            </a:r>
            <a:r>
              <a:rPr lang="en-GB" sz="1800" b="1" i="0" dirty="0">
                <a:solidFill>
                  <a:srgbClr val="A31D1D"/>
                </a:solidFill>
                <a:latin typeface="Calibri"/>
              </a:rPr>
              <a:t>Kuva amaraso menshi</a:t>
            </a:r>
          </a:p>
          <a:p>
            <a:pPr>
              <a:lnSpc>
                <a:spcPct val="114000"/>
              </a:lnSpc>
              <a:spcAft>
                <a:spcPts val="700"/>
              </a:spcAft>
            </a:pPr>
            <a:r>
              <a:rPr lang="en-GB" sz="1800" b="0" i="0" dirty="0">
                <a:solidFill>
                  <a:srgbClr val="1A1A1A"/>
                </a:solidFill>
                <a:latin typeface="Calibri"/>
              </a:rPr>
              <a:t>Amaraso yuzura imyenda vuba, cyangwa amaraso adahagarara.</a:t>
            </a:r>
          </a:p>
        </p:txBody>
      </p:sp>
      <p:sp>
        <p:nvSpPr>
          <p:cNvPr id="6" name="Rounded Rectangle 5"/>
          <p:cNvSpPr/>
          <p:nvPr/>
        </p:nvSpPr>
        <p:spPr>
          <a:xfrm>
            <a:off x="4344405" y="1554479"/>
            <a:ext cx="3503157" cy="3629533"/>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7" name="TextBox 6"/>
          <p:cNvSpPr txBox="1"/>
          <p:nvPr/>
        </p:nvSpPr>
        <p:spPr>
          <a:xfrm>
            <a:off x="4563861" y="1755648"/>
            <a:ext cx="3064245" cy="2011680"/>
          </a:xfrm>
          <a:prstGeom prst="rect">
            <a:avLst/>
          </a:prstGeom>
          <a:noFill/>
        </p:spPr>
        <p:txBody>
          <a:bodyPr wrap="square" lIns="0" tIns="0" rIns="0" bIns="0">
            <a:spAutoFit/>
          </a:bodyPr>
          <a:lstStyle/>
          <a:p>
            <a:pPr>
              <a:lnSpc>
                <a:spcPct val="114000"/>
              </a:lnSpc>
              <a:spcAft>
                <a:spcPts val="700"/>
              </a:spcAft>
            </a:pPr>
            <a:r>
              <a:rPr lang="en-GB" sz="1250" b="0" i="0" dirty="0">
                <a:solidFill>
                  <a:srgbClr val="1A1A1A"/>
                </a:solidFill>
                <a:latin typeface="Calibri"/>
              </a:rPr>
              <a:t>🔴  </a:t>
            </a:r>
            <a:r>
              <a:rPr lang="en-GB" sz="1300" b="1" i="0" dirty="0">
                <a:solidFill>
                  <a:srgbClr val="A31D1D"/>
                </a:solidFill>
                <a:latin typeface="Calibri"/>
              </a:rPr>
              <a:t>Intege nke cyangwa kwitura hasi</a:t>
            </a:r>
          </a:p>
          <a:p>
            <a:pPr>
              <a:lnSpc>
                <a:spcPct val="114000"/>
              </a:lnSpc>
              <a:spcAft>
                <a:spcPts val="700"/>
              </a:spcAft>
            </a:pPr>
            <a:r>
              <a:rPr lang="en-GB" sz="1300" b="0" i="0" dirty="0">
                <a:solidFill>
                  <a:srgbClr val="1A1A1A"/>
                </a:solidFill>
                <a:latin typeface="Calibri"/>
              </a:rPr>
              <a:t>Isereri, guta ubwenge, kweruruka cyane, cyangwa kunanirwa guhagarara, byiyongera ku kuva amaraso.</a:t>
            </a:r>
          </a:p>
        </p:txBody>
      </p:sp>
      <p:sp>
        <p:nvSpPr>
          <p:cNvPr id="8" name="Rounded Rectangle 7"/>
          <p:cNvSpPr/>
          <p:nvPr/>
        </p:nvSpPr>
        <p:spPr>
          <a:xfrm>
            <a:off x="8121883" y="1554480"/>
            <a:ext cx="3503157" cy="3629532"/>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9" name="TextBox 8"/>
          <p:cNvSpPr txBox="1"/>
          <p:nvPr/>
        </p:nvSpPr>
        <p:spPr>
          <a:xfrm>
            <a:off x="8341339" y="1755648"/>
            <a:ext cx="3064245" cy="1019125"/>
          </a:xfrm>
          <a:prstGeom prst="rect">
            <a:avLst/>
          </a:prstGeom>
          <a:noFill/>
        </p:spPr>
        <p:txBody>
          <a:bodyPr wrap="square" lIns="0" tIns="0" rIns="0" bIns="0">
            <a:spAutoFit/>
          </a:bodyPr>
          <a:lstStyle/>
          <a:p>
            <a:pPr>
              <a:lnSpc>
                <a:spcPct val="114000"/>
              </a:lnSpc>
              <a:spcAft>
                <a:spcPts val="700"/>
              </a:spcAft>
            </a:pPr>
            <a:r>
              <a:rPr lang="en-GB" sz="1050" b="0" i="0" dirty="0">
                <a:solidFill>
                  <a:srgbClr val="1A1A1A"/>
                </a:solidFill>
                <a:latin typeface="Calibri"/>
              </a:rPr>
              <a:t>🔴  </a:t>
            </a:r>
            <a:r>
              <a:rPr lang="en-GB" sz="1150" b="1" i="0" dirty="0">
                <a:solidFill>
                  <a:srgbClr val="A31D1D"/>
                </a:solidFill>
                <a:latin typeface="Calibri"/>
              </a:rPr>
              <a:t>Ububabare bukabije</a:t>
            </a:r>
          </a:p>
          <a:p>
            <a:pPr>
              <a:lnSpc>
                <a:spcPct val="114000"/>
              </a:lnSpc>
              <a:spcAft>
                <a:spcPts val="700"/>
              </a:spcAft>
            </a:pPr>
            <a:r>
              <a:rPr lang="en-GB" sz="1150" b="0" i="0" dirty="0">
                <a:solidFill>
                  <a:srgbClr val="1A1A1A"/>
                </a:solidFill>
                <a:latin typeface="Calibri"/>
              </a:rPr>
              <a:t>Ububabare bukabije buherekejwe n'umuriro, kuruka cyangwa kumererwa nabi vuba.</a:t>
            </a:r>
          </a:p>
        </p:txBody>
      </p:sp>
      <p:sp>
        <p:nvSpPr>
          <p:cNvPr id="10" name="Rounded Rectangle 9"/>
          <p:cNvSpPr/>
          <p:nvPr/>
        </p:nvSpPr>
        <p:spPr>
          <a:xfrm>
            <a:off x="566928" y="5312028"/>
            <a:ext cx="11058113" cy="932688"/>
          </a:xfrm>
          <a:prstGeom prst="roundRect">
            <a:avLst>
              <a:gd name="adj" fmla="val 4500"/>
            </a:avLst>
          </a:prstGeom>
          <a:solidFill>
            <a:srgbClr val="EAF7F0"/>
          </a:solidFill>
          <a:ln w="12700">
            <a:solidFill>
              <a:srgbClr val="C0D4CB"/>
            </a:solidFill>
          </a:ln>
          <a:effectLst/>
        </p:spPr>
        <p:txBody>
          <a:bodyPr wrap="square" rtlCol="0" anchor="ctr"/>
          <a:lstStyle/>
          <a:p>
            <a:pPr algn="ctr"/>
            <a:endParaRPr lang="en-GB" dirty="0"/>
          </a:p>
        </p:txBody>
      </p:sp>
      <p:sp>
        <p:nvSpPr>
          <p:cNvPr id="11" name="TextBox 10"/>
          <p:cNvSpPr txBox="1"/>
          <p:nvPr/>
        </p:nvSpPr>
        <p:spPr>
          <a:xfrm>
            <a:off x="804672" y="5458332"/>
            <a:ext cx="10582625" cy="658368"/>
          </a:xfrm>
          <a:prstGeom prst="rect">
            <a:avLst/>
          </a:prstGeom>
          <a:noFill/>
        </p:spPr>
        <p:txBody>
          <a:bodyPr wrap="square" lIns="0" tIns="0" rIns="0" bIns="0">
            <a:spAutoFit/>
          </a:bodyPr>
          <a:lstStyle/>
          <a:p>
            <a:pPr>
              <a:lnSpc>
                <a:spcPct val="112000"/>
              </a:lnSpc>
            </a:pPr>
            <a:r>
              <a:rPr lang="en-GB" sz="1500" b="1" i="0" dirty="0">
                <a:solidFill>
                  <a:srgbClr val="1C6B3F"/>
                </a:solidFill>
                <a:latin typeface="Calibri"/>
              </a:rPr>
              <a:t>💬 Icyo gukora:  </a:t>
            </a:r>
            <a:r>
              <a:rPr lang="en-GB" sz="1500" b="0" i="0" dirty="0">
                <a:solidFill>
                  <a:srgbClr val="1A1A1A"/>
                </a:solidFill>
                <a:latin typeface="Calibri"/>
              </a:rPr>
              <a:t>Ibi bimenyetso bisaba kuvurwa byihuse. Mujyane ako kanya ku kigo nderabuzima kiri hafi, bitarenze amasaha 48. Shaka uburyo bwo kumugeza kwa muganga, ujyane na we cyangwa wohereze umuntu umuherekeza.</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68</a:t>
            </a:r>
          </a:p>
        </p:txBody>
      </p:sp>
      <p:pic>
        <p:nvPicPr>
          <p:cNvPr id="15" name="Picture 14">
            <a:extLst>
              <a:ext uri="{FF2B5EF4-FFF2-40B4-BE49-F238E27FC236}">
                <a16:creationId xmlns:a16="http://schemas.microsoft.com/office/drawing/2014/main" id="{68C58788-2A14-51D6-2F6F-27FEB2033F71}"/>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1006607" y="2852292"/>
            <a:ext cx="2522883" cy="2128171"/>
          </a:xfrm>
          <a:prstGeom prst="rect">
            <a:avLst/>
          </a:prstGeom>
        </p:spPr>
      </p:pic>
      <p:pic>
        <p:nvPicPr>
          <p:cNvPr id="17" name="Picture 16">
            <a:extLst>
              <a:ext uri="{FF2B5EF4-FFF2-40B4-BE49-F238E27FC236}">
                <a16:creationId xmlns:a16="http://schemas.microsoft.com/office/drawing/2014/main" id="{7F4DD16F-EB4F-31A1-D0F3-C38EEF0D1AEA}"/>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4509764" y="3089396"/>
            <a:ext cx="2966484" cy="1891067"/>
          </a:xfrm>
          <a:prstGeom prst="rect">
            <a:avLst/>
          </a:prstGeom>
        </p:spPr>
      </p:pic>
      <p:pic>
        <p:nvPicPr>
          <p:cNvPr id="19" name="Picture 18">
            <a:extLst>
              <a:ext uri="{FF2B5EF4-FFF2-40B4-BE49-F238E27FC236}">
                <a16:creationId xmlns:a16="http://schemas.microsoft.com/office/drawing/2014/main" id="{41B135EE-BA3E-EA02-9DCD-E902FE13BC9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8511459" y="2838250"/>
            <a:ext cx="2503870" cy="2095797"/>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Uyu munsi, cyangwa ku gusurwa gukurikira?</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amaze kuva amaraso menshi kuva ejo. Yereruste, yumva isereri iyo ahagurutse, kandi umuryango we uvuga ko afite intege nke cyane. Ukora iki?</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Kumugira inama yo kuruhuka, ukazongera kumusura icyumweru gitaha</a:t>
            </a:r>
          </a:p>
        </p:txBody>
      </p:sp>
      <p:sp>
        <p:nvSpPr>
          <p:cNvPr id="10" name="Rounded Rectangle 9"/>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Kumuha icyo kunywa, ugategereza ukareba niba amaraso ahagarara</a:t>
            </a:r>
          </a:p>
        </p:txBody>
      </p:sp>
      <p:sp>
        <p:nvSpPr>
          <p:cNvPr id="7" name="Rounded Rectangle 6"/>
          <p:cNvSpPr/>
          <p:nvPr/>
        </p:nvSpPr>
        <p:spPr>
          <a:xfrm>
            <a:off x="566928" y="349300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Gutegura uko agera ku ivuriro uyu munsi, no kureba ko hari umuntu umuherekeza</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Kumusaba kujya ku kigo nderabuzima n'amaguru wenyine ejo mu gitondo</a:t>
            </a:r>
          </a:p>
        </p:txBody>
      </p:sp>
      <p:sp>
        <p:nvSpPr>
          <p:cNvPr id="14" name="Rounded Rectangle 13"/>
          <p:cNvSpPr/>
          <p:nvPr/>
        </p:nvSpPr>
        <p:spPr>
          <a:xfrm>
            <a:off x="566928" y="4690872"/>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Kuva amaraso menshi hamwe n'isereri, intege nke no kweruruka ni ikibazo cyihutirwa, uko impamvu yaba iri kose. Akeneye kwitabwaho uwo munsi, kandi ntagomba kugenda wenyine. Gutegereza icyumweru, cyangwa kohereza umugore ufite intege nke gukora urugendo rurerure wenyine, bishyira ubuzima bwe mu kaga.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69</a:t>
            </a:r>
          </a:p>
        </p:txBody>
      </p:sp>
      <p:sp>
        <p:nvSpPr>
          <p:cNvPr id="9" name="TextBox 8"/>
          <p:cNvSpPr txBox="1"/>
          <p:nvPr/>
        </p:nvSpPr>
        <p:spPr>
          <a:xfrm>
            <a:off x="11094689" y="360273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U R U G E R O   R W O   M U   B A T U R A G E</a:t>
            </a:r>
          </a:p>
        </p:txBody>
      </p:sp>
      <p:sp>
        <p:nvSpPr>
          <p:cNvPr id="3" name="TextBox 2"/>
          <p:cNvSpPr txBox="1"/>
          <p:nvPr/>
        </p:nvSpPr>
        <p:spPr>
          <a:xfrm>
            <a:off x="566928" y="694944"/>
            <a:ext cx="11058113" cy="523220"/>
          </a:xfrm>
          <a:prstGeom prst="rect">
            <a:avLst/>
          </a:prstGeom>
          <a:noFill/>
        </p:spPr>
        <p:txBody>
          <a:bodyPr wrap="square" lIns="0" tIns="0" rIns="0" bIns="0">
            <a:spAutoFit/>
          </a:bodyPr>
          <a:lstStyle/>
          <a:p>
            <a:r>
              <a:rPr lang="en-GB" sz="3400" b="1" i="0" dirty="0">
                <a:solidFill>
                  <a:srgbClr val="10305A"/>
                </a:solidFill>
                <a:latin typeface="Cambria"/>
              </a:rPr>
              <a:t>🩺  </a:t>
            </a:r>
            <a:r>
              <a:rPr lang="en-GB" sz="3400" b="1" dirty="0" err="1">
                <a:solidFill>
                  <a:srgbClr val="10305A"/>
                </a:solidFill>
                <a:latin typeface="Cambria"/>
              </a:rPr>
              <a:t>Imigendekere</a:t>
            </a:r>
            <a:r>
              <a:rPr lang="en-GB" sz="3400" b="1" dirty="0">
                <a:solidFill>
                  <a:srgbClr val="10305A"/>
                </a:solidFill>
                <a:latin typeface="Cambria"/>
              </a:rPr>
              <a:t> </a:t>
            </a:r>
            <a:r>
              <a:rPr lang="en-GB" sz="3400" b="1" dirty="0" err="1">
                <a:solidFill>
                  <a:srgbClr val="10305A"/>
                </a:solidFill>
                <a:latin typeface="Cambria"/>
              </a:rPr>
              <a:t>y’ikibazo</a:t>
            </a:r>
            <a:r>
              <a:rPr lang="en-GB" sz="3400" b="1" i="0" dirty="0">
                <a:solidFill>
                  <a:srgbClr val="10305A"/>
                </a:solidFill>
                <a:latin typeface="Cambria"/>
              </a:rPr>
              <a:t>: Claudine </a:t>
            </a:r>
            <a:r>
              <a:rPr lang="en-GB" sz="3400" b="1" dirty="0">
                <a:solidFill>
                  <a:srgbClr val="FF0000"/>
                </a:solidFill>
                <a:latin typeface="Cambria"/>
              </a:rPr>
              <a:t>(Videwo)</a:t>
            </a:r>
            <a:endParaRPr lang="en-GB" sz="3400" b="1" i="0" dirty="0">
              <a:solidFill>
                <a:srgbClr val="10305A"/>
              </a:solidFill>
              <a:latin typeface="Cambria"/>
            </a:endParaRPr>
          </a:p>
        </p:txBody>
      </p:sp>
      <p:sp>
        <p:nvSpPr>
          <p:cNvPr id="4" name="Rounded Rectangle 3"/>
          <p:cNvSpPr/>
          <p:nvPr/>
        </p:nvSpPr>
        <p:spPr>
          <a:xfrm>
            <a:off x="566928" y="1554480"/>
            <a:ext cx="11058113" cy="3291840"/>
          </a:xfrm>
          <a:prstGeom prst="roundRect">
            <a:avLst>
              <a:gd name="adj" fmla="val 4500"/>
            </a:avLst>
          </a:prstGeom>
          <a:solidFill>
            <a:srgbClr val="FFF8E7"/>
          </a:solidFill>
          <a:ln w="12700">
            <a:solidFill>
              <a:srgbClr val="E8D9AE"/>
            </a:solidFill>
          </a:ln>
          <a:effectLst/>
        </p:spPr>
        <p:txBody>
          <a:bodyPr wrap="square" rtlCol="0" anchor="ctr"/>
          <a:lstStyle/>
          <a:p>
            <a:pPr algn="ctr"/>
            <a:endParaRPr lang="en-GB" dirty="0"/>
          </a:p>
        </p:txBody>
      </p:sp>
      <p:sp>
        <p:nvSpPr>
          <p:cNvPr id="5" name="TextBox 4"/>
          <p:cNvSpPr txBox="1"/>
          <p:nvPr/>
        </p:nvSpPr>
        <p:spPr>
          <a:xfrm>
            <a:off x="859536" y="1773936"/>
            <a:ext cx="10472897" cy="2852928"/>
          </a:xfrm>
          <a:prstGeom prst="rect">
            <a:avLst/>
          </a:prstGeom>
          <a:noFill/>
        </p:spPr>
        <p:txBody>
          <a:bodyPr wrap="square" lIns="0" tIns="0" rIns="0" bIns="0">
            <a:spAutoFit/>
          </a:bodyPr>
          <a:lstStyle/>
          <a:p>
            <a:pPr>
              <a:lnSpc>
                <a:spcPct val="114000"/>
              </a:lnSpc>
              <a:spcAft>
                <a:spcPts val="1100"/>
              </a:spcAft>
            </a:pPr>
            <a:r>
              <a:rPr lang="en-GB" sz="1800" b="1" i="0" dirty="0">
                <a:solidFill>
                  <a:srgbClr val="10305A"/>
                </a:solidFill>
                <a:latin typeface="Calibri"/>
              </a:rPr>
              <a:t>Ibyo usanzwe uzi: </a:t>
            </a:r>
            <a:r>
              <a:rPr lang="en-GB" sz="1800" b="0" i="0" dirty="0" err="1">
                <a:solidFill>
                  <a:srgbClr val="1A1A1A"/>
                </a:solidFill>
                <a:latin typeface="Calibri"/>
              </a:rPr>
              <a:t>Uwase Claudine, w'imyaka 36, yumvaga ameze neza rwose. Nyuma y'ikiganiro mwagiranye yemeye kwisuzumisha, kandi wamufashije guhitamo umunsi utamubuza kujya ku isoko.</a:t>
            </a:r>
          </a:p>
          <a:p>
            <a:pPr>
              <a:lnSpc>
                <a:spcPct val="114000"/>
              </a:lnSpc>
              <a:spcAft>
                <a:spcPts val="1100"/>
              </a:spcAft>
            </a:pPr>
            <a:r>
              <a:rPr lang="en-GB" sz="1800" b="1" i="0" dirty="0">
                <a:solidFill>
                  <a:srgbClr val="10305A"/>
                </a:solidFill>
                <a:latin typeface="Calibri"/>
              </a:rPr>
              <a:t>Amakuru mashya: </a:t>
            </a:r>
            <a:r>
              <a:rPr lang="en-GB" sz="1800" b="0" i="0" dirty="0">
                <a:solidFill>
                  <a:srgbClr val="1A1A1A"/>
                </a:solidFill>
                <a:latin typeface="Calibri"/>
              </a:rPr>
              <a:t>Avuye ku kigo nderabuzima afite urupapuro. Yabwiwe ko igisubizo cy'isuzuma rye cyagaragaje ubwandu, kandi ko agomba kugaruka ku yindi ntambwe. Ntiyabwiwe ko arwaye kanseri, ariko afite ubwoba bwinshi kandi ntarabibwira umugabo we.</a:t>
            </a:r>
          </a:p>
          <a:p>
            <a:pPr>
              <a:lnSpc>
                <a:spcPct val="114000"/>
              </a:lnSpc>
              <a:spcAft>
                <a:spcPts val="1100"/>
              </a:spcAft>
            </a:pPr>
            <a:r>
              <a:rPr lang="en-GB" sz="1800" b="1" i="0" dirty="0">
                <a:solidFill>
                  <a:srgbClr val="10305A"/>
                </a:solidFill>
                <a:latin typeface="Calibri"/>
              </a:rPr>
              <a:t>Icyo usabwa: </a:t>
            </a:r>
            <a:r>
              <a:rPr lang="en-GB" sz="1800" b="0" i="0" dirty="0">
                <a:solidFill>
                  <a:srgbClr val="1A1A1A"/>
                </a:solidFill>
                <a:latin typeface="Calibri"/>
              </a:rPr>
              <a:t>Hitamo icyo ukora ubutaha.</a:t>
            </a:r>
          </a:p>
        </p:txBody>
      </p:sp>
      <p:sp>
        <p:nvSpPr>
          <p:cNvPr id="6" name="TextBox 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7" name="TextBox 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U R U G E R O   R W O   M U   B A T U R A G E</a:t>
            </a:r>
          </a:p>
        </p:txBody>
      </p:sp>
      <p:sp>
        <p:nvSpPr>
          <p:cNvPr id="3" name="TextBox 2"/>
          <p:cNvSpPr txBox="1"/>
          <p:nvPr/>
        </p:nvSpPr>
        <p:spPr>
          <a:xfrm>
            <a:off x="566928" y="713232"/>
            <a:ext cx="11058113" cy="523220"/>
          </a:xfrm>
          <a:prstGeom prst="rect">
            <a:avLst/>
          </a:prstGeom>
          <a:noFill/>
        </p:spPr>
        <p:txBody>
          <a:bodyPr wrap="square" lIns="0" tIns="0" rIns="0" bIns="0">
            <a:spAutoFit/>
          </a:bodyPr>
          <a:lstStyle/>
          <a:p>
            <a:r>
              <a:rPr lang="en-GB" sz="3400" b="1" i="0" dirty="0">
                <a:solidFill>
                  <a:srgbClr val="10305A"/>
                </a:solidFill>
                <a:latin typeface="Cambria"/>
              </a:rPr>
              <a:t>Niki </a:t>
            </a:r>
            <a:r>
              <a:rPr lang="en-GB" sz="3400" b="1" i="0" dirty="0" err="1">
                <a:solidFill>
                  <a:srgbClr val="10305A"/>
                </a:solidFill>
                <a:latin typeface="Cambria"/>
              </a:rPr>
              <a:t>wakorera</a:t>
            </a:r>
            <a:r>
              <a:rPr lang="en-GB" sz="3400" b="1" i="0" dirty="0">
                <a:solidFill>
                  <a:srgbClr val="10305A"/>
                </a:solidFill>
                <a:latin typeface="Cambria"/>
              </a:rPr>
              <a:t> </a:t>
            </a:r>
            <a:r>
              <a:rPr lang="en-GB" sz="3400" b="1" i="0" dirty="0" err="1">
                <a:solidFill>
                  <a:srgbClr val="10305A"/>
                </a:solidFill>
                <a:latin typeface="Cambria"/>
              </a:rPr>
              <a:t>claudine</a:t>
            </a:r>
            <a:r>
              <a:rPr lang="en-GB" sz="3400" b="1" i="0" dirty="0">
                <a:solidFill>
                  <a:srgbClr val="10305A"/>
                </a:solidFill>
                <a:latin typeface="Cambria"/>
              </a:rPr>
              <a:t> </a:t>
            </a:r>
            <a:r>
              <a:rPr lang="en-GB" sz="3400" b="1" i="0" dirty="0" err="1">
                <a:solidFill>
                  <a:srgbClr val="10305A"/>
                </a:solidFill>
                <a:latin typeface="Cambria"/>
              </a:rPr>
              <a:t>ubu</a:t>
            </a:r>
            <a:r>
              <a:rPr lang="en-GB" sz="3400" b="1" i="0" dirty="0">
                <a:solidFill>
                  <a:srgbClr val="10305A"/>
                </a:solidFill>
                <a:latin typeface="Cambria"/>
              </a:rPr>
              <a:t>?</a:t>
            </a:r>
          </a:p>
        </p:txBody>
      </p:sp>
      <p:sp>
        <p:nvSpPr>
          <p:cNvPr id="4" name="TextBox 3"/>
          <p:cNvSpPr txBox="1"/>
          <p:nvPr/>
        </p:nvSpPr>
        <p:spPr>
          <a:xfrm>
            <a:off x="566928" y="1517904"/>
            <a:ext cx="11058113" cy="637482"/>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Claudine afite ubwoba kubera igisubizo cye </a:t>
            </a:r>
            <a:r>
              <a:rPr lang="en-GB" sz="1900" b="1" i="0" dirty="0" err="1">
                <a:solidFill>
                  <a:srgbClr val="0F1C2E"/>
                </a:solidFill>
                <a:latin typeface="Calibri"/>
              </a:rPr>
              <a:t>kigaragaza</a:t>
            </a:r>
            <a:r>
              <a:rPr lang="en-GB" sz="1900" b="1" i="0" dirty="0">
                <a:solidFill>
                  <a:srgbClr val="0F1C2E"/>
                </a:solidFill>
                <a:latin typeface="Calibri"/>
              </a:rPr>
              <a:t> </a:t>
            </a:r>
            <a:r>
              <a:rPr lang="en-GB" sz="1900" b="1" i="0" dirty="0" err="1">
                <a:solidFill>
                  <a:srgbClr val="0F1C2E"/>
                </a:solidFill>
                <a:latin typeface="Calibri"/>
              </a:rPr>
              <a:t>uburwayi</a:t>
            </a:r>
            <a:r>
              <a:rPr lang="en-GB" sz="1900" b="1" i="0" dirty="0">
                <a:solidFill>
                  <a:srgbClr val="0F1C2E"/>
                </a:solidFill>
                <a:latin typeface="Calibri"/>
              </a:rPr>
              <a:t>, kandi ntarabibwira umuntu n'umwe mu rugo. Ni ikihe gikorwa cyiza gikurikiraho?</a:t>
            </a:r>
          </a:p>
        </p:txBody>
      </p:sp>
      <p:sp>
        <p:nvSpPr>
          <p:cNvPr id="5" name="Rounded Rectangle 4"/>
          <p:cNvSpPr/>
          <p:nvPr/>
        </p:nvSpPr>
        <p:spPr>
          <a:xfrm>
            <a:off x="566928" y="2304288"/>
            <a:ext cx="11058113" cy="42352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13795"/>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Kubibwira umuryango we mu mwanya we, kugira ngo bamushyigikire</a:t>
            </a:r>
          </a:p>
        </p:txBody>
      </p:sp>
      <p:sp>
        <p:nvSpPr>
          <p:cNvPr id="12" name="Rounded Rectangle 11"/>
          <p:cNvSpPr/>
          <p:nvPr/>
        </p:nvSpPr>
        <p:spPr>
          <a:xfrm>
            <a:off x="566928" y="2828395"/>
            <a:ext cx="11058113" cy="42352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883259"/>
            <a:ext cx="10006553" cy="313795"/>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Kumwizeza ko nta kibazo na gito kiriho kandi ko atagomba kugaruka</a:t>
            </a:r>
          </a:p>
        </p:txBody>
      </p:sp>
      <p:sp>
        <p:nvSpPr>
          <p:cNvPr id="10" name="Rounded Rectangle 9"/>
          <p:cNvSpPr/>
          <p:nvPr/>
        </p:nvSpPr>
        <p:spPr>
          <a:xfrm>
            <a:off x="566928" y="3352502"/>
            <a:ext cx="11058113" cy="42352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407366"/>
            <a:ext cx="10006553" cy="313795"/>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Kumubwira gutegereza akareba niba azagira ibimenyetso</a:t>
            </a:r>
          </a:p>
        </p:txBody>
      </p:sp>
      <p:sp>
        <p:nvSpPr>
          <p:cNvPr id="7" name="Rounded Rectangle 6"/>
          <p:cNvSpPr/>
          <p:nvPr/>
        </p:nvSpPr>
        <p:spPr>
          <a:xfrm>
            <a:off x="566928" y="3876609"/>
            <a:ext cx="11058113" cy="658814"/>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931473"/>
            <a:ext cx="10006553" cy="549086"/>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Kumusobanurira ko igisubizo kigaragaza ubwandu atari kanseri, ko gusubira kwa muganga ari byo bimurinda, kumufasha kubitegura, no kumurekera icyemezo cyo kubibwira umugabo we</a:t>
            </a:r>
          </a:p>
        </p:txBody>
      </p:sp>
      <p:sp>
        <p:nvSpPr>
          <p:cNvPr id="14" name="Rounded Rectangle 13"/>
          <p:cNvSpPr/>
          <p:nvPr/>
        </p:nvSpPr>
        <p:spPr>
          <a:xfrm>
            <a:off x="566928" y="4645152"/>
            <a:ext cx="11058113" cy="1627631"/>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773168"/>
            <a:ext cx="10546049" cy="137159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D</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Hakenewe ibintu bibiri icyarimwe: amakuru y'ukuri no kurangiza gusubira kwa muganga. Kubibwira umuryango we atabiguhereye uburenganzira bica icyizere agufitiye kandi bimena ibanga rye. Kumubwira ko nta kibazo na gito kiriho bishobora gutuma atagaruka, kandi ibyo ni byo byamugirira nabi koko.</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71</a:t>
            </a:r>
          </a:p>
        </p:txBody>
      </p:sp>
      <p:sp>
        <p:nvSpPr>
          <p:cNvPr id="9" name="TextBox 8"/>
          <p:cNvSpPr txBox="1"/>
          <p:nvPr/>
        </p:nvSpPr>
        <p:spPr>
          <a:xfrm>
            <a:off x="11094689" y="406885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1 muri 5</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Isuzuma rya kanseri y'inkondo y'umura rigenewe bande?</a:t>
            </a:r>
          </a:p>
        </p:txBody>
      </p:sp>
      <p:sp>
        <p:nvSpPr>
          <p:cNvPr id="7" name="Rounded Rectangle 6"/>
          <p:cNvSpPr/>
          <p:nvPr/>
        </p:nvSpPr>
        <p:spPr>
          <a:xfrm>
            <a:off x="566928" y="199339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500" b="1" i="0" dirty="0">
                <a:solidFill>
                  <a:srgbClr val="1F4E96"/>
                </a:solidFill>
                <a:latin typeface="Calibri"/>
              </a:rPr>
              <a:t>A   </a:t>
            </a:r>
            <a:r>
              <a:rPr lang="en-GB" sz="1500" b="0" i="0" dirty="0">
                <a:solidFill>
                  <a:srgbClr val="1A1A1A"/>
                </a:solidFill>
                <a:latin typeface="Calibri"/>
              </a:rPr>
              <a:t>Abagore bagejeje igihe cyo kwisuzumisha bumva bameze neza kandi badafite ibimenyetso</a:t>
            </a:r>
          </a:p>
        </p:txBody>
      </p:sp>
      <p:sp>
        <p:nvSpPr>
          <p:cNvPr id="5" name="Rounded Rectangle 4"/>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Abagore bafite ibimenyetso gusa</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Abagore bamaze kuvurwa gusa</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Abagore barengeje imyaka 60 gusa</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Kwisuzumisha ni isuzuma rigenewe abagore bumva bameze neza. Rigaragaza impinduka kera mbere y'uko ibimenyetso bigaragara. Umugore usanzwe afite ibimenyetso akeneye ko ibyo bimenyetso bisuzumwa, kandi ibyo ni ikindi kintu.</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72</a:t>
            </a:r>
          </a:p>
        </p:txBody>
      </p:sp>
      <p:sp>
        <p:nvSpPr>
          <p:cNvPr id="9" name="TextBox 8"/>
          <p:cNvSpPr txBox="1"/>
          <p:nvPr/>
        </p:nvSpPr>
        <p:spPr>
          <a:xfrm>
            <a:off x="11094689" y="210311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2 muri 5</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Umubyeyi w'umugore arabaza niba urukingo rwa HPV rusobanura ko umukobwa we atazigera akenera kwisuzumisha. Wamubwira iki?</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Ni byo, ntazigera akenera kwisuzumisha</a:t>
            </a:r>
          </a:p>
        </p:txBody>
      </p:sp>
      <p:sp>
        <p:nvSpPr>
          <p:cNvPr id="7" name="Rounded Rectangle 6"/>
          <p:cNvSpPr/>
          <p:nvPr/>
        </p:nvSpPr>
        <p:spPr>
          <a:xfrm>
            <a:off x="566928" y="289864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Urukingo rutanga uburinzi bukomeye, kandi azakomeza kwitabira isuzuma akuze</a:t>
            </a:r>
          </a:p>
        </p:txBody>
      </p:sp>
      <p:sp>
        <p:nvSpPr>
          <p:cNvPr id="10" name="Rounded Rectangle 9"/>
          <p:cNvSpPr/>
          <p:nvPr/>
        </p:nvSpPr>
        <p:spPr>
          <a:xfrm>
            <a:off x="566928" y="349300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Isuzuma risimbura urukingo, bityo ntarukeneye ubu</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Nta na kimwe gikenewe niba akomeje kuba muzima</a:t>
            </a:r>
          </a:p>
        </p:txBody>
      </p:sp>
      <p:sp>
        <p:nvSpPr>
          <p:cNvPr id="14" name="Rounded Rectangle 13"/>
          <p:cNvSpPr/>
          <p:nvPr/>
        </p:nvSpPr>
        <p:spPr>
          <a:xfrm>
            <a:off x="566928" y="4690872"/>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Urukingo n'isuzuma birinda mu buryo butandukanye kandi byombi birakenewe. Urukingo rurinda ubwandu bw'amoko y'ingenzi ya HPV atera kanseri, naho isuzuma rikagaragaza impinduka zose zishobora kubaho.</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73</a:t>
            </a:r>
          </a:p>
        </p:txBody>
      </p:sp>
      <p:sp>
        <p:nvSpPr>
          <p:cNvPr id="9" name="TextBox 8"/>
          <p:cNvSpPr txBox="1"/>
          <p:nvPr/>
        </p:nvSpPr>
        <p:spPr>
          <a:xfrm>
            <a:off x="11094689" y="300837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3 muri 5</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Ni irihe jambo ry'ukuri ku gisubizo cy'isuzuma kigaragaza ubwandu?</a:t>
            </a:r>
          </a:p>
        </p:txBody>
      </p:sp>
      <p:sp>
        <p:nvSpPr>
          <p:cNvPr id="7" name="Rounded Rectangle 6"/>
          <p:cNvSpPr/>
          <p:nvPr/>
        </p:nvSpPr>
        <p:spPr>
          <a:xfrm>
            <a:off x="566928" y="199339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Gisobanura ko habonetse impinduka kandi umugore akeneye intambwe ikurikira mu kwitabwaho kwe</a:t>
            </a:r>
          </a:p>
        </p:txBody>
      </p:sp>
      <p:sp>
        <p:nvSpPr>
          <p:cNvPr id="5" name="Rounded Rectangle 4"/>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Cyemeza kanseri y'inkondo y'umura</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Gisobanura ko nta kigomba gukorwa</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Gisobanura ko agomba guhagarika kubyara</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Igisubizo kigaragaza ubwandu kigaragaza umugore ukeneye intambwe ikurikira. Ntikemeza kanseri. Kubivuga mu buryo bwumvikana ni byo bimurinda gukuka umutima, kandi bigatuma akomeza kugaruka.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74</a:t>
            </a:r>
          </a:p>
        </p:txBody>
      </p:sp>
      <p:sp>
        <p:nvSpPr>
          <p:cNvPr id="9" name="TextBox 8"/>
          <p:cNvSpPr txBox="1"/>
          <p:nvPr/>
        </p:nvSpPr>
        <p:spPr>
          <a:xfrm>
            <a:off x="11094689" y="210311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4 muri 5</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Ni ikihe muri ibi kigomba guhora cyoherezwa gusuzumirwa ku ivuriro?</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Imihango y'ukwezi iza nk'uko bisanzwe</a:t>
            </a:r>
          </a:p>
        </p:txBody>
      </p:sp>
      <p:sp>
        <p:nvSpPr>
          <p:cNvPr id="7" name="Rounded Rectangle 6"/>
          <p:cNvSpPr/>
          <p:nvPr/>
        </p:nvSpPr>
        <p:spPr>
          <a:xfrm>
            <a:off x="566928" y="258775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Kuva amaraso nyuma y'uko imihango ihagaze</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Umunaniro nyuma y'umunsi muremure</a:t>
            </a:r>
          </a:p>
        </p:txBody>
      </p:sp>
      <p:sp>
        <p:nvSpPr>
          <p:cNvPr id="12" name="Rounded Rectangle 11"/>
          <p:cNvSpPr/>
          <p:nvPr/>
        </p:nvSpPr>
        <p:spPr>
          <a:xfrm>
            <a:off x="566928" y="3776472"/>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Inkovu yakize</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Kuva amaraso nyuma yo gucura ntibijya biba ibisanzwe. Bifite impamvu nyinshi zishoboka, bityo ntibyemeza kanseri, ariko buri gihe bikenera gusuzumwa neza kandi ntibigomba kurekwa.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75</a:t>
            </a:r>
          </a:p>
        </p:txBody>
      </p:sp>
      <p:sp>
        <p:nvSpPr>
          <p:cNvPr id="9" name="TextBox 8"/>
          <p:cNvSpPr txBox="1"/>
          <p:nvPr/>
        </p:nvSpPr>
        <p:spPr>
          <a:xfrm>
            <a:off x="11094689" y="269747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5 muri 5</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Kuki ari bibi kubwira umugore ko adakeneye kwisuzumisha kubera ko yumva ameze neza?</a:t>
            </a:r>
          </a:p>
        </p:txBody>
      </p:sp>
      <p:sp>
        <p:nvSpPr>
          <p:cNvPr id="7" name="Rounded Rectangle 6"/>
          <p:cNvSpPr/>
          <p:nvPr/>
        </p:nvSpPr>
        <p:spPr>
          <a:xfrm>
            <a:off x="566928" y="199339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450" b="1" i="0" dirty="0">
                <a:solidFill>
                  <a:srgbClr val="1F4E96"/>
                </a:solidFill>
                <a:latin typeface="Calibri"/>
              </a:rPr>
              <a:t>A   </a:t>
            </a:r>
            <a:r>
              <a:rPr lang="en-GB" sz="1450" b="0" i="0" dirty="0">
                <a:solidFill>
                  <a:srgbClr val="1A1A1A"/>
                </a:solidFill>
                <a:latin typeface="Calibri"/>
              </a:rPr>
              <a:t>Kubera ko impinduka za mbere na kanseri igitangira akenshi nta bimenyetso na busa bitera</a:t>
            </a:r>
          </a:p>
        </p:txBody>
      </p:sp>
      <p:sp>
        <p:nvSpPr>
          <p:cNvPr id="5" name="Rounded Rectangle 4"/>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Kubera ko kumva umeze neza bisobanura ko indwara yamaze gutera imbere</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Kubera ko buri mugore afite iyi ndwara</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Kubera ko ibimenyetso buri gihe ari byo bibanza kugaragara</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Impinduka za mbere ziraceceka. Kumva umeze neza nta cyo bibwira umuntu uwo ari we wese ku nkondo y'umura. Isuzuma ribaho neza neza kubera ko gutegereza ikimenyetso bisobanura kubona indwara itinze.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76</a:t>
            </a:r>
          </a:p>
        </p:txBody>
      </p:sp>
      <p:sp>
        <p:nvSpPr>
          <p:cNvPr id="9" name="TextBox 8"/>
          <p:cNvSpPr txBox="1"/>
          <p:nvPr/>
        </p:nvSpPr>
        <p:spPr>
          <a:xfrm>
            <a:off x="11094689" y="210311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450" b="1" i="0" dirty="0">
                <a:solidFill>
                  <a:srgbClr val="10305A"/>
                </a:solidFill>
                <a:latin typeface="Cambria"/>
              </a:rPr>
              <a:t>Ingingo z'ingenzi</a:t>
            </a:r>
          </a:p>
        </p:txBody>
      </p:sp>
      <p:sp>
        <p:nvSpPr>
          <p:cNvPr id="4" name="Rounded Rectangle 3"/>
          <p:cNvSpPr/>
          <p:nvPr/>
        </p:nvSpPr>
        <p:spPr>
          <a:xfrm>
            <a:off x="566928" y="1554480"/>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5564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Urukingo rurinda ubwandu. Isuzuma rigaragaza impinduka hakiri kare. Byombi birakenewe.</a:t>
            </a:r>
          </a:p>
        </p:txBody>
      </p:sp>
      <p:sp>
        <p:nvSpPr>
          <p:cNvPr id="7" name="Rounded Rectangle 6"/>
          <p:cNvSpPr/>
          <p:nvPr/>
        </p:nvSpPr>
        <p:spPr>
          <a:xfrm>
            <a:off x="566928" y="2395728"/>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59689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487168"/>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Isuzuma ni iry'abagore bumva bameze neza, kuko impinduka za mbere nta bimenyetso zitera.</a:t>
            </a:r>
          </a:p>
        </p:txBody>
      </p:sp>
      <p:sp>
        <p:nvSpPr>
          <p:cNvPr id="10" name="Rounded Rectangle 9"/>
          <p:cNvSpPr/>
          <p:nvPr/>
        </p:nvSpPr>
        <p:spPr>
          <a:xfrm>
            <a:off x="566928" y="3236976"/>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43814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328416"/>
            <a:ext cx="9960833" cy="566928"/>
          </a:xfrm>
          <a:prstGeom prst="rect">
            <a:avLst/>
          </a:prstGeom>
          <a:noFill/>
        </p:spPr>
        <p:txBody>
          <a:bodyPr wrap="square" lIns="0" tIns="0" rIns="0" bIns="0" anchor="ctr">
            <a:spAutoFit/>
          </a:bodyPr>
          <a:lstStyle/>
          <a:p>
            <a:pPr>
              <a:lnSpc>
                <a:spcPct val="110000"/>
              </a:lnSpc>
            </a:pPr>
            <a:r>
              <a:rPr lang="en-GB" sz="1650" b="0" i="0" dirty="0">
                <a:solidFill>
                  <a:srgbClr val="1A1A1A"/>
                </a:solidFill>
                <a:latin typeface="Calibri"/>
              </a:rPr>
              <a:t>Igisubizo kigaragaza ubwandu si kanseri. Bisobanura ko hakenewe intambwe ikurikira.</a:t>
            </a:r>
          </a:p>
        </p:txBody>
      </p:sp>
      <p:sp>
        <p:nvSpPr>
          <p:cNvPr id="13" name="Rounded Rectangle 12"/>
          <p:cNvSpPr/>
          <p:nvPr/>
        </p:nvSpPr>
        <p:spPr>
          <a:xfrm>
            <a:off x="566928" y="4078224"/>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27939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169663"/>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Kuva amaraso bidasanzwe, kuva amaraso nyuma yo gucura n'ibisohoka mu gitsina bidashira bigomba gusuzumwa.</a:t>
            </a:r>
          </a:p>
        </p:txBody>
      </p:sp>
      <p:sp>
        <p:nvSpPr>
          <p:cNvPr id="16" name="Rounded Rectangle 15"/>
          <p:cNvSpPr/>
          <p:nvPr/>
        </p:nvSpPr>
        <p:spPr>
          <a:xfrm>
            <a:off x="566928" y="4919472"/>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TextBox 16"/>
          <p:cNvSpPr txBox="1"/>
          <p:nvPr/>
        </p:nvSpPr>
        <p:spPr>
          <a:xfrm>
            <a:off x="822960" y="512064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8" name="TextBox 17"/>
          <p:cNvSpPr txBox="1"/>
          <p:nvPr/>
        </p:nvSpPr>
        <p:spPr>
          <a:xfrm>
            <a:off x="1389888" y="5010912"/>
            <a:ext cx="9960833" cy="566928"/>
          </a:xfrm>
          <a:prstGeom prst="rect">
            <a:avLst/>
          </a:prstGeom>
          <a:noFill/>
        </p:spPr>
        <p:txBody>
          <a:bodyPr wrap="square" lIns="0" tIns="0" rIns="0" bIns="0" anchor="ctr">
            <a:spAutoFit/>
          </a:bodyPr>
          <a:lstStyle/>
          <a:p>
            <a:pPr>
              <a:lnSpc>
                <a:spcPct val="110000"/>
              </a:lnSpc>
            </a:pPr>
            <a:r>
              <a:rPr lang="en-GB" sz="1550" b="0" i="0" dirty="0">
                <a:solidFill>
                  <a:srgbClr val="1A1A1A"/>
                </a:solidFill>
                <a:latin typeface="Calibri"/>
              </a:rPr>
              <a:t>Kuva amaraso menshi hamwe n'intege nke cyangwa isereri bikeneye kwitabwaho uwo munsi.</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2   ·   I S U B I R A M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Isubiramo</a:t>
            </a:r>
          </a:p>
        </p:txBody>
      </p:sp>
      <p:sp>
        <p:nvSpPr>
          <p:cNvPr id="4" name="TextBox 3"/>
          <p:cNvSpPr txBox="1"/>
          <p:nvPr/>
        </p:nvSpPr>
        <p:spPr>
          <a:xfrm>
            <a:off x="566928" y="1554480"/>
            <a:ext cx="11058113" cy="365760"/>
          </a:xfrm>
          <a:prstGeom prst="rect">
            <a:avLst/>
          </a:prstGeom>
          <a:noFill/>
        </p:spPr>
        <p:txBody>
          <a:bodyPr wrap="square" lIns="0" tIns="0" rIns="0" bIns="0">
            <a:spAutoFit/>
          </a:bodyPr>
          <a:lstStyle/>
          <a:p>
            <a:r>
              <a:rPr lang="en-GB" sz="1800" b="1" i="0" dirty="0">
                <a:solidFill>
                  <a:srgbClr val="10305A"/>
                </a:solidFill>
                <a:latin typeface="Calibri"/>
              </a:rPr>
              <a:t>Amabwiriza ku wiga:  </a:t>
            </a:r>
            <a:r>
              <a:rPr lang="en-GB" sz="1800" b="0" i="0" dirty="0">
                <a:solidFill>
                  <a:srgbClr val="1A1A1A"/>
                </a:solidFill>
                <a:latin typeface="Calibri"/>
              </a:rPr>
              <a:t>Andika igisubizo cyawe mu gasanduku kabigenewe.</a:t>
            </a:r>
          </a:p>
        </p:txBody>
      </p:sp>
      <p:sp>
        <p:nvSpPr>
          <p:cNvPr id="5" name="Rounded Rectangle 4"/>
          <p:cNvSpPr/>
          <p:nvPr/>
        </p:nvSpPr>
        <p:spPr>
          <a:xfrm>
            <a:off x="566928" y="2121408"/>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39572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212848"/>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Wasobanurira ute umuntu wumva ari muzima rwose impamvu isuzuma ari ingenzi?</a:t>
            </a:r>
          </a:p>
        </p:txBody>
      </p:sp>
      <p:sp>
        <p:nvSpPr>
          <p:cNvPr id="8" name="Rounded Rectangle 7"/>
          <p:cNvSpPr/>
          <p:nvPr/>
        </p:nvSpPr>
        <p:spPr>
          <a:xfrm>
            <a:off x="566928" y="3182111"/>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45643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3273551"/>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Wabwira iki umubyeyi ushidikanya ku rukingo rwa HPV?</a:t>
            </a:r>
          </a:p>
        </p:txBody>
      </p:sp>
      <p:sp>
        <p:nvSpPr>
          <p:cNvPr id="11" name="Rounded Rectangle 10"/>
          <p:cNvSpPr/>
          <p:nvPr/>
        </p:nvSpPr>
        <p:spPr>
          <a:xfrm>
            <a:off x="566928" y="4242816"/>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451713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4334255"/>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Ni iki kibuza abagore bo mu gace kawe kugera ku kigo nderabuzima, kandi wakora iki kuri icyo kibazo?</a:t>
            </a:r>
          </a:p>
        </p:txBody>
      </p:sp>
      <p:sp>
        <p:nvSpPr>
          <p:cNvPr id="14" name="TextBox 13"/>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5" name="TextBox 14"/>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78</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E2F5C"/>
          </a:solidFill>
          <a:ln>
            <a:noFill/>
          </a:ln>
          <a:effectLst/>
        </p:spPr>
        <p:txBody>
          <a:bodyPr rtlCol="0" anchor="ctr"/>
          <a:lstStyle/>
          <a:p>
            <a:pPr algn="ctr"/>
            <a:endParaRPr lang="en-GB" dirty="0"/>
          </a:p>
        </p:txBody>
      </p:sp>
      <p:sp>
        <p:nvSpPr>
          <p:cNvPr id="3" name="TextBox 2"/>
          <p:cNvSpPr txBox="1"/>
          <p:nvPr/>
        </p:nvSpPr>
        <p:spPr>
          <a:xfrm>
            <a:off x="9144000" y="1417320"/>
            <a:ext cx="2743200" cy="3291840"/>
          </a:xfrm>
          <a:prstGeom prst="rect">
            <a:avLst/>
          </a:prstGeom>
          <a:noFill/>
        </p:spPr>
        <p:txBody>
          <a:bodyPr wrap="square" lIns="0" tIns="0" rIns="0" bIns="0">
            <a:spAutoFit/>
          </a:bodyPr>
          <a:lstStyle/>
          <a:p>
            <a:pPr algn="ctr"/>
            <a:r>
              <a:rPr lang="en-GB" sz="20000" b="1" i="0" dirty="0">
                <a:solidFill>
                  <a:srgbClr val="1B4780"/>
                </a:solidFill>
                <a:latin typeface="Cambria"/>
              </a:rPr>
              <a:t>3</a:t>
            </a:r>
          </a:p>
        </p:txBody>
      </p:sp>
      <p:sp>
        <p:nvSpPr>
          <p:cNvPr id="4" name="TextBox 3"/>
          <p:cNvSpPr txBox="1"/>
          <p:nvPr/>
        </p:nvSpPr>
        <p:spPr>
          <a:xfrm>
            <a:off x="566928" y="1920240"/>
            <a:ext cx="8138160" cy="365760"/>
          </a:xfrm>
          <a:prstGeom prst="rect">
            <a:avLst/>
          </a:prstGeom>
          <a:noFill/>
        </p:spPr>
        <p:txBody>
          <a:bodyPr wrap="square" lIns="0" tIns="0" rIns="0" bIns="0">
            <a:spAutoFit/>
          </a:bodyPr>
          <a:lstStyle/>
          <a:p>
            <a:r>
              <a:rPr lang="en-GB" sz="1150" b="1" i="0" dirty="0">
                <a:solidFill>
                  <a:srgbClr val="B9CAE4"/>
                </a:solidFill>
                <a:latin typeface="Calibri"/>
              </a:rPr>
              <a:t>I G I C E   C Y A   3</a:t>
            </a:r>
          </a:p>
        </p:txBody>
      </p:sp>
      <p:sp>
        <p:nvSpPr>
          <p:cNvPr id="5" name="TextBox 4"/>
          <p:cNvSpPr txBox="1"/>
          <p:nvPr/>
        </p:nvSpPr>
        <p:spPr>
          <a:xfrm>
            <a:off x="566928" y="2377440"/>
            <a:ext cx="8138160" cy="1280160"/>
          </a:xfrm>
          <a:prstGeom prst="rect">
            <a:avLst/>
          </a:prstGeom>
          <a:noFill/>
        </p:spPr>
        <p:txBody>
          <a:bodyPr wrap="square" lIns="0" tIns="0" rIns="0" bIns="0">
            <a:spAutoFit/>
          </a:bodyPr>
          <a:lstStyle/>
          <a:p>
            <a:pPr>
              <a:lnSpc>
                <a:spcPct val="105000"/>
              </a:lnSpc>
            </a:pPr>
            <a:r>
              <a:rPr lang="en-GB" sz="3150" b="1" i="0" dirty="0">
                <a:solidFill>
                  <a:srgbClr val="FFFFFF"/>
                </a:solidFill>
                <a:latin typeface="Cambria"/>
              </a:rPr>
              <a:t>Icyo gukora ubutaha</a:t>
            </a:r>
          </a:p>
        </p:txBody>
      </p:sp>
      <p:sp>
        <p:nvSpPr>
          <p:cNvPr id="6" name="TextBox 5"/>
          <p:cNvSpPr txBox="1"/>
          <p:nvPr/>
        </p:nvSpPr>
        <p:spPr>
          <a:xfrm>
            <a:off x="566928" y="3886200"/>
            <a:ext cx="8138160" cy="914400"/>
          </a:xfrm>
          <a:prstGeom prst="rect">
            <a:avLst/>
          </a:prstGeom>
          <a:noFill/>
        </p:spPr>
        <p:txBody>
          <a:bodyPr wrap="square" lIns="0" tIns="0" rIns="0" bIns="0">
            <a:spAutoFit/>
          </a:bodyPr>
          <a:lstStyle/>
          <a:p>
            <a:pPr>
              <a:lnSpc>
                <a:spcPct val="120000"/>
              </a:lnSpc>
            </a:pPr>
            <a:r>
              <a:rPr lang="en-GB" sz="1800" b="0" i="0" dirty="0">
                <a:solidFill>
                  <a:srgbClr val="B9CAE4"/>
                </a:solidFill>
                <a:latin typeface="Calibri"/>
              </a:rPr>
              <a:t>Aho kohereza umuntu, mu gihe kingana iki, uko waganira ku ngingo iteye ubwoba, n'uko wakwemeza ko gusura ivuriro bibaho koko.</a:t>
            </a:r>
          </a:p>
        </p:txBody>
      </p:sp>
      <p:sp>
        <p:nvSpPr>
          <p:cNvPr id="7" name="TextBox 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8" name="TextBox 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79</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Intego z'iri somo</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Mu mpera z'iri somo, uzaba ushobora:</a:t>
            </a:r>
          </a:p>
        </p:txBody>
      </p:sp>
      <p:sp>
        <p:nvSpPr>
          <p:cNvPr id="5" name="Rounded Rectangle 4"/>
          <p:cNvSpPr/>
          <p:nvPr/>
        </p:nvSpPr>
        <p:spPr>
          <a:xfrm>
            <a:off x="566928" y="202996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19181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121408"/>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Gusobanura aho ubuvuzi bwa kanseri y'inkondo y'umura butangirwa mu Rwanda n'aho kohereza umuntu.</a:t>
            </a:r>
          </a:p>
        </p:txBody>
      </p:sp>
      <p:sp>
        <p:nvSpPr>
          <p:cNvPr id="8" name="Rounded Rectangle 7"/>
          <p:cNvSpPr/>
          <p:nvPr/>
        </p:nvSpPr>
        <p:spPr>
          <a:xfrm>
            <a:off x="566928" y="2847441"/>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009290"/>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2938881"/>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Gufata icyemezo cy'uburyo umuntu akeneye kubonwa byihutirwa.</a:t>
            </a:r>
          </a:p>
        </p:txBody>
      </p:sp>
      <p:sp>
        <p:nvSpPr>
          <p:cNvPr id="11" name="Rounded Rectangle 10"/>
          <p:cNvSpPr/>
          <p:nvPr/>
        </p:nvSpPr>
        <p:spPr>
          <a:xfrm>
            <a:off x="566928" y="3664915"/>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3826763"/>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3756355"/>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Gufasha umuntu kurangiza koherezwa no gusura ivuriro akurikiranwa.</a:t>
            </a:r>
          </a:p>
        </p:txBody>
      </p:sp>
      <p:sp>
        <p:nvSpPr>
          <p:cNvPr id="14" name="Rounded Rectangle 13"/>
          <p:cNvSpPr/>
          <p:nvPr/>
        </p:nvSpPr>
        <p:spPr>
          <a:xfrm>
            <a:off x="566928" y="448238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Oval 14"/>
          <p:cNvSpPr/>
          <p:nvPr/>
        </p:nvSpPr>
        <p:spPr>
          <a:xfrm>
            <a:off x="804672" y="464423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6" name="TextBox 15"/>
          <p:cNvSpPr txBox="1"/>
          <p:nvPr/>
        </p:nvSpPr>
        <p:spPr>
          <a:xfrm>
            <a:off x="1389888" y="4573828"/>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Gusubiza ubwoba busanzwe ku isuzuma, ubuvuzi n'ibisubizo.</a:t>
            </a:r>
          </a:p>
        </p:txBody>
      </p:sp>
      <p:sp>
        <p:nvSpPr>
          <p:cNvPr id="17" name="Rounded Rectangle 16"/>
          <p:cNvSpPr/>
          <p:nvPr/>
        </p:nvSpPr>
        <p:spPr>
          <a:xfrm>
            <a:off x="566928" y="5299862"/>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8" name="Oval 17"/>
          <p:cNvSpPr/>
          <p:nvPr/>
        </p:nvSpPr>
        <p:spPr>
          <a:xfrm>
            <a:off x="804672" y="546171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5</a:t>
            </a:r>
          </a:p>
        </p:txBody>
      </p:sp>
      <p:sp>
        <p:nvSpPr>
          <p:cNvPr id="19" name="TextBox 18"/>
          <p:cNvSpPr txBox="1"/>
          <p:nvPr/>
        </p:nvSpPr>
        <p:spPr>
          <a:xfrm>
            <a:off x="1389888" y="5391302"/>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Kurinda ibanga no kugabanya ipfunwe n'ugushinjwa mu gace utuyemo.</a:t>
            </a:r>
          </a:p>
        </p:txBody>
      </p:sp>
      <p:sp>
        <p:nvSpPr>
          <p:cNvPr id="20" name="TextBox 19"/>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1" name="TextBox 20"/>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80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K O H E R E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Aho ubuvuzi bwa kanseri y'inkondo y'umura butangirwa</a:t>
            </a:r>
          </a:p>
        </p:txBody>
      </p:sp>
      <p:sp>
        <p:nvSpPr>
          <p:cNvPr id="4" name="Rounded Rectangle 3"/>
          <p:cNvSpPr/>
          <p:nvPr/>
        </p:nvSpPr>
        <p:spPr>
          <a:xfrm>
            <a:off x="566928" y="1903743"/>
            <a:ext cx="2476492" cy="306567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Oval 4"/>
          <p:cNvSpPr/>
          <p:nvPr/>
        </p:nvSpPr>
        <p:spPr>
          <a:xfrm>
            <a:off x="627888" y="2126360"/>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1</a:t>
            </a:r>
          </a:p>
        </p:txBody>
      </p:sp>
      <p:sp>
        <p:nvSpPr>
          <p:cNvPr id="6" name="TextBox 5"/>
          <p:cNvSpPr txBox="1"/>
          <p:nvPr/>
        </p:nvSpPr>
        <p:spPr>
          <a:xfrm>
            <a:off x="1158240" y="2205323"/>
            <a:ext cx="1574044" cy="293607"/>
          </a:xfrm>
          <a:prstGeom prst="rect">
            <a:avLst/>
          </a:prstGeom>
          <a:noFill/>
        </p:spPr>
        <p:txBody>
          <a:bodyPr wrap="square" lIns="0" tIns="0" rIns="0" bIns="0">
            <a:spAutoFit/>
          </a:bodyPr>
          <a:lstStyle/>
          <a:p>
            <a:pPr algn="ctr">
              <a:lnSpc>
                <a:spcPct val="112000"/>
              </a:lnSpc>
            </a:pPr>
            <a:r>
              <a:rPr lang="en-GB" sz="1300" b="1" i="0" dirty="0">
                <a:solidFill>
                  <a:srgbClr val="1A1A1A"/>
                </a:solidFill>
                <a:latin typeface="Calibri"/>
              </a:rPr>
              <a:t>Mu baturage</a:t>
            </a:r>
          </a:p>
        </p:txBody>
      </p:sp>
      <p:sp>
        <p:nvSpPr>
          <p:cNvPr id="7" name="Rounded Rectangle 6"/>
          <p:cNvSpPr/>
          <p:nvPr/>
        </p:nvSpPr>
        <p:spPr>
          <a:xfrm>
            <a:off x="3098284" y="3101758"/>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8" name="Rounded Rectangle 7"/>
          <p:cNvSpPr/>
          <p:nvPr/>
        </p:nvSpPr>
        <p:spPr>
          <a:xfrm>
            <a:off x="3427468" y="1902228"/>
            <a:ext cx="2476492" cy="30832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3582426" y="2110020"/>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2</a:t>
            </a:r>
          </a:p>
        </p:txBody>
      </p:sp>
      <p:sp>
        <p:nvSpPr>
          <p:cNvPr id="10" name="TextBox 9"/>
          <p:cNvSpPr txBox="1"/>
          <p:nvPr/>
        </p:nvSpPr>
        <p:spPr>
          <a:xfrm>
            <a:off x="3573772" y="2899751"/>
            <a:ext cx="2183884" cy="1844672"/>
          </a:xfrm>
          <a:prstGeom prst="rect">
            <a:avLst/>
          </a:prstGeom>
          <a:noFill/>
        </p:spPr>
        <p:txBody>
          <a:bodyPr wrap="square" lIns="0" tIns="0" rIns="0" bIns="0">
            <a:spAutoFit/>
          </a:bodyPr>
          <a:lstStyle/>
          <a:p>
            <a:pPr algn="ctr">
              <a:lnSpc>
                <a:spcPct val="112000"/>
              </a:lnSpc>
            </a:pPr>
            <a:r>
              <a:rPr lang="en-GB" sz="1150" dirty="0">
                <a:solidFill>
                  <a:srgbClr val="1A1A1A"/>
                </a:solidFill>
                <a:latin typeface="Calibri"/>
              </a:rPr>
              <a:t>Ahantu h'ingenzi ho kwisuzumishiriza kanseri y'inkondo y'umura. Ikizamini cya HPV na VIA bitangirwa hano, hamwe no kuvura ibikomere bibanziriza kanseri bishobora kuvurirwa hano.</a:t>
            </a:r>
            <a:endParaRPr lang="en-GB" sz="1150" b="0" i="0" dirty="0">
              <a:solidFill>
                <a:srgbClr val="1A1A1A"/>
              </a:solidFill>
              <a:latin typeface="Calibri"/>
            </a:endParaRPr>
          </a:p>
        </p:txBody>
      </p:sp>
      <p:sp>
        <p:nvSpPr>
          <p:cNvPr id="11" name="Rounded Rectangle 10"/>
          <p:cNvSpPr/>
          <p:nvPr/>
        </p:nvSpPr>
        <p:spPr>
          <a:xfrm>
            <a:off x="5958824" y="3101758"/>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12" name="Rounded Rectangle 11"/>
          <p:cNvSpPr/>
          <p:nvPr/>
        </p:nvSpPr>
        <p:spPr>
          <a:xfrm>
            <a:off x="6288008" y="1903744"/>
            <a:ext cx="2476492" cy="30656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Oval 12"/>
          <p:cNvSpPr/>
          <p:nvPr/>
        </p:nvSpPr>
        <p:spPr>
          <a:xfrm>
            <a:off x="6416744" y="2097608"/>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3</a:t>
            </a:r>
          </a:p>
        </p:txBody>
      </p:sp>
      <p:sp>
        <p:nvSpPr>
          <p:cNvPr id="14" name="TextBox 13"/>
          <p:cNvSpPr txBox="1"/>
          <p:nvPr/>
        </p:nvSpPr>
        <p:spPr>
          <a:xfrm>
            <a:off x="6434312" y="2814691"/>
            <a:ext cx="2183884" cy="1844672"/>
          </a:xfrm>
          <a:prstGeom prst="rect">
            <a:avLst/>
          </a:prstGeom>
          <a:noFill/>
        </p:spPr>
        <p:txBody>
          <a:bodyPr wrap="square" lIns="0" tIns="0" rIns="0" bIns="0">
            <a:spAutoFit/>
          </a:bodyPr>
          <a:lstStyle/>
          <a:p>
            <a:pPr algn="ctr">
              <a:lnSpc>
                <a:spcPct val="112000"/>
              </a:lnSpc>
            </a:pPr>
            <a:r>
              <a:rPr lang="en-GB" sz="1150" dirty="0">
                <a:solidFill>
                  <a:srgbClr val="1A1A1A"/>
                </a:solidFill>
                <a:latin typeface="Calibri"/>
              </a:rPr>
              <a:t>Isuzuma rishobora no kuhaboneka. Hatanga irindi suzuma no kohereza igihe hakenewe ubuvuzi bwo ku rwego rwisumbuye.</a:t>
            </a:r>
            <a:endParaRPr lang="en-GB" sz="1150" b="0" i="0" dirty="0">
              <a:solidFill>
                <a:srgbClr val="1A1A1A"/>
              </a:solidFill>
              <a:latin typeface="Calibri"/>
            </a:endParaRPr>
          </a:p>
        </p:txBody>
      </p:sp>
      <p:sp>
        <p:nvSpPr>
          <p:cNvPr id="15" name="Rounded Rectangle 14"/>
          <p:cNvSpPr/>
          <p:nvPr/>
        </p:nvSpPr>
        <p:spPr>
          <a:xfrm>
            <a:off x="8819365" y="3101758"/>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16" name="Rounded Rectangle 15"/>
          <p:cNvSpPr/>
          <p:nvPr/>
        </p:nvSpPr>
        <p:spPr>
          <a:xfrm>
            <a:off x="9148549" y="1903744"/>
            <a:ext cx="2476492" cy="30656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Oval 16"/>
          <p:cNvSpPr/>
          <p:nvPr/>
        </p:nvSpPr>
        <p:spPr>
          <a:xfrm>
            <a:off x="9225146" y="2158079"/>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4</a:t>
            </a:r>
          </a:p>
        </p:txBody>
      </p:sp>
      <p:sp>
        <p:nvSpPr>
          <p:cNvPr id="18" name="TextBox 17"/>
          <p:cNvSpPr txBox="1"/>
          <p:nvPr/>
        </p:nvSpPr>
        <p:spPr>
          <a:xfrm>
            <a:off x="9294853" y="2921017"/>
            <a:ext cx="2183884" cy="1224246"/>
          </a:xfrm>
          <a:prstGeom prst="rect">
            <a:avLst/>
          </a:prstGeom>
          <a:noFill/>
        </p:spPr>
        <p:txBody>
          <a:bodyPr wrap="square" lIns="0" tIns="0" rIns="0" bIns="0">
            <a:spAutoFit/>
          </a:bodyPr>
          <a:lstStyle/>
          <a:p>
            <a:pPr algn="ctr">
              <a:lnSpc>
                <a:spcPct val="112000"/>
              </a:lnSpc>
            </a:pPr>
            <a:r>
              <a:rPr lang="en-GB" sz="1150" dirty="0">
                <a:solidFill>
                  <a:srgbClr val="1A1A1A"/>
                </a:solidFill>
                <a:latin typeface="Calibri"/>
              </a:rPr>
              <a:t>Gufata agace k'inyama (biopsy) no kugasuzuma muri laboratwari, isuzuma rikorwa n'inzobere, kubaga no kuvura kanseri y'inkondo y'umura.</a:t>
            </a:r>
            <a:endParaRPr lang="en-GB" sz="1150" b="0" i="0" dirty="0">
              <a:solidFill>
                <a:srgbClr val="1A1A1A"/>
              </a:solidFill>
              <a:latin typeface="Calibri"/>
            </a:endParaRPr>
          </a:p>
        </p:txBody>
      </p:sp>
      <p:sp>
        <p:nvSpPr>
          <p:cNvPr id="21" name="TextBox 20"/>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2" name="TextBox 21"/>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81</a:t>
            </a:r>
          </a:p>
        </p:txBody>
      </p:sp>
      <p:sp>
        <p:nvSpPr>
          <p:cNvPr id="24" name="TextBox 23">
            <a:extLst>
              <a:ext uri="{FF2B5EF4-FFF2-40B4-BE49-F238E27FC236}">
                <a16:creationId xmlns:a16="http://schemas.microsoft.com/office/drawing/2014/main" id="{8F62F574-D73A-8118-45CD-CC817EB59DC2}"/>
              </a:ext>
            </a:extLst>
          </p:cNvPr>
          <p:cNvSpPr txBox="1"/>
          <p:nvPr/>
        </p:nvSpPr>
        <p:spPr>
          <a:xfrm>
            <a:off x="627888" y="2799527"/>
            <a:ext cx="2324092" cy="1224246"/>
          </a:xfrm>
          <a:prstGeom prst="rect">
            <a:avLst/>
          </a:prstGeom>
          <a:noFill/>
        </p:spPr>
        <p:txBody>
          <a:bodyPr wrap="square" lIns="0" tIns="0" rIns="0" bIns="0">
            <a:spAutoFit/>
          </a:bodyPr>
          <a:lstStyle/>
          <a:p>
            <a:pPr algn="ctr">
              <a:lnSpc>
                <a:spcPct val="112000"/>
              </a:lnSpc>
            </a:pPr>
            <a:r>
              <a:rPr lang="en-GB" sz="1150" b="0" i="0" dirty="0">
                <a:solidFill>
                  <a:srgbClr val="1A1A1A"/>
                </a:solidFill>
                <a:latin typeface="Calibri"/>
              </a:rPr>
              <a:t>Gukangurira, gushishikariza isuzuma, gufasha abagore kwifatira icyitegererezo cya HPV, kwitabira no gukurikiranwa.</a:t>
            </a:r>
          </a:p>
        </p:txBody>
      </p:sp>
      <p:sp>
        <p:nvSpPr>
          <p:cNvPr id="26" name="TextBox 25">
            <a:extLst>
              <a:ext uri="{FF2B5EF4-FFF2-40B4-BE49-F238E27FC236}">
                <a16:creationId xmlns:a16="http://schemas.microsoft.com/office/drawing/2014/main" id="{407FCD26-8C42-EAEA-4DB9-E3BBB00DAE2F}"/>
              </a:ext>
            </a:extLst>
          </p:cNvPr>
          <p:cNvSpPr txBox="1"/>
          <p:nvPr/>
        </p:nvSpPr>
        <p:spPr>
          <a:xfrm>
            <a:off x="4053145" y="2199534"/>
            <a:ext cx="1574044" cy="293607"/>
          </a:xfrm>
          <a:prstGeom prst="rect">
            <a:avLst/>
          </a:prstGeom>
          <a:noFill/>
        </p:spPr>
        <p:txBody>
          <a:bodyPr wrap="square" lIns="0" tIns="0" rIns="0" bIns="0">
            <a:spAutoFit/>
          </a:bodyPr>
          <a:lstStyle/>
          <a:p>
            <a:pPr algn="ctr">
              <a:lnSpc>
                <a:spcPct val="112000"/>
              </a:lnSpc>
            </a:pPr>
            <a:r>
              <a:rPr lang="en-GB" sz="1200" b="1" i="0" dirty="0">
                <a:solidFill>
                  <a:srgbClr val="1A1A1A"/>
                </a:solidFill>
                <a:latin typeface="Calibri"/>
              </a:rPr>
              <a:t>Ikigo Nderabuzima</a:t>
            </a:r>
          </a:p>
        </p:txBody>
      </p:sp>
      <p:sp>
        <p:nvSpPr>
          <p:cNvPr id="30" name="TextBox 29">
            <a:extLst>
              <a:ext uri="{FF2B5EF4-FFF2-40B4-BE49-F238E27FC236}">
                <a16:creationId xmlns:a16="http://schemas.microsoft.com/office/drawing/2014/main" id="{7E042939-1017-BE6D-DC92-F05AFCC13022}"/>
              </a:ext>
            </a:extLst>
          </p:cNvPr>
          <p:cNvSpPr txBox="1"/>
          <p:nvPr/>
        </p:nvSpPr>
        <p:spPr>
          <a:xfrm>
            <a:off x="6947096" y="2188435"/>
            <a:ext cx="1574044" cy="293607"/>
          </a:xfrm>
          <a:prstGeom prst="rect">
            <a:avLst/>
          </a:prstGeom>
          <a:noFill/>
        </p:spPr>
        <p:txBody>
          <a:bodyPr wrap="square" lIns="0" tIns="0" rIns="0" bIns="0">
            <a:spAutoFit/>
          </a:bodyPr>
          <a:lstStyle/>
          <a:p>
            <a:pPr algn="ctr">
              <a:lnSpc>
                <a:spcPct val="112000"/>
              </a:lnSpc>
            </a:pPr>
            <a:r>
              <a:rPr lang="en-GB" sz="1500" b="1" i="0" dirty="0">
                <a:solidFill>
                  <a:srgbClr val="1A1A1A"/>
                </a:solidFill>
                <a:latin typeface="Calibri"/>
              </a:rPr>
              <a:t>Ibitaro by'Akarere</a:t>
            </a:r>
          </a:p>
        </p:txBody>
      </p:sp>
      <p:sp>
        <p:nvSpPr>
          <p:cNvPr id="32" name="TextBox 31">
            <a:extLst>
              <a:ext uri="{FF2B5EF4-FFF2-40B4-BE49-F238E27FC236}">
                <a16:creationId xmlns:a16="http://schemas.microsoft.com/office/drawing/2014/main" id="{CC513417-2B5D-A5DD-C7E4-EC7AAF4B0469}"/>
              </a:ext>
            </a:extLst>
          </p:cNvPr>
          <p:cNvSpPr txBox="1"/>
          <p:nvPr/>
        </p:nvSpPr>
        <p:spPr>
          <a:xfrm>
            <a:off x="9813252" y="2205323"/>
            <a:ext cx="1750859" cy="603820"/>
          </a:xfrm>
          <a:prstGeom prst="rect">
            <a:avLst/>
          </a:prstGeom>
          <a:noFill/>
        </p:spPr>
        <p:txBody>
          <a:bodyPr wrap="square" lIns="0" tIns="0" rIns="0" bIns="0">
            <a:spAutoFit/>
          </a:bodyPr>
          <a:lstStyle/>
          <a:p>
            <a:pPr algn="ctr">
              <a:lnSpc>
                <a:spcPct val="112000"/>
              </a:lnSpc>
            </a:pPr>
            <a:r>
              <a:rPr lang="en-GB" sz="1150" b="1" i="0" dirty="0">
                <a:solidFill>
                  <a:srgbClr val="1A1A1A"/>
                </a:solidFill>
                <a:latin typeface="Calibri"/>
              </a:rPr>
              <a:t>Ibitaro Bikuru Byoherezwamo Abarwayi</a:t>
            </a:r>
          </a:p>
        </p:txBody>
      </p:sp>
      <p:sp>
        <p:nvSpPr>
          <p:cNvPr id="23" name="Rounded Rectangle 12">
            <a:extLst>
              <a:ext uri="{FF2B5EF4-FFF2-40B4-BE49-F238E27FC236}">
                <a16:creationId xmlns:a16="http://schemas.microsoft.com/office/drawing/2014/main" id="{8A4AF876-AD7E-5E9C-115B-C30CC37AAFFB}"/>
              </a:ext>
            </a:extLst>
          </p:cNvPr>
          <p:cNvSpPr/>
          <p:nvPr/>
        </p:nvSpPr>
        <p:spPr>
          <a:xfrm>
            <a:off x="566927" y="5568846"/>
            <a:ext cx="11058113" cy="692604"/>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sz="1600" dirty="0"/>
          </a:p>
        </p:txBody>
      </p:sp>
      <p:sp>
        <p:nvSpPr>
          <p:cNvPr id="25" name="TextBox 13">
            <a:extLst>
              <a:ext uri="{FF2B5EF4-FFF2-40B4-BE49-F238E27FC236}">
                <a16:creationId xmlns:a16="http://schemas.microsoft.com/office/drawing/2014/main" id="{684B8C57-4EC1-BB7E-BA8B-63AD1BC6DFD3}"/>
              </a:ext>
            </a:extLst>
          </p:cNvPr>
          <p:cNvSpPr txBox="1"/>
          <p:nvPr/>
        </p:nvSpPr>
        <p:spPr>
          <a:xfrm>
            <a:off x="804669" y="5620000"/>
            <a:ext cx="10582625" cy="536814"/>
          </a:xfrm>
          <a:prstGeom prst="rect">
            <a:avLst/>
          </a:prstGeom>
          <a:noFill/>
        </p:spPr>
        <p:txBody>
          <a:bodyPr wrap="square" lIns="0" tIns="0" rIns="0" bIns="0">
            <a:spAutoFit/>
          </a:bodyPr>
          <a:lstStyle/>
          <a:p>
            <a:pPr>
              <a:lnSpc>
                <a:spcPct val="112000"/>
              </a:lnSpc>
            </a:pPr>
            <a:r>
              <a:rPr lang="en-GB" sz="1300" b="1" i="0" dirty="0">
                <a:solidFill>
                  <a:srgbClr val="1C6B3F"/>
                </a:solidFill>
                <a:latin typeface="Calibri"/>
              </a:rPr>
              <a:t>💬 </a:t>
            </a:r>
            <a:r>
              <a:rPr lang="en-GB" sz="1300" i="0" dirty="0">
                <a:solidFill>
                  <a:schemeClr val="accent1">
                    <a:lumMod val="50000"/>
                  </a:schemeClr>
                </a:solidFill>
                <a:latin typeface="Calibri"/>
              </a:rPr>
              <a:t>Ohereza abagore ku isuzuma risanzwe ku kigo nderabuzima. Isuzuma rishobora no kuboneka ku bitaro by'akarere. Abagore bakeneye gufatwa agace k'inyama, gusuzumwa muri laboratwari cyangwa ubuvuzi bwa kanseri butangwa n'inzobere boherezwa ku bitaro bikuru byoherezwamo abarwayi.</a:t>
            </a:r>
            <a:endParaRPr lang="en-GB" sz="1300" b="0" i="0" dirty="0">
              <a:solidFill>
                <a:srgbClr val="1A1A1A"/>
              </a:solidFill>
              <a:latin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65760"/>
            <a:ext cx="11058113" cy="161583"/>
          </a:xfrm>
          <a:prstGeom prst="rect">
            <a:avLst/>
          </a:prstGeom>
          <a:noFill/>
          <a:ln/>
        </p:spPr>
        <p:txBody>
          <a:bodyPr wrap="square" lIns="0" tIns="0" rIns="0" bIns="0" rtlCol="0" anchor="ctr"/>
          <a:lstStyle/>
          <a:p>
            <a:pPr marL="0" indent="0" algn="l">
              <a:buNone/>
            </a:pPr>
            <a:r>
              <a:rPr lang="rw-RW" sz="1050" b="1" noProof="0" dirty="0">
                <a:solidFill>
                  <a:srgbClr val="1F4E96"/>
                </a:solidFill>
                <a:latin typeface="Calibri" pitchFamily="34" charset="0"/>
                <a:ea typeface="Calibri" pitchFamily="34" charset="-122"/>
                <a:cs typeface="Calibri" pitchFamily="34" charset="-120"/>
              </a:rPr>
              <a:t>I G I C E   C Y A   3   ·   K W I F A T I R A   I G I P I M O</a:t>
            </a:r>
            <a:endParaRPr lang="rw-RW" sz="1050" dirty="0"/>
          </a:p>
        </p:txBody>
      </p:sp>
      <p:sp>
        <p:nvSpPr>
          <p:cNvPr id="3" name="Text 3"/>
          <p:cNvSpPr txBox="1"/>
          <p:nvPr/>
        </p:nvSpPr>
        <p:spPr>
          <a:xfrm>
            <a:off x="566928" y="713232"/>
            <a:ext cx="11058113" cy="777240"/>
          </a:xfrm>
          <a:prstGeom prst="rect">
            <a:avLst/>
          </a:prstGeom>
          <a:noFill/>
          <a:ln/>
        </p:spPr>
        <p:txBody>
          <a:bodyPr wrap="square" lIns="0" tIns="0" rIns="0" bIns="0" rtlCol="0" anchor="ctr"/>
          <a:lstStyle/>
          <a:p>
            <a:pPr marL="0" indent="0">
              <a:buNone/>
            </a:pPr>
            <a:r>
              <a:rPr lang="rw-RW" sz="2800" b="1" noProof="0" dirty="0">
                <a:solidFill>
                  <a:srgbClr val="10305A"/>
                </a:solidFill>
                <a:latin typeface="Cambria" pitchFamily="34" charset="0"/>
                <a:ea typeface="Cambria" pitchFamily="34" charset="-122"/>
                <a:cs typeface="Cambria" pitchFamily="34" charset="-120"/>
              </a:rPr>
              <a:t>Uruhare rw'umujyanama w'ubuzima mu kwifatira igipimo cya HPV</a:t>
            </a:r>
          </a:p>
        </p:txBody>
      </p:sp>
      <p:sp>
        <p:nvSpPr>
          <p:cNvPr id="4" name="Shape 4"/>
          <p:cNvSpPr/>
          <p:nvPr/>
        </p:nvSpPr>
        <p:spPr>
          <a:xfrm>
            <a:off x="566928" y="1600000"/>
            <a:ext cx="2600000" cy="300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5" name="Shape 5"/>
          <p:cNvSpPr/>
          <p:nvPr/>
        </p:nvSpPr>
        <p:spPr>
          <a:xfrm>
            <a:off x="1606928" y="1750000"/>
            <a:ext cx="520000" cy="520000"/>
          </a:xfrm>
          <a:prstGeom prst="ellipse">
            <a:avLst/>
          </a:prstGeom>
          <a:solidFill>
            <a:srgbClr val="1F4E96"/>
          </a:solidFill>
          <a:ln w="12700">
            <a:solidFill>
              <a:srgbClr val="1F4E96"/>
            </a:solidFill>
          </a:ln>
        </p:spPr>
        <p:txBody>
          <a:bodyPr wrap="square" lIns="45720" tIns="45720" rIns="45720" bIns="45720" rtlCol="0" anchor="ctr"/>
          <a:lstStyle/>
          <a:p>
            <a:pPr marL="0" indent="0" algn="ctr">
              <a:buNone/>
            </a:pPr>
            <a:r>
              <a:rPr lang="rw-RW" sz="1800" b="1" noProof="0" dirty="0">
                <a:solidFill>
                  <a:srgbClr val="FFFFFF"/>
                </a:solidFill>
                <a:latin typeface="Calibri" pitchFamily="34" charset="0"/>
                <a:ea typeface="Calibri" pitchFamily="34" charset="-122"/>
                <a:cs typeface="Calibri" pitchFamily="34" charset="-120"/>
              </a:rPr>
              <a:t>1</a:t>
            </a:r>
            <a:endParaRPr lang="rw-RW" sz="1800" dirty="0"/>
          </a:p>
        </p:txBody>
      </p:sp>
      <p:sp>
        <p:nvSpPr>
          <p:cNvPr id="6" name="Text 6"/>
          <p:cNvSpPr txBox="1"/>
          <p:nvPr/>
        </p:nvSpPr>
        <p:spPr>
          <a:xfrm>
            <a:off x="716928" y="2380000"/>
            <a:ext cx="2300000" cy="520000"/>
          </a:xfrm>
          <a:prstGeom prst="rect">
            <a:avLst/>
          </a:prstGeom>
          <a:noFill/>
          <a:ln/>
        </p:spPr>
        <p:txBody>
          <a:bodyPr wrap="square" lIns="0" tIns="0" rIns="0" bIns="0" rtlCol="0" anchor="ctr"/>
          <a:lstStyle/>
          <a:p>
            <a:pPr marL="0" indent="0" algn="ctr">
              <a:buNone/>
            </a:pPr>
            <a:r>
              <a:rPr lang="rw-RW" sz="1800" b="1" noProof="0" dirty="0">
                <a:solidFill>
                  <a:srgbClr val="10305A"/>
                </a:solidFill>
                <a:latin typeface="Calibri" pitchFamily="34" charset="0"/>
                <a:ea typeface="Calibri" pitchFamily="34" charset="-122"/>
                <a:cs typeface="Calibri" pitchFamily="34" charset="-120"/>
              </a:rPr>
              <a:t>Kwigisha</a:t>
            </a:r>
            <a:endParaRPr lang="rw-RW" sz="1800" dirty="0"/>
          </a:p>
        </p:txBody>
      </p:sp>
      <p:sp>
        <p:nvSpPr>
          <p:cNvPr id="7" name="Text 7"/>
          <p:cNvSpPr txBox="1"/>
          <p:nvPr/>
        </p:nvSpPr>
        <p:spPr>
          <a:xfrm>
            <a:off x="736928" y="2950000"/>
            <a:ext cx="2260000" cy="1600000"/>
          </a:xfrm>
          <a:prstGeom prst="rect">
            <a:avLst/>
          </a:prstGeom>
          <a:noFill/>
          <a:ln/>
        </p:spPr>
        <p:txBody>
          <a:bodyPr wrap="square" lIns="0" tIns="0" rIns="0" bIns="0" rtlCol="0" anchor="t"/>
          <a:lstStyle/>
          <a:p>
            <a:pPr marL="0" indent="0" algn="ctr">
              <a:buNone/>
            </a:pPr>
            <a:r>
              <a:rPr lang="rw-RW" sz="1600" noProof="0" dirty="0">
                <a:solidFill>
                  <a:srgbClr val="1A1A1A"/>
                </a:solidFill>
                <a:latin typeface="Calibri" pitchFamily="34" charset="0"/>
                <a:ea typeface="Calibri" pitchFamily="34" charset="-122"/>
                <a:cs typeface="Calibri" pitchFamily="34" charset="-120"/>
              </a:rPr>
              <a:t>Sobanurira umugore uko yifatira igipimo cya HPV neza.</a:t>
            </a:r>
            <a:endParaRPr lang="rw-RW" sz="1600" dirty="0"/>
          </a:p>
        </p:txBody>
      </p:sp>
      <p:sp>
        <p:nvSpPr>
          <p:cNvPr id="8" name="Shape 8"/>
          <p:cNvSpPr/>
          <p:nvPr/>
        </p:nvSpPr>
        <p:spPr>
          <a:xfrm>
            <a:off x="3385293" y="1600000"/>
            <a:ext cx="2600000" cy="300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9" name="Shape 9"/>
          <p:cNvSpPr/>
          <p:nvPr/>
        </p:nvSpPr>
        <p:spPr>
          <a:xfrm>
            <a:off x="4425293" y="1750000"/>
            <a:ext cx="520000" cy="520000"/>
          </a:xfrm>
          <a:prstGeom prst="ellipse">
            <a:avLst/>
          </a:prstGeom>
          <a:solidFill>
            <a:srgbClr val="1F4E96"/>
          </a:solidFill>
          <a:ln w="12700">
            <a:solidFill>
              <a:srgbClr val="1F4E96"/>
            </a:solidFill>
          </a:ln>
        </p:spPr>
        <p:txBody>
          <a:bodyPr wrap="square" lIns="45720" tIns="45720" rIns="45720" bIns="45720" rtlCol="0" anchor="ctr"/>
          <a:lstStyle/>
          <a:p>
            <a:pPr marL="0" indent="0" algn="ctr">
              <a:buNone/>
            </a:pPr>
            <a:r>
              <a:rPr lang="rw-RW" sz="1800" b="1" noProof="0" dirty="0">
                <a:solidFill>
                  <a:srgbClr val="FFFFFF"/>
                </a:solidFill>
                <a:latin typeface="Calibri" pitchFamily="34" charset="0"/>
                <a:ea typeface="Calibri" pitchFamily="34" charset="-122"/>
                <a:cs typeface="Calibri" pitchFamily="34" charset="-120"/>
              </a:rPr>
              <a:t>2</a:t>
            </a:r>
            <a:endParaRPr lang="rw-RW" sz="1800" dirty="0"/>
          </a:p>
        </p:txBody>
      </p:sp>
      <p:sp>
        <p:nvSpPr>
          <p:cNvPr id="10" name="Text 10"/>
          <p:cNvSpPr txBox="1"/>
          <p:nvPr/>
        </p:nvSpPr>
        <p:spPr>
          <a:xfrm>
            <a:off x="3535293" y="2380000"/>
            <a:ext cx="2300000" cy="520000"/>
          </a:xfrm>
          <a:prstGeom prst="rect">
            <a:avLst/>
          </a:prstGeom>
          <a:noFill/>
          <a:ln/>
        </p:spPr>
        <p:txBody>
          <a:bodyPr wrap="square" lIns="0" tIns="0" rIns="0" bIns="0" rtlCol="0" anchor="ctr"/>
          <a:lstStyle/>
          <a:p>
            <a:pPr marL="0" indent="0" algn="ctr">
              <a:buNone/>
            </a:pPr>
            <a:r>
              <a:rPr lang="rw-RW" sz="1800" b="1" noProof="0" dirty="0">
                <a:solidFill>
                  <a:srgbClr val="10305A"/>
                </a:solidFill>
                <a:latin typeface="Calibri" pitchFamily="34" charset="0"/>
                <a:ea typeface="Calibri" pitchFamily="34" charset="-122"/>
                <a:cs typeface="Calibri" pitchFamily="34" charset="-120"/>
              </a:rPr>
              <a:t>Gutanga ibikoresho</a:t>
            </a:r>
            <a:endParaRPr lang="rw-RW" sz="1800" dirty="0"/>
          </a:p>
        </p:txBody>
      </p:sp>
      <p:sp>
        <p:nvSpPr>
          <p:cNvPr id="11" name="Text 11"/>
          <p:cNvSpPr txBox="1"/>
          <p:nvPr/>
        </p:nvSpPr>
        <p:spPr>
          <a:xfrm>
            <a:off x="3555293" y="2950000"/>
            <a:ext cx="2260000" cy="1600000"/>
          </a:xfrm>
          <a:prstGeom prst="rect">
            <a:avLst/>
          </a:prstGeom>
          <a:noFill/>
          <a:ln/>
        </p:spPr>
        <p:txBody>
          <a:bodyPr wrap="square" lIns="0" tIns="0" rIns="0" bIns="0" rtlCol="0" anchor="t"/>
          <a:lstStyle/>
          <a:p>
            <a:pPr marL="0" indent="0" algn="ctr">
              <a:buNone/>
            </a:pPr>
            <a:r>
              <a:rPr lang="rw-RW" sz="1600" noProof="0" dirty="0">
                <a:solidFill>
                  <a:srgbClr val="1A1A1A"/>
                </a:solidFill>
                <a:latin typeface="Calibri" pitchFamily="34" charset="0"/>
                <a:ea typeface="Calibri" pitchFamily="34" charset="-122"/>
                <a:cs typeface="Calibri" pitchFamily="34" charset="-120"/>
              </a:rPr>
              <a:t>Muhe ibikoresho byo kwifatira igipimo n'amabwiriza akenewe.</a:t>
            </a:r>
            <a:endParaRPr lang="rw-RW" sz="1600" dirty="0"/>
          </a:p>
        </p:txBody>
      </p:sp>
      <p:sp>
        <p:nvSpPr>
          <p:cNvPr id="12" name="Shape 12"/>
          <p:cNvSpPr/>
          <p:nvPr/>
        </p:nvSpPr>
        <p:spPr>
          <a:xfrm>
            <a:off x="6203658" y="1600000"/>
            <a:ext cx="2600000" cy="300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3" name="Shape 13"/>
          <p:cNvSpPr/>
          <p:nvPr/>
        </p:nvSpPr>
        <p:spPr>
          <a:xfrm>
            <a:off x="7243658" y="1750000"/>
            <a:ext cx="520000" cy="520000"/>
          </a:xfrm>
          <a:prstGeom prst="ellipse">
            <a:avLst/>
          </a:prstGeom>
          <a:solidFill>
            <a:srgbClr val="1F4E96"/>
          </a:solidFill>
          <a:ln w="12700">
            <a:solidFill>
              <a:srgbClr val="1F4E96"/>
            </a:solidFill>
          </a:ln>
        </p:spPr>
        <p:txBody>
          <a:bodyPr wrap="square" lIns="45720" tIns="45720" rIns="45720" bIns="45720" rtlCol="0" anchor="ctr"/>
          <a:lstStyle/>
          <a:p>
            <a:pPr marL="0" indent="0" algn="ctr">
              <a:buNone/>
            </a:pPr>
            <a:r>
              <a:rPr lang="rw-RW" sz="1800" b="1" noProof="0" dirty="0">
                <a:solidFill>
                  <a:srgbClr val="FFFFFF"/>
                </a:solidFill>
                <a:latin typeface="Calibri" pitchFamily="34" charset="0"/>
                <a:ea typeface="Calibri" pitchFamily="34" charset="-122"/>
                <a:cs typeface="Calibri" pitchFamily="34" charset="-120"/>
              </a:rPr>
              <a:t>3</a:t>
            </a:r>
            <a:endParaRPr lang="rw-RW" sz="1800" dirty="0"/>
          </a:p>
        </p:txBody>
      </p:sp>
      <p:sp>
        <p:nvSpPr>
          <p:cNvPr id="14" name="Text 14"/>
          <p:cNvSpPr txBox="1"/>
          <p:nvPr/>
        </p:nvSpPr>
        <p:spPr>
          <a:xfrm>
            <a:off x="6353658" y="2380000"/>
            <a:ext cx="2300000" cy="520000"/>
          </a:xfrm>
          <a:prstGeom prst="rect">
            <a:avLst/>
          </a:prstGeom>
          <a:noFill/>
          <a:ln/>
        </p:spPr>
        <p:txBody>
          <a:bodyPr wrap="square" lIns="0" tIns="0" rIns="0" bIns="0" rtlCol="0" anchor="ctr"/>
          <a:lstStyle/>
          <a:p>
            <a:pPr marL="0" indent="0" algn="ctr">
              <a:buNone/>
            </a:pPr>
            <a:r>
              <a:rPr lang="rw-RW" sz="1800" b="1" noProof="0" dirty="0">
                <a:solidFill>
                  <a:srgbClr val="10305A"/>
                </a:solidFill>
                <a:latin typeface="Calibri" pitchFamily="34" charset="0"/>
                <a:ea typeface="Calibri" pitchFamily="34" charset="-122"/>
                <a:cs typeface="Calibri" pitchFamily="34" charset="-120"/>
              </a:rPr>
              <a:t>Gukusanya ibyitegererezo</a:t>
            </a:r>
            <a:endParaRPr lang="rw-RW" sz="1800" dirty="0"/>
          </a:p>
        </p:txBody>
      </p:sp>
      <p:sp>
        <p:nvSpPr>
          <p:cNvPr id="15" name="Text 15"/>
          <p:cNvSpPr txBox="1"/>
          <p:nvPr/>
        </p:nvSpPr>
        <p:spPr>
          <a:xfrm>
            <a:off x="6373658" y="2950000"/>
            <a:ext cx="2260000" cy="1600000"/>
          </a:xfrm>
          <a:prstGeom prst="rect">
            <a:avLst/>
          </a:prstGeom>
          <a:noFill/>
          <a:ln/>
        </p:spPr>
        <p:txBody>
          <a:bodyPr wrap="square" lIns="0" tIns="0" rIns="0" bIns="0" rtlCol="0" anchor="t"/>
          <a:lstStyle/>
          <a:p>
            <a:pPr marL="0" indent="0" algn="ctr">
              <a:buNone/>
            </a:pPr>
            <a:r>
              <a:rPr lang="rw-RW" sz="1600" noProof="0" dirty="0">
                <a:solidFill>
                  <a:srgbClr val="1A1A1A"/>
                </a:solidFill>
                <a:latin typeface="Calibri" pitchFamily="34" charset="0"/>
                <a:ea typeface="Calibri" pitchFamily="34" charset="-122"/>
                <a:cs typeface="Calibri" pitchFamily="34" charset="-120"/>
              </a:rPr>
              <a:t>Akira ibyitegererezo abagore bamaze kwifatira.</a:t>
            </a:r>
            <a:endParaRPr lang="rw-RW" sz="1600" dirty="0"/>
          </a:p>
        </p:txBody>
      </p:sp>
      <p:sp>
        <p:nvSpPr>
          <p:cNvPr id="16" name="Shape 16"/>
          <p:cNvSpPr/>
          <p:nvPr/>
        </p:nvSpPr>
        <p:spPr>
          <a:xfrm>
            <a:off x="9022024" y="1600000"/>
            <a:ext cx="2600000" cy="300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7" name="Shape 17"/>
          <p:cNvSpPr/>
          <p:nvPr/>
        </p:nvSpPr>
        <p:spPr>
          <a:xfrm>
            <a:off x="10062024" y="1750000"/>
            <a:ext cx="520000" cy="520000"/>
          </a:xfrm>
          <a:prstGeom prst="ellipse">
            <a:avLst/>
          </a:prstGeom>
          <a:solidFill>
            <a:srgbClr val="1F4E96"/>
          </a:solidFill>
          <a:ln w="12700">
            <a:solidFill>
              <a:srgbClr val="1F4E96"/>
            </a:solidFill>
          </a:ln>
        </p:spPr>
        <p:txBody>
          <a:bodyPr wrap="square" lIns="45720" tIns="45720" rIns="45720" bIns="45720" rtlCol="0" anchor="ctr"/>
          <a:lstStyle/>
          <a:p>
            <a:pPr marL="0" indent="0" algn="ctr">
              <a:buNone/>
            </a:pPr>
            <a:r>
              <a:rPr lang="rw-RW" sz="1800" b="1" noProof="0" dirty="0">
                <a:solidFill>
                  <a:srgbClr val="FFFFFF"/>
                </a:solidFill>
                <a:latin typeface="Calibri" pitchFamily="34" charset="0"/>
                <a:ea typeface="Calibri" pitchFamily="34" charset="-122"/>
                <a:cs typeface="Calibri" pitchFamily="34" charset="-120"/>
              </a:rPr>
              <a:t>4</a:t>
            </a:r>
            <a:endParaRPr lang="rw-RW" sz="1800" dirty="0"/>
          </a:p>
        </p:txBody>
      </p:sp>
      <p:sp>
        <p:nvSpPr>
          <p:cNvPr id="18" name="Text 18"/>
          <p:cNvSpPr txBox="1"/>
          <p:nvPr/>
        </p:nvSpPr>
        <p:spPr>
          <a:xfrm>
            <a:off x="9172024" y="2380000"/>
            <a:ext cx="2300000" cy="520000"/>
          </a:xfrm>
          <a:prstGeom prst="rect">
            <a:avLst/>
          </a:prstGeom>
          <a:noFill/>
          <a:ln/>
        </p:spPr>
        <p:txBody>
          <a:bodyPr wrap="square" lIns="0" tIns="0" rIns="0" bIns="0" rtlCol="0" anchor="ctr"/>
          <a:lstStyle/>
          <a:p>
            <a:pPr marL="0" indent="0" algn="ctr">
              <a:buNone/>
            </a:pPr>
            <a:r>
              <a:rPr lang="rw-RW" sz="1800" b="1" noProof="0" dirty="0">
                <a:solidFill>
                  <a:srgbClr val="10305A"/>
                </a:solidFill>
                <a:latin typeface="Calibri" pitchFamily="34" charset="0"/>
                <a:ea typeface="Calibri" pitchFamily="34" charset="-122"/>
                <a:cs typeface="Calibri" pitchFamily="34" charset="-120"/>
              </a:rPr>
              <a:t>Kubigeza ku kigo</a:t>
            </a:r>
            <a:endParaRPr lang="rw-RW" sz="1800" dirty="0"/>
          </a:p>
        </p:txBody>
      </p:sp>
      <p:sp>
        <p:nvSpPr>
          <p:cNvPr id="19" name="Text 19"/>
          <p:cNvSpPr txBox="1"/>
          <p:nvPr/>
        </p:nvSpPr>
        <p:spPr>
          <a:xfrm>
            <a:off x="9192024" y="2950000"/>
            <a:ext cx="2260000" cy="1600000"/>
          </a:xfrm>
          <a:prstGeom prst="rect">
            <a:avLst/>
          </a:prstGeom>
          <a:noFill/>
          <a:ln/>
        </p:spPr>
        <p:txBody>
          <a:bodyPr wrap="square" lIns="0" tIns="0" rIns="0" bIns="0" rtlCol="0" anchor="t"/>
          <a:lstStyle/>
          <a:p>
            <a:pPr marL="0" indent="0" algn="ctr">
              <a:buNone/>
            </a:pPr>
            <a:r>
              <a:rPr lang="rw-RW" sz="1600" noProof="0" dirty="0">
                <a:solidFill>
                  <a:srgbClr val="1A1A1A"/>
                </a:solidFill>
                <a:latin typeface="Calibri" pitchFamily="34" charset="0"/>
                <a:ea typeface="Calibri" pitchFamily="34" charset="-122"/>
                <a:cs typeface="Calibri" pitchFamily="34" charset="-120"/>
              </a:rPr>
              <a:t>Menya neza ko ibyitegererezo bigera neza ku ivuriro ry'ibanze cyangwa ku kigo nderabuzima kugira ngo bipimwe.</a:t>
            </a:r>
            <a:endParaRPr lang="rw-RW" sz="1600" dirty="0"/>
          </a:p>
        </p:txBody>
      </p:sp>
      <p:sp>
        <p:nvSpPr>
          <p:cNvPr id="20" name="Shape 20"/>
          <p:cNvSpPr/>
          <p:nvPr/>
        </p:nvSpPr>
        <p:spPr>
          <a:xfrm>
            <a:off x="566928" y="4750000"/>
            <a:ext cx="11055096" cy="750000"/>
          </a:xfrm>
          <a:prstGeom prst="roundRect">
            <a:avLst>
              <a:gd name="adj" fmla="val 3000"/>
            </a:avLst>
          </a:prstGeom>
          <a:solidFill>
            <a:srgbClr val="EAF7F0"/>
          </a:solidFill>
          <a:ln w="12700">
            <a:solidFill>
              <a:srgbClr val="C0D4CB"/>
            </a:solidFill>
          </a:ln>
        </p:spPr>
        <p:txBody>
          <a:bodyPr/>
          <a:lstStyle/>
          <a:p>
            <a:endParaRPr lang="rw-RW" sz="1600" dirty="0"/>
          </a:p>
        </p:txBody>
      </p:sp>
      <p:sp>
        <p:nvSpPr>
          <p:cNvPr id="21" name="Text 21"/>
          <p:cNvSpPr txBox="1"/>
          <p:nvPr/>
        </p:nvSpPr>
        <p:spPr>
          <a:xfrm>
            <a:off x="841248" y="4800000"/>
            <a:ext cx="10506456" cy="650000"/>
          </a:xfrm>
          <a:prstGeom prst="rect">
            <a:avLst/>
          </a:prstGeom>
          <a:noFill/>
          <a:ln/>
        </p:spPr>
        <p:txBody>
          <a:bodyPr wrap="square" lIns="0" tIns="0" rIns="0" bIns="0" rtlCol="0" anchor="ctr"/>
          <a:lstStyle/>
          <a:p>
            <a:pPr marL="0" indent="0" algn="l">
              <a:buNone/>
            </a:pPr>
            <a:r>
              <a:rPr lang="rw-RW" sz="1600" b="1" noProof="0" dirty="0">
                <a:solidFill>
                  <a:srgbClr val="1C6B3F"/>
                </a:solidFill>
                <a:latin typeface="Calibri" pitchFamily="34" charset="0"/>
                <a:ea typeface="Calibri" pitchFamily="34" charset="-122"/>
                <a:cs typeface="Calibri" pitchFamily="34" charset="-120"/>
              </a:rPr>
              <a:t>💬 Wibuke:  </a:t>
            </a:r>
            <a:r>
              <a:rPr lang="rw-RW" sz="1600" noProof="0" dirty="0">
                <a:solidFill>
                  <a:srgbClr val="1A1A1A"/>
                </a:solidFill>
                <a:latin typeface="Calibri" pitchFamily="34" charset="0"/>
                <a:ea typeface="Calibri" pitchFamily="34" charset="-122"/>
                <a:cs typeface="Calibri" pitchFamily="34" charset="-120"/>
              </a:rPr>
              <a:t>Abajyanama b'ubuzima bafasha kugira ngo kwifatira igipimo cya HPV byorohe, bibe byizewe kandi biboneke hafi y'aho abagore batuye.</a:t>
            </a:r>
            <a:endParaRPr lang="rw-RW" sz="1600" dirty="0"/>
          </a:p>
        </p:txBody>
      </p:sp>
      <p:sp>
        <p:nvSpPr>
          <p:cNvPr id="24" name="Text 24"/>
          <p:cNvSpPr txBox="1"/>
          <p:nvPr/>
        </p:nvSpPr>
        <p:spPr>
          <a:xfrm>
            <a:off x="566928" y="6345936"/>
            <a:ext cx="7315200" cy="274320"/>
          </a:xfrm>
          <a:prstGeom prst="rect">
            <a:avLst/>
          </a:prstGeom>
          <a:noFill/>
          <a:ln/>
        </p:spPr>
        <p:txBody>
          <a:bodyPr wrap="square" lIns="0" tIns="0" rIns="0" bIns="0" rtlCol="0" anchor="ctr"/>
          <a:lstStyle/>
          <a:p>
            <a:pPr marL="0" indent="0" algn="l">
              <a:buNone/>
            </a:pPr>
            <a:r>
              <a:rPr lang="rw-RW" sz="900" noProof="0" dirty="0">
                <a:solidFill>
                  <a:srgbClr val="777D86"/>
                </a:solidFill>
                <a:latin typeface="Calibri" pitchFamily="34" charset="0"/>
                <a:ea typeface="Calibri" pitchFamily="34" charset="-122"/>
                <a:cs typeface="Calibri" pitchFamily="34" charset="-120"/>
              </a:rPr>
              <a:t>Kanseri y'inkondo y'umura  |  Umujyanama w'Ubuzima  |  Ikigo cy'Igihugu Gishinzwe Ubuzima</a:t>
            </a:r>
            <a:endParaRPr lang="rw-RW" sz="900" dirty="0"/>
          </a:p>
        </p:txBody>
      </p:sp>
      <p:sp>
        <p:nvSpPr>
          <p:cNvPr id="25" name="Text 25"/>
          <p:cNvSpPr txBox="1"/>
          <p:nvPr/>
        </p:nvSpPr>
        <p:spPr>
          <a:xfrm>
            <a:off x="8881841" y="6345936"/>
            <a:ext cx="2743200" cy="274320"/>
          </a:xfrm>
          <a:prstGeom prst="rect">
            <a:avLst/>
          </a:prstGeom>
          <a:noFill/>
          <a:ln/>
        </p:spPr>
        <p:txBody>
          <a:bodyPr wrap="square" lIns="0" tIns="0" rIns="0" bIns="0" rtlCol="0" anchor="ctr"/>
          <a:lstStyle/>
          <a:p>
            <a:pPr marL="0" indent="0" algn="r">
              <a:buNone/>
            </a:pPr>
            <a:r>
              <a:rPr lang="rw-RW" sz="900" noProof="0" dirty="0">
                <a:solidFill>
                  <a:srgbClr val="777D86"/>
                </a:solidFill>
                <a:latin typeface="Calibri" pitchFamily="34" charset="0"/>
                <a:ea typeface="Calibri" pitchFamily="34" charset="-122"/>
                <a:cs typeface="Calibri" pitchFamily="34" charset="-120"/>
              </a:rPr>
              <a:t>Urupapuro rwa 82</a:t>
            </a:r>
            <a:endParaRPr lang="rw-RW"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65760"/>
            <a:ext cx="11058113" cy="161583"/>
          </a:xfrm>
          <a:prstGeom prst="rect">
            <a:avLst/>
          </a:prstGeom>
          <a:noFill/>
          <a:ln/>
        </p:spPr>
        <p:txBody>
          <a:bodyPr wrap="square" lIns="0" tIns="0" rIns="0" bIns="0" rtlCol="0" anchor="ctr"/>
          <a:lstStyle/>
          <a:p>
            <a:pPr marL="0" indent="0" algn="l">
              <a:buNone/>
            </a:pPr>
            <a:r>
              <a:rPr lang="rw-RW" sz="1050" b="1" noProof="0" dirty="0">
                <a:solidFill>
                  <a:srgbClr val="1F4E96"/>
                </a:solidFill>
                <a:latin typeface="Calibri" pitchFamily="34" charset="0"/>
                <a:ea typeface="Calibri" pitchFamily="34" charset="-122"/>
                <a:cs typeface="Calibri" pitchFamily="34" charset="-120"/>
              </a:rPr>
              <a:t>I G I C E   C Y A   3   ·   K W I F A T I R A   I G I P I M O</a:t>
            </a:r>
            <a:endParaRPr lang="rw-RW" sz="1050" dirty="0"/>
          </a:p>
        </p:txBody>
      </p:sp>
      <p:sp>
        <p:nvSpPr>
          <p:cNvPr id="3" name="Text 3"/>
          <p:cNvSpPr txBox="1"/>
          <p:nvPr/>
        </p:nvSpPr>
        <p:spPr>
          <a:xfrm>
            <a:off x="566928" y="713232"/>
            <a:ext cx="11058113" cy="777240"/>
          </a:xfrm>
          <a:prstGeom prst="rect">
            <a:avLst/>
          </a:prstGeom>
          <a:noFill/>
          <a:ln/>
        </p:spPr>
        <p:txBody>
          <a:bodyPr wrap="square" lIns="0" tIns="0" rIns="0" bIns="0" rtlCol="0" anchor="ctr"/>
          <a:lstStyle/>
          <a:p>
            <a:pPr marL="0" indent="0">
              <a:buNone/>
            </a:pPr>
            <a:r>
              <a:rPr lang="rw-RW" sz="3000" b="1" noProof="0" dirty="0">
                <a:solidFill>
                  <a:srgbClr val="10305A"/>
                </a:solidFill>
                <a:latin typeface="Cambria" pitchFamily="34" charset="0"/>
                <a:ea typeface="Cambria" pitchFamily="34" charset="-122"/>
                <a:cs typeface="Cambria" pitchFamily="34" charset="-120"/>
              </a:rPr>
              <a:t>Gusura urugo ku rundi: uko bikorwa</a:t>
            </a:r>
          </a:p>
        </p:txBody>
      </p:sp>
      <p:sp>
        <p:nvSpPr>
          <p:cNvPr id="4" name="Shape 4"/>
          <p:cNvSpPr/>
          <p:nvPr/>
        </p:nvSpPr>
        <p:spPr>
          <a:xfrm>
            <a:off x="566928" y="1650000"/>
            <a:ext cx="1900000" cy="1650000"/>
          </a:xfrm>
          <a:prstGeom prst="roundRect">
            <a:avLst>
              <a:gd name="adj" fmla="val 3000"/>
            </a:avLst>
          </a:prstGeom>
          <a:solidFill>
            <a:srgbClr val="EAF7F0"/>
          </a:solidFill>
          <a:ln w="12700">
            <a:solidFill>
              <a:srgbClr val="C0D4CB"/>
            </a:solidFill>
          </a:ln>
        </p:spPr>
        <p:txBody>
          <a:bodyPr/>
          <a:lstStyle/>
          <a:p>
            <a:endParaRPr lang="rw-RW" sz="1600" dirty="0"/>
          </a:p>
        </p:txBody>
      </p:sp>
      <p:sp>
        <p:nvSpPr>
          <p:cNvPr id="5" name="Shape 5"/>
          <p:cNvSpPr/>
          <p:nvPr/>
        </p:nvSpPr>
        <p:spPr>
          <a:xfrm>
            <a:off x="656928" y="1740000"/>
            <a:ext cx="400000" cy="400000"/>
          </a:xfrm>
          <a:prstGeom prst="ellipse">
            <a:avLst/>
          </a:prstGeom>
          <a:solidFill>
            <a:srgbClr val="1F4E96"/>
          </a:solidFill>
          <a:ln w="12700">
            <a:solidFill>
              <a:srgbClr val="1F4E96"/>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1</a:t>
            </a:r>
            <a:endParaRPr lang="rw-RW" sz="1400" dirty="0"/>
          </a:p>
        </p:txBody>
      </p:sp>
      <p:sp>
        <p:nvSpPr>
          <p:cNvPr id="6" name="Text 6"/>
          <p:cNvSpPr txBox="1"/>
          <p:nvPr/>
        </p:nvSpPr>
        <p:spPr>
          <a:xfrm>
            <a:off x="1866928" y="1730000"/>
            <a:ext cx="500000" cy="420000"/>
          </a:xfrm>
          <a:prstGeom prst="rect">
            <a:avLst/>
          </a:prstGeom>
          <a:noFill/>
          <a:ln/>
        </p:spPr>
        <p:txBody>
          <a:bodyPr wrap="square" lIns="0" tIns="0" rIns="0" bIns="0" rtlCol="0" anchor="ctr"/>
          <a:lstStyle/>
          <a:p>
            <a:pPr marL="0" indent="0" algn="r">
              <a:buNone/>
            </a:pPr>
            <a:r>
              <a:rPr lang="rw-RW" sz="1800" noProof="0" dirty="0">
                <a:solidFill>
                  <a:srgbClr val="000000"/>
                </a:solidFill>
                <a:latin typeface="Calibri" pitchFamily="34" charset="0"/>
                <a:ea typeface="Calibri" pitchFamily="34" charset="-122"/>
                <a:cs typeface="Calibri" pitchFamily="34" charset="-120"/>
              </a:rPr>
              <a:t>🏘️</a:t>
            </a:r>
            <a:endParaRPr lang="rw-RW" sz="1800" dirty="0"/>
          </a:p>
        </p:txBody>
      </p:sp>
      <p:sp>
        <p:nvSpPr>
          <p:cNvPr id="7" name="Text 7"/>
          <p:cNvSpPr txBox="1"/>
          <p:nvPr/>
        </p:nvSpPr>
        <p:spPr>
          <a:xfrm>
            <a:off x="676928" y="2210000"/>
            <a:ext cx="1680000" cy="1030000"/>
          </a:xfrm>
          <a:prstGeom prst="rect">
            <a:avLst/>
          </a:prstGeom>
          <a:noFill/>
          <a:ln/>
        </p:spPr>
        <p:txBody>
          <a:bodyPr wrap="square" lIns="0" tIns="0" rIns="0" bIns="0" rtlCol="0" anchor="t"/>
          <a:lstStyle/>
          <a:p>
            <a:pPr marL="0" indent="0" algn="ctr">
              <a:buNone/>
            </a:pPr>
            <a:r>
              <a:rPr lang="rw-RW" sz="1400" noProof="0" dirty="0">
                <a:solidFill>
                  <a:srgbClr val="1A1A1A"/>
                </a:solidFill>
                <a:latin typeface="Calibri" pitchFamily="34" charset="0"/>
                <a:ea typeface="Calibri" pitchFamily="34" charset="-122"/>
                <a:cs typeface="Calibri" pitchFamily="34" charset="-120"/>
              </a:rPr>
              <a:t>Umujyanama asura ingo agatumira abagore</a:t>
            </a:r>
            <a:endParaRPr lang="rw-RW" sz="1400" dirty="0"/>
          </a:p>
        </p:txBody>
      </p:sp>
      <p:cxnSp>
        <p:nvCxnSpPr>
          <p:cNvPr id="8" name="Connector 8"/>
          <p:cNvCxnSpPr/>
          <p:nvPr/>
        </p:nvCxnSpPr>
        <p:spPr>
          <a:xfrm>
            <a:off x="2486928" y="2475000"/>
            <a:ext cx="348774" cy="0"/>
          </a:xfrm>
          <a:prstGeom prst="straightConnector1">
            <a:avLst/>
          </a:prstGeom>
          <a:ln w="19050">
            <a:solidFill>
              <a:srgbClr val="31507B"/>
            </a:solidFill>
            <a:tailEnd type="triangle" w="med" len="med"/>
          </a:ln>
        </p:spPr>
      </p:cxnSp>
      <p:sp>
        <p:nvSpPr>
          <p:cNvPr id="9" name="Shape 9"/>
          <p:cNvSpPr/>
          <p:nvPr/>
        </p:nvSpPr>
        <p:spPr>
          <a:xfrm>
            <a:off x="2855702" y="1650000"/>
            <a:ext cx="1900000" cy="1650000"/>
          </a:xfrm>
          <a:prstGeom prst="roundRect">
            <a:avLst>
              <a:gd name="adj" fmla="val 3000"/>
            </a:avLst>
          </a:prstGeom>
          <a:solidFill>
            <a:srgbClr val="EAF7F0"/>
          </a:solidFill>
          <a:ln w="12700">
            <a:solidFill>
              <a:srgbClr val="C0D4CB"/>
            </a:solidFill>
          </a:ln>
        </p:spPr>
        <p:txBody>
          <a:bodyPr/>
          <a:lstStyle/>
          <a:p>
            <a:endParaRPr lang="rw-RW" sz="1600" dirty="0"/>
          </a:p>
        </p:txBody>
      </p:sp>
      <p:sp>
        <p:nvSpPr>
          <p:cNvPr id="10" name="Shape 10"/>
          <p:cNvSpPr/>
          <p:nvPr/>
        </p:nvSpPr>
        <p:spPr>
          <a:xfrm>
            <a:off x="2945702" y="1740000"/>
            <a:ext cx="400000" cy="400000"/>
          </a:xfrm>
          <a:prstGeom prst="ellipse">
            <a:avLst/>
          </a:prstGeom>
          <a:solidFill>
            <a:srgbClr val="1F4E96"/>
          </a:solidFill>
          <a:ln w="12700">
            <a:solidFill>
              <a:srgbClr val="1F4E96"/>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2</a:t>
            </a:r>
            <a:endParaRPr lang="rw-RW" sz="1400" dirty="0"/>
          </a:p>
        </p:txBody>
      </p:sp>
      <p:sp>
        <p:nvSpPr>
          <p:cNvPr id="11" name="Text 11"/>
          <p:cNvSpPr txBox="1"/>
          <p:nvPr/>
        </p:nvSpPr>
        <p:spPr>
          <a:xfrm>
            <a:off x="4155702" y="1730000"/>
            <a:ext cx="500000" cy="420000"/>
          </a:xfrm>
          <a:prstGeom prst="rect">
            <a:avLst/>
          </a:prstGeom>
          <a:noFill/>
          <a:ln/>
        </p:spPr>
        <p:txBody>
          <a:bodyPr wrap="square" lIns="0" tIns="0" rIns="0" bIns="0" rtlCol="0" anchor="ctr"/>
          <a:lstStyle/>
          <a:p>
            <a:pPr marL="0" indent="0" algn="r">
              <a:buNone/>
            </a:pPr>
            <a:r>
              <a:rPr lang="rw-RW" sz="1800" noProof="0" dirty="0">
                <a:solidFill>
                  <a:srgbClr val="000000"/>
                </a:solidFill>
                <a:latin typeface="Calibri" pitchFamily="34" charset="0"/>
                <a:ea typeface="Calibri" pitchFamily="34" charset="-122"/>
                <a:cs typeface="Calibri" pitchFamily="34" charset="-120"/>
              </a:rPr>
              <a:t>✍️</a:t>
            </a:r>
            <a:endParaRPr lang="rw-RW" sz="1800" dirty="0"/>
          </a:p>
        </p:txBody>
      </p:sp>
      <p:sp>
        <p:nvSpPr>
          <p:cNvPr id="12" name="Text 12"/>
          <p:cNvSpPr txBox="1"/>
          <p:nvPr/>
        </p:nvSpPr>
        <p:spPr>
          <a:xfrm>
            <a:off x="2965702" y="2210000"/>
            <a:ext cx="1680000" cy="1030000"/>
          </a:xfrm>
          <a:prstGeom prst="rect">
            <a:avLst/>
          </a:prstGeom>
          <a:noFill/>
          <a:ln/>
        </p:spPr>
        <p:txBody>
          <a:bodyPr wrap="square" lIns="0" tIns="0" rIns="0" bIns="0" rtlCol="0" anchor="t"/>
          <a:lstStyle/>
          <a:p>
            <a:pPr marL="0" indent="0" algn="ctr">
              <a:buNone/>
            </a:pPr>
            <a:r>
              <a:rPr lang="rw-RW" sz="1400" noProof="0" dirty="0">
                <a:solidFill>
                  <a:srgbClr val="1A1A1A"/>
                </a:solidFill>
                <a:latin typeface="Calibri" pitchFamily="34" charset="0"/>
                <a:ea typeface="Calibri" pitchFamily="34" charset="-122"/>
                <a:cs typeface="Calibri" pitchFamily="34" charset="-120"/>
              </a:rPr>
              <a:t>Umugore wujuje ibisabwa yemera ku bushake nyuma yo gusobanurirwa</a:t>
            </a:r>
            <a:endParaRPr lang="rw-RW" sz="1400" dirty="0"/>
          </a:p>
        </p:txBody>
      </p:sp>
      <p:cxnSp>
        <p:nvCxnSpPr>
          <p:cNvPr id="13" name="Connector 13"/>
          <p:cNvCxnSpPr/>
          <p:nvPr/>
        </p:nvCxnSpPr>
        <p:spPr>
          <a:xfrm>
            <a:off x="4775702" y="2475000"/>
            <a:ext cx="348774" cy="0"/>
          </a:xfrm>
          <a:prstGeom prst="straightConnector1">
            <a:avLst/>
          </a:prstGeom>
          <a:ln w="19050">
            <a:solidFill>
              <a:srgbClr val="31507B"/>
            </a:solidFill>
            <a:tailEnd type="triangle" w="med" len="med"/>
          </a:ln>
        </p:spPr>
      </p:cxnSp>
      <p:sp>
        <p:nvSpPr>
          <p:cNvPr id="14" name="Shape 14"/>
          <p:cNvSpPr/>
          <p:nvPr/>
        </p:nvSpPr>
        <p:spPr>
          <a:xfrm>
            <a:off x="5144476" y="1650000"/>
            <a:ext cx="1900000" cy="1650000"/>
          </a:xfrm>
          <a:prstGeom prst="roundRect">
            <a:avLst>
              <a:gd name="adj" fmla="val 3000"/>
            </a:avLst>
          </a:prstGeom>
          <a:solidFill>
            <a:srgbClr val="EAF7F0"/>
          </a:solidFill>
          <a:ln w="12700">
            <a:solidFill>
              <a:srgbClr val="C0D4CB"/>
            </a:solidFill>
          </a:ln>
        </p:spPr>
        <p:txBody>
          <a:bodyPr/>
          <a:lstStyle/>
          <a:p>
            <a:endParaRPr lang="rw-RW" sz="1600" dirty="0"/>
          </a:p>
        </p:txBody>
      </p:sp>
      <p:sp>
        <p:nvSpPr>
          <p:cNvPr id="15" name="Shape 15"/>
          <p:cNvSpPr/>
          <p:nvPr/>
        </p:nvSpPr>
        <p:spPr>
          <a:xfrm>
            <a:off x="5234476" y="1740000"/>
            <a:ext cx="400000" cy="400000"/>
          </a:xfrm>
          <a:prstGeom prst="ellipse">
            <a:avLst/>
          </a:prstGeom>
          <a:solidFill>
            <a:srgbClr val="1F4E96"/>
          </a:solidFill>
          <a:ln w="12700">
            <a:solidFill>
              <a:srgbClr val="1F4E96"/>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3</a:t>
            </a:r>
            <a:endParaRPr lang="rw-RW" sz="1400" dirty="0"/>
          </a:p>
        </p:txBody>
      </p:sp>
      <p:sp>
        <p:nvSpPr>
          <p:cNvPr id="16" name="Text 16"/>
          <p:cNvSpPr txBox="1"/>
          <p:nvPr/>
        </p:nvSpPr>
        <p:spPr>
          <a:xfrm>
            <a:off x="6444476" y="1730000"/>
            <a:ext cx="500000" cy="420000"/>
          </a:xfrm>
          <a:prstGeom prst="rect">
            <a:avLst/>
          </a:prstGeom>
          <a:noFill/>
          <a:ln/>
        </p:spPr>
        <p:txBody>
          <a:bodyPr wrap="square" lIns="0" tIns="0" rIns="0" bIns="0" rtlCol="0" anchor="ctr"/>
          <a:lstStyle/>
          <a:p>
            <a:pPr marL="0" indent="0" algn="r">
              <a:buNone/>
            </a:pPr>
            <a:r>
              <a:rPr lang="rw-RW" sz="1800" noProof="0" dirty="0">
                <a:solidFill>
                  <a:srgbClr val="000000"/>
                </a:solidFill>
                <a:latin typeface="Calibri" pitchFamily="34" charset="0"/>
                <a:ea typeface="Calibri" pitchFamily="34" charset="-122"/>
                <a:cs typeface="Calibri" pitchFamily="34" charset="-120"/>
              </a:rPr>
              <a:t>🔒</a:t>
            </a:r>
            <a:endParaRPr lang="rw-RW" sz="1800" dirty="0"/>
          </a:p>
        </p:txBody>
      </p:sp>
      <p:sp>
        <p:nvSpPr>
          <p:cNvPr id="17" name="Text 17"/>
          <p:cNvSpPr txBox="1"/>
          <p:nvPr/>
        </p:nvSpPr>
        <p:spPr>
          <a:xfrm>
            <a:off x="5254476" y="2210000"/>
            <a:ext cx="1680000" cy="1030000"/>
          </a:xfrm>
          <a:prstGeom prst="rect">
            <a:avLst/>
          </a:prstGeom>
          <a:noFill/>
          <a:ln/>
        </p:spPr>
        <p:txBody>
          <a:bodyPr wrap="square" lIns="0" tIns="0" rIns="0" bIns="0" rtlCol="0" anchor="t"/>
          <a:lstStyle/>
          <a:p>
            <a:pPr marL="0" indent="0" algn="ctr">
              <a:buNone/>
            </a:pPr>
            <a:r>
              <a:rPr lang="rw-RW" sz="1400" noProof="0" dirty="0">
                <a:solidFill>
                  <a:srgbClr val="1A1A1A"/>
                </a:solidFill>
                <a:latin typeface="Calibri" pitchFamily="34" charset="0"/>
                <a:ea typeface="Calibri" pitchFamily="34" charset="-122"/>
                <a:cs typeface="Calibri" pitchFamily="34" charset="-120"/>
              </a:rPr>
              <a:t>Umugore yifatira igipimo mu ibanga; umujyanama akacyandika</a:t>
            </a:r>
            <a:endParaRPr lang="rw-RW" sz="1400" dirty="0"/>
          </a:p>
        </p:txBody>
      </p:sp>
      <p:cxnSp>
        <p:nvCxnSpPr>
          <p:cNvPr id="18" name="Connector 18"/>
          <p:cNvCxnSpPr/>
          <p:nvPr/>
        </p:nvCxnSpPr>
        <p:spPr>
          <a:xfrm>
            <a:off x="7064476" y="2475000"/>
            <a:ext cx="348774" cy="0"/>
          </a:xfrm>
          <a:prstGeom prst="straightConnector1">
            <a:avLst/>
          </a:prstGeom>
          <a:ln w="19050">
            <a:solidFill>
              <a:srgbClr val="31507B"/>
            </a:solidFill>
            <a:tailEnd type="triangle" w="med" len="med"/>
          </a:ln>
        </p:spPr>
      </p:cxnSp>
      <p:sp>
        <p:nvSpPr>
          <p:cNvPr id="19" name="Shape 19"/>
          <p:cNvSpPr/>
          <p:nvPr/>
        </p:nvSpPr>
        <p:spPr>
          <a:xfrm>
            <a:off x="7433250" y="1650000"/>
            <a:ext cx="1900000" cy="1650000"/>
          </a:xfrm>
          <a:prstGeom prst="roundRect">
            <a:avLst>
              <a:gd name="adj" fmla="val 3000"/>
            </a:avLst>
          </a:prstGeom>
          <a:solidFill>
            <a:srgbClr val="EAF7F0"/>
          </a:solidFill>
          <a:ln w="12700">
            <a:solidFill>
              <a:srgbClr val="C0D4CB"/>
            </a:solidFill>
          </a:ln>
        </p:spPr>
        <p:txBody>
          <a:bodyPr/>
          <a:lstStyle/>
          <a:p>
            <a:endParaRPr lang="rw-RW" sz="1600" dirty="0"/>
          </a:p>
        </p:txBody>
      </p:sp>
      <p:sp>
        <p:nvSpPr>
          <p:cNvPr id="20" name="Shape 20"/>
          <p:cNvSpPr/>
          <p:nvPr/>
        </p:nvSpPr>
        <p:spPr>
          <a:xfrm>
            <a:off x="7523250" y="1740000"/>
            <a:ext cx="400000" cy="400000"/>
          </a:xfrm>
          <a:prstGeom prst="ellipse">
            <a:avLst/>
          </a:prstGeom>
          <a:solidFill>
            <a:srgbClr val="1F4E96"/>
          </a:solidFill>
          <a:ln w="12700">
            <a:solidFill>
              <a:srgbClr val="1F4E96"/>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4</a:t>
            </a:r>
            <a:endParaRPr lang="rw-RW" sz="1400" dirty="0"/>
          </a:p>
        </p:txBody>
      </p:sp>
      <p:sp>
        <p:nvSpPr>
          <p:cNvPr id="21" name="Text 21"/>
          <p:cNvSpPr txBox="1"/>
          <p:nvPr/>
        </p:nvSpPr>
        <p:spPr>
          <a:xfrm>
            <a:off x="8733250" y="1730000"/>
            <a:ext cx="500000" cy="420000"/>
          </a:xfrm>
          <a:prstGeom prst="rect">
            <a:avLst/>
          </a:prstGeom>
          <a:noFill/>
          <a:ln/>
        </p:spPr>
        <p:txBody>
          <a:bodyPr wrap="square" lIns="0" tIns="0" rIns="0" bIns="0" rtlCol="0" anchor="ctr"/>
          <a:lstStyle/>
          <a:p>
            <a:pPr marL="0" indent="0" algn="r">
              <a:buNone/>
            </a:pPr>
            <a:r>
              <a:rPr lang="rw-RW" sz="1800" noProof="0" dirty="0">
                <a:solidFill>
                  <a:srgbClr val="000000"/>
                </a:solidFill>
                <a:latin typeface="Calibri" pitchFamily="34" charset="0"/>
                <a:ea typeface="Calibri" pitchFamily="34" charset="-122"/>
                <a:cs typeface="Calibri" pitchFamily="34" charset="-120"/>
              </a:rPr>
              <a:t>🏥</a:t>
            </a:r>
            <a:endParaRPr lang="rw-RW" sz="1800" dirty="0"/>
          </a:p>
        </p:txBody>
      </p:sp>
      <p:sp>
        <p:nvSpPr>
          <p:cNvPr id="22" name="Text 22"/>
          <p:cNvSpPr txBox="1"/>
          <p:nvPr/>
        </p:nvSpPr>
        <p:spPr>
          <a:xfrm>
            <a:off x="7543250" y="2210000"/>
            <a:ext cx="1680000" cy="1030000"/>
          </a:xfrm>
          <a:prstGeom prst="rect">
            <a:avLst/>
          </a:prstGeom>
          <a:noFill/>
          <a:ln/>
        </p:spPr>
        <p:txBody>
          <a:bodyPr wrap="square" lIns="0" tIns="0" rIns="0" bIns="0" rtlCol="0" anchor="t"/>
          <a:lstStyle/>
          <a:p>
            <a:pPr marL="0" indent="0" algn="ctr">
              <a:buNone/>
            </a:pPr>
            <a:r>
              <a:rPr lang="rw-RW" sz="1400" noProof="0" dirty="0">
                <a:solidFill>
                  <a:srgbClr val="1A1A1A"/>
                </a:solidFill>
                <a:latin typeface="Calibri" pitchFamily="34" charset="0"/>
                <a:ea typeface="Calibri" pitchFamily="34" charset="-122"/>
                <a:cs typeface="Calibri" pitchFamily="34" charset="-120"/>
              </a:rPr>
              <a:t>Umujyanama ageza ibipimo ku kigo nderabuzima, bikandikwa</a:t>
            </a:r>
            <a:endParaRPr lang="rw-RW" sz="1400" dirty="0"/>
          </a:p>
        </p:txBody>
      </p:sp>
      <p:cxnSp>
        <p:nvCxnSpPr>
          <p:cNvPr id="23" name="Connector 23"/>
          <p:cNvCxnSpPr/>
          <p:nvPr/>
        </p:nvCxnSpPr>
        <p:spPr>
          <a:xfrm>
            <a:off x="9353250" y="2475000"/>
            <a:ext cx="348774" cy="0"/>
          </a:xfrm>
          <a:prstGeom prst="straightConnector1">
            <a:avLst/>
          </a:prstGeom>
          <a:ln w="19050">
            <a:solidFill>
              <a:srgbClr val="31507B"/>
            </a:solidFill>
            <a:tailEnd type="triangle" w="med" len="med"/>
          </a:ln>
        </p:spPr>
      </p:cxnSp>
      <p:sp>
        <p:nvSpPr>
          <p:cNvPr id="24" name="Shape 24"/>
          <p:cNvSpPr/>
          <p:nvPr/>
        </p:nvSpPr>
        <p:spPr>
          <a:xfrm>
            <a:off x="9722024" y="1650000"/>
            <a:ext cx="1900000" cy="16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25" name="Shape 25"/>
          <p:cNvSpPr/>
          <p:nvPr/>
        </p:nvSpPr>
        <p:spPr>
          <a:xfrm>
            <a:off x="9812024" y="1740000"/>
            <a:ext cx="400000" cy="400000"/>
          </a:xfrm>
          <a:prstGeom prst="ellipse">
            <a:avLst/>
          </a:prstGeom>
          <a:solidFill>
            <a:srgbClr val="1F4E96"/>
          </a:solidFill>
          <a:ln w="12700">
            <a:solidFill>
              <a:srgbClr val="1F4E96"/>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5</a:t>
            </a:r>
            <a:endParaRPr lang="rw-RW" sz="1400" dirty="0"/>
          </a:p>
        </p:txBody>
      </p:sp>
      <p:sp>
        <p:nvSpPr>
          <p:cNvPr id="26" name="Text 26"/>
          <p:cNvSpPr txBox="1"/>
          <p:nvPr/>
        </p:nvSpPr>
        <p:spPr>
          <a:xfrm>
            <a:off x="11022024" y="1730000"/>
            <a:ext cx="500000" cy="420000"/>
          </a:xfrm>
          <a:prstGeom prst="rect">
            <a:avLst/>
          </a:prstGeom>
          <a:noFill/>
          <a:ln/>
        </p:spPr>
        <p:txBody>
          <a:bodyPr wrap="square" lIns="0" tIns="0" rIns="0" bIns="0" rtlCol="0" anchor="ctr"/>
          <a:lstStyle/>
          <a:p>
            <a:pPr marL="0" indent="0" algn="r">
              <a:buNone/>
            </a:pPr>
            <a:r>
              <a:rPr lang="rw-RW" sz="1800" noProof="0" dirty="0">
                <a:solidFill>
                  <a:srgbClr val="000000"/>
                </a:solidFill>
                <a:latin typeface="Calibri" pitchFamily="34" charset="0"/>
                <a:ea typeface="Calibri" pitchFamily="34" charset="-122"/>
                <a:cs typeface="Calibri" pitchFamily="34" charset="-120"/>
              </a:rPr>
              <a:t>🧪</a:t>
            </a:r>
            <a:endParaRPr lang="rw-RW" sz="1800" dirty="0"/>
          </a:p>
        </p:txBody>
      </p:sp>
      <p:sp>
        <p:nvSpPr>
          <p:cNvPr id="27" name="Text 27"/>
          <p:cNvSpPr txBox="1"/>
          <p:nvPr/>
        </p:nvSpPr>
        <p:spPr>
          <a:xfrm>
            <a:off x="9832024" y="2210000"/>
            <a:ext cx="1680000" cy="1030000"/>
          </a:xfrm>
          <a:prstGeom prst="rect">
            <a:avLst/>
          </a:prstGeom>
          <a:noFill/>
          <a:ln/>
        </p:spPr>
        <p:txBody>
          <a:bodyPr wrap="square" lIns="0" tIns="0" rIns="0" bIns="0" rtlCol="0" anchor="t"/>
          <a:lstStyle/>
          <a:p>
            <a:pPr marL="0" indent="0" algn="ctr">
              <a:buNone/>
            </a:pPr>
            <a:r>
              <a:rPr lang="rw-RW" sz="1400" noProof="0" dirty="0">
                <a:solidFill>
                  <a:srgbClr val="1A1A1A"/>
                </a:solidFill>
                <a:latin typeface="Calibri" pitchFamily="34" charset="0"/>
                <a:ea typeface="Calibri" pitchFamily="34" charset="-122"/>
                <a:cs typeface="Calibri" pitchFamily="34" charset="-120"/>
              </a:rPr>
              <a:t>Ibipimo byoherezwa muri laboratwari</a:t>
            </a:r>
            <a:endParaRPr lang="rw-RW" sz="1400" dirty="0"/>
          </a:p>
        </p:txBody>
      </p:sp>
      <p:sp>
        <p:nvSpPr>
          <p:cNvPr id="28" name="Shape 28"/>
          <p:cNvSpPr/>
          <p:nvPr/>
        </p:nvSpPr>
        <p:spPr>
          <a:xfrm>
            <a:off x="9722024" y="3900000"/>
            <a:ext cx="1900000" cy="16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29" name="Shape 29"/>
          <p:cNvSpPr/>
          <p:nvPr/>
        </p:nvSpPr>
        <p:spPr>
          <a:xfrm>
            <a:off x="9812024" y="3990000"/>
            <a:ext cx="400000" cy="400000"/>
          </a:xfrm>
          <a:prstGeom prst="ellipse">
            <a:avLst/>
          </a:prstGeom>
          <a:solidFill>
            <a:srgbClr val="1F4E96"/>
          </a:solidFill>
          <a:ln w="12700">
            <a:solidFill>
              <a:srgbClr val="1F4E96"/>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6</a:t>
            </a:r>
            <a:endParaRPr lang="rw-RW" sz="1400" dirty="0"/>
          </a:p>
        </p:txBody>
      </p:sp>
      <p:sp>
        <p:nvSpPr>
          <p:cNvPr id="30" name="Text 30"/>
          <p:cNvSpPr txBox="1"/>
          <p:nvPr/>
        </p:nvSpPr>
        <p:spPr>
          <a:xfrm>
            <a:off x="11022024" y="3980000"/>
            <a:ext cx="500000" cy="420000"/>
          </a:xfrm>
          <a:prstGeom prst="rect">
            <a:avLst/>
          </a:prstGeom>
          <a:noFill/>
          <a:ln/>
        </p:spPr>
        <p:txBody>
          <a:bodyPr wrap="square" lIns="0" tIns="0" rIns="0" bIns="0" rtlCol="0" anchor="ctr"/>
          <a:lstStyle/>
          <a:p>
            <a:pPr marL="0" indent="0" algn="r">
              <a:buNone/>
            </a:pPr>
            <a:r>
              <a:rPr lang="rw-RW" sz="1800" noProof="0" dirty="0">
                <a:solidFill>
                  <a:srgbClr val="000000"/>
                </a:solidFill>
                <a:latin typeface="Calibri" pitchFamily="34" charset="0"/>
                <a:ea typeface="Calibri" pitchFamily="34" charset="-122"/>
                <a:cs typeface="Calibri" pitchFamily="34" charset="-120"/>
              </a:rPr>
              <a:t>📲</a:t>
            </a:r>
            <a:endParaRPr lang="rw-RW" sz="1800" dirty="0"/>
          </a:p>
        </p:txBody>
      </p:sp>
      <p:sp>
        <p:nvSpPr>
          <p:cNvPr id="31" name="Text 31"/>
          <p:cNvSpPr txBox="1"/>
          <p:nvPr/>
        </p:nvSpPr>
        <p:spPr>
          <a:xfrm>
            <a:off x="9832024" y="4460000"/>
            <a:ext cx="1680000" cy="1030000"/>
          </a:xfrm>
          <a:prstGeom prst="rect">
            <a:avLst/>
          </a:prstGeom>
          <a:noFill/>
          <a:ln/>
        </p:spPr>
        <p:txBody>
          <a:bodyPr wrap="square" lIns="0" tIns="0" rIns="0" bIns="0" rtlCol="0" anchor="t"/>
          <a:lstStyle/>
          <a:p>
            <a:pPr marL="0" indent="0" algn="ctr">
              <a:buNone/>
            </a:pPr>
            <a:r>
              <a:rPr lang="rw-RW" sz="1400" noProof="0" dirty="0">
                <a:solidFill>
                  <a:srgbClr val="1A1A1A"/>
                </a:solidFill>
                <a:latin typeface="Calibri" pitchFamily="34" charset="0"/>
                <a:ea typeface="Calibri" pitchFamily="34" charset="-122"/>
                <a:cs typeface="Calibri" pitchFamily="34" charset="-120"/>
              </a:rPr>
              <a:t>Ibisubizo bigaruka ku kigo nderabuzima; umugore amenyeshwa ko ibisubizo bye byabonetse</a:t>
            </a:r>
            <a:endParaRPr lang="rw-RW" sz="1400" dirty="0"/>
          </a:p>
        </p:txBody>
      </p:sp>
      <p:cxnSp>
        <p:nvCxnSpPr>
          <p:cNvPr id="32" name="Connector 32"/>
          <p:cNvCxnSpPr/>
          <p:nvPr/>
        </p:nvCxnSpPr>
        <p:spPr>
          <a:xfrm flipH="1">
            <a:off x="9353250" y="4725000"/>
            <a:ext cx="348774" cy="0"/>
          </a:xfrm>
          <a:prstGeom prst="straightConnector1">
            <a:avLst/>
          </a:prstGeom>
          <a:ln w="19050">
            <a:solidFill>
              <a:srgbClr val="31507B"/>
            </a:solidFill>
            <a:tailEnd type="triangle" w="med" len="med"/>
          </a:ln>
        </p:spPr>
      </p:cxnSp>
      <p:sp>
        <p:nvSpPr>
          <p:cNvPr id="33" name="Shape 33"/>
          <p:cNvSpPr/>
          <p:nvPr/>
        </p:nvSpPr>
        <p:spPr>
          <a:xfrm>
            <a:off x="7433250" y="3900000"/>
            <a:ext cx="1900000" cy="1650000"/>
          </a:xfrm>
          <a:prstGeom prst="roundRect">
            <a:avLst>
              <a:gd name="adj" fmla="val 3000"/>
            </a:avLst>
          </a:prstGeom>
          <a:solidFill>
            <a:srgbClr val="EAF7F0"/>
          </a:solidFill>
          <a:ln w="12700">
            <a:solidFill>
              <a:srgbClr val="C0D4CB"/>
            </a:solidFill>
          </a:ln>
        </p:spPr>
        <p:txBody>
          <a:bodyPr/>
          <a:lstStyle/>
          <a:p>
            <a:endParaRPr lang="rw-RW" sz="1600" dirty="0"/>
          </a:p>
        </p:txBody>
      </p:sp>
      <p:sp>
        <p:nvSpPr>
          <p:cNvPr id="34" name="Shape 34"/>
          <p:cNvSpPr/>
          <p:nvPr/>
        </p:nvSpPr>
        <p:spPr>
          <a:xfrm>
            <a:off x="7523250" y="3990000"/>
            <a:ext cx="400000" cy="400000"/>
          </a:xfrm>
          <a:prstGeom prst="ellipse">
            <a:avLst/>
          </a:prstGeom>
          <a:solidFill>
            <a:srgbClr val="1F4E96"/>
          </a:solidFill>
          <a:ln w="12700">
            <a:solidFill>
              <a:srgbClr val="1F4E96"/>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7</a:t>
            </a:r>
            <a:endParaRPr lang="rw-RW" sz="1400" dirty="0"/>
          </a:p>
        </p:txBody>
      </p:sp>
      <p:sp>
        <p:nvSpPr>
          <p:cNvPr id="35" name="Text 35"/>
          <p:cNvSpPr txBox="1"/>
          <p:nvPr/>
        </p:nvSpPr>
        <p:spPr>
          <a:xfrm>
            <a:off x="8733250" y="3980000"/>
            <a:ext cx="500000" cy="420000"/>
          </a:xfrm>
          <a:prstGeom prst="rect">
            <a:avLst/>
          </a:prstGeom>
          <a:noFill/>
          <a:ln/>
        </p:spPr>
        <p:txBody>
          <a:bodyPr wrap="square" lIns="0" tIns="0" rIns="0" bIns="0" rtlCol="0" anchor="ctr"/>
          <a:lstStyle/>
          <a:p>
            <a:pPr marL="0" indent="0" algn="r">
              <a:buNone/>
            </a:pPr>
            <a:r>
              <a:rPr lang="rw-RW" sz="1800" noProof="0" dirty="0">
                <a:solidFill>
                  <a:srgbClr val="000000"/>
                </a:solidFill>
                <a:latin typeface="Calibri" pitchFamily="34" charset="0"/>
                <a:ea typeface="Calibri" pitchFamily="34" charset="-122"/>
                <a:cs typeface="Calibri" pitchFamily="34" charset="-120"/>
              </a:rPr>
              <a:t>📞</a:t>
            </a:r>
            <a:endParaRPr lang="rw-RW" sz="1800" dirty="0"/>
          </a:p>
        </p:txBody>
      </p:sp>
      <p:sp>
        <p:nvSpPr>
          <p:cNvPr id="36" name="Text 36"/>
          <p:cNvSpPr txBox="1"/>
          <p:nvPr/>
        </p:nvSpPr>
        <p:spPr>
          <a:xfrm>
            <a:off x="7543250" y="4460000"/>
            <a:ext cx="1680000" cy="1030000"/>
          </a:xfrm>
          <a:prstGeom prst="rect">
            <a:avLst/>
          </a:prstGeom>
          <a:noFill/>
          <a:ln/>
        </p:spPr>
        <p:txBody>
          <a:bodyPr wrap="square" lIns="0" tIns="0" rIns="0" bIns="0" rtlCol="0" anchor="t"/>
          <a:lstStyle/>
          <a:p>
            <a:pPr marL="0" indent="0" algn="ctr">
              <a:buNone/>
            </a:pPr>
            <a:r>
              <a:rPr lang="rw-RW" sz="1400" noProof="0" dirty="0">
                <a:solidFill>
                  <a:srgbClr val="1A1A1A"/>
                </a:solidFill>
                <a:latin typeface="Calibri" pitchFamily="34" charset="0"/>
                <a:ea typeface="Calibri" pitchFamily="34" charset="-122"/>
                <a:cs typeface="Calibri" pitchFamily="34" charset="-120"/>
              </a:rPr>
              <a:t>Umukozi w'ubuzima amuhamagara, cyangwa amumenyesha binyuze ku mujyanama</a:t>
            </a:r>
            <a:endParaRPr lang="rw-RW" sz="1400" dirty="0"/>
          </a:p>
        </p:txBody>
      </p:sp>
      <p:cxnSp>
        <p:nvCxnSpPr>
          <p:cNvPr id="37" name="Connector 37"/>
          <p:cNvCxnSpPr/>
          <p:nvPr/>
        </p:nvCxnSpPr>
        <p:spPr>
          <a:xfrm flipH="1">
            <a:off x="7064476" y="4725000"/>
            <a:ext cx="348774" cy="0"/>
          </a:xfrm>
          <a:prstGeom prst="straightConnector1">
            <a:avLst/>
          </a:prstGeom>
          <a:ln w="19050">
            <a:solidFill>
              <a:srgbClr val="31507B"/>
            </a:solidFill>
            <a:tailEnd type="triangle" w="med" len="med"/>
          </a:ln>
        </p:spPr>
      </p:cxnSp>
      <p:sp>
        <p:nvSpPr>
          <p:cNvPr id="38" name="Shape 38"/>
          <p:cNvSpPr/>
          <p:nvPr/>
        </p:nvSpPr>
        <p:spPr>
          <a:xfrm>
            <a:off x="5144476" y="3900000"/>
            <a:ext cx="1900000" cy="16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39" name="Shape 39"/>
          <p:cNvSpPr/>
          <p:nvPr/>
        </p:nvSpPr>
        <p:spPr>
          <a:xfrm>
            <a:off x="5234476" y="3990000"/>
            <a:ext cx="400000" cy="400000"/>
          </a:xfrm>
          <a:prstGeom prst="ellipse">
            <a:avLst/>
          </a:prstGeom>
          <a:solidFill>
            <a:srgbClr val="1F4E96"/>
          </a:solidFill>
          <a:ln w="12700">
            <a:solidFill>
              <a:srgbClr val="1F4E96"/>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8</a:t>
            </a:r>
            <a:endParaRPr lang="rw-RW" sz="1400" dirty="0"/>
          </a:p>
        </p:txBody>
      </p:sp>
      <p:sp>
        <p:nvSpPr>
          <p:cNvPr id="40" name="Text 40"/>
          <p:cNvSpPr txBox="1"/>
          <p:nvPr/>
        </p:nvSpPr>
        <p:spPr>
          <a:xfrm>
            <a:off x="6444476" y="3980000"/>
            <a:ext cx="500000" cy="420000"/>
          </a:xfrm>
          <a:prstGeom prst="rect">
            <a:avLst/>
          </a:prstGeom>
          <a:noFill/>
          <a:ln/>
        </p:spPr>
        <p:txBody>
          <a:bodyPr wrap="square" lIns="0" tIns="0" rIns="0" bIns="0" rtlCol="0" anchor="ctr"/>
          <a:lstStyle/>
          <a:p>
            <a:pPr marL="0" indent="0" algn="r">
              <a:buNone/>
            </a:pPr>
            <a:r>
              <a:rPr lang="rw-RW" sz="1800" noProof="0" dirty="0">
                <a:solidFill>
                  <a:srgbClr val="000000"/>
                </a:solidFill>
                <a:latin typeface="Calibri" pitchFamily="34" charset="0"/>
                <a:ea typeface="Calibri" pitchFamily="34" charset="-122"/>
                <a:cs typeface="Calibri" pitchFamily="34" charset="-120"/>
              </a:rPr>
              <a:t>📋</a:t>
            </a:r>
            <a:endParaRPr lang="rw-RW" sz="1800" dirty="0"/>
          </a:p>
        </p:txBody>
      </p:sp>
      <p:sp>
        <p:nvSpPr>
          <p:cNvPr id="41" name="Text 41"/>
          <p:cNvSpPr txBox="1"/>
          <p:nvPr/>
        </p:nvSpPr>
        <p:spPr>
          <a:xfrm>
            <a:off x="5254476" y="4460000"/>
            <a:ext cx="1680000" cy="1030000"/>
          </a:xfrm>
          <a:prstGeom prst="rect">
            <a:avLst/>
          </a:prstGeom>
          <a:noFill/>
          <a:ln/>
        </p:spPr>
        <p:txBody>
          <a:bodyPr wrap="square" lIns="0" tIns="0" rIns="0" bIns="0" rtlCol="0" anchor="t"/>
          <a:lstStyle/>
          <a:p>
            <a:pPr marL="0" indent="0" algn="ctr">
              <a:buNone/>
            </a:pPr>
            <a:r>
              <a:rPr lang="rw-RW" sz="1400" noProof="0" dirty="0">
                <a:solidFill>
                  <a:srgbClr val="1A1A1A"/>
                </a:solidFill>
                <a:latin typeface="Calibri" pitchFamily="34" charset="0"/>
                <a:ea typeface="Calibri" pitchFamily="34" charset="-122"/>
                <a:cs typeface="Calibri" pitchFamily="34" charset="-120"/>
              </a:rPr>
              <a:t>Umugore afatira ibisubizo ku kigo nderabuzima</a:t>
            </a:r>
            <a:endParaRPr lang="rw-RW" sz="1400" dirty="0"/>
          </a:p>
        </p:txBody>
      </p:sp>
      <p:cxnSp>
        <p:nvCxnSpPr>
          <p:cNvPr id="42" name="Connector 42"/>
          <p:cNvCxnSpPr/>
          <p:nvPr/>
        </p:nvCxnSpPr>
        <p:spPr>
          <a:xfrm flipH="1">
            <a:off x="4775702" y="4725000"/>
            <a:ext cx="348774" cy="0"/>
          </a:xfrm>
          <a:prstGeom prst="straightConnector1">
            <a:avLst/>
          </a:prstGeom>
          <a:ln w="19050">
            <a:solidFill>
              <a:srgbClr val="31507B"/>
            </a:solidFill>
            <a:tailEnd type="triangle" w="med" len="med"/>
          </a:ln>
        </p:spPr>
      </p:cxnSp>
      <p:sp>
        <p:nvSpPr>
          <p:cNvPr id="43" name="Shape 43"/>
          <p:cNvSpPr/>
          <p:nvPr/>
        </p:nvSpPr>
        <p:spPr>
          <a:xfrm>
            <a:off x="2855702" y="3900000"/>
            <a:ext cx="1900000" cy="16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44" name="Shape 44"/>
          <p:cNvSpPr/>
          <p:nvPr/>
        </p:nvSpPr>
        <p:spPr>
          <a:xfrm>
            <a:off x="2945702" y="3990000"/>
            <a:ext cx="400000" cy="400000"/>
          </a:xfrm>
          <a:prstGeom prst="ellipse">
            <a:avLst/>
          </a:prstGeom>
          <a:solidFill>
            <a:srgbClr val="1F4E96"/>
          </a:solidFill>
          <a:ln w="12700">
            <a:solidFill>
              <a:srgbClr val="1F4E96"/>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9</a:t>
            </a:r>
            <a:endParaRPr lang="rw-RW" sz="1400" dirty="0"/>
          </a:p>
        </p:txBody>
      </p:sp>
      <p:sp>
        <p:nvSpPr>
          <p:cNvPr id="45" name="Text 45"/>
          <p:cNvSpPr txBox="1"/>
          <p:nvPr/>
        </p:nvSpPr>
        <p:spPr>
          <a:xfrm>
            <a:off x="4155702" y="3980000"/>
            <a:ext cx="500000" cy="420000"/>
          </a:xfrm>
          <a:prstGeom prst="rect">
            <a:avLst/>
          </a:prstGeom>
          <a:noFill/>
          <a:ln/>
        </p:spPr>
        <p:txBody>
          <a:bodyPr wrap="square" lIns="0" tIns="0" rIns="0" bIns="0" rtlCol="0" anchor="ctr"/>
          <a:lstStyle/>
          <a:p>
            <a:pPr marL="0" indent="0" algn="r">
              <a:buNone/>
            </a:pPr>
            <a:r>
              <a:rPr lang="rw-RW" sz="1800" noProof="0" dirty="0">
                <a:solidFill>
                  <a:srgbClr val="000000"/>
                </a:solidFill>
                <a:latin typeface="Calibri" pitchFamily="34" charset="0"/>
                <a:ea typeface="Calibri" pitchFamily="34" charset="-122"/>
                <a:cs typeface="Calibri" pitchFamily="34" charset="-120"/>
              </a:rPr>
              <a:t>🩺</a:t>
            </a:r>
            <a:endParaRPr lang="rw-RW" sz="1800" dirty="0"/>
          </a:p>
        </p:txBody>
      </p:sp>
      <p:sp>
        <p:nvSpPr>
          <p:cNvPr id="46" name="Text 46"/>
          <p:cNvSpPr txBox="1"/>
          <p:nvPr/>
        </p:nvSpPr>
        <p:spPr>
          <a:xfrm>
            <a:off x="2965702" y="4460000"/>
            <a:ext cx="1680000" cy="1030000"/>
          </a:xfrm>
          <a:prstGeom prst="rect">
            <a:avLst/>
          </a:prstGeom>
          <a:noFill/>
          <a:ln/>
        </p:spPr>
        <p:txBody>
          <a:bodyPr wrap="square" lIns="0" tIns="0" rIns="0" bIns="0" rtlCol="0" anchor="t"/>
          <a:lstStyle/>
          <a:p>
            <a:pPr marL="0" indent="0" algn="ctr">
              <a:buNone/>
            </a:pPr>
            <a:r>
              <a:rPr lang="rw-RW" sz="1400" noProof="0" dirty="0">
                <a:solidFill>
                  <a:srgbClr val="1A1A1A"/>
                </a:solidFill>
                <a:latin typeface="Calibri" pitchFamily="34" charset="0"/>
                <a:ea typeface="Calibri" pitchFamily="34" charset="-122"/>
                <a:cs typeface="Calibri" pitchFamily="34" charset="-120"/>
              </a:rPr>
              <a:t>Iyo bikenewe, akorerwa VIA kandi akavurwa</a:t>
            </a:r>
            <a:endParaRPr lang="rw-RW" sz="1400" dirty="0"/>
          </a:p>
        </p:txBody>
      </p:sp>
      <p:cxnSp>
        <p:nvCxnSpPr>
          <p:cNvPr id="47" name="Connector 47"/>
          <p:cNvCxnSpPr/>
          <p:nvPr/>
        </p:nvCxnSpPr>
        <p:spPr>
          <a:xfrm flipH="1">
            <a:off x="2486928" y="4725000"/>
            <a:ext cx="348774" cy="0"/>
          </a:xfrm>
          <a:prstGeom prst="straightConnector1">
            <a:avLst/>
          </a:prstGeom>
          <a:ln w="19050">
            <a:solidFill>
              <a:srgbClr val="31507B"/>
            </a:solidFill>
            <a:tailEnd type="triangle" w="med" len="med"/>
          </a:ln>
        </p:spPr>
      </p:cxnSp>
      <p:sp>
        <p:nvSpPr>
          <p:cNvPr id="48" name="Shape 48"/>
          <p:cNvSpPr/>
          <p:nvPr/>
        </p:nvSpPr>
        <p:spPr>
          <a:xfrm>
            <a:off x="566928" y="3900000"/>
            <a:ext cx="1900000" cy="165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49" name="Shape 49"/>
          <p:cNvSpPr/>
          <p:nvPr/>
        </p:nvSpPr>
        <p:spPr>
          <a:xfrm>
            <a:off x="656928" y="3990000"/>
            <a:ext cx="400000" cy="400000"/>
          </a:xfrm>
          <a:prstGeom prst="ellipse">
            <a:avLst/>
          </a:prstGeom>
          <a:solidFill>
            <a:srgbClr val="1F4E96"/>
          </a:solidFill>
          <a:ln w="12700">
            <a:solidFill>
              <a:srgbClr val="1F4E96"/>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10</a:t>
            </a:r>
            <a:endParaRPr lang="rw-RW" sz="1400" dirty="0"/>
          </a:p>
        </p:txBody>
      </p:sp>
      <p:sp>
        <p:nvSpPr>
          <p:cNvPr id="50" name="Text 50"/>
          <p:cNvSpPr txBox="1"/>
          <p:nvPr/>
        </p:nvSpPr>
        <p:spPr>
          <a:xfrm>
            <a:off x="1866928" y="3980000"/>
            <a:ext cx="500000" cy="420000"/>
          </a:xfrm>
          <a:prstGeom prst="rect">
            <a:avLst/>
          </a:prstGeom>
          <a:noFill/>
          <a:ln/>
        </p:spPr>
        <p:txBody>
          <a:bodyPr wrap="square" lIns="0" tIns="0" rIns="0" bIns="0" rtlCol="0" anchor="ctr"/>
          <a:lstStyle/>
          <a:p>
            <a:pPr marL="0" indent="0" algn="r">
              <a:buNone/>
            </a:pPr>
            <a:r>
              <a:rPr lang="rw-RW" sz="1800" noProof="0" dirty="0">
                <a:solidFill>
                  <a:srgbClr val="000000"/>
                </a:solidFill>
                <a:latin typeface="Calibri" pitchFamily="34" charset="0"/>
                <a:ea typeface="Calibri" pitchFamily="34" charset="-122"/>
                <a:cs typeface="Calibri" pitchFamily="34" charset="-120"/>
              </a:rPr>
              <a:t>🔁</a:t>
            </a:r>
            <a:endParaRPr lang="rw-RW" sz="1800" dirty="0"/>
          </a:p>
        </p:txBody>
      </p:sp>
      <p:sp>
        <p:nvSpPr>
          <p:cNvPr id="51" name="Text 51"/>
          <p:cNvSpPr txBox="1"/>
          <p:nvPr/>
        </p:nvSpPr>
        <p:spPr>
          <a:xfrm>
            <a:off x="676928" y="4460000"/>
            <a:ext cx="1680000" cy="1030000"/>
          </a:xfrm>
          <a:prstGeom prst="rect">
            <a:avLst/>
          </a:prstGeom>
          <a:noFill/>
          <a:ln/>
        </p:spPr>
        <p:txBody>
          <a:bodyPr wrap="square" lIns="0" tIns="0" rIns="0" bIns="0" rtlCol="0" anchor="t"/>
          <a:lstStyle/>
          <a:p>
            <a:pPr marL="0" indent="0" algn="ctr">
              <a:buNone/>
            </a:pPr>
            <a:r>
              <a:rPr lang="rw-RW" sz="1400" noProof="0" dirty="0">
                <a:solidFill>
                  <a:srgbClr val="1A1A1A"/>
                </a:solidFill>
                <a:latin typeface="Calibri" pitchFamily="34" charset="0"/>
                <a:ea typeface="Calibri" pitchFamily="34" charset="-122"/>
                <a:cs typeface="Calibri" pitchFamily="34" charset="-120"/>
              </a:rPr>
              <a:t>Akurikiranwa nk'uko bisanzwe nyuma yo kuvurwa cyangwa koherezwa</a:t>
            </a:r>
            <a:endParaRPr lang="rw-RW" sz="1400" dirty="0"/>
          </a:p>
        </p:txBody>
      </p:sp>
      <p:cxnSp>
        <p:nvCxnSpPr>
          <p:cNvPr id="52" name="Connector 52"/>
          <p:cNvCxnSpPr/>
          <p:nvPr/>
        </p:nvCxnSpPr>
        <p:spPr>
          <a:xfrm>
            <a:off x="10672024" y="3320000"/>
            <a:ext cx="0" cy="560000"/>
          </a:xfrm>
          <a:prstGeom prst="straightConnector1">
            <a:avLst/>
          </a:prstGeom>
          <a:ln w="19050">
            <a:solidFill>
              <a:srgbClr val="31507B"/>
            </a:solidFill>
            <a:tailEnd type="triangle" w="med" len="med"/>
          </a:ln>
        </p:spPr>
      </p:cxnSp>
      <p:sp>
        <p:nvSpPr>
          <p:cNvPr id="53" name="Text 53"/>
          <p:cNvSpPr txBox="1"/>
          <p:nvPr/>
        </p:nvSpPr>
        <p:spPr>
          <a:xfrm>
            <a:off x="566928" y="5650000"/>
            <a:ext cx="11055096" cy="500000"/>
          </a:xfrm>
          <a:prstGeom prst="rect">
            <a:avLst/>
          </a:prstGeom>
          <a:noFill/>
          <a:ln/>
        </p:spPr>
        <p:txBody>
          <a:bodyPr wrap="square" lIns="0" tIns="0" rIns="0" bIns="0" rtlCol="0" anchor="ctr"/>
          <a:lstStyle/>
          <a:p>
            <a:pPr marL="0" indent="0" algn="l">
              <a:buNone/>
            </a:pPr>
            <a:r>
              <a:rPr lang="rw-RW" sz="1400" noProof="0" dirty="0">
                <a:solidFill>
                  <a:srgbClr val="1A1A1A"/>
                </a:solidFill>
                <a:latin typeface="Calibri" pitchFamily="34" charset="0"/>
                <a:ea typeface="Calibri" pitchFamily="34" charset="-122"/>
                <a:cs typeface="Calibri" pitchFamily="34" charset="-120"/>
              </a:rPr>
              <a:t>🟢 </a:t>
            </a:r>
            <a:r>
              <a:rPr lang="rw-RW" sz="1400" b="1" noProof="0" dirty="0">
                <a:solidFill>
                  <a:srgbClr val="1C6B3F"/>
                </a:solidFill>
                <a:latin typeface="Calibri" pitchFamily="34" charset="0"/>
                <a:ea typeface="Calibri" pitchFamily="34" charset="-122"/>
                <a:cs typeface="Calibri" pitchFamily="34" charset="-120"/>
              </a:rPr>
              <a:t>Intambwe umujyanama w'ubuzima agiramo uruhare</a:t>
            </a:r>
            <a:endParaRPr lang="rw-RW" sz="1400" dirty="0"/>
          </a:p>
        </p:txBody>
      </p:sp>
      <p:sp>
        <p:nvSpPr>
          <p:cNvPr id="54" name="Text 54"/>
          <p:cNvSpPr txBox="1"/>
          <p:nvPr/>
        </p:nvSpPr>
        <p:spPr>
          <a:xfrm>
            <a:off x="566928" y="6345936"/>
            <a:ext cx="7315200" cy="274320"/>
          </a:xfrm>
          <a:prstGeom prst="rect">
            <a:avLst/>
          </a:prstGeom>
          <a:noFill/>
          <a:ln/>
        </p:spPr>
        <p:txBody>
          <a:bodyPr wrap="square" lIns="0" tIns="0" rIns="0" bIns="0" rtlCol="0" anchor="ctr"/>
          <a:lstStyle/>
          <a:p>
            <a:pPr marL="0" indent="0" algn="l">
              <a:buNone/>
            </a:pPr>
            <a:r>
              <a:rPr lang="rw-RW" sz="900" noProof="0" dirty="0">
                <a:solidFill>
                  <a:srgbClr val="777D86"/>
                </a:solidFill>
                <a:latin typeface="Calibri" pitchFamily="34" charset="0"/>
                <a:ea typeface="Calibri" pitchFamily="34" charset="-122"/>
                <a:cs typeface="Calibri" pitchFamily="34" charset="-120"/>
              </a:rPr>
              <a:t>Kanseri y'inkondo y'umura  |  Umujyanama w'Ubuzima  |  Ikigo cy'Igihugu Gishinzwe Ubuzima</a:t>
            </a:r>
            <a:endParaRPr lang="rw-RW" sz="900" dirty="0"/>
          </a:p>
        </p:txBody>
      </p:sp>
      <p:sp>
        <p:nvSpPr>
          <p:cNvPr id="55" name="Text 55"/>
          <p:cNvSpPr txBox="1"/>
          <p:nvPr/>
        </p:nvSpPr>
        <p:spPr>
          <a:xfrm>
            <a:off x="8881841" y="6345936"/>
            <a:ext cx="2743200" cy="274320"/>
          </a:xfrm>
          <a:prstGeom prst="rect">
            <a:avLst/>
          </a:prstGeom>
          <a:noFill/>
          <a:ln/>
        </p:spPr>
        <p:txBody>
          <a:bodyPr wrap="square" lIns="0" tIns="0" rIns="0" bIns="0" rtlCol="0" anchor="ctr"/>
          <a:lstStyle/>
          <a:p>
            <a:pPr marL="0" indent="0" algn="r">
              <a:buNone/>
            </a:pPr>
            <a:r>
              <a:rPr lang="rw-RW" sz="900" noProof="0" dirty="0">
                <a:solidFill>
                  <a:srgbClr val="777D86"/>
                </a:solidFill>
                <a:latin typeface="Calibri" pitchFamily="34" charset="0"/>
                <a:ea typeface="Calibri" pitchFamily="34" charset="-122"/>
                <a:cs typeface="Calibri" pitchFamily="34" charset="-120"/>
              </a:rPr>
              <a:t>Urupapuro rwa 83</a:t>
            </a:r>
            <a:endParaRPr lang="rw-RW"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65760"/>
            <a:ext cx="11058113" cy="161583"/>
          </a:xfrm>
          <a:prstGeom prst="rect">
            <a:avLst/>
          </a:prstGeom>
          <a:noFill/>
          <a:ln/>
        </p:spPr>
        <p:txBody>
          <a:bodyPr wrap="square" lIns="0" tIns="0" rIns="0" bIns="0" rtlCol="0" anchor="ctr"/>
          <a:lstStyle/>
          <a:p>
            <a:pPr marL="0" indent="0" algn="l">
              <a:buNone/>
            </a:pPr>
            <a:r>
              <a:rPr lang="rw-RW" sz="1050" b="1" noProof="0" dirty="0">
                <a:solidFill>
                  <a:srgbClr val="1F4E96"/>
                </a:solidFill>
                <a:latin typeface="Calibri" pitchFamily="34" charset="0"/>
                <a:ea typeface="Calibri" pitchFamily="34" charset="-122"/>
                <a:cs typeface="Calibri" pitchFamily="34" charset="-120"/>
              </a:rPr>
              <a:t>I G I C E   C Y A   3   ·   K W I F A T I R A   I G I P I M O</a:t>
            </a:r>
            <a:endParaRPr lang="rw-RW" sz="1050" dirty="0"/>
          </a:p>
        </p:txBody>
      </p:sp>
      <p:sp>
        <p:nvSpPr>
          <p:cNvPr id="3" name="Text 3"/>
          <p:cNvSpPr txBox="1"/>
          <p:nvPr/>
        </p:nvSpPr>
        <p:spPr>
          <a:xfrm>
            <a:off x="566928" y="713232"/>
            <a:ext cx="11058113" cy="777240"/>
          </a:xfrm>
          <a:prstGeom prst="rect">
            <a:avLst/>
          </a:prstGeom>
          <a:noFill/>
          <a:ln/>
        </p:spPr>
        <p:txBody>
          <a:bodyPr wrap="square" lIns="0" tIns="0" rIns="0" bIns="0" rtlCol="0" anchor="ctr"/>
          <a:lstStyle/>
          <a:p>
            <a:pPr marL="0" indent="0">
              <a:buNone/>
            </a:pPr>
            <a:r>
              <a:rPr lang="rw-RW" sz="3000" b="1" noProof="0" dirty="0">
                <a:solidFill>
                  <a:srgbClr val="10305A"/>
                </a:solidFill>
                <a:latin typeface="Cambria" pitchFamily="34" charset="0"/>
                <a:ea typeface="Cambria" pitchFamily="34" charset="-122"/>
                <a:cs typeface="Cambria" pitchFamily="34" charset="-120"/>
              </a:rPr>
              <a:t>Intambwe 9 zo kwifatira igipimo cya HPV</a:t>
            </a:r>
          </a:p>
        </p:txBody>
      </p:sp>
      <p:sp>
        <p:nvSpPr>
          <p:cNvPr id="4" name="Shape 4"/>
          <p:cNvSpPr/>
          <p:nvPr/>
        </p:nvSpPr>
        <p:spPr>
          <a:xfrm>
            <a:off x="566928" y="1480000"/>
            <a:ext cx="3563112" cy="118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5" name="Shape 5"/>
          <p:cNvSpPr/>
          <p:nvPr/>
        </p:nvSpPr>
        <p:spPr>
          <a:xfrm>
            <a:off x="676928" y="1590000"/>
            <a:ext cx="380000" cy="380000"/>
          </a:xfrm>
          <a:prstGeom prst="ellipse">
            <a:avLst/>
          </a:prstGeom>
          <a:solidFill>
            <a:srgbClr val="6B3FA0"/>
          </a:solidFill>
          <a:ln w="12700">
            <a:solidFill>
              <a:srgbClr val="6B3FA0"/>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1</a:t>
            </a:r>
            <a:endParaRPr lang="rw-RW" sz="1400" dirty="0"/>
          </a:p>
        </p:txBody>
      </p:sp>
      <p:sp>
        <p:nvSpPr>
          <p:cNvPr id="6" name="Text 6"/>
          <p:cNvSpPr txBox="1"/>
          <p:nvPr/>
        </p:nvSpPr>
        <p:spPr>
          <a:xfrm>
            <a:off x="1126928" y="1570000"/>
            <a:ext cx="2913112" cy="420000"/>
          </a:xfrm>
          <a:prstGeom prst="rect">
            <a:avLst/>
          </a:prstGeom>
          <a:noFill/>
          <a:ln/>
        </p:spPr>
        <p:txBody>
          <a:bodyPr wrap="square" lIns="0" tIns="0" rIns="0" bIns="0" rtlCol="0" anchor="ctr"/>
          <a:lstStyle/>
          <a:p>
            <a:pPr marL="0" indent="0" algn="l">
              <a:buNone/>
            </a:pPr>
            <a:r>
              <a:rPr lang="rw-RW" sz="1500" b="1" noProof="0" dirty="0">
                <a:solidFill>
                  <a:srgbClr val="10305A"/>
                </a:solidFill>
                <a:latin typeface="Calibri" pitchFamily="34" charset="0"/>
                <a:ea typeface="Calibri" pitchFamily="34" charset="-122"/>
                <a:cs typeface="Calibri" pitchFamily="34" charset="-120"/>
              </a:rPr>
              <a:t>Tegura ibikoresho</a:t>
            </a:r>
            <a:endParaRPr lang="rw-RW" sz="1500" dirty="0"/>
          </a:p>
        </p:txBody>
      </p:sp>
      <p:sp>
        <p:nvSpPr>
          <p:cNvPr id="7" name="Text 7"/>
          <p:cNvSpPr txBox="1"/>
          <p:nvPr/>
        </p:nvSpPr>
        <p:spPr>
          <a:xfrm>
            <a:off x="716928" y="2010000"/>
            <a:ext cx="3283112" cy="620000"/>
          </a:xfrm>
          <a:prstGeom prst="rect">
            <a:avLst/>
          </a:prstGeom>
          <a:noFill/>
          <a:ln/>
        </p:spPr>
        <p:txBody>
          <a:bodyPr wrap="square" lIns="0" tIns="0" rIns="0" bIns="0" rtlCol="0" anchor="t"/>
          <a:lstStyle/>
          <a:p>
            <a:pPr marL="0" indent="0" algn="l">
              <a:lnSpc>
                <a:spcPct val="100000"/>
              </a:lnSpc>
              <a:buNone/>
            </a:pPr>
            <a:r>
              <a:rPr lang="rw-RW" sz="1300" noProof="0" dirty="0">
                <a:solidFill>
                  <a:srgbClr val="1A1A1A"/>
                </a:solidFill>
                <a:latin typeface="Calibri" pitchFamily="34" charset="0"/>
                <a:ea typeface="Calibri" pitchFamily="34" charset="-122"/>
                <a:cs typeface="Calibri" pitchFamily="34" charset="-120"/>
              </a:rPr>
              <a:t>Reba ko bifunze neza kandi bitangiritse: agati, agacupa karimo amazi n'ikirango kiriho nimero.</a:t>
            </a:r>
            <a:endParaRPr lang="rw-RW" sz="1300" dirty="0"/>
          </a:p>
        </p:txBody>
      </p:sp>
      <p:sp>
        <p:nvSpPr>
          <p:cNvPr id="8" name="Shape 8"/>
          <p:cNvSpPr/>
          <p:nvPr/>
        </p:nvSpPr>
        <p:spPr>
          <a:xfrm>
            <a:off x="4312920" y="1480000"/>
            <a:ext cx="3563112" cy="118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9" name="Shape 9"/>
          <p:cNvSpPr/>
          <p:nvPr/>
        </p:nvSpPr>
        <p:spPr>
          <a:xfrm>
            <a:off x="4422920" y="1590000"/>
            <a:ext cx="380000" cy="380000"/>
          </a:xfrm>
          <a:prstGeom prst="ellipse">
            <a:avLst/>
          </a:prstGeom>
          <a:solidFill>
            <a:srgbClr val="6B3FA0"/>
          </a:solidFill>
          <a:ln w="12700">
            <a:solidFill>
              <a:srgbClr val="6B3FA0"/>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2</a:t>
            </a:r>
            <a:endParaRPr lang="rw-RW" sz="1400" dirty="0"/>
          </a:p>
        </p:txBody>
      </p:sp>
      <p:sp>
        <p:nvSpPr>
          <p:cNvPr id="10" name="Text 10"/>
          <p:cNvSpPr txBox="1"/>
          <p:nvPr/>
        </p:nvSpPr>
        <p:spPr>
          <a:xfrm>
            <a:off x="4872920" y="1570000"/>
            <a:ext cx="2913112" cy="420000"/>
          </a:xfrm>
          <a:prstGeom prst="rect">
            <a:avLst/>
          </a:prstGeom>
          <a:noFill/>
          <a:ln/>
        </p:spPr>
        <p:txBody>
          <a:bodyPr wrap="square" lIns="0" tIns="0" rIns="0" bIns="0" rtlCol="0" anchor="ctr"/>
          <a:lstStyle/>
          <a:p>
            <a:pPr marL="0" indent="0" algn="l">
              <a:buNone/>
            </a:pPr>
            <a:r>
              <a:rPr lang="rw-RW" sz="1500" b="1" noProof="0" dirty="0">
                <a:solidFill>
                  <a:srgbClr val="10305A"/>
                </a:solidFill>
                <a:latin typeface="Calibri" pitchFamily="34" charset="0"/>
                <a:ea typeface="Calibri" pitchFamily="34" charset="-122"/>
                <a:cs typeface="Calibri" pitchFamily="34" charset="-120"/>
              </a:rPr>
              <a:t>Karaba intoki</a:t>
            </a:r>
            <a:endParaRPr lang="rw-RW" sz="1500" dirty="0"/>
          </a:p>
        </p:txBody>
      </p:sp>
      <p:sp>
        <p:nvSpPr>
          <p:cNvPr id="11" name="Text 11"/>
          <p:cNvSpPr txBox="1"/>
          <p:nvPr/>
        </p:nvSpPr>
        <p:spPr>
          <a:xfrm>
            <a:off x="4462920" y="2010000"/>
            <a:ext cx="3283112" cy="620000"/>
          </a:xfrm>
          <a:prstGeom prst="rect">
            <a:avLst/>
          </a:prstGeom>
          <a:noFill/>
          <a:ln/>
        </p:spPr>
        <p:txBody>
          <a:bodyPr wrap="square" lIns="0" tIns="0" rIns="0" bIns="0" rtlCol="0" anchor="t"/>
          <a:lstStyle/>
          <a:p>
            <a:pPr marL="0" indent="0" algn="l">
              <a:lnSpc>
                <a:spcPct val="100000"/>
              </a:lnSpc>
              <a:buNone/>
            </a:pPr>
            <a:r>
              <a:rPr lang="rw-RW" sz="1300" noProof="0" dirty="0">
                <a:solidFill>
                  <a:srgbClr val="1A1A1A"/>
                </a:solidFill>
                <a:latin typeface="Calibri" pitchFamily="34" charset="0"/>
                <a:ea typeface="Calibri" pitchFamily="34" charset="-122"/>
                <a:cs typeface="Calibri" pitchFamily="34" charset="-120"/>
              </a:rPr>
              <a:t>Karaba intoki neza ukoresheje isabune n'amazi meza.</a:t>
            </a:r>
            <a:endParaRPr lang="rw-RW" sz="1300" dirty="0"/>
          </a:p>
        </p:txBody>
      </p:sp>
      <p:sp>
        <p:nvSpPr>
          <p:cNvPr id="12" name="Shape 12"/>
          <p:cNvSpPr/>
          <p:nvPr/>
        </p:nvSpPr>
        <p:spPr>
          <a:xfrm>
            <a:off x="8058912" y="1480000"/>
            <a:ext cx="3563112" cy="118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3" name="Shape 13"/>
          <p:cNvSpPr/>
          <p:nvPr/>
        </p:nvSpPr>
        <p:spPr>
          <a:xfrm>
            <a:off x="8168912" y="1590000"/>
            <a:ext cx="380000" cy="380000"/>
          </a:xfrm>
          <a:prstGeom prst="ellipse">
            <a:avLst/>
          </a:prstGeom>
          <a:solidFill>
            <a:srgbClr val="6B3FA0"/>
          </a:solidFill>
          <a:ln w="12700">
            <a:solidFill>
              <a:srgbClr val="6B3FA0"/>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3</a:t>
            </a:r>
            <a:endParaRPr lang="rw-RW" sz="1400" dirty="0"/>
          </a:p>
        </p:txBody>
      </p:sp>
      <p:sp>
        <p:nvSpPr>
          <p:cNvPr id="14" name="Text 14"/>
          <p:cNvSpPr txBox="1"/>
          <p:nvPr/>
        </p:nvSpPr>
        <p:spPr>
          <a:xfrm>
            <a:off x="8618912" y="1570000"/>
            <a:ext cx="2913112" cy="420000"/>
          </a:xfrm>
          <a:prstGeom prst="rect">
            <a:avLst/>
          </a:prstGeom>
          <a:noFill/>
          <a:ln/>
        </p:spPr>
        <p:txBody>
          <a:bodyPr wrap="square" lIns="0" tIns="0" rIns="0" bIns="0" rtlCol="0" anchor="ctr"/>
          <a:lstStyle/>
          <a:p>
            <a:pPr marL="0" indent="0" algn="l">
              <a:buNone/>
            </a:pPr>
            <a:r>
              <a:rPr lang="rw-RW" sz="1500" b="1" noProof="0" dirty="0">
                <a:solidFill>
                  <a:srgbClr val="10305A"/>
                </a:solidFill>
                <a:latin typeface="Calibri" pitchFamily="34" charset="0"/>
                <a:ea typeface="Calibri" pitchFamily="34" charset="-122"/>
                <a:cs typeface="Calibri" pitchFamily="34" charset="-120"/>
              </a:rPr>
              <a:t>Hitamo uko wifata</a:t>
            </a:r>
            <a:endParaRPr lang="rw-RW" sz="1500" dirty="0"/>
          </a:p>
        </p:txBody>
      </p:sp>
      <p:sp>
        <p:nvSpPr>
          <p:cNvPr id="15" name="Text 15"/>
          <p:cNvSpPr txBox="1"/>
          <p:nvPr/>
        </p:nvSpPr>
        <p:spPr>
          <a:xfrm>
            <a:off x="8208912" y="2010000"/>
            <a:ext cx="3283112" cy="620000"/>
          </a:xfrm>
          <a:prstGeom prst="rect">
            <a:avLst/>
          </a:prstGeom>
          <a:noFill/>
          <a:ln/>
        </p:spPr>
        <p:txBody>
          <a:bodyPr wrap="square" lIns="0" tIns="0" rIns="0" bIns="0" rtlCol="0" anchor="t"/>
          <a:lstStyle/>
          <a:p>
            <a:pPr marL="0" indent="0" algn="l">
              <a:lnSpc>
                <a:spcPct val="100000"/>
              </a:lnSpc>
              <a:buNone/>
            </a:pPr>
            <a:r>
              <a:rPr lang="rw-RW" sz="1300" noProof="0" dirty="0">
                <a:solidFill>
                  <a:srgbClr val="1A1A1A"/>
                </a:solidFill>
                <a:latin typeface="Calibri" pitchFamily="34" charset="0"/>
                <a:ea typeface="Calibri" pitchFamily="34" charset="-122"/>
                <a:cs typeface="Calibri" pitchFamily="34" charset="-120"/>
              </a:rPr>
              <a:t>Hagarara uzamuye ukuguru kumwe, tumbama cyangwa uryame. Hitamo ikikorohereye.</a:t>
            </a:r>
            <a:endParaRPr lang="rw-RW" sz="1300" dirty="0"/>
          </a:p>
        </p:txBody>
      </p:sp>
      <p:sp>
        <p:nvSpPr>
          <p:cNvPr id="16" name="Shape 16"/>
          <p:cNvSpPr/>
          <p:nvPr/>
        </p:nvSpPr>
        <p:spPr>
          <a:xfrm>
            <a:off x="566928" y="2750000"/>
            <a:ext cx="3563112" cy="118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7" name="Shape 17"/>
          <p:cNvSpPr/>
          <p:nvPr/>
        </p:nvSpPr>
        <p:spPr>
          <a:xfrm>
            <a:off x="676928" y="2860000"/>
            <a:ext cx="380000" cy="380000"/>
          </a:xfrm>
          <a:prstGeom prst="ellipse">
            <a:avLst/>
          </a:prstGeom>
          <a:solidFill>
            <a:srgbClr val="6B3FA0"/>
          </a:solidFill>
          <a:ln w="12700">
            <a:solidFill>
              <a:srgbClr val="6B3FA0"/>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4</a:t>
            </a:r>
            <a:endParaRPr lang="rw-RW" sz="1400" dirty="0"/>
          </a:p>
        </p:txBody>
      </p:sp>
      <p:sp>
        <p:nvSpPr>
          <p:cNvPr id="18" name="Text 18"/>
          <p:cNvSpPr txBox="1"/>
          <p:nvPr/>
        </p:nvSpPr>
        <p:spPr>
          <a:xfrm>
            <a:off x="1126928" y="2840000"/>
            <a:ext cx="2913112" cy="420000"/>
          </a:xfrm>
          <a:prstGeom prst="rect">
            <a:avLst/>
          </a:prstGeom>
          <a:noFill/>
          <a:ln/>
        </p:spPr>
        <p:txBody>
          <a:bodyPr wrap="square" lIns="0" tIns="0" rIns="0" bIns="0" rtlCol="0" anchor="ctr"/>
          <a:lstStyle/>
          <a:p>
            <a:pPr marL="0" indent="0" algn="l">
              <a:buNone/>
            </a:pPr>
            <a:r>
              <a:rPr lang="rw-RW" sz="1500" b="1" noProof="0" dirty="0">
                <a:solidFill>
                  <a:srgbClr val="10305A"/>
                </a:solidFill>
                <a:latin typeface="Calibri" pitchFamily="34" charset="0"/>
                <a:ea typeface="Calibri" pitchFamily="34" charset="-122"/>
                <a:cs typeface="Calibri" pitchFamily="34" charset="-120"/>
              </a:rPr>
              <a:t>Injiza agati</a:t>
            </a:r>
            <a:endParaRPr lang="rw-RW" sz="1500" dirty="0"/>
          </a:p>
        </p:txBody>
      </p:sp>
      <p:sp>
        <p:nvSpPr>
          <p:cNvPr id="19" name="Text 19"/>
          <p:cNvSpPr txBox="1"/>
          <p:nvPr/>
        </p:nvSpPr>
        <p:spPr>
          <a:xfrm>
            <a:off x="716928" y="3280000"/>
            <a:ext cx="3283112" cy="620000"/>
          </a:xfrm>
          <a:prstGeom prst="rect">
            <a:avLst/>
          </a:prstGeom>
          <a:noFill/>
          <a:ln/>
        </p:spPr>
        <p:txBody>
          <a:bodyPr wrap="square" lIns="0" tIns="0" rIns="0" bIns="0" rtlCol="0" anchor="t"/>
          <a:lstStyle/>
          <a:p>
            <a:pPr marL="0" indent="0" algn="l">
              <a:lnSpc>
                <a:spcPct val="100000"/>
              </a:lnSpc>
              <a:buNone/>
            </a:pPr>
            <a:r>
              <a:rPr lang="rw-RW" sz="1300" noProof="0" dirty="0">
                <a:solidFill>
                  <a:srgbClr val="1A1A1A"/>
                </a:solidFill>
                <a:latin typeface="Calibri" pitchFamily="34" charset="0"/>
                <a:ea typeface="Calibri" pitchFamily="34" charset="-122"/>
                <a:cs typeface="Calibri" pitchFamily="34" charset="-120"/>
              </a:rPr>
              <a:t>Injiza buhoro agati mu gitsina kugeza intoki zikoze ku mubiri.</a:t>
            </a:r>
            <a:endParaRPr lang="rw-RW" sz="1300" dirty="0"/>
          </a:p>
        </p:txBody>
      </p:sp>
      <p:sp>
        <p:nvSpPr>
          <p:cNvPr id="20" name="Shape 20"/>
          <p:cNvSpPr/>
          <p:nvPr/>
        </p:nvSpPr>
        <p:spPr>
          <a:xfrm>
            <a:off x="4312920" y="2750000"/>
            <a:ext cx="3563112" cy="118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21" name="Shape 21"/>
          <p:cNvSpPr/>
          <p:nvPr/>
        </p:nvSpPr>
        <p:spPr>
          <a:xfrm>
            <a:off x="4422920" y="2860000"/>
            <a:ext cx="380000" cy="380000"/>
          </a:xfrm>
          <a:prstGeom prst="ellipse">
            <a:avLst/>
          </a:prstGeom>
          <a:solidFill>
            <a:srgbClr val="6B3FA0"/>
          </a:solidFill>
          <a:ln w="12700">
            <a:solidFill>
              <a:srgbClr val="6B3FA0"/>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5</a:t>
            </a:r>
            <a:endParaRPr lang="rw-RW" sz="1400" dirty="0"/>
          </a:p>
        </p:txBody>
      </p:sp>
      <p:sp>
        <p:nvSpPr>
          <p:cNvPr id="22" name="Text 22"/>
          <p:cNvSpPr txBox="1"/>
          <p:nvPr/>
        </p:nvSpPr>
        <p:spPr>
          <a:xfrm>
            <a:off x="4872920" y="2840000"/>
            <a:ext cx="2913112" cy="420000"/>
          </a:xfrm>
          <a:prstGeom prst="rect">
            <a:avLst/>
          </a:prstGeom>
          <a:noFill/>
          <a:ln/>
        </p:spPr>
        <p:txBody>
          <a:bodyPr wrap="square" lIns="0" tIns="0" rIns="0" bIns="0" rtlCol="0" anchor="ctr"/>
          <a:lstStyle/>
          <a:p>
            <a:pPr marL="0" indent="0" algn="l">
              <a:buNone/>
            </a:pPr>
            <a:r>
              <a:rPr lang="rw-RW" sz="1500" b="1" noProof="0" dirty="0">
                <a:solidFill>
                  <a:srgbClr val="10305A"/>
                </a:solidFill>
                <a:latin typeface="Calibri" pitchFamily="34" charset="0"/>
                <a:ea typeface="Calibri" pitchFamily="34" charset="-122"/>
                <a:cs typeface="Calibri" pitchFamily="34" charset="-120"/>
              </a:rPr>
              <a:t>Zengurutsa agati</a:t>
            </a:r>
            <a:endParaRPr lang="rw-RW" sz="1500" dirty="0"/>
          </a:p>
        </p:txBody>
      </p:sp>
      <p:sp>
        <p:nvSpPr>
          <p:cNvPr id="23" name="Text 23"/>
          <p:cNvSpPr txBox="1"/>
          <p:nvPr/>
        </p:nvSpPr>
        <p:spPr>
          <a:xfrm>
            <a:off x="4462920" y="3280000"/>
            <a:ext cx="3283112" cy="620000"/>
          </a:xfrm>
          <a:prstGeom prst="rect">
            <a:avLst/>
          </a:prstGeom>
          <a:noFill/>
          <a:ln/>
        </p:spPr>
        <p:txBody>
          <a:bodyPr wrap="square" lIns="0" tIns="0" rIns="0" bIns="0" rtlCol="0" anchor="t"/>
          <a:lstStyle/>
          <a:p>
            <a:pPr marL="0" indent="0" algn="l">
              <a:lnSpc>
                <a:spcPct val="100000"/>
              </a:lnSpc>
              <a:buNone/>
            </a:pPr>
            <a:r>
              <a:rPr lang="rw-RW" sz="1300" noProof="0" dirty="0">
                <a:solidFill>
                  <a:srgbClr val="1A1A1A"/>
                </a:solidFill>
                <a:latin typeface="Calibri" pitchFamily="34" charset="0"/>
                <a:ea typeface="Calibri" pitchFamily="34" charset="-122"/>
                <a:cs typeface="Calibri" pitchFamily="34" charset="-120"/>
              </a:rPr>
              <a:t>Zengurutsa agati buhoro nk'uko amabwiriza y'igikoresho abisaba (akenshi amasegonda 10 kugeza 30).</a:t>
            </a:r>
            <a:endParaRPr lang="rw-RW" sz="1300" dirty="0"/>
          </a:p>
        </p:txBody>
      </p:sp>
      <p:sp>
        <p:nvSpPr>
          <p:cNvPr id="24" name="Shape 24"/>
          <p:cNvSpPr/>
          <p:nvPr/>
        </p:nvSpPr>
        <p:spPr>
          <a:xfrm>
            <a:off x="8058912" y="2750000"/>
            <a:ext cx="3563112" cy="118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25" name="Shape 25"/>
          <p:cNvSpPr/>
          <p:nvPr/>
        </p:nvSpPr>
        <p:spPr>
          <a:xfrm>
            <a:off x="8168912" y="2860000"/>
            <a:ext cx="380000" cy="380000"/>
          </a:xfrm>
          <a:prstGeom prst="ellipse">
            <a:avLst/>
          </a:prstGeom>
          <a:solidFill>
            <a:srgbClr val="6B3FA0"/>
          </a:solidFill>
          <a:ln w="12700">
            <a:solidFill>
              <a:srgbClr val="6B3FA0"/>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6</a:t>
            </a:r>
            <a:endParaRPr lang="rw-RW" sz="1400" dirty="0"/>
          </a:p>
        </p:txBody>
      </p:sp>
      <p:sp>
        <p:nvSpPr>
          <p:cNvPr id="26" name="Text 26"/>
          <p:cNvSpPr txBox="1"/>
          <p:nvPr/>
        </p:nvSpPr>
        <p:spPr>
          <a:xfrm>
            <a:off x="8618912" y="2840000"/>
            <a:ext cx="2913112" cy="420000"/>
          </a:xfrm>
          <a:prstGeom prst="rect">
            <a:avLst/>
          </a:prstGeom>
          <a:noFill/>
          <a:ln/>
        </p:spPr>
        <p:txBody>
          <a:bodyPr wrap="square" lIns="0" tIns="0" rIns="0" bIns="0" rtlCol="0" anchor="ctr"/>
          <a:lstStyle/>
          <a:p>
            <a:pPr marL="0" indent="0" algn="l">
              <a:buNone/>
            </a:pPr>
            <a:r>
              <a:rPr lang="rw-RW" sz="1500" b="1" noProof="0" dirty="0">
                <a:solidFill>
                  <a:srgbClr val="10305A"/>
                </a:solidFill>
                <a:latin typeface="Calibri" pitchFamily="34" charset="0"/>
                <a:ea typeface="Calibri" pitchFamily="34" charset="-122"/>
                <a:cs typeface="Calibri" pitchFamily="34" charset="-120"/>
              </a:rPr>
              <a:t>Kuramo agati</a:t>
            </a:r>
            <a:endParaRPr lang="rw-RW" sz="1500" dirty="0"/>
          </a:p>
        </p:txBody>
      </p:sp>
      <p:sp>
        <p:nvSpPr>
          <p:cNvPr id="27" name="Text 27"/>
          <p:cNvSpPr txBox="1"/>
          <p:nvPr/>
        </p:nvSpPr>
        <p:spPr>
          <a:xfrm>
            <a:off x="8208912" y="3280000"/>
            <a:ext cx="3283112" cy="620000"/>
          </a:xfrm>
          <a:prstGeom prst="rect">
            <a:avLst/>
          </a:prstGeom>
          <a:noFill/>
          <a:ln/>
        </p:spPr>
        <p:txBody>
          <a:bodyPr wrap="square" lIns="0" tIns="0" rIns="0" bIns="0" rtlCol="0" anchor="t"/>
          <a:lstStyle/>
          <a:p>
            <a:pPr marL="0" indent="0" algn="l">
              <a:lnSpc>
                <a:spcPct val="100000"/>
              </a:lnSpc>
              <a:buNone/>
            </a:pPr>
            <a:r>
              <a:rPr lang="rw-RW" sz="1300" noProof="0" dirty="0">
                <a:solidFill>
                  <a:srgbClr val="1A1A1A"/>
                </a:solidFill>
                <a:latin typeface="Calibri" pitchFamily="34" charset="0"/>
                <a:ea typeface="Calibri" pitchFamily="34" charset="-122"/>
                <a:cs typeface="Calibri" pitchFamily="34" charset="-120"/>
              </a:rPr>
              <a:t>Kuramo agati buhoro.</a:t>
            </a:r>
            <a:endParaRPr lang="rw-RW" sz="1300" dirty="0"/>
          </a:p>
        </p:txBody>
      </p:sp>
      <p:sp>
        <p:nvSpPr>
          <p:cNvPr id="28" name="Shape 28"/>
          <p:cNvSpPr/>
          <p:nvPr/>
        </p:nvSpPr>
        <p:spPr>
          <a:xfrm>
            <a:off x="566928" y="4020000"/>
            <a:ext cx="3563112" cy="118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29" name="Shape 29"/>
          <p:cNvSpPr/>
          <p:nvPr/>
        </p:nvSpPr>
        <p:spPr>
          <a:xfrm>
            <a:off x="676928" y="4130000"/>
            <a:ext cx="380000" cy="380000"/>
          </a:xfrm>
          <a:prstGeom prst="ellipse">
            <a:avLst/>
          </a:prstGeom>
          <a:solidFill>
            <a:srgbClr val="6B3FA0"/>
          </a:solidFill>
          <a:ln w="12700">
            <a:solidFill>
              <a:srgbClr val="6B3FA0"/>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7</a:t>
            </a:r>
            <a:endParaRPr lang="rw-RW" sz="1400" dirty="0"/>
          </a:p>
        </p:txBody>
      </p:sp>
      <p:sp>
        <p:nvSpPr>
          <p:cNvPr id="30" name="Text 30"/>
          <p:cNvSpPr txBox="1"/>
          <p:nvPr/>
        </p:nvSpPr>
        <p:spPr>
          <a:xfrm>
            <a:off x="1126928" y="4110000"/>
            <a:ext cx="2913112" cy="420000"/>
          </a:xfrm>
          <a:prstGeom prst="rect">
            <a:avLst/>
          </a:prstGeom>
          <a:noFill/>
          <a:ln/>
        </p:spPr>
        <p:txBody>
          <a:bodyPr wrap="square" lIns="0" tIns="0" rIns="0" bIns="0" rtlCol="0" anchor="ctr"/>
          <a:lstStyle/>
          <a:p>
            <a:pPr marL="0" indent="0" algn="l">
              <a:buNone/>
            </a:pPr>
            <a:r>
              <a:rPr lang="rw-RW" sz="1500" b="1" noProof="0" dirty="0">
                <a:solidFill>
                  <a:srgbClr val="10305A"/>
                </a:solidFill>
                <a:latin typeface="Calibri" pitchFamily="34" charset="0"/>
                <a:ea typeface="Calibri" pitchFamily="34" charset="-122"/>
                <a:cs typeface="Calibri" pitchFamily="34" charset="-120"/>
              </a:rPr>
              <a:t>Shyira agati mu gacupa</a:t>
            </a:r>
            <a:endParaRPr lang="rw-RW" sz="1500" dirty="0"/>
          </a:p>
        </p:txBody>
      </p:sp>
      <p:sp>
        <p:nvSpPr>
          <p:cNvPr id="31" name="Text 31"/>
          <p:cNvSpPr txBox="1"/>
          <p:nvPr/>
        </p:nvSpPr>
        <p:spPr>
          <a:xfrm>
            <a:off x="716928" y="4550000"/>
            <a:ext cx="3283112" cy="620000"/>
          </a:xfrm>
          <a:prstGeom prst="rect">
            <a:avLst/>
          </a:prstGeom>
          <a:noFill/>
          <a:ln/>
        </p:spPr>
        <p:txBody>
          <a:bodyPr wrap="square" lIns="0" tIns="0" rIns="0" bIns="0" rtlCol="0" anchor="t"/>
          <a:lstStyle/>
          <a:p>
            <a:pPr marL="0" indent="0" algn="l">
              <a:lnSpc>
                <a:spcPct val="100000"/>
              </a:lnSpc>
              <a:buNone/>
            </a:pPr>
            <a:r>
              <a:rPr lang="rw-RW" sz="1300" noProof="0" dirty="0">
                <a:solidFill>
                  <a:srgbClr val="1A1A1A"/>
                </a:solidFill>
                <a:latin typeface="Calibri" pitchFamily="34" charset="0"/>
                <a:ea typeface="Calibri" pitchFamily="34" charset="-122"/>
                <a:cs typeface="Calibri" pitchFamily="34" charset="-120"/>
              </a:rPr>
              <a:t>Shyira agati mu gacupa karimo amazi. Ibikoresho bimwe bisaba kuvuna agati ahabigenewe cyangwa aho byerekanwe.</a:t>
            </a:r>
            <a:endParaRPr lang="rw-RW" sz="1300" dirty="0"/>
          </a:p>
        </p:txBody>
      </p:sp>
      <p:sp>
        <p:nvSpPr>
          <p:cNvPr id="32" name="Shape 32"/>
          <p:cNvSpPr/>
          <p:nvPr/>
        </p:nvSpPr>
        <p:spPr>
          <a:xfrm>
            <a:off x="4312920" y="4020000"/>
            <a:ext cx="3563112" cy="118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33" name="Shape 33"/>
          <p:cNvSpPr/>
          <p:nvPr/>
        </p:nvSpPr>
        <p:spPr>
          <a:xfrm>
            <a:off x="4422920" y="4130000"/>
            <a:ext cx="380000" cy="380000"/>
          </a:xfrm>
          <a:prstGeom prst="ellipse">
            <a:avLst/>
          </a:prstGeom>
          <a:solidFill>
            <a:srgbClr val="6B3FA0"/>
          </a:solidFill>
          <a:ln w="12700">
            <a:solidFill>
              <a:srgbClr val="6B3FA0"/>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8</a:t>
            </a:r>
            <a:endParaRPr lang="rw-RW" sz="1400" dirty="0"/>
          </a:p>
        </p:txBody>
      </p:sp>
      <p:sp>
        <p:nvSpPr>
          <p:cNvPr id="34" name="Text 34"/>
          <p:cNvSpPr txBox="1"/>
          <p:nvPr/>
        </p:nvSpPr>
        <p:spPr>
          <a:xfrm>
            <a:off x="4872920" y="4110000"/>
            <a:ext cx="2913112" cy="420000"/>
          </a:xfrm>
          <a:prstGeom prst="rect">
            <a:avLst/>
          </a:prstGeom>
          <a:noFill/>
          <a:ln/>
        </p:spPr>
        <p:txBody>
          <a:bodyPr wrap="square" lIns="0" tIns="0" rIns="0" bIns="0" rtlCol="0" anchor="ctr"/>
          <a:lstStyle/>
          <a:p>
            <a:pPr marL="0" indent="0" algn="l">
              <a:buNone/>
            </a:pPr>
            <a:r>
              <a:rPr lang="rw-RW" sz="1500" b="1" noProof="0" dirty="0">
                <a:solidFill>
                  <a:srgbClr val="10305A"/>
                </a:solidFill>
                <a:latin typeface="Calibri" pitchFamily="34" charset="0"/>
                <a:ea typeface="Calibri" pitchFamily="34" charset="-122"/>
                <a:cs typeface="Calibri" pitchFamily="34" charset="-120"/>
              </a:rPr>
              <a:t>Funga, ushyireho ikirango</a:t>
            </a:r>
            <a:endParaRPr lang="rw-RW" sz="1500" dirty="0"/>
          </a:p>
        </p:txBody>
      </p:sp>
      <p:sp>
        <p:nvSpPr>
          <p:cNvPr id="35" name="Text 35"/>
          <p:cNvSpPr txBox="1"/>
          <p:nvPr/>
        </p:nvSpPr>
        <p:spPr>
          <a:xfrm>
            <a:off x="4462920" y="4550000"/>
            <a:ext cx="3283112" cy="620000"/>
          </a:xfrm>
          <a:prstGeom prst="rect">
            <a:avLst/>
          </a:prstGeom>
          <a:noFill/>
          <a:ln/>
        </p:spPr>
        <p:txBody>
          <a:bodyPr wrap="square" lIns="0" tIns="0" rIns="0" bIns="0" rtlCol="0" anchor="t"/>
          <a:lstStyle/>
          <a:p>
            <a:pPr marL="0" indent="0" algn="l">
              <a:lnSpc>
                <a:spcPct val="100000"/>
              </a:lnSpc>
              <a:buNone/>
            </a:pPr>
            <a:r>
              <a:rPr lang="rw-RW" sz="1300" noProof="0" dirty="0">
                <a:solidFill>
                  <a:srgbClr val="1A1A1A"/>
                </a:solidFill>
                <a:latin typeface="Calibri" pitchFamily="34" charset="0"/>
                <a:ea typeface="Calibri" pitchFamily="34" charset="-122"/>
                <a:cs typeface="Calibri" pitchFamily="34" charset="-120"/>
              </a:rPr>
              <a:t>Funga neza agacupa kugira ngo kadameneka. Reba ko ikirango gifashe neza.</a:t>
            </a:r>
            <a:endParaRPr lang="rw-RW" sz="1300" dirty="0"/>
          </a:p>
        </p:txBody>
      </p:sp>
      <p:sp>
        <p:nvSpPr>
          <p:cNvPr id="36" name="Shape 36"/>
          <p:cNvSpPr/>
          <p:nvPr/>
        </p:nvSpPr>
        <p:spPr>
          <a:xfrm>
            <a:off x="8058912" y="4020000"/>
            <a:ext cx="3563112" cy="118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37" name="Shape 37"/>
          <p:cNvSpPr/>
          <p:nvPr/>
        </p:nvSpPr>
        <p:spPr>
          <a:xfrm>
            <a:off x="8168912" y="4130000"/>
            <a:ext cx="380000" cy="380000"/>
          </a:xfrm>
          <a:prstGeom prst="ellipse">
            <a:avLst/>
          </a:prstGeom>
          <a:solidFill>
            <a:srgbClr val="6B3FA0"/>
          </a:solidFill>
          <a:ln w="12700">
            <a:solidFill>
              <a:srgbClr val="6B3FA0"/>
            </a:solidFill>
          </a:ln>
        </p:spPr>
        <p:txBody>
          <a:bodyPr wrap="square" lIns="0" tIns="0" rIns="0" bIns="0" rtlCol="0" anchor="ctr"/>
          <a:lstStyle/>
          <a:p>
            <a:pPr marL="0" indent="0" algn="ctr">
              <a:buNone/>
            </a:pPr>
            <a:r>
              <a:rPr lang="rw-RW" sz="1400" b="1" noProof="0" dirty="0">
                <a:solidFill>
                  <a:srgbClr val="FFFFFF"/>
                </a:solidFill>
                <a:latin typeface="Calibri" pitchFamily="34" charset="0"/>
                <a:ea typeface="Calibri" pitchFamily="34" charset="-122"/>
                <a:cs typeface="Calibri" pitchFamily="34" charset="-120"/>
              </a:rPr>
              <a:t>9</a:t>
            </a:r>
            <a:endParaRPr lang="rw-RW" sz="1400" dirty="0"/>
          </a:p>
        </p:txBody>
      </p:sp>
      <p:sp>
        <p:nvSpPr>
          <p:cNvPr id="38" name="Text 38"/>
          <p:cNvSpPr txBox="1"/>
          <p:nvPr/>
        </p:nvSpPr>
        <p:spPr>
          <a:xfrm>
            <a:off x="8618912" y="4110000"/>
            <a:ext cx="2913112" cy="420000"/>
          </a:xfrm>
          <a:prstGeom prst="rect">
            <a:avLst/>
          </a:prstGeom>
          <a:noFill/>
          <a:ln/>
        </p:spPr>
        <p:txBody>
          <a:bodyPr wrap="square" lIns="0" tIns="0" rIns="0" bIns="0" rtlCol="0" anchor="ctr"/>
          <a:lstStyle/>
          <a:p>
            <a:pPr marL="0" indent="0" algn="l">
              <a:buNone/>
            </a:pPr>
            <a:r>
              <a:rPr lang="rw-RW" sz="1500" b="1" noProof="0" dirty="0">
                <a:solidFill>
                  <a:srgbClr val="10305A"/>
                </a:solidFill>
                <a:latin typeface="Calibri" pitchFamily="34" charset="0"/>
                <a:ea typeface="Calibri" pitchFamily="34" charset="-122"/>
                <a:cs typeface="Calibri" pitchFamily="34" charset="-120"/>
              </a:rPr>
              <a:t>Garura igipimo</a:t>
            </a:r>
            <a:endParaRPr lang="rw-RW" sz="1500" dirty="0"/>
          </a:p>
        </p:txBody>
      </p:sp>
      <p:sp>
        <p:nvSpPr>
          <p:cNvPr id="39" name="Text 39"/>
          <p:cNvSpPr txBox="1"/>
          <p:nvPr/>
        </p:nvSpPr>
        <p:spPr>
          <a:xfrm>
            <a:off x="8208912" y="4550000"/>
            <a:ext cx="3283112" cy="620000"/>
          </a:xfrm>
          <a:prstGeom prst="rect">
            <a:avLst/>
          </a:prstGeom>
          <a:noFill/>
          <a:ln/>
        </p:spPr>
        <p:txBody>
          <a:bodyPr wrap="square" lIns="0" tIns="0" rIns="0" bIns="0" rtlCol="0" anchor="t"/>
          <a:lstStyle/>
          <a:p>
            <a:pPr marL="0" indent="0" algn="l">
              <a:lnSpc>
                <a:spcPct val="100000"/>
              </a:lnSpc>
              <a:buNone/>
            </a:pPr>
            <a:r>
              <a:rPr lang="rw-RW" sz="1300" noProof="0" dirty="0">
                <a:solidFill>
                  <a:srgbClr val="1A1A1A"/>
                </a:solidFill>
                <a:latin typeface="Calibri" pitchFamily="34" charset="0"/>
                <a:ea typeface="Calibri" pitchFamily="34" charset="-122"/>
                <a:cs typeface="Calibri" pitchFamily="34" charset="-120"/>
              </a:rPr>
              <a:t>Garura igipimo ku mujyanama w'ubuzima cyangwa ku kigo nderabuzima nk'uko wabisabwe.</a:t>
            </a:r>
            <a:endParaRPr lang="rw-RW" sz="1300" dirty="0"/>
          </a:p>
        </p:txBody>
      </p:sp>
      <p:sp>
        <p:nvSpPr>
          <p:cNvPr id="40" name="Shape 40"/>
          <p:cNvSpPr/>
          <p:nvPr/>
        </p:nvSpPr>
        <p:spPr>
          <a:xfrm>
            <a:off x="566928" y="5320000"/>
            <a:ext cx="11055096" cy="880000"/>
          </a:xfrm>
          <a:prstGeom prst="roundRect">
            <a:avLst>
              <a:gd name="adj" fmla="val 3000"/>
            </a:avLst>
          </a:prstGeom>
          <a:solidFill>
            <a:srgbClr val="ECF3FD"/>
          </a:solidFill>
          <a:ln w="12700">
            <a:solidFill>
              <a:srgbClr val="E0E3EA"/>
            </a:solidFill>
          </a:ln>
        </p:spPr>
        <p:txBody>
          <a:bodyPr/>
          <a:lstStyle/>
          <a:p>
            <a:endParaRPr lang="rw-RW" sz="1600" dirty="0"/>
          </a:p>
        </p:txBody>
      </p:sp>
      <p:sp>
        <p:nvSpPr>
          <p:cNvPr id="41" name="Text 41"/>
          <p:cNvSpPr txBox="1"/>
          <p:nvPr/>
        </p:nvSpPr>
        <p:spPr>
          <a:xfrm>
            <a:off x="841248" y="5370000"/>
            <a:ext cx="10506456" cy="780000"/>
          </a:xfrm>
          <a:prstGeom prst="rect">
            <a:avLst/>
          </a:prstGeom>
          <a:noFill/>
          <a:ln/>
        </p:spPr>
        <p:txBody>
          <a:bodyPr wrap="square" lIns="0" tIns="0" rIns="0" bIns="0" rtlCol="0" anchor="ctr"/>
          <a:lstStyle/>
          <a:p>
            <a:pPr marL="0" indent="0" algn="l">
              <a:buNone/>
            </a:pPr>
            <a:r>
              <a:rPr lang="rw-RW" sz="1400" b="1" noProof="0" dirty="0">
                <a:solidFill>
                  <a:srgbClr val="10305A"/>
                </a:solidFill>
                <a:latin typeface="Calibri" pitchFamily="34" charset="0"/>
                <a:ea typeface="Calibri" pitchFamily="34" charset="-122"/>
                <a:cs typeface="Calibri" pitchFamily="34" charset="-120"/>
              </a:rPr>
              <a:t>ℹ️ Ni ingenzi:  </a:t>
            </a:r>
            <a:r>
              <a:rPr lang="rw-RW" sz="1400" noProof="0" dirty="0">
                <a:solidFill>
                  <a:srgbClr val="1A1A1A"/>
                </a:solidFill>
                <a:latin typeface="Calibri" pitchFamily="34" charset="0"/>
                <a:ea typeface="Calibri" pitchFamily="34" charset="-122"/>
                <a:cs typeface="Calibri" pitchFamily="34" charset="-120"/>
              </a:rPr>
              <a:t>Kwifatira igipimo bikorwa mu ibanga kandi birizewe. Gipima HPV, virusi ishobora gutera kanseri y'inkondo y'umura. Umugore azamenyeshwa ibisubizo n'intambwe ikurikira y'ubuvuzi ashobora gukenera.</a:t>
            </a:r>
            <a:endParaRPr lang="rw-RW" sz="1400" dirty="0"/>
          </a:p>
        </p:txBody>
      </p:sp>
      <p:sp>
        <p:nvSpPr>
          <p:cNvPr id="42" name="Text 42"/>
          <p:cNvSpPr txBox="1"/>
          <p:nvPr/>
        </p:nvSpPr>
        <p:spPr>
          <a:xfrm>
            <a:off x="566928" y="6345936"/>
            <a:ext cx="7315200" cy="274320"/>
          </a:xfrm>
          <a:prstGeom prst="rect">
            <a:avLst/>
          </a:prstGeom>
          <a:noFill/>
          <a:ln/>
        </p:spPr>
        <p:txBody>
          <a:bodyPr wrap="square" lIns="0" tIns="0" rIns="0" bIns="0" rtlCol="0" anchor="ctr"/>
          <a:lstStyle/>
          <a:p>
            <a:pPr marL="0" indent="0" algn="l">
              <a:buNone/>
            </a:pPr>
            <a:r>
              <a:rPr lang="rw-RW" sz="900" noProof="0" dirty="0">
                <a:solidFill>
                  <a:srgbClr val="777D86"/>
                </a:solidFill>
                <a:latin typeface="Calibri" pitchFamily="34" charset="0"/>
                <a:ea typeface="Calibri" pitchFamily="34" charset="-122"/>
                <a:cs typeface="Calibri" pitchFamily="34" charset="-120"/>
              </a:rPr>
              <a:t>Kanseri y'inkondo y'umura  |  Umujyanama w'Ubuzima  |  Ikigo cy'Igihugu Gishinzwe Ubuzima</a:t>
            </a:r>
            <a:endParaRPr lang="rw-RW" sz="900" dirty="0"/>
          </a:p>
        </p:txBody>
      </p:sp>
      <p:sp>
        <p:nvSpPr>
          <p:cNvPr id="43" name="Text 43"/>
          <p:cNvSpPr txBox="1"/>
          <p:nvPr/>
        </p:nvSpPr>
        <p:spPr>
          <a:xfrm>
            <a:off x="8881841" y="6345936"/>
            <a:ext cx="2743200" cy="274320"/>
          </a:xfrm>
          <a:prstGeom prst="rect">
            <a:avLst/>
          </a:prstGeom>
          <a:noFill/>
          <a:ln/>
        </p:spPr>
        <p:txBody>
          <a:bodyPr wrap="square" lIns="0" tIns="0" rIns="0" bIns="0" rtlCol="0" anchor="ctr"/>
          <a:lstStyle/>
          <a:p>
            <a:pPr marL="0" indent="0" algn="r">
              <a:buNone/>
            </a:pPr>
            <a:r>
              <a:rPr lang="rw-RW" sz="900" noProof="0" dirty="0">
                <a:solidFill>
                  <a:srgbClr val="777D86"/>
                </a:solidFill>
                <a:latin typeface="Calibri" pitchFamily="34" charset="0"/>
                <a:ea typeface="Calibri" pitchFamily="34" charset="-122"/>
                <a:cs typeface="Calibri" pitchFamily="34" charset="-120"/>
              </a:rPr>
              <a:t>Urupapuro rwa 84</a:t>
            </a:r>
            <a:endParaRPr lang="rw-RW"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65760"/>
            <a:ext cx="11058113" cy="161583"/>
          </a:xfrm>
          <a:prstGeom prst="rect">
            <a:avLst/>
          </a:prstGeom>
          <a:noFill/>
          <a:ln/>
        </p:spPr>
        <p:txBody>
          <a:bodyPr wrap="square" lIns="0" tIns="0" rIns="0" bIns="0" rtlCol="0" anchor="ctr"/>
          <a:lstStyle/>
          <a:p>
            <a:pPr marL="0" indent="0" algn="l">
              <a:buNone/>
            </a:pPr>
            <a:r>
              <a:rPr lang="rw-RW" sz="1050" b="1" noProof="0" dirty="0">
                <a:solidFill>
                  <a:srgbClr val="1F4E96"/>
                </a:solidFill>
                <a:latin typeface="Calibri" pitchFamily="34" charset="0"/>
                <a:ea typeface="Calibri" pitchFamily="34" charset="-122"/>
                <a:cs typeface="Calibri" pitchFamily="34" charset="-120"/>
              </a:rPr>
              <a:t>I G I C E   C Y A   3   ·   K W I F A T I R A   I G I P I M O</a:t>
            </a:r>
            <a:endParaRPr lang="rw-RW" sz="1050" dirty="0"/>
          </a:p>
        </p:txBody>
      </p:sp>
      <p:sp>
        <p:nvSpPr>
          <p:cNvPr id="3" name="Text 3"/>
          <p:cNvSpPr txBox="1"/>
          <p:nvPr/>
        </p:nvSpPr>
        <p:spPr>
          <a:xfrm>
            <a:off x="566928" y="402679"/>
            <a:ext cx="11058113" cy="777240"/>
          </a:xfrm>
          <a:prstGeom prst="rect">
            <a:avLst/>
          </a:prstGeom>
          <a:noFill/>
          <a:ln/>
        </p:spPr>
        <p:txBody>
          <a:bodyPr wrap="square" lIns="0" tIns="0" rIns="0" bIns="0" rtlCol="0" anchor="ctr"/>
          <a:lstStyle/>
          <a:p>
            <a:pPr marL="0" indent="0">
              <a:buNone/>
            </a:pPr>
            <a:r>
              <a:rPr lang="rw-RW" sz="2800" b="1" noProof="0" dirty="0">
                <a:solidFill>
                  <a:srgbClr val="10305A"/>
                </a:solidFill>
                <a:latin typeface="Cambria" pitchFamily="34" charset="0"/>
                <a:ea typeface="Cambria" pitchFamily="34" charset="-122"/>
                <a:cs typeface="Cambria" pitchFamily="34" charset="-120"/>
              </a:rPr>
              <a:t>Ibyo usobanurira umugore mbere y'uko yifatira igipimo</a:t>
            </a:r>
          </a:p>
        </p:txBody>
      </p:sp>
      <p:sp>
        <p:nvSpPr>
          <p:cNvPr id="4" name="Shape 4"/>
          <p:cNvSpPr/>
          <p:nvPr/>
        </p:nvSpPr>
        <p:spPr>
          <a:xfrm>
            <a:off x="566928" y="1134170"/>
            <a:ext cx="3563112" cy="1453751"/>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5" name="Text 5"/>
          <p:cNvSpPr txBox="1"/>
          <p:nvPr/>
        </p:nvSpPr>
        <p:spPr>
          <a:xfrm>
            <a:off x="822960" y="1098893"/>
            <a:ext cx="3051048" cy="520000"/>
          </a:xfrm>
          <a:prstGeom prst="rect">
            <a:avLst/>
          </a:prstGeom>
          <a:noFill/>
          <a:ln/>
        </p:spPr>
        <p:txBody>
          <a:bodyPr wrap="square" lIns="0" tIns="0" rIns="0" bIns="0" rtlCol="0" anchor="ctr"/>
          <a:lstStyle/>
          <a:p>
            <a:pPr marL="0" indent="0" algn="l">
              <a:buNone/>
            </a:pPr>
            <a:r>
              <a:rPr lang="rw-RW" sz="1900" b="1" noProof="0" dirty="0">
                <a:solidFill>
                  <a:srgbClr val="10305A"/>
                </a:solidFill>
                <a:latin typeface="Calibri" pitchFamily="34" charset="0"/>
                <a:ea typeface="Calibri" pitchFamily="34" charset="-122"/>
                <a:cs typeface="Calibri" pitchFamily="34" charset="-120"/>
              </a:rPr>
              <a:t>🔒  Ni ibanga</a:t>
            </a:r>
            <a:endParaRPr lang="rw-RW" sz="1900" dirty="0"/>
          </a:p>
        </p:txBody>
      </p:sp>
      <p:sp>
        <p:nvSpPr>
          <p:cNvPr id="6" name="Text 6"/>
          <p:cNvSpPr txBox="1"/>
          <p:nvPr/>
        </p:nvSpPr>
        <p:spPr>
          <a:xfrm>
            <a:off x="822960" y="1678893"/>
            <a:ext cx="3051048" cy="909028"/>
          </a:xfrm>
          <a:prstGeom prst="rect">
            <a:avLst/>
          </a:prstGeom>
          <a:noFill/>
          <a:ln/>
        </p:spPr>
        <p:txBody>
          <a:bodyPr wrap="square" lIns="0" tIns="0" rIns="0" bIns="0" rtlCol="0" anchor="t"/>
          <a:lstStyle/>
          <a:p>
            <a:pPr marL="0" indent="0" algn="l">
              <a:lnSpc>
                <a:spcPct val="104000"/>
              </a:lnSpc>
              <a:spcAft>
                <a:spcPts val="600"/>
              </a:spcAft>
              <a:buNone/>
            </a:pPr>
            <a:r>
              <a:rPr lang="rw-RW" sz="1700" noProof="0" dirty="0">
                <a:solidFill>
                  <a:srgbClr val="1A1A1A"/>
                </a:solidFill>
                <a:latin typeface="Calibri" pitchFamily="34" charset="0"/>
                <a:ea typeface="Calibri" pitchFamily="34" charset="-122"/>
                <a:cs typeface="Calibri" pitchFamily="34" charset="-120"/>
              </a:rPr>
              <a:t>Yifatira igipimo wenyine, ahantu hiherereye. Ibisubizo bye ni ibanga.</a:t>
            </a:r>
            <a:endParaRPr lang="rw-RW" sz="1700" dirty="0"/>
          </a:p>
        </p:txBody>
      </p:sp>
      <p:sp>
        <p:nvSpPr>
          <p:cNvPr id="7" name="Shape 7"/>
          <p:cNvSpPr/>
          <p:nvPr/>
        </p:nvSpPr>
        <p:spPr>
          <a:xfrm>
            <a:off x="566928" y="2754494"/>
            <a:ext cx="3563112" cy="1488257"/>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8" name="Text 8"/>
          <p:cNvSpPr txBox="1"/>
          <p:nvPr/>
        </p:nvSpPr>
        <p:spPr>
          <a:xfrm>
            <a:off x="822960" y="2753723"/>
            <a:ext cx="3051048" cy="520000"/>
          </a:xfrm>
          <a:prstGeom prst="rect">
            <a:avLst/>
          </a:prstGeom>
          <a:noFill/>
          <a:ln/>
        </p:spPr>
        <p:txBody>
          <a:bodyPr wrap="square" lIns="0" tIns="0" rIns="0" bIns="0" rtlCol="0" anchor="ctr"/>
          <a:lstStyle/>
          <a:p>
            <a:pPr marL="0" indent="0" algn="l">
              <a:buNone/>
            </a:pPr>
            <a:r>
              <a:rPr lang="rw-RW" sz="1900" b="1" noProof="0" dirty="0">
                <a:solidFill>
                  <a:srgbClr val="10305A"/>
                </a:solidFill>
                <a:latin typeface="Calibri" pitchFamily="34" charset="0"/>
                <a:ea typeface="Calibri" pitchFamily="34" charset="-122"/>
                <a:cs typeface="Calibri" pitchFamily="34" charset="-120"/>
              </a:rPr>
              <a:t>🧪  Icyo gipima</a:t>
            </a:r>
            <a:endParaRPr lang="rw-RW" sz="1900" dirty="0"/>
          </a:p>
        </p:txBody>
      </p:sp>
      <p:sp>
        <p:nvSpPr>
          <p:cNvPr id="9" name="Text 9"/>
          <p:cNvSpPr txBox="1"/>
          <p:nvPr/>
        </p:nvSpPr>
        <p:spPr>
          <a:xfrm>
            <a:off x="822960" y="3333723"/>
            <a:ext cx="3051048" cy="909028"/>
          </a:xfrm>
          <a:prstGeom prst="rect">
            <a:avLst/>
          </a:prstGeom>
          <a:noFill/>
          <a:ln/>
        </p:spPr>
        <p:txBody>
          <a:bodyPr wrap="square" lIns="0" tIns="0" rIns="0" bIns="0" rtlCol="0" anchor="t"/>
          <a:lstStyle/>
          <a:p>
            <a:pPr marL="0" indent="0" algn="l">
              <a:lnSpc>
                <a:spcPct val="104000"/>
              </a:lnSpc>
              <a:spcAft>
                <a:spcPts val="600"/>
              </a:spcAft>
              <a:buNone/>
            </a:pPr>
            <a:r>
              <a:rPr lang="rw-RW" sz="1700" noProof="0" dirty="0">
                <a:solidFill>
                  <a:srgbClr val="1A1A1A"/>
                </a:solidFill>
                <a:latin typeface="Calibri" pitchFamily="34" charset="0"/>
                <a:ea typeface="Calibri" pitchFamily="34" charset="-122"/>
                <a:cs typeface="Calibri" pitchFamily="34" charset="-120"/>
              </a:rPr>
              <a:t>Gipima HPV, virusi ishobora gutera kanseri y'inkondo y'umura. Ntigipima kanseri ubwayo.</a:t>
            </a:r>
            <a:endParaRPr lang="rw-RW" sz="1700" dirty="0"/>
          </a:p>
        </p:txBody>
      </p:sp>
      <p:sp>
        <p:nvSpPr>
          <p:cNvPr id="10" name="Shape 10"/>
          <p:cNvSpPr/>
          <p:nvPr/>
        </p:nvSpPr>
        <p:spPr>
          <a:xfrm>
            <a:off x="566928" y="4341636"/>
            <a:ext cx="3563112" cy="1660787"/>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1" name="Text 11"/>
          <p:cNvSpPr txBox="1"/>
          <p:nvPr/>
        </p:nvSpPr>
        <p:spPr>
          <a:xfrm>
            <a:off x="822960" y="4358118"/>
            <a:ext cx="3051048" cy="520000"/>
          </a:xfrm>
          <a:prstGeom prst="rect">
            <a:avLst/>
          </a:prstGeom>
          <a:noFill/>
          <a:ln/>
        </p:spPr>
        <p:txBody>
          <a:bodyPr wrap="square" lIns="0" tIns="0" rIns="0" bIns="0" rtlCol="0" anchor="ctr"/>
          <a:lstStyle/>
          <a:p>
            <a:pPr marL="0" indent="0" algn="l">
              <a:buNone/>
            </a:pPr>
            <a:r>
              <a:rPr lang="rw-RW" sz="1900" b="1" noProof="0" dirty="0">
                <a:solidFill>
                  <a:srgbClr val="10305A"/>
                </a:solidFill>
                <a:latin typeface="Calibri" pitchFamily="34" charset="0"/>
                <a:ea typeface="Calibri" pitchFamily="34" charset="-122"/>
                <a:cs typeface="Calibri" pitchFamily="34" charset="-120"/>
              </a:rPr>
              <a:t>📞  Ibisubizo</a:t>
            </a:r>
            <a:endParaRPr lang="rw-RW" sz="1900" dirty="0"/>
          </a:p>
        </p:txBody>
      </p:sp>
      <p:sp>
        <p:nvSpPr>
          <p:cNvPr id="12" name="Text 12"/>
          <p:cNvSpPr txBox="1"/>
          <p:nvPr/>
        </p:nvSpPr>
        <p:spPr>
          <a:xfrm>
            <a:off x="822960" y="4834601"/>
            <a:ext cx="3051048" cy="909028"/>
          </a:xfrm>
          <a:prstGeom prst="rect">
            <a:avLst/>
          </a:prstGeom>
          <a:noFill/>
          <a:ln/>
        </p:spPr>
        <p:txBody>
          <a:bodyPr wrap="square" lIns="0" tIns="0" rIns="0" bIns="0" rtlCol="0" anchor="t"/>
          <a:lstStyle/>
          <a:p>
            <a:pPr marL="0" indent="0" algn="l">
              <a:lnSpc>
                <a:spcPct val="104000"/>
              </a:lnSpc>
              <a:spcAft>
                <a:spcPts val="600"/>
              </a:spcAft>
              <a:buNone/>
            </a:pPr>
            <a:r>
              <a:rPr lang="rw-RW" sz="1700" noProof="0" dirty="0">
                <a:solidFill>
                  <a:srgbClr val="1A1A1A"/>
                </a:solidFill>
                <a:latin typeface="Calibri" pitchFamily="34" charset="0"/>
                <a:ea typeface="Calibri" pitchFamily="34" charset="-122"/>
                <a:cs typeface="Calibri" pitchFamily="34" charset="-120"/>
              </a:rPr>
              <a:t>Azamenyeshwa ibisubizo. Iyo HPV ibonetse, ntibivuze ko arwaye kanseri: azakenera irindi suzuma ku kigo nderabuzima.</a:t>
            </a:r>
            <a:endParaRPr lang="rw-RW" sz="1700" dirty="0"/>
          </a:p>
        </p:txBody>
      </p:sp>
      <p:sp>
        <p:nvSpPr>
          <p:cNvPr id="14" name="Shape 14"/>
          <p:cNvSpPr/>
          <p:nvPr/>
        </p:nvSpPr>
        <p:spPr>
          <a:xfrm>
            <a:off x="4386072" y="5202423"/>
            <a:ext cx="7315200" cy="800000"/>
          </a:xfrm>
          <a:prstGeom prst="roundRect">
            <a:avLst>
              <a:gd name="adj" fmla="val 3000"/>
            </a:avLst>
          </a:prstGeom>
          <a:solidFill>
            <a:srgbClr val="FFF2DF"/>
          </a:solidFill>
          <a:ln w="12700">
            <a:solidFill>
              <a:srgbClr val="E8DDC7"/>
            </a:solidFill>
          </a:ln>
        </p:spPr>
        <p:txBody>
          <a:bodyPr/>
          <a:lstStyle/>
          <a:p>
            <a:endParaRPr lang="rw-RW" sz="1600" dirty="0"/>
          </a:p>
        </p:txBody>
      </p:sp>
      <p:sp>
        <p:nvSpPr>
          <p:cNvPr id="15" name="Text 15"/>
          <p:cNvSpPr txBox="1"/>
          <p:nvPr/>
        </p:nvSpPr>
        <p:spPr>
          <a:xfrm>
            <a:off x="4465320" y="5252423"/>
            <a:ext cx="6961632" cy="700000"/>
          </a:xfrm>
          <a:prstGeom prst="rect">
            <a:avLst/>
          </a:prstGeom>
          <a:noFill/>
          <a:ln/>
        </p:spPr>
        <p:txBody>
          <a:bodyPr wrap="square" lIns="0" tIns="0" rIns="0" bIns="0" rtlCol="0" anchor="ctr"/>
          <a:lstStyle/>
          <a:p>
            <a:pPr marL="0" indent="0" algn="l">
              <a:buNone/>
            </a:pPr>
            <a:r>
              <a:rPr lang="rw-RW" sz="1500" b="1" noProof="0" dirty="0">
                <a:solidFill>
                  <a:srgbClr val="94600B"/>
                </a:solidFill>
                <a:latin typeface="Calibri" pitchFamily="34" charset="0"/>
                <a:ea typeface="Calibri" pitchFamily="34" charset="-122"/>
                <a:cs typeface="Calibri" pitchFamily="34" charset="-120"/>
              </a:rPr>
              <a:t>⚠ Ibimenyetso:  </a:t>
            </a:r>
            <a:r>
              <a:rPr lang="rw-RW" sz="1500" noProof="0" dirty="0">
                <a:solidFill>
                  <a:srgbClr val="1A1A1A"/>
                </a:solidFill>
                <a:latin typeface="Calibri" pitchFamily="34" charset="0"/>
                <a:ea typeface="Calibri" pitchFamily="34" charset="-122"/>
                <a:cs typeface="Calibri" pitchFamily="34" charset="-120"/>
              </a:rPr>
              <a:t>Umugore uva amaraso adasanzwe, ufite ububabare cyangwa usohora ibintu bidasanzwe agomba kujya ku kigo nderabuzima. Kwifatira igipimo si byo bikwiye kuri we.</a:t>
            </a:r>
            <a:endParaRPr lang="rw-RW" sz="1500" dirty="0"/>
          </a:p>
        </p:txBody>
      </p:sp>
      <p:sp>
        <p:nvSpPr>
          <p:cNvPr id="16" name="Text 16"/>
          <p:cNvSpPr txBox="1"/>
          <p:nvPr/>
        </p:nvSpPr>
        <p:spPr>
          <a:xfrm>
            <a:off x="566928" y="6345936"/>
            <a:ext cx="7315200" cy="274320"/>
          </a:xfrm>
          <a:prstGeom prst="rect">
            <a:avLst/>
          </a:prstGeom>
          <a:noFill/>
          <a:ln/>
        </p:spPr>
        <p:txBody>
          <a:bodyPr wrap="square" lIns="0" tIns="0" rIns="0" bIns="0" rtlCol="0" anchor="ctr"/>
          <a:lstStyle/>
          <a:p>
            <a:pPr marL="0" indent="0" algn="l">
              <a:buNone/>
            </a:pPr>
            <a:r>
              <a:rPr lang="rw-RW" sz="900" noProof="0" dirty="0">
                <a:solidFill>
                  <a:srgbClr val="777D86"/>
                </a:solidFill>
                <a:latin typeface="Calibri" pitchFamily="34" charset="0"/>
                <a:ea typeface="Calibri" pitchFamily="34" charset="-122"/>
                <a:cs typeface="Calibri" pitchFamily="34" charset="-120"/>
              </a:rPr>
              <a:t>Kanseri y'inkondo y'umura  |  Umujyanama w'Ubuzima  |  Ikigo cy'Igihugu Gishinzwe Ubuzima</a:t>
            </a:r>
            <a:endParaRPr lang="rw-RW" sz="900" dirty="0"/>
          </a:p>
        </p:txBody>
      </p:sp>
      <p:sp>
        <p:nvSpPr>
          <p:cNvPr id="17" name="Text 17"/>
          <p:cNvSpPr txBox="1"/>
          <p:nvPr/>
        </p:nvSpPr>
        <p:spPr>
          <a:xfrm>
            <a:off x="8881841" y="6345936"/>
            <a:ext cx="2743200" cy="274320"/>
          </a:xfrm>
          <a:prstGeom prst="rect">
            <a:avLst/>
          </a:prstGeom>
          <a:noFill/>
          <a:ln/>
        </p:spPr>
        <p:txBody>
          <a:bodyPr wrap="square" lIns="0" tIns="0" rIns="0" bIns="0" rtlCol="0" anchor="ctr"/>
          <a:lstStyle/>
          <a:p>
            <a:pPr marL="0" indent="0" algn="r">
              <a:buNone/>
            </a:pPr>
            <a:r>
              <a:rPr lang="rw-RW" sz="900" noProof="0" dirty="0">
                <a:solidFill>
                  <a:srgbClr val="777D86"/>
                </a:solidFill>
                <a:latin typeface="Calibri" pitchFamily="34" charset="0"/>
                <a:ea typeface="Calibri" pitchFamily="34" charset="-122"/>
                <a:cs typeface="Calibri" pitchFamily="34" charset="-120"/>
              </a:rPr>
              <a:t>Urupapuro rwa 85</a:t>
            </a:r>
            <a:endParaRPr lang="rw-RW" sz="900" dirty="0"/>
          </a:p>
        </p:txBody>
      </p:sp>
      <p:pic>
        <p:nvPicPr>
          <p:cNvPr id="18" name="Imagen 17">
            <a:extLst>
              <a:ext uri="{FF2B5EF4-FFF2-40B4-BE49-F238E27FC236}">
                <a16:creationId xmlns:a16="http://schemas.microsoft.com/office/drawing/2014/main" id="{665BB0FC-951C-6482-3F0B-2CAC10C9E618}"/>
              </a:ext>
            </a:extLst>
          </p:cNvPr>
          <p:cNvPicPr>
            <a:picLocks noChangeAspect="1"/>
          </p:cNvPicPr>
          <p:nvPr/>
        </p:nvPicPr>
        <p:blipFill>
          <a:blip r:embed="rId2"/>
          <a:stretch>
            <a:fillRect/>
          </a:stretch>
        </p:blipFill>
        <p:spPr>
          <a:xfrm>
            <a:off x="4924705" y="1134170"/>
            <a:ext cx="5914845" cy="394323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65760"/>
            <a:ext cx="11058113" cy="161583"/>
          </a:xfrm>
          <a:prstGeom prst="rect">
            <a:avLst/>
          </a:prstGeom>
          <a:noFill/>
          <a:ln/>
        </p:spPr>
        <p:txBody>
          <a:bodyPr wrap="square" lIns="0" tIns="0" rIns="0" bIns="0" rtlCol="0" anchor="ctr"/>
          <a:lstStyle/>
          <a:p>
            <a:pPr marL="0" indent="0" algn="l">
              <a:buNone/>
            </a:pPr>
            <a:r>
              <a:rPr lang="rw-RW" sz="1050" b="1" noProof="0" dirty="0">
                <a:solidFill>
                  <a:srgbClr val="1F4E96"/>
                </a:solidFill>
                <a:latin typeface="Calibri" pitchFamily="34" charset="0"/>
                <a:ea typeface="Calibri" pitchFamily="34" charset="-122"/>
                <a:cs typeface="Calibri" pitchFamily="34" charset="-120"/>
              </a:rPr>
              <a:t>I G I C E   C Y A   3   ·   I M Y I T O Z O</a:t>
            </a:r>
            <a:endParaRPr lang="rw-RW" sz="1050" dirty="0"/>
          </a:p>
        </p:txBody>
      </p:sp>
      <p:sp>
        <p:nvSpPr>
          <p:cNvPr id="3" name="Text 3"/>
          <p:cNvSpPr txBox="1"/>
          <p:nvPr/>
        </p:nvSpPr>
        <p:spPr>
          <a:xfrm>
            <a:off x="566928" y="713232"/>
            <a:ext cx="11058113" cy="777240"/>
          </a:xfrm>
          <a:prstGeom prst="rect">
            <a:avLst/>
          </a:prstGeom>
          <a:noFill/>
          <a:ln/>
        </p:spPr>
        <p:txBody>
          <a:bodyPr wrap="square" lIns="0" tIns="0" rIns="0" bIns="0" rtlCol="0" anchor="ctr"/>
          <a:lstStyle/>
          <a:p>
            <a:pPr marL="0" indent="0">
              <a:buNone/>
            </a:pPr>
            <a:r>
              <a:rPr lang="rw-RW" sz="3400" b="1" noProof="0" dirty="0">
                <a:solidFill>
                  <a:srgbClr val="10305A"/>
                </a:solidFill>
                <a:latin typeface="Cambria" pitchFamily="34" charset="0"/>
                <a:ea typeface="Cambria" pitchFamily="34" charset="-122"/>
                <a:cs typeface="Cambria" pitchFamily="34" charset="-120"/>
              </a:rPr>
              <a:t>Ni gute wamufasha?</a:t>
            </a:r>
          </a:p>
        </p:txBody>
      </p:sp>
      <p:sp>
        <p:nvSpPr>
          <p:cNvPr id="4" name="Text 4"/>
          <p:cNvSpPr txBox="1"/>
          <p:nvPr/>
        </p:nvSpPr>
        <p:spPr>
          <a:xfrm>
            <a:off x="566928" y="1540000"/>
            <a:ext cx="11055096" cy="950000"/>
          </a:xfrm>
          <a:prstGeom prst="rect">
            <a:avLst/>
          </a:prstGeom>
          <a:noFill/>
          <a:ln/>
        </p:spPr>
        <p:txBody>
          <a:bodyPr wrap="square" lIns="0" tIns="0" rIns="0" bIns="0" rtlCol="0" anchor="ctr"/>
          <a:lstStyle/>
          <a:p>
            <a:pPr marL="0" indent="0" algn="l">
              <a:buNone/>
            </a:pPr>
            <a:r>
              <a:rPr lang="rw-RW" sz="1800" b="1" noProof="0" dirty="0">
                <a:solidFill>
                  <a:srgbClr val="1A1A1A"/>
                </a:solidFill>
                <a:latin typeface="Calibri" pitchFamily="34" charset="0"/>
                <a:ea typeface="Calibri" pitchFamily="34" charset="-122"/>
                <a:cs typeface="Calibri" pitchFamily="34" charset="-120"/>
              </a:rPr>
              <a:t>Mu gusura ingo, uhura na Uwimana Vestine w'imyaka 38. Ntiyigeze asuzumwa. Avuga ko agira isoni zo gusuzumwa ku kigo nderabuzima. Nta kimenyetso afite. Ni iki wakora?</a:t>
            </a:r>
            <a:endParaRPr lang="rw-RW" sz="1800" dirty="0"/>
          </a:p>
        </p:txBody>
      </p:sp>
      <p:sp>
        <p:nvSpPr>
          <p:cNvPr id="7" name="Shape 7"/>
          <p:cNvSpPr/>
          <p:nvPr/>
        </p:nvSpPr>
        <p:spPr>
          <a:xfrm>
            <a:off x="566928" y="2580000"/>
            <a:ext cx="11055096" cy="540000"/>
          </a:xfrm>
          <a:prstGeom prst="roundRect">
            <a:avLst>
              <a:gd name="adj" fmla="val 3000"/>
            </a:avLst>
          </a:prstGeom>
          <a:solidFill>
            <a:srgbClr val="EAF7F0"/>
          </a:solidFill>
          <a:ln w="12700">
            <a:solidFill>
              <a:srgbClr val="C0D4CB"/>
            </a:solidFill>
          </a:ln>
        </p:spPr>
        <p:txBody>
          <a:bodyPr/>
          <a:lstStyle/>
          <a:p>
            <a:endParaRPr lang="rw-RW" sz="1600" dirty="0"/>
          </a:p>
        </p:txBody>
      </p:sp>
      <p:sp>
        <p:nvSpPr>
          <p:cNvPr id="8" name="Text 8"/>
          <p:cNvSpPr txBox="1"/>
          <p:nvPr/>
        </p:nvSpPr>
        <p:spPr>
          <a:xfrm>
            <a:off x="841248" y="2580000"/>
            <a:ext cx="10506456" cy="540000"/>
          </a:xfrm>
          <a:prstGeom prst="rect">
            <a:avLst/>
          </a:prstGeom>
          <a:noFill/>
          <a:ln/>
        </p:spPr>
        <p:txBody>
          <a:bodyPr wrap="square" lIns="0" tIns="0" rIns="0" bIns="0" rtlCol="0" anchor="ctr"/>
          <a:lstStyle/>
          <a:p>
            <a:pPr marL="0" indent="0" algn="l">
              <a:buNone/>
            </a:pPr>
            <a:r>
              <a:rPr lang="rw-RW" sz="1700" b="1" noProof="0" dirty="0">
                <a:solidFill>
                  <a:srgbClr val="19543E"/>
                </a:solidFill>
                <a:latin typeface="Calibri" pitchFamily="34" charset="0"/>
                <a:ea typeface="Calibri" pitchFamily="34" charset="-122"/>
                <a:cs typeface="Calibri" pitchFamily="34" charset="-120"/>
              </a:rPr>
              <a:t>A   </a:t>
            </a:r>
            <a:r>
              <a:rPr lang="rw-RW" sz="1700" noProof="0" dirty="0">
                <a:solidFill>
                  <a:srgbClr val="1A1A1A"/>
                </a:solidFill>
                <a:latin typeface="Calibri" pitchFamily="34" charset="0"/>
                <a:ea typeface="Calibri" pitchFamily="34" charset="-122"/>
                <a:cs typeface="Calibri" pitchFamily="34" charset="-120"/>
              </a:rPr>
              <a:t>Kumusobanurira uko yifatira igipimo cya HPV, kumuha ibikoresho n'amabwiriza, hanyuma ugakusanya igipimo ukakigeza ku kigo nderabuzima   ✅</a:t>
            </a:r>
            <a:endParaRPr lang="rw-RW" sz="1700" dirty="0"/>
          </a:p>
        </p:txBody>
      </p:sp>
      <p:sp>
        <p:nvSpPr>
          <p:cNvPr id="5" name="Shape 5"/>
          <p:cNvSpPr/>
          <p:nvPr/>
        </p:nvSpPr>
        <p:spPr>
          <a:xfrm>
            <a:off x="566928" y="3190000"/>
            <a:ext cx="11055096" cy="54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6" name="Text 6"/>
          <p:cNvSpPr txBox="1"/>
          <p:nvPr/>
        </p:nvSpPr>
        <p:spPr>
          <a:xfrm>
            <a:off x="841248" y="3190000"/>
            <a:ext cx="10506456" cy="540000"/>
          </a:xfrm>
          <a:prstGeom prst="rect">
            <a:avLst/>
          </a:prstGeom>
          <a:noFill/>
          <a:ln/>
        </p:spPr>
        <p:txBody>
          <a:bodyPr wrap="square" lIns="0" tIns="0" rIns="0" bIns="0" rtlCol="0" anchor="ctr"/>
          <a:lstStyle/>
          <a:p>
            <a:pPr marL="0" indent="0" algn="l">
              <a:buNone/>
            </a:pPr>
            <a:r>
              <a:rPr lang="rw-RW" sz="1700" b="1" noProof="0" dirty="0">
                <a:solidFill>
                  <a:srgbClr val="1F4E96"/>
                </a:solidFill>
                <a:latin typeface="Calibri" pitchFamily="34" charset="0"/>
                <a:ea typeface="Calibri" pitchFamily="34" charset="-122"/>
                <a:cs typeface="Calibri" pitchFamily="34" charset="-120"/>
              </a:rPr>
              <a:t>B   </a:t>
            </a:r>
            <a:r>
              <a:rPr lang="rw-RW" sz="1700" noProof="0" dirty="0">
                <a:solidFill>
                  <a:srgbClr val="1A1A1A"/>
                </a:solidFill>
                <a:latin typeface="Calibri" pitchFamily="34" charset="0"/>
                <a:ea typeface="Calibri" pitchFamily="34" charset="-122"/>
                <a:cs typeface="Calibri" pitchFamily="34" charset="-120"/>
              </a:rPr>
              <a:t>Kumubwira ko atagomba kwisuzumisha kuko nta kimenyetso afite</a:t>
            </a:r>
            <a:endParaRPr lang="rw-RW" sz="1700" dirty="0"/>
          </a:p>
        </p:txBody>
      </p:sp>
      <p:sp>
        <p:nvSpPr>
          <p:cNvPr id="9" name="Shape 9"/>
          <p:cNvSpPr/>
          <p:nvPr/>
        </p:nvSpPr>
        <p:spPr>
          <a:xfrm>
            <a:off x="566928" y="3800000"/>
            <a:ext cx="11055096" cy="54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0" name="Text 10"/>
          <p:cNvSpPr txBox="1"/>
          <p:nvPr/>
        </p:nvSpPr>
        <p:spPr>
          <a:xfrm>
            <a:off x="841248" y="3800000"/>
            <a:ext cx="10506456" cy="540000"/>
          </a:xfrm>
          <a:prstGeom prst="rect">
            <a:avLst/>
          </a:prstGeom>
          <a:noFill/>
          <a:ln/>
        </p:spPr>
        <p:txBody>
          <a:bodyPr wrap="square" lIns="0" tIns="0" rIns="0" bIns="0" rtlCol="0" anchor="ctr"/>
          <a:lstStyle/>
          <a:p>
            <a:pPr marL="0" indent="0" algn="l">
              <a:buNone/>
            </a:pPr>
            <a:r>
              <a:rPr lang="rw-RW" sz="1700" b="1" noProof="0" dirty="0">
                <a:solidFill>
                  <a:srgbClr val="1F4E96"/>
                </a:solidFill>
                <a:latin typeface="Calibri" pitchFamily="34" charset="0"/>
                <a:ea typeface="Calibri" pitchFamily="34" charset="-122"/>
                <a:cs typeface="Calibri" pitchFamily="34" charset="-120"/>
              </a:rPr>
              <a:t>C   </a:t>
            </a:r>
            <a:r>
              <a:rPr lang="rw-RW" sz="1700" noProof="0" dirty="0">
                <a:solidFill>
                  <a:srgbClr val="1A1A1A"/>
                </a:solidFill>
                <a:latin typeface="Calibri" pitchFamily="34" charset="0"/>
                <a:ea typeface="Calibri" pitchFamily="34" charset="-122"/>
                <a:cs typeface="Calibri" pitchFamily="34" charset="-120"/>
              </a:rPr>
              <a:t>Kumufatira igipimo wowe ubwawe</a:t>
            </a:r>
            <a:endParaRPr lang="rw-RW" sz="1700" dirty="0"/>
          </a:p>
        </p:txBody>
      </p:sp>
      <p:sp>
        <p:nvSpPr>
          <p:cNvPr id="11" name="Shape 11"/>
          <p:cNvSpPr/>
          <p:nvPr/>
        </p:nvSpPr>
        <p:spPr>
          <a:xfrm>
            <a:off x="566928" y="4410000"/>
            <a:ext cx="11055096" cy="540000"/>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12" name="Text 12"/>
          <p:cNvSpPr txBox="1"/>
          <p:nvPr/>
        </p:nvSpPr>
        <p:spPr>
          <a:xfrm>
            <a:off x="841248" y="4410000"/>
            <a:ext cx="10506456" cy="540000"/>
          </a:xfrm>
          <a:prstGeom prst="rect">
            <a:avLst/>
          </a:prstGeom>
          <a:noFill/>
          <a:ln/>
        </p:spPr>
        <p:txBody>
          <a:bodyPr wrap="square" lIns="0" tIns="0" rIns="0" bIns="0" rtlCol="0" anchor="ctr"/>
          <a:lstStyle/>
          <a:p>
            <a:pPr marL="0" indent="0" algn="l">
              <a:buNone/>
            </a:pPr>
            <a:r>
              <a:rPr lang="rw-RW" sz="1700" b="1" noProof="0" dirty="0">
                <a:solidFill>
                  <a:srgbClr val="1F4E96"/>
                </a:solidFill>
                <a:latin typeface="Calibri" pitchFamily="34" charset="0"/>
                <a:ea typeface="Calibri" pitchFamily="34" charset="-122"/>
                <a:cs typeface="Calibri" pitchFamily="34" charset="-120"/>
              </a:rPr>
              <a:t>D   </a:t>
            </a:r>
            <a:r>
              <a:rPr lang="rw-RW" sz="1700" noProof="0" dirty="0">
                <a:solidFill>
                  <a:srgbClr val="1A1A1A"/>
                </a:solidFill>
                <a:latin typeface="Calibri" pitchFamily="34" charset="0"/>
                <a:ea typeface="Calibri" pitchFamily="34" charset="-122"/>
                <a:cs typeface="Calibri" pitchFamily="34" charset="-120"/>
              </a:rPr>
              <a:t>Kumubwira ngo ategereze kugeza igihe azagira ibimenyetso</a:t>
            </a:r>
            <a:endParaRPr lang="rw-RW" sz="1700" dirty="0"/>
          </a:p>
        </p:txBody>
      </p:sp>
      <p:sp>
        <p:nvSpPr>
          <p:cNvPr id="13" name="Shape 13"/>
          <p:cNvSpPr/>
          <p:nvPr/>
        </p:nvSpPr>
        <p:spPr>
          <a:xfrm>
            <a:off x="566928" y="5080000"/>
            <a:ext cx="11055096" cy="1170000"/>
          </a:xfrm>
          <a:prstGeom prst="roundRect">
            <a:avLst>
              <a:gd name="adj" fmla="val 3000"/>
            </a:avLst>
          </a:prstGeom>
          <a:solidFill>
            <a:srgbClr val="EAF7F0"/>
          </a:solidFill>
          <a:ln w="12700">
            <a:solidFill>
              <a:srgbClr val="C0D4CB"/>
            </a:solidFill>
          </a:ln>
        </p:spPr>
        <p:txBody>
          <a:bodyPr/>
          <a:lstStyle/>
          <a:p>
            <a:endParaRPr lang="rw-RW" sz="1600" dirty="0"/>
          </a:p>
        </p:txBody>
      </p:sp>
      <p:sp>
        <p:nvSpPr>
          <p:cNvPr id="14" name="Text 14"/>
          <p:cNvSpPr txBox="1"/>
          <p:nvPr/>
        </p:nvSpPr>
        <p:spPr>
          <a:xfrm>
            <a:off x="841248" y="5130000"/>
            <a:ext cx="10506456" cy="1070000"/>
          </a:xfrm>
          <a:prstGeom prst="rect">
            <a:avLst/>
          </a:prstGeom>
          <a:noFill/>
          <a:ln/>
        </p:spPr>
        <p:txBody>
          <a:bodyPr wrap="square" lIns="0" tIns="0" rIns="0" bIns="0" rtlCol="0" anchor="ctr"/>
          <a:lstStyle/>
          <a:p>
            <a:pPr marL="0" indent="0" algn="l">
              <a:buNone/>
            </a:pPr>
            <a:r>
              <a:rPr lang="rw-RW" sz="1600" b="1" noProof="0" dirty="0">
                <a:solidFill>
                  <a:srgbClr val="19543E"/>
                </a:solidFill>
                <a:latin typeface="Calibri" pitchFamily="34" charset="0"/>
                <a:ea typeface="Calibri" pitchFamily="34" charset="-122"/>
                <a:cs typeface="Calibri" pitchFamily="34" charset="-120"/>
              </a:rPr>
              <a:t>Igisubizo cy'ukuri: A</a:t>
            </a:r>
            <a:endParaRPr lang="rw-RW" sz="1600" dirty="0"/>
          </a:p>
          <a:p>
            <a:pPr marL="0" indent="0" algn="l">
              <a:buNone/>
            </a:pPr>
            <a:r>
              <a:rPr lang="rw-RW" sz="1600" b="1" noProof="0" dirty="0">
                <a:solidFill>
                  <a:srgbClr val="19543E"/>
                </a:solidFill>
                <a:latin typeface="Calibri" pitchFamily="34" charset="0"/>
                <a:ea typeface="Calibri" pitchFamily="34" charset="-122"/>
                <a:cs typeface="Calibri" pitchFamily="34" charset="-120"/>
              </a:rPr>
              <a:t>Inyunganizi: </a:t>
            </a:r>
            <a:r>
              <a:rPr lang="rw-RW" sz="1600" noProof="0" dirty="0">
                <a:solidFill>
                  <a:srgbClr val="1A1A1A"/>
                </a:solidFill>
                <a:latin typeface="Calibri" pitchFamily="34" charset="0"/>
                <a:ea typeface="Calibri" pitchFamily="34" charset="-122"/>
                <a:cs typeface="Calibri" pitchFamily="34" charset="-120"/>
              </a:rPr>
              <a:t>Kwifatira igipimo bifasha abagore bagira isoni zo gusuzumwa. Umujyanama arigisha, atanga ibikoresho, akusanya igipimo kandi akakigeza ku kigo. Umugore ni we wifatira igipimo, mu ibanga.</a:t>
            </a:r>
            <a:endParaRPr lang="rw-RW" sz="1600" dirty="0"/>
          </a:p>
        </p:txBody>
      </p:sp>
      <p:sp>
        <p:nvSpPr>
          <p:cNvPr id="15" name="Text 15"/>
          <p:cNvSpPr txBox="1"/>
          <p:nvPr/>
        </p:nvSpPr>
        <p:spPr>
          <a:xfrm>
            <a:off x="566928" y="6345936"/>
            <a:ext cx="7315200" cy="274320"/>
          </a:xfrm>
          <a:prstGeom prst="rect">
            <a:avLst/>
          </a:prstGeom>
          <a:noFill/>
          <a:ln/>
        </p:spPr>
        <p:txBody>
          <a:bodyPr wrap="square" lIns="0" tIns="0" rIns="0" bIns="0" rtlCol="0" anchor="ctr"/>
          <a:lstStyle/>
          <a:p>
            <a:pPr marL="0" indent="0" algn="l">
              <a:buNone/>
            </a:pPr>
            <a:r>
              <a:rPr lang="rw-RW" sz="900" noProof="0" dirty="0">
                <a:solidFill>
                  <a:srgbClr val="777D86"/>
                </a:solidFill>
                <a:latin typeface="Calibri" pitchFamily="34" charset="0"/>
                <a:ea typeface="Calibri" pitchFamily="34" charset="-122"/>
                <a:cs typeface="Calibri" pitchFamily="34" charset="-120"/>
              </a:rPr>
              <a:t>Kanseri y'inkondo y'umura  |  Umujyanama w'Ubuzima  |  Ikigo cy'Igihugu Gishinzwe Ubuzima</a:t>
            </a:r>
            <a:endParaRPr lang="rw-RW" sz="900" dirty="0"/>
          </a:p>
        </p:txBody>
      </p:sp>
      <p:sp>
        <p:nvSpPr>
          <p:cNvPr id="16" name="Text 16"/>
          <p:cNvSpPr txBox="1"/>
          <p:nvPr/>
        </p:nvSpPr>
        <p:spPr>
          <a:xfrm>
            <a:off x="8881841" y="6345936"/>
            <a:ext cx="2743200" cy="274320"/>
          </a:xfrm>
          <a:prstGeom prst="rect">
            <a:avLst/>
          </a:prstGeom>
          <a:noFill/>
          <a:ln/>
        </p:spPr>
        <p:txBody>
          <a:bodyPr wrap="square" lIns="0" tIns="0" rIns="0" bIns="0" rtlCol="0" anchor="ctr"/>
          <a:lstStyle/>
          <a:p>
            <a:pPr marL="0" indent="0" algn="r">
              <a:buNone/>
            </a:pPr>
            <a:r>
              <a:rPr lang="rw-RW" sz="900" noProof="0" dirty="0">
                <a:solidFill>
                  <a:srgbClr val="777D86"/>
                </a:solidFill>
                <a:latin typeface="Calibri" pitchFamily="34" charset="0"/>
                <a:ea typeface="Calibri" pitchFamily="34" charset="-122"/>
                <a:cs typeface="Calibri" pitchFamily="34" charset="-120"/>
              </a:rPr>
              <a:t>Urupapuro rwa 86</a:t>
            </a:r>
            <a:endParaRPr lang="rw-RW"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K O H E R E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Akeneye kubonwa mu gihe kingana iki?</a:t>
            </a:r>
          </a:p>
        </p:txBody>
      </p:sp>
      <p:sp>
        <p:nvSpPr>
          <p:cNvPr id="4" name="Rounded Rectangle 3"/>
          <p:cNvSpPr/>
          <p:nvPr/>
        </p:nvSpPr>
        <p:spPr>
          <a:xfrm>
            <a:off x="566928" y="1554480"/>
            <a:ext cx="3503157" cy="3452564"/>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5" name="TextBox 4"/>
          <p:cNvSpPr txBox="1"/>
          <p:nvPr/>
        </p:nvSpPr>
        <p:spPr>
          <a:xfrm>
            <a:off x="786384" y="1755648"/>
            <a:ext cx="3064245" cy="2011680"/>
          </a:xfrm>
          <a:prstGeom prst="rect">
            <a:avLst/>
          </a:prstGeom>
          <a:noFill/>
        </p:spPr>
        <p:txBody>
          <a:bodyPr wrap="square" lIns="0" tIns="0" rIns="0" bIns="0">
            <a:spAutoFit/>
          </a:bodyPr>
          <a:lstStyle/>
          <a:p>
            <a:pPr>
              <a:lnSpc>
                <a:spcPct val="114000"/>
              </a:lnSpc>
              <a:spcAft>
                <a:spcPts val="700"/>
              </a:spcAft>
            </a:pPr>
            <a:r>
              <a:rPr lang="en-GB" sz="1250" b="0" i="0" dirty="0">
                <a:solidFill>
                  <a:srgbClr val="1A1A1A"/>
                </a:solidFill>
                <a:latin typeface="Calibri"/>
              </a:rPr>
              <a:t>🔴  </a:t>
            </a:r>
            <a:r>
              <a:rPr lang="en-GB" sz="1350" b="1" i="0" dirty="0">
                <a:solidFill>
                  <a:srgbClr val="A31D1D"/>
                </a:solidFill>
                <a:latin typeface="Calibri"/>
              </a:rPr>
              <a:t>Uyu munsi</a:t>
            </a:r>
          </a:p>
          <a:p>
            <a:pPr>
              <a:lnSpc>
                <a:spcPct val="114000"/>
              </a:lnSpc>
              <a:spcAft>
                <a:spcPts val="700"/>
              </a:spcAft>
            </a:pPr>
            <a:r>
              <a:rPr lang="en-GB" sz="1350" b="0" i="0" dirty="0">
                <a:solidFill>
                  <a:srgbClr val="1A1A1A"/>
                </a:solidFill>
                <a:latin typeface="Calibri"/>
              </a:rPr>
              <a:t>Kuva amaraso menshi, isereri cyangwa kwitura hasi hamwe no kuva amaraso, ububabare bukabije ku mugore ugaragara ko arembye.</a:t>
            </a:r>
          </a:p>
        </p:txBody>
      </p:sp>
      <p:sp>
        <p:nvSpPr>
          <p:cNvPr id="6" name="Rounded Rectangle 5"/>
          <p:cNvSpPr/>
          <p:nvPr/>
        </p:nvSpPr>
        <p:spPr>
          <a:xfrm>
            <a:off x="4344405" y="1554479"/>
            <a:ext cx="3503157" cy="3452565"/>
          </a:xfrm>
          <a:prstGeom prst="roundRect">
            <a:avLst>
              <a:gd name="adj" fmla="val 4500"/>
            </a:avLst>
          </a:prstGeom>
          <a:solidFill>
            <a:srgbClr val="FFF2DF"/>
          </a:solidFill>
          <a:ln w="12700">
            <a:solidFill>
              <a:srgbClr val="F3D9AE"/>
            </a:solidFill>
          </a:ln>
          <a:effectLst/>
        </p:spPr>
        <p:txBody>
          <a:bodyPr wrap="square" rtlCol="0" anchor="ctr"/>
          <a:lstStyle/>
          <a:p>
            <a:pPr algn="ctr"/>
            <a:endParaRPr lang="en-GB" dirty="0"/>
          </a:p>
        </p:txBody>
      </p:sp>
      <p:sp>
        <p:nvSpPr>
          <p:cNvPr id="7" name="TextBox 6"/>
          <p:cNvSpPr txBox="1"/>
          <p:nvPr/>
        </p:nvSpPr>
        <p:spPr>
          <a:xfrm>
            <a:off x="4563861" y="1755648"/>
            <a:ext cx="3064245" cy="2011680"/>
          </a:xfrm>
          <a:prstGeom prst="rect">
            <a:avLst/>
          </a:prstGeom>
          <a:noFill/>
        </p:spPr>
        <p:txBody>
          <a:bodyPr wrap="square" lIns="0" tIns="0" rIns="0" bIns="0">
            <a:spAutoFit/>
          </a:bodyPr>
          <a:lstStyle/>
          <a:p>
            <a:pPr>
              <a:lnSpc>
                <a:spcPct val="114000"/>
              </a:lnSpc>
              <a:spcAft>
                <a:spcPts val="700"/>
              </a:spcAft>
            </a:pPr>
            <a:r>
              <a:rPr lang="en-GB" sz="1400" b="0" i="0" dirty="0">
                <a:solidFill>
                  <a:srgbClr val="1A1A1A"/>
                </a:solidFill>
                <a:latin typeface="Calibri"/>
              </a:rPr>
              <a:t>🟠  </a:t>
            </a:r>
            <a:r>
              <a:rPr lang="en-GB" sz="1450" b="1" i="0" dirty="0">
                <a:solidFill>
                  <a:srgbClr val="94600B"/>
                </a:solidFill>
                <a:latin typeface="Calibri"/>
              </a:rPr>
              <a:t>Vuba, nta gutegereza</a:t>
            </a:r>
          </a:p>
          <a:p>
            <a:pPr>
              <a:lnSpc>
                <a:spcPct val="114000"/>
              </a:lnSpc>
              <a:spcAft>
                <a:spcPts val="700"/>
              </a:spcAft>
            </a:pPr>
            <a:r>
              <a:rPr lang="en-GB" sz="1450" b="0" i="0" dirty="0">
                <a:solidFill>
                  <a:srgbClr val="1A1A1A"/>
                </a:solidFill>
                <a:latin typeface="Calibri"/>
              </a:rPr>
              <a:t>Kuva amaraso nyuma yo gucura, kuva amaraso nyuma y'imibonano mpuzabitsina, ibisohoka mu gitsina bidashira, igisubizo kivuga ko hakenewe kurebwa neza kurushaho.</a:t>
            </a:r>
          </a:p>
        </p:txBody>
      </p:sp>
      <p:sp>
        <p:nvSpPr>
          <p:cNvPr id="8" name="Rounded Rectangle 7"/>
          <p:cNvSpPr/>
          <p:nvPr/>
        </p:nvSpPr>
        <p:spPr>
          <a:xfrm>
            <a:off x="8121883" y="1554480"/>
            <a:ext cx="3503157" cy="337813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341339" y="1755648"/>
            <a:ext cx="3064245" cy="2011680"/>
          </a:xfrm>
          <a:prstGeom prst="rect">
            <a:avLst/>
          </a:prstGeom>
          <a:noFill/>
        </p:spPr>
        <p:txBody>
          <a:bodyPr wrap="square" lIns="0" tIns="0" rIns="0" bIns="0">
            <a:spAutoFit/>
          </a:bodyPr>
          <a:lstStyle/>
          <a:p>
            <a:pPr>
              <a:lnSpc>
                <a:spcPct val="114000"/>
              </a:lnSpc>
              <a:spcAft>
                <a:spcPts val="700"/>
              </a:spcAft>
            </a:pPr>
            <a:r>
              <a:rPr lang="en-GB" sz="1600" b="0" i="0" dirty="0">
                <a:solidFill>
                  <a:srgbClr val="1A1A1A"/>
                </a:solidFill>
                <a:latin typeface="Calibri"/>
              </a:rPr>
              <a:t>🔵  </a:t>
            </a:r>
            <a:r>
              <a:rPr lang="en-GB" sz="1700" b="1" i="0" dirty="0">
                <a:solidFill>
                  <a:srgbClr val="10305A"/>
                </a:solidFill>
                <a:latin typeface="Calibri"/>
              </a:rPr>
              <a:t>Ku gihe cyateganijwe</a:t>
            </a:r>
          </a:p>
          <a:p>
            <a:pPr>
              <a:lnSpc>
                <a:spcPct val="114000"/>
              </a:lnSpc>
              <a:spcAft>
                <a:spcPts val="700"/>
              </a:spcAft>
            </a:pPr>
            <a:r>
              <a:rPr lang="en-GB" sz="1700" b="0" i="0" dirty="0">
                <a:solidFill>
                  <a:srgbClr val="1A1A1A"/>
                </a:solidFill>
                <a:latin typeface="Calibri"/>
              </a:rPr>
              <a:t>Gahunda y'isuzuma risanzwe, cyangwa gusura ivuriro ukurikiranwa nyuma yo kuvurwa impinduka z'inkondo y'umura.</a:t>
            </a:r>
          </a:p>
        </p:txBody>
      </p:sp>
      <p:sp>
        <p:nvSpPr>
          <p:cNvPr id="10" name="Rounded Rectangle 9"/>
          <p:cNvSpPr/>
          <p:nvPr/>
        </p:nvSpPr>
        <p:spPr>
          <a:xfrm>
            <a:off x="481867" y="5212080"/>
            <a:ext cx="11058113" cy="932688"/>
          </a:xfrm>
          <a:prstGeom prst="roundRect">
            <a:avLst>
              <a:gd name="adj" fmla="val 4500"/>
            </a:avLst>
          </a:prstGeom>
          <a:solidFill>
            <a:srgbClr val="EAF7F0"/>
          </a:solidFill>
          <a:ln w="12700">
            <a:solidFill>
              <a:srgbClr val="C0D4CB"/>
            </a:solidFill>
          </a:ln>
          <a:effectLst/>
        </p:spPr>
        <p:txBody>
          <a:bodyPr wrap="square" rtlCol="0" anchor="ctr"/>
          <a:lstStyle/>
          <a:p>
            <a:pPr algn="ctr"/>
            <a:endParaRPr lang="en-GB" dirty="0"/>
          </a:p>
        </p:txBody>
      </p:sp>
      <p:sp>
        <p:nvSpPr>
          <p:cNvPr id="11" name="TextBox 10"/>
          <p:cNvSpPr txBox="1"/>
          <p:nvPr/>
        </p:nvSpPr>
        <p:spPr>
          <a:xfrm>
            <a:off x="652020" y="5349240"/>
            <a:ext cx="10582625" cy="658368"/>
          </a:xfrm>
          <a:prstGeom prst="rect">
            <a:avLst/>
          </a:prstGeom>
          <a:noFill/>
        </p:spPr>
        <p:txBody>
          <a:bodyPr wrap="square" lIns="0" tIns="0" rIns="0" bIns="0">
            <a:spAutoFit/>
          </a:bodyPr>
          <a:lstStyle/>
          <a:p>
            <a:pPr>
              <a:lnSpc>
                <a:spcPct val="112000"/>
              </a:lnSpc>
            </a:pPr>
            <a:r>
              <a:rPr lang="en-GB" sz="1800" b="1" i="0" dirty="0">
                <a:solidFill>
                  <a:srgbClr val="1C6B3F"/>
                </a:solidFill>
                <a:latin typeface="Calibri"/>
              </a:rPr>
              <a:t>💬 Mu Rwanda:  </a:t>
            </a:r>
            <a:r>
              <a:rPr lang="en-GB" sz="1800" b="0" i="0" dirty="0">
                <a:solidFill>
                  <a:srgbClr val="1A1A1A"/>
                </a:solidFill>
                <a:latin typeface="Calibri"/>
              </a:rPr>
              <a:t>Ibimenyetso byo mu ibara ritukura: ajye ako kanya ku kigo nderabuzima cyangwa ku bitaro biri hafi. Ibyo mu ibara rya orange: agomba kubonwa bitarenze amasaha 48.</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87</a:t>
            </a:r>
          </a:p>
        </p:txBody>
      </p:sp>
      <p:pic>
        <p:nvPicPr>
          <p:cNvPr id="15" name="Picture 14">
            <a:extLst>
              <a:ext uri="{FF2B5EF4-FFF2-40B4-BE49-F238E27FC236}">
                <a16:creationId xmlns:a16="http://schemas.microsoft.com/office/drawing/2014/main" id="{355C5B90-2C17-CD58-5680-C81E8DC8048D}"/>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570505" y="3186684"/>
            <a:ext cx="2181638" cy="1745932"/>
          </a:xfrm>
          <a:prstGeom prst="rect">
            <a:avLst/>
          </a:prstGeom>
        </p:spPr>
      </p:pic>
      <p:pic>
        <p:nvPicPr>
          <p:cNvPr id="17" name="Picture 16">
            <a:extLst>
              <a:ext uri="{FF2B5EF4-FFF2-40B4-BE49-F238E27FC236}">
                <a16:creationId xmlns:a16="http://schemas.microsoft.com/office/drawing/2014/main" id="{C65CEAAF-F92E-DDAB-B24A-E959D96550B6}"/>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5528929" y="3470057"/>
            <a:ext cx="1867403" cy="1494455"/>
          </a:xfrm>
          <a:prstGeom prst="rect">
            <a:avLst/>
          </a:prstGeom>
        </p:spPr>
      </p:pic>
      <p:pic>
        <p:nvPicPr>
          <p:cNvPr id="19" name="Picture 18">
            <a:extLst>
              <a:ext uri="{FF2B5EF4-FFF2-40B4-BE49-F238E27FC236}">
                <a16:creationId xmlns:a16="http://schemas.microsoft.com/office/drawing/2014/main" id="{669CD747-ADCC-EEE0-D597-3E898E419AE7}"/>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9122734" y="3429000"/>
            <a:ext cx="1669563" cy="1418086"/>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K O H E R E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Mbere y'uko agusiga</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Kohereza umugore adashobora gushyira mu bikorwa si ukohereza.</a:t>
            </a:r>
          </a:p>
        </p:txBody>
      </p:sp>
      <p:sp>
        <p:nvSpPr>
          <p:cNvPr id="5" name="Rounded Rectangle 4"/>
          <p:cNvSpPr/>
          <p:nvPr/>
        </p:nvSpPr>
        <p:spPr>
          <a:xfrm>
            <a:off x="566928" y="202996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19181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121408"/>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Vuga izina ry'ivuriro agiyeho, kandi urivuge mu buryo bwumvikana ku buryo ashobora kurisubiramo.</a:t>
            </a:r>
          </a:p>
        </p:txBody>
      </p:sp>
      <p:sp>
        <p:nvSpPr>
          <p:cNvPr id="8" name="Rounded Rectangle 7"/>
          <p:cNvSpPr/>
          <p:nvPr/>
        </p:nvSpPr>
        <p:spPr>
          <a:xfrm>
            <a:off x="566928" y="2847441"/>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009290"/>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2938881"/>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Sobanura mu magambo yoroshye ibizaba nagerayo.</a:t>
            </a:r>
          </a:p>
        </p:txBody>
      </p:sp>
      <p:sp>
        <p:nvSpPr>
          <p:cNvPr id="11" name="Rounded Rectangle 10"/>
          <p:cNvSpPr/>
          <p:nvPr/>
        </p:nvSpPr>
        <p:spPr>
          <a:xfrm>
            <a:off x="566928" y="3664915"/>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3826763"/>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3756355"/>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Mwumvikane umunsi, kandi uwumwandikire niba bibafasha.</a:t>
            </a:r>
          </a:p>
        </p:txBody>
      </p:sp>
      <p:sp>
        <p:nvSpPr>
          <p:cNvPr id="14" name="Rounded Rectangle 13"/>
          <p:cNvSpPr/>
          <p:nvPr/>
        </p:nvSpPr>
        <p:spPr>
          <a:xfrm>
            <a:off x="566928" y="448238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Oval 14"/>
          <p:cNvSpPr/>
          <p:nvPr/>
        </p:nvSpPr>
        <p:spPr>
          <a:xfrm>
            <a:off x="804672" y="464423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6" name="TextBox 15"/>
          <p:cNvSpPr txBox="1"/>
          <p:nvPr/>
        </p:nvSpPr>
        <p:spPr>
          <a:xfrm>
            <a:off x="1389888" y="4573828"/>
            <a:ext cx="9960833" cy="543153"/>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Mubaze mu buryo bweruye icyamubuza kugenda, kandi ukemure ibishobora gukemuka uyu munsi.</a:t>
            </a:r>
          </a:p>
        </p:txBody>
      </p:sp>
      <p:sp>
        <p:nvSpPr>
          <p:cNvPr id="17" name="Rounded Rectangle 16"/>
          <p:cNvSpPr/>
          <p:nvPr/>
        </p:nvSpPr>
        <p:spPr>
          <a:xfrm>
            <a:off x="566928" y="5299862"/>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8" name="Oval 17"/>
          <p:cNvSpPr/>
          <p:nvPr/>
        </p:nvSpPr>
        <p:spPr>
          <a:xfrm>
            <a:off x="804672" y="546171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5</a:t>
            </a:r>
          </a:p>
        </p:txBody>
      </p:sp>
      <p:sp>
        <p:nvSpPr>
          <p:cNvPr id="19" name="TextBox 18"/>
          <p:cNvSpPr txBox="1"/>
          <p:nvPr/>
        </p:nvSpPr>
        <p:spPr>
          <a:xfrm>
            <a:off x="1389888" y="5391302"/>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Mwumvikane igihe uzongera kumubaza amakuru, hanyuma ubikore.</a:t>
            </a:r>
          </a:p>
        </p:txBody>
      </p:sp>
      <p:sp>
        <p:nvSpPr>
          <p:cNvPr id="20" name="TextBox 19"/>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1" name="TextBox 20"/>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88</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K O H E R E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Ibibuza abantu kugenda, n'ibifasha</a:t>
            </a:r>
          </a:p>
        </p:txBody>
      </p:sp>
      <p:sp>
        <p:nvSpPr>
          <p:cNvPr id="4" name="Rounded Rectangle 3"/>
          <p:cNvSpPr/>
          <p:nvPr/>
        </p:nvSpPr>
        <p:spPr>
          <a:xfrm>
            <a:off x="566928" y="1554479"/>
            <a:ext cx="5382752" cy="4142231"/>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5" name="TextBox 4"/>
          <p:cNvSpPr txBox="1"/>
          <p:nvPr/>
        </p:nvSpPr>
        <p:spPr>
          <a:xfrm>
            <a:off x="822960" y="1773936"/>
            <a:ext cx="4870688" cy="365760"/>
          </a:xfrm>
          <a:prstGeom prst="rect">
            <a:avLst/>
          </a:prstGeom>
          <a:noFill/>
        </p:spPr>
        <p:txBody>
          <a:bodyPr wrap="square" lIns="0" tIns="0" rIns="0" bIns="0">
            <a:spAutoFit/>
          </a:bodyPr>
          <a:lstStyle/>
          <a:p>
            <a:r>
              <a:rPr lang="en-GB" sz="1900" b="1" i="0" dirty="0">
                <a:solidFill>
                  <a:srgbClr val="A31D1D"/>
                </a:solidFill>
                <a:latin typeface="Calibri"/>
              </a:rPr>
              <a:t>🔴  Ibibuza abantu</a:t>
            </a:r>
          </a:p>
        </p:txBody>
      </p:sp>
      <p:sp>
        <p:nvSpPr>
          <p:cNvPr id="6" name="TextBox 5"/>
          <p:cNvSpPr txBox="1"/>
          <p:nvPr/>
        </p:nvSpPr>
        <p:spPr>
          <a:xfrm>
            <a:off x="822960" y="2267712"/>
            <a:ext cx="4870688" cy="2331720"/>
          </a:xfrm>
          <a:prstGeom prst="rect">
            <a:avLst/>
          </a:prstGeom>
          <a:noFill/>
        </p:spPr>
        <p:txBody>
          <a:bodyPr wrap="square" lIns="0" tIns="0" rIns="0" bIns="0">
            <a:spAutoFit/>
          </a:bodyPr>
          <a:lstStyle/>
          <a:p>
            <a:pPr>
              <a:lnSpc>
                <a:spcPct val="112000"/>
              </a:lnSpc>
              <a:spcAft>
                <a:spcPts val="800"/>
              </a:spcAft>
            </a:pPr>
            <a:r>
              <a:rPr lang="en-GB" sz="1800" b="0" i="0" dirty="0">
                <a:solidFill>
                  <a:srgbClr val="1A1A1A"/>
                </a:solidFill>
                <a:latin typeface="Calibri"/>
              </a:rPr>
              <a:t>•   Ikiguzi n'igihe by'urugendo.</a:t>
            </a:r>
          </a:p>
          <a:p>
            <a:pPr>
              <a:lnSpc>
                <a:spcPct val="112000"/>
              </a:lnSpc>
              <a:spcAft>
                <a:spcPts val="800"/>
              </a:spcAft>
            </a:pPr>
            <a:r>
              <a:rPr lang="en-GB" sz="1800" b="0" i="0" dirty="0">
                <a:solidFill>
                  <a:srgbClr val="1A1A1A"/>
                </a:solidFill>
                <a:latin typeface="Calibri"/>
              </a:rPr>
              <a:t>•   Umunsi w'akazi cyangwa w'ubucuruzi utakaye.</a:t>
            </a:r>
          </a:p>
          <a:p>
            <a:pPr>
              <a:lnSpc>
                <a:spcPct val="112000"/>
              </a:lnSpc>
              <a:spcAft>
                <a:spcPts val="800"/>
              </a:spcAft>
            </a:pPr>
            <a:r>
              <a:rPr lang="en-GB" sz="1800" b="0" i="0" dirty="0">
                <a:solidFill>
                  <a:srgbClr val="1A1A1A"/>
                </a:solidFill>
                <a:latin typeface="Calibri"/>
              </a:rPr>
              <a:t>•   Kutagira umuntu wita ku bana.</a:t>
            </a:r>
          </a:p>
          <a:p>
            <a:pPr>
              <a:lnSpc>
                <a:spcPct val="112000"/>
              </a:lnSpc>
              <a:spcAft>
                <a:spcPts val="800"/>
              </a:spcAft>
            </a:pPr>
            <a:r>
              <a:rPr lang="en-GB" sz="1800" b="0" i="0" dirty="0">
                <a:solidFill>
                  <a:srgbClr val="1A1A1A"/>
                </a:solidFill>
                <a:latin typeface="Calibri"/>
              </a:rPr>
              <a:t>•   Ubwoba bw'ibizabonwa.</a:t>
            </a:r>
          </a:p>
          <a:p>
            <a:pPr>
              <a:lnSpc>
                <a:spcPct val="112000"/>
              </a:lnSpc>
              <a:spcAft>
                <a:spcPts val="800"/>
              </a:spcAft>
            </a:pPr>
            <a:r>
              <a:rPr lang="en-GB" sz="1800" b="0" i="0" dirty="0">
                <a:solidFill>
                  <a:srgbClr val="1A1A1A"/>
                </a:solidFill>
                <a:latin typeface="Calibri"/>
              </a:rPr>
              <a:t>•   Ipfunwe ryo gusuzumwa.</a:t>
            </a:r>
          </a:p>
          <a:p>
            <a:pPr>
              <a:lnSpc>
                <a:spcPct val="112000"/>
              </a:lnSpc>
              <a:spcAft>
                <a:spcPts val="800"/>
              </a:spcAft>
            </a:pPr>
            <a:r>
              <a:rPr lang="en-GB" sz="1800" b="0" i="0" dirty="0">
                <a:solidFill>
                  <a:srgbClr val="1A1A1A"/>
                </a:solidFill>
                <a:latin typeface="Calibri"/>
              </a:rPr>
              <a:t>•   Kutamenya aho bajya cyangwa ibiba.</a:t>
            </a:r>
          </a:p>
        </p:txBody>
      </p:sp>
      <p:sp>
        <p:nvSpPr>
          <p:cNvPr id="7" name="Rounded Rectangle 6"/>
          <p:cNvSpPr/>
          <p:nvPr/>
        </p:nvSpPr>
        <p:spPr>
          <a:xfrm>
            <a:off x="6242288" y="1554480"/>
            <a:ext cx="5382752" cy="414223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6498320" y="1773936"/>
            <a:ext cx="4870688" cy="365760"/>
          </a:xfrm>
          <a:prstGeom prst="rect">
            <a:avLst/>
          </a:prstGeom>
          <a:noFill/>
        </p:spPr>
        <p:txBody>
          <a:bodyPr wrap="square" lIns="0" tIns="0" rIns="0" bIns="0">
            <a:spAutoFit/>
          </a:bodyPr>
          <a:lstStyle/>
          <a:p>
            <a:r>
              <a:rPr lang="en-GB" sz="1450" b="1" i="0" dirty="0">
                <a:solidFill>
                  <a:srgbClr val="1C6B3F"/>
                </a:solidFill>
                <a:latin typeface="Calibri"/>
              </a:rPr>
              <a:t>🟢  Ibyo umujyanama w'ubuzima ashobora gukora</a:t>
            </a:r>
          </a:p>
        </p:txBody>
      </p:sp>
      <p:sp>
        <p:nvSpPr>
          <p:cNvPr id="9" name="TextBox 8"/>
          <p:cNvSpPr txBox="1"/>
          <p:nvPr/>
        </p:nvSpPr>
        <p:spPr>
          <a:xfrm>
            <a:off x="6498320" y="2267712"/>
            <a:ext cx="4870688" cy="2331720"/>
          </a:xfrm>
          <a:prstGeom prst="rect">
            <a:avLst/>
          </a:prstGeom>
          <a:noFill/>
        </p:spPr>
        <p:txBody>
          <a:bodyPr wrap="square" lIns="0" tIns="0" rIns="0" bIns="0">
            <a:spAutoFit/>
          </a:bodyPr>
          <a:lstStyle/>
          <a:p>
            <a:pPr>
              <a:lnSpc>
                <a:spcPct val="112000"/>
              </a:lnSpc>
              <a:spcAft>
                <a:spcPts val="800"/>
              </a:spcAft>
            </a:pPr>
            <a:r>
              <a:rPr lang="en-GB" sz="1800" b="0" i="0" dirty="0">
                <a:solidFill>
                  <a:srgbClr val="1A1A1A"/>
                </a:solidFill>
                <a:latin typeface="Calibri"/>
              </a:rPr>
              <a:t>•   Gutegura umunsi hagendewe ku minsi y'akazi n'iy'isoko.</a:t>
            </a:r>
          </a:p>
          <a:p>
            <a:pPr>
              <a:lnSpc>
                <a:spcPct val="112000"/>
              </a:lnSpc>
              <a:spcAft>
                <a:spcPts val="800"/>
              </a:spcAft>
            </a:pPr>
            <a:r>
              <a:rPr lang="en-GB" sz="1800" b="0" i="0" dirty="0">
                <a:solidFill>
                  <a:srgbClr val="1A1A1A"/>
                </a:solidFill>
                <a:latin typeface="Calibri"/>
              </a:rPr>
              <a:t>•   Gufasha gutegura uburyo bw'urugendo cyangwa umuherekeza.</a:t>
            </a:r>
          </a:p>
          <a:p>
            <a:pPr>
              <a:lnSpc>
                <a:spcPct val="112000"/>
              </a:lnSpc>
              <a:spcAft>
                <a:spcPts val="800"/>
              </a:spcAft>
            </a:pPr>
            <a:r>
              <a:rPr lang="en-GB" sz="1800" b="0" i="0" dirty="0">
                <a:solidFill>
                  <a:srgbClr val="1A1A1A"/>
                </a:solidFill>
                <a:latin typeface="Calibri"/>
              </a:rPr>
              <a:t>•   Gufasha gutegura uwita ku bana.</a:t>
            </a:r>
          </a:p>
          <a:p>
            <a:pPr>
              <a:lnSpc>
                <a:spcPct val="112000"/>
              </a:lnSpc>
              <a:spcAft>
                <a:spcPts val="800"/>
              </a:spcAft>
            </a:pPr>
            <a:r>
              <a:rPr lang="en-GB" sz="1800" b="0" i="0" dirty="0">
                <a:solidFill>
                  <a:srgbClr val="1A1A1A"/>
                </a:solidFill>
                <a:latin typeface="Calibri"/>
              </a:rPr>
              <a:t>•   Gusobanura uko isuzuma rimeze koko.</a:t>
            </a:r>
          </a:p>
          <a:p>
            <a:pPr>
              <a:lnSpc>
                <a:spcPct val="112000"/>
              </a:lnSpc>
              <a:spcAft>
                <a:spcPts val="800"/>
              </a:spcAft>
            </a:pPr>
            <a:r>
              <a:rPr lang="en-GB" sz="1800" b="0" i="0" dirty="0">
                <a:solidFill>
                  <a:srgbClr val="1A1A1A"/>
                </a:solidFill>
                <a:latin typeface="Calibri"/>
              </a:rPr>
              <a:t>•   Kuvugira mu ibanga kandi ntuzigere uvugira imbere y'abandi.</a:t>
            </a:r>
          </a:p>
          <a:p>
            <a:pPr>
              <a:lnSpc>
                <a:spcPct val="112000"/>
              </a:lnSpc>
              <a:spcAft>
                <a:spcPts val="800"/>
              </a:spcAft>
            </a:pPr>
            <a:r>
              <a:rPr lang="en-GB" sz="1800" b="0" i="0" dirty="0">
                <a:solidFill>
                  <a:srgbClr val="1A1A1A"/>
                </a:solidFill>
                <a:latin typeface="Calibri"/>
              </a:rPr>
              <a:t>•   Kuvuga izina ry'ivuriro no gusobanura ibihabera.</a:t>
            </a:r>
          </a:p>
        </p:txBody>
      </p:sp>
      <p:sp>
        <p:nvSpPr>
          <p:cNvPr id="10" name="TextBox 9"/>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1" name="TextBox 10"/>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89</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K U G A N I R A   N ' A B A N T U</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Gutega amatwi neza</a:t>
            </a:r>
          </a:p>
        </p:txBody>
      </p:sp>
      <p:sp>
        <p:nvSpPr>
          <p:cNvPr id="4" name="Rounded Rectangle 3"/>
          <p:cNvSpPr/>
          <p:nvPr/>
        </p:nvSpPr>
        <p:spPr>
          <a:xfrm>
            <a:off x="566928" y="155448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4650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548640"/>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Banza utege amatwi.  </a:t>
            </a:r>
            <a:r>
              <a:rPr lang="en-GB" sz="1800" b="0" i="0" dirty="0">
                <a:solidFill>
                  <a:srgbClr val="1A1A1A"/>
                </a:solidFill>
                <a:latin typeface="Calibri"/>
              </a:rPr>
              <a:t>Reka umuntu avuge ikimuhangayikishije mbere y'uko ugira icyo usobanura.</a:t>
            </a:r>
          </a:p>
        </p:txBody>
      </p:sp>
      <p:sp>
        <p:nvSpPr>
          <p:cNvPr id="7" name="Rounded Rectangle 6"/>
          <p:cNvSpPr/>
          <p:nvPr/>
        </p:nvSpPr>
        <p:spPr>
          <a:xfrm>
            <a:off x="566928" y="237744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56946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468880"/>
            <a:ext cx="9960833" cy="548640"/>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Ntugace urubanza.  </a:t>
            </a:r>
            <a:r>
              <a:rPr lang="en-GB" sz="1800" b="0" i="0" dirty="0">
                <a:solidFill>
                  <a:srgbClr val="1A1A1A"/>
                </a:solidFill>
                <a:latin typeface="Calibri"/>
              </a:rPr>
              <a:t>Nta mugore ukwiye gushinjwa iyi ndwara, kandi kubivuga mu ijwi riranguruye birafasha.</a:t>
            </a:r>
          </a:p>
        </p:txBody>
      </p:sp>
      <p:sp>
        <p:nvSpPr>
          <p:cNvPr id="10" name="Rounded Rectangle 9"/>
          <p:cNvSpPr/>
          <p:nvPr/>
        </p:nvSpPr>
        <p:spPr>
          <a:xfrm>
            <a:off x="566928" y="320040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39242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291840"/>
            <a:ext cx="9960833" cy="548640"/>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Bigire ibanga.  </a:t>
            </a:r>
            <a:r>
              <a:rPr lang="en-GB" sz="1800" b="0" i="0" dirty="0">
                <a:solidFill>
                  <a:srgbClr val="1A1A1A"/>
                </a:solidFill>
                <a:latin typeface="Calibri"/>
              </a:rPr>
              <a:t>Vugira aho abandi batakumva, kandi ibyo akubwiye ubigumane.</a:t>
            </a:r>
          </a:p>
        </p:txBody>
      </p:sp>
      <p:sp>
        <p:nvSpPr>
          <p:cNvPr id="13" name="Rounded Rectangle 12"/>
          <p:cNvSpPr/>
          <p:nvPr/>
        </p:nvSpPr>
        <p:spPr>
          <a:xfrm>
            <a:off x="566928" y="402336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21538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114800"/>
            <a:ext cx="9960833" cy="548640"/>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Ba inyangamugayo.  </a:t>
            </a:r>
            <a:r>
              <a:rPr lang="en-GB" sz="1800" b="0" i="0" dirty="0">
                <a:solidFill>
                  <a:srgbClr val="1A1A1A"/>
                </a:solidFill>
                <a:latin typeface="Calibri"/>
              </a:rPr>
              <a:t>Ntugasezeranye igisubizo. Sobanura ibizwi, n'icyo intambwe ikurikira igamije.</a:t>
            </a:r>
          </a:p>
        </p:txBody>
      </p:sp>
      <p:sp>
        <p:nvSpPr>
          <p:cNvPr id="16" name="Rounded Rectangle 15"/>
          <p:cNvSpPr/>
          <p:nvPr/>
        </p:nvSpPr>
        <p:spPr>
          <a:xfrm>
            <a:off x="566928" y="484632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TextBox 16"/>
          <p:cNvSpPr txBox="1"/>
          <p:nvPr/>
        </p:nvSpPr>
        <p:spPr>
          <a:xfrm>
            <a:off x="822960" y="503834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8" name="TextBox 17"/>
          <p:cNvSpPr txBox="1"/>
          <p:nvPr/>
        </p:nvSpPr>
        <p:spPr>
          <a:xfrm>
            <a:off x="1389888" y="4937759"/>
            <a:ext cx="9960833" cy="548640"/>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Soza ufite igikorwa.  </a:t>
            </a:r>
            <a:r>
              <a:rPr lang="en-GB" sz="1800" b="0" i="0" dirty="0">
                <a:solidFill>
                  <a:srgbClr val="1A1A1A"/>
                </a:solidFill>
                <a:latin typeface="Calibri"/>
              </a:rPr>
              <a:t>Buri kiganiro kigomba gusozwa n'intambwe imwe ikurikira isobanutse yemeye.</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90</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U B U J Y A N A M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800" b="1" i="0" dirty="0">
                <a:solidFill>
                  <a:srgbClr val="10305A"/>
                </a:solidFill>
                <a:latin typeface="Cambria"/>
              </a:rPr>
              <a:t>"Mfite ubwoba ko bazasanga mfite kanseri"</a:t>
            </a:r>
          </a:p>
        </p:txBody>
      </p:sp>
      <p:sp>
        <p:nvSpPr>
          <p:cNvPr id="4" name="TextBox 3"/>
          <p:cNvSpPr txBox="1"/>
          <p:nvPr/>
        </p:nvSpPr>
        <p:spPr>
          <a:xfrm>
            <a:off x="566928" y="1517904"/>
            <a:ext cx="11058113" cy="320040"/>
          </a:xfrm>
          <a:prstGeom prst="rect">
            <a:avLst/>
          </a:prstGeom>
          <a:noFill/>
        </p:spPr>
        <p:txBody>
          <a:bodyPr wrap="square" lIns="0" tIns="0" rIns="0" bIns="0">
            <a:spAutoFit/>
          </a:bodyPr>
          <a:lstStyle/>
          <a:p>
            <a:r>
              <a:rPr lang="en-GB" sz="1700" b="0" i="1" dirty="0">
                <a:solidFill>
                  <a:srgbClr val="1F4E96"/>
                </a:solidFill>
                <a:latin typeface="Calibri"/>
              </a:rPr>
              <a:t>💬  Hitamo igisubizo cy'ukuri kandi gifasha.</a:t>
            </a:r>
          </a:p>
        </p:txBody>
      </p:sp>
      <p:sp>
        <p:nvSpPr>
          <p:cNvPr id="5" name="TextBox 4"/>
          <p:cNvSpPr txBox="1"/>
          <p:nvPr/>
        </p:nvSpPr>
        <p:spPr>
          <a:xfrm>
            <a:off x="566928" y="1920240"/>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avuga ko adashaka kwisuzumisha kuko afite ubwoba ko ikizamini kizagaragaza kanseri. Umubwira iki?</a:t>
            </a:r>
          </a:p>
        </p:txBody>
      </p:sp>
      <p:sp>
        <p:nvSpPr>
          <p:cNvPr id="6" name="Rounded Rectangle 5"/>
          <p:cNvSpPr/>
          <p:nvPr/>
        </p:nvSpPr>
        <p:spPr>
          <a:xfrm>
            <a:off x="566928" y="2706624"/>
            <a:ext cx="11058113" cy="41477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841247" y="2761488"/>
            <a:ext cx="10006553" cy="305043"/>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Kumubwira kudahangayika, kuko ikizamini kitigera kibona ikintu na kimwe</a:t>
            </a:r>
          </a:p>
        </p:txBody>
      </p:sp>
      <p:sp>
        <p:nvSpPr>
          <p:cNvPr id="8" name="Rounded Rectangle 7"/>
          <p:cNvSpPr/>
          <p:nvPr/>
        </p:nvSpPr>
        <p:spPr>
          <a:xfrm>
            <a:off x="566928" y="3221979"/>
            <a:ext cx="11058113" cy="875629"/>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9" name="TextBox 8"/>
          <p:cNvSpPr txBox="1"/>
          <p:nvPr/>
        </p:nvSpPr>
        <p:spPr>
          <a:xfrm>
            <a:off x="841247" y="3276843"/>
            <a:ext cx="10006553" cy="76590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Kumubwira ko abagore benshi babwirwa ko nta cyabonetse, ko icyo isuzuma rikunze kubona ari impinduka nto ishobora kuvurwa mbere y'uko iba kanseri, kandi ko kutamenya bitabikuraho</a:t>
            </a:r>
          </a:p>
        </p:txBody>
      </p:sp>
      <p:sp>
        <p:nvSpPr>
          <p:cNvPr id="11" name="Rounded Rectangle 10"/>
          <p:cNvSpPr/>
          <p:nvPr/>
        </p:nvSpPr>
        <p:spPr>
          <a:xfrm>
            <a:off x="566928" y="4198193"/>
            <a:ext cx="11058113" cy="41477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41247" y="4253057"/>
            <a:ext cx="10006553" cy="305043"/>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Kumubwira ko ashobora kuba asanzwe afite kanseri</a:t>
            </a:r>
          </a:p>
        </p:txBody>
      </p:sp>
      <p:sp>
        <p:nvSpPr>
          <p:cNvPr id="13" name="Rounded Rectangle 12"/>
          <p:cNvSpPr/>
          <p:nvPr/>
        </p:nvSpPr>
        <p:spPr>
          <a:xfrm>
            <a:off x="566928" y="4713549"/>
            <a:ext cx="11058113" cy="414771"/>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41247" y="4768413"/>
            <a:ext cx="10006553" cy="305043"/>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Kwemera ko ari byiza kutamenya</a:t>
            </a:r>
          </a:p>
        </p:txBody>
      </p:sp>
      <p:sp>
        <p:nvSpPr>
          <p:cNvPr id="15" name="Rounded Rectangle 14"/>
          <p:cNvSpPr/>
          <p:nvPr/>
        </p:nvSpPr>
        <p:spPr>
          <a:xfrm>
            <a:off x="566928" y="5238048"/>
            <a:ext cx="11058113" cy="1034735"/>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6" name="TextBox 15"/>
          <p:cNvSpPr txBox="1"/>
          <p:nvPr/>
        </p:nvSpPr>
        <p:spPr>
          <a:xfrm>
            <a:off x="822960" y="5366064"/>
            <a:ext cx="10546049" cy="778703"/>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Kwizeza ibinyoma n'amagambo ateye ubwoba byombi bibuza abagore kugaruka. Igisubizo cy'ukuri ni na cyo gitera imbaraga, kuko isuzuma akenshi nta cyo ribona, kandi iyo hari icyo ribonye akenshi ni impinduka ivurwa byoroshye.</a:t>
            </a:r>
          </a:p>
        </p:txBody>
      </p:sp>
      <p:sp>
        <p:nvSpPr>
          <p:cNvPr id="17" name="TextBox 1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8" name="TextBox 1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91</a:t>
            </a:r>
          </a:p>
        </p:txBody>
      </p:sp>
      <p:sp>
        <p:nvSpPr>
          <p:cNvPr id="10" name="TextBox 9"/>
          <p:cNvSpPr txBox="1"/>
          <p:nvPr/>
        </p:nvSpPr>
        <p:spPr>
          <a:xfrm>
            <a:off x="11094689" y="3522634"/>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U B U J Y A N A M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"Mfite ipfunwe ryo gusuzumwa"</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akubwira mu ibanga ko afite ipfunwe ryinshi ryo gukorerwa iri suzuma. Ni ikihe gisubizo cyiza kurusha ibindi?</a:t>
            </a:r>
          </a:p>
        </p:txBody>
      </p:sp>
      <p:sp>
        <p:nvSpPr>
          <p:cNvPr id="7" name="Rounded Rectangle 6"/>
          <p:cNvSpPr/>
          <p:nvPr/>
        </p:nvSpPr>
        <p:spPr>
          <a:xfrm>
            <a:off x="566928" y="2304288"/>
            <a:ext cx="11058113" cy="752484"/>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359152"/>
            <a:ext cx="10006553" cy="642756"/>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Kwemera ko abagore benshi bumva kimwe na we, gusobanura ko isuzuma rikorwa mu ibanga n'umukozi w'ubuzima watojwe kandi rimara iminota mike gusa, no kumusaba ko mwajyana</a:t>
            </a:r>
          </a:p>
        </p:txBody>
      </p:sp>
      <p:sp>
        <p:nvSpPr>
          <p:cNvPr id="5" name="Rounded Rectangle 4"/>
          <p:cNvSpPr/>
          <p:nvPr/>
        </p:nvSpPr>
        <p:spPr>
          <a:xfrm>
            <a:off x="566928" y="3157356"/>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3212220"/>
            <a:ext cx="10006553" cy="374011"/>
          </a:xfrm>
          <a:prstGeom prst="rect">
            <a:avLst/>
          </a:prstGeom>
          <a:noFill/>
        </p:spPr>
        <p:txBody>
          <a:bodyPr wrap="square" lIns="0" tIns="0" rIns="0" bIns="0" anchor="ctr">
            <a:spAutoFit/>
          </a:bodyPr>
          <a:lstStyle/>
          <a:p>
            <a:pPr>
              <a:lnSpc>
                <a:spcPct val="108000"/>
              </a:lnSpc>
            </a:pPr>
            <a:r>
              <a:rPr lang="en-GB" sz="1650" b="1" i="0" dirty="0">
                <a:solidFill>
                  <a:srgbClr val="1F4E96"/>
                </a:solidFill>
                <a:latin typeface="Calibri"/>
              </a:rPr>
              <a:t>B   </a:t>
            </a:r>
            <a:r>
              <a:rPr lang="en-GB" sz="1650" b="0" i="0" dirty="0">
                <a:solidFill>
                  <a:srgbClr val="1A1A1A"/>
                </a:solidFill>
                <a:latin typeface="Calibri"/>
              </a:rPr>
              <a:t>Kumubwira ko ipfunwe nta gaciro rifite kandi agomba kujyayo uko byagenda kose</a:t>
            </a:r>
          </a:p>
        </p:txBody>
      </p:sp>
      <p:sp>
        <p:nvSpPr>
          <p:cNvPr id="10" name="Rounded Rectangle 9"/>
          <p:cNvSpPr/>
          <p:nvPr/>
        </p:nvSpPr>
        <p:spPr>
          <a:xfrm>
            <a:off x="566928" y="3741679"/>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796543"/>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Kumubwira ko isuzuma mu by'ukuri ridakenewe</a:t>
            </a:r>
          </a:p>
        </p:txBody>
      </p:sp>
      <p:sp>
        <p:nvSpPr>
          <p:cNvPr id="12" name="Rounded Rectangle 11"/>
          <p:cNvSpPr/>
          <p:nvPr/>
        </p:nvSpPr>
        <p:spPr>
          <a:xfrm>
            <a:off x="566928" y="4326002"/>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380866"/>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Kubiganiraho n'abandi bagore kugira ngo bamwemeze</a:t>
            </a:r>
          </a:p>
        </p:txBody>
      </p:sp>
      <p:sp>
        <p:nvSpPr>
          <p:cNvPr id="14" name="Rounded Rectangle 13"/>
          <p:cNvSpPr/>
          <p:nvPr/>
        </p:nvSpPr>
        <p:spPr>
          <a:xfrm>
            <a:off x="566928" y="4919471"/>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5047487"/>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Ipfunwe ni impamvu nyayo ituma abagore batitabira, bityo rigomba gusubizwa, ntirirengagizwe. Kurivuga, gusobanura ibiba koko, no kumusaba ko mwajyana bihindura ubwoba bukaba gahunda. Kuganira ku kibazo cye n'abandi byaba ari ukumena ibanga rye.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92</a:t>
            </a:r>
          </a:p>
        </p:txBody>
      </p:sp>
      <p:sp>
        <p:nvSpPr>
          <p:cNvPr id="9" name="TextBox 8"/>
          <p:cNvSpPr txBox="1"/>
          <p:nvPr/>
        </p:nvSpPr>
        <p:spPr>
          <a:xfrm>
            <a:off x="11094689" y="2543371"/>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U B U J Y A N A M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"Ubuvuzi buzantera kutabyara"</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w'imyaka 29 yabwiwe ko akeneye kuvurwa impinduka ku nkondo y'umura. Afite ubwoba ko ibi bisobanura ko atazongera kubyara undi mwana. Ni iki cy'ukuri?</a:t>
            </a:r>
          </a:p>
        </p:txBody>
      </p:sp>
      <p:sp>
        <p:nvSpPr>
          <p:cNvPr id="5" name="Rounded Rectangle 4"/>
          <p:cNvSpPr/>
          <p:nvPr/>
        </p:nvSpPr>
        <p:spPr>
          <a:xfrm>
            <a:off x="566928" y="2304288"/>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Afite ukuri, kandi agomba kwanga ubuvuzi</a:t>
            </a:r>
          </a:p>
        </p:txBody>
      </p:sp>
      <p:sp>
        <p:nvSpPr>
          <p:cNvPr id="7" name="Rounded Rectangle 6"/>
          <p:cNvSpPr/>
          <p:nvPr/>
        </p:nvSpPr>
        <p:spPr>
          <a:xfrm>
            <a:off x="566928" y="2888611"/>
            <a:ext cx="11058113" cy="752484"/>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943475"/>
            <a:ext cx="10006553" cy="642756"/>
          </a:xfrm>
          <a:prstGeom prst="rect">
            <a:avLst/>
          </a:prstGeom>
          <a:noFill/>
        </p:spPr>
        <p:txBody>
          <a:bodyPr wrap="square" lIns="0" tIns="0" rIns="0" bIns="0" anchor="ctr">
            <a:spAutoFit/>
          </a:bodyPr>
          <a:lstStyle/>
          <a:p>
            <a:pPr>
              <a:lnSpc>
                <a:spcPct val="108000"/>
              </a:lnSpc>
            </a:pPr>
            <a:r>
              <a:rPr lang="en-GB" sz="1550" b="1" i="0" dirty="0">
                <a:solidFill>
                  <a:srgbClr val="1F4E96"/>
                </a:solidFill>
                <a:latin typeface="Calibri"/>
              </a:rPr>
              <a:t>B   </a:t>
            </a:r>
            <a:r>
              <a:rPr lang="en-GB" sz="1550" b="0" i="0" dirty="0">
                <a:solidFill>
                  <a:srgbClr val="1A1A1A"/>
                </a:solidFill>
                <a:latin typeface="Calibri"/>
              </a:rPr>
              <a:t>Kuvura impinduka z'inkondo y'umura bisiga nyababyeyi, kandi abagore bakomeza kubyara nyuma yaho, bityo ubu bwoba bugomba gusubizwa mu buryo busobanutse kandi hakiri kare</a:t>
            </a:r>
          </a:p>
        </p:txBody>
      </p:sp>
      <p:sp>
        <p:nvSpPr>
          <p:cNvPr id="10" name="Rounded Rectangle 9"/>
          <p:cNvSpPr/>
          <p:nvPr/>
        </p:nvSpPr>
        <p:spPr>
          <a:xfrm>
            <a:off x="566928" y="3741680"/>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796544"/>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Agomba kubanza kubyara hanyuma akavurwa nyuma y'imyaka mike</a:t>
            </a:r>
          </a:p>
        </p:txBody>
      </p:sp>
      <p:sp>
        <p:nvSpPr>
          <p:cNvPr id="12" name="Rounded Rectangle 11"/>
          <p:cNvSpPr/>
          <p:nvPr/>
        </p:nvSpPr>
        <p:spPr>
          <a:xfrm>
            <a:off x="566928" y="4326004"/>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380868"/>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Nta muntu ushobora kugira icyo abivugaho</a:t>
            </a:r>
          </a:p>
        </p:txBody>
      </p:sp>
      <p:sp>
        <p:nvSpPr>
          <p:cNvPr id="14" name="Rounded Rectangle 13"/>
          <p:cNvSpPr/>
          <p:nvPr/>
        </p:nvSpPr>
        <p:spPr>
          <a:xfrm>
            <a:off x="566928" y="4919471"/>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5047487"/>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Kuvura impinduka z'inkondo y'umura ni igikorwa kigufi gisiga nyababyeyi. Ubwoba bwo kutabyara ni imwe mu mpamvu zikunze gutuma abagore batagaruka, bityo kubusubiza hakiri kare kandi mu buryo bweruye ni ingenzi. Gutinza ubuvuzi imyaka myinshi bituma impinduka itera imbere.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93</a:t>
            </a:r>
          </a:p>
        </p:txBody>
      </p:sp>
      <p:sp>
        <p:nvSpPr>
          <p:cNvPr id="9" name="TextBox 8"/>
          <p:cNvSpPr txBox="1"/>
          <p:nvPr/>
        </p:nvSpPr>
        <p:spPr>
          <a:xfrm>
            <a:off x="11094689" y="3127694"/>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800" b="1" i="0" dirty="0">
                <a:solidFill>
                  <a:srgbClr val="10305A"/>
                </a:solidFill>
                <a:latin typeface="Cambria"/>
              </a:rPr>
              <a:t>Ubwoba, ipfunwe no guceceka</a:t>
            </a:r>
          </a:p>
        </p:txBody>
      </p:sp>
      <p:sp>
        <p:nvSpPr>
          <p:cNvPr id="4" name="TextBox 3"/>
          <p:cNvSpPr txBox="1"/>
          <p:nvPr/>
        </p:nvSpPr>
        <p:spPr>
          <a:xfrm>
            <a:off x="566928" y="1572768"/>
            <a:ext cx="11058113" cy="320040"/>
          </a:xfrm>
          <a:prstGeom prst="rect">
            <a:avLst/>
          </a:prstGeom>
          <a:noFill/>
        </p:spPr>
        <p:txBody>
          <a:bodyPr wrap="square" lIns="0" tIns="0" rIns="0" bIns="0">
            <a:spAutoFit/>
          </a:bodyPr>
          <a:lstStyle/>
          <a:p>
            <a:r>
              <a:rPr lang="en-GB" sz="1700" b="0" i="1" dirty="0">
                <a:solidFill>
                  <a:srgbClr val="1F4E96"/>
                </a:solidFill>
                <a:latin typeface="Calibri"/>
              </a:rPr>
              <a:t>Hitamo buri myumvire kugira ngo ubone igisubizo nyacyo.</a:t>
            </a:r>
          </a:p>
        </p:txBody>
      </p:sp>
      <p:sp>
        <p:nvSpPr>
          <p:cNvPr id="5" name="Rounded Rectangle 4"/>
          <p:cNvSpPr/>
          <p:nvPr/>
        </p:nvSpPr>
        <p:spPr>
          <a:xfrm>
            <a:off x="566928" y="2029967"/>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6" name="TextBox 5"/>
          <p:cNvSpPr txBox="1"/>
          <p:nvPr/>
        </p:nvSpPr>
        <p:spPr>
          <a:xfrm>
            <a:off x="786384" y="2148839"/>
            <a:ext cx="4205495"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A31D1D"/>
                </a:solidFill>
                <a:latin typeface="Calibri"/>
              </a:rPr>
              <a:t>Imyumvire mibi:   </a:t>
            </a:r>
            <a:r>
              <a:rPr lang="en-GB" sz="1800" b="0" i="0" dirty="0">
                <a:solidFill>
                  <a:srgbClr val="1A1A1A"/>
                </a:solidFill>
                <a:latin typeface="Calibri"/>
              </a:rPr>
              <a:t>Iyo kanseri ibonetse, nta cyakorwa.</a:t>
            </a:r>
          </a:p>
        </p:txBody>
      </p:sp>
      <p:sp>
        <p:nvSpPr>
          <p:cNvPr id="7" name="Rounded Rectangle 6"/>
          <p:cNvSpPr/>
          <p:nvPr/>
        </p:nvSpPr>
        <p:spPr>
          <a:xfrm>
            <a:off x="5467367" y="2029967"/>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5686823" y="2148839"/>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Ubuvuzi burahari, kandi umusaruro uba mwiza cyane iyo indwara ibonetse hakiri kare.</a:t>
            </a:r>
          </a:p>
        </p:txBody>
      </p:sp>
      <p:sp>
        <p:nvSpPr>
          <p:cNvPr id="9" name="Rounded Rectangle 8"/>
          <p:cNvSpPr/>
          <p:nvPr/>
        </p:nvSpPr>
        <p:spPr>
          <a:xfrm>
            <a:off x="566928" y="3067811"/>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0" name="TextBox 9"/>
          <p:cNvSpPr txBox="1"/>
          <p:nvPr/>
        </p:nvSpPr>
        <p:spPr>
          <a:xfrm>
            <a:off x="786384" y="3186683"/>
            <a:ext cx="4205495"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A31D1D"/>
                </a:solidFill>
                <a:latin typeface="Calibri"/>
              </a:rPr>
              <a:t>Imyumvire mibi:   </a:t>
            </a:r>
            <a:r>
              <a:rPr lang="en-GB" sz="1800" b="0" i="0" dirty="0">
                <a:solidFill>
                  <a:srgbClr val="1A1A1A"/>
                </a:solidFill>
                <a:latin typeface="Calibri"/>
              </a:rPr>
              <a:t>Iyi ndwara ni igihano cyangwa umuvumo.</a:t>
            </a:r>
          </a:p>
        </p:txBody>
      </p:sp>
      <p:sp>
        <p:nvSpPr>
          <p:cNvPr id="11" name="Rounded Rectangle 10"/>
          <p:cNvSpPr/>
          <p:nvPr/>
        </p:nvSpPr>
        <p:spPr>
          <a:xfrm>
            <a:off x="5467367" y="3067811"/>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2" name="TextBox 11"/>
          <p:cNvSpPr txBox="1"/>
          <p:nvPr/>
        </p:nvSpPr>
        <p:spPr>
          <a:xfrm>
            <a:off x="5686823" y="3186683"/>
            <a:ext cx="5718761" cy="653796"/>
          </a:xfrm>
          <a:prstGeom prst="rect">
            <a:avLst/>
          </a:prstGeom>
          <a:noFill/>
        </p:spPr>
        <p:txBody>
          <a:bodyPr wrap="square" lIns="0" tIns="0" rIns="0" bIns="0" anchor="ctr">
            <a:spAutoFit/>
          </a:bodyPr>
          <a:lstStyle/>
          <a:p>
            <a:pPr>
              <a:lnSpc>
                <a:spcPct val="110000"/>
              </a:lnSpc>
            </a:pPr>
            <a:r>
              <a:rPr lang="en-GB" sz="1400" b="0" i="0" dirty="0">
                <a:solidFill>
                  <a:srgbClr val="1A1A1A"/>
                </a:solidFill>
                <a:latin typeface="Calibri"/>
              </a:rPr>
              <a:t>✅ </a:t>
            </a:r>
            <a:r>
              <a:rPr lang="en-GB" sz="1700" b="1" i="0" dirty="0">
                <a:solidFill>
                  <a:srgbClr val="1C6B3F"/>
                </a:solidFill>
                <a:latin typeface="Calibri"/>
              </a:rPr>
              <a:t>Mu by'ukuri:   </a:t>
            </a:r>
            <a:r>
              <a:rPr lang="en-GB" sz="1700" b="0" i="0" dirty="0">
                <a:solidFill>
                  <a:srgbClr val="1A1A1A"/>
                </a:solidFill>
                <a:latin typeface="Calibri"/>
              </a:rPr>
              <a:t>Ikurikira virusi isanzwe. Si igihano kandi nta muntu ukwiye kubishinjwa.</a:t>
            </a:r>
          </a:p>
        </p:txBody>
      </p:sp>
      <p:sp>
        <p:nvSpPr>
          <p:cNvPr id="13" name="Rounded Rectangle 12"/>
          <p:cNvSpPr/>
          <p:nvPr/>
        </p:nvSpPr>
        <p:spPr>
          <a:xfrm>
            <a:off x="566928" y="4105656"/>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4" name="TextBox 13"/>
          <p:cNvSpPr txBox="1"/>
          <p:nvPr/>
        </p:nvSpPr>
        <p:spPr>
          <a:xfrm>
            <a:off x="786384" y="4224528"/>
            <a:ext cx="4205495"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A31D1D"/>
                </a:solidFill>
                <a:latin typeface="Calibri"/>
              </a:rPr>
              <a:t>Imyumvire mibi:   </a:t>
            </a:r>
            <a:r>
              <a:rPr lang="en-GB" sz="1800" b="0" i="0" dirty="0">
                <a:solidFill>
                  <a:srgbClr val="1A1A1A"/>
                </a:solidFill>
                <a:latin typeface="Calibri"/>
              </a:rPr>
              <a:t>Ni byiza kutabivugaho mu muryango.</a:t>
            </a:r>
          </a:p>
        </p:txBody>
      </p:sp>
      <p:sp>
        <p:nvSpPr>
          <p:cNvPr id="15" name="Rounded Rectangle 14"/>
          <p:cNvSpPr/>
          <p:nvPr/>
        </p:nvSpPr>
        <p:spPr>
          <a:xfrm>
            <a:off x="5467367" y="4105656"/>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6" name="TextBox 15"/>
          <p:cNvSpPr txBox="1"/>
          <p:nvPr/>
        </p:nvSpPr>
        <p:spPr>
          <a:xfrm>
            <a:off x="5686823" y="4224528"/>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Guceceka bitinza ubuvuzi. Kuvuga utuje kandi mu ibanga ni byo bituma umugore avurwa ku gihe.</a:t>
            </a:r>
          </a:p>
        </p:txBody>
      </p:sp>
      <p:sp>
        <p:nvSpPr>
          <p:cNvPr id="17" name="Rounded Rectangle 16"/>
          <p:cNvSpPr/>
          <p:nvPr/>
        </p:nvSpPr>
        <p:spPr>
          <a:xfrm>
            <a:off x="566928" y="5143500"/>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8" name="TextBox 17"/>
          <p:cNvSpPr txBox="1"/>
          <p:nvPr/>
        </p:nvSpPr>
        <p:spPr>
          <a:xfrm>
            <a:off x="786384" y="5262372"/>
            <a:ext cx="4205495"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A31D1D"/>
                </a:solidFill>
                <a:latin typeface="Calibri"/>
              </a:rPr>
              <a:t>Imyumvire mibi:   </a:t>
            </a:r>
            <a:r>
              <a:rPr lang="en-GB" sz="1800" b="0" i="0" dirty="0">
                <a:solidFill>
                  <a:srgbClr val="1A1A1A"/>
                </a:solidFill>
                <a:latin typeface="Calibri"/>
              </a:rPr>
              <a:t>Umugore urwaye iyi ndwara agomba gutandukanywa n'abandi.</a:t>
            </a:r>
          </a:p>
        </p:txBody>
      </p:sp>
      <p:sp>
        <p:nvSpPr>
          <p:cNvPr id="19" name="Rounded Rectangle 18"/>
          <p:cNvSpPr/>
          <p:nvPr/>
        </p:nvSpPr>
        <p:spPr>
          <a:xfrm>
            <a:off x="5467367" y="5143500"/>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20" name="TextBox 19"/>
          <p:cNvSpPr txBox="1"/>
          <p:nvPr/>
        </p:nvSpPr>
        <p:spPr>
          <a:xfrm>
            <a:off x="5686823" y="5262372"/>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Kanseri y'inkondo y'umura ntiyandura ivuye ku muntu ijya ku wundi kubera kubana cyangwa gusangira.</a:t>
            </a:r>
          </a:p>
        </p:txBody>
      </p:sp>
      <p:sp>
        <p:nvSpPr>
          <p:cNvPr id="21" name="TextBox 20"/>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2" name="TextBox 21"/>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94</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I B A N G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Ibanga no kubaha</a:t>
            </a:r>
          </a:p>
        </p:txBody>
      </p:sp>
      <p:sp>
        <p:nvSpPr>
          <p:cNvPr id="4" name="Rounded Rectangle 3"/>
          <p:cNvSpPr/>
          <p:nvPr/>
        </p:nvSpPr>
        <p:spPr>
          <a:xfrm>
            <a:off x="566928" y="1554480"/>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7393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Vugira mu ibanga.  </a:t>
            </a:r>
            <a:r>
              <a:rPr lang="en-GB" sz="1800" b="0" i="0" dirty="0">
                <a:solidFill>
                  <a:srgbClr val="1A1A1A"/>
                </a:solidFill>
                <a:latin typeface="Calibri"/>
              </a:rPr>
              <a:t>Ntuzigere uvuga igisubizo cy'umugore cyangwa ibimenyetso bye aho abandi bumva.</a:t>
            </a:r>
          </a:p>
        </p:txBody>
      </p:sp>
      <p:sp>
        <p:nvSpPr>
          <p:cNvPr id="7" name="Rounded Rectangle 6"/>
          <p:cNvSpPr/>
          <p:nvPr/>
        </p:nvSpPr>
        <p:spPr>
          <a:xfrm>
            <a:off x="566928" y="2432304"/>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65176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523744"/>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Ntugasubiremo ibyo ubwiwe.  </a:t>
            </a:r>
            <a:r>
              <a:rPr lang="en-GB" sz="1800" b="0" i="0" dirty="0">
                <a:solidFill>
                  <a:srgbClr val="1A1A1A"/>
                </a:solidFill>
                <a:latin typeface="Calibri"/>
              </a:rPr>
              <a:t>Ntubibwire abaturanyi, ntubibwire abavandimwe, ntubibwire abandi baturage.</a:t>
            </a:r>
          </a:p>
        </p:txBody>
      </p:sp>
      <p:sp>
        <p:nvSpPr>
          <p:cNvPr id="10" name="Rounded Rectangle 9"/>
          <p:cNvSpPr/>
          <p:nvPr/>
        </p:nvSpPr>
        <p:spPr>
          <a:xfrm>
            <a:off x="566928" y="3310128"/>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52958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401568"/>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Amahitamo ye, amakuru ye.  </a:t>
            </a:r>
            <a:r>
              <a:rPr lang="en-GB" sz="1800" b="0" i="0" dirty="0">
                <a:solidFill>
                  <a:srgbClr val="1A1A1A"/>
                </a:solidFill>
                <a:latin typeface="Calibri"/>
              </a:rPr>
              <a:t>Ni we ufata icyemezo cy'ubibwirwa, harimo niba umugabo we abibwirwa n'igihe.</a:t>
            </a:r>
          </a:p>
        </p:txBody>
      </p:sp>
      <p:sp>
        <p:nvSpPr>
          <p:cNvPr id="13" name="Rounded Rectangle 12"/>
          <p:cNvSpPr/>
          <p:nvPr/>
        </p:nvSpPr>
        <p:spPr>
          <a:xfrm>
            <a:off x="566928" y="4187952"/>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40740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279392"/>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Koresha amagambo yubaha.  </a:t>
            </a:r>
            <a:r>
              <a:rPr lang="en-GB" sz="1800" b="0" i="0" dirty="0">
                <a:solidFill>
                  <a:srgbClr val="1A1A1A"/>
                </a:solidFill>
                <a:latin typeface="Calibri"/>
              </a:rPr>
              <a:t>Vuga ku ndwara no ku ntambwe ikurikira, ntuzigere uvuga ku buryo umugore yabayeho.</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95</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G U K U R I K I R A N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Gutuma gukurikiranwa bibaho</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Agaciro kenshi k'akazi kawe kari mu gusura ivuriro bibaho koko.</a:t>
            </a:r>
          </a:p>
        </p:txBody>
      </p:sp>
      <p:sp>
        <p:nvSpPr>
          <p:cNvPr id="5" name="Rounded Rectangle 4"/>
          <p:cNvSpPr/>
          <p:nvPr/>
        </p:nvSpPr>
        <p:spPr>
          <a:xfrm>
            <a:off x="566928" y="2029968"/>
            <a:ext cx="11058113" cy="73152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212848"/>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121408"/>
            <a:ext cx="9960833" cy="58521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Andika uwoherejwe, aho yoherejwe, n'itariki.</a:t>
            </a:r>
          </a:p>
        </p:txBody>
      </p:sp>
      <p:sp>
        <p:nvSpPr>
          <p:cNvPr id="8" name="Rounded Rectangle 7"/>
          <p:cNvSpPr/>
          <p:nvPr/>
        </p:nvSpPr>
        <p:spPr>
          <a:xfrm>
            <a:off x="566928" y="2889504"/>
            <a:ext cx="11058113" cy="73152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072384"/>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2980944"/>
            <a:ext cx="9960833" cy="58521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Ongera umubaze nyuma y'umunsi mwumvikanye kandi umubaze niba yaragiyeyo.</a:t>
            </a:r>
          </a:p>
        </p:txBody>
      </p:sp>
      <p:sp>
        <p:nvSpPr>
          <p:cNvPr id="11" name="Rounded Rectangle 10"/>
          <p:cNvSpPr/>
          <p:nvPr/>
        </p:nvSpPr>
        <p:spPr>
          <a:xfrm>
            <a:off x="566928" y="3749040"/>
            <a:ext cx="11058113" cy="73152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3931920"/>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3840480"/>
            <a:ext cx="9960833" cy="58521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Niba ataragiyeyo, mubaze impamvu utamushinja, kandi ukemure imbogamizi.</a:t>
            </a:r>
          </a:p>
        </p:txBody>
      </p:sp>
      <p:sp>
        <p:nvSpPr>
          <p:cNvPr id="14" name="Rounded Rectangle 13"/>
          <p:cNvSpPr/>
          <p:nvPr/>
        </p:nvSpPr>
        <p:spPr>
          <a:xfrm>
            <a:off x="566928" y="4608576"/>
            <a:ext cx="11058113" cy="73152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Oval 14"/>
          <p:cNvSpPr/>
          <p:nvPr/>
        </p:nvSpPr>
        <p:spPr>
          <a:xfrm>
            <a:off x="804672" y="479145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6" name="TextBox 15"/>
          <p:cNvSpPr txBox="1"/>
          <p:nvPr/>
        </p:nvSpPr>
        <p:spPr>
          <a:xfrm>
            <a:off x="1389888" y="4700016"/>
            <a:ext cx="9960833" cy="58521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Tanga raporo ku ivuriro nk'uko ubisabwa, kugira ngo nta mugore uburirwa irengero muri gahunda.</a:t>
            </a:r>
          </a:p>
        </p:txBody>
      </p:sp>
      <p:sp>
        <p:nvSpPr>
          <p:cNvPr id="17" name="TextBox 1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8" name="TextBox 1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96</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U R U G E R O   R W O   M U   B A T U R A G E</a:t>
            </a:r>
          </a:p>
        </p:txBody>
      </p:sp>
      <p:sp>
        <p:nvSpPr>
          <p:cNvPr id="3" name="TextBox 2"/>
          <p:cNvSpPr txBox="1"/>
          <p:nvPr/>
        </p:nvSpPr>
        <p:spPr>
          <a:xfrm>
            <a:off x="566928" y="694944"/>
            <a:ext cx="11058113" cy="523220"/>
          </a:xfrm>
          <a:prstGeom prst="rect">
            <a:avLst/>
          </a:prstGeom>
          <a:noFill/>
        </p:spPr>
        <p:txBody>
          <a:bodyPr wrap="square" lIns="0" tIns="0" rIns="0" bIns="0">
            <a:spAutoFit/>
          </a:bodyPr>
          <a:lstStyle/>
          <a:p>
            <a:r>
              <a:rPr lang="en-GB" sz="3400" b="1" i="0" dirty="0">
                <a:solidFill>
                  <a:srgbClr val="10305A"/>
                </a:solidFill>
                <a:latin typeface="Cambria"/>
              </a:rPr>
              <a:t>🩺  Isozwa ry'urugero: Claudine </a:t>
            </a:r>
            <a:r>
              <a:rPr lang="en-GB" sz="3400" b="1" dirty="0">
                <a:solidFill>
                  <a:srgbClr val="FF0000"/>
                </a:solidFill>
                <a:latin typeface="Cambria"/>
              </a:rPr>
              <a:t>(Videwo)</a:t>
            </a:r>
            <a:endParaRPr lang="en-GB" sz="3400" b="1" i="0" dirty="0">
              <a:solidFill>
                <a:srgbClr val="10305A"/>
              </a:solidFill>
              <a:latin typeface="Cambria"/>
            </a:endParaRPr>
          </a:p>
        </p:txBody>
      </p:sp>
      <p:sp>
        <p:nvSpPr>
          <p:cNvPr id="4" name="Rounded Rectangle 3"/>
          <p:cNvSpPr/>
          <p:nvPr/>
        </p:nvSpPr>
        <p:spPr>
          <a:xfrm>
            <a:off x="566928" y="1554480"/>
            <a:ext cx="11058113" cy="4206240"/>
          </a:xfrm>
          <a:prstGeom prst="roundRect">
            <a:avLst>
              <a:gd name="adj" fmla="val 4500"/>
            </a:avLst>
          </a:prstGeom>
          <a:solidFill>
            <a:srgbClr val="FFF8E7"/>
          </a:solidFill>
          <a:ln w="12700">
            <a:solidFill>
              <a:srgbClr val="E8D9AE"/>
            </a:solidFill>
          </a:ln>
          <a:effectLst/>
        </p:spPr>
        <p:txBody>
          <a:bodyPr wrap="square" rtlCol="0" anchor="ctr"/>
          <a:lstStyle/>
          <a:p>
            <a:pPr algn="ctr"/>
            <a:endParaRPr lang="en-GB" dirty="0"/>
          </a:p>
        </p:txBody>
      </p:sp>
      <p:sp>
        <p:nvSpPr>
          <p:cNvPr id="5" name="TextBox 4"/>
          <p:cNvSpPr txBox="1"/>
          <p:nvPr/>
        </p:nvSpPr>
        <p:spPr>
          <a:xfrm>
            <a:off x="859536" y="1773936"/>
            <a:ext cx="10472897" cy="3767327"/>
          </a:xfrm>
          <a:prstGeom prst="rect">
            <a:avLst/>
          </a:prstGeom>
          <a:noFill/>
        </p:spPr>
        <p:txBody>
          <a:bodyPr wrap="square" lIns="0" tIns="0" rIns="0" bIns="0">
            <a:spAutoFit/>
          </a:bodyPr>
          <a:lstStyle/>
          <a:p>
            <a:pPr>
              <a:lnSpc>
                <a:spcPct val="114000"/>
              </a:lnSpc>
              <a:spcAft>
                <a:spcPts val="1100"/>
              </a:spcAft>
            </a:pPr>
            <a:r>
              <a:rPr lang="en-GB" sz="2000" b="1" i="0" dirty="0" err="1">
                <a:solidFill>
                  <a:srgbClr val="10305A"/>
                </a:solidFill>
                <a:latin typeface="Calibri"/>
              </a:rPr>
              <a:t>Uwase Claudine, imyaka 36</a:t>
            </a:r>
          </a:p>
          <a:p>
            <a:pPr>
              <a:lnSpc>
                <a:spcPct val="114000"/>
              </a:lnSpc>
              <a:spcAft>
                <a:spcPts val="1100"/>
              </a:spcAft>
            </a:pPr>
            <a:r>
              <a:rPr lang="en-GB" sz="1800" b="1" i="0" dirty="0">
                <a:solidFill>
                  <a:srgbClr val="10305A"/>
                </a:solidFill>
                <a:latin typeface="Calibri"/>
              </a:rPr>
              <a:t>Ibyakurikiyeho: </a:t>
            </a:r>
            <a:r>
              <a:rPr lang="en-GB" sz="1800" b="0" i="0" dirty="0">
                <a:solidFill>
                  <a:srgbClr val="1A1A1A"/>
                </a:solidFill>
                <a:latin typeface="Calibri"/>
              </a:rPr>
              <a:t>Wasobanuye ko igisubizo kigaragaza ubwandu atari kanseri. Gahunda ye ku kigo nderabuzima yateguwe ku munsi utari uw'isoko, kandi umuturanyi yemeye kumurerera abana. Wamusanze mu nzira mugenda hamwe.</a:t>
            </a:r>
          </a:p>
          <a:p>
            <a:pPr>
              <a:lnSpc>
                <a:spcPct val="114000"/>
              </a:lnSpc>
              <a:spcAft>
                <a:spcPts val="1100"/>
              </a:spcAft>
            </a:pPr>
            <a:r>
              <a:rPr lang="en-GB" sz="1800" b="1" i="0" dirty="0">
                <a:solidFill>
                  <a:srgbClr val="10305A"/>
                </a:solidFill>
                <a:latin typeface="Calibri"/>
              </a:rPr>
              <a:t>Ibyo yabwiwe aho: </a:t>
            </a:r>
            <a:r>
              <a:rPr lang="en-GB" sz="1800" b="0" i="0" dirty="0">
                <a:solidFill>
                  <a:srgbClr val="1A1A1A"/>
                </a:solidFill>
                <a:latin typeface="Calibri"/>
              </a:rPr>
              <a:t>Habonetse impinduka ku nkondo y'umura we. Ntabwo yari kanseri. Yavuwe mu gikorwa kigufi ku ivuriro, kandi nyababyeyi ye ntiyakuwemo.</a:t>
            </a:r>
          </a:p>
          <a:p>
            <a:pPr>
              <a:lnSpc>
                <a:spcPct val="114000"/>
              </a:lnSpc>
              <a:spcAft>
                <a:spcPts val="1100"/>
              </a:spcAft>
            </a:pPr>
            <a:r>
              <a:rPr lang="en-GB" sz="1800" b="1" i="0" dirty="0">
                <a:solidFill>
                  <a:srgbClr val="10305A"/>
                </a:solidFill>
                <a:latin typeface="Calibri"/>
              </a:rPr>
              <a:t>Ibikorwa by'ingenzi: </a:t>
            </a:r>
            <a:r>
              <a:rPr lang="en-GB" sz="1800" b="0" i="0" dirty="0">
                <a:solidFill>
                  <a:srgbClr val="1A1A1A"/>
                </a:solidFill>
                <a:latin typeface="Calibri"/>
              </a:rPr>
              <a:t>Gusobanura ko igisubizo kitari kanseri. Gukemura ikibazo cy'urugendo n'umunsi w'isoko. Kugira ibanga igisubizo cye kugeza ahisemo kubibwira umugabo we. Kugenzura ko yitabiriye.</a:t>
            </a:r>
          </a:p>
          <a:p>
            <a:pPr>
              <a:lnSpc>
                <a:spcPct val="114000"/>
              </a:lnSpc>
              <a:spcAft>
                <a:spcPts val="1100"/>
              </a:spcAft>
            </a:pPr>
            <a:r>
              <a:rPr lang="en-GB" sz="1800" b="1" i="0" dirty="0">
                <a:solidFill>
                  <a:srgbClr val="10305A"/>
                </a:solidFill>
                <a:latin typeface="Calibri"/>
              </a:rPr>
              <a:t>Umusaruro: </a:t>
            </a:r>
            <a:r>
              <a:rPr lang="en-GB" sz="1800" b="0" i="0" dirty="0">
                <a:solidFill>
                  <a:srgbClr val="1A1A1A"/>
                </a:solidFill>
                <a:latin typeface="Calibri"/>
              </a:rPr>
              <a:t>Yakize vuba, asubira ku isoko mu minsi mike, kandi yitabiriye gusura ivuriro akurikiranwa ku gihe yahawe.</a:t>
            </a:r>
          </a:p>
        </p:txBody>
      </p:sp>
      <p:sp>
        <p:nvSpPr>
          <p:cNvPr id="6" name="TextBox 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7" name="TextBox 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97</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U R U G E R O   R W O   M U   B A T U R A G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 Isomo ry'ingenzi rikuwe kuri Claudine</a:t>
            </a:r>
          </a:p>
        </p:txBody>
      </p:sp>
      <p:sp>
        <p:nvSpPr>
          <p:cNvPr id="4" name="Rounded Rectangle 3"/>
          <p:cNvSpPr/>
          <p:nvPr/>
        </p:nvSpPr>
        <p:spPr>
          <a:xfrm>
            <a:off x="566928" y="1554480"/>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5564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566928"/>
          </a:xfrm>
          <a:prstGeom prst="rect">
            <a:avLst/>
          </a:prstGeom>
          <a:noFill/>
        </p:spPr>
        <p:txBody>
          <a:bodyPr wrap="square" lIns="0" tIns="0" rIns="0" bIns="0" anchor="ctr">
            <a:spAutoFit/>
          </a:bodyPr>
          <a:lstStyle/>
          <a:p>
            <a:pPr>
              <a:lnSpc>
                <a:spcPct val="110000"/>
              </a:lnSpc>
            </a:pPr>
            <a:r>
              <a:rPr lang="en-GB" sz="1700" b="0" i="0" dirty="0">
                <a:solidFill>
                  <a:srgbClr val="1A1A1A"/>
                </a:solidFill>
                <a:latin typeface="Calibri"/>
              </a:rPr>
              <a:t>Nta bimenyetso yari afite. Isuzuma, si ikimenyetso, ni ryo ryabonye impinduka.</a:t>
            </a:r>
          </a:p>
        </p:txBody>
      </p:sp>
      <p:sp>
        <p:nvSpPr>
          <p:cNvPr id="7" name="Rounded Rectangle 6"/>
          <p:cNvSpPr/>
          <p:nvPr/>
        </p:nvSpPr>
        <p:spPr>
          <a:xfrm>
            <a:off x="566928" y="2395728"/>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59689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487168"/>
            <a:ext cx="9960833" cy="566928"/>
          </a:xfrm>
          <a:prstGeom prst="rect">
            <a:avLst/>
          </a:prstGeom>
          <a:noFill/>
        </p:spPr>
        <p:txBody>
          <a:bodyPr wrap="square" lIns="0" tIns="0" rIns="0" bIns="0" anchor="ctr">
            <a:spAutoFit/>
          </a:bodyPr>
          <a:lstStyle/>
          <a:p>
            <a:pPr>
              <a:lnSpc>
                <a:spcPct val="110000"/>
              </a:lnSpc>
            </a:pPr>
            <a:r>
              <a:rPr lang="en-GB" sz="1650" b="0" i="0" dirty="0">
                <a:solidFill>
                  <a:srgbClr val="1A1A1A"/>
                </a:solidFill>
                <a:latin typeface="Calibri"/>
              </a:rPr>
              <a:t>Ijambo kanseri ryamuteye ubwoba. Amagambo y'ukuri kandi yoroshye yatumye agaruka.</a:t>
            </a:r>
          </a:p>
        </p:txBody>
      </p:sp>
      <p:sp>
        <p:nvSpPr>
          <p:cNvPr id="10" name="Rounded Rectangle 9"/>
          <p:cNvSpPr/>
          <p:nvPr/>
        </p:nvSpPr>
        <p:spPr>
          <a:xfrm>
            <a:off x="566928" y="3236976"/>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43814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328416"/>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Ubuvuzi bwe bwasize nyababyeyi ye, kandi ibyo byari bimufitiye akamaro.</a:t>
            </a:r>
          </a:p>
        </p:txBody>
      </p:sp>
      <p:sp>
        <p:nvSpPr>
          <p:cNvPr id="13" name="Rounded Rectangle 12"/>
          <p:cNvSpPr/>
          <p:nvPr/>
        </p:nvSpPr>
        <p:spPr>
          <a:xfrm>
            <a:off x="566928" y="4078224"/>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27939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169663"/>
            <a:ext cx="9960833" cy="566928"/>
          </a:xfrm>
          <a:prstGeom prst="rect">
            <a:avLst/>
          </a:prstGeom>
          <a:noFill/>
        </p:spPr>
        <p:txBody>
          <a:bodyPr wrap="square" lIns="0" tIns="0" rIns="0" bIns="0" anchor="ctr">
            <a:spAutoFit/>
          </a:bodyPr>
          <a:lstStyle/>
          <a:p>
            <a:pPr>
              <a:lnSpc>
                <a:spcPct val="110000"/>
              </a:lnSpc>
            </a:pPr>
            <a:r>
              <a:rPr lang="en-GB" sz="1700" b="0" i="0" dirty="0">
                <a:solidFill>
                  <a:srgbClr val="1A1A1A"/>
                </a:solidFill>
                <a:latin typeface="Calibri"/>
              </a:rPr>
              <a:t>Ibanga rye ryubahirijwe, kandi ni we wahisemo igihe cyo kubibwira umuryango we.</a:t>
            </a:r>
          </a:p>
        </p:txBody>
      </p:sp>
      <p:sp>
        <p:nvSpPr>
          <p:cNvPr id="16" name="Rounded Rectangle 15"/>
          <p:cNvSpPr/>
          <p:nvPr/>
        </p:nvSpPr>
        <p:spPr>
          <a:xfrm>
            <a:off x="566928" y="4919472"/>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TextBox 16"/>
          <p:cNvSpPr txBox="1"/>
          <p:nvPr/>
        </p:nvSpPr>
        <p:spPr>
          <a:xfrm>
            <a:off x="822960" y="512064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8" name="TextBox 17"/>
          <p:cNvSpPr txBox="1"/>
          <p:nvPr/>
        </p:nvSpPr>
        <p:spPr>
          <a:xfrm>
            <a:off x="1389888" y="5010912"/>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Umunsi w'isoko n'urugendo ni zo mbogamizi nyazo. Kuzikemura ni byo byahinduye kohereza kukavamo gusura ivuriro.</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98</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1 muri 5</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amaze kuva amaraso menshi kuva mu gitondo kandi afite intege nke zituma adashobora guhagarara. Hakwiye gukorwa iki?</a:t>
            </a:r>
          </a:p>
        </p:txBody>
      </p:sp>
      <p:sp>
        <p:nvSpPr>
          <p:cNvPr id="5" name="Rounded Rectangle 4"/>
          <p:cNvSpPr/>
          <p:nvPr/>
        </p:nvSpPr>
        <p:spPr>
          <a:xfrm>
            <a:off x="566928" y="230428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Agomba kubonwa ku ivuriro uyu munsi, afite umuntu umuherekeza</a:t>
            </a:r>
          </a:p>
        </p:txBody>
      </p:sp>
      <p:sp>
        <p:nvSpPr>
          <p:cNvPr id="8" name="Rounded Rectangle 7"/>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Agomba kuruhuka akazasurwa icyumweru gitaha</a:t>
            </a:r>
          </a:p>
        </p:txBody>
      </p:sp>
      <p:sp>
        <p:nvSpPr>
          <p:cNvPr id="10" name="Rounded Rectangle 9"/>
          <p:cNvSpPr/>
          <p:nvPr/>
        </p:nvSpPr>
        <p:spPr>
          <a:xfrm>
            <a:off x="566928" y="349300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Agomba gutegereza gahunda ye ikurikira y'isuzuma</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Agomba guhabwa imiti gakondo agakurikiranirwa mu rugo</a:t>
            </a:r>
          </a:p>
        </p:txBody>
      </p:sp>
      <p:sp>
        <p:nvSpPr>
          <p:cNvPr id="14" name="Rounded Rectangle 13"/>
          <p:cNvSpPr/>
          <p:nvPr/>
        </p:nvSpPr>
        <p:spPr>
          <a:xfrm>
            <a:off x="566928" y="469087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Kuva amaraso menshi hamwe n'intege nke ni ibintu byihutirwa uko impamvu yaba iri kose. Akeneye kwitabwaho uwo munsi kandi ntagomba kugenda wenyine. Gutegereza, cyangwa kumuvurira mu rugo, bishyira ubuzima bwe mu kaga.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99</a:t>
            </a:r>
          </a:p>
        </p:txBody>
      </p:sp>
      <p:sp>
        <p:nvSpPr>
          <p:cNvPr id="7" name="TextBox 6"/>
          <p:cNvSpPr txBox="1"/>
          <p:nvPr/>
        </p:nvSpPr>
        <p:spPr>
          <a:xfrm>
            <a:off x="11094689" y="241401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2 muri 5</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350" b="1" i="0" dirty="0">
                <a:solidFill>
                  <a:srgbClr val="0F1C2E"/>
                </a:solidFill>
                <a:latin typeface="Calibri"/>
              </a:rPr>
              <a:t>Ni ikihe muri ibi gifite akamaro kurusha ibindi umujyanama w'ubuzima ashobora gukora nyuma yo kohereza umuntu?</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Kubwira umuryango icyabonetse</a:t>
            </a:r>
          </a:p>
        </p:txBody>
      </p:sp>
      <p:sp>
        <p:nvSpPr>
          <p:cNvPr id="7" name="Rounded Rectangle 6"/>
          <p:cNvSpPr/>
          <p:nvPr/>
        </p:nvSpPr>
        <p:spPr>
          <a:xfrm>
            <a:off x="566928" y="258775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Kubaza icyamubuza kugenda, gukemura ibishobora gukemuka, no kongera kumubaza amakuru nyuma</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Kubirekera umugore wenyine burundu</a:t>
            </a:r>
          </a:p>
        </p:txBody>
      </p:sp>
      <p:sp>
        <p:nvSpPr>
          <p:cNvPr id="12" name="Rounded Rectangle 11"/>
          <p:cNvSpPr/>
          <p:nvPr/>
        </p:nvSpPr>
        <p:spPr>
          <a:xfrm>
            <a:off x="566928" y="3776472"/>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Gusubiramo iby'uko yoherejwe mu nama ikurikira y'abaturage kugira ngo abandi bamushishikarize</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Kohereza bifasha gusa iyo gusura ivuriro bibaye. Kuvuga imbogamizi no kuyikemura ni cyo gice cy'akazi gifatika. Kubwira umuryango, cyangwa kuvuga ikibazo cye mu ruhame, bica ibanga rye kandi bishobora gutuma atongera kukugana.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100</a:t>
            </a:r>
          </a:p>
        </p:txBody>
      </p:sp>
      <p:sp>
        <p:nvSpPr>
          <p:cNvPr id="9" name="TextBox 8"/>
          <p:cNvSpPr txBox="1"/>
          <p:nvPr/>
        </p:nvSpPr>
        <p:spPr>
          <a:xfrm>
            <a:off x="11094689" y="269747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3 muri 5</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akubwiye igisubizo cye mu ibanga. Ni nde wakiganiraho na we?</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Abaturanyi be, kugira ngo bamushyigikire</a:t>
            </a:r>
          </a:p>
        </p:txBody>
      </p:sp>
      <p:sp>
        <p:nvSpPr>
          <p:cNvPr id="7" name="Rounded Rectangle 6"/>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Umuntu wese umubaza</a:t>
            </a:r>
          </a:p>
        </p:txBody>
      </p:sp>
      <p:sp>
        <p:nvSpPr>
          <p:cNvPr id="9" name="Rounded Rectangle 8"/>
          <p:cNvSpPr/>
          <p:nvPr/>
        </p:nvSpPr>
        <p:spPr>
          <a:xfrm>
            <a:off x="566928" y="318211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0" name="TextBox 9"/>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Abakozi b'ubuzima bagira uruhare mu kumwitaho gusa, n'uko inshingano zawe zo gutanga raporo zibisaba</a:t>
            </a:r>
          </a:p>
        </p:txBody>
      </p:sp>
      <p:sp>
        <p:nvSpPr>
          <p:cNvPr id="12" name="Rounded Rectangle 11"/>
          <p:cNvSpPr/>
          <p:nvPr/>
        </p:nvSpPr>
        <p:spPr>
          <a:xfrm>
            <a:off x="566928" y="3776472"/>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Inama y'abaturage yose, nk'urugero</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Ibyo umugore akubwira ni ibye. Kubibwira abaturanyi cyangwa kubivuga mu nama bica icyizere agufitiye, bikwirakwiza ipfunwe, kandi bigatuma abandi bagore baguhisha ibimenyetso byabo.</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101</a:t>
            </a:r>
          </a:p>
        </p:txBody>
      </p:sp>
      <p:sp>
        <p:nvSpPr>
          <p:cNvPr id="11" name="TextBox 10"/>
          <p:cNvSpPr txBox="1"/>
          <p:nvPr/>
        </p:nvSpPr>
        <p:spPr>
          <a:xfrm>
            <a:off x="11094689" y="329183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4 muri 5</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Umuntu avuga ko iyo kanseri ibonetse nta cyakorwa, bityo ari byiza kutareba. Igisubizo nyacyo ni ikihe?</a:t>
            </a:r>
          </a:p>
        </p:txBody>
      </p:sp>
      <p:sp>
        <p:nvSpPr>
          <p:cNvPr id="5" name="Rounded Rectangle 4"/>
          <p:cNvSpPr/>
          <p:nvPr/>
        </p:nvSpPr>
        <p:spPr>
          <a:xfrm>
            <a:off x="566928" y="2304288"/>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Ni ukuri kuri kanseri y'inkondo y'umura</a:t>
            </a:r>
          </a:p>
        </p:txBody>
      </p:sp>
      <p:sp>
        <p:nvSpPr>
          <p:cNvPr id="12" name="Rounded Rectangle 11"/>
          <p:cNvSpPr/>
          <p:nvPr/>
        </p:nvSpPr>
        <p:spPr>
          <a:xfrm>
            <a:off x="566928" y="2888611"/>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943475"/>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Ni byiza gutegereza ukareba</a:t>
            </a:r>
          </a:p>
        </p:txBody>
      </p:sp>
      <p:sp>
        <p:nvSpPr>
          <p:cNvPr id="10" name="Rounded Rectangle 9"/>
          <p:cNvSpPr/>
          <p:nvPr/>
        </p:nvSpPr>
        <p:spPr>
          <a:xfrm>
            <a:off x="566928" y="3472934"/>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27798"/>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Abakire cyane gusa ni bo bashobora kuvurwa</a:t>
            </a:r>
          </a:p>
        </p:txBody>
      </p:sp>
      <p:sp>
        <p:nvSpPr>
          <p:cNvPr id="7" name="Rounded Rectangle 6"/>
          <p:cNvSpPr/>
          <p:nvPr/>
        </p:nvSpPr>
        <p:spPr>
          <a:xfrm>
            <a:off x="566928" y="4057257"/>
            <a:ext cx="11058113" cy="752484"/>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4112121"/>
            <a:ext cx="10006553" cy="642756"/>
          </a:xfrm>
          <a:prstGeom prst="rect">
            <a:avLst/>
          </a:prstGeom>
          <a:noFill/>
        </p:spPr>
        <p:txBody>
          <a:bodyPr wrap="square" lIns="0" tIns="0" rIns="0" bIns="0" anchor="ctr">
            <a:spAutoFit/>
          </a:bodyPr>
          <a:lstStyle/>
          <a:p>
            <a:pPr>
              <a:lnSpc>
                <a:spcPct val="108000"/>
              </a:lnSpc>
            </a:pPr>
            <a:r>
              <a:rPr lang="en-GB" sz="1750" b="1" i="0" dirty="0">
                <a:solidFill>
                  <a:srgbClr val="1F4E96"/>
                </a:solidFill>
                <a:latin typeface="Calibri"/>
              </a:rPr>
              <a:t>D   </a:t>
            </a:r>
            <a:r>
              <a:rPr lang="en-GB" sz="1750" b="0" i="0" dirty="0">
                <a:solidFill>
                  <a:srgbClr val="1A1A1A"/>
                </a:solidFill>
                <a:latin typeface="Calibri"/>
              </a:rPr>
              <a:t>Ubuvuzi burahari, umusaruro uba mwiza cyane iyo ibonetse hakiri kare, kandi isuzuma akenshi rigaragaza impinduka kera mbere ya kanseri iyo ari yo yose</a:t>
            </a:r>
          </a:p>
        </p:txBody>
      </p:sp>
      <p:sp>
        <p:nvSpPr>
          <p:cNvPr id="14" name="Rounded Rectangle 13"/>
          <p:cNvSpPr/>
          <p:nvPr/>
        </p:nvSpPr>
        <p:spPr>
          <a:xfrm>
            <a:off x="566928" y="4919471"/>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5047487"/>
            <a:ext cx="10546049" cy="1097280"/>
          </a:xfrm>
          <a:prstGeom prst="rect">
            <a:avLst/>
          </a:prstGeom>
          <a:noFill/>
        </p:spPr>
        <p:txBody>
          <a:bodyPr wrap="square" lIns="0" tIns="0" rIns="0" bIns="0">
            <a:spAutoFit/>
          </a:bodyPr>
          <a:lstStyle/>
          <a:p>
            <a:pPr>
              <a:lnSpc>
                <a:spcPct val="110000"/>
              </a:lnSpc>
              <a:spcAft>
                <a:spcPts val="100"/>
              </a:spcAft>
            </a:pPr>
            <a:r>
              <a:rPr lang="en-GB" sz="1500" b="1" i="0" dirty="0">
                <a:solidFill>
                  <a:srgbClr val="1C6B3F"/>
                </a:solidFill>
                <a:latin typeface="Calibri"/>
              </a:rPr>
              <a:t>Igisubizo cy'ukuri: D</a:t>
            </a:r>
          </a:p>
          <a:p>
            <a:pPr>
              <a:lnSpc>
                <a:spcPct val="110000"/>
              </a:lnSpc>
              <a:spcAft>
                <a:spcPts val="100"/>
              </a:spcAft>
            </a:pPr>
            <a:r>
              <a:rPr lang="en-GB" sz="1500" b="1" i="0" dirty="0">
                <a:solidFill>
                  <a:srgbClr val="1C6B3F"/>
                </a:solidFill>
                <a:latin typeface="Calibri"/>
              </a:rPr>
              <a:t>Inyunganizi: </a:t>
            </a:r>
            <a:r>
              <a:rPr lang="en-GB" sz="1500" b="0" i="0" dirty="0">
                <a:solidFill>
                  <a:srgbClr val="1A1A1A"/>
                </a:solidFill>
                <a:latin typeface="Calibri"/>
              </a:rPr>
              <a:t>Iyi myumvire itwara ubuzima bw'abantu, kuko ituma abagore batitabira kugeza indwara imaze gutera imbere. Isuzuma akenshi rigaragaza impinduka aho kuba kanseri, kandi izo mpinduka zivurwa byoroshye. Iyo kanseri ibonetse hakiri kare, ubuvuzi bukora neza cyane kurushaho.</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102</a:t>
            </a:r>
          </a:p>
        </p:txBody>
      </p:sp>
      <p:sp>
        <p:nvSpPr>
          <p:cNvPr id="9" name="TextBox 8"/>
          <p:cNvSpPr txBox="1"/>
          <p:nvPr/>
        </p:nvSpPr>
        <p:spPr>
          <a:xfrm>
            <a:off x="11094689" y="4296340"/>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5 muri 5</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ukiri muto afite ubwoba ko kuvurwa impinduka z'inkondo y'umura bizamubuza kubyara. Wamubwira iki?</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Ko afite ukuri kandi atagomba kuvurwa</a:t>
            </a:r>
          </a:p>
        </p:txBody>
      </p:sp>
      <p:sp>
        <p:nvSpPr>
          <p:cNvPr id="10" name="Rounded Rectangle 9"/>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Ko agomba gutegereza imyaka myinshi mbere yo kuvurwa</a:t>
            </a:r>
          </a:p>
        </p:txBody>
      </p:sp>
      <p:sp>
        <p:nvSpPr>
          <p:cNvPr id="7" name="Rounded Rectangle 6"/>
          <p:cNvSpPr/>
          <p:nvPr/>
        </p:nvSpPr>
        <p:spPr>
          <a:xfrm>
            <a:off x="566928" y="349300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Ko kuvura impinduka z'inkondo y'umura bisiga nyababyeyi, kandi abagore babyara nyuma yaho</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Ko nta muntu ushobora gusubiza icyo kibazo</a:t>
            </a:r>
          </a:p>
        </p:txBody>
      </p:sp>
      <p:sp>
        <p:nvSpPr>
          <p:cNvPr id="14" name="Rounded Rectangle 13"/>
          <p:cNvSpPr/>
          <p:nvPr/>
        </p:nvSpPr>
        <p:spPr>
          <a:xfrm>
            <a:off x="566928" y="4690872"/>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Kuvura impinduka z'inkondo y'umura ni igikorwa kigufi gisiga nyababyeyi. Ubu bwoba ni imwe mu mpamvu nyamukuru zituma abagore batagaruka, bityo bugomba gusubizwa hakiri kare kandi mu buryo busobanutse aho kurekwa ngo budavugwa.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103</a:t>
            </a:r>
          </a:p>
        </p:txBody>
      </p:sp>
      <p:sp>
        <p:nvSpPr>
          <p:cNvPr id="9" name="TextBox 8"/>
          <p:cNvSpPr txBox="1"/>
          <p:nvPr/>
        </p:nvSpPr>
        <p:spPr>
          <a:xfrm>
            <a:off x="11094689" y="360273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450" b="1" i="0" dirty="0">
                <a:solidFill>
                  <a:srgbClr val="10305A"/>
                </a:solidFill>
                <a:latin typeface="Cambria"/>
              </a:rPr>
              <a:t>Ingingo z'ingenzi</a:t>
            </a:r>
          </a:p>
        </p:txBody>
      </p:sp>
      <p:sp>
        <p:nvSpPr>
          <p:cNvPr id="4" name="Rounded Rectangle 3"/>
          <p:cNvSpPr/>
          <p:nvPr/>
        </p:nvSpPr>
        <p:spPr>
          <a:xfrm>
            <a:off x="566928" y="1554480"/>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5564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566928"/>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Kuva amaraso menshi hamwe n'intege nke cyangwa kwitura hasi bikeneye kwitabwaho uwo munsi.</a:t>
            </a:r>
          </a:p>
        </p:txBody>
      </p:sp>
      <p:sp>
        <p:nvSpPr>
          <p:cNvPr id="7" name="Rounded Rectangle 6"/>
          <p:cNvSpPr/>
          <p:nvPr/>
        </p:nvSpPr>
        <p:spPr>
          <a:xfrm>
            <a:off x="566928" y="2395728"/>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59689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487168"/>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Kohereza bigira agaciro gusa iyo gusura ivuriro bibaye, bityo vuga imbogamizi kandi uyikemure.</a:t>
            </a:r>
          </a:p>
        </p:txBody>
      </p:sp>
      <p:sp>
        <p:nvSpPr>
          <p:cNvPr id="10" name="Rounded Rectangle 9"/>
          <p:cNvSpPr/>
          <p:nvPr/>
        </p:nvSpPr>
        <p:spPr>
          <a:xfrm>
            <a:off x="566928" y="3236976"/>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43814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328416"/>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Banza utege amatwi, ntuzigere ushinja, kandi usoze buri kiganiro n'intambwe imwe ikurikira isobanutse.</a:t>
            </a:r>
          </a:p>
        </p:txBody>
      </p:sp>
      <p:sp>
        <p:nvSpPr>
          <p:cNvPr id="13" name="Rounded Rectangle 12"/>
          <p:cNvSpPr/>
          <p:nvPr/>
        </p:nvSpPr>
        <p:spPr>
          <a:xfrm>
            <a:off x="566928" y="4078224"/>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27939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169663"/>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Subiza ubwoba ku bubabare, ipfunwe no kubyara mu kuri, utizeza ibinyoma.</a:t>
            </a:r>
          </a:p>
        </p:txBody>
      </p:sp>
      <p:sp>
        <p:nvSpPr>
          <p:cNvPr id="16" name="Rounded Rectangle 15"/>
          <p:cNvSpPr/>
          <p:nvPr/>
        </p:nvSpPr>
        <p:spPr>
          <a:xfrm>
            <a:off x="566928" y="4919472"/>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TextBox 16"/>
          <p:cNvSpPr txBox="1"/>
          <p:nvPr/>
        </p:nvSpPr>
        <p:spPr>
          <a:xfrm>
            <a:off x="822960" y="512064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8" name="TextBox 17"/>
          <p:cNvSpPr txBox="1"/>
          <p:nvPr/>
        </p:nvSpPr>
        <p:spPr>
          <a:xfrm>
            <a:off x="1389888" y="5010912"/>
            <a:ext cx="9960833" cy="566928"/>
          </a:xfrm>
          <a:prstGeom prst="rect">
            <a:avLst/>
          </a:prstGeom>
          <a:noFill/>
        </p:spPr>
        <p:txBody>
          <a:bodyPr wrap="square" lIns="0" tIns="0" rIns="0" bIns="0" anchor="ctr">
            <a:spAutoFit/>
          </a:bodyPr>
          <a:lstStyle/>
          <a:p>
            <a:pPr>
              <a:lnSpc>
                <a:spcPct val="110000"/>
              </a:lnSpc>
            </a:pPr>
            <a:r>
              <a:rPr lang="en-GB" sz="1550" b="0" i="0" dirty="0">
                <a:solidFill>
                  <a:srgbClr val="1A1A1A"/>
                </a:solidFill>
                <a:latin typeface="Calibri"/>
              </a:rPr>
              <a:t>Ibyo umugore akubwira biguma mu ibanga, kandi ni we ufata icyemezo cy'undi ubibwirwa.</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104</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3   ·   I S U B I R A M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Isubiramo</a:t>
            </a:r>
          </a:p>
        </p:txBody>
      </p:sp>
      <p:sp>
        <p:nvSpPr>
          <p:cNvPr id="4" name="TextBox 3"/>
          <p:cNvSpPr txBox="1"/>
          <p:nvPr/>
        </p:nvSpPr>
        <p:spPr>
          <a:xfrm>
            <a:off x="566928" y="1554480"/>
            <a:ext cx="11058113" cy="365760"/>
          </a:xfrm>
          <a:prstGeom prst="rect">
            <a:avLst/>
          </a:prstGeom>
          <a:noFill/>
        </p:spPr>
        <p:txBody>
          <a:bodyPr wrap="square" lIns="0" tIns="0" rIns="0" bIns="0">
            <a:spAutoFit/>
          </a:bodyPr>
          <a:lstStyle/>
          <a:p>
            <a:r>
              <a:rPr lang="en-GB" sz="1800" b="1" i="0" dirty="0">
                <a:solidFill>
                  <a:srgbClr val="10305A"/>
                </a:solidFill>
                <a:latin typeface="Calibri"/>
              </a:rPr>
              <a:t>Amabwiriza ku wiga:  </a:t>
            </a:r>
            <a:r>
              <a:rPr lang="en-GB" sz="1800" b="0" i="0" dirty="0">
                <a:solidFill>
                  <a:srgbClr val="1A1A1A"/>
                </a:solidFill>
                <a:latin typeface="Calibri"/>
              </a:rPr>
              <a:t>Andika igisubizo cyawe mu gasanduku kabigenewe.</a:t>
            </a:r>
          </a:p>
        </p:txBody>
      </p:sp>
      <p:sp>
        <p:nvSpPr>
          <p:cNvPr id="5" name="Rounded Rectangle 4"/>
          <p:cNvSpPr/>
          <p:nvPr/>
        </p:nvSpPr>
        <p:spPr>
          <a:xfrm>
            <a:off x="566928" y="2121408"/>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39572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212848"/>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Wabwira iki umuntu ufite ubwoba bwo kwisuzumisha kanseri y'inkondo y'umura?</a:t>
            </a:r>
          </a:p>
        </p:txBody>
      </p:sp>
      <p:sp>
        <p:nvSpPr>
          <p:cNvPr id="8" name="Rounded Rectangle 7"/>
          <p:cNvSpPr/>
          <p:nvPr/>
        </p:nvSpPr>
        <p:spPr>
          <a:xfrm>
            <a:off x="566928" y="3182111"/>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45643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3273551"/>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Wafasha ute umugore wo mu gace kawe kurangiza koko koherezwa?</a:t>
            </a:r>
          </a:p>
        </p:txBody>
      </p:sp>
      <p:sp>
        <p:nvSpPr>
          <p:cNvPr id="11" name="Rounded Rectangle 10"/>
          <p:cNvSpPr/>
          <p:nvPr/>
        </p:nvSpPr>
        <p:spPr>
          <a:xfrm>
            <a:off x="566928" y="4242816"/>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451713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4334255"/>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Wakora iki kugira ngo ugabanye ipfunwe rijyanye n'iyi ndwara mu gace utuyemo?</a:t>
            </a:r>
          </a:p>
        </p:txBody>
      </p:sp>
      <p:sp>
        <p:nvSpPr>
          <p:cNvPr id="14" name="TextBox 13"/>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5" name="TextBox 14"/>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105</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E2F5C"/>
          </a:solidFill>
          <a:ln>
            <a:noFill/>
          </a:ln>
          <a:effectLst/>
        </p:spPr>
        <p:txBody>
          <a:bodyPr rtlCol="0" anchor="ctr"/>
          <a:lstStyle/>
          <a:p>
            <a:pPr algn="ctr"/>
            <a:endParaRPr lang="en-GB" dirty="0"/>
          </a:p>
        </p:txBody>
      </p:sp>
      <p:sp>
        <p:nvSpPr>
          <p:cNvPr id="3" name="TextBox 2"/>
          <p:cNvSpPr txBox="1"/>
          <p:nvPr/>
        </p:nvSpPr>
        <p:spPr>
          <a:xfrm>
            <a:off x="9144000" y="1417320"/>
            <a:ext cx="2743200" cy="3291840"/>
          </a:xfrm>
          <a:prstGeom prst="rect">
            <a:avLst/>
          </a:prstGeom>
          <a:noFill/>
        </p:spPr>
        <p:txBody>
          <a:bodyPr wrap="square" lIns="0" tIns="0" rIns="0" bIns="0">
            <a:spAutoFit/>
          </a:bodyPr>
          <a:lstStyle/>
          <a:p>
            <a:pPr algn="ctr"/>
            <a:r>
              <a:rPr lang="en-GB" sz="20000" b="1" i="0" dirty="0">
                <a:solidFill>
                  <a:srgbClr val="1B4780"/>
                </a:solidFill>
                <a:latin typeface="Cambria"/>
              </a:rPr>
              <a:t>4</a:t>
            </a:r>
          </a:p>
        </p:txBody>
      </p:sp>
      <p:sp>
        <p:nvSpPr>
          <p:cNvPr id="4" name="TextBox 3"/>
          <p:cNvSpPr txBox="1"/>
          <p:nvPr/>
        </p:nvSpPr>
        <p:spPr>
          <a:xfrm>
            <a:off x="566928" y="1920240"/>
            <a:ext cx="8138160" cy="365760"/>
          </a:xfrm>
          <a:prstGeom prst="rect">
            <a:avLst/>
          </a:prstGeom>
          <a:noFill/>
        </p:spPr>
        <p:txBody>
          <a:bodyPr wrap="square" lIns="0" tIns="0" rIns="0" bIns="0">
            <a:spAutoFit/>
          </a:bodyPr>
          <a:lstStyle/>
          <a:p>
            <a:r>
              <a:rPr lang="en-GB" sz="1150" b="1" i="0" dirty="0">
                <a:solidFill>
                  <a:srgbClr val="B9CAE4"/>
                </a:solidFill>
                <a:latin typeface="Calibri"/>
              </a:rPr>
              <a:t>I G I C E   C Y A   4</a:t>
            </a:r>
          </a:p>
        </p:txBody>
      </p:sp>
      <p:sp>
        <p:nvSpPr>
          <p:cNvPr id="5" name="TextBox 4"/>
          <p:cNvSpPr txBox="1"/>
          <p:nvPr/>
        </p:nvSpPr>
        <p:spPr>
          <a:xfrm>
            <a:off x="566928" y="2377440"/>
            <a:ext cx="8138160" cy="1280160"/>
          </a:xfrm>
          <a:prstGeom prst="rect">
            <a:avLst/>
          </a:prstGeom>
          <a:noFill/>
        </p:spPr>
        <p:txBody>
          <a:bodyPr wrap="square" lIns="0" tIns="0" rIns="0" bIns="0">
            <a:spAutoFit/>
          </a:bodyPr>
          <a:lstStyle/>
          <a:p>
            <a:pPr>
              <a:lnSpc>
                <a:spcPct val="105000"/>
              </a:lnSpc>
            </a:pPr>
            <a:r>
              <a:rPr lang="en-GB" sz="3600" b="1" i="0" dirty="0">
                <a:solidFill>
                  <a:srgbClr val="FFFFFF"/>
                </a:solidFill>
                <a:latin typeface="Cambria"/>
              </a:rPr>
              <a:t>Uko kanseri y'inkondo y'umura yemezwa n'uko ivurwa</a:t>
            </a:r>
          </a:p>
        </p:txBody>
      </p:sp>
      <p:sp>
        <p:nvSpPr>
          <p:cNvPr id="6" name="TextBox 5"/>
          <p:cNvSpPr txBox="1"/>
          <p:nvPr/>
        </p:nvSpPr>
        <p:spPr>
          <a:xfrm>
            <a:off x="566928" y="3886200"/>
            <a:ext cx="8138160" cy="914400"/>
          </a:xfrm>
          <a:prstGeom prst="rect">
            <a:avLst/>
          </a:prstGeom>
          <a:noFill/>
        </p:spPr>
        <p:txBody>
          <a:bodyPr wrap="square" lIns="0" tIns="0" rIns="0" bIns="0">
            <a:spAutoFit/>
          </a:bodyPr>
          <a:lstStyle/>
          <a:p>
            <a:pPr>
              <a:lnSpc>
                <a:spcPct val="120000"/>
              </a:lnSpc>
            </a:pPr>
            <a:r>
              <a:rPr lang="en-GB" sz="1800" b="0" i="0" dirty="0">
                <a:solidFill>
                  <a:srgbClr val="B9CAE4"/>
                </a:solidFill>
                <a:latin typeface="Calibri"/>
              </a:rPr>
              <a:t>Ibibera mu bitaro, mu magambo umugore n'umuryango we bashobora kumva.</a:t>
            </a:r>
          </a:p>
        </p:txBody>
      </p:sp>
      <p:sp>
        <p:nvSpPr>
          <p:cNvPr id="7" name="TextBox 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8" name="TextBox 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106</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Intego z'iri somo</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Mu mpera z'iri somo, uzaba ushobora:</a:t>
            </a:r>
          </a:p>
        </p:txBody>
      </p:sp>
      <p:sp>
        <p:nvSpPr>
          <p:cNvPr id="5" name="Rounded Rectangle 4"/>
          <p:cNvSpPr/>
          <p:nvPr/>
        </p:nvSpPr>
        <p:spPr>
          <a:xfrm>
            <a:off x="566928" y="202996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19181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121408"/>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Gusobanura mu buryo bworoshye uko umukozi w'ubuzima amenya niba umuntu afite kanseri y'inkondo y'umura.</a:t>
            </a:r>
          </a:p>
        </p:txBody>
      </p:sp>
      <p:sp>
        <p:nvSpPr>
          <p:cNvPr id="8" name="Rounded Rectangle 7"/>
          <p:cNvSpPr/>
          <p:nvPr/>
        </p:nvSpPr>
        <p:spPr>
          <a:xfrm>
            <a:off x="566928" y="2847441"/>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009290"/>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2938881"/>
            <a:ext cx="9960833" cy="543153"/>
          </a:xfrm>
          <a:prstGeom prst="rect">
            <a:avLst/>
          </a:prstGeom>
          <a:noFill/>
        </p:spPr>
        <p:txBody>
          <a:bodyPr wrap="square" lIns="0" tIns="0" rIns="0" bIns="0" anchor="ctr">
            <a:spAutoFit/>
          </a:bodyPr>
          <a:lstStyle/>
          <a:p>
            <a:pPr>
              <a:lnSpc>
                <a:spcPct val="110000"/>
              </a:lnSpc>
            </a:pPr>
            <a:r>
              <a:rPr lang="en-GB" sz="1400" b="0" i="0" dirty="0">
                <a:solidFill>
                  <a:srgbClr val="1A1A1A"/>
                </a:solidFill>
                <a:latin typeface="Calibri"/>
              </a:rPr>
              <a:t>Gusobanura ko impinduka zibonetse mbere ya kanseri zivurwa mu gihe gito, umuntu agiye kwa muganga rimwe.</a:t>
            </a:r>
          </a:p>
        </p:txBody>
      </p:sp>
      <p:sp>
        <p:nvSpPr>
          <p:cNvPr id="11" name="Rounded Rectangle 10"/>
          <p:cNvSpPr/>
          <p:nvPr/>
        </p:nvSpPr>
        <p:spPr>
          <a:xfrm>
            <a:off x="566928" y="3664915"/>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3826763"/>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3756355"/>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Gusobanura ku rwego rusange amoko y'ingenzi y'ubuvuzi bwa kanseri.</a:t>
            </a:r>
          </a:p>
        </p:txBody>
      </p:sp>
      <p:sp>
        <p:nvSpPr>
          <p:cNvPr id="14" name="Rounded Rectangle 13"/>
          <p:cNvSpPr/>
          <p:nvPr/>
        </p:nvSpPr>
        <p:spPr>
          <a:xfrm>
            <a:off x="566928" y="448238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Oval 14"/>
          <p:cNvSpPr/>
          <p:nvPr/>
        </p:nvSpPr>
        <p:spPr>
          <a:xfrm>
            <a:off x="804672" y="464423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6" name="TextBox 15"/>
          <p:cNvSpPr txBox="1"/>
          <p:nvPr/>
        </p:nvSpPr>
        <p:spPr>
          <a:xfrm>
            <a:off x="1389888" y="4573828"/>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Gusobanura impamvu abagore babiri bashobora guhabwa ubuvuzi butandukanye.</a:t>
            </a:r>
          </a:p>
        </p:txBody>
      </p:sp>
      <p:sp>
        <p:nvSpPr>
          <p:cNvPr id="17" name="Rounded Rectangle 16"/>
          <p:cNvSpPr/>
          <p:nvPr/>
        </p:nvSpPr>
        <p:spPr>
          <a:xfrm>
            <a:off x="566928" y="5299862"/>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8" name="Oval 17"/>
          <p:cNvSpPr/>
          <p:nvPr/>
        </p:nvSpPr>
        <p:spPr>
          <a:xfrm>
            <a:off x="804672" y="546171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5</a:t>
            </a:r>
          </a:p>
        </p:txBody>
      </p:sp>
      <p:sp>
        <p:nvSpPr>
          <p:cNvPr id="19" name="TextBox 18"/>
          <p:cNvSpPr txBox="1"/>
          <p:nvPr/>
        </p:nvSpPr>
        <p:spPr>
          <a:xfrm>
            <a:off x="1389888" y="5391302"/>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Gusubiza ubwoba busanzwe ku buvuzi bwo mu bitaro.</a:t>
            </a:r>
          </a:p>
        </p:txBody>
      </p:sp>
      <p:sp>
        <p:nvSpPr>
          <p:cNvPr id="20" name="TextBox 19"/>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1" name="TextBox 20"/>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107</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G U S U Z U M A   I N D W A R A</a:t>
            </a:r>
          </a:p>
        </p:txBody>
      </p:sp>
      <p:sp>
        <p:nvSpPr>
          <p:cNvPr id="3" name="TextBox 2"/>
          <p:cNvSpPr txBox="1"/>
          <p:nvPr/>
        </p:nvSpPr>
        <p:spPr>
          <a:xfrm>
            <a:off x="566928" y="713232"/>
            <a:ext cx="11058113" cy="523220"/>
          </a:xfrm>
          <a:prstGeom prst="rect">
            <a:avLst/>
          </a:prstGeom>
          <a:noFill/>
        </p:spPr>
        <p:txBody>
          <a:bodyPr wrap="square" lIns="0" tIns="0" rIns="0" bIns="0">
            <a:spAutoFit/>
          </a:bodyPr>
          <a:lstStyle/>
          <a:p>
            <a:r>
              <a:rPr lang="en-GB" sz="2700" b="1" i="0" dirty="0">
                <a:solidFill>
                  <a:srgbClr val="10305A"/>
                </a:solidFill>
                <a:latin typeface="Cambria"/>
              </a:rPr>
              <a:t>Uko indwara isuzumwa ikemezwa (1/2)</a:t>
            </a:r>
          </a:p>
        </p:txBody>
      </p:sp>
      <p:sp>
        <p:nvSpPr>
          <p:cNvPr id="4" name="Rounded Rectangle 3"/>
          <p:cNvSpPr/>
          <p:nvPr/>
        </p:nvSpPr>
        <p:spPr>
          <a:xfrm>
            <a:off x="566927" y="1554479"/>
            <a:ext cx="3187012" cy="395174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Oval 4"/>
          <p:cNvSpPr/>
          <p:nvPr/>
        </p:nvSpPr>
        <p:spPr>
          <a:xfrm>
            <a:off x="764088" y="1801169"/>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1</a:t>
            </a:r>
          </a:p>
        </p:txBody>
      </p:sp>
      <p:sp>
        <p:nvSpPr>
          <p:cNvPr id="6" name="TextBox 5"/>
          <p:cNvSpPr txBox="1"/>
          <p:nvPr/>
        </p:nvSpPr>
        <p:spPr>
          <a:xfrm>
            <a:off x="713231" y="2468880"/>
            <a:ext cx="2863833" cy="914033"/>
          </a:xfrm>
          <a:prstGeom prst="rect">
            <a:avLst/>
          </a:prstGeom>
          <a:noFill/>
        </p:spPr>
        <p:txBody>
          <a:bodyPr wrap="square" lIns="0" tIns="0" rIns="0" bIns="0">
            <a:spAutoFit/>
          </a:bodyPr>
          <a:lstStyle/>
          <a:p>
            <a:pPr algn="ctr">
              <a:lnSpc>
                <a:spcPct val="112000"/>
              </a:lnSpc>
            </a:pPr>
            <a:r>
              <a:rPr lang="en-GB" sz="1800" b="0" i="0" dirty="0">
                <a:solidFill>
                  <a:srgbClr val="1A1A1A"/>
                </a:solidFill>
                <a:latin typeface="Calibri"/>
              </a:rPr>
              <a:t>Umukozi w'ubuzima abaza ibimenyetso kandi agasuzuma umuntu</a:t>
            </a:r>
          </a:p>
        </p:txBody>
      </p:sp>
      <p:sp>
        <p:nvSpPr>
          <p:cNvPr id="7" name="Rounded Rectangle 6"/>
          <p:cNvSpPr/>
          <p:nvPr/>
        </p:nvSpPr>
        <p:spPr>
          <a:xfrm>
            <a:off x="3852841" y="3488116"/>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8" name="Rounded Rectangle 7"/>
          <p:cNvSpPr/>
          <p:nvPr/>
        </p:nvSpPr>
        <p:spPr>
          <a:xfrm>
            <a:off x="4264220" y="1554480"/>
            <a:ext cx="3319146" cy="394106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4414564" y="1811202"/>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2</a:t>
            </a:r>
          </a:p>
        </p:txBody>
      </p:sp>
      <p:sp>
        <p:nvSpPr>
          <p:cNvPr id="10" name="TextBox 9"/>
          <p:cNvSpPr txBox="1"/>
          <p:nvPr/>
        </p:nvSpPr>
        <p:spPr>
          <a:xfrm>
            <a:off x="4890051" y="2412199"/>
            <a:ext cx="2124247" cy="603820"/>
          </a:xfrm>
          <a:prstGeom prst="rect">
            <a:avLst/>
          </a:prstGeom>
          <a:noFill/>
        </p:spPr>
        <p:txBody>
          <a:bodyPr wrap="square" lIns="0" tIns="0" rIns="0" bIns="0">
            <a:spAutoFit/>
          </a:bodyPr>
          <a:lstStyle/>
          <a:p>
            <a:pPr algn="ctr">
              <a:lnSpc>
                <a:spcPct val="112000"/>
              </a:lnSpc>
            </a:pPr>
            <a:r>
              <a:rPr lang="en-GB" sz="1800" b="0" i="0" dirty="0">
                <a:solidFill>
                  <a:srgbClr val="1A1A1A"/>
                </a:solidFill>
                <a:latin typeface="Calibri"/>
              </a:rPr>
              <a:t>Inkondo y'umura irebwa neza</a:t>
            </a:r>
          </a:p>
        </p:txBody>
      </p:sp>
      <p:sp>
        <p:nvSpPr>
          <p:cNvPr id="11" name="Rounded Rectangle 10"/>
          <p:cNvSpPr/>
          <p:nvPr/>
        </p:nvSpPr>
        <p:spPr>
          <a:xfrm>
            <a:off x="7808545" y="3514299"/>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12" name="Rounded Rectangle 11"/>
          <p:cNvSpPr/>
          <p:nvPr/>
        </p:nvSpPr>
        <p:spPr>
          <a:xfrm>
            <a:off x="8270522" y="1470003"/>
            <a:ext cx="3240624" cy="403622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Oval 12"/>
          <p:cNvSpPr/>
          <p:nvPr/>
        </p:nvSpPr>
        <p:spPr>
          <a:xfrm>
            <a:off x="8509703" y="1730607"/>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3</a:t>
            </a:r>
          </a:p>
        </p:txBody>
      </p:sp>
      <p:sp>
        <p:nvSpPr>
          <p:cNvPr id="14" name="TextBox 13"/>
          <p:cNvSpPr txBox="1"/>
          <p:nvPr/>
        </p:nvSpPr>
        <p:spPr>
          <a:xfrm>
            <a:off x="8597819" y="2496871"/>
            <a:ext cx="2548752" cy="914033"/>
          </a:xfrm>
          <a:prstGeom prst="rect">
            <a:avLst/>
          </a:prstGeom>
          <a:noFill/>
        </p:spPr>
        <p:txBody>
          <a:bodyPr wrap="square" lIns="0" tIns="0" rIns="0" bIns="0">
            <a:spAutoFit/>
          </a:bodyPr>
          <a:lstStyle/>
          <a:p>
            <a:pPr algn="ctr">
              <a:lnSpc>
                <a:spcPct val="112000"/>
              </a:lnSpc>
            </a:pPr>
            <a:r>
              <a:rPr lang="en-GB" sz="1800" b="0" i="0" dirty="0">
                <a:solidFill>
                  <a:srgbClr val="1A1A1A"/>
                </a:solidFill>
                <a:latin typeface="Calibri"/>
              </a:rPr>
              <a:t>Hafatwa agace gato cyane k'inyama niba hari ikintu giteye amakenga</a:t>
            </a:r>
          </a:p>
        </p:txBody>
      </p:sp>
      <p:sp>
        <p:nvSpPr>
          <p:cNvPr id="25" name="TextBox 24"/>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6" name="TextBox 25"/>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108</a:t>
            </a:r>
          </a:p>
        </p:txBody>
      </p:sp>
      <p:pic>
        <p:nvPicPr>
          <p:cNvPr id="28" name="Picture 27">
            <a:extLst>
              <a:ext uri="{FF2B5EF4-FFF2-40B4-BE49-F238E27FC236}">
                <a16:creationId xmlns:a16="http://schemas.microsoft.com/office/drawing/2014/main" id="{470C54D3-337C-640F-9075-3791AF72DF4B}"/>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18576" y="3725860"/>
            <a:ext cx="2283714" cy="1522476"/>
          </a:xfrm>
          <a:prstGeom prst="rect">
            <a:avLst/>
          </a:prstGeom>
        </p:spPr>
      </p:pic>
      <p:pic>
        <p:nvPicPr>
          <p:cNvPr id="30" name="Picture 29">
            <a:extLst>
              <a:ext uri="{FF2B5EF4-FFF2-40B4-BE49-F238E27FC236}">
                <a16:creationId xmlns:a16="http://schemas.microsoft.com/office/drawing/2014/main" id="{939DDFBF-7D91-A723-6A37-1BB06AACB157}"/>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711095" y="3314040"/>
            <a:ext cx="2485963" cy="1989480"/>
          </a:xfrm>
          <a:prstGeom prst="rect">
            <a:avLst/>
          </a:prstGeom>
        </p:spPr>
      </p:pic>
      <p:pic>
        <p:nvPicPr>
          <p:cNvPr id="36" name="Picture 35">
            <a:extLst>
              <a:ext uri="{FF2B5EF4-FFF2-40B4-BE49-F238E27FC236}">
                <a16:creationId xmlns:a16="http://schemas.microsoft.com/office/drawing/2014/main" id="{DB55556F-A7BC-6158-5CF4-AEE73EEEF7A8}"/>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526907" y="3683332"/>
            <a:ext cx="2727854" cy="1487921"/>
          </a:xfrm>
          <a:prstGeom prst="rect">
            <a:avLst/>
          </a:prstGeom>
        </p:spPr>
      </p:pic>
      <p:sp>
        <p:nvSpPr>
          <p:cNvPr id="40" name="TextBox 39">
            <a:extLst>
              <a:ext uri="{FF2B5EF4-FFF2-40B4-BE49-F238E27FC236}">
                <a16:creationId xmlns:a16="http://schemas.microsoft.com/office/drawing/2014/main" id="{0D9136F9-B679-92A5-FE0C-AD787D134891}"/>
              </a:ext>
            </a:extLst>
          </p:cNvPr>
          <p:cNvSpPr txBox="1"/>
          <p:nvPr/>
        </p:nvSpPr>
        <p:spPr>
          <a:xfrm>
            <a:off x="1337764" y="1909794"/>
            <a:ext cx="1767142" cy="293607"/>
          </a:xfrm>
          <a:prstGeom prst="rect">
            <a:avLst/>
          </a:prstGeom>
          <a:noFill/>
        </p:spPr>
        <p:txBody>
          <a:bodyPr wrap="square" lIns="0" tIns="0" rIns="0" bIns="0">
            <a:spAutoFit/>
          </a:bodyPr>
          <a:lstStyle/>
          <a:p>
            <a:pPr algn="ctr">
              <a:lnSpc>
                <a:spcPct val="112000"/>
              </a:lnSpc>
            </a:pPr>
            <a:r>
              <a:rPr lang="en-GB" sz="1050" b="1" dirty="0">
                <a:solidFill>
                  <a:srgbClr val="1A1A1A"/>
                </a:solidFill>
                <a:latin typeface="Calibri"/>
              </a:rPr>
              <a:t>Kubazwa na muganga</a:t>
            </a:r>
            <a:endParaRPr lang="en-GB" sz="1050" b="1" i="0" dirty="0">
              <a:solidFill>
                <a:srgbClr val="1A1A1A"/>
              </a:solidFill>
              <a:latin typeface="Calibri"/>
            </a:endParaRPr>
          </a:p>
        </p:txBody>
      </p:sp>
      <p:sp>
        <p:nvSpPr>
          <p:cNvPr id="42" name="TextBox 41">
            <a:extLst>
              <a:ext uri="{FF2B5EF4-FFF2-40B4-BE49-F238E27FC236}">
                <a16:creationId xmlns:a16="http://schemas.microsoft.com/office/drawing/2014/main" id="{7734B1EB-7048-9EA5-58DF-48BABF0BD08E}"/>
              </a:ext>
            </a:extLst>
          </p:cNvPr>
          <p:cNvSpPr txBox="1"/>
          <p:nvPr/>
        </p:nvSpPr>
        <p:spPr>
          <a:xfrm>
            <a:off x="4653527" y="1880350"/>
            <a:ext cx="2329013" cy="293607"/>
          </a:xfrm>
          <a:prstGeom prst="rect">
            <a:avLst/>
          </a:prstGeom>
          <a:noFill/>
        </p:spPr>
        <p:txBody>
          <a:bodyPr wrap="square" lIns="0" tIns="0" rIns="0" bIns="0">
            <a:spAutoFit/>
          </a:bodyPr>
          <a:lstStyle/>
          <a:p>
            <a:pPr algn="ctr">
              <a:lnSpc>
                <a:spcPct val="112000"/>
              </a:lnSpc>
            </a:pPr>
            <a:r>
              <a:rPr lang="en-GB" b="1" dirty="0">
                <a:solidFill>
                  <a:srgbClr val="1A1A1A"/>
                </a:solidFill>
                <a:latin typeface="Calibri"/>
              </a:rPr>
              <a:t>Kureba</a:t>
            </a:r>
            <a:endParaRPr lang="en-GB" sz="1800" b="1" i="0" dirty="0">
              <a:solidFill>
                <a:srgbClr val="1A1A1A"/>
              </a:solidFill>
              <a:latin typeface="Calibri"/>
            </a:endParaRPr>
          </a:p>
        </p:txBody>
      </p:sp>
      <p:sp>
        <p:nvSpPr>
          <p:cNvPr id="44" name="TextBox 43">
            <a:extLst>
              <a:ext uri="{FF2B5EF4-FFF2-40B4-BE49-F238E27FC236}">
                <a16:creationId xmlns:a16="http://schemas.microsoft.com/office/drawing/2014/main" id="{C4E756C6-D4AC-F013-260A-0543F7168366}"/>
              </a:ext>
            </a:extLst>
          </p:cNvPr>
          <p:cNvSpPr txBox="1"/>
          <p:nvPr/>
        </p:nvSpPr>
        <p:spPr>
          <a:xfrm>
            <a:off x="9083379" y="1776728"/>
            <a:ext cx="1767142" cy="293607"/>
          </a:xfrm>
          <a:prstGeom prst="rect">
            <a:avLst/>
          </a:prstGeom>
          <a:noFill/>
        </p:spPr>
        <p:txBody>
          <a:bodyPr wrap="square" lIns="0" tIns="0" rIns="0" bIns="0">
            <a:spAutoFit/>
          </a:bodyPr>
          <a:lstStyle/>
          <a:p>
            <a:pPr algn="ctr">
              <a:lnSpc>
                <a:spcPct val="112000"/>
              </a:lnSpc>
            </a:pPr>
            <a:r>
              <a:rPr lang="en-GB" sz="1050" b="1" dirty="0">
                <a:solidFill>
                  <a:srgbClr val="1A1A1A"/>
                </a:solidFill>
                <a:latin typeface="Calibri"/>
              </a:rPr>
              <a:t>Gufata agace k'inyama</a:t>
            </a:r>
            <a:endParaRPr lang="en-GB" sz="1050" b="1" i="0" dirty="0">
              <a:solidFill>
                <a:srgbClr val="1A1A1A"/>
              </a:solidFill>
              <a:latin typeface="Calibri"/>
            </a:endParaRPr>
          </a:p>
        </p:txBody>
      </p:sp>
      <p:sp>
        <p:nvSpPr>
          <p:cNvPr id="16" name="Rounded Rectangle 10">
            <a:extLst>
              <a:ext uri="{FF2B5EF4-FFF2-40B4-BE49-F238E27FC236}">
                <a16:creationId xmlns:a16="http://schemas.microsoft.com/office/drawing/2014/main" id="{5F6B745D-F74A-E80C-277F-FFBEB544104A}"/>
              </a:ext>
            </a:extLst>
          </p:cNvPr>
          <p:cNvSpPr/>
          <p:nvPr/>
        </p:nvSpPr>
        <p:spPr>
          <a:xfrm>
            <a:off x="11657183" y="3576546"/>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C6839-C828-40DC-7B35-628FAA3B47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46A331-A843-5FBA-6E66-0D6F1D2861E5}"/>
              </a:ext>
            </a:extLst>
          </p:cNvPr>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G U S U Z U M A   I N D W A R A</a:t>
            </a:r>
          </a:p>
        </p:txBody>
      </p:sp>
      <p:sp>
        <p:nvSpPr>
          <p:cNvPr id="3" name="TextBox 2">
            <a:extLst>
              <a:ext uri="{FF2B5EF4-FFF2-40B4-BE49-F238E27FC236}">
                <a16:creationId xmlns:a16="http://schemas.microsoft.com/office/drawing/2014/main" id="{E6C6ADEC-88E4-2C10-7CE8-5A0ECF6EC3E7}"/>
              </a:ext>
            </a:extLst>
          </p:cNvPr>
          <p:cNvSpPr txBox="1"/>
          <p:nvPr/>
        </p:nvSpPr>
        <p:spPr>
          <a:xfrm>
            <a:off x="566928" y="713232"/>
            <a:ext cx="11058113" cy="523220"/>
          </a:xfrm>
          <a:prstGeom prst="rect">
            <a:avLst/>
          </a:prstGeom>
          <a:noFill/>
        </p:spPr>
        <p:txBody>
          <a:bodyPr wrap="square" lIns="0" tIns="0" rIns="0" bIns="0">
            <a:spAutoFit/>
          </a:bodyPr>
          <a:lstStyle/>
          <a:p>
            <a:r>
              <a:rPr lang="en-GB" sz="2700" b="1" i="0" dirty="0">
                <a:solidFill>
                  <a:srgbClr val="10305A"/>
                </a:solidFill>
                <a:latin typeface="Cambria"/>
              </a:rPr>
              <a:t>Uko indwara isuzumwa ikemezwa (2/2)</a:t>
            </a:r>
          </a:p>
        </p:txBody>
      </p:sp>
      <p:sp>
        <p:nvSpPr>
          <p:cNvPr id="4" name="Rounded Rectangle 3">
            <a:extLst>
              <a:ext uri="{FF2B5EF4-FFF2-40B4-BE49-F238E27FC236}">
                <a16:creationId xmlns:a16="http://schemas.microsoft.com/office/drawing/2014/main" id="{4621C10A-B642-AD76-141E-5689115B1273}"/>
              </a:ext>
            </a:extLst>
          </p:cNvPr>
          <p:cNvSpPr/>
          <p:nvPr/>
        </p:nvSpPr>
        <p:spPr>
          <a:xfrm>
            <a:off x="1133855" y="1554479"/>
            <a:ext cx="3855180" cy="360648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Rounded Rectangle 6">
            <a:extLst>
              <a:ext uri="{FF2B5EF4-FFF2-40B4-BE49-F238E27FC236}">
                <a16:creationId xmlns:a16="http://schemas.microsoft.com/office/drawing/2014/main" id="{FB37BABC-942F-9656-26B8-86040DD13F07}"/>
              </a:ext>
            </a:extLst>
          </p:cNvPr>
          <p:cNvSpPr/>
          <p:nvPr/>
        </p:nvSpPr>
        <p:spPr>
          <a:xfrm>
            <a:off x="5507811" y="2487015"/>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15" name="Rounded Rectangle 14">
            <a:extLst>
              <a:ext uri="{FF2B5EF4-FFF2-40B4-BE49-F238E27FC236}">
                <a16:creationId xmlns:a16="http://schemas.microsoft.com/office/drawing/2014/main" id="{5236C008-CE17-4DAE-12B2-1A64CD15BAF8}"/>
              </a:ext>
            </a:extLst>
          </p:cNvPr>
          <p:cNvSpPr/>
          <p:nvPr/>
        </p:nvSpPr>
        <p:spPr>
          <a:xfrm>
            <a:off x="530352" y="2516472"/>
            <a:ext cx="274320" cy="237744"/>
          </a:xfrm>
          <a:prstGeom prst="roundRect">
            <a:avLst>
              <a:gd name="adj" fmla="val 20000"/>
            </a:avLst>
          </a:prstGeom>
          <a:solidFill>
            <a:srgbClr val="1F4E96"/>
          </a:solidFill>
          <a:ln>
            <a:noFill/>
          </a:ln>
          <a:effectLst/>
        </p:spPr>
        <p:txBody>
          <a:bodyPr wrap="square" lIns="0" tIns="0" rIns="0" bIns="0" rtlCol="0" anchor="ctr"/>
          <a:lstStyle/>
          <a:p>
            <a:pPr algn="ctr"/>
            <a:r>
              <a:rPr lang="en-GB" sz="1300" b="1" i="0" dirty="0">
                <a:solidFill>
                  <a:srgbClr val="FFFFFF"/>
                </a:solidFill>
                <a:latin typeface="Calibri"/>
              </a:rPr>
              <a:t>→</a:t>
            </a:r>
          </a:p>
        </p:txBody>
      </p:sp>
      <p:sp>
        <p:nvSpPr>
          <p:cNvPr id="17" name="Oval 16">
            <a:extLst>
              <a:ext uri="{FF2B5EF4-FFF2-40B4-BE49-F238E27FC236}">
                <a16:creationId xmlns:a16="http://schemas.microsoft.com/office/drawing/2014/main" id="{22D54E04-7491-CB5E-934B-AEE0839815FA}"/>
              </a:ext>
            </a:extLst>
          </p:cNvPr>
          <p:cNvSpPr/>
          <p:nvPr/>
        </p:nvSpPr>
        <p:spPr>
          <a:xfrm>
            <a:off x="1294662" y="1817529"/>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4</a:t>
            </a:r>
          </a:p>
        </p:txBody>
      </p:sp>
      <p:sp>
        <p:nvSpPr>
          <p:cNvPr id="18" name="TextBox 17">
            <a:extLst>
              <a:ext uri="{FF2B5EF4-FFF2-40B4-BE49-F238E27FC236}">
                <a16:creationId xmlns:a16="http://schemas.microsoft.com/office/drawing/2014/main" id="{AC3D415F-0BA1-8252-00F9-3F4C6BE01EB7}"/>
              </a:ext>
            </a:extLst>
          </p:cNvPr>
          <p:cNvSpPr txBox="1"/>
          <p:nvPr/>
        </p:nvSpPr>
        <p:spPr>
          <a:xfrm>
            <a:off x="1479413" y="2349335"/>
            <a:ext cx="3390749" cy="603820"/>
          </a:xfrm>
          <a:prstGeom prst="rect">
            <a:avLst/>
          </a:prstGeom>
          <a:noFill/>
        </p:spPr>
        <p:txBody>
          <a:bodyPr wrap="square" lIns="0" tIns="0" rIns="0" bIns="0">
            <a:spAutoFit/>
          </a:bodyPr>
          <a:lstStyle/>
          <a:p>
            <a:pPr algn="ctr">
              <a:lnSpc>
                <a:spcPct val="112000"/>
              </a:lnSpc>
            </a:pPr>
            <a:r>
              <a:rPr lang="en-GB" sz="1800" b="0" i="0" dirty="0">
                <a:solidFill>
                  <a:srgbClr val="1A1A1A"/>
                </a:solidFill>
                <a:latin typeface="Calibri"/>
              </a:rPr>
              <a:t>Laboratwari isuzuma ako gace k'inyama ikavuga niba kanseri ihari</a:t>
            </a:r>
          </a:p>
        </p:txBody>
      </p:sp>
      <p:sp>
        <p:nvSpPr>
          <p:cNvPr id="20" name="Rounded Rectangle 19">
            <a:extLst>
              <a:ext uri="{FF2B5EF4-FFF2-40B4-BE49-F238E27FC236}">
                <a16:creationId xmlns:a16="http://schemas.microsoft.com/office/drawing/2014/main" id="{E5A91345-EDB3-9679-ECF8-73E774F6280D}"/>
              </a:ext>
            </a:extLst>
          </p:cNvPr>
          <p:cNvSpPr/>
          <p:nvPr/>
        </p:nvSpPr>
        <p:spPr>
          <a:xfrm>
            <a:off x="5992442" y="1554479"/>
            <a:ext cx="3975805" cy="3606483"/>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21" name="Oval 20">
            <a:extLst>
              <a:ext uri="{FF2B5EF4-FFF2-40B4-BE49-F238E27FC236}">
                <a16:creationId xmlns:a16="http://schemas.microsoft.com/office/drawing/2014/main" id="{33BD21B9-1629-B88A-94BD-4A8B1169FE7D}"/>
              </a:ext>
            </a:extLst>
          </p:cNvPr>
          <p:cNvSpPr/>
          <p:nvPr/>
        </p:nvSpPr>
        <p:spPr>
          <a:xfrm>
            <a:off x="6231403" y="1750999"/>
            <a:ext cx="475488" cy="475488"/>
          </a:xfrm>
          <a:prstGeom prst="ellipse">
            <a:avLst/>
          </a:prstGeom>
          <a:solidFill>
            <a:srgbClr val="1F4E96"/>
          </a:solidFill>
          <a:ln>
            <a:noFill/>
          </a:ln>
          <a:effectLst/>
        </p:spPr>
        <p:txBody>
          <a:bodyPr wrap="none" lIns="0" tIns="0" rIns="0" bIns="0" rtlCol="0" anchor="ctr"/>
          <a:lstStyle/>
          <a:p>
            <a:pPr algn="ctr"/>
            <a:r>
              <a:rPr lang="en-GB" sz="1700" b="1" i="0" dirty="0">
                <a:solidFill>
                  <a:srgbClr val="FFFFFF"/>
                </a:solidFill>
                <a:latin typeface="Calibri"/>
              </a:rPr>
              <a:t>5</a:t>
            </a:r>
          </a:p>
        </p:txBody>
      </p:sp>
      <p:sp>
        <p:nvSpPr>
          <p:cNvPr id="22" name="TextBox 21">
            <a:extLst>
              <a:ext uri="{FF2B5EF4-FFF2-40B4-BE49-F238E27FC236}">
                <a16:creationId xmlns:a16="http://schemas.microsoft.com/office/drawing/2014/main" id="{1C5B1423-79F3-BF95-4627-9A2660EE88A0}"/>
              </a:ext>
            </a:extLst>
          </p:cNvPr>
          <p:cNvSpPr txBox="1"/>
          <p:nvPr/>
        </p:nvSpPr>
        <p:spPr>
          <a:xfrm>
            <a:off x="6138747" y="2468880"/>
            <a:ext cx="3674954" cy="603820"/>
          </a:xfrm>
          <a:prstGeom prst="rect">
            <a:avLst/>
          </a:prstGeom>
          <a:noFill/>
        </p:spPr>
        <p:txBody>
          <a:bodyPr wrap="square" lIns="0" tIns="0" rIns="0" bIns="0">
            <a:spAutoFit/>
          </a:bodyPr>
          <a:lstStyle/>
          <a:p>
            <a:pPr algn="ctr">
              <a:lnSpc>
                <a:spcPct val="112000"/>
              </a:lnSpc>
            </a:pPr>
            <a:r>
              <a:rPr lang="en-GB" sz="1250" b="0" i="0" dirty="0">
                <a:solidFill>
                  <a:srgbClr val="1A1A1A"/>
                </a:solidFill>
                <a:latin typeface="Calibri"/>
              </a:rPr>
              <a:t>Ibindi bizamini bishobora gukorwa kugira ngo harebwe niba yarakwirakwiriye</a:t>
            </a:r>
          </a:p>
        </p:txBody>
      </p:sp>
      <p:sp>
        <p:nvSpPr>
          <p:cNvPr id="23" name="Rounded Rectangle 22">
            <a:extLst>
              <a:ext uri="{FF2B5EF4-FFF2-40B4-BE49-F238E27FC236}">
                <a16:creationId xmlns:a16="http://schemas.microsoft.com/office/drawing/2014/main" id="{0B74B744-EA74-71A5-3F5D-982E3F2605B5}"/>
              </a:ext>
            </a:extLst>
          </p:cNvPr>
          <p:cNvSpPr/>
          <p:nvPr/>
        </p:nvSpPr>
        <p:spPr>
          <a:xfrm>
            <a:off x="566928" y="5294797"/>
            <a:ext cx="11058113" cy="932688"/>
          </a:xfrm>
          <a:prstGeom prst="roundRect">
            <a:avLst>
              <a:gd name="adj" fmla="val 4500"/>
            </a:avLst>
          </a:prstGeom>
          <a:solidFill>
            <a:schemeClr val="accent3">
              <a:lumMod val="20000"/>
              <a:lumOff val="80000"/>
            </a:schemeClr>
          </a:solidFill>
          <a:ln w="12700">
            <a:solidFill>
              <a:srgbClr val="D3E0F2"/>
            </a:solidFill>
          </a:ln>
          <a:effectLst/>
        </p:spPr>
        <p:txBody>
          <a:bodyPr wrap="square" rtlCol="0" anchor="ctr"/>
          <a:lstStyle/>
          <a:p>
            <a:pPr algn="ctr"/>
            <a:endParaRPr lang="en-GB" dirty="0"/>
          </a:p>
        </p:txBody>
      </p:sp>
      <p:sp>
        <p:nvSpPr>
          <p:cNvPr id="24" name="TextBox 23">
            <a:extLst>
              <a:ext uri="{FF2B5EF4-FFF2-40B4-BE49-F238E27FC236}">
                <a16:creationId xmlns:a16="http://schemas.microsoft.com/office/drawing/2014/main" id="{39C7C663-3079-624D-AAAE-1D653AB3AEBA}"/>
              </a:ext>
            </a:extLst>
          </p:cNvPr>
          <p:cNvSpPr txBox="1"/>
          <p:nvPr/>
        </p:nvSpPr>
        <p:spPr>
          <a:xfrm>
            <a:off x="804672" y="5441101"/>
            <a:ext cx="10582625" cy="658368"/>
          </a:xfrm>
          <a:prstGeom prst="rect">
            <a:avLst/>
          </a:prstGeom>
          <a:noFill/>
        </p:spPr>
        <p:txBody>
          <a:bodyPr wrap="square" lIns="0" tIns="0" rIns="0" bIns="0">
            <a:spAutoFit/>
          </a:bodyPr>
          <a:lstStyle/>
          <a:p>
            <a:pPr>
              <a:lnSpc>
                <a:spcPct val="112000"/>
              </a:lnSpc>
            </a:pPr>
            <a:r>
              <a:rPr lang="en-GB" sz="1600" b="1" i="0" dirty="0">
                <a:solidFill>
                  <a:srgbClr val="1F4E96"/>
                </a:solidFill>
                <a:latin typeface="Calibri"/>
              </a:rPr>
              <a:t>📌 Wibuke:  </a:t>
            </a:r>
            <a:r>
              <a:rPr lang="en-GB" sz="1600" b="0" i="0" dirty="0">
                <a:solidFill>
                  <a:srgbClr val="1A1A1A"/>
                </a:solidFill>
                <a:latin typeface="Calibri"/>
              </a:rPr>
              <a:t>Laboratwari isuzuma agace k'inyama ni yo yonyine ishobora kwemeza kanseri. Nta muntu ushobora kubimenyera inyuma, kandi nta suzuma ryonyine ritanga igisubizo cya nyuma.</a:t>
            </a:r>
          </a:p>
        </p:txBody>
      </p:sp>
      <p:sp>
        <p:nvSpPr>
          <p:cNvPr id="25" name="TextBox 24">
            <a:extLst>
              <a:ext uri="{FF2B5EF4-FFF2-40B4-BE49-F238E27FC236}">
                <a16:creationId xmlns:a16="http://schemas.microsoft.com/office/drawing/2014/main" id="{1070CC52-F2D6-C694-2F78-86B2CA79D9A8}"/>
              </a:ext>
            </a:extLst>
          </p:cNvPr>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6" name="TextBox 25">
            <a:extLst>
              <a:ext uri="{FF2B5EF4-FFF2-40B4-BE49-F238E27FC236}">
                <a16:creationId xmlns:a16="http://schemas.microsoft.com/office/drawing/2014/main" id="{8B3C96CB-A764-8F45-66F3-99EAE2E1BC00}"/>
              </a:ext>
            </a:extLst>
          </p:cNvPr>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109</a:t>
            </a:r>
          </a:p>
        </p:txBody>
      </p:sp>
      <p:pic>
        <p:nvPicPr>
          <p:cNvPr id="34" name="Picture 33">
            <a:extLst>
              <a:ext uri="{FF2B5EF4-FFF2-40B4-BE49-F238E27FC236}">
                <a16:creationId xmlns:a16="http://schemas.microsoft.com/office/drawing/2014/main" id="{662A5AE2-9B03-1040-0F19-8FED78F018D0}"/>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371600" y="3098968"/>
            <a:ext cx="3390749" cy="1849500"/>
          </a:xfrm>
          <a:prstGeom prst="rect">
            <a:avLst/>
          </a:prstGeom>
        </p:spPr>
      </p:pic>
      <p:pic>
        <p:nvPicPr>
          <p:cNvPr id="38" name="Picture 37">
            <a:extLst>
              <a:ext uri="{FF2B5EF4-FFF2-40B4-BE49-F238E27FC236}">
                <a16:creationId xmlns:a16="http://schemas.microsoft.com/office/drawing/2014/main" id="{D41A5F56-6A08-7BC9-8CB7-1D8DBFA82907}"/>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231403" y="3206535"/>
            <a:ext cx="2932886" cy="1599756"/>
          </a:xfrm>
          <a:prstGeom prst="rect">
            <a:avLst/>
          </a:prstGeom>
        </p:spPr>
      </p:pic>
      <p:sp>
        <p:nvSpPr>
          <p:cNvPr id="29" name="TextBox 28">
            <a:extLst>
              <a:ext uri="{FF2B5EF4-FFF2-40B4-BE49-F238E27FC236}">
                <a16:creationId xmlns:a16="http://schemas.microsoft.com/office/drawing/2014/main" id="{20B6AD22-1B61-CAAF-CC22-9AD0DA574F14}"/>
              </a:ext>
            </a:extLst>
          </p:cNvPr>
          <p:cNvSpPr txBox="1"/>
          <p:nvPr/>
        </p:nvSpPr>
        <p:spPr>
          <a:xfrm>
            <a:off x="1641196" y="1907183"/>
            <a:ext cx="1767142" cy="293607"/>
          </a:xfrm>
          <a:prstGeom prst="rect">
            <a:avLst/>
          </a:prstGeom>
          <a:noFill/>
        </p:spPr>
        <p:txBody>
          <a:bodyPr wrap="square" lIns="0" tIns="0" rIns="0" bIns="0">
            <a:spAutoFit/>
          </a:bodyPr>
          <a:lstStyle/>
          <a:p>
            <a:pPr algn="ctr">
              <a:lnSpc>
                <a:spcPct val="112000"/>
              </a:lnSpc>
            </a:pPr>
            <a:r>
              <a:rPr lang="en-GB" sz="1450" b="1" dirty="0">
                <a:solidFill>
                  <a:srgbClr val="1A1A1A"/>
                </a:solidFill>
                <a:latin typeface="Calibri"/>
              </a:rPr>
              <a:t>L</a:t>
            </a:r>
            <a:r>
              <a:rPr lang="en-GB" sz="1450" b="1" i="0" dirty="0">
                <a:solidFill>
                  <a:srgbClr val="1A1A1A"/>
                </a:solidFill>
                <a:latin typeface="Calibri"/>
              </a:rPr>
              <a:t>aboratwari</a:t>
            </a:r>
          </a:p>
        </p:txBody>
      </p:sp>
      <p:sp>
        <p:nvSpPr>
          <p:cNvPr id="32" name="TextBox 31">
            <a:extLst>
              <a:ext uri="{FF2B5EF4-FFF2-40B4-BE49-F238E27FC236}">
                <a16:creationId xmlns:a16="http://schemas.microsoft.com/office/drawing/2014/main" id="{9D0E3387-41FC-4D45-6DD5-332C947B1B28}"/>
              </a:ext>
            </a:extLst>
          </p:cNvPr>
          <p:cNvSpPr txBox="1"/>
          <p:nvPr/>
        </p:nvSpPr>
        <p:spPr>
          <a:xfrm>
            <a:off x="6518265" y="1817529"/>
            <a:ext cx="1767142" cy="293607"/>
          </a:xfrm>
          <a:prstGeom prst="rect">
            <a:avLst/>
          </a:prstGeom>
          <a:noFill/>
        </p:spPr>
        <p:txBody>
          <a:bodyPr wrap="square" lIns="0" tIns="0" rIns="0" bIns="0">
            <a:spAutoFit/>
          </a:bodyPr>
          <a:lstStyle/>
          <a:p>
            <a:pPr algn="ctr">
              <a:lnSpc>
                <a:spcPct val="112000"/>
              </a:lnSpc>
            </a:pPr>
            <a:r>
              <a:rPr lang="en-GB" sz="1150" b="1" i="0" dirty="0">
                <a:solidFill>
                  <a:srgbClr val="1A1A1A"/>
                </a:solidFill>
                <a:latin typeface="Calibri"/>
              </a:rPr>
              <a:t>Ibindi bizamini</a:t>
            </a:r>
          </a:p>
        </p:txBody>
      </p:sp>
    </p:spTree>
    <p:extLst>
      <p:ext uri="{BB962C8B-B14F-4D97-AF65-F5344CB8AC3E}">
        <p14:creationId xmlns:p14="http://schemas.microsoft.com/office/powerpoint/2010/main" val="20175046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G U S U Z U M A   I N D W A R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Ibyo wabwira umuryango uhangayitse</a:t>
            </a:r>
          </a:p>
        </p:txBody>
      </p:sp>
      <p:sp>
        <p:nvSpPr>
          <p:cNvPr id="4" name="Rounded Rectangle 3"/>
          <p:cNvSpPr/>
          <p:nvPr/>
        </p:nvSpPr>
        <p:spPr>
          <a:xfrm>
            <a:off x="566928" y="1554480"/>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7393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Ku bijyanye no gutegereza.  </a:t>
            </a:r>
            <a:r>
              <a:rPr lang="en-GB" sz="1800" b="0" i="0" dirty="0">
                <a:solidFill>
                  <a:srgbClr val="1A1A1A"/>
                </a:solidFill>
                <a:latin typeface="Calibri"/>
              </a:rPr>
              <a:t>Ibisubizo bifata igihe kuko agace k'inyama kagomba gusuzumirwa neza muri laboratwari.</a:t>
            </a:r>
          </a:p>
        </p:txBody>
      </p:sp>
      <p:sp>
        <p:nvSpPr>
          <p:cNvPr id="7" name="Rounded Rectangle 6"/>
          <p:cNvSpPr/>
          <p:nvPr/>
        </p:nvSpPr>
        <p:spPr>
          <a:xfrm>
            <a:off x="566928" y="2432304"/>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65176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523744"/>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Ku bijyanye n'icyitegererezo gito.  </a:t>
            </a:r>
            <a:r>
              <a:rPr lang="en-GB" sz="1800" b="0" i="0" dirty="0">
                <a:solidFill>
                  <a:srgbClr val="1A1A1A"/>
                </a:solidFill>
                <a:latin typeface="Calibri"/>
              </a:rPr>
              <a:t>Gufata agace gato k'inyama bikorwa vuba, kandi ntibituma indwara ikwirakwira.</a:t>
            </a:r>
          </a:p>
        </p:txBody>
      </p:sp>
      <p:sp>
        <p:nvSpPr>
          <p:cNvPr id="10" name="Rounded Rectangle 9"/>
          <p:cNvSpPr/>
          <p:nvPr/>
        </p:nvSpPr>
        <p:spPr>
          <a:xfrm>
            <a:off x="566928" y="3310128"/>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52958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401568"/>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Ku bijyanye n'ibitaramenyekana.  </a:t>
            </a:r>
            <a:r>
              <a:rPr lang="en-GB" sz="1800" b="0" i="0" dirty="0">
                <a:solidFill>
                  <a:srgbClr val="1A1A1A"/>
                </a:solidFill>
                <a:latin typeface="Calibri"/>
              </a:rPr>
              <a:t>Kugeza igisubizo kigarutse, nta muntu uzi igisubizo. Ntugakeke, kandi ntugasezeranye.</a:t>
            </a:r>
          </a:p>
        </p:txBody>
      </p:sp>
      <p:sp>
        <p:nvSpPr>
          <p:cNvPr id="13" name="Rounded Rectangle 12"/>
          <p:cNvSpPr/>
          <p:nvPr/>
        </p:nvSpPr>
        <p:spPr>
          <a:xfrm>
            <a:off x="566928" y="4187952"/>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40740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279392"/>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Ku bijyanye n'icyo gukora hagati aho.  </a:t>
            </a:r>
            <a:r>
              <a:rPr lang="en-GB" sz="1800" b="0" i="0" dirty="0">
                <a:solidFill>
                  <a:srgbClr val="1A1A1A"/>
                </a:solidFill>
                <a:latin typeface="Calibri"/>
              </a:rPr>
              <a:t>Kurikiza gahunda yo kwa muganga, kandi umenyeshe kuva amaraso gushya cyangwa ububabare bukabije nta gutegereza.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110</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K U V U R A   I M P I N D U K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Kuvura impinduka mbere y'uko ziba kanseri</a:t>
            </a:r>
          </a:p>
        </p:txBody>
      </p:sp>
      <p:sp>
        <p:nvSpPr>
          <p:cNvPr id="4" name="Rounded Rectangle 3"/>
          <p:cNvSpPr/>
          <p:nvPr/>
        </p:nvSpPr>
        <p:spPr>
          <a:xfrm>
            <a:off x="566928" y="1554480"/>
            <a:ext cx="3503157" cy="354787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786384" y="1755648"/>
            <a:ext cx="3064245" cy="2011680"/>
          </a:xfrm>
          <a:prstGeom prst="rect">
            <a:avLst/>
          </a:prstGeom>
          <a:noFill/>
        </p:spPr>
        <p:txBody>
          <a:bodyPr wrap="square" lIns="0" tIns="0" rIns="0" bIns="0">
            <a:spAutoFit/>
          </a:bodyPr>
          <a:lstStyle/>
          <a:p>
            <a:pPr>
              <a:lnSpc>
                <a:spcPct val="114000"/>
              </a:lnSpc>
              <a:spcAft>
                <a:spcPts val="700"/>
              </a:spcAft>
            </a:pPr>
            <a:r>
              <a:rPr lang="en-GB" sz="1600" b="0" i="0" dirty="0">
                <a:solidFill>
                  <a:srgbClr val="1A1A1A"/>
                </a:solidFill>
                <a:latin typeface="Calibri"/>
              </a:rPr>
              <a:t>🏥  </a:t>
            </a:r>
            <a:r>
              <a:rPr lang="en-GB" sz="1700" b="1" i="0" dirty="0">
                <a:solidFill>
                  <a:srgbClr val="10305A"/>
                </a:solidFill>
                <a:latin typeface="Calibri"/>
              </a:rPr>
              <a:t>Kuvurwa mu gihe gito</a:t>
            </a:r>
          </a:p>
          <a:p>
            <a:pPr>
              <a:lnSpc>
                <a:spcPct val="114000"/>
              </a:lnSpc>
              <a:spcAft>
                <a:spcPts val="700"/>
              </a:spcAft>
            </a:pPr>
            <a:r>
              <a:rPr lang="en-GB" sz="1700" b="0" i="0" dirty="0">
                <a:solidFill>
                  <a:srgbClr val="1A1A1A"/>
                </a:solidFill>
                <a:latin typeface="Calibri"/>
              </a:rPr>
              <a:t>Igice kidasanzwe ku nkondo y'umura gikurwaho cyangwa kigasenywa n'umukozi w'ubuzima watojwe.</a:t>
            </a:r>
          </a:p>
        </p:txBody>
      </p:sp>
      <p:sp>
        <p:nvSpPr>
          <p:cNvPr id="6" name="Rounded Rectangle 5"/>
          <p:cNvSpPr/>
          <p:nvPr/>
        </p:nvSpPr>
        <p:spPr>
          <a:xfrm>
            <a:off x="4344405" y="1554480"/>
            <a:ext cx="3503157" cy="354787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4563861" y="1755648"/>
            <a:ext cx="3064245" cy="2011680"/>
          </a:xfrm>
          <a:prstGeom prst="rect">
            <a:avLst/>
          </a:prstGeom>
          <a:noFill/>
        </p:spPr>
        <p:txBody>
          <a:bodyPr wrap="square" lIns="0" tIns="0" rIns="0" bIns="0">
            <a:spAutoFit/>
          </a:bodyPr>
          <a:lstStyle/>
          <a:p>
            <a:pPr>
              <a:lnSpc>
                <a:spcPct val="114000"/>
              </a:lnSpc>
              <a:spcAft>
                <a:spcPts val="700"/>
              </a:spcAft>
            </a:pPr>
            <a:r>
              <a:rPr lang="en-GB" sz="1650" b="0" i="0" dirty="0">
                <a:solidFill>
                  <a:srgbClr val="1A1A1A"/>
                </a:solidFill>
                <a:latin typeface="Calibri"/>
              </a:rPr>
              <a:t>👩  </a:t>
            </a:r>
            <a:r>
              <a:rPr lang="en-GB" sz="1750" b="1" i="0" dirty="0">
                <a:solidFill>
                  <a:srgbClr val="10305A"/>
                </a:solidFill>
                <a:latin typeface="Calibri"/>
              </a:rPr>
              <a:t>Nyababyeyi irasigara</a:t>
            </a:r>
          </a:p>
          <a:p>
            <a:pPr>
              <a:lnSpc>
                <a:spcPct val="114000"/>
              </a:lnSpc>
              <a:spcAft>
                <a:spcPts val="700"/>
              </a:spcAft>
            </a:pPr>
            <a:r>
              <a:rPr lang="en-GB" sz="1750" b="0" i="0" dirty="0">
                <a:solidFill>
                  <a:srgbClr val="1A1A1A"/>
                </a:solidFill>
                <a:latin typeface="Calibri"/>
              </a:rPr>
              <a:t>Ubu buvuzi ntibukuramo nyababyeyi, kandi abagore babyara nyuma yaho.</a:t>
            </a:r>
          </a:p>
        </p:txBody>
      </p:sp>
      <p:sp>
        <p:nvSpPr>
          <p:cNvPr id="8" name="Rounded Rectangle 7"/>
          <p:cNvSpPr/>
          <p:nvPr/>
        </p:nvSpPr>
        <p:spPr>
          <a:xfrm>
            <a:off x="8121883" y="1554480"/>
            <a:ext cx="3503157" cy="354787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341339" y="1755648"/>
            <a:ext cx="3064245" cy="2011680"/>
          </a:xfrm>
          <a:prstGeom prst="rect">
            <a:avLst/>
          </a:prstGeom>
          <a:noFill/>
        </p:spPr>
        <p:txBody>
          <a:bodyPr wrap="square" lIns="0" tIns="0" rIns="0" bIns="0">
            <a:spAutoFit/>
          </a:bodyPr>
          <a:lstStyle/>
          <a:p>
            <a:pPr>
              <a:lnSpc>
                <a:spcPct val="114000"/>
              </a:lnSpc>
              <a:spcAft>
                <a:spcPts val="700"/>
              </a:spcAft>
            </a:pPr>
            <a:r>
              <a:rPr lang="en-GB" sz="1650" b="0" i="0" dirty="0">
                <a:solidFill>
                  <a:srgbClr val="1A1A1A"/>
                </a:solidFill>
                <a:latin typeface="Calibri"/>
              </a:rPr>
              <a:t>✅  </a:t>
            </a:r>
            <a:r>
              <a:rPr lang="en-GB" sz="1750" b="1" i="0" dirty="0">
                <a:solidFill>
                  <a:srgbClr val="10305A"/>
                </a:solidFill>
                <a:latin typeface="Calibri"/>
              </a:rPr>
              <a:t>Birinda kanseri</a:t>
            </a:r>
          </a:p>
          <a:p>
            <a:pPr>
              <a:lnSpc>
                <a:spcPct val="114000"/>
              </a:lnSpc>
              <a:spcAft>
                <a:spcPts val="700"/>
              </a:spcAft>
            </a:pPr>
            <a:r>
              <a:rPr lang="en-GB" sz="1750" b="0" i="0" dirty="0">
                <a:solidFill>
                  <a:srgbClr val="1A1A1A"/>
                </a:solidFill>
                <a:latin typeface="Calibri"/>
              </a:rPr>
              <a:t>Iyo impinduka imaze kuvurwa, kanseri yashoboraga kuyikurikira ntiza.</a:t>
            </a:r>
          </a:p>
        </p:txBody>
      </p:sp>
      <p:sp>
        <p:nvSpPr>
          <p:cNvPr id="10" name="Rounded Rectangle 9"/>
          <p:cNvSpPr/>
          <p:nvPr/>
        </p:nvSpPr>
        <p:spPr>
          <a:xfrm>
            <a:off x="566928" y="5367528"/>
            <a:ext cx="11058113" cy="932688"/>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1" name="TextBox 10"/>
          <p:cNvSpPr txBox="1"/>
          <p:nvPr/>
        </p:nvSpPr>
        <p:spPr>
          <a:xfrm>
            <a:off x="804672" y="5513832"/>
            <a:ext cx="10582625" cy="658368"/>
          </a:xfrm>
          <a:prstGeom prst="rect">
            <a:avLst/>
          </a:prstGeom>
          <a:noFill/>
        </p:spPr>
        <p:txBody>
          <a:bodyPr wrap="square" lIns="0" tIns="0" rIns="0" bIns="0">
            <a:spAutoFit/>
          </a:bodyPr>
          <a:lstStyle/>
          <a:p>
            <a:pPr>
              <a:lnSpc>
                <a:spcPct val="112000"/>
              </a:lnSpc>
            </a:pPr>
            <a:r>
              <a:rPr lang="en-GB" sz="1800" b="1" i="0" dirty="0">
                <a:solidFill>
                  <a:srgbClr val="1C6B3F"/>
                </a:solidFill>
                <a:latin typeface="Calibri"/>
              </a:rPr>
              <a:t>💬 Bivuge utya:  </a:t>
            </a:r>
            <a:r>
              <a:rPr lang="en-GB" sz="1800" b="0" i="0" dirty="0">
                <a:solidFill>
                  <a:srgbClr val="1A1A1A"/>
                </a:solidFill>
                <a:latin typeface="Calibri"/>
              </a:rPr>
              <a:t>Umukozi w'ubuzima akuraho agace gato kari kari guhinduka. Bikorerwa ku ivuriro, agataha uwo munsi, kandi bisobanura ko ibi bitazahinduka kanseri.</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111</a:t>
            </a:r>
          </a:p>
        </p:txBody>
      </p:sp>
      <p:pic>
        <p:nvPicPr>
          <p:cNvPr id="15" name="Picture 14">
            <a:extLst>
              <a:ext uri="{FF2B5EF4-FFF2-40B4-BE49-F238E27FC236}">
                <a16:creationId xmlns:a16="http://schemas.microsoft.com/office/drawing/2014/main" id="{E55583B6-F4B1-F015-48D6-5160B2133EE4}"/>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8522940" y="3162923"/>
            <a:ext cx="2660172" cy="1773449"/>
          </a:xfrm>
          <a:prstGeom prst="rect">
            <a:avLst/>
          </a:prstGeom>
        </p:spPr>
      </p:pic>
      <p:pic>
        <p:nvPicPr>
          <p:cNvPr id="17" name="Picture 16">
            <a:extLst>
              <a:ext uri="{FF2B5EF4-FFF2-40B4-BE49-F238E27FC236}">
                <a16:creationId xmlns:a16="http://schemas.microsoft.com/office/drawing/2014/main" id="{A1C45A99-DED1-D5CC-0BAE-6366843A85DE}"/>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718821" y="3259836"/>
            <a:ext cx="2633472" cy="1755648"/>
          </a:xfrm>
          <a:prstGeom prst="rect">
            <a:avLst/>
          </a:prstGeom>
        </p:spPr>
      </p:pic>
      <p:pic>
        <p:nvPicPr>
          <p:cNvPr id="19" name="Picture 18">
            <a:extLst>
              <a:ext uri="{FF2B5EF4-FFF2-40B4-BE49-F238E27FC236}">
                <a16:creationId xmlns:a16="http://schemas.microsoft.com/office/drawing/2014/main" id="{1280C289-A9C2-4D28-6069-B696D0BB9277}"/>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749542" y="3328848"/>
            <a:ext cx="3073648" cy="1676536"/>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K U V U R A   I M P I N D U K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50" b="1" i="0" dirty="0">
                <a:solidFill>
                  <a:srgbClr val="10305A"/>
                </a:solidFill>
                <a:latin typeface="Cambria"/>
              </a:rPr>
              <a:t>Nyuma yo kuvurwa impinduka z'inkondo y'umura</a:t>
            </a:r>
          </a:p>
        </p:txBody>
      </p:sp>
      <p:sp>
        <p:nvSpPr>
          <p:cNvPr id="4" name="Rounded Rectangle 3"/>
          <p:cNvSpPr/>
          <p:nvPr/>
        </p:nvSpPr>
        <p:spPr>
          <a:xfrm>
            <a:off x="566928" y="1554480"/>
            <a:ext cx="11058113" cy="66979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Oval 4"/>
          <p:cNvSpPr/>
          <p:nvPr/>
        </p:nvSpPr>
        <p:spPr>
          <a:xfrm>
            <a:off x="804672" y="1706499"/>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6" name="TextBox 5"/>
          <p:cNvSpPr txBox="1"/>
          <p:nvPr/>
        </p:nvSpPr>
        <p:spPr>
          <a:xfrm>
            <a:off x="1389888" y="1645920"/>
            <a:ext cx="9960833" cy="52349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Ashobora kuva amaraso make cyangwa kugira ibisohoka mu gitsina mu gihe gito, kandi ibi ni ibisanzwe.</a:t>
            </a:r>
          </a:p>
        </p:txBody>
      </p:sp>
      <p:sp>
        <p:nvSpPr>
          <p:cNvPr id="7" name="Rounded Rectangle 6"/>
          <p:cNvSpPr/>
          <p:nvPr/>
        </p:nvSpPr>
        <p:spPr>
          <a:xfrm>
            <a:off x="566928" y="2352294"/>
            <a:ext cx="11058113" cy="66979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Oval 7"/>
          <p:cNvSpPr/>
          <p:nvPr/>
        </p:nvSpPr>
        <p:spPr>
          <a:xfrm>
            <a:off x="804672" y="250431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9" name="TextBox 8"/>
          <p:cNvSpPr txBox="1"/>
          <p:nvPr/>
        </p:nvSpPr>
        <p:spPr>
          <a:xfrm>
            <a:off x="1389888" y="2443734"/>
            <a:ext cx="9960833" cy="523493"/>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Agomba kumenyesha kuva amaraso menshi, umuriro cyangwa ububabare bukabije nta gutegereza.</a:t>
            </a:r>
          </a:p>
        </p:txBody>
      </p:sp>
      <p:sp>
        <p:nvSpPr>
          <p:cNvPr id="10" name="Rounded Rectangle 9"/>
          <p:cNvSpPr/>
          <p:nvPr/>
        </p:nvSpPr>
        <p:spPr>
          <a:xfrm>
            <a:off x="566928" y="3150108"/>
            <a:ext cx="11058113" cy="66979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Oval 10"/>
          <p:cNvSpPr/>
          <p:nvPr/>
        </p:nvSpPr>
        <p:spPr>
          <a:xfrm>
            <a:off x="804672" y="330212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2" name="TextBox 11"/>
          <p:cNvSpPr txBox="1"/>
          <p:nvPr/>
        </p:nvSpPr>
        <p:spPr>
          <a:xfrm>
            <a:off x="1389888" y="3241548"/>
            <a:ext cx="9960833" cy="52349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Agomba kwitabira ikizamini cyo gukurikiranwa yahawe, n'iyo yumva ameze neza rwose.</a:t>
            </a:r>
          </a:p>
        </p:txBody>
      </p:sp>
      <p:sp>
        <p:nvSpPr>
          <p:cNvPr id="13" name="Rounded Rectangle 12"/>
          <p:cNvSpPr/>
          <p:nvPr/>
        </p:nvSpPr>
        <p:spPr>
          <a:xfrm>
            <a:off x="566928" y="3947922"/>
            <a:ext cx="11058113" cy="66979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Oval 13"/>
          <p:cNvSpPr/>
          <p:nvPr/>
        </p:nvSpPr>
        <p:spPr>
          <a:xfrm>
            <a:off x="804672" y="4099940"/>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5" name="TextBox 14"/>
          <p:cNvSpPr txBox="1"/>
          <p:nvPr/>
        </p:nvSpPr>
        <p:spPr>
          <a:xfrm>
            <a:off x="1389888" y="4039361"/>
            <a:ext cx="9960833" cy="52349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Kwitabira uko gukurikiranwa ni bwo buryo serivisi z'ubuzima zemeza ko ubuvuzi bwagize icyo bumara.</a:t>
            </a:r>
          </a:p>
        </p:txBody>
      </p:sp>
      <p:sp>
        <p:nvSpPr>
          <p:cNvPr id="16" name="Rounded Rectangle 15"/>
          <p:cNvSpPr/>
          <p:nvPr/>
        </p:nvSpPr>
        <p:spPr>
          <a:xfrm>
            <a:off x="566928" y="4837175"/>
            <a:ext cx="11058113" cy="932688"/>
          </a:xfrm>
          <a:prstGeom prst="roundRect">
            <a:avLst>
              <a:gd name="adj" fmla="val 4500"/>
            </a:avLst>
          </a:prstGeom>
          <a:solidFill>
            <a:srgbClr val="EAF7F0"/>
          </a:solidFill>
          <a:ln w="12700">
            <a:solidFill>
              <a:srgbClr val="C0D4CB"/>
            </a:solidFill>
          </a:ln>
          <a:effectLst/>
        </p:spPr>
        <p:txBody>
          <a:bodyPr wrap="square" rtlCol="0" anchor="ctr"/>
          <a:lstStyle/>
          <a:p>
            <a:pPr algn="ctr"/>
            <a:endParaRPr lang="en-GB" dirty="0"/>
          </a:p>
        </p:txBody>
      </p:sp>
      <p:sp>
        <p:nvSpPr>
          <p:cNvPr id="17" name="TextBox 16"/>
          <p:cNvSpPr txBox="1"/>
          <p:nvPr/>
        </p:nvSpPr>
        <p:spPr>
          <a:xfrm>
            <a:off x="804672" y="4983479"/>
            <a:ext cx="10582625" cy="658368"/>
          </a:xfrm>
          <a:prstGeom prst="rect">
            <a:avLst/>
          </a:prstGeom>
          <a:noFill/>
        </p:spPr>
        <p:txBody>
          <a:bodyPr wrap="square" lIns="0" tIns="0" rIns="0" bIns="0">
            <a:spAutoFit/>
          </a:bodyPr>
          <a:lstStyle/>
          <a:p>
            <a:pPr>
              <a:lnSpc>
                <a:spcPct val="112000"/>
              </a:lnSpc>
            </a:pPr>
            <a:r>
              <a:rPr lang="en-GB" sz="1500" b="1" i="0" dirty="0">
                <a:solidFill>
                  <a:srgbClr val="1C6B3F"/>
                </a:solidFill>
                <a:latin typeface="Calibri"/>
              </a:rPr>
              <a:t>📌 Mu Rwanda:  </a:t>
            </a:r>
            <a:r>
              <a:rPr lang="en-GB" sz="1500" b="0" i="0" dirty="0">
                <a:solidFill>
                  <a:srgbClr val="1A1A1A"/>
                </a:solidFill>
                <a:latin typeface="Calibri"/>
              </a:rPr>
              <a:t>Ajye ku kigo nderabuzima ako kanya aramutse agize ibimenyetso byihutirwa nko kuva amaraso menshi, umuriro cyangwa ububabare bukabije. Niba nta kimenyetso gikomeye, azagaruke nyuma y'umwaka umwe gukorerwa ikizamini cya HPV, cyangwa VIA iyo ikizamini cya HPV kitaboneka.</a:t>
            </a:r>
          </a:p>
        </p:txBody>
      </p:sp>
      <p:sp>
        <p:nvSpPr>
          <p:cNvPr id="18" name="TextBox 17"/>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9" name="TextBox 18"/>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112</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66928" y="365760"/>
            <a:ext cx="11058113" cy="161583"/>
          </a:xfrm>
          <a:prstGeom prst="rect">
            <a:avLst/>
          </a:prstGeom>
          <a:noFill/>
          <a:ln/>
        </p:spPr>
        <p:txBody>
          <a:bodyPr wrap="square" lIns="0" tIns="0" rIns="0" bIns="0" rtlCol="0" anchor="ctr"/>
          <a:lstStyle/>
          <a:p>
            <a:pPr marL="0" indent="0" algn="l">
              <a:buNone/>
            </a:pPr>
            <a:r>
              <a:rPr lang="rw-RW" sz="1050" b="1" noProof="0" dirty="0">
                <a:solidFill>
                  <a:srgbClr val="1F4E96"/>
                </a:solidFill>
                <a:latin typeface="Calibri" pitchFamily="34" charset="0"/>
                <a:ea typeface="Calibri" pitchFamily="34" charset="-122"/>
                <a:cs typeface="Calibri" pitchFamily="34" charset="-120"/>
              </a:rPr>
              <a:t>I G I C E   C Y A   4   ·   K U V U R A   I M P I N D U K A</a:t>
            </a:r>
            <a:endParaRPr lang="rw-RW" sz="1050" dirty="0"/>
          </a:p>
        </p:txBody>
      </p:sp>
      <p:sp>
        <p:nvSpPr>
          <p:cNvPr id="3" name="Text 3"/>
          <p:cNvSpPr txBox="1"/>
          <p:nvPr/>
        </p:nvSpPr>
        <p:spPr>
          <a:xfrm>
            <a:off x="566928" y="713232"/>
            <a:ext cx="11058113" cy="777240"/>
          </a:xfrm>
          <a:prstGeom prst="rect">
            <a:avLst/>
          </a:prstGeom>
          <a:noFill/>
          <a:ln/>
        </p:spPr>
        <p:txBody>
          <a:bodyPr wrap="square" lIns="0" tIns="0" rIns="0" bIns="0" rtlCol="0" anchor="ctr"/>
          <a:lstStyle/>
          <a:p>
            <a:pPr marL="0" indent="0">
              <a:buNone/>
            </a:pPr>
            <a:r>
              <a:rPr lang="rw-RW" sz="2800" b="1" noProof="0" dirty="0">
                <a:solidFill>
                  <a:srgbClr val="10305A"/>
                </a:solidFill>
                <a:latin typeface="Cambria" pitchFamily="34" charset="0"/>
                <a:ea typeface="Cambria" pitchFamily="34" charset="-122"/>
                <a:cs typeface="Cambria" pitchFamily="34" charset="-120"/>
              </a:rPr>
              <a:t>Uburyo bubiri bwo kuvura impinduka mbere y'uko ziba kanseri</a:t>
            </a:r>
          </a:p>
        </p:txBody>
      </p:sp>
      <p:sp>
        <p:nvSpPr>
          <p:cNvPr id="4" name="Shape 4"/>
          <p:cNvSpPr/>
          <p:nvPr/>
        </p:nvSpPr>
        <p:spPr>
          <a:xfrm>
            <a:off x="566928" y="1499999"/>
            <a:ext cx="5436108" cy="4302635"/>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5" name="Text 5"/>
          <p:cNvSpPr txBox="1"/>
          <p:nvPr/>
        </p:nvSpPr>
        <p:spPr>
          <a:xfrm>
            <a:off x="822960" y="1620000"/>
            <a:ext cx="4924044" cy="520000"/>
          </a:xfrm>
          <a:prstGeom prst="rect">
            <a:avLst/>
          </a:prstGeom>
          <a:noFill/>
          <a:ln/>
        </p:spPr>
        <p:txBody>
          <a:bodyPr wrap="square" lIns="0" tIns="0" rIns="0" bIns="0" rtlCol="0" anchor="ctr"/>
          <a:lstStyle/>
          <a:p>
            <a:pPr marL="0" indent="0" algn="l">
              <a:buNone/>
            </a:pPr>
            <a:r>
              <a:rPr lang="rw-RW" sz="1700" b="1" noProof="0" dirty="0">
                <a:solidFill>
                  <a:srgbClr val="10305A"/>
                </a:solidFill>
                <a:latin typeface="Calibri" pitchFamily="34" charset="0"/>
                <a:ea typeface="Calibri" pitchFamily="34" charset="-122"/>
                <a:cs typeface="Calibri" pitchFamily="34" charset="-120"/>
              </a:rPr>
              <a:t>🔥  Kuvura hakoreshejwe ubushyuhe (thermal ablation)</a:t>
            </a:r>
            <a:endParaRPr lang="rw-RW" dirty="0"/>
          </a:p>
        </p:txBody>
      </p:sp>
      <p:sp>
        <p:nvSpPr>
          <p:cNvPr id="6" name="Text 6"/>
          <p:cNvSpPr txBox="1"/>
          <p:nvPr/>
        </p:nvSpPr>
        <p:spPr>
          <a:xfrm>
            <a:off x="822960" y="2200000"/>
            <a:ext cx="4924044" cy="15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rw-RW" sz="1600" noProof="0" dirty="0">
                <a:solidFill>
                  <a:srgbClr val="1A1A1A"/>
                </a:solidFill>
                <a:latin typeface="Calibri" pitchFamily="34" charset="0"/>
                <a:ea typeface="Calibri" pitchFamily="34" charset="-122"/>
                <a:cs typeface="Calibri" pitchFamily="34" charset="-120"/>
              </a:rPr>
              <a:t>Agace gahindutse kavurwa hakoreshejwe ubushyuhe.</a:t>
            </a:r>
            <a:endParaRPr lang="rw-RW" sz="1600" dirty="0"/>
          </a:p>
          <a:p>
            <a:pPr marL="285750" indent="-285750" algn="l">
              <a:lnSpc>
                <a:spcPct val="104000"/>
              </a:lnSpc>
              <a:spcAft>
                <a:spcPts val="600"/>
              </a:spcAft>
              <a:buSzPct val="100000"/>
              <a:buChar char="•"/>
            </a:pPr>
            <a:r>
              <a:rPr lang="rw-RW" sz="1600" noProof="0" dirty="0">
                <a:solidFill>
                  <a:srgbClr val="1A1A1A"/>
                </a:solidFill>
                <a:latin typeface="Calibri" pitchFamily="34" charset="0"/>
                <a:ea typeface="Calibri" pitchFamily="34" charset="-122"/>
                <a:cs typeface="Calibri" pitchFamily="34" charset="-120"/>
              </a:rPr>
              <a:t>Bikorerwa ku kigo nderabuzima, mu gihe gito.</a:t>
            </a:r>
            <a:endParaRPr lang="rw-RW" sz="1600" dirty="0"/>
          </a:p>
          <a:p>
            <a:pPr marL="285750" indent="-285750" algn="l">
              <a:lnSpc>
                <a:spcPct val="104000"/>
              </a:lnSpc>
              <a:spcAft>
                <a:spcPts val="600"/>
              </a:spcAft>
              <a:buSzPct val="100000"/>
              <a:buChar char="•"/>
            </a:pPr>
            <a:r>
              <a:rPr lang="rw-RW" sz="1600" noProof="0" dirty="0">
                <a:solidFill>
                  <a:srgbClr val="1A1A1A"/>
                </a:solidFill>
                <a:latin typeface="Calibri" pitchFamily="34" charset="0"/>
                <a:ea typeface="Calibri" pitchFamily="34" charset="-122"/>
                <a:cs typeface="Calibri" pitchFamily="34" charset="-120"/>
              </a:rPr>
              <a:t>Umugore ataha uwo munsi.</a:t>
            </a:r>
            <a:endParaRPr lang="rw-RW" sz="1600" dirty="0"/>
          </a:p>
        </p:txBody>
      </p:sp>
      <p:sp>
        <p:nvSpPr>
          <p:cNvPr id="7" name="Shape 7"/>
          <p:cNvSpPr/>
          <p:nvPr/>
        </p:nvSpPr>
        <p:spPr>
          <a:xfrm>
            <a:off x="6185916" y="1499999"/>
            <a:ext cx="5436108" cy="4302635"/>
          </a:xfrm>
          <a:prstGeom prst="roundRect">
            <a:avLst>
              <a:gd name="adj" fmla="val 3000"/>
            </a:avLst>
          </a:prstGeom>
          <a:solidFill>
            <a:srgbClr val="F3F6FB"/>
          </a:solidFill>
          <a:ln w="12700">
            <a:solidFill>
              <a:srgbClr val="E0E3EA"/>
            </a:solidFill>
          </a:ln>
        </p:spPr>
        <p:txBody>
          <a:bodyPr/>
          <a:lstStyle/>
          <a:p>
            <a:endParaRPr lang="rw-RW" sz="1600" dirty="0"/>
          </a:p>
        </p:txBody>
      </p:sp>
      <p:sp>
        <p:nvSpPr>
          <p:cNvPr id="8" name="Text 8"/>
          <p:cNvSpPr txBox="1"/>
          <p:nvPr/>
        </p:nvSpPr>
        <p:spPr>
          <a:xfrm>
            <a:off x="6441948" y="1481976"/>
            <a:ext cx="4924044" cy="520000"/>
          </a:xfrm>
          <a:prstGeom prst="rect">
            <a:avLst/>
          </a:prstGeom>
          <a:noFill/>
          <a:ln/>
        </p:spPr>
        <p:txBody>
          <a:bodyPr wrap="square" lIns="0" tIns="0" rIns="0" bIns="0" rtlCol="0" anchor="ctr"/>
          <a:lstStyle/>
          <a:p>
            <a:pPr marL="0" indent="0" algn="l">
              <a:buNone/>
            </a:pPr>
            <a:r>
              <a:rPr lang="rw-RW" sz="2000" b="1" noProof="0" dirty="0">
                <a:solidFill>
                  <a:srgbClr val="10305A"/>
                </a:solidFill>
                <a:latin typeface="Calibri" pitchFamily="34" charset="0"/>
                <a:ea typeface="Calibri" pitchFamily="34" charset="-122"/>
                <a:cs typeface="Calibri" pitchFamily="34" charset="-120"/>
              </a:rPr>
              <a:t>➰  LEEP</a:t>
            </a:r>
            <a:endParaRPr lang="rw-RW" sz="2000" dirty="0"/>
          </a:p>
        </p:txBody>
      </p:sp>
      <p:sp>
        <p:nvSpPr>
          <p:cNvPr id="9" name="Text 9"/>
          <p:cNvSpPr txBox="1"/>
          <p:nvPr/>
        </p:nvSpPr>
        <p:spPr>
          <a:xfrm>
            <a:off x="6441948" y="2061976"/>
            <a:ext cx="4924044" cy="1570000"/>
          </a:xfrm>
          <a:prstGeom prst="rect">
            <a:avLst/>
          </a:prstGeom>
          <a:noFill/>
          <a:ln/>
        </p:spPr>
        <p:txBody>
          <a:bodyPr wrap="square" lIns="0" tIns="0" rIns="0" bIns="0" rtlCol="0" anchor="t"/>
          <a:lstStyle/>
          <a:p>
            <a:pPr marL="285750" indent="-285750" algn="l">
              <a:lnSpc>
                <a:spcPct val="104000"/>
              </a:lnSpc>
              <a:spcAft>
                <a:spcPts val="600"/>
              </a:spcAft>
              <a:buSzPct val="100000"/>
              <a:buChar char="•"/>
            </a:pPr>
            <a:r>
              <a:rPr lang="rw-RW" sz="1600" noProof="0" dirty="0">
                <a:solidFill>
                  <a:srgbClr val="1A1A1A"/>
                </a:solidFill>
                <a:latin typeface="Calibri" pitchFamily="34" charset="0"/>
                <a:ea typeface="Calibri" pitchFamily="34" charset="-122"/>
                <a:cs typeface="Calibri" pitchFamily="34" charset="-120"/>
              </a:rPr>
              <a:t>Agace gahindutse gakurwaho hakoreshejwe uruziga ruto rw'insinga rucamo umuriro w'amashanyarazi (LEEP).</a:t>
            </a:r>
            <a:endParaRPr lang="rw-RW" sz="1600" dirty="0"/>
          </a:p>
          <a:p>
            <a:pPr marL="285750" indent="-285750" algn="l">
              <a:lnSpc>
                <a:spcPct val="104000"/>
              </a:lnSpc>
              <a:spcAft>
                <a:spcPts val="600"/>
              </a:spcAft>
              <a:buSzPct val="100000"/>
              <a:buChar char="•"/>
            </a:pPr>
            <a:r>
              <a:rPr lang="rw-RW" sz="1600" noProof="0" dirty="0">
                <a:solidFill>
                  <a:srgbClr val="1A1A1A"/>
                </a:solidFill>
                <a:latin typeface="Calibri" pitchFamily="34" charset="0"/>
                <a:ea typeface="Calibri" pitchFamily="34" charset="-122"/>
                <a:cs typeface="Calibri" pitchFamily="34" charset="-120"/>
              </a:rPr>
              <a:t>Bikorerwa ku bitaro by'akarere, iyo agace ari kanini cyangwa kinjiye imbere.</a:t>
            </a:r>
            <a:endParaRPr lang="rw-RW" sz="1600" dirty="0"/>
          </a:p>
          <a:p>
            <a:pPr marL="285750" indent="-285750" algn="l">
              <a:lnSpc>
                <a:spcPct val="104000"/>
              </a:lnSpc>
              <a:spcAft>
                <a:spcPts val="600"/>
              </a:spcAft>
              <a:buSzPct val="100000"/>
              <a:buChar char="•"/>
            </a:pPr>
            <a:r>
              <a:rPr lang="rw-RW" sz="1600" noProof="0" dirty="0">
                <a:solidFill>
                  <a:srgbClr val="1A1A1A"/>
                </a:solidFill>
                <a:latin typeface="Calibri" pitchFamily="34" charset="0"/>
                <a:ea typeface="Calibri" pitchFamily="34" charset="-122"/>
                <a:cs typeface="Calibri" pitchFamily="34" charset="-120"/>
              </a:rPr>
              <a:t>Agace gakuweho karasuzumwa muri laboratwari.</a:t>
            </a:r>
            <a:endParaRPr lang="rw-RW" sz="1600" dirty="0"/>
          </a:p>
        </p:txBody>
      </p:sp>
      <p:sp>
        <p:nvSpPr>
          <p:cNvPr id="11" name="Shape 11"/>
          <p:cNvSpPr/>
          <p:nvPr/>
        </p:nvSpPr>
        <p:spPr>
          <a:xfrm>
            <a:off x="566928" y="5952226"/>
            <a:ext cx="11055096" cy="410416"/>
          </a:xfrm>
          <a:prstGeom prst="roundRect">
            <a:avLst>
              <a:gd name="adj" fmla="val 3000"/>
            </a:avLst>
          </a:prstGeom>
          <a:solidFill>
            <a:srgbClr val="EAF7F0"/>
          </a:solidFill>
          <a:ln w="12700">
            <a:solidFill>
              <a:srgbClr val="C0D4CB"/>
            </a:solidFill>
          </a:ln>
        </p:spPr>
        <p:txBody>
          <a:bodyPr/>
          <a:lstStyle/>
          <a:p>
            <a:endParaRPr lang="rw-RW" sz="1600" dirty="0"/>
          </a:p>
        </p:txBody>
      </p:sp>
      <p:sp>
        <p:nvSpPr>
          <p:cNvPr id="12" name="Text 12"/>
          <p:cNvSpPr txBox="1"/>
          <p:nvPr/>
        </p:nvSpPr>
        <p:spPr>
          <a:xfrm>
            <a:off x="841248" y="5986732"/>
            <a:ext cx="10506456" cy="360415"/>
          </a:xfrm>
          <a:prstGeom prst="rect">
            <a:avLst/>
          </a:prstGeom>
          <a:noFill/>
          <a:ln/>
        </p:spPr>
        <p:txBody>
          <a:bodyPr wrap="square" lIns="0" tIns="0" rIns="0" bIns="0" rtlCol="0" anchor="ctr"/>
          <a:lstStyle/>
          <a:p>
            <a:pPr marL="0" indent="0" algn="l">
              <a:buNone/>
            </a:pPr>
            <a:r>
              <a:rPr lang="rw-RW" sz="1600" b="1" noProof="0" dirty="0">
                <a:solidFill>
                  <a:srgbClr val="1C6B3F"/>
                </a:solidFill>
                <a:latin typeface="Calibri" pitchFamily="34" charset="0"/>
                <a:ea typeface="Calibri" pitchFamily="34" charset="-122"/>
                <a:cs typeface="Calibri" pitchFamily="34" charset="-120"/>
              </a:rPr>
              <a:t>✅ Byombi birinda kanseri:  </a:t>
            </a:r>
            <a:r>
              <a:rPr lang="rw-RW" sz="1600" noProof="0" dirty="0">
                <a:solidFill>
                  <a:srgbClr val="1A1A1A"/>
                </a:solidFill>
                <a:latin typeface="Calibri" pitchFamily="34" charset="0"/>
                <a:ea typeface="Calibri" pitchFamily="34" charset="-122"/>
                <a:cs typeface="Calibri" pitchFamily="34" charset="-120"/>
              </a:rPr>
              <a:t>Ntibikuraho nyababyeyi. Umugore ashobora kubyara nyuma yo kuvurwa.</a:t>
            </a:r>
            <a:endParaRPr lang="rw-RW" sz="1600" dirty="0"/>
          </a:p>
        </p:txBody>
      </p:sp>
      <p:sp>
        <p:nvSpPr>
          <p:cNvPr id="15" name="Text 15"/>
          <p:cNvSpPr txBox="1"/>
          <p:nvPr/>
        </p:nvSpPr>
        <p:spPr>
          <a:xfrm>
            <a:off x="566928" y="6345936"/>
            <a:ext cx="7315200" cy="274320"/>
          </a:xfrm>
          <a:prstGeom prst="rect">
            <a:avLst/>
          </a:prstGeom>
          <a:noFill/>
          <a:ln/>
        </p:spPr>
        <p:txBody>
          <a:bodyPr wrap="square" lIns="0" tIns="0" rIns="0" bIns="0" rtlCol="0" anchor="ctr"/>
          <a:lstStyle/>
          <a:p>
            <a:pPr marL="0" indent="0" algn="l">
              <a:buNone/>
            </a:pPr>
            <a:r>
              <a:rPr lang="rw-RW" sz="900" noProof="0" dirty="0">
                <a:solidFill>
                  <a:srgbClr val="777D86"/>
                </a:solidFill>
                <a:latin typeface="Calibri" pitchFamily="34" charset="0"/>
                <a:ea typeface="Calibri" pitchFamily="34" charset="-122"/>
                <a:cs typeface="Calibri" pitchFamily="34" charset="-120"/>
              </a:rPr>
              <a:t>Kanseri y'inkondo y'umura  |  Umujyanama w'Ubuzima  |  Ikigo cy'Igihugu Gishinzwe Ubuzima</a:t>
            </a:r>
            <a:endParaRPr lang="rw-RW" sz="900" dirty="0"/>
          </a:p>
        </p:txBody>
      </p:sp>
      <p:sp>
        <p:nvSpPr>
          <p:cNvPr id="16" name="Text 16"/>
          <p:cNvSpPr txBox="1"/>
          <p:nvPr/>
        </p:nvSpPr>
        <p:spPr>
          <a:xfrm>
            <a:off x="8881841" y="6345936"/>
            <a:ext cx="2743200" cy="274320"/>
          </a:xfrm>
          <a:prstGeom prst="rect">
            <a:avLst/>
          </a:prstGeom>
          <a:noFill/>
          <a:ln/>
        </p:spPr>
        <p:txBody>
          <a:bodyPr wrap="square" lIns="0" tIns="0" rIns="0" bIns="0" rtlCol="0" anchor="ctr"/>
          <a:lstStyle/>
          <a:p>
            <a:pPr marL="0" indent="0" algn="r">
              <a:buNone/>
            </a:pPr>
            <a:r>
              <a:rPr lang="rw-RW" sz="900" noProof="0" dirty="0">
                <a:solidFill>
                  <a:srgbClr val="777D86"/>
                </a:solidFill>
                <a:latin typeface="Calibri" pitchFamily="34" charset="0"/>
                <a:ea typeface="Calibri" pitchFamily="34" charset="-122"/>
                <a:cs typeface="Calibri" pitchFamily="34" charset="-120"/>
              </a:rPr>
              <a:t>Urupapuro rwa 113</a:t>
            </a:r>
            <a:endParaRPr lang="rw-RW" sz="900" dirty="0"/>
          </a:p>
        </p:txBody>
      </p:sp>
      <p:pic>
        <p:nvPicPr>
          <p:cNvPr id="13" name="Imagen 12">
            <a:extLst>
              <a:ext uri="{FF2B5EF4-FFF2-40B4-BE49-F238E27FC236}">
                <a16:creationId xmlns:a16="http://schemas.microsoft.com/office/drawing/2014/main" id="{95C16B68-C211-4E9F-0C19-A2A729490F84}"/>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1934841" y="3776468"/>
            <a:ext cx="2402586" cy="1996156"/>
          </a:xfrm>
          <a:prstGeom prst="rect">
            <a:avLst/>
          </a:prstGeom>
        </p:spPr>
      </p:pic>
      <p:pic>
        <p:nvPicPr>
          <p:cNvPr id="14" name="Imagen 13">
            <a:extLst>
              <a:ext uri="{FF2B5EF4-FFF2-40B4-BE49-F238E27FC236}">
                <a16:creationId xmlns:a16="http://schemas.microsoft.com/office/drawing/2014/main" id="{30A3F58C-4ED5-DC2E-44F2-D73A8060B53A}"/>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480308" y="3816683"/>
            <a:ext cx="2388312" cy="1973194"/>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K U V U R A   K A N S E R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050" b="1" i="0" dirty="0">
                <a:solidFill>
                  <a:srgbClr val="10305A"/>
                </a:solidFill>
                <a:latin typeface="Cambria"/>
              </a:rPr>
              <a:t>Amoko y'ingenzi y'ubuvuzi bwa kanseri</a:t>
            </a:r>
          </a:p>
        </p:txBody>
      </p:sp>
      <p:sp>
        <p:nvSpPr>
          <p:cNvPr id="4" name="Rounded Rectangle 3"/>
          <p:cNvSpPr/>
          <p:nvPr/>
        </p:nvSpPr>
        <p:spPr>
          <a:xfrm>
            <a:off x="566928" y="1554479"/>
            <a:ext cx="3503157" cy="367206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786384" y="1755648"/>
            <a:ext cx="3064245" cy="2011680"/>
          </a:xfrm>
          <a:prstGeom prst="rect">
            <a:avLst/>
          </a:prstGeom>
          <a:noFill/>
        </p:spPr>
        <p:txBody>
          <a:bodyPr wrap="square" lIns="0" tIns="0" rIns="0" bIns="0">
            <a:spAutoFit/>
          </a:bodyPr>
          <a:lstStyle/>
          <a:p>
            <a:pPr>
              <a:lnSpc>
                <a:spcPct val="114000"/>
              </a:lnSpc>
              <a:spcAft>
                <a:spcPts val="700"/>
              </a:spcAft>
            </a:pPr>
            <a:r>
              <a:rPr lang="en-GB" sz="1650" b="0" i="0" dirty="0">
                <a:solidFill>
                  <a:srgbClr val="1A1A1A"/>
                </a:solidFill>
                <a:latin typeface="Calibri"/>
              </a:rPr>
              <a:t>🔪  </a:t>
            </a:r>
            <a:r>
              <a:rPr lang="en-GB" sz="1750" b="1" i="0" dirty="0">
                <a:solidFill>
                  <a:srgbClr val="10305A"/>
                </a:solidFill>
                <a:latin typeface="Calibri"/>
              </a:rPr>
              <a:t>Kubaga</a:t>
            </a:r>
          </a:p>
          <a:p>
            <a:pPr>
              <a:lnSpc>
                <a:spcPct val="114000"/>
              </a:lnSpc>
              <a:spcAft>
                <a:spcPts val="700"/>
              </a:spcAft>
            </a:pPr>
            <a:r>
              <a:rPr lang="en-GB" sz="1750" b="0" i="0" dirty="0">
                <a:solidFill>
                  <a:srgbClr val="1A1A1A"/>
                </a:solidFill>
                <a:latin typeface="Calibri"/>
              </a:rPr>
              <a:t>Kubaga hagamijwe gukuraho agace k'inyama karwaye. Bikoreshwa kuri kanseri zimwe, bitewe n'aho indwara igeze ikura.</a:t>
            </a:r>
          </a:p>
        </p:txBody>
      </p:sp>
      <p:sp>
        <p:nvSpPr>
          <p:cNvPr id="6" name="Rounded Rectangle 5"/>
          <p:cNvSpPr/>
          <p:nvPr/>
        </p:nvSpPr>
        <p:spPr>
          <a:xfrm>
            <a:off x="4344405" y="1554480"/>
            <a:ext cx="3503157" cy="367206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4563861" y="1755648"/>
            <a:ext cx="3064245" cy="2011680"/>
          </a:xfrm>
          <a:prstGeom prst="rect">
            <a:avLst/>
          </a:prstGeom>
          <a:noFill/>
        </p:spPr>
        <p:txBody>
          <a:bodyPr wrap="square" lIns="0" tIns="0" rIns="0" bIns="0">
            <a:spAutoFit/>
          </a:bodyPr>
          <a:lstStyle/>
          <a:p>
            <a:pPr>
              <a:lnSpc>
                <a:spcPct val="114000"/>
              </a:lnSpc>
              <a:spcAft>
                <a:spcPts val="700"/>
              </a:spcAft>
            </a:pPr>
            <a:r>
              <a:rPr lang="en-GB" sz="1450" b="0" i="0" dirty="0">
                <a:solidFill>
                  <a:srgbClr val="1A1A1A"/>
                </a:solidFill>
                <a:latin typeface="Calibri"/>
              </a:rPr>
              <a:t>☢  </a:t>
            </a:r>
            <a:r>
              <a:rPr lang="en-GB" sz="1550" b="1" i="0" dirty="0">
                <a:solidFill>
                  <a:srgbClr val="10305A"/>
                </a:solidFill>
                <a:latin typeface="Calibri"/>
              </a:rPr>
              <a:t>Kuvurwa hakoreshejwe imirasire</a:t>
            </a:r>
          </a:p>
          <a:p>
            <a:pPr>
              <a:lnSpc>
                <a:spcPct val="114000"/>
              </a:lnSpc>
              <a:spcAft>
                <a:spcPts val="700"/>
              </a:spcAft>
            </a:pPr>
            <a:r>
              <a:rPr lang="en-GB" sz="1550" b="0" i="0" dirty="0">
                <a:solidFill>
                  <a:srgbClr val="1A1A1A"/>
                </a:solidFill>
                <a:latin typeface="Calibri"/>
              </a:rPr>
              <a:t>Ubuvuzi bwangiza uturemangingo twa kanseri ku buryo tudashobora gukomeza gukura. Butangirwa mu bitaro byihariye.</a:t>
            </a:r>
          </a:p>
        </p:txBody>
      </p:sp>
      <p:sp>
        <p:nvSpPr>
          <p:cNvPr id="8" name="Rounded Rectangle 7"/>
          <p:cNvSpPr/>
          <p:nvPr/>
        </p:nvSpPr>
        <p:spPr>
          <a:xfrm>
            <a:off x="8121883" y="1554480"/>
            <a:ext cx="3503157" cy="363061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341339" y="1755648"/>
            <a:ext cx="3064245" cy="2011680"/>
          </a:xfrm>
          <a:prstGeom prst="rect">
            <a:avLst/>
          </a:prstGeom>
          <a:noFill/>
        </p:spPr>
        <p:txBody>
          <a:bodyPr wrap="square" lIns="0" tIns="0" rIns="0" bIns="0">
            <a:spAutoFit/>
          </a:bodyPr>
          <a:lstStyle/>
          <a:p>
            <a:pPr>
              <a:lnSpc>
                <a:spcPct val="114000"/>
              </a:lnSpc>
              <a:spcAft>
                <a:spcPts val="700"/>
              </a:spcAft>
            </a:pPr>
            <a:r>
              <a:rPr lang="en-GB" sz="1600" b="0" i="0" dirty="0">
                <a:solidFill>
                  <a:srgbClr val="1A1A1A"/>
                </a:solidFill>
                <a:latin typeface="Calibri"/>
              </a:rPr>
              <a:t>💊  </a:t>
            </a:r>
            <a:r>
              <a:rPr lang="en-GB" sz="1700" b="1" i="0" dirty="0">
                <a:solidFill>
                  <a:srgbClr val="10305A"/>
                </a:solidFill>
                <a:latin typeface="Calibri"/>
              </a:rPr>
              <a:t>Imiti ya kanseri</a:t>
            </a:r>
          </a:p>
          <a:p>
            <a:pPr>
              <a:lnSpc>
                <a:spcPct val="114000"/>
              </a:lnSpc>
              <a:spcAft>
                <a:spcPts val="700"/>
              </a:spcAft>
            </a:pPr>
            <a:r>
              <a:rPr lang="en-GB" sz="1700" b="0" i="0" dirty="0">
                <a:solidFill>
                  <a:srgbClr val="1A1A1A"/>
                </a:solidFill>
                <a:latin typeface="Calibri"/>
              </a:rPr>
              <a:t>Imiti igenda mu mubiri igakora ku turemangingo twa kanseri. Akenshi itangwa hamwe no kuvurwa hakoreshejwe imirasire.</a:t>
            </a:r>
          </a:p>
        </p:txBody>
      </p:sp>
      <p:sp>
        <p:nvSpPr>
          <p:cNvPr id="10" name="Rounded Rectangle 9"/>
          <p:cNvSpPr/>
          <p:nvPr/>
        </p:nvSpPr>
        <p:spPr>
          <a:xfrm>
            <a:off x="566928" y="5354565"/>
            <a:ext cx="11058113" cy="932688"/>
          </a:xfrm>
          <a:prstGeom prst="roundRect">
            <a:avLst>
              <a:gd name="adj" fmla="val 4500"/>
            </a:avLst>
          </a:prstGeom>
          <a:solidFill>
            <a:srgbClr val="ECF2FB"/>
          </a:solidFill>
          <a:ln w="12700">
            <a:solidFill>
              <a:srgbClr val="D3E0F2"/>
            </a:solidFill>
          </a:ln>
          <a:effectLst/>
        </p:spPr>
        <p:txBody>
          <a:bodyPr wrap="square" rtlCol="0" anchor="ctr"/>
          <a:lstStyle/>
          <a:p>
            <a:pPr algn="ctr"/>
            <a:endParaRPr lang="en-GB" dirty="0"/>
          </a:p>
        </p:txBody>
      </p:sp>
      <p:sp>
        <p:nvSpPr>
          <p:cNvPr id="11" name="TextBox 10"/>
          <p:cNvSpPr txBox="1"/>
          <p:nvPr/>
        </p:nvSpPr>
        <p:spPr>
          <a:xfrm>
            <a:off x="804672" y="5500869"/>
            <a:ext cx="10582625" cy="658368"/>
          </a:xfrm>
          <a:prstGeom prst="rect">
            <a:avLst/>
          </a:prstGeom>
          <a:noFill/>
        </p:spPr>
        <p:txBody>
          <a:bodyPr wrap="square" lIns="0" tIns="0" rIns="0" bIns="0">
            <a:spAutoFit/>
          </a:bodyPr>
          <a:lstStyle/>
          <a:p>
            <a:pPr>
              <a:lnSpc>
                <a:spcPct val="112000"/>
              </a:lnSpc>
            </a:pPr>
            <a:r>
              <a:rPr lang="en-GB" sz="1800" b="1" i="0" dirty="0">
                <a:solidFill>
                  <a:srgbClr val="1F4E96"/>
                </a:solidFill>
                <a:latin typeface="Calibri"/>
              </a:rPr>
              <a:t>📌 Ni ingenzi kandi:  </a:t>
            </a:r>
            <a:r>
              <a:rPr lang="en-GB" sz="1800" b="0" i="0" dirty="0">
                <a:solidFill>
                  <a:srgbClr val="1A1A1A"/>
                </a:solidFill>
                <a:latin typeface="Calibri"/>
              </a:rPr>
              <a:t>Ubuvuzi bwo kugabanya ububabare, kuva amaraso n'ibindi bimenyetso butangwa hamwe n'ubu buvuzi, kugira ngo umugore yumve amerewe neza uko bishoboka kose igihe cyose.</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114</a:t>
            </a:r>
          </a:p>
        </p:txBody>
      </p:sp>
      <p:pic>
        <p:nvPicPr>
          <p:cNvPr id="15" name="Picture 14">
            <a:extLst>
              <a:ext uri="{FF2B5EF4-FFF2-40B4-BE49-F238E27FC236}">
                <a16:creationId xmlns:a16="http://schemas.microsoft.com/office/drawing/2014/main" id="{5F748809-F446-82F0-1455-D36A6C83D1E3}"/>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988816" y="3542053"/>
            <a:ext cx="2659380" cy="1450571"/>
          </a:xfrm>
          <a:prstGeom prst="rect">
            <a:avLst/>
          </a:prstGeom>
        </p:spPr>
      </p:pic>
      <p:pic>
        <p:nvPicPr>
          <p:cNvPr id="17" name="Picture 16">
            <a:extLst>
              <a:ext uri="{FF2B5EF4-FFF2-40B4-BE49-F238E27FC236}">
                <a16:creationId xmlns:a16="http://schemas.microsoft.com/office/drawing/2014/main" id="{8DA4F389-665E-6986-DA8E-658EAAE78728}"/>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632182" y="3542053"/>
            <a:ext cx="2927604" cy="1596875"/>
          </a:xfrm>
          <a:prstGeom prst="rect">
            <a:avLst/>
          </a:prstGeom>
        </p:spPr>
      </p:pic>
      <p:pic>
        <p:nvPicPr>
          <p:cNvPr id="19" name="Picture 18">
            <a:extLst>
              <a:ext uri="{FF2B5EF4-FFF2-40B4-BE49-F238E27FC236}">
                <a16:creationId xmlns:a16="http://schemas.microsoft.com/office/drawing/2014/main" id="{9AFA73E1-75E3-9D25-E244-6D4785EFD97F}"/>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388000" y="3456191"/>
            <a:ext cx="3052700" cy="1665109"/>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K U V U R A   K A N S E R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600" b="1" i="0" dirty="0">
                <a:solidFill>
                  <a:srgbClr val="10305A"/>
                </a:solidFill>
                <a:latin typeface="Cambria"/>
              </a:rPr>
              <a:t>Impamvu abagore babiri bahabwa ubuvuzi butandukanye</a:t>
            </a:r>
          </a:p>
        </p:txBody>
      </p:sp>
      <p:sp>
        <p:nvSpPr>
          <p:cNvPr id="4" name="Rounded Rectangle 3"/>
          <p:cNvSpPr/>
          <p:nvPr/>
        </p:nvSpPr>
        <p:spPr>
          <a:xfrm>
            <a:off x="566928" y="155448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Oval 4"/>
          <p:cNvSpPr/>
          <p:nvPr/>
        </p:nvSpPr>
        <p:spPr>
          <a:xfrm>
            <a:off x="804672" y="171907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6" name="TextBox 5"/>
          <p:cNvSpPr txBox="1"/>
          <p:nvPr/>
        </p:nvSpPr>
        <p:spPr>
          <a:xfrm>
            <a:off x="1389888" y="1645920"/>
            <a:ext cx="9960833" cy="548640"/>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Ubuvuzi bushingira ku rwego indwara igezeho ikura, bigafatirwaho icyemezo nyuma y'ibizamini.</a:t>
            </a:r>
          </a:p>
        </p:txBody>
      </p:sp>
      <p:sp>
        <p:nvSpPr>
          <p:cNvPr id="7" name="Rounded Rectangle 6"/>
          <p:cNvSpPr/>
          <p:nvPr/>
        </p:nvSpPr>
        <p:spPr>
          <a:xfrm>
            <a:off x="566928" y="237744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Oval 7"/>
          <p:cNvSpPr/>
          <p:nvPr/>
        </p:nvSpPr>
        <p:spPr>
          <a:xfrm>
            <a:off x="804672" y="254203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9" name="TextBox 8"/>
          <p:cNvSpPr txBox="1"/>
          <p:nvPr/>
        </p:nvSpPr>
        <p:spPr>
          <a:xfrm>
            <a:off x="1389888" y="2468880"/>
            <a:ext cx="9960833" cy="548640"/>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Bushingira ku buzima bw'umugore ubwe n'uko ahagaze ku giti cye.</a:t>
            </a:r>
          </a:p>
        </p:txBody>
      </p:sp>
      <p:sp>
        <p:nvSpPr>
          <p:cNvPr id="10" name="Rounded Rectangle 9"/>
          <p:cNvSpPr/>
          <p:nvPr/>
        </p:nvSpPr>
        <p:spPr>
          <a:xfrm>
            <a:off x="566928" y="320040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Oval 10"/>
          <p:cNvSpPr/>
          <p:nvPr/>
        </p:nvSpPr>
        <p:spPr>
          <a:xfrm>
            <a:off x="804672" y="336499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2" name="TextBox 11"/>
          <p:cNvSpPr txBox="1"/>
          <p:nvPr/>
        </p:nvSpPr>
        <p:spPr>
          <a:xfrm>
            <a:off x="1389888" y="3291840"/>
            <a:ext cx="9960833" cy="548640"/>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Abagore bamwe bahabwa ubuvuzi bumwe, abandi bagahabwa ubuvuzi buhuriweho bw'uburyo butandukanye.</a:t>
            </a:r>
          </a:p>
        </p:txBody>
      </p:sp>
      <p:sp>
        <p:nvSpPr>
          <p:cNvPr id="13" name="Rounded Rectangle 12"/>
          <p:cNvSpPr/>
          <p:nvPr/>
        </p:nvSpPr>
        <p:spPr>
          <a:xfrm>
            <a:off x="566928" y="402336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Oval 13"/>
          <p:cNvSpPr/>
          <p:nvPr/>
        </p:nvSpPr>
        <p:spPr>
          <a:xfrm>
            <a:off x="804672" y="418795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5" name="TextBox 14"/>
          <p:cNvSpPr txBox="1"/>
          <p:nvPr/>
        </p:nvSpPr>
        <p:spPr>
          <a:xfrm>
            <a:off x="1389888" y="4114800"/>
            <a:ext cx="9960833" cy="548640"/>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Ubuvuzi buhitwamo n'itsinda ry'inzobere ku bitaro, si mu baturage.</a:t>
            </a:r>
          </a:p>
        </p:txBody>
      </p:sp>
      <p:sp>
        <p:nvSpPr>
          <p:cNvPr id="16" name="Rounded Rectangle 15"/>
          <p:cNvSpPr/>
          <p:nvPr/>
        </p:nvSpPr>
        <p:spPr>
          <a:xfrm>
            <a:off x="566928" y="484632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Oval 16"/>
          <p:cNvSpPr/>
          <p:nvPr/>
        </p:nvSpPr>
        <p:spPr>
          <a:xfrm>
            <a:off x="804672" y="501091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5</a:t>
            </a:r>
          </a:p>
        </p:txBody>
      </p:sp>
      <p:sp>
        <p:nvSpPr>
          <p:cNvPr id="18" name="TextBox 17"/>
          <p:cNvSpPr txBox="1"/>
          <p:nvPr/>
        </p:nvSpPr>
        <p:spPr>
          <a:xfrm>
            <a:off x="1389888" y="4937759"/>
            <a:ext cx="9960833" cy="548640"/>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Kanseri y'inkondo y'umura ibonetse hakiri kare akenshi ishobora kuvurwa igakira, kandi ni yo mpamvu gukora hakiri kare ari ingenzi cyane.</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115</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U R U G E R O   R W O   M U   B A T U R A G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Ukorera iki Jeanne?</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Jeanne yavuye amaraso nyuma y'imyaka itandatu acuze, kandi ashaka gutegereza. Ni ikihe gikorwa gikwiye?</a:t>
            </a:r>
          </a:p>
        </p:txBody>
      </p:sp>
      <p:sp>
        <p:nvSpPr>
          <p:cNvPr id="5" name="Rounded Rectangle 4"/>
          <p:cNvSpPr/>
          <p:nvPr/>
        </p:nvSpPr>
        <p:spPr>
          <a:xfrm>
            <a:off x="566928" y="2304288"/>
            <a:ext cx="11058113" cy="43115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2143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Kwemera gutegereza, kuko amaraso ari make kandi nta bubabare afite</a:t>
            </a:r>
          </a:p>
        </p:txBody>
      </p:sp>
      <p:sp>
        <p:nvSpPr>
          <p:cNvPr id="10" name="Rounded Rectangle 9"/>
          <p:cNvSpPr/>
          <p:nvPr/>
        </p:nvSpPr>
        <p:spPr>
          <a:xfrm>
            <a:off x="566928" y="2836031"/>
            <a:ext cx="11058113" cy="43115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890895"/>
            <a:ext cx="10006553" cy="32143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Kumubwira ko ari kanseri nta gushidikanya kugira ngo agende vuba</a:t>
            </a:r>
          </a:p>
        </p:txBody>
      </p:sp>
      <p:sp>
        <p:nvSpPr>
          <p:cNvPr id="7" name="Rounded Rectangle 6"/>
          <p:cNvSpPr/>
          <p:nvPr/>
        </p:nvSpPr>
        <p:spPr>
          <a:xfrm>
            <a:off x="566928" y="3367774"/>
            <a:ext cx="11058113" cy="910225"/>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422638"/>
            <a:ext cx="10006553" cy="800497"/>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Gusobanura ko kuva amaraso nyuma y'uko imihango ihagaze buri gihe bikenera gusuzumwa, ko hari impamvu nyinshi zishoboka kandi bitavuze kanseri, no kumufasha kugera ku ivuriro vuba</a:t>
            </a:r>
          </a:p>
        </p:txBody>
      </p:sp>
      <p:sp>
        <p:nvSpPr>
          <p:cNvPr id="12" name="Rounded Rectangle 11"/>
          <p:cNvSpPr/>
          <p:nvPr/>
        </p:nvSpPr>
        <p:spPr>
          <a:xfrm>
            <a:off x="566928" y="4378583"/>
            <a:ext cx="11058113" cy="43115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433447"/>
            <a:ext cx="10006553" cy="32143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Kubibwira umugabo we kugira ngo amuhatire kugenda</a:t>
            </a:r>
          </a:p>
        </p:txBody>
      </p:sp>
      <p:sp>
        <p:nvSpPr>
          <p:cNvPr id="14" name="Rounded Rectangle 13"/>
          <p:cNvSpPr/>
          <p:nvPr/>
        </p:nvSpPr>
        <p:spPr>
          <a:xfrm>
            <a:off x="566928" y="4919472"/>
            <a:ext cx="11058113" cy="1353311"/>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5047488"/>
            <a:ext cx="10546049" cy="109727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Kuva amaraso nyuma yo gucura buri gihe bikenera gusuzumwa, n'iyo amaraso yaba ari make gute. Kumubwira ko ari kanseri nta gushidikanya si ukuri kandi biteye ubwoba, kandi kubibwira umugabo we atabyemeye bica ibanga rye kandi bishobora gutuma atongera kugira uwo abwira ibye.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116</a:t>
            </a:r>
          </a:p>
        </p:txBody>
      </p:sp>
      <p:sp>
        <p:nvSpPr>
          <p:cNvPr id="9" name="TextBox 8"/>
          <p:cNvSpPr txBox="1"/>
          <p:nvPr/>
        </p:nvSpPr>
        <p:spPr>
          <a:xfrm>
            <a:off x="11094689" y="3685727"/>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Imyumvire ku buvuzi bwo mu bitaro</a:t>
            </a:r>
          </a:p>
        </p:txBody>
      </p:sp>
      <p:sp>
        <p:nvSpPr>
          <p:cNvPr id="4" name="TextBox 3"/>
          <p:cNvSpPr txBox="1"/>
          <p:nvPr/>
        </p:nvSpPr>
        <p:spPr>
          <a:xfrm>
            <a:off x="566928" y="1572768"/>
            <a:ext cx="11058113" cy="320040"/>
          </a:xfrm>
          <a:prstGeom prst="rect">
            <a:avLst/>
          </a:prstGeom>
          <a:noFill/>
        </p:spPr>
        <p:txBody>
          <a:bodyPr wrap="square" lIns="0" tIns="0" rIns="0" bIns="0">
            <a:spAutoFit/>
          </a:bodyPr>
          <a:lstStyle/>
          <a:p>
            <a:r>
              <a:rPr lang="en-GB" sz="1700" b="0" i="1" dirty="0">
                <a:solidFill>
                  <a:srgbClr val="1F4E96"/>
                </a:solidFill>
                <a:latin typeface="Calibri"/>
              </a:rPr>
              <a:t>Hitamo buri myumvire kugira ngo ubone igisubizo nyacyo.</a:t>
            </a:r>
          </a:p>
        </p:txBody>
      </p:sp>
      <p:sp>
        <p:nvSpPr>
          <p:cNvPr id="5" name="Rounded Rectangle 4"/>
          <p:cNvSpPr/>
          <p:nvPr/>
        </p:nvSpPr>
        <p:spPr>
          <a:xfrm>
            <a:off x="566928" y="2029967"/>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6" name="TextBox 5"/>
          <p:cNvSpPr txBox="1"/>
          <p:nvPr/>
        </p:nvSpPr>
        <p:spPr>
          <a:xfrm>
            <a:off x="786384" y="2148839"/>
            <a:ext cx="4205495" cy="653796"/>
          </a:xfrm>
          <a:prstGeom prst="rect">
            <a:avLst/>
          </a:prstGeom>
          <a:noFill/>
        </p:spPr>
        <p:txBody>
          <a:bodyPr wrap="square" lIns="0" tIns="0" rIns="0" bIns="0" anchor="ctr">
            <a:spAutoFit/>
          </a:bodyPr>
          <a:lstStyle/>
          <a:p>
            <a:pPr>
              <a:lnSpc>
                <a:spcPct val="110000"/>
              </a:lnSpc>
            </a:pPr>
            <a:r>
              <a:rPr lang="en-GB" sz="1400" b="0" i="0" dirty="0">
                <a:solidFill>
                  <a:srgbClr val="1A1A1A"/>
                </a:solidFill>
                <a:latin typeface="Calibri"/>
              </a:rPr>
              <a:t>❌ </a:t>
            </a:r>
            <a:r>
              <a:rPr lang="en-GB" sz="1700" b="1" i="0" dirty="0">
                <a:solidFill>
                  <a:srgbClr val="A31D1D"/>
                </a:solidFill>
                <a:latin typeface="Calibri"/>
              </a:rPr>
              <a:t>Imyumvire mibi:   </a:t>
            </a:r>
            <a:r>
              <a:rPr lang="en-GB" sz="1700" b="0" i="0" dirty="0">
                <a:solidFill>
                  <a:srgbClr val="1A1A1A"/>
                </a:solidFill>
                <a:latin typeface="Calibri"/>
              </a:rPr>
              <a:t>Kubagwa bituma kanseri ikwirakwira mu mubiri.</a:t>
            </a:r>
          </a:p>
        </p:txBody>
      </p:sp>
      <p:sp>
        <p:nvSpPr>
          <p:cNvPr id="7" name="Rounded Rectangle 6"/>
          <p:cNvSpPr/>
          <p:nvPr/>
        </p:nvSpPr>
        <p:spPr>
          <a:xfrm>
            <a:off x="5467367" y="2029967"/>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5686823" y="2148839"/>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Kubaga bikuraho agace k'inyama karwaye. Ntibikwirakwiza indwara.</a:t>
            </a:r>
          </a:p>
        </p:txBody>
      </p:sp>
      <p:sp>
        <p:nvSpPr>
          <p:cNvPr id="9" name="Rounded Rectangle 8"/>
          <p:cNvSpPr/>
          <p:nvPr/>
        </p:nvSpPr>
        <p:spPr>
          <a:xfrm>
            <a:off x="566928" y="3067811"/>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0" name="TextBox 9"/>
          <p:cNvSpPr txBox="1"/>
          <p:nvPr/>
        </p:nvSpPr>
        <p:spPr>
          <a:xfrm>
            <a:off x="786384" y="3186683"/>
            <a:ext cx="4205495"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A31D1D"/>
                </a:solidFill>
                <a:latin typeface="Calibri"/>
              </a:rPr>
              <a:t>Imyumvire mibi:   </a:t>
            </a:r>
            <a:r>
              <a:rPr lang="en-GB" sz="1800" b="0" i="0" dirty="0">
                <a:solidFill>
                  <a:srgbClr val="1A1A1A"/>
                </a:solidFill>
                <a:latin typeface="Calibri"/>
              </a:rPr>
              <a:t>Gufata agace gato k'inyama ngo gasuzumwe ni bibi.</a:t>
            </a:r>
          </a:p>
        </p:txBody>
      </p:sp>
      <p:sp>
        <p:nvSpPr>
          <p:cNvPr id="11" name="Rounded Rectangle 10"/>
          <p:cNvSpPr/>
          <p:nvPr/>
        </p:nvSpPr>
        <p:spPr>
          <a:xfrm>
            <a:off x="5467367" y="3067811"/>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2" name="TextBox 11"/>
          <p:cNvSpPr txBox="1"/>
          <p:nvPr/>
        </p:nvSpPr>
        <p:spPr>
          <a:xfrm>
            <a:off x="5686823" y="3186683"/>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Bikorwa vuba, ni bwo buryo igisubizo kiboneka, kandi ntibituma indwara irushaho kuba mbi.</a:t>
            </a:r>
          </a:p>
        </p:txBody>
      </p:sp>
      <p:sp>
        <p:nvSpPr>
          <p:cNvPr id="13" name="Rounded Rectangle 12"/>
          <p:cNvSpPr/>
          <p:nvPr/>
        </p:nvSpPr>
        <p:spPr>
          <a:xfrm>
            <a:off x="566928" y="4105656"/>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4" name="TextBox 13"/>
          <p:cNvSpPr txBox="1"/>
          <p:nvPr/>
        </p:nvSpPr>
        <p:spPr>
          <a:xfrm>
            <a:off x="786384" y="4224528"/>
            <a:ext cx="4205495" cy="653796"/>
          </a:xfrm>
          <a:prstGeom prst="rect">
            <a:avLst/>
          </a:prstGeom>
          <a:noFill/>
        </p:spPr>
        <p:txBody>
          <a:bodyPr wrap="square" lIns="0" tIns="0" rIns="0" bIns="0" anchor="ctr">
            <a:spAutoFit/>
          </a:bodyPr>
          <a:lstStyle/>
          <a:p>
            <a:pPr>
              <a:lnSpc>
                <a:spcPct val="110000"/>
              </a:lnSpc>
            </a:pPr>
            <a:r>
              <a:rPr lang="en-GB" sz="1200" b="0" i="0" dirty="0">
                <a:solidFill>
                  <a:srgbClr val="1A1A1A"/>
                </a:solidFill>
                <a:latin typeface="Calibri"/>
              </a:rPr>
              <a:t>❌ </a:t>
            </a:r>
            <a:r>
              <a:rPr lang="en-GB" sz="1450" b="1" i="0" dirty="0">
                <a:solidFill>
                  <a:srgbClr val="A31D1D"/>
                </a:solidFill>
                <a:latin typeface="Calibri"/>
              </a:rPr>
              <a:t>Imyumvire mibi:   </a:t>
            </a:r>
            <a:r>
              <a:rPr lang="en-GB" sz="1450" b="0" i="0" dirty="0">
                <a:solidFill>
                  <a:srgbClr val="1A1A1A"/>
                </a:solidFill>
                <a:latin typeface="Calibri"/>
              </a:rPr>
              <a:t>Kuvura impinduka ku nkondo y'umura bitera kanseri nyuma.</a:t>
            </a:r>
          </a:p>
        </p:txBody>
      </p:sp>
      <p:sp>
        <p:nvSpPr>
          <p:cNvPr id="15" name="Rounded Rectangle 14"/>
          <p:cNvSpPr/>
          <p:nvPr/>
        </p:nvSpPr>
        <p:spPr>
          <a:xfrm>
            <a:off x="5467367" y="4105656"/>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6" name="TextBox 15"/>
          <p:cNvSpPr txBox="1"/>
          <p:nvPr/>
        </p:nvSpPr>
        <p:spPr>
          <a:xfrm>
            <a:off x="5686823" y="4224528"/>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Kuvura izo mpinduka ni byo neza neza birinda kanseri kuza.</a:t>
            </a:r>
          </a:p>
        </p:txBody>
      </p:sp>
      <p:sp>
        <p:nvSpPr>
          <p:cNvPr id="17" name="Rounded Rectangle 16"/>
          <p:cNvSpPr/>
          <p:nvPr/>
        </p:nvSpPr>
        <p:spPr>
          <a:xfrm>
            <a:off x="566928" y="5143500"/>
            <a:ext cx="4644407" cy="89154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18" name="TextBox 17"/>
          <p:cNvSpPr txBox="1"/>
          <p:nvPr/>
        </p:nvSpPr>
        <p:spPr>
          <a:xfrm>
            <a:off x="786384" y="5262372"/>
            <a:ext cx="4205495" cy="653796"/>
          </a:xfrm>
          <a:prstGeom prst="rect">
            <a:avLst/>
          </a:prstGeom>
          <a:noFill/>
        </p:spPr>
        <p:txBody>
          <a:bodyPr wrap="square" lIns="0" tIns="0" rIns="0" bIns="0" anchor="ctr">
            <a:spAutoFit/>
          </a:bodyPr>
          <a:lstStyle/>
          <a:p>
            <a:pPr>
              <a:lnSpc>
                <a:spcPct val="110000"/>
              </a:lnSpc>
            </a:pPr>
            <a:r>
              <a:rPr lang="en-GB" sz="1350" b="0" i="0" dirty="0">
                <a:solidFill>
                  <a:srgbClr val="1A1A1A"/>
                </a:solidFill>
                <a:latin typeface="Calibri"/>
              </a:rPr>
              <a:t>❌ </a:t>
            </a:r>
            <a:r>
              <a:rPr lang="en-GB" sz="1650" b="1" i="0" dirty="0">
                <a:solidFill>
                  <a:srgbClr val="A31D1D"/>
                </a:solidFill>
                <a:latin typeface="Calibri"/>
              </a:rPr>
              <a:t>Imyumvire mibi:   </a:t>
            </a:r>
            <a:r>
              <a:rPr lang="en-GB" sz="1650" b="0" i="0" dirty="0">
                <a:solidFill>
                  <a:srgbClr val="1A1A1A"/>
                </a:solidFill>
                <a:latin typeface="Calibri"/>
              </a:rPr>
              <a:t>Iyo ubuvuzi bumaze gutangira, umugore ntashobora kongera kubaho ubuzima busanzwe.</a:t>
            </a:r>
          </a:p>
        </p:txBody>
      </p:sp>
      <p:sp>
        <p:nvSpPr>
          <p:cNvPr id="19" name="Rounded Rectangle 18"/>
          <p:cNvSpPr/>
          <p:nvPr/>
        </p:nvSpPr>
        <p:spPr>
          <a:xfrm>
            <a:off x="5467367" y="5143500"/>
            <a:ext cx="6157673" cy="89154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20" name="TextBox 19"/>
          <p:cNvSpPr txBox="1"/>
          <p:nvPr/>
        </p:nvSpPr>
        <p:spPr>
          <a:xfrm>
            <a:off x="5686823" y="5262372"/>
            <a:ext cx="5718761" cy="653796"/>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 </a:t>
            </a:r>
            <a:r>
              <a:rPr lang="en-GB" sz="1800" b="1" i="0" dirty="0">
                <a:solidFill>
                  <a:srgbClr val="1C6B3F"/>
                </a:solidFill>
                <a:latin typeface="Calibri"/>
              </a:rPr>
              <a:t>Mu by'ukuri:   </a:t>
            </a:r>
            <a:r>
              <a:rPr lang="en-GB" sz="1800" b="0" i="0" dirty="0">
                <a:solidFill>
                  <a:srgbClr val="1A1A1A"/>
                </a:solidFill>
                <a:latin typeface="Calibri"/>
              </a:rPr>
              <a:t>Abagore benshi bakomeza akazi kabo n'ubuzima bw'umuryango, bafashwa mu gihe cy'ubuvuzi.</a:t>
            </a:r>
          </a:p>
        </p:txBody>
      </p:sp>
      <p:sp>
        <p:nvSpPr>
          <p:cNvPr id="21" name="TextBox 20"/>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2" name="TextBox 21"/>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117</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1 muri 4</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Kanseri y'inkondo y'umura yemezwa ite bwa nyuma?</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Kureba umugore inyuma</a:t>
            </a:r>
          </a:p>
        </p:txBody>
      </p:sp>
      <p:sp>
        <p:nvSpPr>
          <p:cNvPr id="12" name="Rounded Rectangle 11"/>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64261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Umuryango wemeranya ko ari kanseri</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Kubaza ibimenyetso bye gusa</a:t>
            </a:r>
          </a:p>
        </p:txBody>
      </p:sp>
      <p:sp>
        <p:nvSpPr>
          <p:cNvPr id="7" name="Rounded Rectangle 6"/>
          <p:cNvSpPr/>
          <p:nvPr/>
        </p:nvSpPr>
        <p:spPr>
          <a:xfrm>
            <a:off x="566928" y="377647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Laboratwari isuzuma agace gato k'inyama kakuwe ku nkondo y'umura</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D</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Laboratwari isuzuma agace k'inyama ni yo yonyine ishobora kwemeza kanseri. Ibimenyetso n'isuzuma bitera gukeka, naho agace k'inyama gatanga igisubizo. Ni yo mpamvu umugore agomba kurangiza gusura ivuriro yoherejweho.</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118</a:t>
            </a:r>
          </a:p>
        </p:txBody>
      </p:sp>
      <p:sp>
        <p:nvSpPr>
          <p:cNvPr id="9" name="TextBox 8"/>
          <p:cNvSpPr txBox="1"/>
          <p:nvPr/>
        </p:nvSpPr>
        <p:spPr>
          <a:xfrm>
            <a:off x="11094689" y="388619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2 muri 4</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850" b="1" i="0" dirty="0">
                <a:solidFill>
                  <a:srgbClr val="0F1C2E"/>
                </a:solidFill>
                <a:latin typeface="Calibri"/>
              </a:rPr>
              <a:t>Bigenda bite iyo impinduka zibonetse ku nkondo y'umura mbere y'uko habaho kanseri?</a:t>
            </a:r>
          </a:p>
        </p:txBody>
      </p:sp>
      <p:sp>
        <p:nvSpPr>
          <p:cNvPr id="7" name="Rounded Rectangle 6"/>
          <p:cNvSpPr/>
          <p:nvPr/>
        </p:nvSpPr>
        <p:spPr>
          <a:xfrm>
            <a:off x="566928" y="199339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Igice cyahindutse kivurwa mu gihe gito, umuntu agiye kwa muganga rimwe, nyababyeyi igasigara, kandi kanseri ntizigera iza</a:t>
            </a:r>
          </a:p>
        </p:txBody>
      </p:sp>
      <p:sp>
        <p:nvSpPr>
          <p:cNvPr id="5" name="Rounded Rectangle 4"/>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Nyababyeyi buri gihe irakurwamo</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Nta cyakorwa kugeza ibaye kanseri</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Umugore avurwa hakoreshejwe imiti ya kanseri</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Kuvura impinduka y'inkondo y'umura ni igikorwa kigufi, gisiga nyababyeyi, kandi kirinda kanseri yashoboraga kuyikurikira. Iki ni cyo kintu gikomeye kurusha ibindi isuzuma rituma gishoboka.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119</a:t>
            </a:r>
          </a:p>
        </p:txBody>
      </p:sp>
      <p:sp>
        <p:nvSpPr>
          <p:cNvPr id="9" name="TextBox 8"/>
          <p:cNvSpPr txBox="1"/>
          <p:nvPr/>
        </p:nvSpPr>
        <p:spPr>
          <a:xfrm>
            <a:off x="11094689" y="210311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3 muri 4</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550" b="1" i="0" dirty="0">
                <a:solidFill>
                  <a:srgbClr val="0F1C2E"/>
                </a:solidFill>
                <a:latin typeface="Calibri"/>
              </a:rPr>
              <a:t>Kuki abagore babiri barwaye kanseri y'inkondo y'umura rimwe na rimwe bahabwa ubuvuzi butandukanye?</a:t>
            </a:r>
          </a:p>
        </p:txBody>
      </p:sp>
      <p:sp>
        <p:nvSpPr>
          <p:cNvPr id="7" name="Rounded Rectangle 6"/>
          <p:cNvSpPr/>
          <p:nvPr/>
        </p:nvSpPr>
        <p:spPr>
          <a:xfrm>
            <a:off x="566928" y="199339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Kubera ko ubuvuzi bushingira ku rwego indwara igezeho ikura no ku uko umugore ubwe ahagaze</a:t>
            </a:r>
          </a:p>
        </p:txBody>
      </p:sp>
      <p:sp>
        <p:nvSpPr>
          <p:cNvPr id="5" name="Rounded Rectangle 4"/>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Kubera ko abakozi b'ubuzima batavuga rumwe</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Kubera ko ubuvuzi bufatirwa icyemezo n'umuryango</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Kubera ko abagore bakuze batigera bavurwa</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Itsinda ry'inzobere rihitamo ubuvuzi nyuma y'uko ibizamini birangiye. Kubisobanurira umuryango birinda kugereranya kubi ko umugore umwe ahabwa ubuvuzi bwiza kurusha undi.</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120</a:t>
            </a:r>
          </a:p>
        </p:txBody>
      </p:sp>
      <p:sp>
        <p:nvSpPr>
          <p:cNvPr id="9" name="TextBox 8"/>
          <p:cNvSpPr txBox="1"/>
          <p:nvPr/>
        </p:nvSpPr>
        <p:spPr>
          <a:xfrm>
            <a:off x="11094689" y="210311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4 muri 4</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Umuryango uvuga ko kubagwa bizatuma indwara ikwirakwira, bityo umuvandimwe wabo agomba kuguma mu rugo. Ubabwira iki?</a:t>
            </a:r>
          </a:p>
        </p:txBody>
      </p:sp>
      <p:sp>
        <p:nvSpPr>
          <p:cNvPr id="5" name="Rounded Rectangle 4"/>
          <p:cNvSpPr/>
          <p:nvPr/>
        </p:nvSpPr>
        <p:spPr>
          <a:xfrm>
            <a:off x="566928" y="2304288"/>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Ko bafite ukuri kumugumana mu rugo</a:t>
            </a:r>
          </a:p>
        </p:txBody>
      </p:sp>
      <p:sp>
        <p:nvSpPr>
          <p:cNvPr id="10" name="Rounded Rectangle 9"/>
          <p:cNvSpPr/>
          <p:nvPr/>
        </p:nvSpPr>
        <p:spPr>
          <a:xfrm>
            <a:off x="566928" y="2888611"/>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943475"/>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Ko icyemezo nta cyo gitwaye</a:t>
            </a:r>
          </a:p>
        </p:txBody>
      </p:sp>
      <p:sp>
        <p:nvSpPr>
          <p:cNvPr id="7" name="Rounded Rectangle 6"/>
          <p:cNvSpPr/>
          <p:nvPr/>
        </p:nvSpPr>
        <p:spPr>
          <a:xfrm>
            <a:off x="566928" y="3472934"/>
            <a:ext cx="11058113" cy="752484"/>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527798"/>
            <a:ext cx="10006553" cy="642756"/>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Ko kubaga bikuraho agace k'inyama karwaye kandi bitakwirakwiza indwara, kandi ko kuguma mu rugo bituma indwara ikura</a:t>
            </a:r>
          </a:p>
        </p:txBody>
      </p:sp>
      <p:sp>
        <p:nvSpPr>
          <p:cNvPr id="12" name="Rounded Rectangle 11"/>
          <p:cNvSpPr/>
          <p:nvPr/>
        </p:nvSpPr>
        <p:spPr>
          <a:xfrm>
            <a:off x="566928" y="4326002"/>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380866"/>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Ko bagomba kubanza kugerageza kumuvurira mu rugo</a:t>
            </a:r>
          </a:p>
        </p:txBody>
      </p:sp>
      <p:sp>
        <p:nvSpPr>
          <p:cNvPr id="14" name="Rounded Rectangle 13"/>
          <p:cNvSpPr/>
          <p:nvPr/>
        </p:nvSpPr>
        <p:spPr>
          <a:xfrm>
            <a:off x="566928" y="4919471"/>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5047487"/>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Iyi myumvire irasanzwe kandi itinza ubuvuzi. Kuyisubiza utuje, utanga ibisobanuro bisobanutse kandi ubasaba ko mwajyana ikibazo ku ivuriro, ni kimwe mu bintu by'agaciro kurusha ibindi umujyanama w'ubuzima akora.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121</a:t>
            </a:r>
          </a:p>
        </p:txBody>
      </p:sp>
      <p:sp>
        <p:nvSpPr>
          <p:cNvPr id="9" name="TextBox 8"/>
          <p:cNvSpPr txBox="1"/>
          <p:nvPr/>
        </p:nvSpPr>
        <p:spPr>
          <a:xfrm>
            <a:off x="11094689" y="3712017"/>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450" b="1" i="0" dirty="0">
                <a:solidFill>
                  <a:srgbClr val="10305A"/>
                </a:solidFill>
                <a:latin typeface="Cambria"/>
              </a:rPr>
              <a:t>Ingingo z'ingenzi</a:t>
            </a:r>
          </a:p>
        </p:txBody>
      </p:sp>
      <p:sp>
        <p:nvSpPr>
          <p:cNvPr id="4" name="Rounded Rectangle 3"/>
          <p:cNvSpPr/>
          <p:nvPr/>
        </p:nvSpPr>
        <p:spPr>
          <a:xfrm>
            <a:off x="566928" y="1554480"/>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5564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566928"/>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Laboratwari isuzuma agace k'inyama ni yo yonyine ishobora kwemeza kanseri y'inkondo y'umura.</a:t>
            </a:r>
          </a:p>
        </p:txBody>
      </p:sp>
      <p:sp>
        <p:nvSpPr>
          <p:cNvPr id="7" name="Rounded Rectangle 6"/>
          <p:cNvSpPr/>
          <p:nvPr/>
        </p:nvSpPr>
        <p:spPr>
          <a:xfrm>
            <a:off x="566928" y="2395728"/>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59689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487168"/>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Impinduka zibonetse mbere ya kanseri zivurwa mu gihe gito, umuntu agiye kwa muganga rimwe, nyababyeyi igasigara.</a:t>
            </a:r>
          </a:p>
        </p:txBody>
      </p:sp>
      <p:sp>
        <p:nvSpPr>
          <p:cNvPr id="10" name="Rounded Rectangle 9"/>
          <p:cNvSpPr/>
          <p:nvPr/>
        </p:nvSpPr>
        <p:spPr>
          <a:xfrm>
            <a:off x="566928" y="3236976"/>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43814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328416"/>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Kanseri ishobora kuvurwa no kubagwa, imirasire, imiti, cyangwa guhuza ubu buryo.</a:t>
            </a:r>
          </a:p>
        </p:txBody>
      </p:sp>
      <p:sp>
        <p:nvSpPr>
          <p:cNvPr id="13" name="Rounded Rectangle 12"/>
          <p:cNvSpPr/>
          <p:nvPr/>
        </p:nvSpPr>
        <p:spPr>
          <a:xfrm>
            <a:off x="566928" y="4078224"/>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27939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169663"/>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Itsinda ry'inzobere rihitamo ubuvuzi nyuma y'ibizamini, kandi butandukana hagati y'abagore.</a:t>
            </a:r>
          </a:p>
        </p:txBody>
      </p:sp>
      <p:sp>
        <p:nvSpPr>
          <p:cNvPr id="16" name="Rounded Rectangle 15"/>
          <p:cNvSpPr/>
          <p:nvPr/>
        </p:nvSpPr>
        <p:spPr>
          <a:xfrm>
            <a:off x="566928" y="4919472"/>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TextBox 16"/>
          <p:cNvSpPr txBox="1"/>
          <p:nvPr/>
        </p:nvSpPr>
        <p:spPr>
          <a:xfrm>
            <a:off x="822960" y="512064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8" name="TextBox 17"/>
          <p:cNvSpPr txBox="1"/>
          <p:nvPr/>
        </p:nvSpPr>
        <p:spPr>
          <a:xfrm>
            <a:off x="1389888" y="5010912"/>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Kubaga no gufata agace k'inyama ntibikwirakwiza indwara.</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122</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4   ·   I S U B I R A M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Isubiramo</a:t>
            </a:r>
          </a:p>
        </p:txBody>
      </p:sp>
      <p:sp>
        <p:nvSpPr>
          <p:cNvPr id="4" name="TextBox 3"/>
          <p:cNvSpPr txBox="1"/>
          <p:nvPr/>
        </p:nvSpPr>
        <p:spPr>
          <a:xfrm>
            <a:off x="566928" y="1554480"/>
            <a:ext cx="11058113" cy="365760"/>
          </a:xfrm>
          <a:prstGeom prst="rect">
            <a:avLst/>
          </a:prstGeom>
          <a:noFill/>
        </p:spPr>
        <p:txBody>
          <a:bodyPr wrap="square" lIns="0" tIns="0" rIns="0" bIns="0">
            <a:spAutoFit/>
          </a:bodyPr>
          <a:lstStyle/>
          <a:p>
            <a:r>
              <a:rPr lang="en-GB" sz="1800" b="1" i="0" dirty="0">
                <a:solidFill>
                  <a:srgbClr val="10305A"/>
                </a:solidFill>
                <a:latin typeface="Calibri"/>
              </a:rPr>
              <a:t>Amabwiriza ku wiga:  </a:t>
            </a:r>
            <a:r>
              <a:rPr lang="en-GB" sz="1800" b="0" i="0" dirty="0">
                <a:solidFill>
                  <a:srgbClr val="1A1A1A"/>
                </a:solidFill>
                <a:latin typeface="Calibri"/>
              </a:rPr>
              <a:t>Andika igisubizo cyawe mu gasanduku kabigenewe.</a:t>
            </a:r>
          </a:p>
        </p:txBody>
      </p:sp>
      <p:sp>
        <p:nvSpPr>
          <p:cNvPr id="5" name="Rounded Rectangle 4"/>
          <p:cNvSpPr/>
          <p:nvPr/>
        </p:nvSpPr>
        <p:spPr>
          <a:xfrm>
            <a:off x="566928" y="2121408"/>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39572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212848"/>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Wasobanurira ute umuryango impamvu ibisubizo bifata igihe?</a:t>
            </a:r>
          </a:p>
        </p:txBody>
      </p:sp>
      <p:sp>
        <p:nvSpPr>
          <p:cNvPr id="8" name="Rounded Rectangle 7"/>
          <p:cNvSpPr/>
          <p:nvPr/>
        </p:nvSpPr>
        <p:spPr>
          <a:xfrm>
            <a:off x="566928" y="3182111"/>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45643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3273551"/>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Wabwira iki umuryango ushaka kugumana umugore mu rugo aho kujya ku bitaro?</a:t>
            </a:r>
          </a:p>
        </p:txBody>
      </p:sp>
      <p:sp>
        <p:nvSpPr>
          <p:cNvPr id="11" name="Rounded Rectangle 10"/>
          <p:cNvSpPr/>
          <p:nvPr/>
        </p:nvSpPr>
        <p:spPr>
          <a:xfrm>
            <a:off x="566928" y="4242816"/>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451713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4334255"/>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Ni iyihe myumvire ku buvuzi bwo mu bitaro ikomeye cyane mu gace utuyemo, kandi wayisubiza ute?</a:t>
            </a:r>
          </a:p>
        </p:txBody>
      </p:sp>
      <p:sp>
        <p:nvSpPr>
          <p:cNvPr id="14" name="TextBox 13"/>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5" name="TextBox 14"/>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123</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E2F5C"/>
          </a:solidFill>
          <a:ln>
            <a:noFill/>
          </a:ln>
          <a:effectLst/>
        </p:spPr>
        <p:txBody>
          <a:bodyPr rtlCol="0" anchor="ctr"/>
          <a:lstStyle/>
          <a:p>
            <a:pPr algn="ctr"/>
            <a:endParaRPr lang="en-GB" dirty="0"/>
          </a:p>
        </p:txBody>
      </p:sp>
      <p:sp>
        <p:nvSpPr>
          <p:cNvPr id="3" name="TextBox 2"/>
          <p:cNvSpPr txBox="1"/>
          <p:nvPr/>
        </p:nvSpPr>
        <p:spPr>
          <a:xfrm>
            <a:off x="9144000" y="1417320"/>
            <a:ext cx="2743200" cy="3291840"/>
          </a:xfrm>
          <a:prstGeom prst="rect">
            <a:avLst/>
          </a:prstGeom>
          <a:noFill/>
        </p:spPr>
        <p:txBody>
          <a:bodyPr wrap="square" lIns="0" tIns="0" rIns="0" bIns="0">
            <a:spAutoFit/>
          </a:bodyPr>
          <a:lstStyle/>
          <a:p>
            <a:pPr algn="ctr"/>
            <a:r>
              <a:rPr lang="en-GB" sz="20000" b="1" i="0" dirty="0">
                <a:solidFill>
                  <a:srgbClr val="1B4780"/>
                </a:solidFill>
                <a:latin typeface="Cambria"/>
              </a:rPr>
              <a:t>5</a:t>
            </a:r>
          </a:p>
        </p:txBody>
      </p:sp>
      <p:sp>
        <p:nvSpPr>
          <p:cNvPr id="4" name="TextBox 3"/>
          <p:cNvSpPr txBox="1"/>
          <p:nvPr/>
        </p:nvSpPr>
        <p:spPr>
          <a:xfrm>
            <a:off x="566928" y="1920240"/>
            <a:ext cx="8138160" cy="365760"/>
          </a:xfrm>
          <a:prstGeom prst="rect">
            <a:avLst/>
          </a:prstGeom>
          <a:noFill/>
        </p:spPr>
        <p:txBody>
          <a:bodyPr wrap="square" lIns="0" tIns="0" rIns="0" bIns="0">
            <a:spAutoFit/>
          </a:bodyPr>
          <a:lstStyle/>
          <a:p>
            <a:r>
              <a:rPr lang="en-GB" sz="1150" b="1" i="0" dirty="0">
                <a:solidFill>
                  <a:srgbClr val="B9CAE4"/>
                </a:solidFill>
                <a:latin typeface="Calibri"/>
              </a:rPr>
              <a:t>I G I C E   C Y A   5</a:t>
            </a:r>
          </a:p>
        </p:txBody>
      </p:sp>
      <p:sp>
        <p:nvSpPr>
          <p:cNvPr id="5" name="TextBox 4"/>
          <p:cNvSpPr txBox="1"/>
          <p:nvPr/>
        </p:nvSpPr>
        <p:spPr>
          <a:xfrm>
            <a:off x="566928" y="2377440"/>
            <a:ext cx="8138160" cy="1280160"/>
          </a:xfrm>
          <a:prstGeom prst="rect">
            <a:avLst/>
          </a:prstGeom>
          <a:noFill/>
        </p:spPr>
        <p:txBody>
          <a:bodyPr wrap="square" lIns="0" tIns="0" rIns="0" bIns="0">
            <a:spAutoFit/>
          </a:bodyPr>
          <a:lstStyle/>
          <a:p>
            <a:pPr>
              <a:lnSpc>
                <a:spcPct val="105000"/>
              </a:lnSpc>
            </a:pPr>
            <a:r>
              <a:rPr lang="en-GB" sz="4200" b="1" i="0" dirty="0">
                <a:solidFill>
                  <a:srgbClr val="FFFFFF"/>
                </a:solidFill>
                <a:latin typeface="Cambria"/>
              </a:rPr>
              <a:t>Ibyo kwitega ku ndwara no ku buvuzi</a:t>
            </a:r>
          </a:p>
        </p:txBody>
      </p:sp>
      <p:sp>
        <p:nvSpPr>
          <p:cNvPr id="6" name="TextBox 5"/>
          <p:cNvSpPr txBox="1"/>
          <p:nvPr/>
        </p:nvSpPr>
        <p:spPr>
          <a:xfrm>
            <a:off x="566928" y="3886200"/>
            <a:ext cx="8138160" cy="914400"/>
          </a:xfrm>
          <a:prstGeom prst="rect">
            <a:avLst/>
          </a:prstGeom>
          <a:noFill/>
        </p:spPr>
        <p:txBody>
          <a:bodyPr wrap="square" lIns="0" tIns="0" rIns="0" bIns="0">
            <a:spAutoFit/>
          </a:bodyPr>
          <a:lstStyle/>
          <a:p>
            <a:pPr>
              <a:lnSpc>
                <a:spcPct val="120000"/>
              </a:lnSpc>
            </a:pPr>
            <a:r>
              <a:rPr lang="en-GB" sz="1800" b="0" i="0" dirty="0">
                <a:solidFill>
                  <a:srgbClr val="B9CAE4"/>
                </a:solidFill>
                <a:latin typeface="Calibri"/>
              </a:rPr>
              <a:t>Ibibazo umugore ashobora kugira, ibikeneye ubuvuzi muri byo, n'uko abaturage bashobora kumufasha neza.</a:t>
            </a:r>
          </a:p>
        </p:txBody>
      </p:sp>
      <p:sp>
        <p:nvSpPr>
          <p:cNvPr id="7" name="TextBox 6"/>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8" name="TextBox 7"/>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124</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Intego z'iri somo</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Mu mpera z'iri somo, uzaba ushobora:</a:t>
            </a:r>
          </a:p>
        </p:txBody>
      </p:sp>
      <p:sp>
        <p:nvSpPr>
          <p:cNvPr id="5" name="Rounded Rectangle 4"/>
          <p:cNvSpPr/>
          <p:nvPr/>
        </p:nvSpPr>
        <p:spPr>
          <a:xfrm>
            <a:off x="566928" y="202996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19181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121408"/>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Kumenya ingaruka zisanzwe z'ubuvuzi bwa kanseri y'inkondo y'umura.</a:t>
            </a:r>
          </a:p>
        </p:txBody>
      </p:sp>
      <p:sp>
        <p:nvSpPr>
          <p:cNvPr id="8" name="Rounded Rectangle 7"/>
          <p:cNvSpPr/>
          <p:nvPr/>
        </p:nvSpPr>
        <p:spPr>
          <a:xfrm>
            <a:off x="566928" y="2847441"/>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009290"/>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2938881"/>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Gufata icyemezo cy'ibibazo bikeneye kwitabwaho byihutirwa n'ibishobora gutegereza gusurwa gukurikira.</a:t>
            </a:r>
          </a:p>
        </p:txBody>
      </p:sp>
      <p:sp>
        <p:nvSpPr>
          <p:cNvPr id="11" name="Rounded Rectangle 10"/>
          <p:cNvSpPr/>
          <p:nvPr/>
        </p:nvSpPr>
        <p:spPr>
          <a:xfrm>
            <a:off x="566928" y="3664915"/>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3826763"/>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3756355"/>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Gutanga ihumure n'ubufasha bifatika mu nshingano zawe.</a:t>
            </a:r>
          </a:p>
        </p:txBody>
      </p:sp>
      <p:sp>
        <p:nvSpPr>
          <p:cNvPr id="14" name="Rounded Rectangle 13"/>
          <p:cNvSpPr/>
          <p:nvPr/>
        </p:nvSpPr>
        <p:spPr>
          <a:xfrm>
            <a:off x="566928" y="4482388"/>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Oval 14"/>
          <p:cNvSpPr/>
          <p:nvPr/>
        </p:nvSpPr>
        <p:spPr>
          <a:xfrm>
            <a:off x="804672" y="464423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6" name="TextBox 15"/>
          <p:cNvSpPr txBox="1"/>
          <p:nvPr/>
        </p:nvSpPr>
        <p:spPr>
          <a:xfrm>
            <a:off x="1389888" y="4573828"/>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Gushyigikira icyubahiro cy'umugore, ibanga rye n'imibereho ye myiza.</a:t>
            </a:r>
          </a:p>
        </p:txBody>
      </p:sp>
      <p:sp>
        <p:nvSpPr>
          <p:cNvPr id="17" name="Rounded Rectangle 16"/>
          <p:cNvSpPr/>
          <p:nvPr/>
        </p:nvSpPr>
        <p:spPr>
          <a:xfrm>
            <a:off x="566928" y="5299862"/>
            <a:ext cx="11058113" cy="689457"/>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8" name="Oval 17"/>
          <p:cNvSpPr/>
          <p:nvPr/>
        </p:nvSpPr>
        <p:spPr>
          <a:xfrm>
            <a:off x="804672" y="546171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5</a:t>
            </a:r>
          </a:p>
        </p:txBody>
      </p:sp>
      <p:sp>
        <p:nvSpPr>
          <p:cNvPr id="19" name="TextBox 18"/>
          <p:cNvSpPr txBox="1"/>
          <p:nvPr/>
        </p:nvSpPr>
        <p:spPr>
          <a:xfrm>
            <a:off x="1389888" y="5391302"/>
            <a:ext cx="9960833" cy="543153"/>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Gufasha umuryango kumva impamvu gukomeza kwitabwaho ari ingenzi.</a:t>
            </a:r>
          </a:p>
        </p:txBody>
      </p:sp>
      <p:sp>
        <p:nvSpPr>
          <p:cNvPr id="20" name="TextBox 19"/>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1" name="TextBox 20"/>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125</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I N G A R U K A   Z ' U B U V U Z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000" b="1" i="0" dirty="0">
                <a:solidFill>
                  <a:srgbClr val="10305A"/>
                </a:solidFill>
                <a:latin typeface="Cambria"/>
              </a:rPr>
              <a:t>Uko ubuvuzi bushobora kumvikana</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Izi ngaruka zirasanzwe. Ntizisobanura ko ubuvuzi butari gukora.</a:t>
            </a:r>
          </a:p>
        </p:txBody>
      </p:sp>
      <p:sp>
        <p:nvSpPr>
          <p:cNvPr id="5" name="Rounded Rectangle 4"/>
          <p:cNvSpPr/>
          <p:nvPr/>
        </p:nvSpPr>
        <p:spPr>
          <a:xfrm>
            <a:off x="566928" y="2029968"/>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22960" y="221284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7" name="TextBox 6"/>
          <p:cNvSpPr txBox="1"/>
          <p:nvPr/>
        </p:nvSpPr>
        <p:spPr>
          <a:xfrm>
            <a:off x="1389888" y="2121408"/>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Umunaniro.  </a:t>
            </a:r>
            <a:r>
              <a:rPr lang="en-GB" sz="1800" b="0" i="0" dirty="0">
                <a:solidFill>
                  <a:srgbClr val="1A1A1A"/>
                </a:solidFill>
                <a:latin typeface="Calibri"/>
              </a:rPr>
              <a:t>Akenshi ni yo ngaruka abagore basanga ikomeye kurusha izindi. Igenda yiyongera mu byumweru by'ubuvuzi.</a:t>
            </a:r>
          </a:p>
        </p:txBody>
      </p:sp>
      <p:sp>
        <p:nvSpPr>
          <p:cNvPr id="8" name="Rounded Rectangle 7"/>
          <p:cNvSpPr/>
          <p:nvPr/>
        </p:nvSpPr>
        <p:spPr>
          <a:xfrm>
            <a:off x="566928" y="2834640"/>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22960" y="301752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0" name="TextBox 9"/>
          <p:cNvSpPr txBox="1"/>
          <p:nvPr/>
        </p:nvSpPr>
        <p:spPr>
          <a:xfrm>
            <a:off x="1389888" y="2926080"/>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Iseseme, kuruka cyangwa impiswi.  </a:t>
            </a:r>
            <a:r>
              <a:rPr lang="en-GB" sz="1800" b="0" i="0" dirty="0">
                <a:solidFill>
                  <a:srgbClr val="1A1A1A"/>
                </a:solidFill>
                <a:latin typeface="Calibri"/>
              </a:rPr>
              <a:t>Birasanzwe ku buvuzi bumwe, kandi hari imiti ibifasha.</a:t>
            </a:r>
          </a:p>
        </p:txBody>
      </p:sp>
      <p:sp>
        <p:nvSpPr>
          <p:cNvPr id="11" name="Rounded Rectangle 10"/>
          <p:cNvSpPr/>
          <p:nvPr/>
        </p:nvSpPr>
        <p:spPr>
          <a:xfrm>
            <a:off x="566928" y="3639312"/>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TextBox 11"/>
          <p:cNvSpPr txBox="1"/>
          <p:nvPr/>
        </p:nvSpPr>
        <p:spPr>
          <a:xfrm>
            <a:off x="822960" y="382219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3" name="TextBox 12"/>
          <p:cNvSpPr txBox="1"/>
          <p:nvPr/>
        </p:nvSpPr>
        <p:spPr>
          <a:xfrm>
            <a:off x="1389888" y="3730752"/>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Kubabara igihe cyo kunyara, cyangwa kunyara kenshi.  </a:t>
            </a:r>
            <a:r>
              <a:rPr lang="en-GB" sz="1800" b="0" i="0" dirty="0">
                <a:solidFill>
                  <a:srgbClr val="1A1A1A"/>
                </a:solidFill>
                <a:latin typeface="Calibri"/>
              </a:rPr>
              <a:t>Bigomba kumenyeshwa kugira ngo bisuzumwe.</a:t>
            </a:r>
          </a:p>
        </p:txBody>
      </p:sp>
      <p:sp>
        <p:nvSpPr>
          <p:cNvPr id="14" name="Rounded Rectangle 13"/>
          <p:cNvSpPr/>
          <p:nvPr/>
        </p:nvSpPr>
        <p:spPr>
          <a:xfrm>
            <a:off x="566928" y="4443984"/>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5" name="TextBox 14"/>
          <p:cNvSpPr txBox="1"/>
          <p:nvPr/>
        </p:nvSpPr>
        <p:spPr>
          <a:xfrm>
            <a:off x="822960" y="462686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6" name="TextBox 15"/>
          <p:cNvSpPr txBox="1"/>
          <p:nvPr/>
        </p:nvSpPr>
        <p:spPr>
          <a:xfrm>
            <a:off x="1389888" y="4535424"/>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Kurya bike no gutakaza ibiro.  </a:t>
            </a:r>
            <a:r>
              <a:rPr lang="en-GB" sz="1800" b="0" i="0" dirty="0">
                <a:solidFill>
                  <a:srgbClr val="1A1A1A"/>
                </a:solidFill>
                <a:latin typeface="Calibri"/>
              </a:rPr>
              <a:t>Ibiryo bike kenshi n'ibyo kunywa bifasha kurusha amafunguro manini.</a:t>
            </a:r>
          </a:p>
        </p:txBody>
      </p:sp>
      <p:sp>
        <p:nvSpPr>
          <p:cNvPr id="17" name="Rounded Rectangle 16"/>
          <p:cNvSpPr/>
          <p:nvPr/>
        </p:nvSpPr>
        <p:spPr>
          <a:xfrm>
            <a:off x="566928" y="5248656"/>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8" name="TextBox 17"/>
          <p:cNvSpPr txBox="1"/>
          <p:nvPr/>
        </p:nvSpPr>
        <p:spPr>
          <a:xfrm>
            <a:off x="822960" y="543153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9" name="TextBox 18"/>
          <p:cNvSpPr txBox="1"/>
          <p:nvPr/>
        </p:nvSpPr>
        <p:spPr>
          <a:xfrm>
            <a:off x="1389888" y="5340096"/>
            <a:ext cx="9960833" cy="530352"/>
          </a:xfrm>
          <a:prstGeom prst="rect">
            <a:avLst/>
          </a:prstGeom>
          <a:noFill/>
        </p:spPr>
        <p:txBody>
          <a:bodyPr wrap="square" lIns="0" tIns="0" rIns="0" bIns="0" anchor="ctr">
            <a:spAutoFit/>
          </a:bodyPr>
          <a:lstStyle/>
          <a:p>
            <a:pPr>
              <a:lnSpc>
                <a:spcPct val="110000"/>
              </a:lnSpc>
            </a:pPr>
            <a:r>
              <a:rPr lang="en-GB" sz="1450" b="1" i="0" dirty="0">
                <a:solidFill>
                  <a:srgbClr val="10305A"/>
                </a:solidFill>
                <a:latin typeface="Calibri"/>
              </a:rPr>
              <a:t>Agahinda, guhangayika n'ubwoba.  </a:t>
            </a:r>
            <a:r>
              <a:rPr lang="en-GB" sz="1450" b="0" i="0" dirty="0">
                <a:solidFill>
                  <a:srgbClr val="1A1A1A"/>
                </a:solidFill>
                <a:latin typeface="Calibri"/>
              </a:rPr>
              <a:t>Birasanzwe cyane, kandi bikwiye kubibaza mu buryo bweruye.</a:t>
            </a:r>
          </a:p>
        </p:txBody>
      </p:sp>
      <p:sp>
        <p:nvSpPr>
          <p:cNvPr id="20" name="TextBox 19"/>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1" name="TextBox 20"/>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126</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I C Y O   G U K O R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900" b="1" i="0" dirty="0">
                <a:solidFill>
                  <a:srgbClr val="10305A"/>
                </a:solidFill>
                <a:latin typeface="Cambria"/>
              </a:rPr>
              <a:t>Inzego eshatu z'impungenge</a:t>
            </a:r>
          </a:p>
        </p:txBody>
      </p:sp>
      <p:sp>
        <p:nvSpPr>
          <p:cNvPr id="4" name="Rounded Rectangle 3"/>
          <p:cNvSpPr/>
          <p:nvPr/>
        </p:nvSpPr>
        <p:spPr>
          <a:xfrm>
            <a:off x="566928" y="1554480"/>
            <a:ext cx="3503157" cy="3714582"/>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5" name="TextBox 4"/>
          <p:cNvSpPr txBox="1"/>
          <p:nvPr/>
        </p:nvSpPr>
        <p:spPr>
          <a:xfrm>
            <a:off x="786384" y="1755648"/>
            <a:ext cx="3064245" cy="2011680"/>
          </a:xfrm>
          <a:prstGeom prst="rect">
            <a:avLst/>
          </a:prstGeom>
          <a:noFill/>
        </p:spPr>
        <p:txBody>
          <a:bodyPr wrap="square" lIns="0" tIns="0" rIns="0" bIns="0">
            <a:spAutoFit/>
          </a:bodyPr>
          <a:lstStyle/>
          <a:p>
            <a:pPr>
              <a:lnSpc>
                <a:spcPct val="114000"/>
              </a:lnSpc>
              <a:spcAft>
                <a:spcPts val="700"/>
              </a:spcAft>
            </a:pPr>
            <a:r>
              <a:rPr lang="en-GB" sz="1200" b="0" i="0" dirty="0">
                <a:solidFill>
                  <a:srgbClr val="1A1A1A"/>
                </a:solidFill>
                <a:latin typeface="Calibri"/>
              </a:rPr>
              <a:t>🔴  </a:t>
            </a:r>
            <a:r>
              <a:rPr lang="en-GB" sz="1250" b="1" i="0" dirty="0">
                <a:solidFill>
                  <a:srgbClr val="A31D1D"/>
                </a:solidFill>
                <a:latin typeface="Calibri"/>
              </a:rPr>
              <a:t>Kwitabwaho uyu munsi</a:t>
            </a:r>
          </a:p>
          <a:p>
            <a:pPr>
              <a:lnSpc>
                <a:spcPct val="114000"/>
              </a:lnSpc>
              <a:spcAft>
                <a:spcPts val="700"/>
              </a:spcAft>
            </a:pPr>
            <a:r>
              <a:rPr lang="en-GB" sz="1250" b="0" i="0" dirty="0">
                <a:solidFill>
                  <a:srgbClr val="1A1A1A"/>
                </a:solidFill>
                <a:latin typeface="Calibri"/>
              </a:rPr>
              <a:t>Kuva amaraso menshi, kwitura hasi cyangwa guta ubwenge, ububabare bukabije, umuriro mwinshi, cyangwa kunanirwa kunyara.</a:t>
            </a:r>
          </a:p>
        </p:txBody>
      </p:sp>
      <p:sp>
        <p:nvSpPr>
          <p:cNvPr id="6" name="Rounded Rectangle 5"/>
          <p:cNvSpPr/>
          <p:nvPr/>
        </p:nvSpPr>
        <p:spPr>
          <a:xfrm>
            <a:off x="4344405" y="1554479"/>
            <a:ext cx="3503157" cy="3714581"/>
          </a:xfrm>
          <a:prstGeom prst="roundRect">
            <a:avLst>
              <a:gd name="adj" fmla="val 4500"/>
            </a:avLst>
          </a:prstGeom>
          <a:solidFill>
            <a:srgbClr val="FFF2DF"/>
          </a:solidFill>
          <a:ln w="12700">
            <a:solidFill>
              <a:srgbClr val="F3D9AE"/>
            </a:solidFill>
          </a:ln>
          <a:effectLst/>
        </p:spPr>
        <p:txBody>
          <a:bodyPr wrap="square" rtlCol="0" anchor="ctr"/>
          <a:lstStyle/>
          <a:p>
            <a:pPr algn="ctr"/>
            <a:endParaRPr lang="en-GB" dirty="0"/>
          </a:p>
        </p:txBody>
      </p:sp>
      <p:sp>
        <p:nvSpPr>
          <p:cNvPr id="7" name="TextBox 6"/>
          <p:cNvSpPr txBox="1"/>
          <p:nvPr/>
        </p:nvSpPr>
        <p:spPr>
          <a:xfrm>
            <a:off x="4563861" y="1755648"/>
            <a:ext cx="3064245" cy="2011680"/>
          </a:xfrm>
          <a:prstGeom prst="rect">
            <a:avLst/>
          </a:prstGeom>
          <a:noFill/>
        </p:spPr>
        <p:txBody>
          <a:bodyPr wrap="square" lIns="0" tIns="0" rIns="0" bIns="0">
            <a:spAutoFit/>
          </a:bodyPr>
          <a:lstStyle/>
          <a:p>
            <a:pPr>
              <a:lnSpc>
                <a:spcPct val="114000"/>
              </a:lnSpc>
              <a:spcAft>
                <a:spcPts val="700"/>
              </a:spcAft>
            </a:pPr>
            <a:r>
              <a:rPr lang="en-GB" sz="1450" b="0" i="0" dirty="0">
                <a:solidFill>
                  <a:srgbClr val="1A1A1A"/>
                </a:solidFill>
                <a:latin typeface="Calibri"/>
              </a:rPr>
              <a:t>🟠  </a:t>
            </a:r>
            <a:r>
              <a:rPr lang="en-GB" sz="1500" b="1" i="0" dirty="0">
                <a:solidFill>
                  <a:srgbClr val="94600B"/>
                </a:solidFill>
                <a:latin typeface="Calibri"/>
              </a:rPr>
              <a:t>Kubonwa vuba</a:t>
            </a:r>
          </a:p>
          <a:p>
            <a:pPr>
              <a:lnSpc>
                <a:spcPct val="114000"/>
              </a:lnSpc>
              <a:spcAft>
                <a:spcPts val="700"/>
              </a:spcAft>
            </a:pPr>
            <a:r>
              <a:rPr lang="en-GB" sz="1500" b="0" i="0" dirty="0">
                <a:solidFill>
                  <a:srgbClr val="1A1A1A"/>
                </a:solidFill>
                <a:latin typeface="Calibri"/>
              </a:rPr>
              <a:t>Kuruka kudahagarara, kunanirwa kurya cyangwa kunywa umunsi cyangwa irenga, igisebe cyangwa ibisohoka binuka nabi, cyangwa intege nke nshya zikabije.</a:t>
            </a:r>
          </a:p>
        </p:txBody>
      </p:sp>
      <p:sp>
        <p:nvSpPr>
          <p:cNvPr id="8" name="Rounded Rectangle 7"/>
          <p:cNvSpPr/>
          <p:nvPr/>
        </p:nvSpPr>
        <p:spPr>
          <a:xfrm>
            <a:off x="8121883" y="1554480"/>
            <a:ext cx="3503157" cy="371458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341339" y="1755648"/>
            <a:ext cx="3064245" cy="2011680"/>
          </a:xfrm>
          <a:prstGeom prst="rect">
            <a:avLst/>
          </a:prstGeom>
          <a:noFill/>
        </p:spPr>
        <p:txBody>
          <a:bodyPr wrap="square" lIns="0" tIns="0" rIns="0" bIns="0">
            <a:spAutoFit/>
          </a:bodyPr>
          <a:lstStyle/>
          <a:p>
            <a:pPr>
              <a:lnSpc>
                <a:spcPct val="114000"/>
              </a:lnSpc>
              <a:spcAft>
                <a:spcPts val="700"/>
              </a:spcAft>
            </a:pPr>
            <a:r>
              <a:rPr lang="en-GB" sz="1450" b="0" i="0" dirty="0">
                <a:solidFill>
                  <a:srgbClr val="1A1A1A"/>
                </a:solidFill>
                <a:latin typeface="Calibri"/>
              </a:rPr>
              <a:t>🔵  </a:t>
            </a:r>
            <a:r>
              <a:rPr lang="en-GB" sz="1550" b="1" i="0" dirty="0">
                <a:solidFill>
                  <a:srgbClr val="10305A"/>
                </a:solidFill>
                <a:latin typeface="Calibri"/>
              </a:rPr>
              <a:t>Kubimenyesha mu gusurwa gukurikira</a:t>
            </a:r>
          </a:p>
          <a:p>
            <a:pPr>
              <a:lnSpc>
                <a:spcPct val="114000"/>
              </a:lnSpc>
              <a:spcAft>
                <a:spcPts val="700"/>
              </a:spcAft>
            </a:pPr>
            <a:r>
              <a:rPr lang="en-GB" sz="1550" b="0" i="0" dirty="0">
                <a:solidFill>
                  <a:srgbClr val="1A1A1A"/>
                </a:solidFill>
                <a:latin typeface="Calibri"/>
              </a:rPr>
              <a:t>Umunaniro woroheje, iseseme yoroheje, impinduka mu kurya, agahinda, cyangwa ibibazo ku buvuzi.</a:t>
            </a:r>
          </a:p>
        </p:txBody>
      </p:sp>
      <p:sp>
        <p:nvSpPr>
          <p:cNvPr id="10" name="Rounded Rectangle 9"/>
          <p:cNvSpPr/>
          <p:nvPr/>
        </p:nvSpPr>
        <p:spPr>
          <a:xfrm>
            <a:off x="566928" y="5397078"/>
            <a:ext cx="11058113" cy="932688"/>
          </a:xfrm>
          <a:prstGeom prst="roundRect">
            <a:avLst>
              <a:gd name="adj" fmla="val 4500"/>
            </a:avLst>
          </a:prstGeom>
          <a:solidFill>
            <a:srgbClr val="FFF2DF"/>
          </a:solidFill>
          <a:ln w="12700">
            <a:solidFill>
              <a:srgbClr val="F3D9AE"/>
            </a:solidFill>
          </a:ln>
          <a:effectLst/>
        </p:spPr>
        <p:txBody>
          <a:bodyPr wrap="square" rtlCol="0" anchor="ctr"/>
          <a:lstStyle/>
          <a:p>
            <a:pPr algn="ctr"/>
            <a:endParaRPr lang="en-GB" dirty="0"/>
          </a:p>
        </p:txBody>
      </p:sp>
      <p:sp>
        <p:nvSpPr>
          <p:cNvPr id="11" name="TextBox 10"/>
          <p:cNvSpPr txBox="1"/>
          <p:nvPr/>
        </p:nvSpPr>
        <p:spPr>
          <a:xfrm>
            <a:off x="804672" y="5543382"/>
            <a:ext cx="10582625" cy="658368"/>
          </a:xfrm>
          <a:prstGeom prst="rect">
            <a:avLst/>
          </a:prstGeom>
          <a:noFill/>
        </p:spPr>
        <p:txBody>
          <a:bodyPr wrap="square" lIns="0" tIns="0" rIns="0" bIns="0">
            <a:spAutoFit/>
          </a:bodyPr>
          <a:lstStyle/>
          <a:p>
            <a:pPr>
              <a:lnSpc>
                <a:spcPct val="112000"/>
              </a:lnSpc>
            </a:pPr>
            <a:r>
              <a:rPr lang="en-GB" sz="1800" b="1" i="0" dirty="0">
                <a:solidFill>
                  <a:srgbClr val="94600B"/>
                </a:solidFill>
                <a:latin typeface="Calibri"/>
              </a:rPr>
              <a:t>⚠ Iyo ushidikanya:  </a:t>
            </a:r>
            <a:r>
              <a:rPr lang="en-GB" sz="1800" b="0" i="0" dirty="0">
                <a:solidFill>
                  <a:srgbClr val="1A1A1A"/>
                </a:solidFill>
                <a:latin typeface="Calibri"/>
              </a:rPr>
              <a:t>Bifate nk'urwego rwihutirwa kurushaho kandi uvugane n'ivuriro. Buri gihe ni byiza kubaza aho gutegereza.</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127</a:t>
            </a:r>
          </a:p>
        </p:txBody>
      </p:sp>
      <p:pic>
        <p:nvPicPr>
          <p:cNvPr id="15" name="Picture 14">
            <a:extLst>
              <a:ext uri="{FF2B5EF4-FFF2-40B4-BE49-F238E27FC236}">
                <a16:creationId xmlns:a16="http://schemas.microsoft.com/office/drawing/2014/main" id="{4D1CCF40-FDC6-D140-BFF4-57CF82C57AD4}"/>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20078" y="3279506"/>
            <a:ext cx="3196856" cy="1743740"/>
          </a:xfrm>
          <a:prstGeom prst="rect">
            <a:avLst/>
          </a:prstGeom>
        </p:spPr>
      </p:pic>
      <p:pic>
        <p:nvPicPr>
          <p:cNvPr id="17" name="Picture 16">
            <a:extLst>
              <a:ext uri="{FF2B5EF4-FFF2-40B4-BE49-F238E27FC236}">
                <a16:creationId xmlns:a16="http://schemas.microsoft.com/office/drawing/2014/main" id="{B17750C3-E245-82DC-60C4-81EA68899BFE}"/>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720855" y="3767328"/>
            <a:ext cx="2513846" cy="1371189"/>
          </a:xfrm>
          <a:prstGeom prst="rect">
            <a:avLst/>
          </a:prstGeom>
        </p:spPr>
      </p:pic>
      <p:pic>
        <p:nvPicPr>
          <p:cNvPr id="19" name="Picture 18">
            <a:extLst>
              <a:ext uri="{FF2B5EF4-FFF2-40B4-BE49-F238E27FC236}">
                <a16:creationId xmlns:a16="http://schemas.microsoft.com/office/drawing/2014/main" id="{3960B919-5A16-CB70-481F-CF588CD5B1A6}"/>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460213" y="3578909"/>
            <a:ext cx="2859281" cy="1559608"/>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I M Y I T O Z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400" b="1" i="0" dirty="0">
                <a:solidFill>
                  <a:srgbClr val="10305A"/>
                </a:solidFill>
                <a:latin typeface="Cambria"/>
              </a:rPr>
              <a:t>Ni nde ukeneye kwitabwaho uyu munsi?</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Usura abagore bane bari kuvurwa kanseri. Ni nde ukeneye kugera ku ivuriro uyu munsi?</a:t>
            </a:r>
          </a:p>
        </p:txBody>
      </p:sp>
      <p:sp>
        <p:nvSpPr>
          <p:cNvPr id="7" name="Rounded Rectangle 6"/>
          <p:cNvSpPr/>
          <p:nvPr/>
        </p:nvSpPr>
        <p:spPr>
          <a:xfrm>
            <a:off x="566928" y="230428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Umugore ufite umuriro mwinshi umaze kuruka kuva ejo kandi udashobora kugumana ibyo anywa</a:t>
            </a:r>
          </a:p>
        </p:txBody>
      </p:sp>
      <p:sp>
        <p:nvSpPr>
          <p:cNvPr id="5" name="Rounded Rectangle 4"/>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Umugore wumva ananiwe nyuma ya saa sita ariko arya bisanzwe</a:t>
            </a:r>
          </a:p>
        </p:txBody>
      </p:sp>
      <p:sp>
        <p:nvSpPr>
          <p:cNvPr id="10" name="Rounded Rectangle 9"/>
          <p:cNvSpPr/>
          <p:nvPr/>
        </p:nvSpPr>
        <p:spPr>
          <a:xfrm>
            <a:off x="566928" y="349300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Umugore uhangayikishijwe n'ikiguzi cy'urugendo ukwezi gutaha</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Umugore ubaza icyo gahunda ye ikurikira igamije</a:t>
            </a:r>
          </a:p>
        </p:txBody>
      </p:sp>
      <p:sp>
        <p:nvSpPr>
          <p:cNvPr id="14" name="Rounded Rectangle 13"/>
          <p:cNvSpPr/>
          <p:nvPr/>
        </p:nvSpPr>
        <p:spPr>
          <a:xfrm>
            <a:off x="566928" y="4690872"/>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Umuriro hamwe no kuruka no kutanywa umunsi wose ni bibi mu gihe cy'ubuvuzi bwa kanseri, kuko umuntu abura amazi mu mubiri vuba kandi hashobora kuba hari ubwandu buri kwiyongera. Abandi batatu nabo bafite akamaro, kandi bitabwaho mu gusurwa gukurikira cyangwa mu kumufasha gutegura.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128</a:t>
            </a:r>
          </a:p>
        </p:txBody>
      </p:sp>
      <p:sp>
        <p:nvSpPr>
          <p:cNvPr id="9" name="TextBox 8"/>
          <p:cNvSpPr txBox="1"/>
          <p:nvPr/>
        </p:nvSpPr>
        <p:spPr>
          <a:xfrm>
            <a:off x="11094689" y="241401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I H U M U R E</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900" b="1" i="0" dirty="0">
                <a:solidFill>
                  <a:srgbClr val="10305A"/>
                </a:solidFill>
                <a:latin typeface="Cambria"/>
              </a:rPr>
              <a:t>Ubufasha bufatika ushobora gutanga</a:t>
            </a:r>
          </a:p>
        </p:txBody>
      </p:sp>
      <p:sp>
        <p:nvSpPr>
          <p:cNvPr id="4" name="Rounded Rectangle 3"/>
          <p:cNvSpPr/>
          <p:nvPr/>
        </p:nvSpPr>
        <p:spPr>
          <a:xfrm>
            <a:off x="566928" y="1554480"/>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3736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Tega amatwi.  </a:t>
            </a:r>
            <a:r>
              <a:rPr lang="en-GB" sz="1800" b="0" i="0" dirty="0">
                <a:solidFill>
                  <a:srgbClr val="1A1A1A"/>
                </a:solidFill>
                <a:latin typeface="Calibri"/>
              </a:rPr>
              <a:t>Mubaze uko ameze, kandi umureke asubize utamwihutishije.</a:t>
            </a:r>
          </a:p>
        </p:txBody>
      </p:sp>
      <p:sp>
        <p:nvSpPr>
          <p:cNvPr id="7" name="Rounded Rectangle 6"/>
          <p:cNvSpPr/>
          <p:nvPr/>
        </p:nvSpPr>
        <p:spPr>
          <a:xfrm>
            <a:off x="566928" y="2359152"/>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54203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450592"/>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Shishikariza kurya ibiryo bike kenshi no kunywa ibyo kunywa.  </a:t>
            </a:r>
            <a:r>
              <a:rPr lang="en-GB" sz="1800" b="0" i="0" dirty="0">
                <a:solidFill>
                  <a:srgbClr val="1A1A1A"/>
                </a:solidFill>
                <a:latin typeface="Calibri"/>
              </a:rPr>
              <a:t>Ibi bifasha cyane kurusha kumuhatira kurya ifunguro rinini.</a:t>
            </a:r>
          </a:p>
        </p:txBody>
      </p:sp>
      <p:sp>
        <p:nvSpPr>
          <p:cNvPr id="10" name="Rounded Rectangle 9"/>
          <p:cNvSpPr/>
          <p:nvPr/>
        </p:nvSpPr>
        <p:spPr>
          <a:xfrm>
            <a:off x="566928" y="3163824"/>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34670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255264"/>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Shishikariza kuruhuka no kugenda gahoro.  </a:t>
            </a:r>
            <a:r>
              <a:rPr lang="en-GB" sz="1800" b="0" i="0" dirty="0">
                <a:solidFill>
                  <a:srgbClr val="1A1A1A"/>
                </a:solidFill>
                <a:latin typeface="Calibri"/>
              </a:rPr>
              <a:t>Urugendo rugufi aho abishoboye, no kuruhuka nta kwicira urubanza.</a:t>
            </a:r>
          </a:p>
        </p:txBody>
      </p:sp>
      <p:sp>
        <p:nvSpPr>
          <p:cNvPr id="13" name="Rounded Rectangle 12"/>
          <p:cNvSpPr/>
          <p:nvPr/>
        </p:nvSpPr>
        <p:spPr>
          <a:xfrm>
            <a:off x="566928" y="3968496"/>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15137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059935"/>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Mushishikarize gufata imiti nk'uko yabibwiwe.  </a:t>
            </a:r>
            <a:r>
              <a:rPr lang="en-GB" sz="1800" b="0" i="0" dirty="0">
                <a:solidFill>
                  <a:srgbClr val="1A1A1A"/>
                </a:solidFill>
                <a:latin typeface="Calibri"/>
              </a:rPr>
              <a:t>Harimo imiti ahabwa y'ububabare n'iy'iseseme.</a:t>
            </a:r>
          </a:p>
        </p:txBody>
      </p:sp>
      <p:sp>
        <p:nvSpPr>
          <p:cNvPr id="16" name="Rounded Rectangle 15"/>
          <p:cNvSpPr/>
          <p:nvPr/>
        </p:nvSpPr>
        <p:spPr>
          <a:xfrm>
            <a:off x="566928" y="4773168"/>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TextBox 16"/>
          <p:cNvSpPr txBox="1"/>
          <p:nvPr/>
        </p:nvSpPr>
        <p:spPr>
          <a:xfrm>
            <a:off x="822960" y="495604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8" name="TextBox 17"/>
          <p:cNvSpPr txBox="1"/>
          <p:nvPr/>
        </p:nvSpPr>
        <p:spPr>
          <a:xfrm>
            <a:off x="1389888" y="4864607"/>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Menyesha ibibazo hakiri kare.  </a:t>
            </a:r>
            <a:r>
              <a:rPr lang="en-GB" sz="1800" b="0" i="0" dirty="0">
                <a:solidFill>
                  <a:srgbClr val="1A1A1A"/>
                </a:solidFill>
                <a:latin typeface="Calibri"/>
              </a:rPr>
              <a:t>Ntutegereze ko ikibazo gikomera mbere yo kuvugana n'ivuriro.</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129</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K U G A N I R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150" b="1" i="0" dirty="0">
                <a:solidFill>
                  <a:srgbClr val="10305A"/>
                </a:solidFill>
                <a:latin typeface="Cambria"/>
              </a:rPr>
              <a:t>Amagambo afasha n'amagambo abangamira</a:t>
            </a:r>
          </a:p>
        </p:txBody>
      </p:sp>
      <p:sp>
        <p:nvSpPr>
          <p:cNvPr id="4" name="Rounded Rectangle 3"/>
          <p:cNvSpPr/>
          <p:nvPr/>
        </p:nvSpPr>
        <p:spPr>
          <a:xfrm>
            <a:off x="566928" y="1554480"/>
            <a:ext cx="5382752" cy="3017520"/>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5" name="TextBox 4"/>
          <p:cNvSpPr txBox="1"/>
          <p:nvPr/>
        </p:nvSpPr>
        <p:spPr>
          <a:xfrm>
            <a:off x="822960" y="1773936"/>
            <a:ext cx="4870688" cy="365760"/>
          </a:xfrm>
          <a:prstGeom prst="rect">
            <a:avLst/>
          </a:prstGeom>
          <a:noFill/>
        </p:spPr>
        <p:txBody>
          <a:bodyPr wrap="square" lIns="0" tIns="0" rIns="0" bIns="0">
            <a:spAutoFit/>
          </a:bodyPr>
          <a:lstStyle/>
          <a:p>
            <a:r>
              <a:rPr lang="en-GB" sz="1900" b="1" i="0" dirty="0">
                <a:solidFill>
                  <a:srgbClr val="1C6B3F"/>
                </a:solidFill>
                <a:latin typeface="Calibri"/>
              </a:rPr>
              <a:t>✅  Afasha</a:t>
            </a:r>
          </a:p>
        </p:txBody>
      </p:sp>
      <p:sp>
        <p:nvSpPr>
          <p:cNvPr id="6" name="TextBox 5"/>
          <p:cNvSpPr txBox="1"/>
          <p:nvPr/>
        </p:nvSpPr>
        <p:spPr>
          <a:xfrm>
            <a:off x="822960" y="2267712"/>
            <a:ext cx="4870688" cy="2103120"/>
          </a:xfrm>
          <a:prstGeom prst="rect">
            <a:avLst/>
          </a:prstGeom>
          <a:noFill/>
        </p:spPr>
        <p:txBody>
          <a:bodyPr wrap="square" lIns="0" tIns="0" rIns="0" bIns="0">
            <a:spAutoFit/>
          </a:bodyPr>
          <a:lstStyle/>
          <a:p>
            <a:pPr>
              <a:lnSpc>
                <a:spcPct val="112000"/>
              </a:lnSpc>
              <a:spcAft>
                <a:spcPts val="800"/>
              </a:spcAft>
            </a:pPr>
            <a:r>
              <a:rPr lang="en-GB" sz="1800" b="0" i="0" dirty="0">
                <a:solidFill>
                  <a:srgbClr val="1A1A1A"/>
                </a:solidFill>
                <a:latin typeface="Calibri"/>
              </a:rPr>
              <a:t>•   "Iki cyumweru wagiriye ute?"</a:t>
            </a:r>
          </a:p>
          <a:p>
            <a:pPr>
              <a:lnSpc>
                <a:spcPct val="112000"/>
              </a:lnSpc>
              <a:spcAft>
                <a:spcPts val="800"/>
              </a:spcAft>
            </a:pPr>
            <a:r>
              <a:rPr lang="en-GB" sz="1800" b="0" i="0" dirty="0">
                <a:solidFill>
                  <a:srgbClr val="1A1A1A"/>
                </a:solidFill>
                <a:latin typeface="Calibri"/>
              </a:rPr>
              <a:t>•   "Birumvikana ko bigoye. Mbwira byinshi."</a:t>
            </a:r>
          </a:p>
          <a:p>
            <a:pPr>
              <a:lnSpc>
                <a:spcPct val="112000"/>
              </a:lnSpc>
              <a:spcAft>
                <a:spcPts val="800"/>
              </a:spcAft>
            </a:pPr>
            <a:r>
              <a:rPr lang="en-GB" sz="1800" b="0" i="0" dirty="0">
                <a:solidFill>
                  <a:srgbClr val="1A1A1A"/>
                </a:solidFill>
                <a:latin typeface="Calibri"/>
              </a:rPr>
              <a:t>•   "Tubibwire umukozi w'ubuzima?"</a:t>
            </a:r>
          </a:p>
          <a:p>
            <a:pPr>
              <a:lnSpc>
                <a:spcPct val="112000"/>
              </a:lnSpc>
              <a:spcAft>
                <a:spcPts val="800"/>
              </a:spcAft>
            </a:pPr>
            <a:r>
              <a:rPr lang="en-GB" sz="1800" b="0" i="0" dirty="0">
                <a:solidFill>
                  <a:srgbClr val="1A1A1A"/>
                </a:solidFill>
                <a:latin typeface="Calibri"/>
              </a:rPr>
              <a:t>•   "Nzagaruka ku wa Kane."</a:t>
            </a:r>
          </a:p>
          <a:p>
            <a:pPr>
              <a:lnSpc>
                <a:spcPct val="112000"/>
              </a:lnSpc>
              <a:spcAft>
                <a:spcPts val="800"/>
              </a:spcAft>
            </a:pPr>
            <a:r>
              <a:rPr lang="en-GB" sz="1800" b="0" i="0" dirty="0">
                <a:solidFill>
                  <a:srgbClr val="1A1A1A"/>
                </a:solidFill>
                <a:latin typeface="Calibri"/>
              </a:rPr>
              <a:t>•   "Si wowe ukwiye gushinjwa iyi ndwara."</a:t>
            </a:r>
          </a:p>
        </p:txBody>
      </p:sp>
      <p:sp>
        <p:nvSpPr>
          <p:cNvPr id="7" name="Rounded Rectangle 6"/>
          <p:cNvSpPr/>
          <p:nvPr/>
        </p:nvSpPr>
        <p:spPr>
          <a:xfrm>
            <a:off x="6242288" y="1554480"/>
            <a:ext cx="5382752" cy="3017520"/>
          </a:xfrm>
          <a:prstGeom prst="roundRect">
            <a:avLst>
              <a:gd name="adj" fmla="val 4500"/>
            </a:avLst>
          </a:prstGeom>
          <a:solidFill>
            <a:srgbClr val="FDE9E8"/>
          </a:solidFill>
          <a:ln w="12700">
            <a:solidFill>
              <a:srgbClr val="F2C6C3"/>
            </a:solidFill>
          </a:ln>
          <a:effectLst/>
        </p:spPr>
        <p:txBody>
          <a:bodyPr wrap="square" rtlCol="0" anchor="ctr"/>
          <a:lstStyle/>
          <a:p>
            <a:pPr algn="ctr"/>
            <a:endParaRPr lang="en-GB" dirty="0"/>
          </a:p>
        </p:txBody>
      </p:sp>
      <p:sp>
        <p:nvSpPr>
          <p:cNvPr id="8" name="TextBox 7"/>
          <p:cNvSpPr txBox="1"/>
          <p:nvPr/>
        </p:nvSpPr>
        <p:spPr>
          <a:xfrm>
            <a:off x="6498320" y="1773936"/>
            <a:ext cx="4870688" cy="365760"/>
          </a:xfrm>
          <a:prstGeom prst="rect">
            <a:avLst/>
          </a:prstGeom>
          <a:noFill/>
        </p:spPr>
        <p:txBody>
          <a:bodyPr wrap="square" lIns="0" tIns="0" rIns="0" bIns="0">
            <a:spAutoFit/>
          </a:bodyPr>
          <a:lstStyle/>
          <a:p>
            <a:r>
              <a:rPr lang="en-GB" sz="1900" b="1" i="0" dirty="0">
                <a:solidFill>
                  <a:srgbClr val="A31D1D"/>
                </a:solidFill>
                <a:latin typeface="Calibri"/>
              </a:rPr>
              <a:t>❌  Abangamira</a:t>
            </a:r>
          </a:p>
        </p:txBody>
      </p:sp>
      <p:sp>
        <p:nvSpPr>
          <p:cNvPr id="9" name="TextBox 8"/>
          <p:cNvSpPr txBox="1"/>
          <p:nvPr/>
        </p:nvSpPr>
        <p:spPr>
          <a:xfrm>
            <a:off x="6498320" y="2267712"/>
            <a:ext cx="4870688" cy="2103120"/>
          </a:xfrm>
          <a:prstGeom prst="rect">
            <a:avLst/>
          </a:prstGeom>
          <a:noFill/>
        </p:spPr>
        <p:txBody>
          <a:bodyPr wrap="square" lIns="0" tIns="0" rIns="0" bIns="0">
            <a:spAutoFit/>
          </a:bodyPr>
          <a:lstStyle/>
          <a:p>
            <a:pPr>
              <a:lnSpc>
                <a:spcPct val="112000"/>
              </a:lnSpc>
              <a:spcAft>
                <a:spcPts val="800"/>
              </a:spcAft>
            </a:pPr>
            <a:r>
              <a:rPr lang="en-GB" sz="1800" b="0" i="0" dirty="0">
                <a:solidFill>
                  <a:srgbClr val="1A1A1A"/>
                </a:solidFill>
                <a:latin typeface="Calibri"/>
              </a:rPr>
              <a:t>•   "Ugomba gukomera, ntulire."</a:t>
            </a:r>
          </a:p>
          <a:p>
            <a:pPr>
              <a:lnSpc>
                <a:spcPct val="112000"/>
              </a:lnSpc>
              <a:spcAft>
                <a:spcPts val="800"/>
              </a:spcAft>
            </a:pPr>
            <a:r>
              <a:rPr lang="en-GB" sz="1800" b="0" i="0" dirty="0">
                <a:solidFill>
                  <a:srgbClr val="1A1A1A"/>
                </a:solidFill>
                <a:latin typeface="Calibri"/>
              </a:rPr>
              <a:t>•   "Humura, byose bizagenda neza."</a:t>
            </a:r>
          </a:p>
          <a:p>
            <a:pPr>
              <a:lnSpc>
                <a:spcPct val="112000"/>
              </a:lnSpc>
              <a:spcAft>
                <a:spcPts val="800"/>
              </a:spcAft>
            </a:pPr>
            <a:r>
              <a:rPr lang="en-GB" sz="1800" b="0" i="0" dirty="0">
                <a:solidFill>
                  <a:srgbClr val="1A1A1A"/>
                </a:solidFill>
                <a:latin typeface="Calibri"/>
              </a:rPr>
              <a:t>•   "Hari abandi bagore bameze nabi kukurusha."</a:t>
            </a:r>
          </a:p>
          <a:p>
            <a:pPr>
              <a:lnSpc>
                <a:spcPct val="112000"/>
              </a:lnSpc>
              <a:spcAft>
                <a:spcPts val="800"/>
              </a:spcAft>
            </a:pPr>
            <a:r>
              <a:rPr lang="en-GB" sz="1800" b="0" i="0" dirty="0">
                <a:solidFill>
                  <a:srgbClr val="1A1A1A"/>
                </a:solidFill>
                <a:latin typeface="Calibri"/>
              </a:rPr>
              <a:t>•   "Nta kintu na kimwe kigishoboka gukorwa ubu."</a:t>
            </a:r>
          </a:p>
          <a:p>
            <a:pPr>
              <a:lnSpc>
                <a:spcPct val="112000"/>
              </a:lnSpc>
              <a:spcAft>
                <a:spcPts val="800"/>
              </a:spcAft>
            </a:pPr>
            <a:r>
              <a:rPr lang="en-GB" sz="1800" b="0" i="0" dirty="0">
                <a:solidFill>
                  <a:srgbClr val="1A1A1A"/>
                </a:solidFill>
                <a:latin typeface="Calibri"/>
              </a:rPr>
              <a:t>•   "Wagombaga kuza kare."</a:t>
            </a:r>
          </a:p>
        </p:txBody>
      </p:sp>
      <p:sp>
        <p:nvSpPr>
          <p:cNvPr id="10" name="Rounded Rectangle 9"/>
          <p:cNvSpPr/>
          <p:nvPr/>
        </p:nvSpPr>
        <p:spPr>
          <a:xfrm>
            <a:off x="566928" y="4791456"/>
            <a:ext cx="11058113" cy="932688"/>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1" name="TextBox 10"/>
          <p:cNvSpPr txBox="1"/>
          <p:nvPr/>
        </p:nvSpPr>
        <p:spPr>
          <a:xfrm>
            <a:off x="804672" y="4937760"/>
            <a:ext cx="10582625" cy="658368"/>
          </a:xfrm>
          <a:prstGeom prst="rect">
            <a:avLst/>
          </a:prstGeom>
          <a:noFill/>
        </p:spPr>
        <p:txBody>
          <a:bodyPr wrap="square" lIns="0" tIns="0" rIns="0" bIns="0">
            <a:spAutoFit/>
          </a:bodyPr>
          <a:lstStyle/>
          <a:p>
            <a:pPr>
              <a:lnSpc>
                <a:spcPct val="112000"/>
              </a:lnSpc>
            </a:pPr>
            <a:r>
              <a:rPr lang="en-GB" sz="1800" b="1" i="0" dirty="0">
                <a:solidFill>
                  <a:srgbClr val="1C6B3F"/>
                </a:solidFill>
                <a:latin typeface="Calibri"/>
              </a:rPr>
              <a:t>💬 Wibuke:  </a:t>
            </a:r>
            <a:r>
              <a:rPr lang="en-GB" sz="1800" b="0" i="0" dirty="0">
                <a:solidFill>
                  <a:srgbClr val="1A1A1A"/>
                </a:solidFill>
                <a:latin typeface="Calibri"/>
              </a:rPr>
              <a:t>Ntukeneye amagambo akwiye. Kugaruka igihe wavuze ko uzagarukira bifite agaciro kurusha ikindi cyose wavuga.</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130</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I M I B E R E H O   M Y I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Ibifite agaciro ku mugore ubwe</a:t>
            </a:r>
          </a:p>
        </p:txBody>
      </p:sp>
      <p:sp>
        <p:nvSpPr>
          <p:cNvPr id="4" name="Rounded Rectangle 3"/>
          <p:cNvSpPr/>
          <p:nvPr/>
        </p:nvSpPr>
        <p:spPr>
          <a:xfrm>
            <a:off x="566928" y="1554480"/>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3736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Ububabare n'ibindi bimenyetso.  </a:t>
            </a:r>
            <a:r>
              <a:rPr lang="en-GB" sz="1800" b="0" i="0" dirty="0">
                <a:solidFill>
                  <a:srgbClr val="1A1A1A"/>
                </a:solidFill>
                <a:latin typeface="Calibri"/>
              </a:rPr>
              <a:t>Ububabare burashobora kuvurwa. Umugore ntakwiye na rimwe kubwirwa ko agomba kubwihanganira gusa.</a:t>
            </a:r>
          </a:p>
        </p:txBody>
      </p:sp>
      <p:sp>
        <p:nvSpPr>
          <p:cNvPr id="7" name="Rounded Rectangle 6"/>
          <p:cNvSpPr/>
          <p:nvPr/>
        </p:nvSpPr>
        <p:spPr>
          <a:xfrm>
            <a:off x="566928" y="2359152"/>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54203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450592"/>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Icyubahiro n'ibanga.  </a:t>
            </a:r>
            <a:r>
              <a:rPr lang="en-GB" sz="1800" b="0" i="0" dirty="0">
                <a:solidFill>
                  <a:srgbClr val="1A1A1A"/>
                </a:solidFill>
                <a:latin typeface="Calibri"/>
              </a:rPr>
              <a:t>Gufasha mu gukaraba, kwambara n'isuku, buri gihe mu ibanga.</a:t>
            </a:r>
          </a:p>
        </p:txBody>
      </p:sp>
      <p:sp>
        <p:nvSpPr>
          <p:cNvPr id="10" name="Rounded Rectangle 9"/>
          <p:cNvSpPr/>
          <p:nvPr/>
        </p:nvSpPr>
        <p:spPr>
          <a:xfrm>
            <a:off x="566928" y="3163824"/>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34670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255264"/>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Ubuzima bwe busanzwe.  </a:t>
            </a:r>
            <a:r>
              <a:rPr lang="en-GB" sz="1800" b="0" i="0" dirty="0">
                <a:solidFill>
                  <a:srgbClr val="1A1A1A"/>
                </a:solidFill>
                <a:latin typeface="Calibri"/>
              </a:rPr>
              <a:t>Shyigikira ibice by'akazi ke n'ubuzima bw'umuryango agishoboye gukora.</a:t>
            </a:r>
          </a:p>
        </p:txBody>
      </p:sp>
      <p:sp>
        <p:nvSpPr>
          <p:cNvPr id="13" name="Rounded Rectangle 12"/>
          <p:cNvSpPr/>
          <p:nvPr/>
        </p:nvSpPr>
        <p:spPr>
          <a:xfrm>
            <a:off x="566928" y="3968496"/>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15137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059935"/>
            <a:ext cx="9960833" cy="530352"/>
          </a:xfrm>
          <a:prstGeom prst="rect">
            <a:avLst/>
          </a:prstGeom>
          <a:noFill/>
        </p:spPr>
        <p:txBody>
          <a:bodyPr wrap="square" lIns="0" tIns="0" rIns="0" bIns="0" anchor="ctr">
            <a:spAutoFit/>
          </a:bodyPr>
          <a:lstStyle/>
          <a:p>
            <a:pPr>
              <a:lnSpc>
                <a:spcPct val="110000"/>
              </a:lnSpc>
            </a:pPr>
            <a:r>
              <a:rPr lang="en-GB" sz="1400" b="1" i="0" dirty="0">
                <a:solidFill>
                  <a:srgbClr val="10305A"/>
                </a:solidFill>
                <a:latin typeface="Calibri"/>
              </a:rPr>
              <a:t>Kugira abamuba hafi.  </a:t>
            </a:r>
            <a:r>
              <a:rPr lang="en-GB" sz="1400" b="0" i="0" dirty="0">
                <a:solidFill>
                  <a:srgbClr val="1A1A1A"/>
                </a:solidFill>
                <a:latin typeface="Calibri"/>
              </a:rPr>
              <a:t>Gusurwa no kwitabwaho bifite agaciro nk'ubufasha ubwo ari bwo bwose bufatika.</a:t>
            </a:r>
          </a:p>
        </p:txBody>
      </p:sp>
      <p:sp>
        <p:nvSpPr>
          <p:cNvPr id="16" name="Rounded Rectangle 15"/>
          <p:cNvSpPr/>
          <p:nvPr/>
        </p:nvSpPr>
        <p:spPr>
          <a:xfrm>
            <a:off x="566928" y="4773168"/>
            <a:ext cx="11058113" cy="67665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TextBox 16"/>
          <p:cNvSpPr txBox="1"/>
          <p:nvPr/>
        </p:nvSpPr>
        <p:spPr>
          <a:xfrm>
            <a:off x="822960" y="495604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8" name="TextBox 17"/>
          <p:cNvSpPr txBox="1"/>
          <p:nvPr/>
        </p:nvSpPr>
        <p:spPr>
          <a:xfrm>
            <a:off x="1389888" y="4864607"/>
            <a:ext cx="9960833" cy="530352"/>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Impungenge zifatika.  </a:t>
            </a:r>
            <a:r>
              <a:rPr lang="en-GB" sz="1800" b="0" i="0" dirty="0">
                <a:solidFill>
                  <a:srgbClr val="1A1A1A"/>
                </a:solidFill>
                <a:latin typeface="Calibri"/>
              </a:rPr>
              <a:t>Urugendo, ibiryo n'amafaranga yatakaye ni ibibazo nyabyo, kandi rimwe na rimwe bishobora gukemuka.</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131</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U B U V U Z I   B W O R O H E R E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950" b="1" i="0" dirty="0">
                <a:solidFill>
                  <a:srgbClr val="10305A"/>
                </a:solidFill>
                <a:latin typeface="Cambria"/>
              </a:rPr>
              <a:t>Ubuvuzi butuma umuntu yumva amerewe neza</a:t>
            </a:r>
          </a:p>
        </p:txBody>
      </p:sp>
      <p:sp>
        <p:nvSpPr>
          <p:cNvPr id="4" name="Rounded Rectangle 3"/>
          <p:cNvSpPr/>
          <p:nvPr/>
        </p:nvSpPr>
        <p:spPr>
          <a:xfrm>
            <a:off x="566928" y="1554480"/>
            <a:ext cx="5763770" cy="138988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786384" y="1755648"/>
            <a:ext cx="5307541" cy="1019125"/>
          </a:xfrm>
          <a:prstGeom prst="rect">
            <a:avLst/>
          </a:prstGeom>
          <a:noFill/>
        </p:spPr>
        <p:txBody>
          <a:bodyPr wrap="square" lIns="0" tIns="0" rIns="0" bIns="0">
            <a:spAutoFit/>
          </a:bodyPr>
          <a:lstStyle/>
          <a:p>
            <a:pPr>
              <a:lnSpc>
                <a:spcPct val="114000"/>
              </a:lnSpc>
              <a:spcAft>
                <a:spcPts val="700"/>
              </a:spcAft>
            </a:pPr>
            <a:r>
              <a:rPr lang="en-GB" sz="1400" b="0" i="0" dirty="0">
                <a:solidFill>
                  <a:srgbClr val="1A1A1A"/>
                </a:solidFill>
                <a:latin typeface="Calibri"/>
              </a:rPr>
              <a:t>💚  </a:t>
            </a:r>
            <a:r>
              <a:rPr lang="en-GB" sz="1500" b="1" i="0" dirty="0">
                <a:solidFill>
                  <a:srgbClr val="10305A"/>
                </a:solidFill>
                <a:latin typeface="Calibri"/>
              </a:rPr>
              <a:t>Ntibugenewe gusa igihe cy'iherezo ry'ubuzima</a:t>
            </a:r>
          </a:p>
          <a:p>
            <a:pPr>
              <a:lnSpc>
                <a:spcPct val="114000"/>
              </a:lnSpc>
              <a:spcAft>
                <a:spcPts val="700"/>
              </a:spcAft>
            </a:pPr>
            <a:r>
              <a:rPr lang="en-GB" sz="1500" b="0" i="0" dirty="0">
                <a:solidFill>
                  <a:srgbClr val="1A1A1A"/>
                </a:solidFill>
                <a:latin typeface="Calibri"/>
              </a:rPr>
              <a:t>Ubuvuzi bugenzura ububabare, kuva amaraso n'ibindi bimenyetso butangwa ku rwego urwo ari rwo rwose, hamwe n'ubuvuzi bwa kanseri.</a:t>
            </a:r>
          </a:p>
        </p:txBody>
      </p:sp>
      <p:sp>
        <p:nvSpPr>
          <p:cNvPr id="6" name="Rounded Rectangle 5"/>
          <p:cNvSpPr/>
          <p:nvPr/>
        </p:nvSpPr>
        <p:spPr>
          <a:xfrm>
            <a:off x="585216" y="3136392"/>
            <a:ext cx="5745482" cy="138988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7" name="TextBox 6"/>
          <p:cNvSpPr txBox="1"/>
          <p:nvPr/>
        </p:nvSpPr>
        <p:spPr>
          <a:xfrm>
            <a:off x="804671" y="3337560"/>
            <a:ext cx="5289253" cy="1019125"/>
          </a:xfrm>
          <a:prstGeom prst="rect">
            <a:avLst/>
          </a:prstGeom>
          <a:noFill/>
        </p:spPr>
        <p:txBody>
          <a:bodyPr wrap="square" lIns="0" tIns="0" rIns="0" bIns="0">
            <a:spAutoFit/>
          </a:bodyPr>
          <a:lstStyle/>
          <a:p>
            <a:pPr>
              <a:lnSpc>
                <a:spcPct val="114000"/>
              </a:lnSpc>
              <a:spcAft>
                <a:spcPts val="700"/>
              </a:spcAft>
            </a:pPr>
            <a:r>
              <a:rPr lang="en-GB" sz="1350" b="0" i="0" dirty="0">
                <a:solidFill>
                  <a:srgbClr val="1A1A1A"/>
                </a:solidFill>
                <a:latin typeface="Calibri"/>
              </a:rPr>
              <a:t>😶  </a:t>
            </a:r>
            <a:r>
              <a:rPr lang="en-GB" sz="1450" b="1" i="0" dirty="0">
                <a:solidFill>
                  <a:srgbClr val="10305A"/>
                </a:solidFill>
                <a:latin typeface="Calibri"/>
              </a:rPr>
              <a:t>Buvura ibimenyetso</a:t>
            </a:r>
          </a:p>
          <a:p>
            <a:pPr>
              <a:lnSpc>
                <a:spcPct val="114000"/>
              </a:lnSpc>
              <a:spcAft>
                <a:spcPts val="700"/>
              </a:spcAft>
            </a:pPr>
            <a:r>
              <a:rPr lang="en-GB" sz="1450" b="0" i="0" dirty="0">
                <a:solidFill>
                  <a:srgbClr val="1A1A1A"/>
                </a:solidFill>
                <a:latin typeface="Calibri"/>
              </a:rPr>
              <a:t>Ububabare, kuva amaraso, ibisohoka mu gitsina, iseseme no kubura ibitotsi byose bishobora gufashwa.</a:t>
            </a:r>
          </a:p>
        </p:txBody>
      </p:sp>
      <p:sp>
        <p:nvSpPr>
          <p:cNvPr id="8" name="Rounded Rectangle 7"/>
          <p:cNvSpPr/>
          <p:nvPr/>
        </p:nvSpPr>
        <p:spPr>
          <a:xfrm>
            <a:off x="585216" y="4672584"/>
            <a:ext cx="5745482" cy="138988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TextBox 8"/>
          <p:cNvSpPr txBox="1"/>
          <p:nvPr/>
        </p:nvSpPr>
        <p:spPr>
          <a:xfrm>
            <a:off x="804672" y="4873752"/>
            <a:ext cx="5289252" cy="1019125"/>
          </a:xfrm>
          <a:prstGeom prst="rect">
            <a:avLst/>
          </a:prstGeom>
          <a:noFill/>
        </p:spPr>
        <p:txBody>
          <a:bodyPr wrap="square" lIns="0" tIns="0" rIns="0" bIns="0">
            <a:spAutoFit/>
          </a:bodyPr>
          <a:lstStyle/>
          <a:p>
            <a:pPr>
              <a:lnSpc>
                <a:spcPct val="114000"/>
              </a:lnSpc>
              <a:spcAft>
                <a:spcPts val="700"/>
              </a:spcAft>
            </a:pPr>
            <a:r>
              <a:rPr lang="en-GB" sz="1700" b="0" i="0" dirty="0">
                <a:solidFill>
                  <a:srgbClr val="1A1A1A"/>
                </a:solidFill>
                <a:latin typeface="Calibri"/>
              </a:rPr>
              <a:t>👪  </a:t>
            </a:r>
            <a:r>
              <a:rPr lang="en-GB" sz="1800" b="1" i="0" dirty="0">
                <a:solidFill>
                  <a:srgbClr val="10305A"/>
                </a:solidFill>
                <a:latin typeface="Calibri"/>
              </a:rPr>
              <a:t>Bufasha umuryango</a:t>
            </a:r>
          </a:p>
          <a:p>
            <a:pPr>
              <a:lnSpc>
                <a:spcPct val="114000"/>
              </a:lnSpc>
              <a:spcAft>
                <a:spcPts val="700"/>
              </a:spcAft>
            </a:pPr>
            <a:r>
              <a:rPr lang="en-GB" sz="1800" b="0" i="0" dirty="0">
                <a:solidFill>
                  <a:srgbClr val="1A1A1A"/>
                </a:solidFill>
                <a:latin typeface="Calibri"/>
              </a:rPr>
              <a:t>Umuryango na wo urafashwa, ugafashwa kumva ibiri kuba.</a:t>
            </a:r>
          </a:p>
        </p:txBody>
      </p:sp>
      <p:sp>
        <p:nvSpPr>
          <p:cNvPr id="12" name="TextBox 11"/>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3" name="TextBox 12"/>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132</a:t>
            </a:r>
          </a:p>
        </p:txBody>
      </p:sp>
      <p:pic>
        <p:nvPicPr>
          <p:cNvPr id="15" name="Picture 14">
            <a:extLst>
              <a:ext uri="{FF2B5EF4-FFF2-40B4-BE49-F238E27FC236}">
                <a16:creationId xmlns:a16="http://schemas.microsoft.com/office/drawing/2014/main" id="{BB276A30-5A14-14CB-E230-CABEFBAD1A0F}"/>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6550153" y="2249424"/>
            <a:ext cx="5531115" cy="3086791"/>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U M U R Y A N G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Gufasha umuryango</a:t>
            </a:r>
          </a:p>
        </p:txBody>
      </p:sp>
      <p:sp>
        <p:nvSpPr>
          <p:cNvPr id="4" name="Rounded Rectangle 3"/>
          <p:cNvSpPr/>
          <p:nvPr/>
        </p:nvSpPr>
        <p:spPr>
          <a:xfrm>
            <a:off x="566928" y="155448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Oval 4"/>
          <p:cNvSpPr/>
          <p:nvPr/>
        </p:nvSpPr>
        <p:spPr>
          <a:xfrm>
            <a:off x="804672" y="171907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6" name="TextBox 5"/>
          <p:cNvSpPr txBox="1"/>
          <p:nvPr/>
        </p:nvSpPr>
        <p:spPr>
          <a:xfrm>
            <a:off x="1389888" y="1645920"/>
            <a:ext cx="9960833" cy="548640"/>
          </a:xfrm>
          <a:prstGeom prst="rect">
            <a:avLst/>
          </a:prstGeom>
          <a:noFill/>
        </p:spPr>
        <p:txBody>
          <a:bodyPr wrap="square" lIns="0" tIns="0" rIns="0" bIns="0" anchor="ctr">
            <a:spAutoFit/>
          </a:bodyPr>
          <a:lstStyle/>
          <a:p>
            <a:pPr>
              <a:lnSpc>
                <a:spcPct val="110000"/>
              </a:lnSpc>
            </a:pPr>
            <a:r>
              <a:rPr lang="en-GB" sz="1450" b="0" i="0" dirty="0">
                <a:solidFill>
                  <a:srgbClr val="1A1A1A"/>
                </a:solidFill>
                <a:latin typeface="Calibri"/>
              </a:rPr>
              <a:t>Sobanura impamvu gahunda zo kwa muganga zigomba gukomeza, n'iyo yumva ameze neza kurushaho.</a:t>
            </a:r>
          </a:p>
        </p:txBody>
      </p:sp>
      <p:sp>
        <p:nvSpPr>
          <p:cNvPr id="7" name="Rounded Rectangle 6"/>
          <p:cNvSpPr/>
          <p:nvPr/>
        </p:nvSpPr>
        <p:spPr>
          <a:xfrm>
            <a:off x="566928" y="237744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Oval 7"/>
          <p:cNvSpPr/>
          <p:nvPr/>
        </p:nvSpPr>
        <p:spPr>
          <a:xfrm>
            <a:off x="804672" y="254203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9" name="TextBox 8"/>
          <p:cNvSpPr txBox="1"/>
          <p:nvPr/>
        </p:nvSpPr>
        <p:spPr>
          <a:xfrm>
            <a:off x="1389888" y="2468880"/>
            <a:ext cx="9960833" cy="548640"/>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Sobanura ko indwara itandura ivuye ku muntu ijya ku wundi kubera kubana cyangwa gusangira.</a:t>
            </a:r>
          </a:p>
        </p:txBody>
      </p:sp>
      <p:sp>
        <p:nvSpPr>
          <p:cNvPr id="10" name="Rounded Rectangle 9"/>
          <p:cNvSpPr/>
          <p:nvPr/>
        </p:nvSpPr>
        <p:spPr>
          <a:xfrm>
            <a:off x="566928" y="320040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Oval 10"/>
          <p:cNvSpPr/>
          <p:nvPr/>
        </p:nvSpPr>
        <p:spPr>
          <a:xfrm>
            <a:off x="804672" y="336499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2" name="TextBox 11"/>
          <p:cNvSpPr txBox="1"/>
          <p:nvPr/>
        </p:nvSpPr>
        <p:spPr>
          <a:xfrm>
            <a:off x="1389888" y="3291840"/>
            <a:ext cx="9960833" cy="548640"/>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Shishikariza umuryango gusangira imirimo, kugira ngo umuntu umwe atananirwa.</a:t>
            </a:r>
          </a:p>
        </p:txBody>
      </p:sp>
      <p:sp>
        <p:nvSpPr>
          <p:cNvPr id="13" name="Rounded Rectangle 12"/>
          <p:cNvSpPr/>
          <p:nvPr/>
        </p:nvSpPr>
        <p:spPr>
          <a:xfrm>
            <a:off x="566928" y="402336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Oval 13"/>
          <p:cNvSpPr/>
          <p:nvPr/>
        </p:nvSpPr>
        <p:spPr>
          <a:xfrm>
            <a:off x="804672" y="418795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4</a:t>
            </a:r>
          </a:p>
        </p:txBody>
      </p:sp>
      <p:sp>
        <p:nvSpPr>
          <p:cNvPr id="15" name="TextBox 14"/>
          <p:cNvSpPr txBox="1"/>
          <p:nvPr/>
        </p:nvSpPr>
        <p:spPr>
          <a:xfrm>
            <a:off x="1389888" y="4114800"/>
            <a:ext cx="9960833" cy="548640"/>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Baza umuryango mu buryo bweruye icyatuma kwitabira gahunda ikurikira bishoboka.</a:t>
            </a:r>
          </a:p>
        </p:txBody>
      </p:sp>
      <p:sp>
        <p:nvSpPr>
          <p:cNvPr id="16" name="Rounded Rectangle 15"/>
          <p:cNvSpPr/>
          <p:nvPr/>
        </p:nvSpPr>
        <p:spPr>
          <a:xfrm>
            <a:off x="566928" y="4846320"/>
            <a:ext cx="11058113" cy="694944"/>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Oval 16"/>
          <p:cNvSpPr/>
          <p:nvPr/>
        </p:nvSpPr>
        <p:spPr>
          <a:xfrm>
            <a:off x="804672" y="5010912"/>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5</a:t>
            </a:r>
          </a:p>
        </p:txBody>
      </p:sp>
      <p:sp>
        <p:nvSpPr>
          <p:cNvPr id="18" name="TextBox 17"/>
          <p:cNvSpPr txBox="1"/>
          <p:nvPr/>
        </p:nvSpPr>
        <p:spPr>
          <a:xfrm>
            <a:off x="1389888" y="4937759"/>
            <a:ext cx="9960833" cy="548640"/>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Ca intege guhagarika ubuvuzi hagakoreshwa imiti itarasabwe na serivisi z'ubuzima.</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133</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N Y U M A   Y ' U B U V U Z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850" b="1" i="0" dirty="0">
                <a:solidFill>
                  <a:srgbClr val="10305A"/>
                </a:solidFill>
                <a:latin typeface="Cambria"/>
              </a:rPr>
              <a:t>Gufasha umugore nyuma y'uko ubuvuzi burangiye</a:t>
            </a:r>
          </a:p>
        </p:txBody>
      </p:sp>
      <p:sp>
        <p:nvSpPr>
          <p:cNvPr id="4" name="Rounded Rectangle 3"/>
          <p:cNvSpPr/>
          <p:nvPr/>
        </p:nvSpPr>
        <p:spPr>
          <a:xfrm>
            <a:off x="566928" y="1554480"/>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7393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Gusura ivuriro ukurikiranwa birakomeza.  </a:t>
            </a:r>
            <a:r>
              <a:rPr lang="en-GB" sz="1800" b="0" i="0" dirty="0">
                <a:solidFill>
                  <a:srgbClr val="1A1A1A"/>
                </a:solidFill>
                <a:latin typeface="Calibri"/>
              </a:rPr>
              <a:t>Agomba kwitabira gahunda ahabwa, n'iyo yumva ameze neza rwose.</a:t>
            </a:r>
          </a:p>
        </p:txBody>
      </p:sp>
      <p:sp>
        <p:nvSpPr>
          <p:cNvPr id="7" name="Rounded Rectangle 6"/>
          <p:cNvSpPr/>
          <p:nvPr/>
        </p:nvSpPr>
        <p:spPr>
          <a:xfrm>
            <a:off x="566928" y="2432304"/>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65176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523744"/>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Ibimenyetso bishya birakamenyeshwa.  </a:t>
            </a:r>
            <a:r>
              <a:rPr lang="en-GB" sz="1800" b="0" i="0" dirty="0">
                <a:solidFill>
                  <a:srgbClr val="1A1A1A"/>
                </a:solidFill>
                <a:latin typeface="Calibri"/>
              </a:rPr>
              <a:t>Kuva amaraso gushya, ububabare cyangwa ikindi kimenyetso gishya bigomba kumenyeshwa ntibirekwe.</a:t>
            </a:r>
          </a:p>
        </p:txBody>
      </p:sp>
      <p:sp>
        <p:nvSpPr>
          <p:cNvPr id="10" name="Rounded Rectangle 9"/>
          <p:cNvSpPr/>
          <p:nvPr/>
        </p:nvSpPr>
        <p:spPr>
          <a:xfrm>
            <a:off x="566928" y="3310128"/>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52958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401568"/>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Gukira bifata igihe.  </a:t>
            </a:r>
            <a:r>
              <a:rPr lang="en-GB" sz="1800" b="0" i="0" dirty="0">
                <a:solidFill>
                  <a:srgbClr val="1A1A1A"/>
                </a:solidFill>
                <a:latin typeface="Calibri"/>
              </a:rPr>
              <a:t>Umunaniro n'agahinda bishobora kumara amezi nyuma y'uko ubuvuzi burangiye.</a:t>
            </a:r>
          </a:p>
        </p:txBody>
      </p:sp>
      <p:sp>
        <p:nvSpPr>
          <p:cNvPr id="13" name="Rounded Rectangle 12"/>
          <p:cNvSpPr/>
          <p:nvPr/>
        </p:nvSpPr>
        <p:spPr>
          <a:xfrm>
            <a:off x="566928" y="4187952"/>
            <a:ext cx="11058113" cy="74980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40740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279392"/>
            <a:ext cx="9960833" cy="603503"/>
          </a:xfrm>
          <a:prstGeom prst="rect">
            <a:avLst/>
          </a:prstGeom>
          <a:noFill/>
        </p:spPr>
        <p:txBody>
          <a:bodyPr wrap="square" lIns="0" tIns="0" rIns="0" bIns="0" anchor="ctr">
            <a:spAutoFit/>
          </a:bodyPr>
          <a:lstStyle/>
          <a:p>
            <a:pPr>
              <a:lnSpc>
                <a:spcPct val="110000"/>
              </a:lnSpc>
            </a:pPr>
            <a:r>
              <a:rPr lang="en-GB" sz="1800" b="1" i="0" dirty="0">
                <a:solidFill>
                  <a:srgbClr val="10305A"/>
                </a:solidFill>
                <a:latin typeface="Calibri"/>
              </a:rPr>
              <a:t>Ashobora gukenera kwakirwa neza agarutse.  </a:t>
            </a:r>
            <a:r>
              <a:rPr lang="en-GB" sz="1800" b="0" i="0" dirty="0">
                <a:solidFill>
                  <a:srgbClr val="1A1A1A"/>
                </a:solidFill>
                <a:latin typeface="Calibri"/>
              </a:rPr>
              <a:t>Abagore bamwe bafatwa ukundi n'abandi nyuma yaho. Urugero rwawe rubihindura.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134</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1 muri 4</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uri kuvurwa akubwira ko ananiwe cyane ariko arya kandi anywa bisanzwe. Ukwiye gukora iki?</a:t>
            </a:r>
          </a:p>
        </p:txBody>
      </p:sp>
      <p:sp>
        <p:nvSpPr>
          <p:cNvPr id="5" name="Rounded Rectangle 4"/>
          <p:cNvSpPr/>
          <p:nvPr/>
        </p:nvSpPr>
        <p:spPr>
          <a:xfrm>
            <a:off x="566928" y="2304288"/>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Kumwohereza ku bitaro ako kanya</a:t>
            </a:r>
          </a:p>
        </p:txBody>
      </p:sp>
      <p:sp>
        <p:nvSpPr>
          <p:cNvPr id="12" name="Rounded Rectangle 11"/>
          <p:cNvSpPr/>
          <p:nvPr/>
        </p:nvSpPr>
        <p:spPr>
          <a:xfrm>
            <a:off x="566928" y="2888611"/>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943475"/>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Kumubwira ko nta cyakorwa</a:t>
            </a:r>
          </a:p>
        </p:txBody>
      </p:sp>
      <p:sp>
        <p:nvSpPr>
          <p:cNvPr id="10" name="Rounded Rectangle 9"/>
          <p:cNvSpPr/>
          <p:nvPr/>
        </p:nvSpPr>
        <p:spPr>
          <a:xfrm>
            <a:off x="566928" y="3472934"/>
            <a:ext cx="11058113" cy="483739"/>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27798"/>
            <a:ext cx="10006553" cy="374011"/>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Kumugira inama yo guhagarika ubuvuzi</a:t>
            </a:r>
          </a:p>
        </p:txBody>
      </p:sp>
      <p:sp>
        <p:nvSpPr>
          <p:cNvPr id="7" name="Rounded Rectangle 6"/>
          <p:cNvSpPr/>
          <p:nvPr/>
        </p:nvSpPr>
        <p:spPr>
          <a:xfrm>
            <a:off x="566928" y="4057257"/>
            <a:ext cx="11058113" cy="752484"/>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4112121"/>
            <a:ext cx="10006553" cy="642756"/>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Kumuhumuriza ko umunaniro ari ingaruka isanzwe, kumushishikariza kuruhuka no kurya ibiryo bike kenshi, no kubimenyesha mu gusurwa kwe gukurikira</a:t>
            </a:r>
          </a:p>
        </p:txBody>
      </p:sp>
      <p:sp>
        <p:nvSpPr>
          <p:cNvPr id="14" name="Rounded Rectangle 13"/>
          <p:cNvSpPr/>
          <p:nvPr/>
        </p:nvSpPr>
        <p:spPr>
          <a:xfrm>
            <a:off x="566928" y="4919471"/>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5047487"/>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D</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Umunaniro ni imwe mu ngaruka zisanzwe cyane z'ubuvuzi kandi ubwawo si ikibazo cyihutirwa. Ariko ugomba kumenyeshwa mu gusurwa gukurikira, kuko hari ibyo itsinda ry'ubuzima rishobora gukora ngo rifashe.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135</a:t>
            </a:r>
          </a:p>
        </p:txBody>
      </p:sp>
      <p:sp>
        <p:nvSpPr>
          <p:cNvPr id="9" name="TextBox 8"/>
          <p:cNvSpPr txBox="1"/>
          <p:nvPr/>
        </p:nvSpPr>
        <p:spPr>
          <a:xfrm>
            <a:off x="11094689" y="4296340"/>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2 muri 4</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Ni ikihe muri ibi kigomba gufatwa nk'igikeneye kwitabwaho uwo munsi?</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Iseseme yoroheje nyuma yo kurya</a:t>
            </a:r>
          </a:p>
        </p:txBody>
      </p:sp>
      <p:sp>
        <p:nvSpPr>
          <p:cNvPr id="12" name="Rounded Rectangle 11"/>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64261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Kugira agahinda iminsi mike</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Ikibazo kuri gahunda ikurikira</a:t>
            </a:r>
          </a:p>
        </p:txBody>
      </p:sp>
      <p:sp>
        <p:nvSpPr>
          <p:cNvPr id="7" name="Rounded Rectangle 6"/>
          <p:cNvSpPr/>
          <p:nvPr/>
        </p:nvSpPr>
        <p:spPr>
          <a:xfrm>
            <a:off x="566928" y="377647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Umuriro mwinshi hamwe no kuruka, adashobora kugumana ibyo anywa</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600" b="1" i="0" dirty="0">
                <a:solidFill>
                  <a:srgbClr val="1C6B3F"/>
                </a:solidFill>
                <a:latin typeface="Calibri"/>
              </a:rPr>
              <a:t>Igisubizo cy'ukuri: D</a:t>
            </a:r>
          </a:p>
          <a:p>
            <a:pPr>
              <a:lnSpc>
                <a:spcPct val="110000"/>
              </a:lnSpc>
              <a:spcAft>
                <a:spcPts val="100"/>
              </a:spcAft>
            </a:pPr>
            <a:r>
              <a:rPr lang="en-GB" sz="1600" b="1" i="0" dirty="0">
                <a:solidFill>
                  <a:srgbClr val="1C6B3F"/>
                </a:solidFill>
                <a:latin typeface="Calibri"/>
              </a:rPr>
              <a:t>Inyunganizi: </a:t>
            </a:r>
            <a:r>
              <a:rPr lang="en-GB" sz="1600" b="0" i="0" dirty="0">
                <a:solidFill>
                  <a:srgbClr val="1A1A1A"/>
                </a:solidFill>
                <a:latin typeface="Calibri"/>
              </a:rPr>
              <a:t>Umuriro hamwe no kuruka no kutanywa bishobora gutera kubura amazi mu mubiri kandi bishobora kwerekana ubwandu, kandi ibyo birakomeye mu gihe cy'ubuvuzi bwa kanseri. Ibindi bitatu ni ukuri kandi bigomba kwitabwaho, ariko ntibikeneye kwitabwaho uwo munsi.</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136</a:t>
            </a:r>
          </a:p>
        </p:txBody>
      </p:sp>
      <p:sp>
        <p:nvSpPr>
          <p:cNvPr id="9" name="TextBox 8"/>
          <p:cNvSpPr txBox="1"/>
          <p:nvPr/>
        </p:nvSpPr>
        <p:spPr>
          <a:xfrm>
            <a:off x="11094689" y="388619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3 muri 4</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Umuryango ubaza niba ushobora kwandura kubera kwita ku muvandimwe wabo urwaye kanseri y'inkondo y'umura. Ubabwira iki?</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Bagomba kumwitaza kugira ngo babe amahoro</a:t>
            </a:r>
          </a:p>
        </p:txBody>
      </p:sp>
      <p:sp>
        <p:nvSpPr>
          <p:cNvPr id="7" name="Rounded Rectangle 6"/>
          <p:cNvSpPr/>
          <p:nvPr/>
        </p:nvSpPr>
        <p:spPr>
          <a:xfrm>
            <a:off x="566928" y="289864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Kanseri y'inkondo y'umura ntiyandura ivuye ku muntu ijya ku wundi kubera kubana, gusangira cyangwa kwita ku muntu</a:t>
            </a:r>
          </a:p>
        </p:txBody>
      </p:sp>
      <p:sp>
        <p:nvSpPr>
          <p:cNvPr id="10" name="Rounded Rectangle 9"/>
          <p:cNvSpPr/>
          <p:nvPr/>
        </p:nvSpPr>
        <p:spPr>
          <a:xfrm>
            <a:off x="566928" y="349300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Abana gusa ni bo bafite ibyago</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Bagomba gukoresha amasahani yabo bwite</a:t>
            </a:r>
          </a:p>
        </p:txBody>
      </p:sp>
      <p:sp>
        <p:nvSpPr>
          <p:cNvPr id="14" name="Rounded Rectangle 13"/>
          <p:cNvSpPr/>
          <p:nvPr/>
        </p:nvSpPr>
        <p:spPr>
          <a:xfrm>
            <a:off x="566928" y="4690872"/>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Kanseri y'inkondo y'umura ntiyandurira mu gukorana, gusangira ibiryo cyangwa kwita ku muntu. Kubivuga mu buryo bweruye bituma umugore adahabwa akato mu gihe akeneye cyane ko umuryango we umuba hafi.</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137</a:t>
            </a:r>
          </a:p>
        </p:txBody>
      </p:sp>
      <p:sp>
        <p:nvSpPr>
          <p:cNvPr id="9" name="TextBox 8"/>
          <p:cNvSpPr txBox="1"/>
          <p:nvPr/>
        </p:nvSpPr>
        <p:spPr>
          <a:xfrm>
            <a:off x="11094689" y="300837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I S U Z U M A   R Y ' U B U M E N Y I</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500" b="1" i="0" dirty="0">
                <a:solidFill>
                  <a:srgbClr val="10305A"/>
                </a:solidFill>
                <a:latin typeface="Cambria"/>
              </a:rPr>
              <a:t>Isuzuma ry'ubumenyi: ikibazo cya 4 muri 4</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yarangije ubuvuzi bwe mu mezi abiri ashize kandi yumva ameze neza. Arabaza niba agikeneye gahunda ye yo gukurikiranwa. Umubwira iki?</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Ashobora guhagarika kwitabira ubu kuko yumva ameze neza</a:t>
            </a:r>
          </a:p>
        </p:txBody>
      </p:sp>
      <p:sp>
        <p:nvSpPr>
          <p:cNvPr id="10" name="Rounded Rectangle 9"/>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Agomba kwitabira gusa niba ububabare bugarutse</a:t>
            </a:r>
          </a:p>
        </p:txBody>
      </p:sp>
      <p:sp>
        <p:nvSpPr>
          <p:cNvPr id="7" name="Rounded Rectangle 6"/>
          <p:cNvSpPr/>
          <p:nvPr/>
        </p:nvSpPr>
        <p:spPr>
          <a:xfrm>
            <a:off x="566928" y="349300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Agomba kwitabira, kuko gukurikiranwa bigenzura uko akira kandi bikagaragaza ikibazo gishya hakiri kare</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Agomba kwifatira icyemezo nta nama ahawe</a:t>
            </a:r>
          </a:p>
        </p:txBody>
      </p:sp>
      <p:sp>
        <p:nvSpPr>
          <p:cNvPr id="14" name="Rounded Rectangle 13"/>
          <p:cNvSpPr/>
          <p:nvPr/>
        </p:nvSpPr>
        <p:spPr>
          <a:xfrm>
            <a:off x="566928" y="469087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Gukurikiranwa nyuma y'ubuvuzi ni bwo buryo bwo kugenzura uko akira no kubona ikibazo gishya hakiri kare. Kumva ameze neza ni ibisanzwe kandi si impamvu yo guhagarika kwitabira.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138</a:t>
            </a:r>
          </a:p>
        </p:txBody>
      </p:sp>
      <p:sp>
        <p:nvSpPr>
          <p:cNvPr id="9" name="TextBox 8"/>
          <p:cNvSpPr txBox="1"/>
          <p:nvPr/>
        </p:nvSpPr>
        <p:spPr>
          <a:xfrm>
            <a:off x="11094689" y="360273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450" b="1" i="0" dirty="0">
                <a:solidFill>
                  <a:srgbClr val="10305A"/>
                </a:solidFill>
                <a:latin typeface="Cambria"/>
              </a:rPr>
              <a:t>Ingingo z'ingenzi</a:t>
            </a:r>
          </a:p>
        </p:txBody>
      </p:sp>
      <p:sp>
        <p:nvSpPr>
          <p:cNvPr id="4" name="Rounded Rectangle 3"/>
          <p:cNvSpPr/>
          <p:nvPr/>
        </p:nvSpPr>
        <p:spPr>
          <a:xfrm>
            <a:off x="566928" y="1554480"/>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5" name="TextBox 4"/>
          <p:cNvSpPr txBox="1"/>
          <p:nvPr/>
        </p:nvSpPr>
        <p:spPr>
          <a:xfrm>
            <a:off x="822960" y="1755648"/>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6" name="TextBox 5"/>
          <p:cNvSpPr txBox="1"/>
          <p:nvPr/>
        </p:nvSpPr>
        <p:spPr>
          <a:xfrm>
            <a:off x="1389888" y="1645920"/>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Umunaniro, iseseme n'agahinda birasanzwe mu gihe cy'ubuvuzi kandi bigomba kumenyeshwa.</a:t>
            </a:r>
          </a:p>
        </p:txBody>
      </p:sp>
      <p:sp>
        <p:nvSpPr>
          <p:cNvPr id="7" name="Rounded Rectangle 6"/>
          <p:cNvSpPr/>
          <p:nvPr/>
        </p:nvSpPr>
        <p:spPr>
          <a:xfrm>
            <a:off x="566928" y="2395728"/>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822960" y="2596896"/>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9" name="TextBox 8"/>
          <p:cNvSpPr txBox="1"/>
          <p:nvPr/>
        </p:nvSpPr>
        <p:spPr>
          <a:xfrm>
            <a:off x="1389888" y="2487168"/>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Kuva amaraso menshi, kwitura hasi, ububabare bukabije n'umuriro mwinshi bikeneye kwitabwaho uwo munsi.</a:t>
            </a:r>
          </a:p>
        </p:txBody>
      </p:sp>
      <p:sp>
        <p:nvSpPr>
          <p:cNvPr id="10" name="Rounded Rectangle 9"/>
          <p:cNvSpPr/>
          <p:nvPr/>
        </p:nvSpPr>
        <p:spPr>
          <a:xfrm>
            <a:off x="566928" y="3236976"/>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22960" y="3438144"/>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2" name="TextBox 11"/>
          <p:cNvSpPr txBox="1"/>
          <p:nvPr/>
        </p:nvSpPr>
        <p:spPr>
          <a:xfrm>
            <a:off x="1389888" y="3328416"/>
            <a:ext cx="9960833" cy="566928"/>
          </a:xfrm>
          <a:prstGeom prst="rect">
            <a:avLst/>
          </a:prstGeom>
          <a:noFill/>
        </p:spPr>
        <p:txBody>
          <a:bodyPr wrap="square" lIns="0" tIns="0" rIns="0" bIns="0" anchor="ctr">
            <a:spAutoFit/>
          </a:bodyPr>
          <a:lstStyle/>
          <a:p>
            <a:pPr>
              <a:lnSpc>
                <a:spcPct val="110000"/>
              </a:lnSpc>
            </a:pPr>
            <a:r>
              <a:rPr lang="en-GB" sz="1500" b="0" i="0" dirty="0">
                <a:solidFill>
                  <a:srgbClr val="1A1A1A"/>
                </a:solidFill>
                <a:latin typeface="Calibri"/>
              </a:rPr>
              <a:t>Ububabare burashobora kuvurwa, kandi nta mugore ukwiye kubwirwa ko agomba kubwihanganira gusa.</a:t>
            </a:r>
          </a:p>
        </p:txBody>
      </p:sp>
      <p:sp>
        <p:nvSpPr>
          <p:cNvPr id="13" name="Rounded Rectangle 12"/>
          <p:cNvSpPr/>
          <p:nvPr/>
        </p:nvSpPr>
        <p:spPr>
          <a:xfrm>
            <a:off x="566928" y="4078224"/>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4" name="TextBox 13"/>
          <p:cNvSpPr txBox="1"/>
          <p:nvPr/>
        </p:nvSpPr>
        <p:spPr>
          <a:xfrm>
            <a:off x="822960" y="4279392"/>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5" name="TextBox 14"/>
          <p:cNvSpPr txBox="1"/>
          <p:nvPr/>
        </p:nvSpPr>
        <p:spPr>
          <a:xfrm>
            <a:off x="1389888" y="4169663"/>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Kanseri y'inkondo y'umura ntiyandura ivuye ku muntu ijya ku wundi, bityo nta mugore ukwiye guhabwa akato.</a:t>
            </a:r>
          </a:p>
        </p:txBody>
      </p:sp>
      <p:sp>
        <p:nvSpPr>
          <p:cNvPr id="16" name="Rounded Rectangle 15"/>
          <p:cNvSpPr/>
          <p:nvPr/>
        </p:nvSpPr>
        <p:spPr>
          <a:xfrm>
            <a:off x="566928" y="4919472"/>
            <a:ext cx="11058113" cy="713232"/>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7" name="TextBox 16"/>
          <p:cNvSpPr txBox="1"/>
          <p:nvPr/>
        </p:nvSpPr>
        <p:spPr>
          <a:xfrm>
            <a:off x="822960" y="5120640"/>
            <a:ext cx="457200" cy="310896"/>
          </a:xfrm>
          <a:prstGeom prst="rect">
            <a:avLst/>
          </a:prstGeom>
          <a:noFill/>
        </p:spPr>
        <p:txBody>
          <a:bodyPr wrap="square" lIns="0" tIns="0" rIns="0" bIns="0">
            <a:spAutoFit/>
          </a:bodyPr>
          <a:lstStyle/>
          <a:p>
            <a:r>
              <a:rPr lang="en-GB" sz="1700" b="0" i="0" dirty="0">
                <a:solidFill>
                  <a:srgbClr val="1A1A1A"/>
                </a:solidFill>
                <a:latin typeface="Calibri"/>
              </a:rPr>
              <a:t>💡</a:t>
            </a:r>
          </a:p>
        </p:txBody>
      </p:sp>
      <p:sp>
        <p:nvSpPr>
          <p:cNvPr id="18" name="TextBox 17"/>
          <p:cNvSpPr txBox="1"/>
          <p:nvPr/>
        </p:nvSpPr>
        <p:spPr>
          <a:xfrm>
            <a:off x="1389888" y="5010912"/>
            <a:ext cx="9960833" cy="566928"/>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Gusura ivuriro ukurikiranwa bikomeza nyuma y'ubuvuzi, n'iyo umugore yumva ameze neza rwose.</a:t>
            </a:r>
          </a:p>
        </p:txBody>
      </p:sp>
      <p:sp>
        <p:nvSpPr>
          <p:cNvPr id="19" name="TextBox 18"/>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20" name="TextBox 19"/>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139</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G I C E   C Y A   5   ·   I S U B I R A M O</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3400" b="1" i="0" dirty="0">
                <a:solidFill>
                  <a:srgbClr val="10305A"/>
                </a:solidFill>
                <a:latin typeface="Cambria"/>
              </a:rPr>
              <a:t>Isubiramo</a:t>
            </a:r>
          </a:p>
        </p:txBody>
      </p:sp>
      <p:sp>
        <p:nvSpPr>
          <p:cNvPr id="4" name="TextBox 3"/>
          <p:cNvSpPr txBox="1"/>
          <p:nvPr/>
        </p:nvSpPr>
        <p:spPr>
          <a:xfrm>
            <a:off x="566928" y="1554480"/>
            <a:ext cx="11058113" cy="365760"/>
          </a:xfrm>
          <a:prstGeom prst="rect">
            <a:avLst/>
          </a:prstGeom>
          <a:noFill/>
        </p:spPr>
        <p:txBody>
          <a:bodyPr wrap="square" lIns="0" tIns="0" rIns="0" bIns="0">
            <a:spAutoFit/>
          </a:bodyPr>
          <a:lstStyle/>
          <a:p>
            <a:r>
              <a:rPr lang="en-GB" sz="1800" b="1" i="0" dirty="0">
                <a:solidFill>
                  <a:srgbClr val="10305A"/>
                </a:solidFill>
                <a:latin typeface="Calibri"/>
              </a:rPr>
              <a:t>Amabwiriza ku wiga:  </a:t>
            </a:r>
            <a:r>
              <a:rPr lang="en-GB" sz="1800" b="0" i="0" dirty="0">
                <a:solidFill>
                  <a:srgbClr val="1A1A1A"/>
                </a:solidFill>
                <a:latin typeface="Calibri"/>
              </a:rPr>
              <a:t>Andika igisubizo cyawe mu gasanduku kabigenewe.</a:t>
            </a:r>
          </a:p>
        </p:txBody>
      </p:sp>
      <p:sp>
        <p:nvSpPr>
          <p:cNvPr id="5" name="Rounded Rectangle 4"/>
          <p:cNvSpPr/>
          <p:nvPr/>
        </p:nvSpPr>
        <p:spPr>
          <a:xfrm>
            <a:off x="566928" y="2121408"/>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Oval 5"/>
          <p:cNvSpPr/>
          <p:nvPr/>
        </p:nvSpPr>
        <p:spPr>
          <a:xfrm>
            <a:off x="804672" y="2395727"/>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1</a:t>
            </a:r>
          </a:p>
        </p:txBody>
      </p:sp>
      <p:sp>
        <p:nvSpPr>
          <p:cNvPr id="7" name="TextBox 6"/>
          <p:cNvSpPr txBox="1"/>
          <p:nvPr/>
        </p:nvSpPr>
        <p:spPr>
          <a:xfrm>
            <a:off x="1389888" y="2212848"/>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Wafasha ute umugore wo mu gace utuyemo uri kuvurwa kanseri?</a:t>
            </a:r>
          </a:p>
        </p:txBody>
      </p:sp>
      <p:sp>
        <p:nvSpPr>
          <p:cNvPr id="8" name="Rounded Rectangle 7"/>
          <p:cNvSpPr/>
          <p:nvPr/>
        </p:nvSpPr>
        <p:spPr>
          <a:xfrm>
            <a:off x="566928" y="3182111"/>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9" name="Oval 8"/>
          <p:cNvSpPr/>
          <p:nvPr/>
        </p:nvSpPr>
        <p:spPr>
          <a:xfrm>
            <a:off x="804672" y="3456431"/>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2</a:t>
            </a:r>
          </a:p>
        </p:txBody>
      </p:sp>
      <p:sp>
        <p:nvSpPr>
          <p:cNvPr id="10" name="TextBox 9"/>
          <p:cNvSpPr txBox="1"/>
          <p:nvPr/>
        </p:nvSpPr>
        <p:spPr>
          <a:xfrm>
            <a:off x="1389888" y="3273551"/>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Wabwira iki umuryango ushaka kugira ibanga indwara kuri buri wese?</a:t>
            </a:r>
          </a:p>
        </p:txBody>
      </p:sp>
      <p:sp>
        <p:nvSpPr>
          <p:cNvPr id="11" name="Rounded Rectangle 10"/>
          <p:cNvSpPr/>
          <p:nvPr/>
        </p:nvSpPr>
        <p:spPr>
          <a:xfrm>
            <a:off x="566928" y="4242816"/>
            <a:ext cx="11058113" cy="914400"/>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2" name="Oval 11"/>
          <p:cNvSpPr/>
          <p:nvPr/>
        </p:nvSpPr>
        <p:spPr>
          <a:xfrm>
            <a:off x="804672" y="4517136"/>
            <a:ext cx="365760" cy="365760"/>
          </a:xfrm>
          <a:prstGeom prst="ellipse">
            <a:avLst/>
          </a:prstGeom>
          <a:solidFill>
            <a:srgbClr val="1F4E96"/>
          </a:solidFill>
          <a:ln>
            <a:noFill/>
          </a:ln>
          <a:effectLst/>
        </p:spPr>
        <p:txBody>
          <a:bodyPr wrap="none" lIns="0" tIns="0" rIns="0" bIns="0" rtlCol="0" anchor="ctr"/>
          <a:lstStyle/>
          <a:p>
            <a:pPr algn="ctr"/>
            <a:r>
              <a:rPr lang="en-GB" sz="1500" b="1" i="0" dirty="0">
                <a:solidFill>
                  <a:srgbClr val="FFFFFF"/>
                </a:solidFill>
                <a:latin typeface="Calibri"/>
              </a:rPr>
              <a:t>3</a:t>
            </a:r>
          </a:p>
        </p:txBody>
      </p:sp>
      <p:sp>
        <p:nvSpPr>
          <p:cNvPr id="13" name="TextBox 12"/>
          <p:cNvSpPr txBox="1"/>
          <p:nvPr/>
        </p:nvSpPr>
        <p:spPr>
          <a:xfrm>
            <a:off x="1389888" y="4334255"/>
            <a:ext cx="9915113" cy="768096"/>
          </a:xfrm>
          <a:prstGeom prst="rect">
            <a:avLst/>
          </a:prstGeom>
          <a:noFill/>
        </p:spPr>
        <p:txBody>
          <a:bodyPr wrap="square" lIns="0" tIns="0" rIns="0" bIns="0" anchor="ctr">
            <a:spAutoFit/>
          </a:bodyPr>
          <a:lstStyle/>
          <a:p>
            <a:pPr>
              <a:lnSpc>
                <a:spcPct val="110000"/>
              </a:lnSpc>
            </a:pPr>
            <a:r>
              <a:rPr lang="en-GB" sz="1800" b="0" i="0" dirty="0">
                <a:solidFill>
                  <a:srgbClr val="1A1A1A"/>
                </a:solidFill>
                <a:latin typeface="Calibri"/>
              </a:rPr>
              <a:t>Ni ikintu kimwe uzakora ukundi mu kazi kawe nyuma y'iri somo?</a:t>
            </a:r>
          </a:p>
        </p:txBody>
      </p:sp>
      <p:sp>
        <p:nvSpPr>
          <p:cNvPr id="14" name="TextBox 13"/>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5" name="TextBox 14"/>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140</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a:t>
            </a:r>
          </a:p>
        </p:txBody>
      </p:sp>
      <p:sp>
        <p:nvSpPr>
          <p:cNvPr id="4" name="TextBox 3"/>
          <p:cNvSpPr txBox="1"/>
          <p:nvPr/>
        </p:nvSpPr>
        <p:spPr>
          <a:xfrm>
            <a:off x="566928" y="1554480"/>
            <a:ext cx="11058113" cy="411480"/>
          </a:xfrm>
          <a:prstGeom prst="rect">
            <a:avLst/>
          </a:prstGeom>
          <a:noFill/>
        </p:spPr>
        <p:txBody>
          <a:bodyPr wrap="square" lIns="0" tIns="0" rIns="0" bIns="0">
            <a:spAutoFit/>
          </a:bodyPr>
          <a:lstStyle/>
          <a:p>
            <a:pPr>
              <a:lnSpc>
                <a:spcPct val="115000"/>
              </a:lnSpc>
            </a:pPr>
            <a:r>
              <a:rPr lang="en-GB" sz="1800" b="0" i="0" dirty="0">
                <a:solidFill>
                  <a:srgbClr val="1A1A1A"/>
                </a:solidFill>
                <a:latin typeface="Calibri"/>
              </a:rPr>
              <a:t>Ibibazo makumyabiri bikubiyemo isomo ryose. Igisubizo n'ibisobanuro bikurikira buri kibazo.</a:t>
            </a:r>
          </a:p>
        </p:txBody>
      </p:sp>
      <p:sp>
        <p:nvSpPr>
          <p:cNvPr id="5" name="Rounded Rectangle 4"/>
          <p:cNvSpPr/>
          <p:nvPr/>
        </p:nvSpPr>
        <p:spPr>
          <a:xfrm>
            <a:off x="566928" y="2029968"/>
            <a:ext cx="3503157" cy="239572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786384" y="2231136"/>
            <a:ext cx="3064245" cy="2011680"/>
          </a:xfrm>
          <a:prstGeom prst="rect">
            <a:avLst/>
          </a:prstGeom>
          <a:noFill/>
        </p:spPr>
        <p:txBody>
          <a:bodyPr wrap="square" lIns="0" tIns="0" rIns="0" bIns="0">
            <a:spAutoFit/>
          </a:bodyPr>
          <a:lstStyle/>
          <a:p>
            <a:pPr>
              <a:lnSpc>
                <a:spcPct val="114000"/>
              </a:lnSpc>
              <a:spcAft>
                <a:spcPts val="700"/>
              </a:spcAft>
            </a:pPr>
            <a:r>
              <a:rPr lang="en-GB" sz="1700" b="0" i="0" dirty="0">
                <a:solidFill>
                  <a:srgbClr val="1A1A1A"/>
                </a:solidFill>
                <a:latin typeface="Calibri"/>
              </a:rPr>
              <a:t>📋  </a:t>
            </a:r>
            <a:r>
              <a:rPr lang="en-GB" sz="1800" b="1" i="0" dirty="0">
                <a:solidFill>
                  <a:srgbClr val="10305A"/>
                </a:solidFill>
                <a:latin typeface="Calibri"/>
              </a:rPr>
              <a:t>Ibibazo makumyabiri</a:t>
            </a:r>
          </a:p>
          <a:p>
            <a:pPr>
              <a:lnSpc>
                <a:spcPct val="114000"/>
              </a:lnSpc>
              <a:spcAft>
                <a:spcPts val="700"/>
              </a:spcAft>
            </a:pPr>
            <a:r>
              <a:rPr lang="en-GB" sz="1800" b="0" i="0" dirty="0">
                <a:solidFill>
                  <a:srgbClr val="1A1A1A"/>
                </a:solidFill>
                <a:latin typeface="Calibri"/>
              </a:rPr>
              <a:t>Byakuwe mu masomo yose uko ari atanu, ikibazo kimwe kuri buri paji.</a:t>
            </a:r>
          </a:p>
        </p:txBody>
      </p:sp>
      <p:sp>
        <p:nvSpPr>
          <p:cNvPr id="7" name="Rounded Rectangle 6"/>
          <p:cNvSpPr/>
          <p:nvPr/>
        </p:nvSpPr>
        <p:spPr>
          <a:xfrm>
            <a:off x="4344405" y="2029968"/>
            <a:ext cx="3503157" cy="239572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8" name="TextBox 7"/>
          <p:cNvSpPr txBox="1"/>
          <p:nvPr/>
        </p:nvSpPr>
        <p:spPr>
          <a:xfrm>
            <a:off x="4563861" y="2231136"/>
            <a:ext cx="3064245" cy="2011680"/>
          </a:xfrm>
          <a:prstGeom prst="rect">
            <a:avLst/>
          </a:prstGeom>
          <a:noFill/>
        </p:spPr>
        <p:txBody>
          <a:bodyPr wrap="square" lIns="0" tIns="0" rIns="0" bIns="0">
            <a:spAutoFit/>
          </a:bodyPr>
          <a:lstStyle/>
          <a:p>
            <a:pPr>
              <a:lnSpc>
                <a:spcPct val="114000"/>
              </a:lnSpc>
              <a:spcAft>
                <a:spcPts val="700"/>
              </a:spcAft>
            </a:pPr>
            <a:r>
              <a:rPr lang="en-GB" sz="1700" b="0" i="0" dirty="0">
                <a:solidFill>
                  <a:srgbClr val="1A1A1A"/>
                </a:solidFill>
                <a:latin typeface="Calibri"/>
              </a:rPr>
              <a:t>💬  </a:t>
            </a:r>
            <a:r>
              <a:rPr lang="en-GB" sz="1800" b="1" i="0" dirty="0">
                <a:solidFill>
                  <a:srgbClr val="10305A"/>
                </a:solidFill>
                <a:latin typeface="Calibri"/>
              </a:rPr>
              <a:t>Ibisubizo bisobanuwe</a:t>
            </a:r>
          </a:p>
          <a:p>
            <a:pPr>
              <a:lnSpc>
                <a:spcPct val="114000"/>
              </a:lnSpc>
              <a:spcAft>
                <a:spcPts val="700"/>
              </a:spcAft>
            </a:pPr>
            <a:r>
              <a:rPr lang="en-GB" sz="1800" b="0" i="0" dirty="0">
                <a:solidFill>
                  <a:srgbClr val="1A1A1A"/>
                </a:solidFill>
                <a:latin typeface="Calibri"/>
              </a:rPr>
              <a:t>Buri paji yerekana igisubizo cy'ukuri n'impamvu ari cyo.</a:t>
            </a:r>
          </a:p>
        </p:txBody>
      </p:sp>
      <p:sp>
        <p:nvSpPr>
          <p:cNvPr id="9" name="Rounded Rectangle 8"/>
          <p:cNvSpPr/>
          <p:nvPr/>
        </p:nvSpPr>
        <p:spPr>
          <a:xfrm>
            <a:off x="8121883" y="2029968"/>
            <a:ext cx="3503157" cy="2395728"/>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0" name="TextBox 9"/>
          <p:cNvSpPr txBox="1"/>
          <p:nvPr/>
        </p:nvSpPr>
        <p:spPr>
          <a:xfrm>
            <a:off x="8341339" y="2231136"/>
            <a:ext cx="3064245" cy="2011680"/>
          </a:xfrm>
          <a:prstGeom prst="rect">
            <a:avLst/>
          </a:prstGeom>
          <a:noFill/>
        </p:spPr>
        <p:txBody>
          <a:bodyPr wrap="square" lIns="0" tIns="0" rIns="0" bIns="0">
            <a:spAutoFit/>
          </a:bodyPr>
          <a:lstStyle/>
          <a:p>
            <a:pPr>
              <a:lnSpc>
                <a:spcPct val="114000"/>
              </a:lnSpc>
              <a:spcAft>
                <a:spcPts val="700"/>
              </a:spcAft>
            </a:pPr>
            <a:r>
              <a:rPr lang="en-GB" sz="1700" b="0" i="0" dirty="0">
                <a:solidFill>
                  <a:srgbClr val="1A1A1A"/>
                </a:solidFill>
                <a:latin typeface="Calibri"/>
              </a:rPr>
              <a:t>🏥  </a:t>
            </a:r>
            <a:r>
              <a:rPr lang="en-GB" sz="1800" b="1" i="0" dirty="0">
                <a:solidFill>
                  <a:srgbClr val="10305A"/>
                </a:solidFill>
                <a:latin typeface="Calibri"/>
              </a:rPr>
              <a:t>Byubakiye ku bibazo nyabyo</a:t>
            </a:r>
          </a:p>
          <a:p>
            <a:pPr>
              <a:lnSpc>
                <a:spcPct val="114000"/>
              </a:lnSpc>
              <a:spcAft>
                <a:spcPts val="700"/>
              </a:spcAft>
            </a:pPr>
            <a:r>
              <a:rPr lang="en-GB" sz="1800" b="0" i="0" dirty="0">
                <a:solidFill>
                  <a:srgbClr val="1A1A1A"/>
                </a:solidFill>
                <a:latin typeface="Calibri"/>
              </a:rPr>
              <a:t>Ibibazo bibaza icyo wakora, si icyo ushobora gusubiramo mu mutwe.</a:t>
            </a:r>
          </a:p>
        </p:txBody>
      </p:sp>
      <p:sp>
        <p:nvSpPr>
          <p:cNvPr id="11" name="TextBox 10"/>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2" name="TextBox 11"/>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141</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w'imyaka 40 udafite ibimenyetso abaza niba akeneye kwisuzumisha kanseri y'inkondo y'umura. Igisubizo nyacyo ni ikihe?</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Oya, isuzuma ni iry'abagore bafite ibimenyetso</a:t>
            </a:r>
          </a:p>
        </p:txBody>
      </p:sp>
      <p:sp>
        <p:nvSpPr>
          <p:cNvPr id="12" name="Rounded Rectangle 11"/>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95351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Gusa niba hari umuntu wo mu muryango we warwaye kanseri</a:t>
            </a:r>
          </a:p>
        </p:txBody>
      </p:sp>
      <p:sp>
        <p:nvSpPr>
          <p:cNvPr id="10" name="Rounded Rectangle 9"/>
          <p:cNvSpPr/>
          <p:nvPr/>
        </p:nvSpPr>
        <p:spPr>
          <a:xfrm>
            <a:off x="566928" y="349300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Gusa niba yarabyaye abana benshi</a:t>
            </a:r>
          </a:p>
        </p:txBody>
      </p:sp>
      <p:sp>
        <p:nvSpPr>
          <p:cNvPr id="7" name="Rounded Rectangle 6"/>
          <p:cNvSpPr/>
          <p:nvPr/>
        </p:nvSpPr>
        <p:spPr>
          <a:xfrm>
            <a:off x="566928" y="408736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414223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Yego, isuzuma ni iry'abagore bumva bameze neza, kuko impinduka za mbere nta bimenyetso zitera</a:t>
            </a:r>
          </a:p>
        </p:txBody>
      </p:sp>
      <p:sp>
        <p:nvSpPr>
          <p:cNvPr id="14" name="Rounded Rectangle 13"/>
          <p:cNvSpPr/>
          <p:nvPr/>
        </p:nvSpPr>
        <p:spPr>
          <a:xfrm>
            <a:off x="566928" y="469087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822959"/>
          </a:xfrm>
          <a:prstGeom prst="rect">
            <a:avLst/>
          </a:prstGeom>
          <a:noFill/>
        </p:spPr>
        <p:txBody>
          <a:bodyPr wrap="square" lIns="0" tIns="0" rIns="0" bIns="0">
            <a:spAutoFit/>
          </a:bodyPr>
          <a:lstStyle/>
          <a:p>
            <a:pPr>
              <a:lnSpc>
                <a:spcPct val="110000"/>
              </a:lnSpc>
              <a:spcAft>
                <a:spcPts val="100"/>
              </a:spcAft>
            </a:pPr>
            <a:r>
              <a:rPr lang="en-GB" sz="1600" b="1" i="0" dirty="0">
                <a:solidFill>
                  <a:srgbClr val="1C6B3F"/>
                </a:solidFill>
                <a:latin typeface="Calibri"/>
              </a:rPr>
              <a:t>Igisubizo cy'ukuri: D</a:t>
            </a:r>
          </a:p>
          <a:p>
            <a:pPr>
              <a:lnSpc>
                <a:spcPct val="110000"/>
              </a:lnSpc>
              <a:spcAft>
                <a:spcPts val="100"/>
              </a:spcAft>
            </a:pPr>
            <a:r>
              <a:rPr lang="en-GB" sz="1600" b="1" i="0" dirty="0">
                <a:solidFill>
                  <a:srgbClr val="1C6B3F"/>
                </a:solidFill>
                <a:latin typeface="Calibri"/>
              </a:rPr>
              <a:t>Inyunganizi: </a:t>
            </a:r>
            <a:r>
              <a:rPr lang="en-GB" sz="1600" b="0" i="0" dirty="0">
                <a:solidFill>
                  <a:srgbClr val="1A1A1A"/>
                </a:solidFill>
                <a:latin typeface="Calibri"/>
              </a:rPr>
              <a:t>Isuzuma ribereyeho abagore bumva bameze neza. Impinduka za mbere nta cyo zitera umugore yakumva, bityo gutegereza ikimenyetso bisobanura ko indwara iboneka itinze.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142</a:t>
            </a:r>
          </a:p>
        </p:txBody>
      </p:sp>
      <p:sp>
        <p:nvSpPr>
          <p:cNvPr id="9" name="TextBox 8"/>
          <p:cNvSpPr txBox="1"/>
          <p:nvPr/>
        </p:nvSpPr>
        <p:spPr>
          <a:xfrm>
            <a:off x="11094689" y="419709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2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Ni iki gitera hafi ya kanseri zose z'inkondo y'umura?</a:t>
            </a:r>
          </a:p>
        </p:txBody>
      </p:sp>
      <p:sp>
        <p:nvSpPr>
          <p:cNvPr id="7" name="Rounded Rectangle 6"/>
          <p:cNvSpPr/>
          <p:nvPr/>
        </p:nvSpPr>
        <p:spPr>
          <a:xfrm>
            <a:off x="566928" y="199339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Ubwandu bumara igihe kirekire bw'amoko amwe ya HPV, virusi isanzwe</a:t>
            </a:r>
          </a:p>
        </p:txBody>
      </p:sp>
      <p:sp>
        <p:nvSpPr>
          <p:cNvPr id="5" name="Rounded Rectangle 4"/>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Imirimo ivunanye y'amaboko</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Amazi akonje</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Kurya bike cyane</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Kanseri y'inkondo y'umura ikurikira ubwandu bwa HPV bumara imyaka myinshi mu mubiri. Ibindi bintu bishobora gutuma ubwandu burushaho kuguma, ariko ubwabyo ntibitera kanseri.</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143</a:t>
            </a:r>
          </a:p>
        </p:txBody>
      </p:sp>
      <p:sp>
        <p:nvSpPr>
          <p:cNvPr id="9" name="TextBox 8"/>
          <p:cNvSpPr txBox="1"/>
          <p:nvPr/>
        </p:nvSpPr>
        <p:spPr>
          <a:xfrm>
            <a:off x="11094689" y="210311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3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Ni iki kiba ku bwandu bwinshi bwa HPV?</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Buhora buhinduka kanseri</a:t>
            </a:r>
          </a:p>
        </p:txBody>
      </p:sp>
      <p:sp>
        <p:nvSpPr>
          <p:cNvPr id="10" name="Rounded Rectangle 9"/>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Butera ububabare ako kanya</a:t>
            </a:r>
          </a:p>
        </p:txBody>
      </p:sp>
      <p:sp>
        <p:nvSpPr>
          <p:cNvPr id="7" name="Rounded Rectangle 6"/>
          <p:cNvSpPr/>
          <p:nvPr/>
        </p:nvSpPr>
        <p:spPr>
          <a:xfrm>
            <a:off x="566928" y="318211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Umubiri urabukuraho nta ngaruka</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Bushobora kubonekera ku ruhu</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Ubwandu bwinshi bukurwaho n'umubiri mu gihe cy'umwaka umwe cyangwa ibiri. Ubwandu bumara imyaka myinshi gusa ni bwo bushobora guhindura buhoro buhoro uturemangingo tw'inkondo y'umura, kandi n'icyo gihe isuzuma rishobora kububona.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144</a:t>
            </a:r>
          </a:p>
        </p:txBody>
      </p:sp>
      <p:sp>
        <p:nvSpPr>
          <p:cNvPr id="9" name="TextBox 8"/>
          <p:cNvSpPr txBox="1"/>
          <p:nvPr/>
        </p:nvSpPr>
        <p:spPr>
          <a:xfrm>
            <a:off x="11094689" y="329183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4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Umubyeyi w'umugore avuga ko kubera ko umukobwa we yahawe urukingo rwa HPV atazigera akenera isuzuma. Umubwira iki?</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Afite ukuri</a:t>
            </a:r>
          </a:p>
        </p:txBody>
      </p:sp>
      <p:sp>
        <p:nvSpPr>
          <p:cNvPr id="10" name="Rounded Rectangle 9"/>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Urukingo nta cyo rumaze</a:t>
            </a:r>
          </a:p>
        </p:txBody>
      </p:sp>
      <p:sp>
        <p:nvSpPr>
          <p:cNvPr id="7" name="Rounded Rectangle 6"/>
          <p:cNvSpPr/>
          <p:nvPr/>
        </p:nvSpPr>
        <p:spPr>
          <a:xfrm>
            <a:off x="566928" y="349300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Urukingo rutanga uburinzi bukomeye, kandi umukobwa we azakomeza kwitabira isuzuma akuze</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Isuzuma risimbura urukingo</a:t>
            </a:r>
          </a:p>
        </p:txBody>
      </p:sp>
      <p:sp>
        <p:nvSpPr>
          <p:cNvPr id="14" name="Rounded Rectangle 13"/>
          <p:cNvSpPr/>
          <p:nvPr/>
        </p:nvSpPr>
        <p:spPr>
          <a:xfrm>
            <a:off x="566928" y="469087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Urukingo rurinda ubwandu bw'amoko y'ingenzi ya HPV atera kanseri. Isuzuma rigaragaza impinduka zose zishobora kubaho. Birinda mu buryo butandukanye kandi byombi birakenewe.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145</a:t>
            </a:r>
          </a:p>
        </p:txBody>
      </p:sp>
      <p:sp>
        <p:nvSpPr>
          <p:cNvPr id="9" name="TextBox 8"/>
          <p:cNvSpPr txBox="1"/>
          <p:nvPr/>
        </p:nvSpPr>
        <p:spPr>
          <a:xfrm>
            <a:off x="11094689" y="360273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5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Igisubizo cy'isuzuma ry'umugore cyagaragaje ubwandu. Ibi bisobanura iki?</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Afite kanseri</a:t>
            </a:r>
          </a:p>
        </p:txBody>
      </p:sp>
      <p:sp>
        <p:nvSpPr>
          <p:cNvPr id="12" name="Rounded Rectangle 11"/>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64261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Ikizamini kigomba gusubirirwamo mu rugo</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Nta kintu na kimwe gikeneye gukorwa</a:t>
            </a:r>
          </a:p>
        </p:txBody>
      </p:sp>
      <p:sp>
        <p:nvSpPr>
          <p:cNvPr id="7" name="Rounded Rectangle 6"/>
          <p:cNvSpPr/>
          <p:nvPr/>
        </p:nvSpPr>
        <p:spPr>
          <a:xfrm>
            <a:off x="566928" y="377647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Habonetse impinduka, kandi akeneye intambwe ikurikira mu kwitabwaho kwe</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D</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Igisubizo kigaragaza ubwandu kigaragaza umugore ukeneye intambwe ikurikira. Si icyemezo cya kanseri. Kubivuga mu buryo bweruye ni byo bimurinda gukuka umutima kandi bigatuma agaruka.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146</a:t>
            </a:r>
          </a:p>
        </p:txBody>
      </p:sp>
      <p:sp>
        <p:nvSpPr>
          <p:cNvPr id="9" name="TextBox 8"/>
          <p:cNvSpPr txBox="1"/>
          <p:nvPr/>
        </p:nvSpPr>
        <p:spPr>
          <a:xfrm>
            <a:off x="11094689" y="388619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6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Ni ikihe muri ibi gikeneye kwitabwaho uwo munsi?</a:t>
            </a:r>
          </a:p>
        </p:txBody>
      </p:sp>
      <p:sp>
        <p:nvSpPr>
          <p:cNvPr id="7" name="Rounded Rectangle 6"/>
          <p:cNvSpPr/>
          <p:nvPr/>
        </p:nvSpPr>
        <p:spPr>
          <a:xfrm>
            <a:off x="566928" y="199339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Kuva amaraso menshi ku mugore ufite isereri kandi udashobora guhagarara</a:t>
            </a:r>
          </a:p>
        </p:txBody>
      </p:sp>
      <p:sp>
        <p:nvSpPr>
          <p:cNvPr id="5" name="Rounded Rectangle 4"/>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Gahunda y'isuzuma risanzwe ukwezi gutaha</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Kurwara umutwe byoroheje</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Ikibazo ku rukingo rwa HPV</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Kuva amaraso menshi hamwe n'isereri n'intege nke ni ibintu byihutirwa uko impamvu yaba iri kose. Akeneye kugera ku ivuriro uyu munsi, kandi ntagomba kugenda wenyine.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147</a:t>
            </a:r>
          </a:p>
        </p:txBody>
      </p:sp>
      <p:sp>
        <p:nvSpPr>
          <p:cNvPr id="9" name="TextBox 8"/>
          <p:cNvSpPr txBox="1"/>
          <p:nvPr/>
        </p:nvSpPr>
        <p:spPr>
          <a:xfrm>
            <a:off x="11094689" y="210311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7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w'imyaka 60 wacuze kera avuga ko yavuye amaraso make kabiri uku kwezi. Hakwiye gukorwa iki?</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Nta kintu, kuko ari make</a:t>
            </a:r>
          </a:p>
        </p:txBody>
      </p:sp>
      <p:sp>
        <p:nvSpPr>
          <p:cNvPr id="7" name="Rounded Rectangle 6"/>
          <p:cNvSpPr/>
          <p:nvPr/>
        </p:nvSpPr>
        <p:spPr>
          <a:xfrm>
            <a:off x="566928" y="289864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Agomba gusuzumirwa ku ivuriro vuba</a:t>
            </a:r>
          </a:p>
        </p:txBody>
      </p:sp>
      <p:sp>
        <p:nvSpPr>
          <p:cNvPr id="10" name="Rounded Rectangle 9"/>
          <p:cNvSpPr/>
          <p:nvPr/>
        </p:nvSpPr>
        <p:spPr>
          <a:xfrm>
            <a:off x="566928" y="349300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Agomba gutegereza amezi atandatu</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Agomba kubwirwa ko afite kanseri</a:t>
            </a:r>
          </a:p>
        </p:txBody>
      </p:sp>
      <p:sp>
        <p:nvSpPr>
          <p:cNvPr id="14" name="Rounded Rectangle 13"/>
          <p:cNvSpPr/>
          <p:nvPr/>
        </p:nvSpPr>
        <p:spPr>
          <a:xfrm>
            <a:off x="566928" y="469087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Kuva amaraso nyuma yo gucura buri gihe bikenera gusuzumwa, n'iyo byaba ari bike gute. Bifite impamvu nyinshi zishoboka kandi ntibyemeza kanseri, ariko ntibigomba na rimwe kurekwa bidasuzumwe.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148</a:t>
            </a:r>
          </a:p>
        </p:txBody>
      </p:sp>
      <p:sp>
        <p:nvSpPr>
          <p:cNvPr id="9" name="TextBox 8"/>
          <p:cNvSpPr txBox="1"/>
          <p:nvPr/>
        </p:nvSpPr>
        <p:spPr>
          <a:xfrm>
            <a:off x="11094689" y="300837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8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avuga ko igisubizo cye cya HPV kigaragaza ubwandu cyerekana ko umugabo we yamuciye inyuma. Ni iki cy'ukuri?</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Afite ukuri</a:t>
            </a:r>
          </a:p>
        </p:txBody>
      </p:sp>
      <p:sp>
        <p:nvSpPr>
          <p:cNvPr id="10" name="Rounded Rectangle 9"/>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95351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Igisubizo gishobora kuba cyibeshye</a:t>
            </a:r>
          </a:p>
        </p:txBody>
      </p:sp>
      <p:sp>
        <p:nvSpPr>
          <p:cNvPr id="7" name="Rounded Rectangle 6"/>
          <p:cNvSpPr/>
          <p:nvPr/>
        </p:nvSpPr>
        <p:spPr>
          <a:xfrm>
            <a:off x="566928" y="3493008"/>
            <a:ext cx="11058113" cy="76809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547872"/>
            <a:ext cx="10006553" cy="65836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HPV irasanzwe kandi ishobora kumara imyaka myinshi yihishe, bityo igisubizo nta cyo kivuga ku myitwarire y'umuntu uwo ari we wese</a:t>
            </a:r>
          </a:p>
        </p:txBody>
      </p:sp>
      <p:sp>
        <p:nvSpPr>
          <p:cNvPr id="12" name="Rounded Rectangle 11"/>
          <p:cNvSpPr/>
          <p:nvPr/>
        </p:nvSpPr>
        <p:spPr>
          <a:xfrm>
            <a:off x="566928" y="43616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4165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Ntagomba kubwirwa igisubizo cye</a:t>
            </a:r>
          </a:p>
        </p:txBody>
      </p:sp>
      <p:sp>
        <p:nvSpPr>
          <p:cNvPr id="14" name="Rounded Rectangle 13"/>
          <p:cNvSpPr/>
          <p:nvPr/>
        </p:nvSpPr>
        <p:spPr>
          <a:xfrm>
            <a:off x="566928" y="496519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509320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Gushinja bituma abagore bahunga ubuvuzi kandi bigasenya imiryango. Virusi ishobora kumara imyaka myinshi yihishe, bityo nta gisubizo gishobora kuvuga igihe cyangwa uwo ubwandu bwaturutseho.</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149</a:t>
            </a:r>
          </a:p>
        </p:txBody>
      </p:sp>
      <p:sp>
        <p:nvSpPr>
          <p:cNvPr id="9" name="TextBox 8"/>
          <p:cNvSpPr txBox="1"/>
          <p:nvPr/>
        </p:nvSpPr>
        <p:spPr>
          <a:xfrm>
            <a:off x="11094689" y="373989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9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Kuvura impinduka z'inkondo y'umura bikubiyemo iki?</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Gukuramo nyababyeyi</a:t>
            </a:r>
          </a:p>
        </p:txBody>
      </p:sp>
      <p:sp>
        <p:nvSpPr>
          <p:cNvPr id="7" name="Rounded Rectangle 6"/>
          <p:cNvSpPr/>
          <p:nvPr/>
        </p:nvSpPr>
        <p:spPr>
          <a:xfrm>
            <a:off x="566928" y="258775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Igikorwa kigufi kivura igice cyahindutse kigasiga nyababyeyi</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Imiti ya kanseri mu mezi menshi</a:t>
            </a:r>
          </a:p>
        </p:txBody>
      </p:sp>
      <p:sp>
        <p:nvSpPr>
          <p:cNvPr id="12" name="Rounded Rectangle 11"/>
          <p:cNvSpPr/>
          <p:nvPr/>
        </p:nvSpPr>
        <p:spPr>
          <a:xfrm>
            <a:off x="566928" y="3776472"/>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Nta buvuzi na busa</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Kuvura impinduka y'inkondo y'umura ni igikorwa kigufi, gisiga nyababyeyi, kandi kirinda kanseri yashoboraga kuyikurikira. Abagore barabyara nyuma y'ubu buvuzi.</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150</a:t>
            </a:r>
          </a:p>
        </p:txBody>
      </p:sp>
      <p:sp>
        <p:nvSpPr>
          <p:cNvPr id="9" name="TextBox 8"/>
          <p:cNvSpPr txBox="1"/>
          <p:nvPr/>
        </p:nvSpPr>
        <p:spPr>
          <a:xfrm>
            <a:off x="11094689" y="269747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10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Kanseri y'inkondo y'umura yemezwa ite bwa nyuma?</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Hakoreshejwe isuzuma ryonyine</a:t>
            </a:r>
          </a:p>
        </p:txBody>
      </p:sp>
      <p:sp>
        <p:nvSpPr>
          <p:cNvPr id="7" name="Rounded Rectangle 6"/>
          <p:cNvSpPr/>
          <p:nvPr/>
        </p:nvSpPr>
        <p:spPr>
          <a:xfrm>
            <a:off x="566928" y="258775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Laboratwari isuzuma agace gato k'inyama</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Hakoreshejwe ibimenyetso gusa</a:t>
            </a:r>
          </a:p>
        </p:txBody>
      </p:sp>
      <p:sp>
        <p:nvSpPr>
          <p:cNvPr id="12" name="Rounded Rectangle 11"/>
          <p:cNvSpPr/>
          <p:nvPr/>
        </p:nvSpPr>
        <p:spPr>
          <a:xfrm>
            <a:off x="566928" y="3776472"/>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Hakoreshejwe ikizamini kimwe cy'amaraso</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Isuzuma n'ibimenyetso bitera gukeka. Laboratwari isuzuma agace k'inyama ni yo yonyine itanga igisubizo, ari na yo mpamvu umugore agomba kurangiza gusura ivuriro yoherejweho.</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151</a:t>
            </a:r>
          </a:p>
        </p:txBody>
      </p:sp>
      <p:sp>
        <p:nvSpPr>
          <p:cNvPr id="9" name="TextBox 8"/>
          <p:cNvSpPr txBox="1"/>
          <p:nvPr/>
        </p:nvSpPr>
        <p:spPr>
          <a:xfrm>
            <a:off x="11094689" y="269747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11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800" b="1" i="0" dirty="0">
                <a:solidFill>
                  <a:srgbClr val="0F1C2E"/>
                </a:solidFill>
                <a:latin typeface="Calibri"/>
              </a:rPr>
              <a:t>Kuki abagore babiri barwaye kanseri y'inkondo y'umura bahabwa ubuvuzi butandukanye?</a:t>
            </a:r>
          </a:p>
        </p:txBody>
      </p:sp>
      <p:sp>
        <p:nvSpPr>
          <p:cNvPr id="7" name="Rounded Rectangle 6"/>
          <p:cNvSpPr/>
          <p:nvPr/>
        </p:nvSpPr>
        <p:spPr>
          <a:xfrm>
            <a:off x="566928" y="199339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Kubera ko ubuvuzi bushingira ku rwego indwara igezeho ikura no ku uko buri mugore ahagaze</a:t>
            </a:r>
          </a:p>
        </p:txBody>
      </p:sp>
      <p:sp>
        <p:nvSpPr>
          <p:cNvPr id="5" name="Rounded Rectangle 4"/>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Kubera ko abakozi b'ubuzima batavuga rumwe</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Kubera aho batuye</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Kubera ko abagore bakuze batigera bavurwa</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Itsinda ry'inzobere rifata icyemezo nyuma y'uko ibizamini birangiye. Kubisobanura birinda imyumvire mibi ko umugore umwe ahabwa ubuvuzi bwiza kurusha undi.</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152</a:t>
            </a:r>
          </a:p>
        </p:txBody>
      </p:sp>
      <p:sp>
        <p:nvSpPr>
          <p:cNvPr id="9" name="TextBox 8"/>
          <p:cNvSpPr txBox="1"/>
          <p:nvPr/>
        </p:nvSpPr>
        <p:spPr>
          <a:xfrm>
            <a:off x="11094689" y="210311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12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400" b="1" i="0" dirty="0">
                <a:solidFill>
                  <a:srgbClr val="0F1C2E"/>
                </a:solidFill>
                <a:latin typeface="Calibri"/>
              </a:rPr>
              <a:t>Ni ikihe kintu gifite akamaro kurusha ibindi umujyanama w'ubuzima ashobora gukora nyuma yo kohereza umugore?</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Kubitangaza mu nama ikurikira y'abaturage</a:t>
            </a:r>
          </a:p>
        </p:txBody>
      </p:sp>
      <p:sp>
        <p:nvSpPr>
          <p:cNvPr id="10" name="Rounded Rectangle 9"/>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64261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Kubwira umuryango we igisubizo</a:t>
            </a:r>
          </a:p>
        </p:txBody>
      </p:sp>
      <p:sp>
        <p:nvSpPr>
          <p:cNvPr id="7" name="Rounded Rectangle 6"/>
          <p:cNvSpPr/>
          <p:nvPr/>
        </p:nvSpPr>
        <p:spPr>
          <a:xfrm>
            <a:off x="566928" y="318211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Kubaza icyamubuza kugenda, gukemura ibishobora gukemuka, no kongera kumubaza amakuru nyuma</a:t>
            </a:r>
          </a:p>
        </p:txBody>
      </p:sp>
      <p:sp>
        <p:nvSpPr>
          <p:cNvPr id="12" name="Rounded Rectangle 11"/>
          <p:cNvSpPr/>
          <p:nvPr/>
        </p:nvSpPr>
        <p:spPr>
          <a:xfrm>
            <a:off x="566928" y="377647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383133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Nta kindi</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Kohereza bifasha gusa iyo gusura ivuriro bibaye. Kuvuga imbogamizi, kuyikemura, no kongera kumubaza amakuru ni cyo gice cy'akazi gifatika, kandi ntibica ibanga rye.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153</a:t>
            </a:r>
          </a:p>
        </p:txBody>
      </p:sp>
      <p:sp>
        <p:nvSpPr>
          <p:cNvPr id="9" name="TextBox 8"/>
          <p:cNvSpPr txBox="1"/>
          <p:nvPr/>
        </p:nvSpPr>
        <p:spPr>
          <a:xfrm>
            <a:off x="11094689" y="329183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13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akubwiye igisubizo cye mu ibanga. Ukwiye gukora iki kuri ayo makuru?</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Kuyabwira abaturanyi bashobora gufasha</a:t>
            </a:r>
          </a:p>
        </p:txBody>
      </p:sp>
      <p:sp>
        <p:nvSpPr>
          <p:cNvPr id="12" name="Rounded Rectangle 11"/>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64261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Kuyabwira umuntu wese uyabajije</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Kuyavuga mu nama y'abaturage nk'urugero</a:t>
            </a:r>
          </a:p>
        </p:txBody>
      </p:sp>
      <p:sp>
        <p:nvSpPr>
          <p:cNvPr id="7" name="Rounded Rectangle 6"/>
          <p:cNvSpPr/>
          <p:nvPr/>
        </p:nvSpPr>
        <p:spPr>
          <a:xfrm>
            <a:off x="566928" y="377647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550" b="1" i="0" dirty="0">
                <a:solidFill>
                  <a:srgbClr val="1F4E96"/>
                </a:solidFill>
                <a:latin typeface="Calibri"/>
              </a:rPr>
              <a:t>D   </a:t>
            </a:r>
            <a:r>
              <a:rPr lang="en-GB" sz="1550" b="0" i="0" dirty="0">
                <a:solidFill>
                  <a:srgbClr val="1A1A1A"/>
                </a:solidFill>
                <a:latin typeface="Calibri"/>
              </a:rPr>
              <a:t>Kuyagira ibanga, ukayatanga gusa nk'uko inshingano zawe zo gutanga raporo zibisaba</a:t>
            </a:r>
          </a:p>
        </p:txBody>
      </p:sp>
      <p:sp>
        <p:nvSpPr>
          <p:cNvPr id="14" name="Rounded Rectangle 13"/>
          <p:cNvSpPr/>
          <p:nvPr/>
        </p:nvSpPr>
        <p:spPr>
          <a:xfrm>
            <a:off x="566928" y="4379976"/>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D</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Ibyo akubwira ni ibye. Kubisubiramo bikwirakwiza ipfunwe kandi bitoza abandi bagore kuguhisha ibimenyetso byabo, kandi ibyo ni ukunyuranya n'icyo akazi kawe gakeneye.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154</a:t>
            </a:r>
          </a:p>
        </p:txBody>
      </p:sp>
      <p:sp>
        <p:nvSpPr>
          <p:cNvPr id="9" name="TextBox 8"/>
          <p:cNvSpPr txBox="1"/>
          <p:nvPr/>
        </p:nvSpPr>
        <p:spPr>
          <a:xfrm>
            <a:off x="11094689" y="388619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14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Umuntu avuga ko nta cyakorwa kuri kanseri y'inkondo y'umura, bityo ari byiza kutareba. Ni iki cy'ukuri?</a:t>
            </a:r>
          </a:p>
        </p:txBody>
      </p:sp>
      <p:sp>
        <p:nvSpPr>
          <p:cNvPr id="7" name="Rounded Rectangle 6"/>
          <p:cNvSpPr/>
          <p:nvPr/>
        </p:nvSpPr>
        <p:spPr>
          <a:xfrm>
            <a:off x="566928" y="2304288"/>
            <a:ext cx="11058113" cy="76809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359152"/>
            <a:ext cx="10006553" cy="658368"/>
          </a:xfrm>
          <a:prstGeom prst="rect">
            <a:avLst/>
          </a:prstGeom>
          <a:noFill/>
        </p:spPr>
        <p:txBody>
          <a:bodyPr wrap="square" lIns="0" tIns="0" rIns="0" bIns="0" anchor="ctr">
            <a:spAutoFit/>
          </a:bodyPr>
          <a:lstStyle/>
          <a:p>
            <a:pPr>
              <a:lnSpc>
                <a:spcPct val="108000"/>
              </a:lnSpc>
            </a:pPr>
            <a:r>
              <a:rPr lang="en-GB" sz="1750" b="1" i="0" dirty="0">
                <a:solidFill>
                  <a:srgbClr val="1F4E96"/>
                </a:solidFill>
                <a:latin typeface="Calibri"/>
              </a:rPr>
              <a:t>A   </a:t>
            </a:r>
            <a:r>
              <a:rPr lang="en-GB" sz="1750" b="0" i="0" dirty="0">
                <a:solidFill>
                  <a:srgbClr val="1A1A1A"/>
                </a:solidFill>
                <a:latin typeface="Calibri"/>
              </a:rPr>
              <a:t>Ubuvuzi burahari, umusaruro uba mwiza cyane iyo ibonetse hakiri kare, kandi isuzuma akenshi rigaragaza impinduka kera mbere ya kanseri iyo ari yo yose</a:t>
            </a:r>
          </a:p>
        </p:txBody>
      </p:sp>
      <p:sp>
        <p:nvSpPr>
          <p:cNvPr id="5" name="Rounded Rectangle 4"/>
          <p:cNvSpPr/>
          <p:nvPr/>
        </p:nvSpPr>
        <p:spPr>
          <a:xfrm>
            <a:off x="566928" y="31729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322783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Ni ukuri</a:t>
            </a:r>
          </a:p>
        </p:txBody>
      </p:sp>
      <p:sp>
        <p:nvSpPr>
          <p:cNvPr id="10" name="Rounded Rectangle 9"/>
          <p:cNvSpPr/>
          <p:nvPr/>
        </p:nvSpPr>
        <p:spPr>
          <a:xfrm>
            <a:off x="566928" y="376732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82219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Abakire gusa ni bo bashobora kuvurwa</a:t>
            </a:r>
          </a:p>
        </p:txBody>
      </p:sp>
      <p:sp>
        <p:nvSpPr>
          <p:cNvPr id="12" name="Rounded Rectangle 11"/>
          <p:cNvSpPr/>
          <p:nvPr/>
        </p:nvSpPr>
        <p:spPr>
          <a:xfrm>
            <a:off x="566928" y="43616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4165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Ni byiza gutegereza ibimenyetso</a:t>
            </a:r>
          </a:p>
        </p:txBody>
      </p:sp>
      <p:sp>
        <p:nvSpPr>
          <p:cNvPr id="14" name="Rounded Rectangle 13"/>
          <p:cNvSpPr/>
          <p:nvPr/>
        </p:nvSpPr>
        <p:spPr>
          <a:xfrm>
            <a:off x="566928" y="496519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509320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Iyi myumvire ituma abagore batitabira kugeza indwara imaze gutera imbere, hanyuma bigatuma iyo myumvire isa n'aho ari ukuri. Isuzuma akenshi rigaragaza impinduka zivurwa, si kanseri.</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155</a:t>
            </a:r>
          </a:p>
        </p:txBody>
      </p:sp>
      <p:sp>
        <p:nvSpPr>
          <p:cNvPr id="9" name="TextBox 8"/>
          <p:cNvSpPr txBox="1"/>
          <p:nvPr/>
        </p:nvSpPr>
        <p:spPr>
          <a:xfrm>
            <a:off x="11094689" y="255117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15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ukiri muto afite ubwoba ko kuvurwa impinduka z'inkondo y'umura bizatuma atabyara. Ni iki cy'ukuri?</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Afite ukuri kandi agomba kwanga</a:t>
            </a:r>
          </a:p>
        </p:txBody>
      </p:sp>
      <p:sp>
        <p:nvSpPr>
          <p:cNvPr id="10" name="Rounded Rectangle 9"/>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Agomba gutegereza imyaka myinshi</a:t>
            </a:r>
          </a:p>
        </p:txBody>
      </p:sp>
      <p:sp>
        <p:nvSpPr>
          <p:cNvPr id="7" name="Rounded Rectangle 6"/>
          <p:cNvSpPr/>
          <p:nvPr/>
        </p:nvSpPr>
        <p:spPr>
          <a:xfrm>
            <a:off x="566928" y="349300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Ubuvuzi busiga nyababyeyi, kandi abagore babyara nyuma yaho</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Nta muntu ushobora gusubiza ibi</a:t>
            </a:r>
          </a:p>
        </p:txBody>
      </p:sp>
      <p:sp>
        <p:nvSpPr>
          <p:cNvPr id="14" name="Rounded Rectangle 13"/>
          <p:cNvSpPr/>
          <p:nvPr/>
        </p:nvSpPr>
        <p:spPr>
          <a:xfrm>
            <a:off x="566928" y="469087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C</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Ubwoba bwo kutabyara ni imwe mu mpamvu nyamukuru zituma abagore batagaruka kuvurwa. Kubusubiza hakiri kare kandi mu buryo busobanutse akenshi ni byo bigena niba azitabira.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156</a:t>
            </a:r>
          </a:p>
        </p:txBody>
      </p:sp>
      <p:sp>
        <p:nvSpPr>
          <p:cNvPr id="9" name="TextBox 8"/>
          <p:cNvSpPr txBox="1"/>
          <p:nvPr/>
        </p:nvSpPr>
        <p:spPr>
          <a:xfrm>
            <a:off x="11094689" y="360273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16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uri kuvurwa kanseri afite umuriro mwinshi kandi amaze kuruka kuva ejo, nta kintu agumana mu nda. Ukora iki?</a:t>
            </a:r>
          </a:p>
        </p:txBody>
      </p:sp>
      <p:sp>
        <p:nvSpPr>
          <p:cNvPr id="7" name="Rounded Rectangle 6"/>
          <p:cNvSpPr/>
          <p:nvPr/>
        </p:nvSpPr>
        <p:spPr>
          <a:xfrm>
            <a:off x="566928" y="230428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Gutegura uko agera ku ivuriro uyu munsi</a:t>
            </a:r>
          </a:p>
        </p:txBody>
      </p:sp>
      <p:sp>
        <p:nvSpPr>
          <p:cNvPr id="5" name="Rounded Rectangle 4"/>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Kumugira inama yo kuruhuka no kumusura icyumweru gitaha</a:t>
            </a:r>
          </a:p>
        </p:txBody>
      </p:sp>
      <p:sp>
        <p:nvSpPr>
          <p:cNvPr id="10" name="Rounded Rectangle 9"/>
          <p:cNvSpPr/>
          <p:nvPr/>
        </p:nvSpPr>
        <p:spPr>
          <a:xfrm>
            <a:off x="566928" y="349300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Kumubwira ko ari ibisanzwe</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Kumugira inama yo guhagarika ubuvuzi</a:t>
            </a:r>
          </a:p>
        </p:txBody>
      </p:sp>
      <p:sp>
        <p:nvSpPr>
          <p:cNvPr id="14" name="Rounded Rectangle 13"/>
          <p:cNvSpPr/>
          <p:nvPr/>
        </p:nvSpPr>
        <p:spPr>
          <a:xfrm>
            <a:off x="566928" y="469087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A</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Umuriro hamwe no kuruka no kutanywa bishobora gutera kubura amazi mu mubiri vuba kandi bishobora kwerekana ubwandu, kandi ibyo birakomeye mu gihe cy'ubuvuzi bwa kanseri. Ibi bikeneye kwitabwaho uwo munsi.</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157</a:t>
            </a:r>
          </a:p>
        </p:txBody>
      </p:sp>
      <p:sp>
        <p:nvSpPr>
          <p:cNvPr id="9" name="TextBox 8"/>
          <p:cNvSpPr txBox="1"/>
          <p:nvPr/>
        </p:nvSpPr>
        <p:spPr>
          <a:xfrm>
            <a:off x="11094689" y="241401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17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Umuryango ubaza niba bashobora kwandura kanseri y'inkondo y'umura kubera kwita ku muvandimwe wabo. Ubabwira iki?</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Bagomba kumwitaza</a:t>
            </a:r>
          </a:p>
        </p:txBody>
      </p:sp>
      <p:sp>
        <p:nvSpPr>
          <p:cNvPr id="12" name="Rounded Rectangle 11"/>
          <p:cNvSpPr/>
          <p:nvPr/>
        </p:nvSpPr>
        <p:spPr>
          <a:xfrm>
            <a:off x="566928" y="289864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95351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Bagomba gukoresha amasahani yabo bwite</a:t>
            </a:r>
          </a:p>
        </p:txBody>
      </p:sp>
      <p:sp>
        <p:nvSpPr>
          <p:cNvPr id="10" name="Rounded Rectangle 9"/>
          <p:cNvSpPr/>
          <p:nvPr/>
        </p:nvSpPr>
        <p:spPr>
          <a:xfrm>
            <a:off x="566928" y="349300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Abana gusa ni bo bafite ibyago</a:t>
            </a:r>
          </a:p>
        </p:txBody>
      </p:sp>
      <p:sp>
        <p:nvSpPr>
          <p:cNvPr id="7" name="Rounded Rectangle 6"/>
          <p:cNvSpPr/>
          <p:nvPr/>
        </p:nvSpPr>
        <p:spPr>
          <a:xfrm>
            <a:off x="566928" y="408736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414223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Kanseri y'inkondo y'umura ntiyandura ivuye ku muntu ijya ku wundi kubera kubana, gusangira cyangwa kwita ku muntu</a:t>
            </a:r>
          </a:p>
        </p:txBody>
      </p:sp>
      <p:sp>
        <p:nvSpPr>
          <p:cNvPr id="14" name="Rounded Rectangle 13"/>
          <p:cNvSpPr/>
          <p:nvPr/>
        </p:nvSpPr>
        <p:spPr>
          <a:xfrm>
            <a:off x="566928" y="469087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D</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Kubivuga mu buryo bweruye bituma umugore adahabwa akato mu gihe akeneye cyane umuryango we. Akato kongera cyane umubabaro kandi nta cyo gihindura ku ndwara.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158</a:t>
            </a:r>
          </a:p>
        </p:txBody>
      </p:sp>
      <p:sp>
        <p:nvSpPr>
          <p:cNvPr id="9" name="TextBox 8"/>
          <p:cNvSpPr txBox="1"/>
          <p:nvPr/>
        </p:nvSpPr>
        <p:spPr>
          <a:xfrm>
            <a:off x="11094689" y="419709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18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Umugore yarangije ubuvuzi mu mezi atatu ashize kandi yumva ameze neza. Akwiye gukora iki ku bijyanye na gahunda ze zo gukurikiranwa?</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Guhagarika kwitabira kuko ubu yumva ameze neza</a:t>
            </a:r>
          </a:p>
        </p:txBody>
      </p:sp>
      <p:sp>
        <p:nvSpPr>
          <p:cNvPr id="7" name="Rounded Rectangle 6"/>
          <p:cNvSpPr/>
          <p:nvPr/>
        </p:nvSpPr>
        <p:spPr>
          <a:xfrm>
            <a:off x="566928" y="2898648"/>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95351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Kuzitabira, kuko gukurikiranwa bigenzura uko akira kandi bikagaragaza ikibazo gishya hakiri kare</a:t>
            </a:r>
          </a:p>
        </p:txBody>
      </p:sp>
      <p:sp>
        <p:nvSpPr>
          <p:cNvPr id="10" name="Rounded Rectangle 9"/>
          <p:cNvSpPr/>
          <p:nvPr/>
        </p:nvSpPr>
        <p:spPr>
          <a:xfrm>
            <a:off x="566928" y="349300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54787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Kwitabira gusa niba ububabare bugarutse</a:t>
            </a:r>
          </a:p>
        </p:txBody>
      </p:sp>
      <p:sp>
        <p:nvSpPr>
          <p:cNvPr id="12" name="Rounded Rectangle 11"/>
          <p:cNvSpPr/>
          <p:nvPr/>
        </p:nvSpPr>
        <p:spPr>
          <a:xfrm>
            <a:off x="566928" y="408736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14223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Kwitabira rimwe mu mwaka atabibwiwe</a:t>
            </a:r>
          </a:p>
        </p:txBody>
      </p:sp>
      <p:sp>
        <p:nvSpPr>
          <p:cNvPr id="14" name="Rounded Rectangle 13"/>
          <p:cNvSpPr/>
          <p:nvPr/>
        </p:nvSpPr>
        <p:spPr>
          <a:xfrm>
            <a:off x="566928" y="469087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81888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Kumva ameze neza ni ibisanzwe nyuma y'ubuvuzi bwagenze neza kandi si impamvu yo guhagarika kwitabira. Gukurikiranwa ni bwo buryo bwo kugenzura uko akira no kubona ikibazo gishya hakiri kare.</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159</a:t>
            </a:r>
          </a:p>
        </p:txBody>
      </p:sp>
      <p:sp>
        <p:nvSpPr>
          <p:cNvPr id="9" name="TextBox 8"/>
          <p:cNvSpPr txBox="1"/>
          <p:nvPr/>
        </p:nvSpPr>
        <p:spPr>
          <a:xfrm>
            <a:off x="11094689" y="300837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19 muri 20</a:t>
            </a:r>
          </a:p>
        </p:txBody>
      </p:sp>
      <p:sp>
        <p:nvSpPr>
          <p:cNvPr id="4" name="TextBox 3"/>
          <p:cNvSpPr txBox="1"/>
          <p:nvPr/>
        </p:nvSpPr>
        <p:spPr>
          <a:xfrm>
            <a:off x="566928" y="1517904"/>
            <a:ext cx="11058113" cy="73152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Kuki isuzuma rivugwa ko ririnda kanseri y'inkondo y'umura, aho kuvuga gusa ko riyibona hakiri kare?</a:t>
            </a:r>
          </a:p>
        </p:txBody>
      </p:sp>
      <p:sp>
        <p:nvSpPr>
          <p:cNvPr id="5" name="Rounded Rectangle 4"/>
          <p:cNvSpPr/>
          <p:nvPr/>
        </p:nvSpPr>
        <p:spPr>
          <a:xfrm>
            <a:off x="566928" y="23042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3591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Kubera ko rikiza kanseri mu gihe cyo gusura ivuriro</a:t>
            </a:r>
          </a:p>
        </p:txBody>
      </p:sp>
      <p:sp>
        <p:nvSpPr>
          <p:cNvPr id="7" name="Rounded Rectangle 6"/>
          <p:cNvSpPr/>
          <p:nvPr/>
        </p:nvSpPr>
        <p:spPr>
          <a:xfrm>
            <a:off x="566928" y="2898648"/>
            <a:ext cx="11058113" cy="76809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2953512"/>
            <a:ext cx="10006553" cy="65836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Kubera ko rigaragaza impinduka mbere y'uko habaho kanseri, kandi kuzivura bisobanura ko kanseri itazigera iza</a:t>
            </a:r>
          </a:p>
        </p:txBody>
      </p:sp>
      <p:sp>
        <p:nvSpPr>
          <p:cNvPr id="10" name="Rounded Rectangle 9"/>
          <p:cNvSpPr/>
          <p:nvPr/>
        </p:nvSpPr>
        <p:spPr>
          <a:xfrm>
            <a:off x="566928" y="376732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822191"/>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Kubera ko risimbura urukingo</a:t>
            </a:r>
          </a:p>
        </p:txBody>
      </p:sp>
      <p:sp>
        <p:nvSpPr>
          <p:cNvPr id="12" name="Rounded Rectangle 11"/>
          <p:cNvSpPr/>
          <p:nvPr/>
        </p:nvSpPr>
        <p:spPr>
          <a:xfrm>
            <a:off x="566928" y="4361688"/>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4416552"/>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Kubera ko rikuraho gukenera gukurikiranwa</a:t>
            </a:r>
          </a:p>
        </p:txBody>
      </p:sp>
      <p:sp>
        <p:nvSpPr>
          <p:cNvPr id="14" name="Rounded Rectangle 13"/>
          <p:cNvSpPr/>
          <p:nvPr/>
        </p:nvSpPr>
        <p:spPr>
          <a:xfrm>
            <a:off x="566928" y="4965192"/>
            <a:ext cx="11058113" cy="107899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5093208"/>
            <a:ext cx="10546049" cy="822959"/>
          </a:xfrm>
          <a:prstGeom prst="rect">
            <a:avLst/>
          </a:prstGeom>
          <a:noFill/>
        </p:spPr>
        <p:txBody>
          <a:bodyPr wrap="square" lIns="0" tIns="0" rIns="0" bIns="0">
            <a:spAutoFit/>
          </a:bodyPr>
          <a:lstStyle/>
          <a:p>
            <a:pPr>
              <a:lnSpc>
                <a:spcPct val="110000"/>
              </a:lnSpc>
              <a:spcAft>
                <a:spcPts val="100"/>
              </a:spcAft>
            </a:pPr>
            <a:r>
              <a:rPr lang="en-GB" sz="1800" b="1" i="0" dirty="0">
                <a:solidFill>
                  <a:srgbClr val="1C6B3F"/>
                </a:solidFill>
                <a:latin typeface="Calibri"/>
              </a:rPr>
              <a:t>Igisubizo cy'ukuri: B</a:t>
            </a:r>
          </a:p>
          <a:p>
            <a:pPr>
              <a:lnSpc>
                <a:spcPct val="110000"/>
              </a:lnSpc>
              <a:spcAft>
                <a:spcPts val="100"/>
              </a:spcAft>
            </a:pPr>
            <a:r>
              <a:rPr lang="en-GB" sz="1800" b="1" i="0" dirty="0">
                <a:solidFill>
                  <a:srgbClr val="1C6B3F"/>
                </a:solidFill>
                <a:latin typeface="Calibri"/>
              </a:rPr>
              <a:t>Inyunganizi: </a:t>
            </a:r>
            <a:r>
              <a:rPr lang="en-GB" sz="1800" b="0" i="0" dirty="0">
                <a:solidFill>
                  <a:srgbClr val="1A1A1A"/>
                </a:solidFill>
                <a:latin typeface="Calibri"/>
              </a:rPr>
              <a:t>Uyu ni wo mutima w'ubutumwa. Isuzuma rikora ibirenze kubona indwara vuba. Rigaragaza impinduka zishobora kuvurwa ku buryo nta kanseri izigera ibaho.</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160</a:t>
            </a:r>
          </a:p>
        </p:txBody>
      </p:sp>
      <p:sp>
        <p:nvSpPr>
          <p:cNvPr id="9" name="TextBox 8"/>
          <p:cNvSpPr txBox="1"/>
          <p:nvPr/>
        </p:nvSpPr>
        <p:spPr>
          <a:xfrm>
            <a:off x="11094689" y="3145536"/>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S U Z U M A   R I S O Z A</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Isuzuma risoza: ikibazo cya 20 muri 20</a:t>
            </a:r>
          </a:p>
        </p:txBody>
      </p:sp>
      <p:sp>
        <p:nvSpPr>
          <p:cNvPr id="4" name="TextBox 3"/>
          <p:cNvSpPr txBox="1"/>
          <p:nvPr/>
        </p:nvSpPr>
        <p:spPr>
          <a:xfrm>
            <a:off x="566928" y="1517904"/>
            <a:ext cx="11058113" cy="365760"/>
          </a:xfrm>
          <a:prstGeom prst="rect">
            <a:avLst/>
          </a:prstGeom>
          <a:noFill/>
        </p:spPr>
        <p:txBody>
          <a:bodyPr wrap="square" lIns="0" tIns="0" rIns="0" bIns="0">
            <a:spAutoFit/>
          </a:bodyPr>
          <a:lstStyle/>
          <a:p>
            <a:pPr>
              <a:lnSpc>
                <a:spcPct val="112000"/>
              </a:lnSpc>
            </a:pPr>
            <a:r>
              <a:rPr lang="en-GB" sz="1900" b="1" i="0" dirty="0">
                <a:solidFill>
                  <a:srgbClr val="0F1C2E"/>
                </a:solidFill>
                <a:latin typeface="Calibri"/>
              </a:rPr>
              <a:t>Ni ikihe muri ibi kiri hanze y'inshingano z'umujyanama w'ubuzima?</a:t>
            </a:r>
          </a:p>
        </p:txBody>
      </p:sp>
      <p:sp>
        <p:nvSpPr>
          <p:cNvPr id="5" name="Rounded Rectangle 4"/>
          <p:cNvSpPr/>
          <p:nvPr/>
        </p:nvSpPr>
        <p:spPr>
          <a:xfrm>
            <a:off x="566928" y="199339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6" name="TextBox 5"/>
          <p:cNvSpPr txBox="1"/>
          <p:nvPr/>
        </p:nvSpPr>
        <p:spPr>
          <a:xfrm>
            <a:off x="841247" y="204825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A   </a:t>
            </a:r>
            <a:r>
              <a:rPr lang="en-GB" sz="1800" b="0" i="0" dirty="0">
                <a:solidFill>
                  <a:srgbClr val="1A1A1A"/>
                </a:solidFill>
                <a:latin typeface="Calibri"/>
              </a:rPr>
              <a:t>Gushishikariza isuzuma no gukingira</a:t>
            </a:r>
          </a:p>
        </p:txBody>
      </p:sp>
      <p:sp>
        <p:nvSpPr>
          <p:cNvPr id="12" name="Rounded Rectangle 11"/>
          <p:cNvSpPr/>
          <p:nvPr/>
        </p:nvSpPr>
        <p:spPr>
          <a:xfrm>
            <a:off x="566928" y="258775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3" name="TextBox 12"/>
          <p:cNvSpPr txBox="1"/>
          <p:nvPr/>
        </p:nvSpPr>
        <p:spPr>
          <a:xfrm>
            <a:off x="841247" y="2642614"/>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B   </a:t>
            </a:r>
            <a:r>
              <a:rPr lang="en-GB" sz="1800" b="0" i="0" dirty="0">
                <a:solidFill>
                  <a:srgbClr val="1A1A1A"/>
                </a:solidFill>
                <a:latin typeface="Calibri"/>
              </a:rPr>
              <a:t>Gufasha umugore kurangiza gukurikiranwa kwe</a:t>
            </a:r>
          </a:p>
        </p:txBody>
      </p:sp>
      <p:sp>
        <p:nvSpPr>
          <p:cNvPr id="10" name="Rounded Rectangle 9"/>
          <p:cNvSpPr/>
          <p:nvPr/>
        </p:nvSpPr>
        <p:spPr>
          <a:xfrm>
            <a:off x="566928" y="3182111"/>
            <a:ext cx="11058113" cy="493776"/>
          </a:xfrm>
          <a:prstGeom prst="roundRect">
            <a:avLst>
              <a:gd name="adj" fmla="val 4500"/>
            </a:avLst>
          </a:prstGeom>
          <a:solidFill>
            <a:srgbClr val="F3F6FB"/>
          </a:solidFill>
          <a:ln w="12700">
            <a:solidFill>
              <a:srgbClr val="E0E3EA"/>
            </a:solidFill>
          </a:ln>
          <a:effectLst/>
        </p:spPr>
        <p:txBody>
          <a:bodyPr wrap="square" rtlCol="0" anchor="ctr"/>
          <a:lstStyle/>
          <a:p>
            <a:pPr algn="ctr"/>
            <a:endParaRPr lang="en-GB" dirty="0"/>
          </a:p>
        </p:txBody>
      </p:sp>
      <p:sp>
        <p:nvSpPr>
          <p:cNvPr id="11" name="TextBox 10"/>
          <p:cNvSpPr txBox="1"/>
          <p:nvPr/>
        </p:nvSpPr>
        <p:spPr>
          <a:xfrm>
            <a:off x="841247" y="323697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C   </a:t>
            </a:r>
            <a:r>
              <a:rPr lang="en-GB" sz="1800" b="0" i="0" dirty="0">
                <a:solidFill>
                  <a:srgbClr val="1A1A1A"/>
                </a:solidFill>
                <a:latin typeface="Calibri"/>
              </a:rPr>
              <a:t>Kumenya ibimenyetso mpuruza no gutegura kohereza</a:t>
            </a:r>
          </a:p>
        </p:txBody>
      </p:sp>
      <p:sp>
        <p:nvSpPr>
          <p:cNvPr id="7" name="Rounded Rectangle 6"/>
          <p:cNvSpPr/>
          <p:nvPr/>
        </p:nvSpPr>
        <p:spPr>
          <a:xfrm>
            <a:off x="566928" y="3776471"/>
            <a:ext cx="11058113" cy="493776"/>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8" name="TextBox 7"/>
          <p:cNvSpPr txBox="1"/>
          <p:nvPr/>
        </p:nvSpPr>
        <p:spPr>
          <a:xfrm>
            <a:off x="841247" y="3831335"/>
            <a:ext cx="10006553" cy="384048"/>
          </a:xfrm>
          <a:prstGeom prst="rect">
            <a:avLst/>
          </a:prstGeom>
          <a:noFill/>
        </p:spPr>
        <p:txBody>
          <a:bodyPr wrap="square" lIns="0" tIns="0" rIns="0" bIns="0" anchor="ctr">
            <a:spAutoFit/>
          </a:bodyPr>
          <a:lstStyle/>
          <a:p>
            <a:pPr>
              <a:lnSpc>
                <a:spcPct val="108000"/>
              </a:lnSpc>
            </a:pPr>
            <a:r>
              <a:rPr lang="en-GB" sz="1800" b="1" i="0" dirty="0">
                <a:solidFill>
                  <a:srgbClr val="1F4E96"/>
                </a:solidFill>
                <a:latin typeface="Calibri"/>
              </a:rPr>
              <a:t>D   </a:t>
            </a:r>
            <a:r>
              <a:rPr lang="en-GB" sz="1800" b="0" i="0" dirty="0">
                <a:solidFill>
                  <a:srgbClr val="1A1A1A"/>
                </a:solidFill>
                <a:latin typeface="Calibri"/>
              </a:rPr>
              <a:t>Kubwira umugore niba afite kanseri</a:t>
            </a:r>
          </a:p>
        </p:txBody>
      </p:sp>
      <p:sp>
        <p:nvSpPr>
          <p:cNvPr id="14" name="Rounded Rectangle 13"/>
          <p:cNvSpPr/>
          <p:nvPr/>
        </p:nvSpPr>
        <p:spPr>
          <a:xfrm>
            <a:off x="566928" y="4379976"/>
            <a:ext cx="11058113" cy="1353312"/>
          </a:xfrm>
          <a:prstGeom prst="roundRect">
            <a:avLst>
              <a:gd name="adj" fmla="val 4500"/>
            </a:avLst>
          </a:prstGeom>
          <a:solidFill>
            <a:srgbClr val="EAF7F0"/>
          </a:solidFill>
          <a:ln w="12700">
            <a:solidFill>
              <a:srgbClr val="C7E6D5"/>
            </a:solidFill>
          </a:ln>
          <a:effectLst/>
        </p:spPr>
        <p:txBody>
          <a:bodyPr wrap="square" rtlCol="0" anchor="ctr"/>
          <a:lstStyle/>
          <a:p>
            <a:pPr algn="ctr"/>
            <a:endParaRPr lang="en-GB" dirty="0"/>
          </a:p>
        </p:txBody>
      </p:sp>
      <p:sp>
        <p:nvSpPr>
          <p:cNvPr id="15" name="TextBox 14"/>
          <p:cNvSpPr txBox="1"/>
          <p:nvPr/>
        </p:nvSpPr>
        <p:spPr>
          <a:xfrm>
            <a:off x="822960" y="4507992"/>
            <a:ext cx="10546049" cy="1097280"/>
          </a:xfrm>
          <a:prstGeom prst="rect">
            <a:avLst/>
          </a:prstGeom>
          <a:noFill/>
        </p:spPr>
        <p:txBody>
          <a:bodyPr wrap="square" lIns="0" tIns="0" rIns="0" bIns="0">
            <a:spAutoFit/>
          </a:bodyPr>
          <a:lstStyle/>
          <a:p>
            <a:pPr>
              <a:lnSpc>
                <a:spcPct val="110000"/>
              </a:lnSpc>
              <a:spcAft>
                <a:spcPts val="100"/>
              </a:spcAft>
            </a:pPr>
            <a:r>
              <a:rPr lang="en-GB" sz="1500" b="1" i="0" dirty="0">
                <a:solidFill>
                  <a:srgbClr val="1C6B3F"/>
                </a:solidFill>
                <a:latin typeface="Calibri"/>
              </a:rPr>
              <a:t>Igisubizo cy'ukuri: D</a:t>
            </a:r>
          </a:p>
          <a:p>
            <a:pPr>
              <a:lnSpc>
                <a:spcPct val="110000"/>
              </a:lnSpc>
              <a:spcAft>
                <a:spcPts val="100"/>
              </a:spcAft>
            </a:pPr>
            <a:r>
              <a:rPr lang="en-GB" sz="1500" b="1" i="0" dirty="0">
                <a:solidFill>
                  <a:srgbClr val="1C6B3F"/>
                </a:solidFill>
                <a:latin typeface="Calibri"/>
              </a:rPr>
              <a:t>Inyunganizi: </a:t>
            </a:r>
            <a:r>
              <a:rPr lang="en-GB" sz="1500" b="0" i="0" dirty="0">
                <a:solidFill>
                  <a:srgbClr val="1A1A1A"/>
                </a:solidFill>
                <a:latin typeface="Calibri"/>
              </a:rPr>
              <a:t>Kwemeza niba umuntu afite kanseri bisaba isuzuma n'ibizamini bya laboratwari. Inshingano z'umujyanama w'ubuzima ni ugushishikariza, kubona ibimenyetso, kohereza, gufasha no gukurikirana, kandi izo nshingano zirokora ubuzima nta na rimwe zitanga icyemezo cy'indwara.</a:t>
            </a:r>
          </a:p>
        </p:txBody>
      </p:sp>
      <p:sp>
        <p:nvSpPr>
          <p:cNvPr id="16" name="TextBox 1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17" name="TextBox 1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161</a:t>
            </a:r>
          </a:p>
        </p:txBody>
      </p:sp>
      <p:sp>
        <p:nvSpPr>
          <p:cNvPr id="9" name="TextBox 8"/>
          <p:cNvSpPr txBox="1"/>
          <p:nvPr/>
        </p:nvSpPr>
        <p:spPr>
          <a:xfrm>
            <a:off x="11094689" y="3886199"/>
            <a:ext cx="365760" cy="274320"/>
          </a:xfrm>
          <a:prstGeom prst="rect">
            <a:avLst/>
          </a:prstGeom>
          <a:noFill/>
        </p:spPr>
        <p:txBody>
          <a:bodyPr wrap="square" lIns="0" tIns="0" rIns="0" bIns="0">
            <a:spAutoFit/>
          </a:bodyPr>
          <a:lstStyle/>
          <a:p>
            <a:r>
              <a:rPr lang="en-GB" sz="1500" b="0" i="0" dirty="0">
                <a:solidFill>
                  <a:srgbClr val="1A1A1A"/>
                </a:solidFill>
                <a:latin typeface="Calibri"/>
              </a:rPr>
              <a:t>✅</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11058113" cy="274320"/>
          </a:xfrm>
          <a:prstGeom prst="rect">
            <a:avLst/>
          </a:prstGeom>
          <a:noFill/>
        </p:spPr>
        <p:txBody>
          <a:bodyPr wrap="square" lIns="0" tIns="0" rIns="0" bIns="0">
            <a:spAutoFit/>
          </a:bodyPr>
          <a:lstStyle/>
          <a:p>
            <a:r>
              <a:rPr lang="en-GB" sz="1050" b="1" i="0" dirty="0">
                <a:solidFill>
                  <a:srgbClr val="1F4E96"/>
                </a:solidFill>
                <a:latin typeface="Calibri"/>
              </a:rPr>
              <a:t>I N K O M O K O   Y ' A M A K U R U</a:t>
            </a:r>
          </a:p>
        </p:txBody>
      </p:sp>
      <p:sp>
        <p:nvSpPr>
          <p:cNvPr id="3" name="TextBox 2"/>
          <p:cNvSpPr txBox="1"/>
          <p:nvPr/>
        </p:nvSpPr>
        <p:spPr>
          <a:xfrm>
            <a:off x="566928" y="713232"/>
            <a:ext cx="11058113" cy="777240"/>
          </a:xfrm>
          <a:prstGeom prst="rect">
            <a:avLst/>
          </a:prstGeom>
          <a:noFill/>
        </p:spPr>
        <p:txBody>
          <a:bodyPr wrap="square" lIns="0" tIns="0" rIns="0" bIns="0">
            <a:spAutoFit/>
          </a:bodyPr>
          <a:lstStyle/>
          <a:p>
            <a:r>
              <a:rPr lang="en-GB" sz="2350" b="1" i="0" dirty="0">
                <a:solidFill>
                  <a:srgbClr val="10305A"/>
                </a:solidFill>
                <a:latin typeface="Cambria"/>
              </a:rPr>
              <a:t>Inyandiko zifashishijwe</a:t>
            </a:r>
          </a:p>
        </p:txBody>
      </p:sp>
      <p:sp>
        <p:nvSpPr>
          <p:cNvPr id="5" name="TextBox 4"/>
          <p:cNvSpPr txBox="1"/>
          <p:nvPr/>
        </p:nvSpPr>
        <p:spPr>
          <a:xfrm>
            <a:off x="859537" y="1828800"/>
            <a:ext cx="4987472" cy="3728778"/>
          </a:xfrm>
          <a:prstGeom prst="rect">
            <a:avLst/>
          </a:prstGeom>
          <a:noFill/>
        </p:spPr>
        <p:txBody>
          <a:bodyPr wrap="square" lIns="0" tIns="0" rIns="0" bIns="0">
            <a:spAutoFit/>
          </a:bodyPr>
          <a:lstStyle/>
          <a:p>
            <a:pPr>
              <a:lnSpc>
                <a:spcPct val="112000"/>
              </a:lnSpc>
              <a:spcAft>
                <a:spcPts val="1100"/>
              </a:spcAft>
            </a:pPr>
            <a:r>
              <a:rPr lang="en-GB" sz="1100" b="0" i="0" dirty="0">
                <a:solidFill>
                  <a:srgbClr val="1A1A1A"/>
                </a:solidFill>
                <a:latin typeface="Calibri"/>
              </a:rPr>
              <a:t>1.  International Agency for Research on Cancer. Global Cancer Observatory: Cancer Today. Rwanda fact sheet, GLOBOCAN 2024 estimates. Lyon: IARC / World Health Organization. https://gco.iarc.who.int/today</a:t>
            </a:r>
          </a:p>
          <a:p>
            <a:pPr>
              <a:lnSpc>
                <a:spcPct val="112000"/>
              </a:lnSpc>
              <a:spcAft>
                <a:spcPts val="1100"/>
              </a:spcAft>
            </a:pPr>
            <a:r>
              <a:rPr lang="en-GB" sz="1100" b="0" i="0" dirty="0">
                <a:solidFill>
                  <a:srgbClr val="1A1A1A"/>
                </a:solidFill>
                <a:latin typeface="Calibri"/>
              </a:rPr>
              <a:t>2.  International Agency for Research on Cancer. Global Cancer Observatory: Cancer Today. Cervix uteri fact sheet, GLOBOCAN 2024 estimates. Lyon: IARC / World Health Organization.</a:t>
            </a:r>
          </a:p>
          <a:p>
            <a:pPr>
              <a:lnSpc>
                <a:spcPct val="112000"/>
              </a:lnSpc>
              <a:spcAft>
                <a:spcPts val="1100"/>
              </a:spcAft>
            </a:pPr>
            <a:r>
              <a:rPr lang="en-GB" sz="1100" b="0" i="0" dirty="0">
                <a:solidFill>
                  <a:srgbClr val="1A1A1A"/>
                </a:solidFill>
                <a:latin typeface="Calibri"/>
              </a:rPr>
              <a:t>3.  International Agency for Research on Cancer. Global Cancer Observatory: Cancer Tomorrow. Projected cancer burden in Rwanda to 2050. Lyon: IARC / World Health Organization. https://gco.iarc.fr/tomorrow</a:t>
            </a:r>
          </a:p>
          <a:p>
            <a:pPr>
              <a:lnSpc>
                <a:spcPct val="112000"/>
              </a:lnSpc>
              <a:spcAft>
                <a:spcPts val="1100"/>
              </a:spcAft>
            </a:pPr>
            <a:r>
              <a:rPr lang="en-GB" sz="1100" b="0" i="0" dirty="0">
                <a:solidFill>
                  <a:srgbClr val="1A1A1A"/>
                </a:solidFill>
                <a:latin typeface="Calibri"/>
              </a:rPr>
              <a:t>4.  Sung H, Filho AM, Laversanne M, et al. Global cancer statistics 2024: GLOBOCAN estimates of incidence and mortality worldwide for 34 cancers in 186 countries. CA: A Cancer Journal for Clinicians. 2026. doi:10.3322/caac.70090</a:t>
            </a:r>
          </a:p>
          <a:p>
            <a:pPr>
              <a:lnSpc>
                <a:spcPct val="112000"/>
              </a:lnSpc>
              <a:spcAft>
                <a:spcPts val="1100"/>
              </a:spcAft>
            </a:pPr>
            <a:r>
              <a:rPr lang="en-GB" sz="1100" b="0" i="0" dirty="0">
                <a:solidFill>
                  <a:srgbClr val="1A1A1A"/>
                </a:solidFill>
                <a:latin typeface="Calibri"/>
              </a:rPr>
              <a:t>5.  Republic of Rwanda, Ministry of Health. National Cancer Control Plan 2025 to 2029. Kigali: Ministry of Health and Rwanda Biomedical Centre.</a:t>
            </a:r>
          </a:p>
          <a:p>
            <a:pPr>
              <a:lnSpc>
                <a:spcPct val="112000"/>
              </a:lnSpc>
              <a:spcAft>
                <a:spcPts val="1100"/>
              </a:spcAft>
            </a:pPr>
            <a:r>
              <a:rPr lang="en-GB" sz="1100" b="0" i="0" dirty="0">
                <a:solidFill>
                  <a:srgbClr val="1A1A1A"/>
                </a:solidFill>
                <a:latin typeface="Calibri"/>
              </a:rPr>
              <a:t>6.  Republic of Rwanda, Ministry of Health. Accelerated Plan for the Elimination of Cervical Cancer in Rwanda 2024 to 2027. Kigali: Ministry of Health.</a:t>
            </a:r>
          </a:p>
        </p:txBody>
      </p:sp>
      <p:sp>
        <p:nvSpPr>
          <p:cNvPr id="6" name="TextBox 5"/>
          <p:cNvSpPr txBox="1"/>
          <p:nvPr/>
        </p:nvSpPr>
        <p:spPr>
          <a:xfrm>
            <a:off x="566928" y="6345936"/>
            <a:ext cx="7315200" cy="274320"/>
          </a:xfrm>
          <a:prstGeom prst="rect">
            <a:avLst/>
          </a:prstGeom>
          <a:noFill/>
        </p:spPr>
        <p:txBody>
          <a:bodyPr wrap="square" lIns="0" tIns="0" rIns="0" bIns="0">
            <a:spAutoFit/>
          </a:bodyPr>
          <a:lstStyle/>
          <a:p>
            <a:r>
              <a:rPr lang="en-GB" sz="900" b="0" i="0" dirty="0">
                <a:solidFill>
                  <a:srgbClr val="777D86"/>
                </a:solidFill>
                <a:latin typeface="Calibri"/>
              </a:rPr>
              <a:t>Kanseri y'inkondo y'umura  |  Umujyanama w'Ubuzima  |  Ikigo cy'Igihugu Gishinzwe Ubuzima</a:t>
            </a:r>
          </a:p>
        </p:txBody>
      </p:sp>
      <p:sp>
        <p:nvSpPr>
          <p:cNvPr id="7" name="TextBox 6"/>
          <p:cNvSpPr txBox="1"/>
          <p:nvPr/>
        </p:nvSpPr>
        <p:spPr>
          <a:xfrm>
            <a:off x="8881841" y="6345936"/>
            <a:ext cx="2743200" cy="274320"/>
          </a:xfrm>
          <a:prstGeom prst="rect">
            <a:avLst/>
          </a:prstGeom>
          <a:noFill/>
        </p:spPr>
        <p:txBody>
          <a:bodyPr wrap="square" lIns="0" tIns="0" rIns="0" bIns="0">
            <a:spAutoFit/>
          </a:bodyPr>
          <a:lstStyle/>
          <a:p>
            <a:pPr algn="r"/>
            <a:r>
              <a:rPr lang="en-GB" sz="900" b="0" i="0" dirty="0">
                <a:solidFill>
                  <a:srgbClr val="777D86"/>
                </a:solidFill>
                <a:latin typeface="Calibri"/>
              </a:rPr>
              <a:t>Urupapuro rwa 162</a:t>
            </a:r>
          </a:p>
        </p:txBody>
      </p:sp>
      <p:sp>
        <p:nvSpPr>
          <p:cNvPr id="8" name="TextBox 4">
            <a:extLst>
              <a:ext uri="{FF2B5EF4-FFF2-40B4-BE49-F238E27FC236}">
                <a16:creationId xmlns:a16="http://schemas.microsoft.com/office/drawing/2014/main" id="{77E0A03B-72C5-CE53-6DC6-6DD9B9A86335}"/>
              </a:ext>
            </a:extLst>
          </p:cNvPr>
          <p:cNvSpPr txBox="1"/>
          <p:nvPr/>
        </p:nvSpPr>
        <p:spPr>
          <a:xfrm>
            <a:off x="6217147" y="1828800"/>
            <a:ext cx="4729895" cy="3869842"/>
          </a:xfrm>
          <a:prstGeom prst="rect">
            <a:avLst/>
          </a:prstGeom>
          <a:noFill/>
        </p:spPr>
        <p:txBody>
          <a:bodyPr wrap="square" lIns="0" tIns="0" rIns="0" bIns="0">
            <a:spAutoFit/>
          </a:bodyPr>
          <a:lstStyle/>
          <a:p>
            <a:pPr>
              <a:lnSpc>
                <a:spcPct val="112000"/>
              </a:lnSpc>
              <a:spcAft>
                <a:spcPts val="1100"/>
              </a:spcAft>
            </a:pPr>
            <a:r>
              <a:rPr lang="en-GB" sz="1100" b="0" i="0" dirty="0">
                <a:solidFill>
                  <a:srgbClr val="1A1A1A"/>
                </a:solidFill>
                <a:latin typeface="Calibri"/>
              </a:rPr>
              <a:t>7.  Rwanda Biomedical Centre. Updates in Cancer Care in Rwanda. Kigali: Ministry of Health, Cancer Programme, June 2026.</a:t>
            </a:r>
          </a:p>
          <a:p>
            <a:pPr>
              <a:lnSpc>
                <a:spcPct val="112000"/>
              </a:lnSpc>
              <a:spcAft>
                <a:spcPts val="1100"/>
              </a:spcAft>
            </a:pPr>
            <a:r>
              <a:rPr lang="en-GB" sz="1100" b="0" i="0" dirty="0">
                <a:solidFill>
                  <a:srgbClr val="1A1A1A"/>
                </a:solidFill>
                <a:latin typeface="Calibri"/>
              </a:rPr>
              <a:t>8.  World Health Organization. Cervical cancer fact sheet. Geneva: WHO. https://www.who.int/news-room/fact-sheets/detail/cervical-cancer</a:t>
            </a:r>
          </a:p>
          <a:p>
            <a:pPr>
              <a:lnSpc>
                <a:spcPct val="112000"/>
              </a:lnSpc>
              <a:spcAft>
                <a:spcPts val="1100"/>
              </a:spcAft>
            </a:pPr>
            <a:r>
              <a:rPr lang="en-GB" sz="1100" b="0" i="0" dirty="0">
                <a:solidFill>
                  <a:srgbClr val="1A1A1A"/>
                </a:solidFill>
                <a:latin typeface="Calibri"/>
              </a:rPr>
              <a:t>9.  World Health Organization. Global strategy to accelerate the elimination of cervical cancer as a public health problem. Geneva: WHO, 2020.</a:t>
            </a:r>
          </a:p>
          <a:p>
            <a:pPr>
              <a:lnSpc>
                <a:spcPct val="112000"/>
              </a:lnSpc>
              <a:spcAft>
                <a:spcPts val="1100"/>
              </a:spcAft>
            </a:pPr>
            <a:r>
              <a:rPr lang="en-GB" sz="1100" b="0" i="0" dirty="0">
                <a:solidFill>
                  <a:srgbClr val="1A1A1A"/>
                </a:solidFill>
                <a:latin typeface="Calibri"/>
              </a:rPr>
              <a:t>10.  World Health Organization. WHO guideline for screening and treatment of cervical pre-cancer lesions for cervical cancer prevention, second edition. Geneva: WHO, 2021.</a:t>
            </a:r>
          </a:p>
          <a:p>
            <a:pPr>
              <a:lnSpc>
                <a:spcPct val="112000"/>
              </a:lnSpc>
              <a:spcAft>
                <a:spcPts val="1100"/>
              </a:spcAft>
            </a:pPr>
            <a:r>
              <a:rPr lang="en-GB" sz="1100" b="0" i="0" dirty="0">
                <a:solidFill>
                  <a:srgbClr val="1A1A1A"/>
                </a:solidFill>
                <a:latin typeface="Calibri"/>
              </a:rPr>
              <a:t>11.  World Health Organization. Comprehensive cervical cancer control: a guide to essential practice, second edition. Geneva: WHO, 2014.</a:t>
            </a:r>
          </a:p>
          <a:p>
            <a:pPr>
              <a:lnSpc>
                <a:spcPct val="112000"/>
              </a:lnSpc>
              <a:spcAft>
                <a:spcPts val="1100"/>
              </a:spcAft>
            </a:pPr>
            <a:r>
              <a:rPr lang="en-GB" sz="1100" b="0" i="0" dirty="0">
                <a:solidFill>
                  <a:srgbClr val="1A1A1A"/>
                </a:solidFill>
                <a:latin typeface="Calibri"/>
              </a:rPr>
              <a:t>12.  World Health Organization. Human papillomavirus vaccines: WHO position paper. Weekly Epidemiological Record. Geneva: WHO.</a:t>
            </a:r>
          </a:p>
          <a:p>
            <a:pPr>
              <a:lnSpc>
                <a:spcPct val="112000"/>
              </a:lnSpc>
              <a:spcAft>
                <a:spcPts val="1100"/>
              </a:spcAft>
            </a:pPr>
            <a:r>
              <a:rPr lang="en-GB" sz="1100" b="0" i="0" dirty="0">
                <a:solidFill>
                  <a:srgbClr val="1A1A1A"/>
                </a:solidFill>
                <a:latin typeface="Calibri"/>
              </a:rPr>
              <a:t>13.  World Health Organization. Integrating palliative care and symptom relief into primary health care: a WHO guide for planners, implementers and managers. Geneva: WHO,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1ECC46547A045896A1B75675AB43C" ma:contentTypeVersion="12" ma:contentTypeDescription="Create a new document." ma:contentTypeScope="" ma:versionID="b64b65294843640458730aea8e953da7">
  <xsd:schema xmlns:xsd="http://www.w3.org/2001/XMLSchema" xmlns:xs="http://www.w3.org/2001/XMLSchema" xmlns:p="http://schemas.microsoft.com/office/2006/metadata/properties" xmlns:ns1="http://schemas.microsoft.com/sharepoint/v3" xmlns:ns2="17d9841e-3b3a-4c82-8e4d-4f809d4d0b5f" xmlns:ns3="55fd9118-62da-44f2-ad5d-6ee26453d194" targetNamespace="http://schemas.microsoft.com/office/2006/metadata/properties" ma:root="true" ma:fieldsID="0ebed194f83790a6b312e91a81a0e8d9" ns1:_="" ns2:_="" ns3:_="">
    <xsd:import namespace="http://schemas.microsoft.com/sharepoint/v3"/>
    <xsd:import namespace="17d9841e-3b3a-4c82-8e4d-4f809d4d0b5f"/>
    <xsd:import namespace="55fd9118-62da-44f2-ad5d-6ee26453d1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d9841e-3b3a-4c82-8e4d-4f809d4d0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5e642b-91f5-4888-b018-43334a040d0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fd9118-62da-44f2-ad5d-6ee26453d1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a656308-58b0-4c85-8062-04ccee44b053}" ma:internalName="TaxCatchAll" ma:showField="CatchAllData" ma:web="55fd9118-62da-44f2-ad5d-6ee26453d1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5fd9118-62da-44f2-ad5d-6ee26453d194" xsi:nil="true"/>
    <_ip_UnifiedCompliancePolicyProperties xmlns="http://schemas.microsoft.com/sharepoint/v3" xsi:nil="true"/>
    <lcf76f155ced4ddcb4097134ff3c332f xmlns="17d9841e-3b3a-4c82-8e4d-4f809d4d0b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EA412DD-0CFE-4B75-8B5C-5B86BBDD1D69}"/>
</file>

<file path=customXml/itemProps2.xml><?xml version="1.0" encoding="utf-8"?>
<ds:datastoreItem xmlns:ds="http://schemas.openxmlformats.org/officeDocument/2006/customXml" ds:itemID="{B1772F35-8DBC-456E-AE75-4C0D6FB6D5C3}"/>
</file>

<file path=customXml/itemProps3.xml><?xml version="1.0" encoding="utf-8"?>
<ds:datastoreItem xmlns:ds="http://schemas.openxmlformats.org/officeDocument/2006/customXml" ds:itemID="{A346CFC3-77F4-48CA-92BF-DF6D3775E28D}"/>
</file>

<file path=docProps/app.xml><?xml version="1.0" encoding="utf-8"?>
<Properties xmlns="http://schemas.openxmlformats.org/officeDocument/2006/extended-properties" xmlns:vt="http://schemas.openxmlformats.org/officeDocument/2006/docPropsVTypes">
  <TotalTime>1786</TotalTime>
  <Words>19664</Words>
  <Application>Microsoft Macintosh PowerPoint</Application>
  <PresentationFormat>Panorámica</PresentationFormat>
  <Paragraphs>2009</Paragraphs>
  <Slides>162</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162</vt:i4>
      </vt:variant>
    </vt:vector>
  </HeadingPairs>
  <TitlesOfParts>
    <vt:vector size="167" baseType="lpstr">
      <vt:lpstr>Aptos</vt: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Figueiredo, Sara</dc:creator>
  <cp:keywords/>
  <dc:description>generated using python-pptx</dc:description>
  <cp:lastModifiedBy>Diana Alejandra Guarin Castaño</cp:lastModifiedBy>
  <cp:revision>35</cp:revision>
  <dcterms:created xsi:type="dcterms:W3CDTF">2013-01-27T09:14:16Z</dcterms:created>
  <dcterms:modified xsi:type="dcterms:W3CDTF">2026-09-29T20:35:23Z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128e483-8504-409f-97ca-6f94af18631c_Enabled">
    <vt:lpwstr>true</vt:lpwstr>
  </property>
  <property fmtid="{D5CDD505-2E9C-101B-9397-08002B2CF9AE}" pid="3" name="MSIP_Label_1128e483-8504-409f-97ca-6f94af18631c_SetDate">
    <vt:lpwstr>2026-09-03T09:11:12Z</vt:lpwstr>
  </property>
  <property fmtid="{D5CDD505-2E9C-101B-9397-08002B2CF9AE}" pid="4" name="MSIP_Label_1128e483-8504-409f-97ca-6f94af18631c_Method">
    <vt:lpwstr>Privileged</vt:lpwstr>
  </property>
  <property fmtid="{D5CDD505-2E9C-101B-9397-08002B2CF9AE}" pid="5" name="MSIP_Label_1128e483-8504-409f-97ca-6f94af18631c_Name">
    <vt:lpwstr>Portuguese - Not Classified</vt:lpwstr>
  </property>
  <property fmtid="{D5CDD505-2E9C-101B-9397-08002B2CF9AE}" pid="6" name="MSIP_Label_1128e483-8504-409f-97ca-6f94af18631c_SiteId">
    <vt:lpwstr>a00de4ec-48a8-43a6-be74-e31274e2060d</vt:lpwstr>
  </property>
  <property fmtid="{D5CDD505-2E9C-101B-9397-08002B2CF9AE}" pid="7" name="MSIP_Label_1128e483-8504-409f-97ca-6f94af18631c_ActionId">
    <vt:lpwstr>d1373842-86af-4bd4-adb1-d40ead453712</vt:lpwstr>
  </property>
  <property fmtid="{D5CDD505-2E9C-101B-9397-08002B2CF9AE}" pid="8" name="MSIP_Label_1128e483-8504-409f-97ca-6f94af18631c_ContentBits">
    <vt:lpwstr>0</vt:lpwstr>
  </property>
  <property fmtid="{D5CDD505-2E9C-101B-9397-08002B2CF9AE}" pid="9" name="MSIP_Label_1128e483-8504-409f-97ca-6f94af18631c_Tag">
    <vt:lpwstr>10, 0, 1, 1</vt:lpwstr>
  </property>
  <property fmtid="{D5CDD505-2E9C-101B-9397-08002B2CF9AE}" pid="10" name="_AdHocReviewCycleID">
    <vt:i4>2068352947</vt:i4>
  </property>
  <property fmtid="{D5CDD505-2E9C-101B-9397-08002B2CF9AE}" pid="11" name="_NewReviewCycle">
    <vt:lpwstr/>
  </property>
  <property fmtid="{D5CDD505-2E9C-101B-9397-08002B2CF9AE}" pid="12" name="_EmailSubject">
    <vt:lpwstr/>
  </property>
  <property fmtid="{D5CDD505-2E9C-101B-9397-08002B2CF9AE}" pid="13" name="_AuthorEmail">
    <vt:lpwstr>diana.alejandra.guarin.castano@msd.com</vt:lpwstr>
  </property>
  <property fmtid="{D5CDD505-2E9C-101B-9397-08002B2CF9AE}" pid="14" name="_AuthorEmailDisplayName">
    <vt:lpwstr>Guarin, Diana</vt:lpwstr>
  </property>
  <property fmtid="{D5CDD505-2E9C-101B-9397-08002B2CF9AE}" pid="15" name="ContentTypeId">
    <vt:lpwstr>0x0101007D61ECC46547A045896A1B75675AB43C</vt:lpwstr>
  </property>
</Properties>
</file>